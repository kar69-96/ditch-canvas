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93" r:id="rId2"/>
    <p:sldId id="295" r:id="rId3"/>
    <p:sldId id="301" r:id="rId4"/>
    <p:sldId id="302" r:id="rId5"/>
    <p:sldId id="296" r:id="rId6"/>
    <p:sldId id="286" r:id="rId7"/>
    <p:sldId id="281" r:id="rId8"/>
    <p:sldId id="282" r:id="rId9"/>
    <p:sldId id="283" r:id="rId10"/>
    <p:sldId id="287" r:id="rId11"/>
    <p:sldId id="288" r:id="rId12"/>
    <p:sldId id="289" r:id="rId13"/>
    <p:sldId id="284" r:id="rId14"/>
    <p:sldId id="290" r:id="rId15"/>
    <p:sldId id="308" r:id="rId16"/>
    <p:sldId id="306" r:id="rId17"/>
    <p:sldId id="309" r:id="rId18"/>
    <p:sldId id="307" r:id="rId19"/>
    <p:sldId id="285" r:id="rId20"/>
    <p:sldId id="291" r:id="rId21"/>
    <p:sldId id="294" r:id="rId22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A0A2A1"/>
    <a:srgbClr val="386750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72"/>
  </p:normalViewPr>
  <p:slideViewPr>
    <p:cSldViewPr snapToGrid="0">
      <p:cViewPr varScale="1">
        <p:scale>
          <a:sx n="194" d="100"/>
          <a:sy n="194" d="100"/>
        </p:scale>
        <p:origin x="234" y="13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o365coloradoedu-my.sharepoint.com/personal/elbu4667_colorado_edu/Documents/MBAX6110/F2024/Cases%202024/Viscotech/Viscotech_ei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Share of </a:t>
            </a:r>
            <a:r>
              <a:rPr lang="en-US" baseline="0"/>
              <a:t> Revenue by Target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61B-3248-9070-DB3C0AFE9A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61B-3248-9070-DB3C0AFE9A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61B-3248-9070-DB3C0AFE9A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61B-3248-9070-DB3C0AFE9A96}"/>
              </c:ext>
            </c:extLst>
          </c:dPt>
          <c:dLbls>
            <c:dLbl>
              <c:idx val="0"/>
              <c:layout>
                <c:manualLayout>
                  <c:x val="5.2052052052052052E-2"/>
                  <c:y val="-5.81196581196581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1B-3248-9070-DB3C0AFE9A96}"/>
                </c:ext>
              </c:extLst>
            </c:dLbl>
            <c:dLbl>
              <c:idx val="1"/>
              <c:layout>
                <c:manualLayout>
                  <c:x val="7.2072072072072071E-2"/>
                  <c:y val="5.1282051282051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1B-3248-9070-DB3C0AFE9A96}"/>
                </c:ext>
              </c:extLst>
            </c:dLbl>
            <c:dLbl>
              <c:idx val="2"/>
              <c:layout>
                <c:manualLayout>
                  <c:x val="-7.7519933109981759E-2"/>
                  <c:y val="2.05128147353336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693202693303205E-2"/>
                      <c:h val="8.88377298811928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61B-3248-9070-DB3C0AFE9A96}"/>
                </c:ext>
              </c:extLst>
            </c:dLbl>
            <c:dLbl>
              <c:idx val="3"/>
              <c:layout>
                <c:manualLayout>
                  <c:x val="-2.2022022022022095E-2"/>
                  <c:y val="-7.86324786324786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61B-3248-9070-DB3C0AFE9A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'[Viscotech_eib.xlsx]Income Statement'!$A$53:$A$56</c:f>
              <c:strCache>
                <c:ptCount val="4"/>
                <c:pt idx="0">
                  <c:v>Docs %</c:v>
                </c:pt>
                <c:pt idx="1">
                  <c:v>Home %</c:v>
                </c:pt>
                <c:pt idx="2">
                  <c:v>Cattle %</c:v>
                </c:pt>
                <c:pt idx="3">
                  <c:v>Swine %</c:v>
                </c:pt>
              </c:strCache>
            </c:strRef>
          </c:cat>
          <c:val>
            <c:numRef>
              <c:f>'[Viscotech_eib.xlsx]Income Statement'!$F$53:$F$56</c:f>
              <c:numCache>
                <c:formatCode>0.0%</c:formatCode>
                <c:ptCount val="4"/>
                <c:pt idx="0" formatCode="0.00%">
                  <c:v>0.10338789916900587</c:v>
                </c:pt>
                <c:pt idx="1">
                  <c:v>0.51589727911953531</c:v>
                </c:pt>
                <c:pt idx="2">
                  <c:v>0.31505516800533617</c:v>
                </c:pt>
                <c:pt idx="3" formatCode="0.00%">
                  <c:v>6.5659653706122673E-2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1B-3248-9070-DB3C0AFE9A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/>
          </a:p>
          <a:p>
            <a:pPr lvl="1"/>
            <a:r>
              <a:rPr lang="en-US"/>
              <a:t>	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  <a:p>
            <a:pPr lvl="1"/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orldpopulationreview.com/countries/by-gd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37875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Viscotech</a:t>
            </a:r>
            <a:endParaRPr sz="2400" spc="-1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Professor Burnes</a:t>
            </a:r>
          </a:p>
          <a:p>
            <a:pPr algn="ctr"/>
            <a:r>
              <a:rPr lang="en-US" b="1"/>
              <a:t>Leeds School of Business</a:t>
            </a:r>
          </a:p>
          <a:p>
            <a:pPr algn="ctr"/>
            <a:r>
              <a:rPr lang="en-US" b="1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8E53-52CE-0AA2-9598-5A3AFB5B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The Space in Which </a:t>
            </a:r>
            <a:r>
              <a:rPr lang="en-US" dirty="0" err="1"/>
              <a:t>Viscotech</a:t>
            </a:r>
            <a:r>
              <a:rPr lang="en-US" dirty="0"/>
              <a:t> Operates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9A7E-67CE-0EA7-09D4-0249A8F28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06745"/>
            <a:ext cx="4357623" cy="846386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Dominated by large players on both the Human and Animal Side</a:t>
            </a:r>
          </a:p>
          <a:p>
            <a:pPr marL="228600" indent="-228600">
              <a:buAutoNum type="arabicParenR"/>
            </a:pPr>
            <a:r>
              <a:rPr lang="en-US" dirty="0"/>
              <a:t>MANY competitors at the start up level</a:t>
            </a:r>
          </a:p>
          <a:p>
            <a:pPr marL="228600" indent="-228600">
              <a:buAutoNum type="arabicParenR"/>
            </a:pPr>
            <a:r>
              <a:rPr lang="en-US" dirty="0"/>
              <a:t>Need FDA Approval</a:t>
            </a:r>
          </a:p>
          <a:p>
            <a:pPr marL="228600" indent="-228600">
              <a:buAutoNum type="arabicParenR"/>
            </a:pPr>
            <a:r>
              <a:rPr lang="en-US" dirty="0"/>
              <a:t>Need Clinical Trials</a:t>
            </a:r>
          </a:p>
          <a:p>
            <a:pPr marL="228600" indent="-228600">
              <a:buAutoNum type="arabicParenR"/>
            </a:pPr>
            <a:r>
              <a:rPr lang="en-US" dirty="0"/>
              <a:t>Fundraising means SEC Filing or Exemption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4146-3C32-C4E7-4914-293F4E8291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44718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DAFF61-CBA8-1393-2410-2EFC1D43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190295"/>
            <a:ext cx="4357688" cy="646331"/>
          </a:xfrm>
        </p:spPr>
        <p:txBody>
          <a:bodyPr/>
          <a:lstStyle/>
          <a:p>
            <a:r>
              <a:rPr lang="en-US" dirty="0" err="1"/>
              <a:t>Viscotech</a:t>
            </a:r>
            <a:r>
              <a:rPr lang="en-US" dirty="0"/>
              <a:t> is an early stage, small player in a crowded market with competitive funding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6BF09-8F4A-FF86-A738-C65EF9FE2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0505" y="795974"/>
            <a:ext cx="2005393" cy="152349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A0A2A1"/>
                </a:solidFill>
              </a:rPr>
              <a:t>ANIMAL NUTRITION</a:t>
            </a:r>
          </a:p>
          <a:p>
            <a:pPr marL="0" indent="0">
              <a:buNone/>
            </a:pPr>
            <a:r>
              <a:rPr lang="en-US" dirty="0"/>
              <a:t>Archer Daniels Midland</a:t>
            </a:r>
          </a:p>
          <a:p>
            <a:pPr marL="0" indent="0">
              <a:buNone/>
            </a:pPr>
            <a:r>
              <a:rPr lang="en-US" dirty="0"/>
              <a:t>Market Cap $22.6B</a:t>
            </a:r>
          </a:p>
          <a:p>
            <a:pPr marL="0" indent="0">
              <a:buNone/>
            </a:pPr>
            <a:r>
              <a:rPr lang="en-US" dirty="0"/>
              <a:t>Revenue: $86B</a:t>
            </a:r>
          </a:p>
          <a:p>
            <a:pPr marL="0" indent="0">
              <a:buNone/>
            </a:pPr>
            <a:r>
              <a:rPr lang="en-US" dirty="0"/>
              <a:t>Start Ups: 43,306</a:t>
            </a:r>
          </a:p>
          <a:p>
            <a:pPr marL="0" indent="0">
              <a:buNone/>
            </a:pPr>
            <a:r>
              <a:rPr lang="en-US" dirty="0"/>
              <a:t>Deals: 52,090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2BBB00-6C56-3F0F-24FD-DC0BA3D407A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145412" cy="50783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EB67B"/>
                </a:solidFill>
              </a:rPr>
              <a:t>CHICAGO VC SPACE</a:t>
            </a:r>
          </a:p>
          <a:p>
            <a:pPr marL="0" indent="0">
              <a:buNone/>
            </a:pPr>
            <a:r>
              <a:rPr lang="en-US" dirty="0"/>
              <a:t>~480 Investors, with ~1,120 Funds</a:t>
            </a:r>
          </a:p>
          <a:p>
            <a:pPr marL="0" indent="0">
              <a:buNone/>
            </a:pPr>
            <a:r>
              <a:rPr lang="en-US" dirty="0"/>
              <a:t>$100M  Median AUM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AA4B8-BB9E-2F36-FC05-F3CD73BC86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A478C3E-352A-37D5-5737-9E3DB0E71758}"/>
              </a:ext>
            </a:extLst>
          </p:cNvPr>
          <p:cNvSpPr txBox="1">
            <a:spLocks/>
          </p:cNvSpPr>
          <p:nvPr/>
        </p:nvSpPr>
        <p:spPr>
          <a:xfrm>
            <a:off x="230505" y="2004251"/>
            <a:ext cx="2005393" cy="1523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kern="0" dirty="0">
                <a:solidFill>
                  <a:srgbClr val="A0A2A1"/>
                </a:solidFill>
              </a:rPr>
              <a:t>HUMAN NUTRITION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Pfizer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Market Cap $149B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Revenue: $64B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Start Ups: 42,306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Deals: 51,121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Equipment: 2,947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Deals: 3,784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40292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2A729B-E412-6C56-1A9A-4BED45B0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 err="1"/>
              <a:t>Viscotech</a:t>
            </a:r>
            <a:r>
              <a:rPr lang="en-US" dirty="0"/>
              <a:t> KPIs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90E64-8456-6985-3503-70578B7B8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Clinical Trials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FDA Approval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Outcomes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 err="1"/>
              <a:t>PreSales</a:t>
            </a:r>
            <a:r>
              <a:rPr lang="en-US" dirty="0"/>
              <a:t> – contacts, contracts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A4869-A853-239C-BA19-F807738732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08512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5E56-745B-7D1C-62A4-6911EBD0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Viscotech</a:t>
            </a:r>
            <a:r>
              <a:rPr lang="en-US" dirty="0"/>
              <a:t> Funding and Operational Journey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8E4BE-6C64-7806-EB69-C81F47156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23276"/>
            <a:ext cx="4357623" cy="33855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A8BE8-A6E9-96DC-2302-05F57ACD1C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087107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32EF-F49A-1406-9F49-CC03D210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646331"/>
          </a:xfrm>
        </p:spPr>
        <p:txBody>
          <a:bodyPr/>
          <a:lstStyle/>
          <a:p>
            <a:r>
              <a:rPr lang="en-US"/>
              <a:t>What is the Problem the Founders are trying to Solve – What is the Business Case for this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9F699-3459-CD18-02E7-4A8DFF497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968375"/>
            <a:ext cx="4357623" cy="33855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5D03-9580-E3B6-87D4-B160705465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22478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38171-053C-9304-54E4-DDF85241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Org Chart –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ADB9D-17CB-BD0F-7D30-6F5B2F5957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04BFA-2F3F-0566-4598-35E72C976D0C}"/>
              </a:ext>
            </a:extLst>
          </p:cNvPr>
          <p:cNvSpPr/>
          <p:nvPr/>
        </p:nvSpPr>
        <p:spPr>
          <a:xfrm>
            <a:off x="2457450" y="739775"/>
            <a:ext cx="1752600" cy="381000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Ken Jones, CEO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E42A9-67FB-0624-8C35-E3A6F10F8CE1}"/>
              </a:ext>
            </a:extLst>
          </p:cNvPr>
          <p:cNvSpPr/>
          <p:nvPr/>
        </p:nvSpPr>
        <p:spPr>
          <a:xfrm>
            <a:off x="95250" y="519156"/>
            <a:ext cx="1447800" cy="982620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Board/Founders</a:t>
            </a:r>
          </a:p>
          <a:p>
            <a:pPr algn="ctr"/>
            <a:r>
              <a:rPr lang="en-US" sz="1100"/>
              <a:t>Dr. Samuel Evans</a:t>
            </a:r>
          </a:p>
          <a:p>
            <a:pPr algn="ctr"/>
            <a:r>
              <a:rPr lang="en-US" sz="1100"/>
              <a:t>Louis Brown</a:t>
            </a:r>
          </a:p>
          <a:p>
            <a:pPr algn="ctr"/>
            <a:r>
              <a:rPr lang="en-US" sz="1100"/>
              <a:t>Dr Harold Stein</a:t>
            </a:r>
          </a:p>
          <a:p>
            <a:pPr algn="ctr"/>
            <a:r>
              <a:rPr lang="en-US" sz="1100"/>
              <a:t>Melvin O’Connor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C048E-8363-B1FB-E7D7-88B812C14E8A}"/>
              </a:ext>
            </a:extLst>
          </p:cNvPr>
          <p:cNvSpPr/>
          <p:nvPr/>
        </p:nvSpPr>
        <p:spPr>
          <a:xfrm>
            <a:off x="628650" y="1750732"/>
            <a:ext cx="1295402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/>
              <a:t>Accntg</a:t>
            </a:r>
            <a:r>
              <a:rPr lang="en-US" sz="1100"/>
              <a:t>/Law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DAAF36-49D8-D7A6-1F53-A7BBCAF06B15}"/>
              </a:ext>
            </a:extLst>
          </p:cNvPr>
          <p:cNvSpPr/>
          <p:nvPr/>
        </p:nvSpPr>
        <p:spPr>
          <a:xfrm>
            <a:off x="628650" y="1992800"/>
            <a:ext cx="1295402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Melvin O’Connor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2BE84-4DD5-A451-59FE-18090E861F5F}"/>
              </a:ext>
            </a:extLst>
          </p:cNvPr>
          <p:cNvSpPr/>
          <p:nvPr/>
        </p:nvSpPr>
        <p:spPr>
          <a:xfrm>
            <a:off x="628650" y="2365923"/>
            <a:ext cx="1295402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Leonard Atkins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A8FBB-C64F-D549-BE07-8315EE80209E}"/>
              </a:ext>
            </a:extLst>
          </p:cNvPr>
          <p:cNvSpPr/>
          <p:nvPr/>
        </p:nvSpPr>
        <p:spPr>
          <a:xfrm>
            <a:off x="628650" y="2739046"/>
            <a:ext cx="1295402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Paul Benjamin</a:t>
            </a:r>
          </a:p>
        </p:txBody>
      </p:sp>
    </p:spTree>
    <p:extLst>
      <p:ext uri="{BB962C8B-B14F-4D97-AF65-F5344CB8AC3E}">
        <p14:creationId xmlns:p14="http://schemas.microsoft.com/office/powerpoint/2010/main" val="40632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18DF-05CF-8494-EFBD-FED20447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Org Chart,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7035F-DC0E-3942-0BC7-6D57443742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38240-D5C9-0D50-AFA1-D1CEAE6CA957}"/>
              </a:ext>
            </a:extLst>
          </p:cNvPr>
          <p:cNvSpPr/>
          <p:nvPr/>
        </p:nvSpPr>
        <p:spPr>
          <a:xfrm>
            <a:off x="1426844" y="1056163"/>
            <a:ext cx="1752600" cy="381000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Ken Jones, CEO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4A70B4-CF17-F661-0520-75C8D6D771EE}"/>
              </a:ext>
            </a:extLst>
          </p:cNvPr>
          <p:cNvSpPr/>
          <p:nvPr/>
        </p:nvSpPr>
        <p:spPr>
          <a:xfrm>
            <a:off x="134992" y="1803855"/>
            <a:ext cx="990602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Finance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81AC1-4362-2392-FD17-B69C3D4F1971}"/>
              </a:ext>
            </a:extLst>
          </p:cNvPr>
          <p:cNvSpPr/>
          <p:nvPr/>
        </p:nvSpPr>
        <p:spPr>
          <a:xfrm>
            <a:off x="1539486" y="2087587"/>
            <a:ext cx="838200" cy="415182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Production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514CF-A39A-2616-7255-36B07455C808}"/>
              </a:ext>
            </a:extLst>
          </p:cNvPr>
          <p:cNvSpPr/>
          <p:nvPr/>
        </p:nvSpPr>
        <p:spPr>
          <a:xfrm>
            <a:off x="2673719" y="2087587"/>
            <a:ext cx="725805" cy="415182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Sales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9C0A21-33AD-AD1F-7DC1-B9922D1FEF50}"/>
              </a:ext>
            </a:extLst>
          </p:cNvPr>
          <p:cNvSpPr/>
          <p:nvPr/>
        </p:nvSpPr>
        <p:spPr>
          <a:xfrm>
            <a:off x="3695558" y="2087587"/>
            <a:ext cx="838200" cy="415182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D08EEF-4B10-93D6-E68C-4E3BE9EC764D}"/>
              </a:ext>
            </a:extLst>
          </p:cNvPr>
          <p:cNvSpPr/>
          <p:nvPr/>
        </p:nvSpPr>
        <p:spPr>
          <a:xfrm>
            <a:off x="3543156" y="1696133"/>
            <a:ext cx="990602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Legal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CEDC53-84B1-1DA4-C776-48ECAE1CA403}"/>
              </a:ext>
            </a:extLst>
          </p:cNvPr>
          <p:cNvSpPr/>
          <p:nvPr/>
        </p:nvSpPr>
        <p:spPr>
          <a:xfrm>
            <a:off x="92346" y="2864317"/>
            <a:ext cx="1030607" cy="21544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Engineering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C6F24-C3DA-EB29-FA9A-D426BBE45C67}"/>
              </a:ext>
            </a:extLst>
          </p:cNvPr>
          <p:cNvSpPr/>
          <p:nvPr/>
        </p:nvSpPr>
        <p:spPr>
          <a:xfrm>
            <a:off x="92346" y="2087587"/>
            <a:ext cx="1151107" cy="497295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Fredericks Communication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2AC486-9C60-5E5B-2514-EDEC98F10E2B}"/>
              </a:ext>
            </a:extLst>
          </p:cNvPr>
          <p:cNvSpPr/>
          <p:nvPr/>
        </p:nvSpPr>
        <p:spPr>
          <a:xfrm>
            <a:off x="1751515" y="533297"/>
            <a:ext cx="1103258" cy="381000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Board</a:t>
            </a:r>
          </a:p>
        </p:txBody>
      </p:sp>
    </p:spTree>
    <p:extLst>
      <p:ext uri="{BB962C8B-B14F-4D97-AF65-F5344CB8AC3E}">
        <p14:creationId xmlns:p14="http://schemas.microsoft.com/office/powerpoint/2010/main" val="92970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45E95-F42B-1D80-7781-E2FCC7CC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Does the Share Price Make Sense?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DF6D9-FD82-F4E1-6972-B2ED2B3D9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/>
              <a:t>Implied Company Value</a:t>
            </a:r>
          </a:p>
          <a:p>
            <a:r>
              <a:rPr lang="en-US" b="1" i="1"/>
              <a:t>PRE REVENUE?</a:t>
            </a:r>
          </a:p>
          <a:p>
            <a:r>
              <a:rPr lang="en-US" b="1" i="1"/>
              <a:t>PRE FDA APPROVAL?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9722F-0A66-6F15-43FF-ACF99B59AB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4004104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A015-9BED-1D4F-E330-C76400A7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95" y="207073"/>
            <a:ext cx="3559811" cy="556325"/>
          </a:xfrm>
        </p:spPr>
        <p:txBody>
          <a:bodyPr/>
          <a:lstStyle/>
          <a:p>
            <a:r>
              <a:rPr lang="en-US" dirty="0"/>
              <a:t>Share of Global GDP by Country/Region</a:t>
            </a:r>
            <a:br>
              <a:rPr lang="en-US" dirty="0"/>
            </a:br>
            <a:r>
              <a:rPr lang="en-US" dirty="0"/>
              <a:t>? Do their growth targets make sense?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2C0A9-B327-F549-ABA3-57736AAAD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192" y="3344562"/>
            <a:ext cx="4357623" cy="169277"/>
          </a:xfrm>
        </p:spPr>
        <p:txBody>
          <a:bodyPr/>
          <a:lstStyle/>
          <a:p>
            <a:r>
              <a:rPr lang="en-US"/>
              <a:t>Source:  </a:t>
            </a:r>
            <a:r>
              <a:rPr lang="en-US">
                <a:hlinkClick r:id="rId2"/>
              </a:rPr>
              <a:t>GDP World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7A318-EBAE-1DF1-FD38-95E3D7B8F8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  <p:pic>
        <p:nvPicPr>
          <p:cNvPr id="6" name="Picture 5" descr="A colorful circle with numbers and a number of people&#10;&#10;Description automatically generated">
            <a:extLst>
              <a:ext uri="{FF2B5EF4-FFF2-40B4-BE49-F238E27FC236}">
                <a16:creationId xmlns:a16="http://schemas.microsoft.com/office/drawing/2014/main" id="{6D497AF8-FE6D-85CB-07CD-0B56C4244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43338"/>
            <a:ext cx="3981450" cy="275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2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F422-67D2-23C3-647C-858EE299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Diagnostics and Life Sciences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25067-129F-5EBE-EBBB-5F3FE3CC6C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3C061-907C-4A69-A579-E2BF00FB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7" y="957354"/>
            <a:ext cx="4057650" cy="171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8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2A6D-42C7-D4B8-ABDC-95C25BBBE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Diagnostics/Life Sciences Multiples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A95C8-346D-535A-C843-AE660A344C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/>
          </a:p>
        </p:txBody>
      </p:sp>
      <p:pic>
        <p:nvPicPr>
          <p:cNvPr id="6" name="Picture 5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B0348D4F-A0E8-B94C-255A-7878C6178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39" y="663575"/>
            <a:ext cx="36449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47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3A08-3AD2-96C7-D427-6563200F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Financials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64B50-4E6C-D6B0-19C1-96FF3709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r>
              <a:rPr lang="en-US"/>
              <a:t>? Do Their Pro </a:t>
            </a:r>
            <a:r>
              <a:rPr lang="en-US" err="1"/>
              <a:t>Formas</a:t>
            </a:r>
            <a:r>
              <a:rPr lang="en-US"/>
              <a:t> Make Sense based on Case Assumptions?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B0600-04BE-8530-8590-2477BA99D2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571D09C-1FB2-A8BD-467E-48B8F8BBF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4503315"/>
              </p:ext>
            </p:extLst>
          </p:nvPr>
        </p:nvGraphicFramePr>
        <p:xfrm>
          <a:off x="171450" y="806281"/>
          <a:ext cx="4357623" cy="265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7039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FA83-E3BE-C61E-1559-7DEF5B29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I looked at 3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A3BAF-FFE1-AC97-A8AD-50A1EDF4D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3542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/>
              <a:t>Base Case: They sold into all of their goal markets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Case 2: No Human Markets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Case 3: No Human Markets, No US Animal Markets</a:t>
            </a:r>
          </a:p>
          <a:p>
            <a:pPr marL="228600" indent="-228600">
              <a:buFont typeface="+mj-lt"/>
              <a:buAutoNum type="arabicPeriod"/>
            </a:pPr>
            <a:endParaRPr lang="en-US"/>
          </a:p>
          <a:p>
            <a:pPr marL="228600" indent="-228600">
              <a:buFont typeface="+mj-lt"/>
              <a:buAutoNum type="arabicPeriod"/>
            </a:pPr>
            <a:r>
              <a:rPr lang="en-US"/>
              <a:t>And THEN, I looked at sensitivity analyses based on EBITDA and Various Multipliers</a:t>
            </a:r>
          </a:p>
          <a:p>
            <a:pPr marL="228600" indent="-228600">
              <a:buFont typeface="+mj-lt"/>
              <a:buAutoNum type="arabicPeriod"/>
            </a:pPr>
            <a:endParaRPr lang="en-US"/>
          </a:p>
          <a:p>
            <a:pPr marL="228600" indent="-228600">
              <a:buFont typeface="+mj-lt"/>
              <a:buAutoNum type="arabicPeriod"/>
            </a:pPr>
            <a:r>
              <a:rPr lang="en-US"/>
              <a:t>Then, I looked at cost of capital scenarios on top of that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614D7-978C-2F16-D394-AE73BEB85C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405002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72A5-A2EC-083C-6ECF-793E0005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Pre Money/Post Money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FCB39-B299-E04E-94FB-DEE3A3C117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BC481-EFA2-1BD4-B2C6-AFD7C1B1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95" y="1048332"/>
            <a:ext cx="4169328" cy="127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1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748F-FD18-3C2B-3860-3A69AA40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Valuation Sensitivity to EBITDA and multiple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53862-7E48-CA10-1A42-CAFD0AE07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706484"/>
            <a:ext cx="4357623" cy="1692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Case Base Case is 5x multiple, or $68.2M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6C4EE-545B-D944-28E4-C4DAE3A2A5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F5A9E-1267-9129-D640-183B5AF2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" y="1037830"/>
            <a:ext cx="3984770" cy="183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51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B48A-3A92-FEA3-FF61-93255A0B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The point is…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3479C-5E60-304C-2365-8CD5CB203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They set valuation “arbitrarily” – and it is inconsistent on an offer price, multiples, and valuation dilution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does not make sense.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3FE8-9582-1772-23CB-C8EF30BCB0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896536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6A74-6EBC-E54F-A68B-32C3CC92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Indications of Conflict/Red/Yellow Flag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95F27-8A81-9549-97F8-BE2F790D2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621182"/>
            <a:ext cx="4357623" cy="1692771"/>
          </a:xfrm>
        </p:spPr>
        <p:txBody>
          <a:bodyPr/>
          <a:lstStyle/>
          <a:p>
            <a:r>
              <a:rPr lang="en-US" dirty="0"/>
              <a:t>MIFT</a:t>
            </a:r>
          </a:p>
          <a:p>
            <a:r>
              <a:rPr lang="en-US" dirty="0"/>
              <a:t>No Reg A</a:t>
            </a:r>
          </a:p>
          <a:p>
            <a:r>
              <a:rPr lang="en-US" dirty="0"/>
              <a:t>Was Atkins the right person?</a:t>
            </a:r>
          </a:p>
          <a:p>
            <a:r>
              <a:rPr lang="en-US" dirty="0"/>
              <a:t>O’Connor on board and doing financials</a:t>
            </a:r>
          </a:p>
          <a:p>
            <a:r>
              <a:rPr lang="en-US" dirty="0"/>
              <a:t>O’Connor on board and writing offerings docs</a:t>
            </a:r>
          </a:p>
          <a:p>
            <a:r>
              <a:rPr lang="en-US" dirty="0"/>
              <a:t>Raising funds to backpay themselves  - Brown and Stein hired at $1500/month as “consultants”</a:t>
            </a:r>
          </a:p>
          <a:p>
            <a:r>
              <a:rPr lang="en-US" dirty="0"/>
              <a:t>Raising funds to reduce bank indebtedness (that they took on to pay themselves)</a:t>
            </a:r>
          </a:p>
          <a:p>
            <a:r>
              <a:rPr lang="en-US" dirty="0"/>
              <a:t>They own part of Fredericks – the Communications firm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0940A-AD15-3EDB-3658-1CF7FE0DBA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18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184501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A360-834D-9761-1884-6BD75663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Scorecard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C3931-DB2A-3170-CE55-554C02F0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87771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Team, low qualification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Clear Value Proposition, low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Product Market Fit?: Can’t tell (negative)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Use of Capital: paying debt and their past salaries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Need Additional Capital: High (negative)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Conflicts of Interest: Accountant/Lawyer, Comms Group – High (negative)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Risk: SEC non-compliance; pre revenue; pre Approval; low experience in animal sector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9C52F-F8FF-71E6-DEE8-CBAEE0D1A2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755815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8800-054F-F53A-A44C-83741745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/>
              <a:t>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FEFCF-1B06-DEDA-7518-40658D8F3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 you do if you are Ken Jones?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06DB-A414-C72D-F9B9-104901993A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20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707475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E634-5B0B-F4DF-8BC1-95DC996E8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419D8-9E9B-1F9F-65E7-61B647A52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r>
              <a:rPr lang="en-US" dirty="0"/>
              <a:t>Know the business case for your venture</a:t>
            </a:r>
          </a:p>
          <a:p>
            <a:r>
              <a:rPr lang="en-US" dirty="0"/>
              <a:t>Your Accountant and Attorney cannot be on the Board </a:t>
            </a:r>
          </a:p>
          <a:p>
            <a:r>
              <a:rPr lang="en-US" dirty="0"/>
              <a:t>Before you raise money, engage a Securities Lawyer</a:t>
            </a:r>
          </a:p>
          <a:p>
            <a:r>
              <a:rPr lang="en-US" dirty="0"/>
              <a:t>Valuations need to be consistent</a:t>
            </a:r>
          </a:p>
          <a:p>
            <a:r>
              <a:rPr lang="en-US" dirty="0"/>
              <a:t>Not recommended to raise money to pay yourselves for </a:t>
            </a:r>
            <a:r>
              <a:rPr lang="en-US"/>
              <a:t>past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E6238-6861-244C-BCCC-DA5862760E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21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411098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638</Words>
  <Application>Microsoft Office PowerPoint</Application>
  <PresentationFormat>Custom</PresentationFormat>
  <Paragraphs>145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Garamond</vt:lpstr>
      <vt:lpstr>Rockwell</vt:lpstr>
      <vt:lpstr>Office Theme</vt:lpstr>
      <vt:lpstr>Viscotech</vt:lpstr>
      <vt:lpstr>The Space in Which Viscotech Operates</vt:lpstr>
      <vt:lpstr>Viscotech is an early stage, small player in a crowded market with competitive funding</vt:lpstr>
      <vt:lpstr>Viscotech KPIs</vt:lpstr>
      <vt:lpstr>The Viscotech Funding and Operational Journey</vt:lpstr>
      <vt:lpstr>What is the Problem the Founders are trying to Solve – What is the Business Case for this Problem?</vt:lpstr>
      <vt:lpstr>Org Chart – Part 1</vt:lpstr>
      <vt:lpstr>Org Chart, Part 2</vt:lpstr>
      <vt:lpstr>Does the Share Price Make Sense?</vt:lpstr>
      <vt:lpstr>Share of Global GDP by Country/Region ? Do their growth targets make sense?</vt:lpstr>
      <vt:lpstr>Diagnostics and Life Sciences</vt:lpstr>
      <vt:lpstr>Diagnostics/Life Sciences Multiples</vt:lpstr>
      <vt:lpstr>Financials</vt:lpstr>
      <vt:lpstr>I looked at 3 cases</vt:lpstr>
      <vt:lpstr>Pre Money/Post Money</vt:lpstr>
      <vt:lpstr>Valuation Sensitivity to EBITDA and multiple</vt:lpstr>
      <vt:lpstr>The point is…</vt:lpstr>
      <vt:lpstr>Indications of Conflict/Red/Yellow Flag</vt:lpstr>
      <vt:lpstr>Scorecard</vt:lpstr>
      <vt:lpstr>Recommendation</vt:lpstr>
      <vt:lpstr>Take 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4</cp:revision>
  <dcterms:created xsi:type="dcterms:W3CDTF">2022-01-05T04:34:10Z</dcterms:created>
  <dcterms:modified xsi:type="dcterms:W3CDTF">2025-10-20T17:56:20Z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