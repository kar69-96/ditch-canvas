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477" r:id="rId2"/>
    <p:sldId id="478" r:id="rId3"/>
    <p:sldId id="457" r:id="rId4"/>
    <p:sldId id="462" r:id="rId5"/>
    <p:sldId id="463" r:id="rId6"/>
    <p:sldId id="464" r:id="rId7"/>
    <p:sldId id="465" r:id="rId8"/>
    <p:sldId id="466" r:id="rId9"/>
    <p:sldId id="467" r:id="rId10"/>
    <p:sldId id="468" r:id="rId11"/>
    <p:sldId id="458" r:id="rId12"/>
    <p:sldId id="455" r:id="rId13"/>
    <p:sldId id="479" r:id="rId14"/>
    <p:sldId id="480" r:id="rId15"/>
    <p:sldId id="469" r:id="rId16"/>
    <p:sldId id="470" r:id="rId17"/>
    <p:sldId id="459" r:id="rId18"/>
    <p:sldId id="472" r:id="rId19"/>
    <p:sldId id="471" r:id="rId20"/>
    <p:sldId id="473" r:id="rId21"/>
    <p:sldId id="474" r:id="rId22"/>
    <p:sldId id="475" r:id="rId23"/>
    <p:sldId id="461" r:id="rId24"/>
    <p:sldId id="481" r:id="rId25"/>
    <p:sldId id="476" r:id="rId26"/>
    <p:sldId id="460" r:id="rId27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A2A1"/>
    <a:srgbClr val="386750"/>
    <a:srgbClr val="CEB67B"/>
    <a:srgbClr val="5169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72"/>
  </p:normalViewPr>
  <p:slideViewPr>
    <p:cSldViewPr snapToGrid="0">
      <p:cViewPr varScale="1">
        <p:scale>
          <a:sx n="194" d="100"/>
          <a:sy n="194" d="100"/>
        </p:scale>
        <p:origin x="2028" y="13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en Burnes" userId="ca3eeb36-3cf7-49b7-874f-4993e3c98b53" providerId="ADAL" clId="{4C46DA56-9020-44B6-A87B-E2E53F2509A0}"/>
    <pc:docChg chg="custSel addSld modSld">
      <pc:chgData name="Ellen Burnes" userId="ca3eeb36-3cf7-49b7-874f-4993e3c98b53" providerId="ADAL" clId="{4C46DA56-9020-44B6-A87B-E2E53F2509A0}" dt="2025-11-05T19:16:25.460" v="742" actId="20577"/>
      <pc:docMkLst>
        <pc:docMk/>
      </pc:docMkLst>
      <pc:sldChg chg="modSp mod">
        <pc:chgData name="Ellen Burnes" userId="ca3eeb36-3cf7-49b7-874f-4993e3c98b53" providerId="ADAL" clId="{4C46DA56-9020-44B6-A87B-E2E53F2509A0}" dt="2025-11-05T18:19:13.919" v="189" actId="20577"/>
        <pc:sldMkLst>
          <pc:docMk/>
          <pc:sldMk cId="1362266609" sldId="458"/>
        </pc:sldMkLst>
        <pc:spChg chg="mod">
          <ac:chgData name="Ellen Burnes" userId="ca3eeb36-3cf7-49b7-874f-4993e3c98b53" providerId="ADAL" clId="{4C46DA56-9020-44B6-A87B-E2E53F2509A0}" dt="2025-11-05T18:19:13.919" v="189" actId="20577"/>
          <ac:spMkLst>
            <pc:docMk/>
            <pc:sldMk cId="1362266609" sldId="458"/>
            <ac:spMk id="3" creationId="{80693BA7-0F73-575C-31FD-1EAAAB3C868B}"/>
          </ac:spMkLst>
        </pc:spChg>
      </pc:sldChg>
      <pc:sldChg chg="modSp mod">
        <pc:chgData name="Ellen Burnes" userId="ca3eeb36-3cf7-49b7-874f-4993e3c98b53" providerId="ADAL" clId="{4C46DA56-9020-44B6-A87B-E2E53F2509A0}" dt="2025-11-05T19:04:24.776" v="472" actId="5793"/>
        <pc:sldMkLst>
          <pc:docMk/>
          <pc:sldMk cId="692671673" sldId="471"/>
        </pc:sldMkLst>
        <pc:spChg chg="mod">
          <ac:chgData name="Ellen Burnes" userId="ca3eeb36-3cf7-49b7-874f-4993e3c98b53" providerId="ADAL" clId="{4C46DA56-9020-44B6-A87B-E2E53F2509A0}" dt="2025-11-05T19:04:24.776" v="472" actId="5793"/>
          <ac:spMkLst>
            <pc:docMk/>
            <pc:sldMk cId="692671673" sldId="471"/>
            <ac:spMk id="3" creationId="{CB556785-502C-0B9D-2804-80B3A6904840}"/>
          </ac:spMkLst>
        </pc:spChg>
      </pc:sldChg>
      <pc:sldChg chg="modSp mod">
        <pc:chgData name="Ellen Burnes" userId="ca3eeb36-3cf7-49b7-874f-4993e3c98b53" providerId="ADAL" clId="{4C46DA56-9020-44B6-A87B-E2E53F2509A0}" dt="2025-11-05T18:45:02.127" v="377" actId="20577"/>
        <pc:sldMkLst>
          <pc:docMk/>
          <pc:sldMk cId="635348242" sldId="472"/>
        </pc:sldMkLst>
        <pc:spChg chg="mod">
          <ac:chgData name="Ellen Burnes" userId="ca3eeb36-3cf7-49b7-874f-4993e3c98b53" providerId="ADAL" clId="{4C46DA56-9020-44B6-A87B-E2E53F2509A0}" dt="2025-11-05T18:45:02.127" v="377" actId="20577"/>
          <ac:spMkLst>
            <pc:docMk/>
            <pc:sldMk cId="635348242" sldId="472"/>
            <ac:spMk id="3" creationId="{CE6FA56C-0FFF-96D9-6196-00AA6389969C}"/>
          </ac:spMkLst>
        </pc:spChg>
      </pc:sldChg>
      <pc:sldChg chg="modSp mod">
        <pc:chgData name="Ellen Burnes" userId="ca3eeb36-3cf7-49b7-874f-4993e3c98b53" providerId="ADAL" clId="{4C46DA56-9020-44B6-A87B-E2E53F2509A0}" dt="2025-11-05T19:16:25.460" v="742" actId="20577"/>
        <pc:sldMkLst>
          <pc:docMk/>
          <pc:sldMk cId="3841498454" sldId="476"/>
        </pc:sldMkLst>
        <pc:spChg chg="mod">
          <ac:chgData name="Ellen Burnes" userId="ca3eeb36-3cf7-49b7-874f-4993e3c98b53" providerId="ADAL" clId="{4C46DA56-9020-44B6-A87B-E2E53F2509A0}" dt="2025-11-05T19:16:25.460" v="742" actId="20577"/>
          <ac:spMkLst>
            <pc:docMk/>
            <pc:sldMk cId="3841498454" sldId="476"/>
            <ac:spMk id="3" creationId="{BD16FA6D-C9DC-3829-E9C8-44E225AF124C}"/>
          </ac:spMkLst>
        </pc:spChg>
      </pc:sldChg>
      <pc:sldChg chg="modSp new mod">
        <pc:chgData name="Ellen Burnes" userId="ca3eeb36-3cf7-49b7-874f-4993e3c98b53" providerId="ADAL" clId="{4C46DA56-9020-44B6-A87B-E2E53F2509A0}" dt="2025-11-05T18:14:45.692" v="23" actId="20577"/>
        <pc:sldMkLst>
          <pc:docMk/>
          <pc:sldMk cId="3466778989" sldId="478"/>
        </pc:sldMkLst>
        <pc:spChg chg="mod">
          <ac:chgData name="Ellen Burnes" userId="ca3eeb36-3cf7-49b7-874f-4993e3c98b53" providerId="ADAL" clId="{4C46DA56-9020-44B6-A87B-E2E53F2509A0}" dt="2025-11-05T18:14:27.177" v="5" actId="20577"/>
          <ac:spMkLst>
            <pc:docMk/>
            <pc:sldMk cId="3466778989" sldId="478"/>
            <ac:spMk id="2" creationId="{F9F74C24-A5B6-2672-3FBC-4A1D2D4ED811}"/>
          </ac:spMkLst>
        </pc:spChg>
        <pc:spChg chg="mod">
          <ac:chgData name="Ellen Burnes" userId="ca3eeb36-3cf7-49b7-874f-4993e3c98b53" providerId="ADAL" clId="{4C46DA56-9020-44B6-A87B-E2E53F2509A0}" dt="2025-11-05T18:14:45.692" v="23" actId="20577"/>
          <ac:spMkLst>
            <pc:docMk/>
            <pc:sldMk cId="3466778989" sldId="478"/>
            <ac:spMk id="3" creationId="{08D2EDC6-AA61-D5BA-A0FD-8F5475D71D57}"/>
          </ac:spMkLst>
        </pc:spChg>
      </pc:sldChg>
      <pc:sldChg chg="delSp modSp new mod">
        <pc:chgData name="Ellen Burnes" userId="ca3eeb36-3cf7-49b7-874f-4993e3c98b53" providerId="ADAL" clId="{4C46DA56-9020-44B6-A87B-E2E53F2509A0}" dt="2025-11-05T18:19:39.185" v="213" actId="478"/>
        <pc:sldMkLst>
          <pc:docMk/>
          <pc:sldMk cId="1664252213" sldId="479"/>
        </pc:sldMkLst>
        <pc:spChg chg="mod">
          <ac:chgData name="Ellen Burnes" userId="ca3eeb36-3cf7-49b7-874f-4993e3c98b53" providerId="ADAL" clId="{4C46DA56-9020-44B6-A87B-E2E53F2509A0}" dt="2025-11-05T18:19:33.551" v="212" actId="20577"/>
          <ac:spMkLst>
            <pc:docMk/>
            <pc:sldMk cId="1664252213" sldId="479"/>
            <ac:spMk id="2" creationId="{E6637D79-0090-E3E0-7995-B97E2A8FF868}"/>
          </ac:spMkLst>
        </pc:spChg>
        <pc:spChg chg="del">
          <ac:chgData name="Ellen Burnes" userId="ca3eeb36-3cf7-49b7-874f-4993e3c98b53" providerId="ADAL" clId="{4C46DA56-9020-44B6-A87B-E2E53F2509A0}" dt="2025-11-05T18:19:39.185" v="213" actId="478"/>
          <ac:spMkLst>
            <pc:docMk/>
            <pc:sldMk cId="1664252213" sldId="479"/>
            <ac:spMk id="3" creationId="{C881564B-8EC6-644D-D042-610B492FA5E3}"/>
          </ac:spMkLst>
        </pc:spChg>
      </pc:sldChg>
      <pc:sldChg chg="modSp new mod">
        <pc:chgData name="Ellen Burnes" userId="ca3eeb36-3cf7-49b7-874f-4993e3c98b53" providerId="ADAL" clId="{4C46DA56-9020-44B6-A87B-E2E53F2509A0}" dt="2025-11-05T18:25:17.362" v="262" actId="20577"/>
        <pc:sldMkLst>
          <pc:docMk/>
          <pc:sldMk cId="2594324947" sldId="480"/>
        </pc:sldMkLst>
        <pc:spChg chg="mod">
          <ac:chgData name="Ellen Burnes" userId="ca3eeb36-3cf7-49b7-874f-4993e3c98b53" providerId="ADAL" clId="{4C46DA56-9020-44B6-A87B-E2E53F2509A0}" dt="2025-11-05T18:25:17.362" v="262" actId="20577"/>
          <ac:spMkLst>
            <pc:docMk/>
            <pc:sldMk cId="2594324947" sldId="480"/>
            <ac:spMk id="2" creationId="{649DF16C-62FF-406F-4B0A-A8529D6D32D0}"/>
          </ac:spMkLst>
        </pc:spChg>
      </pc:sldChg>
      <pc:sldChg chg="modSp new mod">
        <pc:chgData name="Ellen Burnes" userId="ca3eeb36-3cf7-49b7-874f-4993e3c98b53" providerId="ADAL" clId="{4C46DA56-9020-44B6-A87B-E2E53F2509A0}" dt="2025-11-05T19:14:16.338" v="665" actId="20577"/>
        <pc:sldMkLst>
          <pc:docMk/>
          <pc:sldMk cId="2573055851" sldId="481"/>
        </pc:sldMkLst>
        <pc:spChg chg="mod">
          <ac:chgData name="Ellen Burnes" userId="ca3eeb36-3cf7-49b7-874f-4993e3c98b53" providerId="ADAL" clId="{4C46DA56-9020-44B6-A87B-E2E53F2509A0}" dt="2025-11-05T19:09:50.379" v="499" actId="20577"/>
          <ac:spMkLst>
            <pc:docMk/>
            <pc:sldMk cId="2573055851" sldId="481"/>
            <ac:spMk id="2" creationId="{03BF475E-E503-10B1-F636-16896630001C}"/>
          </ac:spMkLst>
        </pc:spChg>
        <pc:spChg chg="mod">
          <ac:chgData name="Ellen Burnes" userId="ca3eeb36-3cf7-49b7-874f-4993e3c98b53" providerId="ADAL" clId="{4C46DA56-9020-44B6-A87B-E2E53F2509A0}" dt="2025-11-05T19:14:16.338" v="665" actId="20577"/>
          <ac:spMkLst>
            <pc:docMk/>
            <pc:sldMk cId="2573055851" sldId="481"/>
            <ac:spMk id="3" creationId="{010430FD-55C8-09E2-4995-04C229FE3E2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42BC-AF68-414B-8622-6AC13D9F4F1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C8FC9-DCDB-4EAE-B3A7-1B2D2F2E6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9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</p:spPr>
        <p:txBody>
          <a:bodyPr lIns="0" tIns="0" rIns="0" bIns="0"/>
          <a:lstStyle>
            <a:lvl1pPr marL="171450" indent="-171450"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buFont typeface="Arial" panose="020B0604020202020204" pitchFamily="34" charset="0"/>
              <a:buChar char="•"/>
              <a:defRPr sz="1100"/>
            </a:lvl2pPr>
          </a:lstStyle>
          <a:p>
            <a:endParaRPr lang="en-US"/>
          </a:p>
          <a:p>
            <a:pPr lvl="1"/>
            <a:r>
              <a:rPr lang="en-US"/>
              <a:t>	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129539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lang="en-US"/>
          </a:p>
          <a:p>
            <a:pPr lvl="1"/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6640" y="2949162"/>
            <a:ext cx="526414" cy="271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171450" indent="-171450">
        <a:buFont typeface="Arial" panose="020B0604020202020204" pitchFamily="34" charset="0"/>
        <a:buChar char="•"/>
        <a:defRPr>
          <a:latin typeface="+mn-lt"/>
          <a:ea typeface="+mn-ea"/>
          <a:cs typeface="+mn-cs"/>
        </a:defRPr>
      </a:lvl1pPr>
      <a:lvl2pPr marL="742950" indent="-285750">
        <a:buFont typeface="Arial" panose="020B0604020202020204" pitchFamily="34" charset="0"/>
        <a:buChar char="•"/>
        <a:defRPr sz="1100"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6830" y="434975"/>
            <a:ext cx="4067937" cy="113595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DCF Modeling for Valuation</a:t>
            </a:r>
            <a:b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b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 Week 12.2</a:t>
            </a:r>
            <a:endParaRPr sz="2400" dirty="0"/>
          </a:p>
        </p:txBody>
      </p:sp>
      <p:sp>
        <p:nvSpPr>
          <p:cNvPr id="10" name="object 10"/>
          <p:cNvSpPr/>
          <p:nvPr/>
        </p:nvSpPr>
        <p:spPr>
          <a:xfrm>
            <a:off x="-152" y="3337814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8906" y="3344562"/>
            <a:ext cx="30099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z="600" spc="-35">
                <a:latin typeface="Arial"/>
                <a:cs typeface="Arial"/>
              </a:rPr>
              <a:t>P</a:t>
            </a:r>
            <a:r>
              <a:rPr sz="600" spc="-5">
                <a:latin typeface="Arial"/>
                <a:cs typeface="Arial"/>
              </a:rPr>
              <a:t>age</a:t>
            </a:r>
            <a:r>
              <a:rPr sz="600" spc="-10">
                <a:latin typeface="Arial"/>
                <a:cs typeface="Arial"/>
              </a:rPr>
              <a:t> </a:t>
            </a:r>
            <a:fld id="{81D60167-4931-47E6-BA6A-407CBD079E47}" type="slidenum">
              <a:rPr sz="600" spc="-5" dirty="0"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E640-4373-E05F-2E68-73D434B5B221}"/>
              </a:ext>
            </a:extLst>
          </p:cNvPr>
          <p:cNvSpPr txBox="1"/>
          <p:nvPr/>
        </p:nvSpPr>
        <p:spPr>
          <a:xfrm>
            <a:off x="818546" y="1720013"/>
            <a:ext cx="31241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Professor Burnes</a:t>
            </a:r>
          </a:p>
          <a:p>
            <a:pPr algn="ctr"/>
            <a:r>
              <a:rPr lang="en-US" b="1" dirty="0"/>
              <a:t>Leeds School of Business</a:t>
            </a:r>
          </a:p>
          <a:p>
            <a:pPr algn="ctr"/>
            <a:r>
              <a:rPr lang="en-US" b="1" dirty="0"/>
              <a:t>University of Colorado Boulder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74C24-A5B6-2672-3FBC-4A1D2D4ED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2EDC6-AA61-D5BA-A0FD-8F5475D71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507831"/>
          </a:xfrm>
        </p:spPr>
        <p:txBody>
          <a:bodyPr/>
          <a:lstStyle/>
          <a:p>
            <a:r>
              <a:rPr lang="en-US" dirty="0"/>
              <a:t>AI</a:t>
            </a:r>
          </a:p>
          <a:p>
            <a:r>
              <a:rPr lang="en-US" dirty="0"/>
              <a:t>TVM</a:t>
            </a:r>
          </a:p>
          <a:p>
            <a:r>
              <a:rPr lang="en-US" dirty="0"/>
              <a:t>DCF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2ABC5-E49F-CC01-2679-DCB6E1D4C4E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466778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E0480-01C9-9FF8-898A-699C4E9D0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215444"/>
          </a:xfrm>
        </p:spPr>
        <p:txBody>
          <a:bodyPr/>
          <a:lstStyle/>
          <a:p>
            <a:r>
              <a:rPr lang="en-US" dirty="0"/>
              <a:t>Time Value of Money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DF954-238A-6BA5-F381-84C28097F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8" y="602754"/>
            <a:ext cx="4342383" cy="1015663"/>
          </a:xfrm>
        </p:spPr>
        <p:txBody>
          <a:bodyPr/>
          <a:lstStyle/>
          <a:p>
            <a:r>
              <a:rPr lang="en-US" dirty="0"/>
              <a:t>PV</a:t>
            </a:r>
          </a:p>
          <a:p>
            <a:r>
              <a:rPr lang="en-US" dirty="0"/>
              <a:t>Net Present Value</a:t>
            </a:r>
          </a:p>
          <a:p>
            <a:endParaRPr lang="en-US" dirty="0"/>
          </a:p>
          <a:p>
            <a:r>
              <a:rPr lang="en-US" dirty="0"/>
              <a:t>Perpetuity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456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21CE9-1923-7713-61B3-B0CE14E4C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Present Value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2D86F-7B0A-7EC0-3557-CDC4B3F93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1849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Recall that Present Value provides a basis for “apples to apples” comparison for cash flows that occur at different times.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do this by understanding:</a:t>
            </a:r>
          </a:p>
          <a:p>
            <a:pPr marL="0" indent="0">
              <a:buNone/>
            </a:pPr>
            <a:r>
              <a:rPr lang="en-US" dirty="0"/>
              <a:t>Cash Flow</a:t>
            </a:r>
          </a:p>
          <a:p>
            <a:pPr marL="0" indent="0">
              <a:buNone/>
            </a:pPr>
            <a:r>
              <a:rPr lang="en-US" dirty="0"/>
              <a:t>Time</a:t>
            </a:r>
          </a:p>
          <a:p>
            <a:pPr marL="0" indent="0">
              <a:buNone/>
            </a:pPr>
            <a:r>
              <a:rPr lang="en-US" dirty="0"/>
              <a:t>Interest Rates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25941-90EB-55A8-D408-34BDCFE201B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4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100218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F092-907E-C37C-316C-0184BA50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Example 1: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22053-C464-B000-2D53-931E63A95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67710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the value TODAY (present value) or receiving $120,000 in 12 years if the interest rate is 8%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Let’s solve in Excel, please see the Present Value Tab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AA742-DB8D-5ED1-9DBA-B71EBE2A52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5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02061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86EB6-FBD4-14D5-B610-038C64083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B9C6C-B64A-A267-EC83-C314E999B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8463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Now, you are going to not only get a Payoff (cashflow) at the END of a project, but you are going to get annual payments along the way.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?? What is the Present Value of an Project that offers $120,000 in 10 years, AND $3200 per year if your interest rate is 8%?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30A00-69E4-13F0-1A90-F0FA0124B1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6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414176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266FF-11FB-8514-F70B-515A130DB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Net Present Value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F1963-3516-AAF9-2779-7C499D76B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67710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NPV model is relevant when we have </a:t>
            </a:r>
            <a:r>
              <a:rPr lang="en-US" b="1" i="1" dirty="0"/>
              <a:t>DIFFERING</a:t>
            </a:r>
            <a:r>
              <a:rPr lang="en-US" dirty="0"/>
              <a:t> cashflows over time.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EF727-BD50-0AEF-F126-C304A154CF3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7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456739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ACD41-ED91-ECF6-C1A6-81BD38EB6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44475"/>
          </a:xfrm>
        </p:spPr>
        <p:txBody>
          <a:bodyPr wrap="square">
            <a:normAutofit/>
          </a:bodyPr>
          <a:lstStyle/>
          <a:p>
            <a:r>
              <a:rPr lang="en-US" dirty="0"/>
              <a:t>Example 3: NPV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D3B92-AD71-F403-0588-5EB86EEB6CCF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</p:spPr>
        <p:txBody>
          <a:bodyPr wrap="square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dirty="0"/>
              <a:t>What is the Present Value of a project with the following cashflows, if your interest rate is 9%</a:t>
            </a:r>
            <a:endParaRPr lang="en-US"/>
          </a:p>
          <a:p>
            <a:pPr marL="0" indent="0">
              <a:spcAft>
                <a:spcPts val="600"/>
              </a:spcAft>
              <a:buNone/>
            </a:pPr>
            <a:endParaRPr lang="en-US"/>
          </a:p>
          <a:p>
            <a:pPr marL="0" indent="0">
              <a:spcAft>
                <a:spcPts val="600"/>
              </a:spcAft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FB1C2-AE37-092B-9E81-D0824E358B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</p:spPr>
        <p:txBody>
          <a:bodyPr wrap="square">
            <a:normAutofit/>
          </a:bodyPr>
          <a:lstStyle/>
          <a:p>
            <a:pPr marL="12700">
              <a:spcAft>
                <a:spcPts val="600"/>
              </a:spcAft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pPr marL="12700">
                <a:spcAft>
                  <a:spcPts val="600"/>
                </a:spcAft>
              </a:pPr>
              <a:t>8</a:t>
            </a:fld>
            <a:endParaRPr lang="en-US" spc="-5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B55998-88B1-D186-F4BD-775853F48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9813"/>
              </p:ext>
            </p:extLst>
          </p:nvPr>
        </p:nvGraphicFramePr>
        <p:xfrm>
          <a:off x="257478" y="795972"/>
          <a:ext cx="1951448" cy="2284098"/>
        </p:xfrm>
        <a:graphic>
          <a:graphicData uri="http://schemas.openxmlformats.org/drawingml/2006/table">
            <a:tbl>
              <a:tblPr/>
              <a:tblGrid>
                <a:gridCol w="668253">
                  <a:extLst>
                    <a:ext uri="{9D8B030D-6E8A-4147-A177-3AD203B41FA5}">
                      <a16:colId xmlns:a16="http://schemas.microsoft.com/office/drawing/2014/main" val="986231720"/>
                    </a:ext>
                  </a:extLst>
                </a:gridCol>
                <a:gridCol w="1283195">
                  <a:extLst>
                    <a:ext uri="{9D8B030D-6E8A-4147-A177-3AD203B41FA5}">
                      <a16:colId xmlns:a16="http://schemas.microsoft.com/office/drawing/2014/main" val="3515552575"/>
                    </a:ext>
                  </a:extLst>
                </a:gridCol>
              </a:tblGrid>
              <a:tr h="38068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Year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35" marR="15835" marT="1583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Cashflows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35" marR="15835" marT="158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136639"/>
                  </a:ext>
                </a:extLst>
              </a:tr>
              <a:tr h="380683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35" marR="15835" marT="1583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10000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35" marR="15835" marT="15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196479"/>
                  </a:ext>
                </a:extLst>
              </a:tr>
              <a:tr h="380683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35" marR="15835" marT="1583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12000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35" marR="15835" marT="15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522848"/>
                  </a:ext>
                </a:extLst>
              </a:tr>
              <a:tr h="380683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35" marR="15835" marT="1583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25000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35" marR="15835" marT="15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550483"/>
                  </a:ext>
                </a:extLst>
              </a:tr>
              <a:tr h="380683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35" marR="15835" marT="1583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45000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35" marR="15835" marT="15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259241"/>
                  </a:ext>
                </a:extLst>
              </a:tr>
              <a:tr h="380683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35" marR="15835" marT="15835" marB="0" anchor="b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75000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835" marR="15835" marT="158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675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497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994A253-3C0E-34BD-15AD-398C89704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Perpetuity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E9B6EFA2-A0F2-D3CF-53D6-C3135C9F51C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26238" y="572274"/>
                <a:ext cx="4357623" cy="185499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Perpetuity is a payment that we expect to receive “forever”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Due to the Time Value of Money, it turns out that the value of money we expect to receive in the future approaches 0…</a:t>
                </a:r>
              </a:p>
              <a:p>
                <a:pPr marL="0" indent="0">
                  <a:buNone/>
                </a:pPr>
                <a:r>
                  <a:rPr lang="en-US" dirty="0"/>
                  <a:t>AND, thanks to MATH, we have a closed form solution to solve for the Present Value of something that happens forever…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PRESENT VALUE of a Perpetuity  is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𝐶𝑎𝑠h𝑓𝑙𝑜𝑤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E9B6EFA2-A0F2-D3CF-53D6-C3135C9F51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6238" y="572274"/>
                <a:ext cx="4357623" cy="1854995"/>
              </a:xfrm>
              <a:blipFill>
                <a:blip r:embed="rId2"/>
                <a:stretch>
                  <a:fillRect l="-2098" t="-2961" r="-839" b="-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F68108-E56D-4CB0-A959-ABCB9C4D0C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9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025425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50AF8-3A7F-61D2-7223-5270F9191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Example 4: Perpetuity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E2A81-C342-625B-4FA2-CB859183B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the Present Value of an offer that promises you $1525 forever, if your interest rate is 12%?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35DC0-2CDC-565D-5BEA-2F79E85545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10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656914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1C6C5-3A9D-C7C5-FC64-3A4F79EEB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58" y="190295"/>
            <a:ext cx="4342383" cy="861774"/>
          </a:xfrm>
        </p:spPr>
        <p:txBody>
          <a:bodyPr/>
          <a:lstStyle/>
          <a:p>
            <a:r>
              <a:rPr lang="en-US" dirty="0"/>
              <a:t>We are going to an “NPV Analysis” Building a DCF Model that includes a “Terminal Value”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93BA7-0F73-575C-31FD-1EAAAB3C8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57" y="848081"/>
            <a:ext cx="4342383" cy="846386"/>
          </a:xfrm>
        </p:spPr>
        <p:txBody>
          <a:bodyPr/>
          <a:lstStyle/>
          <a:p>
            <a:pPr marL="228600" indent="-228600">
              <a:buFont typeface="+mj-lt"/>
              <a:buAutoNum type="arabicParenR"/>
            </a:pPr>
            <a:r>
              <a:rPr lang="en-US" dirty="0"/>
              <a:t>The Analysis is based on a 5 year pro forma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We understand NPV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And we apply a “Perpetuity Model” to calculate a Terminal Value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We build a Discounted Cash Flow (DCF) Model – based on our understanding of the Cash Build and Burn within the Business</a:t>
            </a:r>
          </a:p>
        </p:txBody>
      </p:sp>
    </p:spTree>
    <p:extLst>
      <p:ext uri="{BB962C8B-B14F-4D97-AF65-F5344CB8AC3E}">
        <p14:creationId xmlns:p14="http://schemas.microsoft.com/office/powerpoint/2010/main" val="1362266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5804C-7F8E-AAAF-0089-20D9904D6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75" y="190295"/>
            <a:ext cx="2504948" cy="430887"/>
          </a:xfrm>
        </p:spPr>
        <p:txBody>
          <a:bodyPr/>
          <a:lstStyle/>
          <a:p>
            <a:r>
              <a:rPr lang="en-US" dirty="0"/>
              <a:t>The Cash Flows we use in a DCF Model are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66A8B0-AF79-C425-D480-CAD7430F146E}"/>
              </a:ext>
            </a:extLst>
          </p:cNvPr>
          <p:cNvSpPr/>
          <p:nvPr/>
        </p:nvSpPr>
        <p:spPr>
          <a:xfrm>
            <a:off x="684922" y="621182"/>
            <a:ext cx="1203351" cy="408878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Net Income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D52759-399D-D1C0-A129-5D7076C7F2E1}"/>
              </a:ext>
            </a:extLst>
          </p:cNvPr>
          <p:cNvSpPr/>
          <p:nvPr/>
        </p:nvSpPr>
        <p:spPr>
          <a:xfrm>
            <a:off x="684922" y="1163353"/>
            <a:ext cx="1203351" cy="408878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Depreciation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05D10B-A3A3-EB58-A730-6003FB6C15EC}"/>
              </a:ext>
            </a:extLst>
          </p:cNvPr>
          <p:cNvSpPr/>
          <p:nvPr/>
        </p:nvSpPr>
        <p:spPr>
          <a:xfrm>
            <a:off x="684922" y="1705524"/>
            <a:ext cx="1203351" cy="408878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Change in Required NWC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AECF10-EEC2-2622-AC27-04B204A094EE}"/>
              </a:ext>
            </a:extLst>
          </p:cNvPr>
          <p:cNvSpPr/>
          <p:nvPr/>
        </p:nvSpPr>
        <p:spPr>
          <a:xfrm>
            <a:off x="684922" y="2271211"/>
            <a:ext cx="1203351" cy="408878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CAPEX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8BD2B0-A2E0-7C8E-BE10-263EA48B93C1}"/>
              </a:ext>
            </a:extLst>
          </p:cNvPr>
          <p:cNvSpPr txBox="1"/>
          <p:nvPr/>
        </p:nvSpPr>
        <p:spPr>
          <a:xfrm>
            <a:off x="133814" y="11831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742282-9A27-E100-3F19-960F9F71AD14}"/>
              </a:ext>
            </a:extLst>
          </p:cNvPr>
          <p:cNvSpPr txBox="1"/>
          <p:nvPr/>
        </p:nvSpPr>
        <p:spPr>
          <a:xfrm>
            <a:off x="133814" y="1738705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1D12FE-1CD1-0D7E-40B1-BC483CDDFAC2}"/>
              </a:ext>
            </a:extLst>
          </p:cNvPr>
          <p:cNvSpPr txBox="1"/>
          <p:nvPr/>
        </p:nvSpPr>
        <p:spPr>
          <a:xfrm>
            <a:off x="133814" y="2243314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A032F6-2759-CCFC-0556-3C286FF292CD}"/>
              </a:ext>
            </a:extLst>
          </p:cNvPr>
          <p:cNvSpPr/>
          <p:nvPr/>
        </p:nvSpPr>
        <p:spPr>
          <a:xfrm>
            <a:off x="684922" y="2861577"/>
            <a:ext cx="2623273" cy="40887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Operating Free Cash Flows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830E78E-7470-727D-4ECE-C27F8B35DA32}"/>
              </a:ext>
            </a:extLst>
          </p:cNvPr>
          <p:cNvCxnSpPr/>
          <p:nvPr/>
        </p:nvCxnSpPr>
        <p:spPr>
          <a:xfrm>
            <a:off x="684922" y="2772937"/>
            <a:ext cx="3470766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457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37D79-0090-E3E0-7995-B97E2A8FF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Picture of the DCF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92EEB-04EB-27C5-3955-6B6F62DD91A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13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664252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F16C-62FF-406F-4B0A-A8529D6D3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We are going to be using the Excel ESBM4570_12.2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EE588-8223-AB0C-178E-FD81C2FFE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4E38F-5E56-6C83-5AD3-5B5F3FCFF4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14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594324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5CE4-19CE-361E-F4F6-8AB0A4AF4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Start with Net Income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0CAE4-F466-003B-9285-CBBE25817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64654"/>
            <a:ext cx="4357623" cy="846386"/>
          </a:xfrm>
        </p:spPr>
        <p:txBody>
          <a:bodyPr/>
          <a:lstStyle/>
          <a:p>
            <a:r>
              <a:rPr lang="en-US" dirty="0"/>
              <a:t>Complete the Assumptions by using the 2023 Actuals.</a:t>
            </a:r>
          </a:p>
          <a:p>
            <a:r>
              <a:rPr lang="en-US" dirty="0"/>
              <a:t>Create your values as a % of revenue</a:t>
            </a:r>
          </a:p>
          <a:p>
            <a:r>
              <a:rPr lang="en-US" dirty="0"/>
              <a:t>Growth and Taxes are given otherwise</a:t>
            </a:r>
          </a:p>
          <a:p>
            <a:r>
              <a:rPr lang="en-US" dirty="0"/>
              <a:t>Note that this fills in your 2024-2027 projections</a:t>
            </a:r>
          </a:p>
          <a:p>
            <a:r>
              <a:rPr lang="en-US" dirty="0"/>
              <a:t>Complete 2028 through Net Income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AEC9C-704F-63B2-EDFB-E944339505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15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455072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8C1A6-7D60-0F22-22FD-F7B880337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The Role of Depreciation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5CB84-9A65-13D1-27AB-7870FF89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67710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Depreciation is a non cash expense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 have highlighted it so that you can find it when we calculate our Cash Flows from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FAD46-8F73-78CB-729B-FF15CF0F799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16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602468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D380C-AF4B-B945-3EDD-35FB640C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“Required” Net Working Capital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4046C-E92E-E75F-129F-53BE1C297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862048"/>
          </a:xfrm>
        </p:spPr>
        <p:txBody>
          <a:bodyPr/>
          <a:lstStyle/>
          <a:p>
            <a:r>
              <a:rPr lang="en-US" dirty="0"/>
              <a:t>This is Net Operating Working Capital + “required cash”</a:t>
            </a:r>
          </a:p>
          <a:p>
            <a:endParaRPr lang="en-US" dirty="0"/>
          </a:p>
          <a:p>
            <a:r>
              <a:rPr lang="en-US" dirty="0"/>
              <a:t>It is a bit nuanced, and a business assumption/decision you need to make</a:t>
            </a:r>
          </a:p>
          <a:p>
            <a:endParaRPr lang="en-US" dirty="0"/>
          </a:p>
          <a:p>
            <a:r>
              <a:rPr lang="en-US" dirty="0"/>
              <a:t>Required cash is how much cash do you need to have “on hand”, that is “tied up” in your business, that you are not going to spend on GROWTH.</a:t>
            </a:r>
          </a:p>
          <a:p>
            <a:endParaRPr lang="en-US" dirty="0"/>
          </a:p>
          <a:p>
            <a:r>
              <a:rPr lang="en-US" dirty="0"/>
              <a:t>It is: </a:t>
            </a:r>
          </a:p>
          <a:p>
            <a:r>
              <a:rPr lang="en-US" dirty="0"/>
              <a:t>Required Cash + A/R + Inventory – A/P – (Other Short Term Notes)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CCDB9-C524-01E9-8D66-67C12589A8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17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228953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74693-A72C-A080-B8A3-2BD4BAD08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Please Build your Required Net Working Capital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FA56C-0FFF-96D9-6196-00AA63899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854214"/>
            <a:ext cx="4357623" cy="338554"/>
          </a:xfrm>
        </p:spPr>
        <p:txBody>
          <a:bodyPr/>
          <a:lstStyle/>
          <a:p>
            <a:r>
              <a:rPr lang="en-US" dirty="0"/>
              <a:t>Let’s assume 10% of our cash is ‘required’ to have on hand (can’t touch for ops/growth)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7258C-ADCC-15F5-D6B2-C57E1E95B0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18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635348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70314-A456-22FA-2107-74EC80911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We need to subtract our Annual CAPEX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56785-502C-0B9D-2804-80B3A6904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808494"/>
            <a:ext cx="4357623" cy="1015663"/>
          </a:xfrm>
        </p:spPr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Bring Gross PP&amp;E into CAPEX</a:t>
            </a:r>
          </a:p>
          <a:p>
            <a:pPr marL="228600" indent="-228600">
              <a:buAutoNum type="arabicParenR"/>
            </a:pPr>
            <a:r>
              <a:rPr lang="en-US" dirty="0"/>
              <a:t>Calculate Annual Change – this is annual expenditure</a:t>
            </a:r>
          </a:p>
          <a:p>
            <a:pPr marL="0" indent="0">
              <a:buNone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dirty="0"/>
              <a:t>Let’s do it Now!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0B797-763F-2267-3AB9-C26BBB5F84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19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692671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C2411-4AA7-A277-5EB0-AFD25E7A9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Now… Calculate your Annual Operating Free Cash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0FEC8-1B04-0150-40B2-BC3125742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FAAC4-E834-4169-8523-460C3C36E2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20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706040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7DB68-D6B1-61FE-3D35-DB65C762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Calculate your Terminal Value in Year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BFABB01-4ABB-4B4E-BF1C-B4F59309DAB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24332" y="755154"/>
                <a:ext cx="4357623" cy="120456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This is a PERPETUITY based on your annual operating free cash flow, your INVESTOR cost of capital, and your LONG TERM growth rate (we assume that you will not astronomically grow forever)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Formula =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𝑇𝑒𝑟𝑚𝑖𝑛𝑎𝑙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𝑉𝑎𝑙𝑢𝑒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𝑂𝐹𝐶𝐹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𝑌𝑒𝑎𝑟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5(1+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𝑙𝑜𝑛𝑔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𝑡𝑒𝑟𝑚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BFABB01-4ABB-4B4E-BF1C-B4F59309DA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4332" y="755154"/>
                <a:ext cx="4357623" cy="1204561"/>
              </a:xfrm>
              <a:blipFill>
                <a:blip r:embed="rId2"/>
                <a:stretch>
                  <a:fillRect l="-1958" t="-4569" b="-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91447-1A49-658A-EF70-C8188B07CE7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21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313949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1CDF-2998-F915-3B01-535F75BD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Fill in the Total FCF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E2BA7-EECE-650B-8250-F062CC9E6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67710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NOTE: you have Cash Flows of Differing Values!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NOW: You can apply the NPV model to calculate the value of the Firm Using a Discounted Cash Flow approach!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ABC1E-075B-D34F-4201-F04B98D5F7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22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621306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D6A79-3A1A-5FF8-A6BE-5D14F9A6F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DCF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AEBDF-60AC-DF87-96E9-645362DA4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18494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PV of the FIRM = </a:t>
            </a:r>
          </a:p>
          <a:p>
            <a:pPr marL="0" indent="0">
              <a:buNone/>
            </a:pPr>
            <a:r>
              <a:rPr lang="en-US" dirty="0"/>
              <a:t>PV OCF + PV (Terminal Value)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Terminal Value = Perpetuity Value of firm at it’s “forever” growth rate, and INVESTOR  required return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C4A16-0F69-9B13-6224-F17DC89BBE1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23</a:t>
            </a:fld>
            <a:endParaRPr spc="-5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8FD888-D51A-F97C-4374-2BE966E3CF63}"/>
              </a:ext>
            </a:extLst>
          </p:cNvPr>
          <p:cNvCxnSpPr/>
          <p:nvPr/>
        </p:nvCxnSpPr>
        <p:spPr>
          <a:xfrm flipH="1">
            <a:off x="990600" y="1028700"/>
            <a:ext cx="63246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48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F475E-E503-10B1-F636-168966300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Finally.. The implication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430FD-55C8-09E2-4995-04C229FE3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507831"/>
          </a:xfrm>
        </p:spPr>
        <p:txBody>
          <a:bodyPr/>
          <a:lstStyle/>
          <a:p>
            <a:r>
              <a:rPr lang="en-US" dirty="0"/>
              <a:t>The Value of the Company is the Present  Value of its Cash Flows.</a:t>
            </a:r>
          </a:p>
          <a:p>
            <a:r>
              <a:rPr lang="en-US" dirty="0"/>
              <a:t>In this case, it is $106,412</a:t>
            </a:r>
          </a:p>
          <a:p>
            <a:r>
              <a:rPr lang="en-US" dirty="0"/>
              <a:t>This would be your starting point for your Scorecard!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A4FA3-DA25-2239-E111-1F706B429D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24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573055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E92AB-4E7F-0C12-AF89-CABD45CA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Thanks!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6FA6D-C9DC-3829-E9C8-44E225AF1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70843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Monday: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Lady M:</a:t>
            </a:r>
          </a:p>
          <a:p>
            <a:pPr marL="0" indent="0">
              <a:buNone/>
            </a:pPr>
            <a:r>
              <a:rPr lang="en-US" b="1" dirty="0"/>
              <a:t>Write Up:</a:t>
            </a:r>
          </a:p>
          <a:p>
            <a:pPr marL="0" indent="0">
              <a:buNone/>
            </a:pPr>
            <a:r>
              <a:rPr lang="en-US" dirty="0"/>
              <a:t>Team 9</a:t>
            </a:r>
          </a:p>
          <a:p>
            <a:pPr marL="0" indent="0">
              <a:buNone/>
            </a:pPr>
            <a:r>
              <a:rPr lang="en-US" dirty="0"/>
              <a:t>Team 6</a:t>
            </a:r>
          </a:p>
          <a:p>
            <a:pPr marL="0" indent="0">
              <a:buNone/>
            </a:pPr>
            <a:r>
              <a:rPr lang="en-US" dirty="0"/>
              <a:t>Team 5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Presenting</a:t>
            </a:r>
            <a:r>
              <a:rPr lang="en-US" b="1" dirty="0"/>
              <a:t>: </a:t>
            </a:r>
          </a:p>
          <a:p>
            <a:pPr marL="0" indent="0">
              <a:buNone/>
            </a:pPr>
            <a:r>
              <a:rPr lang="en-US" dirty="0"/>
              <a:t>Team 6</a:t>
            </a:r>
          </a:p>
          <a:p>
            <a:pPr marL="0" indent="0">
              <a:buNone/>
            </a:pPr>
            <a:r>
              <a:rPr lang="en-US" dirty="0"/>
              <a:t>Team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Responding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Team 4</a:t>
            </a:r>
          </a:p>
          <a:p>
            <a:pPr marL="0" indent="0">
              <a:buNone/>
            </a:pPr>
            <a:r>
              <a:rPr lang="en-US" dirty="0"/>
              <a:t>Team 10</a:t>
            </a:r>
          </a:p>
          <a:p>
            <a:pPr marL="0" indent="0">
              <a:buNone/>
            </a:pPr>
            <a:r>
              <a:rPr lang="en-US" dirty="0"/>
              <a:t>Team 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8A000-7965-0B20-F714-E746136411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25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841498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5EF75-282B-4FDF-C557-F5DE8FECE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CE323-12AB-7B16-8FE6-EB3E5A922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DAFEB-38B5-3F13-F38B-579F1A4B814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26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4240791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698</TotalTime>
  <Words>897</Words>
  <Application>Microsoft Office PowerPoint</Application>
  <PresentationFormat>Custom</PresentationFormat>
  <Paragraphs>163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 Narrow</vt:lpstr>
      <vt:lpstr>Arial</vt:lpstr>
      <vt:lpstr>Calibri</vt:lpstr>
      <vt:lpstr>Cambria Math</vt:lpstr>
      <vt:lpstr>Garamond</vt:lpstr>
      <vt:lpstr>Rockwell</vt:lpstr>
      <vt:lpstr>Office Theme</vt:lpstr>
      <vt:lpstr>DCF Modeling for Valuation   Week 12.2</vt:lpstr>
      <vt:lpstr>Today</vt:lpstr>
      <vt:lpstr>Time Value of Money</vt:lpstr>
      <vt:lpstr>Present Value</vt:lpstr>
      <vt:lpstr>Example 1:</vt:lpstr>
      <vt:lpstr>Example 2</vt:lpstr>
      <vt:lpstr>Net Present Value</vt:lpstr>
      <vt:lpstr>Example 3: NPV</vt:lpstr>
      <vt:lpstr>Perpetuity</vt:lpstr>
      <vt:lpstr>Example 4: Perpetuity</vt:lpstr>
      <vt:lpstr>We are going to an “NPV Analysis” Building a DCF Model that includes a “Terminal Value”</vt:lpstr>
      <vt:lpstr>The Cash Flows we use in a DCF Model are</vt:lpstr>
      <vt:lpstr>Picture of the DCF</vt:lpstr>
      <vt:lpstr>We are going to be using the Excel ESBM4570_12.2</vt:lpstr>
      <vt:lpstr>Start with Net Income</vt:lpstr>
      <vt:lpstr>The Role of Depreciation</vt:lpstr>
      <vt:lpstr>“Required” Net Working Capital</vt:lpstr>
      <vt:lpstr>Please Build your Required Net Working Capital</vt:lpstr>
      <vt:lpstr>We need to subtract our Annual CAPEX</vt:lpstr>
      <vt:lpstr>Now… Calculate your Annual Operating Free Cash Flow</vt:lpstr>
      <vt:lpstr>Calculate your Terminal Value in Year 5</vt:lpstr>
      <vt:lpstr>Fill in the Total FCF Line</vt:lpstr>
      <vt:lpstr>DCF Model</vt:lpstr>
      <vt:lpstr>Finally.. The implication</vt:lpstr>
      <vt:lpstr>Thanks!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1</dc:title>
  <dc:creator>Shaun Davies, CU-Boulder</dc:creator>
  <cp:lastModifiedBy>Ellen Burnes</cp:lastModifiedBy>
  <cp:revision>5</cp:revision>
  <dcterms:created xsi:type="dcterms:W3CDTF">2022-01-05T04:34:10Z</dcterms:created>
  <dcterms:modified xsi:type="dcterms:W3CDTF">2025-11-05T19:16:26Z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