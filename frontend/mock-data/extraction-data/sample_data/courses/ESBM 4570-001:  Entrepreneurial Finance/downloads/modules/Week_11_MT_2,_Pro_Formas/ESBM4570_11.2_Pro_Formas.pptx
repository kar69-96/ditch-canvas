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70" r:id="rId2"/>
    <p:sldId id="260" r:id="rId3"/>
    <p:sldId id="390" r:id="rId4"/>
    <p:sldId id="257" r:id="rId5"/>
    <p:sldId id="259" r:id="rId6"/>
    <p:sldId id="262" r:id="rId7"/>
    <p:sldId id="258" r:id="rId8"/>
    <p:sldId id="263" r:id="rId9"/>
    <p:sldId id="264" r:id="rId10"/>
    <p:sldId id="265" r:id="rId11"/>
    <p:sldId id="266" r:id="rId12"/>
    <p:sldId id="271" r:id="rId13"/>
    <p:sldId id="272" r:id="rId14"/>
    <p:sldId id="391" r:id="rId15"/>
    <p:sldId id="267" r:id="rId16"/>
    <p:sldId id="392" r:id="rId17"/>
    <p:sldId id="393" r:id="rId18"/>
    <p:sldId id="394" r:id="rId19"/>
    <p:sldId id="261" r:id="rId20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A2A1"/>
    <a:srgbClr val="386750"/>
    <a:srgbClr val="CEB67B"/>
    <a:srgbClr val="5169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815"/>
  </p:normalViewPr>
  <p:slideViewPr>
    <p:cSldViewPr snapToGrid="0">
      <p:cViewPr varScale="1">
        <p:scale>
          <a:sx n="194" d="100"/>
          <a:sy n="194" d="100"/>
        </p:scale>
        <p:origin x="2028" y="13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len Burnes" userId="ca3eeb36-3cf7-49b7-874f-4993e3c98b53" providerId="ADAL" clId="{4C46DA56-9020-44B6-A87B-E2E53F2509A0}"/>
    <pc:docChg chg="custSel modSld">
      <pc:chgData name="Ellen Burnes" userId="ca3eeb36-3cf7-49b7-874f-4993e3c98b53" providerId="ADAL" clId="{4C46DA56-9020-44B6-A87B-E2E53F2509A0}" dt="2025-10-29T18:18:31.236" v="87" actId="20577"/>
      <pc:docMkLst>
        <pc:docMk/>
      </pc:docMkLst>
      <pc:sldChg chg="modSp mod">
        <pc:chgData name="Ellen Burnes" userId="ca3eeb36-3cf7-49b7-874f-4993e3c98b53" providerId="ADAL" clId="{4C46DA56-9020-44B6-A87B-E2E53F2509A0}" dt="2025-10-29T18:18:31.236" v="87" actId="20577"/>
        <pc:sldMkLst>
          <pc:docMk/>
          <pc:sldMk cId="433042127" sldId="261"/>
        </pc:sldMkLst>
        <pc:spChg chg="mod">
          <ac:chgData name="Ellen Burnes" userId="ca3eeb36-3cf7-49b7-874f-4993e3c98b53" providerId="ADAL" clId="{4C46DA56-9020-44B6-A87B-E2E53F2509A0}" dt="2025-10-29T18:18:31.236" v="87" actId="20577"/>
          <ac:spMkLst>
            <pc:docMk/>
            <pc:sldMk cId="433042127" sldId="261"/>
            <ac:spMk id="3" creationId="{27FFC759-5C00-2205-4A5A-7D99C297D89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4AA4E4-FD5E-2D40-863B-33B97B038A1A}" type="doc">
      <dgm:prSet loTypeId="urn:microsoft.com/office/officeart/2005/8/layout/process1" loCatId="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7D3AF525-AC0E-6044-BFBF-52FBCCBFF1EE}">
      <dgm:prSet phldrT="[Text]"/>
      <dgm:spPr/>
      <dgm:t>
        <a:bodyPr/>
        <a:lstStyle/>
        <a:p>
          <a:r>
            <a:rPr lang="en-US" dirty="0"/>
            <a:t>What is a VC/Investor</a:t>
          </a:r>
        </a:p>
      </dgm:t>
    </dgm:pt>
    <dgm:pt modelId="{63C18C4D-FC3D-1148-A0F5-917D80F549DB}" type="parTrans" cxnId="{7B46971E-4568-1147-BD9C-2443CBCEFE96}">
      <dgm:prSet/>
      <dgm:spPr/>
      <dgm:t>
        <a:bodyPr/>
        <a:lstStyle/>
        <a:p>
          <a:endParaRPr lang="en-US"/>
        </a:p>
      </dgm:t>
    </dgm:pt>
    <dgm:pt modelId="{42D03F2B-CB68-8142-B5FF-69B0E64707D2}" type="sibTrans" cxnId="{7B46971E-4568-1147-BD9C-2443CBCEFE96}">
      <dgm:prSet/>
      <dgm:spPr/>
      <dgm:t>
        <a:bodyPr/>
        <a:lstStyle/>
        <a:p>
          <a:endParaRPr lang="en-US"/>
        </a:p>
      </dgm:t>
    </dgm:pt>
    <dgm:pt modelId="{AD732E2B-9FE9-0442-A7D8-E09571849F0B}">
      <dgm:prSet phldrT="[Text]"/>
      <dgm:spPr/>
      <dgm:t>
        <a:bodyPr/>
        <a:lstStyle/>
        <a:p>
          <a:r>
            <a:rPr lang="en-US" dirty="0"/>
            <a:t>Deal Screening</a:t>
          </a:r>
        </a:p>
      </dgm:t>
    </dgm:pt>
    <dgm:pt modelId="{CB7DB2B6-3B30-9944-8255-578172939C08}" type="parTrans" cxnId="{69A3F4C6-E3F9-F149-AB4A-129749540CEC}">
      <dgm:prSet/>
      <dgm:spPr/>
      <dgm:t>
        <a:bodyPr/>
        <a:lstStyle/>
        <a:p>
          <a:endParaRPr lang="en-US"/>
        </a:p>
      </dgm:t>
    </dgm:pt>
    <dgm:pt modelId="{23C38141-9F92-264C-9DF8-C2DA320BCBB6}" type="sibTrans" cxnId="{69A3F4C6-E3F9-F149-AB4A-129749540CEC}">
      <dgm:prSet/>
      <dgm:spPr/>
      <dgm:t>
        <a:bodyPr/>
        <a:lstStyle/>
        <a:p>
          <a:endParaRPr lang="en-US"/>
        </a:p>
      </dgm:t>
    </dgm:pt>
    <dgm:pt modelId="{999562A0-640C-8F4C-B80A-806F84A2E699}">
      <dgm:prSet phldrT="[Text]"/>
      <dgm:spPr/>
      <dgm:t>
        <a:bodyPr/>
        <a:lstStyle/>
        <a:p>
          <a:r>
            <a:rPr lang="en-US" dirty="0"/>
            <a:t>Financial Statements</a:t>
          </a:r>
        </a:p>
      </dgm:t>
    </dgm:pt>
    <dgm:pt modelId="{9F92B240-2987-084E-97FD-96B0FD6C176F}" type="parTrans" cxnId="{EEEFE013-B969-C44B-A134-DFDC43E6C309}">
      <dgm:prSet/>
      <dgm:spPr/>
      <dgm:t>
        <a:bodyPr/>
        <a:lstStyle/>
        <a:p>
          <a:endParaRPr lang="en-US"/>
        </a:p>
      </dgm:t>
    </dgm:pt>
    <dgm:pt modelId="{E49088FE-DDAC-0240-AE53-6D7FB31E5E02}" type="sibTrans" cxnId="{EEEFE013-B969-C44B-A134-DFDC43E6C309}">
      <dgm:prSet/>
      <dgm:spPr/>
      <dgm:t>
        <a:bodyPr/>
        <a:lstStyle/>
        <a:p>
          <a:endParaRPr lang="en-US"/>
        </a:p>
      </dgm:t>
    </dgm:pt>
    <dgm:pt modelId="{B1F9300B-2CB4-0741-B4F6-A3B5DD6C59C6}">
      <dgm:prSet/>
      <dgm:spPr/>
      <dgm:t>
        <a:bodyPr/>
        <a:lstStyle/>
        <a:p>
          <a:r>
            <a:rPr lang="en-US" dirty="0"/>
            <a:t>Company Structure</a:t>
          </a:r>
        </a:p>
      </dgm:t>
    </dgm:pt>
    <dgm:pt modelId="{CF8AF611-D1C9-CE44-8616-E2027CA3B755}" type="parTrans" cxnId="{DEC540BB-AA35-A247-8445-AC0FA38C471B}">
      <dgm:prSet/>
      <dgm:spPr/>
      <dgm:t>
        <a:bodyPr/>
        <a:lstStyle/>
        <a:p>
          <a:endParaRPr lang="en-US"/>
        </a:p>
      </dgm:t>
    </dgm:pt>
    <dgm:pt modelId="{81886FD5-21E2-2D48-8712-A350266F6C34}" type="sibTrans" cxnId="{DEC540BB-AA35-A247-8445-AC0FA38C471B}">
      <dgm:prSet/>
      <dgm:spPr/>
      <dgm:t>
        <a:bodyPr/>
        <a:lstStyle/>
        <a:p>
          <a:endParaRPr lang="en-US"/>
        </a:p>
      </dgm:t>
    </dgm:pt>
    <dgm:pt modelId="{F36E10D7-37E3-9E4E-B6B2-B9E6F15D1B17}">
      <dgm:prSet/>
      <dgm:spPr/>
      <dgm:t>
        <a:bodyPr/>
        <a:lstStyle/>
        <a:p>
          <a:r>
            <a:rPr lang="en-US" dirty="0"/>
            <a:t>MT1</a:t>
          </a:r>
        </a:p>
      </dgm:t>
    </dgm:pt>
    <dgm:pt modelId="{D09F518B-DEE2-CD4B-91C4-A047098B790D}" type="parTrans" cxnId="{7FCCD5D9-FDF1-284B-A5FF-B2B77EB5E249}">
      <dgm:prSet/>
      <dgm:spPr/>
      <dgm:t>
        <a:bodyPr/>
        <a:lstStyle/>
        <a:p>
          <a:endParaRPr lang="en-US"/>
        </a:p>
      </dgm:t>
    </dgm:pt>
    <dgm:pt modelId="{D994FE63-159E-0248-8CC3-FD508107080C}" type="sibTrans" cxnId="{7FCCD5D9-FDF1-284B-A5FF-B2B77EB5E249}">
      <dgm:prSet/>
      <dgm:spPr/>
      <dgm:t>
        <a:bodyPr/>
        <a:lstStyle/>
        <a:p>
          <a:endParaRPr lang="en-US"/>
        </a:p>
      </dgm:t>
    </dgm:pt>
    <dgm:pt modelId="{510D55F6-9768-9945-9227-17AD0473E222}" type="pres">
      <dgm:prSet presAssocID="{074AA4E4-FD5E-2D40-863B-33B97B038A1A}" presName="Name0" presStyleCnt="0">
        <dgm:presLayoutVars>
          <dgm:dir/>
          <dgm:resizeHandles val="exact"/>
        </dgm:presLayoutVars>
      </dgm:prSet>
      <dgm:spPr/>
    </dgm:pt>
    <dgm:pt modelId="{0581DB47-5174-9F48-B3FD-EF1ACF278985}" type="pres">
      <dgm:prSet presAssocID="{7D3AF525-AC0E-6044-BFBF-52FBCCBFF1EE}" presName="node" presStyleLbl="node1" presStyleIdx="0" presStyleCnt="5">
        <dgm:presLayoutVars>
          <dgm:bulletEnabled val="1"/>
        </dgm:presLayoutVars>
      </dgm:prSet>
      <dgm:spPr/>
    </dgm:pt>
    <dgm:pt modelId="{4C1CCA73-2B79-8C4A-96E3-B3C01A5C73DA}" type="pres">
      <dgm:prSet presAssocID="{42D03F2B-CB68-8142-B5FF-69B0E64707D2}" presName="sibTrans" presStyleLbl="sibTrans2D1" presStyleIdx="0" presStyleCnt="4"/>
      <dgm:spPr/>
    </dgm:pt>
    <dgm:pt modelId="{D1761283-4F4B-B245-AEA5-2325B10F906A}" type="pres">
      <dgm:prSet presAssocID="{42D03F2B-CB68-8142-B5FF-69B0E64707D2}" presName="connectorText" presStyleLbl="sibTrans2D1" presStyleIdx="0" presStyleCnt="4"/>
      <dgm:spPr/>
    </dgm:pt>
    <dgm:pt modelId="{EB1C5006-DD39-0445-9707-EE5F966C47C9}" type="pres">
      <dgm:prSet presAssocID="{AD732E2B-9FE9-0442-A7D8-E09571849F0B}" presName="node" presStyleLbl="node1" presStyleIdx="1" presStyleCnt="5">
        <dgm:presLayoutVars>
          <dgm:bulletEnabled val="1"/>
        </dgm:presLayoutVars>
      </dgm:prSet>
      <dgm:spPr/>
    </dgm:pt>
    <dgm:pt modelId="{4C70400D-3971-5648-B7A7-01DFAFB327A4}" type="pres">
      <dgm:prSet presAssocID="{23C38141-9F92-264C-9DF8-C2DA320BCBB6}" presName="sibTrans" presStyleLbl="sibTrans2D1" presStyleIdx="1" presStyleCnt="4"/>
      <dgm:spPr/>
    </dgm:pt>
    <dgm:pt modelId="{9E56B6BE-9262-5F40-8B2B-097CC2A70475}" type="pres">
      <dgm:prSet presAssocID="{23C38141-9F92-264C-9DF8-C2DA320BCBB6}" presName="connectorText" presStyleLbl="sibTrans2D1" presStyleIdx="1" presStyleCnt="4"/>
      <dgm:spPr/>
    </dgm:pt>
    <dgm:pt modelId="{9FA2F55B-5C5C-4045-B503-991DCFB293EC}" type="pres">
      <dgm:prSet presAssocID="{999562A0-640C-8F4C-B80A-806F84A2E699}" presName="node" presStyleLbl="node1" presStyleIdx="2" presStyleCnt="5">
        <dgm:presLayoutVars>
          <dgm:bulletEnabled val="1"/>
        </dgm:presLayoutVars>
      </dgm:prSet>
      <dgm:spPr/>
    </dgm:pt>
    <dgm:pt modelId="{0E292F07-6767-3F4C-987A-D29FD3ECD9AE}" type="pres">
      <dgm:prSet presAssocID="{E49088FE-DDAC-0240-AE53-6D7FB31E5E02}" presName="sibTrans" presStyleLbl="sibTrans2D1" presStyleIdx="2" presStyleCnt="4"/>
      <dgm:spPr/>
    </dgm:pt>
    <dgm:pt modelId="{07FDDA51-C6AD-EB42-BD73-8205AD40FE16}" type="pres">
      <dgm:prSet presAssocID="{E49088FE-DDAC-0240-AE53-6D7FB31E5E02}" presName="connectorText" presStyleLbl="sibTrans2D1" presStyleIdx="2" presStyleCnt="4"/>
      <dgm:spPr/>
    </dgm:pt>
    <dgm:pt modelId="{8356B1A2-8305-5C40-80E3-CBAF3EE0E638}" type="pres">
      <dgm:prSet presAssocID="{B1F9300B-2CB4-0741-B4F6-A3B5DD6C59C6}" presName="node" presStyleLbl="node1" presStyleIdx="3" presStyleCnt="5">
        <dgm:presLayoutVars>
          <dgm:bulletEnabled val="1"/>
        </dgm:presLayoutVars>
      </dgm:prSet>
      <dgm:spPr/>
    </dgm:pt>
    <dgm:pt modelId="{7FAD30D6-D404-F94C-950E-6D271D6F8C15}" type="pres">
      <dgm:prSet presAssocID="{81886FD5-21E2-2D48-8712-A350266F6C34}" presName="sibTrans" presStyleLbl="sibTrans2D1" presStyleIdx="3" presStyleCnt="4"/>
      <dgm:spPr/>
    </dgm:pt>
    <dgm:pt modelId="{310A6E86-912E-0C42-A7D6-A6651282B9BA}" type="pres">
      <dgm:prSet presAssocID="{81886FD5-21E2-2D48-8712-A350266F6C34}" presName="connectorText" presStyleLbl="sibTrans2D1" presStyleIdx="3" presStyleCnt="4"/>
      <dgm:spPr/>
    </dgm:pt>
    <dgm:pt modelId="{1F1E0A6A-958E-AD49-AF92-CBFC47EC1F48}" type="pres">
      <dgm:prSet presAssocID="{F36E10D7-37E3-9E4E-B6B2-B9E6F15D1B17}" presName="node" presStyleLbl="node1" presStyleIdx="4" presStyleCnt="5">
        <dgm:presLayoutVars>
          <dgm:bulletEnabled val="1"/>
        </dgm:presLayoutVars>
      </dgm:prSet>
      <dgm:spPr/>
    </dgm:pt>
  </dgm:ptLst>
  <dgm:cxnLst>
    <dgm:cxn modelId="{93B9A300-7073-D84F-8F37-DB217709C447}" type="presOf" srcId="{42D03F2B-CB68-8142-B5FF-69B0E64707D2}" destId="{D1761283-4F4B-B245-AEA5-2325B10F906A}" srcOrd="1" destOrd="0" presId="urn:microsoft.com/office/officeart/2005/8/layout/process1"/>
    <dgm:cxn modelId="{15CDE011-B0D2-1C44-BE17-59B74E4E5E34}" type="presOf" srcId="{074AA4E4-FD5E-2D40-863B-33B97B038A1A}" destId="{510D55F6-9768-9945-9227-17AD0473E222}" srcOrd="0" destOrd="0" presId="urn:microsoft.com/office/officeart/2005/8/layout/process1"/>
    <dgm:cxn modelId="{EEEFE013-B969-C44B-A134-DFDC43E6C309}" srcId="{074AA4E4-FD5E-2D40-863B-33B97B038A1A}" destId="{999562A0-640C-8F4C-B80A-806F84A2E699}" srcOrd="2" destOrd="0" parTransId="{9F92B240-2987-084E-97FD-96B0FD6C176F}" sibTransId="{E49088FE-DDAC-0240-AE53-6D7FB31E5E02}"/>
    <dgm:cxn modelId="{7B46971E-4568-1147-BD9C-2443CBCEFE96}" srcId="{074AA4E4-FD5E-2D40-863B-33B97B038A1A}" destId="{7D3AF525-AC0E-6044-BFBF-52FBCCBFF1EE}" srcOrd="0" destOrd="0" parTransId="{63C18C4D-FC3D-1148-A0F5-917D80F549DB}" sibTransId="{42D03F2B-CB68-8142-B5FF-69B0E64707D2}"/>
    <dgm:cxn modelId="{D5FA9E22-B165-E647-9DFA-5D127885EE8F}" type="presOf" srcId="{F36E10D7-37E3-9E4E-B6B2-B9E6F15D1B17}" destId="{1F1E0A6A-958E-AD49-AF92-CBFC47EC1F48}" srcOrd="0" destOrd="0" presId="urn:microsoft.com/office/officeart/2005/8/layout/process1"/>
    <dgm:cxn modelId="{97940A27-6556-7A4E-8DB4-B7E487B068CD}" type="presOf" srcId="{B1F9300B-2CB4-0741-B4F6-A3B5DD6C59C6}" destId="{8356B1A2-8305-5C40-80E3-CBAF3EE0E638}" srcOrd="0" destOrd="0" presId="urn:microsoft.com/office/officeart/2005/8/layout/process1"/>
    <dgm:cxn modelId="{D8BEF23A-F133-9744-9B09-DACA0C1B5C96}" type="presOf" srcId="{42D03F2B-CB68-8142-B5FF-69B0E64707D2}" destId="{4C1CCA73-2B79-8C4A-96E3-B3C01A5C73DA}" srcOrd="0" destOrd="0" presId="urn:microsoft.com/office/officeart/2005/8/layout/process1"/>
    <dgm:cxn modelId="{2DFC0C44-DA21-254B-8346-A1A70A0BFB34}" type="presOf" srcId="{7D3AF525-AC0E-6044-BFBF-52FBCCBFF1EE}" destId="{0581DB47-5174-9F48-B3FD-EF1ACF278985}" srcOrd="0" destOrd="0" presId="urn:microsoft.com/office/officeart/2005/8/layout/process1"/>
    <dgm:cxn modelId="{4E002650-2284-3D4B-B051-37B1827A9914}" type="presOf" srcId="{AD732E2B-9FE9-0442-A7D8-E09571849F0B}" destId="{EB1C5006-DD39-0445-9707-EE5F966C47C9}" srcOrd="0" destOrd="0" presId="urn:microsoft.com/office/officeart/2005/8/layout/process1"/>
    <dgm:cxn modelId="{7CE8C152-920A-4A47-9820-0C86E0EA90A9}" type="presOf" srcId="{23C38141-9F92-264C-9DF8-C2DA320BCBB6}" destId="{4C70400D-3971-5648-B7A7-01DFAFB327A4}" srcOrd="0" destOrd="0" presId="urn:microsoft.com/office/officeart/2005/8/layout/process1"/>
    <dgm:cxn modelId="{6B72AC95-874C-0846-B269-478CAF3C1EB3}" type="presOf" srcId="{23C38141-9F92-264C-9DF8-C2DA320BCBB6}" destId="{9E56B6BE-9262-5F40-8B2B-097CC2A70475}" srcOrd="1" destOrd="0" presId="urn:microsoft.com/office/officeart/2005/8/layout/process1"/>
    <dgm:cxn modelId="{71B177B4-9C78-7C47-8C25-7F0F5DFA0173}" type="presOf" srcId="{E49088FE-DDAC-0240-AE53-6D7FB31E5E02}" destId="{07FDDA51-C6AD-EB42-BD73-8205AD40FE16}" srcOrd="1" destOrd="0" presId="urn:microsoft.com/office/officeart/2005/8/layout/process1"/>
    <dgm:cxn modelId="{DEC540BB-AA35-A247-8445-AC0FA38C471B}" srcId="{074AA4E4-FD5E-2D40-863B-33B97B038A1A}" destId="{B1F9300B-2CB4-0741-B4F6-A3B5DD6C59C6}" srcOrd="3" destOrd="0" parTransId="{CF8AF611-D1C9-CE44-8616-E2027CA3B755}" sibTransId="{81886FD5-21E2-2D48-8712-A350266F6C34}"/>
    <dgm:cxn modelId="{99871AC5-C9CF-884A-8F37-40C400DDEA66}" type="presOf" srcId="{999562A0-640C-8F4C-B80A-806F84A2E699}" destId="{9FA2F55B-5C5C-4045-B503-991DCFB293EC}" srcOrd="0" destOrd="0" presId="urn:microsoft.com/office/officeart/2005/8/layout/process1"/>
    <dgm:cxn modelId="{69A3F4C6-E3F9-F149-AB4A-129749540CEC}" srcId="{074AA4E4-FD5E-2D40-863B-33B97B038A1A}" destId="{AD732E2B-9FE9-0442-A7D8-E09571849F0B}" srcOrd="1" destOrd="0" parTransId="{CB7DB2B6-3B30-9944-8255-578172939C08}" sibTransId="{23C38141-9F92-264C-9DF8-C2DA320BCBB6}"/>
    <dgm:cxn modelId="{BFD458D8-76A8-FE48-86BF-CCCA89BB6AD2}" type="presOf" srcId="{81886FD5-21E2-2D48-8712-A350266F6C34}" destId="{7FAD30D6-D404-F94C-950E-6D271D6F8C15}" srcOrd="0" destOrd="0" presId="urn:microsoft.com/office/officeart/2005/8/layout/process1"/>
    <dgm:cxn modelId="{7FCCD5D9-FDF1-284B-A5FF-B2B77EB5E249}" srcId="{074AA4E4-FD5E-2D40-863B-33B97B038A1A}" destId="{F36E10D7-37E3-9E4E-B6B2-B9E6F15D1B17}" srcOrd="4" destOrd="0" parTransId="{D09F518B-DEE2-CD4B-91C4-A047098B790D}" sibTransId="{D994FE63-159E-0248-8CC3-FD508107080C}"/>
    <dgm:cxn modelId="{A8A1E2D9-0485-1347-85BE-A491912B87F7}" type="presOf" srcId="{E49088FE-DDAC-0240-AE53-6D7FB31E5E02}" destId="{0E292F07-6767-3F4C-987A-D29FD3ECD9AE}" srcOrd="0" destOrd="0" presId="urn:microsoft.com/office/officeart/2005/8/layout/process1"/>
    <dgm:cxn modelId="{08BCB5F6-0C93-574F-89E9-C2871AAF5DE3}" type="presOf" srcId="{81886FD5-21E2-2D48-8712-A350266F6C34}" destId="{310A6E86-912E-0C42-A7D6-A6651282B9BA}" srcOrd="1" destOrd="0" presId="urn:microsoft.com/office/officeart/2005/8/layout/process1"/>
    <dgm:cxn modelId="{D01F39B6-32A5-6246-9577-FE2DF1DF4070}" type="presParOf" srcId="{510D55F6-9768-9945-9227-17AD0473E222}" destId="{0581DB47-5174-9F48-B3FD-EF1ACF278985}" srcOrd="0" destOrd="0" presId="urn:microsoft.com/office/officeart/2005/8/layout/process1"/>
    <dgm:cxn modelId="{DCD354A6-D666-9748-8C0F-B7D1EF3F332C}" type="presParOf" srcId="{510D55F6-9768-9945-9227-17AD0473E222}" destId="{4C1CCA73-2B79-8C4A-96E3-B3C01A5C73DA}" srcOrd="1" destOrd="0" presId="urn:microsoft.com/office/officeart/2005/8/layout/process1"/>
    <dgm:cxn modelId="{B29036E2-ADBD-7E45-B9BC-82093617AE6A}" type="presParOf" srcId="{4C1CCA73-2B79-8C4A-96E3-B3C01A5C73DA}" destId="{D1761283-4F4B-B245-AEA5-2325B10F906A}" srcOrd="0" destOrd="0" presId="urn:microsoft.com/office/officeart/2005/8/layout/process1"/>
    <dgm:cxn modelId="{34E75BD5-7D12-4940-9AE1-1F7DCDC1D7E5}" type="presParOf" srcId="{510D55F6-9768-9945-9227-17AD0473E222}" destId="{EB1C5006-DD39-0445-9707-EE5F966C47C9}" srcOrd="2" destOrd="0" presId="urn:microsoft.com/office/officeart/2005/8/layout/process1"/>
    <dgm:cxn modelId="{EFC72A1B-DAA1-9745-8A6D-CF3CBA87B1D2}" type="presParOf" srcId="{510D55F6-9768-9945-9227-17AD0473E222}" destId="{4C70400D-3971-5648-B7A7-01DFAFB327A4}" srcOrd="3" destOrd="0" presId="urn:microsoft.com/office/officeart/2005/8/layout/process1"/>
    <dgm:cxn modelId="{ADC7287E-BBAE-D644-A076-1DDD63E30776}" type="presParOf" srcId="{4C70400D-3971-5648-B7A7-01DFAFB327A4}" destId="{9E56B6BE-9262-5F40-8B2B-097CC2A70475}" srcOrd="0" destOrd="0" presId="urn:microsoft.com/office/officeart/2005/8/layout/process1"/>
    <dgm:cxn modelId="{0C713F61-D2D6-D84F-B89C-ABA99327F8F0}" type="presParOf" srcId="{510D55F6-9768-9945-9227-17AD0473E222}" destId="{9FA2F55B-5C5C-4045-B503-991DCFB293EC}" srcOrd="4" destOrd="0" presId="urn:microsoft.com/office/officeart/2005/8/layout/process1"/>
    <dgm:cxn modelId="{74979B56-D9B2-FE45-8B2F-7B6133432334}" type="presParOf" srcId="{510D55F6-9768-9945-9227-17AD0473E222}" destId="{0E292F07-6767-3F4C-987A-D29FD3ECD9AE}" srcOrd="5" destOrd="0" presId="urn:microsoft.com/office/officeart/2005/8/layout/process1"/>
    <dgm:cxn modelId="{1DCC25C5-9EED-7E41-A9E4-77F228D9E5BB}" type="presParOf" srcId="{0E292F07-6767-3F4C-987A-D29FD3ECD9AE}" destId="{07FDDA51-C6AD-EB42-BD73-8205AD40FE16}" srcOrd="0" destOrd="0" presId="urn:microsoft.com/office/officeart/2005/8/layout/process1"/>
    <dgm:cxn modelId="{10D07270-4B10-5D40-B964-DCFF6D6A9456}" type="presParOf" srcId="{510D55F6-9768-9945-9227-17AD0473E222}" destId="{8356B1A2-8305-5C40-80E3-CBAF3EE0E638}" srcOrd="6" destOrd="0" presId="urn:microsoft.com/office/officeart/2005/8/layout/process1"/>
    <dgm:cxn modelId="{29424F6D-2631-B440-9E7D-C5CFA3B02227}" type="presParOf" srcId="{510D55F6-9768-9945-9227-17AD0473E222}" destId="{7FAD30D6-D404-F94C-950E-6D271D6F8C15}" srcOrd="7" destOrd="0" presId="urn:microsoft.com/office/officeart/2005/8/layout/process1"/>
    <dgm:cxn modelId="{1AD81C56-1230-D643-A2A7-FDDA2FB7D346}" type="presParOf" srcId="{7FAD30D6-D404-F94C-950E-6D271D6F8C15}" destId="{310A6E86-912E-0C42-A7D6-A6651282B9BA}" srcOrd="0" destOrd="0" presId="urn:microsoft.com/office/officeart/2005/8/layout/process1"/>
    <dgm:cxn modelId="{902B1E32-82D6-5246-8619-075E25F27969}" type="presParOf" srcId="{510D55F6-9768-9945-9227-17AD0473E222}" destId="{1F1E0A6A-958E-AD49-AF92-CBFC47EC1F48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FF42AA-3214-2D43-9512-80139F0A1543}" type="doc">
      <dgm:prSet loTypeId="urn:microsoft.com/office/officeart/2005/8/layout/process1" loCatId="" qsTypeId="urn:microsoft.com/office/officeart/2005/8/quickstyle/simple1" qsCatId="simple" csTypeId="urn:microsoft.com/office/officeart/2005/8/colors/accent3_2" csCatId="accent3" phldr="1"/>
      <dgm:spPr/>
    </dgm:pt>
    <dgm:pt modelId="{AFC17AF3-44BF-AE42-AF9F-034248B602EA}">
      <dgm:prSet phldrT="[Text]"/>
      <dgm:spPr/>
      <dgm:t>
        <a:bodyPr/>
        <a:lstStyle/>
        <a:p>
          <a:r>
            <a:rPr lang="en-US"/>
            <a:t>Fin Performance</a:t>
          </a:r>
        </a:p>
      </dgm:t>
    </dgm:pt>
    <dgm:pt modelId="{37DC86D6-9A5E-0348-BE03-C3B949AE769C}" type="parTrans" cxnId="{CB0B864A-49E0-5A48-8721-BAB10871E2A4}">
      <dgm:prSet/>
      <dgm:spPr/>
      <dgm:t>
        <a:bodyPr/>
        <a:lstStyle/>
        <a:p>
          <a:endParaRPr lang="en-US"/>
        </a:p>
      </dgm:t>
    </dgm:pt>
    <dgm:pt modelId="{1CB4B266-C53C-2440-BAE7-2B2F7C3C8237}" type="sibTrans" cxnId="{CB0B864A-49E0-5A48-8721-BAB10871E2A4}">
      <dgm:prSet/>
      <dgm:spPr/>
      <dgm:t>
        <a:bodyPr/>
        <a:lstStyle/>
        <a:p>
          <a:endParaRPr lang="en-US"/>
        </a:p>
      </dgm:t>
    </dgm:pt>
    <dgm:pt modelId="{342F0CC9-0184-8942-967B-88EC6CED6B16}">
      <dgm:prSet phldrT="[Text]"/>
      <dgm:spPr/>
      <dgm:t>
        <a:bodyPr/>
        <a:lstStyle/>
        <a:p>
          <a:r>
            <a:rPr lang="en-US" dirty="0"/>
            <a:t>Forecasting/</a:t>
          </a:r>
        </a:p>
        <a:p>
          <a:r>
            <a:rPr lang="en-US" dirty="0"/>
            <a:t>Cash</a:t>
          </a:r>
        </a:p>
      </dgm:t>
    </dgm:pt>
    <dgm:pt modelId="{7D9F1B33-D06E-E44C-B138-2415D30D7EA4}" type="parTrans" cxnId="{15513DE2-AA8C-DC47-A585-4F11421AB3D0}">
      <dgm:prSet/>
      <dgm:spPr/>
      <dgm:t>
        <a:bodyPr/>
        <a:lstStyle/>
        <a:p>
          <a:endParaRPr lang="en-US"/>
        </a:p>
      </dgm:t>
    </dgm:pt>
    <dgm:pt modelId="{6F23E306-D564-9A40-9E1D-DA25C5BFE51F}" type="sibTrans" cxnId="{15513DE2-AA8C-DC47-A585-4F11421AB3D0}">
      <dgm:prSet/>
      <dgm:spPr/>
      <dgm:t>
        <a:bodyPr/>
        <a:lstStyle/>
        <a:p>
          <a:endParaRPr lang="en-US"/>
        </a:p>
      </dgm:t>
    </dgm:pt>
    <dgm:pt modelId="{FF6E671D-3B64-7847-B344-AD15E5710EFB}">
      <dgm:prSet phldrT="[Text]"/>
      <dgm:spPr/>
      <dgm:t>
        <a:bodyPr/>
        <a:lstStyle/>
        <a:p>
          <a:r>
            <a:rPr lang="en-US" dirty="0"/>
            <a:t>Regulatory Framework</a:t>
          </a:r>
        </a:p>
      </dgm:t>
    </dgm:pt>
    <dgm:pt modelId="{E42A5662-6391-4045-8A9C-E0BC3F17CA07}" type="parTrans" cxnId="{FF404841-9974-4648-BFB5-14E1EA5E2C12}">
      <dgm:prSet/>
      <dgm:spPr/>
      <dgm:t>
        <a:bodyPr/>
        <a:lstStyle/>
        <a:p>
          <a:endParaRPr lang="en-US"/>
        </a:p>
      </dgm:t>
    </dgm:pt>
    <dgm:pt modelId="{1E4027F0-A7E4-E64C-8808-F8032E756973}" type="sibTrans" cxnId="{FF404841-9974-4648-BFB5-14E1EA5E2C12}">
      <dgm:prSet/>
      <dgm:spPr/>
      <dgm:t>
        <a:bodyPr/>
        <a:lstStyle/>
        <a:p>
          <a:endParaRPr lang="en-US"/>
        </a:p>
      </dgm:t>
    </dgm:pt>
    <dgm:pt modelId="{6C394E50-441C-AD47-9433-75FB4EB598DC}">
      <dgm:prSet/>
      <dgm:spPr/>
      <dgm:t>
        <a:bodyPr/>
        <a:lstStyle/>
        <a:p>
          <a:r>
            <a:rPr lang="en-US" dirty="0"/>
            <a:t>MT2</a:t>
          </a:r>
        </a:p>
      </dgm:t>
    </dgm:pt>
    <dgm:pt modelId="{810B9802-839B-774D-87B0-CC91F66BE328}" type="parTrans" cxnId="{51F74146-E5A6-8D41-8DB9-2CDC1E65732A}">
      <dgm:prSet/>
      <dgm:spPr/>
      <dgm:t>
        <a:bodyPr/>
        <a:lstStyle/>
        <a:p>
          <a:endParaRPr lang="en-US"/>
        </a:p>
      </dgm:t>
    </dgm:pt>
    <dgm:pt modelId="{BAC902CC-3540-B24E-B632-6582385C5321}" type="sibTrans" cxnId="{51F74146-E5A6-8D41-8DB9-2CDC1E65732A}">
      <dgm:prSet/>
      <dgm:spPr/>
      <dgm:t>
        <a:bodyPr/>
        <a:lstStyle/>
        <a:p>
          <a:endParaRPr lang="en-US"/>
        </a:p>
      </dgm:t>
    </dgm:pt>
    <dgm:pt modelId="{D6B54DC4-6BA6-5F4A-AB0E-BF2C75822F13}" type="pres">
      <dgm:prSet presAssocID="{87FF42AA-3214-2D43-9512-80139F0A1543}" presName="Name0" presStyleCnt="0">
        <dgm:presLayoutVars>
          <dgm:dir/>
          <dgm:resizeHandles val="exact"/>
        </dgm:presLayoutVars>
      </dgm:prSet>
      <dgm:spPr/>
    </dgm:pt>
    <dgm:pt modelId="{C306C7C0-7EE3-5749-B764-6339EC5BC848}" type="pres">
      <dgm:prSet presAssocID="{AFC17AF3-44BF-AE42-AF9F-034248B602EA}" presName="node" presStyleLbl="node1" presStyleIdx="0" presStyleCnt="4">
        <dgm:presLayoutVars>
          <dgm:bulletEnabled val="1"/>
        </dgm:presLayoutVars>
      </dgm:prSet>
      <dgm:spPr/>
    </dgm:pt>
    <dgm:pt modelId="{B095352F-D8C7-DC4A-A3F1-DCDECE29DB31}" type="pres">
      <dgm:prSet presAssocID="{1CB4B266-C53C-2440-BAE7-2B2F7C3C8237}" presName="sibTrans" presStyleLbl="sibTrans2D1" presStyleIdx="0" presStyleCnt="3"/>
      <dgm:spPr/>
    </dgm:pt>
    <dgm:pt modelId="{B84C8CD9-CD31-754A-8964-F12E1993C71B}" type="pres">
      <dgm:prSet presAssocID="{1CB4B266-C53C-2440-BAE7-2B2F7C3C8237}" presName="connectorText" presStyleLbl="sibTrans2D1" presStyleIdx="0" presStyleCnt="3"/>
      <dgm:spPr/>
    </dgm:pt>
    <dgm:pt modelId="{B6CCB5DE-D55E-2A42-8F8C-4F1321227E0C}" type="pres">
      <dgm:prSet presAssocID="{342F0CC9-0184-8942-967B-88EC6CED6B16}" presName="node" presStyleLbl="node1" presStyleIdx="1" presStyleCnt="4">
        <dgm:presLayoutVars>
          <dgm:bulletEnabled val="1"/>
        </dgm:presLayoutVars>
      </dgm:prSet>
      <dgm:spPr/>
    </dgm:pt>
    <dgm:pt modelId="{952B2FC8-09A8-C94A-BA89-6CD1AD0A36BD}" type="pres">
      <dgm:prSet presAssocID="{6F23E306-D564-9A40-9E1D-DA25C5BFE51F}" presName="sibTrans" presStyleLbl="sibTrans2D1" presStyleIdx="1" presStyleCnt="3"/>
      <dgm:spPr/>
    </dgm:pt>
    <dgm:pt modelId="{759490F6-4955-6C4E-92B0-9EE3F53DA345}" type="pres">
      <dgm:prSet presAssocID="{6F23E306-D564-9A40-9E1D-DA25C5BFE51F}" presName="connectorText" presStyleLbl="sibTrans2D1" presStyleIdx="1" presStyleCnt="3"/>
      <dgm:spPr/>
    </dgm:pt>
    <dgm:pt modelId="{698BE697-503B-E148-A4EC-E4690F10D1F3}" type="pres">
      <dgm:prSet presAssocID="{FF6E671D-3B64-7847-B344-AD15E5710EFB}" presName="node" presStyleLbl="node1" presStyleIdx="2" presStyleCnt="4">
        <dgm:presLayoutVars>
          <dgm:bulletEnabled val="1"/>
        </dgm:presLayoutVars>
      </dgm:prSet>
      <dgm:spPr/>
    </dgm:pt>
    <dgm:pt modelId="{A71F1485-B47D-6849-85E8-82FE4F236B0D}" type="pres">
      <dgm:prSet presAssocID="{1E4027F0-A7E4-E64C-8808-F8032E756973}" presName="sibTrans" presStyleLbl="sibTrans2D1" presStyleIdx="2" presStyleCnt="3"/>
      <dgm:spPr/>
    </dgm:pt>
    <dgm:pt modelId="{D2AF730F-74B1-5844-A21F-3E2197B57526}" type="pres">
      <dgm:prSet presAssocID="{1E4027F0-A7E4-E64C-8808-F8032E756973}" presName="connectorText" presStyleLbl="sibTrans2D1" presStyleIdx="2" presStyleCnt="3"/>
      <dgm:spPr/>
    </dgm:pt>
    <dgm:pt modelId="{63F784A7-D0CB-AC47-AF16-455EB8127E98}" type="pres">
      <dgm:prSet presAssocID="{6C394E50-441C-AD47-9433-75FB4EB598DC}" presName="node" presStyleLbl="node1" presStyleIdx="3" presStyleCnt="4">
        <dgm:presLayoutVars>
          <dgm:bulletEnabled val="1"/>
        </dgm:presLayoutVars>
      </dgm:prSet>
      <dgm:spPr/>
    </dgm:pt>
  </dgm:ptLst>
  <dgm:cxnLst>
    <dgm:cxn modelId="{196BD410-9290-4746-8E38-3CB8FB8370DD}" type="presOf" srcId="{1CB4B266-C53C-2440-BAE7-2B2F7C3C8237}" destId="{B84C8CD9-CD31-754A-8964-F12E1993C71B}" srcOrd="1" destOrd="0" presId="urn:microsoft.com/office/officeart/2005/8/layout/process1"/>
    <dgm:cxn modelId="{0D72D519-F87F-2E4B-85E0-10F04D2F0104}" type="presOf" srcId="{AFC17AF3-44BF-AE42-AF9F-034248B602EA}" destId="{C306C7C0-7EE3-5749-B764-6339EC5BC848}" srcOrd="0" destOrd="0" presId="urn:microsoft.com/office/officeart/2005/8/layout/process1"/>
    <dgm:cxn modelId="{FF404841-9974-4648-BFB5-14E1EA5E2C12}" srcId="{87FF42AA-3214-2D43-9512-80139F0A1543}" destId="{FF6E671D-3B64-7847-B344-AD15E5710EFB}" srcOrd="2" destOrd="0" parTransId="{E42A5662-6391-4045-8A9C-E0BC3F17CA07}" sibTransId="{1E4027F0-A7E4-E64C-8808-F8032E756973}"/>
    <dgm:cxn modelId="{77A6A764-EC1E-714C-9534-D3909F9886D3}" type="presOf" srcId="{6F23E306-D564-9A40-9E1D-DA25C5BFE51F}" destId="{759490F6-4955-6C4E-92B0-9EE3F53DA345}" srcOrd="1" destOrd="0" presId="urn:microsoft.com/office/officeart/2005/8/layout/process1"/>
    <dgm:cxn modelId="{51F74146-E5A6-8D41-8DB9-2CDC1E65732A}" srcId="{87FF42AA-3214-2D43-9512-80139F0A1543}" destId="{6C394E50-441C-AD47-9433-75FB4EB598DC}" srcOrd="3" destOrd="0" parTransId="{810B9802-839B-774D-87B0-CC91F66BE328}" sibTransId="{BAC902CC-3540-B24E-B632-6582385C5321}"/>
    <dgm:cxn modelId="{CB0B864A-49E0-5A48-8721-BAB10871E2A4}" srcId="{87FF42AA-3214-2D43-9512-80139F0A1543}" destId="{AFC17AF3-44BF-AE42-AF9F-034248B602EA}" srcOrd="0" destOrd="0" parTransId="{37DC86D6-9A5E-0348-BE03-C3B949AE769C}" sibTransId="{1CB4B266-C53C-2440-BAE7-2B2F7C3C8237}"/>
    <dgm:cxn modelId="{9351A94A-6318-3541-9DE5-AB8FA9BB80CD}" type="presOf" srcId="{FF6E671D-3B64-7847-B344-AD15E5710EFB}" destId="{698BE697-503B-E148-A4EC-E4690F10D1F3}" srcOrd="0" destOrd="0" presId="urn:microsoft.com/office/officeart/2005/8/layout/process1"/>
    <dgm:cxn modelId="{53D18F7E-3341-904B-8199-887AD66DB934}" type="presOf" srcId="{342F0CC9-0184-8942-967B-88EC6CED6B16}" destId="{B6CCB5DE-D55E-2A42-8F8C-4F1321227E0C}" srcOrd="0" destOrd="0" presId="urn:microsoft.com/office/officeart/2005/8/layout/process1"/>
    <dgm:cxn modelId="{735FB87E-296A-6C4E-8BB8-A4B921F688D7}" type="presOf" srcId="{1E4027F0-A7E4-E64C-8808-F8032E756973}" destId="{A71F1485-B47D-6849-85E8-82FE4F236B0D}" srcOrd="0" destOrd="0" presId="urn:microsoft.com/office/officeart/2005/8/layout/process1"/>
    <dgm:cxn modelId="{96C769B5-B80C-E847-B821-9410AE0B6941}" type="presOf" srcId="{87FF42AA-3214-2D43-9512-80139F0A1543}" destId="{D6B54DC4-6BA6-5F4A-AB0E-BF2C75822F13}" srcOrd="0" destOrd="0" presId="urn:microsoft.com/office/officeart/2005/8/layout/process1"/>
    <dgm:cxn modelId="{69F812D1-BC8D-304A-9244-DDA426D66891}" type="presOf" srcId="{1E4027F0-A7E4-E64C-8808-F8032E756973}" destId="{D2AF730F-74B1-5844-A21F-3E2197B57526}" srcOrd="1" destOrd="0" presId="urn:microsoft.com/office/officeart/2005/8/layout/process1"/>
    <dgm:cxn modelId="{8DFCEED7-59AE-B041-A4EE-5706D8215796}" type="presOf" srcId="{6C394E50-441C-AD47-9433-75FB4EB598DC}" destId="{63F784A7-D0CB-AC47-AF16-455EB8127E98}" srcOrd="0" destOrd="0" presId="urn:microsoft.com/office/officeart/2005/8/layout/process1"/>
    <dgm:cxn modelId="{15513DE2-AA8C-DC47-A585-4F11421AB3D0}" srcId="{87FF42AA-3214-2D43-9512-80139F0A1543}" destId="{342F0CC9-0184-8942-967B-88EC6CED6B16}" srcOrd="1" destOrd="0" parTransId="{7D9F1B33-D06E-E44C-B138-2415D30D7EA4}" sibTransId="{6F23E306-D564-9A40-9E1D-DA25C5BFE51F}"/>
    <dgm:cxn modelId="{8162F0E7-9973-9049-A895-F50F7AED25D8}" type="presOf" srcId="{6F23E306-D564-9A40-9E1D-DA25C5BFE51F}" destId="{952B2FC8-09A8-C94A-BA89-6CD1AD0A36BD}" srcOrd="0" destOrd="0" presId="urn:microsoft.com/office/officeart/2005/8/layout/process1"/>
    <dgm:cxn modelId="{55A8FFEB-207D-384A-B235-00E2C0125373}" type="presOf" srcId="{1CB4B266-C53C-2440-BAE7-2B2F7C3C8237}" destId="{B095352F-D8C7-DC4A-A3F1-DCDECE29DB31}" srcOrd="0" destOrd="0" presId="urn:microsoft.com/office/officeart/2005/8/layout/process1"/>
    <dgm:cxn modelId="{86E5AD35-84A4-4047-8682-6789BB0D2499}" type="presParOf" srcId="{D6B54DC4-6BA6-5F4A-AB0E-BF2C75822F13}" destId="{C306C7C0-7EE3-5749-B764-6339EC5BC848}" srcOrd="0" destOrd="0" presId="urn:microsoft.com/office/officeart/2005/8/layout/process1"/>
    <dgm:cxn modelId="{1D87EDF3-5F69-9C4C-9E77-A51C494FE6D4}" type="presParOf" srcId="{D6B54DC4-6BA6-5F4A-AB0E-BF2C75822F13}" destId="{B095352F-D8C7-DC4A-A3F1-DCDECE29DB31}" srcOrd="1" destOrd="0" presId="urn:microsoft.com/office/officeart/2005/8/layout/process1"/>
    <dgm:cxn modelId="{886C6D5A-3EBE-8242-B86C-74F49AFBD3DA}" type="presParOf" srcId="{B095352F-D8C7-DC4A-A3F1-DCDECE29DB31}" destId="{B84C8CD9-CD31-754A-8964-F12E1993C71B}" srcOrd="0" destOrd="0" presId="urn:microsoft.com/office/officeart/2005/8/layout/process1"/>
    <dgm:cxn modelId="{6448D8C3-3313-DB4C-A683-FDDD8ED38C65}" type="presParOf" srcId="{D6B54DC4-6BA6-5F4A-AB0E-BF2C75822F13}" destId="{B6CCB5DE-D55E-2A42-8F8C-4F1321227E0C}" srcOrd="2" destOrd="0" presId="urn:microsoft.com/office/officeart/2005/8/layout/process1"/>
    <dgm:cxn modelId="{92EFC979-2603-8D4F-B6D1-C359B7628644}" type="presParOf" srcId="{D6B54DC4-6BA6-5F4A-AB0E-BF2C75822F13}" destId="{952B2FC8-09A8-C94A-BA89-6CD1AD0A36BD}" srcOrd="3" destOrd="0" presId="urn:microsoft.com/office/officeart/2005/8/layout/process1"/>
    <dgm:cxn modelId="{01638FBA-2133-9246-A491-8B10BA7ED077}" type="presParOf" srcId="{952B2FC8-09A8-C94A-BA89-6CD1AD0A36BD}" destId="{759490F6-4955-6C4E-92B0-9EE3F53DA345}" srcOrd="0" destOrd="0" presId="urn:microsoft.com/office/officeart/2005/8/layout/process1"/>
    <dgm:cxn modelId="{A54511E4-2B17-9347-9E85-132746BFF929}" type="presParOf" srcId="{D6B54DC4-6BA6-5F4A-AB0E-BF2C75822F13}" destId="{698BE697-503B-E148-A4EC-E4690F10D1F3}" srcOrd="4" destOrd="0" presId="urn:microsoft.com/office/officeart/2005/8/layout/process1"/>
    <dgm:cxn modelId="{2CEF5B71-BA91-204A-9BEA-4B9D512D28E0}" type="presParOf" srcId="{D6B54DC4-6BA6-5F4A-AB0E-BF2C75822F13}" destId="{A71F1485-B47D-6849-85E8-82FE4F236B0D}" srcOrd="5" destOrd="0" presId="urn:microsoft.com/office/officeart/2005/8/layout/process1"/>
    <dgm:cxn modelId="{CBA1A252-C32C-0D46-AF3E-94D60D0211FF}" type="presParOf" srcId="{A71F1485-B47D-6849-85E8-82FE4F236B0D}" destId="{D2AF730F-74B1-5844-A21F-3E2197B57526}" srcOrd="0" destOrd="0" presId="urn:microsoft.com/office/officeart/2005/8/layout/process1"/>
    <dgm:cxn modelId="{9586BE6D-80FC-EA44-933E-026D37501C2A}" type="presParOf" srcId="{D6B54DC4-6BA6-5F4A-AB0E-BF2C75822F13}" destId="{63F784A7-D0CB-AC47-AF16-455EB8127E98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2A1814F-7FED-6D47-A371-6E59D71EFE02}" type="doc">
      <dgm:prSet loTypeId="urn:microsoft.com/office/officeart/2005/8/layout/process1" loCatId="" qsTypeId="urn:microsoft.com/office/officeart/2005/8/quickstyle/simple1" qsCatId="simple" csTypeId="urn:microsoft.com/office/officeart/2005/8/colors/accent0_3" csCatId="mainScheme" phldr="1"/>
      <dgm:spPr/>
    </dgm:pt>
    <dgm:pt modelId="{9D2AC7A8-BB98-544E-8801-FE2A7EA20B4F}">
      <dgm:prSet phldrT="[Text]"/>
      <dgm:spPr/>
      <dgm:t>
        <a:bodyPr/>
        <a:lstStyle/>
        <a:p>
          <a:r>
            <a:rPr lang="en-US" dirty="0"/>
            <a:t>Pro </a:t>
          </a:r>
          <a:r>
            <a:rPr lang="en-US" dirty="0" err="1"/>
            <a:t>Formas</a:t>
          </a:r>
          <a:endParaRPr lang="en-US" dirty="0"/>
        </a:p>
      </dgm:t>
    </dgm:pt>
    <dgm:pt modelId="{B88BB0CD-D5AE-1940-9C62-0B09DE5E88DF}" type="parTrans" cxnId="{D68391AE-AE4D-A94C-A03A-C957A3D4DF39}">
      <dgm:prSet/>
      <dgm:spPr/>
      <dgm:t>
        <a:bodyPr/>
        <a:lstStyle/>
        <a:p>
          <a:endParaRPr lang="en-US"/>
        </a:p>
      </dgm:t>
    </dgm:pt>
    <dgm:pt modelId="{3E7DB108-0623-9746-A209-3B82FBC66D4B}" type="sibTrans" cxnId="{D68391AE-AE4D-A94C-A03A-C957A3D4DF39}">
      <dgm:prSet/>
      <dgm:spPr/>
      <dgm:t>
        <a:bodyPr/>
        <a:lstStyle/>
        <a:p>
          <a:endParaRPr lang="en-US"/>
        </a:p>
      </dgm:t>
    </dgm:pt>
    <dgm:pt modelId="{93DB5A7C-AFAC-C641-A649-B2B70BFFE695}">
      <dgm:prSet phldrT="[Text]"/>
      <dgm:spPr/>
      <dgm:t>
        <a:bodyPr/>
        <a:lstStyle/>
        <a:p>
          <a:r>
            <a:rPr lang="en-US" dirty="0"/>
            <a:t>NPV Valuation</a:t>
          </a:r>
        </a:p>
      </dgm:t>
    </dgm:pt>
    <dgm:pt modelId="{C3FCEB59-16AF-5D4A-94C8-4BAEF5C6DDE6}" type="parTrans" cxnId="{9FD21CEE-5843-754B-BB97-2D76CCC58CF0}">
      <dgm:prSet/>
      <dgm:spPr/>
      <dgm:t>
        <a:bodyPr/>
        <a:lstStyle/>
        <a:p>
          <a:endParaRPr lang="en-US"/>
        </a:p>
      </dgm:t>
    </dgm:pt>
    <dgm:pt modelId="{8DCD9A91-9F57-7143-B0CD-4A91BB5D3A41}" type="sibTrans" cxnId="{9FD21CEE-5843-754B-BB97-2D76CCC58CF0}">
      <dgm:prSet/>
      <dgm:spPr/>
      <dgm:t>
        <a:bodyPr/>
        <a:lstStyle/>
        <a:p>
          <a:endParaRPr lang="en-US"/>
        </a:p>
      </dgm:t>
    </dgm:pt>
    <dgm:pt modelId="{570C9246-BE4B-D44F-B566-785BA7F78D13}">
      <dgm:prSet phldrT="[Text]"/>
      <dgm:spPr/>
      <dgm:t>
        <a:bodyPr/>
        <a:lstStyle/>
        <a:p>
          <a:r>
            <a:rPr lang="en-US" dirty="0"/>
            <a:t>Ownership &amp; </a:t>
          </a:r>
          <a:r>
            <a:rPr lang="en-US" dirty="0" err="1"/>
            <a:t>CapTables</a:t>
          </a:r>
          <a:endParaRPr lang="en-US" dirty="0"/>
        </a:p>
      </dgm:t>
    </dgm:pt>
    <dgm:pt modelId="{CD09C29F-2060-3944-AC5D-08C9B043D57D}" type="parTrans" cxnId="{D2E6B0B6-5BB8-CE42-B0C4-4321EDEC7398}">
      <dgm:prSet/>
      <dgm:spPr/>
      <dgm:t>
        <a:bodyPr/>
        <a:lstStyle/>
        <a:p>
          <a:endParaRPr lang="en-US"/>
        </a:p>
      </dgm:t>
    </dgm:pt>
    <dgm:pt modelId="{FFF61784-00FC-E541-8454-EA49CC2C6C88}" type="sibTrans" cxnId="{D2E6B0B6-5BB8-CE42-B0C4-4321EDEC7398}">
      <dgm:prSet/>
      <dgm:spPr/>
      <dgm:t>
        <a:bodyPr/>
        <a:lstStyle/>
        <a:p>
          <a:endParaRPr lang="en-US"/>
        </a:p>
      </dgm:t>
    </dgm:pt>
    <dgm:pt modelId="{6D652287-F2DF-234B-8E6A-848E1B02D14B}">
      <dgm:prSet/>
      <dgm:spPr/>
      <dgm:t>
        <a:bodyPr/>
        <a:lstStyle/>
        <a:p>
          <a:r>
            <a:rPr lang="en-US" dirty="0"/>
            <a:t>Exits</a:t>
          </a:r>
        </a:p>
      </dgm:t>
    </dgm:pt>
    <dgm:pt modelId="{035057FE-69FE-4747-81C9-4F140D5D0811}" type="parTrans" cxnId="{D1AB5B7F-2256-2D4D-8DDC-8480EC9C503A}">
      <dgm:prSet/>
      <dgm:spPr/>
      <dgm:t>
        <a:bodyPr/>
        <a:lstStyle/>
        <a:p>
          <a:endParaRPr lang="en-US"/>
        </a:p>
      </dgm:t>
    </dgm:pt>
    <dgm:pt modelId="{333C4F21-39C0-444F-8FBB-C8758D37DCC5}" type="sibTrans" cxnId="{D1AB5B7F-2256-2D4D-8DDC-8480EC9C503A}">
      <dgm:prSet/>
      <dgm:spPr/>
      <dgm:t>
        <a:bodyPr/>
        <a:lstStyle/>
        <a:p>
          <a:endParaRPr lang="en-US"/>
        </a:p>
      </dgm:t>
    </dgm:pt>
    <dgm:pt modelId="{23911602-782A-9247-975F-CD3BCD63C917}">
      <dgm:prSet/>
      <dgm:spPr/>
      <dgm:t>
        <a:bodyPr/>
        <a:lstStyle/>
        <a:p>
          <a:r>
            <a:rPr lang="en-US" dirty="0"/>
            <a:t>FINAL</a:t>
          </a:r>
        </a:p>
      </dgm:t>
    </dgm:pt>
    <dgm:pt modelId="{2A51DB34-3297-884F-88B5-8FC0D3208368}" type="parTrans" cxnId="{93608237-D322-994A-B679-9CD95A7C2EFE}">
      <dgm:prSet/>
      <dgm:spPr/>
      <dgm:t>
        <a:bodyPr/>
        <a:lstStyle/>
        <a:p>
          <a:endParaRPr lang="en-US"/>
        </a:p>
      </dgm:t>
    </dgm:pt>
    <dgm:pt modelId="{D0817A82-41F9-1B42-975F-1FCDD0A4B3E3}" type="sibTrans" cxnId="{93608237-D322-994A-B679-9CD95A7C2EFE}">
      <dgm:prSet/>
      <dgm:spPr/>
      <dgm:t>
        <a:bodyPr/>
        <a:lstStyle/>
        <a:p>
          <a:endParaRPr lang="en-US"/>
        </a:p>
      </dgm:t>
    </dgm:pt>
    <dgm:pt modelId="{5AA75295-D3A4-8F42-A481-89064F7CBF04}" type="pres">
      <dgm:prSet presAssocID="{52A1814F-7FED-6D47-A371-6E59D71EFE02}" presName="Name0" presStyleCnt="0">
        <dgm:presLayoutVars>
          <dgm:dir/>
          <dgm:resizeHandles val="exact"/>
        </dgm:presLayoutVars>
      </dgm:prSet>
      <dgm:spPr/>
    </dgm:pt>
    <dgm:pt modelId="{28878C82-12E6-0E41-A25B-415ED275830D}" type="pres">
      <dgm:prSet presAssocID="{9D2AC7A8-BB98-544E-8801-FE2A7EA20B4F}" presName="node" presStyleLbl="node1" presStyleIdx="0" presStyleCnt="5">
        <dgm:presLayoutVars>
          <dgm:bulletEnabled val="1"/>
        </dgm:presLayoutVars>
      </dgm:prSet>
      <dgm:spPr/>
    </dgm:pt>
    <dgm:pt modelId="{7C08C889-1B0F-4B41-A7AF-F84AF108B786}" type="pres">
      <dgm:prSet presAssocID="{3E7DB108-0623-9746-A209-3B82FBC66D4B}" presName="sibTrans" presStyleLbl="sibTrans2D1" presStyleIdx="0" presStyleCnt="4"/>
      <dgm:spPr/>
    </dgm:pt>
    <dgm:pt modelId="{ED32B770-4D6F-D546-B337-C6189BD53804}" type="pres">
      <dgm:prSet presAssocID="{3E7DB108-0623-9746-A209-3B82FBC66D4B}" presName="connectorText" presStyleLbl="sibTrans2D1" presStyleIdx="0" presStyleCnt="4"/>
      <dgm:spPr/>
    </dgm:pt>
    <dgm:pt modelId="{BE38AD9E-DE43-DF48-9763-212F51271DA7}" type="pres">
      <dgm:prSet presAssocID="{93DB5A7C-AFAC-C641-A649-B2B70BFFE695}" presName="node" presStyleLbl="node1" presStyleIdx="1" presStyleCnt="5">
        <dgm:presLayoutVars>
          <dgm:bulletEnabled val="1"/>
        </dgm:presLayoutVars>
      </dgm:prSet>
      <dgm:spPr/>
    </dgm:pt>
    <dgm:pt modelId="{AD05735D-56C6-F24E-8488-E6A359EB5DBF}" type="pres">
      <dgm:prSet presAssocID="{8DCD9A91-9F57-7143-B0CD-4A91BB5D3A41}" presName="sibTrans" presStyleLbl="sibTrans2D1" presStyleIdx="1" presStyleCnt="4"/>
      <dgm:spPr/>
    </dgm:pt>
    <dgm:pt modelId="{E9D24745-615C-D94B-8097-2E230E721D74}" type="pres">
      <dgm:prSet presAssocID="{8DCD9A91-9F57-7143-B0CD-4A91BB5D3A41}" presName="connectorText" presStyleLbl="sibTrans2D1" presStyleIdx="1" presStyleCnt="4"/>
      <dgm:spPr/>
    </dgm:pt>
    <dgm:pt modelId="{300F7ACF-F8FE-6D45-A6DE-622FC408825A}" type="pres">
      <dgm:prSet presAssocID="{570C9246-BE4B-D44F-B566-785BA7F78D13}" presName="node" presStyleLbl="node1" presStyleIdx="2" presStyleCnt="5">
        <dgm:presLayoutVars>
          <dgm:bulletEnabled val="1"/>
        </dgm:presLayoutVars>
      </dgm:prSet>
      <dgm:spPr/>
    </dgm:pt>
    <dgm:pt modelId="{60976DAA-7D3D-B54A-B900-2C9DCFB34DE9}" type="pres">
      <dgm:prSet presAssocID="{FFF61784-00FC-E541-8454-EA49CC2C6C88}" presName="sibTrans" presStyleLbl="sibTrans2D1" presStyleIdx="2" presStyleCnt="4"/>
      <dgm:spPr/>
    </dgm:pt>
    <dgm:pt modelId="{71E16D62-2109-C348-8365-6312E5BD9E95}" type="pres">
      <dgm:prSet presAssocID="{FFF61784-00FC-E541-8454-EA49CC2C6C88}" presName="connectorText" presStyleLbl="sibTrans2D1" presStyleIdx="2" presStyleCnt="4"/>
      <dgm:spPr/>
    </dgm:pt>
    <dgm:pt modelId="{95FCB40A-172D-1043-97B6-A8186B6BF490}" type="pres">
      <dgm:prSet presAssocID="{6D652287-F2DF-234B-8E6A-848E1B02D14B}" presName="node" presStyleLbl="node1" presStyleIdx="3" presStyleCnt="5">
        <dgm:presLayoutVars>
          <dgm:bulletEnabled val="1"/>
        </dgm:presLayoutVars>
      </dgm:prSet>
      <dgm:spPr/>
    </dgm:pt>
    <dgm:pt modelId="{020DD20A-B54E-6A46-8D7C-59CF91AE63F0}" type="pres">
      <dgm:prSet presAssocID="{333C4F21-39C0-444F-8FBB-C8758D37DCC5}" presName="sibTrans" presStyleLbl="sibTrans2D1" presStyleIdx="3" presStyleCnt="4"/>
      <dgm:spPr/>
    </dgm:pt>
    <dgm:pt modelId="{0D96D4E8-090A-8C46-8EB4-678BDA650E27}" type="pres">
      <dgm:prSet presAssocID="{333C4F21-39C0-444F-8FBB-C8758D37DCC5}" presName="connectorText" presStyleLbl="sibTrans2D1" presStyleIdx="3" presStyleCnt="4"/>
      <dgm:spPr/>
    </dgm:pt>
    <dgm:pt modelId="{608C017F-15DC-4F48-AFBB-13FE0FB7C577}" type="pres">
      <dgm:prSet presAssocID="{23911602-782A-9247-975F-CD3BCD63C917}" presName="node" presStyleLbl="node1" presStyleIdx="4" presStyleCnt="5">
        <dgm:presLayoutVars>
          <dgm:bulletEnabled val="1"/>
        </dgm:presLayoutVars>
      </dgm:prSet>
      <dgm:spPr/>
    </dgm:pt>
  </dgm:ptLst>
  <dgm:cxnLst>
    <dgm:cxn modelId="{03955C27-04F3-AD43-BCE3-4ABE32F00C4B}" type="presOf" srcId="{3E7DB108-0623-9746-A209-3B82FBC66D4B}" destId="{7C08C889-1B0F-4B41-A7AF-F84AF108B786}" srcOrd="0" destOrd="0" presId="urn:microsoft.com/office/officeart/2005/8/layout/process1"/>
    <dgm:cxn modelId="{93608237-D322-994A-B679-9CD95A7C2EFE}" srcId="{52A1814F-7FED-6D47-A371-6E59D71EFE02}" destId="{23911602-782A-9247-975F-CD3BCD63C917}" srcOrd="4" destOrd="0" parTransId="{2A51DB34-3297-884F-88B5-8FC0D3208368}" sibTransId="{D0817A82-41F9-1B42-975F-1FCDD0A4B3E3}"/>
    <dgm:cxn modelId="{A0D8A657-8B6B-D342-B8CC-2893B157BC81}" type="presOf" srcId="{FFF61784-00FC-E541-8454-EA49CC2C6C88}" destId="{71E16D62-2109-C348-8365-6312E5BD9E95}" srcOrd="1" destOrd="0" presId="urn:microsoft.com/office/officeart/2005/8/layout/process1"/>
    <dgm:cxn modelId="{D1AB5B7F-2256-2D4D-8DDC-8480EC9C503A}" srcId="{52A1814F-7FED-6D47-A371-6E59D71EFE02}" destId="{6D652287-F2DF-234B-8E6A-848E1B02D14B}" srcOrd="3" destOrd="0" parTransId="{035057FE-69FE-4747-81C9-4F140D5D0811}" sibTransId="{333C4F21-39C0-444F-8FBB-C8758D37DCC5}"/>
    <dgm:cxn modelId="{CED98F87-46C6-1246-B9F8-F7D61D9BE176}" type="presOf" srcId="{23911602-782A-9247-975F-CD3BCD63C917}" destId="{608C017F-15DC-4F48-AFBB-13FE0FB7C577}" srcOrd="0" destOrd="0" presId="urn:microsoft.com/office/officeart/2005/8/layout/process1"/>
    <dgm:cxn modelId="{0302CF88-4073-2D4B-A143-38C049573AD6}" type="presOf" srcId="{570C9246-BE4B-D44F-B566-785BA7F78D13}" destId="{300F7ACF-F8FE-6D45-A6DE-622FC408825A}" srcOrd="0" destOrd="0" presId="urn:microsoft.com/office/officeart/2005/8/layout/process1"/>
    <dgm:cxn modelId="{53A8138E-E49F-E448-A91A-B7B34E524A8A}" type="presOf" srcId="{93DB5A7C-AFAC-C641-A649-B2B70BFFE695}" destId="{BE38AD9E-DE43-DF48-9763-212F51271DA7}" srcOrd="0" destOrd="0" presId="urn:microsoft.com/office/officeart/2005/8/layout/process1"/>
    <dgm:cxn modelId="{AD5B1D96-865C-1C4F-A4EA-A9677E8E1D98}" type="presOf" srcId="{333C4F21-39C0-444F-8FBB-C8758D37DCC5}" destId="{0D96D4E8-090A-8C46-8EB4-678BDA650E27}" srcOrd="1" destOrd="0" presId="urn:microsoft.com/office/officeart/2005/8/layout/process1"/>
    <dgm:cxn modelId="{D68391AE-AE4D-A94C-A03A-C957A3D4DF39}" srcId="{52A1814F-7FED-6D47-A371-6E59D71EFE02}" destId="{9D2AC7A8-BB98-544E-8801-FE2A7EA20B4F}" srcOrd="0" destOrd="0" parTransId="{B88BB0CD-D5AE-1940-9C62-0B09DE5E88DF}" sibTransId="{3E7DB108-0623-9746-A209-3B82FBC66D4B}"/>
    <dgm:cxn modelId="{17A703B2-1527-E04A-951F-8080A01B4702}" type="presOf" srcId="{FFF61784-00FC-E541-8454-EA49CC2C6C88}" destId="{60976DAA-7D3D-B54A-B900-2C9DCFB34DE9}" srcOrd="0" destOrd="0" presId="urn:microsoft.com/office/officeart/2005/8/layout/process1"/>
    <dgm:cxn modelId="{D2E6B0B6-5BB8-CE42-B0C4-4321EDEC7398}" srcId="{52A1814F-7FED-6D47-A371-6E59D71EFE02}" destId="{570C9246-BE4B-D44F-B566-785BA7F78D13}" srcOrd="2" destOrd="0" parTransId="{CD09C29F-2060-3944-AC5D-08C9B043D57D}" sibTransId="{FFF61784-00FC-E541-8454-EA49CC2C6C88}"/>
    <dgm:cxn modelId="{4B266FC3-EB13-4B43-8B89-0E1631528902}" type="presOf" srcId="{52A1814F-7FED-6D47-A371-6E59D71EFE02}" destId="{5AA75295-D3A4-8F42-A481-89064F7CBF04}" srcOrd="0" destOrd="0" presId="urn:microsoft.com/office/officeart/2005/8/layout/process1"/>
    <dgm:cxn modelId="{4EA5DFCF-4131-5040-A27A-F9D7556428DF}" type="presOf" srcId="{3E7DB108-0623-9746-A209-3B82FBC66D4B}" destId="{ED32B770-4D6F-D546-B337-C6189BD53804}" srcOrd="1" destOrd="0" presId="urn:microsoft.com/office/officeart/2005/8/layout/process1"/>
    <dgm:cxn modelId="{295443D5-9C37-C540-98F0-25BE88617B22}" type="presOf" srcId="{8DCD9A91-9F57-7143-B0CD-4A91BB5D3A41}" destId="{AD05735D-56C6-F24E-8488-E6A359EB5DBF}" srcOrd="0" destOrd="0" presId="urn:microsoft.com/office/officeart/2005/8/layout/process1"/>
    <dgm:cxn modelId="{8FE31FDB-E138-E145-A387-0E1558A9927A}" type="presOf" srcId="{6D652287-F2DF-234B-8E6A-848E1B02D14B}" destId="{95FCB40A-172D-1043-97B6-A8186B6BF490}" srcOrd="0" destOrd="0" presId="urn:microsoft.com/office/officeart/2005/8/layout/process1"/>
    <dgm:cxn modelId="{7AEEDFDE-5A5C-F44C-9C21-3E1FA51B0367}" type="presOf" srcId="{8DCD9A91-9F57-7143-B0CD-4A91BB5D3A41}" destId="{E9D24745-615C-D94B-8097-2E230E721D74}" srcOrd="1" destOrd="0" presId="urn:microsoft.com/office/officeart/2005/8/layout/process1"/>
    <dgm:cxn modelId="{EB4EB8E6-E854-D04C-AEE8-83D56FC42A0B}" type="presOf" srcId="{9D2AC7A8-BB98-544E-8801-FE2A7EA20B4F}" destId="{28878C82-12E6-0E41-A25B-415ED275830D}" srcOrd="0" destOrd="0" presId="urn:microsoft.com/office/officeart/2005/8/layout/process1"/>
    <dgm:cxn modelId="{9FD21CEE-5843-754B-BB97-2D76CCC58CF0}" srcId="{52A1814F-7FED-6D47-A371-6E59D71EFE02}" destId="{93DB5A7C-AFAC-C641-A649-B2B70BFFE695}" srcOrd="1" destOrd="0" parTransId="{C3FCEB59-16AF-5D4A-94C8-4BAEF5C6DDE6}" sibTransId="{8DCD9A91-9F57-7143-B0CD-4A91BB5D3A41}"/>
    <dgm:cxn modelId="{4E59A8FD-DBC6-F741-AC95-CF50AEBFB2B5}" type="presOf" srcId="{333C4F21-39C0-444F-8FBB-C8758D37DCC5}" destId="{020DD20A-B54E-6A46-8D7C-59CF91AE63F0}" srcOrd="0" destOrd="0" presId="urn:microsoft.com/office/officeart/2005/8/layout/process1"/>
    <dgm:cxn modelId="{FFA64A34-3A01-CB42-90D3-F223A638476F}" type="presParOf" srcId="{5AA75295-D3A4-8F42-A481-89064F7CBF04}" destId="{28878C82-12E6-0E41-A25B-415ED275830D}" srcOrd="0" destOrd="0" presId="urn:microsoft.com/office/officeart/2005/8/layout/process1"/>
    <dgm:cxn modelId="{606E8AF8-AC49-774D-BBCB-3F605838FE35}" type="presParOf" srcId="{5AA75295-D3A4-8F42-A481-89064F7CBF04}" destId="{7C08C889-1B0F-4B41-A7AF-F84AF108B786}" srcOrd="1" destOrd="0" presId="urn:microsoft.com/office/officeart/2005/8/layout/process1"/>
    <dgm:cxn modelId="{E4D34010-CD6F-7F4A-B64B-7DE368413876}" type="presParOf" srcId="{7C08C889-1B0F-4B41-A7AF-F84AF108B786}" destId="{ED32B770-4D6F-D546-B337-C6189BD53804}" srcOrd="0" destOrd="0" presId="urn:microsoft.com/office/officeart/2005/8/layout/process1"/>
    <dgm:cxn modelId="{994E7BBE-C68D-A741-B25B-225769A9043F}" type="presParOf" srcId="{5AA75295-D3A4-8F42-A481-89064F7CBF04}" destId="{BE38AD9E-DE43-DF48-9763-212F51271DA7}" srcOrd="2" destOrd="0" presId="urn:microsoft.com/office/officeart/2005/8/layout/process1"/>
    <dgm:cxn modelId="{3B801FAF-5206-7F49-855F-751CFE9DA912}" type="presParOf" srcId="{5AA75295-D3A4-8F42-A481-89064F7CBF04}" destId="{AD05735D-56C6-F24E-8488-E6A359EB5DBF}" srcOrd="3" destOrd="0" presId="urn:microsoft.com/office/officeart/2005/8/layout/process1"/>
    <dgm:cxn modelId="{A3DA77E1-5FD1-EE41-BD49-030DD4343D41}" type="presParOf" srcId="{AD05735D-56C6-F24E-8488-E6A359EB5DBF}" destId="{E9D24745-615C-D94B-8097-2E230E721D74}" srcOrd="0" destOrd="0" presId="urn:microsoft.com/office/officeart/2005/8/layout/process1"/>
    <dgm:cxn modelId="{9CEA4A9A-65BC-FA4E-B9A1-E1B1CE6BEAC5}" type="presParOf" srcId="{5AA75295-D3A4-8F42-A481-89064F7CBF04}" destId="{300F7ACF-F8FE-6D45-A6DE-622FC408825A}" srcOrd="4" destOrd="0" presId="urn:microsoft.com/office/officeart/2005/8/layout/process1"/>
    <dgm:cxn modelId="{D765A902-B2D4-754D-AD1E-B330D8420DAE}" type="presParOf" srcId="{5AA75295-D3A4-8F42-A481-89064F7CBF04}" destId="{60976DAA-7D3D-B54A-B900-2C9DCFB34DE9}" srcOrd="5" destOrd="0" presId="urn:microsoft.com/office/officeart/2005/8/layout/process1"/>
    <dgm:cxn modelId="{FAD94C8D-6F27-934F-A401-B1DEEF3B4A51}" type="presParOf" srcId="{60976DAA-7D3D-B54A-B900-2C9DCFB34DE9}" destId="{71E16D62-2109-C348-8365-6312E5BD9E95}" srcOrd="0" destOrd="0" presId="urn:microsoft.com/office/officeart/2005/8/layout/process1"/>
    <dgm:cxn modelId="{F569A361-0566-0E49-8D1E-BB6BD7401FB3}" type="presParOf" srcId="{5AA75295-D3A4-8F42-A481-89064F7CBF04}" destId="{95FCB40A-172D-1043-97B6-A8186B6BF490}" srcOrd="6" destOrd="0" presId="urn:microsoft.com/office/officeart/2005/8/layout/process1"/>
    <dgm:cxn modelId="{682D10CC-DED1-9D43-96F4-A2F79730EC73}" type="presParOf" srcId="{5AA75295-D3A4-8F42-A481-89064F7CBF04}" destId="{020DD20A-B54E-6A46-8D7C-59CF91AE63F0}" srcOrd="7" destOrd="0" presId="urn:microsoft.com/office/officeart/2005/8/layout/process1"/>
    <dgm:cxn modelId="{5626653A-E541-3349-98A7-23E934BBC21F}" type="presParOf" srcId="{020DD20A-B54E-6A46-8D7C-59CF91AE63F0}" destId="{0D96D4E8-090A-8C46-8EB4-678BDA650E27}" srcOrd="0" destOrd="0" presId="urn:microsoft.com/office/officeart/2005/8/layout/process1"/>
    <dgm:cxn modelId="{72550A17-00CA-6A4D-A76F-D56315EFECF8}" type="presParOf" srcId="{5AA75295-D3A4-8F42-A481-89064F7CBF04}" destId="{608C017F-15DC-4F48-AFBB-13FE0FB7C577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81DB47-5174-9F48-B3FD-EF1ACF278985}">
      <dsp:nvSpPr>
        <dsp:cNvPr id="0" name=""/>
        <dsp:cNvSpPr/>
      </dsp:nvSpPr>
      <dsp:spPr>
        <a:xfrm>
          <a:off x="2068" y="760132"/>
          <a:ext cx="641223" cy="38473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What is a VC/Investor</a:t>
          </a:r>
        </a:p>
      </dsp:txBody>
      <dsp:txXfrm>
        <a:off x="13336" y="771400"/>
        <a:ext cx="618687" cy="362198"/>
      </dsp:txXfrm>
    </dsp:sp>
    <dsp:sp modelId="{4C1CCA73-2B79-8C4A-96E3-B3C01A5C73DA}">
      <dsp:nvSpPr>
        <dsp:cNvPr id="0" name=""/>
        <dsp:cNvSpPr/>
      </dsp:nvSpPr>
      <dsp:spPr>
        <a:xfrm>
          <a:off x="707414" y="872988"/>
          <a:ext cx="135939" cy="1590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707414" y="904793"/>
        <a:ext cx="95157" cy="95413"/>
      </dsp:txXfrm>
    </dsp:sp>
    <dsp:sp modelId="{EB1C5006-DD39-0445-9707-EE5F966C47C9}">
      <dsp:nvSpPr>
        <dsp:cNvPr id="0" name=""/>
        <dsp:cNvSpPr/>
      </dsp:nvSpPr>
      <dsp:spPr>
        <a:xfrm>
          <a:off x="899781" y="760132"/>
          <a:ext cx="641223" cy="38473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Deal Screening</a:t>
          </a:r>
        </a:p>
      </dsp:txBody>
      <dsp:txXfrm>
        <a:off x="911049" y="771400"/>
        <a:ext cx="618687" cy="362198"/>
      </dsp:txXfrm>
    </dsp:sp>
    <dsp:sp modelId="{4C70400D-3971-5648-B7A7-01DFAFB327A4}">
      <dsp:nvSpPr>
        <dsp:cNvPr id="0" name=""/>
        <dsp:cNvSpPr/>
      </dsp:nvSpPr>
      <dsp:spPr>
        <a:xfrm>
          <a:off x="1605126" y="872988"/>
          <a:ext cx="135939" cy="1590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1605126" y="904793"/>
        <a:ext cx="95157" cy="95413"/>
      </dsp:txXfrm>
    </dsp:sp>
    <dsp:sp modelId="{9FA2F55B-5C5C-4045-B503-991DCFB293EC}">
      <dsp:nvSpPr>
        <dsp:cNvPr id="0" name=""/>
        <dsp:cNvSpPr/>
      </dsp:nvSpPr>
      <dsp:spPr>
        <a:xfrm>
          <a:off x="1797493" y="760132"/>
          <a:ext cx="641223" cy="38473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Financial Statements</a:t>
          </a:r>
        </a:p>
      </dsp:txBody>
      <dsp:txXfrm>
        <a:off x="1808761" y="771400"/>
        <a:ext cx="618687" cy="362198"/>
      </dsp:txXfrm>
    </dsp:sp>
    <dsp:sp modelId="{0E292F07-6767-3F4C-987A-D29FD3ECD9AE}">
      <dsp:nvSpPr>
        <dsp:cNvPr id="0" name=""/>
        <dsp:cNvSpPr/>
      </dsp:nvSpPr>
      <dsp:spPr>
        <a:xfrm>
          <a:off x="2502839" y="872988"/>
          <a:ext cx="135939" cy="1590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2502839" y="904793"/>
        <a:ext cx="95157" cy="95413"/>
      </dsp:txXfrm>
    </dsp:sp>
    <dsp:sp modelId="{8356B1A2-8305-5C40-80E3-CBAF3EE0E638}">
      <dsp:nvSpPr>
        <dsp:cNvPr id="0" name=""/>
        <dsp:cNvSpPr/>
      </dsp:nvSpPr>
      <dsp:spPr>
        <a:xfrm>
          <a:off x="2695206" y="760132"/>
          <a:ext cx="641223" cy="38473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Company Structure</a:t>
          </a:r>
        </a:p>
      </dsp:txBody>
      <dsp:txXfrm>
        <a:off x="2706474" y="771400"/>
        <a:ext cx="618687" cy="362198"/>
      </dsp:txXfrm>
    </dsp:sp>
    <dsp:sp modelId="{7FAD30D6-D404-F94C-950E-6D271D6F8C15}">
      <dsp:nvSpPr>
        <dsp:cNvPr id="0" name=""/>
        <dsp:cNvSpPr/>
      </dsp:nvSpPr>
      <dsp:spPr>
        <a:xfrm>
          <a:off x="3400552" y="872988"/>
          <a:ext cx="135939" cy="1590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3400552" y="904793"/>
        <a:ext cx="95157" cy="95413"/>
      </dsp:txXfrm>
    </dsp:sp>
    <dsp:sp modelId="{1F1E0A6A-958E-AD49-AF92-CBFC47EC1F48}">
      <dsp:nvSpPr>
        <dsp:cNvPr id="0" name=""/>
        <dsp:cNvSpPr/>
      </dsp:nvSpPr>
      <dsp:spPr>
        <a:xfrm>
          <a:off x="3592919" y="760132"/>
          <a:ext cx="641223" cy="38473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MT1</a:t>
          </a:r>
        </a:p>
      </dsp:txBody>
      <dsp:txXfrm>
        <a:off x="3604187" y="771400"/>
        <a:ext cx="618687" cy="3621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06C7C0-7EE3-5749-B764-6339EC5BC848}">
      <dsp:nvSpPr>
        <dsp:cNvPr id="0" name=""/>
        <dsp:cNvSpPr/>
      </dsp:nvSpPr>
      <dsp:spPr>
        <a:xfrm>
          <a:off x="1565" y="773319"/>
          <a:ext cx="684514" cy="41070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Fin Performance</a:t>
          </a:r>
        </a:p>
      </dsp:txBody>
      <dsp:txXfrm>
        <a:off x="13594" y="785348"/>
        <a:ext cx="660456" cy="386650"/>
      </dsp:txXfrm>
    </dsp:sp>
    <dsp:sp modelId="{B095352F-D8C7-DC4A-A3F1-DCDECE29DB31}">
      <dsp:nvSpPr>
        <dsp:cNvPr id="0" name=""/>
        <dsp:cNvSpPr/>
      </dsp:nvSpPr>
      <dsp:spPr>
        <a:xfrm>
          <a:off x="754530" y="893794"/>
          <a:ext cx="145116" cy="1697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754530" y="927746"/>
        <a:ext cx="101581" cy="101855"/>
      </dsp:txXfrm>
    </dsp:sp>
    <dsp:sp modelId="{B6CCB5DE-D55E-2A42-8F8C-4F1321227E0C}">
      <dsp:nvSpPr>
        <dsp:cNvPr id="0" name=""/>
        <dsp:cNvSpPr/>
      </dsp:nvSpPr>
      <dsp:spPr>
        <a:xfrm>
          <a:off x="959885" y="773319"/>
          <a:ext cx="684514" cy="41070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Forecasting/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Cash</a:t>
          </a:r>
        </a:p>
      </dsp:txBody>
      <dsp:txXfrm>
        <a:off x="971914" y="785348"/>
        <a:ext cx="660456" cy="386650"/>
      </dsp:txXfrm>
    </dsp:sp>
    <dsp:sp modelId="{952B2FC8-09A8-C94A-BA89-6CD1AD0A36BD}">
      <dsp:nvSpPr>
        <dsp:cNvPr id="0" name=""/>
        <dsp:cNvSpPr/>
      </dsp:nvSpPr>
      <dsp:spPr>
        <a:xfrm>
          <a:off x="1712850" y="893794"/>
          <a:ext cx="145116" cy="1697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712850" y="927746"/>
        <a:ext cx="101581" cy="101855"/>
      </dsp:txXfrm>
    </dsp:sp>
    <dsp:sp modelId="{698BE697-503B-E148-A4EC-E4690F10D1F3}">
      <dsp:nvSpPr>
        <dsp:cNvPr id="0" name=""/>
        <dsp:cNvSpPr/>
      </dsp:nvSpPr>
      <dsp:spPr>
        <a:xfrm>
          <a:off x="1918204" y="773319"/>
          <a:ext cx="684514" cy="41070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Regulatory Framework</a:t>
          </a:r>
        </a:p>
      </dsp:txBody>
      <dsp:txXfrm>
        <a:off x="1930233" y="785348"/>
        <a:ext cx="660456" cy="386650"/>
      </dsp:txXfrm>
    </dsp:sp>
    <dsp:sp modelId="{A71F1485-B47D-6849-85E8-82FE4F236B0D}">
      <dsp:nvSpPr>
        <dsp:cNvPr id="0" name=""/>
        <dsp:cNvSpPr/>
      </dsp:nvSpPr>
      <dsp:spPr>
        <a:xfrm>
          <a:off x="2671170" y="893794"/>
          <a:ext cx="145116" cy="1697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2671170" y="927746"/>
        <a:ext cx="101581" cy="101855"/>
      </dsp:txXfrm>
    </dsp:sp>
    <dsp:sp modelId="{63F784A7-D0CB-AC47-AF16-455EB8127E98}">
      <dsp:nvSpPr>
        <dsp:cNvPr id="0" name=""/>
        <dsp:cNvSpPr/>
      </dsp:nvSpPr>
      <dsp:spPr>
        <a:xfrm>
          <a:off x="2876524" y="773319"/>
          <a:ext cx="684514" cy="41070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MT2</a:t>
          </a:r>
        </a:p>
      </dsp:txBody>
      <dsp:txXfrm>
        <a:off x="2888553" y="785348"/>
        <a:ext cx="660456" cy="3866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878C82-12E6-0E41-A25B-415ED275830D}">
      <dsp:nvSpPr>
        <dsp:cNvPr id="0" name=""/>
        <dsp:cNvSpPr/>
      </dsp:nvSpPr>
      <dsp:spPr>
        <a:xfrm>
          <a:off x="2068" y="761261"/>
          <a:ext cx="641223" cy="47490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Pro </a:t>
          </a:r>
          <a:r>
            <a:rPr lang="en-US" sz="900" kern="1200" dirty="0" err="1"/>
            <a:t>Formas</a:t>
          </a:r>
          <a:endParaRPr lang="en-US" sz="900" kern="1200" dirty="0"/>
        </a:p>
      </dsp:txBody>
      <dsp:txXfrm>
        <a:off x="15978" y="775171"/>
        <a:ext cx="613403" cy="447086"/>
      </dsp:txXfrm>
    </dsp:sp>
    <dsp:sp modelId="{7C08C889-1B0F-4B41-A7AF-F84AF108B786}">
      <dsp:nvSpPr>
        <dsp:cNvPr id="0" name=""/>
        <dsp:cNvSpPr/>
      </dsp:nvSpPr>
      <dsp:spPr>
        <a:xfrm>
          <a:off x="707414" y="919202"/>
          <a:ext cx="135939" cy="159023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707414" y="951007"/>
        <a:ext cx="95157" cy="95413"/>
      </dsp:txXfrm>
    </dsp:sp>
    <dsp:sp modelId="{BE38AD9E-DE43-DF48-9763-212F51271DA7}">
      <dsp:nvSpPr>
        <dsp:cNvPr id="0" name=""/>
        <dsp:cNvSpPr/>
      </dsp:nvSpPr>
      <dsp:spPr>
        <a:xfrm>
          <a:off x="899781" y="761261"/>
          <a:ext cx="641223" cy="47490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NPV Valuation</a:t>
          </a:r>
        </a:p>
      </dsp:txBody>
      <dsp:txXfrm>
        <a:off x="913691" y="775171"/>
        <a:ext cx="613403" cy="447086"/>
      </dsp:txXfrm>
    </dsp:sp>
    <dsp:sp modelId="{AD05735D-56C6-F24E-8488-E6A359EB5DBF}">
      <dsp:nvSpPr>
        <dsp:cNvPr id="0" name=""/>
        <dsp:cNvSpPr/>
      </dsp:nvSpPr>
      <dsp:spPr>
        <a:xfrm>
          <a:off x="1605126" y="919202"/>
          <a:ext cx="135939" cy="159023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1605126" y="951007"/>
        <a:ext cx="95157" cy="95413"/>
      </dsp:txXfrm>
    </dsp:sp>
    <dsp:sp modelId="{300F7ACF-F8FE-6D45-A6DE-622FC408825A}">
      <dsp:nvSpPr>
        <dsp:cNvPr id="0" name=""/>
        <dsp:cNvSpPr/>
      </dsp:nvSpPr>
      <dsp:spPr>
        <a:xfrm>
          <a:off x="1797493" y="761261"/>
          <a:ext cx="641223" cy="47490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Ownership &amp; </a:t>
          </a:r>
          <a:r>
            <a:rPr lang="en-US" sz="900" kern="1200" dirty="0" err="1"/>
            <a:t>CapTables</a:t>
          </a:r>
          <a:endParaRPr lang="en-US" sz="900" kern="1200" dirty="0"/>
        </a:p>
      </dsp:txBody>
      <dsp:txXfrm>
        <a:off x="1811403" y="775171"/>
        <a:ext cx="613403" cy="447086"/>
      </dsp:txXfrm>
    </dsp:sp>
    <dsp:sp modelId="{60976DAA-7D3D-B54A-B900-2C9DCFB34DE9}">
      <dsp:nvSpPr>
        <dsp:cNvPr id="0" name=""/>
        <dsp:cNvSpPr/>
      </dsp:nvSpPr>
      <dsp:spPr>
        <a:xfrm>
          <a:off x="2502839" y="919202"/>
          <a:ext cx="135939" cy="159023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2502839" y="951007"/>
        <a:ext cx="95157" cy="95413"/>
      </dsp:txXfrm>
    </dsp:sp>
    <dsp:sp modelId="{95FCB40A-172D-1043-97B6-A8186B6BF490}">
      <dsp:nvSpPr>
        <dsp:cNvPr id="0" name=""/>
        <dsp:cNvSpPr/>
      </dsp:nvSpPr>
      <dsp:spPr>
        <a:xfrm>
          <a:off x="2695206" y="761261"/>
          <a:ext cx="641223" cy="47490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Exits</a:t>
          </a:r>
        </a:p>
      </dsp:txBody>
      <dsp:txXfrm>
        <a:off x="2709116" y="775171"/>
        <a:ext cx="613403" cy="447086"/>
      </dsp:txXfrm>
    </dsp:sp>
    <dsp:sp modelId="{020DD20A-B54E-6A46-8D7C-59CF91AE63F0}">
      <dsp:nvSpPr>
        <dsp:cNvPr id="0" name=""/>
        <dsp:cNvSpPr/>
      </dsp:nvSpPr>
      <dsp:spPr>
        <a:xfrm>
          <a:off x="3400552" y="919202"/>
          <a:ext cx="135939" cy="159023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3400552" y="951007"/>
        <a:ext cx="95157" cy="95413"/>
      </dsp:txXfrm>
    </dsp:sp>
    <dsp:sp modelId="{608C017F-15DC-4F48-AFBB-13FE0FB7C577}">
      <dsp:nvSpPr>
        <dsp:cNvPr id="0" name=""/>
        <dsp:cNvSpPr/>
      </dsp:nvSpPr>
      <dsp:spPr>
        <a:xfrm>
          <a:off x="3592919" y="761261"/>
          <a:ext cx="641223" cy="47490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FINAL</a:t>
          </a:r>
        </a:p>
      </dsp:txBody>
      <dsp:txXfrm>
        <a:off x="3606829" y="775171"/>
        <a:ext cx="613403" cy="4470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242BC-AF68-414B-8622-6AC13D9F4F1F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FC8FC9-DCDB-4EAE-B3A7-1B2D2F2E6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992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338554"/>
          </a:xfrm>
        </p:spPr>
        <p:txBody>
          <a:bodyPr lIns="0" tIns="0" rIns="0" bIns="0"/>
          <a:lstStyle>
            <a:lvl1pPr marL="171450" indent="-171450"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>
              <a:buFont typeface="Arial" panose="020B0604020202020204" pitchFamily="34" charset="0"/>
              <a:buChar char="•"/>
              <a:defRPr sz="1100"/>
            </a:lvl2pPr>
          </a:lstStyle>
          <a:p>
            <a:endParaRPr lang="en-US"/>
          </a:p>
          <a:p>
            <a:pPr lvl="1"/>
            <a:r>
              <a:rPr lang="en-US"/>
              <a:t>	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152" y="129539"/>
            <a:ext cx="4608830" cy="3456940"/>
          </a:xfrm>
          <a:custGeom>
            <a:avLst/>
            <a:gdLst/>
            <a:ahLst/>
            <a:cxnLst/>
            <a:rect l="l" t="t" r="r" b="b"/>
            <a:pathLst>
              <a:path w="4608830" h="3456940">
                <a:moveTo>
                  <a:pt x="0" y="3456431"/>
                </a:moveTo>
                <a:lnTo>
                  <a:pt x="4608576" y="3456431"/>
                </a:lnTo>
                <a:lnTo>
                  <a:pt x="4608576" y="0"/>
                </a:lnTo>
                <a:lnTo>
                  <a:pt x="0" y="0"/>
                </a:lnTo>
                <a:lnTo>
                  <a:pt x="0" y="3456431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152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304135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 lang="en-US"/>
          </a:p>
          <a:p>
            <a:pPr lvl="1"/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966640" y="2949162"/>
            <a:ext cx="526414" cy="271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708906" y="3344562"/>
            <a:ext cx="300989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171450" indent="-171450">
        <a:buFont typeface="Arial" panose="020B0604020202020204" pitchFamily="34" charset="0"/>
        <a:buChar char="•"/>
        <a:defRPr>
          <a:latin typeface="+mn-lt"/>
          <a:ea typeface="+mn-ea"/>
          <a:cs typeface="+mn-cs"/>
        </a:defRPr>
      </a:lvl1pPr>
      <a:lvl2pPr marL="742950" indent="-285750">
        <a:buFont typeface="Arial" panose="020B0604020202020204" pitchFamily="34" charset="0"/>
        <a:buChar char="•"/>
        <a:defRPr sz="1100"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6640" y="2946437"/>
            <a:ext cx="52641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b="1" spc="-5" dirty="0">
                <a:solidFill>
                  <a:srgbClr val="231F20"/>
                </a:solidFill>
                <a:latin typeface="Rockwell"/>
                <a:cs typeface="Rockwell"/>
              </a:rPr>
              <a:t>Leeds</a:t>
            </a:r>
            <a:endParaRPr sz="1350">
              <a:latin typeface="Rockwell"/>
              <a:cs typeface="Rockwel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48455" y="2932247"/>
            <a:ext cx="297815" cy="287655"/>
            <a:chOff x="3648455" y="2932247"/>
            <a:chExt cx="297815" cy="287655"/>
          </a:xfrm>
        </p:grpSpPr>
        <p:sp>
          <p:nvSpPr>
            <p:cNvPr id="4" name="object 4"/>
            <p:cNvSpPr/>
            <p:nvPr/>
          </p:nvSpPr>
          <p:spPr>
            <a:xfrm>
              <a:off x="3648455" y="2932247"/>
              <a:ext cx="297815" cy="287655"/>
            </a:xfrm>
            <a:custGeom>
              <a:avLst/>
              <a:gdLst/>
              <a:ahLst/>
              <a:cxnLst/>
              <a:rect l="l" t="t" r="r" b="b"/>
              <a:pathLst>
                <a:path w="297814" h="287655">
                  <a:moveTo>
                    <a:pt x="175778" y="0"/>
                  </a:moveTo>
                  <a:lnTo>
                    <a:pt x="39471" y="0"/>
                  </a:lnTo>
                  <a:lnTo>
                    <a:pt x="0" y="39421"/>
                  </a:lnTo>
                  <a:lnTo>
                    <a:pt x="0" y="175503"/>
                  </a:lnTo>
                  <a:lnTo>
                    <a:pt x="39471" y="214896"/>
                  </a:lnTo>
                  <a:lnTo>
                    <a:pt x="82753" y="214896"/>
                  </a:lnTo>
                  <a:lnTo>
                    <a:pt x="82753" y="248012"/>
                  </a:lnTo>
                  <a:lnTo>
                    <a:pt x="122544" y="287452"/>
                  </a:lnTo>
                  <a:lnTo>
                    <a:pt x="237576" y="287452"/>
                  </a:lnTo>
                  <a:lnTo>
                    <a:pt x="277459" y="248043"/>
                  </a:lnTo>
                  <a:lnTo>
                    <a:pt x="277459" y="142625"/>
                  </a:lnTo>
                  <a:lnTo>
                    <a:pt x="297774" y="142625"/>
                  </a:lnTo>
                  <a:lnTo>
                    <a:pt x="297774" y="72443"/>
                  </a:lnTo>
                  <a:lnTo>
                    <a:pt x="215127" y="72443"/>
                  </a:lnTo>
                  <a:lnTo>
                    <a:pt x="215127" y="39427"/>
                  </a:lnTo>
                  <a:lnTo>
                    <a:pt x="175778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52540" y="2936332"/>
              <a:ext cx="290195" cy="279400"/>
            </a:xfrm>
            <a:custGeom>
              <a:avLst/>
              <a:gdLst/>
              <a:ahLst/>
              <a:cxnLst/>
              <a:rect l="l" t="t" r="r" b="b"/>
              <a:pathLst>
                <a:path w="290195" h="279400">
                  <a:moveTo>
                    <a:pt x="170017" y="0"/>
                  </a:moveTo>
                  <a:lnTo>
                    <a:pt x="37063" y="0"/>
                  </a:lnTo>
                  <a:lnTo>
                    <a:pt x="0" y="37033"/>
                  </a:lnTo>
                  <a:lnTo>
                    <a:pt x="0" y="169705"/>
                  </a:lnTo>
                  <a:lnTo>
                    <a:pt x="37063" y="206727"/>
                  </a:lnTo>
                  <a:lnTo>
                    <a:pt x="82783" y="206727"/>
                  </a:lnTo>
                  <a:lnTo>
                    <a:pt x="82783" y="242244"/>
                  </a:lnTo>
                  <a:lnTo>
                    <a:pt x="120136" y="279266"/>
                  </a:lnTo>
                  <a:lnTo>
                    <a:pt x="231815" y="279266"/>
                  </a:lnTo>
                  <a:lnTo>
                    <a:pt x="269275" y="242244"/>
                  </a:lnTo>
                  <a:lnTo>
                    <a:pt x="269275" y="134474"/>
                  </a:lnTo>
                  <a:lnTo>
                    <a:pt x="289590" y="134474"/>
                  </a:lnTo>
                  <a:lnTo>
                    <a:pt x="289590" y="72455"/>
                  </a:lnTo>
                  <a:lnTo>
                    <a:pt x="206943" y="72455"/>
                  </a:lnTo>
                  <a:lnTo>
                    <a:pt x="206943" y="37039"/>
                  </a:lnTo>
                  <a:lnTo>
                    <a:pt x="17001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62751" y="2946553"/>
              <a:ext cx="269240" cy="259079"/>
            </a:xfrm>
            <a:custGeom>
              <a:avLst/>
              <a:gdLst/>
              <a:ahLst/>
              <a:cxnLst/>
              <a:rect l="l" t="t" r="r" b="b"/>
              <a:pathLst>
                <a:path w="269239" h="259080">
                  <a:moveTo>
                    <a:pt x="155554" y="0"/>
                  </a:moveTo>
                  <a:lnTo>
                    <a:pt x="31104" y="0"/>
                  </a:lnTo>
                  <a:lnTo>
                    <a:pt x="0" y="31039"/>
                  </a:lnTo>
                  <a:lnTo>
                    <a:pt x="0" y="155245"/>
                  </a:lnTo>
                  <a:lnTo>
                    <a:pt x="31104" y="186266"/>
                  </a:lnTo>
                  <a:lnTo>
                    <a:pt x="82783" y="186266"/>
                  </a:lnTo>
                  <a:lnTo>
                    <a:pt x="82783" y="227754"/>
                  </a:lnTo>
                  <a:lnTo>
                    <a:pt x="114132" y="258823"/>
                  </a:lnTo>
                  <a:lnTo>
                    <a:pt x="217413" y="258823"/>
                  </a:lnTo>
                  <a:lnTo>
                    <a:pt x="248838" y="227754"/>
                  </a:lnTo>
                  <a:lnTo>
                    <a:pt x="248838" y="114013"/>
                  </a:lnTo>
                  <a:lnTo>
                    <a:pt x="269168" y="114013"/>
                  </a:lnTo>
                  <a:lnTo>
                    <a:pt x="269168" y="72455"/>
                  </a:lnTo>
                  <a:lnTo>
                    <a:pt x="206822" y="72455"/>
                  </a:lnTo>
                  <a:lnTo>
                    <a:pt x="206822" y="217311"/>
                  </a:lnTo>
                  <a:lnTo>
                    <a:pt x="124327" y="217311"/>
                  </a:lnTo>
                  <a:lnTo>
                    <a:pt x="124327" y="186266"/>
                  </a:lnTo>
                  <a:lnTo>
                    <a:pt x="155554" y="186266"/>
                  </a:lnTo>
                  <a:lnTo>
                    <a:pt x="186522" y="155245"/>
                  </a:lnTo>
                  <a:lnTo>
                    <a:pt x="186522" y="114013"/>
                  </a:lnTo>
                  <a:lnTo>
                    <a:pt x="144978" y="114013"/>
                  </a:lnTo>
                  <a:lnTo>
                    <a:pt x="144978" y="144821"/>
                  </a:lnTo>
                  <a:lnTo>
                    <a:pt x="124327" y="144821"/>
                  </a:lnTo>
                  <a:lnTo>
                    <a:pt x="124327" y="72455"/>
                  </a:lnTo>
                  <a:lnTo>
                    <a:pt x="62163" y="72455"/>
                  </a:lnTo>
                  <a:lnTo>
                    <a:pt x="62163" y="114013"/>
                  </a:lnTo>
                  <a:lnTo>
                    <a:pt x="82783" y="114013"/>
                  </a:lnTo>
                  <a:lnTo>
                    <a:pt x="82783" y="144821"/>
                  </a:lnTo>
                  <a:lnTo>
                    <a:pt x="41483" y="144821"/>
                  </a:lnTo>
                  <a:lnTo>
                    <a:pt x="41483" y="41164"/>
                  </a:lnTo>
                  <a:lnTo>
                    <a:pt x="144978" y="41164"/>
                  </a:lnTo>
                  <a:lnTo>
                    <a:pt x="144978" y="72455"/>
                  </a:lnTo>
                  <a:lnTo>
                    <a:pt x="186522" y="72455"/>
                  </a:lnTo>
                  <a:lnTo>
                    <a:pt x="186522" y="31056"/>
                  </a:lnTo>
                  <a:lnTo>
                    <a:pt x="1555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67871" y="2951666"/>
              <a:ext cx="259079" cy="248920"/>
            </a:xfrm>
            <a:custGeom>
              <a:avLst/>
              <a:gdLst/>
              <a:ahLst/>
              <a:cxnLst/>
              <a:rect l="l" t="t" r="r" b="b"/>
              <a:pathLst>
                <a:path w="259079" h="248919">
                  <a:moveTo>
                    <a:pt x="148315" y="0"/>
                  </a:moveTo>
                  <a:lnTo>
                    <a:pt x="28102" y="0"/>
                  </a:lnTo>
                  <a:lnTo>
                    <a:pt x="0" y="28050"/>
                  </a:lnTo>
                  <a:lnTo>
                    <a:pt x="0" y="148024"/>
                  </a:lnTo>
                  <a:lnTo>
                    <a:pt x="28087" y="176046"/>
                  </a:lnTo>
                  <a:lnTo>
                    <a:pt x="82783" y="176046"/>
                  </a:lnTo>
                  <a:lnTo>
                    <a:pt x="82783" y="220504"/>
                  </a:lnTo>
                  <a:lnTo>
                    <a:pt x="111130" y="248614"/>
                  </a:lnTo>
                  <a:lnTo>
                    <a:pt x="210174" y="248614"/>
                  </a:lnTo>
                  <a:lnTo>
                    <a:pt x="238612" y="220486"/>
                  </a:lnTo>
                  <a:lnTo>
                    <a:pt x="238612" y="103804"/>
                  </a:lnTo>
                  <a:lnTo>
                    <a:pt x="258927" y="103804"/>
                  </a:lnTo>
                  <a:lnTo>
                    <a:pt x="258927" y="72467"/>
                  </a:lnTo>
                  <a:lnTo>
                    <a:pt x="206822" y="72467"/>
                  </a:lnTo>
                  <a:lnTo>
                    <a:pt x="206822" y="217294"/>
                  </a:lnTo>
                  <a:lnTo>
                    <a:pt x="114086" y="217294"/>
                  </a:lnTo>
                  <a:lnTo>
                    <a:pt x="114086" y="176046"/>
                  </a:lnTo>
                  <a:lnTo>
                    <a:pt x="148315" y="176046"/>
                  </a:lnTo>
                  <a:lnTo>
                    <a:pt x="176296" y="148024"/>
                  </a:lnTo>
                  <a:lnTo>
                    <a:pt x="176296" y="114019"/>
                  </a:lnTo>
                  <a:lnTo>
                    <a:pt x="144978" y="114019"/>
                  </a:lnTo>
                  <a:lnTo>
                    <a:pt x="144978" y="144815"/>
                  </a:lnTo>
                  <a:lnTo>
                    <a:pt x="114086" y="144815"/>
                  </a:lnTo>
                  <a:lnTo>
                    <a:pt x="114086" y="72467"/>
                  </a:lnTo>
                  <a:lnTo>
                    <a:pt x="62148" y="72467"/>
                  </a:lnTo>
                  <a:lnTo>
                    <a:pt x="62148" y="103804"/>
                  </a:lnTo>
                  <a:lnTo>
                    <a:pt x="82783" y="103804"/>
                  </a:lnTo>
                  <a:lnTo>
                    <a:pt x="82783" y="144815"/>
                  </a:lnTo>
                  <a:lnTo>
                    <a:pt x="31241" y="144815"/>
                  </a:lnTo>
                  <a:lnTo>
                    <a:pt x="31241" y="30950"/>
                  </a:lnTo>
                  <a:lnTo>
                    <a:pt x="144978" y="30950"/>
                  </a:lnTo>
                  <a:lnTo>
                    <a:pt x="144978" y="62227"/>
                  </a:lnTo>
                  <a:lnTo>
                    <a:pt x="176296" y="62227"/>
                  </a:lnTo>
                  <a:lnTo>
                    <a:pt x="176296" y="28050"/>
                  </a:lnTo>
                  <a:lnTo>
                    <a:pt x="148315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99191" y="886641"/>
            <a:ext cx="2827894" cy="56624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459105" marR="5080" indent="-447040" algn="ctr">
              <a:lnSpc>
                <a:spcPct val="102699"/>
              </a:lnSpc>
              <a:spcBef>
                <a:spcPts val="55"/>
              </a:spcBef>
            </a:pPr>
            <a:r>
              <a:rPr lang="en-US" spc="-10" dirty="0">
                <a:solidFill>
                  <a:srgbClr val="000000"/>
                </a:solidFill>
              </a:rPr>
              <a:t>Entrepreneurial Finance</a:t>
            </a:r>
            <a:br>
              <a:rPr lang="en-US" sz="1100" spc="-10" dirty="0">
                <a:solidFill>
                  <a:srgbClr val="000000"/>
                </a:solidFill>
              </a:rPr>
            </a:br>
            <a:r>
              <a:rPr lang="en-US" sz="1100" spc="-10" dirty="0">
                <a:solidFill>
                  <a:srgbClr val="000000"/>
                </a:solidFill>
              </a:rPr>
              <a:t>Pro Formas</a:t>
            </a:r>
            <a:br>
              <a:rPr lang="en-US" sz="1100" spc="-10" dirty="0">
                <a:solidFill>
                  <a:srgbClr val="000000"/>
                </a:solidFill>
              </a:rPr>
            </a:br>
            <a:endParaRPr sz="1100" dirty="0"/>
          </a:p>
        </p:txBody>
      </p:sp>
      <p:sp>
        <p:nvSpPr>
          <p:cNvPr id="9" name="object 9"/>
          <p:cNvSpPr txBox="1"/>
          <p:nvPr/>
        </p:nvSpPr>
        <p:spPr>
          <a:xfrm>
            <a:off x="1188211" y="1791474"/>
            <a:ext cx="2235835" cy="5378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3365" marR="247015" algn="ctr">
              <a:lnSpc>
                <a:spcPct val="102699"/>
              </a:lnSpc>
              <a:spcBef>
                <a:spcPts val="55"/>
              </a:spcBef>
            </a:pPr>
            <a:r>
              <a:rPr lang="en-US" sz="1100" b="1" spc="-5" dirty="0">
                <a:latin typeface="Arial"/>
                <a:cs typeface="Arial"/>
              </a:rPr>
              <a:t>Professor Burnes</a:t>
            </a:r>
          </a:p>
          <a:p>
            <a:pPr marL="253365" marR="247015" algn="ctr">
              <a:lnSpc>
                <a:spcPct val="102699"/>
              </a:lnSpc>
              <a:spcBef>
                <a:spcPts val="55"/>
              </a:spcBef>
            </a:pPr>
            <a:r>
              <a:rPr sz="1100" b="1" spc="-5" dirty="0">
                <a:latin typeface="Arial"/>
                <a:cs typeface="Arial"/>
              </a:rPr>
              <a:t>Leeds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spc="-5" dirty="0">
                <a:latin typeface="Arial"/>
                <a:cs typeface="Arial"/>
              </a:rPr>
              <a:t>School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spc="-5" dirty="0">
                <a:latin typeface="Arial"/>
                <a:cs typeface="Arial"/>
              </a:rPr>
              <a:t>of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spc="-5" dirty="0">
                <a:latin typeface="Arial"/>
                <a:cs typeface="Arial"/>
              </a:rPr>
              <a:t>Business</a:t>
            </a:r>
            <a:endParaRPr sz="11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b="1" spc="-10" dirty="0">
                <a:latin typeface="Arial"/>
                <a:cs typeface="Arial"/>
              </a:rPr>
              <a:t>University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spc="-5" dirty="0">
                <a:latin typeface="Arial"/>
                <a:cs typeface="Arial"/>
              </a:rPr>
              <a:t>of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spc="-5" dirty="0">
                <a:latin typeface="Arial"/>
                <a:cs typeface="Arial"/>
              </a:rPr>
              <a:t>Colorado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spc="-5" dirty="0">
                <a:latin typeface="Arial"/>
                <a:cs typeface="Arial"/>
              </a:rPr>
              <a:t>at Boulder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-152" y="3326663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2" y="129539"/>
                </a:lnTo>
                <a:lnTo>
                  <a:pt x="1536192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72231" y="3326663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1" y="129539"/>
                </a:lnTo>
                <a:lnTo>
                  <a:pt x="1536191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966640" y="3126132"/>
            <a:ext cx="516255" cy="939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2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10" dirty="0">
                <a:solidFill>
                  <a:srgbClr val="231F20"/>
                </a:solidFill>
                <a:latin typeface="Arial"/>
                <a:cs typeface="Arial"/>
              </a:rPr>
              <a:t>U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20" dirty="0">
                <a:solidFill>
                  <a:srgbClr val="231F20"/>
                </a:solidFill>
                <a:latin typeface="Arial"/>
                <a:cs typeface="Arial"/>
              </a:rPr>
              <a:t>I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20" dirty="0">
                <a:solidFill>
                  <a:srgbClr val="231F20"/>
                </a:solidFill>
                <a:latin typeface="Arial"/>
                <a:cs typeface="Arial"/>
              </a:rPr>
              <a:t>N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15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endParaRPr sz="5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336295" y="3344562"/>
            <a:ext cx="864869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685"/>
              </a:lnSpc>
            </a:pPr>
            <a:r>
              <a:rPr lang="en-US" spc="-10"/>
              <a:t>ESBM4570</a:t>
            </a:r>
            <a:endParaRPr spc="-5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spc="-35" dirty="0"/>
              <a:t>P</a:t>
            </a:r>
            <a:r>
              <a:rPr spc="-5" dirty="0"/>
              <a:t>age</a:t>
            </a:r>
            <a:r>
              <a:rPr spc="-10" dirty="0"/>
              <a:t> </a:t>
            </a:r>
            <a:fld id="{81D60167-4931-47E6-BA6A-407CBD079E47}" type="slidenum">
              <a:rPr spc="-5" dirty="0"/>
              <a:t>1</a:t>
            </a:fld>
            <a:endParaRPr spc="-5" dirty="0"/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A2DBF-C76C-2EB6-EE67-3B98A7DF1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MT 2 Updates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AF788-1B3C-83CD-4F4D-5760249EA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338554"/>
          </a:xfrm>
        </p:spPr>
        <p:txBody>
          <a:bodyPr/>
          <a:lstStyle/>
          <a:p>
            <a:r>
              <a:rPr lang="en-US" dirty="0"/>
              <a:t>I am reading through the short answers, and checking decimals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9373C-C681-18ED-BA53-C12E497095E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2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1427345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08033-49D7-629C-E384-6BC57A3D9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The Arc of Our Semester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F1925D-7B61-D8A2-3601-C45F509E7B1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3</a:t>
            </a:fld>
            <a:endParaRPr spc="-5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4594FF9-6123-EF5D-6285-7521955BC018}"/>
              </a:ext>
            </a:extLst>
          </p:cNvPr>
          <p:cNvGraphicFramePr/>
          <p:nvPr/>
        </p:nvGraphicFramePr>
        <p:xfrm>
          <a:off x="274673" y="-89882"/>
          <a:ext cx="4236211" cy="1905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F43CFCC0-4329-C376-9055-6D0BC77054AE}"/>
              </a:ext>
            </a:extLst>
          </p:cNvPr>
          <p:cNvGraphicFramePr/>
          <p:nvPr/>
        </p:nvGraphicFramePr>
        <p:xfrm>
          <a:off x="303511" y="555024"/>
          <a:ext cx="3562604" cy="19573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3D348FC-C22B-A5E1-C10B-EAE3DF0D6C33}"/>
              </a:ext>
            </a:extLst>
          </p:cNvPr>
          <p:cNvGraphicFramePr/>
          <p:nvPr/>
        </p:nvGraphicFramePr>
        <p:xfrm>
          <a:off x="330536" y="1347133"/>
          <a:ext cx="4236211" cy="19974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3" name="Oval 2">
            <a:extLst>
              <a:ext uri="{FF2B5EF4-FFF2-40B4-BE49-F238E27FC236}">
                <a16:creationId xmlns:a16="http://schemas.microsoft.com/office/drawing/2014/main" id="{97C3B075-A841-FF5E-A2B3-B4C991F033F8}"/>
              </a:ext>
            </a:extLst>
          </p:cNvPr>
          <p:cNvSpPr/>
          <p:nvPr/>
        </p:nvSpPr>
        <p:spPr>
          <a:xfrm>
            <a:off x="19050" y="739775"/>
            <a:ext cx="228598" cy="228600"/>
          </a:xfrm>
          <a:prstGeom prst="ellipse">
            <a:avLst/>
          </a:prstGeom>
          <a:solidFill>
            <a:srgbClr val="A0A2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D711DF4-3ABF-6FDE-EC7F-24F500E720A3}"/>
              </a:ext>
            </a:extLst>
          </p:cNvPr>
          <p:cNvSpPr/>
          <p:nvPr/>
        </p:nvSpPr>
        <p:spPr>
          <a:xfrm>
            <a:off x="25736" y="1384301"/>
            <a:ext cx="228598" cy="228600"/>
          </a:xfrm>
          <a:prstGeom prst="ellipse">
            <a:avLst/>
          </a:prstGeom>
          <a:solidFill>
            <a:srgbClr val="A0A2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6417B20-8779-3676-AEC1-CA801520C96E}"/>
              </a:ext>
            </a:extLst>
          </p:cNvPr>
          <p:cNvSpPr/>
          <p:nvPr/>
        </p:nvSpPr>
        <p:spPr>
          <a:xfrm>
            <a:off x="4029" y="2157439"/>
            <a:ext cx="228598" cy="228600"/>
          </a:xfrm>
          <a:prstGeom prst="ellipse">
            <a:avLst/>
          </a:prstGeom>
          <a:solidFill>
            <a:srgbClr val="A0A2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77168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Graphic spid="7" grpId="0">
        <p:bldAsOne/>
      </p:bldGraphic>
      <p:bldGraphic spid="8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D001A-8E35-E914-B144-382503A39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E2A70-91CA-75E4-4545-1DBC98662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354217"/>
          </a:xfrm>
        </p:spPr>
        <p:txBody>
          <a:bodyPr/>
          <a:lstStyle/>
          <a:p>
            <a:r>
              <a:rPr lang="en-US" dirty="0"/>
              <a:t>Pro Forma</a:t>
            </a:r>
          </a:p>
          <a:p>
            <a:r>
              <a:rPr lang="en-US" dirty="0"/>
              <a:t>Growth</a:t>
            </a:r>
          </a:p>
          <a:p>
            <a:r>
              <a:rPr lang="en-US" dirty="0"/>
              <a:t>Other Key Assumptions</a:t>
            </a:r>
          </a:p>
          <a:p>
            <a:r>
              <a:rPr lang="en-US" dirty="0"/>
              <a:t>Sustainable Growth Rate</a:t>
            </a:r>
          </a:p>
          <a:p>
            <a:r>
              <a:rPr lang="en-US" dirty="0"/>
              <a:t>Deviation from “sustainable”</a:t>
            </a:r>
          </a:p>
          <a:p>
            <a:r>
              <a:rPr lang="en-US" dirty="0"/>
              <a:t>Do we Need Money?</a:t>
            </a:r>
          </a:p>
          <a:p>
            <a:r>
              <a:rPr lang="en-US" dirty="0"/>
              <a:t>Scenario Analysis for Sensitivity to Growth and COGS (or other key assumptions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4B64F-B982-4C95-0DFD-5433E0BFDE5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4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2830716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C0C77-3887-12FB-1EBE-C96C2C3A7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430887"/>
          </a:xfrm>
        </p:spPr>
        <p:txBody>
          <a:bodyPr/>
          <a:lstStyle/>
          <a:p>
            <a:r>
              <a:rPr lang="en-US" dirty="0"/>
              <a:t>What is a Pro Forma, and why do we care?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064C9E-9951-C676-4AC5-971DD9103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32" y="792531"/>
            <a:ext cx="4357623" cy="1692771"/>
          </a:xfrm>
        </p:spPr>
        <p:txBody>
          <a:bodyPr/>
          <a:lstStyle/>
          <a:p>
            <a:r>
              <a:rPr lang="en-US" dirty="0"/>
              <a:t>A Pro Forma income Statement provides US (and investors) with clarity on our assumptions and the implications of our assumptions for our business over the next 3-5 years</a:t>
            </a:r>
          </a:p>
          <a:p>
            <a:r>
              <a:rPr lang="en-US" dirty="0"/>
              <a:t>Combined with our Balance Sheet, we can begin to understand if we need to grow faster, change our operations, or raise additional capital</a:t>
            </a:r>
          </a:p>
          <a:p>
            <a:r>
              <a:rPr lang="en-US" dirty="0"/>
              <a:t>As the VCs mentioned – they do not expect us to ”get it right” – that is perfectly forecast our business – but they do expect our Pro </a:t>
            </a:r>
            <a:r>
              <a:rPr lang="en-US" dirty="0" err="1"/>
              <a:t>Formas</a:t>
            </a:r>
            <a:r>
              <a:rPr lang="en-US" dirty="0"/>
              <a:t> to indicate that we understand our business, our markets, and the implications of the choices we are making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33341-5B3E-1DD5-230C-D86E561FBA4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5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3580242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C017E71-F425-251D-AB7F-B720EDB36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starts with Year 1…and assumptions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E3F66-D58D-EC85-FB60-77B9A6222D3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 wrap="square">
            <a:normAutofit/>
          </a:bodyPr>
          <a:lstStyle/>
          <a:p>
            <a:pPr marL="12700">
              <a:spcAft>
                <a:spcPts val="600"/>
              </a:spcAft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pPr marL="12700">
                <a:spcAft>
                  <a:spcPts val="600"/>
                </a:spcAft>
              </a:pPr>
              <a:t>6</a:t>
            </a:fld>
            <a:endParaRPr lang="en-US" spc="-5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59B893B-3C8F-5FB9-FF1A-54666FE4B9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790304"/>
              </p:ext>
            </p:extLst>
          </p:nvPr>
        </p:nvGraphicFramePr>
        <p:xfrm>
          <a:off x="122904" y="598826"/>
          <a:ext cx="1986111" cy="2869677"/>
        </p:xfrm>
        <a:graphic>
          <a:graphicData uri="http://schemas.openxmlformats.org/drawingml/2006/table">
            <a:tbl>
              <a:tblPr/>
              <a:tblGrid>
                <a:gridCol w="683266">
                  <a:extLst>
                    <a:ext uri="{9D8B030D-6E8A-4147-A177-3AD203B41FA5}">
                      <a16:colId xmlns:a16="http://schemas.microsoft.com/office/drawing/2014/main" val="3449962048"/>
                    </a:ext>
                  </a:extLst>
                </a:gridCol>
                <a:gridCol w="438791">
                  <a:extLst>
                    <a:ext uri="{9D8B030D-6E8A-4147-A177-3AD203B41FA5}">
                      <a16:colId xmlns:a16="http://schemas.microsoft.com/office/drawing/2014/main" val="4080161371"/>
                    </a:ext>
                  </a:extLst>
                </a:gridCol>
                <a:gridCol w="229612">
                  <a:extLst>
                    <a:ext uri="{9D8B030D-6E8A-4147-A177-3AD203B41FA5}">
                      <a16:colId xmlns:a16="http://schemas.microsoft.com/office/drawing/2014/main" val="4213265356"/>
                    </a:ext>
                  </a:extLst>
                </a:gridCol>
                <a:gridCol w="229613">
                  <a:extLst>
                    <a:ext uri="{9D8B030D-6E8A-4147-A177-3AD203B41FA5}">
                      <a16:colId xmlns:a16="http://schemas.microsoft.com/office/drawing/2014/main" val="2231641957"/>
                    </a:ext>
                  </a:extLst>
                </a:gridCol>
                <a:gridCol w="216856">
                  <a:extLst>
                    <a:ext uri="{9D8B030D-6E8A-4147-A177-3AD203B41FA5}">
                      <a16:colId xmlns:a16="http://schemas.microsoft.com/office/drawing/2014/main" val="281382084"/>
                    </a:ext>
                  </a:extLst>
                </a:gridCol>
                <a:gridCol w="187973">
                  <a:extLst>
                    <a:ext uri="{9D8B030D-6E8A-4147-A177-3AD203B41FA5}">
                      <a16:colId xmlns:a16="http://schemas.microsoft.com/office/drawing/2014/main" val="3654785607"/>
                    </a:ext>
                  </a:extLst>
                </a:gridCol>
              </a:tblGrid>
              <a:tr h="161219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Year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092544"/>
                  </a:ext>
                </a:extLst>
              </a:tr>
              <a:tr h="161219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Revenue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250,000 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394448"/>
                  </a:ext>
                </a:extLst>
              </a:tr>
              <a:tr h="161219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COGS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224232"/>
                  </a:ext>
                </a:extLst>
              </a:tr>
              <a:tr h="161219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Gross Profit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836668"/>
                  </a:ext>
                </a:extLst>
              </a:tr>
              <a:tr h="161219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OPEX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516607"/>
                  </a:ext>
                </a:extLst>
              </a:tr>
              <a:tr h="161219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Mktng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158108"/>
                  </a:ext>
                </a:extLst>
              </a:tr>
              <a:tr h="161219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Other OH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364130"/>
                  </a:ext>
                </a:extLst>
              </a:tr>
              <a:tr h="161219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EBITDA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135376"/>
                  </a:ext>
                </a:extLst>
              </a:tr>
              <a:tr h="161219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Depreciation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008234"/>
                  </a:ext>
                </a:extLst>
              </a:tr>
              <a:tr h="161219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EBIT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2203331"/>
                  </a:ext>
                </a:extLst>
              </a:tr>
              <a:tr h="161219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Interest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381516"/>
                  </a:ext>
                </a:extLst>
              </a:tr>
              <a:tr h="161219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 Tax Profit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0475536"/>
                  </a:ext>
                </a:extLst>
              </a:tr>
              <a:tr h="161219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Taxes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356226"/>
                  </a:ext>
                </a:extLst>
              </a:tr>
              <a:tr h="161219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Net Income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706" marR="6706" marT="67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205087"/>
                  </a:ext>
                </a:extLst>
              </a:tr>
            </a:tbl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8148D5BA-1E75-016F-3C16-9CDF7DB9F2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1426294"/>
              </p:ext>
            </p:extLst>
          </p:nvPr>
        </p:nvGraphicFramePr>
        <p:xfrm>
          <a:off x="2303144" y="1014036"/>
          <a:ext cx="1986111" cy="1432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825771" imgH="2038418" progId="Excel.Sheet.12">
                  <p:embed/>
                </p:oleObj>
              </mc:Choice>
              <mc:Fallback>
                <p:oleObj name="Worksheet" r:id="rId2" imgW="2825771" imgH="2038418" progId="Excel.Sheet.12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8148D5BA-1E75-016F-3C16-9CDF7DB9F2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03144" y="1014036"/>
                        <a:ext cx="1986111" cy="1432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2409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129BB-6FD2-1ED5-9C4A-B7DF10DBA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How fast are you going to grow?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AC3C8-FDC9-6C15-A2A2-436074032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69277"/>
          </a:xfrm>
        </p:spPr>
        <p:txBody>
          <a:bodyPr/>
          <a:lstStyle/>
          <a:p>
            <a:r>
              <a:rPr lang="en-US" dirty="0"/>
              <a:t>This DEPENDS on where you are in your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71369-6F08-6221-E96C-39EDC64932D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7</a:t>
            </a:fld>
            <a:endParaRPr spc="-5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8E2E456-7A3F-07BD-75B2-3778C8B64CB9}"/>
              </a:ext>
            </a:extLst>
          </p:cNvPr>
          <p:cNvSpPr txBox="1">
            <a:spLocks/>
          </p:cNvSpPr>
          <p:nvPr/>
        </p:nvSpPr>
        <p:spPr>
          <a:xfrm>
            <a:off x="726438" y="1230397"/>
            <a:ext cx="3525187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526894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kern="0" dirty="0"/>
              <a:t>How certain are you of your growth rate?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02B2BC0-CC4A-26A0-4A2B-64A9F6AA5244}"/>
              </a:ext>
            </a:extLst>
          </p:cNvPr>
          <p:cNvSpPr txBox="1">
            <a:spLocks/>
          </p:cNvSpPr>
          <p:nvPr/>
        </p:nvSpPr>
        <p:spPr>
          <a:xfrm>
            <a:off x="252477" y="2021159"/>
            <a:ext cx="4357623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>
              <a:buFont typeface="Arial" panose="020B0604020202020204" pitchFamily="34" charset="0"/>
              <a:buChar char="•"/>
              <a:defRPr sz="1100"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kern="0" dirty="0"/>
              <a:t>This DEPENDS on where you are in your development</a:t>
            </a:r>
          </a:p>
        </p:txBody>
      </p:sp>
    </p:spTree>
    <p:extLst>
      <p:ext uri="{BB962C8B-B14F-4D97-AF65-F5344CB8AC3E}">
        <p14:creationId xmlns:p14="http://schemas.microsoft.com/office/powerpoint/2010/main" val="2624750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5FBB9-00B1-6C6C-E8B0-7BF19760A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430887"/>
          </a:xfrm>
        </p:spPr>
        <p:txBody>
          <a:bodyPr/>
          <a:lstStyle/>
          <a:p>
            <a:r>
              <a:rPr lang="en-US" dirty="0"/>
              <a:t>Let’s Take a Look at this Pro Forma in Excel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5FFE9-7130-1633-312A-A37E17596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32" y="865950"/>
            <a:ext cx="4357623" cy="2031325"/>
          </a:xfrm>
        </p:spPr>
        <p:txBody>
          <a:bodyPr/>
          <a:lstStyle/>
          <a:p>
            <a:r>
              <a:rPr lang="en-US" dirty="0"/>
              <a:t>Please see MBAX6110_Week11.2.xlsx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Note, for the Assumptions, for your FIRST base case, great to keep these consistent for the whole time period</a:t>
            </a:r>
          </a:p>
          <a:p>
            <a:r>
              <a:rPr lang="en-US" dirty="0"/>
              <a:t>The Revenue grows AT the given growth rate (1+growth rate)</a:t>
            </a:r>
          </a:p>
          <a:p>
            <a:r>
              <a:rPr lang="en-US" dirty="0"/>
              <a:t>The other areas (other than taxes) are % based function on Revenue.</a:t>
            </a:r>
          </a:p>
          <a:p>
            <a:endParaRPr lang="en-US" dirty="0"/>
          </a:p>
          <a:p>
            <a:r>
              <a:rPr lang="en-US" dirty="0"/>
              <a:t>Work with a small team and complete this Pro Forma based on the assumptions given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00843D-9F34-7127-F076-CE35135D794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8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879556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2E8AE-9588-E058-B76E-FDC1C02FC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Is this Growth Rate Realistic?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A5455DA-54EC-2D20-4B84-AB85577C859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26238" y="572274"/>
                <a:ext cx="4357623" cy="152349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Let’s introduce the “sustainable growth rate”, g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C00000"/>
                    </a:solidFill>
                  </a:rPr>
                  <a:t>g </a:t>
                </a:r>
                <a:r>
                  <a:rPr lang="en-US" i="1" dirty="0"/>
                  <a:t>is the Revenue growth rate that balances growth with cash generated by the business (</a:t>
                </a:r>
                <a:r>
                  <a:rPr lang="en-US" i="1" dirty="0" err="1"/>
                  <a:t>eg</a:t>
                </a:r>
                <a:r>
                  <a:rPr lang="en-US" i="1" dirty="0"/>
                  <a:t> we use our Retained Earnings to support growth, without changes to our operations policies or raising capital (through debt or equity)</a:t>
                </a:r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r>
                  <a:rPr lang="en-US" dirty="0"/>
                  <a:t>Mathematically: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𝑅𝑂𝐴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𝑝𝑎𝑦𝑜𝑢𝑡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𝑟𝑎𝑡𝑖𝑜</m:t>
                        </m:r>
                      </m:e>
                    </m:d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A5455DA-54EC-2D20-4B84-AB85577C85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6238" y="572274"/>
                <a:ext cx="4357623" cy="1523494"/>
              </a:xfrm>
              <a:blipFill>
                <a:blip r:embed="rId2"/>
                <a:stretch>
                  <a:fillRect l="-2035" t="-3306" b="-41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52563-F722-6FD4-E6E0-A031D811D14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9</a:t>
            </a:fld>
            <a:endParaRPr spc="-5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4B7063-B548-18BB-0681-AB85E3481774}"/>
              </a:ext>
            </a:extLst>
          </p:cNvPr>
          <p:cNvSpPr txBox="1"/>
          <p:nvPr/>
        </p:nvSpPr>
        <p:spPr>
          <a:xfrm>
            <a:off x="1075885" y="2450904"/>
            <a:ext cx="7942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Return on </a:t>
            </a:r>
          </a:p>
          <a:p>
            <a:r>
              <a:rPr lang="en-US" sz="1100" dirty="0"/>
              <a:t>Assets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86C581-D909-1D44-C457-BC3EFB7B5D37}"/>
              </a:ext>
            </a:extLst>
          </p:cNvPr>
          <p:cNvSpPr txBox="1"/>
          <p:nvPr/>
        </p:nvSpPr>
        <p:spPr>
          <a:xfrm>
            <a:off x="1814372" y="2466981"/>
            <a:ext cx="7419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Equity Multiplier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69BB1B-094F-4DA3-C030-BBC49F62A094}"/>
              </a:ext>
            </a:extLst>
          </p:cNvPr>
          <p:cNvSpPr txBox="1"/>
          <p:nvPr/>
        </p:nvSpPr>
        <p:spPr>
          <a:xfrm>
            <a:off x="2616014" y="2457589"/>
            <a:ext cx="7419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% paid in Dividends</a:t>
            </a:r>
          </a:p>
        </p:txBody>
      </p:sp>
      <p:sp>
        <p:nvSpPr>
          <p:cNvPr id="8" name="Up Arrow 7">
            <a:extLst>
              <a:ext uri="{FF2B5EF4-FFF2-40B4-BE49-F238E27FC236}">
                <a16:creationId xmlns:a16="http://schemas.microsoft.com/office/drawing/2014/main" id="{7BC70A3A-D840-1D80-79DC-B7E9C66E220D}"/>
              </a:ext>
            </a:extLst>
          </p:cNvPr>
          <p:cNvSpPr/>
          <p:nvPr/>
        </p:nvSpPr>
        <p:spPr>
          <a:xfrm>
            <a:off x="1392921" y="2183611"/>
            <a:ext cx="160187" cy="261866"/>
          </a:xfrm>
          <a:prstGeom prst="upArrow">
            <a:avLst/>
          </a:prstGeom>
          <a:solidFill>
            <a:srgbClr val="CEB6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Up Arrow 8">
            <a:extLst>
              <a:ext uri="{FF2B5EF4-FFF2-40B4-BE49-F238E27FC236}">
                <a16:creationId xmlns:a16="http://schemas.microsoft.com/office/drawing/2014/main" id="{17A0889B-E2FF-3D12-B884-5D2136F8BF47}"/>
              </a:ext>
            </a:extLst>
          </p:cNvPr>
          <p:cNvSpPr/>
          <p:nvPr/>
        </p:nvSpPr>
        <p:spPr>
          <a:xfrm>
            <a:off x="1893566" y="2199688"/>
            <a:ext cx="160187" cy="261866"/>
          </a:xfrm>
          <a:prstGeom prst="upArrow">
            <a:avLst/>
          </a:prstGeom>
          <a:solidFill>
            <a:srgbClr val="A0A2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Up Arrow 9">
            <a:extLst>
              <a:ext uri="{FF2B5EF4-FFF2-40B4-BE49-F238E27FC236}">
                <a16:creationId xmlns:a16="http://schemas.microsoft.com/office/drawing/2014/main" id="{7876310D-463D-2126-84A2-6F3C968D9679}"/>
              </a:ext>
            </a:extLst>
          </p:cNvPr>
          <p:cNvSpPr/>
          <p:nvPr/>
        </p:nvSpPr>
        <p:spPr>
          <a:xfrm>
            <a:off x="2826816" y="2123904"/>
            <a:ext cx="160187" cy="261866"/>
          </a:xfrm>
          <a:prstGeom prst="upArrow">
            <a:avLst/>
          </a:prstGeom>
          <a:solidFill>
            <a:srgbClr val="CEB6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F04FDF-8ACB-5360-7F9A-A500DF5A5204}"/>
              </a:ext>
            </a:extLst>
          </p:cNvPr>
          <p:cNvSpPr txBox="1"/>
          <p:nvPr/>
        </p:nvSpPr>
        <p:spPr>
          <a:xfrm>
            <a:off x="39727" y="2966613"/>
            <a:ext cx="4136004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Note: </a:t>
            </a:r>
            <a:r>
              <a:rPr lang="en-US" sz="1100" i="1" dirty="0"/>
              <a:t>this is using ROA, rather than CASH as the measure of growth, </a:t>
            </a:r>
          </a:p>
          <a:p>
            <a:r>
              <a:rPr lang="en-US" sz="1100" i="1" dirty="0"/>
              <a:t>but well deployed/managed CASH should result in higher ROA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105316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 animBg="1"/>
      <p:bldP spid="10" grpId="0" animBg="1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BB49B-C448-CD3F-89AA-B675F039D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61" y="172084"/>
            <a:ext cx="3153410" cy="215444"/>
          </a:xfrm>
        </p:spPr>
        <p:txBody>
          <a:bodyPr/>
          <a:lstStyle/>
          <a:p>
            <a:r>
              <a:rPr lang="en-US" dirty="0"/>
              <a:t>Graphically, the interpretation is that: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2FFBA-4D32-DFD6-B578-A4EB491FB52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10</a:t>
            </a:fld>
            <a:endParaRPr spc="-5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79604D7-5607-D6A5-3C5D-967B8AC71CA0}"/>
              </a:ext>
            </a:extLst>
          </p:cNvPr>
          <p:cNvCxnSpPr/>
          <p:nvPr/>
        </p:nvCxnSpPr>
        <p:spPr>
          <a:xfrm>
            <a:off x="570432" y="1245718"/>
            <a:ext cx="0" cy="1915568"/>
          </a:xfrm>
          <a:prstGeom prst="line">
            <a:avLst/>
          </a:prstGeom>
          <a:ln w="38100">
            <a:solidFill>
              <a:srgbClr val="A0A2A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F249C53-F10E-ED7C-E5C4-DDA9012AAB9E}"/>
              </a:ext>
            </a:extLst>
          </p:cNvPr>
          <p:cNvCxnSpPr>
            <a:cxnSpLocks/>
          </p:cNvCxnSpPr>
          <p:nvPr/>
        </p:nvCxnSpPr>
        <p:spPr>
          <a:xfrm flipH="1">
            <a:off x="577106" y="3161286"/>
            <a:ext cx="3418431" cy="0"/>
          </a:xfrm>
          <a:prstGeom prst="line">
            <a:avLst/>
          </a:prstGeom>
          <a:ln w="38100">
            <a:solidFill>
              <a:srgbClr val="A0A2A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5DBC06E-030A-3903-DA15-A2772E4F06B9}"/>
              </a:ext>
            </a:extLst>
          </p:cNvPr>
          <p:cNvSpPr txBox="1"/>
          <p:nvPr/>
        </p:nvSpPr>
        <p:spPr>
          <a:xfrm>
            <a:off x="3710843" y="3161286"/>
            <a:ext cx="4683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 ROA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1285DC-7FAD-12DF-11D9-1F8FB06868C4}"/>
              </a:ext>
            </a:extLst>
          </p:cNvPr>
          <p:cNvSpPr txBox="1"/>
          <p:nvPr/>
        </p:nvSpPr>
        <p:spPr>
          <a:xfrm rot="16200000">
            <a:off x="-379150" y="1792370"/>
            <a:ext cx="14766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 Revenue Growth Rate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F528436-DD2B-284D-1534-DF56ABF2BAA9}"/>
              </a:ext>
            </a:extLst>
          </p:cNvPr>
          <p:cNvCxnSpPr/>
          <p:nvPr/>
        </p:nvCxnSpPr>
        <p:spPr>
          <a:xfrm flipV="1">
            <a:off x="577106" y="1321895"/>
            <a:ext cx="3022549" cy="1708660"/>
          </a:xfrm>
          <a:prstGeom prst="line">
            <a:avLst/>
          </a:prstGeom>
          <a:ln w="38100">
            <a:solidFill>
              <a:srgbClr val="3867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D235E7D-3113-991E-D410-01BD20D9FF3A}"/>
              </a:ext>
            </a:extLst>
          </p:cNvPr>
          <p:cNvSpPr txBox="1"/>
          <p:nvPr/>
        </p:nvSpPr>
        <p:spPr>
          <a:xfrm>
            <a:off x="3201929" y="1054320"/>
            <a:ext cx="10390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g = ROA*EM*1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10DDF1-1BF8-3E39-9D25-FF380E0890BD}"/>
              </a:ext>
            </a:extLst>
          </p:cNvPr>
          <p:cNvSpPr txBox="1"/>
          <p:nvPr/>
        </p:nvSpPr>
        <p:spPr>
          <a:xfrm>
            <a:off x="2373571" y="2309121"/>
            <a:ext cx="199573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Surplus Cash:</a:t>
            </a:r>
          </a:p>
          <a:p>
            <a:r>
              <a:rPr lang="en-US" sz="1100" i="1" dirty="0"/>
              <a:t>This is NOT GOOD for investors – there is no return on CASH!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C73944-E5A1-59FE-0565-9E7439019F9E}"/>
              </a:ext>
            </a:extLst>
          </p:cNvPr>
          <p:cNvSpPr txBox="1"/>
          <p:nvPr/>
        </p:nvSpPr>
        <p:spPr>
          <a:xfrm>
            <a:off x="791943" y="1282875"/>
            <a:ext cx="199573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Deficit Cash:</a:t>
            </a:r>
          </a:p>
          <a:p>
            <a:r>
              <a:rPr lang="en-US" sz="1100" i="1" dirty="0"/>
              <a:t>We need to change ops, raise capital, or BOTH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734089-4FFF-C3F2-3A0C-DD227E306305}"/>
              </a:ext>
            </a:extLst>
          </p:cNvPr>
          <p:cNvSpPr txBox="1"/>
          <p:nvPr/>
        </p:nvSpPr>
        <p:spPr>
          <a:xfrm>
            <a:off x="-54555" y="363213"/>
            <a:ext cx="44440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arenR"/>
            </a:pPr>
            <a:r>
              <a:rPr lang="en-US" sz="1100" dirty="0"/>
              <a:t>ROA needs to at least equal our base case. </a:t>
            </a:r>
            <a:r>
              <a:rPr lang="en-US" sz="1100" dirty="0" err="1"/>
              <a:t>Underdeployed</a:t>
            </a:r>
            <a:r>
              <a:rPr lang="en-US" sz="1100" dirty="0"/>
              <a:t> CASH is bad for growth/return</a:t>
            </a:r>
          </a:p>
          <a:p>
            <a:pPr marL="228600" indent="-228600">
              <a:buAutoNum type="arabicParenR"/>
            </a:pPr>
            <a:r>
              <a:rPr lang="en-US" sz="1100" dirty="0"/>
              <a:t>If Revenue growing FASTER than out assets can support, this indicates that we need to RAISE capital</a:t>
            </a:r>
          </a:p>
        </p:txBody>
      </p:sp>
    </p:spTree>
    <p:extLst>
      <p:ext uri="{BB962C8B-B14F-4D97-AF65-F5344CB8AC3E}">
        <p14:creationId xmlns:p14="http://schemas.microsoft.com/office/powerpoint/2010/main" val="2238793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21132-0EE7-5AD8-8AF8-927AEA238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430887"/>
          </a:xfrm>
        </p:spPr>
        <p:txBody>
          <a:bodyPr/>
          <a:lstStyle/>
          <a:p>
            <a:r>
              <a:rPr lang="en-US" dirty="0"/>
              <a:t>Let’s look at increasing CASH through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94F81-9B9D-F920-C56D-053EE8918C4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11</a:t>
            </a:fld>
            <a:endParaRPr spc="-5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891E9E4-1456-5913-4DC6-5387727D7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070282"/>
              </p:ext>
            </p:extLst>
          </p:nvPr>
        </p:nvGraphicFramePr>
        <p:xfrm>
          <a:off x="412740" y="1107959"/>
          <a:ext cx="3073400" cy="153047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36700">
                  <a:extLst>
                    <a:ext uri="{9D8B030D-6E8A-4147-A177-3AD203B41FA5}">
                      <a16:colId xmlns:a16="http://schemas.microsoft.com/office/drawing/2014/main" val="562933174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4270470609"/>
                    </a:ext>
                  </a:extLst>
                </a:gridCol>
              </a:tblGrid>
              <a:tr h="341755">
                <a:tc>
                  <a:txBody>
                    <a:bodyPr/>
                    <a:lstStyle/>
                    <a:p>
                      <a:r>
                        <a:rPr lang="en-US" sz="1100" dirty="0"/>
                        <a:t>AR 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365,000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1870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What does this imply, A/R per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774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If we improve our collections by 10 days per year, how much $ is this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04012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272B879-AF3C-8C91-88BF-6DBDAB00E2B9}"/>
              </a:ext>
            </a:extLst>
          </p:cNvPr>
          <p:cNvSpPr txBox="1"/>
          <p:nvPr/>
        </p:nvSpPr>
        <p:spPr>
          <a:xfrm>
            <a:off x="1907822" y="1529645"/>
            <a:ext cx="16433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365000/365 = $1000/day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E5F89C-8CF0-1EC5-6B28-A7B32A763560}"/>
              </a:ext>
            </a:extLst>
          </p:cNvPr>
          <p:cNvSpPr txBox="1"/>
          <p:nvPr/>
        </p:nvSpPr>
        <p:spPr>
          <a:xfrm>
            <a:off x="1996733" y="2082136"/>
            <a:ext cx="13628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$1000*10 = $10,000</a:t>
            </a:r>
          </a:p>
        </p:txBody>
      </p:sp>
    </p:spTree>
    <p:extLst>
      <p:ext uri="{BB962C8B-B14F-4D97-AF65-F5344CB8AC3E}">
        <p14:creationId xmlns:p14="http://schemas.microsoft.com/office/powerpoint/2010/main" val="3130371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D0273-D8DF-DAC5-09FE-1F44AD0AB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344" y="1084044"/>
            <a:ext cx="3153410" cy="646331"/>
          </a:xfrm>
        </p:spPr>
        <p:txBody>
          <a:bodyPr/>
          <a:lstStyle/>
          <a:p>
            <a:r>
              <a:rPr lang="en-US" dirty="0"/>
              <a:t>We cannot operate our way out of Cash Deficit when we are growing really fast!!!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E9EF4-DD28-63A8-38B8-B631A19E3B2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12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77659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97803-A3D2-B0C4-C791-0E38BFC1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32" y="1405927"/>
            <a:ext cx="4227689" cy="1723549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NOTE: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Your underlying assumptions are critical here.</a:t>
            </a:r>
            <a:br>
              <a:rPr lang="en-US" dirty="0">
                <a:solidFill>
                  <a:srgbClr val="FF0000"/>
                </a:solidFill>
              </a:rPr>
            </a:b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1)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your TAM matters – including the details of reaching it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2) </a:t>
            </a:r>
            <a:r>
              <a:rPr lang="en-US" dirty="0">
                <a:solidFill>
                  <a:srgbClr val="0070C0"/>
                </a:solidFill>
              </a:rPr>
              <a:t>your internal production capacity matters. How expensive is it to add capacity – and WHEN do you need to add 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60FCF-37C0-AC4F-5780-BE72CDA44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32" y="854496"/>
            <a:ext cx="4357623" cy="338554"/>
          </a:xfrm>
        </p:spPr>
        <p:txBody>
          <a:bodyPr/>
          <a:lstStyle/>
          <a:p>
            <a:pPr marL="228600" indent="-228600">
              <a:buFont typeface="+mj-lt"/>
              <a:buAutoNum type="arabicParenR"/>
            </a:pPr>
            <a:r>
              <a:rPr lang="en-US" dirty="0"/>
              <a:t>Income Statement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Balance Sheet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92A70-4EE3-8AD3-A6FF-BC3A5FC474A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13</a:t>
            </a:fld>
            <a:endParaRPr spc="-5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0784F95-9B0A-7B78-080C-20604F3A316B}"/>
              </a:ext>
            </a:extLst>
          </p:cNvPr>
          <p:cNvSpPr txBox="1">
            <a:spLocks/>
          </p:cNvSpPr>
          <p:nvPr/>
        </p:nvSpPr>
        <p:spPr>
          <a:xfrm>
            <a:off x="169332" y="190295"/>
            <a:ext cx="4227689" cy="861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526894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kern="0"/>
              <a:t>To Understand our Cash Needs as a Result of our Income Statement Pro Forma, we need 2 Financial Statements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602356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78730-07CD-8014-C349-80BEA24DD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430887"/>
          </a:xfrm>
        </p:spPr>
        <p:txBody>
          <a:bodyPr/>
          <a:lstStyle/>
          <a:p>
            <a:r>
              <a:rPr lang="en-US" dirty="0"/>
              <a:t>When we look at a Pro Forma Balance Sheet,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23FE53-ADD8-0E1E-F506-B957D9249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32" y="1035119"/>
            <a:ext cx="4357623" cy="16927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NOTE THAT THIS IS A NON-GAAP MEASURE!!!!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4AD4F-6A24-E5B0-EC0B-7F0DF336BC1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14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3605609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DF8A7-8F1C-8A44-3979-B7B642910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Additional Funds Needed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194EE-6CFF-B3E9-AAF8-D27CF16D0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32" y="436295"/>
            <a:ext cx="4357623" cy="152349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need to raise money if:</a:t>
            </a:r>
          </a:p>
          <a:p>
            <a:pPr marL="0" indent="0">
              <a:buNone/>
            </a:pPr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Our Balance Sheet is out of Balance as we grow – that is, ASSETS&gt;(</a:t>
            </a:r>
            <a:r>
              <a:rPr lang="en-US" dirty="0" err="1"/>
              <a:t>Liabilities+SE</a:t>
            </a:r>
            <a:r>
              <a:rPr lang="en-US" dirty="0"/>
              <a:t>)</a:t>
            </a:r>
          </a:p>
          <a:p>
            <a:pPr marL="228600" indent="-228600">
              <a:buAutoNum type="arabicParenR"/>
            </a:pPr>
            <a:r>
              <a:rPr lang="en-US" dirty="0"/>
              <a:t>Retained Earnings + Operational Changes &lt; Cash Needed to Support Growth (either through CAPEX, or Production (Working Capital))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74DB2-A722-4C69-029B-98A4FB6174B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15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2518947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F455A-02E5-383B-D9B2-1CF8309B4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Getting to AFN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E4670C-72D2-355C-48AF-A92EB70BB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253915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On the Balance Sheet, we can create a “plug” called AFN to calculate how much we need.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Let’s take a look!</a:t>
            </a:r>
          </a:p>
          <a:p>
            <a:pPr marL="0" indent="0">
              <a:buNone/>
            </a:pPr>
            <a:r>
              <a:rPr lang="en-US" dirty="0"/>
              <a:t>Back to the Same Excel!</a:t>
            </a:r>
          </a:p>
          <a:p>
            <a:pPr marL="0" indent="0">
              <a:buNone/>
            </a:pPr>
            <a:r>
              <a:rPr lang="en-US" dirty="0"/>
              <a:t>Build out the Year 2 Balance Sheet. The decimals in the Forecast column represent the % of Revenue assumption, with the exception of PP&amp;E, Gross. This is a growth rate based on previous year.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Work through the Balance Sheet projection for Year 2 based on the Income Statement Pro Forma.</a:t>
            </a:r>
          </a:p>
          <a:p>
            <a:pPr marL="0" indent="0">
              <a:buNone/>
            </a:pPr>
            <a:r>
              <a:rPr lang="en-US" dirty="0"/>
              <a:t>Calculate Total Assets and Total Liabilities + Shareholders Equity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do you see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008B8A-98C6-3018-6EA4-BCE7146E214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16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3312019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35906-6970-51B1-9303-94033CDDD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Calculating AFN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E604C-794E-1324-3652-1428CF5FE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52349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Difference (if Assets &gt; Liabilities + SE) is the additional funds needed.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Check yourself by adding the AFN to the L &amp; 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NOW… see what happens to your AFN under different growth scenarios.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122E80-0228-8E01-EC22-739C492ACFC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17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9603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1D6C9-54A2-D9D9-B558-51DF9A808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Implication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C68B8-3CCB-FBA7-F3C7-2D219F7C4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677108"/>
          </a:xfrm>
        </p:spPr>
        <p:txBody>
          <a:bodyPr/>
          <a:lstStyle/>
          <a:p>
            <a:r>
              <a:rPr lang="en-US" dirty="0"/>
              <a:t>You can now see that you need to raise $$XX, to do WHAT (invest in $CAPEX to support $growth…</a:t>
            </a:r>
          </a:p>
          <a:p>
            <a:r>
              <a:rPr lang="en-US" dirty="0"/>
              <a:t>You can also see the number needed over TIME (you can extend the BS)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0A074-EB80-262E-7130-68646324DB7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18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14163386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0B4BF-43C3-7590-8A78-D49F42260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MONDAY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FFC759-5C00-2205-4A5A-7D99C297D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483" y="552610"/>
            <a:ext cx="4357623" cy="1692771"/>
          </a:xfrm>
        </p:spPr>
        <p:txBody>
          <a:bodyPr/>
          <a:lstStyle/>
          <a:p>
            <a:r>
              <a:rPr lang="en-US" dirty="0"/>
              <a:t>Bubble </a:t>
            </a:r>
            <a:r>
              <a:rPr lang="en-US"/>
              <a:t>&amp; Bee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WRITING</a:t>
            </a:r>
          </a:p>
          <a:p>
            <a:pPr marL="0" indent="0">
              <a:buNone/>
            </a:pPr>
            <a:r>
              <a:rPr lang="en-US" i="1" dirty="0"/>
              <a:t>Team 4</a:t>
            </a:r>
          </a:p>
          <a:p>
            <a:pPr marL="0" indent="0">
              <a:buNone/>
            </a:pPr>
            <a:r>
              <a:rPr lang="en-US" dirty="0"/>
              <a:t>PRESENTING</a:t>
            </a:r>
          </a:p>
          <a:p>
            <a:pPr marL="0" indent="0">
              <a:buNone/>
            </a:pPr>
            <a:r>
              <a:rPr lang="en-US" i="1" dirty="0"/>
              <a:t>Team 8</a:t>
            </a:r>
          </a:p>
          <a:p>
            <a:pPr marL="0" indent="0">
              <a:buNone/>
            </a:pPr>
            <a:r>
              <a:rPr lang="en-US" dirty="0"/>
              <a:t>RESPONDING</a:t>
            </a:r>
          </a:p>
          <a:p>
            <a:pPr marL="0" indent="0">
              <a:buNone/>
            </a:pPr>
            <a:r>
              <a:rPr lang="en-US" i="1" dirty="0"/>
              <a:t>Team 9</a:t>
            </a:r>
          </a:p>
          <a:p>
            <a:pPr marL="0" indent="0">
              <a:buNone/>
            </a:pPr>
            <a:r>
              <a:rPr lang="en-US" i="1" dirty="0"/>
              <a:t>Team 10</a:t>
            </a:r>
          </a:p>
          <a:p>
            <a:pPr marL="0" indent="0">
              <a:buNone/>
            </a:pPr>
            <a:r>
              <a:rPr lang="en-US" i="1" dirty="0"/>
              <a:t>Dude Diligence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3BFFD-70C2-BC74-81E2-199BEDB1ECA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19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433042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778</TotalTime>
  <Words>1023</Words>
  <Application>Microsoft Office PowerPoint</Application>
  <PresentationFormat>Custom</PresentationFormat>
  <Paragraphs>166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 Narrow</vt:lpstr>
      <vt:lpstr>Arial</vt:lpstr>
      <vt:lpstr>Calibri</vt:lpstr>
      <vt:lpstr>Cambria Math</vt:lpstr>
      <vt:lpstr>Rockwell</vt:lpstr>
      <vt:lpstr>Office Theme</vt:lpstr>
      <vt:lpstr>Worksheet</vt:lpstr>
      <vt:lpstr>Entrepreneurial Finance Pro Formas </vt:lpstr>
      <vt:lpstr>MT 2 Updates</vt:lpstr>
      <vt:lpstr>The Arc of Our Semester</vt:lpstr>
      <vt:lpstr>TODAY</vt:lpstr>
      <vt:lpstr>What is a Pro Forma, and why do we care?</vt:lpstr>
      <vt:lpstr>It starts with Year 1…and assumptions</vt:lpstr>
      <vt:lpstr>How fast are you going to grow?</vt:lpstr>
      <vt:lpstr>Let’s Take a Look at this Pro Forma in Excel</vt:lpstr>
      <vt:lpstr>Is this Growth Rate Realistic?</vt:lpstr>
      <vt:lpstr>Graphically, the interpretation is that:</vt:lpstr>
      <vt:lpstr>Let’s look at increasing CASH through Operations</vt:lpstr>
      <vt:lpstr>We cannot operate our way out of Cash Deficit when we are growing really fast!!!</vt:lpstr>
      <vt:lpstr>NOTE: Your underlying assumptions are critical here.  1) your TAM matters – including the details of reaching it 2) your internal production capacity matters. How expensive is it to add capacity – and WHEN do you need to add it</vt:lpstr>
      <vt:lpstr>When we look at a Pro Forma Balance Sheet, </vt:lpstr>
      <vt:lpstr>Additional Funds Needed</vt:lpstr>
      <vt:lpstr>Getting to AFN</vt:lpstr>
      <vt:lpstr>Calculating AFN</vt:lpstr>
      <vt:lpstr>Implication</vt:lpstr>
      <vt:lpstr>MONDAY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Entrepreneurial Finance  Lesson 1</dc:title>
  <dc:creator>Shaun Davies, CU-Boulder</dc:creator>
  <cp:lastModifiedBy>Ellen Burnes</cp:lastModifiedBy>
  <cp:revision>6</cp:revision>
  <dcterms:created xsi:type="dcterms:W3CDTF">2022-01-05T04:34:10Z</dcterms:created>
  <dcterms:modified xsi:type="dcterms:W3CDTF">2025-10-29T18:18:34Z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2017-02-19T00:00:00Z</vt:filetime>
  </property>
  <property fmtid="{D5CDD505-2E9C-101B-9397-08002B2CF9AE}" pid="3" name="Creator">
    <vt:lpwstr>LaTeX with Beamer class version 3.27</vt:lpwstr>
  </property>
  <property fmtid="{D5CDD505-2E9C-101B-9397-08002B2CF9AE}" pid="4" name="LastSaved">
    <vt:filetime>2022-01-05T00:00:00Z</vt:filetime>
  </property>
</Properties>
</file>