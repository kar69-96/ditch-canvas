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429" r:id="rId3"/>
    <p:sldId id="417" r:id="rId4"/>
    <p:sldId id="418" r:id="rId5"/>
    <p:sldId id="419" r:id="rId6"/>
    <p:sldId id="433" r:id="rId7"/>
    <p:sldId id="434" r:id="rId8"/>
    <p:sldId id="435" r:id="rId9"/>
    <p:sldId id="422" r:id="rId10"/>
    <p:sldId id="432" r:id="rId11"/>
    <p:sldId id="436" r:id="rId12"/>
    <p:sldId id="420" r:id="rId13"/>
    <p:sldId id="430" r:id="rId14"/>
    <p:sldId id="437" r:id="rId15"/>
    <p:sldId id="431" r:id="rId16"/>
    <p:sldId id="438" r:id="rId17"/>
    <p:sldId id="439" r:id="rId18"/>
    <p:sldId id="427" r:id="rId19"/>
    <p:sldId id="440" r:id="rId20"/>
    <p:sldId id="426" r:id="rId21"/>
    <p:sldId id="441" r:id="rId2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6993"/>
    <a:srgbClr val="CEB67B"/>
    <a:srgbClr val="A0A2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69901-E92C-4C14-AFDE-20F06A360983}" v="39" dt="2025-09-15T17:19:25.66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22"/>
  </p:normalViewPr>
  <p:slideViewPr>
    <p:cSldViewPr snapToGrid="0">
      <p:cViewPr varScale="1">
        <p:scale>
          <a:sx n="108" d="100"/>
          <a:sy n="108" d="100"/>
        </p:scale>
        <p:origin x="678" y="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07E69901-E92C-4C14-AFDE-20F06A360983}"/>
    <pc:docChg chg="addSld modSld modMainMaster">
      <pc:chgData name="Ellen Burnes" userId="ca3eeb36-3cf7-49b7-874f-4993e3c98b53" providerId="ADAL" clId="{07E69901-E92C-4C14-AFDE-20F06A360983}" dt="2025-09-15T17:41:43.353" v="199" actId="20577"/>
      <pc:docMkLst>
        <pc:docMk/>
      </pc:docMkLst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1980285699" sldId="417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980285699" sldId="417"/>
            <ac:spMk id="4" creationId="{BF242841-6A52-B277-27D3-A54C620AC60D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3195274073" sldId="418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3195274073" sldId="418"/>
            <ac:spMk id="4" creationId="{CF316C31-8836-69A0-B90E-1E3075192887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1731447248" sldId="419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731447248" sldId="419"/>
            <ac:spMk id="4" creationId="{4487CC69-98AA-0319-C016-5A541CE0418C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788936924" sldId="420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788936924" sldId="420"/>
            <ac:spMk id="4" creationId="{1A49D776-C893-CD1D-DF10-8DC8A568F763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144015390" sldId="422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44015390" sldId="422"/>
            <ac:spMk id="4" creationId="{4DA4587F-B2F4-A94C-19F6-07A6A8C287B6}"/>
          </ac:spMkLst>
        </pc:spChg>
      </pc:sldChg>
      <pc:sldChg chg="modSp modAnim">
        <pc:chgData name="Ellen Burnes" userId="ca3eeb36-3cf7-49b7-874f-4993e3c98b53" providerId="ADAL" clId="{07E69901-E92C-4C14-AFDE-20F06A360983}" dt="2025-09-15T17:19:25.663" v="38" actId="20577"/>
        <pc:sldMkLst>
          <pc:docMk/>
          <pc:sldMk cId="113892818" sldId="426"/>
        </pc:sldMkLst>
        <pc:spChg chg="mod">
          <ac:chgData name="Ellen Burnes" userId="ca3eeb36-3cf7-49b7-874f-4993e3c98b53" providerId="ADAL" clId="{07E69901-E92C-4C14-AFDE-20F06A360983}" dt="2025-09-15T17:19:25.663" v="38" actId="20577"/>
          <ac:spMkLst>
            <pc:docMk/>
            <pc:sldMk cId="113892818" sldId="426"/>
            <ac:spMk id="3" creationId="{A37ED44E-E806-A5AA-E3C5-17766C0AAE45}"/>
          </ac:spMkLst>
        </pc:spChg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13892818" sldId="426"/>
            <ac:spMk id="4" creationId="{F09616EE-75F4-30A0-022C-2CD51309F340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195176250" sldId="427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195176250" sldId="427"/>
            <ac:spMk id="4" creationId="{A5D4B2DB-A2E0-262A-9EBB-A56D23E078FA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563782612" sldId="429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563782612" sldId="429"/>
            <ac:spMk id="4" creationId="{CFBB5F24-0A56-8E31-BFB8-7427FADF696C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254893040" sldId="430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254893040" sldId="430"/>
            <ac:spMk id="4" creationId="{83EDD001-2CA5-BE0E-E49F-818BD8E42FC3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799101750" sldId="431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799101750" sldId="431"/>
            <ac:spMk id="4" creationId="{CB7E7902-881A-BBC1-0317-EC3878BC1AE4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3482486702" sldId="432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3482486702" sldId="432"/>
            <ac:spMk id="4" creationId="{2F5D04C2-91B3-0F0A-39FA-C4E52C63DEED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4191140411" sldId="433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4191140411" sldId="433"/>
            <ac:spMk id="4" creationId="{F1FDC61F-D684-5522-9DE9-1B963A907454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379299263" sldId="434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379299263" sldId="434"/>
            <ac:spMk id="4" creationId="{CD78A0CF-DD60-5429-5585-F95D897B1649}"/>
          </ac:spMkLst>
        </pc:spChg>
      </pc:sldChg>
      <pc:sldChg chg="modSp mod">
        <pc:chgData name="Ellen Burnes" userId="ca3eeb36-3cf7-49b7-874f-4993e3c98b53" providerId="ADAL" clId="{07E69901-E92C-4C14-AFDE-20F06A360983}" dt="2025-09-15T17:41:43.353" v="199" actId="20577"/>
        <pc:sldMkLst>
          <pc:docMk/>
          <pc:sldMk cId="2891699806" sldId="435"/>
        </pc:sldMkLst>
        <pc:spChg chg="mod">
          <ac:chgData name="Ellen Burnes" userId="ca3eeb36-3cf7-49b7-874f-4993e3c98b53" providerId="ADAL" clId="{07E69901-E92C-4C14-AFDE-20F06A360983}" dt="2025-09-15T17:41:43.353" v="199" actId="20577"/>
          <ac:spMkLst>
            <pc:docMk/>
            <pc:sldMk cId="2891699806" sldId="435"/>
            <ac:spMk id="2" creationId="{8616CDD6-A5B1-0FB9-B660-5794F66F9468}"/>
          </ac:spMkLst>
        </pc:spChg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891699806" sldId="435"/>
            <ac:spMk id="4" creationId="{6F03E653-B791-DF70-72B3-5D6AAD90011D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3701934729" sldId="436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3701934729" sldId="436"/>
            <ac:spMk id="4" creationId="{7DFDBCA4-753B-318B-F7CE-2BECD06B2B39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1833469833" sldId="437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833469833" sldId="437"/>
            <ac:spMk id="4" creationId="{9416CD62-7C99-EF59-A724-4FCAA5AF679B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785317471" sldId="438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785317471" sldId="438"/>
            <ac:spMk id="4" creationId="{7D4F2E53-BD86-FF07-93F5-A853F791CB6A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2277778689" sldId="439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2277778689" sldId="439"/>
            <ac:spMk id="4" creationId="{92F1D85C-0A98-517B-19A2-571228E00CC0}"/>
          </ac:spMkLst>
        </pc:spChg>
      </pc:sldChg>
      <pc:sldChg chg="modSp">
        <pc:chgData name="Ellen Burnes" userId="ca3eeb36-3cf7-49b7-874f-4993e3c98b53" providerId="ADAL" clId="{07E69901-E92C-4C14-AFDE-20F06A360983}" dt="2025-09-15T17:18:17.934" v="0"/>
        <pc:sldMkLst>
          <pc:docMk/>
          <pc:sldMk cId="1102913911" sldId="440"/>
        </pc:sld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k cId="1102913911" sldId="440"/>
            <ac:spMk id="4" creationId="{4434CC6F-A943-8F33-5564-ECBAEDB56963}"/>
          </ac:spMkLst>
        </pc:spChg>
      </pc:sldChg>
      <pc:sldChg chg="modSp new mod">
        <pc:chgData name="Ellen Burnes" userId="ca3eeb36-3cf7-49b7-874f-4993e3c98b53" providerId="ADAL" clId="{07E69901-E92C-4C14-AFDE-20F06A360983}" dt="2025-09-15T17:24:46.033" v="124" actId="113"/>
        <pc:sldMkLst>
          <pc:docMk/>
          <pc:sldMk cId="2584156386" sldId="441"/>
        </pc:sldMkLst>
        <pc:spChg chg="mod">
          <ac:chgData name="Ellen Burnes" userId="ca3eeb36-3cf7-49b7-874f-4993e3c98b53" providerId="ADAL" clId="{07E69901-E92C-4C14-AFDE-20F06A360983}" dt="2025-09-15T17:21:27.537" v="50" actId="20577"/>
          <ac:spMkLst>
            <pc:docMk/>
            <pc:sldMk cId="2584156386" sldId="441"/>
            <ac:spMk id="2" creationId="{B6DCD58F-24DD-39E4-737E-1A6E0621A483}"/>
          </ac:spMkLst>
        </pc:spChg>
        <pc:spChg chg="mod">
          <ac:chgData name="Ellen Burnes" userId="ca3eeb36-3cf7-49b7-874f-4993e3c98b53" providerId="ADAL" clId="{07E69901-E92C-4C14-AFDE-20F06A360983}" dt="2025-09-15T17:24:46.033" v="124" actId="113"/>
          <ac:spMkLst>
            <pc:docMk/>
            <pc:sldMk cId="2584156386" sldId="441"/>
            <ac:spMk id="3" creationId="{059BB035-C337-D78E-AF37-9BDB6331B0C3}"/>
          </ac:spMkLst>
        </pc:spChg>
      </pc:sldChg>
      <pc:sldMasterChg chg="modSp modSldLayout">
        <pc:chgData name="Ellen Burnes" userId="ca3eeb36-3cf7-49b7-874f-4993e3c98b53" providerId="ADAL" clId="{07E69901-E92C-4C14-AFDE-20F06A360983}" dt="2025-09-15T17:18:17.934" v="0"/>
        <pc:sldMasterMkLst>
          <pc:docMk/>
          <pc:sldMasterMk cId="0" sldId="2147483648"/>
        </pc:sldMasterMkLst>
        <pc:spChg chg="mod">
          <ac:chgData name="Ellen Burnes" userId="ca3eeb36-3cf7-49b7-874f-4993e3c98b53" providerId="ADAL" clId="{07E69901-E92C-4C14-AFDE-20F06A360983}" dt="2025-09-15T17:18:17.934" v="0"/>
          <ac:spMkLst>
            <pc:docMk/>
            <pc:sldMasterMk cId="0" sldId="2147483648"/>
            <ac:spMk id="4" creationId="{00000000-0000-0000-0000-000000000000}"/>
          </ac:spMkLst>
        </pc:spChg>
        <pc:sldLayoutChg chg="modSp">
          <pc:chgData name="Ellen Burnes" userId="ca3eeb36-3cf7-49b7-874f-4993e3c98b53" providerId="ADAL" clId="{07E69901-E92C-4C14-AFDE-20F06A360983}" dt="2025-09-15T17:18:17.934" v="0"/>
          <pc:sldLayoutMkLst>
            <pc:docMk/>
            <pc:sldMasterMk cId="0" sldId="2147483648"/>
            <pc:sldLayoutMk cId="0" sldId="2147483661"/>
          </pc:sldLayoutMkLst>
          <pc:spChg chg="mod">
            <ac:chgData name="Ellen Burnes" userId="ca3eeb36-3cf7-49b7-874f-4993e3c98b53" providerId="ADAL" clId="{07E69901-E92C-4C14-AFDE-20F06A360983}" dt="2025-09-15T17:18:17.934" v="0"/>
            <ac:spMkLst>
              <pc:docMk/>
              <pc:sldMasterMk cId="0" sldId="2147483648"/>
              <pc:sldLayoutMk cId="0" sldId="2147483661"/>
              <ac:spMk id="4" creationId="{00000000-0000-0000-0000-000000000000}"/>
            </ac:spMkLst>
          </pc:spChg>
        </pc:sldLayoutChg>
        <pc:sldLayoutChg chg="modSp">
          <pc:chgData name="Ellen Burnes" userId="ca3eeb36-3cf7-49b7-874f-4993e3c98b53" providerId="ADAL" clId="{07E69901-E92C-4C14-AFDE-20F06A360983}" dt="2025-09-15T17:18:17.934" v="0"/>
          <pc:sldLayoutMkLst>
            <pc:docMk/>
            <pc:sldMasterMk cId="0" sldId="2147483648"/>
            <pc:sldLayoutMk cId="0" sldId="2147483662"/>
          </pc:sldLayoutMkLst>
          <pc:spChg chg="mod">
            <ac:chgData name="Ellen Burnes" userId="ca3eeb36-3cf7-49b7-874f-4993e3c98b53" providerId="ADAL" clId="{07E69901-E92C-4C14-AFDE-20F06A360983}" dt="2025-09-15T17:18:17.934" v="0"/>
            <ac:spMkLst>
              <pc:docMk/>
              <pc:sldMasterMk cId="0" sldId="2147483648"/>
              <pc:sldLayoutMk cId="0" sldId="2147483662"/>
              <ac:spMk id="4" creationId="{00000000-0000-0000-0000-000000000000}"/>
            </ac:spMkLst>
          </pc:spChg>
        </pc:sldLayoutChg>
        <pc:sldLayoutChg chg="modSp">
          <pc:chgData name="Ellen Burnes" userId="ca3eeb36-3cf7-49b7-874f-4993e3c98b53" providerId="ADAL" clId="{07E69901-E92C-4C14-AFDE-20F06A360983}" dt="2025-09-15T17:18:17.934" v="0"/>
          <pc:sldLayoutMkLst>
            <pc:docMk/>
            <pc:sldMasterMk cId="0" sldId="2147483648"/>
            <pc:sldLayoutMk cId="0" sldId="2147483663"/>
          </pc:sldLayoutMkLst>
          <pc:spChg chg="mod">
            <ac:chgData name="Ellen Burnes" userId="ca3eeb36-3cf7-49b7-874f-4993e3c98b53" providerId="ADAL" clId="{07E69901-E92C-4C14-AFDE-20F06A360983}" dt="2025-09-15T17:18:17.934" v="0"/>
            <ac:spMkLst>
              <pc:docMk/>
              <pc:sldMasterMk cId="0" sldId="2147483648"/>
              <pc:sldLayoutMk cId="0" sldId="2147483663"/>
              <ac:spMk id="5" creationId="{00000000-0000-0000-0000-000000000000}"/>
            </ac:spMkLst>
          </pc:spChg>
        </pc:sldLayoutChg>
        <pc:sldLayoutChg chg="modSp">
          <pc:chgData name="Ellen Burnes" userId="ca3eeb36-3cf7-49b7-874f-4993e3c98b53" providerId="ADAL" clId="{07E69901-E92C-4C14-AFDE-20F06A360983}" dt="2025-09-15T17:18:17.934" v="0"/>
          <pc:sldLayoutMkLst>
            <pc:docMk/>
            <pc:sldMasterMk cId="0" sldId="2147483648"/>
            <pc:sldLayoutMk cId="0" sldId="2147483664"/>
          </pc:sldLayoutMkLst>
          <pc:spChg chg="mod">
            <ac:chgData name="Ellen Burnes" userId="ca3eeb36-3cf7-49b7-874f-4993e3c98b53" providerId="ADAL" clId="{07E69901-E92C-4C14-AFDE-20F06A360983}" dt="2025-09-15T17:18:17.934" v="0"/>
            <ac:spMkLst>
              <pc:docMk/>
              <pc:sldMasterMk cId="0" sldId="2147483648"/>
              <pc:sldLayoutMk cId="0" sldId="2147483664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2022</a:t>
            </a:r>
            <a:endParaRPr spc="-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3751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Bob’s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Baloney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0EF0-065E-36EC-D9C9-487D2F77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FIN CALC 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84ED3-A738-05F5-22F9-EC7C12FAE0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354217"/>
              </a:xfrm>
            </p:spPr>
            <p:txBody>
              <a:bodyPr/>
              <a:lstStyle/>
              <a:p>
                <a:r>
                  <a:rPr lang="en-US" dirty="0"/>
                  <a:t>NOPAT: </a:t>
                </a:r>
                <a:r>
                  <a:rPr lang="en-US" i="1" dirty="0"/>
                  <a:t>Net Operating Profits After Tax</a:t>
                </a:r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𝑁𝑂𝑃𝐴𝑇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𝑂𝑝𝑒𝑟𝑎𝑡𝑖𝑛𝑔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𝑃𝑟𝑜𝑓𝑖𝑡𝑠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𝑟𝑎𝑡𝑒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When we use NOPAT we are looking at performance without impact of capital structure.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A84ED3-A738-05F5-22F9-EC7C12FAE0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354217"/>
              </a:xfrm>
              <a:blipFill>
                <a:blip r:embed="rId2"/>
                <a:stretch>
                  <a:fillRect l="-2035" t="-3738" b="-5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B5F24-0A56-8E31-BFB8-7427FADF696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16125-79EA-E7F9-7862-AF5172DB19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6378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07858-690E-0B5B-873B-735DD6122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Baloney (aka Bologna)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42841-6A52-B277-27D3-A54C620AC60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2ECC5-A64D-4FBA-6601-ED484D623D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  <p:pic>
        <p:nvPicPr>
          <p:cNvPr id="1026" name="Picture 2" descr="4,100+ Baloney Stock Photos, Pictures ...">
            <a:extLst>
              <a:ext uri="{FF2B5EF4-FFF2-40B4-BE49-F238E27FC236}">
                <a16:creationId xmlns:a16="http://schemas.microsoft.com/office/drawing/2014/main" id="{DA1B06E3-93D3-BE10-4DAE-419D11A27C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87"/>
          <a:stretch/>
        </p:blipFill>
        <p:spPr bwMode="auto">
          <a:xfrm>
            <a:off x="172571" y="405739"/>
            <a:ext cx="2467259" cy="143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-Baloney Best Baloney Sandwich Shootout">
            <a:extLst>
              <a:ext uri="{FF2B5EF4-FFF2-40B4-BE49-F238E27FC236}">
                <a16:creationId xmlns:a16="http://schemas.microsoft.com/office/drawing/2014/main" id="{85663F6F-91CC-ABD8-7B3B-901559730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997" y="592199"/>
            <a:ext cx="2055532" cy="1533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per Baloney Sandwich - Harleys, Cars ...">
            <a:extLst>
              <a:ext uri="{FF2B5EF4-FFF2-40B4-BE49-F238E27FC236}">
                <a16:creationId xmlns:a16="http://schemas.microsoft.com/office/drawing/2014/main" id="{BEA35E07-C988-4D57-F3AC-D3B5BBDA7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32" y="1631727"/>
            <a:ext cx="1411921" cy="164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277 Baloney Meat Stock Photos, High-Res ...">
            <a:extLst>
              <a:ext uri="{FF2B5EF4-FFF2-40B4-BE49-F238E27FC236}">
                <a16:creationId xmlns:a16="http://schemas.microsoft.com/office/drawing/2014/main" id="{3466FA2D-12CF-9A99-BE64-00402284F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997" y="2012460"/>
            <a:ext cx="1894492" cy="1260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028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8DD7-1004-CDEA-6C7E-7A9EEE21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History….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8A581-D9C8-F966-F9F3-3F3CAB4FE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dirty="0"/>
              <a:t>1920’s Bob’s Founded in Philadelphia by Slovenian Immigrant, Bob </a:t>
            </a:r>
            <a:r>
              <a:rPr lang="en-US" dirty="0" err="1"/>
              <a:t>Klobase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Crafts bologna at the very highest level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Has greater than 50% of </a:t>
            </a:r>
            <a:r>
              <a:rPr lang="en-US" b="1" dirty="0"/>
              <a:t>High End </a:t>
            </a:r>
            <a:r>
              <a:rPr lang="en-US" dirty="0"/>
              <a:t>Market Share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16C31-8836-69A0-B90E-1E30751928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5E297-2787-F239-B386-C854093FA7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19527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8716-52A4-EF07-F7AF-42BE4F495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pPr algn="r"/>
            <a:r>
              <a:rPr lang="en-US" dirty="0"/>
              <a:t>… and where we are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57E10-70AD-2B9B-1D8D-652407951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b="1" dirty="0"/>
              <a:t>2017</a:t>
            </a:r>
            <a:r>
              <a:rPr lang="en-US" dirty="0"/>
              <a:t> New Green Hills Facility Investment plus apparent additional machinery investments since then for ~ $200M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TODAY, early 2020</a:t>
            </a:r>
          </a:p>
          <a:p>
            <a:r>
              <a:rPr lang="en-US" dirty="0"/>
              <a:t>Veronica Mino, Managing Director of Diaz Internacional, an </a:t>
            </a:r>
            <a:r>
              <a:rPr lang="en-US" dirty="0" err="1"/>
              <a:t>Argnentine</a:t>
            </a:r>
            <a:r>
              <a:rPr lang="en-US" dirty="0"/>
              <a:t> food conglomerate that owns </a:t>
            </a:r>
            <a:r>
              <a:rPr lang="en-US" b="1" dirty="0"/>
              <a:t>30% of the equity shares </a:t>
            </a:r>
            <a:r>
              <a:rPr lang="en-US" dirty="0"/>
              <a:t>in Bobs has made public her displeasure with Bobs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87CC69-98AA-0319-C016-5A541CE0418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A65A8-A2BB-7B12-789F-1A7F601FF3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73144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8145-2388-8BD0-0EF0-FF25244E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" y="168536"/>
            <a:ext cx="3819779" cy="430887"/>
          </a:xfrm>
        </p:spPr>
        <p:txBody>
          <a:bodyPr/>
          <a:lstStyle/>
          <a:p>
            <a:r>
              <a:rPr lang="en-US" dirty="0"/>
              <a:t>Some Background and Market Insight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BA5A6-A6D5-4187-2DC0-778096913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DC61F-D684-5522-9DE9-1B963A90745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476F3-6565-AF8F-CF06-073521EC6A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  <p:pic>
        <p:nvPicPr>
          <p:cNvPr id="7" name="Picture 6" descr="A graph of a number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7CA84E3B-7D90-9BDA-589A-4132431C20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3" y="433380"/>
            <a:ext cx="4038964" cy="300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8294-9C8F-B7A3-C645-A9E4D2CD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4750" y="163597"/>
            <a:ext cx="1628311" cy="1651854"/>
          </a:xfrm>
        </p:spPr>
        <p:txBody>
          <a:bodyPr/>
          <a:lstStyle/>
          <a:p>
            <a:r>
              <a:rPr lang="en-US" dirty="0"/>
              <a:t>What is the implication of this Brands Summary for Bob?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8A0CF-DD60-5429-5585-F95D897B16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AB8C1-E7D0-BFEF-45D6-78C06B2966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  <p:pic>
        <p:nvPicPr>
          <p:cNvPr id="9" name="Picture 8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A15B7377-80CE-704E-3D84-517F6EC368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20"/>
            <a:ext cx="2775261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9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CDD6-A5B1-0FB9-B660-5794F66F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19" y="224738"/>
            <a:ext cx="3153410" cy="430887"/>
          </a:xfrm>
        </p:spPr>
        <p:txBody>
          <a:bodyPr/>
          <a:lstStyle/>
          <a:p>
            <a:r>
              <a:rPr lang="en-US" dirty="0"/>
              <a:t>3 Teams, within each Team, 3 groups (see spreadsheet for each </a:t>
            </a:r>
            <a:r>
              <a:rPr lang="en-US"/>
              <a:t>of you)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3E653-B791-DF70-72B3-5D6AAD90011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6AED5-0DB0-42A0-BF1D-97C37BE7FE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4A85BB-38C6-4BF1-5D18-9992808833DF}"/>
              </a:ext>
            </a:extLst>
          </p:cNvPr>
          <p:cNvSpPr/>
          <p:nvPr/>
        </p:nvSpPr>
        <p:spPr>
          <a:xfrm>
            <a:off x="172459" y="687469"/>
            <a:ext cx="1107960" cy="533956"/>
          </a:xfrm>
          <a:prstGeom prst="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A0A2A1"/>
                </a:highlight>
              </a:rPr>
              <a:t>Bob’s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48E2C7-7EE3-B287-537D-C26346BEA031}"/>
              </a:ext>
            </a:extLst>
          </p:cNvPr>
          <p:cNvSpPr/>
          <p:nvPr/>
        </p:nvSpPr>
        <p:spPr>
          <a:xfrm>
            <a:off x="1663505" y="687469"/>
            <a:ext cx="1107960" cy="533956"/>
          </a:xfrm>
          <a:prstGeom prst="rect">
            <a:avLst/>
          </a:prstGeom>
          <a:solidFill>
            <a:srgbClr val="5169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Spangler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C488F1-00A3-42C7-915B-1CDDF5B1F52E}"/>
              </a:ext>
            </a:extLst>
          </p:cNvPr>
          <p:cNvSpPr/>
          <p:nvPr/>
        </p:nvSpPr>
        <p:spPr>
          <a:xfrm>
            <a:off x="1683954" y="1341193"/>
            <a:ext cx="1107960" cy="1508797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DuPont Elements Over Time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DuPont Ratio Over Time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Cap Structure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/>
              <a:t>Coverage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C8ACC-E3D3-6053-9FB9-C1E66ABCC1AE}"/>
              </a:ext>
            </a:extLst>
          </p:cNvPr>
          <p:cNvSpPr/>
          <p:nvPr/>
        </p:nvSpPr>
        <p:spPr>
          <a:xfrm>
            <a:off x="183619" y="1341191"/>
            <a:ext cx="1107960" cy="1508797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Scorecard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Other Values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724109-1206-9725-EDF1-3D6293DAAEA4}"/>
              </a:ext>
            </a:extLst>
          </p:cNvPr>
          <p:cNvSpPr/>
          <p:nvPr/>
        </p:nvSpPr>
        <p:spPr>
          <a:xfrm>
            <a:off x="3136892" y="680795"/>
            <a:ext cx="1107960" cy="53395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Mino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7BBA24-9AA1-3ECF-A7F0-BDF5A9E405A8}"/>
              </a:ext>
            </a:extLst>
          </p:cNvPr>
          <p:cNvSpPr/>
          <p:nvPr/>
        </p:nvSpPr>
        <p:spPr>
          <a:xfrm>
            <a:off x="3136892" y="1334518"/>
            <a:ext cx="1107960" cy="1508797"/>
          </a:xfrm>
          <a:prstGeom prst="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Comps – Bob’s position over time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Fin Trends</a:t>
            </a:r>
          </a:p>
          <a:p>
            <a:pPr marL="80010" indent="-80010">
              <a:buFont typeface="Arial" panose="020B0604020202020204" pitchFamily="34" charset="0"/>
              <a:buChar char="•"/>
            </a:pPr>
            <a:r>
              <a:rPr lang="en-US" sz="1100" dirty="0"/>
              <a:t>Return Metrics</a:t>
            </a:r>
          </a:p>
        </p:txBody>
      </p:sp>
    </p:spTree>
    <p:extLst>
      <p:ext uri="{BB962C8B-B14F-4D97-AF65-F5344CB8AC3E}">
        <p14:creationId xmlns:p14="http://schemas.microsoft.com/office/powerpoint/2010/main" val="289169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3A3C-9CF4-0C92-5E86-B56B0D15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46" y="190295"/>
            <a:ext cx="4128247" cy="861774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Question: What was Bob’s management’s goal/objective with the new facility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51120-FB7A-F69C-9B88-7389F83E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1143774"/>
            <a:ext cx="4357623" cy="769441"/>
          </a:xfrm>
        </p:spPr>
        <p:txBody>
          <a:bodyPr/>
          <a:lstStyle/>
          <a:p>
            <a:r>
              <a:rPr lang="en-US" sz="1400" b="1" dirty="0">
                <a:solidFill>
                  <a:srgbClr val="516993"/>
                </a:solidFill>
              </a:rPr>
              <a:t>For Example:</a:t>
            </a:r>
          </a:p>
          <a:p>
            <a:r>
              <a:rPr lang="en-US" sz="1400" b="1" dirty="0">
                <a:solidFill>
                  <a:srgbClr val="516993"/>
                </a:solidFill>
              </a:rPr>
              <a:t>Our plan is working! Revenue is Increasing!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A4587F-B2F4-A94C-19F6-07A6A8C287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451F4-FC6A-555C-EB5A-F43B117D2F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B58ED6-2148-4496-CB4F-DB18E7AE1760}"/>
              </a:ext>
            </a:extLst>
          </p:cNvPr>
          <p:cNvSpPr txBox="1">
            <a:spLocks/>
          </p:cNvSpPr>
          <p:nvPr/>
        </p:nvSpPr>
        <p:spPr>
          <a:xfrm>
            <a:off x="72842" y="2058316"/>
            <a:ext cx="315341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How to evaluate success relative to goal?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055102-C57A-E77C-47F0-1698FB40E331}"/>
              </a:ext>
            </a:extLst>
          </p:cNvPr>
          <p:cNvSpPr/>
          <p:nvPr/>
        </p:nvSpPr>
        <p:spPr>
          <a:xfrm>
            <a:off x="0" y="26771"/>
            <a:ext cx="708569" cy="327048"/>
          </a:xfrm>
          <a:prstGeom prst="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A0A2A1"/>
                </a:highlight>
              </a:rPr>
              <a:t>Bob’s</a:t>
            </a:r>
          </a:p>
        </p:txBody>
      </p:sp>
    </p:spTree>
    <p:extLst>
      <p:ext uri="{BB962C8B-B14F-4D97-AF65-F5344CB8AC3E}">
        <p14:creationId xmlns:p14="http://schemas.microsoft.com/office/powerpoint/2010/main" val="14401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081B-5642-CFB3-A6DD-E3F23B81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Bob’s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D34191-47A8-0056-9DE2-8D82B0E2E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r>
              <a:rPr lang="en-US" dirty="0"/>
              <a:t>This is a Scorecard.</a:t>
            </a:r>
          </a:p>
          <a:p>
            <a:r>
              <a:rPr lang="en-US" dirty="0"/>
              <a:t>Feel Free to Modify.</a:t>
            </a:r>
          </a:p>
          <a:p>
            <a:endParaRPr lang="en-US" dirty="0"/>
          </a:p>
          <a:p>
            <a:r>
              <a:rPr lang="en-US" dirty="0"/>
              <a:t>As a result of your insight gained by understanding Bob’s values, what do you suggest may be happening?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D04C2-91B3-0F0A-39FA-C4E52C63DEE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B7AFF-B64B-FD34-DF7A-4F64B174B6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2FB2A8-B3A5-72B6-90A1-7C81EFB415DD}"/>
              </a:ext>
            </a:extLst>
          </p:cNvPr>
          <p:cNvSpPr/>
          <p:nvPr/>
        </p:nvSpPr>
        <p:spPr>
          <a:xfrm>
            <a:off x="0" y="26771"/>
            <a:ext cx="708569" cy="327048"/>
          </a:xfrm>
          <a:prstGeom prst="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A0A2A1"/>
                </a:highlight>
              </a:rPr>
              <a:t>Bob’s</a:t>
            </a:r>
          </a:p>
        </p:txBody>
      </p:sp>
    </p:spTree>
    <p:extLst>
      <p:ext uri="{BB962C8B-B14F-4D97-AF65-F5344CB8AC3E}">
        <p14:creationId xmlns:p14="http://schemas.microsoft.com/office/powerpoint/2010/main" val="3482486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0948-0427-AA27-0639-7FA313F54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Bob Valuation Tab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CBD82-B21F-06A7-B3F4-7159F8E8F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r>
              <a:rPr lang="en-US" dirty="0"/>
              <a:t>While we don’t know when Mino bought 30% of the equity shares, let’s imagine that she did it in 2015.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Mino valued Bob’s at a 3xmultiple of NOPAT, how much was Bob’s worth in 2015?</a:t>
            </a:r>
          </a:p>
          <a:p>
            <a:endParaRPr lang="en-US" dirty="0"/>
          </a:p>
          <a:p>
            <a:r>
              <a:rPr lang="en-US" dirty="0"/>
              <a:t>What was her 30% worth. This would be considered AUM.</a:t>
            </a:r>
          </a:p>
          <a:p>
            <a:r>
              <a:rPr lang="en-US" dirty="0"/>
              <a:t>Using same methods, what is her share worth in 2019?</a:t>
            </a:r>
          </a:p>
          <a:p>
            <a:endParaRPr lang="en-US" dirty="0"/>
          </a:p>
          <a:p>
            <a:r>
              <a:rPr lang="en-US" dirty="0"/>
              <a:t>What is her gain/loss on this endeavor?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DBCA4-753B-318B-F7CE-2BECD06B2B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5CFA7-2BE7-1E7B-6FCB-AA55011BDC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DC0FEF-679D-1370-5144-E60F0BE7952C}"/>
              </a:ext>
            </a:extLst>
          </p:cNvPr>
          <p:cNvSpPr/>
          <p:nvPr/>
        </p:nvSpPr>
        <p:spPr>
          <a:xfrm>
            <a:off x="0" y="26771"/>
            <a:ext cx="708569" cy="327048"/>
          </a:xfrm>
          <a:prstGeom prst="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highlight>
                  <a:srgbClr val="A0A2A1"/>
                </a:highlight>
              </a:rPr>
              <a:t>Bob’s</a:t>
            </a:r>
          </a:p>
        </p:txBody>
      </p:sp>
    </p:spTree>
    <p:extLst>
      <p:ext uri="{BB962C8B-B14F-4D97-AF65-F5344CB8AC3E}">
        <p14:creationId xmlns:p14="http://schemas.microsoft.com/office/powerpoint/2010/main" val="370193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C673-2F53-E3CD-5B14-8E44417F7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419" y="229949"/>
            <a:ext cx="3153410" cy="215444"/>
          </a:xfrm>
        </p:spPr>
        <p:txBody>
          <a:bodyPr/>
          <a:lstStyle/>
          <a:p>
            <a:r>
              <a:rPr lang="en-US" dirty="0"/>
              <a:t>Recall the Dupont Ratio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9D776-C893-CD1D-DF10-8DC8A568F76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DD559-F8A2-2276-04DC-76C4B8A65B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C412F2E6-A678-59EA-A77B-B3A0AEA0FFE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87044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𝑅𝑂𝐸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𝑁𝑒𝑡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𝐼𝑛𝑐𝑜𝑚𝑒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𝐸𝑞𝑢𝑖𝑡𝑦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Mino is concerned about ROE.</a:t>
                </a:r>
              </a:p>
              <a:p>
                <a:r>
                  <a:rPr lang="en-US" dirty="0"/>
                  <a:t>Though Amanda may recognize the validity of her concern, she wants to get to the root of the problem and breaks the ROE into</a:t>
                </a:r>
              </a:p>
              <a:p>
                <a:endParaRPr lang="en-US" dirty="0"/>
              </a:p>
              <a:p>
                <a:r>
                  <a:rPr lang="en-US" dirty="0"/>
                  <a:t>Profitability</a:t>
                </a:r>
              </a:p>
              <a:p>
                <a:r>
                  <a:rPr lang="en-US" dirty="0"/>
                  <a:t>Asset Efficiency</a:t>
                </a:r>
              </a:p>
              <a:p>
                <a:r>
                  <a:rPr lang="en-US" dirty="0"/>
                  <a:t>Equity Multiplier</a:t>
                </a:r>
              </a:p>
            </p:txBody>
          </p:sp>
        </mc:Choice>
        <mc:Fallback xmlns="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C412F2E6-A678-59EA-A77B-B3A0AEA0FFE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1870448"/>
              </a:xfrm>
              <a:prstGeom prst="rect">
                <a:avLst/>
              </a:prstGeom>
              <a:blipFill>
                <a:blip r:embed="rId2"/>
                <a:stretch>
                  <a:fillRect l="-2035" t="-2027" r="-1163" b="-3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D919822-B1FD-4B4E-F571-239D9A6BBD0A}"/>
              </a:ext>
            </a:extLst>
          </p:cNvPr>
          <p:cNvSpPr/>
          <p:nvPr/>
        </p:nvSpPr>
        <p:spPr>
          <a:xfrm>
            <a:off x="0" y="26200"/>
            <a:ext cx="854330" cy="266978"/>
          </a:xfrm>
          <a:prstGeom prst="rect">
            <a:avLst/>
          </a:prstGeom>
          <a:solidFill>
            <a:srgbClr val="5169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Spangler</a:t>
            </a:r>
          </a:p>
        </p:txBody>
      </p:sp>
    </p:spTree>
    <p:extLst>
      <p:ext uri="{BB962C8B-B14F-4D97-AF65-F5344CB8AC3E}">
        <p14:creationId xmlns:p14="http://schemas.microsoft.com/office/powerpoint/2010/main" val="278893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1787F-5585-5107-0788-F4717B89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045" y="215830"/>
            <a:ext cx="3153410" cy="215444"/>
          </a:xfrm>
        </p:spPr>
        <p:txBody>
          <a:bodyPr/>
          <a:lstStyle/>
          <a:p>
            <a:r>
              <a:rPr lang="en-US" dirty="0"/>
              <a:t>DuPont Page – Spangler’s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9FF0D-3522-1C27-6BDF-1D4CD9930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539157"/>
          </a:xfrm>
        </p:spPr>
        <p:txBody>
          <a:bodyPr/>
          <a:lstStyle/>
          <a:p>
            <a:r>
              <a:rPr lang="en-US" dirty="0"/>
              <a:t>Build out the Dupont Elements and correspondingly ROE</a:t>
            </a:r>
          </a:p>
          <a:p>
            <a:endParaRPr lang="en-US" dirty="0"/>
          </a:p>
          <a:p>
            <a:r>
              <a:rPr lang="en-US" dirty="0"/>
              <a:t>What is driving ROE?</a:t>
            </a:r>
          </a:p>
          <a:p>
            <a:endParaRPr lang="en-US" dirty="0"/>
          </a:p>
          <a:p>
            <a:r>
              <a:rPr lang="en-US" dirty="0"/>
              <a:t>What is the implication of the Asset Efficacy calculation?</a:t>
            </a:r>
          </a:p>
          <a:p>
            <a:endParaRPr lang="en-US" dirty="0"/>
          </a:p>
          <a:p>
            <a:r>
              <a:rPr lang="en-US" dirty="0"/>
              <a:t>Finally, consider Liquidity and Coverage Ratios.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Prepare to report findings to team – think about headlines like:</a:t>
            </a:r>
          </a:p>
          <a:p>
            <a:r>
              <a:rPr lang="en-US" dirty="0"/>
              <a:t>”In 2015 Bobs had 13.7% net profitability and a TIE ratio of 37.8</a:t>
            </a:r>
          </a:p>
          <a:p>
            <a:r>
              <a:rPr lang="en-US" dirty="0"/>
              <a:t>While in 2019, Bobs has 2% net profitability and 2.27 TIE ratio.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DD001-2CA5-BE0E-E49F-818BD8E42F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92760-7D4F-A075-94D3-140F0BD650D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3440B-62FA-E11A-2436-D6C228B3CDBE}"/>
              </a:ext>
            </a:extLst>
          </p:cNvPr>
          <p:cNvSpPr/>
          <p:nvPr/>
        </p:nvSpPr>
        <p:spPr>
          <a:xfrm>
            <a:off x="0" y="8644"/>
            <a:ext cx="854330" cy="266978"/>
          </a:xfrm>
          <a:prstGeom prst="rect">
            <a:avLst/>
          </a:prstGeom>
          <a:solidFill>
            <a:srgbClr val="5169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Spangler</a:t>
            </a:r>
          </a:p>
        </p:txBody>
      </p:sp>
    </p:spTree>
    <p:extLst>
      <p:ext uri="{BB962C8B-B14F-4D97-AF65-F5344CB8AC3E}">
        <p14:creationId xmlns:p14="http://schemas.microsoft.com/office/powerpoint/2010/main" val="2254893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13434-A31C-23B1-C2C2-1D04C241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859" y="225099"/>
            <a:ext cx="3153410" cy="215444"/>
          </a:xfrm>
        </p:spPr>
        <p:txBody>
          <a:bodyPr/>
          <a:lstStyle/>
          <a:p>
            <a:r>
              <a:rPr lang="en-US" dirty="0"/>
              <a:t>Recall the power of the Dupont Ratio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D5762-A06C-D0C8-E2A6-69187B41A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539157"/>
          </a:xfrm>
        </p:spPr>
        <p:txBody>
          <a:bodyPr/>
          <a:lstStyle/>
          <a:p>
            <a:r>
              <a:rPr lang="en-US" dirty="0"/>
              <a:t>And give an insight/recommendation on:</a:t>
            </a:r>
          </a:p>
          <a:p>
            <a:endParaRPr lang="en-US" dirty="0"/>
          </a:p>
          <a:p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Operations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Asset Efficiency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r>
              <a:rPr lang="en-US" dirty="0"/>
              <a:t>Capital Structure</a:t>
            </a:r>
          </a:p>
          <a:p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?? How can you tell Mina that you know what to do to fix this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6CD62-7C99-EF59-A724-4FCAA5AF679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2C6EC-0B1A-2DCA-E9A0-122F3F16A9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C1D33-752B-6F81-2DC0-5F7B3344999B}"/>
              </a:ext>
            </a:extLst>
          </p:cNvPr>
          <p:cNvSpPr/>
          <p:nvPr/>
        </p:nvSpPr>
        <p:spPr>
          <a:xfrm>
            <a:off x="0" y="19803"/>
            <a:ext cx="854330" cy="266978"/>
          </a:xfrm>
          <a:prstGeom prst="rect">
            <a:avLst/>
          </a:prstGeom>
          <a:solidFill>
            <a:srgbClr val="5169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Spangler</a:t>
            </a:r>
          </a:p>
        </p:txBody>
      </p:sp>
    </p:spTree>
    <p:extLst>
      <p:ext uri="{BB962C8B-B14F-4D97-AF65-F5344CB8AC3E}">
        <p14:creationId xmlns:p14="http://schemas.microsoft.com/office/powerpoint/2010/main" val="183346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8B12-548E-D08B-E639-15A85D42B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Comps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1B043-7D8C-A74E-02A2-CD582D67A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r>
              <a:rPr lang="en-US" dirty="0"/>
              <a:t>Set the stage with the Comps. </a:t>
            </a:r>
          </a:p>
          <a:p>
            <a:r>
              <a:rPr lang="en-US" dirty="0"/>
              <a:t>Show Where Bob fit in 2015 and now in 2019</a:t>
            </a:r>
          </a:p>
          <a:p>
            <a:endParaRPr lang="en-US" dirty="0"/>
          </a:p>
          <a:p>
            <a:r>
              <a:rPr lang="en-US" dirty="0"/>
              <a:t>Prepare to give a Tough Bottom Line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E7902-881A-BBC1-0317-EC3878BC1AE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DDEDA3-0425-6429-67CA-1B2CB855B8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9A089-A865-40C8-4F3D-58AADB7756C1}"/>
              </a:ext>
            </a:extLst>
          </p:cNvPr>
          <p:cNvSpPr/>
          <p:nvPr/>
        </p:nvSpPr>
        <p:spPr>
          <a:xfrm>
            <a:off x="0" y="0"/>
            <a:ext cx="572014" cy="2870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Mino</a:t>
            </a:r>
          </a:p>
        </p:txBody>
      </p:sp>
    </p:spTree>
    <p:extLst>
      <p:ext uri="{BB962C8B-B14F-4D97-AF65-F5344CB8AC3E}">
        <p14:creationId xmlns:p14="http://schemas.microsoft.com/office/powerpoint/2010/main" val="2799101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29E9-4B9F-40CE-2BB5-F8B27082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Mino Return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6D6D8-F28E-7212-7F9C-D8AA1E893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dirty="0"/>
              <a:t>Complete the Table for:</a:t>
            </a:r>
          </a:p>
          <a:p>
            <a:r>
              <a:rPr lang="en-US" dirty="0"/>
              <a:t>ROA</a:t>
            </a:r>
          </a:p>
          <a:p>
            <a:r>
              <a:rPr lang="en-US" dirty="0"/>
              <a:t>Rev/Assets</a:t>
            </a:r>
          </a:p>
          <a:p>
            <a:r>
              <a:rPr lang="en-US" dirty="0"/>
              <a:t>Rev/PPE (distinguish PPE from Total Assets!!)</a:t>
            </a:r>
          </a:p>
          <a:p>
            <a:r>
              <a:rPr lang="en-US" dirty="0"/>
              <a:t>ROSGA (this is Return on SGA as measured by Net Income(Profits))</a:t>
            </a:r>
          </a:p>
          <a:p>
            <a:r>
              <a:rPr lang="en-US" i="1" dirty="0"/>
              <a:t>Recall Bob’s reputation for fabulous Marketing campaigns</a:t>
            </a:r>
            <a:endParaRPr lang="en-US" dirty="0"/>
          </a:p>
          <a:p>
            <a:endParaRPr lang="en-US" i="1" dirty="0"/>
          </a:p>
          <a:p>
            <a:r>
              <a:rPr lang="en-US" dirty="0"/>
              <a:t>If you are Mino, what questions do you have/what changes are you going to ‘demand’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4F2E53-BD86-FF07-93F5-A853F791CB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F7765-1EE0-08C3-E699-7A4154B19A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7CD9D-DDE0-6C94-2F74-ADFF9F921164}"/>
              </a:ext>
            </a:extLst>
          </p:cNvPr>
          <p:cNvSpPr/>
          <p:nvPr/>
        </p:nvSpPr>
        <p:spPr>
          <a:xfrm>
            <a:off x="0" y="0"/>
            <a:ext cx="572014" cy="28700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Mino</a:t>
            </a:r>
          </a:p>
        </p:txBody>
      </p:sp>
    </p:spTree>
    <p:extLst>
      <p:ext uri="{BB962C8B-B14F-4D97-AF65-F5344CB8AC3E}">
        <p14:creationId xmlns:p14="http://schemas.microsoft.com/office/powerpoint/2010/main" val="785317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2428-55F8-BD5B-1078-5FFFF59D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So, Where are We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2D936-2F0A-B8F5-FA73-B6E34649E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 dirty="0"/>
              <a:t>Team Bob Update</a:t>
            </a:r>
          </a:p>
          <a:p>
            <a:endParaRPr lang="en-US" dirty="0"/>
          </a:p>
          <a:p>
            <a:r>
              <a:rPr lang="en-US" dirty="0"/>
              <a:t>Team Spangler Update</a:t>
            </a:r>
          </a:p>
          <a:p>
            <a:endParaRPr lang="en-US" dirty="0"/>
          </a:p>
          <a:p>
            <a:r>
              <a:rPr lang="en-US" dirty="0"/>
              <a:t>Team Mino Update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1D85C-0A98-517B-19A2-571228E00CC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D0779-89A2-AC80-20AC-A29177165E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27777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2218-2471-F5AF-0122-C20F3538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190295"/>
            <a:ext cx="3753611" cy="430887"/>
          </a:xfrm>
        </p:spPr>
        <p:txBody>
          <a:bodyPr/>
          <a:lstStyle/>
          <a:p>
            <a:r>
              <a:rPr lang="en-US" b="1" kern="0" dirty="0">
                <a:solidFill>
                  <a:srgbClr val="516993"/>
                </a:solidFill>
              </a:rPr>
              <a:t>Mino’s Comments… and framing the response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B2DB-A2E0-262A-9EBB-A56D23E078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63BA5-E920-4345-171C-46AD0E37779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9B75C5-494F-6B3E-F6C8-E659D061B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238" y="821044"/>
            <a:ext cx="4357623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Tx/>
              <a:buAutoNum type="arabicParenR"/>
            </a:pPr>
            <a:r>
              <a:rPr lang="en-US" kern="0" dirty="0"/>
              <a:t>Does Financial Performance Matter? – what do you want to see?</a:t>
            </a:r>
          </a:p>
          <a:p>
            <a:pPr marL="228600" indent="-228600">
              <a:buFontTx/>
              <a:buAutoNum type="arabicParenR"/>
            </a:pPr>
            <a:endParaRPr lang="en-US" kern="0" dirty="0"/>
          </a:p>
          <a:p>
            <a:pPr marL="228600" indent="-228600">
              <a:buFontTx/>
              <a:buAutoNum type="arabicParenR"/>
            </a:pPr>
            <a:r>
              <a:rPr lang="en-US" kern="0" dirty="0"/>
              <a:t>Is the powerhouse brand making money? How might you reframe Mino’s assertion/question? How might you measure performance accordingly?</a:t>
            </a:r>
          </a:p>
          <a:p>
            <a:pPr marL="228600" indent="-228600">
              <a:buFontTx/>
              <a:buAutoNum type="arabicParenR"/>
            </a:pPr>
            <a:endParaRPr lang="en-US" kern="0" dirty="0"/>
          </a:p>
          <a:p>
            <a:pPr marL="228600" indent="-228600">
              <a:buFontTx/>
              <a:buAutoNum type="arabicParenR"/>
            </a:pPr>
            <a:r>
              <a:rPr lang="en-US" kern="0" dirty="0"/>
              <a:t>What is a decent return? – we won’t do this calculation today, but what might some elements be that you would include in this calculation? – consider impact of leverage here</a:t>
            </a:r>
          </a:p>
          <a:p>
            <a:pPr marL="228600" indent="-228600">
              <a:buFontTx/>
              <a:buAutoNum type="arabicParenR"/>
            </a:pPr>
            <a:endParaRPr lang="en-US" kern="0" dirty="0"/>
          </a:p>
          <a:p>
            <a:pPr marL="228600" indent="-228600">
              <a:buFontTx/>
              <a:buAutoNum type="arabicParenR"/>
            </a:pPr>
            <a:r>
              <a:rPr lang="en-US" dirty="0"/>
              <a:t>How might you respond to her decent return comment based on the Comps Eval?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1951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143E-9B2D-2851-9293-96A5D5AF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Recommendations?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E7D70-0F3F-E664-B909-3F6960569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34CC6F-A943-8F33-5564-ECBAEDB5696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8526F-3066-E3DD-DE60-599FB638C3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102913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BECB3-F73E-A871-2552-E82B737E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Outcomes/Insights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ED44E-E806-A5AA-E3C5-17766C0AA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862048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WHAT has fallen regarding Financial Performance?</a:t>
            </a:r>
          </a:p>
          <a:p>
            <a:pPr marL="228600" indent="-228600">
              <a:buAutoNum type="arabicParenR"/>
            </a:pPr>
            <a:r>
              <a:rPr lang="en-US" dirty="0"/>
              <a:t>Be careful to look at trends relative to consistent base… </a:t>
            </a:r>
            <a:r>
              <a:rPr lang="en-US" dirty="0" err="1"/>
              <a:t>eg</a:t>
            </a:r>
            <a:r>
              <a:rPr lang="en-US" dirty="0"/>
              <a:t>, profits as a function of Revenue (% rather than whole number)</a:t>
            </a:r>
          </a:p>
          <a:p>
            <a:pPr marL="228600" indent="-228600">
              <a:buAutoNum type="arabicParenR"/>
            </a:pPr>
            <a:r>
              <a:rPr lang="en-US" dirty="0"/>
              <a:t>Is ROE enough? What is the implication of the Equity Multiplier in Bob’s results. </a:t>
            </a:r>
          </a:p>
          <a:p>
            <a:pPr marL="228600" indent="-228600">
              <a:buAutoNum type="arabicParenR"/>
            </a:pPr>
            <a:r>
              <a:rPr lang="en-US" dirty="0"/>
              <a:t>They may have over-invested in the new plant/capabilities. (see ROA tab in particular) Could they have staged the growth differently?  Financed it differently? Did they mis-judge development of high end MARKET SIZE?</a:t>
            </a:r>
          </a:p>
          <a:p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616EE-75F4-30A0-022C-2CD51309F34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 dirty="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E5817-0690-F21A-7367-75237B31B4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1389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D58F-24DD-39E4-737E-1A6E0621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Wednesday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BB035-C337-D78E-AF37-9BDB6331B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 b="1" dirty="0"/>
              <a:t>Company Formation</a:t>
            </a:r>
          </a:p>
          <a:p>
            <a:r>
              <a:rPr lang="en-US" dirty="0"/>
              <a:t>Legal Structure</a:t>
            </a:r>
          </a:p>
          <a:p>
            <a:r>
              <a:rPr lang="en-US" dirty="0"/>
              <a:t>Capital Structure</a:t>
            </a:r>
          </a:p>
          <a:p>
            <a:r>
              <a:rPr lang="en-US" dirty="0"/>
              <a:t>Risk</a:t>
            </a:r>
          </a:p>
          <a:p>
            <a:r>
              <a:rPr lang="en-US" dirty="0"/>
              <a:t>Growth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A02D7-E40A-106F-7927-F1ADCE0F78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10"/>
              <a:t>ESBM4570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A85F2-7241-E6A3-7595-18BB098CF5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84156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885</Words>
  <Application>Microsoft Office PowerPoint</Application>
  <PresentationFormat>Custom</PresentationFormat>
  <Paragraphs>196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Garamond</vt:lpstr>
      <vt:lpstr>Rockwell</vt:lpstr>
      <vt:lpstr>Office Theme</vt:lpstr>
      <vt:lpstr>Bob’s Baloney</vt:lpstr>
      <vt:lpstr>FIN CALC NOTE</vt:lpstr>
      <vt:lpstr>Baloney (aka Bologna)</vt:lpstr>
      <vt:lpstr>History….</vt:lpstr>
      <vt:lpstr>… and where we are now</vt:lpstr>
      <vt:lpstr>Some Background and Market Insight</vt:lpstr>
      <vt:lpstr>What is the implication of this Brands Summary for Bob?</vt:lpstr>
      <vt:lpstr>3 Teams, within each Team, 3 groups (see spreadsheet for each of you)</vt:lpstr>
      <vt:lpstr> Question: What was Bob’s management’s goal/objective with the new facility </vt:lpstr>
      <vt:lpstr>Bob’s Values</vt:lpstr>
      <vt:lpstr>Bob Valuation Tab</vt:lpstr>
      <vt:lpstr>Recall the Dupont Ratio</vt:lpstr>
      <vt:lpstr>DuPont Page – Spangler’s Analysis</vt:lpstr>
      <vt:lpstr>Recall the power of the Dupont Ratio</vt:lpstr>
      <vt:lpstr>Comps Analysis</vt:lpstr>
      <vt:lpstr>Mino Return Metrics</vt:lpstr>
      <vt:lpstr>So, Where are We</vt:lpstr>
      <vt:lpstr>Mino’s Comments… and framing the response</vt:lpstr>
      <vt:lpstr>Recommendations?</vt:lpstr>
      <vt:lpstr>Outcomes/Insights</vt:lpstr>
      <vt:lpstr>Wednesday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11</cp:revision>
  <dcterms:created xsi:type="dcterms:W3CDTF">2022-01-05T04:34:10Z</dcterms:created>
  <dcterms:modified xsi:type="dcterms:W3CDTF">2025-09-15T17:41:43Z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