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506" r:id="rId2"/>
    <p:sldId id="502" r:id="rId3"/>
    <p:sldId id="503" r:id="rId4"/>
    <p:sldId id="508" r:id="rId5"/>
    <p:sldId id="509" r:id="rId6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B67B"/>
    <a:srgbClr val="A0A2A1"/>
    <a:srgbClr val="386750"/>
    <a:srgbClr val="5169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7"/>
    <p:restoredTop sz="94828"/>
  </p:normalViewPr>
  <p:slideViewPr>
    <p:cSldViewPr snapToGrid="0">
      <p:cViewPr varScale="1">
        <p:scale>
          <a:sx n="118" d="100"/>
          <a:sy n="118" d="100"/>
        </p:scale>
        <p:origin x="1278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 lIns="0" tIns="0" rIns="0" bIns="0"/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/>
            </a:lvl2pPr>
          </a:lstStyle>
          <a:p>
            <a:endParaRPr lang="en-US"/>
          </a:p>
          <a:p>
            <a:pPr lvl="1"/>
            <a:r>
              <a:rPr lang="en-US"/>
              <a:t>	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129539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lang="en-US"/>
          </a:p>
          <a:p>
            <a:pPr lvl="1"/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171450" indent="-171450">
        <a:buFont typeface="Arial" panose="020B0604020202020204" pitchFamily="34" charset="0"/>
        <a:buChar char="•"/>
        <a:defRPr>
          <a:latin typeface="+mn-lt"/>
          <a:ea typeface="+mn-ea"/>
          <a:cs typeface="+mn-cs"/>
        </a:defRPr>
      </a:lvl1pPr>
      <a:lvl2pPr marL="742950" indent="-285750">
        <a:buFont typeface="Arial" panose="020B0604020202020204" pitchFamily="34" charset="0"/>
        <a:buChar char="•"/>
        <a:defRPr sz="1100"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113595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Nanogene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Week 14.1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>
                <a:latin typeface="Arial"/>
                <a:cs typeface="Arial"/>
              </a:rPr>
              <a:t>P</a:t>
            </a:r>
            <a:r>
              <a:rPr sz="600" spc="-5">
                <a:latin typeface="Arial"/>
                <a:cs typeface="Arial"/>
              </a:rPr>
              <a:t>age</a:t>
            </a:r>
            <a:r>
              <a:rPr sz="600" spc="-1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Professor Burnes</a:t>
            </a:r>
          </a:p>
          <a:p>
            <a:pPr algn="ctr"/>
            <a:r>
              <a:rPr lang="en-US" b="1"/>
              <a:t>Leeds School of Business</a:t>
            </a:r>
          </a:p>
          <a:p>
            <a:pPr algn="ctr"/>
            <a:r>
              <a:rPr lang="en-US" b="1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084B-BB7D-FD57-B74E-E419FB53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Org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06AC2-D3E5-A884-90B3-1AA751E614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99D8F7-52CE-80B9-EB06-5FFFB1EE68A3}"/>
              </a:ext>
            </a:extLst>
          </p:cNvPr>
          <p:cNvSpPr/>
          <p:nvPr/>
        </p:nvSpPr>
        <p:spPr>
          <a:xfrm>
            <a:off x="2347635" y="376035"/>
            <a:ext cx="1007843" cy="433839"/>
          </a:xfrm>
          <a:prstGeom prst="rect">
            <a:avLst/>
          </a:prstGeom>
          <a:solidFill>
            <a:srgbClr val="CEB67B"/>
          </a:solidFill>
          <a:ln>
            <a:solidFill>
              <a:srgbClr val="A0A2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Will Tompkins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0DA117-1188-8396-6859-151CF4A36DD1}"/>
              </a:ext>
            </a:extLst>
          </p:cNvPr>
          <p:cNvSpPr/>
          <p:nvPr/>
        </p:nvSpPr>
        <p:spPr>
          <a:xfrm>
            <a:off x="1047888" y="1212282"/>
            <a:ext cx="1007843" cy="433839"/>
          </a:xfrm>
          <a:prstGeom prst="rect">
            <a:avLst/>
          </a:prstGeom>
          <a:solidFill>
            <a:srgbClr val="CEB67B"/>
          </a:solidFill>
          <a:ln>
            <a:solidFill>
              <a:srgbClr val="A0A2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Mark Masterson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7C7D8F-7D57-21CB-01E5-229703B2BDD4}"/>
              </a:ext>
            </a:extLst>
          </p:cNvPr>
          <p:cNvSpPr/>
          <p:nvPr/>
        </p:nvSpPr>
        <p:spPr>
          <a:xfrm>
            <a:off x="2246410" y="1212282"/>
            <a:ext cx="1007843" cy="433839"/>
          </a:xfrm>
          <a:prstGeom prst="rect">
            <a:avLst/>
          </a:prstGeom>
          <a:solidFill>
            <a:srgbClr val="CEB67B"/>
          </a:solidFill>
          <a:ln>
            <a:solidFill>
              <a:srgbClr val="A0A2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Ravi </a:t>
            </a:r>
            <a:r>
              <a:rPr lang="en-US" sz="1100" dirty="0" err="1"/>
              <a:t>Rhoota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07E739-241A-1B42-CF0A-1402F9668541}"/>
              </a:ext>
            </a:extLst>
          </p:cNvPr>
          <p:cNvSpPr/>
          <p:nvPr/>
        </p:nvSpPr>
        <p:spPr>
          <a:xfrm>
            <a:off x="3505973" y="1212282"/>
            <a:ext cx="1007843" cy="433839"/>
          </a:xfrm>
          <a:prstGeom prst="rect">
            <a:avLst/>
          </a:prstGeom>
          <a:solidFill>
            <a:srgbClr val="CEB67B"/>
          </a:solidFill>
          <a:ln>
            <a:solidFill>
              <a:srgbClr val="A0A2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Gary Garfield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82E1F9-B4F2-550A-A408-ADBD77EB2B83}"/>
              </a:ext>
            </a:extLst>
          </p:cNvPr>
          <p:cNvSpPr/>
          <p:nvPr/>
        </p:nvSpPr>
        <p:spPr>
          <a:xfrm>
            <a:off x="40045" y="592091"/>
            <a:ext cx="1007843" cy="433839"/>
          </a:xfrm>
          <a:prstGeom prst="rect">
            <a:avLst/>
          </a:prstGeom>
          <a:solidFill>
            <a:srgbClr val="CEB67B"/>
          </a:solidFill>
          <a:ln>
            <a:solidFill>
              <a:srgbClr val="A0A2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Don Rupert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FA05BC-C689-9EB8-FA50-D8F7CE67C7DB}"/>
              </a:ext>
            </a:extLst>
          </p:cNvPr>
          <p:cNvSpPr/>
          <p:nvPr/>
        </p:nvSpPr>
        <p:spPr>
          <a:xfrm>
            <a:off x="222517" y="2536293"/>
            <a:ext cx="1007843" cy="4338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CEB6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Paige Miller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3BCEE6-E6D3-0E50-C531-97ACCFAA827F}"/>
              </a:ext>
            </a:extLst>
          </p:cNvPr>
          <p:cNvSpPr/>
          <p:nvPr/>
        </p:nvSpPr>
        <p:spPr>
          <a:xfrm>
            <a:off x="3355478" y="2262639"/>
            <a:ext cx="822729" cy="2753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A0A2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Discover??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5326E8-F0E0-6B9D-1518-F400A27FC47D}"/>
              </a:ext>
            </a:extLst>
          </p:cNvPr>
          <p:cNvSpPr/>
          <p:nvPr/>
        </p:nvSpPr>
        <p:spPr>
          <a:xfrm>
            <a:off x="3355478" y="2694752"/>
            <a:ext cx="822729" cy="2753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A0A2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Deliver??</a:t>
            </a:r>
          </a:p>
        </p:txBody>
      </p:sp>
    </p:spTree>
    <p:extLst>
      <p:ext uri="{BB962C8B-B14F-4D97-AF65-F5344CB8AC3E}">
        <p14:creationId xmlns:p14="http://schemas.microsoft.com/office/powerpoint/2010/main" val="296411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2AD5-8A4B-3B2F-557E-199C23D3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67" y="270362"/>
            <a:ext cx="1775501" cy="215444"/>
          </a:xfrm>
        </p:spPr>
        <p:txBody>
          <a:bodyPr/>
          <a:lstStyle/>
          <a:p>
            <a:r>
              <a:rPr lang="en-US" dirty="0"/>
              <a:t>Hard Decisions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AA378-878B-C2A8-F55B-55C6D1751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9" y="572274"/>
            <a:ext cx="1969540" cy="2618114"/>
          </a:xfrm>
        </p:spPr>
        <p:txBody>
          <a:bodyPr/>
          <a:lstStyle/>
          <a:p>
            <a:r>
              <a:rPr lang="en-US" dirty="0"/>
              <a:t>Salaries</a:t>
            </a:r>
          </a:p>
          <a:p>
            <a:r>
              <a:rPr lang="en-US" dirty="0"/>
              <a:t>Life Circumstances</a:t>
            </a:r>
          </a:p>
          <a:p>
            <a:r>
              <a:rPr lang="en-US" dirty="0"/>
              <a:t>Shares</a:t>
            </a:r>
          </a:p>
          <a:p>
            <a:r>
              <a:rPr lang="en-US" dirty="0"/>
              <a:t>Size</a:t>
            </a:r>
          </a:p>
          <a:p>
            <a:r>
              <a:rPr lang="en-US" dirty="0"/>
              <a:t>Skills</a:t>
            </a:r>
          </a:p>
          <a:p>
            <a:r>
              <a:rPr lang="en-US" dirty="0"/>
              <a:t>Titles/Roles</a:t>
            </a:r>
          </a:p>
          <a:p>
            <a:r>
              <a:rPr lang="en-US" dirty="0"/>
              <a:t>Willingness to Listen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65669-E1EB-C0CA-231D-2A55BB47A2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94FAAA6-C3A1-2AA3-225E-69BA64E904BE}"/>
              </a:ext>
            </a:extLst>
          </p:cNvPr>
          <p:cNvSpPr txBox="1">
            <a:spLocks/>
          </p:cNvSpPr>
          <p:nvPr/>
        </p:nvSpPr>
        <p:spPr>
          <a:xfrm>
            <a:off x="2308707" y="572274"/>
            <a:ext cx="1969540" cy="203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C00000"/>
              </a:buClr>
              <a:buFont typeface="Wingdings" pitchFamily="2" charset="2"/>
              <a:buChar char="v"/>
            </a:pPr>
            <a:r>
              <a:rPr lang="en-US" kern="0" dirty="0"/>
              <a:t>You should not make more </a:t>
            </a:r>
            <a:r>
              <a:rPr lang="en-US" kern="0" dirty="0" err="1"/>
              <a:t>premoney</a:t>
            </a:r>
            <a:r>
              <a:rPr lang="en-US" kern="0" dirty="0"/>
              <a:t> than you did at last job</a:t>
            </a:r>
          </a:p>
          <a:p>
            <a:pPr>
              <a:buClr>
                <a:srgbClr val="C00000"/>
              </a:buClr>
              <a:buFont typeface="Wingdings" pitchFamily="2" charset="2"/>
              <a:buChar char="v"/>
            </a:pPr>
            <a:r>
              <a:rPr lang="en-US" kern="0" dirty="0"/>
              <a:t>Everyone should not get same number of shares – suggests skills/accountability are “off”</a:t>
            </a:r>
          </a:p>
          <a:p>
            <a:pPr>
              <a:buClr>
                <a:srgbClr val="C00000"/>
              </a:buClr>
              <a:buFont typeface="Wingdings" pitchFamily="2" charset="2"/>
              <a:buChar char="v"/>
            </a:pPr>
            <a:r>
              <a:rPr lang="en-US" kern="0" dirty="0"/>
              <a:t>Fewer Founders is better</a:t>
            </a:r>
          </a:p>
          <a:p>
            <a:pPr>
              <a:buClr>
                <a:srgbClr val="C00000"/>
              </a:buClr>
              <a:buFont typeface="Wingdings" pitchFamily="2" charset="2"/>
              <a:buChar char="v"/>
            </a:pPr>
            <a:r>
              <a:rPr lang="en-US" kern="0" dirty="0"/>
              <a:t>Develop a skills matrix early</a:t>
            </a:r>
          </a:p>
          <a:p>
            <a:pPr>
              <a:buClr>
                <a:srgbClr val="C00000"/>
              </a:buClr>
              <a:buFont typeface="Wingdings" pitchFamily="2" charset="2"/>
              <a:buChar char="v"/>
            </a:pPr>
            <a:r>
              <a:rPr lang="en-US" kern="0" dirty="0"/>
              <a:t>VCs want to know that you will take input</a:t>
            </a:r>
          </a:p>
          <a:p>
            <a:pPr>
              <a:buClr>
                <a:srgbClr val="C00000"/>
              </a:buClr>
              <a:buFont typeface="Wingdings" pitchFamily="2" charset="2"/>
              <a:buChar char="v"/>
            </a:pPr>
            <a:r>
              <a:rPr lang="en-US" kern="0" dirty="0"/>
              <a:t>Milestones for Accountability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29BEB96-9B6A-1D25-84EB-D59842A2B908}"/>
              </a:ext>
            </a:extLst>
          </p:cNvPr>
          <p:cNvSpPr txBox="1">
            <a:spLocks/>
          </p:cNvSpPr>
          <p:nvPr/>
        </p:nvSpPr>
        <p:spPr>
          <a:xfrm>
            <a:off x="2502746" y="270362"/>
            <a:ext cx="1775501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kern="0" dirty="0"/>
              <a:t>Guidance</a:t>
            </a:r>
          </a:p>
        </p:txBody>
      </p:sp>
    </p:spTree>
    <p:extLst>
      <p:ext uri="{BB962C8B-B14F-4D97-AF65-F5344CB8AC3E}">
        <p14:creationId xmlns:p14="http://schemas.microsoft.com/office/powerpoint/2010/main" val="222866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uiExpand="1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C7C55-54E1-F594-926B-147DEF2A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Scorecard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68FA5-8DAA-BD21-18DE-A0DAEC8B1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354217"/>
          </a:xfrm>
        </p:spPr>
        <p:txBody>
          <a:bodyPr/>
          <a:lstStyle/>
          <a:p>
            <a:r>
              <a:rPr lang="en-US" dirty="0"/>
              <a:t>How might you organize a scorecard in light of what you are learning</a:t>
            </a:r>
          </a:p>
          <a:p>
            <a:endParaRPr lang="en-US" dirty="0"/>
          </a:p>
          <a:p>
            <a:r>
              <a:rPr lang="en-US" dirty="0"/>
              <a:t>Team</a:t>
            </a:r>
          </a:p>
          <a:p>
            <a:r>
              <a:rPr lang="en-US" dirty="0"/>
              <a:t>Cap Table</a:t>
            </a:r>
          </a:p>
          <a:p>
            <a:r>
              <a:rPr lang="en-US" dirty="0"/>
              <a:t>Risks</a:t>
            </a:r>
          </a:p>
          <a:p>
            <a:r>
              <a:rPr lang="en-US" dirty="0"/>
              <a:t>Market</a:t>
            </a:r>
          </a:p>
          <a:p>
            <a:r>
              <a:rPr lang="en-US" dirty="0"/>
              <a:t>Other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0446F-C072-89A6-4147-A0263AA1F5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963070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7783-DC81-85B2-2814-01E250C5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Take 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68A33-0D35-3024-6B13-2375B9F5B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862048"/>
          </a:xfrm>
        </p:spPr>
        <p:txBody>
          <a:bodyPr/>
          <a:lstStyle/>
          <a:p>
            <a:r>
              <a:rPr lang="en-US" dirty="0"/>
              <a:t>Note Jack Terranova’s engagement. Slides provided under separate cover.</a:t>
            </a:r>
          </a:p>
          <a:p>
            <a:r>
              <a:rPr lang="en-US" dirty="0"/>
              <a:t>Team needs a range to fill product and business needs. Think Develop vs Deliver</a:t>
            </a:r>
          </a:p>
          <a:p>
            <a:r>
              <a:rPr lang="en-US" dirty="0"/>
              <a:t>Pay and Incentive Structure should match roles. Equality is not the goal.</a:t>
            </a:r>
          </a:p>
          <a:p>
            <a:r>
              <a:rPr lang="en-US" dirty="0"/>
              <a:t>Do not give everyone a raise for joining start up</a:t>
            </a:r>
          </a:p>
          <a:p>
            <a:r>
              <a:rPr lang="en-US" dirty="0"/>
              <a:t>Employee Option Pool Matters</a:t>
            </a:r>
          </a:p>
          <a:p>
            <a:r>
              <a:rPr lang="en-US" dirty="0"/>
              <a:t>Advisor/Board Pool</a:t>
            </a:r>
          </a:p>
          <a:p>
            <a:r>
              <a:rPr lang="en-US" dirty="0"/>
              <a:t>Plan your Cap Table when you set shares, company structure, and expected employee incentives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CA680-9C04-4D16-076B-8468069A2C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362681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4464</TotalTime>
  <Words>215</Words>
  <Application>Microsoft Office PowerPoint</Application>
  <PresentationFormat>Custom</PresentationFormat>
  <Paragraphs>52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Garamond</vt:lpstr>
      <vt:lpstr>Rockwell</vt:lpstr>
      <vt:lpstr>Wingdings</vt:lpstr>
      <vt:lpstr>Office Theme</vt:lpstr>
      <vt:lpstr>Nanogene   Week 14.1</vt:lpstr>
      <vt:lpstr>Org Chart</vt:lpstr>
      <vt:lpstr>Hard Decisions</vt:lpstr>
      <vt:lpstr>Scorecard</vt:lpstr>
      <vt:lpstr>Take 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8</cp:revision>
  <dcterms:created xsi:type="dcterms:W3CDTF">2022-01-05T04:34:10Z</dcterms:created>
  <dcterms:modified xsi:type="dcterms:W3CDTF">2025-11-19T18:59:57Z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