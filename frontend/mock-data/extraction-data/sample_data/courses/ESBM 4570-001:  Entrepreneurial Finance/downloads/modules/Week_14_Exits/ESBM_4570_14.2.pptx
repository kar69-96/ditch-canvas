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517" r:id="rId2"/>
    <p:sldId id="507" r:id="rId3"/>
    <p:sldId id="508" r:id="rId4"/>
    <p:sldId id="509" r:id="rId5"/>
    <p:sldId id="514" r:id="rId6"/>
    <p:sldId id="510" r:id="rId7"/>
    <p:sldId id="512" r:id="rId8"/>
    <p:sldId id="511" r:id="rId9"/>
    <p:sldId id="518" r:id="rId10"/>
    <p:sldId id="516" r:id="rId11"/>
    <p:sldId id="513" r:id="rId12"/>
  </p:sldIdLst>
  <p:sldSz cx="4610100" cy="3460750"/>
  <p:notesSz cx="4610100" cy="34607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16993"/>
    <a:srgbClr val="CEB67B"/>
    <a:srgbClr val="A0A2A1"/>
    <a:srgbClr val="3867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47B62B-8084-4499-B5D2-84D62DBFAD07}" v="5" dt="2025-11-19T18:38:59.882"/>
    <p1510:client id="{C80791C9-6965-AF4B-8430-3AAD4C245321}" v="25" dt="2025-11-19T04:31:36.91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296" autoAdjust="0"/>
    <p:restoredTop sz="94815"/>
  </p:normalViewPr>
  <p:slideViewPr>
    <p:cSldViewPr snapToGrid="0">
      <p:cViewPr varScale="1">
        <p:scale>
          <a:sx n="118" d="100"/>
          <a:sy n="118" d="100"/>
        </p:scale>
        <p:origin x="1350" y="84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len Burnes" userId="ca3eeb36-3cf7-49b7-874f-4993e3c98b53" providerId="ADAL" clId="{4C46DA56-9020-44B6-A87B-E2E53F2509A0}"/>
    <pc:docChg chg="custSel modSld">
      <pc:chgData name="Ellen Burnes" userId="ca3eeb36-3cf7-49b7-874f-4993e3c98b53" providerId="ADAL" clId="{4C46DA56-9020-44B6-A87B-E2E53F2509A0}" dt="2025-11-19T18:38:59.882" v="675"/>
      <pc:docMkLst>
        <pc:docMk/>
      </pc:docMkLst>
      <pc:sldChg chg="modSp mod modAnim">
        <pc:chgData name="Ellen Burnes" userId="ca3eeb36-3cf7-49b7-874f-4993e3c98b53" providerId="ADAL" clId="{4C46DA56-9020-44B6-A87B-E2E53F2509A0}" dt="2025-11-19T18:38:46.690" v="674"/>
        <pc:sldMkLst>
          <pc:docMk/>
          <pc:sldMk cId="3056470179" sldId="512"/>
        </pc:sldMkLst>
        <pc:spChg chg="mod">
          <ac:chgData name="Ellen Burnes" userId="ca3eeb36-3cf7-49b7-874f-4993e3c98b53" providerId="ADAL" clId="{4C46DA56-9020-44B6-A87B-E2E53F2509A0}" dt="2025-11-19T18:38:39.781" v="673" actId="20577"/>
          <ac:spMkLst>
            <pc:docMk/>
            <pc:sldMk cId="3056470179" sldId="512"/>
            <ac:spMk id="3" creationId="{4BAEBB46-B58F-FA49-0803-6FB18D4D3391}"/>
          </ac:spMkLst>
        </pc:spChg>
      </pc:sldChg>
      <pc:sldChg chg="modSp mod modAnim">
        <pc:chgData name="Ellen Burnes" userId="ca3eeb36-3cf7-49b7-874f-4993e3c98b53" providerId="ADAL" clId="{4C46DA56-9020-44B6-A87B-E2E53F2509A0}" dt="2025-11-19T18:38:59.882" v="675"/>
        <pc:sldMkLst>
          <pc:docMk/>
          <pc:sldMk cId="3041984029" sldId="514"/>
        </pc:sldMkLst>
        <pc:spChg chg="mod">
          <ac:chgData name="Ellen Burnes" userId="ca3eeb36-3cf7-49b7-874f-4993e3c98b53" providerId="ADAL" clId="{4C46DA56-9020-44B6-A87B-E2E53F2509A0}" dt="2025-11-19T18:33:51.458" v="311" actId="313"/>
          <ac:spMkLst>
            <pc:docMk/>
            <pc:sldMk cId="3041984029" sldId="514"/>
            <ac:spMk id="3" creationId="{AC2B6BD8-160B-319B-1784-DEBA743FBA26}"/>
          </ac:spMkLst>
        </pc:spChg>
      </pc:sldChg>
      <pc:sldChg chg="addSp delSp modSp mod">
        <pc:chgData name="Ellen Burnes" userId="ca3eeb36-3cf7-49b7-874f-4993e3c98b53" providerId="ADAL" clId="{4C46DA56-9020-44B6-A87B-E2E53F2509A0}" dt="2025-11-19T18:25:11.914" v="21" actId="1076"/>
        <pc:sldMkLst>
          <pc:docMk/>
          <pc:sldMk cId="4173531747" sldId="516"/>
        </pc:sldMkLst>
        <pc:spChg chg="add del mod">
          <ac:chgData name="Ellen Burnes" userId="ca3eeb36-3cf7-49b7-874f-4993e3c98b53" providerId="ADAL" clId="{4C46DA56-9020-44B6-A87B-E2E53F2509A0}" dt="2025-11-19T18:24:52.177" v="12" actId="478"/>
          <ac:spMkLst>
            <pc:docMk/>
            <pc:sldMk cId="4173531747" sldId="516"/>
            <ac:spMk id="3" creationId="{B6F085CF-873E-51E4-934F-37E497C6BEAB}"/>
          </ac:spMkLst>
        </pc:spChg>
        <pc:spChg chg="add del mod">
          <ac:chgData name="Ellen Burnes" userId="ca3eeb36-3cf7-49b7-874f-4993e3c98b53" providerId="ADAL" clId="{4C46DA56-9020-44B6-A87B-E2E53F2509A0}" dt="2025-11-19T18:24:52.177" v="12" actId="478"/>
          <ac:spMkLst>
            <pc:docMk/>
            <pc:sldMk cId="4173531747" sldId="516"/>
            <ac:spMk id="5" creationId="{2B1E40C5-9396-B671-3544-3B194E5A5BDE}"/>
          </ac:spMkLst>
        </pc:spChg>
        <pc:spChg chg="mod">
          <ac:chgData name="Ellen Burnes" userId="ca3eeb36-3cf7-49b7-874f-4993e3c98b53" providerId="ADAL" clId="{4C46DA56-9020-44B6-A87B-E2E53F2509A0}" dt="2025-11-19T18:25:11.914" v="21" actId="1076"/>
          <ac:spMkLst>
            <pc:docMk/>
            <pc:sldMk cId="4173531747" sldId="516"/>
            <ac:spMk id="13" creationId="{0590D84F-B587-6070-62D2-C44655A0D633}"/>
          </ac:spMkLst>
        </pc:spChg>
        <pc:spChg chg="mod">
          <ac:chgData name="Ellen Burnes" userId="ca3eeb36-3cf7-49b7-874f-4993e3c98b53" providerId="ADAL" clId="{4C46DA56-9020-44B6-A87B-E2E53F2509A0}" dt="2025-11-19T18:25:11.914" v="21" actId="1076"/>
          <ac:spMkLst>
            <pc:docMk/>
            <pc:sldMk cId="4173531747" sldId="516"/>
            <ac:spMk id="15" creationId="{FCC144FA-241E-108D-BC69-DB2B8C3FD434}"/>
          </ac:spMkLst>
        </pc:spChg>
        <pc:spChg chg="mod">
          <ac:chgData name="Ellen Burnes" userId="ca3eeb36-3cf7-49b7-874f-4993e3c98b53" providerId="ADAL" clId="{4C46DA56-9020-44B6-A87B-E2E53F2509A0}" dt="2025-11-19T18:24:57.630" v="20" actId="20577"/>
          <ac:spMkLst>
            <pc:docMk/>
            <pc:sldMk cId="4173531747" sldId="516"/>
            <ac:spMk id="22" creationId="{574B33A3-689F-E3B8-7B6B-1F5C4822CD21}"/>
          </ac:spMkLst>
        </pc:spChg>
        <pc:spChg chg="mod">
          <ac:chgData name="Ellen Burnes" userId="ca3eeb36-3cf7-49b7-874f-4993e3c98b53" providerId="ADAL" clId="{4C46DA56-9020-44B6-A87B-E2E53F2509A0}" dt="2025-11-19T18:25:11.914" v="21" actId="1076"/>
          <ac:spMkLst>
            <pc:docMk/>
            <pc:sldMk cId="4173531747" sldId="516"/>
            <ac:spMk id="23" creationId="{E8EF33CF-DBCB-62DA-911A-0CFE018C0477}"/>
          </ac:spMkLst>
        </pc:spChg>
        <pc:spChg chg="mod">
          <ac:chgData name="Ellen Burnes" userId="ca3eeb36-3cf7-49b7-874f-4993e3c98b53" providerId="ADAL" clId="{4C46DA56-9020-44B6-A87B-E2E53F2509A0}" dt="2025-11-19T18:25:11.914" v="21" actId="1076"/>
          <ac:spMkLst>
            <pc:docMk/>
            <pc:sldMk cId="4173531747" sldId="516"/>
            <ac:spMk id="24" creationId="{DDFBD1F2-EB58-029F-8F10-1D5B74146CE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61143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6242BC-AF68-414B-8622-6AC13D9F4F1F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27175" y="433388"/>
            <a:ext cx="1555750" cy="1166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FC8FC9-DCDB-4EAE-B3A7-1B2D2F2E67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992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0FA299-5294-AD47-8ACD-E81D24A7609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4538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lang="en-US" spc="-5"/>
              <a:t>Leeds B U S I N E S S</a:t>
            </a:r>
            <a:endParaRPr sz="500">
              <a:latin typeface="Arial"/>
              <a:cs typeface="Arial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/>
              <a:t>P</a:t>
            </a:r>
            <a:r>
              <a:rPr spc="-5"/>
              <a:t>age</a:t>
            </a:r>
            <a:r>
              <a:rPr spc="-10"/>
              <a:t> </a:t>
            </a:r>
            <a:fld id="{81D60167-4931-47E6-BA6A-407CBD079E47}" type="slidenum">
              <a:rPr spc="-5" dirty="0"/>
              <a:t>‹#›</a:t>
            </a:fld>
            <a:endParaRPr spc="-5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52689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338554"/>
          </a:xfrm>
        </p:spPr>
        <p:txBody>
          <a:bodyPr lIns="0" tIns="0" rIns="0" bIns="0"/>
          <a:lstStyle>
            <a:lvl1pPr marL="171450" indent="-171450">
              <a:buFont typeface="Arial" panose="020B0604020202020204" pitchFamily="34" charset="0"/>
              <a:buChar char="•"/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  <a:lvl2pPr marL="742950" indent="-285750">
              <a:buFont typeface="Arial" panose="020B0604020202020204" pitchFamily="34" charset="0"/>
              <a:buChar char="•"/>
              <a:defRPr sz="1100"/>
            </a:lvl2pPr>
          </a:lstStyle>
          <a:p>
            <a:endParaRPr lang="en-US"/>
          </a:p>
          <a:p>
            <a:pPr lvl="1"/>
            <a:r>
              <a:rPr lang="en-US"/>
              <a:t>	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lang="en-US" spc="-5"/>
              <a:t>Leeds B U S I N E S S</a:t>
            </a:r>
            <a:endParaRPr sz="500">
              <a:latin typeface="Arial"/>
              <a:cs typeface="Arial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/>
              <a:t>P</a:t>
            </a:r>
            <a:r>
              <a:rPr spc="-5"/>
              <a:t>age</a:t>
            </a:r>
            <a:r>
              <a:rPr spc="-10"/>
              <a:t> </a:t>
            </a:r>
            <a:fld id="{81D60167-4931-47E6-BA6A-407CBD079E47}" type="slidenum">
              <a:rPr spc="-5" dirty="0"/>
              <a:t>‹#›</a:t>
            </a:fld>
            <a:endParaRPr spc="-5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52689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lang="en-US" spc="-5"/>
              <a:t>Leeds B U S I N E S S</a:t>
            </a:r>
            <a:endParaRPr sz="500">
              <a:latin typeface="Arial"/>
              <a:cs typeface="Arial"/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/>
              <a:t>P</a:t>
            </a:r>
            <a:r>
              <a:rPr spc="-5"/>
              <a:t>age</a:t>
            </a:r>
            <a:r>
              <a:rPr spc="-10"/>
              <a:t> </a:t>
            </a:r>
            <a:fld id="{81D60167-4931-47E6-BA6A-407CBD079E47}" type="slidenum">
              <a:rPr spc="-5" dirty="0"/>
              <a:t>‹#›</a:t>
            </a:fld>
            <a:endParaRPr spc="-5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52689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lang="en-US" spc="-5"/>
              <a:t>Leeds B U S I N E S 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/>
              <a:t>P</a:t>
            </a:r>
            <a:r>
              <a:rPr spc="-5"/>
              <a:t>age</a:t>
            </a:r>
            <a:r>
              <a:rPr spc="-10"/>
              <a:t> </a:t>
            </a:r>
            <a:fld id="{81D60167-4931-47E6-BA6A-407CBD079E47}" type="slidenum">
              <a:rPr spc="-5" dirty="0"/>
              <a:t>‹#›</a:t>
            </a:fld>
            <a:endParaRPr spc="-5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lang="en-US" spc="-5"/>
              <a:t>Leeds B U S I N E S S</a:t>
            </a:r>
            <a:endParaRPr sz="500">
              <a:latin typeface="Arial"/>
              <a:cs typeface="Arial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/>
              <a:t>P</a:t>
            </a:r>
            <a:r>
              <a:rPr spc="-5"/>
              <a:t>age</a:t>
            </a:r>
            <a:r>
              <a:rPr spc="-10"/>
              <a:t> </a:t>
            </a:r>
            <a:fld id="{81D60167-4931-47E6-BA6A-407CBD079E47}" type="slidenum">
              <a:rPr spc="-5" dirty="0"/>
              <a:t>‹#›</a:t>
            </a:fld>
            <a:endParaRPr spc="-5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-152" y="129539"/>
            <a:ext cx="4608830" cy="3456940"/>
          </a:xfrm>
          <a:custGeom>
            <a:avLst/>
            <a:gdLst/>
            <a:ahLst/>
            <a:cxnLst/>
            <a:rect l="l" t="t" r="r" b="b"/>
            <a:pathLst>
              <a:path w="4608830" h="3456940">
                <a:moveTo>
                  <a:pt x="0" y="3456431"/>
                </a:moveTo>
                <a:lnTo>
                  <a:pt x="4608576" y="3456431"/>
                </a:lnTo>
                <a:lnTo>
                  <a:pt x="4608576" y="0"/>
                </a:lnTo>
                <a:lnTo>
                  <a:pt x="0" y="0"/>
                </a:lnTo>
                <a:lnTo>
                  <a:pt x="0" y="3456431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-152" y="0"/>
            <a:ext cx="2304415" cy="129539"/>
          </a:xfrm>
          <a:custGeom>
            <a:avLst/>
            <a:gdLst/>
            <a:ahLst/>
            <a:cxnLst/>
            <a:rect l="l" t="t" r="r" b="b"/>
            <a:pathLst>
              <a:path w="2304415" h="129539">
                <a:moveTo>
                  <a:pt x="0" y="129540"/>
                </a:moveTo>
                <a:lnTo>
                  <a:pt x="2304288" y="129540"/>
                </a:lnTo>
                <a:lnTo>
                  <a:pt x="2304288" y="0"/>
                </a:lnTo>
                <a:lnTo>
                  <a:pt x="0" y="0"/>
                </a:lnTo>
                <a:lnTo>
                  <a:pt x="0" y="129540"/>
                </a:lnTo>
                <a:close/>
              </a:path>
            </a:pathLst>
          </a:custGeom>
          <a:solidFill>
            <a:srgbClr val="A0A2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304135" y="0"/>
            <a:ext cx="2304415" cy="129539"/>
          </a:xfrm>
          <a:custGeom>
            <a:avLst/>
            <a:gdLst/>
            <a:ahLst/>
            <a:cxnLst/>
            <a:rect l="l" t="t" r="r" b="b"/>
            <a:pathLst>
              <a:path w="2304415" h="129539">
                <a:moveTo>
                  <a:pt x="0" y="129540"/>
                </a:moveTo>
                <a:lnTo>
                  <a:pt x="2304288" y="129540"/>
                </a:lnTo>
                <a:lnTo>
                  <a:pt x="2304288" y="0"/>
                </a:lnTo>
                <a:lnTo>
                  <a:pt x="0" y="0"/>
                </a:lnTo>
                <a:lnTo>
                  <a:pt x="0" y="129540"/>
                </a:lnTo>
                <a:close/>
              </a:path>
            </a:pathLst>
          </a:custGeom>
          <a:solidFill>
            <a:srgbClr val="CEB6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52689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338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 lang="en-US"/>
          </a:p>
          <a:p>
            <a:pPr lvl="1"/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966640" y="2949162"/>
            <a:ext cx="526414" cy="2711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lang="en-US" spc="-5"/>
              <a:t>Leeds B U S I N E S S</a:t>
            </a:r>
            <a:endParaRPr sz="500">
              <a:latin typeface="Arial"/>
              <a:cs typeface="Arial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708906" y="3344562"/>
            <a:ext cx="300989" cy="101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/>
              <a:t>P</a:t>
            </a:r>
            <a:r>
              <a:rPr spc="-5"/>
              <a:t>age</a:t>
            </a:r>
            <a:r>
              <a:rPr spc="-10"/>
              <a:t> </a:t>
            </a:r>
            <a:fld id="{81D60167-4931-47E6-BA6A-407CBD079E47}" type="slidenum">
              <a:rPr spc="-5" dirty="0"/>
              <a:t>‹#›</a:t>
            </a:fld>
            <a:endParaRPr spc="-5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171450" indent="-171450">
        <a:buFont typeface="Arial" panose="020B0604020202020204" pitchFamily="34" charset="0"/>
        <a:buChar char="•"/>
        <a:defRPr>
          <a:latin typeface="+mn-lt"/>
          <a:ea typeface="+mn-ea"/>
          <a:cs typeface="+mn-cs"/>
        </a:defRPr>
      </a:lvl1pPr>
      <a:lvl2pPr marL="742950" indent="-285750">
        <a:buFont typeface="Arial" panose="020B0604020202020204" pitchFamily="34" charset="0"/>
        <a:buChar char="•"/>
        <a:defRPr sz="1100"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66640" y="2946437"/>
            <a:ext cx="526415" cy="231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b="1" spc="-5">
                <a:solidFill>
                  <a:srgbClr val="231F20"/>
                </a:solidFill>
                <a:latin typeface="Rockwell"/>
                <a:cs typeface="Rockwell"/>
              </a:rPr>
              <a:t>Leeds</a:t>
            </a:r>
            <a:endParaRPr sz="1350">
              <a:latin typeface="Rockwell"/>
              <a:cs typeface="Rockwel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648455" y="2932247"/>
            <a:ext cx="297815" cy="287655"/>
            <a:chOff x="3648455" y="2932247"/>
            <a:chExt cx="297815" cy="287655"/>
          </a:xfrm>
        </p:grpSpPr>
        <p:sp>
          <p:nvSpPr>
            <p:cNvPr id="4" name="object 4"/>
            <p:cNvSpPr/>
            <p:nvPr/>
          </p:nvSpPr>
          <p:spPr>
            <a:xfrm>
              <a:off x="3648455" y="2932247"/>
              <a:ext cx="297815" cy="287655"/>
            </a:xfrm>
            <a:custGeom>
              <a:avLst/>
              <a:gdLst/>
              <a:ahLst/>
              <a:cxnLst/>
              <a:rect l="l" t="t" r="r" b="b"/>
              <a:pathLst>
                <a:path w="297814" h="287655">
                  <a:moveTo>
                    <a:pt x="175778" y="0"/>
                  </a:moveTo>
                  <a:lnTo>
                    <a:pt x="39471" y="0"/>
                  </a:lnTo>
                  <a:lnTo>
                    <a:pt x="0" y="39421"/>
                  </a:lnTo>
                  <a:lnTo>
                    <a:pt x="0" y="175503"/>
                  </a:lnTo>
                  <a:lnTo>
                    <a:pt x="39471" y="214896"/>
                  </a:lnTo>
                  <a:lnTo>
                    <a:pt x="82753" y="214896"/>
                  </a:lnTo>
                  <a:lnTo>
                    <a:pt x="82753" y="248012"/>
                  </a:lnTo>
                  <a:lnTo>
                    <a:pt x="122544" y="287452"/>
                  </a:lnTo>
                  <a:lnTo>
                    <a:pt x="237576" y="287452"/>
                  </a:lnTo>
                  <a:lnTo>
                    <a:pt x="277459" y="248043"/>
                  </a:lnTo>
                  <a:lnTo>
                    <a:pt x="277459" y="142625"/>
                  </a:lnTo>
                  <a:lnTo>
                    <a:pt x="297774" y="142625"/>
                  </a:lnTo>
                  <a:lnTo>
                    <a:pt x="297774" y="72443"/>
                  </a:lnTo>
                  <a:lnTo>
                    <a:pt x="215127" y="72443"/>
                  </a:lnTo>
                  <a:lnTo>
                    <a:pt x="215127" y="39427"/>
                  </a:lnTo>
                  <a:lnTo>
                    <a:pt x="175778" y="0"/>
                  </a:lnTo>
                  <a:close/>
                </a:path>
              </a:pathLst>
            </a:custGeom>
            <a:solidFill>
              <a:srgbClr val="CFB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652540" y="2936332"/>
              <a:ext cx="290195" cy="279400"/>
            </a:xfrm>
            <a:custGeom>
              <a:avLst/>
              <a:gdLst/>
              <a:ahLst/>
              <a:cxnLst/>
              <a:rect l="l" t="t" r="r" b="b"/>
              <a:pathLst>
                <a:path w="290195" h="279400">
                  <a:moveTo>
                    <a:pt x="170017" y="0"/>
                  </a:moveTo>
                  <a:lnTo>
                    <a:pt x="37063" y="0"/>
                  </a:lnTo>
                  <a:lnTo>
                    <a:pt x="0" y="37033"/>
                  </a:lnTo>
                  <a:lnTo>
                    <a:pt x="0" y="169705"/>
                  </a:lnTo>
                  <a:lnTo>
                    <a:pt x="37063" y="206727"/>
                  </a:lnTo>
                  <a:lnTo>
                    <a:pt x="82783" y="206727"/>
                  </a:lnTo>
                  <a:lnTo>
                    <a:pt x="82783" y="242244"/>
                  </a:lnTo>
                  <a:lnTo>
                    <a:pt x="120136" y="279266"/>
                  </a:lnTo>
                  <a:lnTo>
                    <a:pt x="231815" y="279266"/>
                  </a:lnTo>
                  <a:lnTo>
                    <a:pt x="269275" y="242244"/>
                  </a:lnTo>
                  <a:lnTo>
                    <a:pt x="269275" y="134474"/>
                  </a:lnTo>
                  <a:lnTo>
                    <a:pt x="289590" y="134474"/>
                  </a:lnTo>
                  <a:lnTo>
                    <a:pt x="289590" y="72455"/>
                  </a:lnTo>
                  <a:lnTo>
                    <a:pt x="206943" y="72455"/>
                  </a:lnTo>
                  <a:lnTo>
                    <a:pt x="206943" y="37039"/>
                  </a:lnTo>
                  <a:lnTo>
                    <a:pt x="170017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662751" y="2946553"/>
              <a:ext cx="269240" cy="259079"/>
            </a:xfrm>
            <a:custGeom>
              <a:avLst/>
              <a:gdLst/>
              <a:ahLst/>
              <a:cxnLst/>
              <a:rect l="l" t="t" r="r" b="b"/>
              <a:pathLst>
                <a:path w="269239" h="259080">
                  <a:moveTo>
                    <a:pt x="155554" y="0"/>
                  </a:moveTo>
                  <a:lnTo>
                    <a:pt x="31104" y="0"/>
                  </a:lnTo>
                  <a:lnTo>
                    <a:pt x="0" y="31039"/>
                  </a:lnTo>
                  <a:lnTo>
                    <a:pt x="0" y="155245"/>
                  </a:lnTo>
                  <a:lnTo>
                    <a:pt x="31104" y="186266"/>
                  </a:lnTo>
                  <a:lnTo>
                    <a:pt x="82783" y="186266"/>
                  </a:lnTo>
                  <a:lnTo>
                    <a:pt x="82783" y="227754"/>
                  </a:lnTo>
                  <a:lnTo>
                    <a:pt x="114132" y="258823"/>
                  </a:lnTo>
                  <a:lnTo>
                    <a:pt x="217413" y="258823"/>
                  </a:lnTo>
                  <a:lnTo>
                    <a:pt x="248838" y="227754"/>
                  </a:lnTo>
                  <a:lnTo>
                    <a:pt x="248838" y="114013"/>
                  </a:lnTo>
                  <a:lnTo>
                    <a:pt x="269168" y="114013"/>
                  </a:lnTo>
                  <a:lnTo>
                    <a:pt x="269168" y="72455"/>
                  </a:lnTo>
                  <a:lnTo>
                    <a:pt x="206822" y="72455"/>
                  </a:lnTo>
                  <a:lnTo>
                    <a:pt x="206822" y="217311"/>
                  </a:lnTo>
                  <a:lnTo>
                    <a:pt x="124327" y="217311"/>
                  </a:lnTo>
                  <a:lnTo>
                    <a:pt x="124327" y="186266"/>
                  </a:lnTo>
                  <a:lnTo>
                    <a:pt x="155554" y="186266"/>
                  </a:lnTo>
                  <a:lnTo>
                    <a:pt x="186522" y="155245"/>
                  </a:lnTo>
                  <a:lnTo>
                    <a:pt x="186522" y="114013"/>
                  </a:lnTo>
                  <a:lnTo>
                    <a:pt x="144978" y="114013"/>
                  </a:lnTo>
                  <a:lnTo>
                    <a:pt x="144978" y="144821"/>
                  </a:lnTo>
                  <a:lnTo>
                    <a:pt x="124327" y="144821"/>
                  </a:lnTo>
                  <a:lnTo>
                    <a:pt x="124327" y="72455"/>
                  </a:lnTo>
                  <a:lnTo>
                    <a:pt x="62163" y="72455"/>
                  </a:lnTo>
                  <a:lnTo>
                    <a:pt x="62163" y="114013"/>
                  </a:lnTo>
                  <a:lnTo>
                    <a:pt x="82783" y="114013"/>
                  </a:lnTo>
                  <a:lnTo>
                    <a:pt x="82783" y="144821"/>
                  </a:lnTo>
                  <a:lnTo>
                    <a:pt x="41483" y="144821"/>
                  </a:lnTo>
                  <a:lnTo>
                    <a:pt x="41483" y="41164"/>
                  </a:lnTo>
                  <a:lnTo>
                    <a:pt x="144978" y="41164"/>
                  </a:lnTo>
                  <a:lnTo>
                    <a:pt x="144978" y="72455"/>
                  </a:lnTo>
                  <a:lnTo>
                    <a:pt x="186522" y="72455"/>
                  </a:lnTo>
                  <a:lnTo>
                    <a:pt x="186522" y="31056"/>
                  </a:lnTo>
                  <a:lnTo>
                    <a:pt x="1555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667871" y="2951666"/>
              <a:ext cx="259079" cy="248920"/>
            </a:xfrm>
            <a:custGeom>
              <a:avLst/>
              <a:gdLst/>
              <a:ahLst/>
              <a:cxnLst/>
              <a:rect l="l" t="t" r="r" b="b"/>
              <a:pathLst>
                <a:path w="259079" h="248919">
                  <a:moveTo>
                    <a:pt x="148315" y="0"/>
                  </a:moveTo>
                  <a:lnTo>
                    <a:pt x="28102" y="0"/>
                  </a:lnTo>
                  <a:lnTo>
                    <a:pt x="0" y="28050"/>
                  </a:lnTo>
                  <a:lnTo>
                    <a:pt x="0" y="148024"/>
                  </a:lnTo>
                  <a:lnTo>
                    <a:pt x="28087" y="176046"/>
                  </a:lnTo>
                  <a:lnTo>
                    <a:pt x="82783" y="176046"/>
                  </a:lnTo>
                  <a:lnTo>
                    <a:pt x="82783" y="220504"/>
                  </a:lnTo>
                  <a:lnTo>
                    <a:pt x="111130" y="248614"/>
                  </a:lnTo>
                  <a:lnTo>
                    <a:pt x="210174" y="248614"/>
                  </a:lnTo>
                  <a:lnTo>
                    <a:pt x="238612" y="220486"/>
                  </a:lnTo>
                  <a:lnTo>
                    <a:pt x="238612" y="103804"/>
                  </a:lnTo>
                  <a:lnTo>
                    <a:pt x="258927" y="103804"/>
                  </a:lnTo>
                  <a:lnTo>
                    <a:pt x="258927" y="72467"/>
                  </a:lnTo>
                  <a:lnTo>
                    <a:pt x="206822" y="72467"/>
                  </a:lnTo>
                  <a:lnTo>
                    <a:pt x="206822" y="217294"/>
                  </a:lnTo>
                  <a:lnTo>
                    <a:pt x="114086" y="217294"/>
                  </a:lnTo>
                  <a:lnTo>
                    <a:pt x="114086" y="176046"/>
                  </a:lnTo>
                  <a:lnTo>
                    <a:pt x="148315" y="176046"/>
                  </a:lnTo>
                  <a:lnTo>
                    <a:pt x="176296" y="148024"/>
                  </a:lnTo>
                  <a:lnTo>
                    <a:pt x="176296" y="114019"/>
                  </a:lnTo>
                  <a:lnTo>
                    <a:pt x="144978" y="114019"/>
                  </a:lnTo>
                  <a:lnTo>
                    <a:pt x="144978" y="144815"/>
                  </a:lnTo>
                  <a:lnTo>
                    <a:pt x="114086" y="144815"/>
                  </a:lnTo>
                  <a:lnTo>
                    <a:pt x="114086" y="72467"/>
                  </a:lnTo>
                  <a:lnTo>
                    <a:pt x="62148" y="72467"/>
                  </a:lnTo>
                  <a:lnTo>
                    <a:pt x="62148" y="103804"/>
                  </a:lnTo>
                  <a:lnTo>
                    <a:pt x="82783" y="103804"/>
                  </a:lnTo>
                  <a:lnTo>
                    <a:pt x="82783" y="144815"/>
                  </a:lnTo>
                  <a:lnTo>
                    <a:pt x="31241" y="144815"/>
                  </a:lnTo>
                  <a:lnTo>
                    <a:pt x="31241" y="30950"/>
                  </a:lnTo>
                  <a:lnTo>
                    <a:pt x="144978" y="30950"/>
                  </a:lnTo>
                  <a:lnTo>
                    <a:pt x="144978" y="62227"/>
                  </a:lnTo>
                  <a:lnTo>
                    <a:pt x="176296" y="62227"/>
                  </a:lnTo>
                  <a:lnTo>
                    <a:pt x="176296" y="28050"/>
                  </a:lnTo>
                  <a:lnTo>
                    <a:pt x="148315" y="0"/>
                  </a:lnTo>
                  <a:close/>
                </a:path>
              </a:pathLst>
            </a:custGeom>
            <a:solidFill>
              <a:srgbClr val="CFB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56830" y="434975"/>
            <a:ext cx="4067937" cy="755528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459105" marR="5080" indent="-447040" algn="ctr">
              <a:lnSpc>
                <a:spcPct val="102699"/>
              </a:lnSpc>
              <a:spcBef>
                <a:spcPts val="55"/>
              </a:spcBef>
            </a:pPr>
            <a:r>
              <a:rPr lang="fr-FR" sz="2400" spc="-10" dirty="0">
                <a:solidFill>
                  <a:srgbClr val="000000"/>
                </a:solidFill>
                <a:latin typeface="Garamond" panose="02020404030301010803" pitchFamily="18" charset="0"/>
              </a:rPr>
              <a:t>    Entrepreneurial Finance</a:t>
            </a:r>
            <a:br>
              <a:rPr lang="fr-FR" sz="2400" spc="-10" dirty="0">
                <a:solidFill>
                  <a:srgbClr val="000000"/>
                </a:solidFill>
                <a:latin typeface="Garamond" panose="02020404030301010803" pitchFamily="18" charset="0"/>
              </a:rPr>
            </a:br>
            <a:r>
              <a:rPr lang="fr-FR" sz="2400" spc="-10" dirty="0" err="1">
                <a:solidFill>
                  <a:srgbClr val="000000"/>
                </a:solidFill>
                <a:latin typeface="Garamond" panose="02020404030301010803" pitchFamily="18" charset="0"/>
              </a:rPr>
              <a:t>Preparing</a:t>
            </a:r>
            <a:r>
              <a:rPr lang="fr-FR" sz="2400" spc="-10" dirty="0">
                <a:solidFill>
                  <a:srgbClr val="000000"/>
                </a:solidFill>
                <a:latin typeface="Garamond" panose="02020404030301010803" pitchFamily="18" charset="0"/>
              </a:rPr>
              <a:t> for The Deal</a:t>
            </a:r>
            <a:endParaRPr sz="2400" dirty="0"/>
          </a:p>
        </p:txBody>
      </p:sp>
      <p:sp>
        <p:nvSpPr>
          <p:cNvPr id="10" name="object 10"/>
          <p:cNvSpPr/>
          <p:nvPr/>
        </p:nvSpPr>
        <p:spPr>
          <a:xfrm>
            <a:off x="-152" y="3337814"/>
            <a:ext cx="1536700" cy="129539"/>
          </a:xfrm>
          <a:custGeom>
            <a:avLst/>
            <a:gdLst/>
            <a:ahLst/>
            <a:cxnLst/>
            <a:rect l="l" t="t" r="r" b="b"/>
            <a:pathLst>
              <a:path w="1536700" h="129539">
                <a:moveTo>
                  <a:pt x="0" y="129539"/>
                </a:moveTo>
                <a:lnTo>
                  <a:pt x="1536192" y="129539"/>
                </a:lnTo>
                <a:lnTo>
                  <a:pt x="1536192" y="0"/>
                </a:lnTo>
                <a:lnTo>
                  <a:pt x="0" y="0"/>
                </a:lnTo>
                <a:lnTo>
                  <a:pt x="0" y="129539"/>
                </a:lnTo>
                <a:close/>
              </a:path>
            </a:pathLst>
          </a:custGeom>
          <a:solidFill>
            <a:srgbClr val="A0A2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72231" y="3326663"/>
            <a:ext cx="1536700" cy="129539"/>
          </a:xfrm>
          <a:custGeom>
            <a:avLst/>
            <a:gdLst/>
            <a:ahLst/>
            <a:cxnLst/>
            <a:rect l="l" t="t" r="r" b="b"/>
            <a:pathLst>
              <a:path w="1536700" h="129539">
                <a:moveTo>
                  <a:pt x="0" y="129539"/>
                </a:moveTo>
                <a:lnTo>
                  <a:pt x="1536191" y="129539"/>
                </a:lnTo>
                <a:lnTo>
                  <a:pt x="1536191" y="0"/>
                </a:lnTo>
                <a:lnTo>
                  <a:pt x="0" y="0"/>
                </a:lnTo>
                <a:lnTo>
                  <a:pt x="0" y="129539"/>
                </a:lnTo>
                <a:close/>
              </a:path>
            </a:pathLst>
          </a:custGeom>
          <a:solidFill>
            <a:srgbClr val="CEB6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966640" y="3126132"/>
            <a:ext cx="516255" cy="939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spc="25">
                <a:solidFill>
                  <a:srgbClr val="231F20"/>
                </a:solidFill>
                <a:latin typeface="Arial"/>
                <a:cs typeface="Arial"/>
              </a:rPr>
              <a:t>B</a:t>
            </a:r>
            <a:r>
              <a:rPr sz="500" spc="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10">
                <a:solidFill>
                  <a:srgbClr val="231F20"/>
                </a:solidFill>
                <a:latin typeface="Arial"/>
                <a:cs typeface="Arial"/>
              </a:rPr>
              <a:t>U</a:t>
            </a:r>
            <a:r>
              <a:rPr sz="500" spc="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5">
                <a:solidFill>
                  <a:srgbClr val="231F20"/>
                </a:solidFill>
                <a:latin typeface="Arial"/>
                <a:cs typeface="Arial"/>
              </a:rPr>
              <a:t>S</a:t>
            </a:r>
            <a:r>
              <a:rPr sz="500" spc="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-20">
                <a:solidFill>
                  <a:srgbClr val="231F20"/>
                </a:solidFill>
                <a:latin typeface="Arial"/>
                <a:cs typeface="Arial"/>
              </a:rPr>
              <a:t>I</a:t>
            </a:r>
            <a:r>
              <a:rPr sz="500" spc="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20">
                <a:solidFill>
                  <a:srgbClr val="231F20"/>
                </a:solidFill>
                <a:latin typeface="Arial"/>
                <a:cs typeface="Arial"/>
              </a:rPr>
              <a:t>N</a:t>
            </a:r>
            <a:r>
              <a:rPr sz="500" spc="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-15">
                <a:solidFill>
                  <a:srgbClr val="231F20"/>
                </a:solidFill>
                <a:latin typeface="Arial"/>
                <a:cs typeface="Arial"/>
              </a:rPr>
              <a:t>E</a:t>
            </a:r>
            <a:r>
              <a:rPr sz="500" spc="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5">
                <a:solidFill>
                  <a:srgbClr val="231F20"/>
                </a:solidFill>
                <a:latin typeface="Arial"/>
                <a:cs typeface="Arial"/>
              </a:rPr>
              <a:t>S</a:t>
            </a:r>
            <a:r>
              <a:rPr sz="500" spc="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5">
                <a:solidFill>
                  <a:srgbClr val="231F20"/>
                </a:solidFill>
                <a:latin typeface="Arial"/>
                <a:cs typeface="Arial"/>
              </a:rPr>
              <a:t>S</a:t>
            </a:r>
            <a:endParaRPr sz="5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708906" y="3344562"/>
            <a:ext cx="30099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sz="600" spc="-35">
                <a:latin typeface="Arial"/>
                <a:cs typeface="Arial"/>
              </a:rPr>
              <a:t>P</a:t>
            </a:r>
            <a:r>
              <a:rPr sz="600" spc="-5">
                <a:latin typeface="Arial"/>
                <a:cs typeface="Arial"/>
              </a:rPr>
              <a:t>age</a:t>
            </a:r>
            <a:r>
              <a:rPr sz="600" spc="-10">
                <a:latin typeface="Arial"/>
                <a:cs typeface="Arial"/>
              </a:rPr>
              <a:t> </a:t>
            </a:r>
            <a:fld id="{81D60167-4931-47E6-BA6A-407CBD079E47}" type="slidenum">
              <a:rPr sz="600" spc="-5" dirty="0">
                <a:latin typeface="Arial"/>
                <a:cs typeface="Arial"/>
              </a:rPr>
              <a:t>1</a:t>
            </a:fld>
            <a:endParaRPr sz="600">
              <a:latin typeface="Arial"/>
              <a:cs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3DE640-4373-E05F-2E68-73D434B5B221}"/>
              </a:ext>
            </a:extLst>
          </p:cNvPr>
          <p:cNvSpPr txBox="1"/>
          <p:nvPr/>
        </p:nvSpPr>
        <p:spPr>
          <a:xfrm>
            <a:off x="778104" y="1528371"/>
            <a:ext cx="312418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Professor Burnes</a:t>
            </a:r>
          </a:p>
          <a:p>
            <a:pPr algn="ctr"/>
            <a:r>
              <a:rPr lang="en-US" b="1"/>
              <a:t>Leeds School of Business</a:t>
            </a:r>
          </a:p>
          <a:p>
            <a:pPr algn="ctr"/>
            <a:r>
              <a:rPr lang="en-US" b="1"/>
              <a:t>University of Colorado Boulder</a:t>
            </a:r>
          </a:p>
        </p:txBody>
      </p:sp>
    </p:spTree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BD3C7-E499-7253-B6E1-433666D10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Reviewing Schedule to End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4D8CDC-F0B0-FFA4-31D5-3CF79B9D92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169277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14.2  Collecting the Deal Parts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15.1 Strava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15.2 </a:t>
            </a:r>
            <a:r>
              <a:rPr lang="en-US" dirty="0" err="1"/>
              <a:t>SpinMaster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15.3  Review for Final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FINAL 12/14 4:30 -7:30 pm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A632DA-7D80-6A6C-6787-3BB266B3011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2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2253496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9C17F-5695-1683-B2ED-22F19919B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Deal Parts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2EE5A4-E24E-978B-6F06-BA685AF9B7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1015663"/>
          </a:xfrm>
        </p:spPr>
        <p:txBody>
          <a:bodyPr/>
          <a:lstStyle/>
          <a:p>
            <a:pPr marL="228600" indent="-228600">
              <a:buFont typeface="+mj-lt"/>
              <a:buAutoNum type="arabicParenR"/>
            </a:pPr>
            <a:r>
              <a:rPr lang="en-US" dirty="0"/>
              <a:t>5 Year Pro Forma</a:t>
            </a:r>
          </a:p>
          <a:p>
            <a:pPr marL="228600" indent="-228600">
              <a:buFont typeface="+mj-lt"/>
              <a:buAutoNum type="arabicParenR"/>
            </a:pPr>
            <a:r>
              <a:rPr lang="en-US" dirty="0"/>
              <a:t>What are you Raising? Why?</a:t>
            </a:r>
          </a:p>
          <a:p>
            <a:pPr marL="228600" indent="-228600">
              <a:buFont typeface="+mj-lt"/>
              <a:buAutoNum type="arabicParenR"/>
            </a:pPr>
            <a:r>
              <a:rPr lang="en-US" dirty="0"/>
              <a:t>Cap Table</a:t>
            </a:r>
          </a:p>
          <a:p>
            <a:pPr marL="228600" indent="-228600">
              <a:buFont typeface="+mj-lt"/>
              <a:buAutoNum type="arabicParenR"/>
            </a:pPr>
            <a:r>
              <a:rPr lang="en-US" dirty="0"/>
              <a:t>Valuation</a:t>
            </a:r>
          </a:p>
          <a:p>
            <a:pPr marL="228600" indent="-228600">
              <a:buFont typeface="+mj-lt"/>
              <a:buAutoNum type="arabicParenR"/>
            </a:pPr>
            <a:r>
              <a:rPr lang="en-US" dirty="0"/>
              <a:t>Term Sheet</a:t>
            </a:r>
          </a:p>
          <a:p>
            <a:pPr marL="228600" indent="-228600">
              <a:buFont typeface="+mj-lt"/>
              <a:buAutoNum type="arabicParenR"/>
            </a:pPr>
            <a:r>
              <a:rPr lang="en-US" dirty="0"/>
              <a:t>Due Diligence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594DD-AD6D-DD80-8ABD-AADEB3BD485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3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1487433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6B566-FE50-7581-245C-42CFD968E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Term Sheet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D4FE92-8BFF-C100-AF78-4EDB0BCBA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186204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Term Sheet is non-binding, BUT it represents a serious step forward.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an investor asks for a Term Sheet, this is a good sign, and you should be ready.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It opens negotiations AND indicates that you understand expected elements and conditions of an agreement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Please see the Foundry Term Sheet 2017</a:t>
            </a:r>
          </a:p>
          <a:p>
            <a:pPr marL="0" indent="0">
              <a:buNone/>
            </a:pPr>
            <a:r>
              <a:rPr lang="en-US" i="1" dirty="0"/>
              <a:t>Used with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D57150-70A9-688D-092E-D93EB1170CE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4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25430122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1AF95-DFA9-8648-B63A-A7E547541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Term Sheet Take Aways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2B6BD8-160B-319B-1784-DEBA743FBA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1692771"/>
          </a:xfrm>
        </p:spPr>
        <p:txBody>
          <a:bodyPr/>
          <a:lstStyle/>
          <a:p>
            <a:pPr marL="228600" indent="-228600">
              <a:buFont typeface="+mj-lt"/>
              <a:buAutoNum type="arabicParenR"/>
            </a:pPr>
            <a:r>
              <a:rPr lang="en-US" b="1" dirty="0"/>
              <a:t>Financing</a:t>
            </a:r>
            <a:r>
              <a:rPr lang="en-US" dirty="0"/>
              <a:t>: How much raising</a:t>
            </a:r>
          </a:p>
          <a:p>
            <a:pPr marL="228600" indent="-228600">
              <a:buFont typeface="+mj-lt"/>
              <a:buAutoNum type="arabicParenR"/>
            </a:pPr>
            <a:r>
              <a:rPr lang="en-US" b="1" dirty="0"/>
              <a:t>What</a:t>
            </a:r>
            <a:r>
              <a:rPr lang="en-US" dirty="0"/>
              <a:t> are you selling: Common vs Preferred Shares; Convertible Notes</a:t>
            </a:r>
          </a:p>
          <a:p>
            <a:pPr marL="228600" indent="-228600">
              <a:buFont typeface="+mj-lt"/>
              <a:buAutoNum type="arabicParenR"/>
            </a:pPr>
            <a:r>
              <a:rPr lang="en-US" b="1" dirty="0"/>
              <a:t>Investors</a:t>
            </a:r>
            <a:r>
              <a:rPr lang="en-US" dirty="0"/>
              <a:t>: WHO is playing</a:t>
            </a:r>
          </a:p>
          <a:p>
            <a:pPr marL="228600" indent="-228600">
              <a:buFont typeface="+mj-lt"/>
              <a:buAutoNum type="arabicParenR"/>
            </a:pPr>
            <a:r>
              <a:rPr lang="en-US" b="1" dirty="0"/>
              <a:t>Unissued</a:t>
            </a:r>
            <a:r>
              <a:rPr lang="en-US" dirty="0"/>
              <a:t> Employee Pool:</a:t>
            </a:r>
          </a:p>
          <a:p>
            <a:pPr marL="228600" indent="-228600">
              <a:buFont typeface="+mj-lt"/>
              <a:buAutoNum type="arabicParenR"/>
            </a:pPr>
            <a:r>
              <a:rPr lang="en-US" b="1" dirty="0"/>
              <a:t>Pre Money </a:t>
            </a:r>
            <a:r>
              <a:rPr lang="en-US" dirty="0"/>
              <a:t>Valuation</a:t>
            </a:r>
          </a:p>
          <a:p>
            <a:pPr marL="228600" indent="-228600">
              <a:buFont typeface="+mj-lt"/>
              <a:buAutoNum type="arabicParenR"/>
            </a:pPr>
            <a:r>
              <a:rPr lang="en-US" b="1" dirty="0"/>
              <a:t>Number</a:t>
            </a:r>
            <a:r>
              <a:rPr lang="en-US" dirty="0"/>
              <a:t> of Shares, $/Share</a:t>
            </a:r>
          </a:p>
          <a:p>
            <a:pPr marL="228600" indent="-228600">
              <a:buFont typeface="+mj-lt"/>
              <a:buAutoNum type="arabicParenR"/>
            </a:pPr>
            <a:r>
              <a:rPr lang="en-US" b="1" dirty="0"/>
              <a:t>Voting</a:t>
            </a:r>
            <a:r>
              <a:rPr lang="en-US" dirty="0"/>
              <a:t> Rights</a:t>
            </a:r>
          </a:p>
          <a:p>
            <a:pPr marL="228600" indent="-228600">
              <a:buFont typeface="+mj-lt"/>
              <a:buAutoNum type="arabicParenR"/>
            </a:pPr>
            <a:r>
              <a:rPr lang="en-US" b="1" dirty="0"/>
              <a:t>Liquidation</a:t>
            </a:r>
            <a:r>
              <a:rPr lang="en-US" dirty="0"/>
              <a:t> Preferences</a:t>
            </a:r>
          </a:p>
          <a:p>
            <a:pPr marL="228600" indent="-228600">
              <a:buFont typeface="+mj-lt"/>
              <a:buAutoNum type="arabicParenR"/>
            </a:pPr>
            <a:r>
              <a:rPr lang="en-US" b="1" dirty="0"/>
              <a:t>“no shop”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CE6BCD-E2A6-67CE-1C46-6C3A124223D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5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3041984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22E15-9ACF-2B5D-A842-AF52B0AD0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Due Diligence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C39F6B-7FE1-84BB-8A30-9593AA0EC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1523494"/>
          </a:xfrm>
        </p:spPr>
        <p:txBody>
          <a:bodyPr/>
          <a:lstStyle/>
          <a:p>
            <a:r>
              <a:rPr lang="en-US" dirty="0"/>
              <a:t>Please see example provided in Modules. This is good early stage company example DDR </a:t>
            </a:r>
          </a:p>
          <a:p>
            <a:endParaRPr lang="en-US" dirty="0"/>
          </a:p>
          <a:p>
            <a:r>
              <a:rPr lang="en-US" dirty="0"/>
              <a:t>Market</a:t>
            </a:r>
          </a:p>
          <a:p>
            <a:r>
              <a:rPr lang="en-US" dirty="0"/>
              <a:t>Competitors</a:t>
            </a:r>
          </a:p>
          <a:p>
            <a:r>
              <a:rPr lang="en-US" dirty="0"/>
              <a:t>You relative to Competitors</a:t>
            </a:r>
          </a:p>
          <a:p>
            <a:r>
              <a:rPr lang="en-US" dirty="0"/>
              <a:t>Multiples, other Exits</a:t>
            </a:r>
          </a:p>
          <a:p>
            <a:r>
              <a:rPr lang="en-US" dirty="0"/>
              <a:t>Raise Why</a:t>
            </a:r>
          </a:p>
          <a:p>
            <a:r>
              <a:rPr lang="en-US" dirty="0"/>
              <a:t>Proposed Valuation Assessment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6CF22F-1669-635E-AF23-2D44A92ABEF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6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1654821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03081-B3EA-8B79-9E8D-BE2FC7DB3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DDR Take Aways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EBB46-B58F-FA49-0803-6FB18D4D33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2200602"/>
          </a:xfrm>
        </p:spPr>
        <p:txBody>
          <a:bodyPr/>
          <a:lstStyle/>
          <a:p>
            <a:pPr marL="228600" indent="-228600">
              <a:buFont typeface="+mj-lt"/>
              <a:buAutoNum type="arabicParenR"/>
            </a:pPr>
            <a:r>
              <a:rPr lang="en-US" dirty="0"/>
              <a:t>Information comes through “Data Room” and market information</a:t>
            </a:r>
          </a:p>
          <a:p>
            <a:pPr marL="228600" indent="-228600">
              <a:buFont typeface="+mj-lt"/>
              <a:buAutoNum type="arabicParenR"/>
            </a:pPr>
            <a:r>
              <a:rPr lang="en-US" dirty="0"/>
              <a:t>Org Chart, Team Qualifications</a:t>
            </a:r>
          </a:p>
          <a:p>
            <a:pPr marL="228600" indent="-228600">
              <a:buFont typeface="+mj-lt"/>
              <a:buAutoNum type="arabicParenR"/>
            </a:pPr>
            <a:r>
              <a:rPr lang="en-US" dirty="0"/>
              <a:t>Product</a:t>
            </a:r>
          </a:p>
          <a:p>
            <a:pPr marL="228600" indent="-228600">
              <a:buFont typeface="+mj-lt"/>
              <a:buAutoNum type="arabicParenR"/>
            </a:pPr>
            <a:r>
              <a:rPr lang="en-US" dirty="0"/>
              <a:t>Market (size, potential,)</a:t>
            </a:r>
          </a:p>
          <a:p>
            <a:pPr marL="228600" indent="-228600">
              <a:buFont typeface="+mj-lt"/>
              <a:buAutoNum type="arabicParenR"/>
            </a:pPr>
            <a:r>
              <a:rPr lang="en-US" dirty="0"/>
              <a:t>Company Strategy</a:t>
            </a:r>
          </a:p>
          <a:p>
            <a:pPr marL="228600" indent="-228600">
              <a:buFont typeface="+mj-lt"/>
              <a:buAutoNum type="arabicParenR"/>
            </a:pPr>
            <a:r>
              <a:rPr lang="en-US" dirty="0"/>
              <a:t>Competitors</a:t>
            </a:r>
          </a:p>
          <a:p>
            <a:pPr marL="228600" indent="-228600">
              <a:buFont typeface="+mj-lt"/>
              <a:buAutoNum type="arabicParenR"/>
            </a:pPr>
            <a:r>
              <a:rPr lang="en-US" dirty="0"/>
              <a:t>Financials: growth, burn rate</a:t>
            </a:r>
          </a:p>
          <a:p>
            <a:pPr marL="228600" indent="-228600">
              <a:buFont typeface="+mj-lt"/>
              <a:buAutoNum type="arabicParenR"/>
            </a:pPr>
            <a:r>
              <a:rPr lang="en-US" dirty="0"/>
              <a:t>Cap Table</a:t>
            </a:r>
          </a:p>
          <a:p>
            <a:pPr marL="228600" indent="-228600">
              <a:buFont typeface="+mj-lt"/>
              <a:buAutoNum type="arabicParenR"/>
            </a:pPr>
            <a:r>
              <a:rPr lang="en-US" dirty="0"/>
              <a:t>Exit</a:t>
            </a:r>
          </a:p>
          <a:p>
            <a:pPr marL="228600" indent="-228600">
              <a:buFont typeface="+mj-lt"/>
              <a:buAutoNum type="arabicParenR"/>
            </a:pPr>
            <a:r>
              <a:rPr lang="en-US" dirty="0"/>
              <a:t>Valuation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i="1" dirty="0"/>
              <a:t>This is the investor’s work to evaluate their findings relative to company and set a basis for valuation/investment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8709F3-4F38-84E9-009B-9D70AF01643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7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3056470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96E4C-F163-CB29-953F-BCB2155EC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WHAT about NDA??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C8CBFD-404F-3A1C-AC75-4A026CB4A9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18F866-5E75-3FB0-8217-EC7C21CDA27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8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21829365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F47A28-05D4-E5ED-42DA-1D29B3F1E63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9</a:t>
            </a:fld>
            <a:endParaRPr spc="-5"/>
          </a:p>
        </p:txBody>
      </p:sp>
      <p:pic>
        <p:nvPicPr>
          <p:cNvPr id="9" name="Picture 8" descr="A graph of blue bars&#10;&#10;AI-generated content may be incorrect.">
            <a:extLst>
              <a:ext uri="{FF2B5EF4-FFF2-40B4-BE49-F238E27FC236}">
                <a16:creationId xmlns:a16="http://schemas.microsoft.com/office/drawing/2014/main" id="{F0F96900-69B2-B605-5A94-95C2EB1AB5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93" r="9566" b="8110"/>
          <a:stretch>
            <a:fillRect/>
          </a:stretch>
        </p:blipFill>
        <p:spPr>
          <a:xfrm>
            <a:off x="62821" y="404677"/>
            <a:ext cx="3043347" cy="1479792"/>
          </a:xfrm>
          <a:prstGeom prst="rect">
            <a:avLst/>
          </a:prstGeom>
        </p:spPr>
      </p:pic>
      <p:pic>
        <p:nvPicPr>
          <p:cNvPr id="10" name="Picture 9" descr="A graph of blue bars&#10;&#10;AI-generated content may be incorrect.">
            <a:extLst>
              <a:ext uri="{FF2B5EF4-FFF2-40B4-BE49-F238E27FC236}">
                <a16:creationId xmlns:a16="http://schemas.microsoft.com/office/drawing/2014/main" id="{98B53D78-05BE-D9B1-8A7E-63DBB237EA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1" t="17967" r="11411" b="9338"/>
          <a:stretch>
            <a:fillRect/>
          </a:stretch>
        </p:blipFill>
        <p:spPr>
          <a:xfrm>
            <a:off x="1472812" y="1986069"/>
            <a:ext cx="2876579" cy="135849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68FDA3C-54BD-458F-9DAA-7063FB7E552A}"/>
              </a:ext>
            </a:extLst>
          </p:cNvPr>
          <p:cNvSpPr txBox="1"/>
          <p:nvPr/>
        </p:nvSpPr>
        <p:spPr>
          <a:xfrm>
            <a:off x="52690" y="118411"/>
            <a:ext cx="28584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516993"/>
                </a:solidFill>
              </a:rPr>
              <a:t>IPO TRANSACTION VOLUME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E37E80-0C06-4640-A9A6-E688163C4963}"/>
              </a:ext>
            </a:extLst>
          </p:cNvPr>
          <p:cNvSpPr txBox="1"/>
          <p:nvPr/>
        </p:nvSpPr>
        <p:spPr>
          <a:xfrm>
            <a:off x="2117166" y="698112"/>
            <a:ext cx="8858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i="1" dirty="0">
                <a:solidFill>
                  <a:srgbClr val="C00000"/>
                </a:solidFill>
              </a:rPr>
              <a:t>Worldwide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E7ABE9-B28B-8456-451A-0B85BE1A50F8}"/>
              </a:ext>
            </a:extLst>
          </p:cNvPr>
          <p:cNvSpPr txBox="1"/>
          <p:nvPr/>
        </p:nvSpPr>
        <p:spPr>
          <a:xfrm>
            <a:off x="3344509" y="2241830"/>
            <a:ext cx="4392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i="1">
                <a:solidFill>
                  <a:srgbClr val="C00000"/>
                </a:solidFill>
              </a:rPr>
              <a:t>U.S.</a:t>
            </a:r>
            <a:endParaRPr lang="en-US" sz="1200" b="1" i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70435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745E7-23EB-A4ED-8279-2C84F33E4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190295"/>
            <a:ext cx="3696969" cy="430887"/>
          </a:xfrm>
        </p:spPr>
        <p:txBody>
          <a:bodyPr/>
          <a:lstStyle/>
          <a:p>
            <a:r>
              <a:rPr lang="en-US" dirty="0"/>
              <a:t>IPO – This is an 18-24 month process*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DC1234-3FB9-453E-BAD5-BEBC2FBE6C2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3524978" y="3344562"/>
            <a:ext cx="484918" cy="186269"/>
          </a:xfrm>
        </p:spPr>
        <p:txBody>
          <a:bodyPr/>
          <a:lstStyle/>
          <a:p>
            <a:pPr marL="12700">
              <a:lnSpc>
                <a:spcPts val="685"/>
              </a:lnSpc>
            </a:pPr>
            <a:r>
              <a:rPr lang="en-US" sz="1000" spc="-35" dirty="0"/>
              <a:t>P</a:t>
            </a:r>
            <a:r>
              <a:rPr lang="en-US" sz="1000" spc="-5" dirty="0"/>
              <a:t>age</a:t>
            </a:r>
            <a:r>
              <a:rPr lang="en-US" sz="1000" spc="-10" dirty="0"/>
              <a:t> </a:t>
            </a:r>
            <a:fld id="{81D60167-4931-47E6-BA6A-407CBD079E47}" type="slidenum">
              <a:rPr sz="1000" spc="-5" smtClean="0"/>
              <a:t>10</a:t>
            </a:fld>
            <a:endParaRPr sz="1000" spc="-5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97624A-BDBE-93D1-BE88-D9310F3EBB77}"/>
              </a:ext>
            </a:extLst>
          </p:cNvPr>
          <p:cNvSpPr/>
          <p:nvPr/>
        </p:nvSpPr>
        <p:spPr>
          <a:xfrm>
            <a:off x="182880" y="1054704"/>
            <a:ext cx="885083" cy="613551"/>
          </a:xfrm>
          <a:prstGeom prst="rect">
            <a:avLst/>
          </a:prstGeom>
          <a:solidFill>
            <a:srgbClr val="CEB67B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chemeClr val="tx1"/>
                </a:solidFill>
              </a:rPr>
              <a:t>Team</a:t>
            </a:r>
          </a:p>
          <a:p>
            <a:r>
              <a:rPr lang="en-US" sz="1000" dirty="0">
                <a:solidFill>
                  <a:schemeClr val="tx1"/>
                </a:solidFill>
              </a:rPr>
              <a:t>Auditors</a:t>
            </a:r>
          </a:p>
          <a:p>
            <a:r>
              <a:rPr lang="en-US" sz="1000" dirty="0">
                <a:solidFill>
                  <a:schemeClr val="tx1"/>
                </a:solidFill>
              </a:rPr>
              <a:t>Legal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7CEF8C-2516-F738-068B-752C8925EA5D}"/>
              </a:ext>
            </a:extLst>
          </p:cNvPr>
          <p:cNvSpPr/>
          <p:nvPr/>
        </p:nvSpPr>
        <p:spPr>
          <a:xfrm>
            <a:off x="1226139" y="1054704"/>
            <a:ext cx="920912" cy="613551"/>
          </a:xfrm>
          <a:prstGeom prst="rect">
            <a:avLst/>
          </a:prstGeom>
          <a:solidFill>
            <a:srgbClr val="CEB67B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chemeClr val="tx1"/>
                </a:solidFill>
              </a:rPr>
              <a:t>Investment Bank &amp; Syndication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0C0A30B-B1A2-67D2-BBBA-A2712754F614}"/>
              </a:ext>
            </a:extLst>
          </p:cNvPr>
          <p:cNvSpPr/>
          <p:nvPr/>
        </p:nvSpPr>
        <p:spPr>
          <a:xfrm>
            <a:off x="182880" y="2297852"/>
            <a:ext cx="885083" cy="613551"/>
          </a:xfrm>
          <a:prstGeom prst="rect">
            <a:avLst/>
          </a:prstGeom>
          <a:solidFill>
            <a:srgbClr val="CEB67B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chemeClr val="tx1"/>
                </a:solidFill>
              </a:rPr>
              <a:t>Institutional Investors</a:t>
            </a:r>
          </a:p>
        </p:txBody>
      </p:sp>
      <p:sp>
        <p:nvSpPr>
          <p:cNvPr id="12" name="Chevron 11">
            <a:extLst>
              <a:ext uri="{FF2B5EF4-FFF2-40B4-BE49-F238E27FC236}">
                <a16:creationId xmlns:a16="http://schemas.microsoft.com/office/drawing/2014/main" id="{A81BBE85-214B-B001-92BA-D7FBF06C2509}"/>
              </a:ext>
            </a:extLst>
          </p:cNvPr>
          <p:cNvSpPr/>
          <p:nvPr/>
        </p:nvSpPr>
        <p:spPr>
          <a:xfrm>
            <a:off x="159338" y="645267"/>
            <a:ext cx="1066800" cy="323981"/>
          </a:xfrm>
          <a:prstGeom prst="chevron">
            <a:avLst/>
          </a:prstGeom>
          <a:solidFill>
            <a:srgbClr val="A0A2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r>
              <a:rPr lang="en-US" sz="1000" dirty="0">
                <a:solidFill>
                  <a:schemeClr val="tx1"/>
                </a:solidFill>
              </a:rPr>
              <a:t>  Prep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590D84F-B587-6070-62D2-C44655A0D633}"/>
              </a:ext>
            </a:extLst>
          </p:cNvPr>
          <p:cNvSpPr/>
          <p:nvPr/>
        </p:nvSpPr>
        <p:spPr>
          <a:xfrm>
            <a:off x="1217933" y="2297852"/>
            <a:ext cx="885083" cy="613551"/>
          </a:xfrm>
          <a:prstGeom prst="rect">
            <a:avLst/>
          </a:prstGeom>
          <a:solidFill>
            <a:srgbClr val="CEB67B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chemeClr val="tx1"/>
                </a:solidFill>
              </a:rPr>
              <a:t>Investment Bank &amp; Syndication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CC144FA-241E-108D-BC69-DB2B8C3FD434}"/>
              </a:ext>
            </a:extLst>
          </p:cNvPr>
          <p:cNvSpPr/>
          <p:nvPr/>
        </p:nvSpPr>
        <p:spPr>
          <a:xfrm>
            <a:off x="2302414" y="2289467"/>
            <a:ext cx="805187" cy="621936"/>
          </a:xfrm>
          <a:prstGeom prst="rect">
            <a:avLst/>
          </a:prstGeom>
          <a:solidFill>
            <a:srgbClr val="CEB67B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chemeClr val="tx1"/>
                </a:solidFill>
              </a:rPr>
              <a:t>Close Order Book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4AAD8B1-EF17-21F3-04FD-EDC2DEBF4CCB}"/>
              </a:ext>
            </a:extLst>
          </p:cNvPr>
          <p:cNvSpPr/>
          <p:nvPr/>
        </p:nvSpPr>
        <p:spPr>
          <a:xfrm>
            <a:off x="3305465" y="1054703"/>
            <a:ext cx="884819" cy="613551"/>
          </a:xfrm>
          <a:prstGeom prst="rect">
            <a:avLst/>
          </a:prstGeom>
          <a:solidFill>
            <a:srgbClr val="CEB67B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chemeClr val="tx1"/>
                </a:solidFill>
              </a:rPr>
              <a:t>Ascertain Price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A070460-639A-90C1-BED6-C95156B99D46}"/>
              </a:ext>
            </a:extLst>
          </p:cNvPr>
          <p:cNvSpPr/>
          <p:nvPr/>
        </p:nvSpPr>
        <p:spPr>
          <a:xfrm>
            <a:off x="2321530" y="1045881"/>
            <a:ext cx="809456" cy="613551"/>
          </a:xfrm>
          <a:prstGeom prst="rect">
            <a:avLst/>
          </a:prstGeom>
          <a:solidFill>
            <a:srgbClr val="CEB67B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chemeClr val="tx1"/>
                </a:solidFill>
              </a:rPr>
              <a:t>Notice S1</a:t>
            </a:r>
          </a:p>
        </p:txBody>
      </p:sp>
      <p:sp>
        <p:nvSpPr>
          <p:cNvPr id="19" name="Chevron 18">
            <a:extLst>
              <a:ext uri="{FF2B5EF4-FFF2-40B4-BE49-F238E27FC236}">
                <a16:creationId xmlns:a16="http://schemas.microsoft.com/office/drawing/2014/main" id="{BC6682C2-7C33-F5BE-E2C1-FFFF38546AFA}"/>
              </a:ext>
            </a:extLst>
          </p:cNvPr>
          <p:cNvSpPr/>
          <p:nvPr/>
        </p:nvSpPr>
        <p:spPr>
          <a:xfrm>
            <a:off x="1200252" y="645267"/>
            <a:ext cx="1066800" cy="323981"/>
          </a:xfrm>
          <a:prstGeom prst="chevron">
            <a:avLst/>
          </a:prstGeom>
          <a:solidFill>
            <a:srgbClr val="A0A2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r>
              <a:rPr lang="en-US" sz="1000" dirty="0">
                <a:solidFill>
                  <a:schemeClr val="tx1"/>
                </a:solidFill>
              </a:rPr>
              <a:t>Select Underwriter</a:t>
            </a:r>
          </a:p>
        </p:txBody>
      </p:sp>
      <p:sp>
        <p:nvSpPr>
          <p:cNvPr id="20" name="Chevron 19">
            <a:extLst>
              <a:ext uri="{FF2B5EF4-FFF2-40B4-BE49-F238E27FC236}">
                <a16:creationId xmlns:a16="http://schemas.microsoft.com/office/drawing/2014/main" id="{88AC0481-27D6-4C4C-FF98-E8AC6D59E03D}"/>
              </a:ext>
            </a:extLst>
          </p:cNvPr>
          <p:cNvSpPr/>
          <p:nvPr/>
        </p:nvSpPr>
        <p:spPr>
          <a:xfrm>
            <a:off x="2241166" y="645267"/>
            <a:ext cx="1066800" cy="323981"/>
          </a:xfrm>
          <a:prstGeom prst="chevron">
            <a:avLst/>
          </a:prstGeom>
          <a:solidFill>
            <a:srgbClr val="A0A2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SEC</a:t>
            </a:r>
          </a:p>
        </p:txBody>
      </p:sp>
      <p:sp>
        <p:nvSpPr>
          <p:cNvPr id="21" name="Chevron 20">
            <a:extLst>
              <a:ext uri="{FF2B5EF4-FFF2-40B4-BE49-F238E27FC236}">
                <a16:creationId xmlns:a16="http://schemas.microsoft.com/office/drawing/2014/main" id="{DFC2C75F-A193-4987-263B-52DD38DDC59D}"/>
              </a:ext>
            </a:extLst>
          </p:cNvPr>
          <p:cNvSpPr/>
          <p:nvPr/>
        </p:nvSpPr>
        <p:spPr>
          <a:xfrm>
            <a:off x="3282080" y="645267"/>
            <a:ext cx="1066800" cy="323981"/>
          </a:xfrm>
          <a:prstGeom prst="chevron">
            <a:avLst/>
          </a:prstGeom>
          <a:solidFill>
            <a:srgbClr val="A0A2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Pre Sell</a:t>
            </a:r>
          </a:p>
        </p:txBody>
      </p:sp>
      <p:sp>
        <p:nvSpPr>
          <p:cNvPr id="22" name="Chevron 21">
            <a:extLst>
              <a:ext uri="{FF2B5EF4-FFF2-40B4-BE49-F238E27FC236}">
                <a16:creationId xmlns:a16="http://schemas.microsoft.com/office/drawing/2014/main" id="{574B33A3-689F-E3B8-7B6B-1F5C4822CD21}"/>
              </a:ext>
            </a:extLst>
          </p:cNvPr>
          <p:cNvSpPr/>
          <p:nvPr/>
        </p:nvSpPr>
        <p:spPr>
          <a:xfrm>
            <a:off x="133452" y="1900577"/>
            <a:ext cx="1066800" cy="323981"/>
          </a:xfrm>
          <a:prstGeom prst="chevron">
            <a:avLst/>
          </a:prstGeom>
          <a:solidFill>
            <a:srgbClr val="A0A2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r>
              <a:rPr lang="en-US" sz="1000" dirty="0">
                <a:solidFill>
                  <a:schemeClr val="tx1"/>
                </a:solidFill>
              </a:rPr>
              <a:t>Roadshow</a:t>
            </a:r>
          </a:p>
        </p:txBody>
      </p:sp>
      <p:sp>
        <p:nvSpPr>
          <p:cNvPr id="23" name="Chevron 22">
            <a:extLst>
              <a:ext uri="{FF2B5EF4-FFF2-40B4-BE49-F238E27FC236}">
                <a16:creationId xmlns:a16="http://schemas.microsoft.com/office/drawing/2014/main" id="{E8EF33CF-DBCB-62DA-911A-0CFE018C0477}"/>
              </a:ext>
            </a:extLst>
          </p:cNvPr>
          <p:cNvSpPr/>
          <p:nvPr/>
        </p:nvSpPr>
        <p:spPr>
          <a:xfrm>
            <a:off x="1162673" y="1900577"/>
            <a:ext cx="1066800" cy="323981"/>
          </a:xfrm>
          <a:prstGeom prst="chevron">
            <a:avLst/>
          </a:prstGeom>
          <a:solidFill>
            <a:srgbClr val="A0A2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r>
              <a:rPr lang="en-US" sz="1000" dirty="0">
                <a:solidFill>
                  <a:schemeClr val="tx1"/>
                </a:solidFill>
              </a:rPr>
              <a:t>Pricing Meeting</a:t>
            </a:r>
          </a:p>
        </p:txBody>
      </p:sp>
      <p:sp>
        <p:nvSpPr>
          <p:cNvPr id="24" name="Chevron 23">
            <a:extLst>
              <a:ext uri="{FF2B5EF4-FFF2-40B4-BE49-F238E27FC236}">
                <a16:creationId xmlns:a16="http://schemas.microsoft.com/office/drawing/2014/main" id="{DDFBD1F2-EB58-029F-8F10-1D5B74146CE9}"/>
              </a:ext>
            </a:extLst>
          </p:cNvPr>
          <p:cNvSpPr/>
          <p:nvPr/>
        </p:nvSpPr>
        <p:spPr>
          <a:xfrm>
            <a:off x="2215280" y="1900577"/>
            <a:ext cx="1066800" cy="323981"/>
          </a:xfrm>
          <a:prstGeom prst="chevron">
            <a:avLst/>
          </a:prstGeom>
          <a:solidFill>
            <a:srgbClr val="A0A2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Allocate Shares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964251D-38E4-5C79-7E66-A8B7E904D034}"/>
              </a:ext>
            </a:extLst>
          </p:cNvPr>
          <p:cNvSpPr txBox="1"/>
          <p:nvPr/>
        </p:nvSpPr>
        <p:spPr>
          <a:xfrm>
            <a:off x="124092" y="3199140"/>
            <a:ext cx="200086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*depending on firm and market</a:t>
            </a:r>
          </a:p>
        </p:txBody>
      </p:sp>
    </p:spTree>
    <p:extLst>
      <p:ext uri="{BB962C8B-B14F-4D97-AF65-F5344CB8AC3E}">
        <p14:creationId xmlns:p14="http://schemas.microsoft.com/office/powerpoint/2010/main" val="41735317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1BEF4-4A2C-DE0F-C624-6C2FB223F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97" y="164556"/>
            <a:ext cx="1761360" cy="407717"/>
          </a:xfrm>
        </p:spPr>
        <p:txBody>
          <a:bodyPr/>
          <a:lstStyle/>
          <a:p>
            <a:r>
              <a:rPr lang="en-US" dirty="0"/>
              <a:t>Have a SAFE and relaxing Fall Break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1062AE-9988-7D72-F64E-412C233FFB9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11</a:t>
            </a:fld>
            <a:endParaRPr spc="-5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C67E7A36-647F-4916-55A8-6968B172F0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17"/>
          <a:stretch/>
        </p:blipFill>
        <p:spPr bwMode="auto">
          <a:xfrm>
            <a:off x="1884269" y="124872"/>
            <a:ext cx="2658876" cy="1808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mage preview">
            <a:extLst>
              <a:ext uri="{FF2B5EF4-FFF2-40B4-BE49-F238E27FC236}">
                <a16:creationId xmlns:a16="http://schemas.microsoft.com/office/drawing/2014/main" id="{6A53BE31-06B9-078C-56F5-1E71F8519EF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00" r="19094" b="10864"/>
          <a:stretch/>
        </p:blipFill>
        <p:spPr bwMode="auto">
          <a:xfrm>
            <a:off x="126238" y="956821"/>
            <a:ext cx="1569494" cy="2642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F4BAAD4A-24E4-7609-3901-78B8EAB873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744" b="22504"/>
          <a:stretch/>
        </p:blipFill>
        <p:spPr bwMode="auto">
          <a:xfrm>
            <a:off x="1821657" y="1772239"/>
            <a:ext cx="2595563" cy="1894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5123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3ded8b1b-070d-4629-82e4-c0b019f46057}" enabled="0" method="" siteId="{3ded8b1b-070d-4629-82e4-c0b019f4605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1323</TotalTime>
  <Words>358</Words>
  <Application>Microsoft Office PowerPoint</Application>
  <PresentationFormat>Custom</PresentationFormat>
  <Paragraphs>100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Garamond</vt:lpstr>
      <vt:lpstr>Rockwell</vt:lpstr>
      <vt:lpstr>Office Theme</vt:lpstr>
      <vt:lpstr>    Entrepreneurial Finance Preparing for The Deal</vt:lpstr>
      <vt:lpstr>Reviewing Schedule to End</vt:lpstr>
      <vt:lpstr>Deal Parts</vt:lpstr>
      <vt:lpstr>Term Sheet</vt:lpstr>
      <vt:lpstr>Term Sheet Take Aways</vt:lpstr>
      <vt:lpstr>Due Diligence</vt:lpstr>
      <vt:lpstr>DDR Take Aways</vt:lpstr>
      <vt:lpstr>WHAT about NDA??</vt:lpstr>
      <vt:lpstr>PowerPoint Presentation</vt:lpstr>
      <vt:lpstr>IPO – This is an 18-24 month process*</vt:lpstr>
      <vt:lpstr>Have a SAFE and relaxing Fall Break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Entrepreneurial Finance  Lesson 1</dc:title>
  <dc:creator>Shaun Davies, CU-Boulder</dc:creator>
  <cp:lastModifiedBy>Ellen Burnes</cp:lastModifiedBy>
  <cp:revision>7</cp:revision>
  <dcterms:created xsi:type="dcterms:W3CDTF">2022-01-05T04:34:10Z</dcterms:created>
  <dcterms:modified xsi:type="dcterms:W3CDTF">2025-11-19T18:39:10Z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2017-02-19T00:00:00Z</vt:filetime>
  </property>
  <property fmtid="{D5CDD505-2E9C-101B-9397-08002B2CF9AE}" pid="3" name="Creator">
    <vt:lpwstr>LaTeX with Beamer class version 3.27</vt:lpwstr>
  </property>
  <property fmtid="{D5CDD505-2E9C-101B-9397-08002B2CF9AE}" pid="4" name="LastSaved">
    <vt:filetime>2022-01-05T00:00:00Z</vt:filetime>
  </property>
</Properties>
</file>