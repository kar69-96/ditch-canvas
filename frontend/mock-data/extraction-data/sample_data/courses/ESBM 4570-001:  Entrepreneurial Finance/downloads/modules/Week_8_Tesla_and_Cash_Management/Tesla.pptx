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74" r:id="rId3"/>
    <p:sldId id="281" r:id="rId4"/>
    <p:sldId id="278" r:id="rId5"/>
    <p:sldId id="279" r:id="rId6"/>
    <p:sldId id="277" r:id="rId7"/>
    <p:sldId id="280" r:id="rId8"/>
    <p:sldId id="276" r:id="rId9"/>
    <p:sldId id="273" r:id="rId10"/>
    <p:sldId id="275" r:id="rId11"/>
    <p:sldId id="282" r:id="rId12"/>
    <p:sldId id="283" r:id="rId13"/>
    <p:sldId id="284" r:id="rId14"/>
    <p:sldId id="285" r:id="rId15"/>
    <p:sldId id="286" r:id="rId16"/>
    <p:sldId id="287" r:id="rId17"/>
    <p:sldId id="288" r:id="rId18"/>
    <p:sldId id="290" r:id="rId19"/>
    <p:sldId id="289" r:id="rId20"/>
  </p:sldIdLst>
  <p:sldSz cx="4610100" cy="346075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334E"/>
    <a:srgbClr val="CEB67B"/>
    <a:srgbClr val="2640B7"/>
    <a:srgbClr val="A0A2A1"/>
    <a:srgbClr val="FEFEFE"/>
    <a:srgbClr val="DAD1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37"/>
    <p:restoredTop sz="94941"/>
  </p:normalViewPr>
  <p:slideViewPr>
    <p:cSldViewPr snapToGrid="0">
      <p:cViewPr varScale="1">
        <p:scale>
          <a:sx n="195" d="100"/>
          <a:sy n="195" d="100"/>
        </p:scale>
        <p:origin x="2016" y="15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en Burnes" userId="ca3eeb36-3cf7-49b7-874f-4993e3c98b53" providerId="ADAL" clId="{72BB43AB-091C-E94A-9249-C9328D4BE501}"/>
    <pc:docChg chg="addSld delSld modSld">
      <pc:chgData name="Ellen Burnes" userId="ca3eeb36-3cf7-49b7-874f-4993e3c98b53" providerId="ADAL" clId="{72BB43AB-091C-E94A-9249-C9328D4BE501}" dt="2025-10-06T02:07:23.091" v="23" actId="2696"/>
      <pc:docMkLst>
        <pc:docMk/>
      </pc:docMkLst>
      <pc:sldChg chg="modSp new del mod">
        <pc:chgData name="Ellen Burnes" userId="ca3eeb36-3cf7-49b7-874f-4993e3c98b53" providerId="ADAL" clId="{72BB43AB-091C-E94A-9249-C9328D4BE501}" dt="2025-10-06T02:07:23.091" v="23" actId="2696"/>
        <pc:sldMkLst>
          <pc:docMk/>
          <pc:sldMk cId="230493349" sldId="290"/>
        </pc:sldMkLst>
        <pc:spChg chg="mod">
          <ac:chgData name="Ellen Burnes" userId="ca3eeb36-3cf7-49b7-874f-4993e3c98b53" providerId="ADAL" clId="{72BB43AB-091C-E94A-9249-C9328D4BE501}" dt="2025-10-06T02:07:04.643" v="22" actId="20577"/>
          <ac:spMkLst>
            <pc:docMk/>
            <pc:sldMk cId="230493349" sldId="290"/>
            <ac:spMk id="2" creationId="{5C31B50B-8043-3048-566F-67446AE0BE3C}"/>
          </ac:spMkLst>
        </pc:spChg>
      </pc:sldChg>
    </pc:docChg>
  </pc:docChgLst>
  <pc:docChgLst>
    <pc:chgData name="Ellen Burnes" userId="ca3eeb36-3cf7-49b7-874f-4993e3c98b53" providerId="ADAL" clId="{1D96F27E-C9C6-4A65-9311-25FF4A53E278}"/>
    <pc:docChg chg="custSel addSld modSld">
      <pc:chgData name="Ellen Burnes" userId="ca3eeb36-3cf7-49b7-874f-4993e3c98b53" providerId="ADAL" clId="{1D96F27E-C9C6-4A65-9311-25FF4A53E278}" dt="2025-10-06T18:06:17.944" v="153" actId="114"/>
      <pc:docMkLst>
        <pc:docMk/>
      </pc:docMkLst>
      <pc:sldChg chg="modSp new mod">
        <pc:chgData name="Ellen Burnes" userId="ca3eeb36-3cf7-49b7-874f-4993e3c98b53" providerId="ADAL" clId="{1D96F27E-C9C6-4A65-9311-25FF4A53E278}" dt="2025-10-06T18:06:17.944" v="153" actId="114"/>
        <pc:sldMkLst>
          <pc:docMk/>
          <pc:sldMk cId="4180460740" sldId="290"/>
        </pc:sldMkLst>
        <pc:spChg chg="mod">
          <ac:chgData name="Ellen Burnes" userId="ca3eeb36-3cf7-49b7-874f-4993e3c98b53" providerId="ADAL" clId="{1D96F27E-C9C6-4A65-9311-25FF4A53E278}" dt="2025-10-06T17:55:09.208" v="24" actId="20577"/>
          <ac:spMkLst>
            <pc:docMk/>
            <pc:sldMk cId="4180460740" sldId="290"/>
            <ac:spMk id="2" creationId="{61A0EAAF-22AB-8D4B-88F2-0551FC1FD7B7}"/>
          </ac:spMkLst>
        </pc:spChg>
        <pc:spChg chg="mod">
          <ac:chgData name="Ellen Burnes" userId="ca3eeb36-3cf7-49b7-874f-4993e3c98b53" providerId="ADAL" clId="{1D96F27E-C9C6-4A65-9311-25FF4A53E278}" dt="2025-10-06T18:06:17.944" v="153" actId="114"/>
          <ac:spMkLst>
            <pc:docMk/>
            <pc:sldMk cId="4180460740" sldId="290"/>
            <ac:spMk id="3" creationId="{5B9CD978-E305-7518-A9A3-CD90F41765E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2725" y="0"/>
            <a:ext cx="3078163" cy="469900"/>
          </a:xfrm>
          <a:prstGeom prst="rect">
            <a:avLst/>
          </a:prstGeom>
        </p:spPr>
        <p:txBody>
          <a:bodyPr vert="horz" lIns="91440" tIns="45720" rIns="91440" bIns="45720" rtlCol="0"/>
          <a:lstStyle>
            <a:lvl1pPr algn="r">
              <a:defRPr sz="1200"/>
            </a:lvl1pPr>
          </a:lstStyle>
          <a:p>
            <a:fld id="{44159A37-F57B-F441-8FBD-4AEC1EB171AC}" type="datetimeFigureOut">
              <a:rPr lang="en-US" smtClean="0"/>
              <a:t>10/6/2025</a:t>
            </a:fld>
            <a:endParaRPr lang="en-US"/>
          </a:p>
        </p:txBody>
      </p:sp>
      <p:sp>
        <p:nvSpPr>
          <p:cNvPr id="4" name="Slide Image Placeholder 3"/>
          <p:cNvSpPr>
            <a:spLocks noGrp="1" noRot="1" noChangeAspect="1"/>
          </p:cNvSpPr>
          <p:nvPr>
            <p:ph type="sldImg" idx="2"/>
          </p:nvPr>
        </p:nvSpPr>
        <p:spPr>
          <a:xfrm>
            <a:off x="1441450" y="1173163"/>
            <a:ext cx="4219575" cy="31686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2725" y="8918575"/>
            <a:ext cx="3078163" cy="469900"/>
          </a:xfrm>
          <a:prstGeom prst="rect">
            <a:avLst/>
          </a:prstGeom>
        </p:spPr>
        <p:txBody>
          <a:bodyPr vert="horz" lIns="91440" tIns="45720" rIns="91440" bIns="45720" rtlCol="0" anchor="b"/>
          <a:lstStyle>
            <a:lvl1pPr algn="r">
              <a:defRPr sz="1200"/>
            </a:lvl1pPr>
          </a:lstStyle>
          <a:p>
            <a:fld id="{4F0FA299-5294-AD47-8ACD-E81D24A7609A}" type="slidenum">
              <a:rPr lang="en-US" smtClean="0"/>
              <a:t>‹#›</a:t>
            </a:fld>
            <a:endParaRPr lang="en-US"/>
          </a:p>
        </p:txBody>
      </p:sp>
    </p:spTree>
    <p:extLst>
      <p:ext uri="{BB962C8B-B14F-4D97-AF65-F5344CB8AC3E}">
        <p14:creationId xmlns:p14="http://schemas.microsoft.com/office/powerpoint/2010/main" val="457740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0FA299-5294-AD47-8ACD-E81D24A7609A}" type="slidenum">
              <a:rPr lang="en-US" smtClean="0"/>
              <a:t>1</a:t>
            </a:fld>
            <a:endParaRPr lang="en-US"/>
          </a:p>
        </p:txBody>
      </p:sp>
    </p:spTree>
    <p:extLst>
      <p:ext uri="{BB962C8B-B14F-4D97-AF65-F5344CB8AC3E}">
        <p14:creationId xmlns:p14="http://schemas.microsoft.com/office/powerpoint/2010/main" val="2560453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spc="-5"/>
              <a:t>Leeds</a:t>
            </a:r>
          </a:p>
          <a:p>
            <a:pPr marL="12700">
              <a:lnSpc>
                <a:spcPts val="515"/>
              </a:lnSpc>
            </a:pPr>
            <a:r>
              <a:rPr sz="500" b="0" spc="25">
                <a:latin typeface="Arial"/>
                <a:cs typeface="Arial"/>
              </a:rPr>
              <a:t>B </a:t>
            </a:r>
            <a:r>
              <a:rPr sz="500" b="0" spc="10">
                <a:latin typeface="Arial"/>
                <a:cs typeface="Arial"/>
              </a:rPr>
              <a:t>U</a:t>
            </a:r>
            <a:r>
              <a:rPr sz="500" b="0" spc="30">
                <a:latin typeface="Arial"/>
                <a:cs typeface="Arial"/>
              </a:rPr>
              <a:t> </a:t>
            </a:r>
            <a:r>
              <a:rPr sz="500" b="0" spc="5">
                <a:latin typeface="Arial"/>
                <a:cs typeface="Arial"/>
              </a:rPr>
              <a:t>S</a:t>
            </a:r>
            <a:r>
              <a:rPr sz="500" b="0" spc="30">
                <a:latin typeface="Arial"/>
                <a:cs typeface="Arial"/>
              </a:rPr>
              <a:t> </a:t>
            </a:r>
            <a:r>
              <a:rPr sz="500" b="0" spc="-20">
                <a:latin typeface="Arial"/>
                <a:cs typeface="Arial"/>
              </a:rPr>
              <a:t>I</a:t>
            </a:r>
            <a:r>
              <a:rPr sz="500" b="0" spc="30">
                <a:latin typeface="Arial"/>
                <a:cs typeface="Arial"/>
              </a:rPr>
              <a:t> </a:t>
            </a:r>
            <a:r>
              <a:rPr sz="500" b="0" spc="20">
                <a:latin typeface="Arial"/>
                <a:cs typeface="Arial"/>
              </a:rPr>
              <a:t>N</a:t>
            </a:r>
            <a:r>
              <a:rPr sz="500" b="0" spc="30">
                <a:latin typeface="Arial"/>
                <a:cs typeface="Arial"/>
              </a:rPr>
              <a:t> </a:t>
            </a:r>
            <a:r>
              <a:rPr sz="500" b="0" spc="-15">
                <a:latin typeface="Arial"/>
                <a:cs typeface="Arial"/>
              </a:rPr>
              <a:t>E</a:t>
            </a:r>
            <a:r>
              <a:rPr sz="500" b="0" spc="30">
                <a:latin typeface="Arial"/>
                <a:cs typeface="Arial"/>
              </a:rPr>
              <a:t> </a:t>
            </a:r>
            <a:r>
              <a:rPr sz="500" b="0" spc="5">
                <a:latin typeface="Arial"/>
                <a:cs typeface="Arial"/>
              </a:rPr>
              <a:t>S</a:t>
            </a:r>
            <a:r>
              <a:rPr sz="500" b="0" spc="30">
                <a:latin typeface="Arial"/>
                <a:cs typeface="Arial"/>
              </a:rPr>
              <a:t> </a:t>
            </a:r>
            <a:r>
              <a:rPr sz="500" b="0" spc="5">
                <a:latin typeface="Arial"/>
                <a:cs typeface="Arial"/>
              </a:rPr>
              <a:t>S</a:t>
            </a:r>
            <a:endParaRPr sz="500">
              <a:latin typeface="Arial"/>
              <a:cs typeface="Arial"/>
            </a:endParaRPr>
          </a:p>
        </p:txBody>
      </p:sp>
      <p:sp>
        <p:nvSpPr>
          <p:cNvPr id="6" name="Holder 6"/>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a:t>P</a:t>
            </a:r>
            <a:r>
              <a:rPr spc="-5"/>
              <a:t>age</a:t>
            </a:r>
            <a:r>
              <a:rPr spc="-10"/>
              <a:t> </a:t>
            </a:r>
            <a:r>
              <a:rPr spc="-5"/>
              <a:t>2</a:t>
            </a:r>
            <a:fld id="{81D60167-4931-47E6-BA6A-407CBD079E47}" type="slidenum">
              <a:rPr spc="-5" dirty="0"/>
              <a:t>‹#›</a:t>
            </a:fld>
            <a:endParaRPr spc="-5"/>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526894"/>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Arial"/>
                <a:cs typeface="Arial"/>
              </a:defRPr>
            </a:lvl1pPr>
          </a:lstStyle>
          <a:p>
            <a:endParaRPr/>
          </a:p>
        </p:txBody>
      </p:sp>
      <p:sp>
        <p:nvSpPr>
          <p:cNvPr id="5" name="Holder 5"/>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spc="-5" dirty="0"/>
              <a:t>Leeds</a:t>
            </a:r>
          </a:p>
          <a:p>
            <a:pPr marL="12700">
              <a:lnSpc>
                <a:spcPts val="515"/>
              </a:lnSpc>
            </a:pPr>
            <a:r>
              <a:rPr sz="500" b="0" spc="25" dirty="0">
                <a:latin typeface="Arial"/>
                <a:cs typeface="Arial"/>
              </a:rPr>
              <a:t>B </a:t>
            </a:r>
            <a:r>
              <a:rPr sz="500" b="0" spc="10" dirty="0">
                <a:latin typeface="Arial"/>
                <a:cs typeface="Arial"/>
              </a:rPr>
              <a:t>U</a:t>
            </a:r>
            <a:r>
              <a:rPr sz="500" b="0" spc="30" dirty="0">
                <a:latin typeface="Arial"/>
                <a:cs typeface="Arial"/>
              </a:rPr>
              <a:t> </a:t>
            </a:r>
            <a:r>
              <a:rPr sz="500" b="0" spc="5" dirty="0">
                <a:latin typeface="Arial"/>
                <a:cs typeface="Arial"/>
              </a:rPr>
              <a:t>S</a:t>
            </a:r>
            <a:r>
              <a:rPr sz="500" b="0" spc="30" dirty="0">
                <a:latin typeface="Arial"/>
                <a:cs typeface="Arial"/>
              </a:rPr>
              <a:t> </a:t>
            </a:r>
            <a:r>
              <a:rPr sz="500" b="0" spc="-20" dirty="0">
                <a:latin typeface="Arial"/>
                <a:cs typeface="Arial"/>
              </a:rPr>
              <a:t>I</a:t>
            </a:r>
            <a:r>
              <a:rPr sz="500" b="0" spc="30" dirty="0">
                <a:latin typeface="Arial"/>
                <a:cs typeface="Arial"/>
              </a:rPr>
              <a:t> </a:t>
            </a:r>
            <a:r>
              <a:rPr sz="500" b="0" spc="20" dirty="0">
                <a:latin typeface="Arial"/>
                <a:cs typeface="Arial"/>
              </a:rPr>
              <a:t>N</a:t>
            </a:r>
            <a:r>
              <a:rPr sz="500" b="0" spc="30" dirty="0">
                <a:latin typeface="Arial"/>
                <a:cs typeface="Arial"/>
              </a:rPr>
              <a:t> </a:t>
            </a:r>
            <a:r>
              <a:rPr sz="500" b="0" spc="-15" dirty="0">
                <a:latin typeface="Arial"/>
                <a:cs typeface="Arial"/>
              </a:rPr>
              <a:t>E</a:t>
            </a:r>
            <a:r>
              <a:rPr sz="500" b="0" spc="30" dirty="0">
                <a:latin typeface="Arial"/>
                <a:cs typeface="Arial"/>
              </a:rPr>
              <a:t> </a:t>
            </a:r>
            <a:r>
              <a:rPr sz="500" b="0" spc="5" dirty="0">
                <a:latin typeface="Arial"/>
                <a:cs typeface="Arial"/>
              </a:rPr>
              <a:t>S</a:t>
            </a:r>
            <a:r>
              <a:rPr sz="500" b="0" spc="30" dirty="0">
                <a:latin typeface="Arial"/>
                <a:cs typeface="Arial"/>
              </a:rPr>
              <a:t> </a:t>
            </a:r>
            <a:r>
              <a:rPr sz="500" b="0" spc="5" dirty="0">
                <a:latin typeface="Arial"/>
                <a:cs typeface="Arial"/>
              </a:rPr>
              <a:t>S</a:t>
            </a:r>
            <a:endParaRPr sz="500" dirty="0">
              <a:latin typeface="Arial"/>
              <a:cs typeface="Arial"/>
            </a:endParaRPr>
          </a:p>
        </p:txBody>
      </p:sp>
      <p:sp>
        <p:nvSpPr>
          <p:cNvPr id="6" name="Holder 6"/>
          <p:cNvSpPr>
            <a:spLocks noGrp="1"/>
          </p:cNvSpPr>
          <p:nvPr>
            <p:ph type="sldNum" sz="quarter" idx="7"/>
          </p:nvPr>
        </p:nvSpPr>
        <p:spPr>
          <a:xfrm>
            <a:off x="3581489" y="3064475"/>
            <a:ext cx="343535" cy="101600"/>
          </a:xfrm>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r>
              <a:rPr spc="-5" dirty="0"/>
              <a:t>2</a:t>
            </a:r>
            <a:fld id="{81D60167-4931-47E6-BA6A-407CBD079E47}" type="slidenum">
              <a:rPr spc="-5" dirty="0"/>
              <a:t>‹#›</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526894"/>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spc="-5"/>
              <a:t>Leeds</a:t>
            </a:r>
          </a:p>
          <a:p>
            <a:pPr marL="12700">
              <a:lnSpc>
                <a:spcPts val="515"/>
              </a:lnSpc>
            </a:pPr>
            <a:r>
              <a:rPr sz="500" b="0" spc="25">
                <a:latin typeface="Arial"/>
                <a:cs typeface="Arial"/>
              </a:rPr>
              <a:t>B </a:t>
            </a:r>
            <a:r>
              <a:rPr sz="500" b="0" spc="10">
                <a:latin typeface="Arial"/>
                <a:cs typeface="Arial"/>
              </a:rPr>
              <a:t>U</a:t>
            </a:r>
            <a:r>
              <a:rPr sz="500" b="0" spc="30">
                <a:latin typeface="Arial"/>
                <a:cs typeface="Arial"/>
              </a:rPr>
              <a:t> </a:t>
            </a:r>
            <a:r>
              <a:rPr sz="500" b="0" spc="5">
                <a:latin typeface="Arial"/>
                <a:cs typeface="Arial"/>
              </a:rPr>
              <a:t>S</a:t>
            </a:r>
            <a:r>
              <a:rPr sz="500" b="0" spc="30">
                <a:latin typeface="Arial"/>
                <a:cs typeface="Arial"/>
              </a:rPr>
              <a:t> </a:t>
            </a:r>
            <a:r>
              <a:rPr sz="500" b="0" spc="-20">
                <a:latin typeface="Arial"/>
                <a:cs typeface="Arial"/>
              </a:rPr>
              <a:t>I</a:t>
            </a:r>
            <a:r>
              <a:rPr sz="500" b="0" spc="30">
                <a:latin typeface="Arial"/>
                <a:cs typeface="Arial"/>
              </a:rPr>
              <a:t> </a:t>
            </a:r>
            <a:r>
              <a:rPr sz="500" b="0" spc="20">
                <a:latin typeface="Arial"/>
                <a:cs typeface="Arial"/>
              </a:rPr>
              <a:t>N</a:t>
            </a:r>
            <a:r>
              <a:rPr sz="500" b="0" spc="30">
                <a:latin typeface="Arial"/>
                <a:cs typeface="Arial"/>
              </a:rPr>
              <a:t> </a:t>
            </a:r>
            <a:r>
              <a:rPr sz="500" b="0" spc="-15">
                <a:latin typeface="Arial"/>
                <a:cs typeface="Arial"/>
              </a:rPr>
              <a:t>E</a:t>
            </a:r>
            <a:r>
              <a:rPr sz="500" b="0" spc="30">
                <a:latin typeface="Arial"/>
                <a:cs typeface="Arial"/>
              </a:rPr>
              <a:t> </a:t>
            </a:r>
            <a:r>
              <a:rPr sz="500" b="0" spc="5">
                <a:latin typeface="Arial"/>
                <a:cs typeface="Arial"/>
              </a:rPr>
              <a:t>S</a:t>
            </a:r>
            <a:r>
              <a:rPr sz="500" b="0" spc="30">
                <a:latin typeface="Arial"/>
                <a:cs typeface="Arial"/>
              </a:rPr>
              <a:t> </a:t>
            </a:r>
            <a:r>
              <a:rPr sz="500" b="0" spc="5">
                <a:latin typeface="Arial"/>
                <a:cs typeface="Arial"/>
              </a:rPr>
              <a:t>S</a:t>
            </a:r>
            <a:endParaRPr sz="500">
              <a:latin typeface="Arial"/>
              <a:cs typeface="Arial"/>
            </a:endParaRPr>
          </a:p>
        </p:txBody>
      </p:sp>
      <p:sp>
        <p:nvSpPr>
          <p:cNvPr id="7" name="Holder 7"/>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a:t>P</a:t>
            </a:r>
            <a:r>
              <a:rPr spc="-5"/>
              <a:t>age</a:t>
            </a:r>
            <a:r>
              <a:rPr spc="-10"/>
              <a:t> </a:t>
            </a:r>
            <a:r>
              <a:rPr spc="-5"/>
              <a:t>2</a:t>
            </a:r>
            <a:fld id="{81D60167-4931-47E6-BA6A-407CBD079E47}" type="slidenum">
              <a:rPr spc="-5" dirty="0"/>
              <a:t>‹#›</a:t>
            </a:fld>
            <a:endParaRPr spc="-5"/>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526894"/>
                </a:solidFill>
                <a:latin typeface="Arial"/>
                <a:cs typeface="Arial"/>
              </a:defRPr>
            </a:lvl1pPr>
          </a:lstStyle>
          <a:p>
            <a:endParaRPr/>
          </a:p>
        </p:txBody>
      </p:sp>
      <p:sp>
        <p:nvSpPr>
          <p:cNvPr id="4" name="Holder 4"/>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spc="-5"/>
              <a:t>Leeds</a:t>
            </a:r>
          </a:p>
          <a:p>
            <a:pPr marL="12700">
              <a:lnSpc>
                <a:spcPts val="515"/>
              </a:lnSpc>
            </a:pPr>
            <a:r>
              <a:rPr sz="500" b="0" spc="25">
                <a:latin typeface="Arial"/>
                <a:cs typeface="Arial"/>
              </a:rPr>
              <a:t>B </a:t>
            </a:r>
            <a:r>
              <a:rPr sz="500" b="0" spc="10">
                <a:latin typeface="Arial"/>
                <a:cs typeface="Arial"/>
              </a:rPr>
              <a:t>U</a:t>
            </a:r>
            <a:r>
              <a:rPr sz="500" b="0" spc="30">
                <a:latin typeface="Arial"/>
                <a:cs typeface="Arial"/>
              </a:rPr>
              <a:t> </a:t>
            </a:r>
            <a:r>
              <a:rPr sz="500" b="0" spc="5">
                <a:latin typeface="Arial"/>
                <a:cs typeface="Arial"/>
              </a:rPr>
              <a:t>S</a:t>
            </a:r>
            <a:r>
              <a:rPr sz="500" b="0" spc="30">
                <a:latin typeface="Arial"/>
                <a:cs typeface="Arial"/>
              </a:rPr>
              <a:t> </a:t>
            </a:r>
            <a:r>
              <a:rPr sz="500" b="0" spc="-20">
                <a:latin typeface="Arial"/>
                <a:cs typeface="Arial"/>
              </a:rPr>
              <a:t>I</a:t>
            </a:r>
            <a:r>
              <a:rPr sz="500" b="0" spc="30">
                <a:latin typeface="Arial"/>
                <a:cs typeface="Arial"/>
              </a:rPr>
              <a:t> </a:t>
            </a:r>
            <a:r>
              <a:rPr sz="500" b="0" spc="20">
                <a:latin typeface="Arial"/>
                <a:cs typeface="Arial"/>
              </a:rPr>
              <a:t>N</a:t>
            </a:r>
            <a:r>
              <a:rPr sz="500" b="0" spc="30">
                <a:latin typeface="Arial"/>
                <a:cs typeface="Arial"/>
              </a:rPr>
              <a:t> </a:t>
            </a:r>
            <a:r>
              <a:rPr sz="500" b="0" spc="-15">
                <a:latin typeface="Arial"/>
                <a:cs typeface="Arial"/>
              </a:rPr>
              <a:t>E</a:t>
            </a:r>
            <a:r>
              <a:rPr sz="500" b="0" spc="30">
                <a:latin typeface="Arial"/>
                <a:cs typeface="Arial"/>
              </a:rPr>
              <a:t> </a:t>
            </a:r>
            <a:r>
              <a:rPr sz="500" b="0" spc="5">
                <a:latin typeface="Arial"/>
                <a:cs typeface="Arial"/>
              </a:rPr>
              <a:t>S</a:t>
            </a:r>
            <a:r>
              <a:rPr sz="500" b="0" spc="30">
                <a:latin typeface="Arial"/>
                <a:cs typeface="Arial"/>
              </a:rPr>
              <a:t> </a:t>
            </a:r>
            <a:r>
              <a:rPr sz="500" b="0" spc="5">
                <a:latin typeface="Arial"/>
                <a:cs typeface="Arial"/>
              </a:rPr>
              <a:t>S</a:t>
            </a:r>
            <a:endParaRPr sz="500">
              <a:latin typeface="Arial"/>
              <a:cs typeface="Arial"/>
            </a:endParaRPr>
          </a:p>
        </p:txBody>
      </p:sp>
      <p:sp>
        <p:nvSpPr>
          <p:cNvPr id="5" name="Holder 5"/>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a:t>P</a:t>
            </a:r>
            <a:r>
              <a:rPr spc="-5"/>
              <a:t>age</a:t>
            </a:r>
            <a:r>
              <a:rPr spc="-10"/>
              <a:t> </a:t>
            </a:r>
            <a:r>
              <a:rPr spc="-5"/>
              <a:t>2</a:t>
            </a:r>
            <a:fld id="{81D60167-4931-47E6-BA6A-407CBD079E47}" type="slidenum">
              <a:rPr spc="-5" dirty="0"/>
              <a:t>‹#›</a:t>
            </a:fld>
            <a:endParaRPr spc="-5"/>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spc="-5"/>
              <a:t>Leeds</a:t>
            </a:r>
          </a:p>
          <a:p>
            <a:pPr marL="12700">
              <a:lnSpc>
                <a:spcPts val="515"/>
              </a:lnSpc>
            </a:pPr>
            <a:r>
              <a:rPr sz="500" b="0" spc="25">
                <a:latin typeface="Arial"/>
                <a:cs typeface="Arial"/>
              </a:rPr>
              <a:t>B </a:t>
            </a:r>
            <a:r>
              <a:rPr sz="500" b="0" spc="10">
                <a:latin typeface="Arial"/>
                <a:cs typeface="Arial"/>
              </a:rPr>
              <a:t>U</a:t>
            </a:r>
            <a:r>
              <a:rPr sz="500" b="0" spc="30">
                <a:latin typeface="Arial"/>
                <a:cs typeface="Arial"/>
              </a:rPr>
              <a:t> </a:t>
            </a:r>
            <a:r>
              <a:rPr sz="500" b="0" spc="5">
                <a:latin typeface="Arial"/>
                <a:cs typeface="Arial"/>
              </a:rPr>
              <a:t>S</a:t>
            </a:r>
            <a:r>
              <a:rPr sz="500" b="0" spc="30">
                <a:latin typeface="Arial"/>
                <a:cs typeface="Arial"/>
              </a:rPr>
              <a:t> </a:t>
            </a:r>
            <a:r>
              <a:rPr sz="500" b="0" spc="-20">
                <a:latin typeface="Arial"/>
                <a:cs typeface="Arial"/>
              </a:rPr>
              <a:t>I</a:t>
            </a:r>
            <a:r>
              <a:rPr sz="500" b="0" spc="30">
                <a:latin typeface="Arial"/>
                <a:cs typeface="Arial"/>
              </a:rPr>
              <a:t> </a:t>
            </a:r>
            <a:r>
              <a:rPr sz="500" b="0" spc="20">
                <a:latin typeface="Arial"/>
                <a:cs typeface="Arial"/>
              </a:rPr>
              <a:t>N</a:t>
            </a:r>
            <a:r>
              <a:rPr sz="500" b="0" spc="30">
                <a:latin typeface="Arial"/>
                <a:cs typeface="Arial"/>
              </a:rPr>
              <a:t> </a:t>
            </a:r>
            <a:r>
              <a:rPr sz="500" b="0" spc="-15">
                <a:latin typeface="Arial"/>
                <a:cs typeface="Arial"/>
              </a:rPr>
              <a:t>E</a:t>
            </a:r>
            <a:r>
              <a:rPr sz="500" b="0" spc="30">
                <a:latin typeface="Arial"/>
                <a:cs typeface="Arial"/>
              </a:rPr>
              <a:t> </a:t>
            </a:r>
            <a:r>
              <a:rPr sz="500" b="0" spc="5">
                <a:latin typeface="Arial"/>
                <a:cs typeface="Arial"/>
              </a:rPr>
              <a:t>S</a:t>
            </a:r>
            <a:r>
              <a:rPr sz="500" b="0" spc="30">
                <a:latin typeface="Arial"/>
                <a:cs typeface="Arial"/>
              </a:rPr>
              <a:t> </a:t>
            </a:r>
            <a:r>
              <a:rPr sz="500" b="0" spc="5">
                <a:latin typeface="Arial"/>
                <a:cs typeface="Arial"/>
              </a:rPr>
              <a:t>S</a:t>
            </a:r>
            <a:endParaRPr sz="500">
              <a:latin typeface="Arial"/>
              <a:cs typeface="Arial"/>
            </a:endParaRPr>
          </a:p>
        </p:txBody>
      </p:sp>
      <p:sp>
        <p:nvSpPr>
          <p:cNvPr id="4" name="Holder 4"/>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a:t>P</a:t>
            </a:r>
            <a:r>
              <a:rPr spc="-5"/>
              <a:t>age</a:t>
            </a:r>
            <a:r>
              <a:rPr spc="-10"/>
              <a:t> </a:t>
            </a:r>
            <a:r>
              <a:rPr spc="-5"/>
              <a:t>2</a:t>
            </a:r>
            <a:fld id="{81D60167-4931-47E6-BA6A-407CBD079E47}" type="slidenum">
              <a:rPr spc="-5" dirty="0"/>
              <a:t>‹#›</a:t>
            </a:fld>
            <a:endParaRPr spc="-5"/>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 y="0"/>
            <a:ext cx="4608830" cy="3456940"/>
          </a:xfrm>
          <a:custGeom>
            <a:avLst/>
            <a:gdLst/>
            <a:ahLst/>
            <a:cxnLst/>
            <a:rect l="l" t="t" r="r" b="b"/>
            <a:pathLst>
              <a:path w="4608830" h="3456940">
                <a:moveTo>
                  <a:pt x="0" y="3456431"/>
                </a:moveTo>
                <a:lnTo>
                  <a:pt x="4608576" y="3456431"/>
                </a:lnTo>
                <a:lnTo>
                  <a:pt x="4608576" y="0"/>
                </a:lnTo>
                <a:lnTo>
                  <a:pt x="0" y="0"/>
                </a:lnTo>
                <a:lnTo>
                  <a:pt x="0" y="3456431"/>
                </a:lnTo>
                <a:close/>
              </a:path>
            </a:pathLst>
          </a:custGeom>
          <a:solidFill>
            <a:srgbClr val="FEFEFE"/>
          </a:solidFill>
        </p:spPr>
        <p:txBody>
          <a:bodyPr wrap="square" lIns="0" tIns="0" rIns="0" bIns="0" rtlCol="0"/>
          <a:lstStyle/>
          <a:p>
            <a:endParaRPr/>
          </a:p>
        </p:txBody>
      </p:sp>
      <p:sp>
        <p:nvSpPr>
          <p:cNvPr id="17" name="bg object 17"/>
          <p:cNvSpPr/>
          <p:nvPr/>
        </p:nvSpPr>
        <p:spPr>
          <a:xfrm>
            <a:off x="-152" y="0"/>
            <a:ext cx="2304415" cy="129539"/>
          </a:xfrm>
          <a:custGeom>
            <a:avLst/>
            <a:gdLst/>
            <a:ahLst/>
            <a:cxnLst/>
            <a:rect l="l" t="t" r="r" b="b"/>
            <a:pathLst>
              <a:path w="2304415" h="129539">
                <a:moveTo>
                  <a:pt x="0" y="129540"/>
                </a:moveTo>
                <a:lnTo>
                  <a:pt x="2304288" y="129540"/>
                </a:lnTo>
                <a:lnTo>
                  <a:pt x="2304288" y="0"/>
                </a:lnTo>
                <a:lnTo>
                  <a:pt x="0" y="0"/>
                </a:lnTo>
                <a:lnTo>
                  <a:pt x="0" y="129540"/>
                </a:lnTo>
                <a:close/>
              </a:path>
            </a:pathLst>
          </a:custGeom>
          <a:solidFill>
            <a:srgbClr val="A0A2A1"/>
          </a:solidFill>
        </p:spPr>
        <p:txBody>
          <a:bodyPr wrap="square" lIns="0" tIns="0" rIns="0" bIns="0" rtlCol="0"/>
          <a:lstStyle/>
          <a:p>
            <a:endParaRPr/>
          </a:p>
        </p:txBody>
      </p:sp>
      <p:sp>
        <p:nvSpPr>
          <p:cNvPr id="18" name="bg object 18"/>
          <p:cNvSpPr/>
          <p:nvPr/>
        </p:nvSpPr>
        <p:spPr>
          <a:xfrm>
            <a:off x="2304135" y="0"/>
            <a:ext cx="2304415" cy="129539"/>
          </a:xfrm>
          <a:custGeom>
            <a:avLst/>
            <a:gdLst/>
            <a:ahLst/>
            <a:cxnLst/>
            <a:rect l="l" t="t" r="r" b="b"/>
            <a:pathLst>
              <a:path w="2304415" h="129539">
                <a:moveTo>
                  <a:pt x="0" y="129540"/>
                </a:moveTo>
                <a:lnTo>
                  <a:pt x="2304288" y="129540"/>
                </a:lnTo>
                <a:lnTo>
                  <a:pt x="2304288" y="0"/>
                </a:lnTo>
                <a:lnTo>
                  <a:pt x="0" y="0"/>
                </a:lnTo>
                <a:lnTo>
                  <a:pt x="0" y="129540"/>
                </a:lnTo>
                <a:close/>
              </a:path>
            </a:pathLst>
          </a:custGeom>
          <a:solidFill>
            <a:srgbClr val="CEB67B"/>
          </a:solidFill>
        </p:spPr>
        <p:txBody>
          <a:bodyPr wrap="square" lIns="0" tIns="0" rIns="0" bIns="0" rtlCol="0"/>
          <a:lstStyle/>
          <a:p>
            <a:endParaRPr/>
          </a:p>
        </p:txBody>
      </p:sp>
      <p:sp>
        <p:nvSpPr>
          <p:cNvPr id="2" name="Holder 2"/>
          <p:cNvSpPr>
            <a:spLocks noGrp="1"/>
          </p:cNvSpPr>
          <p:nvPr>
            <p:ph type="title"/>
          </p:nvPr>
        </p:nvSpPr>
        <p:spPr>
          <a:xfrm>
            <a:off x="1052575" y="190295"/>
            <a:ext cx="2504948" cy="244475"/>
          </a:xfrm>
          <a:prstGeom prst="rect">
            <a:avLst/>
          </a:prstGeom>
        </p:spPr>
        <p:txBody>
          <a:bodyPr wrap="square" lIns="0" tIns="0" rIns="0" bIns="0">
            <a:spAutoFit/>
          </a:bodyPr>
          <a:lstStyle>
            <a:lvl1pPr>
              <a:defRPr sz="1400" b="1" i="0">
                <a:solidFill>
                  <a:srgbClr val="526894"/>
                </a:solidFill>
                <a:latin typeface="Arial"/>
                <a:cs typeface="Arial"/>
              </a:defRPr>
            </a:lvl1pPr>
          </a:lstStyle>
          <a:p>
            <a:endParaRPr/>
          </a:p>
        </p:txBody>
      </p:sp>
      <p:sp>
        <p:nvSpPr>
          <p:cNvPr id="3" name="Holder 3"/>
          <p:cNvSpPr>
            <a:spLocks noGrp="1"/>
          </p:cNvSpPr>
          <p:nvPr>
            <p:ph type="body" idx="1"/>
          </p:nvPr>
        </p:nvSpPr>
        <p:spPr>
          <a:xfrm>
            <a:off x="133858" y="602754"/>
            <a:ext cx="4342383" cy="2241550"/>
          </a:xfrm>
          <a:prstGeom prst="rect">
            <a:avLst/>
          </a:prstGeom>
        </p:spPr>
        <p:txBody>
          <a:bodyPr wrap="square" lIns="0" tIns="0" rIns="0" bIns="0">
            <a:spAutoFit/>
          </a:bodyPr>
          <a:lstStyle>
            <a:lvl1pPr>
              <a:defRPr sz="1100" b="0" i="0">
                <a:solidFill>
                  <a:schemeClr val="tx1"/>
                </a:solidFill>
                <a:latin typeface="Arial"/>
                <a:cs typeface="Arial"/>
              </a:defRPr>
            </a:lvl1pPr>
          </a:lstStyle>
          <a:p>
            <a:endParaRPr/>
          </a:p>
        </p:txBody>
      </p:sp>
      <p:sp>
        <p:nvSpPr>
          <p:cNvPr id="5" name="Holder 5"/>
          <p:cNvSpPr>
            <a:spLocks noGrp="1"/>
          </p:cNvSpPr>
          <p:nvPr>
            <p:ph type="dt" sz="half" idx="6"/>
          </p:nvPr>
        </p:nvSpPr>
        <p:spPr>
          <a:xfrm>
            <a:off x="3966640" y="2949162"/>
            <a:ext cx="526414" cy="271144"/>
          </a:xfrm>
          <a:prstGeom prst="rect">
            <a:avLst/>
          </a:prstGeom>
        </p:spPr>
        <p:txBody>
          <a:bodyPr wrap="square" lIns="0" tIns="0" rIns="0" bIns="0">
            <a:spAutoFit/>
          </a:bodyPr>
          <a:lstStyle>
            <a:lvl1pPr>
              <a:defRPr sz="1350" b="1" i="0">
                <a:solidFill>
                  <a:srgbClr val="231F20"/>
                </a:solidFill>
                <a:latin typeface="Rockwell"/>
                <a:cs typeface="Rockwell"/>
              </a:defRPr>
            </a:lvl1pPr>
          </a:lstStyle>
          <a:p>
            <a:pPr marL="12700">
              <a:lnSpc>
                <a:spcPts val="1535"/>
              </a:lnSpc>
              <a:spcBef>
                <a:spcPts val="75"/>
              </a:spcBef>
            </a:pPr>
            <a:r>
              <a:rPr spc="-5"/>
              <a:t>Leeds</a:t>
            </a:r>
          </a:p>
          <a:p>
            <a:pPr marL="12700">
              <a:lnSpc>
                <a:spcPts val="515"/>
              </a:lnSpc>
            </a:pPr>
            <a:r>
              <a:rPr sz="500" b="0" spc="25">
                <a:latin typeface="Arial"/>
                <a:cs typeface="Arial"/>
              </a:rPr>
              <a:t>B </a:t>
            </a:r>
            <a:r>
              <a:rPr sz="500" b="0" spc="10">
                <a:latin typeface="Arial"/>
                <a:cs typeface="Arial"/>
              </a:rPr>
              <a:t>U</a:t>
            </a:r>
            <a:r>
              <a:rPr sz="500" b="0" spc="30">
                <a:latin typeface="Arial"/>
                <a:cs typeface="Arial"/>
              </a:rPr>
              <a:t> </a:t>
            </a:r>
            <a:r>
              <a:rPr sz="500" b="0" spc="5">
                <a:latin typeface="Arial"/>
                <a:cs typeface="Arial"/>
              </a:rPr>
              <a:t>S</a:t>
            </a:r>
            <a:r>
              <a:rPr sz="500" b="0" spc="30">
                <a:latin typeface="Arial"/>
                <a:cs typeface="Arial"/>
              </a:rPr>
              <a:t> </a:t>
            </a:r>
            <a:r>
              <a:rPr sz="500" b="0" spc="-20">
                <a:latin typeface="Arial"/>
                <a:cs typeface="Arial"/>
              </a:rPr>
              <a:t>I</a:t>
            </a:r>
            <a:r>
              <a:rPr sz="500" b="0" spc="30">
                <a:latin typeface="Arial"/>
                <a:cs typeface="Arial"/>
              </a:rPr>
              <a:t> </a:t>
            </a:r>
            <a:r>
              <a:rPr sz="500" b="0" spc="20">
                <a:latin typeface="Arial"/>
                <a:cs typeface="Arial"/>
              </a:rPr>
              <a:t>N</a:t>
            </a:r>
            <a:r>
              <a:rPr sz="500" b="0" spc="30">
                <a:latin typeface="Arial"/>
                <a:cs typeface="Arial"/>
              </a:rPr>
              <a:t> </a:t>
            </a:r>
            <a:r>
              <a:rPr sz="500" b="0" spc="-15">
                <a:latin typeface="Arial"/>
                <a:cs typeface="Arial"/>
              </a:rPr>
              <a:t>E</a:t>
            </a:r>
            <a:r>
              <a:rPr sz="500" b="0" spc="30">
                <a:latin typeface="Arial"/>
                <a:cs typeface="Arial"/>
              </a:rPr>
              <a:t> </a:t>
            </a:r>
            <a:r>
              <a:rPr sz="500" b="0" spc="5">
                <a:latin typeface="Arial"/>
                <a:cs typeface="Arial"/>
              </a:rPr>
              <a:t>S</a:t>
            </a:r>
            <a:r>
              <a:rPr sz="500" b="0" spc="30">
                <a:latin typeface="Arial"/>
                <a:cs typeface="Arial"/>
              </a:rPr>
              <a:t> </a:t>
            </a:r>
            <a:r>
              <a:rPr sz="500" b="0" spc="5">
                <a:latin typeface="Arial"/>
                <a:cs typeface="Arial"/>
              </a:rPr>
              <a:t>S</a:t>
            </a:r>
            <a:endParaRPr sz="500">
              <a:latin typeface="Arial"/>
              <a:cs typeface="Arial"/>
            </a:endParaRPr>
          </a:p>
        </p:txBody>
      </p:sp>
      <p:sp>
        <p:nvSpPr>
          <p:cNvPr id="6" name="Holder 6"/>
          <p:cNvSpPr>
            <a:spLocks noGrp="1"/>
          </p:cNvSpPr>
          <p:nvPr>
            <p:ph type="sldNum" sz="quarter" idx="7"/>
          </p:nvPr>
        </p:nvSpPr>
        <p:spPr>
          <a:xfrm>
            <a:off x="3507481" y="3033934"/>
            <a:ext cx="343535" cy="101600"/>
          </a:xfrm>
          <a:prstGeom prst="rect">
            <a:avLst/>
          </a:prstGeom>
        </p:spPr>
        <p:txBody>
          <a:bodyPr wrap="square" lIns="0" tIns="0" rIns="0" bIns="0">
            <a:spAutoFit/>
          </a:bodyPr>
          <a:lstStyle>
            <a:lvl1pPr>
              <a:defRPr sz="600" b="0" i="0">
                <a:solidFill>
                  <a:schemeClr val="tx1"/>
                </a:solidFill>
                <a:latin typeface="Arial"/>
                <a:cs typeface="Arial"/>
              </a:defRPr>
            </a:lvl1pPr>
          </a:lstStyle>
          <a:p>
            <a:pPr marL="12700">
              <a:lnSpc>
                <a:spcPts val="685"/>
              </a:lnSpc>
            </a:pPr>
            <a:r>
              <a:rPr spc="-35"/>
              <a:t>P</a:t>
            </a:r>
            <a:r>
              <a:rPr spc="-5"/>
              <a:t>age</a:t>
            </a:r>
            <a:r>
              <a:rPr spc="-10"/>
              <a:t> </a:t>
            </a:r>
            <a:r>
              <a:rPr spc="-5"/>
              <a:t>2</a:t>
            </a:r>
            <a:fld id="{81D60167-4931-47E6-BA6A-407CBD079E47}" type="slidenum">
              <a:rPr spc="-5" dirty="0"/>
              <a:t>‹#›</a:t>
            </a:fld>
            <a:endParaRPr spc="-5"/>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iea.org/energy-system/transport/electric-vehicle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evadoption.com/ev-sales/evs-percent-of-vehicle-sales-by-brand/"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macrotrends.net/stocks/charts/TSLA/tesla/pe-ratio"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66640" y="2946437"/>
            <a:ext cx="526415" cy="231140"/>
          </a:xfrm>
          <a:prstGeom prst="rect">
            <a:avLst/>
          </a:prstGeom>
        </p:spPr>
        <p:txBody>
          <a:bodyPr vert="horz" wrap="square" lIns="0" tIns="12065" rIns="0" bIns="0" rtlCol="0">
            <a:spAutoFit/>
          </a:bodyPr>
          <a:lstStyle/>
          <a:p>
            <a:pPr marL="12700">
              <a:lnSpc>
                <a:spcPct val="100000"/>
              </a:lnSpc>
              <a:spcBef>
                <a:spcPts val="95"/>
              </a:spcBef>
            </a:pPr>
            <a:r>
              <a:rPr sz="1350" b="1" spc="-5">
                <a:solidFill>
                  <a:srgbClr val="231F20"/>
                </a:solidFill>
                <a:latin typeface="Rockwell"/>
                <a:cs typeface="Rockwell"/>
              </a:rPr>
              <a:t>Leeds</a:t>
            </a:r>
            <a:endParaRPr sz="1350">
              <a:latin typeface="Rockwell"/>
              <a:cs typeface="Rockwell"/>
            </a:endParaRPr>
          </a:p>
        </p:txBody>
      </p:sp>
      <p:grpSp>
        <p:nvGrpSpPr>
          <p:cNvPr id="3" name="object 3"/>
          <p:cNvGrpSpPr/>
          <p:nvPr/>
        </p:nvGrpSpPr>
        <p:grpSpPr>
          <a:xfrm>
            <a:off x="3648455" y="2932247"/>
            <a:ext cx="297815" cy="287655"/>
            <a:chOff x="3648455" y="2932247"/>
            <a:chExt cx="297815" cy="287655"/>
          </a:xfrm>
        </p:grpSpPr>
        <p:sp>
          <p:nvSpPr>
            <p:cNvPr id="4" name="object 4"/>
            <p:cNvSpPr/>
            <p:nvPr/>
          </p:nvSpPr>
          <p:spPr>
            <a:xfrm>
              <a:off x="3648455" y="2932247"/>
              <a:ext cx="297815" cy="287655"/>
            </a:xfrm>
            <a:custGeom>
              <a:avLst/>
              <a:gdLst/>
              <a:ahLst/>
              <a:cxnLst/>
              <a:rect l="l" t="t" r="r" b="b"/>
              <a:pathLst>
                <a:path w="297814" h="287655">
                  <a:moveTo>
                    <a:pt x="175778" y="0"/>
                  </a:moveTo>
                  <a:lnTo>
                    <a:pt x="39471" y="0"/>
                  </a:lnTo>
                  <a:lnTo>
                    <a:pt x="0" y="39421"/>
                  </a:lnTo>
                  <a:lnTo>
                    <a:pt x="0" y="175503"/>
                  </a:lnTo>
                  <a:lnTo>
                    <a:pt x="39471" y="214896"/>
                  </a:lnTo>
                  <a:lnTo>
                    <a:pt x="82753" y="214896"/>
                  </a:lnTo>
                  <a:lnTo>
                    <a:pt x="82753" y="248012"/>
                  </a:lnTo>
                  <a:lnTo>
                    <a:pt x="122544" y="287452"/>
                  </a:lnTo>
                  <a:lnTo>
                    <a:pt x="237576" y="287452"/>
                  </a:lnTo>
                  <a:lnTo>
                    <a:pt x="277459" y="248043"/>
                  </a:lnTo>
                  <a:lnTo>
                    <a:pt x="277459" y="142625"/>
                  </a:lnTo>
                  <a:lnTo>
                    <a:pt x="297774" y="142625"/>
                  </a:lnTo>
                  <a:lnTo>
                    <a:pt x="297774" y="72443"/>
                  </a:lnTo>
                  <a:lnTo>
                    <a:pt x="215127" y="72443"/>
                  </a:lnTo>
                  <a:lnTo>
                    <a:pt x="215127" y="39427"/>
                  </a:lnTo>
                  <a:lnTo>
                    <a:pt x="175778" y="0"/>
                  </a:lnTo>
                  <a:close/>
                </a:path>
              </a:pathLst>
            </a:custGeom>
            <a:solidFill>
              <a:srgbClr val="CFB87C"/>
            </a:solidFill>
          </p:spPr>
          <p:txBody>
            <a:bodyPr wrap="square" lIns="0" tIns="0" rIns="0" bIns="0" rtlCol="0"/>
            <a:lstStyle/>
            <a:p>
              <a:endParaRPr/>
            </a:p>
          </p:txBody>
        </p:sp>
        <p:sp>
          <p:nvSpPr>
            <p:cNvPr id="5" name="object 5"/>
            <p:cNvSpPr/>
            <p:nvPr/>
          </p:nvSpPr>
          <p:spPr>
            <a:xfrm>
              <a:off x="3652540" y="2936332"/>
              <a:ext cx="290195" cy="279400"/>
            </a:xfrm>
            <a:custGeom>
              <a:avLst/>
              <a:gdLst/>
              <a:ahLst/>
              <a:cxnLst/>
              <a:rect l="l" t="t" r="r" b="b"/>
              <a:pathLst>
                <a:path w="290195" h="279400">
                  <a:moveTo>
                    <a:pt x="170017" y="0"/>
                  </a:moveTo>
                  <a:lnTo>
                    <a:pt x="37063" y="0"/>
                  </a:lnTo>
                  <a:lnTo>
                    <a:pt x="0" y="37033"/>
                  </a:lnTo>
                  <a:lnTo>
                    <a:pt x="0" y="169705"/>
                  </a:lnTo>
                  <a:lnTo>
                    <a:pt x="37063" y="206727"/>
                  </a:lnTo>
                  <a:lnTo>
                    <a:pt x="82783" y="206727"/>
                  </a:lnTo>
                  <a:lnTo>
                    <a:pt x="82783" y="242244"/>
                  </a:lnTo>
                  <a:lnTo>
                    <a:pt x="120136" y="279266"/>
                  </a:lnTo>
                  <a:lnTo>
                    <a:pt x="231815" y="279266"/>
                  </a:lnTo>
                  <a:lnTo>
                    <a:pt x="269275" y="242244"/>
                  </a:lnTo>
                  <a:lnTo>
                    <a:pt x="269275" y="134474"/>
                  </a:lnTo>
                  <a:lnTo>
                    <a:pt x="289590" y="134474"/>
                  </a:lnTo>
                  <a:lnTo>
                    <a:pt x="289590" y="72455"/>
                  </a:lnTo>
                  <a:lnTo>
                    <a:pt x="206943" y="72455"/>
                  </a:lnTo>
                  <a:lnTo>
                    <a:pt x="206943" y="37039"/>
                  </a:lnTo>
                  <a:lnTo>
                    <a:pt x="170017" y="0"/>
                  </a:lnTo>
                  <a:close/>
                </a:path>
              </a:pathLst>
            </a:custGeom>
            <a:solidFill>
              <a:srgbClr val="231F20"/>
            </a:solidFill>
          </p:spPr>
          <p:txBody>
            <a:bodyPr wrap="square" lIns="0" tIns="0" rIns="0" bIns="0" rtlCol="0"/>
            <a:lstStyle/>
            <a:p>
              <a:endParaRPr/>
            </a:p>
          </p:txBody>
        </p:sp>
        <p:sp>
          <p:nvSpPr>
            <p:cNvPr id="6" name="object 6"/>
            <p:cNvSpPr/>
            <p:nvPr/>
          </p:nvSpPr>
          <p:spPr>
            <a:xfrm>
              <a:off x="3662751" y="2946553"/>
              <a:ext cx="269240" cy="259079"/>
            </a:xfrm>
            <a:custGeom>
              <a:avLst/>
              <a:gdLst/>
              <a:ahLst/>
              <a:cxnLst/>
              <a:rect l="l" t="t" r="r" b="b"/>
              <a:pathLst>
                <a:path w="269239" h="259080">
                  <a:moveTo>
                    <a:pt x="155554" y="0"/>
                  </a:moveTo>
                  <a:lnTo>
                    <a:pt x="31104" y="0"/>
                  </a:lnTo>
                  <a:lnTo>
                    <a:pt x="0" y="31039"/>
                  </a:lnTo>
                  <a:lnTo>
                    <a:pt x="0" y="155245"/>
                  </a:lnTo>
                  <a:lnTo>
                    <a:pt x="31104" y="186266"/>
                  </a:lnTo>
                  <a:lnTo>
                    <a:pt x="82783" y="186266"/>
                  </a:lnTo>
                  <a:lnTo>
                    <a:pt x="82783" y="227754"/>
                  </a:lnTo>
                  <a:lnTo>
                    <a:pt x="114132" y="258823"/>
                  </a:lnTo>
                  <a:lnTo>
                    <a:pt x="217413" y="258823"/>
                  </a:lnTo>
                  <a:lnTo>
                    <a:pt x="248838" y="227754"/>
                  </a:lnTo>
                  <a:lnTo>
                    <a:pt x="248838" y="114013"/>
                  </a:lnTo>
                  <a:lnTo>
                    <a:pt x="269168" y="114013"/>
                  </a:lnTo>
                  <a:lnTo>
                    <a:pt x="269168" y="72455"/>
                  </a:lnTo>
                  <a:lnTo>
                    <a:pt x="206822" y="72455"/>
                  </a:lnTo>
                  <a:lnTo>
                    <a:pt x="206822" y="217311"/>
                  </a:lnTo>
                  <a:lnTo>
                    <a:pt x="124327" y="217311"/>
                  </a:lnTo>
                  <a:lnTo>
                    <a:pt x="124327" y="186266"/>
                  </a:lnTo>
                  <a:lnTo>
                    <a:pt x="155554" y="186266"/>
                  </a:lnTo>
                  <a:lnTo>
                    <a:pt x="186522" y="155245"/>
                  </a:lnTo>
                  <a:lnTo>
                    <a:pt x="186522" y="114013"/>
                  </a:lnTo>
                  <a:lnTo>
                    <a:pt x="144978" y="114013"/>
                  </a:lnTo>
                  <a:lnTo>
                    <a:pt x="144978" y="144821"/>
                  </a:lnTo>
                  <a:lnTo>
                    <a:pt x="124327" y="144821"/>
                  </a:lnTo>
                  <a:lnTo>
                    <a:pt x="124327" y="72455"/>
                  </a:lnTo>
                  <a:lnTo>
                    <a:pt x="62163" y="72455"/>
                  </a:lnTo>
                  <a:lnTo>
                    <a:pt x="62163" y="114013"/>
                  </a:lnTo>
                  <a:lnTo>
                    <a:pt x="82783" y="114013"/>
                  </a:lnTo>
                  <a:lnTo>
                    <a:pt x="82783" y="144821"/>
                  </a:lnTo>
                  <a:lnTo>
                    <a:pt x="41483" y="144821"/>
                  </a:lnTo>
                  <a:lnTo>
                    <a:pt x="41483" y="41164"/>
                  </a:lnTo>
                  <a:lnTo>
                    <a:pt x="144978" y="41164"/>
                  </a:lnTo>
                  <a:lnTo>
                    <a:pt x="144978" y="72455"/>
                  </a:lnTo>
                  <a:lnTo>
                    <a:pt x="186522" y="72455"/>
                  </a:lnTo>
                  <a:lnTo>
                    <a:pt x="186522" y="31056"/>
                  </a:lnTo>
                  <a:lnTo>
                    <a:pt x="155554" y="0"/>
                  </a:lnTo>
                  <a:close/>
                </a:path>
              </a:pathLst>
            </a:custGeom>
            <a:solidFill>
              <a:srgbClr val="FFFFFF"/>
            </a:solidFill>
          </p:spPr>
          <p:txBody>
            <a:bodyPr wrap="square" lIns="0" tIns="0" rIns="0" bIns="0" rtlCol="0"/>
            <a:lstStyle/>
            <a:p>
              <a:endParaRPr/>
            </a:p>
          </p:txBody>
        </p:sp>
        <p:sp>
          <p:nvSpPr>
            <p:cNvPr id="7" name="object 7"/>
            <p:cNvSpPr/>
            <p:nvPr/>
          </p:nvSpPr>
          <p:spPr>
            <a:xfrm>
              <a:off x="3667871" y="2951666"/>
              <a:ext cx="259079" cy="248920"/>
            </a:xfrm>
            <a:custGeom>
              <a:avLst/>
              <a:gdLst/>
              <a:ahLst/>
              <a:cxnLst/>
              <a:rect l="l" t="t" r="r" b="b"/>
              <a:pathLst>
                <a:path w="259079" h="248919">
                  <a:moveTo>
                    <a:pt x="148315" y="0"/>
                  </a:moveTo>
                  <a:lnTo>
                    <a:pt x="28102" y="0"/>
                  </a:lnTo>
                  <a:lnTo>
                    <a:pt x="0" y="28050"/>
                  </a:lnTo>
                  <a:lnTo>
                    <a:pt x="0" y="148024"/>
                  </a:lnTo>
                  <a:lnTo>
                    <a:pt x="28087" y="176046"/>
                  </a:lnTo>
                  <a:lnTo>
                    <a:pt x="82783" y="176046"/>
                  </a:lnTo>
                  <a:lnTo>
                    <a:pt x="82783" y="220504"/>
                  </a:lnTo>
                  <a:lnTo>
                    <a:pt x="111130" y="248614"/>
                  </a:lnTo>
                  <a:lnTo>
                    <a:pt x="210174" y="248614"/>
                  </a:lnTo>
                  <a:lnTo>
                    <a:pt x="238612" y="220486"/>
                  </a:lnTo>
                  <a:lnTo>
                    <a:pt x="238612" y="103804"/>
                  </a:lnTo>
                  <a:lnTo>
                    <a:pt x="258927" y="103804"/>
                  </a:lnTo>
                  <a:lnTo>
                    <a:pt x="258927" y="72467"/>
                  </a:lnTo>
                  <a:lnTo>
                    <a:pt x="206822" y="72467"/>
                  </a:lnTo>
                  <a:lnTo>
                    <a:pt x="206822" y="217294"/>
                  </a:lnTo>
                  <a:lnTo>
                    <a:pt x="114086" y="217294"/>
                  </a:lnTo>
                  <a:lnTo>
                    <a:pt x="114086" y="176046"/>
                  </a:lnTo>
                  <a:lnTo>
                    <a:pt x="148315" y="176046"/>
                  </a:lnTo>
                  <a:lnTo>
                    <a:pt x="176296" y="148024"/>
                  </a:lnTo>
                  <a:lnTo>
                    <a:pt x="176296" y="114019"/>
                  </a:lnTo>
                  <a:lnTo>
                    <a:pt x="144978" y="114019"/>
                  </a:lnTo>
                  <a:lnTo>
                    <a:pt x="144978" y="144815"/>
                  </a:lnTo>
                  <a:lnTo>
                    <a:pt x="114086" y="144815"/>
                  </a:lnTo>
                  <a:lnTo>
                    <a:pt x="114086" y="72467"/>
                  </a:lnTo>
                  <a:lnTo>
                    <a:pt x="62148" y="72467"/>
                  </a:lnTo>
                  <a:lnTo>
                    <a:pt x="62148" y="103804"/>
                  </a:lnTo>
                  <a:lnTo>
                    <a:pt x="82783" y="103804"/>
                  </a:lnTo>
                  <a:lnTo>
                    <a:pt x="82783" y="144815"/>
                  </a:lnTo>
                  <a:lnTo>
                    <a:pt x="31241" y="144815"/>
                  </a:lnTo>
                  <a:lnTo>
                    <a:pt x="31241" y="30950"/>
                  </a:lnTo>
                  <a:lnTo>
                    <a:pt x="144978" y="30950"/>
                  </a:lnTo>
                  <a:lnTo>
                    <a:pt x="144978" y="62227"/>
                  </a:lnTo>
                  <a:lnTo>
                    <a:pt x="176296" y="62227"/>
                  </a:lnTo>
                  <a:lnTo>
                    <a:pt x="176296" y="28050"/>
                  </a:lnTo>
                  <a:lnTo>
                    <a:pt x="148315" y="0"/>
                  </a:lnTo>
                  <a:close/>
                </a:path>
              </a:pathLst>
            </a:custGeom>
            <a:solidFill>
              <a:srgbClr val="CFB87C"/>
            </a:solidFill>
          </p:spPr>
          <p:txBody>
            <a:bodyPr wrap="square" lIns="0" tIns="0" rIns="0" bIns="0" rtlCol="0"/>
            <a:lstStyle/>
            <a:p>
              <a:endParaRPr/>
            </a:p>
          </p:txBody>
        </p:sp>
      </p:grpSp>
      <p:sp>
        <p:nvSpPr>
          <p:cNvPr id="8" name="object 8"/>
          <p:cNvSpPr txBox="1">
            <a:spLocks noGrp="1"/>
          </p:cNvSpPr>
          <p:nvPr>
            <p:ph type="title"/>
          </p:nvPr>
        </p:nvSpPr>
        <p:spPr>
          <a:xfrm>
            <a:off x="156830" y="434975"/>
            <a:ext cx="4067937" cy="755528"/>
          </a:xfrm>
          <a:prstGeom prst="rect">
            <a:avLst/>
          </a:prstGeom>
        </p:spPr>
        <p:txBody>
          <a:bodyPr vert="horz" wrap="square" lIns="0" tIns="6985" rIns="0" bIns="0" rtlCol="0">
            <a:spAutoFit/>
          </a:bodyPr>
          <a:lstStyle/>
          <a:p>
            <a:pPr marL="459105" marR="5080" indent="-447040" algn="ctr">
              <a:lnSpc>
                <a:spcPct val="102699"/>
              </a:lnSpc>
              <a:spcBef>
                <a:spcPts val="55"/>
              </a:spcBef>
            </a:pPr>
            <a:r>
              <a:rPr lang="fr-FR" sz="2400" spc="-10" dirty="0">
                <a:solidFill>
                  <a:srgbClr val="000000"/>
                </a:solidFill>
                <a:latin typeface="Garamond" panose="02020404030301010803" pitchFamily="18" charset="0"/>
              </a:rPr>
              <a:t>7.1</a:t>
            </a:r>
            <a:br>
              <a:rPr lang="fr-FR" sz="2400" spc="-10" dirty="0">
                <a:solidFill>
                  <a:srgbClr val="000000"/>
                </a:solidFill>
                <a:latin typeface="Garamond" panose="02020404030301010803" pitchFamily="18" charset="0"/>
              </a:rPr>
            </a:br>
            <a:r>
              <a:rPr lang="fr-FR" sz="2400" spc="-10" dirty="0">
                <a:solidFill>
                  <a:srgbClr val="000000"/>
                </a:solidFill>
                <a:latin typeface="Garamond" panose="02020404030301010803" pitchFamily="18" charset="0"/>
              </a:rPr>
              <a:t>Tesla</a:t>
            </a:r>
            <a:endParaRPr sz="2400" dirty="0"/>
          </a:p>
        </p:txBody>
      </p:sp>
      <p:sp>
        <p:nvSpPr>
          <p:cNvPr id="10" name="object 10"/>
          <p:cNvSpPr/>
          <p:nvPr/>
        </p:nvSpPr>
        <p:spPr>
          <a:xfrm>
            <a:off x="-152" y="3337814"/>
            <a:ext cx="1536700" cy="129539"/>
          </a:xfrm>
          <a:custGeom>
            <a:avLst/>
            <a:gdLst/>
            <a:ahLst/>
            <a:cxnLst/>
            <a:rect l="l" t="t" r="r" b="b"/>
            <a:pathLst>
              <a:path w="1536700" h="129539">
                <a:moveTo>
                  <a:pt x="0" y="129539"/>
                </a:moveTo>
                <a:lnTo>
                  <a:pt x="1536192" y="129539"/>
                </a:lnTo>
                <a:lnTo>
                  <a:pt x="1536192" y="0"/>
                </a:lnTo>
                <a:lnTo>
                  <a:pt x="0" y="0"/>
                </a:lnTo>
                <a:lnTo>
                  <a:pt x="0" y="129539"/>
                </a:lnTo>
                <a:close/>
              </a:path>
            </a:pathLst>
          </a:custGeom>
          <a:solidFill>
            <a:srgbClr val="A0A2A1"/>
          </a:solidFill>
        </p:spPr>
        <p:txBody>
          <a:bodyPr wrap="square" lIns="0" tIns="0" rIns="0" bIns="0" rtlCol="0"/>
          <a:lstStyle/>
          <a:p>
            <a:endParaRPr/>
          </a:p>
        </p:txBody>
      </p:sp>
      <p:sp>
        <p:nvSpPr>
          <p:cNvPr id="11" name="object 11"/>
          <p:cNvSpPr/>
          <p:nvPr/>
        </p:nvSpPr>
        <p:spPr>
          <a:xfrm>
            <a:off x="3072231" y="3326663"/>
            <a:ext cx="1536700" cy="129539"/>
          </a:xfrm>
          <a:custGeom>
            <a:avLst/>
            <a:gdLst/>
            <a:ahLst/>
            <a:cxnLst/>
            <a:rect l="l" t="t" r="r" b="b"/>
            <a:pathLst>
              <a:path w="1536700" h="129539">
                <a:moveTo>
                  <a:pt x="0" y="129539"/>
                </a:moveTo>
                <a:lnTo>
                  <a:pt x="1536191" y="129539"/>
                </a:lnTo>
                <a:lnTo>
                  <a:pt x="1536191" y="0"/>
                </a:lnTo>
                <a:lnTo>
                  <a:pt x="0" y="0"/>
                </a:lnTo>
                <a:lnTo>
                  <a:pt x="0" y="129539"/>
                </a:lnTo>
                <a:close/>
              </a:path>
            </a:pathLst>
          </a:custGeom>
          <a:solidFill>
            <a:srgbClr val="CEB67B"/>
          </a:solidFill>
        </p:spPr>
        <p:txBody>
          <a:bodyPr wrap="square" lIns="0" tIns="0" rIns="0" bIns="0" rtlCol="0"/>
          <a:lstStyle/>
          <a:p>
            <a:endParaRPr/>
          </a:p>
        </p:txBody>
      </p:sp>
      <p:sp>
        <p:nvSpPr>
          <p:cNvPr id="12" name="object 12"/>
          <p:cNvSpPr txBox="1"/>
          <p:nvPr/>
        </p:nvSpPr>
        <p:spPr>
          <a:xfrm>
            <a:off x="3966640" y="3126132"/>
            <a:ext cx="516255" cy="93980"/>
          </a:xfrm>
          <a:prstGeom prst="rect">
            <a:avLst/>
          </a:prstGeom>
        </p:spPr>
        <p:txBody>
          <a:bodyPr vert="horz" wrap="square" lIns="0" tIns="15875" rIns="0" bIns="0" rtlCol="0">
            <a:spAutoFit/>
          </a:bodyPr>
          <a:lstStyle/>
          <a:p>
            <a:pPr marL="12700">
              <a:lnSpc>
                <a:spcPct val="100000"/>
              </a:lnSpc>
              <a:spcBef>
                <a:spcPts val="125"/>
              </a:spcBef>
            </a:pPr>
            <a:r>
              <a:rPr sz="500" spc="25">
                <a:solidFill>
                  <a:srgbClr val="231F20"/>
                </a:solidFill>
                <a:latin typeface="Arial"/>
                <a:cs typeface="Arial"/>
              </a:rPr>
              <a:t>B</a:t>
            </a:r>
            <a:r>
              <a:rPr sz="500" spc="30">
                <a:solidFill>
                  <a:srgbClr val="231F20"/>
                </a:solidFill>
                <a:latin typeface="Arial"/>
                <a:cs typeface="Arial"/>
              </a:rPr>
              <a:t> </a:t>
            </a:r>
            <a:r>
              <a:rPr sz="500" spc="10">
                <a:solidFill>
                  <a:srgbClr val="231F20"/>
                </a:solidFill>
                <a:latin typeface="Arial"/>
                <a:cs typeface="Arial"/>
              </a:rPr>
              <a:t>U</a:t>
            </a:r>
            <a:r>
              <a:rPr sz="500" spc="30">
                <a:solidFill>
                  <a:srgbClr val="231F20"/>
                </a:solidFill>
                <a:latin typeface="Arial"/>
                <a:cs typeface="Arial"/>
              </a:rPr>
              <a:t> </a:t>
            </a:r>
            <a:r>
              <a:rPr sz="500" spc="5">
                <a:solidFill>
                  <a:srgbClr val="231F20"/>
                </a:solidFill>
                <a:latin typeface="Arial"/>
                <a:cs typeface="Arial"/>
              </a:rPr>
              <a:t>S</a:t>
            </a:r>
            <a:r>
              <a:rPr sz="500" spc="30">
                <a:solidFill>
                  <a:srgbClr val="231F20"/>
                </a:solidFill>
                <a:latin typeface="Arial"/>
                <a:cs typeface="Arial"/>
              </a:rPr>
              <a:t> </a:t>
            </a:r>
            <a:r>
              <a:rPr sz="500" spc="-20">
                <a:solidFill>
                  <a:srgbClr val="231F20"/>
                </a:solidFill>
                <a:latin typeface="Arial"/>
                <a:cs typeface="Arial"/>
              </a:rPr>
              <a:t>I</a:t>
            </a:r>
            <a:r>
              <a:rPr sz="500" spc="30">
                <a:solidFill>
                  <a:srgbClr val="231F20"/>
                </a:solidFill>
                <a:latin typeface="Arial"/>
                <a:cs typeface="Arial"/>
              </a:rPr>
              <a:t> </a:t>
            </a:r>
            <a:r>
              <a:rPr sz="500" spc="20">
                <a:solidFill>
                  <a:srgbClr val="231F20"/>
                </a:solidFill>
                <a:latin typeface="Arial"/>
                <a:cs typeface="Arial"/>
              </a:rPr>
              <a:t>N</a:t>
            </a:r>
            <a:r>
              <a:rPr sz="500" spc="30">
                <a:solidFill>
                  <a:srgbClr val="231F20"/>
                </a:solidFill>
                <a:latin typeface="Arial"/>
                <a:cs typeface="Arial"/>
              </a:rPr>
              <a:t> </a:t>
            </a:r>
            <a:r>
              <a:rPr sz="500" spc="-15">
                <a:solidFill>
                  <a:srgbClr val="231F20"/>
                </a:solidFill>
                <a:latin typeface="Arial"/>
                <a:cs typeface="Arial"/>
              </a:rPr>
              <a:t>E</a:t>
            </a:r>
            <a:r>
              <a:rPr sz="500" spc="30">
                <a:solidFill>
                  <a:srgbClr val="231F20"/>
                </a:solidFill>
                <a:latin typeface="Arial"/>
                <a:cs typeface="Arial"/>
              </a:rPr>
              <a:t> </a:t>
            </a:r>
            <a:r>
              <a:rPr sz="500" spc="5">
                <a:solidFill>
                  <a:srgbClr val="231F20"/>
                </a:solidFill>
                <a:latin typeface="Arial"/>
                <a:cs typeface="Arial"/>
              </a:rPr>
              <a:t>S</a:t>
            </a:r>
            <a:r>
              <a:rPr sz="500" spc="35">
                <a:solidFill>
                  <a:srgbClr val="231F20"/>
                </a:solidFill>
                <a:latin typeface="Arial"/>
                <a:cs typeface="Arial"/>
              </a:rPr>
              <a:t> </a:t>
            </a:r>
            <a:r>
              <a:rPr sz="500" spc="5">
                <a:solidFill>
                  <a:srgbClr val="231F20"/>
                </a:solidFill>
                <a:latin typeface="Arial"/>
                <a:cs typeface="Arial"/>
              </a:rPr>
              <a:t>S</a:t>
            </a:r>
            <a:endParaRPr sz="500">
              <a:latin typeface="Arial"/>
              <a:cs typeface="Arial"/>
            </a:endParaRPr>
          </a:p>
        </p:txBody>
      </p:sp>
      <p:sp>
        <p:nvSpPr>
          <p:cNvPr id="14" name="object 14"/>
          <p:cNvSpPr txBox="1"/>
          <p:nvPr/>
        </p:nvSpPr>
        <p:spPr>
          <a:xfrm>
            <a:off x="3708906" y="3344562"/>
            <a:ext cx="300990" cy="101600"/>
          </a:xfrm>
          <a:prstGeom prst="rect">
            <a:avLst/>
          </a:prstGeom>
        </p:spPr>
        <p:txBody>
          <a:bodyPr vert="horz" wrap="square" lIns="0" tIns="0" rIns="0" bIns="0" rtlCol="0">
            <a:spAutoFit/>
          </a:bodyPr>
          <a:lstStyle/>
          <a:p>
            <a:pPr marL="12700">
              <a:lnSpc>
                <a:spcPts val="685"/>
              </a:lnSpc>
            </a:pPr>
            <a:r>
              <a:rPr sz="600" spc="-35">
                <a:latin typeface="Arial"/>
                <a:cs typeface="Arial"/>
              </a:rPr>
              <a:t>P</a:t>
            </a:r>
            <a:r>
              <a:rPr sz="600" spc="-5">
                <a:latin typeface="Arial"/>
                <a:cs typeface="Arial"/>
              </a:rPr>
              <a:t>age</a:t>
            </a:r>
            <a:r>
              <a:rPr sz="600" spc="-10">
                <a:latin typeface="Arial"/>
                <a:cs typeface="Arial"/>
              </a:rPr>
              <a:t> </a:t>
            </a:r>
            <a:fld id="{81D60167-4931-47E6-BA6A-407CBD079E47}" type="slidenum">
              <a:rPr sz="600" spc="-5" dirty="0">
                <a:latin typeface="Arial"/>
                <a:cs typeface="Arial"/>
              </a:rPr>
              <a:t>1</a:t>
            </a:fld>
            <a:endParaRPr sz="600">
              <a:latin typeface="Arial"/>
              <a:cs typeface="Arial"/>
            </a:endParaRPr>
          </a:p>
        </p:txBody>
      </p:sp>
      <p:sp>
        <p:nvSpPr>
          <p:cNvPr id="9" name="TextBox 8">
            <a:extLst>
              <a:ext uri="{FF2B5EF4-FFF2-40B4-BE49-F238E27FC236}">
                <a16:creationId xmlns:a16="http://schemas.microsoft.com/office/drawing/2014/main" id="{833DE640-4373-E05F-2E68-73D434B5B221}"/>
              </a:ext>
            </a:extLst>
          </p:cNvPr>
          <p:cNvSpPr txBox="1"/>
          <p:nvPr/>
        </p:nvSpPr>
        <p:spPr>
          <a:xfrm>
            <a:off x="778104" y="1528371"/>
            <a:ext cx="3124189" cy="923330"/>
          </a:xfrm>
          <a:prstGeom prst="rect">
            <a:avLst/>
          </a:prstGeom>
          <a:noFill/>
        </p:spPr>
        <p:txBody>
          <a:bodyPr wrap="none" rtlCol="0">
            <a:spAutoFit/>
          </a:bodyPr>
          <a:lstStyle/>
          <a:p>
            <a:pPr algn="ctr"/>
            <a:r>
              <a:rPr lang="en-US"/>
              <a:t>Professor Burnes</a:t>
            </a:r>
          </a:p>
          <a:p>
            <a:pPr algn="ctr"/>
            <a:r>
              <a:rPr lang="en-US" b="1"/>
              <a:t>Leeds School of Business</a:t>
            </a:r>
          </a:p>
          <a:p>
            <a:pPr algn="ctr"/>
            <a:r>
              <a:rPr lang="en-US" b="1"/>
              <a:t>University of Colorado Boulder</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2CF1C-211C-DA3F-161F-5A8600280CDF}"/>
              </a:ext>
            </a:extLst>
          </p:cNvPr>
          <p:cNvSpPr>
            <a:spLocks noGrp="1"/>
          </p:cNvSpPr>
          <p:nvPr>
            <p:ph type="title"/>
          </p:nvPr>
        </p:nvSpPr>
        <p:spPr>
          <a:xfrm>
            <a:off x="1052575" y="190295"/>
            <a:ext cx="2504948" cy="215444"/>
          </a:xfrm>
        </p:spPr>
        <p:txBody>
          <a:bodyPr/>
          <a:lstStyle/>
          <a:p>
            <a:r>
              <a:rPr lang="en-US" dirty="0"/>
              <a:t>VOCABULARY and calcs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22BF32D-A328-D658-4D0F-4E82BC150E07}"/>
                  </a:ext>
                </a:extLst>
              </p:cNvPr>
              <p:cNvSpPr>
                <a:spLocks noGrp="1"/>
              </p:cNvSpPr>
              <p:nvPr>
                <p:ph type="body" idx="1"/>
              </p:nvPr>
            </p:nvSpPr>
            <p:spPr>
              <a:xfrm>
                <a:off x="133858" y="602754"/>
                <a:ext cx="4342383" cy="2594878"/>
              </a:xfrm>
            </p:spPr>
            <p:txBody>
              <a:bodyPr/>
              <a:lstStyle/>
              <a:p>
                <a:r>
                  <a:rPr lang="en-US" b="1" dirty="0"/>
                  <a:t>CAGR</a:t>
                </a:r>
                <a:r>
                  <a:rPr lang="en-US" dirty="0"/>
                  <a:t> = Compound Average  Growth Rate =</a:t>
                </a:r>
              </a:p>
              <a:p>
                <a:r>
                  <a:rPr lang="en-US" dirty="0"/>
                  <a:t> </a:t>
                </a:r>
                <a14:m>
                  <m:oMath xmlns:m="http://schemas.openxmlformats.org/officeDocument/2006/math">
                    <m:d>
                      <m:dPr>
                        <m:begChr m:val="["/>
                        <m:endChr m:val="]"/>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f>
                                  <m:fPr>
                                    <m:ctrlPr>
                                      <a:rPr lang="en-US" i="1" smtClean="0">
                                        <a:latin typeface="Cambria Math" panose="02040503050406030204" pitchFamily="18" charset="0"/>
                                      </a:rPr>
                                    </m:ctrlPr>
                                  </m:fPr>
                                  <m:num>
                                    <m:r>
                                      <a:rPr lang="en-US" b="0" i="1" smtClean="0">
                                        <a:latin typeface="Cambria Math" panose="02040503050406030204" pitchFamily="18" charset="0"/>
                                      </a:rPr>
                                      <m:t>𝐸𝑛𝑑𝑖𝑛𝑔</m:t>
                                    </m:r>
                                    <m:r>
                                      <a:rPr lang="en-US" b="0" i="1" smtClean="0">
                                        <a:latin typeface="Cambria Math" panose="02040503050406030204" pitchFamily="18" charset="0"/>
                                      </a:rPr>
                                      <m:t> </m:t>
                                    </m:r>
                                    <m:r>
                                      <a:rPr lang="en-US" b="0" i="1" smtClean="0">
                                        <a:latin typeface="Cambria Math" panose="02040503050406030204" pitchFamily="18" charset="0"/>
                                      </a:rPr>
                                      <m:t>𝑉𝑎𝑙𝑢𝑒</m:t>
                                    </m:r>
                                  </m:num>
                                  <m:den>
                                    <m:r>
                                      <a:rPr lang="en-US" b="0" i="1" smtClean="0">
                                        <a:latin typeface="Cambria Math" panose="02040503050406030204" pitchFamily="18" charset="0"/>
                                      </a:rPr>
                                      <m:t>𝐵𝑒𝑔𝑖𝑛𝑛𝑖𝑛𝑔</m:t>
                                    </m:r>
                                    <m:r>
                                      <a:rPr lang="en-US" b="0" i="1" smtClean="0">
                                        <a:latin typeface="Cambria Math" panose="02040503050406030204" pitchFamily="18" charset="0"/>
                                      </a:rPr>
                                      <m:t> </m:t>
                                    </m:r>
                                    <m:r>
                                      <a:rPr lang="en-US" b="0" i="1" smtClean="0">
                                        <a:latin typeface="Cambria Math" panose="02040503050406030204" pitchFamily="18" charset="0"/>
                                      </a:rPr>
                                      <m:t>𝑉𝑎𝑙𝑢𝑒</m:t>
                                    </m:r>
                                  </m:den>
                                </m:f>
                              </m:e>
                            </m:d>
                          </m:e>
                          <m:sup>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𝑡𝑖𝑚𝑒</m:t>
                                </m:r>
                              </m:den>
                            </m:f>
                          </m:sup>
                        </m:sSup>
                        <m:r>
                          <a:rPr lang="en-US" b="0" i="1" smtClean="0">
                            <a:latin typeface="Cambria Math" panose="02040503050406030204" pitchFamily="18" charset="0"/>
                          </a:rPr>
                          <m:t>−1</m:t>
                        </m:r>
                      </m:e>
                    </m:d>
                  </m:oMath>
                </a14:m>
                <a:r>
                  <a:rPr lang="en-US" dirty="0"/>
                  <a:t>* 100</a:t>
                </a:r>
              </a:p>
              <a:p>
                <a:endParaRPr lang="en-US" dirty="0"/>
              </a:p>
              <a:p>
                <a:endParaRPr lang="en-US" dirty="0"/>
              </a:p>
              <a:p>
                <a:endParaRPr lang="en-US" dirty="0"/>
              </a:p>
              <a:p>
                <a:r>
                  <a:rPr lang="en-US" b="1" dirty="0"/>
                  <a:t>Form S1 </a:t>
                </a:r>
                <a:r>
                  <a:rPr lang="en-US" dirty="0"/>
                  <a:t>– initial registration for new securities issued by US companies  (IPO and Follow On)</a:t>
                </a:r>
              </a:p>
              <a:p>
                <a:endParaRPr lang="en-US" dirty="0"/>
              </a:p>
              <a:p>
                <a:r>
                  <a:rPr lang="en-US" b="1" dirty="0"/>
                  <a:t>Free Cash Flow </a:t>
                </a:r>
                <a:r>
                  <a:rPr lang="en-US" dirty="0"/>
                  <a:t>= Cash Flow from Operations – CAPEX</a:t>
                </a:r>
              </a:p>
              <a:p>
                <a:endParaRPr lang="en-US" dirty="0"/>
              </a:p>
              <a:p>
                <a:r>
                  <a:rPr lang="en-US" b="1" dirty="0"/>
                  <a:t>Short Selling </a:t>
                </a:r>
                <a:r>
                  <a:rPr lang="en-US" dirty="0"/>
                  <a:t>– implies that you expect the price of the asset to go down.  You ‘borrow’ stock from your broker today, sell it (at today’s higher price) and when you have to “give” it back to your broker, you buy it back on the market at the lower price. </a:t>
                </a:r>
              </a:p>
            </p:txBody>
          </p:sp>
        </mc:Choice>
        <mc:Fallback xmlns="">
          <p:sp>
            <p:nvSpPr>
              <p:cNvPr id="3" name="Text Placeholder 2">
                <a:extLst>
                  <a:ext uri="{FF2B5EF4-FFF2-40B4-BE49-F238E27FC236}">
                    <a16:creationId xmlns:a16="http://schemas.microsoft.com/office/drawing/2014/main" id="{722BF32D-A328-D658-4D0F-4E82BC150E07}"/>
                  </a:ext>
                </a:extLst>
              </p:cNvPr>
              <p:cNvSpPr>
                <a:spLocks noGrp="1" noRot="1" noChangeAspect="1" noMove="1" noResize="1" noEditPoints="1" noAdjustHandles="1" noChangeArrowheads="1" noChangeShapeType="1" noTextEdit="1"/>
              </p:cNvSpPr>
              <p:nvPr>
                <p:ph type="body" idx="1"/>
              </p:nvPr>
            </p:nvSpPr>
            <p:spPr>
              <a:xfrm>
                <a:off x="133858" y="602754"/>
                <a:ext cx="4342383" cy="2594878"/>
              </a:xfrm>
              <a:blipFill>
                <a:blip r:embed="rId2"/>
                <a:stretch>
                  <a:fillRect l="-2041" t="-1456" b="-2427"/>
                </a:stretch>
              </a:blipFill>
            </p:spPr>
            <p:txBody>
              <a:bodyPr/>
              <a:lstStyle/>
              <a:p>
                <a:r>
                  <a:rPr lang="en-US">
                    <a:noFill/>
                  </a:rPr>
                  <a:t> </a:t>
                </a:r>
              </a:p>
            </p:txBody>
          </p:sp>
        </mc:Fallback>
      </mc:AlternateContent>
      <p:sp>
        <p:nvSpPr>
          <p:cNvPr id="4" name="Up Arrow 3">
            <a:extLst>
              <a:ext uri="{FF2B5EF4-FFF2-40B4-BE49-F238E27FC236}">
                <a16:creationId xmlns:a16="http://schemas.microsoft.com/office/drawing/2014/main" id="{797F06A9-1A4C-3495-6413-1A486169CD4D}"/>
              </a:ext>
            </a:extLst>
          </p:cNvPr>
          <p:cNvSpPr/>
          <p:nvPr/>
        </p:nvSpPr>
        <p:spPr>
          <a:xfrm>
            <a:off x="1909482" y="1085623"/>
            <a:ext cx="73959" cy="333041"/>
          </a:xfrm>
          <a:prstGeom prst="upArrow">
            <a:avLst/>
          </a:prstGeom>
          <a:ln>
            <a:solidFill>
              <a:srgbClr val="CEB6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6693C05-E8EA-8FB1-B66D-92DFFA2BCF08}"/>
              </a:ext>
            </a:extLst>
          </p:cNvPr>
          <p:cNvSpPr txBox="1"/>
          <p:nvPr/>
        </p:nvSpPr>
        <p:spPr>
          <a:xfrm>
            <a:off x="1936763" y="1121338"/>
            <a:ext cx="2539478" cy="261610"/>
          </a:xfrm>
          <a:prstGeom prst="rect">
            <a:avLst/>
          </a:prstGeom>
          <a:noFill/>
        </p:spPr>
        <p:txBody>
          <a:bodyPr wrap="none" rtlCol="0">
            <a:spAutoFit/>
          </a:bodyPr>
          <a:lstStyle/>
          <a:p>
            <a:r>
              <a:rPr lang="en-US" sz="1100" i="1" dirty="0"/>
              <a:t>Multiplying by 100 makes it a percentage</a:t>
            </a:r>
          </a:p>
        </p:txBody>
      </p:sp>
    </p:spTree>
    <p:extLst>
      <p:ext uri="{BB962C8B-B14F-4D97-AF65-F5344CB8AC3E}">
        <p14:creationId xmlns:p14="http://schemas.microsoft.com/office/powerpoint/2010/main" val="2235390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22948-D75C-932E-1DD8-5CB3D587394B}"/>
              </a:ext>
            </a:extLst>
          </p:cNvPr>
          <p:cNvSpPr>
            <a:spLocks noGrp="1"/>
          </p:cNvSpPr>
          <p:nvPr>
            <p:ph type="title"/>
          </p:nvPr>
        </p:nvSpPr>
        <p:spPr>
          <a:xfrm>
            <a:off x="1052575" y="190295"/>
            <a:ext cx="2504948" cy="215444"/>
          </a:xfrm>
        </p:spPr>
        <p:txBody>
          <a:bodyPr/>
          <a:lstStyle/>
          <a:p>
            <a:r>
              <a:rPr lang="en-US" dirty="0"/>
              <a:t>Vocabulary continued</a:t>
            </a:r>
          </a:p>
        </p:txBody>
      </p:sp>
      <p:sp>
        <p:nvSpPr>
          <p:cNvPr id="3" name="Text Placeholder 2">
            <a:extLst>
              <a:ext uri="{FF2B5EF4-FFF2-40B4-BE49-F238E27FC236}">
                <a16:creationId xmlns:a16="http://schemas.microsoft.com/office/drawing/2014/main" id="{641B135B-8D9F-E2C9-6652-6BFA7B077B21}"/>
              </a:ext>
            </a:extLst>
          </p:cNvPr>
          <p:cNvSpPr>
            <a:spLocks noGrp="1"/>
          </p:cNvSpPr>
          <p:nvPr>
            <p:ph type="body" idx="1"/>
          </p:nvPr>
        </p:nvSpPr>
        <p:spPr>
          <a:xfrm>
            <a:off x="133858" y="602754"/>
            <a:ext cx="4342383" cy="1862048"/>
          </a:xfrm>
        </p:spPr>
        <p:txBody>
          <a:bodyPr/>
          <a:lstStyle/>
          <a:p>
            <a:r>
              <a:rPr lang="en-US" dirty="0"/>
              <a:t>Primary Market: This is the initial offering of the stock. This is the bids/commitment made as a result of roadshow -- the Underwriter(s) (Investment Bank(s)) leading the offering “presells” the shares”</a:t>
            </a:r>
          </a:p>
          <a:p>
            <a:endParaRPr lang="en-US" dirty="0"/>
          </a:p>
          <a:p>
            <a:endParaRPr lang="en-US" dirty="0"/>
          </a:p>
          <a:p>
            <a:r>
              <a:rPr lang="en-US" dirty="0"/>
              <a:t>Secondary Market: this is the public exchanges where stocks are traded daily </a:t>
            </a:r>
          </a:p>
          <a:p>
            <a:endParaRPr lang="en-US" dirty="0"/>
          </a:p>
          <a:p>
            <a:r>
              <a:rPr lang="en-US" dirty="0"/>
              <a:t>EPS: Earnings Per Share</a:t>
            </a:r>
          </a:p>
          <a:p>
            <a:endParaRPr lang="en-US" dirty="0"/>
          </a:p>
          <a:p>
            <a:r>
              <a:rPr lang="en-US" dirty="0"/>
              <a:t>PE:  Price </a:t>
            </a:r>
            <a:r>
              <a:rPr lang="en-US"/>
              <a:t>to Earnings Ratio</a:t>
            </a:r>
            <a:endParaRPr lang="en-US" dirty="0"/>
          </a:p>
        </p:txBody>
      </p:sp>
    </p:spTree>
    <p:extLst>
      <p:ext uri="{BB962C8B-B14F-4D97-AF65-F5344CB8AC3E}">
        <p14:creationId xmlns:p14="http://schemas.microsoft.com/office/powerpoint/2010/main" val="1077501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D4D9-9AAA-4B11-4CA3-F6C13417E125}"/>
              </a:ext>
            </a:extLst>
          </p:cNvPr>
          <p:cNvSpPr>
            <a:spLocks noGrp="1"/>
          </p:cNvSpPr>
          <p:nvPr>
            <p:ph type="title"/>
          </p:nvPr>
        </p:nvSpPr>
        <p:spPr>
          <a:xfrm>
            <a:off x="133858" y="190295"/>
            <a:ext cx="4342383" cy="646331"/>
          </a:xfrm>
        </p:spPr>
        <p:txBody>
          <a:bodyPr/>
          <a:lstStyle/>
          <a:p>
            <a:r>
              <a:rPr lang="en-US" dirty="0"/>
              <a:t>What was Tesla’s Strategy by rolling out the Roadster as its first car?</a:t>
            </a:r>
          </a:p>
        </p:txBody>
      </p:sp>
      <p:sp>
        <p:nvSpPr>
          <p:cNvPr id="3" name="Text Placeholder 2">
            <a:extLst>
              <a:ext uri="{FF2B5EF4-FFF2-40B4-BE49-F238E27FC236}">
                <a16:creationId xmlns:a16="http://schemas.microsoft.com/office/drawing/2014/main" id="{94F2FEB6-686D-BB5C-335A-62D3D5C63D38}"/>
              </a:ext>
            </a:extLst>
          </p:cNvPr>
          <p:cNvSpPr>
            <a:spLocks noGrp="1"/>
          </p:cNvSpPr>
          <p:nvPr>
            <p:ph type="body" idx="1"/>
          </p:nvPr>
        </p:nvSpPr>
        <p:spPr>
          <a:xfrm>
            <a:off x="133858" y="830154"/>
            <a:ext cx="4342383" cy="507831"/>
          </a:xfrm>
        </p:spPr>
        <p:txBody>
          <a:bodyPr/>
          <a:lstStyle/>
          <a:p>
            <a:r>
              <a:rPr lang="en-US" i="1" dirty="0"/>
              <a:t>High Price Point to Defray Start Up Costs</a:t>
            </a:r>
          </a:p>
          <a:p>
            <a:endParaRPr lang="en-US" i="1" dirty="0"/>
          </a:p>
          <a:p>
            <a:r>
              <a:rPr lang="en-US" i="1" dirty="0"/>
              <a:t>Alternatives?</a:t>
            </a:r>
          </a:p>
        </p:txBody>
      </p:sp>
    </p:spTree>
    <p:extLst>
      <p:ext uri="{BB962C8B-B14F-4D97-AF65-F5344CB8AC3E}">
        <p14:creationId xmlns:p14="http://schemas.microsoft.com/office/powerpoint/2010/main" val="2661552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75D50-D4DC-F6E0-CD03-690AE0324672}"/>
              </a:ext>
            </a:extLst>
          </p:cNvPr>
          <p:cNvSpPr>
            <a:spLocks noGrp="1"/>
          </p:cNvSpPr>
          <p:nvPr>
            <p:ph type="title"/>
          </p:nvPr>
        </p:nvSpPr>
        <p:spPr>
          <a:xfrm>
            <a:off x="1052575" y="190295"/>
            <a:ext cx="2504948" cy="215444"/>
          </a:xfrm>
        </p:spPr>
        <p:txBody>
          <a:bodyPr/>
          <a:lstStyle/>
          <a:p>
            <a:r>
              <a:rPr lang="en-US" dirty="0"/>
              <a:t>Red Flag or Good Idea??</a:t>
            </a:r>
          </a:p>
        </p:txBody>
      </p:sp>
      <p:sp>
        <p:nvSpPr>
          <p:cNvPr id="3" name="Text Placeholder 2">
            <a:extLst>
              <a:ext uri="{FF2B5EF4-FFF2-40B4-BE49-F238E27FC236}">
                <a16:creationId xmlns:a16="http://schemas.microsoft.com/office/drawing/2014/main" id="{F668209D-5503-2F7A-FCA8-4250BE70B7FE}"/>
              </a:ext>
            </a:extLst>
          </p:cNvPr>
          <p:cNvSpPr>
            <a:spLocks noGrp="1"/>
          </p:cNvSpPr>
          <p:nvPr>
            <p:ph type="body" idx="1"/>
          </p:nvPr>
        </p:nvSpPr>
        <p:spPr>
          <a:xfrm>
            <a:off x="133858" y="602754"/>
            <a:ext cx="4342383" cy="507831"/>
          </a:xfrm>
        </p:spPr>
        <p:txBody>
          <a:bodyPr/>
          <a:lstStyle/>
          <a:p>
            <a:r>
              <a:rPr lang="en-US" dirty="0"/>
              <a:t>“</a:t>
            </a:r>
            <a:r>
              <a:rPr lang="en-US" i="1" dirty="0"/>
              <a:t>In fact, the company </a:t>
            </a:r>
            <a:r>
              <a:rPr lang="en-US" b="1" i="1" dirty="0"/>
              <a:t>stopped taking reservations </a:t>
            </a:r>
            <a:r>
              <a:rPr lang="en-US" i="1" dirty="0"/>
              <a:t>and instead initiated a </a:t>
            </a:r>
            <a:r>
              <a:rPr lang="en-US" b="1" i="1" dirty="0"/>
              <a:t>waiting list</a:t>
            </a:r>
            <a:r>
              <a:rPr lang="en-US" i="1" dirty="0"/>
              <a:t>, charging customers $5000 for the opportunity to purchase the sports car priced at over $100,000”</a:t>
            </a:r>
            <a:endParaRPr lang="en-US" dirty="0"/>
          </a:p>
        </p:txBody>
      </p:sp>
    </p:spTree>
    <p:extLst>
      <p:ext uri="{BB962C8B-B14F-4D97-AF65-F5344CB8AC3E}">
        <p14:creationId xmlns:p14="http://schemas.microsoft.com/office/powerpoint/2010/main" val="1905546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85309-34A1-0DD6-9CE5-F975F59DCB6B}"/>
              </a:ext>
            </a:extLst>
          </p:cNvPr>
          <p:cNvSpPr>
            <a:spLocks noGrp="1"/>
          </p:cNvSpPr>
          <p:nvPr>
            <p:ph type="title"/>
          </p:nvPr>
        </p:nvSpPr>
        <p:spPr>
          <a:xfrm>
            <a:off x="1052575" y="190295"/>
            <a:ext cx="2504948" cy="215444"/>
          </a:xfrm>
        </p:spPr>
        <p:txBody>
          <a:bodyPr/>
          <a:lstStyle/>
          <a:p>
            <a:r>
              <a:rPr lang="en-US" dirty="0"/>
              <a:t>KPIs for Tesla</a:t>
            </a:r>
          </a:p>
        </p:txBody>
      </p:sp>
      <p:sp>
        <p:nvSpPr>
          <p:cNvPr id="3" name="Text Placeholder 2">
            <a:extLst>
              <a:ext uri="{FF2B5EF4-FFF2-40B4-BE49-F238E27FC236}">
                <a16:creationId xmlns:a16="http://schemas.microsoft.com/office/drawing/2014/main" id="{98C7DB66-59C0-2C1C-AFB8-1BE3AAD6FBAD}"/>
              </a:ext>
            </a:extLst>
          </p:cNvPr>
          <p:cNvSpPr>
            <a:spLocks noGrp="1"/>
          </p:cNvSpPr>
          <p:nvPr>
            <p:ph type="body" idx="1"/>
          </p:nvPr>
        </p:nvSpPr>
        <p:spPr>
          <a:xfrm>
            <a:off x="133858" y="602754"/>
            <a:ext cx="4342383" cy="1692771"/>
          </a:xfrm>
        </p:spPr>
        <p:txBody>
          <a:bodyPr/>
          <a:lstStyle/>
          <a:p>
            <a:r>
              <a:rPr lang="en-US" dirty="0"/>
              <a:t>?? Why is this hard??</a:t>
            </a:r>
          </a:p>
          <a:p>
            <a:endParaRPr lang="en-US" dirty="0"/>
          </a:p>
          <a:p>
            <a:endParaRPr lang="en-US" dirty="0"/>
          </a:p>
          <a:p>
            <a:r>
              <a:rPr lang="en-US" b="1" dirty="0"/>
              <a:t>Examples</a:t>
            </a:r>
          </a:p>
          <a:p>
            <a:r>
              <a:rPr lang="en-US" dirty="0"/>
              <a:t>Vehicles Delivered (relative to expectations)</a:t>
            </a:r>
          </a:p>
          <a:p>
            <a:r>
              <a:rPr lang="en-US" dirty="0"/>
              <a:t>Strategic Partnerships</a:t>
            </a:r>
          </a:p>
          <a:p>
            <a:r>
              <a:rPr lang="en-US" dirty="0"/>
              <a:t>CEO Stability</a:t>
            </a:r>
          </a:p>
          <a:p>
            <a:r>
              <a:rPr lang="en-US" dirty="0"/>
              <a:t>Share of EV Market</a:t>
            </a:r>
          </a:p>
          <a:p>
            <a:r>
              <a:rPr lang="en-US" dirty="0"/>
              <a:t>Share of Vehicle Market</a:t>
            </a:r>
          </a:p>
          <a:p>
            <a:r>
              <a:rPr lang="en-US" dirty="0"/>
              <a:t>Asset Efficacy/Utilization</a:t>
            </a:r>
          </a:p>
        </p:txBody>
      </p:sp>
    </p:spTree>
    <p:extLst>
      <p:ext uri="{BB962C8B-B14F-4D97-AF65-F5344CB8AC3E}">
        <p14:creationId xmlns:p14="http://schemas.microsoft.com/office/powerpoint/2010/main" val="263084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84DB-3F38-D3E3-A7A0-E987368546D8}"/>
              </a:ext>
            </a:extLst>
          </p:cNvPr>
          <p:cNvSpPr>
            <a:spLocks noGrp="1"/>
          </p:cNvSpPr>
          <p:nvPr>
            <p:ph type="title"/>
          </p:nvPr>
        </p:nvSpPr>
        <p:spPr>
          <a:xfrm>
            <a:off x="1052575" y="190295"/>
            <a:ext cx="2504948" cy="215444"/>
          </a:xfrm>
        </p:spPr>
        <p:txBody>
          <a:bodyPr/>
          <a:lstStyle/>
          <a:p>
            <a:r>
              <a:rPr lang="en-US" dirty="0"/>
              <a:t>COMPS for Tesla</a:t>
            </a:r>
          </a:p>
        </p:txBody>
      </p:sp>
      <p:sp>
        <p:nvSpPr>
          <p:cNvPr id="3" name="Text Placeholder 2">
            <a:extLst>
              <a:ext uri="{FF2B5EF4-FFF2-40B4-BE49-F238E27FC236}">
                <a16:creationId xmlns:a16="http://schemas.microsoft.com/office/drawing/2014/main" id="{BCFCDF18-9533-D3F4-885E-22318FF50603}"/>
              </a:ext>
            </a:extLst>
          </p:cNvPr>
          <p:cNvSpPr>
            <a:spLocks noGrp="1"/>
          </p:cNvSpPr>
          <p:nvPr>
            <p:ph type="body" idx="1"/>
          </p:nvPr>
        </p:nvSpPr>
        <p:spPr>
          <a:xfrm>
            <a:off x="133858" y="602754"/>
            <a:ext cx="4342383" cy="1184940"/>
          </a:xfrm>
        </p:spPr>
        <p:txBody>
          <a:bodyPr/>
          <a:lstStyle/>
          <a:p>
            <a:r>
              <a:rPr lang="en-US" dirty="0"/>
              <a:t>Why is this hard?</a:t>
            </a:r>
          </a:p>
          <a:p>
            <a:endParaRPr lang="en-US" dirty="0"/>
          </a:p>
          <a:p>
            <a:r>
              <a:rPr lang="en-US" dirty="0"/>
              <a:t>First Mover</a:t>
            </a:r>
          </a:p>
          <a:p>
            <a:r>
              <a:rPr lang="en-US" dirty="0"/>
              <a:t>Luxury Market</a:t>
            </a:r>
          </a:p>
          <a:p>
            <a:r>
              <a:rPr lang="en-US" dirty="0"/>
              <a:t>American Made</a:t>
            </a:r>
          </a:p>
          <a:p>
            <a:endParaRPr lang="en-US" dirty="0"/>
          </a:p>
          <a:p>
            <a:r>
              <a:rPr lang="en-US" dirty="0"/>
              <a:t>Other than Cars?</a:t>
            </a:r>
          </a:p>
        </p:txBody>
      </p:sp>
    </p:spTree>
    <p:extLst>
      <p:ext uri="{BB962C8B-B14F-4D97-AF65-F5344CB8AC3E}">
        <p14:creationId xmlns:p14="http://schemas.microsoft.com/office/powerpoint/2010/main" val="1268425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BF0F5CE-D136-D882-AB56-8F6CEFD59461}"/>
              </a:ext>
            </a:extLst>
          </p:cNvPr>
          <p:cNvSpPr>
            <a:spLocks noGrp="1"/>
          </p:cNvSpPr>
          <p:nvPr>
            <p:ph type="title"/>
          </p:nvPr>
        </p:nvSpPr>
        <p:spPr>
          <a:xfrm>
            <a:off x="1052575" y="190295"/>
            <a:ext cx="2504948" cy="215444"/>
          </a:xfrm>
        </p:spPr>
        <p:txBody>
          <a:bodyPr/>
          <a:lstStyle/>
          <a:p>
            <a:r>
              <a:rPr lang="en-US" dirty="0"/>
              <a:t>Let’s Look at 2023</a:t>
            </a:r>
          </a:p>
        </p:txBody>
      </p:sp>
      <p:sp>
        <p:nvSpPr>
          <p:cNvPr id="6" name="Text Placeholder 5">
            <a:extLst>
              <a:ext uri="{FF2B5EF4-FFF2-40B4-BE49-F238E27FC236}">
                <a16:creationId xmlns:a16="http://schemas.microsoft.com/office/drawing/2014/main" id="{1CE9D348-1290-86B2-B355-A1BF36448CFA}"/>
              </a:ext>
            </a:extLst>
          </p:cNvPr>
          <p:cNvSpPr>
            <a:spLocks noGrp="1"/>
          </p:cNvSpPr>
          <p:nvPr>
            <p:ph type="body" idx="1"/>
          </p:nvPr>
        </p:nvSpPr>
        <p:spPr>
          <a:xfrm>
            <a:off x="133857" y="535518"/>
            <a:ext cx="4342383" cy="1015663"/>
          </a:xfrm>
        </p:spPr>
        <p:txBody>
          <a:bodyPr/>
          <a:lstStyle/>
          <a:p>
            <a:r>
              <a:rPr lang="en-US" dirty="0"/>
              <a:t>1.2 million EVs sold in US</a:t>
            </a:r>
          </a:p>
          <a:p>
            <a:r>
              <a:rPr lang="en-US" dirty="0"/>
              <a:t>EV Share of US market 7.6%, vs 5.9% in 2022 and 2.2% of total market 2018</a:t>
            </a:r>
          </a:p>
          <a:p>
            <a:endParaRPr lang="en-US" dirty="0"/>
          </a:p>
          <a:p>
            <a:r>
              <a:rPr lang="en-US" dirty="0"/>
              <a:t>Tesla had 65% of total market in 2022, and 55% of total market in 2023</a:t>
            </a:r>
          </a:p>
        </p:txBody>
      </p:sp>
      <p:pic>
        <p:nvPicPr>
          <p:cNvPr id="8" name="Picture 7" descr="A graph of sales&#10;&#10;Description automatically generated">
            <a:extLst>
              <a:ext uri="{FF2B5EF4-FFF2-40B4-BE49-F238E27FC236}">
                <a16:creationId xmlns:a16="http://schemas.microsoft.com/office/drawing/2014/main" id="{8B2E0ED3-0C14-28AD-CC9C-7C31DB48C1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19552"/>
            <a:ext cx="4476240" cy="2421646"/>
          </a:xfrm>
          <a:prstGeom prst="rect">
            <a:avLst/>
          </a:prstGeom>
        </p:spPr>
      </p:pic>
      <p:sp>
        <p:nvSpPr>
          <p:cNvPr id="9" name="Left Arrow 8">
            <a:extLst>
              <a:ext uri="{FF2B5EF4-FFF2-40B4-BE49-F238E27FC236}">
                <a16:creationId xmlns:a16="http://schemas.microsoft.com/office/drawing/2014/main" id="{E66A74EB-E16E-5DEB-7F55-EC66A12C82A7}"/>
              </a:ext>
            </a:extLst>
          </p:cNvPr>
          <p:cNvSpPr/>
          <p:nvPr/>
        </p:nvSpPr>
        <p:spPr>
          <a:xfrm>
            <a:off x="1546412" y="1081736"/>
            <a:ext cx="974912" cy="179194"/>
          </a:xfrm>
          <a:prstGeom prst="leftArrow">
            <a:avLst/>
          </a:prstGeom>
          <a:solidFill>
            <a:srgbClr val="1C334E"/>
          </a:solidFill>
          <a:ln>
            <a:solidFill>
              <a:srgbClr val="CEB6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E225695-4D80-F640-CD15-8C022A09A61D}"/>
              </a:ext>
            </a:extLst>
          </p:cNvPr>
          <p:cNvSpPr txBox="1"/>
          <p:nvPr/>
        </p:nvSpPr>
        <p:spPr>
          <a:xfrm>
            <a:off x="1492624" y="839137"/>
            <a:ext cx="2480166" cy="261610"/>
          </a:xfrm>
          <a:prstGeom prst="rect">
            <a:avLst/>
          </a:prstGeom>
          <a:noFill/>
        </p:spPr>
        <p:txBody>
          <a:bodyPr wrap="none" rtlCol="0">
            <a:spAutoFit/>
          </a:bodyPr>
          <a:lstStyle/>
          <a:p>
            <a:r>
              <a:rPr lang="en-US" sz="1100" i="1" dirty="0">
                <a:solidFill>
                  <a:srgbClr val="C00000"/>
                </a:solidFill>
              </a:rPr>
              <a:t>3 New Entrants to 100% club since 2022</a:t>
            </a:r>
          </a:p>
        </p:txBody>
      </p:sp>
    </p:spTree>
    <p:extLst>
      <p:ext uri="{BB962C8B-B14F-4D97-AF65-F5344CB8AC3E}">
        <p14:creationId xmlns:p14="http://schemas.microsoft.com/office/powerpoint/2010/main" val="553523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018EF-730B-137B-12E3-9A860B3EEA68}"/>
              </a:ext>
            </a:extLst>
          </p:cNvPr>
          <p:cNvSpPr>
            <a:spLocks noGrp="1"/>
          </p:cNvSpPr>
          <p:nvPr>
            <p:ph type="title"/>
          </p:nvPr>
        </p:nvSpPr>
        <p:spPr>
          <a:xfrm>
            <a:off x="1052575" y="190295"/>
            <a:ext cx="2504948" cy="215444"/>
          </a:xfrm>
        </p:spPr>
        <p:txBody>
          <a:bodyPr/>
          <a:lstStyle/>
          <a:p>
            <a:r>
              <a:rPr lang="en-US" dirty="0"/>
              <a:t>Growth in EV Market Globally</a:t>
            </a:r>
          </a:p>
        </p:txBody>
      </p:sp>
      <p:sp>
        <p:nvSpPr>
          <p:cNvPr id="3" name="Text Placeholder 2">
            <a:extLst>
              <a:ext uri="{FF2B5EF4-FFF2-40B4-BE49-F238E27FC236}">
                <a16:creationId xmlns:a16="http://schemas.microsoft.com/office/drawing/2014/main" id="{16F82D5E-EFA8-0AB0-53B4-65F2193C2D53}"/>
              </a:ext>
            </a:extLst>
          </p:cNvPr>
          <p:cNvSpPr>
            <a:spLocks noGrp="1"/>
          </p:cNvSpPr>
          <p:nvPr>
            <p:ph type="body" idx="1"/>
          </p:nvPr>
        </p:nvSpPr>
        <p:spPr>
          <a:xfrm>
            <a:off x="86793" y="3270128"/>
            <a:ext cx="2031119" cy="138499"/>
          </a:xfrm>
        </p:spPr>
        <p:txBody>
          <a:bodyPr/>
          <a:lstStyle/>
          <a:p>
            <a:r>
              <a:rPr lang="en-US" sz="900" u="sng" dirty="0">
                <a:hlinkClick r:id="rId2"/>
              </a:rPr>
              <a:t>Source: </a:t>
            </a:r>
            <a:r>
              <a:rPr lang="en-US" sz="900" dirty="0">
                <a:hlinkClick r:id="rId2"/>
              </a:rPr>
              <a:t>EV Car Sales 2012-2024</a:t>
            </a:r>
            <a:endParaRPr lang="en-US" sz="900" dirty="0"/>
          </a:p>
        </p:txBody>
      </p:sp>
      <p:pic>
        <p:nvPicPr>
          <p:cNvPr id="5" name="Picture 4" descr="A graph of sales in different colors&#10;&#10;Description automatically generated">
            <a:extLst>
              <a:ext uri="{FF2B5EF4-FFF2-40B4-BE49-F238E27FC236}">
                <a16:creationId xmlns:a16="http://schemas.microsoft.com/office/drawing/2014/main" id="{7B447ABE-BF27-F705-9550-A399EC0919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406" y="434770"/>
            <a:ext cx="4094506" cy="2714702"/>
          </a:xfrm>
          <a:prstGeom prst="rect">
            <a:avLst/>
          </a:prstGeom>
        </p:spPr>
      </p:pic>
      <p:sp>
        <p:nvSpPr>
          <p:cNvPr id="4" name="TextBox 3">
            <a:extLst>
              <a:ext uri="{FF2B5EF4-FFF2-40B4-BE49-F238E27FC236}">
                <a16:creationId xmlns:a16="http://schemas.microsoft.com/office/drawing/2014/main" id="{7CF7A701-BDF9-0C51-A1AD-323D588C362E}"/>
              </a:ext>
            </a:extLst>
          </p:cNvPr>
          <p:cNvSpPr txBox="1"/>
          <p:nvPr/>
        </p:nvSpPr>
        <p:spPr>
          <a:xfrm rot="20326171">
            <a:off x="1788459" y="1405217"/>
            <a:ext cx="1966179" cy="276999"/>
          </a:xfrm>
          <a:prstGeom prst="rect">
            <a:avLst/>
          </a:prstGeom>
          <a:noFill/>
        </p:spPr>
        <p:txBody>
          <a:bodyPr wrap="none" rtlCol="0">
            <a:spAutoFit/>
          </a:bodyPr>
          <a:lstStyle/>
          <a:p>
            <a:r>
              <a:rPr lang="en-US" sz="1200" b="1" dirty="0">
                <a:solidFill>
                  <a:srgbClr val="C00000"/>
                </a:solidFill>
              </a:rPr>
              <a:t>Relative Shares Rebalancing</a:t>
            </a:r>
          </a:p>
        </p:txBody>
      </p:sp>
    </p:spTree>
    <p:extLst>
      <p:ext uri="{BB962C8B-B14F-4D97-AF65-F5344CB8AC3E}">
        <p14:creationId xmlns:p14="http://schemas.microsoft.com/office/powerpoint/2010/main" val="2488074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00953-770D-14B6-6E89-53EE81777E35}"/>
              </a:ext>
            </a:extLst>
          </p:cNvPr>
          <p:cNvSpPr>
            <a:spLocks noGrp="1"/>
          </p:cNvSpPr>
          <p:nvPr>
            <p:ph type="title"/>
          </p:nvPr>
        </p:nvSpPr>
        <p:spPr/>
        <p:txBody>
          <a:bodyPr/>
          <a:lstStyle/>
          <a:p>
            <a:r>
              <a:rPr lang="en-US" dirty="0"/>
              <a:t>EV Sales US, 2018</a:t>
            </a:r>
          </a:p>
        </p:txBody>
      </p:sp>
      <p:sp>
        <p:nvSpPr>
          <p:cNvPr id="3" name="Text Placeholder 2">
            <a:extLst>
              <a:ext uri="{FF2B5EF4-FFF2-40B4-BE49-F238E27FC236}">
                <a16:creationId xmlns:a16="http://schemas.microsoft.com/office/drawing/2014/main" id="{2AD4AA39-D09A-BE6A-AEEF-117F85A6DBE4}"/>
              </a:ext>
            </a:extLst>
          </p:cNvPr>
          <p:cNvSpPr>
            <a:spLocks noGrp="1"/>
          </p:cNvSpPr>
          <p:nvPr>
            <p:ph sz="half" idx="2"/>
          </p:nvPr>
        </p:nvSpPr>
        <p:spPr>
          <a:xfrm>
            <a:off x="190164" y="3175980"/>
            <a:ext cx="2005393" cy="138499"/>
          </a:xfrm>
        </p:spPr>
        <p:txBody>
          <a:bodyPr/>
          <a:lstStyle/>
          <a:p>
            <a:r>
              <a:rPr lang="en-US" sz="900" i="1" dirty="0">
                <a:hlinkClick r:id="rId2"/>
              </a:rPr>
              <a:t>Source: </a:t>
            </a:r>
            <a:r>
              <a:rPr lang="en-US" sz="900" dirty="0">
                <a:hlinkClick r:id="rId2"/>
              </a:rPr>
              <a:t> EV Sales US 2018</a:t>
            </a:r>
            <a:endParaRPr lang="en-US" sz="900" dirty="0"/>
          </a:p>
        </p:txBody>
      </p:sp>
      <p:sp>
        <p:nvSpPr>
          <p:cNvPr id="5" name="Content Placeholder 4">
            <a:extLst>
              <a:ext uri="{FF2B5EF4-FFF2-40B4-BE49-F238E27FC236}">
                <a16:creationId xmlns:a16="http://schemas.microsoft.com/office/drawing/2014/main" id="{7E05E061-AB4C-14D3-11DF-E7DFAFC2F927}"/>
              </a:ext>
            </a:extLst>
          </p:cNvPr>
          <p:cNvSpPr>
            <a:spLocks noGrp="1"/>
          </p:cNvSpPr>
          <p:nvPr>
            <p:ph sz="half" idx="3"/>
          </p:nvPr>
        </p:nvSpPr>
        <p:spPr>
          <a:xfrm>
            <a:off x="190165" y="497542"/>
            <a:ext cx="4189430" cy="846386"/>
          </a:xfrm>
        </p:spPr>
        <p:txBody>
          <a:bodyPr/>
          <a:lstStyle/>
          <a:p>
            <a:r>
              <a:rPr lang="en-US" dirty="0"/>
              <a:t>In 2018, Tesla had 53.79% of the US EV market in sales and 1.13% of the Total US new vehicle market </a:t>
            </a:r>
          </a:p>
          <a:p>
            <a:endParaRPr lang="en-US" dirty="0"/>
          </a:p>
          <a:p>
            <a:r>
              <a:rPr lang="en-US" dirty="0"/>
              <a:t>For comparison, Ford had 2.51% of the US EV market and 13.7% of the total market</a:t>
            </a:r>
          </a:p>
        </p:txBody>
      </p:sp>
    </p:spTree>
    <p:extLst>
      <p:ext uri="{BB962C8B-B14F-4D97-AF65-F5344CB8AC3E}">
        <p14:creationId xmlns:p14="http://schemas.microsoft.com/office/powerpoint/2010/main" val="2945593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3190190-59B7-9217-FAC2-0730CF50F68E}"/>
              </a:ext>
            </a:extLst>
          </p:cNvPr>
          <p:cNvSpPr>
            <a:spLocks noGrp="1"/>
          </p:cNvSpPr>
          <p:nvPr>
            <p:ph type="title"/>
          </p:nvPr>
        </p:nvSpPr>
        <p:spPr>
          <a:xfrm>
            <a:off x="1052575" y="190295"/>
            <a:ext cx="2504948" cy="430887"/>
          </a:xfrm>
        </p:spPr>
        <p:txBody>
          <a:bodyPr/>
          <a:lstStyle/>
          <a:p>
            <a:r>
              <a:rPr lang="en-US" dirty="0"/>
              <a:t>Let’s take a look at some of the calcs….</a:t>
            </a:r>
          </a:p>
        </p:txBody>
      </p:sp>
      <p:sp>
        <p:nvSpPr>
          <p:cNvPr id="6" name="Text Placeholder 5">
            <a:extLst>
              <a:ext uri="{FF2B5EF4-FFF2-40B4-BE49-F238E27FC236}">
                <a16:creationId xmlns:a16="http://schemas.microsoft.com/office/drawing/2014/main" id="{7F2FC4E6-4453-90D2-763B-62C683A500D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43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2B7EB-872D-11E5-7571-45B9AEE851EA}"/>
              </a:ext>
            </a:extLst>
          </p:cNvPr>
          <p:cNvSpPr>
            <a:spLocks noGrp="1"/>
          </p:cNvSpPr>
          <p:nvPr>
            <p:ph type="title"/>
          </p:nvPr>
        </p:nvSpPr>
        <p:spPr>
          <a:xfrm>
            <a:off x="235324" y="190295"/>
            <a:ext cx="3322199" cy="430887"/>
          </a:xfrm>
        </p:spPr>
        <p:txBody>
          <a:bodyPr/>
          <a:lstStyle/>
          <a:p>
            <a:r>
              <a:rPr lang="en-US" dirty="0"/>
              <a:t>The Ugly Piece is the Equity Multiplier</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2B40E52-E459-6AEF-DB80-E3DC7AC23F16}"/>
                  </a:ext>
                </a:extLst>
              </p:cNvPr>
              <p:cNvSpPr>
                <a:spLocks noGrp="1"/>
              </p:cNvSpPr>
              <p:nvPr>
                <p:ph type="body" idx="1"/>
              </p:nvPr>
            </p:nvSpPr>
            <p:spPr>
              <a:xfrm>
                <a:off x="133858" y="766482"/>
                <a:ext cx="4342383" cy="858184"/>
              </a:xfrm>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𝐸𝑞𝑢𝑖𝑡𝑦</m:t>
                      </m:r>
                      <m:r>
                        <a:rPr lang="en-US" b="0" i="1" smtClean="0">
                          <a:latin typeface="Cambria Math" panose="02040503050406030204" pitchFamily="18" charset="0"/>
                        </a:rPr>
                        <m:t> </m:t>
                      </m:r>
                      <m:r>
                        <a:rPr lang="en-US" b="0" i="1" smtClean="0">
                          <a:latin typeface="Cambria Math" panose="02040503050406030204" pitchFamily="18" charset="0"/>
                        </a:rPr>
                        <m:t>𝑀𝑢𝑙𝑡𝑖𝑝𝑙𝑖𝑒𝑟</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𝑇𝑜𝑡𝑎𝑙</m:t>
                          </m:r>
                          <m:r>
                            <a:rPr lang="en-US" b="0" i="1" smtClean="0">
                              <a:latin typeface="Cambria Math" panose="02040503050406030204" pitchFamily="18" charset="0"/>
                            </a:rPr>
                            <m:t> </m:t>
                          </m:r>
                          <m:r>
                            <a:rPr lang="en-US" b="0" i="1" smtClean="0">
                              <a:latin typeface="Cambria Math" panose="02040503050406030204" pitchFamily="18" charset="0"/>
                            </a:rPr>
                            <m:t>𝐴𝑠𝑠𝑒𝑡𝑠</m:t>
                          </m:r>
                        </m:num>
                        <m:den>
                          <m:r>
                            <a:rPr lang="en-US" b="0" i="1" smtClean="0">
                              <a:latin typeface="Cambria Math" panose="02040503050406030204" pitchFamily="18" charset="0"/>
                            </a:rPr>
                            <m:t>𝑇𝑜𝑡𝑎𝑙</m:t>
                          </m:r>
                          <m:r>
                            <a:rPr lang="en-US" b="0" i="1" smtClean="0">
                              <a:latin typeface="Cambria Math" panose="02040503050406030204" pitchFamily="18" charset="0"/>
                            </a:rPr>
                            <m:t> </m:t>
                          </m:r>
                          <m:r>
                            <a:rPr lang="en-US" b="0" i="1" smtClean="0">
                              <a:latin typeface="Cambria Math" panose="02040503050406030204" pitchFamily="18" charset="0"/>
                            </a:rPr>
                            <m:t>𝐸𝑞𝑢𝑖𝑡𝑦</m:t>
                          </m:r>
                        </m:den>
                      </m:f>
                    </m:oMath>
                  </m:oMathPara>
                </a14:m>
                <a:endParaRPr lang="en-US" dirty="0"/>
              </a:p>
              <a:p>
                <a:endParaRPr lang="en-US" dirty="0"/>
              </a:p>
              <a:p>
                <a:r>
                  <a:rPr lang="en-US" dirty="0"/>
                  <a:t>If I ”just” use the balance sheet, I get</a:t>
                </a:r>
              </a:p>
              <a:p>
                <a:endParaRPr lang="en-US" dirty="0"/>
              </a:p>
            </p:txBody>
          </p:sp>
        </mc:Choice>
        <mc:Fallback xmlns="">
          <p:sp>
            <p:nvSpPr>
              <p:cNvPr id="3" name="Text Placeholder 2">
                <a:extLst>
                  <a:ext uri="{FF2B5EF4-FFF2-40B4-BE49-F238E27FC236}">
                    <a16:creationId xmlns:a16="http://schemas.microsoft.com/office/drawing/2014/main" id="{C2B40E52-E459-6AEF-DB80-E3DC7AC23F16}"/>
                  </a:ext>
                </a:extLst>
              </p:cNvPr>
              <p:cNvSpPr>
                <a:spLocks noGrp="1" noRot="1" noChangeAspect="1" noMove="1" noResize="1" noEditPoints="1" noAdjustHandles="1" noChangeArrowheads="1" noChangeShapeType="1" noTextEdit="1"/>
              </p:cNvSpPr>
              <p:nvPr>
                <p:ph type="body" idx="1"/>
              </p:nvPr>
            </p:nvSpPr>
            <p:spPr>
              <a:xfrm>
                <a:off x="133858" y="766482"/>
                <a:ext cx="4342383" cy="858184"/>
              </a:xfrm>
              <a:blipFill>
                <a:blip r:embed="rId2"/>
                <a:stretch>
                  <a:fillRect l="-2041" t="-2899"/>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B385F853-61F5-5DDB-EF50-B02C2344A7B3}"/>
              </a:ext>
            </a:extLst>
          </p:cNvPr>
          <p:cNvGraphicFramePr>
            <a:graphicFrameLocks noGrp="1"/>
          </p:cNvGraphicFramePr>
          <p:nvPr>
            <p:extLst>
              <p:ext uri="{D42A27DB-BD31-4B8C-83A1-F6EECF244321}">
                <p14:modId xmlns:p14="http://schemas.microsoft.com/office/powerpoint/2010/main" val="1579059737"/>
              </p:ext>
            </p:extLst>
          </p:nvPr>
        </p:nvGraphicFramePr>
        <p:xfrm>
          <a:off x="768348" y="1593416"/>
          <a:ext cx="3073401" cy="1100852"/>
        </p:xfrm>
        <a:graphic>
          <a:graphicData uri="http://schemas.openxmlformats.org/drawingml/2006/table">
            <a:tbl>
              <a:tblPr firstRow="1" bandRow="1">
                <a:tableStyleId>{073A0DAA-6AF3-43AB-8588-CEC1D06C72B9}</a:tableStyleId>
              </a:tblPr>
              <a:tblGrid>
                <a:gridCol w="1194923">
                  <a:extLst>
                    <a:ext uri="{9D8B030D-6E8A-4147-A177-3AD203B41FA5}">
                      <a16:colId xmlns:a16="http://schemas.microsoft.com/office/drawing/2014/main" val="733297499"/>
                    </a:ext>
                  </a:extLst>
                </a:gridCol>
                <a:gridCol w="954741">
                  <a:extLst>
                    <a:ext uri="{9D8B030D-6E8A-4147-A177-3AD203B41FA5}">
                      <a16:colId xmlns:a16="http://schemas.microsoft.com/office/drawing/2014/main" val="101394198"/>
                    </a:ext>
                  </a:extLst>
                </a:gridCol>
                <a:gridCol w="923737">
                  <a:extLst>
                    <a:ext uri="{9D8B030D-6E8A-4147-A177-3AD203B41FA5}">
                      <a16:colId xmlns:a16="http://schemas.microsoft.com/office/drawing/2014/main" val="2441353201"/>
                    </a:ext>
                  </a:extLst>
                </a:gridCol>
              </a:tblGrid>
              <a:tr h="226085">
                <a:tc>
                  <a:txBody>
                    <a:bodyPr/>
                    <a:lstStyle/>
                    <a:p>
                      <a:endParaRPr lang="en-US" sz="1100" dirty="0"/>
                    </a:p>
                  </a:txBody>
                  <a:tcPr/>
                </a:tc>
                <a:tc>
                  <a:txBody>
                    <a:bodyPr/>
                    <a:lstStyle/>
                    <a:p>
                      <a:pPr algn="ctr"/>
                      <a:r>
                        <a:rPr lang="en-US" sz="1100" dirty="0"/>
                        <a:t>2011</a:t>
                      </a:r>
                    </a:p>
                  </a:txBody>
                  <a:tcPr/>
                </a:tc>
                <a:tc>
                  <a:txBody>
                    <a:bodyPr/>
                    <a:lstStyle/>
                    <a:p>
                      <a:pPr algn="ctr"/>
                      <a:r>
                        <a:rPr lang="en-US" sz="1100" dirty="0"/>
                        <a:t>2012</a:t>
                      </a:r>
                    </a:p>
                  </a:txBody>
                  <a:tcPr/>
                </a:tc>
                <a:extLst>
                  <a:ext uri="{0D108BD9-81ED-4DB2-BD59-A6C34878D82A}">
                    <a16:rowId xmlns:a16="http://schemas.microsoft.com/office/drawing/2014/main" val="1289047691"/>
                  </a:ext>
                </a:extLst>
              </a:tr>
              <a:tr h="226085">
                <a:tc>
                  <a:txBody>
                    <a:bodyPr/>
                    <a:lstStyle/>
                    <a:p>
                      <a:r>
                        <a:rPr lang="en-US" sz="1100" dirty="0"/>
                        <a:t>Assets</a:t>
                      </a:r>
                    </a:p>
                  </a:txBody>
                  <a:tcPr/>
                </a:tc>
                <a:tc>
                  <a:txBody>
                    <a:bodyPr/>
                    <a:lstStyle/>
                    <a:p>
                      <a:r>
                        <a:rPr lang="en-US" sz="1100" dirty="0"/>
                        <a:t>713,448</a:t>
                      </a:r>
                    </a:p>
                  </a:txBody>
                  <a:tcPr/>
                </a:tc>
                <a:tc>
                  <a:txBody>
                    <a:bodyPr/>
                    <a:lstStyle/>
                    <a:p>
                      <a:r>
                        <a:rPr lang="en-US" sz="1100" dirty="0"/>
                        <a:t>1,141,190</a:t>
                      </a:r>
                    </a:p>
                  </a:txBody>
                  <a:tcPr/>
                </a:tc>
                <a:extLst>
                  <a:ext uri="{0D108BD9-81ED-4DB2-BD59-A6C34878D82A}">
                    <a16:rowId xmlns:a16="http://schemas.microsoft.com/office/drawing/2014/main" val="1936355991"/>
                  </a:ext>
                </a:extLst>
              </a:tr>
              <a:tr h="226085">
                <a:tc>
                  <a:txBody>
                    <a:bodyPr/>
                    <a:lstStyle/>
                    <a:p>
                      <a:r>
                        <a:rPr lang="en-US" sz="1100" dirty="0"/>
                        <a:t>Equity</a:t>
                      </a:r>
                    </a:p>
                  </a:txBody>
                  <a:tcPr/>
                </a:tc>
                <a:tc>
                  <a:txBody>
                    <a:bodyPr/>
                    <a:lstStyle/>
                    <a:p>
                      <a:r>
                        <a:rPr lang="en-US" sz="1100" dirty="0"/>
                        <a:t>224,045</a:t>
                      </a:r>
                    </a:p>
                  </a:txBody>
                  <a:tcPr/>
                </a:tc>
                <a:tc>
                  <a:txBody>
                    <a:bodyPr/>
                    <a:lstStyle/>
                    <a:p>
                      <a:r>
                        <a:rPr lang="en-US" sz="1100" dirty="0"/>
                        <a:t>124,700</a:t>
                      </a:r>
                    </a:p>
                  </a:txBody>
                  <a:tcPr/>
                </a:tc>
                <a:extLst>
                  <a:ext uri="{0D108BD9-81ED-4DB2-BD59-A6C34878D82A}">
                    <a16:rowId xmlns:a16="http://schemas.microsoft.com/office/drawing/2014/main" val="1210401717"/>
                  </a:ext>
                </a:extLst>
              </a:tr>
              <a:tr h="323612">
                <a:tc>
                  <a:txBody>
                    <a:bodyPr/>
                    <a:lstStyle/>
                    <a:p>
                      <a:r>
                        <a:rPr lang="en-US" sz="1100" dirty="0"/>
                        <a:t>Equity Multiplier</a:t>
                      </a:r>
                    </a:p>
                  </a:txBody>
                  <a:tcPr/>
                </a:tc>
                <a:tc>
                  <a:txBody>
                    <a:bodyPr/>
                    <a:lstStyle/>
                    <a:p>
                      <a:r>
                        <a:rPr lang="en-US" sz="1100" dirty="0"/>
                        <a:t>3.18</a:t>
                      </a:r>
                    </a:p>
                  </a:txBody>
                  <a:tcPr/>
                </a:tc>
                <a:tc>
                  <a:txBody>
                    <a:bodyPr/>
                    <a:lstStyle/>
                    <a:p>
                      <a:r>
                        <a:rPr lang="en-US" sz="1100" dirty="0"/>
                        <a:t>8.93</a:t>
                      </a:r>
                    </a:p>
                  </a:txBody>
                  <a:tcPr/>
                </a:tc>
                <a:extLst>
                  <a:ext uri="{0D108BD9-81ED-4DB2-BD59-A6C34878D82A}">
                    <a16:rowId xmlns:a16="http://schemas.microsoft.com/office/drawing/2014/main" val="3502997582"/>
                  </a:ext>
                </a:extLst>
              </a:tr>
            </a:tbl>
          </a:graphicData>
        </a:graphic>
      </p:graphicFrame>
    </p:spTree>
    <p:extLst>
      <p:ext uri="{BB962C8B-B14F-4D97-AF65-F5344CB8AC3E}">
        <p14:creationId xmlns:p14="http://schemas.microsoft.com/office/powerpoint/2010/main" val="3744595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0EF25-ABF4-DF87-0F67-9E9E2E6211F4}"/>
              </a:ext>
            </a:extLst>
          </p:cNvPr>
          <p:cNvSpPr>
            <a:spLocks noGrp="1"/>
          </p:cNvSpPr>
          <p:nvPr>
            <p:ph type="title"/>
          </p:nvPr>
        </p:nvSpPr>
        <p:spPr>
          <a:xfrm>
            <a:off x="1052575" y="190295"/>
            <a:ext cx="2504948" cy="430887"/>
          </a:xfrm>
        </p:spPr>
        <p:txBody>
          <a:bodyPr/>
          <a:lstStyle/>
          <a:p>
            <a:r>
              <a:rPr lang="en-US" dirty="0"/>
              <a:t>But this doesn’t make sense… why not?</a:t>
            </a:r>
          </a:p>
        </p:txBody>
      </p:sp>
      <p:sp>
        <p:nvSpPr>
          <p:cNvPr id="3" name="Text Placeholder 2">
            <a:extLst>
              <a:ext uri="{FF2B5EF4-FFF2-40B4-BE49-F238E27FC236}">
                <a16:creationId xmlns:a16="http://schemas.microsoft.com/office/drawing/2014/main" id="{EE5FF4F3-BFB6-C18E-E3C1-7E62FB72E60E}"/>
              </a:ext>
            </a:extLst>
          </p:cNvPr>
          <p:cNvSpPr>
            <a:spLocks noGrp="1"/>
          </p:cNvSpPr>
          <p:nvPr>
            <p:ph type="body" idx="1"/>
          </p:nvPr>
        </p:nvSpPr>
        <p:spPr>
          <a:xfrm>
            <a:off x="133858" y="726140"/>
            <a:ext cx="4342383" cy="2031325"/>
          </a:xfrm>
        </p:spPr>
        <p:txBody>
          <a:bodyPr/>
          <a:lstStyle/>
          <a:p>
            <a:r>
              <a:rPr lang="en-US" dirty="0"/>
              <a:t>How much equity did Tesla raise in 2011? </a:t>
            </a:r>
          </a:p>
          <a:p>
            <a:r>
              <a:rPr lang="en-US" dirty="0"/>
              <a:t>How about 2012?</a:t>
            </a:r>
          </a:p>
          <a:p>
            <a:endParaRPr lang="en-US" dirty="0"/>
          </a:p>
          <a:p>
            <a:r>
              <a:rPr lang="en-US" dirty="0"/>
              <a:t>The </a:t>
            </a:r>
            <a:r>
              <a:rPr lang="en-US" b="1" i="1" dirty="0"/>
              <a:t>ACTUAL </a:t>
            </a:r>
            <a:r>
              <a:rPr lang="en-US" dirty="0"/>
              <a:t> Equity in Tesla was:</a:t>
            </a:r>
          </a:p>
          <a:p>
            <a:endParaRPr lang="en-US" dirty="0"/>
          </a:p>
          <a:p>
            <a:endParaRPr lang="en-US" dirty="0"/>
          </a:p>
          <a:p>
            <a:endParaRPr lang="en-US" dirty="0"/>
          </a:p>
          <a:p>
            <a:endParaRPr lang="en-US" dirty="0"/>
          </a:p>
          <a:p>
            <a:endParaRPr lang="en-US" dirty="0"/>
          </a:p>
          <a:p>
            <a:r>
              <a:rPr lang="en-US" dirty="0"/>
              <a:t>EXCEPT:</a:t>
            </a:r>
          </a:p>
          <a:p>
            <a:r>
              <a:rPr lang="en-US" dirty="0"/>
              <a:t>Shareholders carry the accumulated LOSS</a:t>
            </a:r>
          </a:p>
          <a:p>
            <a:endParaRPr lang="en-US" dirty="0"/>
          </a:p>
        </p:txBody>
      </p:sp>
      <p:graphicFrame>
        <p:nvGraphicFramePr>
          <p:cNvPr id="4" name="Table 3">
            <a:extLst>
              <a:ext uri="{FF2B5EF4-FFF2-40B4-BE49-F238E27FC236}">
                <a16:creationId xmlns:a16="http://schemas.microsoft.com/office/drawing/2014/main" id="{233CA43B-17AE-F2F0-9DA8-E200BAD61B86}"/>
              </a:ext>
            </a:extLst>
          </p:cNvPr>
          <p:cNvGraphicFramePr>
            <a:graphicFrameLocks noGrp="1"/>
          </p:cNvGraphicFramePr>
          <p:nvPr>
            <p:extLst>
              <p:ext uri="{D42A27DB-BD31-4B8C-83A1-F6EECF244321}">
                <p14:modId xmlns:p14="http://schemas.microsoft.com/office/powerpoint/2010/main" val="1778085172"/>
              </p:ext>
            </p:extLst>
          </p:nvPr>
        </p:nvGraphicFramePr>
        <p:xfrm>
          <a:off x="1128373" y="1479175"/>
          <a:ext cx="2504948" cy="618566"/>
        </p:xfrm>
        <a:graphic>
          <a:graphicData uri="http://schemas.openxmlformats.org/drawingml/2006/table">
            <a:tbl>
              <a:tblPr firstRow="1" bandRow="1">
                <a:tableStyleId>{073A0DAA-6AF3-43AB-8588-CEC1D06C72B9}</a:tableStyleId>
              </a:tblPr>
              <a:tblGrid>
                <a:gridCol w="1252474">
                  <a:extLst>
                    <a:ext uri="{9D8B030D-6E8A-4147-A177-3AD203B41FA5}">
                      <a16:colId xmlns:a16="http://schemas.microsoft.com/office/drawing/2014/main" val="145885342"/>
                    </a:ext>
                  </a:extLst>
                </a:gridCol>
                <a:gridCol w="1252474">
                  <a:extLst>
                    <a:ext uri="{9D8B030D-6E8A-4147-A177-3AD203B41FA5}">
                      <a16:colId xmlns:a16="http://schemas.microsoft.com/office/drawing/2014/main" val="2782068784"/>
                    </a:ext>
                  </a:extLst>
                </a:gridCol>
              </a:tblGrid>
              <a:tr h="359095">
                <a:tc>
                  <a:txBody>
                    <a:bodyPr/>
                    <a:lstStyle/>
                    <a:p>
                      <a:pPr algn="ctr"/>
                      <a:r>
                        <a:rPr lang="en-US" sz="1100" dirty="0"/>
                        <a:t>2011</a:t>
                      </a:r>
                    </a:p>
                  </a:txBody>
                  <a:tcPr/>
                </a:tc>
                <a:tc>
                  <a:txBody>
                    <a:bodyPr/>
                    <a:lstStyle/>
                    <a:p>
                      <a:pPr algn="ctr"/>
                      <a:r>
                        <a:rPr lang="en-US" sz="1100" dirty="0"/>
                        <a:t>2012</a:t>
                      </a:r>
                    </a:p>
                  </a:txBody>
                  <a:tcPr/>
                </a:tc>
                <a:extLst>
                  <a:ext uri="{0D108BD9-81ED-4DB2-BD59-A6C34878D82A}">
                    <a16:rowId xmlns:a16="http://schemas.microsoft.com/office/drawing/2014/main" val="2418816438"/>
                  </a:ext>
                </a:extLst>
              </a:tr>
              <a:tr h="259471">
                <a:tc>
                  <a:txBody>
                    <a:bodyPr/>
                    <a:lstStyle/>
                    <a:p>
                      <a:r>
                        <a:rPr lang="en-US" sz="1100" dirty="0"/>
                        <a:t>893,336</a:t>
                      </a:r>
                    </a:p>
                  </a:txBody>
                  <a:tcPr/>
                </a:tc>
                <a:tc>
                  <a:txBody>
                    <a:bodyPr/>
                    <a:lstStyle/>
                    <a:p>
                      <a:r>
                        <a:rPr lang="en-US" sz="1100" dirty="0"/>
                        <a:t>1,190,191</a:t>
                      </a:r>
                    </a:p>
                  </a:txBody>
                  <a:tcPr/>
                </a:tc>
                <a:extLst>
                  <a:ext uri="{0D108BD9-81ED-4DB2-BD59-A6C34878D82A}">
                    <a16:rowId xmlns:a16="http://schemas.microsoft.com/office/drawing/2014/main" val="1749683540"/>
                  </a:ext>
                </a:extLst>
              </a:tr>
            </a:tbl>
          </a:graphicData>
        </a:graphic>
      </p:graphicFrame>
      <p:sp>
        <p:nvSpPr>
          <p:cNvPr id="5" name="TextBox 4">
            <a:extLst>
              <a:ext uri="{FF2B5EF4-FFF2-40B4-BE49-F238E27FC236}">
                <a16:creationId xmlns:a16="http://schemas.microsoft.com/office/drawing/2014/main" id="{47958446-138B-E468-3198-DF97936DCC09}"/>
              </a:ext>
            </a:extLst>
          </p:cNvPr>
          <p:cNvSpPr txBox="1"/>
          <p:nvPr/>
        </p:nvSpPr>
        <p:spPr>
          <a:xfrm>
            <a:off x="2783541" y="688646"/>
            <a:ext cx="724878" cy="261610"/>
          </a:xfrm>
          <a:prstGeom prst="rect">
            <a:avLst/>
          </a:prstGeom>
          <a:noFill/>
        </p:spPr>
        <p:txBody>
          <a:bodyPr wrap="none" rtlCol="0">
            <a:spAutoFit/>
          </a:bodyPr>
          <a:lstStyle/>
          <a:p>
            <a:r>
              <a:rPr lang="en-US" sz="1100" dirty="0"/>
              <a:t>$231,468</a:t>
            </a:r>
          </a:p>
        </p:txBody>
      </p:sp>
      <p:sp>
        <p:nvSpPr>
          <p:cNvPr id="6" name="TextBox 5">
            <a:extLst>
              <a:ext uri="{FF2B5EF4-FFF2-40B4-BE49-F238E27FC236}">
                <a16:creationId xmlns:a16="http://schemas.microsoft.com/office/drawing/2014/main" id="{1927D5C1-073D-72ED-5923-453BBB1AF6A3}"/>
              </a:ext>
            </a:extLst>
          </p:cNvPr>
          <p:cNvSpPr txBox="1"/>
          <p:nvPr/>
        </p:nvSpPr>
        <p:spPr>
          <a:xfrm>
            <a:off x="2783541" y="889739"/>
            <a:ext cx="724878" cy="261610"/>
          </a:xfrm>
          <a:prstGeom prst="rect">
            <a:avLst/>
          </a:prstGeom>
          <a:noFill/>
        </p:spPr>
        <p:txBody>
          <a:bodyPr wrap="none" rtlCol="0">
            <a:spAutoFit/>
          </a:bodyPr>
          <a:lstStyle/>
          <a:p>
            <a:r>
              <a:rPr lang="en-US" sz="1100" dirty="0"/>
              <a:t>$221,496</a:t>
            </a:r>
          </a:p>
        </p:txBody>
      </p:sp>
    </p:spTree>
    <p:extLst>
      <p:ext uri="{BB962C8B-B14F-4D97-AF65-F5344CB8AC3E}">
        <p14:creationId xmlns:p14="http://schemas.microsoft.com/office/powerpoint/2010/main" val="248961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0AF1E-A19F-2A60-D9AB-65BF26873CC6}"/>
              </a:ext>
            </a:extLst>
          </p:cNvPr>
          <p:cNvSpPr>
            <a:spLocks noGrp="1"/>
          </p:cNvSpPr>
          <p:nvPr>
            <p:ph type="title"/>
          </p:nvPr>
        </p:nvSpPr>
        <p:spPr>
          <a:xfrm>
            <a:off x="133858" y="190295"/>
            <a:ext cx="3423665" cy="430887"/>
          </a:xfrm>
        </p:spPr>
        <p:txBody>
          <a:bodyPr/>
          <a:lstStyle/>
          <a:p>
            <a:r>
              <a:rPr lang="en-US" dirty="0"/>
              <a:t>The “implied” equity multiplier is</a:t>
            </a:r>
          </a:p>
        </p:txBody>
      </p:sp>
      <p:graphicFrame>
        <p:nvGraphicFramePr>
          <p:cNvPr id="6" name="Table 5">
            <a:extLst>
              <a:ext uri="{FF2B5EF4-FFF2-40B4-BE49-F238E27FC236}">
                <a16:creationId xmlns:a16="http://schemas.microsoft.com/office/drawing/2014/main" id="{5660F01A-EC7D-824A-1673-F092A81784C5}"/>
              </a:ext>
            </a:extLst>
          </p:cNvPr>
          <p:cNvGraphicFramePr>
            <a:graphicFrameLocks noGrp="1"/>
          </p:cNvGraphicFramePr>
          <p:nvPr>
            <p:extLst>
              <p:ext uri="{D42A27DB-BD31-4B8C-83A1-F6EECF244321}">
                <p14:modId xmlns:p14="http://schemas.microsoft.com/office/powerpoint/2010/main" val="3809847472"/>
              </p:ext>
            </p:extLst>
          </p:nvPr>
        </p:nvGraphicFramePr>
        <p:xfrm>
          <a:off x="559919" y="1021916"/>
          <a:ext cx="3073401" cy="1100852"/>
        </p:xfrm>
        <a:graphic>
          <a:graphicData uri="http://schemas.openxmlformats.org/drawingml/2006/table">
            <a:tbl>
              <a:tblPr firstRow="1" bandRow="1">
                <a:tableStyleId>{073A0DAA-6AF3-43AB-8588-CEC1D06C72B9}</a:tableStyleId>
              </a:tblPr>
              <a:tblGrid>
                <a:gridCol w="1194923">
                  <a:extLst>
                    <a:ext uri="{9D8B030D-6E8A-4147-A177-3AD203B41FA5}">
                      <a16:colId xmlns:a16="http://schemas.microsoft.com/office/drawing/2014/main" val="733297499"/>
                    </a:ext>
                  </a:extLst>
                </a:gridCol>
                <a:gridCol w="954741">
                  <a:extLst>
                    <a:ext uri="{9D8B030D-6E8A-4147-A177-3AD203B41FA5}">
                      <a16:colId xmlns:a16="http://schemas.microsoft.com/office/drawing/2014/main" val="101394198"/>
                    </a:ext>
                  </a:extLst>
                </a:gridCol>
                <a:gridCol w="923737">
                  <a:extLst>
                    <a:ext uri="{9D8B030D-6E8A-4147-A177-3AD203B41FA5}">
                      <a16:colId xmlns:a16="http://schemas.microsoft.com/office/drawing/2014/main" val="2441353201"/>
                    </a:ext>
                  </a:extLst>
                </a:gridCol>
              </a:tblGrid>
              <a:tr h="226085">
                <a:tc>
                  <a:txBody>
                    <a:bodyPr/>
                    <a:lstStyle/>
                    <a:p>
                      <a:endParaRPr lang="en-US" sz="1100" dirty="0"/>
                    </a:p>
                  </a:txBody>
                  <a:tcPr/>
                </a:tc>
                <a:tc>
                  <a:txBody>
                    <a:bodyPr/>
                    <a:lstStyle/>
                    <a:p>
                      <a:pPr algn="ctr"/>
                      <a:r>
                        <a:rPr lang="en-US" sz="1100" dirty="0"/>
                        <a:t>2011</a:t>
                      </a:r>
                    </a:p>
                  </a:txBody>
                  <a:tcPr/>
                </a:tc>
                <a:tc>
                  <a:txBody>
                    <a:bodyPr/>
                    <a:lstStyle/>
                    <a:p>
                      <a:pPr algn="ctr"/>
                      <a:r>
                        <a:rPr lang="en-US" sz="1100" dirty="0"/>
                        <a:t>2012</a:t>
                      </a:r>
                    </a:p>
                  </a:txBody>
                  <a:tcPr/>
                </a:tc>
                <a:extLst>
                  <a:ext uri="{0D108BD9-81ED-4DB2-BD59-A6C34878D82A}">
                    <a16:rowId xmlns:a16="http://schemas.microsoft.com/office/drawing/2014/main" val="1289047691"/>
                  </a:ext>
                </a:extLst>
              </a:tr>
              <a:tr h="226085">
                <a:tc>
                  <a:txBody>
                    <a:bodyPr/>
                    <a:lstStyle/>
                    <a:p>
                      <a:r>
                        <a:rPr lang="en-US" sz="1100" dirty="0"/>
                        <a:t>Assets</a:t>
                      </a:r>
                    </a:p>
                  </a:txBody>
                  <a:tcPr/>
                </a:tc>
                <a:tc>
                  <a:txBody>
                    <a:bodyPr/>
                    <a:lstStyle/>
                    <a:p>
                      <a:r>
                        <a:rPr lang="en-US" sz="1100" dirty="0"/>
                        <a:t>713,448</a:t>
                      </a:r>
                    </a:p>
                  </a:txBody>
                  <a:tcPr/>
                </a:tc>
                <a:tc>
                  <a:txBody>
                    <a:bodyPr/>
                    <a:lstStyle/>
                    <a:p>
                      <a:r>
                        <a:rPr lang="en-US" sz="1100" dirty="0"/>
                        <a:t>1,141,190</a:t>
                      </a:r>
                    </a:p>
                  </a:txBody>
                  <a:tcPr/>
                </a:tc>
                <a:extLst>
                  <a:ext uri="{0D108BD9-81ED-4DB2-BD59-A6C34878D82A}">
                    <a16:rowId xmlns:a16="http://schemas.microsoft.com/office/drawing/2014/main" val="1936355991"/>
                  </a:ext>
                </a:extLst>
              </a:tr>
              <a:tr h="226085">
                <a:tc>
                  <a:txBody>
                    <a:bodyPr/>
                    <a:lstStyle/>
                    <a:p>
                      <a:r>
                        <a:rPr lang="en-US" sz="1100" dirty="0"/>
                        <a:t>Equity</a:t>
                      </a:r>
                    </a:p>
                  </a:txBody>
                  <a:tcPr/>
                </a:tc>
                <a:tc>
                  <a:txBody>
                    <a:bodyPr/>
                    <a:lstStyle/>
                    <a:p>
                      <a:r>
                        <a:rPr lang="en-US" sz="1100" dirty="0"/>
                        <a:t>893,336</a:t>
                      </a:r>
                    </a:p>
                  </a:txBody>
                  <a:tcPr/>
                </a:tc>
                <a:tc>
                  <a:txBody>
                    <a:bodyPr/>
                    <a:lstStyle/>
                    <a:p>
                      <a:r>
                        <a:rPr lang="en-US" sz="1100" dirty="0"/>
                        <a:t>1,190,191</a:t>
                      </a:r>
                    </a:p>
                  </a:txBody>
                  <a:tcPr/>
                </a:tc>
                <a:extLst>
                  <a:ext uri="{0D108BD9-81ED-4DB2-BD59-A6C34878D82A}">
                    <a16:rowId xmlns:a16="http://schemas.microsoft.com/office/drawing/2014/main" val="1210401717"/>
                  </a:ext>
                </a:extLst>
              </a:tr>
              <a:tr h="323612">
                <a:tc>
                  <a:txBody>
                    <a:bodyPr/>
                    <a:lstStyle/>
                    <a:p>
                      <a:r>
                        <a:rPr lang="en-US" sz="1100" dirty="0"/>
                        <a:t>Equity Multiplier</a:t>
                      </a:r>
                    </a:p>
                  </a:txBody>
                  <a:tcPr/>
                </a:tc>
                <a:tc>
                  <a:txBody>
                    <a:bodyPr/>
                    <a:lstStyle/>
                    <a:p>
                      <a:r>
                        <a:rPr lang="en-US" sz="1100" dirty="0"/>
                        <a:t>.8</a:t>
                      </a:r>
                    </a:p>
                  </a:txBody>
                  <a:tcPr/>
                </a:tc>
                <a:tc>
                  <a:txBody>
                    <a:bodyPr/>
                    <a:lstStyle/>
                    <a:p>
                      <a:r>
                        <a:rPr lang="en-US" sz="1100" dirty="0"/>
                        <a:t>.94</a:t>
                      </a:r>
                    </a:p>
                  </a:txBody>
                  <a:tcPr/>
                </a:tc>
                <a:extLst>
                  <a:ext uri="{0D108BD9-81ED-4DB2-BD59-A6C34878D82A}">
                    <a16:rowId xmlns:a16="http://schemas.microsoft.com/office/drawing/2014/main" val="3502997582"/>
                  </a:ext>
                </a:extLst>
              </a:tr>
            </a:tbl>
          </a:graphicData>
        </a:graphic>
      </p:graphicFrame>
      <p:sp>
        <p:nvSpPr>
          <p:cNvPr id="7" name="TextBox 6">
            <a:extLst>
              <a:ext uri="{FF2B5EF4-FFF2-40B4-BE49-F238E27FC236}">
                <a16:creationId xmlns:a16="http://schemas.microsoft.com/office/drawing/2014/main" id="{5B733956-F7C0-1746-17D0-A7100D77A8DC}"/>
              </a:ext>
            </a:extLst>
          </p:cNvPr>
          <p:cNvSpPr txBox="1"/>
          <p:nvPr/>
        </p:nvSpPr>
        <p:spPr>
          <a:xfrm>
            <a:off x="133858" y="2308058"/>
            <a:ext cx="4246675" cy="430887"/>
          </a:xfrm>
          <a:prstGeom prst="rect">
            <a:avLst/>
          </a:prstGeom>
          <a:noFill/>
        </p:spPr>
        <p:txBody>
          <a:bodyPr wrap="none" rtlCol="0">
            <a:spAutoFit/>
          </a:bodyPr>
          <a:lstStyle/>
          <a:p>
            <a:r>
              <a:rPr lang="en-US" sz="1100" dirty="0"/>
              <a:t>This is really tricky… because it isn’t the leverage, it’s the losses.</a:t>
            </a:r>
          </a:p>
          <a:p>
            <a:r>
              <a:rPr lang="en-US" sz="1100" dirty="0"/>
              <a:t>But it underscores the market’s concern regarding Tesla’s performance</a:t>
            </a:r>
          </a:p>
        </p:txBody>
      </p:sp>
    </p:spTree>
    <p:extLst>
      <p:ext uri="{BB962C8B-B14F-4D97-AF65-F5344CB8AC3E}">
        <p14:creationId xmlns:p14="http://schemas.microsoft.com/office/powerpoint/2010/main" val="2108703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60E73-2F0E-5464-55F8-17B8BB6C9736}"/>
              </a:ext>
            </a:extLst>
          </p:cNvPr>
          <p:cNvSpPr>
            <a:spLocks noGrp="1"/>
          </p:cNvSpPr>
          <p:nvPr>
            <p:ph type="title"/>
          </p:nvPr>
        </p:nvSpPr>
        <p:spPr>
          <a:xfrm>
            <a:off x="1052575" y="190295"/>
            <a:ext cx="2504948" cy="430887"/>
          </a:xfrm>
        </p:spPr>
        <p:txBody>
          <a:bodyPr/>
          <a:lstStyle/>
          <a:p>
            <a:r>
              <a:rPr lang="en-US" dirty="0"/>
              <a:t>This is an interesting story for us…</a:t>
            </a:r>
          </a:p>
        </p:txBody>
      </p:sp>
      <p:sp>
        <p:nvSpPr>
          <p:cNvPr id="3" name="Text Placeholder 2">
            <a:extLst>
              <a:ext uri="{FF2B5EF4-FFF2-40B4-BE49-F238E27FC236}">
                <a16:creationId xmlns:a16="http://schemas.microsoft.com/office/drawing/2014/main" id="{778ECDE9-B8C4-629C-7682-9171F39359BF}"/>
              </a:ext>
            </a:extLst>
          </p:cNvPr>
          <p:cNvSpPr>
            <a:spLocks noGrp="1"/>
          </p:cNvSpPr>
          <p:nvPr>
            <p:ph type="body" idx="1"/>
          </p:nvPr>
        </p:nvSpPr>
        <p:spPr>
          <a:xfrm>
            <a:off x="133858" y="602754"/>
            <a:ext cx="4342383" cy="2369880"/>
          </a:xfrm>
        </p:spPr>
        <p:txBody>
          <a:bodyPr/>
          <a:lstStyle/>
          <a:p>
            <a:r>
              <a:rPr lang="en-US" dirty="0"/>
              <a:t>Let’s look at the history of Tesla’s Stock Price, EPS and PE Ratio</a:t>
            </a:r>
          </a:p>
          <a:p>
            <a:endParaRPr lang="en-US" dirty="0"/>
          </a:p>
          <a:p>
            <a:r>
              <a:rPr lang="en-US" dirty="0">
                <a:hlinkClick r:id="rId2"/>
              </a:rPr>
              <a:t>Tesla PE Ratio</a:t>
            </a:r>
            <a:endParaRPr lang="en-US" dirty="0"/>
          </a:p>
          <a:p>
            <a:endParaRPr lang="en-US" dirty="0"/>
          </a:p>
          <a:p>
            <a:r>
              <a:rPr lang="en-US" dirty="0"/>
              <a:t>What makes this interesting?</a:t>
            </a:r>
          </a:p>
          <a:p>
            <a:endParaRPr lang="en-US" dirty="0"/>
          </a:p>
          <a:p>
            <a:pPr marL="228600" indent="-228600">
              <a:buAutoNum type="arabicParenR"/>
            </a:pPr>
            <a:r>
              <a:rPr lang="en-US" dirty="0"/>
              <a:t>TTM Net EPS</a:t>
            </a:r>
          </a:p>
          <a:p>
            <a:pPr marL="228600" indent="-228600">
              <a:buAutoNum type="arabicParenR"/>
            </a:pPr>
            <a:r>
              <a:rPr lang="en-US" dirty="0"/>
              <a:t>Stock Price</a:t>
            </a:r>
          </a:p>
          <a:p>
            <a:pPr marL="228600" indent="-228600">
              <a:buAutoNum type="arabicParenR"/>
            </a:pPr>
            <a:r>
              <a:rPr lang="en-US" dirty="0"/>
              <a:t>PE Ratio</a:t>
            </a:r>
          </a:p>
          <a:p>
            <a:pPr marL="228600" indent="-228600">
              <a:buAutoNum type="arabicParenR"/>
            </a:pPr>
            <a:endParaRPr lang="en-US" dirty="0"/>
          </a:p>
          <a:p>
            <a:r>
              <a:rPr lang="en-US" dirty="0"/>
              <a:t>Time to Positive Earnings!</a:t>
            </a:r>
          </a:p>
          <a:p>
            <a:r>
              <a:rPr lang="en-US" dirty="0"/>
              <a:t>Time for Share Price Growth (note: splits (2020), buybacks authorized 2022)</a:t>
            </a:r>
          </a:p>
          <a:p>
            <a:r>
              <a:rPr lang="en-US" dirty="0"/>
              <a:t>Dynamic Relationship Between Price and Earnings</a:t>
            </a:r>
          </a:p>
        </p:txBody>
      </p:sp>
    </p:spTree>
    <p:extLst>
      <p:ext uri="{BB962C8B-B14F-4D97-AF65-F5344CB8AC3E}">
        <p14:creationId xmlns:p14="http://schemas.microsoft.com/office/powerpoint/2010/main" val="1649751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36CF-661A-DDBE-B1D7-21E9BF14159A}"/>
              </a:ext>
            </a:extLst>
          </p:cNvPr>
          <p:cNvSpPr>
            <a:spLocks noGrp="1"/>
          </p:cNvSpPr>
          <p:nvPr>
            <p:ph type="title"/>
          </p:nvPr>
        </p:nvSpPr>
        <p:spPr>
          <a:xfrm>
            <a:off x="1052575" y="190295"/>
            <a:ext cx="2504948" cy="430887"/>
          </a:xfrm>
        </p:spPr>
        <p:txBody>
          <a:bodyPr/>
          <a:lstStyle/>
          <a:p>
            <a:r>
              <a:rPr lang="en-US" dirty="0"/>
              <a:t>Do they need to keep raising money?</a:t>
            </a:r>
          </a:p>
        </p:txBody>
      </p:sp>
      <p:sp>
        <p:nvSpPr>
          <p:cNvPr id="3" name="Text Placeholder 2">
            <a:extLst>
              <a:ext uri="{FF2B5EF4-FFF2-40B4-BE49-F238E27FC236}">
                <a16:creationId xmlns:a16="http://schemas.microsoft.com/office/drawing/2014/main" id="{6B2F371C-7E6A-8032-4DC8-7CF7594DC6A0}"/>
              </a:ext>
            </a:extLst>
          </p:cNvPr>
          <p:cNvSpPr>
            <a:spLocks noGrp="1"/>
          </p:cNvSpPr>
          <p:nvPr>
            <p:ph type="body" idx="1"/>
          </p:nvPr>
        </p:nvSpPr>
        <p:spPr>
          <a:xfrm>
            <a:off x="133858" y="602754"/>
            <a:ext cx="4342383" cy="2200602"/>
          </a:xfrm>
        </p:spPr>
        <p:txBody>
          <a:bodyPr/>
          <a:lstStyle/>
          <a:p>
            <a:r>
              <a:rPr lang="en-US" dirty="0"/>
              <a:t>Net Burn.</a:t>
            </a:r>
          </a:p>
          <a:p>
            <a:r>
              <a:rPr lang="en-US" dirty="0"/>
              <a:t>Operational Changes??</a:t>
            </a:r>
          </a:p>
          <a:p>
            <a:r>
              <a:rPr lang="en-US" dirty="0"/>
              <a:t>CAPEX?</a:t>
            </a:r>
          </a:p>
          <a:p>
            <a:r>
              <a:rPr lang="en-US" dirty="0"/>
              <a:t>R&amp;D?</a:t>
            </a:r>
          </a:p>
          <a:p>
            <a:endParaRPr lang="en-US" dirty="0"/>
          </a:p>
          <a:p>
            <a:endParaRPr lang="en-US" dirty="0"/>
          </a:p>
          <a:p>
            <a:r>
              <a:rPr lang="en-US" dirty="0"/>
              <a:t>So Yes. Need to Raise Capital.</a:t>
            </a:r>
          </a:p>
          <a:p>
            <a:endParaRPr lang="en-US" dirty="0"/>
          </a:p>
          <a:p>
            <a:r>
              <a:rPr lang="en-US" dirty="0"/>
              <a:t>Debt or Equity??</a:t>
            </a:r>
          </a:p>
          <a:p>
            <a:endParaRPr lang="en-US" dirty="0"/>
          </a:p>
          <a:p>
            <a:endParaRPr lang="en-US" dirty="0"/>
          </a:p>
          <a:p>
            <a:r>
              <a:rPr lang="en-US" dirty="0"/>
              <a:t>Your Suggestions for what they can do to best prepare to raise Equity?</a:t>
            </a:r>
          </a:p>
        </p:txBody>
      </p:sp>
    </p:spTree>
    <p:extLst>
      <p:ext uri="{BB962C8B-B14F-4D97-AF65-F5344CB8AC3E}">
        <p14:creationId xmlns:p14="http://schemas.microsoft.com/office/powerpoint/2010/main" val="8189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852C3-A075-A8E3-996A-A14A94DD5837}"/>
              </a:ext>
            </a:extLst>
          </p:cNvPr>
          <p:cNvSpPr>
            <a:spLocks noGrp="1"/>
          </p:cNvSpPr>
          <p:nvPr>
            <p:ph type="title"/>
          </p:nvPr>
        </p:nvSpPr>
        <p:spPr>
          <a:xfrm>
            <a:off x="1052575" y="190295"/>
            <a:ext cx="2504948" cy="215444"/>
          </a:xfrm>
        </p:spPr>
        <p:txBody>
          <a:bodyPr/>
          <a:lstStyle/>
          <a:p>
            <a:r>
              <a:rPr lang="en-US" dirty="0"/>
              <a:t>Suggestions!</a:t>
            </a:r>
          </a:p>
        </p:txBody>
      </p:sp>
      <p:sp>
        <p:nvSpPr>
          <p:cNvPr id="3" name="Text Placeholder 2">
            <a:extLst>
              <a:ext uri="{FF2B5EF4-FFF2-40B4-BE49-F238E27FC236}">
                <a16:creationId xmlns:a16="http://schemas.microsoft.com/office/drawing/2014/main" id="{26D87B70-AF43-8CAE-5305-578271B8A71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56294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0EAAF-22AB-8D4B-88F2-0551FC1FD7B7}"/>
              </a:ext>
            </a:extLst>
          </p:cNvPr>
          <p:cNvSpPr>
            <a:spLocks noGrp="1"/>
          </p:cNvSpPr>
          <p:nvPr>
            <p:ph type="title"/>
          </p:nvPr>
        </p:nvSpPr>
        <p:spPr>
          <a:xfrm>
            <a:off x="1052575" y="190295"/>
            <a:ext cx="2504948" cy="215444"/>
          </a:xfrm>
        </p:spPr>
        <p:txBody>
          <a:bodyPr/>
          <a:lstStyle/>
          <a:p>
            <a:r>
              <a:rPr lang="en-US" dirty="0"/>
              <a:t>New Tool -- </a:t>
            </a:r>
            <a:r>
              <a:rPr lang="en-US" dirty="0" err="1"/>
              <a:t>CapitalIQpro</a:t>
            </a:r>
            <a:endParaRPr lang="en-US" dirty="0"/>
          </a:p>
        </p:txBody>
      </p:sp>
      <p:sp>
        <p:nvSpPr>
          <p:cNvPr id="3" name="Text Placeholder 2">
            <a:extLst>
              <a:ext uri="{FF2B5EF4-FFF2-40B4-BE49-F238E27FC236}">
                <a16:creationId xmlns:a16="http://schemas.microsoft.com/office/drawing/2014/main" id="{5B9CD978-E305-7518-A9A3-CD90F41765E3}"/>
              </a:ext>
            </a:extLst>
          </p:cNvPr>
          <p:cNvSpPr>
            <a:spLocks noGrp="1"/>
          </p:cNvSpPr>
          <p:nvPr>
            <p:ph type="body" idx="1"/>
          </p:nvPr>
        </p:nvSpPr>
        <p:spPr>
          <a:xfrm>
            <a:off x="133858" y="602754"/>
            <a:ext cx="4342383" cy="1015663"/>
          </a:xfrm>
        </p:spPr>
        <p:txBody>
          <a:bodyPr/>
          <a:lstStyle/>
          <a:p>
            <a:r>
              <a:rPr lang="en-US" dirty="0" err="1"/>
              <a:t>Vpn</a:t>
            </a:r>
            <a:endParaRPr lang="en-US" dirty="0"/>
          </a:p>
          <a:p>
            <a:r>
              <a:rPr lang="en-US" dirty="0"/>
              <a:t>CU Library</a:t>
            </a:r>
          </a:p>
          <a:p>
            <a:r>
              <a:rPr lang="en-US" dirty="0"/>
              <a:t>Databases</a:t>
            </a:r>
          </a:p>
          <a:p>
            <a:r>
              <a:rPr lang="en-US" dirty="0"/>
              <a:t>Go to C</a:t>
            </a:r>
          </a:p>
          <a:p>
            <a:r>
              <a:rPr lang="en-US" dirty="0" err="1"/>
              <a:t>CapitalIQPro</a:t>
            </a:r>
            <a:endParaRPr lang="en-US" dirty="0"/>
          </a:p>
          <a:p>
            <a:r>
              <a:rPr lang="en-US" i="1" dirty="0"/>
              <a:t>click, enroll as new (use CU address, don’t need to use CU password)</a:t>
            </a:r>
          </a:p>
        </p:txBody>
      </p:sp>
    </p:spTree>
    <p:extLst>
      <p:ext uri="{BB962C8B-B14F-4D97-AF65-F5344CB8AC3E}">
        <p14:creationId xmlns:p14="http://schemas.microsoft.com/office/powerpoint/2010/main" val="4180460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A3F2D-24B5-8CB6-CE83-CE6615B2414F}"/>
              </a:ext>
            </a:extLst>
          </p:cNvPr>
          <p:cNvSpPr>
            <a:spLocks noGrp="1"/>
          </p:cNvSpPr>
          <p:nvPr>
            <p:ph type="title"/>
          </p:nvPr>
        </p:nvSpPr>
        <p:spPr>
          <a:xfrm>
            <a:off x="1052575" y="190295"/>
            <a:ext cx="2504948" cy="215444"/>
          </a:xfrm>
        </p:spPr>
        <p:txBody>
          <a:bodyPr/>
          <a:lstStyle/>
          <a:p>
            <a:r>
              <a:rPr lang="en-US" dirty="0"/>
              <a:t>Wednesday, 10/8</a:t>
            </a:r>
          </a:p>
        </p:txBody>
      </p:sp>
      <p:sp>
        <p:nvSpPr>
          <p:cNvPr id="3" name="Text Placeholder 2">
            <a:extLst>
              <a:ext uri="{FF2B5EF4-FFF2-40B4-BE49-F238E27FC236}">
                <a16:creationId xmlns:a16="http://schemas.microsoft.com/office/drawing/2014/main" id="{5984A0B8-FE27-71C3-2000-FF33B0B655F3}"/>
              </a:ext>
            </a:extLst>
          </p:cNvPr>
          <p:cNvSpPr>
            <a:spLocks noGrp="1"/>
          </p:cNvSpPr>
          <p:nvPr>
            <p:ph type="body" idx="1"/>
          </p:nvPr>
        </p:nvSpPr>
        <p:spPr>
          <a:xfrm>
            <a:off x="133858" y="602754"/>
            <a:ext cx="4342383" cy="507831"/>
          </a:xfrm>
        </p:spPr>
        <p:txBody>
          <a:bodyPr/>
          <a:lstStyle/>
          <a:p>
            <a:r>
              <a:rPr lang="en-US" dirty="0"/>
              <a:t>The Cash Cycle</a:t>
            </a:r>
          </a:p>
          <a:p>
            <a:endParaRPr lang="en-US" dirty="0"/>
          </a:p>
          <a:p>
            <a:r>
              <a:rPr lang="en-US" dirty="0"/>
              <a:t>Time and Cost Matter.</a:t>
            </a:r>
          </a:p>
        </p:txBody>
      </p:sp>
    </p:spTree>
    <p:extLst>
      <p:ext uri="{BB962C8B-B14F-4D97-AF65-F5344CB8AC3E}">
        <p14:creationId xmlns:p14="http://schemas.microsoft.com/office/powerpoint/2010/main" val="32167234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ded8b1b-070d-4629-82e4-c0b019f46057}" enabled="0" method="" siteId="{3ded8b1b-070d-4629-82e4-c0b019f46057}" removed="1"/>
</clbl:labelList>
</file>

<file path=docProps/app.xml><?xml version="1.0" encoding="utf-8"?>
<Properties xmlns="http://schemas.openxmlformats.org/officeDocument/2006/extended-properties" xmlns:vt="http://schemas.openxmlformats.org/officeDocument/2006/docPropsVTypes">
  <Template/>
  <TotalTime>1759</TotalTime>
  <Words>730</Words>
  <Application>Microsoft Office PowerPoint</Application>
  <PresentationFormat>Custom</PresentationFormat>
  <Paragraphs>155</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 Math</vt:lpstr>
      <vt:lpstr>Garamond</vt:lpstr>
      <vt:lpstr>Rockwell</vt:lpstr>
      <vt:lpstr>Office Theme</vt:lpstr>
      <vt:lpstr>7.1 Tesla</vt:lpstr>
      <vt:lpstr>VOCABULARY and calcs</vt:lpstr>
      <vt:lpstr>Vocabulary continued</vt:lpstr>
      <vt:lpstr>What was Tesla’s Strategy by rolling out the Roadster as its first car?</vt:lpstr>
      <vt:lpstr>Red Flag or Good Idea??</vt:lpstr>
      <vt:lpstr>KPIs for Tesla</vt:lpstr>
      <vt:lpstr>COMPS for Tesla</vt:lpstr>
      <vt:lpstr>Let’s Look at 2023</vt:lpstr>
      <vt:lpstr>Growth in EV Market Globally</vt:lpstr>
      <vt:lpstr>EV Sales US, 2018</vt:lpstr>
      <vt:lpstr>Let’s take a look at some of the calcs….</vt:lpstr>
      <vt:lpstr>The Ugly Piece is the Equity Multiplier</vt:lpstr>
      <vt:lpstr>But this doesn’t make sense… why not?</vt:lpstr>
      <vt:lpstr>The “implied” equity multiplier is</vt:lpstr>
      <vt:lpstr>This is an interesting story for us…</vt:lpstr>
      <vt:lpstr>Do they need to keep raising money?</vt:lpstr>
      <vt:lpstr>Suggestions!</vt:lpstr>
      <vt:lpstr>New Tool -- CapitalIQpro</vt:lpstr>
      <vt:lpstr>Wednesday, 10/8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Entrepreneurial Finance  Lesson 3</dc:title>
  <dc:creator>Shaun Davies, CU-Boulder</dc:creator>
  <cp:lastModifiedBy>Ellen Burnes</cp:lastModifiedBy>
  <cp:revision>12</cp:revision>
  <cp:lastPrinted>2022-02-03T05:39:17Z</cp:lastPrinted>
  <dcterms:created xsi:type="dcterms:W3CDTF">2022-01-05T04:34:45Z</dcterms:created>
  <dcterms:modified xsi:type="dcterms:W3CDTF">2025-10-06T18:06:22Z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2017-03-19T00:00:00Z</vt:filetime>
  </property>
  <property fmtid="{D5CDD505-2E9C-101B-9397-08002B2CF9AE}" pid="3" name="Creator">
    <vt:lpwstr>LaTeX with Beamer class version 3.27</vt:lpwstr>
  </property>
  <property fmtid="{D5CDD505-2E9C-101B-9397-08002B2CF9AE}" pid="4" name="LastSaved">
    <vt:filetime>2022-01-05T00:00:00Z</vt:filetime>
  </property>
</Properties>
</file>