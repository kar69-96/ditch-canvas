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82" r:id="rId2"/>
    <p:sldId id="283" r:id="rId3"/>
    <p:sldId id="257" r:id="rId4"/>
    <p:sldId id="260" r:id="rId5"/>
    <p:sldId id="261" r:id="rId6"/>
    <p:sldId id="274" r:id="rId7"/>
    <p:sldId id="275" r:id="rId8"/>
    <p:sldId id="276" r:id="rId9"/>
    <p:sldId id="264" r:id="rId10"/>
    <p:sldId id="265" r:id="rId11"/>
    <p:sldId id="266" r:id="rId12"/>
    <p:sldId id="268" r:id="rId13"/>
    <p:sldId id="259" r:id="rId14"/>
    <p:sldId id="271" r:id="rId15"/>
    <p:sldId id="272" r:id="rId16"/>
    <p:sldId id="273" r:id="rId17"/>
    <p:sldId id="269" r:id="rId18"/>
    <p:sldId id="277" r:id="rId19"/>
    <p:sldId id="258" r:id="rId20"/>
    <p:sldId id="270" r:id="rId21"/>
    <p:sldId id="279" r:id="rId22"/>
    <p:sldId id="278" r:id="rId23"/>
    <p:sldId id="280" r:id="rId24"/>
  </p:sldIdLst>
  <p:sldSz cx="4610100" cy="3460750"/>
  <p:notesSz cx="4610100" cy="34607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6750"/>
    <a:srgbClr val="CEB67B"/>
    <a:srgbClr val="A0A2A1"/>
    <a:srgbClr val="5169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6288BC-0EDD-0848-8476-814D10B839AF}" v="4" dt="2024-10-16T00:18:27.57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843"/>
    <p:restoredTop sz="94728"/>
  </p:normalViewPr>
  <p:slideViewPr>
    <p:cSldViewPr>
      <p:cViewPr varScale="1">
        <p:scale>
          <a:sx n="145" d="100"/>
          <a:sy n="145" d="100"/>
        </p:scale>
        <p:origin x="108" y="684"/>
      </p:cViewPr>
      <p:guideLst>
        <p:guide orient="horz" pos="2880"/>
        <p:guide pos="2160"/>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F06242BC-AF68-414B-8622-6AC13D9F4F1F}" type="datetimeFigureOut">
              <a:rPr lang="en-US" smtClean="0"/>
              <a:t>10/15/2025</a:t>
            </a:fld>
            <a:endParaRPr lang="en-US"/>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FFFC8FC9-DCDB-4EAE-B3A7-1B2D2F2E6744}" type="slidenum">
              <a:rPr lang="en-US" smtClean="0"/>
              <a:t>‹#›</a:t>
            </a:fld>
            <a:endParaRPr lang="en-US"/>
          </a:p>
        </p:txBody>
      </p:sp>
    </p:spTree>
    <p:extLst>
      <p:ext uri="{BB962C8B-B14F-4D97-AF65-F5344CB8AC3E}">
        <p14:creationId xmlns:p14="http://schemas.microsoft.com/office/powerpoint/2010/main" val="3433992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0FA299-5294-AD47-8ACD-E81D24A7609A}" type="slidenum">
              <a:rPr lang="en-US" smtClean="0"/>
              <a:t>1</a:t>
            </a:fld>
            <a:endParaRPr lang="en-US"/>
          </a:p>
        </p:txBody>
      </p:sp>
    </p:spTree>
    <p:extLst>
      <p:ext uri="{BB962C8B-B14F-4D97-AF65-F5344CB8AC3E}">
        <p14:creationId xmlns:p14="http://schemas.microsoft.com/office/powerpoint/2010/main" val="2560453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dt" sz="half" idx="6"/>
          </p:nvPr>
        </p:nvSpPr>
        <p:spPr/>
        <p:txBody>
          <a:bodyPr lIns="0" tIns="0" rIns="0" bIns="0"/>
          <a:lstStyle>
            <a:lvl1pPr>
              <a:defRPr sz="1350" b="1" i="0">
                <a:solidFill>
                  <a:srgbClr val="231F20"/>
                </a:solidFill>
                <a:latin typeface="Rockwell"/>
                <a:cs typeface="Rockwell"/>
              </a:defRPr>
            </a:lvl1pPr>
          </a:lstStyle>
          <a:p>
            <a:pPr marL="12700">
              <a:lnSpc>
                <a:spcPts val="1535"/>
              </a:lnSpc>
              <a:spcBef>
                <a:spcPts val="75"/>
              </a:spcBef>
            </a:pPr>
            <a:r>
              <a:rPr lang="en-US" spc="-5"/>
              <a:t>Leeds B U S I N E S S</a:t>
            </a:r>
            <a:endParaRPr sz="500">
              <a:latin typeface="Arial"/>
              <a:cs typeface="Arial"/>
            </a:endParaRPr>
          </a:p>
        </p:txBody>
      </p:sp>
      <p:sp>
        <p:nvSpPr>
          <p:cNvPr id="6" name="Holder 6"/>
          <p:cNvSpPr>
            <a:spLocks noGrp="1"/>
          </p:cNvSpPr>
          <p:nvPr>
            <p:ph type="sldNum" sz="quarter" idx="7"/>
          </p:nvPr>
        </p:nvSpPr>
        <p:spPr/>
        <p:txBody>
          <a:bodyPr lIns="0" tIns="0" rIns="0" bIns="0"/>
          <a:lstStyle>
            <a:lvl1pPr>
              <a:defRPr sz="600" b="0" i="0">
                <a:solidFill>
                  <a:schemeClr val="tx1"/>
                </a:solidFill>
                <a:latin typeface="Arial"/>
                <a:cs typeface="Arial"/>
              </a:defRPr>
            </a:lvl1pPr>
          </a:lstStyle>
          <a:p>
            <a:pPr marL="12700">
              <a:lnSpc>
                <a:spcPts val="685"/>
              </a:lnSpc>
            </a:pPr>
            <a:r>
              <a:rPr spc="-35" dirty="0"/>
              <a:t>P</a:t>
            </a:r>
            <a:r>
              <a:rPr spc="-5" dirty="0"/>
              <a:t>age</a:t>
            </a:r>
            <a:r>
              <a:rPr spc="-10" dirty="0"/>
              <a:t> </a:t>
            </a:r>
            <a:fld id="{81D60167-4931-47E6-BA6A-407CBD079E47}" type="slidenum">
              <a:rPr spc="-5" dirty="0"/>
              <a:t>‹#›</a:t>
            </a:fld>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526894"/>
                </a:solidFill>
                <a:latin typeface="Arial"/>
                <a:cs typeface="Arial"/>
              </a:defRPr>
            </a:lvl1pPr>
          </a:lstStyle>
          <a:p>
            <a:endParaRPr/>
          </a:p>
        </p:txBody>
      </p:sp>
      <p:sp>
        <p:nvSpPr>
          <p:cNvPr id="3" name="Holder 3"/>
          <p:cNvSpPr>
            <a:spLocks noGrp="1"/>
          </p:cNvSpPr>
          <p:nvPr>
            <p:ph type="body" idx="1"/>
          </p:nvPr>
        </p:nvSpPr>
        <p:spPr>
          <a:xfrm>
            <a:off x="126238" y="572274"/>
            <a:ext cx="4357623" cy="338554"/>
          </a:xfrm>
        </p:spPr>
        <p:txBody>
          <a:bodyPr lIns="0" tIns="0" rIns="0" bIns="0"/>
          <a:lstStyle>
            <a:lvl1pPr marL="171450" indent="-171450">
              <a:buFont typeface="Arial" panose="020B0604020202020204" pitchFamily="34" charset="0"/>
              <a:buChar char="•"/>
              <a:defRPr sz="1100" b="0" i="0">
                <a:solidFill>
                  <a:schemeClr val="tx1"/>
                </a:solidFill>
                <a:latin typeface="Arial"/>
                <a:cs typeface="Arial"/>
              </a:defRPr>
            </a:lvl1pPr>
            <a:lvl2pPr marL="742950" indent="-285750">
              <a:buFont typeface="Arial" panose="020B0604020202020204" pitchFamily="34" charset="0"/>
              <a:buChar char="•"/>
              <a:defRPr sz="1100"/>
            </a:lvl2pPr>
          </a:lstStyle>
          <a:p>
            <a:endParaRPr lang="en-US" dirty="0"/>
          </a:p>
          <a:p>
            <a:pPr lvl="1"/>
            <a:r>
              <a:rPr lang="en-US" dirty="0"/>
              <a:t>	</a:t>
            </a:r>
            <a:endParaRPr dirty="0"/>
          </a:p>
        </p:txBody>
      </p:sp>
      <p:sp>
        <p:nvSpPr>
          <p:cNvPr id="5" name="Holder 5"/>
          <p:cNvSpPr>
            <a:spLocks noGrp="1"/>
          </p:cNvSpPr>
          <p:nvPr>
            <p:ph type="dt" sz="half" idx="6"/>
          </p:nvPr>
        </p:nvSpPr>
        <p:spPr/>
        <p:txBody>
          <a:bodyPr lIns="0" tIns="0" rIns="0" bIns="0"/>
          <a:lstStyle>
            <a:lvl1pPr>
              <a:defRPr sz="1350" b="1" i="0">
                <a:solidFill>
                  <a:srgbClr val="231F20"/>
                </a:solidFill>
                <a:latin typeface="Rockwell"/>
                <a:cs typeface="Rockwell"/>
              </a:defRPr>
            </a:lvl1pPr>
          </a:lstStyle>
          <a:p>
            <a:pPr marL="12700">
              <a:lnSpc>
                <a:spcPts val="1535"/>
              </a:lnSpc>
              <a:spcBef>
                <a:spcPts val="75"/>
              </a:spcBef>
            </a:pPr>
            <a:r>
              <a:rPr lang="en-US" spc="-5"/>
              <a:t>Leeds B U S I N E S S</a:t>
            </a:r>
            <a:endParaRPr sz="500">
              <a:latin typeface="Arial"/>
              <a:cs typeface="Arial"/>
            </a:endParaRPr>
          </a:p>
        </p:txBody>
      </p:sp>
      <p:sp>
        <p:nvSpPr>
          <p:cNvPr id="6" name="Holder 6"/>
          <p:cNvSpPr>
            <a:spLocks noGrp="1"/>
          </p:cNvSpPr>
          <p:nvPr>
            <p:ph type="sldNum" sz="quarter" idx="7"/>
          </p:nvPr>
        </p:nvSpPr>
        <p:spPr/>
        <p:txBody>
          <a:bodyPr lIns="0" tIns="0" rIns="0" bIns="0"/>
          <a:lstStyle>
            <a:lvl1pPr>
              <a:defRPr sz="600" b="0" i="0">
                <a:solidFill>
                  <a:schemeClr val="tx1"/>
                </a:solidFill>
                <a:latin typeface="Arial"/>
                <a:cs typeface="Arial"/>
              </a:defRPr>
            </a:lvl1pPr>
          </a:lstStyle>
          <a:p>
            <a:pPr marL="12700">
              <a:lnSpc>
                <a:spcPts val="685"/>
              </a:lnSpc>
            </a:pPr>
            <a:r>
              <a:rPr spc="-35" dirty="0"/>
              <a:t>P</a:t>
            </a:r>
            <a:r>
              <a:rPr spc="-5" dirty="0"/>
              <a:t>age</a:t>
            </a:r>
            <a:r>
              <a:rPr spc="-10" dirty="0"/>
              <a:t> </a:t>
            </a:r>
            <a:fld id="{81D60167-4931-47E6-BA6A-407CBD079E47}" type="slidenum">
              <a:rPr spc="-5" dirty="0"/>
              <a:t>‹#›</a:t>
            </a:fld>
            <a:endParaRPr spc="-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526894"/>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6" name="Holder 6"/>
          <p:cNvSpPr>
            <a:spLocks noGrp="1"/>
          </p:cNvSpPr>
          <p:nvPr>
            <p:ph type="dt" sz="half" idx="6"/>
          </p:nvPr>
        </p:nvSpPr>
        <p:spPr/>
        <p:txBody>
          <a:bodyPr lIns="0" tIns="0" rIns="0" bIns="0"/>
          <a:lstStyle>
            <a:lvl1pPr>
              <a:defRPr sz="1350" b="1" i="0">
                <a:solidFill>
                  <a:srgbClr val="231F20"/>
                </a:solidFill>
                <a:latin typeface="Rockwell"/>
                <a:cs typeface="Rockwell"/>
              </a:defRPr>
            </a:lvl1pPr>
          </a:lstStyle>
          <a:p>
            <a:pPr marL="12700">
              <a:lnSpc>
                <a:spcPts val="1535"/>
              </a:lnSpc>
              <a:spcBef>
                <a:spcPts val="75"/>
              </a:spcBef>
            </a:pPr>
            <a:r>
              <a:rPr lang="en-US" spc="-5"/>
              <a:t>Leeds B U S I N E S S</a:t>
            </a:r>
            <a:endParaRPr sz="500">
              <a:latin typeface="Arial"/>
              <a:cs typeface="Arial"/>
            </a:endParaRPr>
          </a:p>
        </p:txBody>
      </p:sp>
      <p:sp>
        <p:nvSpPr>
          <p:cNvPr id="7" name="Holder 7"/>
          <p:cNvSpPr>
            <a:spLocks noGrp="1"/>
          </p:cNvSpPr>
          <p:nvPr>
            <p:ph type="sldNum" sz="quarter" idx="7"/>
          </p:nvPr>
        </p:nvSpPr>
        <p:spPr/>
        <p:txBody>
          <a:bodyPr lIns="0" tIns="0" rIns="0" bIns="0"/>
          <a:lstStyle>
            <a:lvl1pPr>
              <a:defRPr sz="600" b="0" i="0">
                <a:solidFill>
                  <a:schemeClr val="tx1"/>
                </a:solidFill>
                <a:latin typeface="Arial"/>
                <a:cs typeface="Arial"/>
              </a:defRPr>
            </a:lvl1pPr>
          </a:lstStyle>
          <a:p>
            <a:pPr marL="12700">
              <a:lnSpc>
                <a:spcPts val="685"/>
              </a:lnSpc>
            </a:pPr>
            <a:r>
              <a:rPr spc="-35" dirty="0"/>
              <a:t>P</a:t>
            </a:r>
            <a:r>
              <a:rPr spc="-5" dirty="0"/>
              <a:t>age</a:t>
            </a:r>
            <a:r>
              <a:rPr spc="-10" dirty="0"/>
              <a:t> </a:t>
            </a:r>
            <a:fld id="{81D60167-4931-47E6-BA6A-407CBD079E47}" type="slidenum">
              <a:rPr spc="-5" dirty="0"/>
              <a:t>‹#›</a:t>
            </a:fld>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526894"/>
                </a:solidFill>
                <a:latin typeface="Arial"/>
                <a:cs typeface="Arial"/>
              </a:defRPr>
            </a:lvl1pPr>
          </a:lstStyle>
          <a:p>
            <a:endParaRPr/>
          </a:p>
        </p:txBody>
      </p:sp>
      <p:sp>
        <p:nvSpPr>
          <p:cNvPr id="4" name="Holder 4"/>
          <p:cNvSpPr>
            <a:spLocks noGrp="1"/>
          </p:cNvSpPr>
          <p:nvPr>
            <p:ph type="dt" sz="half" idx="6"/>
          </p:nvPr>
        </p:nvSpPr>
        <p:spPr/>
        <p:txBody>
          <a:bodyPr lIns="0" tIns="0" rIns="0" bIns="0"/>
          <a:lstStyle>
            <a:lvl1pPr>
              <a:defRPr sz="1350" b="1" i="0">
                <a:solidFill>
                  <a:srgbClr val="231F20"/>
                </a:solidFill>
                <a:latin typeface="Rockwell"/>
                <a:cs typeface="Rockwell"/>
              </a:defRPr>
            </a:lvl1pPr>
          </a:lstStyle>
          <a:p>
            <a:pPr marL="12700">
              <a:lnSpc>
                <a:spcPts val="1535"/>
              </a:lnSpc>
              <a:spcBef>
                <a:spcPts val="75"/>
              </a:spcBef>
            </a:pPr>
            <a:r>
              <a:rPr lang="en-US" spc="-5"/>
              <a:t>Leeds B U S I N E S S</a:t>
            </a:r>
            <a:endParaRPr sz="500">
              <a:latin typeface="Arial"/>
              <a:cs typeface="Arial"/>
            </a:endParaRPr>
          </a:p>
        </p:txBody>
      </p:sp>
      <p:sp>
        <p:nvSpPr>
          <p:cNvPr id="5" name="Holder 5"/>
          <p:cNvSpPr>
            <a:spLocks noGrp="1"/>
          </p:cNvSpPr>
          <p:nvPr>
            <p:ph type="sldNum" sz="quarter" idx="7"/>
          </p:nvPr>
        </p:nvSpPr>
        <p:spPr/>
        <p:txBody>
          <a:bodyPr lIns="0" tIns="0" rIns="0" bIns="0"/>
          <a:lstStyle>
            <a:lvl1pPr>
              <a:defRPr sz="600" b="0" i="0">
                <a:solidFill>
                  <a:schemeClr val="tx1"/>
                </a:solidFill>
                <a:latin typeface="Arial"/>
                <a:cs typeface="Arial"/>
              </a:defRPr>
            </a:lvl1pPr>
          </a:lstStyle>
          <a:p>
            <a:pPr marL="12700">
              <a:lnSpc>
                <a:spcPts val="685"/>
              </a:lnSpc>
            </a:pPr>
            <a:r>
              <a:rPr spc="-35" dirty="0"/>
              <a:t>P</a:t>
            </a:r>
            <a:r>
              <a:rPr spc="-5" dirty="0"/>
              <a:t>age</a:t>
            </a:r>
            <a:r>
              <a:rPr spc="-10" dirty="0"/>
              <a:t> </a:t>
            </a:r>
            <a:fld id="{81D60167-4931-47E6-BA6A-407CBD079E47}" type="slidenum">
              <a:rPr spc="-5" dirty="0"/>
              <a:t>‹#›</a:t>
            </a:fld>
            <a:endParaRPr spc="-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defRPr sz="1350" b="1" i="0">
                <a:solidFill>
                  <a:srgbClr val="231F20"/>
                </a:solidFill>
                <a:latin typeface="Rockwell"/>
                <a:cs typeface="Rockwell"/>
              </a:defRPr>
            </a:lvl1pPr>
          </a:lstStyle>
          <a:p>
            <a:pPr marL="12700">
              <a:lnSpc>
                <a:spcPts val="1535"/>
              </a:lnSpc>
              <a:spcBef>
                <a:spcPts val="75"/>
              </a:spcBef>
            </a:pPr>
            <a:r>
              <a:rPr lang="en-US" spc="-5"/>
              <a:t>Leeds B U S I N E S S</a:t>
            </a:r>
            <a:endParaRPr sz="500">
              <a:latin typeface="Arial"/>
              <a:cs typeface="Arial"/>
            </a:endParaRPr>
          </a:p>
        </p:txBody>
      </p:sp>
      <p:sp>
        <p:nvSpPr>
          <p:cNvPr id="4" name="Holder 4"/>
          <p:cNvSpPr>
            <a:spLocks noGrp="1"/>
          </p:cNvSpPr>
          <p:nvPr>
            <p:ph type="sldNum" sz="quarter" idx="7"/>
          </p:nvPr>
        </p:nvSpPr>
        <p:spPr/>
        <p:txBody>
          <a:bodyPr lIns="0" tIns="0" rIns="0" bIns="0"/>
          <a:lstStyle>
            <a:lvl1pPr>
              <a:defRPr sz="600" b="0" i="0">
                <a:solidFill>
                  <a:schemeClr val="tx1"/>
                </a:solidFill>
                <a:latin typeface="Arial"/>
                <a:cs typeface="Arial"/>
              </a:defRPr>
            </a:lvl1pPr>
          </a:lstStyle>
          <a:p>
            <a:pPr marL="12700">
              <a:lnSpc>
                <a:spcPts val="685"/>
              </a:lnSpc>
            </a:pPr>
            <a:r>
              <a:rPr spc="-35" dirty="0"/>
              <a:t>P</a:t>
            </a:r>
            <a:r>
              <a:rPr spc="-5" dirty="0"/>
              <a:t>age</a:t>
            </a:r>
            <a:r>
              <a:rPr spc="-10" dirty="0"/>
              <a:t> </a:t>
            </a:r>
            <a:fld id="{81D60167-4931-47E6-BA6A-407CBD079E47}" type="slidenum">
              <a:rPr spc="-5" dirty="0"/>
              <a:t>‹#›</a:t>
            </a:fld>
            <a:endParaRPr spc="-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2" y="129539"/>
            <a:ext cx="4608830" cy="3456940"/>
          </a:xfrm>
          <a:custGeom>
            <a:avLst/>
            <a:gdLst/>
            <a:ahLst/>
            <a:cxnLst/>
            <a:rect l="l" t="t" r="r" b="b"/>
            <a:pathLst>
              <a:path w="4608830" h="3456940">
                <a:moveTo>
                  <a:pt x="0" y="3456431"/>
                </a:moveTo>
                <a:lnTo>
                  <a:pt x="4608576" y="3456431"/>
                </a:lnTo>
                <a:lnTo>
                  <a:pt x="4608576" y="0"/>
                </a:lnTo>
                <a:lnTo>
                  <a:pt x="0" y="0"/>
                </a:lnTo>
                <a:lnTo>
                  <a:pt x="0" y="3456431"/>
                </a:lnTo>
                <a:close/>
              </a:path>
            </a:pathLst>
          </a:custGeom>
          <a:solidFill>
            <a:srgbClr val="FEFEFE"/>
          </a:solidFill>
        </p:spPr>
        <p:txBody>
          <a:bodyPr wrap="square" lIns="0" tIns="0" rIns="0" bIns="0" rtlCol="0"/>
          <a:lstStyle/>
          <a:p>
            <a:endParaRPr/>
          </a:p>
        </p:txBody>
      </p:sp>
      <p:sp>
        <p:nvSpPr>
          <p:cNvPr id="17" name="bg object 17"/>
          <p:cNvSpPr/>
          <p:nvPr/>
        </p:nvSpPr>
        <p:spPr>
          <a:xfrm>
            <a:off x="-152" y="0"/>
            <a:ext cx="2304415" cy="129539"/>
          </a:xfrm>
          <a:custGeom>
            <a:avLst/>
            <a:gdLst/>
            <a:ahLst/>
            <a:cxnLst/>
            <a:rect l="l" t="t" r="r" b="b"/>
            <a:pathLst>
              <a:path w="2304415" h="129539">
                <a:moveTo>
                  <a:pt x="0" y="129540"/>
                </a:moveTo>
                <a:lnTo>
                  <a:pt x="2304288" y="129540"/>
                </a:lnTo>
                <a:lnTo>
                  <a:pt x="2304288" y="0"/>
                </a:lnTo>
                <a:lnTo>
                  <a:pt x="0" y="0"/>
                </a:lnTo>
                <a:lnTo>
                  <a:pt x="0" y="129540"/>
                </a:lnTo>
                <a:close/>
              </a:path>
            </a:pathLst>
          </a:custGeom>
          <a:solidFill>
            <a:srgbClr val="A0A2A1"/>
          </a:solidFill>
        </p:spPr>
        <p:txBody>
          <a:bodyPr wrap="square" lIns="0" tIns="0" rIns="0" bIns="0" rtlCol="0"/>
          <a:lstStyle/>
          <a:p>
            <a:endParaRPr/>
          </a:p>
        </p:txBody>
      </p:sp>
      <p:sp>
        <p:nvSpPr>
          <p:cNvPr id="18" name="bg object 18"/>
          <p:cNvSpPr/>
          <p:nvPr/>
        </p:nvSpPr>
        <p:spPr>
          <a:xfrm>
            <a:off x="2304135" y="0"/>
            <a:ext cx="2304415" cy="129539"/>
          </a:xfrm>
          <a:custGeom>
            <a:avLst/>
            <a:gdLst/>
            <a:ahLst/>
            <a:cxnLst/>
            <a:rect l="l" t="t" r="r" b="b"/>
            <a:pathLst>
              <a:path w="2304415" h="129539">
                <a:moveTo>
                  <a:pt x="0" y="129540"/>
                </a:moveTo>
                <a:lnTo>
                  <a:pt x="2304288" y="129540"/>
                </a:lnTo>
                <a:lnTo>
                  <a:pt x="2304288" y="0"/>
                </a:lnTo>
                <a:lnTo>
                  <a:pt x="0" y="0"/>
                </a:lnTo>
                <a:lnTo>
                  <a:pt x="0" y="129540"/>
                </a:lnTo>
                <a:close/>
              </a:path>
            </a:pathLst>
          </a:custGeom>
          <a:solidFill>
            <a:srgbClr val="CEB67B"/>
          </a:solidFill>
        </p:spPr>
        <p:txBody>
          <a:bodyPr wrap="square" lIns="0" tIns="0" rIns="0" bIns="0" rtlCol="0"/>
          <a:lstStyle/>
          <a:p>
            <a:endParaRPr/>
          </a:p>
        </p:txBody>
      </p:sp>
      <p:sp>
        <p:nvSpPr>
          <p:cNvPr id="2" name="Holder 2"/>
          <p:cNvSpPr>
            <a:spLocks noGrp="1"/>
          </p:cNvSpPr>
          <p:nvPr>
            <p:ph type="title"/>
          </p:nvPr>
        </p:nvSpPr>
        <p:spPr>
          <a:xfrm>
            <a:off x="726439" y="190295"/>
            <a:ext cx="3153410" cy="244475"/>
          </a:xfrm>
          <a:prstGeom prst="rect">
            <a:avLst/>
          </a:prstGeom>
        </p:spPr>
        <p:txBody>
          <a:bodyPr wrap="square" lIns="0" tIns="0" rIns="0" bIns="0">
            <a:spAutoFit/>
          </a:bodyPr>
          <a:lstStyle>
            <a:lvl1pPr>
              <a:defRPr sz="1400" b="1" i="0">
                <a:solidFill>
                  <a:srgbClr val="526894"/>
                </a:solidFill>
                <a:latin typeface="Arial"/>
                <a:cs typeface="Arial"/>
              </a:defRPr>
            </a:lvl1pPr>
          </a:lstStyle>
          <a:p>
            <a:endParaRPr/>
          </a:p>
        </p:txBody>
      </p:sp>
      <p:sp>
        <p:nvSpPr>
          <p:cNvPr id="3" name="Holder 3"/>
          <p:cNvSpPr>
            <a:spLocks noGrp="1"/>
          </p:cNvSpPr>
          <p:nvPr>
            <p:ph type="body" idx="1"/>
          </p:nvPr>
        </p:nvSpPr>
        <p:spPr>
          <a:xfrm>
            <a:off x="126238" y="572274"/>
            <a:ext cx="4357623" cy="338554"/>
          </a:xfrm>
          <a:prstGeom prst="rect">
            <a:avLst/>
          </a:prstGeom>
        </p:spPr>
        <p:txBody>
          <a:bodyPr wrap="square" lIns="0" tIns="0" rIns="0" bIns="0">
            <a:spAutoFit/>
          </a:bodyPr>
          <a:lstStyle>
            <a:lvl1pPr>
              <a:defRPr sz="1100" b="0" i="0">
                <a:solidFill>
                  <a:schemeClr val="tx1"/>
                </a:solidFill>
                <a:latin typeface="Arial"/>
                <a:cs typeface="Arial"/>
              </a:defRPr>
            </a:lvl1pPr>
          </a:lstStyle>
          <a:p>
            <a:endParaRPr lang="en-US" dirty="0"/>
          </a:p>
          <a:p>
            <a:pPr lvl="1"/>
            <a:endParaRPr dirty="0"/>
          </a:p>
        </p:txBody>
      </p:sp>
      <p:sp>
        <p:nvSpPr>
          <p:cNvPr id="5" name="Holder 5"/>
          <p:cNvSpPr>
            <a:spLocks noGrp="1"/>
          </p:cNvSpPr>
          <p:nvPr>
            <p:ph type="dt" sz="half" idx="6"/>
          </p:nvPr>
        </p:nvSpPr>
        <p:spPr>
          <a:xfrm>
            <a:off x="3966640" y="2949162"/>
            <a:ext cx="526414" cy="271144"/>
          </a:xfrm>
          <a:prstGeom prst="rect">
            <a:avLst/>
          </a:prstGeom>
        </p:spPr>
        <p:txBody>
          <a:bodyPr wrap="square" lIns="0" tIns="0" rIns="0" bIns="0">
            <a:spAutoFit/>
          </a:bodyPr>
          <a:lstStyle>
            <a:lvl1pPr>
              <a:defRPr sz="1350" b="1" i="0">
                <a:solidFill>
                  <a:srgbClr val="231F20"/>
                </a:solidFill>
                <a:latin typeface="Rockwell"/>
                <a:cs typeface="Rockwell"/>
              </a:defRPr>
            </a:lvl1pPr>
          </a:lstStyle>
          <a:p>
            <a:pPr marL="12700">
              <a:lnSpc>
                <a:spcPts val="1535"/>
              </a:lnSpc>
              <a:spcBef>
                <a:spcPts val="75"/>
              </a:spcBef>
            </a:pPr>
            <a:r>
              <a:rPr lang="en-US" spc="-5"/>
              <a:t>Leeds B U S I N E S S</a:t>
            </a:r>
            <a:endParaRPr sz="500">
              <a:latin typeface="Arial"/>
              <a:cs typeface="Arial"/>
            </a:endParaRPr>
          </a:p>
        </p:txBody>
      </p:sp>
      <p:sp>
        <p:nvSpPr>
          <p:cNvPr id="6" name="Holder 6"/>
          <p:cNvSpPr>
            <a:spLocks noGrp="1"/>
          </p:cNvSpPr>
          <p:nvPr>
            <p:ph type="sldNum" sz="quarter" idx="7"/>
          </p:nvPr>
        </p:nvSpPr>
        <p:spPr>
          <a:xfrm>
            <a:off x="3708906" y="3344562"/>
            <a:ext cx="300989" cy="101600"/>
          </a:xfrm>
          <a:prstGeom prst="rect">
            <a:avLst/>
          </a:prstGeom>
        </p:spPr>
        <p:txBody>
          <a:bodyPr wrap="square" lIns="0" tIns="0" rIns="0" bIns="0">
            <a:spAutoFit/>
          </a:bodyPr>
          <a:lstStyle>
            <a:lvl1pPr>
              <a:defRPr sz="600" b="0" i="0">
                <a:solidFill>
                  <a:schemeClr val="tx1"/>
                </a:solidFill>
                <a:latin typeface="Arial"/>
                <a:cs typeface="Arial"/>
              </a:defRPr>
            </a:lvl1pPr>
          </a:lstStyle>
          <a:p>
            <a:pPr marL="12700">
              <a:lnSpc>
                <a:spcPts val="685"/>
              </a:lnSpc>
            </a:pPr>
            <a:r>
              <a:rPr spc="-35" dirty="0"/>
              <a:t>P</a:t>
            </a:r>
            <a:r>
              <a:rPr spc="-5" dirty="0"/>
              <a:t>age</a:t>
            </a:r>
            <a:r>
              <a:rPr spc="-10" dirty="0"/>
              <a:t> </a:t>
            </a:r>
            <a:fld id="{81D60167-4931-47E6-BA6A-407CBD079E47}" type="slidenum">
              <a:rPr spc="-5" dirty="0"/>
              <a:t>‹#›</a:t>
            </a:fld>
            <a:endParaRPr spc="-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171450" indent="-171450">
        <a:buFont typeface="Arial" panose="020B0604020202020204" pitchFamily="34" charset="0"/>
        <a:buChar char="•"/>
        <a:defRPr>
          <a:latin typeface="+mn-lt"/>
          <a:ea typeface="+mn-ea"/>
          <a:cs typeface="+mn-cs"/>
        </a:defRPr>
      </a:lvl1pPr>
      <a:lvl2pPr marL="742950" indent="-285750">
        <a:buFont typeface="Arial" panose="020B0604020202020204" pitchFamily="34" charset="0"/>
        <a:buChar char="•"/>
        <a:defRPr sz="1100">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sec.gov/resources-small-businesses/capital-raising-building-blocks/private-companies-sec"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investor.gov/introduction-investing/general-resources/news-alerts/alerts-bulletins/investor-bulletins/private#:~:text=Private%20and%20public%20companies%2C%20including,important%20role%20in%20capital%20formation."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investor.gov/additional-resources/spotlight/investing-quizzes"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66640" y="2946437"/>
            <a:ext cx="526415" cy="231140"/>
          </a:xfrm>
          <a:prstGeom prst="rect">
            <a:avLst/>
          </a:prstGeom>
        </p:spPr>
        <p:txBody>
          <a:bodyPr vert="horz" wrap="square" lIns="0" tIns="12065" rIns="0" bIns="0" rtlCol="0">
            <a:spAutoFit/>
          </a:bodyPr>
          <a:lstStyle/>
          <a:p>
            <a:pPr marL="12700">
              <a:lnSpc>
                <a:spcPct val="100000"/>
              </a:lnSpc>
              <a:spcBef>
                <a:spcPts val="95"/>
              </a:spcBef>
            </a:pPr>
            <a:r>
              <a:rPr sz="1350" b="1" spc="-5">
                <a:solidFill>
                  <a:srgbClr val="231F20"/>
                </a:solidFill>
                <a:latin typeface="Rockwell"/>
                <a:cs typeface="Rockwell"/>
              </a:rPr>
              <a:t>Leeds</a:t>
            </a:r>
            <a:endParaRPr sz="1350">
              <a:latin typeface="Rockwell"/>
              <a:cs typeface="Rockwell"/>
            </a:endParaRPr>
          </a:p>
        </p:txBody>
      </p:sp>
      <p:grpSp>
        <p:nvGrpSpPr>
          <p:cNvPr id="3" name="object 3"/>
          <p:cNvGrpSpPr/>
          <p:nvPr/>
        </p:nvGrpSpPr>
        <p:grpSpPr>
          <a:xfrm>
            <a:off x="3648455" y="2932247"/>
            <a:ext cx="297815" cy="287655"/>
            <a:chOff x="3648455" y="2932247"/>
            <a:chExt cx="297815" cy="287655"/>
          </a:xfrm>
        </p:grpSpPr>
        <p:sp>
          <p:nvSpPr>
            <p:cNvPr id="4" name="object 4"/>
            <p:cNvSpPr/>
            <p:nvPr/>
          </p:nvSpPr>
          <p:spPr>
            <a:xfrm>
              <a:off x="3648455" y="2932247"/>
              <a:ext cx="297815" cy="287655"/>
            </a:xfrm>
            <a:custGeom>
              <a:avLst/>
              <a:gdLst/>
              <a:ahLst/>
              <a:cxnLst/>
              <a:rect l="l" t="t" r="r" b="b"/>
              <a:pathLst>
                <a:path w="297814" h="287655">
                  <a:moveTo>
                    <a:pt x="175778" y="0"/>
                  </a:moveTo>
                  <a:lnTo>
                    <a:pt x="39471" y="0"/>
                  </a:lnTo>
                  <a:lnTo>
                    <a:pt x="0" y="39421"/>
                  </a:lnTo>
                  <a:lnTo>
                    <a:pt x="0" y="175503"/>
                  </a:lnTo>
                  <a:lnTo>
                    <a:pt x="39471" y="214896"/>
                  </a:lnTo>
                  <a:lnTo>
                    <a:pt x="82753" y="214896"/>
                  </a:lnTo>
                  <a:lnTo>
                    <a:pt x="82753" y="248012"/>
                  </a:lnTo>
                  <a:lnTo>
                    <a:pt x="122544" y="287452"/>
                  </a:lnTo>
                  <a:lnTo>
                    <a:pt x="237576" y="287452"/>
                  </a:lnTo>
                  <a:lnTo>
                    <a:pt x="277459" y="248043"/>
                  </a:lnTo>
                  <a:lnTo>
                    <a:pt x="277459" y="142625"/>
                  </a:lnTo>
                  <a:lnTo>
                    <a:pt x="297774" y="142625"/>
                  </a:lnTo>
                  <a:lnTo>
                    <a:pt x="297774" y="72443"/>
                  </a:lnTo>
                  <a:lnTo>
                    <a:pt x="215127" y="72443"/>
                  </a:lnTo>
                  <a:lnTo>
                    <a:pt x="215127" y="39427"/>
                  </a:lnTo>
                  <a:lnTo>
                    <a:pt x="175778" y="0"/>
                  </a:lnTo>
                  <a:close/>
                </a:path>
              </a:pathLst>
            </a:custGeom>
            <a:solidFill>
              <a:srgbClr val="CFB87C"/>
            </a:solidFill>
          </p:spPr>
          <p:txBody>
            <a:bodyPr wrap="square" lIns="0" tIns="0" rIns="0" bIns="0" rtlCol="0"/>
            <a:lstStyle/>
            <a:p>
              <a:endParaRPr/>
            </a:p>
          </p:txBody>
        </p:sp>
        <p:sp>
          <p:nvSpPr>
            <p:cNvPr id="5" name="object 5"/>
            <p:cNvSpPr/>
            <p:nvPr/>
          </p:nvSpPr>
          <p:spPr>
            <a:xfrm>
              <a:off x="3652540" y="2936332"/>
              <a:ext cx="290195" cy="279400"/>
            </a:xfrm>
            <a:custGeom>
              <a:avLst/>
              <a:gdLst/>
              <a:ahLst/>
              <a:cxnLst/>
              <a:rect l="l" t="t" r="r" b="b"/>
              <a:pathLst>
                <a:path w="290195" h="279400">
                  <a:moveTo>
                    <a:pt x="170017" y="0"/>
                  </a:moveTo>
                  <a:lnTo>
                    <a:pt x="37063" y="0"/>
                  </a:lnTo>
                  <a:lnTo>
                    <a:pt x="0" y="37033"/>
                  </a:lnTo>
                  <a:lnTo>
                    <a:pt x="0" y="169705"/>
                  </a:lnTo>
                  <a:lnTo>
                    <a:pt x="37063" y="206727"/>
                  </a:lnTo>
                  <a:lnTo>
                    <a:pt x="82783" y="206727"/>
                  </a:lnTo>
                  <a:lnTo>
                    <a:pt x="82783" y="242244"/>
                  </a:lnTo>
                  <a:lnTo>
                    <a:pt x="120136" y="279266"/>
                  </a:lnTo>
                  <a:lnTo>
                    <a:pt x="231815" y="279266"/>
                  </a:lnTo>
                  <a:lnTo>
                    <a:pt x="269275" y="242244"/>
                  </a:lnTo>
                  <a:lnTo>
                    <a:pt x="269275" y="134474"/>
                  </a:lnTo>
                  <a:lnTo>
                    <a:pt x="289590" y="134474"/>
                  </a:lnTo>
                  <a:lnTo>
                    <a:pt x="289590" y="72455"/>
                  </a:lnTo>
                  <a:lnTo>
                    <a:pt x="206943" y="72455"/>
                  </a:lnTo>
                  <a:lnTo>
                    <a:pt x="206943" y="37039"/>
                  </a:lnTo>
                  <a:lnTo>
                    <a:pt x="170017" y="0"/>
                  </a:lnTo>
                  <a:close/>
                </a:path>
              </a:pathLst>
            </a:custGeom>
            <a:solidFill>
              <a:srgbClr val="231F20"/>
            </a:solidFill>
          </p:spPr>
          <p:txBody>
            <a:bodyPr wrap="square" lIns="0" tIns="0" rIns="0" bIns="0" rtlCol="0"/>
            <a:lstStyle/>
            <a:p>
              <a:endParaRPr/>
            </a:p>
          </p:txBody>
        </p:sp>
        <p:sp>
          <p:nvSpPr>
            <p:cNvPr id="6" name="object 6"/>
            <p:cNvSpPr/>
            <p:nvPr/>
          </p:nvSpPr>
          <p:spPr>
            <a:xfrm>
              <a:off x="3662751" y="2946553"/>
              <a:ext cx="269240" cy="259079"/>
            </a:xfrm>
            <a:custGeom>
              <a:avLst/>
              <a:gdLst/>
              <a:ahLst/>
              <a:cxnLst/>
              <a:rect l="l" t="t" r="r" b="b"/>
              <a:pathLst>
                <a:path w="269239" h="259080">
                  <a:moveTo>
                    <a:pt x="155554" y="0"/>
                  </a:moveTo>
                  <a:lnTo>
                    <a:pt x="31104" y="0"/>
                  </a:lnTo>
                  <a:lnTo>
                    <a:pt x="0" y="31039"/>
                  </a:lnTo>
                  <a:lnTo>
                    <a:pt x="0" y="155245"/>
                  </a:lnTo>
                  <a:lnTo>
                    <a:pt x="31104" y="186266"/>
                  </a:lnTo>
                  <a:lnTo>
                    <a:pt x="82783" y="186266"/>
                  </a:lnTo>
                  <a:lnTo>
                    <a:pt x="82783" y="227754"/>
                  </a:lnTo>
                  <a:lnTo>
                    <a:pt x="114132" y="258823"/>
                  </a:lnTo>
                  <a:lnTo>
                    <a:pt x="217413" y="258823"/>
                  </a:lnTo>
                  <a:lnTo>
                    <a:pt x="248838" y="227754"/>
                  </a:lnTo>
                  <a:lnTo>
                    <a:pt x="248838" y="114013"/>
                  </a:lnTo>
                  <a:lnTo>
                    <a:pt x="269168" y="114013"/>
                  </a:lnTo>
                  <a:lnTo>
                    <a:pt x="269168" y="72455"/>
                  </a:lnTo>
                  <a:lnTo>
                    <a:pt x="206822" y="72455"/>
                  </a:lnTo>
                  <a:lnTo>
                    <a:pt x="206822" y="217311"/>
                  </a:lnTo>
                  <a:lnTo>
                    <a:pt x="124327" y="217311"/>
                  </a:lnTo>
                  <a:lnTo>
                    <a:pt x="124327" y="186266"/>
                  </a:lnTo>
                  <a:lnTo>
                    <a:pt x="155554" y="186266"/>
                  </a:lnTo>
                  <a:lnTo>
                    <a:pt x="186522" y="155245"/>
                  </a:lnTo>
                  <a:lnTo>
                    <a:pt x="186522" y="114013"/>
                  </a:lnTo>
                  <a:lnTo>
                    <a:pt x="144978" y="114013"/>
                  </a:lnTo>
                  <a:lnTo>
                    <a:pt x="144978" y="144821"/>
                  </a:lnTo>
                  <a:lnTo>
                    <a:pt x="124327" y="144821"/>
                  </a:lnTo>
                  <a:lnTo>
                    <a:pt x="124327" y="72455"/>
                  </a:lnTo>
                  <a:lnTo>
                    <a:pt x="62163" y="72455"/>
                  </a:lnTo>
                  <a:lnTo>
                    <a:pt x="62163" y="114013"/>
                  </a:lnTo>
                  <a:lnTo>
                    <a:pt x="82783" y="114013"/>
                  </a:lnTo>
                  <a:lnTo>
                    <a:pt x="82783" y="144821"/>
                  </a:lnTo>
                  <a:lnTo>
                    <a:pt x="41483" y="144821"/>
                  </a:lnTo>
                  <a:lnTo>
                    <a:pt x="41483" y="41164"/>
                  </a:lnTo>
                  <a:lnTo>
                    <a:pt x="144978" y="41164"/>
                  </a:lnTo>
                  <a:lnTo>
                    <a:pt x="144978" y="72455"/>
                  </a:lnTo>
                  <a:lnTo>
                    <a:pt x="186522" y="72455"/>
                  </a:lnTo>
                  <a:lnTo>
                    <a:pt x="186522" y="31056"/>
                  </a:lnTo>
                  <a:lnTo>
                    <a:pt x="155554" y="0"/>
                  </a:lnTo>
                  <a:close/>
                </a:path>
              </a:pathLst>
            </a:custGeom>
            <a:solidFill>
              <a:srgbClr val="FFFFFF"/>
            </a:solidFill>
          </p:spPr>
          <p:txBody>
            <a:bodyPr wrap="square" lIns="0" tIns="0" rIns="0" bIns="0" rtlCol="0"/>
            <a:lstStyle/>
            <a:p>
              <a:endParaRPr/>
            </a:p>
          </p:txBody>
        </p:sp>
        <p:sp>
          <p:nvSpPr>
            <p:cNvPr id="7" name="object 7"/>
            <p:cNvSpPr/>
            <p:nvPr/>
          </p:nvSpPr>
          <p:spPr>
            <a:xfrm>
              <a:off x="3667871" y="2951666"/>
              <a:ext cx="259079" cy="248920"/>
            </a:xfrm>
            <a:custGeom>
              <a:avLst/>
              <a:gdLst/>
              <a:ahLst/>
              <a:cxnLst/>
              <a:rect l="l" t="t" r="r" b="b"/>
              <a:pathLst>
                <a:path w="259079" h="248919">
                  <a:moveTo>
                    <a:pt x="148315" y="0"/>
                  </a:moveTo>
                  <a:lnTo>
                    <a:pt x="28102" y="0"/>
                  </a:lnTo>
                  <a:lnTo>
                    <a:pt x="0" y="28050"/>
                  </a:lnTo>
                  <a:lnTo>
                    <a:pt x="0" y="148024"/>
                  </a:lnTo>
                  <a:lnTo>
                    <a:pt x="28087" y="176046"/>
                  </a:lnTo>
                  <a:lnTo>
                    <a:pt x="82783" y="176046"/>
                  </a:lnTo>
                  <a:lnTo>
                    <a:pt x="82783" y="220504"/>
                  </a:lnTo>
                  <a:lnTo>
                    <a:pt x="111130" y="248614"/>
                  </a:lnTo>
                  <a:lnTo>
                    <a:pt x="210174" y="248614"/>
                  </a:lnTo>
                  <a:lnTo>
                    <a:pt x="238612" y="220486"/>
                  </a:lnTo>
                  <a:lnTo>
                    <a:pt x="238612" y="103804"/>
                  </a:lnTo>
                  <a:lnTo>
                    <a:pt x="258927" y="103804"/>
                  </a:lnTo>
                  <a:lnTo>
                    <a:pt x="258927" y="72467"/>
                  </a:lnTo>
                  <a:lnTo>
                    <a:pt x="206822" y="72467"/>
                  </a:lnTo>
                  <a:lnTo>
                    <a:pt x="206822" y="217294"/>
                  </a:lnTo>
                  <a:lnTo>
                    <a:pt x="114086" y="217294"/>
                  </a:lnTo>
                  <a:lnTo>
                    <a:pt x="114086" y="176046"/>
                  </a:lnTo>
                  <a:lnTo>
                    <a:pt x="148315" y="176046"/>
                  </a:lnTo>
                  <a:lnTo>
                    <a:pt x="176296" y="148024"/>
                  </a:lnTo>
                  <a:lnTo>
                    <a:pt x="176296" y="114019"/>
                  </a:lnTo>
                  <a:lnTo>
                    <a:pt x="144978" y="114019"/>
                  </a:lnTo>
                  <a:lnTo>
                    <a:pt x="144978" y="144815"/>
                  </a:lnTo>
                  <a:lnTo>
                    <a:pt x="114086" y="144815"/>
                  </a:lnTo>
                  <a:lnTo>
                    <a:pt x="114086" y="72467"/>
                  </a:lnTo>
                  <a:lnTo>
                    <a:pt x="62148" y="72467"/>
                  </a:lnTo>
                  <a:lnTo>
                    <a:pt x="62148" y="103804"/>
                  </a:lnTo>
                  <a:lnTo>
                    <a:pt x="82783" y="103804"/>
                  </a:lnTo>
                  <a:lnTo>
                    <a:pt x="82783" y="144815"/>
                  </a:lnTo>
                  <a:lnTo>
                    <a:pt x="31241" y="144815"/>
                  </a:lnTo>
                  <a:lnTo>
                    <a:pt x="31241" y="30950"/>
                  </a:lnTo>
                  <a:lnTo>
                    <a:pt x="144978" y="30950"/>
                  </a:lnTo>
                  <a:lnTo>
                    <a:pt x="144978" y="62227"/>
                  </a:lnTo>
                  <a:lnTo>
                    <a:pt x="176296" y="62227"/>
                  </a:lnTo>
                  <a:lnTo>
                    <a:pt x="176296" y="28050"/>
                  </a:lnTo>
                  <a:lnTo>
                    <a:pt x="148315" y="0"/>
                  </a:lnTo>
                  <a:close/>
                </a:path>
              </a:pathLst>
            </a:custGeom>
            <a:solidFill>
              <a:srgbClr val="CFB87C"/>
            </a:solidFill>
          </p:spPr>
          <p:txBody>
            <a:bodyPr wrap="square" lIns="0" tIns="0" rIns="0" bIns="0" rtlCol="0"/>
            <a:lstStyle/>
            <a:p>
              <a:endParaRPr/>
            </a:p>
          </p:txBody>
        </p:sp>
      </p:grpSp>
      <p:sp>
        <p:nvSpPr>
          <p:cNvPr id="8" name="object 8"/>
          <p:cNvSpPr txBox="1">
            <a:spLocks noGrp="1"/>
          </p:cNvSpPr>
          <p:nvPr>
            <p:ph type="title"/>
          </p:nvPr>
        </p:nvSpPr>
        <p:spPr>
          <a:xfrm>
            <a:off x="156830" y="434975"/>
            <a:ext cx="4067937" cy="1135952"/>
          </a:xfrm>
          <a:prstGeom prst="rect">
            <a:avLst/>
          </a:prstGeom>
        </p:spPr>
        <p:txBody>
          <a:bodyPr vert="horz" wrap="square" lIns="0" tIns="6985" rIns="0" bIns="0" rtlCol="0">
            <a:spAutoFit/>
          </a:bodyPr>
          <a:lstStyle/>
          <a:p>
            <a:pPr marL="459105" marR="5080" indent="-447040" algn="ctr">
              <a:lnSpc>
                <a:spcPct val="102699"/>
              </a:lnSpc>
              <a:spcBef>
                <a:spcPts val="55"/>
              </a:spcBef>
            </a:pPr>
            <a:r>
              <a:rPr lang="fr-FR" sz="2400" spc="-10" dirty="0">
                <a:solidFill>
                  <a:srgbClr val="000000"/>
                </a:solidFill>
                <a:latin typeface="Garamond" panose="02020404030301010803" pitchFamily="18" charset="0"/>
              </a:rPr>
              <a:t>        ESBM4570</a:t>
            </a:r>
            <a:br>
              <a:rPr lang="fr-FR" sz="2400" spc="-10" dirty="0">
                <a:solidFill>
                  <a:srgbClr val="000000"/>
                </a:solidFill>
                <a:latin typeface="Garamond" panose="02020404030301010803" pitchFamily="18" charset="0"/>
              </a:rPr>
            </a:br>
            <a:br>
              <a:rPr lang="fr-FR" sz="2400" spc="-10" dirty="0">
                <a:solidFill>
                  <a:srgbClr val="000000"/>
                </a:solidFill>
                <a:latin typeface="Garamond" panose="02020404030301010803" pitchFamily="18" charset="0"/>
              </a:rPr>
            </a:br>
            <a:r>
              <a:rPr lang="fr-FR" sz="2400" spc="-10" dirty="0">
                <a:solidFill>
                  <a:srgbClr val="000000"/>
                </a:solidFill>
                <a:latin typeface="Garamond" panose="02020404030301010803" pitchFamily="18" charset="0"/>
              </a:rPr>
              <a:t> Week 9.2</a:t>
            </a:r>
            <a:endParaRPr sz="2400" dirty="0"/>
          </a:p>
        </p:txBody>
      </p:sp>
      <p:sp>
        <p:nvSpPr>
          <p:cNvPr id="10" name="object 10"/>
          <p:cNvSpPr/>
          <p:nvPr/>
        </p:nvSpPr>
        <p:spPr>
          <a:xfrm>
            <a:off x="-152" y="3337814"/>
            <a:ext cx="1536700" cy="129539"/>
          </a:xfrm>
          <a:custGeom>
            <a:avLst/>
            <a:gdLst/>
            <a:ahLst/>
            <a:cxnLst/>
            <a:rect l="l" t="t" r="r" b="b"/>
            <a:pathLst>
              <a:path w="1536700" h="129539">
                <a:moveTo>
                  <a:pt x="0" y="129539"/>
                </a:moveTo>
                <a:lnTo>
                  <a:pt x="1536192" y="129539"/>
                </a:lnTo>
                <a:lnTo>
                  <a:pt x="1536192" y="0"/>
                </a:lnTo>
                <a:lnTo>
                  <a:pt x="0" y="0"/>
                </a:lnTo>
                <a:lnTo>
                  <a:pt x="0" y="129539"/>
                </a:lnTo>
                <a:close/>
              </a:path>
            </a:pathLst>
          </a:custGeom>
          <a:solidFill>
            <a:srgbClr val="A0A2A1"/>
          </a:solidFill>
        </p:spPr>
        <p:txBody>
          <a:bodyPr wrap="square" lIns="0" tIns="0" rIns="0" bIns="0" rtlCol="0"/>
          <a:lstStyle/>
          <a:p>
            <a:endParaRPr/>
          </a:p>
        </p:txBody>
      </p:sp>
      <p:sp>
        <p:nvSpPr>
          <p:cNvPr id="11" name="object 11"/>
          <p:cNvSpPr/>
          <p:nvPr/>
        </p:nvSpPr>
        <p:spPr>
          <a:xfrm>
            <a:off x="3072231" y="3326663"/>
            <a:ext cx="1536700" cy="129539"/>
          </a:xfrm>
          <a:custGeom>
            <a:avLst/>
            <a:gdLst/>
            <a:ahLst/>
            <a:cxnLst/>
            <a:rect l="l" t="t" r="r" b="b"/>
            <a:pathLst>
              <a:path w="1536700" h="129539">
                <a:moveTo>
                  <a:pt x="0" y="129539"/>
                </a:moveTo>
                <a:lnTo>
                  <a:pt x="1536191" y="129539"/>
                </a:lnTo>
                <a:lnTo>
                  <a:pt x="1536191" y="0"/>
                </a:lnTo>
                <a:lnTo>
                  <a:pt x="0" y="0"/>
                </a:lnTo>
                <a:lnTo>
                  <a:pt x="0" y="129539"/>
                </a:lnTo>
                <a:close/>
              </a:path>
            </a:pathLst>
          </a:custGeom>
          <a:solidFill>
            <a:srgbClr val="CEB67B"/>
          </a:solidFill>
        </p:spPr>
        <p:txBody>
          <a:bodyPr wrap="square" lIns="0" tIns="0" rIns="0" bIns="0" rtlCol="0"/>
          <a:lstStyle/>
          <a:p>
            <a:endParaRPr/>
          </a:p>
        </p:txBody>
      </p:sp>
      <p:sp>
        <p:nvSpPr>
          <p:cNvPr id="12" name="object 12"/>
          <p:cNvSpPr txBox="1"/>
          <p:nvPr/>
        </p:nvSpPr>
        <p:spPr>
          <a:xfrm>
            <a:off x="3966640" y="3126132"/>
            <a:ext cx="516255" cy="93980"/>
          </a:xfrm>
          <a:prstGeom prst="rect">
            <a:avLst/>
          </a:prstGeom>
        </p:spPr>
        <p:txBody>
          <a:bodyPr vert="horz" wrap="square" lIns="0" tIns="15875" rIns="0" bIns="0" rtlCol="0">
            <a:spAutoFit/>
          </a:bodyPr>
          <a:lstStyle/>
          <a:p>
            <a:pPr marL="12700">
              <a:lnSpc>
                <a:spcPct val="100000"/>
              </a:lnSpc>
              <a:spcBef>
                <a:spcPts val="125"/>
              </a:spcBef>
            </a:pPr>
            <a:r>
              <a:rPr sz="500" spc="25">
                <a:solidFill>
                  <a:srgbClr val="231F20"/>
                </a:solidFill>
                <a:latin typeface="Arial"/>
                <a:cs typeface="Arial"/>
              </a:rPr>
              <a:t>B</a:t>
            </a:r>
            <a:r>
              <a:rPr sz="500" spc="30">
                <a:solidFill>
                  <a:srgbClr val="231F20"/>
                </a:solidFill>
                <a:latin typeface="Arial"/>
                <a:cs typeface="Arial"/>
              </a:rPr>
              <a:t> </a:t>
            </a:r>
            <a:r>
              <a:rPr sz="500" spc="10">
                <a:solidFill>
                  <a:srgbClr val="231F20"/>
                </a:solidFill>
                <a:latin typeface="Arial"/>
                <a:cs typeface="Arial"/>
              </a:rPr>
              <a:t>U</a:t>
            </a:r>
            <a:r>
              <a:rPr sz="500" spc="30">
                <a:solidFill>
                  <a:srgbClr val="231F20"/>
                </a:solidFill>
                <a:latin typeface="Arial"/>
                <a:cs typeface="Arial"/>
              </a:rPr>
              <a:t> </a:t>
            </a:r>
            <a:r>
              <a:rPr sz="500" spc="5">
                <a:solidFill>
                  <a:srgbClr val="231F20"/>
                </a:solidFill>
                <a:latin typeface="Arial"/>
                <a:cs typeface="Arial"/>
              </a:rPr>
              <a:t>S</a:t>
            </a:r>
            <a:r>
              <a:rPr sz="500" spc="30">
                <a:solidFill>
                  <a:srgbClr val="231F20"/>
                </a:solidFill>
                <a:latin typeface="Arial"/>
                <a:cs typeface="Arial"/>
              </a:rPr>
              <a:t> </a:t>
            </a:r>
            <a:r>
              <a:rPr sz="500" spc="-20">
                <a:solidFill>
                  <a:srgbClr val="231F20"/>
                </a:solidFill>
                <a:latin typeface="Arial"/>
                <a:cs typeface="Arial"/>
              </a:rPr>
              <a:t>I</a:t>
            </a:r>
            <a:r>
              <a:rPr sz="500" spc="30">
                <a:solidFill>
                  <a:srgbClr val="231F20"/>
                </a:solidFill>
                <a:latin typeface="Arial"/>
                <a:cs typeface="Arial"/>
              </a:rPr>
              <a:t> </a:t>
            </a:r>
            <a:r>
              <a:rPr sz="500" spc="20">
                <a:solidFill>
                  <a:srgbClr val="231F20"/>
                </a:solidFill>
                <a:latin typeface="Arial"/>
                <a:cs typeface="Arial"/>
              </a:rPr>
              <a:t>N</a:t>
            </a:r>
            <a:r>
              <a:rPr sz="500" spc="30">
                <a:solidFill>
                  <a:srgbClr val="231F20"/>
                </a:solidFill>
                <a:latin typeface="Arial"/>
                <a:cs typeface="Arial"/>
              </a:rPr>
              <a:t> </a:t>
            </a:r>
            <a:r>
              <a:rPr sz="500" spc="-15">
                <a:solidFill>
                  <a:srgbClr val="231F20"/>
                </a:solidFill>
                <a:latin typeface="Arial"/>
                <a:cs typeface="Arial"/>
              </a:rPr>
              <a:t>E</a:t>
            </a:r>
            <a:r>
              <a:rPr sz="500" spc="30">
                <a:solidFill>
                  <a:srgbClr val="231F20"/>
                </a:solidFill>
                <a:latin typeface="Arial"/>
                <a:cs typeface="Arial"/>
              </a:rPr>
              <a:t> </a:t>
            </a:r>
            <a:r>
              <a:rPr sz="500" spc="5">
                <a:solidFill>
                  <a:srgbClr val="231F20"/>
                </a:solidFill>
                <a:latin typeface="Arial"/>
                <a:cs typeface="Arial"/>
              </a:rPr>
              <a:t>S</a:t>
            </a:r>
            <a:r>
              <a:rPr sz="500" spc="35">
                <a:solidFill>
                  <a:srgbClr val="231F20"/>
                </a:solidFill>
                <a:latin typeface="Arial"/>
                <a:cs typeface="Arial"/>
              </a:rPr>
              <a:t> </a:t>
            </a:r>
            <a:r>
              <a:rPr sz="500" spc="5">
                <a:solidFill>
                  <a:srgbClr val="231F20"/>
                </a:solidFill>
                <a:latin typeface="Arial"/>
                <a:cs typeface="Arial"/>
              </a:rPr>
              <a:t>S</a:t>
            </a:r>
            <a:endParaRPr sz="500">
              <a:latin typeface="Arial"/>
              <a:cs typeface="Arial"/>
            </a:endParaRPr>
          </a:p>
        </p:txBody>
      </p:sp>
      <p:sp>
        <p:nvSpPr>
          <p:cNvPr id="14" name="object 14"/>
          <p:cNvSpPr txBox="1"/>
          <p:nvPr/>
        </p:nvSpPr>
        <p:spPr>
          <a:xfrm>
            <a:off x="3708906" y="3344562"/>
            <a:ext cx="300990" cy="101600"/>
          </a:xfrm>
          <a:prstGeom prst="rect">
            <a:avLst/>
          </a:prstGeom>
        </p:spPr>
        <p:txBody>
          <a:bodyPr vert="horz" wrap="square" lIns="0" tIns="0" rIns="0" bIns="0" rtlCol="0">
            <a:spAutoFit/>
          </a:bodyPr>
          <a:lstStyle/>
          <a:p>
            <a:pPr marL="12700">
              <a:lnSpc>
                <a:spcPts val="685"/>
              </a:lnSpc>
            </a:pPr>
            <a:r>
              <a:rPr sz="600" spc="-35">
                <a:latin typeface="Arial"/>
                <a:cs typeface="Arial"/>
              </a:rPr>
              <a:t>P</a:t>
            </a:r>
            <a:r>
              <a:rPr sz="600" spc="-5">
                <a:latin typeface="Arial"/>
                <a:cs typeface="Arial"/>
              </a:rPr>
              <a:t>age</a:t>
            </a:r>
            <a:r>
              <a:rPr sz="600" spc="-10">
                <a:latin typeface="Arial"/>
                <a:cs typeface="Arial"/>
              </a:rPr>
              <a:t> </a:t>
            </a:r>
            <a:fld id="{81D60167-4931-47E6-BA6A-407CBD079E47}" type="slidenum">
              <a:rPr sz="600" spc="-5" dirty="0">
                <a:latin typeface="Arial"/>
                <a:cs typeface="Arial"/>
              </a:rPr>
              <a:t>1</a:t>
            </a:fld>
            <a:endParaRPr sz="600">
              <a:latin typeface="Arial"/>
              <a:cs typeface="Arial"/>
            </a:endParaRPr>
          </a:p>
        </p:txBody>
      </p:sp>
      <p:sp>
        <p:nvSpPr>
          <p:cNvPr id="9" name="TextBox 8">
            <a:extLst>
              <a:ext uri="{FF2B5EF4-FFF2-40B4-BE49-F238E27FC236}">
                <a16:creationId xmlns:a16="http://schemas.microsoft.com/office/drawing/2014/main" id="{833DE640-4373-E05F-2E68-73D434B5B221}"/>
              </a:ext>
            </a:extLst>
          </p:cNvPr>
          <p:cNvSpPr txBox="1"/>
          <p:nvPr/>
        </p:nvSpPr>
        <p:spPr>
          <a:xfrm>
            <a:off x="778104" y="1528371"/>
            <a:ext cx="3124189" cy="923330"/>
          </a:xfrm>
          <a:prstGeom prst="rect">
            <a:avLst/>
          </a:prstGeom>
          <a:noFill/>
        </p:spPr>
        <p:txBody>
          <a:bodyPr wrap="none" rtlCol="0">
            <a:spAutoFit/>
          </a:bodyPr>
          <a:lstStyle/>
          <a:p>
            <a:pPr algn="ctr"/>
            <a:r>
              <a:rPr lang="en-US"/>
              <a:t>Professor Burnes</a:t>
            </a:r>
          </a:p>
          <a:p>
            <a:pPr algn="ctr"/>
            <a:r>
              <a:rPr lang="en-US" b="1"/>
              <a:t>Leeds School of Business</a:t>
            </a:r>
          </a:p>
          <a:p>
            <a:pPr algn="ctr"/>
            <a:r>
              <a:rPr lang="en-US" b="1"/>
              <a:t>University of Colorado Boulder</a:t>
            </a: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94B00-8930-F5CD-C5AF-93431B67A98A}"/>
              </a:ext>
            </a:extLst>
          </p:cNvPr>
          <p:cNvSpPr>
            <a:spLocks noGrp="1"/>
          </p:cNvSpPr>
          <p:nvPr>
            <p:ph type="title"/>
          </p:nvPr>
        </p:nvSpPr>
        <p:spPr>
          <a:xfrm>
            <a:off x="628650" y="1120775"/>
            <a:ext cx="3153410" cy="430887"/>
          </a:xfrm>
        </p:spPr>
        <p:txBody>
          <a:bodyPr/>
          <a:lstStyle/>
          <a:p>
            <a:r>
              <a:rPr lang="en-US" dirty="0"/>
              <a:t>Securities Law, Venture Financing &amp; Governance</a:t>
            </a:r>
          </a:p>
        </p:txBody>
      </p:sp>
      <p:sp>
        <p:nvSpPr>
          <p:cNvPr id="4" name="Slide Number Placeholder 3">
            <a:extLst>
              <a:ext uri="{FF2B5EF4-FFF2-40B4-BE49-F238E27FC236}">
                <a16:creationId xmlns:a16="http://schemas.microsoft.com/office/drawing/2014/main" id="{97E79CDA-6533-DEC7-B0AD-A90938AB94BD}"/>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2</a:t>
            </a:fld>
            <a:endParaRPr spc="-5" dirty="0"/>
          </a:p>
        </p:txBody>
      </p:sp>
    </p:spTree>
    <p:extLst>
      <p:ext uri="{BB962C8B-B14F-4D97-AF65-F5344CB8AC3E}">
        <p14:creationId xmlns:p14="http://schemas.microsoft.com/office/powerpoint/2010/main" val="2331828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C5005-850D-F479-EA17-42A606E85BE3}"/>
              </a:ext>
            </a:extLst>
          </p:cNvPr>
          <p:cNvSpPr>
            <a:spLocks noGrp="1"/>
          </p:cNvSpPr>
          <p:nvPr>
            <p:ph type="title"/>
          </p:nvPr>
        </p:nvSpPr>
        <p:spPr>
          <a:xfrm>
            <a:off x="726439" y="190295"/>
            <a:ext cx="3153410" cy="215444"/>
          </a:xfrm>
        </p:spPr>
        <p:txBody>
          <a:bodyPr/>
          <a:lstStyle/>
          <a:p>
            <a:r>
              <a:rPr lang="en-US" dirty="0"/>
              <a:t>Key Topics Today</a:t>
            </a:r>
          </a:p>
        </p:txBody>
      </p:sp>
      <p:sp>
        <p:nvSpPr>
          <p:cNvPr id="3" name="Text Placeholder 2">
            <a:extLst>
              <a:ext uri="{FF2B5EF4-FFF2-40B4-BE49-F238E27FC236}">
                <a16:creationId xmlns:a16="http://schemas.microsoft.com/office/drawing/2014/main" id="{228A1242-C8F3-5438-C9D3-C61B9FBA2AE1}"/>
              </a:ext>
            </a:extLst>
          </p:cNvPr>
          <p:cNvSpPr>
            <a:spLocks noGrp="1"/>
          </p:cNvSpPr>
          <p:nvPr>
            <p:ph type="body" idx="1"/>
          </p:nvPr>
        </p:nvSpPr>
        <p:spPr>
          <a:xfrm>
            <a:off x="126238" y="572274"/>
            <a:ext cx="4357623" cy="1354217"/>
          </a:xfrm>
        </p:spPr>
        <p:txBody>
          <a:bodyPr/>
          <a:lstStyle/>
          <a:p>
            <a:r>
              <a:rPr lang="en-US" dirty="0"/>
              <a:t>What is the SEC</a:t>
            </a:r>
          </a:p>
          <a:p>
            <a:r>
              <a:rPr lang="en-US" dirty="0"/>
              <a:t>What is a Security</a:t>
            </a:r>
          </a:p>
          <a:p>
            <a:r>
              <a:rPr lang="en-US" dirty="0"/>
              <a:t>Overview of Rules</a:t>
            </a:r>
          </a:p>
          <a:p>
            <a:r>
              <a:rPr lang="en-US" dirty="0"/>
              <a:t>Governance</a:t>
            </a:r>
          </a:p>
          <a:p>
            <a:r>
              <a:rPr lang="en-US" dirty="0"/>
              <a:t>Conflicts of Interest</a:t>
            </a:r>
          </a:p>
          <a:p>
            <a:r>
              <a:rPr lang="en-US" dirty="0"/>
              <a:t>Org Charts</a:t>
            </a:r>
          </a:p>
          <a:p>
            <a:r>
              <a:rPr lang="en-US" dirty="0"/>
              <a:t>Board of Directors</a:t>
            </a:r>
          </a:p>
          <a:p>
            <a:r>
              <a:rPr lang="en-US" dirty="0"/>
              <a:t>Bylaws</a:t>
            </a:r>
          </a:p>
        </p:txBody>
      </p:sp>
      <p:sp>
        <p:nvSpPr>
          <p:cNvPr id="4" name="Slide Number Placeholder 3">
            <a:extLst>
              <a:ext uri="{FF2B5EF4-FFF2-40B4-BE49-F238E27FC236}">
                <a16:creationId xmlns:a16="http://schemas.microsoft.com/office/drawing/2014/main" id="{D122A3D2-5C5F-3C9D-D2C0-4F08625E801A}"/>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3</a:t>
            </a:fld>
            <a:endParaRPr spc="-5" dirty="0"/>
          </a:p>
        </p:txBody>
      </p:sp>
    </p:spTree>
    <p:extLst>
      <p:ext uri="{BB962C8B-B14F-4D97-AF65-F5344CB8AC3E}">
        <p14:creationId xmlns:p14="http://schemas.microsoft.com/office/powerpoint/2010/main" val="1571522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EFBA-E071-6216-C6C2-4201DCE752A1}"/>
              </a:ext>
            </a:extLst>
          </p:cNvPr>
          <p:cNvSpPr>
            <a:spLocks noGrp="1"/>
          </p:cNvSpPr>
          <p:nvPr>
            <p:ph type="title"/>
          </p:nvPr>
        </p:nvSpPr>
        <p:spPr>
          <a:xfrm>
            <a:off x="726439" y="190295"/>
            <a:ext cx="3153410" cy="215444"/>
          </a:xfrm>
        </p:spPr>
        <p:txBody>
          <a:bodyPr/>
          <a:lstStyle/>
          <a:p>
            <a:r>
              <a:rPr lang="en-US" dirty="0"/>
              <a:t>When it comes to Accounting</a:t>
            </a:r>
          </a:p>
        </p:txBody>
      </p:sp>
      <p:sp>
        <p:nvSpPr>
          <p:cNvPr id="3" name="Text Placeholder 2">
            <a:extLst>
              <a:ext uri="{FF2B5EF4-FFF2-40B4-BE49-F238E27FC236}">
                <a16:creationId xmlns:a16="http://schemas.microsoft.com/office/drawing/2014/main" id="{B826CC7F-039E-1D54-2ED0-EAFFD7AAA643}"/>
              </a:ext>
            </a:extLst>
          </p:cNvPr>
          <p:cNvSpPr>
            <a:spLocks noGrp="1"/>
          </p:cNvSpPr>
          <p:nvPr>
            <p:ph type="body" idx="1"/>
          </p:nvPr>
        </p:nvSpPr>
        <p:spPr>
          <a:xfrm>
            <a:off x="126238" y="572274"/>
            <a:ext cx="4357623" cy="338554"/>
          </a:xfrm>
        </p:spPr>
        <p:txBody>
          <a:bodyPr/>
          <a:lstStyle/>
          <a:p>
            <a:r>
              <a:rPr lang="en-US" b="1" dirty="0"/>
              <a:t>HIRE </a:t>
            </a:r>
            <a:r>
              <a:rPr lang="en-US" dirty="0"/>
              <a:t>an accountant who understands BUSINESS, START UPS, REPORTING</a:t>
            </a:r>
            <a:endParaRPr lang="en-US" b="1" dirty="0"/>
          </a:p>
        </p:txBody>
      </p:sp>
      <p:sp>
        <p:nvSpPr>
          <p:cNvPr id="4" name="Slide Number Placeholder 3">
            <a:extLst>
              <a:ext uri="{FF2B5EF4-FFF2-40B4-BE49-F238E27FC236}">
                <a16:creationId xmlns:a16="http://schemas.microsoft.com/office/drawing/2014/main" id="{0C7A3768-748A-2A11-8727-D31CBFAD0371}"/>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4</a:t>
            </a:fld>
            <a:endParaRPr spc="-5" dirty="0"/>
          </a:p>
        </p:txBody>
      </p:sp>
    </p:spTree>
    <p:extLst>
      <p:ext uri="{BB962C8B-B14F-4D97-AF65-F5344CB8AC3E}">
        <p14:creationId xmlns:p14="http://schemas.microsoft.com/office/powerpoint/2010/main" val="2700939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16829-59C6-D256-45EE-2A6E1962F8B7}"/>
              </a:ext>
            </a:extLst>
          </p:cNvPr>
          <p:cNvSpPr>
            <a:spLocks noGrp="1"/>
          </p:cNvSpPr>
          <p:nvPr>
            <p:ph type="title"/>
          </p:nvPr>
        </p:nvSpPr>
        <p:spPr>
          <a:xfrm>
            <a:off x="726439" y="190295"/>
            <a:ext cx="3153410" cy="215444"/>
          </a:xfrm>
        </p:spPr>
        <p:txBody>
          <a:bodyPr/>
          <a:lstStyle/>
          <a:p>
            <a:r>
              <a:rPr lang="en-US" dirty="0"/>
              <a:t>When it Comes to LAW</a:t>
            </a:r>
          </a:p>
        </p:txBody>
      </p:sp>
      <p:sp>
        <p:nvSpPr>
          <p:cNvPr id="3" name="Text Placeholder 2">
            <a:extLst>
              <a:ext uri="{FF2B5EF4-FFF2-40B4-BE49-F238E27FC236}">
                <a16:creationId xmlns:a16="http://schemas.microsoft.com/office/drawing/2014/main" id="{84EA82E6-E9A1-516C-B6E8-AAB3F7937DE9}"/>
              </a:ext>
            </a:extLst>
          </p:cNvPr>
          <p:cNvSpPr>
            <a:spLocks noGrp="1"/>
          </p:cNvSpPr>
          <p:nvPr>
            <p:ph type="body" idx="1"/>
          </p:nvPr>
        </p:nvSpPr>
        <p:spPr>
          <a:xfrm>
            <a:off x="126238" y="572274"/>
            <a:ext cx="4357623" cy="338554"/>
          </a:xfrm>
        </p:spPr>
        <p:txBody>
          <a:bodyPr/>
          <a:lstStyle/>
          <a:p>
            <a:r>
              <a:rPr lang="en-US" dirty="0"/>
              <a:t>Practice area MATTERS</a:t>
            </a:r>
          </a:p>
          <a:p>
            <a:r>
              <a:rPr lang="en-US" dirty="0"/>
              <a:t>You need Securities Law</a:t>
            </a:r>
          </a:p>
        </p:txBody>
      </p:sp>
      <p:sp>
        <p:nvSpPr>
          <p:cNvPr id="4" name="Slide Number Placeholder 3">
            <a:extLst>
              <a:ext uri="{FF2B5EF4-FFF2-40B4-BE49-F238E27FC236}">
                <a16:creationId xmlns:a16="http://schemas.microsoft.com/office/drawing/2014/main" id="{91AF4067-CC2F-D5FF-D19A-FD7AC650C862}"/>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5</a:t>
            </a:fld>
            <a:endParaRPr spc="-5" dirty="0"/>
          </a:p>
        </p:txBody>
      </p:sp>
    </p:spTree>
    <p:extLst>
      <p:ext uri="{BB962C8B-B14F-4D97-AF65-F5344CB8AC3E}">
        <p14:creationId xmlns:p14="http://schemas.microsoft.com/office/powerpoint/2010/main" val="2243079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3C97B-9AF7-9794-98A5-81CFA41A7D9B}"/>
              </a:ext>
            </a:extLst>
          </p:cNvPr>
          <p:cNvSpPr>
            <a:spLocks noGrp="1"/>
          </p:cNvSpPr>
          <p:nvPr>
            <p:ph type="title"/>
          </p:nvPr>
        </p:nvSpPr>
        <p:spPr>
          <a:xfrm>
            <a:off x="126238" y="190295"/>
            <a:ext cx="3753611" cy="430887"/>
          </a:xfrm>
        </p:spPr>
        <p:txBody>
          <a:bodyPr/>
          <a:lstStyle/>
          <a:p>
            <a:r>
              <a:rPr lang="en-US" dirty="0"/>
              <a:t>Does the SEC regulate private companies?</a:t>
            </a:r>
          </a:p>
        </p:txBody>
      </p:sp>
      <p:sp>
        <p:nvSpPr>
          <p:cNvPr id="3" name="Text Placeholder 2">
            <a:extLst>
              <a:ext uri="{FF2B5EF4-FFF2-40B4-BE49-F238E27FC236}">
                <a16:creationId xmlns:a16="http://schemas.microsoft.com/office/drawing/2014/main" id="{3F3E0A82-1394-63B1-CB78-18989EA964CA}"/>
              </a:ext>
            </a:extLst>
          </p:cNvPr>
          <p:cNvSpPr>
            <a:spLocks noGrp="1"/>
          </p:cNvSpPr>
          <p:nvPr>
            <p:ph type="body" idx="1"/>
          </p:nvPr>
        </p:nvSpPr>
        <p:spPr>
          <a:xfrm>
            <a:off x="138564" y="815975"/>
            <a:ext cx="4357623" cy="2031325"/>
          </a:xfrm>
        </p:spPr>
        <p:txBody>
          <a:bodyPr/>
          <a:lstStyle/>
          <a:p>
            <a:pPr marL="0" indent="0">
              <a:buNone/>
            </a:pPr>
            <a:r>
              <a:rPr lang="en-US" i="1" dirty="0"/>
              <a:t>“A business can raise capital in a number of different ways, including by selling investment instruments called </a:t>
            </a:r>
            <a:r>
              <a:rPr lang="en-US" b="1" i="1" dirty="0"/>
              <a:t>securities</a:t>
            </a:r>
            <a:r>
              <a:rPr lang="en-US" i="1" dirty="0"/>
              <a:t>. The SEC regulates the offer and sale of all securities, including those offered and sold by private companies.  Under the federal securities laws, every offer and sale of securities, </a:t>
            </a:r>
            <a:r>
              <a:rPr lang="en-US" b="1" i="1" dirty="0"/>
              <a:t>even if to just one person</a:t>
            </a:r>
            <a:r>
              <a:rPr lang="en-US" i="1" dirty="0"/>
              <a:t> must be either registered with the SEC or conducted under an exemption from registration.  This is true for companies of all sizes, private and public alike, and includes sales made to anyone, including friends, family, angel investors, and venture capital funds. </a:t>
            </a:r>
          </a:p>
          <a:p>
            <a:pPr marL="0" indent="0">
              <a:buNone/>
            </a:pPr>
            <a:endParaRPr lang="en-US" i="1" dirty="0"/>
          </a:p>
          <a:p>
            <a:pPr marL="0" indent="0">
              <a:buNone/>
            </a:pPr>
            <a:r>
              <a:rPr lang="en-US" dirty="0"/>
              <a:t>Source: </a:t>
            </a:r>
            <a:r>
              <a:rPr lang="en-US" dirty="0" err="1"/>
              <a:t>sec.gov</a:t>
            </a:r>
            <a:endParaRPr lang="en-US" dirty="0"/>
          </a:p>
          <a:p>
            <a:pPr marL="0" indent="0">
              <a:buNone/>
            </a:pPr>
            <a:r>
              <a:rPr lang="en-US" dirty="0">
                <a:hlinkClick r:id="rId2"/>
              </a:rPr>
              <a:t>Private Companies and SEC</a:t>
            </a:r>
            <a:endParaRPr lang="en-US" dirty="0"/>
          </a:p>
        </p:txBody>
      </p:sp>
      <p:sp>
        <p:nvSpPr>
          <p:cNvPr id="4" name="Slide Number Placeholder 3">
            <a:extLst>
              <a:ext uri="{FF2B5EF4-FFF2-40B4-BE49-F238E27FC236}">
                <a16:creationId xmlns:a16="http://schemas.microsoft.com/office/drawing/2014/main" id="{C9F6EA07-0FB4-1D73-F928-3B0C1460CEDC}"/>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6</a:t>
            </a:fld>
            <a:endParaRPr spc="-5" dirty="0"/>
          </a:p>
        </p:txBody>
      </p:sp>
    </p:spTree>
    <p:extLst>
      <p:ext uri="{BB962C8B-B14F-4D97-AF65-F5344CB8AC3E}">
        <p14:creationId xmlns:p14="http://schemas.microsoft.com/office/powerpoint/2010/main" val="1367852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F0FF8-7166-E673-C4E8-8F92390F81F8}"/>
              </a:ext>
            </a:extLst>
          </p:cNvPr>
          <p:cNvSpPr>
            <a:spLocks noGrp="1"/>
          </p:cNvSpPr>
          <p:nvPr>
            <p:ph type="title"/>
          </p:nvPr>
        </p:nvSpPr>
        <p:spPr>
          <a:xfrm>
            <a:off x="726439" y="190295"/>
            <a:ext cx="3153410" cy="430887"/>
          </a:xfrm>
        </p:spPr>
        <p:txBody>
          <a:bodyPr/>
          <a:lstStyle/>
          <a:p>
            <a:r>
              <a:rPr lang="en-US" dirty="0"/>
              <a:t>Which of the following is an example of a security?</a:t>
            </a:r>
          </a:p>
        </p:txBody>
      </p:sp>
      <p:sp>
        <p:nvSpPr>
          <p:cNvPr id="3" name="Text Placeholder 2">
            <a:extLst>
              <a:ext uri="{FF2B5EF4-FFF2-40B4-BE49-F238E27FC236}">
                <a16:creationId xmlns:a16="http://schemas.microsoft.com/office/drawing/2014/main" id="{F94EFD22-8379-B0CC-E7E3-7F8F55CEF002}"/>
              </a:ext>
            </a:extLst>
          </p:cNvPr>
          <p:cNvSpPr>
            <a:spLocks noGrp="1"/>
          </p:cNvSpPr>
          <p:nvPr>
            <p:ph type="body" idx="1"/>
          </p:nvPr>
        </p:nvSpPr>
        <p:spPr>
          <a:xfrm>
            <a:off x="124333" y="815975"/>
            <a:ext cx="2028318" cy="1862048"/>
          </a:xfrm>
        </p:spPr>
        <p:txBody>
          <a:bodyPr/>
          <a:lstStyle/>
          <a:p>
            <a:pPr marL="0" indent="0">
              <a:buNone/>
            </a:pPr>
            <a:r>
              <a:rPr lang="en-US" dirty="0"/>
              <a:t>Stock</a:t>
            </a:r>
          </a:p>
          <a:p>
            <a:pPr marL="0" indent="0">
              <a:buNone/>
            </a:pPr>
            <a:endParaRPr lang="en-US" dirty="0"/>
          </a:p>
          <a:p>
            <a:pPr marL="0" indent="0">
              <a:buNone/>
            </a:pPr>
            <a:r>
              <a:rPr lang="en-US" dirty="0"/>
              <a:t>Membership Interest</a:t>
            </a:r>
          </a:p>
          <a:p>
            <a:pPr marL="0" indent="0">
              <a:buNone/>
            </a:pPr>
            <a:endParaRPr lang="en-US" dirty="0"/>
          </a:p>
          <a:p>
            <a:pPr marL="0" indent="0">
              <a:buNone/>
            </a:pPr>
            <a:r>
              <a:rPr lang="en-US" dirty="0"/>
              <a:t>Stock Option</a:t>
            </a:r>
          </a:p>
          <a:p>
            <a:pPr marL="0" indent="0">
              <a:buNone/>
            </a:pPr>
            <a:endParaRPr lang="en-US" dirty="0"/>
          </a:p>
          <a:p>
            <a:pPr marL="0" indent="0">
              <a:buNone/>
            </a:pPr>
            <a:r>
              <a:rPr lang="en-US" dirty="0"/>
              <a:t>Restricted Stock</a:t>
            </a:r>
          </a:p>
          <a:p>
            <a:pPr marL="0" indent="0">
              <a:buNone/>
            </a:pPr>
            <a:endParaRPr lang="en-US" dirty="0"/>
          </a:p>
          <a:p>
            <a:pPr marL="0" indent="0">
              <a:buNone/>
            </a:pPr>
            <a:r>
              <a:rPr lang="en-US" dirty="0"/>
              <a:t>Convertible Instruments</a:t>
            </a:r>
          </a:p>
          <a:p>
            <a:pPr marL="0" indent="0">
              <a:buNone/>
            </a:pPr>
            <a:endParaRPr lang="en-US" dirty="0"/>
          </a:p>
          <a:p>
            <a:pPr marL="0" indent="0">
              <a:buNone/>
            </a:pPr>
            <a:r>
              <a:rPr lang="en-US" dirty="0"/>
              <a:t>Debt</a:t>
            </a:r>
          </a:p>
        </p:txBody>
      </p:sp>
      <p:sp>
        <p:nvSpPr>
          <p:cNvPr id="4" name="Slide Number Placeholder 3">
            <a:extLst>
              <a:ext uri="{FF2B5EF4-FFF2-40B4-BE49-F238E27FC236}">
                <a16:creationId xmlns:a16="http://schemas.microsoft.com/office/drawing/2014/main" id="{6207222C-30C6-73E1-F14E-53872F66165D}"/>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7</a:t>
            </a:fld>
            <a:endParaRPr spc="-5" dirty="0"/>
          </a:p>
        </p:txBody>
      </p:sp>
      <p:sp>
        <p:nvSpPr>
          <p:cNvPr id="5" name="TextBox 4">
            <a:extLst>
              <a:ext uri="{FF2B5EF4-FFF2-40B4-BE49-F238E27FC236}">
                <a16:creationId xmlns:a16="http://schemas.microsoft.com/office/drawing/2014/main" id="{E5CB75DE-DD20-B269-FA0A-EEB2EEE8BABF}"/>
              </a:ext>
            </a:extLst>
          </p:cNvPr>
          <p:cNvSpPr txBox="1"/>
          <p:nvPr/>
        </p:nvSpPr>
        <p:spPr>
          <a:xfrm rot="19690160">
            <a:off x="2677386" y="1712632"/>
            <a:ext cx="1239442" cy="369332"/>
          </a:xfrm>
          <a:prstGeom prst="rect">
            <a:avLst/>
          </a:prstGeom>
          <a:noFill/>
        </p:spPr>
        <p:txBody>
          <a:bodyPr wrap="none" rtlCol="0">
            <a:spAutoFit/>
          </a:bodyPr>
          <a:lstStyle/>
          <a:p>
            <a:r>
              <a:rPr lang="en-US" b="1" i="1" dirty="0">
                <a:solidFill>
                  <a:srgbClr val="C00000"/>
                </a:solidFill>
              </a:rPr>
              <a:t>All of them</a:t>
            </a:r>
          </a:p>
        </p:txBody>
      </p:sp>
    </p:spTree>
    <p:extLst>
      <p:ext uri="{BB962C8B-B14F-4D97-AF65-F5344CB8AC3E}">
        <p14:creationId xmlns:p14="http://schemas.microsoft.com/office/powerpoint/2010/main" val="2647141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DDB34-E941-2C99-AF68-716A0650AB9C}"/>
              </a:ext>
            </a:extLst>
          </p:cNvPr>
          <p:cNvSpPr>
            <a:spLocks noGrp="1"/>
          </p:cNvSpPr>
          <p:nvPr>
            <p:ph type="title"/>
          </p:nvPr>
        </p:nvSpPr>
        <p:spPr>
          <a:xfrm>
            <a:off x="726439" y="190295"/>
            <a:ext cx="3153410" cy="430887"/>
          </a:xfrm>
        </p:spPr>
        <p:txBody>
          <a:bodyPr/>
          <a:lstStyle/>
          <a:p>
            <a:r>
              <a:rPr lang="en-US" dirty="0"/>
              <a:t>Which of the following is an example of engaging in an offer of securities?</a:t>
            </a:r>
          </a:p>
        </p:txBody>
      </p:sp>
      <p:sp>
        <p:nvSpPr>
          <p:cNvPr id="3" name="Text Placeholder 2">
            <a:extLst>
              <a:ext uri="{FF2B5EF4-FFF2-40B4-BE49-F238E27FC236}">
                <a16:creationId xmlns:a16="http://schemas.microsoft.com/office/drawing/2014/main" id="{C184AC64-2FA6-2C3F-1D15-C3F76DBD584F}"/>
              </a:ext>
            </a:extLst>
          </p:cNvPr>
          <p:cNvSpPr>
            <a:spLocks noGrp="1"/>
          </p:cNvSpPr>
          <p:nvPr>
            <p:ph type="body" idx="1"/>
          </p:nvPr>
        </p:nvSpPr>
        <p:spPr>
          <a:xfrm>
            <a:off x="124332" y="815975"/>
            <a:ext cx="4357623" cy="169277"/>
          </a:xfrm>
        </p:spPr>
        <p:txBody>
          <a:bodyPr/>
          <a:lstStyle/>
          <a:p>
            <a:pPr marL="0" indent="0">
              <a:buNone/>
            </a:pPr>
            <a:r>
              <a:rPr lang="en-US" b="1" i="1" dirty="0"/>
              <a:t>Calling a friend to discuss your company’s fundraising</a:t>
            </a:r>
          </a:p>
        </p:txBody>
      </p:sp>
      <p:sp>
        <p:nvSpPr>
          <p:cNvPr id="4" name="Slide Number Placeholder 3">
            <a:extLst>
              <a:ext uri="{FF2B5EF4-FFF2-40B4-BE49-F238E27FC236}">
                <a16:creationId xmlns:a16="http://schemas.microsoft.com/office/drawing/2014/main" id="{FDD1DE4E-940B-7B07-F8C1-99E83547CA20}"/>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8</a:t>
            </a:fld>
            <a:endParaRPr spc="-5" dirty="0"/>
          </a:p>
        </p:txBody>
      </p:sp>
      <p:sp>
        <p:nvSpPr>
          <p:cNvPr id="5" name="Text Placeholder 2">
            <a:extLst>
              <a:ext uri="{FF2B5EF4-FFF2-40B4-BE49-F238E27FC236}">
                <a16:creationId xmlns:a16="http://schemas.microsoft.com/office/drawing/2014/main" id="{F4FC9425-1DB8-977E-66C5-948AB8696E51}"/>
              </a:ext>
            </a:extLst>
          </p:cNvPr>
          <p:cNvSpPr txBox="1">
            <a:spLocks/>
          </p:cNvSpPr>
          <p:nvPr/>
        </p:nvSpPr>
        <p:spPr>
          <a:xfrm>
            <a:off x="552451" y="1273175"/>
            <a:ext cx="3810000" cy="338554"/>
          </a:xfrm>
          <a:prstGeom prst="rect">
            <a:avLst/>
          </a:prstGeom>
        </p:spPr>
        <p:txBody>
          <a:bodyPr wrap="square" lIns="0" tIns="0" rIns="0" bIns="0">
            <a:spAutoFit/>
          </a:bodyPr>
          <a:lstStyle>
            <a:lvl1pPr marL="171450" indent="-171450">
              <a:buFont typeface="Arial" panose="020B0604020202020204" pitchFamily="34" charset="0"/>
              <a:buChar char="•"/>
              <a:defRPr sz="1100" b="0" i="0">
                <a:solidFill>
                  <a:schemeClr val="tx1"/>
                </a:solidFill>
                <a:latin typeface="Arial"/>
                <a:ea typeface="+mn-ea"/>
                <a:cs typeface="Arial"/>
              </a:defRPr>
            </a:lvl1pPr>
            <a:lvl2pPr marL="742950" indent="-285750">
              <a:buFont typeface="Arial" panose="020B0604020202020204" pitchFamily="34" charset="0"/>
              <a:buChar char="•"/>
              <a:defRPr sz="1100">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Font typeface="Arial" panose="020B0604020202020204" pitchFamily="34" charset="0"/>
              <a:buNone/>
            </a:pPr>
            <a:r>
              <a:rPr lang="en-US" b="1" i="1" kern="0" dirty="0"/>
              <a:t>A Social Media post about your company and specific </a:t>
            </a:r>
          </a:p>
          <a:p>
            <a:pPr marL="0" indent="0">
              <a:buFont typeface="Arial" panose="020B0604020202020204" pitchFamily="34" charset="0"/>
              <a:buNone/>
            </a:pPr>
            <a:r>
              <a:rPr lang="en-US" b="1" i="1" kern="0" dirty="0"/>
              <a:t>Investment Opportunities</a:t>
            </a:r>
          </a:p>
        </p:txBody>
      </p:sp>
      <p:sp>
        <p:nvSpPr>
          <p:cNvPr id="6" name="Text Placeholder 2">
            <a:extLst>
              <a:ext uri="{FF2B5EF4-FFF2-40B4-BE49-F238E27FC236}">
                <a16:creationId xmlns:a16="http://schemas.microsoft.com/office/drawing/2014/main" id="{3604CE77-C351-B8EC-FF0B-6CCBC20AE447}"/>
              </a:ext>
            </a:extLst>
          </p:cNvPr>
          <p:cNvSpPr txBox="1">
            <a:spLocks/>
          </p:cNvSpPr>
          <p:nvPr/>
        </p:nvSpPr>
        <p:spPr>
          <a:xfrm>
            <a:off x="124332" y="2179390"/>
            <a:ext cx="4357623" cy="338554"/>
          </a:xfrm>
          <a:prstGeom prst="rect">
            <a:avLst/>
          </a:prstGeom>
        </p:spPr>
        <p:txBody>
          <a:bodyPr wrap="square" lIns="0" tIns="0" rIns="0" bIns="0">
            <a:spAutoFit/>
          </a:bodyPr>
          <a:lstStyle>
            <a:lvl1pPr marL="171450" indent="-171450">
              <a:buFont typeface="Arial" panose="020B0604020202020204" pitchFamily="34" charset="0"/>
              <a:buChar char="•"/>
              <a:defRPr sz="1100" b="0" i="0">
                <a:solidFill>
                  <a:schemeClr val="tx1"/>
                </a:solidFill>
                <a:latin typeface="Arial"/>
                <a:ea typeface="+mn-ea"/>
                <a:cs typeface="Arial"/>
              </a:defRPr>
            </a:lvl1pPr>
            <a:lvl2pPr marL="742950" indent="-285750">
              <a:buFont typeface="Arial" panose="020B0604020202020204" pitchFamily="34" charset="0"/>
              <a:buChar char="•"/>
              <a:defRPr sz="1100">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Font typeface="Arial" panose="020B0604020202020204" pitchFamily="34" charset="0"/>
              <a:buNone/>
            </a:pPr>
            <a:r>
              <a:rPr lang="en-US" b="1" i="1" kern="0" dirty="0"/>
              <a:t>CEO makes statements about a FUTURE capital raise during an INTERVIEW about the company</a:t>
            </a:r>
          </a:p>
        </p:txBody>
      </p:sp>
      <p:sp>
        <p:nvSpPr>
          <p:cNvPr id="7" name="TextBox 6">
            <a:extLst>
              <a:ext uri="{FF2B5EF4-FFF2-40B4-BE49-F238E27FC236}">
                <a16:creationId xmlns:a16="http://schemas.microsoft.com/office/drawing/2014/main" id="{0EC9CD3E-451E-CBE3-EA4C-096FFCE8AB6F}"/>
              </a:ext>
            </a:extLst>
          </p:cNvPr>
          <p:cNvSpPr txBox="1"/>
          <p:nvPr/>
        </p:nvSpPr>
        <p:spPr>
          <a:xfrm rot="19690160">
            <a:off x="2461647" y="2701130"/>
            <a:ext cx="1239442" cy="369332"/>
          </a:xfrm>
          <a:prstGeom prst="rect">
            <a:avLst/>
          </a:prstGeom>
          <a:noFill/>
        </p:spPr>
        <p:txBody>
          <a:bodyPr wrap="none" rtlCol="0">
            <a:spAutoFit/>
          </a:bodyPr>
          <a:lstStyle/>
          <a:p>
            <a:r>
              <a:rPr lang="en-US" b="1" i="1" dirty="0">
                <a:solidFill>
                  <a:srgbClr val="C00000"/>
                </a:solidFill>
              </a:rPr>
              <a:t>All of them</a:t>
            </a:r>
          </a:p>
        </p:txBody>
      </p:sp>
    </p:spTree>
    <p:extLst>
      <p:ext uri="{BB962C8B-B14F-4D97-AF65-F5344CB8AC3E}">
        <p14:creationId xmlns:p14="http://schemas.microsoft.com/office/powerpoint/2010/main" val="321434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E8A10-DDD7-E7FF-54D4-E9EC0E06A894}"/>
              </a:ext>
            </a:extLst>
          </p:cNvPr>
          <p:cNvSpPr>
            <a:spLocks noGrp="1"/>
          </p:cNvSpPr>
          <p:nvPr>
            <p:ph type="title"/>
          </p:nvPr>
        </p:nvSpPr>
        <p:spPr>
          <a:xfrm>
            <a:off x="726439" y="190295"/>
            <a:ext cx="3153410" cy="215444"/>
          </a:xfrm>
        </p:spPr>
        <p:txBody>
          <a:bodyPr/>
          <a:lstStyle/>
          <a:p>
            <a:r>
              <a:rPr lang="en-US" dirty="0"/>
              <a:t>Securities Act of 1933</a:t>
            </a:r>
          </a:p>
        </p:txBody>
      </p:sp>
      <p:sp>
        <p:nvSpPr>
          <p:cNvPr id="3" name="Text Placeholder 2">
            <a:extLst>
              <a:ext uri="{FF2B5EF4-FFF2-40B4-BE49-F238E27FC236}">
                <a16:creationId xmlns:a16="http://schemas.microsoft.com/office/drawing/2014/main" id="{2C98C169-7634-1983-D077-47EE5127AD6E}"/>
              </a:ext>
            </a:extLst>
          </p:cNvPr>
          <p:cNvSpPr>
            <a:spLocks noGrp="1"/>
          </p:cNvSpPr>
          <p:nvPr>
            <p:ph type="body" idx="1"/>
          </p:nvPr>
        </p:nvSpPr>
        <p:spPr>
          <a:xfrm>
            <a:off x="126238" y="572274"/>
            <a:ext cx="4357623" cy="1354217"/>
          </a:xfrm>
        </p:spPr>
        <p:txBody>
          <a:bodyPr/>
          <a:lstStyle/>
          <a:p>
            <a:pPr marL="228600" indent="-228600">
              <a:buFont typeface="+mj-lt"/>
              <a:buAutoNum type="arabicParenR"/>
            </a:pPr>
            <a:r>
              <a:rPr lang="en-US" dirty="0"/>
              <a:t>What constitutes </a:t>
            </a:r>
            <a:r>
              <a:rPr lang="en-US" dirty="0" err="1"/>
              <a:t>Securites</a:t>
            </a:r>
            <a:r>
              <a:rPr lang="en-US" dirty="0"/>
              <a:t> Fraud</a:t>
            </a:r>
          </a:p>
          <a:p>
            <a:r>
              <a:rPr lang="en-US" dirty="0"/>
              <a:t>Watch Hyperbole</a:t>
            </a:r>
          </a:p>
          <a:p>
            <a:pPr marL="228600" indent="-228600">
              <a:buFont typeface="+mj-lt"/>
              <a:buAutoNum type="arabicParenR" startAt="2"/>
            </a:pPr>
            <a:r>
              <a:rPr lang="en-US" dirty="0"/>
              <a:t>When to register with SEC</a:t>
            </a:r>
          </a:p>
          <a:p>
            <a:pPr marL="228600" indent="-228600">
              <a:buFont typeface="+mj-lt"/>
              <a:buAutoNum type="arabicParenR" startAt="2"/>
            </a:pPr>
            <a:r>
              <a:rPr lang="en-US" dirty="0"/>
              <a:t>Regulation A</a:t>
            </a:r>
          </a:p>
          <a:p>
            <a:pPr marL="228600" indent="-228600">
              <a:buFont typeface="+mj-lt"/>
              <a:buAutoNum type="arabicParenR" startAt="2"/>
            </a:pPr>
            <a:r>
              <a:rPr lang="en-US" dirty="0"/>
              <a:t>Regulation D</a:t>
            </a:r>
          </a:p>
          <a:p>
            <a:pPr marL="800100" lvl="1" indent="-228600">
              <a:buFont typeface="+mj-lt"/>
              <a:buAutoNum type="arabicParenR"/>
            </a:pPr>
            <a:r>
              <a:rPr lang="en-US" dirty="0"/>
              <a:t>Rule 504</a:t>
            </a:r>
          </a:p>
          <a:p>
            <a:pPr marL="800100" lvl="1" indent="-228600">
              <a:buFont typeface="+mj-lt"/>
              <a:buAutoNum type="arabicParenR"/>
            </a:pPr>
            <a:r>
              <a:rPr lang="en-US" dirty="0"/>
              <a:t>Rule 506b</a:t>
            </a:r>
          </a:p>
          <a:p>
            <a:pPr marL="800100" lvl="1" indent="-228600">
              <a:buFont typeface="+mj-lt"/>
              <a:buAutoNum type="arabicParenR"/>
            </a:pPr>
            <a:r>
              <a:rPr lang="en-US" dirty="0"/>
              <a:t>Rule 506c</a:t>
            </a:r>
          </a:p>
        </p:txBody>
      </p:sp>
      <p:sp>
        <p:nvSpPr>
          <p:cNvPr id="4" name="Slide Number Placeholder 3">
            <a:extLst>
              <a:ext uri="{FF2B5EF4-FFF2-40B4-BE49-F238E27FC236}">
                <a16:creationId xmlns:a16="http://schemas.microsoft.com/office/drawing/2014/main" id="{AB4BB255-294F-6EC9-B58B-A2639A24D961}"/>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9</a:t>
            </a:fld>
            <a:endParaRPr spc="-5" dirty="0"/>
          </a:p>
        </p:txBody>
      </p:sp>
    </p:spTree>
    <p:extLst>
      <p:ext uri="{BB962C8B-B14F-4D97-AF65-F5344CB8AC3E}">
        <p14:creationId xmlns:p14="http://schemas.microsoft.com/office/powerpoint/2010/main" val="1295698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F2C3A-CF08-EAFB-4589-FB8420D8CFDF}"/>
              </a:ext>
            </a:extLst>
          </p:cNvPr>
          <p:cNvSpPr>
            <a:spLocks noGrp="1"/>
          </p:cNvSpPr>
          <p:nvPr>
            <p:ph type="title"/>
          </p:nvPr>
        </p:nvSpPr>
        <p:spPr>
          <a:xfrm>
            <a:off x="726439" y="190295"/>
            <a:ext cx="3153410" cy="215444"/>
          </a:xfrm>
        </p:spPr>
        <p:txBody>
          <a:bodyPr/>
          <a:lstStyle/>
          <a:p>
            <a:r>
              <a:rPr lang="en-US" dirty="0"/>
              <a:t>Investment Company Act of 1940</a:t>
            </a:r>
          </a:p>
        </p:txBody>
      </p:sp>
      <p:sp>
        <p:nvSpPr>
          <p:cNvPr id="3" name="Text Placeholder 2">
            <a:extLst>
              <a:ext uri="{FF2B5EF4-FFF2-40B4-BE49-F238E27FC236}">
                <a16:creationId xmlns:a16="http://schemas.microsoft.com/office/drawing/2014/main" id="{341CAE5D-FE56-3897-23BD-632B2CA64E05}"/>
              </a:ext>
            </a:extLst>
          </p:cNvPr>
          <p:cNvSpPr>
            <a:spLocks noGrp="1"/>
          </p:cNvSpPr>
          <p:nvPr>
            <p:ph type="body" idx="1"/>
          </p:nvPr>
        </p:nvSpPr>
        <p:spPr>
          <a:xfrm>
            <a:off x="126238" y="572274"/>
            <a:ext cx="4357623" cy="677108"/>
          </a:xfrm>
        </p:spPr>
        <p:txBody>
          <a:bodyPr/>
          <a:lstStyle/>
          <a:p>
            <a:r>
              <a:rPr lang="en-US" dirty="0"/>
              <a:t>Key here is the regulation of formation of Investment Companies – companies formed to pool funds for investment purposes</a:t>
            </a:r>
          </a:p>
          <a:p>
            <a:r>
              <a:rPr lang="en-US" dirty="0"/>
              <a:t>This refers to Venture Capital</a:t>
            </a:r>
          </a:p>
          <a:p>
            <a:r>
              <a:rPr lang="en-US" dirty="0"/>
              <a:t>Refers to Private Equity</a:t>
            </a:r>
          </a:p>
        </p:txBody>
      </p:sp>
      <p:sp>
        <p:nvSpPr>
          <p:cNvPr id="4" name="Slide Number Placeholder 3">
            <a:extLst>
              <a:ext uri="{FF2B5EF4-FFF2-40B4-BE49-F238E27FC236}">
                <a16:creationId xmlns:a16="http://schemas.microsoft.com/office/drawing/2014/main" id="{E11A63C2-0388-F535-3951-A81206C2C344}"/>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10</a:t>
            </a:fld>
            <a:endParaRPr spc="-5" dirty="0"/>
          </a:p>
        </p:txBody>
      </p:sp>
    </p:spTree>
    <p:extLst>
      <p:ext uri="{BB962C8B-B14F-4D97-AF65-F5344CB8AC3E}">
        <p14:creationId xmlns:p14="http://schemas.microsoft.com/office/powerpoint/2010/main" val="4131680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05384-7C9F-C0F7-CC52-F9785CD7B002}"/>
              </a:ext>
            </a:extLst>
          </p:cNvPr>
          <p:cNvSpPr>
            <a:spLocks noGrp="1"/>
          </p:cNvSpPr>
          <p:nvPr>
            <p:ph type="title"/>
          </p:nvPr>
        </p:nvSpPr>
        <p:spPr>
          <a:xfrm>
            <a:off x="726439" y="190295"/>
            <a:ext cx="3153410" cy="215444"/>
          </a:xfrm>
        </p:spPr>
        <p:txBody>
          <a:bodyPr/>
          <a:lstStyle/>
          <a:p>
            <a:r>
              <a:rPr lang="en-US" dirty="0"/>
              <a:t>JOBS Act of 2012</a:t>
            </a:r>
          </a:p>
        </p:txBody>
      </p:sp>
      <p:sp>
        <p:nvSpPr>
          <p:cNvPr id="3" name="Text Placeholder 2">
            <a:extLst>
              <a:ext uri="{FF2B5EF4-FFF2-40B4-BE49-F238E27FC236}">
                <a16:creationId xmlns:a16="http://schemas.microsoft.com/office/drawing/2014/main" id="{33C3B071-ED59-5C00-F578-13A7516E3BA4}"/>
              </a:ext>
            </a:extLst>
          </p:cNvPr>
          <p:cNvSpPr>
            <a:spLocks noGrp="1"/>
          </p:cNvSpPr>
          <p:nvPr>
            <p:ph type="body" idx="1"/>
          </p:nvPr>
        </p:nvSpPr>
        <p:spPr>
          <a:xfrm>
            <a:off x="126238" y="572274"/>
            <a:ext cx="4357623" cy="2200602"/>
          </a:xfrm>
        </p:spPr>
        <p:txBody>
          <a:bodyPr/>
          <a:lstStyle/>
          <a:p>
            <a:pPr marL="0" indent="0">
              <a:buNone/>
            </a:pPr>
            <a:r>
              <a:rPr lang="en-US" b="1" i="1" dirty="0"/>
              <a:t>Jumpstart our Business </a:t>
            </a:r>
            <a:r>
              <a:rPr lang="en-US" b="1" i="1" dirty="0" err="1"/>
              <a:t>StartUps</a:t>
            </a:r>
            <a:r>
              <a:rPr lang="en-US" b="1" i="1" dirty="0"/>
              <a:t> Act</a:t>
            </a:r>
            <a:endParaRPr lang="en-US" dirty="0"/>
          </a:p>
          <a:p>
            <a:pPr marL="0" indent="0">
              <a:buNone/>
            </a:pPr>
            <a:r>
              <a:rPr lang="en-US" dirty="0"/>
              <a:t> 6 Main Titles</a:t>
            </a:r>
          </a:p>
          <a:p>
            <a:pPr marL="285750" indent="-285750">
              <a:buFont typeface="+mj-lt"/>
              <a:buAutoNum type="romanUcPeriod"/>
            </a:pPr>
            <a:r>
              <a:rPr lang="en-US" dirty="0"/>
              <a:t>Establishes Emerging Growth Company</a:t>
            </a:r>
          </a:p>
          <a:p>
            <a:pPr marL="285750" indent="-285750">
              <a:buFont typeface="+mj-lt"/>
              <a:buAutoNum type="romanUcPeriod"/>
            </a:pPr>
            <a:r>
              <a:rPr lang="en-US" dirty="0"/>
              <a:t>Lifts restrictions on general solicitation and advertising for </a:t>
            </a:r>
            <a:r>
              <a:rPr lang="en-US" dirty="0" err="1"/>
              <a:t>RegD</a:t>
            </a:r>
            <a:r>
              <a:rPr lang="en-US" dirty="0"/>
              <a:t> 506 accredited investor offerings</a:t>
            </a:r>
          </a:p>
          <a:p>
            <a:pPr marL="285750" indent="-285750">
              <a:buFont typeface="+mj-lt"/>
              <a:buAutoNum type="romanUcPeriod"/>
            </a:pPr>
            <a:r>
              <a:rPr lang="en-US" dirty="0"/>
              <a:t>Establishes small registration exemption --- this makes crowdfunding possible</a:t>
            </a:r>
          </a:p>
          <a:p>
            <a:pPr marL="285750" indent="-285750">
              <a:buFont typeface="+mj-lt"/>
              <a:buAutoNum type="romanUcPeriod"/>
            </a:pPr>
            <a:r>
              <a:rPr lang="en-US" dirty="0"/>
              <a:t>Increases max raise under Regulation A-like offering (Section 3(b)2 offering) from $5million to $50 million</a:t>
            </a:r>
          </a:p>
          <a:p>
            <a:pPr marL="285750" indent="-285750">
              <a:buFont typeface="+mj-lt"/>
              <a:buAutoNum type="romanUcPeriod"/>
            </a:pPr>
            <a:r>
              <a:rPr lang="en-US" dirty="0"/>
              <a:t>Raises upper limit on shareholders without registration (contingent upon investor accreditation)</a:t>
            </a:r>
          </a:p>
          <a:p>
            <a:pPr marL="285750" indent="-285750">
              <a:buFont typeface="+mj-lt"/>
              <a:buAutoNum type="romanUcPeriod"/>
            </a:pPr>
            <a:r>
              <a:rPr lang="en-US" dirty="0"/>
              <a:t>Raises upper limit on Bank Shareholders</a:t>
            </a:r>
          </a:p>
          <a:p>
            <a:pPr marL="285750" indent="-285750">
              <a:buFont typeface="+mj-lt"/>
              <a:buAutoNum type="romanUcPeriod"/>
            </a:pPr>
            <a:endParaRPr lang="en-US" dirty="0"/>
          </a:p>
        </p:txBody>
      </p:sp>
      <p:sp>
        <p:nvSpPr>
          <p:cNvPr id="4" name="Slide Number Placeholder 3">
            <a:extLst>
              <a:ext uri="{FF2B5EF4-FFF2-40B4-BE49-F238E27FC236}">
                <a16:creationId xmlns:a16="http://schemas.microsoft.com/office/drawing/2014/main" id="{8F9F230F-5A98-E4B3-39EC-3D0C6659A8A4}"/>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11</a:t>
            </a:fld>
            <a:endParaRPr spc="-5" dirty="0"/>
          </a:p>
        </p:txBody>
      </p:sp>
    </p:spTree>
    <p:extLst>
      <p:ext uri="{BB962C8B-B14F-4D97-AF65-F5344CB8AC3E}">
        <p14:creationId xmlns:p14="http://schemas.microsoft.com/office/powerpoint/2010/main" val="2004061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C2BFA-844A-03FE-0663-16152505C719}"/>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796C0D74-005E-07A8-6A68-2088B0AE7CFC}"/>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12</a:t>
            </a:fld>
            <a:endParaRPr spc="-5" dirty="0"/>
          </a:p>
        </p:txBody>
      </p:sp>
      <p:sp>
        <p:nvSpPr>
          <p:cNvPr id="5" name="Round Diagonal Corner Rectangle 4">
            <a:extLst>
              <a:ext uri="{FF2B5EF4-FFF2-40B4-BE49-F238E27FC236}">
                <a16:creationId xmlns:a16="http://schemas.microsoft.com/office/drawing/2014/main" id="{7CF07B1B-00F0-05E6-8394-0C4AC6AC6FFD}"/>
              </a:ext>
            </a:extLst>
          </p:cNvPr>
          <p:cNvSpPr/>
          <p:nvPr/>
        </p:nvSpPr>
        <p:spPr>
          <a:xfrm>
            <a:off x="400050" y="177415"/>
            <a:ext cx="2438400" cy="381000"/>
          </a:xfrm>
          <a:prstGeom prst="round2DiagRect">
            <a:avLst/>
          </a:prstGeom>
          <a:solidFill>
            <a:srgbClr val="CEB6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Is Entrepreneur Offering a Security?</a:t>
            </a:r>
          </a:p>
        </p:txBody>
      </p:sp>
      <p:sp>
        <p:nvSpPr>
          <p:cNvPr id="7" name="Round Diagonal Corner Rectangle 6">
            <a:extLst>
              <a:ext uri="{FF2B5EF4-FFF2-40B4-BE49-F238E27FC236}">
                <a16:creationId xmlns:a16="http://schemas.microsoft.com/office/drawing/2014/main" id="{CECC4F9B-0C6E-2684-839C-188F668591EA}"/>
              </a:ext>
            </a:extLst>
          </p:cNvPr>
          <p:cNvSpPr/>
          <p:nvPr/>
        </p:nvSpPr>
        <p:spPr>
          <a:xfrm>
            <a:off x="2152650" y="760155"/>
            <a:ext cx="1437525" cy="680671"/>
          </a:xfrm>
          <a:prstGeom prst="round2DiagRect">
            <a:avLst/>
          </a:prstGeom>
          <a:solidFill>
            <a:srgbClr val="CEB6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Is the class of security Exempt from SEC </a:t>
            </a:r>
            <a:r>
              <a:rPr lang="en-US" sz="1100" dirty="0" err="1"/>
              <a:t>Registraton</a:t>
            </a:r>
            <a:r>
              <a:rPr lang="en-US" sz="1100" dirty="0"/>
              <a:t>?</a:t>
            </a:r>
          </a:p>
        </p:txBody>
      </p:sp>
      <p:sp>
        <p:nvSpPr>
          <p:cNvPr id="8" name="Round Diagonal Corner Rectangle 7">
            <a:extLst>
              <a:ext uri="{FF2B5EF4-FFF2-40B4-BE49-F238E27FC236}">
                <a16:creationId xmlns:a16="http://schemas.microsoft.com/office/drawing/2014/main" id="{10962BAC-5D78-D52B-A06F-4118651F792D}"/>
              </a:ext>
            </a:extLst>
          </p:cNvPr>
          <p:cNvSpPr/>
          <p:nvPr/>
        </p:nvSpPr>
        <p:spPr>
          <a:xfrm>
            <a:off x="323850" y="1641099"/>
            <a:ext cx="2296274" cy="1216760"/>
          </a:xfrm>
          <a:prstGeom prst="round2DiagRect">
            <a:avLst/>
          </a:prstGeom>
          <a:solidFill>
            <a:srgbClr val="CEB6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1100" dirty="0"/>
              <a:t>Does Offering Qualify for:</a:t>
            </a:r>
          </a:p>
          <a:p>
            <a:pPr lvl="0"/>
            <a:r>
              <a:rPr lang="en-US" sz="1100" dirty="0"/>
              <a:t>4(2) Private Offering Exemption</a:t>
            </a:r>
          </a:p>
          <a:p>
            <a:pPr lvl="0"/>
            <a:r>
              <a:rPr lang="en-US" sz="1100" dirty="0"/>
              <a:t>Accredited Investor Exemption</a:t>
            </a:r>
          </a:p>
          <a:p>
            <a:pPr lvl="0"/>
            <a:r>
              <a:rPr lang="en-US" sz="1100" dirty="0"/>
              <a:t>Reg D Exemption</a:t>
            </a:r>
          </a:p>
          <a:p>
            <a:pPr lvl="0"/>
            <a:r>
              <a:rPr lang="en-US" sz="1100" dirty="0"/>
              <a:t>Reg A Exemption or</a:t>
            </a:r>
          </a:p>
          <a:p>
            <a:pPr lvl="0"/>
            <a:r>
              <a:rPr lang="en-US" sz="1100" dirty="0"/>
              <a:t>Other</a:t>
            </a:r>
          </a:p>
          <a:p>
            <a:pPr algn="ctr"/>
            <a:endParaRPr lang="en-US" sz="1100" dirty="0"/>
          </a:p>
        </p:txBody>
      </p:sp>
      <p:sp>
        <p:nvSpPr>
          <p:cNvPr id="11" name="Round Diagonal Corner Rectangle 10">
            <a:extLst>
              <a:ext uri="{FF2B5EF4-FFF2-40B4-BE49-F238E27FC236}">
                <a16:creationId xmlns:a16="http://schemas.microsoft.com/office/drawing/2014/main" id="{61C6F9A4-59B6-0D95-1385-1A1039310FC1}"/>
              </a:ext>
            </a:extLst>
          </p:cNvPr>
          <p:cNvSpPr/>
          <p:nvPr/>
        </p:nvSpPr>
        <p:spPr>
          <a:xfrm>
            <a:off x="95250" y="843135"/>
            <a:ext cx="914400" cy="381000"/>
          </a:xfrm>
          <a:prstGeom prst="round2DiagRect">
            <a:avLst/>
          </a:prstGeom>
          <a:solidFill>
            <a:srgbClr val="A0A2A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No SEC Registration</a:t>
            </a:r>
          </a:p>
        </p:txBody>
      </p:sp>
      <p:sp>
        <p:nvSpPr>
          <p:cNvPr id="12" name="Round Diagonal Corner Rectangle 11">
            <a:extLst>
              <a:ext uri="{FF2B5EF4-FFF2-40B4-BE49-F238E27FC236}">
                <a16:creationId xmlns:a16="http://schemas.microsoft.com/office/drawing/2014/main" id="{FFD5AA59-4CF1-775C-8EAB-DDF1C38EF6F7}"/>
              </a:ext>
            </a:extLst>
          </p:cNvPr>
          <p:cNvSpPr/>
          <p:nvPr/>
        </p:nvSpPr>
        <p:spPr>
          <a:xfrm>
            <a:off x="557587" y="3092835"/>
            <a:ext cx="914400" cy="381000"/>
          </a:xfrm>
          <a:prstGeom prst="round2Diag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SEC Registration</a:t>
            </a:r>
          </a:p>
        </p:txBody>
      </p:sp>
      <p:sp>
        <p:nvSpPr>
          <p:cNvPr id="13" name="Round Diagonal Corner Rectangle 12">
            <a:extLst>
              <a:ext uri="{FF2B5EF4-FFF2-40B4-BE49-F238E27FC236}">
                <a16:creationId xmlns:a16="http://schemas.microsoft.com/office/drawing/2014/main" id="{220C97CA-4AA3-8A40-A577-79DD9A81FCC7}"/>
              </a:ext>
            </a:extLst>
          </p:cNvPr>
          <p:cNvSpPr/>
          <p:nvPr/>
        </p:nvSpPr>
        <p:spPr>
          <a:xfrm>
            <a:off x="2381250" y="3073359"/>
            <a:ext cx="914400" cy="381000"/>
          </a:xfrm>
          <a:prstGeom prst="round2DiagRect">
            <a:avLst/>
          </a:prstGeom>
          <a:solidFill>
            <a:srgbClr val="A0A2A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No SEC Registration</a:t>
            </a:r>
          </a:p>
        </p:txBody>
      </p:sp>
      <p:cxnSp>
        <p:nvCxnSpPr>
          <p:cNvPr id="15" name="Elbow Connector 14">
            <a:extLst>
              <a:ext uri="{FF2B5EF4-FFF2-40B4-BE49-F238E27FC236}">
                <a16:creationId xmlns:a16="http://schemas.microsoft.com/office/drawing/2014/main" id="{67F22535-F4AD-DE87-F8EB-97CDDE998EFF}"/>
              </a:ext>
            </a:extLst>
          </p:cNvPr>
          <p:cNvCxnSpPr>
            <a:cxnSpLocks/>
            <a:stCxn id="5" idx="1"/>
            <a:endCxn id="11" idx="3"/>
          </p:cNvCxnSpPr>
          <p:nvPr/>
        </p:nvCxnSpPr>
        <p:spPr>
          <a:xfrm rot="5400000">
            <a:off x="943490" y="167375"/>
            <a:ext cx="284720" cy="10668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17">
            <a:extLst>
              <a:ext uri="{FF2B5EF4-FFF2-40B4-BE49-F238E27FC236}">
                <a16:creationId xmlns:a16="http://schemas.microsoft.com/office/drawing/2014/main" id="{8BFC483A-C17D-E14D-C332-721C12060E51}"/>
              </a:ext>
            </a:extLst>
          </p:cNvPr>
          <p:cNvCxnSpPr>
            <a:cxnSpLocks/>
            <a:stCxn id="5" idx="1"/>
            <a:endCxn id="7" idx="3"/>
          </p:cNvCxnSpPr>
          <p:nvPr/>
        </p:nvCxnSpPr>
        <p:spPr>
          <a:xfrm rot="16200000" flipH="1">
            <a:off x="2144461" y="33203"/>
            <a:ext cx="201740" cy="125216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a:extLst>
              <a:ext uri="{FF2B5EF4-FFF2-40B4-BE49-F238E27FC236}">
                <a16:creationId xmlns:a16="http://schemas.microsoft.com/office/drawing/2014/main" id="{25092907-3498-3B36-CA45-99C205D79304}"/>
              </a:ext>
            </a:extLst>
          </p:cNvPr>
          <p:cNvCxnSpPr>
            <a:cxnSpLocks/>
            <a:stCxn id="7" idx="1"/>
            <a:endCxn id="8" idx="3"/>
          </p:cNvCxnSpPr>
          <p:nvPr/>
        </p:nvCxnSpPr>
        <p:spPr>
          <a:xfrm rot="5400000">
            <a:off x="2071564" y="841249"/>
            <a:ext cx="200273" cy="139942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ound Diagonal Corner Rectangle 22">
            <a:extLst>
              <a:ext uri="{FF2B5EF4-FFF2-40B4-BE49-F238E27FC236}">
                <a16:creationId xmlns:a16="http://schemas.microsoft.com/office/drawing/2014/main" id="{44B9BBA5-9B12-2C58-CE1D-97B89771E823}"/>
              </a:ext>
            </a:extLst>
          </p:cNvPr>
          <p:cNvSpPr/>
          <p:nvPr/>
        </p:nvSpPr>
        <p:spPr>
          <a:xfrm>
            <a:off x="3422649" y="1641099"/>
            <a:ext cx="914400" cy="381000"/>
          </a:xfrm>
          <a:prstGeom prst="round2DiagRect">
            <a:avLst/>
          </a:prstGeom>
          <a:solidFill>
            <a:srgbClr val="A0A2A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No SEC Registration</a:t>
            </a:r>
          </a:p>
        </p:txBody>
      </p:sp>
      <p:cxnSp>
        <p:nvCxnSpPr>
          <p:cNvPr id="25" name="Elbow Connector 24">
            <a:extLst>
              <a:ext uri="{FF2B5EF4-FFF2-40B4-BE49-F238E27FC236}">
                <a16:creationId xmlns:a16="http://schemas.microsoft.com/office/drawing/2014/main" id="{D4DE3389-C9E5-D28A-E389-61CD380A116E}"/>
              </a:ext>
            </a:extLst>
          </p:cNvPr>
          <p:cNvCxnSpPr>
            <a:cxnSpLocks/>
            <a:stCxn id="7" idx="1"/>
            <a:endCxn id="23" idx="3"/>
          </p:cNvCxnSpPr>
          <p:nvPr/>
        </p:nvCxnSpPr>
        <p:spPr>
          <a:xfrm rot="16200000" flipH="1">
            <a:off x="3275495" y="1036744"/>
            <a:ext cx="200273" cy="100843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72EC9C2C-747A-8159-8149-5AA526076C7B}"/>
              </a:ext>
            </a:extLst>
          </p:cNvPr>
          <p:cNvCxnSpPr>
            <a:cxnSpLocks/>
            <a:stCxn id="8" idx="1"/>
            <a:endCxn id="12" idx="3"/>
          </p:cNvCxnSpPr>
          <p:nvPr/>
        </p:nvCxnSpPr>
        <p:spPr>
          <a:xfrm rot="5400000">
            <a:off x="1125899" y="2746747"/>
            <a:ext cx="234976" cy="4572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Elbow Connector 30">
            <a:extLst>
              <a:ext uri="{FF2B5EF4-FFF2-40B4-BE49-F238E27FC236}">
                <a16:creationId xmlns:a16="http://schemas.microsoft.com/office/drawing/2014/main" id="{F9B4D9D2-91E6-FD75-36FB-23120444485B}"/>
              </a:ext>
            </a:extLst>
          </p:cNvPr>
          <p:cNvCxnSpPr>
            <a:cxnSpLocks/>
            <a:stCxn id="8" idx="1"/>
            <a:endCxn id="13" idx="3"/>
          </p:cNvCxnSpPr>
          <p:nvPr/>
        </p:nvCxnSpPr>
        <p:spPr>
          <a:xfrm rot="16200000" flipH="1">
            <a:off x="2047468" y="2282377"/>
            <a:ext cx="215500" cy="136646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4417691-19EC-0A2D-D228-D8CB34FB759E}"/>
              </a:ext>
            </a:extLst>
          </p:cNvPr>
          <p:cNvSpPr txBox="1"/>
          <p:nvPr/>
        </p:nvSpPr>
        <p:spPr>
          <a:xfrm>
            <a:off x="184801" y="569404"/>
            <a:ext cx="341760" cy="253916"/>
          </a:xfrm>
          <a:prstGeom prst="rect">
            <a:avLst/>
          </a:prstGeom>
          <a:noFill/>
        </p:spPr>
        <p:txBody>
          <a:bodyPr wrap="none" rtlCol="0">
            <a:spAutoFit/>
          </a:bodyPr>
          <a:lstStyle/>
          <a:p>
            <a:r>
              <a:rPr lang="en-US" sz="1050" dirty="0">
                <a:solidFill>
                  <a:srgbClr val="C00000"/>
                </a:solidFill>
              </a:rPr>
              <a:t>No</a:t>
            </a:r>
          </a:p>
        </p:txBody>
      </p:sp>
      <p:sp>
        <p:nvSpPr>
          <p:cNvPr id="34" name="TextBox 33">
            <a:extLst>
              <a:ext uri="{FF2B5EF4-FFF2-40B4-BE49-F238E27FC236}">
                <a16:creationId xmlns:a16="http://schemas.microsoft.com/office/drawing/2014/main" id="{5BF41D94-98F9-9591-ACE9-9BF8BFB9144A}"/>
              </a:ext>
            </a:extLst>
          </p:cNvPr>
          <p:cNvSpPr txBox="1"/>
          <p:nvPr/>
        </p:nvSpPr>
        <p:spPr>
          <a:xfrm>
            <a:off x="997293" y="1373738"/>
            <a:ext cx="389238" cy="253916"/>
          </a:xfrm>
          <a:prstGeom prst="rect">
            <a:avLst/>
          </a:prstGeom>
          <a:noFill/>
        </p:spPr>
        <p:txBody>
          <a:bodyPr wrap="square" rtlCol="0">
            <a:spAutoFit/>
          </a:bodyPr>
          <a:lstStyle/>
          <a:p>
            <a:r>
              <a:rPr lang="en-US" sz="1050" dirty="0">
                <a:solidFill>
                  <a:srgbClr val="C00000"/>
                </a:solidFill>
              </a:rPr>
              <a:t>No</a:t>
            </a:r>
          </a:p>
        </p:txBody>
      </p:sp>
      <p:sp>
        <p:nvSpPr>
          <p:cNvPr id="35" name="TextBox 34">
            <a:extLst>
              <a:ext uri="{FF2B5EF4-FFF2-40B4-BE49-F238E27FC236}">
                <a16:creationId xmlns:a16="http://schemas.microsoft.com/office/drawing/2014/main" id="{8C0F0DE0-0BBE-8475-8759-94A333AE2353}"/>
              </a:ext>
            </a:extLst>
          </p:cNvPr>
          <p:cNvSpPr txBox="1"/>
          <p:nvPr/>
        </p:nvSpPr>
        <p:spPr>
          <a:xfrm>
            <a:off x="637711" y="2848389"/>
            <a:ext cx="341760" cy="253916"/>
          </a:xfrm>
          <a:prstGeom prst="rect">
            <a:avLst/>
          </a:prstGeom>
          <a:noFill/>
        </p:spPr>
        <p:txBody>
          <a:bodyPr wrap="none" rtlCol="0">
            <a:spAutoFit/>
          </a:bodyPr>
          <a:lstStyle/>
          <a:p>
            <a:r>
              <a:rPr lang="en-US" sz="1050" dirty="0">
                <a:solidFill>
                  <a:srgbClr val="C00000"/>
                </a:solidFill>
              </a:rPr>
              <a:t>No</a:t>
            </a:r>
          </a:p>
        </p:txBody>
      </p:sp>
      <p:sp>
        <p:nvSpPr>
          <p:cNvPr id="36" name="TextBox 35">
            <a:extLst>
              <a:ext uri="{FF2B5EF4-FFF2-40B4-BE49-F238E27FC236}">
                <a16:creationId xmlns:a16="http://schemas.microsoft.com/office/drawing/2014/main" id="{FCC46476-2382-DAA6-76D3-31C6519667B3}"/>
              </a:ext>
            </a:extLst>
          </p:cNvPr>
          <p:cNvSpPr txBox="1"/>
          <p:nvPr/>
        </p:nvSpPr>
        <p:spPr>
          <a:xfrm>
            <a:off x="2864339" y="514475"/>
            <a:ext cx="377026" cy="253916"/>
          </a:xfrm>
          <a:prstGeom prst="rect">
            <a:avLst/>
          </a:prstGeom>
          <a:noFill/>
        </p:spPr>
        <p:txBody>
          <a:bodyPr wrap="none" rtlCol="0">
            <a:spAutoFit/>
          </a:bodyPr>
          <a:lstStyle/>
          <a:p>
            <a:r>
              <a:rPr lang="en-US" sz="1050" b="1" dirty="0">
                <a:solidFill>
                  <a:srgbClr val="00B050"/>
                </a:solidFill>
              </a:rPr>
              <a:t>Yes</a:t>
            </a:r>
          </a:p>
        </p:txBody>
      </p:sp>
      <p:sp>
        <p:nvSpPr>
          <p:cNvPr id="38" name="TextBox 37">
            <a:extLst>
              <a:ext uri="{FF2B5EF4-FFF2-40B4-BE49-F238E27FC236}">
                <a16:creationId xmlns:a16="http://schemas.microsoft.com/office/drawing/2014/main" id="{FD96DF47-BA40-E6A9-3CD9-2E1F91EE33A6}"/>
              </a:ext>
            </a:extLst>
          </p:cNvPr>
          <p:cNvSpPr txBox="1"/>
          <p:nvPr/>
        </p:nvSpPr>
        <p:spPr>
          <a:xfrm>
            <a:off x="3692281" y="1300381"/>
            <a:ext cx="377026" cy="253916"/>
          </a:xfrm>
          <a:prstGeom prst="rect">
            <a:avLst/>
          </a:prstGeom>
          <a:noFill/>
        </p:spPr>
        <p:txBody>
          <a:bodyPr wrap="none" rtlCol="0">
            <a:spAutoFit/>
          </a:bodyPr>
          <a:lstStyle/>
          <a:p>
            <a:r>
              <a:rPr lang="en-US" sz="1050" b="1" dirty="0">
                <a:solidFill>
                  <a:srgbClr val="00B050"/>
                </a:solidFill>
              </a:rPr>
              <a:t>Yes</a:t>
            </a:r>
          </a:p>
        </p:txBody>
      </p:sp>
      <p:sp>
        <p:nvSpPr>
          <p:cNvPr id="39" name="TextBox 38">
            <a:extLst>
              <a:ext uri="{FF2B5EF4-FFF2-40B4-BE49-F238E27FC236}">
                <a16:creationId xmlns:a16="http://schemas.microsoft.com/office/drawing/2014/main" id="{5C4507A0-1337-B9A3-6033-6BF5265622E5}"/>
              </a:ext>
            </a:extLst>
          </p:cNvPr>
          <p:cNvSpPr txBox="1"/>
          <p:nvPr/>
        </p:nvSpPr>
        <p:spPr>
          <a:xfrm>
            <a:off x="2907194" y="2838919"/>
            <a:ext cx="377026" cy="253916"/>
          </a:xfrm>
          <a:prstGeom prst="rect">
            <a:avLst/>
          </a:prstGeom>
          <a:noFill/>
        </p:spPr>
        <p:txBody>
          <a:bodyPr wrap="none" rtlCol="0">
            <a:spAutoFit/>
          </a:bodyPr>
          <a:lstStyle/>
          <a:p>
            <a:r>
              <a:rPr lang="en-US" sz="1050" b="1" dirty="0">
                <a:solidFill>
                  <a:srgbClr val="00B050"/>
                </a:solidFill>
              </a:rPr>
              <a:t>Yes</a:t>
            </a:r>
          </a:p>
        </p:txBody>
      </p:sp>
    </p:spTree>
    <p:extLst>
      <p:ext uri="{BB962C8B-B14F-4D97-AF65-F5344CB8AC3E}">
        <p14:creationId xmlns:p14="http://schemas.microsoft.com/office/powerpoint/2010/main" val="1953219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EE222-B7CA-5889-A84B-0C28D941BD14}"/>
              </a:ext>
            </a:extLst>
          </p:cNvPr>
          <p:cNvSpPr>
            <a:spLocks noGrp="1"/>
          </p:cNvSpPr>
          <p:nvPr>
            <p:ph type="title"/>
          </p:nvPr>
        </p:nvSpPr>
        <p:spPr>
          <a:xfrm>
            <a:off x="726439" y="190295"/>
            <a:ext cx="3153410" cy="215444"/>
          </a:xfrm>
        </p:spPr>
        <p:txBody>
          <a:bodyPr/>
          <a:lstStyle/>
          <a:p>
            <a:r>
              <a:rPr lang="en-US" dirty="0"/>
              <a:t>Raising Funds</a:t>
            </a:r>
          </a:p>
        </p:txBody>
      </p:sp>
      <p:sp>
        <p:nvSpPr>
          <p:cNvPr id="3" name="Text Placeholder 2">
            <a:extLst>
              <a:ext uri="{FF2B5EF4-FFF2-40B4-BE49-F238E27FC236}">
                <a16:creationId xmlns:a16="http://schemas.microsoft.com/office/drawing/2014/main" id="{A8D77BB0-865E-526A-6024-D4FB9C1C97B9}"/>
              </a:ext>
            </a:extLst>
          </p:cNvPr>
          <p:cNvSpPr>
            <a:spLocks noGrp="1"/>
          </p:cNvSpPr>
          <p:nvPr>
            <p:ph type="body" idx="1"/>
          </p:nvPr>
        </p:nvSpPr>
        <p:spPr>
          <a:xfrm>
            <a:off x="126238" y="572274"/>
            <a:ext cx="4357623" cy="1184940"/>
          </a:xfrm>
        </p:spPr>
        <p:txBody>
          <a:bodyPr/>
          <a:lstStyle/>
          <a:p>
            <a:r>
              <a:rPr lang="en-US" dirty="0"/>
              <a:t>Fraud</a:t>
            </a:r>
          </a:p>
          <a:p>
            <a:r>
              <a:rPr lang="en-US" dirty="0"/>
              <a:t>Accreditation</a:t>
            </a:r>
          </a:p>
          <a:p>
            <a:r>
              <a:rPr lang="en-US" dirty="0"/>
              <a:t>Timing</a:t>
            </a:r>
          </a:p>
          <a:p>
            <a:r>
              <a:rPr lang="en-US" dirty="0"/>
              <a:t>Language</a:t>
            </a:r>
          </a:p>
          <a:p>
            <a:r>
              <a:rPr lang="en-US" dirty="0"/>
              <a:t>Solicitation</a:t>
            </a:r>
          </a:p>
          <a:p>
            <a:r>
              <a:rPr lang="en-US" dirty="0"/>
              <a:t>Size of Raise</a:t>
            </a:r>
          </a:p>
          <a:p>
            <a:r>
              <a:rPr lang="en-US" dirty="0"/>
              <a:t>Purpose of Raise</a:t>
            </a:r>
          </a:p>
        </p:txBody>
      </p:sp>
      <p:sp>
        <p:nvSpPr>
          <p:cNvPr id="4" name="Slide Number Placeholder 3">
            <a:extLst>
              <a:ext uri="{FF2B5EF4-FFF2-40B4-BE49-F238E27FC236}">
                <a16:creationId xmlns:a16="http://schemas.microsoft.com/office/drawing/2014/main" id="{EE72EBD3-0DA9-C4D5-F548-AD53A9415D4D}"/>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13</a:t>
            </a:fld>
            <a:endParaRPr spc="-5" dirty="0"/>
          </a:p>
        </p:txBody>
      </p:sp>
    </p:spTree>
    <p:extLst>
      <p:ext uri="{BB962C8B-B14F-4D97-AF65-F5344CB8AC3E}">
        <p14:creationId xmlns:p14="http://schemas.microsoft.com/office/powerpoint/2010/main" val="3842143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52FA0-7E1F-469D-6DF8-F711EC20C148}"/>
              </a:ext>
            </a:extLst>
          </p:cNvPr>
          <p:cNvSpPr>
            <a:spLocks noGrp="1"/>
          </p:cNvSpPr>
          <p:nvPr>
            <p:ph type="title"/>
          </p:nvPr>
        </p:nvSpPr>
        <p:spPr>
          <a:xfrm>
            <a:off x="726439" y="190295"/>
            <a:ext cx="3153410" cy="215444"/>
          </a:xfrm>
        </p:spPr>
        <p:txBody>
          <a:bodyPr/>
          <a:lstStyle/>
          <a:p>
            <a:r>
              <a:rPr lang="en-US" dirty="0"/>
              <a:t>Red Flag or Illegal?</a:t>
            </a:r>
          </a:p>
        </p:txBody>
      </p:sp>
      <p:sp>
        <p:nvSpPr>
          <p:cNvPr id="3" name="Text Placeholder 2">
            <a:extLst>
              <a:ext uri="{FF2B5EF4-FFF2-40B4-BE49-F238E27FC236}">
                <a16:creationId xmlns:a16="http://schemas.microsoft.com/office/drawing/2014/main" id="{B94150BE-17A0-796D-7780-772273D5A38E}"/>
              </a:ext>
            </a:extLst>
          </p:cNvPr>
          <p:cNvSpPr>
            <a:spLocks noGrp="1"/>
          </p:cNvSpPr>
          <p:nvPr>
            <p:ph type="body" idx="1"/>
          </p:nvPr>
        </p:nvSpPr>
        <p:spPr>
          <a:xfrm>
            <a:off x="126238" y="572274"/>
            <a:ext cx="4357623" cy="677108"/>
          </a:xfrm>
        </p:spPr>
        <p:txBody>
          <a:bodyPr/>
          <a:lstStyle/>
          <a:p>
            <a:pPr marL="0" indent="0">
              <a:buNone/>
            </a:pPr>
            <a:r>
              <a:rPr lang="en-US" dirty="0"/>
              <a:t>Some paths are illegal.</a:t>
            </a:r>
          </a:p>
          <a:p>
            <a:pPr marL="0" indent="0">
              <a:buNone/>
            </a:pPr>
            <a:endParaRPr lang="en-US" dirty="0"/>
          </a:p>
          <a:p>
            <a:pPr marL="0" indent="0">
              <a:buNone/>
            </a:pPr>
            <a:r>
              <a:rPr lang="en-US" dirty="0"/>
              <a:t>Others may not quite “seem right”.</a:t>
            </a:r>
          </a:p>
          <a:p>
            <a:pPr marL="0" indent="0">
              <a:buNone/>
            </a:pPr>
            <a:r>
              <a:rPr lang="en-US" dirty="0"/>
              <a:t>If something suggests poor judgement, or management, walk away.</a:t>
            </a:r>
          </a:p>
        </p:txBody>
      </p:sp>
      <p:sp>
        <p:nvSpPr>
          <p:cNvPr id="4" name="Slide Number Placeholder 3">
            <a:extLst>
              <a:ext uri="{FF2B5EF4-FFF2-40B4-BE49-F238E27FC236}">
                <a16:creationId xmlns:a16="http://schemas.microsoft.com/office/drawing/2014/main" id="{D4E9D4BF-3BE8-86E6-EBEC-EE5B10952DB6}"/>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14</a:t>
            </a:fld>
            <a:endParaRPr spc="-5" dirty="0"/>
          </a:p>
        </p:txBody>
      </p:sp>
    </p:spTree>
    <p:extLst>
      <p:ext uri="{BB962C8B-B14F-4D97-AF65-F5344CB8AC3E}">
        <p14:creationId xmlns:p14="http://schemas.microsoft.com/office/powerpoint/2010/main" val="46053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EBC3F-E26B-F67F-AEC4-DA779BD239F3}"/>
              </a:ext>
            </a:extLst>
          </p:cNvPr>
          <p:cNvSpPr>
            <a:spLocks noGrp="1"/>
          </p:cNvSpPr>
          <p:nvPr>
            <p:ph type="title"/>
          </p:nvPr>
        </p:nvSpPr>
        <p:spPr>
          <a:xfrm>
            <a:off x="157227" y="190295"/>
            <a:ext cx="4295646" cy="646331"/>
          </a:xfrm>
        </p:spPr>
        <p:txBody>
          <a:bodyPr/>
          <a:lstStyle/>
          <a:p>
            <a:r>
              <a:rPr lang="en-US" dirty="0"/>
              <a:t>Notes on considerations for offering/investing in private placement</a:t>
            </a:r>
          </a:p>
        </p:txBody>
      </p:sp>
      <p:sp>
        <p:nvSpPr>
          <p:cNvPr id="3" name="Text Placeholder 2">
            <a:extLst>
              <a:ext uri="{FF2B5EF4-FFF2-40B4-BE49-F238E27FC236}">
                <a16:creationId xmlns:a16="http://schemas.microsoft.com/office/drawing/2014/main" id="{333393B4-7F31-EFDB-E72B-9AE04C302755}"/>
              </a:ext>
            </a:extLst>
          </p:cNvPr>
          <p:cNvSpPr>
            <a:spLocks noGrp="1"/>
          </p:cNvSpPr>
          <p:nvPr>
            <p:ph type="body" idx="1"/>
          </p:nvPr>
        </p:nvSpPr>
        <p:spPr>
          <a:xfrm>
            <a:off x="21291" y="663575"/>
            <a:ext cx="4493559" cy="3046988"/>
          </a:xfrm>
        </p:spPr>
        <p:txBody>
          <a:bodyPr/>
          <a:lstStyle/>
          <a:p>
            <a:pPr algn="l">
              <a:buFont typeface="Arial" panose="020B0604020202020204" pitchFamily="34" charset="0"/>
              <a:buChar char="•"/>
            </a:pPr>
            <a:r>
              <a:rPr lang="en-US" i="0" dirty="0">
                <a:solidFill>
                  <a:srgbClr val="101F36"/>
                </a:solidFill>
                <a:effectLst/>
                <a:latin typeface="Open Sans" panose="020B0606030504020204" pitchFamily="34" charset="0"/>
              </a:rPr>
              <a:t>Did the issuer provide financial statements and, if so, what do they tell you about the business? </a:t>
            </a:r>
          </a:p>
          <a:p>
            <a:pPr algn="l">
              <a:buFont typeface="Arial" panose="020B0604020202020204" pitchFamily="34" charset="0"/>
              <a:buChar char="•"/>
            </a:pPr>
            <a:r>
              <a:rPr lang="en-US" i="0" dirty="0">
                <a:solidFill>
                  <a:srgbClr val="101F36"/>
                </a:solidFill>
                <a:effectLst/>
                <a:latin typeface="Open Sans" panose="020B0606030504020204" pitchFamily="34" charset="0"/>
              </a:rPr>
              <a:t>Are the financial statements independently audited?</a:t>
            </a:r>
          </a:p>
          <a:p>
            <a:pPr algn="l">
              <a:buFont typeface="Arial" panose="020B0604020202020204" pitchFamily="34" charset="0"/>
              <a:buChar char="•"/>
            </a:pPr>
            <a:r>
              <a:rPr lang="en-US" i="0" dirty="0">
                <a:solidFill>
                  <a:srgbClr val="101F36"/>
                </a:solidFill>
                <a:effectLst/>
                <a:latin typeface="Open Sans" panose="020B0606030504020204" pitchFamily="34" charset="0"/>
              </a:rPr>
              <a:t>Are the claims and expectations reasonable?</a:t>
            </a:r>
          </a:p>
          <a:p>
            <a:pPr algn="l">
              <a:buFont typeface="Arial" panose="020B0604020202020204" pitchFamily="34" charset="0"/>
              <a:buChar char="•"/>
            </a:pPr>
            <a:r>
              <a:rPr lang="en-US" i="0" dirty="0">
                <a:solidFill>
                  <a:srgbClr val="101F36"/>
                </a:solidFill>
                <a:effectLst/>
                <a:latin typeface="Open Sans" panose="020B0606030504020204" pitchFamily="34" charset="0"/>
              </a:rPr>
              <a:t>How reasonable is the issuer’s reliance on a particular technology, customer, product or natural resources claim?</a:t>
            </a:r>
          </a:p>
          <a:p>
            <a:pPr algn="l">
              <a:buFont typeface="Arial" panose="020B0604020202020204" pitchFamily="34" charset="0"/>
              <a:buChar char="•"/>
            </a:pPr>
            <a:r>
              <a:rPr lang="en-US" i="0" dirty="0">
                <a:solidFill>
                  <a:srgbClr val="101F36"/>
                </a:solidFill>
                <a:effectLst/>
                <a:latin typeface="Open Sans" panose="020B0606030504020204" pitchFamily="34" charset="0"/>
              </a:rPr>
              <a:t>Who are the issuer’s competitors?</a:t>
            </a:r>
          </a:p>
          <a:p>
            <a:pPr algn="l">
              <a:buFont typeface="Arial" panose="020B0604020202020204" pitchFamily="34" charset="0"/>
              <a:buChar char="•"/>
            </a:pPr>
            <a:r>
              <a:rPr lang="en-US" i="0" dirty="0">
                <a:solidFill>
                  <a:srgbClr val="101F36"/>
                </a:solidFill>
                <a:effectLst/>
                <a:latin typeface="Open Sans" panose="020B0606030504020204" pitchFamily="34" charset="0"/>
              </a:rPr>
              <a:t>What is the experience and background of management?</a:t>
            </a:r>
          </a:p>
          <a:p>
            <a:pPr algn="l">
              <a:buFont typeface="Arial" panose="020B0604020202020204" pitchFamily="34" charset="0"/>
              <a:buChar char="•"/>
            </a:pPr>
            <a:r>
              <a:rPr lang="en-US" i="0" dirty="0">
                <a:solidFill>
                  <a:srgbClr val="101F36"/>
                </a:solidFill>
                <a:effectLst/>
                <a:latin typeface="Open Sans" panose="020B0606030504020204" pitchFamily="34" charset="0"/>
              </a:rPr>
              <a:t>How long has the issuer been in business and has the issuer conducted prior offerings?</a:t>
            </a:r>
          </a:p>
          <a:p>
            <a:pPr algn="l">
              <a:buFont typeface="Arial" panose="020B0604020202020204" pitchFamily="34" charset="0"/>
              <a:buChar char="•"/>
            </a:pPr>
            <a:r>
              <a:rPr lang="en-US" i="0" dirty="0">
                <a:solidFill>
                  <a:srgbClr val="101F36"/>
                </a:solidFill>
                <a:effectLst/>
                <a:latin typeface="Open Sans" panose="020B0606030504020204" pitchFamily="34" charset="0"/>
              </a:rPr>
              <a:t>How does the issuer plan to use the money raised?</a:t>
            </a:r>
          </a:p>
          <a:p>
            <a:pPr algn="l">
              <a:buFont typeface="Arial" panose="020B0604020202020204" pitchFamily="34" charset="0"/>
              <a:buChar char="•"/>
            </a:pPr>
            <a:r>
              <a:rPr lang="en-US" i="0" dirty="0">
                <a:solidFill>
                  <a:srgbClr val="101F36"/>
                </a:solidFill>
                <a:effectLst/>
                <a:latin typeface="Open Sans" panose="020B0606030504020204" pitchFamily="34" charset="0"/>
              </a:rPr>
              <a:t>If the securities you are considering purchasing have transfer restrictions, when will and how may the restrictions be lifted? </a:t>
            </a:r>
          </a:p>
          <a:p>
            <a:pPr algn="l">
              <a:buFont typeface="Arial" panose="020B0604020202020204" pitchFamily="34" charset="0"/>
              <a:buChar char="•"/>
            </a:pPr>
            <a:r>
              <a:rPr lang="en-US" i="0" dirty="0">
                <a:solidFill>
                  <a:srgbClr val="101F36"/>
                </a:solidFill>
                <a:effectLst/>
                <a:latin typeface="Open Sans" panose="020B0606030504020204" pitchFamily="34" charset="0"/>
              </a:rPr>
              <a:t>Because you may not be able to resell your investment easily, are you comfortable holding it indefinitely?</a:t>
            </a:r>
          </a:p>
          <a:p>
            <a:pPr algn="l">
              <a:buFont typeface="Arial" panose="020B0604020202020204" pitchFamily="34" charset="0"/>
              <a:buChar char="•"/>
            </a:pPr>
            <a:r>
              <a:rPr lang="en-US" i="0" dirty="0">
                <a:solidFill>
                  <a:srgbClr val="101F36"/>
                </a:solidFill>
                <a:effectLst/>
                <a:latin typeface="Open Sans" panose="020B0606030504020204" pitchFamily="34" charset="0"/>
              </a:rPr>
              <a:t>If the company were to fail, could you afford to lose most or all of your investment?   </a:t>
            </a:r>
            <a:r>
              <a:rPr lang="en-US" i="0" dirty="0">
                <a:solidFill>
                  <a:srgbClr val="C00000"/>
                </a:solidFill>
                <a:effectLst/>
                <a:latin typeface="Open Sans" panose="020B0606030504020204" pitchFamily="34" charset="0"/>
                <a:hlinkClick r:id="rId2">
                  <a:extLst>
                    <a:ext uri="{A12FA001-AC4F-418D-AE19-62706E023703}">
                      <ahyp:hlinkClr xmlns:ahyp="http://schemas.microsoft.com/office/drawing/2018/hyperlinkcolor" val="tx"/>
                    </a:ext>
                  </a:extLst>
                </a:hlinkClick>
              </a:rPr>
              <a:t>Investor.Gov For more info</a:t>
            </a:r>
            <a:endParaRPr lang="en-US" i="0" dirty="0">
              <a:solidFill>
                <a:srgbClr val="C00000"/>
              </a:solidFill>
              <a:effectLst/>
              <a:latin typeface="Open Sans" panose="020B0606030504020204" pitchFamily="34" charset="0"/>
            </a:endParaRPr>
          </a:p>
          <a:p>
            <a:endParaRPr lang="en-US" dirty="0"/>
          </a:p>
        </p:txBody>
      </p:sp>
      <p:sp>
        <p:nvSpPr>
          <p:cNvPr id="4" name="Slide Number Placeholder 3">
            <a:extLst>
              <a:ext uri="{FF2B5EF4-FFF2-40B4-BE49-F238E27FC236}">
                <a16:creationId xmlns:a16="http://schemas.microsoft.com/office/drawing/2014/main" id="{5DD5D45F-8E87-32A4-7DB7-C54AF248EA3C}"/>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15</a:t>
            </a:fld>
            <a:endParaRPr spc="-5" dirty="0"/>
          </a:p>
        </p:txBody>
      </p:sp>
    </p:spTree>
    <p:extLst>
      <p:ext uri="{BB962C8B-B14F-4D97-AF65-F5344CB8AC3E}">
        <p14:creationId xmlns:p14="http://schemas.microsoft.com/office/powerpoint/2010/main" val="1932171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D58FC-55C8-9349-07F3-78A8CA495946}"/>
              </a:ext>
            </a:extLst>
          </p:cNvPr>
          <p:cNvSpPr>
            <a:spLocks noGrp="1"/>
          </p:cNvSpPr>
          <p:nvPr>
            <p:ph type="title"/>
          </p:nvPr>
        </p:nvSpPr>
        <p:spPr>
          <a:xfrm>
            <a:off x="726439" y="190295"/>
            <a:ext cx="3153410" cy="215444"/>
          </a:xfrm>
        </p:spPr>
        <p:txBody>
          <a:bodyPr/>
          <a:lstStyle/>
          <a:p>
            <a:r>
              <a:rPr lang="en-US" dirty="0"/>
              <a:t>Governance</a:t>
            </a:r>
          </a:p>
        </p:txBody>
      </p:sp>
      <p:sp>
        <p:nvSpPr>
          <p:cNvPr id="3" name="Text Placeholder 2">
            <a:extLst>
              <a:ext uri="{FF2B5EF4-FFF2-40B4-BE49-F238E27FC236}">
                <a16:creationId xmlns:a16="http://schemas.microsoft.com/office/drawing/2014/main" id="{0C49989E-00DB-9D26-8F1F-0D26932E3826}"/>
              </a:ext>
            </a:extLst>
          </p:cNvPr>
          <p:cNvSpPr>
            <a:spLocks noGrp="1"/>
          </p:cNvSpPr>
          <p:nvPr>
            <p:ph type="body" idx="1"/>
          </p:nvPr>
        </p:nvSpPr>
        <p:spPr>
          <a:xfrm>
            <a:off x="126238" y="572274"/>
            <a:ext cx="4357623" cy="677108"/>
          </a:xfrm>
        </p:spPr>
        <p:txBody>
          <a:bodyPr/>
          <a:lstStyle/>
          <a:p>
            <a:r>
              <a:rPr lang="en-US" dirty="0"/>
              <a:t>Board</a:t>
            </a:r>
          </a:p>
          <a:p>
            <a:r>
              <a:rPr lang="en-US" dirty="0"/>
              <a:t>Bylaws</a:t>
            </a:r>
          </a:p>
          <a:p>
            <a:r>
              <a:rPr lang="en-US" dirty="0"/>
              <a:t>Management</a:t>
            </a:r>
          </a:p>
          <a:p>
            <a:r>
              <a:rPr lang="en-US" dirty="0"/>
              <a:t>Conflicts of Interest</a:t>
            </a:r>
          </a:p>
        </p:txBody>
      </p:sp>
      <p:sp>
        <p:nvSpPr>
          <p:cNvPr id="4" name="Slide Number Placeholder 3">
            <a:extLst>
              <a:ext uri="{FF2B5EF4-FFF2-40B4-BE49-F238E27FC236}">
                <a16:creationId xmlns:a16="http://schemas.microsoft.com/office/drawing/2014/main" id="{F05A877E-E54A-0C55-2749-6361B979C894}"/>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16</a:t>
            </a:fld>
            <a:endParaRPr spc="-5" dirty="0"/>
          </a:p>
        </p:txBody>
      </p:sp>
    </p:spTree>
    <p:extLst>
      <p:ext uri="{BB962C8B-B14F-4D97-AF65-F5344CB8AC3E}">
        <p14:creationId xmlns:p14="http://schemas.microsoft.com/office/powerpoint/2010/main" val="3893053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01E76-3B53-B016-334E-8BFA3C8722BE}"/>
              </a:ext>
            </a:extLst>
          </p:cNvPr>
          <p:cNvSpPr>
            <a:spLocks noGrp="1"/>
          </p:cNvSpPr>
          <p:nvPr>
            <p:ph type="title"/>
          </p:nvPr>
        </p:nvSpPr>
        <p:spPr>
          <a:xfrm>
            <a:off x="726439" y="190295"/>
            <a:ext cx="3153410" cy="215444"/>
          </a:xfrm>
        </p:spPr>
        <p:txBody>
          <a:bodyPr/>
          <a:lstStyle/>
          <a:p>
            <a:r>
              <a:rPr lang="en-US" dirty="0"/>
              <a:t>Guiding Org Chart</a:t>
            </a:r>
          </a:p>
        </p:txBody>
      </p:sp>
      <p:sp>
        <p:nvSpPr>
          <p:cNvPr id="4" name="Slide Number Placeholder 3">
            <a:extLst>
              <a:ext uri="{FF2B5EF4-FFF2-40B4-BE49-F238E27FC236}">
                <a16:creationId xmlns:a16="http://schemas.microsoft.com/office/drawing/2014/main" id="{5447F660-276D-6B19-FA9F-278A2CD019C9}"/>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17</a:t>
            </a:fld>
            <a:endParaRPr spc="-5" dirty="0"/>
          </a:p>
        </p:txBody>
      </p:sp>
      <p:sp>
        <p:nvSpPr>
          <p:cNvPr id="5" name="Round Diagonal Corner Rectangle 4">
            <a:extLst>
              <a:ext uri="{FF2B5EF4-FFF2-40B4-BE49-F238E27FC236}">
                <a16:creationId xmlns:a16="http://schemas.microsoft.com/office/drawing/2014/main" id="{0FFFBD4F-ADC6-1B54-2C23-BA7CC16CAC59}"/>
              </a:ext>
            </a:extLst>
          </p:cNvPr>
          <p:cNvSpPr/>
          <p:nvPr/>
        </p:nvSpPr>
        <p:spPr>
          <a:xfrm>
            <a:off x="400050" y="587375"/>
            <a:ext cx="2743200" cy="381000"/>
          </a:xfrm>
          <a:prstGeom prst="round2DiagRect">
            <a:avLst/>
          </a:prstGeom>
          <a:solidFill>
            <a:srgbClr val="CEB6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Board of Directors</a:t>
            </a:r>
          </a:p>
        </p:txBody>
      </p:sp>
      <p:sp>
        <p:nvSpPr>
          <p:cNvPr id="6" name="Round Diagonal Corner Rectangle 5">
            <a:extLst>
              <a:ext uri="{FF2B5EF4-FFF2-40B4-BE49-F238E27FC236}">
                <a16:creationId xmlns:a16="http://schemas.microsoft.com/office/drawing/2014/main" id="{85102501-E933-02E4-45AD-FC7A9BC9D6F4}"/>
              </a:ext>
            </a:extLst>
          </p:cNvPr>
          <p:cNvSpPr/>
          <p:nvPr/>
        </p:nvSpPr>
        <p:spPr>
          <a:xfrm>
            <a:off x="1907865" y="1196975"/>
            <a:ext cx="1235385" cy="533400"/>
          </a:xfrm>
          <a:prstGeom prst="round2Diag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CEO</a:t>
            </a:r>
          </a:p>
        </p:txBody>
      </p:sp>
      <p:sp>
        <p:nvSpPr>
          <p:cNvPr id="7" name="Round Diagonal Corner Rectangle 6">
            <a:extLst>
              <a:ext uri="{FF2B5EF4-FFF2-40B4-BE49-F238E27FC236}">
                <a16:creationId xmlns:a16="http://schemas.microsoft.com/office/drawing/2014/main" id="{D5B9CDF5-E5B7-4F1A-62B5-0F26383F7130}"/>
              </a:ext>
            </a:extLst>
          </p:cNvPr>
          <p:cNvSpPr/>
          <p:nvPr/>
        </p:nvSpPr>
        <p:spPr>
          <a:xfrm>
            <a:off x="994525" y="1882775"/>
            <a:ext cx="2743200" cy="381000"/>
          </a:xfrm>
          <a:prstGeom prst="round2Diag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386750"/>
                </a:solidFill>
              </a:rPr>
              <a:t>Executive Team</a:t>
            </a:r>
          </a:p>
        </p:txBody>
      </p:sp>
      <p:sp>
        <p:nvSpPr>
          <p:cNvPr id="8" name="Round Diagonal Corner Rectangle 7">
            <a:extLst>
              <a:ext uri="{FF2B5EF4-FFF2-40B4-BE49-F238E27FC236}">
                <a16:creationId xmlns:a16="http://schemas.microsoft.com/office/drawing/2014/main" id="{4901C127-DCAE-8D31-DF2C-4F68A8980D95}"/>
              </a:ext>
            </a:extLst>
          </p:cNvPr>
          <p:cNvSpPr/>
          <p:nvPr/>
        </p:nvSpPr>
        <p:spPr>
          <a:xfrm>
            <a:off x="323850" y="2532984"/>
            <a:ext cx="4038600" cy="381000"/>
          </a:xfrm>
          <a:prstGeom prst="round2Diag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386750"/>
                </a:solidFill>
              </a:rPr>
              <a:t>Implementation/Front Line</a:t>
            </a:r>
          </a:p>
        </p:txBody>
      </p:sp>
    </p:spTree>
    <p:extLst>
      <p:ext uri="{BB962C8B-B14F-4D97-AF65-F5344CB8AC3E}">
        <p14:creationId xmlns:p14="http://schemas.microsoft.com/office/powerpoint/2010/main" val="3355445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3641C-2A8E-2324-5A3C-0516526CEBE6}"/>
              </a:ext>
            </a:extLst>
          </p:cNvPr>
          <p:cNvSpPr>
            <a:spLocks noGrp="1"/>
          </p:cNvSpPr>
          <p:nvPr>
            <p:ph type="title"/>
          </p:nvPr>
        </p:nvSpPr>
        <p:spPr>
          <a:xfrm>
            <a:off x="726439" y="190295"/>
            <a:ext cx="3153410" cy="215444"/>
          </a:xfrm>
        </p:spPr>
        <p:txBody>
          <a:bodyPr/>
          <a:lstStyle/>
          <a:p>
            <a:r>
              <a:rPr lang="en-US" dirty="0"/>
              <a:t>Bylaws</a:t>
            </a:r>
          </a:p>
        </p:txBody>
      </p:sp>
      <p:sp>
        <p:nvSpPr>
          <p:cNvPr id="3" name="Text Placeholder 2">
            <a:extLst>
              <a:ext uri="{FF2B5EF4-FFF2-40B4-BE49-F238E27FC236}">
                <a16:creationId xmlns:a16="http://schemas.microsoft.com/office/drawing/2014/main" id="{A93B8DA1-DEC4-FE80-63C1-16ED2FA82B96}"/>
              </a:ext>
            </a:extLst>
          </p:cNvPr>
          <p:cNvSpPr>
            <a:spLocks noGrp="1"/>
          </p:cNvSpPr>
          <p:nvPr>
            <p:ph type="body" idx="1"/>
          </p:nvPr>
        </p:nvSpPr>
        <p:spPr>
          <a:xfrm>
            <a:off x="126238" y="572274"/>
            <a:ext cx="4357623" cy="1184940"/>
          </a:xfrm>
        </p:spPr>
        <p:txBody>
          <a:bodyPr/>
          <a:lstStyle/>
          <a:p>
            <a:r>
              <a:rPr lang="en-US" dirty="0"/>
              <a:t>A company’s bylaws provide its “rules of operation”.</a:t>
            </a:r>
          </a:p>
          <a:p>
            <a:r>
              <a:rPr lang="en-US" dirty="0"/>
              <a:t>Who may vote.</a:t>
            </a:r>
          </a:p>
          <a:p>
            <a:r>
              <a:rPr lang="en-US" dirty="0"/>
              <a:t>Conflict of Interest Policy</a:t>
            </a:r>
          </a:p>
          <a:p>
            <a:r>
              <a:rPr lang="en-US" dirty="0"/>
              <a:t>Officers</a:t>
            </a:r>
          </a:p>
          <a:p>
            <a:r>
              <a:rPr lang="en-US" dirty="0"/>
              <a:t>Committees</a:t>
            </a:r>
          </a:p>
          <a:p>
            <a:r>
              <a:rPr lang="en-US" dirty="0"/>
              <a:t>How to Amend the Bylaws</a:t>
            </a:r>
          </a:p>
          <a:p>
            <a:r>
              <a:rPr lang="en-US" dirty="0"/>
              <a:t>How Board of Directors is formed</a:t>
            </a:r>
          </a:p>
        </p:txBody>
      </p:sp>
      <p:sp>
        <p:nvSpPr>
          <p:cNvPr id="4" name="Slide Number Placeholder 3">
            <a:extLst>
              <a:ext uri="{FF2B5EF4-FFF2-40B4-BE49-F238E27FC236}">
                <a16:creationId xmlns:a16="http://schemas.microsoft.com/office/drawing/2014/main" id="{B72CEAC0-53D6-0FC2-5F9A-2914CAFD41EB}"/>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18</a:t>
            </a:fld>
            <a:endParaRPr spc="-5" dirty="0"/>
          </a:p>
        </p:txBody>
      </p:sp>
    </p:spTree>
    <p:extLst>
      <p:ext uri="{BB962C8B-B14F-4D97-AF65-F5344CB8AC3E}">
        <p14:creationId xmlns:p14="http://schemas.microsoft.com/office/powerpoint/2010/main" val="2420832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A6FFA-C901-2E7A-520E-54518C9DC0BD}"/>
              </a:ext>
            </a:extLst>
          </p:cNvPr>
          <p:cNvSpPr>
            <a:spLocks noGrp="1"/>
          </p:cNvSpPr>
          <p:nvPr>
            <p:ph type="title"/>
          </p:nvPr>
        </p:nvSpPr>
        <p:spPr>
          <a:xfrm>
            <a:off x="726439" y="190295"/>
            <a:ext cx="3153410" cy="215444"/>
          </a:xfrm>
        </p:spPr>
        <p:txBody>
          <a:bodyPr/>
          <a:lstStyle/>
          <a:p>
            <a:r>
              <a:rPr lang="en-US" dirty="0"/>
              <a:t>Conflict of Interest</a:t>
            </a:r>
          </a:p>
        </p:txBody>
      </p:sp>
      <p:sp>
        <p:nvSpPr>
          <p:cNvPr id="3" name="Text Placeholder 2">
            <a:extLst>
              <a:ext uri="{FF2B5EF4-FFF2-40B4-BE49-F238E27FC236}">
                <a16:creationId xmlns:a16="http://schemas.microsoft.com/office/drawing/2014/main" id="{123A6FF2-8CF5-4D12-C50A-C090D4A78C06}"/>
              </a:ext>
            </a:extLst>
          </p:cNvPr>
          <p:cNvSpPr>
            <a:spLocks noGrp="1"/>
          </p:cNvSpPr>
          <p:nvPr>
            <p:ph type="body" idx="1"/>
          </p:nvPr>
        </p:nvSpPr>
        <p:spPr>
          <a:xfrm>
            <a:off x="126238" y="572274"/>
            <a:ext cx="4357623" cy="1354217"/>
          </a:xfrm>
        </p:spPr>
        <p:txBody>
          <a:bodyPr/>
          <a:lstStyle/>
          <a:p>
            <a:r>
              <a:rPr lang="en-US" dirty="0"/>
              <a:t>Are people making decisions for which they cannot be unbiased regarding their own outcome – that is not in alignment with the outcome faced by others</a:t>
            </a:r>
          </a:p>
          <a:p>
            <a:endParaRPr lang="en-US" dirty="0"/>
          </a:p>
          <a:p>
            <a:r>
              <a:rPr lang="en-US" dirty="0"/>
              <a:t>Where is the “Skin in the Game”</a:t>
            </a:r>
          </a:p>
          <a:p>
            <a:r>
              <a:rPr lang="en-US" dirty="0"/>
              <a:t>What decisions are people with “Skin in the Game” making?</a:t>
            </a:r>
          </a:p>
          <a:p>
            <a:r>
              <a:rPr lang="en-US" dirty="0"/>
              <a:t>What actions/responsibilities are expected from people with “Skin in the Game” – that is a Stake in the Outcome</a:t>
            </a:r>
          </a:p>
        </p:txBody>
      </p:sp>
      <p:sp>
        <p:nvSpPr>
          <p:cNvPr id="4" name="Slide Number Placeholder 3">
            <a:extLst>
              <a:ext uri="{FF2B5EF4-FFF2-40B4-BE49-F238E27FC236}">
                <a16:creationId xmlns:a16="http://schemas.microsoft.com/office/drawing/2014/main" id="{2E6AE5A5-862F-9224-7C9F-891B64D8CE46}"/>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19</a:t>
            </a:fld>
            <a:endParaRPr spc="-5" dirty="0"/>
          </a:p>
        </p:txBody>
      </p:sp>
    </p:spTree>
    <p:extLst>
      <p:ext uri="{BB962C8B-B14F-4D97-AF65-F5344CB8AC3E}">
        <p14:creationId xmlns:p14="http://schemas.microsoft.com/office/powerpoint/2010/main" val="2362141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52881-336F-6FD8-1033-D0BEADFB0B9C}"/>
              </a:ext>
            </a:extLst>
          </p:cNvPr>
          <p:cNvSpPr>
            <a:spLocks noGrp="1"/>
          </p:cNvSpPr>
          <p:nvPr>
            <p:ph type="title"/>
          </p:nvPr>
        </p:nvSpPr>
        <p:spPr>
          <a:xfrm>
            <a:off x="726439" y="190295"/>
            <a:ext cx="3153410" cy="215444"/>
          </a:xfrm>
        </p:spPr>
        <p:txBody>
          <a:bodyPr/>
          <a:lstStyle/>
          <a:p>
            <a:r>
              <a:rPr lang="en-US" dirty="0"/>
              <a:t>Board Decisions</a:t>
            </a:r>
          </a:p>
        </p:txBody>
      </p:sp>
      <p:sp>
        <p:nvSpPr>
          <p:cNvPr id="3" name="Text Placeholder 2">
            <a:extLst>
              <a:ext uri="{FF2B5EF4-FFF2-40B4-BE49-F238E27FC236}">
                <a16:creationId xmlns:a16="http://schemas.microsoft.com/office/drawing/2014/main" id="{434E876F-1121-DD82-BEE7-4F4511555289}"/>
              </a:ext>
            </a:extLst>
          </p:cNvPr>
          <p:cNvSpPr>
            <a:spLocks noGrp="1"/>
          </p:cNvSpPr>
          <p:nvPr>
            <p:ph type="body" idx="1"/>
          </p:nvPr>
        </p:nvSpPr>
        <p:spPr>
          <a:xfrm>
            <a:off x="126238" y="572274"/>
            <a:ext cx="4357623" cy="846386"/>
          </a:xfrm>
        </p:spPr>
        <p:txBody>
          <a:bodyPr/>
          <a:lstStyle/>
          <a:p>
            <a:r>
              <a:rPr lang="en-US" dirty="0"/>
              <a:t>When a decision is made by the Board, how is accountability managed?</a:t>
            </a:r>
          </a:p>
          <a:p>
            <a:r>
              <a:rPr lang="en-US" dirty="0"/>
              <a:t>Are there any Independent Directors</a:t>
            </a:r>
          </a:p>
          <a:p>
            <a:r>
              <a:rPr lang="en-US" dirty="0"/>
              <a:t>Seats held by Investors, not employees?</a:t>
            </a:r>
          </a:p>
          <a:p>
            <a:r>
              <a:rPr lang="en-US" dirty="0"/>
              <a:t>Is Board Qualified to make decisions</a:t>
            </a:r>
          </a:p>
        </p:txBody>
      </p:sp>
      <p:sp>
        <p:nvSpPr>
          <p:cNvPr id="4" name="Slide Number Placeholder 3">
            <a:extLst>
              <a:ext uri="{FF2B5EF4-FFF2-40B4-BE49-F238E27FC236}">
                <a16:creationId xmlns:a16="http://schemas.microsoft.com/office/drawing/2014/main" id="{6D3755F1-E5FC-EA5B-552D-40E343A64C17}"/>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20</a:t>
            </a:fld>
            <a:endParaRPr spc="-5" dirty="0"/>
          </a:p>
        </p:txBody>
      </p:sp>
    </p:spTree>
    <p:extLst>
      <p:ext uri="{BB962C8B-B14F-4D97-AF65-F5344CB8AC3E}">
        <p14:creationId xmlns:p14="http://schemas.microsoft.com/office/powerpoint/2010/main" val="2722589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D8961-E21F-903C-79AA-A9C50569A634}"/>
              </a:ext>
            </a:extLst>
          </p:cNvPr>
          <p:cNvSpPr>
            <a:spLocks noGrp="1"/>
          </p:cNvSpPr>
          <p:nvPr>
            <p:ph type="title"/>
          </p:nvPr>
        </p:nvSpPr>
        <p:spPr>
          <a:xfrm>
            <a:off x="726439" y="190295"/>
            <a:ext cx="3153410" cy="215444"/>
          </a:xfrm>
        </p:spPr>
        <p:txBody>
          <a:bodyPr/>
          <a:lstStyle/>
          <a:p>
            <a:r>
              <a:rPr lang="en-US" dirty="0"/>
              <a:t>In Summary: A Quiz</a:t>
            </a:r>
          </a:p>
        </p:txBody>
      </p:sp>
      <p:sp>
        <p:nvSpPr>
          <p:cNvPr id="3" name="Text Placeholder 2">
            <a:extLst>
              <a:ext uri="{FF2B5EF4-FFF2-40B4-BE49-F238E27FC236}">
                <a16:creationId xmlns:a16="http://schemas.microsoft.com/office/drawing/2014/main" id="{78D94B8B-CC0A-7DB4-6374-D2E4738A40BE}"/>
              </a:ext>
            </a:extLst>
          </p:cNvPr>
          <p:cNvSpPr>
            <a:spLocks noGrp="1"/>
          </p:cNvSpPr>
          <p:nvPr>
            <p:ph type="body" idx="1"/>
          </p:nvPr>
        </p:nvSpPr>
        <p:spPr>
          <a:xfrm>
            <a:off x="126238" y="572274"/>
            <a:ext cx="4357623" cy="169277"/>
          </a:xfrm>
        </p:spPr>
        <p:txBody>
          <a:bodyPr/>
          <a:lstStyle/>
          <a:p>
            <a:pPr marL="0" indent="0">
              <a:buNone/>
            </a:pPr>
            <a:r>
              <a:rPr lang="en-US" dirty="0">
                <a:hlinkClick r:id="rId2"/>
              </a:rPr>
              <a:t>Investing Quiz</a:t>
            </a:r>
            <a:endParaRPr lang="en-US" dirty="0"/>
          </a:p>
        </p:txBody>
      </p:sp>
      <p:sp>
        <p:nvSpPr>
          <p:cNvPr id="4" name="Slide Number Placeholder 3">
            <a:extLst>
              <a:ext uri="{FF2B5EF4-FFF2-40B4-BE49-F238E27FC236}">
                <a16:creationId xmlns:a16="http://schemas.microsoft.com/office/drawing/2014/main" id="{4DF7B8AF-F4AE-9F16-25B7-12DD4A03A6F6}"/>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21</a:t>
            </a:fld>
            <a:endParaRPr spc="-5" dirty="0"/>
          </a:p>
        </p:txBody>
      </p:sp>
    </p:spTree>
    <p:extLst>
      <p:ext uri="{BB962C8B-B14F-4D97-AF65-F5344CB8AC3E}">
        <p14:creationId xmlns:p14="http://schemas.microsoft.com/office/powerpoint/2010/main" val="1436454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198CD-A8E8-44E1-DA08-A7019DA7C447}"/>
              </a:ext>
            </a:extLst>
          </p:cNvPr>
          <p:cNvSpPr>
            <a:spLocks noGrp="1"/>
          </p:cNvSpPr>
          <p:nvPr>
            <p:ph type="title"/>
          </p:nvPr>
        </p:nvSpPr>
        <p:spPr>
          <a:xfrm>
            <a:off x="726439" y="190295"/>
            <a:ext cx="3153410" cy="215444"/>
          </a:xfrm>
        </p:spPr>
        <p:txBody>
          <a:bodyPr/>
          <a:lstStyle/>
          <a:p>
            <a:r>
              <a:rPr lang="en-US" dirty="0" err="1"/>
              <a:t>Viscotech</a:t>
            </a:r>
            <a:endParaRPr lang="en-US" dirty="0"/>
          </a:p>
        </p:txBody>
      </p:sp>
      <p:sp>
        <p:nvSpPr>
          <p:cNvPr id="3" name="Text Placeholder 2">
            <a:extLst>
              <a:ext uri="{FF2B5EF4-FFF2-40B4-BE49-F238E27FC236}">
                <a16:creationId xmlns:a16="http://schemas.microsoft.com/office/drawing/2014/main" id="{2D47D3D4-BC1D-48FC-C25C-9949C9808CB4}"/>
              </a:ext>
            </a:extLst>
          </p:cNvPr>
          <p:cNvSpPr>
            <a:spLocks noGrp="1"/>
          </p:cNvSpPr>
          <p:nvPr>
            <p:ph type="body" idx="1"/>
          </p:nvPr>
        </p:nvSpPr>
        <p:spPr>
          <a:xfrm>
            <a:off x="126238" y="572274"/>
            <a:ext cx="4357623" cy="1523494"/>
          </a:xfrm>
        </p:spPr>
        <p:txBody>
          <a:bodyPr/>
          <a:lstStyle/>
          <a:p>
            <a:r>
              <a:rPr lang="en-US" dirty="0"/>
              <a:t>Please see the questions available under Assignments AND in the Modules</a:t>
            </a:r>
          </a:p>
          <a:p>
            <a:r>
              <a:rPr lang="en-US" dirty="0"/>
              <a:t>Red Flags or Rules Violations?</a:t>
            </a:r>
          </a:p>
          <a:p>
            <a:r>
              <a:rPr lang="en-US" dirty="0"/>
              <a:t>This case has some helpful pieces of what should be part of fundraising – though they are not indicative of what ACTUAL pieces should look like.</a:t>
            </a:r>
          </a:p>
          <a:p>
            <a:r>
              <a:rPr lang="en-US" dirty="0"/>
              <a:t>This is an incredibly strong example of how powerfully wrong hyperbole, and I mean putting the HYPER on hyperbole can go with a fantastic opportunity with the most promising results</a:t>
            </a:r>
          </a:p>
        </p:txBody>
      </p:sp>
      <p:sp>
        <p:nvSpPr>
          <p:cNvPr id="4" name="Slide Number Placeholder 3">
            <a:extLst>
              <a:ext uri="{FF2B5EF4-FFF2-40B4-BE49-F238E27FC236}">
                <a16:creationId xmlns:a16="http://schemas.microsoft.com/office/drawing/2014/main" id="{8A527079-8A1C-244B-FE7D-7CD63692F12E}"/>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22</a:t>
            </a:fld>
            <a:endParaRPr spc="-5" dirty="0"/>
          </a:p>
        </p:txBody>
      </p:sp>
    </p:spTree>
    <p:extLst>
      <p:ext uri="{BB962C8B-B14F-4D97-AF65-F5344CB8AC3E}">
        <p14:creationId xmlns:p14="http://schemas.microsoft.com/office/powerpoint/2010/main" val="3893854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60E33-75A6-A7D4-A9E9-E1BDEFF1AC5D}"/>
              </a:ext>
            </a:extLst>
          </p:cNvPr>
          <p:cNvSpPr>
            <a:spLocks noGrp="1"/>
          </p:cNvSpPr>
          <p:nvPr>
            <p:ph type="title"/>
          </p:nvPr>
        </p:nvSpPr>
        <p:spPr>
          <a:xfrm>
            <a:off x="726439" y="190295"/>
            <a:ext cx="3153410" cy="215444"/>
          </a:xfrm>
        </p:spPr>
        <p:txBody>
          <a:bodyPr/>
          <a:lstStyle/>
          <a:p>
            <a:r>
              <a:rPr lang="en-US" dirty="0"/>
              <a:t>Presenting</a:t>
            </a:r>
          </a:p>
        </p:txBody>
      </p:sp>
      <p:sp>
        <p:nvSpPr>
          <p:cNvPr id="3" name="Text Placeholder 2">
            <a:extLst>
              <a:ext uri="{FF2B5EF4-FFF2-40B4-BE49-F238E27FC236}">
                <a16:creationId xmlns:a16="http://schemas.microsoft.com/office/drawing/2014/main" id="{7CBAEABD-9EE2-EE73-FDE4-9D7958D28E8F}"/>
              </a:ext>
            </a:extLst>
          </p:cNvPr>
          <p:cNvSpPr>
            <a:spLocks noGrp="1"/>
          </p:cNvSpPr>
          <p:nvPr>
            <p:ph type="body" idx="1"/>
          </p:nvPr>
        </p:nvSpPr>
        <p:spPr>
          <a:xfrm>
            <a:off x="126238" y="572274"/>
            <a:ext cx="4357623" cy="169277"/>
          </a:xfrm>
        </p:spPr>
        <p:txBody>
          <a:bodyPr/>
          <a:lstStyle/>
          <a:p>
            <a:r>
              <a:rPr lang="en-US" dirty="0"/>
              <a:t>Team 9</a:t>
            </a:r>
          </a:p>
        </p:txBody>
      </p:sp>
      <p:sp>
        <p:nvSpPr>
          <p:cNvPr id="4" name="Slide Number Placeholder 3">
            <a:extLst>
              <a:ext uri="{FF2B5EF4-FFF2-40B4-BE49-F238E27FC236}">
                <a16:creationId xmlns:a16="http://schemas.microsoft.com/office/drawing/2014/main" id="{CFFC1586-E8FB-D736-D26C-DBDED58E33E6}"/>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23</a:t>
            </a:fld>
            <a:endParaRPr spc="-5" dirty="0"/>
          </a:p>
        </p:txBody>
      </p:sp>
      <p:sp>
        <p:nvSpPr>
          <p:cNvPr id="5" name="Title 1">
            <a:extLst>
              <a:ext uri="{FF2B5EF4-FFF2-40B4-BE49-F238E27FC236}">
                <a16:creationId xmlns:a16="http://schemas.microsoft.com/office/drawing/2014/main" id="{8F0D2A96-8730-7719-41BC-2AE492BAA2CD}"/>
              </a:ext>
            </a:extLst>
          </p:cNvPr>
          <p:cNvSpPr txBox="1">
            <a:spLocks/>
          </p:cNvSpPr>
          <p:nvPr/>
        </p:nvSpPr>
        <p:spPr>
          <a:xfrm>
            <a:off x="726439" y="1196975"/>
            <a:ext cx="3153410" cy="215444"/>
          </a:xfrm>
          <a:prstGeom prst="rect">
            <a:avLst/>
          </a:prstGeom>
        </p:spPr>
        <p:txBody>
          <a:bodyPr wrap="square" lIns="0" tIns="0" rIns="0" bIns="0">
            <a:spAutoFit/>
          </a:bodyPr>
          <a:lstStyle>
            <a:lvl1pPr>
              <a:defRPr sz="1400" b="1" i="0">
                <a:solidFill>
                  <a:srgbClr val="526894"/>
                </a:solidFill>
                <a:latin typeface="Arial"/>
                <a:ea typeface="+mj-ea"/>
                <a:cs typeface="Arial"/>
              </a:defRPr>
            </a:lvl1pPr>
          </a:lstStyle>
          <a:p>
            <a:r>
              <a:rPr lang="en-US" kern="0" dirty="0"/>
              <a:t>Write Up</a:t>
            </a:r>
          </a:p>
        </p:txBody>
      </p:sp>
      <p:sp>
        <p:nvSpPr>
          <p:cNvPr id="6" name="Text Placeholder 2">
            <a:extLst>
              <a:ext uri="{FF2B5EF4-FFF2-40B4-BE49-F238E27FC236}">
                <a16:creationId xmlns:a16="http://schemas.microsoft.com/office/drawing/2014/main" id="{4FAEE225-C933-399C-D385-3DAC83AD5661}"/>
              </a:ext>
            </a:extLst>
          </p:cNvPr>
          <p:cNvSpPr txBox="1">
            <a:spLocks/>
          </p:cNvSpPr>
          <p:nvPr/>
        </p:nvSpPr>
        <p:spPr>
          <a:xfrm>
            <a:off x="145288" y="1619864"/>
            <a:ext cx="4357623" cy="507831"/>
          </a:xfrm>
          <a:prstGeom prst="rect">
            <a:avLst/>
          </a:prstGeom>
        </p:spPr>
        <p:txBody>
          <a:bodyPr wrap="square" lIns="0" tIns="0" rIns="0" bIns="0">
            <a:spAutoFit/>
          </a:bodyPr>
          <a:lstStyle>
            <a:lvl1pPr marL="171450" indent="-171450">
              <a:buFont typeface="Arial" panose="020B0604020202020204" pitchFamily="34" charset="0"/>
              <a:buChar char="•"/>
              <a:defRPr sz="1100" b="0" i="0">
                <a:solidFill>
                  <a:schemeClr val="tx1"/>
                </a:solidFill>
                <a:latin typeface="Arial"/>
                <a:ea typeface="+mn-ea"/>
                <a:cs typeface="Arial"/>
              </a:defRPr>
            </a:lvl1pPr>
            <a:lvl2pPr marL="742950" indent="-285750">
              <a:buFont typeface="Arial" panose="020B0604020202020204" pitchFamily="34" charset="0"/>
              <a:buChar char="•"/>
              <a:defRPr sz="1100">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kern="0" dirty="0"/>
              <a:t>Team 7</a:t>
            </a:r>
          </a:p>
          <a:p>
            <a:r>
              <a:rPr lang="en-US" kern="0" dirty="0"/>
              <a:t>Team 8</a:t>
            </a:r>
          </a:p>
          <a:p>
            <a:r>
              <a:rPr lang="en-US" kern="0" dirty="0"/>
              <a:t>Team 9</a:t>
            </a:r>
          </a:p>
        </p:txBody>
      </p:sp>
      <p:sp>
        <p:nvSpPr>
          <p:cNvPr id="7" name="Title 1">
            <a:extLst>
              <a:ext uri="{FF2B5EF4-FFF2-40B4-BE49-F238E27FC236}">
                <a16:creationId xmlns:a16="http://schemas.microsoft.com/office/drawing/2014/main" id="{14BF7115-B354-AC5C-82C6-EC3288B9C421}"/>
              </a:ext>
            </a:extLst>
          </p:cNvPr>
          <p:cNvSpPr txBox="1">
            <a:spLocks/>
          </p:cNvSpPr>
          <p:nvPr/>
        </p:nvSpPr>
        <p:spPr>
          <a:xfrm>
            <a:off x="684776" y="2303047"/>
            <a:ext cx="3153410" cy="215444"/>
          </a:xfrm>
          <a:prstGeom prst="rect">
            <a:avLst/>
          </a:prstGeom>
        </p:spPr>
        <p:txBody>
          <a:bodyPr wrap="square" lIns="0" tIns="0" rIns="0" bIns="0">
            <a:spAutoFit/>
          </a:bodyPr>
          <a:lstStyle>
            <a:lvl1pPr>
              <a:defRPr sz="1400" b="1" i="0">
                <a:solidFill>
                  <a:srgbClr val="526894"/>
                </a:solidFill>
                <a:latin typeface="Arial"/>
                <a:ea typeface="+mj-ea"/>
                <a:cs typeface="Arial"/>
              </a:defRPr>
            </a:lvl1pPr>
          </a:lstStyle>
          <a:p>
            <a:r>
              <a:rPr lang="en-US" kern="0" dirty="0"/>
              <a:t>Responding</a:t>
            </a:r>
          </a:p>
        </p:txBody>
      </p:sp>
      <p:sp>
        <p:nvSpPr>
          <p:cNvPr id="8" name="Text Placeholder 2">
            <a:extLst>
              <a:ext uri="{FF2B5EF4-FFF2-40B4-BE49-F238E27FC236}">
                <a16:creationId xmlns:a16="http://schemas.microsoft.com/office/drawing/2014/main" id="{1296A113-A24C-8327-490A-0C02F854D592}"/>
              </a:ext>
            </a:extLst>
          </p:cNvPr>
          <p:cNvSpPr txBox="1">
            <a:spLocks/>
          </p:cNvSpPr>
          <p:nvPr/>
        </p:nvSpPr>
        <p:spPr>
          <a:xfrm>
            <a:off x="103625" y="2725936"/>
            <a:ext cx="4357623" cy="169277"/>
          </a:xfrm>
          <a:prstGeom prst="rect">
            <a:avLst/>
          </a:prstGeom>
        </p:spPr>
        <p:txBody>
          <a:bodyPr wrap="square" lIns="0" tIns="0" rIns="0" bIns="0">
            <a:spAutoFit/>
          </a:bodyPr>
          <a:lstStyle>
            <a:lvl1pPr marL="171450" indent="-171450">
              <a:buFont typeface="Arial" panose="020B0604020202020204" pitchFamily="34" charset="0"/>
              <a:buChar char="•"/>
              <a:defRPr sz="1100" b="0" i="0">
                <a:solidFill>
                  <a:schemeClr val="tx1"/>
                </a:solidFill>
                <a:latin typeface="Arial"/>
                <a:ea typeface="+mn-ea"/>
                <a:cs typeface="Arial"/>
              </a:defRPr>
            </a:lvl1pPr>
            <a:lvl2pPr marL="742950" indent="-285750">
              <a:buFont typeface="Arial" panose="020B0604020202020204" pitchFamily="34" charset="0"/>
              <a:buChar char="•"/>
              <a:defRPr sz="1100">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kern="0" dirty="0"/>
              <a:t>Team 5</a:t>
            </a:r>
          </a:p>
        </p:txBody>
      </p:sp>
    </p:spTree>
    <p:extLst>
      <p:ext uri="{BB962C8B-B14F-4D97-AF65-F5344CB8AC3E}">
        <p14:creationId xmlns:p14="http://schemas.microsoft.com/office/powerpoint/2010/main" val="2334298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ded8b1b-070d-4629-82e4-c0b019f46057}" enabled="0" method="" siteId="{3ded8b1b-070d-4629-82e4-c0b019f46057}" removed="1"/>
</clbl:labelList>
</file>

<file path=docProps/app.xml><?xml version="1.0" encoding="utf-8"?>
<Properties xmlns="http://schemas.openxmlformats.org/officeDocument/2006/extended-properties" xmlns:vt="http://schemas.openxmlformats.org/officeDocument/2006/docPropsVTypes">
  <Template/>
  <TotalTime>8140</TotalTime>
  <Words>996</Words>
  <Application>Microsoft Office PowerPoint</Application>
  <PresentationFormat>Custom</PresentationFormat>
  <Paragraphs>178</Paragraphs>
  <Slides>23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Garamond</vt:lpstr>
      <vt:lpstr>Open Sans</vt:lpstr>
      <vt:lpstr>Rockwell</vt:lpstr>
      <vt:lpstr>Office Theme</vt:lpstr>
      <vt:lpstr>        ESBM4570   Week 9.2</vt:lpstr>
      <vt:lpstr>Securities Law, Venture Financing &amp; Governance</vt:lpstr>
      <vt:lpstr>Key Topics Today</vt:lpstr>
      <vt:lpstr>When it comes to Accounting</vt:lpstr>
      <vt:lpstr>When it Comes to LAW</vt:lpstr>
      <vt:lpstr>Does the SEC regulate private companies?</vt:lpstr>
      <vt:lpstr>Which of the following is an example of a security?</vt:lpstr>
      <vt:lpstr>Which of the following is an example of engaging in an offer of securities?</vt:lpstr>
      <vt:lpstr>Securities Act of 1933</vt:lpstr>
      <vt:lpstr>Investment Company Act of 1940</vt:lpstr>
      <vt:lpstr>JOBS Act of 2012</vt:lpstr>
      <vt:lpstr>PowerPoint Presentation</vt:lpstr>
      <vt:lpstr>Raising Funds</vt:lpstr>
      <vt:lpstr>Red Flag or Illegal?</vt:lpstr>
      <vt:lpstr>Notes on considerations for offering/investing in private placement</vt:lpstr>
      <vt:lpstr>Governance</vt:lpstr>
      <vt:lpstr>Guiding Org Chart</vt:lpstr>
      <vt:lpstr>Bylaws</vt:lpstr>
      <vt:lpstr>Conflict of Interest</vt:lpstr>
      <vt:lpstr>Board Decisions</vt:lpstr>
      <vt:lpstr>In Summary: A Quiz</vt:lpstr>
      <vt:lpstr>Viscotech</vt:lpstr>
      <vt:lpstr>Presenting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Entrepreneurial Finance  Lesson 1</dc:title>
  <dc:creator>Shaun Davies, CU-Boulder</dc:creator>
  <cp:lastModifiedBy>Ellen Burnes</cp:lastModifiedBy>
  <cp:revision>22</cp:revision>
  <dcterms:created xsi:type="dcterms:W3CDTF">2022-01-05T04:34:10Z</dcterms:created>
  <dcterms:modified xsi:type="dcterms:W3CDTF">2025-10-15T17:58:12Z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2017-02-19T00:00:00Z</vt:filetime>
  </property>
  <property fmtid="{D5CDD505-2E9C-101B-9397-08002B2CF9AE}" pid="3" name="Creator">
    <vt:lpwstr>LaTeX with Beamer class version 3.27</vt:lpwstr>
  </property>
  <property fmtid="{D5CDD505-2E9C-101B-9397-08002B2CF9AE}" pid="4" name="LastSaved">
    <vt:filetime>2022-01-05T00:00:00Z</vt:filetime>
  </property>
</Properties>
</file>