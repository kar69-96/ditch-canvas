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446" r:id="rId3"/>
    <p:sldId id="437" r:id="rId4"/>
    <p:sldId id="440" r:id="rId5"/>
    <p:sldId id="436" r:id="rId6"/>
    <p:sldId id="449" r:id="rId7"/>
    <p:sldId id="433" r:id="rId8"/>
    <p:sldId id="434" r:id="rId9"/>
    <p:sldId id="450" r:id="rId10"/>
    <p:sldId id="439" r:id="rId11"/>
    <p:sldId id="441" r:id="rId12"/>
    <p:sldId id="443" r:id="rId13"/>
    <p:sldId id="442" r:id="rId14"/>
    <p:sldId id="448" r:id="rId15"/>
    <p:sldId id="444" r:id="rId16"/>
    <p:sldId id="451" r:id="rId17"/>
    <p:sldId id="445" r:id="rId18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516993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35AB1-B4B6-4140-8813-EFEB8A28BE7B}" v="1" dt="2025-09-22T02:57:53.6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72"/>
  </p:normalViewPr>
  <p:slideViewPr>
    <p:cSldViewPr snapToGrid="0">
      <p:cViewPr varScale="1">
        <p:scale>
          <a:sx n="191" d="100"/>
          <a:sy n="191" d="100"/>
        </p:scale>
        <p:origin x="664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7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1DD-8DEA-BF80-E489-C61AA7A3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5FD96-3C44-BA36-7589-0AF1B0DC4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6A864-7C14-99AF-D67D-093125FB5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57C6E-5C00-44CB-40B0-20E62424C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47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87799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2400" dirty="0"/>
              <a:t>McDuff &amp; </a:t>
            </a:r>
            <a:r>
              <a:rPr lang="en-US" sz="2400" dirty="0" err="1"/>
              <a:t>Ebay</a:t>
            </a:r>
            <a:br>
              <a:rPr lang="en-US" sz="2400" dirty="0"/>
            </a:br>
            <a:r>
              <a:rPr lang="en-US" sz="1600" dirty="0"/>
              <a:t>Structuring and Financing from </a:t>
            </a:r>
            <a:r>
              <a:rPr lang="en-US" sz="1600" dirty="0" err="1"/>
              <a:t>StartUp</a:t>
            </a:r>
            <a:r>
              <a:rPr lang="en-US" sz="1600" dirty="0"/>
              <a:t> to Exit</a:t>
            </a:r>
            <a:endParaRPr sz="16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7823-E684-2C71-4C43-9206AB4B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Week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F5005-73E8-662F-E22E-914CB0E4B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Amalgamated Hatrack vs eBay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Formation, Capital Structure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Growth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Investor/Capital Choices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Exit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90D6F-FDBA-B5D2-D67F-B3C325B651C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8E6B9-EA71-909A-9CCF-7BD1E49544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77441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AD4C-1DA1-D9A0-8B16-FE6CAF97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190295"/>
            <a:ext cx="4357623" cy="646331"/>
          </a:xfrm>
        </p:spPr>
        <p:txBody>
          <a:bodyPr/>
          <a:lstStyle/>
          <a:p>
            <a:r>
              <a:rPr lang="en-US" dirty="0"/>
              <a:t>Story today is business formation and financing relative to business lifecycle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6D269-CDDA-8000-D5E6-DAEA8BC52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759326"/>
            <a:ext cx="4357623" cy="846386"/>
          </a:xfrm>
        </p:spPr>
        <p:txBody>
          <a:bodyPr/>
          <a:lstStyle/>
          <a:p>
            <a:r>
              <a:rPr lang="en-US" dirty="0"/>
              <a:t>Business formation influences access to financing</a:t>
            </a:r>
          </a:p>
          <a:p>
            <a:r>
              <a:rPr lang="en-US" dirty="0"/>
              <a:t>Business formation influences growth potential</a:t>
            </a:r>
          </a:p>
          <a:p>
            <a:endParaRPr lang="en-US" dirty="0"/>
          </a:p>
          <a:p>
            <a:r>
              <a:rPr lang="en-US" i="1" dirty="0"/>
              <a:t>Business formation choice should match GOALS and EXIT expectations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2284F-CCAC-6070-0BA9-4738CE595D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39316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4C51-30CD-9BC4-22FF-9D16B88F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Life Cycle View of Financing*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5DD30-355D-3545-0C3F-F82BDC80D8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DD3DF-E18A-A8A0-DAE7-453B4EDB8A8D}"/>
              </a:ext>
            </a:extLst>
          </p:cNvPr>
          <p:cNvSpPr txBox="1"/>
          <p:nvPr/>
        </p:nvSpPr>
        <p:spPr>
          <a:xfrm>
            <a:off x="0" y="3164530"/>
            <a:ext cx="2765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*Based on Figure 5-1, Financing Operations and Growth, p. 15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F62F85-67B0-EEA5-A324-098DAA2B4103}"/>
              </a:ext>
            </a:extLst>
          </p:cNvPr>
          <p:cNvCxnSpPr/>
          <p:nvPr/>
        </p:nvCxnSpPr>
        <p:spPr>
          <a:xfrm flipH="1" flipV="1">
            <a:off x="240631" y="419609"/>
            <a:ext cx="48127" cy="2348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8F8E47-34FB-FB02-7CAE-15F93306334B}"/>
              </a:ext>
            </a:extLst>
          </p:cNvPr>
          <p:cNvCxnSpPr>
            <a:cxnSpLocks/>
          </p:cNvCxnSpPr>
          <p:nvPr/>
        </p:nvCxnSpPr>
        <p:spPr>
          <a:xfrm>
            <a:off x="264694" y="1601378"/>
            <a:ext cx="4269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4DEC116-866D-8337-520E-E8B602EDCD45}"/>
              </a:ext>
            </a:extLst>
          </p:cNvPr>
          <p:cNvSpPr/>
          <p:nvPr/>
        </p:nvSpPr>
        <p:spPr>
          <a:xfrm>
            <a:off x="312821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Start 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CB651E-3E92-B9E7-5691-CE5E6D8CD11D}"/>
              </a:ext>
            </a:extLst>
          </p:cNvPr>
          <p:cNvSpPr/>
          <p:nvPr/>
        </p:nvSpPr>
        <p:spPr>
          <a:xfrm>
            <a:off x="312821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Savings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Friends &amp; family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Angels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VC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098E8-725D-4637-CB83-C5D1A8E9C69D}"/>
              </a:ext>
            </a:extLst>
          </p:cNvPr>
          <p:cNvSpPr/>
          <p:nvPr/>
        </p:nvSpPr>
        <p:spPr>
          <a:xfrm>
            <a:off x="1336842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Growth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A298D-4AB5-C91B-6398-5F0E56721996}"/>
              </a:ext>
            </a:extLst>
          </p:cNvPr>
          <p:cNvSpPr/>
          <p:nvPr/>
        </p:nvSpPr>
        <p:spPr>
          <a:xfrm>
            <a:off x="1336842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Private sale of shares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Local banks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VC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Asset-based loans/lease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5F1CC-05DC-4579-2507-1C0E10CEEE4F}"/>
              </a:ext>
            </a:extLst>
          </p:cNvPr>
          <p:cNvSpPr/>
          <p:nvPr/>
        </p:nvSpPr>
        <p:spPr>
          <a:xfrm>
            <a:off x="2368884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Growth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4155BC-FD9E-BB1C-18DF-76045585D65F}"/>
              </a:ext>
            </a:extLst>
          </p:cNvPr>
          <p:cNvSpPr/>
          <p:nvPr/>
        </p:nvSpPr>
        <p:spPr>
          <a:xfrm>
            <a:off x="2368884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PE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IPO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Asset-based loan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2F035-BE81-0F56-6674-FD8259B3791E}"/>
              </a:ext>
            </a:extLst>
          </p:cNvPr>
          <p:cNvSpPr/>
          <p:nvPr/>
        </p:nvSpPr>
        <p:spPr>
          <a:xfrm>
            <a:off x="3400926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Maturity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2CFF9D-2BA9-0084-763B-0DB963C42C47}"/>
              </a:ext>
            </a:extLst>
          </p:cNvPr>
          <p:cNvSpPr/>
          <p:nvPr/>
        </p:nvSpPr>
        <p:spPr>
          <a:xfrm>
            <a:off x="3400926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Commercial paper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Bonds</a:t>
            </a:r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r>
              <a:rPr lang="en-US" sz="1100" dirty="0"/>
              <a:t>IPO/follow on</a:t>
            </a:r>
          </a:p>
          <a:p>
            <a:pPr>
              <a:buSzPct val="90000"/>
            </a:pPr>
            <a:endParaRPr lang="en-US" sz="1100" dirty="0"/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263DE-DA75-6B3A-8856-DFA9D048E361}"/>
              </a:ext>
            </a:extLst>
          </p:cNvPr>
          <p:cNvSpPr txBox="1"/>
          <p:nvPr/>
        </p:nvSpPr>
        <p:spPr>
          <a:xfrm rot="16200000">
            <a:off x="-208513" y="617335"/>
            <a:ext cx="684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Revenue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3F903C8-40E7-F3AA-28A6-85BA02ED18A1}"/>
              </a:ext>
            </a:extLst>
          </p:cNvPr>
          <p:cNvSpPr/>
          <p:nvPr/>
        </p:nvSpPr>
        <p:spPr>
          <a:xfrm>
            <a:off x="262021" y="491958"/>
            <a:ext cx="3497179" cy="1261979"/>
          </a:xfrm>
          <a:custGeom>
            <a:avLst/>
            <a:gdLst>
              <a:gd name="connsiteX0" fmla="*/ 0 w 3497179"/>
              <a:gd name="connsiteY0" fmla="*/ 1261979 h 1261979"/>
              <a:gd name="connsiteX1" fmla="*/ 1315453 w 3497179"/>
              <a:gd name="connsiteY1" fmla="*/ 876968 h 1261979"/>
              <a:gd name="connsiteX2" fmla="*/ 1646990 w 3497179"/>
              <a:gd name="connsiteY2" fmla="*/ 572168 h 1261979"/>
              <a:gd name="connsiteX3" fmla="*/ 2021305 w 3497179"/>
              <a:gd name="connsiteY3" fmla="*/ 331537 h 1261979"/>
              <a:gd name="connsiteX4" fmla="*/ 2572084 w 3497179"/>
              <a:gd name="connsiteY4" fmla="*/ 117642 h 1261979"/>
              <a:gd name="connsiteX5" fmla="*/ 3497179 w 3497179"/>
              <a:gd name="connsiteY5" fmla="*/ 0 h 1261979"/>
              <a:gd name="connsiteX6" fmla="*/ 3497179 w 3497179"/>
              <a:gd name="connsiteY6" fmla="*/ 0 h 1261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7179" h="1261979">
                <a:moveTo>
                  <a:pt x="0" y="1261979"/>
                </a:moveTo>
                <a:cubicBezTo>
                  <a:pt x="520477" y="1126957"/>
                  <a:pt x="1040955" y="991936"/>
                  <a:pt x="1315453" y="876968"/>
                </a:cubicBezTo>
                <a:cubicBezTo>
                  <a:pt x="1589951" y="762000"/>
                  <a:pt x="1529348" y="663073"/>
                  <a:pt x="1646990" y="572168"/>
                </a:cubicBezTo>
                <a:cubicBezTo>
                  <a:pt x="1764632" y="481263"/>
                  <a:pt x="1867123" y="407291"/>
                  <a:pt x="2021305" y="331537"/>
                </a:cubicBezTo>
                <a:cubicBezTo>
                  <a:pt x="2175487" y="255783"/>
                  <a:pt x="2326105" y="172898"/>
                  <a:pt x="2572084" y="117642"/>
                </a:cubicBezTo>
                <a:cubicBezTo>
                  <a:pt x="2818063" y="62386"/>
                  <a:pt x="3497179" y="0"/>
                  <a:pt x="3497179" y="0"/>
                </a:cubicBezTo>
                <a:lnTo>
                  <a:pt x="3497179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6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3E82-78CB-8C24-B32E-1BAC6F6E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" y="190295"/>
            <a:ext cx="3671302" cy="215444"/>
          </a:xfrm>
        </p:spPr>
        <p:txBody>
          <a:bodyPr/>
          <a:lstStyle/>
          <a:p>
            <a:r>
              <a:rPr lang="en-US" dirty="0"/>
              <a:t>Banks/Lenders</a:t>
            </a:r>
            <a:endParaRPr lang="en-US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31A02-C425-BD17-DEE7-931D9DA1E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Will the borrower be able to pay me back?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Does the borrower understand the market, and is their plan feasible?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Does the entrepreneur have the experience/knowledge to OPERATE this type of business (successfully)?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Is the business plan realistic; are the assumptions reasonable?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Are the revenue and cost projections realistic AND conservative?</a:t>
            </a:r>
          </a:p>
          <a:p>
            <a:pPr marL="228600" indent="-228600">
              <a:buAutoNum type="arabicParenR"/>
            </a:pPr>
            <a:r>
              <a:rPr lang="en-US" dirty="0"/>
              <a:t>Is the borrower’s CHARACTER such that they will pay me back?</a:t>
            </a:r>
          </a:p>
          <a:p>
            <a:pPr marL="228600" indent="-228600">
              <a:buAutoNum type="arabicParenR"/>
            </a:pPr>
            <a:r>
              <a:rPr lang="en-US" dirty="0"/>
              <a:t>If the borrower DOES NOT repay me, are there marketable assets that I can put my hands 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D8817-502C-DDF9-0EE6-04768F8DBA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94519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2395-8F37-DAB1-5270-B3F03507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Form 8 Groups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754F1-5E00-ECAE-DA1C-083F405A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9880"/>
          </a:xfrm>
        </p:spPr>
        <p:txBody>
          <a:bodyPr/>
          <a:lstStyle/>
          <a:p>
            <a:r>
              <a:rPr lang="en-US" dirty="0"/>
              <a:t>You will review Amalgamated Hat Rack – Angus McDuff and eBay, Pierre Omidyar according to the prompts on the following pages.</a:t>
            </a:r>
          </a:p>
          <a:p>
            <a:endParaRPr lang="en-US" dirty="0"/>
          </a:p>
          <a:p>
            <a:r>
              <a:rPr lang="en-US" dirty="0"/>
              <a:t>This in-class project is worth 15 points.</a:t>
            </a:r>
          </a:p>
          <a:p>
            <a:r>
              <a:rPr lang="en-US" dirty="0"/>
              <a:t>Click on the Group Link associated with your Group Number</a:t>
            </a:r>
          </a:p>
          <a:p>
            <a:r>
              <a:rPr lang="en-US" dirty="0"/>
              <a:t>On the COVER, put your team members’ names</a:t>
            </a:r>
          </a:p>
          <a:p>
            <a:endParaRPr lang="en-US" dirty="0"/>
          </a:p>
          <a:p>
            <a:r>
              <a:rPr lang="en-US" dirty="0"/>
              <a:t>Within each group, form 2 teams: </a:t>
            </a:r>
          </a:p>
          <a:p>
            <a:r>
              <a:rPr lang="en-US" dirty="0"/>
              <a:t>	one will do Amalgamated Hatrack</a:t>
            </a:r>
          </a:p>
          <a:p>
            <a:r>
              <a:rPr lang="en-US" dirty="0"/>
              <a:t>	one will </a:t>
            </a:r>
            <a:r>
              <a:rPr lang="en-US"/>
              <a:t>do eBay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Complete the steps.</a:t>
            </a:r>
          </a:p>
          <a:p>
            <a:endParaRPr lang="en-US" dirty="0"/>
          </a:p>
          <a:p>
            <a:r>
              <a:rPr lang="en-US" dirty="0"/>
              <a:t>Share out.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8D4AB-27BC-E742-D201-F4B5BFDCB7D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73069-4A5A-2558-92E9-BE81B761F2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5080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58C6-6294-2EDA-6791-EA070F27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Tell me about Angus McDuff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C170-973C-3495-5F1C-6C33AE442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877711"/>
          </a:xfrm>
        </p:spPr>
        <p:txBody>
          <a:bodyPr/>
          <a:lstStyle/>
          <a:p>
            <a:r>
              <a:rPr lang="en-US" dirty="0"/>
              <a:t>Was he well-prepared for self-employment?</a:t>
            </a:r>
          </a:p>
          <a:p>
            <a:endParaRPr lang="en-US" dirty="0"/>
          </a:p>
          <a:p>
            <a:r>
              <a:rPr lang="en-US" dirty="0"/>
              <a:t>Why was he opening Amalgamated?</a:t>
            </a:r>
          </a:p>
          <a:p>
            <a:r>
              <a:rPr lang="en-US" dirty="0"/>
              <a:t>What kind of formation structure does it appear that he chose? What are the implications?</a:t>
            </a:r>
          </a:p>
          <a:p>
            <a:endParaRPr lang="en-US" dirty="0"/>
          </a:p>
          <a:p>
            <a:r>
              <a:rPr lang="en-US" dirty="0"/>
              <a:t>Does $3000 make sense to prepare for 3 months?</a:t>
            </a:r>
          </a:p>
          <a:p>
            <a:r>
              <a:rPr lang="en-US" dirty="0"/>
              <a:t>See Spreadsheet for Calculator!</a:t>
            </a:r>
          </a:p>
          <a:p>
            <a:endParaRPr lang="en-US" dirty="0"/>
          </a:p>
          <a:p>
            <a:r>
              <a:rPr lang="en-US" dirty="0"/>
              <a:t>What recommendations might you make to Angus regarding his Assets, AND, how will you accommodate this on the L&amp;SE side of the balance sheet?</a:t>
            </a:r>
          </a:p>
          <a:p>
            <a:endParaRPr lang="en-US" dirty="0"/>
          </a:p>
          <a:p>
            <a:r>
              <a:rPr lang="en-US" dirty="0"/>
              <a:t>Think critically about the CASH impact of his inventory, facility and operations decisions.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BC77E-579F-EC85-F47B-3FCA157E27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52821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E64F-BD5A-359E-7EF7-87C6F21AE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190295"/>
            <a:ext cx="4357623" cy="646331"/>
          </a:xfrm>
        </p:spPr>
        <p:txBody>
          <a:bodyPr/>
          <a:lstStyle/>
          <a:p>
            <a:r>
              <a:rPr lang="en-US" dirty="0"/>
              <a:t>What is McDuff’s current capital sources AND which of the following do you think might be feasible… and WHEN – why or why not?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982AA-20DB-1F79-8C24-FE125D445C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CDCC90-4B4F-A3F3-350A-89D69C26A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728199"/>
              </p:ext>
            </p:extLst>
          </p:nvPr>
        </p:nvGraphicFramePr>
        <p:xfrm>
          <a:off x="143888" y="919804"/>
          <a:ext cx="3715512" cy="24178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7756">
                  <a:extLst>
                    <a:ext uri="{9D8B030D-6E8A-4147-A177-3AD203B41FA5}">
                      <a16:colId xmlns:a16="http://schemas.microsoft.com/office/drawing/2014/main" val="3598540412"/>
                    </a:ext>
                  </a:extLst>
                </a:gridCol>
                <a:gridCol w="1857756">
                  <a:extLst>
                    <a:ext uri="{9D8B030D-6E8A-4147-A177-3AD203B41FA5}">
                      <a16:colId xmlns:a16="http://schemas.microsoft.com/office/drawing/2014/main" val="207736031"/>
                    </a:ext>
                  </a:extLst>
                </a:gridCol>
              </a:tblGrid>
              <a:tr h="261726">
                <a:tc>
                  <a:txBody>
                    <a:bodyPr/>
                    <a:lstStyle/>
                    <a:p>
                      <a:r>
                        <a:rPr lang="en-US" sz="1100" dirty="0"/>
                        <a:t>Financing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Feasible and 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175588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Personal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782619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Friends &amp;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209579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Trade 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059527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Line of 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65028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Commercial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832476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Outside Investor (Angel/VC)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24493"/>
                  </a:ext>
                </a:extLst>
              </a:tr>
              <a:tr h="255603">
                <a:tc>
                  <a:txBody>
                    <a:bodyPr/>
                    <a:lstStyle/>
                    <a:p>
                      <a:r>
                        <a:rPr lang="en-US" sz="11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472389"/>
                  </a:ext>
                </a:extLst>
              </a:tr>
              <a:tr h="342534">
                <a:tc>
                  <a:txBody>
                    <a:bodyPr/>
                    <a:lstStyle/>
                    <a:p>
                      <a:r>
                        <a:rPr lang="en-US" sz="1100" dirty="0"/>
                        <a:t>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424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01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2B1A-1808-B655-3761-30B5830C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Your Summary/Insight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8085F-74C5-057B-59AC-96F3660A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"/>
          </a:xfrm>
        </p:spPr>
        <p:txBody>
          <a:bodyPr/>
          <a:lstStyle/>
          <a:p>
            <a:r>
              <a:rPr lang="en-US" dirty="0"/>
              <a:t>&lt;see spreadsheet&gt;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1EC3E-8D81-76FC-ACD9-B53239C2771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EB750-EAB7-27C2-832A-4BCF23D249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30114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BAC2D-5089-649E-7CC9-843E42E2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CDCE2-ECAF-1F9A-B953-5B71E1357C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  <p:pic>
        <p:nvPicPr>
          <p:cNvPr id="7" name="Picture 6" descr="A colorful logo on a white background&#10;&#10;Description automatically generated">
            <a:extLst>
              <a:ext uri="{FF2B5EF4-FFF2-40B4-BE49-F238E27FC236}">
                <a16:creationId xmlns:a16="http://schemas.microsoft.com/office/drawing/2014/main" id="{BD2656BC-7EA3-4B24-8388-A1796B46E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3" y="146486"/>
            <a:ext cx="1057443" cy="51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2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57C1-D1DE-942D-6678-B0C51E09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Tell me about Pierre Omidyar’s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C0CF4-2C35-E161-5E06-0C5A200C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877711"/>
          </a:xfrm>
        </p:spPr>
        <p:txBody>
          <a:bodyPr/>
          <a:lstStyle/>
          <a:p>
            <a:r>
              <a:rPr lang="en-US" dirty="0"/>
              <a:t>Why did he start eBay?</a:t>
            </a:r>
          </a:p>
          <a:p>
            <a:endParaRPr lang="en-US" dirty="0"/>
          </a:p>
          <a:p>
            <a:r>
              <a:rPr lang="en-US" dirty="0"/>
              <a:t>Was he qualified?</a:t>
            </a:r>
          </a:p>
          <a:p>
            <a:endParaRPr lang="en-US" dirty="0"/>
          </a:p>
          <a:p>
            <a:r>
              <a:rPr lang="en-US" dirty="0"/>
              <a:t>How did Pierre use his equity to get started?</a:t>
            </a:r>
          </a:p>
          <a:p>
            <a:endParaRPr lang="en-US" dirty="0"/>
          </a:p>
          <a:p>
            <a:r>
              <a:rPr lang="en-US" dirty="0"/>
              <a:t>What assets did he have to start with?</a:t>
            </a:r>
          </a:p>
          <a:p>
            <a:endParaRPr lang="en-US" dirty="0"/>
          </a:p>
          <a:p>
            <a:r>
              <a:rPr lang="en-US" dirty="0"/>
              <a:t>Describe eBay’s growth</a:t>
            </a:r>
          </a:p>
          <a:p>
            <a:r>
              <a:rPr lang="en-US" dirty="0"/>
              <a:t>	What were the business investment and staffing 	implications?</a:t>
            </a:r>
          </a:p>
          <a:p>
            <a:endParaRPr lang="en-US" dirty="0"/>
          </a:p>
          <a:p>
            <a:r>
              <a:rPr lang="en-US" dirty="0"/>
              <a:t>Use the Calculator provided to determine the value of Jeff and Pierre’s $25,000 salary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03937-0C12-CC37-C2DE-5C14DDA48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44574-B108-629F-7E49-938DC9A61F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66277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E71B-41B1-BE76-9F6C-AD1BABA3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Balance Sheet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484AD-77C0-6953-EA60-C5572A602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r>
              <a:rPr lang="en-US" dirty="0"/>
              <a:t>The Case reports total assets of ~1.2B in 2000, in addition to cash, short term investments and long term investments, how do you think they were using their money?</a:t>
            </a:r>
          </a:p>
          <a:p>
            <a:endParaRPr lang="en-US" dirty="0"/>
          </a:p>
          <a:p>
            <a:r>
              <a:rPr lang="en-US" dirty="0"/>
              <a:t>In 2000, eBay showed a decrease in Cash – did this indicate that they were in trouble?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3E90E-9B8F-CA21-B31A-DA392D8B1B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39631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94E5-7D4E-E570-340E-57263923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Map out the growth of eBay, with milestones and financing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D9DF7-A31C-5D15-AC0B-A32DA5CE2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727242"/>
            <a:ext cx="4357623" cy="2031325"/>
          </a:xfrm>
        </p:spPr>
        <p:txBody>
          <a:bodyPr/>
          <a:lstStyle/>
          <a:p>
            <a:r>
              <a:rPr lang="en-US" dirty="0"/>
              <a:t>Revenue?</a:t>
            </a:r>
          </a:p>
          <a:p>
            <a:r>
              <a:rPr lang="en-US" dirty="0"/>
              <a:t>OPEX?</a:t>
            </a:r>
          </a:p>
          <a:p>
            <a:r>
              <a:rPr lang="en-US" dirty="0"/>
              <a:t>R&amp;D</a:t>
            </a:r>
          </a:p>
          <a:p>
            <a:r>
              <a:rPr lang="en-US" dirty="0"/>
              <a:t>Marketing</a:t>
            </a:r>
          </a:p>
          <a:p>
            <a:r>
              <a:rPr lang="en-US" dirty="0"/>
              <a:t>M&amp;A</a:t>
            </a:r>
          </a:p>
          <a:p>
            <a:endParaRPr lang="en-US" dirty="0"/>
          </a:p>
          <a:p>
            <a:r>
              <a:rPr lang="en-US" dirty="0"/>
              <a:t>Financing?</a:t>
            </a:r>
          </a:p>
          <a:p>
            <a:r>
              <a:rPr lang="en-US" dirty="0"/>
              <a:t>    Internal vs External</a:t>
            </a:r>
          </a:p>
          <a:p>
            <a:r>
              <a:rPr lang="en-US" dirty="0"/>
              <a:t>Tell me more about the PATH they took for External financing?</a:t>
            </a:r>
          </a:p>
          <a:p>
            <a:r>
              <a:rPr lang="en-US" dirty="0"/>
              <a:t>Was the financing they chose appropriate?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18FD8-524D-BB45-6D1B-9B268DDF61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37311-F214-E2FB-94AE-EF1AB6D9DB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288969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D12E-454E-873E-78A1-2B8F464D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BEAB-1862-2C11-1684-F0090D9AF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190295"/>
            <a:ext cx="4357623" cy="430887"/>
          </a:xfrm>
        </p:spPr>
        <p:txBody>
          <a:bodyPr/>
          <a:lstStyle/>
          <a:p>
            <a:r>
              <a:rPr lang="en-US" dirty="0"/>
              <a:t>As you think about eBay’s path, consider each of the following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947A1-23C5-996F-9C05-285C78F883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6883CE-60EC-7FE7-BB2C-588F4ABA2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314937"/>
              </p:ext>
            </p:extLst>
          </p:nvPr>
        </p:nvGraphicFramePr>
        <p:xfrm>
          <a:off x="143888" y="812857"/>
          <a:ext cx="3715512" cy="24178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7756">
                  <a:extLst>
                    <a:ext uri="{9D8B030D-6E8A-4147-A177-3AD203B41FA5}">
                      <a16:colId xmlns:a16="http://schemas.microsoft.com/office/drawing/2014/main" val="3598540412"/>
                    </a:ext>
                  </a:extLst>
                </a:gridCol>
                <a:gridCol w="1857756">
                  <a:extLst>
                    <a:ext uri="{9D8B030D-6E8A-4147-A177-3AD203B41FA5}">
                      <a16:colId xmlns:a16="http://schemas.microsoft.com/office/drawing/2014/main" val="207736031"/>
                    </a:ext>
                  </a:extLst>
                </a:gridCol>
              </a:tblGrid>
              <a:tr h="261726">
                <a:tc>
                  <a:txBody>
                    <a:bodyPr/>
                    <a:lstStyle/>
                    <a:p>
                      <a:r>
                        <a:rPr lang="en-US" sz="1100" dirty="0"/>
                        <a:t>Financing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Feasible and 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175588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Personal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782619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Friends &amp;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209579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Trade 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059527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Line of 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65028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Commercial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832476"/>
                  </a:ext>
                </a:extLst>
              </a:tr>
              <a:tr h="248465">
                <a:tc>
                  <a:txBody>
                    <a:bodyPr/>
                    <a:lstStyle/>
                    <a:p>
                      <a:r>
                        <a:rPr lang="en-US" sz="1100" dirty="0"/>
                        <a:t>Outside Investor (Angel/VC)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24493"/>
                  </a:ext>
                </a:extLst>
              </a:tr>
              <a:tr h="255603">
                <a:tc>
                  <a:txBody>
                    <a:bodyPr/>
                    <a:lstStyle/>
                    <a:p>
                      <a:r>
                        <a:rPr lang="en-US" sz="11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472389"/>
                  </a:ext>
                </a:extLst>
              </a:tr>
              <a:tr h="342534">
                <a:tc>
                  <a:txBody>
                    <a:bodyPr/>
                    <a:lstStyle/>
                    <a:p>
                      <a:r>
                        <a:rPr lang="en-US" sz="1100" dirty="0"/>
                        <a:t>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424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691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86B6-A368-35D2-3BD7-C4BFE936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8BEA-05C9-E1C5-EDB5-978011C4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8" y="190295"/>
            <a:ext cx="3808129" cy="430887"/>
          </a:xfrm>
        </p:spPr>
        <p:txBody>
          <a:bodyPr/>
          <a:lstStyle/>
          <a:p>
            <a:r>
              <a:rPr lang="en-US" dirty="0"/>
              <a:t>Life Cycle View of Milestones &amp; Financing*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CB696-159F-AEAD-061D-AD20E6D466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85B67-C0CC-AC96-94E4-39CD99F20247}"/>
              </a:ext>
            </a:extLst>
          </p:cNvPr>
          <p:cNvSpPr txBox="1"/>
          <p:nvPr/>
        </p:nvSpPr>
        <p:spPr>
          <a:xfrm>
            <a:off x="0" y="3164530"/>
            <a:ext cx="27655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*Based on Figure 5-1, Financing Operations and Growth, p. 15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1C817A-7284-7F19-A769-BB88B175DFE8}"/>
              </a:ext>
            </a:extLst>
          </p:cNvPr>
          <p:cNvCxnSpPr/>
          <p:nvPr/>
        </p:nvCxnSpPr>
        <p:spPr>
          <a:xfrm flipH="1" flipV="1">
            <a:off x="240631" y="419609"/>
            <a:ext cx="48127" cy="2348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A1427B-3A71-0EC5-388C-8E53F3A915A8}"/>
              </a:ext>
            </a:extLst>
          </p:cNvPr>
          <p:cNvCxnSpPr>
            <a:cxnSpLocks/>
          </p:cNvCxnSpPr>
          <p:nvPr/>
        </p:nvCxnSpPr>
        <p:spPr>
          <a:xfrm>
            <a:off x="264694" y="1601378"/>
            <a:ext cx="4269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E58C024-8495-7558-2CF1-45F927017A12}"/>
              </a:ext>
            </a:extLst>
          </p:cNvPr>
          <p:cNvSpPr/>
          <p:nvPr/>
        </p:nvSpPr>
        <p:spPr>
          <a:xfrm>
            <a:off x="312821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Start 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E02EA-ECAC-266A-374A-B1DD016E8382}"/>
              </a:ext>
            </a:extLst>
          </p:cNvPr>
          <p:cNvSpPr/>
          <p:nvPr/>
        </p:nvSpPr>
        <p:spPr>
          <a:xfrm>
            <a:off x="312821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984988-0D13-118C-540D-B8C3E6389121}"/>
              </a:ext>
            </a:extLst>
          </p:cNvPr>
          <p:cNvSpPr/>
          <p:nvPr/>
        </p:nvSpPr>
        <p:spPr>
          <a:xfrm>
            <a:off x="1336842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Growth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0190A3-E09D-AED6-98FC-CA090F90E48B}"/>
              </a:ext>
            </a:extLst>
          </p:cNvPr>
          <p:cNvSpPr/>
          <p:nvPr/>
        </p:nvSpPr>
        <p:spPr>
          <a:xfrm>
            <a:off x="1336842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E3618-B994-B3B9-424A-BED5B8D442C1}"/>
              </a:ext>
            </a:extLst>
          </p:cNvPr>
          <p:cNvSpPr/>
          <p:nvPr/>
        </p:nvSpPr>
        <p:spPr>
          <a:xfrm>
            <a:off x="2368884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Growth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A06BF-AF14-235A-E2B6-54008FDAD113}"/>
              </a:ext>
            </a:extLst>
          </p:cNvPr>
          <p:cNvSpPr/>
          <p:nvPr/>
        </p:nvSpPr>
        <p:spPr>
          <a:xfrm>
            <a:off x="2368884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8237D6-9282-8E83-DB98-B81B6A8DEE60}"/>
              </a:ext>
            </a:extLst>
          </p:cNvPr>
          <p:cNvSpPr/>
          <p:nvPr/>
        </p:nvSpPr>
        <p:spPr>
          <a:xfrm>
            <a:off x="3400926" y="1601378"/>
            <a:ext cx="978568" cy="192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Maturity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81A01-9865-63FC-519A-64425A9CB166}"/>
              </a:ext>
            </a:extLst>
          </p:cNvPr>
          <p:cNvSpPr/>
          <p:nvPr/>
        </p:nvSpPr>
        <p:spPr>
          <a:xfrm>
            <a:off x="3400926" y="1811986"/>
            <a:ext cx="978568" cy="10328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SzPct val="90000"/>
            </a:pPr>
            <a:endParaRPr lang="en-US" sz="1100" dirty="0"/>
          </a:p>
          <a:p>
            <a:pPr marL="73152" indent="-73152">
              <a:buSzPct val="90000"/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0E84B-C15A-FB5F-A446-3FCDE0D85371}"/>
              </a:ext>
            </a:extLst>
          </p:cNvPr>
          <p:cNvSpPr txBox="1"/>
          <p:nvPr/>
        </p:nvSpPr>
        <p:spPr>
          <a:xfrm rot="16200000">
            <a:off x="-208513" y="617335"/>
            <a:ext cx="684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Revenue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A37D1A7-DA06-7206-4207-5ADA835524E2}"/>
              </a:ext>
            </a:extLst>
          </p:cNvPr>
          <p:cNvSpPr/>
          <p:nvPr/>
        </p:nvSpPr>
        <p:spPr>
          <a:xfrm>
            <a:off x="262021" y="491958"/>
            <a:ext cx="3497179" cy="1261979"/>
          </a:xfrm>
          <a:custGeom>
            <a:avLst/>
            <a:gdLst>
              <a:gd name="connsiteX0" fmla="*/ 0 w 3497179"/>
              <a:gd name="connsiteY0" fmla="*/ 1261979 h 1261979"/>
              <a:gd name="connsiteX1" fmla="*/ 1315453 w 3497179"/>
              <a:gd name="connsiteY1" fmla="*/ 876968 h 1261979"/>
              <a:gd name="connsiteX2" fmla="*/ 1646990 w 3497179"/>
              <a:gd name="connsiteY2" fmla="*/ 572168 h 1261979"/>
              <a:gd name="connsiteX3" fmla="*/ 2021305 w 3497179"/>
              <a:gd name="connsiteY3" fmla="*/ 331537 h 1261979"/>
              <a:gd name="connsiteX4" fmla="*/ 2572084 w 3497179"/>
              <a:gd name="connsiteY4" fmla="*/ 117642 h 1261979"/>
              <a:gd name="connsiteX5" fmla="*/ 3497179 w 3497179"/>
              <a:gd name="connsiteY5" fmla="*/ 0 h 1261979"/>
              <a:gd name="connsiteX6" fmla="*/ 3497179 w 3497179"/>
              <a:gd name="connsiteY6" fmla="*/ 0 h 1261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7179" h="1261979">
                <a:moveTo>
                  <a:pt x="0" y="1261979"/>
                </a:moveTo>
                <a:cubicBezTo>
                  <a:pt x="520477" y="1126957"/>
                  <a:pt x="1040955" y="991936"/>
                  <a:pt x="1315453" y="876968"/>
                </a:cubicBezTo>
                <a:cubicBezTo>
                  <a:pt x="1589951" y="762000"/>
                  <a:pt x="1529348" y="663073"/>
                  <a:pt x="1646990" y="572168"/>
                </a:cubicBezTo>
                <a:cubicBezTo>
                  <a:pt x="1764632" y="481263"/>
                  <a:pt x="1867123" y="407291"/>
                  <a:pt x="2021305" y="331537"/>
                </a:cubicBezTo>
                <a:cubicBezTo>
                  <a:pt x="2175487" y="255783"/>
                  <a:pt x="2326105" y="172898"/>
                  <a:pt x="2572084" y="117642"/>
                </a:cubicBezTo>
                <a:cubicBezTo>
                  <a:pt x="2818063" y="62386"/>
                  <a:pt x="3497179" y="0"/>
                  <a:pt x="3497179" y="0"/>
                </a:cubicBezTo>
                <a:lnTo>
                  <a:pt x="3497179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60B35592-8F03-71CD-3D48-685180143F43}"/>
              </a:ext>
            </a:extLst>
          </p:cNvPr>
          <p:cNvSpPr/>
          <p:nvPr/>
        </p:nvSpPr>
        <p:spPr>
          <a:xfrm>
            <a:off x="2616263" y="742168"/>
            <a:ext cx="1918305" cy="648603"/>
          </a:xfrm>
          <a:prstGeom prst="cloud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boxes below to tell the financial story of eBay</a:t>
            </a:r>
          </a:p>
        </p:txBody>
      </p:sp>
    </p:spTree>
    <p:extLst>
      <p:ext uri="{BB962C8B-B14F-4D97-AF65-F5344CB8AC3E}">
        <p14:creationId xmlns:p14="http://schemas.microsoft.com/office/powerpoint/2010/main" val="2516250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8C52-728E-CDD4-B552-D1428AE4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F764D-3DFE-B181-9583-B47824F83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dirty="0"/>
              <a:t>You can evolve your company structure as you grow</a:t>
            </a:r>
          </a:p>
          <a:p>
            <a:endParaRPr lang="en-US" dirty="0"/>
          </a:p>
          <a:p>
            <a:r>
              <a:rPr lang="en-US" dirty="0"/>
              <a:t>Save your cash. The used desk in the garage is a good idea.</a:t>
            </a:r>
          </a:p>
          <a:p>
            <a:endParaRPr lang="en-US" dirty="0"/>
          </a:p>
          <a:p>
            <a:r>
              <a:rPr lang="en-US" dirty="0"/>
              <a:t>Avoid pre-pay – you might not be around</a:t>
            </a:r>
          </a:p>
          <a:p>
            <a:endParaRPr lang="en-US" dirty="0"/>
          </a:p>
          <a:p>
            <a:r>
              <a:rPr lang="en-US" dirty="0"/>
              <a:t>Plan your first expenses to capture the cash</a:t>
            </a:r>
          </a:p>
          <a:p>
            <a:endParaRPr lang="en-US" dirty="0"/>
          </a:p>
          <a:p>
            <a:r>
              <a:rPr lang="en-US" dirty="0"/>
              <a:t>Name and Track your milestones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BF523-B27E-52BF-A693-9472CCFA4C8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A905-2671-F36C-E594-B4AF4DA0FA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035918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74FD-1204-3061-D4BB-38A1340A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Wednesday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EA9C2-50F7-9B74-CB8E-F2D39B4D0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r>
              <a:rPr lang="en-US" dirty="0"/>
              <a:t>We will do an in-class review for Midterm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AE5C8-C410-E8A3-15D4-26264B5B812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B77C5-12E0-CB5A-6B30-C955C82AB8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0589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Words>809</Words>
  <Application>Microsoft Macintosh PowerPoint</Application>
  <PresentationFormat>Custom</PresentationFormat>
  <Paragraphs>174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Rockwell</vt:lpstr>
      <vt:lpstr>Office Theme</vt:lpstr>
      <vt:lpstr>McDuff &amp; Ebay Structuring and Financing from StartUp to Exit</vt:lpstr>
      <vt:lpstr>Week 6</vt:lpstr>
      <vt:lpstr>Story today is business formation and financing relative to business lifecycle</vt:lpstr>
      <vt:lpstr>Life Cycle View of Financing*</vt:lpstr>
      <vt:lpstr>Banks/Lenders</vt:lpstr>
      <vt:lpstr>Form 8 Groups</vt:lpstr>
      <vt:lpstr>Tell me about Angus McDuff</vt:lpstr>
      <vt:lpstr>What is McDuff’s current capital sources AND which of the following do you think might be feasible… and WHEN – why or why not?</vt:lpstr>
      <vt:lpstr>Your Summary/Insight</vt:lpstr>
      <vt:lpstr>PowerPoint Presentation</vt:lpstr>
      <vt:lpstr>Tell me about Pierre Omidyar’s process</vt:lpstr>
      <vt:lpstr>Balance Sheet Question</vt:lpstr>
      <vt:lpstr>Map out the growth of eBay, with milestones and financing</vt:lpstr>
      <vt:lpstr>As you think about eBay’s path, consider each of the following</vt:lpstr>
      <vt:lpstr>Life Cycle View of Milestones &amp; Financing*</vt:lpstr>
      <vt:lpstr>Take Aways</vt:lpstr>
      <vt:lpstr>Wednesday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11</cp:revision>
  <dcterms:created xsi:type="dcterms:W3CDTF">2022-01-05T04:34:10Z</dcterms:created>
  <dcterms:modified xsi:type="dcterms:W3CDTF">2025-09-22T02:58:54Z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