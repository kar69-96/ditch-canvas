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385" r:id="rId3"/>
    <p:sldId id="396" r:id="rId4"/>
    <p:sldId id="397" r:id="rId5"/>
    <p:sldId id="398" r:id="rId6"/>
    <p:sldId id="401" r:id="rId7"/>
    <p:sldId id="402" r:id="rId8"/>
    <p:sldId id="399" r:id="rId9"/>
    <p:sldId id="400" r:id="rId10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A2A1"/>
    <a:srgbClr val="CEB67B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BA28F-560C-5E4F-ACFD-126F07A5C497}" v="4" dt="2025-09-01T21:28:35.8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8"/>
    <p:restoredTop sz="94966"/>
  </p:normalViewPr>
  <p:slideViewPr>
    <p:cSldViewPr>
      <p:cViewPr varScale="1">
        <p:scale>
          <a:sx n="241" d="100"/>
          <a:sy n="241" d="100"/>
        </p:scale>
        <p:origin x="19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057BA28F-560C-5E4F-ACFD-126F07A5C497}"/>
    <pc:docChg chg="custSel addSld modSld modMainMaster">
      <pc:chgData name="Ellen Burnes" userId="ca3eeb36-3cf7-49b7-874f-4993e3c98b53" providerId="ADAL" clId="{057BA28F-560C-5E4F-ACFD-126F07A5C497}" dt="2025-09-01T21:28:35.897" v="1376"/>
      <pc:docMkLst>
        <pc:docMk/>
      </pc:docMkLst>
      <pc:sldChg chg="modSp mod">
        <pc:chgData name="Ellen Burnes" userId="ca3eeb36-3cf7-49b7-874f-4993e3c98b53" providerId="ADAL" clId="{057BA28F-560C-5E4F-ACFD-126F07A5C497}" dt="2025-09-01T21:26:33.532" v="1246" actId="20577"/>
        <pc:sldMkLst>
          <pc:docMk/>
          <pc:sldMk cId="0" sldId="256"/>
        </pc:sldMkLst>
        <pc:spChg chg="mod">
          <ac:chgData name="Ellen Burnes" userId="ca3eeb36-3cf7-49b7-874f-4993e3c98b53" providerId="ADAL" clId="{057BA28F-560C-5E4F-ACFD-126F07A5C497}" dt="2025-09-01T21:26:33.532" v="124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Ellen Burnes" userId="ca3eeb36-3cf7-49b7-874f-4993e3c98b53" providerId="ADAL" clId="{057BA28F-560C-5E4F-ACFD-126F07A5C497}" dt="2025-09-01T20:50:58.876" v="6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Ellen Burnes" userId="ca3eeb36-3cf7-49b7-874f-4993e3c98b53" providerId="ADAL" clId="{057BA28F-560C-5E4F-ACFD-126F07A5C497}" dt="2025-09-01T20:51:04.090" v="7" actId="20577"/>
        <pc:sldMkLst>
          <pc:docMk/>
          <pc:sldMk cId="3795915162" sldId="385"/>
        </pc:sldMkLst>
        <pc:spChg chg="mod">
          <ac:chgData name="Ellen Burnes" userId="ca3eeb36-3cf7-49b7-874f-4993e3c98b53" providerId="ADAL" clId="{057BA28F-560C-5E4F-ACFD-126F07A5C497}" dt="2025-09-01T20:51:04.090" v="7" actId="20577"/>
          <ac:spMkLst>
            <pc:docMk/>
            <pc:sldMk cId="3795915162" sldId="385"/>
            <ac:spMk id="4" creationId="{53E0F6BE-737C-1B0A-26EE-588354E09155}"/>
          </ac:spMkLst>
        </pc:spChg>
      </pc:sldChg>
      <pc:sldChg chg="modSp">
        <pc:chgData name="Ellen Burnes" userId="ca3eeb36-3cf7-49b7-874f-4993e3c98b53" providerId="ADAL" clId="{057BA28F-560C-5E4F-ACFD-126F07A5C497}" dt="2025-09-01T20:51:49.857" v="8"/>
        <pc:sldMkLst>
          <pc:docMk/>
          <pc:sldMk cId="406348730" sldId="396"/>
        </pc:sldMkLst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406348730" sldId="396"/>
            <ac:spMk id="4" creationId="{C834D18E-8D65-6FBE-5D71-F7B92744FF8A}"/>
          </ac:spMkLst>
        </pc:spChg>
      </pc:sldChg>
      <pc:sldChg chg="modSp">
        <pc:chgData name="Ellen Burnes" userId="ca3eeb36-3cf7-49b7-874f-4993e3c98b53" providerId="ADAL" clId="{057BA28F-560C-5E4F-ACFD-126F07A5C497}" dt="2025-09-01T20:51:49.857" v="8"/>
        <pc:sldMkLst>
          <pc:docMk/>
          <pc:sldMk cId="355616765" sldId="397"/>
        </pc:sldMkLst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355616765" sldId="397"/>
            <ac:spMk id="4" creationId="{453E7646-F7CB-8573-81F1-D9364CB5E710}"/>
          </ac:spMkLst>
        </pc:spChg>
      </pc:sldChg>
      <pc:sldChg chg="modSp">
        <pc:chgData name="Ellen Burnes" userId="ca3eeb36-3cf7-49b7-874f-4993e3c98b53" providerId="ADAL" clId="{057BA28F-560C-5E4F-ACFD-126F07A5C497}" dt="2025-09-01T20:51:49.857" v="8"/>
        <pc:sldMkLst>
          <pc:docMk/>
          <pc:sldMk cId="2157505291" sldId="398"/>
        </pc:sldMkLst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2157505291" sldId="398"/>
            <ac:spMk id="4" creationId="{8FFC5679-3D25-F9CF-56B1-968B5B23F82D}"/>
          </ac:spMkLst>
        </pc:spChg>
      </pc:sldChg>
      <pc:sldChg chg="modSp mod modAnim">
        <pc:chgData name="Ellen Burnes" userId="ca3eeb36-3cf7-49b7-874f-4993e3c98b53" providerId="ADAL" clId="{057BA28F-560C-5E4F-ACFD-126F07A5C497}" dt="2025-09-01T21:28:35.897" v="1376"/>
        <pc:sldMkLst>
          <pc:docMk/>
          <pc:sldMk cId="2968872272" sldId="399"/>
        </pc:sldMkLst>
        <pc:spChg chg="mod">
          <ac:chgData name="Ellen Burnes" userId="ca3eeb36-3cf7-49b7-874f-4993e3c98b53" providerId="ADAL" clId="{057BA28F-560C-5E4F-ACFD-126F07A5C497}" dt="2025-09-01T21:28:24.775" v="1374" actId="1076"/>
          <ac:spMkLst>
            <pc:docMk/>
            <pc:sldMk cId="2968872272" sldId="399"/>
            <ac:spMk id="3" creationId="{CD642D9F-431C-5A15-2B23-2AD9B2B244E9}"/>
          </ac:spMkLst>
        </pc:spChg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2968872272" sldId="399"/>
            <ac:spMk id="4" creationId="{9C4C5006-A43B-C6CF-05D8-2AF69E89E428}"/>
          </ac:spMkLst>
        </pc:spChg>
      </pc:sldChg>
      <pc:sldChg chg="modSp mod">
        <pc:chgData name="Ellen Burnes" userId="ca3eeb36-3cf7-49b7-874f-4993e3c98b53" providerId="ADAL" clId="{057BA28F-560C-5E4F-ACFD-126F07A5C497}" dt="2025-09-01T21:25:15.623" v="1180" actId="20577"/>
        <pc:sldMkLst>
          <pc:docMk/>
          <pc:sldMk cId="810952825" sldId="400"/>
        </pc:sldMkLst>
        <pc:spChg chg="mod">
          <ac:chgData name="Ellen Burnes" userId="ca3eeb36-3cf7-49b7-874f-4993e3c98b53" providerId="ADAL" clId="{057BA28F-560C-5E4F-ACFD-126F07A5C497}" dt="2025-09-01T21:23:08.985" v="947" actId="20577"/>
          <ac:spMkLst>
            <pc:docMk/>
            <pc:sldMk cId="810952825" sldId="400"/>
            <ac:spMk id="2" creationId="{DFB0C204-BC61-7FA7-6220-20460C0DA440}"/>
          </ac:spMkLst>
        </pc:spChg>
        <pc:spChg chg="mod">
          <ac:chgData name="Ellen Burnes" userId="ca3eeb36-3cf7-49b7-874f-4993e3c98b53" providerId="ADAL" clId="{057BA28F-560C-5E4F-ACFD-126F07A5C497}" dt="2025-09-01T21:25:15.623" v="1180" actId="20577"/>
          <ac:spMkLst>
            <pc:docMk/>
            <pc:sldMk cId="810952825" sldId="400"/>
            <ac:spMk id="3" creationId="{045B653E-3AAC-82BF-BE5C-4649978C9010}"/>
          </ac:spMkLst>
        </pc:spChg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810952825" sldId="400"/>
            <ac:spMk id="4" creationId="{0CD8136C-6AFF-2414-CE3B-8676DF27824D}"/>
          </ac:spMkLst>
        </pc:spChg>
      </pc:sldChg>
      <pc:sldChg chg="modSp mod modAnim">
        <pc:chgData name="Ellen Burnes" userId="ca3eeb36-3cf7-49b7-874f-4993e3c98b53" providerId="ADAL" clId="{057BA28F-560C-5E4F-ACFD-126F07A5C497}" dt="2025-09-01T21:12:49.811" v="778"/>
        <pc:sldMkLst>
          <pc:docMk/>
          <pc:sldMk cId="1158916364" sldId="401"/>
        </pc:sldMkLst>
        <pc:spChg chg="mod">
          <ac:chgData name="Ellen Burnes" userId="ca3eeb36-3cf7-49b7-874f-4993e3c98b53" providerId="ADAL" clId="{057BA28F-560C-5E4F-ACFD-126F07A5C497}" dt="2025-09-01T21:12:29.090" v="777" actId="20577"/>
          <ac:spMkLst>
            <pc:docMk/>
            <pc:sldMk cId="1158916364" sldId="401"/>
            <ac:spMk id="3" creationId="{ECF26C82-2D38-14F0-D7D5-73DB2418267B}"/>
          </ac:spMkLst>
        </pc:spChg>
        <pc:spChg chg="mod">
          <ac:chgData name="Ellen Burnes" userId="ca3eeb36-3cf7-49b7-874f-4993e3c98b53" providerId="ADAL" clId="{057BA28F-560C-5E4F-ACFD-126F07A5C497}" dt="2025-09-01T20:51:49.857" v="8"/>
          <ac:spMkLst>
            <pc:docMk/>
            <pc:sldMk cId="1158916364" sldId="401"/>
            <ac:spMk id="4" creationId="{01DCB9B8-404B-4CCE-8447-3104289473BD}"/>
          </ac:spMkLst>
        </pc:spChg>
      </pc:sldChg>
      <pc:sldChg chg="modSp new mod">
        <pc:chgData name="Ellen Burnes" userId="ca3eeb36-3cf7-49b7-874f-4993e3c98b53" providerId="ADAL" clId="{057BA28F-560C-5E4F-ACFD-126F07A5C497}" dt="2025-09-01T21:13:29.517" v="880" actId="1076"/>
        <pc:sldMkLst>
          <pc:docMk/>
          <pc:sldMk cId="2651712676" sldId="402"/>
        </pc:sldMkLst>
        <pc:spChg chg="mod">
          <ac:chgData name="Ellen Burnes" userId="ca3eeb36-3cf7-49b7-874f-4993e3c98b53" providerId="ADAL" clId="{057BA28F-560C-5E4F-ACFD-126F07A5C497}" dt="2025-09-01T21:13:11.112" v="818" actId="20577"/>
          <ac:spMkLst>
            <pc:docMk/>
            <pc:sldMk cId="2651712676" sldId="402"/>
            <ac:spMk id="2" creationId="{67DA509A-F4C2-1C07-3991-EB4ED52839A8}"/>
          </ac:spMkLst>
        </pc:spChg>
        <pc:spChg chg="mod">
          <ac:chgData name="Ellen Burnes" userId="ca3eeb36-3cf7-49b7-874f-4993e3c98b53" providerId="ADAL" clId="{057BA28F-560C-5E4F-ACFD-126F07A5C497}" dt="2025-09-01T21:13:29.517" v="880" actId="1076"/>
          <ac:spMkLst>
            <pc:docMk/>
            <pc:sldMk cId="2651712676" sldId="402"/>
            <ac:spMk id="3" creationId="{CE2A2150-2F77-043A-FA5B-0836E79FD145}"/>
          </ac:spMkLst>
        </pc:spChg>
      </pc:sldChg>
      <pc:sldMasterChg chg="modSp mod modSldLayout">
        <pc:chgData name="Ellen Burnes" userId="ca3eeb36-3cf7-49b7-874f-4993e3c98b53" providerId="ADAL" clId="{057BA28F-560C-5E4F-ACFD-126F07A5C497}" dt="2025-09-01T20:50:44.675" v="5" actId="20577"/>
        <pc:sldMasterMkLst>
          <pc:docMk/>
          <pc:sldMasterMk cId="0" sldId="2147483648"/>
        </pc:sldMasterMkLst>
        <pc:spChg chg="mod">
          <ac:chgData name="Ellen Burnes" userId="ca3eeb36-3cf7-49b7-874f-4993e3c98b53" providerId="ADAL" clId="{057BA28F-560C-5E4F-ACFD-126F07A5C497}" dt="2025-09-01T20:50:44.675" v="5" actId="20577"/>
          <ac:spMkLst>
            <pc:docMk/>
            <pc:sldMasterMk cId="0" sldId="2147483648"/>
            <ac:spMk id="4" creationId="{00000000-0000-0000-0000-000000000000}"/>
          </ac:spMkLst>
        </pc:spChg>
        <pc:sldLayoutChg chg="modSp mod">
          <pc:chgData name="Ellen Burnes" userId="ca3eeb36-3cf7-49b7-874f-4993e3c98b53" providerId="ADAL" clId="{057BA28F-560C-5E4F-ACFD-126F07A5C497}" dt="2025-09-01T20:50:19.242" v="1" actId="20577"/>
          <pc:sldLayoutMkLst>
            <pc:docMk/>
            <pc:sldMasterMk cId="0" sldId="2147483648"/>
            <pc:sldLayoutMk cId="0" sldId="2147483661"/>
          </pc:sldLayoutMkLst>
          <pc:spChg chg="mod">
            <ac:chgData name="Ellen Burnes" userId="ca3eeb36-3cf7-49b7-874f-4993e3c98b53" providerId="ADAL" clId="{057BA28F-560C-5E4F-ACFD-126F07A5C497}" dt="2025-09-01T20:50:19.242" v="1" actId="20577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</pc:sldLayoutChg>
        <pc:sldLayoutChg chg="modSp mod">
          <pc:chgData name="Ellen Burnes" userId="ca3eeb36-3cf7-49b7-874f-4993e3c98b53" providerId="ADAL" clId="{057BA28F-560C-5E4F-ACFD-126F07A5C497}" dt="2025-09-01T20:50:10.819" v="0" actId="20577"/>
          <pc:sldLayoutMkLst>
            <pc:docMk/>
            <pc:sldMasterMk cId="0" sldId="2147483648"/>
            <pc:sldLayoutMk cId="0" sldId="2147483662"/>
          </pc:sldLayoutMkLst>
          <pc:spChg chg="mod">
            <ac:chgData name="Ellen Burnes" userId="ca3eeb36-3cf7-49b7-874f-4993e3c98b53" providerId="ADAL" clId="{057BA28F-560C-5E4F-ACFD-126F07A5C497}" dt="2025-09-01T20:50:10.819" v="0" actId="20577"/>
            <ac:spMkLst>
              <pc:docMk/>
              <pc:sldMasterMk cId="0" sldId="2147483648"/>
              <pc:sldLayoutMk cId="0" sldId="2147483662"/>
              <ac:spMk id="4" creationId="{00000000-0000-0000-0000-000000000000}"/>
            </ac:spMkLst>
          </pc:spChg>
        </pc:sldLayoutChg>
        <pc:sldLayoutChg chg="modSp mod">
          <pc:chgData name="Ellen Burnes" userId="ca3eeb36-3cf7-49b7-874f-4993e3c98b53" providerId="ADAL" clId="{057BA28F-560C-5E4F-ACFD-126F07A5C497}" dt="2025-09-01T20:50:26.359" v="2" actId="20577"/>
          <pc:sldLayoutMkLst>
            <pc:docMk/>
            <pc:sldMasterMk cId="0" sldId="2147483648"/>
            <pc:sldLayoutMk cId="0" sldId="2147483663"/>
          </pc:sldLayoutMkLst>
          <pc:spChg chg="mod">
            <ac:chgData name="Ellen Burnes" userId="ca3eeb36-3cf7-49b7-874f-4993e3c98b53" providerId="ADAL" clId="{057BA28F-560C-5E4F-ACFD-126F07A5C497}" dt="2025-09-01T20:50:26.359" v="2" actId="20577"/>
            <ac:spMkLst>
              <pc:docMk/>
              <pc:sldMasterMk cId="0" sldId="2147483648"/>
              <pc:sldLayoutMk cId="0" sldId="2147483663"/>
              <ac:spMk id="5" creationId="{00000000-0000-0000-0000-000000000000}"/>
            </ac:spMkLst>
          </pc:spChg>
        </pc:sldLayoutChg>
        <pc:sldLayoutChg chg="modSp mod">
          <pc:chgData name="Ellen Burnes" userId="ca3eeb36-3cf7-49b7-874f-4993e3c98b53" providerId="ADAL" clId="{057BA28F-560C-5E4F-ACFD-126F07A5C497}" dt="2025-09-01T20:50:32.387" v="3" actId="20577"/>
          <pc:sldLayoutMkLst>
            <pc:docMk/>
            <pc:sldMasterMk cId="0" sldId="2147483648"/>
            <pc:sldLayoutMk cId="0" sldId="2147483664"/>
          </pc:sldLayoutMkLst>
          <pc:spChg chg="mod">
            <ac:chgData name="Ellen Burnes" userId="ca3eeb36-3cf7-49b7-874f-4993e3c98b53" providerId="ADAL" clId="{057BA28F-560C-5E4F-ACFD-126F07A5C497}" dt="2025-09-01T20:50:32.387" v="3" actId="20577"/>
            <ac:spMkLst>
              <pc:docMk/>
              <pc:sldMasterMk cId="0" sldId="2147483648"/>
              <pc:sldLayoutMk cId="0" sldId="2147483664"/>
              <ac:spMk id="3" creationId="{00000000-0000-0000-0000-000000000000}"/>
            </ac:spMkLst>
          </pc:spChg>
        </pc:sldLayoutChg>
        <pc:sldLayoutChg chg="modSp mod">
          <pc:chgData name="Ellen Burnes" userId="ca3eeb36-3cf7-49b7-874f-4993e3c98b53" providerId="ADAL" clId="{057BA28F-560C-5E4F-ACFD-126F07A5C497}" dt="2025-09-01T20:50:37.792" v="4" actId="20577"/>
          <pc:sldLayoutMkLst>
            <pc:docMk/>
            <pc:sldMasterMk cId="0" sldId="2147483648"/>
            <pc:sldLayoutMk cId="0" sldId="2147483665"/>
          </pc:sldLayoutMkLst>
          <pc:spChg chg="mod">
            <ac:chgData name="Ellen Burnes" userId="ca3eeb36-3cf7-49b7-874f-4993e3c98b53" providerId="ADAL" clId="{057BA28F-560C-5E4F-ACFD-126F07A5C497}" dt="2025-09-01T20:50:37.792" v="4" actId="20577"/>
            <ac:spMkLst>
              <pc:docMk/>
              <pc:sldMasterMk cId="0" sldId="2147483648"/>
              <pc:sldLayoutMk cId="0" sldId="2147483665"/>
              <ac:spMk id="2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5250" y="1044574"/>
            <a:ext cx="4419599" cy="51866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z="1100" spc="-10" dirty="0">
                <a:solidFill>
                  <a:srgbClr val="000000"/>
                </a:solidFill>
              </a:rPr>
              <a:t>Entrepreneurial Finance</a:t>
            </a:r>
            <a:br>
              <a:rPr lang="en-US" sz="1100" spc="-10" dirty="0">
                <a:solidFill>
                  <a:srgbClr val="000000"/>
                </a:solidFill>
              </a:rPr>
            </a:br>
            <a:br>
              <a:rPr lang="en-US" sz="1100" spc="-10" dirty="0">
                <a:solidFill>
                  <a:srgbClr val="000000"/>
                </a:solidFill>
              </a:rPr>
            </a:br>
            <a:r>
              <a:rPr lang="en-US" sz="1100" spc="-10" dirty="0">
                <a:solidFill>
                  <a:srgbClr val="000000"/>
                </a:solidFill>
              </a:rPr>
              <a:t>Intro to Venture Capitalists and Investment Screening</a:t>
            </a:r>
            <a:endParaRPr sz="1100" dirty="0"/>
          </a:p>
        </p:txBody>
      </p:sp>
      <p:sp>
        <p:nvSpPr>
          <p:cNvPr id="9" name="object 9"/>
          <p:cNvSpPr txBox="1"/>
          <p:nvPr/>
        </p:nvSpPr>
        <p:spPr>
          <a:xfrm>
            <a:off x="1188211" y="1791474"/>
            <a:ext cx="2235835" cy="5378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3365" marR="247015" algn="ctr">
              <a:lnSpc>
                <a:spcPct val="102699"/>
              </a:lnSpc>
              <a:spcBef>
                <a:spcPts val="55"/>
              </a:spcBef>
            </a:pPr>
            <a:r>
              <a:rPr lang="en-US" sz="1100" b="1" spc="-5" dirty="0">
                <a:latin typeface="Arial"/>
                <a:cs typeface="Arial"/>
              </a:rPr>
              <a:t>Professor Burnes</a:t>
            </a:r>
          </a:p>
          <a:p>
            <a:pPr marL="253365" marR="247015" algn="ctr">
              <a:lnSpc>
                <a:spcPct val="102699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Leeds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School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Business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latin typeface="Arial"/>
                <a:cs typeface="Arial"/>
              </a:rPr>
              <a:t>University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of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Colorado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at Boulder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52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D711-3BC1-4DC5-89D2-4015FFFD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E9651-2D51-4611-3E5A-F04121E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184940"/>
          </a:xfrm>
        </p:spPr>
        <p:txBody>
          <a:bodyPr/>
          <a:lstStyle/>
          <a:p>
            <a:r>
              <a:rPr lang="en-US" dirty="0"/>
              <a:t>Intro</a:t>
            </a:r>
          </a:p>
          <a:p>
            <a:r>
              <a:rPr lang="en-US" dirty="0"/>
              <a:t>Breakouts</a:t>
            </a:r>
          </a:p>
          <a:p>
            <a:r>
              <a:rPr lang="en-US" dirty="0"/>
              <a:t>Share Out</a:t>
            </a:r>
          </a:p>
          <a:p>
            <a:r>
              <a:rPr lang="en-US" dirty="0"/>
              <a:t>Looking Ahead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0F6BE-737C-1B0A-26EE-588354E091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F925F-C526-F058-D513-6A1B71196D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79591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A207-F996-46B9-E738-71752E3C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A334C-5633-6B80-B3DA-25AA8401F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70843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Concepts:</a:t>
            </a:r>
          </a:p>
          <a:p>
            <a:r>
              <a:rPr lang="en-US" dirty="0"/>
              <a:t>Where do Venture Capitalists fit in Entrepreneurial finance?</a:t>
            </a:r>
          </a:p>
          <a:p>
            <a:endParaRPr lang="en-US" dirty="0"/>
          </a:p>
          <a:p>
            <a:r>
              <a:rPr lang="en-US" dirty="0"/>
              <a:t>Criteria for High level project selection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Vocabulary:</a:t>
            </a:r>
          </a:p>
          <a:p>
            <a:r>
              <a:rPr lang="en-US" dirty="0"/>
              <a:t>Venture Capitalist</a:t>
            </a:r>
          </a:p>
          <a:p>
            <a:r>
              <a:rPr lang="en-US" dirty="0"/>
              <a:t>AUM</a:t>
            </a:r>
          </a:p>
          <a:p>
            <a:r>
              <a:rPr lang="en-US" dirty="0"/>
              <a:t>Dry Powder</a:t>
            </a:r>
          </a:p>
          <a:p>
            <a:r>
              <a:rPr lang="en-US" dirty="0"/>
              <a:t>Exit</a:t>
            </a:r>
          </a:p>
          <a:p>
            <a:r>
              <a:rPr lang="en-US" dirty="0"/>
              <a:t>Closed Fund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Tools:</a:t>
            </a:r>
          </a:p>
          <a:p>
            <a:r>
              <a:rPr lang="en-US" dirty="0"/>
              <a:t>How to use </a:t>
            </a:r>
            <a:r>
              <a:rPr lang="en-US" dirty="0" err="1"/>
              <a:t>PitchBook</a:t>
            </a:r>
            <a:endParaRPr lang="en-US" dirty="0"/>
          </a:p>
          <a:p>
            <a:endParaRPr lang="en-US" dirty="0"/>
          </a:p>
          <a:p>
            <a:r>
              <a:rPr lang="en-US" dirty="0"/>
              <a:t>Summary Spreadsheet of Findings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4D18E-8D65-6FBE-5D71-F7B92744FF8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2670A-9762-7051-ABAA-589D3C3ABE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40634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7BBB-F3B3-061D-1823-687C10D0F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77967-594F-CE2E-8B3A-EFD238002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r>
              <a:rPr lang="en-US" dirty="0"/>
              <a:t>What is a Venture Capitalist?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Examples</a:t>
            </a:r>
          </a:p>
          <a:p>
            <a:r>
              <a:rPr lang="en-US" dirty="0"/>
              <a:t>Sequoia Capital</a:t>
            </a:r>
          </a:p>
          <a:p>
            <a:r>
              <a:rPr lang="en-US" dirty="0"/>
              <a:t>Spark Capital</a:t>
            </a:r>
          </a:p>
          <a:p>
            <a:r>
              <a:rPr lang="en-US" dirty="0" err="1"/>
              <a:t>Forgepoint</a:t>
            </a:r>
            <a:r>
              <a:rPr lang="en-US" dirty="0"/>
              <a:t> Capital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E7646-F7CB-8573-81F1-D9364CB5E71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2C79-FC6D-2754-1BAC-BAF44F72C3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5561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666B-8CB4-BBA3-8AD7-90041529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75370-CF7D-2E5A-F283-17BED5465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539157"/>
          </a:xfrm>
        </p:spPr>
        <p:txBody>
          <a:bodyPr/>
          <a:lstStyle/>
          <a:p>
            <a:r>
              <a:rPr lang="en-US" b="1" dirty="0"/>
              <a:t>Venture Capitalist</a:t>
            </a:r>
            <a:r>
              <a:rPr lang="en-US" dirty="0"/>
              <a:t>: an investor (investment firm) that provides capital to “new” companies in exchange for a share of ownership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AUM</a:t>
            </a:r>
            <a:r>
              <a:rPr lang="en-US" dirty="0"/>
              <a:t>:  Assets Under Management – market value of investments that a firm manages on behalf of clients – this includes “dry powder” and their share of market value of current investments</a:t>
            </a:r>
          </a:p>
          <a:p>
            <a:endParaRPr lang="en-US" dirty="0"/>
          </a:p>
          <a:p>
            <a:r>
              <a:rPr lang="en-US" b="1" dirty="0"/>
              <a:t>Dry Powder</a:t>
            </a:r>
            <a:r>
              <a:rPr lang="en-US" dirty="0"/>
              <a:t>: How much capital an investment firm has to invest</a:t>
            </a:r>
          </a:p>
          <a:p>
            <a:endParaRPr lang="en-US" b="1" dirty="0"/>
          </a:p>
          <a:p>
            <a:r>
              <a:rPr lang="en-US" b="1" dirty="0"/>
              <a:t>Exit</a:t>
            </a:r>
            <a:r>
              <a:rPr lang="en-US" dirty="0"/>
              <a:t>:  How will the investors get their return. Exits include sale to other VCs, PEs, LBOs, Acquisition, IPO</a:t>
            </a:r>
          </a:p>
          <a:p>
            <a:endParaRPr lang="en-US" b="1" dirty="0"/>
          </a:p>
          <a:p>
            <a:r>
              <a:rPr lang="en-US" b="1" dirty="0"/>
              <a:t>Closed Fund</a:t>
            </a:r>
            <a:r>
              <a:rPr lang="en-US" dirty="0"/>
              <a:t>:  a VC or PE company “opens a fund” to raise a certain amount of capital in which it plans to invest [according to a broad thesis].  Once they raise the capital they seek, the fund is “closed”.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C5679-3D25-F9CF-56B1-968B5B23F8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D345-E6B2-458E-773E-3CAE971534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15750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9B73-D631-BD82-7370-62C9E656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Let’s take a look at Spark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26C82-2D38-14F0-D7D5-73DB24182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387342"/>
            <a:ext cx="4357623" cy="3216265"/>
          </a:xfrm>
        </p:spPr>
        <p:txBody>
          <a:bodyPr/>
          <a:lstStyle/>
          <a:p>
            <a:r>
              <a:rPr lang="en-US" dirty="0"/>
              <a:t>Pull up Pitchbook</a:t>
            </a:r>
          </a:p>
          <a:p>
            <a:r>
              <a:rPr lang="en-US" dirty="0"/>
              <a:t>Request access if you have not already!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When were they founded?</a:t>
            </a:r>
          </a:p>
          <a:p>
            <a:pPr marL="228600" indent="-228600">
              <a:buFontTx/>
              <a:buAutoNum type="arabicParenR"/>
            </a:pPr>
            <a:r>
              <a:rPr lang="en-US" dirty="0"/>
              <a:t> How many investments have they made?</a:t>
            </a:r>
          </a:p>
          <a:p>
            <a:pPr marL="228600" indent="-228600">
              <a:buAutoNum type="arabicParenR"/>
            </a:pPr>
            <a:r>
              <a:rPr lang="en-US" dirty="0"/>
              <a:t>What does this imply for investments/year</a:t>
            </a:r>
          </a:p>
          <a:p>
            <a:pPr marL="228600" indent="-228600">
              <a:buAutoNum type="arabicParenR"/>
            </a:pPr>
            <a:r>
              <a:rPr lang="en-US" dirty="0"/>
              <a:t>In the TTM (trailing twelve months), how many investments have they made….</a:t>
            </a:r>
          </a:p>
          <a:p>
            <a:pPr marL="228600" indent="-228600">
              <a:buAutoNum type="arabicParenR"/>
            </a:pPr>
            <a:r>
              <a:rPr lang="en-US" dirty="0"/>
              <a:t>Approximately how much do they invest in a company per “round”</a:t>
            </a:r>
          </a:p>
          <a:p>
            <a:pPr marL="228600" indent="-228600">
              <a:buAutoNum type="arabicParenR"/>
            </a:pPr>
            <a:r>
              <a:rPr lang="en-US" dirty="0"/>
              <a:t>Approximately what size company, by valuation, do they invest in?</a:t>
            </a:r>
          </a:p>
          <a:p>
            <a:pPr marL="228600" indent="-228600">
              <a:buAutoNum type="arabicParenR"/>
            </a:pPr>
            <a:r>
              <a:rPr lang="en-US" dirty="0"/>
              <a:t>Let’s do a little “back of the envelope”… on a portfolio basis, what kind of return </a:t>
            </a:r>
            <a:r>
              <a:rPr lang="en-US" i="1" dirty="0"/>
              <a:t>might</a:t>
            </a:r>
            <a:r>
              <a:rPr lang="en-US" dirty="0"/>
              <a:t> they be looking at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dirty="0"/>
              <a:t>How many current investments do they have?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dirty="0"/>
              <a:t>What is the ~ $investment in each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i="1" dirty="0"/>
              <a:t>This implies how much invested capital?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dirty="0"/>
              <a:t>What is their AUM?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dirty="0"/>
              <a:t>How did they get to that AUM from their invested capital??</a:t>
            </a:r>
          </a:p>
          <a:p>
            <a:pPr marL="685800" lvl="1" indent="-228600">
              <a:buFont typeface="+mj-lt"/>
              <a:buAutoNum type="alphaUcPeriod"/>
            </a:pPr>
            <a:r>
              <a:rPr lang="en-US" sz="1100" dirty="0"/>
              <a:t>What is the ~%return implied!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CB9B8-404B-4CCE-8447-3104289473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ED195-4415-7623-6379-4EE282D1A2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15891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509A-F4C2-1C07-3991-EB4ED528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One more insight based on Spark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A2150-2F77-043A-FA5B-0836E79FD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658419"/>
            <a:ext cx="4357623" cy="507831"/>
          </a:xfrm>
        </p:spPr>
        <p:txBody>
          <a:bodyPr/>
          <a:lstStyle/>
          <a:p>
            <a:r>
              <a:rPr lang="en-US" dirty="0"/>
              <a:t>Scroll down and look at the Exits….</a:t>
            </a:r>
          </a:p>
          <a:p>
            <a:endParaRPr lang="en-US" dirty="0"/>
          </a:p>
          <a:p>
            <a:r>
              <a:rPr lang="en-US" dirty="0"/>
              <a:t>What are you seeing??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A5C09-C2B6-B038-C0C0-A48780D791F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/>
              <a:t>ESBM 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8EE26-57EC-58ED-33AF-48FB9C8D15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65171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7501-8753-E391-4C07-4F422183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Process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42D9F-431C-5A15-2B23-2AD9B2B24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434975"/>
            <a:ext cx="4357623" cy="2708434"/>
          </a:xfrm>
        </p:spPr>
        <p:txBody>
          <a:bodyPr/>
          <a:lstStyle/>
          <a:p>
            <a:r>
              <a:rPr lang="en-US" dirty="0"/>
              <a:t>Let’s Take a Look at the Spreadsheet to which you should have access (in Assignments)</a:t>
            </a:r>
          </a:p>
          <a:p>
            <a:endParaRPr lang="en-US" i="1" dirty="0"/>
          </a:p>
          <a:p>
            <a:r>
              <a:rPr lang="en-US" i="1" dirty="0"/>
              <a:t>In the next 30 minutes: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Form 8 groups, at tables with Names that correspond to the VCs reviewed (2 tables per VC). Max 5 students per group</a:t>
            </a:r>
          </a:p>
          <a:p>
            <a:pPr marL="228600" indent="-228600">
              <a:buAutoNum type="arabicParenR"/>
            </a:pPr>
            <a:r>
              <a:rPr lang="en-US" dirty="0"/>
              <a:t>Open the spreadsheet provided, Find the page that relates to your group</a:t>
            </a:r>
          </a:p>
          <a:p>
            <a:pPr marL="228600" indent="-228600">
              <a:buAutoNum type="arabicParenR"/>
            </a:pPr>
            <a:r>
              <a:rPr lang="en-US" dirty="0"/>
              <a:t>List group members in Column F, beginning with F1</a:t>
            </a:r>
          </a:p>
          <a:p>
            <a:pPr marL="228600" indent="-228600">
              <a:buAutoNum type="arabicParenR"/>
            </a:pPr>
            <a:r>
              <a:rPr lang="en-US" dirty="0"/>
              <a:t>At least 1 group member needs Pitchbook access</a:t>
            </a:r>
          </a:p>
          <a:p>
            <a:pPr marL="228600" indent="-228600">
              <a:buAutoNum type="arabicParenR"/>
            </a:pPr>
            <a:r>
              <a:rPr lang="en-US" dirty="0"/>
              <a:t>Delegate questions across group: intro plus 7 VC questions</a:t>
            </a:r>
          </a:p>
          <a:p>
            <a:pPr marL="228600" indent="-228600">
              <a:buAutoNum type="arabicParenR"/>
            </a:pPr>
            <a:r>
              <a:rPr lang="en-US" dirty="0"/>
              <a:t>Be prepared to Report Out to Class (2-3 minutes): what is your group’s key takeaway, any surprises (?!), AND How did your VC distinguish themselves/their company relative to other VCs</a:t>
            </a:r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C5006-A43B-C6CF-05D8-2AF69E89E4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75C3A-D683-BC75-D585-46178B2966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96887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C204-BC61-7FA7-6220-20460C0D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What to prepare for week of 9/8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B653E-3AAC-82BF-BE5C-4649978C9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572274"/>
            <a:ext cx="4312411" cy="1184940"/>
          </a:xfrm>
        </p:spPr>
        <p:txBody>
          <a:bodyPr/>
          <a:lstStyle/>
          <a:p>
            <a:r>
              <a:rPr lang="en-US" dirty="0"/>
              <a:t>We will be focused on Screening Criteria (Chapter 2) and Financial Statements (Chapter 4)</a:t>
            </a:r>
          </a:p>
          <a:p>
            <a:endParaRPr lang="en-US" dirty="0"/>
          </a:p>
          <a:p>
            <a:r>
              <a:rPr lang="en-US" dirty="0"/>
              <a:t>I will also be using material from </a:t>
            </a:r>
            <a:r>
              <a:rPr lang="en-US" u="sng" dirty="0"/>
              <a:t>Venture Capital for Dummies</a:t>
            </a:r>
          </a:p>
          <a:p>
            <a:endParaRPr lang="en-US" u="sng" dirty="0"/>
          </a:p>
          <a:p>
            <a:r>
              <a:rPr lang="en-US" dirty="0"/>
              <a:t>On 9/8 your first Homework will open. It is due on 9/14 and reflects the concepts we will address in class.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8136C-6AFF-2414-CE3B-8676DF27824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 4570                 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A0D56-8E2F-EB90-79D6-0CDF9AF75F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81095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3384</TotalTime>
  <Words>625</Words>
  <Application>Microsoft Macintosh PowerPoint</Application>
  <PresentationFormat>Custom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Rockwell</vt:lpstr>
      <vt:lpstr>Office Theme</vt:lpstr>
      <vt:lpstr>Entrepreneurial Finance  Intro to Venture Capitalists and Investment Screening</vt:lpstr>
      <vt:lpstr>Agenda</vt:lpstr>
      <vt:lpstr>Take Aways</vt:lpstr>
      <vt:lpstr>Concepts</vt:lpstr>
      <vt:lpstr>Vocabulary</vt:lpstr>
      <vt:lpstr>Let’s take a look at Spark Capital</vt:lpstr>
      <vt:lpstr>One more insight based on Spark Capital</vt:lpstr>
      <vt:lpstr>Process </vt:lpstr>
      <vt:lpstr>What to prepare for week of 9/8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15</cp:revision>
  <dcterms:created xsi:type="dcterms:W3CDTF">2022-01-05T04:34:10Z</dcterms:created>
  <dcterms:modified xsi:type="dcterms:W3CDTF">2025-09-01T21:28:45Z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