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1449" r:id="rId2"/>
    <p:sldId id="1429" r:id="rId3"/>
    <p:sldId id="1434" r:id="rId4"/>
    <p:sldId id="1443" r:id="rId5"/>
    <p:sldId id="1347" r:id="rId6"/>
    <p:sldId id="1435" r:id="rId7"/>
    <p:sldId id="1436" r:id="rId8"/>
    <p:sldId id="1437" r:id="rId9"/>
    <p:sldId id="1439" r:id="rId10"/>
    <p:sldId id="1440" r:id="rId11"/>
    <p:sldId id="1438" r:id="rId12"/>
    <p:sldId id="1441" r:id="rId13"/>
    <p:sldId id="1442" r:id="rId14"/>
    <p:sldId id="1444" r:id="rId15"/>
    <p:sldId id="1445" r:id="rId16"/>
    <p:sldId id="1446" r:id="rId17"/>
    <p:sldId id="1447" r:id="rId18"/>
    <p:sldId id="1448" r:id="rId19"/>
  </p:sldIdLst>
  <p:sldSz cx="4610100" cy="3460750"/>
  <p:notesSz cx="4610100" cy="34607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EB67B"/>
    <a:srgbClr val="516993"/>
    <a:srgbClr val="A0A2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8286B9-B848-4ED8-BF26-5EEBAC52E36B}" v="1" dt="2025-10-08T17:03:46.72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772"/>
  </p:normalViewPr>
  <p:slideViewPr>
    <p:cSldViewPr>
      <p:cViewPr varScale="1">
        <p:scale>
          <a:sx n="188" d="100"/>
          <a:sy n="188" d="100"/>
        </p:scale>
        <p:origin x="150" y="15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6242BC-AF68-414B-8622-6AC13D9F4F1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FC8FC9-DCDB-4EAE-B3A7-1B2D2F2E6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992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FA299-5294-AD47-8ACD-E81D24A7609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453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FC8FC9-DCDB-4EAE-B3A7-1B2D2F2E674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2052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FC8FC9-DCDB-4EAE-B3A7-1B2D2F2E674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2137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FC8FC9-DCDB-4EAE-B3A7-1B2D2F2E674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519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 dirty="0"/>
              <a:t>P</a:t>
            </a:r>
            <a:r>
              <a:rPr spc="-5" dirty="0"/>
              <a:t>age</a:t>
            </a:r>
            <a:r>
              <a:rPr spc="-10" dirty="0"/>
              <a:t> </a:t>
            </a: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338554"/>
          </a:xfrm>
        </p:spPr>
        <p:txBody>
          <a:bodyPr lIns="0" tIns="0" rIns="0" bIns="0"/>
          <a:lstStyle>
            <a:lvl1pPr marL="171450" indent="-171450">
              <a:buFont typeface="Arial" panose="020B0604020202020204" pitchFamily="34" charset="0"/>
              <a:buChar char="•"/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>
              <a:buFont typeface="Arial" panose="020B0604020202020204" pitchFamily="34" charset="0"/>
              <a:buChar char="•"/>
              <a:defRPr sz="1100"/>
            </a:lvl2pPr>
          </a:lstStyle>
          <a:p>
            <a:endParaRPr lang="en-US" dirty="0"/>
          </a:p>
          <a:p>
            <a:pPr lvl="1"/>
            <a:r>
              <a:rPr lang="en-US" dirty="0"/>
              <a:t>	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 dirty="0"/>
              <a:t>P</a:t>
            </a:r>
            <a:r>
              <a:rPr spc="-5" dirty="0"/>
              <a:t>age</a:t>
            </a:r>
            <a:r>
              <a:rPr spc="-10" dirty="0"/>
              <a:t> </a:t>
            </a: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 dirty="0"/>
              <a:t>P</a:t>
            </a:r>
            <a:r>
              <a:rPr spc="-5" dirty="0"/>
              <a:t>age</a:t>
            </a:r>
            <a:r>
              <a:rPr spc="-10" dirty="0"/>
              <a:t> </a:t>
            </a: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 dirty="0"/>
              <a:t>P</a:t>
            </a:r>
            <a:r>
              <a:rPr spc="-5" dirty="0"/>
              <a:t>age</a:t>
            </a:r>
            <a:r>
              <a:rPr spc="-10" dirty="0"/>
              <a:t> </a:t>
            </a: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 dirty="0"/>
              <a:t>P</a:t>
            </a:r>
            <a:r>
              <a:rPr spc="-5" dirty="0"/>
              <a:t>age</a:t>
            </a:r>
            <a:r>
              <a:rPr spc="-10" dirty="0"/>
              <a:t> </a:t>
            </a: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152" y="129539"/>
            <a:ext cx="4608830" cy="3456940"/>
          </a:xfrm>
          <a:custGeom>
            <a:avLst/>
            <a:gdLst/>
            <a:ahLst/>
            <a:cxnLst/>
            <a:rect l="l" t="t" r="r" b="b"/>
            <a:pathLst>
              <a:path w="4608830" h="3456940">
                <a:moveTo>
                  <a:pt x="0" y="3456431"/>
                </a:moveTo>
                <a:lnTo>
                  <a:pt x="4608576" y="3456431"/>
                </a:lnTo>
                <a:lnTo>
                  <a:pt x="4608576" y="0"/>
                </a:lnTo>
                <a:lnTo>
                  <a:pt x="0" y="0"/>
                </a:lnTo>
                <a:lnTo>
                  <a:pt x="0" y="3456431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-152" y="0"/>
            <a:ext cx="2304415" cy="129539"/>
          </a:xfrm>
          <a:custGeom>
            <a:avLst/>
            <a:gdLst/>
            <a:ahLst/>
            <a:cxnLst/>
            <a:rect l="l" t="t" r="r" b="b"/>
            <a:pathLst>
              <a:path w="2304415" h="129539">
                <a:moveTo>
                  <a:pt x="0" y="129540"/>
                </a:moveTo>
                <a:lnTo>
                  <a:pt x="2304288" y="129540"/>
                </a:lnTo>
                <a:lnTo>
                  <a:pt x="2304288" y="0"/>
                </a:lnTo>
                <a:lnTo>
                  <a:pt x="0" y="0"/>
                </a:lnTo>
                <a:lnTo>
                  <a:pt x="0" y="129540"/>
                </a:lnTo>
                <a:close/>
              </a:path>
            </a:pathLst>
          </a:custGeom>
          <a:solidFill>
            <a:srgbClr val="A0A2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304135" y="0"/>
            <a:ext cx="2304415" cy="129539"/>
          </a:xfrm>
          <a:custGeom>
            <a:avLst/>
            <a:gdLst/>
            <a:ahLst/>
            <a:cxnLst/>
            <a:rect l="l" t="t" r="r" b="b"/>
            <a:pathLst>
              <a:path w="2304415" h="129539">
                <a:moveTo>
                  <a:pt x="0" y="129540"/>
                </a:moveTo>
                <a:lnTo>
                  <a:pt x="2304288" y="129540"/>
                </a:lnTo>
                <a:lnTo>
                  <a:pt x="2304288" y="0"/>
                </a:lnTo>
                <a:lnTo>
                  <a:pt x="0" y="0"/>
                </a:lnTo>
                <a:lnTo>
                  <a:pt x="0" y="129540"/>
                </a:lnTo>
                <a:close/>
              </a:path>
            </a:pathLst>
          </a:custGeom>
          <a:solidFill>
            <a:srgbClr val="CEB6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 lang="en-US" dirty="0"/>
          </a:p>
          <a:p>
            <a:pPr lvl="1"/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966640" y="2949162"/>
            <a:ext cx="526414" cy="2711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708906" y="3344562"/>
            <a:ext cx="300989" cy="101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 dirty="0"/>
              <a:t>P</a:t>
            </a:r>
            <a:r>
              <a:rPr spc="-5" dirty="0"/>
              <a:t>age</a:t>
            </a:r>
            <a:r>
              <a:rPr spc="-10" dirty="0"/>
              <a:t> </a:t>
            </a: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171450" indent="-171450">
        <a:buFont typeface="Arial" panose="020B0604020202020204" pitchFamily="34" charset="0"/>
        <a:buChar char="•"/>
        <a:defRPr>
          <a:latin typeface="+mn-lt"/>
          <a:ea typeface="+mn-ea"/>
          <a:cs typeface="+mn-cs"/>
        </a:defRPr>
      </a:lvl1pPr>
      <a:lvl2pPr marL="742950" indent="-285750">
        <a:buFont typeface="Arial" panose="020B0604020202020204" pitchFamily="34" charset="0"/>
        <a:buChar char="•"/>
        <a:defRPr sz="1100"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66640" y="2946437"/>
            <a:ext cx="526415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b="1" spc="-5" dirty="0">
                <a:solidFill>
                  <a:srgbClr val="231F20"/>
                </a:solidFill>
                <a:latin typeface="Rockwell"/>
                <a:cs typeface="Rockwell"/>
              </a:rPr>
              <a:t>Leeds</a:t>
            </a:r>
            <a:endParaRPr sz="1350">
              <a:latin typeface="Rockwell"/>
              <a:cs typeface="Rockwel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648455" y="2932247"/>
            <a:ext cx="297815" cy="287655"/>
            <a:chOff x="3648455" y="2932247"/>
            <a:chExt cx="297815" cy="287655"/>
          </a:xfrm>
        </p:grpSpPr>
        <p:sp>
          <p:nvSpPr>
            <p:cNvPr id="4" name="object 4"/>
            <p:cNvSpPr/>
            <p:nvPr/>
          </p:nvSpPr>
          <p:spPr>
            <a:xfrm>
              <a:off x="3648455" y="2932247"/>
              <a:ext cx="297815" cy="287655"/>
            </a:xfrm>
            <a:custGeom>
              <a:avLst/>
              <a:gdLst/>
              <a:ahLst/>
              <a:cxnLst/>
              <a:rect l="l" t="t" r="r" b="b"/>
              <a:pathLst>
                <a:path w="297814" h="287655">
                  <a:moveTo>
                    <a:pt x="175778" y="0"/>
                  </a:moveTo>
                  <a:lnTo>
                    <a:pt x="39471" y="0"/>
                  </a:lnTo>
                  <a:lnTo>
                    <a:pt x="0" y="39421"/>
                  </a:lnTo>
                  <a:lnTo>
                    <a:pt x="0" y="175503"/>
                  </a:lnTo>
                  <a:lnTo>
                    <a:pt x="39471" y="214896"/>
                  </a:lnTo>
                  <a:lnTo>
                    <a:pt x="82753" y="214896"/>
                  </a:lnTo>
                  <a:lnTo>
                    <a:pt x="82753" y="248012"/>
                  </a:lnTo>
                  <a:lnTo>
                    <a:pt x="122544" y="287452"/>
                  </a:lnTo>
                  <a:lnTo>
                    <a:pt x="237576" y="287452"/>
                  </a:lnTo>
                  <a:lnTo>
                    <a:pt x="277459" y="248043"/>
                  </a:lnTo>
                  <a:lnTo>
                    <a:pt x="277459" y="142625"/>
                  </a:lnTo>
                  <a:lnTo>
                    <a:pt x="297774" y="142625"/>
                  </a:lnTo>
                  <a:lnTo>
                    <a:pt x="297774" y="72443"/>
                  </a:lnTo>
                  <a:lnTo>
                    <a:pt x="215127" y="72443"/>
                  </a:lnTo>
                  <a:lnTo>
                    <a:pt x="215127" y="39427"/>
                  </a:lnTo>
                  <a:lnTo>
                    <a:pt x="175778" y="0"/>
                  </a:lnTo>
                  <a:close/>
                </a:path>
              </a:pathLst>
            </a:custGeom>
            <a:solidFill>
              <a:srgbClr val="CFB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52540" y="2936332"/>
              <a:ext cx="290195" cy="279400"/>
            </a:xfrm>
            <a:custGeom>
              <a:avLst/>
              <a:gdLst/>
              <a:ahLst/>
              <a:cxnLst/>
              <a:rect l="l" t="t" r="r" b="b"/>
              <a:pathLst>
                <a:path w="290195" h="279400">
                  <a:moveTo>
                    <a:pt x="170017" y="0"/>
                  </a:moveTo>
                  <a:lnTo>
                    <a:pt x="37063" y="0"/>
                  </a:lnTo>
                  <a:lnTo>
                    <a:pt x="0" y="37033"/>
                  </a:lnTo>
                  <a:lnTo>
                    <a:pt x="0" y="169705"/>
                  </a:lnTo>
                  <a:lnTo>
                    <a:pt x="37063" y="206727"/>
                  </a:lnTo>
                  <a:lnTo>
                    <a:pt x="82783" y="206727"/>
                  </a:lnTo>
                  <a:lnTo>
                    <a:pt x="82783" y="242244"/>
                  </a:lnTo>
                  <a:lnTo>
                    <a:pt x="120136" y="279266"/>
                  </a:lnTo>
                  <a:lnTo>
                    <a:pt x="231815" y="279266"/>
                  </a:lnTo>
                  <a:lnTo>
                    <a:pt x="269275" y="242244"/>
                  </a:lnTo>
                  <a:lnTo>
                    <a:pt x="269275" y="134474"/>
                  </a:lnTo>
                  <a:lnTo>
                    <a:pt x="289590" y="134474"/>
                  </a:lnTo>
                  <a:lnTo>
                    <a:pt x="289590" y="72455"/>
                  </a:lnTo>
                  <a:lnTo>
                    <a:pt x="206943" y="72455"/>
                  </a:lnTo>
                  <a:lnTo>
                    <a:pt x="206943" y="37039"/>
                  </a:lnTo>
                  <a:lnTo>
                    <a:pt x="170017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62751" y="2946553"/>
              <a:ext cx="269240" cy="259079"/>
            </a:xfrm>
            <a:custGeom>
              <a:avLst/>
              <a:gdLst/>
              <a:ahLst/>
              <a:cxnLst/>
              <a:rect l="l" t="t" r="r" b="b"/>
              <a:pathLst>
                <a:path w="269239" h="259080">
                  <a:moveTo>
                    <a:pt x="155554" y="0"/>
                  </a:moveTo>
                  <a:lnTo>
                    <a:pt x="31104" y="0"/>
                  </a:lnTo>
                  <a:lnTo>
                    <a:pt x="0" y="31039"/>
                  </a:lnTo>
                  <a:lnTo>
                    <a:pt x="0" y="155245"/>
                  </a:lnTo>
                  <a:lnTo>
                    <a:pt x="31104" y="186266"/>
                  </a:lnTo>
                  <a:lnTo>
                    <a:pt x="82783" y="186266"/>
                  </a:lnTo>
                  <a:lnTo>
                    <a:pt x="82783" y="227754"/>
                  </a:lnTo>
                  <a:lnTo>
                    <a:pt x="114132" y="258823"/>
                  </a:lnTo>
                  <a:lnTo>
                    <a:pt x="217413" y="258823"/>
                  </a:lnTo>
                  <a:lnTo>
                    <a:pt x="248838" y="227754"/>
                  </a:lnTo>
                  <a:lnTo>
                    <a:pt x="248838" y="114013"/>
                  </a:lnTo>
                  <a:lnTo>
                    <a:pt x="269168" y="114013"/>
                  </a:lnTo>
                  <a:lnTo>
                    <a:pt x="269168" y="72455"/>
                  </a:lnTo>
                  <a:lnTo>
                    <a:pt x="206822" y="72455"/>
                  </a:lnTo>
                  <a:lnTo>
                    <a:pt x="206822" y="217311"/>
                  </a:lnTo>
                  <a:lnTo>
                    <a:pt x="124327" y="217311"/>
                  </a:lnTo>
                  <a:lnTo>
                    <a:pt x="124327" y="186266"/>
                  </a:lnTo>
                  <a:lnTo>
                    <a:pt x="155554" y="186266"/>
                  </a:lnTo>
                  <a:lnTo>
                    <a:pt x="186522" y="155245"/>
                  </a:lnTo>
                  <a:lnTo>
                    <a:pt x="186522" y="114013"/>
                  </a:lnTo>
                  <a:lnTo>
                    <a:pt x="144978" y="114013"/>
                  </a:lnTo>
                  <a:lnTo>
                    <a:pt x="144978" y="144821"/>
                  </a:lnTo>
                  <a:lnTo>
                    <a:pt x="124327" y="144821"/>
                  </a:lnTo>
                  <a:lnTo>
                    <a:pt x="124327" y="72455"/>
                  </a:lnTo>
                  <a:lnTo>
                    <a:pt x="62163" y="72455"/>
                  </a:lnTo>
                  <a:lnTo>
                    <a:pt x="62163" y="114013"/>
                  </a:lnTo>
                  <a:lnTo>
                    <a:pt x="82783" y="114013"/>
                  </a:lnTo>
                  <a:lnTo>
                    <a:pt x="82783" y="144821"/>
                  </a:lnTo>
                  <a:lnTo>
                    <a:pt x="41483" y="144821"/>
                  </a:lnTo>
                  <a:lnTo>
                    <a:pt x="41483" y="41164"/>
                  </a:lnTo>
                  <a:lnTo>
                    <a:pt x="144978" y="41164"/>
                  </a:lnTo>
                  <a:lnTo>
                    <a:pt x="144978" y="72455"/>
                  </a:lnTo>
                  <a:lnTo>
                    <a:pt x="186522" y="72455"/>
                  </a:lnTo>
                  <a:lnTo>
                    <a:pt x="186522" y="31056"/>
                  </a:lnTo>
                  <a:lnTo>
                    <a:pt x="1555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67871" y="2951666"/>
              <a:ext cx="259079" cy="248920"/>
            </a:xfrm>
            <a:custGeom>
              <a:avLst/>
              <a:gdLst/>
              <a:ahLst/>
              <a:cxnLst/>
              <a:rect l="l" t="t" r="r" b="b"/>
              <a:pathLst>
                <a:path w="259079" h="248919">
                  <a:moveTo>
                    <a:pt x="148315" y="0"/>
                  </a:moveTo>
                  <a:lnTo>
                    <a:pt x="28102" y="0"/>
                  </a:lnTo>
                  <a:lnTo>
                    <a:pt x="0" y="28050"/>
                  </a:lnTo>
                  <a:lnTo>
                    <a:pt x="0" y="148024"/>
                  </a:lnTo>
                  <a:lnTo>
                    <a:pt x="28087" y="176046"/>
                  </a:lnTo>
                  <a:lnTo>
                    <a:pt x="82783" y="176046"/>
                  </a:lnTo>
                  <a:lnTo>
                    <a:pt x="82783" y="220504"/>
                  </a:lnTo>
                  <a:lnTo>
                    <a:pt x="111130" y="248614"/>
                  </a:lnTo>
                  <a:lnTo>
                    <a:pt x="210174" y="248614"/>
                  </a:lnTo>
                  <a:lnTo>
                    <a:pt x="238612" y="220486"/>
                  </a:lnTo>
                  <a:lnTo>
                    <a:pt x="238612" y="103804"/>
                  </a:lnTo>
                  <a:lnTo>
                    <a:pt x="258927" y="103804"/>
                  </a:lnTo>
                  <a:lnTo>
                    <a:pt x="258927" y="72467"/>
                  </a:lnTo>
                  <a:lnTo>
                    <a:pt x="206822" y="72467"/>
                  </a:lnTo>
                  <a:lnTo>
                    <a:pt x="206822" y="217294"/>
                  </a:lnTo>
                  <a:lnTo>
                    <a:pt x="114086" y="217294"/>
                  </a:lnTo>
                  <a:lnTo>
                    <a:pt x="114086" y="176046"/>
                  </a:lnTo>
                  <a:lnTo>
                    <a:pt x="148315" y="176046"/>
                  </a:lnTo>
                  <a:lnTo>
                    <a:pt x="176296" y="148024"/>
                  </a:lnTo>
                  <a:lnTo>
                    <a:pt x="176296" y="114019"/>
                  </a:lnTo>
                  <a:lnTo>
                    <a:pt x="144978" y="114019"/>
                  </a:lnTo>
                  <a:lnTo>
                    <a:pt x="144978" y="144815"/>
                  </a:lnTo>
                  <a:lnTo>
                    <a:pt x="114086" y="144815"/>
                  </a:lnTo>
                  <a:lnTo>
                    <a:pt x="114086" y="72467"/>
                  </a:lnTo>
                  <a:lnTo>
                    <a:pt x="62148" y="72467"/>
                  </a:lnTo>
                  <a:lnTo>
                    <a:pt x="62148" y="103804"/>
                  </a:lnTo>
                  <a:lnTo>
                    <a:pt x="82783" y="103804"/>
                  </a:lnTo>
                  <a:lnTo>
                    <a:pt x="82783" y="144815"/>
                  </a:lnTo>
                  <a:lnTo>
                    <a:pt x="31241" y="144815"/>
                  </a:lnTo>
                  <a:lnTo>
                    <a:pt x="31241" y="30950"/>
                  </a:lnTo>
                  <a:lnTo>
                    <a:pt x="144978" y="30950"/>
                  </a:lnTo>
                  <a:lnTo>
                    <a:pt x="144978" y="62227"/>
                  </a:lnTo>
                  <a:lnTo>
                    <a:pt x="176296" y="62227"/>
                  </a:lnTo>
                  <a:lnTo>
                    <a:pt x="176296" y="28050"/>
                  </a:lnTo>
                  <a:lnTo>
                    <a:pt x="148315" y="0"/>
                  </a:lnTo>
                  <a:close/>
                </a:path>
              </a:pathLst>
            </a:custGeom>
            <a:solidFill>
              <a:srgbClr val="CFB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56830" y="434975"/>
            <a:ext cx="4067937" cy="362407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459105" marR="5080" indent="-447040" algn="ctr">
              <a:lnSpc>
                <a:spcPct val="102699"/>
              </a:lnSpc>
              <a:spcBef>
                <a:spcPts val="55"/>
              </a:spcBef>
            </a:pPr>
            <a:r>
              <a:rPr lang="en-US" sz="2400" dirty="0"/>
              <a:t>Cash VS Operating Cycle</a:t>
            </a:r>
            <a:endParaRPr sz="1600" dirty="0"/>
          </a:p>
        </p:txBody>
      </p:sp>
      <p:sp>
        <p:nvSpPr>
          <p:cNvPr id="10" name="object 10"/>
          <p:cNvSpPr/>
          <p:nvPr/>
        </p:nvSpPr>
        <p:spPr>
          <a:xfrm>
            <a:off x="-152" y="3337814"/>
            <a:ext cx="1536700" cy="129539"/>
          </a:xfrm>
          <a:custGeom>
            <a:avLst/>
            <a:gdLst/>
            <a:ahLst/>
            <a:cxnLst/>
            <a:rect l="l" t="t" r="r" b="b"/>
            <a:pathLst>
              <a:path w="1536700" h="129539">
                <a:moveTo>
                  <a:pt x="0" y="129539"/>
                </a:moveTo>
                <a:lnTo>
                  <a:pt x="1536192" y="129539"/>
                </a:lnTo>
                <a:lnTo>
                  <a:pt x="1536192" y="0"/>
                </a:lnTo>
                <a:lnTo>
                  <a:pt x="0" y="0"/>
                </a:lnTo>
                <a:lnTo>
                  <a:pt x="0" y="129539"/>
                </a:lnTo>
                <a:close/>
              </a:path>
            </a:pathLst>
          </a:custGeom>
          <a:solidFill>
            <a:srgbClr val="A0A2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72231" y="3326663"/>
            <a:ext cx="1536700" cy="129539"/>
          </a:xfrm>
          <a:custGeom>
            <a:avLst/>
            <a:gdLst/>
            <a:ahLst/>
            <a:cxnLst/>
            <a:rect l="l" t="t" r="r" b="b"/>
            <a:pathLst>
              <a:path w="1536700" h="129539">
                <a:moveTo>
                  <a:pt x="0" y="129539"/>
                </a:moveTo>
                <a:lnTo>
                  <a:pt x="1536191" y="129539"/>
                </a:lnTo>
                <a:lnTo>
                  <a:pt x="1536191" y="0"/>
                </a:lnTo>
                <a:lnTo>
                  <a:pt x="0" y="0"/>
                </a:lnTo>
                <a:lnTo>
                  <a:pt x="0" y="129539"/>
                </a:lnTo>
                <a:close/>
              </a:path>
            </a:pathLst>
          </a:custGeom>
          <a:solidFill>
            <a:srgbClr val="CEB6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966640" y="3126132"/>
            <a:ext cx="516255" cy="939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spc="25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500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10" dirty="0">
                <a:solidFill>
                  <a:srgbClr val="231F20"/>
                </a:solidFill>
                <a:latin typeface="Arial"/>
                <a:cs typeface="Arial"/>
              </a:rPr>
              <a:t>U</a:t>
            </a:r>
            <a:r>
              <a:rPr sz="500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5" dirty="0">
                <a:solidFill>
                  <a:srgbClr val="231F20"/>
                </a:solidFill>
                <a:latin typeface="Arial"/>
                <a:cs typeface="Arial"/>
              </a:rPr>
              <a:t>S</a:t>
            </a:r>
            <a:r>
              <a:rPr sz="500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-20" dirty="0">
                <a:solidFill>
                  <a:srgbClr val="231F20"/>
                </a:solidFill>
                <a:latin typeface="Arial"/>
                <a:cs typeface="Arial"/>
              </a:rPr>
              <a:t>I</a:t>
            </a:r>
            <a:r>
              <a:rPr sz="500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20" dirty="0">
                <a:solidFill>
                  <a:srgbClr val="231F20"/>
                </a:solidFill>
                <a:latin typeface="Arial"/>
                <a:cs typeface="Arial"/>
              </a:rPr>
              <a:t>N</a:t>
            </a:r>
            <a:r>
              <a:rPr sz="500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-15" dirty="0">
                <a:solidFill>
                  <a:srgbClr val="231F20"/>
                </a:solidFill>
                <a:latin typeface="Arial"/>
                <a:cs typeface="Arial"/>
              </a:rPr>
              <a:t>E</a:t>
            </a:r>
            <a:r>
              <a:rPr sz="500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5" dirty="0">
                <a:solidFill>
                  <a:srgbClr val="231F20"/>
                </a:solidFill>
                <a:latin typeface="Arial"/>
                <a:cs typeface="Arial"/>
              </a:rPr>
              <a:t>S</a:t>
            </a:r>
            <a:r>
              <a:rPr sz="500" spc="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5" dirty="0">
                <a:solidFill>
                  <a:srgbClr val="231F20"/>
                </a:solidFill>
                <a:latin typeface="Arial"/>
                <a:cs typeface="Arial"/>
              </a:rPr>
              <a:t>S</a:t>
            </a:r>
            <a:endParaRPr sz="50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08906" y="3344562"/>
            <a:ext cx="30099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sz="600" spc="-35" dirty="0">
                <a:latin typeface="Arial"/>
                <a:cs typeface="Arial"/>
              </a:rPr>
              <a:t>P</a:t>
            </a:r>
            <a:r>
              <a:rPr sz="600" spc="-5" dirty="0">
                <a:latin typeface="Arial"/>
                <a:cs typeface="Arial"/>
              </a:rPr>
              <a:t>age</a:t>
            </a:r>
            <a:r>
              <a:rPr sz="600" spc="-10" dirty="0">
                <a:latin typeface="Arial"/>
                <a:cs typeface="Arial"/>
              </a:rPr>
              <a:t> </a:t>
            </a:r>
            <a:fld id="{81D60167-4931-47E6-BA6A-407CBD079E47}" type="slidenum">
              <a:rPr sz="600" spc="-5" dirty="0">
                <a:latin typeface="Arial"/>
                <a:cs typeface="Arial"/>
              </a:rPr>
              <a:t>1</a:t>
            </a:fld>
            <a:endParaRPr sz="600">
              <a:latin typeface="Arial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3DE640-4373-E05F-2E68-73D434B5B221}"/>
              </a:ext>
            </a:extLst>
          </p:cNvPr>
          <p:cNvSpPr txBox="1"/>
          <p:nvPr/>
        </p:nvSpPr>
        <p:spPr>
          <a:xfrm>
            <a:off x="778104" y="1528371"/>
            <a:ext cx="312418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dirty="0"/>
          </a:p>
          <a:p>
            <a:pPr algn="ctr"/>
            <a:r>
              <a:rPr lang="en-US" dirty="0"/>
              <a:t>Professor Burnes</a:t>
            </a:r>
          </a:p>
          <a:p>
            <a:pPr algn="ctr"/>
            <a:r>
              <a:rPr lang="en-US" b="1" dirty="0"/>
              <a:t>Leeds School of Business</a:t>
            </a:r>
          </a:p>
          <a:p>
            <a:pPr algn="ctr"/>
            <a:r>
              <a:rPr lang="en-US" b="1" dirty="0"/>
              <a:t>University of Colorado Boulder</a:t>
            </a:r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2B236-89A9-72DF-90AE-713CF9CC2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36A369-FD32-5BB3-A5FE-B6A0A29F7B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677108"/>
          </a:xfrm>
        </p:spPr>
        <p:txBody>
          <a:bodyPr/>
          <a:lstStyle/>
          <a:p>
            <a:r>
              <a:rPr lang="en-US" dirty="0"/>
              <a:t>Cash</a:t>
            </a:r>
          </a:p>
          <a:p>
            <a:r>
              <a:rPr lang="en-US" dirty="0"/>
              <a:t>Operating Cycle vs Cash Cycle</a:t>
            </a:r>
          </a:p>
          <a:p>
            <a:r>
              <a:rPr lang="en-US" dirty="0"/>
              <a:t>Intro to Forecasting</a:t>
            </a:r>
          </a:p>
          <a:p>
            <a:r>
              <a:rPr lang="en-US" dirty="0"/>
              <a:t>Sensitivity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F68760-1D8C-B913-19FE-DA6E30F8426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2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926726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AADAAAC-EDF7-AF9E-26FE-C08F523F8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430887"/>
          </a:xfrm>
        </p:spPr>
        <p:txBody>
          <a:bodyPr/>
          <a:lstStyle/>
          <a:p>
            <a:r>
              <a:rPr lang="en-US" dirty="0"/>
              <a:t>How does a company manage CASH – at an operational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631613F-CB8A-3A5D-D995-734006072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332" y="815975"/>
            <a:ext cx="4357623" cy="1523494"/>
          </a:xfrm>
        </p:spPr>
        <p:txBody>
          <a:bodyPr/>
          <a:lstStyle/>
          <a:p>
            <a:pPr>
              <a:buClr>
                <a:srgbClr val="516993"/>
              </a:buClr>
              <a:buFont typeface="Courier New" panose="02070309020205020404" pitchFamily="49" charset="0"/>
              <a:buChar char="o"/>
            </a:pPr>
            <a:r>
              <a:rPr lang="en-US" dirty="0"/>
              <a:t>Revenue?</a:t>
            </a:r>
          </a:p>
          <a:p>
            <a:pPr>
              <a:buClr>
                <a:srgbClr val="516993"/>
              </a:buClr>
              <a:buFont typeface="Courier New" panose="02070309020205020404" pitchFamily="49" charset="0"/>
              <a:buChar char="o"/>
            </a:pPr>
            <a:r>
              <a:rPr lang="en-US" dirty="0"/>
              <a:t>COGS?</a:t>
            </a:r>
          </a:p>
          <a:p>
            <a:pPr>
              <a:buClr>
                <a:srgbClr val="516993"/>
              </a:buClr>
              <a:buFont typeface="Courier New" panose="02070309020205020404" pitchFamily="49" charset="0"/>
              <a:buChar char="o"/>
            </a:pPr>
            <a:r>
              <a:rPr lang="en-US" dirty="0"/>
              <a:t>A/R</a:t>
            </a:r>
          </a:p>
          <a:p>
            <a:pPr>
              <a:buClr>
                <a:srgbClr val="516993"/>
              </a:buClr>
              <a:buFont typeface="Courier New" panose="02070309020205020404" pitchFamily="49" charset="0"/>
              <a:buChar char="o"/>
            </a:pPr>
            <a:r>
              <a:rPr lang="en-US" dirty="0"/>
              <a:t>A/P</a:t>
            </a:r>
          </a:p>
          <a:p>
            <a:pPr>
              <a:buClr>
                <a:srgbClr val="516993"/>
              </a:buClr>
              <a:buFont typeface="Courier New" panose="02070309020205020404" pitchFamily="49" charset="0"/>
              <a:buChar char="o"/>
            </a:pPr>
            <a:r>
              <a:rPr lang="en-US" dirty="0"/>
              <a:t>Inventory?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These are really important because by not managing these, I am tying up cash – or deploying cash – when I don’t need to!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31734-5814-5090-FDB9-94EF47E5471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3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1709724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FBC29-70A6-C226-6E8B-156F6C1C9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430887"/>
          </a:xfrm>
        </p:spPr>
        <p:txBody>
          <a:bodyPr/>
          <a:lstStyle/>
          <a:p>
            <a:r>
              <a:rPr lang="en-US" dirty="0"/>
              <a:t>We are going to Evaluate Our Cash Operations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8FCCE3-BEDA-83E5-6849-31DE55823E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332" y="739775"/>
            <a:ext cx="4357623" cy="16927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Using an </a:t>
            </a:r>
            <a:r>
              <a:rPr lang="en-US" b="1" dirty="0">
                <a:solidFill>
                  <a:srgbClr val="00B050"/>
                </a:solidFill>
              </a:rPr>
              <a:t>OPERATING CYCLE </a:t>
            </a:r>
            <a:r>
              <a:rPr lang="en-US" dirty="0"/>
              <a:t>AND </a:t>
            </a:r>
            <a:r>
              <a:rPr lang="en-US" b="1" dirty="0">
                <a:solidFill>
                  <a:srgbClr val="00B050"/>
                </a:solidFill>
              </a:rPr>
              <a:t>CASH CYCLE </a:t>
            </a:r>
            <a:r>
              <a:rPr lang="en-US" dirty="0"/>
              <a:t>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D4DB6-2B4D-50D6-58C4-AECED087F7F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4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924135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177133C-172D-3B89-B7C8-D22A88FE5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238" y="206375"/>
            <a:ext cx="4357623" cy="430887"/>
          </a:xfrm>
        </p:spPr>
        <p:txBody>
          <a:bodyPr/>
          <a:lstStyle/>
          <a:p>
            <a:r>
              <a:rPr lang="en-US" dirty="0"/>
              <a:t>A Challenge is that 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Operating Cycles </a:t>
            </a:r>
            <a:r>
              <a:rPr lang="en-US" dirty="0"/>
              <a:t>and </a:t>
            </a:r>
            <a:br>
              <a:rPr lang="en-US" dirty="0"/>
            </a:b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Cash Cycles </a:t>
            </a:r>
            <a:r>
              <a:rPr lang="en-US" dirty="0"/>
              <a:t>are not (typically) synchronized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39906-61FB-B365-E61E-BF1A575E501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5</a:t>
            </a:fld>
            <a:endParaRPr spc="-5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F61D0DD-317F-0146-6884-DB9EC0341591}"/>
              </a:ext>
            </a:extLst>
          </p:cNvPr>
          <p:cNvCxnSpPr/>
          <p:nvPr/>
        </p:nvCxnSpPr>
        <p:spPr>
          <a:xfrm>
            <a:off x="126238" y="1577975"/>
            <a:ext cx="448386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7E6B063-3534-A083-289D-2CF6A06FD74C}"/>
              </a:ext>
            </a:extLst>
          </p:cNvPr>
          <p:cNvCxnSpPr>
            <a:cxnSpLocks/>
          </p:cNvCxnSpPr>
          <p:nvPr/>
        </p:nvCxnSpPr>
        <p:spPr>
          <a:xfrm>
            <a:off x="336295" y="968375"/>
            <a:ext cx="0" cy="609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227D78B-5202-BF0B-DE99-C46E66784683}"/>
              </a:ext>
            </a:extLst>
          </p:cNvPr>
          <p:cNvCxnSpPr>
            <a:cxnSpLocks/>
          </p:cNvCxnSpPr>
          <p:nvPr/>
        </p:nvCxnSpPr>
        <p:spPr>
          <a:xfrm flipV="1">
            <a:off x="2152650" y="968375"/>
            <a:ext cx="0" cy="609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4475BA1-653B-00E3-FA8F-A71F29D0F8CF}"/>
              </a:ext>
            </a:extLst>
          </p:cNvPr>
          <p:cNvSpPr txBox="1"/>
          <p:nvPr/>
        </p:nvSpPr>
        <p:spPr>
          <a:xfrm>
            <a:off x="28189" y="660849"/>
            <a:ext cx="1691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Inventory (stuff) purchased and </a:t>
            </a:r>
          </a:p>
          <a:p>
            <a:r>
              <a:rPr lang="en-US" sz="900" dirty="0"/>
              <a:t>produced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C141A0-4FBB-6B60-0D09-E7E67694CDCF}"/>
              </a:ext>
            </a:extLst>
          </p:cNvPr>
          <p:cNvSpPr txBox="1"/>
          <p:nvPr/>
        </p:nvSpPr>
        <p:spPr>
          <a:xfrm>
            <a:off x="1847850" y="741044"/>
            <a:ext cx="12618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Inventory (Goods) Sold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A0115D-05D3-BA50-C962-8FB9C8A9B0D4}"/>
              </a:ext>
            </a:extLst>
          </p:cNvPr>
          <p:cNvSpPr txBox="1"/>
          <p:nvPr/>
        </p:nvSpPr>
        <p:spPr>
          <a:xfrm>
            <a:off x="619767" y="1174307"/>
            <a:ext cx="97654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i="1" dirty="0"/>
              <a:t>Inventory period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B2E0815-71B3-879B-AED5-E36F14F906F3}"/>
              </a:ext>
            </a:extLst>
          </p:cNvPr>
          <p:cNvSpPr txBox="1"/>
          <p:nvPr/>
        </p:nvSpPr>
        <p:spPr>
          <a:xfrm>
            <a:off x="2778041" y="1170841"/>
            <a:ext cx="73770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/>
              <a:t>A/R  period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4735CA3-B66A-EBB3-E180-059AF0A7795D}"/>
              </a:ext>
            </a:extLst>
          </p:cNvPr>
          <p:cNvCxnSpPr>
            <a:cxnSpLocks/>
          </p:cNvCxnSpPr>
          <p:nvPr/>
        </p:nvCxnSpPr>
        <p:spPr>
          <a:xfrm>
            <a:off x="1695450" y="1577975"/>
            <a:ext cx="0" cy="838200"/>
          </a:xfrm>
          <a:prstGeom prst="straightConnector1">
            <a:avLst/>
          </a:prstGeom>
          <a:ln w="190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39DAD03-3958-E47E-542B-DEC348C42731}"/>
              </a:ext>
            </a:extLst>
          </p:cNvPr>
          <p:cNvSpPr txBox="1"/>
          <p:nvPr/>
        </p:nvSpPr>
        <p:spPr>
          <a:xfrm>
            <a:off x="637337" y="1942184"/>
            <a:ext cx="70564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/>
              <a:t>A/P Period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7F80BE5-B1C8-FCF9-D591-EED3E57AA522}"/>
              </a:ext>
            </a:extLst>
          </p:cNvPr>
          <p:cNvSpPr txBox="1"/>
          <p:nvPr/>
        </p:nvSpPr>
        <p:spPr>
          <a:xfrm>
            <a:off x="2568734" y="1953243"/>
            <a:ext cx="67839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Cash Cycle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20F7975-6BE2-1072-8ACD-8443FF3E37E2}"/>
              </a:ext>
            </a:extLst>
          </p:cNvPr>
          <p:cNvCxnSpPr>
            <a:cxnSpLocks/>
          </p:cNvCxnSpPr>
          <p:nvPr/>
        </p:nvCxnSpPr>
        <p:spPr>
          <a:xfrm flipV="1">
            <a:off x="4362450" y="1590714"/>
            <a:ext cx="0" cy="825461"/>
          </a:xfrm>
          <a:prstGeom prst="straightConnector1">
            <a:avLst/>
          </a:prstGeom>
          <a:ln w="190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D42640B-C8B9-E83D-0D33-8F523A7DECD7}"/>
              </a:ext>
            </a:extLst>
          </p:cNvPr>
          <p:cNvSpPr txBox="1"/>
          <p:nvPr/>
        </p:nvSpPr>
        <p:spPr>
          <a:xfrm>
            <a:off x="1141448" y="2461269"/>
            <a:ext cx="129875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Cash PAID for Inventory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499BE25-0C87-BDDF-5F22-E254C4E77A68}"/>
              </a:ext>
            </a:extLst>
          </p:cNvPr>
          <p:cNvSpPr txBox="1"/>
          <p:nvPr/>
        </p:nvSpPr>
        <p:spPr>
          <a:xfrm>
            <a:off x="3360036" y="2455587"/>
            <a:ext cx="13436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Cash Received for Goods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1BF1E5C-A62E-EBE7-98A9-5E18DBE22638}"/>
              </a:ext>
            </a:extLst>
          </p:cNvPr>
          <p:cNvCxnSpPr>
            <a:cxnSpLocks/>
          </p:cNvCxnSpPr>
          <p:nvPr/>
        </p:nvCxnSpPr>
        <p:spPr>
          <a:xfrm>
            <a:off x="336295" y="2873375"/>
            <a:ext cx="4026155" cy="0"/>
          </a:xfrm>
          <a:prstGeom prst="straightConnector1">
            <a:avLst/>
          </a:prstGeom>
          <a:ln>
            <a:prstDash val="sysDash"/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C453E0C-E35F-E52E-E13E-BCD9126413CD}"/>
              </a:ext>
            </a:extLst>
          </p:cNvPr>
          <p:cNvSpPr txBox="1"/>
          <p:nvPr/>
        </p:nvSpPr>
        <p:spPr>
          <a:xfrm>
            <a:off x="731931" y="2864938"/>
            <a:ext cx="33457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Operating  Cycle </a:t>
            </a:r>
            <a:r>
              <a:rPr lang="en-US" sz="900" dirty="0"/>
              <a:t>= period from Inventory purchase to cash received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D2739B5-3CA0-E54F-1ABB-74FAF31CE2B4}"/>
              </a:ext>
            </a:extLst>
          </p:cNvPr>
          <p:cNvCxnSpPr>
            <a:cxnSpLocks/>
          </p:cNvCxnSpPr>
          <p:nvPr/>
        </p:nvCxnSpPr>
        <p:spPr>
          <a:xfrm flipV="1">
            <a:off x="4362450" y="741044"/>
            <a:ext cx="0" cy="825461"/>
          </a:xfrm>
          <a:prstGeom prst="straightConnector1">
            <a:avLst/>
          </a:prstGeom>
          <a:ln>
            <a:prstDash val="sysDot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0CC6F51-1B23-D0BE-E84D-5F112DD07705}"/>
              </a:ext>
            </a:extLst>
          </p:cNvPr>
          <p:cNvCxnSpPr>
            <a:cxnSpLocks/>
          </p:cNvCxnSpPr>
          <p:nvPr/>
        </p:nvCxnSpPr>
        <p:spPr>
          <a:xfrm flipV="1">
            <a:off x="336295" y="1610516"/>
            <a:ext cx="0" cy="825461"/>
          </a:xfrm>
          <a:prstGeom prst="straightConnector1">
            <a:avLst/>
          </a:prstGeom>
          <a:ln>
            <a:prstDash val="sysDot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A8AC8BCD-63F7-DE61-E7DA-14FC23847DEB}"/>
              </a:ext>
            </a:extLst>
          </p:cNvPr>
          <p:cNvSpPr txBox="1"/>
          <p:nvPr/>
        </p:nvSpPr>
        <p:spPr>
          <a:xfrm>
            <a:off x="722384" y="3113730"/>
            <a:ext cx="3340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CASH  Cycle </a:t>
            </a:r>
            <a:r>
              <a:rPr lang="en-US" sz="900" dirty="0"/>
              <a:t>= Period from when cash PAID to when cash RECEIVED </a:t>
            </a:r>
          </a:p>
          <a:p>
            <a:r>
              <a:rPr lang="en-US" sz="900" dirty="0"/>
              <a:t>             = Operating Cycle – A/P Period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E75F3F4-C71B-4E1B-7645-FB737D3C23D7}"/>
              </a:ext>
            </a:extLst>
          </p:cNvPr>
          <p:cNvCxnSpPr/>
          <p:nvPr/>
        </p:nvCxnSpPr>
        <p:spPr>
          <a:xfrm flipV="1">
            <a:off x="1719678" y="2101823"/>
            <a:ext cx="2642772" cy="23947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5471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  <p:bldP spid="26" grpId="0"/>
      <p:bldP spid="27" grpId="0"/>
      <p:bldP spid="31" grpId="0"/>
      <p:bldP spid="32" grpId="0"/>
      <p:bldP spid="38" grpId="0"/>
      <p:bldP spid="4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330D0-5DBC-F037-AFE6-2C045C5A5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Operating Cycle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0AFE59-A87A-E460-F206-157AA132D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270843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Operating Cycle = Inventory Period + A/R Period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/>
              <a:t>We count these periods in Days…. How do we get there?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228600" indent="-228600">
              <a:buAutoNum type="arabicParenR"/>
            </a:pPr>
            <a:r>
              <a:rPr lang="en-US" b="1" dirty="0"/>
              <a:t>Inventory Turnover = COGS/Inventory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/>
              <a:t>This tells us for every dollar in inventory, how much is going into the STUFF we are selling</a:t>
            </a:r>
          </a:p>
          <a:p>
            <a:pPr marL="0" indent="0">
              <a:buNone/>
            </a:pPr>
            <a:endParaRPr lang="en-US" i="1" dirty="0"/>
          </a:p>
          <a:p>
            <a:pPr marL="228600" indent="-228600">
              <a:buFont typeface="+mj-lt"/>
              <a:buAutoNum type="arabicParenR" startAt="2"/>
            </a:pPr>
            <a:r>
              <a:rPr lang="en-US" b="1" dirty="0"/>
              <a:t>Inventory PERIOD = 365/Inventory Turnover</a:t>
            </a:r>
            <a:endParaRPr lang="en-US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i="1" dirty="0"/>
              <a:t>This tells us how many days does it take our  Inventory to Turnover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i="1" dirty="0"/>
              <a:t>LET’s work this out on the Operating Cycle Blank Tab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02090D-44E6-51AC-569B-22FAC0EFE26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6</a:t>
            </a:fld>
            <a:endParaRPr spc="-5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C16B66-55A1-492B-7A0D-8CEE8762A21E}"/>
              </a:ext>
            </a:extLst>
          </p:cNvPr>
          <p:cNvSpPr txBox="1"/>
          <p:nvPr/>
        </p:nvSpPr>
        <p:spPr>
          <a:xfrm>
            <a:off x="1009650" y="1196975"/>
            <a:ext cx="2088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INVENTORY PERIOD</a:t>
            </a:r>
          </a:p>
        </p:txBody>
      </p:sp>
    </p:spTree>
    <p:extLst>
      <p:ext uri="{BB962C8B-B14F-4D97-AF65-F5344CB8AC3E}">
        <p14:creationId xmlns:p14="http://schemas.microsoft.com/office/powerpoint/2010/main" val="1218347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5BAA7-4BC2-7721-A16F-525CC5806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96479A6-1CB7-6CCC-CF68-6AA7A91A5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238" y="206375"/>
            <a:ext cx="4357623" cy="215444"/>
          </a:xfrm>
        </p:spPr>
        <p:txBody>
          <a:bodyPr/>
          <a:lstStyle/>
          <a:p>
            <a:r>
              <a:rPr lang="en-US" dirty="0"/>
              <a:t>Keeping Track: Inventory Period, CHECK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7F70C-016B-9F6E-75B1-225EE205540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7</a:t>
            </a:fld>
            <a:endParaRPr spc="-5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717530D-E542-D17C-E941-5AD872588EE3}"/>
              </a:ext>
            </a:extLst>
          </p:cNvPr>
          <p:cNvCxnSpPr/>
          <p:nvPr/>
        </p:nvCxnSpPr>
        <p:spPr>
          <a:xfrm>
            <a:off x="126238" y="1577975"/>
            <a:ext cx="448386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2CD9376-CBBD-CD49-9F80-299A84664C7A}"/>
              </a:ext>
            </a:extLst>
          </p:cNvPr>
          <p:cNvCxnSpPr>
            <a:cxnSpLocks/>
          </p:cNvCxnSpPr>
          <p:nvPr/>
        </p:nvCxnSpPr>
        <p:spPr>
          <a:xfrm>
            <a:off x="336295" y="968375"/>
            <a:ext cx="0" cy="609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A8C3AA9-F524-9AD5-CFC2-3C7F0C8D21AD}"/>
              </a:ext>
            </a:extLst>
          </p:cNvPr>
          <p:cNvCxnSpPr>
            <a:cxnSpLocks/>
          </p:cNvCxnSpPr>
          <p:nvPr/>
        </p:nvCxnSpPr>
        <p:spPr>
          <a:xfrm flipV="1">
            <a:off x="2152650" y="968375"/>
            <a:ext cx="0" cy="609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ED70B4D-E895-86C3-F249-CFAF4AD907F1}"/>
              </a:ext>
            </a:extLst>
          </p:cNvPr>
          <p:cNvSpPr txBox="1"/>
          <p:nvPr/>
        </p:nvSpPr>
        <p:spPr>
          <a:xfrm>
            <a:off x="28189" y="660849"/>
            <a:ext cx="1691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Inventory (stuff) purchased and </a:t>
            </a:r>
          </a:p>
          <a:p>
            <a:r>
              <a:rPr lang="en-US" sz="900" dirty="0"/>
              <a:t>produced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39EF80-8146-F4D1-347C-89C81A4AD5A0}"/>
              </a:ext>
            </a:extLst>
          </p:cNvPr>
          <p:cNvSpPr txBox="1"/>
          <p:nvPr/>
        </p:nvSpPr>
        <p:spPr>
          <a:xfrm>
            <a:off x="1847850" y="741044"/>
            <a:ext cx="12618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Inventory (Goods) Sold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BA0B0C-803A-0F97-617B-904690A5FFF7}"/>
              </a:ext>
            </a:extLst>
          </p:cNvPr>
          <p:cNvSpPr txBox="1"/>
          <p:nvPr/>
        </p:nvSpPr>
        <p:spPr>
          <a:xfrm>
            <a:off x="619767" y="1174307"/>
            <a:ext cx="97654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i="1" dirty="0"/>
              <a:t>Inventory period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8B0E95-1EA3-4509-404B-2FE7B0615305}"/>
              </a:ext>
            </a:extLst>
          </p:cNvPr>
          <p:cNvSpPr txBox="1"/>
          <p:nvPr/>
        </p:nvSpPr>
        <p:spPr>
          <a:xfrm>
            <a:off x="2778041" y="1170841"/>
            <a:ext cx="73770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/>
              <a:t>A/R  period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57C78A1-6EF6-551E-4DC6-6BA6F3A1C3B3}"/>
              </a:ext>
            </a:extLst>
          </p:cNvPr>
          <p:cNvCxnSpPr>
            <a:cxnSpLocks/>
          </p:cNvCxnSpPr>
          <p:nvPr/>
        </p:nvCxnSpPr>
        <p:spPr>
          <a:xfrm>
            <a:off x="1695450" y="1577975"/>
            <a:ext cx="0" cy="838200"/>
          </a:xfrm>
          <a:prstGeom prst="straightConnector1">
            <a:avLst/>
          </a:prstGeom>
          <a:ln w="190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3C392F6-1886-A08B-D0CF-1FB677AAD8F6}"/>
              </a:ext>
            </a:extLst>
          </p:cNvPr>
          <p:cNvSpPr txBox="1"/>
          <p:nvPr/>
        </p:nvSpPr>
        <p:spPr>
          <a:xfrm>
            <a:off x="637337" y="1942184"/>
            <a:ext cx="70564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/>
              <a:t>A/P Period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F84EF0-23CD-9C03-4370-58C027EA24DB}"/>
              </a:ext>
            </a:extLst>
          </p:cNvPr>
          <p:cNvSpPr txBox="1"/>
          <p:nvPr/>
        </p:nvSpPr>
        <p:spPr>
          <a:xfrm>
            <a:off x="2568734" y="1953243"/>
            <a:ext cx="67839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Cash Cycle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2E13210-DAD5-177A-16D0-700E68C84263}"/>
              </a:ext>
            </a:extLst>
          </p:cNvPr>
          <p:cNvCxnSpPr>
            <a:cxnSpLocks/>
          </p:cNvCxnSpPr>
          <p:nvPr/>
        </p:nvCxnSpPr>
        <p:spPr>
          <a:xfrm flipV="1">
            <a:off x="4362450" y="1590714"/>
            <a:ext cx="0" cy="825461"/>
          </a:xfrm>
          <a:prstGeom prst="straightConnector1">
            <a:avLst/>
          </a:prstGeom>
          <a:ln w="190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B42C375-1DD6-76E4-069B-5589DF4FA0FD}"/>
              </a:ext>
            </a:extLst>
          </p:cNvPr>
          <p:cNvSpPr txBox="1"/>
          <p:nvPr/>
        </p:nvSpPr>
        <p:spPr>
          <a:xfrm>
            <a:off x="1141448" y="2461269"/>
            <a:ext cx="129875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Cash PAID for Inventory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B54EFF0-0311-F5B4-4A74-8D10205CCAB1}"/>
              </a:ext>
            </a:extLst>
          </p:cNvPr>
          <p:cNvSpPr txBox="1"/>
          <p:nvPr/>
        </p:nvSpPr>
        <p:spPr>
          <a:xfrm>
            <a:off x="3360036" y="2455587"/>
            <a:ext cx="13436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Cash Received for Goods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7C1C546-FEFB-BDF1-70C4-8213E3D882B9}"/>
              </a:ext>
            </a:extLst>
          </p:cNvPr>
          <p:cNvCxnSpPr>
            <a:cxnSpLocks/>
          </p:cNvCxnSpPr>
          <p:nvPr/>
        </p:nvCxnSpPr>
        <p:spPr>
          <a:xfrm>
            <a:off x="336295" y="2873375"/>
            <a:ext cx="4026155" cy="0"/>
          </a:xfrm>
          <a:prstGeom prst="straightConnector1">
            <a:avLst/>
          </a:prstGeom>
          <a:ln>
            <a:prstDash val="sysDash"/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9D33A214-51FF-0B06-C624-67654773BA71}"/>
              </a:ext>
            </a:extLst>
          </p:cNvPr>
          <p:cNvSpPr txBox="1"/>
          <p:nvPr/>
        </p:nvSpPr>
        <p:spPr>
          <a:xfrm>
            <a:off x="731931" y="2864938"/>
            <a:ext cx="33457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Operating  Cycle </a:t>
            </a:r>
            <a:r>
              <a:rPr lang="en-US" sz="900" dirty="0"/>
              <a:t>= period from Inventory purchase to cash received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A681853-A214-8558-AA4F-1DE67AFEC9FB}"/>
              </a:ext>
            </a:extLst>
          </p:cNvPr>
          <p:cNvCxnSpPr>
            <a:cxnSpLocks/>
          </p:cNvCxnSpPr>
          <p:nvPr/>
        </p:nvCxnSpPr>
        <p:spPr>
          <a:xfrm flipV="1">
            <a:off x="4362450" y="741044"/>
            <a:ext cx="0" cy="825461"/>
          </a:xfrm>
          <a:prstGeom prst="straightConnector1">
            <a:avLst/>
          </a:prstGeom>
          <a:ln>
            <a:prstDash val="sysDot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069EAD2-3560-0CF3-7DB8-154F39F37880}"/>
              </a:ext>
            </a:extLst>
          </p:cNvPr>
          <p:cNvCxnSpPr>
            <a:cxnSpLocks/>
          </p:cNvCxnSpPr>
          <p:nvPr/>
        </p:nvCxnSpPr>
        <p:spPr>
          <a:xfrm flipV="1">
            <a:off x="336295" y="1610516"/>
            <a:ext cx="0" cy="825461"/>
          </a:xfrm>
          <a:prstGeom prst="straightConnector1">
            <a:avLst/>
          </a:prstGeom>
          <a:ln>
            <a:prstDash val="sysDot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5760E690-6AFB-8036-6035-E54F457BC279}"/>
              </a:ext>
            </a:extLst>
          </p:cNvPr>
          <p:cNvSpPr txBox="1"/>
          <p:nvPr/>
        </p:nvSpPr>
        <p:spPr>
          <a:xfrm>
            <a:off x="722384" y="3113730"/>
            <a:ext cx="3340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CASH  Cycle </a:t>
            </a:r>
            <a:r>
              <a:rPr lang="en-US" sz="900" dirty="0"/>
              <a:t>= Period from when cash PAID to when cash RECEIVED </a:t>
            </a:r>
          </a:p>
          <a:p>
            <a:r>
              <a:rPr lang="en-US" sz="900" dirty="0"/>
              <a:t>             = Operating Cycle – A/P Period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8737914-BCCF-4467-ABFE-CA3115D746BB}"/>
              </a:ext>
            </a:extLst>
          </p:cNvPr>
          <p:cNvCxnSpPr/>
          <p:nvPr/>
        </p:nvCxnSpPr>
        <p:spPr>
          <a:xfrm flipV="1">
            <a:off x="1719678" y="2101823"/>
            <a:ext cx="2642772" cy="23947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 descr="Checkbox Checked with solid fill">
            <a:extLst>
              <a:ext uri="{FF2B5EF4-FFF2-40B4-BE49-F238E27FC236}">
                <a16:creationId xmlns:a16="http://schemas.microsoft.com/office/drawing/2014/main" id="{9F793A12-7047-647F-B9A1-9848F98FF5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0043" y="777525"/>
            <a:ext cx="581751" cy="581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017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15985-8DA7-5CA8-8FB6-CF8F07326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Operating Cycle, Part 2: A/R Period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02A782-EB57-C655-13DC-D9627F8C31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304698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 buy the stuff, I make goods, I sell goods… </a:t>
            </a:r>
            <a:r>
              <a:rPr lang="en-US" b="1" i="1" dirty="0"/>
              <a:t>HOW MANY DAYS DOES IT TAKE ME TO GET PAID??</a:t>
            </a:r>
          </a:p>
          <a:p>
            <a:pPr marL="0" indent="0">
              <a:buNone/>
            </a:pPr>
            <a:endParaRPr lang="en-US" b="1" i="1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228600" indent="-228600">
              <a:buAutoNum type="arabicParenR"/>
            </a:pPr>
            <a:r>
              <a:rPr lang="en-US" b="1" dirty="0"/>
              <a:t>Receivables Turnover = Credit Sales/AR</a:t>
            </a:r>
          </a:p>
          <a:p>
            <a:pPr marL="0" indent="0">
              <a:buNone/>
            </a:pPr>
            <a:r>
              <a:rPr lang="en-US" dirty="0"/>
              <a:t>For every dollar in A/R, how much SALES am I making on CREDIT…</a:t>
            </a:r>
          </a:p>
          <a:p>
            <a:pPr marL="0" indent="0">
              <a:buNone/>
            </a:pPr>
            <a:r>
              <a:rPr lang="en-US" i="1" dirty="0"/>
              <a:t>As this number gets bigger, it suggests that relative to sales, I have little A/R</a:t>
            </a:r>
          </a:p>
          <a:p>
            <a:pPr marL="0" indent="0">
              <a:buNone/>
            </a:pPr>
            <a:endParaRPr lang="en-US" b="1" dirty="0"/>
          </a:p>
          <a:p>
            <a:pPr marL="228600" indent="-228600">
              <a:buAutoNum type="arabicParenR"/>
            </a:pPr>
            <a:endParaRPr lang="en-US" b="1" dirty="0"/>
          </a:p>
          <a:p>
            <a:pPr marL="228600" indent="-228600">
              <a:buFont typeface="+mj-lt"/>
              <a:buAutoNum type="arabicParenR" startAt="2"/>
            </a:pPr>
            <a:r>
              <a:rPr lang="en-US" b="1" dirty="0"/>
              <a:t>Receivables PERIOD = 365/Receivables Turnover</a:t>
            </a:r>
          </a:p>
          <a:p>
            <a:pPr marL="228600" indent="-228600">
              <a:buAutoNum type="arabicParenR" startAt="2"/>
            </a:pPr>
            <a:endParaRPr lang="en-US" b="1" dirty="0"/>
          </a:p>
          <a:p>
            <a:pPr marL="0" indent="0">
              <a:buNone/>
            </a:pPr>
            <a:r>
              <a:rPr lang="en-US" i="1" dirty="0"/>
              <a:t>How many days to fully collect our receivables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i="1" dirty="0"/>
              <a:t>Let’s Calculate this on our Operating Cycle Blank Tab</a:t>
            </a:r>
          </a:p>
          <a:p>
            <a:pPr marL="228600" indent="-228600">
              <a:buAutoNum type="arabicParenR"/>
            </a:pP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D508E4-9A8F-6FF5-26E3-BCBDDE905B0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8</a:t>
            </a:fld>
            <a:endParaRPr spc="-5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A99BD7-F3B4-0AC2-6C2B-4C9C261795FE}"/>
              </a:ext>
            </a:extLst>
          </p:cNvPr>
          <p:cNvSpPr txBox="1"/>
          <p:nvPr/>
        </p:nvSpPr>
        <p:spPr>
          <a:xfrm>
            <a:off x="1466850" y="980078"/>
            <a:ext cx="1334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A/R PERIOD</a:t>
            </a:r>
          </a:p>
        </p:txBody>
      </p:sp>
    </p:spTree>
    <p:extLst>
      <p:ext uri="{BB962C8B-B14F-4D97-AF65-F5344CB8AC3E}">
        <p14:creationId xmlns:p14="http://schemas.microsoft.com/office/powerpoint/2010/main" val="398845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3CCE8-0534-9F46-8C0A-C7634183F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83AF758-CEC6-05C5-225F-205BC46C9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238" y="206375"/>
            <a:ext cx="4455665" cy="430887"/>
          </a:xfrm>
        </p:spPr>
        <p:txBody>
          <a:bodyPr/>
          <a:lstStyle/>
          <a:p>
            <a:r>
              <a:rPr lang="en-US" dirty="0"/>
              <a:t>Keeping Track: Inventory Period, CHECK</a:t>
            </a:r>
            <a:br>
              <a:rPr lang="en-US" dirty="0"/>
            </a:br>
            <a:r>
              <a:rPr lang="en-US" dirty="0"/>
              <a:t>A/R Period, CHECK… we have our </a:t>
            </a:r>
            <a:r>
              <a:rPr lang="en-US" sz="1200" dirty="0">
                <a:solidFill>
                  <a:srgbClr val="00B050"/>
                </a:solidFill>
              </a:rPr>
              <a:t>OPERATING CYCLE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AA050B-AE5D-A569-44E3-2860C9DA00E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9</a:t>
            </a:fld>
            <a:endParaRPr spc="-5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21C0CDE-7D48-DDFA-819B-E395FE43E1EB}"/>
              </a:ext>
            </a:extLst>
          </p:cNvPr>
          <p:cNvCxnSpPr/>
          <p:nvPr/>
        </p:nvCxnSpPr>
        <p:spPr>
          <a:xfrm>
            <a:off x="126238" y="1577975"/>
            <a:ext cx="448386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EF2C752-FD99-24F6-7B07-36DDCB26C42F}"/>
              </a:ext>
            </a:extLst>
          </p:cNvPr>
          <p:cNvCxnSpPr>
            <a:cxnSpLocks/>
          </p:cNvCxnSpPr>
          <p:nvPr/>
        </p:nvCxnSpPr>
        <p:spPr>
          <a:xfrm>
            <a:off x="336295" y="968375"/>
            <a:ext cx="0" cy="609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1992816-BC1E-5AE6-CE2F-3BF15B121144}"/>
              </a:ext>
            </a:extLst>
          </p:cNvPr>
          <p:cNvCxnSpPr>
            <a:cxnSpLocks/>
          </p:cNvCxnSpPr>
          <p:nvPr/>
        </p:nvCxnSpPr>
        <p:spPr>
          <a:xfrm flipV="1">
            <a:off x="2152650" y="968375"/>
            <a:ext cx="0" cy="609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454CF77-0ADF-5D4A-8029-3E51520820D6}"/>
              </a:ext>
            </a:extLst>
          </p:cNvPr>
          <p:cNvSpPr txBox="1"/>
          <p:nvPr/>
        </p:nvSpPr>
        <p:spPr>
          <a:xfrm>
            <a:off x="28189" y="660849"/>
            <a:ext cx="1691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Inventory (stuff) purchased and </a:t>
            </a:r>
          </a:p>
          <a:p>
            <a:r>
              <a:rPr lang="en-US" sz="900" dirty="0"/>
              <a:t>produced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7A7CE0-ECE9-E617-1B0B-75AB8FE5A47E}"/>
              </a:ext>
            </a:extLst>
          </p:cNvPr>
          <p:cNvSpPr txBox="1"/>
          <p:nvPr/>
        </p:nvSpPr>
        <p:spPr>
          <a:xfrm>
            <a:off x="1847850" y="741044"/>
            <a:ext cx="12618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Inventory (Goods) Sold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C5F312-184C-13AB-5ACE-4C5DDA4E2A6B}"/>
              </a:ext>
            </a:extLst>
          </p:cNvPr>
          <p:cNvSpPr txBox="1"/>
          <p:nvPr/>
        </p:nvSpPr>
        <p:spPr>
          <a:xfrm>
            <a:off x="619767" y="1174307"/>
            <a:ext cx="97654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i="1" dirty="0"/>
              <a:t>Inventory period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78676B-963D-DE11-6847-C6B6D0A36DAC}"/>
              </a:ext>
            </a:extLst>
          </p:cNvPr>
          <p:cNvSpPr txBox="1"/>
          <p:nvPr/>
        </p:nvSpPr>
        <p:spPr>
          <a:xfrm>
            <a:off x="2778041" y="1170841"/>
            <a:ext cx="73770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/>
              <a:t>A/R  period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C8466F1-E464-0927-3369-8DAB86A4A0F7}"/>
              </a:ext>
            </a:extLst>
          </p:cNvPr>
          <p:cNvCxnSpPr>
            <a:cxnSpLocks/>
          </p:cNvCxnSpPr>
          <p:nvPr/>
        </p:nvCxnSpPr>
        <p:spPr>
          <a:xfrm>
            <a:off x="1695450" y="1577975"/>
            <a:ext cx="0" cy="838200"/>
          </a:xfrm>
          <a:prstGeom prst="straightConnector1">
            <a:avLst/>
          </a:prstGeom>
          <a:ln w="190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4ED54B5-BDC7-40B4-2D23-AB7864EA168A}"/>
              </a:ext>
            </a:extLst>
          </p:cNvPr>
          <p:cNvSpPr txBox="1"/>
          <p:nvPr/>
        </p:nvSpPr>
        <p:spPr>
          <a:xfrm>
            <a:off x="637337" y="1942184"/>
            <a:ext cx="70564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/>
              <a:t>A/P Period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9BC51AD-D84A-C4DE-C4C9-8E95A49AAC8B}"/>
              </a:ext>
            </a:extLst>
          </p:cNvPr>
          <p:cNvSpPr txBox="1"/>
          <p:nvPr/>
        </p:nvSpPr>
        <p:spPr>
          <a:xfrm>
            <a:off x="2568734" y="1953243"/>
            <a:ext cx="67839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Cash Cycle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2FD4292-F6FF-73F0-53CE-98A16396F589}"/>
              </a:ext>
            </a:extLst>
          </p:cNvPr>
          <p:cNvCxnSpPr>
            <a:cxnSpLocks/>
          </p:cNvCxnSpPr>
          <p:nvPr/>
        </p:nvCxnSpPr>
        <p:spPr>
          <a:xfrm flipV="1">
            <a:off x="4362450" y="1590714"/>
            <a:ext cx="0" cy="825461"/>
          </a:xfrm>
          <a:prstGeom prst="straightConnector1">
            <a:avLst/>
          </a:prstGeom>
          <a:ln w="190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37F448A-32BA-1DED-367F-CF97A572B8AC}"/>
              </a:ext>
            </a:extLst>
          </p:cNvPr>
          <p:cNvSpPr txBox="1"/>
          <p:nvPr/>
        </p:nvSpPr>
        <p:spPr>
          <a:xfrm>
            <a:off x="1141448" y="2461269"/>
            <a:ext cx="129875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Cash PAID for Inventory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E80930B-66D3-0F89-2753-21C82C2E8320}"/>
              </a:ext>
            </a:extLst>
          </p:cNvPr>
          <p:cNvSpPr txBox="1"/>
          <p:nvPr/>
        </p:nvSpPr>
        <p:spPr>
          <a:xfrm>
            <a:off x="3360036" y="2455587"/>
            <a:ext cx="13436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Cash Received for Goods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558B995-212C-5DA2-F32D-D11F44044367}"/>
              </a:ext>
            </a:extLst>
          </p:cNvPr>
          <p:cNvCxnSpPr>
            <a:cxnSpLocks/>
          </p:cNvCxnSpPr>
          <p:nvPr/>
        </p:nvCxnSpPr>
        <p:spPr>
          <a:xfrm>
            <a:off x="336295" y="2873375"/>
            <a:ext cx="4026155" cy="0"/>
          </a:xfrm>
          <a:prstGeom prst="straightConnector1">
            <a:avLst/>
          </a:prstGeom>
          <a:ln>
            <a:prstDash val="sysDash"/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CAB5C1D5-A817-A7A5-4B51-FC0F5717D298}"/>
              </a:ext>
            </a:extLst>
          </p:cNvPr>
          <p:cNvSpPr txBox="1"/>
          <p:nvPr/>
        </p:nvSpPr>
        <p:spPr>
          <a:xfrm>
            <a:off x="731931" y="2864938"/>
            <a:ext cx="33457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Operating  Cycle </a:t>
            </a:r>
            <a:r>
              <a:rPr lang="en-US" sz="900" dirty="0"/>
              <a:t>= period from Inventory purchase to cash received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AA0DF8D-429F-47BA-F2FD-8BF447A378B4}"/>
              </a:ext>
            </a:extLst>
          </p:cNvPr>
          <p:cNvCxnSpPr>
            <a:cxnSpLocks/>
          </p:cNvCxnSpPr>
          <p:nvPr/>
        </p:nvCxnSpPr>
        <p:spPr>
          <a:xfrm flipV="1">
            <a:off x="4362450" y="741044"/>
            <a:ext cx="0" cy="825461"/>
          </a:xfrm>
          <a:prstGeom prst="straightConnector1">
            <a:avLst/>
          </a:prstGeom>
          <a:ln>
            <a:prstDash val="sysDot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C6F7944-0A86-9614-4F50-A1161B127908}"/>
              </a:ext>
            </a:extLst>
          </p:cNvPr>
          <p:cNvCxnSpPr>
            <a:cxnSpLocks/>
          </p:cNvCxnSpPr>
          <p:nvPr/>
        </p:nvCxnSpPr>
        <p:spPr>
          <a:xfrm flipV="1">
            <a:off x="336295" y="1610516"/>
            <a:ext cx="0" cy="825461"/>
          </a:xfrm>
          <a:prstGeom prst="straightConnector1">
            <a:avLst/>
          </a:prstGeom>
          <a:ln>
            <a:prstDash val="sysDot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FC6922CC-7372-C389-623E-69BF73A8D807}"/>
              </a:ext>
            </a:extLst>
          </p:cNvPr>
          <p:cNvSpPr txBox="1"/>
          <p:nvPr/>
        </p:nvSpPr>
        <p:spPr>
          <a:xfrm>
            <a:off x="722384" y="3113730"/>
            <a:ext cx="3340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CASH  Cycle </a:t>
            </a:r>
            <a:r>
              <a:rPr lang="en-US" sz="900" dirty="0"/>
              <a:t>= Period from when cash PAID to when cash RECEIVED </a:t>
            </a:r>
          </a:p>
          <a:p>
            <a:r>
              <a:rPr lang="en-US" sz="900" dirty="0"/>
              <a:t>             = Operating Cycle – A/P Period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73A2909-FAF0-6D80-D8F3-A4746F01D2F1}"/>
              </a:ext>
            </a:extLst>
          </p:cNvPr>
          <p:cNvCxnSpPr/>
          <p:nvPr/>
        </p:nvCxnSpPr>
        <p:spPr>
          <a:xfrm flipV="1">
            <a:off x="1719678" y="2101823"/>
            <a:ext cx="2642772" cy="23947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 descr="Checkbox Checked with solid fill">
            <a:extLst>
              <a:ext uri="{FF2B5EF4-FFF2-40B4-BE49-F238E27FC236}">
                <a16:creationId xmlns:a16="http://schemas.microsoft.com/office/drawing/2014/main" id="{8890F9B0-5772-33C7-AB18-9723D7D74A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0043" y="777525"/>
            <a:ext cx="581751" cy="581751"/>
          </a:xfrm>
          <a:prstGeom prst="rect">
            <a:avLst/>
          </a:prstGeom>
        </p:spPr>
      </p:pic>
      <p:pic>
        <p:nvPicPr>
          <p:cNvPr id="2" name="Graphic 1" descr="Checkbox Checked with solid fill">
            <a:extLst>
              <a:ext uri="{FF2B5EF4-FFF2-40B4-BE49-F238E27FC236}">
                <a16:creationId xmlns:a16="http://schemas.microsoft.com/office/drawing/2014/main" id="{782FF048-38B0-3F3B-BDC2-066D0D7B29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43507" y="780904"/>
            <a:ext cx="581751" cy="581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833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30F19-8DD4-373A-A796-EA3326E69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430887"/>
          </a:xfrm>
        </p:spPr>
        <p:txBody>
          <a:bodyPr/>
          <a:lstStyle/>
          <a:p>
            <a:r>
              <a:rPr lang="en-US" dirty="0"/>
              <a:t>To Get to our CASH CYCLE, we need to calculate our A/P Period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CA0881-5229-48E4-E242-CCE193A665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332" y="663575"/>
            <a:ext cx="4357623" cy="220060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A/P period tells us how well we are doing in negotiating OUR payment terms with our suppliers.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228600" indent="-228600">
              <a:buAutoNum type="arabicParenR"/>
            </a:pPr>
            <a:r>
              <a:rPr lang="en-US" b="1" dirty="0"/>
              <a:t>We need Payables Turnover = COGS/AP</a:t>
            </a:r>
          </a:p>
          <a:p>
            <a:pPr marL="0" indent="0">
              <a:buNone/>
            </a:pPr>
            <a:r>
              <a:rPr lang="en-US" dirty="0"/>
              <a:t>This is indicating for every variable cost, how much am I delaying paying… </a:t>
            </a:r>
          </a:p>
          <a:p>
            <a:pPr marL="0" indent="0">
              <a:buNone/>
            </a:pPr>
            <a:endParaRPr lang="en-US" dirty="0"/>
          </a:p>
          <a:p>
            <a:pPr marL="228600" indent="-228600">
              <a:buFont typeface="+mj-lt"/>
              <a:buAutoNum type="arabicParenR" startAt="2"/>
            </a:pPr>
            <a:r>
              <a:rPr lang="en-US" b="1" dirty="0"/>
              <a:t>A/P Period = 365/Payables Turnover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i="1" dirty="0"/>
              <a:t>Let’s check it out on the Cash Cycle Tab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CE461D-6D8E-577E-B9A4-6D65A2EEA30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10</a:t>
            </a:fld>
            <a:endParaRPr spc="-5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C92406-2354-E865-2F6E-18729C777FB7}"/>
              </a:ext>
            </a:extLst>
          </p:cNvPr>
          <p:cNvSpPr txBox="1"/>
          <p:nvPr/>
        </p:nvSpPr>
        <p:spPr>
          <a:xfrm>
            <a:off x="1466850" y="980078"/>
            <a:ext cx="1327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A/P PERIOD</a:t>
            </a:r>
          </a:p>
        </p:txBody>
      </p:sp>
    </p:spTree>
    <p:extLst>
      <p:ext uri="{BB962C8B-B14F-4D97-AF65-F5344CB8AC3E}">
        <p14:creationId xmlns:p14="http://schemas.microsoft.com/office/powerpoint/2010/main" val="104924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4665B-25BA-2666-9B50-26FE816C4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Finally… The CASH CYCLE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3BEEC2-2B86-014B-DF2D-4857E568ED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169277"/>
          </a:xfrm>
        </p:spPr>
        <p:txBody>
          <a:bodyPr/>
          <a:lstStyle/>
          <a:p>
            <a:r>
              <a:rPr lang="en-US" dirty="0"/>
              <a:t>Operating Cycle – A/P Period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D0E59E-B8B2-4C41-6ED2-34FCEA0A120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11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37036152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FC263-770E-096F-2531-BFAF6AFA5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9A7359A-95BD-50D3-F2A3-4A5796BA9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238" y="206375"/>
            <a:ext cx="4455665" cy="430887"/>
          </a:xfrm>
        </p:spPr>
        <p:txBody>
          <a:bodyPr/>
          <a:lstStyle/>
          <a:p>
            <a:r>
              <a:rPr lang="en-US" dirty="0"/>
              <a:t>Keeping Track: Inventory Period, CHECK</a:t>
            </a:r>
            <a:br>
              <a:rPr lang="en-US" dirty="0"/>
            </a:br>
            <a:r>
              <a:rPr lang="en-US" dirty="0"/>
              <a:t>A/R Period, CHECK… we have our </a:t>
            </a:r>
            <a:r>
              <a:rPr lang="en-US" sz="1200" dirty="0">
                <a:solidFill>
                  <a:srgbClr val="00B050"/>
                </a:solidFill>
              </a:rPr>
              <a:t>OPERATING CYCLE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CC9C24-51C3-2D0B-53EE-6717E1E89E0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12</a:t>
            </a:fld>
            <a:endParaRPr spc="-5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B064D2D-B219-5882-3378-93F9FAD6106F}"/>
              </a:ext>
            </a:extLst>
          </p:cNvPr>
          <p:cNvCxnSpPr/>
          <p:nvPr/>
        </p:nvCxnSpPr>
        <p:spPr>
          <a:xfrm>
            <a:off x="126238" y="1577975"/>
            <a:ext cx="448386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648EF2A-F035-59C2-E285-D1AA31D2F98B}"/>
              </a:ext>
            </a:extLst>
          </p:cNvPr>
          <p:cNvCxnSpPr>
            <a:cxnSpLocks/>
          </p:cNvCxnSpPr>
          <p:nvPr/>
        </p:nvCxnSpPr>
        <p:spPr>
          <a:xfrm>
            <a:off x="336295" y="968375"/>
            <a:ext cx="0" cy="609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CB7A316-BED0-4EEB-9525-0F243A73DC6D}"/>
              </a:ext>
            </a:extLst>
          </p:cNvPr>
          <p:cNvCxnSpPr>
            <a:cxnSpLocks/>
          </p:cNvCxnSpPr>
          <p:nvPr/>
        </p:nvCxnSpPr>
        <p:spPr>
          <a:xfrm flipV="1">
            <a:off x="2152650" y="968375"/>
            <a:ext cx="0" cy="609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FF760C9-44CE-BC77-4B40-A0CB8A95913E}"/>
              </a:ext>
            </a:extLst>
          </p:cNvPr>
          <p:cNvSpPr txBox="1"/>
          <p:nvPr/>
        </p:nvSpPr>
        <p:spPr>
          <a:xfrm>
            <a:off x="28189" y="660849"/>
            <a:ext cx="1691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Inventory (stuff) purchased and </a:t>
            </a:r>
          </a:p>
          <a:p>
            <a:r>
              <a:rPr lang="en-US" sz="900" dirty="0"/>
              <a:t>produced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C75BA8-2305-8652-19C8-29F776BA00A7}"/>
              </a:ext>
            </a:extLst>
          </p:cNvPr>
          <p:cNvSpPr txBox="1"/>
          <p:nvPr/>
        </p:nvSpPr>
        <p:spPr>
          <a:xfrm>
            <a:off x="1847850" y="741044"/>
            <a:ext cx="12618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Inventory (Goods) Sold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628815-DA5B-B287-861A-F8C38854017B}"/>
              </a:ext>
            </a:extLst>
          </p:cNvPr>
          <p:cNvSpPr txBox="1"/>
          <p:nvPr/>
        </p:nvSpPr>
        <p:spPr>
          <a:xfrm>
            <a:off x="619767" y="1174307"/>
            <a:ext cx="97654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i="1" dirty="0"/>
              <a:t>Inventory period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9410D70-2466-E733-E8F0-0C8FF85FC89F}"/>
              </a:ext>
            </a:extLst>
          </p:cNvPr>
          <p:cNvSpPr txBox="1"/>
          <p:nvPr/>
        </p:nvSpPr>
        <p:spPr>
          <a:xfrm>
            <a:off x="2778041" y="1170841"/>
            <a:ext cx="73770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/>
              <a:t>A/R  period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BD102EA-AEFF-A208-E9F3-6488E854C495}"/>
              </a:ext>
            </a:extLst>
          </p:cNvPr>
          <p:cNvCxnSpPr>
            <a:cxnSpLocks/>
          </p:cNvCxnSpPr>
          <p:nvPr/>
        </p:nvCxnSpPr>
        <p:spPr>
          <a:xfrm>
            <a:off x="1695450" y="1577975"/>
            <a:ext cx="0" cy="838200"/>
          </a:xfrm>
          <a:prstGeom prst="straightConnector1">
            <a:avLst/>
          </a:prstGeom>
          <a:ln w="190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31094C3-4B30-4DEF-BDF6-03C384E62323}"/>
              </a:ext>
            </a:extLst>
          </p:cNvPr>
          <p:cNvSpPr txBox="1"/>
          <p:nvPr/>
        </p:nvSpPr>
        <p:spPr>
          <a:xfrm>
            <a:off x="637337" y="1942184"/>
            <a:ext cx="70564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/>
              <a:t>A/P Period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E50B164-75F4-720A-4726-BB184AFA90D8}"/>
              </a:ext>
            </a:extLst>
          </p:cNvPr>
          <p:cNvSpPr txBox="1"/>
          <p:nvPr/>
        </p:nvSpPr>
        <p:spPr>
          <a:xfrm>
            <a:off x="2568734" y="1953243"/>
            <a:ext cx="67839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Cash Cycle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97D6453-4BD9-0B87-F9D2-A9D0D7BCD2C1}"/>
              </a:ext>
            </a:extLst>
          </p:cNvPr>
          <p:cNvCxnSpPr>
            <a:cxnSpLocks/>
          </p:cNvCxnSpPr>
          <p:nvPr/>
        </p:nvCxnSpPr>
        <p:spPr>
          <a:xfrm flipV="1">
            <a:off x="4362450" y="1590714"/>
            <a:ext cx="0" cy="825461"/>
          </a:xfrm>
          <a:prstGeom prst="straightConnector1">
            <a:avLst/>
          </a:prstGeom>
          <a:ln w="190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49BE26B1-3196-03DC-2958-6DDF181F4371}"/>
              </a:ext>
            </a:extLst>
          </p:cNvPr>
          <p:cNvSpPr txBox="1"/>
          <p:nvPr/>
        </p:nvSpPr>
        <p:spPr>
          <a:xfrm>
            <a:off x="1141448" y="2461269"/>
            <a:ext cx="129875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Cash PAID for Inventory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77039E7-F91F-4E1D-01C0-8A6ED495522E}"/>
              </a:ext>
            </a:extLst>
          </p:cNvPr>
          <p:cNvSpPr txBox="1"/>
          <p:nvPr/>
        </p:nvSpPr>
        <p:spPr>
          <a:xfrm>
            <a:off x="3360036" y="2455587"/>
            <a:ext cx="13436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Cash Received for Goods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F05F220-4427-2529-7E07-F8D2B9D1E160}"/>
              </a:ext>
            </a:extLst>
          </p:cNvPr>
          <p:cNvCxnSpPr>
            <a:cxnSpLocks/>
          </p:cNvCxnSpPr>
          <p:nvPr/>
        </p:nvCxnSpPr>
        <p:spPr>
          <a:xfrm>
            <a:off x="336295" y="2873375"/>
            <a:ext cx="4026155" cy="0"/>
          </a:xfrm>
          <a:prstGeom prst="straightConnector1">
            <a:avLst/>
          </a:prstGeom>
          <a:ln>
            <a:prstDash val="sysDash"/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9CF884B-6ACF-FFC3-E1F3-DDD8D1C38A9E}"/>
              </a:ext>
            </a:extLst>
          </p:cNvPr>
          <p:cNvSpPr txBox="1"/>
          <p:nvPr/>
        </p:nvSpPr>
        <p:spPr>
          <a:xfrm>
            <a:off x="731931" y="2864938"/>
            <a:ext cx="33457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Operating  Cycle </a:t>
            </a:r>
            <a:r>
              <a:rPr lang="en-US" sz="900" dirty="0"/>
              <a:t>= period from Inventory purchase to cash received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B1EE0C2-B1F8-3F3D-C439-41EE3DAE5B27}"/>
              </a:ext>
            </a:extLst>
          </p:cNvPr>
          <p:cNvCxnSpPr>
            <a:cxnSpLocks/>
          </p:cNvCxnSpPr>
          <p:nvPr/>
        </p:nvCxnSpPr>
        <p:spPr>
          <a:xfrm flipV="1">
            <a:off x="4362450" y="741044"/>
            <a:ext cx="0" cy="825461"/>
          </a:xfrm>
          <a:prstGeom prst="straightConnector1">
            <a:avLst/>
          </a:prstGeom>
          <a:ln>
            <a:prstDash val="sysDot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7D000D2-F41F-F49B-BE59-682040B943D5}"/>
              </a:ext>
            </a:extLst>
          </p:cNvPr>
          <p:cNvCxnSpPr>
            <a:cxnSpLocks/>
          </p:cNvCxnSpPr>
          <p:nvPr/>
        </p:nvCxnSpPr>
        <p:spPr>
          <a:xfrm flipV="1">
            <a:off x="336295" y="1610516"/>
            <a:ext cx="0" cy="825461"/>
          </a:xfrm>
          <a:prstGeom prst="straightConnector1">
            <a:avLst/>
          </a:prstGeom>
          <a:ln>
            <a:prstDash val="sysDot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7B55A470-9192-C886-D032-76790FBB4E7C}"/>
              </a:ext>
            </a:extLst>
          </p:cNvPr>
          <p:cNvSpPr txBox="1"/>
          <p:nvPr/>
        </p:nvSpPr>
        <p:spPr>
          <a:xfrm>
            <a:off x="722384" y="3113730"/>
            <a:ext cx="3340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CASH  Cycle </a:t>
            </a:r>
            <a:r>
              <a:rPr lang="en-US" sz="900" dirty="0"/>
              <a:t>= Period from when cash PAID to when cash RECEIVED </a:t>
            </a:r>
          </a:p>
          <a:p>
            <a:r>
              <a:rPr lang="en-US" sz="900" dirty="0"/>
              <a:t>             = Operating Cycle – A/P Period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9D91AB1-650A-57B9-4D7A-8C0292DAD5C6}"/>
              </a:ext>
            </a:extLst>
          </p:cNvPr>
          <p:cNvCxnSpPr/>
          <p:nvPr/>
        </p:nvCxnSpPr>
        <p:spPr>
          <a:xfrm flipV="1">
            <a:off x="1719678" y="2101823"/>
            <a:ext cx="2642772" cy="23947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 descr="Checkbox Checked with solid fill">
            <a:extLst>
              <a:ext uri="{FF2B5EF4-FFF2-40B4-BE49-F238E27FC236}">
                <a16:creationId xmlns:a16="http://schemas.microsoft.com/office/drawing/2014/main" id="{92E80011-5F74-9312-A969-CEF06B9A3A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0043" y="777525"/>
            <a:ext cx="581751" cy="581751"/>
          </a:xfrm>
          <a:prstGeom prst="rect">
            <a:avLst/>
          </a:prstGeom>
        </p:spPr>
      </p:pic>
      <p:pic>
        <p:nvPicPr>
          <p:cNvPr id="2" name="Graphic 1" descr="Checkbox Checked with solid fill">
            <a:extLst>
              <a:ext uri="{FF2B5EF4-FFF2-40B4-BE49-F238E27FC236}">
                <a16:creationId xmlns:a16="http://schemas.microsoft.com/office/drawing/2014/main" id="{C5D4214D-B25C-1EE3-323B-1EA867C0F7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43507" y="780904"/>
            <a:ext cx="581751" cy="581751"/>
          </a:xfrm>
          <a:prstGeom prst="rect">
            <a:avLst/>
          </a:prstGeom>
        </p:spPr>
      </p:pic>
      <p:pic>
        <p:nvPicPr>
          <p:cNvPr id="4" name="Graphic 3" descr="Checkbox Checked with solid fill">
            <a:extLst>
              <a:ext uri="{FF2B5EF4-FFF2-40B4-BE49-F238E27FC236}">
                <a16:creationId xmlns:a16="http://schemas.microsoft.com/office/drawing/2014/main" id="{F7F566FE-B551-F606-6AC1-935523E6A6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3399" y="1505798"/>
            <a:ext cx="581751" cy="581751"/>
          </a:xfrm>
          <a:prstGeom prst="rect">
            <a:avLst/>
          </a:prstGeom>
        </p:spPr>
      </p:pic>
      <p:pic>
        <p:nvPicPr>
          <p:cNvPr id="8" name="Graphic 7" descr="Checkbox Checked with solid fill">
            <a:extLst>
              <a:ext uri="{FF2B5EF4-FFF2-40B4-BE49-F238E27FC236}">
                <a16:creationId xmlns:a16="http://schemas.microsoft.com/office/drawing/2014/main" id="{7C66A556-01DB-76B0-2E9F-06410C008A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39733" y="1498484"/>
            <a:ext cx="581751" cy="581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25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996B6-5B72-C7B6-E2AD-FF13FED68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430887"/>
          </a:xfrm>
        </p:spPr>
        <p:txBody>
          <a:bodyPr/>
          <a:lstStyle/>
          <a:p>
            <a:r>
              <a:rPr lang="en-US" dirty="0"/>
              <a:t>What can we tell about this company after 2 years?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E83205-94C3-A041-45C2-9C0B2F1F3D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332" y="739775"/>
            <a:ext cx="4357623" cy="50783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Break into groups and come up with at least 5 things you can tell about the Operational/Financial Performance from a CASH perspective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B2C334-22FE-F3E5-F9E5-1F4D928A760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13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6458733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6BC73-2B92-10B7-C43F-F663ABB2B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Intro to Forecasting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0BA367-1797-E989-A71A-1BD2CE919F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186204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When we a starting a company, selling a company, valuing a company, the VALUE is not on how well we have done, but on how credibly we can demonstrate WHAT we will do, and how much that is WORTH.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gets back to:</a:t>
            </a:r>
          </a:p>
          <a:p>
            <a:pPr marL="228600" indent="-228600">
              <a:buAutoNum type="arabicParenR"/>
            </a:pPr>
            <a:r>
              <a:rPr lang="en-US" dirty="0"/>
              <a:t>How well do we know our market</a:t>
            </a:r>
          </a:p>
          <a:p>
            <a:pPr marL="228600" indent="-228600">
              <a:buAutoNum type="arabicParenR"/>
            </a:pPr>
            <a:r>
              <a:rPr lang="en-US" dirty="0"/>
              <a:t>What about our </a:t>
            </a:r>
            <a:r>
              <a:rPr lang="en-US" dirty="0" err="1"/>
              <a:t>comparables</a:t>
            </a:r>
            <a:endParaRPr lang="en-US" dirty="0"/>
          </a:p>
          <a:p>
            <a:pPr marL="228600" indent="-228600">
              <a:buAutoNum type="arabicParenR"/>
            </a:pPr>
            <a:r>
              <a:rPr lang="en-US" dirty="0"/>
              <a:t>How well managed is our company</a:t>
            </a:r>
          </a:p>
          <a:p>
            <a:pPr marL="228600" indent="-228600">
              <a:buAutoNum type="arabicParenR"/>
            </a:pPr>
            <a:r>
              <a:rPr lang="en-US" dirty="0"/>
              <a:t>What is our cost of capital?</a:t>
            </a:r>
          </a:p>
          <a:p>
            <a:pPr marL="228600" indent="-228600">
              <a:buAutoNum type="arabicParenR"/>
            </a:pPr>
            <a:r>
              <a:rPr lang="en-US" dirty="0"/>
              <a:t>How quickly/slowly will we GROW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E2647B-4A30-67D3-95E7-49A846E8F42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14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40514186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97802-C1C3-C88C-D4A2-B4ED6BD19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646331"/>
          </a:xfrm>
        </p:spPr>
        <p:txBody>
          <a:bodyPr/>
          <a:lstStyle/>
          <a:p>
            <a:r>
              <a:rPr lang="en-US" dirty="0"/>
              <a:t>We have been laying out some basic elements of putting together our forecast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44CB8E-BE78-05C1-3EA5-85C538BB8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332" y="968375"/>
            <a:ext cx="4357623" cy="846386"/>
          </a:xfrm>
        </p:spPr>
        <p:txBody>
          <a:bodyPr/>
          <a:lstStyle/>
          <a:p>
            <a:r>
              <a:rPr lang="en-US" dirty="0"/>
              <a:t>COGS will remain a constant % of revenue</a:t>
            </a:r>
          </a:p>
          <a:p>
            <a:r>
              <a:rPr lang="en-US" dirty="0"/>
              <a:t>Marketing will remain a constant % or revenue</a:t>
            </a:r>
          </a:p>
          <a:p>
            <a:r>
              <a:rPr lang="en-US" dirty="0"/>
              <a:t>We do not need to add to OPEX otherwise, until we reach sales of $400M</a:t>
            </a:r>
          </a:p>
          <a:p>
            <a:r>
              <a:rPr lang="en-US" dirty="0"/>
              <a:t>We will not raise additional Debt or Equity for the next 2 years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E97CC2-78AC-CC80-9ACB-26C62F256B1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15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313952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96F04-FF3C-D4EC-5E38-599433A88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646331"/>
          </a:xfrm>
        </p:spPr>
        <p:txBody>
          <a:bodyPr/>
          <a:lstStyle/>
          <a:p>
            <a:r>
              <a:rPr lang="en-US" dirty="0"/>
              <a:t>Let’s build a Net Income Model for 2022 and 2023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EB6902-ED21-C5A1-D7C0-17F311B2F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332" y="739775"/>
            <a:ext cx="4357623" cy="1523494"/>
          </a:xfrm>
        </p:spPr>
        <p:txBody>
          <a:bodyPr/>
          <a:lstStyle/>
          <a:p>
            <a:pPr>
              <a:buClr>
                <a:srgbClr val="A0A2A1"/>
              </a:buClr>
              <a:buFont typeface="Wingdings" pitchFamily="2" charset="2"/>
              <a:buChar char="§"/>
            </a:pPr>
            <a:r>
              <a:rPr lang="en-US" dirty="0"/>
              <a:t>Grow at 25%</a:t>
            </a:r>
          </a:p>
          <a:p>
            <a:pPr>
              <a:buClr>
                <a:srgbClr val="A0A2A1"/>
              </a:buClr>
              <a:buFont typeface="Wingdings" pitchFamily="2" charset="2"/>
              <a:buChar char="§"/>
            </a:pPr>
            <a:r>
              <a:rPr lang="en-US" dirty="0"/>
              <a:t>Let’s discuss the Orange Cells</a:t>
            </a:r>
          </a:p>
          <a:p>
            <a:pPr>
              <a:buClr>
                <a:srgbClr val="A0A2A1"/>
              </a:buClr>
              <a:buFont typeface="Wingdings" pitchFamily="2" charset="2"/>
              <a:buChar char="§"/>
            </a:pPr>
            <a:r>
              <a:rPr lang="en-US" dirty="0"/>
              <a:t>Calculate…</a:t>
            </a:r>
          </a:p>
          <a:p>
            <a:pPr>
              <a:buClr>
                <a:srgbClr val="A0A2A1"/>
              </a:buClr>
              <a:buFont typeface="Wingdings" pitchFamily="2" charset="2"/>
              <a:buChar char="§"/>
            </a:pPr>
            <a:r>
              <a:rPr lang="en-US" dirty="0"/>
              <a:t>Great. We have the Net Income for 2023 IF we grow at 25%</a:t>
            </a:r>
          </a:p>
          <a:p>
            <a:pPr>
              <a:buClr>
                <a:srgbClr val="A0A2A1"/>
              </a:buClr>
              <a:buFont typeface="Wingdings" pitchFamily="2" charset="2"/>
              <a:buChar char="§"/>
            </a:pPr>
            <a:r>
              <a:rPr lang="en-US" dirty="0"/>
              <a:t>Of COURSE we are going to be asked the question –</a:t>
            </a:r>
          </a:p>
          <a:p>
            <a:pPr>
              <a:buClr>
                <a:srgbClr val="A0A2A1"/>
              </a:buClr>
              <a:buFont typeface="Wingdings" pitchFamily="2" charset="2"/>
              <a:buChar char="§"/>
            </a:pPr>
            <a:r>
              <a:rPr lang="en-US" dirty="0"/>
              <a:t>What if you grow slower…. To which we respond… What if we grow faster!</a:t>
            </a:r>
          </a:p>
          <a:p>
            <a:pPr marL="0" indent="0">
              <a:buClr>
                <a:srgbClr val="A0A2A1"/>
              </a:buClr>
              <a:buNone/>
            </a:pPr>
            <a:endParaRPr lang="en-US" dirty="0"/>
          </a:p>
          <a:p>
            <a:pPr marL="0" indent="0">
              <a:buClr>
                <a:srgbClr val="A0A2A1"/>
              </a:buClr>
              <a:buNone/>
            </a:pPr>
            <a:r>
              <a:rPr lang="en-US" dirty="0"/>
              <a:t>Let’s Build a Sensitivity Table for Growth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17C731-3063-237F-FF1E-9D2AB487A39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16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10979594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372D1-5EC4-E6FC-A254-4AAABE161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Top Tips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13D264-806B-F86D-8556-3E5C85B01A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3046988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US" dirty="0"/>
              <a:t>The OUTCOME (Net Income) must be calculated to be a function of the variable we are going to evaluate (growth)… THIS MEANS NO HARD CODING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Let’s type in our growth considerations</a:t>
            </a:r>
          </a:p>
          <a:p>
            <a:pPr marL="228600" indent="-228600">
              <a:buFont typeface="+mj-lt"/>
              <a:buAutoNum type="arabicPeriod"/>
            </a:pPr>
            <a:endParaRPr lang="en-US" dirty="0"/>
          </a:p>
          <a:p>
            <a:pPr marL="228600" indent="-228600">
              <a:buFont typeface="+mj-lt"/>
              <a:buAutoNum type="arabicPeriod"/>
            </a:pPr>
            <a:endParaRPr lang="en-US" dirty="0"/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Under BASE, type =[Net Income 2023]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Select the scenario row and the row beneath it</a:t>
            </a:r>
          </a:p>
          <a:p>
            <a:pPr marL="228600" indent="-228600">
              <a:buFont typeface="+mj-lt"/>
              <a:buAutoNum type="arabicPeriod"/>
            </a:pPr>
            <a:endParaRPr lang="en-US" dirty="0"/>
          </a:p>
          <a:p>
            <a:pPr marL="228600" indent="-228600">
              <a:buFont typeface="+mj-lt"/>
              <a:buAutoNum type="arabicPeriod"/>
            </a:pPr>
            <a:endParaRPr lang="en-US" dirty="0"/>
          </a:p>
          <a:p>
            <a:pPr marL="228600" indent="-228600">
              <a:buFont typeface="+mj-lt"/>
              <a:buAutoNum type="arabicPeriod"/>
            </a:pPr>
            <a:endParaRPr lang="en-US" dirty="0"/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Select Data in Tool Ribbon, What If Analysis, </a:t>
            </a:r>
            <a:r>
              <a:rPr lang="en-US" b="1" dirty="0"/>
              <a:t>DATA TABLE, </a:t>
            </a:r>
            <a:r>
              <a:rPr lang="en-US" dirty="0"/>
              <a:t>for Row Input Cell, Select [.25] (the base growth case next to revenue). We don’t need the column input cell (yet)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Select Enter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Congratulations, you have a summary of the impact of Revenue Growth Scenarios on your Net Income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2F9C61-51C0-6273-BB19-39F88B634DC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17</a:t>
            </a:fld>
            <a:endParaRPr spc="-5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F149833-223E-CBE3-25F0-10A22CC179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3531252"/>
              </p:ext>
            </p:extLst>
          </p:nvPr>
        </p:nvGraphicFramePr>
        <p:xfrm>
          <a:off x="323850" y="1322457"/>
          <a:ext cx="3759245" cy="1924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51849">
                  <a:extLst>
                    <a:ext uri="{9D8B030D-6E8A-4147-A177-3AD203B41FA5}">
                      <a16:colId xmlns:a16="http://schemas.microsoft.com/office/drawing/2014/main" val="1060794897"/>
                    </a:ext>
                  </a:extLst>
                </a:gridCol>
                <a:gridCol w="751849">
                  <a:extLst>
                    <a:ext uri="{9D8B030D-6E8A-4147-A177-3AD203B41FA5}">
                      <a16:colId xmlns:a16="http://schemas.microsoft.com/office/drawing/2014/main" val="76907499"/>
                    </a:ext>
                  </a:extLst>
                </a:gridCol>
                <a:gridCol w="751849">
                  <a:extLst>
                    <a:ext uri="{9D8B030D-6E8A-4147-A177-3AD203B41FA5}">
                      <a16:colId xmlns:a16="http://schemas.microsoft.com/office/drawing/2014/main" val="4140826391"/>
                    </a:ext>
                  </a:extLst>
                </a:gridCol>
                <a:gridCol w="751849">
                  <a:extLst>
                    <a:ext uri="{9D8B030D-6E8A-4147-A177-3AD203B41FA5}">
                      <a16:colId xmlns:a16="http://schemas.microsoft.com/office/drawing/2014/main" val="1231153115"/>
                    </a:ext>
                  </a:extLst>
                </a:gridCol>
                <a:gridCol w="751849">
                  <a:extLst>
                    <a:ext uri="{9D8B030D-6E8A-4147-A177-3AD203B41FA5}">
                      <a16:colId xmlns:a16="http://schemas.microsoft.com/office/drawing/2014/main" val="2240248731"/>
                    </a:ext>
                  </a:extLst>
                </a:gridCol>
              </a:tblGrid>
              <a:tr h="17723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Base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0.4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9919176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98C9635-EA3B-EEA6-9BE5-919BC577DB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1353524"/>
              </p:ext>
            </p:extLst>
          </p:nvPr>
        </p:nvGraphicFramePr>
        <p:xfrm>
          <a:off x="480086" y="1925320"/>
          <a:ext cx="3345775" cy="3397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9155">
                  <a:extLst>
                    <a:ext uri="{9D8B030D-6E8A-4147-A177-3AD203B41FA5}">
                      <a16:colId xmlns:a16="http://schemas.microsoft.com/office/drawing/2014/main" val="2189887192"/>
                    </a:ext>
                  </a:extLst>
                </a:gridCol>
                <a:gridCol w="669155">
                  <a:extLst>
                    <a:ext uri="{9D8B030D-6E8A-4147-A177-3AD203B41FA5}">
                      <a16:colId xmlns:a16="http://schemas.microsoft.com/office/drawing/2014/main" val="2174244127"/>
                    </a:ext>
                  </a:extLst>
                </a:gridCol>
                <a:gridCol w="669155">
                  <a:extLst>
                    <a:ext uri="{9D8B030D-6E8A-4147-A177-3AD203B41FA5}">
                      <a16:colId xmlns:a16="http://schemas.microsoft.com/office/drawing/2014/main" val="3164690993"/>
                    </a:ext>
                  </a:extLst>
                </a:gridCol>
                <a:gridCol w="669155">
                  <a:extLst>
                    <a:ext uri="{9D8B030D-6E8A-4147-A177-3AD203B41FA5}">
                      <a16:colId xmlns:a16="http://schemas.microsoft.com/office/drawing/2014/main" val="27925995"/>
                    </a:ext>
                  </a:extLst>
                </a:gridCol>
                <a:gridCol w="669155">
                  <a:extLst>
                    <a:ext uri="{9D8B030D-6E8A-4147-A177-3AD203B41FA5}">
                      <a16:colId xmlns:a16="http://schemas.microsoft.com/office/drawing/2014/main" val="4049653196"/>
                    </a:ext>
                  </a:extLst>
                </a:gridCol>
              </a:tblGrid>
              <a:tr h="17501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Base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21" marR="7721" marT="772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21" marR="7721" marT="772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21" marR="7721" marT="772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0.3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21" marR="7721" marT="7721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u="none" strike="noStrike" dirty="0">
                        <a:effectLst/>
                      </a:endParaRPr>
                    </a:p>
                  </a:txBody>
                  <a:tcPr marL="7721" marR="7721" marT="7721" marB="0" anchor="b"/>
                </a:tc>
                <a:extLst>
                  <a:ext uri="{0D108BD9-81ED-4DB2-BD59-A6C34878D82A}">
                    <a16:rowId xmlns:a16="http://schemas.microsoft.com/office/drawing/2014/main" val="3366355268"/>
                  </a:ext>
                </a:extLst>
              </a:tr>
              <a:tr h="164715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>
                          <a:effectLst/>
                        </a:rPr>
                        <a:t>370313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21" marR="7721" marT="772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21" marR="7721" marT="772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21" marR="7721" marT="772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21" marR="7721" marT="7721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21" marR="7721" marT="7721" marB="0" anchor="b"/>
                </a:tc>
                <a:extLst>
                  <a:ext uri="{0D108BD9-81ED-4DB2-BD59-A6C34878D82A}">
                    <a16:rowId xmlns:a16="http://schemas.microsoft.com/office/drawing/2014/main" val="30951393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75255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780B2-A7DA-68AB-208F-F51E7A889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Monday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97C157-F887-A0FD-A52A-E5EA04694E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332" y="587375"/>
            <a:ext cx="4357623" cy="1692771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/>
              <a:t>Bizzy</a:t>
            </a:r>
            <a:r>
              <a:rPr lang="en-US" b="1" dirty="0"/>
              <a:t> Coffee</a:t>
            </a:r>
          </a:p>
          <a:p>
            <a:pPr marL="0" indent="0">
              <a:buNone/>
            </a:pPr>
            <a:r>
              <a:rPr lang="en-US" dirty="0"/>
              <a:t>Presenting:</a:t>
            </a:r>
          </a:p>
          <a:p>
            <a:pPr marL="0" indent="0">
              <a:buNone/>
            </a:pPr>
            <a:r>
              <a:rPr lang="en-US" dirty="0"/>
              <a:t>Not Strava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Writing:</a:t>
            </a:r>
          </a:p>
          <a:p>
            <a:pPr marL="0" indent="0">
              <a:buNone/>
            </a:pPr>
            <a:r>
              <a:rPr lang="en-US" dirty="0"/>
              <a:t>Not Strava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Responding:</a:t>
            </a:r>
          </a:p>
          <a:p>
            <a:pPr marL="0" indent="0">
              <a:buNone/>
            </a:pPr>
            <a:r>
              <a:rPr lang="en-US" dirty="0" err="1"/>
              <a:t>Macawaliucon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83CF2D-E8D4-6FD1-0855-1098DD02F84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18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1785076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ded8b1b-070d-4629-82e4-c0b019f46057}" enabled="0" method="" siteId="{3ded8b1b-070d-4629-82e4-c0b019f4605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7719</TotalTime>
  <Words>1125</Words>
  <Application>Microsoft Office PowerPoint</Application>
  <PresentationFormat>Custom</PresentationFormat>
  <Paragraphs>203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Courier New</vt:lpstr>
      <vt:lpstr>Rockwell</vt:lpstr>
      <vt:lpstr>Wingdings</vt:lpstr>
      <vt:lpstr>Office Theme</vt:lpstr>
      <vt:lpstr>Cash VS Operating Cycle</vt:lpstr>
      <vt:lpstr>Agenda</vt:lpstr>
      <vt:lpstr>How does a company manage CASH – at an operational level</vt:lpstr>
      <vt:lpstr>We are going to Evaluate Our Cash Operations</vt:lpstr>
      <vt:lpstr>A Challenge is that Operating Cycles and  Cash Cycles are not (typically) synchronized</vt:lpstr>
      <vt:lpstr>Operating Cycle</vt:lpstr>
      <vt:lpstr>Keeping Track: Inventory Period, CHECK</vt:lpstr>
      <vt:lpstr>Operating Cycle, Part 2: A/R Period</vt:lpstr>
      <vt:lpstr>Keeping Track: Inventory Period, CHECK A/R Period, CHECK… we have our OPERATING CYCLE</vt:lpstr>
      <vt:lpstr>To Get to our CASH CYCLE, we need to calculate our A/P Period</vt:lpstr>
      <vt:lpstr>Finally… The CASH CYCLE</vt:lpstr>
      <vt:lpstr>Keeping Track: Inventory Period, CHECK A/R Period, CHECK… we have our OPERATING CYCLE</vt:lpstr>
      <vt:lpstr>What can we tell about this company after 2 years?</vt:lpstr>
      <vt:lpstr>Intro to Forecasting</vt:lpstr>
      <vt:lpstr>We have been laying out some basic elements of putting together our forecast</vt:lpstr>
      <vt:lpstr>Let’s build a Net Income Model for 2022 and 2023 </vt:lpstr>
      <vt:lpstr>Top Tips</vt:lpstr>
      <vt:lpstr>Monday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Entrepreneurial Finance  Lesson 1</dc:title>
  <dc:creator>Shaun Davies, CU-Boulder</dc:creator>
  <cp:lastModifiedBy>Ellen Burnes</cp:lastModifiedBy>
  <cp:revision>21</cp:revision>
  <dcterms:created xsi:type="dcterms:W3CDTF">2022-01-05T04:34:10Z</dcterms:created>
  <dcterms:modified xsi:type="dcterms:W3CDTF">2025-10-08T17:17:35Z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2017-02-19T00:00:00Z</vt:filetime>
  </property>
  <property fmtid="{D5CDD505-2E9C-101B-9397-08002B2CF9AE}" pid="3" name="Creator">
    <vt:lpwstr>LaTeX with Beamer class version 3.27</vt:lpwstr>
  </property>
  <property fmtid="{D5CDD505-2E9C-101B-9397-08002B2CF9AE}" pid="4" name="LastSaved">
    <vt:filetime>2022-01-05T00:00:00Z</vt:filetime>
  </property>
</Properties>
</file>