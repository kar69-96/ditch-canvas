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407" r:id="rId3"/>
    <p:sldId id="408" r:id="rId4"/>
    <p:sldId id="409" r:id="rId5"/>
    <p:sldId id="410" r:id="rId6"/>
    <p:sldId id="411" r:id="rId7"/>
    <p:sldId id="412" r:id="rId8"/>
    <p:sldId id="415" r:id="rId9"/>
    <p:sldId id="413" r:id="rId10"/>
    <p:sldId id="417" r:id="rId11"/>
    <p:sldId id="414" r:id="rId12"/>
    <p:sldId id="416" r:id="rId13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6993"/>
    <a:srgbClr val="A0A2A1"/>
    <a:srgbClr val="CEB6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94"/>
  </p:normalViewPr>
  <p:slideViewPr>
    <p:cSldViewPr snapToGrid="0">
      <p:cViewPr varScale="1">
        <p:scale>
          <a:sx n="240" d="100"/>
          <a:sy n="240" d="100"/>
        </p:scale>
        <p:origin x="1808" y="18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42BC-AF68-414B-8622-6AC13D9F4F1F}" type="datetimeFigureOut">
              <a:rPr lang="en-US" smtClean="0"/>
              <a:t>9/9/25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FC8FC9-DCDB-4EAE-B3A7-1B2D2F2E67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9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0FA299-5294-AD47-8ACD-E81D24A760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453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36295" y="3344562"/>
            <a:ext cx="864869" cy="89768"/>
          </a:xfrm>
          <a:prstGeom prst="rect">
            <a:avLst/>
          </a:prstGeom>
        </p:spPr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lang="en-US" spc="-10" dirty="0"/>
              <a:t>ESBM 4570 Fall</a:t>
            </a:r>
            <a:endParaRPr spc="-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152" y="0"/>
            <a:ext cx="4608830" cy="3456940"/>
          </a:xfrm>
          <a:custGeom>
            <a:avLst/>
            <a:gdLst/>
            <a:ahLst/>
            <a:cxnLst/>
            <a:rect l="l" t="t" r="r" b="b"/>
            <a:pathLst>
              <a:path w="4608830" h="3456940">
                <a:moveTo>
                  <a:pt x="0" y="3456431"/>
                </a:moveTo>
                <a:lnTo>
                  <a:pt x="4608576" y="3456431"/>
                </a:lnTo>
                <a:lnTo>
                  <a:pt x="4608576" y="0"/>
                </a:lnTo>
                <a:lnTo>
                  <a:pt x="0" y="0"/>
                </a:lnTo>
                <a:lnTo>
                  <a:pt x="0" y="3456431"/>
                </a:lnTo>
                <a:close/>
              </a:path>
            </a:pathLst>
          </a:custGeom>
          <a:solidFill>
            <a:srgbClr val="FEFE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-152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304135" y="0"/>
            <a:ext cx="2304415" cy="129539"/>
          </a:xfrm>
          <a:custGeom>
            <a:avLst/>
            <a:gdLst/>
            <a:ahLst/>
            <a:cxnLst/>
            <a:rect l="l" t="t" r="r" b="b"/>
            <a:pathLst>
              <a:path w="2304415" h="129539">
                <a:moveTo>
                  <a:pt x="0" y="129540"/>
                </a:moveTo>
                <a:lnTo>
                  <a:pt x="2304288" y="129540"/>
                </a:lnTo>
                <a:lnTo>
                  <a:pt x="2304288" y="0"/>
                </a:lnTo>
                <a:lnTo>
                  <a:pt x="0" y="0"/>
                </a:lnTo>
                <a:lnTo>
                  <a:pt x="0" y="129540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236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708906" y="3344562"/>
            <a:ext cx="300989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-35"/>
              <a:t>P</a:t>
            </a:r>
            <a:r>
              <a:rPr spc="-5"/>
              <a:t>age</a:t>
            </a:r>
            <a:r>
              <a:rPr spc="-10"/>
              <a:t> </a:t>
            </a:r>
            <a:fld id="{81D60167-4931-47E6-BA6A-407CBD079E47}" type="slidenum">
              <a:rPr spc="-5" dirty="0"/>
              <a:t>‹#›</a:t>
            </a:fld>
            <a:endParaRPr spc="-5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6640" y="2946437"/>
            <a:ext cx="52641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b="1" spc="-5" dirty="0">
                <a:solidFill>
                  <a:srgbClr val="231F20"/>
                </a:solidFill>
                <a:latin typeface="Rockwell"/>
                <a:cs typeface="Rockwell"/>
              </a:rPr>
              <a:t>Leeds</a:t>
            </a:r>
            <a:endParaRPr sz="1350">
              <a:latin typeface="Rockwell"/>
              <a:cs typeface="Rockwel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48455" y="2932247"/>
            <a:ext cx="297815" cy="287655"/>
            <a:chOff x="3648455" y="2932247"/>
            <a:chExt cx="297815" cy="287655"/>
          </a:xfrm>
        </p:grpSpPr>
        <p:sp>
          <p:nvSpPr>
            <p:cNvPr id="4" name="object 4"/>
            <p:cNvSpPr/>
            <p:nvPr/>
          </p:nvSpPr>
          <p:spPr>
            <a:xfrm>
              <a:off x="3648455" y="2932247"/>
              <a:ext cx="297815" cy="287655"/>
            </a:xfrm>
            <a:custGeom>
              <a:avLst/>
              <a:gdLst/>
              <a:ahLst/>
              <a:cxnLst/>
              <a:rect l="l" t="t" r="r" b="b"/>
              <a:pathLst>
                <a:path w="297814" h="287655">
                  <a:moveTo>
                    <a:pt x="175778" y="0"/>
                  </a:moveTo>
                  <a:lnTo>
                    <a:pt x="39471" y="0"/>
                  </a:lnTo>
                  <a:lnTo>
                    <a:pt x="0" y="39421"/>
                  </a:lnTo>
                  <a:lnTo>
                    <a:pt x="0" y="175503"/>
                  </a:lnTo>
                  <a:lnTo>
                    <a:pt x="39471" y="214896"/>
                  </a:lnTo>
                  <a:lnTo>
                    <a:pt x="82753" y="214896"/>
                  </a:lnTo>
                  <a:lnTo>
                    <a:pt x="82753" y="248012"/>
                  </a:lnTo>
                  <a:lnTo>
                    <a:pt x="122544" y="287452"/>
                  </a:lnTo>
                  <a:lnTo>
                    <a:pt x="237576" y="287452"/>
                  </a:lnTo>
                  <a:lnTo>
                    <a:pt x="277459" y="248043"/>
                  </a:lnTo>
                  <a:lnTo>
                    <a:pt x="277459" y="142625"/>
                  </a:lnTo>
                  <a:lnTo>
                    <a:pt x="297774" y="142625"/>
                  </a:lnTo>
                  <a:lnTo>
                    <a:pt x="297774" y="72443"/>
                  </a:lnTo>
                  <a:lnTo>
                    <a:pt x="215127" y="72443"/>
                  </a:lnTo>
                  <a:lnTo>
                    <a:pt x="215127" y="39427"/>
                  </a:lnTo>
                  <a:lnTo>
                    <a:pt x="175778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2540" y="2936332"/>
              <a:ext cx="290195" cy="279400"/>
            </a:xfrm>
            <a:custGeom>
              <a:avLst/>
              <a:gdLst/>
              <a:ahLst/>
              <a:cxnLst/>
              <a:rect l="l" t="t" r="r" b="b"/>
              <a:pathLst>
                <a:path w="290195" h="279400">
                  <a:moveTo>
                    <a:pt x="170017" y="0"/>
                  </a:moveTo>
                  <a:lnTo>
                    <a:pt x="37063" y="0"/>
                  </a:lnTo>
                  <a:lnTo>
                    <a:pt x="0" y="37033"/>
                  </a:lnTo>
                  <a:lnTo>
                    <a:pt x="0" y="169705"/>
                  </a:lnTo>
                  <a:lnTo>
                    <a:pt x="37063" y="206727"/>
                  </a:lnTo>
                  <a:lnTo>
                    <a:pt x="82783" y="206727"/>
                  </a:lnTo>
                  <a:lnTo>
                    <a:pt x="82783" y="242244"/>
                  </a:lnTo>
                  <a:lnTo>
                    <a:pt x="120136" y="279266"/>
                  </a:lnTo>
                  <a:lnTo>
                    <a:pt x="231815" y="279266"/>
                  </a:lnTo>
                  <a:lnTo>
                    <a:pt x="269275" y="242244"/>
                  </a:lnTo>
                  <a:lnTo>
                    <a:pt x="269275" y="134474"/>
                  </a:lnTo>
                  <a:lnTo>
                    <a:pt x="289590" y="134474"/>
                  </a:lnTo>
                  <a:lnTo>
                    <a:pt x="289590" y="72455"/>
                  </a:lnTo>
                  <a:lnTo>
                    <a:pt x="206943" y="72455"/>
                  </a:lnTo>
                  <a:lnTo>
                    <a:pt x="206943" y="37039"/>
                  </a:lnTo>
                  <a:lnTo>
                    <a:pt x="17001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62751" y="2946553"/>
              <a:ext cx="269240" cy="259079"/>
            </a:xfrm>
            <a:custGeom>
              <a:avLst/>
              <a:gdLst/>
              <a:ahLst/>
              <a:cxnLst/>
              <a:rect l="l" t="t" r="r" b="b"/>
              <a:pathLst>
                <a:path w="269239" h="259080">
                  <a:moveTo>
                    <a:pt x="155554" y="0"/>
                  </a:moveTo>
                  <a:lnTo>
                    <a:pt x="31104" y="0"/>
                  </a:lnTo>
                  <a:lnTo>
                    <a:pt x="0" y="31039"/>
                  </a:lnTo>
                  <a:lnTo>
                    <a:pt x="0" y="155245"/>
                  </a:lnTo>
                  <a:lnTo>
                    <a:pt x="31104" y="186266"/>
                  </a:lnTo>
                  <a:lnTo>
                    <a:pt x="82783" y="186266"/>
                  </a:lnTo>
                  <a:lnTo>
                    <a:pt x="82783" y="227754"/>
                  </a:lnTo>
                  <a:lnTo>
                    <a:pt x="114132" y="258823"/>
                  </a:lnTo>
                  <a:lnTo>
                    <a:pt x="217413" y="258823"/>
                  </a:lnTo>
                  <a:lnTo>
                    <a:pt x="248838" y="227754"/>
                  </a:lnTo>
                  <a:lnTo>
                    <a:pt x="248838" y="114013"/>
                  </a:lnTo>
                  <a:lnTo>
                    <a:pt x="269168" y="114013"/>
                  </a:lnTo>
                  <a:lnTo>
                    <a:pt x="269168" y="72455"/>
                  </a:lnTo>
                  <a:lnTo>
                    <a:pt x="206822" y="72455"/>
                  </a:lnTo>
                  <a:lnTo>
                    <a:pt x="206822" y="217311"/>
                  </a:lnTo>
                  <a:lnTo>
                    <a:pt x="124327" y="217311"/>
                  </a:lnTo>
                  <a:lnTo>
                    <a:pt x="124327" y="186266"/>
                  </a:lnTo>
                  <a:lnTo>
                    <a:pt x="155554" y="186266"/>
                  </a:lnTo>
                  <a:lnTo>
                    <a:pt x="186522" y="155245"/>
                  </a:lnTo>
                  <a:lnTo>
                    <a:pt x="186522" y="114013"/>
                  </a:lnTo>
                  <a:lnTo>
                    <a:pt x="144978" y="114013"/>
                  </a:lnTo>
                  <a:lnTo>
                    <a:pt x="144978" y="144821"/>
                  </a:lnTo>
                  <a:lnTo>
                    <a:pt x="124327" y="144821"/>
                  </a:lnTo>
                  <a:lnTo>
                    <a:pt x="124327" y="72455"/>
                  </a:lnTo>
                  <a:lnTo>
                    <a:pt x="62163" y="72455"/>
                  </a:lnTo>
                  <a:lnTo>
                    <a:pt x="62163" y="114013"/>
                  </a:lnTo>
                  <a:lnTo>
                    <a:pt x="82783" y="114013"/>
                  </a:lnTo>
                  <a:lnTo>
                    <a:pt x="82783" y="144821"/>
                  </a:lnTo>
                  <a:lnTo>
                    <a:pt x="41483" y="144821"/>
                  </a:lnTo>
                  <a:lnTo>
                    <a:pt x="41483" y="41164"/>
                  </a:lnTo>
                  <a:lnTo>
                    <a:pt x="144978" y="41164"/>
                  </a:lnTo>
                  <a:lnTo>
                    <a:pt x="144978" y="72455"/>
                  </a:lnTo>
                  <a:lnTo>
                    <a:pt x="186522" y="72455"/>
                  </a:lnTo>
                  <a:lnTo>
                    <a:pt x="186522" y="31056"/>
                  </a:lnTo>
                  <a:lnTo>
                    <a:pt x="1555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67871" y="2951666"/>
              <a:ext cx="259079" cy="248920"/>
            </a:xfrm>
            <a:custGeom>
              <a:avLst/>
              <a:gdLst/>
              <a:ahLst/>
              <a:cxnLst/>
              <a:rect l="l" t="t" r="r" b="b"/>
              <a:pathLst>
                <a:path w="259079" h="248919">
                  <a:moveTo>
                    <a:pt x="148315" y="0"/>
                  </a:moveTo>
                  <a:lnTo>
                    <a:pt x="28102" y="0"/>
                  </a:lnTo>
                  <a:lnTo>
                    <a:pt x="0" y="28050"/>
                  </a:lnTo>
                  <a:lnTo>
                    <a:pt x="0" y="148024"/>
                  </a:lnTo>
                  <a:lnTo>
                    <a:pt x="28087" y="176046"/>
                  </a:lnTo>
                  <a:lnTo>
                    <a:pt x="82783" y="176046"/>
                  </a:lnTo>
                  <a:lnTo>
                    <a:pt x="82783" y="220504"/>
                  </a:lnTo>
                  <a:lnTo>
                    <a:pt x="111130" y="248614"/>
                  </a:lnTo>
                  <a:lnTo>
                    <a:pt x="210174" y="248614"/>
                  </a:lnTo>
                  <a:lnTo>
                    <a:pt x="238612" y="220486"/>
                  </a:lnTo>
                  <a:lnTo>
                    <a:pt x="238612" y="103804"/>
                  </a:lnTo>
                  <a:lnTo>
                    <a:pt x="258927" y="103804"/>
                  </a:lnTo>
                  <a:lnTo>
                    <a:pt x="258927" y="72467"/>
                  </a:lnTo>
                  <a:lnTo>
                    <a:pt x="206822" y="72467"/>
                  </a:lnTo>
                  <a:lnTo>
                    <a:pt x="206822" y="217294"/>
                  </a:lnTo>
                  <a:lnTo>
                    <a:pt x="114086" y="217294"/>
                  </a:lnTo>
                  <a:lnTo>
                    <a:pt x="114086" y="176046"/>
                  </a:lnTo>
                  <a:lnTo>
                    <a:pt x="148315" y="176046"/>
                  </a:lnTo>
                  <a:lnTo>
                    <a:pt x="176296" y="148024"/>
                  </a:lnTo>
                  <a:lnTo>
                    <a:pt x="176296" y="114019"/>
                  </a:lnTo>
                  <a:lnTo>
                    <a:pt x="144978" y="114019"/>
                  </a:lnTo>
                  <a:lnTo>
                    <a:pt x="144978" y="144815"/>
                  </a:lnTo>
                  <a:lnTo>
                    <a:pt x="114086" y="144815"/>
                  </a:lnTo>
                  <a:lnTo>
                    <a:pt x="114086" y="72467"/>
                  </a:lnTo>
                  <a:lnTo>
                    <a:pt x="62148" y="72467"/>
                  </a:lnTo>
                  <a:lnTo>
                    <a:pt x="62148" y="103804"/>
                  </a:lnTo>
                  <a:lnTo>
                    <a:pt x="82783" y="103804"/>
                  </a:lnTo>
                  <a:lnTo>
                    <a:pt x="82783" y="144815"/>
                  </a:lnTo>
                  <a:lnTo>
                    <a:pt x="31241" y="144815"/>
                  </a:lnTo>
                  <a:lnTo>
                    <a:pt x="31241" y="30950"/>
                  </a:lnTo>
                  <a:lnTo>
                    <a:pt x="144978" y="30950"/>
                  </a:lnTo>
                  <a:lnTo>
                    <a:pt x="144978" y="62227"/>
                  </a:lnTo>
                  <a:lnTo>
                    <a:pt x="176296" y="62227"/>
                  </a:lnTo>
                  <a:lnTo>
                    <a:pt x="176296" y="28050"/>
                  </a:lnTo>
                  <a:lnTo>
                    <a:pt x="148315" y="0"/>
                  </a:lnTo>
                  <a:close/>
                </a:path>
              </a:pathLst>
            </a:custGeom>
            <a:solidFill>
              <a:srgbClr val="CFB8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6830" y="434975"/>
            <a:ext cx="4067937" cy="75552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459105" marR="5080" indent="-447040" algn="ctr">
              <a:lnSpc>
                <a:spcPct val="102699"/>
              </a:lnSpc>
              <a:spcBef>
                <a:spcPts val="55"/>
              </a:spcBef>
            </a:pP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Financial </a:t>
            </a:r>
            <a:r>
              <a:rPr lang="fr-FR" sz="2400" spc="-10" dirty="0" err="1">
                <a:solidFill>
                  <a:srgbClr val="000000"/>
                </a:solidFill>
                <a:latin typeface="Garamond" panose="02020404030301010803" pitchFamily="18" charset="0"/>
              </a:rPr>
              <a:t>Statements</a:t>
            </a: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 </a:t>
            </a:r>
            <a:b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</a:br>
            <a:r>
              <a:rPr lang="fr-FR" sz="2400" spc="-10" dirty="0">
                <a:solidFill>
                  <a:srgbClr val="000000"/>
                </a:solidFill>
                <a:latin typeface="Garamond" panose="02020404030301010803" pitchFamily="18" charset="0"/>
              </a:rPr>
              <a:t>Analytics</a:t>
            </a:r>
            <a:endParaRPr sz="2400" dirty="0"/>
          </a:p>
        </p:txBody>
      </p:sp>
      <p:sp>
        <p:nvSpPr>
          <p:cNvPr id="10" name="object 10"/>
          <p:cNvSpPr/>
          <p:nvPr/>
        </p:nvSpPr>
        <p:spPr>
          <a:xfrm>
            <a:off x="-152" y="3337814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2" y="129539"/>
                </a:lnTo>
                <a:lnTo>
                  <a:pt x="1536192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A0A2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72231" y="3326663"/>
            <a:ext cx="1536700" cy="129539"/>
          </a:xfrm>
          <a:custGeom>
            <a:avLst/>
            <a:gdLst/>
            <a:ahLst/>
            <a:cxnLst/>
            <a:rect l="l" t="t" r="r" b="b"/>
            <a:pathLst>
              <a:path w="1536700" h="129539">
                <a:moveTo>
                  <a:pt x="0" y="129539"/>
                </a:moveTo>
                <a:lnTo>
                  <a:pt x="1536191" y="129539"/>
                </a:lnTo>
                <a:lnTo>
                  <a:pt x="1536191" y="0"/>
                </a:lnTo>
                <a:lnTo>
                  <a:pt x="0" y="0"/>
                </a:lnTo>
                <a:lnTo>
                  <a:pt x="0" y="129539"/>
                </a:lnTo>
                <a:close/>
              </a:path>
            </a:pathLst>
          </a:custGeom>
          <a:solidFill>
            <a:srgbClr val="CEB6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966640" y="3126132"/>
            <a:ext cx="516255" cy="93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00" spc="2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10" dirty="0">
                <a:solidFill>
                  <a:srgbClr val="231F20"/>
                </a:solidFill>
                <a:latin typeface="Arial"/>
                <a:cs typeface="Arial"/>
              </a:rPr>
              <a:t>U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2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2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1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00" spc="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r>
              <a:rPr sz="500" spc="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5" dirty="0">
                <a:solidFill>
                  <a:srgbClr val="231F20"/>
                </a:solidFill>
                <a:latin typeface="Arial"/>
                <a:cs typeface="Arial"/>
              </a:rPr>
              <a:t>S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08906" y="3344562"/>
            <a:ext cx="30099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sz="600" spc="-35" dirty="0">
                <a:latin typeface="Arial"/>
                <a:cs typeface="Arial"/>
              </a:rPr>
              <a:t>P</a:t>
            </a:r>
            <a:r>
              <a:rPr sz="600" spc="-5" dirty="0">
                <a:latin typeface="Arial"/>
                <a:cs typeface="Arial"/>
              </a:rPr>
              <a:t>age</a:t>
            </a:r>
            <a:r>
              <a:rPr sz="600" spc="-10" dirty="0">
                <a:latin typeface="Arial"/>
                <a:cs typeface="Arial"/>
              </a:rPr>
              <a:t> </a:t>
            </a:r>
            <a:fld id="{81D60167-4931-47E6-BA6A-407CBD079E47}" type="slidenum">
              <a:rPr sz="600" spc="-5" dirty="0"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DE640-4373-E05F-2E68-73D434B5B221}"/>
              </a:ext>
            </a:extLst>
          </p:cNvPr>
          <p:cNvSpPr txBox="1"/>
          <p:nvPr/>
        </p:nvSpPr>
        <p:spPr>
          <a:xfrm>
            <a:off x="778104" y="1528371"/>
            <a:ext cx="31241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Professor Burnes</a:t>
            </a:r>
          </a:p>
          <a:p>
            <a:pPr algn="ctr"/>
            <a:r>
              <a:rPr lang="en-US" b="1" dirty="0"/>
              <a:t>Leeds School of Business</a:t>
            </a:r>
          </a:p>
          <a:p>
            <a:pPr algn="ctr"/>
            <a:r>
              <a:rPr lang="en-US" b="1" dirty="0"/>
              <a:t>University of Colorado Boulder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3D9F5-13CB-C78F-E22D-B1665E1AE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93" y="232093"/>
            <a:ext cx="4110672" cy="650050"/>
          </a:xfrm>
        </p:spPr>
        <p:txBody>
          <a:bodyPr/>
          <a:lstStyle/>
          <a:p>
            <a:r>
              <a:rPr lang="en-US" dirty="0"/>
              <a:t>Example 1: </a:t>
            </a:r>
            <a:br>
              <a:rPr lang="en-US" dirty="0"/>
            </a:br>
            <a:r>
              <a:rPr lang="en-US" sz="1412" dirty="0"/>
              <a:t>Developing a Year 1 Income Statement </a:t>
            </a:r>
            <a:r>
              <a:rPr lang="en-US" sz="1412" dirty="0" err="1"/>
              <a:t>ProForma</a:t>
            </a:r>
            <a:endParaRPr lang="en-US" sz="1412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CE354-5C8B-51A5-0EBD-A341E7F90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93" y="882143"/>
            <a:ext cx="3572828" cy="2216119"/>
          </a:xfrm>
        </p:spPr>
        <p:txBody>
          <a:bodyPr/>
          <a:lstStyle/>
          <a:p>
            <a:r>
              <a:rPr lang="en-US" dirty="0"/>
              <a:t>Please see the modules </a:t>
            </a:r>
            <a:r>
              <a:rPr lang="en-US" dirty="0" err="1"/>
              <a:t>FinStatement</a:t>
            </a:r>
            <a:r>
              <a:rPr lang="en-US" dirty="0"/>
              <a:t> </a:t>
            </a:r>
            <a:r>
              <a:rPr lang="en-US" dirty="0" err="1"/>
              <a:t>Example.xlsx</a:t>
            </a:r>
            <a:endParaRPr lang="en-US" dirty="0"/>
          </a:p>
          <a:p>
            <a:r>
              <a:rPr lang="en-US" sz="1109" dirty="0"/>
              <a:t>The Facts</a:t>
            </a:r>
          </a:p>
          <a:p>
            <a:pPr marL="230520" indent="-230520">
              <a:buFont typeface="+mj-lt"/>
              <a:buAutoNum type="arabicPeriod"/>
            </a:pPr>
            <a:r>
              <a:rPr lang="en-US" sz="1109" dirty="0"/>
              <a:t>Last year you had $13,000,000 in revenue</a:t>
            </a:r>
          </a:p>
          <a:p>
            <a:pPr marL="230520" indent="-230520">
              <a:buFont typeface="+mj-lt"/>
              <a:buAutoNum type="arabicPeriod"/>
            </a:pPr>
            <a:r>
              <a:rPr lang="en-US" sz="1109" dirty="0"/>
              <a:t>Your goal is to increase revenue (sales) by 25% this year</a:t>
            </a:r>
          </a:p>
          <a:p>
            <a:pPr marL="230520" indent="-230520">
              <a:buFont typeface="+mj-lt"/>
              <a:buAutoNum type="arabicPeriod"/>
            </a:pPr>
            <a:r>
              <a:rPr lang="en-US" sz="1109" dirty="0"/>
              <a:t>COGS will remain at 20% of sales</a:t>
            </a:r>
          </a:p>
          <a:p>
            <a:pPr marL="230520" indent="-230520">
              <a:buFont typeface="+mj-lt"/>
              <a:buAutoNum type="arabicPeriod"/>
            </a:pPr>
            <a:r>
              <a:rPr lang="en-US" sz="1109" dirty="0"/>
              <a:t>Operating Expenses will remain at 60% of sales</a:t>
            </a:r>
          </a:p>
          <a:p>
            <a:pPr marL="230520" indent="-230520">
              <a:buFont typeface="+mj-lt"/>
              <a:buAutoNum type="arabicPeriod"/>
            </a:pPr>
            <a:r>
              <a:rPr lang="en-US" sz="1109" dirty="0"/>
              <a:t>Depreciation will remain constant. </a:t>
            </a:r>
            <a:r>
              <a:rPr lang="en-US" sz="1109" b="1" i="1" dirty="0"/>
              <a:t>What does this mean?</a:t>
            </a:r>
            <a:endParaRPr lang="en-US" sz="1109" dirty="0"/>
          </a:p>
          <a:p>
            <a:pPr marL="230520" indent="-230520">
              <a:buFont typeface="+mj-lt"/>
              <a:buAutoNum type="arabicPeriod"/>
            </a:pPr>
            <a:r>
              <a:rPr lang="en-US" sz="1109" dirty="0"/>
              <a:t>You are in the 40% Tax Bracket</a:t>
            </a:r>
          </a:p>
          <a:p>
            <a:r>
              <a:rPr lang="en-US" sz="1109" b="1" i="1" dirty="0"/>
              <a:t>SHOW YOUR YEAR 1 INCOME STATEMENT PRO FORMA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E80956-455A-8F6B-893B-B6C286DB0901}"/>
              </a:ext>
            </a:extLst>
          </p:cNvPr>
          <p:cNvSpPr txBox="1"/>
          <p:nvPr/>
        </p:nvSpPr>
        <p:spPr>
          <a:xfrm rot="20347638">
            <a:off x="1428619" y="2363163"/>
            <a:ext cx="3044134" cy="430887"/>
          </a:xfrm>
          <a:prstGeom prst="rect">
            <a:avLst/>
          </a:prstGeom>
          <a:solidFill>
            <a:srgbClr val="FFC000"/>
          </a:solidFill>
        </p:spPr>
        <p:txBody>
          <a:bodyPr wrap="square" rtlCol="0" anchor="ctr">
            <a:spAutoFit/>
          </a:bodyPr>
          <a:lstStyle/>
          <a:p>
            <a:r>
              <a:rPr lang="en-US" sz="1100" dirty="0"/>
              <a:t>Do NOT show a Pro Forma with decimals. You cannot predict the future that well.</a:t>
            </a:r>
          </a:p>
        </p:txBody>
      </p:sp>
    </p:spTree>
    <p:extLst>
      <p:ext uri="{BB962C8B-B14F-4D97-AF65-F5344CB8AC3E}">
        <p14:creationId xmlns:p14="http://schemas.microsoft.com/office/powerpoint/2010/main" val="337376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E6FB-23A4-9F9D-1956-77CBEA695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3 Key Areas of Initial Consideration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FD805-D0F5-9039-0AEE-8D32A9322B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3</a:t>
            </a:fld>
            <a:endParaRPr spc="-5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3D4729-A6C2-36D2-12B5-590A5CC3A6DB}"/>
              </a:ext>
            </a:extLst>
          </p:cNvPr>
          <p:cNvSpPr/>
          <p:nvPr/>
        </p:nvSpPr>
        <p:spPr>
          <a:xfrm>
            <a:off x="126238" y="572274"/>
            <a:ext cx="289112" cy="282388"/>
          </a:xfrm>
          <a:prstGeom prst="ellipse">
            <a:avLst/>
          </a:prstGeom>
          <a:solidFill>
            <a:srgbClr val="A0A2A1"/>
          </a:solidFill>
          <a:ln>
            <a:solidFill>
              <a:srgbClr val="CEB6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EEFC1-4B0C-1C85-B5B3-19AE764AAA9E}"/>
              </a:ext>
            </a:extLst>
          </p:cNvPr>
          <p:cNvSpPr txBox="1"/>
          <p:nvPr/>
        </p:nvSpPr>
        <p:spPr>
          <a:xfrm>
            <a:off x="415350" y="572274"/>
            <a:ext cx="8499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Profitability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D83869-3229-CCAB-E09F-4CD95BBB84B9}"/>
              </a:ext>
            </a:extLst>
          </p:cNvPr>
          <p:cNvSpPr/>
          <p:nvPr/>
        </p:nvSpPr>
        <p:spPr>
          <a:xfrm>
            <a:off x="126238" y="1107915"/>
            <a:ext cx="289112" cy="282388"/>
          </a:xfrm>
          <a:prstGeom prst="ellipse">
            <a:avLst/>
          </a:prstGeom>
          <a:solidFill>
            <a:srgbClr val="A0A2A1"/>
          </a:solidFill>
          <a:ln>
            <a:solidFill>
              <a:srgbClr val="CEB6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A7FA9F-8D21-14EE-3A57-67DBDA0F18C1}"/>
              </a:ext>
            </a:extLst>
          </p:cNvPr>
          <p:cNvSpPr txBox="1"/>
          <p:nvPr/>
        </p:nvSpPr>
        <p:spPr>
          <a:xfrm>
            <a:off x="415350" y="1107915"/>
            <a:ext cx="8194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Operations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F1CBC8-8668-2AAC-5A64-408F1E61B5A8}"/>
              </a:ext>
            </a:extLst>
          </p:cNvPr>
          <p:cNvSpPr/>
          <p:nvPr/>
        </p:nvSpPr>
        <p:spPr>
          <a:xfrm>
            <a:off x="126238" y="1643556"/>
            <a:ext cx="289112" cy="282388"/>
          </a:xfrm>
          <a:prstGeom prst="ellipse">
            <a:avLst/>
          </a:prstGeom>
          <a:solidFill>
            <a:srgbClr val="A0A2A1"/>
          </a:solidFill>
          <a:ln>
            <a:solidFill>
              <a:srgbClr val="CEB6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70E059-19A4-7E3C-13FF-C820CFDFCDB7}"/>
              </a:ext>
            </a:extLst>
          </p:cNvPr>
          <p:cNvSpPr txBox="1"/>
          <p:nvPr/>
        </p:nvSpPr>
        <p:spPr>
          <a:xfrm>
            <a:off x="415350" y="1643556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Capital Structure</a:t>
            </a:r>
          </a:p>
        </p:txBody>
      </p:sp>
    </p:spTree>
    <p:extLst>
      <p:ext uri="{BB962C8B-B14F-4D97-AF65-F5344CB8AC3E}">
        <p14:creationId xmlns:p14="http://schemas.microsoft.com/office/powerpoint/2010/main" val="252569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2D00A-1076-BDB5-DED7-7C96215C6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Profitability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954E5-2C5C-01E9-1406-6C0BF2113B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677108"/>
          </a:xfrm>
        </p:spPr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Are you making money</a:t>
            </a:r>
          </a:p>
          <a:p>
            <a:pPr marL="228600" indent="-228600">
              <a:buAutoNum type="arabicParenR"/>
            </a:pPr>
            <a:r>
              <a:rPr lang="en-US" dirty="0"/>
              <a:t>According to what measure</a:t>
            </a:r>
          </a:p>
          <a:p>
            <a:pPr marL="228600" indent="-228600">
              <a:buAutoNum type="arabicParenR"/>
            </a:pPr>
            <a:r>
              <a:rPr lang="en-US" dirty="0"/>
              <a:t>Please see the Ratio Guide. Let’s calculate the profitability measures relative to the Financial Statements provided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6C216-D2F1-5B7B-C5B3-3566334E3BA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4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895918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FFAC-3404-CC0C-5D18-053284CA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D68C7-A6F5-6E75-0E6F-0DCDEE478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184940"/>
          </a:xfrm>
        </p:spPr>
        <p:txBody>
          <a:bodyPr/>
          <a:lstStyle/>
          <a:p>
            <a:pPr marL="228600" indent="-228600">
              <a:buAutoNum type="arabicParenR"/>
            </a:pPr>
            <a:r>
              <a:rPr lang="en-US" dirty="0"/>
              <a:t>How effectively are you running your business</a:t>
            </a:r>
          </a:p>
          <a:p>
            <a:pPr marL="228600" indent="-228600">
              <a:buAutoNum type="arabicParenR"/>
            </a:pPr>
            <a:r>
              <a:rPr lang="en-US" dirty="0"/>
              <a:t>How effectively are you utilizing your Assets</a:t>
            </a:r>
          </a:p>
          <a:p>
            <a:pPr marL="228600" indent="-228600">
              <a:buFontTx/>
              <a:buAutoNum type="arabicParenR"/>
            </a:pPr>
            <a:r>
              <a:rPr lang="en-US" dirty="0"/>
              <a:t>Please see the Ratio Guide. Let’s calculate the Operational  measures (liquidity and Assets) relative to the Financial Statements provided</a:t>
            </a:r>
          </a:p>
          <a:p>
            <a:pPr marL="228600" indent="-228600">
              <a:buAutoNum type="arabicParenR"/>
            </a:pPr>
            <a:endParaRPr lang="en-US" dirty="0"/>
          </a:p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68A0F-D464-EB50-7F2C-250D4ABB56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5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354396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F409-6F25-057E-0FFC-F60E30AD8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Capital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C9FE0-0BF6-7C7D-1354-03BCC79C6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338554"/>
          </a:xfrm>
        </p:spPr>
        <p:txBody>
          <a:bodyPr/>
          <a:lstStyle/>
          <a:p>
            <a:r>
              <a:rPr lang="en-US" dirty="0"/>
              <a:t>Capital Structure refers to the mix of Debt and Equity used to run a business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08604B-5652-8691-7B24-A32B40B4DFC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6</a:t>
            </a:fld>
            <a:endParaRPr spc="-5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967F61-0350-CB54-32AD-09E74743F73E}"/>
              </a:ext>
            </a:extLst>
          </p:cNvPr>
          <p:cNvCxnSpPr>
            <a:cxnSpLocks/>
          </p:cNvCxnSpPr>
          <p:nvPr/>
        </p:nvCxnSpPr>
        <p:spPr>
          <a:xfrm>
            <a:off x="726439" y="1203512"/>
            <a:ext cx="0" cy="16849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E40FCE-9D3F-BB42-B8A6-A12FEBC5DF1D}"/>
              </a:ext>
            </a:extLst>
          </p:cNvPr>
          <p:cNvCxnSpPr>
            <a:cxnSpLocks/>
          </p:cNvCxnSpPr>
          <p:nvPr/>
        </p:nvCxnSpPr>
        <p:spPr>
          <a:xfrm flipH="1">
            <a:off x="726439" y="2890317"/>
            <a:ext cx="3131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B57CF7-D2E9-A48F-A636-87F466064A8F}"/>
              </a:ext>
            </a:extLst>
          </p:cNvPr>
          <p:cNvSpPr txBox="1"/>
          <p:nvPr/>
        </p:nvSpPr>
        <p:spPr>
          <a:xfrm>
            <a:off x="3816939" y="2879111"/>
            <a:ext cx="5950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% Debt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8A8E19-B9AA-76EE-6D4D-CBD3B74A9ED8}"/>
              </a:ext>
            </a:extLst>
          </p:cNvPr>
          <p:cNvSpPr txBox="1"/>
          <p:nvPr/>
        </p:nvSpPr>
        <p:spPr>
          <a:xfrm rot="16200000">
            <a:off x="383877" y="1079382"/>
            <a:ext cx="4235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ROE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475E54C-31D5-5431-DB2D-30F600E7A390}"/>
              </a:ext>
            </a:extLst>
          </p:cNvPr>
          <p:cNvSpPr/>
          <p:nvPr/>
        </p:nvSpPr>
        <p:spPr>
          <a:xfrm>
            <a:off x="726141" y="1235300"/>
            <a:ext cx="2541210" cy="1252406"/>
          </a:xfrm>
          <a:custGeom>
            <a:avLst/>
            <a:gdLst>
              <a:gd name="connsiteX0" fmla="*/ 0 w 2541210"/>
              <a:gd name="connsiteY0" fmla="*/ 1252406 h 1252406"/>
              <a:gd name="connsiteX1" fmla="*/ 1008530 w 2541210"/>
              <a:gd name="connsiteY1" fmla="*/ 775035 h 1252406"/>
              <a:gd name="connsiteX2" fmla="*/ 1580030 w 2541210"/>
              <a:gd name="connsiteY2" fmla="*/ 364900 h 1252406"/>
              <a:gd name="connsiteX3" fmla="*/ 2185147 w 2541210"/>
              <a:gd name="connsiteY3" fmla="*/ 69065 h 1252406"/>
              <a:gd name="connsiteX4" fmla="*/ 2507877 w 2541210"/>
              <a:gd name="connsiteY4" fmla="*/ 8553 h 1252406"/>
              <a:gd name="connsiteX5" fmla="*/ 2514600 w 2541210"/>
              <a:gd name="connsiteY5" fmla="*/ 1829 h 1252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41210" h="1252406">
                <a:moveTo>
                  <a:pt x="0" y="1252406"/>
                </a:moveTo>
                <a:cubicBezTo>
                  <a:pt x="372596" y="1087679"/>
                  <a:pt x="745192" y="922953"/>
                  <a:pt x="1008530" y="775035"/>
                </a:cubicBezTo>
                <a:cubicBezTo>
                  <a:pt x="1271868" y="627117"/>
                  <a:pt x="1383927" y="482562"/>
                  <a:pt x="1580030" y="364900"/>
                </a:cubicBezTo>
                <a:cubicBezTo>
                  <a:pt x="1776133" y="247238"/>
                  <a:pt x="2030506" y="128456"/>
                  <a:pt x="2185147" y="69065"/>
                </a:cubicBezTo>
                <a:cubicBezTo>
                  <a:pt x="2339788" y="9674"/>
                  <a:pt x="2452968" y="19759"/>
                  <a:pt x="2507877" y="8553"/>
                </a:cubicBezTo>
                <a:cubicBezTo>
                  <a:pt x="2562786" y="-2653"/>
                  <a:pt x="2538693" y="-412"/>
                  <a:pt x="2514600" y="182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42907C-8C28-0B46-83D0-64DF85252BF5}"/>
              </a:ext>
            </a:extLst>
          </p:cNvPr>
          <p:cNvCxnSpPr>
            <a:cxnSpLocks/>
          </p:cNvCxnSpPr>
          <p:nvPr/>
        </p:nvCxnSpPr>
        <p:spPr>
          <a:xfrm>
            <a:off x="3267351" y="1082488"/>
            <a:ext cx="0" cy="1805988"/>
          </a:xfrm>
          <a:prstGeom prst="line">
            <a:avLst/>
          </a:prstGeom>
          <a:ln w="38100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2842947-9954-8E63-AE1C-39AB3C687644}"/>
              </a:ext>
            </a:extLst>
          </p:cNvPr>
          <p:cNvSpPr txBox="1"/>
          <p:nvPr/>
        </p:nvSpPr>
        <p:spPr>
          <a:xfrm>
            <a:off x="2969833" y="2888476"/>
            <a:ext cx="8114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100% Debt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BC0E17-DF3E-97B8-E7BB-B876831A2D50}"/>
              </a:ext>
            </a:extLst>
          </p:cNvPr>
          <p:cNvSpPr txBox="1"/>
          <p:nvPr/>
        </p:nvSpPr>
        <p:spPr>
          <a:xfrm>
            <a:off x="464828" y="2899682"/>
            <a:ext cx="110639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0% Debt implies</a:t>
            </a:r>
          </a:p>
          <a:p>
            <a:r>
              <a:rPr lang="en-US" sz="1100" dirty="0"/>
              <a:t>100% Equity </a:t>
            </a:r>
          </a:p>
        </p:txBody>
      </p:sp>
    </p:spTree>
    <p:extLst>
      <p:ext uri="{BB962C8B-B14F-4D97-AF65-F5344CB8AC3E}">
        <p14:creationId xmlns:p14="http://schemas.microsoft.com/office/powerpoint/2010/main" val="110079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954F-D464-AB6C-8192-525519745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Notes on Capital Structure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D27E1CB-8B0E-1203-23FE-6A6BC46A734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26238" y="572274"/>
                <a:ext cx="4357623" cy="2463238"/>
              </a:xfrm>
            </p:spPr>
            <p:txBody>
              <a:bodyPr/>
              <a:lstStyle/>
              <a:p>
                <a:r>
                  <a:rPr lang="en-US" dirty="0"/>
                  <a:t>We can use measures like:</a:t>
                </a:r>
              </a:p>
              <a:p>
                <a:r>
                  <a:rPr lang="en-US" dirty="0" err="1"/>
                  <a:t>Debt:Equity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Coverage Ratios (later)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AND: </a:t>
                </a:r>
                <a:r>
                  <a:rPr lang="en-US" b="1" dirty="0"/>
                  <a:t>KEY </a:t>
                </a:r>
                <a:r>
                  <a:rPr lang="en-US" dirty="0"/>
                  <a:t>relationship to remember:</a:t>
                </a:r>
              </a:p>
              <a:p>
                <a:endParaRPr lang="en-US" dirty="0"/>
              </a:p>
              <a:p>
                <a:r>
                  <a:rPr lang="en-US" dirty="0"/>
                  <a:t>Balance sheet:</a:t>
                </a:r>
              </a:p>
              <a:p>
                <a:r>
                  <a:rPr lang="en-US" dirty="0"/>
                  <a:t>Assets = Liabilities + Shareholders’ Equity</a:t>
                </a:r>
              </a:p>
              <a:p>
                <a:endParaRPr lang="en-US" dirty="0"/>
              </a:p>
              <a:p>
                <a:r>
                  <a:rPr lang="en-US" dirty="0"/>
                  <a:t>**</a:t>
                </a:r>
                <a:r>
                  <a:rPr lang="en-US" b="1" dirty="0"/>
                  <a:t>Equity Multiplier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𝐴𝑠𝑠𝑒𝑡𝑠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𝐸𝑞𝑢𝑖𝑡𝑦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𝐸𝑞𝑢𝑖𝑡𝑦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𝑀𝑢𝑙𝑡𝑖𝑝𝑙𝑖𝑒𝑟𝑠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≤∞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D27E1CB-8B0E-1203-23FE-6A6BC46A73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6238" y="572274"/>
                <a:ext cx="4357623" cy="2463238"/>
              </a:xfrm>
              <a:blipFill>
                <a:blip r:embed="rId2"/>
                <a:stretch>
                  <a:fillRect l="-2035" t="-2051" b="-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D831D-A8C1-F81F-0087-C01ECDC400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7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601954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D4FD3-86C0-14E1-0538-1FC6A0803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We have an equation that evaluates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3D6E6-FE10-97E5-117E-6BB56828D30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8</a:t>
            </a:fld>
            <a:endParaRPr spc="-5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334E6DE-CC6C-47C9-B23D-49EAC8AD9AC4}"/>
              </a:ext>
            </a:extLst>
          </p:cNvPr>
          <p:cNvSpPr/>
          <p:nvPr/>
        </p:nvSpPr>
        <p:spPr>
          <a:xfrm>
            <a:off x="126238" y="572274"/>
            <a:ext cx="289112" cy="282388"/>
          </a:xfrm>
          <a:prstGeom prst="ellipse">
            <a:avLst/>
          </a:prstGeom>
          <a:solidFill>
            <a:srgbClr val="A0A2A1"/>
          </a:solidFill>
          <a:ln>
            <a:solidFill>
              <a:srgbClr val="CEB6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1CF49E-63BD-4B62-CD1F-584D0A7BA2BE}"/>
              </a:ext>
            </a:extLst>
          </p:cNvPr>
          <p:cNvSpPr txBox="1"/>
          <p:nvPr/>
        </p:nvSpPr>
        <p:spPr>
          <a:xfrm>
            <a:off x="415350" y="572274"/>
            <a:ext cx="8499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Profitability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A2DA7A-C5C7-F329-31D9-270023FCC841}"/>
              </a:ext>
            </a:extLst>
          </p:cNvPr>
          <p:cNvSpPr/>
          <p:nvPr/>
        </p:nvSpPr>
        <p:spPr>
          <a:xfrm>
            <a:off x="126238" y="1107915"/>
            <a:ext cx="289112" cy="282388"/>
          </a:xfrm>
          <a:prstGeom prst="ellipse">
            <a:avLst/>
          </a:prstGeom>
          <a:solidFill>
            <a:srgbClr val="A0A2A1"/>
          </a:solidFill>
          <a:ln>
            <a:solidFill>
              <a:srgbClr val="CEB6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ED20A-7725-7496-4C40-FCADC1DD8020}"/>
              </a:ext>
            </a:extLst>
          </p:cNvPr>
          <p:cNvSpPr txBox="1"/>
          <p:nvPr/>
        </p:nvSpPr>
        <p:spPr>
          <a:xfrm>
            <a:off x="415350" y="1107915"/>
            <a:ext cx="8194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Operations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30A66A2-B462-4C20-021B-3775922215EE}"/>
              </a:ext>
            </a:extLst>
          </p:cNvPr>
          <p:cNvSpPr/>
          <p:nvPr/>
        </p:nvSpPr>
        <p:spPr>
          <a:xfrm>
            <a:off x="126238" y="1643556"/>
            <a:ext cx="289112" cy="282388"/>
          </a:xfrm>
          <a:prstGeom prst="ellipse">
            <a:avLst/>
          </a:prstGeom>
          <a:solidFill>
            <a:srgbClr val="A0A2A1"/>
          </a:solidFill>
          <a:ln>
            <a:solidFill>
              <a:srgbClr val="CEB6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24A63-2886-2A21-E336-4D457B277A4B}"/>
              </a:ext>
            </a:extLst>
          </p:cNvPr>
          <p:cNvSpPr txBox="1"/>
          <p:nvPr/>
        </p:nvSpPr>
        <p:spPr>
          <a:xfrm>
            <a:off x="415350" y="1643556"/>
            <a:ext cx="11448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Capital Structure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0DD9E7C-C5EA-7B37-D50A-7DCC2220520D}"/>
              </a:ext>
            </a:extLst>
          </p:cNvPr>
          <p:cNvSpPr txBox="1">
            <a:spLocks/>
          </p:cNvSpPr>
          <p:nvPr/>
        </p:nvSpPr>
        <p:spPr>
          <a:xfrm>
            <a:off x="726439" y="1963753"/>
            <a:ext cx="315341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kern="0" dirty="0"/>
              <a:t>The Dupont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E9AC0C-F2B7-18C4-8921-8D1038587455}"/>
                  </a:ext>
                </a:extLst>
              </p:cNvPr>
              <p:cNvSpPr txBox="1"/>
              <p:nvPr/>
            </p:nvSpPr>
            <p:spPr>
              <a:xfrm>
                <a:off x="611584" y="2237784"/>
                <a:ext cx="3097322" cy="4707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𝑅𝑂𝐸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𝑅𝑒𝑣𝑒𝑛𝑢𝑒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𝑁𝑒𝑡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𝐼𝑛𝑐𝑜𝑚𝑒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𝑁𝑒𝑡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𝐼𝑛𝑐𝑜𝑚𝑒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𝐴𝑠𝑠𝑒𝑡𝑠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𝐴𝑠𝑠𝑒𝑡𝑠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𝐸𝑞𝑢𝑖𝑡𝑦</m:t>
                          </m:r>
                        </m:den>
                      </m:f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4E9AC0C-F2B7-18C4-8921-8D1038587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84" y="2237784"/>
                <a:ext cx="3097322" cy="470770"/>
              </a:xfrm>
              <a:prstGeom prst="rect">
                <a:avLst/>
              </a:prstGeom>
              <a:blipFill>
                <a:blip r:embed="rId2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Up Arrow 13">
            <a:extLst>
              <a:ext uri="{FF2B5EF4-FFF2-40B4-BE49-F238E27FC236}">
                <a16:creationId xmlns:a16="http://schemas.microsoft.com/office/drawing/2014/main" id="{D80289D4-0294-77BB-F31F-526F271E884E}"/>
              </a:ext>
            </a:extLst>
          </p:cNvPr>
          <p:cNvSpPr/>
          <p:nvPr/>
        </p:nvSpPr>
        <p:spPr>
          <a:xfrm>
            <a:off x="1560215" y="2708554"/>
            <a:ext cx="140838" cy="310311"/>
          </a:xfrm>
          <a:prstGeom prst="upArrow">
            <a:avLst/>
          </a:prstGeom>
          <a:solidFill>
            <a:srgbClr val="CEB67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Up Arrow 14">
            <a:extLst>
              <a:ext uri="{FF2B5EF4-FFF2-40B4-BE49-F238E27FC236}">
                <a16:creationId xmlns:a16="http://schemas.microsoft.com/office/drawing/2014/main" id="{58D1B8CD-8FB0-5396-466C-712FA35BB825}"/>
              </a:ext>
            </a:extLst>
          </p:cNvPr>
          <p:cNvSpPr/>
          <p:nvPr/>
        </p:nvSpPr>
        <p:spPr>
          <a:xfrm>
            <a:off x="2445480" y="2716246"/>
            <a:ext cx="140838" cy="310311"/>
          </a:xfrm>
          <a:prstGeom prst="upArrow">
            <a:avLst/>
          </a:prstGeom>
          <a:solidFill>
            <a:srgbClr val="A0A2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C2E8516D-B1CA-1358-F775-7A6E1215F152}"/>
              </a:ext>
            </a:extLst>
          </p:cNvPr>
          <p:cNvSpPr/>
          <p:nvPr/>
        </p:nvSpPr>
        <p:spPr>
          <a:xfrm>
            <a:off x="3260326" y="2708553"/>
            <a:ext cx="140838" cy="310311"/>
          </a:xfrm>
          <a:prstGeom prst="upArrow">
            <a:avLst/>
          </a:prstGeom>
          <a:solidFill>
            <a:srgbClr val="51699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EBEDED-EFA9-ADEA-74A3-CD46871B712C}"/>
              </a:ext>
            </a:extLst>
          </p:cNvPr>
          <p:cNvSpPr txBox="1"/>
          <p:nvPr/>
        </p:nvSpPr>
        <p:spPr>
          <a:xfrm>
            <a:off x="1265263" y="3059873"/>
            <a:ext cx="8499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Profitability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CA1D7A-441B-1551-480D-25EAB989ACA2}"/>
              </a:ext>
            </a:extLst>
          </p:cNvPr>
          <p:cNvSpPr txBox="1"/>
          <p:nvPr/>
        </p:nvSpPr>
        <p:spPr>
          <a:xfrm>
            <a:off x="2047661" y="3018864"/>
            <a:ext cx="93647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Asset </a:t>
            </a:r>
          </a:p>
          <a:p>
            <a:pPr algn="ctr"/>
            <a:r>
              <a:rPr lang="en-US" sz="1100" dirty="0"/>
              <a:t>Effectiveness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1AFBFB-0532-9A51-0D20-55EEB4020957}"/>
              </a:ext>
            </a:extLst>
          </p:cNvPr>
          <p:cNvSpPr txBox="1"/>
          <p:nvPr/>
        </p:nvSpPr>
        <p:spPr>
          <a:xfrm>
            <a:off x="2987289" y="3015275"/>
            <a:ext cx="7184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Capital </a:t>
            </a:r>
          </a:p>
          <a:p>
            <a:pPr algn="ctr"/>
            <a:r>
              <a:rPr lang="en-US" sz="1100" dirty="0"/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371614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F34C5-51B8-CCDE-40AA-741A912BA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430887"/>
          </a:xfrm>
        </p:spPr>
        <p:txBody>
          <a:bodyPr/>
          <a:lstStyle/>
          <a:p>
            <a:r>
              <a:rPr lang="en-US" dirty="0"/>
              <a:t>As an Equity Holder, what do I think about an infinite multiplier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4B997-10CA-FE19-8270-ACBAA5DE6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685800"/>
            <a:ext cx="4357623" cy="1184940"/>
          </a:xfrm>
        </p:spPr>
        <p:txBody>
          <a:bodyPr/>
          <a:lstStyle/>
          <a:p>
            <a:r>
              <a:rPr lang="en-US" dirty="0"/>
              <a:t>It makes me really nervous.</a:t>
            </a:r>
          </a:p>
          <a:p>
            <a:endParaRPr lang="en-US" dirty="0"/>
          </a:p>
          <a:p>
            <a:r>
              <a:rPr lang="en-US" dirty="0"/>
              <a:t>That means I have A LOT (LIKE APPROACHING 100%) OF LEVERAGE (DEBT)</a:t>
            </a:r>
          </a:p>
          <a:p>
            <a:endParaRPr lang="en-US" dirty="0"/>
          </a:p>
          <a:p>
            <a:r>
              <a:rPr lang="en-US" dirty="0"/>
              <a:t>This is very risky because I have interest and principal to pay BEFORE shareholders (equity holders) get paid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6B17CB-0106-8FD9-D3E4-D92B991BC6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9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614006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73203-BC8A-8026-97E9-0DE98F9A6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646331"/>
          </a:xfrm>
        </p:spPr>
        <p:txBody>
          <a:bodyPr/>
          <a:lstStyle/>
          <a:p>
            <a:r>
              <a:rPr lang="en-US" dirty="0"/>
              <a:t>Example, Please see ESBM4570_4.2.xlsx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95BED-CB5C-3D45-B39A-AFFAB2A9E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332" y="747712"/>
            <a:ext cx="4357623" cy="507831"/>
          </a:xfrm>
        </p:spPr>
        <p:txBody>
          <a:bodyPr/>
          <a:lstStyle/>
          <a:p>
            <a:r>
              <a:rPr lang="en-US" dirty="0"/>
              <a:t>Let’s work through the Income Statement and Balance Sheet.</a:t>
            </a:r>
          </a:p>
          <a:p>
            <a:endParaRPr lang="en-US" dirty="0"/>
          </a:p>
          <a:p>
            <a:r>
              <a:rPr lang="en-US" dirty="0"/>
              <a:t>From Here, we can work through the ANALYTICS.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C43FA-5798-BB06-D201-9DB7FEA72D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10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2054913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0562-72A3-E0B9-885A-BE8F7C80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Cost of Capital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33484-68B5-F98F-7118-E19904368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846386"/>
          </a:xfrm>
        </p:spPr>
        <p:txBody>
          <a:bodyPr/>
          <a:lstStyle/>
          <a:p>
            <a:r>
              <a:rPr lang="en-US" dirty="0"/>
              <a:t>Cost of Capital (interest rate) is influenced by:</a:t>
            </a:r>
          </a:p>
          <a:p>
            <a:endParaRPr lang="en-US" dirty="0"/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Project (see Scorecard!)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Market</a:t>
            </a:r>
          </a:p>
          <a:p>
            <a:pPr marL="228600" indent="-228600">
              <a:buFont typeface="+mj-lt"/>
              <a:buAutoNum type="arabicParenR"/>
            </a:pPr>
            <a:r>
              <a:rPr lang="en-US" dirty="0"/>
              <a:t>Capital Structure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6AC0D-F315-A78B-2F40-0A3E6B56DA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11</a:t>
            </a:fld>
            <a:endParaRPr spc="-5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49066FAD-CE05-876C-2682-0149CAEC1C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3998" y="1783084"/>
                <a:ext cx="4357623" cy="1011752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marL="0">
                  <a:defRPr sz="1100" b="0" i="0">
                    <a:solidFill>
                      <a:schemeClr val="tx1"/>
                    </a:solidFill>
                    <a:latin typeface="Arial"/>
                    <a:ea typeface="+mn-ea"/>
                    <a:cs typeface="Arial"/>
                  </a:defRPr>
                </a:lvl1pPr>
                <a:lvl2pPr marL="457200">
                  <a:defRPr>
                    <a:latin typeface="+mn-lt"/>
                    <a:ea typeface="+mn-ea"/>
                    <a:cs typeface="+mn-cs"/>
                  </a:defRPr>
                </a:lvl2pPr>
                <a:lvl3pPr marL="914400">
                  <a:defRPr>
                    <a:latin typeface="+mn-lt"/>
                    <a:ea typeface="+mn-ea"/>
                    <a:cs typeface="+mn-cs"/>
                  </a:defRPr>
                </a:lvl3pPr>
                <a:lvl4pPr marL="1371600">
                  <a:defRPr>
                    <a:latin typeface="+mn-lt"/>
                    <a:ea typeface="+mn-ea"/>
                    <a:cs typeface="+mn-cs"/>
                  </a:defRPr>
                </a:lvl4pPr>
                <a:lvl5pPr marL="1828800">
                  <a:defRPr>
                    <a:latin typeface="+mn-lt"/>
                    <a:ea typeface="+mn-ea"/>
                    <a:cs typeface="+mn-cs"/>
                  </a:defRPr>
                </a:lvl5pPr>
                <a:lvl6pPr marL="2286000">
                  <a:defRPr>
                    <a:latin typeface="+mn-lt"/>
                    <a:ea typeface="+mn-ea"/>
                    <a:cs typeface="+mn-cs"/>
                  </a:defRPr>
                </a:lvl6pPr>
                <a:lvl7pPr marL="2743200">
                  <a:defRPr>
                    <a:latin typeface="+mn-lt"/>
                    <a:ea typeface="+mn-ea"/>
                    <a:cs typeface="+mn-cs"/>
                  </a:defRPr>
                </a:lvl7pPr>
                <a:lvl8pPr marL="3200400">
                  <a:defRPr>
                    <a:latin typeface="+mn-lt"/>
                    <a:ea typeface="+mn-ea"/>
                    <a:cs typeface="+mn-cs"/>
                  </a:defRPr>
                </a:lvl8pPr>
                <a:lvl9pPr marL="3657600">
                  <a:defRPr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kern="0" dirty="0"/>
                  <a:t>The case develops the </a:t>
                </a:r>
                <a:r>
                  <a:rPr lang="en-US" b="1" kern="0" dirty="0">
                    <a:solidFill>
                      <a:srgbClr val="00B050"/>
                    </a:solidFill>
                  </a:rPr>
                  <a:t>WACC</a:t>
                </a:r>
                <a:r>
                  <a:rPr lang="en-US" kern="0" dirty="0"/>
                  <a:t> </a:t>
                </a:r>
                <a:r>
                  <a:rPr lang="en-US" b="1" i="1" kern="0" dirty="0"/>
                  <a:t>Weighted Average Cost of Capital</a:t>
                </a:r>
                <a:r>
                  <a:rPr lang="en-US" kern="0" dirty="0"/>
                  <a:t> as a performance measure.</a:t>
                </a:r>
              </a:p>
              <a:p>
                <a:endParaRPr lang="en-US" kern="0" dirty="0"/>
              </a:p>
              <a:p>
                <a:endParaRPr lang="en-US" kern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kern="0" smtClean="0">
                          <a:latin typeface="Cambria Math" panose="02040503050406030204" pitchFamily="18" charset="0"/>
                        </a:rPr>
                        <m:t>𝑊𝐴𝐶𝐶</m:t>
                      </m:r>
                      <m:r>
                        <a:rPr lang="en-US" b="0" i="1" kern="0" smtClean="0">
                          <a:latin typeface="Cambria Math" panose="02040503050406030204" pitchFamily="18" charset="0"/>
                        </a:rPr>
                        <m:t>=%</m:t>
                      </m:r>
                      <m:r>
                        <a:rPr lang="en-US" b="0" i="1" kern="0" smtClean="0">
                          <a:latin typeface="Cambria Math" panose="02040503050406030204" pitchFamily="18" charset="0"/>
                        </a:rPr>
                        <m:t>𝐸𝑞𝑢𝑖𝑡𝑦</m:t>
                      </m:r>
                      <m:r>
                        <a:rPr lang="en-US" b="0" i="1" kern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kern="0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US" b="0" i="1" kern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kern="0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kern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kern="0" smtClean="0">
                          <a:latin typeface="Cambria Math" panose="02040503050406030204" pitchFamily="18" charset="0"/>
                        </a:rPr>
                        <m:t>𝑒𝑞𝑢𝑖𝑡𝑦</m:t>
                      </m:r>
                      <m:r>
                        <a:rPr lang="en-US" b="0" i="1" kern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b="0" i="1" kern="0" dirty="0">
                  <a:latin typeface="Cambria Math" panose="02040503050406030204" pitchFamily="18" charset="0"/>
                </a:endParaRPr>
              </a:p>
              <a:p>
                <a:pPr/>
                <a:r>
                  <a:rPr lang="en-US" b="0" kern="0" dirty="0"/>
                  <a:t>               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𝐷𝑒𝑏𝑡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𝑎𝑓𝑡𝑒𝑟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𝑡𝑎𝑥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𝑐𝑜𝑠𝑡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𝑑𝑒𝑏𝑡</m:t>
                    </m:r>
                  </m:oMath>
                </a14:m>
                <a:endParaRPr lang="en-US" kern="0" dirty="0"/>
              </a:p>
            </p:txBody>
          </p:sp>
        </mc:Choice>
        <mc:Fallback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49066FAD-CE05-876C-2682-0149CAEC1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98" y="1783084"/>
                <a:ext cx="4357623" cy="1011752"/>
              </a:xfrm>
              <a:prstGeom prst="rect">
                <a:avLst/>
              </a:prstGeom>
              <a:blipFill>
                <a:blip r:embed="rId2"/>
                <a:stretch>
                  <a:fillRect l="-2035" t="-5000" r="-2616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E75C1B0F-0C40-773B-58FE-2D3F8BDDEDCF}"/>
              </a:ext>
            </a:extLst>
          </p:cNvPr>
          <p:cNvSpPr txBox="1">
            <a:spLocks/>
          </p:cNvSpPr>
          <p:nvPr/>
        </p:nvSpPr>
        <p:spPr>
          <a:xfrm>
            <a:off x="555496" y="1519411"/>
            <a:ext cx="315341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526894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kern="0" dirty="0"/>
              <a:t>As you prepare for Bobs Baloney</a:t>
            </a:r>
          </a:p>
        </p:txBody>
      </p:sp>
    </p:spTree>
    <p:extLst>
      <p:ext uri="{BB962C8B-B14F-4D97-AF65-F5344CB8AC3E}">
        <p14:creationId xmlns:p14="http://schemas.microsoft.com/office/powerpoint/2010/main" val="189483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build="p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E9ACA-CE3A-3269-8EB7-FA1B6918E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39" y="190295"/>
            <a:ext cx="3153410" cy="215444"/>
          </a:xfrm>
        </p:spPr>
        <p:txBody>
          <a:bodyPr/>
          <a:lstStyle/>
          <a:p>
            <a:r>
              <a:rPr lang="en-US" dirty="0"/>
              <a:t>As you prepare for Monday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715AF-6E9B-6C35-8966-5EFF9EC86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38" y="572274"/>
            <a:ext cx="4357623" cy="1015663"/>
          </a:xfrm>
        </p:spPr>
        <p:txBody>
          <a:bodyPr/>
          <a:lstStyle/>
          <a:p>
            <a:r>
              <a:rPr lang="en-US" dirty="0"/>
              <a:t>Using the Spreadsheets provided (in case) prepare to discuss:</a:t>
            </a:r>
          </a:p>
          <a:p>
            <a:pPr marL="685800" lvl="1" indent="-228600">
              <a:buAutoNum type="arabicParenR"/>
            </a:pPr>
            <a:r>
              <a:rPr lang="en-US" sz="1100" dirty="0"/>
              <a:t>DuPont Elements over Time</a:t>
            </a:r>
          </a:p>
          <a:p>
            <a:pPr marL="685800" lvl="1" indent="-228600">
              <a:buAutoNum type="arabicParenR"/>
            </a:pPr>
            <a:r>
              <a:rPr lang="en-US" sz="1100" dirty="0"/>
              <a:t>DuPont Ratio over Time</a:t>
            </a:r>
          </a:p>
          <a:p>
            <a:pPr marL="685800" lvl="1" indent="-228600">
              <a:buAutoNum type="arabicParenR"/>
            </a:pPr>
            <a:r>
              <a:rPr lang="en-US" sz="1100" dirty="0"/>
              <a:t>Where does Bobs fit relative to </a:t>
            </a:r>
            <a:r>
              <a:rPr lang="en-US" sz="1100" dirty="0" err="1"/>
              <a:t>comparables</a:t>
            </a:r>
            <a:r>
              <a:rPr lang="en-US" sz="1100" dirty="0"/>
              <a:t> (benchmarks)</a:t>
            </a:r>
          </a:p>
          <a:p>
            <a:pPr marL="685800" lvl="1" indent="-228600">
              <a:buAutoNum type="arabicParenR"/>
            </a:pPr>
            <a:r>
              <a:rPr lang="en-US" sz="1100" dirty="0"/>
              <a:t>What about ROA? Does decline mean “bad” ROA?</a:t>
            </a:r>
          </a:p>
          <a:p>
            <a:pPr marL="685800" lvl="1" indent="-228600">
              <a:buAutoNum type="arabicParenR"/>
            </a:pPr>
            <a:r>
              <a:rPr lang="en-US" sz="1100" dirty="0"/>
              <a:t>Mino’s statement and its credibility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F0B90-3A07-664B-CD86-0D1EE07941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ts val="685"/>
              </a:lnSpc>
            </a:pPr>
            <a:r>
              <a:rPr lang="en-US" spc="-35"/>
              <a:t>P</a:t>
            </a:r>
            <a:r>
              <a:rPr lang="en-US" spc="-5"/>
              <a:t>age</a:t>
            </a:r>
            <a:r>
              <a:rPr lang="en-US" spc="-10"/>
              <a:t> </a:t>
            </a:r>
            <a:fld id="{81D60167-4931-47E6-BA6A-407CBD079E47}" type="slidenum">
              <a:rPr spc="-5" smtClean="0"/>
              <a:t>12</a:t>
            </a:fld>
            <a:endParaRPr spc="-5"/>
          </a:p>
        </p:txBody>
      </p:sp>
    </p:spTree>
    <p:extLst>
      <p:ext uri="{BB962C8B-B14F-4D97-AF65-F5344CB8AC3E}">
        <p14:creationId xmlns:p14="http://schemas.microsoft.com/office/powerpoint/2010/main" val="1522118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</TotalTime>
  <Words>524</Words>
  <Application>Microsoft Macintosh PowerPoint</Application>
  <PresentationFormat>Custom</PresentationFormat>
  <Paragraphs>109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Garamond</vt:lpstr>
      <vt:lpstr>Rockwell</vt:lpstr>
      <vt:lpstr>Office Theme</vt:lpstr>
      <vt:lpstr>Financial Statements  Analytics</vt:lpstr>
      <vt:lpstr>Example 1:  Developing a Year 1 Income Statement ProForma</vt:lpstr>
      <vt:lpstr>3 Key Areas of Initial Consideration</vt:lpstr>
      <vt:lpstr>Profitability</vt:lpstr>
      <vt:lpstr>Operations</vt:lpstr>
      <vt:lpstr>Capital Structure</vt:lpstr>
      <vt:lpstr>Notes on Capital Structure</vt:lpstr>
      <vt:lpstr>We have an equation that evaluates</vt:lpstr>
      <vt:lpstr>As an Equity Holder, what do I think about an infinite multiplier</vt:lpstr>
      <vt:lpstr>Example, Please see ESBM4570_4.2.xlsx </vt:lpstr>
      <vt:lpstr>Cost of Capital</vt:lpstr>
      <vt:lpstr>As you prepare for Monday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Entrepreneurial Finance  Lesson 1</dc:title>
  <dc:creator>Shaun Davies, CU-Boulder</dc:creator>
  <cp:lastModifiedBy>Ellen Burnes</cp:lastModifiedBy>
  <cp:revision>8</cp:revision>
  <dcterms:created xsi:type="dcterms:W3CDTF">2022-01-05T04:34:10Z</dcterms:created>
  <dcterms:modified xsi:type="dcterms:W3CDTF">2025-09-09T21:30:26Z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2017-02-19T00:00:00Z</vt:filetime>
  </property>
  <property fmtid="{D5CDD505-2E9C-101B-9397-08002B2CF9AE}" pid="3" name="Creator">
    <vt:lpwstr>LaTeX with Beamer class version 3.27</vt:lpwstr>
  </property>
  <property fmtid="{D5CDD505-2E9C-101B-9397-08002B2CF9AE}" pid="4" name="LastSaved">
    <vt:filetime>2022-01-05T00:00:00Z</vt:filetime>
  </property>
</Properties>
</file>