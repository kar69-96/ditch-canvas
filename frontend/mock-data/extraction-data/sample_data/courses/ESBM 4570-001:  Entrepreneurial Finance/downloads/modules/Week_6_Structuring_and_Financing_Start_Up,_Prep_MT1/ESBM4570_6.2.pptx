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392" r:id="rId5"/>
    <p:sldId id="393" r:id="rId6"/>
    <p:sldId id="390" r:id="rId7"/>
    <p:sldId id="259" r:id="rId8"/>
    <p:sldId id="260" r:id="rId9"/>
    <p:sldId id="262" r:id="rId10"/>
    <p:sldId id="269" r:id="rId11"/>
    <p:sldId id="270" r:id="rId12"/>
    <p:sldId id="271" r:id="rId13"/>
    <p:sldId id="391" r:id="rId14"/>
    <p:sldId id="272" r:id="rId15"/>
    <p:sldId id="273" r:id="rId16"/>
    <p:sldId id="264" r:id="rId17"/>
    <p:sldId id="266" r:id="rId18"/>
    <p:sldId id="267" r:id="rId19"/>
    <p:sldId id="268" r:id="rId20"/>
  </p:sldIdLst>
  <p:sldSz cx="4610100" cy="346075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0B7"/>
    <a:srgbClr val="A0A2A1"/>
    <a:srgbClr val="1C334E"/>
    <a:srgbClr val="CEB67B"/>
    <a:srgbClr val="FEFEFE"/>
    <a:srgbClr val="DAD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00449-2A1E-514A-9D0A-A9F409CC5052}" v="1" dt="2025-09-24T00:46:41.369"/>
    <p1510:client id="{524CEC4A-4A34-4CF1-A990-21F0907266E9}" v="6" dt="2025-09-24T17:25:25.5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78"/>
    <p:restoredTop sz="94895"/>
  </p:normalViewPr>
  <p:slideViewPr>
    <p:cSldViewPr snapToGrid="0">
      <p:cViewPr varScale="1">
        <p:scale>
          <a:sx n="108" d="100"/>
          <a:sy n="108" d="100"/>
        </p:scale>
        <p:origin x="1410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524CEC4A-4A34-4CF1-A990-21F0907266E9}"/>
    <pc:docChg chg="custSel addSld modSld sldOrd">
      <pc:chgData name="Ellen Burnes" userId="ca3eeb36-3cf7-49b7-874f-4993e3c98b53" providerId="ADAL" clId="{524CEC4A-4A34-4CF1-A990-21F0907266E9}" dt="2025-09-24T17:25:25.545" v="248"/>
      <pc:docMkLst>
        <pc:docMk/>
      </pc:docMkLst>
      <pc:sldChg chg="modSp mod">
        <pc:chgData name="Ellen Burnes" userId="ca3eeb36-3cf7-49b7-874f-4993e3c98b53" providerId="ADAL" clId="{524CEC4A-4A34-4CF1-A990-21F0907266E9}" dt="2025-09-24T17:13:53.137" v="31" actId="20577"/>
        <pc:sldMkLst>
          <pc:docMk/>
          <pc:sldMk cId="344600620" sldId="257"/>
        </pc:sldMkLst>
        <pc:spChg chg="mod">
          <ac:chgData name="Ellen Burnes" userId="ca3eeb36-3cf7-49b7-874f-4993e3c98b53" providerId="ADAL" clId="{524CEC4A-4A34-4CF1-A990-21F0907266E9}" dt="2025-09-24T17:13:53.137" v="31" actId="20577"/>
          <ac:spMkLst>
            <pc:docMk/>
            <pc:sldMk cId="344600620" sldId="257"/>
            <ac:spMk id="3" creationId="{DE093FC6-E528-F092-0720-7B5B075E0D34}"/>
          </ac:spMkLst>
        </pc:spChg>
      </pc:sldChg>
      <pc:sldChg chg="ord">
        <pc:chgData name="Ellen Burnes" userId="ca3eeb36-3cf7-49b7-874f-4993e3c98b53" providerId="ADAL" clId="{524CEC4A-4A34-4CF1-A990-21F0907266E9}" dt="2025-09-24T17:17:54.881" v="206"/>
        <pc:sldMkLst>
          <pc:docMk/>
          <pc:sldMk cId="2733093429" sldId="258"/>
        </pc:sldMkLst>
      </pc:sldChg>
      <pc:sldChg chg="modAnim">
        <pc:chgData name="Ellen Burnes" userId="ca3eeb36-3cf7-49b7-874f-4993e3c98b53" providerId="ADAL" clId="{524CEC4A-4A34-4CF1-A990-21F0907266E9}" dt="2025-09-24T17:25:25.545" v="248"/>
        <pc:sldMkLst>
          <pc:docMk/>
          <pc:sldMk cId="2222341258" sldId="264"/>
        </pc:sldMkLst>
      </pc:sldChg>
      <pc:sldChg chg="modSp mod">
        <pc:chgData name="Ellen Burnes" userId="ca3eeb36-3cf7-49b7-874f-4993e3c98b53" providerId="ADAL" clId="{524CEC4A-4A34-4CF1-A990-21F0907266E9}" dt="2025-09-24T17:24:07.192" v="242" actId="255"/>
        <pc:sldMkLst>
          <pc:docMk/>
          <pc:sldMk cId="1768214700" sldId="270"/>
        </pc:sldMkLst>
        <pc:spChg chg="mod">
          <ac:chgData name="Ellen Burnes" userId="ca3eeb36-3cf7-49b7-874f-4993e3c98b53" providerId="ADAL" clId="{524CEC4A-4A34-4CF1-A990-21F0907266E9}" dt="2025-09-24T17:24:07.192" v="242" actId="255"/>
          <ac:spMkLst>
            <pc:docMk/>
            <pc:sldMk cId="1768214700" sldId="270"/>
            <ac:spMk id="2" creationId="{2F86ABDE-71C2-7E0E-D77A-68255078FAD9}"/>
          </ac:spMkLst>
        </pc:spChg>
      </pc:sldChg>
      <pc:sldChg chg="modSp new mod">
        <pc:chgData name="Ellen Burnes" userId="ca3eeb36-3cf7-49b7-874f-4993e3c98b53" providerId="ADAL" clId="{524CEC4A-4A34-4CF1-A990-21F0907266E9}" dt="2025-09-24T17:17:19.994" v="204" actId="20577"/>
        <pc:sldMkLst>
          <pc:docMk/>
          <pc:sldMk cId="3580103082" sldId="393"/>
        </pc:sldMkLst>
        <pc:spChg chg="mod">
          <ac:chgData name="Ellen Burnes" userId="ca3eeb36-3cf7-49b7-874f-4993e3c98b53" providerId="ADAL" clId="{524CEC4A-4A34-4CF1-A990-21F0907266E9}" dt="2025-09-24T17:14:14.525" v="44" actId="20577"/>
          <ac:spMkLst>
            <pc:docMk/>
            <pc:sldMk cId="3580103082" sldId="393"/>
            <ac:spMk id="2" creationId="{19FEF590-B228-7A36-9EF4-3C8E4E068E49}"/>
          </ac:spMkLst>
        </pc:spChg>
        <pc:spChg chg="mod">
          <ac:chgData name="Ellen Burnes" userId="ca3eeb36-3cf7-49b7-874f-4993e3c98b53" providerId="ADAL" clId="{524CEC4A-4A34-4CF1-A990-21F0907266E9}" dt="2025-09-24T17:17:19.994" v="204" actId="20577"/>
          <ac:spMkLst>
            <pc:docMk/>
            <pc:sldMk cId="3580103082" sldId="393"/>
            <ac:spMk id="3" creationId="{77695486-05B9-613F-09EA-D15CF210DA8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AA4E4-FD5E-2D40-863B-33B97B038A1A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D3AF525-AC0E-6044-BFBF-52FBCCBFF1EE}">
      <dgm:prSet phldrT="[Text]"/>
      <dgm:spPr/>
      <dgm:t>
        <a:bodyPr/>
        <a:lstStyle/>
        <a:p>
          <a:r>
            <a:rPr lang="en-US" dirty="0"/>
            <a:t>What is a VC/Investor</a:t>
          </a:r>
        </a:p>
      </dgm:t>
    </dgm:pt>
    <dgm:pt modelId="{63C18C4D-FC3D-1148-A0F5-917D80F549DB}" type="parTrans" cxnId="{7B46971E-4568-1147-BD9C-2443CBCEFE96}">
      <dgm:prSet/>
      <dgm:spPr/>
      <dgm:t>
        <a:bodyPr/>
        <a:lstStyle/>
        <a:p>
          <a:endParaRPr lang="en-US"/>
        </a:p>
      </dgm:t>
    </dgm:pt>
    <dgm:pt modelId="{42D03F2B-CB68-8142-B5FF-69B0E64707D2}" type="sibTrans" cxnId="{7B46971E-4568-1147-BD9C-2443CBCEFE96}">
      <dgm:prSet/>
      <dgm:spPr/>
      <dgm:t>
        <a:bodyPr/>
        <a:lstStyle/>
        <a:p>
          <a:endParaRPr lang="en-US"/>
        </a:p>
      </dgm:t>
    </dgm:pt>
    <dgm:pt modelId="{AD732E2B-9FE9-0442-A7D8-E09571849F0B}">
      <dgm:prSet phldrT="[Text]"/>
      <dgm:spPr/>
      <dgm:t>
        <a:bodyPr/>
        <a:lstStyle/>
        <a:p>
          <a:r>
            <a:rPr lang="en-US" dirty="0"/>
            <a:t>Deal Screening</a:t>
          </a:r>
        </a:p>
      </dgm:t>
    </dgm:pt>
    <dgm:pt modelId="{CB7DB2B6-3B30-9944-8255-578172939C08}" type="parTrans" cxnId="{69A3F4C6-E3F9-F149-AB4A-129749540CEC}">
      <dgm:prSet/>
      <dgm:spPr/>
      <dgm:t>
        <a:bodyPr/>
        <a:lstStyle/>
        <a:p>
          <a:endParaRPr lang="en-US"/>
        </a:p>
      </dgm:t>
    </dgm:pt>
    <dgm:pt modelId="{23C38141-9F92-264C-9DF8-C2DA320BCBB6}" type="sibTrans" cxnId="{69A3F4C6-E3F9-F149-AB4A-129749540CEC}">
      <dgm:prSet/>
      <dgm:spPr/>
      <dgm:t>
        <a:bodyPr/>
        <a:lstStyle/>
        <a:p>
          <a:endParaRPr lang="en-US"/>
        </a:p>
      </dgm:t>
    </dgm:pt>
    <dgm:pt modelId="{999562A0-640C-8F4C-B80A-806F84A2E699}">
      <dgm:prSet phldrT="[Text]"/>
      <dgm:spPr/>
      <dgm:t>
        <a:bodyPr/>
        <a:lstStyle/>
        <a:p>
          <a:r>
            <a:rPr lang="en-US" dirty="0"/>
            <a:t>Financial Statements</a:t>
          </a:r>
        </a:p>
      </dgm:t>
    </dgm:pt>
    <dgm:pt modelId="{9F92B240-2987-084E-97FD-96B0FD6C176F}" type="parTrans" cxnId="{EEEFE013-B969-C44B-A134-DFDC43E6C309}">
      <dgm:prSet/>
      <dgm:spPr/>
      <dgm:t>
        <a:bodyPr/>
        <a:lstStyle/>
        <a:p>
          <a:endParaRPr lang="en-US"/>
        </a:p>
      </dgm:t>
    </dgm:pt>
    <dgm:pt modelId="{E49088FE-DDAC-0240-AE53-6D7FB31E5E02}" type="sibTrans" cxnId="{EEEFE013-B969-C44B-A134-DFDC43E6C309}">
      <dgm:prSet/>
      <dgm:spPr/>
      <dgm:t>
        <a:bodyPr/>
        <a:lstStyle/>
        <a:p>
          <a:endParaRPr lang="en-US"/>
        </a:p>
      </dgm:t>
    </dgm:pt>
    <dgm:pt modelId="{B1F9300B-2CB4-0741-B4F6-A3B5DD6C59C6}">
      <dgm:prSet/>
      <dgm:spPr/>
      <dgm:t>
        <a:bodyPr/>
        <a:lstStyle/>
        <a:p>
          <a:r>
            <a:rPr lang="en-US" dirty="0"/>
            <a:t>Company Structure</a:t>
          </a:r>
        </a:p>
      </dgm:t>
    </dgm:pt>
    <dgm:pt modelId="{CF8AF611-D1C9-CE44-8616-E2027CA3B755}" type="parTrans" cxnId="{DEC540BB-AA35-A247-8445-AC0FA38C471B}">
      <dgm:prSet/>
      <dgm:spPr/>
      <dgm:t>
        <a:bodyPr/>
        <a:lstStyle/>
        <a:p>
          <a:endParaRPr lang="en-US"/>
        </a:p>
      </dgm:t>
    </dgm:pt>
    <dgm:pt modelId="{81886FD5-21E2-2D48-8712-A350266F6C34}" type="sibTrans" cxnId="{DEC540BB-AA35-A247-8445-AC0FA38C471B}">
      <dgm:prSet/>
      <dgm:spPr/>
      <dgm:t>
        <a:bodyPr/>
        <a:lstStyle/>
        <a:p>
          <a:endParaRPr lang="en-US"/>
        </a:p>
      </dgm:t>
    </dgm:pt>
    <dgm:pt modelId="{F36E10D7-37E3-9E4E-B6B2-B9E6F15D1B17}">
      <dgm:prSet/>
      <dgm:spPr/>
      <dgm:t>
        <a:bodyPr/>
        <a:lstStyle/>
        <a:p>
          <a:r>
            <a:rPr lang="en-US" dirty="0"/>
            <a:t>MT1</a:t>
          </a:r>
        </a:p>
      </dgm:t>
    </dgm:pt>
    <dgm:pt modelId="{D09F518B-DEE2-CD4B-91C4-A047098B790D}" type="parTrans" cxnId="{7FCCD5D9-FDF1-284B-A5FF-B2B77EB5E249}">
      <dgm:prSet/>
      <dgm:spPr/>
      <dgm:t>
        <a:bodyPr/>
        <a:lstStyle/>
        <a:p>
          <a:endParaRPr lang="en-US"/>
        </a:p>
      </dgm:t>
    </dgm:pt>
    <dgm:pt modelId="{D994FE63-159E-0248-8CC3-FD508107080C}" type="sibTrans" cxnId="{7FCCD5D9-FDF1-284B-A5FF-B2B77EB5E249}">
      <dgm:prSet/>
      <dgm:spPr/>
      <dgm:t>
        <a:bodyPr/>
        <a:lstStyle/>
        <a:p>
          <a:endParaRPr lang="en-US"/>
        </a:p>
      </dgm:t>
    </dgm:pt>
    <dgm:pt modelId="{510D55F6-9768-9945-9227-17AD0473E222}" type="pres">
      <dgm:prSet presAssocID="{074AA4E4-FD5E-2D40-863B-33B97B038A1A}" presName="Name0" presStyleCnt="0">
        <dgm:presLayoutVars>
          <dgm:dir/>
          <dgm:resizeHandles val="exact"/>
        </dgm:presLayoutVars>
      </dgm:prSet>
      <dgm:spPr/>
    </dgm:pt>
    <dgm:pt modelId="{0581DB47-5174-9F48-B3FD-EF1ACF278985}" type="pres">
      <dgm:prSet presAssocID="{7D3AF525-AC0E-6044-BFBF-52FBCCBFF1EE}" presName="node" presStyleLbl="node1" presStyleIdx="0" presStyleCnt="5">
        <dgm:presLayoutVars>
          <dgm:bulletEnabled val="1"/>
        </dgm:presLayoutVars>
      </dgm:prSet>
      <dgm:spPr/>
    </dgm:pt>
    <dgm:pt modelId="{4C1CCA73-2B79-8C4A-96E3-B3C01A5C73DA}" type="pres">
      <dgm:prSet presAssocID="{42D03F2B-CB68-8142-B5FF-69B0E64707D2}" presName="sibTrans" presStyleLbl="sibTrans2D1" presStyleIdx="0" presStyleCnt="4"/>
      <dgm:spPr/>
    </dgm:pt>
    <dgm:pt modelId="{D1761283-4F4B-B245-AEA5-2325B10F906A}" type="pres">
      <dgm:prSet presAssocID="{42D03F2B-CB68-8142-B5FF-69B0E64707D2}" presName="connectorText" presStyleLbl="sibTrans2D1" presStyleIdx="0" presStyleCnt="4"/>
      <dgm:spPr/>
    </dgm:pt>
    <dgm:pt modelId="{EB1C5006-DD39-0445-9707-EE5F966C47C9}" type="pres">
      <dgm:prSet presAssocID="{AD732E2B-9FE9-0442-A7D8-E09571849F0B}" presName="node" presStyleLbl="node1" presStyleIdx="1" presStyleCnt="5">
        <dgm:presLayoutVars>
          <dgm:bulletEnabled val="1"/>
        </dgm:presLayoutVars>
      </dgm:prSet>
      <dgm:spPr/>
    </dgm:pt>
    <dgm:pt modelId="{4C70400D-3971-5648-B7A7-01DFAFB327A4}" type="pres">
      <dgm:prSet presAssocID="{23C38141-9F92-264C-9DF8-C2DA320BCBB6}" presName="sibTrans" presStyleLbl="sibTrans2D1" presStyleIdx="1" presStyleCnt="4"/>
      <dgm:spPr/>
    </dgm:pt>
    <dgm:pt modelId="{9E56B6BE-9262-5F40-8B2B-097CC2A70475}" type="pres">
      <dgm:prSet presAssocID="{23C38141-9F92-264C-9DF8-C2DA320BCBB6}" presName="connectorText" presStyleLbl="sibTrans2D1" presStyleIdx="1" presStyleCnt="4"/>
      <dgm:spPr/>
    </dgm:pt>
    <dgm:pt modelId="{9FA2F55B-5C5C-4045-B503-991DCFB293EC}" type="pres">
      <dgm:prSet presAssocID="{999562A0-640C-8F4C-B80A-806F84A2E699}" presName="node" presStyleLbl="node1" presStyleIdx="2" presStyleCnt="5">
        <dgm:presLayoutVars>
          <dgm:bulletEnabled val="1"/>
        </dgm:presLayoutVars>
      </dgm:prSet>
      <dgm:spPr/>
    </dgm:pt>
    <dgm:pt modelId="{0E292F07-6767-3F4C-987A-D29FD3ECD9AE}" type="pres">
      <dgm:prSet presAssocID="{E49088FE-DDAC-0240-AE53-6D7FB31E5E02}" presName="sibTrans" presStyleLbl="sibTrans2D1" presStyleIdx="2" presStyleCnt="4"/>
      <dgm:spPr/>
    </dgm:pt>
    <dgm:pt modelId="{07FDDA51-C6AD-EB42-BD73-8205AD40FE16}" type="pres">
      <dgm:prSet presAssocID="{E49088FE-DDAC-0240-AE53-6D7FB31E5E02}" presName="connectorText" presStyleLbl="sibTrans2D1" presStyleIdx="2" presStyleCnt="4"/>
      <dgm:spPr/>
    </dgm:pt>
    <dgm:pt modelId="{8356B1A2-8305-5C40-80E3-CBAF3EE0E638}" type="pres">
      <dgm:prSet presAssocID="{B1F9300B-2CB4-0741-B4F6-A3B5DD6C59C6}" presName="node" presStyleLbl="node1" presStyleIdx="3" presStyleCnt="5">
        <dgm:presLayoutVars>
          <dgm:bulletEnabled val="1"/>
        </dgm:presLayoutVars>
      </dgm:prSet>
      <dgm:spPr/>
    </dgm:pt>
    <dgm:pt modelId="{7FAD30D6-D404-F94C-950E-6D271D6F8C15}" type="pres">
      <dgm:prSet presAssocID="{81886FD5-21E2-2D48-8712-A350266F6C34}" presName="sibTrans" presStyleLbl="sibTrans2D1" presStyleIdx="3" presStyleCnt="4"/>
      <dgm:spPr/>
    </dgm:pt>
    <dgm:pt modelId="{310A6E86-912E-0C42-A7D6-A6651282B9BA}" type="pres">
      <dgm:prSet presAssocID="{81886FD5-21E2-2D48-8712-A350266F6C34}" presName="connectorText" presStyleLbl="sibTrans2D1" presStyleIdx="3" presStyleCnt="4"/>
      <dgm:spPr/>
    </dgm:pt>
    <dgm:pt modelId="{1F1E0A6A-958E-AD49-AF92-CBFC47EC1F48}" type="pres">
      <dgm:prSet presAssocID="{F36E10D7-37E3-9E4E-B6B2-B9E6F15D1B17}" presName="node" presStyleLbl="node1" presStyleIdx="4" presStyleCnt="5">
        <dgm:presLayoutVars>
          <dgm:bulletEnabled val="1"/>
        </dgm:presLayoutVars>
      </dgm:prSet>
      <dgm:spPr/>
    </dgm:pt>
  </dgm:ptLst>
  <dgm:cxnLst>
    <dgm:cxn modelId="{93B9A300-7073-D84F-8F37-DB217709C447}" type="presOf" srcId="{42D03F2B-CB68-8142-B5FF-69B0E64707D2}" destId="{D1761283-4F4B-B245-AEA5-2325B10F906A}" srcOrd="1" destOrd="0" presId="urn:microsoft.com/office/officeart/2005/8/layout/process1"/>
    <dgm:cxn modelId="{15CDE011-B0D2-1C44-BE17-59B74E4E5E34}" type="presOf" srcId="{074AA4E4-FD5E-2D40-863B-33B97B038A1A}" destId="{510D55F6-9768-9945-9227-17AD0473E222}" srcOrd="0" destOrd="0" presId="urn:microsoft.com/office/officeart/2005/8/layout/process1"/>
    <dgm:cxn modelId="{EEEFE013-B969-C44B-A134-DFDC43E6C309}" srcId="{074AA4E4-FD5E-2D40-863B-33B97B038A1A}" destId="{999562A0-640C-8F4C-B80A-806F84A2E699}" srcOrd="2" destOrd="0" parTransId="{9F92B240-2987-084E-97FD-96B0FD6C176F}" sibTransId="{E49088FE-DDAC-0240-AE53-6D7FB31E5E02}"/>
    <dgm:cxn modelId="{7B46971E-4568-1147-BD9C-2443CBCEFE96}" srcId="{074AA4E4-FD5E-2D40-863B-33B97B038A1A}" destId="{7D3AF525-AC0E-6044-BFBF-52FBCCBFF1EE}" srcOrd="0" destOrd="0" parTransId="{63C18C4D-FC3D-1148-A0F5-917D80F549DB}" sibTransId="{42D03F2B-CB68-8142-B5FF-69B0E64707D2}"/>
    <dgm:cxn modelId="{D5FA9E22-B165-E647-9DFA-5D127885EE8F}" type="presOf" srcId="{F36E10D7-37E3-9E4E-B6B2-B9E6F15D1B17}" destId="{1F1E0A6A-958E-AD49-AF92-CBFC47EC1F48}" srcOrd="0" destOrd="0" presId="urn:microsoft.com/office/officeart/2005/8/layout/process1"/>
    <dgm:cxn modelId="{97940A27-6556-7A4E-8DB4-B7E487B068CD}" type="presOf" srcId="{B1F9300B-2CB4-0741-B4F6-A3B5DD6C59C6}" destId="{8356B1A2-8305-5C40-80E3-CBAF3EE0E638}" srcOrd="0" destOrd="0" presId="urn:microsoft.com/office/officeart/2005/8/layout/process1"/>
    <dgm:cxn modelId="{D8BEF23A-F133-9744-9B09-DACA0C1B5C96}" type="presOf" srcId="{42D03F2B-CB68-8142-B5FF-69B0E64707D2}" destId="{4C1CCA73-2B79-8C4A-96E3-B3C01A5C73DA}" srcOrd="0" destOrd="0" presId="urn:microsoft.com/office/officeart/2005/8/layout/process1"/>
    <dgm:cxn modelId="{2DFC0C44-DA21-254B-8346-A1A70A0BFB34}" type="presOf" srcId="{7D3AF525-AC0E-6044-BFBF-52FBCCBFF1EE}" destId="{0581DB47-5174-9F48-B3FD-EF1ACF278985}" srcOrd="0" destOrd="0" presId="urn:microsoft.com/office/officeart/2005/8/layout/process1"/>
    <dgm:cxn modelId="{4E002650-2284-3D4B-B051-37B1827A9914}" type="presOf" srcId="{AD732E2B-9FE9-0442-A7D8-E09571849F0B}" destId="{EB1C5006-DD39-0445-9707-EE5F966C47C9}" srcOrd="0" destOrd="0" presId="urn:microsoft.com/office/officeart/2005/8/layout/process1"/>
    <dgm:cxn modelId="{7CE8C152-920A-4A47-9820-0C86E0EA90A9}" type="presOf" srcId="{23C38141-9F92-264C-9DF8-C2DA320BCBB6}" destId="{4C70400D-3971-5648-B7A7-01DFAFB327A4}" srcOrd="0" destOrd="0" presId="urn:microsoft.com/office/officeart/2005/8/layout/process1"/>
    <dgm:cxn modelId="{6B72AC95-874C-0846-B269-478CAF3C1EB3}" type="presOf" srcId="{23C38141-9F92-264C-9DF8-C2DA320BCBB6}" destId="{9E56B6BE-9262-5F40-8B2B-097CC2A70475}" srcOrd="1" destOrd="0" presId="urn:microsoft.com/office/officeart/2005/8/layout/process1"/>
    <dgm:cxn modelId="{71B177B4-9C78-7C47-8C25-7F0F5DFA0173}" type="presOf" srcId="{E49088FE-DDAC-0240-AE53-6D7FB31E5E02}" destId="{07FDDA51-C6AD-EB42-BD73-8205AD40FE16}" srcOrd="1" destOrd="0" presId="urn:microsoft.com/office/officeart/2005/8/layout/process1"/>
    <dgm:cxn modelId="{DEC540BB-AA35-A247-8445-AC0FA38C471B}" srcId="{074AA4E4-FD5E-2D40-863B-33B97B038A1A}" destId="{B1F9300B-2CB4-0741-B4F6-A3B5DD6C59C6}" srcOrd="3" destOrd="0" parTransId="{CF8AF611-D1C9-CE44-8616-E2027CA3B755}" sibTransId="{81886FD5-21E2-2D48-8712-A350266F6C34}"/>
    <dgm:cxn modelId="{99871AC5-C9CF-884A-8F37-40C400DDEA66}" type="presOf" srcId="{999562A0-640C-8F4C-B80A-806F84A2E699}" destId="{9FA2F55B-5C5C-4045-B503-991DCFB293EC}" srcOrd="0" destOrd="0" presId="urn:microsoft.com/office/officeart/2005/8/layout/process1"/>
    <dgm:cxn modelId="{69A3F4C6-E3F9-F149-AB4A-129749540CEC}" srcId="{074AA4E4-FD5E-2D40-863B-33B97B038A1A}" destId="{AD732E2B-9FE9-0442-A7D8-E09571849F0B}" srcOrd="1" destOrd="0" parTransId="{CB7DB2B6-3B30-9944-8255-578172939C08}" sibTransId="{23C38141-9F92-264C-9DF8-C2DA320BCBB6}"/>
    <dgm:cxn modelId="{BFD458D8-76A8-FE48-86BF-CCCA89BB6AD2}" type="presOf" srcId="{81886FD5-21E2-2D48-8712-A350266F6C34}" destId="{7FAD30D6-D404-F94C-950E-6D271D6F8C15}" srcOrd="0" destOrd="0" presId="urn:microsoft.com/office/officeart/2005/8/layout/process1"/>
    <dgm:cxn modelId="{7FCCD5D9-FDF1-284B-A5FF-B2B77EB5E249}" srcId="{074AA4E4-FD5E-2D40-863B-33B97B038A1A}" destId="{F36E10D7-37E3-9E4E-B6B2-B9E6F15D1B17}" srcOrd="4" destOrd="0" parTransId="{D09F518B-DEE2-CD4B-91C4-A047098B790D}" sibTransId="{D994FE63-159E-0248-8CC3-FD508107080C}"/>
    <dgm:cxn modelId="{A8A1E2D9-0485-1347-85BE-A491912B87F7}" type="presOf" srcId="{E49088FE-DDAC-0240-AE53-6D7FB31E5E02}" destId="{0E292F07-6767-3F4C-987A-D29FD3ECD9AE}" srcOrd="0" destOrd="0" presId="urn:microsoft.com/office/officeart/2005/8/layout/process1"/>
    <dgm:cxn modelId="{08BCB5F6-0C93-574F-89E9-C2871AAF5DE3}" type="presOf" srcId="{81886FD5-21E2-2D48-8712-A350266F6C34}" destId="{310A6E86-912E-0C42-A7D6-A6651282B9BA}" srcOrd="1" destOrd="0" presId="urn:microsoft.com/office/officeart/2005/8/layout/process1"/>
    <dgm:cxn modelId="{D01F39B6-32A5-6246-9577-FE2DF1DF4070}" type="presParOf" srcId="{510D55F6-9768-9945-9227-17AD0473E222}" destId="{0581DB47-5174-9F48-B3FD-EF1ACF278985}" srcOrd="0" destOrd="0" presId="urn:microsoft.com/office/officeart/2005/8/layout/process1"/>
    <dgm:cxn modelId="{DCD354A6-D666-9748-8C0F-B7D1EF3F332C}" type="presParOf" srcId="{510D55F6-9768-9945-9227-17AD0473E222}" destId="{4C1CCA73-2B79-8C4A-96E3-B3C01A5C73DA}" srcOrd="1" destOrd="0" presId="urn:microsoft.com/office/officeart/2005/8/layout/process1"/>
    <dgm:cxn modelId="{B29036E2-ADBD-7E45-B9BC-82093617AE6A}" type="presParOf" srcId="{4C1CCA73-2B79-8C4A-96E3-B3C01A5C73DA}" destId="{D1761283-4F4B-B245-AEA5-2325B10F906A}" srcOrd="0" destOrd="0" presId="urn:microsoft.com/office/officeart/2005/8/layout/process1"/>
    <dgm:cxn modelId="{34E75BD5-7D12-4940-9AE1-1F7DCDC1D7E5}" type="presParOf" srcId="{510D55F6-9768-9945-9227-17AD0473E222}" destId="{EB1C5006-DD39-0445-9707-EE5F966C47C9}" srcOrd="2" destOrd="0" presId="urn:microsoft.com/office/officeart/2005/8/layout/process1"/>
    <dgm:cxn modelId="{EFC72A1B-DAA1-9745-8A6D-CF3CBA87B1D2}" type="presParOf" srcId="{510D55F6-9768-9945-9227-17AD0473E222}" destId="{4C70400D-3971-5648-B7A7-01DFAFB327A4}" srcOrd="3" destOrd="0" presId="urn:microsoft.com/office/officeart/2005/8/layout/process1"/>
    <dgm:cxn modelId="{ADC7287E-BBAE-D644-A076-1DDD63E30776}" type="presParOf" srcId="{4C70400D-3971-5648-B7A7-01DFAFB327A4}" destId="{9E56B6BE-9262-5F40-8B2B-097CC2A70475}" srcOrd="0" destOrd="0" presId="urn:microsoft.com/office/officeart/2005/8/layout/process1"/>
    <dgm:cxn modelId="{0C713F61-D2D6-D84F-B89C-ABA99327F8F0}" type="presParOf" srcId="{510D55F6-9768-9945-9227-17AD0473E222}" destId="{9FA2F55B-5C5C-4045-B503-991DCFB293EC}" srcOrd="4" destOrd="0" presId="urn:microsoft.com/office/officeart/2005/8/layout/process1"/>
    <dgm:cxn modelId="{74979B56-D9B2-FE45-8B2F-7B6133432334}" type="presParOf" srcId="{510D55F6-9768-9945-9227-17AD0473E222}" destId="{0E292F07-6767-3F4C-987A-D29FD3ECD9AE}" srcOrd="5" destOrd="0" presId="urn:microsoft.com/office/officeart/2005/8/layout/process1"/>
    <dgm:cxn modelId="{1DCC25C5-9EED-7E41-A9E4-77F228D9E5BB}" type="presParOf" srcId="{0E292F07-6767-3F4C-987A-D29FD3ECD9AE}" destId="{07FDDA51-C6AD-EB42-BD73-8205AD40FE16}" srcOrd="0" destOrd="0" presId="urn:microsoft.com/office/officeart/2005/8/layout/process1"/>
    <dgm:cxn modelId="{10D07270-4B10-5D40-B964-DCFF6D6A9456}" type="presParOf" srcId="{510D55F6-9768-9945-9227-17AD0473E222}" destId="{8356B1A2-8305-5C40-80E3-CBAF3EE0E638}" srcOrd="6" destOrd="0" presId="urn:microsoft.com/office/officeart/2005/8/layout/process1"/>
    <dgm:cxn modelId="{29424F6D-2631-B440-9E7D-C5CFA3B02227}" type="presParOf" srcId="{510D55F6-9768-9945-9227-17AD0473E222}" destId="{7FAD30D6-D404-F94C-950E-6D271D6F8C15}" srcOrd="7" destOrd="0" presId="urn:microsoft.com/office/officeart/2005/8/layout/process1"/>
    <dgm:cxn modelId="{1AD81C56-1230-D643-A2A7-FDDA2FB7D346}" type="presParOf" srcId="{7FAD30D6-D404-F94C-950E-6D271D6F8C15}" destId="{310A6E86-912E-0C42-A7D6-A6651282B9BA}" srcOrd="0" destOrd="0" presId="urn:microsoft.com/office/officeart/2005/8/layout/process1"/>
    <dgm:cxn modelId="{902B1E32-82D6-5246-8619-075E25F27969}" type="presParOf" srcId="{510D55F6-9768-9945-9227-17AD0473E222}" destId="{1F1E0A6A-958E-AD49-AF92-CBFC47EC1F4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FF42AA-3214-2D43-9512-80139F0A1543}" type="doc">
      <dgm:prSet loTypeId="urn:microsoft.com/office/officeart/2005/8/layout/process1" loCatId="" qsTypeId="urn:microsoft.com/office/officeart/2005/8/quickstyle/simple1" qsCatId="simple" csTypeId="urn:microsoft.com/office/officeart/2005/8/colors/accent3_2" csCatId="accent3" phldr="1"/>
      <dgm:spPr/>
    </dgm:pt>
    <dgm:pt modelId="{AFC17AF3-44BF-AE42-AF9F-034248B602EA}">
      <dgm:prSet phldrT="[Text]"/>
      <dgm:spPr/>
      <dgm:t>
        <a:bodyPr/>
        <a:lstStyle/>
        <a:p>
          <a:r>
            <a:rPr lang="en-US"/>
            <a:t>Fin Performance</a:t>
          </a:r>
        </a:p>
      </dgm:t>
    </dgm:pt>
    <dgm:pt modelId="{37DC86D6-9A5E-0348-BE03-C3B949AE769C}" type="parTrans" cxnId="{CB0B864A-49E0-5A48-8721-BAB10871E2A4}">
      <dgm:prSet/>
      <dgm:spPr/>
      <dgm:t>
        <a:bodyPr/>
        <a:lstStyle/>
        <a:p>
          <a:endParaRPr lang="en-US"/>
        </a:p>
      </dgm:t>
    </dgm:pt>
    <dgm:pt modelId="{1CB4B266-C53C-2440-BAE7-2B2F7C3C8237}" type="sibTrans" cxnId="{CB0B864A-49E0-5A48-8721-BAB10871E2A4}">
      <dgm:prSet/>
      <dgm:spPr/>
      <dgm:t>
        <a:bodyPr/>
        <a:lstStyle/>
        <a:p>
          <a:endParaRPr lang="en-US"/>
        </a:p>
      </dgm:t>
    </dgm:pt>
    <dgm:pt modelId="{342F0CC9-0184-8942-967B-88EC6CED6B16}">
      <dgm:prSet phldrT="[Text]"/>
      <dgm:spPr/>
      <dgm:t>
        <a:bodyPr/>
        <a:lstStyle/>
        <a:p>
          <a:r>
            <a:rPr lang="en-US" dirty="0"/>
            <a:t>Forecasting/</a:t>
          </a:r>
        </a:p>
        <a:p>
          <a:r>
            <a:rPr lang="en-US" dirty="0"/>
            <a:t>Cash</a:t>
          </a:r>
        </a:p>
      </dgm:t>
    </dgm:pt>
    <dgm:pt modelId="{7D9F1B33-D06E-E44C-B138-2415D30D7EA4}" type="parTrans" cxnId="{15513DE2-AA8C-DC47-A585-4F11421AB3D0}">
      <dgm:prSet/>
      <dgm:spPr/>
      <dgm:t>
        <a:bodyPr/>
        <a:lstStyle/>
        <a:p>
          <a:endParaRPr lang="en-US"/>
        </a:p>
      </dgm:t>
    </dgm:pt>
    <dgm:pt modelId="{6F23E306-D564-9A40-9E1D-DA25C5BFE51F}" type="sibTrans" cxnId="{15513DE2-AA8C-DC47-A585-4F11421AB3D0}">
      <dgm:prSet/>
      <dgm:spPr/>
      <dgm:t>
        <a:bodyPr/>
        <a:lstStyle/>
        <a:p>
          <a:endParaRPr lang="en-US"/>
        </a:p>
      </dgm:t>
    </dgm:pt>
    <dgm:pt modelId="{FF6E671D-3B64-7847-B344-AD15E5710EFB}">
      <dgm:prSet phldrT="[Text]"/>
      <dgm:spPr/>
      <dgm:t>
        <a:bodyPr/>
        <a:lstStyle/>
        <a:p>
          <a:r>
            <a:rPr lang="en-US" dirty="0"/>
            <a:t>Regulatory Framework</a:t>
          </a:r>
        </a:p>
      </dgm:t>
    </dgm:pt>
    <dgm:pt modelId="{E42A5662-6391-4045-8A9C-E0BC3F17CA07}" type="parTrans" cxnId="{FF404841-9974-4648-BFB5-14E1EA5E2C12}">
      <dgm:prSet/>
      <dgm:spPr/>
      <dgm:t>
        <a:bodyPr/>
        <a:lstStyle/>
        <a:p>
          <a:endParaRPr lang="en-US"/>
        </a:p>
      </dgm:t>
    </dgm:pt>
    <dgm:pt modelId="{1E4027F0-A7E4-E64C-8808-F8032E756973}" type="sibTrans" cxnId="{FF404841-9974-4648-BFB5-14E1EA5E2C12}">
      <dgm:prSet/>
      <dgm:spPr/>
      <dgm:t>
        <a:bodyPr/>
        <a:lstStyle/>
        <a:p>
          <a:endParaRPr lang="en-US"/>
        </a:p>
      </dgm:t>
    </dgm:pt>
    <dgm:pt modelId="{6C394E50-441C-AD47-9433-75FB4EB598DC}">
      <dgm:prSet/>
      <dgm:spPr/>
      <dgm:t>
        <a:bodyPr/>
        <a:lstStyle/>
        <a:p>
          <a:r>
            <a:rPr lang="en-US" dirty="0"/>
            <a:t>MT2</a:t>
          </a:r>
        </a:p>
      </dgm:t>
    </dgm:pt>
    <dgm:pt modelId="{810B9802-839B-774D-87B0-CC91F66BE328}" type="parTrans" cxnId="{51F74146-E5A6-8D41-8DB9-2CDC1E65732A}">
      <dgm:prSet/>
      <dgm:spPr/>
      <dgm:t>
        <a:bodyPr/>
        <a:lstStyle/>
        <a:p>
          <a:endParaRPr lang="en-US"/>
        </a:p>
      </dgm:t>
    </dgm:pt>
    <dgm:pt modelId="{BAC902CC-3540-B24E-B632-6582385C5321}" type="sibTrans" cxnId="{51F74146-E5A6-8D41-8DB9-2CDC1E65732A}">
      <dgm:prSet/>
      <dgm:spPr/>
      <dgm:t>
        <a:bodyPr/>
        <a:lstStyle/>
        <a:p>
          <a:endParaRPr lang="en-US"/>
        </a:p>
      </dgm:t>
    </dgm:pt>
    <dgm:pt modelId="{D6B54DC4-6BA6-5F4A-AB0E-BF2C75822F13}" type="pres">
      <dgm:prSet presAssocID="{87FF42AA-3214-2D43-9512-80139F0A1543}" presName="Name0" presStyleCnt="0">
        <dgm:presLayoutVars>
          <dgm:dir/>
          <dgm:resizeHandles val="exact"/>
        </dgm:presLayoutVars>
      </dgm:prSet>
      <dgm:spPr/>
    </dgm:pt>
    <dgm:pt modelId="{C306C7C0-7EE3-5749-B764-6339EC5BC848}" type="pres">
      <dgm:prSet presAssocID="{AFC17AF3-44BF-AE42-AF9F-034248B602EA}" presName="node" presStyleLbl="node1" presStyleIdx="0" presStyleCnt="4">
        <dgm:presLayoutVars>
          <dgm:bulletEnabled val="1"/>
        </dgm:presLayoutVars>
      </dgm:prSet>
      <dgm:spPr/>
    </dgm:pt>
    <dgm:pt modelId="{B095352F-D8C7-DC4A-A3F1-DCDECE29DB31}" type="pres">
      <dgm:prSet presAssocID="{1CB4B266-C53C-2440-BAE7-2B2F7C3C8237}" presName="sibTrans" presStyleLbl="sibTrans2D1" presStyleIdx="0" presStyleCnt="3"/>
      <dgm:spPr/>
    </dgm:pt>
    <dgm:pt modelId="{B84C8CD9-CD31-754A-8964-F12E1993C71B}" type="pres">
      <dgm:prSet presAssocID="{1CB4B266-C53C-2440-BAE7-2B2F7C3C8237}" presName="connectorText" presStyleLbl="sibTrans2D1" presStyleIdx="0" presStyleCnt="3"/>
      <dgm:spPr/>
    </dgm:pt>
    <dgm:pt modelId="{B6CCB5DE-D55E-2A42-8F8C-4F1321227E0C}" type="pres">
      <dgm:prSet presAssocID="{342F0CC9-0184-8942-967B-88EC6CED6B16}" presName="node" presStyleLbl="node1" presStyleIdx="1" presStyleCnt="4">
        <dgm:presLayoutVars>
          <dgm:bulletEnabled val="1"/>
        </dgm:presLayoutVars>
      </dgm:prSet>
      <dgm:spPr/>
    </dgm:pt>
    <dgm:pt modelId="{952B2FC8-09A8-C94A-BA89-6CD1AD0A36BD}" type="pres">
      <dgm:prSet presAssocID="{6F23E306-D564-9A40-9E1D-DA25C5BFE51F}" presName="sibTrans" presStyleLbl="sibTrans2D1" presStyleIdx="1" presStyleCnt="3"/>
      <dgm:spPr/>
    </dgm:pt>
    <dgm:pt modelId="{759490F6-4955-6C4E-92B0-9EE3F53DA345}" type="pres">
      <dgm:prSet presAssocID="{6F23E306-D564-9A40-9E1D-DA25C5BFE51F}" presName="connectorText" presStyleLbl="sibTrans2D1" presStyleIdx="1" presStyleCnt="3"/>
      <dgm:spPr/>
    </dgm:pt>
    <dgm:pt modelId="{698BE697-503B-E148-A4EC-E4690F10D1F3}" type="pres">
      <dgm:prSet presAssocID="{FF6E671D-3B64-7847-B344-AD15E5710EFB}" presName="node" presStyleLbl="node1" presStyleIdx="2" presStyleCnt="4">
        <dgm:presLayoutVars>
          <dgm:bulletEnabled val="1"/>
        </dgm:presLayoutVars>
      </dgm:prSet>
      <dgm:spPr/>
    </dgm:pt>
    <dgm:pt modelId="{A71F1485-B47D-6849-85E8-82FE4F236B0D}" type="pres">
      <dgm:prSet presAssocID="{1E4027F0-A7E4-E64C-8808-F8032E756973}" presName="sibTrans" presStyleLbl="sibTrans2D1" presStyleIdx="2" presStyleCnt="3"/>
      <dgm:spPr/>
    </dgm:pt>
    <dgm:pt modelId="{D2AF730F-74B1-5844-A21F-3E2197B57526}" type="pres">
      <dgm:prSet presAssocID="{1E4027F0-A7E4-E64C-8808-F8032E756973}" presName="connectorText" presStyleLbl="sibTrans2D1" presStyleIdx="2" presStyleCnt="3"/>
      <dgm:spPr/>
    </dgm:pt>
    <dgm:pt modelId="{63F784A7-D0CB-AC47-AF16-455EB8127E98}" type="pres">
      <dgm:prSet presAssocID="{6C394E50-441C-AD47-9433-75FB4EB598DC}" presName="node" presStyleLbl="node1" presStyleIdx="3" presStyleCnt="4">
        <dgm:presLayoutVars>
          <dgm:bulletEnabled val="1"/>
        </dgm:presLayoutVars>
      </dgm:prSet>
      <dgm:spPr/>
    </dgm:pt>
  </dgm:ptLst>
  <dgm:cxnLst>
    <dgm:cxn modelId="{196BD410-9290-4746-8E38-3CB8FB8370DD}" type="presOf" srcId="{1CB4B266-C53C-2440-BAE7-2B2F7C3C8237}" destId="{B84C8CD9-CD31-754A-8964-F12E1993C71B}" srcOrd="1" destOrd="0" presId="urn:microsoft.com/office/officeart/2005/8/layout/process1"/>
    <dgm:cxn modelId="{0D72D519-F87F-2E4B-85E0-10F04D2F0104}" type="presOf" srcId="{AFC17AF3-44BF-AE42-AF9F-034248B602EA}" destId="{C306C7C0-7EE3-5749-B764-6339EC5BC848}" srcOrd="0" destOrd="0" presId="urn:microsoft.com/office/officeart/2005/8/layout/process1"/>
    <dgm:cxn modelId="{FF404841-9974-4648-BFB5-14E1EA5E2C12}" srcId="{87FF42AA-3214-2D43-9512-80139F0A1543}" destId="{FF6E671D-3B64-7847-B344-AD15E5710EFB}" srcOrd="2" destOrd="0" parTransId="{E42A5662-6391-4045-8A9C-E0BC3F17CA07}" sibTransId="{1E4027F0-A7E4-E64C-8808-F8032E756973}"/>
    <dgm:cxn modelId="{77A6A764-EC1E-714C-9534-D3909F9886D3}" type="presOf" srcId="{6F23E306-D564-9A40-9E1D-DA25C5BFE51F}" destId="{759490F6-4955-6C4E-92B0-9EE3F53DA345}" srcOrd="1" destOrd="0" presId="urn:microsoft.com/office/officeart/2005/8/layout/process1"/>
    <dgm:cxn modelId="{51F74146-E5A6-8D41-8DB9-2CDC1E65732A}" srcId="{87FF42AA-3214-2D43-9512-80139F0A1543}" destId="{6C394E50-441C-AD47-9433-75FB4EB598DC}" srcOrd="3" destOrd="0" parTransId="{810B9802-839B-774D-87B0-CC91F66BE328}" sibTransId="{BAC902CC-3540-B24E-B632-6582385C5321}"/>
    <dgm:cxn modelId="{CB0B864A-49E0-5A48-8721-BAB10871E2A4}" srcId="{87FF42AA-3214-2D43-9512-80139F0A1543}" destId="{AFC17AF3-44BF-AE42-AF9F-034248B602EA}" srcOrd="0" destOrd="0" parTransId="{37DC86D6-9A5E-0348-BE03-C3B949AE769C}" sibTransId="{1CB4B266-C53C-2440-BAE7-2B2F7C3C8237}"/>
    <dgm:cxn modelId="{9351A94A-6318-3541-9DE5-AB8FA9BB80CD}" type="presOf" srcId="{FF6E671D-3B64-7847-B344-AD15E5710EFB}" destId="{698BE697-503B-E148-A4EC-E4690F10D1F3}" srcOrd="0" destOrd="0" presId="urn:microsoft.com/office/officeart/2005/8/layout/process1"/>
    <dgm:cxn modelId="{53D18F7E-3341-904B-8199-887AD66DB934}" type="presOf" srcId="{342F0CC9-0184-8942-967B-88EC6CED6B16}" destId="{B6CCB5DE-D55E-2A42-8F8C-4F1321227E0C}" srcOrd="0" destOrd="0" presId="urn:microsoft.com/office/officeart/2005/8/layout/process1"/>
    <dgm:cxn modelId="{735FB87E-296A-6C4E-8BB8-A4B921F688D7}" type="presOf" srcId="{1E4027F0-A7E4-E64C-8808-F8032E756973}" destId="{A71F1485-B47D-6849-85E8-82FE4F236B0D}" srcOrd="0" destOrd="0" presId="urn:microsoft.com/office/officeart/2005/8/layout/process1"/>
    <dgm:cxn modelId="{96C769B5-B80C-E847-B821-9410AE0B6941}" type="presOf" srcId="{87FF42AA-3214-2D43-9512-80139F0A1543}" destId="{D6B54DC4-6BA6-5F4A-AB0E-BF2C75822F13}" srcOrd="0" destOrd="0" presId="urn:microsoft.com/office/officeart/2005/8/layout/process1"/>
    <dgm:cxn modelId="{69F812D1-BC8D-304A-9244-DDA426D66891}" type="presOf" srcId="{1E4027F0-A7E4-E64C-8808-F8032E756973}" destId="{D2AF730F-74B1-5844-A21F-3E2197B57526}" srcOrd="1" destOrd="0" presId="urn:microsoft.com/office/officeart/2005/8/layout/process1"/>
    <dgm:cxn modelId="{8DFCEED7-59AE-B041-A4EE-5706D8215796}" type="presOf" srcId="{6C394E50-441C-AD47-9433-75FB4EB598DC}" destId="{63F784A7-D0CB-AC47-AF16-455EB8127E98}" srcOrd="0" destOrd="0" presId="urn:microsoft.com/office/officeart/2005/8/layout/process1"/>
    <dgm:cxn modelId="{15513DE2-AA8C-DC47-A585-4F11421AB3D0}" srcId="{87FF42AA-3214-2D43-9512-80139F0A1543}" destId="{342F0CC9-0184-8942-967B-88EC6CED6B16}" srcOrd="1" destOrd="0" parTransId="{7D9F1B33-D06E-E44C-B138-2415D30D7EA4}" sibTransId="{6F23E306-D564-9A40-9E1D-DA25C5BFE51F}"/>
    <dgm:cxn modelId="{8162F0E7-9973-9049-A895-F50F7AED25D8}" type="presOf" srcId="{6F23E306-D564-9A40-9E1D-DA25C5BFE51F}" destId="{952B2FC8-09A8-C94A-BA89-6CD1AD0A36BD}" srcOrd="0" destOrd="0" presId="urn:microsoft.com/office/officeart/2005/8/layout/process1"/>
    <dgm:cxn modelId="{55A8FFEB-207D-384A-B235-00E2C0125373}" type="presOf" srcId="{1CB4B266-C53C-2440-BAE7-2B2F7C3C8237}" destId="{B095352F-D8C7-DC4A-A3F1-DCDECE29DB31}" srcOrd="0" destOrd="0" presId="urn:microsoft.com/office/officeart/2005/8/layout/process1"/>
    <dgm:cxn modelId="{86E5AD35-84A4-4047-8682-6789BB0D2499}" type="presParOf" srcId="{D6B54DC4-6BA6-5F4A-AB0E-BF2C75822F13}" destId="{C306C7C0-7EE3-5749-B764-6339EC5BC848}" srcOrd="0" destOrd="0" presId="urn:microsoft.com/office/officeart/2005/8/layout/process1"/>
    <dgm:cxn modelId="{1D87EDF3-5F69-9C4C-9E77-A51C494FE6D4}" type="presParOf" srcId="{D6B54DC4-6BA6-5F4A-AB0E-BF2C75822F13}" destId="{B095352F-D8C7-DC4A-A3F1-DCDECE29DB31}" srcOrd="1" destOrd="0" presId="urn:microsoft.com/office/officeart/2005/8/layout/process1"/>
    <dgm:cxn modelId="{886C6D5A-3EBE-8242-B86C-74F49AFBD3DA}" type="presParOf" srcId="{B095352F-D8C7-DC4A-A3F1-DCDECE29DB31}" destId="{B84C8CD9-CD31-754A-8964-F12E1993C71B}" srcOrd="0" destOrd="0" presId="urn:microsoft.com/office/officeart/2005/8/layout/process1"/>
    <dgm:cxn modelId="{6448D8C3-3313-DB4C-A683-FDDD8ED38C65}" type="presParOf" srcId="{D6B54DC4-6BA6-5F4A-AB0E-BF2C75822F13}" destId="{B6CCB5DE-D55E-2A42-8F8C-4F1321227E0C}" srcOrd="2" destOrd="0" presId="urn:microsoft.com/office/officeart/2005/8/layout/process1"/>
    <dgm:cxn modelId="{92EFC979-2603-8D4F-B6D1-C359B7628644}" type="presParOf" srcId="{D6B54DC4-6BA6-5F4A-AB0E-BF2C75822F13}" destId="{952B2FC8-09A8-C94A-BA89-6CD1AD0A36BD}" srcOrd="3" destOrd="0" presId="urn:microsoft.com/office/officeart/2005/8/layout/process1"/>
    <dgm:cxn modelId="{01638FBA-2133-9246-A491-8B10BA7ED077}" type="presParOf" srcId="{952B2FC8-09A8-C94A-BA89-6CD1AD0A36BD}" destId="{759490F6-4955-6C4E-92B0-9EE3F53DA345}" srcOrd="0" destOrd="0" presId="urn:microsoft.com/office/officeart/2005/8/layout/process1"/>
    <dgm:cxn modelId="{A54511E4-2B17-9347-9E85-132746BFF929}" type="presParOf" srcId="{D6B54DC4-6BA6-5F4A-AB0E-BF2C75822F13}" destId="{698BE697-503B-E148-A4EC-E4690F10D1F3}" srcOrd="4" destOrd="0" presId="urn:microsoft.com/office/officeart/2005/8/layout/process1"/>
    <dgm:cxn modelId="{2CEF5B71-BA91-204A-9BEA-4B9D512D28E0}" type="presParOf" srcId="{D6B54DC4-6BA6-5F4A-AB0E-BF2C75822F13}" destId="{A71F1485-B47D-6849-85E8-82FE4F236B0D}" srcOrd="5" destOrd="0" presId="urn:microsoft.com/office/officeart/2005/8/layout/process1"/>
    <dgm:cxn modelId="{CBA1A252-C32C-0D46-AF3E-94D60D0211FF}" type="presParOf" srcId="{A71F1485-B47D-6849-85E8-82FE4F236B0D}" destId="{D2AF730F-74B1-5844-A21F-3E2197B57526}" srcOrd="0" destOrd="0" presId="urn:microsoft.com/office/officeart/2005/8/layout/process1"/>
    <dgm:cxn modelId="{9586BE6D-80FC-EA44-933E-026D37501C2A}" type="presParOf" srcId="{D6B54DC4-6BA6-5F4A-AB0E-BF2C75822F13}" destId="{63F784A7-D0CB-AC47-AF16-455EB8127E9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A1814F-7FED-6D47-A371-6E59D71EFE02}" type="doc">
      <dgm:prSet loTypeId="urn:microsoft.com/office/officeart/2005/8/layout/process1" loCatId="" qsTypeId="urn:microsoft.com/office/officeart/2005/8/quickstyle/simple1" qsCatId="simple" csTypeId="urn:microsoft.com/office/officeart/2005/8/colors/accent0_3" csCatId="mainScheme" phldr="1"/>
      <dgm:spPr/>
    </dgm:pt>
    <dgm:pt modelId="{9D2AC7A8-BB98-544E-8801-FE2A7EA20B4F}">
      <dgm:prSet phldrT="[Text]"/>
      <dgm:spPr/>
      <dgm:t>
        <a:bodyPr/>
        <a:lstStyle/>
        <a:p>
          <a:r>
            <a:rPr lang="en-US" dirty="0"/>
            <a:t>Pro </a:t>
          </a:r>
          <a:r>
            <a:rPr lang="en-US" dirty="0" err="1"/>
            <a:t>Formas</a:t>
          </a:r>
          <a:endParaRPr lang="en-US" dirty="0"/>
        </a:p>
      </dgm:t>
    </dgm:pt>
    <dgm:pt modelId="{B88BB0CD-D5AE-1940-9C62-0B09DE5E88DF}" type="parTrans" cxnId="{D68391AE-AE4D-A94C-A03A-C957A3D4DF39}">
      <dgm:prSet/>
      <dgm:spPr/>
      <dgm:t>
        <a:bodyPr/>
        <a:lstStyle/>
        <a:p>
          <a:endParaRPr lang="en-US"/>
        </a:p>
      </dgm:t>
    </dgm:pt>
    <dgm:pt modelId="{3E7DB108-0623-9746-A209-3B82FBC66D4B}" type="sibTrans" cxnId="{D68391AE-AE4D-A94C-A03A-C957A3D4DF39}">
      <dgm:prSet/>
      <dgm:spPr/>
      <dgm:t>
        <a:bodyPr/>
        <a:lstStyle/>
        <a:p>
          <a:endParaRPr lang="en-US"/>
        </a:p>
      </dgm:t>
    </dgm:pt>
    <dgm:pt modelId="{93DB5A7C-AFAC-C641-A649-B2B70BFFE695}">
      <dgm:prSet phldrT="[Text]"/>
      <dgm:spPr/>
      <dgm:t>
        <a:bodyPr/>
        <a:lstStyle/>
        <a:p>
          <a:r>
            <a:rPr lang="en-US" dirty="0"/>
            <a:t>NPV Valuation</a:t>
          </a:r>
        </a:p>
      </dgm:t>
    </dgm:pt>
    <dgm:pt modelId="{C3FCEB59-16AF-5D4A-94C8-4BAEF5C6DDE6}" type="parTrans" cxnId="{9FD21CEE-5843-754B-BB97-2D76CCC58CF0}">
      <dgm:prSet/>
      <dgm:spPr/>
      <dgm:t>
        <a:bodyPr/>
        <a:lstStyle/>
        <a:p>
          <a:endParaRPr lang="en-US"/>
        </a:p>
      </dgm:t>
    </dgm:pt>
    <dgm:pt modelId="{8DCD9A91-9F57-7143-B0CD-4A91BB5D3A41}" type="sibTrans" cxnId="{9FD21CEE-5843-754B-BB97-2D76CCC58CF0}">
      <dgm:prSet/>
      <dgm:spPr/>
      <dgm:t>
        <a:bodyPr/>
        <a:lstStyle/>
        <a:p>
          <a:endParaRPr lang="en-US"/>
        </a:p>
      </dgm:t>
    </dgm:pt>
    <dgm:pt modelId="{570C9246-BE4B-D44F-B566-785BA7F78D13}">
      <dgm:prSet phldrT="[Text]"/>
      <dgm:spPr/>
      <dgm:t>
        <a:bodyPr/>
        <a:lstStyle/>
        <a:p>
          <a:r>
            <a:rPr lang="en-US" dirty="0"/>
            <a:t>Ownership &amp; </a:t>
          </a:r>
          <a:r>
            <a:rPr lang="en-US" dirty="0" err="1"/>
            <a:t>CapTables</a:t>
          </a:r>
          <a:endParaRPr lang="en-US" dirty="0"/>
        </a:p>
      </dgm:t>
    </dgm:pt>
    <dgm:pt modelId="{CD09C29F-2060-3944-AC5D-08C9B043D57D}" type="parTrans" cxnId="{D2E6B0B6-5BB8-CE42-B0C4-4321EDEC7398}">
      <dgm:prSet/>
      <dgm:spPr/>
      <dgm:t>
        <a:bodyPr/>
        <a:lstStyle/>
        <a:p>
          <a:endParaRPr lang="en-US"/>
        </a:p>
      </dgm:t>
    </dgm:pt>
    <dgm:pt modelId="{FFF61784-00FC-E541-8454-EA49CC2C6C88}" type="sibTrans" cxnId="{D2E6B0B6-5BB8-CE42-B0C4-4321EDEC7398}">
      <dgm:prSet/>
      <dgm:spPr/>
      <dgm:t>
        <a:bodyPr/>
        <a:lstStyle/>
        <a:p>
          <a:endParaRPr lang="en-US"/>
        </a:p>
      </dgm:t>
    </dgm:pt>
    <dgm:pt modelId="{6D652287-F2DF-234B-8E6A-848E1B02D14B}">
      <dgm:prSet/>
      <dgm:spPr/>
      <dgm:t>
        <a:bodyPr/>
        <a:lstStyle/>
        <a:p>
          <a:r>
            <a:rPr lang="en-US" dirty="0"/>
            <a:t>Exits</a:t>
          </a:r>
        </a:p>
      </dgm:t>
    </dgm:pt>
    <dgm:pt modelId="{035057FE-69FE-4747-81C9-4F140D5D0811}" type="parTrans" cxnId="{D1AB5B7F-2256-2D4D-8DDC-8480EC9C503A}">
      <dgm:prSet/>
      <dgm:spPr/>
      <dgm:t>
        <a:bodyPr/>
        <a:lstStyle/>
        <a:p>
          <a:endParaRPr lang="en-US"/>
        </a:p>
      </dgm:t>
    </dgm:pt>
    <dgm:pt modelId="{333C4F21-39C0-444F-8FBB-C8758D37DCC5}" type="sibTrans" cxnId="{D1AB5B7F-2256-2D4D-8DDC-8480EC9C503A}">
      <dgm:prSet/>
      <dgm:spPr/>
      <dgm:t>
        <a:bodyPr/>
        <a:lstStyle/>
        <a:p>
          <a:endParaRPr lang="en-US"/>
        </a:p>
      </dgm:t>
    </dgm:pt>
    <dgm:pt modelId="{23911602-782A-9247-975F-CD3BCD63C917}">
      <dgm:prSet/>
      <dgm:spPr/>
      <dgm:t>
        <a:bodyPr/>
        <a:lstStyle/>
        <a:p>
          <a:r>
            <a:rPr lang="en-US" dirty="0"/>
            <a:t>FINAL</a:t>
          </a:r>
        </a:p>
      </dgm:t>
    </dgm:pt>
    <dgm:pt modelId="{2A51DB34-3297-884F-88B5-8FC0D3208368}" type="parTrans" cxnId="{93608237-D322-994A-B679-9CD95A7C2EFE}">
      <dgm:prSet/>
      <dgm:spPr/>
      <dgm:t>
        <a:bodyPr/>
        <a:lstStyle/>
        <a:p>
          <a:endParaRPr lang="en-US"/>
        </a:p>
      </dgm:t>
    </dgm:pt>
    <dgm:pt modelId="{D0817A82-41F9-1B42-975F-1FCDD0A4B3E3}" type="sibTrans" cxnId="{93608237-D322-994A-B679-9CD95A7C2EFE}">
      <dgm:prSet/>
      <dgm:spPr/>
      <dgm:t>
        <a:bodyPr/>
        <a:lstStyle/>
        <a:p>
          <a:endParaRPr lang="en-US"/>
        </a:p>
      </dgm:t>
    </dgm:pt>
    <dgm:pt modelId="{5AA75295-D3A4-8F42-A481-89064F7CBF04}" type="pres">
      <dgm:prSet presAssocID="{52A1814F-7FED-6D47-A371-6E59D71EFE02}" presName="Name0" presStyleCnt="0">
        <dgm:presLayoutVars>
          <dgm:dir/>
          <dgm:resizeHandles val="exact"/>
        </dgm:presLayoutVars>
      </dgm:prSet>
      <dgm:spPr/>
    </dgm:pt>
    <dgm:pt modelId="{28878C82-12E6-0E41-A25B-415ED275830D}" type="pres">
      <dgm:prSet presAssocID="{9D2AC7A8-BB98-544E-8801-FE2A7EA20B4F}" presName="node" presStyleLbl="node1" presStyleIdx="0" presStyleCnt="5">
        <dgm:presLayoutVars>
          <dgm:bulletEnabled val="1"/>
        </dgm:presLayoutVars>
      </dgm:prSet>
      <dgm:spPr/>
    </dgm:pt>
    <dgm:pt modelId="{7C08C889-1B0F-4B41-A7AF-F84AF108B786}" type="pres">
      <dgm:prSet presAssocID="{3E7DB108-0623-9746-A209-3B82FBC66D4B}" presName="sibTrans" presStyleLbl="sibTrans2D1" presStyleIdx="0" presStyleCnt="4"/>
      <dgm:spPr/>
    </dgm:pt>
    <dgm:pt modelId="{ED32B770-4D6F-D546-B337-C6189BD53804}" type="pres">
      <dgm:prSet presAssocID="{3E7DB108-0623-9746-A209-3B82FBC66D4B}" presName="connectorText" presStyleLbl="sibTrans2D1" presStyleIdx="0" presStyleCnt="4"/>
      <dgm:spPr/>
    </dgm:pt>
    <dgm:pt modelId="{BE38AD9E-DE43-DF48-9763-212F51271DA7}" type="pres">
      <dgm:prSet presAssocID="{93DB5A7C-AFAC-C641-A649-B2B70BFFE695}" presName="node" presStyleLbl="node1" presStyleIdx="1" presStyleCnt="5">
        <dgm:presLayoutVars>
          <dgm:bulletEnabled val="1"/>
        </dgm:presLayoutVars>
      </dgm:prSet>
      <dgm:spPr/>
    </dgm:pt>
    <dgm:pt modelId="{AD05735D-56C6-F24E-8488-E6A359EB5DBF}" type="pres">
      <dgm:prSet presAssocID="{8DCD9A91-9F57-7143-B0CD-4A91BB5D3A41}" presName="sibTrans" presStyleLbl="sibTrans2D1" presStyleIdx="1" presStyleCnt="4"/>
      <dgm:spPr/>
    </dgm:pt>
    <dgm:pt modelId="{E9D24745-615C-D94B-8097-2E230E721D74}" type="pres">
      <dgm:prSet presAssocID="{8DCD9A91-9F57-7143-B0CD-4A91BB5D3A41}" presName="connectorText" presStyleLbl="sibTrans2D1" presStyleIdx="1" presStyleCnt="4"/>
      <dgm:spPr/>
    </dgm:pt>
    <dgm:pt modelId="{300F7ACF-F8FE-6D45-A6DE-622FC408825A}" type="pres">
      <dgm:prSet presAssocID="{570C9246-BE4B-D44F-B566-785BA7F78D13}" presName="node" presStyleLbl="node1" presStyleIdx="2" presStyleCnt="5">
        <dgm:presLayoutVars>
          <dgm:bulletEnabled val="1"/>
        </dgm:presLayoutVars>
      </dgm:prSet>
      <dgm:spPr/>
    </dgm:pt>
    <dgm:pt modelId="{60976DAA-7D3D-B54A-B900-2C9DCFB34DE9}" type="pres">
      <dgm:prSet presAssocID="{FFF61784-00FC-E541-8454-EA49CC2C6C88}" presName="sibTrans" presStyleLbl="sibTrans2D1" presStyleIdx="2" presStyleCnt="4"/>
      <dgm:spPr/>
    </dgm:pt>
    <dgm:pt modelId="{71E16D62-2109-C348-8365-6312E5BD9E95}" type="pres">
      <dgm:prSet presAssocID="{FFF61784-00FC-E541-8454-EA49CC2C6C88}" presName="connectorText" presStyleLbl="sibTrans2D1" presStyleIdx="2" presStyleCnt="4"/>
      <dgm:spPr/>
    </dgm:pt>
    <dgm:pt modelId="{95FCB40A-172D-1043-97B6-A8186B6BF490}" type="pres">
      <dgm:prSet presAssocID="{6D652287-F2DF-234B-8E6A-848E1B02D14B}" presName="node" presStyleLbl="node1" presStyleIdx="3" presStyleCnt="5">
        <dgm:presLayoutVars>
          <dgm:bulletEnabled val="1"/>
        </dgm:presLayoutVars>
      </dgm:prSet>
      <dgm:spPr/>
    </dgm:pt>
    <dgm:pt modelId="{020DD20A-B54E-6A46-8D7C-59CF91AE63F0}" type="pres">
      <dgm:prSet presAssocID="{333C4F21-39C0-444F-8FBB-C8758D37DCC5}" presName="sibTrans" presStyleLbl="sibTrans2D1" presStyleIdx="3" presStyleCnt="4"/>
      <dgm:spPr/>
    </dgm:pt>
    <dgm:pt modelId="{0D96D4E8-090A-8C46-8EB4-678BDA650E27}" type="pres">
      <dgm:prSet presAssocID="{333C4F21-39C0-444F-8FBB-C8758D37DCC5}" presName="connectorText" presStyleLbl="sibTrans2D1" presStyleIdx="3" presStyleCnt="4"/>
      <dgm:spPr/>
    </dgm:pt>
    <dgm:pt modelId="{608C017F-15DC-4F48-AFBB-13FE0FB7C577}" type="pres">
      <dgm:prSet presAssocID="{23911602-782A-9247-975F-CD3BCD63C917}" presName="node" presStyleLbl="node1" presStyleIdx="4" presStyleCnt="5">
        <dgm:presLayoutVars>
          <dgm:bulletEnabled val="1"/>
        </dgm:presLayoutVars>
      </dgm:prSet>
      <dgm:spPr/>
    </dgm:pt>
  </dgm:ptLst>
  <dgm:cxnLst>
    <dgm:cxn modelId="{03955C27-04F3-AD43-BCE3-4ABE32F00C4B}" type="presOf" srcId="{3E7DB108-0623-9746-A209-3B82FBC66D4B}" destId="{7C08C889-1B0F-4B41-A7AF-F84AF108B786}" srcOrd="0" destOrd="0" presId="urn:microsoft.com/office/officeart/2005/8/layout/process1"/>
    <dgm:cxn modelId="{93608237-D322-994A-B679-9CD95A7C2EFE}" srcId="{52A1814F-7FED-6D47-A371-6E59D71EFE02}" destId="{23911602-782A-9247-975F-CD3BCD63C917}" srcOrd="4" destOrd="0" parTransId="{2A51DB34-3297-884F-88B5-8FC0D3208368}" sibTransId="{D0817A82-41F9-1B42-975F-1FCDD0A4B3E3}"/>
    <dgm:cxn modelId="{A0D8A657-8B6B-D342-B8CC-2893B157BC81}" type="presOf" srcId="{FFF61784-00FC-E541-8454-EA49CC2C6C88}" destId="{71E16D62-2109-C348-8365-6312E5BD9E95}" srcOrd="1" destOrd="0" presId="urn:microsoft.com/office/officeart/2005/8/layout/process1"/>
    <dgm:cxn modelId="{D1AB5B7F-2256-2D4D-8DDC-8480EC9C503A}" srcId="{52A1814F-7FED-6D47-A371-6E59D71EFE02}" destId="{6D652287-F2DF-234B-8E6A-848E1B02D14B}" srcOrd="3" destOrd="0" parTransId="{035057FE-69FE-4747-81C9-4F140D5D0811}" sibTransId="{333C4F21-39C0-444F-8FBB-C8758D37DCC5}"/>
    <dgm:cxn modelId="{CED98F87-46C6-1246-B9F8-F7D61D9BE176}" type="presOf" srcId="{23911602-782A-9247-975F-CD3BCD63C917}" destId="{608C017F-15DC-4F48-AFBB-13FE0FB7C577}" srcOrd="0" destOrd="0" presId="urn:microsoft.com/office/officeart/2005/8/layout/process1"/>
    <dgm:cxn modelId="{0302CF88-4073-2D4B-A143-38C049573AD6}" type="presOf" srcId="{570C9246-BE4B-D44F-B566-785BA7F78D13}" destId="{300F7ACF-F8FE-6D45-A6DE-622FC408825A}" srcOrd="0" destOrd="0" presId="urn:microsoft.com/office/officeart/2005/8/layout/process1"/>
    <dgm:cxn modelId="{53A8138E-E49F-E448-A91A-B7B34E524A8A}" type="presOf" srcId="{93DB5A7C-AFAC-C641-A649-B2B70BFFE695}" destId="{BE38AD9E-DE43-DF48-9763-212F51271DA7}" srcOrd="0" destOrd="0" presId="urn:microsoft.com/office/officeart/2005/8/layout/process1"/>
    <dgm:cxn modelId="{AD5B1D96-865C-1C4F-A4EA-A9677E8E1D98}" type="presOf" srcId="{333C4F21-39C0-444F-8FBB-C8758D37DCC5}" destId="{0D96D4E8-090A-8C46-8EB4-678BDA650E27}" srcOrd="1" destOrd="0" presId="urn:microsoft.com/office/officeart/2005/8/layout/process1"/>
    <dgm:cxn modelId="{D68391AE-AE4D-A94C-A03A-C957A3D4DF39}" srcId="{52A1814F-7FED-6D47-A371-6E59D71EFE02}" destId="{9D2AC7A8-BB98-544E-8801-FE2A7EA20B4F}" srcOrd="0" destOrd="0" parTransId="{B88BB0CD-D5AE-1940-9C62-0B09DE5E88DF}" sibTransId="{3E7DB108-0623-9746-A209-3B82FBC66D4B}"/>
    <dgm:cxn modelId="{17A703B2-1527-E04A-951F-8080A01B4702}" type="presOf" srcId="{FFF61784-00FC-E541-8454-EA49CC2C6C88}" destId="{60976DAA-7D3D-B54A-B900-2C9DCFB34DE9}" srcOrd="0" destOrd="0" presId="urn:microsoft.com/office/officeart/2005/8/layout/process1"/>
    <dgm:cxn modelId="{D2E6B0B6-5BB8-CE42-B0C4-4321EDEC7398}" srcId="{52A1814F-7FED-6D47-A371-6E59D71EFE02}" destId="{570C9246-BE4B-D44F-B566-785BA7F78D13}" srcOrd="2" destOrd="0" parTransId="{CD09C29F-2060-3944-AC5D-08C9B043D57D}" sibTransId="{FFF61784-00FC-E541-8454-EA49CC2C6C88}"/>
    <dgm:cxn modelId="{4B266FC3-EB13-4B43-8B89-0E1631528902}" type="presOf" srcId="{52A1814F-7FED-6D47-A371-6E59D71EFE02}" destId="{5AA75295-D3A4-8F42-A481-89064F7CBF04}" srcOrd="0" destOrd="0" presId="urn:microsoft.com/office/officeart/2005/8/layout/process1"/>
    <dgm:cxn modelId="{4EA5DFCF-4131-5040-A27A-F9D7556428DF}" type="presOf" srcId="{3E7DB108-0623-9746-A209-3B82FBC66D4B}" destId="{ED32B770-4D6F-D546-B337-C6189BD53804}" srcOrd="1" destOrd="0" presId="urn:microsoft.com/office/officeart/2005/8/layout/process1"/>
    <dgm:cxn modelId="{295443D5-9C37-C540-98F0-25BE88617B22}" type="presOf" srcId="{8DCD9A91-9F57-7143-B0CD-4A91BB5D3A41}" destId="{AD05735D-56C6-F24E-8488-E6A359EB5DBF}" srcOrd="0" destOrd="0" presId="urn:microsoft.com/office/officeart/2005/8/layout/process1"/>
    <dgm:cxn modelId="{8FE31FDB-E138-E145-A387-0E1558A9927A}" type="presOf" srcId="{6D652287-F2DF-234B-8E6A-848E1B02D14B}" destId="{95FCB40A-172D-1043-97B6-A8186B6BF490}" srcOrd="0" destOrd="0" presId="urn:microsoft.com/office/officeart/2005/8/layout/process1"/>
    <dgm:cxn modelId="{7AEEDFDE-5A5C-F44C-9C21-3E1FA51B0367}" type="presOf" srcId="{8DCD9A91-9F57-7143-B0CD-4A91BB5D3A41}" destId="{E9D24745-615C-D94B-8097-2E230E721D74}" srcOrd="1" destOrd="0" presId="urn:microsoft.com/office/officeart/2005/8/layout/process1"/>
    <dgm:cxn modelId="{EB4EB8E6-E854-D04C-AEE8-83D56FC42A0B}" type="presOf" srcId="{9D2AC7A8-BB98-544E-8801-FE2A7EA20B4F}" destId="{28878C82-12E6-0E41-A25B-415ED275830D}" srcOrd="0" destOrd="0" presId="urn:microsoft.com/office/officeart/2005/8/layout/process1"/>
    <dgm:cxn modelId="{9FD21CEE-5843-754B-BB97-2D76CCC58CF0}" srcId="{52A1814F-7FED-6D47-A371-6E59D71EFE02}" destId="{93DB5A7C-AFAC-C641-A649-B2B70BFFE695}" srcOrd="1" destOrd="0" parTransId="{C3FCEB59-16AF-5D4A-94C8-4BAEF5C6DDE6}" sibTransId="{8DCD9A91-9F57-7143-B0CD-4A91BB5D3A41}"/>
    <dgm:cxn modelId="{4E59A8FD-DBC6-F741-AC95-CF50AEBFB2B5}" type="presOf" srcId="{333C4F21-39C0-444F-8FBB-C8758D37DCC5}" destId="{020DD20A-B54E-6A46-8D7C-59CF91AE63F0}" srcOrd="0" destOrd="0" presId="urn:microsoft.com/office/officeart/2005/8/layout/process1"/>
    <dgm:cxn modelId="{FFA64A34-3A01-CB42-90D3-F223A638476F}" type="presParOf" srcId="{5AA75295-D3A4-8F42-A481-89064F7CBF04}" destId="{28878C82-12E6-0E41-A25B-415ED275830D}" srcOrd="0" destOrd="0" presId="urn:microsoft.com/office/officeart/2005/8/layout/process1"/>
    <dgm:cxn modelId="{606E8AF8-AC49-774D-BBCB-3F605838FE35}" type="presParOf" srcId="{5AA75295-D3A4-8F42-A481-89064F7CBF04}" destId="{7C08C889-1B0F-4B41-A7AF-F84AF108B786}" srcOrd="1" destOrd="0" presId="urn:microsoft.com/office/officeart/2005/8/layout/process1"/>
    <dgm:cxn modelId="{E4D34010-CD6F-7F4A-B64B-7DE368413876}" type="presParOf" srcId="{7C08C889-1B0F-4B41-A7AF-F84AF108B786}" destId="{ED32B770-4D6F-D546-B337-C6189BD53804}" srcOrd="0" destOrd="0" presId="urn:microsoft.com/office/officeart/2005/8/layout/process1"/>
    <dgm:cxn modelId="{994E7BBE-C68D-A741-B25B-225769A9043F}" type="presParOf" srcId="{5AA75295-D3A4-8F42-A481-89064F7CBF04}" destId="{BE38AD9E-DE43-DF48-9763-212F51271DA7}" srcOrd="2" destOrd="0" presId="urn:microsoft.com/office/officeart/2005/8/layout/process1"/>
    <dgm:cxn modelId="{3B801FAF-5206-7F49-855F-751CFE9DA912}" type="presParOf" srcId="{5AA75295-D3A4-8F42-A481-89064F7CBF04}" destId="{AD05735D-56C6-F24E-8488-E6A359EB5DBF}" srcOrd="3" destOrd="0" presId="urn:microsoft.com/office/officeart/2005/8/layout/process1"/>
    <dgm:cxn modelId="{A3DA77E1-5FD1-EE41-BD49-030DD4343D41}" type="presParOf" srcId="{AD05735D-56C6-F24E-8488-E6A359EB5DBF}" destId="{E9D24745-615C-D94B-8097-2E230E721D74}" srcOrd="0" destOrd="0" presId="urn:microsoft.com/office/officeart/2005/8/layout/process1"/>
    <dgm:cxn modelId="{9CEA4A9A-65BC-FA4E-B9A1-E1B1CE6BEAC5}" type="presParOf" srcId="{5AA75295-D3A4-8F42-A481-89064F7CBF04}" destId="{300F7ACF-F8FE-6D45-A6DE-622FC408825A}" srcOrd="4" destOrd="0" presId="urn:microsoft.com/office/officeart/2005/8/layout/process1"/>
    <dgm:cxn modelId="{D765A902-B2D4-754D-AD1E-B330D8420DAE}" type="presParOf" srcId="{5AA75295-D3A4-8F42-A481-89064F7CBF04}" destId="{60976DAA-7D3D-B54A-B900-2C9DCFB34DE9}" srcOrd="5" destOrd="0" presId="urn:microsoft.com/office/officeart/2005/8/layout/process1"/>
    <dgm:cxn modelId="{FAD94C8D-6F27-934F-A401-B1DEEF3B4A51}" type="presParOf" srcId="{60976DAA-7D3D-B54A-B900-2C9DCFB34DE9}" destId="{71E16D62-2109-C348-8365-6312E5BD9E95}" srcOrd="0" destOrd="0" presId="urn:microsoft.com/office/officeart/2005/8/layout/process1"/>
    <dgm:cxn modelId="{F569A361-0566-0E49-8D1E-BB6BD7401FB3}" type="presParOf" srcId="{5AA75295-D3A4-8F42-A481-89064F7CBF04}" destId="{95FCB40A-172D-1043-97B6-A8186B6BF490}" srcOrd="6" destOrd="0" presId="urn:microsoft.com/office/officeart/2005/8/layout/process1"/>
    <dgm:cxn modelId="{682D10CC-DED1-9D43-96F4-A2F79730EC73}" type="presParOf" srcId="{5AA75295-D3A4-8F42-A481-89064F7CBF04}" destId="{020DD20A-B54E-6A46-8D7C-59CF91AE63F0}" srcOrd="7" destOrd="0" presId="urn:microsoft.com/office/officeart/2005/8/layout/process1"/>
    <dgm:cxn modelId="{5626653A-E541-3349-98A7-23E934BBC21F}" type="presParOf" srcId="{020DD20A-B54E-6A46-8D7C-59CF91AE63F0}" destId="{0D96D4E8-090A-8C46-8EB4-678BDA650E27}" srcOrd="0" destOrd="0" presId="urn:microsoft.com/office/officeart/2005/8/layout/process1"/>
    <dgm:cxn modelId="{72550A17-00CA-6A4D-A76F-D56315EFECF8}" type="presParOf" srcId="{5AA75295-D3A4-8F42-A481-89064F7CBF04}" destId="{608C017F-15DC-4F48-AFBB-13FE0FB7C57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1DB47-5174-9F48-B3FD-EF1ACF278985}">
      <dsp:nvSpPr>
        <dsp:cNvPr id="0" name=""/>
        <dsp:cNvSpPr/>
      </dsp:nvSpPr>
      <dsp:spPr>
        <a:xfrm>
          <a:off x="2068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What is a VC/Investor</a:t>
          </a:r>
        </a:p>
      </dsp:txBody>
      <dsp:txXfrm>
        <a:off x="13336" y="771400"/>
        <a:ext cx="618687" cy="362198"/>
      </dsp:txXfrm>
    </dsp:sp>
    <dsp:sp modelId="{4C1CCA73-2B79-8C4A-96E3-B3C01A5C73DA}">
      <dsp:nvSpPr>
        <dsp:cNvPr id="0" name=""/>
        <dsp:cNvSpPr/>
      </dsp:nvSpPr>
      <dsp:spPr>
        <a:xfrm>
          <a:off x="707414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7414" y="904793"/>
        <a:ext cx="95157" cy="95413"/>
      </dsp:txXfrm>
    </dsp:sp>
    <dsp:sp modelId="{EB1C5006-DD39-0445-9707-EE5F966C47C9}">
      <dsp:nvSpPr>
        <dsp:cNvPr id="0" name=""/>
        <dsp:cNvSpPr/>
      </dsp:nvSpPr>
      <dsp:spPr>
        <a:xfrm>
          <a:off x="899781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Deal Screening</a:t>
          </a:r>
        </a:p>
      </dsp:txBody>
      <dsp:txXfrm>
        <a:off x="911049" y="771400"/>
        <a:ext cx="618687" cy="362198"/>
      </dsp:txXfrm>
    </dsp:sp>
    <dsp:sp modelId="{4C70400D-3971-5648-B7A7-01DFAFB327A4}">
      <dsp:nvSpPr>
        <dsp:cNvPr id="0" name=""/>
        <dsp:cNvSpPr/>
      </dsp:nvSpPr>
      <dsp:spPr>
        <a:xfrm>
          <a:off x="1605126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05126" y="904793"/>
        <a:ext cx="95157" cy="95413"/>
      </dsp:txXfrm>
    </dsp:sp>
    <dsp:sp modelId="{9FA2F55B-5C5C-4045-B503-991DCFB293EC}">
      <dsp:nvSpPr>
        <dsp:cNvPr id="0" name=""/>
        <dsp:cNvSpPr/>
      </dsp:nvSpPr>
      <dsp:spPr>
        <a:xfrm>
          <a:off x="1797493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Financial Statements</a:t>
          </a:r>
        </a:p>
      </dsp:txBody>
      <dsp:txXfrm>
        <a:off x="1808761" y="771400"/>
        <a:ext cx="618687" cy="362198"/>
      </dsp:txXfrm>
    </dsp:sp>
    <dsp:sp modelId="{0E292F07-6767-3F4C-987A-D29FD3ECD9AE}">
      <dsp:nvSpPr>
        <dsp:cNvPr id="0" name=""/>
        <dsp:cNvSpPr/>
      </dsp:nvSpPr>
      <dsp:spPr>
        <a:xfrm>
          <a:off x="2502839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502839" y="904793"/>
        <a:ext cx="95157" cy="95413"/>
      </dsp:txXfrm>
    </dsp:sp>
    <dsp:sp modelId="{8356B1A2-8305-5C40-80E3-CBAF3EE0E638}">
      <dsp:nvSpPr>
        <dsp:cNvPr id="0" name=""/>
        <dsp:cNvSpPr/>
      </dsp:nvSpPr>
      <dsp:spPr>
        <a:xfrm>
          <a:off x="2695206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Company Structure</a:t>
          </a:r>
        </a:p>
      </dsp:txBody>
      <dsp:txXfrm>
        <a:off x="2706474" y="771400"/>
        <a:ext cx="618687" cy="362198"/>
      </dsp:txXfrm>
    </dsp:sp>
    <dsp:sp modelId="{7FAD30D6-D404-F94C-950E-6D271D6F8C15}">
      <dsp:nvSpPr>
        <dsp:cNvPr id="0" name=""/>
        <dsp:cNvSpPr/>
      </dsp:nvSpPr>
      <dsp:spPr>
        <a:xfrm>
          <a:off x="3400552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400552" y="904793"/>
        <a:ext cx="95157" cy="95413"/>
      </dsp:txXfrm>
    </dsp:sp>
    <dsp:sp modelId="{1F1E0A6A-958E-AD49-AF92-CBFC47EC1F48}">
      <dsp:nvSpPr>
        <dsp:cNvPr id="0" name=""/>
        <dsp:cNvSpPr/>
      </dsp:nvSpPr>
      <dsp:spPr>
        <a:xfrm>
          <a:off x="3592919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MT1</a:t>
          </a:r>
        </a:p>
      </dsp:txBody>
      <dsp:txXfrm>
        <a:off x="3604187" y="771400"/>
        <a:ext cx="618687" cy="362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6C7C0-7EE3-5749-B764-6339EC5BC848}">
      <dsp:nvSpPr>
        <dsp:cNvPr id="0" name=""/>
        <dsp:cNvSpPr/>
      </dsp:nvSpPr>
      <dsp:spPr>
        <a:xfrm>
          <a:off x="1565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Fin Performance</a:t>
          </a:r>
        </a:p>
      </dsp:txBody>
      <dsp:txXfrm>
        <a:off x="13594" y="785348"/>
        <a:ext cx="660456" cy="386650"/>
      </dsp:txXfrm>
    </dsp:sp>
    <dsp:sp modelId="{B095352F-D8C7-DC4A-A3F1-DCDECE29DB31}">
      <dsp:nvSpPr>
        <dsp:cNvPr id="0" name=""/>
        <dsp:cNvSpPr/>
      </dsp:nvSpPr>
      <dsp:spPr>
        <a:xfrm>
          <a:off x="75453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4530" y="927746"/>
        <a:ext cx="101581" cy="101855"/>
      </dsp:txXfrm>
    </dsp:sp>
    <dsp:sp modelId="{B6CCB5DE-D55E-2A42-8F8C-4F1321227E0C}">
      <dsp:nvSpPr>
        <dsp:cNvPr id="0" name=""/>
        <dsp:cNvSpPr/>
      </dsp:nvSpPr>
      <dsp:spPr>
        <a:xfrm>
          <a:off x="959885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Forecasting/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Cash</a:t>
          </a:r>
        </a:p>
      </dsp:txBody>
      <dsp:txXfrm>
        <a:off x="971914" y="785348"/>
        <a:ext cx="660456" cy="386650"/>
      </dsp:txXfrm>
    </dsp:sp>
    <dsp:sp modelId="{952B2FC8-09A8-C94A-BA89-6CD1AD0A36BD}">
      <dsp:nvSpPr>
        <dsp:cNvPr id="0" name=""/>
        <dsp:cNvSpPr/>
      </dsp:nvSpPr>
      <dsp:spPr>
        <a:xfrm>
          <a:off x="171285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712850" y="927746"/>
        <a:ext cx="101581" cy="101855"/>
      </dsp:txXfrm>
    </dsp:sp>
    <dsp:sp modelId="{698BE697-503B-E148-A4EC-E4690F10D1F3}">
      <dsp:nvSpPr>
        <dsp:cNvPr id="0" name=""/>
        <dsp:cNvSpPr/>
      </dsp:nvSpPr>
      <dsp:spPr>
        <a:xfrm>
          <a:off x="1918204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Regulatory Framework</a:t>
          </a:r>
        </a:p>
      </dsp:txBody>
      <dsp:txXfrm>
        <a:off x="1930233" y="785348"/>
        <a:ext cx="660456" cy="386650"/>
      </dsp:txXfrm>
    </dsp:sp>
    <dsp:sp modelId="{A71F1485-B47D-6849-85E8-82FE4F236B0D}">
      <dsp:nvSpPr>
        <dsp:cNvPr id="0" name=""/>
        <dsp:cNvSpPr/>
      </dsp:nvSpPr>
      <dsp:spPr>
        <a:xfrm>
          <a:off x="267117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671170" y="927746"/>
        <a:ext cx="101581" cy="101855"/>
      </dsp:txXfrm>
    </dsp:sp>
    <dsp:sp modelId="{63F784A7-D0CB-AC47-AF16-455EB8127E98}">
      <dsp:nvSpPr>
        <dsp:cNvPr id="0" name=""/>
        <dsp:cNvSpPr/>
      </dsp:nvSpPr>
      <dsp:spPr>
        <a:xfrm>
          <a:off x="2876524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MT2</a:t>
          </a:r>
        </a:p>
      </dsp:txBody>
      <dsp:txXfrm>
        <a:off x="2888553" y="785348"/>
        <a:ext cx="660456" cy="386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78C82-12E6-0E41-A25B-415ED275830D}">
      <dsp:nvSpPr>
        <dsp:cNvPr id="0" name=""/>
        <dsp:cNvSpPr/>
      </dsp:nvSpPr>
      <dsp:spPr>
        <a:xfrm>
          <a:off x="2068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Pro </a:t>
          </a:r>
          <a:r>
            <a:rPr lang="en-US" sz="900" kern="1200" dirty="0" err="1"/>
            <a:t>Formas</a:t>
          </a:r>
          <a:endParaRPr lang="en-US" sz="900" kern="1200" dirty="0"/>
        </a:p>
      </dsp:txBody>
      <dsp:txXfrm>
        <a:off x="15978" y="775171"/>
        <a:ext cx="613403" cy="447086"/>
      </dsp:txXfrm>
    </dsp:sp>
    <dsp:sp modelId="{7C08C889-1B0F-4B41-A7AF-F84AF108B786}">
      <dsp:nvSpPr>
        <dsp:cNvPr id="0" name=""/>
        <dsp:cNvSpPr/>
      </dsp:nvSpPr>
      <dsp:spPr>
        <a:xfrm>
          <a:off x="707414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7414" y="951007"/>
        <a:ext cx="95157" cy="95413"/>
      </dsp:txXfrm>
    </dsp:sp>
    <dsp:sp modelId="{BE38AD9E-DE43-DF48-9763-212F51271DA7}">
      <dsp:nvSpPr>
        <dsp:cNvPr id="0" name=""/>
        <dsp:cNvSpPr/>
      </dsp:nvSpPr>
      <dsp:spPr>
        <a:xfrm>
          <a:off x="899781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NPV Valuation</a:t>
          </a:r>
        </a:p>
      </dsp:txBody>
      <dsp:txXfrm>
        <a:off x="913691" y="775171"/>
        <a:ext cx="613403" cy="447086"/>
      </dsp:txXfrm>
    </dsp:sp>
    <dsp:sp modelId="{AD05735D-56C6-F24E-8488-E6A359EB5DBF}">
      <dsp:nvSpPr>
        <dsp:cNvPr id="0" name=""/>
        <dsp:cNvSpPr/>
      </dsp:nvSpPr>
      <dsp:spPr>
        <a:xfrm>
          <a:off x="1605126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05126" y="951007"/>
        <a:ext cx="95157" cy="95413"/>
      </dsp:txXfrm>
    </dsp:sp>
    <dsp:sp modelId="{300F7ACF-F8FE-6D45-A6DE-622FC408825A}">
      <dsp:nvSpPr>
        <dsp:cNvPr id="0" name=""/>
        <dsp:cNvSpPr/>
      </dsp:nvSpPr>
      <dsp:spPr>
        <a:xfrm>
          <a:off x="1797493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Ownership &amp; </a:t>
          </a:r>
          <a:r>
            <a:rPr lang="en-US" sz="900" kern="1200" dirty="0" err="1"/>
            <a:t>CapTables</a:t>
          </a:r>
          <a:endParaRPr lang="en-US" sz="900" kern="1200" dirty="0"/>
        </a:p>
      </dsp:txBody>
      <dsp:txXfrm>
        <a:off x="1811403" y="775171"/>
        <a:ext cx="613403" cy="447086"/>
      </dsp:txXfrm>
    </dsp:sp>
    <dsp:sp modelId="{60976DAA-7D3D-B54A-B900-2C9DCFB34DE9}">
      <dsp:nvSpPr>
        <dsp:cNvPr id="0" name=""/>
        <dsp:cNvSpPr/>
      </dsp:nvSpPr>
      <dsp:spPr>
        <a:xfrm>
          <a:off x="2502839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502839" y="951007"/>
        <a:ext cx="95157" cy="95413"/>
      </dsp:txXfrm>
    </dsp:sp>
    <dsp:sp modelId="{95FCB40A-172D-1043-97B6-A8186B6BF490}">
      <dsp:nvSpPr>
        <dsp:cNvPr id="0" name=""/>
        <dsp:cNvSpPr/>
      </dsp:nvSpPr>
      <dsp:spPr>
        <a:xfrm>
          <a:off x="2695206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Exits</a:t>
          </a:r>
        </a:p>
      </dsp:txBody>
      <dsp:txXfrm>
        <a:off x="2709116" y="775171"/>
        <a:ext cx="613403" cy="447086"/>
      </dsp:txXfrm>
    </dsp:sp>
    <dsp:sp modelId="{020DD20A-B54E-6A46-8D7C-59CF91AE63F0}">
      <dsp:nvSpPr>
        <dsp:cNvPr id="0" name=""/>
        <dsp:cNvSpPr/>
      </dsp:nvSpPr>
      <dsp:spPr>
        <a:xfrm>
          <a:off x="3400552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400552" y="951007"/>
        <a:ext cx="95157" cy="95413"/>
      </dsp:txXfrm>
    </dsp:sp>
    <dsp:sp modelId="{608C017F-15DC-4F48-AFBB-13FE0FB7C577}">
      <dsp:nvSpPr>
        <dsp:cNvPr id="0" name=""/>
        <dsp:cNvSpPr/>
      </dsp:nvSpPr>
      <dsp:spPr>
        <a:xfrm>
          <a:off x="3592919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FINAL</a:t>
          </a:r>
        </a:p>
      </dsp:txBody>
      <dsp:txXfrm>
        <a:off x="3606829" y="775171"/>
        <a:ext cx="613403" cy="447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9A37-F57B-F441-8FBD-4AEC1EB171AC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1173163"/>
            <a:ext cx="421957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FA299-5294-AD47-8ACD-E81D24A76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09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11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2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81489" y="3064475"/>
            <a:ext cx="343535" cy="101600"/>
          </a:xfrm>
        </p:spPr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4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07481" y="3033934"/>
            <a:ext cx="34353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75552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Midterm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1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Review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Professor Burnes</a:t>
            </a:r>
          </a:p>
          <a:p>
            <a:pPr algn="ctr"/>
            <a:r>
              <a:rPr lang="en-US" b="1"/>
              <a:t>Leeds School of Business</a:t>
            </a:r>
          </a:p>
          <a:p>
            <a:pPr algn="ctr"/>
            <a:r>
              <a:rPr lang="en-US" b="1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042B-9656-1E0E-562A-84F6FC22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What to Expect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93FC6-E528-F092-0720-7B5B075E0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00602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/>
              <a:t>This Exam is Sept 29, 2025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70 minute IN CLASS exam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You may bring an 8.5”x11” study guide – typed or written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 will provide an excel sheet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</a:t>
            </a:r>
            <a:r>
              <a:rPr lang="en-US" dirty="0" err="1"/>
              <a:t>Proctorio</a:t>
            </a:r>
            <a:r>
              <a:rPr lang="en-US" dirty="0"/>
              <a:t> Monitored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UPDATE YOUR CHROME INTERFACE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 other assistance – digital, human, paper </a:t>
            </a:r>
            <a:r>
              <a:rPr lang="en-US" dirty="0" err="1"/>
              <a:t>etc</a:t>
            </a:r>
            <a:r>
              <a:rPr lang="en-US" dirty="0"/>
              <a:t> is permissible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will be problem solving, vocabulary, analytics, calculations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You will turn in your excel sheet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There are 25 questions. Points are NOT uniformly distributed.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Questions are multiple choice, problem solving, calculations, analytics, vocabulary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 exam is worth 100 points</a:t>
            </a:r>
          </a:p>
        </p:txBody>
      </p:sp>
    </p:spTree>
    <p:extLst>
      <p:ext uri="{BB962C8B-B14F-4D97-AF65-F5344CB8AC3E}">
        <p14:creationId xmlns:p14="http://schemas.microsoft.com/office/powerpoint/2010/main" val="34460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47BE-3ECF-296A-1AB3-0224C601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What to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43582-3039-F480-1397-851E4BAC4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3542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Review the VCs with summaries document from Case 1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Screening: Using Multiples, Using a Scorecard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Financial Statements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Ratios – see Exhibit 3 in Bob’s Baloney, and the Guide I provided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Company Formation: examples, distinguish, why choose, why NOT to choose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From Case 3, growth stages, company formation and access to capital.  Capital Structure. Exit expectations </a:t>
            </a:r>
          </a:p>
        </p:txBody>
      </p:sp>
    </p:spTree>
    <p:extLst>
      <p:ext uri="{BB962C8B-B14F-4D97-AF65-F5344CB8AC3E}">
        <p14:creationId xmlns:p14="http://schemas.microsoft.com/office/powerpoint/2010/main" val="273309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DF34-E555-C533-2E55-98D61A443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Accommodations Folks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C7313-6DB2-EC19-B2CC-1B12EFF57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69277"/>
          </a:xfrm>
        </p:spPr>
        <p:txBody>
          <a:bodyPr/>
          <a:lstStyle/>
          <a:p>
            <a:r>
              <a:rPr lang="en-US" b="1" dirty="0"/>
              <a:t>You will be in KOBL 247</a:t>
            </a:r>
          </a:p>
        </p:txBody>
      </p:sp>
    </p:spTree>
    <p:extLst>
      <p:ext uri="{BB962C8B-B14F-4D97-AF65-F5344CB8AC3E}">
        <p14:creationId xmlns:p14="http://schemas.microsoft.com/office/powerpoint/2010/main" val="180280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F590-B228-7A36-9EF4-3C8E4E06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95486-05B9-613F-09EA-D15CF210D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846386"/>
          </a:xfrm>
        </p:spPr>
        <p:txBody>
          <a:bodyPr/>
          <a:lstStyle/>
          <a:p>
            <a:r>
              <a:rPr lang="en-US" dirty="0"/>
              <a:t>Wednesday, 9/24   3:30-5:00    </a:t>
            </a:r>
            <a:r>
              <a:rPr lang="en-US" b="1" dirty="0"/>
              <a:t>IN PERSON</a:t>
            </a:r>
          </a:p>
          <a:p>
            <a:endParaRPr lang="en-US" b="1" dirty="0"/>
          </a:p>
          <a:p>
            <a:r>
              <a:rPr lang="en-US" dirty="0"/>
              <a:t>Sunday, 9/28     5:30-7:00 pm  </a:t>
            </a:r>
            <a:r>
              <a:rPr lang="en-US" b="1" dirty="0"/>
              <a:t>ZOOM</a:t>
            </a:r>
            <a:endParaRPr lang="en-US" dirty="0"/>
          </a:p>
          <a:p>
            <a:endParaRPr lang="en-US" dirty="0"/>
          </a:p>
          <a:p>
            <a:r>
              <a:rPr lang="en-US" dirty="0"/>
              <a:t>Monday, 9/29   11:00-12:00  </a:t>
            </a:r>
            <a:r>
              <a:rPr lang="en-US" b="1" dirty="0"/>
              <a:t>IN PERSON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8033-49D7-629C-E384-6BC57A3D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The Arc of Our Semester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7C09D-33B4-2886-C61F-677FB92C568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 Fall 2025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1925D-7B61-D8A2-3601-C45F509E7B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4594FF9-6123-EF5D-6285-7521955BC018}"/>
              </a:ext>
            </a:extLst>
          </p:cNvPr>
          <p:cNvGraphicFramePr/>
          <p:nvPr/>
        </p:nvGraphicFramePr>
        <p:xfrm>
          <a:off x="247649" y="-98425"/>
          <a:ext cx="4236211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43CFCC0-4329-C376-9055-6D0BC77054AE}"/>
              </a:ext>
            </a:extLst>
          </p:cNvPr>
          <p:cNvGraphicFramePr/>
          <p:nvPr/>
        </p:nvGraphicFramePr>
        <p:xfrm>
          <a:off x="317245" y="519927"/>
          <a:ext cx="3562604" cy="1957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3D348FC-C22B-A5E1-C10B-EAE3DF0D6C33}"/>
              </a:ext>
            </a:extLst>
          </p:cNvPr>
          <p:cNvGraphicFramePr/>
          <p:nvPr/>
        </p:nvGraphicFramePr>
        <p:xfrm>
          <a:off x="247648" y="1273025"/>
          <a:ext cx="4236211" cy="1997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09BE3DF4-367E-A4AA-DBB3-B641AF806101}"/>
              </a:ext>
            </a:extLst>
          </p:cNvPr>
          <p:cNvSpPr/>
          <p:nvPr/>
        </p:nvSpPr>
        <p:spPr>
          <a:xfrm>
            <a:off x="0" y="405739"/>
            <a:ext cx="4610100" cy="91361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6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DEB8-7FF0-0625-AD9F-885B919D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430887"/>
          </a:xfrm>
        </p:spPr>
        <p:txBody>
          <a:bodyPr/>
          <a:lstStyle/>
          <a:p>
            <a:r>
              <a:rPr lang="en-US" dirty="0"/>
              <a:t>Example Question Based on VCs Conversations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18AA1-7DE7-C845-2D2D-0E31F7199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00602"/>
          </a:xfrm>
        </p:spPr>
        <p:txBody>
          <a:bodyPr/>
          <a:lstStyle/>
          <a:p>
            <a:r>
              <a:rPr lang="en-US" dirty="0"/>
              <a:t>Which of the following describes a company in which a Venture Capitalist would likely be most interested in investing: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AutoNum type="alphaUcParenR"/>
            </a:pPr>
            <a:r>
              <a:rPr lang="en-US" dirty="0"/>
              <a:t>LLC, Slow Sustainable Growth</a:t>
            </a:r>
          </a:p>
          <a:p>
            <a:pPr marL="228600" indent="-228600">
              <a:buAutoNum type="alphaUcParenR"/>
            </a:pPr>
            <a:r>
              <a:rPr lang="en-US" dirty="0"/>
              <a:t>Strong Team, Patented Tech, Large Accessible Market with High Market Share in next 5 years</a:t>
            </a:r>
          </a:p>
          <a:p>
            <a:pPr marL="228600" indent="-228600">
              <a:buAutoNum type="alphaUcParenR"/>
            </a:pPr>
            <a:r>
              <a:rPr lang="en-US" dirty="0"/>
              <a:t>Great Technology.</a:t>
            </a:r>
          </a:p>
          <a:p>
            <a:pPr marL="228600" indent="-228600">
              <a:buAutoNum type="alphaUcParenR"/>
            </a:pPr>
            <a:r>
              <a:rPr lang="en-US" dirty="0"/>
              <a:t>Patented Tech, Large Accessible Market with High Market Share in next 5 years.  References are Lukewarm.</a:t>
            </a:r>
          </a:p>
          <a:p>
            <a:pPr marL="228600" indent="-228600">
              <a:buAutoNum type="alphaUcParenR"/>
            </a:pPr>
            <a:endParaRPr lang="en-US" dirty="0"/>
          </a:p>
          <a:p>
            <a:pPr marL="228600" indent="-228600">
              <a:buAutoNum type="alphaUcParenR"/>
            </a:pPr>
            <a:endParaRPr lang="en-US" dirty="0"/>
          </a:p>
          <a:p>
            <a:pPr marL="228600" indent="-228600">
              <a:buAutoNum type="alphaU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99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60FA-E65F-C5D5-B61E-007B4370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Screening/Scorecard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4F643-F4ED-A1F7-2E28-40C86DC91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538883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Which of the following would be least likely to be a screening criterion: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Capital Structure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Social Media Engagement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Family Life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Market Size</a:t>
            </a:r>
          </a:p>
          <a:p>
            <a:pPr marL="228600" indent="-228600">
              <a:buAutoNum type="arabicParenR"/>
            </a:pPr>
            <a:r>
              <a:rPr lang="en-US" dirty="0"/>
              <a:t>Plan to calculate a Scorecard Multiplier based on information provided</a:t>
            </a:r>
          </a:p>
          <a:p>
            <a:pPr marL="228600" indent="-228600">
              <a:buAutoNum type="arabicParenR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6785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CB29-3F87-F217-E2BB-F7210A24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Financial Statements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D7FFF-683B-0A46-1231-0A94C674B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354217"/>
          </a:xfrm>
        </p:spPr>
        <p:txBody>
          <a:bodyPr/>
          <a:lstStyle/>
          <a:p>
            <a:r>
              <a:rPr lang="en-US" dirty="0"/>
              <a:t>To Prepare:</a:t>
            </a:r>
          </a:p>
          <a:p>
            <a:r>
              <a:rPr lang="en-US" dirty="0"/>
              <a:t>Write out the lines of the Income Statement. </a:t>
            </a:r>
          </a:p>
          <a:p>
            <a:r>
              <a:rPr lang="en-US" dirty="0"/>
              <a:t>Write out the Sections of the Balance Sheet.</a:t>
            </a:r>
          </a:p>
          <a:p>
            <a:endParaRPr lang="en-US" dirty="0"/>
          </a:p>
          <a:p>
            <a:r>
              <a:rPr lang="en-US" dirty="0"/>
              <a:t>Check that you can explain each line</a:t>
            </a:r>
          </a:p>
          <a:p>
            <a:endParaRPr lang="en-US" dirty="0"/>
          </a:p>
          <a:p>
            <a:r>
              <a:rPr lang="en-US" dirty="0"/>
              <a:t>What are COGS</a:t>
            </a:r>
          </a:p>
          <a:p>
            <a:r>
              <a:rPr lang="en-US" dirty="0"/>
              <a:t>What does EBITDA stand for?</a:t>
            </a:r>
          </a:p>
        </p:txBody>
      </p:sp>
    </p:spTree>
    <p:extLst>
      <p:ext uri="{BB962C8B-B14F-4D97-AF65-F5344CB8AC3E}">
        <p14:creationId xmlns:p14="http://schemas.microsoft.com/office/powerpoint/2010/main" val="364131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E74E-E270-F36B-6536-9B725BFF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Multiples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D779-8546-4F9E-47DB-E79964B6E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015663"/>
          </a:xfrm>
        </p:spPr>
        <p:txBody>
          <a:bodyPr/>
          <a:lstStyle/>
          <a:p>
            <a:r>
              <a:rPr lang="en-US" dirty="0"/>
              <a:t>Homework is a good example.</a:t>
            </a:r>
          </a:p>
          <a:p>
            <a:endParaRPr lang="en-US" dirty="0"/>
          </a:p>
          <a:p>
            <a:r>
              <a:rPr lang="en-US" dirty="0"/>
              <a:t>You are looking at an Income Statement and trying to determine the right ‘line’ to use as a basis of valuation. </a:t>
            </a:r>
          </a:p>
          <a:p>
            <a:endParaRPr lang="en-US" dirty="0"/>
          </a:p>
          <a:p>
            <a:r>
              <a:rPr lang="en-US" dirty="0"/>
              <a:t>Why might you choose EBITDA over EBIT?</a:t>
            </a:r>
          </a:p>
        </p:txBody>
      </p:sp>
    </p:spTree>
    <p:extLst>
      <p:ext uri="{BB962C8B-B14F-4D97-AF65-F5344CB8AC3E}">
        <p14:creationId xmlns:p14="http://schemas.microsoft.com/office/powerpoint/2010/main" val="1915095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ABDE-71C2-7E0E-D77A-68255078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75" y="190295"/>
            <a:ext cx="4268126" cy="215444"/>
          </a:xfrm>
        </p:spPr>
        <p:txBody>
          <a:bodyPr/>
          <a:lstStyle/>
          <a:p>
            <a:r>
              <a:rPr lang="en-US" dirty="0"/>
              <a:t>Multiples – </a:t>
            </a:r>
            <a:r>
              <a:rPr lang="en-US" sz="1200" dirty="0"/>
              <a:t>see the Multiples and IS page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C8160A7-1F40-6C5C-4B14-224AE53169D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87822510"/>
              </p:ext>
            </p:extLst>
          </p:nvPr>
        </p:nvGraphicFramePr>
        <p:xfrm>
          <a:off x="125685" y="642619"/>
          <a:ext cx="2005010" cy="25012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2505">
                  <a:extLst>
                    <a:ext uri="{9D8B030D-6E8A-4147-A177-3AD203B41FA5}">
                      <a16:colId xmlns:a16="http://schemas.microsoft.com/office/drawing/2014/main" val="3378768718"/>
                    </a:ext>
                  </a:extLst>
                </a:gridCol>
                <a:gridCol w="1002505">
                  <a:extLst>
                    <a:ext uri="{9D8B030D-6E8A-4147-A177-3AD203B41FA5}">
                      <a16:colId xmlns:a16="http://schemas.microsoft.com/office/drawing/2014/main" val="3993910771"/>
                    </a:ext>
                  </a:extLst>
                </a:gridCol>
              </a:tblGrid>
              <a:tr h="2279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Income Statement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78758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128,000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631370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20,000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696348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OPEX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15,000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6572362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Depreciation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8,000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374288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       450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7535962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Taxes = 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864011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r>
                        <a:rPr lang="en-US" sz="1100" dirty="0"/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675843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ACA98A-49D1-C536-1C9E-32429C53FFF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2380732" y="536891"/>
            <a:ext cx="2005393" cy="846386"/>
          </a:xfrm>
        </p:spPr>
        <p:txBody>
          <a:bodyPr/>
          <a:lstStyle/>
          <a:p>
            <a:r>
              <a:rPr lang="en-US" dirty="0"/>
              <a:t>You are valuing this company using a 5X EBITDA valuation.</a:t>
            </a:r>
          </a:p>
          <a:p>
            <a:endParaRPr lang="en-US" dirty="0"/>
          </a:p>
          <a:p>
            <a:r>
              <a:rPr lang="en-US" dirty="0"/>
              <a:t>Based on this, what is the value of this company?</a:t>
            </a:r>
          </a:p>
        </p:txBody>
      </p:sp>
    </p:spTree>
    <p:extLst>
      <p:ext uri="{BB962C8B-B14F-4D97-AF65-F5344CB8AC3E}">
        <p14:creationId xmlns:p14="http://schemas.microsoft.com/office/powerpoint/2010/main" val="1768214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E78BD3-2F83-237A-B37D-519C23F4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See the Multiple and IS page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AD0177-63A3-6EF0-BB21-8C66E56C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7" y="524376"/>
            <a:ext cx="4342383" cy="677108"/>
          </a:xfrm>
        </p:spPr>
        <p:txBody>
          <a:bodyPr/>
          <a:lstStyle/>
          <a:p>
            <a:r>
              <a:rPr lang="en-US" dirty="0"/>
              <a:t>Using the Income Statement that you developed on the Multiple and IS page, calculate each of the following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B157E9-7535-07E9-D01E-8AB0937EB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872716"/>
              </p:ext>
            </p:extLst>
          </p:nvPr>
        </p:nvGraphicFramePr>
        <p:xfrm>
          <a:off x="346166" y="941308"/>
          <a:ext cx="2409419" cy="20835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5211">
                  <a:extLst>
                    <a:ext uri="{9D8B030D-6E8A-4147-A177-3AD203B41FA5}">
                      <a16:colId xmlns:a16="http://schemas.microsoft.com/office/drawing/2014/main" val="119209832"/>
                    </a:ext>
                  </a:extLst>
                </a:gridCol>
                <a:gridCol w="1244208">
                  <a:extLst>
                    <a:ext uri="{9D8B030D-6E8A-4147-A177-3AD203B41FA5}">
                      <a16:colId xmlns:a16="http://schemas.microsoft.com/office/drawing/2014/main" val="432013693"/>
                    </a:ext>
                  </a:extLst>
                </a:gridCol>
              </a:tblGrid>
              <a:tr h="227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Gross Profit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2101292959"/>
                  </a:ext>
                </a:extLst>
              </a:tr>
              <a:tr h="227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EBITDA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3640859004"/>
                  </a:ext>
                </a:extLst>
              </a:tr>
              <a:tr h="227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Operating Profit = EBIT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4291313843"/>
                  </a:ext>
                </a:extLst>
              </a:tr>
              <a:tr h="227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Taxes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2435320709"/>
                  </a:ext>
                </a:extLst>
              </a:tr>
              <a:tr h="227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Net Income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991510605"/>
                  </a:ext>
                </a:extLst>
              </a:tr>
              <a:tr h="227117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234821714"/>
                  </a:ext>
                </a:extLst>
              </a:tr>
              <a:tr h="22711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Dividends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effectLst/>
                        </a:rPr>
                        <a:t>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38074"/>
                  </a:ext>
                </a:extLst>
              </a:tr>
              <a:tr h="157995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4129842372"/>
                  </a:ext>
                </a:extLst>
              </a:tr>
              <a:tr h="33573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Contribution to Retained Earnings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406" marR="7406" marT="7406" marB="0" anchor="b"/>
                </a:tc>
                <a:extLst>
                  <a:ext uri="{0D108BD9-81ED-4DB2-BD59-A6C34878D82A}">
                    <a16:rowId xmlns:a16="http://schemas.microsoft.com/office/drawing/2014/main" val="1328116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4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C3E2-62E6-EE19-9EB6-CDE48D05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See the IS with Growth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D1474-7325-1A40-B2E2-EC20C9161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184940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Complete Year 1</a:t>
            </a:r>
          </a:p>
          <a:p>
            <a:pPr marL="228600" indent="-228600">
              <a:buAutoNum type="arabicParenR"/>
            </a:pPr>
            <a:r>
              <a:rPr lang="en-US" dirty="0"/>
              <a:t>Fill in Year 2</a:t>
            </a:r>
          </a:p>
          <a:p>
            <a:pPr marL="228600" indent="-228600">
              <a:buAutoNum type="arabicParenR"/>
            </a:pPr>
            <a:r>
              <a:rPr lang="en-US" dirty="0"/>
              <a:t>Compare Operating Profit between the 2 Years.  What happened? Why? </a:t>
            </a:r>
            <a:r>
              <a:rPr lang="en-US" i="1" dirty="0"/>
              <a:t>This is a good place to apply Bob’s Baloney learnings</a:t>
            </a:r>
          </a:p>
          <a:p>
            <a:pPr marL="228600" indent="-228600">
              <a:buAutoNum type="arabicParenR"/>
            </a:pPr>
            <a:r>
              <a:rPr lang="en-US" dirty="0"/>
              <a:t>What does it mean that Depreciation increased?</a:t>
            </a:r>
          </a:p>
          <a:p>
            <a:pPr marL="228600" indent="-228600">
              <a:buAutoNum type="arabicParenR"/>
            </a:pPr>
            <a:r>
              <a:rPr lang="en-US" dirty="0"/>
              <a:t>Did the company finance the new equipment with Debt or Equity? How can you tell?</a:t>
            </a:r>
          </a:p>
        </p:txBody>
      </p:sp>
    </p:spTree>
    <p:extLst>
      <p:ext uri="{BB962C8B-B14F-4D97-AF65-F5344CB8AC3E}">
        <p14:creationId xmlns:p14="http://schemas.microsoft.com/office/powerpoint/2010/main" val="182740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B5F7-0D34-C566-23FB-4E75D8CE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Sheet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5DB44-0FDE-DD73-78CA-D5144B8499B5}"/>
              </a:ext>
            </a:extLst>
          </p:cNvPr>
          <p:cNvSpPr txBox="1"/>
          <p:nvPr/>
        </p:nvSpPr>
        <p:spPr>
          <a:xfrm>
            <a:off x="52251" y="502920"/>
            <a:ext cx="4374916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Please see the Balance Sheet Tab in the Spreadsheet</a:t>
            </a:r>
          </a:p>
          <a:p>
            <a:endParaRPr lang="en-US" sz="1100" dirty="0"/>
          </a:p>
          <a:p>
            <a:r>
              <a:rPr lang="en-US" sz="1100" dirty="0"/>
              <a:t>Fill in the missing numbers.</a:t>
            </a:r>
          </a:p>
          <a:p>
            <a:endParaRPr lang="en-US" sz="1100" dirty="0"/>
          </a:p>
          <a:p>
            <a:r>
              <a:rPr lang="en-US" sz="1100" dirty="0"/>
              <a:t>Calculate:</a:t>
            </a:r>
          </a:p>
          <a:p>
            <a:r>
              <a:rPr lang="en-US" sz="1100" dirty="0"/>
              <a:t>ROE</a:t>
            </a:r>
          </a:p>
          <a:p>
            <a:r>
              <a:rPr lang="en-US" sz="1100" dirty="0"/>
              <a:t>ROA</a:t>
            </a:r>
          </a:p>
          <a:p>
            <a:r>
              <a:rPr lang="en-US" sz="1100" dirty="0"/>
              <a:t>Current Ratio</a:t>
            </a:r>
          </a:p>
          <a:p>
            <a:r>
              <a:rPr lang="en-US" sz="1100" dirty="0"/>
              <a:t>Quick Ratio</a:t>
            </a:r>
          </a:p>
          <a:p>
            <a:r>
              <a:rPr lang="en-US" sz="1100" dirty="0"/>
              <a:t>TIE Ratio</a:t>
            </a:r>
          </a:p>
          <a:p>
            <a:endParaRPr lang="en-US" sz="1100" dirty="0"/>
          </a:p>
          <a:p>
            <a:r>
              <a:rPr lang="en-US" sz="1100" b="1" i="1" dirty="0"/>
              <a:t>Based on this TIE ratio, what would you say about the Capital Structure </a:t>
            </a:r>
          </a:p>
          <a:p>
            <a:r>
              <a:rPr lang="en-US" sz="1100" b="1" i="1" dirty="0"/>
              <a:t>Of this company. Are they over leveraged?</a:t>
            </a:r>
          </a:p>
        </p:txBody>
      </p:sp>
    </p:spTree>
    <p:extLst>
      <p:ext uri="{BB962C8B-B14F-4D97-AF65-F5344CB8AC3E}">
        <p14:creationId xmlns:p14="http://schemas.microsoft.com/office/powerpoint/2010/main" val="120988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35E9-2BA7-B52B-97FA-B23C9398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Conversations with Investors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52442-B244-7119-09E8-D6F78CD4E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031325"/>
          </a:xfrm>
        </p:spPr>
        <p:txBody>
          <a:bodyPr/>
          <a:lstStyle/>
          <a:p>
            <a:r>
              <a:rPr lang="en-US" dirty="0"/>
              <a:t>ROE</a:t>
            </a:r>
          </a:p>
          <a:p>
            <a:r>
              <a:rPr lang="en-US" dirty="0"/>
              <a:t>% Net Income</a:t>
            </a:r>
          </a:p>
          <a:p>
            <a:r>
              <a:rPr lang="en-US" dirty="0"/>
              <a:t>Asset Efficiency</a:t>
            </a:r>
          </a:p>
          <a:p>
            <a:r>
              <a:rPr lang="en-US" dirty="0"/>
              <a:t>Equity Multiplier</a:t>
            </a:r>
          </a:p>
          <a:p>
            <a:endParaRPr lang="en-US" dirty="0"/>
          </a:p>
          <a:p>
            <a:r>
              <a:rPr lang="en-US" i="1" dirty="0"/>
              <a:t>Digging Into Net Income</a:t>
            </a:r>
          </a:p>
          <a:p>
            <a:r>
              <a:rPr lang="en-US" dirty="0"/>
              <a:t>Managing COGS</a:t>
            </a:r>
          </a:p>
          <a:p>
            <a:r>
              <a:rPr lang="en-US" dirty="0"/>
              <a:t>Managing OPEX</a:t>
            </a:r>
          </a:p>
          <a:p>
            <a:endParaRPr lang="en-US" dirty="0"/>
          </a:p>
          <a:p>
            <a:r>
              <a:rPr lang="en-US" dirty="0"/>
              <a:t>Capital Structure</a:t>
            </a:r>
          </a:p>
          <a:p>
            <a:r>
              <a:rPr lang="en-US" dirty="0"/>
              <a:t>Milestones</a:t>
            </a:r>
          </a:p>
          <a:p>
            <a:r>
              <a:rPr lang="en-US" dirty="0"/>
              <a:t>Industry Outlook</a:t>
            </a:r>
          </a:p>
        </p:txBody>
      </p:sp>
    </p:spTree>
    <p:extLst>
      <p:ext uri="{BB962C8B-B14F-4D97-AF65-F5344CB8AC3E}">
        <p14:creationId xmlns:p14="http://schemas.microsoft.com/office/powerpoint/2010/main" val="335271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3568-3B4E-A9D0-228B-5D9916FD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Company 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A2B8B-2CE4-0F5C-5388-CFF911197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692771"/>
          </a:xfrm>
        </p:spPr>
        <p:txBody>
          <a:bodyPr/>
          <a:lstStyle/>
          <a:p>
            <a:r>
              <a:rPr lang="en-US" dirty="0"/>
              <a:t>Review the Chapter 3 materials provided.</a:t>
            </a:r>
          </a:p>
          <a:p>
            <a:r>
              <a:rPr lang="en-US" dirty="0"/>
              <a:t>Consider risk, costs, access to capital and exit</a:t>
            </a:r>
          </a:p>
          <a:p>
            <a:endParaRPr lang="en-US" dirty="0"/>
          </a:p>
          <a:p>
            <a:r>
              <a:rPr lang="en-US" dirty="0"/>
              <a:t>When in a firm’s lifecycle should it use cash for: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Becoming a C Corp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Signing a 2 year lease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Hiring an intern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Filing for a patent</a:t>
            </a:r>
          </a:p>
          <a:p>
            <a:r>
              <a:rPr lang="en-US" dirty="0"/>
              <a:t>	1) if it plans to be a sole owner</a:t>
            </a:r>
          </a:p>
          <a:p>
            <a:r>
              <a:rPr lang="en-US" dirty="0"/>
              <a:t>	2) if it plans on accessing VC and even, PE capital</a:t>
            </a:r>
          </a:p>
        </p:txBody>
      </p:sp>
    </p:spTree>
    <p:extLst>
      <p:ext uri="{BB962C8B-B14F-4D97-AF65-F5344CB8AC3E}">
        <p14:creationId xmlns:p14="http://schemas.microsoft.com/office/powerpoint/2010/main" val="222234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CECE-5196-9804-E41A-865DA828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8" y="190295"/>
            <a:ext cx="3423665" cy="646331"/>
          </a:xfrm>
        </p:spPr>
        <p:txBody>
          <a:bodyPr/>
          <a:lstStyle/>
          <a:p>
            <a:r>
              <a:rPr lang="en-US" dirty="0"/>
              <a:t>For which of the following would Pitchbook be a preferred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4449B-A509-B396-7960-D08982351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28" y="836626"/>
            <a:ext cx="4342383" cy="677108"/>
          </a:xfrm>
        </p:spPr>
        <p:txBody>
          <a:bodyPr/>
          <a:lstStyle/>
          <a:p>
            <a:pPr marL="228600" indent="-228600">
              <a:buAutoNum type="alphaUcParenR"/>
            </a:pPr>
            <a:r>
              <a:rPr lang="en-US" dirty="0"/>
              <a:t>Legal filings for a publicly traded company</a:t>
            </a:r>
          </a:p>
          <a:p>
            <a:pPr marL="228600" indent="-228600">
              <a:buAutoNum type="alphaUcParenR"/>
            </a:pPr>
            <a:r>
              <a:rPr lang="en-US" dirty="0"/>
              <a:t>Trade Disputes</a:t>
            </a:r>
          </a:p>
          <a:p>
            <a:pPr marL="228600" indent="-228600">
              <a:buAutoNum type="alphaUcParenR"/>
            </a:pPr>
            <a:r>
              <a:rPr lang="en-US" dirty="0"/>
              <a:t>Where LeBron James invests in start ups</a:t>
            </a:r>
          </a:p>
          <a:p>
            <a:pPr marL="228600" indent="-228600">
              <a:buAutoNum type="alphaUcParenR"/>
            </a:pPr>
            <a:r>
              <a:rPr lang="en-US" dirty="0"/>
              <a:t>The performance of Exchange Traded Funds</a:t>
            </a:r>
          </a:p>
        </p:txBody>
      </p:sp>
    </p:spTree>
    <p:extLst>
      <p:ext uri="{BB962C8B-B14F-4D97-AF65-F5344CB8AC3E}">
        <p14:creationId xmlns:p14="http://schemas.microsoft.com/office/powerpoint/2010/main" val="3324444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05E7-18AD-EA47-0611-E17B204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Vocabulary </a:t>
            </a:r>
            <a:r>
              <a:rPr lang="en-US" sz="1100" dirty="0"/>
              <a:t>(indicative)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11A9-85E2-C0AC-5B85-58157A5A1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9" y="602754"/>
            <a:ext cx="1646816" cy="1692771"/>
          </a:xfrm>
        </p:spPr>
        <p:txBody>
          <a:bodyPr/>
          <a:lstStyle/>
          <a:p>
            <a:r>
              <a:rPr lang="en-US" dirty="0"/>
              <a:t>Angel Investor</a:t>
            </a:r>
          </a:p>
          <a:p>
            <a:r>
              <a:rPr lang="en-US" dirty="0"/>
              <a:t>VC</a:t>
            </a:r>
          </a:p>
          <a:p>
            <a:r>
              <a:rPr lang="en-US" dirty="0"/>
              <a:t>PE</a:t>
            </a:r>
          </a:p>
          <a:p>
            <a:r>
              <a:rPr lang="en-US" dirty="0"/>
              <a:t>IPO</a:t>
            </a:r>
          </a:p>
          <a:p>
            <a:r>
              <a:rPr lang="en-US" dirty="0"/>
              <a:t>EBIT</a:t>
            </a:r>
          </a:p>
          <a:p>
            <a:r>
              <a:rPr lang="en-US" dirty="0"/>
              <a:t>Depreciation</a:t>
            </a:r>
          </a:p>
          <a:p>
            <a:r>
              <a:rPr lang="en-US" dirty="0"/>
              <a:t>Retained Earnings</a:t>
            </a:r>
          </a:p>
          <a:p>
            <a:r>
              <a:rPr lang="en-US" dirty="0"/>
              <a:t>Patent</a:t>
            </a:r>
          </a:p>
          <a:p>
            <a:r>
              <a:rPr lang="en-US" dirty="0"/>
              <a:t>Comparable</a:t>
            </a:r>
          </a:p>
          <a:p>
            <a:r>
              <a:rPr lang="en-US" dirty="0"/>
              <a:t>Multiplier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C65C7EF-E512-F95C-F185-6EE0C9F21128}"/>
              </a:ext>
            </a:extLst>
          </p:cNvPr>
          <p:cNvSpPr txBox="1">
            <a:spLocks/>
          </p:cNvSpPr>
          <p:nvPr/>
        </p:nvSpPr>
        <p:spPr>
          <a:xfrm>
            <a:off x="2318419" y="602754"/>
            <a:ext cx="1646816" cy="1523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/>
              <a:t>Exit</a:t>
            </a:r>
          </a:p>
          <a:p>
            <a:r>
              <a:rPr lang="en-US" kern="0" dirty="0"/>
              <a:t>LLC</a:t>
            </a:r>
          </a:p>
          <a:p>
            <a:r>
              <a:rPr lang="en-US" kern="0" dirty="0"/>
              <a:t>C Corp</a:t>
            </a:r>
          </a:p>
          <a:p>
            <a:r>
              <a:rPr lang="en-US" kern="0" dirty="0"/>
              <a:t>S Corp</a:t>
            </a:r>
          </a:p>
          <a:p>
            <a:r>
              <a:rPr lang="en-US" kern="0" dirty="0"/>
              <a:t>B Corp</a:t>
            </a:r>
          </a:p>
          <a:p>
            <a:r>
              <a:rPr lang="en-US" kern="0" dirty="0"/>
              <a:t>Shareholder</a:t>
            </a:r>
          </a:p>
          <a:p>
            <a:r>
              <a:rPr lang="en-US" kern="0" dirty="0"/>
              <a:t>Fixed Costs</a:t>
            </a:r>
          </a:p>
          <a:p>
            <a:r>
              <a:rPr lang="en-US" kern="0" dirty="0"/>
              <a:t>M&amp;A</a:t>
            </a:r>
          </a:p>
          <a:p>
            <a:r>
              <a:rPr lang="en-US" kern="0" dirty="0"/>
              <a:t>AUM</a:t>
            </a:r>
          </a:p>
        </p:txBody>
      </p:sp>
    </p:spTree>
    <p:extLst>
      <p:ext uri="{BB962C8B-B14F-4D97-AF65-F5344CB8AC3E}">
        <p14:creationId xmlns:p14="http://schemas.microsoft.com/office/powerpoint/2010/main" val="1380478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1747-39D5-3422-F2DB-D80AFC0A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Office Hours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CEABB-B3FB-CD4B-46A2-DD386F16A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677108"/>
          </a:xfrm>
        </p:spPr>
        <p:txBody>
          <a:bodyPr/>
          <a:lstStyle/>
          <a:p>
            <a:r>
              <a:rPr lang="en-US" dirty="0"/>
              <a:t>Wednesday, 9/24  3:30-5:00 pm</a:t>
            </a:r>
          </a:p>
          <a:p>
            <a:r>
              <a:rPr lang="en-US" dirty="0"/>
              <a:t>Sunday, 9/29 5:30 pm – 7:00 pm</a:t>
            </a:r>
          </a:p>
          <a:p>
            <a:endParaRPr lang="en-US" dirty="0"/>
          </a:p>
          <a:p>
            <a:r>
              <a:rPr lang="en-US" dirty="0"/>
              <a:t>Monday, 9/30 11:00 am – 12:00 pm</a:t>
            </a:r>
          </a:p>
        </p:txBody>
      </p:sp>
    </p:spTree>
    <p:extLst>
      <p:ext uri="{BB962C8B-B14F-4D97-AF65-F5344CB8AC3E}">
        <p14:creationId xmlns:p14="http://schemas.microsoft.com/office/powerpoint/2010/main" val="2470656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</TotalTime>
  <Words>845</Words>
  <Application>Microsoft Office PowerPoint</Application>
  <PresentationFormat>Custom</PresentationFormat>
  <Paragraphs>189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 Narrow</vt:lpstr>
      <vt:lpstr>Arial</vt:lpstr>
      <vt:lpstr>Calibri</vt:lpstr>
      <vt:lpstr>Garamond</vt:lpstr>
      <vt:lpstr>Rockwell</vt:lpstr>
      <vt:lpstr>Office Theme</vt:lpstr>
      <vt:lpstr>Midterm 1 Review</vt:lpstr>
      <vt:lpstr>What to Expect</vt:lpstr>
      <vt:lpstr>What to Study</vt:lpstr>
      <vt:lpstr>Accommodations Folks</vt:lpstr>
      <vt:lpstr>Office Hours</vt:lpstr>
      <vt:lpstr>The Arc of Our Semester</vt:lpstr>
      <vt:lpstr>Example Question Based on VCs Conversations</vt:lpstr>
      <vt:lpstr>Screening/Scorecard</vt:lpstr>
      <vt:lpstr>Financial Statements</vt:lpstr>
      <vt:lpstr>Multiples</vt:lpstr>
      <vt:lpstr>Multiples – see the Multiples and IS page</vt:lpstr>
      <vt:lpstr>See the Multiple and IS page</vt:lpstr>
      <vt:lpstr>See the IS with Growth page</vt:lpstr>
      <vt:lpstr>Balance Sheet</vt:lpstr>
      <vt:lpstr>Conversations with Investors</vt:lpstr>
      <vt:lpstr>Company Formation</vt:lpstr>
      <vt:lpstr>For which of the following would Pitchbook be a preferred source</vt:lpstr>
      <vt:lpstr>Vocabulary (indicative)</vt:lpstr>
      <vt:lpstr>Office Hours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3</dc:title>
  <dc:creator>Shaun Davies, CU-Boulder</dc:creator>
  <cp:lastModifiedBy>Ellen Burnes</cp:lastModifiedBy>
  <cp:revision>10</cp:revision>
  <cp:lastPrinted>2022-02-03T05:39:17Z</cp:lastPrinted>
  <dcterms:created xsi:type="dcterms:W3CDTF">2022-01-05T04:34:45Z</dcterms:created>
  <dcterms:modified xsi:type="dcterms:W3CDTF">2025-09-24T17:25:31Z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