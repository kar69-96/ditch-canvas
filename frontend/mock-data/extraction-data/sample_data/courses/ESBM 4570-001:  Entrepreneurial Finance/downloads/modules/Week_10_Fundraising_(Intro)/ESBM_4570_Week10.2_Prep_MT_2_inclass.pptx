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84" r:id="rId2"/>
    <p:sldId id="292" r:id="rId3"/>
    <p:sldId id="390" r:id="rId4"/>
    <p:sldId id="293" r:id="rId5"/>
    <p:sldId id="1353" r:id="rId6"/>
    <p:sldId id="1355" r:id="rId7"/>
    <p:sldId id="1354" r:id="rId8"/>
    <p:sldId id="1356" r:id="rId9"/>
    <p:sldId id="294" r:id="rId10"/>
    <p:sldId id="295" r:id="rId11"/>
    <p:sldId id="296" r:id="rId12"/>
    <p:sldId id="1347" r:id="rId13"/>
    <p:sldId id="297" r:id="rId14"/>
    <p:sldId id="1357" r:id="rId15"/>
    <p:sldId id="1348" r:id="rId16"/>
    <p:sldId id="1349" r:id="rId17"/>
    <p:sldId id="1350" r:id="rId18"/>
    <p:sldId id="1351" r:id="rId19"/>
    <p:sldId id="1358" r:id="rId20"/>
    <p:sldId id="268" r:id="rId21"/>
    <p:sldId id="1352" r:id="rId22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B67B"/>
    <a:srgbClr val="386750"/>
    <a:srgbClr val="A0A2A1"/>
    <a:srgbClr val="5169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669424-7166-4EE3-B48C-246EA531FFA6}" v="8" dt="2025-10-22T17:44:02.5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72"/>
  </p:normalViewPr>
  <p:slideViewPr>
    <p:cSldViewPr snapToGrid="0">
      <p:cViewPr varScale="1">
        <p:scale>
          <a:sx n="194" d="100"/>
          <a:sy n="194" d="100"/>
        </p:scale>
        <p:origin x="1626" y="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en Burnes" userId="ca3eeb36-3cf7-49b7-874f-4993e3c98b53" providerId="ADAL" clId="{4C46DA56-9020-44B6-A87B-E2E53F2509A0}"/>
    <pc:docChg chg="undo custSel addSld modSld">
      <pc:chgData name="Ellen Burnes" userId="ca3eeb36-3cf7-49b7-874f-4993e3c98b53" providerId="ADAL" clId="{4C46DA56-9020-44B6-A87B-E2E53F2509A0}" dt="2025-10-22T17:55:50.925" v="319" actId="20577"/>
      <pc:docMkLst>
        <pc:docMk/>
      </pc:docMkLst>
      <pc:sldChg chg="modSp mod">
        <pc:chgData name="Ellen Burnes" userId="ca3eeb36-3cf7-49b7-874f-4993e3c98b53" providerId="ADAL" clId="{4C46DA56-9020-44B6-A87B-E2E53F2509A0}" dt="2025-10-22T17:45:32.826" v="227" actId="20577"/>
        <pc:sldMkLst>
          <pc:docMk/>
          <pc:sldMk cId="1089247959" sldId="294"/>
        </pc:sldMkLst>
        <pc:spChg chg="mod">
          <ac:chgData name="Ellen Burnes" userId="ca3eeb36-3cf7-49b7-874f-4993e3c98b53" providerId="ADAL" clId="{4C46DA56-9020-44B6-A87B-E2E53F2509A0}" dt="2025-10-22T17:45:32.826" v="227" actId="20577"/>
          <ac:spMkLst>
            <pc:docMk/>
            <pc:sldMk cId="1089247959" sldId="294"/>
            <ac:spMk id="3" creationId="{1B730129-EFC6-AA8A-5784-757AFBAD101B}"/>
          </ac:spMkLst>
        </pc:spChg>
      </pc:sldChg>
      <pc:sldChg chg="modSp mod">
        <pc:chgData name="Ellen Burnes" userId="ca3eeb36-3cf7-49b7-874f-4993e3c98b53" providerId="ADAL" clId="{4C46DA56-9020-44B6-A87B-E2E53F2509A0}" dt="2025-10-22T17:55:50.925" v="319" actId="20577"/>
        <pc:sldMkLst>
          <pc:docMk/>
          <pc:sldMk cId="1127455322" sldId="297"/>
        </pc:sldMkLst>
        <pc:spChg chg="mod">
          <ac:chgData name="Ellen Burnes" userId="ca3eeb36-3cf7-49b7-874f-4993e3c98b53" providerId="ADAL" clId="{4C46DA56-9020-44B6-A87B-E2E53F2509A0}" dt="2025-10-22T17:55:50.925" v="319" actId="20577"/>
          <ac:spMkLst>
            <pc:docMk/>
            <pc:sldMk cId="1127455322" sldId="297"/>
            <ac:spMk id="3" creationId="{5A83A99D-B30B-C5EB-53A3-EC16A0247313}"/>
          </ac:spMkLst>
        </pc:spChg>
      </pc:sldChg>
      <pc:sldChg chg="modSp mod">
        <pc:chgData name="Ellen Burnes" userId="ca3eeb36-3cf7-49b7-874f-4993e3c98b53" providerId="ADAL" clId="{4C46DA56-9020-44B6-A87B-E2E53F2509A0}" dt="2025-10-22T17:40:08.496" v="87"/>
        <pc:sldMkLst>
          <pc:docMk/>
          <pc:sldMk cId="679388913" sldId="1352"/>
        </pc:sldMkLst>
        <pc:spChg chg="mod">
          <ac:chgData name="Ellen Burnes" userId="ca3eeb36-3cf7-49b7-874f-4993e3c98b53" providerId="ADAL" clId="{4C46DA56-9020-44B6-A87B-E2E53F2509A0}" dt="2025-10-22T17:40:08.496" v="87"/>
          <ac:spMkLst>
            <pc:docMk/>
            <pc:sldMk cId="679388913" sldId="1352"/>
            <ac:spMk id="3" creationId="{9CB980F9-35F2-3B88-4BC8-DFA262FEE0AB}"/>
          </ac:spMkLst>
        </pc:spChg>
      </pc:sldChg>
      <pc:sldChg chg="addSp delSp modSp new mod modAnim">
        <pc:chgData name="Ellen Burnes" userId="ca3eeb36-3cf7-49b7-874f-4993e3c98b53" providerId="ADAL" clId="{4C46DA56-9020-44B6-A87B-E2E53F2509A0}" dt="2025-10-22T17:44:02.510" v="196"/>
        <pc:sldMkLst>
          <pc:docMk/>
          <pc:sldMk cId="3313301416" sldId="1358"/>
        </pc:sldMkLst>
        <pc:spChg chg="mod">
          <ac:chgData name="Ellen Burnes" userId="ca3eeb36-3cf7-49b7-874f-4993e3c98b53" providerId="ADAL" clId="{4C46DA56-9020-44B6-A87B-E2E53F2509A0}" dt="2025-10-22T17:40:51.475" v="128" actId="20577"/>
          <ac:spMkLst>
            <pc:docMk/>
            <pc:sldMk cId="3313301416" sldId="1358"/>
            <ac:spMk id="2" creationId="{DE253FD6-42CB-9764-B14D-D071616F2020}"/>
          </ac:spMkLst>
        </pc:spChg>
        <pc:spChg chg="del">
          <ac:chgData name="Ellen Burnes" userId="ca3eeb36-3cf7-49b7-874f-4993e3c98b53" providerId="ADAL" clId="{4C46DA56-9020-44B6-A87B-E2E53F2509A0}" dt="2025-10-22T17:40:39.806" v="89" actId="478"/>
          <ac:spMkLst>
            <pc:docMk/>
            <pc:sldMk cId="3313301416" sldId="1358"/>
            <ac:spMk id="3" creationId="{789C0FA7-5930-0F8B-2EE0-CB2D1110F2AD}"/>
          </ac:spMkLst>
        </pc:spChg>
        <pc:spChg chg="add mod">
          <ac:chgData name="Ellen Burnes" userId="ca3eeb36-3cf7-49b7-874f-4993e3c98b53" providerId="ADAL" clId="{4C46DA56-9020-44B6-A87B-E2E53F2509A0}" dt="2025-10-22T17:41:28.752" v="131" actId="207"/>
          <ac:spMkLst>
            <pc:docMk/>
            <pc:sldMk cId="3313301416" sldId="1358"/>
            <ac:spMk id="5" creationId="{A6DE83C2-5344-6BE9-171E-066AA550D24E}"/>
          </ac:spMkLst>
        </pc:spChg>
        <pc:spChg chg="add mod">
          <ac:chgData name="Ellen Burnes" userId="ca3eeb36-3cf7-49b7-874f-4993e3c98b53" providerId="ADAL" clId="{4C46DA56-9020-44B6-A87B-E2E53F2509A0}" dt="2025-10-22T17:41:45.514" v="135" actId="1076"/>
          <ac:spMkLst>
            <pc:docMk/>
            <pc:sldMk cId="3313301416" sldId="1358"/>
            <ac:spMk id="6" creationId="{E0B06514-8755-BD39-A727-7E4DEEE36162}"/>
          </ac:spMkLst>
        </pc:spChg>
        <pc:spChg chg="add mod">
          <ac:chgData name="Ellen Burnes" userId="ca3eeb36-3cf7-49b7-874f-4993e3c98b53" providerId="ADAL" clId="{4C46DA56-9020-44B6-A87B-E2E53F2509A0}" dt="2025-10-22T17:42:14.131" v="139" actId="1076"/>
          <ac:spMkLst>
            <pc:docMk/>
            <pc:sldMk cId="3313301416" sldId="1358"/>
            <ac:spMk id="7" creationId="{AE376132-0019-1697-140E-BB439260B625}"/>
          </ac:spMkLst>
        </pc:spChg>
        <pc:spChg chg="add mod">
          <ac:chgData name="Ellen Burnes" userId="ca3eeb36-3cf7-49b7-874f-4993e3c98b53" providerId="ADAL" clId="{4C46DA56-9020-44B6-A87B-E2E53F2509A0}" dt="2025-10-22T17:42:21.100" v="142" actId="1076"/>
          <ac:spMkLst>
            <pc:docMk/>
            <pc:sldMk cId="3313301416" sldId="1358"/>
            <ac:spMk id="8" creationId="{53C0EE1D-B5AC-8FAD-C679-A3CDCE37CB21}"/>
          </ac:spMkLst>
        </pc:spChg>
        <pc:spChg chg="add mod">
          <ac:chgData name="Ellen Burnes" userId="ca3eeb36-3cf7-49b7-874f-4993e3c98b53" providerId="ADAL" clId="{4C46DA56-9020-44B6-A87B-E2E53F2509A0}" dt="2025-10-22T17:42:27.992" v="144" actId="1076"/>
          <ac:spMkLst>
            <pc:docMk/>
            <pc:sldMk cId="3313301416" sldId="1358"/>
            <ac:spMk id="9" creationId="{462BFCEC-7A23-54CD-B01F-97A35994D63B}"/>
          </ac:spMkLst>
        </pc:spChg>
        <pc:spChg chg="add mod">
          <ac:chgData name="Ellen Burnes" userId="ca3eeb36-3cf7-49b7-874f-4993e3c98b53" providerId="ADAL" clId="{4C46DA56-9020-44B6-A87B-E2E53F2509A0}" dt="2025-10-22T17:42:33.253" v="146" actId="1076"/>
          <ac:spMkLst>
            <pc:docMk/>
            <pc:sldMk cId="3313301416" sldId="1358"/>
            <ac:spMk id="10" creationId="{03F5C163-DB20-F746-6519-49EE54775B75}"/>
          </ac:spMkLst>
        </pc:spChg>
        <pc:spChg chg="add mod">
          <ac:chgData name="Ellen Burnes" userId="ca3eeb36-3cf7-49b7-874f-4993e3c98b53" providerId="ADAL" clId="{4C46DA56-9020-44B6-A87B-E2E53F2509A0}" dt="2025-10-22T17:43:55.038" v="195" actId="1582"/>
          <ac:spMkLst>
            <pc:docMk/>
            <pc:sldMk cId="3313301416" sldId="1358"/>
            <ac:spMk id="11" creationId="{18C7ADFB-2194-B83A-743A-0959D28041A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4AA4E4-FD5E-2D40-863B-33B97B038A1A}" type="doc">
      <dgm:prSet loTypeId="urn:microsoft.com/office/officeart/2005/8/layout/process1" loCatId="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D3AF525-AC0E-6044-BFBF-52FBCCBFF1EE}">
      <dgm:prSet phldrT="[Text]"/>
      <dgm:spPr/>
      <dgm:t>
        <a:bodyPr/>
        <a:lstStyle/>
        <a:p>
          <a:r>
            <a:rPr lang="en-US" dirty="0"/>
            <a:t>What is a VC/Investor</a:t>
          </a:r>
        </a:p>
      </dgm:t>
    </dgm:pt>
    <dgm:pt modelId="{63C18C4D-FC3D-1148-A0F5-917D80F549DB}" type="parTrans" cxnId="{7B46971E-4568-1147-BD9C-2443CBCEFE96}">
      <dgm:prSet/>
      <dgm:spPr/>
      <dgm:t>
        <a:bodyPr/>
        <a:lstStyle/>
        <a:p>
          <a:endParaRPr lang="en-US"/>
        </a:p>
      </dgm:t>
    </dgm:pt>
    <dgm:pt modelId="{42D03F2B-CB68-8142-B5FF-69B0E64707D2}" type="sibTrans" cxnId="{7B46971E-4568-1147-BD9C-2443CBCEFE96}">
      <dgm:prSet/>
      <dgm:spPr/>
      <dgm:t>
        <a:bodyPr/>
        <a:lstStyle/>
        <a:p>
          <a:endParaRPr lang="en-US"/>
        </a:p>
      </dgm:t>
    </dgm:pt>
    <dgm:pt modelId="{AD732E2B-9FE9-0442-A7D8-E09571849F0B}">
      <dgm:prSet phldrT="[Text]"/>
      <dgm:spPr/>
      <dgm:t>
        <a:bodyPr/>
        <a:lstStyle/>
        <a:p>
          <a:r>
            <a:rPr lang="en-US" dirty="0"/>
            <a:t>Deal Screening</a:t>
          </a:r>
        </a:p>
      </dgm:t>
    </dgm:pt>
    <dgm:pt modelId="{CB7DB2B6-3B30-9944-8255-578172939C08}" type="parTrans" cxnId="{69A3F4C6-E3F9-F149-AB4A-129749540CEC}">
      <dgm:prSet/>
      <dgm:spPr/>
      <dgm:t>
        <a:bodyPr/>
        <a:lstStyle/>
        <a:p>
          <a:endParaRPr lang="en-US"/>
        </a:p>
      </dgm:t>
    </dgm:pt>
    <dgm:pt modelId="{23C38141-9F92-264C-9DF8-C2DA320BCBB6}" type="sibTrans" cxnId="{69A3F4C6-E3F9-F149-AB4A-129749540CEC}">
      <dgm:prSet/>
      <dgm:spPr/>
      <dgm:t>
        <a:bodyPr/>
        <a:lstStyle/>
        <a:p>
          <a:endParaRPr lang="en-US"/>
        </a:p>
      </dgm:t>
    </dgm:pt>
    <dgm:pt modelId="{999562A0-640C-8F4C-B80A-806F84A2E699}">
      <dgm:prSet phldrT="[Text]"/>
      <dgm:spPr/>
      <dgm:t>
        <a:bodyPr/>
        <a:lstStyle/>
        <a:p>
          <a:r>
            <a:rPr lang="en-US" dirty="0"/>
            <a:t>Financial Statements</a:t>
          </a:r>
        </a:p>
      </dgm:t>
    </dgm:pt>
    <dgm:pt modelId="{9F92B240-2987-084E-97FD-96B0FD6C176F}" type="parTrans" cxnId="{EEEFE013-B969-C44B-A134-DFDC43E6C309}">
      <dgm:prSet/>
      <dgm:spPr/>
      <dgm:t>
        <a:bodyPr/>
        <a:lstStyle/>
        <a:p>
          <a:endParaRPr lang="en-US"/>
        </a:p>
      </dgm:t>
    </dgm:pt>
    <dgm:pt modelId="{E49088FE-DDAC-0240-AE53-6D7FB31E5E02}" type="sibTrans" cxnId="{EEEFE013-B969-C44B-A134-DFDC43E6C309}">
      <dgm:prSet/>
      <dgm:spPr/>
      <dgm:t>
        <a:bodyPr/>
        <a:lstStyle/>
        <a:p>
          <a:endParaRPr lang="en-US"/>
        </a:p>
      </dgm:t>
    </dgm:pt>
    <dgm:pt modelId="{B1F9300B-2CB4-0741-B4F6-A3B5DD6C59C6}">
      <dgm:prSet/>
      <dgm:spPr/>
      <dgm:t>
        <a:bodyPr/>
        <a:lstStyle/>
        <a:p>
          <a:r>
            <a:rPr lang="en-US" dirty="0"/>
            <a:t>Company Structure</a:t>
          </a:r>
        </a:p>
      </dgm:t>
    </dgm:pt>
    <dgm:pt modelId="{CF8AF611-D1C9-CE44-8616-E2027CA3B755}" type="parTrans" cxnId="{DEC540BB-AA35-A247-8445-AC0FA38C471B}">
      <dgm:prSet/>
      <dgm:spPr/>
      <dgm:t>
        <a:bodyPr/>
        <a:lstStyle/>
        <a:p>
          <a:endParaRPr lang="en-US"/>
        </a:p>
      </dgm:t>
    </dgm:pt>
    <dgm:pt modelId="{81886FD5-21E2-2D48-8712-A350266F6C34}" type="sibTrans" cxnId="{DEC540BB-AA35-A247-8445-AC0FA38C471B}">
      <dgm:prSet/>
      <dgm:spPr/>
      <dgm:t>
        <a:bodyPr/>
        <a:lstStyle/>
        <a:p>
          <a:endParaRPr lang="en-US"/>
        </a:p>
      </dgm:t>
    </dgm:pt>
    <dgm:pt modelId="{F36E10D7-37E3-9E4E-B6B2-B9E6F15D1B17}">
      <dgm:prSet/>
      <dgm:spPr/>
      <dgm:t>
        <a:bodyPr/>
        <a:lstStyle/>
        <a:p>
          <a:r>
            <a:rPr lang="en-US" dirty="0"/>
            <a:t>MT1</a:t>
          </a:r>
        </a:p>
      </dgm:t>
    </dgm:pt>
    <dgm:pt modelId="{D09F518B-DEE2-CD4B-91C4-A047098B790D}" type="parTrans" cxnId="{7FCCD5D9-FDF1-284B-A5FF-B2B77EB5E249}">
      <dgm:prSet/>
      <dgm:spPr/>
      <dgm:t>
        <a:bodyPr/>
        <a:lstStyle/>
        <a:p>
          <a:endParaRPr lang="en-US"/>
        </a:p>
      </dgm:t>
    </dgm:pt>
    <dgm:pt modelId="{D994FE63-159E-0248-8CC3-FD508107080C}" type="sibTrans" cxnId="{7FCCD5D9-FDF1-284B-A5FF-B2B77EB5E249}">
      <dgm:prSet/>
      <dgm:spPr/>
      <dgm:t>
        <a:bodyPr/>
        <a:lstStyle/>
        <a:p>
          <a:endParaRPr lang="en-US"/>
        </a:p>
      </dgm:t>
    </dgm:pt>
    <dgm:pt modelId="{510D55F6-9768-9945-9227-17AD0473E222}" type="pres">
      <dgm:prSet presAssocID="{074AA4E4-FD5E-2D40-863B-33B97B038A1A}" presName="Name0" presStyleCnt="0">
        <dgm:presLayoutVars>
          <dgm:dir/>
          <dgm:resizeHandles val="exact"/>
        </dgm:presLayoutVars>
      </dgm:prSet>
      <dgm:spPr/>
    </dgm:pt>
    <dgm:pt modelId="{0581DB47-5174-9F48-B3FD-EF1ACF278985}" type="pres">
      <dgm:prSet presAssocID="{7D3AF525-AC0E-6044-BFBF-52FBCCBFF1EE}" presName="node" presStyleLbl="node1" presStyleIdx="0" presStyleCnt="5">
        <dgm:presLayoutVars>
          <dgm:bulletEnabled val="1"/>
        </dgm:presLayoutVars>
      </dgm:prSet>
      <dgm:spPr/>
    </dgm:pt>
    <dgm:pt modelId="{4C1CCA73-2B79-8C4A-96E3-B3C01A5C73DA}" type="pres">
      <dgm:prSet presAssocID="{42D03F2B-CB68-8142-B5FF-69B0E64707D2}" presName="sibTrans" presStyleLbl="sibTrans2D1" presStyleIdx="0" presStyleCnt="4"/>
      <dgm:spPr/>
    </dgm:pt>
    <dgm:pt modelId="{D1761283-4F4B-B245-AEA5-2325B10F906A}" type="pres">
      <dgm:prSet presAssocID="{42D03F2B-CB68-8142-B5FF-69B0E64707D2}" presName="connectorText" presStyleLbl="sibTrans2D1" presStyleIdx="0" presStyleCnt="4"/>
      <dgm:spPr/>
    </dgm:pt>
    <dgm:pt modelId="{EB1C5006-DD39-0445-9707-EE5F966C47C9}" type="pres">
      <dgm:prSet presAssocID="{AD732E2B-9FE9-0442-A7D8-E09571849F0B}" presName="node" presStyleLbl="node1" presStyleIdx="1" presStyleCnt="5">
        <dgm:presLayoutVars>
          <dgm:bulletEnabled val="1"/>
        </dgm:presLayoutVars>
      </dgm:prSet>
      <dgm:spPr/>
    </dgm:pt>
    <dgm:pt modelId="{4C70400D-3971-5648-B7A7-01DFAFB327A4}" type="pres">
      <dgm:prSet presAssocID="{23C38141-9F92-264C-9DF8-C2DA320BCBB6}" presName="sibTrans" presStyleLbl="sibTrans2D1" presStyleIdx="1" presStyleCnt="4"/>
      <dgm:spPr/>
    </dgm:pt>
    <dgm:pt modelId="{9E56B6BE-9262-5F40-8B2B-097CC2A70475}" type="pres">
      <dgm:prSet presAssocID="{23C38141-9F92-264C-9DF8-C2DA320BCBB6}" presName="connectorText" presStyleLbl="sibTrans2D1" presStyleIdx="1" presStyleCnt="4"/>
      <dgm:spPr/>
    </dgm:pt>
    <dgm:pt modelId="{9FA2F55B-5C5C-4045-B503-991DCFB293EC}" type="pres">
      <dgm:prSet presAssocID="{999562A0-640C-8F4C-B80A-806F84A2E699}" presName="node" presStyleLbl="node1" presStyleIdx="2" presStyleCnt="5">
        <dgm:presLayoutVars>
          <dgm:bulletEnabled val="1"/>
        </dgm:presLayoutVars>
      </dgm:prSet>
      <dgm:spPr/>
    </dgm:pt>
    <dgm:pt modelId="{0E292F07-6767-3F4C-987A-D29FD3ECD9AE}" type="pres">
      <dgm:prSet presAssocID="{E49088FE-DDAC-0240-AE53-6D7FB31E5E02}" presName="sibTrans" presStyleLbl="sibTrans2D1" presStyleIdx="2" presStyleCnt="4"/>
      <dgm:spPr/>
    </dgm:pt>
    <dgm:pt modelId="{07FDDA51-C6AD-EB42-BD73-8205AD40FE16}" type="pres">
      <dgm:prSet presAssocID="{E49088FE-DDAC-0240-AE53-6D7FB31E5E02}" presName="connectorText" presStyleLbl="sibTrans2D1" presStyleIdx="2" presStyleCnt="4"/>
      <dgm:spPr/>
    </dgm:pt>
    <dgm:pt modelId="{8356B1A2-8305-5C40-80E3-CBAF3EE0E638}" type="pres">
      <dgm:prSet presAssocID="{B1F9300B-2CB4-0741-B4F6-A3B5DD6C59C6}" presName="node" presStyleLbl="node1" presStyleIdx="3" presStyleCnt="5">
        <dgm:presLayoutVars>
          <dgm:bulletEnabled val="1"/>
        </dgm:presLayoutVars>
      </dgm:prSet>
      <dgm:spPr/>
    </dgm:pt>
    <dgm:pt modelId="{7FAD30D6-D404-F94C-950E-6D271D6F8C15}" type="pres">
      <dgm:prSet presAssocID="{81886FD5-21E2-2D48-8712-A350266F6C34}" presName="sibTrans" presStyleLbl="sibTrans2D1" presStyleIdx="3" presStyleCnt="4"/>
      <dgm:spPr/>
    </dgm:pt>
    <dgm:pt modelId="{310A6E86-912E-0C42-A7D6-A6651282B9BA}" type="pres">
      <dgm:prSet presAssocID="{81886FD5-21E2-2D48-8712-A350266F6C34}" presName="connectorText" presStyleLbl="sibTrans2D1" presStyleIdx="3" presStyleCnt="4"/>
      <dgm:spPr/>
    </dgm:pt>
    <dgm:pt modelId="{1F1E0A6A-958E-AD49-AF92-CBFC47EC1F48}" type="pres">
      <dgm:prSet presAssocID="{F36E10D7-37E3-9E4E-B6B2-B9E6F15D1B17}" presName="node" presStyleLbl="node1" presStyleIdx="4" presStyleCnt="5">
        <dgm:presLayoutVars>
          <dgm:bulletEnabled val="1"/>
        </dgm:presLayoutVars>
      </dgm:prSet>
      <dgm:spPr/>
    </dgm:pt>
  </dgm:ptLst>
  <dgm:cxnLst>
    <dgm:cxn modelId="{93B9A300-7073-D84F-8F37-DB217709C447}" type="presOf" srcId="{42D03F2B-CB68-8142-B5FF-69B0E64707D2}" destId="{D1761283-4F4B-B245-AEA5-2325B10F906A}" srcOrd="1" destOrd="0" presId="urn:microsoft.com/office/officeart/2005/8/layout/process1"/>
    <dgm:cxn modelId="{15CDE011-B0D2-1C44-BE17-59B74E4E5E34}" type="presOf" srcId="{074AA4E4-FD5E-2D40-863B-33B97B038A1A}" destId="{510D55F6-9768-9945-9227-17AD0473E222}" srcOrd="0" destOrd="0" presId="urn:microsoft.com/office/officeart/2005/8/layout/process1"/>
    <dgm:cxn modelId="{EEEFE013-B969-C44B-A134-DFDC43E6C309}" srcId="{074AA4E4-FD5E-2D40-863B-33B97B038A1A}" destId="{999562A0-640C-8F4C-B80A-806F84A2E699}" srcOrd="2" destOrd="0" parTransId="{9F92B240-2987-084E-97FD-96B0FD6C176F}" sibTransId="{E49088FE-DDAC-0240-AE53-6D7FB31E5E02}"/>
    <dgm:cxn modelId="{7B46971E-4568-1147-BD9C-2443CBCEFE96}" srcId="{074AA4E4-FD5E-2D40-863B-33B97B038A1A}" destId="{7D3AF525-AC0E-6044-BFBF-52FBCCBFF1EE}" srcOrd="0" destOrd="0" parTransId="{63C18C4D-FC3D-1148-A0F5-917D80F549DB}" sibTransId="{42D03F2B-CB68-8142-B5FF-69B0E64707D2}"/>
    <dgm:cxn modelId="{D5FA9E22-B165-E647-9DFA-5D127885EE8F}" type="presOf" srcId="{F36E10D7-37E3-9E4E-B6B2-B9E6F15D1B17}" destId="{1F1E0A6A-958E-AD49-AF92-CBFC47EC1F48}" srcOrd="0" destOrd="0" presId="urn:microsoft.com/office/officeart/2005/8/layout/process1"/>
    <dgm:cxn modelId="{97940A27-6556-7A4E-8DB4-B7E487B068CD}" type="presOf" srcId="{B1F9300B-2CB4-0741-B4F6-A3B5DD6C59C6}" destId="{8356B1A2-8305-5C40-80E3-CBAF3EE0E638}" srcOrd="0" destOrd="0" presId="urn:microsoft.com/office/officeart/2005/8/layout/process1"/>
    <dgm:cxn modelId="{D8BEF23A-F133-9744-9B09-DACA0C1B5C96}" type="presOf" srcId="{42D03F2B-CB68-8142-B5FF-69B0E64707D2}" destId="{4C1CCA73-2B79-8C4A-96E3-B3C01A5C73DA}" srcOrd="0" destOrd="0" presId="urn:microsoft.com/office/officeart/2005/8/layout/process1"/>
    <dgm:cxn modelId="{2DFC0C44-DA21-254B-8346-A1A70A0BFB34}" type="presOf" srcId="{7D3AF525-AC0E-6044-BFBF-52FBCCBFF1EE}" destId="{0581DB47-5174-9F48-B3FD-EF1ACF278985}" srcOrd="0" destOrd="0" presId="urn:microsoft.com/office/officeart/2005/8/layout/process1"/>
    <dgm:cxn modelId="{4E002650-2284-3D4B-B051-37B1827A9914}" type="presOf" srcId="{AD732E2B-9FE9-0442-A7D8-E09571849F0B}" destId="{EB1C5006-DD39-0445-9707-EE5F966C47C9}" srcOrd="0" destOrd="0" presId="urn:microsoft.com/office/officeart/2005/8/layout/process1"/>
    <dgm:cxn modelId="{7CE8C152-920A-4A47-9820-0C86E0EA90A9}" type="presOf" srcId="{23C38141-9F92-264C-9DF8-C2DA320BCBB6}" destId="{4C70400D-3971-5648-B7A7-01DFAFB327A4}" srcOrd="0" destOrd="0" presId="urn:microsoft.com/office/officeart/2005/8/layout/process1"/>
    <dgm:cxn modelId="{6B72AC95-874C-0846-B269-478CAF3C1EB3}" type="presOf" srcId="{23C38141-9F92-264C-9DF8-C2DA320BCBB6}" destId="{9E56B6BE-9262-5F40-8B2B-097CC2A70475}" srcOrd="1" destOrd="0" presId="urn:microsoft.com/office/officeart/2005/8/layout/process1"/>
    <dgm:cxn modelId="{71B177B4-9C78-7C47-8C25-7F0F5DFA0173}" type="presOf" srcId="{E49088FE-DDAC-0240-AE53-6D7FB31E5E02}" destId="{07FDDA51-C6AD-EB42-BD73-8205AD40FE16}" srcOrd="1" destOrd="0" presId="urn:microsoft.com/office/officeart/2005/8/layout/process1"/>
    <dgm:cxn modelId="{DEC540BB-AA35-A247-8445-AC0FA38C471B}" srcId="{074AA4E4-FD5E-2D40-863B-33B97B038A1A}" destId="{B1F9300B-2CB4-0741-B4F6-A3B5DD6C59C6}" srcOrd="3" destOrd="0" parTransId="{CF8AF611-D1C9-CE44-8616-E2027CA3B755}" sibTransId="{81886FD5-21E2-2D48-8712-A350266F6C34}"/>
    <dgm:cxn modelId="{99871AC5-C9CF-884A-8F37-40C400DDEA66}" type="presOf" srcId="{999562A0-640C-8F4C-B80A-806F84A2E699}" destId="{9FA2F55B-5C5C-4045-B503-991DCFB293EC}" srcOrd="0" destOrd="0" presId="urn:microsoft.com/office/officeart/2005/8/layout/process1"/>
    <dgm:cxn modelId="{69A3F4C6-E3F9-F149-AB4A-129749540CEC}" srcId="{074AA4E4-FD5E-2D40-863B-33B97B038A1A}" destId="{AD732E2B-9FE9-0442-A7D8-E09571849F0B}" srcOrd="1" destOrd="0" parTransId="{CB7DB2B6-3B30-9944-8255-578172939C08}" sibTransId="{23C38141-9F92-264C-9DF8-C2DA320BCBB6}"/>
    <dgm:cxn modelId="{BFD458D8-76A8-FE48-86BF-CCCA89BB6AD2}" type="presOf" srcId="{81886FD5-21E2-2D48-8712-A350266F6C34}" destId="{7FAD30D6-D404-F94C-950E-6D271D6F8C15}" srcOrd="0" destOrd="0" presId="urn:microsoft.com/office/officeart/2005/8/layout/process1"/>
    <dgm:cxn modelId="{7FCCD5D9-FDF1-284B-A5FF-B2B77EB5E249}" srcId="{074AA4E4-FD5E-2D40-863B-33B97B038A1A}" destId="{F36E10D7-37E3-9E4E-B6B2-B9E6F15D1B17}" srcOrd="4" destOrd="0" parTransId="{D09F518B-DEE2-CD4B-91C4-A047098B790D}" sibTransId="{D994FE63-159E-0248-8CC3-FD508107080C}"/>
    <dgm:cxn modelId="{A8A1E2D9-0485-1347-85BE-A491912B87F7}" type="presOf" srcId="{E49088FE-DDAC-0240-AE53-6D7FB31E5E02}" destId="{0E292F07-6767-3F4C-987A-D29FD3ECD9AE}" srcOrd="0" destOrd="0" presId="urn:microsoft.com/office/officeart/2005/8/layout/process1"/>
    <dgm:cxn modelId="{08BCB5F6-0C93-574F-89E9-C2871AAF5DE3}" type="presOf" srcId="{81886FD5-21E2-2D48-8712-A350266F6C34}" destId="{310A6E86-912E-0C42-A7D6-A6651282B9BA}" srcOrd="1" destOrd="0" presId="urn:microsoft.com/office/officeart/2005/8/layout/process1"/>
    <dgm:cxn modelId="{D01F39B6-32A5-6246-9577-FE2DF1DF4070}" type="presParOf" srcId="{510D55F6-9768-9945-9227-17AD0473E222}" destId="{0581DB47-5174-9F48-B3FD-EF1ACF278985}" srcOrd="0" destOrd="0" presId="urn:microsoft.com/office/officeart/2005/8/layout/process1"/>
    <dgm:cxn modelId="{DCD354A6-D666-9748-8C0F-B7D1EF3F332C}" type="presParOf" srcId="{510D55F6-9768-9945-9227-17AD0473E222}" destId="{4C1CCA73-2B79-8C4A-96E3-B3C01A5C73DA}" srcOrd="1" destOrd="0" presId="urn:microsoft.com/office/officeart/2005/8/layout/process1"/>
    <dgm:cxn modelId="{B29036E2-ADBD-7E45-B9BC-82093617AE6A}" type="presParOf" srcId="{4C1CCA73-2B79-8C4A-96E3-B3C01A5C73DA}" destId="{D1761283-4F4B-B245-AEA5-2325B10F906A}" srcOrd="0" destOrd="0" presId="urn:microsoft.com/office/officeart/2005/8/layout/process1"/>
    <dgm:cxn modelId="{34E75BD5-7D12-4940-9AE1-1F7DCDC1D7E5}" type="presParOf" srcId="{510D55F6-9768-9945-9227-17AD0473E222}" destId="{EB1C5006-DD39-0445-9707-EE5F966C47C9}" srcOrd="2" destOrd="0" presId="urn:microsoft.com/office/officeart/2005/8/layout/process1"/>
    <dgm:cxn modelId="{EFC72A1B-DAA1-9745-8A6D-CF3CBA87B1D2}" type="presParOf" srcId="{510D55F6-9768-9945-9227-17AD0473E222}" destId="{4C70400D-3971-5648-B7A7-01DFAFB327A4}" srcOrd="3" destOrd="0" presId="urn:microsoft.com/office/officeart/2005/8/layout/process1"/>
    <dgm:cxn modelId="{ADC7287E-BBAE-D644-A076-1DDD63E30776}" type="presParOf" srcId="{4C70400D-3971-5648-B7A7-01DFAFB327A4}" destId="{9E56B6BE-9262-5F40-8B2B-097CC2A70475}" srcOrd="0" destOrd="0" presId="urn:microsoft.com/office/officeart/2005/8/layout/process1"/>
    <dgm:cxn modelId="{0C713F61-D2D6-D84F-B89C-ABA99327F8F0}" type="presParOf" srcId="{510D55F6-9768-9945-9227-17AD0473E222}" destId="{9FA2F55B-5C5C-4045-B503-991DCFB293EC}" srcOrd="4" destOrd="0" presId="urn:microsoft.com/office/officeart/2005/8/layout/process1"/>
    <dgm:cxn modelId="{74979B56-D9B2-FE45-8B2F-7B6133432334}" type="presParOf" srcId="{510D55F6-9768-9945-9227-17AD0473E222}" destId="{0E292F07-6767-3F4C-987A-D29FD3ECD9AE}" srcOrd="5" destOrd="0" presId="urn:microsoft.com/office/officeart/2005/8/layout/process1"/>
    <dgm:cxn modelId="{1DCC25C5-9EED-7E41-A9E4-77F228D9E5BB}" type="presParOf" srcId="{0E292F07-6767-3F4C-987A-D29FD3ECD9AE}" destId="{07FDDA51-C6AD-EB42-BD73-8205AD40FE16}" srcOrd="0" destOrd="0" presId="urn:microsoft.com/office/officeart/2005/8/layout/process1"/>
    <dgm:cxn modelId="{10D07270-4B10-5D40-B964-DCFF6D6A9456}" type="presParOf" srcId="{510D55F6-9768-9945-9227-17AD0473E222}" destId="{8356B1A2-8305-5C40-80E3-CBAF3EE0E638}" srcOrd="6" destOrd="0" presId="urn:microsoft.com/office/officeart/2005/8/layout/process1"/>
    <dgm:cxn modelId="{29424F6D-2631-B440-9E7D-C5CFA3B02227}" type="presParOf" srcId="{510D55F6-9768-9945-9227-17AD0473E222}" destId="{7FAD30D6-D404-F94C-950E-6D271D6F8C15}" srcOrd="7" destOrd="0" presId="urn:microsoft.com/office/officeart/2005/8/layout/process1"/>
    <dgm:cxn modelId="{1AD81C56-1230-D643-A2A7-FDDA2FB7D346}" type="presParOf" srcId="{7FAD30D6-D404-F94C-950E-6D271D6F8C15}" destId="{310A6E86-912E-0C42-A7D6-A6651282B9BA}" srcOrd="0" destOrd="0" presId="urn:microsoft.com/office/officeart/2005/8/layout/process1"/>
    <dgm:cxn modelId="{902B1E32-82D6-5246-8619-075E25F27969}" type="presParOf" srcId="{510D55F6-9768-9945-9227-17AD0473E222}" destId="{1F1E0A6A-958E-AD49-AF92-CBFC47EC1F4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FF42AA-3214-2D43-9512-80139F0A1543}" type="doc">
      <dgm:prSet loTypeId="urn:microsoft.com/office/officeart/2005/8/layout/process1" loCatId="" qsTypeId="urn:microsoft.com/office/officeart/2005/8/quickstyle/simple1" qsCatId="simple" csTypeId="urn:microsoft.com/office/officeart/2005/8/colors/accent3_2" csCatId="accent3" phldr="1"/>
      <dgm:spPr/>
    </dgm:pt>
    <dgm:pt modelId="{AFC17AF3-44BF-AE42-AF9F-034248B602EA}">
      <dgm:prSet phldrT="[Text]"/>
      <dgm:spPr/>
      <dgm:t>
        <a:bodyPr/>
        <a:lstStyle/>
        <a:p>
          <a:r>
            <a:rPr lang="en-US"/>
            <a:t>Fin Performance</a:t>
          </a:r>
        </a:p>
      </dgm:t>
    </dgm:pt>
    <dgm:pt modelId="{37DC86D6-9A5E-0348-BE03-C3B949AE769C}" type="parTrans" cxnId="{CB0B864A-49E0-5A48-8721-BAB10871E2A4}">
      <dgm:prSet/>
      <dgm:spPr/>
      <dgm:t>
        <a:bodyPr/>
        <a:lstStyle/>
        <a:p>
          <a:endParaRPr lang="en-US"/>
        </a:p>
      </dgm:t>
    </dgm:pt>
    <dgm:pt modelId="{1CB4B266-C53C-2440-BAE7-2B2F7C3C8237}" type="sibTrans" cxnId="{CB0B864A-49E0-5A48-8721-BAB10871E2A4}">
      <dgm:prSet/>
      <dgm:spPr/>
      <dgm:t>
        <a:bodyPr/>
        <a:lstStyle/>
        <a:p>
          <a:endParaRPr lang="en-US"/>
        </a:p>
      </dgm:t>
    </dgm:pt>
    <dgm:pt modelId="{342F0CC9-0184-8942-967B-88EC6CED6B16}">
      <dgm:prSet phldrT="[Text]"/>
      <dgm:spPr/>
      <dgm:t>
        <a:bodyPr/>
        <a:lstStyle/>
        <a:p>
          <a:r>
            <a:rPr lang="en-US" dirty="0"/>
            <a:t>Forecasting/</a:t>
          </a:r>
        </a:p>
        <a:p>
          <a:r>
            <a:rPr lang="en-US" dirty="0"/>
            <a:t>Cash</a:t>
          </a:r>
        </a:p>
      </dgm:t>
    </dgm:pt>
    <dgm:pt modelId="{7D9F1B33-D06E-E44C-B138-2415D30D7EA4}" type="parTrans" cxnId="{15513DE2-AA8C-DC47-A585-4F11421AB3D0}">
      <dgm:prSet/>
      <dgm:spPr/>
      <dgm:t>
        <a:bodyPr/>
        <a:lstStyle/>
        <a:p>
          <a:endParaRPr lang="en-US"/>
        </a:p>
      </dgm:t>
    </dgm:pt>
    <dgm:pt modelId="{6F23E306-D564-9A40-9E1D-DA25C5BFE51F}" type="sibTrans" cxnId="{15513DE2-AA8C-DC47-A585-4F11421AB3D0}">
      <dgm:prSet/>
      <dgm:spPr/>
      <dgm:t>
        <a:bodyPr/>
        <a:lstStyle/>
        <a:p>
          <a:endParaRPr lang="en-US"/>
        </a:p>
      </dgm:t>
    </dgm:pt>
    <dgm:pt modelId="{FF6E671D-3B64-7847-B344-AD15E5710EFB}">
      <dgm:prSet phldrT="[Text]"/>
      <dgm:spPr/>
      <dgm:t>
        <a:bodyPr/>
        <a:lstStyle/>
        <a:p>
          <a:r>
            <a:rPr lang="en-US" dirty="0"/>
            <a:t>Regulatory Framework</a:t>
          </a:r>
        </a:p>
      </dgm:t>
    </dgm:pt>
    <dgm:pt modelId="{E42A5662-6391-4045-8A9C-E0BC3F17CA07}" type="parTrans" cxnId="{FF404841-9974-4648-BFB5-14E1EA5E2C12}">
      <dgm:prSet/>
      <dgm:spPr/>
      <dgm:t>
        <a:bodyPr/>
        <a:lstStyle/>
        <a:p>
          <a:endParaRPr lang="en-US"/>
        </a:p>
      </dgm:t>
    </dgm:pt>
    <dgm:pt modelId="{1E4027F0-A7E4-E64C-8808-F8032E756973}" type="sibTrans" cxnId="{FF404841-9974-4648-BFB5-14E1EA5E2C12}">
      <dgm:prSet/>
      <dgm:spPr/>
      <dgm:t>
        <a:bodyPr/>
        <a:lstStyle/>
        <a:p>
          <a:endParaRPr lang="en-US"/>
        </a:p>
      </dgm:t>
    </dgm:pt>
    <dgm:pt modelId="{6C394E50-441C-AD47-9433-75FB4EB598DC}">
      <dgm:prSet/>
      <dgm:spPr/>
      <dgm:t>
        <a:bodyPr/>
        <a:lstStyle/>
        <a:p>
          <a:r>
            <a:rPr lang="en-US" dirty="0"/>
            <a:t>MT2</a:t>
          </a:r>
        </a:p>
      </dgm:t>
    </dgm:pt>
    <dgm:pt modelId="{810B9802-839B-774D-87B0-CC91F66BE328}" type="parTrans" cxnId="{51F74146-E5A6-8D41-8DB9-2CDC1E65732A}">
      <dgm:prSet/>
      <dgm:spPr/>
      <dgm:t>
        <a:bodyPr/>
        <a:lstStyle/>
        <a:p>
          <a:endParaRPr lang="en-US"/>
        </a:p>
      </dgm:t>
    </dgm:pt>
    <dgm:pt modelId="{BAC902CC-3540-B24E-B632-6582385C5321}" type="sibTrans" cxnId="{51F74146-E5A6-8D41-8DB9-2CDC1E65732A}">
      <dgm:prSet/>
      <dgm:spPr/>
      <dgm:t>
        <a:bodyPr/>
        <a:lstStyle/>
        <a:p>
          <a:endParaRPr lang="en-US"/>
        </a:p>
      </dgm:t>
    </dgm:pt>
    <dgm:pt modelId="{D6B54DC4-6BA6-5F4A-AB0E-BF2C75822F13}" type="pres">
      <dgm:prSet presAssocID="{87FF42AA-3214-2D43-9512-80139F0A1543}" presName="Name0" presStyleCnt="0">
        <dgm:presLayoutVars>
          <dgm:dir/>
          <dgm:resizeHandles val="exact"/>
        </dgm:presLayoutVars>
      </dgm:prSet>
      <dgm:spPr/>
    </dgm:pt>
    <dgm:pt modelId="{C306C7C0-7EE3-5749-B764-6339EC5BC848}" type="pres">
      <dgm:prSet presAssocID="{AFC17AF3-44BF-AE42-AF9F-034248B602EA}" presName="node" presStyleLbl="node1" presStyleIdx="0" presStyleCnt="4">
        <dgm:presLayoutVars>
          <dgm:bulletEnabled val="1"/>
        </dgm:presLayoutVars>
      </dgm:prSet>
      <dgm:spPr/>
    </dgm:pt>
    <dgm:pt modelId="{B095352F-D8C7-DC4A-A3F1-DCDECE29DB31}" type="pres">
      <dgm:prSet presAssocID="{1CB4B266-C53C-2440-BAE7-2B2F7C3C8237}" presName="sibTrans" presStyleLbl="sibTrans2D1" presStyleIdx="0" presStyleCnt="3"/>
      <dgm:spPr/>
    </dgm:pt>
    <dgm:pt modelId="{B84C8CD9-CD31-754A-8964-F12E1993C71B}" type="pres">
      <dgm:prSet presAssocID="{1CB4B266-C53C-2440-BAE7-2B2F7C3C8237}" presName="connectorText" presStyleLbl="sibTrans2D1" presStyleIdx="0" presStyleCnt="3"/>
      <dgm:spPr/>
    </dgm:pt>
    <dgm:pt modelId="{B6CCB5DE-D55E-2A42-8F8C-4F1321227E0C}" type="pres">
      <dgm:prSet presAssocID="{342F0CC9-0184-8942-967B-88EC6CED6B16}" presName="node" presStyleLbl="node1" presStyleIdx="1" presStyleCnt="4">
        <dgm:presLayoutVars>
          <dgm:bulletEnabled val="1"/>
        </dgm:presLayoutVars>
      </dgm:prSet>
      <dgm:spPr/>
    </dgm:pt>
    <dgm:pt modelId="{952B2FC8-09A8-C94A-BA89-6CD1AD0A36BD}" type="pres">
      <dgm:prSet presAssocID="{6F23E306-D564-9A40-9E1D-DA25C5BFE51F}" presName="sibTrans" presStyleLbl="sibTrans2D1" presStyleIdx="1" presStyleCnt="3"/>
      <dgm:spPr/>
    </dgm:pt>
    <dgm:pt modelId="{759490F6-4955-6C4E-92B0-9EE3F53DA345}" type="pres">
      <dgm:prSet presAssocID="{6F23E306-D564-9A40-9E1D-DA25C5BFE51F}" presName="connectorText" presStyleLbl="sibTrans2D1" presStyleIdx="1" presStyleCnt="3"/>
      <dgm:spPr/>
    </dgm:pt>
    <dgm:pt modelId="{698BE697-503B-E148-A4EC-E4690F10D1F3}" type="pres">
      <dgm:prSet presAssocID="{FF6E671D-3B64-7847-B344-AD15E5710EFB}" presName="node" presStyleLbl="node1" presStyleIdx="2" presStyleCnt="4">
        <dgm:presLayoutVars>
          <dgm:bulletEnabled val="1"/>
        </dgm:presLayoutVars>
      </dgm:prSet>
      <dgm:spPr/>
    </dgm:pt>
    <dgm:pt modelId="{A71F1485-B47D-6849-85E8-82FE4F236B0D}" type="pres">
      <dgm:prSet presAssocID="{1E4027F0-A7E4-E64C-8808-F8032E756973}" presName="sibTrans" presStyleLbl="sibTrans2D1" presStyleIdx="2" presStyleCnt="3"/>
      <dgm:spPr/>
    </dgm:pt>
    <dgm:pt modelId="{D2AF730F-74B1-5844-A21F-3E2197B57526}" type="pres">
      <dgm:prSet presAssocID="{1E4027F0-A7E4-E64C-8808-F8032E756973}" presName="connectorText" presStyleLbl="sibTrans2D1" presStyleIdx="2" presStyleCnt="3"/>
      <dgm:spPr/>
    </dgm:pt>
    <dgm:pt modelId="{63F784A7-D0CB-AC47-AF16-455EB8127E98}" type="pres">
      <dgm:prSet presAssocID="{6C394E50-441C-AD47-9433-75FB4EB598DC}" presName="node" presStyleLbl="node1" presStyleIdx="3" presStyleCnt="4">
        <dgm:presLayoutVars>
          <dgm:bulletEnabled val="1"/>
        </dgm:presLayoutVars>
      </dgm:prSet>
      <dgm:spPr/>
    </dgm:pt>
  </dgm:ptLst>
  <dgm:cxnLst>
    <dgm:cxn modelId="{196BD410-9290-4746-8E38-3CB8FB8370DD}" type="presOf" srcId="{1CB4B266-C53C-2440-BAE7-2B2F7C3C8237}" destId="{B84C8CD9-CD31-754A-8964-F12E1993C71B}" srcOrd="1" destOrd="0" presId="urn:microsoft.com/office/officeart/2005/8/layout/process1"/>
    <dgm:cxn modelId="{0D72D519-F87F-2E4B-85E0-10F04D2F0104}" type="presOf" srcId="{AFC17AF3-44BF-AE42-AF9F-034248B602EA}" destId="{C306C7C0-7EE3-5749-B764-6339EC5BC848}" srcOrd="0" destOrd="0" presId="urn:microsoft.com/office/officeart/2005/8/layout/process1"/>
    <dgm:cxn modelId="{FF404841-9974-4648-BFB5-14E1EA5E2C12}" srcId="{87FF42AA-3214-2D43-9512-80139F0A1543}" destId="{FF6E671D-3B64-7847-B344-AD15E5710EFB}" srcOrd="2" destOrd="0" parTransId="{E42A5662-6391-4045-8A9C-E0BC3F17CA07}" sibTransId="{1E4027F0-A7E4-E64C-8808-F8032E756973}"/>
    <dgm:cxn modelId="{77A6A764-EC1E-714C-9534-D3909F9886D3}" type="presOf" srcId="{6F23E306-D564-9A40-9E1D-DA25C5BFE51F}" destId="{759490F6-4955-6C4E-92B0-9EE3F53DA345}" srcOrd="1" destOrd="0" presId="urn:microsoft.com/office/officeart/2005/8/layout/process1"/>
    <dgm:cxn modelId="{51F74146-E5A6-8D41-8DB9-2CDC1E65732A}" srcId="{87FF42AA-3214-2D43-9512-80139F0A1543}" destId="{6C394E50-441C-AD47-9433-75FB4EB598DC}" srcOrd="3" destOrd="0" parTransId="{810B9802-839B-774D-87B0-CC91F66BE328}" sibTransId="{BAC902CC-3540-B24E-B632-6582385C5321}"/>
    <dgm:cxn modelId="{CB0B864A-49E0-5A48-8721-BAB10871E2A4}" srcId="{87FF42AA-3214-2D43-9512-80139F0A1543}" destId="{AFC17AF3-44BF-AE42-AF9F-034248B602EA}" srcOrd="0" destOrd="0" parTransId="{37DC86D6-9A5E-0348-BE03-C3B949AE769C}" sibTransId="{1CB4B266-C53C-2440-BAE7-2B2F7C3C8237}"/>
    <dgm:cxn modelId="{9351A94A-6318-3541-9DE5-AB8FA9BB80CD}" type="presOf" srcId="{FF6E671D-3B64-7847-B344-AD15E5710EFB}" destId="{698BE697-503B-E148-A4EC-E4690F10D1F3}" srcOrd="0" destOrd="0" presId="urn:microsoft.com/office/officeart/2005/8/layout/process1"/>
    <dgm:cxn modelId="{53D18F7E-3341-904B-8199-887AD66DB934}" type="presOf" srcId="{342F0CC9-0184-8942-967B-88EC6CED6B16}" destId="{B6CCB5DE-D55E-2A42-8F8C-4F1321227E0C}" srcOrd="0" destOrd="0" presId="urn:microsoft.com/office/officeart/2005/8/layout/process1"/>
    <dgm:cxn modelId="{735FB87E-296A-6C4E-8BB8-A4B921F688D7}" type="presOf" srcId="{1E4027F0-A7E4-E64C-8808-F8032E756973}" destId="{A71F1485-B47D-6849-85E8-82FE4F236B0D}" srcOrd="0" destOrd="0" presId="urn:microsoft.com/office/officeart/2005/8/layout/process1"/>
    <dgm:cxn modelId="{96C769B5-B80C-E847-B821-9410AE0B6941}" type="presOf" srcId="{87FF42AA-3214-2D43-9512-80139F0A1543}" destId="{D6B54DC4-6BA6-5F4A-AB0E-BF2C75822F13}" srcOrd="0" destOrd="0" presId="urn:microsoft.com/office/officeart/2005/8/layout/process1"/>
    <dgm:cxn modelId="{69F812D1-BC8D-304A-9244-DDA426D66891}" type="presOf" srcId="{1E4027F0-A7E4-E64C-8808-F8032E756973}" destId="{D2AF730F-74B1-5844-A21F-3E2197B57526}" srcOrd="1" destOrd="0" presId="urn:microsoft.com/office/officeart/2005/8/layout/process1"/>
    <dgm:cxn modelId="{8DFCEED7-59AE-B041-A4EE-5706D8215796}" type="presOf" srcId="{6C394E50-441C-AD47-9433-75FB4EB598DC}" destId="{63F784A7-D0CB-AC47-AF16-455EB8127E98}" srcOrd="0" destOrd="0" presId="urn:microsoft.com/office/officeart/2005/8/layout/process1"/>
    <dgm:cxn modelId="{15513DE2-AA8C-DC47-A585-4F11421AB3D0}" srcId="{87FF42AA-3214-2D43-9512-80139F0A1543}" destId="{342F0CC9-0184-8942-967B-88EC6CED6B16}" srcOrd="1" destOrd="0" parTransId="{7D9F1B33-D06E-E44C-B138-2415D30D7EA4}" sibTransId="{6F23E306-D564-9A40-9E1D-DA25C5BFE51F}"/>
    <dgm:cxn modelId="{8162F0E7-9973-9049-A895-F50F7AED25D8}" type="presOf" srcId="{6F23E306-D564-9A40-9E1D-DA25C5BFE51F}" destId="{952B2FC8-09A8-C94A-BA89-6CD1AD0A36BD}" srcOrd="0" destOrd="0" presId="urn:microsoft.com/office/officeart/2005/8/layout/process1"/>
    <dgm:cxn modelId="{55A8FFEB-207D-384A-B235-00E2C0125373}" type="presOf" srcId="{1CB4B266-C53C-2440-BAE7-2B2F7C3C8237}" destId="{B095352F-D8C7-DC4A-A3F1-DCDECE29DB31}" srcOrd="0" destOrd="0" presId="urn:microsoft.com/office/officeart/2005/8/layout/process1"/>
    <dgm:cxn modelId="{86E5AD35-84A4-4047-8682-6789BB0D2499}" type="presParOf" srcId="{D6B54DC4-6BA6-5F4A-AB0E-BF2C75822F13}" destId="{C306C7C0-7EE3-5749-B764-6339EC5BC848}" srcOrd="0" destOrd="0" presId="urn:microsoft.com/office/officeart/2005/8/layout/process1"/>
    <dgm:cxn modelId="{1D87EDF3-5F69-9C4C-9E77-A51C494FE6D4}" type="presParOf" srcId="{D6B54DC4-6BA6-5F4A-AB0E-BF2C75822F13}" destId="{B095352F-D8C7-DC4A-A3F1-DCDECE29DB31}" srcOrd="1" destOrd="0" presId="urn:microsoft.com/office/officeart/2005/8/layout/process1"/>
    <dgm:cxn modelId="{886C6D5A-3EBE-8242-B86C-74F49AFBD3DA}" type="presParOf" srcId="{B095352F-D8C7-DC4A-A3F1-DCDECE29DB31}" destId="{B84C8CD9-CD31-754A-8964-F12E1993C71B}" srcOrd="0" destOrd="0" presId="urn:microsoft.com/office/officeart/2005/8/layout/process1"/>
    <dgm:cxn modelId="{6448D8C3-3313-DB4C-A683-FDDD8ED38C65}" type="presParOf" srcId="{D6B54DC4-6BA6-5F4A-AB0E-BF2C75822F13}" destId="{B6CCB5DE-D55E-2A42-8F8C-4F1321227E0C}" srcOrd="2" destOrd="0" presId="urn:microsoft.com/office/officeart/2005/8/layout/process1"/>
    <dgm:cxn modelId="{92EFC979-2603-8D4F-B6D1-C359B7628644}" type="presParOf" srcId="{D6B54DC4-6BA6-5F4A-AB0E-BF2C75822F13}" destId="{952B2FC8-09A8-C94A-BA89-6CD1AD0A36BD}" srcOrd="3" destOrd="0" presId="urn:microsoft.com/office/officeart/2005/8/layout/process1"/>
    <dgm:cxn modelId="{01638FBA-2133-9246-A491-8B10BA7ED077}" type="presParOf" srcId="{952B2FC8-09A8-C94A-BA89-6CD1AD0A36BD}" destId="{759490F6-4955-6C4E-92B0-9EE3F53DA345}" srcOrd="0" destOrd="0" presId="urn:microsoft.com/office/officeart/2005/8/layout/process1"/>
    <dgm:cxn modelId="{A54511E4-2B17-9347-9E85-132746BFF929}" type="presParOf" srcId="{D6B54DC4-6BA6-5F4A-AB0E-BF2C75822F13}" destId="{698BE697-503B-E148-A4EC-E4690F10D1F3}" srcOrd="4" destOrd="0" presId="urn:microsoft.com/office/officeart/2005/8/layout/process1"/>
    <dgm:cxn modelId="{2CEF5B71-BA91-204A-9BEA-4B9D512D28E0}" type="presParOf" srcId="{D6B54DC4-6BA6-5F4A-AB0E-BF2C75822F13}" destId="{A71F1485-B47D-6849-85E8-82FE4F236B0D}" srcOrd="5" destOrd="0" presId="urn:microsoft.com/office/officeart/2005/8/layout/process1"/>
    <dgm:cxn modelId="{CBA1A252-C32C-0D46-AF3E-94D60D0211FF}" type="presParOf" srcId="{A71F1485-B47D-6849-85E8-82FE4F236B0D}" destId="{D2AF730F-74B1-5844-A21F-3E2197B57526}" srcOrd="0" destOrd="0" presId="urn:microsoft.com/office/officeart/2005/8/layout/process1"/>
    <dgm:cxn modelId="{9586BE6D-80FC-EA44-933E-026D37501C2A}" type="presParOf" srcId="{D6B54DC4-6BA6-5F4A-AB0E-BF2C75822F13}" destId="{63F784A7-D0CB-AC47-AF16-455EB8127E98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A1814F-7FED-6D47-A371-6E59D71EFE02}" type="doc">
      <dgm:prSet loTypeId="urn:microsoft.com/office/officeart/2005/8/layout/process1" loCatId="" qsTypeId="urn:microsoft.com/office/officeart/2005/8/quickstyle/simple1" qsCatId="simple" csTypeId="urn:microsoft.com/office/officeart/2005/8/colors/accent0_3" csCatId="mainScheme" phldr="1"/>
      <dgm:spPr/>
    </dgm:pt>
    <dgm:pt modelId="{9D2AC7A8-BB98-544E-8801-FE2A7EA20B4F}">
      <dgm:prSet phldrT="[Text]"/>
      <dgm:spPr/>
      <dgm:t>
        <a:bodyPr/>
        <a:lstStyle/>
        <a:p>
          <a:r>
            <a:rPr lang="en-US" dirty="0"/>
            <a:t>Pro </a:t>
          </a:r>
          <a:r>
            <a:rPr lang="en-US" dirty="0" err="1"/>
            <a:t>Formas</a:t>
          </a:r>
          <a:endParaRPr lang="en-US" dirty="0"/>
        </a:p>
      </dgm:t>
    </dgm:pt>
    <dgm:pt modelId="{B88BB0CD-D5AE-1940-9C62-0B09DE5E88DF}" type="parTrans" cxnId="{D68391AE-AE4D-A94C-A03A-C957A3D4DF39}">
      <dgm:prSet/>
      <dgm:spPr/>
      <dgm:t>
        <a:bodyPr/>
        <a:lstStyle/>
        <a:p>
          <a:endParaRPr lang="en-US"/>
        </a:p>
      </dgm:t>
    </dgm:pt>
    <dgm:pt modelId="{3E7DB108-0623-9746-A209-3B82FBC66D4B}" type="sibTrans" cxnId="{D68391AE-AE4D-A94C-A03A-C957A3D4DF39}">
      <dgm:prSet/>
      <dgm:spPr/>
      <dgm:t>
        <a:bodyPr/>
        <a:lstStyle/>
        <a:p>
          <a:endParaRPr lang="en-US"/>
        </a:p>
      </dgm:t>
    </dgm:pt>
    <dgm:pt modelId="{93DB5A7C-AFAC-C641-A649-B2B70BFFE695}">
      <dgm:prSet phldrT="[Text]"/>
      <dgm:spPr/>
      <dgm:t>
        <a:bodyPr/>
        <a:lstStyle/>
        <a:p>
          <a:r>
            <a:rPr lang="en-US" dirty="0"/>
            <a:t>NPV Valuation</a:t>
          </a:r>
        </a:p>
      </dgm:t>
    </dgm:pt>
    <dgm:pt modelId="{C3FCEB59-16AF-5D4A-94C8-4BAEF5C6DDE6}" type="parTrans" cxnId="{9FD21CEE-5843-754B-BB97-2D76CCC58CF0}">
      <dgm:prSet/>
      <dgm:spPr/>
      <dgm:t>
        <a:bodyPr/>
        <a:lstStyle/>
        <a:p>
          <a:endParaRPr lang="en-US"/>
        </a:p>
      </dgm:t>
    </dgm:pt>
    <dgm:pt modelId="{8DCD9A91-9F57-7143-B0CD-4A91BB5D3A41}" type="sibTrans" cxnId="{9FD21CEE-5843-754B-BB97-2D76CCC58CF0}">
      <dgm:prSet/>
      <dgm:spPr/>
      <dgm:t>
        <a:bodyPr/>
        <a:lstStyle/>
        <a:p>
          <a:endParaRPr lang="en-US"/>
        </a:p>
      </dgm:t>
    </dgm:pt>
    <dgm:pt modelId="{570C9246-BE4B-D44F-B566-785BA7F78D13}">
      <dgm:prSet phldrT="[Text]"/>
      <dgm:spPr/>
      <dgm:t>
        <a:bodyPr/>
        <a:lstStyle/>
        <a:p>
          <a:r>
            <a:rPr lang="en-US" dirty="0"/>
            <a:t>Ownership &amp; </a:t>
          </a:r>
          <a:r>
            <a:rPr lang="en-US" dirty="0" err="1"/>
            <a:t>CapTables</a:t>
          </a:r>
          <a:endParaRPr lang="en-US" dirty="0"/>
        </a:p>
      </dgm:t>
    </dgm:pt>
    <dgm:pt modelId="{CD09C29F-2060-3944-AC5D-08C9B043D57D}" type="parTrans" cxnId="{D2E6B0B6-5BB8-CE42-B0C4-4321EDEC7398}">
      <dgm:prSet/>
      <dgm:spPr/>
      <dgm:t>
        <a:bodyPr/>
        <a:lstStyle/>
        <a:p>
          <a:endParaRPr lang="en-US"/>
        </a:p>
      </dgm:t>
    </dgm:pt>
    <dgm:pt modelId="{FFF61784-00FC-E541-8454-EA49CC2C6C88}" type="sibTrans" cxnId="{D2E6B0B6-5BB8-CE42-B0C4-4321EDEC7398}">
      <dgm:prSet/>
      <dgm:spPr/>
      <dgm:t>
        <a:bodyPr/>
        <a:lstStyle/>
        <a:p>
          <a:endParaRPr lang="en-US"/>
        </a:p>
      </dgm:t>
    </dgm:pt>
    <dgm:pt modelId="{6D652287-F2DF-234B-8E6A-848E1B02D14B}">
      <dgm:prSet/>
      <dgm:spPr/>
      <dgm:t>
        <a:bodyPr/>
        <a:lstStyle/>
        <a:p>
          <a:r>
            <a:rPr lang="en-US" dirty="0"/>
            <a:t>Exits</a:t>
          </a:r>
        </a:p>
      </dgm:t>
    </dgm:pt>
    <dgm:pt modelId="{035057FE-69FE-4747-81C9-4F140D5D0811}" type="parTrans" cxnId="{D1AB5B7F-2256-2D4D-8DDC-8480EC9C503A}">
      <dgm:prSet/>
      <dgm:spPr/>
      <dgm:t>
        <a:bodyPr/>
        <a:lstStyle/>
        <a:p>
          <a:endParaRPr lang="en-US"/>
        </a:p>
      </dgm:t>
    </dgm:pt>
    <dgm:pt modelId="{333C4F21-39C0-444F-8FBB-C8758D37DCC5}" type="sibTrans" cxnId="{D1AB5B7F-2256-2D4D-8DDC-8480EC9C503A}">
      <dgm:prSet/>
      <dgm:spPr/>
      <dgm:t>
        <a:bodyPr/>
        <a:lstStyle/>
        <a:p>
          <a:endParaRPr lang="en-US"/>
        </a:p>
      </dgm:t>
    </dgm:pt>
    <dgm:pt modelId="{23911602-782A-9247-975F-CD3BCD63C917}">
      <dgm:prSet/>
      <dgm:spPr/>
      <dgm:t>
        <a:bodyPr/>
        <a:lstStyle/>
        <a:p>
          <a:r>
            <a:rPr lang="en-US" dirty="0"/>
            <a:t>FINAL</a:t>
          </a:r>
        </a:p>
      </dgm:t>
    </dgm:pt>
    <dgm:pt modelId="{2A51DB34-3297-884F-88B5-8FC0D3208368}" type="parTrans" cxnId="{93608237-D322-994A-B679-9CD95A7C2EFE}">
      <dgm:prSet/>
      <dgm:spPr/>
      <dgm:t>
        <a:bodyPr/>
        <a:lstStyle/>
        <a:p>
          <a:endParaRPr lang="en-US"/>
        </a:p>
      </dgm:t>
    </dgm:pt>
    <dgm:pt modelId="{D0817A82-41F9-1B42-975F-1FCDD0A4B3E3}" type="sibTrans" cxnId="{93608237-D322-994A-B679-9CD95A7C2EFE}">
      <dgm:prSet/>
      <dgm:spPr/>
      <dgm:t>
        <a:bodyPr/>
        <a:lstStyle/>
        <a:p>
          <a:endParaRPr lang="en-US"/>
        </a:p>
      </dgm:t>
    </dgm:pt>
    <dgm:pt modelId="{5AA75295-D3A4-8F42-A481-89064F7CBF04}" type="pres">
      <dgm:prSet presAssocID="{52A1814F-7FED-6D47-A371-6E59D71EFE02}" presName="Name0" presStyleCnt="0">
        <dgm:presLayoutVars>
          <dgm:dir/>
          <dgm:resizeHandles val="exact"/>
        </dgm:presLayoutVars>
      </dgm:prSet>
      <dgm:spPr/>
    </dgm:pt>
    <dgm:pt modelId="{28878C82-12E6-0E41-A25B-415ED275830D}" type="pres">
      <dgm:prSet presAssocID="{9D2AC7A8-BB98-544E-8801-FE2A7EA20B4F}" presName="node" presStyleLbl="node1" presStyleIdx="0" presStyleCnt="5">
        <dgm:presLayoutVars>
          <dgm:bulletEnabled val="1"/>
        </dgm:presLayoutVars>
      </dgm:prSet>
      <dgm:spPr/>
    </dgm:pt>
    <dgm:pt modelId="{7C08C889-1B0F-4B41-A7AF-F84AF108B786}" type="pres">
      <dgm:prSet presAssocID="{3E7DB108-0623-9746-A209-3B82FBC66D4B}" presName="sibTrans" presStyleLbl="sibTrans2D1" presStyleIdx="0" presStyleCnt="4"/>
      <dgm:spPr/>
    </dgm:pt>
    <dgm:pt modelId="{ED32B770-4D6F-D546-B337-C6189BD53804}" type="pres">
      <dgm:prSet presAssocID="{3E7DB108-0623-9746-A209-3B82FBC66D4B}" presName="connectorText" presStyleLbl="sibTrans2D1" presStyleIdx="0" presStyleCnt="4"/>
      <dgm:spPr/>
    </dgm:pt>
    <dgm:pt modelId="{BE38AD9E-DE43-DF48-9763-212F51271DA7}" type="pres">
      <dgm:prSet presAssocID="{93DB5A7C-AFAC-C641-A649-B2B70BFFE695}" presName="node" presStyleLbl="node1" presStyleIdx="1" presStyleCnt="5">
        <dgm:presLayoutVars>
          <dgm:bulletEnabled val="1"/>
        </dgm:presLayoutVars>
      </dgm:prSet>
      <dgm:spPr/>
    </dgm:pt>
    <dgm:pt modelId="{AD05735D-56C6-F24E-8488-E6A359EB5DBF}" type="pres">
      <dgm:prSet presAssocID="{8DCD9A91-9F57-7143-B0CD-4A91BB5D3A41}" presName="sibTrans" presStyleLbl="sibTrans2D1" presStyleIdx="1" presStyleCnt="4"/>
      <dgm:spPr/>
    </dgm:pt>
    <dgm:pt modelId="{E9D24745-615C-D94B-8097-2E230E721D74}" type="pres">
      <dgm:prSet presAssocID="{8DCD9A91-9F57-7143-B0CD-4A91BB5D3A41}" presName="connectorText" presStyleLbl="sibTrans2D1" presStyleIdx="1" presStyleCnt="4"/>
      <dgm:spPr/>
    </dgm:pt>
    <dgm:pt modelId="{300F7ACF-F8FE-6D45-A6DE-622FC408825A}" type="pres">
      <dgm:prSet presAssocID="{570C9246-BE4B-D44F-B566-785BA7F78D13}" presName="node" presStyleLbl="node1" presStyleIdx="2" presStyleCnt="5">
        <dgm:presLayoutVars>
          <dgm:bulletEnabled val="1"/>
        </dgm:presLayoutVars>
      </dgm:prSet>
      <dgm:spPr/>
    </dgm:pt>
    <dgm:pt modelId="{60976DAA-7D3D-B54A-B900-2C9DCFB34DE9}" type="pres">
      <dgm:prSet presAssocID="{FFF61784-00FC-E541-8454-EA49CC2C6C88}" presName="sibTrans" presStyleLbl="sibTrans2D1" presStyleIdx="2" presStyleCnt="4"/>
      <dgm:spPr/>
    </dgm:pt>
    <dgm:pt modelId="{71E16D62-2109-C348-8365-6312E5BD9E95}" type="pres">
      <dgm:prSet presAssocID="{FFF61784-00FC-E541-8454-EA49CC2C6C88}" presName="connectorText" presStyleLbl="sibTrans2D1" presStyleIdx="2" presStyleCnt="4"/>
      <dgm:spPr/>
    </dgm:pt>
    <dgm:pt modelId="{95FCB40A-172D-1043-97B6-A8186B6BF490}" type="pres">
      <dgm:prSet presAssocID="{6D652287-F2DF-234B-8E6A-848E1B02D14B}" presName="node" presStyleLbl="node1" presStyleIdx="3" presStyleCnt="5">
        <dgm:presLayoutVars>
          <dgm:bulletEnabled val="1"/>
        </dgm:presLayoutVars>
      </dgm:prSet>
      <dgm:spPr/>
    </dgm:pt>
    <dgm:pt modelId="{020DD20A-B54E-6A46-8D7C-59CF91AE63F0}" type="pres">
      <dgm:prSet presAssocID="{333C4F21-39C0-444F-8FBB-C8758D37DCC5}" presName="sibTrans" presStyleLbl="sibTrans2D1" presStyleIdx="3" presStyleCnt="4"/>
      <dgm:spPr/>
    </dgm:pt>
    <dgm:pt modelId="{0D96D4E8-090A-8C46-8EB4-678BDA650E27}" type="pres">
      <dgm:prSet presAssocID="{333C4F21-39C0-444F-8FBB-C8758D37DCC5}" presName="connectorText" presStyleLbl="sibTrans2D1" presStyleIdx="3" presStyleCnt="4"/>
      <dgm:spPr/>
    </dgm:pt>
    <dgm:pt modelId="{608C017F-15DC-4F48-AFBB-13FE0FB7C577}" type="pres">
      <dgm:prSet presAssocID="{23911602-782A-9247-975F-CD3BCD63C917}" presName="node" presStyleLbl="node1" presStyleIdx="4" presStyleCnt="5">
        <dgm:presLayoutVars>
          <dgm:bulletEnabled val="1"/>
        </dgm:presLayoutVars>
      </dgm:prSet>
      <dgm:spPr/>
    </dgm:pt>
  </dgm:ptLst>
  <dgm:cxnLst>
    <dgm:cxn modelId="{03955C27-04F3-AD43-BCE3-4ABE32F00C4B}" type="presOf" srcId="{3E7DB108-0623-9746-A209-3B82FBC66D4B}" destId="{7C08C889-1B0F-4B41-A7AF-F84AF108B786}" srcOrd="0" destOrd="0" presId="urn:microsoft.com/office/officeart/2005/8/layout/process1"/>
    <dgm:cxn modelId="{93608237-D322-994A-B679-9CD95A7C2EFE}" srcId="{52A1814F-7FED-6D47-A371-6E59D71EFE02}" destId="{23911602-782A-9247-975F-CD3BCD63C917}" srcOrd="4" destOrd="0" parTransId="{2A51DB34-3297-884F-88B5-8FC0D3208368}" sibTransId="{D0817A82-41F9-1B42-975F-1FCDD0A4B3E3}"/>
    <dgm:cxn modelId="{A0D8A657-8B6B-D342-B8CC-2893B157BC81}" type="presOf" srcId="{FFF61784-00FC-E541-8454-EA49CC2C6C88}" destId="{71E16D62-2109-C348-8365-6312E5BD9E95}" srcOrd="1" destOrd="0" presId="urn:microsoft.com/office/officeart/2005/8/layout/process1"/>
    <dgm:cxn modelId="{D1AB5B7F-2256-2D4D-8DDC-8480EC9C503A}" srcId="{52A1814F-7FED-6D47-A371-6E59D71EFE02}" destId="{6D652287-F2DF-234B-8E6A-848E1B02D14B}" srcOrd="3" destOrd="0" parTransId="{035057FE-69FE-4747-81C9-4F140D5D0811}" sibTransId="{333C4F21-39C0-444F-8FBB-C8758D37DCC5}"/>
    <dgm:cxn modelId="{CED98F87-46C6-1246-B9F8-F7D61D9BE176}" type="presOf" srcId="{23911602-782A-9247-975F-CD3BCD63C917}" destId="{608C017F-15DC-4F48-AFBB-13FE0FB7C577}" srcOrd="0" destOrd="0" presId="urn:microsoft.com/office/officeart/2005/8/layout/process1"/>
    <dgm:cxn modelId="{0302CF88-4073-2D4B-A143-38C049573AD6}" type="presOf" srcId="{570C9246-BE4B-D44F-B566-785BA7F78D13}" destId="{300F7ACF-F8FE-6D45-A6DE-622FC408825A}" srcOrd="0" destOrd="0" presId="urn:microsoft.com/office/officeart/2005/8/layout/process1"/>
    <dgm:cxn modelId="{53A8138E-E49F-E448-A91A-B7B34E524A8A}" type="presOf" srcId="{93DB5A7C-AFAC-C641-A649-B2B70BFFE695}" destId="{BE38AD9E-DE43-DF48-9763-212F51271DA7}" srcOrd="0" destOrd="0" presId="urn:microsoft.com/office/officeart/2005/8/layout/process1"/>
    <dgm:cxn modelId="{AD5B1D96-865C-1C4F-A4EA-A9677E8E1D98}" type="presOf" srcId="{333C4F21-39C0-444F-8FBB-C8758D37DCC5}" destId="{0D96D4E8-090A-8C46-8EB4-678BDA650E27}" srcOrd="1" destOrd="0" presId="urn:microsoft.com/office/officeart/2005/8/layout/process1"/>
    <dgm:cxn modelId="{D68391AE-AE4D-A94C-A03A-C957A3D4DF39}" srcId="{52A1814F-7FED-6D47-A371-6E59D71EFE02}" destId="{9D2AC7A8-BB98-544E-8801-FE2A7EA20B4F}" srcOrd="0" destOrd="0" parTransId="{B88BB0CD-D5AE-1940-9C62-0B09DE5E88DF}" sibTransId="{3E7DB108-0623-9746-A209-3B82FBC66D4B}"/>
    <dgm:cxn modelId="{17A703B2-1527-E04A-951F-8080A01B4702}" type="presOf" srcId="{FFF61784-00FC-E541-8454-EA49CC2C6C88}" destId="{60976DAA-7D3D-B54A-B900-2C9DCFB34DE9}" srcOrd="0" destOrd="0" presId="urn:microsoft.com/office/officeart/2005/8/layout/process1"/>
    <dgm:cxn modelId="{D2E6B0B6-5BB8-CE42-B0C4-4321EDEC7398}" srcId="{52A1814F-7FED-6D47-A371-6E59D71EFE02}" destId="{570C9246-BE4B-D44F-B566-785BA7F78D13}" srcOrd="2" destOrd="0" parTransId="{CD09C29F-2060-3944-AC5D-08C9B043D57D}" sibTransId="{FFF61784-00FC-E541-8454-EA49CC2C6C88}"/>
    <dgm:cxn modelId="{4B266FC3-EB13-4B43-8B89-0E1631528902}" type="presOf" srcId="{52A1814F-7FED-6D47-A371-6E59D71EFE02}" destId="{5AA75295-D3A4-8F42-A481-89064F7CBF04}" srcOrd="0" destOrd="0" presId="urn:microsoft.com/office/officeart/2005/8/layout/process1"/>
    <dgm:cxn modelId="{4EA5DFCF-4131-5040-A27A-F9D7556428DF}" type="presOf" srcId="{3E7DB108-0623-9746-A209-3B82FBC66D4B}" destId="{ED32B770-4D6F-D546-B337-C6189BD53804}" srcOrd="1" destOrd="0" presId="urn:microsoft.com/office/officeart/2005/8/layout/process1"/>
    <dgm:cxn modelId="{295443D5-9C37-C540-98F0-25BE88617B22}" type="presOf" srcId="{8DCD9A91-9F57-7143-B0CD-4A91BB5D3A41}" destId="{AD05735D-56C6-F24E-8488-E6A359EB5DBF}" srcOrd="0" destOrd="0" presId="urn:microsoft.com/office/officeart/2005/8/layout/process1"/>
    <dgm:cxn modelId="{8FE31FDB-E138-E145-A387-0E1558A9927A}" type="presOf" srcId="{6D652287-F2DF-234B-8E6A-848E1B02D14B}" destId="{95FCB40A-172D-1043-97B6-A8186B6BF490}" srcOrd="0" destOrd="0" presId="urn:microsoft.com/office/officeart/2005/8/layout/process1"/>
    <dgm:cxn modelId="{7AEEDFDE-5A5C-F44C-9C21-3E1FA51B0367}" type="presOf" srcId="{8DCD9A91-9F57-7143-B0CD-4A91BB5D3A41}" destId="{E9D24745-615C-D94B-8097-2E230E721D74}" srcOrd="1" destOrd="0" presId="urn:microsoft.com/office/officeart/2005/8/layout/process1"/>
    <dgm:cxn modelId="{EB4EB8E6-E854-D04C-AEE8-83D56FC42A0B}" type="presOf" srcId="{9D2AC7A8-BB98-544E-8801-FE2A7EA20B4F}" destId="{28878C82-12E6-0E41-A25B-415ED275830D}" srcOrd="0" destOrd="0" presId="urn:microsoft.com/office/officeart/2005/8/layout/process1"/>
    <dgm:cxn modelId="{9FD21CEE-5843-754B-BB97-2D76CCC58CF0}" srcId="{52A1814F-7FED-6D47-A371-6E59D71EFE02}" destId="{93DB5A7C-AFAC-C641-A649-B2B70BFFE695}" srcOrd="1" destOrd="0" parTransId="{C3FCEB59-16AF-5D4A-94C8-4BAEF5C6DDE6}" sibTransId="{8DCD9A91-9F57-7143-B0CD-4A91BB5D3A41}"/>
    <dgm:cxn modelId="{4E59A8FD-DBC6-F741-AC95-CF50AEBFB2B5}" type="presOf" srcId="{333C4F21-39C0-444F-8FBB-C8758D37DCC5}" destId="{020DD20A-B54E-6A46-8D7C-59CF91AE63F0}" srcOrd="0" destOrd="0" presId="urn:microsoft.com/office/officeart/2005/8/layout/process1"/>
    <dgm:cxn modelId="{FFA64A34-3A01-CB42-90D3-F223A638476F}" type="presParOf" srcId="{5AA75295-D3A4-8F42-A481-89064F7CBF04}" destId="{28878C82-12E6-0E41-A25B-415ED275830D}" srcOrd="0" destOrd="0" presId="urn:microsoft.com/office/officeart/2005/8/layout/process1"/>
    <dgm:cxn modelId="{606E8AF8-AC49-774D-BBCB-3F605838FE35}" type="presParOf" srcId="{5AA75295-D3A4-8F42-A481-89064F7CBF04}" destId="{7C08C889-1B0F-4B41-A7AF-F84AF108B786}" srcOrd="1" destOrd="0" presId="urn:microsoft.com/office/officeart/2005/8/layout/process1"/>
    <dgm:cxn modelId="{E4D34010-CD6F-7F4A-B64B-7DE368413876}" type="presParOf" srcId="{7C08C889-1B0F-4B41-A7AF-F84AF108B786}" destId="{ED32B770-4D6F-D546-B337-C6189BD53804}" srcOrd="0" destOrd="0" presId="urn:microsoft.com/office/officeart/2005/8/layout/process1"/>
    <dgm:cxn modelId="{994E7BBE-C68D-A741-B25B-225769A9043F}" type="presParOf" srcId="{5AA75295-D3A4-8F42-A481-89064F7CBF04}" destId="{BE38AD9E-DE43-DF48-9763-212F51271DA7}" srcOrd="2" destOrd="0" presId="urn:microsoft.com/office/officeart/2005/8/layout/process1"/>
    <dgm:cxn modelId="{3B801FAF-5206-7F49-855F-751CFE9DA912}" type="presParOf" srcId="{5AA75295-D3A4-8F42-A481-89064F7CBF04}" destId="{AD05735D-56C6-F24E-8488-E6A359EB5DBF}" srcOrd="3" destOrd="0" presId="urn:microsoft.com/office/officeart/2005/8/layout/process1"/>
    <dgm:cxn modelId="{A3DA77E1-5FD1-EE41-BD49-030DD4343D41}" type="presParOf" srcId="{AD05735D-56C6-F24E-8488-E6A359EB5DBF}" destId="{E9D24745-615C-D94B-8097-2E230E721D74}" srcOrd="0" destOrd="0" presId="urn:microsoft.com/office/officeart/2005/8/layout/process1"/>
    <dgm:cxn modelId="{9CEA4A9A-65BC-FA4E-B9A1-E1B1CE6BEAC5}" type="presParOf" srcId="{5AA75295-D3A4-8F42-A481-89064F7CBF04}" destId="{300F7ACF-F8FE-6D45-A6DE-622FC408825A}" srcOrd="4" destOrd="0" presId="urn:microsoft.com/office/officeart/2005/8/layout/process1"/>
    <dgm:cxn modelId="{D765A902-B2D4-754D-AD1E-B330D8420DAE}" type="presParOf" srcId="{5AA75295-D3A4-8F42-A481-89064F7CBF04}" destId="{60976DAA-7D3D-B54A-B900-2C9DCFB34DE9}" srcOrd="5" destOrd="0" presId="urn:microsoft.com/office/officeart/2005/8/layout/process1"/>
    <dgm:cxn modelId="{FAD94C8D-6F27-934F-A401-B1DEEF3B4A51}" type="presParOf" srcId="{60976DAA-7D3D-B54A-B900-2C9DCFB34DE9}" destId="{71E16D62-2109-C348-8365-6312E5BD9E95}" srcOrd="0" destOrd="0" presId="urn:microsoft.com/office/officeart/2005/8/layout/process1"/>
    <dgm:cxn modelId="{F569A361-0566-0E49-8D1E-BB6BD7401FB3}" type="presParOf" srcId="{5AA75295-D3A4-8F42-A481-89064F7CBF04}" destId="{95FCB40A-172D-1043-97B6-A8186B6BF490}" srcOrd="6" destOrd="0" presId="urn:microsoft.com/office/officeart/2005/8/layout/process1"/>
    <dgm:cxn modelId="{682D10CC-DED1-9D43-96F4-A2F79730EC73}" type="presParOf" srcId="{5AA75295-D3A4-8F42-A481-89064F7CBF04}" destId="{020DD20A-B54E-6A46-8D7C-59CF91AE63F0}" srcOrd="7" destOrd="0" presId="urn:microsoft.com/office/officeart/2005/8/layout/process1"/>
    <dgm:cxn modelId="{5626653A-E541-3349-98A7-23E934BBC21F}" type="presParOf" srcId="{020DD20A-B54E-6A46-8D7C-59CF91AE63F0}" destId="{0D96D4E8-090A-8C46-8EB4-678BDA650E27}" srcOrd="0" destOrd="0" presId="urn:microsoft.com/office/officeart/2005/8/layout/process1"/>
    <dgm:cxn modelId="{72550A17-00CA-6A4D-A76F-D56315EFECF8}" type="presParOf" srcId="{5AA75295-D3A4-8F42-A481-89064F7CBF04}" destId="{608C017F-15DC-4F48-AFBB-13FE0FB7C57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1DB47-5174-9F48-B3FD-EF1ACF278985}">
      <dsp:nvSpPr>
        <dsp:cNvPr id="0" name=""/>
        <dsp:cNvSpPr/>
      </dsp:nvSpPr>
      <dsp:spPr>
        <a:xfrm>
          <a:off x="2068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What is a VC/Investor</a:t>
          </a:r>
        </a:p>
      </dsp:txBody>
      <dsp:txXfrm>
        <a:off x="13336" y="771400"/>
        <a:ext cx="618687" cy="362198"/>
      </dsp:txXfrm>
    </dsp:sp>
    <dsp:sp modelId="{4C1CCA73-2B79-8C4A-96E3-B3C01A5C73DA}">
      <dsp:nvSpPr>
        <dsp:cNvPr id="0" name=""/>
        <dsp:cNvSpPr/>
      </dsp:nvSpPr>
      <dsp:spPr>
        <a:xfrm>
          <a:off x="707414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7414" y="904793"/>
        <a:ext cx="95157" cy="95413"/>
      </dsp:txXfrm>
    </dsp:sp>
    <dsp:sp modelId="{EB1C5006-DD39-0445-9707-EE5F966C47C9}">
      <dsp:nvSpPr>
        <dsp:cNvPr id="0" name=""/>
        <dsp:cNvSpPr/>
      </dsp:nvSpPr>
      <dsp:spPr>
        <a:xfrm>
          <a:off x="899781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Deal Screening</a:t>
          </a:r>
        </a:p>
      </dsp:txBody>
      <dsp:txXfrm>
        <a:off x="911049" y="771400"/>
        <a:ext cx="618687" cy="362198"/>
      </dsp:txXfrm>
    </dsp:sp>
    <dsp:sp modelId="{4C70400D-3971-5648-B7A7-01DFAFB327A4}">
      <dsp:nvSpPr>
        <dsp:cNvPr id="0" name=""/>
        <dsp:cNvSpPr/>
      </dsp:nvSpPr>
      <dsp:spPr>
        <a:xfrm>
          <a:off x="1605126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05126" y="904793"/>
        <a:ext cx="95157" cy="95413"/>
      </dsp:txXfrm>
    </dsp:sp>
    <dsp:sp modelId="{9FA2F55B-5C5C-4045-B503-991DCFB293EC}">
      <dsp:nvSpPr>
        <dsp:cNvPr id="0" name=""/>
        <dsp:cNvSpPr/>
      </dsp:nvSpPr>
      <dsp:spPr>
        <a:xfrm>
          <a:off x="1797493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Financial Statements</a:t>
          </a:r>
        </a:p>
      </dsp:txBody>
      <dsp:txXfrm>
        <a:off x="1808761" y="771400"/>
        <a:ext cx="618687" cy="362198"/>
      </dsp:txXfrm>
    </dsp:sp>
    <dsp:sp modelId="{0E292F07-6767-3F4C-987A-D29FD3ECD9AE}">
      <dsp:nvSpPr>
        <dsp:cNvPr id="0" name=""/>
        <dsp:cNvSpPr/>
      </dsp:nvSpPr>
      <dsp:spPr>
        <a:xfrm>
          <a:off x="2502839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502839" y="904793"/>
        <a:ext cx="95157" cy="95413"/>
      </dsp:txXfrm>
    </dsp:sp>
    <dsp:sp modelId="{8356B1A2-8305-5C40-80E3-CBAF3EE0E638}">
      <dsp:nvSpPr>
        <dsp:cNvPr id="0" name=""/>
        <dsp:cNvSpPr/>
      </dsp:nvSpPr>
      <dsp:spPr>
        <a:xfrm>
          <a:off x="2695206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Company Structure</a:t>
          </a:r>
        </a:p>
      </dsp:txBody>
      <dsp:txXfrm>
        <a:off x="2706474" y="771400"/>
        <a:ext cx="618687" cy="362198"/>
      </dsp:txXfrm>
    </dsp:sp>
    <dsp:sp modelId="{7FAD30D6-D404-F94C-950E-6D271D6F8C15}">
      <dsp:nvSpPr>
        <dsp:cNvPr id="0" name=""/>
        <dsp:cNvSpPr/>
      </dsp:nvSpPr>
      <dsp:spPr>
        <a:xfrm>
          <a:off x="3400552" y="872988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400552" y="904793"/>
        <a:ext cx="95157" cy="95413"/>
      </dsp:txXfrm>
    </dsp:sp>
    <dsp:sp modelId="{1F1E0A6A-958E-AD49-AF92-CBFC47EC1F48}">
      <dsp:nvSpPr>
        <dsp:cNvPr id="0" name=""/>
        <dsp:cNvSpPr/>
      </dsp:nvSpPr>
      <dsp:spPr>
        <a:xfrm>
          <a:off x="3592919" y="760132"/>
          <a:ext cx="641223" cy="38473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MT1</a:t>
          </a:r>
        </a:p>
      </dsp:txBody>
      <dsp:txXfrm>
        <a:off x="3604187" y="771400"/>
        <a:ext cx="618687" cy="362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6C7C0-7EE3-5749-B764-6339EC5BC848}">
      <dsp:nvSpPr>
        <dsp:cNvPr id="0" name=""/>
        <dsp:cNvSpPr/>
      </dsp:nvSpPr>
      <dsp:spPr>
        <a:xfrm>
          <a:off x="1565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Fin Performance</a:t>
          </a:r>
        </a:p>
      </dsp:txBody>
      <dsp:txXfrm>
        <a:off x="13594" y="785348"/>
        <a:ext cx="660456" cy="386650"/>
      </dsp:txXfrm>
    </dsp:sp>
    <dsp:sp modelId="{B095352F-D8C7-DC4A-A3F1-DCDECE29DB31}">
      <dsp:nvSpPr>
        <dsp:cNvPr id="0" name=""/>
        <dsp:cNvSpPr/>
      </dsp:nvSpPr>
      <dsp:spPr>
        <a:xfrm>
          <a:off x="75453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754530" y="927746"/>
        <a:ext cx="101581" cy="101855"/>
      </dsp:txXfrm>
    </dsp:sp>
    <dsp:sp modelId="{B6CCB5DE-D55E-2A42-8F8C-4F1321227E0C}">
      <dsp:nvSpPr>
        <dsp:cNvPr id="0" name=""/>
        <dsp:cNvSpPr/>
      </dsp:nvSpPr>
      <dsp:spPr>
        <a:xfrm>
          <a:off x="959885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Forecasting/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Cash</a:t>
          </a:r>
        </a:p>
      </dsp:txBody>
      <dsp:txXfrm>
        <a:off x="971914" y="785348"/>
        <a:ext cx="660456" cy="386650"/>
      </dsp:txXfrm>
    </dsp:sp>
    <dsp:sp modelId="{952B2FC8-09A8-C94A-BA89-6CD1AD0A36BD}">
      <dsp:nvSpPr>
        <dsp:cNvPr id="0" name=""/>
        <dsp:cNvSpPr/>
      </dsp:nvSpPr>
      <dsp:spPr>
        <a:xfrm>
          <a:off x="171285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712850" y="927746"/>
        <a:ext cx="101581" cy="101855"/>
      </dsp:txXfrm>
    </dsp:sp>
    <dsp:sp modelId="{698BE697-503B-E148-A4EC-E4690F10D1F3}">
      <dsp:nvSpPr>
        <dsp:cNvPr id="0" name=""/>
        <dsp:cNvSpPr/>
      </dsp:nvSpPr>
      <dsp:spPr>
        <a:xfrm>
          <a:off x="1918204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Regulatory Framework</a:t>
          </a:r>
        </a:p>
      </dsp:txBody>
      <dsp:txXfrm>
        <a:off x="1930233" y="785348"/>
        <a:ext cx="660456" cy="386650"/>
      </dsp:txXfrm>
    </dsp:sp>
    <dsp:sp modelId="{A71F1485-B47D-6849-85E8-82FE4F236B0D}">
      <dsp:nvSpPr>
        <dsp:cNvPr id="0" name=""/>
        <dsp:cNvSpPr/>
      </dsp:nvSpPr>
      <dsp:spPr>
        <a:xfrm>
          <a:off x="2671170" y="893794"/>
          <a:ext cx="145116" cy="1697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671170" y="927746"/>
        <a:ext cx="101581" cy="101855"/>
      </dsp:txXfrm>
    </dsp:sp>
    <dsp:sp modelId="{63F784A7-D0CB-AC47-AF16-455EB8127E98}">
      <dsp:nvSpPr>
        <dsp:cNvPr id="0" name=""/>
        <dsp:cNvSpPr/>
      </dsp:nvSpPr>
      <dsp:spPr>
        <a:xfrm>
          <a:off x="2876524" y="773319"/>
          <a:ext cx="684514" cy="41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MT2</a:t>
          </a:r>
        </a:p>
      </dsp:txBody>
      <dsp:txXfrm>
        <a:off x="2888553" y="785348"/>
        <a:ext cx="660456" cy="386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878C82-12E6-0E41-A25B-415ED275830D}">
      <dsp:nvSpPr>
        <dsp:cNvPr id="0" name=""/>
        <dsp:cNvSpPr/>
      </dsp:nvSpPr>
      <dsp:spPr>
        <a:xfrm>
          <a:off x="2068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Pro </a:t>
          </a:r>
          <a:r>
            <a:rPr lang="en-US" sz="900" kern="1200" dirty="0" err="1"/>
            <a:t>Formas</a:t>
          </a:r>
          <a:endParaRPr lang="en-US" sz="900" kern="1200" dirty="0"/>
        </a:p>
      </dsp:txBody>
      <dsp:txXfrm>
        <a:off x="15978" y="775171"/>
        <a:ext cx="613403" cy="447086"/>
      </dsp:txXfrm>
    </dsp:sp>
    <dsp:sp modelId="{7C08C889-1B0F-4B41-A7AF-F84AF108B786}">
      <dsp:nvSpPr>
        <dsp:cNvPr id="0" name=""/>
        <dsp:cNvSpPr/>
      </dsp:nvSpPr>
      <dsp:spPr>
        <a:xfrm>
          <a:off x="707414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707414" y="951007"/>
        <a:ext cx="95157" cy="95413"/>
      </dsp:txXfrm>
    </dsp:sp>
    <dsp:sp modelId="{BE38AD9E-DE43-DF48-9763-212F51271DA7}">
      <dsp:nvSpPr>
        <dsp:cNvPr id="0" name=""/>
        <dsp:cNvSpPr/>
      </dsp:nvSpPr>
      <dsp:spPr>
        <a:xfrm>
          <a:off x="899781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NPV Valuation</a:t>
          </a:r>
        </a:p>
      </dsp:txBody>
      <dsp:txXfrm>
        <a:off x="913691" y="775171"/>
        <a:ext cx="613403" cy="447086"/>
      </dsp:txXfrm>
    </dsp:sp>
    <dsp:sp modelId="{AD05735D-56C6-F24E-8488-E6A359EB5DBF}">
      <dsp:nvSpPr>
        <dsp:cNvPr id="0" name=""/>
        <dsp:cNvSpPr/>
      </dsp:nvSpPr>
      <dsp:spPr>
        <a:xfrm>
          <a:off x="1605126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1605126" y="951007"/>
        <a:ext cx="95157" cy="95413"/>
      </dsp:txXfrm>
    </dsp:sp>
    <dsp:sp modelId="{300F7ACF-F8FE-6D45-A6DE-622FC408825A}">
      <dsp:nvSpPr>
        <dsp:cNvPr id="0" name=""/>
        <dsp:cNvSpPr/>
      </dsp:nvSpPr>
      <dsp:spPr>
        <a:xfrm>
          <a:off x="1797493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Ownership &amp; </a:t>
          </a:r>
          <a:r>
            <a:rPr lang="en-US" sz="900" kern="1200" dirty="0" err="1"/>
            <a:t>CapTables</a:t>
          </a:r>
          <a:endParaRPr lang="en-US" sz="900" kern="1200" dirty="0"/>
        </a:p>
      </dsp:txBody>
      <dsp:txXfrm>
        <a:off x="1811403" y="775171"/>
        <a:ext cx="613403" cy="447086"/>
      </dsp:txXfrm>
    </dsp:sp>
    <dsp:sp modelId="{60976DAA-7D3D-B54A-B900-2C9DCFB34DE9}">
      <dsp:nvSpPr>
        <dsp:cNvPr id="0" name=""/>
        <dsp:cNvSpPr/>
      </dsp:nvSpPr>
      <dsp:spPr>
        <a:xfrm>
          <a:off x="2502839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2502839" y="951007"/>
        <a:ext cx="95157" cy="95413"/>
      </dsp:txXfrm>
    </dsp:sp>
    <dsp:sp modelId="{95FCB40A-172D-1043-97B6-A8186B6BF490}">
      <dsp:nvSpPr>
        <dsp:cNvPr id="0" name=""/>
        <dsp:cNvSpPr/>
      </dsp:nvSpPr>
      <dsp:spPr>
        <a:xfrm>
          <a:off x="2695206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Exits</a:t>
          </a:r>
        </a:p>
      </dsp:txBody>
      <dsp:txXfrm>
        <a:off x="2709116" y="775171"/>
        <a:ext cx="613403" cy="447086"/>
      </dsp:txXfrm>
    </dsp:sp>
    <dsp:sp modelId="{020DD20A-B54E-6A46-8D7C-59CF91AE63F0}">
      <dsp:nvSpPr>
        <dsp:cNvPr id="0" name=""/>
        <dsp:cNvSpPr/>
      </dsp:nvSpPr>
      <dsp:spPr>
        <a:xfrm>
          <a:off x="3400552" y="919202"/>
          <a:ext cx="135939" cy="159023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400552" y="951007"/>
        <a:ext cx="95157" cy="95413"/>
      </dsp:txXfrm>
    </dsp:sp>
    <dsp:sp modelId="{608C017F-15DC-4F48-AFBB-13FE0FB7C577}">
      <dsp:nvSpPr>
        <dsp:cNvPr id="0" name=""/>
        <dsp:cNvSpPr/>
      </dsp:nvSpPr>
      <dsp:spPr>
        <a:xfrm>
          <a:off x="3592919" y="761261"/>
          <a:ext cx="641223" cy="47490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FINAL</a:t>
          </a:r>
        </a:p>
      </dsp:txBody>
      <dsp:txXfrm>
        <a:off x="3606829" y="775171"/>
        <a:ext cx="613403" cy="447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 lIns="0" tIns="0" rIns="0" bIns="0"/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/>
            </a:lvl2pPr>
          </a:lstStyle>
          <a:p>
            <a:endParaRPr lang="en-US"/>
          </a:p>
          <a:p>
            <a:pPr lvl="1"/>
            <a:r>
              <a:rPr lang="en-US"/>
              <a:t>	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129539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  <a:p>
            <a:pPr lvl="1"/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966640" y="2949162"/>
            <a:ext cx="526414" cy="271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rgbClr val="231F20"/>
                </a:solidFill>
                <a:latin typeface="Rockwell"/>
                <a:cs typeface="Rockwell"/>
              </a:defRPr>
            </a:lvl1pPr>
          </a:lstStyle>
          <a:p>
            <a:pPr marL="12700">
              <a:lnSpc>
                <a:spcPts val="1535"/>
              </a:lnSpc>
              <a:spcBef>
                <a:spcPts val="75"/>
              </a:spcBef>
            </a:pPr>
            <a:r>
              <a:rPr lang="en-US" spc="-5"/>
              <a:t>Leeds B U S I N E S 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171450" indent="-171450">
        <a:buFont typeface="Arial" panose="020B0604020202020204" pitchFamily="34" charset="0"/>
        <a:buChar char="•"/>
        <a:defRPr>
          <a:latin typeface="+mn-lt"/>
          <a:ea typeface="+mn-ea"/>
          <a:cs typeface="+mn-cs"/>
        </a:defRPr>
      </a:lvl1pPr>
      <a:lvl2pPr marL="742950" indent="-285750">
        <a:buFont typeface="Arial" panose="020B0604020202020204" pitchFamily="34" charset="0"/>
        <a:buChar char="•"/>
        <a:defRPr sz="1100"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113595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       ESBM4570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Midterm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2 </a:t>
            </a: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Revoew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Week 10.2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>
                <a:latin typeface="Arial"/>
                <a:cs typeface="Arial"/>
              </a:rPr>
              <a:t>P</a:t>
            </a:r>
            <a:r>
              <a:rPr sz="600" spc="-5">
                <a:latin typeface="Arial"/>
                <a:cs typeface="Arial"/>
              </a:rPr>
              <a:t>age</a:t>
            </a:r>
            <a:r>
              <a:rPr sz="600" spc="-1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Professor Burnes</a:t>
            </a:r>
          </a:p>
          <a:p>
            <a:pPr algn="ctr"/>
            <a:r>
              <a:rPr lang="en-US" b="1"/>
              <a:t>Leeds School of Business</a:t>
            </a:r>
          </a:p>
          <a:p>
            <a:pPr algn="ctr"/>
            <a:r>
              <a:rPr lang="en-US" b="1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3091-E388-13EB-5F90-872FEA6D5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MT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72237-5B37-FE04-2D0E-7A4D85706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413762"/>
            <a:ext cx="4357623" cy="28777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Midterm 2 is 10/27</a:t>
            </a:r>
          </a:p>
          <a:p>
            <a:pPr marL="0" indent="0">
              <a:buNone/>
            </a:pPr>
            <a:r>
              <a:rPr lang="en-US" dirty="0"/>
              <a:t>It is worth 100 points</a:t>
            </a:r>
          </a:p>
          <a:p>
            <a:pPr marL="0" indent="0">
              <a:buNone/>
            </a:pPr>
            <a:r>
              <a:rPr lang="en-US" dirty="0"/>
              <a:t>You will have 70 minutes to complete the exam</a:t>
            </a:r>
          </a:p>
          <a:p>
            <a:pPr marL="0" indent="0">
              <a:buNone/>
            </a:pPr>
            <a:r>
              <a:rPr lang="en-US" dirty="0"/>
              <a:t>You will need to turn in your spreadsheet.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may use a single-sided 8.5”x11” sheet of notes (printed or written)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work must be your own.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Covers Weeks 7, 8, 9, 10</a:t>
            </a:r>
          </a:p>
          <a:p>
            <a:pPr marL="0" indent="0">
              <a:buNone/>
            </a:pPr>
            <a:r>
              <a:rPr lang="en-US" dirty="0"/>
              <a:t>Focus is methods, calculations and thinking NOT specific Case Details (like names, or ROI)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Review HW 2 3 and 4.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These slides are helpful and indicative, but may not be 100% inclusive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21793-0711-B07E-B355-29F6CAD4AC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33701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08033-49D7-629C-E384-6BC57A3D9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The Arc of Our Semester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7C09D-33B4-2886-C61F-677FB92C568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685"/>
              </a:lnSpc>
            </a:pPr>
            <a:r>
              <a:rPr lang="en-US" spc="-10"/>
              <a:t>ESBM 4570 Fall 2025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1925D-7B61-D8A2-3601-C45F509E7B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4594FF9-6123-EF5D-6285-7521955BC018}"/>
              </a:ext>
            </a:extLst>
          </p:cNvPr>
          <p:cNvGraphicFramePr/>
          <p:nvPr/>
        </p:nvGraphicFramePr>
        <p:xfrm>
          <a:off x="274673" y="-89882"/>
          <a:ext cx="4236211" cy="190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43CFCC0-4329-C376-9055-6D0BC77054AE}"/>
              </a:ext>
            </a:extLst>
          </p:cNvPr>
          <p:cNvGraphicFramePr/>
          <p:nvPr/>
        </p:nvGraphicFramePr>
        <p:xfrm>
          <a:off x="303511" y="555024"/>
          <a:ext cx="3562604" cy="1957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3D348FC-C22B-A5E1-C10B-EAE3DF0D6C33}"/>
              </a:ext>
            </a:extLst>
          </p:cNvPr>
          <p:cNvGraphicFramePr/>
          <p:nvPr/>
        </p:nvGraphicFramePr>
        <p:xfrm>
          <a:off x="330536" y="1347133"/>
          <a:ext cx="4236211" cy="1997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97C3B075-A841-FF5E-A2B3-B4C991F033F8}"/>
              </a:ext>
            </a:extLst>
          </p:cNvPr>
          <p:cNvSpPr/>
          <p:nvPr/>
        </p:nvSpPr>
        <p:spPr>
          <a:xfrm>
            <a:off x="19050" y="739775"/>
            <a:ext cx="228598" cy="228600"/>
          </a:xfrm>
          <a:prstGeom prst="ellipse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711DF4-3ABF-6FDE-EC7F-24F500E720A3}"/>
              </a:ext>
            </a:extLst>
          </p:cNvPr>
          <p:cNvSpPr/>
          <p:nvPr/>
        </p:nvSpPr>
        <p:spPr>
          <a:xfrm>
            <a:off x="25736" y="1384301"/>
            <a:ext cx="228598" cy="228600"/>
          </a:xfrm>
          <a:prstGeom prst="ellipse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417B20-8779-3676-AEC1-CA801520C96E}"/>
              </a:ext>
            </a:extLst>
          </p:cNvPr>
          <p:cNvSpPr/>
          <p:nvPr/>
        </p:nvSpPr>
        <p:spPr>
          <a:xfrm>
            <a:off x="4029" y="2157439"/>
            <a:ext cx="228598" cy="228600"/>
          </a:xfrm>
          <a:prstGeom prst="ellipse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754BAD-18BA-1803-71D4-E89EBBDDF55C}"/>
              </a:ext>
            </a:extLst>
          </p:cNvPr>
          <p:cNvSpPr/>
          <p:nvPr/>
        </p:nvSpPr>
        <p:spPr>
          <a:xfrm>
            <a:off x="118328" y="1043888"/>
            <a:ext cx="3093534" cy="91050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16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Graphic spid="8" grpId="0">
        <p:bldAsOne/>
      </p:bldGraphic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65AA-CAE3-4FDD-123B-840ABAE7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CASH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36014-983F-05FE-D678-937554088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354217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Put these Calculations ON YOUR SHEET.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Statement of Cash Flows: be able to build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Working Capital vs Net Working Capital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Cash Burn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Cash Build Net Cash Burn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Runway Implications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80898-0D0C-9E6A-3E24-4A88B808D6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62020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89FD-C4F3-5543-5FBB-75DD8819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Statement of Cash Flows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04934-78F8-3E7D-21DC-AE946500C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 Main Sections: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Cashflow to/from Operations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Cashflow to/from Investing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Cashflow to/from Financing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B832F-DDB3-A428-F94A-20627CAB581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F82659-1DFB-D037-0177-258AE6DD1CE6}"/>
              </a:ext>
            </a:extLst>
          </p:cNvPr>
          <p:cNvSpPr txBox="1">
            <a:spLocks/>
          </p:cNvSpPr>
          <p:nvPr/>
        </p:nvSpPr>
        <p:spPr>
          <a:xfrm>
            <a:off x="191232" y="1619864"/>
            <a:ext cx="4357623" cy="10156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>
              <a:buFont typeface="Arial" panose="020B0604020202020204" pitchFamily="34" charset="0"/>
              <a:buChar char="•"/>
              <a:defRPr sz="11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>
              <a:buFont typeface="Arial" panose="020B0604020202020204" pitchFamily="34" charset="0"/>
              <a:buChar char="•"/>
              <a:defRPr sz="1100"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kern="0" dirty="0"/>
              <a:t>Where does each of the following go?</a:t>
            </a:r>
          </a:p>
          <a:p>
            <a:pPr marL="228600" indent="-228600">
              <a:buFont typeface="+mj-lt"/>
              <a:buAutoNum type="arabicPeriod"/>
            </a:pPr>
            <a:r>
              <a:rPr lang="en-US" kern="0" dirty="0"/>
              <a:t>Increase in Accounts Payable</a:t>
            </a:r>
          </a:p>
          <a:p>
            <a:pPr marL="228600" indent="-228600">
              <a:buFont typeface="+mj-lt"/>
              <a:buAutoNum type="arabicPeriod"/>
            </a:pPr>
            <a:r>
              <a:rPr lang="en-US" kern="0" dirty="0"/>
              <a:t>Pay Dividends</a:t>
            </a:r>
          </a:p>
          <a:p>
            <a:pPr marL="228600" indent="-228600">
              <a:buFont typeface="+mj-lt"/>
              <a:buAutoNum type="arabicPeriod"/>
            </a:pPr>
            <a:r>
              <a:rPr lang="en-US" kern="0" dirty="0"/>
              <a:t>Buy a new Warehouse</a:t>
            </a:r>
          </a:p>
          <a:p>
            <a:pPr marL="228600" indent="-228600">
              <a:buFont typeface="+mj-lt"/>
              <a:buAutoNum type="arabicPeriod"/>
            </a:pPr>
            <a:r>
              <a:rPr lang="en-US" kern="0" dirty="0"/>
              <a:t>Depreciation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kern="0" dirty="0"/>
              <a:t>Stock Buyback</a:t>
            </a:r>
          </a:p>
        </p:txBody>
      </p:sp>
    </p:spTree>
    <p:extLst>
      <p:ext uri="{BB962C8B-B14F-4D97-AF65-F5344CB8AC3E}">
        <p14:creationId xmlns:p14="http://schemas.microsoft.com/office/powerpoint/2010/main" val="3582885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4DB94-F551-C075-9DDA-97131A5B7C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32FBA-23C1-B9D1-D1F2-7E681899E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81" y="233670"/>
            <a:ext cx="3520451" cy="322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968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B4A0-DA09-9588-2753-F45BEAB2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Runway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63D9C-B9E7-677A-8C68-FED6328CB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6927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determine that you have $125,000 in cash, and are showing a Net Burn of $500,000/year.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long do you have left to be in business under this scenario?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=125000/500000 = .25 </a:t>
            </a:r>
            <a:r>
              <a:rPr lang="en-US" dirty="0" err="1"/>
              <a:t>yr</a:t>
            </a:r>
            <a:r>
              <a:rPr lang="en-US" dirty="0"/>
              <a:t> = 3 months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might you do to address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FDF16-F9D6-077C-D4E2-7519F95172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56223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E261-78CD-CD72-4DA4-85755CC1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WC vs NWC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3F8BA-DE6C-916F-C37D-05C1F0D5D5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760A0-B90B-58C2-DB3A-F795AF4DB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9" y="1107460"/>
            <a:ext cx="3999019" cy="89339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C420790-ED2A-3F10-EFD5-2BF9D1221E63}"/>
              </a:ext>
            </a:extLst>
          </p:cNvPr>
          <p:cNvSpPr/>
          <p:nvPr/>
        </p:nvSpPr>
        <p:spPr>
          <a:xfrm>
            <a:off x="2408904" y="1263445"/>
            <a:ext cx="388374" cy="2444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C26F45-8B4D-31F7-1379-FCA69383B9AD}"/>
              </a:ext>
            </a:extLst>
          </p:cNvPr>
          <p:cNvSpPr/>
          <p:nvPr/>
        </p:nvSpPr>
        <p:spPr>
          <a:xfrm>
            <a:off x="3514718" y="1263444"/>
            <a:ext cx="541087" cy="29988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62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41C-2248-F8BE-560A-1A43F944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Additional Methods addressed in Tesla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30129-EFC6-AA8A-5784-757AFBAD1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928622"/>
            <a:ext cx="4357623" cy="1015663"/>
          </a:xfrm>
        </p:spPr>
        <p:txBody>
          <a:bodyPr/>
          <a:lstStyle/>
          <a:p>
            <a:r>
              <a:rPr lang="en-US" dirty="0"/>
              <a:t>Equity Multiplier (I won’t ask you to do an EM for a balance sheet where you will need to see “adjustments”)</a:t>
            </a:r>
          </a:p>
          <a:p>
            <a:r>
              <a:rPr lang="en-US" dirty="0"/>
              <a:t>Liquidity (how might you measure)</a:t>
            </a:r>
          </a:p>
          <a:p>
            <a:pPr lvl="1"/>
            <a:r>
              <a:rPr lang="en-US" dirty="0"/>
              <a:t>TIE</a:t>
            </a:r>
          </a:p>
          <a:p>
            <a:pPr lvl="1"/>
            <a:r>
              <a:rPr lang="en-US" dirty="0"/>
              <a:t>Current Ratio</a:t>
            </a:r>
          </a:p>
          <a:p>
            <a:pPr lvl="1"/>
            <a:r>
              <a:rPr lang="en-US" dirty="0"/>
              <a:t>Quick Ratio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62E6D-902A-D116-3A52-9DD2B94974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089247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A72A2-1507-A6AD-6C4E-51DD8C79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Operating vs Cash Cycles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0783E-F5CC-7C74-6830-B802B9EBD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r>
              <a:rPr lang="en-US" dirty="0"/>
              <a:t>Understand Models</a:t>
            </a:r>
          </a:p>
          <a:p>
            <a:r>
              <a:rPr lang="en-US" dirty="0"/>
              <a:t>Trade-offs</a:t>
            </a:r>
          </a:p>
          <a:p>
            <a:r>
              <a:rPr lang="en-US" dirty="0"/>
              <a:t>Calculations</a:t>
            </a:r>
          </a:p>
          <a:p>
            <a:r>
              <a:rPr lang="en-US" dirty="0"/>
              <a:t>Why are they important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1CECB-5DE3-DEA8-3137-BF0500BD89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70392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C3240-F63E-7C2D-EC57-7A9CF4104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35" y="190295"/>
            <a:ext cx="3698314" cy="646331"/>
          </a:xfrm>
        </p:spPr>
        <p:txBody>
          <a:bodyPr/>
          <a:lstStyle/>
          <a:p>
            <a:r>
              <a:rPr lang="en-US" dirty="0"/>
              <a:t>Are the following Increasing or Decreasing the Operating Cycle?</a:t>
            </a:r>
            <a:br>
              <a:rPr lang="en-US" dirty="0"/>
            </a:br>
            <a:r>
              <a:rPr lang="en-US" dirty="0"/>
              <a:t>How about the Cash Cycle?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0A470-29C6-4823-B80C-5875F6AE0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535" y="1116880"/>
            <a:ext cx="4357623" cy="846386"/>
          </a:xfrm>
        </p:spPr>
        <p:txBody>
          <a:bodyPr/>
          <a:lstStyle/>
          <a:p>
            <a:r>
              <a:rPr lang="en-US" dirty="0"/>
              <a:t>Increasing Days AP</a:t>
            </a:r>
          </a:p>
          <a:p>
            <a:r>
              <a:rPr lang="en-US" dirty="0"/>
              <a:t>Increasing Days AR</a:t>
            </a:r>
          </a:p>
          <a:p>
            <a:r>
              <a:rPr lang="en-US" dirty="0"/>
              <a:t>Selling More Quickly</a:t>
            </a:r>
          </a:p>
          <a:p>
            <a:r>
              <a:rPr lang="en-US" dirty="0"/>
              <a:t>Increased Production Time</a:t>
            </a:r>
          </a:p>
          <a:p>
            <a:r>
              <a:rPr lang="en-US" dirty="0"/>
              <a:t>Lower Inventory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B88A6-1DA7-E7BE-2AAD-0BF59ED743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5875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77133C-172D-3B89-B7C8-D22A88FE5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206375"/>
            <a:ext cx="4455673" cy="600164"/>
          </a:xfrm>
        </p:spPr>
        <p:txBody>
          <a:bodyPr/>
          <a:lstStyle/>
          <a:p>
            <a:r>
              <a:rPr lang="en-US" dirty="0"/>
              <a:t>A Challenge is that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Operating Cycles </a:t>
            </a:r>
            <a:r>
              <a:rPr lang="en-US" dirty="0"/>
              <a:t>and </a:t>
            </a:r>
            <a:br>
              <a:rPr lang="en-US" dirty="0"/>
            </a:b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Cash Cycles </a:t>
            </a:r>
            <a:r>
              <a:rPr lang="en-US" dirty="0"/>
              <a:t>are not (typically) synchronized </a:t>
            </a:r>
            <a:r>
              <a:rPr lang="en-US" sz="1100" dirty="0"/>
              <a:t>(week 8)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39906-61FB-B365-E61E-BF1A575E50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61D0DD-317F-0146-6884-DB9EC0341591}"/>
              </a:ext>
            </a:extLst>
          </p:cNvPr>
          <p:cNvCxnSpPr/>
          <p:nvPr/>
        </p:nvCxnSpPr>
        <p:spPr>
          <a:xfrm>
            <a:off x="126238" y="1577975"/>
            <a:ext cx="448386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E6B063-3534-A083-289D-2CF6A06FD74C}"/>
              </a:ext>
            </a:extLst>
          </p:cNvPr>
          <p:cNvCxnSpPr>
            <a:cxnSpLocks/>
          </p:cNvCxnSpPr>
          <p:nvPr/>
        </p:nvCxnSpPr>
        <p:spPr>
          <a:xfrm>
            <a:off x="336295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27D78B-5202-BF0B-DE99-C46E66784683}"/>
              </a:ext>
            </a:extLst>
          </p:cNvPr>
          <p:cNvCxnSpPr>
            <a:cxnSpLocks/>
          </p:cNvCxnSpPr>
          <p:nvPr/>
        </p:nvCxnSpPr>
        <p:spPr>
          <a:xfrm flipV="1">
            <a:off x="2152650" y="96837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475BA1-653B-00E3-FA8F-A71F29D0F8CF}"/>
              </a:ext>
            </a:extLst>
          </p:cNvPr>
          <p:cNvSpPr txBox="1"/>
          <p:nvPr/>
        </p:nvSpPr>
        <p:spPr>
          <a:xfrm>
            <a:off x="28189" y="660849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(stuff) purchased and </a:t>
            </a:r>
          </a:p>
          <a:p>
            <a:r>
              <a:rPr lang="en-US" sz="900" dirty="0"/>
              <a:t>produced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C141A0-4FBB-6B60-0D09-E7E67694CDCF}"/>
              </a:ext>
            </a:extLst>
          </p:cNvPr>
          <p:cNvSpPr txBox="1"/>
          <p:nvPr/>
        </p:nvSpPr>
        <p:spPr>
          <a:xfrm>
            <a:off x="1847850" y="741044"/>
            <a:ext cx="12618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Inventory (Goods) Sold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A0115D-05D3-BA50-C962-8FB9C8A9B0D4}"/>
              </a:ext>
            </a:extLst>
          </p:cNvPr>
          <p:cNvSpPr txBox="1"/>
          <p:nvPr/>
        </p:nvSpPr>
        <p:spPr>
          <a:xfrm>
            <a:off x="619767" y="1174307"/>
            <a:ext cx="97654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i="1" dirty="0"/>
              <a:t>Inventory period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2E0815-71B3-879B-AED5-E36F14F906F3}"/>
              </a:ext>
            </a:extLst>
          </p:cNvPr>
          <p:cNvSpPr txBox="1"/>
          <p:nvPr/>
        </p:nvSpPr>
        <p:spPr>
          <a:xfrm>
            <a:off x="2778041" y="1170841"/>
            <a:ext cx="737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A/R  period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4735CA3-B66A-EBB3-E180-059AF0A7795D}"/>
              </a:ext>
            </a:extLst>
          </p:cNvPr>
          <p:cNvCxnSpPr>
            <a:cxnSpLocks/>
          </p:cNvCxnSpPr>
          <p:nvPr/>
        </p:nvCxnSpPr>
        <p:spPr>
          <a:xfrm>
            <a:off x="1695450" y="1577975"/>
            <a:ext cx="0" cy="83820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9DAD03-3958-E47E-542B-DEC348C42731}"/>
              </a:ext>
            </a:extLst>
          </p:cNvPr>
          <p:cNvSpPr txBox="1"/>
          <p:nvPr/>
        </p:nvSpPr>
        <p:spPr>
          <a:xfrm>
            <a:off x="637337" y="1942184"/>
            <a:ext cx="7056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A/P Period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F80BE5-B1C8-FCF9-D591-EED3E57AA522}"/>
              </a:ext>
            </a:extLst>
          </p:cNvPr>
          <p:cNvSpPr txBox="1"/>
          <p:nvPr/>
        </p:nvSpPr>
        <p:spPr>
          <a:xfrm>
            <a:off x="2568734" y="1953243"/>
            <a:ext cx="6783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Cycle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20F7975-6BE2-1072-8ACD-8443FF3E37E2}"/>
              </a:ext>
            </a:extLst>
          </p:cNvPr>
          <p:cNvCxnSpPr>
            <a:cxnSpLocks/>
          </p:cNvCxnSpPr>
          <p:nvPr/>
        </p:nvCxnSpPr>
        <p:spPr>
          <a:xfrm flipV="1">
            <a:off x="4362450" y="1590714"/>
            <a:ext cx="0" cy="825461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42640B-C8B9-E83D-0D33-8F523A7DECD7}"/>
              </a:ext>
            </a:extLst>
          </p:cNvPr>
          <p:cNvSpPr txBox="1"/>
          <p:nvPr/>
        </p:nvSpPr>
        <p:spPr>
          <a:xfrm>
            <a:off x="1141448" y="2461269"/>
            <a:ext cx="12987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PAID for Inventory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99BE25-0C87-BDDF-5F22-E254C4E77A68}"/>
              </a:ext>
            </a:extLst>
          </p:cNvPr>
          <p:cNvSpPr txBox="1"/>
          <p:nvPr/>
        </p:nvSpPr>
        <p:spPr>
          <a:xfrm>
            <a:off x="3360036" y="2455587"/>
            <a:ext cx="13436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Cash Received for Goods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1BF1E5C-A62E-EBE7-98A9-5E18DBE22638}"/>
              </a:ext>
            </a:extLst>
          </p:cNvPr>
          <p:cNvCxnSpPr>
            <a:cxnSpLocks/>
          </p:cNvCxnSpPr>
          <p:nvPr/>
        </p:nvCxnSpPr>
        <p:spPr>
          <a:xfrm>
            <a:off x="336295" y="2873375"/>
            <a:ext cx="4026155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C453E0C-E35F-E52E-E13E-BCD9126413CD}"/>
              </a:ext>
            </a:extLst>
          </p:cNvPr>
          <p:cNvSpPr txBox="1"/>
          <p:nvPr/>
        </p:nvSpPr>
        <p:spPr>
          <a:xfrm>
            <a:off x="731931" y="2864938"/>
            <a:ext cx="33457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Operating  Cycle </a:t>
            </a:r>
            <a:r>
              <a:rPr lang="en-US" sz="900" dirty="0"/>
              <a:t>= period from Inventory purchase to cash received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D2739B5-3CA0-E54F-1ABB-74FAF31CE2B4}"/>
              </a:ext>
            </a:extLst>
          </p:cNvPr>
          <p:cNvCxnSpPr>
            <a:cxnSpLocks/>
          </p:cNvCxnSpPr>
          <p:nvPr/>
        </p:nvCxnSpPr>
        <p:spPr>
          <a:xfrm flipV="1">
            <a:off x="4362450" y="741044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0CC6F51-1B23-D0BE-E84D-5F112DD07705}"/>
              </a:ext>
            </a:extLst>
          </p:cNvPr>
          <p:cNvCxnSpPr>
            <a:cxnSpLocks/>
          </p:cNvCxnSpPr>
          <p:nvPr/>
        </p:nvCxnSpPr>
        <p:spPr>
          <a:xfrm flipV="1">
            <a:off x="336295" y="1610516"/>
            <a:ext cx="0" cy="825461"/>
          </a:xfrm>
          <a:prstGeom prst="straightConnector1">
            <a:avLst/>
          </a:prstGeom>
          <a:ln>
            <a:prstDash val="sysDot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8AC8BCD-63F7-DE61-E7DA-14FC23847DEB}"/>
              </a:ext>
            </a:extLst>
          </p:cNvPr>
          <p:cNvSpPr txBox="1"/>
          <p:nvPr/>
        </p:nvSpPr>
        <p:spPr>
          <a:xfrm>
            <a:off x="722384" y="3113730"/>
            <a:ext cx="334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ln>
                  <a:solidFill>
                    <a:schemeClr val="accent3">
                      <a:lumMod val="75000"/>
                    </a:schemeClr>
                  </a:solidFill>
                </a:ln>
              </a:rPr>
              <a:t>CASH  Cycle </a:t>
            </a:r>
            <a:r>
              <a:rPr lang="en-US" sz="900" dirty="0"/>
              <a:t>= Period from when cash PAID to when cash RECEIVED </a:t>
            </a:r>
          </a:p>
          <a:p>
            <a:r>
              <a:rPr lang="en-US" sz="900" dirty="0"/>
              <a:t>             = Operating Cycle – A/P Period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E75F3F4-C71B-4E1B-7645-FB737D3C23D7}"/>
              </a:ext>
            </a:extLst>
          </p:cNvPr>
          <p:cNvCxnSpPr/>
          <p:nvPr/>
        </p:nvCxnSpPr>
        <p:spPr>
          <a:xfrm flipV="1">
            <a:off x="1719678" y="2101823"/>
            <a:ext cx="2642772" cy="23947"/>
          </a:xfrm>
          <a:prstGeom prst="straightConnector1">
            <a:avLst/>
          </a:prstGeom>
          <a:ln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47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6" grpId="0"/>
      <p:bldP spid="27" grpId="0"/>
      <p:bldP spid="31" grpId="0"/>
      <p:bldP spid="32" grpId="0"/>
      <p:bldP spid="38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9D21A-3DE7-B49E-EB59-D99EF9A3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Be sure and distinguish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3A99D-B30B-C5EB-53A3-EC16A024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r>
              <a:rPr lang="en-US" dirty="0"/>
              <a:t>Inventory Turnover (COGS/Inventory) from Inventory Period</a:t>
            </a:r>
          </a:p>
          <a:p>
            <a:endParaRPr lang="en-US" dirty="0"/>
          </a:p>
          <a:p>
            <a:r>
              <a:rPr lang="en-US" dirty="0"/>
              <a:t>Receivables Turnover (Credit Sales/AR) vs Receivables Period</a:t>
            </a:r>
          </a:p>
          <a:p>
            <a:endParaRPr lang="en-US" dirty="0"/>
          </a:p>
          <a:p>
            <a:r>
              <a:rPr lang="en-US" dirty="0"/>
              <a:t>Payables Turnover (COGS/AP) vs Payables Period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FCB63-3510-24F8-7E56-C10068242A9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13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12745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29B3-5247-31E4-278C-AE40385C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94" y="190295"/>
            <a:ext cx="3668455" cy="215444"/>
          </a:xfrm>
        </p:spPr>
        <p:txBody>
          <a:bodyPr/>
          <a:lstStyle/>
          <a:p>
            <a:r>
              <a:rPr lang="en-US" dirty="0"/>
              <a:t>Review Income Statement Projections (8.2)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55DCB-EBAB-6E10-CBBF-926D9403F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523494"/>
          </a:xfrm>
        </p:spPr>
        <p:txBody>
          <a:bodyPr/>
          <a:lstStyle/>
          <a:p>
            <a:r>
              <a:rPr lang="en-US" dirty="0"/>
              <a:t>Be clear on assumptions</a:t>
            </a:r>
          </a:p>
          <a:p>
            <a:r>
              <a:rPr lang="en-US" dirty="0"/>
              <a:t>3 Options for Growth (in our current modeling):</a:t>
            </a:r>
          </a:p>
          <a:p>
            <a:pPr lvl="1"/>
            <a:r>
              <a:rPr lang="en-US" dirty="0"/>
              <a:t>Grow as a % of previous year</a:t>
            </a:r>
          </a:p>
          <a:p>
            <a:pPr lvl="1"/>
            <a:r>
              <a:rPr lang="en-US" dirty="0"/>
              <a:t>Grow as a % of Revenue</a:t>
            </a:r>
          </a:p>
          <a:p>
            <a:pPr lvl="1"/>
            <a:r>
              <a:rPr lang="en-US" dirty="0"/>
              <a:t>No change</a:t>
            </a:r>
          </a:p>
          <a:p>
            <a:r>
              <a:rPr lang="en-US" dirty="0"/>
              <a:t>You should be able to build for 3 year outlook and get to Net Income</a:t>
            </a:r>
          </a:p>
          <a:p>
            <a:r>
              <a:rPr lang="en-US" dirty="0"/>
              <a:t>Using a Data Table, you should be able to look at scenarios, such as top line growth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E9F3F-C02F-1895-CA35-14D44F03D5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368878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35D91-C348-C8B5-015B-5F14E90B5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Securities Law and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5C984-1135-B34F-CABD-B5B59C465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What is the SEC</a:t>
            </a:r>
          </a:p>
          <a:p>
            <a:r>
              <a:rPr lang="en-US" dirty="0"/>
              <a:t>What is a Security</a:t>
            </a:r>
          </a:p>
          <a:p>
            <a:r>
              <a:rPr lang="en-US" dirty="0"/>
              <a:t>When must you file with the SEC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9F35A-416E-2F4F-71ED-2D52C6B4D3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930476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0DFF-8741-770F-E1B6-1C9D3F0B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8" y="190295"/>
            <a:ext cx="3753611" cy="430887"/>
          </a:xfrm>
        </p:spPr>
        <p:txBody>
          <a:bodyPr/>
          <a:lstStyle/>
          <a:p>
            <a:r>
              <a:rPr lang="en-US" dirty="0"/>
              <a:t>Give an Example of a Conflict of Interest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AE4F3-3695-2EF9-ACBF-76FD613E5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780704"/>
            <a:ext cx="4357623" cy="33855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79577-A4B1-BBA8-0271-7BEC0F0D577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16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04555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EE43-51EC-C837-F3C3-3CF8478A6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Which of the following could constitute a Securities Offer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F2489-B654-01C5-9BC8-A25542526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33639"/>
            <a:ext cx="4357623" cy="1354217"/>
          </a:xfrm>
        </p:spPr>
        <p:txBody>
          <a:bodyPr/>
          <a:lstStyle/>
          <a:p>
            <a:r>
              <a:rPr lang="en-US" dirty="0"/>
              <a:t>An advertisement for your PRODUCT (such as how well your dish detergent works)</a:t>
            </a:r>
          </a:p>
          <a:p>
            <a:r>
              <a:rPr lang="en-US" dirty="0"/>
              <a:t>A Press Release that you have opened a new office/market</a:t>
            </a:r>
          </a:p>
          <a:p>
            <a:r>
              <a:rPr lang="en-US" dirty="0"/>
              <a:t>A Public Seminar on Your Company’s Outlook and potential investment opportunities</a:t>
            </a:r>
          </a:p>
          <a:p>
            <a:r>
              <a:rPr lang="en-US" dirty="0"/>
              <a:t>Crowd funding</a:t>
            </a:r>
          </a:p>
          <a:p>
            <a:endParaRPr lang="en-US" dirty="0"/>
          </a:p>
          <a:p>
            <a:r>
              <a:rPr lang="en-US" dirty="0"/>
              <a:t>Oral discussion of share purchase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3B670-EE10-11E1-929E-30D65E61C63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03810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B382-14C0-54D5-52D8-BE5FBEFAF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Know that the following Exist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30FAD-E6B2-B287-BC00-23615AAEF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r>
              <a:rPr lang="en-US" dirty="0"/>
              <a:t>SEC</a:t>
            </a:r>
          </a:p>
          <a:p>
            <a:r>
              <a:rPr lang="en-US" dirty="0"/>
              <a:t>Securities Act of 1933</a:t>
            </a:r>
          </a:p>
          <a:p>
            <a:r>
              <a:rPr lang="en-US" dirty="0"/>
              <a:t>JOBS Act of 2012 </a:t>
            </a:r>
          </a:p>
          <a:p>
            <a:pPr lvl="1"/>
            <a:r>
              <a:rPr lang="en-US" dirty="0"/>
              <a:t>Small registration exemption (for crowdfunding)</a:t>
            </a:r>
          </a:p>
          <a:p>
            <a:pPr lvl="1"/>
            <a:r>
              <a:rPr lang="en-US" dirty="0"/>
              <a:t>Increased Max Raise under Reg 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95040-FF07-21E1-603C-120B2F9AD1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18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978617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53FD6-42CB-9764-B14D-D071616F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Why does an Org Chart Matter?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0FB25-D4FE-FC33-91A3-F98DBDCB090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19</a:t>
            </a:fld>
            <a:endParaRPr spc="-5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E83C2-5344-6BE9-171E-066AA550D24E}"/>
              </a:ext>
            </a:extLst>
          </p:cNvPr>
          <p:cNvSpPr/>
          <p:nvPr/>
        </p:nvSpPr>
        <p:spPr>
          <a:xfrm>
            <a:off x="1080934" y="501445"/>
            <a:ext cx="2236838" cy="334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B06514-8755-BD39-A727-7E4DEEE36162}"/>
              </a:ext>
            </a:extLst>
          </p:cNvPr>
          <p:cNvSpPr/>
          <p:nvPr/>
        </p:nvSpPr>
        <p:spPr>
          <a:xfrm>
            <a:off x="1582932" y="931448"/>
            <a:ext cx="1022617" cy="3860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76132-0019-1697-140E-BB439260B625}"/>
              </a:ext>
            </a:extLst>
          </p:cNvPr>
          <p:cNvSpPr/>
          <p:nvPr/>
        </p:nvSpPr>
        <p:spPr>
          <a:xfrm>
            <a:off x="363733" y="1559210"/>
            <a:ext cx="860384" cy="579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0EE1D-B5AC-8FAD-C679-A3CDCE37CB21}"/>
              </a:ext>
            </a:extLst>
          </p:cNvPr>
          <p:cNvSpPr/>
          <p:nvPr/>
        </p:nvSpPr>
        <p:spPr>
          <a:xfrm>
            <a:off x="1442760" y="1559210"/>
            <a:ext cx="860384" cy="579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2BFCEC-7A23-54CD-B01F-97A35994D63B}"/>
              </a:ext>
            </a:extLst>
          </p:cNvPr>
          <p:cNvSpPr/>
          <p:nvPr/>
        </p:nvSpPr>
        <p:spPr>
          <a:xfrm>
            <a:off x="2502123" y="1559210"/>
            <a:ext cx="860384" cy="579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F5C163-DB20-F746-6519-49EE54775B75}"/>
              </a:ext>
            </a:extLst>
          </p:cNvPr>
          <p:cNvSpPr/>
          <p:nvPr/>
        </p:nvSpPr>
        <p:spPr>
          <a:xfrm>
            <a:off x="3561486" y="1559210"/>
            <a:ext cx="860384" cy="5793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C7ADFB-2194-B83A-743A-0959D28041AA}"/>
              </a:ext>
            </a:extLst>
          </p:cNvPr>
          <p:cNvSpPr txBox="1"/>
          <p:nvPr/>
        </p:nvSpPr>
        <p:spPr>
          <a:xfrm rot="1357681">
            <a:off x="3333908" y="668593"/>
            <a:ext cx="1351973" cy="646331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b="1" dirty="0"/>
              <a:t>Fill in these blocks</a:t>
            </a:r>
          </a:p>
          <a:p>
            <a:r>
              <a:rPr lang="en-US" sz="1200" dirty="0"/>
              <a:t>Roles?</a:t>
            </a:r>
          </a:p>
          <a:p>
            <a:r>
              <a:rPr lang="en-US" sz="1200" dirty="0"/>
              <a:t>Conflicts?</a:t>
            </a:r>
          </a:p>
        </p:txBody>
      </p:sp>
    </p:spTree>
    <p:extLst>
      <p:ext uri="{BB962C8B-B14F-4D97-AF65-F5344CB8AC3E}">
        <p14:creationId xmlns:p14="http://schemas.microsoft.com/office/powerpoint/2010/main" val="331330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C2BFA-844A-03FE-0663-16152505C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C0D74-005E-07A8-6A68-2088B0AE7C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20</a:t>
            </a:fld>
            <a:endParaRPr spc="-5" dirty="0"/>
          </a:p>
        </p:txBody>
      </p:sp>
      <p:sp>
        <p:nvSpPr>
          <p:cNvPr id="5" name="Round Diagonal Corner Rectangle 4">
            <a:extLst>
              <a:ext uri="{FF2B5EF4-FFF2-40B4-BE49-F238E27FC236}">
                <a16:creationId xmlns:a16="http://schemas.microsoft.com/office/drawing/2014/main" id="{7CF07B1B-00F0-05E6-8394-0C4AC6AC6FFD}"/>
              </a:ext>
            </a:extLst>
          </p:cNvPr>
          <p:cNvSpPr/>
          <p:nvPr/>
        </p:nvSpPr>
        <p:spPr>
          <a:xfrm>
            <a:off x="400050" y="177415"/>
            <a:ext cx="2438400" cy="381000"/>
          </a:xfrm>
          <a:prstGeom prst="round2Diag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Is Entrepreneur Offering a Security?</a:t>
            </a:r>
          </a:p>
        </p:txBody>
      </p:sp>
      <p:sp>
        <p:nvSpPr>
          <p:cNvPr id="7" name="Round Diagonal Corner Rectangle 6">
            <a:extLst>
              <a:ext uri="{FF2B5EF4-FFF2-40B4-BE49-F238E27FC236}">
                <a16:creationId xmlns:a16="http://schemas.microsoft.com/office/drawing/2014/main" id="{CECC4F9B-0C6E-2684-839C-188F668591EA}"/>
              </a:ext>
            </a:extLst>
          </p:cNvPr>
          <p:cNvSpPr/>
          <p:nvPr/>
        </p:nvSpPr>
        <p:spPr>
          <a:xfrm>
            <a:off x="2152650" y="760155"/>
            <a:ext cx="1437525" cy="680671"/>
          </a:xfrm>
          <a:prstGeom prst="round2Diag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Is the class of security Exempt from SEC </a:t>
            </a:r>
            <a:r>
              <a:rPr lang="en-US" sz="1100" dirty="0" err="1"/>
              <a:t>Registraton</a:t>
            </a:r>
            <a:r>
              <a:rPr lang="en-US" sz="1100" dirty="0"/>
              <a:t>?</a:t>
            </a:r>
          </a:p>
        </p:txBody>
      </p:sp>
      <p:sp>
        <p:nvSpPr>
          <p:cNvPr id="8" name="Round Diagonal Corner Rectangle 7">
            <a:extLst>
              <a:ext uri="{FF2B5EF4-FFF2-40B4-BE49-F238E27FC236}">
                <a16:creationId xmlns:a16="http://schemas.microsoft.com/office/drawing/2014/main" id="{10962BAC-5D78-D52B-A06F-4118651F792D}"/>
              </a:ext>
            </a:extLst>
          </p:cNvPr>
          <p:cNvSpPr/>
          <p:nvPr/>
        </p:nvSpPr>
        <p:spPr>
          <a:xfrm>
            <a:off x="323850" y="1641099"/>
            <a:ext cx="2296274" cy="1216760"/>
          </a:xfrm>
          <a:prstGeom prst="round2DiagRect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1100" dirty="0"/>
              <a:t>Does Offering Qualify for:</a:t>
            </a:r>
          </a:p>
          <a:p>
            <a:pPr lvl="0"/>
            <a:r>
              <a:rPr lang="en-US" sz="1100" dirty="0"/>
              <a:t>4(2) Private Offering Exemption</a:t>
            </a:r>
          </a:p>
          <a:p>
            <a:pPr lvl="0"/>
            <a:r>
              <a:rPr lang="en-US" sz="1100" dirty="0"/>
              <a:t>Accredited Investor Exemption</a:t>
            </a:r>
          </a:p>
          <a:p>
            <a:pPr lvl="0"/>
            <a:r>
              <a:rPr lang="en-US" sz="1100" dirty="0"/>
              <a:t>Reg D Exemption</a:t>
            </a:r>
          </a:p>
          <a:p>
            <a:pPr lvl="0"/>
            <a:r>
              <a:rPr lang="en-US" sz="1100" dirty="0"/>
              <a:t>Reg A Exemption or</a:t>
            </a:r>
          </a:p>
          <a:p>
            <a:pPr lvl="0"/>
            <a:r>
              <a:rPr lang="en-US" sz="1100" dirty="0"/>
              <a:t>Other</a:t>
            </a:r>
          </a:p>
          <a:p>
            <a:pPr algn="ctr"/>
            <a:endParaRPr lang="en-US" sz="1100" dirty="0"/>
          </a:p>
        </p:txBody>
      </p:sp>
      <p:sp>
        <p:nvSpPr>
          <p:cNvPr id="11" name="Round Diagonal Corner Rectangle 10">
            <a:extLst>
              <a:ext uri="{FF2B5EF4-FFF2-40B4-BE49-F238E27FC236}">
                <a16:creationId xmlns:a16="http://schemas.microsoft.com/office/drawing/2014/main" id="{61C6F9A4-59B6-0D95-1385-1A1039310FC1}"/>
              </a:ext>
            </a:extLst>
          </p:cNvPr>
          <p:cNvSpPr/>
          <p:nvPr/>
        </p:nvSpPr>
        <p:spPr>
          <a:xfrm>
            <a:off x="95250" y="843135"/>
            <a:ext cx="914400" cy="381000"/>
          </a:xfrm>
          <a:prstGeom prst="round2Diag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No SEC Registration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FFD5AA59-4CF1-775C-8EAB-DDF1C38EF6F7}"/>
              </a:ext>
            </a:extLst>
          </p:cNvPr>
          <p:cNvSpPr/>
          <p:nvPr/>
        </p:nvSpPr>
        <p:spPr>
          <a:xfrm>
            <a:off x="557587" y="3092835"/>
            <a:ext cx="914400" cy="381000"/>
          </a:xfrm>
          <a:prstGeom prst="round2Diag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SEC Registration</a:t>
            </a:r>
          </a:p>
        </p:txBody>
      </p:sp>
      <p:sp>
        <p:nvSpPr>
          <p:cNvPr id="13" name="Round Diagonal Corner Rectangle 12">
            <a:extLst>
              <a:ext uri="{FF2B5EF4-FFF2-40B4-BE49-F238E27FC236}">
                <a16:creationId xmlns:a16="http://schemas.microsoft.com/office/drawing/2014/main" id="{220C97CA-4AA3-8A40-A577-79DD9A81FCC7}"/>
              </a:ext>
            </a:extLst>
          </p:cNvPr>
          <p:cNvSpPr/>
          <p:nvPr/>
        </p:nvSpPr>
        <p:spPr>
          <a:xfrm>
            <a:off x="2381250" y="3073359"/>
            <a:ext cx="914400" cy="381000"/>
          </a:xfrm>
          <a:prstGeom prst="round2Diag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No SEC Registration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67F22535-F4AD-DE87-F8EB-97CDDE998EFF}"/>
              </a:ext>
            </a:extLst>
          </p:cNvPr>
          <p:cNvCxnSpPr>
            <a:cxnSpLocks/>
            <a:stCxn id="5" idx="1"/>
            <a:endCxn id="11" idx="3"/>
          </p:cNvCxnSpPr>
          <p:nvPr/>
        </p:nvCxnSpPr>
        <p:spPr>
          <a:xfrm rot="5400000">
            <a:off x="943490" y="167375"/>
            <a:ext cx="284720" cy="1066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8BFC483A-C17D-E14D-C332-721C12060E51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rot="16200000" flipH="1">
            <a:off x="2144461" y="33203"/>
            <a:ext cx="201740" cy="12521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25092907-3498-3B36-CA45-99C205D79304}"/>
              </a:ext>
            </a:extLst>
          </p:cNvPr>
          <p:cNvCxnSpPr>
            <a:cxnSpLocks/>
            <a:stCxn id="7" idx="1"/>
            <a:endCxn id="8" idx="3"/>
          </p:cNvCxnSpPr>
          <p:nvPr/>
        </p:nvCxnSpPr>
        <p:spPr>
          <a:xfrm rot="5400000">
            <a:off x="2071564" y="841249"/>
            <a:ext cx="200273" cy="139942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 Diagonal Corner Rectangle 22">
            <a:extLst>
              <a:ext uri="{FF2B5EF4-FFF2-40B4-BE49-F238E27FC236}">
                <a16:creationId xmlns:a16="http://schemas.microsoft.com/office/drawing/2014/main" id="{44B9BBA5-9B12-2C58-CE1D-97B89771E823}"/>
              </a:ext>
            </a:extLst>
          </p:cNvPr>
          <p:cNvSpPr/>
          <p:nvPr/>
        </p:nvSpPr>
        <p:spPr>
          <a:xfrm>
            <a:off x="3422649" y="1641099"/>
            <a:ext cx="914400" cy="381000"/>
          </a:xfrm>
          <a:prstGeom prst="round2DiagRect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No SEC Registration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4DE3389-C9E5-D28A-E389-61CD380A116E}"/>
              </a:ext>
            </a:extLst>
          </p:cNvPr>
          <p:cNvCxnSpPr>
            <a:cxnSpLocks/>
            <a:stCxn id="7" idx="1"/>
            <a:endCxn id="23" idx="3"/>
          </p:cNvCxnSpPr>
          <p:nvPr/>
        </p:nvCxnSpPr>
        <p:spPr>
          <a:xfrm rot="16200000" flipH="1">
            <a:off x="3275495" y="1036744"/>
            <a:ext cx="200273" cy="10084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72EC9C2C-747A-8159-8149-5AA526076C7B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rot="5400000">
            <a:off x="1125899" y="2746747"/>
            <a:ext cx="234976" cy="457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F9B4D9D2-91E6-FD75-36FB-23120444485B}"/>
              </a:ext>
            </a:extLst>
          </p:cNvPr>
          <p:cNvCxnSpPr>
            <a:cxnSpLocks/>
            <a:stCxn id="8" idx="1"/>
            <a:endCxn id="13" idx="3"/>
          </p:cNvCxnSpPr>
          <p:nvPr/>
        </p:nvCxnSpPr>
        <p:spPr>
          <a:xfrm rot="16200000" flipH="1">
            <a:off x="2047468" y="2282377"/>
            <a:ext cx="215500" cy="13664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4417691-19EC-0A2D-D228-D8CB34FB759E}"/>
              </a:ext>
            </a:extLst>
          </p:cNvPr>
          <p:cNvSpPr txBox="1"/>
          <p:nvPr/>
        </p:nvSpPr>
        <p:spPr>
          <a:xfrm>
            <a:off x="184801" y="569404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F41D94-98F9-9591-ACE9-9BF8BFB9144A}"/>
              </a:ext>
            </a:extLst>
          </p:cNvPr>
          <p:cNvSpPr txBox="1"/>
          <p:nvPr/>
        </p:nvSpPr>
        <p:spPr>
          <a:xfrm>
            <a:off x="1313350" y="1265252"/>
            <a:ext cx="3892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0F0DE0-0BBE-8475-8759-94A333AE2353}"/>
              </a:ext>
            </a:extLst>
          </p:cNvPr>
          <p:cNvSpPr txBox="1"/>
          <p:nvPr/>
        </p:nvSpPr>
        <p:spPr>
          <a:xfrm>
            <a:off x="524866" y="2846202"/>
            <a:ext cx="341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C46476-2382-DAA6-76D3-31C6519667B3}"/>
              </a:ext>
            </a:extLst>
          </p:cNvPr>
          <p:cNvSpPr txBox="1"/>
          <p:nvPr/>
        </p:nvSpPr>
        <p:spPr>
          <a:xfrm>
            <a:off x="2864339" y="514475"/>
            <a:ext cx="3770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96DF47-BA40-E6A9-3CD9-2E1F91EE33A6}"/>
              </a:ext>
            </a:extLst>
          </p:cNvPr>
          <p:cNvSpPr txBox="1"/>
          <p:nvPr/>
        </p:nvSpPr>
        <p:spPr>
          <a:xfrm>
            <a:off x="3746549" y="1313866"/>
            <a:ext cx="3770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4507A0-1337-B9A3-6033-6BF5265622E5}"/>
              </a:ext>
            </a:extLst>
          </p:cNvPr>
          <p:cNvSpPr txBox="1"/>
          <p:nvPr/>
        </p:nvSpPr>
        <p:spPr>
          <a:xfrm>
            <a:off x="2864339" y="2797009"/>
            <a:ext cx="37702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00B050"/>
                </a:solidFill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953219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F018-6304-A830-B333-90C914D1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OFFICE HOURS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980F9-35F2-3B88-4BC8-DFA262FEE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507831"/>
          </a:xfrm>
        </p:spPr>
        <p:txBody>
          <a:bodyPr/>
          <a:lstStyle/>
          <a:p>
            <a:r>
              <a:rPr lang="en-US" dirty="0"/>
              <a:t>Wed, 10/22 3:30 – 5:00 pm</a:t>
            </a:r>
          </a:p>
          <a:p>
            <a:r>
              <a:rPr lang="en-US" dirty="0"/>
              <a:t>Thurs, 10/23 4:00 – 5:30 pm</a:t>
            </a:r>
          </a:p>
          <a:p>
            <a:r>
              <a:rPr lang="en-US" dirty="0"/>
              <a:t>Sunday, 10/26 7:30 pm – 9:00 pm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F9E8A-B450-BE73-3EDC-234AC01720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21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679388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d8b1b-070d-4629-82e4-c0b019f46057}" enabled="0" method="" siteId="{3ded8b1b-070d-4629-82e4-c0b019f4605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821</Words>
  <Application>Microsoft Office PowerPoint</Application>
  <PresentationFormat>Custom</PresentationFormat>
  <Paragraphs>182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Garamond</vt:lpstr>
      <vt:lpstr>Rockwell</vt:lpstr>
      <vt:lpstr>Office Theme</vt:lpstr>
      <vt:lpstr>        ESBM4570 Midterm 2 Revoew  Week 10.2</vt:lpstr>
      <vt:lpstr>MT 2</vt:lpstr>
      <vt:lpstr>The Arc of Our Semester</vt:lpstr>
      <vt:lpstr>CASH</vt:lpstr>
      <vt:lpstr>Statement of Cash Flows</vt:lpstr>
      <vt:lpstr>PowerPoint Presentation</vt:lpstr>
      <vt:lpstr>Runway</vt:lpstr>
      <vt:lpstr>WC vs NWC</vt:lpstr>
      <vt:lpstr>Additional Methods addressed in Tesla</vt:lpstr>
      <vt:lpstr>Operating vs Cash Cycles</vt:lpstr>
      <vt:lpstr>Are the following Increasing or Decreasing the Operating Cycle? How about the Cash Cycle?</vt:lpstr>
      <vt:lpstr>A Challenge is that Operating Cycles and  Cash Cycles are not (typically) synchronized (week 8)</vt:lpstr>
      <vt:lpstr>Be sure and distinguish</vt:lpstr>
      <vt:lpstr>Review Income Statement Projections (8.2)</vt:lpstr>
      <vt:lpstr>Securities Law and Governance</vt:lpstr>
      <vt:lpstr>Give an Example of a Conflict of Interest</vt:lpstr>
      <vt:lpstr>Which of the following could constitute a Securities Offer</vt:lpstr>
      <vt:lpstr>Know that the following Exist</vt:lpstr>
      <vt:lpstr>Why does an Org Chart Matter?</vt:lpstr>
      <vt:lpstr>PowerPoint Presentation</vt:lpstr>
      <vt:lpstr>OFFICE HOURS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3</cp:revision>
  <dcterms:created xsi:type="dcterms:W3CDTF">2022-01-05T04:34:10Z</dcterms:created>
  <dcterms:modified xsi:type="dcterms:W3CDTF">2025-10-22T17:55:58Z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