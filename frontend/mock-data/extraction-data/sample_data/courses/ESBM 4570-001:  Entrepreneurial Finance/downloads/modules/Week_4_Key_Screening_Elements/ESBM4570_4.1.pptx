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385" r:id="rId3"/>
    <p:sldId id="401" r:id="rId4"/>
    <p:sldId id="416" r:id="rId5"/>
    <p:sldId id="405" r:id="rId6"/>
    <p:sldId id="412" r:id="rId7"/>
    <p:sldId id="406" r:id="rId8"/>
    <p:sldId id="408" r:id="rId9"/>
    <p:sldId id="411" r:id="rId10"/>
    <p:sldId id="410" r:id="rId11"/>
    <p:sldId id="413" r:id="rId12"/>
    <p:sldId id="417" r:id="rId13"/>
    <p:sldId id="414" r:id="rId14"/>
    <p:sldId id="415" r:id="rId15"/>
    <p:sldId id="402" r:id="rId16"/>
    <p:sldId id="403" r:id="rId17"/>
    <p:sldId id="404" r:id="rId18"/>
    <p:sldId id="407" r:id="rId19"/>
  </p:sldIdLst>
  <p:sldSz cx="4610100" cy="3460750"/>
  <p:notesSz cx="4610100" cy="34607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EB67B"/>
    <a:srgbClr val="A0A2A1"/>
    <a:srgbClr val="5169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02B2F2-DB23-CE4D-A7BE-3A369823B2EA}" v="2" dt="2025-09-08T02:00:26.39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8"/>
    <p:restoredTop sz="94966"/>
  </p:normalViewPr>
  <p:slideViewPr>
    <p:cSldViewPr>
      <p:cViewPr>
        <p:scale>
          <a:sx n="187" d="100"/>
          <a:sy n="187" d="100"/>
        </p:scale>
        <p:origin x="1560" y="76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7ED990-BF14-5648-BA63-D0C08F7C1F11}" type="doc">
      <dgm:prSet loTypeId="urn:microsoft.com/office/officeart/2005/8/layout/hChevron3" loCatId="" qsTypeId="urn:microsoft.com/office/officeart/2005/8/quickstyle/simple1" qsCatId="simple" csTypeId="urn:microsoft.com/office/officeart/2005/8/colors/accent1_2" csCatId="accent1" phldr="1"/>
      <dgm:spPr/>
    </dgm:pt>
    <dgm:pt modelId="{327489D1-7641-8549-8A47-C6429B040444}">
      <dgm:prSet phldrT="[Text]"/>
      <dgm:spPr>
        <a:solidFill>
          <a:srgbClr val="CEB67B"/>
        </a:solidFill>
      </dgm:spPr>
      <dgm:t>
        <a:bodyPr/>
        <a:lstStyle/>
        <a:p>
          <a:r>
            <a:rPr lang="en-US" dirty="0">
              <a:solidFill>
                <a:sysClr val="windowText" lastClr="000000"/>
              </a:solidFill>
            </a:rPr>
            <a:t>New Venture</a:t>
          </a:r>
        </a:p>
      </dgm:t>
    </dgm:pt>
    <dgm:pt modelId="{BB725624-4BA5-B149-BF57-5991B8092150}" type="parTrans" cxnId="{B93BD4E7-61AC-2E44-B8D0-B7174B248738}">
      <dgm:prSet/>
      <dgm:spPr/>
      <dgm:t>
        <a:bodyPr/>
        <a:lstStyle/>
        <a:p>
          <a:endParaRPr lang="en-US"/>
        </a:p>
      </dgm:t>
    </dgm:pt>
    <dgm:pt modelId="{814C33F2-A2D8-E640-B75B-3BF3BD65DEAD}" type="sibTrans" cxnId="{B93BD4E7-61AC-2E44-B8D0-B7174B248738}">
      <dgm:prSet/>
      <dgm:spPr/>
      <dgm:t>
        <a:bodyPr/>
        <a:lstStyle/>
        <a:p>
          <a:endParaRPr lang="en-US"/>
        </a:p>
      </dgm:t>
    </dgm:pt>
    <dgm:pt modelId="{A3B285F9-3AE0-7149-B58E-C47112C68A5C}">
      <dgm:prSet phldrT="[Text]" custT="1"/>
      <dgm:spPr>
        <a:solidFill>
          <a:srgbClr val="CEB67B"/>
        </a:solidFill>
        <a:ln w="25400" cap="flat" cmpd="sng" algn="ctr">
          <a:solidFill>
            <a:prstClr val="white">
              <a:hueOff val="0"/>
              <a:satOff val="0"/>
              <a:lumOff val="0"/>
              <a:alphaOff val="0"/>
            </a:prstClr>
          </a:solidFill>
          <a:prstDash val="solid"/>
        </a:ln>
        <a:effectLst/>
      </dgm:spPr>
      <dgm:t>
        <a:bodyPr spcFirstLastPara="0" vert="horz" wrap="square" lIns="74676" tIns="37338" rIns="18669" bIns="37338" numCol="1" spcCol="1270" anchor="ctr" anchorCtr="0"/>
        <a:lstStyle/>
        <a:p>
          <a:pPr marL="0" lvl="0" indent="0" algn="ctr" defTabSz="622300">
            <a:lnSpc>
              <a:spcPct val="90000"/>
            </a:lnSpc>
            <a:spcBef>
              <a:spcPct val="0"/>
            </a:spcBef>
            <a:spcAft>
              <a:spcPct val="35000"/>
            </a:spcAft>
            <a:buNone/>
          </a:pPr>
          <a:r>
            <a:rPr lang="en-US" sz="1400" kern="1200" dirty="0">
              <a:solidFill>
                <a:sysClr val="windowText" lastClr="000000"/>
              </a:solidFill>
              <a:latin typeface="Calibri"/>
              <a:ea typeface="+mn-ea"/>
              <a:cs typeface="+mn-cs"/>
            </a:rPr>
            <a:t>Need Capital</a:t>
          </a:r>
        </a:p>
      </dgm:t>
    </dgm:pt>
    <dgm:pt modelId="{85CE9C6B-95B4-8545-9B88-B2796A05DB1A}" type="parTrans" cxnId="{32590E27-9150-2549-AFA1-15B29E28C94C}">
      <dgm:prSet/>
      <dgm:spPr/>
      <dgm:t>
        <a:bodyPr/>
        <a:lstStyle/>
        <a:p>
          <a:endParaRPr lang="en-US"/>
        </a:p>
      </dgm:t>
    </dgm:pt>
    <dgm:pt modelId="{F96D6856-41EB-D64C-8BE2-42E6C197F8CF}" type="sibTrans" cxnId="{32590E27-9150-2549-AFA1-15B29E28C94C}">
      <dgm:prSet/>
      <dgm:spPr/>
      <dgm:t>
        <a:bodyPr/>
        <a:lstStyle/>
        <a:p>
          <a:endParaRPr lang="en-US"/>
        </a:p>
      </dgm:t>
    </dgm:pt>
    <dgm:pt modelId="{4CB11449-0C9C-4544-92AB-A84571F30DBE}">
      <dgm:prSet phldrT="[Text]"/>
      <dgm:spPr>
        <a:solidFill>
          <a:srgbClr val="CEB67B"/>
        </a:solidFill>
        <a:ln w="25400" cap="flat" cmpd="sng" algn="ctr">
          <a:solidFill>
            <a:prstClr val="white">
              <a:hueOff val="0"/>
              <a:satOff val="0"/>
              <a:lumOff val="0"/>
              <a:alphaOff val="0"/>
            </a:prstClr>
          </a:solidFill>
          <a:prstDash val="solid"/>
        </a:ln>
        <a:effectLst/>
      </dgm:spPr>
      <dgm:t>
        <a:bodyPr spcFirstLastPara="0" vert="horz" wrap="square" lIns="74676" tIns="37338" rIns="18669" bIns="37338" numCol="1" spcCol="1270" anchor="ctr" anchorCtr="0"/>
        <a:lstStyle/>
        <a:p>
          <a:r>
            <a:rPr lang="en-US" dirty="0">
              <a:solidFill>
                <a:schemeClr val="tx1"/>
              </a:solidFill>
            </a:rPr>
            <a:t>Seek VC Funding</a:t>
          </a:r>
        </a:p>
      </dgm:t>
    </dgm:pt>
    <dgm:pt modelId="{2E500CDC-AB23-2A41-AAE3-83F7EB85EA0D}" type="parTrans" cxnId="{7FD13780-1933-EA46-B514-D0E54CEC3C30}">
      <dgm:prSet/>
      <dgm:spPr/>
      <dgm:t>
        <a:bodyPr/>
        <a:lstStyle/>
        <a:p>
          <a:endParaRPr lang="en-US"/>
        </a:p>
      </dgm:t>
    </dgm:pt>
    <dgm:pt modelId="{4C273B28-C1FA-4E4D-85A5-115BB89DFCDC}" type="sibTrans" cxnId="{7FD13780-1933-EA46-B514-D0E54CEC3C30}">
      <dgm:prSet/>
      <dgm:spPr/>
      <dgm:t>
        <a:bodyPr/>
        <a:lstStyle/>
        <a:p>
          <a:endParaRPr lang="en-US"/>
        </a:p>
      </dgm:t>
    </dgm:pt>
    <dgm:pt modelId="{67920834-0859-B04D-8606-EBAC2A1B8B4E}" type="pres">
      <dgm:prSet presAssocID="{F07ED990-BF14-5648-BA63-D0C08F7C1F11}" presName="Name0" presStyleCnt="0">
        <dgm:presLayoutVars>
          <dgm:dir/>
          <dgm:resizeHandles val="exact"/>
        </dgm:presLayoutVars>
      </dgm:prSet>
      <dgm:spPr/>
    </dgm:pt>
    <dgm:pt modelId="{36F80A3F-852D-D247-A5B7-EF84F2A62450}" type="pres">
      <dgm:prSet presAssocID="{327489D1-7641-8549-8A47-C6429B040444}" presName="parTxOnly" presStyleLbl="node1" presStyleIdx="0" presStyleCnt="3">
        <dgm:presLayoutVars>
          <dgm:bulletEnabled val="1"/>
        </dgm:presLayoutVars>
      </dgm:prSet>
      <dgm:spPr/>
    </dgm:pt>
    <dgm:pt modelId="{17E3910B-8876-2D4A-88EE-487944E0EA1C}" type="pres">
      <dgm:prSet presAssocID="{814C33F2-A2D8-E640-B75B-3BF3BD65DEAD}" presName="parSpace" presStyleCnt="0"/>
      <dgm:spPr/>
    </dgm:pt>
    <dgm:pt modelId="{68625CC5-945E-8C45-95F3-3172F638DCDE}" type="pres">
      <dgm:prSet presAssocID="{A3B285F9-3AE0-7149-B58E-C47112C68A5C}" presName="parTxOnly" presStyleLbl="node1" presStyleIdx="1" presStyleCnt="3">
        <dgm:presLayoutVars>
          <dgm:bulletEnabled val="1"/>
        </dgm:presLayoutVars>
      </dgm:prSet>
      <dgm:spPr>
        <a:xfrm>
          <a:off x="946181" y="788258"/>
          <a:ext cx="1181037" cy="472415"/>
        </a:xfrm>
        <a:prstGeom prst="chevron">
          <a:avLst/>
        </a:prstGeom>
      </dgm:spPr>
    </dgm:pt>
    <dgm:pt modelId="{61DCBB2E-948C-9E4F-84EB-92FAB847254F}" type="pres">
      <dgm:prSet presAssocID="{F96D6856-41EB-D64C-8BE2-42E6C197F8CF}" presName="parSpace" presStyleCnt="0"/>
      <dgm:spPr/>
    </dgm:pt>
    <dgm:pt modelId="{EA6A3FF2-1B9F-C941-88EE-8CF2208F36CC}" type="pres">
      <dgm:prSet presAssocID="{4CB11449-0C9C-4544-92AB-A84571F30DBE}" presName="parTxOnly" presStyleLbl="node1" presStyleIdx="2" presStyleCnt="3">
        <dgm:presLayoutVars>
          <dgm:bulletEnabled val="1"/>
        </dgm:presLayoutVars>
      </dgm:prSet>
      <dgm:spPr>
        <a:xfrm>
          <a:off x="1891011" y="788258"/>
          <a:ext cx="1181037" cy="472415"/>
        </a:xfrm>
        <a:prstGeom prst="chevron">
          <a:avLst/>
        </a:prstGeom>
      </dgm:spPr>
    </dgm:pt>
  </dgm:ptLst>
  <dgm:cxnLst>
    <dgm:cxn modelId="{32590E27-9150-2549-AFA1-15B29E28C94C}" srcId="{F07ED990-BF14-5648-BA63-D0C08F7C1F11}" destId="{A3B285F9-3AE0-7149-B58E-C47112C68A5C}" srcOrd="1" destOrd="0" parTransId="{85CE9C6B-95B4-8545-9B88-B2796A05DB1A}" sibTransId="{F96D6856-41EB-D64C-8BE2-42E6C197F8CF}"/>
    <dgm:cxn modelId="{3C47E62B-DBBF-5E4C-B51A-23DBE80ED316}" type="presOf" srcId="{327489D1-7641-8549-8A47-C6429B040444}" destId="{36F80A3F-852D-D247-A5B7-EF84F2A62450}" srcOrd="0" destOrd="0" presId="urn:microsoft.com/office/officeart/2005/8/layout/hChevron3"/>
    <dgm:cxn modelId="{7FD13780-1933-EA46-B514-D0E54CEC3C30}" srcId="{F07ED990-BF14-5648-BA63-D0C08F7C1F11}" destId="{4CB11449-0C9C-4544-92AB-A84571F30DBE}" srcOrd="2" destOrd="0" parTransId="{2E500CDC-AB23-2A41-AAE3-83F7EB85EA0D}" sibTransId="{4C273B28-C1FA-4E4D-85A5-115BB89DFCDC}"/>
    <dgm:cxn modelId="{2FE9EE8C-A439-D946-B68B-0B81586E880E}" type="presOf" srcId="{4CB11449-0C9C-4544-92AB-A84571F30DBE}" destId="{EA6A3FF2-1B9F-C941-88EE-8CF2208F36CC}" srcOrd="0" destOrd="0" presId="urn:microsoft.com/office/officeart/2005/8/layout/hChevron3"/>
    <dgm:cxn modelId="{6E2B3AE7-2288-E74F-A285-C67111FA3C9F}" type="presOf" srcId="{A3B285F9-3AE0-7149-B58E-C47112C68A5C}" destId="{68625CC5-945E-8C45-95F3-3172F638DCDE}" srcOrd="0" destOrd="0" presId="urn:microsoft.com/office/officeart/2005/8/layout/hChevron3"/>
    <dgm:cxn modelId="{D21CCAE7-497B-2A41-92CA-6C582B8F46A9}" type="presOf" srcId="{F07ED990-BF14-5648-BA63-D0C08F7C1F11}" destId="{67920834-0859-B04D-8606-EBAC2A1B8B4E}" srcOrd="0" destOrd="0" presId="urn:microsoft.com/office/officeart/2005/8/layout/hChevron3"/>
    <dgm:cxn modelId="{B93BD4E7-61AC-2E44-B8D0-B7174B248738}" srcId="{F07ED990-BF14-5648-BA63-D0C08F7C1F11}" destId="{327489D1-7641-8549-8A47-C6429B040444}" srcOrd="0" destOrd="0" parTransId="{BB725624-4BA5-B149-BF57-5991B8092150}" sibTransId="{814C33F2-A2D8-E640-B75B-3BF3BD65DEAD}"/>
    <dgm:cxn modelId="{1BB512E1-9417-3C43-91E9-F70DF8DA6008}" type="presParOf" srcId="{67920834-0859-B04D-8606-EBAC2A1B8B4E}" destId="{36F80A3F-852D-D247-A5B7-EF84F2A62450}" srcOrd="0" destOrd="0" presId="urn:microsoft.com/office/officeart/2005/8/layout/hChevron3"/>
    <dgm:cxn modelId="{09E3BB8C-6262-BB4A-ABFC-CB9245259450}" type="presParOf" srcId="{67920834-0859-B04D-8606-EBAC2A1B8B4E}" destId="{17E3910B-8876-2D4A-88EE-487944E0EA1C}" srcOrd="1" destOrd="0" presId="urn:microsoft.com/office/officeart/2005/8/layout/hChevron3"/>
    <dgm:cxn modelId="{4C97E9A1-B162-224A-A4F6-D5276794E853}" type="presParOf" srcId="{67920834-0859-B04D-8606-EBAC2A1B8B4E}" destId="{68625CC5-945E-8C45-95F3-3172F638DCDE}" srcOrd="2" destOrd="0" presId="urn:microsoft.com/office/officeart/2005/8/layout/hChevron3"/>
    <dgm:cxn modelId="{0B4D7751-BB7A-DB45-842F-3993A8A610B5}" type="presParOf" srcId="{67920834-0859-B04D-8606-EBAC2A1B8B4E}" destId="{61DCBB2E-948C-9E4F-84EB-92FAB847254F}" srcOrd="3" destOrd="0" presId="urn:microsoft.com/office/officeart/2005/8/layout/hChevron3"/>
    <dgm:cxn modelId="{FCBC2242-88E9-BC47-ADF0-3B7DD88598D1}" type="presParOf" srcId="{67920834-0859-B04D-8606-EBAC2A1B8B4E}" destId="{EA6A3FF2-1B9F-C941-88EE-8CF2208F36CC}" srcOrd="4"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F80A3F-852D-D247-A5B7-EF84F2A62450}">
      <dsp:nvSpPr>
        <dsp:cNvPr id="0" name=""/>
        <dsp:cNvSpPr/>
      </dsp:nvSpPr>
      <dsp:spPr>
        <a:xfrm>
          <a:off x="1350" y="468840"/>
          <a:ext cx="1181037" cy="472415"/>
        </a:xfrm>
        <a:prstGeom prst="homePlate">
          <a:avLst/>
        </a:prstGeom>
        <a:solidFill>
          <a:srgbClr val="CEB67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676" tIns="37338" rIns="18669" bIns="37338" numCol="1" spcCol="1270" anchor="ctr" anchorCtr="0">
          <a:noAutofit/>
        </a:bodyPr>
        <a:lstStyle/>
        <a:p>
          <a:pPr marL="0" lvl="0" indent="0" algn="ctr" defTabSz="622300">
            <a:lnSpc>
              <a:spcPct val="90000"/>
            </a:lnSpc>
            <a:spcBef>
              <a:spcPct val="0"/>
            </a:spcBef>
            <a:spcAft>
              <a:spcPct val="35000"/>
            </a:spcAft>
            <a:buNone/>
          </a:pPr>
          <a:r>
            <a:rPr lang="en-US" sz="1400" kern="1200" dirty="0">
              <a:solidFill>
                <a:sysClr val="windowText" lastClr="000000"/>
              </a:solidFill>
            </a:rPr>
            <a:t>New Venture</a:t>
          </a:r>
        </a:p>
      </dsp:txBody>
      <dsp:txXfrm>
        <a:off x="1350" y="468840"/>
        <a:ext cx="1062933" cy="472415"/>
      </dsp:txXfrm>
    </dsp:sp>
    <dsp:sp modelId="{68625CC5-945E-8C45-95F3-3172F638DCDE}">
      <dsp:nvSpPr>
        <dsp:cNvPr id="0" name=""/>
        <dsp:cNvSpPr/>
      </dsp:nvSpPr>
      <dsp:spPr>
        <a:xfrm>
          <a:off x="946181" y="468840"/>
          <a:ext cx="1181037" cy="472415"/>
        </a:xfrm>
        <a:prstGeom prst="chevron">
          <a:avLst/>
        </a:prstGeom>
        <a:solidFill>
          <a:srgbClr val="CEB67B"/>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676" tIns="37338" rIns="18669" bIns="37338" numCol="1" spcCol="1270" anchor="ctr" anchorCtr="0">
          <a:noAutofit/>
        </a:bodyPr>
        <a:lstStyle/>
        <a:p>
          <a:pPr marL="0" lvl="0" indent="0" algn="ctr" defTabSz="622300">
            <a:lnSpc>
              <a:spcPct val="90000"/>
            </a:lnSpc>
            <a:spcBef>
              <a:spcPct val="0"/>
            </a:spcBef>
            <a:spcAft>
              <a:spcPct val="35000"/>
            </a:spcAft>
            <a:buNone/>
          </a:pPr>
          <a:r>
            <a:rPr lang="en-US" sz="1400" kern="1200" dirty="0">
              <a:solidFill>
                <a:sysClr val="windowText" lastClr="000000"/>
              </a:solidFill>
              <a:latin typeface="Calibri"/>
              <a:ea typeface="+mn-ea"/>
              <a:cs typeface="+mn-cs"/>
            </a:rPr>
            <a:t>Need Capital</a:t>
          </a:r>
        </a:p>
      </dsp:txBody>
      <dsp:txXfrm>
        <a:off x="1182389" y="468840"/>
        <a:ext cx="708622" cy="472415"/>
      </dsp:txXfrm>
    </dsp:sp>
    <dsp:sp modelId="{EA6A3FF2-1B9F-C941-88EE-8CF2208F36CC}">
      <dsp:nvSpPr>
        <dsp:cNvPr id="0" name=""/>
        <dsp:cNvSpPr/>
      </dsp:nvSpPr>
      <dsp:spPr>
        <a:xfrm>
          <a:off x="1891011" y="468840"/>
          <a:ext cx="1181037" cy="472415"/>
        </a:xfrm>
        <a:prstGeom prst="chevron">
          <a:avLst/>
        </a:prstGeom>
        <a:solidFill>
          <a:srgbClr val="CEB67B"/>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676" tIns="37338" rIns="18669" bIns="37338"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Seek VC Funding</a:t>
          </a:r>
        </a:p>
      </dsp:txBody>
      <dsp:txXfrm>
        <a:off x="2127219" y="468840"/>
        <a:ext cx="708622" cy="472415"/>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F06242BC-AF68-414B-8622-6AC13D9F4F1F}" type="datetimeFigureOut">
              <a:rPr lang="en-US" smtClean="0"/>
              <a:t>9/7/25</a:t>
            </a:fld>
            <a:endParaRPr lang="en-US"/>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FFFC8FC9-DCDB-4EAE-B3A7-1B2D2F2E6744}" type="slidenum">
              <a:rPr lang="en-US" smtClean="0"/>
              <a:t>‹#›</a:t>
            </a:fld>
            <a:endParaRPr lang="en-US"/>
          </a:p>
        </p:txBody>
      </p:sp>
    </p:spTree>
    <p:extLst>
      <p:ext uri="{BB962C8B-B14F-4D97-AF65-F5344CB8AC3E}">
        <p14:creationId xmlns:p14="http://schemas.microsoft.com/office/powerpoint/2010/main" val="3433992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09484" y="3298843"/>
            <a:ext cx="864869" cy="89768"/>
          </a:xfrm>
        </p:spPr>
        <p:txBody>
          <a:bodyPr lIns="0" tIns="0" rIns="0" bIns="0"/>
          <a:lstStyle>
            <a:lvl1pPr>
              <a:defRPr sz="600" b="0" i="0">
                <a:solidFill>
                  <a:schemeClr val="tx1"/>
                </a:solidFill>
                <a:latin typeface="Arial"/>
                <a:cs typeface="Arial"/>
              </a:defRPr>
            </a:lvl1pPr>
          </a:lstStyle>
          <a:p>
            <a:pPr marL="12700">
              <a:lnSpc>
                <a:spcPts val="685"/>
              </a:lnSpc>
            </a:pPr>
            <a:r>
              <a:rPr lang="en-US" spc="-10" dirty="0"/>
              <a:t>MBAX 6110  Fall  2024</a:t>
            </a:r>
            <a:endParaRPr spc="-5" dirty="0"/>
          </a:p>
        </p:txBody>
      </p:sp>
      <p:sp>
        <p:nvSpPr>
          <p:cNvPr id="5" name="Holder 5"/>
          <p:cNvSpPr>
            <a:spLocks noGrp="1"/>
          </p:cNvSpPr>
          <p:nvPr>
            <p:ph type="dt" sz="half" idx="6"/>
          </p:nvPr>
        </p:nvSpPr>
        <p:spPr/>
        <p:txBody>
          <a:bodyPr lIns="0" tIns="0" rIns="0" bIns="0"/>
          <a:lstStyle>
            <a:lvl1pPr>
              <a:defRPr sz="1350" b="1" i="0">
                <a:solidFill>
                  <a:srgbClr val="231F20"/>
                </a:solidFill>
                <a:latin typeface="Rockwell"/>
                <a:cs typeface="Rockwell"/>
              </a:defRPr>
            </a:lvl1pPr>
          </a:lstStyle>
          <a:p>
            <a:pPr marL="12700">
              <a:lnSpc>
                <a:spcPts val="1535"/>
              </a:lnSpc>
              <a:spcBef>
                <a:spcPts val="75"/>
              </a:spcBef>
            </a:pPr>
            <a:r>
              <a:rPr lang="en-US" spc="-5"/>
              <a:t>Leeds B U S I N E S S</a:t>
            </a:r>
            <a:endParaRPr sz="500">
              <a:latin typeface="Arial"/>
              <a:cs typeface="Arial"/>
            </a:endParaRPr>
          </a:p>
        </p:txBody>
      </p:sp>
      <p:sp>
        <p:nvSpPr>
          <p:cNvPr id="6" name="Holder 6"/>
          <p:cNvSpPr>
            <a:spLocks noGrp="1"/>
          </p:cNvSpPr>
          <p:nvPr>
            <p:ph type="sldNum" sz="quarter" idx="7"/>
          </p:nvPr>
        </p:nvSpPr>
        <p:spPr/>
        <p:txBody>
          <a:bodyPr lIns="0" tIns="0" rIns="0" bIns="0"/>
          <a:lstStyle>
            <a:lvl1pPr>
              <a:defRPr sz="600" b="0" i="0">
                <a:solidFill>
                  <a:schemeClr val="tx1"/>
                </a:solidFill>
                <a:latin typeface="Arial"/>
                <a:cs typeface="Arial"/>
              </a:defRPr>
            </a:lvl1pPr>
          </a:lstStyle>
          <a:p>
            <a:pPr marL="12700">
              <a:lnSpc>
                <a:spcPts val="685"/>
              </a:lnSpc>
            </a:pPr>
            <a:r>
              <a:rPr spc="-35" dirty="0"/>
              <a:t>P</a:t>
            </a:r>
            <a:r>
              <a:rPr spc="-5" dirty="0"/>
              <a:t>age</a:t>
            </a:r>
            <a:r>
              <a:rPr spc="-10" dirty="0"/>
              <a:t> </a:t>
            </a:r>
            <a:fld id="{81D60167-4931-47E6-BA6A-407CBD079E47}" type="slidenum">
              <a:rPr spc="-5" dirty="0"/>
              <a:t>‹#›</a:t>
            </a:fld>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526894"/>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1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tx1"/>
                </a:solidFill>
                <a:latin typeface="Arial"/>
                <a:cs typeface="Arial"/>
              </a:defRPr>
            </a:lvl1pPr>
          </a:lstStyle>
          <a:p>
            <a:pPr marL="12700">
              <a:lnSpc>
                <a:spcPts val="685"/>
              </a:lnSpc>
            </a:pPr>
            <a:r>
              <a:rPr lang="en-US" spc="-10" dirty="0"/>
              <a:t>ESBM4570</a:t>
            </a:r>
            <a:endParaRPr spc="-5" dirty="0"/>
          </a:p>
        </p:txBody>
      </p:sp>
      <p:sp>
        <p:nvSpPr>
          <p:cNvPr id="5" name="Holder 5"/>
          <p:cNvSpPr>
            <a:spLocks noGrp="1"/>
          </p:cNvSpPr>
          <p:nvPr>
            <p:ph type="dt" sz="half" idx="6"/>
          </p:nvPr>
        </p:nvSpPr>
        <p:spPr/>
        <p:txBody>
          <a:bodyPr lIns="0" tIns="0" rIns="0" bIns="0"/>
          <a:lstStyle>
            <a:lvl1pPr>
              <a:defRPr sz="1350" b="1" i="0">
                <a:solidFill>
                  <a:srgbClr val="231F20"/>
                </a:solidFill>
                <a:latin typeface="Rockwell"/>
                <a:cs typeface="Rockwell"/>
              </a:defRPr>
            </a:lvl1pPr>
          </a:lstStyle>
          <a:p>
            <a:pPr marL="12700">
              <a:lnSpc>
                <a:spcPts val="1535"/>
              </a:lnSpc>
              <a:spcBef>
                <a:spcPts val="75"/>
              </a:spcBef>
            </a:pPr>
            <a:r>
              <a:rPr lang="en-US" spc="-5"/>
              <a:t>Leeds B U S I N E S S</a:t>
            </a:r>
            <a:endParaRPr sz="500">
              <a:latin typeface="Arial"/>
              <a:cs typeface="Arial"/>
            </a:endParaRPr>
          </a:p>
        </p:txBody>
      </p:sp>
      <p:sp>
        <p:nvSpPr>
          <p:cNvPr id="6" name="Holder 6"/>
          <p:cNvSpPr>
            <a:spLocks noGrp="1"/>
          </p:cNvSpPr>
          <p:nvPr>
            <p:ph type="sldNum" sz="quarter" idx="7"/>
          </p:nvPr>
        </p:nvSpPr>
        <p:spPr/>
        <p:txBody>
          <a:bodyPr lIns="0" tIns="0" rIns="0" bIns="0"/>
          <a:lstStyle>
            <a:lvl1pPr>
              <a:defRPr sz="600" b="0" i="0">
                <a:solidFill>
                  <a:schemeClr val="tx1"/>
                </a:solidFill>
                <a:latin typeface="Arial"/>
                <a:cs typeface="Arial"/>
              </a:defRPr>
            </a:lvl1pPr>
          </a:lstStyle>
          <a:p>
            <a:pPr marL="12700">
              <a:lnSpc>
                <a:spcPts val="685"/>
              </a:lnSpc>
            </a:pPr>
            <a:r>
              <a:rPr spc="-35" dirty="0"/>
              <a:t>P</a:t>
            </a:r>
            <a:r>
              <a:rPr spc="-5" dirty="0"/>
              <a:t>age</a:t>
            </a:r>
            <a:r>
              <a:rPr spc="-10" dirty="0"/>
              <a:t> </a:t>
            </a:r>
            <a:fld id="{81D60167-4931-47E6-BA6A-407CBD079E47}" type="slidenum">
              <a:rPr spc="-5" dirty="0"/>
              <a:t>‹#›</a:t>
            </a:fld>
            <a:endParaRPr spc="-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526894"/>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294004" y="3226030"/>
            <a:ext cx="864869" cy="89768"/>
          </a:xfrm>
        </p:spPr>
        <p:txBody>
          <a:bodyPr lIns="0" tIns="0" rIns="0" bIns="0"/>
          <a:lstStyle>
            <a:lvl1pPr>
              <a:defRPr sz="600" b="0" i="0">
                <a:solidFill>
                  <a:schemeClr val="tx1"/>
                </a:solidFill>
                <a:latin typeface="Arial"/>
                <a:cs typeface="Arial"/>
              </a:defRPr>
            </a:lvl1pPr>
          </a:lstStyle>
          <a:p>
            <a:pPr marL="12700">
              <a:lnSpc>
                <a:spcPts val="685"/>
              </a:lnSpc>
            </a:pPr>
            <a:r>
              <a:rPr lang="en-US" spc="-10" dirty="0"/>
              <a:t>MBAX 6110  Fall 2024</a:t>
            </a:r>
            <a:endParaRPr spc="-5" dirty="0"/>
          </a:p>
        </p:txBody>
      </p:sp>
      <p:sp>
        <p:nvSpPr>
          <p:cNvPr id="6" name="Holder 6"/>
          <p:cNvSpPr>
            <a:spLocks noGrp="1"/>
          </p:cNvSpPr>
          <p:nvPr>
            <p:ph type="dt" sz="half" idx="6"/>
          </p:nvPr>
        </p:nvSpPr>
        <p:spPr/>
        <p:txBody>
          <a:bodyPr lIns="0" tIns="0" rIns="0" bIns="0"/>
          <a:lstStyle>
            <a:lvl1pPr>
              <a:defRPr sz="1350" b="1" i="0">
                <a:solidFill>
                  <a:srgbClr val="231F20"/>
                </a:solidFill>
                <a:latin typeface="Rockwell"/>
                <a:cs typeface="Rockwell"/>
              </a:defRPr>
            </a:lvl1pPr>
          </a:lstStyle>
          <a:p>
            <a:pPr marL="12700">
              <a:lnSpc>
                <a:spcPts val="1535"/>
              </a:lnSpc>
              <a:spcBef>
                <a:spcPts val="75"/>
              </a:spcBef>
            </a:pPr>
            <a:r>
              <a:rPr lang="en-US" spc="-5"/>
              <a:t>Leeds B U S I N E S S</a:t>
            </a:r>
            <a:endParaRPr sz="500">
              <a:latin typeface="Arial"/>
              <a:cs typeface="Arial"/>
            </a:endParaRPr>
          </a:p>
        </p:txBody>
      </p:sp>
      <p:sp>
        <p:nvSpPr>
          <p:cNvPr id="7" name="Holder 7"/>
          <p:cNvSpPr>
            <a:spLocks noGrp="1"/>
          </p:cNvSpPr>
          <p:nvPr>
            <p:ph type="sldNum" sz="quarter" idx="7"/>
          </p:nvPr>
        </p:nvSpPr>
        <p:spPr/>
        <p:txBody>
          <a:bodyPr lIns="0" tIns="0" rIns="0" bIns="0"/>
          <a:lstStyle>
            <a:lvl1pPr>
              <a:defRPr sz="600" b="0" i="0">
                <a:solidFill>
                  <a:schemeClr val="tx1"/>
                </a:solidFill>
                <a:latin typeface="Arial"/>
                <a:cs typeface="Arial"/>
              </a:defRPr>
            </a:lvl1pPr>
          </a:lstStyle>
          <a:p>
            <a:pPr marL="12700">
              <a:lnSpc>
                <a:spcPts val="685"/>
              </a:lnSpc>
            </a:pPr>
            <a:r>
              <a:rPr spc="-35" dirty="0"/>
              <a:t>P</a:t>
            </a:r>
            <a:r>
              <a:rPr spc="-5" dirty="0"/>
              <a:t>age</a:t>
            </a:r>
            <a:r>
              <a:rPr spc="-10" dirty="0"/>
              <a:t> </a:t>
            </a:r>
            <a:fld id="{81D60167-4931-47E6-BA6A-407CBD079E47}" type="slidenum">
              <a:rPr spc="-5" dirty="0"/>
              <a:t>‹#›</a:t>
            </a:fld>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526894"/>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600" b="0" i="0">
                <a:solidFill>
                  <a:schemeClr val="tx1"/>
                </a:solidFill>
                <a:latin typeface="Arial"/>
                <a:cs typeface="Arial"/>
              </a:defRPr>
            </a:lvl1pPr>
          </a:lstStyle>
          <a:p>
            <a:pPr marL="12700">
              <a:lnSpc>
                <a:spcPts val="685"/>
              </a:lnSpc>
            </a:pPr>
            <a:r>
              <a:rPr lang="en-US" spc="-10" dirty="0"/>
              <a:t>ESBM4570</a:t>
            </a:r>
            <a:endParaRPr spc="-5" dirty="0"/>
          </a:p>
        </p:txBody>
      </p:sp>
      <p:sp>
        <p:nvSpPr>
          <p:cNvPr id="4" name="Holder 4"/>
          <p:cNvSpPr>
            <a:spLocks noGrp="1"/>
          </p:cNvSpPr>
          <p:nvPr>
            <p:ph type="dt" sz="half" idx="6"/>
          </p:nvPr>
        </p:nvSpPr>
        <p:spPr/>
        <p:txBody>
          <a:bodyPr lIns="0" tIns="0" rIns="0" bIns="0"/>
          <a:lstStyle>
            <a:lvl1pPr>
              <a:defRPr sz="1350" b="1" i="0">
                <a:solidFill>
                  <a:srgbClr val="231F20"/>
                </a:solidFill>
                <a:latin typeface="Rockwell"/>
                <a:cs typeface="Rockwell"/>
              </a:defRPr>
            </a:lvl1pPr>
          </a:lstStyle>
          <a:p>
            <a:pPr marL="12700">
              <a:lnSpc>
                <a:spcPts val="1535"/>
              </a:lnSpc>
              <a:spcBef>
                <a:spcPts val="75"/>
              </a:spcBef>
            </a:pPr>
            <a:r>
              <a:rPr lang="en-US" spc="-5"/>
              <a:t>Leeds B U S I N E S S</a:t>
            </a:r>
            <a:endParaRPr sz="500">
              <a:latin typeface="Arial"/>
              <a:cs typeface="Arial"/>
            </a:endParaRPr>
          </a:p>
        </p:txBody>
      </p:sp>
      <p:sp>
        <p:nvSpPr>
          <p:cNvPr id="5" name="Holder 5"/>
          <p:cNvSpPr>
            <a:spLocks noGrp="1"/>
          </p:cNvSpPr>
          <p:nvPr>
            <p:ph type="sldNum" sz="quarter" idx="7"/>
          </p:nvPr>
        </p:nvSpPr>
        <p:spPr/>
        <p:txBody>
          <a:bodyPr lIns="0" tIns="0" rIns="0" bIns="0"/>
          <a:lstStyle>
            <a:lvl1pPr>
              <a:defRPr sz="600" b="0" i="0">
                <a:solidFill>
                  <a:schemeClr val="tx1"/>
                </a:solidFill>
                <a:latin typeface="Arial"/>
                <a:cs typeface="Arial"/>
              </a:defRPr>
            </a:lvl1pPr>
          </a:lstStyle>
          <a:p>
            <a:pPr marL="12700">
              <a:lnSpc>
                <a:spcPts val="685"/>
              </a:lnSpc>
            </a:pPr>
            <a:r>
              <a:rPr spc="-35" dirty="0"/>
              <a:t>P</a:t>
            </a:r>
            <a:r>
              <a:rPr spc="-5" dirty="0"/>
              <a:t>age</a:t>
            </a:r>
            <a:r>
              <a:rPr spc="-10" dirty="0"/>
              <a:t> </a:t>
            </a:r>
            <a:fld id="{81D60167-4931-47E6-BA6A-407CBD079E47}" type="slidenum">
              <a:rPr spc="-5" dirty="0"/>
              <a:t>‹#›</a:t>
            </a:fld>
            <a:endParaRPr spc="-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336295" y="3344562"/>
            <a:ext cx="864869" cy="89768"/>
          </a:xfrm>
        </p:spPr>
        <p:txBody>
          <a:bodyPr lIns="0" tIns="0" rIns="0" bIns="0"/>
          <a:lstStyle>
            <a:lvl1pPr>
              <a:defRPr sz="600" b="0" i="0">
                <a:solidFill>
                  <a:schemeClr val="tx1"/>
                </a:solidFill>
                <a:latin typeface="Arial"/>
                <a:cs typeface="Arial"/>
              </a:defRPr>
            </a:lvl1pPr>
          </a:lstStyle>
          <a:p>
            <a:pPr marL="12700">
              <a:lnSpc>
                <a:spcPts val="685"/>
              </a:lnSpc>
            </a:pPr>
            <a:r>
              <a:rPr lang="en-US" spc="-10" dirty="0"/>
              <a:t>ESBM4570</a:t>
            </a:r>
            <a:endParaRPr spc="-5" dirty="0"/>
          </a:p>
        </p:txBody>
      </p:sp>
      <p:sp>
        <p:nvSpPr>
          <p:cNvPr id="3" name="Holder 3"/>
          <p:cNvSpPr>
            <a:spLocks noGrp="1"/>
          </p:cNvSpPr>
          <p:nvPr>
            <p:ph type="dt" sz="half" idx="6"/>
          </p:nvPr>
        </p:nvSpPr>
        <p:spPr/>
        <p:txBody>
          <a:bodyPr lIns="0" tIns="0" rIns="0" bIns="0"/>
          <a:lstStyle>
            <a:lvl1pPr>
              <a:defRPr sz="1350" b="1" i="0">
                <a:solidFill>
                  <a:srgbClr val="231F20"/>
                </a:solidFill>
                <a:latin typeface="Rockwell"/>
                <a:cs typeface="Rockwell"/>
              </a:defRPr>
            </a:lvl1pPr>
          </a:lstStyle>
          <a:p>
            <a:pPr marL="12700">
              <a:lnSpc>
                <a:spcPts val="1535"/>
              </a:lnSpc>
              <a:spcBef>
                <a:spcPts val="75"/>
              </a:spcBef>
            </a:pPr>
            <a:r>
              <a:rPr lang="en-US" spc="-5"/>
              <a:t>Leeds B U S I N E S S</a:t>
            </a:r>
            <a:endParaRPr sz="500">
              <a:latin typeface="Arial"/>
              <a:cs typeface="Arial"/>
            </a:endParaRPr>
          </a:p>
        </p:txBody>
      </p:sp>
      <p:sp>
        <p:nvSpPr>
          <p:cNvPr id="4" name="Holder 4"/>
          <p:cNvSpPr>
            <a:spLocks noGrp="1"/>
          </p:cNvSpPr>
          <p:nvPr>
            <p:ph type="sldNum" sz="quarter" idx="7"/>
          </p:nvPr>
        </p:nvSpPr>
        <p:spPr/>
        <p:txBody>
          <a:bodyPr lIns="0" tIns="0" rIns="0" bIns="0"/>
          <a:lstStyle>
            <a:lvl1pPr>
              <a:defRPr sz="600" b="0" i="0">
                <a:solidFill>
                  <a:schemeClr val="tx1"/>
                </a:solidFill>
                <a:latin typeface="Arial"/>
                <a:cs typeface="Arial"/>
              </a:defRPr>
            </a:lvl1pPr>
          </a:lstStyle>
          <a:p>
            <a:pPr marL="12700">
              <a:lnSpc>
                <a:spcPts val="685"/>
              </a:lnSpc>
            </a:pPr>
            <a:r>
              <a:rPr spc="-35" dirty="0"/>
              <a:t>P</a:t>
            </a:r>
            <a:r>
              <a:rPr spc="-5" dirty="0"/>
              <a:t>age</a:t>
            </a:r>
            <a:r>
              <a:rPr spc="-10" dirty="0"/>
              <a:t> </a:t>
            </a:r>
            <a:fld id="{81D60167-4931-47E6-BA6A-407CBD079E47}" type="slidenum">
              <a:rPr spc="-5" dirty="0"/>
              <a:t>‹#›</a:t>
            </a:fld>
            <a:endParaRPr spc="-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2" y="0"/>
            <a:ext cx="4608830" cy="3456940"/>
          </a:xfrm>
          <a:custGeom>
            <a:avLst/>
            <a:gdLst/>
            <a:ahLst/>
            <a:cxnLst/>
            <a:rect l="l" t="t" r="r" b="b"/>
            <a:pathLst>
              <a:path w="4608830" h="3456940">
                <a:moveTo>
                  <a:pt x="0" y="3456431"/>
                </a:moveTo>
                <a:lnTo>
                  <a:pt x="4608576" y="3456431"/>
                </a:lnTo>
                <a:lnTo>
                  <a:pt x="4608576" y="0"/>
                </a:lnTo>
                <a:lnTo>
                  <a:pt x="0" y="0"/>
                </a:lnTo>
                <a:lnTo>
                  <a:pt x="0" y="3456431"/>
                </a:lnTo>
                <a:close/>
              </a:path>
            </a:pathLst>
          </a:custGeom>
          <a:solidFill>
            <a:srgbClr val="FEFEFE"/>
          </a:solidFill>
        </p:spPr>
        <p:txBody>
          <a:bodyPr wrap="square" lIns="0" tIns="0" rIns="0" bIns="0" rtlCol="0"/>
          <a:lstStyle/>
          <a:p>
            <a:endParaRPr/>
          </a:p>
        </p:txBody>
      </p:sp>
      <p:sp>
        <p:nvSpPr>
          <p:cNvPr id="17" name="bg object 17"/>
          <p:cNvSpPr/>
          <p:nvPr/>
        </p:nvSpPr>
        <p:spPr>
          <a:xfrm>
            <a:off x="-152" y="0"/>
            <a:ext cx="2304415" cy="129539"/>
          </a:xfrm>
          <a:custGeom>
            <a:avLst/>
            <a:gdLst/>
            <a:ahLst/>
            <a:cxnLst/>
            <a:rect l="l" t="t" r="r" b="b"/>
            <a:pathLst>
              <a:path w="2304415" h="129539">
                <a:moveTo>
                  <a:pt x="0" y="129540"/>
                </a:moveTo>
                <a:lnTo>
                  <a:pt x="2304288" y="129540"/>
                </a:lnTo>
                <a:lnTo>
                  <a:pt x="2304288" y="0"/>
                </a:lnTo>
                <a:lnTo>
                  <a:pt x="0" y="0"/>
                </a:lnTo>
                <a:lnTo>
                  <a:pt x="0" y="129540"/>
                </a:lnTo>
                <a:close/>
              </a:path>
            </a:pathLst>
          </a:custGeom>
          <a:solidFill>
            <a:srgbClr val="A0A2A1"/>
          </a:solidFill>
        </p:spPr>
        <p:txBody>
          <a:bodyPr wrap="square" lIns="0" tIns="0" rIns="0" bIns="0" rtlCol="0"/>
          <a:lstStyle/>
          <a:p>
            <a:endParaRPr/>
          </a:p>
        </p:txBody>
      </p:sp>
      <p:sp>
        <p:nvSpPr>
          <p:cNvPr id="18" name="bg object 18"/>
          <p:cNvSpPr/>
          <p:nvPr/>
        </p:nvSpPr>
        <p:spPr>
          <a:xfrm>
            <a:off x="2304135" y="0"/>
            <a:ext cx="2304415" cy="129539"/>
          </a:xfrm>
          <a:custGeom>
            <a:avLst/>
            <a:gdLst/>
            <a:ahLst/>
            <a:cxnLst/>
            <a:rect l="l" t="t" r="r" b="b"/>
            <a:pathLst>
              <a:path w="2304415" h="129539">
                <a:moveTo>
                  <a:pt x="0" y="129540"/>
                </a:moveTo>
                <a:lnTo>
                  <a:pt x="2304288" y="129540"/>
                </a:lnTo>
                <a:lnTo>
                  <a:pt x="2304288" y="0"/>
                </a:lnTo>
                <a:lnTo>
                  <a:pt x="0" y="0"/>
                </a:lnTo>
                <a:lnTo>
                  <a:pt x="0" y="129540"/>
                </a:lnTo>
                <a:close/>
              </a:path>
            </a:pathLst>
          </a:custGeom>
          <a:solidFill>
            <a:srgbClr val="CEB67B"/>
          </a:solidFill>
        </p:spPr>
        <p:txBody>
          <a:bodyPr wrap="square" lIns="0" tIns="0" rIns="0" bIns="0" rtlCol="0"/>
          <a:lstStyle/>
          <a:p>
            <a:endParaRPr/>
          </a:p>
        </p:txBody>
      </p:sp>
      <p:sp>
        <p:nvSpPr>
          <p:cNvPr id="2" name="Holder 2"/>
          <p:cNvSpPr>
            <a:spLocks noGrp="1"/>
          </p:cNvSpPr>
          <p:nvPr>
            <p:ph type="title"/>
          </p:nvPr>
        </p:nvSpPr>
        <p:spPr>
          <a:xfrm>
            <a:off x="726439" y="190295"/>
            <a:ext cx="3153410" cy="244475"/>
          </a:xfrm>
          <a:prstGeom prst="rect">
            <a:avLst/>
          </a:prstGeom>
        </p:spPr>
        <p:txBody>
          <a:bodyPr wrap="square" lIns="0" tIns="0" rIns="0" bIns="0">
            <a:spAutoFit/>
          </a:bodyPr>
          <a:lstStyle>
            <a:lvl1pPr>
              <a:defRPr sz="1400" b="1" i="0">
                <a:solidFill>
                  <a:srgbClr val="526894"/>
                </a:solidFill>
                <a:latin typeface="Arial"/>
                <a:cs typeface="Arial"/>
              </a:defRPr>
            </a:lvl1pPr>
          </a:lstStyle>
          <a:p>
            <a:endParaRPr/>
          </a:p>
        </p:txBody>
      </p:sp>
      <p:sp>
        <p:nvSpPr>
          <p:cNvPr id="3" name="Holder 3"/>
          <p:cNvSpPr>
            <a:spLocks noGrp="1"/>
          </p:cNvSpPr>
          <p:nvPr>
            <p:ph type="body" idx="1"/>
          </p:nvPr>
        </p:nvSpPr>
        <p:spPr>
          <a:xfrm>
            <a:off x="126238" y="572274"/>
            <a:ext cx="4357623" cy="2368550"/>
          </a:xfrm>
          <a:prstGeom prst="rect">
            <a:avLst/>
          </a:prstGeom>
        </p:spPr>
        <p:txBody>
          <a:bodyPr wrap="square" lIns="0" tIns="0" rIns="0" bIns="0">
            <a:spAutoFit/>
          </a:bodyPr>
          <a:lstStyle>
            <a:lvl1pPr>
              <a:defRPr sz="11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336295" y="3344562"/>
            <a:ext cx="864869" cy="89768"/>
          </a:xfrm>
          <a:prstGeom prst="rect">
            <a:avLst/>
          </a:prstGeom>
        </p:spPr>
        <p:txBody>
          <a:bodyPr wrap="square" lIns="0" tIns="0" rIns="0" bIns="0">
            <a:spAutoFit/>
          </a:bodyPr>
          <a:lstStyle>
            <a:lvl1pPr>
              <a:defRPr sz="600" b="0" i="0">
                <a:solidFill>
                  <a:schemeClr val="tx1"/>
                </a:solidFill>
                <a:latin typeface="Arial"/>
                <a:cs typeface="Arial"/>
              </a:defRPr>
            </a:lvl1pPr>
          </a:lstStyle>
          <a:p>
            <a:pPr marL="12700">
              <a:lnSpc>
                <a:spcPts val="685"/>
              </a:lnSpc>
            </a:pPr>
            <a:r>
              <a:rPr lang="en-US" spc="-10" dirty="0"/>
              <a:t>ESBM4570</a:t>
            </a:r>
            <a:endParaRPr spc="-5" dirty="0"/>
          </a:p>
        </p:txBody>
      </p:sp>
      <p:sp>
        <p:nvSpPr>
          <p:cNvPr id="5" name="Holder 5"/>
          <p:cNvSpPr>
            <a:spLocks noGrp="1"/>
          </p:cNvSpPr>
          <p:nvPr>
            <p:ph type="dt" sz="half" idx="6"/>
          </p:nvPr>
        </p:nvSpPr>
        <p:spPr>
          <a:xfrm>
            <a:off x="3966640" y="2949162"/>
            <a:ext cx="526414" cy="271144"/>
          </a:xfrm>
          <a:prstGeom prst="rect">
            <a:avLst/>
          </a:prstGeom>
        </p:spPr>
        <p:txBody>
          <a:bodyPr wrap="square" lIns="0" tIns="0" rIns="0" bIns="0">
            <a:spAutoFit/>
          </a:bodyPr>
          <a:lstStyle>
            <a:lvl1pPr>
              <a:defRPr sz="1350" b="1" i="0">
                <a:solidFill>
                  <a:srgbClr val="231F20"/>
                </a:solidFill>
                <a:latin typeface="Rockwell"/>
                <a:cs typeface="Rockwell"/>
              </a:defRPr>
            </a:lvl1pPr>
          </a:lstStyle>
          <a:p>
            <a:pPr marL="12700">
              <a:lnSpc>
                <a:spcPts val="1535"/>
              </a:lnSpc>
              <a:spcBef>
                <a:spcPts val="75"/>
              </a:spcBef>
            </a:pPr>
            <a:r>
              <a:rPr lang="en-US" spc="-5"/>
              <a:t>Leeds B U S I N E S S</a:t>
            </a:r>
            <a:endParaRPr sz="500">
              <a:latin typeface="Arial"/>
              <a:cs typeface="Arial"/>
            </a:endParaRPr>
          </a:p>
        </p:txBody>
      </p:sp>
      <p:sp>
        <p:nvSpPr>
          <p:cNvPr id="6" name="Holder 6"/>
          <p:cNvSpPr>
            <a:spLocks noGrp="1"/>
          </p:cNvSpPr>
          <p:nvPr>
            <p:ph type="sldNum" sz="quarter" idx="7"/>
          </p:nvPr>
        </p:nvSpPr>
        <p:spPr>
          <a:xfrm>
            <a:off x="3708906" y="3344562"/>
            <a:ext cx="300989" cy="101600"/>
          </a:xfrm>
          <a:prstGeom prst="rect">
            <a:avLst/>
          </a:prstGeom>
        </p:spPr>
        <p:txBody>
          <a:bodyPr wrap="square" lIns="0" tIns="0" rIns="0" bIns="0">
            <a:spAutoFit/>
          </a:bodyPr>
          <a:lstStyle>
            <a:lvl1pPr>
              <a:defRPr sz="600" b="0" i="0">
                <a:solidFill>
                  <a:schemeClr val="tx1"/>
                </a:solidFill>
                <a:latin typeface="Arial"/>
                <a:cs typeface="Arial"/>
              </a:defRPr>
            </a:lvl1pPr>
          </a:lstStyle>
          <a:p>
            <a:pPr marL="12700">
              <a:lnSpc>
                <a:spcPts val="685"/>
              </a:lnSpc>
            </a:pPr>
            <a:r>
              <a:rPr spc="-35" dirty="0"/>
              <a:t>P</a:t>
            </a:r>
            <a:r>
              <a:rPr spc="-5" dirty="0"/>
              <a:t>age</a:t>
            </a:r>
            <a:r>
              <a:rPr spc="-10" dirty="0"/>
              <a:t> </a:t>
            </a:r>
            <a:fld id="{81D60167-4931-47E6-BA6A-407CBD079E47}" type="slidenum">
              <a:rPr spc="-5" dirty="0"/>
              <a:t>‹#›</a:t>
            </a:fld>
            <a:endParaRPr spc="-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66640" y="2946437"/>
            <a:ext cx="526415" cy="231140"/>
          </a:xfrm>
          <a:prstGeom prst="rect">
            <a:avLst/>
          </a:prstGeom>
        </p:spPr>
        <p:txBody>
          <a:bodyPr vert="horz" wrap="square" lIns="0" tIns="12065" rIns="0" bIns="0" rtlCol="0">
            <a:spAutoFit/>
          </a:bodyPr>
          <a:lstStyle/>
          <a:p>
            <a:pPr marL="12700">
              <a:lnSpc>
                <a:spcPct val="100000"/>
              </a:lnSpc>
              <a:spcBef>
                <a:spcPts val="95"/>
              </a:spcBef>
            </a:pPr>
            <a:r>
              <a:rPr sz="1350" b="1" spc="-5" dirty="0">
                <a:solidFill>
                  <a:srgbClr val="231F20"/>
                </a:solidFill>
                <a:latin typeface="Rockwell"/>
                <a:cs typeface="Rockwell"/>
              </a:rPr>
              <a:t>Leeds</a:t>
            </a:r>
            <a:endParaRPr sz="1350">
              <a:latin typeface="Rockwell"/>
              <a:cs typeface="Rockwell"/>
            </a:endParaRPr>
          </a:p>
        </p:txBody>
      </p:sp>
      <p:grpSp>
        <p:nvGrpSpPr>
          <p:cNvPr id="3" name="object 3"/>
          <p:cNvGrpSpPr/>
          <p:nvPr/>
        </p:nvGrpSpPr>
        <p:grpSpPr>
          <a:xfrm>
            <a:off x="3648455" y="2932247"/>
            <a:ext cx="297815" cy="287655"/>
            <a:chOff x="3648455" y="2932247"/>
            <a:chExt cx="297815" cy="287655"/>
          </a:xfrm>
        </p:grpSpPr>
        <p:sp>
          <p:nvSpPr>
            <p:cNvPr id="4" name="object 4"/>
            <p:cNvSpPr/>
            <p:nvPr/>
          </p:nvSpPr>
          <p:spPr>
            <a:xfrm>
              <a:off x="3648455" y="2932247"/>
              <a:ext cx="297815" cy="287655"/>
            </a:xfrm>
            <a:custGeom>
              <a:avLst/>
              <a:gdLst/>
              <a:ahLst/>
              <a:cxnLst/>
              <a:rect l="l" t="t" r="r" b="b"/>
              <a:pathLst>
                <a:path w="297814" h="287655">
                  <a:moveTo>
                    <a:pt x="175778" y="0"/>
                  </a:moveTo>
                  <a:lnTo>
                    <a:pt x="39471" y="0"/>
                  </a:lnTo>
                  <a:lnTo>
                    <a:pt x="0" y="39421"/>
                  </a:lnTo>
                  <a:lnTo>
                    <a:pt x="0" y="175503"/>
                  </a:lnTo>
                  <a:lnTo>
                    <a:pt x="39471" y="214896"/>
                  </a:lnTo>
                  <a:lnTo>
                    <a:pt x="82753" y="214896"/>
                  </a:lnTo>
                  <a:lnTo>
                    <a:pt x="82753" y="248012"/>
                  </a:lnTo>
                  <a:lnTo>
                    <a:pt x="122544" y="287452"/>
                  </a:lnTo>
                  <a:lnTo>
                    <a:pt x="237576" y="287452"/>
                  </a:lnTo>
                  <a:lnTo>
                    <a:pt x="277459" y="248043"/>
                  </a:lnTo>
                  <a:lnTo>
                    <a:pt x="277459" y="142625"/>
                  </a:lnTo>
                  <a:lnTo>
                    <a:pt x="297774" y="142625"/>
                  </a:lnTo>
                  <a:lnTo>
                    <a:pt x="297774" y="72443"/>
                  </a:lnTo>
                  <a:lnTo>
                    <a:pt x="215127" y="72443"/>
                  </a:lnTo>
                  <a:lnTo>
                    <a:pt x="215127" y="39427"/>
                  </a:lnTo>
                  <a:lnTo>
                    <a:pt x="175778" y="0"/>
                  </a:lnTo>
                  <a:close/>
                </a:path>
              </a:pathLst>
            </a:custGeom>
            <a:solidFill>
              <a:srgbClr val="CFB87C"/>
            </a:solidFill>
          </p:spPr>
          <p:txBody>
            <a:bodyPr wrap="square" lIns="0" tIns="0" rIns="0" bIns="0" rtlCol="0"/>
            <a:lstStyle/>
            <a:p>
              <a:endParaRPr/>
            </a:p>
          </p:txBody>
        </p:sp>
        <p:sp>
          <p:nvSpPr>
            <p:cNvPr id="5" name="object 5"/>
            <p:cNvSpPr/>
            <p:nvPr/>
          </p:nvSpPr>
          <p:spPr>
            <a:xfrm>
              <a:off x="3652540" y="2936332"/>
              <a:ext cx="290195" cy="279400"/>
            </a:xfrm>
            <a:custGeom>
              <a:avLst/>
              <a:gdLst/>
              <a:ahLst/>
              <a:cxnLst/>
              <a:rect l="l" t="t" r="r" b="b"/>
              <a:pathLst>
                <a:path w="290195" h="279400">
                  <a:moveTo>
                    <a:pt x="170017" y="0"/>
                  </a:moveTo>
                  <a:lnTo>
                    <a:pt x="37063" y="0"/>
                  </a:lnTo>
                  <a:lnTo>
                    <a:pt x="0" y="37033"/>
                  </a:lnTo>
                  <a:lnTo>
                    <a:pt x="0" y="169705"/>
                  </a:lnTo>
                  <a:lnTo>
                    <a:pt x="37063" y="206727"/>
                  </a:lnTo>
                  <a:lnTo>
                    <a:pt x="82783" y="206727"/>
                  </a:lnTo>
                  <a:lnTo>
                    <a:pt x="82783" y="242244"/>
                  </a:lnTo>
                  <a:lnTo>
                    <a:pt x="120136" y="279266"/>
                  </a:lnTo>
                  <a:lnTo>
                    <a:pt x="231815" y="279266"/>
                  </a:lnTo>
                  <a:lnTo>
                    <a:pt x="269275" y="242244"/>
                  </a:lnTo>
                  <a:lnTo>
                    <a:pt x="269275" y="134474"/>
                  </a:lnTo>
                  <a:lnTo>
                    <a:pt x="289590" y="134474"/>
                  </a:lnTo>
                  <a:lnTo>
                    <a:pt x="289590" y="72455"/>
                  </a:lnTo>
                  <a:lnTo>
                    <a:pt x="206943" y="72455"/>
                  </a:lnTo>
                  <a:lnTo>
                    <a:pt x="206943" y="37039"/>
                  </a:lnTo>
                  <a:lnTo>
                    <a:pt x="170017" y="0"/>
                  </a:lnTo>
                  <a:close/>
                </a:path>
              </a:pathLst>
            </a:custGeom>
            <a:solidFill>
              <a:srgbClr val="231F20"/>
            </a:solidFill>
          </p:spPr>
          <p:txBody>
            <a:bodyPr wrap="square" lIns="0" tIns="0" rIns="0" bIns="0" rtlCol="0"/>
            <a:lstStyle/>
            <a:p>
              <a:endParaRPr/>
            </a:p>
          </p:txBody>
        </p:sp>
        <p:sp>
          <p:nvSpPr>
            <p:cNvPr id="6" name="object 6"/>
            <p:cNvSpPr/>
            <p:nvPr/>
          </p:nvSpPr>
          <p:spPr>
            <a:xfrm>
              <a:off x="3662751" y="2946553"/>
              <a:ext cx="269240" cy="259079"/>
            </a:xfrm>
            <a:custGeom>
              <a:avLst/>
              <a:gdLst/>
              <a:ahLst/>
              <a:cxnLst/>
              <a:rect l="l" t="t" r="r" b="b"/>
              <a:pathLst>
                <a:path w="269239" h="259080">
                  <a:moveTo>
                    <a:pt x="155554" y="0"/>
                  </a:moveTo>
                  <a:lnTo>
                    <a:pt x="31104" y="0"/>
                  </a:lnTo>
                  <a:lnTo>
                    <a:pt x="0" y="31039"/>
                  </a:lnTo>
                  <a:lnTo>
                    <a:pt x="0" y="155245"/>
                  </a:lnTo>
                  <a:lnTo>
                    <a:pt x="31104" y="186266"/>
                  </a:lnTo>
                  <a:lnTo>
                    <a:pt x="82783" y="186266"/>
                  </a:lnTo>
                  <a:lnTo>
                    <a:pt x="82783" y="227754"/>
                  </a:lnTo>
                  <a:lnTo>
                    <a:pt x="114132" y="258823"/>
                  </a:lnTo>
                  <a:lnTo>
                    <a:pt x="217413" y="258823"/>
                  </a:lnTo>
                  <a:lnTo>
                    <a:pt x="248838" y="227754"/>
                  </a:lnTo>
                  <a:lnTo>
                    <a:pt x="248838" y="114013"/>
                  </a:lnTo>
                  <a:lnTo>
                    <a:pt x="269168" y="114013"/>
                  </a:lnTo>
                  <a:lnTo>
                    <a:pt x="269168" y="72455"/>
                  </a:lnTo>
                  <a:lnTo>
                    <a:pt x="206822" y="72455"/>
                  </a:lnTo>
                  <a:lnTo>
                    <a:pt x="206822" y="217311"/>
                  </a:lnTo>
                  <a:lnTo>
                    <a:pt x="124327" y="217311"/>
                  </a:lnTo>
                  <a:lnTo>
                    <a:pt x="124327" y="186266"/>
                  </a:lnTo>
                  <a:lnTo>
                    <a:pt x="155554" y="186266"/>
                  </a:lnTo>
                  <a:lnTo>
                    <a:pt x="186522" y="155245"/>
                  </a:lnTo>
                  <a:lnTo>
                    <a:pt x="186522" y="114013"/>
                  </a:lnTo>
                  <a:lnTo>
                    <a:pt x="144978" y="114013"/>
                  </a:lnTo>
                  <a:lnTo>
                    <a:pt x="144978" y="144821"/>
                  </a:lnTo>
                  <a:lnTo>
                    <a:pt x="124327" y="144821"/>
                  </a:lnTo>
                  <a:lnTo>
                    <a:pt x="124327" y="72455"/>
                  </a:lnTo>
                  <a:lnTo>
                    <a:pt x="62163" y="72455"/>
                  </a:lnTo>
                  <a:lnTo>
                    <a:pt x="62163" y="114013"/>
                  </a:lnTo>
                  <a:lnTo>
                    <a:pt x="82783" y="114013"/>
                  </a:lnTo>
                  <a:lnTo>
                    <a:pt x="82783" y="144821"/>
                  </a:lnTo>
                  <a:lnTo>
                    <a:pt x="41483" y="144821"/>
                  </a:lnTo>
                  <a:lnTo>
                    <a:pt x="41483" y="41164"/>
                  </a:lnTo>
                  <a:lnTo>
                    <a:pt x="144978" y="41164"/>
                  </a:lnTo>
                  <a:lnTo>
                    <a:pt x="144978" y="72455"/>
                  </a:lnTo>
                  <a:lnTo>
                    <a:pt x="186522" y="72455"/>
                  </a:lnTo>
                  <a:lnTo>
                    <a:pt x="186522" y="31056"/>
                  </a:lnTo>
                  <a:lnTo>
                    <a:pt x="155554" y="0"/>
                  </a:lnTo>
                  <a:close/>
                </a:path>
              </a:pathLst>
            </a:custGeom>
            <a:solidFill>
              <a:srgbClr val="FFFFFF"/>
            </a:solidFill>
          </p:spPr>
          <p:txBody>
            <a:bodyPr wrap="square" lIns="0" tIns="0" rIns="0" bIns="0" rtlCol="0"/>
            <a:lstStyle/>
            <a:p>
              <a:endParaRPr/>
            </a:p>
          </p:txBody>
        </p:sp>
        <p:sp>
          <p:nvSpPr>
            <p:cNvPr id="7" name="object 7"/>
            <p:cNvSpPr/>
            <p:nvPr/>
          </p:nvSpPr>
          <p:spPr>
            <a:xfrm>
              <a:off x="3667871" y="2951666"/>
              <a:ext cx="259079" cy="248920"/>
            </a:xfrm>
            <a:custGeom>
              <a:avLst/>
              <a:gdLst/>
              <a:ahLst/>
              <a:cxnLst/>
              <a:rect l="l" t="t" r="r" b="b"/>
              <a:pathLst>
                <a:path w="259079" h="248919">
                  <a:moveTo>
                    <a:pt x="148315" y="0"/>
                  </a:moveTo>
                  <a:lnTo>
                    <a:pt x="28102" y="0"/>
                  </a:lnTo>
                  <a:lnTo>
                    <a:pt x="0" y="28050"/>
                  </a:lnTo>
                  <a:lnTo>
                    <a:pt x="0" y="148024"/>
                  </a:lnTo>
                  <a:lnTo>
                    <a:pt x="28087" y="176046"/>
                  </a:lnTo>
                  <a:lnTo>
                    <a:pt x="82783" y="176046"/>
                  </a:lnTo>
                  <a:lnTo>
                    <a:pt x="82783" y="220504"/>
                  </a:lnTo>
                  <a:lnTo>
                    <a:pt x="111130" y="248614"/>
                  </a:lnTo>
                  <a:lnTo>
                    <a:pt x="210174" y="248614"/>
                  </a:lnTo>
                  <a:lnTo>
                    <a:pt x="238612" y="220486"/>
                  </a:lnTo>
                  <a:lnTo>
                    <a:pt x="238612" y="103804"/>
                  </a:lnTo>
                  <a:lnTo>
                    <a:pt x="258927" y="103804"/>
                  </a:lnTo>
                  <a:lnTo>
                    <a:pt x="258927" y="72467"/>
                  </a:lnTo>
                  <a:lnTo>
                    <a:pt x="206822" y="72467"/>
                  </a:lnTo>
                  <a:lnTo>
                    <a:pt x="206822" y="217294"/>
                  </a:lnTo>
                  <a:lnTo>
                    <a:pt x="114086" y="217294"/>
                  </a:lnTo>
                  <a:lnTo>
                    <a:pt x="114086" y="176046"/>
                  </a:lnTo>
                  <a:lnTo>
                    <a:pt x="148315" y="176046"/>
                  </a:lnTo>
                  <a:lnTo>
                    <a:pt x="176296" y="148024"/>
                  </a:lnTo>
                  <a:lnTo>
                    <a:pt x="176296" y="114019"/>
                  </a:lnTo>
                  <a:lnTo>
                    <a:pt x="144978" y="114019"/>
                  </a:lnTo>
                  <a:lnTo>
                    <a:pt x="144978" y="144815"/>
                  </a:lnTo>
                  <a:lnTo>
                    <a:pt x="114086" y="144815"/>
                  </a:lnTo>
                  <a:lnTo>
                    <a:pt x="114086" y="72467"/>
                  </a:lnTo>
                  <a:lnTo>
                    <a:pt x="62148" y="72467"/>
                  </a:lnTo>
                  <a:lnTo>
                    <a:pt x="62148" y="103804"/>
                  </a:lnTo>
                  <a:lnTo>
                    <a:pt x="82783" y="103804"/>
                  </a:lnTo>
                  <a:lnTo>
                    <a:pt x="82783" y="144815"/>
                  </a:lnTo>
                  <a:lnTo>
                    <a:pt x="31241" y="144815"/>
                  </a:lnTo>
                  <a:lnTo>
                    <a:pt x="31241" y="30950"/>
                  </a:lnTo>
                  <a:lnTo>
                    <a:pt x="144978" y="30950"/>
                  </a:lnTo>
                  <a:lnTo>
                    <a:pt x="144978" y="62227"/>
                  </a:lnTo>
                  <a:lnTo>
                    <a:pt x="176296" y="62227"/>
                  </a:lnTo>
                  <a:lnTo>
                    <a:pt x="176296" y="28050"/>
                  </a:lnTo>
                  <a:lnTo>
                    <a:pt x="148315" y="0"/>
                  </a:lnTo>
                  <a:close/>
                </a:path>
              </a:pathLst>
            </a:custGeom>
            <a:solidFill>
              <a:srgbClr val="CFB87C"/>
            </a:solidFill>
          </p:spPr>
          <p:txBody>
            <a:bodyPr wrap="square" lIns="0" tIns="0" rIns="0" bIns="0" rtlCol="0"/>
            <a:lstStyle/>
            <a:p>
              <a:endParaRPr/>
            </a:p>
          </p:txBody>
        </p:sp>
      </p:grpSp>
      <p:sp>
        <p:nvSpPr>
          <p:cNvPr id="8" name="object 8"/>
          <p:cNvSpPr txBox="1">
            <a:spLocks noGrp="1"/>
          </p:cNvSpPr>
          <p:nvPr>
            <p:ph type="title"/>
          </p:nvPr>
        </p:nvSpPr>
        <p:spPr>
          <a:xfrm>
            <a:off x="879813" y="1044575"/>
            <a:ext cx="2827894" cy="518668"/>
          </a:xfrm>
          <a:prstGeom prst="rect">
            <a:avLst/>
          </a:prstGeom>
        </p:spPr>
        <p:txBody>
          <a:bodyPr vert="horz" wrap="square" lIns="0" tIns="6985" rIns="0" bIns="0" rtlCol="0">
            <a:spAutoFit/>
          </a:bodyPr>
          <a:lstStyle/>
          <a:p>
            <a:pPr marL="459105" marR="5080" indent="-447040" algn="ctr">
              <a:lnSpc>
                <a:spcPct val="102699"/>
              </a:lnSpc>
              <a:spcBef>
                <a:spcPts val="55"/>
              </a:spcBef>
            </a:pPr>
            <a:r>
              <a:rPr lang="en-US" sz="1100" spc="-10" dirty="0">
                <a:solidFill>
                  <a:srgbClr val="000000"/>
                </a:solidFill>
              </a:rPr>
              <a:t>Entrepreneurial Finance</a:t>
            </a:r>
            <a:br>
              <a:rPr lang="en-US" sz="1100" spc="-10" dirty="0">
                <a:solidFill>
                  <a:srgbClr val="000000"/>
                </a:solidFill>
              </a:rPr>
            </a:br>
            <a:r>
              <a:rPr lang="en-US" sz="1100" spc="-10" dirty="0">
                <a:solidFill>
                  <a:srgbClr val="000000"/>
                </a:solidFill>
              </a:rPr>
              <a:t>Screening Criteria</a:t>
            </a:r>
            <a:br>
              <a:rPr lang="en-US" sz="1100" spc="-10" dirty="0">
                <a:solidFill>
                  <a:srgbClr val="000000"/>
                </a:solidFill>
              </a:rPr>
            </a:br>
            <a:endParaRPr sz="1100" dirty="0"/>
          </a:p>
        </p:txBody>
      </p:sp>
      <p:sp>
        <p:nvSpPr>
          <p:cNvPr id="9" name="object 9"/>
          <p:cNvSpPr txBox="1"/>
          <p:nvPr/>
        </p:nvSpPr>
        <p:spPr>
          <a:xfrm>
            <a:off x="1188211" y="1791474"/>
            <a:ext cx="2235835" cy="537840"/>
          </a:xfrm>
          <a:prstGeom prst="rect">
            <a:avLst/>
          </a:prstGeom>
        </p:spPr>
        <p:txBody>
          <a:bodyPr vert="horz" wrap="square" lIns="0" tIns="6985" rIns="0" bIns="0" rtlCol="0">
            <a:spAutoFit/>
          </a:bodyPr>
          <a:lstStyle/>
          <a:p>
            <a:pPr marL="253365" marR="247015" algn="ctr">
              <a:lnSpc>
                <a:spcPct val="102699"/>
              </a:lnSpc>
              <a:spcBef>
                <a:spcPts val="55"/>
              </a:spcBef>
            </a:pPr>
            <a:r>
              <a:rPr lang="en-US" sz="1100" b="1" spc="-5" dirty="0">
                <a:latin typeface="Arial"/>
                <a:cs typeface="Arial"/>
              </a:rPr>
              <a:t>Professor Burnes</a:t>
            </a:r>
          </a:p>
          <a:p>
            <a:pPr marL="253365" marR="247015" algn="ctr">
              <a:lnSpc>
                <a:spcPct val="102699"/>
              </a:lnSpc>
              <a:spcBef>
                <a:spcPts val="55"/>
              </a:spcBef>
            </a:pPr>
            <a:r>
              <a:rPr sz="1100" b="1" spc="-5" dirty="0">
                <a:latin typeface="Arial"/>
                <a:cs typeface="Arial"/>
              </a:rPr>
              <a:t>Leeds</a:t>
            </a:r>
            <a:r>
              <a:rPr sz="1100" b="1" spc="-45" dirty="0">
                <a:latin typeface="Arial"/>
                <a:cs typeface="Arial"/>
              </a:rPr>
              <a:t> </a:t>
            </a:r>
            <a:r>
              <a:rPr sz="1100" b="1" spc="-5" dirty="0">
                <a:latin typeface="Arial"/>
                <a:cs typeface="Arial"/>
              </a:rPr>
              <a:t>School</a:t>
            </a:r>
            <a:r>
              <a:rPr sz="1100" b="1" spc="-40" dirty="0">
                <a:latin typeface="Arial"/>
                <a:cs typeface="Arial"/>
              </a:rPr>
              <a:t> </a:t>
            </a:r>
            <a:r>
              <a:rPr sz="1100" b="1" spc="-5" dirty="0">
                <a:latin typeface="Arial"/>
                <a:cs typeface="Arial"/>
              </a:rPr>
              <a:t>of</a:t>
            </a:r>
            <a:r>
              <a:rPr sz="1100" b="1" spc="-25" dirty="0">
                <a:latin typeface="Arial"/>
                <a:cs typeface="Arial"/>
              </a:rPr>
              <a:t> </a:t>
            </a:r>
            <a:r>
              <a:rPr sz="1100" b="1" spc="-5" dirty="0">
                <a:latin typeface="Arial"/>
                <a:cs typeface="Arial"/>
              </a:rPr>
              <a:t>Business</a:t>
            </a:r>
            <a:endParaRPr sz="1100" dirty="0">
              <a:latin typeface="Arial"/>
              <a:cs typeface="Arial"/>
            </a:endParaRPr>
          </a:p>
          <a:p>
            <a:pPr algn="ctr">
              <a:lnSpc>
                <a:spcPct val="100000"/>
              </a:lnSpc>
              <a:spcBef>
                <a:spcPts val="35"/>
              </a:spcBef>
            </a:pPr>
            <a:r>
              <a:rPr sz="1100" b="1" spc="-10" dirty="0">
                <a:latin typeface="Arial"/>
                <a:cs typeface="Arial"/>
              </a:rPr>
              <a:t>University</a:t>
            </a:r>
            <a:r>
              <a:rPr sz="1100" b="1" spc="-30" dirty="0">
                <a:latin typeface="Arial"/>
                <a:cs typeface="Arial"/>
              </a:rPr>
              <a:t> </a:t>
            </a:r>
            <a:r>
              <a:rPr sz="1100" b="1" spc="-5" dirty="0">
                <a:latin typeface="Arial"/>
                <a:cs typeface="Arial"/>
              </a:rPr>
              <a:t>of</a:t>
            </a:r>
            <a:r>
              <a:rPr sz="1100" b="1" spc="-15" dirty="0">
                <a:latin typeface="Arial"/>
                <a:cs typeface="Arial"/>
              </a:rPr>
              <a:t> </a:t>
            </a:r>
            <a:r>
              <a:rPr sz="1100" b="1" spc="-5" dirty="0">
                <a:latin typeface="Arial"/>
                <a:cs typeface="Arial"/>
              </a:rPr>
              <a:t>Colorado</a:t>
            </a:r>
            <a:r>
              <a:rPr sz="1100" b="1" spc="-30" dirty="0">
                <a:latin typeface="Arial"/>
                <a:cs typeface="Arial"/>
              </a:rPr>
              <a:t> </a:t>
            </a:r>
            <a:r>
              <a:rPr sz="1100" b="1" spc="-5" dirty="0">
                <a:latin typeface="Arial"/>
                <a:cs typeface="Arial"/>
              </a:rPr>
              <a:t>at Boulder</a:t>
            </a:r>
            <a:endParaRPr sz="1100" dirty="0">
              <a:latin typeface="Arial"/>
              <a:cs typeface="Arial"/>
            </a:endParaRPr>
          </a:p>
        </p:txBody>
      </p:sp>
      <p:sp>
        <p:nvSpPr>
          <p:cNvPr id="10" name="object 10"/>
          <p:cNvSpPr/>
          <p:nvPr/>
        </p:nvSpPr>
        <p:spPr>
          <a:xfrm>
            <a:off x="-152" y="3326663"/>
            <a:ext cx="1536700" cy="129539"/>
          </a:xfrm>
          <a:custGeom>
            <a:avLst/>
            <a:gdLst/>
            <a:ahLst/>
            <a:cxnLst/>
            <a:rect l="l" t="t" r="r" b="b"/>
            <a:pathLst>
              <a:path w="1536700" h="129539">
                <a:moveTo>
                  <a:pt x="0" y="129539"/>
                </a:moveTo>
                <a:lnTo>
                  <a:pt x="1536192" y="129539"/>
                </a:lnTo>
                <a:lnTo>
                  <a:pt x="1536192" y="0"/>
                </a:lnTo>
                <a:lnTo>
                  <a:pt x="0" y="0"/>
                </a:lnTo>
                <a:lnTo>
                  <a:pt x="0" y="129539"/>
                </a:lnTo>
                <a:close/>
              </a:path>
            </a:pathLst>
          </a:custGeom>
          <a:solidFill>
            <a:srgbClr val="A0A2A1"/>
          </a:solidFill>
        </p:spPr>
        <p:txBody>
          <a:bodyPr wrap="square" lIns="0" tIns="0" rIns="0" bIns="0" rtlCol="0"/>
          <a:lstStyle/>
          <a:p>
            <a:endParaRPr/>
          </a:p>
        </p:txBody>
      </p:sp>
      <p:sp>
        <p:nvSpPr>
          <p:cNvPr id="11" name="object 11"/>
          <p:cNvSpPr/>
          <p:nvPr/>
        </p:nvSpPr>
        <p:spPr>
          <a:xfrm>
            <a:off x="3072231" y="3326663"/>
            <a:ext cx="1536700" cy="129539"/>
          </a:xfrm>
          <a:custGeom>
            <a:avLst/>
            <a:gdLst/>
            <a:ahLst/>
            <a:cxnLst/>
            <a:rect l="l" t="t" r="r" b="b"/>
            <a:pathLst>
              <a:path w="1536700" h="129539">
                <a:moveTo>
                  <a:pt x="0" y="129539"/>
                </a:moveTo>
                <a:lnTo>
                  <a:pt x="1536191" y="129539"/>
                </a:lnTo>
                <a:lnTo>
                  <a:pt x="1536191" y="0"/>
                </a:lnTo>
                <a:lnTo>
                  <a:pt x="0" y="0"/>
                </a:lnTo>
                <a:lnTo>
                  <a:pt x="0" y="129539"/>
                </a:lnTo>
                <a:close/>
              </a:path>
            </a:pathLst>
          </a:custGeom>
          <a:solidFill>
            <a:srgbClr val="CEB67B"/>
          </a:solidFill>
        </p:spPr>
        <p:txBody>
          <a:bodyPr wrap="square" lIns="0" tIns="0" rIns="0" bIns="0" rtlCol="0"/>
          <a:lstStyle/>
          <a:p>
            <a:endParaRPr/>
          </a:p>
        </p:txBody>
      </p:sp>
      <p:sp>
        <p:nvSpPr>
          <p:cNvPr id="12" name="object 12"/>
          <p:cNvSpPr txBox="1"/>
          <p:nvPr/>
        </p:nvSpPr>
        <p:spPr>
          <a:xfrm>
            <a:off x="3966640" y="3126132"/>
            <a:ext cx="516255" cy="93980"/>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231F20"/>
                </a:solidFill>
                <a:latin typeface="Arial"/>
                <a:cs typeface="Arial"/>
              </a:rPr>
              <a:t>B</a:t>
            </a:r>
            <a:r>
              <a:rPr sz="500" spc="30" dirty="0">
                <a:solidFill>
                  <a:srgbClr val="231F20"/>
                </a:solidFill>
                <a:latin typeface="Arial"/>
                <a:cs typeface="Arial"/>
              </a:rPr>
              <a:t> </a:t>
            </a:r>
            <a:r>
              <a:rPr sz="500" spc="10" dirty="0">
                <a:solidFill>
                  <a:srgbClr val="231F20"/>
                </a:solidFill>
                <a:latin typeface="Arial"/>
                <a:cs typeface="Arial"/>
              </a:rPr>
              <a:t>U</a:t>
            </a:r>
            <a:r>
              <a:rPr sz="500" spc="30" dirty="0">
                <a:solidFill>
                  <a:srgbClr val="231F20"/>
                </a:solidFill>
                <a:latin typeface="Arial"/>
                <a:cs typeface="Arial"/>
              </a:rPr>
              <a:t> </a:t>
            </a:r>
            <a:r>
              <a:rPr sz="500" spc="5" dirty="0">
                <a:solidFill>
                  <a:srgbClr val="231F20"/>
                </a:solidFill>
                <a:latin typeface="Arial"/>
                <a:cs typeface="Arial"/>
              </a:rPr>
              <a:t>S</a:t>
            </a:r>
            <a:r>
              <a:rPr sz="500" spc="30" dirty="0">
                <a:solidFill>
                  <a:srgbClr val="231F20"/>
                </a:solidFill>
                <a:latin typeface="Arial"/>
                <a:cs typeface="Arial"/>
              </a:rPr>
              <a:t> </a:t>
            </a:r>
            <a:r>
              <a:rPr sz="500" spc="-20" dirty="0">
                <a:solidFill>
                  <a:srgbClr val="231F20"/>
                </a:solidFill>
                <a:latin typeface="Arial"/>
                <a:cs typeface="Arial"/>
              </a:rPr>
              <a:t>I</a:t>
            </a:r>
            <a:r>
              <a:rPr sz="500" spc="30" dirty="0">
                <a:solidFill>
                  <a:srgbClr val="231F20"/>
                </a:solidFill>
                <a:latin typeface="Arial"/>
                <a:cs typeface="Arial"/>
              </a:rPr>
              <a:t> </a:t>
            </a:r>
            <a:r>
              <a:rPr sz="500" spc="20" dirty="0">
                <a:solidFill>
                  <a:srgbClr val="231F20"/>
                </a:solidFill>
                <a:latin typeface="Arial"/>
                <a:cs typeface="Arial"/>
              </a:rPr>
              <a:t>N</a:t>
            </a:r>
            <a:r>
              <a:rPr sz="500" spc="30" dirty="0">
                <a:solidFill>
                  <a:srgbClr val="231F20"/>
                </a:solidFill>
                <a:latin typeface="Arial"/>
                <a:cs typeface="Arial"/>
              </a:rPr>
              <a:t> </a:t>
            </a:r>
            <a:r>
              <a:rPr sz="500" spc="-15" dirty="0">
                <a:solidFill>
                  <a:srgbClr val="231F20"/>
                </a:solidFill>
                <a:latin typeface="Arial"/>
                <a:cs typeface="Arial"/>
              </a:rPr>
              <a:t>E</a:t>
            </a:r>
            <a:r>
              <a:rPr sz="500" spc="30" dirty="0">
                <a:solidFill>
                  <a:srgbClr val="231F20"/>
                </a:solidFill>
                <a:latin typeface="Arial"/>
                <a:cs typeface="Arial"/>
              </a:rPr>
              <a:t> </a:t>
            </a:r>
            <a:r>
              <a:rPr sz="500" spc="5" dirty="0">
                <a:solidFill>
                  <a:srgbClr val="231F20"/>
                </a:solidFill>
                <a:latin typeface="Arial"/>
                <a:cs typeface="Arial"/>
              </a:rPr>
              <a:t>S</a:t>
            </a:r>
            <a:r>
              <a:rPr sz="500" spc="35" dirty="0">
                <a:solidFill>
                  <a:srgbClr val="231F20"/>
                </a:solidFill>
                <a:latin typeface="Arial"/>
                <a:cs typeface="Arial"/>
              </a:rPr>
              <a:t> </a:t>
            </a:r>
            <a:r>
              <a:rPr sz="500" spc="5" dirty="0">
                <a:solidFill>
                  <a:srgbClr val="231F20"/>
                </a:solidFill>
                <a:latin typeface="Arial"/>
                <a:cs typeface="Arial"/>
              </a:rPr>
              <a:t>S</a:t>
            </a:r>
            <a:endParaRPr sz="500">
              <a:latin typeface="Arial"/>
              <a:cs typeface="Arial"/>
            </a:endParaRPr>
          </a:p>
        </p:txBody>
      </p:sp>
      <p:sp>
        <p:nvSpPr>
          <p:cNvPr id="13" name="object 13"/>
          <p:cNvSpPr txBox="1">
            <a:spLocks noGrp="1"/>
          </p:cNvSpPr>
          <p:nvPr>
            <p:ph type="ftr" sz="quarter" idx="5"/>
          </p:nvPr>
        </p:nvSpPr>
        <p:spPr>
          <a:xfrm>
            <a:off x="336295" y="3344562"/>
            <a:ext cx="864869" cy="89768"/>
          </a:xfrm>
          <a:prstGeom prst="rect">
            <a:avLst/>
          </a:prstGeom>
        </p:spPr>
        <p:txBody>
          <a:bodyPr vert="horz" wrap="square" lIns="0" tIns="0" rIns="0" bIns="0" rtlCol="0">
            <a:spAutoFit/>
          </a:bodyPr>
          <a:lstStyle/>
          <a:p>
            <a:pPr marL="12700">
              <a:lnSpc>
                <a:spcPts val="685"/>
              </a:lnSpc>
            </a:pPr>
            <a:r>
              <a:rPr lang="en-US" spc="-10" dirty="0"/>
              <a:t>ESBM4570</a:t>
            </a:r>
            <a:endParaRPr spc="-5" dirty="0"/>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12700">
              <a:lnSpc>
                <a:spcPts val="685"/>
              </a:lnSpc>
            </a:pPr>
            <a:r>
              <a:rPr spc="-35" dirty="0"/>
              <a:t>P</a:t>
            </a:r>
            <a:r>
              <a:rPr spc="-5" dirty="0"/>
              <a:t>age</a:t>
            </a:r>
            <a:r>
              <a:rPr spc="-10" dirty="0"/>
              <a:t> </a:t>
            </a:r>
            <a:fld id="{81D60167-4931-47E6-BA6A-407CBD079E47}" type="slidenum">
              <a:rPr spc="-5" dirty="0"/>
              <a:t>1</a:t>
            </a:fld>
            <a:endParaRPr spc="-5" dirty="0"/>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2D711-3BC1-4DC5-89D2-4015FFFDE032}"/>
              </a:ext>
            </a:extLst>
          </p:cNvPr>
          <p:cNvSpPr>
            <a:spLocks noGrp="1"/>
          </p:cNvSpPr>
          <p:nvPr>
            <p:ph type="title"/>
          </p:nvPr>
        </p:nvSpPr>
        <p:spPr>
          <a:xfrm>
            <a:off x="726439" y="190295"/>
            <a:ext cx="3153410" cy="215444"/>
          </a:xfrm>
        </p:spPr>
        <p:txBody>
          <a:bodyPr/>
          <a:lstStyle/>
          <a:p>
            <a:r>
              <a:rPr lang="en-US" dirty="0"/>
              <a:t>Agenda</a:t>
            </a:r>
          </a:p>
        </p:txBody>
      </p:sp>
      <p:sp>
        <p:nvSpPr>
          <p:cNvPr id="3" name="Text Placeholder 2">
            <a:extLst>
              <a:ext uri="{FF2B5EF4-FFF2-40B4-BE49-F238E27FC236}">
                <a16:creationId xmlns:a16="http://schemas.microsoft.com/office/drawing/2014/main" id="{C1EE9651-2D51-4611-3E5A-F04121EB3EB0}"/>
              </a:ext>
            </a:extLst>
          </p:cNvPr>
          <p:cNvSpPr>
            <a:spLocks noGrp="1"/>
          </p:cNvSpPr>
          <p:nvPr>
            <p:ph type="body" idx="1"/>
          </p:nvPr>
        </p:nvSpPr>
        <p:spPr>
          <a:xfrm>
            <a:off x="126238" y="572274"/>
            <a:ext cx="4357623" cy="1015663"/>
          </a:xfrm>
        </p:spPr>
        <p:txBody>
          <a:bodyPr/>
          <a:lstStyle/>
          <a:p>
            <a:r>
              <a:rPr lang="en-US" dirty="0"/>
              <a:t>Screening Criteria for Ventures</a:t>
            </a:r>
          </a:p>
          <a:p>
            <a:r>
              <a:rPr lang="en-US" dirty="0"/>
              <a:t>	</a:t>
            </a:r>
            <a:r>
              <a:rPr lang="en-US" dirty="0" err="1"/>
              <a:t>Comparables</a:t>
            </a:r>
            <a:endParaRPr lang="en-US" dirty="0"/>
          </a:p>
          <a:p>
            <a:r>
              <a:rPr lang="en-US" dirty="0"/>
              <a:t>	Multiples</a:t>
            </a:r>
          </a:p>
          <a:p>
            <a:r>
              <a:rPr lang="en-US" dirty="0"/>
              <a:t>	Scorecard</a:t>
            </a:r>
          </a:p>
          <a:p>
            <a:endParaRPr lang="en-US" dirty="0"/>
          </a:p>
          <a:p>
            <a:endParaRPr lang="en-US" dirty="0"/>
          </a:p>
        </p:txBody>
      </p:sp>
      <p:sp>
        <p:nvSpPr>
          <p:cNvPr id="5" name="Slide Number Placeholder 4">
            <a:extLst>
              <a:ext uri="{FF2B5EF4-FFF2-40B4-BE49-F238E27FC236}">
                <a16:creationId xmlns:a16="http://schemas.microsoft.com/office/drawing/2014/main" id="{1D6F925F-C526-F058-D513-6A1B71196D47}"/>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2</a:t>
            </a:fld>
            <a:endParaRPr spc="-5" dirty="0"/>
          </a:p>
        </p:txBody>
      </p:sp>
    </p:spTree>
    <p:extLst>
      <p:ext uri="{BB962C8B-B14F-4D97-AF65-F5344CB8AC3E}">
        <p14:creationId xmlns:p14="http://schemas.microsoft.com/office/powerpoint/2010/main" val="3795915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7EFD-1887-D85B-AFC5-A58E622AE891}"/>
              </a:ext>
            </a:extLst>
          </p:cNvPr>
          <p:cNvSpPr>
            <a:spLocks noGrp="1"/>
          </p:cNvSpPr>
          <p:nvPr>
            <p:ph type="title"/>
          </p:nvPr>
        </p:nvSpPr>
        <p:spPr>
          <a:xfrm>
            <a:off x="726439" y="190295"/>
            <a:ext cx="3153410" cy="215444"/>
          </a:xfrm>
        </p:spPr>
        <p:txBody>
          <a:bodyPr/>
          <a:lstStyle/>
          <a:p>
            <a:r>
              <a:rPr lang="en-US" dirty="0"/>
              <a:t>Take Aways</a:t>
            </a:r>
          </a:p>
        </p:txBody>
      </p:sp>
      <p:sp>
        <p:nvSpPr>
          <p:cNvPr id="3" name="Text Placeholder 2">
            <a:extLst>
              <a:ext uri="{FF2B5EF4-FFF2-40B4-BE49-F238E27FC236}">
                <a16:creationId xmlns:a16="http://schemas.microsoft.com/office/drawing/2014/main" id="{9595A403-E402-DB35-C130-112BB33A5963}"/>
              </a:ext>
            </a:extLst>
          </p:cNvPr>
          <p:cNvSpPr>
            <a:spLocks noGrp="1"/>
          </p:cNvSpPr>
          <p:nvPr>
            <p:ph type="body" idx="1"/>
          </p:nvPr>
        </p:nvSpPr>
        <p:spPr>
          <a:xfrm>
            <a:off x="126238" y="572274"/>
            <a:ext cx="4357623" cy="1523494"/>
          </a:xfrm>
        </p:spPr>
        <p:txBody>
          <a:bodyPr/>
          <a:lstStyle/>
          <a:p>
            <a:r>
              <a:rPr lang="en-US" dirty="0"/>
              <a:t>Noting some of the questions/take aways from last week</a:t>
            </a:r>
          </a:p>
          <a:p>
            <a:endParaRPr lang="en-US" dirty="0"/>
          </a:p>
          <a:p>
            <a:r>
              <a:rPr lang="en-US" dirty="0"/>
              <a:t>“Buckets” of Value Drivers</a:t>
            </a:r>
          </a:p>
          <a:p>
            <a:endParaRPr lang="en-US" dirty="0"/>
          </a:p>
          <a:p>
            <a:r>
              <a:rPr lang="en-US" dirty="0"/>
              <a:t>Where to Find Value in Financial Statements/Pro </a:t>
            </a:r>
            <a:r>
              <a:rPr lang="en-US" dirty="0" err="1"/>
              <a:t>Formas</a:t>
            </a:r>
            <a:endParaRPr lang="en-US" dirty="0"/>
          </a:p>
          <a:p>
            <a:endParaRPr lang="en-US" dirty="0"/>
          </a:p>
          <a:p>
            <a:r>
              <a:rPr lang="en-US" dirty="0"/>
              <a:t>Lenses to Apply to Credibility</a:t>
            </a:r>
          </a:p>
          <a:p>
            <a:endParaRPr lang="en-US" dirty="0"/>
          </a:p>
          <a:p>
            <a:r>
              <a:rPr lang="en-US" dirty="0"/>
              <a:t>Tools to Turn value driver buckets into $$</a:t>
            </a:r>
          </a:p>
        </p:txBody>
      </p:sp>
      <p:sp>
        <p:nvSpPr>
          <p:cNvPr id="5" name="Slide Number Placeholder 4">
            <a:extLst>
              <a:ext uri="{FF2B5EF4-FFF2-40B4-BE49-F238E27FC236}">
                <a16:creationId xmlns:a16="http://schemas.microsoft.com/office/drawing/2014/main" id="{B1096FC0-F05A-2AB9-9C60-FB7E719A728D}"/>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3</a:t>
            </a:fld>
            <a:endParaRPr spc="-5" dirty="0"/>
          </a:p>
        </p:txBody>
      </p:sp>
    </p:spTree>
    <p:extLst>
      <p:ext uri="{BB962C8B-B14F-4D97-AF65-F5344CB8AC3E}">
        <p14:creationId xmlns:p14="http://schemas.microsoft.com/office/powerpoint/2010/main" val="2277335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1F914-E552-88EB-1C03-B65C6637481F}"/>
              </a:ext>
            </a:extLst>
          </p:cNvPr>
          <p:cNvSpPr>
            <a:spLocks noGrp="1"/>
          </p:cNvSpPr>
          <p:nvPr>
            <p:ph type="title"/>
          </p:nvPr>
        </p:nvSpPr>
        <p:spPr>
          <a:xfrm>
            <a:off x="726439" y="190295"/>
            <a:ext cx="3153410" cy="215444"/>
          </a:xfrm>
        </p:spPr>
        <p:txBody>
          <a:bodyPr/>
          <a:lstStyle/>
          <a:p>
            <a:r>
              <a:rPr lang="en-US" dirty="0"/>
              <a:t>A few questions </a:t>
            </a:r>
            <a:r>
              <a:rPr lang="en-US"/>
              <a:t>you brought up….</a:t>
            </a:r>
          </a:p>
        </p:txBody>
      </p:sp>
      <p:sp>
        <p:nvSpPr>
          <p:cNvPr id="3" name="Text Placeholder 2">
            <a:extLst>
              <a:ext uri="{FF2B5EF4-FFF2-40B4-BE49-F238E27FC236}">
                <a16:creationId xmlns:a16="http://schemas.microsoft.com/office/drawing/2014/main" id="{7690E21A-597E-AA43-1F47-EF070C213428}"/>
              </a:ext>
            </a:extLst>
          </p:cNvPr>
          <p:cNvSpPr>
            <a:spLocks noGrp="1"/>
          </p:cNvSpPr>
          <p:nvPr>
            <p:ph type="body" idx="1"/>
          </p:nvPr>
        </p:nvSpPr>
        <p:spPr>
          <a:xfrm>
            <a:off x="126238" y="572274"/>
            <a:ext cx="4357623" cy="2877711"/>
          </a:xfrm>
        </p:spPr>
        <p:txBody>
          <a:bodyPr/>
          <a:lstStyle/>
          <a:p>
            <a:r>
              <a:rPr lang="en-US" b="0" i="0" dirty="0">
                <a:solidFill>
                  <a:srgbClr val="444444"/>
                </a:solidFill>
                <a:effectLst/>
                <a:latin typeface="Helvetica Neue" panose="02000503000000020004" pitchFamily="2" charset="0"/>
              </a:rPr>
              <a:t>I want to know more about when or if they ever need to replace the CEO of the company they have invested in. I still think that is one of the craziest things they have the power to do and </a:t>
            </a:r>
            <a:r>
              <a:rPr lang="en-US" b="0" i="0" dirty="0" err="1">
                <a:solidFill>
                  <a:srgbClr val="444444"/>
                </a:solidFill>
                <a:effectLst/>
                <a:latin typeface="Helvetica Neue" panose="02000503000000020004" pitchFamily="2" charset="0"/>
              </a:rPr>
              <a:t>im</a:t>
            </a:r>
            <a:r>
              <a:rPr lang="en-US" b="0" i="0" dirty="0">
                <a:solidFill>
                  <a:srgbClr val="444444"/>
                </a:solidFill>
                <a:effectLst/>
                <a:latin typeface="Helvetica Neue" panose="02000503000000020004" pitchFamily="2" charset="0"/>
              </a:rPr>
              <a:t> curious of how VCs go about accepting that risk.</a:t>
            </a:r>
            <a:endParaRPr lang="en-US" dirty="0"/>
          </a:p>
          <a:p>
            <a:endParaRPr lang="en-US" dirty="0"/>
          </a:p>
          <a:p>
            <a:r>
              <a:rPr lang="en-US" b="0" i="0" dirty="0">
                <a:solidFill>
                  <a:srgbClr val="444444"/>
                </a:solidFill>
                <a:effectLst/>
                <a:latin typeface="Helvetica Neue" panose="02000503000000020004" pitchFamily="2" charset="0"/>
              </a:rPr>
              <a:t>How do venture capital firms discover these companies, do they come to the company or does the company come to them? Additionally, I would be curious to know how much control a venture capital fund gains over a company after making an investment.</a:t>
            </a:r>
          </a:p>
          <a:p>
            <a:endParaRPr lang="en-US" dirty="0">
              <a:solidFill>
                <a:srgbClr val="444444"/>
              </a:solidFill>
              <a:latin typeface="Helvetica Neue" panose="02000503000000020004" pitchFamily="2" charset="0"/>
            </a:endParaRPr>
          </a:p>
          <a:p>
            <a:r>
              <a:rPr lang="en-US" b="0" i="0" dirty="0">
                <a:solidFill>
                  <a:srgbClr val="444444"/>
                </a:solidFill>
                <a:effectLst/>
                <a:latin typeface="Helvetica Neue" panose="02000503000000020004" pitchFamily="2" charset="0"/>
              </a:rPr>
              <a:t>I would like to know more about how VCs approach or look at prospects that venture into completely new markets. Not a competitor in sight, something invented, not innovated. What do they do when they run into something like that? No market research to evaluate, which is what the majority of research comes from.</a:t>
            </a:r>
          </a:p>
          <a:p>
            <a:endParaRPr lang="en-US" b="0" i="0" dirty="0">
              <a:solidFill>
                <a:srgbClr val="444444"/>
              </a:solidFill>
              <a:effectLst/>
              <a:latin typeface="Helvetica Neue" panose="02000503000000020004" pitchFamily="2" charset="0"/>
            </a:endParaRPr>
          </a:p>
          <a:p>
            <a:endParaRPr lang="en-US" dirty="0"/>
          </a:p>
        </p:txBody>
      </p:sp>
      <p:sp>
        <p:nvSpPr>
          <p:cNvPr id="4" name="Footer Placeholder 3">
            <a:extLst>
              <a:ext uri="{FF2B5EF4-FFF2-40B4-BE49-F238E27FC236}">
                <a16:creationId xmlns:a16="http://schemas.microsoft.com/office/drawing/2014/main" id="{FEE451A3-2249-37BA-094F-0BD1A5A4FFED}"/>
              </a:ext>
            </a:extLst>
          </p:cNvPr>
          <p:cNvSpPr>
            <a:spLocks noGrp="1"/>
          </p:cNvSpPr>
          <p:nvPr>
            <p:ph type="ftr" sz="quarter" idx="5"/>
          </p:nvPr>
        </p:nvSpPr>
        <p:spPr/>
        <p:txBody>
          <a:bodyPr/>
          <a:lstStyle/>
          <a:p>
            <a:pPr marL="12700">
              <a:lnSpc>
                <a:spcPts val="685"/>
              </a:lnSpc>
            </a:pPr>
            <a:r>
              <a:rPr lang="en-US" spc="-10" dirty="0"/>
              <a:t>ESBM4570</a:t>
            </a:r>
            <a:endParaRPr lang="en-US" spc="-5" dirty="0"/>
          </a:p>
        </p:txBody>
      </p:sp>
      <p:sp>
        <p:nvSpPr>
          <p:cNvPr id="5" name="Slide Number Placeholder 4">
            <a:extLst>
              <a:ext uri="{FF2B5EF4-FFF2-40B4-BE49-F238E27FC236}">
                <a16:creationId xmlns:a16="http://schemas.microsoft.com/office/drawing/2014/main" id="{7D1FD817-9D54-611D-4190-D12A08BEAC59}"/>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4</a:t>
            </a:fld>
            <a:endParaRPr spc="-5" dirty="0"/>
          </a:p>
        </p:txBody>
      </p:sp>
    </p:spTree>
    <p:extLst>
      <p:ext uri="{BB962C8B-B14F-4D97-AF65-F5344CB8AC3E}">
        <p14:creationId xmlns:p14="http://schemas.microsoft.com/office/powerpoint/2010/main" val="3246032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9FAEB-0BA9-6E20-40F7-0151E4841979}"/>
              </a:ext>
            </a:extLst>
          </p:cNvPr>
          <p:cNvSpPr>
            <a:spLocks noGrp="1"/>
          </p:cNvSpPr>
          <p:nvPr>
            <p:ph type="title"/>
          </p:nvPr>
        </p:nvSpPr>
        <p:spPr>
          <a:xfrm>
            <a:off x="726439" y="190295"/>
            <a:ext cx="3153410" cy="215444"/>
          </a:xfrm>
        </p:spPr>
        <p:txBody>
          <a:bodyPr/>
          <a:lstStyle/>
          <a:p>
            <a:r>
              <a:rPr lang="en-US" dirty="0"/>
              <a:t>The Setting</a:t>
            </a:r>
          </a:p>
        </p:txBody>
      </p:sp>
      <p:sp>
        <p:nvSpPr>
          <p:cNvPr id="5" name="Slide Number Placeholder 4">
            <a:extLst>
              <a:ext uri="{FF2B5EF4-FFF2-40B4-BE49-F238E27FC236}">
                <a16:creationId xmlns:a16="http://schemas.microsoft.com/office/drawing/2014/main" id="{56896262-6FBF-9D2B-1D69-0F327B16693D}"/>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5</a:t>
            </a:fld>
            <a:endParaRPr spc="-5" dirty="0"/>
          </a:p>
        </p:txBody>
      </p:sp>
      <p:graphicFrame>
        <p:nvGraphicFramePr>
          <p:cNvPr id="6" name="Diagram 5">
            <a:extLst>
              <a:ext uri="{FF2B5EF4-FFF2-40B4-BE49-F238E27FC236}">
                <a16:creationId xmlns:a16="http://schemas.microsoft.com/office/drawing/2014/main" id="{4D52FFC8-F58D-AACD-6121-B41996F43667}"/>
              </a:ext>
            </a:extLst>
          </p:cNvPr>
          <p:cNvGraphicFramePr/>
          <p:nvPr>
            <p:extLst>
              <p:ext uri="{D42A27DB-BD31-4B8C-83A1-F6EECF244321}">
                <p14:modId xmlns:p14="http://schemas.microsoft.com/office/powerpoint/2010/main" val="1324064399"/>
              </p:ext>
            </p:extLst>
          </p:nvPr>
        </p:nvGraphicFramePr>
        <p:xfrm>
          <a:off x="247650" y="465053"/>
          <a:ext cx="3073400" cy="14100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6">
            <a:extLst>
              <a:ext uri="{FF2B5EF4-FFF2-40B4-BE49-F238E27FC236}">
                <a16:creationId xmlns:a16="http://schemas.microsoft.com/office/drawing/2014/main" id="{7F9D7329-335F-7676-6CC8-DD6AFE8D3FC3}"/>
              </a:ext>
            </a:extLst>
          </p:cNvPr>
          <p:cNvSpPr/>
          <p:nvPr/>
        </p:nvSpPr>
        <p:spPr>
          <a:xfrm>
            <a:off x="270593" y="1718718"/>
            <a:ext cx="838200" cy="1004587"/>
          </a:xfrm>
          <a:prstGeom prst="rect">
            <a:avLst/>
          </a:prstGeom>
          <a:solidFill>
            <a:srgbClr val="A0A2A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Sector</a:t>
            </a:r>
          </a:p>
          <a:p>
            <a:pPr algn="ctr"/>
            <a:r>
              <a:rPr lang="en-US" sz="1050" dirty="0"/>
              <a:t>Time</a:t>
            </a:r>
          </a:p>
          <a:p>
            <a:pPr algn="ctr"/>
            <a:r>
              <a:rPr lang="en-US" sz="1050" dirty="0"/>
              <a:t>Revenue</a:t>
            </a:r>
          </a:p>
          <a:p>
            <a:pPr algn="ctr"/>
            <a:r>
              <a:rPr lang="en-US" sz="1050" dirty="0"/>
              <a:t>Profitability</a:t>
            </a:r>
          </a:p>
        </p:txBody>
      </p:sp>
      <p:sp>
        <p:nvSpPr>
          <p:cNvPr id="8" name="Rectangle 7">
            <a:extLst>
              <a:ext uri="{FF2B5EF4-FFF2-40B4-BE49-F238E27FC236}">
                <a16:creationId xmlns:a16="http://schemas.microsoft.com/office/drawing/2014/main" id="{50895FD8-8B57-259A-86DE-4A4F1CF210B7}"/>
              </a:ext>
            </a:extLst>
          </p:cNvPr>
          <p:cNvSpPr/>
          <p:nvPr/>
        </p:nvSpPr>
        <p:spPr>
          <a:xfrm>
            <a:off x="1365250" y="1718717"/>
            <a:ext cx="838200" cy="1004587"/>
          </a:xfrm>
          <a:prstGeom prst="rect">
            <a:avLst/>
          </a:prstGeom>
          <a:solidFill>
            <a:srgbClr val="A0A2A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Why</a:t>
            </a:r>
          </a:p>
          <a:p>
            <a:pPr algn="ctr"/>
            <a:r>
              <a:rPr lang="en-US" sz="1050" dirty="0"/>
              <a:t>When</a:t>
            </a:r>
          </a:p>
          <a:p>
            <a:pPr algn="ctr"/>
            <a:r>
              <a:rPr lang="en-US" sz="1050" dirty="0"/>
              <a:t>How Much</a:t>
            </a:r>
          </a:p>
          <a:p>
            <a:pPr algn="ctr"/>
            <a:r>
              <a:rPr lang="en-US" sz="1050" dirty="0"/>
              <a:t>How Long</a:t>
            </a:r>
          </a:p>
        </p:txBody>
      </p:sp>
      <p:sp>
        <p:nvSpPr>
          <p:cNvPr id="9" name="Rectangle 8">
            <a:extLst>
              <a:ext uri="{FF2B5EF4-FFF2-40B4-BE49-F238E27FC236}">
                <a16:creationId xmlns:a16="http://schemas.microsoft.com/office/drawing/2014/main" id="{1FAA827C-6E7F-21EE-22ED-20556C16D954}"/>
              </a:ext>
            </a:extLst>
          </p:cNvPr>
          <p:cNvSpPr/>
          <p:nvPr/>
        </p:nvSpPr>
        <p:spPr>
          <a:xfrm>
            <a:off x="2393720" y="1718716"/>
            <a:ext cx="838200" cy="1004587"/>
          </a:xfrm>
          <a:prstGeom prst="rect">
            <a:avLst/>
          </a:prstGeom>
          <a:solidFill>
            <a:srgbClr val="A0A2A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Which One</a:t>
            </a:r>
          </a:p>
          <a:p>
            <a:pPr algn="ctr"/>
            <a:r>
              <a:rPr lang="en-US" sz="1050" dirty="0"/>
              <a:t>Ownership</a:t>
            </a:r>
          </a:p>
          <a:p>
            <a:pPr algn="ctr"/>
            <a:r>
              <a:rPr lang="en-US" sz="1050" dirty="0"/>
              <a:t>Reputation</a:t>
            </a:r>
          </a:p>
        </p:txBody>
      </p:sp>
    </p:spTree>
    <p:extLst>
      <p:ext uri="{BB962C8B-B14F-4D97-AF65-F5344CB8AC3E}">
        <p14:creationId xmlns:p14="http://schemas.microsoft.com/office/powerpoint/2010/main" val="2748764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983F4-6A2A-8139-EDE6-567D07097C89}"/>
              </a:ext>
            </a:extLst>
          </p:cNvPr>
          <p:cNvSpPr>
            <a:spLocks noGrp="1"/>
          </p:cNvSpPr>
          <p:nvPr>
            <p:ph type="title"/>
          </p:nvPr>
        </p:nvSpPr>
        <p:spPr>
          <a:xfrm>
            <a:off x="726439" y="190295"/>
            <a:ext cx="3153410" cy="384721"/>
          </a:xfrm>
        </p:spPr>
        <p:txBody>
          <a:bodyPr/>
          <a:lstStyle/>
          <a:p>
            <a:r>
              <a:rPr lang="en-US" dirty="0"/>
              <a:t>Necessary Terms </a:t>
            </a:r>
            <a:br>
              <a:rPr lang="en-US" dirty="0"/>
            </a:br>
            <a:r>
              <a:rPr lang="en-US" sz="1100" i="1" dirty="0"/>
              <a:t>these are from the Income Statement</a:t>
            </a:r>
            <a:endParaRPr lang="en-US" dirty="0"/>
          </a:p>
        </p:txBody>
      </p:sp>
      <p:sp>
        <p:nvSpPr>
          <p:cNvPr id="5" name="Slide Number Placeholder 4">
            <a:extLst>
              <a:ext uri="{FF2B5EF4-FFF2-40B4-BE49-F238E27FC236}">
                <a16:creationId xmlns:a16="http://schemas.microsoft.com/office/drawing/2014/main" id="{0D35CA4C-302A-A28D-F29A-2D09B5DFD269}"/>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6</a:t>
            </a:fld>
            <a:endParaRPr spc="-5" dirty="0"/>
          </a:p>
        </p:txBody>
      </p:sp>
      <p:graphicFrame>
        <p:nvGraphicFramePr>
          <p:cNvPr id="6" name="Table 5">
            <a:extLst>
              <a:ext uri="{FF2B5EF4-FFF2-40B4-BE49-F238E27FC236}">
                <a16:creationId xmlns:a16="http://schemas.microsoft.com/office/drawing/2014/main" id="{9F37D710-8A66-55C4-7198-89AA1CD172F5}"/>
              </a:ext>
            </a:extLst>
          </p:cNvPr>
          <p:cNvGraphicFramePr>
            <a:graphicFrameLocks noGrp="1"/>
          </p:cNvGraphicFramePr>
          <p:nvPr>
            <p:extLst>
              <p:ext uri="{D42A27DB-BD31-4B8C-83A1-F6EECF244321}">
                <p14:modId xmlns:p14="http://schemas.microsoft.com/office/powerpoint/2010/main" val="2723652011"/>
              </p:ext>
            </p:extLst>
          </p:nvPr>
        </p:nvGraphicFramePr>
        <p:xfrm>
          <a:off x="309368" y="719455"/>
          <a:ext cx="3399538" cy="2021840"/>
        </p:xfrm>
        <a:graphic>
          <a:graphicData uri="http://schemas.openxmlformats.org/drawingml/2006/table">
            <a:tbl>
              <a:tblPr firstRow="1" bandRow="1">
                <a:tableStyleId>{5C22544A-7EE6-4342-B048-85BDC9FD1C3A}</a:tableStyleId>
              </a:tblPr>
              <a:tblGrid>
                <a:gridCol w="380190">
                  <a:extLst>
                    <a:ext uri="{9D8B030D-6E8A-4147-A177-3AD203B41FA5}">
                      <a16:colId xmlns:a16="http://schemas.microsoft.com/office/drawing/2014/main" val="39178308"/>
                    </a:ext>
                  </a:extLst>
                </a:gridCol>
                <a:gridCol w="1009705">
                  <a:extLst>
                    <a:ext uri="{9D8B030D-6E8A-4147-A177-3AD203B41FA5}">
                      <a16:colId xmlns:a16="http://schemas.microsoft.com/office/drawing/2014/main" val="310850047"/>
                    </a:ext>
                  </a:extLst>
                </a:gridCol>
                <a:gridCol w="2009643">
                  <a:extLst>
                    <a:ext uri="{9D8B030D-6E8A-4147-A177-3AD203B41FA5}">
                      <a16:colId xmlns:a16="http://schemas.microsoft.com/office/drawing/2014/main" val="3184333774"/>
                    </a:ext>
                  </a:extLst>
                </a:gridCol>
              </a:tblGrid>
              <a:tr h="370840">
                <a:tc>
                  <a:txBody>
                    <a:bodyPr/>
                    <a:lstStyle/>
                    <a:p>
                      <a:r>
                        <a:rPr lang="en-US" sz="1100" dirty="0">
                          <a:solidFill>
                            <a:schemeClr val="dk1"/>
                          </a:solidFill>
                          <a:latin typeface="+mn-lt"/>
                          <a:ea typeface="+mn-ea"/>
                          <a:cs typeface="+mn-cs"/>
                        </a:rPr>
                        <a:t>**</a:t>
                      </a:r>
                    </a:p>
                  </a:txBody>
                  <a:tcPr>
                    <a:solidFill>
                      <a:srgbClr val="A0A2A1"/>
                    </a:solidFill>
                  </a:tcPr>
                </a:tc>
                <a:tc>
                  <a:txBody>
                    <a:bodyPr/>
                    <a:lstStyle/>
                    <a:p>
                      <a:r>
                        <a:rPr lang="en-US" sz="1100" dirty="0">
                          <a:solidFill>
                            <a:schemeClr val="dk1"/>
                          </a:solidFill>
                          <a:latin typeface="+mn-lt"/>
                          <a:ea typeface="+mn-ea"/>
                          <a:cs typeface="+mn-cs"/>
                        </a:rPr>
                        <a:t>Revenue</a:t>
                      </a:r>
                    </a:p>
                  </a:txBody>
                  <a:tcPr>
                    <a:solidFill>
                      <a:srgbClr val="A0A2A1"/>
                    </a:solidFill>
                  </a:tcPr>
                </a:tc>
                <a:tc>
                  <a:txBody>
                    <a:bodyPr/>
                    <a:lstStyle/>
                    <a:p>
                      <a:endParaRPr lang="en-US" sz="1100" dirty="0">
                        <a:solidFill>
                          <a:schemeClr val="dk1"/>
                        </a:solidFill>
                        <a:latin typeface="+mn-lt"/>
                        <a:ea typeface="+mn-ea"/>
                        <a:cs typeface="+mn-cs"/>
                      </a:endParaRPr>
                    </a:p>
                  </a:txBody>
                  <a:tcPr>
                    <a:solidFill>
                      <a:srgbClr val="A0A2A1"/>
                    </a:solidFill>
                  </a:tcPr>
                </a:tc>
                <a:extLst>
                  <a:ext uri="{0D108BD9-81ED-4DB2-BD59-A6C34878D82A}">
                    <a16:rowId xmlns:a16="http://schemas.microsoft.com/office/drawing/2014/main" val="3991801774"/>
                  </a:ext>
                </a:extLst>
              </a:tr>
              <a:tr h="370840">
                <a:tc>
                  <a:txBody>
                    <a:bodyPr/>
                    <a:lstStyle/>
                    <a:p>
                      <a:r>
                        <a:rPr lang="en-US" sz="1100" dirty="0"/>
                        <a:t>-</a:t>
                      </a:r>
                    </a:p>
                  </a:txBody>
                  <a:tcPr>
                    <a:solidFill>
                      <a:srgbClr val="CEB67B"/>
                    </a:solidFill>
                  </a:tcPr>
                </a:tc>
                <a:tc>
                  <a:txBody>
                    <a:bodyPr/>
                    <a:lstStyle/>
                    <a:p>
                      <a:r>
                        <a:rPr lang="en-US" sz="1100" dirty="0"/>
                        <a:t>COGS</a:t>
                      </a:r>
                    </a:p>
                  </a:txBody>
                  <a:tcPr>
                    <a:solidFill>
                      <a:srgbClr val="CEB67B"/>
                    </a:solidFill>
                  </a:tcPr>
                </a:tc>
                <a:tc>
                  <a:txBody>
                    <a:bodyPr/>
                    <a:lstStyle/>
                    <a:p>
                      <a:r>
                        <a:rPr lang="en-US" sz="1100" dirty="0"/>
                        <a:t>Cost of Goods Sold (variable Cost)</a:t>
                      </a:r>
                    </a:p>
                  </a:txBody>
                  <a:tcPr>
                    <a:solidFill>
                      <a:srgbClr val="CEB67B"/>
                    </a:solidFill>
                  </a:tcPr>
                </a:tc>
                <a:extLst>
                  <a:ext uri="{0D108BD9-81ED-4DB2-BD59-A6C34878D82A}">
                    <a16:rowId xmlns:a16="http://schemas.microsoft.com/office/drawing/2014/main" val="2626699443"/>
                  </a:ext>
                </a:extLst>
              </a:tr>
              <a:tr h="370840">
                <a:tc>
                  <a:txBody>
                    <a:bodyPr/>
                    <a:lstStyle/>
                    <a:p>
                      <a:endParaRPr lang="en-US" sz="1100" dirty="0"/>
                    </a:p>
                  </a:txBody>
                  <a:tcPr>
                    <a:solidFill>
                      <a:srgbClr val="A0A2A1"/>
                    </a:solidFill>
                  </a:tcPr>
                </a:tc>
                <a:tc>
                  <a:txBody>
                    <a:bodyPr/>
                    <a:lstStyle/>
                    <a:p>
                      <a:r>
                        <a:rPr lang="en-US" sz="1100" dirty="0"/>
                        <a:t>Gross Profit</a:t>
                      </a:r>
                    </a:p>
                  </a:txBody>
                  <a:tcPr>
                    <a:solidFill>
                      <a:srgbClr val="A0A2A1"/>
                    </a:solidFill>
                  </a:tcPr>
                </a:tc>
                <a:tc>
                  <a:txBody>
                    <a:bodyPr/>
                    <a:lstStyle/>
                    <a:p>
                      <a:endParaRPr lang="en-US" sz="1100" dirty="0"/>
                    </a:p>
                  </a:txBody>
                  <a:tcPr>
                    <a:solidFill>
                      <a:srgbClr val="A0A2A1"/>
                    </a:solidFill>
                  </a:tcPr>
                </a:tc>
                <a:extLst>
                  <a:ext uri="{0D108BD9-81ED-4DB2-BD59-A6C34878D82A}">
                    <a16:rowId xmlns:a16="http://schemas.microsoft.com/office/drawing/2014/main" val="3676450571"/>
                  </a:ext>
                </a:extLst>
              </a:tr>
              <a:tr h="370840">
                <a:tc>
                  <a:txBody>
                    <a:bodyPr/>
                    <a:lstStyle/>
                    <a:p>
                      <a:r>
                        <a:rPr lang="en-US" sz="1100" dirty="0"/>
                        <a:t>-</a:t>
                      </a:r>
                    </a:p>
                  </a:txBody>
                  <a:tcPr>
                    <a:solidFill>
                      <a:srgbClr val="CEB67B"/>
                    </a:solidFill>
                  </a:tcPr>
                </a:tc>
                <a:tc>
                  <a:txBody>
                    <a:bodyPr/>
                    <a:lstStyle/>
                    <a:p>
                      <a:r>
                        <a:rPr lang="en-US" sz="1100" dirty="0"/>
                        <a:t>OPEX</a:t>
                      </a:r>
                    </a:p>
                  </a:txBody>
                  <a:tcPr>
                    <a:solidFill>
                      <a:srgbClr val="CEB67B"/>
                    </a:solidFill>
                  </a:tcPr>
                </a:tc>
                <a:tc>
                  <a:txBody>
                    <a:bodyPr/>
                    <a:lstStyle/>
                    <a:p>
                      <a:r>
                        <a:rPr lang="en-US" sz="1100" dirty="0"/>
                        <a:t>Operating Expenses (Overhead – Fixed Costs)</a:t>
                      </a:r>
                    </a:p>
                  </a:txBody>
                  <a:tcPr>
                    <a:solidFill>
                      <a:srgbClr val="CEB67B"/>
                    </a:solidFill>
                  </a:tcPr>
                </a:tc>
                <a:extLst>
                  <a:ext uri="{0D108BD9-81ED-4DB2-BD59-A6C34878D82A}">
                    <a16:rowId xmlns:a16="http://schemas.microsoft.com/office/drawing/2014/main" val="146669685"/>
                  </a:ext>
                </a:extLst>
              </a:tr>
              <a:tr h="370840">
                <a:tc>
                  <a:txBody>
                    <a:bodyPr/>
                    <a:lstStyle/>
                    <a:p>
                      <a:r>
                        <a:rPr lang="en-US" sz="1100" dirty="0"/>
                        <a:t>**</a:t>
                      </a:r>
                    </a:p>
                  </a:txBody>
                  <a:tcPr>
                    <a:solidFill>
                      <a:srgbClr val="A0A2A1"/>
                    </a:solidFill>
                  </a:tcPr>
                </a:tc>
                <a:tc>
                  <a:txBody>
                    <a:bodyPr/>
                    <a:lstStyle/>
                    <a:p>
                      <a:r>
                        <a:rPr lang="en-US" sz="1100" dirty="0"/>
                        <a:t>EBITDA</a:t>
                      </a:r>
                    </a:p>
                  </a:txBody>
                  <a:tcPr>
                    <a:solidFill>
                      <a:srgbClr val="A0A2A1"/>
                    </a:solidFill>
                  </a:tcPr>
                </a:tc>
                <a:tc>
                  <a:txBody>
                    <a:bodyPr/>
                    <a:lstStyle/>
                    <a:p>
                      <a:r>
                        <a:rPr lang="en-US" sz="1100" dirty="0"/>
                        <a:t>Earnings Before Interest Taxes Depreciation and Amortization</a:t>
                      </a:r>
                    </a:p>
                  </a:txBody>
                  <a:tcPr>
                    <a:solidFill>
                      <a:srgbClr val="A0A2A1"/>
                    </a:solidFill>
                  </a:tcPr>
                </a:tc>
                <a:extLst>
                  <a:ext uri="{0D108BD9-81ED-4DB2-BD59-A6C34878D82A}">
                    <a16:rowId xmlns:a16="http://schemas.microsoft.com/office/drawing/2014/main" val="2955384249"/>
                  </a:ext>
                </a:extLst>
              </a:tr>
            </a:tbl>
          </a:graphicData>
        </a:graphic>
      </p:graphicFrame>
      <p:sp>
        <p:nvSpPr>
          <p:cNvPr id="7" name="TextBox 6">
            <a:extLst>
              <a:ext uri="{FF2B5EF4-FFF2-40B4-BE49-F238E27FC236}">
                <a16:creationId xmlns:a16="http://schemas.microsoft.com/office/drawing/2014/main" id="{BFC78BCA-A915-57AF-1FB0-8C4A4BA73DC9}"/>
              </a:ext>
            </a:extLst>
          </p:cNvPr>
          <p:cNvSpPr txBox="1"/>
          <p:nvPr/>
        </p:nvSpPr>
        <p:spPr>
          <a:xfrm>
            <a:off x="247650" y="3025775"/>
            <a:ext cx="3695242" cy="261610"/>
          </a:xfrm>
          <a:prstGeom prst="rect">
            <a:avLst/>
          </a:prstGeom>
          <a:noFill/>
        </p:spPr>
        <p:txBody>
          <a:bodyPr wrap="none" rtlCol="0">
            <a:spAutoFit/>
          </a:bodyPr>
          <a:lstStyle/>
          <a:p>
            <a:r>
              <a:rPr lang="en-US" sz="1100" i="1" dirty="0"/>
              <a:t>**Multiples are typically based on either Revenue OR EBITDA</a:t>
            </a:r>
          </a:p>
        </p:txBody>
      </p:sp>
    </p:spTree>
    <p:extLst>
      <p:ext uri="{BB962C8B-B14F-4D97-AF65-F5344CB8AC3E}">
        <p14:creationId xmlns:p14="http://schemas.microsoft.com/office/powerpoint/2010/main" val="2693722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64A17-96DB-CB1B-B1A3-6F9D5E1C5FC9}"/>
              </a:ext>
            </a:extLst>
          </p:cNvPr>
          <p:cNvSpPr>
            <a:spLocks noGrp="1"/>
          </p:cNvSpPr>
          <p:nvPr>
            <p:ph type="title"/>
          </p:nvPr>
        </p:nvSpPr>
        <p:spPr>
          <a:xfrm>
            <a:off x="171450" y="190295"/>
            <a:ext cx="4343400" cy="384721"/>
          </a:xfrm>
        </p:spPr>
        <p:txBody>
          <a:bodyPr/>
          <a:lstStyle/>
          <a:p>
            <a:r>
              <a:rPr lang="en-US" dirty="0"/>
              <a:t>Buckets for Screening Criteria</a:t>
            </a:r>
            <a:br>
              <a:rPr lang="en-US" dirty="0"/>
            </a:br>
            <a:r>
              <a:rPr lang="en-US" sz="1100" b="0" dirty="0"/>
              <a:t>**these are guidelines but actual deals may require adaptation</a:t>
            </a:r>
          </a:p>
        </p:txBody>
      </p:sp>
      <p:sp>
        <p:nvSpPr>
          <p:cNvPr id="5" name="Slide Number Placeholder 4">
            <a:extLst>
              <a:ext uri="{FF2B5EF4-FFF2-40B4-BE49-F238E27FC236}">
                <a16:creationId xmlns:a16="http://schemas.microsoft.com/office/drawing/2014/main" id="{FA807FF2-FC4C-6C95-42C7-446C2BC5429A}"/>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7</a:t>
            </a:fld>
            <a:endParaRPr spc="-5" dirty="0"/>
          </a:p>
        </p:txBody>
      </p:sp>
      <p:sp>
        <p:nvSpPr>
          <p:cNvPr id="6" name="Rectangle 5">
            <a:extLst>
              <a:ext uri="{FF2B5EF4-FFF2-40B4-BE49-F238E27FC236}">
                <a16:creationId xmlns:a16="http://schemas.microsoft.com/office/drawing/2014/main" id="{5B882634-B1F4-7890-1554-6BB6C2A7403D}"/>
              </a:ext>
            </a:extLst>
          </p:cNvPr>
          <p:cNvSpPr/>
          <p:nvPr/>
        </p:nvSpPr>
        <p:spPr>
          <a:xfrm>
            <a:off x="247650" y="663575"/>
            <a:ext cx="953514" cy="152400"/>
          </a:xfrm>
          <a:prstGeom prst="rect">
            <a:avLst/>
          </a:prstGeom>
          <a:solidFill>
            <a:srgbClr val="CEB6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Market </a:t>
            </a:r>
          </a:p>
        </p:txBody>
      </p:sp>
      <p:sp>
        <p:nvSpPr>
          <p:cNvPr id="7" name="Rectangle 6">
            <a:extLst>
              <a:ext uri="{FF2B5EF4-FFF2-40B4-BE49-F238E27FC236}">
                <a16:creationId xmlns:a16="http://schemas.microsoft.com/office/drawing/2014/main" id="{0FE3983C-1D6D-A2E3-2E6F-AF0B960F2897}"/>
              </a:ext>
            </a:extLst>
          </p:cNvPr>
          <p:cNvSpPr/>
          <p:nvPr/>
        </p:nvSpPr>
        <p:spPr>
          <a:xfrm>
            <a:off x="247650" y="874047"/>
            <a:ext cx="953514" cy="1084927"/>
          </a:xfrm>
          <a:prstGeom prst="rect">
            <a:avLst/>
          </a:prstGeom>
          <a:solidFill>
            <a:srgbClr val="CEB67B"/>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50" dirty="0"/>
              <a:t>Size</a:t>
            </a:r>
          </a:p>
          <a:p>
            <a:r>
              <a:rPr lang="en-US" sz="1050" dirty="0"/>
              <a:t>Ownership</a:t>
            </a:r>
          </a:p>
          <a:p>
            <a:r>
              <a:rPr lang="en-US" sz="1050" dirty="0"/>
              <a:t>Competitors</a:t>
            </a:r>
          </a:p>
        </p:txBody>
      </p:sp>
      <p:sp>
        <p:nvSpPr>
          <p:cNvPr id="10" name="Rectangle 9">
            <a:extLst>
              <a:ext uri="{FF2B5EF4-FFF2-40B4-BE49-F238E27FC236}">
                <a16:creationId xmlns:a16="http://schemas.microsoft.com/office/drawing/2014/main" id="{2E36864B-0364-3ABD-E640-7C7AD79C271B}"/>
              </a:ext>
            </a:extLst>
          </p:cNvPr>
          <p:cNvSpPr/>
          <p:nvPr/>
        </p:nvSpPr>
        <p:spPr>
          <a:xfrm>
            <a:off x="1390650" y="663575"/>
            <a:ext cx="953514" cy="152400"/>
          </a:xfrm>
          <a:prstGeom prst="rect">
            <a:avLst/>
          </a:prstGeom>
          <a:solidFill>
            <a:srgbClr val="A0A2A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Financials </a:t>
            </a:r>
          </a:p>
        </p:txBody>
      </p:sp>
      <p:sp>
        <p:nvSpPr>
          <p:cNvPr id="11" name="Rectangle 10">
            <a:extLst>
              <a:ext uri="{FF2B5EF4-FFF2-40B4-BE49-F238E27FC236}">
                <a16:creationId xmlns:a16="http://schemas.microsoft.com/office/drawing/2014/main" id="{8C10785C-2A74-08A5-3E18-FBF15EF4287B}"/>
              </a:ext>
            </a:extLst>
          </p:cNvPr>
          <p:cNvSpPr/>
          <p:nvPr/>
        </p:nvSpPr>
        <p:spPr>
          <a:xfrm>
            <a:off x="1390650" y="874047"/>
            <a:ext cx="953514" cy="1084927"/>
          </a:xfrm>
          <a:prstGeom prst="rect">
            <a:avLst/>
          </a:prstGeom>
          <a:solidFill>
            <a:srgbClr val="A0A2A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dirty="0"/>
              <a:t>Revenue</a:t>
            </a:r>
          </a:p>
          <a:p>
            <a:r>
              <a:rPr lang="en-US" sz="1100" dirty="0"/>
              <a:t>EBITDA</a:t>
            </a:r>
          </a:p>
          <a:p>
            <a:r>
              <a:rPr lang="en-US" sz="1100" dirty="0"/>
              <a:t>Cash Flow</a:t>
            </a:r>
          </a:p>
          <a:p>
            <a:r>
              <a:rPr lang="en-US" sz="1100" dirty="0"/>
              <a:t>5 year Pro Forma</a:t>
            </a:r>
          </a:p>
          <a:p>
            <a:r>
              <a:rPr lang="en-US" sz="1100" dirty="0"/>
              <a:t>Valuation</a:t>
            </a:r>
          </a:p>
        </p:txBody>
      </p:sp>
      <p:sp>
        <p:nvSpPr>
          <p:cNvPr id="13" name="Rectangle 12">
            <a:extLst>
              <a:ext uri="{FF2B5EF4-FFF2-40B4-BE49-F238E27FC236}">
                <a16:creationId xmlns:a16="http://schemas.microsoft.com/office/drawing/2014/main" id="{B19F0A1A-EF7E-33D3-3D3F-674FFBFD8807}"/>
              </a:ext>
            </a:extLst>
          </p:cNvPr>
          <p:cNvSpPr/>
          <p:nvPr/>
        </p:nvSpPr>
        <p:spPr>
          <a:xfrm>
            <a:off x="2533650" y="871289"/>
            <a:ext cx="953514" cy="1084927"/>
          </a:xfrm>
          <a:prstGeom prst="rect">
            <a:avLst/>
          </a:prstGeom>
          <a:solidFill>
            <a:srgbClr val="CEB67B"/>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dirty="0"/>
              <a:t>Founder</a:t>
            </a:r>
          </a:p>
          <a:p>
            <a:r>
              <a:rPr lang="en-US" sz="1100" dirty="0"/>
              <a:t>Sales</a:t>
            </a:r>
          </a:p>
          <a:p>
            <a:r>
              <a:rPr lang="en-US" sz="1100" dirty="0"/>
              <a:t>Operations</a:t>
            </a:r>
          </a:p>
          <a:p>
            <a:r>
              <a:rPr lang="en-US" sz="1100" dirty="0"/>
              <a:t>Finance</a:t>
            </a:r>
          </a:p>
          <a:p>
            <a:r>
              <a:rPr lang="en-US" sz="1100" dirty="0"/>
              <a:t>&lt;Size&gt;</a:t>
            </a:r>
          </a:p>
        </p:txBody>
      </p:sp>
      <p:sp>
        <p:nvSpPr>
          <p:cNvPr id="14" name="Rectangle 13">
            <a:extLst>
              <a:ext uri="{FF2B5EF4-FFF2-40B4-BE49-F238E27FC236}">
                <a16:creationId xmlns:a16="http://schemas.microsoft.com/office/drawing/2014/main" id="{03A52958-661A-5B47-B6C7-AED63A277C2B}"/>
              </a:ext>
            </a:extLst>
          </p:cNvPr>
          <p:cNvSpPr/>
          <p:nvPr/>
        </p:nvSpPr>
        <p:spPr>
          <a:xfrm>
            <a:off x="249682" y="2089707"/>
            <a:ext cx="953514" cy="152400"/>
          </a:xfrm>
          <a:prstGeom prst="rect">
            <a:avLst/>
          </a:prstGeom>
          <a:solidFill>
            <a:srgbClr val="A0A2A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Risk </a:t>
            </a:r>
          </a:p>
        </p:txBody>
      </p:sp>
      <p:sp>
        <p:nvSpPr>
          <p:cNvPr id="15" name="Rectangle 14">
            <a:extLst>
              <a:ext uri="{FF2B5EF4-FFF2-40B4-BE49-F238E27FC236}">
                <a16:creationId xmlns:a16="http://schemas.microsoft.com/office/drawing/2014/main" id="{F0B8CE24-FAB4-7CB4-2D8C-BB5AA599EA45}"/>
              </a:ext>
            </a:extLst>
          </p:cNvPr>
          <p:cNvSpPr/>
          <p:nvPr/>
        </p:nvSpPr>
        <p:spPr>
          <a:xfrm>
            <a:off x="248518" y="2295255"/>
            <a:ext cx="953514" cy="1084927"/>
          </a:xfrm>
          <a:prstGeom prst="rect">
            <a:avLst/>
          </a:prstGeom>
          <a:solidFill>
            <a:srgbClr val="A0A2A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b="1" dirty="0">
                <a:solidFill>
                  <a:srgbClr val="C00000"/>
                </a:solidFill>
              </a:rPr>
              <a:t>Black Swan</a:t>
            </a:r>
          </a:p>
          <a:p>
            <a:r>
              <a:rPr lang="en-US" sz="1100" dirty="0"/>
              <a:t>Key Person</a:t>
            </a:r>
          </a:p>
          <a:p>
            <a:r>
              <a:rPr lang="en-US" sz="1100" dirty="0"/>
              <a:t>IP protection</a:t>
            </a:r>
          </a:p>
        </p:txBody>
      </p:sp>
      <p:sp>
        <p:nvSpPr>
          <p:cNvPr id="16" name="Rectangle 15">
            <a:extLst>
              <a:ext uri="{FF2B5EF4-FFF2-40B4-BE49-F238E27FC236}">
                <a16:creationId xmlns:a16="http://schemas.microsoft.com/office/drawing/2014/main" id="{D415EF42-4771-57FC-E665-E6991920B80E}"/>
              </a:ext>
            </a:extLst>
          </p:cNvPr>
          <p:cNvSpPr/>
          <p:nvPr/>
        </p:nvSpPr>
        <p:spPr>
          <a:xfrm>
            <a:off x="1413037" y="2084783"/>
            <a:ext cx="953514" cy="152400"/>
          </a:xfrm>
          <a:prstGeom prst="rect">
            <a:avLst/>
          </a:prstGeom>
          <a:solidFill>
            <a:srgbClr val="CEB6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Assumptions </a:t>
            </a:r>
          </a:p>
        </p:txBody>
      </p:sp>
      <p:sp>
        <p:nvSpPr>
          <p:cNvPr id="17" name="Rectangle 16">
            <a:extLst>
              <a:ext uri="{FF2B5EF4-FFF2-40B4-BE49-F238E27FC236}">
                <a16:creationId xmlns:a16="http://schemas.microsoft.com/office/drawing/2014/main" id="{C0CC1B64-B703-FE63-048A-1AF5F26F2133}"/>
              </a:ext>
            </a:extLst>
          </p:cNvPr>
          <p:cNvSpPr/>
          <p:nvPr/>
        </p:nvSpPr>
        <p:spPr>
          <a:xfrm>
            <a:off x="1413037" y="2295255"/>
            <a:ext cx="953514" cy="1084927"/>
          </a:xfrm>
          <a:prstGeom prst="rect">
            <a:avLst/>
          </a:prstGeom>
          <a:solidFill>
            <a:srgbClr val="CEB67B"/>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dirty="0"/>
              <a:t>Growth</a:t>
            </a:r>
          </a:p>
          <a:p>
            <a:r>
              <a:rPr lang="en-US" sz="1100" dirty="0"/>
              <a:t>Discount rate</a:t>
            </a:r>
          </a:p>
          <a:p>
            <a:r>
              <a:rPr lang="en-US" sz="1100" dirty="0"/>
              <a:t>Access</a:t>
            </a:r>
          </a:p>
          <a:p>
            <a:r>
              <a:rPr lang="en-US" sz="1100" dirty="0"/>
              <a:t>Exit</a:t>
            </a:r>
          </a:p>
          <a:p>
            <a:endParaRPr lang="en-US" sz="1100" dirty="0"/>
          </a:p>
        </p:txBody>
      </p:sp>
      <p:sp>
        <p:nvSpPr>
          <p:cNvPr id="18" name="Rectangle 17">
            <a:extLst>
              <a:ext uri="{FF2B5EF4-FFF2-40B4-BE49-F238E27FC236}">
                <a16:creationId xmlns:a16="http://schemas.microsoft.com/office/drawing/2014/main" id="{3AA34BC6-B23D-EDF7-6A0A-62CEB76E494E}"/>
              </a:ext>
            </a:extLst>
          </p:cNvPr>
          <p:cNvSpPr/>
          <p:nvPr/>
        </p:nvSpPr>
        <p:spPr>
          <a:xfrm>
            <a:off x="2533650" y="2078559"/>
            <a:ext cx="953514" cy="152400"/>
          </a:xfrm>
          <a:prstGeom prst="rect">
            <a:avLst/>
          </a:prstGeom>
          <a:solidFill>
            <a:srgbClr val="A0A2A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Other </a:t>
            </a:r>
          </a:p>
        </p:txBody>
      </p:sp>
      <p:sp>
        <p:nvSpPr>
          <p:cNvPr id="19" name="Rectangle 18">
            <a:extLst>
              <a:ext uri="{FF2B5EF4-FFF2-40B4-BE49-F238E27FC236}">
                <a16:creationId xmlns:a16="http://schemas.microsoft.com/office/drawing/2014/main" id="{8EEE6077-0639-55B7-8CE3-7D5721AEB7DA}"/>
              </a:ext>
            </a:extLst>
          </p:cNvPr>
          <p:cNvSpPr/>
          <p:nvPr/>
        </p:nvSpPr>
        <p:spPr>
          <a:xfrm>
            <a:off x="2533650" y="2289031"/>
            <a:ext cx="953514" cy="1084927"/>
          </a:xfrm>
          <a:prstGeom prst="rect">
            <a:avLst/>
          </a:prstGeom>
          <a:solidFill>
            <a:srgbClr val="A0A2A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100" dirty="0"/>
          </a:p>
        </p:txBody>
      </p:sp>
      <p:sp>
        <p:nvSpPr>
          <p:cNvPr id="22" name="Rectangle 21">
            <a:extLst>
              <a:ext uri="{FF2B5EF4-FFF2-40B4-BE49-F238E27FC236}">
                <a16:creationId xmlns:a16="http://schemas.microsoft.com/office/drawing/2014/main" id="{8670BFBC-99CF-1C65-C094-A7727007F3F3}"/>
              </a:ext>
            </a:extLst>
          </p:cNvPr>
          <p:cNvSpPr/>
          <p:nvPr/>
        </p:nvSpPr>
        <p:spPr>
          <a:xfrm>
            <a:off x="2533650" y="649160"/>
            <a:ext cx="953514" cy="152400"/>
          </a:xfrm>
          <a:prstGeom prst="rect">
            <a:avLst/>
          </a:prstGeom>
          <a:solidFill>
            <a:srgbClr val="CEB6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Team </a:t>
            </a:r>
          </a:p>
        </p:txBody>
      </p:sp>
      <p:sp>
        <p:nvSpPr>
          <p:cNvPr id="23" name="Rectangle 22">
            <a:extLst>
              <a:ext uri="{FF2B5EF4-FFF2-40B4-BE49-F238E27FC236}">
                <a16:creationId xmlns:a16="http://schemas.microsoft.com/office/drawing/2014/main" id="{597820CB-FA4E-2A29-F2D8-249718C637FB}"/>
              </a:ext>
            </a:extLst>
          </p:cNvPr>
          <p:cNvSpPr/>
          <p:nvPr/>
        </p:nvSpPr>
        <p:spPr>
          <a:xfrm>
            <a:off x="3600450" y="2073576"/>
            <a:ext cx="953514" cy="152400"/>
          </a:xfrm>
          <a:prstGeom prst="rect">
            <a:avLst/>
          </a:prstGeom>
          <a:solidFill>
            <a:srgbClr val="CEB6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Exit </a:t>
            </a:r>
          </a:p>
        </p:txBody>
      </p:sp>
      <p:sp>
        <p:nvSpPr>
          <p:cNvPr id="24" name="Rectangle 23">
            <a:extLst>
              <a:ext uri="{FF2B5EF4-FFF2-40B4-BE49-F238E27FC236}">
                <a16:creationId xmlns:a16="http://schemas.microsoft.com/office/drawing/2014/main" id="{00619D50-AA39-EABC-6BD0-CE1864F4625F}"/>
              </a:ext>
            </a:extLst>
          </p:cNvPr>
          <p:cNvSpPr/>
          <p:nvPr/>
        </p:nvSpPr>
        <p:spPr>
          <a:xfrm>
            <a:off x="3600450" y="2284048"/>
            <a:ext cx="953514" cy="1084927"/>
          </a:xfrm>
          <a:prstGeom prst="rect">
            <a:avLst/>
          </a:prstGeom>
          <a:solidFill>
            <a:srgbClr val="CEB67B"/>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dirty="0"/>
              <a:t>To Whom</a:t>
            </a:r>
          </a:p>
          <a:p>
            <a:r>
              <a:rPr lang="en-US" sz="1100" dirty="0"/>
              <a:t>When</a:t>
            </a:r>
          </a:p>
          <a:p>
            <a:r>
              <a:rPr lang="en-US" sz="1100" dirty="0"/>
              <a:t>Multiple (ROI)</a:t>
            </a:r>
          </a:p>
        </p:txBody>
      </p:sp>
      <p:sp>
        <p:nvSpPr>
          <p:cNvPr id="25" name="Rectangle 24">
            <a:extLst>
              <a:ext uri="{FF2B5EF4-FFF2-40B4-BE49-F238E27FC236}">
                <a16:creationId xmlns:a16="http://schemas.microsoft.com/office/drawing/2014/main" id="{14B0ECA1-9D9B-F0E5-C4CD-2131D7568944}"/>
              </a:ext>
            </a:extLst>
          </p:cNvPr>
          <p:cNvSpPr/>
          <p:nvPr/>
        </p:nvSpPr>
        <p:spPr>
          <a:xfrm>
            <a:off x="3600450" y="643905"/>
            <a:ext cx="953514" cy="152400"/>
          </a:xfrm>
          <a:prstGeom prst="rect">
            <a:avLst/>
          </a:prstGeom>
          <a:solidFill>
            <a:srgbClr val="A0A2A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Product </a:t>
            </a:r>
          </a:p>
        </p:txBody>
      </p:sp>
      <p:sp>
        <p:nvSpPr>
          <p:cNvPr id="26" name="Rectangle 25">
            <a:extLst>
              <a:ext uri="{FF2B5EF4-FFF2-40B4-BE49-F238E27FC236}">
                <a16:creationId xmlns:a16="http://schemas.microsoft.com/office/drawing/2014/main" id="{BC660E27-C836-B837-6A71-7F038D45B4B0}"/>
              </a:ext>
            </a:extLst>
          </p:cNvPr>
          <p:cNvSpPr/>
          <p:nvPr/>
        </p:nvSpPr>
        <p:spPr>
          <a:xfrm>
            <a:off x="3600450" y="854377"/>
            <a:ext cx="953514" cy="1084927"/>
          </a:xfrm>
          <a:prstGeom prst="rect">
            <a:avLst/>
          </a:prstGeom>
          <a:solidFill>
            <a:srgbClr val="A0A2A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dirty="0"/>
              <a:t>Patent</a:t>
            </a:r>
          </a:p>
          <a:p>
            <a:r>
              <a:rPr lang="en-US" sz="1100" dirty="0"/>
              <a:t>Unique</a:t>
            </a:r>
          </a:p>
          <a:p>
            <a:r>
              <a:rPr lang="en-US" sz="1100" dirty="0"/>
              <a:t>Disruptive</a:t>
            </a:r>
          </a:p>
          <a:p>
            <a:r>
              <a:rPr lang="en-US" sz="1100" dirty="0"/>
              <a:t>New World</a:t>
            </a:r>
          </a:p>
          <a:p>
            <a:endParaRPr lang="en-US" sz="1100" dirty="0"/>
          </a:p>
        </p:txBody>
      </p:sp>
    </p:spTree>
    <p:extLst>
      <p:ext uri="{BB962C8B-B14F-4D97-AF65-F5344CB8AC3E}">
        <p14:creationId xmlns:p14="http://schemas.microsoft.com/office/powerpoint/2010/main" val="2958224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1" grpId="0" animBg="1"/>
      <p:bldP spid="13" grpId="0" animBg="1"/>
      <p:bldP spid="14" grpId="0" animBg="1"/>
      <p:bldP spid="15" grpId="0" animBg="1"/>
      <p:bldP spid="16" grpId="0" animBg="1"/>
      <p:bldP spid="17" grpId="0" animBg="1"/>
      <p:bldP spid="18" grpId="0" animBg="1"/>
      <p:bldP spid="19" grpId="0" animBg="1"/>
      <p:bldP spid="22" grpId="0" animBg="1"/>
      <p:bldP spid="23" grpId="0" animBg="1"/>
      <p:bldP spid="24" grpId="0" animBg="1"/>
      <p:bldP spid="25" grpId="0" animBg="1"/>
      <p:bldP spid="2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AA60F-294E-B9DA-9419-D9A91FB2EE5C}"/>
              </a:ext>
            </a:extLst>
          </p:cNvPr>
          <p:cNvSpPr>
            <a:spLocks noGrp="1"/>
          </p:cNvSpPr>
          <p:nvPr>
            <p:ph type="title"/>
          </p:nvPr>
        </p:nvSpPr>
        <p:spPr>
          <a:xfrm>
            <a:off x="726439" y="190295"/>
            <a:ext cx="3153410" cy="430887"/>
          </a:xfrm>
        </p:spPr>
        <p:txBody>
          <a:bodyPr/>
          <a:lstStyle/>
          <a:p>
            <a:r>
              <a:rPr lang="en-US" dirty="0"/>
              <a:t>How do we systematically collect data to put in these buckets.</a:t>
            </a:r>
          </a:p>
        </p:txBody>
      </p:sp>
      <p:sp>
        <p:nvSpPr>
          <p:cNvPr id="5" name="Slide Number Placeholder 4">
            <a:extLst>
              <a:ext uri="{FF2B5EF4-FFF2-40B4-BE49-F238E27FC236}">
                <a16:creationId xmlns:a16="http://schemas.microsoft.com/office/drawing/2014/main" id="{699F6763-6397-64D5-5715-0EE513FFA3DB}"/>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8</a:t>
            </a:fld>
            <a:endParaRPr spc="-5" dirty="0"/>
          </a:p>
        </p:txBody>
      </p:sp>
      <p:graphicFrame>
        <p:nvGraphicFramePr>
          <p:cNvPr id="6" name="Table 5">
            <a:extLst>
              <a:ext uri="{FF2B5EF4-FFF2-40B4-BE49-F238E27FC236}">
                <a16:creationId xmlns:a16="http://schemas.microsoft.com/office/drawing/2014/main" id="{486F9B79-3412-54D5-C38F-A3412DC578FF}"/>
              </a:ext>
            </a:extLst>
          </p:cNvPr>
          <p:cNvGraphicFramePr>
            <a:graphicFrameLocks noGrp="1"/>
          </p:cNvGraphicFramePr>
          <p:nvPr>
            <p:extLst>
              <p:ext uri="{D42A27DB-BD31-4B8C-83A1-F6EECF244321}">
                <p14:modId xmlns:p14="http://schemas.microsoft.com/office/powerpoint/2010/main" val="1885750743"/>
              </p:ext>
            </p:extLst>
          </p:nvPr>
        </p:nvGraphicFramePr>
        <p:xfrm>
          <a:off x="95250" y="692802"/>
          <a:ext cx="4419600" cy="1524000"/>
        </p:xfrm>
        <a:graphic>
          <a:graphicData uri="http://schemas.openxmlformats.org/drawingml/2006/table">
            <a:tbl>
              <a:tblPr firstRow="1" bandRow="1">
                <a:tableStyleId>{073A0DAA-6AF3-43AB-8588-CEC1D06C72B9}</a:tableStyleId>
              </a:tblPr>
              <a:tblGrid>
                <a:gridCol w="762000">
                  <a:extLst>
                    <a:ext uri="{9D8B030D-6E8A-4147-A177-3AD203B41FA5}">
                      <a16:colId xmlns:a16="http://schemas.microsoft.com/office/drawing/2014/main" val="1578304726"/>
                    </a:ext>
                  </a:extLst>
                </a:gridCol>
                <a:gridCol w="895350">
                  <a:extLst>
                    <a:ext uri="{9D8B030D-6E8A-4147-A177-3AD203B41FA5}">
                      <a16:colId xmlns:a16="http://schemas.microsoft.com/office/drawing/2014/main" val="4184643383"/>
                    </a:ext>
                  </a:extLst>
                </a:gridCol>
                <a:gridCol w="1381125">
                  <a:extLst>
                    <a:ext uri="{9D8B030D-6E8A-4147-A177-3AD203B41FA5}">
                      <a16:colId xmlns:a16="http://schemas.microsoft.com/office/drawing/2014/main" val="1584302611"/>
                    </a:ext>
                  </a:extLst>
                </a:gridCol>
                <a:gridCol w="663557">
                  <a:extLst>
                    <a:ext uri="{9D8B030D-6E8A-4147-A177-3AD203B41FA5}">
                      <a16:colId xmlns:a16="http://schemas.microsoft.com/office/drawing/2014/main" val="3115481605"/>
                    </a:ext>
                  </a:extLst>
                </a:gridCol>
                <a:gridCol w="717568">
                  <a:extLst>
                    <a:ext uri="{9D8B030D-6E8A-4147-A177-3AD203B41FA5}">
                      <a16:colId xmlns:a16="http://schemas.microsoft.com/office/drawing/2014/main" val="3071776567"/>
                    </a:ext>
                  </a:extLst>
                </a:gridCol>
              </a:tblGrid>
              <a:tr h="357545">
                <a:tc>
                  <a:txBody>
                    <a:bodyPr/>
                    <a:lstStyle/>
                    <a:p>
                      <a:pPr algn="ctr"/>
                      <a:r>
                        <a:rPr lang="en-US" sz="1100" dirty="0"/>
                        <a:t>Company</a:t>
                      </a:r>
                    </a:p>
                  </a:txBody>
                  <a:tcPr anchor="ctr"/>
                </a:tc>
                <a:tc>
                  <a:txBody>
                    <a:bodyPr/>
                    <a:lstStyle/>
                    <a:p>
                      <a:pPr algn="ctr"/>
                      <a:r>
                        <a:rPr lang="en-US" sz="1100" dirty="0"/>
                        <a:t>Fin Basis</a:t>
                      </a:r>
                    </a:p>
                  </a:txBody>
                  <a:tcPr anchor="ctr"/>
                </a:tc>
                <a:tc>
                  <a:txBody>
                    <a:bodyPr/>
                    <a:lstStyle/>
                    <a:p>
                      <a:pPr algn="ctr"/>
                      <a:r>
                        <a:rPr lang="en-US" sz="1100" dirty="0"/>
                        <a:t>Multiple</a:t>
                      </a:r>
                    </a:p>
                  </a:txBody>
                  <a:tcPr anchor="ctr"/>
                </a:tc>
                <a:tc>
                  <a:txBody>
                    <a:bodyPr/>
                    <a:lstStyle/>
                    <a:p>
                      <a:pPr algn="ctr"/>
                      <a:r>
                        <a:rPr lang="en-US" sz="1100" dirty="0"/>
                        <a:t>Bought by</a:t>
                      </a:r>
                    </a:p>
                  </a:txBody>
                  <a:tcPr anchor="ctr"/>
                </a:tc>
                <a:tc>
                  <a:txBody>
                    <a:bodyPr/>
                    <a:lstStyle/>
                    <a:p>
                      <a:pPr algn="ctr"/>
                      <a:r>
                        <a:rPr lang="en-US" sz="1100" dirty="0"/>
                        <a:t>WHEN</a:t>
                      </a:r>
                    </a:p>
                  </a:txBody>
                  <a:tcPr anchor="ctr"/>
                </a:tc>
                <a:extLst>
                  <a:ext uri="{0D108BD9-81ED-4DB2-BD59-A6C34878D82A}">
                    <a16:rowId xmlns:a16="http://schemas.microsoft.com/office/drawing/2014/main" val="753366240"/>
                  </a:ext>
                </a:extLst>
              </a:tr>
              <a:tr h="498009">
                <a:tc>
                  <a:txBody>
                    <a:bodyPr/>
                    <a:lstStyle/>
                    <a:p>
                      <a:pPr algn="l"/>
                      <a:endParaRPr lang="en-US" sz="1100" dirty="0"/>
                    </a:p>
                  </a:txBody>
                  <a:tcPr anchor="ctr"/>
                </a:tc>
                <a:tc>
                  <a:txBody>
                    <a:bodyPr/>
                    <a:lstStyle/>
                    <a:p>
                      <a:r>
                        <a:rPr lang="en-US" sz="1050" dirty="0"/>
                        <a:t>Pre Revenue</a:t>
                      </a:r>
                    </a:p>
                    <a:p>
                      <a:r>
                        <a:rPr lang="en-US" sz="1050" dirty="0"/>
                        <a:t>Revenue</a:t>
                      </a:r>
                    </a:p>
                    <a:p>
                      <a:r>
                        <a:rPr lang="en-US" sz="1050" dirty="0"/>
                        <a:t>EBITDA</a:t>
                      </a:r>
                    </a:p>
                  </a:txBody>
                  <a:tcPr/>
                </a:tc>
                <a:tc>
                  <a:txBody>
                    <a:bodyPr/>
                    <a:lstStyle/>
                    <a:p>
                      <a:r>
                        <a:rPr lang="en-US" sz="1100" dirty="0"/>
                        <a:t>Exit Value/Fin Basis</a:t>
                      </a:r>
                    </a:p>
                  </a:txBody>
                  <a:tcPr/>
                </a:tc>
                <a:tc>
                  <a:txBody>
                    <a:bodyPr/>
                    <a:lstStyle/>
                    <a:p>
                      <a:r>
                        <a:rPr lang="en-US" sz="1100" dirty="0"/>
                        <a:t>M&amp;A</a:t>
                      </a:r>
                    </a:p>
                    <a:p>
                      <a:r>
                        <a:rPr lang="en-US" sz="1100" dirty="0"/>
                        <a:t>PE</a:t>
                      </a:r>
                    </a:p>
                    <a:p>
                      <a:r>
                        <a:rPr lang="en-US" sz="1100" dirty="0"/>
                        <a:t>IPO</a:t>
                      </a:r>
                    </a:p>
                  </a:txBody>
                  <a:tcPr/>
                </a:tc>
                <a:tc>
                  <a:txBody>
                    <a:bodyPr/>
                    <a:lstStyle/>
                    <a:p>
                      <a:r>
                        <a:rPr lang="en-US" sz="1100" dirty="0"/>
                        <a:t>Multiples and Deal Types change over time</a:t>
                      </a:r>
                    </a:p>
                  </a:txBody>
                  <a:tcPr/>
                </a:tc>
                <a:extLst>
                  <a:ext uri="{0D108BD9-81ED-4DB2-BD59-A6C34878D82A}">
                    <a16:rowId xmlns:a16="http://schemas.microsoft.com/office/drawing/2014/main" val="2998051512"/>
                  </a:ext>
                </a:extLst>
              </a:tr>
            </a:tbl>
          </a:graphicData>
        </a:graphic>
      </p:graphicFrame>
    </p:spTree>
    <p:extLst>
      <p:ext uri="{BB962C8B-B14F-4D97-AF65-F5344CB8AC3E}">
        <p14:creationId xmlns:p14="http://schemas.microsoft.com/office/powerpoint/2010/main" val="3949559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F23FA-45DD-3B45-FB2D-5B16CC67DF72}"/>
              </a:ext>
            </a:extLst>
          </p:cNvPr>
          <p:cNvSpPr>
            <a:spLocks noGrp="1"/>
          </p:cNvSpPr>
          <p:nvPr>
            <p:ph type="title"/>
          </p:nvPr>
        </p:nvSpPr>
        <p:spPr>
          <a:xfrm>
            <a:off x="726439" y="190295"/>
            <a:ext cx="3153410" cy="430887"/>
          </a:xfrm>
        </p:spPr>
        <p:txBody>
          <a:bodyPr/>
          <a:lstStyle/>
          <a:p>
            <a:r>
              <a:rPr lang="en-US" dirty="0"/>
              <a:t>Example: You are in the Food Products Industry (Manufacturing)</a:t>
            </a:r>
          </a:p>
        </p:txBody>
      </p:sp>
      <p:sp>
        <p:nvSpPr>
          <p:cNvPr id="3" name="Text Placeholder 2">
            <a:extLst>
              <a:ext uri="{FF2B5EF4-FFF2-40B4-BE49-F238E27FC236}">
                <a16:creationId xmlns:a16="http://schemas.microsoft.com/office/drawing/2014/main" id="{5A38E1F4-2CF5-AD21-7FE7-42AAA58DA4DE}"/>
              </a:ext>
            </a:extLst>
          </p:cNvPr>
          <p:cNvSpPr>
            <a:spLocks noGrp="1"/>
          </p:cNvSpPr>
          <p:nvPr>
            <p:ph type="body" idx="1"/>
          </p:nvPr>
        </p:nvSpPr>
        <p:spPr>
          <a:xfrm>
            <a:off x="124332" y="739775"/>
            <a:ext cx="4357623" cy="1862048"/>
          </a:xfrm>
        </p:spPr>
        <p:txBody>
          <a:bodyPr/>
          <a:lstStyle/>
          <a:p>
            <a:r>
              <a:rPr lang="en-US" dirty="0"/>
              <a:t>Some of your key descriptors include:</a:t>
            </a:r>
          </a:p>
          <a:p>
            <a:r>
              <a:rPr lang="en-US" dirty="0"/>
              <a:t>All-natural</a:t>
            </a:r>
          </a:p>
          <a:p>
            <a:r>
              <a:rPr lang="en-US" dirty="0"/>
              <a:t>Gluten free</a:t>
            </a:r>
          </a:p>
          <a:p>
            <a:r>
              <a:rPr lang="en-US" dirty="0"/>
              <a:t>Non-GMO</a:t>
            </a:r>
          </a:p>
          <a:p>
            <a:endParaRPr lang="en-US" dirty="0"/>
          </a:p>
          <a:p>
            <a:r>
              <a:rPr lang="en-US" dirty="0"/>
              <a:t>Your 2024 Revenue is $150M</a:t>
            </a:r>
          </a:p>
          <a:p>
            <a:r>
              <a:rPr lang="en-US" dirty="0"/>
              <a:t>Your EBITDA is $27M</a:t>
            </a:r>
          </a:p>
          <a:p>
            <a:r>
              <a:rPr lang="en-US" dirty="0"/>
              <a:t>?? What is your % profitability on an EBITDA basis?</a:t>
            </a:r>
          </a:p>
          <a:p>
            <a:r>
              <a:rPr lang="en-US" dirty="0"/>
              <a:t>= EBITDA/Revenue</a:t>
            </a:r>
          </a:p>
          <a:p>
            <a:endParaRPr lang="en-US" dirty="0"/>
          </a:p>
          <a:p>
            <a:r>
              <a:rPr lang="en-US" dirty="0"/>
              <a:t>Your revenue growth for past 3 years is: </a:t>
            </a:r>
          </a:p>
        </p:txBody>
      </p:sp>
      <p:sp>
        <p:nvSpPr>
          <p:cNvPr id="5" name="Slide Number Placeholder 4">
            <a:extLst>
              <a:ext uri="{FF2B5EF4-FFF2-40B4-BE49-F238E27FC236}">
                <a16:creationId xmlns:a16="http://schemas.microsoft.com/office/drawing/2014/main" id="{10ABFF9C-F72D-AA22-9F8C-A2C9DB3719F8}"/>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9</a:t>
            </a:fld>
            <a:endParaRPr spc="-5" dirty="0"/>
          </a:p>
        </p:txBody>
      </p:sp>
      <p:graphicFrame>
        <p:nvGraphicFramePr>
          <p:cNvPr id="6" name="Table 5">
            <a:extLst>
              <a:ext uri="{FF2B5EF4-FFF2-40B4-BE49-F238E27FC236}">
                <a16:creationId xmlns:a16="http://schemas.microsoft.com/office/drawing/2014/main" id="{A16C531F-00B1-201C-1227-08D14801D9B8}"/>
              </a:ext>
            </a:extLst>
          </p:cNvPr>
          <p:cNvGraphicFramePr>
            <a:graphicFrameLocks noGrp="1"/>
          </p:cNvGraphicFramePr>
          <p:nvPr>
            <p:extLst>
              <p:ext uri="{D42A27DB-BD31-4B8C-83A1-F6EECF244321}">
                <p14:modId xmlns:p14="http://schemas.microsoft.com/office/powerpoint/2010/main" val="79097829"/>
              </p:ext>
            </p:extLst>
          </p:nvPr>
        </p:nvGraphicFramePr>
        <p:xfrm>
          <a:off x="153950" y="2656654"/>
          <a:ext cx="1588512" cy="655370"/>
        </p:xfrm>
        <a:graphic>
          <a:graphicData uri="http://schemas.openxmlformats.org/drawingml/2006/table">
            <a:tbl>
              <a:tblPr firstRow="1" bandRow="1">
                <a:tableStyleId>{5C22544A-7EE6-4342-B048-85BDC9FD1C3A}</a:tableStyleId>
              </a:tblPr>
              <a:tblGrid>
                <a:gridCol w="529504">
                  <a:extLst>
                    <a:ext uri="{9D8B030D-6E8A-4147-A177-3AD203B41FA5}">
                      <a16:colId xmlns:a16="http://schemas.microsoft.com/office/drawing/2014/main" val="1909541948"/>
                    </a:ext>
                  </a:extLst>
                </a:gridCol>
                <a:gridCol w="529504">
                  <a:extLst>
                    <a:ext uri="{9D8B030D-6E8A-4147-A177-3AD203B41FA5}">
                      <a16:colId xmlns:a16="http://schemas.microsoft.com/office/drawing/2014/main" val="1346451758"/>
                    </a:ext>
                  </a:extLst>
                </a:gridCol>
                <a:gridCol w="529504">
                  <a:extLst>
                    <a:ext uri="{9D8B030D-6E8A-4147-A177-3AD203B41FA5}">
                      <a16:colId xmlns:a16="http://schemas.microsoft.com/office/drawing/2014/main" val="3797898025"/>
                    </a:ext>
                  </a:extLst>
                </a:gridCol>
              </a:tblGrid>
              <a:tr h="327685">
                <a:tc>
                  <a:txBody>
                    <a:bodyPr/>
                    <a:lstStyle/>
                    <a:p>
                      <a:r>
                        <a:rPr lang="en-US" sz="1100" dirty="0"/>
                        <a:t>2021</a:t>
                      </a:r>
                    </a:p>
                  </a:txBody>
                  <a:tcPr/>
                </a:tc>
                <a:tc>
                  <a:txBody>
                    <a:bodyPr/>
                    <a:lstStyle/>
                    <a:p>
                      <a:r>
                        <a:rPr lang="en-US" sz="1100" dirty="0"/>
                        <a:t>2022</a:t>
                      </a:r>
                    </a:p>
                  </a:txBody>
                  <a:tcPr/>
                </a:tc>
                <a:tc>
                  <a:txBody>
                    <a:bodyPr/>
                    <a:lstStyle/>
                    <a:p>
                      <a:r>
                        <a:rPr lang="en-US" sz="1100" dirty="0"/>
                        <a:t>2023</a:t>
                      </a:r>
                    </a:p>
                  </a:txBody>
                  <a:tcPr/>
                </a:tc>
                <a:extLst>
                  <a:ext uri="{0D108BD9-81ED-4DB2-BD59-A6C34878D82A}">
                    <a16:rowId xmlns:a16="http://schemas.microsoft.com/office/drawing/2014/main" val="1656976501"/>
                  </a:ext>
                </a:extLst>
              </a:tr>
              <a:tr h="327685">
                <a:tc>
                  <a:txBody>
                    <a:bodyPr/>
                    <a:lstStyle/>
                    <a:p>
                      <a:r>
                        <a:rPr lang="en-US" sz="1100" dirty="0"/>
                        <a:t>20%</a:t>
                      </a:r>
                    </a:p>
                  </a:txBody>
                  <a:tcPr/>
                </a:tc>
                <a:tc>
                  <a:txBody>
                    <a:bodyPr/>
                    <a:lstStyle/>
                    <a:p>
                      <a:r>
                        <a:rPr lang="en-US" sz="1100" dirty="0"/>
                        <a:t>67%</a:t>
                      </a:r>
                    </a:p>
                  </a:txBody>
                  <a:tcPr/>
                </a:tc>
                <a:tc>
                  <a:txBody>
                    <a:bodyPr/>
                    <a:lstStyle/>
                    <a:p>
                      <a:r>
                        <a:rPr lang="en-US" sz="1100" dirty="0"/>
                        <a:t>123%</a:t>
                      </a:r>
                    </a:p>
                  </a:txBody>
                  <a:tcPr/>
                </a:tc>
                <a:extLst>
                  <a:ext uri="{0D108BD9-81ED-4DB2-BD59-A6C34878D82A}">
                    <a16:rowId xmlns:a16="http://schemas.microsoft.com/office/drawing/2014/main" val="1726925200"/>
                  </a:ext>
                </a:extLst>
              </a:tr>
            </a:tbl>
          </a:graphicData>
        </a:graphic>
      </p:graphicFrame>
    </p:spTree>
    <p:extLst>
      <p:ext uri="{BB962C8B-B14F-4D97-AF65-F5344CB8AC3E}">
        <p14:creationId xmlns:p14="http://schemas.microsoft.com/office/powerpoint/2010/main" val="3151539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2094D-6045-844B-7737-791CCE37E25D}"/>
              </a:ext>
            </a:extLst>
          </p:cNvPr>
          <p:cNvSpPr>
            <a:spLocks noGrp="1"/>
          </p:cNvSpPr>
          <p:nvPr>
            <p:ph type="title"/>
          </p:nvPr>
        </p:nvSpPr>
        <p:spPr>
          <a:xfrm>
            <a:off x="111916" y="136672"/>
            <a:ext cx="4357623" cy="646331"/>
          </a:xfrm>
        </p:spPr>
        <p:txBody>
          <a:bodyPr/>
          <a:lstStyle/>
          <a:p>
            <a:r>
              <a:rPr lang="en-US" dirty="0"/>
              <a:t>If you were in the healthy foods space, you might consider the following…</a:t>
            </a:r>
          </a:p>
        </p:txBody>
      </p:sp>
      <p:sp>
        <p:nvSpPr>
          <p:cNvPr id="5" name="Slide Number Placeholder 4">
            <a:extLst>
              <a:ext uri="{FF2B5EF4-FFF2-40B4-BE49-F238E27FC236}">
                <a16:creationId xmlns:a16="http://schemas.microsoft.com/office/drawing/2014/main" id="{A4111636-0592-C6F0-B41F-0090300ADE2C}"/>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10</a:t>
            </a:fld>
            <a:endParaRPr spc="-5" dirty="0"/>
          </a:p>
        </p:txBody>
      </p:sp>
      <p:graphicFrame>
        <p:nvGraphicFramePr>
          <p:cNvPr id="6" name="Table 5">
            <a:extLst>
              <a:ext uri="{FF2B5EF4-FFF2-40B4-BE49-F238E27FC236}">
                <a16:creationId xmlns:a16="http://schemas.microsoft.com/office/drawing/2014/main" id="{01993A77-4672-94E6-DC59-2DD6DB6D83EB}"/>
              </a:ext>
            </a:extLst>
          </p:cNvPr>
          <p:cNvGraphicFramePr>
            <a:graphicFrameLocks noGrp="1"/>
          </p:cNvGraphicFramePr>
          <p:nvPr>
            <p:extLst>
              <p:ext uri="{D42A27DB-BD31-4B8C-83A1-F6EECF244321}">
                <p14:modId xmlns:p14="http://schemas.microsoft.com/office/powerpoint/2010/main" val="1973626507"/>
              </p:ext>
            </p:extLst>
          </p:nvPr>
        </p:nvGraphicFramePr>
        <p:xfrm>
          <a:off x="2385" y="631104"/>
          <a:ext cx="4495799" cy="2798951"/>
        </p:xfrm>
        <a:graphic>
          <a:graphicData uri="http://schemas.openxmlformats.org/drawingml/2006/table">
            <a:tbl>
              <a:tblPr firstRow="1" bandRow="1">
                <a:tableStyleId>{073A0DAA-6AF3-43AB-8588-CEC1D06C72B9}</a:tableStyleId>
              </a:tblPr>
              <a:tblGrid>
                <a:gridCol w="1013179">
                  <a:extLst>
                    <a:ext uri="{9D8B030D-6E8A-4147-A177-3AD203B41FA5}">
                      <a16:colId xmlns:a16="http://schemas.microsoft.com/office/drawing/2014/main" val="1578304726"/>
                    </a:ext>
                  </a:extLst>
                </a:gridCol>
                <a:gridCol w="733126">
                  <a:extLst>
                    <a:ext uri="{9D8B030D-6E8A-4147-A177-3AD203B41FA5}">
                      <a16:colId xmlns:a16="http://schemas.microsoft.com/office/drawing/2014/main" val="4184643383"/>
                    </a:ext>
                  </a:extLst>
                </a:gridCol>
                <a:gridCol w="692095">
                  <a:extLst>
                    <a:ext uri="{9D8B030D-6E8A-4147-A177-3AD203B41FA5}">
                      <a16:colId xmlns:a16="http://schemas.microsoft.com/office/drawing/2014/main" val="1584302611"/>
                    </a:ext>
                  </a:extLst>
                </a:gridCol>
                <a:gridCol w="752941">
                  <a:extLst>
                    <a:ext uri="{9D8B030D-6E8A-4147-A177-3AD203B41FA5}">
                      <a16:colId xmlns:a16="http://schemas.microsoft.com/office/drawing/2014/main" val="3919283356"/>
                    </a:ext>
                  </a:extLst>
                </a:gridCol>
                <a:gridCol w="685800">
                  <a:extLst>
                    <a:ext uri="{9D8B030D-6E8A-4147-A177-3AD203B41FA5}">
                      <a16:colId xmlns:a16="http://schemas.microsoft.com/office/drawing/2014/main" val="3115481605"/>
                    </a:ext>
                  </a:extLst>
                </a:gridCol>
                <a:gridCol w="618658">
                  <a:extLst>
                    <a:ext uri="{9D8B030D-6E8A-4147-A177-3AD203B41FA5}">
                      <a16:colId xmlns:a16="http://schemas.microsoft.com/office/drawing/2014/main" val="3071776567"/>
                    </a:ext>
                  </a:extLst>
                </a:gridCol>
              </a:tblGrid>
              <a:tr h="757928">
                <a:tc>
                  <a:txBody>
                    <a:bodyPr/>
                    <a:lstStyle/>
                    <a:p>
                      <a:pPr algn="ctr"/>
                      <a:r>
                        <a:rPr lang="en-US" sz="1100" dirty="0" err="1">
                          <a:solidFill>
                            <a:srgbClr val="FFFF00"/>
                          </a:solidFill>
                        </a:rPr>
                        <a:t>Comparables</a:t>
                      </a:r>
                      <a:endParaRPr lang="en-US" sz="1100" dirty="0">
                        <a:solidFill>
                          <a:srgbClr val="FFFF00"/>
                        </a:solidFill>
                      </a:endParaRPr>
                    </a:p>
                  </a:txBody>
                  <a:tcPr anchor="ctr"/>
                </a:tc>
                <a:tc>
                  <a:txBody>
                    <a:bodyPr/>
                    <a:lstStyle/>
                    <a:p>
                      <a:pPr algn="ctr"/>
                      <a:r>
                        <a:rPr lang="en-US" sz="1100" dirty="0"/>
                        <a:t>EBITDA</a:t>
                      </a:r>
                    </a:p>
                  </a:txBody>
                  <a:tcPr anchor="ctr"/>
                </a:tc>
                <a:tc>
                  <a:txBody>
                    <a:bodyPr/>
                    <a:lstStyle/>
                    <a:p>
                      <a:pPr algn="ctr"/>
                      <a:r>
                        <a:rPr lang="en-US" sz="1100" dirty="0"/>
                        <a:t>Multiple</a:t>
                      </a:r>
                    </a:p>
                  </a:txBody>
                  <a:tcPr anchor="ctr"/>
                </a:tc>
                <a:tc>
                  <a:txBody>
                    <a:bodyPr/>
                    <a:lstStyle/>
                    <a:p>
                      <a:pPr algn="ctr"/>
                      <a:r>
                        <a:rPr lang="en-US" sz="1100" dirty="0"/>
                        <a:t>Implied Valuation</a:t>
                      </a:r>
                    </a:p>
                  </a:txBody>
                  <a:tcPr anchor="ctr"/>
                </a:tc>
                <a:tc>
                  <a:txBody>
                    <a:bodyPr/>
                    <a:lstStyle/>
                    <a:p>
                      <a:pPr algn="ctr"/>
                      <a:r>
                        <a:rPr lang="en-US" sz="1100" dirty="0"/>
                        <a:t>Bought by</a:t>
                      </a:r>
                    </a:p>
                  </a:txBody>
                  <a:tcPr anchor="ctr"/>
                </a:tc>
                <a:tc>
                  <a:txBody>
                    <a:bodyPr/>
                    <a:lstStyle/>
                    <a:p>
                      <a:pPr algn="ctr"/>
                      <a:r>
                        <a:rPr lang="en-US" sz="1050" b="1" dirty="0"/>
                        <a:t>WHEN</a:t>
                      </a:r>
                    </a:p>
                  </a:txBody>
                  <a:tcPr anchor="ctr"/>
                </a:tc>
                <a:extLst>
                  <a:ext uri="{0D108BD9-81ED-4DB2-BD59-A6C34878D82A}">
                    <a16:rowId xmlns:a16="http://schemas.microsoft.com/office/drawing/2014/main" val="753366240"/>
                  </a:ext>
                </a:extLst>
              </a:tr>
              <a:tr h="425904">
                <a:tc>
                  <a:txBody>
                    <a:bodyPr/>
                    <a:lstStyle/>
                    <a:p>
                      <a:pPr algn="l"/>
                      <a:r>
                        <a:rPr lang="en-US" sz="1100" dirty="0"/>
                        <a:t>Organic Nut Butter</a:t>
                      </a:r>
                    </a:p>
                  </a:txBody>
                  <a:tcPr anchor="ctr"/>
                </a:tc>
                <a:tc>
                  <a:txBody>
                    <a:bodyPr/>
                    <a:lstStyle/>
                    <a:p>
                      <a:r>
                        <a:rPr lang="en-US" sz="1050" dirty="0"/>
                        <a:t>$230M</a:t>
                      </a:r>
                    </a:p>
                  </a:txBody>
                  <a:tcPr anchor="ctr"/>
                </a:tc>
                <a:tc>
                  <a:txBody>
                    <a:bodyPr/>
                    <a:lstStyle/>
                    <a:p>
                      <a:r>
                        <a:rPr lang="en-US" sz="1100" dirty="0"/>
                        <a:t>3X</a:t>
                      </a:r>
                    </a:p>
                  </a:txBody>
                  <a:tcPr anchor="ctr"/>
                </a:tc>
                <a:tc>
                  <a:txBody>
                    <a:bodyPr/>
                    <a:lstStyle/>
                    <a:p>
                      <a:endParaRPr lang="en-US" sz="1100" dirty="0"/>
                    </a:p>
                  </a:txBody>
                  <a:tcPr anchor="ctr"/>
                </a:tc>
                <a:tc>
                  <a:txBody>
                    <a:bodyPr/>
                    <a:lstStyle/>
                    <a:p>
                      <a:r>
                        <a:rPr lang="en-US" sz="1000" dirty="0"/>
                        <a:t>PE</a:t>
                      </a:r>
                    </a:p>
                  </a:txBody>
                  <a:tcPr anchor="ctr"/>
                </a:tc>
                <a:tc>
                  <a:txBody>
                    <a:bodyPr/>
                    <a:lstStyle/>
                    <a:p>
                      <a:r>
                        <a:rPr lang="en-US" sz="1100" dirty="0"/>
                        <a:t>2019</a:t>
                      </a:r>
                    </a:p>
                  </a:txBody>
                  <a:tcPr anchor="ctr"/>
                </a:tc>
                <a:extLst>
                  <a:ext uri="{0D108BD9-81ED-4DB2-BD59-A6C34878D82A}">
                    <a16:rowId xmlns:a16="http://schemas.microsoft.com/office/drawing/2014/main" val="2998051512"/>
                  </a:ext>
                </a:extLst>
              </a:tr>
              <a:tr h="593223">
                <a:tc>
                  <a:txBody>
                    <a:bodyPr/>
                    <a:lstStyle/>
                    <a:p>
                      <a:pPr algn="l"/>
                      <a:r>
                        <a:rPr lang="en-US" sz="1100" dirty="0"/>
                        <a:t>No Refined Sugar Chocolate</a:t>
                      </a:r>
                    </a:p>
                  </a:txBody>
                  <a:tcPr anchor="ctr"/>
                </a:tc>
                <a:tc>
                  <a:txBody>
                    <a:bodyPr/>
                    <a:lstStyle/>
                    <a:p>
                      <a:r>
                        <a:rPr lang="en-US" sz="1100" dirty="0"/>
                        <a:t>$20M</a:t>
                      </a:r>
                    </a:p>
                  </a:txBody>
                  <a:tcPr anchor="ctr"/>
                </a:tc>
                <a:tc>
                  <a:txBody>
                    <a:bodyPr/>
                    <a:lstStyle/>
                    <a:p>
                      <a:r>
                        <a:rPr lang="en-US" sz="1100" dirty="0"/>
                        <a:t>5X</a:t>
                      </a:r>
                    </a:p>
                  </a:txBody>
                  <a:tcPr anchor="ctr"/>
                </a:tc>
                <a:tc>
                  <a:txBody>
                    <a:bodyPr/>
                    <a:lstStyle/>
                    <a:p>
                      <a:endParaRPr lang="en-US" sz="1100" dirty="0"/>
                    </a:p>
                  </a:txBody>
                  <a:tcPr anchor="ctr"/>
                </a:tc>
                <a:tc>
                  <a:txBody>
                    <a:bodyPr/>
                    <a:lstStyle/>
                    <a:p>
                      <a:r>
                        <a:rPr lang="en-US" sz="1000" dirty="0"/>
                        <a:t>Public </a:t>
                      </a:r>
                      <a:r>
                        <a:rPr lang="en-US" sz="1000" dirty="0" err="1"/>
                        <a:t>CompanyCPG</a:t>
                      </a:r>
                      <a:endParaRPr lang="en-US" sz="1000" dirty="0"/>
                    </a:p>
                  </a:txBody>
                  <a:tcPr anchor="ctr"/>
                </a:tc>
                <a:tc>
                  <a:txBody>
                    <a:bodyPr/>
                    <a:lstStyle/>
                    <a:p>
                      <a:r>
                        <a:rPr lang="en-US" sz="1100" dirty="0"/>
                        <a:t>2021</a:t>
                      </a:r>
                    </a:p>
                  </a:txBody>
                  <a:tcPr anchor="ctr"/>
                </a:tc>
                <a:extLst>
                  <a:ext uri="{0D108BD9-81ED-4DB2-BD59-A6C34878D82A}">
                    <a16:rowId xmlns:a16="http://schemas.microsoft.com/office/drawing/2014/main" val="164693455"/>
                  </a:ext>
                </a:extLst>
              </a:tr>
              <a:tr h="425904">
                <a:tc>
                  <a:txBody>
                    <a:bodyPr/>
                    <a:lstStyle/>
                    <a:p>
                      <a:pPr algn="l"/>
                      <a:r>
                        <a:rPr lang="en-US" sz="1100" dirty="0"/>
                        <a:t>Kids’ Fruit Snack</a:t>
                      </a:r>
                    </a:p>
                  </a:txBody>
                  <a:tcPr anchor="ctr"/>
                </a:tc>
                <a:tc>
                  <a:txBody>
                    <a:bodyPr/>
                    <a:lstStyle/>
                    <a:p>
                      <a:r>
                        <a:rPr lang="en-US" sz="1100" dirty="0"/>
                        <a:t>$8M</a:t>
                      </a:r>
                    </a:p>
                  </a:txBody>
                  <a:tcPr anchor="ctr"/>
                </a:tc>
                <a:tc>
                  <a:txBody>
                    <a:bodyPr/>
                    <a:lstStyle/>
                    <a:p>
                      <a:r>
                        <a:rPr lang="en-US" sz="1100" dirty="0"/>
                        <a:t>6X</a:t>
                      </a:r>
                    </a:p>
                  </a:txBody>
                  <a:tcPr anchor="ctr"/>
                </a:tc>
                <a:tc>
                  <a:txBody>
                    <a:bodyPr/>
                    <a:lstStyle/>
                    <a:p>
                      <a:endParaRPr lang="en-US" sz="1100" dirty="0"/>
                    </a:p>
                  </a:txBody>
                  <a:tcPr anchor="ctr"/>
                </a:tc>
                <a:tc>
                  <a:txBody>
                    <a:bodyPr/>
                    <a:lstStyle/>
                    <a:p>
                      <a:r>
                        <a:rPr lang="en-US" sz="1000" dirty="0"/>
                        <a:t>Disney</a:t>
                      </a:r>
                    </a:p>
                  </a:txBody>
                  <a:tcPr anchor="ctr"/>
                </a:tc>
                <a:tc>
                  <a:txBody>
                    <a:bodyPr/>
                    <a:lstStyle/>
                    <a:p>
                      <a:r>
                        <a:rPr lang="en-US" sz="1100" dirty="0"/>
                        <a:t>2020</a:t>
                      </a:r>
                    </a:p>
                  </a:txBody>
                  <a:tcPr anchor="ctr"/>
                </a:tc>
                <a:extLst>
                  <a:ext uri="{0D108BD9-81ED-4DB2-BD59-A6C34878D82A}">
                    <a16:rowId xmlns:a16="http://schemas.microsoft.com/office/drawing/2014/main" val="4076880058"/>
                  </a:ext>
                </a:extLst>
              </a:tr>
              <a:tr h="593223">
                <a:tc>
                  <a:txBody>
                    <a:bodyPr/>
                    <a:lstStyle/>
                    <a:p>
                      <a:pPr algn="l"/>
                      <a:r>
                        <a:rPr lang="en-US" sz="1100" dirty="0"/>
                        <a:t>Organic Mac &amp; Cheese</a:t>
                      </a:r>
                    </a:p>
                  </a:txBody>
                  <a:tcPr anchor="ctr"/>
                </a:tc>
                <a:tc>
                  <a:txBody>
                    <a:bodyPr/>
                    <a:lstStyle/>
                    <a:p>
                      <a:r>
                        <a:rPr lang="en-US" sz="1100" dirty="0"/>
                        <a:t>$570M</a:t>
                      </a:r>
                    </a:p>
                  </a:txBody>
                  <a:tcPr anchor="ctr"/>
                </a:tc>
                <a:tc>
                  <a:txBody>
                    <a:bodyPr/>
                    <a:lstStyle/>
                    <a:p>
                      <a:r>
                        <a:rPr lang="en-US" sz="1100" dirty="0"/>
                        <a:t>3.5X</a:t>
                      </a:r>
                    </a:p>
                  </a:txBody>
                  <a:tcPr anchor="ctr"/>
                </a:tc>
                <a:tc>
                  <a:txBody>
                    <a:bodyPr/>
                    <a:lstStyle/>
                    <a:p>
                      <a:endParaRPr lang="en-US" sz="1100" dirty="0"/>
                    </a:p>
                  </a:txBody>
                  <a:tcPr anchor="ctr"/>
                </a:tc>
                <a:tc>
                  <a:txBody>
                    <a:bodyPr/>
                    <a:lstStyle/>
                    <a:p>
                      <a:r>
                        <a:rPr lang="en-US" sz="1000" dirty="0"/>
                        <a:t>Public Company CPG</a:t>
                      </a:r>
                    </a:p>
                  </a:txBody>
                  <a:tcPr anchor="ctr"/>
                </a:tc>
                <a:tc>
                  <a:txBody>
                    <a:bodyPr/>
                    <a:lstStyle/>
                    <a:p>
                      <a:r>
                        <a:rPr lang="en-US" sz="1100" dirty="0"/>
                        <a:t>2022</a:t>
                      </a:r>
                    </a:p>
                  </a:txBody>
                  <a:tcPr anchor="ctr"/>
                </a:tc>
                <a:extLst>
                  <a:ext uri="{0D108BD9-81ED-4DB2-BD59-A6C34878D82A}">
                    <a16:rowId xmlns:a16="http://schemas.microsoft.com/office/drawing/2014/main" val="272163622"/>
                  </a:ext>
                </a:extLst>
              </a:tr>
            </a:tbl>
          </a:graphicData>
        </a:graphic>
      </p:graphicFrame>
    </p:spTree>
    <p:extLst>
      <p:ext uri="{BB962C8B-B14F-4D97-AF65-F5344CB8AC3E}">
        <p14:creationId xmlns:p14="http://schemas.microsoft.com/office/powerpoint/2010/main" val="2320407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DEAB7-C90C-122D-35D4-6314037507DD}"/>
              </a:ext>
            </a:extLst>
          </p:cNvPr>
          <p:cNvSpPr>
            <a:spLocks noGrp="1"/>
          </p:cNvSpPr>
          <p:nvPr>
            <p:ph type="title"/>
          </p:nvPr>
        </p:nvSpPr>
        <p:spPr>
          <a:xfrm>
            <a:off x="726439" y="190295"/>
            <a:ext cx="3153410" cy="430887"/>
          </a:xfrm>
        </p:spPr>
        <p:txBody>
          <a:bodyPr/>
          <a:lstStyle/>
          <a:p>
            <a:r>
              <a:rPr lang="en-US" dirty="0"/>
              <a:t>Based on the table in Slide 10, where do you put your valuation? Why?</a:t>
            </a:r>
          </a:p>
        </p:txBody>
      </p:sp>
      <p:sp>
        <p:nvSpPr>
          <p:cNvPr id="3" name="Text Placeholder 2">
            <a:extLst>
              <a:ext uri="{FF2B5EF4-FFF2-40B4-BE49-F238E27FC236}">
                <a16:creationId xmlns:a16="http://schemas.microsoft.com/office/drawing/2014/main" id="{52E6C293-62A9-ED3C-FE85-D053CDA27B1F}"/>
              </a:ext>
            </a:extLst>
          </p:cNvPr>
          <p:cNvSpPr>
            <a:spLocks noGrp="1"/>
          </p:cNvSpPr>
          <p:nvPr>
            <p:ph type="body" idx="1"/>
          </p:nvPr>
        </p:nvSpPr>
        <p:spPr>
          <a:xfrm>
            <a:off x="124332" y="739775"/>
            <a:ext cx="4357623" cy="846386"/>
          </a:xfrm>
        </p:spPr>
        <p:txBody>
          <a:bodyPr/>
          <a:lstStyle/>
          <a:p>
            <a:r>
              <a:rPr lang="en-US" dirty="0"/>
              <a:t>Discuss with your neighbors for ~ 5 minutes then let’s report out using terms from “the buckets”</a:t>
            </a:r>
          </a:p>
          <a:p>
            <a:endParaRPr lang="en-US" dirty="0"/>
          </a:p>
          <a:p>
            <a:r>
              <a:rPr lang="en-US" sz="1100" b="0" i="1" dirty="0"/>
              <a:t>please see spreadsheet ESBM4570_3.1.xlsx</a:t>
            </a:r>
          </a:p>
          <a:p>
            <a:r>
              <a:rPr lang="en-US" i="1" dirty="0"/>
              <a:t>Use the Comps tab</a:t>
            </a:r>
            <a:endParaRPr lang="en-US" dirty="0"/>
          </a:p>
        </p:txBody>
      </p:sp>
      <p:sp>
        <p:nvSpPr>
          <p:cNvPr id="5" name="Slide Number Placeholder 4">
            <a:extLst>
              <a:ext uri="{FF2B5EF4-FFF2-40B4-BE49-F238E27FC236}">
                <a16:creationId xmlns:a16="http://schemas.microsoft.com/office/drawing/2014/main" id="{9AED97D9-64BD-E832-D9FD-A642CFB755A1}"/>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11</a:t>
            </a:fld>
            <a:endParaRPr spc="-5" dirty="0"/>
          </a:p>
        </p:txBody>
      </p:sp>
    </p:spTree>
    <p:extLst>
      <p:ext uri="{BB962C8B-B14F-4D97-AF65-F5344CB8AC3E}">
        <p14:creationId xmlns:p14="http://schemas.microsoft.com/office/powerpoint/2010/main" val="357391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66633-9F6C-4036-97F8-73C44F39501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F5BC6AE-8376-46ED-0F8F-BEA3CFA31B5E}"/>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AA4C1741-6AF8-64B7-DF49-C8BB2555484F}"/>
              </a:ext>
            </a:extLst>
          </p:cNvPr>
          <p:cNvSpPr>
            <a:spLocks noGrp="1"/>
          </p:cNvSpPr>
          <p:nvPr>
            <p:ph type="ftr" sz="quarter" idx="5"/>
          </p:nvPr>
        </p:nvSpPr>
        <p:spPr/>
        <p:txBody>
          <a:bodyPr/>
          <a:lstStyle/>
          <a:p>
            <a:pPr marL="12700">
              <a:lnSpc>
                <a:spcPts val="685"/>
              </a:lnSpc>
            </a:pPr>
            <a:r>
              <a:rPr lang="en-US" spc="-10" dirty="0"/>
              <a:t>ESBM4570</a:t>
            </a:r>
            <a:endParaRPr lang="en-US" spc="-5" dirty="0"/>
          </a:p>
        </p:txBody>
      </p:sp>
      <p:sp>
        <p:nvSpPr>
          <p:cNvPr id="5" name="Slide Number Placeholder 4">
            <a:extLst>
              <a:ext uri="{FF2B5EF4-FFF2-40B4-BE49-F238E27FC236}">
                <a16:creationId xmlns:a16="http://schemas.microsoft.com/office/drawing/2014/main" id="{D593289E-A83B-DF1C-482A-8AF85AB1B53D}"/>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12</a:t>
            </a:fld>
            <a:endParaRPr spc="-5" dirty="0"/>
          </a:p>
        </p:txBody>
      </p:sp>
      <p:pic>
        <p:nvPicPr>
          <p:cNvPr id="7" name="Picture 6" descr="A screenshot of a white sheet with numbers and text&#10;&#10;Description automatically generated">
            <a:extLst>
              <a:ext uri="{FF2B5EF4-FFF2-40B4-BE49-F238E27FC236}">
                <a16:creationId xmlns:a16="http://schemas.microsoft.com/office/drawing/2014/main" id="{E97517F6-7FC6-7737-3D8D-B2F885FDC615}"/>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7628" y="241272"/>
            <a:ext cx="4610100" cy="2978206"/>
          </a:xfrm>
          <a:prstGeom prst="rect">
            <a:avLst/>
          </a:prstGeom>
        </p:spPr>
      </p:pic>
      <p:sp>
        <p:nvSpPr>
          <p:cNvPr id="8" name="Rectangle 7">
            <a:extLst>
              <a:ext uri="{FF2B5EF4-FFF2-40B4-BE49-F238E27FC236}">
                <a16:creationId xmlns:a16="http://schemas.microsoft.com/office/drawing/2014/main" id="{4960C607-8890-CF84-FD75-52FC77000BA1}"/>
              </a:ext>
            </a:extLst>
          </p:cNvPr>
          <p:cNvSpPr/>
          <p:nvPr/>
        </p:nvSpPr>
        <p:spPr>
          <a:xfrm>
            <a:off x="0" y="206375"/>
            <a:ext cx="4610100" cy="228395"/>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13EC890-1FD8-E60B-C183-FD6D131E37A2}"/>
              </a:ext>
            </a:extLst>
          </p:cNvPr>
          <p:cNvSpPr/>
          <p:nvPr/>
        </p:nvSpPr>
        <p:spPr>
          <a:xfrm>
            <a:off x="4286250" y="434770"/>
            <a:ext cx="323850" cy="137504"/>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03228DC-D701-2BDD-CE10-B25A5476BB29}"/>
              </a:ext>
            </a:extLst>
          </p:cNvPr>
          <p:cNvSpPr/>
          <p:nvPr/>
        </p:nvSpPr>
        <p:spPr>
          <a:xfrm>
            <a:off x="3933824" y="428560"/>
            <a:ext cx="323850" cy="137504"/>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F851363-01AA-77F8-8190-1B216DE8D82F}"/>
              </a:ext>
            </a:extLst>
          </p:cNvPr>
          <p:cNvSpPr txBox="1"/>
          <p:nvPr/>
        </p:nvSpPr>
        <p:spPr>
          <a:xfrm>
            <a:off x="3510466" y="145298"/>
            <a:ext cx="298451" cy="369332"/>
          </a:xfrm>
          <a:prstGeom prst="rect">
            <a:avLst/>
          </a:prstGeom>
          <a:noFill/>
        </p:spPr>
        <p:txBody>
          <a:bodyPr wrap="square" rtlCol="0">
            <a:spAutoFit/>
          </a:bodyPr>
          <a:lstStyle/>
          <a:p>
            <a:r>
              <a:rPr lang="en-US" dirty="0">
                <a:solidFill>
                  <a:schemeClr val="accent2"/>
                </a:solidFill>
              </a:rPr>
              <a:t>X</a:t>
            </a:r>
          </a:p>
        </p:txBody>
      </p:sp>
      <p:sp>
        <p:nvSpPr>
          <p:cNvPr id="12" name="Rectangle 11">
            <a:extLst>
              <a:ext uri="{FF2B5EF4-FFF2-40B4-BE49-F238E27FC236}">
                <a16:creationId xmlns:a16="http://schemas.microsoft.com/office/drawing/2014/main" id="{6F0EF405-8898-D73F-D0E4-FD046521CE56}"/>
              </a:ext>
            </a:extLst>
          </p:cNvPr>
          <p:cNvSpPr/>
          <p:nvPr/>
        </p:nvSpPr>
        <p:spPr>
          <a:xfrm>
            <a:off x="-20756" y="2049866"/>
            <a:ext cx="4610100" cy="137504"/>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9791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6C0FA-BE53-B894-1D2F-C29990261484}"/>
              </a:ext>
            </a:extLst>
          </p:cNvPr>
          <p:cNvSpPr>
            <a:spLocks noGrp="1"/>
          </p:cNvSpPr>
          <p:nvPr>
            <p:ph type="title"/>
          </p:nvPr>
        </p:nvSpPr>
        <p:spPr>
          <a:xfrm>
            <a:off x="126238" y="240265"/>
            <a:ext cx="3636011" cy="377026"/>
          </a:xfrm>
        </p:spPr>
        <p:txBody>
          <a:bodyPr/>
          <a:lstStyle/>
          <a:p>
            <a:r>
              <a:rPr lang="en-US" dirty="0"/>
              <a:t>Decision and Next Steps: the Scorecard</a:t>
            </a:r>
            <a:br>
              <a:rPr lang="en-US" dirty="0"/>
            </a:br>
            <a:r>
              <a:rPr lang="en-US" sz="1050" b="0" i="1" dirty="0"/>
              <a:t>please see spreadsheet ESBM4570_3.1.xlsx</a:t>
            </a:r>
            <a:endParaRPr lang="en-US" sz="1050" dirty="0"/>
          </a:p>
        </p:txBody>
      </p:sp>
      <p:sp>
        <p:nvSpPr>
          <p:cNvPr id="3" name="Text Placeholder 2">
            <a:extLst>
              <a:ext uri="{FF2B5EF4-FFF2-40B4-BE49-F238E27FC236}">
                <a16:creationId xmlns:a16="http://schemas.microsoft.com/office/drawing/2014/main" id="{6A8FA507-7510-6A47-2BED-0B0BF97B0CC8}"/>
              </a:ext>
            </a:extLst>
          </p:cNvPr>
          <p:cNvSpPr>
            <a:spLocks noGrp="1"/>
          </p:cNvSpPr>
          <p:nvPr>
            <p:ph type="body" idx="1"/>
          </p:nvPr>
        </p:nvSpPr>
        <p:spPr>
          <a:xfrm>
            <a:off x="126238" y="572274"/>
            <a:ext cx="4357623" cy="2877711"/>
          </a:xfrm>
        </p:spPr>
        <p:txBody>
          <a:bodyPr/>
          <a:lstStyle/>
          <a:p>
            <a:pPr marL="228600" indent="-228600">
              <a:buFont typeface="+mj-lt"/>
              <a:buAutoNum type="arabicParenR"/>
            </a:pPr>
            <a:r>
              <a:rPr lang="en-US" dirty="0"/>
              <a:t>What are the key value drivers, and in which buckets do they Fall.</a:t>
            </a:r>
          </a:p>
          <a:p>
            <a:pPr marL="228600" indent="-228600">
              <a:buFont typeface="+mj-lt"/>
              <a:buAutoNum type="arabicParenR"/>
            </a:pPr>
            <a:r>
              <a:rPr lang="en-US" dirty="0"/>
              <a:t>Validate for yourself: these categories and buckets represent my valuation criteria OR these categories and buckets represent my understanding of the investor’s valuation criteria</a:t>
            </a:r>
          </a:p>
          <a:p>
            <a:pPr marL="228600" indent="-228600">
              <a:buFont typeface="+mj-lt"/>
              <a:buAutoNum type="arabicParenR"/>
            </a:pPr>
            <a:r>
              <a:rPr lang="en-US" dirty="0"/>
              <a:t>Under WEIGHT, assign the % of the deal value that each factor drives.  </a:t>
            </a:r>
            <a:r>
              <a:rPr lang="en-US" b="1" dirty="0"/>
              <a:t>The WEIGHTS must some to 1.</a:t>
            </a:r>
          </a:p>
          <a:p>
            <a:r>
              <a:rPr lang="en-US" b="1" dirty="0"/>
              <a:t>CAVEAT… this is where you check that you don’t have too many categories – you want your categories to MEANINGFUL in their contribution to value</a:t>
            </a:r>
            <a:endParaRPr lang="en-US" dirty="0"/>
          </a:p>
          <a:p>
            <a:pPr marL="228600" indent="-228600">
              <a:buFont typeface="+mj-lt"/>
              <a:buAutoNum type="arabicParenR" startAt="4"/>
            </a:pPr>
            <a:r>
              <a:rPr lang="en-US" dirty="0"/>
              <a:t>Ranking is tricky.  This is where you compare THIS deal to your comps and/or other deals.  If you rank your company as 1, that means that your company is just like other companies on this criterion.  If you rank your company as .5, your company is ½ as good as other companies.</a:t>
            </a:r>
          </a:p>
          <a:p>
            <a:pPr marL="228600" indent="-228600">
              <a:buFont typeface="+mj-lt"/>
              <a:buAutoNum type="arabicParenR" startAt="4"/>
            </a:pPr>
            <a:r>
              <a:rPr lang="en-US" dirty="0"/>
              <a:t>Multiply WEIGHT*Ranking to get VALUE. For </a:t>
            </a:r>
            <a:r>
              <a:rPr lang="en-US" dirty="0" err="1"/>
              <a:t>example,if</a:t>
            </a:r>
            <a:r>
              <a:rPr lang="en-US" dirty="0"/>
              <a:t> a category has a weight of 5% toward deal success, and you are just like other companies, the value of this criterion is really small</a:t>
            </a:r>
          </a:p>
        </p:txBody>
      </p:sp>
      <p:sp>
        <p:nvSpPr>
          <p:cNvPr id="5" name="Slide Number Placeholder 4">
            <a:extLst>
              <a:ext uri="{FF2B5EF4-FFF2-40B4-BE49-F238E27FC236}">
                <a16:creationId xmlns:a16="http://schemas.microsoft.com/office/drawing/2014/main" id="{7ED9E7E2-846C-5026-3C1B-3FFCBDE20D38}"/>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13</a:t>
            </a:fld>
            <a:endParaRPr spc="-5" dirty="0"/>
          </a:p>
        </p:txBody>
      </p:sp>
    </p:spTree>
    <p:extLst>
      <p:ext uri="{BB962C8B-B14F-4D97-AF65-F5344CB8AC3E}">
        <p14:creationId xmlns:p14="http://schemas.microsoft.com/office/powerpoint/2010/main" val="1257968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752C0-6810-6D9F-2704-F8517F1149C2}"/>
              </a:ext>
            </a:extLst>
          </p:cNvPr>
          <p:cNvSpPr>
            <a:spLocks noGrp="1"/>
          </p:cNvSpPr>
          <p:nvPr>
            <p:ph type="title"/>
          </p:nvPr>
        </p:nvSpPr>
        <p:spPr>
          <a:xfrm>
            <a:off x="726439" y="190295"/>
            <a:ext cx="3153410" cy="215444"/>
          </a:xfrm>
        </p:spPr>
        <p:txBody>
          <a:bodyPr/>
          <a:lstStyle/>
          <a:p>
            <a:r>
              <a:rPr lang="en-US" dirty="0"/>
              <a:t>Doing It</a:t>
            </a:r>
          </a:p>
        </p:txBody>
      </p:sp>
      <p:sp>
        <p:nvSpPr>
          <p:cNvPr id="3" name="Text Placeholder 2">
            <a:extLst>
              <a:ext uri="{FF2B5EF4-FFF2-40B4-BE49-F238E27FC236}">
                <a16:creationId xmlns:a16="http://schemas.microsoft.com/office/drawing/2014/main" id="{5A383608-BD51-7D4F-1FD4-C4564DC6B224}"/>
              </a:ext>
            </a:extLst>
          </p:cNvPr>
          <p:cNvSpPr>
            <a:spLocks noGrp="1"/>
          </p:cNvSpPr>
          <p:nvPr>
            <p:ph type="body" idx="1"/>
          </p:nvPr>
        </p:nvSpPr>
        <p:spPr>
          <a:xfrm>
            <a:off x="126238" y="572274"/>
            <a:ext cx="4357623" cy="2200602"/>
          </a:xfrm>
        </p:spPr>
        <p:txBody>
          <a:bodyPr/>
          <a:lstStyle/>
          <a:p>
            <a:r>
              <a:rPr lang="en-US" dirty="0"/>
              <a:t>1) For the Valuation based on Comps, use =[link to Comps page and the valuation you calculated]</a:t>
            </a:r>
          </a:p>
          <a:p>
            <a:endParaRPr lang="en-US" dirty="0"/>
          </a:p>
          <a:p>
            <a:r>
              <a:rPr lang="en-US" dirty="0"/>
              <a:t>2) Weighted Scoreboard Multiplier =sum(category values)</a:t>
            </a:r>
          </a:p>
          <a:p>
            <a:r>
              <a:rPr lang="en-US" dirty="0"/>
              <a:t>If this is &gt;1, your uniqueness in these “non financial” categories will increase your valuation.</a:t>
            </a:r>
          </a:p>
          <a:p>
            <a:r>
              <a:rPr lang="en-US" dirty="0"/>
              <a:t>If this is &lt;1, your uniqueness in these “non financial” categories will decrease your valuation</a:t>
            </a:r>
          </a:p>
          <a:p>
            <a:endParaRPr lang="en-US" dirty="0"/>
          </a:p>
          <a:p>
            <a:r>
              <a:rPr lang="en-US" dirty="0"/>
              <a:t>3) Multiple the </a:t>
            </a:r>
          </a:p>
          <a:p>
            <a:r>
              <a:rPr lang="en-US" dirty="0"/>
              <a:t>Valuation Based on Comps x Weighted Scoreboard Multiplier</a:t>
            </a:r>
          </a:p>
          <a:p>
            <a:r>
              <a:rPr lang="en-US" dirty="0"/>
              <a:t>To get </a:t>
            </a:r>
            <a:r>
              <a:rPr lang="en-US" b="1" dirty="0"/>
              <a:t>Scorecard Adjusted Valuation</a:t>
            </a:r>
            <a:endParaRPr lang="en-US" dirty="0"/>
          </a:p>
          <a:p>
            <a:endParaRPr lang="en-US" dirty="0"/>
          </a:p>
        </p:txBody>
      </p:sp>
      <p:sp>
        <p:nvSpPr>
          <p:cNvPr id="5" name="Slide Number Placeholder 4">
            <a:extLst>
              <a:ext uri="{FF2B5EF4-FFF2-40B4-BE49-F238E27FC236}">
                <a16:creationId xmlns:a16="http://schemas.microsoft.com/office/drawing/2014/main" id="{B087BB6C-5C20-F4BF-8966-236977AAF965}"/>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14</a:t>
            </a:fld>
            <a:endParaRPr spc="-5" dirty="0"/>
          </a:p>
        </p:txBody>
      </p:sp>
      <p:sp>
        <p:nvSpPr>
          <p:cNvPr id="6" name="Rectangle 5">
            <a:extLst>
              <a:ext uri="{FF2B5EF4-FFF2-40B4-BE49-F238E27FC236}">
                <a16:creationId xmlns:a16="http://schemas.microsoft.com/office/drawing/2014/main" id="{16DC3ED0-F1D5-406E-5B38-6DDA1ED717B9}"/>
              </a:ext>
            </a:extLst>
          </p:cNvPr>
          <p:cNvSpPr/>
          <p:nvPr/>
        </p:nvSpPr>
        <p:spPr>
          <a:xfrm>
            <a:off x="857250" y="2720975"/>
            <a:ext cx="2667000" cy="457200"/>
          </a:xfrm>
          <a:prstGeom prst="rect">
            <a:avLst/>
          </a:prstGeom>
          <a:solidFill>
            <a:srgbClr val="CEB6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Let’s Try It!</a:t>
            </a:r>
          </a:p>
        </p:txBody>
      </p:sp>
    </p:spTree>
    <p:extLst>
      <p:ext uri="{BB962C8B-B14F-4D97-AF65-F5344CB8AC3E}">
        <p14:creationId xmlns:p14="http://schemas.microsoft.com/office/powerpoint/2010/main" val="3226315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A2532-AD5A-C043-827B-A2865576297E}"/>
              </a:ext>
            </a:extLst>
          </p:cNvPr>
          <p:cNvSpPr>
            <a:spLocks noGrp="1"/>
          </p:cNvSpPr>
          <p:nvPr>
            <p:ph type="title"/>
          </p:nvPr>
        </p:nvSpPr>
        <p:spPr>
          <a:xfrm>
            <a:off x="726439" y="190295"/>
            <a:ext cx="3153410" cy="215444"/>
          </a:xfrm>
        </p:spPr>
        <p:txBody>
          <a:bodyPr/>
          <a:lstStyle/>
          <a:p>
            <a:r>
              <a:rPr lang="en-US" dirty="0"/>
              <a:t>Tools</a:t>
            </a:r>
          </a:p>
        </p:txBody>
      </p:sp>
      <p:sp>
        <p:nvSpPr>
          <p:cNvPr id="3" name="Text Placeholder 2">
            <a:extLst>
              <a:ext uri="{FF2B5EF4-FFF2-40B4-BE49-F238E27FC236}">
                <a16:creationId xmlns:a16="http://schemas.microsoft.com/office/drawing/2014/main" id="{14006B0E-CADA-F20F-D527-2F2B8CA6727F}"/>
              </a:ext>
            </a:extLst>
          </p:cNvPr>
          <p:cNvSpPr>
            <a:spLocks noGrp="1"/>
          </p:cNvSpPr>
          <p:nvPr>
            <p:ph type="body" idx="1"/>
          </p:nvPr>
        </p:nvSpPr>
        <p:spPr>
          <a:xfrm>
            <a:off x="126238" y="572274"/>
            <a:ext cx="4357623" cy="1862048"/>
          </a:xfrm>
        </p:spPr>
        <p:txBody>
          <a:bodyPr/>
          <a:lstStyle/>
          <a:p>
            <a:endParaRPr lang="en-US" dirty="0"/>
          </a:p>
          <a:p>
            <a:r>
              <a:rPr lang="en-US" dirty="0" err="1"/>
              <a:t>Comparables</a:t>
            </a:r>
            <a:r>
              <a:rPr lang="en-US" dirty="0"/>
              <a:t>: Who Why</a:t>
            </a:r>
          </a:p>
          <a:p>
            <a:endParaRPr lang="en-US" dirty="0"/>
          </a:p>
          <a:p>
            <a:r>
              <a:rPr lang="en-US" dirty="0"/>
              <a:t>Other Exits: How, When Did your Comps Exit</a:t>
            </a:r>
          </a:p>
          <a:p>
            <a:endParaRPr lang="en-US" dirty="0"/>
          </a:p>
          <a:p>
            <a:r>
              <a:rPr lang="en-US" dirty="0"/>
              <a:t>Multiples: What was the “multiple on” [Revenue], EBITDA</a:t>
            </a:r>
          </a:p>
          <a:p>
            <a:endParaRPr lang="en-US" dirty="0"/>
          </a:p>
          <a:p>
            <a:r>
              <a:rPr lang="en-US" dirty="0"/>
              <a:t>Scorecard: How will a investor consider Financial, Team, Market and/or additional criteria to address your valuation</a:t>
            </a:r>
          </a:p>
          <a:p>
            <a:endParaRPr lang="en-US" dirty="0"/>
          </a:p>
          <a:p>
            <a:endParaRPr lang="en-US" dirty="0"/>
          </a:p>
        </p:txBody>
      </p:sp>
      <p:sp>
        <p:nvSpPr>
          <p:cNvPr id="5" name="Slide Number Placeholder 4">
            <a:extLst>
              <a:ext uri="{FF2B5EF4-FFF2-40B4-BE49-F238E27FC236}">
                <a16:creationId xmlns:a16="http://schemas.microsoft.com/office/drawing/2014/main" id="{1EAE9D2B-C78B-F037-F501-08968779CC92}"/>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15</a:t>
            </a:fld>
            <a:endParaRPr spc="-5" dirty="0"/>
          </a:p>
        </p:txBody>
      </p:sp>
    </p:spTree>
    <p:extLst>
      <p:ext uri="{BB962C8B-B14F-4D97-AF65-F5344CB8AC3E}">
        <p14:creationId xmlns:p14="http://schemas.microsoft.com/office/powerpoint/2010/main" val="442840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15653-FCE6-7904-8483-7DAA8E18C955}"/>
              </a:ext>
            </a:extLst>
          </p:cNvPr>
          <p:cNvSpPr>
            <a:spLocks noGrp="1"/>
          </p:cNvSpPr>
          <p:nvPr>
            <p:ph type="title"/>
          </p:nvPr>
        </p:nvSpPr>
        <p:spPr>
          <a:xfrm>
            <a:off x="726439" y="190295"/>
            <a:ext cx="3153410" cy="215444"/>
          </a:xfrm>
        </p:spPr>
        <p:txBody>
          <a:bodyPr/>
          <a:lstStyle/>
          <a:p>
            <a:r>
              <a:rPr lang="en-US" dirty="0"/>
              <a:t>Wednesday</a:t>
            </a:r>
          </a:p>
        </p:txBody>
      </p:sp>
      <p:sp>
        <p:nvSpPr>
          <p:cNvPr id="3" name="Text Placeholder 2">
            <a:extLst>
              <a:ext uri="{FF2B5EF4-FFF2-40B4-BE49-F238E27FC236}">
                <a16:creationId xmlns:a16="http://schemas.microsoft.com/office/drawing/2014/main" id="{84C8AE4F-E081-EDF3-0353-9CA0F6ED766D}"/>
              </a:ext>
            </a:extLst>
          </p:cNvPr>
          <p:cNvSpPr>
            <a:spLocks noGrp="1"/>
          </p:cNvSpPr>
          <p:nvPr>
            <p:ph type="body" idx="1"/>
          </p:nvPr>
        </p:nvSpPr>
        <p:spPr>
          <a:xfrm>
            <a:off x="126238" y="572274"/>
            <a:ext cx="4357623" cy="169277"/>
          </a:xfrm>
        </p:spPr>
        <p:txBody>
          <a:bodyPr/>
          <a:lstStyle/>
          <a:p>
            <a:r>
              <a:rPr lang="en-US" dirty="0"/>
              <a:t>Introduction to Financial Statements and Ratios</a:t>
            </a:r>
          </a:p>
        </p:txBody>
      </p:sp>
      <p:sp>
        <p:nvSpPr>
          <p:cNvPr id="5" name="Slide Number Placeholder 4">
            <a:extLst>
              <a:ext uri="{FF2B5EF4-FFF2-40B4-BE49-F238E27FC236}">
                <a16:creationId xmlns:a16="http://schemas.microsoft.com/office/drawing/2014/main" id="{9F8C6E68-7C7A-137E-6312-33DE1E480389}"/>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16</a:t>
            </a:fld>
            <a:endParaRPr spc="-5" dirty="0"/>
          </a:p>
        </p:txBody>
      </p:sp>
    </p:spTree>
    <p:extLst>
      <p:ext uri="{BB962C8B-B14F-4D97-AF65-F5344CB8AC3E}">
        <p14:creationId xmlns:p14="http://schemas.microsoft.com/office/powerpoint/2010/main" val="2843499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11E74-EEEF-DC3A-0F23-B7C4024A006B}"/>
              </a:ext>
            </a:extLst>
          </p:cNvPr>
          <p:cNvSpPr>
            <a:spLocks noGrp="1"/>
          </p:cNvSpPr>
          <p:nvPr>
            <p:ph type="title"/>
          </p:nvPr>
        </p:nvSpPr>
        <p:spPr>
          <a:xfrm>
            <a:off x="726439" y="190295"/>
            <a:ext cx="3153410" cy="215444"/>
          </a:xfrm>
        </p:spPr>
        <p:txBody>
          <a:bodyPr/>
          <a:lstStyle/>
          <a:p>
            <a:r>
              <a:rPr lang="en-US" dirty="0"/>
              <a:t>Monday 9/15</a:t>
            </a:r>
          </a:p>
        </p:txBody>
      </p:sp>
      <p:sp>
        <p:nvSpPr>
          <p:cNvPr id="5" name="Slide Number Placeholder 4">
            <a:extLst>
              <a:ext uri="{FF2B5EF4-FFF2-40B4-BE49-F238E27FC236}">
                <a16:creationId xmlns:a16="http://schemas.microsoft.com/office/drawing/2014/main" id="{ECC65238-0BDC-8ACF-22A0-C5FE092DE597}"/>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17</a:t>
            </a:fld>
            <a:endParaRPr spc="-5" dirty="0"/>
          </a:p>
        </p:txBody>
      </p:sp>
      <p:sp>
        <p:nvSpPr>
          <p:cNvPr id="7" name="Text Placeholder 2">
            <a:extLst>
              <a:ext uri="{FF2B5EF4-FFF2-40B4-BE49-F238E27FC236}">
                <a16:creationId xmlns:a16="http://schemas.microsoft.com/office/drawing/2014/main" id="{EAB8EC66-B739-D707-2294-5F4BD6F215ED}"/>
              </a:ext>
            </a:extLst>
          </p:cNvPr>
          <p:cNvSpPr txBox="1">
            <a:spLocks/>
          </p:cNvSpPr>
          <p:nvPr/>
        </p:nvSpPr>
        <p:spPr>
          <a:xfrm>
            <a:off x="124332" y="829775"/>
            <a:ext cx="4357623" cy="677108"/>
          </a:xfrm>
          <a:prstGeom prst="rect">
            <a:avLst/>
          </a:prstGeom>
        </p:spPr>
        <p:txBody>
          <a:bodyPr wrap="square" lIns="0" tIns="0" rIns="0" bIns="0">
            <a:spAutoFit/>
          </a:bodyPr>
          <a:lstStyle>
            <a:lvl1pPr marL="0">
              <a:defRPr sz="1100" b="0" i="0">
                <a:solidFill>
                  <a:schemeClr val="tx1"/>
                </a:solidFill>
                <a:latin typeface="Arial"/>
                <a:ea typeface="+mn-ea"/>
                <a:cs typeface="Arial"/>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kern="0" dirty="0"/>
              <a:t>Bobs Baloney</a:t>
            </a:r>
          </a:p>
          <a:p>
            <a:r>
              <a:rPr lang="en-US" kern="0" dirty="0"/>
              <a:t>	Pre Quiz</a:t>
            </a:r>
          </a:p>
          <a:p>
            <a:r>
              <a:rPr lang="en-US" kern="0" dirty="0"/>
              <a:t>	Post Case Take Aways</a:t>
            </a:r>
          </a:p>
          <a:p>
            <a:endParaRPr lang="en-US" kern="0" dirty="0"/>
          </a:p>
        </p:txBody>
      </p:sp>
    </p:spTree>
    <p:extLst>
      <p:ext uri="{BB962C8B-B14F-4D97-AF65-F5344CB8AC3E}">
        <p14:creationId xmlns:p14="http://schemas.microsoft.com/office/powerpoint/2010/main" val="16345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A11CA-CDD7-C070-C00E-7CD810414097}"/>
              </a:ext>
            </a:extLst>
          </p:cNvPr>
          <p:cNvSpPr>
            <a:spLocks noGrp="1"/>
          </p:cNvSpPr>
          <p:nvPr>
            <p:ph type="title"/>
          </p:nvPr>
        </p:nvSpPr>
        <p:spPr>
          <a:xfrm>
            <a:off x="126238" y="206375"/>
            <a:ext cx="3153410" cy="215444"/>
          </a:xfrm>
        </p:spPr>
        <p:txBody>
          <a:bodyPr/>
          <a:lstStyle/>
          <a:p>
            <a:r>
              <a:rPr lang="en-US" dirty="0"/>
              <a:t>Side Note</a:t>
            </a:r>
          </a:p>
        </p:txBody>
      </p:sp>
      <p:sp>
        <p:nvSpPr>
          <p:cNvPr id="3" name="Text Placeholder 2">
            <a:extLst>
              <a:ext uri="{FF2B5EF4-FFF2-40B4-BE49-F238E27FC236}">
                <a16:creationId xmlns:a16="http://schemas.microsoft.com/office/drawing/2014/main" id="{C51EC6F1-1713-8071-1358-DF26CA5E2FEC}"/>
              </a:ext>
            </a:extLst>
          </p:cNvPr>
          <p:cNvSpPr>
            <a:spLocks noGrp="1"/>
          </p:cNvSpPr>
          <p:nvPr>
            <p:ph type="body" idx="1"/>
          </p:nvPr>
        </p:nvSpPr>
        <p:spPr>
          <a:xfrm>
            <a:off x="126238" y="572274"/>
            <a:ext cx="4357623" cy="2200602"/>
          </a:xfrm>
        </p:spPr>
        <p:txBody>
          <a:bodyPr/>
          <a:lstStyle/>
          <a:p>
            <a:r>
              <a:rPr lang="en-US" dirty="0"/>
              <a:t>We applied deal screening criteria to get to a Valuation.</a:t>
            </a:r>
          </a:p>
          <a:p>
            <a:r>
              <a:rPr lang="en-US" dirty="0"/>
              <a:t>There are multiple ways to approach Valuation – it is good to triangulate by using multiple approaches.</a:t>
            </a:r>
          </a:p>
          <a:p>
            <a:endParaRPr lang="en-US" dirty="0"/>
          </a:p>
          <a:p>
            <a:r>
              <a:rPr lang="en-US" dirty="0"/>
              <a:t>Ultimately, you will negotiate a Valuation</a:t>
            </a:r>
          </a:p>
          <a:p>
            <a:endParaRPr lang="en-US" dirty="0"/>
          </a:p>
          <a:p>
            <a:r>
              <a:rPr lang="en-US" dirty="0"/>
              <a:t>Valuation determines </a:t>
            </a:r>
          </a:p>
          <a:p>
            <a:endParaRPr lang="en-US" dirty="0"/>
          </a:p>
          <a:p>
            <a:pPr marL="228600" indent="-228600">
              <a:buAutoNum type="arabicParenR"/>
            </a:pPr>
            <a:r>
              <a:rPr lang="en-US" dirty="0"/>
              <a:t>How much you can raise</a:t>
            </a:r>
          </a:p>
          <a:p>
            <a:pPr marL="228600" indent="-228600">
              <a:buAutoNum type="arabicParenR"/>
            </a:pPr>
            <a:r>
              <a:rPr lang="en-US" dirty="0"/>
              <a:t>From WHOM you will raise company</a:t>
            </a:r>
          </a:p>
          <a:p>
            <a:pPr marL="228600" indent="-228600">
              <a:buAutoNum type="arabicParenR"/>
            </a:pPr>
            <a:r>
              <a:rPr lang="en-US" dirty="0"/>
              <a:t>Value per share of your company</a:t>
            </a:r>
          </a:p>
          <a:p>
            <a:pPr marL="228600" indent="-228600">
              <a:buAutoNum type="arabicParenR"/>
            </a:pPr>
            <a:r>
              <a:rPr lang="en-US" dirty="0"/>
              <a:t>% of company you will sell</a:t>
            </a:r>
          </a:p>
          <a:p>
            <a:pPr marL="228600" indent="-228600">
              <a:buAutoNum type="arabicParenR"/>
            </a:pPr>
            <a:r>
              <a:rPr lang="en-US" dirty="0"/>
              <a:t>Cost of Capital</a:t>
            </a:r>
          </a:p>
        </p:txBody>
      </p:sp>
      <p:sp>
        <p:nvSpPr>
          <p:cNvPr id="5" name="Slide Number Placeholder 4">
            <a:extLst>
              <a:ext uri="{FF2B5EF4-FFF2-40B4-BE49-F238E27FC236}">
                <a16:creationId xmlns:a16="http://schemas.microsoft.com/office/drawing/2014/main" id="{96BA186C-1182-542E-B24B-52BF071392F9}"/>
              </a:ext>
            </a:extLst>
          </p:cNvPr>
          <p:cNvSpPr>
            <a:spLocks noGrp="1"/>
          </p:cNvSpPr>
          <p:nvPr>
            <p:ph type="sldNum" sz="quarter" idx="7"/>
          </p:nvPr>
        </p:nvSpPr>
        <p:spPr/>
        <p:txBody>
          <a:bodyPr/>
          <a:lstStyle/>
          <a:p>
            <a:pPr marL="12700">
              <a:lnSpc>
                <a:spcPts val="685"/>
              </a:lnSpc>
            </a:pPr>
            <a:r>
              <a:rPr lang="en-US" spc="-35"/>
              <a:t>P</a:t>
            </a:r>
            <a:r>
              <a:rPr lang="en-US" spc="-5"/>
              <a:t>age</a:t>
            </a:r>
            <a:r>
              <a:rPr lang="en-US" spc="-10"/>
              <a:t> </a:t>
            </a:r>
            <a:fld id="{81D60167-4931-47E6-BA6A-407CBD079E47}" type="slidenum">
              <a:rPr spc="-5" smtClean="0"/>
              <a:t>18</a:t>
            </a:fld>
            <a:endParaRPr spc="-5" dirty="0"/>
          </a:p>
        </p:txBody>
      </p:sp>
    </p:spTree>
    <p:extLst>
      <p:ext uri="{BB962C8B-B14F-4D97-AF65-F5344CB8AC3E}">
        <p14:creationId xmlns:p14="http://schemas.microsoft.com/office/powerpoint/2010/main" val="26504196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ded8b1b-070d-4629-82e4-c0b019f46057}" enabled="0" method="" siteId="{3ded8b1b-070d-4629-82e4-c0b019f46057}" removed="1"/>
</clbl:labelList>
</file>

<file path=docProps/app.xml><?xml version="1.0" encoding="utf-8"?>
<Properties xmlns="http://schemas.openxmlformats.org/officeDocument/2006/extended-properties" xmlns:vt="http://schemas.openxmlformats.org/officeDocument/2006/docPropsVTypes">
  <Template/>
  <TotalTime>3621</TotalTime>
  <Words>1071</Words>
  <Application>Microsoft Macintosh PowerPoint</Application>
  <PresentationFormat>Custom</PresentationFormat>
  <Paragraphs>224</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Helvetica Neue</vt:lpstr>
      <vt:lpstr>Rockwell</vt:lpstr>
      <vt:lpstr>Office Theme</vt:lpstr>
      <vt:lpstr>Entrepreneurial Finance Screening Criteria </vt:lpstr>
      <vt:lpstr>Agenda</vt:lpstr>
      <vt:lpstr>Take Aways</vt:lpstr>
      <vt:lpstr>A few questions you brought up….</vt:lpstr>
      <vt:lpstr>The Setting</vt:lpstr>
      <vt:lpstr>Necessary Terms  these are from the Income Statement</vt:lpstr>
      <vt:lpstr>Buckets for Screening Criteria **these are guidelines but actual deals may require adaptation</vt:lpstr>
      <vt:lpstr>How do we systematically collect data to put in these buckets.</vt:lpstr>
      <vt:lpstr>Example: You are in the Food Products Industry (Manufacturing)</vt:lpstr>
      <vt:lpstr>If you were in the healthy foods space, you might consider the following…</vt:lpstr>
      <vt:lpstr>Based on the table in Slide 10, where do you put your valuation? Why?</vt:lpstr>
      <vt:lpstr>PowerPoint Presentation</vt:lpstr>
      <vt:lpstr>Decision and Next Steps: the Scorecard please see spreadsheet ESBM4570_3.1.xlsx</vt:lpstr>
      <vt:lpstr>Doing It</vt:lpstr>
      <vt:lpstr>Tools</vt:lpstr>
      <vt:lpstr>Wednesday</vt:lpstr>
      <vt:lpstr>Monday 9/15</vt:lpstr>
      <vt:lpstr>Side Note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Entrepreneurial Finance  Lesson 1</dc:title>
  <dc:creator>Shaun Davies, CU-Boulder</dc:creator>
  <cp:lastModifiedBy>Ellen Burnes</cp:lastModifiedBy>
  <cp:revision>19</cp:revision>
  <dcterms:created xsi:type="dcterms:W3CDTF">2022-01-05T04:34:10Z</dcterms:created>
  <dcterms:modified xsi:type="dcterms:W3CDTF">2025-09-08T02:02:57Z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2017-02-19T00:00:00Z</vt:filetime>
  </property>
  <property fmtid="{D5CDD505-2E9C-101B-9397-08002B2CF9AE}" pid="3" name="Creator">
    <vt:lpwstr>LaTeX with Beamer class version 3.27</vt:lpwstr>
  </property>
  <property fmtid="{D5CDD505-2E9C-101B-9397-08002B2CF9AE}" pid="4" name="LastSaved">
    <vt:filetime>2022-01-05T00:00:00Z</vt:filetime>
  </property>
</Properties>
</file>