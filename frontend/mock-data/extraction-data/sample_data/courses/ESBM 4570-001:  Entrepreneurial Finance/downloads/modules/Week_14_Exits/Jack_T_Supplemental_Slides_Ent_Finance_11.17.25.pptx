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422" r:id="rId2"/>
    <p:sldId id="1431" r:id="rId3"/>
    <p:sldId id="281" r:id="rId4"/>
    <p:sldId id="1432" r:id="rId5"/>
    <p:sldId id="1433" r:id="rId6"/>
    <p:sldId id="1434" r:id="rId7"/>
    <p:sldId id="1435" r:id="rId8"/>
    <p:sldId id="1440" r:id="rId9"/>
    <p:sldId id="1438" r:id="rId10"/>
    <p:sldId id="1437" r:id="rId11"/>
    <p:sldId id="1439" r:id="rId12"/>
    <p:sldId id="1436" r:id="rId13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B85D"/>
    <a:srgbClr val="015477"/>
    <a:srgbClr val="516993"/>
    <a:srgbClr val="CEB67B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39EC6-027D-4B1B-8977-E14F8E1F5C4E}" v="5" dt="2025-11-17T18:00:15.9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11"/>
    <p:restoredTop sz="94720"/>
  </p:normalViewPr>
  <p:slideViewPr>
    <p:cSldViewPr snapToGrid="0">
      <p:cViewPr varScale="1">
        <p:scale>
          <a:sx n="118" d="100"/>
          <a:sy n="118" d="100"/>
        </p:scale>
        <p:origin x="1122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MBAX 6110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1081" y="330946"/>
            <a:ext cx="4067937" cy="3751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Entrepreneurial Finance</a:t>
            </a:r>
            <a:endParaRPr sz="12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549101" y="1099321"/>
            <a:ext cx="35623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Fall 2025</a:t>
            </a:r>
          </a:p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Jack Terranova Supplemental Slides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</a:rPr>
              <a:t>November 17,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18882D-260B-F658-7C69-B3FD0A5D67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</a:t>
            </a:fld>
            <a:endParaRPr spc="-5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A2A2025E-FF69-6FBE-A746-06ADFDC9F12E}"/>
              </a:ext>
            </a:extLst>
          </p:cNvPr>
          <p:cNvSpPr txBox="1">
            <a:spLocks/>
          </p:cNvSpPr>
          <p:nvPr/>
        </p:nvSpPr>
        <p:spPr>
          <a:xfrm>
            <a:off x="270965" y="625892"/>
            <a:ext cx="4067937" cy="3751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kern="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NanoGene</a:t>
            </a:r>
            <a:r>
              <a:rPr lang="fr-FR" sz="2400" kern="0" spc="-10" dirty="0">
                <a:solidFill>
                  <a:srgbClr val="000000"/>
                </a:solidFill>
                <a:latin typeface="Garamond" panose="02020404030301010803" pitchFamily="18" charset="0"/>
              </a:rPr>
              <a:t> Case</a:t>
            </a:r>
            <a:endParaRPr lang="fr-FR" sz="1200" kern="0" dirty="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F95D-1832-9550-92AD-CEC80573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72C0-E811-5AF9-5BE7-24CC9AF8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187918"/>
            <a:ext cx="3153410" cy="215444"/>
          </a:xfrm>
        </p:spPr>
        <p:txBody>
          <a:bodyPr/>
          <a:lstStyle/>
          <a:p>
            <a:r>
              <a:rPr lang="en-US" dirty="0" err="1"/>
              <a:t>NanoGene</a:t>
            </a:r>
            <a:r>
              <a:rPr lang="en-US" dirty="0"/>
              <a:t> Cap Table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13648-0BA7-9F32-6230-2973C98CF5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AD14C-C067-44C1-5691-DE2FB26F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" y="512171"/>
            <a:ext cx="3809999" cy="22359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0EC8C4-8E5B-E7A8-BDD1-9EA8B7B35FDA}"/>
              </a:ext>
            </a:extLst>
          </p:cNvPr>
          <p:cNvSpPr txBox="1"/>
          <p:nvPr/>
        </p:nvSpPr>
        <p:spPr>
          <a:xfrm>
            <a:off x="569121" y="2792712"/>
            <a:ext cx="3333750" cy="33855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Does the equal equity split among the five founders still make sense once you consider what the company needs to succeed going forward?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E1794-8E71-C98A-450E-E38D0EBCC015}"/>
              </a:ext>
            </a:extLst>
          </p:cNvPr>
          <p:cNvSpPr txBox="1"/>
          <p:nvPr/>
        </p:nvSpPr>
        <p:spPr>
          <a:xfrm>
            <a:off x="519113" y="895350"/>
            <a:ext cx="1371600" cy="74771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86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CAB605-D651-2AEC-D4E4-3471C7F79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8" y="529012"/>
            <a:ext cx="2109210" cy="28155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6F8F0-2C86-2B2F-97FE-3FF9C1DB45E1}"/>
              </a:ext>
            </a:extLst>
          </p:cNvPr>
          <p:cNvSpPr txBox="1"/>
          <p:nvPr/>
        </p:nvSpPr>
        <p:spPr>
          <a:xfrm>
            <a:off x="2555061" y="519116"/>
            <a:ext cx="1940739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Based on Paige’s resume, is she worth the compensation she’s asking for — and how should </a:t>
            </a:r>
            <a:r>
              <a:rPr lang="en-US" dirty="0" err="1"/>
              <a:t>NanoGene</a:t>
            </a:r>
            <a:r>
              <a:rPr lang="en-US" dirty="0"/>
              <a:t> decide that?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DA9ABB8-362A-AE02-B53F-F09C3A81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To Hire or not to Hire?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7D9D3-EDAB-8D54-0418-C0CCFFEB8E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 dirty="0"/>
              <a:t>P</a:t>
            </a:r>
            <a:r>
              <a:rPr lang="en-US" spc="-5" dirty="0"/>
              <a:t>age</a:t>
            </a:r>
            <a:r>
              <a:rPr lang="en-US" spc="-10" dirty="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  <p:pic>
        <p:nvPicPr>
          <p:cNvPr id="12" name="Picture 11" descr="A blue dna strand with text&#10;&#10;AI-generated content may be incorrect.">
            <a:extLst>
              <a:ext uri="{FF2B5EF4-FFF2-40B4-BE49-F238E27FC236}">
                <a16:creationId xmlns:a16="http://schemas.microsoft.com/office/drawing/2014/main" id="{A1536A4A-DA4E-F7BB-581B-A55B7FE111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061" y="1080076"/>
            <a:ext cx="1940739" cy="225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1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385E-0C78-5EA5-2370-6DB41C1D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4F4411-DD23-FBF8-BE5F-240FAEE177BC}"/>
              </a:ext>
            </a:extLst>
          </p:cNvPr>
          <p:cNvCxnSpPr/>
          <p:nvPr/>
        </p:nvCxnSpPr>
        <p:spPr>
          <a:xfrm>
            <a:off x="390525" y="1940996"/>
            <a:ext cx="330993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A9E5A4-E08F-6B27-B055-5F3883E3CEEB}"/>
              </a:ext>
            </a:extLst>
          </p:cNvPr>
          <p:cNvSpPr txBox="1"/>
          <p:nvPr/>
        </p:nvSpPr>
        <p:spPr>
          <a:xfrm>
            <a:off x="314317" y="1555235"/>
            <a:ext cx="309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Brief Review of SPACs and IPOs</a:t>
            </a:r>
          </a:p>
        </p:txBody>
      </p:sp>
    </p:spTree>
    <p:extLst>
      <p:ext uri="{BB962C8B-B14F-4D97-AF65-F5344CB8AC3E}">
        <p14:creationId xmlns:p14="http://schemas.microsoft.com/office/powerpoint/2010/main" val="53487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B961-578D-3A85-F5DC-55070F10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2D5A58-8B91-BA05-2A28-06AC17C9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What is a SPAC?</a:t>
            </a:r>
            <a:endParaRPr lang="en-US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78A755-A093-A5DD-6CE8-990FA8F354AA}"/>
              </a:ext>
            </a:extLst>
          </p:cNvPr>
          <p:cNvSpPr txBox="1"/>
          <p:nvPr/>
        </p:nvSpPr>
        <p:spPr>
          <a:xfrm>
            <a:off x="245269" y="668546"/>
            <a:ext cx="39481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200" dirty="0"/>
              <a:t>SPAC = Special Purpose Acquisition Vehicle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200" dirty="0"/>
              <a:t>A publicly traded shell company formed to acquire or merge with a private business.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200" dirty="0"/>
              <a:t>Raises cash through an IPO with no operating business at the time of listing (aka: Blank Check Company”</a:t>
            </a:r>
          </a:p>
          <a:p>
            <a:endParaRPr lang="en-US" sz="1200" dirty="0"/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200" dirty="0"/>
              <a:t>Provides a faster, alternative path for private companies to become publicly listed via a merger rather than a traditional IPO.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757CE47-F629-A8C4-AA9D-8B38CFC5B7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</p:spPr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 dirty="0"/>
              <a:t>P</a:t>
            </a:r>
            <a:r>
              <a:rPr lang="en-US" spc="-5" dirty="0"/>
              <a:t>age</a:t>
            </a:r>
            <a:r>
              <a:rPr lang="en-US" spc="-10" dirty="0"/>
              <a:t> </a:t>
            </a:r>
            <a:fld id="{81D60167-4931-47E6-BA6A-407CBD079E47}" type="slidenum">
              <a:rPr spc="-5" smtClean="0"/>
              <a:t>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77882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51478-BFC0-B76D-1F2E-35C08605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F8EDFE8-0946-D17B-ABFA-F1BA7A54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SPAC High Level Mechanics</a:t>
            </a:r>
            <a:endParaRPr lang="en-US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B3374-013C-17A3-3EF9-C399F47B6893}"/>
              </a:ext>
            </a:extLst>
          </p:cNvPr>
          <p:cNvSpPr txBox="1"/>
          <p:nvPr/>
        </p:nvSpPr>
        <p:spPr>
          <a:xfrm>
            <a:off x="349602" y="803120"/>
            <a:ext cx="1049875" cy="41549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Management Team</a:t>
            </a:r>
          </a:p>
          <a:p>
            <a:pPr algn="ctr"/>
            <a:r>
              <a:rPr lang="en-US" sz="700" dirty="0"/>
              <a:t>of Industry Experts Formed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3C9AE-B430-542E-023D-1D5DD27FB2E7}"/>
              </a:ext>
            </a:extLst>
          </p:cNvPr>
          <p:cNvSpPr txBox="1"/>
          <p:nvPr/>
        </p:nvSpPr>
        <p:spPr>
          <a:xfrm>
            <a:off x="3305172" y="811618"/>
            <a:ext cx="954432" cy="41549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SPAC Raises $500M in an IPO</a:t>
            </a:r>
          </a:p>
          <a:p>
            <a:pPr algn="ctr"/>
            <a:r>
              <a:rPr lang="en-US" sz="700" dirty="0"/>
              <a:t>(Nasdaq: [SPAC])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25911-64CE-61AD-1A7C-A0765FE12D3F}"/>
              </a:ext>
            </a:extLst>
          </p:cNvPr>
          <p:cNvSpPr txBox="1"/>
          <p:nvPr/>
        </p:nvSpPr>
        <p:spPr>
          <a:xfrm>
            <a:off x="1854605" y="866320"/>
            <a:ext cx="954432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Bankers, Lawyers and Auditors Hired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D0154EF-6072-B42C-4007-AE559966876C}"/>
              </a:ext>
            </a:extLst>
          </p:cNvPr>
          <p:cNvSpPr/>
          <p:nvPr/>
        </p:nvSpPr>
        <p:spPr>
          <a:xfrm>
            <a:off x="1522849" y="917732"/>
            <a:ext cx="220501" cy="2154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F69C5EC-D831-7D36-4074-E87719DF7BCC}"/>
              </a:ext>
            </a:extLst>
          </p:cNvPr>
          <p:cNvSpPr/>
          <p:nvPr/>
        </p:nvSpPr>
        <p:spPr>
          <a:xfrm>
            <a:off x="2972998" y="917732"/>
            <a:ext cx="216156" cy="2154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9ACCA-CEF2-F2D9-B88F-B384515055B1}"/>
              </a:ext>
            </a:extLst>
          </p:cNvPr>
          <p:cNvSpPr/>
          <p:nvPr/>
        </p:nvSpPr>
        <p:spPr>
          <a:xfrm>
            <a:off x="349602" y="522611"/>
            <a:ext cx="3917598" cy="188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Going Public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5E68C4-8948-C870-F606-88CDF1AAE68D}"/>
              </a:ext>
            </a:extLst>
          </p:cNvPr>
          <p:cNvSpPr/>
          <p:nvPr/>
        </p:nvSpPr>
        <p:spPr>
          <a:xfrm>
            <a:off x="342006" y="1463142"/>
            <a:ext cx="3917598" cy="188266"/>
          </a:xfrm>
          <a:prstGeom prst="rect">
            <a:avLst/>
          </a:prstGeom>
          <a:solidFill>
            <a:srgbClr val="00206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Once Public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68872-03BA-B746-34C3-27618AD86C31}"/>
              </a:ext>
            </a:extLst>
          </p:cNvPr>
          <p:cNvSpPr txBox="1"/>
          <p:nvPr/>
        </p:nvSpPr>
        <p:spPr>
          <a:xfrm>
            <a:off x="394251" y="1725835"/>
            <a:ext cx="954432" cy="41549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Team has 18-24 months to acquire a private company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E824A-F9AF-3E1C-938E-1E4E573AE675}"/>
              </a:ext>
            </a:extLst>
          </p:cNvPr>
          <p:cNvSpPr txBox="1"/>
          <p:nvPr/>
        </p:nvSpPr>
        <p:spPr>
          <a:xfrm>
            <a:off x="383938" y="2251798"/>
            <a:ext cx="954432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$500M in IPO Investor funds sit in escrow and earn interest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F6FD52-2F73-5A33-7ACB-51EFE8B4231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348683" y="1933584"/>
            <a:ext cx="186420" cy="2821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684C8C-D69F-762A-5852-59673F8EF0F5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338370" y="2215760"/>
            <a:ext cx="196733" cy="2976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8BAA5A8-1C7E-E48E-4F01-7620AE2950F3}"/>
              </a:ext>
            </a:extLst>
          </p:cNvPr>
          <p:cNvSpPr/>
          <p:nvPr/>
        </p:nvSpPr>
        <p:spPr>
          <a:xfrm>
            <a:off x="1570940" y="2119945"/>
            <a:ext cx="220501" cy="2154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387F3-C022-4F7D-1DEC-1A4B56A06A9E}"/>
              </a:ext>
            </a:extLst>
          </p:cNvPr>
          <p:cNvSpPr txBox="1"/>
          <p:nvPr/>
        </p:nvSpPr>
        <p:spPr>
          <a:xfrm>
            <a:off x="1849711" y="1912196"/>
            <a:ext cx="954432" cy="6309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Management team meets 100s of companies and finds an attractive private merger target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5A01E2A-7C0F-C4ED-86D2-D8A183C39A10}"/>
              </a:ext>
            </a:extLst>
          </p:cNvPr>
          <p:cNvSpPr/>
          <p:nvPr/>
        </p:nvSpPr>
        <p:spPr>
          <a:xfrm>
            <a:off x="2898250" y="2121709"/>
            <a:ext cx="220501" cy="2154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E58349-2EE6-2BAD-AD60-CD58818141FE}"/>
              </a:ext>
            </a:extLst>
          </p:cNvPr>
          <p:cNvSpPr txBox="1"/>
          <p:nvPr/>
        </p:nvSpPr>
        <p:spPr>
          <a:xfrm>
            <a:off x="3189154" y="1725835"/>
            <a:ext cx="954432" cy="10618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Shareholders Vote &amp; Redemptions</a:t>
            </a:r>
          </a:p>
          <a:p>
            <a:pPr algn="ctr"/>
            <a:endParaRPr lang="en-US" sz="700" dirty="0"/>
          </a:p>
          <a:p>
            <a:pPr algn="ctr"/>
            <a:r>
              <a:rPr lang="en-US" sz="700" dirty="0"/>
              <a:t>Shareholders vote to approve/deny merger and may elect to recover their funds from the escrow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37A469-82FF-9436-851B-320CA7EE499F}"/>
              </a:ext>
            </a:extLst>
          </p:cNvPr>
          <p:cNvSpPr txBox="1"/>
          <p:nvPr/>
        </p:nvSpPr>
        <p:spPr>
          <a:xfrm>
            <a:off x="383938" y="2924936"/>
            <a:ext cx="3807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SPAC merges with private company -- private company get access to cash and is now publicly traded</a:t>
            </a:r>
          </a:p>
        </p:txBody>
      </p:sp>
      <p:sp>
        <p:nvSpPr>
          <p:cNvPr id="38" name="Slide Number Placeholder 8">
            <a:extLst>
              <a:ext uri="{FF2B5EF4-FFF2-40B4-BE49-F238E27FC236}">
                <a16:creationId xmlns:a16="http://schemas.microsoft.com/office/drawing/2014/main" id="{4FB8EF50-B034-CC1E-29C3-31EBD12A44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</p:spPr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 dirty="0"/>
              <a:t>P</a:t>
            </a:r>
            <a:r>
              <a:rPr lang="en-US" spc="-5" dirty="0"/>
              <a:t>age</a:t>
            </a:r>
            <a:r>
              <a:rPr lang="en-US" spc="-10" dirty="0"/>
              <a:t> </a:t>
            </a:r>
            <a:fld id="{81D60167-4931-47E6-BA6A-407CBD079E47}" type="slidenum">
              <a:rPr spc="-5" smtClean="0"/>
              <a:t>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35123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1C97-5F36-2AE7-313F-AA0BF0E0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F325A50-7022-6E8D-CE45-7175E14F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SPAC vs. IPO</a:t>
            </a:r>
            <a:endParaRPr lang="en-US" b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347BD6-C4CD-B04A-E815-53BE33EED5D4}"/>
              </a:ext>
            </a:extLst>
          </p:cNvPr>
          <p:cNvCxnSpPr/>
          <p:nvPr/>
        </p:nvCxnSpPr>
        <p:spPr>
          <a:xfrm flipH="1">
            <a:off x="2417928" y="466726"/>
            <a:ext cx="38100" cy="27289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1A1DB1A-00A9-EBCE-9734-4422AE73364E}"/>
              </a:ext>
            </a:extLst>
          </p:cNvPr>
          <p:cNvSpPr txBox="1"/>
          <p:nvPr/>
        </p:nvSpPr>
        <p:spPr>
          <a:xfrm>
            <a:off x="1464112" y="878659"/>
            <a:ext cx="466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SPAC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22A78-C411-0C5A-AE01-41DCDC519F9D}"/>
              </a:ext>
            </a:extLst>
          </p:cNvPr>
          <p:cNvSpPr txBox="1"/>
          <p:nvPr/>
        </p:nvSpPr>
        <p:spPr>
          <a:xfrm>
            <a:off x="3507214" y="1333372"/>
            <a:ext cx="857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Operating Co</a:t>
            </a:r>
          </a:p>
        </p:txBody>
      </p:sp>
      <p:pic>
        <p:nvPicPr>
          <p:cNvPr id="4098" name="Picture 2" descr="EMPTY HOME Icons - Free SVG &amp; PNG EMPTY ...">
            <a:extLst>
              <a:ext uri="{FF2B5EF4-FFF2-40B4-BE49-F238E27FC236}">
                <a16:creationId xmlns:a16="http://schemas.microsoft.com/office/drawing/2014/main" id="{BE78776A-3300-CD73-F8D4-73C9EEE90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398" y="1057100"/>
            <a:ext cx="398433" cy="39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actory Logo Images – Browse 206,882 ...">
            <a:extLst>
              <a:ext uri="{FF2B5EF4-FFF2-40B4-BE49-F238E27FC236}">
                <a16:creationId xmlns:a16="http://schemas.microsoft.com/office/drawing/2014/main" id="{D9313D5C-09AD-6542-E141-8D6A92852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5" t="19092" r="25938" b="19067"/>
          <a:stretch>
            <a:fillRect/>
          </a:stretch>
        </p:blipFill>
        <p:spPr bwMode="auto">
          <a:xfrm>
            <a:off x="1500398" y="1760580"/>
            <a:ext cx="378192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actory Logo Images – Browse 206,882 ...">
            <a:extLst>
              <a:ext uri="{FF2B5EF4-FFF2-40B4-BE49-F238E27FC236}">
                <a16:creationId xmlns:a16="http://schemas.microsoft.com/office/drawing/2014/main" id="{6AD717E3-5CA3-DC9A-660D-8B2A49B1BE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5" t="19092" r="25938" b="19067"/>
          <a:stretch>
            <a:fillRect/>
          </a:stretch>
        </p:blipFill>
        <p:spPr bwMode="auto">
          <a:xfrm>
            <a:off x="3746743" y="1529941"/>
            <a:ext cx="378192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ollar Logo PNG Vectors Free Download">
            <a:extLst>
              <a:ext uri="{FF2B5EF4-FFF2-40B4-BE49-F238E27FC236}">
                <a16:creationId xmlns:a16="http://schemas.microsoft.com/office/drawing/2014/main" id="{D05079FD-58FE-4447-0DB9-CFDAF8B67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76" y="1118801"/>
            <a:ext cx="263274" cy="26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2D0707A-D101-AE09-7FFA-C3F2914CF7D9}"/>
              </a:ext>
            </a:extLst>
          </p:cNvPr>
          <p:cNvSpPr txBox="1"/>
          <p:nvPr/>
        </p:nvSpPr>
        <p:spPr>
          <a:xfrm>
            <a:off x="225304" y="927541"/>
            <a:ext cx="857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Investors</a:t>
            </a:r>
          </a:p>
        </p:txBody>
      </p:sp>
      <p:pic>
        <p:nvPicPr>
          <p:cNvPr id="23" name="Picture 6" descr="Dollar Logo PNG Vectors Free Download">
            <a:extLst>
              <a:ext uri="{FF2B5EF4-FFF2-40B4-BE49-F238E27FC236}">
                <a16:creationId xmlns:a16="http://schemas.microsoft.com/office/drawing/2014/main" id="{73D42F62-4EEF-918C-55A7-4E570F8A9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022" y="1547221"/>
            <a:ext cx="263274" cy="26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2753F4-2C9F-4420-ED56-00FF210794DE}"/>
              </a:ext>
            </a:extLst>
          </p:cNvPr>
          <p:cNvSpPr txBox="1"/>
          <p:nvPr/>
        </p:nvSpPr>
        <p:spPr>
          <a:xfrm>
            <a:off x="2461782" y="1333372"/>
            <a:ext cx="857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Investors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986AEC0-5159-DD8C-E4E2-873991B7FF4F}"/>
              </a:ext>
            </a:extLst>
          </p:cNvPr>
          <p:cNvSpPr/>
          <p:nvPr/>
        </p:nvSpPr>
        <p:spPr>
          <a:xfrm>
            <a:off x="1118840" y="1158373"/>
            <a:ext cx="190501" cy="1809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E45C0C5-B88B-4216-826C-094661B490DE}"/>
              </a:ext>
            </a:extLst>
          </p:cNvPr>
          <p:cNvSpPr/>
          <p:nvPr/>
        </p:nvSpPr>
        <p:spPr>
          <a:xfrm>
            <a:off x="3316713" y="1608984"/>
            <a:ext cx="190501" cy="1809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2" descr="EMPTY HOME Icons - Free SVG &amp; PNG EMPTY ...">
            <a:extLst>
              <a:ext uri="{FF2B5EF4-FFF2-40B4-BE49-F238E27FC236}">
                <a16:creationId xmlns:a16="http://schemas.microsoft.com/office/drawing/2014/main" id="{9BEECC2C-8EE5-3BEF-C621-34BB5C9BF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16" y="1744527"/>
            <a:ext cx="398433" cy="39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014CB147-DAA3-9884-370F-9C021A7181FC}"/>
              </a:ext>
            </a:extLst>
          </p:cNvPr>
          <p:cNvSpPr/>
          <p:nvPr/>
        </p:nvSpPr>
        <p:spPr>
          <a:xfrm>
            <a:off x="993610" y="1861935"/>
            <a:ext cx="381558" cy="1272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ADB6D6-1EEA-DBC3-C702-4EEC1EAD99D6}"/>
              </a:ext>
            </a:extLst>
          </p:cNvPr>
          <p:cNvSpPr txBox="1"/>
          <p:nvPr/>
        </p:nvSpPr>
        <p:spPr>
          <a:xfrm>
            <a:off x="777485" y="1996475"/>
            <a:ext cx="8572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Merges with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0CC918-19D4-C22D-C4C1-21AB74E773DE}"/>
              </a:ext>
            </a:extLst>
          </p:cNvPr>
          <p:cNvSpPr txBox="1"/>
          <p:nvPr/>
        </p:nvSpPr>
        <p:spPr>
          <a:xfrm>
            <a:off x="415350" y="1583899"/>
            <a:ext cx="466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SPAC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0D4087-C713-C644-9454-0568502DC122}"/>
              </a:ext>
            </a:extLst>
          </p:cNvPr>
          <p:cNvSpPr txBox="1"/>
          <p:nvPr/>
        </p:nvSpPr>
        <p:spPr>
          <a:xfrm>
            <a:off x="1206110" y="1574921"/>
            <a:ext cx="857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Operating Co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8D1595-66E4-B30C-1856-418BE0F3F212}"/>
              </a:ext>
            </a:extLst>
          </p:cNvPr>
          <p:cNvSpPr txBox="1"/>
          <p:nvPr/>
        </p:nvSpPr>
        <p:spPr>
          <a:xfrm>
            <a:off x="165140" y="2721367"/>
            <a:ext cx="2099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Result:</a:t>
            </a:r>
            <a:r>
              <a:rPr lang="en-US" sz="800" dirty="0"/>
              <a:t> </a:t>
            </a:r>
            <a:r>
              <a:rPr lang="en-US" sz="800" dirty="0" err="1"/>
              <a:t>OpCp</a:t>
            </a:r>
            <a:r>
              <a:rPr lang="en-US" sz="800" dirty="0"/>
              <a:t> becomes public company – Between 0% and 100% of escrow funds go to </a:t>
            </a:r>
            <a:r>
              <a:rPr lang="en-US" sz="800" dirty="0" err="1"/>
              <a:t>OpCo</a:t>
            </a:r>
            <a:r>
              <a:rPr lang="en-US" sz="800" dirty="0"/>
              <a:t> (net of transaction fees)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9E3105-1D38-1B27-1738-DF0A6EE797A4}"/>
              </a:ext>
            </a:extLst>
          </p:cNvPr>
          <p:cNvSpPr txBox="1"/>
          <p:nvPr/>
        </p:nvSpPr>
        <p:spPr>
          <a:xfrm>
            <a:off x="849693" y="538160"/>
            <a:ext cx="646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2E1910-9D33-3B2E-F2A9-3B9C8E1CDFE3}"/>
              </a:ext>
            </a:extLst>
          </p:cNvPr>
          <p:cNvSpPr txBox="1"/>
          <p:nvPr/>
        </p:nvSpPr>
        <p:spPr>
          <a:xfrm>
            <a:off x="3251382" y="53314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IPO</a:t>
            </a:r>
          </a:p>
        </p:txBody>
      </p:sp>
      <p:sp>
        <p:nvSpPr>
          <p:cNvPr id="40" name="Slide Number Placeholder 8">
            <a:extLst>
              <a:ext uri="{FF2B5EF4-FFF2-40B4-BE49-F238E27FC236}">
                <a16:creationId xmlns:a16="http://schemas.microsoft.com/office/drawing/2014/main" id="{14EA7B40-2ACC-B4F7-F199-33943F0334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</p:spPr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 dirty="0"/>
              <a:t>P</a:t>
            </a:r>
            <a:r>
              <a:rPr lang="en-US" spc="-5" dirty="0"/>
              <a:t>age</a:t>
            </a:r>
            <a:r>
              <a:rPr lang="en-US" spc="-10" dirty="0"/>
              <a:t> </a:t>
            </a:r>
            <a:fld id="{81D60167-4931-47E6-BA6A-407CBD079E47}" type="slidenum">
              <a:rPr spc="-5" smtClean="0"/>
              <a:t>7</a:t>
            </a:fld>
            <a:endParaRPr spc="-5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5E1D8A-2BC1-D493-24D4-C46AA52BB1E2}"/>
              </a:ext>
            </a:extLst>
          </p:cNvPr>
          <p:cNvSpPr txBox="1"/>
          <p:nvPr/>
        </p:nvSpPr>
        <p:spPr>
          <a:xfrm>
            <a:off x="-31019" y="2255042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Timing:</a:t>
            </a:r>
            <a:r>
              <a:rPr lang="en-US" sz="800" dirty="0"/>
              <a:t> 18-24 mo. for SPAC // &lt;6 mo. for </a:t>
            </a:r>
            <a:r>
              <a:rPr lang="en-US" sz="800" dirty="0" err="1"/>
              <a:t>OpCo</a:t>
            </a:r>
            <a:endParaRPr lang="en-US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BC38B-7CE1-F6E4-4310-D6A300AE2508}"/>
              </a:ext>
            </a:extLst>
          </p:cNvPr>
          <p:cNvSpPr txBox="1"/>
          <p:nvPr/>
        </p:nvSpPr>
        <p:spPr>
          <a:xfrm>
            <a:off x="-43128" y="2488204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Cost:</a:t>
            </a:r>
            <a:r>
              <a:rPr lang="en-US" sz="800" dirty="0"/>
              <a:t> ~3-4% of proceeds for SPAC // &lt;$1M for </a:t>
            </a:r>
            <a:r>
              <a:rPr lang="en-US" sz="800" dirty="0" err="1"/>
              <a:t>OpCo</a:t>
            </a:r>
            <a:endParaRPr lang="en-US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C05661-2AD1-8DA1-2C12-B4D9AC625031}"/>
              </a:ext>
            </a:extLst>
          </p:cNvPr>
          <p:cNvSpPr txBox="1"/>
          <p:nvPr/>
        </p:nvSpPr>
        <p:spPr>
          <a:xfrm>
            <a:off x="2413040" y="2721367"/>
            <a:ext cx="209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Result:</a:t>
            </a:r>
            <a:r>
              <a:rPr lang="en-US" sz="800" dirty="0"/>
              <a:t> </a:t>
            </a:r>
            <a:r>
              <a:rPr lang="en-US" sz="800" dirty="0" err="1"/>
              <a:t>OpCo</a:t>
            </a:r>
            <a:r>
              <a:rPr lang="en-US" sz="800" dirty="0"/>
              <a:t> becomes public company –100% of funds go to </a:t>
            </a:r>
            <a:r>
              <a:rPr lang="en-US" sz="800" dirty="0" err="1"/>
              <a:t>OpCo</a:t>
            </a:r>
            <a:r>
              <a:rPr lang="en-US" sz="800" dirty="0"/>
              <a:t> (net of transaction fees)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33C1F3-9538-5081-8CAA-8ECBAF41CFC0}"/>
              </a:ext>
            </a:extLst>
          </p:cNvPr>
          <p:cNvSpPr txBox="1"/>
          <p:nvPr/>
        </p:nvSpPr>
        <p:spPr>
          <a:xfrm>
            <a:off x="2216881" y="2255042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Timing:</a:t>
            </a:r>
            <a:r>
              <a:rPr lang="en-US" sz="800" dirty="0"/>
              <a:t> Anywhere from 9-24 months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129DF5-5419-9CEA-F0EF-D789A372DEF9}"/>
              </a:ext>
            </a:extLst>
          </p:cNvPr>
          <p:cNvSpPr txBox="1"/>
          <p:nvPr/>
        </p:nvSpPr>
        <p:spPr>
          <a:xfrm>
            <a:off x="2204772" y="2488204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Cost:</a:t>
            </a:r>
            <a:r>
              <a:rPr lang="en-US" sz="800" dirty="0"/>
              <a:t> Anywhere from $1.5M - $10M+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605752-90D0-B762-EB92-FF8FF8D0879F}"/>
              </a:ext>
            </a:extLst>
          </p:cNvPr>
          <p:cNvSpPr txBox="1"/>
          <p:nvPr/>
        </p:nvSpPr>
        <p:spPr>
          <a:xfrm>
            <a:off x="853490" y="552052"/>
            <a:ext cx="646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SPAC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663977-7788-8F9C-F407-EB2A6DF7F72E}"/>
              </a:ext>
            </a:extLst>
          </p:cNvPr>
          <p:cNvSpPr txBox="1"/>
          <p:nvPr/>
        </p:nvSpPr>
        <p:spPr>
          <a:xfrm>
            <a:off x="3255179" y="54703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IPO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3D64ADD-B828-E03C-501A-222FCE85DC3B}"/>
              </a:ext>
            </a:extLst>
          </p:cNvPr>
          <p:cNvCxnSpPr>
            <a:cxnSpLocks/>
          </p:cNvCxnSpPr>
          <p:nvPr/>
        </p:nvCxnSpPr>
        <p:spPr>
          <a:xfrm flipH="1" flipV="1">
            <a:off x="823631" y="1405256"/>
            <a:ext cx="353313" cy="4338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0137D2B-FA3B-D32C-0313-D568B440385A}"/>
              </a:ext>
            </a:extLst>
          </p:cNvPr>
          <p:cNvSpPr txBox="1"/>
          <p:nvPr/>
        </p:nvSpPr>
        <p:spPr>
          <a:xfrm rot="3116822">
            <a:off x="821426" y="1480342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" dirty="0"/>
              <a:t>Some Cash goes </a:t>
            </a:r>
          </a:p>
          <a:p>
            <a:r>
              <a:rPr lang="en-US" sz="400" dirty="0"/>
              <a:t>back to investors</a:t>
            </a:r>
          </a:p>
        </p:txBody>
      </p:sp>
    </p:spTree>
    <p:extLst>
      <p:ext uri="{BB962C8B-B14F-4D97-AF65-F5344CB8AC3E}">
        <p14:creationId xmlns:p14="http://schemas.microsoft.com/office/powerpoint/2010/main" val="405438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9E98-3969-8B2A-6CA3-893B7490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3A9BA38-D5A9-C841-62ED-76B83A6B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SPAC vs. IPO Timeline</a:t>
            </a:r>
            <a:endParaRPr lang="en-US" b="0" dirty="0"/>
          </a:p>
        </p:txBody>
      </p:sp>
      <p:pic>
        <p:nvPicPr>
          <p:cNvPr id="9218" name="Picture 2" descr="What is a SPAC and why are some private tech companies choosing it as a way  to go public on wall street?">
            <a:extLst>
              <a:ext uri="{FF2B5EF4-FFF2-40B4-BE49-F238E27FC236}">
                <a16:creationId xmlns:a16="http://schemas.microsoft.com/office/drawing/2014/main" id="{40C12331-54B5-A3B6-277D-8CFCB84D0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581530"/>
            <a:ext cx="4191000" cy="229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07001B-7F32-4AFC-3961-C9FC925F2CBA}"/>
              </a:ext>
            </a:extLst>
          </p:cNvPr>
          <p:cNvSpPr txBox="1"/>
          <p:nvPr/>
        </p:nvSpPr>
        <p:spPr>
          <a:xfrm>
            <a:off x="133349" y="2986491"/>
            <a:ext cx="372903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/>
              <a:t>Source: https://tehcpa.net/what-is-a-spac-and-why-are-some-private-tech-companies-choosing-it-as-a-way-to-go-public-on-wall-street/</a:t>
            </a:r>
          </a:p>
        </p:txBody>
      </p:sp>
    </p:spTree>
    <p:extLst>
      <p:ext uri="{BB962C8B-B14F-4D97-AF65-F5344CB8AC3E}">
        <p14:creationId xmlns:p14="http://schemas.microsoft.com/office/powerpoint/2010/main" val="25088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F03B-420B-3D6F-F1D3-78A5A957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285606C-95ED-5362-85AE-42E70B16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7" y="166482"/>
            <a:ext cx="4722799" cy="184666"/>
          </a:xfrm>
        </p:spPr>
        <p:txBody>
          <a:bodyPr/>
          <a:lstStyle/>
          <a:p>
            <a:r>
              <a:rPr lang="en-US" sz="1200" dirty="0"/>
              <a:t>SPAC vs. IPO (From Private Company Perspective)</a:t>
            </a:r>
            <a:endParaRPr lang="en-US" sz="1200" b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2699D-ADE0-B114-5F6A-95261B150009}"/>
              </a:ext>
            </a:extLst>
          </p:cNvPr>
          <p:cNvSpPr txBox="1"/>
          <p:nvPr/>
        </p:nvSpPr>
        <p:spPr>
          <a:xfrm>
            <a:off x="1905700" y="583694"/>
            <a:ext cx="646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CBD0BC-3428-53B5-D096-3883AEFCC837}"/>
              </a:ext>
            </a:extLst>
          </p:cNvPr>
          <p:cNvSpPr txBox="1"/>
          <p:nvPr/>
        </p:nvSpPr>
        <p:spPr>
          <a:xfrm>
            <a:off x="3117697" y="56980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IPO</a:t>
            </a:r>
          </a:p>
        </p:txBody>
      </p:sp>
      <p:sp>
        <p:nvSpPr>
          <p:cNvPr id="40" name="Slide Number Placeholder 8">
            <a:extLst>
              <a:ext uri="{FF2B5EF4-FFF2-40B4-BE49-F238E27FC236}">
                <a16:creationId xmlns:a16="http://schemas.microsoft.com/office/drawing/2014/main" id="{EEE16A7B-8B03-83ED-BC88-6A7F19FA6D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</p:spPr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 dirty="0"/>
              <a:t>P</a:t>
            </a:r>
            <a:r>
              <a:rPr lang="en-US" spc="-5" dirty="0"/>
              <a:t>age</a:t>
            </a:r>
            <a:r>
              <a:rPr lang="en-US" spc="-10" dirty="0"/>
              <a:t> </a:t>
            </a:r>
            <a:fld id="{81D60167-4931-47E6-BA6A-407CBD079E47}" type="slidenum">
              <a:rPr spc="-5" smtClean="0"/>
              <a:t>9</a:t>
            </a:fld>
            <a:endParaRPr spc="-5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923829-C95F-A2D6-F91F-EDABFF108B10}"/>
              </a:ext>
            </a:extLst>
          </p:cNvPr>
          <p:cNvSpPr txBox="1"/>
          <p:nvPr/>
        </p:nvSpPr>
        <p:spPr>
          <a:xfrm>
            <a:off x="1909497" y="597586"/>
            <a:ext cx="646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SPAC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081E86-5C61-A54B-D5B1-B75520CCCFD6}"/>
              </a:ext>
            </a:extLst>
          </p:cNvPr>
          <p:cNvSpPr txBox="1"/>
          <p:nvPr/>
        </p:nvSpPr>
        <p:spPr>
          <a:xfrm>
            <a:off x="3121494" y="583694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IPO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0DB8B-CAEA-7A68-04B3-A1563F3470C7}"/>
              </a:ext>
            </a:extLst>
          </p:cNvPr>
          <p:cNvSpPr txBox="1"/>
          <p:nvPr/>
        </p:nvSpPr>
        <p:spPr>
          <a:xfrm>
            <a:off x="401596" y="911265"/>
            <a:ext cx="1224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 b="1" dirty="0"/>
              <a:t>Time to Market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Cost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Deal Structure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Minimizing Dilution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Stock Performance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Regulatory Scrutiny</a:t>
            </a:r>
          </a:p>
          <a:p>
            <a:pPr>
              <a:spcAft>
                <a:spcPts val="1200"/>
              </a:spcAft>
            </a:pPr>
            <a:r>
              <a:rPr lang="en-US" sz="1000" b="1" dirty="0"/>
              <a:t>Access to Market</a:t>
            </a:r>
          </a:p>
        </p:txBody>
      </p:sp>
      <p:pic>
        <p:nvPicPr>
          <p:cNvPr id="6146" name="Picture 2" descr="Check Mark Clip Art at Clker.com ...">
            <a:extLst>
              <a:ext uri="{FF2B5EF4-FFF2-40B4-BE49-F238E27FC236}">
                <a16:creationId xmlns:a16="http://schemas.microsoft.com/office/drawing/2014/main" id="{E055778A-2DD7-25A3-B702-0F62654B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442" y="965957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heck Mark Clip Art at Clker.com ...">
            <a:extLst>
              <a:ext uri="{FF2B5EF4-FFF2-40B4-BE49-F238E27FC236}">
                <a16:creationId xmlns:a16="http://schemas.microsoft.com/office/drawing/2014/main" id="{15D2DA6A-F002-3FB3-6281-FCFA24370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441" y="1244584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Mark Clip Art at Clker.com ...">
            <a:extLst>
              <a:ext uri="{FF2B5EF4-FFF2-40B4-BE49-F238E27FC236}">
                <a16:creationId xmlns:a16="http://schemas.microsoft.com/office/drawing/2014/main" id="{9930912D-BED1-0CA2-B59E-B381823E6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626" y="1559456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heck Mark Clip Art at Clker.com ...">
            <a:extLst>
              <a:ext uri="{FF2B5EF4-FFF2-40B4-BE49-F238E27FC236}">
                <a16:creationId xmlns:a16="http://schemas.microsoft.com/office/drawing/2014/main" id="{A702C1C8-813D-D1FA-FDF4-5825B6325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625" y="1856233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heck Mark Clip Art at Clker.com ...">
            <a:extLst>
              <a:ext uri="{FF2B5EF4-FFF2-40B4-BE49-F238E27FC236}">
                <a16:creationId xmlns:a16="http://schemas.microsoft.com/office/drawing/2014/main" id="{573253DF-2317-C835-EAA3-683D40B27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624" y="2160349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0AE637-AB85-179E-F131-AA9515107516}"/>
              </a:ext>
            </a:extLst>
          </p:cNvPr>
          <p:cNvCxnSpPr>
            <a:cxnSpLocks/>
          </p:cNvCxnSpPr>
          <p:nvPr/>
        </p:nvCxnSpPr>
        <p:spPr>
          <a:xfrm flipH="1">
            <a:off x="2836243" y="533343"/>
            <a:ext cx="45990" cy="25214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Check Mark Clip Art at Clker.com ...">
            <a:extLst>
              <a:ext uri="{FF2B5EF4-FFF2-40B4-BE49-F238E27FC236}">
                <a16:creationId xmlns:a16="http://schemas.microsoft.com/office/drawing/2014/main" id="{F4F314CB-F949-C5B5-DED2-7912125AD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623" y="2464465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eck Mark Clip Art at Clker.com ...">
            <a:extLst>
              <a:ext uri="{FF2B5EF4-FFF2-40B4-BE49-F238E27FC236}">
                <a16:creationId xmlns:a16="http://schemas.microsoft.com/office/drawing/2014/main" id="{99F0EC9E-9D9F-F8E2-9082-022232F3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423" y="2797996"/>
            <a:ext cx="177423" cy="18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6BED77-47BA-FD7E-19D6-A3C52743C5A2}"/>
              </a:ext>
            </a:extLst>
          </p:cNvPr>
          <p:cNvCxnSpPr>
            <a:cxnSpLocks/>
          </p:cNvCxnSpPr>
          <p:nvPr/>
        </p:nvCxnSpPr>
        <p:spPr>
          <a:xfrm flipH="1">
            <a:off x="524429" y="1191113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C9C4A2-333A-6865-0EE1-BB36CF2502DA}"/>
              </a:ext>
            </a:extLst>
          </p:cNvPr>
          <p:cNvCxnSpPr>
            <a:cxnSpLocks/>
          </p:cNvCxnSpPr>
          <p:nvPr/>
        </p:nvCxnSpPr>
        <p:spPr>
          <a:xfrm flipH="1">
            <a:off x="524429" y="1497030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71153D-A68B-9041-B0BF-F7711CF620A6}"/>
              </a:ext>
            </a:extLst>
          </p:cNvPr>
          <p:cNvCxnSpPr>
            <a:cxnSpLocks/>
          </p:cNvCxnSpPr>
          <p:nvPr/>
        </p:nvCxnSpPr>
        <p:spPr>
          <a:xfrm flipH="1">
            <a:off x="524429" y="1802947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F9BB0F5-FA35-2677-6242-6E72EE7AC5E3}"/>
              </a:ext>
            </a:extLst>
          </p:cNvPr>
          <p:cNvCxnSpPr>
            <a:cxnSpLocks/>
          </p:cNvCxnSpPr>
          <p:nvPr/>
        </p:nvCxnSpPr>
        <p:spPr>
          <a:xfrm flipH="1">
            <a:off x="524429" y="2114211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E710810-F566-B17E-3587-BD3490D6545A}"/>
              </a:ext>
            </a:extLst>
          </p:cNvPr>
          <p:cNvCxnSpPr>
            <a:cxnSpLocks/>
          </p:cNvCxnSpPr>
          <p:nvPr/>
        </p:nvCxnSpPr>
        <p:spPr>
          <a:xfrm flipH="1">
            <a:off x="524429" y="2420128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79DA95-A662-06F1-9365-4EC753127DD5}"/>
              </a:ext>
            </a:extLst>
          </p:cNvPr>
          <p:cNvCxnSpPr>
            <a:cxnSpLocks/>
          </p:cNvCxnSpPr>
          <p:nvPr/>
        </p:nvCxnSpPr>
        <p:spPr>
          <a:xfrm flipH="1">
            <a:off x="521533" y="3054751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D4AEF6B-6000-88EE-20DF-281385E9EACC}"/>
              </a:ext>
            </a:extLst>
          </p:cNvPr>
          <p:cNvCxnSpPr>
            <a:cxnSpLocks/>
          </p:cNvCxnSpPr>
          <p:nvPr/>
        </p:nvCxnSpPr>
        <p:spPr>
          <a:xfrm flipH="1">
            <a:off x="524429" y="2720698"/>
            <a:ext cx="35584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43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7A3B-B675-D1C1-408D-22F334E3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65B1B0-5CFF-1085-C299-96C86615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SPAC Activity (Last 10 years)</a:t>
            </a:r>
            <a:endParaRPr lang="en-US" b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8FE1E9-9400-D050-BB06-D0628F76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2" r="2802"/>
          <a:stretch>
            <a:fillRect/>
          </a:stretch>
        </p:blipFill>
        <p:spPr>
          <a:xfrm>
            <a:off x="94528" y="711200"/>
            <a:ext cx="4349135" cy="218663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F33676-5174-BA52-0D59-0FF77F76978B}"/>
              </a:ext>
            </a:extLst>
          </p:cNvPr>
          <p:cNvSpPr/>
          <p:nvPr/>
        </p:nvSpPr>
        <p:spPr>
          <a:xfrm>
            <a:off x="967366" y="2997440"/>
            <a:ext cx="198869" cy="116667"/>
          </a:xfrm>
          <a:prstGeom prst="rect">
            <a:avLst/>
          </a:prstGeom>
          <a:solidFill>
            <a:srgbClr val="015477"/>
          </a:solidFill>
          <a:ln>
            <a:solidFill>
              <a:srgbClr val="0154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44A6B-39A3-3E13-B8ED-7E4002D20C80}"/>
              </a:ext>
            </a:extLst>
          </p:cNvPr>
          <p:cNvSpPr txBox="1"/>
          <p:nvPr/>
        </p:nvSpPr>
        <p:spPr>
          <a:xfrm>
            <a:off x="291829" y="2942704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Closed SPACs</a:t>
            </a:r>
            <a:endParaRPr lang="en-US" sz="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82ED2A-2540-F741-E7E2-A6AA60B35D2B}"/>
              </a:ext>
            </a:extLst>
          </p:cNvPr>
          <p:cNvSpPr/>
          <p:nvPr/>
        </p:nvSpPr>
        <p:spPr>
          <a:xfrm>
            <a:off x="2119724" y="2997440"/>
            <a:ext cx="198869" cy="116667"/>
          </a:xfrm>
          <a:prstGeom prst="rect">
            <a:avLst/>
          </a:prstGeom>
          <a:solidFill>
            <a:srgbClr val="5BB85D"/>
          </a:solidFill>
          <a:ln>
            <a:solidFill>
              <a:srgbClr val="5BB8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668367-66AC-15A7-EF19-31054D3F1888}"/>
              </a:ext>
            </a:extLst>
          </p:cNvPr>
          <p:cNvSpPr txBox="1"/>
          <p:nvPr/>
        </p:nvSpPr>
        <p:spPr>
          <a:xfrm>
            <a:off x="1727594" y="2943234"/>
            <a:ext cx="25049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Pending SPACs (“Searching”)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07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DC45-B8AC-38FC-B6ED-A5CC3E5E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90F6E2-3FA1-95D5-F54B-FAD54558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38" y="166482"/>
            <a:ext cx="3153410" cy="215444"/>
          </a:xfrm>
        </p:spPr>
        <p:txBody>
          <a:bodyPr/>
          <a:lstStyle/>
          <a:p>
            <a:r>
              <a:rPr lang="en-US" dirty="0"/>
              <a:t>IPO Activity (Last 10 years)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438F9-EE69-CE3A-3F10-E0AD1984B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381926"/>
            <a:ext cx="4191000" cy="27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9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3384-02BC-2FD0-BCF0-0109B10E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9B9816B-C2FB-5870-6635-44E43BF4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57" y="190296"/>
            <a:ext cx="3836036" cy="257380"/>
          </a:xfrm>
        </p:spPr>
        <p:txBody>
          <a:bodyPr/>
          <a:lstStyle/>
          <a:p>
            <a:r>
              <a:rPr lang="en-US" dirty="0"/>
              <a:t>The Devil is in the (SPAC Structure) Details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DDD228-47F9-8B7D-565D-43824EFE5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2" y="527895"/>
            <a:ext cx="4406244" cy="219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BFB557-DDA9-45A1-7171-D68E4A1296DA}"/>
              </a:ext>
            </a:extLst>
          </p:cNvPr>
          <p:cNvSpPr txBox="1"/>
          <p:nvPr/>
        </p:nvSpPr>
        <p:spPr>
          <a:xfrm>
            <a:off x="569121" y="2978453"/>
            <a:ext cx="3333750" cy="215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Don’t worry – you won’t be tested on this!!!</a:t>
            </a:r>
          </a:p>
        </p:txBody>
      </p:sp>
    </p:spTree>
    <p:extLst>
      <p:ext uri="{BB962C8B-B14F-4D97-AF65-F5344CB8AC3E}">
        <p14:creationId xmlns:p14="http://schemas.microsoft.com/office/powerpoint/2010/main" val="295719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</TotalTime>
  <Words>483</Words>
  <Application>Microsoft Office PowerPoint</Application>
  <PresentationFormat>Custom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Garamond</vt:lpstr>
      <vt:lpstr>Rockwell</vt:lpstr>
      <vt:lpstr>Wingdings</vt:lpstr>
      <vt:lpstr>Office Theme</vt:lpstr>
      <vt:lpstr>Entrepreneurial Finance</vt:lpstr>
      <vt:lpstr>NanoGene Cap Table</vt:lpstr>
      <vt:lpstr>To Hire or not to Hire?</vt:lpstr>
      <vt:lpstr>PowerPoint Presentation</vt:lpstr>
      <vt:lpstr>What is a SPAC?</vt:lpstr>
      <vt:lpstr>SPAC High Level Mechanics</vt:lpstr>
      <vt:lpstr>SPAC vs. IPO</vt:lpstr>
      <vt:lpstr>SPAC vs. IPO Timeline</vt:lpstr>
      <vt:lpstr>SPAC vs. IPO (From Private Company Perspective)</vt:lpstr>
      <vt:lpstr>SPAC Activity (Last 10 years)</vt:lpstr>
      <vt:lpstr>IPO Activity (Last 10 years)</vt:lpstr>
      <vt:lpstr>The Devil is in the (SPAC Structure)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6</cp:revision>
  <dcterms:created xsi:type="dcterms:W3CDTF">2022-01-05T04:34:10Z</dcterms:created>
  <dcterms:modified xsi:type="dcterms:W3CDTF">2025-11-19T19:00:35Z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