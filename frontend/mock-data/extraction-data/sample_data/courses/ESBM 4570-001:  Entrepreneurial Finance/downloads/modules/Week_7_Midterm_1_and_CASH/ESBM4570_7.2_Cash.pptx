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60" r:id="rId4"/>
    <p:sldId id="277" r:id="rId5"/>
    <p:sldId id="262" r:id="rId6"/>
    <p:sldId id="263" r:id="rId7"/>
    <p:sldId id="264" r:id="rId8"/>
    <p:sldId id="278" r:id="rId9"/>
    <p:sldId id="276" r:id="rId10"/>
    <p:sldId id="279" r:id="rId11"/>
    <p:sldId id="274" r:id="rId12"/>
    <p:sldId id="275" r:id="rId13"/>
    <p:sldId id="266" r:id="rId14"/>
    <p:sldId id="265" r:id="rId15"/>
    <p:sldId id="267" r:id="rId16"/>
    <p:sldId id="268" r:id="rId17"/>
    <p:sldId id="257" r:id="rId18"/>
    <p:sldId id="270" r:id="rId19"/>
    <p:sldId id="269" r:id="rId20"/>
    <p:sldId id="271" r:id="rId21"/>
    <p:sldId id="272" r:id="rId22"/>
  </p:sldIdLst>
  <p:sldSz cx="4610100" cy="346075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B67B"/>
    <a:srgbClr val="2640B7"/>
    <a:srgbClr val="A0A2A1"/>
    <a:srgbClr val="1C334E"/>
    <a:srgbClr val="FEFEFE"/>
    <a:srgbClr val="DAD1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F4AA8-06EC-F444-9EB1-363B45CA582B}" v="85" dt="2025-09-30T22:23:20.3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/>
    <p:restoredTop sz="94941"/>
  </p:normalViewPr>
  <p:slideViewPr>
    <p:cSldViewPr snapToGrid="0">
      <p:cViewPr varScale="1">
        <p:scale>
          <a:sx n="191" d="100"/>
          <a:sy n="191" d="100"/>
        </p:scale>
        <p:origin x="1832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59A37-F57B-F441-8FBD-4AEC1EB171A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1173163"/>
            <a:ext cx="421957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FA299-5294-AD47-8ACD-E81D24A76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4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 dirty="0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 dirty="0">
                <a:latin typeface="Arial"/>
                <a:cs typeface="Arial"/>
              </a:rPr>
              <a:t>B </a:t>
            </a:r>
            <a:r>
              <a:rPr sz="500" b="0" spc="10" dirty="0">
                <a:latin typeface="Arial"/>
                <a:cs typeface="Arial"/>
              </a:rPr>
              <a:t>U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20" dirty="0">
                <a:latin typeface="Arial"/>
                <a:cs typeface="Arial"/>
              </a:rPr>
              <a:t>I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20" dirty="0">
                <a:latin typeface="Arial"/>
                <a:cs typeface="Arial"/>
              </a:rPr>
              <a:t>N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-15" dirty="0">
                <a:latin typeface="Arial"/>
                <a:cs typeface="Arial"/>
              </a:rPr>
              <a:t>E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r>
              <a:rPr sz="500" b="0" spc="30" dirty="0">
                <a:latin typeface="Arial"/>
                <a:cs typeface="Arial"/>
              </a:rPr>
              <a:t> </a:t>
            </a:r>
            <a:r>
              <a:rPr sz="500" b="0" spc="5" dirty="0"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81489" y="3064475"/>
            <a:ext cx="343535" cy="101600"/>
          </a:xfrm>
        </p:spPr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 dirty="0"/>
              <a:t>P</a:t>
            </a:r>
            <a:r>
              <a:rPr spc="-5" dirty="0"/>
              <a:t>age</a:t>
            </a:r>
            <a:r>
              <a:rPr spc="-10" dirty="0"/>
              <a:t> </a:t>
            </a:r>
            <a:r>
              <a:rPr spc="-5" dirty="0"/>
              <a:t>2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4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spc="-5"/>
              <a:t>Leeds</a:t>
            </a:r>
          </a:p>
          <a:p>
            <a:pPr marL="12700">
              <a:lnSpc>
                <a:spcPts val="515"/>
              </a:lnSpc>
            </a:pPr>
            <a:r>
              <a:rPr sz="500" b="0" spc="25">
                <a:latin typeface="Arial"/>
                <a:cs typeface="Arial"/>
              </a:rPr>
              <a:t>B </a:t>
            </a:r>
            <a:r>
              <a:rPr sz="500" b="0" spc="10">
                <a:latin typeface="Arial"/>
                <a:cs typeface="Arial"/>
              </a:rPr>
              <a:t>U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20">
                <a:latin typeface="Arial"/>
                <a:cs typeface="Arial"/>
              </a:rPr>
              <a:t>I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20">
                <a:latin typeface="Arial"/>
                <a:cs typeface="Arial"/>
              </a:rPr>
              <a:t>N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-15">
                <a:latin typeface="Arial"/>
                <a:cs typeface="Arial"/>
              </a:rPr>
              <a:t>E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r>
              <a:rPr sz="500" b="0" spc="30">
                <a:latin typeface="Arial"/>
                <a:cs typeface="Arial"/>
              </a:rPr>
              <a:t> </a:t>
            </a:r>
            <a:r>
              <a:rPr sz="500" b="0" spc="5"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07481" y="3033934"/>
            <a:ext cx="34353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r>
              <a:rPr spc="-5"/>
              <a:t>2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0" y="392523"/>
            <a:ext cx="4067937" cy="75552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7.2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CASH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Professor Burnes</a:t>
            </a:r>
          </a:p>
          <a:p>
            <a:pPr algn="ctr"/>
            <a:r>
              <a:rPr lang="en-US" b="1"/>
              <a:t>Leeds School of Business</a:t>
            </a:r>
          </a:p>
          <a:p>
            <a:pPr algn="ctr"/>
            <a:r>
              <a:rPr lang="en-US" b="1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222B-136E-F070-36D4-5D24C5B8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MT1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01D15-1C6A-6306-3A85-73E7FCAAA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507831"/>
          </a:xfrm>
        </p:spPr>
        <p:txBody>
          <a:bodyPr/>
          <a:lstStyle/>
          <a:p>
            <a:r>
              <a:rPr lang="en-US" dirty="0"/>
              <a:t>Grading should be complete over the weekend</a:t>
            </a:r>
          </a:p>
          <a:p>
            <a:endParaRPr lang="en-US" dirty="0"/>
          </a:p>
          <a:p>
            <a:r>
              <a:rPr lang="en-US" dirty="0"/>
              <a:t>Remember this is a PIECE of your work portfolio</a:t>
            </a:r>
          </a:p>
        </p:txBody>
      </p:sp>
    </p:spTree>
    <p:extLst>
      <p:ext uri="{BB962C8B-B14F-4D97-AF65-F5344CB8AC3E}">
        <p14:creationId xmlns:p14="http://schemas.microsoft.com/office/powerpoint/2010/main" val="316587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5E26-AC95-6039-7EF0-6E5ED4FD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91887-84D9-1531-5B3F-A32F1F80A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031325"/>
          </a:xfrm>
        </p:spPr>
        <p:txBody>
          <a:bodyPr/>
          <a:lstStyle/>
          <a:p>
            <a:r>
              <a:rPr lang="en-US" dirty="0"/>
              <a:t>Talk CASH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Statement of Cash 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Working Capital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Net Working Capital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Cash Burn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Cash 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Net Cash Burn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Runway Implications</a:t>
            </a:r>
          </a:p>
          <a:p>
            <a:endParaRPr lang="en-US" dirty="0"/>
          </a:p>
          <a:p>
            <a:r>
              <a:rPr lang="en-US" dirty="0"/>
              <a:t>Review the Expectations for the Tesla Case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85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4C14-F4CC-12BB-90DB-66FCAD0B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CASH CASH CASH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D02F6-7022-82B3-10E1-370EEA4E0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69277"/>
          </a:xfrm>
        </p:spPr>
        <p:txBody>
          <a:bodyPr/>
          <a:lstStyle/>
          <a:p>
            <a:r>
              <a:rPr lang="en-US" dirty="0"/>
              <a:t>What do we mean when we talk about CASH</a:t>
            </a:r>
          </a:p>
        </p:txBody>
      </p:sp>
    </p:spTree>
    <p:extLst>
      <p:ext uri="{BB962C8B-B14F-4D97-AF65-F5344CB8AC3E}">
        <p14:creationId xmlns:p14="http://schemas.microsoft.com/office/powerpoint/2010/main" val="6575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65FA-0734-64F4-97B7-C9454A40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Statement of Cash 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62861-8502-E4BC-9A70-964D57049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493" y="622159"/>
            <a:ext cx="4216877" cy="1184940"/>
          </a:xfrm>
        </p:spPr>
        <p:txBody>
          <a:bodyPr/>
          <a:lstStyle/>
          <a:p>
            <a:r>
              <a:rPr lang="en-US" dirty="0"/>
              <a:t>The Statement of Cash Flows Gives Us:</a:t>
            </a:r>
          </a:p>
          <a:p>
            <a:endParaRPr lang="en-US" dirty="0"/>
          </a:p>
          <a:p>
            <a:r>
              <a:rPr lang="en-US" dirty="0"/>
              <a:t>Cashflows to/from Operations</a:t>
            </a:r>
          </a:p>
          <a:p>
            <a:endParaRPr lang="en-US" dirty="0"/>
          </a:p>
          <a:p>
            <a:r>
              <a:rPr lang="en-US" dirty="0"/>
              <a:t>Cashflows to/from Investments</a:t>
            </a:r>
          </a:p>
          <a:p>
            <a:endParaRPr lang="en-US" dirty="0"/>
          </a:p>
          <a:p>
            <a:r>
              <a:rPr lang="en-US" dirty="0"/>
              <a:t>Cashflows to/from Financing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F645E3-AD45-859A-EA1B-82B6A295E173}"/>
              </a:ext>
            </a:extLst>
          </p:cNvPr>
          <p:cNvSpPr/>
          <p:nvPr/>
        </p:nvSpPr>
        <p:spPr>
          <a:xfrm>
            <a:off x="45840" y="921124"/>
            <a:ext cx="221877" cy="208429"/>
          </a:xfrm>
          <a:prstGeom prst="ellipse">
            <a:avLst/>
          </a:prstGeom>
          <a:solidFill>
            <a:srgbClr val="CEB6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047AC3-92A9-4816-FC75-51658F8FE562}"/>
              </a:ext>
            </a:extLst>
          </p:cNvPr>
          <p:cNvSpPr/>
          <p:nvPr/>
        </p:nvSpPr>
        <p:spPr>
          <a:xfrm>
            <a:off x="45840" y="1250700"/>
            <a:ext cx="221877" cy="208429"/>
          </a:xfrm>
          <a:prstGeom prst="ellipse">
            <a:avLst/>
          </a:prstGeom>
          <a:solidFill>
            <a:srgbClr val="CEB6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308781-D31C-BF28-37FA-EF4602C3A353}"/>
              </a:ext>
            </a:extLst>
          </p:cNvPr>
          <p:cNvSpPr/>
          <p:nvPr/>
        </p:nvSpPr>
        <p:spPr>
          <a:xfrm>
            <a:off x="44616" y="1585988"/>
            <a:ext cx="221877" cy="208429"/>
          </a:xfrm>
          <a:prstGeom prst="ellipse">
            <a:avLst/>
          </a:prstGeom>
          <a:solidFill>
            <a:srgbClr val="CEB6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9610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B86F-2B38-6CB4-82CC-6D7DA0DF0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Let’s Take A Look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2699F-2D42-EA5C-863C-3C3B59A44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708434"/>
          </a:xfrm>
        </p:spPr>
        <p:txBody>
          <a:bodyPr/>
          <a:lstStyle/>
          <a:p>
            <a:r>
              <a:rPr lang="en-US" dirty="0"/>
              <a:t>Please see the Cashflows tab of the Week7.1 excel sheet</a:t>
            </a:r>
          </a:p>
          <a:p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Let’s look at from which Financial Statement the cash comes</a:t>
            </a:r>
          </a:p>
          <a:p>
            <a:pPr marL="228600" indent="-228600">
              <a:buAutoNum type="arabicParenR"/>
            </a:pPr>
            <a:r>
              <a:rPr lang="en-US" dirty="0"/>
              <a:t>Now note if it is </a:t>
            </a:r>
            <a:r>
              <a:rPr lang="en-US" b="1" dirty="0"/>
              <a:t>a single value </a:t>
            </a:r>
            <a:r>
              <a:rPr lang="en-US" dirty="0"/>
              <a:t>(comes from </a:t>
            </a:r>
            <a:r>
              <a:rPr lang="en-US" b="1" dirty="0"/>
              <a:t>Income Statement</a:t>
            </a:r>
            <a:r>
              <a:rPr lang="en-US" dirty="0"/>
              <a:t>), or is a </a:t>
            </a:r>
            <a:r>
              <a:rPr lang="en-US" b="1" i="1" dirty="0"/>
              <a:t>difference</a:t>
            </a:r>
            <a:r>
              <a:rPr lang="en-US" i="1" dirty="0"/>
              <a:t> </a:t>
            </a:r>
            <a:r>
              <a:rPr lang="en-US" dirty="0"/>
              <a:t>(comes from </a:t>
            </a:r>
            <a:r>
              <a:rPr lang="en-US" b="1" i="1" dirty="0"/>
              <a:t>Balance Sheet</a:t>
            </a:r>
            <a:r>
              <a:rPr lang="en-US" dirty="0"/>
              <a:t>)</a:t>
            </a:r>
          </a:p>
          <a:p>
            <a:pPr marL="228600" indent="-228600">
              <a:buAutoNum type="arabicParenR"/>
            </a:pPr>
            <a:r>
              <a:rPr lang="en-US" dirty="0"/>
              <a:t>Let’s fill in column E, Please WAIT before you calculate the totals for each section</a:t>
            </a:r>
          </a:p>
          <a:p>
            <a:pPr marL="228600" indent="-228600">
              <a:buAutoNum type="arabicParenR"/>
            </a:pPr>
            <a:r>
              <a:rPr lang="en-US" dirty="0"/>
              <a:t>NOTICE – in column A, I have shown whether you will ADD or SUBTRACT the number you get in column E.  That is, for example, if Accounts Receivable INCREASES between years, this is TAKING AWAY cash – that is, you counted it as Revenue, but you have NOT COLLECTED  it yet!</a:t>
            </a:r>
          </a:p>
          <a:p>
            <a:pPr marL="228600" indent="-228600">
              <a:buAutoNum type="arabicParenR"/>
            </a:pPr>
            <a:r>
              <a:rPr lang="en-US" dirty="0"/>
              <a:t>Calculate the Net Change in Cash</a:t>
            </a:r>
          </a:p>
          <a:p>
            <a:pPr marL="228600" indent="-228600">
              <a:buAutoNum type="arabicParenR"/>
            </a:pPr>
            <a:r>
              <a:rPr lang="en-US" dirty="0"/>
              <a:t>What was the Cash at the Beginning of the Year?</a:t>
            </a:r>
          </a:p>
          <a:p>
            <a:pPr marL="228600" indent="-228600">
              <a:buAutoNum type="arabicParenR"/>
            </a:pPr>
            <a:r>
              <a:rPr lang="en-US" dirty="0"/>
              <a:t>Calculate Cash at End of Year</a:t>
            </a:r>
          </a:p>
          <a:p>
            <a:pPr marL="228600" indent="-228600">
              <a:buAutoNum type="arabicParenR"/>
            </a:pPr>
            <a:r>
              <a:rPr lang="en-US" dirty="0"/>
              <a:t>Complete your Balance Sheet</a:t>
            </a:r>
          </a:p>
        </p:txBody>
      </p:sp>
    </p:spTree>
    <p:extLst>
      <p:ext uri="{BB962C8B-B14F-4D97-AF65-F5344CB8AC3E}">
        <p14:creationId xmlns:p14="http://schemas.microsoft.com/office/powerpoint/2010/main" val="203690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BE8D-D01A-BF88-DB4A-3634372AD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8" y="190295"/>
            <a:ext cx="3738283" cy="215444"/>
          </a:xfrm>
        </p:spPr>
        <p:txBody>
          <a:bodyPr/>
          <a:lstStyle/>
          <a:p>
            <a:r>
              <a:rPr lang="en-US" dirty="0"/>
              <a:t>Working Capital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6023C-728C-5E0A-F7DB-801F53BF8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417971" cy="2200602"/>
          </a:xfrm>
        </p:spPr>
        <p:txBody>
          <a:bodyPr/>
          <a:lstStyle/>
          <a:p>
            <a:r>
              <a:rPr lang="en-US" dirty="0"/>
              <a:t>Working Capital = Current Assets – Current Liabilities</a:t>
            </a:r>
          </a:p>
          <a:p>
            <a:endParaRPr lang="en-US" dirty="0"/>
          </a:p>
          <a:p>
            <a:r>
              <a:rPr lang="en-US" dirty="0"/>
              <a:t>This is a high level liquidity view of a business….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this business able to meet near term expenses</a:t>
            </a:r>
          </a:p>
          <a:p>
            <a:endParaRPr lang="en-US" dirty="0"/>
          </a:p>
          <a:p>
            <a:r>
              <a:rPr lang="en-US" dirty="0"/>
              <a:t>It also shows us how much capital is “tied up” in the business, vs deployed through Assets/Investments</a:t>
            </a:r>
          </a:p>
          <a:p>
            <a:endParaRPr lang="en-US" dirty="0"/>
          </a:p>
          <a:p>
            <a:r>
              <a:rPr lang="en-US" dirty="0"/>
              <a:t>**NOTE -- While we currently think of ‘short term’ as a year, depending on the phase of start up, short term can be a quarter, a month… or less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5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BF663-DD5D-20A1-F805-610F3B82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430887"/>
          </a:xfrm>
        </p:spPr>
        <p:txBody>
          <a:bodyPr/>
          <a:lstStyle/>
          <a:p>
            <a:r>
              <a:rPr lang="en-US" dirty="0"/>
              <a:t>Let’s look at the 7.2 spreadsheet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57695-7817-A150-D839-FE2C89AC9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69277"/>
          </a:xfrm>
        </p:spPr>
        <p:txBody>
          <a:bodyPr/>
          <a:lstStyle/>
          <a:p>
            <a:r>
              <a:rPr lang="en-US" dirty="0"/>
              <a:t>Calculate the 2023 Working Capital</a:t>
            </a:r>
          </a:p>
        </p:txBody>
      </p:sp>
    </p:spTree>
    <p:extLst>
      <p:ext uri="{BB962C8B-B14F-4D97-AF65-F5344CB8AC3E}">
        <p14:creationId xmlns:p14="http://schemas.microsoft.com/office/powerpoint/2010/main" val="133637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5CA5F-B5D9-306F-3E9F-7C0E0C81F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Net Working Capital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5975DB-AF42-0736-734A-C4E8C51EFB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3858" y="602754"/>
                <a:ext cx="4342383" cy="2200602"/>
              </a:xfrm>
            </p:spPr>
            <p:txBody>
              <a:bodyPr/>
              <a:lstStyle/>
              <a:p>
                <a:r>
                  <a:rPr lang="en-US" dirty="0"/>
                  <a:t>We Like:  </a:t>
                </a:r>
                <a:r>
                  <a:rPr lang="en-US" b="1" i="1" dirty="0"/>
                  <a:t>Net Working Capital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is:</a:t>
                </a:r>
              </a:p>
              <a:p>
                <a:r>
                  <a:rPr lang="en-US" dirty="0"/>
                  <a:t>NWC =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𝐶𝑢𝑟𝑟𝑒𝑛𝑡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𝐴𝑠𝑠𝑒𝑡𝑠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𝐶𝑎𝑠h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𝐶𝑢𝑟𝑟𝑒𝑛𝑡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𝐿𝑖𝑎𝑏𝑖𝑙𝑖𝑡𝑖𝑒𝑠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𝑆h𝑜𝑟𝑡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𝑇𝑒𝑟𝑚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𝐷𝑒𝑏𝑡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i="1" dirty="0"/>
                  <a:t>That is </a:t>
                </a:r>
                <a:r>
                  <a:rPr lang="en-US" b="1" i="1" dirty="0"/>
                  <a:t>Net Working Capital tells us how much CASH is actually tied up in the operations of the firm</a:t>
                </a:r>
                <a:endParaRPr lang="en-US" i="1" dirty="0"/>
              </a:p>
              <a:p>
                <a:endParaRPr lang="en-US" dirty="0"/>
              </a:p>
              <a:p>
                <a:r>
                  <a:rPr lang="en-US" dirty="0"/>
                  <a:t>RATIONALE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Cash is </a:t>
                </a:r>
                <a:r>
                  <a:rPr lang="en-US" b="1" i="1" dirty="0"/>
                  <a:t>DEPLOYABLE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dirty="0"/>
                  <a:t>We take out the Short Term Debt to assess the “quality” of my current assets – that is the amount not funded by DEBT.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5975DB-AF42-0736-734A-C4E8C51EF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3858" y="602754"/>
                <a:ext cx="4342383" cy="2200602"/>
              </a:xfrm>
              <a:blipFill>
                <a:blip r:embed="rId2"/>
                <a:stretch>
                  <a:fillRect l="-2041" t="-1724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85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CD55-EDCF-CF49-4600-D06B929C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041D-91B0-EA76-64C4-15573C0A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430887"/>
          </a:xfrm>
        </p:spPr>
        <p:txBody>
          <a:bodyPr/>
          <a:lstStyle/>
          <a:p>
            <a:r>
              <a:rPr lang="en-US" dirty="0"/>
              <a:t>Let’s look at the 7.2 spreadsheet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01B7F-4991-9DB8-37F7-D0CBC9763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7" y="709545"/>
            <a:ext cx="4342383" cy="846386"/>
          </a:xfrm>
        </p:spPr>
        <p:txBody>
          <a:bodyPr/>
          <a:lstStyle/>
          <a:p>
            <a:r>
              <a:rPr lang="en-US" dirty="0"/>
              <a:t>Calculate the 2024  Net Working Capital</a:t>
            </a:r>
          </a:p>
          <a:p>
            <a:endParaRPr lang="en-US" dirty="0"/>
          </a:p>
          <a:p>
            <a:r>
              <a:rPr lang="en-US" dirty="0"/>
              <a:t>What has changed?</a:t>
            </a:r>
          </a:p>
          <a:p>
            <a:endParaRPr lang="en-US" dirty="0"/>
          </a:p>
          <a:p>
            <a:r>
              <a:rPr lang="en-US" dirty="0"/>
              <a:t>Discuss this change/interpretation with your neighbor</a:t>
            </a:r>
          </a:p>
        </p:txBody>
      </p:sp>
    </p:spTree>
    <p:extLst>
      <p:ext uri="{BB962C8B-B14F-4D97-AF65-F5344CB8AC3E}">
        <p14:creationId xmlns:p14="http://schemas.microsoft.com/office/powerpoint/2010/main" val="76765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891B-D172-24C7-847F-09201922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8" y="190295"/>
            <a:ext cx="4342383" cy="646331"/>
          </a:xfrm>
        </p:spPr>
        <p:txBody>
          <a:bodyPr/>
          <a:lstStyle/>
          <a:p>
            <a:r>
              <a:rPr lang="en-US" dirty="0"/>
              <a:t>Do we use </a:t>
            </a:r>
            <a:r>
              <a:rPr lang="en-US" i="1" dirty="0"/>
              <a:t>Average </a:t>
            </a:r>
            <a:r>
              <a:rPr lang="en-US" dirty="0"/>
              <a:t> or </a:t>
            </a:r>
            <a:r>
              <a:rPr lang="en-US" i="1" dirty="0"/>
              <a:t>Actual</a:t>
            </a:r>
            <a:r>
              <a:rPr lang="en-US" dirty="0"/>
              <a:t> Current Assets, Inventories, Liabilities…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8A896-C7D5-4E16-088C-149CC39D0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7" y="836626"/>
            <a:ext cx="4342383" cy="1354217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Always check expectations and assumptions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Check WHAT MAKES SENSE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For our work, especially working with companies in high growth, we want ACTUAL. AVERAGE is going to overstate the PAST, rather than set more likely  EXPECTATIONS for future performance.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43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7EDE-5548-61F6-4C48-9DCBE8E3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B48E56-31A5-BD9D-E071-AAC87F0FC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152449"/>
              </p:ext>
            </p:extLst>
          </p:nvPr>
        </p:nvGraphicFramePr>
        <p:xfrm>
          <a:off x="140949" y="559382"/>
          <a:ext cx="4063955" cy="23419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2791">
                  <a:extLst>
                    <a:ext uri="{9D8B030D-6E8A-4147-A177-3AD203B41FA5}">
                      <a16:colId xmlns:a16="http://schemas.microsoft.com/office/drawing/2014/main" val="3054561480"/>
                    </a:ext>
                  </a:extLst>
                </a:gridCol>
                <a:gridCol w="812791">
                  <a:extLst>
                    <a:ext uri="{9D8B030D-6E8A-4147-A177-3AD203B41FA5}">
                      <a16:colId xmlns:a16="http://schemas.microsoft.com/office/drawing/2014/main" val="3836544713"/>
                    </a:ext>
                  </a:extLst>
                </a:gridCol>
                <a:gridCol w="812791">
                  <a:extLst>
                    <a:ext uri="{9D8B030D-6E8A-4147-A177-3AD203B41FA5}">
                      <a16:colId xmlns:a16="http://schemas.microsoft.com/office/drawing/2014/main" val="1380976852"/>
                    </a:ext>
                  </a:extLst>
                </a:gridCol>
                <a:gridCol w="812791">
                  <a:extLst>
                    <a:ext uri="{9D8B030D-6E8A-4147-A177-3AD203B41FA5}">
                      <a16:colId xmlns:a16="http://schemas.microsoft.com/office/drawing/2014/main" val="2045217688"/>
                    </a:ext>
                  </a:extLst>
                </a:gridCol>
                <a:gridCol w="812791">
                  <a:extLst>
                    <a:ext uri="{9D8B030D-6E8A-4147-A177-3AD203B41FA5}">
                      <a16:colId xmlns:a16="http://schemas.microsoft.com/office/drawing/2014/main" val="244247870"/>
                    </a:ext>
                  </a:extLst>
                </a:gridCol>
              </a:tblGrid>
              <a:tr h="42187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Year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Year 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NWC</a:t>
                      </a:r>
                    </a:p>
                    <a:p>
                      <a:r>
                        <a:rPr lang="en-US" sz="1100" dirty="0"/>
                        <a:t>Averages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NWC Actuals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963960"/>
                  </a:ext>
                </a:extLst>
              </a:tr>
              <a:tr h="421875">
                <a:tc>
                  <a:txBody>
                    <a:bodyPr/>
                    <a:lstStyle/>
                    <a:p>
                      <a:r>
                        <a:rPr lang="en-US" sz="1100" dirty="0"/>
                        <a:t>Current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196446"/>
                  </a:ext>
                </a:extLst>
              </a:tr>
              <a:tr h="329524">
                <a:tc>
                  <a:txBody>
                    <a:bodyPr/>
                    <a:lstStyle/>
                    <a:p>
                      <a:r>
                        <a:rPr lang="en-US" sz="1100" dirty="0"/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83065"/>
                  </a:ext>
                </a:extLst>
              </a:tr>
              <a:tr h="305581">
                <a:tc>
                  <a:txBody>
                    <a:bodyPr/>
                    <a:lstStyle/>
                    <a:p>
                      <a:r>
                        <a:rPr lang="en-US" sz="1100" dirty="0"/>
                        <a:t>Current Liabilities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848355"/>
                  </a:ext>
                </a:extLst>
              </a:tr>
              <a:tr h="305581">
                <a:tc>
                  <a:txBody>
                    <a:bodyPr/>
                    <a:lstStyle/>
                    <a:p>
                      <a:r>
                        <a:rPr lang="en-US" sz="1100" dirty="0"/>
                        <a:t>Short Term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890825"/>
                  </a:ext>
                </a:extLst>
              </a:tr>
              <a:tr h="305581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987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928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24CA-A161-5DFC-C468-7E4D4825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CASH Burn and CASH Build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C9759-C0A2-C0AD-D058-32ADA5325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354217"/>
          </a:xfrm>
        </p:spPr>
        <p:txBody>
          <a:bodyPr/>
          <a:lstStyle/>
          <a:p>
            <a:r>
              <a:rPr lang="en-US" dirty="0"/>
              <a:t>This is another way of using the financial statements to understand how a firm is burning and building cash.</a:t>
            </a:r>
          </a:p>
          <a:p>
            <a:endParaRPr lang="en-US" dirty="0"/>
          </a:p>
          <a:p>
            <a:r>
              <a:rPr lang="en-US" dirty="0"/>
              <a:t>It also creates a way to evaluate  a RATE of burning and building</a:t>
            </a:r>
          </a:p>
          <a:p>
            <a:endParaRPr lang="en-US" dirty="0"/>
          </a:p>
          <a:p>
            <a:r>
              <a:rPr lang="en-US" dirty="0"/>
              <a:t>IT ALSO creates a way to look at the NET Burn (or build), and in the case of a NET BURN, evaluate the </a:t>
            </a:r>
            <a:r>
              <a:rPr lang="en-US" b="1" dirty="0"/>
              <a:t>RUNWAY,  -- </a:t>
            </a:r>
            <a:r>
              <a:rPr lang="en-US" i="1" dirty="0"/>
              <a:t>how long does this firm have given its Cash position, and NET BURN RATE</a:t>
            </a:r>
          </a:p>
        </p:txBody>
      </p:sp>
    </p:spTree>
    <p:extLst>
      <p:ext uri="{BB962C8B-B14F-4D97-AF65-F5344CB8AC3E}">
        <p14:creationId xmlns:p14="http://schemas.microsoft.com/office/powerpoint/2010/main" val="132248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5526-2FD1-11F0-B070-D07A7064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Cash BURN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3C1A4-597A-E022-706A-50BCE4101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862048"/>
          </a:xfrm>
        </p:spPr>
        <p:txBody>
          <a:bodyPr/>
          <a:lstStyle/>
          <a:p>
            <a:r>
              <a:rPr lang="en-US" dirty="0"/>
              <a:t>Cash BURN: Cash that a venture </a:t>
            </a:r>
            <a:r>
              <a:rPr lang="en-US" b="1" dirty="0"/>
              <a:t>expends</a:t>
            </a:r>
            <a:r>
              <a:rPr lang="en-US" dirty="0"/>
              <a:t> on operating, financing and investing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Cash BURN </a:t>
            </a:r>
            <a:r>
              <a:rPr lang="en-US" dirty="0"/>
              <a:t>=</a:t>
            </a:r>
          </a:p>
          <a:p>
            <a:r>
              <a:rPr lang="en-US" dirty="0"/>
              <a:t>COGS + OPEX + R&amp;D + Interest + Taxes</a:t>
            </a:r>
          </a:p>
          <a:p>
            <a:r>
              <a:rPr lang="en-US" dirty="0"/>
              <a:t>+ Change in Inventories  - Change in A/P – Change Other Liabilities </a:t>
            </a:r>
          </a:p>
          <a:p>
            <a:r>
              <a:rPr lang="en-US" dirty="0"/>
              <a:t>+ CAPEX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build the Cash Burn for </a:t>
            </a:r>
            <a:r>
              <a:rPr lang="en-US" dirty="0" err="1"/>
              <a:t>TechInc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996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72D0-2E40-F079-0AC0-2F6DEB7D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Cash BUILD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CA4F7-034F-C904-7820-9B22BB63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846386"/>
          </a:xfrm>
        </p:spPr>
        <p:txBody>
          <a:bodyPr/>
          <a:lstStyle/>
          <a:p>
            <a:endParaRPr lang="en-US" dirty="0"/>
          </a:p>
          <a:p>
            <a:r>
              <a:rPr lang="en-US" b="1" dirty="0"/>
              <a:t>Cash Build =</a:t>
            </a:r>
            <a:endParaRPr lang="en-US" dirty="0"/>
          </a:p>
          <a:p>
            <a:r>
              <a:rPr lang="en-US" dirty="0"/>
              <a:t>Revenue – Change in Receivables</a:t>
            </a:r>
          </a:p>
          <a:p>
            <a:endParaRPr lang="en-US" dirty="0"/>
          </a:p>
          <a:p>
            <a:r>
              <a:rPr lang="en-US" dirty="0"/>
              <a:t>Let’s Calculate the Net Cash BUILD for </a:t>
            </a:r>
            <a:r>
              <a:rPr lang="en-US" dirty="0" err="1"/>
              <a:t>TechInc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495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E660-D2C2-F8C9-2B3E-0DCBF8F3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Net Cash Burn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41736-6544-104C-6C02-D61B8D95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058" y="583039"/>
            <a:ext cx="4342383" cy="2877711"/>
          </a:xfrm>
        </p:spPr>
        <p:txBody>
          <a:bodyPr/>
          <a:lstStyle/>
          <a:p>
            <a:r>
              <a:rPr lang="en-US" b="1" dirty="0"/>
              <a:t>Net Cash Burn</a:t>
            </a:r>
            <a:r>
              <a:rPr lang="en-US" dirty="0"/>
              <a:t> = Cash Burn – Cash Build</a:t>
            </a:r>
          </a:p>
          <a:p>
            <a:endParaRPr lang="en-US" b="1" dirty="0"/>
          </a:p>
          <a:p>
            <a:r>
              <a:rPr lang="en-US" dirty="0"/>
              <a:t>Let’s Calculate this for Tech Inc.</a:t>
            </a:r>
          </a:p>
          <a:p>
            <a:endParaRPr lang="en-US" dirty="0"/>
          </a:p>
          <a:p>
            <a:r>
              <a:rPr lang="en-US" dirty="0"/>
              <a:t>Is it &gt; or &lt; 0?</a:t>
            </a:r>
          </a:p>
          <a:p>
            <a:endParaRPr lang="en-US" dirty="0"/>
          </a:p>
          <a:p>
            <a:r>
              <a:rPr lang="en-US" dirty="0"/>
              <a:t>In this case it is &gt; 0, that is they are BUILDING cash</a:t>
            </a:r>
          </a:p>
          <a:p>
            <a:endParaRPr lang="en-US" dirty="0"/>
          </a:p>
          <a:p>
            <a:r>
              <a:rPr lang="en-US" b="1" i="1" dirty="0"/>
              <a:t>Indicative Example</a:t>
            </a:r>
          </a:p>
          <a:p>
            <a:r>
              <a:rPr lang="en-US" dirty="0"/>
              <a:t>What if it was &lt; 0  … that is - 424.</a:t>
            </a:r>
          </a:p>
          <a:p>
            <a:r>
              <a:rPr lang="en-US" dirty="0"/>
              <a:t>What would this mean on a monthly basis (assuming uniformly distributed)</a:t>
            </a:r>
          </a:p>
          <a:p>
            <a:r>
              <a:rPr lang="en-US" i="1" dirty="0"/>
              <a:t>It would mean that they are burning ~ $33/month</a:t>
            </a:r>
          </a:p>
          <a:p>
            <a:r>
              <a:rPr lang="en-US" dirty="0"/>
              <a:t>How much Cash do they have??</a:t>
            </a:r>
          </a:p>
          <a:p>
            <a:r>
              <a:rPr lang="en-US" dirty="0"/>
              <a:t>$76….</a:t>
            </a:r>
          </a:p>
          <a:p>
            <a:endParaRPr lang="en-US" dirty="0"/>
          </a:p>
          <a:p>
            <a:r>
              <a:rPr lang="en-US" dirty="0"/>
              <a:t>How many months do they have? 76/33 = 2.3 months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648C7F-5386-2342-D43B-04E0D92A62A2}"/>
              </a:ext>
            </a:extLst>
          </p:cNvPr>
          <p:cNvCxnSpPr/>
          <p:nvPr/>
        </p:nvCxnSpPr>
        <p:spPr>
          <a:xfrm>
            <a:off x="114300" y="1848971"/>
            <a:ext cx="4350124" cy="0"/>
          </a:xfrm>
          <a:prstGeom prst="line">
            <a:avLst/>
          </a:prstGeom>
          <a:ln w="57150">
            <a:solidFill>
              <a:srgbClr val="CEB6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43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8660-C94D-D296-1D3A-F9EC3E8C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CASH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7D971-B919-FF59-2C54-6A86A33A5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2200602"/>
          </a:xfrm>
        </p:spPr>
        <p:txBody>
          <a:bodyPr/>
          <a:lstStyle/>
          <a:p>
            <a:r>
              <a:rPr lang="en-US" dirty="0"/>
              <a:t>Statement of Cash Flows</a:t>
            </a:r>
          </a:p>
          <a:p>
            <a:endParaRPr lang="en-US" dirty="0"/>
          </a:p>
          <a:p>
            <a:r>
              <a:rPr lang="en-US" dirty="0"/>
              <a:t>Working Capital</a:t>
            </a:r>
          </a:p>
          <a:p>
            <a:r>
              <a:rPr lang="en-US" dirty="0"/>
              <a:t>Net Working Capital</a:t>
            </a:r>
          </a:p>
          <a:p>
            <a:endParaRPr lang="en-US" dirty="0"/>
          </a:p>
          <a:p>
            <a:r>
              <a:rPr lang="en-US" dirty="0"/>
              <a:t>Cash Burn</a:t>
            </a:r>
          </a:p>
          <a:p>
            <a:r>
              <a:rPr lang="en-US" dirty="0"/>
              <a:t>Cash Build</a:t>
            </a:r>
          </a:p>
          <a:p>
            <a:endParaRPr lang="en-US" dirty="0"/>
          </a:p>
          <a:p>
            <a:r>
              <a:rPr lang="en-US" dirty="0"/>
              <a:t>Net Cash Burn </a:t>
            </a:r>
          </a:p>
          <a:p>
            <a:r>
              <a:rPr lang="en-US" dirty="0"/>
              <a:t>See p. 187, #2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6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643E-8A76-AC55-003A-94EF24A6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Case, TESLA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81EA0-AE29-1C9C-6D91-12910B4FF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1184479" cy="846386"/>
          </a:xfrm>
        </p:spPr>
        <p:txBody>
          <a:bodyPr/>
          <a:lstStyle/>
          <a:p>
            <a:r>
              <a:rPr lang="en-US" b="1" dirty="0"/>
              <a:t>Written Reports:</a:t>
            </a:r>
          </a:p>
          <a:p>
            <a:endParaRPr lang="en-US" b="1" dirty="0"/>
          </a:p>
          <a:p>
            <a:r>
              <a:rPr lang="en-US" dirty="0"/>
              <a:t>Team 3</a:t>
            </a:r>
          </a:p>
          <a:p>
            <a:r>
              <a:rPr lang="en-US" dirty="0"/>
              <a:t>Team 6</a:t>
            </a:r>
          </a:p>
          <a:p>
            <a:r>
              <a:rPr lang="en-US" dirty="0"/>
              <a:t>Dude Diligence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A45F1-09AB-C57C-BBF8-3637713C96DB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1560826" y="795972"/>
            <a:ext cx="1350143" cy="2031325"/>
          </a:xfrm>
        </p:spPr>
        <p:txBody>
          <a:bodyPr/>
          <a:lstStyle/>
          <a:p>
            <a:r>
              <a:rPr lang="en-US" b="1" dirty="0"/>
              <a:t>Presenting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Dude Diligence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75F81C2-AAF2-0080-2E5D-B84B29E1466D}"/>
              </a:ext>
            </a:extLst>
          </p:cNvPr>
          <p:cNvSpPr txBox="1">
            <a:spLocks/>
          </p:cNvSpPr>
          <p:nvPr/>
        </p:nvSpPr>
        <p:spPr>
          <a:xfrm>
            <a:off x="3133976" y="795972"/>
            <a:ext cx="1350143" cy="203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/>
              <a:t>Responding:</a:t>
            </a:r>
          </a:p>
          <a:p>
            <a:endParaRPr lang="en-US" kern="0" dirty="0"/>
          </a:p>
          <a:p>
            <a:r>
              <a:rPr lang="en-US" kern="0" dirty="0"/>
              <a:t>B-Team</a:t>
            </a:r>
          </a:p>
          <a:p>
            <a:r>
              <a:rPr lang="en-US" kern="0" dirty="0"/>
              <a:t>Team 4</a:t>
            </a:r>
          </a:p>
          <a:p>
            <a:r>
              <a:rPr lang="en-US" kern="0" dirty="0">
                <a:highlight>
                  <a:srgbClr val="FFFF00"/>
                </a:highlight>
              </a:rPr>
              <a:t>Team 3</a:t>
            </a:r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98086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35BD-09F0-BD06-12F5-352ABC21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430887"/>
          </a:xfrm>
        </p:spPr>
        <p:txBody>
          <a:bodyPr/>
          <a:lstStyle/>
          <a:p>
            <a:r>
              <a:rPr lang="en-US" dirty="0"/>
              <a:t>CASH is the theme we will focus on with Tesla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6558C-9EA8-F76D-57D6-AA0E4EB6A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7" y="954995"/>
            <a:ext cx="4342383" cy="135421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Cash Burn, Build, Net Burn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Each Area of Statement of Cash 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Equity Multiplier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Liquidity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you give your recommendation, note that the quality of your calculations, market understanding, and logic drive the success of your work.</a:t>
            </a:r>
          </a:p>
        </p:txBody>
      </p:sp>
    </p:spTree>
    <p:extLst>
      <p:ext uri="{BB962C8B-B14F-4D97-AF65-F5344CB8AC3E}">
        <p14:creationId xmlns:p14="http://schemas.microsoft.com/office/powerpoint/2010/main" val="3672752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8D9B-2E25-846F-2F86-CF9F27B4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Rubrics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418A1-6C88-0AAA-AFF0-AAE303B88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338554"/>
          </a:xfrm>
        </p:spPr>
        <p:txBody>
          <a:bodyPr/>
          <a:lstStyle/>
          <a:p>
            <a:r>
              <a:rPr lang="en-US" dirty="0"/>
              <a:t>Please see the Rubrics in the Group Project Section.</a:t>
            </a:r>
          </a:p>
          <a:p>
            <a:r>
              <a:rPr lang="en-US" dirty="0"/>
              <a:t>The Rubrics for Written and Presented work are provided. </a:t>
            </a:r>
          </a:p>
        </p:txBody>
      </p:sp>
    </p:spTree>
    <p:extLst>
      <p:ext uri="{BB962C8B-B14F-4D97-AF65-F5344CB8AC3E}">
        <p14:creationId xmlns:p14="http://schemas.microsoft.com/office/powerpoint/2010/main" val="2387257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5547-896C-1BCA-B25F-48E13932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/>
              <a:t>Next Week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154A1-2F14-A0FC-1D69-DE8F55FD3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523494"/>
          </a:xfrm>
        </p:spPr>
        <p:txBody>
          <a:bodyPr/>
          <a:lstStyle/>
          <a:p>
            <a:r>
              <a:rPr lang="en-US" dirty="0"/>
              <a:t>Sunday at 8:00  PM  </a:t>
            </a:r>
            <a:r>
              <a:rPr lang="en-US" b="1" dirty="0"/>
              <a:t>TESLA PRE QUIZ OPENS</a:t>
            </a:r>
          </a:p>
          <a:p>
            <a:endParaRPr lang="en-US" dirty="0"/>
          </a:p>
          <a:p>
            <a:r>
              <a:rPr lang="en-US" dirty="0"/>
              <a:t>Monday at 12:30 first presentation.  Discussion. Dr Burnes presents takeaways, calculations.</a:t>
            </a:r>
          </a:p>
          <a:p>
            <a:endParaRPr lang="en-US" dirty="0"/>
          </a:p>
          <a:p>
            <a:r>
              <a:rPr lang="en-US" dirty="0"/>
              <a:t>Monday at 2:00 pm your Case Response opens.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Wednesday: Forecasting and MANAGING Cash Needs</a:t>
            </a:r>
          </a:p>
        </p:txBody>
      </p:sp>
    </p:spTree>
    <p:extLst>
      <p:ext uri="{BB962C8B-B14F-4D97-AF65-F5344CB8AC3E}">
        <p14:creationId xmlns:p14="http://schemas.microsoft.com/office/powerpoint/2010/main" val="1662783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2760</TotalTime>
  <Words>950</Words>
  <Application>Microsoft Macintosh PowerPoint</Application>
  <PresentationFormat>Custom</PresentationFormat>
  <Paragraphs>197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Garamond</vt:lpstr>
      <vt:lpstr>Rockwell</vt:lpstr>
      <vt:lpstr>Office Theme</vt:lpstr>
      <vt:lpstr>7.2 CASH</vt:lpstr>
      <vt:lpstr>MT1</vt:lpstr>
      <vt:lpstr>TODAY</vt:lpstr>
      <vt:lpstr>CASH CASH CASH</vt:lpstr>
      <vt:lpstr>Statement of Cash Flows</vt:lpstr>
      <vt:lpstr>Let’s Take A Look</vt:lpstr>
      <vt:lpstr>Working Capital</vt:lpstr>
      <vt:lpstr>Let’s look at the 7.2 spreadsheet</vt:lpstr>
      <vt:lpstr>Net Working Capital</vt:lpstr>
      <vt:lpstr>Let’s look at the 7.2 spreadsheet</vt:lpstr>
      <vt:lpstr>Do we use Average  or Actual Current Assets, Inventories, Liabilities…</vt:lpstr>
      <vt:lpstr>EXAMPLE</vt:lpstr>
      <vt:lpstr>CASH Burn and CASH Build</vt:lpstr>
      <vt:lpstr>Cash BURN</vt:lpstr>
      <vt:lpstr>Cash BUILD</vt:lpstr>
      <vt:lpstr>Net Cash Burn</vt:lpstr>
      <vt:lpstr>CASH</vt:lpstr>
      <vt:lpstr>1st Case, TESLA</vt:lpstr>
      <vt:lpstr>CASH is the theme we will focus on with Tesla</vt:lpstr>
      <vt:lpstr>Rubrics</vt:lpstr>
      <vt:lpstr>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3</dc:title>
  <dc:creator>Shaun Davies, CU-Boulder</dc:creator>
  <cp:lastModifiedBy>Ellen Burnes</cp:lastModifiedBy>
  <cp:revision>11</cp:revision>
  <cp:lastPrinted>2022-02-03T05:39:17Z</cp:lastPrinted>
  <dcterms:created xsi:type="dcterms:W3CDTF">2022-01-05T04:34:45Z</dcterms:created>
  <dcterms:modified xsi:type="dcterms:W3CDTF">2025-09-30T22:42:39Z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2017-03-19T00:00:00Z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