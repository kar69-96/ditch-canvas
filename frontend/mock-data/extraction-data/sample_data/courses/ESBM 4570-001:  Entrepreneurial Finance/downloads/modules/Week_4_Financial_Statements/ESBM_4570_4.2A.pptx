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sldIdLst>
    <p:sldId id="256" r:id="rId2"/>
    <p:sldId id="266" r:id="rId3"/>
    <p:sldId id="400" r:id="rId4"/>
    <p:sldId id="271" r:id="rId5"/>
    <p:sldId id="278" r:id="rId6"/>
    <p:sldId id="282" r:id="rId7"/>
    <p:sldId id="285" r:id="rId8"/>
    <p:sldId id="402" r:id="rId9"/>
    <p:sldId id="276" r:id="rId10"/>
    <p:sldId id="272" r:id="rId11"/>
    <p:sldId id="279" r:id="rId12"/>
    <p:sldId id="281" r:id="rId13"/>
    <p:sldId id="280" r:id="rId14"/>
    <p:sldId id="405" r:id="rId15"/>
    <p:sldId id="290" r:id="rId16"/>
    <p:sldId id="403" r:id="rId17"/>
    <p:sldId id="404" r:id="rId18"/>
  </p:sldIdLst>
  <p:sldSz cx="4610100" cy="3460750"/>
  <p:notesSz cx="4610100" cy="346075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EB67B"/>
    <a:srgbClr val="A0A2A1"/>
    <a:srgbClr val="5169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A7D4CBC-0B11-C34D-BF5C-F09648F03BD3}" v="9" dt="2022-08-29T20:36:40.106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67"/>
    <p:restoredTop sz="94830"/>
  </p:normalViewPr>
  <p:slideViewPr>
    <p:cSldViewPr snapToGrid="0">
      <p:cViewPr varScale="1">
        <p:scale>
          <a:sx n="240" d="100"/>
          <a:sy n="240" d="100"/>
        </p:scale>
        <p:origin x="1808" y="184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1997075" cy="1730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611438" y="0"/>
            <a:ext cx="1997075" cy="1730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6242BC-AF68-414B-8622-6AC13D9F4F1F}" type="datetimeFigureOut">
              <a:rPr lang="en-US" smtClean="0"/>
              <a:t>9/9/25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527175" y="433388"/>
            <a:ext cx="1555750" cy="11668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460375" y="1665288"/>
            <a:ext cx="3689350" cy="136366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3287713"/>
            <a:ext cx="1997075" cy="1730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611438" y="3287713"/>
            <a:ext cx="1997075" cy="1730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FC8FC9-DCDB-4EAE-B3A7-1B2D2F2E67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39922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0FA299-5294-AD47-8ACD-E81D24A7609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4538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45757" y="1072832"/>
            <a:ext cx="3918585" cy="72675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691515" y="1938020"/>
            <a:ext cx="3227070" cy="8651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85"/>
              </a:lnSpc>
            </a:pPr>
            <a:r>
              <a:rPr lang="en-US" spc="-10"/>
              <a:t>ESBM 4570 Fall  2022</a:t>
            </a:r>
            <a:endParaRPr spc="-5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350" b="1" i="0">
                <a:solidFill>
                  <a:srgbClr val="231F20"/>
                </a:solidFill>
                <a:latin typeface="Rockwell"/>
                <a:cs typeface="Rockwell"/>
              </a:defRPr>
            </a:lvl1pPr>
          </a:lstStyle>
          <a:p>
            <a:pPr marL="12700">
              <a:lnSpc>
                <a:spcPts val="1535"/>
              </a:lnSpc>
              <a:spcBef>
                <a:spcPts val="75"/>
              </a:spcBef>
            </a:pPr>
            <a:r>
              <a:rPr lang="en-US" spc="-5"/>
              <a:t>Leeds B U S I N E S S</a:t>
            </a:r>
            <a:endParaRPr sz="500">
              <a:latin typeface="Arial"/>
              <a:cs typeface="Arial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85"/>
              </a:lnSpc>
            </a:pPr>
            <a:r>
              <a:rPr spc="-35"/>
              <a:t>P</a:t>
            </a:r>
            <a:r>
              <a:rPr spc="-5"/>
              <a:t>age</a:t>
            </a:r>
            <a:r>
              <a:rPr spc="-10"/>
              <a:t> </a:t>
            </a:r>
            <a:fld id="{81D60167-4931-47E6-BA6A-407CBD079E47}" type="slidenum">
              <a:rPr spc="-5" dirty="0"/>
              <a:t>‹#›</a:t>
            </a:fld>
            <a:endParaRPr spc="-5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526894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85"/>
              </a:lnSpc>
            </a:pPr>
            <a:r>
              <a:rPr lang="en-US" spc="-10"/>
              <a:t>ESBM 4570 Fall 2022</a:t>
            </a:r>
            <a:endParaRPr spc="-5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350" b="1" i="0">
                <a:solidFill>
                  <a:srgbClr val="231F20"/>
                </a:solidFill>
                <a:latin typeface="Rockwell"/>
                <a:cs typeface="Rockwell"/>
              </a:defRPr>
            </a:lvl1pPr>
          </a:lstStyle>
          <a:p>
            <a:pPr marL="12700">
              <a:lnSpc>
                <a:spcPts val="1535"/>
              </a:lnSpc>
              <a:spcBef>
                <a:spcPts val="75"/>
              </a:spcBef>
            </a:pPr>
            <a:r>
              <a:rPr lang="en-US" spc="-5"/>
              <a:t>Leeds B U S I N E S S</a:t>
            </a:r>
            <a:endParaRPr sz="500">
              <a:latin typeface="Arial"/>
              <a:cs typeface="Arial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85"/>
              </a:lnSpc>
            </a:pPr>
            <a:r>
              <a:rPr spc="-35"/>
              <a:t>P</a:t>
            </a:r>
            <a:r>
              <a:rPr spc="-5"/>
              <a:t>age</a:t>
            </a:r>
            <a:r>
              <a:rPr spc="-10"/>
              <a:t> </a:t>
            </a:r>
            <a:fld id="{81D60167-4931-47E6-BA6A-407CBD079E47}" type="slidenum">
              <a:rPr spc="-5" dirty="0"/>
              <a:t>‹#›</a:t>
            </a:fld>
            <a:endParaRPr spc="-5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526894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30505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374201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85"/>
              </a:lnSpc>
            </a:pPr>
            <a:r>
              <a:rPr lang="en-US" spc="-10"/>
              <a:t>ESBM 4570 Fall 2022</a:t>
            </a:r>
            <a:endParaRPr spc="-5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350" b="1" i="0">
                <a:solidFill>
                  <a:srgbClr val="231F20"/>
                </a:solidFill>
                <a:latin typeface="Rockwell"/>
                <a:cs typeface="Rockwell"/>
              </a:defRPr>
            </a:lvl1pPr>
          </a:lstStyle>
          <a:p>
            <a:pPr marL="12700">
              <a:lnSpc>
                <a:spcPts val="1535"/>
              </a:lnSpc>
              <a:spcBef>
                <a:spcPts val="75"/>
              </a:spcBef>
            </a:pPr>
            <a:r>
              <a:rPr lang="en-US" spc="-5"/>
              <a:t>Leeds B U S I N E S S</a:t>
            </a:r>
            <a:endParaRPr sz="500">
              <a:latin typeface="Arial"/>
              <a:cs typeface="Arial"/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85"/>
              </a:lnSpc>
            </a:pPr>
            <a:r>
              <a:rPr spc="-35"/>
              <a:t>P</a:t>
            </a:r>
            <a:r>
              <a:rPr spc="-5"/>
              <a:t>age</a:t>
            </a:r>
            <a:r>
              <a:rPr spc="-10"/>
              <a:t> </a:t>
            </a:r>
            <a:fld id="{81D60167-4931-47E6-BA6A-407CBD079E47}" type="slidenum">
              <a:rPr spc="-5" dirty="0"/>
              <a:t>‹#›</a:t>
            </a:fld>
            <a:endParaRPr spc="-5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526894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85"/>
              </a:lnSpc>
            </a:pPr>
            <a:r>
              <a:rPr lang="en-US" spc="-10"/>
              <a:t>ESBM 4570 Fall 2022</a:t>
            </a:r>
            <a:endParaRPr spc="-5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350" b="1" i="0">
                <a:solidFill>
                  <a:srgbClr val="231F20"/>
                </a:solidFill>
                <a:latin typeface="Rockwell"/>
                <a:cs typeface="Rockwell"/>
              </a:defRPr>
            </a:lvl1pPr>
          </a:lstStyle>
          <a:p>
            <a:pPr marL="12700">
              <a:lnSpc>
                <a:spcPts val="1535"/>
              </a:lnSpc>
              <a:spcBef>
                <a:spcPts val="75"/>
              </a:spcBef>
            </a:pPr>
            <a:r>
              <a:rPr lang="en-US" spc="-5"/>
              <a:t>Leeds B U S I N E S S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85"/>
              </a:lnSpc>
            </a:pPr>
            <a:r>
              <a:rPr spc="-35"/>
              <a:t>P</a:t>
            </a:r>
            <a:r>
              <a:rPr spc="-5"/>
              <a:t>age</a:t>
            </a:r>
            <a:r>
              <a:rPr spc="-10"/>
              <a:t> </a:t>
            </a:r>
            <a:fld id="{81D60167-4931-47E6-BA6A-407CBD079E47}" type="slidenum">
              <a:rPr spc="-5" dirty="0"/>
              <a:t>‹#›</a:t>
            </a:fld>
            <a:endParaRPr spc="-5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85"/>
              </a:lnSpc>
            </a:pPr>
            <a:r>
              <a:rPr lang="en-US" spc="-10"/>
              <a:t>ESBM 4570 Fall 2022</a:t>
            </a:r>
            <a:endParaRPr spc="-5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350" b="1" i="0">
                <a:solidFill>
                  <a:srgbClr val="231F20"/>
                </a:solidFill>
                <a:latin typeface="Rockwell"/>
                <a:cs typeface="Rockwell"/>
              </a:defRPr>
            </a:lvl1pPr>
          </a:lstStyle>
          <a:p>
            <a:pPr marL="12700">
              <a:lnSpc>
                <a:spcPts val="1535"/>
              </a:lnSpc>
              <a:spcBef>
                <a:spcPts val="75"/>
              </a:spcBef>
            </a:pPr>
            <a:r>
              <a:rPr lang="en-US" spc="-5"/>
              <a:t>Leeds B U S I N E S S</a:t>
            </a:r>
            <a:endParaRPr sz="500">
              <a:latin typeface="Arial"/>
              <a:cs typeface="Arial"/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85"/>
              </a:lnSpc>
            </a:pPr>
            <a:r>
              <a:rPr spc="-35"/>
              <a:t>P</a:t>
            </a:r>
            <a:r>
              <a:rPr spc="-5"/>
              <a:t>age</a:t>
            </a:r>
            <a:r>
              <a:rPr spc="-10"/>
              <a:t> </a:t>
            </a:r>
            <a:fld id="{81D60167-4931-47E6-BA6A-407CBD079E47}" type="slidenum">
              <a:rPr spc="-5" dirty="0"/>
              <a:t>‹#›</a:t>
            </a:fld>
            <a:endParaRPr spc="-5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-152" y="0"/>
            <a:ext cx="4608830" cy="3456940"/>
          </a:xfrm>
          <a:custGeom>
            <a:avLst/>
            <a:gdLst/>
            <a:ahLst/>
            <a:cxnLst/>
            <a:rect l="l" t="t" r="r" b="b"/>
            <a:pathLst>
              <a:path w="4608830" h="3456940">
                <a:moveTo>
                  <a:pt x="0" y="3456431"/>
                </a:moveTo>
                <a:lnTo>
                  <a:pt x="4608576" y="3456431"/>
                </a:lnTo>
                <a:lnTo>
                  <a:pt x="4608576" y="0"/>
                </a:lnTo>
                <a:lnTo>
                  <a:pt x="0" y="0"/>
                </a:lnTo>
                <a:lnTo>
                  <a:pt x="0" y="3456431"/>
                </a:lnTo>
                <a:close/>
              </a:path>
            </a:pathLst>
          </a:custGeom>
          <a:solidFill>
            <a:srgbClr val="FEFEF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-152" y="0"/>
            <a:ext cx="2304415" cy="129539"/>
          </a:xfrm>
          <a:custGeom>
            <a:avLst/>
            <a:gdLst/>
            <a:ahLst/>
            <a:cxnLst/>
            <a:rect l="l" t="t" r="r" b="b"/>
            <a:pathLst>
              <a:path w="2304415" h="129539">
                <a:moveTo>
                  <a:pt x="0" y="129540"/>
                </a:moveTo>
                <a:lnTo>
                  <a:pt x="2304288" y="129540"/>
                </a:lnTo>
                <a:lnTo>
                  <a:pt x="2304288" y="0"/>
                </a:lnTo>
                <a:lnTo>
                  <a:pt x="0" y="0"/>
                </a:lnTo>
                <a:lnTo>
                  <a:pt x="0" y="129540"/>
                </a:lnTo>
                <a:close/>
              </a:path>
            </a:pathLst>
          </a:custGeom>
          <a:solidFill>
            <a:srgbClr val="A0A2A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2304135" y="0"/>
            <a:ext cx="2304415" cy="129539"/>
          </a:xfrm>
          <a:custGeom>
            <a:avLst/>
            <a:gdLst/>
            <a:ahLst/>
            <a:cxnLst/>
            <a:rect l="l" t="t" r="r" b="b"/>
            <a:pathLst>
              <a:path w="2304415" h="129539">
                <a:moveTo>
                  <a:pt x="0" y="129540"/>
                </a:moveTo>
                <a:lnTo>
                  <a:pt x="2304288" y="129540"/>
                </a:lnTo>
                <a:lnTo>
                  <a:pt x="2304288" y="0"/>
                </a:lnTo>
                <a:lnTo>
                  <a:pt x="0" y="0"/>
                </a:lnTo>
                <a:lnTo>
                  <a:pt x="0" y="129540"/>
                </a:lnTo>
                <a:close/>
              </a:path>
            </a:pathLst>
          </a:custGeom>
          <a:solidFill>
            <a:srgbClr val="CEB67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26439" y="190295"/>
            <a:ext cx="3153410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rgbClr val="526894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26238" y="572274"/>
            <a:ext cx="4357623" cy="23685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36295" y="3344562"/>
            <a:ext cx="864869" cy="8976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85"/>
              </a:lnSpc>
            </a:pPr>
            <a:r>
              <a:rPr lang="en-US" spc="-10"/>
              <a:t>ESBM 4570 Fall 2022</a:t>
            </a:r>
            <a:endParaRPr spc="-5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966640" y="2949162"/>
            <a:ext cx="526414" cy="2711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50" b="1" i="0">
                <a:solidFill>
                  <a:srgbClr val="231F20"/>
                </a:solidFill>
                <a:latin typeface="Rockwell"/>
                <a:cs typeface="Rockwell"/>
              </a:defRPr>
            </a:lvl1pPr>
          </a:lstStyle>
          <a:p>
            <a:pPr marL="12700">
              <a:lnSpc>
                <a:spcPts val="1535"/>
              </a:lnSpc>
              <a:spcBef>
                <a:spcPts val="75"/>
              </a:spcBef>
            </a:pPr>
            <a:r>
              <a:rPr lang="en-US" spc="-5"/>
              <a:t>Leeds B U S I N E S S</a:t>
            </a:r>
            <a:endParaRPr sz="500">
              <a:latin typeface="Arial"/>
              <a:cs typeface="Arial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3708906" y="3344562"/>
            <a:ext cx="300989" cy="101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85"/>
              </a:lnSpc>
            </a:pPr>
            <a:r>
              <a:rPr spc="-35"/>
              <a:t>P</a:t>
            </a:r>
            <a:r>
              <a:rPr spc="-5"/>
              <a:t>age</a:t>
            </a:r>
            <a:r>
              <a:rPr spc="-10"/>
              <a:t> </a:t>
            </a:r>
            <a:fld id="{81D60167-4931-47E6-BA6A-407CBD079E47}" type="slidenum">
              <a:rPr spc="-5" dirty="0"/>
              <a:t>‹#›</a:t>
            </a:fld>
            <a:endParaRPr spc="-5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966640" y="2946437"/>
            <a:ext cx="526415" cy="2311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50" b="1" spc="-5" dirty="0">
                <a:solidFill>
                  <a:srgbClr val="231F20"/>
                </a:solidFill>
                <a:latin typeface="Rockwell"/>
                <a:cs typeface="Rockwell"/>
              </a:rPr>
              <a:t>Leeds</a:t>
            </a:r>
            <a:endParaRPr sz="1350">
              <a:latin typeface="Rockwell"/>
              <a:cs typeface="Rockwel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3648455" y="2932247"/>
            <a:ext cx="297815" cy="287655"/>
            <a:chOff x="3648455" y="2932247"/>
            <a:chExt cx="297815" cy="287655"/>
          </a:xfrm>
        </p:grpSpPr>
        <p:sp>
          <p:nvSpPr>
            <p:cNvPr id="4" name="object 4"/>
            <p:cNvSpPr/>
            <p:nvPr/>
          </p:nvSpPr>
          <p:spPr>
            <a:xfrm>
              <a:off x="3648455" y="2932247"/>
              <a:ext cx="297815" cy="287655"/>
            </a:xfrm>
            <a:custGeom>
              <a:avLst/>
              <a:gdLst/>
              <a:ahLst/>
              <a:cxnLst/>
              <a:rect l="l" t="t" r="r" b="b"/>
              <a:pathLst>
                <a:path w="297814" h="287655">
                  <a:moveTo>
                    <a:pt x="175778" y="0"/>
                  </a:moveTo>
                  <a:lnTo>
                    <a:pt x="39471" y="0"/>
                  </a:lnTo>
                  <a:lnTo>
                    <a:pt x="0" y="39421"/>
                  </a:lnTo>
                  <a:lnTo>
                    <a:pt x="0" y="175503"/>
                  </a:lnTo>
                  <a:lnTo>
                    <a:pt x="39471" y="214896"/>
                  </a:lnTo>
                  <a:lnTo>
                    <a:pt x="82753" y="214896"/>
                  </a:lnTo>
                  <a:lnTo>
                    <a:pt x="82753" y="248012"/>
                  </a:lnTo>
                  <a:lnTo>
                    <a:pt x="122544" y="287452"/>
                  </a:lnTo>
                  <a:lnTo>
                    <a:pt x="237576" y="287452"/>
                  </a:lnTo>
                  <a:lnTo>
                    <a:pt x="277459" y="248043"/>
                  </a:lnTo>
                  <a:lnTo>
                    <a:pt x="277459" y="142625"/>
                  </a:lnTo>
                  <a:lnTo>
                    <a:pt x="297774" y="142625"/>
                  </a:lnTo>
                  <a:lnTo>
                    <a:pt x="297774" y="72443"/>
                  </a:lnTo>
                  <a:lnTo>
                    <a:pt x="215127" y="72443"/>
                  </a:lnTo>
                  <a:lnTo>
                    <a:pt x="215127" y="39427"/>
                  </a:lnTo>
                  <a:lnTo>
                    <a:pt x="175778" y="0"/>
                  </a:lnTo>
                  <a:close/>
                </a:path>
              </a:pathLst>
            </a:custGeom>
            <a:solidFill>
              <a:srgbClr val="CFB8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652540" y="2936332"/>
              <a:ext cx="290195" cy="279400"/>
            </a:xfrm>
            <a:custGeom>
              <a:avLst/>
              <a:gdLst/>
              <a:ahLst/>
              <a:cxnLst/>
              <a:rect l="l" t="t" r="r" b="b"/>
              <a:pathLst>
                <a:path w="290195" h="279400">
                  <a:moveTo>
                    <a:pt x="170017" y="0"/>
                  </a:moveTo>
                  <a:lnTo>
                    <a:pt x="37063" y="0"/>
                  </a:lnTo>
                  <a:lnTo>
                    <a:pt x="0" y="37033"/>
                  </a:lnTo>
                  <a:lnTo>
                    <a:pt x="0" y="169705"/>
                  </a:lnTo>
                  <a:lnTo>
                    <a:pt x="37063" y="206727"/>
                  </a:lnTo>
                  <a:lnTo>
                    <a:pt x="82783" y="206727"/>
                  </a:lnTo>
                  <a:lnTo>
                    <a:pt x="82783" y="242244"/>
                  </a:lnTo>
                  <a:lnTo>
                    <a:pt x="120136" y="279266"/>
                  </a:lnTo>
                  <a:lnTo>
                    <a:pt x="231815" y="279266"/>
                  </a:lnTo>
                  <a:lnTo>
                    <a:pt x="269275" y="242244"/>
                  </a:lnTo>
                  <a:lnTo>
                    <a:pt x="269275" y="134474"/>
                  </a:lnTo>
                  <a:lnTo>
                    <a:pt x="289590" y="134474"/>
                  </a:lnTo>
                  <a:lnTo>
                    <a:pt x="289590" y="72455"/>
                  </a:lnTo>
                  <a:lnTo>
                    <a:pt x="206943" y="72455"/>
                  </a:lnTo>
                  <a:lnTo>
                    <a:pt x="206943" y="37039"/>
                  </a:lnTo>
                  <a:lnTo>
                    <a:pt x="170017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662751" y="2946553"/>
              <a:ext cx="269240" cy="259079"/>
            </a:xfrm>
            <a:custGeom>
              <a:avLst/>
              <a:gdLst/>
              <a:ahLst/>
              <a:cxnLst/>
              <a:rect l="l" t="t" r="r" b="b"/>
              <a:pathLst>
                <a:path w="269239" h="259080">
                  <a:moveTo>
                    <a:pt x="155554" y="0"/>
                  </a:moveTo>
                  <a:lnTo>
                    <a:pt x="31104" y="0"/>
                  </a:lnTo>
                  <a:lnTo>
                    <a:pt x="0" y="31039"/>
                  </a:lnTo>
                  <a:lnTo>
                    <a:pt x="0" y="155245"/>
                  </a:lnTo>
                  <a:lnTo>
                    <a:pt x="31104" y="186266"/>
                  </a:lnTo>
                  <a:lnTo>
                    <a:pt x="82783" y="186266"/>
                  </a:lnTo>
                  <a:lnTo>
                    <a:pt x="82783" y="227754"/>
                  </a:lnTo>
                  <a:lnTo>
                    <a:pt x="114132" y="258823"/>
                  </a:lnTo>
                  <a:lnTo>
                    <a:pt x="217413" y="258823"/>
                  </a:lnTo>
                  <a:lnTo>
                    <a:pt x="248838" y="227754"/>
                  </a:lnTo>
                  <a:lnTo>
                    <a:pt x="248838" y="114013"/>
                  </a:lnTo>
                  <a:lnTo>
                    <a:pt x="269168" y="114013"/>
                  </a:lnTo>
                  <a:lnTo>
                    <a:pt x="269168" y="72455"/>
                  </a:lnTo>
                  <a:lnTo>
                    <a:pt x="206822" y="72455"/>
                  </a:lnTo>
                  <a:lnTo>
                    <a:pt x="206822" y="217311"/>
                  </a:lnTo>
                  <a:lnTo>
                    <a:pt x="124327" y="217311"/>
                  </a:lnTo>
                  <a:lnTo>
                    <a:pt x="124327" y="186266"/>
                  </a:lnTo>
                  <a:lnTo>
                    <a:pt x="155554" y="186266"/>
                  </a:lnTo>
                  <a:lnTo>
                    <a:pt x="186522" y="155245"/>
                  </a:lnTo>
                  <a:lnTo>
                    <a:pt x="186522" y="114013"/>
                  </a:lnTo>
                  <a:lnTo>
                    <a:pt x="144978" y="114013"/>
                  </a:lnTo>
                  <a:lnTo>
                    <a:pt x="144978" y="144821"/>
                  </a:lnTo>
                  <a:lnTo>
                    <a:pt x="124327" y="144821"/>
                  </a:lnTo>
                  <a:lnTo>
                    <a:pt x="124327" y="72455"/>
                  </a:lnTo>
                  <a:lnTo>
                    <a:pt x="62163" y="72455"/>
                  </a:lnTo>
                  <a:lnTo>
                    <a:pt x="62163" y="114013"/>
                  </a:lnTo>
                  <a:lnTo>
                    <a:pt x="82783" y="114013"/>
                  </a:lnTo>
                  <a:lnTo>
                    <a:pt x="82783" y="144821"/>
                  </a:lnTo>
                  <a:lnTo>
                    <a:pt x="41483" y="144821"/>
                  </a:lnTo>
                  <a:lnTo>
                    <a:pt x="41483" y="41164"/>
                  </a:lnTo>
                  <a:lnTo>
                    <a:pt x="144978" y="41164"/>
                  </a:lnTo>
                  <a:lnTo>
                    <a:pt x="144978" y="72455"/>
                  </a:lnTo>
                  <a:lnTo>
                    <a:pt x="186522" y="72455"/>
                  </a:lnTo>
                  <a:lnTo>
                    <a:pt x="186522" y="31056"/>
                  </a:lnTo>
                  <a:lnTo>
                    <a:pt x="15555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667871" y="2951666"/>
              <a:ext cx="259079" cy="248920"/>
            </a:xfrm>
            <a:custGeom>
              <a:avLst/>
              <a:gdLst/>
              <a:ahLst/>
              <a:cxnLst/>
              <a:rect l="l" t="t" r="r" b="b"/>
              <a:pathLst>
                <a:path w="259079" h="248919">
                  <a:moveTo>
                    <a:pt x="148315" y="0"/>
                  </a:moveTo>
                  <a:lnTo>
                    <a:pt x="28102" y="0"/>
                  </a:lnTo>
                  <a:lnTo>
                    <a:pt x="0" y="28050"/>
                  </a:lnTo>
                  <a:lnTo>
                    <a:pt x="0" y="148024"/>
                  </a:lnTo>
                  <a:lnTo>
                    <a:pt x="28087" y="176046"/>
                  </a:lnTo>
                  <a:lnTo>
                    <a:pt x="82783" y="176046"/>
                  </a:lnTo>
                  <a:lnTo>
                    <a:pt x="82783" y="220504"/>
                  </a:lnTo>
                  <a:lnTo>
                    <a:pt x="111130" y="248614"/>
                  </a:lnTo>
                  <a:lnTo>
                    <a:pt x="210174" y="248614"/>
                  </a:lnTo>
                  <a:lnTo>
                    <a:pt x="238612" y="220486"/>
                  </a:lnTo>
                  <a:lnTo>
                    <a:pt x="238612" y="103804"/>
                  </a:lnTo>
                  <a:lnTo>
                    <a:pt x="258927" y="103804"/>
                  </a:lnTo>
                  <a:lnTo>
                    <a:pt x="258927" y="72467"/>
                  </a:lnTo>
                  <a:lnTo>
                    <a:pt x="206822" y="72467"/>
                  </a:lnTo>
                  <a:lnTo>
                    <a:pt x="206822" y="217294"/>
                  </a:lnTo>
                  <a:lnTo>
                    <a:pt x="114086" y="217294"/>
                  </a:lnTo>
                  <a:lnTo>
                    <a:pt x="114086" y="176046"/>
                  </a:lnTo>
                  <a:lnTo>
                    <a:pt x="148315" y="176046"/>
                  </a:lnTo>
                  <a:lnTo>
                    <a:pt x="176296" y="148024"/>
                  </a:lnTo>
                  <a:lnTo>
                    <a:pt x="176296" y="114019"/>
                  </a:lnTo>
                  <a:lnTo>
                    <a:pt x="144978" y="114019"/>
                  </a:lnTo>
                  <a:lnTo>
                    <a:pt x="144978" y="144815"/>
                  </a:lnTo>
                  <a:lnTo>
                    <a:pt x="114086" y="144815"/>
                  </a:lnTo>
                  <a:lnTo>
                    <a:pt x="114086" y="72467"/>
                  </a:lnTo>
                  <a:lnTo>
                    <a:pt x="62148" y="72467"/>
                  </a:lnTo>
                  <a:lnTo>
                    <a:pt x="62148" y="103804"/>
                  </a:lnTo>
                  <a:lnTo>
                    <a:pt x="82783" y="103804"/>
                  </a:lnTo>
                  <a:lnTo>
                    <a:pt x="82783" y="144815"/>
                  </a:lnTo>
                  <a:lnTo>
                    <a:pt x="31241" y="144815"/>
                  </a:lnTo>
                  <a:lnTo>
                    <a:pt x="31241" y="30950"/>
                  </a:lnTo>
                  <a:lnTo>
                    <a:pt x="144978" y="30950"/>
                  </a:lnTo>
                  <a:lnTo>
                    <a:pt x="144978" y="62227"/>
                  </a:lnTo>
                  <a:lnTo>
                    <a:pt x="176296" y="62227"/>
                  </a:lnTo>
                  <a:lnTo>
                    <a:pt x="176296" y="28050"/>
                  </a:lnTo>
                  <a:lnTo>
                    <a:pt x="148315" y="0"/>
                  </a:lnTo>
                  <a:close/>
                </a:path>
              </a:pathLst>
            </a:custGeom>
            <a:solidFill>
              <a:srgbClr val="CFB8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56830" y="434975"/>
            <a:ext cx="4067937" cy="375103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459105" marR="5080" indent="-447040" algn="ctr">
              <a:lnSpc>
                <a:spcPct val="102699"/>
              </a:lnSpc>
              <a:spcBef>
                <a:spcPts val="55"/>
              </a:spcBef>
            </a:pPr>
            <a:r>
              <a:rPr lang="fr-FR" sz="2400" spc="-10" dirty="0">
                <a:solidFill>
                  <a:srgbClr val="000000"/>
                </a:solidFill>
                <a:latin typeface="Garamond" panose="02020404030301010803" pitchFamily="18" charset="0"/>
              </a:rPr>
              <a:t>Financial </a:t>
            </a:r>
            <a:r>
              <a:rPr lang="fr-FR" sz="2400" spc="-10" dirty="0" err="1">
                <a:solidFill>
                  <a:srgbClr val="000000"/>
                </a:solidFill>
                <a:latin typeface="Garamond" panose="02020404030301010803" pitchFamily="18" charset="0"/>
              </a:rPr>
              <a:t>Statements</a:t>
            </a:r>
            <a:r>
              <a:rPr lang="fr-FR" sz="2400" spc="-10" dirty="0">
                <a:solidFill>
                  <a:srgbClr val="000000"/>
                </a:solidFill>
                <a:latin typeface="Garamond" panose="02020404030301010803" pitchFamily="18" charset="0"/>
              </a:rPr>
              <a:t> REVIEW</a:t>
            </a:r>
            <a:endParaRPr sz="2400" dirty="0"/>
          </a:p>
        </p:txBody>
      </p:sp>
      <p:sp>
        <p:nvSpPr>
          <p:cNvPr id="10" name="object 10"/>
          <p:cNvSpPr/>
          <p:nvPr/>
        </p:nvSpPr>
        <p:spPr>
          <a:xfrm>
            <a:off x="-152" y="3337814"/>
            <a:ext cx="1536700" cy="129539"/>
          </a:xfrm>
          <a:custGeom>
            <a:avLst/>
            <a:gdLst/>
            <a:ahLst/>
            <a:cxnLst/>
            <a:rect l="l" t="t" r="r" b="b"/>
            <a:pathLst>
              <a:path w="1536700" h="129539">
                <a:moveTo>
                  <a:pt x="0" y="129539"/>
                </a:moveTo>
                <a:lnTo>
                  <a:pt x="1536192" y="129539"/>
                </a:lnTo>
                <a:lnTo>
                  <a:pt x="1536192" y="0"/>
                </a:lnTo>
                <a:lnTo>
                  <a:pt x="0" y="0"/>
                </a:lnTo>
                <a:lnTo>
                  <a:pt x="0" y="129539"/>
                </a:lnTo>
                <a:close/>
              </a:path>
            </a:pathLst>
          </a:custGeom>
          <a:solidFill>
            <a:srgbClr val="A0A2A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072231" y="3326663"/>
            <a:ext cx="1536700" cy="129539"/>
          </a:xfrm>
          <a:custGeom>
            <a:avLst/>
            <a:gdLst/>
            <a:ahLst/>
            <a:cxnLst/>
            <a:rect l="l" t="t" r="r" b="b"/>
            <a:pathLst>
              <a:path w="1536700" h="129539">
                <a:moveTo>
                  <a:pt x="0" y="129539"/>
                </a:moveTo>
                <a:lnTo>
                  <a:pt x="1536191" y="129539"/>
                </a:lnTo>
                <a:lnTo>
                  <a:pt x="1536191" y="0"/>
                </a:lnTo>
                <a:lnTo>
                  <a:pt x="0" y="0"/>
                </a:lnTo>
                <a:lnTo>
                  <a:pt x="0" y="129539"/>
                </a:lnTo>
                <a:close/>
              </a:path>
            </a:pathLst>
          </a:custGeom>
          <a:solidFill>
            <a:srgbClr val="CEB67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3966640" y="3126132"/>
            <a:ext cx="516255" cy="9398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00" spc="25" dirty="0">
                <a:solidFill>
                  <a:srgbClr val="231F20"/>
                </a:solidFill>
                <a:latin typeface="Arial"/>
                <a:cs typeface="Arial"/>
              </a:rPr>
              <a:t>B</a:t>
            </a:r>
            <a:r>
              <a:rPr sz="500" spc="3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500" spc="10" dirty="0">
                <a:solidFill>
                  <a:srgbClr val="231F20"/>
                </a:solidFill>
                <a:latin typeface="Arial"/>
                <a:cs typeface="Arial"/>
              </a:rPr>
              <a:t>U</a:t>
            </a:r>
            <a:r>
              <a:rPr sz="500" spc="3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500" spc="5" dirty="0">
                <a:solidFill>
                  <a:srgbClr val="231F20"/>
                </a:solidFill>
                <a:latin typeface="Arial"/>
                <a:cs typeface="Arial"/>
              </a:rPr>
              <a:t>S</a:t>
            </a:r>
            <a:r>
              <a:rPr sz="500" spc="3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500" spc="-20" dirty="0">
                <a:solidFill>
                  <a:srgbClr val="231F20"/>
                </a:solidFill>
                <a:latin typeface="Arial"/>
                <a:cs typeface="Arial"/>
              </a:rPr>
              <a:t>I</a:t>
            </a:r>
            <a:r>
              <a:rPr sz="500" spc="3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500" spc="20" dirty="0">
                <a:solidFill>
                  <a:srgbClr val="231F20"/>
                </a:solidFill>
                <a:latin typeface="Arial"/>
                <a:cs typeface="Arial"/>
              </a:rPr>
              <a:t>N</a:t>
            </a:r>
            <a:r>
              <a:rPr sz="500" spc="3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500" spc="-15" dirty="0">
                <a:solidFill>
                  <a:srgbClr val="231F20"/>
                </a:solidFill>
                <a:latin typeface="Arial"/>
                <a:cs typeface="Arial"/>
              </a:rPr>
              <a:t>E</a:t>
            </a:r>
            <a:r>
              <a:rPr sz="500" spc="3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500" spc="5" dirty="0">
                <a:solidFill>
                  <a:srgbClr val="231F20"/>
                </a:solidFill>
                <a:latin typeface="Arial"/>
                <a:cs typeface="Arial"/>
              </a:rPr>
              <a:t>S</a:t>
            </a:r>
            <a:r>
              <a:rPr sz="500" spc="3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500" spc="5" dirty="0">
                <a:solidFill>
                  <a:srgbClr val="231F20"/>
                </a:solidFill>
                <a:latin typeface="Arial"/>
                <a:cs typeface="Arial"/>
              </a:rPr>
              <a:t>S</a:t>
            </a:r>
            <a:endParaRPr sz="500" dirty="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708906" y="3344562"/>
            <a:ext cx="30099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85"/>
              </a:lnSpc>
            </a:pPr>
            <a:r>
              <a:rPr sz="600" spc="-35" dirty="0">
                <a:latin typeface="Arial"/>
                <a:cs typeface="Arial"/>
              </a:rPr>
              <a:t>P</a:t>
            </a:r>
            <a:r>
              <a:rPr sz="600" spc="-5" dirty="0">
                <a:latin typeface="Arial"/>
                <a:cs typeface="Arial"/>
              </a:rPr>
              <a:t>age</a:t>
            </a:r>
            <a:r>
              <a:rPr sz="600" spc="-10" dirty="0">
                <a:latin typeface="Arial"/>
                <a:cs typeface="Arial"/>
              </a:rPr>
              <a:t> </a:t>
            </a:r>
            <a:fld id="{81D60167-4931-47E6-BA6A-407CBD079E47}" type="slidenum">
              <a:rPr sz="600" spc="-5" dirty="0">
                <a:latin typeface="Arial"/>
                <a:cs typeface="Arial"/>
              </a:rPr>
              <a:t>1</a:t>
            </a:fld>
            <a:endParaRPr sz="600">
              <a:latin typeface="Arial"/>
              <a:cs typeface="Arial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33DE640-4373-E05F-2E68-73D434B5B221}"/>
              </a:ext>
            </a:extLst>
          </p:cNvPr>
          <p:cNvSpPr txBox="1"/>
          <p:nvPr/>
        </p:nvSpPr>
        <p:spPr>
          <a:xfrm>
            <a:off x="778104" y="1528371"/>
            <a:ext cx="312418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Professor Burnes</a:t>
            </a:r>
          </a:p>
          <a:p>
            <a:pPr algn="ctr"/>
            <a:r>
              <a:rPr lang="en-US" b="1" dirty="0"/>
              <a:t>Leeds School of Business</a:t>
            </a:r>
          </a:p>
          <a:p>
            <a:pPr algn="ctr"/>
            <a:r>
              <a:rPr lang="en-US" b="1" dirty="0"/>
              <a:t>University of Colorado Boulder</a:t>
            </a:r>
          </a:p>
        </p:txBody>
      </p:sp>
    </p:spTree>
  </p:cSld>
  <p:clrMapOvr>
    <a:masterClrMapping/>
  </p:clrMapOvr>
  <p:transition>
    <p:wipe dir="r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>
            <a:extLst>
              <a:ext uri="{FF2B5EF4-FFF2-40B4-BE49-F238E27FC236}">
                <a16:creationId xmlns:a16="http://schemas.microsoft.com/office/drawing/2014/main" id="{655B03C7-E9CA-D404-3AE8-95E071AD403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26439" y="190295"/>
            <a:ext cx="3153410" cy="430887"/>
          </a:xfrm>
        </p:spPr>
        <p:txBody>
          <a:bodyPr/>
          <a:lstStyle/>
          <a:p>
            <a:r>
              <a:rPr lang="en-US" altLang="en-US"/>
              <a:t>Why Understand Financial Statements</a:t>
            </a:r>
          </a:p>
        </p:txBody>
      </p:sp>
      <p:sp>
        <p:nvSpPr>
          <p:cNvPr id="9219" name="Content Placeholder 2">
            <a:extLst>
              <a:ext uri="{FF2B5EF4-FFF2-40B4-BE49-F238E27FC236}">
                <a16:creationId xmlns:a16="http://schemas.microsoft.com/office/drawing/2014/main" id="{413DB2A9-E285-419A-3D1A-008FE2F2EAD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63961" y="715910"/>
            <a:ext cx="4338671" cy="1892826"/>
          </a:xfrm>
        </p:spPr>
        <p:txBody>
          <a:bodyPr/>
          <a:lstStyle/>
          <a:p>
            <a:r>
              <a:rPr lang="en-US" altLang="en-US" sz="1400" dirty="0"/>
              <a:t>Provides disciplined way to:</a:t>
            </a:r>
          </a:p>
          <a:p>
            <a:pPr lvl="1"/>
            <a:endParaRPr lang="en-US" altLang="en-US" sz="1400" dirty="0"/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altLang="en-US" sz="1400" dirty="0"/>
              <a:t>establish firm performance </a:t>
            </a:r>
            <a:r>
              <a:rPr lang="en-US" altLang="en-US" sz="1400" b="1" dirty="0"/>
              <a:t>objectives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altLang="en-US" sz="1400" dirty="0"/>
              <a:t>manage and evaluate entry, growth and sale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altLang="en-US" sz="1400" dirty="0"/>
              <a:t>objectively communicate with owners and employees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altLang="en-US" sz="1400" dirty="0"/>
              <a:t>distinguish what you CAN do from what you SHOULD do….</a:t>
            </a:r>
          </a:p>
          <a:p>
            <a:pPr>
              <a:buFont typeface="Wingdings" pitchFamily="2" charset="2"/>
              <a:buChar char="Ø"/>
            </a:pPr>
            <a:endParaRPr lang="en-US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>
            <a:extLst>
              <a:ext uri="{FF2B5EF4-FFF2-40B4-BE49-F238E27FC236}">
                <a16:creationId xmlns:a16="http://schemas.microsoft.com/office/drawing/2014/main" id="{2761B702-5DA0-4E3B-CEA4-42CF04B1FD0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18636" y="122443"/>
            <a:ext cx="3745706" cy="430887"/>
          </a:xfrm>
        </p:spPr>
        <p:txBody>
          <a:bodyPr/>
          <a:lstStyle/>
          <a:p>
            <a:r>
              <a:rPr lang="en-US" altLang="en-US"/>
              <a:t>Financial Statements and </a:t>
            </a:r>
            <a:br>
              <a:rPr lang="en-US" altLang="en-US"/>
            </a:br>
            <a:r>
              <a:rPr lang="en-US" altLang="en-US"/>
              <a:t>Entrepreneurial Finance</a:t>
            </a:r>
          </a:p>
        </p:txBody>
      </p:sp>
      <p:sp>
        <p:nvSpPr>
          <p:cNvPr id="10243" name="Content Placeholder 2">
            <a:extLst>
              <a:ext uri="{FF2B5EF4-FFF2-40B4-BE49-F238E27FC236}">
                <a16:creationId xmlns:a16="http://schemas.microsoft.com/office/drawing/2014/main" id="{7ABF7592-F1B0-4B0F-400B-AB524AB326B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53098" y="769937"/>
            <a:ext cx="3611245" cy="1354217"/>
          </a:xfrm>
        </p:spPr>
        <p:txBody>
          <a:bodyPr/>
          <a:lstStyle/>
          <a:p>
            <a:pPr marL="230520" indent="-230520">
              <a:buFont typeface="55 Helvetica Roman" pitchFamily="64" charset="0"/>
              <a:buAutoNum type="arabicPeriod"/>
            </a:pPr>
            <a:r>
              <a:rPr lang="en-US" altLang="en-US" dirty="0"/>
              <a:t>FINANCIAL Statements matter; when you present your annual RESULTS, they must be compliant</a:t>
            </a:r>
          </a:p>
          <a:p>
            <a:pPr marL="230520" indent="-230520">
              <a:buFont typeface="55 Helvetica Roman" pitchFamily="64" charset="0"/>
              <a:buAutoNum type="arabicPeriod"/>
            </a:pPr>
            <a:r>
              <a:rPr lang="en-US" altLang="en-US" dirty="0"/>
              <a:t>Financial Statements don’t only tell how you have done, we use them to demonstrate HOW/WHAT YOU WILL DO</a:t>
            </a:r>
          </a:p>
          <a:p>
            <a:pPr marL="230520" indent="-230520">
              <a:buFont typeface="55 Helvetica Roman" pitchFamily="64" charset="0"/>
              <a:buAutoNum type="arabicPeriod"/>
            </a:pPr>
            <a:r>
              <a:rPr lang="en-US" altLang="en-US" dirty="0"/>
              <a:t>Investors want to see Pro </a:t>
            </a:r>
            <a:r>
              <a:rPr lang="en-US" altLang="en-US" dirty="0" err="1"/>
              <a:t>Formas</a:t>
            </a:r>
            <a:r>
              <a:rPr lang="en-US" altLang="en-US" dirty="0"/>
              <a:t> (typically 5 year outlook)</a:t>
            </a:r>
          </a:p>
          <a:p>
            <a:pPr marL="230520" indent="-230520">
              <a:buFont typeface="55 Helvetica Roman" pitchFamily="64" charset="0"/>
              <a:buAutoNum type="arabicPeriod"/>
            </a:pPr>
            <a:r>
              <a:rPr lang="en-US" altLang="en-US" dirty="0"/>
              <a:t>NOTE: profitability does not equal CASH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>
            <a:extLst>
              <a:ext uri="{FF2B5EF4-FFF2-40B4-BE49-F238E27FC236}">
                <a16:creationId xmlns:a16="http://schemas.microsoft.com/office/drawing/2014/main" id="{4A34C333-181C-99FE-437B-4B4CE3A6FAE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26439" y="190295"/>
            <a:ext cx="3153410" cy="430887"/>
          </a:xfrm>
        </p:spPr>
        <p:txBody>
          <a:bodyPr/>
          <a:lstStyle/>
          <a:p>
            <a:r>
              <a:rPr lang="en-US" altLang="en-US"/>
              <a:t>What is Included in the Financial Statements?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B004FB-3429-0321-914F-78B38AE0B0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515" y="1077278"/>
            <a:ext cx="3572828" cy="1184940"/>
          </a:xfrm>
        </p:spPr>
        <p:txBody>
          <a:bodyPr/>
          <a:lstStyle/>
          <a:p>
            <a:pPr marL="230520" indent="-230520">
              <a:buFont typeface="+mj-lt"/>
              <a:buAutoNum type="arabicPeriod"/>
              <a:defRPr/>
            </a:pPr>
            <a:r>
              <a:rPr lang="en-US" dirty="0"/>
              <a:t>The Income Statement</a:t>
            </a:r>
          </a:p>
          <a:p>
            <a:pPr marL="230520" indent="-230520">
              <a:buFont typeface="+mj-lt"/>
              <a:buAutoNum type="arabicPeriod"/>
              <a:defRPr/>
            </a:pPr>
            <a:r>
              <a:rPr lang="en-US" dirty="0"/>
              <a:t>The Balance Sheet</a:t>
            </a:r>
          </a:p>
          <a:p>
            <a:pPr marL="230520" indent="-230520">
              <a:buFont typeface="+mj-lt"/>
              <a:buAutoNum type="arabicPeriod"/>
              <a:defRPr/>
            </a:pPr>
            <a:r>
              <a:rPr lang="en-US" dirty="0"/>
              <a:t>The Statement of Cash flows</a:t>
            </a:r>
          </a:p>
          <a:p>
            <a:pPr>
              <a:defRPr/>
            </a:pPr>
            <a:endParaRPr lang="en-US" i="1" dirty="0"/>
          </a:p>
          <a:p>
            <a:pPr marL="230520" indent="-230520">
              <a:buFont typeface="+mj-lt"/>
              <a:buAutoNum type="arabicPeriod"/>
              <a:defRPr/>
            </a:pPr>
            <a:endParaRPr lang="en-US" dirty="0"/>
          </a:p>
          <a:p>
            <a:pPr marL="230520" indent="-230520">
              <a:buFont typeface="+mj-lt"/>
              <a:buAutoNum type="arabicPeriod"/>
              <a:defRPr/>
            </a:pPr>
            <a:endParaRPr lang="en-US" dirty="0"/>
          </a:p>
          <a:p>
            <a:pPr>
              <a:defRPr/>
            </a:pPr>
            <a:endParaRPr lang="en-US" dirty="0"/>
          </a:p>
        </p:txBody>
      </p:sp>
      <p:sp>
        <p:nvSpPr>
          <p:cNvPr id="21507" name="Title 1">
            <a:extLst>
              <a:ext uri="{FF2B5EF4-FFF2-40B4-BE49-F238E27FC236}">
                <a16:creationId xmlns:a16="http://schemas.microsoft.com/office/drawing/2014/main" id="{7AE9F5A0-04A3-C359-9C9B-53AD775FB07D}"/>
              </a:ext>
            </a:extLst>
          </p:cNvPr>
          <p:cNvSpPr txBox="1">
            <a:spLocks/>
          </p:cNvSpPr>
          <p:nvPr/>
        </p:nvSpPr>
        <p:spPr bwMode="auto">
          <a:xfrm>
            <a:off x="697118" y="2114550"/>
            <a:ext cx="3572828" cy="3457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006600"/>
              </a:buClr>
              <a:buChar char="•"/>
              <a:defRPr sz="2400">
                <a:solidFill>
                  <a:srgbClr val="003300"/>
                </a:solidFill>
                <a:latin typeface="55 Helvetica Roman" pitchFamily="6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06600"/>
              </a:buClr>
              <a:buFont typeface="Wingdings" pitchFamily="2" charset="2"/>
              <a:buChar char="ü"/>
              <a:defRPr sz="2000">
                <a:solidFill>
                  <a:srgbClr val="003300"/>
                </a:solidFill>
                <a:latin typeface="55 Helvetica Roman" pitchFamily="6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006600"/>
              </a:buClr>
              <a:buChar char="•"/>
              <a:defRPr sz="1600">
                <a:solidFill>
                  <a:srgbClr val="003300"/>
                </a:solidFill>
                <a:latin typeface="55 Helvetica Roman" pitchFamily="6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006600"/>
              </a:buClr>
              <a:buChar char="–"/>
              <a:defRPr sz="1600">
                <a:solidFill>
                  <a:srgbClr val="003300"/>
                </a:solidFill>
                <a:latin typeface="55 Helvetica Roman" pitchFamily="6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006600"/>
              </a:buClr>
              <a:buChar char="»"/>
              <a:defRPr sz="1600">
                <a:solidFill>
                  <a:srgbClr val="003300"/>
                </a:solidFill>
                <a:latin typeface="55 Helvetica Roman" pitchFamily="6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00"/>
              </a:buClr>
              <a:buChar char="»"/>
              <a:defRPr sz="1600">
                <a:solidFill>
                  <a:srgbClr val="003300"/>
                </a:solidFill>
                <a:latin typeface="55 Helvetica Roman" pitchFamily="6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00"/>
              </a:buClr>
              <a:buChar char="»"/>
              <a:defRPr sz="1600">
                <a:solidFill>
                  <a:srgbClr val="003300"/>
                </a:solidFill>
                <a:latin typeface="55 Helvetica Roman" pitchFamily="6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00"/>
              </a:buClr>
              <a:buChar char="»"/>
              <a:defRPr sz="1600">
                <a:solidFill>
                  <a:srgbClr val="003300"/>
                </a:solidFill>
                <a:latin typeface="55 Helvetica Roman" pitchFamily="6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00"/>
              </a:buClr>
              <a:buChar char="»"/>
              <a:defRPr sz="1600">
                <a:solidFill>
                  <a:srgbClr val="003300"/>
                </a:solidFill>
                <a:latin typeface="55 Helvetica Roman" pitchFamily="6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1613">
                <a:solidFill>
                  <a:srgbClr val="E31937"/>
                </a:solidFill>
              </a:rPr>
              <a:t>Where do you get your Financial Statement?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BDCCF4F-61E7-5F96-58CB-314D88E2C57D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845185" y="2537142"/>
            <a:ext cx="1820830" cy="278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06600"/>
              </a:buClr>
              <a:buChar char="•"/>
              <a:defRPr sz="2400">
                <a:solidFill>
                  <a:srgbClr val="003300"/>
                </a:solidFill>
                <a:latin typeface="55 Helvetica Roman" pitchFamily="6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06600"/>
              </a:buClr>
              <a:buFont typeface="Wingdings" pitchFamily="2" charset="2"/>
              <a:buChar char="ü"/>
              <a:defRPr sz="2000">
                <a:solidFill>
                  <a:srgbClr val="003300"/>
                </a:solidFill>
                <a:latin typeface="55 Helvetica Roman" pitchFamily="6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006600"/>
              </a:buClr>
              <a:buChar char="•"/>
              <a:defRPr sz="1600">
                <a:solidFill>
                  <a:srgbClr val="003300"/>
                </a:solidFill>
                <a:latin typeface="55 Helvetica Roman" pitchFamily="6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006600"/>
              </a:buClr>
              <a:buChar char="–"/>
              <a:defRPr sz="1600">
                <a:solidFill>
                  <a:srgbClr val="003300"/>
                </a:solidFill>
                <a:latin typeface="55 Helvetica Roman" pitchFamily="6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006600"/>
              </a:buClr>
              <a:buChar char="»"/>
              <a:defRPr sz="1600">
                <a:solidFill>
                  <a:srgbClr val="003300"/>
                </a:solidFill>
                <a:latin typeface="55 Helvetica Roman" pitchFamily="6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00"/>
              </a:buClr>
              <a:buChar char="»"/>
              <a:defRPr sz="1600">
                <a:solidFill>
                  <a:srgbClr val="003300"/>
                </a:solidFill>
                <a:latin typeface="55 Helvetica Roman" pitchFamily="6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00"/>
              </a:buClr>
              <a:buChar char="»"/>
              <a:defRPr sz="1600">
                <a:solidFill>
                  <a:srgbClr val="003300"/>
                </a:solidFill>
                <a:latin typeface="55 Helvetica Roman" pitchFamily="6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00"/>
              </a:buClr>
              <a:buChar char="»"/>
              <a:defRPr sz="1600">
                <a:solidFill>
                  <a:srgbClr val="003300"/>
                </a:solidFill>
                <a:latin typeface="55 Helvetica Roman" pitchFamily="6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00"/>
              </a:buClr>
              <a:buChar char="»"/>
              <a:defRPr sz="1600">
                <a:solidFill>
                  <a:srgbClr val="003300"/>
                </a:solidFill>
                <a:latin typeface="55 Helvetica Roman" pitchFamily="6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1210">
                <a:solidFill>
                  <a:schemeClr val="tx1"/>
                </a:solidFill>
                <a:latin typeface="Arial" panose="020B0604020202020204" pitchFamily="34" charset="0"/>
              </a:rPr>
              <a:t>Your Accountant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7" grpId="0"/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720C64B7-5EF9-B07D-536F-AFC28A988564}"/>
              </a:ext>
            </a:extLst>
          </p:cNvPr>
          <p:cNvSpPr/>
          <p:nvPr/>
        </p:nvSpPr>
        <p:spPr bwMode="auto">
          <a:xfrm>
            <a:off x="1613535" y="193675"/>
            <a:ext cx="1882458" cy="422593"/>
          </a:xfrm>
          <a:prstGeom prst="roundRect">
            <a:avLst/>
          </a:prstGeom>
          <a:solidFill>
            <a:srgbClr val="5B7E4E"/>
          </a:solidFill>
          <a:ln w="15875" cap="flat" cmpd="sng" algn="ctr">
            <a:solidFill>
              <a:srgbClr val="D02138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US" sz="908" dirty="0">
                <a:solidFill>
                  <a:schemeClr val="bg1">
                    <a:lumMod val="95000"/>
                  </a:schemeClr>
                </a:solidFill>
                <a:latin typeface="Arial" charset="0"/>
                <a:ea typeface="ＭＳ Ｐゴシック" pitchFamily="64" charset="-128"/>
                <a:cs typeface="ＭＳ Ｐゴシック" charset="0"/>
              </a:rPr>
              <a:t>Financial Statements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C8E07D2B-4B98-06F3-2992-55B37EBB718B}"/>
              </a:ext>
            </a:extLst>
          </p:cNvPr>
          <p:cNvSpPr/>
          <p:nvPr/>
        </p:nvSpPr>
        <p:spPr bwMode="auto">
          <a:xfrm>
            <a:off x="3265487" y="808355"/>
            <a:ext cx="1267778" cy="422593"/>
          </a:xfrm>
          <a:prstGeom prst="roundRect">
            <a:avLst/>
          </a:prstGeom>
          <a:solidFill>
            <a:srgbClr val="5B7E4E"/>
          </a:solidFill>
          <a:ln w="15875" cap="flat" cmpd="sng" algn="ctr">
            <a:solidFill>
              <a:srgbClr val="D02138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US" sz="908" dirty="0">
                <a:solidFill>
                  <a:schemeClr val="bg1">
                    <a:lumMod val="95000"/>
                  </a:schemeClr>
                </a:solidFill>
                <a:latin typeface="Arial" charset="0"/>
                <a:ea typeface="ＭＳ Ｐゴシック" pitchFamily="64" charset="-128"/>
                <a:cs typeface="ＭＳ Ｐゴシック" charset="0"/>
              </a:rPr>
              <a:t>Cash Flow</a:t>
            </a:r>
          </a:p>
          <a:p>
            <a:pPr algn="ctr">
              <a:defRPr/>
            </a:pPr>
            <a:r>
              <a:rPr lang="en-US" sz="908" dirty="0">
                <a:solidFill>
                  <a:schemeClr val="bg1">
                    <a:lumMod val="95000"/>
                  </a:schemeClr>
                </a:solidFill>
                <a:latin typeface="Arial" charset="0"/>
                <a:ea typeface="ＭＳ Ｐゴシック" pitchFamily="64" charset="-128"/>
                <a:cs typeface="ＭＳ Ｐゴシック" charset="0"/>
              </a:rPr>
              <a:t>Statement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ECD0DAD8-4E92-B82A-AFAA-5394294788FE}"/>
              </a:ext>
            </a:extLst>
          </p:cNvPr>
          <p:cNvSpPr/>
          <p:nvPr/>
        </p:nvSpPr>
        <p:spPr bwMode="auto">
          <a:xfrm>
            <a:off x="461010" y="808355"/>
            <a:ext cx="1267778" cy="422593"/>
          </a:xfrm>
          <a:prstGeom prst="roundRect">
            <a:avLst/>
          </a:prstGeom>
          <a:solidFill>
            <a:srgbClr val="5B7E4E"/>
          </a:solidFill>
          <a:ln w="15875" cap="flat" cmpd="sng" algn="ctr">
            <a:solidFill>
              <a:srgbClr val="D02138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US" sz="908" dirty="0">
                <a:solidFill>
                  <a:schemeClr val="bg1">
                    <a:lumMod val="95000"/>
                  </a:schemeClr>
                </a:solidFill>
                <a:latin typeface="Arial" charset="0"/>
                <a:ea typeface="ＭＳ Ｐゴシック" pitchFamily="64" charset="-128"/>
                <a:cs typeface="ＭＳ Ｐゴシック" charset="0"/>
              </a:rPr>
              <a:t>Income</a:t>
            </a:r>
          </a:p>
          <a:p>
            <a:pPr algn="ctr">
              <a:defRPr/>
            </a:pPr>
            <a:r>
              <a:rPr lang="en-US" sz="908" dirty="0">
                <a:solidFill>
                  <a:schemeClr val="bg1">
                    <a:lumMod val="95000"/>
                  </a:schemeClr>
                </a:solidFill>
                <a:latin typeface="Arial" charset="0"/>
                <a:ea typeface="ＭＳ Ｐゴシック" pitchFamily="64" charset="-128"/>
                <a:cs typeface="ＭＳ Ｐゴシック" charset="0"/>
              </a:rPr>
              <a:t>Statement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E6E5E9D9-6653-25A1-FCCA-3874B1AF16A3}"/>
              </a:ext>
            </a:extLst>
          </p:cNvPr>
          <p:cNvSpPr/>
          <p:nvPr/>
        </p:nvSpPr>
        <p:spPr bwMode="auto">
          <a:xfrm>
            <a:off x="1882457" y="808355"/>
            <a:ext cx="1267778" cy="422593"/>
          </a:xfrm>
          <a:prstGeom prst="roundRect">
            <a:avLst/>
          </a:prstGeom>
          <a:solidFill>
            <a:srgbClr val="5B7E4E"/>
          </a:solidFill>
          <a:ln w="15875" cap="flat" cmpd="sng" algn="ctr">
            <a:solidFill>
              <a:srgbClr val="D02138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US" sz="908" dirty="0">
                <a:solidFill>
                  <a:schemeClr val="bg1">
                    <a:lumMod val="95000"/>
                  </a:schemeClr>
                </a:solidFill>
                <a:latin typeface="Arial" charset="0"/>
                <a:ea typeface="ＭＳ Ｐゴシック" pitchFamily="64" charset="-128"/>
                <a:cs typeface="ＭＳ Ｐゴシック" charset="0"/>
              </a:rPr>
              <a:t>Balance </a:t>
            </a:r>
          </a:p>
          <a:p>
            <a:pPr algn="ctr">
              <a:defRPr/>
            </a:pPr>
            <a:r>
              <a:rPr lang="en-US" sz="908" dirty="0">
                <a:solidFill>
                  <a:schemeClr val="bg1">
                    <a:lumMod val="95000"/>
                  </a:schemeClr>
                </a:solidFill>
                <a:latin typeface="Arial" charset="0"/>
                <a:ea typeface="ＭＳ Ｐゴシック" pitchFamily="64" charset="-128"/>
                <a:cs typeface="ＭＳ Ｐゴシック" charset="0"/>
              </a:rPr>
              <a:t>Sheet</a:t>
            </a:r>
          </a:p>
        </p:txBody>
      </p:sp>
      <p:sp>
        <p:nvSpPr>
          <p:cNvPr id="17414" name="Rounded Rectangle 21">
            <a:extLst>
              <a:ext uri="{FF2B5EF4-FFF2-40B4-BE49-F238E27FC236}">
                <a16:creationId xmlns:a16="http://schemas.microsoft.com/office/drawing/2014/main" id="{6C0730DB-763C-A130-DE84-5A55F6828F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1010" y="1269365"/>
            <a:ext cx="1267778" cy="230505"/>
          </a:xfrm>
          <a:prstGeom prst="roundRect">
            <a:avLst>
              <a:gd name="adj" fmla="val 16667"/>
            </a:avLst>
          </a:prstGeom>
          <a:solidFill>
            <a:srgbClr val="8BC176"/>
          </a:solidFill>
          <a:ln w="15875">
            <a:solidFill>
              <a:srgbClr val="D02138"/>
            </a:solidFill>
            <a:round/>
            <a:headEnd/>
            <a:tailEnd/>
          </a:ln>
        </p:spPr>
        <p:txBody>
          <a:bodyPr anchor="ctr"/>
          <a:lstStyle>
            <a:lvl1pPr>
              <a:spcBef>
                <a:spcPct val="20000"/>
              </a:spcBef>
              <a:buClr>
                <a:srgbClr val="006600"/>
              </a:buClr>
              <a:buChar char="•"/>
              <a:defRPr sz="2400">
                <a:solidFill>
                  <a:srgbClr val="003300"/>
                </a:solidFill>
                <a:latin typeface="55 Helvetica Roman" pitchFamily="6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06600"/>
              </a:buClr>
              <a:buFont typeface="Wingdings" pitchFamily="2" charset="2"/>
              <a:buChar char="ü"/>
              <a:defRPr sz="2000">
                <a:solidFill>
                  <a:srgbClr val="003300"/>
                </a:solidFill>
                <a:latin typeface="55 Helvetica Roman" pitchFamily="6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006600"/>
              </a:buClr>
              <a:buChar char="•"/>
              <a:defRPr sz="1600">
                <a:solidFill>
                  <a:srgbClr val="003300"/>
                </a:solidFill>
                <a:latin typeface="55 Helvetica Roman" pitchFamily="6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006600"/>
              </a:buClr>
              <a:buChar char="–"/>
              <a:defRPr sz="1600">
                <a:solidFill>
                  <a:srgbClr val="003300"/>
                </a:solidFill>
                <a:latin typeface="55 Helvetica Roman" pitchFamily="6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006600"/>
              </a:buClr>
              <a:buChar char="»"/>
              <a:defRPr sz="1600">
                <a:solidFill>
                  <a:srgbClr val="003300"/>
                </a:solidFill>
                <a:latin typeface="55 Helvetica Roman" pitchFamily="6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00"/>
              </a:buClr>
              <a:buChar char="»"/>
              <a:defRPr sz="1600">
                <a:solidFill>
                  <a:srgbClr val="003300"/>
                </a:solidFill>
                <a:latin typeface="55 Helvetica Roman" pitchFamily="6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00"/>
              </a:buClr>
              <a:buChar char="»"/>
              <a:defRPr sz="1600">
                <a:solidFill>
                  <a:srgbClr val="003300"/>
                </a:solidFill>
                <a:latin typeface="55 Helvetica Roman" pitchFamily="6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00"/>
              </a:buClr>
              <a:buChar char="»"/>
              <a:defRPr sz="1600">
                <a:solidFill>
                  <a:srgbClr val="003300"/>
                </a:solidFill>
                <a:latin typeface="55 Helvetica Roman" pitchFamily="6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00"/>
              </a:buClr>
              <a:buChar char="»"/>
              <a:defRPr sz="1600">
                <a:solidFill>
                  <a:srgbClr val="003300"/>
                </a:solidFill>
                <a:latin typeface="55 Helvetica Roman" pitchFamily="6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908" b="1">
                <a:solidFill>
                  <a:srgbClr val="00674E"/>
                </a:solidFill>
                <a:latin typeface="Arial" panose="020B0604020202020204" pitchFamily="34" charset="0"/>
              </a:rPr>
              <a:t>Revenue</a:t>
            </a:r>
          </a:p>
        </p:txBody>
      </p:sp>
      <p:sp>
        <p:nvSpPr>
          <p:cNvPr id="17415" name="Rounded Rectangle 22">
            <a:extLst>
              <a:ext uri="{FF2B5EF4-FFF2-40B4-BE49-F238E27FC236}">
                <a16:creationId xmlns:a16="http://schemas.microsoft.com/office/drawing/2014/main" id="{6E354827-9D13-DAC4-06D0-6994E01011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1010" y="1538288"/>
            <a:ext cx="1267778" cy="230505"/>
          </a:xfrm>
          <a:prstGeom prst="roundRect">
            <a:avLst>
              <a:gd name="adj" fmla="val 16667"/>
            </a:avLst>
          </a:prstGeom>
          <a:solidFill>
            <a:srgbClr val="8BC176"/>
          </a:solidFill>
          <a:ln w="15875">
            <a:solidFill>
              <a:srgbClr val="D02138"/>
            </a:solidFill>
            <a:round/>
            <a:headEnd/>
            <a:tailEnd/>
          </a:ln>
        </p:spPr>
        <p:txBody>
          <a:bodyPr anchor="ctr"/>
          <a:lstStyle>
            <a:lvl1pPr>
              <a:spcBef>
                <a:spcPct val="20000"/>
              </a:spcBef>
              <a:buClr>
                <a:srgbClr val="006600"/>
              </a:buClr>
              <a:buChar char="•"/>
              <a:defRPr sz="2400">
                <a:solidFill>
                  <a:srgbClr val="003300"/>
                </a:solidFill>
                <a:latin typeface="55 Helvetica Roman" pitchFamily="6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06600"/>
              </a:buClr>
              <a:buFont typeface="Wingdings" pitchFamily="2" charset="2"/>
              <a:buChar char="ü"/>
              <a:defRPr sz="2000">
                <a:solidFill>
                  <a:srgbClr val="003300"/>
                </a:solidFill>
                <a:latin typeface="55 Helvetica Roman" pitchFamily="6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006600"/>
              </a:buClr>
              <a:buChar char="•"/>
              <a:defRPr sz="1600">
                <a:solidFill>
                  <a:srgbClr val="003300"/>
                </a:solidFill>
                <a:latin typeface="55 Helvetica Roman" pitchFamily="6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006600"/>
              </a:buClr>
              <a:buChar char="–"/>
              <a:defRPr sz="1600">
                <a:solidFill>
                  <a:srgbClr val="003300"/>
                </a:solidFill>
                <a:latin typeface="55 Helvetica Roman" pitchFamily="6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006600"/>
              </a:buClr>
              <a:buChar char="»"/>
              <a:defRPr sz="1600">
                <a:solidFill>
                  <a:srgbClr val="003300"/>
                </a:solidFill>
                <a:latin typeface="55 Helvetica Roman" pitchFamily="6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00"/>
              </a:buClr>
              <a:buChar char="»"/>
              <a:defRPr sz="1600">
                <a:solidFill>
                  <a:srgbClr val="003300"/>
                </a:solidFill>
                <a:latin typeface="55 Helvetica Roman" pitchFamily="6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00"/>
              </a:buClr>
              <a:buChar char="»"/>
              <a:defRPr sz="1600">
                <a:solidFill>
                  <a:srgbClr val="003300"/>
                </a:solidFill>
                <a:latin typeface="55 Helvetica Roman" pitchFamily="6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00"/>
              </a:buClr>
              <a:buChar char="»"/>
              <a:defRPr sz="1600">
                <a:solidFill>
                  <a:srgbClr val="003300"/>
                </a:solidFill>
                <a:latin typeface="55 Helvetica Roman" pitchFamily="6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00"/>
              </a:buClr>
              <a:buChar char="»"/>
              <a:defRPr sz="1600">
                <a:solidFill>
                  <a:srgbClr val="003300"/>
                </a:solidFill>
                <a:latin typeface="55 Helvetica Roman" pitchFamily="6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908" b="1">
                <a:solidFill>
                  <a:srgbClr val="00674E"/>
                </a:solidFill>
                <a:latin typeface="Arial" panose="020B0604020202020204" pitchFamily="34" charset="0"/>
              </a:rPr>
              <a:t>Expenses</a:t>
            </a:r>
          </a:p>
        </p:txBody>
      </p:sp>
      <p:sp>
        <p:nvSpPr>
          <p:cNvPr id="17416" name="Rounded Rectangle 24">
            <a:extLst>
              <a:ext uri="{FF2B5EF4-FFF2-40B4-BE49-F238E27FC236}">
                <a16:creationId xmlns:a16="http://schemas.microsoft.com/office/drawing/2014/main" id="{AD24CC4F-AF6F-ADE4-1B9D-6B4BDA4A5C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1010" y="1807210"/>
            <a:ext cx="1267778" cy="230505"/>
          </a:xfrm>
          <a:prstGeom prst="roundRect">
            <a:avLst>
              <a:gd name="adj" fmla="val 16667"/>
            </a:avLst>
          </a:prstGeom>
          <a:solidFill>
            <a:srgbClr val="8BC176"/>
          </a:solidFill>
          <a:ln w="15875">
            <a:solidFill>
              <a:srgbClr val="D02138"/>
            </a:solidFill>
            <a:round/>
            <a:headEnd/>
            <a:tailEnd/>
          </a:ln>
        </p:spPr>
        <p:txBody>
          <a:bodyPr anchor="ctr"/>
          <a:lstStyle>
            <a:lvl1pPr>
              <a:spcBef>
                <a:spcPct val="20000"/>
              </a:spcBef>
              <a:buClr>
                <a:srgbClr val="006600"/>
              </a:buClr>
              <a:buChar char="•"/>
              <a:defRPr sz="2400">
                <a:solidFill>
                  <a:srgbClr val="003300"/>
                </a:solidFill>
                <a:latin typeface="55 Helvetica Roman" pitchFamily="6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06600"/>
              </a:buClr>
              <a:buFont typeface="Wingdings" pitchFamily="2" charset="2"/>
              <a:buChar char="ü"/>
              <a:defRPr sz="2000">
                <a:solidFill>
                  <a:srgbClr val="003300"/>
                </a:solidFill>
                <a:latin typeface="55 Helvetica Roman" pitchFamily="6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006600"/>
              </a:buClr>
              <a:buChar char="•"/>
              <a:defRPr sz="1600">
                <a:solidFill>
                  <a:srgbClr val="003300"/>
                </a:solidFill>
                <a:latin typeface="55 Helvetica Roman" pitchFamily="6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006600"/>
              </a:buClr>
              <a:buChar char="–"/>
              <a:defRPr sz="1600">
                <a:solidFill>
                  <a:srgbClr val="003300"/>
                </a:solidFill>
                <a:latin typeface="55 Helvetica Roman" pitchFamily="6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006600"/>
              </a:buClr>
              <a:buChar char="»"/>
              <a:defRPr sz="1600">
                <a:solidFill>
                  <a:srgbClr val="003300"/>
                </a:solidFill>
                <a:latin typeface="55 Helvetica Roman" pitchFamily="6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00"/>
              </a:buClr>
              <a:buChar char="»"/>
              <a:defRPr sz="1600">
                <a:solidFill>
                  <a:srgbClr val="003300"/>
                </a:solidFill>
                <a:latin typeface="55 Helvetica Roman" pitchFamily="6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00"/>
              </a:buClr>
              <a:buChar char="»"/>
              <a:defRPr sz="1600">
                <a:solidFill>
                  <a:srgbClr val="003300"/>
                </a:solidFill>
                <a:latin typeface="55 Helvetica Roman" pitchFamily="6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00"/>
              </a:buClr>
              <a:buChar char="»"/>
              <a:defRPr sz="1600">
                <a:solidFill>
                  <a:srgbClr val="003300"/>
                </a:solidFill>
                <a:latin typeface="55 Helvetica Roman" pitchFamily="6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00"/>
              </a:buClr>
              <a:buChar char="»"/>
              <a:defRPr sz="1600">
                <a:solidFill>
                  <a:srgbClr val="003300"/>
                </a:solidFill>
                <a:latin typeface="55 Helvetica Roman" pitchFamily="6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908" b="1">
                <a:solidFill>
                  <a:srgbClr val="00674E"/>
                </a:solidFill>
                <a:latin typeface="Arial" panose="020B0604020202020204" pitchFamily="34" charset="0"/>
              </a:rPr>
              <a:t>Profits</a:t>
            </a:r>
          </a:p>
        </p:txBody>
      </p:sp>
      <p:sp>
        <p:nvSpPr>
          <p:cNvPr id="17417" name="Rounded Rectangle 25">
            <a:extLst>
              <a:ext uri="{FF2B5EF4-FFF2-40B4-BE49-F238E27FC236}">
                <a16:creationId xmlns:a16="http://schemas.microsoft.com/office/drawing/2014/main" id="{1C741A76-EAC1-E571-80D9-FCF6BF86B3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82457" y="1269365"/>
            <a:ext cx="1267778" cy="230505"/>
          </a:xfrm>
          <a:prstGeom prst="roundRect">
            <a:avLst>
              <a:gd name="adj" fmla="val 16667"/>
            </a:avLst>
          </a:prstGeom>
          <a:solidFill>
            <a:srgbClr val="8BC176"/>
          </a:solidFill>
          <a:ln w="15875">
            <a:solidFill>
              <a:srgbClr val="D02138"/>
            </a:solidFill>
            <a:round/>
            <a:headEnd/>
            <a:tailEnd/>
          </a:ln>
        </p:spPr>
        <p:txBody>
          <a:bodyPr anchor="ctr"/>
          <a:lstStyle>
            <a:lvl1pPr>
              <a:spcBef>
                <a:spcPct val="20000"/>
              </a:spcBef>
              <a:buClr>
                <a:srgbClr val="006600"/>
              </a:buClr>
              <a:buChar char="•"/>
              <a:defRPr sz="2400">
                <a:solidFill>
                  <a:srgbClr val="003300"/>
                </a:solidFill>
                <a:latin typeface="55 Helvetica Roman" pitchFamily="6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06600"/>
              </a:buClr>
              <a:buFont typeface="Wingdings" pitchFamily="2" charset="2"/>
              <a:buChar char="ü"/>
              <a:defRPr sz="2000">
                <a:solidFill>
                  <a:srgbClr val="003300"/>
                </a:solidFill>
                <a:latin typeface="55 Helvetica Roman" pitchFamily="6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006600"/>
              </a:buClr>
              <a:buChar char="•"/>
              <a:defRPr sz="1600">
                <a:solidFill>
                  <a:srgbClr val="003300"/>
                </a:solidFill>
                <a:latin typeface="55 Helvetica Roman" pitchFamily="6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006600"/>
              </a:buClr>
              <a:buChar char="–"/>
              <a:defRPr sz="1600">
                <a:solidFill>
                  <a:srgbClr val="003300"/>
                </a:solidFill>
                <a:latin typeface="55 Helvetica Roman" pitchFamily="6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006600"/>
              </a:buClr>
              <a:buChar char="»"/>
              <a:defRPr sz="1600">
                <a:solidFill>
                  <a:srgbClr val="003300"/>
                </a:solidFill>
                <a:latin typeface="55 Helvetica Roman" pitchFamily="6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00"/>
              </a:buClr>
              <a:buChar char="»"/>
              <a:defRPr sz="1600">
                <a:solidFill>
                  <a:srgbClr val="003300"/>
                </a:solidFill>
                <a:latin typeface="55 Helvetica Roman" pitchFamily="6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00"/>
              </a:buClr>
              <a:buChar char="»"/>
              <a:defRPr sz="1600">
                <a:solidFill>
                  <a:srgbClr val="003300"/>
                </a:solidFill>
                <a:latin typeface="55 Helvetica Roman" pitchFamily="6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00"/>
              </a:buClr>
              <a:buChar char="»"/>
              <a:defRPr sz="1600">
                <a:solidFill>
                  <a:srgbClr val="003300"/>
                </a:solidFill>
                <a:latin typeface="55 Helvetica Roman" pitchFamily="6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00"/>
              </a:buClr>
              <a:buChar char="»"/>
              <a:defRPr sz="1600">
                <a:solidFill>
                  <a:srgbClr val="003300"/>
                </a:solidFill>
                <a:latin typeface="55 Helvetica Roman" pitchFamily="6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908" b="1">
                <a:solidFill>
                  <a:srgbClr val="00674E"/>
                </a:solidFill>
                <a:latin typeface="Arial" panose="020B0604020202020204" pitchFamily="34" charset="0"/>
              </a:rPr>
              <a:t>Assets</a:t>
            </a:r>
          </a:p>
        </p:txBody>
      </p:sp>
      <p:sp>
        <p:nvSpPr>
          <p:cNvPr id="17418" name="Rounded Rectangle 26">
            <a:extLst>
              <a:ext uri="{FF2B5EF4-FFF2-40B4-BE49-F238E27FC236}">
                <a16:creationId xmlns:a16="http://schemas.microsoft.com/office/drawing/2014/main" id="{926F04CC-3AEE-6518-D5B3-BC296BBE3B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82457" y="1538288"/>
            <a:ext cx="1267778" cy="230505"/>
          </a:xfrm>
          <a:prstGeom prst="roundRect">
            <a:avLst>
              <a:gd name="adj" fmla="val 16667"/>
            </a:avLst>
          </a:prstGeom>
          <a:solidFill>
            <a:srgbClr val="8BC176"/>
          </a:solidFill>
          <a:ln w="15875">
            <a:solidFill>
              <a:srgbClr val="D02138"/>
            </a:solidFill>
            <a:round/>
            <a:headEnd/>
            <a:tailEnd/>
          </a:ln>
        </p:spPr>
        <p:txBody>
          <a:bodyPr anchor="ctr"/>
          <a:lstStyle>
            <a:lvl1pPr>
              <a:spcBef>
                <a:spcPct val="20000"/>
              </a:spcBef>
              <a:buClr>
                <a:srgbClr val="006600"/>
              </a:buClr>
              <a:buChar char="•"/>
              <a:defRPr sz="2400">
                <a:solidFill>
                  <a:srgbClr val="003300"/>
                </a:solidFill>
                <a:latin typeface="55 Helvetica Roman" pitchFamily="6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06600"/>
              </a:buClr>
              <a:buFont typeface="Wingdings" pitchFamily="2" charset="2"/>
              <a:buChar char="ü"/>
              <a:defRPr sz="2000">
                <a:solidFill>
                  <a:srgbClr val="003300"/>
                </a:solidFill>
                <a:latin typeface="55 Helvetica Roman" pitchFamily="6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006600"/>
              </a:buClr>
              <a:buChar char="•"/>
              <a:defRPr sz="1600">
                <a:solidFill>
                  <a:srgbClr val="003300"/>
                </a:solidFill>
                <a:latin typeface="55 Helvetica Roman" pitchFamily="6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006600"/>
              </a:buClr>
              <a:buChar char="–"/>
              <a:defRPr sz="1600">
                <a:solidFill>
                  <a:srgbClr val="003300"/>
                </a:solidFill>
                <a:latin typeface="55 Helvetica Roman" pitchFamily="6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006600"/>
              </a:buClr>
              <a:buChar char="»"/>
              <a:defRPr sz="1600">
                <a:solidFill>
                  <a:srgbClr val="003300"/>
                </a:solidFill>
                <a:latin typeface="55 Helvetica Roman" pitchFamily="6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00"/>
              </a:buClr>
              <a:buChar char="»"/>
              <a:defRPr sz="1600">
                <a:solidFill>
                  <a:srgbClr val="003300"/>
                </a:solidFill>
                <a:latin typeface="55 Helvetica Roman" pitchFamily="6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00"/>
              </a:buClr>
              <a:buChar char="»"/>
              <a:defRPr sz="1600">
                <a:solidFill>
                  <a:srgbClr val="003300"/>
                </a:solidFill>
                <a:latin typeface="55 Helvetica Roman" pitchFamily="6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00"/>
              </a:buClr>
              <a:buChar char="»"/>
              <a:defRPr sz="1600">
                <a:solidFill>
                  <a:srgbClr val="003300"/>
                </a:solidFill>
                <a:latin typeface="55 Helvetica Roman" pitchFamily="6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00"/>
              </a:buClr>
              <a:buChar char="»"/>
              <a:defRPr sz="1600">
                <a:solidFill>
                  <a:srgbClr val="003300"/>
                </a:solidFill>
                <a:latin typeface="55 Helvetica Roman" pitchFamily="6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908" b="1">
                <a:solidFill>
                  <a:srgbClr val="00674E"/>
                </a:solidFill>
                <a:latin typeface="Arial" panose="020B0604020202020204" pitchFamily="34" charset="0"/>
              </a:rPr>
              <a:t>Liabilities</a:t>
            </a:r>
          </a:p>
        </p:txBody>
      </p:sp>
      <p:sp>
        <p:nvSpPr>
          <p:cNvPr id="17419" name="Rounded Rectangle 27">
            <a:extLst>
              <a:ext uri="{FF2B5EF4-FFF2-40B4-BE49-F238E27FC236}">
                <a16:creationId xmlns:a16="http://schemas.microsoft.com/office/drawing/2014/main" id="{7A22C857-9735-078B-3D97-B7379695E5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82457" y="1807210"/>
            <a:ext cx="1267778" cy="230505"/>
          </a:xfrm>
          <a:prstGeom prst="roundRect">
            <a:avLst>
              <a:gd name="adj" fmla="val 16667"/>
            </a:avLst>
          </a:prstGeom>
          <a:solidFill>
            <a:srgbClr val="8BC176"/>
          </a:solidFill>
          <a:ln w="15875">
            <a:solidFill>
              <a:srgbClr val="D02138"/>
            </a:solidFill>
            <a:round/>
            <a:headEnd/>
            <a:tailEnd/>
          </a:ln>
        </p:spPr>
        <p:txBody>
          <a:bodyPr anchor="ctr"/>
          <a:lstStyle>
            <a:lvl1pPr>
              <a:spcBef>
                <a:spcPct val="20000"/>
              </a:spcBef>
              <a:buClr>
                <a:srgbClr val="006600"/>
              </a:buClr>
              <a:buChar char="•"/>
              <a:defRPr sz="2400">
                <a:solidFill>
                  <a:srgbClr val="003300"/>
                </a:solidFill>
                <a:latin typeface="55 Helvetica Roman" pitchFamily="6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06600"/>
              </a:buClr>
              <a:buFont typeface="Wingdings" pitchFamily="2" charset="2"/>
              <a:buChar char="ü"/>
              <a:defRPr sz="2000">
                <a:solidFill>
                  <a:srgbClr val="003300"/>
                </a:solidFill>
                <a:latin typeface="55 Helvetica Roman" pitchFamily="6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006600"/>
              </a:buClr>
              <a:buChar char="•"/>
              <a:defRPr sz="1600">
                <a:solidFill>
                  <a:srgbClr val="003300"/>
                </a:solidFill>
                <a:latin typeface="55 Helvetica Roman" pitchFamily="6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006600"/>
              </a:buClr>
              <a:buChar char="–"/>
              <a:defRPr sz="1600">
                <a:solidFill>
                  <a:srgbClr val="003300"/>
                </a:solidFill>
                <a:latin typeface="55 Helvetica Roman" pitchFamily="6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006600"/>
              </a:buClr>
              <a:buChar char="»"/>
              <a:defRPr sz="1600">
                <a:solidFill>
                  <a:srgbClr val="003300"/>
                </a:solidFill>
                <a:latin typeface="55 Helvetica Roman" pitchFamily="6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00"/>
              </a:buClr>
              <a:buChar char="»"/>
              <a:defRPr sz="1600">
                <a:solidFill>
                  <a:srgbClr val="003300"/>
                </a:solidFill>
                <a:latin typeface="55 Helvetica Roman" pitchFamily="6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00"/>
              </a:buClr>
              <a:buChar char="»"/>
              <a:defRPr sz="1600">
                <a:solidFill>
                  <a:srgbClr val="003300"/>
                </a:solidFill>
                <a:latin typeface="55 Helvetica Roman" pitchFamily="6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00"/>
              </a:buClr>
              <a:buChar char="»"/>
              <a:defRPr sz="1600">
                <a:solidFill>
                  <a:srgbClr val="003300"/>
                </a:solidFill>
                <a:latin typeface="55 Helvetica Roman" pitchFamily="6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00"/>
              </a:buClr>
              <a:buChar char="»"/>
              <a:defRPr sz="1600">
                <a:solidFill>
                  <a:srgbClr val="003300"/>
                </a:solidFill>
                <a:latin typeface="55 Helvetica Roman" pitchFamily="6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908" b="1">
                <a:solidFill>
                  <a:srgbClr val="00674E"/>
                </a:solidFill>
                <a:latin typeface="Arial" panose="020B0604020202020204" pitchFamily="34" charset="0"/>
              </a:rPr>
              <a:t>Equity</a:t>
            </a:r>
          </a:p>
        </p:txBody>
      </p:sp>
      <p:sp>
        <p:nvSpPr>
          <p:cNvPr id="17420" name="Rounded Rectangle 28">
            <a:extLst>
              <a:ext uri="{FF2B5EF4-FFF2-40B4-BE49-F238E27FC236}">
                <a16:creationId xmlns:a16="http://schemas.microsoft.com/office/drawing/2014/main" id="{6719BE8C-8F6D-ED95-0737-81D126D903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487" y="1269365"/>
            <a:ext cx="1267778" cy="230505"/>
          </a:xfrm>
          <a:prstGeom prst="roundRect">
            <a:avLst>
              <a:gd name="adj" fmla="val 16667"/>
            </a:avLst>
          </a:prstGeom>
          <a:solidFill>
            <a:srgbClr val="8BC176"/>
          </a:solidFill>
          <a:ln w="15875">
            <a:solidFill>
              <a:srgbClr val="D02138"/>
            </a:solidFill>
            <a:round/>
            <a:headEnd/>
            <a:tailEnd/>
          </a:ln>
        </p:spPr>
        <p:txBody>
          <a:bodyPr anchor="ctr"/>
          <a:lstStyle>
            <a:lvl1pPr>
              <a:spcBef>
                <a:spcPct val="20000"/>
              </a:spcBef>
              <a:buClr>
                <a:srgbClr val="006600"/>
              </a:buClr>
              <a:buChar char="•"/>
              <a:defRPr sz="2400">
                <a:solidFill>
                  <a:srgbClr val="003300"/>
                </a:solidFill>
                <a:latin typeface="55 Helvetica Roman" pitchFamily="6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06600"/>
              </a:buClr>
              <a:buFont typeface="Wingdings" pitchFamily="2" charset="2"/>
              <a:buChar char="ü"/>
              <a:defRPr sz="2000">
                <a:solidFill>
                  <a:srgbClr val="003300"/>
                </a:solidFill>
                <a:latin typeface="55 Helvetica Roman" pitchFamily="6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006600"/>
              </a:buClr>
              <a:buChar char="•"/>
              <a:defRPr sz="1600">
                <a:solidFill>
                  <a:srgbClr val="003300"/>
                </a:solidFill>
                <a:latin typeface="55 Helvetica Roman" pitchFamily="6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006600"/>
              </a:buClr>
              <a:buChar char="–"/>
              <a:defRPr sz="1600">
                <a:solidFill>
                  <a:srgbClr val="003300"/>
                </a:solidFill>
                <a:latin typeface="55 Helvetica Roman" pitchFamily="6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006600"/>
              </a:buClr>
              <a:buChar char="»"/>
              <a:defRPr sz="1600">
                <a:solidFill>
                  <a:srgbClr val="003300"/>
                </a:solidFill>
                <a:latin typeface="55 Helvetica Roman" pitchFamily="6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00"/>
              </a:buClr>
              <a:buChar char="»"/>
              <a:defRPr sz="1600">
                <a:solidFill>
                  <a:srgbClr val="003300"/>
                </a:solidFill>
                <a:latin typeface="55 Helvetica Roman" pitchFamily="6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00"/>
              </a:buClr>
              <a:buChar char="»"/>
              <a:defRPr sz="1600">
                <a:solidFill>
                  <a:srgbClr val="003300"/>
                </a:solidFill>
                <a:latin typeface="55 Helvetica Roman" pitchFamily="6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00"/>
              </a:buClr>
              <a:buChar char="»"/>
              <a:defRPr sz="1600">
                <a:solidFill>
                  <a:srgbClr val="003300"/>
                </a:solidFill>
                <a:latin typeface="55 Helvetica Roman" pitchFamily="6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00"/>
              </a:buClr>
              <a:buChar char="»"/>
              <a:defRPr sz="1600">
                <a:solidFill>
                  <a:srgbClr val="003300"/>
                </a:solidFill>
                <a:latin typeface="55 Helvetica Roman" pitchFamily="6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908" b="1">
                <a:solidFill>
                  <a:srgbClr val="00674E"/>
                </a:solidFill>
                <a:latin typeface="Arial" panose="020B0604020202020204" pitchFamily="34" charset="0"/>
              </a:rPr>
              <a:t>Operations</a:t>
            </a:r>
          </a:p>
        </p:txBody>
      </p:sp>
      <p:sp>
        <p:nvSpPr>
          <p:cNvPr id="17421" name="Rounded Rectangle 29">
            <a:extLst>
              <a:ext uri="{FF2B5EF4-FFF2-40B4-BE49-F238E27FC236}">
                <a16:creationId xmlns:a16="http://schemas.microsoft.com/office/drawing/2014/main" id="{67F41E72-545F-03FC-374B-A476B52B4F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487" y="1538288"/>
            <a:ext cx="1267778" cy="230505"/>
          </a:xfrm>
          <a:prstGeom prst="roundRect">
            <a:avLst>
              <a:gd name="adj" fmla="val 16667"/>
            </a:avLst>
          </a:prstGeom>
          <a:solidFill>
            <a:srgbClr val="8BC176"/>
          </a:solidFill>
          <a:ln w="15875">
            <a:solidFill>
              <a:srgbClr val="D02138"/>
            </a:solidFill>
            <a:round/>
            <a:headEnd/>
            <a:tailEnd/>
          </a:ln>
        </p:spPr>
        <p:txBody>
          <a:bodyPr anchor="ctr"/>
          <a:lstStyle>
            <a:lvl1pPr>
              <a:spcBef>
                <a:spcPct val="20000"/>
              </a:spcBef>
              <a:buClr>
                <a:srgbClr val="006600"/>
              </a:buClr>
              <a:buChar char="•"/>
              <a:defRPr sz="2400">
                <a:solidFill>
                  <a:srgbClr val="003300"/>
                </a:solidFill>
                <a:latin typeface="55 Helvetica Roman" pitchFamily="6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06600"/>
              </a:buClr>
              <a:buFont typeface="Wingdings" pitchFamily="2" charset="2"/>
              <a:buChar char="ü"/>
              <a:defRPr sz="2000">
                <a:solidFill>
                  <a:srgbClr val="003300"/>
                </a:solidFill>
                <a:latin typeface="55 Helvetica Roman" pitchFamily="6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006600"/>
              </a:buClr>
              <a:buChar char="•"/>
              <a:defRPr sz="1600">
                <a:solidFill>
                  <a:srgbClr val="003300"/>
                </a:solidFill>
                <a:latin typeface="55 Helvetica Roman" pitchFamily="6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006600"/>
              </a:buClr>
              <a:buChar char="–"/>
              <a:defRPr sz="1600">
                <a:solidFill>
                  <a:srgbClr val="003300"/>
                </a:solidFill>
                <a:latin typeface="55 Helvetica Roman" pitchFamily="6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006600"/>
              </a:buClr>
              <a:buChar char="»"/>
              <a:defRPr sz="1600">
                <a:solidFill>
                  <a:srgbClr val="003300"/>
                </a:solidFill>
                <a:latin typeface="55 Helvetica Roman" pitchFamily="6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00"/>
              </a:buClr>
              <a:buChar char="»"/>
              <a:defRPr sz="1600">
                <a:solidFill>
                  <a:srgbClr val="003300"/>
                </a:solidFill>
                <a:latin typeface="55 Helvetica Roman" pitchFamily="6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00"/>
              </a:buClr>
              <a:buChar char="»"/>
              <a:defRPr sz="1600">
                <a:solidFill>
                  <a:srgbClr val="003300"/>
                </a:solidFill>
                <a:latin typeface="55 Helvetica Roman" pitchFamily="6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00"/>
              </a:buClr>
              <a:buChar char="»"/>
              <a:defRPr sz="1600">
                <a:solidFill>
                  <a:srgbClr val="003300"/>
                </a:solidFill>
                <a:latin typeface="55 Helvetica Roman" pitchFamily="6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00"/>
              </a:buClr>
              <a:buChar char="»"/>
              <a:defRPr sz="1600">
                <a:solidFill>
                  <a:srgbClr val="003300"/>
                </a:solidFill>
                <a:latin typeface="55 Helvetica Roman" pitchFamily="6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908" b="1">
                <a:solidFill>
                  <a:srgbClr val="00674E"/>
                </a:solidFill>
                <a:latin typeface="Arial" panose="020B0604020202020204" pitchFamily="34" charset="0"/>
              </a:rPr>
              <a:t>Investment</a:t>
            </a:r>
          </a:p>
        </p:txBody>
      </p:sp>
      <p:sp>
        <p:nvSpPr>
          <p:cNvPr id="17422" name="Rounded Rectangle 30">
            <a:extLst>
              <a:ext uri="{FF2B5EF4-FFF2-40B4-BE49-F238E27FC236}">
                <a16:creationId xmlns:a16="http://schemas.microsoft.com/office/drawing/2014/main" id="{420E09C4-1EA1-B063-CCF7-756D10E943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487" y="1807210"/>
            <a:ext cx="1267778" cy="230505"/>
          </a:xfrm>
          <a:prstGeom prst="roundRect">
            <a:avLst>
              <a:gd name="adj" fmla="val 16667"/>
            </a:avLst>
          </a:prstGeom>
          <a:solidFill>
            <a:srgbClr val="8BC176"/>
          </a:solidFill>
          <a:ln w="15875">
            <a:solidFill>
              <a:srgbClr val="D02138"/>
            </a:solidFill>
            <a:round/>
            <a:headEnd/>
            <a:tailEnd/>
          </a:ln>
        </p:spPr>
        <p:txBody>
          <a:bodyPr anchor="ctr"/>
          <a:lstStyle>
            <a:lvl1pPr>
              <a:spcBef>
                <a:spcPct val="20000"/>
              </a:spcBef>
              <a:buClr>
                <a:srgbClr val="006600"/>
              </a:buClr>
              <a:buChar char="•"/>
              <a:defRPr sz="2400">
                <a:solidFill>
                  <a:srgbClr val="003300"/>
                </a:solidFill>
                <a:latin typeface="55 Helvetica Roman" pitchFamily="6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06600"/>
              </a:buClr>
              <a:buFont typeface="Wingdings" pitchFamily="2" charset="2"/>
              <a:buChar char="ü"/>
              <a:defRPr sz="2000">
                <a:solidFill>
                  <a:srgbClr val="003300"/>
                </a:solidFill>
                <a:latin typeface="55 Helvetica Roman" pitchFamily="6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006600"/>
              </a:buClr>
              <a:buChar char="•"/>
              <a:defRPr sz="1600">
                <a:solidFill>
                  <a:srgbClr val="003300"/>
                </a:solidFill>
                <a:latin typeface="55 Helvetica Roman" pitchFamily="6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006600"/>
              </a:buClr>
              <a:buChar char="–"/>
              <a:defRPr sz="1600">
                <a:solidFill>
                  <a:srgbClr val="003300"/>
                </a:solidFill>
                <a:latin typeface="55 Helvetica Roman" pitchFamily="6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006600"/>
              </a:buClr>
              <a:buChar char="»"/>
              <a:defRPr sz="1600">
                <a:solidFill>
                  <a:srgbClr val="003300"/>
                </a:solidFill>
                <a:latin typeface="55 Helvetica Roman" pitchFamily="6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00"/>
              </a:buClr>
              <a:buChar char="»"/>
              <a:defRPr sz="1600">
                <a:solidFill>
                  <a:srgbClr val="003300"/>
                </a:solidFill>
                <a:latin typeface="55 Helvetica Roman" pitchFamily="6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00"/>
              </a:buClr>
              <a:buChar char="»"/>
              <a:defRPr sz="1600">
                <a:solidFill>
                  <a:srgbClr val="003300"/>
                </a:solidFill>
                <a:latin typeface="55 Helvetica Roman" pitchFamily="6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00"/>
              </a:buClr>
              <a:buChar char="»"/>
              <a:defRPr sz="1600">
                <a:solidFill>
                  <a:srgbClr val="003300"/>
                </a:solidFill>
                <a:latin typeface="55 Helvetica Roman" pitchFamily="6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00"/>
              </a:buClr>
              <a:buChar char="»"/>
              <a:defRPr sz="1600">
                <a:solidFill>
                  <a:srgbClr val="003300"/>
                </a:solidFill>
                <a:latin typeface="55 Helvetica Roman" pitchFamily="6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908" b="1">
                <a:solidFill>
                  <a:srgbClr val="00674E"/>
                </a:solidFill>
                <a:latin typeface="Arial" panose="020B0604020202020204" pitchFamily="34" charset="0"/>
              </a:rPr>
              <a:t>Financing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8FFFD62-7159-4BF6-CA00-614C59C74C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6AAC35-825F-3E60-EA71-F9FBFAF63A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>
            <a:extLst>
              <a:ext uri="{FF2B5EF4-FFF2-40B4-BE49-F238E27FC236}">
                <a16:creationId xmlns:a16="http://schemas.microsoft.com/office/drawing/2014/main" id="{9348B83C-A892-B176-0016-2B0EA39CEEB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26439" y="190295"/>
            <a:ext cx="3153410" cy="215444"/>
          </a:xfrm>
        </p:spPr>
        <p:txBody>
          <a:bodyPr/>
          <a:lstStyle/>
          <a:p>
            <a:r>
              <a:rPr lang="en-US" altLang="en-US"/>
              <a:t>The Income Statement</a:t>
            </a:r>
          </a:p>
        </p:txBody>
      </p:sp>
      <p:sp>
        <p:nvSpPr>
          <p:cNvPr id="26627" name="Content Placeholder 2">
            <a:extLst>
              <a:ext uri="{FF2B5EF4-FFF2-40B4-BE49-F238E27FC236}">
                <a16:creationId xmlns:a16="http://schemas.microsoft.com/office/drawing/2014/main" id="{DB8E8CD3-D002-DD4A-9587-DF3F08F8BE3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729932" y="962025"/>
            <a:ext cx="3572828" cy="846386"/>
          </a:xfrm>
        </p:spPr>
        <p:txBody>
          <a:bodyPr/>
          <a:lstStyle/>
          <a:p>
            <a:r>
              <a:rPr lang="en-US" altLang="en-US"/>
              <a:t>Financial performance over a given period….</a:t>
            </a:r>
          </a:p>
          <a:p>
            <a:r>
              <a:rPr lang="en-US" altLang="en-US"/>
              <a:t>? How does a company receive revenue</a:t>
            </a:r>
          </a:p>
          <a:p>
            <a:r>
              <a:rPr lang="en-US" altLang="en-US"/>
              <a:t>? How does a company incur expenses</a:t>
            </a:r>
          </a:p>
          <a:p>
            <a:endParaRPr lang="en-US" altLang="en-US"/>
          </a:p>
          <a:p>
            <a:r>
              <a:rPr lang="en-US" altLang="en-US"/>
              <a:t>…</a:t>
            </a:r>
            <a:r>
              <a:rPr lang="en-US" altLang="en-US" b="1" i="1"/>
              <a:t>This is how we establish Profit , Loss and GROWTH</a:t>
            </a:r>
            <a:endParaRPr lang="en-US" altLang="en-US"/>
          </a:p>
        </p:txBody>
      </p:sp>
      <p:pic>
        <p:nvPicPr>
          <p:cNvPr id="2" name="Picture 3">
            <a:extLst>
              <a:ext uri="{FF2B5EF4-FFF2-40B4-BE49-F238E27FC236}">
                <a16:creationId xmlns:a16="http://schemas.microsoft.com/office/drawing/2014/main" id="{5BD66DAB-7039-6BE4-BE50-2B2DAF9F75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3400" y="1893828"/>
            <a:ext cx="1229360" cy="13766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>
            <a:extLst>
              <a:ext uri="{FF2B5EF4-FFF2-40B4-BE49-F238E27FC236}">
                <a16:creationId xmlns:a16="http://schemas.microsoft.com/office/drawing/2014/main" id="{0343F591-0CA2-A6B4-851B-9FF20FCE782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29932" y="232092"/>
            <a:ext cx="3572828" cy="430887"/>
          </a:xfrm>
        </p:spPr>
        <p:txBody>
          <a:bodyPr/>
          <a:lstStyle/>
          <a:p>
            <a:r>
              <a:rPr lang="en-US" altLang="en-US" dirty="0"/>
              <a:t>Income Statement: </a:t>
            </a:r>
            <a:br>
              <a:rPr lang="en-US" altLang="en-US" dirty="0"/>
            </a:br>
            <a:r>
              <a:rPr lang="en-US" altLang="en-US" dirty="0"/>
              <a:t>All Profits are NOT Created Equal</a:t>
            </a:r>
          </a:p>
        </p:txBody>
      </p:sp>
      <p:sp>
        <p:nvSpPr>
          <p:cNvPr id="34818" name="Rounded Rectangle 3">
            <a:extLst>
              <a:ext uri="{FF2B5EF4-FFF2-40B4-BE49-F238E27FC236}">
                <a16:creationId xmlns:a16="http://schemas.microsoft.com/office/drawing/2014/main" id="{91058BA3-1DC6-9602-E4C2-FDE0E271E3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9932" y="693103"/>
            <a:ext cx="806768" cy="230505"/>
          </a:xfrm>
          <a:prstGeom prst="roundRect">
            <a:avLst>
              <a:gd name="adj" fmla="val 16667"/>
            </a:avLst>
          </a:prstGeom>
          <a:solidFill>
            <a:srgbClr val="8BC176"/>
          </a:solidFill>
          <a:ln w="15875">
            <a:solidFill>
              <a:srgbClr val="D02138"/>
            </a:solidFill>
            <a:round/>
            <a:headEnd/>
            <a:tailEnd/>
          </a:ln>
        </p:spPr>
        <p:txBody>
          <a:bodyPr anchor="ctr"/>
          <a:lstStyle>
            <a:lvl1pPr>
              <a:spcBef>
                <a:spcPct val="20000"/>
              </a:spcBef>
              <a:buClr>
                <a:srgbClr val="006600"/>
              </a:buClr>
              <a:buChar char="•"/>
              <a:defRPr sz="2400">
                <a:solidFill>
                  <a:srgbClr val="003300"/>
                </a:solidFill>
                <a:latin typeface="55 Helvetica Roman" pitchFamily="6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06600"/>
              </a:buClr>
              <a:buFont typeface="Wingdings" pitchFamily="2" charset="2"/>
              <a:buChar char="ü"/>
              <a:defRPr sz="2000">
                <a:solidFill>
                  <a:srgbClr val="003300"/>
                </a:solidFill>
                <a:latin typeface="55 Helvetica Roman" pitchFamily="6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006600"/>
              </a:buClr>
              <a:buChar char="•"/>
              <a:defRPr sz="1600">
                <a:solidFill>
                  <a:srgbClr val="003300"/>
                </a:solidFill>
                <a:latin typeface="55 Helvetica Roman" pitchFamily="6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006600"/>
              </a:buClr>
              <a:buChar char="–"/>
              <a:defRPr sz="1600">
                <a:solidFill>
                  <a:srgbClr val="003300"/>
                </a:solidFill>
                <a:latin typeface="55 Helvetica Roman" pitchFamily="6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006600"/>
              </a:buClr>
              <a:buChar char="»"/>
              <a:defRPr sz="1600">
                <a:solidFill>
                  <a:srgbClr val="003300"/>
                </a:solidFill>
                <a:latin typeface="55 Helvetica Roman" pitchFamily="6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00"/>
              </a:buClr>
              <a:buChar char="»"/>
              <a:defRPr sz="1600">
                <a:solidFill>
                  <a:srgbClr val="003300"/>
                </a:solidFill>
                <a:latin typeface="55 Helvetica Roman" pitchFamily="6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00"/>
              </a:buClr>
              <a:buChar char="»"/>
              <a:defRPr sz="1600">
                <a:solidFill>
                  <a:srgbClr val="003300"/>
                </a:solidFill>
                <a:latin typeface="55 Helvetica Roman" pitchFamily="6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00"/>
              </a:buClr>
              <a:buChar char="»"/>
              <a:defRPr sz="1600">
                <a:solidFill>
                  <a:srgbClr val="003300"/>
                </a:solidFill>
                <a:latin typeface="55 Helvetica Roman" pitchFamily="6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00"/>
              </a:buClr>
              <a:buChar char="»"/>
              <a:defRPr sz="1600">
                <a:solidFill>
                  <a:srgbClr val="003300"/>
                </a:solidFill>
                <a:latin typeface="55 Helvetica Roman" pitchFamily="6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908" b="1">
                <a:solidFill>
                  <a:srgbClr val="00674E"/>
                </a:solidFill>
                <a:latin typeface="Arial" panose="020B0604020202020204" pitchFamily="34" charset="0"/>
              </a:rPr>
              <a:t>Revenue</a:t>
            </a:r>
          </a:p>
        </p:txBody>
      </p:sp>
      <p:sp>
        <p:nvSpPr>
          <p:cNvPr id="34819" name="Rounded Rectangle 4">
            <a:extLst>
              <a:ext uri="{FF2B5EF4-FFF2-40B4-BE49-F238E27FC236}">
                <a16:creationId xmlns:a16="http://schemas.microsoft.com/office/drawing/2014/main" id="{B6049C6C-5B91-BB6F-0B43-5FA9DA8F60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673" y="997234"/>
            <a:ext cx="1013285" cy="384175"/>
          </a:xfrm>
          <a:prstGeom prst="roundRect">
            <a:avLst>
              <a:gd name="adj" fmla="val 16667"/>
            </a:avLst>
          </a:prstGeom>
          <a:solidFill>
            <a:srgbClr val="E31937"/>
          </a:solidFill>
          <a:ln w="15875">
            <a:solidFill>
              <a:srgbClr val="D02138"/>
            </a:solidFill>
            <a:round/>
            <a:headEnd/>
            <a:tailEnd/>
          </a:ln>
        </p:spPr>
        <p:txBody>
          <a:bodyPr anchor="ctr"/>
          <a:lstStyle>
            <a:lvl1pPr>
              <a:spcBef>
                <a:spcPct val="20000"/>
              </a:spcBef>
              <a:buClr>
                <a:srgbClr val="006600"/>
              </a:buClr>
              <a:buChar char="•"/>
              <a:defRPr sz="2400">
                <a:solidFill>
                  <a:srgbClr val="003300"/>
                </a:solidFill>
                <a:latin typeface="55 Helvetica Roman" pitchFamily="6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06600"/>
              </a:buClr>
              <a:buFont typeface="Wingdings" pitchFamily="2" charset="2"/>
              <a:buChar char="ü"/>
              <a:defRPr sz="2000">
                <a:solidFill>
                  <a:srgbClr val="003300"/>
                </a:solidFill>
                <a:latin typeface="55 Helvetica Roman" pitchFamily="6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006600"/>
              </a:buClr>
              <a:buChar char="•"/>
              <a:defRPr sz="1600">
                <a:solidFill>
                  <a:srgbClr val="003300"/>
                </a:solidFill>
                <a:latin typeface="55 Helvetica Roman" pitchFamily="6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006600"/>
              </a:buClr>
              <a:buChar char="–"/>
              <a:defRPr sz="1600">
                <a:solidFill>
                  <a:srgbClr val="003300"/>
                </a:solidFill>
                <a:latin typeface="55 Helvetica Roman" pitchFamily="6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006600"/>
              </a:buClr>
              <a:buChar char="»"/>
              <a:defRPr sz="1600">
                <a:solidFill>
                  <a:srgbClr val="003300"/>
                </a:solidFill>
                <a:latin typeface="55 Helvetica Roman" pitchFamily="6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00"/>
              </a:buClr>
              <a:buChar char="»"/>
              <a:defRPr sz="1600">
                <a:solidFill>
                  <a:srgbClr val="003300"/>
                </a:solidFill>
                <a:latin typeface="55 Helvetica Roman" pitchFamily="6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00"/>
              </a:buClr>
              <a:buChar char="»"/>
              <a:defRPr sz="1600">
                <a:solidFill>
                  <a:srgbClr val="003300"/>
                </a:solidFill>
                <a:latin typeface="55 Helvetica Roman" pitchFamily="6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00"/>
              </a:buClr>
              <a:buChar char="»"/>
              <a:defRPr sz="1600">
                <a:solidFill>
                  <a:srgbClr val="003300"/>
                </a:solidFill>
                <a:latin typeface="55 Helvetica Roman" pitchFamily="6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00"/>
              </a:buClr>
              <a:buChar char="»"/>
              <a:defRPr sz="1600">
                <a:solidFill>
                  <a:srgbClr val="003300"/>
                </a:solidFill>
                <a:latin typeface="55 Helvetica Roman" pitchFamily="6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908" b="1" dirty="0">
                <a:solidFill>
                  <a:schemeClr val="bg1"/>
                </a:solidFill>
                <a:latin typeface="Arial" panose="020B0604020202020204" pitchFamily="34" charset="0"/>
              </a:rPr>
              <a:t>Cost of Goods Sold (COGS)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D42F4485-5A00-EDCA-55DD-EFF35E42391B}"/>
              </a:ext>
            </a:extLst>
          </p:cNvPr>
          <p:cNvSpPr/>
          <p:nvPr/>
        </p:nvSpPr>
        <p:spPr bwMode="auto">
          <a:xfrm>
            <a:off x="1536700" y="1499870"/>
            <a:ext cx="1536700" cy="230505"/>
          </a:xfrm>
          <a:prstGeom prst="roundRect">
            <a:avLst/>
          </a:prstGeom>
          <a:solidFill>
            <a:schemeClr val="bg2">
              <a:lumMod val="50000"/>
            </a:schemeClr>
          </a:solidFill>
          <a:ln w="15875" cap="flat" cmpd="sng" algn="ctr">
            <a:solidFill>
              <a:srgbClr val="D02138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US" sz="908" b="1" dirty="0">
                <a:solidFill>
                  <a:srgbClr val="FFFFFF"/>
                </a:solidFill>
                <a:latin typeface="Arial" charset="0"/>
                <a:ea typeface="ＭＳ Ｐゴシック" pitchFamily="64" charset="-128"/>
                <a:cs typeface="ＭＳ Ｐゴシック" charset="0"/>
              </a:rPr>
              <a:t>Gross Profit</a:t>
            </a:r>
          </a:p>
        </p:txBody>
      </p:sp>
      <p:sp>
        <p:nvSpPr>
          <p:cNvPr id="34821" name="Rounded Rectangle 9">
            <a:extLst>
              <a:ext uri="{FF2B5EF4-FFF2-40B4-BE49-F238E27FC236}">
                <a16:creationId xmlns:a16="http://schemas.microsoft.com/office/drawing/2014/main" id="{8668D717-8B41-6AC9-A0E6-6E89D07A09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9932" y="2345055"/>
            <a:ext cx="1190943" cy="230505"/>
          </a:xfrm>
          <a:prstGeom prst="roundRect">
            <a:avLst>
              <a:gd name="adj" fmla="val 16667"/>
            </a:avLst>
          </a:prstGeom>
          <a:solidFill>
            <a:srgbClr val="E31937"/>
          </a:solidFill>
          <a:ln w="15875">
            <a:solidFill>
              <a:srgbClr val="D02138"/>
            </a:solidFill>
            <a:round/>
            <a:headEnd/>
            <a:tailEnd/>
          </a:ln>
        </p:spPr>
        <p:txBody>
          <a:bodyPr anchor="ctr"/>
          <a:lstStyle>
            <a:lvl1pPr>
              <a:spcBef>
                <a:spcPct val="20000"/>
              </a:spcBef>
              <a:buClr>
                <a:srgbClr val="006600"/>
              </a:buClr>
              <a:buChar char="•"/>
              <a:defRPr sz="2400">
                <a:solidFill>
                  <a:srgbClr val="003300"/>
                </a:solidFill>
                <a:latin typeface="55 Helvetica Roman" pitchFamily="6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06600"/>
              </a:buClr>
              <a:buFont typeface="Wingdings" pitchFamily="2" charset="2"/>
              <a:buChar char="ü"/>
              <a:defRPr sz="2000">
                <a:solidFill>
                  <a:srgbClr val="003300"/>
                </a:solidFill>
                <a:latin typeface="55 Helvetica Roman" pitchFamily="6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006600"/>
              </a:buClr>
              <a:buChar char="•"/>
              <a:defRPr sz="1600">
                <a:solidFill>
                  <a:srgbClr val="003300"/>
                </a:solidFill>
                <a:latin typeface="55 Helvetica Roman" pitchFamily="6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006600"/>
              </a:buClr>
              <a:buChar char="–"/>
              <a:defRPr sz="1600">
                <a:solidFill>
                  <a:srgbClr val="003300"/>
                </a:solidFill>
                <a:latin typeface="55 Helvetica Roman" pitchFamily="6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006600"/>
              </a:buClr>
              <a:buChar char="»"/>
              <a:defRPr sz="1600">
                <a:solidFill>
                  <a:srgbClr val="003300"/>
                </a:solidFill>
                <a:latin typeface="55 Helvetica Roman" pitchFamily="6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00"/>
              </a:buClr>
              <a:buChar char="»"/>
              <a:defRPr sz="1600">
                <a:solidFill>
                  <a:srgbClr val="003300"/>
                </a:solidFill>
                <a:latin typeface="55 Helvetica Roman" pitchFamily="6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00"/>
              </a:buClr>
              <a:buChar char="»"/>
              <a:defRPr sz="1600">
                <a:solidFill>
                  <a:srgbClr val="003300"/>
                </a:solidFill>
                <a:latin typeface="55 Helvetica Roman" pitchFamily="6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00"/>
              </a:buClr>
              <a:buChar char="»"/>
              <a:defRPr sz="1600">
                <a:solidFill>
                  <a:srgbClr val="003300"/>
                </a:solidFill>
                <a:latin typeface="55 Helvetica Roman" pitchFamily="6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00"/>
              </a:buClr>
              <a:buChar char="»"/>
              <a:defRPr sz="1600">
                <a:solidFill>
                  <a:srgbClr val="003300"/>
                </a:solidFill>
                <a:latin typeface="55 Helvetica Roman" pitchFamily="6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908" b="1">
                <a:solidFill>
                  <a:srgbClr val="FFFFFF"/>
                </a:solidFill>
                <a:latin typeface="Arial" panose="020B0604020202020204" pitchFamily="34" charset="0"/>
              </a:rPr>
              <a:t>Interest Expense</a:t>
            </a:r>
          </a:p>
        </p:txBody>
      </p:sp>
      <p:sp>
        <p:nvSpPr>
          <p:cNvPr id="34822" name="TextBox 11">
            <a:extLst>
              <a:ext uri="{FF2B5EF4-FFF2-40B4-BE49-F238E27FC236}">
                <a16:creationId xmlns:a16="http://schemas.microsoft.com/office/drawing/2014/main" id="{A84796F5-6250-863B-A07C-BBA8AC9474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13535" y="693103"/>
            <a:ext cx="1923925" cy="2320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006600"/>
              </a:buClr>
              <a:buChar char="•"/>
              <a:defRPr sz="2400">
                <a:solidFill>
                  <a:srgbClr val="003300"/>
                </a:solidFill>
                <a:latin typeface="55 Helvetica Roman" pitchFamily="6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06600"/>
              </a:buClr>
              <a:buFont typeface="Wingdings" pitchFamily="2" charset="2"/>
              <a:buChar char="ü"/>
              <a:defRPr sz="2000">
                <a:solidFill>
                  <a:srgbClr val="003300"/>
                </a:solidFill>
                <a:latin typeface="55 Helvetica Roman" pitchFamily="6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006600"/>
              </a:buClr>
              <a:buChar char="•"/>
              <a:defRPr sz="1600">
                <a:solidFill>
                  <a:srgbClr val="003300"/>
                </a:solidFill>
                <a:latin typeface="55 Helvetica Roman" pitchFamily="6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006600"/>
              </a:buClr>
              <a:buChar char="–"/>
              <a:defRPr sz="1600">
                <a:solidFill>
                  <a:srgbClr val="003300"/>
                </a:solidFill>
                <a:latin typeface="55 Helvetica Roman" pitchFamily="6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006600"/>
              </a:buClr>
              <a:buChar char="»"/>
              <a:defRPr sz="1600">
                <a:solidFill>
                  <a:srgbClr val="003300"/>
                </a:solidFill>
                <a:latin typeface="55 Helvetica Roman" pitchFamily="6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00"/>
              </a:buClr>
              <a:buChar char="»"/>
              <a:defRPr sz="1600">
                <a:solidFill>
                  <a:srgbClr val="003300"/>
                </a:solidFill>
                <a:latin typeface="55 Helvetica Roman" pitchFamily="6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00"/>
              </a:buClr>
              <a:buChar char="»"/>
              <a:defRPr sz="1600">
                <a:solidFill>
                  <a:srgbClr val="003300"/>
                </a:solidFill>
                <a:latin typeface="55 Helvetica Roman" pitchFamily="6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00"/>
              </a:buClr>
              <a:buChar char="»"/>
              <a:defRPr sz="1600">
                <a:solidFill>
                  <a:srgbClr val="003300"/>
                </a:solidFill>
                <a:latin typeface="55 Helvetica Roman" pitchFamily="6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00"/>
              </a:buClr>
              <a:buChar char="»"/>
              <a:defRPr sz="1600">
                <a:solidFill>
                  <a:srgbClr val="003300"/>
                </a:solidFill>
                <a:latin typeface="55 Helvetica Roman" pitchFamily="6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908" i="1">
                <a:solidFill>
                  <a:schemeClr val="tx1"/>
                </a:solidFill>
                <a:latin typeface="Arial" panose="020B0604020202020204" pitchFamily="34" charset="0"/>
              </a:rPr>
              <a:t>(How/WHEN are you getting paid)</a:t>
            </a:r>
          </a:p>
        </p:txBody>
      </p:sp>
      <p:sp>
        <p:nvSpPr>
          <p:cNvPr id="34823" name="TextBox 12">
            <a:extLst>
              <a:ext uri="{FF2B5EF4-FFF2-40B4-BE49-F238E27FC236}">
                <a16:creationId xmlns:a16="http://schemas.microsoft.com/office/drawing/2014/main" id="{E9A8C970-0639-C8B9-7585-2063733DF8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9534" y="1077278"/>
            <a:ext cx="1257075" cy="2320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006600"/>
              </a:buClr>
              <a:buChar char="•"/>
              <a:defRPr sz="2400">
                <a:solidFill>
                  <a:srgbClr val="003300"/>
                </a:solidFill>
                <a:latin typeface="55 Helvetica Roman" pitchFamily="6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06600"/>
              </a:buClr>
              <a:buFont typeface="Wingdings" pitchFamily="2" charset="2"/>
              <a:buChar char="ü"/>
              <a:defRPr sz="2000">
                <a:solidFill>
                  <a:srgbClr val="003300"/>
                </a:solidFill>
                <a:latin typeface="55 Helvetica Roman" pitchFamily="6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006600"/>
              </a:buClr>
              <a:buChar char="•"/>
              <a:defRPr sz="1600">
                <a:solidFill>
                  <a:srgbClr val="003300"/>
                </a:solidFill>
                <a:latin typeface="55 Helvetica Roman" pitchFamily="6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006600"/>
              </a:buClr>
              <a:buChar char="–"/>
              <a:defRPr sz="1600">
                <a:solidFill>
                  <a:srgbClr val="003300"/>
                </a:solidFill>
                <a:latin typeface="55 Helvetica Roman" pitchFamily="6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006600"/>
              </a:buClr>
              <a:buChar char="»"/>
              <a:defRPr sz="1600">
                <a:solidFill>
                  <a:srgbClr val="003300"/>
                </a:solidFill>
                <a:latin typeface="55 Helvetica Roman" pitchFamily="6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00"/>
              </a:buClr>
              <a:buChar char="»"/>
              <a:defRPr sz="1600">
                <a:solidFill>
                  <a:srgbClr val="003300"/>
                </a:solidFill>
                <a:latin typeface="55 Helvetica Roman" pitchFamily="6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00"/>
              </a:buClr>
              <a:buChar char="»"/>
              <a:defRPr sz="1600">
                <a:solidFill>
                  <a:srgbClr val="003300"/>
                </a:solidFill>
                <a:latin typeface="55 Helvetica Roman" pitchFamily="6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00"/>
              </a:buClr>
              <a:buChar char="»"/>
              <a:defRPr sz="1600">
                <a:solidFill>
                  <a:srgbClr val="003300"/>
                </a:solidFill>
                <a:latin typeface="55 Helvetica Roman" pitchFamily="6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00"/>
              </a:buClr>
              <a:buChar char="»"/>
              <a:defRPr sz="1600">
                <a:solidFill>
                  <a:srgbClr val="003300"/>
                </a:solidFill>
                <a:latin typeface="55 Helvetica Roman" pitchFamily="6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908" i="1">
                <a:solidFill>
                  <a:schemeClr val="tx1"/>
                </a:solidFill>
                <a:latin typeface="Arial" panose="020B0604020202020204" pitchFamily="34" charset="0"/>
              </a:rPr>
              <a:t>(VARIABLE COSTS)</a:t>
            </a:r>
          </a:p>
        </p:txBody>
      </p:sp>
      <p:sp>
        <p:nvSpPr>
          <p:cNvPr id="34824" name="Rounded Rectangle 13">
            <a:extLst>
              <a:ext uri="{FF2B5EF4-FFF2-40B4-BE49-F238E27FC236}">
                <a16:creationId xmlns:a16="http://schemas.microsoft.com/office/drawing/2014/main" id="{C0DA4743-DCB8-9A08-4AD6-23FD795947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9932" y="1768793"/>
            <a:ext cx="1267778" cy="230505"/>
          </a:xfrm>
          <a:prstGeom prst="roundRect">
            <a:avLst>
              <a:gd name="adj" fmla="val 16667"/>
            </a:avLst>
          </a:prstGeom>
          <a:solidFill>
            <a:srgbClr val="E31937"/>
          </a:solidFill>
          <a:ln w="15875">
            <a:solidFill>
              <a:srgbClr val="D02138"/>
            </a:solidFill>
            <a:round/>
            <a:headEnd/>
            <a:tailEnd/>
          </a:ln>
        </p:spPr>
        <p:txBody>
          <a:bodyPr anchor="ctr"/>
          <a:lstStyle>
            <a:lvl1pPr>
              <a:spcBef>
                <a:spcPct val="20000"/>
              </a:spcBef>
              <a:buClr>
                <a:srgbClr val="006600"/>
              </a:buClr>
              <a:buChar char="•"/>
              <a:defRPr sz="2400">
                <a:solidFill>
                  <a:srgbClr val="003300"/>
                </a:solidFill>
                <a:latin typeface="55 Helvetica Roman" pitchFamily="6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06600"/>
              </a:buClr>
              <a:buFont typeface="Wingdings" pitchFamily="2" charset="2"/>
              <a:buChar char="ü"/>
              <a:defRPr sz="2000">
                <a:solidFill>
                  <a:srgbClr val="003300"/>
                </a:solidFill>
                <a:latin typeface="55 Helvetica Roman" pitchFamily="6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006600"/>
              </a:buClr>
              <a:buChar char="•"/>
              <a:defRPr sz="1600">
                <a:solidFill>
                  <a:srgbClr val="003300"/>
                </a:solidFill>
                <a:latin typeface="55 Helvetica Roman" pitchFamily="6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006600"/>
              </a:buClr>
              <a:buChar char="–"/>
              <a:defRPr sz="1600">
                <a:solidFill>
                  <a:srgbClr val="003300"/>
                </a:solidFill>
                <a:latin typeface="55 Helvetica Roman" pitchFamily="6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006600"/>
              </a:buClr>
              <a:buChar char="»"/>
              <a:defRPr sz="1600">
                <a:solidFill>
                  <a:srgbClr val="003300"/>
                </a:solidFill>
                <a:latin typeface="55 Helvetica Roman" pitchFamily="6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00"/>
              </a:buClr>
              <a:buChar char="»"/>
              <a:defRPr sz="1600">
                <a:solidFill>
                  <a:srgbClr val="003300"/>
                </a:solidFill>
                <a:latin typeface="55 Helvetica Roman" pitchFamily="6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00"/>
              </a:buClr>
              <a:buChar char="»"/>
              <a:defRPr sz="1600">
                <a:solidFill>
                  <a:srgbClr val="003300"/>
                </a:solidFill>
                <a:latin typeface="55 Helvetica Roman" pitchFamily="6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00"/>
              </a:buClr>
              <a:buChar char="»"/>
              <a:defRPr sz="1600">
                <a:solidFill>
                  <a:srgbClr val="003300"/>
                </a:solidFill>
                <a:latin typeface="55 Helvetica Roman" pitchFamily="6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00"/>
              </a:buClr>
              <a:buChar char="»"/>
              <a:defRPr sz="1600">
                <a:solidFill>
                  <a:srgbClr val="003300"/>
                </a:solidFill>
                <a:latin typeface="55 Helvetica Roman" pitchFamily="6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908" b="1">
                <a:solidFill>
                  <a:schemeClr val="bg1"/>
                </a:solidFill>
                <a:latin typeface="Arial" panose="020B0604020202020204" pitchFamily="34" charset="0"/>
              </a:rPr>
              <a:t>Operating Expenses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FC6250FF-D048-53B4-24D2-C273C2C9B064}"/>
              </a:ext>
            </a:extLst>
          </p:cNvPr>
          <p:cNvSpPr/>
          <p:nvPr/>
        </p:nvSpPr>
        <p:spPr bwMode="auto">
          <a:xfrm>
            <a:off x="1536700" y="2076133"/>
            <a:ext cx="1536700" cy="230505"/>
          </a:xfrm>
          <a:prstGeom prst="roundRect">
            <a:avLst/>
          </a:prstGeom>
          <a:solidFill>
            <a:schemeClr val="bg2">
              <a:lumMod val="50000"/>
            </a:schemeClr>
          </a:solidFill>
          <a:ln w="15875" cap="flat" cmpd="sng" algn="ctr">
            <a:solidFill>
              <a:srgbClr val="D02138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US" sz="908" b="1" dirty="0">
                <a:solidFill>
                  <a:srgbClr val="FFFFFF"/>
                </a:solidFill>
                <a:latin typeface="Arial" charset="0"/>
                <a:ea typeface="ＭＳ Ｐゴシック" pitchFamily="64" charset="-128"/>
                <a:cs typeface="ＭＳ Ｐゴシック" charset="0"/>
              </a:rPr>
              <a:t>Operating Income</a:t>
            </a:r>
          </a:p>
        </p:txBody>
      </p:sp>
      <p:sp>
        <p:nvSpPr>
          <p:cNvPr id="34826" name="Rounded Rectangle 16">
            <a:extLst>
              <a:ext uri="{FF2B5EF4-FFF2-40B4-BE49-F238E27FC236}">
                <a16:creationId xmlns:a16="http://schemas.microsoft.com/office/drawing/2014/main" id="{277CEDAB-292B-C225-2F04-602D0F3037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9932" y="2652395"/>
            <a:ext cx="1190943" cy="230505"/>
          </a:xfrm>
          <a:prstGeom prst="roundRect">
            <a:avLst>
              <a:gd name="adj" fmla="val 16667"/>
            </a:avLst>
          </a:prstGeom>
          <a:solidFill>
            <a:srgbClr val="E31937"/>
          </a:solidFill>
          <a:ln w="15875">
            <a:solidFill>
              <a:srgbClr val="D02138"/>
            </a:solidFill>
            <a:round/>
            <a:headEnd/>
            <a:tailEnd/>
          </a:ln>
        </p:spPr>
        <p:txBody>
          <a:bodyPr anchor="ctr"/>
          <a:lstStyle>
            <a:lvl1pPr>
              <a:spcBef>
                <a:spcPct val="20000"/>
              </a:spcBef>
              <a:buClr>
                <a:srgbClr val="006600"/>
              </a:buClr>
              <a:buChar char="•"/>
              <a:defRPr sz="2400">
                <a:solidFill>
                  <a:srgbClr val="003300"/>
                </a:solidFill>
                <a:latin typeface="55 Helvetica Roman" pitchFamily="6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06600"/>
              </a:buClr>
              <a:buFont typeface="Wingdings" pitchFamily="2" charset="2"/>
              <a:buChar char="ü"/>
              <a:defRPr sz="2000">
                <a:solidFill>
                  <a:srgbClr val="003300"/>
                </a:solidFill>
                <a:latin typeface="55 Helvetica Roman" pitchFamily="6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006600"/>
              </a:buClr>
              <a:buChar char="•"/>
              <a:defRPr sz="1600">
                <a:solidFill>
                  <a:srgbClr val="003300"/>
                </a:solidFill>
                <a:latin typeface="55 Helvetica Roman" pitchFamily="6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006600"/>
              </a:buClr>
              <a:buChar char="–"/>
              <a:defRPr sz="1600">
                <a:solidFill>
                  <a:srgbClr val="003300"/>
                </a:solidFill>
                <a:latin typeface="55 Helvetica Roman" pitchFamily="6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006600"/>
              </a:buClr>
              <a:buChar char="»"/>
              <a:defRPr sz="1600">
                <a:solidFill>
                  <a:srgbClr val="003300"/>
                </a:solidFill>
                <a:latin typeface="55 Helvetica Roman" pitchFamily="6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00"/>
              </a:buClr>
              <a:buChar char="»"/>
              <a:defRPr sz="1600">
                <a:solidFill>
                  <a:srgbClr val="003300"/>
                </a:solidFill>
                <a:latin typeface="55 Helvetica Roman" pitchFamily="6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00"/>
              </a:buClr>
              <a:buChar char="»"/>
              <a:defRPr sz="1600">
                <a:solidFill>
                  <a:srgbClr val="003300"/>
                </a:solidFill>
                <a:latin typeface="55 Helvetica Roman" pitchFamily="6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00"/>
              </a:buClr>
              <a:buChar char="»"/>
              <a:defRPr sz="1600">
                <a:solidFill>
                  <a:srgbClr val="003300"/>
                </a:solidFill>
                <a:latin typeface="55 Helvetica Roman" pitchFamily="6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00"/>
              </a:buClr>
              <a:buChar char="»"/>
              <a:defRPr sz="1600">
                <a:solidFill>
                  <a:srgbClr val="003300"/>
                </a:solidFill>
                <a:latin typeface="55 Helvetica Roman" pitchFamily="6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908" b="1">
                <a:solidFill>
                  <a:srgbClr val="FFFFFF"/>
                </a:solidFill>
                <a:latin typeface="Arial" panose="020B0604020202020204" pitchFamily="34" charset="0"/>
              </a:rPr>
              <a:t>Income Taxes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4BE67AE1-7FEC-B256-2507-D6EDAC2F1F03}"/>
              </a:ext>
            </a:extLst>
          </p:cNvPr>
          <p:cNvSpPr/>
          <p:nvPr/>
        </p:nvSpPr>
        <p:spPr bwMode="auto">
          <a:xfrm>
            <a:off x="1575118" y="2959735"/>
            <a:ext cx="1536700" cy="230505"/>
          </a:xfrm>
          <a:prstGeom prst="roundRect">
            <a:avLst/>
          </a:prstGeom>
          <a:solidFill>
            <a:schemeClr val="bg2">
              <a:lumMod val="50000"/>
            </a:schemeClr>
          </a:solidFill>
          <a:ln w="15875" cap="flat" cmpd="sng" algn="ctr">
            <a:solidFill>
              <a:srgbClr val="D02138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US" sz="908" b="1" dirty="0">
                <a:solidFill>
                  <a:srgbClr val="FFFFFF"/>
                </a:solidFill>
                <a:latin typeface="Arial" charset="0"/>
                <a:ea typeface="ＭＳ Ｐゴシック" pitchFamily="64" charset="-128"/>
                <a:cs typeface="ＭＳ Ｐゴシック" charset="0"/>
              </a:rPr>
              <a:t>Net Income After Tax</a:t>
            </a:r>
          </a:p>
        </p:txBody>
      </p:sp>
      <p:sp>
        <p:nvSpPr>
          <p:cNvPr id="34828" name="TextBox 18">
            <a:extLst>
              <a:ext uri="{FF2B5EF4-FFF2-40B4-BE49-F238E27FC236}">
                <a16:creationId xmlns:a16="http://schemas.microsoft.com/office/drawing/2014/main" id="{8CC34E04-AE86-CE19-DF25-6616B4A725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36128" y="1807210"/>
            <a:ext cx="2004075" cy="2320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006600"/>
              </a:buClr>
              <a:buChar char="•"/>
              <a:defRPr sz="2400">
                <a:solidFill>
                  <a:srgbClr val="003300"/>
                </a:solidFill>
                <a:latin typeface="55 Helvetica Roman" pitchFamily="6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06600"/>
              </a:buClr>
              <a:buFont typeface="Wingdings" pitchFamily="2" charset="2"/>
              <a:buChar char="ü"/>
              <a:defRPr sz="2000">
                <a:solidFill>
                  <a:srgbClr val="003300"/>
                </a:solidFill>
                <a:latin typeface="55 Helvetica Roman" pitchFamily="6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006600"/>
              </a:buClr>
              <a:buChar char="•"/>
              <a:defRPr sz="1600">
                <a:solidFill>
                  <a:srgbClr val="003300"/>
                </a:solidFill>
                <a:latin typeface="55 Helvetica Roman" pitchFamily="6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006600"/>
              </a:buClr>
              <a:buChar char="–"/>
              <a:defRPr sz="1600">
                <a:solidFill>
                  <a:srgbClr val="003300"/>
                </a:solidFill>
                <a:latin typeface="55 Helvetica Roman" pitchFamily="6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006600"/>
              </a:buClr>
              <a:buChar char="»"/>
              <a:defRPr sz="1600">
                <a:solidFill>
                  <a:srgbClr val="003300"/>
                </a:solidFill>
                <a:latin typeface="55 Helvetica Roman" pitchFamily="6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00"/>
              </a:buClr>
              <a:buChar char="»"/>
              <a:defRPr sz="1600">
                <a:solidFill>
                  <a:srgbClr val="003300"/>
                </a:solidFill>
                <a:latin typeface="55 Helvetica Roman" pitchFamily="6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00"/>
              </a:buClr>
              <a:buChar char="»"/>
              <a:defRPr sz="1600">
                <a:solidFill>
                  <a:srgbClr val="003300"/>
                </a:solidFill>
                <a:latin typeface="55 Helvetica Roman" pitchFamily="6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00"/>
              </a:buClr>
              <a:buChar char="»"/>
              <a:defRPr sz="1600">
                <a:solidFill>
                  <a:srgbClr val="003300"/>
                </a:solidFill>
                <a:latin typeface="55 Helvetica Roman" pitchFamily="6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00"/>
              </a:buClr>
              <a:buChar char="»"/>
              <a:defRPr sz="1600">
                <a:solidFill>
                  <a:srgbClr val="003300"/>
                </a:solidFill>
                <a:latin typeface="55 Helvetica Roman" pitchFamily="6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908">
                <a:solidFill>
                  <a:schemeClr val="tx1"/>
                </a:solidFill>
                <a:latin typeface="Arial" panose="020B0604020202020204" pitchFamily="34" charset="0"/>
              </a:rPr>
              <a:t>(</a:t>
            </a:r>
            <a:r>
              <a:rPr lang="en-US" altLang="en-US" sz="908" i="1">
                <a:solidFill>
                  <a:schemeClr val="tx1"/>
                </a:solidFill>
                <a:latin typeface="Arial" panose="020B0604020202020204" pitchFamily="34" charset="0"/>
              </a:rPr>
              <a:t>Compensation, Marketing, Rent…)</a:t>
            </a:r>
            <a:endParaRPr lang="en-US" altLang="en-US" sz="908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18" grpId="0" animBg="1"/>
      <p:bldP spid="34819" grpId="0" animBg="1"/>
      <p:bldP spid="6" grpId="0" animBg="1"/>
      <p:bldP spid="34821" grpId="0" animBg="1"/>
      <p:bldP spid="34822" grpId="0"/>
      <p:bldP spid="34823" grpId="0"/>
      <p:bldP spid="34824" grpId="0" animBg="1"/>
      <p:bldP spid="15" grpId="0" animBg="1"/>
      <p:bldP spid="34826" grpId="0" animBg="1"/>
      <p:bldP spid="18" grpId="0" animBg="1"/>
      <p:bldP spid="3482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>
            <a:extLst>
              <a:ext uri="{FF2B5EF4-FFF2-40B4-BE49-F238E27FC236}">
                <a16:creationId xmlns:a16="http://schemas.microsoft.com/office/drawing/2014/main" id="{F87FEB41-804A-CBF6-3C11-0EB3C7DD928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26439" y="190295"/>
            <a:ext cx="3153410" cy="215444"/>
          </a:xfrm>
        </p:spPr>
        <p:txBody>
          <a:bodyPr/>
          <a:lstStyle/>
          <a:p>
            <a:r>
              <a:rPr lang="en-US" altLang="en-US"/>
              <a:t>Income Statement Take Aways</a:t>
            </a:r>
          </a:p>
        </p:txBody>
      </p:sp>
      <p:sp>
        <p:nvSpPr>
          <p:cNvPr id="31747" name="Content Placeholder 2">
            <a:extLst>
              <a:ext uri="{FF2B5EF4-FFF2-40B4-BE49-F238E27FC236}">
                <a16:creationId xmlns:a16="http://schemas.microsoft.com/office/drawing/2014/main" id="{8D703B6F-4617-8992-A613-F4E4DE1FDBD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37510" y="901811"/>
            <a:ext cx="2196968" cy="1523494"/>
          </a:xfrm>
        </p:spPr>
        <p:txBody>
          <a:bodyPr/>
          <a:lstStyle/>
          <a:p>
            <a:pPr marL="230520" indent="-230520">
              <a:buFont typeface="55 Helvetica Roman" pitchFamily="64" charset="0"/>
              <a:buAutoNum type="arabicParenR"/>
            </a:pPr>
            <a:r>
              <a:rPr lang="en-US" altLang="en-US" dirty="0"/>
              <a:t>Revenue = Price x Quantity</a:t>
            </a:r>
          </a:p>
          <a:p>
            <a:pPr marL="230520" indent="-230520">
              <a:buFont typeface="55 Helvetica Roman" pitchFamily="64" charset="0"/>
              <a:buAutoNum type="arabicParenR"/>
            </a:pPr>
            <a:r>
              <a:rPr lang="en-US" altLang="en-US" dirty="0"/>
              <a:t>Revenue – Cost = Profit</a:t>
            </a:r>
          </a:p>
          <a:p>
            <a:pPr marL="230520" indent="-230520">
              <a:buFont typeface="55 Helvetica Roman" pitchFamily="64" charset="0"/>
              <a:buAutoNum type="arabicParenR"/>
            </a:pPr>
            <a:r>
              <a:rPr lang="en-US" altLang="en-US" dirty="0"/>
              <a:t>Where are opportunities for GROWTH, process improvement, risk management…</a:t>
            </a:r>
          </a:p>
          <a:p>
            <a:pPr marL="230520" indent="-230520">
              <a:buFont typeface="55 Helvetica Roman" pitchFamily="64" charset="0"/>
              <a:buAutoNum type="arabicParenR"/>
            </a:pPr>
            <a:r>
              <a:rPr lang="en-US" altLang="en-US" dirty="0"/>
              <a:t>We need to isolate revenue and cost drivers to manage our practice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>
            <a:extLst>
              <a:ext uri="{FF2B5EF4-FFF2-40B4-BE49-F238E27FC236}">
                <a16:creationId xmlns:a16="http://schemas.microsoft.com/office/drawing/2014/main" id="{882CC212-7CA2-E32D-033D-0F36B28E2AD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26439" y="190295"/>
            <a:ext cx="3153410" cy="215444"/>
          </a:xfrm>
        </p:spPr>
        <p:txBody>
          <a:bodyPr/>
          <a:lstStyle/>
          <a:p>
            <a:r>
              <a:rPr lang="en-US" altLang="en-US" dirty="0"/>
              <a:t>Next, the BALANCE SHEET….</a:t>
            </a:r>
          </a:p>
        </p:txBody>
      </p:sp>
      <p:pic>
        <p:nvPicPr>
          <p:cNvPr id="19459" name="Content Placeholder 3">
            <a:extLst>
              <a:ext uri="{FF2B5EF4-FFF2-40B4-BE49-F238E27FC236}">
                <a16:creationId xmlns:a16="http://schemas.microsoft.com/office/drawing/2014/main" id="{E275C0FB-6E40-284C-9CD8-3FFB45E9505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297" t="9677" r="25069" b="9677"/>
          <a:stretch>
            <a:fillRect/>
          </a:stretch>
        </p:blipFill>
        <p:spPr>
          <a:xfrm>
            <a:off x="576263" y="1192530"/>
            <a:ext cx="1499883" cy="1728788"/>
          </a:xfrm>
        </p:spPr>
      </p:pic>
      <p:pic>
        <p:nvPicPr>
          <p:cNvPr id="19460" name="Picture 4">
            <a:extLst>
              <a:ext uri="{FF2B5EF4-FFF2-40B4-BE49-F238E27FC236}">
                <a16:creationId xmlns:a16="http://schemas.microsoft.com/office/drawing/2014/main" id="{4C1083E8-16B7-F8D8-3BAC-D8D7D7AB69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8215" y="1230947"/>
            <a:ext cx="2202603" cy="16519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>
            <a:extLst>
              <a:ext uri="{FF2B5EF4-FFF2-40B4-BE49-F238E27FC236}">
                <a16:creationId xmlns:a16="http://schemas.microsoft.com/office/drawing/2014/main" id="{36FB1CE7-2146-DB1F-F9A9-F93A20223F9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91515" y="308927"/>
            <a:ext cx="3572828" cy="646331"/>
          </a:xfrm>
        </p:spPr>
        <p:txBody>
          <a:bodyPr/>
          <a:lstStyle/>
          <a:p>
            <a:r>
              <a:rPr lang="en-US" altLang="en-US"/>
              <a:t>The BALANCE SHEET summarizes a company’s financial position at a SPECIFIC POINT IN TIME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FCC0B7-BCFF-93C4-1F64-15DC8B456A0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91515" y="1229734"/>
            <a:ext cx="3241750" cy="1523494"/>
          </a:xfrm>
        </p:spPr>
        <p:txBody>
          <a:bodyPr/>
          <a:lstStyle/>
          <a:p>
            <a:r>
              <a:rPr lang="en-US" altLang="en-US" dirty="0"/>
              <a:t>We care about…..</a:t>
            </a:r>
          </a:p>
          <a:p>
            <a:r>
              <a:rPr lang="en-US" altLang="en-US" b="1" dirty="0"/>
              <a:t>ASSETS</a:t>
            </a:r>
            <a:r>
              <a:rPr lang="en-US" altLang="en-US" dirty="0"/>
              <a:t>, </a:t>
            </a:r>
          </a:p>
          <a:p>
            <a:r>
              <a:rPr lang="en-US" altLang="en-US" b="1" dirty="0"/>
              <a:t>LIABILITIES</a:t>
            </a:r>
            <a:r>
              <a:rPr lang="en-US" altLang="en-US" dirty="0"/>
              <a:t> AND </a:t>
            </a:r>
          </a:p>
          <a:p>
            <a:r>
              <a:rPr lang="en-US" altLang="en-US" b="1" dirty="0"/>
              <a:t>SHAREHOLDERS’ EQUITY</a:t>
            </a:r>
          </a:p>
          <a:p>
            <a:r>
              <a:rPr lang="en-US" altLang="en-US" dirty="0"/>
              <a:t>Featuring, the following equation</a:t>
            </a:r>
          </a:p>
          <a:p>
            <a:endParaRPr lang="en-US" altLang="en-US" dirty="0"/>
          </a:p>
          <a:p>
            <a:r>
              <a:rPr lang="en-US" altLang="en-US" dirty="0"/>
              <a:t>Assets = Liabilities + Shareholder Equity</a:t>
            </a:r>
          </a:p>
          <a:p>
            <a:endParaRPr lang="en-US" altLang="en-US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>
            <a:extLst>
              <a:ext uri="{FF2B5EF4-FFF2-40B4-BE49-F238E27FC236}">
                <a16:creationId xmlns:a16="http://schemas.microsoft.com/office/drawing/2014/main" id="{C521A6C6-85E8-8DF7-11EE-6C61CF51D46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14680" y="193675"/>
            <a:ext cx="3880168" cy="430887"/>
          </a:xfrm>
        </p:spPr>
        <p:txBody>
          <a:bodyPr/>
          <a:lstStyle/>
          <a:p>
            <a:r>
              <a:rPr lang="en-US" altLang="en-US"/>
              <a:t>As we begin our dive into the Balance Sheet, we see there are key sub-titles…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CB33C16C-0BFB-F4F5-563D-1A1A5F1D04E1}"/>
              </a:ext>
            </a:extLst>
          </p:cNvPr>
          <p:cNvSpPr/>
          <p:nvPr/>
        </p:nvSpPr>
        <p:spPr bwMode="auto">
          <a:xfrm>
            <a:off x="174983" y="713330"/>
            <a:ext cx="1267778" cy="422593"/>
          </a:xfrm>
          <a:prstGeom prst="roundRect">
            <a:avLst/>
          </a:prstGeom>
          <a:solidFill>
            <a:srgbClr val="516993"/>
          </a:solidFill>
          <a:ln w="15875" cap="flat" cmpd="sng" algn="ctr">
            <a:solidFill>
              <a:srgbClr val="A0A2A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US" sz="908" dirty="0">
                <a:solidFill>
                  <a:schemeClr val="bg1">
                    <a:lumMod val="95000"/>
                  </a:schemeClr>
                </a:solidFill>
                <a:latin typeface="Arial" charset="0"/>
                <a:ea typeface="ＭＳ Ｐゴシック" pitchFamily="64" charset="-128"/>
                <a:cs typeface="ＭＳ Ｐゴシック" charset="0"/>
              </a:rPr>
              <a:t>Balance </a:t>
            </a:r>
          </a:p>
          <a:p>
            <a:pPr algn="ctr">
              <a:defRPr/>
            </a:pPr>
            <a:r>
              <a:rPr lang="en-US" sz="908" dirty="0">
                <a:solidFill>
                  <a:schemeClr val="bg1">
                    <a:lumMod val="95000"/>
                  </a:schemeClr>
                </a:solidFill>
                <a:latin typeface="Arial" charset="0"/>
                <a:ea typeface="ＭＳ Ｐゴシック" pitchFamily="64" charset="-128"/>
                <a:cs typeface="ＭＳ Ｐゴシック" charset="0"/>
              </a:rPr>
              <a:t>Sheet</a:t>
            </a:r>
          </a:p>
        </p:txBody>
      </p:sp>
      <p:sp>
        <p:nvSpPr>
          <p:cNvPr id="22532" name="Rounded Rectangle 4">
            <a:extLst>
              <a:ext uri="{FF2B5EF4-FFF2-40B4-BE49-F238E27FC236}">
                <a16:creationId xmlns:a16="http://schemas.microsoft.com/office/drawing/2014/main" id="{176507D8-5233-C7B7-E264-6F525791C6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1953" y="1251176"/>
            <a:ext cx="1267778" cy="230505"/>
          </a:xfrm>
          <a:prstGeom prst="roundRect">
            <a:avLst>
              <a:gd name="adj" fmla="val 16667"/>
            </a:avLst>
          </a:prstGeom>
          <a:solidFill>
            <a:srgbClr val="516993"/>
          </a:solidFill>
          <a:ln w="15875">
            <a:solidFill>
              <a:srgbClr val="516993"/>
            </a:solidFill>
            <a:round/>
            <a:headEnd/>
            <a:tailEnd/>
          </a:ln>
        </p:spPr>
        <p:txBody>
          <a:bodyPr anchor="ctr"/>
          <a:lstStyle>
            <a:lvl1pPr>
              <a:spcBef>
                <a:spcPct val="20000"/>
              </a:spcBef>
              <a:buClr>
                <a:srgbClr val="006600"/>
              </a:buClr>
              <a:buChar char="•"/>
              <a:defRPr sz="2400">
                <a:solidFill>
                  <a:srgbClr val="003300"/>
                </a:solidFill>
                <a:latin typeface="55 Helvetica Roman" pitchFamily="6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06600"/>
              </a:buClr>
              <a:buFont typeface="Wingdings" pitchFamily="2" charset="2"/>
              <a:buChar char="ü"/>
              <a:defRPr sz="2000">
                <a:solidFill>
                  <a:srgbClr val="003300"/>
                </a:solidFill>
                <a:latin typeface="55 Helvetica Roman" pitchFamily="6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006600"/>
              </a:buClr>
              <a:buChar char="•"/>
              <a:defRPr sz="1600">
                <a:solidFill>
                  <a:srgbClr val="003300"/>
                </a:solidFill>
                <a:latin typeface="55 Helvetica Roman" pitchFamily="6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006600"/>
              </a:buClr>
              <a:buChar char="–"/>
              <a:defRPr sz="1600">
                <a:solidFill>
                  <a:srgbClr val="003300"/>
                </a:solidFill>
                <a:latin typeface="55 Helvetica Roman" pitchFamily="6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006600"/>
              </a:buClr>
              <a:buChar char="»"/>
              <a:defRPr sz="1600">
                <a:solidFill>
                  <a:srgbClr val="003300"/>
                </a:solidFill>
                <a:latin typeface="55 Helvetica Roman" pitchFamily="6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00"/>
              </a:buClr>
              <a:buChar char="»"/>
              <a:defRPr sz="1600">
                <a:solidFill>
                  <a:srgbClr val="003300"/>
                </a:solidFill>
                <a:latin typeface="55 Helvetica Roman" pitchFamily="6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00"/>
              </a:buClr>
              <a:buChar char="»"/>
              <a:defRPr sz="1600">
                <a:solidFill>
                  <a:srgbClr val="003300"/>
                </a:solidFill>
                <a:latin typeface="55 Helvetica Roman" pitchFamily="6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00"/>
              </a:buClr>
              <a:buChar char="»"/>
              <a:defRPr sz="1600">
                <a:solidFill>
                  <a:srgbClr val="003300"/>
                </a:solidFill>
                <a:latin typeface="55 Helvetica Roman" pitchFamily="6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00"/>
              </a:buClr>
              <a:buChar char="»"/>
              <a:defRPr sz="1600">
                <a:solidFill>
                  <a:srgbClr val="003300"/>
                </a:solidFill>
                <a:latin typeface="55 Helvetica Roman" pitchFamily="6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908" b="1">
                <a:solidFill>
                  <a:schemeClr val="bg1"/>
                </a:solidFill>
                <a:latin typeface="Arial" panose="020B0604020202020204" pitchFamily="34" charset="0"/>
              </a:rPr>
              <a:t>Assets</a:t>
            </a:r>
          </a:p>
        </p:txBody>
      </p:sp>
      <p:sp>
        <p:nvSpPr>
          <p:cNvPr id="22533" name="Rounded Rectangle 5">
            <a:extLst>
              <a:ext uri="{FF2B5EF4-FFF2-40B4-BE49-F238E27FC236}">
                <a16:creationId xmlns:a16="http://schemas.microsoft.com/office/drawing/2014/main" id="{F79435B8-931B-1ED9-8F67-BEF77A8205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1953" y="2005120"/>
            <a:ext cx="1267778" cy="209696"/>
          </a:xfrm>
          <a:prstGeom prst="roundRect">
            <a:avLst>
              <a:gd name="adj" fmla="val 16667"/>
            </a:avLst>
          </a:prstGeom>
          <a:solidFill>
            <a:srgbClr val="516993"/>
          </a:solidFill>
          <a:ln w="15875">
            <a:solidFill>
              <a:srgbClr val="516993"/>
            </a:solidFill>
            <a:round/>
            <a:headEnd/>
            <a:tailEnd/>
          </a:ln>
        </p:spPr>
        <p:txBody>
          <a:bodyPr anchor="ctr"/>
          <a:lstStyle>
            <a:lvl1pPr>
              <a:spcBef>
                <a:spcPct val="20000"/>
              </a:spcBef>
              <a:buClr>
                <a:srgbClr val="006600"/>
              </a:buClr>
              <a:buChar char="•"/>
              <a:defRPr sz="2400">
                <a:solidFill>
                  <a:srgbClr val="003300"/>
                </a:solidFill>
                <a:latin typeface="55 Helvetica Roman" pitchFamily="6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06600"/>
              </a:buClr>
              <a:buFont typeface="Wingdings" pitchFamily="2" charset="2"/>
              <a:buChar char="ü"/>
              <a:defRPr sz="2000">
                <a:solidFill>
                  <a:srgbClr val="003300"/>
                </a:solidFill>
                <a:latin typeface="55 Helvetica Roman" pitchFamily="6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006600"/>
              </a:buClr>
              <a:buChar char="•"/>
              <a:defRPr sz="1600">
                <a:solidFill>
                  <a:srgbClr val="003300"/>
                </a:solidFill>
                <a:latin typeface="55 Helvetica Roman" pitchFamily="6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006600"/>
              </a:buClr>
              <a:buChar char="–"/>
              <a:defRPr sz="1600">
                <a:solidFill>
                  <a:srgbClr val="003300"/>
                </a:solidFill>
                <a:latin typeface="55 Helvetica Roman" pitchFamily="6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006600"/>
              </a:buClr>
              <a:buChar char="»"/>
              <a:defRPr sz="1600">
                <a:solidFill>
                  <a:srgbClr val="003300"/>
                </a:solidFill>
                <a:latin typeface="55 Helvetica Roman" pitchFamily="6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00"/>
              </a:buClr>
              <a:buChar char="»"/>
              <a:defRPr sz="1600">
                <a:solidFill>
                  <a:srgbClr val="003300"/>
                </a:solidFill>
                <a:latin typeface="55 Helvetica Roman" pitchFamily="6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00"/>
              </a:buClr>
              <a:buChar char="»"/>
              <a:defRPr sz="1600">
                <a:solidFill>
                  <a:srgbClr val="003300"/>
                </a:solidFill>
                <a:latin typeface="55 Helvetica Roman" pitchFamily="6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00"/>
              </a:buClr>
              <a:buChar char="»"/>
              <a:defRPr sz="1600">
                <a:solidFill>
                  <a:srgbClr val="003300"/>
                </a:solidFill>
                <a:latin typeface="55 Helvetica Roman" pitchFamily="6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00"/>
              </a:buClr>
              <a:buChar char="»"/>
              <a:defRPr sz="1600">
                <a:solidFill>
                  <a:srgbClr val="003300"/>
                </a:solidFill>
                <a:latin typeface="55 Helvetica Roman" pitchFamily="6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908" b="1">
                <a:solidFill>
                  <a:schemeClr val="bg1"/>
                </a:solidFill>
                <a:latin typeface="Arial" panose="020B0604020202020204" pitchFamily="34" charset="0"/>
              </a:rPr>
              <a:t>Liabilities</a:t>
            </a:r>
          </a:p>
        </p:txBody>
      </p:sp>
      <p:sp>
        <p:nvSpPr>
          <p:cNvPr id="22534" name="Rounded Rectangle 6">
            <a:extLst>
              <a:ext uri="{FF2B5EF4-FFF2-40B4-BE49-F238E27FC236}">
                <a16:creationId xmlns:a16="http://schemas.microsoft.com/office/drawing/2014/main" id="{D3E0EBF4-4A1E-B45D-3573-67584C2CAF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1953" y="2728650"/>
            <a:ext cx="1267778" cy="230505"/>
          </a:xfrm>
          <a:prstGeom prst="roundRect">
            <a:avLst>
              <a:gd name="adj" fmla="val 16667"/>
            </a:avLst>
          </a:prstGeom>
          <a:solidFill>
            <a:srgbClr val="516993"/>
          </a:solidFill>
          <a:ln w="15875">
            <a:solidFill>
              <a:srgbClr val="516993"/>
            </a:solidFill>
            <a:round/>
            <a:headEnd/>
            <a:tailEnd/>
          </a:ln>
        </p:spPr>
        <p:txBody>
          <a:bodyPr anchor="ctr"/>
          <a:lstStyle>
            <a:lvl1pPr>
              <a:spcBef>
                <a:spcPct val="20000"/>
              </a:spcBef>
              <a:buClr>
                <a:srgbClr val="006600"/>
              </a:buClr>
              <a:buChar char="•"/>
              <a:defRPr sz="2400">
                <a:solidFill>
                  <a:srgbClr val="003300"/>
                </a:solidFill>
                <a:latin typeface="55 Helvetica Roman" pitchFamily="6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06600"/>
              </a:buClr>
              <a:buFont typeface="Wingdings" pitchFamily="2" charset="2"/>
              <a:buChar char="ü"/>
              <a:defRPr sz="2000">
                <a:solidFill>
                  <a:srgbClr val="003300"/>
                </a:solidFill>
                <a:latin typeface="55 Helvetica Roman" pitchFamily="6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006600"/>
              </a:buClr>
              <a:buChar char="•"/>
              <a:defRPr sz="1600">
                <a:solidFill>
                  <a:srgbClr val="003300"/>
                </a:solidFill>
                <a:latin typeface="55 Helvetica Roman" pitchFamily="6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006600"/>
              </a:buClr>
              <a:buChar char="–"/>
              <a:defRPr sz="1600">
                <a:solidFill>
                  <a:srgbClr val="003300"/>
                </a:solidFill>
                <a:latin typeface="55 Helvetica Roman" pitchFamily="6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006600"/>
              </a:buClr>
              <a:buChar char="»"/>
              <a:defRPr sz="1600">
                <a:solidFill>
                  <a:srgbClr val="003300"/>
                </a:solidFill>
                <a:latin typeface="55 Helvetica Roman" pitchFamily="6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00"/>
              </a:buClr>
              <a:buChar char="»"/>
              <a:defRPr sz="1600">
                <a:solidFill>
                  <a:srgbClr val="003300"/>
                </a:solidFill>
                <a:latin typeface="55 Helvetica Roman" pitchFamily="6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00"/>
              </a:buClr>
              <a:buChar char="»"/>
              <a:defRPr sz="1600">
                <a:solidFill>
                  <a:srgbClr val="003300"/>
                </a:solidFill>
                <a:latin typeface="55 Helvetica Roman" pitchFamily="6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00"/>
              </a:buClr>
              <a:buChar char="»"/>
              <a:defRPr sz="1600">
                <a:solidFill>
                  <a:srgbClr val="003300"/>
                </a:solidFill>
                <a:latin typeface="55 Helvetica Roman" pitchFamily="6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00"/>
              </a:buClr>
              <a:buChar char="»"/>
              <a:defRPr sz="1600">
                <a:solidFill>
                  <a:srgbClr val="003300"/>
                </a:solidFill>
                <a:latin typeface="55 Helvetica Roman" pitchFamily="6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908" b="1">
                <a:solidFill>
                  <a:schemeClr val="bg1"/>
                </a:solidFill>
                <a:latin typeface="Arial" panose="020B0604020202020204" pitchFamily="34" charset="0"/>
              </a:rPr>
              <a:t>Equity</a:t>
            </a:r>
          </a:p>
        </p:txBody>
      </p:sp>
      <p:grpSp>
        <p:nvGrpSpPr>
          <p:cNvPr id="22535" name="Group 16">
            <a:extLst>
              <a:ext uri="{FF2B5EF4-FFF2-40B4-BE49-F238E27FC236}">
                <a16:creationId xmlns:a16="http://schemas.microsoft.com/office/drawing/2014/main" id="{B5731FD0-675B-3916-4B48-BE83EF9A96E7}"/>
              </a:ext>
            </a:extLst>
          </p:cNvPr>
          <p:cNvGrpSpPr>
            <a:grpSpLocks/>
          </p:cNvGrpSpPr>
          <p:nvPr/>
        </p:nvGrpSpPr>
        <p:grpSpPr bwMode="auto">
          <a:xfrm>
            <a:off x="1989158" y="1097506"/>
            <a:ext cx="1267778" cy="537845"/>
            <a:chOff x="4800600" y="1905000"/>
            <a:chExt cx="2514600" cy="1066800"/>
          </a:xfrm>
        </p:grpSpPr>
        <p:sp>
          <p:nvSpPr>
            <p:cNvPr id="22547" name="Rounded Rectangle 7">
              <a:extLst>
                <a:ext uri="{FF2B5EF4-FFF2-40B4-BE49-F238E27FC236}">
                  <a16:creationId xmlns:a16="http://schemas.microsoft.com/office/drawing/2014/main" id="{F6CD8239-6C15-4977-C3ED-BC6FBDEDED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0600" y="1905000"/>
              <a:ext cx="2514600" cy="457200"/>
            </a:xfrm>
            <a:prstGeom prst="roundRect">
              <a:avLst>
                <a:gd name="adj" fmla="val 16667"/>
              </a:avLst>
            </a:prstGeom>
            <a:noFill/>
            <a:ln w="50800">
              <a:solidFill>
                <a:srgbClr val="A0A2A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>
              <a:lvl1pPr>
                <a:spcBef>
                  <a:spcPct val="20000"/>
                </a:spcBef>
                <a:buClr>
                  <a:srgbClr val="006600"/>
                </a:buClr>
                <a:buChar char="•"/>
                <a:defRPr sz="2400">
                  <a:solidFill>
                    <a:srgbClr val="003300"/>
                  </a:solidFill>
                  <a:latin typeface="55 Helvetica Roman" pitchFamily="6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006600"/>
                </a:buClr>
                <a:buFont typeface="Wingdings" pitchFamily="2" charset="2"/>
                <a:buChar char="ü"/>
                <a:defRPr sz="2000">
                  <a:solidFill>
                    <a:srgbClr val="003300"/>
                  </a:solidFill>
                  <a:latin typeface="55 Helvetica Roman" pitchFamily="6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006600"/>
                </a:buClr>
                <a:buChar char="•"/>
                <a:defRPr sz="1600">
                  <a:solidFill>
                    <a:srgbClr val="003300"/>
                  </a:solidFill>
                  <a:latin typeface="55 Helvetica Roman" pitchFamily="6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006600"/>
                </a:buClr>
                <a:buChar char="–"/>
                <a:defRPr sz="1600">
                  <a:solidFill>
                    <a:srgbClr val="003300"/>
                  </a:solidFill>
                  <a:latin typeface="55 Helvetica Roman" pitchFamily="6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006600"/>
                </a:buClr>
                <a:buChar char="»"/>
                <a:defRPr sz="1600">
                  <a:solidFill>
                    <a:srgbClr val="003300"/>
                  </a:solidFill>
                  <a:latin typeface="55 Helvetica Roman" pitchFamily="6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6600"/>
                </a:buClr>
                <a:buChar char="»"/>
                <a:defRPr sz="1600">
                  <a:solidFill>
                    <a:srgbClr val="003300"/>
                  </a:solidFill>
                  <a:latin typeface="55 Helvetica Roman" pitchFamily="6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6600"/>
                </a:buClr>
                <a:buChar char="»"/>
                <a:defRPr sz="1600">
                  <a:solidFill>
                    <a:srgbClr val="003300"/>
                  </a:solidFill>
                  <a:latin typeface="55 Helvetica Roman" pitchFamily="6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6600"/>
                </a:buClr>
                <a:buChar char="»"/>
                <a:defRPr sz="1600">
                  <a:solidFill>
                    <a:srgbClr val="003300"/>
                  </a:solidFill>
                  <a:latin typeface="55 Helvetica Roman" pitchFamily="6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6600"/>
                </a:buClr>
                <a:buChar char="»"/>
                <a:defRPr sz="1600">
                  <a:solidFill>
                    <a:srgbClr val="003300"/>
                  </a:solidFill>
                  <a:latin typeface="55 Helvetica Roman" pitchFamily="64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908" b="1">
                  <a:solidFill>
                    <a:srgbClr val="00674E"/>
                  </a:solidFill>
                  <a:latin typeface="Arial" panose="020B0604020202020204" pitchFamily="34" charset="0"/>
                </a:rPr>
                <a:t>Current</a:t>
              </a:r>
            </a:p>
          </p:txBody>
        </p:sp>
        <p:sp>
          <p:nvSpPr>
            <p:cNvPr id="22548" name="Rounded Rectangle 9">
              <a:extLst>
                <a:ext uri="{FF2B5EF4-FFF2-40B4-BE49-F238E27FC236}">
                  <a16:creationId xmlns:a16="http://schemas.microsoft.com/office/drawing/2014/main" id="{742B910A-65EF-8C2B-2B4E-2CB5E6D6C0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0600" y="2514600"/>
              <a:ext cx="2514600" cy="457200"/>
            </a:xfrm>
            <a:prstGeom prst="roundRect">
              <a:avLst>
                <a:gd name="adj" fmla="val 16667"/>
              </a:avLst>
            </a:prstGeom>
            <a:noFill/>
            <a:ln w="50800">
              <a:solidFill>
                <a:srgbClr val="A0A2A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>
              <a:lvl1pPr>
                <a:spcBef>
                  <a:spcPct val="20000"/>
                </a:spcBef>
                <a:buClr>
                  <a:srgbClr val="006600"/>
                </a:buClr>
                <a:buChar char="•"/>
                <a:defRPr sz="2400">
                  <a:solidFill>
                    <a:srgbClr val="003300"/>
                  </a:solidFill>
                  <a:latin typeface="55 Helvetica Roman" pitchFamily="6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006600"/>
                </a:buClr>
                <a:buFont typeface="Wingdings" pitchFamily="2" charset="2"/>
                <a:buChar char="ü"/>
                <a:defRPr sz="2000">
                  <a:solidFill>
                    <a:srgbClr val="003300"/>
                  </a:solidFill>
                  <a:latin typeface="55 Helvetica Roman" pitchFamily="6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006600"/>
                </a:buClr>
                <a:buChar char="•"/>
                <a:defRPr sz="1600">
                  <a:solidFill>
                    <a:srgbClr val="003300"/>
                  </a:solidFill>
                  <a:latin typeface="55 Helvetica Roman" pitchFamily="6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006600"/>
                </a:buClr>
                <a:buChar char="–"/>
                <a:defRPr sz="1600">
                  <a:solidFill>
                    <a:srgbClr val="003300"/>
                  </a:solidFill>
                  <a:latin typeface="55 Helvetica Roman" pitchFamily="6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006600"/>
                </a:buClr>
                <a:buChar char="»"/>
                <a:defRPr sz="1600">
                  <a:solidFill>
                    <a:srgbClr val="003300"/>
                  </a:solidFill>
                  <a:latin typeface="55 Helvetica Roman" pitchFamily="6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6600"/>
                </a:buClr>
                <a:buChar char="»"/>
                <a:defRPr sz="1600">
                  <a:solidFill>
                    <a:srgbClr val="003300"/>
                  </a:solidFill>
                  <a:latin typeface="55 Helvetica Roman" pitchFamily="6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6600"/>
                </a:buClr>
                <a:buChar char="»"/>
                <a:defRPr sz="1600">
                  <a:solidFill>
                    <a:srgbClr val="003300"/>
                  </a:solidFill>
                  <a:latin typeface="55 Helvetica Roman" pitchFamily="6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6600"/>
                </a:buClr>
                <a:buChar char="»"/>
                <a:defRPr sz="1600">
                  <a:solidFill>
                    <a:srgbClr val="003300"/>
                  </a:solidFill>
                  <a:latin typeface="55 Helvetica Roman" pitchFamily="6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6600"/>
                </a:buClr>
                <a:buChar char="»"/>
                <a:defRPr sz="1600">
                  <a:solidFill>
                    <a:srgbClr val="003300"/>
                  </a:solidFill>
                  <a:latin typeface="55 Helvetica Roman" pitchFamily="64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908" b="1">
                  <a:solidFill>
                    <a:srgbClr val="00674E"/>
                  </a:solidFill>
                  <a:latin typeface="Arial" panose="020B0604020202020204" pitchFamily="34" charset="0"/>
                </a:rPr>
                <a:t>Non-current</a:t>
              </a:r>
            </a:p>
          </p:txBody>
        </p:sp>
      </p:grpSp>
      <p:grpSp>
        <p:nvGrpSpPr>
          <p:cNvPr id="22536" name="Group 15">
            <a:extLst>
              <a:ext uri="{FF2B5EF4-FFF2-40B4-BE49-F238E27FC236}">
                <a16:creationId xmlns:a16="http://schemas.microsoft.com/office/drawing/2014/main" id="{3D701A0F-A8A6-A88F-E344-01323FF6F6D0}"/>
              </a:ext>
            </a:extLst>
          </p:cNvPr>
          <p:cNvGrpSpPr>
            <a:grpSpLocks/>
          </p:cNvGrpSpPr>
          <p:nvPr/>
        </p:nvGrpSpPr>
        <p:grpSpPr bwMode="auto">
          <a:xfrm>
            <a:off x="1989158" y="1865857"/>
            <a:ext cx="1267778" cy="489023"/>
            <a:chOff x="4800600" y="3124200"/>
            <a:chExt cx="2514600" cy="1066800"/>
          </a:xfrm>
        </p:grpSpPr>
        <p:sp>
          <p:nvSpPr>
            <p:cNvPr id="22545" name="Rounded Rectangle 10">
              <a:extLst>
                <a:ext uri="{FF2B5EF4-FFF2-40B4-BE49-F238E27FC236}">
                  <a16:creationId xmlns:a16="http://schemas.microsoft.com/office/drawing/2014/main" id="{C9078E7C-84C3-7998-1FB4-09CEC7FC3C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0600" y="3124200"/>
              <a:ext cx="2514600" cy="457200"/>
            </a:xfrm>
            <a:prstGeom prst="roundRect">
              <a:avLst>
                <a:gd name="adj" fmla="val 16667"/>
              </a:avLst>
            </a:prstGeom>
            <a:noFill/>
            <a:ln w="50800">
              <a:solidFill>
                <a:srgbClr val="A0A2A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>
              <a:lvl1pPr>
                <a:spcBef>
                  <a:spcPct val="20000"/>
                </a:spcBef>
                <a:buClr>
                  <a:srgbClr val="006600"/>
                </a:buClr>
                <a:buChar char="•"/>
                <a:defRPr sz="2400">
                  <a:solidFill>
                    <a:srgbClr val="003300"/>
                  </a:solidFill>
                  <a:latin typeface="55 Helvetica Roman" pitchFamily="6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006600"/>
                </a:buClr>
                <a:buFont typeface="Wingdings" pitchFamily="2" charset="2"/>
                <a:buChar char="ü"/>
                <a:defRPr sz="2000">
                  <a:solidFill>
                    <a:srgbClr val="003300"/>
                  </a:solidFill>
                  <a:latin typeface="55 Helvetica Roman" pitchFamily="6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006600"/>
                </a:buClr>
                <a:buChar char="•"/>
                <a:defRPr sz="1600">
                  <a:solidFill>
                    <a:srgbClr val="003300"/>
                  </a:solidFill>
                  <a:latin typeface="55 Helvetica Roman" pitchFamily="6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006600"/>
                </a:buClr>
                <a:buChar char="–"/>
                <a:defRPr sz="1600">
                  <a:solidFill>
                    <a:srgbClr val="003300"/>
                  </a:solidFill>
                  <a:latin typeface="55 Helvetica Roman" pitchFamily="6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006600"/>
                </a:buClr>
                <a:buChar char="»"/>
                <a:defRPr sz="1600">
                  <a:solidFill>
                    <a:srgbClr val="003300"/>
                  </a:solidFill>
                  <a:latin typeface="55 Helvetica Roman" pitchFamily="6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6600"/>
                </a:buClr>
                <a:buChar char="»"/>
                <a:defRPr sz="1600">
                  <a:solidFill>
                    <a:srgbClr val="003300"/>
                  </a:solidFill>
                  <a:latin typeface="55 Helvetica Roman" pitchFamily="6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6600"/>
                </a:buClr>
                <a:buChar char="»"/>
                <a:defRPr sz="1600">
                  <a:solidFill>
                    <a:srgbClr val="003300"/>
                  </a:solidFill>
                  <a:latin typeface="55 Helvetica Roman" pitchFamily="6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6600"/>
                </a:buClr>
                <a:buChar char="»"/>
                <a:defRPr sz="1600">
                  <a:solidFill>
                    <a:srgbClr val="003300"/>
                  </a:solidFill>
                  <a:latin typeface="55 Helvetica Roman" pitchFamily="6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6600"/>
                </a:buClr>
                <a:buChar char="»"/>
                <a:defRPr sz="1600">
                  <a:solidFill>
                    <a:srgbClr val="003300"/>
                  </a:solidFill>
                  <a:latin typeface="55 Helvetica Roman" pitchFamily="64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908" b="1">
                  <a:solidFill>
                    <a:srgbClr val="00674E"/>
                  </a:solidFill>
                  <a:latin typeface="Arial" panose="020B0604020202020204" pitchFamily="34" charset="0"/>
                </a:rPr>
                <a:t>Current</a:t>
              </a:r>
            </a:p>
          </p:txBody>
        </p:sp>
        <p:sp>
          <p:nvSpPr>
            <p:cNvPr id="22546" name="Rounded Rectangle 11">
              <a:extLst>
                <a:ext uri="{FF2B5EF4-FFF2-40B4-BE49-F238E27FC236}">
                  <a16:creationId xmlns:a16="http://schemas.microsoft.com/office/drawing/2014/main" id="{0E4B2E7E-847D-EAD0-F3AF-CAF3A6CD13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0600" y="3733800"/>
              <a:ext cx="2514600" cy="457200"/>
            </a:xfrm>
            <a:prstGeom prst="roundRect">
              <a:avLst>
                <a:gd name="adj" fmla="val 16667"/>
              </a:avLst>
            </a:prstGeom>
            <a:noFill/>
            <a:ln w="50800">
              <a:solidFill>
                <a:srgbClr val="A0A2A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>
              <a:lvl1pPr>
                <a:spcBef>
                  <a:spcPct val="20000"/>
                </a:spcBef>
                <a:buClr>
                  <a:srgbClr val="006600"/>
                </a:buClr>
                <a:buChar char="•"/>
                <a:defRPr sz="2400">
                  <a:solidFill>
                    <a:srgbClr val="003300"/>
                  </a:solidFill>
                  <a:latin typeface="55 Helvetica Roman" pitchFamily="6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006600"/>
                </a:buClr>
                <a:buFont typeface="Wingdings" pitchFamily="2" charset="2"/>
                <a:buChar char="ü"/>
                <a:defRPr sz="2000">
                  <a:solidFill>
                    <a:srgbClr val="003300"/>
                  </a:solidFill>
                  <a:latin typeface="55 Helvetica Roman" pitchFamily="6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006600"/>
                </a:buClr>
                <a:buChar char="•"/>
                <a:defRPr sz="1600">
                  <a:solidFill>
                    <a:srgbClr val="003300"/>
                  </a:solidFill>
                  <a:latin typeface="55 Helvetica Roman" pitchFamily="6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006600"/>
                </a:buClr>
                <a:buChar char="–"/>
                <a:defRPr sz="1600">
                  <a:solidFill>
                    <a:srgbClr val="003300"/>
                  </a:solidFill>
                  <a:latin typeface="55 Helvetica Roman" pitchFamily="6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006600"/>
                </a:buClr>
                <a:buChar char="»"/>
                <a:defRPr sz="1600">
                  <a:solidFill>
                    <a:srgbClr val="003300"/>
                  </a:solidFill>
                  <a:latin typeface="55 Helvetica Roman" pitchFamily="6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6600"/>
                </a:buClr>
                <a:buChar char="»"/>
                <a:defRPr sz="1600">
                  <a:solidFill>
                    <a:srgbClr val="003300"/>
                  </a:solidFill>
                  <a:latin typeface="55 Helvetica Roman" pitchFamily="6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6600"/>
                </a:buClr>
                <a:buChar char="»"/>
                <a:defRPr sz="1600">
                  <a:solidFill>
                    <a:srgbClr val="003300"/>
                  </a:solidFill>
                  <a:latin typeface="55 Helvetica Roman" pitchFamily="6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6600"/>
                </a:buClr>
                <a:buChar char="»"/>
                <a:defRPr sz="1600">
                  <a:solidFill>
                    <a:srgbClr val="003300"/>
                  </a:solidFill>
                  <a:latin typeface="55 Helvetica Roman" pitchFamily="6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6600"/>
                </a:buClr>
                <a:buChar char="»"/>
                <a:defRPr sz="1600">
                  <a:solidFill>
                    <a:srgbClr val="003300"/>
                  </a:solidFill>
                  <a:latin typeface="55 Helvetica Roman" pitchFamily="64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908" b="1">
                  <a:solidFill>
                    <a:srgbClr val="00674E"/>
                  </a:solidFill>
                  <a:latin typeface="Arial" panose="020B0604020202020204" pitchFamily="34" charset="0"/>
                </a:rPr>
                <a:t>Non-current</a:t>
              </a:r>
            </a:p>
          </p:txBody>
        </p:sp>
      </p:grpSp>
      <p:grpSp>
        <p:nvGrpSpPr>
          <p:cNvPr id="22537" name="Group 14">
            <a:extLst>
              <a:ext uri="{FF2B5EF4-FFF2-40B4-BE49-F238E27FC236}">
                <a16:creationId xmlns:a16="http://schemas.microsoft.com/office/drawing/2014/main" id="{84629DE4-AA9D-EC2C-D118-830AE3D53A0B}"/>
              </a:ext>
            </a:extLst>
          </p:cNvPr>
          <p:cNvGrpSpPr>
            <a:grpSpLocks/>
          </p:cNvGrpSpPr>
          <p:nvPr/>
        </p:nvGrpSpPr>
        <p:grpSpPr bwMode="auto">
          <a:xfrm>
            <a:off x="1989158" y="2574980"/>
            <a:ext cx="1267778" cy="537845"/>
            <a:chOff x="4876800" y="4876800"/>
            <a:chExt cx="2514600" cy="1066800"/>
          </a:xfrm>
        </p:grpSpPr>
        <p:sp>
          <p:nvSpPr>
            <p:cNvPr id="22543" name="Rounded Rectangle 12">
              <a:extLst>
                <a:ext uri="{FF2B5EF4-FFF2-40B4-BE49-F238E27FC236}">
                  <a16:creationId xmlns:a16="http://schemas.microsoft.com/office/drawing/2014/main" id="{7E90DBDB-C3BA-9840-2B45-007DEC4495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76800" y="4876800"/>
              <a:ext cx="2514600" cy="457200"/>
            </a:xfrm>
            <a:prstGeom prst="roundRect">
              <a:avLst>
                <a:gd name="adj" fmla="val 16667"/>
              </a:avLst>
            </a:prstGeom>
            <a:noFill/>
            <a:ln w="50800">
              <a:solidFill>
                <a:srgbClr val="A0A2A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>
              <a:lvl1pPr>
                <a:spcBef>
                  <a:spcPct val="20000"/>
                </a:spcBef>
                <a:buClr>
                  <a:srgbClr val="006600"/>
                </a:buClr>
                <a:buChar char="•"/>
                <a:defRPr sz="2400">
                  <a:solidFill>
                    <a:srgbClr val="003300"/>
                  </a:solidFill>
                  <a:latin typeface="55 Helvetica Roman" pitchFamily="6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006600"/>
                </a:buClr>
                <a:buFont typeface="Wingdings" pitchFamily="2" charset="2"/>
                <a:buChar char="ü"/>
                <a:defRPr sz="2000">
                  <a:solidFill>
                    <a:srgbClr val="003300"/>
                  </a:solidFill>
                  <a:latin typeface="55 Helvetica Roman" pitchFamily="6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006600"/>
                </a:buClr>
                <a:buChar char="•"/>
                <a:defRPr sz="1600">
                  <a:solidFill>
                    <a:srgbClr val="003300"/>
                  </a:solidFill>
                  <a:latin typeface="55 Helvetica Roman" pitchFamily="6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006600"/>
                </a:buClr>
                <a:buChar char="–"/>
                <a:defRPr sz="1600">
                  <a:solidFill>
                    <a:srgbClr val="003300"/>
                  </a:solidFill>
                  <a:latin typeface="55 Helvetica Roman" pitchFamily="6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006600"/>
                </a:buClr>
                <a:buChar char="»"/>
                <a:defRPr sz="1600">
                  <a:solidFill>
                    <a:srgbClr val="003300"/>
                  </a:solidFill>
                  <a:latin typeface="55 Helvetica Roman" pitchFamily="6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6600"/>
                </a:buClr>
                <a:buChar char="»"/>
                <a:defRPr sz="1600">
                  <a:solidFill>
                    <a:srgbClr val="003300"/>
                  </a:solidFill>
                  <a:latin typeface="55 Helvetica Roman" pitchFamily="6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6600"/>
                </a:buClr>
                <a:buChar char="»"/>
                <a:defRPr sz="1600">
                  <a:solidFill>
                    <a:srgbClr val="003300"/>
                  </a:solidFill>
                  <a:latin typeface="55 Helvetica Roman" pitchFamily="6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6600"/>
                </a:buClr>
                <a:buChar char="»"/>
                <a:defRPr sz="1600">
                  <a:solidFill>
                    <a:srgbClr val="003300"/>
                  </a:solidFill>
                  <a:latin typeface="55 Helvetica Roman" pitchFamily="6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6600"/>
                </a:buClr>
                <a:buChar char="»"/>
                <a:defRPr sz="1600">
                  <a:solidFill>
                    <a:srgbClr val="003300"/>
                  </a:solidFill>
                  <a:latin typeface="55 Helvetica Roman" pitchFamily="64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908" b="1">
                  <a:solidFill>
                    <a:srgbClr val="00674E"/>
                  </a:solidFill>
                  <a:latin typeface="Arial" panose="020B0604020202020204" pitchFamily="34" charset="0"/>
                </a:rPr>
                <a:t>Capital Stock</a:t>
              </a:r>
            </a:p>
          </p:txBody>
        </p:sp>
        <p:sp>
          <p:nvSpPr>
            <p:cNvPr id="22544" name="Rounded Rectangle 13">
              <a:extLst>
                <a:ext uri="{FF2B5EF4-FFF2-40B4-BE49-F238E27FC236}">
                  <a16:creationId xmlns:a16="http://schemas.microsoft.com/office/drawing/2014/main" id="{EAFA3B2D-4127-9E75-1067-ACD4D2E67E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76800" y="5486400"/>
              <a:ext cx="2514600" cy="457200"/>
            </a:xfrm>
            <a:prstGeom prst="roundRect">
              <a:avLst>
                <a:gd name="adj" fmla="val 16667"/>
              </a:avLst>
            </a:prstGeom>
            <a:noFill/>
            <a:ln w="50800">
              <a:solidFill>
                <a:srgbClr val="A0A2A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>
              <a:lvl1pPr>
                <a:spcBef>
                  <a:spcPct val="20000"/>
                </a:spcBef>
                <a:buClr>
                  <a:srgbClr val="006600"/>
                </a:buClr>
                <a:buChar char="•"/>
                <a:defRPr sz="2400">
                  <a:solidFill>
                    <a:srgbClr val="003300"/>
                  </a:solidFill>
                  <a:latin typeface="55 Helvetica Roman" pitchFamily="6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006600"/>
                </a:buClr>
                <a:buFont typeface="Wingdings" pitchFamily="2" charset="2"/>
                <a:buChar char="ü"/>
                <a:defRPr sz="2000">
                  <a:solidFill>
                    <a:srgbClr val="003300"/>
                  </a:solidFill>
                  <a:latin typeface="55 Helvetica Roman" pitchFamily="6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006600"/>
                </a:buClr>
                <a:buChar char="•"/>
                <a:defRPr sz="1600">
                  <a:solidFill>
                    <a:srgbClr val="003300"/>
                  </a:solidFill>
                  <a:latin typeface="55 Helvetica Roman" pitchFamily="6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006600"/>
                </a:buClr>
                <a:buChar char="–"/>
                <a:defRPr sz="1600">
                  <a:solidFill>
                    <a:srgbClr val="003300"/>
                  </a:solidFill>
                  <a:latin typeface="55 Helvetica Roman" pitchFamily="6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006600"/>
                </a:buClr>
                <a:buChar char="»"/>
                <a:defRPr sz="1600">
                  <a:solidFill>
                    <a:srgbClr val="003300"/>
                  </a:solidFill>
                  <a:latin typeface="55 Helvetica Roman" pitchFamily="6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6600"/>
                </a:buClr>
                <a:buChar char="»"/>
                <a:defRPr sz="1600">
                  <a:solidFill>
                    <a:srgbClr val="003300"/>
                  </a:solidFill>
                  <a:latin typeface="55 Helvetica Roman" pitchFamily="6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6600"/>
                </a:buClr>
                <a:buChar char="»"/>
                <a:defRPr sz="1600">
                  <a:solidFill>
                    <a:srgbClr val="003300"/>
                  </a:solidFill>
                  <a:latin typeface="55 Helvetica Roman" pitchFamily="6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6600"/>
                </a:buClr>
                <a:buChar char="»"/>
                <a:defRPr sz="1600">
                  <a:solidFill>
                    <a:srgbClr val="003300"/>
                  </a:solidFill>
                  <a:latin typeface="55 Helvetica Roman" pitchFamily="6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6600"/>
                </a:buClr>
                <a:buChar char="»"/>
                <a:defRPr sz="1600">
                  <a:solidFill>
                    <a:srgbClr val="003300"/>
                  </a:solidFill>
                  <a:latin typeface="55 Helvetica Roman" pitchFamily="64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908" b="1">
                  <a:solidFill>
                    <a:srgbClr val="00674E"/>
                  </a:solidFill>
                  <a:latin typeface="Arial" panose="020B0604020202020204" pitchFamily="34" charset="0"/>
                </a:rPr>
                <a:t>Retained Earnings</a:t>
              </a:r>
            </a:p>
          </p:txBody>
        </p:sp>
      </p:grpSp>
      <p:sp>
        <p:nvSpPr>
          <p:cNvPr id="22538" name="Isosceles Triangle 17">
            <a:extLst>
              <a:ext uri="{FF2B5EF4-FFF2-40B4-BE49-F238E27FC236}">
                <a16:creationId xmlns:a16="http://schemas.microsoft.com/office/drawing/2014/main" id="{EF0ADC5A-6C09-54E6-86F8-A56638461C52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1489731" y="1174341"/>
            <a:ext cx="499428" cy="422593"/>
          </a:xfrm>
          <a:prstGeom prst="triangle">
            <a:avLst>
              <a:gd name="adj" fmla="val 50000"/>
            </a:avLst>
          </a:prstGeom>
          <a:solidFill>
            <a:srgbClr val="A0A2A1"/>
          </a:solidFill>
          <a:ln w="9525">
            <a:solidFill>
              <a:srgbClr val="516993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006600"/>
              </a:buClr>
              <a:buChar char="•"/>
              <a:defRPr sz="2400">
                <a:solidFill>
                  <a:srgbClr val="003300"/>
                </a:solidFill>
                <a:latin typeface="55 Helvetica Roman" pitchFamily="6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06600"/>
              </a:buClr>
              <a:buFont typeface="Wingdings" pitchFamily="2" charset="2"/>
              <a:buChar char="ü"/>
              <a:defRPr sz="2000">
                <a:solidFill>
                  <a:srgbClr val="003300"/>
                </a:solidFill>
                <a:latin typeface="55 Helvetica Roman" pitchFamily="6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006600"/>
              </a:buClr>
              <a:buChar char="•"/>
              <a:defRPr sz="1600">
                <a:solidFill>
                  <a:srgbClr val="003300"/>
                </a:solidFill>
                <a:latin typeface="55 Helvetica Roman" pitchFamily="6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006600"/>
              </a:buClr>
              <a:buChar char="–"/>
              <a:defRPr sz="1600">
                <a:solidFill>
                  <a:srgbClr val="003300"/>
                </a:solidFill>
                <a:latin typeface="55 Helvetica Roman" pitchFamily="6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006600"/>
              </a:buClr>
              <a:buChar char="»"/>
              <a:defRPr sz="1600">
                <a:solidFill>
                  <a:srgbClr val="003300"/>
                </a:solidFill>
                <a:latin typeface="55 Helvetica Roman" pitchFamily="6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00"/>
              </a:buClr>
              <a:buChar char="»"/>
              <a:defRPr sz="1600">
                <a:solidFill>
                  <a:srgbClr val="003300"/>
                </a:solidFill>
                <a:latin typeface="55 Helvetica Roman" pitchFamily="6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00"/>
              </a:buClr>
              <a:buChar char="»"/>
              <a:defRPr sz="1600">
                <a:solidFill>
                  <a:srgbClr val="003300"/>
                </a:solidFill>
                <a:latin typeface="55 Helvetica Roman" pitchFamily="6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00"/>
              </a:buClr>
              <a:buChar char="»"/>
              <a:defRPr sz="1600">
                <a:solidFill>
                  <a:srgbClr val="003300"/>
                </a:solidFill>
                <a:latin typeface="55 Helvetica Roman" pitchFamily="6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00"/>
              </a:buClr>
              <a:buChar char="»"/>
              <a:defRPr sz="1600">
                <a:solidFill>
                  <a:srgbClr val="003300"/>
                </a:solidFill>
                <a:latin typeface="55 Helvetica Roman" pitchFamily="6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en-US" altLang="en-US" sz="121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22539" name="Isosceles Triangle 18">
            <a:extLst>
              <a:ext uri="{FF2B5EF4-FFF2-40B4-BE49-F238E27FC236}">
                <a16:creationId xmlns:a16="http://schemas.microsoft.com/office/drawing/2014/main" id="{D0128C99-834E-F46C-9A30-E36ACFB2479D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1489731" y="1904274"/>
            <a:ext cx="499428" cy="422593"/>
          </a:xfrm>
          <a:prstGeom prst="triangle">
            <a:avLst>
              <a:gd name="adj" fmla="val 50000"/>
            </a:avLst>
          </a:prstGeom>
          <a:solidFill>
            <a:srgbClr val="A0A2A1"/>
          </a:solidFill>
          <a:ln w="9525">
            <a:solidFill>
              <a:srgbClr val="516993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006600"/>
              </a:buClr>
              <a:buChar char="•"/>
              <a:defRPr sz="2400">
                <a:solidFill>
                  <a:srgbClr val="003300"/>
                </a:solidFill>
                <a:latin typeface="55 Helvetica Roman" pitchFamily="6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06600"/>
              </a:buClr>
              <a:buFont typeface="Wingdings" pitchFamily="2" charset="2"/>
              <a:buChar char="ü"/>
              <a:defRPr sz="2000">
                <a:solidFill>
                  <a:srgbClr val="003300"/>
                </a:solidFill>
                <a:latin typeface="55 Helvetica Roman" pitchFamily="6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006600"/>
              </a:buClr>
              <a:buChar char="•"/>
              <a:defRPr sz="1600">
                <a:solidFill>
                  <a:srgbClr val="003300"/>
                </a:solidFill>
                <a:latin typeface="55 Helvetica Roman" pitchFamily="6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006600"/>
              </a:buClr>
              <a:buChar char="–"/>
              <a:defRPr sz="1600">
                <a:solidFill>
                  <a:srgbClr val="003300"/>
                </a:solidFill>
                <a:latin typeface="55 Helvetica Roman" pitchFamily="6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006600"/>
              </a:buClr>
              <a:buChar char="»"/>
              <a:defRPr sz="1600">
                <a:solidFill>
                  <a:srgbClr val="003300"/>
                </a:solidFill>
                <a:latin typeface="55 Helvetica Roman" pitchFamily="6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00"/>
              </a:buClr>
              <a:buChar char="»"/>
              <a:defRPr sz="1600">
                <a:solidFill>
                  <a:srgbClr val="003300"/>
                </a:solidFill>
                <a:latin typeface="55 Helvetica Roman" pitchFamily="6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00"/>
              </a:buClr>
              <a:buChar char="»"/>
              <a:defRPr sz="1600">
                <a:solidFill>
                  <a:srgbClr val="003300"/>
                </a:solidFill>
                <a:latin typeface="55 Helvetica Roman" pitchFamily="6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00"/>
              </a:buClr>
              <a:buChar char="»"/>
              <a:defRPr sz="1600">
                <a:solidFill>
                  <a:srgbClr val="003300"/>
                </a:solidFill>
                <a:latin typeface="55 Helvetica Roman" pitchFamily="6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00"/>
              </a:buClr>
              <a:buChar char="»"/>
              <a:defRPr sz="1600">
                <a:solidFill>
                  <a:srgbClr val="003300"/>
                </a:solidFill>
                <a:latin typeface="55 Helvetica Roman" pitchFamily="6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en-US" altLang="en-US" sz="121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22540" name="Isosceles Triangle 19">
            <a:extLst>
              <a:ext uri="{FF2B5EF4-FFF2-40B4-BE49-F238E27FC236}">
                <a16:creationId xmlns:a16="http://schemas.microsoft.com/office/drawing/2014/main" id="{2B96D9B7-0E82-896A-E673-9512FF00EF4C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1489731" y="2634206"/>
            <a:ext cx="499428" cy="422593"/>
          </a:xfrm>
          <a:prstGeom prst="triangle">
            <a:avLst>
              <a:gd name="adj" fmla="val 50000"/>
            </a:avLst>
          </a:prstGeom>
          <a:solidFill>
            <a:srgbClr val="A0A2A1"/>
          </a:solidFill>
          <a:ln w="9525">
            <a:solidFill>
              <a:srgbClr val="516993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006600"/>
              </a:buClr>
              <a:buChar char="•"/>
              <a:defRPr sz="2400">
                <a:solidFill>
                  <a:srgbClr val="003300"/>
                </a:solidFill>
                <a:latin typeface="55 Helvetica Roman" pitchFamily="6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06600"/>
              </a:buClr>
              <a:buFont typeface="Wingdings" pitchFamily="2" charset="2"/>
              <a:buChar char="ü"/>
              <a:defRPr sz="2000">
                <a:solidFill>
                  <a:srgbClr val="003300"/>
                </a:solidFill>
                <a:latin typeface="55 Helvetica Roman" pitchFamily="6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006600"/>
              </a:buClr>
              <a:buChar char="•"/>
              <a:defRPr sz="1600">
                <a:solidFill>
                  <a:srgbClr val="003300"/>
                </a:solidFill>
                <a:latin typeface="55 Helvetica Roman" pitchFamily="6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006600"/>
              </a:buClr>
              <a:buChar char="–"/>
              <a:defRPr sz="1600">
                <a:solidFill>
                  <a:srgbClr val="003300"/>
                </a:solidFill>
                <a:latin typeface="55 Helvetica Roman" pitchFamily="6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006600"/>
              </a:buClr>
              <a:buChar char="»"/>
              <a:defRPr sz="1600">
                <a:solidFill>
                  <a:srgbClr val="003300"/>
                </a:solidFill>
                <a:latin typeface="55 Helvetica Roman" pitchFamily="6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00"/>
              </a:buClr>
              <a:buChar char="»"/>
              <a:defRPr sz="1600">
                <a:solidFill>
                  <a:srgbClr val="003300"/>
                </a:solidFill>
                <a:latin typeface="55 Helvetica Roman" pitchFamily="6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00"/>
              </a:buClr>
              <a:buChar char="»"/>
              <a:defRPr sz="1600">
                <a:solidFill>
                  <a:srgbClr val="003300"/>
                </a:solidFill>
                <a:latin typeface="55 Helvetica Roman" pitchFamily="6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00"/>
              </a:buClr>
              <a:buChar char="»"/>
              <a:defRPr sz="1600">
                <a:solidFill>
                  <a:srgbClr val="003300"/>
                </a:solidFill>
                <a:latin typeface="55 Helvetica Roman" pitchFamily="6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00"/>
              </a:buClr>
              <a:buChar char="»"/>
              <a:defRPr sz="1600">
                <a:solidFill>
                  <a:srgbClr val="003300"/>
                </a:solidFill>
                <a:latin typeface="55 Helvetica Roman" pitchFamily="6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en-US" altLang="en-US" sz="121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22541" name="Explosion 2 20">
            <a:extLst>
              <a:ext uri="{FF2B5EF4-FFF2-40B4-BE49-F238E27FC236}">
                <a16:creationId xmlns:a16="http://schemas.microsoft.com/office/drawing/2014/main" id="{EAE0E4AD-5D04-9B97-8799-B4DB8EAC596A}"/>
              </a:ext>
            </a:extLst>
          </p:cNvPr>
          <p:cNvSpPr>
            <a:spLocks noChangeArrowheads="1"/>
          </p:cNvSpPr>
          <p:nvPr/>
        </p:nvSpPr>
        <p:spPr bwMode="auto">
          <a:xfrm rot="21242754">
            <a:off x="3147647" y="890155"/>
            <a:ext cx="1420456" cy="883603"/>
          </a:xfrm>
          <a:prstGeom prst="irregularSeal2">
            <a:avLst/>
          </a:prstGeom>
          <a:solidFill>
            <a:srgbClr val="516993"/>
          </a:solidFill>
          <a:ln w="9525">
            <a:solidFill>
              <a:srgbClr val="516993"/>
            </a:solidFill>
            <a:round/>
            <a:headEnd/>
            <a:tailEnd/>
          </a:ln>
        </p:spPr>
        <p:txBody>
          <a:bodyPr anchor="ctr"/>
          <a:lstStyle>
            <a:lvl1pPr>
              <a:spcBef>
                <a:spcPct val="20000"/>
              </a:spcBef>
              <a:buClr>
                <a:srgbClr val="006600"/>
              </a:buClr>
              <a:buChar char="•"/>
              <a:defRPr sz="2400">
                <a:solidFill>
                  <a:srgbClr val="003300"/>
                </a:solidFill>
                <a:latin typeface="55 Helvetica Roman" pitchFamily="6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06600"/>
              </a:buClr>
              <a:buFont typeface="Wingdings" pitchFamily="2" charset="2"/>
              <a:buChar char="ü"/>
              <a:defRPr sz="2000">
                <a:solidFill>
                  <a:srgbClr val="003300"/>
                </a:solidFill>
                <a:latin typeface="55 Helvetica Roman" pitchFamily="6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006600"/>
              </a:buClr>
              <a:buChar char="•"/>
              <a:defRPr sz="1600">
                <a:solidFill>
                  <a:srgbClr val="003300"/>
                </a:solidFill>
                <a:latin typeface="55 Helvetica Roman" pitchFamily="6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006600"/>
              </a:buClr>
              <a:buChar char="–"/>
              <a:defRPr sz="1600">
                <a:solidFill>
                  <a:srgbClr val="003300"/>
                </a:solidFill>
                <a:latin typeface="55 Helvetica Roman" pitchFamily="6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006600"/>
              </a:buClr>
              <a:buChar char="»"/>
              <a:defRPr sz="1600">
                <a:solidFill>
                  <a:srgbClr val="003300"/>
                </a:solidFill>
                <a:latin typeface="55 Helvetica Roman" pitchFamily="6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00"/>
              </a:buClr>
              <a:buChar char="»"/>
              <a:defRPr sz="1600">
                <a:solidFill>
                  <a:srgbClr val="003300"/>
                </a:solidFill>
                <a:latin typeface="55 Helvetica Roman" pitchFamily="6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00"/>
              </a:buClr>
              <a:buChar char="»"/>
              <a:defRPr sz="1600">
                <a:solidFill>
                  <a:srgbClr val="003300"/>
                </a:solidFill>
                <a:latin typeface="55 Helvetica Roman" pitchFamily="6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00"/>
              </a:buClr>
              <a:buChar char="»"/>
              <a:defRPr sz="1600">
                <a:solidFill>
                  <a:srgbClr val="003300"/>
                </a:solidFill>
                <a:latin typeface="55 Helvetica Roman" pitchFamily="6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00"/>
              </a:buClr>
              <a:buChar char="»"/>
              <a:defRPr sz="1600">
                <a:solidFill>
                  <a:srgbClr val="003300"/>
                </a:solidFill>
                <a:latin typeface="55 Helvetica Roman" pitchFamily="64" charset="0"/>
                <a:ea typeface="ＭＳ Ｐゴシック" panose="020B0600070205080204" pitchFamily="34" charset="-128"/>
              </a:defRPr>
            </a:lvl9pPr>
          </a:lstStyle>
          <a:p>
            <a:pPr algn="dist">
              <a:spcBef>
                <a:spcPct val="0"/>
              </a:spcBef>
              <a:buClrTx/>
              <a:buFontTx/>
              <a:buNone/>
            </a:pPr>
            <a:r>
              <a:rPr lang="en-US" altLang="en-US" sz="1200" b="1" dirty="0">
                <a:solidFill>
                  <a:schemeClr val="bg1"/>
                </a:solidFill>
                <a:latin typeface="Arial" panose="020B0604020202020204" pitchFamily="34" charset="0"/>
              </a:rPr>
              <a:t>OWN</a:t>
            </a:r>
          </a:p>
        </p:txBody>
      </p:sp>
      <p:sp>
        <p:nvSpPr>
          <p:cNvPr id="22542" name="Explosion 2 22">
            <a:extLst>
              <a:ext uri="{FF2B5EF4-FFF2-40B4-BE49-F238E27FC236}">
                <a16:creationId xmlns:a16="http://schemas.microsoft.com/office/drawing/2014/main" id="{93F5B988-0025-FD9D-396C-DAC253C320AE}"/>
              </a:ext>
            </a:extLst>
          </p:cNvPr>
          <p:cNvSpPr>
            <a:spLocks noChangeArrowheads="1"/>
          </p:cNvSpPr>
          <p:nvPr/>
        </p:nvSpPr>
        <p:spPr bwMode="auto">
          <a:xfrm rot="21106768">
            <a:off x="3255291" y="1898981"/>
            <a:ext cx="1319184" cy="883603"/>
          </a:xfrm>
          <a:prstGeom prst="irregularSeal2">
            <a:avLst/>
          </a:prstGeom>
          <a:solidFill>
            <a:srgbClr val="516993"/>
          </a:solidFill>
          <a:ln w="9525">
            <a:solidFill>
              <a:srgbClr val="516993"/>
            </a:solidFill>
            <a:round/>
            <a:headEnd/>
            <a:tailEnd/>
          </a:ln>
        </p:spPr>
        <p:txBody>
          <a:bodyPr anchor="ctr"/>
          <a:lstStyle>
            <a:lvl1pPr>
              <a:spcBef>
                <a:spcPct val="20000"/>
              </a:spcBef>
              <a:buClr>
                <a:srgbClr val="006600"/>
              </a:buClr>
              <a:buChar char="•"/>
              <a:defRPr sz="2400">
                <a:solidFill>
                  <a:srgbClr val="003300"/>
                </a:solidFill>
                <a:latin typeface="55 Helvetica Roman" pitchFamily="6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06600"/>
              </a:buClr>
              <a:buFont typeface="Wingdings" pitchFamily="2" charset="2"/>
              <a:buChar char="ü"/>
              <a:defRPr sz="2000">
                <a:solidFill>
                  <a:srgbClr val="003300"/>
                </a:solidFill>
                <a:latin typeface="55 Helvetica Roman" pitchFamily="6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006600"/>
              </a:buClr>
              <a:buChar char="•"/>
              <a:defRPr sz="1600">
                <a:solidFill>
                  <a:srgbClr val="003300"/>
                </a:solidFill>
                <a:latin typeface="55 Helvetica Roman" pitchFamily="6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006600"/>
              </a:buClr>
              <a:buChar char="–"/>
              <a:defRPr sz="1600">
                <a:solidFill>
                  <a:srgbClr val="003300"/>
                </a:solidFill>
                <a:latin typeface="55 Helvetica Roman" pitchFamily="6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006600"/>
              </a:buClr>
              <a:buChar char="»"/>
              <a:defRPr sz="1600">
                <a:solidFill>
                  <a:srgbClr val="003300"/>
                </a:solidFill>
                <a:latin typeface="55 Helvetica Roman" pitchFamily="6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00"/>
              </a:buClr>
              <a:buChar char="»"/>
              <a:defRPr sz="1600">
                <a:solidFill>
                  <a:srgbClr val="003300"/>
                </a:solidFill>
                <a:latin typeface="55 Helvetica Roman" pitchFamily="6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00"/>
              </a:buClr>
              <a:buChar char="»"/>
              <a:defRPr sz="1600">
                <a:solidFill>
                  <a:srgbClr val="003300"/>
                </a:solidFill>
                <a:latin typeface="55 Helvetica Roman" pitchFamily="6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00"/>
              </a:buClr>
              <a:buChar char="»"/>
              <a:defRPr sz="1600">
                <a:solidFill>
                  <a:srgbClr val="003300"/>
                </a:solidFill>
                <a:latin typeface="55 Helvetica Roman" pitchFamily="6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00"/>
              </a:buClr>
              <a:buChar char="»"/>
              <a:defRPr sz="1600">
                <a:solidFill>
                  <a:srgbClr val="003300"/>
                </a:solidFill>
                <a:latin typeface="55 Helvetica Roman" pitchFamily="64" charset="0"/>
                <a:ea typeface="ＭＳ Ｐゴシック" panose="020B0600070205080204" pitchFamily="34" charset="-128"/>
              </a:defRPr>
            </a:lvl9pPr>
          </a:lstStyle>
          <a:p>
            <a:pPr algn="dist">
              <a:spcBef>
                <a:spcPct val="0"/>
              </a:spcBef>
              <a:buClrTx/>
              <a:buFontTx/>
              <a:buNone/>
            </a:pPr>
            <a:r>
              <a:rPr lang="en-US" altLang="en-US" sz="1200" b="1" dirty="0">
                <a:solidFill>
                  <a:schemeClr val="bg1"/>
                </a:solidFill>
                <a:latin typeface="Arial" panose="020B0604020202020204" pitchFamily="34" charset="0"/>
              </a:rPr>
              <a:t>OWE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>
            <a:extLst>
              <a:ext uri="{FF2B5EF4-FFF2-40B4-BE49-F238E27FC236}">
                <a16:creationId xmlns:a16="http://schemas.microsoft.com/office/drawing/2014/main" id="{50D0BDE7-BE97-F2F4-DAA2-59AC3385CDF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The Balance Sheet</a:t>
            </a:r>
          </a:p>
        </p:txBody>
      </p:sp>
      <p:sp>
        <p:nvSpPr>
          <p:cNvPr id="23555" name="Text Placeholder 2">
            <a:extLst>
              <a:ext uri="{FF2B5EF4-FFF2-40B4-BE49-F238E27FC236}">
                <a16:creationId xmlns:a16="http://schemas.microsoft.com/office/drawing/2014/main" id="{4D1B3B25-1119-F071-0D8F-CC52AB34D0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5760" y="606114"/>
            <a:ext cx="1844675" cy="338554"/>
          </a:xfrm>
          <a:solidFill>
            <a:srgbClr val="CEB67B"/>
          </a:solidFill>
          <a:ln>
            <a:solidFill>
              <a:srgbClr val="D02138"/>
            </a:solidFill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altLang="en-US" b="1" dirty="0">
                <a:solidFill>
                  <a:srgbClr val="516993"/>
                </a:solidFill>
              </a:rPr>
              <a:t>Assets</a:t>
            </a:r>
            <a:endParaRPr lang="en-US" altLang="en-US" b="1" dirty="0">
              <a:solidFill>
                <a:srgbClr val="00674E"/>
              </a:solidFill>
            </a:endParaRPr>
          </a:p>
          <a:p>
            <a:pPr algn="ctr"/>
            <a:endParaRPr lang="en-US" altLang="en-US" b="1" dirty="0">
              <a:solidFill>
                <a:srgbClr val="516993"/>
              </a:solidFill>
            </a:endParaRPr>
          </a:p>
        </p:txBody>
      </p:sp>
      <p:sp>
        <p:nvSpPr>
          <p:cNvPr id="10244" name="Content Placeholder 3">
            <a:extLst>
              <a:ext uri="{FF2B5EF4-FFF2-40B4-BE49-F238E27FC236}">
                <a16:creationId xmlns:a16="http://schemas.microsoft.com/office/drawing/2014/main" id="{F79AEB25-13F0-5DCF-D78C-84AF708AD7AF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365760" y="1116013"/>
            <a:ext cx="1844675" cy="1831271"/>
          </a:xfrm>
          <a:solidFill>
            <a:srgbClr val="A0A2A1"/>
          </a:solidFill>
          <a:ln>
            <a:solidFill>
              <a:srgbClr val="00674E"/>
            </a:solidFill>
          </a:ln>
        </p:spPr>
        <p:txBody>
          <a:bodyPr/>
          <a:lstStyle/>
          <a:p>
            <a:pPr>
              <a:defRPr/>
            </a:pPr>
            <a:r>
              <a:rPr lang="en-US" b="1" dirty="0"/>
              <a:t>Current Assets</a:t>
            </a:r>
          </a:p>
          <a:p>
            <a:pPr marL="36302">
              <a:spcBef>
                <a:spcPts val="303"/>
              </a:spcBef>
              <a:defRPr/>
            </a:pPr>
            <a:r>
              <a:rPr lang="en-US" b="1" dirty="0"/>
              <a:t> </a:t>
            </a:r>
            <a:r>
              <a:rPr lang="en-US" dirty="0"/>
              <a:t>  Cash</a:t>
            </a:r>
          </a:p>
          <a:p>
            <a:pPr marL="36302">
              <a:spcBef>
                <a:spcPts val="303"/>
              </a:spcBef>
              <a:defRPr/>
            </a:pPr>
            <a:r>
              <a:rPr lang="en-US" dirty="0"/>
              <a:t>   Accounts Receivable</a:t>
            </a:r>
          </a:p>
          <a:p>
            <a:pPr marL="36302">
              <a:spcBef>
                <a:spcPts val="303"/>
              </a:spcBef>
              <a:defRPr/>
            </a:pPr>
            <a:r>
              <a:rPr lang="en-US" dirty="0"/>
              <a:t>   Prepaid Expenses</a:t>
            </a:r>
          </a:p>
          <a:p>
            <a:pPr marL="36302">
              <a:spcBef>
                <a:spcPts val="303"/>
              </a:spcBef>
              <a:defRPr/>
            </a:pPr>
            <a:r>
              <a:rPr lang="en-US" b="1" dirty="0"/>
              <a:t>   </a:t>
            </a:r>
            <a:r>
              <a:rPr lang="en-US" dirty="0"/>
              <a:t>Inventory</a:t>
            </a:r>
          </a:p>
          <a:p>
            <a:pPr marL="36302">
              <a:spcBef>
                <a:spcPts val="303"/>
              </a:spcBef>
              <a:defRPr/>
            </a:pPr>
            <a:r>
              <a:rPr lang="en-US" b="1" dirty="0"/>
              <a:t>Fixed/Long Term Assets</a:t>
            </a:r>
          </a:p>
          <a:p>
            <a:pPr marL="36302">
              <a:spcBef>
                <a:spcPts val="303"/>
              </a:spcBef>
              <a:defRPr/>
            </a:pPr>
            <a:r>
              <a:rPr lang="en-US" b="1" dirty="0"/>
              <a:t>   </a:t>
            </a:r>
            <a:r>
              <a:rPr lang="en-US" dirty="0"/>
              <a:t>Land/Buildings</a:t>
            </a:r>
          </a:p>
          <a:p>
            <a:pPr marL="36302">
              <a:spcBef>
                <a:spcPts val="303"/>
              </a:spcBef>
              <a:defRPr/>
            </a:pPr>
            <a:r>
              <a:rPr lang="en-US" dirty="0"/>
              <a:t>   Machinery &amp; Equipment</a:t>
            </a:r>
          </a:p>
          <a:p>
            <a:pPr marL="36302">
              <a:spcBef>
                <a:spcPts val="303"/>
              </a:spcBef>
              <a:defRPr/>
            </a:pPr>
            <a:r>
              <a:rPr lang="en-US" dirty="0"/>
              <a:t>   Long Term Investments</a:t>
            </a:r>
          </a:p>
        </p:txBody>
      </p:sp>
      <p:sp>
        <p:nvSpPr>
          <p:cNvPr id="23557" name="Text Placeholder 4">
            <a:extLst>
              <a:ext uri="{FF2B5EF4-FFF2-40B4-BE49-F238E27FC236}">
                <a16:creationId xmlns:a16="http://schemas.microsoft.com/office/drawing/2014/main" id="{0BD5C1D8-34F5-EA52-E46F-AE6EAE773D81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2560320" y="606114"/>
            <a:ext cx="1844675" cy="338554"/>
          </a:xfrm>
          <a:solidFill>
            <a:srgbClr val="CEB67B"/>
          </a:solidFill>
          <a:ln>
            <a:solidFill>
              <a:srgbClr val="D02138"/>
            </a:solidFill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en-US" altLang="en-US" b="1" dirty="0">
                <a:solidFill>
                  <a:srgbClr val="516993"/>
                </a:solidFill>
              </a:rPr>
              <a:t>Liabilities + Shareholders’ Equity</a:t>
            </a:r>
          </a:p>
        </p:txBody>
      </p:sp>
      <p:sp>
        <p:nvSpPr>
          <p:cNvPr id="23558" name="Content Placeholder 5">
            <a:extLst>
              <a:ext uri="{FF2B5EF4-FFF2-40B4-BE49-F238E27FC236}">
                <a16:creationId xmlns:a16="http://schemas.microsoft.com/office/drawing/2014/main" id="{43A97333-2B34-377F-42A5-E291991E16A3}"/>
              </a:ext>
            </a:extLst>
          </p:cNvPr>
          <p:cNvSpPr>
            <a:spLocks noGrp="1"/>
          </p:cNvSpPr>
          <p:nvPr>
            <p:ph sz="quarter" idx="4294967295"/>
          </p:nvPr>
        </p:nvSpPr>
        <p:spPr>
          <a:xfrm>
            <a:off x="2560320" y="1116013"/>
            <a:ext cx="1948881" cy="1523494"/>
          </a:xfrm>
          <a:solidFill>
            <a:srgbClr val="A0A2A1"/>
          </a:solidFill>
          <a:ln>
            <a:solidFill>
              <a:srgbClr val="00674E"/>
            </a:solidFill>
            <a:miter lim="800000"/>
            <a:headEnd/>
            <a:tailEnd/>
          </a:ln>
        </p:spPr>
        <p:txBody>
          <a:bodyPr/>
          <a:lstStyle/>
          <a:p>
            <a:pPr>
              <a:buClr>
                <a:srgbClr val="003300"/>
              </a:buClr>
            </a:pPr>
            <a:r>
              <a:rPr lang="en-US" altLang="en-US" b="1" dirty="0"/>
              <a:t>Current Liabilities</a:t>
            </a:r>
          </a:p>
          <a:p>
            <a:r>
              <a:rPr lang="en-US" altLang="en-US" dirty="0"/>
              <a:t>   Accounts Payable</a:t>
            </a:r>
          </a:p>
          <a:p>
            <a:r>
              <a:rPr lang="en-US" altLang="en-US" dirty="0"/>
              <a:t>   Accrued Payroll and Benefits</a:t>
            </a:r>
          </a:p>
          <a:p>
            <a:r>
              <a:rPr lang="en-US" altLang="en-US" dirty="0"/>
              <a:t>   Taxes Payable</a:t>
            </a:r>
          </a:p>
          <a:p>
            <a:pPr>
              <a:buClr>
                <a:srgbClr val="003300"/>
              </a:buClr>
            </a:pPr>
            <a:r>
              <a:rPr lang="en-US" altLang="en-US" b="1" dirty="0"/>
              <a:t>Long Term Liabilities</a:t>
            </a:r>
          </a:p>
          <a:p>
            <a:r>
              <a:rPr lang="en-US" altLang="en-US" dirty="0"/>
              <a:t>   Bonds/Loans</a:t>
            </a:r>
          </a:p>
          <a:p>
            <a:pPr>
              <a:buClr>
                <a:srgbClr val="003300"/>
              </a:buClr>
            </a:pPr>
            <a:r>
              <a:rPr lang="en-US" altLang="en-US" b="1" dirty="0"/>
              <a:t>Owners’ Equity</a:t>
            </a:r>
          </a:p>
          <a:p>
            <a:r>
              <a:rPr lang="en-US" altLang="en-US" dirty="0"/>
              <a:t>   Capital Stock</a:t>
            </a:r>
          </a:p>
          <a:p>
            <a:r>
              <a:rPr lang="en-US" altLang="en-US" dirty="0"/>
              <a:t>   Retained Earnings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>
            <a:extLst>
              <a:ext uri="{FF2B5EF4-FFF2-40B4-BE49-F238E27FC236}">
                <a16:creationId xmlns:a16="http://schemas.microsoft.com/office/drawing/2014/main" id="{C774D458-DF18-BFEB-50E2-6CFB7D1729B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76262" y="308927"/>
            <a:ext cx="3572828" cy="215444"/>
          </a:xfrm>
        </p:spPr>
        <p:txBody>
          <a:bodyPr/>
          <a:lstStyle/>
          <a:p>
            <a:r>
              <a:rPr lang="en-US" altLang="en-US"/>
              <a:t>Balance Sheet Take Aways</a:t>
            </a:r>
          </a:p>
        </p:txBody>
      </p:sp>
      <p:sp>
        <p:nvSpPr>
          <p:cNvPr id="24579" name="Content Placeholder 2">
            <a:extLst>
              <a:ext uri="{FF2B5EF4-FFF2-40B4-BE49-F238E27FC236}">
                <a16:creationId xmlns:a16="http://schemas.microsoft.com/office/drawing/2014/main" id="{D9552C09-F659-550B-7157-73C4DA5E9E5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91515" y="846773"/>
            <a:ext cx="3572828" cy="1738938"/>
          </a:xfrm>
        </p:spPr>
        <p:txBody>
          <a:bodyPr/>
          <a:lstStyle/>
          <a:p>
            <a:pPr marL="230520" indent="-230520">
              <a:buFont typeface="55 Helvetica Roman" pitchFamily="64" charset="0"/>
              <a:buAutoNum type="arabicParenR"/>
            </a:pPr>
            <a:r>
              <a:rPr lang="en-US" altLang="en-US"/>
              <a:t>Current vs Fixed Assets</a:t>
            </a:r>
          </a:p>
          <a:p>
            <a:pPr marL="230520" indent="-230520">
              <a:buFont typeface="55 Helvetica Roman" pitchFamily="64" charset="0"/>
              <a:buAutoNum type="arabicParenR"/>
            </a:pPr>
            <a:r>
              <a:rPr lang="en-US" altLang="en-US"/>
              <a:t>Accounts Receivable &amp; Accounts Payable</a:t>
            </a:r>
          </a:p>
          <a:p>
            <a:pPr marL="230520" indent="-230520">
              <a:buFont typeface="55 Helvetica Roman" pitchFamily="64" charset="0"/>
              <a:buAutoNum type="arabicParenR"/>
            </a:pPr>
            <a:r>
              <a:rPr lang="en-US" altLang="en-US"/>
              <a:t>Debt</a:t>
            </a:r>
          </a:p>
          <a:p>
            <a:pPr marL="230520" indent="-230520">
              <a:buFont typeface="55 Helvetica Roman" pitchFamily="64" charset="0"/>
              <a:buAutoNum type="arabicParenR"/>
            </a:pPr>
            <a:r>
              <a:rPr lang="en-US" altLang="en-US"/>
              <a:t>Retained Earnings: Money Available for Potential Future Projects</a:t>
            </a:r>
          </a:p>
          <a:p>
            <a:pPr marL="230520" indent="-230520">
              <a:buFont typeface="55 Helvetica Roman" pitchFamily="64" charset="0"/>
              <a:buAutoNum type="arabicParenR"/>
            </a:pPr>
            <a:r>
              <a:rPr lang="en-US" altLang="en-US">
                <a:solidFill>
                  <a:srgbClr val="FF0000"/>
                </a:solidFill>
              </a:rPr>
              <a:t>We might find the case where the Balance Sheet is ‘unbalanced’… this is how we can establish</a:t>
            </a:r>
          </a:p>
          <a:p>
            <a:pPr marL="432225" lvl="1" indent="-230520">
              <a:buFont typeface="55 Helvetica Roman" pitchFamily="64" charset="0"/>
              <a:buAutoNum type="arabicParenR"/>
            </a:pPr>
            <a:r>
              <a:rPr lang="en-US" altLang="en-US">
                <a:solidFill>
                  <a:srgbClr val="FF0000"/>
                </a:solidFill>
              </a:rPr>
              <a:t>Assets fully deployed</a:t>
            </a:r>
          </a:p>
          <a:p>
            <a:pPr marL="432225" lvl="1" indent="-230520">
              <a:buFont typeface="55 Helvetica Roman" pitchFamily="64" charset="0"/>
              <a:buAutoNum type="arabicParenR"/>
            </a:pPr>
            <a:r>
              <a:rPr lang="en-US" altLang="en-US">
                <a:solidFill>
                  <a:srgbClr val="FF0000"/>
                </a:solidFill>
              </a:rPr>
              <a:t>Additional funds needed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0E6A58-68F0-812C-D267-418574BFD5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439" y="190295"/>
            <a:ext cx="3153410" cy="215444"/>
          </a:xfrm>
        </p:spPr>
        <p:txBody>
          <a:bodyPr/>
          <a:lstStyle/>
          <a:p>
            <a:r>
              <a:rPr lang="en-US" dirty="0"/>
              <a:t>The following slides are for note…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798F50-8B59-4599-5F34-466CB1DF4C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6238" y="572274"/>
            <a:ext cx="4357623" cy="169277"/>
          </a:xfrm>
        </p:spPr>
        <p:txBody>
          <a:bodyPr/>
          <a:lstStyle/>
          <a:p>
            <a:r>
              <a:rPr lang="en-US" dirty="0"/>
              <a:t>We will work with CASH more deeply later in the semester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E6AABF-EE51-337E-5717-340915758675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685"/>
              </a:lnSpc>
            </a:pPr>
            <a:r>
              <a:rPr lang="en-US" spc="-10" dirty="0"/>
              <a:t>ESBM 4570</a:t>
            </a:r>
            <a:endParaRPr lang="en-US" spc="-5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6A3729-D017-DFE1-EF03-D88B00A7A57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ts val="685"/>
              </a:lnSpc>
            </a:pPr>
            <a:r>
              <a:rPr lang="en-US" spc="-35"/>
              <a:t>P</a:t>
            </a:r>
            <a:r>
              <a:rPr lang="en-US" spc="-5"/>
              <a:t>age</a:t>
            </a:r>
            <a:r>
              <a:rPr lang="en-US" spc="-10"/>
              <a:t> </a:t>
            </a:r>
            <a:fld id="{81D60167-4931-47E6-BA6A-407CBD079E47}" type="slidenum">
              <a:rPr spc="-5" smtClean="0"/>
              <a:t>14</a:t>
            </a:fld>
            <a:endParaRPr spc="-5"/>
          </a:p>
        </p:txBody>
      </p:sp>
    </p:spTree>
    <p:extLst>
      <p:ext uri="{BB962C8B-B14F-4D97-AF65-F5344CB8AC3E}">
        <p14:creationId xmlns:p14="http://schemas.microsoft.com/office/powerpoint/2010/main" val="12378706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1">
            <a:extLst>
              <a:ext uri="{FF2B5EF4-FFF2-40B4-BE49-F238E27FC236}">
                <a16:creationId xmlns:a16="http://schemas.microsoft.com/office/drawing/2014/main" id="{BA84F7FA-BBB9-32F9-A201-5072062909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26439" y="190295"/>
            <a:ext cx="3153410" cy="215444"/>
          </a:xfrm>
        </p:spPr>
        <p:txBody>
          <a:bodyPr/>
          <a:lstStyle/>
          <a:p>
            <a:r>
              <a:rPr lang="en-US" altLang="en-US"/>
              <a:t>What is the Statement of Cash Flow</a:t>
            </a:r>
          </a:p>
        </p:txBody>
      </p:sp>
      <p:sp>
        <p:nvSpPr>
          <p:cNvPr id="34819" name="Content Placeholder 2">
            <a:extLst>
              <a:ext uri="{FF2B5EF4-FFF2-40B4-BE49-F238E27FC236}">
                <a16:creationId xmlns:a16="http://schemas.microsoft.com/office/drawing/2014/main" id="{9C82B70F-CA36-E4CD-DA09-FAA472F0B28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42017" y="687400"/>
            <a:ext cx="2196968" cy="1184940"/>
          </a:xfrm>
        </p:spPr>
        <p:txBody>
          <a:bodyPr/>
          <a:lstStyle/>
          <a:p>
            <a:r>
              <a:rPr lang="en-US" altLang="en-US" dirty="0"/>
              <a:t>An Explanation of a Company’s Cash Balance during the period</a:t>
            </a:r>
          </a:p>
          <a:p>
            <a:pPr>
              <a:buFont typeface="55 Helvetica Roman" pitchFamily="64" charset="0"/>
              <a:buAutoNum type="arabicPeriod"/>
            </a:pPr>
            <a:r>
              <a:rPr lang="en-US" altLang="en-US" dirty="0"/>
              <a:t>CASH CASH CASH…. THIS IS THE KEY TO YOUR SUCCESS</a:t>
            </a:r>
          </a:p>
          <a:p>
            <a:pPr>
              <a:buFont typeface="55 Helvetica Roman" pitchFamily="64" charset="0"/>
              <a:buAutoNum type="arabicPeriod"/>
            </a:pPr>
            <a:r>
              <a:rPr lang="en-US" altLang="en-US" dirty="0"/>
              <a:t>Describes the Sources and Uses of Cash</a:t>
            </a:r>
          </a:p>
          <a:p>
            <a:pPr>
              <a:buFont typeface="55 Helvetica Roman" pitchFamily="64" charset="0"/>
              <a:buAutoNum type="arabicPeriod"/>
            </a:pPr>
            <a:r>
              <a:rPr lang="en-US" altLang="en-US" dirty="0"/>
              <a:t>Explains the Large Uses of Cash</a:t>
            </a:r>
          </a:p>
        </p:txBody>
      </p:sp>
      <p:pic>
        <p:nvPicPr>
          <p:cNvPr id="2" name="Content Placeholder 3">
            <a:extLst>
              <a:ext uri="{FF2B5EF4-FFF2-40B4-BE49-F238E27FC236}">
                <a16:creationId xmlns:a16="http://schemas.microsoft.com/office/drawing/2014/main" id="{7E4872B0-650C-4E80-D0E2-AE8E5EC1A4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628" r="28531" b="-3046"/>
          <a:stretch>
            <a:fillRect/>
          </a:stretch>
        </p:blipFill>
        <p:spPr>
          <a:xfrm>
            <a:off x="2825181" y="1729546"/>
            <a:ext cx="1784919" cy="173120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tle 1">
            <a:extLst>
              <a:ext uri="{FF2B5EF4-FFF2-40B4-BE49-F238E27FC236}">
                <a16:creationId xmlns:a16="http://schemas.microsoft.com/office/drawing/2014/main" id="{C8BFFC55-71A5-3B19-967E-B658DEFA249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26439" y="190295"/>
            <a:ext cx="3153410" cy="215444"/>
          </a:xfrm>
        </p:spPr>
        <p:txBody>
          <a:bodyPr/>
          <a:lstStyle/>
          <a:p>
            <a:r>
              <a:rPr lang="en-US" altLang="en-US"/>
              <a:t>3 Primary Sources and Uses of Cash</a:t>
            </a:r>
          </a:p>
        </p:txBody>
      </p:sp>
      <p:sp>
        <p:nvSpPr>
          <p:cNvPr id="35843" name="Content Placeholder 2">
            <a:extLst>
              <a:ext uri="{FF2B5EF4-FFF2-40B4-BE49-F238E27FC236}">
                <a16:creationId xmlns:a16="http://schemas.microsoft.com/office/drawing/2014/main" id="{865F5D16-10AB-42D8-B752-2ED588006FD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56428" y="863974"/>
            <a:ext cx="2196968" cy="1523494"/>
          </a:xfrm>
        </p:spPr>
        <p:txBody>
          <a:bodyPr/>
          <a:lstStyle/>
          <a:p>
            <a:pPr marL="230520" indent="-230520">
              <a:buFont typeface="55 Helvetica Roman" pitchFamily="64" charset="0"/>
              <a:buAutoNum type="arabicPeriod"/>
            </a:pPr>
            <a:r>
              <a:rPr lang="en-US" altLang="en-US" dirty="0"/>
              <a:t>Accounts Receivable – </a:t>
            </a:r>
            <a:r>
              <a:rPr lang="en-US" altLang="en-US" i="1" dirty="0"/>
              <a:t>a SOURCE of cash, we want to MINIMIZE our collection days</a:t>
            </a:r>
            <a:endParaRPr lang="en-US" altLang="en-US" dirty="0"/>
          </a:p>
          <a:p>
            <a:pPr marL="230520" indent="-230520">
              <a:buFont typeface="55 Helvetica Roman" pitchFamily="64" charset="0"/>
              <a:buAutoNum type="arabicPeriod"/>
            </a:pPr>
            <a:r>
              <a:rPr lang="en-US" altLang="en-US" dirty="0"/>
              <a:t>Accounts Payable – </a:t>
            </a:r>
            <a:r>
              <a:rPr lang="en-US" altLang="en-US" i="1" dirty="0"/>
              <a:t>a USE of cash, we want to MAXIMIZE our days to payment</a:t>
            </a:r>
            <a:endParaRPr lang="en-US" altLang="en-US" dirty="0"/>
          </a:p>
          <a:p>
            <a:pPr marL="230520" indent="-230520">
              <a:buFont typeface="55 Helvetica Roman" pitchFamily="64" charset="0"/>
              <a:buAutoNum type="arabicPeriod"/>
            </a:pPr>
            <a:r>
              <a:rPr lang="en-US" altLang="en-US" dirty="0"/>
              <a:t>Inventory -- </a:t>
            </a:r>
            <a:r>
              <a:rPr lang="en-US" altLang="en-US" i="1" dirty="0"/>
              <a:t> an inflexible Current Asset.  Ties up Cash.  Turnover rate matters!</a:t>
            </a:r>
            <a:endParaRPr lang="en-US" alt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1">
            <a:extLst>
              <a:ext uri="{FF2B5EF4-FFF2-40B4-BE49-F238E27FC236}">
                <a16:creationId xmlns:a16="http://schemas.microsoft.com/office/drawing/2014/main" id="{23CA7285-DF49-7E54-0018-0FEB71491B9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26439" y="190295"/>
            <a:ext cx="3153410" cy="215444"/>
          </a:xfrm>
        </p:spPr>
        <p:txBody>
          <a:bodyPr/>
          <a:lstStyle/>
          <a:p>
            <a:r>
              <a:rPr lang="en-US" altLang="en-US"/>
              <a:t>3 Primary Large uses of cash</a:t>
            </a:r>
          </a:p>
        </p:txBody>
      </p:sp>
      <p:sp>
        <p:nvSpPr>
          <p:cNvPr id="36867" name="Content Placeholder 2">
            <a:extLst>
              <a:ext uri="{FF2B5EF4-FFF2-40B4-BE49-F238E27FC236}">
                <a16:creationId xmlns:a16="http://schemas.microsoft.com/office/drawing/2014/main" id="{5CDFE5F4-5B28-4227-A9A6-F6CE0A5C472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93365" y="870280"/>
            <a:ext cx="3153409" cy="1354217"/>
          </a:xfrm>
        </p:spPr>
        <p:txBody>
          <a:bodyPr/>
          <a:lstStyle/>
          <a:p>
            <a:pPr marL="230520" indent="-230520">
              <a:buFont typeface="55 Helvetica Roman" pitchFamily="64" charset="0"/>
              <a:buAutoNum type="arabicPeriod"/>
            </a:pPr>
            <a:r>
              <a:rPr lang="en-US" altLang="en-US" dirty="0"/>
              <a:t>Capital Investment -- Equipment</a:t>
            </a:r>
          </a:p>
          <a:p>
            <a:pPr marL="230520" indent="-230520">
              <a:buFont typeface="55 Helvetica Roman" pitchFamily="64" charset="0"/>
              <a:buAutoNum type="arabicPeriod"/>
            </a:pPr>
            <a:r>
              <a:rPr lang="en-US" altLang="en-US" dirty="0"/>
              <a:t>Financing Operations – Especially start-up, after an expansion, or possibly a marketing effort</a:t>
            </a:r>
          </a:p>
          <a:p>
            <a:pPr marL="230520" indent="-230520">
              <a:buFont typeface="55 Helvetica Roman" pitchFamily="64" charset="0"/>
              <a:buAutoNum type="arabicPeriod"/>
            </a:pPr>
            <a:r>
              <a:rPr lang="en-US" altLang="en-US" b="1" dirty="0">
                <a:solidFill>
                  <a:srgbClr val="FF0000"/>
                </a:solidFill>
              </a:rPr>
              <a:t>Growth</a:t>
            </a:r>
            <a:r>
              <a:rPr lang="en-US" altLang="en-US" dirty="0"/>
              <a:t> – new hire, larger space, additional space, R&amp;D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117</TotalTime>
  <Words>640</Words>
  <Application>Microsoft Macintosh PowerPoint</Application>
  <PresentationFormat>Custom</PresentationFormat>
  <Paragraphs>136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55 Helvetica Roman</vt:lpstr>
      <vt:lpstr>Arial</vt:lpstr>
      <vt:lpstr>Calibri</vt:lpstr>
      <vt:lpstr>Courier New</vt:lpstr>
      <vt:lpstr>Garamond</vt:lpstr>
      <vt:lpstr>Rockwell</vt:lpstr>
      <vt:lpstr>Wingdings</vt:lpstr>
      <vt:lpstr>Office Theme</vt:lpstr>
      <vt:lpstr>Financial Statements REVIEW</vt:lpstr>
      <vt:lpstr>Why Understand Financial Statements</vt:lpstr>
      <vt:lpstr>Financial Statements and  Entrepreneurial Finance</vt:lpstr>
      <vt:lpstr>What is Included in the Financial Statements?</vt:lpstr>
      <vt:lpstr>PowerPoint Presentation</vt:lpstr>
      <vt:lpstr>The Income Statement</vt:lpstr>
      <vt:lpstr>Income Statement:  All Profits are NOT Created Equal</vt:lpstr>
      <vt:lpstr>Income Statement Take Aways</vt:lpstr>
      <vt:lpstr>Next, the BALANCE SHEET….</vt:lpstr>
      <vt:lpstr>The BALANCE SHEET summarizes a company’s financial position at a SPECIFIC POINT IN TIME</vt:lpstr>
      <vt:lpstr>As we begin our dive into the Balance Sheet, we see there are key sub-titles…</vt:lpstr>
      <vt:lpstr>The Balance Sheet</vt:lpstr>
      <vt:lpstr>Balance Sheet Take Aways</vt:lpstr>
      <vt:lpstr>The following slides are for note…</vt:lpstr>
      <vt:lpstr>What is the Statement of Cash Flow</vt:lpstr>
      <vt:lpstr>3 Primary Sources and Uses of Cash</vt:lpstr>
      <vt:lpstr>3 Primary Large uses of cash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Entrepreneurial Finance  Lesson 1</dc:title>
  <dc:creator>Shaun Davies, CU-Boulder</dc:creator>
  <cp:lastModifiedBy>Ellen Burnes</cp:lastModifiedBy>
  <cp:revision>7</cp:revision>
  <dcterms:created xsi:type="dcterms:W3CDTF">2022-01-05T04:34:10Z</dcterms:created>
  <dcterms:modified xsi:type="dcterms:W3CDTF">2025-09-09T21:10:56Z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2017-02-19T00:00:00Z</vt:filetime>
  </property>
  <property fmtid="{D5CDD505-2E9C-101B-9397-08002B2CF9AE}" pid="3" name="Creator">
    <vt:lpwstr>LaTeX with Beamer class version 3.27</vt:lpwstr>
  </property>
  <property fmtid="{D5CDD505-2E9C-101B-9397-08002B2CF9AE}" pid="4" name="LastSaved">
    <vt:filetime>2022-01-05T00:00:00Z</vt:filetime>
  </property>
</Properties>
</file>