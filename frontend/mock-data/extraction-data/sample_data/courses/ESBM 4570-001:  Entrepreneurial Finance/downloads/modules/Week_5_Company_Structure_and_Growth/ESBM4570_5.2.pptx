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407" r:id="rId3"/>
    <p:sldId id="408" r:id="rId4"/>
    <p:sldId id="409" r:id="rId5"/>
    <p:sldId id="410" r:id="rId6"/>
    <p:sldId id="423" r:id="rId7"/>
    <p:sldId id="424" r:id="rId8"/>
    <p:sldId id="425" r:id="rId9"/>
    <p:sldId id="417" r:id="rId10"/>
    <p:sldId id="422" r:id="rId11"/>
    <p:sldId id="418" r:id="rId12"/>
    <p:sldId id="419" r:id="rId13"/>
    <p:sldId id="420" r:id="rId14"/>
    <p:sldId id="421" r:id="rId15"/>
    <p:sldId id="416" r:id="rId16"/>
  </p:sldIdLst>
  <p:sldSz cx="4610100" cy="346075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67B"/>
    <a:srgbClr val="2640B7"/>
    <a:srgbClr val="FEFEFE"/>
    <a:srgbClr val="DAD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4"/>
    <p:restoredTop sz="94110"/>
  </p:normalViewPr>
  <p:slideViewPr>
    <p:cSldViewPr>
      <p:cViewPr varScale="1">
        <p:scale>
          <a:sx n="108" d="100"/>
          <a:sy n="108" d="100"/>
        </p:scale>
        <p:origin x="130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694BBBE7-8787-4E5F-8AEA-908716CB9139}"/>
    <pc:docChg chg="modSld">
      <pc:chgData name="Ellen Burnes" userId="ca3eeb36-3cf7-49b7-874f-4993e3c98b53" providerId="ADAL" clId="{694BBBE7-8787-4E5F-8AEA-908716CB9139}" dt="2025-09-17T17:59:30.976" v="7" actId="20577"/>
      <pc:docMkLst>
        <pc:docMk/>
      </pc:docMkLst>
      <pc:sldChg chg="modSp mod">
        <pc:chgData name="Ellen Burnes" userId="ca3eeb36-3cf7-49b7-874f-4993e3c98b53" providerId="ADAL" clId="{694BBBE7-8787-4E5F-8AEA-908716CB9139}" dt="2025-09-17T17:59:30.976" v="7" actId="20577"/>
        <pc:sldMkLst>
          <pc:docMk/>
          <pc:sldMk cId="0" sldId="256"/>
        </pc:sldMkLst>
        <pc:spChg chg="mod">
          <ac:chgData name="Ellen Burnes" userId="ca3eeb36-3cf7-49b7-874f-4993e3c98b53" providerId="ADAL" clId="{694BBBE7-8787-4E5F-8AEA-908716CB9139}" dt="2025-09-17T17:59:30.976" v="7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9A37-F57B-F441-8FBD-4AEC1EB171A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1173163"/>
            <a:ext cx="42195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FA299-5294-AD47-8ACD-E81D24A76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89" y="3064475"/>
            <a:ext cx="343535" cy="101600"/>
          </a:xfr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4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07481" y="3033934"/>
            <a:ext cx="34353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https://www.bcorporation.net/en-us/certification/:/www.bcorporation.net/en-us/certificatio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281820" cy="150368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>
                <a:solidFill>
                  <a:srgbClr val="000000"/>
                </a:solidFill>
                <a:latin typeface="Garamond" panose="02020404030301010803" pitchFamily="18" charset="0"/>
              </a:rPr>
              <a:t>ESBM 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4570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Company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Formation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and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IP Protection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87994" y="2018113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B7ED-A3E4-7F59-E8B0-502F7928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Company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E0E2A-8AAD-3AB8-0F67-A5F79719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523494"/>
          </a:xfrm>
        </p:spPr>
        <p:txBody>
          <a:bodyPr/>
          <a:lstStyle/>
          <a:p>
            <a:r>
              <a:rPr lang="en-US" dirty="0"/>
              <a:t>Why is it Important</a:t>
            </a:r>
          </a:p>
          <a:p>
            <a:endParaRPr lang="en-US" dirty="0"/>
          </a:p>
          <a:p>
            <a:r>
              <a:rPr lang="en-US" dirty="0"/>
              <a:t>What are your choices?</a:t>
            </a:r>
          </a:p>
          <a:p>
            <a:endParaRPr lang="en-US" dirty="0"/>
          </a:p>
          <a:p>
            <a:r>
              <a:rPr lang="en-US" dirty="0"/>
              <a:t>Where should you make investments/use CASH – for different structures/business goals</a:t>
            </a:r>
          </a:p>
          <a:p>
            <a:endParaRPr lang="en-US" dirty="0"/>
          </a:p>
          <a:p>
            <a:r>
              <a:rPr lang="en-US" dirty="0"/>
              <a:t>Where can/should you use SAVE CASH for different structures/business goals?</a:t>
            </a:r>
          </a:p>
        </p:txBody>
      </p:sp>
    </p:spTree>
    <p:extLst>
      <p:ext uri="{BB962C8B-B14F-4D97-AF65-F5344CB8AC3E}">
        <p14:creationId xmlns:p14="http://schemas.microsoft.com/office/powerpoint/2010/main" val="187746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1C55-9E12-12A3-3928-D4DA6DF9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Concepts to Keep in Mind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2E549-33BA-E197-D3F5-A352891A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00602"/>
          </a:xfrm>
        </p:spPr>
        <p:txBody>
          <a:bodyPr/>
          <a:lstStyle/>
          <a:p>
            <a:r>
              <a:rPr lang="en-US" dirty="0"/>
              <a:t>Risk</a:t>
            </a:r>
          </a:p>
          <a:p>
            <a:endParaRPr lang="en-US" dirty="0"/>
          </a:p>
          <a:p>
            <a:r>
              <a:rPr lang="en-US" dirty="0"/>
              <a:t>Costs</a:t>
            </a:r>
          </a:p>
          <a:p>
            <a:endParaRPr lang="en-US" dirty="0"/>
          </a:p>
          <a:p>
            <a:r>
              <a:rPr lang="en-US" dirty="0"/>
              <a:t>Growth</a:t>
            </a:r>
          </a:p>
          <a:p>
            <a:endParaRPr lang="en-US" dirty="0"/>
          </a:p>
          <a:p>
            <a:r>
              <a:rPr lang="en-US" dirty="0"/>
              <a:t>Access to Capital</a:t>
            </a:r>
          </a:p>
          <a:p>
            <a:endParaRPr lang="en-US" dirty="0"/>
          </a:p>
          <a:p>
            <a:r>
              <a:rPr lang="en-US" dirty="0"/>
              <a:t>Exit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79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B96A-288D-9A22-8E9C-84BBB771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By the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E4B87-6BAB-17C6-1791-991DFD369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3E70EF-10F6-120C-9F04-5DB04FE3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604871"/>
              </p:ext>
            </p:extLst>
          </p:nvPr>
        </p:nvGraphicFramePr>
        <p:xfrm>
          <a:off x="171449" y="616446"/>
          <a:ext cx="4267200" cy="20483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10478343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9038748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72837073"/>
                    </a:ext>
                  </a:extLst>
                </a:gridCol>
              </a:tblGrid>
              <a:tr h="471238">
                <a:tc>
                  <a:txBody>
                    <a:bodyPr/>
                    <a:lstStyle/>
                    <a:p>
                      <a:r>
                        <a:rPr lang="en-US" sz="1100" dirty="0"/>
                        <a:t>Formation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Number in US</a:t>
                      </a:r>
                    </a:p>
                    <a:p>
                      <a:r>
                        <a:rPr lang="en-US" sz="1100" b="0" dirty="0"/>
                        <a:t>(2020-2023)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Employment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6454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/>
                        <a:t>Sole Proprietorships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~28.4M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 28.4M*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68314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dirty="0"/>
                        <a:t>LLCs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 21.6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 32M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179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dirty="0" err="1"/>
                        <a:t>SCorps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 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7046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100" dirty="0"/>
                        <a:t>C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 55M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433595"/>
                  </a:ext>
                </a:extLst>
              </a:tr>
              <a:tr h="434140">
                <a:tc>
                  <a:txBody>
                    <a:bodyPr/>
                    <a:lstStyle/>
                    <a:p>
                      <a:r>
                        <a:rPr lang="en-US" sz="1100" dirty="0"/>
                        <a:t>Publicly Traded (must be C Corp)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~6300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813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A2EDAC-85DF-6ED9-CD1B-DBDD9358BFCB}"/>
              </a:ext>
            </a:extLst>
          </p:cNvPr>
          <p:cNvSpPr txBox="1"/>
          <p:nvPr/>
        </p:nvSpPr>
        <p:spPr>
          <a:xfrm>
            <a:off x="0" y="3155039"/>
            <a:ext cx="343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Note these may double count employment because people can have </a:t>
            </a:r>
          </a:p>
          <a:p>
            <a:r>
              <a:rPr lang="en-US" sz="900" dirty="0"/>
              <a:t>“sole proprietorship” on the side</a:t>
            </a:r>
          </a:p>
        </p:txBody>
      </p:sp>
    </p:spTree>
    <p:extLst>
      <p:ext uri="{BB962C8B-B14F-4D97-AF65-F5344CB8AC3E}">
        <p14:creationId xmlns:p14="http://schemas.microsoft.com/office/powerpoint/2010/main" val="413456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9F76-04F4-74EE-28BF-E577B0AC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90295"/>
            <a:ext cx="4495800" cy="430887"/>
          </a:xfrm>
        </p:spPr>
        <p:txBody>
          <a:bodyPr/>
          <a:lstStyle/>
          <a:p>
            <a:r>
              <a:rPr lang="en-US" dirty="0"/>
              <a:t>Let’s Take a High Level Look at Formation Structures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D9765-9673-BA19-4197-BF3BD047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621182"/>
            <a:ext cx="3219450" cy="2307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19080-65E5-8D52-B75A-79855DDC94D0}"/>
              </a:ext>
            </a:extLst>
          </p:cNvPr>
          <p:cNvSpPr txBox="1"/>
          <p:nvPr/>
        </p:nvSpPr>
        <p:spPr>
          <a:xfrm>
            <a:off x="285750" y="3051946"/>
            <a:ext cx="4038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**Please see Figure 3.2 in Book, it is a good summary</a:t>
            </a:r>
          </a:p>
        </p:txBody>
      </p:sp>
    </p:spTree>
    <p:extLst>
      <p:ext uri="{BB962C8B-B14F-4D97-AF65-F5344CB8AC3E}">
        <p14:creationId xmlns:p14="http://schemas.microsoft.com/office/powerpoint/2010/main" val="328480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C4EB-11E1-062C-600C-2ABE5FB0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B Corps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341EF-B13A-0957-502A-CDE1B5005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539157"/>
          </a:xfrm>
        </p:spPr>
        <p:txBody>
          <a:bodyPr/>
          <a:lstStyle/>
          <a:p>
            <a:r>
              <a:rPr lang="en-US" dirty="0"/>
              <a:t>This is a certification and a demonstration of values, NOT a recognized legal formation.</a:t>
            </a:r>
          </a:p>
          <a:p>
            <a:endParaRPr lang="en-US" dirty="0"/>
          </a:p>
          <a:p>
            <a:r>
              <a:rPr lang="en-US" b="1" dirty="0" err="1"/>
              <a:t>Bcorps</a:t>
            </a:r>
            <a:r>
              <a:rPr lang="en-US" dirty="0"/>
              <a:t>*</a:t>
            </a:r>
          </a:p>
          <a:p>
            <a:r>
              <a:rPr lang="en-US" dirty="0"/>
              <a:t>Demonstrate </a:t>
            </a:r>
            <a:r>
              <a:rPr lang="en-US" b="1" dirty="0"/>
              <a:t>high</a:t>
            </a:r>
            <a:r>
              <a:rPr lang="en-US" dirty="0"/>
              <a:t> </a:t>
            </a:r>
            <a:r>
              <a:rPr lang="en-US" b="1" dirty="0"/>
              <a:t>social and environmental</a:t>
            </a:r>
            <a:r>
              <a:rPr lang="en-US" dirty="0"/>
              <a:t> </a:t>
            </a:r>
            <a:r>
              <a:rPr lang="en-US" b="1" dirty="0"/>
              <a:t>performance </a:t>
            </a:r>
            <a:r>
              <a:rPr lang="en-US" dirty="0"/>
              <a:t>by achieving a B Impact Assessment score of 80 or above and passing our risk review. Multinational corporations must also meet baseline requirement standards. </a:t>
            </a:r>
          </a:p>
          <a:p>
            <a:r>
              <a:rPr lang="en-US" dirty="0"/>
              <a:t>Make a </a:t>
            </a:r>
            <a:r>
              <a:rPr lang="en-US" b="1" dirty="0"/>
              <a:t>legal commitment</a:t>
            </a:r>
            <a:r>
              <a:rPr lang="en-US" dirty="0"/>
              <a:t> by changing their corporate governance structure to be accountable to all stakeholders, not just shareholders, and achieve benefit corporation status if available in their jurisdiction. </a:t>
            </a:r>
          </a:p>
          <a:p>
            <a:r>
              <a:rPr lang="en-US" dirty="0"/>
              <a:t>Exhibit </a:t>
            </a:r>
            <a:r>
              <a:rPr lang="en-US" b="1" dirty="0"/>
              <a:t>transparency </a:t>
            </a:r>
            <a:r>
              <a:rPr lang="en-US" dirty="0"/>
              <a:t>by allowing information about their performance measured against B Lab’s standards to be publicly available on their B Corp profile on B Lab’s website.  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610F6-E537-2765-F2B9-37C257ED6F9E}"/>
              </a:ext>
            </a:extLst>
          </p:cNvPr>
          <p:cNvSpPr txBox="1"/>
          <p:nvPr/>
        </p:nvSpPr>
        <p:spPr>
          <a:xfrm>
            <a:off x="120357" y="3161115"/>
            <a:ext cx="10647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*source </a:t>
            </a:r>
            <a:r>
              <a:rPr lang="en-US" sz="1050" dirty="0" err="1">
                <a:hlinkClick r:id="rId2"/>
              </a:rPr>
              <a:t>BCorps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482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4202-2527-1429-C473-A8D972A9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Public Benefit Corporations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3F91A-84E3-9D47-B418-414ED4BA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862048"/>
          </a:xfrm>
        </p:spPr>
        <p:txBody>
          <a:bodyPr/>
          <a:lstStyle/>
          <a:p>
            <a:r>
              <a:rPr lang="en-US" dirty="0"/>
              <a:t>Moves from Shareholder Value maximization to including Stakeholders and/or Specific public benefit in Charter.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must choose your Corporate Formation and THEN you may choose PBC – identify a public benefit purpose.</a:t>
            </a:r>
          </a:p>
          <a:p>
            <a:endParaRPr lang="en-US" dirty="0"/>
          </a:p>
          <a:p>
            <a:r>
              <a:rPr lang="en-US" dirty="0"/>
              <a:t>There are still reporting requirements. This puts level of accountability/transparency in place.</a:t>
            </a:r>
          </a:p>
          <a:p>
            <a:endParaRPr lang="en-US" dirty="0"/>
          </a:p>
          <a:p>
            <a:r>
              <a:rPr lang="en-US" dirty="0"/>
              <a:t>Examples of PBCs</a:t>
            </a:r>
          </a:p>
        </p:txBody>
      </p:sp>
    </p:spTree>
    <p:extLst>
      <p:ext uri="{BB962C8B-B14F-4D97-AF65-F5344CB8AC3E}">
        <p14:creationId xmlns:p14="http://schemas.microsoft.com/office/powerpoint/2010/main" val="2279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36F2-5B9D-FEC1-AB96-3AE5969F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Non Profit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A59C6-6F83-C230-A914-3FB8C5452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354217"/>
          </a:xfrm>
        </p:spPr>
        <p:txBody>
          <a:bodyPr/>
          <a:lstStyle/>
          <a:p>
            <a:r>
              <a:rPr lang="en-US" dirty="0"/>
              <a:t>Non Profits are “501c3</a:t>
            </a:r>
          </a:p>
          <a:p>
            <a:r>
              <a:rPr lang="en-US" dirty="0"/>
              <a:t>This is a TAX STATUS, not a profit mandate</a:t>
            </a:r>
          </a:p>
          <a:p>
            <a:endParaRPr lang="en-US" dirty="0"/>
          </a:p>
          <a:p>
            <a:r>
              <a:rPr lang="en-US" dirty="0"/>
              <a:t>Non Profits do NOT pay taxes on income</a:t>
            </a:r>
          </a:p>
          <a:p>
            <a:r>
              <a:rPr lang="en-US" dirty="0"/>
              <a:t>AND, there is generally favorable tax treatment for ‘donors’</a:t>
            </a:r>
          </a:p>
          <a:p>
            <a:endParaRPr lang="en-US" dirty="0"/>
          </a:p>
          <a:p>
            <a:r>
              <a:rPr lang="en-US" dirty="0"/>
              <a:t>High reporting requirements</a:t>
            </a:r>
          </a:p>
          <a:p>
            <a:r>
              <a:rPr lang="en-US" dirty="0"/>
              <a:t>Annual audit</a:t>
            </a:r>
          </a:p>
        </p:txBody>
      </p:sp>
    </p:spTree>
    <p:extLst>
      <p:ext uri="{BB962C8B-B14F-4D97-AF65-F5344CB8AC3E}">
        <p14:creationId xmlns:p14="http://schemas.microsoft.com/office/powerpoint/2010/main" val="223915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F573-9F7C-AD9C-A011-EF5169758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1044575"/>
            <a:ext cx="2504948" cy="215444"/>
          </a:xfrm>
        </p:spPr>
        <p:txBody>
          <a:bodyPr/>
          <a:lstStyle/>
          <a:p>
            <a:pPr algn="ctr"/>
            <a:r>
              <a:rPr lang="en-US" dirty="0"/>
              <a:t>IP Protection</a:t>
            </a:r>
          </a:p>
        </p:txBody>
      </p:sp>
    </p:spTree>
    <p:extLst>
      <p:ext uri="{BB962C8B-B14F-4D97-AF65-F5344CB8AC3E}">
        <p14:creationId xmlns:p14="http://schemas.microsoft.com/office/powerpoint/2010/main" val="302015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A810-DF50-25C0-7BAD-4A1850BE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Why talk about IP protection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E74C8-F351-695B-06E1-D3C3B1D39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677108"/>
          </a:xfrm>
        </p:spPr>
        <p:txBody>
          <a:bodyPr/>
          <a:lstStyle/>
          <a:p>
            <a:r>
              <a:rPr lang="en-US" dirty="0"/>
              <a:t>Intellectual Property (IP) is one of the “moats” that a company develops to protect its market space.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80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22A4-3E22-AB76-C830-79E40250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502E-30AF-0271-027E-CAFBE2A93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677108"/>
          </a:xfrm>
        </p:spPr>
        <p:txBody>
          <a:bodyPr/>
          <a:lstStyle/>
          <a:p>
            <a:r>
              <a:rPr lang="en-US" dirty="0"/>
              <a:t>Patents</a:t>
            </a:r>
          </a:p>
          <a:p>
            <a:r>
              <a:rPr lang="en-US" dirty="0"/>
              <a:t>Trade secrets</a:t>
            </a:r>
          </a:p>
          <a:p>
            <a:r>
              <a:rPr lang="en-US" dirty="0"/>
              <a:t>Trademarks</a:t>
            </a:r>
          </a:p>
          <a:p>
            <a:r>
              <a:rPr lang="en-US" dirty="0"/>
              <a:t>Copyrights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07E7FA-D3AF-7088-B47F-EA5BB5405470}"/>
              </a:ext>
            </a:extLst>
          </p:cNvPr>
          <p:cNvSpPr txBox="1">
            <a:spLocks/>
          </p:cNvSpPr>
          <p:nvPr/>
        </p:nvSpPr>
        <p:spPr>
          <a:xfrm>
            <a:off x="933450" y="1806575"/>
            <a:ext cx="250494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SHOULD YOU?</a:t>
            </a:r>
          </a:p>
        </p:txBody>
      </p:sp>
    </p:spTree>
    <p:extLst>
      <p:ext uri="{BB962C8B-B14F-4D97-AF65-F5344CB8AC3E}">
        <p14:creationId xmlns:p14="http://schemas.microsoft.com/office/powerpoint/2010/main" val="250222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6038-F57D-D6BE-84EB-A037A9CF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Patent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121C9-3C77-A719-F403-75E6ECC0E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00602"/>
          </a:xfrm>
        </p:spPr>
        <p:txBody>
          <a:bodyPr/>
          <a:lstStyle/>
          <a:p>
            <a:r>
              <a:rPr lang="en-US" dirty="0"/>
              <a:t>Yes. Can protect IP.</a:t>
            </a:r>
          </a:p>
          <a:p>
            <a:endParaRPr lang="en-US" dirty="0"/>
          </a:p>
          <a:p>
            <a:r>
              <a:rPr lang="en-US" dirty="0"/>
              <a:t>Expensive.</a:t>
            </a:r>
          </a:p>
          <a:p>
            <a:r>
              <a:rPr lang="en-US" dirty="0"/>
              <a:t>Takes time and money.</a:t>
            </a:r>
          </a:p>
          <a:p>
            <a:r>
              <a:rPr lang="en-US" dirty="0"/>
              <a:t>Time limited in protection.</a:t>
            </a:r>
          </a:p>
          <a:p>
            <a:r>
              <a:rPr lang="en-US" dirty="0"/>
              <a:t>Protection is on you.</a:t>
            </a:r>
          </a:p>
          <a:p>
            <a:endParaRPr lang="en-US" dirty="0"/>
          </a:p>
          <a:p>
            <a:r>
              <a:rPr lang="en-US" dirty="0"/>
              <a:t>**</a:t>
            </a:r>
            <a:r>
              <a:rPr lang="en-US" b="1" i="1" dirty="0"/>
              <a:t>Be careful where patent held/by whom in organization.</a:t>
            </a:r>
          </a:p>
          <a:p>
            <a:endParaRPr lang="en-US" b="1" i="1" dirty="0"/>
          </a:p>
          <a:p>
            <a:r>
              <a:rPr lang="en-US" dirty="0"/>
              <a:t>For reference –</a:t>
            </a:r>
          </a:p>
          <a:p>
            <a:r>
              <a:rPr lang="en-US" dirty="0"/>
              <a:t>There are ~ 114 million patent records</a:t>
            </a:r>
          </a:p>
          <a:p>
            <a:endParaRPr lang="en-US" dirty="0"/>
          </a:p>
          <a:p>
            <a:r>
              <a:rPr lang="en-US" dirty="0"/>
              <a:t>Since 2015, there have been ~6 million applications filed</a:t>
            </a:r>
          </a:p>
        </p:txBody>
      </p:sp>
    </p:spTree>
    <p:extLst>
      <p:ext uri="{BB962C8B-B14F-4D97-AF65-F5344CB8AC3E}">
        <p14:creationId xmlns:p14="http://schemas.microsoft.com/office/powerpoint/2010/main" val="163372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E56C-797C-8184-33A3-C5170B4F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Trade Secret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77D2C-0E9C-8A43-4C4E-0936D7A5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523494"/>
          </a:xfrm>
        </p:spPr>
        <p:txBody>
          <a:bodyPr/>
          <a:lstStyle/>
          <a:p>
            <a:r>
              <a:rPr lang="en-US" dirty="0"/>
              <a:t>Heinz Tomato Ketchup</a:t>
            </a:r>
          </a:p>
          <a:p>
            <a:endParaRPr lang="en-US" dirty="0"/>
          </a:p>
          <a:p>
            <a:r>
              <a:rPr lang="en-US" dirty="0"/>
              <a:t>Dr Pepper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CONFIDENTIAL INFORMATION</a:t>
            </a:r>
            <a:r>
              <a:rPr lang="en-US" dirty="0"/>
              <a:t>, for which you must demonstrate that you have put effort into protecting.</a:t>
            </a:r>
          </a:p>
          <a:p>
            <a:endParaRPr lang="en-US" dirty="0"/>
          </a:p>
          <a:p>
            <a:r>
              <a:rPr lang="en-US" dirty="0"/>
              <a:t>Low cost to file, costs are for protection and enforcement.</a:t>
            </a:r>
          </a:p>
        </p:txBody>
      </p:sp>
    </p:spTree>
    <p:extLst>
      <p:ext uri="{BB962C8B-B14F-4D97-AF65-F5344CB8AC3E}">
        <p14:creationId xmlns:p14="http://schemas.microsoft.com/office/powerpoint/2010/main" val="1548434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DA0B-9DE0-1EDA-BF53-0F7B2E9A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Trademark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3D4F-015C-D8F6-7D0C-BACB4E99B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507831"/>
          </a:xfrm>
        </p:spPr>
        <p:txBody>
          <a:bodyPr/>
          <a:lstStyle/>
          <a:p>
            <a:r>
              <a:rPr lang="en-US" dirty="0"/>
              <a:t>Filing less expensive (~$600-$800), unless you need legal assistance</a:t>
            </a:r>
          </a:p>
          <a:p>
            <a:endParaRPr lang="en-US" dirty="0"/>
          </a:p>
          <a:p>
            <a:r>
              <a:rPr lang="en-US" dirty="0"/>
              <a:t>Costs come from monitoring, protection and renewal</a:t>
            </a:r>
          </a:p>
        </p:txBody>
      </p:sp>
    </p:spTree>
    <p:extLst>
      <p:ext uri="{BB962C8B-B14F-4D97-AF65-F5344CB8AC3E}">
        <p14:creationId xmlns:p14="http://schemas.microsoft.com/office/powerpoint/2010/main" val="1084104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E5B62E-5730-7213-5E5D-07FEA75A0F14}"/>
              </a:ext>
            </a:extLst>
          </p:cNvPr>
          <p:cNvSpPr txBox="1">
            <a:spLocks/>
          </p:cNvSpPr>
          <p:nvPr/>
        </p:nvSpPr>
        <p:spPr>
          <a:xfrm>
            <a:off x="1238250" y="171826"/>
            <a:ext cx="250494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Next week: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2171FB-4BDE-B797-2990-F3221E0CF1CE}"/>
              </a:ext>
            </a:extLst>
          </p:cNvPr>
          <p:cNvSpPr txBox="1">
            <a:spLocks/>
          </p:cNvSpPr>
          <p:nvPr/>
        </p:nvSpPr>
        <p:spPr>
          <a:xfrm>
            <a:off x="119571" y="497130"/>
            <a:ext cx="4342383" cy="1523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/>
              <a:t>The case is Financing Operations and Growth</a:t>
            </a:r>
          </a:p>
          <a:p>
            <a:r>
              <a:rPr lang="en-US" kern="0" dirty="0"/>
              <a:t>The majority of our time will be spent on the path and choices made by Amalgamated Furniture and eBay in their business formation and development.</a:t>
            </a:r>
          </a:p>
          <a:p>
            <a:endParaRPr lang="en-US" kern="0" dirty="0"/>
          </a:p>
          <a:p>
            <a:r>
              <a:rPr lang="en-US" kern="0" dirty="0"/>
              <a:t>Focus on Cash, Business Formation, and Operational Priorities</a:t>
            </a:r>
          </a:p>
          <a:p>
            <a:endParaRPr lang="en-US" kern="0" dirty="0"/>
          </a:p>
          <a:p>
            <a:r>
              <a:rPr lang="en-US" kern="0" dirty="0"/>
              <a:t>Following the discussion, we will continue with Chapter 5, evaluating operational and financial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0050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7045</TotalTime>
  <Words>599</Words>
  <Application>Microsoft Office PowerPoint</Application>
  <PresentationFormat>Custom</PresentationFormat>
  <Paragraphs>120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Rockwell</vt:lpstr>
      <vt:lpstr>Office Theme</vt:lpstr>
      <vt:lpstr>ESBM 4570 Company Formation and IP Protection</vt:lpstr>
      <vt:lpstr>Company Structure</vt:lpstr>
      <vt:lpstr>Concepts to Keep in Mind</vt:lpstr>
      <vt:lpstr>By the numbers</vt:lpstr>
      <vt:lpstr>Let’s Take a High Level Look at Formation Structures </vt:lpstr>
      <vt:lpstr>B Corps</vt:lpstr>
      <vt:lpstr>Public Benefit Corporations</vt:lpstr>
      <vt:lpstr>Non Profit</vt:lpstr>
      <vt:lpstr>IP Protection</vt:lpstr>
      <vt:lpstr>Why talk about IP protection</vt:lpstr>
      <vt:lpstr>CAN</vt:lpstr>
      <vt:lpstr>Patent</vt:lpstr>
      <vt:lpstr>Trade Secret</vt:lpstr>
      <vt:lpstr>Trademark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3</dc:title>
  <dc:creator>Shaun Davies, CU-Boulder</dc:creator>
  <cp:lastModifiedBy>Ellen Burnes</cp:lastModifiedBy>
  <cp:revision>24</cp:revision>
  <cp:lastPrinted>2022-02-03T05:39:17Z</cp:lastPrinted>
  <dcterms:created xsi:type="dcterms:W3CDTF">2022-01-05T04:34:45Z</dcterms:created>
  <dcterms:modified xsi:type="dcterms:W3CDTF">2025-09-17T17:59:33Z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