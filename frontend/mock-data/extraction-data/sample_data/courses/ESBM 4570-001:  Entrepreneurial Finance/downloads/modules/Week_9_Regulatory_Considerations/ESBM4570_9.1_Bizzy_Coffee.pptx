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1449" r:id="rId2"/>
    <p:sldId id="257" r:id="rId3"/>
    <p:sldId id="258" r:id="rId4"/>
    <p:sldId id="259" r:id="rId5"/>
    <p:sldId id="260" r:id="rId6"/>
    <p:sldId id="261" r:id="rId7"/>
    <p:sldId id="1450" r:id="rId8"/>
    <p:sldId id="266" r:id="rId9"/>
    <p:sldId id="262" r:id="rId10"/>
    <p:sldId id="263" r:id="rId11"/>
    <p:sldId id="264" r:id="rId12"/>
    <p:sldId id="265" r:id="rId13"/>
    <p:sldId id="267" r:id="rId14"/>
    <p:sldId id="1451" r:id="rId15"/>
    <p:sldId id="269" r:id="rId16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B67B"/>
    <a:srgbClr val="516993"/>
    <a:srgbClr val="A0A2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D11B90-A7E8-4E4F-A73B-5831A45900B8}" v="1" dt="2025-10-13T02:35:43.5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94"/>
  </p:normalViewPr>
  <p:slideViewPr>
    <p:cSldViewPr>
      <p:cViewPr varScale="1">
        <p:scale>
          <a:sx n="240" d="100"/>
          <a:sy n="240" d="100"/>
        </p:scale>
        <p:origin x="912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Burnes" userId="ca3eeb36-3cf7-49b7-874f-4993e3c98b53" providerId="ADAL" clId="{D0D11B90-A7E8-4E4F-A73B-5831A45900B8}"/>
    <pc:docChg chg="addSld modSld">
      <pc:chgData name="Ellen Burnes" userId="ca3eeb36-3cf7-49b7-874f-4993e3c98b53" providerId="ADAL" clId="{D0D11B90-A7E8-4E4F-A73B-5831A45900B8}" dt="2025-10-13T02:35:43.506" v="0"/>
      <pc:docMkLst>
        <pc:docMk/>
      </pc:docMkLst>
      <pc:sldChg chg="add">
        <pc:chgData name="Ellen Burnes" userId="ca3eeb36-3cf7-49b7-874f-4993e3c98b53" providerId="ADAL" clId="{D0D11B90-A7E8-4E4F-A73B-5831A45900B8}" dt="2025-10-13T02:35:43.506" v="0"/>
        <pc:sldMkLst>
          <pc:docMk/>
          <pc:sldMk cId="3740219509" sldId="14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8FC9-DCDB-4EAE-B3A7-1B2D2F2E674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52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</p:spPr>
        <p:txBody>
          <a:bodyPr lIns="0" tIns="0" rIns="0" bIns="0"/>
          <a:lstStyle>
            <a:lvl1pPr marL="171450" indent="-171450"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buFont typeface="Arial" panose="020B0604020202020204" pitchFamily="34" charset="0"/>
              <a:buChar char="•"/>
              <a:defRPr sz="1100"/>
            </a:lvl2pPr>
          </a:lstStyle>
          <a:p>
            <a:endParaRPr lang="en-US" dirty="0"/>
          </a:p>
          <a:p>
            <a:pPr lvl="1"/>
            <a:r>
              <a:rPr lang="en-US" dirty="0"/>
              <a:t>	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129539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171450" indent="-171450">
        <a:buFont typeface="Arial" panose="020B0604020202020204" pitchFamily="34" charset="0"/>
        <a:buChar char="•"/>
        <a:defRPr>
          <a:latin typeface="+mn-lt"/>
          <a:ea typeface="+mn-ea"/>
          <a:cs typeface="+mn-cs"/>
        </a:defRPr>
      </a:lvl1pPr>
      <a:lvl2pPr marL="742950" indent="-285750">
        <a:buFont typeface="Arial" panose="020B0604020202020204" pitchFamily="34" charset="0"/>
        <a:buChar char="•"/>
        <a:defRPr sz="1100"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atista.com/statistics/680312/canned-and-bottled-ready-to-drink-coffee-market-size-u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atista.com/forecasts/1331666/united-states-revenue-of-coffee-market-by-typ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 dirty="0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830" y="434975"/>
            <a:ext cx="4067937" cy="36240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en-US" sz="2400" dirty="0" err="1"/>
              <a:t>Bizzy</a:t>
            </a:r>
            <a:r>
              <a:rPr lang="en-US" sz="2400" dirty="0"/>
              <a:t> Coffee</a:t>
            </a:r>
            <a:endParaRPr sz="16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 dirty="0">
                <a:latin typeface="Arial"/>
                <a:cs typeface="Arial"/>
              </a:rPr>
              <a:t>P</a:t>
            </a:r>
            <a:r>
              <a:rPr sz="600" spc="-5" dirty="0">
                <a:latin typeface="Arial"/>
                <a:cs typeface="Arial"/>
              </a:rPr>
              <a:t>age</a:t>
            </a:r>
            <a:r>
              <a:rPr sz="600" spc="-10" dirty="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778104" y="1528371"/>
            <a:ext cx="31241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Professor Burnes</a:t>
            </a:r>
          </a:p>
          <a:p>
            <a:pPr algn="ctr"/>
            <a:r>
              <a:rPr lang="en-US" b="1" dirty="0"/>
              <a:t>Leeds School of Business</a:t>
            </a:r>
          </a:p>
          <a:p>
            <a:pPr algn="ctr"/>
            <a:r>
              <a:rPr lang="en-US" b="1" dirty="0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9BFAD-1994-1A28-E29E-1C63A7A5A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Few Notes on Datasets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935FC-545F-8BAD-5494-017A13B6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507831"/>
          </a:xfrm>
        </p:spPr>
        <p:txBody>
          <a:bodyPr/>
          <a:lstStyle/>
          <a:p>
            <a:r>
              <a:rPr lang="en-US" dirty="0"/>
              <a:t>In addition to Pitchbook,</a:t>
            </a:r>
          </a:p>
          <a:p>
            <a:r>
              <a:rPr lang="en-US" dirty="0"/>
              <a:t>RECALL -- We have a Statista subscription – as long as you are connected to VPN, you get great data access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B8BB7-5F5F-8984-5C74-1D63F1C019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428927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AF80B-16C2-B4EF-7844-CE8FBB23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For example, for </a:t>
            </a:r>
            <a:r>
              <a:rPr lang="en-US" dirty="0" err="1"/>
              <a:t>Bizzy</a:t>
            </a:r>
            <a:r>
              <a:rPr lang="en-US" dirty="0"/>
              <a:t> Coffee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96842-AA8D-9ED8-8E4A-A452A5E2E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507831"/>
          </a:xfrm>
        </p:spPr>
        <p:txBody>
          <a:bodyPr/>
          <a:lstStyle/>
          <a:p>
            <a:r>
              <a:rPr lang="en-US" dirty="0">
                <a:hlinkClick r:id="rId2"/>
              </a:rPr>
              <a:t>RTD Coffee 2001-2015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And then, you can scroll down to see other related data 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FDB94-1CBF-3FA5-68F4-4275A1CED94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3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4058510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4F29-2F59-8028-1B69-2C08F26F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A Big piece of this case was making informed Assumptions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D873C-EDEF-8AEE-AD80-159F1EC77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815975"/>
            <a:ext cx="4357623" cy="16927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Outlook of US Coffee Market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C24D4-D733-2C4D-1042-6C46D2B49E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4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5306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7E55-9789-FBCA-B8E0-9CEB93896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What’s the Problem?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6A289-AD36-FE9C-4AB8-925A651A3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015663"/>
          </a:xfrm>
        </p:spPr>
        <p:txBody>
          <a:bodyPr/>
          <a:lstStyle/>
          <a:p>
            <a:pPr marL="228600" indent="-228600">
              <a:buFont typeface="+mj-lt"/>
              <a:buAutoNum type="arabicParenR"/>
            </a:pPr>
            <a:r>
              <a:rPr lang="en-US" dirty="0"/>
              <a:t>“Burning through Cash”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Pricing?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COGS (Coffee Prices)?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Need CAPEX?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Need to Raise $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Over-using Lines of Credit?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C8CA1-54CA-A26E-B9C6-BA7BCE3C8A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5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54141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B924-193B-678F-2917-4581C6A3C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When did they start </a:t>
            </a:r>
            <a:r>
              <a:rPr lang="en-US" dirty="0" err="1"/>
              <a:t>Bizzy</a:t>
            </a:r>
            <a:r>
              <a:rPr lang="en-US" dirty="0"/>
              <a:t> full time?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FEC1B-9244-018A-04BD-1CB8BF8EA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015663"/>
          </a:xfrm>
        </p:spPr>
        <p:txBody>
          <a:bodyPr/>
          <a:lstStyle/>
          <a:p>
            <a:r>
              <a:rPr lang="en-US" dirty="0"/>
              <a:t>2015</a:t>
            </a:r>
          </a:p>
          <a:p>
            <a:r>
              <a:rPr lang="en-US" dirty="0"/>
              <a:t>How were they growing relative to TOTAL US coffee market?</a:t>
            </a:r>
          </a:p>
          <a:p>
            <a:r>
              <a:rPr lang="en-US" dirty="0"/>
              <a:t>To what do you attribute this?</a:t>
            </a:r>
          </a:p>
          <a:p>
            <a:r>
              <a:rPr lang="en-US" dirty="0"/>
              <a:t>Implication for continued growth?</a:t>
            </a:r>
          </a:p>
          <a:p>
            <a:r>
              <a:rPr lang="en-US" dirty="0"/>
              <a:t>Timing of Global Pandemic? – Implications of Pandemic on performance?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BCB85-F54E-EF33-440E-7453B1A3BC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6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036786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E1F50-2AC2-A7F5-A2AE-9C136C304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What did French &amp; Healy do to be prepared for this undertaking?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F76E0-1EDE-5C28-4AE8-ED19BBD1C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739775"/>
            <a:ext cx="4357623" cy="33855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001FD-8C4C-926C-4B3C-E64694177D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7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181128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60377-C948-7F6B-259F-308D9CAF9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HYGIENE TIP FOR YOUR SPREADSHEET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D1DAA-BE6B-F45D-689E-C5530EF6C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892175"/>
            <a:ext cx="4357623" cy="507831"/>
          </a:xfrm>
        </p:spPr>
        <p:txBody>
          <a:bodyPr/>
          <a:lstStyle/>
          <a:p>
            <a:r>
              <a:rPr lang="en-US" dirty="0"/>
              <a:t>LABEL YOUR TABS SO THAT THEY SAY WHAT IS ON THEM</a:t>
            </a:r>
          </a:p>
          <a:p>
            <a:r>
              <a:rPr lang="en-US" dirty="0"/>
              <a:t>DO NOT MASH EVERYTHING YOU CAN ONTO 1 SHEET</a:t>
            </a:r>
          </a:p>
          <a:p>
            <a:r>
              <a:rPr lang="en-US" dirty="0"/>
              <a:t>CREATE SUMMARY PAGES WHEN HELPFUL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8EF92-F3C8-3571-B36F-887F825153C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8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284449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D613-D82C-C3BD-805F-E9299FDD6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Cash Conversion Cycle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6DA40-66B2-CE56-3E60-1A30ADC61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200602"/>
          </a:xfrm>
        </p:spPr>
        <p:txBody>
          <a:bodyPr/>
          <a:lstStyle/>
          <a:p>
            <a:r>
              <a:rPr lang="en-US" dirty="0"/>
              <a:t>2019 – 2022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You need to decide WHAT to do about 2022.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Since you are generating DAYS and NOT value, you could take 2022 performance on a 212 day basis</a:t>
            </a:r>
          </a:p>
          <a:p>
            <a:pPr marL="228600" indent="-228600">
              <a:buFont typeface="+mj-lt"/>
              <a:buAutoNum type="arabicParenR"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KEY TAKEAWAY/QUESTION </a:t>
            </a:r>
            <a:r>
              <a:rPr lang="en-US" dirty="0"/>
              <a:t>to ask: They were differentiating themselves by brewing 8 extra hours than the industry norm.  -- where does this fit in the CCC?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That is effectively an extra “workday” PER DAY. 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Inflation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COGS – Inventory!</a:t>
            </a:r>
          </a:p>
          <a:p>
            <a:pPr marL="228600" indent="-228600">
              <a:buFont typeface="+mj-lt"/>
              <a:buAutoNum type="arabicParenR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5FA58-5B7F-EB9C-9252-BE260D0AAA0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9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426793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DA35F-F397-F5E8-CF79-75749129D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To Understand the Net Burn,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D67A0-AD49-ACC0-5C6A-68CC56A8C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507831"/>
          </a:xfrm>
        </p:spPr>
        <p:txBody>
          <a:bodyPr/>
          <a:lstStyle/>
          <a:p>
            <a:r>
              <a:rPr lang="en-US" dirty="0"/>
              <a:t>We needed to adjust SG&amp;A for Depreciation</a:t>
            </a:r>
          </a:p>
          <a:p>
            <a:r>
              <a:rPr lang="en-US" dirty="0"/>
              <a:t>We needed to make an </a:t>
            </a:r>
            <a:r>
              <a:rPr lang="en-US" b="1" dirty="0"/>
              <a:t>assumption</a:t>
            </a:r>
            <a:r>
              <a:rPr lang="en-US" dirty="0"/>
              <a:t> for CAPEX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1091C-4FE6-6F2B-8FC2-6208A4AB6B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10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672651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05D4-0CD0-D85E-8A21-67B26FF71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Depreciation and CAPEX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2161E-A009-719D-847E-9E511A592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031325"/>
          </a:xfrm>
        </p:spPr>
        <p:txBody>
          <a:bodyPr/>
          <a:lstStyle/>
          <a:p>
            <a:r>
              <a:rPr lang="en-US" dirty="0"/>
              <a:t>Depreciation is a non cash expense, based on investment in PP&amp;E (</a:t>
            </a:r>
            <a:r>
              <a:rPr lang="en-US" dirty="0" err="1"/>
              <a:t>eg</a:t>
            </a:r>
            <a:r>
              <a:rPr lang="en-US" dirty="0"/>
              <a:t> CAPEX)</a:t>
            </a:r>
          </a:p>
          <a:p>
            <a:pPr marL="0" indent="0">
              <a:buNone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They started in 2015, so as of 2019 they had depreciated 20% of equipment’s 20 </a:t>
            </a:r>
            <a:r>
              <a:rPr lang="en-US" dirty="0" err="1"/>
              <a:t>yr</a:t>
            </a:r>
            <a:r>
              <a:rPr lang="en-US" dirty="0"/>
              <a:t> life</a:t>
            </a:r>
          </a:p>
          <a:p>
            <a:pPr marL="228600" indent="-228600">
              <a:buAutoNum type="arabicParenR"/>
            </a:pPr>
            <a:r>
              <a:rPr lang="en-US" dirty="0"/>
              <a:t>I created a depreciation story (see INC_BAL)</a:t>
            </a:r>
          </a:p>
          <a:p>
            <a:pPr marL="228600" indent="-228600">
              <a:buAutoNum type="arabicParenR"/>
            </a:pPr>
            <a:r>
              <a:rPr lang="en-US" dirty="0"/>
              <a:t>Some math, some assumptions – but traceable, and these became consistent inputs into the analysis.</a:t>
            </a:r>
          </a:p>
          <a:p>
            <a:pPr marL="228600" indent="-228600">
              <a:buAutoNum type="arabicParenR"/>
            </a:pPr>
            <a:r>
              <a:rPr lang="en-US" dirty="0"/>
              <a:t>This got me 2 things: clean OPEX numbers, annual CAPEX expectations.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FD638-67A4-956E-B025-8B1AFAE230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11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936577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1886E-C041-1732-EBD8-AA097512F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To Build Net Burn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E3064-1F8A-CDB5-26E1-FB2D17DB9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677108"/>
          </a:xfrm>
        </p:spPr>
        <p:txBody>
          <a:bodyPr/>
          <a:lstStyle/>
          <a:p>
            <a:r>
              <a:rPr lang="en-US" dirty="0"/>
              <a:t>Needed Tax Rate (21%, given)</a:t>
            </a:r>
          </a:p>
          <a:p>
            <a:r>
              <a:rPr lang="en-US" dirty="0"/>
              <a:t>Needed to adjust 2022 to FULL YEAR.  I did this by multiplying the 7 months performance by 1.42 (</a:t>
            </a:r>
            <a:r>
              <a:rPr lang="en-US" dirty="0" err="1"/>
              <a:t>eg</a:t>
            </a:r>
            <a:r>
              <a:rPr lang="en-US" dirty="0"/>
              <a:t> there was 42% of a year to go)</a:t>
            </a:r>
          </a:p>
          <a:p>
            <a:r>
              <a:rPr lang="en-US" dirty="0"/>
              <a:t>For the Interest in 2022, I doubled it based on the amount of debt.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0B8D2-9399-7AE4-2130-DDB3F26275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12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162397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B357-53B5-1879-25EE-95E5770A7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Scenario 6a: Charge 10% more for the RTD Bottle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E3B3F-A299-B9A1-7556-2432E832D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663575"/>
            <a:ext cx="4357623" cy="1184940"/>
          </a:xfrm>
        </p:spPr>
        <p:txBody>
          <a:bodyPr/>
          <a:lstStyle/>
          <a:p>
            <a:r>
              <a:rPr lang="en-US" dirty="0"/>
              <a:t>I assumed applied to BB and PL</a:t>
            </a:r>
          </a:p>
          <a:p>
            <a:r>
              <a:rPr lang="en-US" dirty="0"/>
              <a:t>Charged 10% more Wholesale, applied uniquely to BB and PL</a:t>
            </a:r>
          </a:p>
          <a:p>
            <a:r>
              <a:rPr lang="en-US" dirty="0">
                <a:highlight>
                  <a:srgbClr val="FFFF00"/>
                </a:highlight>
              </a:rPr>
              <a:t>AR = </a:t>
            </a:r>
            <a:r>
              <a:rPr lang="en-US" dirty="0" err="1">
                <a:highlight>
                  <a:srgbClr val="FFFF00"/>
                </a:highlight>
              </a:rPr>
              <a:t>DaysRec</a:t>
            </a:r>
            <a:r>
              <a:rPr lang="en-US" dirty="0">
                <a:highlight>
                  <a:srgbClr val="FFFF00"/>
                </a:highlight>
              </a:rPr>
              <a:t>*(Rev/365)</a:t>
            </a:r>
          </a:p>
          <a:p>
            <a:r>
              <a:rPr lang="en-US" dirty="0"/>
              <a:t>Completed for each offering</a:t>
            </a:r>
          </a:p>
          <a:p>
            <a:r>
              <a:rPr lang="en-US" dirty="0">
                <a:highlight>
                  <a:srgbClr val="FFFF00"/>
                </a:highlight>
              </a:rPr>
              <a:t>Inventory = days inv*(Rev/365)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Completed Income Statement </a:t>
            </a:r>
            <a:r>
              <a:rPr lang="en-US"/>
              <a:t>and Balance Sheet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2AD16-0F6C-87E8-36BA-C07F903629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13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914028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87D98-9AAC-20C8-079E-7C03BEABA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D7677-2421-9CD9-37BF-134D55155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862048"/>
          </a:xfrm>
        </p:spPr>
        <p:txBody>
          <a:bodyPr/>
          <a:lstStyle/>
          <a:p>
            <a:r>
              <a:rPr lang="en-US" dirty="0"/>
              <a:t>Identify the Problem(s) You Need to Solve</a:t>
            </a:r>
          </a:p>
          <a:p>
            <a:r>
              <a:rPr lang="en-US" dirty="0"/>
              <a:t>Understand the Drivers of the Problem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Bizzy</a:t>
            </a:r>
            <a:r>
              <a:rPr lang="en-US" dirty="0"/>
              <a:t>, many of the root causes were beyond their control</a:t>
            </a:r>
          </a:p>
          <a:p>
            <a:r>
              <a:rPr lang="en-US" dirty="0"/>
              <a:t>Understand the Current Approach </a:t>
            </a:r>
          </a:p>
          <a:p>
            <a:r>
              <a:rPr lang="en-US" dirty="0"/>
              <a:t>Do the options make sense?</a:t>
            </a:r>
          </a:p>
          <a:p>
            <a:r>
              <a:rPr lang="en-US" dirty="0"/>
              <a:t>Revisit: Does this market make sense?</a:t>
            </a:r>
          </a:p>
          <a:p>
            <a:r>
              <a:rPr lang="en-US" dirty="0"/>
              <a:t>Is our ‘secret sauce’ worth it (18 </a:t>
            </a:r>
            <a:r>
              <a:rPr lang="en-US" dirty="0" err="1"/>
              <a:t>hrs</a:t>
            </a:r>
            <a:r>
              <a:rPr lang="en-US" dirty="0"/>
              <a:t> vs 10)</a:t>
            </a:r>
          </a:p>
          <a:p>
            <a:r>
              <a:rPr lang="en-US" dirty="0"/>
              <a:t>Be very careful choosing the “low price” approach!</a:t>
            </a:r>
          </a:p>
          <a:p>
            <a:r>
              <a:rPr lang="en-US" dirty="0"/>
              <a:t>Pro Forma is basis of Decision Making</a:t>
            </a:r>
          </a:p>
          <a:p>
            <a:pPr lvl="1"/>
            <a:r>
              <a:rPr lang="en-US" dirty="0"/>
              <a:t>You need to make, track, link assumptions.</a:t>
            </a:r>
          </a:p>
          <a:p>
            <a:pPr lvl="1"/>
            <a:r>
              <a:rPr lang="en-US" dirty="0"/>
              <a:t>Re-check your assumptions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74947-8071-C30F-A91E-9D5C9BC95A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14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740219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2867-C1F4-A908-2993-3A39A7923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Wednesday, 10/16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1F68C-0E68-51C1-4D6A-C638E248B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507831"/>
          </a:xfrm>
        </p:spPr>
        <p:txBody>
          <a:bodyPr/>
          <a:lstStyle/>
          <a:p>
            <a:r>
              <a:rPr lang="en-US" dirty="0"/>
              <a:t>Chapter 8, Overview of Securities Law relative to Venture Financing</a:t>
            </a:r>
          </a:p>
          <a:p>
            <a:r>
              <a:rPr lang="en-US" dirty="0"/>
              <a:t>Preview of </a:t>
            </a:r>
            <a:r>
              <a:rPr lang="en-US" dirty="0" err="1"/>
              <a:t>Viscotech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F30C7-4000-9E0F-08B7-160CDD3013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15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53086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7839</TotalTime>
  <Words>648</Words>
  <Application>Microsoft Macintosh PowerPoint</Application>
  <PresentationFormat>Custom</PresentationFormat>
  <Paragraphs>98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Rockwell</vt:lpstr>
      <vt:lpstr>Office Theme</vt:lpstr>
      <vt:lpstr>Bizzy Coffee</vt:lpstr>
      <vt:lpstr>Few Notes on Datasets</vt:lpstr>
      <vt:lpstr>For example, for Bizzy Coffee</vt:lpstr>
      <vt:lpstr>A Big piece of this case was making informed Assumptions</vt:lpstr>
      <vt:lpstr>What’s the Problem?</vt:lpstr>
      <vt:lpstr>When did they start Bizzy full time?</vt:lpstr>
      <vt:lpstr>What did French &amp; Healy do to be prepared for this undertaking?</vt:lpstr>
      <vt:lpstr>HYGIENE TIP FOR YOUR SPREADSHEET</vt:lpstr>
      <vt:lpstr>Cash Conversion Cycle</vt:lpstr>
      <vt:lpstr>To Understand the Net Burn,</vt:lpstr>
      <vt:lpstr>Depreciation and CAPEX</vt:lpstr>
      <vt:lpstr>To Build Net Burn</vt:lpstr>
      <vt:lpstr>Scenario 6a: Charge 10% more for the RTD Bottle</vt:lpstr>
      <vt:lpstr>Takeaways</vt:lpstr>
      <vt:lpstr>Wednesday, 10/16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22</cp:revision>
  <dcterms:created xsi:type="dcterms:W3CDTF">2022-01-05T04:34:10Z</dcterms:created>
  <dcterms:modified xsi:type="dcterms:W3CDTF">2025-10-13T02:35:43Z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