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326" r:id="rId3"/>
    <p:sldId id="327" r:id="rId4"/>
    <p:sldId id="329" r:id="rId5"/>
    <p:sldId id="330" r:id="rId6"/>
    <p:sldId id="298" r:id="rId7"/>
    <p:sldId id="328" r:id="rId8"/>
    <p:sldId id="297" r:id="rId9"/>
    <p:sldId id="331" r:id="rId10"/>
    <p:sldId id="332" r:id="rId11"/>
    <p:sldId id="333" r:id="rId12"/>
    <p:sldId id="334" r:id="rId13"/>
  </p:sldIdLst>
  <p:sldSz cx="4610100" cy="346075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39"/>
    <p:restoredTop sz="93973"/>
  </p:normalViewPr>
  <p:slideViewPr>
    <p:cSldViewPr>
      <p:cViewPr varScale="1">
        <p:scale>
          <a:sx n="139" d="100"/>
          <a:sy n="139" d="100"/>
        </p:scale>
        <p:origin x="1664" y="1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44159A37-F57B-F441-8FBD-4AEC1EB171AC}" type="datetimeFigureOut">
              <a:rPr lang="en-US" smtClean="0"/>
              <a:t>10/31/22</a:t>
            </a:fld>
            <a:endParaRPr lang="en-US"/>
          </a:p>
        </p:txBody>
      </p:sp>
      <p:sp>
        <p:nvSpPr>
          <p:cNvPr id="4" name="Slide Image Placeholder 3"/>
          <p:cNvSpPr>
            <a:spLocks noGrp="1" noRot="1" noChangeAspect="1"/>
          </p:cNvSpPr>
          <p:nvPr>
            <p:ph type="sldImg" idx="2"/>
          </p:nvPr>
        </p:nvSpPr>
        <p:spPr>
          <a:xfrm>
            <a:off x="1441450" y="1173163"/>
            <a:ext cx="4219575" cy="3168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4F0FA299-5294-AD47-8ACD-E81D24A7609A}" type="slidenum">
              <a:rPr lang="en-US" smtClean="0"/>
              <a:t>‹#›</a:t>
            </a:fld>
            <a:endParaRPr lang="en-US"/>
          </a:p>
        </p:txBody>
      </p:sp>
    </p:spTree>
    <p:extLst>
      <p:ext uri="{BB962C8B-B14F-4D97-AF65-F5344CB8AC3E}">
        <p14:creationId xmlns:p14="http://schemas.microsoft.com/office/powerpoint/2010/main" val="45774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dirty="0"/>
              <a:t>Leeds</a:t>
            </a:r>
          </a:p>
          <a:p>
            <a:pPr marL="12700">
              <a:lnSpc>
                <a:spcPts val="515"/>
              </a:lnSpc>
            </a:pPr>
            <a:r>
              <a:rPr sz="500" b="0" spc="25" dirty="0">
                <a:latin typeface="Arial"/>
                <a:cs typeface="Arial"/>
              </a:rPr>
              <a:t>B </a:t>
            </a:r>
            <a:r>
              <a:rPr sz="500" b="0" spc="10" dirty="0">
                <a:latin typeface="Arial"/>
                <a:cs typeface="Arial"/>
              </a:rPr>
              <a:t>U</a:t>
            </a:r>
            <a:r>
              <a:rPr sz="500" b="0" spc="30" dirty="0">
                <a:latin typeface="Arial"/>
                <a:cs typeface="Arial"/>
              </a:rPr>
              <a:t> </a:t>
            </a:r>
            <a:r>
              <a:rPr sz="500" b="0" spc="5" dirty="0">
                <a:latin typeface="Arial"/>
                <a:cs typeface="Arial"/>
              </a:rPr>
              <a:t>S</a:t>
            </a:r>
            <a:r>
              <a:rPr sz="500" b="0" spc="30" dirty="0">
                <a:latin typeface="Arial"/>
                <a:cs typeface="Arial"/>
              </a:rPr>
              <a:t> </a:t>
            </a:r>
            <a:r>
              <a:rPr sz="500" b="0" spc="-20" dirty="0">
                <a:latin typeface="Arial"/>
                <a:cs typeface="Arial"/>
              </a:rPr>
              <a:t>I</a:t>
            </a:r>
            <a:r>
              <a:rPr sz="500" b="0" spc="30" dirty="0">
                <a:latin typeface="Arial"/>
                <a:cs typeface="Arial"/>
              </a:rPr>
              <a:t> </a:t>
            </a:r>
            <a:r>
              <a:rPr sz="500" b="0" spc="20" dirty="0">
                <a:latin typeface="Arial"/>
                <a:cs typeface="Arial"/>
              </a:rPr>
              <a:t>N</a:t>
            </a:r>
            <a:r>
              <a:rPr sz="500" b="0" spc="30" dirty="0">
                <a:latin typeface="Arial"/>
                <a:cs typeface="Arial"/>
              </a:rPr>
              <a:t> </a:t>
            </a:r>
            <a:r>
              <a:rPr sz="500" b="0" spc="-15" dirty="0">
                <a:latin typeface="Arial"/>
                <a:cs typeface="Arial"/>
              </a:rPr>
              <a:t>E</a:t>
            </a:r>
            <a:r>
              <a:rPr sz="500" b="0" spc="30" dirty="0">
                <a:latin typeface="Arial"/>
                <a:cs typeface="Arial"/>
              </a:rPr>
              <a:t> </a:t>
            </a:r>
            <a:r>
              <a:rPr sz="500" b="0" spc="5" dirty="0">
                <a:latin typeface="Arial"/>
                <a:cs typeface="Arial"/>
              </a:rPr>
              <a:t>S</a:t>
            </a:r>
            <a:r>
              <a:rPr sz="500" b="0" spc="30" dirty="0">
                <a:latin typeface="Arial"/>
                <a:cs typeface="Arial"/>
              </a:rPr>
              <a:t> </a:t>
            </a:r>
            <a:r>
              <a:rPr sz="500" b="0" spc="5" dirty="0">
                <a:latin typeface="Arial"/>
                <a:cs typeface="Arial"/>
              </a:rPr>
              <a:t>S</a:t>
            </a:r>
            <a:endParaRPr sz="500">
              <a:latin typeface="Arial"/>
              <a:cs typeface="Arial"/>
            </a:endParaRPr>
          </a:p>
        </p:txBody>
      </p:sp>
      <p:sp>
        <p:nvSpPr>
          <p:cNvPr id="6" name="Holder 6"/>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r>
              <a:rPr spc="-5" dirty="0"/>
              <a:t>2</a:t>
            </a: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Arial"/>
                <a:cs typeface="Arial"/>
              </a:defRPr>
            </a:lvl1pPr>
          </a:lstStyle>
          <a:p>
            <a:endParaRPr/>
          </a:p>
        </p:txBody>
      </p:sp>
      <p:sp>
        <p:nvSpPr>
          <p:cNvPr id="5" name="Holder 5"/>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dirty="0"/>
              <a:t>Leeds</a:t>
            </a:r>
          </a:p>
          <a:p>
            <a:pPr marL="12700">
              <a:lnSpc>
                <a:spcPts val="515"/>
              </a:lnSpc>
            </a:pPr>
            <a:r>
              <a:rPr sz="500" b="0" spc="25" dirty="0">
                <a:latin typeface="Arial"/>
                <a:cs typeface="Arial"/>
              </a:rPr>
              <a:t>B </a:t>
            </a:r>
            <a:r>
              <a:rPr sz="500" b="0" spc="10" dirty="0">
                <a:latin typeface="Arial"/>
                <a:cs typeface="Arial"/>
              </a:rPr>
              <a:t>U</a:t>
            </a:r>
            <a:r>
              <a:rPr sz="500" b="0" spc="30" dirty="0">
                <a:latin typeface="Arial"/>
                <a:cs typeface="Arial"/>
              </a:rPr>
              <a:t> </a:t>
            </a:r>
            <a:r>
              <a:rPr sz="500" b="0" spc="5" dirty="0">
                <a:latin typeface="Arial"/>
                <a:cs typeface="Arial"/>
              </a:rPr>
              <a:t>S</a:t>
            </a:r>
            <a:r>
              <a:rPr sz="500" b="0" spc="30" dirty="0">
                <a:latin typeface="Arial"/>
                <a:cs typeface="Arial"/>
              </a:rPr>
              <a:t> </a:t>
            </a:r>
            <a:r>
              <a:rPr sz="500" b="0" spc="-20" dirty="0">
                <a:latin typeface="Arial"/>
                <a:cs typeface="Arial"/>
              </a:rPr>
              <a:t>I</a:t>
            </a:r>
            <a:r>
              <a:rPr sz="500" b="0" spc="30" dirty="0">
                <a:latin typeface="Arial"/>
                <a:cs typeface="Arial"/>
              </a:rPr>
              <a:t> </a:t>
            </a:r>
            <a:r>
              <a:rPr sz="500" b="0" spc="20" dirty="0">
                <a:latin typeface="Arial"/>
                <a:cs typeface="Arial"/>
              </a:rPr>
              <a:t>N</a:t>
            </a:r>
            <a:r>
              <a:rPr sz="500" b="0" spc="30" dirty="0">
                <a:latin typeface="Arial"/>
                <a:cs typeface="Arial"/>
              </a:rPr>
              <a:t> </a:t>
            </a:r>
            <a:r>
              <a:rPr sz="500" b="0" spc="-15" dirty="0">
                <a:latin typeface="Arial"/>
                <a:cs typeface="Arial"/>
              </a:rPr>
              <a:t>E</a:t>
            </a:r>
            <a:r>
              <a:rPr sz="500" b="0" spc="30" dirty="0">
                <a:latin typeface="Arial"/>
                <a:cs typeface="Arial"/>
              </a:rPr>
              <a:t> </a:t>
            </a:r>
            <a:r>
              <a:rPr sz="500" b="0" spc="5" dirty="0">
                <a:latin typeface="Arial"/>
                <a:cs typeface="Arial"/>
              </a:rPr>
              <a:t>S</a:t>
            </a:r>
            <a:r>
              <a:rPr sz="500" b="0" spc="30" dirty="0">
                <a:latin typeface="Arial"/>
                <a:cs typeface="Arial"/>
              </a:rPr>
              <a:t> </a:t>
            </a:r>
            <a:r>
              <a:rPr sz="500" b="0" spc="5" dirty="0">
                <a:latin typeface="Arial"/>
                <a:cs typeface="Arial"/>
              </a:rPr>
              <a:t>S</a:t>
            </a:r>
            <a:endParaRPr sz="500">
              <a:latin typeface="Arial"/>
              <a:cs typeface="Arial"/>
            </a:endParaRPr>
          </a:p>
        </p:txBody>
      </p:sp>
      <p:sp>
        <p:nvSpPr>
          <p:cNvPr id="6" name="Holder 6"/>
          <p:cNvSpPr>
            <a:spLocks noGrp="1"/>
          </p:cNvSpPr>
          <p:nvPr>
            <p:ph type="sldNum" sz="quarter" idx="7"/>
          </p:nvPr>
        </p:nvSpPr>
        <p:spPr>
          <a:xfrm>
            <a:off x="3581489" y="3064475"/>
            <a:ext cx="343535" cy="101600"/>
          </a:xfrm>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r>
              <a:rPr spc="-5" dirty="0"/>
              <a:t>2</a:t>
            </a: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dirty="0"/>
              <a:t>Leeds</a:t>
            </a:r>
          </a:p>
          <a:p>
            <a:pPr marL="12700">
              <a:lnSpc>
                <a:spcPts val="515"/>
              </a:lnSpc>
            </a:pPr>
            <a:r>
              <a:rPr sz="500" b="0" spc="25" dirty="0">
                <a:latin typeface="Arial"/>
                <a:cs typeface="Arial"/>
              </a:rPr>
              <a:t>B </a:t>
            </a:r>
            <a:r>
              <a:rPr sz="500" b="0" spc="10" dirty="0">
                <a:latin typeface="Arial"/>
                <a:cs typeface="Arial"/>
              </a:rPr>
              <a:t>U</a:t>
            </a:r>
            <a:r>
              <a:rPr sz="500" b="0" spc="30" dirty="0">
                <a:latin typeface="Arial"/>
                <a:cs typeface="Arial"/>
              </a:rPr>
              <a:t> </a:t>
            </a:r>
            <a:r>
              <a:rPr sz="500" b="0" spc="5" dirty="0">
                <a:latin typeface="Arial"/>
                <a:cs typeface="Arial"/>
              </a:rPr>
              <a:t>S</a:t>
            </a:r>
            <a:r>
              <a:rPr sz="500" b="0" spc="30" dirty="0">
                <a:latin typeface="Arial"/>
                <a:cs typeface="Arial"/>
              </a:rPr>
              <a:t> </a:t>
            </a:r>
            <a:r>
              <a:rPr sz="500" b="0" spc="-20" dirty="0">
                <a:latin typeface="Arial"/>
                <a:cs typeface="Arial"/>
              </a:rPr>
              <a:t>I</a:t>
            </a:r>
            <a:r>
              <a:rPr sz="500" b="0" spc="30" dirty="0">
                <a:latin typeface="Arial"/>
                <a:cs typeface="Arial"/>
              </a:rPr>
              <a:t> </a:t>
            </a:r>
            <a:r>
              <a:rPr sz="500" b="0" spc="20" dirty="0">
                <a:latin typeface="Arial"/>
                <a:cs typeface="Arial"/>
              </a:rPr>
              <a:t>N</a:t>
            </a:r>
            <a:r>
              <a:rPr sz="500" b="0" spc="30" dirty="0">
                <a:latin typeface="Arial"/>
                <a:cs typeface="Arial"/>
              </a:rPr>
              <a:t> </a:t>
            </a:r>
            <a:r>
              <a:rPr sz="500" b="0" spc="-15" dirty="0">
                <a:latin typeface="Arial"/>
                <a:cs typeface="Arial"/>
              </a:rPr>
              <a:t>E</a:t>
            </a:r>
            <a:r>
              <a:rPr sz="500" b="0" spc="30" dirty="0">
                <a:latin typeface="Arial"/>
                <a:cs typeface="Arial"/>
              </a:rPr>
              <a:t> </a:t>
            </a:r>
            <a:r>
              <a:rPr sz="500" b="0" spc="5" dirty="0">
                <a:latin typeface="Arial"/>
                <a:cs typeface="Arial"/>
              </a:rPr>
              <a:t>S</a:t>
            </a:r>
            <a:r>
              <a:rPr sz="500" b="0" spc="30" dirty="0">
                <a:latin typeface="Arial"/>
                <a:cs typeface="Arial"/>
              </a:rPr>
              <a:t> </a:t>
            </a:r>
            <a:r>
              <a:rPr sz="500" b="0" spc="5" dirty="0">
                <a:latin typeface="Arial"/>
                <a:cs typeface="Arial"/>
              </a:rPr>
              <a:t>S</a:t>
            </a:r>
            <a:endParaRPr sz="500">
              <a:latin typeface="Arial"/>
              <a:cs typeface="Arial"/>
            </a:endParaRPr>
          </a:p>
        </p:txBody>
      </p:sp>
      <p:sp>
        <p:nvSpPr>
          <p:cNvPr id="7" name="Holder 7"/>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r>
              <a:rPr spc="-5" dirty="0"/>
              <a:t>2</a:t>
            </a: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526894"/>
                </a:solidFill>
                <a:latin typeface="Arial"/>
                <a:cs typeface="Arial"/>
              </a:defRPr>
            </a:lvl1pPr>
          </a:lstStyle>
          <a:p>
            <a:endParaRPr/>
          </a:p>
        </p:txBody>
      </p:sp>
      <p:sp>
        <p:nvSpPr>
          <p:cNvPr id="4" name="Holder 4"/>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dirty="0"/>
              <a:t>Leeds</a:t>
            </a:r>
          </a:p>
          <a:p>
            <a:pPr marL="12700">
              <a:lnSpc>
                <a:spcPts val="515"/>
              </a:lnSpc>
            </a:pPr>
            <a:r>
              <a:rPr sz="500" b="0" spc="25" dirty="0">
                <a:latin typeface="Arial"/>
                <a:cs typeface="Arial"/>
              </a:rPr>
              <a:t>B </a:t>
            </a:r>
            <a:r>
              <a:rPr sz="500" b="0" spc="10" dirty="0">
                <a:latin typeface="Arial"/>
                <a:cs typeface="Arial"/>
              </a:rPr>
              <a:t>U</a:t>
            </a:r>
            <a:r>
              <a:rPr sz="500" b="0" spc="30" dirty="0">
                <a:latin typeface="Arial"/>
                <a:cs typeface="Arial"/>
              </a:rPr>
              <a:t> </a:t>
            </a:r>
            <a:r>
              <a:rPr sz="500" b="0" spc="5" dirty="0">
                <a:latin typeface="Arial"/>
                <a:cs typeface="Arial"/>
              </a:rPr>
              <a:t>S</a:t>
            </a:r>
            <a:r>
              <a:rPr sz="500" b="0" spc="30" dirty="0">
                <a:latin typeface="Arial"/>
                <a:cs typeface="Arial"/>
              </a:rPr>
              <a:t> </a:t>
            </a:r>
            <a:r>
              <a:rPr sz="500" b="0" spc="-20" dirty="0">
                <a:latin typeface="Arial"/>
                <a:cs typeface="Arial"/>
              </a:rPr>
              <a:t>I</a:t>
            </a:r>
            <a:r>
              <a:rPr sz="500" b="0" spc="30" dirty="0">
                <a:latin typeface="Arial"/>
                <a:cs typeface="Arial"/>
              </a:rPr>
              <a:t> </a:t>
            </a:r>
            <a:r>
              <a:rPr sz="500" b="0" spc="20" dirty="0">
                <a:latin typeface="Arial"/>
                <a:cs typeface="Arial"/>
              </a:rPr>
              <a:t>N</a:t>
            </a:r>
            <a:r>
              <a:rPr sz="500" b="0" spc="30" dirty="0">
                <a:latin typeface="Arial"/>
                <a:cs typeface="Arial"/>
              </a:rPr>
              <a:t> </a:t>
            </a:r>
            <a:r>
              <a:rPr sz="500" b="0" spc="-15" dirty="0">
                <a:latin typeface="Arial"/>
                <a:cs typeface="Arial"/>
              </a:rPr>
              <a:t>E</a:t>
            </a:r>
            <a:r>
              <a:rPr sz="500" b="0" spc="30" dirty="0">
                <a:latin typeface="Arial"/>
                <a:cs typeface="Arial"/>
              </a:rPr>
              <a:t> </a:t>
            </a:r>
            <a:r>
              <a:rPr sz="500" b="0" spc="5" dirty="0">
                <a:latin typeface="Arial"/>
                <a:cs typeface="Arial"/>
              </a:rPr>
              <a:t>S</a:t>
            </a:r>
            <a:r>
              <a:rPr sz="500" b="0" spc="30" dirty="0">
                <a:latin typeface="Arial"/>
                <a:cs typeface="Arial"/>
              </a:rPr>
              <a:t> </a:t>
            </a:r>
            <a:r>
              <a:rPr sz="500" b="0" spc="5" dirty="0">
                <a:latin typeface="Arial"/>
                <a:cs typeface="Arial"/>
              </a:rPr>
              <a:t>S</a:t>
            </a:r>
            <a:endParaRPr sz="500">
              <a:latin typeface="Arial"/>
              <a:cs typeface="Arial"/>
            </a:endParaRPr>
          </a:p>
        </p:txBody>
      </p:sp>
      <p:sp>
        <p:nvSpPr>
          <p:cNvPr id="5" name="Holder 5"/>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r>
              <a:rPr spc="-5" dirty="0"/>
              <a:t>2</a:t>
            </a: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defRPr sz="1350" b="1" i="0">
                <a:solidFill>
                  <a:srgbClr val="231F20"/>
                </a:solidFill>
                <a:latin typeface="Rockwell"/>
                <a:cs typeface="Rockwell"/>
              </a:defRPr>
            </a:lvl1pPr>
          </a:lstStyle>
          <a:p>
            <a:pPr marL="12700">
              <a:lnSpc>
                <a:spcPts val="1535"/>
              </a:lnSpc>
              <a:spcBef>
                <a:spcPts val="75"/>
              </a:spcBef>
            </a:pPr>
            <a:r>
              <a:rPr spc="-5" dirty="0"/>
              <a:t>Leeds</a:t>
            </a:r>
          </a:p>
          <a:p>
            <a:pPr marL="12700">
              <a:lnSpc>
                <a:spcPts val="515"/>
              </a:lnSpc>
            </a:pPr>
            <a:r>
              <a:rPr sz="500" b="0" spc="25" dirty="0">
                <a:latin typeface="Arial"/>
                <a:cs typeface="Arial"/>
              </a:rPr>
              <a:t>B </a:t>
            </a:r>
            <a:r>
              <a:rPr sz="500" b="0" spc="10" dirty="0">
                <a:latin typeface="Arial"/>
                <a:cs typeface="Arial"/>
              </a:rPr>
              <a:t>U</a:t>
            </a:r>
            <a:r>
              <a:rPr sz="500" b="0" spc="30" dirty="0">
                <a:latin typeface="Arial"/>
                <a:cs typeface="Arial"/>
              </a:rPr>
              <a:t> </a:t>
            </a:r>
            <a:r>
              <a:rPr sz="500" b="0" spc="5" dirty="0">
                <a:latin typeface="Arial"/>
                <a:cs typeface="Arial"/>
              </a:rPr>
              <a:t>S</a:t>
            </a:r>
            <a:r>
              <a:rPr sz="500" b="0" spc="30" dirty="0">
                <a:latin typeface="Arial"/>
                <a:cs typeface="Arial"/>
              </a:rPr>
              <a:t> </a:t>
            </a:r>
            <a:r>
              <a:rPr sz="500" b="0" spc="-20" dirty="0">
                <a:latin typeface="Arial"/>
                <a:cs typeface="Arial"/>
              </a:rPr>
              <a:t>I</a:t>
            </a:r>
            <a:r>
              <a:rPr sz="500" b="0" spc="30" dirty="0">
                <a:latin typeface="Arial"/>
                <a:cs typeface="Arial"/>
              </a:rPr>
              <a:t> </a:t>
            </a:r>
            <a:r>
              <a:rPr sz="500" b="0" spc="20" dirty="0">
                <a:latin typeface="Arial"/>
                <a:cs typeface="Arial"/>
              </a:rPr>
              <a:t>N</a:t>
            </a:r>
            <a:r>
              <a:rPr sz="500" b="0" spc="30" dirty="0">
                <a:latin typeface="Arial"/>
                <a:cs typeface="Arial"/>
              </a:rPr>
              <a:t> </a:t>
            </a:r>
            <a:r>
              <a:rPr sz="500" b="0" spc="-15" dirty="0">
                <a:latin typeface="Arial"/>
                <a:cs typeface="Arial"/>
              </a:rPr>
              <a:t>E</a:t>
            </a:r>
            <a:r>
              <a:rPr sz="500" b="0" spc="30" dirty="0">
                <a:latin typeface="Arial"/>
                <a:cs typeface="Arial"/>
              </a:rPr>
              <a:t> </a:t>
            </a:r>
            <a:r>
              <a:rPr sz="500" b="0" spc="5" dirty="0">
                <a:latin typeface="Arial"/>
                <a:cs typeface="Arial"/>
              </a:rPr>
              <a:t>S</a:t>
            </a:r>
            <a:r>
              <a:rPr sz="500" b="0" spc="30" dirty="0">
                <a:latin typeface="Arial"/>
                <a:cs typeface="Arial"/>
              </a:rPr>
              <a:t> </a:t>
            </a:r>
            <a:r>
              <a:rPr sz="500" b="0" spc="5" dirty="0">
                <a:latin typeface="Arial"/>
                <a:cs typeface="Arial"/>
              </a:rPr>
              <a:t>S</a:t>
            </a:r>
            <a:endParaRPr sz="500">
              <a:latin typeface="Arial"/>
              <a:cs typeface="Arial"/>
            </a:endParaRPr>
          </a:p>
        </p:txBody>
      </p:sp>
      <p:sp>
        <p:nvSpPr>
          <p:cNvPr id="4" name="Holder 4"/>
          <p:cNvSpPr>
            <a:spLocks noGrp="1"/>
          </p:cNvSpPr>
          <p:nvPr>
            <p:ph type="sldNum" sz="quarter" idx="7"/>
          </p:nvPr>
        </p:nvSpPr>
        <p:spPr/>
        <p:txBody>
          <a:bodyPr lIns="0" tIns="0" rIns="0" bIns="0"/>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r>
              <a:rPr spc="-5" dirty="0"/>
              <a:t>2</a:t>
            </a: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2" y="0"/>
            <a:ext cx="4608830" cy="3456940"/>
          </a:xfrm>
          <a:custGeom>
            <a:avLst/>
            <a:gdLst/>
            <a:ahLst/>
            <a:cxnLst/>
            <a:rect l="l" t="t" r="r" b="b"/>
            <a:pathLst>
              <a:path w="4608830" h="3456940">
                <a:moveTo>
                  <a:pt x="0" y="3456431"/>
                </a:moveTo>
                <a:lnTo>
                  <a:pt x="4608576" y="3456431"/>
                </a:lnTo>
                <a:lnTo>
                  <a:pt x="4608576" y="0"/>
                </a:lnTo>
                <a:lnTo>
                  <a:pt x="0" y="0"/>
                </a:lnTo>
                <a:lnTo>
                  <a:pt x="0" y="3456431"/>
                </a:lnTo>
                <a:close/>
              </a:path>
            </a:pathLst>
          </a:custGeom>
          <a:solidFill>
            <a:srgbClr val="FEFEFE"/>
          </a:solidFill>
        </p:spPr>
        <p:txBody>
          <a:bodyPr wrap="square" lIns="0" tIns="0" rIns="0" bIns="0" rtlCol="0"/>
          <a:lstStyle/>
          <a:p>
            <a:endParaRPr/>
          </a:p>
        </p:txBody>
      </p:sp>
      <p:sp>
        <p:nvSpPr>
          <p:cNvPr id="17" name="bg object 17"/>
          <p:cNvSpPr/>
          <p:nvPr/>
        </p:nvSpPr>
        <p:spPr>
          <a:xfrm>
            <a:off x="-152"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A0A2A1"/>
          </a:solidFill>
        </p:spPr>
        <p:txBody>
          <a:bodyPr wrap="square" lIns="0" tIns="0" rIns="0" bIns="0" rtlCol="0"/>
          <a:lstStyle/>
          <a:p>
            <a:endParaRPr/>
          </a:p>
        </p:txBody>
      </p:sp>
      <p:sp>
        <p:nvSpPr>
          <p:cNvPr id="18" name="bg object 18"/>
          <p:cNvSpPr/>
          <p:nvPr/>
        </p:nvSpPr>
        <p:spPr>
          <a:xfrm>
            <a:off x="2304135" y="0"/>
            <a:ext cx="2304415" cy="129539"/>
          </a:xfrm>
          <a:custGeom>
            <a:avLst/>
            <a:gdLst/>
            <a:ahLst/>
            <a:cxnLst/>
            <a:rect l="l" t="t" r="r" b="b"/>
            <a:pathLst>
              <a:path w="2304415" h="129539">
                <a:moveTo>
                  <a:pt x="0" y="129540"/>
                </a:moveTo>
                <a:lnTo>
                  <a:pt x="2304288" y="129540"/>
                </a:lnTo>
                <a:lnTo>
                  <a:pt x="2304288" y="0"/>
                </a:lnTo>
                <a:lnTo>
                  <a:pt x="0" y="0"/>
                </a:lnTo>
                <a:lnTo>
                  <a:pt x="0" y="129540"/>
                </a:lnTo>
                <a:close/>
              </a:path>
            </a:pathLst>
          </a:custGeom>
          <a:solidFill>
            <a:srgbClr val="CEB67B"/>
          </a:solidFill>
        </p:spPr>
        <p:txBody>
          <a:bodyPr wrap="square" lIns="0" tIns="0" rIns="0" bIns="0" rtlCol="0"/>
          <a:lstStyle/>
          <a:p>
            <a:endParaRPr/>
          </a:p>
        </p:txBody>
      </p:sp>
      <p:sp>
        <p:nvSpPr>
          <p:cNvPr id="2" name="Holder 2"/>
          <p:cNvSpPr>
            <a:spLocks noGrp="1"/>
          </p:cNvSpPr>
          <p:nvPr>
            <p:ph type="title"/>
          </p:nvPr>
        </p:nvSpPr>
        <p:spPr>
          <a:xfrm>
            <a:off x="1052575" y="190295"/>
            <a:ext cx="2504948" cy="244475"/>
          </a:xfrm>
          <a:prstGeom prst="rect">
            <a:avLst/>
          </a:prstGeom>
        </p:spPr>
        <p:txBody>
          <a:bodyPr wrap="square" lIns="0" tIns="0" rIns="0" bIns="0">
            <a:spAutoFit/>
          </a:bodyPr>
          <a:lstStyle>
            <a:lvl1pPr>
              <a:defRPr sz="1400" b="1" i="0">
                <a:solidFill>
                  <a:srgbClr val="526894"/>
                </a:solidFill>
                <a:latin typeface="Arial"/>
                <a:cs typeface="Arial"/>
              </a:defRPr>
            </a:lvl1pPr>
          </a:lstStyle>
          <a:p>
            <a:endParaRPr/>
          </a:p>
        </p:txBody>
      </p:sp>
      <p:sp>
        <p:nvSpPr>
          <p:cNvPr id="3" name="Holder 3"/>
          <p:cNvSpPr>
            <a:spLocks noGrp="1"/>
          </p:cNvSpPr>
          <p:nvPr>
            <p:ph type="body" idx="1"/>
          </p:nvPr>
        </p:nvSpPr>
        <p:spPr>
          <a:xfrm>
            <a:off x="133858" y="602754"/>
            <a:ext cx="4342383" cy="2241550"/>
          </a:xfrm>
          <a:prstGeom prst="rect">
            <a:avLst/>
          </a:prstGeom>
        </p:spPr>
        <p:txBody>
          <a:bodyPr wrap="square" lIns="0" tIns="0" rIns="0" bIns="0">
            <a:spAutoFit/>
          </a:bodyPr>
          <a:lstStyle>
            <a:lvl1pPr>
              <a:defRPr sz="1100" b="0" i="0">
                <a:solidFill>
                  <a:schemeClr val="tx1"/>
                </a:solidFill>
                <a:latin typeface="Arial"/>
                <a:cs typeface="Arial"/>
              </a:defRPr>
            </a:lvl1pPr>
          </a:lstStyle>
          <a:p>
            <a:endParaRPr/>
          </a:p>
        </p:txBody>
      </p:sp>
      <p:sp>
        <p:nvSpPr>
          <p:cNvPr id="5" name="Holder 5"/>
          <p:cNvSpPr>
            <a:spLocks noGrp="1"/>
          </p:cNvSpPr>
          <p:nvPr>
            <p:ph type="dt" sz="half" idx="6"/>
          </p:nvPr>
        </p:nvSpPr>
        <p:spPr>
          <a:xfrm>
            <a:off x="3966640" y="2949162"/>
            <a:ext cx="526414" cy="271144"/>
          </a:xfrm>
          <a:prstGeom prst="rect">
            <a:avLst/>
          </a:prstGeom>
        </p:spPr>
        <p:txBody>
          <a:bodyPr wrap="square" lIns="0" tIns="0" rIns="0" bIns="0">
            <a:spAutoFit/>
          </a:bodyPr>
          <a:lstStyle>
            <a:lvl1pPr>
              <a:defRPr sz="1350" b="1" i="0">
                <a:solidFill>
                  <a:srgbClr val="231F20"/>
                </a:solidFill>
                <a:latin typeface="Rockwell"/>
                <a:cs typeface="Rockwell"/>
              </a:defRPr>
            </a:lvl1pPr>
          </a:lstStyle>
          <a:p>
            <a:pPr marL="12700">
              <a:lnSpc>
                <a:spcPts val="1535"/>
              </a:lnSpc>
              <a:spcBef>
                <a:spcPts val="75"/>
              </a:spcBef>
            </a:pPr>
            <a:r>
              <a:rPr spc="-5" dirty="0"/>
              <a:t>Leeds</a:t>
            </a:r>
          </a:p>
          <a:p>
            <a:pPr marL="12700">
              <a:lnSpc>
                <a:spcPts val="515"/>
              </a:lnSpc>
            </a:pPr>
            <a:r>
              <a:rPr sz="500" b="0" spc="25" dirty="0">
                <a:latin typeface="Arial"/>
                <a:cs typeface="Arial"/>
              </a:rPr>
              <a:t>B </a:t>
            </a:r>
            <a:r>
              <a:rPr sz="500" b="0" spc="10" dirty="0">
                <a:latin typeface="Arial"/>
                <a:cs typeface="Arial"/>
              </a:rPr>
              <a:t>U</a:t>
            </a:r>
            <a:r>
              <a:rPr sz="500" b="0" spc="30" dirty="0">
                <a:latin typeface="Arial"/>
                <a:cs typeface="Arial"/>
              </a:rPr>
              <a:t> </a:t>
            </a:r>
            <a:r>
              <a:rPr sz="500" b="0" spc="5" dirty="0">
                <a:latin typeface="Arial"/>
                <a:cs typeface="Arial"/>
              </a:rPr>
              <a:t>S</a:t>
            </a:r>
            <a:r>
              <a:rPr sz="500" b="0" spc="30" dirty="0">
                <a:latin typeface="Arial"/>
                <a:cs typeface="Arial"/>
              </a:rPr>
              <a:t> </a:t>
            </a:r>
            <a:r>
              <a:rPr sz="500" b="0" spc="-20" dirty="0">
                <a:latin typeface="Arial"/>
                <a:cs typeface="Arial"/>
              </a:rPr>
              <a:t>I</a:t>
            </a:r>
            <a:r>
              <a:rPr sz="500" b="0" spc="30" dirty="0">
                <a:latin typeface="Arial"/>
                <a:cs typeface="Arial"/>
              </a:rPr>
              <a:t> </a:t>
            </a:r>
            <a:r>
              <a:rPr sz="500" b="0" spc="20" dirty="0">
                <a:latin typeface="Arial"/>
                <a:cs typeface="Arial"/>
              </a:rPr>
              <a:t>N</a:t>
            </a:r>
            <a:r>
              <a:rPr sz="500" b="0" spc="30" dirty="0">
                <a:latin typeface="Arial"/>
                <a:cs typeface="Arial"/>
              </a:rPr>
              <a:t> </a:t>
            </a:r>
            <a:r>
              <a:rPr sz="500" b="0" spc="-15" dirty="0">
                <a:latin typeface="Arial"/>
                <a:cs typeface="Arial"/>
              </a:rPr>
              <a:t>E</a:t>
            </a:r>
            <a:r>
              <a:rPr sz="500" b="0" spc="30" dirty="0">
                <a:latin typeface="Arial"/>
                <a:cs typeface="Arial"/>
              </a:rPr>
              <a:t> </a:t>
            </a:r>
            <a:r>
              <a:rPr sz="500" b="0" spc="5" dirty="0">
                <a:latin typeface="Arial"/>
                <a:cs typeface="Arial"/>
              </a:rPr>
              <a:t>S</a:t>
            </a:r>
            <a:r>
              <a:rPr sz="500" b="0" spc="30" dirty="0">
                <a:latin typeface="Arial"/>
                <a:cs typeface="Arial"/>
              </a:rPr>
              <a:t> </a:t>
            </a:r>
            <a:r>
              <a:rPr sz="500" b="0" spc="5" dirty="0">
                <a:latin typeface="Arial"/>
                <a:cs typeface="Arial"/>
              </a:rPr>
              <a:t>S</a:t>
            </a:r>
            <a:endParaRPr sz="500">
              <a:latin typeface="Arial"/>
              <a:cs typeface="Arial"/>
            </a:endParaRPr>
          </a:p>
        </p:txBody>
      </p:sp>
      <p:sp>
        <p:nvSpPr>
          <p:cNvPr id="6" name="Holder 6"/>
          <p:cNvSpPr>
            <a:spLocks noGrp="1"/>
          </p:cNvSpPr>
          <p:nvPr>
            <p:ph type="sldNum" sz="quarter" idx="7"/>
          </p:nvPr>
        </p:nvSpPr>
        <p:spPr>
          <a:xfrm>
            <a:off x="3507481" y="3033934"/>
            <a:ext cx="343535" cy="101600"/>
          </a:xfrm>
          <a:prstGeom prst="rect">
            <a:avLst/>
          </a:prstGeom>
        </p:spPr>
        <p:txBody>
          <a:bodyPr wrap="square" lIns="0" tIns="0" rIns="0" bIns="0">
            <a:spAutoFit/>
          </a:bodyPr>
          <a:lstStyle>
            <a:lvl1pPr>
              <a:defRPr sz="600" b="0" i="0">
                <a:solidFill>
                  <a:schemeClr val="tx1"/>
                </a:solidFill>
                <a:latin typeface="Arial"/>
                <a:cs typeface="Arial"/>
              </a:defRPr>
            </a:lvl1pPr>
          </a:lstStyle>
          <a:p>
            <a:pPr marL="12700">
              <a:lnSpc>
                <a:spcPts val="685"/>
              </a:lnSpc>
            </a:pPr>
            <a:r>
              <a:rPr spc="-35" dirty="0"/>
              <a:t>P</a:t>
            </a:r>
            <a:r>
              <a:rPr spc="-5" dirty="0"/>
              <a:t>age</a:t>
            </a:r>
            <a:r>
              <a:rPr spc="-10" dirty="0"/>
              <a:t> </a:t>
            </a:r>
            <a:r>
              <a:rPr spc="-5" dirty="0"/>
              <a:t>2</a:t>
            </a: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heather-evans-ri/"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66640" y="2946437"/>
            <a:ext cx="526415" cy="231140"/>
          </a:xfrm>
          <a:prstGeom prst="rect">
            <a:avLst/>
          </a:prstGeom>
        </p:spPr>
        <p:txBody>
          <a:bodyPr vert="horz" wrap="square" lIns="0" tIns="12065" rIns="0" bIns="0" rtlCol="0">
            <a:spAutoFit/>
          </a:bodyPr>
          <a:lstStyle/>
          <a:p>
            <a:pPr marL="12700">
              <a:lnSpc>
                <a:spcPct val="100000"/>
              </a:lnSpc>
              <a:spcBef>
                <a:spcPts val="95"/>
              </a:spcBef>
            </a:pPr>
            <a:r>
              <a:rPr sz="1350" b="1" spc="-5" dirty="0">
                <a:solidFill>
                  <a:srgbClr val="231F20"/>
                </a:solidFill>
                <a:latin typeface="Rockwell"/>
                <a:cs typeface="Rockwell"/>
              </a:rPr>
              <a:t>Leeds</a:t>
            </a:r>
            <a:endParaRPr sz="1350">
              <a:latin typeface="Rockwell"/>
              <a:cs typeface="Rockwell"/>
            </a:endParaRPr>
          </a:p>
        </p:txBody>
      </p:sp>
      <p:grpSp>
        <p:nvGrpSpPr>
          <p:cNvPr id="3" name="object 3"/>
          <p:cNvGrpSpPr/>
          <p:nvPr/>
        </p:nvGrpSpPr>
        <p:grpSpPr>
          <a:xfrm>
            <a:off x="3648455" y="2932247"/>
            <a:ext cx="297815" cy="287655"/>
            <a:chOff x="3648455" y="2932247"/>
            <a:chExt cx="297815" cy="287655"/>
          </a:xfrm>
        </p:grpSpPr>
        <p:sp>
          <p:nvSpPr>
            <p:cNvPr id="4" name="object 4"/>
            <p:cNvSpPr/>
            <p:nvPr/>
          </p:nvSpPr>
          <p:spPr>
            <a:xfrm>
              <a:off x="3648455" y="2932247"/>
              <a:ext cx="297815" cy="287655"/>
            </a:xfrm>
            <a:custGeom>
              <a:avLst/>
              <a:gdLst/>
              <a:ahLst/>
              <a:cxnLst/>
              <a:rect l="l" t="t" r="r" b="b"/>
              <a:pathLst>
                <a:path w="297814" h="287655">
                  <a:moveTo>
                    <a:pt x="175778" y="0"/>
                  </a:moveTo>
                  <a:lnTo>
                    <a:pt x="39471" y="0"/>
                  </a:lnTo>
                  <a:lnTo>
                    <a:pt x="0" y="39421"/>
                  </a:lnTo>
                  <a:lnTo>
                    <a:pt x="0" y="175503"/>
                  </a:lnTo>
                  <a:lnTo>
                    <a:pt x="39471" y="214896"/>
                  </a:lnTo>
                  <a:lnTo>
                    <a:pt x="82753" y="214896"/>
                  </a:lnTo>
                  <a:lnTo>
                    <a:pt x="82753" y="248012"/>
                  </a:lnTo>
                  <a:lnTo>
                    <a:pt x="122544" y="287452"/>
                  </a:lnTo>
                  <a:lnTo>
                    <a:pt x="237576" y="287452"/>
                  </a:lnTo>
                  <a:lnTo>
                    <a:pt x="277459" y="248043"/>
                  </a:lnTo>
                  <a:lnTo>
                    <a:pt x="277459" y="142625"/>
                  </a:lnTo>
                  <a:lnTo>
                    <a:pt x="297774" y="142625"/>
                  </a:lnTo>
                  <a:lnTo>
                    <a:pt x="297774" y="72443"/>
                  </a:lnTo>
                  <a:lnTo>
                    <a:pt x="215127" y="72443"/>
                  </a:lnTo>
                  <a:lnTo>
                    <a:pt x="215127" y="39427"/>
                  </a:lnTo>
                  <a:lnTo>
                    <a:pt x="175778" y="0"/>
                  </a:lnTo>
                  <a:close/>
                </a:path>
              </a:pathLst>
            </a:custGeom>
            <a:solidFill>
              <a:srgbClr val="CFB87C"/>
            </a:solidFill>
          </p:spPr>
          <p:txBody>
            <a:bodyPr wrap="square" lIns="0" tIns="0" rIns="0" bIns="0" rtlCol="0"/>
            <a:lstStyle/>
            <a:p>
              <a:endParaRPr/>
            </a:p>
          </p:txBody>
        </p:sp>
        <p:sp>
          <p:nvSpPr>
            <p:cNvPr id="5" name="object 5"/>
            <p:cNvSpPr/>
            <p:nvPr/>
          </p:nvSpPr>
          <p:spPr>
            <a:xfrm>
              <a:off x="3652540" y="2936332"/>
              <a:ext cx="290195" cy="279400"/>
            </a:xfrm>
            <a:custGeom>
              <a:avLst/>
              <a:gdLst/>
              <a:ahLst/>
              <a:cxnLst/>
              <a:rect l="l" t="t" r="r" b="b"/>
              <a:pathLst>
                <a:path w="290195" h="279400">
                  <a:moveTo>
                    <a:pt x="170017" y="0"/>
                  </a:moveTo>
                  <a:lnTo>
                    <a:pt x="37063" y="0"/>
                  </a:lnTo>
                  <a:lnTo>
                    <a:pt x="0" y="37033"/>
                  </a:lnTo>
                  <a:lnTo>
                    <a:pt x="0" y="169705"/>
                  </a:lnTo>
                  <a:lnTo>
                    <a:pt x="37063" y="206727"/>
                  </a:lnTo>
                  <a:lnTo>
                    <a:pt x="82783" y="206727"/>
                  </a:lnTo>
                  <a:lnTo>
                    <a:pt x="82783" y="242244"/>
                  </a:lnTo>
                  <a:lnTo>
                    <a:pt x="120136" y="279266"/>
                  </a:lnTo>
                  <a:lnTo>
                    <a:pt x="231815" y="279266"/>
                  </a:lnTo>
                  <a:lnTo>
                    <a:pt x="269275" y="242244"/>
                  </a:lnTo>
                  <a:lnTo>
                    <a:pt x="269275" y="134474"/>
                  </a:lnTo>
                  <a:lnTo>
                    <a:pt x="289590" y="134474"/>
                  </a:lnTo>
                  <a:lnTo>
                    <a:pt x="289590" y="72455"/>
                  </a:lnTo>
                  <a:lnTo>
                    <a:pt x="206943" y="72455"/>
                  </a:lnTo>
                  <a:lnTo>
                    <a:pt x="206943" y="37039"/>
                  </a:lnTo>
                  <a:lnTo>
                    <a:pt x="170017" y="0"/>
                  </a:lnTo>
                  <a:close/>
                </a:path>
              </a:pathLst>
            </a:custGeom>
            <a:solidFill>
              <a:srgbClr val="231F20"/>
            </a:solidFill>
          </p:spPr>
          <p:txBody>
            <a:bodyPr wrap="square" lIns="0" tIns="0" rIns="0" bIns="0" rtlCol="0"/>
            <a:lstStyle/>
            <a:p>
              <a:endParaRPr/>
            </a:p>
          </p:txBody>
        </p:sp>
        <p:sp>
          <p:nvSpPr>
            <p:cNvPr id="6" name="object 6"/>
            <p:cNvSpPr/>
            <p:nvPr/>
          </p:nvSpPr>
          <p:spPr>
            <a:xfrm>
              <a:off x="3662751" y="2946553"/>
              <a:ext cx="269240" cy="259079"/>
            </a:xfrm>
            <a:custGeom>
              <a:avLst/>
              <a:gdLst/>
              <a:ahLst/>
              <a:cxnLst/>
              <a:rect l="l" t="t" r="r" b="b"/>
              <a:pathLst>
                <a:path w="269239" h="259080">
                  <a:moveTo>
                    <a:pt x="155554" y="0"/>
                  </a:moveTo>
                  <a:lnTo>
                    <a:pt x="31104" y="0"/>
                  </a:lnTo>
                  <a:lnTo>
                    <a:pt x="0" y="31039"/>
                  </a:lnTo>
                  <a:lnTo>
                    <a:pt x="0" y="155245"/>
                  </a:lnTo>
                  <a:lnTo>
                    <a:pt x="31104" y="186266"/>
                  </a:lnTo>
                  <a:lnTo>
                    <a:pt x="82783" y="186266"/>
                  </a:lnTo>
                  <a:lnTo>
                    <a:pt x="82783" y="227754"/>
                  </a:lnTo>
                  <a:lnTo>
                    <a:pt x="114132" y="258823"/>
                  </a:lnTo>
                  <a:lnTo>
                    <a:pt x="217413" y="258823"/>
                  </a:lnTo>
                  <a:lnTo>
                    <a:pt x="248838" y="227754"/>
                  </a:lnTo>
                  <a:lnTo>
                    <a:pt x="248838" y="114013"/>
                  </a:lnTo>
                  <a:lnTo>
                    <a:pt x="269168" y="114013"/>
                  </a:lnTo>
                  <a:lnTo>
                    <a:pt x="269168" y="72455"/>
                  </a:lnTo>
                  <a:lnTo>
                    <a:pt x="206822" y="72455"/>
                  </a:lnTo>
                  <a:lnTo>
                    <a:pt x="206822" y="217311"/>
                  </a:lnTo>
                  <a:lnTo>
                    <a:pt x="124327" y="217311"/>
                  </a:lnTo>
                  <a:lnTo>
                    <a:pt x="124327" y="186266"/>
                  </a:lnTo>
                  <a:lnTo>
                    <a:pt x="155554" y="186266"/>
                  </a:lnTo>
                  <a:lnTo>
                    <a:pt x="186522" y="155245"/>
                  </a:lnTo>
                  <a:lnTo>
                    <a:pt x="186522" y="114013"/>
                  </a:lnTo>
                  <a:lnTo>
                    <a:pt x="144978" y="114013"/>
                  </a:lnTo>
                  <a:lnTo>
                    <a:pt x="144978" y="144821"/>
                  </a:lnTo>
                  <a:lnTo>
                    <a:pt x="124327" y="144821"/>
                  </a:lnTo>
                  <a:lnTo>
                    <a:pt x="124327" y="72455"/>
                  </a:lnTo>
                  <a:lnTo>
                    <a:pt x="62163" y="72455"/>
                  </a:lnTo>
                  <a:lnTo>
                    <a:pt x="62163" y="114013"/>
                  </a:lnTo>
                  <a:lnTo>
                    <a:pt x="82783" y="114013"/>
                  </a:lnTo>
                  <a:lnTo>
                    <a:pt x="82783" y="144821"/>
                  </a:lnTo>
                  <a:lnTo>
                    <a:pt x="41483" y="144821"/>
                  </a:lnTo>
                  <a:lnTo>
                    <a:pt x="41483" y="41164"/>
                  </a:lnTo>
                  <a:lnTo>
                    <a:pt x="144978" y="41164"/>
                  </a:lnTo>
                  <a:lnTo>
                    <a:pt x="144978" y="72455"/>
                  </a:lnTo>
                  <a:lnTo>
                    <a:pt x="186522" y="72455"/>
                  </a:lnTo>
                  <a:lnTo>
                    <a:pt x="186522" y="31056"/>
                  </a:lnTo>
                  <a:lnTo>
                    <a:pt x="155554" y="0"/>
                  </a:lnTo>
                  <a:close/>
                </a:path>
              </a:pathLst>
            </a:custGeom>
            <a:solidFill>
              <a:srgbClr val="FFFFFF"/>
            </a:solidFill>
          </p:spPr>
          <p:txBody>
            <a:bodyPr wrap="square" lIns="0" tIns="0" rIns="0" bIns="0" rtlCol="0"/>
            <a:lstStyle/>
            <a:p>
              <a:endParaRPr/>
            </a:p>
          </p:txBody>
        </p:sp>
        <p:sp>
          <p:nvSpPr>
            <p:cNvPr id="7" name="object 7"/>
            <p:cNvSpPr/>
            <p:nvPr/>
          </p:nvSpPr>
          <p:spPr>
            <a:xfrm>
              <a:off x="3667871" y="2951666"/>
              <a:ext cx="259079" cy="248920"/>
            </a:xfrm>
            <a:custGeom>
              <a:avLst/>
              <a:gdLst/>
              <a:ahLst/>
              <a:cxnLst/>
              <a:rect l="l" t="t" r="r" b="b"/>
              <a:pathLst>
                <a:path w="259079" h="248919">
                  <a:moveTo>
                    <a:pt x="148315" y="0"/>
                  </a:moveTo>
                  <a:lnTo>
                    <a:pt x="28102" y="0"/>
                  </a:lnTo>
                  <a:lnTo>
                    <a:pt x="0" y="28050"/>
                  </a:lnTo>
                  <a:lnTo>
                    <a:pt x="0" y="148024"/>
                  </a:lnTo>
                  <a:lnTo>
                    <a:pt x="28087" y="176046"/>
                  </a:lnTo>
                  <a:lnTo>
                    <a:pt x="82783" y="176046"/>
                  </a:lnTo>
                  <a:lnTo>
                    <a:pt x="82783" y="220504"/>
                  </a:lnTo>
                  <a:lnTo>
                    <a:pt x="111130" y="248614"/>
                  </a:lnTo>
                  <a:lnTo>
                    <a:pt x="210174" y="248614"/>
                  </a:lnTo>
                  <a:lnTo>
                    <a:pt x="238612" y="220486"/>
                  </a:lnTo>
                  <a:lnTo>
                    <a:pt x="238612" y="103804"/>
                  </a:lnTo>
                  <a:lnTo>
                    <a:pt x="258927" y="103804"/>
                  </a:lnTo>
                  <a:lnTo>
                    <a:pt x="258927" y="72467"/>
                  </a:lnTo>
                  <a:lnTo>
                    <a:pt x="206822" y="72467"/>
                  </a:lnTo>
                  <a:lnTo>
                    <a:pt x="206822" y="217294"/>
                  </a:lnTo>
                  <a:lnTo>
                    <a:pt x="114086" y="217294"/>
                  </a:lnTo>
                  <a:lnTo>
                    <a:pt x="114086" y="176046"/>
                  </a:lnTo>
                  <a:lnTo>
                    <a:pt x="148315" y="176046"/>
                  </a:lnTo>
                  <a:lnTo>
                    <a:pt x="176296" y="148024"/>
                  </a:lnTo>
                  <a:lnTo>
                    <a:pt x="176296" y="114019"/>
                  </a:lnTo>
                  <a:lnTo>
                    <a:pt x="144978" y="114019"/>
                  </a:lnTo>
                  <a:lnTo>
                    <a:pt x="144978" y="144815"/>
                  </a:lnTo>
                  <a:lnTo>
                    <a:pt x="114086" y="144815"/>
                  </a:lnTo>
                  <a:lnTo>
                    <a:pt x="114086" y="72467"/>
                  </a:lnTo>
                  <a:lnTo>
                    <a:pt x="62148" y="72467"/>
                  </a:lnTo>
                  <a:lnTo>
                    <a:pt x="62148" y="103804"/>
                  </a:lnTo>
                  <a:lnTo>
                    <a:pt x="82783" y="103804"/>
                  </a:lnTo>
                  <a:lnTo>
                    <a:pt x="82783" y="144815"/>
                  </a:lnTo>
                  <a:lnTo>
                    <a:pt x="31241" y="144815"/>
                  </a:lnTo>
                  <a:lnTo>
                    <a:pt x="31241" y="30950"/>
                  </a:lnTo>
                  <a:lnTo>
                    <a:pt x="144978" y="30950"/>
                  </a:lnTo>
                  <a:lnTo>
                    <a:pt x="144978" y="62227"/>
                  </a:lnTo>
                  <a:lnTo>
                    <a:pt x="176296" y="62227"/>
                  </a:lnTo>
                  <a:lnTo>
                    <a:pt x="176296" y="28050"/>
                  </a:lnTo>
                  <a:lnTo>
                    <a:pt x="148315" y="0"/>
                  </a:lnTo>
                  <a:close/>
                </a:path>
              </a:pathLst>
            </a:custGeom>
            <a:solidFill>
              <a:srgbClr val="CFB87C"/>
            </a:solidFill>
          </p:spPr>
          <p:txBody>
            <a:bodyPr wrap="square" lIns="0" tIns="0" rIns="0" bIns="0" rtlCol="0"/>
            <a:lstStyle/>
            <a:p>
              <a:endParaRPr/>
            </a:p>
          </p:txBody>
        </p:sp>
      </p:grpSp>
      <p:sp>
        <p:nvSpPr>
          <p:cNvPr id="8" name="object 8"/>
          <p:cNvSpPr txBox="1">
            <a:spLocks noGrp="1"/>
          </p:cNvSpPr>
          <p:nvPr>
            <p:ph type="title"/>
          </p:nvPr>
        </p:nvSpPr>
        <p:spPr>
          <a:xfrm>
            <a:off x="271081" y="434975"/>
            <a:ext cx="4067937" cy="375103"/>
          </a:xfrm>
          <a:prstGeom prst="rect">
            <a:avLst/>
          </a:prstGeom>
        </p:spPr>
        <p:txBody>
          <a:bodyPr vert="horz" wrap="square" lIns="0" tIns="6985" rIns="0" bIns="0" rtlCol="0">
            <a:spAutoFit/>
          </a:bodyPr>
          <a:lstStyle/>
          <a:p>
            <a:pPr marL="459105" marR="5080" indent="-447040" algn="ctr">
              <a:lnSpc>
                <a:spcPct val="102699"/>
              </a:lnSpc>
              <a:spcBef>
                <a:spcPts val="55"/>
              </a:spcBef>
            </a:pPr>
            <a:r>
              <a:rPr lang="fr-FR" sz="2400" spc="-10" dirty="0">
                <a:solidFill>
                  <a:srgbClr val="000000"/>
                </a:solidFill>
                <a:latin typeface="Garamond" panose="02020404030301010803" pitchFamily="18" charset="0"/>
              </a:rPr>
              <a:t>Heather Evans</a:t>
            </a:r>
            <a:endParaRPr sz="2400" dirty="0"/>
          </a:p>
        </p:txBody>
      </p:sp>
      <p:sp>
        <p:nvSpPr>
          <p:cNvPr id="10" name="object 10"/>
          <p:cNvSpPr/>
          <p:nvPr/>
        </p:nvSpPr>
        <p:spPr>
          <a:xfrm>
            <a:off x="-152" y="3337814"/>
            <a:ext cx="1536700" cy="129539"/>
          </a:xfrm>
          <a:custGeom>
            <a:avLst/>
            <a:gdLst/>
            <a:ahLst/>
            <a:cxnLst/>
            <a:rect l="l" t="t" r="r" b="b"/>
            <a:pathLst>
              <a:path w="1536700" h="129539">
                <a:moveTo>
                  <a:pt x="0" y="129539"/>
                </a:moveTo>
                <a:lnTo>
                  <a:pt x="1536192" y="129539"/>
                </a:lnTo>
                <a:lnTo>
                  <a:pt x="1536192" y="0"/>
                </a:lnTo>
                <a:lnTo>
                  <a:pt x="0" y="0"/>
                </a:lnTo>
                <a:lnTo>
                  <a:pt x="0" y="129539"/>
                </a:lnTo>
                <a:close/>
              </a:path>
            </a:pathLst>
          </a:custGeom>
          <a:solidFill>
            <a:srgbClr val="A0A2A1"/>
          </a:solidFill>
        </p:spPr>
        <p:txBody>
          <a:bodyPr wrap="square" lIns="0" tIns="0" rIns="0" bIns="0" rtlCol="0"/>
          <a:lstStyle/>
          <a:p>
            <a:endParaRPr/>
          </a:p>
        </p:txBody>
      </p:sp>
      <p:sp>
        <p:nvSpPr>
          <p:cNvPr id="11" name="object 11"/>
          <p:cNvSpPr/>
          <p:nvPr/>
        </p:nvSpPr>
        <p:spPr>
          <a:xfrm>
            <a:off x="3072231" y="3326663"/>
            <a:ext cx="1536700" cy="129539"/>
          </a:xfrm>
          <a:custGeom>
            <a:avLst/>
            <a:gdLst/>
            <a:ahLst/>
            <a:cxnLst/>
            <a:rect l="l" t="t" r="r" b="b"/>
            <a:pathLst>
              <a:path w="1536700" h="129539">
                <a:moveTo>
                  <a:pt x="0" y="129539"/>
                </a:moveTo>
                <a:lnTo>
                  <a:pt x="1536191" y="129539"/>
                </a:lnTo>
                <a:lnTo>
                  <a:pt x="1536191" y="0"/>
                </a:lnTo>
                <a:lnTo>
                  <a:pt x="0" y="0"/>
                </a:lnTo>
                <a:lnTo>
                  <a:pt x="0" y="129539"/>
                </a:lnTo>
                <a:close/>
              </a:path>
            </a:pathLst>
          </a:custGeom>
          <a:solidFill>
            <a:srgbClr val="CEB67B"/>
          </a:solidFill>
        </p:spPr>
        <p:txBody>
          <a:bodyPr wrap="square" lIns="0" tIns="0" rIns="0" bIns="0" rtlCol="0"/>
          <a:lstStyle/>
          <a:p>
            <a:endParaRPr/>
          </a:p>
        </p:txBody>
      </p:sp>
      <p:sp>
        <p:nvSpPr>
          <p:cNvPr id="12" name="object 12"/>
          <p:cNvSpPr txBox="1"/>
          <p:nvPr/>
        </p:nvSpPr>
        <p:spPr>
          <a:xfrm>
            <a:off x="3966640" y="3126132"/>
            <a:ext cx="516255" cy="93980"/>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231F20"/>
                </a:solidFill>
                <a:latin typeface="Arial"/>
                <a:cs typeface="Arial"/>
              </a:rPr>
              <a:t>B</a:t>
            </a:r>
            <a:r>
              <a:rPr sz="500" spc="30" dirty="0">
                <a:solidFill>
                  <a:srgbClr val="231F20"/>
                </a:solidFill>
                <a:latin typeface="Arial"/>
                <a:cs typeface="Arial"/>
              </a:rPr>
              <a:t> </a:t>
            </a:r>
            <a:r>
              <a:rPr sz="500" spc="10" dirty="0">
                <a:solidFill>
                  <a:srgbClr val="231F20"/>
                </a:solidFill>
                <a:latin typeface="Arial"/>
                <a:cs typeface="Arial"/>
              </a:rPr>
              <a:t>U</a:t>
            </a:r>
            <a:r>
              <a:rPr sz="500" spc="30" dirty="0">
                <a:solidFill>
                  <a:srgbClr val="231F20"/>
                </a:solidFill>
                <a:latin typeface="Arial"/>
                <a:cs typeface="Arial"/>
              </a:rPr>
              <a:t> </a:t>
            </a:r>
            <a:r>
              <a:rPr sz="500" spc="5" dirty="0">
                <a:solidFill>
                  <a:srgbClr val="231F20"/>
                </a:solidFill>
                <a:latin typeface="Arial"/>
                <a:cs typeface="Arial"/>
              </a:rPr>
              <a:t>S</a:t>
            </a:r>
            <a:r>
              <a:rPr sz="500" spc="30" dirty="0">
                <a:solidFill>
                  <a:srgbClr val="231F20"/>
                </a:solidFill>
                <a:latin typeface="Arial"/>
                <a:cs typeface="Arial"/>
              </a:rPr>
              <a:t> </a:t>
            </a:r>
            <a:r>
              <a:rPr sz="500" spc="-20" dirty="0">
                <a:solidFill>
                  <a:srgbClr val="231F20"/>
                </a:solidFill>
                <a:latin typeface="Arial"/>
                <a:cs typeface="Arial"/>
              </a:rPr>
              <a:t>I</a:t>
            </a:r>
            <a:r>
              <a:rPr sz="500" spc="30" dirty="0">
                <a:solidFill>
                  <a:srgbClr val="231F20"/>
                </a:solidFill>
                <a:latin typeface="Arial"/>
                <a:cs typeface="Arial"/>
              </a:rPr>
              <a:t> </a:t>
            </a:r>
            <a:r>
              <a:rPr sz="500" spc="20" dirty="0">
                <a:solidFill>
                  <a:srgbClr val="231F20"/>
                </a:solidFill>
                <a:latin typeface="Arial"/>
                <a:cs typeface="Arial"/>
              </a:rPr>
              <a:t>N</a:t>
            </a:r>
            <a:r>
              <a:rPr sz="500" spc="30" dirty="0">
                <a:solidFill>
                  <a:srgbClr val="231F20"/>
                </a:solidFill>
                <a:latin typeface="Arial"/>
                <a:cs typeface="Arial"/>
              </a:rPr>
              <a:t> </a:t>
            </a:r>
            <a:r>
              <a:rPr sz="500" spc="-15" dirty="0">
                <a:solidFill>
                  <a:srgbClr val="231F20"/>
                </a:solidFill>
                <a:latin typeface="Arial"/>
                <a:cs typeface="Arial"/>
              </a:rPr>
              <a:t>E</a:t>
            </a:r>
            <a:r>
              <a:rPr sz="500" spc="30" dirty="0">
                <a:solidFill>
                  <a:srgbClr val="231F20"/>
                </a:solidFill>
                <a:latin typeface="Arial"/>
                <a:cs typeface="Arial"/>
              </a:rPr>
              <a:t> </a:t>
            </a:r>
            <a:r>
              <a:rPr sz="500" spc="5" dirty="0">
                <a:solidFill>
                  <a:srgbClr val="231F20"/>
                </a:solidFill>
                <a:latin typeface="Arial"/>
                <a:cs typeface="Arial"/>
              </a:rPr>
              <a:t>S</a:t>
            </a:r>
            <a:r>
              <a:rPr sz="500" spc="35" dirty="0">
                <a:solidFill>
                  <a:srgbClr val="231F20"/>
                </a:solidFill>
                <a:latin typeface="Arial"/>
                <a:cs typeface="Arial"/>
              </a:rPr>
              <a:t> </a:t>
            </a:r>
            <a:r>
              <a:rPr sz="500" spc="5" dirty="0">
                <a:solidFill>
                  <a:srgbClr val="231F20"/>
                </a:solidFill>
                <a:latin typeface="Arial"/>
                <a:cs typeface="Arial"/>
              </a:rPr>
              <a:t>S</a:t>
            </a:r>
            <a:endParaRPr sz="500" dirty="0">
              <a:latin typeface="Arial"/>
              <a:cs typeface="Arial"/>
            </a:endParaRPr>
          </a:p>
        </p:txBody>
      </p:sp>
      <p:sp>
        <p:nvSpPr>
          <p:cNvPr id="14" name="object 14"/>
          <p:cNvSpPr txBox="1"/>
          <p:nvPr/>
        </p:nvSpPr>
        <p:spPr>
          <a:xfrm>
            <a:off x="3708906" y="3344562"/>
            <a:ext cx="300990" cy="101600"/>
          </a:xfrm>
          <a:prstGeom prst="rect">
            <a:avLst/>
          </a:prstGeom>
        </p:spPr>
        <p:txBody>
          <a:bodyPr vert="horz" wrap="square" lIns="0" tIns="0" rIns="0" bIns="0" rtlCol="0">
            <a:spAutoFit/>
          </a:bodyPr>
          <a:lstStyle/>
          <a:p>
            <a:pPr marL="12700">
              <a:lnSpc>
                <a:spcPts val="685"/>
              </a:lnSpc>
            </a:pPr>
            <a:r>
              <a:rPr sz="600" spc="-35" dirty="0">
                <a:latin typeface="Arial"/>
                <a:cs typeface="Arial"/>
              </a:rPr>
              <a:t>P</a:t>
            </a:r>
            <a:r>
              <a:rPr sz="600" spc="-5" dirty="0">
                <a:latin typeface="Arial"/>
                <a:cs typeface="Arial"/>
              </a:rPr>
              <a:t>age</a:t>
            </a:r>
            <a:r>
              <a:rPr sz="600" spc="-10" dirty="0">
                <a:latin typeface="Arial"/>
                <a:cs typeface="Arial"/>
              </a:rPr>
              <a:t> </a:t>
            </a:r>
            <a:fld id="{81D60167-4931-47E6-BA6A-407CBD079E47}" type="slidenum">
              <a:rPr sz="600" spc="-5" dirty="0">
                <a:latin typeface="Arial"/>
                <a:cs typeface="Arial"/>
              </a:rPr>
              <a:t>1</a:t>
            </a:fld>
            <a:endParaRPr sz="600">
              <a:latin typeface="Arial"/>
              <a:cs typeface="Arial"/>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CC60C-D091-AD4E-9A86-FC7D52CA9A9F}"/>
              </a:ext>
            </a:extLst>
          </p:cNvPr>
          <p:cNvSpPr>
            <a:spLocks noGrp="1"/>
          </p:cNvSpPr>
          <p:nvPr>
            <p:ph type="title"/>
          </p:nvPr>
        </p:nvSpPr>
        <p:spPr>
          <a:xfrm>
            <a:off x="1052575" y="190295"/>
            <a:ext cx="2504948" cy="215444"/>
          </a:xfrm>
        </p:spPr>
        <p:txBody>
          <a:bodyPr/>
          <a:lstStyle/>
          <a:p>
            <a:r>
              <a:rPr lang="en-US" dirty="0"/>
              <a:t>Where is she now?</a:t>
            </a:r>
          </a:p>
        </p:txBody>
      </p:sp>
      <p:sp>
        <p:nvSpPr>
          <p:cNvPr id="3" name="Text Placeholder 2">
            <a:extLst>
              <a:ext uri="{FF2B5EF4-FFF2-40B4-BE49-F238E27FC236}">
                <a16:creationId xmlns:a16="http://schemas.microsoft.com/office/drawing/2014/main" id="{651A77F8-BC2A-FEC0-8AF7-CFFEDEEB4085}"/>
              </a:ext>
            </a:extLst>
          </p:cNvPr>
          <p:cNvSpPr>
            <a:spLocks noGrp="1"/>
          </p:cNvSpPr>
          <p:nvPr>
            <p:ph type="body" idx="1"/>
          </p:nvPr>
        </p:nvSpPr>
        <p:spPr>
          <a:xfrm>
            <a:off x="133858" y="602754"/>
            <a:ext cx="4342383" cy="169277"/>
          </a:xfrm>
        </p:spPr>
        <p:txBody>
          <a:bodyPr/>
          <a:lstStyle/>
          <a:p>
            <a:r>
              <a:rPr lang="en-US" dirty="0">
                <a:hlinkClick r:id="rId2"/>
              </a:rPr>
              <a:t>Heather Evans</a:t>
            </a:r>
            <a:endParaRPr lang="en-US" dirty="0"/>
          </a:p>
        </p:txBody>
      </p:sp>
    </p:spTree>
    <p:extLst>
      <p:ext uri="{BB962C8B-B14F-4D97-AF65-F5344CB8AC3E}">
        <p14:creationId xmlns:p14="http://schemas.microsoft.com/office/powerpoint/2010/main" val="163641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E5BDE-010C-B5B4-C56D-4B27A091E943}"/>
              </a:ext>
            </a:extLst>
          </p:cNvPr>
          <p:cNvSpPr>
            <a:spLocks noGrp="1"/>
          </p:cNvSpPr>
          <p:nvPr>
            <p:ph type="title"/>
          </p:nvPr>
        </p:nvSpPr>
        <p:spPr>
          <a:xfrm>
            <a:off x="1052575" y="190295"/>
            <a:ext cx="2504948" cy="215444"/>
          </a:xfrm>
        </p:spPr>
        <p:txBody>
          <a:bodyPr/>
          <a:lstStyle/>
          <a:p>
            <a:r>
              <a:rPr lang="en-US" dirty="0"/>
              <a:t>Key Questions</a:t>
            </a:r>
          </a:p>
        </p:txBody>
      </p:sp>
      <p:sp>
        <p:nvSpPr>
          <p:cNvPr id="3" name="Text Placeholder 2">
            <a:extLst>
              <a:ext uri="{FF2B5EF4-FFF2-40B4-BE49-F238E27FC236}">
                <a16:creationId xmlns:a16="http://schemas.microsoft.com/office/drawing/2014/main" id="{7708BC31-D57F-EEE2-8701-9D95BC2913EE}"/>
              </a:ext>
            </a:extLst>
          </p:cNvPr>
          <p:cNvSpPr>
            <a:spLocks noGrp="1"/>
          </p:cNvSpPr>
          <p:nvPr>
            <p:ph type="body" idx="1"/>
          </p:nvPr>
        </p:nvSpPr>
        <p:spPr>
          <a:xfrm>
            <a:off x="171450" y="659983"/>
            <a:ext cx="2247393" cy="2616101"/>
          </a:xfrm>
        </p:spPr>
        <p:txBody>
          <a:bodyPr/>
          <a:lstStyle/>
          <a:p>
            <a:pPr marL="228600" indent="-228600">
              <a:buAutoNum type="arabicParenR"/>
            </a:pPr>
            <a:r>
              <a:rPr lang="en-US" dirty="0"/>
              <a:t>What is her Great Idea</a:t>
            </a:r>
          </a:p>
          <a:p>
            <a:pPr marL="228600" indent="-228600">
              <a:buAutoNum type="arabicParenR"/>
            </a:pPr>
            <a:r>
              <a:rPr lang="en-US" dirty="0"/>
              <a:t>What is she uniquely Great at</a:t>
            </a:r>
          </a:p>
          <a:p>
            <a:pPr marL="228600" indent="-228600">
              <a:buAutoNum type="arabicParenR"/>
            </a:pPr>
            <a:r>
              <a:rPr lang="en-US" dirty="0"/>
              <a:t>What is the opportunity</a:t>
            </a:r>
          </a:p>
          <a:p>
            <a:pPr marL="685800" lvl="1" indent="-228600">
              <a:buAutoNum type="arabicParenR"/>
            </a:pPr>
            <a:r>
              <a:rPr lang="en-US" sz="1100" dirty="0"/>
              <a:t>Market</a:t>
            </a:r>
          </a:p>
          <a:p>
            <a:pPr marL="685800" lvl="1" indent="-228600">
              <a:buAutoNum type="arabicParenR"/>
            </a:pPr>
            <a:r>
              <a:rPr lang="en-US" sz="1100" dirty="0"/>
              <a:t>Brand</a:t>
            </a:r>
          </a:p>
          <a:p>
            <a:pPr marL="685800" lvl="1" indent="-228600">
              <a:buAutoNum type="arabicParenR"/>
            </a:pPr>
            <a:r>
              <a:rPr lang="en-US" sz="1100" dirty="0"/>
              <a:t>Return</a:t>
            </a:r>
          </a:p>
          <a:p>
            <a:pPr marL="228600" indent="-228600">
              <a:buAutoNum type="arabicParenR"/>
            </a:pPr>
            <a:r>
              <a:rPr lang="en-US" dirty="0"/>
              <a:t>Evaluate Business Plan</a:t>
            </a:r>
          </a:p>
          <a:p>
            <a:pPr marL="685800" lvl="1" indent="-228600">
              <a:buAutoNum type="arabicParenR"/>
            </a:pPr>
            <a:r>
              <a:rPr lang="en-US" sz="1100" dirty="0"/>
              <a:t>Comp</a:t>
            </a:r>
          </a:p>
          <a:p>
            <a:pPr marL="685800" lvl="1" indent="-228600">
              <a:buAutoNum type="arabicParenR"/>
            </a:pPr>
            <a:r>
              <a:rPr lang="en-US" sz="1100" dirty="0"/>
              <a:t>Valuation</a:t>
            </a:r>
          </a:p>
          <a:p>
            <a:pPr marL="685800" lvl="1" indent="-228600">
              <a:buAutoNum type="arabicParenR"/>
            </a:pPr>
            <a:r>
              <a:rPr lang="en-US" sz="1100" dirty="0"/>
              <a:t>Timing</a:t>
            </a:r>
          </a:p>
          <a:p>
            <a:pPr marL="685800" lvl="1" indent="-228600">
              <a:buAutoNum type="arabicParenR"/>
            </a:pPr>
            <a:r>
              <a:rPr lang="en-US" sz="1100" dirty="0"/>
              <a:t>Team</a:t>
            </a:r>
          </a:p>
          <a:p>
            <a:pPr marL="228600" indent="-228600">
              <a:buAutoNum type="arabicParenR"/>
            </a:pPr>
            <a:r>
              <a:rPr lang="en-US" dirty="0"/>
              <a:t>Operations to Date</a:t>
            </a:r>
          </a:p>
          <a:p>
            <a:pPr marL="685800" lvl="1" indent="-228600">
              <a:buAutoNum type="arabicParenR"/>
            </a:pPr>
            <a:r>
              <a:rPr lang="en-US" sz="1100" dirty="0"/>
              <a:t>COGS</a:t>
            </a:r>
          </a:p>
          <a:p>
            <a:pPr marL="685800" lvl="1" indent="-228600">
              <a:buAutoNum type="arabicParenR"/>
            </a:pPr>
            <a:r>
              <a:rPr lang="en-US" sz="1100" dirty="0"/>
              <a:t>OPEX</a:t>
            </a:r>
          </a:p>
          <a:p>
            <a:pPr marL="685800" lvl="1" indent="-228600">
              <a:buAutoNum type="arabicParenR"/>
            </a:pPr>
            <a:r>
              <a:rPr lang="en-US" sz="1100" dirty="0"/>
              <a:t>Sunk Costs</a:t>
            </a:r>
          </a:p>
          <a:p>
            <a:pPr marL="228600" indent="-228600">
              <a:buAutoNum type="arabicParenR"/>
            </a:pPr>
            <a:endParaRPr lang="en-US" sz="500" dirty="0"/>
          </a:p>
        </p:txBody>
      </p:sp>
      <p:sp>
        <p:nvSpPr>
          <p:cNvPr id="4" name="TextBox 3">
            <a:extLst>
              <a:ext uri="{FF2B5EF4-FFF2-40B4-BE49-F238E27FC236}">
                <a16:creationId xmlns:a16="http://schemas.microsoft.com/office/drawing/2014/main" id="{DAB75017-ACE5-D2E6-EFF7-866DB85744B9}"/>
              </a:ext>
            </a:extLst>
          </p:cNvPr>
          <p:cNvSpPr txBox="1"/>
          <p:nvPr/>
        </p:nvSpPr>
        <p:spPr>
          <a:xfrm>
            <a:off x="2557217" y="622379"/>
            <a:ext cx="1912703" cy="1046440"/>
          </a:xfrm>
          <a:prstGeom prst="rect">
            <a:avLst/>
          </a:prstGeom>
          <a:noFill/>
        </p:spPr>
        <p:txBody>
          <a:bodyPr wrap="none" rtlCol="0">
            <a:spAutoFit/>
          </a:bodyPr>
          <a:lstStyle/>
          <a:p>
            <a:pPr marL="228600" indent="-228600">
              <a:buFont typeface="+mj-lt"/>
              <a:buAutoNum type="arabicParenR" startAt="6"/>
            </a:pPr>
            <a:r>
              <a:rPr lang="en-US" sz="1100" dirty="0"/>
              <a:t>Financing</a:t>
            </a:r>
          </a:p>
          <a:p>
            <a:pPr marL="685800" lvl="1" indent="-228600">
              <a:buFont typeface="+mj-lt"/>
              <a:buAutoNum type="arabicParenR"/>
            </a:pPr>
            <a:r>
              <a:rPr lang="en-US" sz="1100" dirty="0"/>
              <a:t>Lead Investor</a:t>
            </a:r>
          </a:p>
          <a:p>
            <a:pPr marL="685800" lvl="1" indent="-228600">
              <a:buFont typeface="+mj-lt"/>
              <a:buAutoNum type="arabicParenR"/>
            </a:pPr>
            <a:r>
              <a:rPr lang="en-US" sz="1100" dirty="0"/>
              <a:t>VC</a:t>
            </a:r>
          </a:p>
          <a:p>
            <a:pPr marL="685800" lvl="1" indent="-228600">
              <a:buFont typeface="+mj-lt"/>
              <a:buAutoNum type="arabicParenR"/>
            </a:pPr>
            <a:r>
              <a:rPr lang="en-US" sz="1100" dirty="0"/>
              <a:t>Multiple Investors</a:t>
            </a:r>
          </a:p>
          <a:p>
            <a:endParaRPr lang="en-US" dirty="0"/>
          </a:p>
        </p:txBody>
      </p:sp>
    </p:spTree>
    <p:extLst>
      <p:ext uri="{BB962C8B-B14F-4D97-AF65-F5344CB8AC3E}">
        <p14:creationId xmlns:p14="http://schemas.microsoft.com/office/powerpoint/2010/main" val="642164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92E4-4736-EF10-B620-1EC2C20A07C5}"/>
              </a:ext>
            </a:extLst>
          </p:cNvPr>
          <p:cNvSpPr>
            <a:spLocks noGrp="1"/>
          </p:cNvSpPr>
          <p:nvPr>
            <p:ph type="title"/>
          </p:nvPr>
        </p:nvSpPr>
        <p:spPr>
          <a:xfrm>
            <a:off x="1052575" y="190295"/>
            <a:ext cx="2504948" cy="215444"/>
          </a:xfrm>
        </p:spPr>
        <p:txBody>
          <a:bodyPr/>
          <a:lstStyle/>
          <a:p>
            <a:r>
              <a:rPr lang="en-US" dirty="0"/>
              <a:t>1) The Great Idea</a:t>
            </a:r>
          </a:p>
        </p:txBody>
      </p:sp>
      <p:sp>
        <p:nvSpPr>
          <p:cNvPr id="3" name="Text Placeholder 2">
            <a:extLst>
              <a:ext uri="{FF2B5EF4-FFF2-40B4-BE49-F238E27FC236}">
                <a16:creationId xmlns:a16="http://schemas.microsoft.com/office/drawing/2014/main" id="{79911C69-5569-C3B7-556C-D97B5AE1B3C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21768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76875-7CCD-370A-C130-64DCEC540513}"/>
              </a:ext>
            </a:extLst>
          </p:cNvPr>
          <p:cNvSpPr>
            <a:spLocks noGrp="1"/>
          </p:cNvSpPr>
          <p:nvPr>
            <p:ph type="title"/>
          </p:nvPr>
        </p:nvSpPr>
        <p:spPr>
          <a:xfrm>
            <a:off x="1052575" y="190295"/>
            <a:ext cx="2504948" cy="430887"/>
          </a:xfrm>
        </p:spPr>
        <p:txBody>
          <a:bodyPr/>
          <a:lstStyle/>
          <a:p>
            <a:r>
              <a:rPr lang="en-US" dirty="0"/>
              <a:t>2) What is Heather Uniquely Great at?</a:t>
            </a:r>
          </a:p>
        </p:txBody>
      </p:sp>
      <p:sp>
        <p:nvSpPr>
          <p:cNvPr id="3" name="Text Placeholder 2">
            <a:extLst>
              <a:ext uri="{FF2B5EF4-FFF2-40B4-BE49-F238E27FC236}">
                <a16:creationId xmlns:a16="http://schemas.microsoft.com/office/drawing/2014/main" id="{FC5380A8-A25D-78E9-91EE-7A79F3ABE43D}"/>
              </a:ext>
            </a:extLst>
          </p:cNvPr>
          <p:cNvSpPr>
            <a:spLocks noGrp="1"/>
          </p:cNvSpPr>
          <p:nvPr>
            <p:ph type="body" idx="1"/>
          </p:nvPr>
        </p:nvSpPr>
        <p:spPr>
          <a:xfrm>
            <a:off x="133857" y="739775"/>
            <a:ext cx="4342383" cy="2241550"/>
          </a:xfrm>
        </p:spPr>
        <p:txBody>
          <a:bodyPr/>
          <a:lstStyle/>
          <a:p>
            <a:endParaRPr lang="en-US"/>
          </a:p>
        </p:txBody>
      </p:sp>
    </p:spTree>
    <p:extLst>
      <p:ext uri="{BB962C8B-B14F-4D97-AF65-F5344CB8AC3E}">
        <p14:creationId xmlns:p14="http://schemas.microsoft.com/office/powerpoint/2010/main" val="93419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AD9F-A0DD-0C0C-5C12-88A88AC6BA0E}"/>
              </a:ext>
            </a:extLst>
          </p:cNvPr>
          <p:cNvSpPr>
            <a:spLocks noGrp="1"/>
          </p:cNvSpPr>
          <p:nvPr>
            <p:ph type="title"/>
          </p:nvPr>
        </p:nvSpPr>
        <p:spPr>
          <a:xfrm>
            <a:off x="1052574" y="190295"/>
            <a:ext cx="3005075" cy="215444"/>
          </a:xfrm>
        </p:spPr>
        <p:txBody>
          <a:bodyPr/>
          <a:lstStyle/>
          <a:p>
            <a:r>
              <a:rPr lang="en-US" dirty="0"/>
              <a:t>3) The Opportunity</a:t>
            </a:r>
          </a:p>
        </p:txBody>
      </p:sp>
      <p:sp>
        <p:nvSpPr>
          <p:cNvPr id="3" name="Text Placeholder 2">
            <a:extLst>
              <a:ext uri="{FF2B5EF4-FFF2-40B4-BE49-F238E27FC236}">
                <a16:creationId xmlns:a16="http://schemas.microsoft.com/office/drawing/2014/main" id="{D52533E6-4F5C-FC52-0770-F8F564883FD7}"/>
              </a:ext>
            </a:extLst>
          </p:cNvPr>
          <p:cNvSpPr>
            <a:spLocks noGrp="1"/>
          </p:cNvSpPr>
          <p:nvPr>
            <p:ph type="body" idx="1"/>
          </p:nvPr>
        </p:nvSpPr>
        <p:spPr>
          <a:xfrm>
            <a:off x="133858" y="602754"/>
            <a:ext cx="4342383" cy="507831"/>
          </a:xfrm>
        </p:spPr>
        <p:txBody>
          <a:bodyPr/>
          <a:lstStyle/>
          <a:p>
            <a:pPr marL="228600" indent="-228600">
              <a:buClr>
                <a:schemeClr val="accent1">
                  <a:lumMod val="75000"/>
                </a:schemeClr>
              </a:buClr>
              <a:buSzPct val="105000"/>
              <a:buAutoNum type="arabicParenR"/>
            </a:pPr>
            <a:r>
              <a:rPr lang="en-US" dirty="0"/>
              <a:t>4.3 Million women, concentrated in Urban areas</a:t>
            </a:r>
          </a:p>
          <a:p>
            <a:pPr marL="228600" indent="-228600">
              <a:buClr>
                <a:schemeClr val="accent1">
                  <a:lumMod val="75000"/>
                </a:schemeClr>
              </a:buClr>
              <a:buSzPct val="105000"/>
              <a:buAutoNum type="arabicParenR"/>
            </a:pPr>
            <a:r>
              <a:rPr lang="en-US" dirty="0"/>
              <a:t>$5B/year on clothes</a:t>
            </a:r>
          </a:p>
          <a:p>
            <a:pPr marL="228600" indent="-228600">
              <a:buClr>
                <a:schemeClr val="accent1">
                  <a:lumMod val="75000"/>
                </a:schemeClr>
              </a:buClr>
              <a:buSzPct val="105000"/>
              <a:buAutoNum type="arabicParenR"/>
            </a:pPr>
            <a:r>
              <a:rPr lang="en-US" dirty="0"/>
              <a:t>Segment has 8-10% real growth per year</a:t>
            </a:r>
          </a:p>
        </p:txBody>
      </p:sp>
    </p:spTree>
    <p:extLst>
      <p:ext uri="{BB962C8B-B14F-4D97-AF65-F5344CB8AC3E}">
        <p14:creationId xmlns:p14="http://schemas.microsoft.com/office/powerpoint/2010/main" val="392786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877AF-92B1-00F2-180A-DA7BD7AFAED3}"/>
              </a:ext>
            </a:extLst>
          </p:cNvPr>
          <p:cNvSpPr>
            <a:spLocks noGrp="1"/>
          </p:cNvSpPr>
          <p:nvPr>
            <p:ph type="title"/>
          </p:nvPr>
        </p:nvSpPr>
        <p:spPr>
          <a:xfrm>
            <a:off x="1052575" y="190295"/>
            <a:ext cx="2504948" cy="215444"/>
          </a:xfrm>
        </p:spPr>
        <p:txBody>
          <a:bodyPr/>
          <a:lstStyle/>
          <a:p>
            <a:r>
              <a:rPr lang="en-US" dirty="0"/>
              <a:t>4) Evaluate Business Plan</a:t>
            </a:r>
          </a:p>
        </p:txBody>
      </p:sp>
      <p:sp>
        <p:nvSpPr>
          <p:cNvPr id="3" name="Text Placeholder 2">
            <a:extLst>
              <a:ext uri="{FF2B5EF4-FFF2-40B4-BE49-F238E27FC236}">
                <a16:creationId xmlns:a16="http://schemas.microsoft.com/office/drawing/2014/main" id="{C6703D43-D3DF-FCED-5B85-CD1789A47F3A}"/>
              </a:ext>
            </a:extLst>
          </p:cNvPr>
          <p:cNvSpPr>
            <a:spLocks noGrp="1"/>
          </p:cNvSpPr>
          <p:nvPr>
            <p:ph type="body" idx="1"/>
          </p:nvPr>
        </p:nvSpPr>
        <p:spPr>
          <a:xfrm>
            <a:off x="133858" y="602754"/>
            <a:ext cx="4342383" cy="1354217"/>
          </a:xfrm>
        </p:spPr>
        <p:txBody>
          <a:bodyPr/>
          <a:lstStyle/>
          <a:p>
            <a:r>
              <a:rPr lang="en-US" dirty="0"/>
              <a:t>Comps</a:t>
            </a:r>
          </a:p>
          <a:p>
            <a:endParaRPr lang="en-US" dirty="0"/>
          </a:p>
          <a:p>
            <a:r>
              <a:rPr lang="en-US" dirty="0"/>
              <a:t>Valuation</a:t>
            </a:r>
          </a:p>
          <a:p>
            <a:endParaRPr lang="en-US" dirty="0"/>
          </a:p>
          <a:p>
            <a:r>
              <a:rPr lang="en-US" dirty="0"/>
              <a:t>Timing</a:t>
            </a:r>
          </a:p>
          <a:p>
            <a:endParaRPr lang="en-US" dirty="0"/>
          </a:p>
          <a:p>
            <a:r>
              <a:rPr lang="en-US" dirty="0"/>
              <a:t>Team</a:t>
            </a:r>
          </a:p>
          <a:p>
            <a:pPr marL="171450" indent="-171450">
              <a:buFont typeface="Arial" panose="020B0604020202020204" pitchFamily="34" charset="0"/>
              <a:buChar char="•"/>
            </a:pPr>
            <a:r>
              <a:rPr lang="en-US" dirty="0"/>
              <a:t>What do you think about Heather’s time allocation</a:t>
            </a:r>
          </a:p>
        </p:txBody>
      </p:sp>
    </p:spTree>
    <p:extLst>
      <p:ext uri="{BB962C8B-B14F-4D97-AF65-F5344CB8AC3E}">
        <p14:creationId xmlns:p14="http://schemas.microsoft.com/office/powerpoint/2010/main" val="210509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F90E9-EDA6-E521-3D31-136D292FCFA4}"/>
              </a:ext>
            </a:extLst>
          </p:cNvPr>
          <p:cNvSpPr>
            <a:spLocks noGrp="1"/>
          </p:cNvSpPr>
          <p:nvPr>
            <p:ph type="title"/>
          </p:nvPr>
        </p:nvSpPr>
        <p:spPr>
          <a:xfrm>
            <a:off x="1052575" y="190295"/>
            <a:ext cx="2504948" cy="215444"/>
          </a:xfrm>
        </p:spPr>
        <p:txBody>
          <a:bodyPr/>
          <a:lstStyle/>
          <a:p>
            <a:r>
              <a:rPr lang="en-US" dirty="0"/>
              <a:t>5) Operations to Date</a:t>
            </a:r>
          </a:p>
        </p:txBody>
      </p:sp>
      <p:sp>
        <p:nvSpPr>
          <p:cNvPr id="3" name="Text Placeholder 2">
            <a:extLst>
              <a:ext uri="{FF2B5EF4-FFF2-40B4-BE49-F238E27FC236}">
                <a16:creationId xmlns:a16="http://schemas.microsoft.com/office/drawing/2014/main" id="{EAEC6454-B72B-2F59-BB32-08D87F0DB320}"/>
              </a:ext>
            </a:extLst>
          </p:cNvPr>
          <p:cNvSpPr>
            <a:spLocks noGrp="1"/>
          </p:cNvSpPr>
          <p:nvPr>
            <p:ph type="body" idx="1"/>
          </p:nvPr>
        </p:nvSpPr>
        <p:spPr>
          <a:xfrm>
            <a:off x="133857" y="892175"/>
            <a:ext cx="4342383" cy="892552"/>
          </a:xfrm>
        </p:spPr>
        <p:txBody>
          <a:bodyPr/>
          <a:lstStyle/>
          <a:p>
            <a:pPr marL="171450" indent="-171450">
              <a:buFont typeface="Arial" panose="020B0604020202020204" pitchFamily="34" charset="0"/>
              <a:buChar char="•"/>
            </a:pPr>
            <a:r>
              <a:rPr lang="en-US" dirty="0"/>
              <a:t>COGS</a:t>
            </a:r>
          </a:p>
          <a:p>
            <a:pPr marL="171450" indent="-171450">
              <a:buFont typeface="Arial" panose="020B0604020202020204" pitchFamily="34" charset="0"/>
              <a:buChar char="•"/>
            </a:pPr>
            <a:r>
              <a:rPr lang="en-US" dirty="0"/>
              <a:t>OPEX</a:t>
            </a:r>
          </a:p>
          <a:p>
            <a:pPr marL="628650" lvl="1" indent="-171450">
              <a:buFont typeface="Arial" panose="020B0604020202020204" pitchFamily="34" charset="0"/>
              <a:buChar char="•"/>
            </a:pPr>
            <a:r>
              <a:rPr lang="en-US" sz="1400" dirty="0"/>
              <a:t>What do you think about her Space decision?</a:t>
            </a:r>
          </a:p>
          <a:p>
            <a:pPr marL="171450" indent="-171450">
              <a:buFont typeface="Arial" panose="020B0604020202020204" pitchFamily="34" charset="0"/>
              <a:buChar char="•"/>
            </a:pPr>
            <a:r>
              <a:rPr lang="en-US" dirty="0"/>
              <a:t>Sunk Cost</a:t>
            </a:r>
          </a:p>
          <a:p>
            <a:endParaRPr lang="en-US" dirty="0"/>
          </a:p>
        </p:txBody>
      </p:sp>
    </p:spTree>
    <p:extLst>
      <p:ext uri="{BB962C8B-B14F-4D97-AF65-F5344CB8AC3E}">
        <p14:creationId xmlns:p14="http://schemas.microsoft.com/office/powerpoint/2010/main" val="3433361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B0077-6191-6609-C325-EA5B073C2496}"/>
              </a:ext>
            </a:extLst>
          </p:cNvPr>
          <p:cNvSpPr>
            <a:spLocks noGrp="1"/>
          </p:cNvSpPr>
          <p:nvPr>
            <p:ph type="title"/>
          </p:nvPr>
        </p:nvSpPr>
        <p:spPr>
          <a:xfrm>
            <a:off x="1052575" y="190295"/>
            <a:ext cx="2504948" cy="215444"/>
          </a:xfrm>
        </p:spPr>
        <p:txBody>
          <a:bodyPr/>
          <a:lstStyle/>
          <a:p>
            <a:r>
              <a:rPr lang="en-US" dirty="0"/>
              <a:t>6) Financing</a:t>
            </a:r>
          </a:p>
        </p:txBody>
      </p:sp>
      <p:sp>
        <p:nvSpPr>
          <p:cNvPr id="3" name="Text Placeholder 2">
            <a:extLst>
              <a:ext uri="{FF2B5EF4-FFF2-40B4-BE49-F238E27FC236}">
                <a16:creationId xmlns:a16="http://schemas.microsoft.com/office/drawing/2014/main" id="{F6D0F494-6054-C7C0-2632-9940A5EA017C}"/>
              </a:ext>
            </a:extLst>
          </p:cNvPr>
          <p:cNvSpPr>
            <a:spLocks noGrp="1"/>
          </p:cNvSpPr>
          <p:nvPr>
            <p:ph type="body" idx="1"/>
          </p:nvPr>
        </p:nvSpPr>
        <p:spPr>
          <a:xfrm>
            <a:off x="133858" y="602754"/>
            <a:ext cx="4342383" cy="1954381"/>
          </a:xfrm>
        </p:spPr>
        <p:txBody>
          <a:bodyPr/>
          <a:lstStyle/>
          <a:p>
            <a:pPr marL="228600" indent="-228600">
              <a:buAutoNum type="arabicParenR"/>
            </a:pPr>
            <a:r>
              <a:rPr lang="en-US" dirty="0"/>
              <a:t>Business Plan vs Financing Document</a:t>
            </a:r>
          </a:p>
          <a:p>
            <a:pPr marL="685800" lvl="1" indent="-228600">
              <a:buAutoNum type="arabicParenR"/>
            </a:pPr>
            <a:r>
              <a:rPr lang="en-US" sz="1200" dirty="0"/>
              <a:t>Term Sheet/Legal Protections</a:t>
            </a:r>
          </a:p>
          <a:p>
            <a:pPr marL="685800" lvl="1" indent="-228600">
              <a:buAutoNum type="arabicParenR"/>
            </a:pPr>
            <a:r>
              <a:rPr lang="en-US" sz="1200" dirty="0"/>
              <a:t>WHERE IS THE DEAL</a:t>
            </a:r>
          </a:p>
          <a:p>
            <a:pPr marL="685800" lvl="1" indent="-228600">
              <a:buAutoNum type="arabicParenR"/>
            </a:pPr>
            <a:r>
              <a:rPr lang="en-US" sz="1200" dirty="0"/>
              <a:t>RISKS</a:t>
            </a:r>
          </a:p>
          <a:p>
            <a:pPr marL="685800" lvl="1" indent="-228600">
              <a:buAutoNum type="arabicParenR"/>
            </a:pPr>
            <a:r>
              <a:rPr lang="en-US" sz="1200" dirty="0"/>
              <a:t>WHY money needed, HOW used</a:t>
            </a:r>
          </a:p>
          <a:p>
            <a:pPr marL="228600" indent="-228600">
              <a:buAutoNum type="arabicParenR"/>
            </a:pPr>
            <a:r>
              <a:rPr lang="en-US" dirty="0"/>
              <a:t>Pro Forma</a:t>
            </a:r>
          </a:p>
          <a:p>
            <a:pPr marL="228600" indent="-228600">
              <a:buAutoNum type="arabicParenR"/>
            </a:pPr>
            <a:r>
              <a:rPr lang="en-US" dirty="0"/>
              <a:t>Growth</a:t>
            </a:r>
          </a:p>
          <a:p>
            <a:pPr marL="228600" indent="-228600">
              <a:buAutoNum type="arabicParenR"/>
            </a:pPr>
            <a:r>
              <a:rPr lang="en-US" dirty="0"/>
              <a:t>Valuation</a:t>
            </a:r>
          </a:p>
          <a:p>
            <a:pPr marL="228600" indent="-228600">
              <a:buAutoNum type="arabicParenR"/>
            </a:pPr>
            <a:r>
              <a:rPr lang="en-US" dirty="0"/>
              <a:t>Term Sheet</a:t>
            </a:r>
          </a:p>
          <a:p>
            <a:pPr marL="685800" lvl="1" indent="-228600">
              <a:buAutoNum type="arabicParenR"/>
            </a:pPr>
            <a:r>
              <a:rPr lang="en-US" sz="1200" dirty="0"/>
              <a:t>Examples</a:t>
            </a:r>
          </a:p>
          <a:p>
            <a:pPr marL="228600" indent="-228600">
              <a:buAutoNum type="arabicParenR"/>
            </a:pPr>
            <a:r>
              <a:rPr lang="en-US" sz="1200" dirty="0"/>
              <a:t>Cap Table</a:t>
            </a:r>
          </a:p>
        </p:txBody>
      </p:sp>
    </p:spTree>
    <p:extLst>
      <p:ext uri="{BB962C8B-B14F-4D97-AF65-F5344CB8AC3E}">
        <p14:creationId xmlns:p14="http://schemas.microsoft.com/office/powerpoint/2010/main" val="2737773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BA165-001C-8A72-5B8A-8AE9F94D5D7A}"/>
              </a:ext>
            </a:extLst>
          </p:cNvPr>
          <p:cNvSpPr>
            <a:spLocks noGrp="1"/>
          </p:cNvSpPr>
          <p:nvPr>
            <p:ph type="title"/>
          </p:nvPr>
        </p:nvSpPr>
        <p:spPr>
          <a:xfrm>
            <a:off x="1052574" y="190295"/>
            <a:ext cx="3157475" cy="646331"/>
          </a:xfrm>
        </p:spPr>
        <p:txBody>
          <a:bodyPr/>
          <a:lstStyle/>
          <a:p>
            <a:r>
              <a:rPr lang="en-US" dirty="0"/>
              <a:t>Which Financing Source would be best – which do you recommend?</a:t>
            </a:r>
          </a:p>
        </p:txBody>
      </p:sp>
      <p:sp>
        <p:nvSpPr>
          <p:cNvPr id="3" name="Text Placeholder 2">
            <a:extLst>
              <a:ext uri="{FF2B5EF4-FFF2-40B4-BE49-F238E27FC236}">
                <a16:creationId xmlns:a16="http://schemas.microsoft.com/office/drawing/2014/main" id="{78ADB568-2F9E-05F6-0306-008547BFD5F3}"/>
              </a:ext>
            </a:extLst>
          </p:cNvPr>
          <p:cNvSpPr>
            <a:spLocks noGrp="1"/>
          </p:cNvSpPr>
          <p:nvPr>
            <p:ph type="body" idx="1"/>
          </p:nvPr>
        </p:nvSpPr>
        <p:spPr>
          <a:xfrm>
            <a:off x="133858" y="829641"/>
            <a:ext cx="4342383" cy="846386"/>
          </a:xfrm>
        </p:spPr>
        <p:txBody>
          <a:bodyPr/>
          <a:lstStyle/>
          <a:p>
            <a:r>
              <a:rPr lang="en-US" dirty="0"/>
              <a:t>Private Investment Bank, Lead Investor –Arden &amp; CO</a:t>
            </a:r>
          </a:p>
          <a:p>
            <a:endParaRPr lang="en-US" dirty="0"/>
          </a:p>
          <a:p>
            <a:r>
              <a:rPr lang="en-US" dirty="0"/>
              <a:t>Venture Capital</a:t>
            </a:r>
          </a:p>
          <a:p>
            <a:endParaRPr lang="en-US" dirty="0"/>
          </a:p>
          <a:p>
            <a:r>
              <a:rPr lang="en-US" dirty="0"/>
              <a:t>Bunch of Friends/Investors…. “angels”</a:t>
            </a:r>
          </a:p>
        </p:txBody>
      </p:sp>
    </p:spTree>
    <p:extLst>
      <p:ext uri="{BB962C8B-B14F-4D97-AF65-F5344CB8AC3E}">
        <p14:creationId xmlns:p14="http://schemas.microsoft.com/office/powerpoint/2010/main" val="51444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A17D-009C-E6E2-F239-C4F9FD14DF6C}"/>
              </a:ext>
            </a:extLst>
          </p:cNvPr>
          <p:cNvSpPr>
            <a:spLocks noGrp="1"/>
          </p:cNvSpPr>
          <p:nvPr>
            <p:ph type="title"/>
          </p:nvPr>
        </p:nvSpPr>
        <p:spPr>
          <a:xfrm>
            <a:off x="1052575" y="190295"/>
            <a:ext cx="2504948" cy="215444"/>
          </a:xfrm>
        </p:spPr>
        <p:txBody>
          <a:bodyPr/>
          <a:lstStyle/>
          <a:p>
            <a:r>
              <a:rPr lang="en-US" dirty="0"/>
              <a:t>Take Aways</a:t>
            </a:r>
          </a:p>
        </p:txBody>
      </p:sp>
      <p:sp>
        <p:nvSpPr>
          <p:cNvPr id="3" name="Text Placeholder 2">
            <a:extLst>
              <a:ext uri="{FF2B5EF4-FFF2-40B4-BE49-F238E27FC236}">
                <a16:creationId xmlns:a16="http://schemas.microsoft.com/office/drawing/2014/main" id="{683F94B5-2A01-68BD-641B-25AC52E7B946}"/>
              </a:ext>
            </a:extLst>
          </p:cNvPr>
          <p:cNvSpPr>
            <a:spLocks noGrp="1"/>
          </p:cNvSpPr>
          <p:nvPr>
            <p:ph type="body" idx="1"/>
          </p:nvPr>
        </p:nvSpPr>
        <p:spPr>
          <a:xfrm>
            <a:off x="133858" y="602754"/>
            <a:ext cx="4342383" cy="1862048"/>
          </a:xfrm>
        </p:spPr>
        <p:txBody>
          <a:bodyPr/>
          <a:lstStyle/>
          <a:p>
            <a:r>
              <a:rPr lang="en-US" dirty="0"/>
              <a:t>How to Build a Pro Forma – elements</a:t>
            </a:r>
          </a:p>
          <a:p>
            <a:r>
              <a:rPr lang="en-US" dirty="0"/>
              <a:t>Valuation</a:t>
            </a:r>
          </a:p>
          <a:p>
            <a:r>
              <a:rPr lang="en-US" dirty="0"/>
              <a:t>	VC</a:t>
            </a:r>
          </a:p>
          <a:p>
            <a:r>
              <a:rPr lang="en-US" dirty="0"/>
              <a:t>	Scorecard</a:t>
            </a:r>
          </a:p>
          <a:p>
            <a:r>
              <a:rPr lang="en-US" dirty="0"/>
              <a:t>	Multiple</a:t>
            </a:r>
          </a:p>
          <a:p>
            <a:r>
              <a:rPr lang="en-US" dirty="0"/>
              <a:t>	Investor Lead</a:t>
            </a:r>
          </a:p>
          <a:p>
            <a:r>
              <a:rPr lang="en-US" dirty="0"/>
              <a:t>CASH</a:t>
            </a:r>
          </a:p>
          <a:p>
            <a:r>
              <a:rPr lang="en-US" dirty="0"/>
              <a:t>Does Strategy/Operations match the financing – what about GROWTH</a:t>
            </a:r>
          </a:p>
          <a:p>
            <a:r>
              <a:rPr lang="en-US" dirty="0"/>
              <a:t>Cap Table implications of financing</a:t>
            </a:r>
          </a:p>
          <a:p>
            <a:endParaRPr lang="en-US" dirty="0"/>
          </a:p>
        </p:txBody>
      </p:sp>
    </p:spTree>
    <p:extLst>
      <p:ext uri="{BB962C8B-B14F-4D97-AF65-F5344CB8AC3E}">
        <p14:creationId xmlns:p14="http://schemas.microsoft.com/office/powerpoint/2010/main" val="3015873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A261F-1BEE-6709-105E-4F292FE18F8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A30E2BF-8E65-DC70-8820-0858DBB3EB35}"/>
              </a:ext>
            </a:extLst>
          </p:cNvPr>
          <p:cNvSpPr>
            <a:spLocks noGrp="1"/>
          </p:cNvSpPr>
          <p:nvPr>
            <p:ph type="body" idx="1"/>
          </p:nvPr>
        </p:nvSpPr>
        <p:spPr>
          <a:xfrm>
            <a:off x="133858" y="602754"/>
            <a:ext cx="4342383" cy="2877711"/>
          </a:xfrm>
        </p:spPr>
        <p:txBody>
          <a:bodyPr/>
          <a:lstStyle/>
          <a:p>
            <a:r>
              <a:rPr lang="en-US" dirty="0"/>
              <a:t>Heather raised $250,000 for 40% of the company, mostly from friends and business school classmates. She gave the company a three-year royalty-free license on her name, and gave investors a “put” on their stock, i.e., a right to force Heather to buy the stock back at a multiple of earnings in years 3 or 4. Heather’s first season went well. She had a good “story” to tell, and got a good deal of publicity. She sold her line to such top stores as Saks, Bloomingdale’s, and Bergdorf Goodman. However, the line did not “sell through” (i.e., customers did not purchase it from the store). By the time that this was clear, Heather’s second line was already designed and in production. Because of the lack of success of the first line, however, retailers did not buy the second line. Heather folded her operation. In retrospect, Heather said: I did rush to get into business when I could have gone about things more slowly and carefully. I didn’t know my own strengths and weaknesses that well. I found that I didn’t really enjoy managing people and dealing with the day-to-day details of operations. </a:t>
            </a:r>
          </a:p>
        </p:txBody>
      </p:sp>
    </p:spTree>
    <p:extLst>
      <p:ext uri="{BB962C8B-B14F-4D97-AF65-F5344CB8AC3E}">
        <p14:creationId xmlns:p14="http://schemas.microsoft.com/office/powerpoint/2010/main" val="577683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4042</TotalTime>
  <Words>468</Words>
  <Application>Microsoft Macintosh PowerPoint</Application>
  <PresentationFormat>Custom</PresentationFormat>
  <Paragraphs>75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Garamond</vt:lpstr>
      <vt:lpstr>Rockwell</vt:lpstr>
      <vt:lpstr>Office Theme</vt:lpstr>
      <vt:lpstr>Heather Evans</vt:lpstr>
      <vt:lpstr>Where is she now?</vt:lpstr>
      <vt:lpstr>Key Questions</vt:lpstr>
      <vt:lpstr>1) The Great Idea</vt:lpstr>
      <vt:lpstr>2) What is Heather Uniquely Great at?</vt:lpstr>
      <vt:lpstr>3) The Opportunity</vt:lpstr>
      <vt:lpstr>4) Evaluate Business Plan</vt:lpstr>
      <vt:lpstr>5) Operations to Date</vt:lpstr>
      <vt:lpstr>6) Financing</vt:lpstr>
      <vt:lpstr>Which Financing Source would be best – which do you recommend?</vt:lpstr>
      <vt:lpstr>Take Aways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Entrepreneurial Finance  Lesson 3</dc:title>
  <dc:creator>Shaun Davies, CU-Boulder</dc:creator>
  <cp:lastModifiedBy>Ellen Burnes</cp:lastModifiedBy>
  <cp:revision>13</cp:revision>
  <cp:lastPrinted>2022-02-03T05:39:17Z</cp:lastPrinted>
  <dcterms:created xsi:type="dcterms:W3CDTF">2022-01-05T04:34:45Z</dcterms:created>
  <dcterms:modified xsi:type="dcterms:W3CDTF">2022-11-01T16:42:27Z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2017-03-19T00:00:00Z</vt:filetime>
  </property>
  <property fmtid="{D5CDD505-2E9C-101B-9397-08002B2CF9AE}" pid="3" name="Creator">
    <vt:lpwstr>LaTeX with Beamer class version 3.27</vt:lpwstr>
  </property>
  <property fmtid="{D5CDD505-2E9C-101B-9397-08002B2CF9AE}" pid="4" name="LastSaved">
    <vt:filetime>2022-01-05T00:00:00Z</vt:filetime>
  </property>
</Properties>
</file>