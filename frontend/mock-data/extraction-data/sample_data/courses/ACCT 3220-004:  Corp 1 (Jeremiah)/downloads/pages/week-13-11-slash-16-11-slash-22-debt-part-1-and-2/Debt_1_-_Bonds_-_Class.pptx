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07" r:id="rId2"/>
    <p:sldId id="308" r:id="rId3"/>
    <p:sldId id="309" r:id="rId4"/>
    <p:sldId id="311" r:id="rId5"/>
    <p:sldId id="312" r:id="rId6"/>
    <p:sldId id="313" r:id="rId7"/>
    <p:sldId id="258" r:id="rId8"/>
    <p:sldId id="314" r:id="rId9"/>
    <p:sldId id="322" r:id="rId10"/>
    <p:sldId id="315" r:id="rId11"/>
    <p:sldId id="264" r:id="rId12"/>
    <p:sldId id="323" r:id="rId13"/>
    <p:sldId id="317" r:id="rId14"/>
    <p:sldId id="318" r:id="rId15"/>
    <p:sldId id="319" r:id="rId16"/>
    <p:sldId id="3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8"/>
    <p:restoredTop sz="72012" autoAdjust="0"/>
  </p:normalViewPr>
  <p:slideViewPr>
    <p:cSldViewPr snapToGrid="0" snapToObjects="1">
      <p:cViewPr varScale="1">
        <p:scale>
          <a:sx n="61" d="100"/>
          <a:sy n="61" d="100"/>
        </p:scale>
        <p:origin x="429" y="26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47828E62-FC24-428A-ACF6-B28718A93287}"/>
    <pc:docChg chg="custSel delSld modSld">
      <pc:chgData name="Jeremiah Contreras" userId="7aaf88c5-f86c-46d8-a0d4-f1ec65ded07c" providerId="ADAL" clId="{47828E62-FC24-428A-ACF6-B28718A93287}" dt="2025-11-17T11:56:57.658" v="48" actId="20577"/>
      <pc:docMkLst>
        <pc:docMk/>
      </pc:docMkLst>
      <pc:sldChg chg="delSp del mod">
        <pc:chgData name="Jeremiah Contreras" userId="7aaf88c5-f86c-46d8-a0d4-f1ec65ded07c" providerId="ADAL" clId="{47828E62-FC24-428A-ACF6-B28718A93287}" dt="2025-11-17T11:51:21.809" v="2" actId="47"/>
        <pc:sldMkLst>
          <pc:docMk/>
          <pc:sldMk cId="3540326302" sldId="310"/>
        </pc:sldMkLst>
        <pc:spChg chg="del">
          <ac:chgData name="Jeremiah Contreras" userId="7aaf88c5-f86c-46d8-a0d4-f1ec65ded07c" providerId="ADAL" clId="{47828E62-FC24-428A-ACF6-B28718A93287}" dt="2025-11-17T11:50:58.131" v="1" actId="478"/>
          <ac:spMkLst>
            <pc:docMk/>
            <pc:sldMk cId="3540326302" sldId="310"/>
            <ac:spMk id="5" creationId="{82A390FB-3F04-74D6-C060-4125B5A933DD}"/>
          </ac:spMkLst>
        </pc:spChg>
      </pc:sldChg>
      <pc:sldChg chg="modSp mod">
        <pc:chgData name="Jeremiah Contreras" userId="7aaf88c5-f86c-46d8-a0d4-f1ec65ded07c" providerId="ADAL" clId="{47828E62-FC24-428A-ACF6-B28718A93287}" dt="2025-11-17T11:56:57.658" v="48" actId="20577"/>
        <pc:sldMkLst>
          <pc:docMk/>
          <pc:sldMk cId="2251706097" sldId="323"/>
        </pc:sldMkLst>
        <pc:spChg chg="mod">
          <ac:chgData name="Jeremiah Contreras" userId="7aaf88c5-f86c-46d8-a0d4-f1ec65ded07c" providerId="ADAL" clId="{47828E62-FC24-428A-ACF6-B28718A93287}" dt="2025-11-17T11:56:57.658" v="48" actId="20577"/>
          <ac:spMkLst>
            <pc:docMk/>
            <pc:sldMk cId="2251706097" sldId="323"/>
            <ac:spMk id="3" creationId="{7AB53638-0F46-4983-82CD-F81F65FF2E56}"/>
          </ac:spMkLst>
        </pc:spChg>
      </pc:sldChg>
      <pc:sldChg chg="del">
        <pc:chgData name="Jeremiah Contreras" userId="7aaf88c5-f86c-46d8-a0d4-f1ec65ded07c" providerId="ADAL" clId="{47828E62-FC24-428A-ACF6-B28718A93287}" dt="2025-11-17T11:27:31.789" v="0" actId="47"/>
        <pc:sldMkLst>
          <pc:docMk/>
          <pc:sldMk cId="1746234464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75" tIns="45937" rIns="91875" bIns="45937"/>
          <a:lstStyle/>
          <a:p>
            <a:r>
              <a:rPr lang="en-US" altLang="en-US"/>
              <a:t>Talk about (1) and (2) from next slide here</a:t>
            </a:r>
          </a:p>
        </p:txBody>
      </p:sp>
    </p:spTree>
    <p:extLst>
      <p:ext uri="{BB962C8B-B14F-4D97-AF65-F5344CB8AC3E}">
        <p14:creationId xmlns:p14="http://schemas.microsoft.com/office/powerpoint/2010/main" val="244121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79925"/>
            <a:ext cx="5616575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90" tIns="45945" rIns="91890" bIns="45945"/>
          <a:lstStyle/>
          <a:p>
            <a:r>
              <a:rPr lang="en-US" altLang="en-US"/>
              <a:t>FYI:</a:t>
            </a:r>
          </a:p>
          <a:p>
            <a:r>
              <a:rPr lang="en-US" altLang="en-US" b="1"/>
              <a:t>DEFINITION of 'Rule 144A'</a:t>
            </a:r>
          </a:p>
          <a:p>
            <a:r>
              <a:rPr lang="en-US" altLang="en-US"/>
              <a:t>A Securities &amp; Exchange Commission rule modifying a two-year holding period requirement on privately placed securities to permit qualified institutional buyers to trade these positions among themselves. </a:t>
            </a:r>
          </a:p>
          <a:p>
            <a:endParaRPr lang="en-US" altLang="en-US"/>
          </a:p>
          <a:p>
            <a:r>
              <a:rPr lang="en-US" altLang="en-US" b="1"/>
              <a:t>DEFINITION of 'Yield To Maturity (YTM)'</a:t>
            </a:r>
          </a:p>
          <a:p>
            <a:r>
              <a:rPr lang="en-US" altLang="en-US"/>
              <a:t>The total return anticipated on a bond if the bond is held until the end of its lifetime. Yield to maturity is considered a long-term bond yield, but is expressed as an annual rate. In other words, it is the internal rate of return of an investment in a bond if the investor holds the bond until maturity and if all payments are made as scheduled.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55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1 – In-Class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64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461E-8F26-483F-B466-A66E00BD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1340-C663-4B4A-A0A8-FB44F894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12" y="1609727"/>
            <a:ext cx="10772375" cy="48538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Bond payables and note payables are measured at present value of future cash flows at issuance.</a:t>
            </a:r>
          </a:p>
          <a:p>
            <a:pPr lvl="1"/>
            <a:r>
              <a:rPr lang="en-US" dirty="0"/>
              <a:t>Similar to how we recorded initial BV of Notes Receivable at their present value at issuance!</a:t>
            </a:r>
          </a:p>
          <a:p>
            <a:endParaRPr lang="en-US" dirty="0"/>
          </a:p>
          <a:p>
            <a:r>
              <a:rPr lang="en-US" dirty="0"/>
              <a:t>Notes issued for non-cash items (like PP&amp;E) are measured at fair value of item (or PV of future cash flows if fair value unknown)</a:t>
            </a:r>
          </a:p>
          <a:p>
            <a:endParaRPr lang="en-US" dirty="0"/>
          </a:p>
          <a:p>
            <a:r>
              <a:rPr lang="en-US" dirty="0"/>
              <a:t>Notes and bonds can be issued at face, premium, or discount.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** Receivables: calculate Revenue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Payables: calculate Expense</a:t>
            </a:r>
          </a:p>
        </p:txBody>
      </p:sp>
    </p:spTree>
    <p:extLst>
      <p:ext uri="{BB962C8B-B14F-4D97-AF65-F5344CB8AC3E}">
        <p14:creationId xmlns:p14="http://schemas.microsoft.com/office/powerpoint/2010/main" val="214386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(non-cash)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620"/>
            <a:ext cx="10515600" cy="5152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January 1, 2020, Mrs. Potts Corp. purchased equipment in exchange for a $12,000 zero-interest bearing note due in two years. The equipment has a fair value of $10,000 and the market interest rate is 10%.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Both"/>
            </a:pPr>
            <a:r>
              <a:rPr lang="en-US" dirty="0"/>
              <a:t>Prepare the journal entry for the acquisition.</a:t>
            </a:r>
          </a:p>
          <a:p>
            <a:pPr marL="514350" indent="-514350">
              <a:buAutoNum type="alphaLcParenBoth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Equipment	 (B-A)			10,000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Discount on N/P (B-XL)		2,000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Note Payable (B-L)			12,000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8123" y="3195587"/>
            <a:ext cx="242556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Fair Value Known:</a:t>
            </a:r>
          </a:p>
          <a:p>
            <a:r>
              <a:rPr lang="en-US" dirty="0"/>
              <a:t>CV of note = $10,000</a:t>
            </a:r>
          </a:p>
          <a:p>
            <a:r>
              <a:rPr lang="en-US" dirty="0"/>
              <a:t>FV of note = </a:t>
            </a:r>
            <a:r>
              <a:rPr lang="en-US" u="sng" dirty="0"/>
              <a:t>$12,000</a:t>
            </a:r>
          </a:p>
          <a:p>
            <a:r>
              <a:rPr lang="en-US" dirty="0"/>
              <a:t>Discount =    $2,000</a:t>
            </a:r>
          </a:p>
        </p:txBody>
      </p:sp>
    </p:spTree>
    <p:extLst>
      <p:ext uri="{BB962C8B-B14F-4D97-AF65-F5344CB8AC3E}">
        <p14:creationId xmlns:p14="http://schemas.microsoft.com/office/powerpoint/2010/main" val="332237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(non-cash)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620"/>
            <a:ext cx="10515600" cy="5152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January 1, 2020, Mrs. Potts Corp. purchased equipment in exchange for a $12,000 zero-interest bearing note due in two years. The market interest rate is 10%. The present value of the note, discounted at the 10% market rate, is $9,917.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Both"/>
            </a:pPr>
            <a:r>
              <a:rPr lang="en-US" dirty="0"/>
              <a:t>Prepare the journal entry for the acquisition.</a:t>
            </a:r>
          </a:p>
          <a:p>
            <a:pPr marL="514350" indent="-514350">
              <a:buAutoNum type="alphaLcParenBoth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Equipment	 (B-A)			9,917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Discount on N/P (B-XL)		2,083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Note Payable (B-L)			12,000</a:t>
            </a:r>
          </a:p>
        </p:txBody>
      </p:sp>
    </p:spTree>
    <p:extLst>
      <p:ext uri="{BB962C8B-B14F-4D97-AF65-F5344CB8AC3E}">
        <p14:creationId xmlns:p14="http://schemas.microsoft.com/office/powerpoint/2010/main" val="23654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(non-cash)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620"/>
            <a:ext cx="10515600" cy="5152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January 1, 2020, Mrs. Potts Corp. purchased equipment in exchange for a $12,000 zero-interest bearing note due in two years. The market interest rate is 10%. The present value of the note, discounted at the 10% market rate, is $9,917.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(b)  Calculate interest expense for 2020.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Interest expense in Yr 1 = CV @ beginning of Yr 1x market rate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	= $9,917 x 10% = 992</a:t>
            </a:r>
          </a:p>
        </p:txBody>
      </p:sp>
    </p:spTree>
    <p:extLst>
      <p:ext uri="{BB962C8B-B14F-4D97-AF65-F5344CB8AC3E}">
        <p14:creationId xmlns:p14="http://schemas.microsoft.com/office/powerpoint/2010/main" val="413378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In-Class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In-Class Problem 1</a:t>
            </a:r>
          </a:p>
        </p:txBody>
      </p:sp>
    </p:spTree>
    <p:extLst>
      <p:ext uri="{BB962C8B-B14F-4D97-AF65-F5344CB8AC3E}">
        <p14:creationId xmlns:p14="http://schemas.microsoft.com/office/powerpoint/2010/main" val="22508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Bonds</a:t>
            </a:r>
          </a:p>
        </p:txBody>
      </p:sp>
      <p:sp>
        <p:nvSpPr>
          <p:cNvPr id="9219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898064" y="6248400"/>
            <a:ext cx="7699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3D3453-2AA5-442D-9C2B-1129200B5D57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76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42AB-99BA-4851-A916-89A02158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4E22-2730-43DD-9510-1209090F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53"/>
            <a:ext cx="10515600" cy="39573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Non-current (or long-term) liabilities </a:t>
            </a:r>
            <a:r>
              <a:rPr lang="en-US" dirty="0"/>
              <a:t>are obligations due in more than one year.</a:t>
            </a:r>
          </a:p>
        </p:txBody>
      </p:sp>
      <p:pic>
        <p:nvPicPr>
          <p:cNvPr id="6" name="Picture 2" descr="http://ep.yimg.com/ay/scripophily/pepsico-inc-pepsi-cola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411" y="2510846"/>
            <a:ext cx="5973177" cy="389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25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42AB-99BA-4851-A916-89A02158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4E22-2730-43DD-9510-1209090F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53"/>
            <a:ext cx="10515600" cy="39573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Non-current (or long-term) liabilities </a:t>
            </a:r>
            <a:r>
              <a:rPr lang="en-US" dirty="0"/>
              <a:t>are obligations due in more than one year. </a:t>
            </a:r>
            <a:r>
              <a:rPr lang="en-US" b="1" dirty="0">
                <a:solidFill>
                  <a:srgbClr val="FF0000"/>
                </a:solidFill>
              </a:rPr>
              <a:t>* Financing Activities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5DF6B-6C21-46D8-B0C0-C2DC3E16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57" y="2530451"/>
            <a:ext cx="10795686" cy="400431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EE3E2B-8554-1A77-ABE5-04E18DB9CB6C}"/>
              </a:ext>
            </a:extLst>
          </p:cNvPr>
          <p:cNvCxnSpPr/>
          <p:nvPr/>
        </p:nvCxnSpPr>
        <p:spPr>
          <a:xfrm>
            <a:off x="5040726" y="5117567"/>
            <a:ext cx="806823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1BEC52-8F26-4125-66E7-B267B51062C5}"/>
              </a:ext>
            </a:extLst>
          </p:cNvPr>
          <p:cNvCxnSpPr/>
          <p:nvPr/>
        </p:nvCxnSpPr>
        <p:spPr>
          <a:xfrm>
            <a:off x="5040726" y="5492804"/>
            <a:ext cx="806823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4FD16F-44AC-5810-DBDB-2AE23FC072CB}"/>
              </a:ext>
            </a:extLst>
          </p:cNvPr>
          <p:cNvCxnSpPr/>
          <p:nvPr/>
        </p:nvCxnSpPr>
        <p:spPr>
          <a:xfrm>
            <a:off x="5040726" y="5852673"/>
            <a:ext cx="806823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11FBBD-B6A4-2EB8-C78C-2A4B715BE7A3}"/>
              </a:ext>
            </a:extLst>
          </p:cNvPr>
          <p:cNvCxnSpPr/>
          <p:nvPr/>
        </p:nvCxnSpPr>
        <p:spPr>
          <a:xfrm>
            <a:off x="5040726" y="6220226"/>
            <a:ext cx="806823" cy="0"/>
          </a:xfrm>
          <a:prstGeom prst="straightConnector1">
            <a:avLst/>
          </a:prstGeom>
          <a:ln w="571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9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58" y="1219837"/>
            <a:ext cx="8037009" cy="56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3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corporate.morningstar.com/bl/images/home_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5781"/>
            <a:ext cx="30670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363914" y="4524613"/>
            <a:ext cx="7058025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Price is quoted as a % of face value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→ Price x Bond Face Value = true value (i.e., current market value)</a:t>
            </a:r>
          </a:p>
          <a:p>
            <a:pPr marL="225425" indent="-225425">
              <a:spcBef>
                <a:spcPts val="1200"/>
              </a:spcBef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If face value of a single bond from top row is $1,000, then   101.9% x $1,000 = $1,019 true value</a:t>
            </a:r>
          </a:p>
          <a:p>
            <a:pPr marL="225425" indent="-225425">
              <a:spcBef>
                <a:spcPts val="1200"/>
              </a:spcBef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If face value of a single bond from bottom row is $1,000, then 96.7% x $1,000 = $967 true value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597077" y="3880143"/>
            <a:ext cx="0" cy="44625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itle 1"/>
          <p:cNvSpPr>
            <a:spLocks noGrp="1"/>
          </p:cNvSpPr>
          <p:nvPr>
            <p:ph type="title"/>
          </p:nvPr>
        </p:nvSpPr>
        <p:spPr>
          <a:xfrm>
            <a:off x="838200" y="133151"/>
            <a:ext cx="10515600" cy="1325563"/>
          </a:xfrm>
        </p:spPr>
        <p:txBody>
          <a:bodyPr/>
          <a:lstStyle/>
          <a:p>
            <a:r>
              <a:rPr lang="en-US" altLang="en-US" sz="3600" dirty="0"/>
              <a:t>Alternative Bond Price</a:t>
            </a:r>
          </a:p>
        </p:txBody>
      </p:sp>
      <p:pic>
        <p:nvPicPr>
          <p:cNvPr id="21511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2"/>
          <a:stretch>
            <a:fillRect/>
          </a:stretch>
        </p:blipFill>
        <p:spPr bwMode="auto">
          <a:xfrm>
            <a:off x="393690" y="2158144"/>
            <a:ext cx="11141406" cy="172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3182938" y="4372013"/>
            <a:ext cx="7239001" cy="904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8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3E1B-C5A6-4219-858D-818C0E1F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a Bond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3638-0F46-4983-82CD-F81F65FF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Calculate a PV using the current market rate</a:t>
            </a:r>
          </a:p>
          <a:p>
            <a:pPr marL="971539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We won’t do this in this class.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Problem gives you a cash value/present value (e.g. sold for $1,500,000)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Problem gives you a price (price = 102.900, implying the bonds sold for 102.9% x Face Value or 1.029 x Face Value)</a:t>
            </a:r>
          </a:p>
          <a:p>
            <a:pPr marL="971539" lvl="1" indent="-514350">
              <a:buFont typeface="+mj-lt"/>
              <a:buAutoNum type="arabicPeriod"/>
            </a:pPr>
            <a:r>
              <a:rPr lang="en-US"/>
              <a:t>We might </a:t>
            </a:r>
            <a:r>
              <a:rPr lang="en-US" dirty="0"/>
              <a:t>say: “the bonds are sold at 102.9.”</a:t>
            </a:r>
          </a:p>
        </p:txBody>
      </p:sp>
    </p:spTree>
    <p:extLst>
      <p:ext uri="{BB962C8B-B14F-4D97-AF65-F5344CB8AC3E}">
        <p14:creationId xmlns:p14="http://schemas.microsoft.com/office/powerpoint/2010/main" val="2251706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Amortization (again)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96" y="2382179"/>
            <a:ext cx="92106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91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Rules for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Initial Book value or Carrying Value =  Present value of future cash flows.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Interest expense = beginning book value X market rate.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Coupon payment = coupon rate X face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In-Class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</p:spTree>
    <p:extLst>
      <p:ext uri="{BB962C8B-B14F-4D97-AF65-F5344CB8AC3E}">
        <p14:creationId xmlns:p14="http://schemas.microsoft.com/office/powerpoint/2010/main" val="933132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1 – In-Class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94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4271</TotalTime>
  <Words>784</Words>
  <Application>Microsoft Office PowerPoint</Application>
  <PresentationFormat>Widescreen</PresentationFormat>
  <Paragraphs>75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From the Video</vt:lpstr>
      <vt:lpstr>Example (non-cash)</vt:lpstr>
      <vt:lpstr>Example (non-cash)</vt:lpstr>
      <vt:lpstr>Example (non-cash)</vt:lpstr>
      <vt:lpstr>Go to In-Class Questions</vt:lpstr>
      <vt:lpstr>Bonds</vt:lpstr>
      <vt:lpstr>Bonds</vt:lpstr>
      <vt:lpstr>Bonds</vt:lpstr>
      <vt:lpstr>Bond Features</vt:lpstr>
      <vt:lpstr>Alternative Bond Price</vt:lpstr>
      <vt:lpstr>Three Ways to a Bond Price</vt:lpstr>
      <vt:lpstr>Amortization (again)</vt:lpstr>
      <vt:lpstr>Three Rules for Bonds</vt:lpstr>
      <vt:lpstr>Go to In-Class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189</cp:revision>
  <dcterms:created xsi:type="dcterms:W3CDTF">2016-01-26T18:12:20Z</dcterms:created>
  <dcterms:modified xsi:type="dcterms:W3CDTF">2025-11-17T11:56:57Z</dcterms:modified>
</cp:coreProperties>
</file>