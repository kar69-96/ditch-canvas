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415" r:id="rId2"/>
    <p:sldId id="420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1" r:id="rId13"/>
    <p:sldId id="432" r:id="rId14"/>
    <p:sldId id="436" r:id="rId15"/>
    <p:sldId id="437" r:id="rId16"/>
    <p:sldId id="433" r:id="rId17"/>
    <p:sldId id="438" r:id="rId18"/>
    <p:sldId id="439" r:id="rId1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45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B61DE362-1DBC-4D2B-A3AC-F30C5320C049}"/>
    <pc:docChg chg="delSld">
      <pc:chgData name="Jeremiah Contreras" userId="9ea49ee18badb19e" providerId="LiveId" clId="{B61DE362-1DBC-4D2B-A3AC-F30C5320C049}" dt="2022-11-16T14:08:04.244" v="0" actId="47"/>
      <pc:docMkLst>
        <pc:docMk/>
      </pc:docMkLst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74990569" sldId="386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217761127" sldId="391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3567860504" sldId="440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4090725674" sldId="441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971877086" sldId="442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654014038" sldId="443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761924634" sldId="444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934905056" sldId="445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183284266" sldId="446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3413708828" sldId="447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365517837" sldId="448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778274327" sldId="449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672319846" sldId="450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274214769" sldId="451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751976341" sldId="452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90361007" sldId="453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3767497968" sldId="454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587759403" sldId="455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874788707" sldId="456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138825674" sldId="457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842325944" sldId="458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334317420" sldId="459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3087041443" sldId="460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1423770960" sldId="461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2530486723" sldId="462"/>
        </pc:sldMkLst>
      </pc:sldChg>
      <pc:sldChg chg="del">
        <pc:chgData name="Jeremiah Contreras" userId="9ea49ee18badb19e" providerId="LiveId" clId="{B61DE362-1DBC-4D2B-A3AC-F30C5320C049}" dt="2022-11-16T14:08:04.244" v="0" actId="47"/>
        <pc:sldMkLst>
          <pc:docMk/>
          <pc:sldMk cId="514326255" sldId="4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74990FD1-A321-427C-9109-83A4141E2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487363" y="731838"/>
            <a:ext cx="6518275" cy="3667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9C0202F1-D2D5-4C53-96F3-1DC564780C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49457" y="4643238"/>
            <a:ext cx="5992395" cy="439919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28" tIns="48563" rIns="97128" bIns="48563"/>
          <a:lstStyle/>
          <a:p>
            <a:r>
              <a:rPr lang="en-US" altLang="en-US"/>
              <a:t>Talk about (1) and (2) from next slide here</a:t>
            </a:r>
          </a:p>
        </p:txBody>
      </p:sp>
    </p:spTree>
    <p:extLst>
      <p:ext uri="{BB962C8B-B14F-4D97-AF65-F5344CB8AC3E}">
        <p14:creationId xmlns:p14="http://schemas.microsoft.com/office/powerpoint/2010/main" val="366754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9C0C6AF4-D64A-4B29-A08C-02177F64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30A435BC-D890-4CCC-80CD-C96BFFFA33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</a:rPr>
              <a:t>Fair value </a:t>
            </a:r>
          </a:p>
          <a:p>
            <a:pPr marL="648081" lvl="1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</a:rPr>
              <a:t>Pros: relevant, reliable (?)</a:t>
            </a:r>
          </a:p>
          <a:p>
            <a:pPr marL="648081" lvl="1">
              <a:spcAft>
                <a:spcPts val="612"/>
              </a:spcAft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</a:rPr>
              <a:t>Cons: not always easily determined, income volatility</a:t>
            </a:r>
          </a:p>
          <a:p>
            <a:endParaRPr lang="en-US" altLang="en-US" dirty="0"/>
          </a:p>
          <a:p>
            <a:r>
              <a:rPr lang="en-US" altLang="en-US" dirty="0"/>
              <a:t>Market Rate increases, bond value falls, firm gets a gain (holders get a loss)</a:t>
            </a:r>
          </a:p>
          <a:p>
            <a:r>
              <a:rPr lang="en-US" altLang="en-US" dirty="0"/>
              <a:t>Market Rate decreases, bond value increases, firm gets a loss (holders get a gain)</a:t>
            </a:r>
          </a:p>
        </p:txBody>
      </p:sp>
    </p:spTree>
    <p:extLst>
      <p:ext uri="{BB962C8B-B14F-4D97-AF65-F5344CB8AC3E}">
        <p14:creationId xmlns:p14="http://schemas.microsoft.com/office/powerpoint/2010/main" val="3237733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B7B69B42-B8C9-464D-9057-A7E3D2D04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5D954DB9-F1BC-443D-9CB8-0D22E4BAAF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</a:rPr>
              <a:t>Fair value </a:t>
            </a:r>
          </a:p>
          <a:p>
            <a:pPr marL="648081" lvl="1"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</a:rPr>
              <a:t>Pros: relevant, reliable (?)</a:t>
            </a:r>
          </a:p>
          <a:p>
            <a:pPr marL="648081" lvl="1">
              <a:spcAft>
                <a:spcPts val="612"/>
              </a:spcAft>
              <a:buSzPct val="50000"/>
              <a:buFont typeface="Wingdings" panose="05000000000000000000" pitchFamily="2" charset="2"/>
              <a:buChar char="m"/>
            </a:pPr>
            <a:r>
              <a:rPr lang="en-US" altLang="en-US" sz="2000" dirty="0">
                <a:solidFill>
                  <a:srgbClr val="000000"/>
                </a:solidFill>
              </a:rPr>
              <a:t>Cons: not always easily determined, income volatility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921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2 - Video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51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Bond Retirement</a:t>
            </a:r>
          </a:p>
          <a:p>
            <a:endParaRPr lang="en-US" dirty="0"/>
          </a:p>
          <a:p>
            <a:r>
              <a:rPr lang="en-US" dirty="0"/>
              <a:t>Fair Value Option</a:t>
            </a:r>
          </a:p>
        </p:txBody>
      </p:sp>
    </p:spTree>
    <p:extLst>
      <p:ext uri="{BB962C8B-B14F-4D97-AF65-F5344CB8AC3E}">
        <p14:creationId xmlns:p14="http://schemas.microsoft.com/office/powerpoint/2010/main" val="2691178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Bond Retirement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Bond retirement is when you repay the lender and extinguish the liability.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When to retire:</a:t>
            </a:r>
          </a:p>
          <a:p>
            <a:pPr lvl="1"/>
            <a:r>
              <a:rPr lang="en-US" dirty="0"/>
              <a:t>At maturity (the end of the debt term)</a:t>
            </a:r>
          </a:p>
          <a:p>
            <a:pPr lvl="1"/>
            <a:r>
              <a:rPr lang="en-US" dirty="0"/>
              <a:t>Early (whenever you want to)</a:t>
            </a:r>
          </a:p>
        </p:txBody>
      </p:sp>
      <p:pic>
        <p:nvPicPr>
          <p:cNvPr id="1026" name="Picture 2" descr="Standard Oil | Museum of American Fin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768" y="3407358"/>
            <a:ext cx="4563727" cy="269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19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Retirement at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 the end of the debt term:</a:t>
            </a:r>
          </a:p>
          <a:p>
            <a:pPr lvl="1"/>
            <a:r>
              <a:rPr lang="en-US" dirty="0"/>
              <a:t>Carrying value is equal to face value (no premium or discount remains)</a:t>
            </a:r>
          </a:p>
          <a:p>
            <a:pPr lvl="1"/>
            <a:r>
              <a:rPr lang="en-US" dirty="0"/>
              <a:t>Derecognize the bond payable and record payment of cash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	Bond Payable (B-L)		XX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XX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*XX = Face Value</a:t>
            </a:r>
          </a:p>
        </p:txBody>
      </p:sp>
    </p:spTree>
    <p:extLst>
      <p:ext uri="{BB962C8B-B14F-4D97-AF65-F5344CB8AC3E}">
        <p14:creationId xmlns:p14="http://schemas.microsoft.com/office/powerpoint/2010/main" val="278192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(at maturity)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1663716"/>
            <a:ext cx="10372725" cy="38385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83907" y="4177364"/>
            <a:ext cx="8835992" cy="1203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0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Retirement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Early Repurchase or Redemption: Company retires bond </a:t>
            </a:r>
            <a:r>
              <a:rPr lang="en-US" b="1" dirty="0"/>
              <a:t>before maturity date.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amount of cash paid out (call provision, current market value/price, or PV at current market rates)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cash paid out to current CV of bond; difference is gain or loss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Derecognize bond payable and any remaining discount/premium</a:t>
            </a:r>
          </a:p>
        </p:txBody>
      </p:sp>
    </p:spTree>
    <p:extLst>
      <p:ext uri="{BB962C8B-B14F-4D97-AF65-F5344CB8AC3E}">
        <p14:creationId xmlns:p14="http://schemas.microsoft.com/office/powerpoint/2010/main" val="383360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Retirement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Early Repurchase or Redemption: Company retires bond </a:t>
            </a:r>
            <a:r>
              <a:rPr lang="en-US" b="1" dirty="0"/>
              <a:t>before maturity date.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Pay cash at current market value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liability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Plug JE to gain/loss</a:t>
            </a:r>
          </a:p>
        </p:txBody>
      </p:sp>
    </p:spTree>
    <p:extLst>
      <p:ext uri="{BB962C8B-B14F-4D97-AF65-F5344CB8AC3E}">
        <p14:creationId xmlns:p14="http://schemas.microsoft.com/office/powerpoint/2010/main" val="969081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(early retirement)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0237"/>
            <a:ext cx="10344150" cy="37528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58703" y="4668253"/>
            <a:ext cx="5775158" cy="694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(early retirement)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7357"/>
            <a:ext cx="9906000" cy="4333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30929" y="4694994"/>
            <a:ext cx="7911967" cy="1087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4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(early retirement)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49" y="1452562"/>
            <a:ext cx="9839325" cy="3952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84858" y="4431968"/>
            <a:ext cx="8602931" cy="1087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180" y="5634438"/>
            <a:ext cx="6791325" cy="11525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069881" y="5591523"/>
            <a:ext cx="8602931" cy="1087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7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(early retirement)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95" y="1583406"/>
            <a:ext cx="9753600" cy="50387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02029" y="4378328"/>
            <a:ext cx="9418897" cy="22438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3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374B7BB-911C-41ED-AFCF-27D432EB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Fair Value Option</a:t>
            </a:r>
          </a:p>
        </p:txBody>
      </p:sp>
      <p:sp>
        <p:nvSpPr>
          <p:cNvPr id="36867" name="Slide Number Placeholder 2">
            <a:extLst>
              <a:ext uri="{FF2B5EF4-FFF2-40B4-BE49-F238E27FC236}">
                <a16:creationId xmlns:a16="http://schemas.microsoft.com/office/drawing/2014/main" id="{04446A02-3C9F-4E28-9FF0-CE528E16B9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898064" y="6248400"/>
            <a:ext cx="7699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85FCD8-448A-4E9D-BFEB-8296C63C7C90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4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77D20A67-EFEC-4559-9683-3713533A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326" y="236410"/>
            <a:ext cx="9533375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Fair value option for bonds and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1F2C-4EE6-4DCA-A4E3-6D1D11388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76389"/>
            <a:ext cx="9797143" cy="380047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Companies may elect the fair value option at the time it issues debt.</a:t>
            </a:r>
          </a:p>
          <a:p>
            <a:r>
              <a:rPr lang="en-US" altLang="en-US" sz="2400" dirty="0"/>
              <a:t>Reporting choice is generally </a:t>
            </a:r>
            <a:r>
              <a:rPr lang="en-US" altLang="en-US" sz="2400" b="1" dirty="0"/>
              <a:t>irrevocable </a:t>
            </a:r>
            <a:r>
              <a:rPr lang="en-US" altLang="en-US" sz="2400" dirty="0"/>
              <a:t>(by instrument).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FCE89-A342-436C-BCA7-33C81B77DE2E}"/>
              </a:ext>
            </a:extLst>
          </p:cNvPr>
          <p:cNvSpPr txBox="1"/>
          <p:nvPr/>
        </p:nvSpPr>
        <p:spPr>
          <a:xfrm>
            <a:off x="1480457" y="2892425"/>
            <a:ext cx="86144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tabLst>
                <a:tab pos="1084263" algn="l"/>
                <a:tab pos="1371600" algn="l"/>
              </a:tabLst>
              <a:defRPr/>
            </a:pPr>
            <a:r>
              <a:rPr lang="en-US" sz="2000" u="sng" dirty="0"/>
              <a:t>At issue</a:t>
            </a:r>
            <a:r>
              <a:rPr lang="en-US" sz="2000" dirty="0"/>
              <a:t> 	</a:t>
            </a:r>
            <a:r>
              <a:rPr lang="en-US" sz="2000" dirty="0">
                <a:sym typeface="Wingdings" panose="05000000000000000000" pitchFamily="2" charset="2"/>
              </a:rPr>
              <a:t> Report the liability on the balance sheet at fair value.</a:t>
            </a:r>
          </a:p>
          <a:p>
            <a:pPr marL="1371600" indent="-1371600">
              <a:defRPr/>
            </a:pPr>
            <a:r>
              <a:rPr lang="en-US" sz="2000" u="sng" dirty="0">
                <a:sym typeface="Wingdings" panose="05000000000000000000" pitchFamily="2" charset="2"/>
              </a:rPr>
              <a:t>Over time</a:t>
            </a:r>
            <a:r>
              <a:rPr lang="en-US" sz="2000" dirty="0">
                <a:sym typeface="Wingdings" panose="05000000000000000000" pitchFamily="2" charset="2"/>
              </a:rPr>
              <a:t>  Adjust liability to FMV and report adjustments as unrealized gains and losses in </a:t>
            </a:r>
            <a:r>
              <a:rPr lang="en-US" sz="2000" b="1" dirty="0">
                <a:solidFill>
                  <a:srgbClr val="C00000"/>
                </a:solidFill>
                <a:sym typeface="Wingdings" panose="05000000000000000000" pitchFamily="2" charset="2"/>
              </a:rPr>
              <a:t>net income</a:t>
            </a:r>
            <a:r>
              <a:rPr lang="en-US" sz="2000" dirty="0">
                <a:sym typeface="Wingdings" panose="05000000000000000000" pitchFamily="2" charset="2"/>
              </a:rPr>
              <a:t>. </a:t>
            </a: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CFA1BD-232D-44E9-9F43-67AC86ACA5EA}"/>
              </a:ext>
            </a:extLst>
          </p:cNvPr>
          <p:cNvGrpSpPr>
            <a:grpSpLocks/>
          </p:cNvGrpSpPr>
          <p:nvPr/>
        </p:nvGrpSpPr>
        <p:grpSpPr bwMode="auto">
          <a:xfrm>
            <a:off x="1229490" y="5370443"/>
            <a:ext cx="9797142" cy="707886"/>
            <a:chOff x="119711" y="5016938"/>
            <a:chExt cx="9348888" cy="708125"/>
          </a:xfrm>
        </p:grpSpPr>
        <p:sp>
          <p:nvSpPr>
            <p:cNvPr id="38921" name="TextBox 5">
              <a:extLst>
                <a:ext uri="{FF2B5EF4-FFF2-40B4-BE49-F238E27FC236}">
                  <a16:creationId xmlns:a16="http://schemas.microsoft.com/office/drawing/2014/main" id="{9BEE8A97-1FEE-4C82-90D8-9D976A4E3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194" y="5016938"/>
              <a:ext cx="7619405" cy="70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1084263" algn="l"/>
                  <a:tab pos="1371600" algn="l"/>
                </a:tabLs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084263" algn="l"/>
                  <a:tab pos="13716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084263" algn="l"/>
                  <a:tab pos="1371600" algn="l"/>
                </a:tabLst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Bond payable (fair value adjustment)			xx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	Unrealized holding gain 					xx</a:t>
              </a:r>
            </a:p>
          </p:txBody>
        </p:sp>
        <p:sp>
          <p:nvSpPr>
            <p:cNvPr id="38922" name="TextBox 6">
              <a:extLst>
                <a:ext uri="{FF2B5EF4-FFF2-40B4-BE49-F238E27FC236}">
                  <a16:creationId xmlns:a16="http://schemas.microsoft.com/office/drawing/2014/main" id="{DC652473-650F-44F2-AE8A-6FD1FA83F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11" y="5068745"/>
              <a:ext cx="1894760" cy="461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Bond value ↓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255774-8F40-4BB1-9710-84BA75D21F71}"/>
              </a:ext>
            </a:extLst>
          </p:cNvPr>
          <p:cNvGrpSpPr>
            <a:grpSpLocks/>
          </p:cNvGrpSpPr>
          <p:nvPr/>
        </p:nvGrpSpPr>
        <p:grpSpPr bwMode="auto">
          <a:xfrm>
            <a:off x="1229490" y="4273547"/>
            <a:ext cx="9733020" cy="708169"/>
            <a:chOff x="119711" y="4274005"/>
            <a:chExt cx="9287700" cy="706982"/>
          </a:xfrm>
        </p:grpSpPr>
        <p:sp>
          <p:nvSpPr>
            <p:cNvPr id="38919" name="TextBox 4">
              <a:extLst>
                <a:ext uri="{FF2B5EF4-FFF2-40B4-BE49-F238E27FC236}">
                  <a16:creationId xmlns:a16="http://schemas.microsoft.com/office/drawing/2014/main" id="{C9887491-528A-449B-8CA0-A71F995D8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195" y="4274288"/>
              <a:ext cx="7558216" cy="706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1084263" algn="l"/>
                  <a:tab pos="1371600" algn="l"/>
                </a:tabLs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084263" algn="l"/>
                  <a:tab pos="13716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084263" algn="l"/>
                  <a:tab pos="1371600" algn="l"/>
                </a:tabLst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084263" algn="l"/>
                  <a:tab pos="13716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Unrealized holding loss 					xx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 dirty="0">
                  <a:latin typeface="Times New Roman" panose="02020603050405020304" pitchFamily="18" charset="0"/>
                </a:rPr>
                <a:t>	Bond payable (fair value adjustment)			xx</a:t>
              </a:r>
            </a:p>
          </p:txBody>
        </p:sp>
        <p:sp>
          <p:nvSpPr>
            <p:cNvPr id="38920" name="TextBox 7">
              <a:extLst>
                <a:ext uri="{FF2B5EF4-FFF2-40B4-BE49-F238E27FC236}">
                  <a16:creationId xmlns:a16="http://schemas.microsoft.com/office/drawing/2014/main" id="{86EC9739-88F0-4E73-87DC-65DCA3CBA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711" y="4274005"/>
              <a:ext cx="1894760" cy="460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HelveticaNeue MediumCond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Bond value 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41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 value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1052"/>
            <a:ext cx="10058400" cy="47339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83907" y="4408371"/>
            <a:ext cx="9471259" cy="2069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4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Fair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0139"/>
            <a:ext cx="10191750" cy="1581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891289"/>
            <a:ext cx="10058400" cy="1171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156735"/>
            <a:ext cx="9858375" cy="1143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5393606"/>
            <a:ext cx="100012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0A87CEF0-9BC9-4953-AB82-544906F4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20" y="338136"/>
            <a:ext cx="9493181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Fair value option for bonds and notes</a:t>
            </a:r>
          </a:p>
        </p:txBody>
      </p:sp>
      <p:sp>
        <p:nvSpPr>
          <p:cNvPr id="40963" name="Content Placeholder 6">
            <a:extLst>
              <a:ext uri="{FF2B5EF4-FFF2-40B4-BE49-F238E27FC236}">
                <a16:creationId xmlns:a16="http://schemas.microsoft.com/office/drawing/2014/main" id="{A793D7B4-BB55-47C8-A8B6-F962F683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20" y="1576389"/>
            <a:ext cx="9998110" cy="3800475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000" dirty="0"/>
              <a:t>Example: Suppose Triton Inc. issued 500,000 6% bonds at face value on January 1, 2016 and chose to report the bonds using the fair value option. At December 31, 2016, market rate has increased to 8%. As a result the value of the bonds falls to 480,000.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D1878-6D71-4011-81AA-2D8EBF207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01" y="3152514"/>
            <a:ext cx="77819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084263" algn="l"/>
                <a:tab pos="13716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84263" algn="l"/>
                <a:tab pos="13716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84263" algn="l"/>
                <a:tab pos="1371600" algn="l"/>
              </a:tabLst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84263" algn="l"/>
                <a:tab pos="1371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latin typeface="Times New Roman" panose="02020603050405020304" pitchFamily="18" charset="0"/>
              </a:rPr>
              <a:t>Initial Issue (1/1/2016)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Cash						500,000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	Bond payable 				500,000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latin typeface="Times New Roman" panose="02020603050405020304" pitchFamily="18" charset="0"/>
              </a:rPr>
              <a:t>Fair Value Adjustment (12/31/2016)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Bond payable				20,000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	Unrealized holding gain (I-R)		20,000</a:t>
            </a:r>
          </a:p>
        </p:txBody>
      </p:sp>
    </p:spTree>
    <p:extLst>
      <p:ext uri="{BB962C8B-B14F-4D97-AF65-F5344CB8AC3E}">
        <p14:creationId xmlns:p14="http://schemas.microsoft.com/office/powerpoint/2010/main" val="314263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retiring bonds at end of debt term, remove bonds payable and pay cash at face value.</a:t>
            </a:r>
          </a:p>
          <a:p>
            <a:endParaRPr lang="en-US" dirty="0"/>
          </a:p>
          <a:p>
            <a:r>
              <a:rPr lang="en-US" dirty="0"/>
              <a:t>Early bond retirement may involve a gain or loss. Pay cash at current fair value, remove liability. Difference is gain/loss.</a:t>
            </a:r>
          </a:p>
          <a:p>
            <a:endParaRPr lang="en-US" dirty="0"/>
          </a:p>
          <a:p>
            <a:r>
              <a:rPr lang="en-US" dirty="0"/>
              <a:t>Firms can elect to report debt at fair value.</a:t>
            </a:r>
          </a:p>
        </p:txBody>
      </p:sp>
    </p:spTree>
    <p:extLst>
      <p:ext uri="{BB962C8B-B14F-4D97-AF65-F5344CB8AC3E}">
        <p14:creationId xmlns:p14="http://schemas.microsoft.com/office/powerpoint/2010/main" val="409805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2 - Video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09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2117</TotalTime>
  <Words>604</Words>
  <Application>Microsoft Office PowerPoint</Application>
  <PresentationFormat>Widescreen</PresentationFormat>
  <Paragraphs>83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Today’s Video</vt:lpstr>
      <vt:lpstr>Bond Retirement</vt:lpstr>
      <vt:lpstr>Retirement at maturity</vt:lpstr>
      <vt:lpstr>Example (at maturity)</vt:lpstr>
      <vt:lpstr>Early Retirement</vt:lpstr>
      <vt:lpstr>Early Retirement (Simple)</vt:lpstr>
      <vt:lpstr>Example (early retirement)</vt:lpstr>
      <vt:lpstr>Example (early retirement)</vt:lpstr>
      <vt:lpstr>Example (early retirement)</vt:lpstr>
      <vt:lpstr>Example (early retirement)</vt:lpstr>
      <vt:lpstr>Fair Value Option</vt:lpstr>
      <vt:lpstr>Fair value option for bonds and notes</vt:lpstr>
      <vt:lpstr>Fair value option</vt:lpstr>
      <vt:lpstr>Measuring Fair Value</vt:lpstr>
      <vt:lpstr>Fair value option for bonds and notes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184</cp:revision>
  <cp:lastPrinted>2018-11-29T14:22:57Z</cp:lastPrinted>
  <dcterms:created xsi:type="dcterms:W3CDTF">2016-01-26T18:12:20Z</dcterms:created>
  <dcterms:modified xsi:type="dcterms:W3CDTF">2022-11-16T14:08:13Z</dcterms:modified>
</cp:coreProperties>
</file>