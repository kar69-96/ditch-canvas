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1"/>
  </p:notesMasterIdLst>
  <p:sldIdLst>
    <p:sldId id="322" r:id="rId2"/>
    <p:sldId id="467" r:id="rId3"/>
    <p:sldId id="317" r:id="rId4"/>
    <p:sldId id="303" r:id="rId5"/>
    <p:sldId id="269" r:id="rId6"/>
    <p:sldId id="327" r:id="rId7"/>
    <p:sldId id="309" r:id="rId8"/>
    <p:sldId id="271" r:id="rId9"/>
    <p:sldId id="462" r:id="rId10"/>
    <p:sldId id="286" r:id="rId11"/>
    <p:sldId id="329" r:id="rId12"/>
    <p:sldId id="464" r:id="rId13"/>
    <p:sldId id="272" r:id="rId14"/>
    <p:sldId id="273" r:id="rId15"/>
    <p:sldId id="330" r:id="rId16"/>
    <p:sldId id="331" r:id="rId17"/>
    <p:sldId id="332" r:id="rId18"/>
    <p:sldId id="333" r:id="rId19"/>
    <p:sldId id="465" r:id="rId20"/>
    <p:sldId id="319" r:id="rId21"/>
    <p:sldId id="466" r:id="rId22"/>
    <p:sldId id="463" r:id="rId23"/>
    <p:sldId id="334" r:id="rId24"/>
    <p:sldId id="335" r:id="rId25"/>
    <p:sldId id="326" r:id="rId26"/>
    <p:sldId id="460" r:id="rId27"/>
    <p:sldId id="316" r:id="rId28"/>
    <p:sldId id="336" r:id="rId29"/>
    <p:sldId id="323" r:id="rId30"/>
  </p:sldIdLst>
  <p:sldSz cx="12192000" cy="6858000"/>
  <p:notesSz cx="6858000" cy="9144000"/>
  <p:embeddedFontLst>
    <p:embeddedFont>
      <p:font typeface="Arial Black" panose="020B0A04020102020204" pitchFamily="34" charset="0"/>
      <p:bold r:id="rId32"/>
    </p:embeddedFont>
    <p:embeddedFont>
      <p:font typeface="Roboto Condensed" panose="02000000000000000000" pitchFamily="2"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E4FA4E-9FD3-4F22-91C1-8E85714B8CA5}" v="23" dt="2025-09-29T15:30:00.379"/>
    <p1510:client id="{4D8E2658-42E1-48B6-BE44-9A225834A293}" v="26" dt="2025-09-29T13:12:25.481"/>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841" autoAdjust="0"/>
    <p:restoredTop sz="94664" autoAdjust="0"/>
  </p:normalViewPr>
  <p:slideViewPr>
    <p:cSldViewPr snapToGrid="0" snapToObjects="1">
      <p:cViewPr varScale="1">
        <p:scale>
          <a:sx n="74" d="100"/>
          <a:sy n="74" d="100"/>
        </p:scale>
        <p:origin x="48" y="531"/>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313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3.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iah Contreras" userId="353e0578-c100-4b27-ab8d-040de0f2d32b" providerId="ADAL" clId="{B2CB3B3F-3629-4092-A2F3-9D280D951389}"/>
    <pc:docChg chg="undo custSel modSld">
      <pc:chgData name="Jeremiah Contreras" userId="353e0578-c100-4b27-ab8d-040de0f2d32b" providerId="ADAL" clId="{B2CB3B3F-3629-4092-A2F3-9D280D951389}" dt="2024-09-20T20:15:47.743" v="242" actId="20577"/>
      <pc:docMkLst>
        <pc:docMk/>
      </pc:docMkLst>
      <pc:sldChg chg="modSp">
        <pc:chgData name="Jeremiah Contreras" userId="353e0578-c100-4b27-ab8d-040de0f2d32b" providerId="ADAL" clId="{B2CB3B3F-3629-4092-A2F3-9D280D951389}" dt="2024-09-20T12:47:04.455" v="70" actId="20577"/>
        <pc:sldMkLst>
          <pc:docMk/>
          <pc:sldMk cId="2415811218" sldId="269"/>
        </pc:sldMkLst>
      </pc:sldChg>
      <pc:sldChg chg="modSp">
        <pc:chgData name="Jeremiah Contreras" userId="353e0578-c100-4b27-ab8d-040de0f2d32b" providerId="ADAL" clId="{B2CB3B3F-3629-4092-A2F3-9D280D951389}" dt="2024-09-20T20:15:47.743" v="242" actId="20577"/>
        <pc:sldMkLst>
          <pc:docMk/>
          <pc:sldMk cId="3485039674" sldId="272"/>
        </pc:sldMkLst>
      </pc:sldChg>
      <pc:sldChg chg="modSp mod">
        <pc:chgData name="Jeremiah Contreras" userId="353e0578-c100-4b27-ab8d-040de0f2d32b" providerId="ADAL" clId="{B2CB3B3F-3629-4092-A2F3-9D280D951389}" dt="2024-09-18T12:50:05.029" v="66" actId="20577"/>
        <pc:sldMkLst>
          <pc:docMk/>
          <pc:sldMk cId="4267486988" sldId="328"/>
        </pc:sldMkLst>
      </pc:sldChg>
      <pc:sldChg chg="addSp modSp mod modAnim">
        <pc:chgData name="Jeremiah Contreras" userId="353e0578-c100-4b27-ab8d-040de0f2d32b" providerId="ADAL" clId="{B2CB3B3F-3629-4092-A2F3-9D280D951389}" dt="2024-09-20T12:56:09.485" v="154" actId="20577"/>
        <pc:sldMkLst>
          <pc:docMk/>
          <pc:sldMk cId="776196586" sldId="329"/>
        </pc:sldMkLst>
      </pc:sldChg>
      <pc:sldChg chg="modSp mod">
        <pc:chgData name="Jeremiah Contreras" userId="353e0578-c100-4b27-ab8d-040de0f2d32b" providerId="ADAL" clId="{B2CB3B3F-3629-4092-A2F3-9D280D951389}" dt="2024-09-20T12:58:50.978" v="162" actId="207"/>
        <pc:sldMkLst>
          <pc:docMk/>
          <pc:sldMk cId="3675267699" sldId="330"/>
        </pc:sldMkLst>
      </pc:sldChg>
      <pc:sldChg chg="modSp mod">
        <pc:chgData name="Jeremiah Contreras" userId="353e0578-c100-4b27-ab8d-040de0f2d32b" providerId="ADAL" clId="{B2CB3B3F-3629-4092-A2F3-9D280D951389}" dt="2024-09-20T12:58:37.555" v="160" actId="208"/>
        <pc:sldMkLst>
          <pc:docMk/>
          <pc:sldMk cId="1222354888" sldId="332"/>
        </pc:sldMkLst>
      </pc:sldChg>
      <pc:sldChg chg="modSp mod">
        <pc:chgData name="Jeremiah Contreras" userId="353e0578-c100-4b27-ab8d-040de0f2d32b" providerId="ADAL" clId="{B2CB3B3F-3629-4092-A2F3-9D280D951389}" dt="2024-09-20T13:01:07.544" v="213" actId="1038"/>
        <pc:sldMkLst>
          <pc:docMk/>
          <pc:sldMk cId="590089598" sldId="333"/>
        </pc:sldMkLst>
      </pc:sldChg>
      <pc:sldChg chg="modSp mod">
        <pc:chgData name="Jeremiah Contreras" userId="353e0578-c100-4b27-ab8d-040de0f2d32b" providerId="ADAL" clId="{B2CB3B3F-3629-4092-A2F3-9D280D951389}" dt="2024-09-18T12:22:58.098" v="65" actId="20577"/>
        <pc:sldMkLst>
          <pc:docMk/>
          <pc:sldMk cId="2912993765" sldId="459"/>
        </pc:sldMkLst>
      </pc:sldChg>
      <pc:sldChg chg="modSp">
        <pc:chgData name="Jeremiah Contreras" userId="353e0578-c100-4b27-ab8d-040de0f2d32b" providerId="ADAL" clId="{B2CB3B3F-3629-4092-A2F3-9D280D951389}" dt="2024-09-20T13:06:28.321" v="233" actId="20577"/>
        <pc:sldMkLst>
          <pc:docMk/>
          <pc:sldMk cId="2200590654" sldId="460"/>
        </pc:sldMkLst>
      </pc:sldChg>
    </pc:docChg>
  </pc:docChgLst>
  <pc:docChgLst>
    <pc:chgData name="Jeremiah Contreras" userId="7aaf88c5-f86c-46d8-a0d4-f1ec65ded07c" providerId="ADAL" clId="{47828E62-FC24-428A-ACF6-B28718A93287}"/>
    <pc:docChg chg="undo custSel addSld delSld modSld">
      <pc:chgData name="Jeremiah Contreras" userId="7aaf88c5-f86c-46d8-a0d4-f1ec65ded07c" providerId="ADAL" clId="{47828E62-FC24-428A-ACF6-B28718A93287}" dt="2025-09-29T17:59:21.179" v="45" actId="20577"/>
      <pc:docMkLst>
        <pc:docMk/>
      </pc:docMkLst>
      <pc:sldChg chg="modSp mod">
        <pc:chgData name="Jeremiah Contreras" userId="7aaf88c5-f86c-46d8-a0d4-f1ec65ded07c" providerId="ADAL" clId="{47828E62-FC24-428A-ACF6-B28718A93287}" dt="2025-09-29T12:56:44.180" v="9" actId="20577"/>
        <pc:sldMkLst>
          <pc:docMk/>
          <pc:sldMk cId="2750672782" sldId="309"/>
        </pc:sldMkLst>
        <pc:spChg chg="mod">
          <ac:chgData name="Jeremiah Contreras" userId="7aaf88c5-f86c-46d8-a0d4-f1ec65ded07c" providerId="ADAL" clId="{47828E62-FC24-428A-ACF6-B28718A93287}" dt="2025-09-29T12:56:44.180" v="9" actId="20577"/>
          <ac:spMkLst>
            <pc:docMk/>
            <pc:sldMk cId="2750672782" sldId="309"/>
            <ac:spMk id="2" creationId="{327E2684-450A-4F56-8E0F-18692A437BFD}"/>
          </ac:spMkLst>
        </pc:spChg>
      </pc:sldChg>
      <pc:sldChg chg="modSp mod">
        <pc:chgData name="Jeremiah Contreras" userId="7aaf88c5-f86c-46d8-a0d4-f1ec65ded07c" providerId="ADAL" clId="{47828E62-FC24-428A-ACF6-B28718A93287}" dt="2025-09-29T13:14:58.858" v="44" actId="20577"/>
        <pc:sldMkLst>
          <pc:docMk/>
          <pc:sldMk cId="1222354888" sldId="332"/>
        </pc:sldMkLst>
        <pc:spChg chg="mod">
          <ac:chgData name="Jeremiah Contreras" userId="7aaf88c5-f86c-46d8-a0d4-f1ec65ded07c" providerId="ADAL" clId="{47828E62-FC24-428A-ACF6-B28718A93287}" dt="2025-09-29T13:14:58.858" v="44" actId="20577"/>
          <ac:spMkLst>
            <pc:docMk/>
            <pc:sldMk cId="1222354888" sldId="332"/>
            <ac:spMk id="16" creationId="{86124EE5-7CA7-4B85-84B5-644432A0283A}"/>
          </ac:spMkLst>
        </pc:spChg>
      </pc:sldChg>
      <pc:sldChg chg="modSp add del mod">
        <pc:chgData name="Jeremiah Contreras" userId="7aaf88c5-f86c-46d8-a0d4-f1ec65ded07c" providerId="ADAL" clId="{47828E62-FC24-428A-ACF6-B28718A93287}" dt="2025-09-29T13:12:25.481" v="35" actId="20577"/>
        <pc:sldMkLst>
          <pc:docMk/>
          <pc:sldMk cId="1877447649" sldId="464"/>
        </pc:sldMkLst>
        <pc:spChg chg="mod">
          <ac:chgData name="Jeremiah Contreras" userId="7aaf88c5-f86c-46d8-a0d4-f1ec65ded07c" providerId="ADAL" clId="{47828E62-FC24-428A-ACF6-B28718A93287}" dt="2025-09-29T13:12:25.481" v="35" actId="20577"/>
          <ac:spMkLst>
            <pc:docMk/>
            <pc:sldMk cId="1877447649" sldId="464"/>
            <ac:spMk id="22" creationId="{1555A94C-01A1-8C4E-54BE-6EF457A28D28}"/>
          </ac:spMkLst>
        </pc:spChg>
      </pc:sldChg>
      <pc:sldChg chg="modSp mod">
        <pc:chgData name="Jeremiah Contreras" userId="7aaf88c5-f86c-46d8-a0d4-f1ec65ded07c" providerId="ADAL" clId="{47828E62-FC24-428A-ACF6-B28718A93287}" dt="2025-09-29T17:59:21.179" v="45" actId="20577"/>
        <pc:sldMkLst>
          <pc:docMk/>
          <pc:sldMk cId="2858087745" sldId="467"/>
        </pc:sldMkLst>
        <pc:spChg chg="mod">
          <ac:chgData name="Jeremiah Contreras" userId="7aaf88c5-f86c-46d8-a0d4-f1ec65ded07c" providerId="ADAL" clId="{47828E62-FC24-428A-ACF6-B28718A93287}" dt="2025-09-29T17:59:21.179" v="45" actId="20577"/>
          <ac:spMkLst>
            <pc:docMk/>
            <pc:sldMk cId="2858087745" sldId="467"/>
            <ac:spMk id="17" creationId="{AC01E22A-01EE-56FF-5103-A8620DFCF2BE}"/>
          </ac:spMkLst>
        </pc:spChg>
      </pc:sldChg>
    </pc:docChg>
  </pc:docChgLst>
  <pc:docChgLst>
    <pc:chgData name="Jeremiah Contreras" userId="7aaf88c5-f86c-46d8-a0d4-f1ec65ded07c" providerId="ADAL" clId="{25E4FA4E-9FD3-4F22-91C1-8E85714B8CA5}"/>
    <pc:docChg chg="custSel addSld delSld modSld">
      <pc:chgData name="Jeremiah Contreras" userId="7aaf88c5-f86c-46d8-a0d4-f1ec65ded07c" providerId="ADAL" clId="{25E4FA4E-9FD3-4F22-91C1-8E85714B8CA5}" dt="2025-09-29T15:30:14.388" v="161" actId="20577"/>
      <pc:docMkLst>
        <pc:docMk/>
      </pc:docMkLst>
      <pc:sldChg chg="modSp mod">
        <pc:chgData name="Jeremiah Contreras" userId="7aaf88c5-f86c-46d8-a0d4-f1ec65ded07c" providerId="ADAL" clId="{25E4FA4E-9FD3-4F22-91C1-8E85714B8CA5}" dt="2025-09-29T15:30:14.388" v="161" actId="20577"/>
        <pc:sldMkLst>
          <pc:docMk/>
          <pc:sldMk cId="2750672782" sldId="309"/>
        </pc:sldMkLst>
        <pc:spChg chg="mod">
          <ac:chgData name="Jeremiah Contreras" userId="7aaf88c5-f86c-46d8-a0d4-f1ec65ded07c" providerId="ADAL" clId="{25E4FA4E-9FD3-4F22-91C1-8E85714B8CA5}" dt="2025-09-29T15:30:14.388" v="161" actId="20577"/>
          <ac:spMkLst>
            <pc:docMk/>
            <pc:sldMk cId="2750672782" sldId="309"/>
            <ac:spMk id="2" creationId="{327E2684-450A-4F56-8E0F-18692A437BFD}"/>
          </ac:spMkLst>
        </pc:spChg>
      </pc:sldChg>
      <pc:sldChg chg="modSp mod">
        <pc:chgData name="Jeremiah Contreras" userId="7aaf88c5-f86c-46d8-a0d4-f1ec65ded07c" providerId="ADAL" clId="{25E4FA4E-9FD3-4F22-91C1-8E85714B8CA5}" dt="2025-09-29T15:30:04.768" v="149" actId="14100"/>
        <pc:sldMkLst>
          <pc:docMk/>
          <pc:sldMk cId="1877447649" sldId="464"/>
        </pc:sldMkLst>
        <pc:spChg chg="mod">
          <ac:chgData name="Jeremiah Contreras" userId="7aaf88c5-f86c-46d8-a0d4-f1ec65ded07c" providerId="ADAL" clId="{25E4FA4E-9FD3-4F22-91C1-8E85714B8CA5}" dt="2025-09-29T15:30:04.768" v="149" actId="14100"/>
          <ac:spMkLst>
            <pc:docMk/>
            <pc:sldMk cId="1877447649" sldId="464"/>
            <ac:spMk id="22" creationId="{1555A94C-01A1-8C4E-54BE-6EF457A28D28}"/>
          </ac:spMkLst>
        </pc:spChg>
      </pc:sldChg>
      <pc:sldChg chg="addSp delSp add del setBg delDesignElem">
        <pc:chgData name="Jeremiah Contreras" userId="7aaf88c5-f86c-46d8-a0d4-f1ec65ded07c" providerId="ADAL" clId="{25E4FA4E-9FD3-4F22-91C1-8E85714B8CA5}" dt="2025-09-29T15:16:53.269" v="2"/>
        <pc:sldMkLst>
          <pc:docMk/>
          <pc:sldMk cId="587536022" sldId="467"/>
        </pc:sldMkLst>
        <pc:spChg chg="add del">
          <ac:chgData name="Jeremiah Contreras" userId="7aaf88c5-f86c-46d8-a0d4-f1ec65ded07c" providerId="ADAL" clId="{25E4FA4E-9FD3-4F22-91C1-8E85714B8CA5}" dt="2025-09-29T15:16:53.269" v="2"/>
          <ac:spMkLst>
            <pc:docMk/>
            <pc:sldMk cId="587536022" sldId="467"/>
            <ac:spMk id="23" creationId="{BBA00CA3-D78C-AF72-C784-7CABA23EB832}"/>
          </ac:spMkLst>
        </pc:spChg>
        <pc:grpChg chg="add del">
          <ac:chgData name="Jeremiah Contreras" userId="7aaf88c5-f86c-46d8-a0d4-f1ec65ded07c" providerId="ADAL" clId="{25E4FA4E-9FD3-4F22-91C1-8E85714B8CA5}" dt="2025-09-29T15:16:53.269" v="2"/>
          <ac:grpSpMkLst>
            <pc:docMk/>
            <pc:sldMk cId="587536022" sldId="467"/>
            <ac:grpSpMk id="25" creationId="{84AFE39C-0ED2-B150-B8B6-15678BFABDBB}"/>
          </ac:grpSpMkLst>
        </pc:grpChg>
      </pc:sldChg>
      <pc:sldChg chg="modSp add mod">
        <pc:chgData name="Jeremiah Contreras" userId="7aaf88c5-f86c-46d8-a0d4-f1ec65ded07c" providerId="ADAL" clId="{25E4FA4E-9FD3-4F22-91C1-8E85714B8CA5}" dt="2025-09-29T15:18:52.313" v="128" actId="20577"/>
        <pc:sldMkLst>
          <pc:docMk/>
          <pc:sldMk cId="2858087745" sldId="467"/>
        </pc:sldMkLst>
        <pc:spChg chg="mod">
          <ac:chgData name="Jeremiah Contreras" userId="7aaf88c5-f86c-46d8-a0d4-f1ec65ded07c" providerId="ADAL" clId="{25E4FA4E-9FD3-4F22-91C1-8E85714B8CA5}" dt="2025-09-29T15:17:41.244" v="16" actId="20577"/>
          <ac:spMkLst>
            <pc:docMk/>
            <pc:sldMk cId="2858087745" sldId="467"/>
            <ac:spMk id="2" creationId="{36ACEA5F-BB4E-0558-C18B-158AF3B2A38D}"/>
          </ac:spMkLst>
        </pc:spChg>
        <pc:spChg chg="mod">
          <ac:chgData name="Jeremiah Contreras" userId="7aaf88c5-f86c-46d8-a0d4-f1ec65ded07c" providerId="ADAL" clId="{25E4FA4E-9FD3-4F22-91C1-8E85714B8CA5}" dt="2025-09-29T15:18:52.313" v="128" actId="20577"/>
          <ac:spMkLst>
            <pc:docMk/>
            <pc:sldMk cId="2858087745" sldId="467"/>
            <ac:spMk id="17" creationId="{AC01E22A-01EE-56FF-5103-A8620DFCF2BE}"/>
          </ac:spMkLst>
        </pc:spChg>
      </pc:sldChg>
    </pc:docChg>
  </pc:docChgLst>
  <pc:docChgLst>
    <pc:chgData name="Jeremiah Contreras" userId="7aaf88c5-f86c-46d8-a0d4-f1ec65ded07c" providerId="ADAL" clId="{0CCB1DE4-9598-400E-B6B8-CA233EE7E5FA}"/>
    <pc:docChg chg="undo custSel addSld delSld modSld">
      <pc:chgData name="Jeremiah Contreras" userId="7aaf88c5-f86c-46d8-a0d4-f1ec65ded07c" providerId="ADAL" clId="{0CCB1DE4-9598-400E-B6B8-CA233EE7E5FA}" dt="2025-08-17T17:19:59.880" v="614" actId="207"/>
      <pc:docMkLst>
        <pc:docMk/>
      </pc:docMkLst>
      <pc:sldChg chg="modSp">
        <pc:chgData name="Jeremiah Contreras" userId="7aaf88c5-f86c-46d8-a0d4-f1ec65ded07c" providerId="ADAL" clId="{0CCB1DE4-9598-400E-B6B8-CA233EE7E5FA}" dt="2025-08-11T11:49:33.739" v="21" actId="20577"/>
        <pc:sldMkLst>
          <pc:docMk/>
          <pc:sldMk cId="2415811218" sldId="269"/>
        </pc:sldMkLst>
      </pc:sldChg>
      <pc:sldChg chg="modSp mod">
        <pc:chgData name="Jeremiah Contreras" userId="7aaf88c5-f86c-46d8-a0d4-f1ec65ded07c" providerId="ADAL" clId="{0CCB1DE4-9598-400E-B6B8-CA233EE7E5FA}" dt="2025-08-17T17:00:12.693" v="429" actId="20577"/>
        <pc:sldMkLst>
          <pc:docMk/>
          <pc:sldMk cId="3190414938" sldId="286"/>
        </pc:sldMkLst>
      </pc:sldChg>
      <pc:sldChg chg="modSp mod">
        <pc:chgData name="Jeremiah Contreras" userId="7aaf88c5-f86c-46d8-a0d4-f1ec65ded07c" providerId="ADAL" clId="{0CCB1DE4-9598-400E-B6B8-CA233EE7E5FA}" dt="2025-08-16T19:19:00.118" v="218" actId="1038"/>
        <pc:sldMkLst>
          <pc:docMk/>
          <pc:sldMk cId="2750672782" sldId="309"/>
        </pc:sldMkLst>
      </pc:sldChg>
      <pc:sldChg chg="addSp delSp modSp mod">
        <pc:chgData name="Jeremiah Contreras" userId="7aaf88c5-f86c-46d8-a0d4-f1ec65ded07c" providerId="ADAL" clId="{0CCB1DE4-9598-400E-B6B8-CA233EE7E5FA}" dt="2025-08-17T17:13:13.417" v="553" actId="14100"/>
        <pc:sldMkLst>
          <pc:docMk/>
          <pc:sldMk cId="2945221207" sldId="319"/>
        </pc:sldMkLst>
      </pc:sldChg>
      <pc:sldChg chg="modSp">
        <pc:chgData name="Jeremiah Contreras" userId="7aaf88c5-f86c-46d8-a0d4-f1ec65ded07c" providerId="ADAL" clId="{0CCB1DE4-9598-400E-B6B8-CA233EE7E5FA}" dt="2025-08-11T11:57:07.977" v="149" actId="20577"/>
        <pc:sldMkLst>
          <pc:docMk/>
          <pc:sldMk cId="3786385797" sldId="326"/>
        </pc:sldMkLst>
      </pc:sldChg>
      <pc:sldChg chg="del">
        <pc:chgData name="Jeremiah Contreras" userId="7aaf88c5-f86c-46d8-a0d4-f1ec65ded07c" providerId="ADAL" clId="{0CCB1DE4-9598-400E-B6B8-CA233EE7E5FA}" dt="2025-08-10T15:43:58.121" v="8" actId="47"/>
        <pc:sldMkLst>
          <pc:docMk/>
          <pc:sldMk cId="4267486988" sldId="328"/>
        </pc:sldMkLst>
      </pc:sldChg>
      <pc:sldChg chg="modSp mod">
        <pc:chgData name="Jeremiah Contreras" userId="7aaf88c5-f86c-46d8-a0d4-f1ec65ded07c" providerId="ADAL" clId="{0CCB1DE4-9598-400E-B6B8-CA233EE7E5FA}" dt="2025-08-17T17:00:37.315" v="441" actId="20577"/>
        <pc:sldMkLst>
          <pc:docMk/>
          <pc:sldMk cId="776196586" sldId="329"/>
        </pc:sldMkLst>
      </pc:sldChg>
      <pc:sldChg chg="modSp">
        <pc:chgData name="Jeremiah Contreras" userId="7aaf88c5-f86c-46d8-a0d4-f1ec65ded07c" providerId="ADAL" clId="{0CCB1DE4-9598-400E-B6B8-CA233EE7E5FA}" dt="2025-08-17T17:16:01.093" v="561" actId="20577"/>
        <pc:sldMkLst>
          <pc:docMk/>
          <pc:sldMk cId="4053803595" sldId="335"/>
        </pc:sldMkLst>
      </pc:sldChg>
      <pc:sldChg chg="modSp mod">
        <pc:chgData name="Jeremiah Contreras" userId="7aaf88c5-f86c-46d8-a0d4-f1ec65ded07c" providerId="ADAL" clId="{0CCB1DE4-9598-400E-B6B8-CA233EE7E5FA}" dt="2025-08-10T15:46:01.772" v="16" actId="20577"/>
        <pc:sldMkLst>
          <pc:docMk/>
          <pc:sldMk cId="4227653374" sldId="336"/>
        </pc:sldMkLst>
      </pc:sldChg>
      <pc:sldChg chg="modSp del mod">
        <pc:chgData name="Jeremiah Contreras" userId="7aaf88c5-f86c-46d8-a0d4-f1ec65ded07c" providerId="ADAL" clId="{0CCB1DE4-9598-400E-B6B8-CA233EE7E5FA}" dt="2025-08-10T15:46:16.451" v="17" actId="47"/>
        <pc:sldMkLst>
          <pc:docMk/>
          <pc:sldMk cId="2912993765" sldId="459"/>
        </pc:sldMkLst>
      </pc:sldChg>
      <pc:sldChg chg="modSp">
        <pc:chgData name="Jeremiah Contreras" userId="7aaf88c5-f86c-46d8-a0d4-f1ec65ded07c" providerId="ADAL" clId="{0CCB1DE4-9598-400E-B6B8-CA233EE7E5FA}" dt="2025-08-17T17:19:59.880" v="614" actId="207"/>
        <pc:sldMkLst>
          <pc:docMk/>
          <pc:sldMk cId="2200590654" sldId="460"/>
        </pc:sldMkLst>
      </pc:sldChg>
      <pc:sldChg chg="del">
        <pc:chgData name="Jeremiah Contreras" userId="7aaf88c5-f86c-46d8-a0d4-f1ec65ded07c" providerId="ADAL" clId="{0CCB1DE4-9598-400E-B6B8-CA233EE7E5FA}" dt="2025-08-11T11:52:50.337" v="69" actId="47"/>
        <pc:sldMkLst>
          <pc:docMk/>
          <pc:sldMk cId="2903120455" sldId="461"/>
        </pc:sldMkLst>
      </pc:sldChg>
      <pc:sldChg chg="modSp mod">
        <pc:chgData name="Jeremiah Contreras" userId="7aaf88c5-f86c-46d8-a0d4-f1ec65ded07c" providerId="ADAL" clId="{0CCB1DE4-9598-400E-B6B8-CA233EE7E5FA}" dt="2025-08-11T11:52:13.623" v="68" actId="1036"/>
        <pc:sldMkLst>
          <pc:docMk/>
          <pc:sldMk cId="663380059" sldId="462"/>
        </pc:sldMkLst>
      </pc:sldChg>
      <pc:sldChg chg="addSp modSp mod modAnim">
        <pc:chgData name="Jeremiah Contreras" userId="7aaf88c5-f86c-46d8-a0d4-f1ec65ded07c" providerId="ADAL" clId="{0CCB1DE4-9598-400E-B6B8-CA233EE7E5FA}" dt="2025-08-16T20:07:04.238" v="225"/>
        <pc:sldMkLst>
          <pc:docMk/>
          <pc:sldMk cId="2566841164" sldId="463"/>
        </pc:sldMkLst>
      </pc:sldChg>
      <pc:sldChg chg="modSp add mod">
        <pc:chgData name="Jeremiah Contreras" userId="7aaf88c5-f86c-46d8-a0d4-f1ec65ded07c" providerId="ADAL" clId="{0CCB1DE4-9598-400E-B6B8-CA233EE7E5FA}" dt="2025-08-17T17:00:21.657" v="437" actId="20577"/>
        <pc:sldMkLst>
          <pc:docMk/>
          <pc:sldMk cId="1877447649" sldId="464"/>
        </pc:sldMkLst>
      </pc:sldChg>
      <pc:sldChg chg="addSp modSp add mod modAnim">
        <pc:chgData name="Jeremiah Contreras" userId="7aaf88c5-f86c-46d8-a0d4-f1ec65ded07c" providerId="ADAL" clId="{0CCB1DE4-9598-400E-B6B8-CA233EE7E5FA}" dt="2025-08-17T17:07:03.431" v="491"/>
        <pc:sldMkLst>
          <pc:docMk/>
          <pc:sldMk cId="218184431" sldId="465"/>
        </pc:sldMkLst>
      </pc:sldChg>
      <pc:sldChg chg="addSp delSp modSp add mod">
        <pc:chgData name="Jeremiah Contreras" userId="7aaf88c5-f86c-46d8-a0d4-f1ec65ded07c" providerId="ADAL" clId="{0CCB1DE4-9598-400E-B6B8-CA233EE7E5FA}" dt="2025-08-17T17:13:09.669" v="552" actId="14100"/>
        <pc:sldMkLst>
          <pc:docMk/>
          <pc:sldMk cId="3108973680" sldId="46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9T18:20:09.120"/>
    </inkml:context>
    <inkml:brush xml:id="br0">
      <inkml:brushProperty name="width" value="0.2" units="cm"/>
      <inkml:brushProperty name="height" value="0.2" units="cm"/>
      <inkml:brushProperty name="color" value="#E71224"/>
    </inkml:brush>
  </inkml:definitions>
  <inkml:trace contextRef="#ctx0" brushRef="#br0">1 1 24575,'13'0'0,"17"0"0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9T18:20:55.988"/>
    </inkml:context>
    <inkml:brush xml:id="br0">
      <inkml:brushProperty name="width" value="0.2" units="cm"/>
      <inkml:brushProperty name="height" value="0.2" units="cm"/>
      <inkml:brushProperty name="color" value="#E71224"/>
    </inkml:brush>
  </inkml:definitions>
  <inkml:trace contextRef="#ctx0" brushRef="#br0">0 0 24575,'34'0'0,"158"6"0,-164-3 0,0 1 0,-1 2 0,0 0 0,50 20 0,-18 2 0,-2 3 0,-1 2 0,92 74 0,409 378-1216,-298-246 837,479 393-1257,-467-406 1291,-11-9 345,385 337 0,-423-349-37,834 796-406,-491-404 471,310 299-240,203 40-489,-796-706-2549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9T18:21:00.556"/>
    </inkml:context>
    <inkml:brush xml:id="br0">
      <inkml:brushProperty name="width" value="0.2" units="cm"/>
      <inkml:brushProperty name="height" value="0.2" units="cm"/>
      <inkml:brushProperty name="color" value="#E71224"/>
    </inkml:brush>
  </inkml:definitions>
  <inkml:trace contextRef="#ctx0" brushRef="#br0">5523 0 24575,'-25'0'0,"0"1"0,1 1 0,-26 5 0,39-4 0,0 0 0,-1 1 0,1 0 0,1 1 0,-1 0 0,1 1 0,0 0 0,-18 14 0,-308 264 0,-228 244 11,305-277-307,99-100 53,-457 447-1148,37 40 552,14 84 839,52 35 0,424-609-29,-263 407-349,-339 326 296,653-836 100,-191 231-61,174-203 186,-83 148 1,87-125-182,15-28-5130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9T18:20:09.120"/>
    </inkml:context>
    <inkml:brush xml:id="br0">
      <inkml:brushProperty name="width" value="0.2" units="cm"/>
      <inkml:brushProperty name="height" value="0.2" units="cm"/>
      <inkml:brushProperty name="color" value="#E71224"/>
    </inkml:brush>
  </inkml:definitions>
  <inkml:trace contextRef="#ctx0" brushRef="#br0">1 1 24575,'13'0'0,"17"0"0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9T18:20:55.988"/>
    </inkml:context>
    <inkml:brush xml:id="br0">
      <inkml:brushProperty name="width" value="0.2" units="cm"/>
      <inkml:brushProperty name="height" value="0.2" units="cm"/>
      <inkml:brushProperty name="color" value="#E71224"/>
    </inkml:brush>
  </inkml:definitions>
  <inkml:trace contextRef="#ctx0" brushRef="#br0">0 0 24575,'34'0'0,"158"6"0,-164-3 0,0 1 0,-1 2 0,0 0 0,50 20 0,-18 2 0,-2 3 0,-1 2 0,92 74 0,409 378-1216,-298-246 837,479 393-1257,-467-406 1291,-11-9 345,385 337 0,-423-349-37,834 796-406,-491-404 471,310 299-240,203 40-489,-796-706-2549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9T18:21:00.556"/>
    </inkml:context>
    <inkml:brush xml:id="br0">
      <inkml:brushProperty name="width" value="0.2" units="cm"/>
      <inkml:brushProperty name="height" value="0.2" units="cm"/>
      <inkml:brushProperty name="color" value="#E71224"/>
    </inkml:brush>
  </inkml:definitions>
  <inkml:trace contextRef="#ctx0" brushRef="#br0">5523 0 24575,'-25'0'0,"0"1"0,1 1 0,-26 5 0,39-4 0,0 0 0,-1 1 0,1 0 0,1 1 0,-1 0 0,1 1 0,0 0 0,-18 14 0,-308 264 0,-228 244 11,305-277-307,99-100 53,-457 447-1148,37 40 552,14 84 839,52 35 0,424-609-29,-263 407-349,-339 326 296,653-836 100,-191 231-61,174-203 186,-83 148 1,87-125-182,15-28-5130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6T20:06:29.898"/>
    </inkml:context>
    <inkml:brush xml:id="br0">
      <inkml:brushProperty name="width" value="0.2" units="cm"/>
      <inkml:brushProperty name="height" value="0.2" units="cm"/>
      <inkml:brushProperty name="color" value="#E71224"/>
    </inkml:brush>
  </inkml:definitions>
  <inkml:trace contextRef="#ctx0" brushRef="#br0">0 0 24575,'17'0'0,"80"3"0,-83-1 0,0 0 0,-1 1 0,1 0 0,24 10 0,-8 1 0,-1 1 0,-1 2 0,46 37 0,206 189-1216,-150-123 837,241 198-1257,-235-205 1291,-5-4 345,193 170 0,-213-176-37,420 399-406,-247-202 471,155 151-240,103 19-489,-401-355-2549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6T20:06:29.899"/>
    </inkml:context>
    <inkml:brush xml:id="br0">
      <inkml:brushProperty name="width" value="0.2" units="cm"/>
      <inkml:brushProperty name="height" value="0.2" units="cm"/>
      <inkml:brushProperty name="color" value="#E71224"/>
    </inkml:brush>
  </inkml:definitions>
  <inkml:trace contextRef="#ctx0" brushRef="#br0">2775 0 24575,'-13'0'0,"1"1"0,0 0 0,-13 2 0,19-1 0,1-1 0,-1 1 0,0 0 0,1 1 0,0-1 0,0 1 0,0 0 0,-10 7 0,-153 133 0,-116 122 11,154-139-307,50-50 53,-230 224-1148,19 21 552,6 42 839,27 17 0,213-306-29,-133 205-349,-169 164 296,327-421 100,-95 117-61,87-102 186,-42 74 1,44-63-182,7-14-5130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2AF6DA-881C-4C79-B7BB-AE39812FEEB9}" type="datetimeFigureOut">
              <a:rPr lang="en-US" smtClean="0"/>
              <a:t>9/29/2025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1D006A-6F4D-4501-8E73-99D0EC5E5B2D}" type="slidenum">
              <a:rPr lang="en-US" smtClean="0"/>
              <a:t>‹#›</a:t>
            </a:fld>
            <a:endParaRPr lang="en-US"/>
          </a:p>
        </p:txBody>
      </p:sp>
    </p:spTree>
    <p:extLst>
      <p:ext uri="{BB962C8B-B14F-4D97-AF65-F5344CB8AC3E}">
        <p14:creationId xmlns:p14="http://schemas.microsoft.com/office/powerpoint/2010/main" val="3330429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p:cNvSpPr>
          <p:nvPr>
            <p:ph type="sldImg"/>
          </p:nvPr>
        </p:nvSpPr>
        <p:spPr bwMode="auto">
          <a:xfrm>
            <a:off x="407988" y="698500"/>
            <a:ext cx="6208712"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xfrm>
            <a:off x="703263" y="4422775"/>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35" tIns="43867" rIns="87735" bIns="43867"/>
          <a:lstStyle/>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184992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xfrm>
            <a:off x="701676" y="4479926"/>
            <a:ext cx="5619750" cy="36655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20" tIns="46210" rIns="92420" bIns="46210"/>
          <a:lstStyle/>
          <a:p>
            <a:endParaRPr lang="en-US" altLang="en-US"/>
          </a:p>
        </p:txBody>
      </p:sp>
    </p:spTree>
    <p:extLst>
      <p:ext uri="{BB962C8B-B14F-4D97-AF65-F5344CB8AC3E}">
        <p14:creationId xmlns:p14="http://schemas.microsoft.com/office/powerpoint/2010/main" val="1173710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xfrm>
            <a:off x="701676" y="4479926"/>
            <a:ext cx="5619750" cy="36655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20" tIns="46210" rIns="92420" bIns="46210"/>
          <a:lstStyle/>
          <a:p>
            <a:endParaRPr lang="en-US" altLang="en-US" dirty="0"/>
          </a:p>
        </p:txBody>
      </p:sp>
    </p:spTree>
    <p:extLst>
      <p:ext uri="{BB962C8B-B14F-4D97-AF65-F5344CB8AC3E}">
        <p14:creationId xmlns:p14="http://schemas.microsoft.com/office/powerpoint/2010/main" val="4277319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bwMode="auto">
          <a:xfrm>
            <a:off x="412750" y="701675"/>
            <a:ext cx="6197600" cy="348773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xfrm>
            <a:off x="701676" y="4424363"/>
            <a:ext cx="5619750" cy="41830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1" tIns="44611" rIns="89221" bIns="44611"/>
          <a:lstStyle/>
          <a:p>
            <a:r>
              <a:rPr lang="en-US" altLang="en-US" dirty="0"/>
              <a:t>CIP is an assets because as projected costs are incurred, contractor has the right to bill the buyer.</a:t>
            </a:r>
          </a:p>
          <a:p>
            <a:r>
              <a:rPr lang="en-US" altLang="en-US" dirty="0"/>
              <a:t>Effectively transfers CIP to A/R over time. Contra-asset avoids double counting assets.</a:t>
            </a:r>
          </a:p>
          <a:p>
            <a:endParaRPr lang="en-US" altLang="en-US" u="sng" dirty="0"/>
          </a:p>
          <a:p>
            <a:r>
              <a:rPr lang="en-US" altLang="en-US" u="sng" dirty="0"/>
              <a:t>% complete</a:t>
            </a:r>
            <a:r>
              <a:rPr lang="en-US" altLang="en-US" dirty="0"/>
              <a:t>: estimate costs in total and how much incurred in current period.</a:t>
            </a:r>
          </a:p>
          <a:p>
            <a:r>
              <a:rPr lang="en-US" altLang="en-US" dirty="0"/>
              <a:t>***question: what if under estimate total costs? </a:t>
            </a:r>
          </a:p>
          <a:p>
            <a:r>
              <a:rPr lang="en-US" altLang="en-US" dirty="0"/>
              <a:t>  -if estimate </a:t>
            </a:r>
            <a:r>
              <a:rPr lang="en-US" altLang="en-US" dirty="0" err="1"/>
              <a:t>uncorrect</a:t>
            </a:r>
            <a:r>
              <a:rPr lang="en-US" altLang="en-US" dirty="0"/>
              <a:t>: not error (best estimate when made, then new info)</a:t>
            </a:r>
          </a:p>
          <a:p>
            <a:r>
              <a:rPr lang="en-US" altLang="en-US" dirty="0"/>
              <a:t>  -fix prospectively (catch-up when discover)</a:t>
            </a:r>
          </a:p>
          <a:p>
            <a:r>
              <a:rPr lang="en-US" altLang="en-US" dirty="0"/>
              <a:t>       1. figure out what % of </a:t>
            </a:r>
            <a:r>
              <a:rPr lang="en-US" altLang="en-US" i="1" dirty="0"/>
              <a:t>new </a:t>
            </a:r>
            <a:r>
              <a:rPr lang="en-US" altLang="en-US" dirty="0"/>
              <a:t>costs are incurred</a:t>
            </a:r>
          </a:p>
          <a:p>
            <a:r>
              <a:rPr lang="en-US" altLang="en-US" dirty="0"/>
              <a:t>       2. that % of rev (and profit) should be </a:t>
            </a:r>
            <a:r>
              <a:rPr lang="en-US" altLang="en-US" dirty="0" err="1"/>
              <a:t>recog</a:t>
            </a:r>
            <a:r>
              <a:rPr lang="en-US" altLang="en-US" dirty="0"/>
              <a:t> in total </a:t>
            </a:r>
          </a:p>
          <a:p>
            <a:r>
              <a:rPr lang="en-US" altLang="en-US" dirty="0"/>
              <a:t>       3. revenue to date – rev already recognized = new rev to </a:t>
            </a:r>
            <a:r>
              <a:rPr lang="en-US" altLang="en-US" dirty="0" err="1"/>
              <a:t>recog</a:t>
            </a:r>
            <a:endParaRPr lang="en-US" altLang="en-US" dirty="0"/>
          </a:p>
          <a:p>
            <a:r>
              <a:rPr lang="en-US" altLang="en-US" dirty="0"/>
              <a:t>  -if already recognized too much profit, take immediate loss in full</a:t>
            </a:r>
          </a:p>
          <a:p>
            <a:endParaRPr lang="en-US" altLang="en-US" dirty="0"/>
          </a:p>
        </p:txBody>
      </p:sp>
    </p:spTree>
    <p:extLst>
      <p:ext uri="{BB962C8B-B14F-4D97-AF65-F5344CB8AC3E}">
        <p14:creationId xmlns:p14="http://schemas.microsoft.com/office/powerpoint/2010/main" val="4198648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p:cNvSpPr>
          <p:nvPr>
            <p:ph type="sldImg"/>
          </p:nvPr>
        </p:nvSpPr>
        <p:spPr bwMode="auto">
          <a:xfrm>
            <a:off x="409575" y="700088"/>
            <a:ext cx="6191250" cy="34829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xfrm>
            <a:off x="700088" y="4418013"/>
            <a:ext cx="5610225" cy="41783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111" tIns="44556" rIns="89111" bIns="44556"/>
          <a:lstStyle/>
          <a:p>
            <a:r>
              <a:rPr lang="en-US" altLang="en-US" dirty="0"/>
              <a:t>Step</a:t>
            </a:r>
            <a:r>
              <a:rPr lang="en-US" altLang="en-US" baseline="0" dirty="0"/>
              <a:t> 1:  Incur costs, build them as an asset</a:t>
            </a:r>
          </a:p>
          <a:p>
            <a:endParaRPr lang="en-US" altLang="en-US" baseline="0" dirty="0"/>
          </a:p>
          <a:p>
            <a:r>
              <a:rPr lang="en-US" altLang="en-US" dirty="0"/>
              <a:t>Step 2:  As you bill, you convert the construction asset to A/R.  Like shipping inventory –</a:t>
            </a:r>
            <a:r>
              <a:rPr lang="en-US" altLang="en-US" baseline="0" dirty="0"/>
              <a:t> give the construction asset to the customer, and get A/R in return</a:t>
            </a:r>
            <a:endParaRPr lang="en-US" altLang="en-US" dirty="0"/>
          </a:p>
        </p:txBody>
      </p:sp>
    </p:spTree>
    <p:extLst>
      <p:ext uri="{BB962C8B-B14F-4D97-AF65-F5344CB8AC3E}">
        <p14:creationId xmlns:p14="http://schemas.microsoft.com/office/powerpoint/2010/main" val="2503790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p:cNvSpPr>
          <p:nvPr>
            <p:ph type="sldImg"/>
          </p:nvPr>
        </p:nvSpPr>
        <p:spPr bwMode="auto">
          <a:xfrm>
            <a:off x="409575" y="700088"/>
            <a:ext cx="6191250" cy="34829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xfrm>
            <a:off x="700088" y="4418013"/>
            <a:ext cx="5610225" cy="41783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111" tIns="44556" rIns="89111" bIns="44556"/>
          <a:lstStyle/>
          <a:p>
            <a:r>
              <a:rPr lang="en-US" altLang="en-US" dirty="0"/>
              <a:t>Step</a:t>
            </a:r>
            <a:r>
              <a:rPr lang="en-US" altLang="en-US" baseline="0" dirty="0"/>
              <a:t> 1:  Incur costs, build them as an asset</a:t>
            </a:r>
          </a:p>
          <a:p>
            <a:endParaRPr lang="en-US" altLang="en-US" baseline="0" dirty="0"/>
          </a:p>
          <a:p>
            <a:r>
              <a:rPr lang="en-US" altLang="en-US" dirty="0"/>
              <a:t>Step 2:  As you bill, you convert the construction asset to A/R.  Like shipping inventory –</a:t>
            </a:r>
            <a:r>
              <a:rPr lang="en-US" altLang="en-US" baseline="0" dirty="0"/>
              <a:t> give the construction asset to the customer, and get A/R in return</a:t>
            </a:r>
            <a:endParaRPr lang="en-US" altLang="en-US" dirty="0"/>
          </a:p>
        </p:txBody>
      </p:sp>
    </p:spTree>
    <p:extLst>
      <p:ext uri="{BB962C8B-B14F-4D97-AF65-F5344CB8AC3E}">
        <p14:creationId xmlns:p14="http://schemas.microsoft.com/office/powerpoint/2010/main" val="1875802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p:cNvSpPr>
          <p:nvPr>
            <p:ph type="sldImg"/>
          </p:nvPr>
        </p:nvSpPr>
        <p:spPr bwMode="auto">
          <a:xfrm>
            <a:off x="409575" y="700088"/>
            <a:ext cx="6191250" cy="34829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xfrm>
            <a:off x="700088" y="4418013"/>
            <a:ext cx="5610225" cy="41783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111" tIns="44556" rIns="89111" bIns="44556"/>
          <a:lstStyle/>
          <a:p>
            <a:r>
              <a:rPr lang="en-US" altLang="en-US" dirty="0"/>
              <a:t>Step</a:t>
            </a:r>
            <a:r>
              <a:rPr lang="en-US" altLang="en-US" baseline="0" dirty="0"/>
              <a:t> 1:  Incur costs, build them as an asset</a:t>
            </a:r>
          </a:p>
          <a:p>
            <a:endParaRPr lang="en-US" altLang="en-US" baseline="0" dirty="0"/>
          </a:p>
          <a:p>
            <a:r>
              <a:rPr lang="en-US" altLang="en-US" dirty="0"/>
              <a:t>Step 2:  As you bill, you convert the construction asset to A/R.  Like shipping inventory –</a:t>
            </a:r>
            <a:r>
              <a:rPr lang="en-US" altLang="en-US" baseline="0" dirty="0"/>
              <a:t> give the construction asset to the customer, and get A/R in return</a:t>
            </a:r>
            <a:endParaRPr lang="en-US" altLang="en-US" dirty="0"/>
          </a:p>
        </p:txBody>
      </p:sp>
    </p:spTree>
    <p:extLst>
      <p:ext uri="{BB962C8B-B14F-4D97-AF65-F5344CB8AC3E}">
        <p14:creationId xmlns:p14="http://schemas.microsoft.com/office/powerpoint/2010/main" val="2650668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p:cNvSpPr>
          <p:nvPr>
            <p:ph type="sldImg"/>
          </p:nvPr>
        </p:nvSpPr>
        <p:spPr bwMode="auto">
          <a:xfrm>
            <a:off x="409575" y="700088"/>
            <a:ext cx="6191250" cy="34829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xfrm>
            <a:off x="700088" y="4418013"/>
            <a:ext cx="5610225" cy="41783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111" tIns="44556" rIns="89111" bIns="44556"/>
          <a:lstStyle/>
          <a:p>
            <a:r>
              <a:rPr lang="en-US" altLang="en-US" dirty="0"/>
              <a:t>Step</a:t>
            </a:r>
            <a:r>
              <a:rPr lang="en-US" altLang="en-US" baseline="0" dirty="0"/>
              <a:t> 1:  Incur costs, build them as an asset</a:t>
            </a:r>
          </a:p>
          <a:p>
            <a:endParaRPr lang="en-US" altLang="en-US" baseline="0" dirty="0"/>
          </a:p>
          <a:p>
            <a:r>
              <a:rPr lang="en-US" altLang="en-US" dirty="0"/>
              <a:t>Step 2:  As you bill, you convert the construction asset to A/R.  Like shipping inventory –</a:t>
            </a:r>
            <a:r>
              <a:rPr lang="en-US" altLang="en-US" baseline="0" dirty="0"/>
              <a:t> give the construction asset to the customer, and get A/R in return</a:t>
            </a:r>
            <a:endParaRPr lang="en-US" altLang="en-US" dirty="0"/>
          </a:p>
        </p:txBody>
      </p:sp>
    </p:spTree>
    <p:extLst>
      <p:ext uri="{BB962C8B-B14F-4D97-AF65-F5344CB8AC3E}">
        <p14:creationId xmlns:p14="http://schemas.microsoft.com/office/powerpoint/2010/main" val="4150366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p:cNvSpPr>
          <p:nvPr>
            <p:ph type="sldImg"/>
          </p:nvPr>
        </p:nvSpPr>
        <p:spPr bwMode="auto">
          <a:xfrm>
            <a:off x="409575" y="700088"/>
            <a:ext cx="6191250" cy="34829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xfrm>
            <a:off x="700088" y="4418013"/>
            <a:ext cx="5610225" cy="41783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111" tIns="44556" rIns="89111" bIns="44556"/>
          <a:lstStyle/>
          <a:p>
            <a:r>
              <a:rPr lang="en-US" altLang="en-US" dirty="0"/>
              <a:t>Step</a:t>
            </a:r>
            <a:r>
              <a:rPr lang="en-US" altLang="en-US" baseline="0" dirty="0"/>
              <a:t> 1:  Incur costs, build them as an asset</a:t>
            </a:r>
          </a:p>
          <a:p>
            <a:endParaRPr lang="en-US" altLang="en-US" baseline="0" dirty="0"/>
          </a:p>
          <a:p>
            <a:r>
              <a:rPr lang="en-US" altLang="en-US" dirty="0"/>
              <a:t>Step 2:  As you bill, you convert the construction asset to A/R.  Like shipping inventory –</a:t>
            </a:r>
            <a:r>
              <a:rPr lang="en-US" altLang="en-US" baseline="0" dirty="0"/>
              <a:t> give the construction asset to the customer, and get A/R in return</a:t>
            </a:r>
            <a:endParaRPr lang="en-US" altLang="en-US" dirty="0"/>
          </a:p>
        </p:txBody>
      </p:sp>
    </p:spTree>
    <p:extLst>
      <p:ext uri="{BB962C8B-B14F-4D97-AF65-F5344CB8AC3E}">
        <p14:creationId xmlns:p14="http://schemas.microsoft.com/office/powerpoint/2010/main" val="1844474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bwMode="auto">
          <a:xfrm>
            <a:off x="412750" y="701675"/>
            <a:ext cx="6197600" cy="348773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xfrm>
            <a:off x="701676" y="4424363"/>
            <a:ext cx="5619750" cy="41830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1" tIns="44611" rIns="89221" bIns="44611"/>
          <a:lstStyle/>
          <a:p>
            <a:r>
              <a:rPr lang="en-US" altLang="en-US" dirty="0"/>
              <a:t>CIP is an assets because as projected costs are incurred, contractor has the right to bill the buyer.</a:t>
            </a:r>
          </a:p>
          <a:p>
            <a:r>
              <a:rPr lang="en-US" altLang="en-US" dirty="0"/>
              <a:t>Effectively transfers CIP to A/R over time. Contra-asset avoids double counting assets.</a:t>
            </a:r>
          </a:p>
          <a:p>
            <a:endParaRPr lang="en-US" altLang="en-US" u="sng" dirty="0"/>
          </a:p>
          <a:p>
            <a:r>
              <a:rPr lang="en-US" altLang="en-US" u="sng" dirty="0"/>
              <a:t>% complete</a:t>
            </a:r>
            <a:r>
              <a:rPr lang="en-US" altLang="en-US" dirty="0"/>
              <a:t>: estimate costs in total and how much incurred in current period.</a:t>
            </a:r>
          </a:p>
          <a:p>
            <a:r>
              <a:rPr lang="en-US" altLang="en-US" dirty="0"/>
              <a:t>***question: what if under estimate total costs? </a:t>
            </a:r>
          </a:p>
          <a:p>
            <a:r>
              <a:rPr lang="en-US" altLang="en-US" dirty="0"/>
              <a:t>  -if estimate </a:t>
            </a:r>
            <a:r>
              <a:rPr lang="en-US" altLang="en-US" dirty="0" err="1"/>
              <a:t>uncorrect</a:t>
            </a:r>
            <a:r>
              <a:rPr lang="en-US" altLang="en-US" dirty="0"/>
              <a:t>: not error (best estimate when made, then new info)</a:t>
            </a:r>
          </a:p>
          <a:p>
            <a:r>
              <a:rPr lang="en-US" altLang="en-US" dirty="0"/>
              <a:t>  -fix prospectively (catch-up when discover)</a:t>
            </a:r>
          </a:p>
          <a:p>
            <a:r>
              <a:rPr lang="en-US" altLang="en-US" dirty="0"/>
              <a:t>       1. figure out what % of </a:t>
            </a:r>
            <a:r>
              <a:rPr lang="en-US" altLang="en-US" i="1" dirty="0"/>
              <a:t>new </a:t>
            </a:r>
            <a:r>
              <a:rPr lang="en-US" altLang="en-US" dirty="0"/>
              <a:t>costs are incurred</a:t>
            </a:r>
          </a:p>
          <a:p>
            <a:r>
              <a:rPr lang="en-US" altLang="en-US" dirty="0"/>
              <a:t>       2. that % of rev (and profit) should be </a:t>
            </a:r>
            <a:r>
              <a:rPr lang="en-US" altLang="en-US" dirty="0" err="1"/>
              <a:t>recog</a:t>
            </a:r>
            <a:r>
              <a:rPr lang="en-US" altLang="en-US" dirty="0"/>
              <a:t> in total </a:t>
            </a:r>
          </a:p>
          <a:p>
            <a:r>
              <a:rPr lang="en-US" altLang="en-US" dirty="0"/>
              <a:t>       3. revenue to date – rev already recognized = new rev to </a:t>
            </a:r>
            <a:r>
              <a:rPr lang="en-US" altLang="en-US" dirty="0" err="1"/>
              <a:t>recog</a:t>
            </a:r>
            <a:endParaRPr lang="en-US" altLang="en-US" dirty="0"/>
          </a:p>
          <a:p>
            <a:r>
              <a:rPr lang="en-US" altLang="en-US" dirty="0"/>
              <a:t>  -if already recognized too much profit, take immediate loss in full</a:t>
            </a:r>
          </a:p>
          <a:p>
            <a:endParaRPr lang="en-US" altLang="en-US" dirty="0"/>
          </a:p>
        </p:txBody>
      </p:sp>
    </p:spTree>
    <p:extLst>
      <p:ext uri="{BB962C8B-B14F-4D97-AF65-F5344CB8AC3E}">
        <p14:creationId xmlns:p14="http://schemas.microsoft.com/office/powerpoint/2010/main" val="618802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p:cNvSpPr>
          <p:nvPr>
            <p:ph type="sldImg"/>
          </p:nvPr>
        </p:nvSpPr>
        <p:spPr bwMode="auto">
          <a:xfrm>
            <a:off x="412750" y="701675"/>
            <a:ext cx="6197600" cy="348773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xfrm>
            <a:off x="701676" y="4424363"/>
            <a:ext cx="5619750" cy="41830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1" tIns="44611" rIns="89221" bIns="44611"/>
          <a:lstStyle/>
          <a:p>
            <a:endParaRPr lang="en-US" altLang="en-US" dirty="0"/>
          </a:p>
        </p:txBody>
      </p:sp>
    </p:spTree>
    <p:extLst>
      <p:ext uri="{BB962C8B-B14F-4D97-AF65-F5344CB8AC3E}">
        <p14:creationId xmlns:p14="http://schemas.microsoft.com/office/powerpoint/2010/main" val="3867370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p:cNvSpPr>
          <p:nvPr>
            <p:ph type="sldImg"/>
          </p:nvPr>
        </p:nvSpPr>
        <p:spPr bwMode="auto">
          <a:xfrm>
            <a:off x="412750" y="701675"/>
            <a:ext cx="6197600" cy="348773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xfrm>
            <a:off x="701676" y="4424363"/>
            <a:ext cx="5619750" cy="41830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1" tIns="44611" rIns="89221" bIns="44611"/>
          <a:lstStyle/>
          <a:p>
            <a:endParaRPr lang="en-US" altLang="en-US" dirty="0"/>
          </a:p>
        </p:txBody>
      </p:sp>
    </p:spTree>
    <p:extLst>
      <p:ext uri="{BB962C8B-B14F-4D97-AF65-F5344CB8AC3E}">
        <p14:creationId xmlns:p14="http://schemas.microsoft.com/office/powerpoint/2010/main" val="327925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p:cNvSpPr>
          <p:nvPr>
            <p:ph type="sldImg"/>
          </p:nvPr>
        </p:nvSpPr>
        <p:spPr bwMode="auto">
          <a:xfrm>
            <a:off x="412750" y="701675"/>
            <a:ext cx="6197600" cy="348773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xfrm>
            <a:off x="701676" y="4424363"/>
            <a:ext cx="5619750" cy="41830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1" tIns="44611" rIns="89221" bIns="44611"/>
          <a:lstStyle/>
          <a:p>
            <a:endParaRPr lang="en-US" altLang="en-US" dirty="0"/>
          </a:p>
        </p:txBody>
      </p:sp>
    </p:spTree>
    <p:extLst>
      <p:ext uri="{BB962C8B-B14F-4D97-AF65-F5344CB8AC3E}">
        <p14:creationId xmlns:p14="http://schemas.microsoft.com/office/powerpoint/2010/main" val="1064216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p:cNvSpPr>
          <p:nvPr>
            <p:ph type="sldImg"/>
          </p:nvPr>
        </p:nvSpPr>
        <p:spPr bwMode="auto">
          <a:xfrm>
            <a:off x="407988" y="698500"/>
            <a:ext cx="6208712"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xfrm>
            <a:off x="703263" y="4422775"/>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35" tIns="43867" rIns="87735" bIns="43867"/>
          <a:lstStyle/>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2817065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56351"/>
            <a:ext cx="2743200" cy="365125"/>
          </a:xfrm>
        </p:spPr>
        <p:txBody>
          <a:bodyPr/>
          <a:lstStyle/>
          <a:p>
            <a:fld id="{29999271-A573-1E42-984E-4EB780E50D50}"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23140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cxnSp>
        <p:nvCxnSpPr>
          <p:cNvPr id="8" name="Straight Connector 7"/>
          <p:cNvCxnSpPr/>
          <p:nvPr userDrawn="1"/>
        </p:nvCxnSpPr>
        <p:spPr>
          <a:xfrm>
            <a:off x="838200" y="1184982"/>
            <a:ext cx="7772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075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218213"/>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999271-A573-1E42-984E-4EB780E50D50}"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669204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39449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99271-A573-1E42-984E-4EB780E50D50}"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948894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253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999271-A573-1E42-984E-4EB780E50D50}"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862383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9999271-A573-1E42-984E-4EB780E50D50}"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704149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999271-A573-1E42-984E-4EB780E50D50}" type="datetimeFigureOut">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5"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998709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369629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477474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920764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7"/>
            <a:ext cx="2628900" cy="54178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2"/>
            <a:ext cx="768179"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311442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7850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7"/>
            <a:ext cx="10515600" cy="3957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99271-A573-1E42-984E-4EB780E50D50}" type="datetimeFigureOut">
              <a:rPr lang="en-US" smtClean="0"/>
              <a:t>9/29/2025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8" name="Slide Number Placeholder 8"/>
          <p:cNvSpPr>
            <a:spLocks noGrp="1"/>
          </p:cNvSpPr>
          <p:nvPr>
            <p:ph type="sldNum" sz="quarter" idx="4"/>
          </p:nvPr>
        </p:nvSpPr>
        <p:spPr>
          <a:xfrm>
            <a:off x="8610600" y="6356352"/>
            <a:ext cx="817605" cy="365125"/>
          </a:xfrm>
          <a:prstGeom prst="rect">
            <a:avLst/>
          </a:prstGeom>
        </p:spPr>
        <p:txBody>
          <a:bodyPr/>
          <a:lstStyle/>
          <a:p>
            <a:fld id="{DD321DBF-325B-3546-BAAF-4F6E3B3181FF}" type="slidenum">
              <a:rPr lang="en-US" smtClean="0"/>
              <a:t>‹#›</a:t>
            </a:fld>
            <a:endParaRPr lang="en-US"/>
          </a:p>
        </p:txBody>
      </p:sp>
      <p:pic>
        <p:nvPicPr>
          <p:cNvPr id="10" name="Picture 9">
            <a:extLst>
              <a:ext uri="{FF2B5EF4-FFF2-40B4-BE49-F238E27FC236}">
                <a16:creationId xmlns:a16="http://schemas.microsoft.com/office/drawing/2014/main" id="{DDE8B790-23B5-4C60-94C1-80246395342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968482" y="140401"/>
            <a:ext cx="2068409" cy="434769"/>
          </a:xfrm>
          <a:prstGeom prst="rect">
            <a:avLst/>
          </a:prstGeom>
        </p:spPr>
      </p:pic>
    </p:spTree>
    <p:extLst>
      <p:ext uri="{BB962C8B-B14F-4D97-AF65-F5344CB8AC3E}">
        <p14:creationId xmlns:p14="http://schemas.microsoft.com/office/powerpoint/2010/main" val="2055560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6.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15.png"/><Relationship Id="rId4" Type="http://schemas.openxmlformats.org/officeDocument/2006/relationships/customXml" Target="../ink/ink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140.png"/><Relationship Id="rId7" Type="http://schemas.openxmlformats.org/officeDocument/2006/relationships/image" Target="../media/image16.png"/><Relationship Id="rId2" Type="http://schemas.openxmlformats.org/officeDocument/2006/relationships/customXml" Target="../ink/ink4.xml"/><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image" Target="../media/image70.png"/><Relationship Id="rId5" Type="http://schemas.openxmlformats.org/officeDocument/2006/relationships/image" Target="../media/image15.png"/><Relationship Id="rId10" Type="http://schemas.openxmlformats.org/officeDocument/2006/relationships/customXml" Target="../ink/ink8.xml"/><Relationship Id="rId4" Type="http://schemas.openxmlformats.org/officeDocument/2006/relationships/customXml" Target="../ink/ink5.xml"/><Relationship Id="rId9" Type="http://schemas.openxmlformats.org/officeDocument/2006/relationships/image" Target="../media/image6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864091" cy="6530027"/>
          </a:xfrm>
          <a:prstGeom prst="rect">
            <a:avLst/>
          </a:prstGeom>
        </p:spPr>
      </p:pic>
      <p:sp>
        <p:nvSpPr>
          <p:cNvPr id="5" name="Rectangle 3"/>
          <p:cNvSpPr>
            <a:spLocks noChangeArrowheads="1"/>
          </p:cNvSpPr>
          <p:nvPr/>
        </p:nvSpPr>
        <p:spPr bwMode="auto">
          <a:xfrm>
            <a:off x="-2" y="5303520"/>
            <a:ext cx="9864091" cy="1554480"/>
          </a:xfrm>
          <a:prstGeom prst="rect">
            <a:avLst/>
          </a:prstGeom>
          <a:solidFill>
            <a:schemeClr val="accent6">
              <a:lumMod val="50000"/>
            </a:schemeClr>
          </a:solidFill>
          <a:ln w="9525">
            <a:noFill/>
            <a:miter lim="800000"/>
            <a:headEnd/>
            <a:tailEnd/>
          </a:ln>
        </p:spPr>
        <p:txBody>
          <a:bodyPr wrap="none" anchor="ctr"/>
          <a:lstStyle/>
          <a:p>
            <a:pPr>
              <a:defRPr/>
            </a:pPr>
            <a:r>
              <a:rPr lang="en-US" altLang="en-US" sz="3200" b="1" i="1" dirty="0">
                <a:solidFill>
                  <a:schemeClr val="bg1"/>
                </a:solidFill>
              </a:rPr>
              <a:t>Revenue Recognition Part 2 – Class</a:t>
            </a:r>
          </a:p>
        </p:txBody>
      </p:sp>
    </p:spTree>
    <p:extLst>
      <p:ext uri="{BB962C8B-B14F-4D97-AF65-F5344CB8AC3E}">
        <p14:creationId xmlns:p14="http://schemas.microsoft.com/office/powerpoint/2010/main" val="138552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921090-235C-AD40-CAEE-A79C04C546E7}"/>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D227237-F3F8-4756-A0BB-10D514BD1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25" name="Group 24">
            <a:extLst>
              <a:ext uri="{FF2B5EF4-FFF2-40B4-BE49-F238E27FC236}">
                <a16:creationId xmlns:a16="http://schemas.microsoft.com/office/drawing/2014/main" id="{932E9794-B65B-83D2-E2BD-511F614B24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26" name="Freeform 44">
              <a:extLst>
                <a:ext uri="{FF2B5EF4-FFF2-40B4-BE49-F238E27FC236}">
                  <a16:creationId xmlns:a16="http://schemas.microsoft.com/office/drawing/2014/main" id="{BD0CCA85-4C18-7CB6-2CFE-C0F76B41E06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 name="Freeform 45">
              <a:extLst>
                <a:ext uri="{FF2B5EF4-FFF2-40B4-BE49-F238E27FC236}">
                  <a16:creationId xmlns:a16="http://schemas.microsoft.com/office/drawing/2014/main" id="{24ADD0A6-912E-47C2-C873-82A62F76F9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 name="Freeform 46">
              <a:extLst>
                <a:ext uri="{FF2B5EF4-FFF2-40B4-BE49-F238E27FC236}">
                  <a16:creationId xmlns:a16="http://schemas.microsoft.com/office/drawing/2014/main" id="{95F5B5EB-0AE4-F88C-E14C-3A9A6B7636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 name="Freeform 47">
              <a:extLst>
                <a:ext uri="{FF2B5EF4-FFF2-40B4-BE49-F238E27FC236}">
                  <a16:creationId xmlns:a16="http://schemas.microsoft.com/office/drawing/2014/main" id="{C93E585E-A74B-C205-5F2D-135919A9D0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B365CC11-3D51-E84C-5F24-C62F4FFA827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2" name="Title 1">
            <a:extLst>
              <a:ext uri="{FF2B5EF4-FFF2-40B4-BE49-F238E27FC236}">
                <a16:creationId xmlns:a16="http://schemas.microsoft.com/office/drawing/2014/main" id="{36ACEA5F-BB4E-0558-C18B-158AF3B2A38D}"/>
              </a:ext>
            </a:extLst>
          </p:cNvPr>
          <p:cNvSpPr>
            <a:spLocks noGrp="1"/>
          </p:cNvSpPr>
          <p:nvPr>
            <p:ph type="title"/>
          </p:nvPr>
        </p:nvSpPr>
        <p:spPr>
          <a:xfrm>
            <a:off x="1047280" y="759805"/>
            <a:ext cx="10306520" cy="1325563"/>
          </a:xfrm>
        </p:spPr>
        <p:txBody>
          <a:bodyPr vert="horz" lIns="91440" tIns="45720" rIns="91440" bIns="45720" rtlCol="0" anchor="ctr">
            <a:normAutofit/>
          </a:bodyPr>
          <a:lstStyle/>
          <a:p>
            <a:pPr defTabSz="914400"/>
            <a:r>
              <a:rPr lang="en-US" sz="4000" dirty="0">
                <a:solidFill>
                  <a:srgbClr val="FFFFFF"/>
                </a:solidFill>
              </a:rPr>
              <a:t>Notes</a:t>
            </a:r>
            <a:r>
              <a:rPr lang="en-US" sz="4000" kern="1200" dirty="0">
                <a:solidFill>
                  <a:srgbClr val="FFFFFF"/>
                </a:solidFill>
                <a:latin typeface="+mj-lt"/>
                <a:ea typeface="+mj-ea"/>
                <a:cs typeface="+mj-cs"/>
              </a:rPr>
              <a:t>…</a:t>
            </a:r>
          </a:p>
        </p:txBody>
      </p:sp>
      <p:sp>
        <p:nvSpPr>
          <p:cNvPr id="17" name="Content Placeholder 2">
            <a:extLst>
              <a:ext uri="{FF2B5EF4-FFF2-40B4-BE49-F238E27FC236}">
                <a16:creationId xmlns:a16="http://schemas.microsoft.com/office/drawing/2014/main" id="{AC01E22A-01EE-56FF-5103-A8620DFCF2BE}"/>
              </a:ext>
            </a:extLst>
          </p:cNvPr>
          <p:cNvSpPr txBox="1">
            <a:spLocks/>
          </p:cNvSpPr>
          <p:nvPr/>
        </p:nvSpPr>
        <p:spPr>
          <a:xfrm>
            <a:off x="1424903" y="2494450"/>
            <a:ext cx="4982261" cy="356315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28594"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tab pos="1492250" algn="l"/>
              </a:tabLst>
              <a:defRPr/>
            </a:pPr>
            <a:r>
              <a:rPr lang="en-US" sz="2400" dirty="0">
                <a:solidFill>
                  <a:prstClr val="black"/>
                </a:solidFill>
                <a:latin typeface="Arial" panose="020B0604020202020204"/>
              </a:rPr>
              <a:t>Exam Grades – Friday</a:t>
            </a:r>
          </a:p>
        </p:txBody>
      </p:sp>
      <p:pic>
        <p:nvPicPr>
          <p:cNvPr id="18" name="Picture 17" descr="Text, letter&#10;&#10;Description automatically generated">
            <a:extLst>
              <a:ext uri="{FF2B5EF4-FFF2-40B4-BE49-F238E27FC236}">
                <a16:creationId xmlns:a16="http://schemas.microsoft.com/office/drawing/2014/main" id="{0F30CC95-A859-EDF3-7489-E725DC72E2AA}"/>
              </a:ext>
            </a:extLst>
          </p:cNvPr>
          <p:cNvPicPr>
            <a:picLocks noChangeAspect="1"/>
          </p:cNvPicPr>
          <p:nvPr/>
        </p:nvPicPr>
        <p:blipFill rotWithShape="1">
          <a:blip r:embed="rId2"/>
          <a:srcRect l="8046" r="16482" b="1"/>
          <a:stretch/>
        </p:blipFill>
        <p:spPr>
          <a:xfrm>
            <a:off x="6713552" y="2492395"/>
            <a:ext cx="4187743" cy="3107261"/>
          </a:xfrm>
          <a:prstGeom prst="rect">
            <a:avLst/>
          </a:prstGeom>
        </p:spPr>
      </p:pic>
    </p:spTree>
    <p:extLst>
      <p:ext uri="{BB962C8B-B14F-4D97-AF65-F5344CB8AC3E}">
        <p14:creationId xmlns:p14="http://schemas.microsoft.com/office/powerpoint/2010/main" val="2858087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2"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15">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8EDBE47F-7963-4EFE-9209-98BADD0456B7}"/>
              </a:ext>
            </a:extLst>
          </p:cNvPr>
          <p:cNvSpPr>
            <a:spLocks noGrp="1"/>
          </p:cNvSpPr>
          <p:nvPr>
            <p:ph type="title"/>
          </p:nvPr>
        </p:nvSpPr>
        <p:spPr>
          <a:xfrm>
            <a:off x="1047280" y="759805"/>
            <a:ext cx="10306520" cy="1325563"/>
          </a:xfrm>
        </p:spPr>
        <p:txBody>
          <a:bodyPr>
            <a:normAutofit/>
          </a:bodyPr>
          <a:lstStyle/>
          <a:p>
            <a:r>
              <a:rPr lang="en-US" sz="4000" dirty="0">
                <a:solidFill>
                  <a:srgbClr val="FFFFFF"/>
                </a:solidFill>
              </a:rPr>
              <a:t>Key Points from the Video</a:t>
            </a:r>
          </a:p>
        </p:txBody>
      </p:sp>
      <p:sp>
        <p:nvSpPr>
          <p:cNvPr id="3" name="Content Placeholder 2">
            <a:extLst>
              <a:ext uri="{FF2B5EF4-FFF2-40B4-BE49-F238E27FC236}">
                <a16:creationId xmlns:a16="http://schemas.microsoft.com/office/drawing/2014/main" id="{6DA69708-047E-46E0-A1D0-9220C7DED656}"/>
              </a:ext>
            </a:extLst>
          </p:cNvPr>
          <p:cNvSpPr>
            <a:spLocks noGrp="1"/>
          </p:cNvSpPr>
          <p:nvPr>
            <p:ph idx="1"/>
          </p:nvPr>
        </p:nvSpPr>
        <p:spPr>
          <a:xfrm>
            <a:off x="1424904" y="2494450"/>
            <a:ext cx="5253766" cy="3563159"/>
          </a:xfrm>
        </p:spPr>
        <p:txBody>
          <a:bodyPr>
            <a:normAutofit/>
          </a:bodyPr>
          <a:lstStyle/>
          <a:p>
            <a:pPr marL="514350" indent="-514350">
              <a:spcBef>
                <a:spcPts val="1800"/>
              </a:spcBef>
              <a:buFont typeface="+mj-lt"/>
              <a:buAutoNum type="arabicPeriod"/>
            </a:pPr>
            <a:r>
              <a:rPr lang="en-US" sz="2400" dirty="0"/>
              <a:t>Disclose material mutually unexecuted contracts</a:t>
            </a:r>
          </a:p>
          <a:p>
            <a:pPr marL="514350" indent="-514350">
              <a:spcBef>
                <a:spcPts val="1800"/>
              </a:spcBef>
              <a:buFont typeface="+mj-lt"/>
              <a:buAutoNum type="arabicPeriod"/>
            </a:pPr>
            <a:r>
              <a:rPr lang="en-US" sz="2400" dirty="0"/>
              <a:t>Revenue is reduced for estimated returns</a:t>
            </a:r>
          </a:p>
          <a:p>
            <a:pPr marL="514350" indent="-514350">
              <a:spcBef>
                <a:spcPts val="1800"/>
              </a:spcBef>
              <a:buFont typeface="+mj-lt"/>
              <a:buAutoNum type="arabicPeriod"/>
            </a:pPr>
            <a:r>
              <a:rPr lang="en-US" sz="2400" dirty="0"/>
              <a:t>Agents only recognize commission revenue (amount they keep). Principals recognize full amount customer pays.</a:t>
            </a:r>
          </a:p>
          <a:p>
            <a:endParaRPr lang="en-US" sz="1300" dirty="0"/>
          </a:p>
        </p:txBody>
      </p:sp>
      <p:pic>
        <p:nvPicPr>
          <p:cNvPr id="4" name="Picture 3" descr="Text&#10;&#10;Description automatically generated">
            <a:extLst>
              <a:ext uri="{FF2B5EF4-FFF2-40B4-BE49-F238E27FC236}">
                <a16:creationId xmlns:a16="http://schemas.microsoft.com/office/drawing/2014/main" id="{104F6B94-7D6F-472F-9458-A9DECC2F7301}"/>
              </a:ext>
            </a:extLst>
          </p:cNvPr>
          <p:cNvPicPr>
            <a:picLocks noChangeAspect="1"/>
          </p:cNvPicPr>
          <p:nvPr/>
        </p:nvPicPr>
        <p:blipFill>
          <a:blip r:embed="rId2"/>
          <a:stretch>
            <a:fillRect/>
          </a:stretch>
        </p:blipFill>
        <p:spPr>
          <a:xfrm>
            <a:off x="6985057" y="2625976"/>
            <a:ext cx="3782039" cy="1957205"/>
          </a:xfrm>
          <a:prstGeom prst="rect">
            <a:avLst/>
          </a:prstGeom>
        </p:spPr>
      </p:pic>
    </p:spTree>
    <p:extLst>
      <p:ext uri="{BB962C8B-B14F-4D97-AF65-F5344CB8AC3E}">
        <p14:creationId xmlns:p14="http://schemas.microsoft.com/office/powerpoint/2010/main" val="2476937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3"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6">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1047280" y="759805"/>
            <a:ext cx="10306520" cy="1325563"/>
          </a:xfrm>
        </p:spPr>
        <p:txBody>
          <a:bodyPr>
            <a:normAutofit/>
          </a:bodyPr>
          <a:lstStyle/>
          <a:p>
            <a:r>
              <a:rPr lang="en-US" sz="4000" dirty="0">
                <a:solidFill>
                  <a:srgbClr val="FFFFFF"/>
                </a:solidFill>
              </a:rPr>
              <a:t>Today’s Plan</a:t>
            </a:r>
          </a:p>
        </p:txBody>
      </p:sp>
      <p:sp>
        <p:nvSpPr>
          <p:cNvPr id="3" name="Content Placeholder 2"/>
          <p:cNvSpPr>
            <a:spLocks noGrp="1"/>
          </p:cNvSpPr>
          <p:nvPr>
            <p:ph idx="1"/>
          </p:nvPr>
        </p:nvSpPr>
        <p:spPr>
          <a:xfrm>
            <a:off x="1222645" y="2474300"/>
            <a:ext cx="5551217" cy="3563159"/>
          </a:xfrm>
        </p:spPr>
        <p:txBody>
          <a:bodyPr>
            <a:normAutofit/>
          </a:bodyPr>
          <a:lstStyle/>
          <a:p>
            <a:pPr marL="0" indent="0">
              <a:spcBef>
                <a:spcPts val="1800"/>
              </a:spcBef>
              <a:buNone/>
            </a:pPr>
            <a:r>
              <a:rPr lang="en-US" b="1" u="sng" dirty="0"/>
              <a:t>Long – Term Contracts</a:t>
            </a:r>
          </a:p>
          <a:p>
            <a:pPr lvl="1">
              <a:spcBef>
                <a:spcPts val="1800"/>
              </a:spcBef>
            </a:pPr>
            <a:r>
              <a:rPr lang="en-US" dirty="0"/>
              <a:t>Percentage of completion method (over time)</a:t>
            </a:r>
          </a:p>
          <a:p>
            <a:pPr lvl="1">
              <a:spcBef>
                <a:spcPts val="1800"/>
              </a:spcBef>
            </a:pPr>
            <a:r>
              <a:rPr lang="en-US" dirty="0"/>
              <a:t>Completed contract method       (at the end)</a:t>
            </a:r>
          </a:p>
          <a:p>
            <a:pPr marL="971539" lvl="1" indent="-514350">
              <a:spcBef>
                <a:spcPts val="1800"/>
              </a:spcBef>
              <a:buFont typeface="+mj-lt"/>
              <a:buAutoNum type="arabicPeriod"/>
            </a:pPr>
            <a:endParaRPr lang="en-US" sz="2200" dirty="0"/>
          </a:p>
          <a:p>
            <a:pPr marL="971539" lvl="1" indent="-514350">
              <a:spcBef>
                <a:spcPts val="1800"/>
              </a:spcBef>
              <a:buFont typeface="+mj-lt"/>
              <a:buAutoNum type="arabicPeriod"/>
            </a:pPr>
            <a:endParaRPr lang="en-US" sz="2200" dirty="0"/>
          </a:p>
          <a:p>
            <a:endParaRPr lang="en-US" sz="2200" dirty="0"/>
          </a:p>
        </p:txBody>
      </p:sp>
      <p:pic>
        <p:nvPicPr>
          <p:cNvPr id="5" name="Picture 4">
            <a:extLst>
              <a:ext uri="{FF2B5EF4-FFF2-40B4-BE49-F238E27FC236}">
                <a16:creationId xmlns:a16="http://schemas.microsoft.com/office/drawing/2014/main" id="{9C7C431B-689A-40DA-8D45-8C651F19779B}"/>
              </a:ext>
            </a:extLst>
          </p:cNvPr>
          <p:cNvPicPr>
            <a:picLocks noChangeAspect="1"/>
          </p:cNvPicPr>
          <p:nvPr/>
        </p:nvPicPr>
        <p:blipFill>
          <a:blip r:embed="rId2"/>
          <a:stretch>
            <a:fillRect/>
          </a:stretch>
        </p:blipFill>
        <p:spPr>
          <a:xfrm>
            <a:off x="6847546" y="2543175"/>
            <a:ext cx="4048125" cy="2495550"/>
          </a:xfrm>
          <a:prstGeom prst="rect">
            <a:avLst/>
          </a:prstGeom>
        </p:spPr>
      </p:pic>
    </p:spTree>
    <p:extLst>
      <p:ext uri="{BB962C8B-B14F-4D97-AF65-F5344CB8AC3E}">
        <p14:creationId xmlns:p14="http://schemas.microsoft.com/office/powerpoint/2010/main" val="886742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0380" y="1457877"/>
            <a:ext cx="9657264" cy="4781550"/>
          </a:xfrm>
        </p:spPr>
        <p:txBody>
          <a:bodyPr>
            <a:normAutofit/>
          </a:bodyPr>
          <a:lstStyle/>
          <a:p>
            <a:pPr marL="0" indent="0">
              <a:buNone/>
              <a:defRPr/>
            </a:pPr>
            <a:r>
              <a:rPr lang="en-US" altLang="en-US" b="1" u="sng" dirty="0"/>
              <a:t>Big picture example</a:t>
            </a:r>
            <a:r>
              <a:rPr lang="en-US" altLang="en-US" b="1" dirty="0"/>
              <a:t>: </a:t>
            </a:r>
            <a:r>
              <a:rPr lang="en-US" altLang="en-US" dirty="0"/>
              <a:t>Buff Construction has been hired on May 12</a:t>
            </a:r>
            <a:r>
              <a:rPr lang="en-US" altLang="en-US" baseline="30000" dirty="0"/>
              <a:t>th</a:t>
            </a:r>
            <a:r>
              <a:rPr lang="en-US" altLang="en-US" dirty="0"/>
              <a:t>, 2023 to complete an expansion of the CU stadium</a:t>
            </a:r>
          </a:p>
          <a:p>
            <a:pPr marL="0" indent="0">
              <a:buNone/>
              <a:defRPr/>
            </a:pPr>
            <a:endParaRPr lang="en-US" altLang="en-US" dirty="0"/>
          </a:p>
          <a:p>
            <a:pPr>
              <a:spcBef>
                <a:spcPts val="1200"/>
              </a:spcBef>
              <a:defRPr/>
            </a:pPr>
            <a:r>
              <a:rPr lang="en-US" altLang="en-US" sz="2400" dirty="0"/>
              <a:t>Time to completion: 		24 months</a:t>
            </a:r>
          </a:p>
          <a:p>
            <a:pPr>
              <a:spcBef>
                <a:spcPts val="1200"/>
              </a:spcBef>
              <a:defRPr/>
            </a:pPr>
            <a:r>
              <a:rPr lang="en-US" altLang="en-US" sz="2400" dirty="0"/>
              <a:t>Total cost of labor + materials: 	$115 million</a:t>
            </a:r>
          </a:p>
          <a:p>
            <a:pPr>
              <a:spcBef>
                <a:spcPts val="1200"/>
              </a:spcBef>
              <a:defRPr/>
            </a:pPr>
            <a:r>
              <a:rPr lang="en-US" altLang="en-US" sz="2400" dirty="0"/>
              <a:t>Total billing to CU: 		$155 million</a:t>
            </a:r>
          </a:p>
          <a:p>
            <a:pPr>
              <a:spcBef>
                <a:spcPts val="1200"/>
              </a:spcBef>
              <a:defRPr/>
            </a:pPr>
            <a:r>
              <a:rPr lang="en-US" altLang="en-US" sz="2400" dirty="0"/>
              <a:t>Expected profit:			$40 million profit before taxes</a:t>
            </a:r>
          </a:p>
          <a:p>
            <a:pPr>
              <a:spcBef>
                <a:spcPts val="1200"/>
              </a:spcBef>
              <a:defRPr/>
            </a:pPr>
            <a:endParaRPr lang="en-US" altLang="en-US" sz="2400" dirty="0"/>
          </a:p>
          <a:p>
            <a:pPr marL="0" indent="0" algn="ctr">
              <a:buNone/>
              <a:defRPr/>
            </a:pPr>
            <a:r>
              <a:rPr lang="en-US" altLang="en-US" sz="2400" b="1" dirty="0">
                <a:solidFill>
                  <a:srgbClr val="C00000"/>
                </a:solidFill>
              </a:rPr>
              <a:t>When should Buff Construction record revenue?</a:t>
            </a:r>
          </a:p>
          <a:p>
            <a:pPr>
              <a:defRPr/>
            </a:pPr>
            <a:endParaRPr lang="en-US" altLang="en-US" sz="2000" dirty="0">
              <a:latin typeface="Times New Roman" pitchFamily="18" charset="0"/>
            </a:endParaRPr>
          </a:p>
          <a:p>
            <a:pPr>
              <a:defRPr/>
            </a:pPr>
            <a:endParaRPr lang="en-US" altLang="en-US" sz="2000" dirty="0">
              <a:latin typeface="Times New Roman" pitchFamily="18" charset="0"/>
            </a:endParaRPr>
          </a:p>
          <a:p>
            <a:pPr>
              <a:defRPr/>
            </a:pPr>
            <a:endParaRPr lang="en-US" sz="2000" dirty="0"/>
          </a:p>
        </p:txBody>
      </p:sp>
      <p:sp>
        <p:nvSpPr>
          <p:cNvPr id="54274" name="TextBox 1"/>
          <p:cNvSpPr txBox="1">
            <a:spLocks noChangeArrowheads="1"/>
          </p:cNvSpPr>
          <p:nvPr/>
        </p:nvSpPr>
        <p:spPr bwMode="auto">
          <a:xfrm>
            <a:off x="770022" y="271544"/>
            <a:ext cx="98979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SzPct val="100000"/>
              <a:defRPr sz="3200">
                <a:solidFill>
                  <a:schemeClr val="tx1"/>
                </a:solidFill>
                <a:latin typeface="Arial" pitchFamily="34" charset="0"/>
              </a:defRPr>
            </a:lvl1pPr>
            <a:lvl2pPr marL="742950" indent="-285750" algn="just">
              <a:spcBef>
                <a:spcPct val="20000"/>
              </a:spcBef>
              <a:buClr>
                <a:schemeClr val="tx1"/>
              </a:buClr>
              <a:buSzPct val="100000"/>
              <a:defRPr sz="2800">
                <a:solidFill>
                  <a:schemeClr val="tx1"/>
                </a:solidFill>
                <a:latin typeface="Arial" pitchFamily="34" charset="0"/>
              </a:defRPr>
            </a:lvl2pPr>
            <a:lvl3pPr marL="1143000" indent="-228600" algn="just">
              <a:spcBef>
                <a:spcPct val="20000"/>
              </a:spcBef>
              <a:buClr>
                <a:schemeClr val="tx1"/>
              </a:buClr>
              <a:buSzPct val="100000"/>
              <a:defRPr sz="2400">
                <a:solidFill>
                  <a:schemeClr val="tx1"/>
                </a:solidFill>
                <a:latin typeface="Arial" pitchFamily="34" charset="0"/>
              </a:defRPr>
            </a:lvl3pPr>
            <a:lvl4pPr marL="1600200" indent="-228600" algn="just">
              <a:spcBef>
                <a:spcPct val="20000"/>
              </a:spcBef>
              <a:buClr>
                <a:schemeClr val="tx1"/>
              </a:buClr>
              <a:buSzPct val="100000"/>
              <a:defRPr sz="2000">
                <a:solidFill>
                  <a:schemeClr val="tx1"/>
                </a:solidFill>
                <a:latin typeface="Arial" pitchFamily="34" charset="0"/>
              </a:defRPr>
            </a:lvl4pPr>
            <a:lvl5pPr marL="2057400" indent="-228600" algn="just">
              <a:spcBef>
                <a:spcPct val="20000"/>
              </a:spcBef>
              <a:buClr>
                <a:schemeClr val="tx1"/>
              </a:buClr>
              <a:buSzPct val="100000"/>
              <a:defRPr sz="2000">
                <a:solidFill>
                  <a:schemeClr val="tx1"/>
                </a:solidFill>
                <a:latin typeface="Arial" pitchFamily="34" charset="0"/>
              </a:defRPr>
            </a:lvl5pPr>
            <a:lvl6pPr marL="2514600" indent="-228600" algn="just" eaLnBrk="0" fontAlgn="base" hangingPunct="0">
              <a:spcBef>
                <a:spcPct val="20000"/>
              </a:spcBef>
              <a:spcAft>
                <a:spcPct val="0"/>
              </a:spcAft>
              <a:buClr>
                <a:schemeClr val="tx1"/>
              </a:buClr>
              <a:buSzPct val="100000"/>
              <a:defRPr sz="2000">
                <a:solidFill>
                  <a:schemeClr val="tx1"/>
                </a:solidFill>
                <a:latin typeface="Arial" pitchFamily="34" charset="0"/>
              </a:defRPr>
            </a:lvl6pPr>
            <a:lvl7pPr marL="2971800" indent="-228600" algn="just" eaLnBrk="0" fontAlgn="base" hangingPunct="0">
              <a:spcBef>
                <a:spcPct val="20000"/>
              </a:spcBef>
              <a:spcAft>
                <a:spcPct val="0"/>
              </a:spcAft>
              <a:buClr>
                <a:schemeClr val="tx1"/>
              </a:buClr>
              <a:buSzPct val="100000"/>
              <a:defRPr sz="2000">
                <a:solidFill>
                  <a:schemeClr val="tx1"/>
                </a:solidFill>
                <a:latin typeface="Arial" pitchFamily="34" charset="0"/>
              </a:defRPr>
            </a:lvl7pPr>
            <a:lvl8pPr marL="3429000" indent="-228600" algn="just" eaLnBrk="0" fontAlgn="base" hangingPunct="0">
              <a:spcBef>
                <a:spcPct val="20000"/>
              </a:spcBef>
              <a:spcAft>
                <a:spcPct val="0"/>
              </a:spcAft>
              <a:buClr>
                <a:schemeClr val="tx1"/>
              </a:buClr>
              <a:buSzPct val="100000"/>
              <a:defRPr sz="2000">
                <a:solidFill>
                  <a:schemeClr val="tx1"/>
                </a:solidFill>
                <a:latin typeface="Arial" pitchFamily="34" charset="0"/>
              </a:defRPr>
            </a:lvl8pPr>
            <a:lvl9pPr marL="3886200" indent="-228600" algn="just" eaLnBrk="0" fontAlgn="base" hangingPunct="0">
              <a:spcBef>
                <a:spcPct val="20000"/>
              </a:spcBef>
              <a:spcAft>
                <a:spcPct val="0"/>
              </a:spcAft>
              <a:buClr>
                <a:schemeClr val="tx1"/>
              </a:buClr>
              <a:buSzPct val="100000"/>
              <a:defRPr sz="2000">
                <a:solidFill>
                  <a:schemeClr val="tx1"/>
                </a:solidFill>
                <a:latin typeface="Arial" pitchFamily="34" charset="0"/>
              </a:defRPr>
            </a:lvl9pPr>
          </a:lstStyle>
          <a:p>
            <a:pPr>
              <a:spcBef>
                <a:spcPct val="0"/>
              </a:spcBef>
              <a:buClrTx/>
              <a:buSzTx/>
              <a:defRPr/>
            </a:pPr>
            <a:r>
              <a:rPr lang="en-US" altLang="en-US" sz="4800" dirty="0">
                <a:latin typeface="+mj-lt"/>
              </a:rPr>
              <a:t>The Challenge</a:t>
            </a:r>
          </a:p>
        </p:txBody>
      </p:sp>
    </p:spTree>
    <p:extLst>
      <p:ext uri="{BB962C8B-B14F-4D97-AF65-F5344CB8AC3E}">
        <p14:creationId xmlns:p14="http://schemas.microsoft.com/office/powerpoint/2010/main" val="241581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7B930-195D-4E47-B38A-5187EE314A64}"/>
              </a:ext>
            </a:extLst>
          </p:cNvPr>
          <p:cNvSpPr>
            <a:spLocks noGrp="1"/>
          </p:cNvSpPr>
          <p:nvPr>
            <p:ph type="title"/>
          </p:nvPr>
        </p:nvSpPr>
        <p:spPr/>
        <p:txBody>
          <a:bodyPr/>
          <a:lstStyle/>
          <a:p>
            <a:r>
              <a:rPr lang="en-US" sz="4000" dirty="0"/>
              <a:t>Accounting for Long-Term Contracts</a:t>
            </a:r>
            <a:endParaRPr lang="en-US" dirty="0"/>
          </a:p>
        </p:txBody>
      </p:sp>
      <p:sp>
        <p:nvSpPr>
          <p:cNvPr id="3" name="Content Placeholder 2">
            <a:extLst>
              <a:ext uri="{FF2B5EF4-FFF2-40B4-BE49-F238E27FC236}">
                <a16:creationId xmlns:a16="http://schemas.microsoft.com/office/drawing/2014/main" id="{04A54F51-2C3F-4F28-911A-2B46048BEED5}"/>
              </a:ext>
            </a:extLst>
          </p:cNvPr>
          <p:cNvSpPr>
            <a:spLocks noGrp="1"/>
          </p:cNvSpPr>
          <p:nvPr>
            <p:ph idx="1"/>
          </p:nvPr>
        </p:nvSpPr>
        <p:spPr>
          <a:xfrm>
            <a:off x="838200" y="1669775"/>
            <a:ext cx="10515600" cy="4113190"/>
          </a:xfrm>
        </p:spPr>
        <p:txBody>
          <a:bodyPr/>
          <a:lstStyle/>
          <a:p>
            <a:pPr>
              <a:lnSpc>
                <a:spcPct val="100000"/>
              </a:lnSpc>
              <a:spcBef>
                <a:spcPts val="600"/>
              </a:spcBef>
              <a:spcAft>
                <a:spcPts val="1200"/>
              </a:spcAft>
              <a:tabLst>
                <a:tab pos="1431925" algn="l"/>
              </a:tabLst>
            </a:pPr>
            <a:r>
              <a:rPr lang="en-US" b="1" u="sng" dirty="0"/>
              <a:t>What?</a:t>
            </a:r>
            <a:r>
              <a:rPr lang="en-US" dirty="0"/>
              <a:t> Individual performance obligation where manufacturing 	or construction takes &gt; 1 year.</a:t>
            </a:r>
          </a:p>
          <a:p>
            <a:pPr marL="914400" lvl="1" indent="-457200">
              <a:lnSpc>
                <a:spcPct val="100000"/>
              </a:lnSpc>
              <a:spcBef>
                <a:spcPts val="600"/>
              </a:spcBef>
              <a:spcAft>
                <a:spcPts val="600"/>
              </a:spcAft>
              <a:buFont typeface="Wingdings" panose="05000000000000000000" pitchFamily="2" charset="2"/>
              <a:buChar char="ü"/>
            </a:pPr>
            <a:r>
              <a:rPr lang="en-US" dirty="0"/>
              <a:t>Production covers several periods</a:t>
            </a:r>
          </a:p>
          <a:p>
            <a:pPr marL="914400" lvl="1" indent="-457200">
              <a:lnSpc>
                <a:spcPct val="100000"/>
              </a:lnSpc>
              <a:spcBef>
                <a:spcPts val="600"/>
              </a:spcBef>
              <a:spcAft>
                <a:spcPts val="600"/>
              </a:spcAft>
              <a:buFont typeface="Wingdings" panose="05000000000000000000" pitchFamily="2" charset="2"/>
              <a:buChar char="ü"/>
            </a:pPr>
            <a:r>
              <a:rPr lang="en-US" dirty="0"/>
              <a:t>Future costs can be reasonably estimated</a:t>
            </a:r>
          </a:p>
          <a:p>
            <a:pPr marL="914400" lvl="1" indent="-457200">
              <a:lnSpc>
                <a:spcPct val="100000"/>
              </a:lnSpc>
              <a:spcBef>
                <a:spcPts val="600"/>
              </a:spcBef>
              <a:spcAft>
                <a:spcPts val="600"/>
              </a:spcAft>
              <a:buFont typeface="Wingdings" panose="05000000000000000000" pitchFamily="2" charset="2"/>
              <a:buChar char="ü"/>
            </a:pPr>
            <a:r>
              <a:rPr lang="en-US" dirty="0"/>
              <a:t>Price is set in advance, and customer often makes periodic payments</a:t>
            </a:r>
          </a:p>
          <a:p>
            <a:pPr marL="238125" indent="-238125">
              <a:lnSpc>
                <a:spcPct val="100000"/>
              </a:lnSpc>
              <a:spcBef>
                <a:spcPts val="1200"/>
              </a:spcBef>
              <a:spcAft>
                <a:spcPts val="1200"/>
              </a:spcAft>
              <a:tabLst>
                <a:tab pos="1371600" algn="l"/>
              </a:tabLst>
            </a:pPr>
            <a:r>
              <a:rPr lang="en-US" b="1" u="sng" dirty="0"/>
              <a:t>Examples</a:t>
            </a:r>
            <a:r>
              <a:rPr lang="en-US" dirty="0"/>
              <a:t>: buildings, ships, planes</a:t>
            </a:r>
          </a:p>
          <a:p>
            <a:pPr marL="457200" lvl="1" indent="0">
              <a:buNone/>
              <a:tabLst>
                <a:tab pos="1371600" algn="l"/>
              </a:tabLst>
            </a:pPr>
            <a:endParaRPr lang="en-US" dirty="0"/>
          </a:p>
        </p:txBody>
      </p:sp>
    </p:spTree>
    <p:extLst>
      <p:ext uri="{BB962C8B-B14F-4D97-AF65-F5344CB8AC3E}">
        <p14:creationId xmlns:p14="http://schemas.microsoft.com/office/powerpoint/2010/main" val="3480381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E2684-450A-4F56-8E0F-18692A437BFD}"/>
              </a:ext>
            </a:extLst>
          </p:cNvPr>
          <p:cNvSpPr>
            <a:spLocks noGrp="1"/>
          </p:cNvSpPr>
          <p:nvPr>
            <p:ph type="title"/>
          </p:nvPr>
        </p:nvSpPr>
        <p:spPr/>
        <p:txBody>
          <a:bodyPr/>
          <a:lstStyle/>
          <a:p>
            <a:r>
              <a:rPr lang="en-US" dirty="0"/>
              <a:t>The Challenge (Revenue)</a:t>
            </a:r>
          </a:p>
        </p:txBody>
      </p:sp>
      <p:graphicFrame>
        <p:nvGraphicFramePr>
          <p:cNvPr id="4" name="Table 4">
            <a:extLst>
              <a:ext uri="{FF2B5EF4-FFF2-40B4-BE49-F238E27FC236}">
                <a16:creationId xmlns:a16="http://schemas.microsoft.com/office/drawing/2014/main" id="{66EB0B77-51B0-4E95-8B95-106E957ED0F1}"/>
              </a:ext>
            </a:extLst>
          </p:cNvPr>
          <p:cNvGraphicFramePr>
            <a:graphicFrameLocks noGrp="1"/>
          </p:cNvGraphicFramePr>
          <p:nvPr>
            <p:ph idx="1"/>
            <p:extLst>
              <p:ext uri="{D42A27DB-BD31-4B8C-83A1-F6EECF244321}">
                <p14:modId xmlns:p14="http://schemas.microsoft.com/office/powerpoint/2010/main" val="3602000333"/>
              </p:ext>
            </p:extLst>
          </p:nvPr>
        </p:nvGraphicFramePr>
        <p:xfrm>
          <a:off x="838200" y="1825624"/>
          <a:ext cx="10515596" cy="4397376"/>
        </p:xfrm>
        <a:graphic>
          <a:graphicData uri="http://schemas.openxmlformats.org/drawingml/2006/table">
            <a:tbl>
              <a:tblPr firstRow="1" bandRow="1">
                <a:tableStyleId>{69012ECD-51FC-41F1-AA8D-1B2483CD663E}</a:tableStyleId>
              </a:tblPr>
              <a:tblGrid>
                <a:gridCol w="1447800">
                  <a:extLst>
                    <a:ext uri="{9D8B030D-6E8A-4147-A177-3AD203B41FA5}">
                      <a16:colId xmlns:a16="http://schemas.microsoft.com/office/drawing/2014/main" val="1070463286"/>
                    </a:ext>
                  </a:extLst>
                </a:gridCol>
                <a:gridCol w="2951018">
                  <a:extLst>
                    <a:ext uri="{9D8B030D-6E8A-4147-A177-3AD203B41FA5}">
                      <a16:colId xmlns:a16="http://schemas.microsoft.com/office/drawing/2014/main" val="341382623"/>
                    </a:ext>
                  </a:extLst>
                </a:gridCol>
                <a:gridCol w="3054927">
                  <a:extLst>
                    <a:ext uri="{9D8B030D-6E8A-4147-A177-3AD203B41FA5}">
                      <a16:colId xmlns:a16="http://schemas.microsoft.com/office/drawing/2014/main" val="456947654"/>
                    </a:ext>
                  </a:extLst>
                </a:gridCol>
                <a:gridCol w="3061851">
                  <a:extLst>
                    <a:ext uri="{9D8B030D-6E8A-4147-A177-3AD203B41FA5}">
                      <a16:colId xmlns:a16="http://schemas.microsoft.com/office/drawing/2014/main" val="2797683343"/>
                    </a:ext>
                  </a:extLst>
                </a:gridCol>
              </a:tblGrid>
              <a:tr h="1465792">
                <a:tc>
                  <a:txBody>
                    <a:bodyPr/>
                    <a:lstStyle/>
                    <a:p>
                      <a:pPr algn="ctr"/>
                      <a:endParaRPr lang="en-US" dirty="0"/>
                    </a:p>
                  </a:txBody>
                  <a:tcPr anchor="ctr">
                    <a:lnR w="12700" cap="flat" cmpd="sng" algn="ctr">
                      <a:solidFill>
                        <a:schemeClr val="accent1">
                          <a:lumMod val="50000"/>
                        </a:schemeClr>
                      </a:solidFill>
                      <a:prstDash val="solid"/>
                      <a:round/>
                      <a:headEnd type="none" w="med" len="med"/>
                      <a:tailEnd type="none" w="med" len="med"/>
                    </a:lnR>
                    <a:lnB w="12700" cap="flat" cmpd="sng" algn="ctr">
                      <a:solidFill>
                        <a:schemeClr val="accent1">
                          <a:lumMod val="50000"/>
                        </a:schemeClr>
                      </a:solidFill>
                      <a:prstDash val="solid"/>
                      <a:round/>
                      <a:headEnd type="none" w="med" len="med"/>
                      <a:tailEnd type="none" w="med" len="med"/>
                    </a:lnB>
                    <a:solidFill>
                      <a:schemeClr val="accent1">
                        <a:lumMod val="50000"/>
                      </a:schemeClr>
                    </a:solidFill>
                  </a:tcPr>
                </a:tc>
                <a:tc>
                  <a:txBody>
                    <a:bodyPr/>
                    <a:lstStyle/>
                    <a:p>
                      <a:pPr algn="ctr"/>
                      <a:r>
                        <a:rPr lang="en-US" sz="2400" dirty="0"/>
                        <a:t>Beginning of Project</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B w="12700" cap="flat" cmpd="sng" algn="ctr">
                      <a:solidFill>
                        <a:schemeClr val="accent1">
                          <a:lumMod val="50000"/>
                        </a:schemeClr>
                      </a:solidFill>
                      <a:prstDash val="solid"/>
                      <a:round/>
                      <a:headEnd type="none" w="med" len="med"/>
                      <a:tailEnd type="none" w="med" len="med"/>
                    </a:lnB>
                    <a:solidFill>
                      <a:schemeClr val="accent1">
                        <a:lumMod val="50000"/>
                      </a:schemeClr>
                    </a:solidFill>
                  </a:tcPr>
                </a:tc>
                <a:tc>
                  <a:txBody>
                    <a:bodyPr/>
                    <a:lstStyle/>
                    <a:p>
                      <a:pPr algn="ctr"/>
                      <a:r>
                        <a:rPr lang="en-US" sz="2400" dirty="0"/>
                        <a:t>Over Time</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B w="12700" cap="flat" cmpd="sng" algn="ctr">
                      <a:solidFill>
                        <a:schemeClr val="accent1">
                          <a:lumMod val="50000"/>
                        </a:schemeClr>
                      </a:solidFill>
                      <a:prstDash val="solid"/>
                      <a:round/>
                      <a:headEnd type="none" w="med" len="med"/>
                      <a:tailEnd type="none" w="med" len="med"/>
                    </a:lnB>
                    <a:solidFill>
                      <a:schemeClr val="accent1">
                        <a:lumMod val="50000"/>
                      </a:schemeClr>
                    </a:solidFill>
                  </a:tcPr>
                </a:tc>
                <a:tc>
                  <a:txBody>
                    <a:bodyPr/>
                    <a:lstStyle/>
                    <a:p>
                      <a:pPr algn="ctr"/>
                      <a:r>
                        <a:rPr lang="en-US" sz="2400" dirty="0"/>
                        <a:t>End of </a:t>
                      </a:r>
                    </a:p>
                    <a:p>
                      <a:pPr algn="ctr"/>
                      <a:r>
                        <a:rPr lang="en-US" sz="2400" dirty="0"/>
                        <a:t>Project</a:t>
                      </a:r>
                    </a:p>
                  </a:txBody>
                  <a:tcPr anchor="ctr">
                    <a:lnL w="12700" cap="flat" cmpd="sng" algn="ctr">
                      <a:solidFill>
                        <a:schemeClr val="accent1">
                          <a:lumMod val="50000"/>
                        </a:schemeClr>
                      </a:solidFill>
                      <a:prstDash val="solid"/>
                      <a:round/>
                      <a:headEnd type="none" w="med" len="med"/>
                      <a:tailEnd type="none" w="med" len="med"/>
                    </a:lnL>
                    <a:lnB w="12700" cap="flat" cmpd="sng" algn="ctr">
                      <a:solidFill>
                        <a:schemeClr val="accent1">
                          <a:lumMod val="5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294257763"/>
                  </a:ext>
                </a:extLst>
              </a:tr>
              <a:tr h="1465792">
                <a:tc>
                  <a:txBody>
                    <a:bodyPr/>
                    <a:lstStyle/>
                    <a:p>
                      <a:pPr algn="ctr"/>
                      <a:r>
                        <a:rPr lang="en-US" sz="2800" dirty="0"/>
                        <a:t>Pros</a:t>
                      </a:r>
                    </a:p>
                  </a:txBody>
                  <a:tcPr anchor="ctr">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1">
                        <a:lumMod val="60000"/>
                        <a:lumOff val="40000"/>
                      </a:schemeClr>
                    </a:solidFill>
                  </a:tcPr>
                </a:tc>
                <a:tc>
                  <a:txBody>
                    <a:bodyPr/>
                    <a:lstStyle/>
                    <a:p>
                      <a:pPr marL="285750" indent="-285750" algn="l">
                        <a:buFont typeface="Arial" panose="020B0604020202020204" pitchFamily="34" charset="0"/>
                        <a:buChar char="•"/>
                      </a:pPr>
                      <a:r>
                        <a:rPr lang="en-US" sz="2000" dirty="0"/>
                        <a:t>Immediate Revenue</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2000" dirty="0"/>
                        <a:t>Timely</a:t>
                      </a:r>
                    </a:p>
                    <a:p>
                      <a:pPr marL="285750" indent="-285750">
                        <a:buFont typeface="Arial" panose="020B0604020202020204" pitchFamily="34" charset="0"/>
                        <a:buChar char="•"/>
                      </a:pPr>
                      <a:r>
                        <a:rPr lang="en-US" sz="2000" dirty="0"/>
                        <a:t>Matches revenue with work completed</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2000" dirty="0"/>
                        <a:t>Reliable (no estimates)</a:t>
                      </a:r>
                    </a:p>
                  </a:txBody>
                  <a:tcPr anchor="ctr">
                    <a:lnL w="12700" cap="flat" cmpd="sng" algn="ctr">
                      <a:solidFill>
                        <a:schemeClr val="accent1">
                          <a:lumMod val="50000"/>
                        </a:schemeClr>
                      </a:solidFill>
                      <a:prstDash val="solid"/>
                      <a:round/>
                      <a:headEnd type="none" w="med" len="med"/>
                      <a:tailEnd type="none" w="med" len="med"/>
                    </a:lnL>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extLst>
                  <a:ext uri="{0D108BD9-81ED-4DB2-BD59-A6C34878D82A}">
                    <a16:rowId xmlns:a16="http://schemas.microsoft.com/office/drawing/2014/main" val="1882102170"/>
                  </a:ext>
                </a:extLst>
              </a:tr>
              <a:tr h="1465792">
                <a:tc>
                  <a:txBody>
                    <a:bodyPr/>
                    <a:lstStyle/>
                    <a:p>
                      <a:pPr algn="ctr"/>
                      <a:r>
                        <a:rPr lang="en-US" sz="2800" dirty="0"/>
                        <a:t>Cons</a:t>
                      </a:r>
                    </a:p>
                  </a:txBody>
                  <a:tcPr anchor="ctr">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solidFill>
                      <a:schemeClr val="accent1">
                        <a:lumMod val="60000"/>
                        <a:lumOff val="40000"/>
                      </a:schemeClr>
                    </a:solidFill>
                  </a:tcPr>
                </a:tc>
                <a:tc>
                  <a:txBody>
                    <a:bodyPr/>
                    <a:lstStyle/>
                    <a:p>
                      <a:pPr marL="285750" indent="-285750" algn="l">
                        <a:buFont typeface="Arial" panose="020B0604020202020204" pitchFamily="34" charset="0"/>
                        <a:buChar char="•"/>
                      </a:pPr>
                      <a:r>
                        <a:rPr lang="en-US" sz="2000" dirty="0"/>
                        <a:t>Work is not complete</a:t>
                      </a:r>
                    </a:p>
                    <a:p>
                      <a:pPr marL="285750" indent="-285750" algn="l">
                        <a:buFont typeface="Arial" panose="020B0604020202020204" pitchFamily="34" charset="0"/>
                        <a:buChar char="•"/>
                      </a:pPr>
                      <a:r>
                        <a:rPr lang="en-US" sz="2000" dirty="0"/>
                        <a:t>Estimating profit</a:t>
                      </a:r>
                    </a:p>
                    <a:p>
                      <a:pPr marL="285750" indent="-285750" algn="l">
                        <a:buFont typeface="Arial" panose="020B0604020202020204" pitchFamily="34" charset="0"/>
                        <a:buChar char="•"/>
                      </a:pPr>
                      <a:r>
                        <a:rPr lang="en-US" sz="2000" dirty="0"/>
                        <a:t>Not GAAP</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tcPr>
                </a:tc>
                <a:tc>
                  <a:txBody>
                    <a:bodyPr/>
                    <a:lstStyle/>
                    <a:p>
                      <a:pPr marL="285750" indent="-285750">
                        <a:buFont typeface="Arial" panose="020B0604020202020204" pitchFamily="34" charset="0"/>
                        <a:buChar char="•"/>
                      </a:pPr>
                      <a:r>
                        <a:rPr lang="en-US" sz="2000" dirty="0"/>
                        <a:t>Requires estimates of remaining progress</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tcPr>
                </a:tc>
                <a:tc>
                  <a:txBody>
                    <a:bodyPr/>
                    <a:lstStyle/>
                    <a:p>
                      <a:pPr marL="285750" indent="-285750">
                        <a:buFont typeface="Arial" panose="020B0604020202020204" pitchFamily="34" charset="0"/>
                        <a:buChar char="•"/>
                      </a:pPr>
                      <a:r>
                        <a:rPr lang="en-US" sz="2000" dirty="0"/>
                        <a:t>Not timely</a:t>
                      </a:r>
                    </a:p>
                  </a:txBody>
                  <a:tcPr anchor="ctr">
                    <a:lnL w="12700" cap="flat" cmpd="sng" algn="ctr">
                      <a:solidFill>
                        <a:schemeClr val="accent1">
                          <a:lumMod val="50000"/>
                        </a:schemeClr>
                      </a:solidFill>
                      <a:prstDash val="solid"/>
                      <a:round/>
                      <a:headEnd type="none" w="med" len="med"/>
                      <a:tailEnd type="none" w="med" len="med"/>
                    </a:lnL>
                    <a:lnT w="12700" cap="flat" cmpd="sng" algn="ctr">
                      <a:solidFill>
                        <a:schemeClr val="accent1">
                          <a:lumMod val="50000"/>
                        </a:schemeClr>
                      </a:solidFill>
                      <a:prstDash val="solid"/>
                      <a:round/>
                      <a:headEnd type="none" w="med" len="med"/>
                      <a:tailEnd type="none" w="med" len="med"/>
                    </a:lnT>
                  </a:tcPr>
                </a:tc>
                <a:extLst>
                  <a:ext uri="{0D108BD9-81ED-4DB2-BD59-A6C34878D82A}">
                    <a16:rowId xmlns:a16="http://schemas.microsoft.com/office/drawing/2014/main" val="975444038"/>
                  </a:ext>
                </a:extLst>
              </a:tr>
            </a:tbl>
          </a:graphicData>
        </a:graphic>
      </p:graphicFrame>
      <p:sp>
        <p:nvSpPr>
          <p:cNvPr id="3" name="Rectangle 2">
            <a:extLst>
              <a:ext uri="{FF2B5EF4-FFF2-40B4-BE49-F238E27FC236}">
                <a16:creationId xmlns:a16="http://schemas.microsoft.com/office/drawing/2014/main" id="{5A782624-F717-446A-9DF9-BF8B933F5F0F}"/>
              </a:ext>
            </a:extLst>
          </p:cNvPr>
          <p:cNvSpPr/>
          <p:nvPr/>
        </p:nvSpPr>
        <p:spPr>
          <a:xfrm>
            <a:off x="2382633" y="3491120"/>
            <a:ext cx="2576520" cy="11014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4C607BC-EF5E-4C94-AB9C-6CB0683E788B}"/>
              </a:ext>
            </a:extLst>
          </p:cNvPr>
          <p:cNvSpPr/>
          <p:nvPr/>
        </p:nvSpPr>
        <p:spPr>
          <a:xfrm>
            <a:off x="2325049" y="4899753"/>
            <a:ext cx="2743200" cy="11014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6" name="Rectangle 5">
            <a:extLst>
              <a:ext uri="{FF2B5EF4-FFF2-40B4-BE49-F238E27FC236}">
                <a16:creationId xmlns:a16="http://schemas.microsoft.com/office/drawing/2014/main" id="{24910F4F-73F7-4105-A3FF-8CBA1C47374F}"/>
              </a:ext>
            </a:extLst>
          </p:cNvPr>
          <p:cNvSpPr/>
          <p:nvPr/>
        </p:nvSpPr>
        <p:spPr>
          <a:xfrm>
            <a:off x="5253616" y="3473594"/>
            <a:ext cx="2854754" cy="11014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4DE9757-EAEB-4C29-AA21-719063395B6F}"/>
              </a:ext>
            </a:extLst>
          </p:cNvPr>
          <p:cNvSpPr/>
          <p:nvPr/>
        </p:nvSpPr>
        <p:spPr>
          <a:xfrm>
            <a:off x="5309061" y="4981448"/>
            <a:ext cx="2833255" cy="11014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EB23473-E71C-4A8D-855B-5602AD7416B8}"/>
              </a:ext>
            </a:extLst>
          </p:cNvPr>
          <p:cNvSpPr/>
          <p:nvPr/>
        </p:nvSpPr>
        <p:spPr>
          <a:xfrm>
            <a:off x="8398623" y="3522103"/>
            <a:ext cx="2743200" cy="11014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AF2E162-2161-4380-B88D-770B0C7E6306}"/>
              </a:ext>
            </a:extLst>
          </p:cNvPr>
          <p:cNvSpPr/>
          <p:nvPr/>
        </p:nvSpPr>
        <p:spPr>
          <a:xfrm>
            <a:off x="8398623" y="4995303"/>
            <a:ext cx="2833255" cy="11014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26F99A3C-0378-47F0-A220-B1E8860485C2}"/>
                  </a:ext>
                </a:extLst>
              </p14:cNvPr>
              <p14:cNvContentPartPr/>
              <p14:nvPr/>
            </p14:nvContentPartPr>
            <p14:xfrm>
              <a:off x="3324033" y="-3908171"/>
              <a:ext cx="16200" cy="360"/>
            </p14:xfrm>
          </p:contentPart>
        </mc:Choice>
        <mc:Fallback xmlns="">
          <p:pic>
            <p:nvPicPr>
              <p:cNvPr id="10" name="Ink 9">
                <a:extLst>
                  <a:ext uri="{FF2B5EF4-FFF2-40B4-BE49-F238E27FC236}">
                    <a16:creationId xmlns:a16="http://schemas.microsoft.com/office/drawing/2014/main" id="{26F99A3C-0378-47F0-A220-B1E8860485C2}"/>
                  </a:ext>
                </a:extLst>
              </p:cNvPr>
              <p:cNvPicPr/>
              <p:nvPr/>
            </p:nvPicPr>
            <p:blipFill>
              <a:blip r:embed="rId3"/>
              <a:stretch>
                <a:fillRect/>
              </a:stretch>
            </p:blipFill>
            <p:spPr>
              <a:xfrm>
                <a:off x="3288393" y="-3943811"/>
                <a:ext cx="87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1" name="Ink 30">
                <a:extLst>
                  <a:ext uri="{FF2B5EF4-FFF2-40B4-BE49-F238E27FC236}">
                    <a16:creationId xmlns:a16="http://schemas.microsoft.com/office/drawing/2014/main" id="{2EEC2F52-F08D-4CCC-B303-D702E5321800}"/>
                  </a:ext>
                </a:extLst>
              </p14:cNvPr>
              <p14:cNvContentPartPr/>
              <p14:nvPr/>
            </p14:nvContentPartPr>
            <p14:xfrm>
              <a:off x="2382633" y="3546349"/>
              <a:ext cx="2715120" cy="2328840"/>
            </p14:xfrm>
          </p:contentPart>
        </mc:Choice>
        <mc:Fallback xmlns="">
          <p:pic>
            <p:nvPicPr>
              <p:cNvPr id="31" name="Ink 30">
                <a:extLst>
                  <a:ext uri="{FF2B5EF4-FFF2-40B4-BE49-F238E27FC236}">
                    <a16:creationId xmlns:a16="http://schemas.microsoft.com/office/drawing/2014/main" id="{2EEC2F52-F08D-4CCC-B303-D702E5321800}"/>
                  </a:ext>
                </a:extLst>
              </p:cNvPr>
              <p:cNvPicPr/>
              <p:nvPr/>
            </p:nvPicPr>
            <p:blipFill>
              <a:blip r:embed="rId5"/>
              <a:stretch>
                <a:fillRect/>
              </a:stretch>
            </p:blipFill>
            <p:spPr>
              <a:xfrm>
                <a:off x="2346633" y="3510349"/>
                <a:ext cx="2786760" cy="2400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4" name="Ink 33">
                <a:extLst>
                  <a:ext uri="{FF2B5EF4-FFF2-40B4-BE49-F238E27FC236}">
                    <a16:creationId xmlns:a16="http://schemas.microsoft.com/office/drawing/2014/main" id="{4EBF0049-A662-4E32-A7D4-583D1F098BDC}"/>
                  </a:ext>
                </a:extLst>
              </p14:cNvPr>
              <p14:cNvContentPartPr/>
              <p14:nvPr/>
            </p14:nvContentPartPr>
            <p14:xfrm>
              <a:off x="2970873" y="3629149"/>
              <a:ext cx="1988280" cy="2289240"/>
            </p14:xfrm>
          </p:contentPart>
        </mc:Choice>
        <mc:Fallback xmlns="">
          <p:pic>
            <p:nvPicPr>
              <p:cNvPr id="34" name="Ink 33">
                <a:extLst>
                  <a:ext uri="{FF2B5EF4-FFF2-40B4-BE49-F238E27FC236}">
                    <a16:creationId xmlns:a16="http://schemas.microsoft.com/office/drawing/2014/main" id="{4EBF0049-A662-4E32-A7D4-583D1F098BDC}"/>
                  </a:ext>
                </a:extLst>
              </p:cNvPr>
              <p:cNvPicPr/>
              <p:nvPr/>
            </p:nvPicPr>
            <p:blipFill>
              <a:blip r:embed="rId7"/>
              <a:stretch>
                <a:fillRect/>
              </a:stretch>
            </p:blipFill>
            <p:spPr>
              <a:xfrm>
                <a:off x="2935233" y="3593149"/>
                <a:ext cx="2059920" cy="2360880"/>
              </a:xfrm>
              <a:prstGeom prst="rect">
                <a:avLst/>
              </a:prstGeom>
            </p:spPr>
          </p:pic>
        </mc:Fallback>
      </mc:AlternateContent>
    </p:spTree>
    <p:extLst>
      <p:ext uri="{BB962C8B-B14F-4D97-AF65-F5344CB8AC3E}">
        <p14:creationId xmlns:p14="http://schemas.microsoft.com/office/powerpoint/2010/main" val="275067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643021" y="554138"/>
            <a:ext cx="10815406" cy="663373"/>
          </a:xfrm>
        </p:spPr>
        <p:txBody>
          <a:bodyPr>
            <a:normAutofit/>
          </a:bodyPr>
          <a:lstStyle/>
          <a:p>
            <a:r>
              <a:rPr lang="en-US" altLang="en-US" sz="2800" dirty="0"/>
              <a:t>Recognize revenue over time if </a:t>
            </a:r>
            <a:r>
              <a:rPr lang="en-US" altLang="en-US" sz="2800" u="sng" dirty="0"/>
              <a:t>one of the following</a:t>
            </a:r>
            <a:r>
              <a:rPr lang="en-US" altLang="en-US" sz="2800" dirty="0"/>
              <a:t>…</a:t>
            </a:r>
          </a:p>
        </p:txBody>
      </p:sp>
      <p:sp>
        <p:nvSpPr>
          <p:cNvPr id="3" name="Content Placeholder 2"/>
          <p:cNvSpPr>
            <a:spLocks noGrp="1"/>
          </p:cNvSpPr>
          <p:nvPr>
            <p:ph idx="1"/>
          </p:nvPr>
        </p:nvSpPr>
        <p:spPr>
          <a:xfrm>
            <a:off x="643021" y="1365452"/>
            <a:ext cx="10815406" cy="5182104"/>
          </a:xfrm>
        </p:spPr>
        <p:txBody>
          <a:bodyPr>
            <a:noAutofit/>
          </a:bodyPr>
          <a:lstStyle/>
          <a:p>
            <a:pPr marL="514350" indent="-457200">
              <a:lnSpc>
                <a:spcPct val="100000"/>
              </a:lnSpc>
              <a:spcBef>
                <a:spcPts val="600"/>
              </a:spcBef>
              <a:buFont typeface="+mj-lt"/>
              <a:buAutoNum type="arabicPeriod"/>
              <a:defRPr/>
            </a:pPr>
            <a:r>
              <a:rPr lang="en-US" dirty="0"/>
              <a:t>Customer </a:t>
            </a:r>
            <a:r>
              <a:rPr lang="en-US" dirty="0">
                <a:solidFill>
                  <a:srgbClr val="C00000"/>
                </a:solidFill>
              </a:rPr>
              <a:t>receives and consumes </a:t>
            </a:r>
            <a:r>
              <a:rPr lang="en-US" dirty="0"/>
              <a:t>the benefits as goods or services delivered </a:t>
            </a:r>
          </a:p>
          <a:p>
            <a:pPr marL="57150" indent="0">
              <a:lnSpc>
                <a:spcPct val="100000"/>
              </a:lnSpc>
              <a:spcBef>
                <a:spcPts val="0"/>
              </a:spcBef>
              <a:spcAft>
                <a:spcPts val="1800"/>
              </a:spcAft>
              <a:buNone/>
              <a:defRPr/>
            </a:pPr>
            <a:r>
              <a:rPr lang="en-US" dirty="0"/>
              <a:t>	</a:t>
            </a:r>
            <a:r>
              <a:rPr lang="en-US" sz="2400" i="1" dirty="0">
                <a:solidFill>
                  <a:schemeClr val="bg2">
                    <a:lumMod val="50000"/>
                  </a:schemeClr>
                </a:solidFill>
              </a:rPr>
              <a:t>Example: on-going service contract</a:t>
            </a:r>
            <a:endParaRPr lang="en-US" i="1" dirty="0">
              <a:solidFill>
                <a:schemeClr val="bg2">
                  <a:lumMod val="50000"/>
                </a:schemeClr>
              </a:solidFill>
            </a:endParaRPr>
          </a:p>
          <a:p>
            <a:pPr marL="571500" indent="-514350">
              <a:lnSpc>
                <a:spcPct val="100000"/>
              </a:lnSpc>
              <a:spcBef>
                <a:spcPts val="600"/>
              </a:spcBef>
              <a:buFont typeface="+mj-lt"/>
              <a:buAutoNum type="arabicPeriod" startAt="2"/>
              <a:defRPr/>
            </a:pPr>
            <a:r>
              <a:rPr lang="en-US" dirty="0"/>
              <a:t>As the asset is </a:t>
            </a:r>
            <a:r>
              <a:rPr lang="en-US" dirty="0">
                <a:solidFill>
                  <a:srgbClr val="C00000"/>
                </a:solidFill>
              </a:rPr>
              <a:t>created/enhanced</a:t>
            </a:r>
            <a:r>
              <a:rPr lang="en-US" dirty="0"/>
              <a:t>,</a:t>
            </a:r>
            <a:r>
              <a:rPr lang="en-US" dirty="0">
                <a:solidFill>
                  <a:srgbClr val="C00000"/>
                </a:solidFill>
              </a:rPr>
              <a:t> </a:t>
            </a:r>
            <a:r>
              <a:rPr lang="en-US" dirty="0"/>
              <a:t>control is with customer </a:t>
            </a:r>
          </a:p>
          <a:p>
            <a:pPr marL="57150" indent="0">
              <a:lnSpc>
                <a:spcPct val="100000"/>
              </a:lnSpc>
              <a:spcBef>
                <a:spcPts val="0"/>
              </a:spcBef>
              <a:spcAft>
                <a:spcPts val="1800"/>
              </a:spcAft>
              <a:buNone/>
              <a:defRPr/>
            </a:pPr>
            <a:r>
              <a:rPr lang="en-US" dirty="0"/>
              <a:t>	</a:t>
            </a:r>
            <a:r>
              <a:rPr lang="en-US" sz="2400" i="1" dirty="0">
                <a:solidFill>
                  <a:schemeClr val="bg2">
                    <a:lumMod val="50000"/>
                  </a:schemeClr>
                </a:solidFill>
              </a:rPr>
              <a:t>Example: customer owns machine being built even if not completed</a:t>
            </a:r>
            <a:endParaRPr lang="en-US" sz="2400" dirty="0">
              <a:solidFill>
                <a:schemeClr val="bg2">
                  <a:lumMod val="50000"/>
                </a:schemeClr>
              </a:solidFill>
            </a:endParaRPr>
          </a:p>
          <a:p>
            <a:pPr marL="571500" indent="-514350">
              <a:lnSpc>
                <a:spcPct val="100000"/>
              </a:lnSpc>
              <a:spcBef>
                <a:spcPts val="600"/>
              </a:spcBef>
              <a:buFont typeface="+mj-lt"/>
              <a:buAutoNum type="arabicPeriod" startAt="3"/>
              <a:defRPr/>
            </a:pPr>
            <a:r>
              <a:rPr lang="en-US" dirty="0"/>
              <a:t>Performance </a:t>
            </a:r>
            <a:r>
              <a:rPr lang="en-US" dirty="0">
                <a:solidFill>
                  <a:srgbClr val="C00000"/>
                </a:solidFill>
              </a:rPr>
              <a:t>does not create </a:t>
            </a:r>
            <a:r>
              <a:rPr lang="en-US" dirty="0"/>
              <a:t>an asset with an alternative use to the seller </a:t>
            </a:r>
            <a:r>
              <a:rPr lang="en-US" i="1" dirty="0"/>
              <a:t>and</a:t>
            </a:r>
            <a:r>
              <a:rPr lang="en-US" dirty="0"/>
              <a:t> seller has a right to payment for work to date</a:t>
            </a:r>
          </a:p>
          <a:p>
            <a:pPr marL="57150" indent="0">
              <a:lnSpc>
                <a:spcPct val="100000"/>
              </a:lnSpc>
              <a:spcBef>
                <a:spcPts val="0"/>
              </a:spcBef>
              <a:spcAft>
                <a:spcPts val="1800"/>
              </a:spcAft>
              <a:buNone/>
              <a:tabLst>
                <a:tab pos="914400" algn="l"/>
                <a:tab pos="2292350" algn="l"/>
              </a:tabLst>
              <a:defRPr/>
            </a:pPr>
            <a:r>
              <a:rPr lang="en-US" dirty="0"/>
              <a:t>	</a:t>
            </a:r>
            <a:r>
              <a:rPr lang="en-US" sz="2400" i="1" dirty="0">
                <a:solidFill>
                  <a:schemeClr val="bg2">
                    <a:lumMod val="50000"/>
                  </a:schemeClr>
                </a:solidFill>
              </a:rPr>
              <a:t>Example: seller creates customized machine and is entitled to payment 		of cost plus profit if order cancelled</a:t>
            </a:r>
            <a:r>
              <a:rPr lang="en-US" sz="2400" dirty="0">
                <a:solidFill>
                  <a:schemeClr val="bg2">
                    <a:lumMod val="50000"/>
                  </a:schemeClr>
                </a:solidFill>
              </a:rPr>
              <a:t> </a:t>
            </a:r>
            <a:endParaRPr lang="en-US" dirty="0">
              <a:solidFill>
                <a:schemeClr val="bg2">
                  <a:lumMod val="50000"/>
                </a:schemeClr>
              </a:solidFill>
            </a:endParaRPr>
          </a:p>
        </p:txBody>
      </p:sp>
    </p:spTree>
    <p:extLst>
      <p:ext uri="{BB962C8B-B14F-4D97-AF65-F5344CB8AC3E}">
        <p14:creationId xmlns:p14="http://schemas.microsoft.com/office/powerpoint/2010/main" val="181563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EBD97-BF72-4DF7-9F32-9729F811B80C}"/>
              </a:ext>
            </a:extLst>
          </p:cNvPr>
          <p:cNvSpPr>
            <a:spLocks noGrp="1"/>
          </p:cNvSpPr>
          <p:nvPr>
            <p:ph type="title"/>
          </p:nvPr>
        </p:nvSpPr>
        <p:spPr>
          <a:xfrm>
            <a:off x="838199" y="178507"/>
            <a:ext cx="10674927" cy="1325563"/>
          </a:xfrm>
        </p:spPr>
        <p:txBody>
          <a:bodyPr/>
          <a:lstStyle/>
          <a:p>
            <a:r>
              <a:rPr lang="en-US" sz="3600" dirty="0"/>
              <a:t>How to measure progress to completion?</a:t>
            </a:r>
            <a:endParaRPr lang="en-US" dirty="0"/>
          </a:p>
        </p:txBody>
      </p:sp>
      <p:sp>
        <p:nvSpPr>
          <p:cNvPr id="3" name="Content Placeholder 2">
            <a:extLst>
              <a:ext uri="{FF2B5EF4-FFF2-40B4-BE49-F238E27FC236}">
                <a16:creationId xmlns:a16="http://schemas.microsoft.com/office/drawing/2014/main" id="{C76E89C2-6047-4308-BFE3-3180FA0C3F1D}"/>
              </a:ext>
            </a:extLst>
          </p:cNvPr>
          <p:cNvSpPr>
            <a:spLocks noGrp="1"/>
          </p:cNvSpPr>
          <p:nvPr>
            <p:ph idx="1"/>
          </p:nvPr>
        </p:nvSpPr>
        <p:spPr>
          <a:xfrm>
            <a:off x="838199" y="1325894"/>
            <a:ext cx="10515600" cy="3957337"/>
          </a:xfrm>
        </p:spPr>
        <p:txBody>
          <a:bodyPr/>
          <a:lstStyle/>
          <a:p>
            <a:pPr marL="0" indent="0">
              <a:buNone/>
            </a:pPr>
            <a:r>
              <a:rPr lang="en-US" u="sng" dirty="0"/>
              <a:t>Popular approach: </a:t>
            </a:r>
            <a:r>
              <a:rPr lang="en-US" b="1" u="sng" dirty="0"/>
              <a:t>Cost-to-cost</a:t>
            </a:r>
            <a:r>
              <a:rPr lang="en-US" u="sng" dirty="0"/>
              <a:t> method (aka Percent Complete)</a:t>
            </a:r>
          </a:p>
        </p:txBody>
      </p:sp>
      <p:sp>
        <p:nvSpPr>
          <p:cNvPr id="15" name="TextBox 14">
            <a:extLst>
              <a:ext uri="{FF2B5EF4-FFF2-40B4-BE49-F238E27FC236}">
                <a16:creationId xmlns:a16="http://schemas.microsoft.com/office/drawing/2014/main" id="{2C4C8216-77D2-4244-974B-43B234EB3F2B}"/>
              </a:ext>
            </a:extLst>
          </p:cNvPr>
          <p:cNvSpPr txBox="1"/>
          <p:nvPr/>
        </p:nvSpPr>
        <p:spPr>
          <a:xfrm>
            <a:off x="959776" y="2184310"/>
            <a:ext cx="3878924" cy="369332"/>
          </a:xfrm>
          <a:prstGeom prst="rect">
            <a:avLst/>
          </a:prstGeom>
          <a:noFill/>
        </p:spPr>
        <p:txBody>
          <a:bodyPr wrap="square" lIns="0" tIns="0" rIns="0" bIns="0" rtlCol="0">
            <a:spAutoFit/>
          </a:bodyPr>
          <a:lstStyle/>
          <a:p>
            <a:r>
              <a:rPr lang="en-US" sz="2400" b="1" dirty="0">
                <a:solidFill>
                  <a:srgbClr val="CFB87C"/>
                </a:solidFill>
                <a:latin typeface="Roboto Condensed"/>
              </a:rPr>
              <a:t> % complete</a:t>
            </a:r>
            <a:r>
              <a:rPr lang="en-US" sz="2400" dirty="0">
                <a:solidFill>
                  <a:srgbClr val="CFB87C"/>
                </a:solidFill>
                <a:latin typeface="Roboto Condensed"/>
              </a:rPr>
              <a:t>   	</a:t>
            </a:r>
            <a:r>
              <a:rPr lang="en-US" sz="2400" dirty="0">
                <a:solidFill>
                  <a:prstClr val="black"/>
                </a:solidFill>
                <a:latin typeface="Roboto Condensed"/>
              </a:rPr>
              <a:t> 	</a:t>
            </a:r>
            <a:r>
              <a:rPr lang="en-US" sz="2400" b="1" dirty="0">
                <a:solidFill>
                  <a:prstClr val="black"/>
                </a:solidFill>
                <a:latin typeface="Roboto Condensed"/>
              </a:rPr>
              <a:t>=</a:t>
            </a:r>
          </a:p>
        </p:txBody>
      </p:sp>
      <p:sp>
        <p:nvSpPr>
          <p:cNvPr id="16" name="TextBox 15">
            <a:extLst>
              <a:ext uri="{FF2B5EF4-FFF2-40B4-BE49-F238E27FC236}">
                <a16:creationId xmlns:a16="http://schemas.microsoft.com/office/drawing/2014/main" id="{BE56C856-41E3-4B8C-9686-8F2A69F276AA}"/>
              </a:ext>
            </a:extLst>
          </p:cNvPr>
          <p:cNvSpPr txBox="1"/>
          <p:nvPr/>
        </p:nvSpPr>
        <p:spPr>
          <a:xfrm>
            <a:off x="952500" y="3278084"/>
            <a:ext cx="2925481" cy="369332"/>
          </a:xfrm>
          <a:prstGeom prst="rect">
            <a:avLst/>
          </a:prstGeom>
          <a:noFill/>
        </p:spPr>
        <p:txBody>
          <a:bodyPr wrap="none" lIns="0" tIns="0" rIns="0" bIns="0" rtlCol="0">
            <a:spAutoFit/>
          </a:bodyPr>
          <a:lstStyle/>
          <a:p>
            <a:r>
              <a:rPr lang="en-US" sz="2400" b="1" dirty="0">
                <a:solidFill>
                  <a:srgbClr val="0377BD"/>
                </a:solidFill>
                <a:latin typeface="Roboto Condensed"/>
              </a:rPr>
              <a:t>Total revenue</a:t>
            </a:r>
            <a:r>
              <a:rPr lang="en-US" sz="2400" b="1" dirty="0">
                <a:solidFill>
                  <a:prstClr val="black"/>
                </a:solidFill>
                <a:latin typeface="Roboto Condensed"/>
              </a:rPr>
              <a:t>		=</a:t>
            </a:r>
          </a:p>
        </p:txBody>
      </p:sp>
      <p:sp>
        <p:nvSpPr>
          <p:cNvPr id="17" name="TextBox 16">
            <a:extLst>
              <a:ext uri="{FF2B5EF4-FFF2-40B4-BE49-F238E27FC236}">
                <a16:creationId xmlns:a16="http://schemas.microsoft.com/office/drawing/2014/main" id="{E8C73FC0-ADCB-45EB-9D57-686F34FECC28}"/>
              </a:ext>
            </a:extLst>
          </p:cNvPr>
          <p:cNvSpPr txBox="1"/>
          <p:nvPr/>
        </p:nvSpPr>
        <p:spPr>
          <a:xfrm>
            <a:off x="962157" y="4331038"/>
            <a:ext cx="7551190" cy="369332"/>
          </a:xfrm>
          <a:prstGeom prst="rect">
            <a:avLst/>
          </a:prstGeom>
          <a:noFill/>
        </p:spPr>
        <p:txBody>
          <a:bodyPr wrap="square" lIns="0" tIns="0" rIns="0" bIns="0" rtlCol="0">
            <a:spAutoFit/>
          </a:bodyPr>
          <a:lstStyle/>
          <a:p>
            <a:r>
              <a:rPr lang="en-US" sz="2400" b="1" dirty="0">
                <a:solidFill>
                  <a:srgbClr val="565A5C"/>
                </a:solidFill>
                <a:latin typeface="Roboto Condensed"/>
              </a:rPr>
              <a:t>Current Revenue </a:t>
            </a:r>
            <a:r>
              <a:rPr lang="en-US" sz="2400" b="1" dirty="0">
                <a:solidFill>
                  <a:prstClr val="black"/>
                </a:solidFill>
                <a:latin typeface="Roboto Condensed"/>
              </a:rPr>
              <a:t>	=</a:t>
            </a:r>
          </a:p>
        </p:txBody>
      </p:sp>
      <p:cxnSp>
        <p:nvCxnSpPr>
          <p:cNvPr id="18" name="Straight Arrow Connector 17">
            <a:extLst>
              <a:ext uri="{FF2B5EF4-FFF2-40B4-BE49-F238E27FC236}">
                <a16:creationId xmlns:a16="http://schemas.microsoft.com/office/drawing/2014/main" id="{20A21F7F-2D52-43C6-9968-BB45E3F57FFA}"/>
              </a:ext>
            </a:extLst>
          </p:cNvPr>
          <p:cNvCxnSpPr>
            <a:cxnSpLocks/>
          </p:cNvCxnSpPr>
          <p:nvPr/>
        </p:nvCxnSpPr>
        <p:spPr bwMode="auto">
          <a:xfrm>
            <a:off x="3314700" y="2622318"/>
            <a:ext cx="1600200" cy="620486"/>
          </a:xfrm>
          <a:prstGeom prst="straightConnector1">
            <a:avLst/>
          </a:prstGeom>
          <a:noFill/>
          <a:ln w="19050" cap="flat" cmpd="sng" algn="ctr">
            <a:solidFill>
              <a:srgbClr val="CFB87C"/>
            </a:solidFill>
            <a:prstDash val="lgDash"/>
            <a:miter lim="800000"/>
            <a:headEnd type="none" w="med" len="med"/>
            <a:tailEnd type="triangle" w="lg" len="lg"/>
          </a:ln>
          <a:effectLst/>
        </p:spPr>
      </p:cxnSp>
      <p:cxnSp>
        <p:nvCxnSpPr>
          <p:cNvPr id="19" name="Straight Arrow Connector 18">
            <a:extLst>
              <a:ext uri="{FF2B5EF4-FFF2-40B4-BE49-F238E27FC236}">
                <a16:creationId xmlns:a16="http://schemas.microsoft.com/office/drawing/2014/main" id="{05E893D6-0563-45C7-AECB-670D48C1AE0F}"/>
              </a:ext>
            </a:extLst>
          </p:cNvPr>
          <p:cNvCxnSpPr>
            <a:cxnSpLocks/>
          </p:cNvCxnSpPr>
          <p:nvPr/>
        </p:nvCxnSpPr>
        <p:spPr bwMode="auto">
          <a:xfrm>
            <a:off x="3314700" y="3705996"/>
            <a:ext cx="1600200" cy="551019"/>
          </a:xfrm>
          <a:prstGeom prst="straightConnector1">
            <a:avLst/>
          </a:prstGeom>
          <a:noFill/>
          <a:ln w="19050" cap="flat" cmpd="sng" algn="ctr">
            <a:solidFill>
              <a:srgbClr val="0377BD"/>
            </a:solidFill>
            <a:prstDash val="lgDash"/>
            <a:miter lim="800000"/>
            <a:headEnd type="none" w="med" len="med"/>
            <a:tailEnd type="triangle" w="lg" len="lg"/>
          </a:ln>
          <a:effectLst/>
        </p:spPr>
      </p:cxnSp>
      <p:cxnSp>
        <p:nvCxnSpPr>
          <p:cNvPr id="20" name="Straight Connector 19">
            <a:extLst>
              <a:ext uri="{FF2B5EF4-FFF2-40B4-BE49-F238E27FC236}">
                <a16:creationId xmlns:a16="http://schemas.microsoft.com/office/drawing/2014/main" id="{598D8A20-7C57-41B7-96CA-BCC1B1C1604D}"/>
              </a:ext>
            </a:extLst>
          </p:cNvPr>
          <p:cNvCxnSpPr>
            <a:cxnSpLocks/>
          </p:cNvCxnSpPr>
          <p:nvPr/>
        </p:nvCxnSpPr>
        <p:spPr bwMode="auto">
          <a:xfrm>
            <a:off x="959776" y="2622318"/>
            <a:ext cx="3297140" cy="0"/>
          </a:xfrm>
          <a:prstGeom prst="line">
            <a:avLst/>
          </a:prstGeom>
          <a:noFill/>
          <a:ln w="19050" cap="flat" cmpd="sng" algn="ctr">
            <a:solidFill>
              <a:srgbClr val="CFB87C"/>
            </a:solidFill>
            <a:prstDash val="lgDash"/>
            <a:miter lim="800000"/>
            <a:headEnd type="none" w="med" len="med"/>
            <a:tailEnd type="none" w="lg" len="lg"/>
          </a:ln>
          <a:effectLst/>
        </p:spPr>
      </p:cxnSp>
      <p:cxnSp>
        <p:nvCxnSpPr>
          <p:cNvPr id="21" name="Straight Connector 20">
            <a:extLst>
              <a:ext uri="{FF2B5EF4-FFF2-40B4-BE49-F238E27FC236}">
                <a16:creationId xmlns:a16="http://schemas.microsoft.com/office/drawing/2014/main" id="{F1CEA193-7E3B-4BCA-BB65-119AD826AB2A}"/>
              </a:ext>
            </a:extLst>
          </p:cNvPr>
          <p:cNvCxnSpPr>
            <a:cxnSpLocks/>
          </p:cNvCxnSpPr>
          <p:nvPr/>
        </p:nvCxnSpPr>
        <p:spPr bwMode="auto">
          <a:xfrm>
            <a:off x="959777" y="3690796"/>
            <a:ext cx="3297139" cy="0"/>
          </a:xfrm>
          <a:prstGeom prst="line">
            <a:avLst/>
          </a:prstGeom>
          <a:noFill/>
          <a:ln w="19050" cap="flat" cmpd="sng" algn="ctr">
            <a:solidFill>
              <a:srgbClr val="0377BD"/>
            </a:solidFill>
            <a:prstDash val="lgDash"/>
            <a:miter lim="800000"/>
            <a:headEnd type="none" w="med" len="med"/>
            <a:tailEnd type="none" w="med" len="med"/>
          </a:ln>
          <a:effectLst/>
        </p:spPr>
      </p:cxnSp>
      <p:sp>
        <p:nvSpPr>
          <p:cNvPr id="22" name="Rectangle 21">
            <a:extLst>
              <a:ext uri="{FF2B5EF4-FFF2-40B4-BE49-F238E27FC236}">
                <a16:creationId xmlns:a16="http://schemas.microsoft.com/office/drawing/2014/main" id="{92E868AC-A6E0-4F27-836B-34BC2909988C}"/>
              </a:ext>
            </a:extLst>
          </p:cNvPr>
          <p:cNvSpPr/>
          <p:nvPr/>
        </p:nvSpPr>
        <p:spPr>
          <a:xfrm>
            <a:off x="4881254" y="1930021"/>
            <a:ext cx="4791697" cy="830997"/>
          </a:xfrm>
          <a:prstGeom prst="rect">
            <a:avLst/>
          </a:prstGeom>
        </p:spPr>
        <p:txBody>
          <a:bodyPr wrap="none">
            <a:spAutoFit/>
          </a:bodyPr>
          <a:lstStyle/>
          <a:p>
            <a:pPr algn="ctr"/>
            <a:r>
              <a:rPr lang="en-US" sz="2400" b="1" dirty="0">
                <a:solidFill>
                  <a:prstClr val="black"/>
                </a:solidFill>
                <a:latin typeface="Roboto Condensed"/>
              </a:rPr>
              <a:t>Actual costs incurred to date (so far)</a:t>
            </a:r>
          </a:p>
          <a:p>
            <a:pPr algn="ctr"/>
            <a:r>
              <a:rPr lang="en-US" sz="2400" b="1" dirty="0">
                <a:solidFill>
                  <a:prstClr val="black"/>
                </a:solidFill>
                <a:latin typeface="Roboto Condensed"/>
              </a:rPr>
              <a:t>Most recent estimate of TOTAL costs</a:t>
            </a:r>
            <a:endParaRPr lang="en-US" sz="2400" dirty="0">
              <a:solidFill>
                <a:prstClr val="black"/>
              </a:solidFill>
              <a:latin typeface="Roboto Condensed"/>
            </a:endParaRPr>
          </a:p>
        </p:txBody>
      </p:sp>
      <p:cxnSp>
        <p:nvCxnSpPr>
          <p:cNvPr id="23" name="Straight Connector 22">
            <a:extLst>
              <a:ext uri="{FF2B5EF4-FFF2-40B4-BE49-F238E27FC236}">
                <a16:creationId xmlns:a16="http://schemas.microsoft.com/office/drawing/2014/main" id="{7008D73B-A34A-46C3-A511-653CC8DD6184}"/>
              </a:ext>
            </a:extLst>
          </p:cNvPr>
          <p:cNvCxnSpPr>
            <a:cxnSpLocks/>
            <a:endCxn id="22" idx="3"/>
          </p:cNvCxnSpPr>
          <p:nvPr/>
        </p:nvCxnSpPr>
        <p:spPr bwMode="auto">
          <a:xfrm>
            <a:off x="5024722" y="2345519"/>
            <a:ext cx="4648229" cy="1"/>
          </a:xfrm>
          <a:prstGeom prst="line">
            <a:avLst/>
          </a:prstGeom>
          <a:noFill/>
          <a:ln w="28575" cap="flat" cmpd="sng" algn="ctr">
            <a:solidFill>
              <a:sysClr val="windowText" lastClr="000000"/>
            </a:solidFill>
            <a:prstDash val="solid"/>
            <a:miter lim="800000"/>
            <a:headEnd type="none" w="med" len="med"/>
            <a:tailEnd type="none" w="med" len="med"/>
          </a:ln>
          <a:effectLst/>
        </p:spPr>
      </p:cxnSp>
      <p:sp>
        <p:nvSpPr>
          <p:cNvPr id="24" name="Rectangle 23">
            <a:extLst>
              <a:ext uri="{FF2B5EF4-FFF2-40B4-BE49-F238E27FC236}">
                <a16:creationId xmlns:a16="http://schemas.microsoft.com/office/drawing/2014/main" id="{B33FF822-F195-487D-9C4A-1F23C5F88E84}"/>
              </a:ext>
            </a:extLst>
          </p:cNvPr>
          <p:cNvSpPr/>
          <p:nvPr/>
        </p:nvSpPr>
        <p:spPr>
          <a:xfrm>
            <a:off x="4914900" y="3215587"/>
            <a:ext cx="4567276" cy="461665"/>
          </a:xfrm>
          <a:prstGeom prst="rect">
            <a:avLst/>
          </a:prstGeom>
        </p:spPr>
        <p:txBody>
          <a:bodyPr wrap="none">
            <a:spAutoFit/>
          </a:bodyPr>
          <a:lstStyle/>
          <a:p>
            <a:r>
              <a:rPr lang="en-US" sz="2400" b="1" dirty="0">
                <a:solidFill>
                  <a:srgbClr val="CFB87C"/>
                </a:solidFill>
                <a:latin typeface="Roboto Condensed"/>
              </a:rPr>
              <a:t>% complete        </a:t>
            </a:r>
            <a:r>
              <a:rPr lang="en-US" sz="2400" b="1" dirty="0">
                <a:solidFill>
                  <a:prstClr val="black"/>
                </a:solidFill>
                <a:latin typeface="Roboto Condensed"/>
              </a:rPr>
              <a:t>×      Contract Price</a:t>
            </a:r>
          </a:p>
        </p:txBody>
      </p:sp>
      <p:sp>
        <p:nvSpPr>
          <p:cNvPr id="25" name="TextBox 24">
            <a:extLst>
              <a:ext uri="{FF2B5EF4-FFF2-40B4-BE49-F238E27FC236}">
                <a16:creationId xmlns:a16="http://schemas.microsoft.com/office/drawing/2014/main" id="{4C254685-FA79-42A0-9B41-B5D4BFC5EB63}"/>
              </a:ext>
            </a:extLst>
          </p:cNvPr>
          <p:cNvSpPr txBox="1"/>
          <p:nvPr/>
        </p:nvSpPr>
        <p:spPr>
          <a:xfrm>
            <a:off x="7391401" y="4257015"/>
            <a:ext cx="4349571" cy="461665"/>
          </a:xfrm>
          <a:prstGeom prst="rect">
            <a:avLst/>
          </a:prstGeom>
          <a:noFill/>
        </p:spPr>
        <p:txBody>
          <a:bodyPr wrap="square">
            <a:spAutoFit/>
          </a:bodyPr>
          <a:lstStyle/>
          <a:p>
            <a:pPr algn="ctr"/>
            <a:r>
              <a:rPr lang="en-US" sz="2400" b="1" dirty="0">
                <a:solidFill>
                  <a:prstClr val="black"/>
                </a:solidFill>
                <a:latin typeface="Roboto Condensed"/>
              </a:rPr>
              <a:t>Prior Revenue already recognized </a:t>
            </a:r>
          </a:p>
        </p:txBody>
      </p:sp>
      <p:sp>
        <p:nvSpPr>
          <p:cNvPr id="27" name="Rectangle 26">
            <a:extLst>
              <a:ext uri="{FF2B5EF4-FFF2-40B4-BE49-F238E27FC236}">
                <a16:creationId xmlns:a16="http://schemas.microsoft.com/office/drawing/2014/main" id="{77D1DBB5-6476-4058-9332-9E5507D19AED}"/>
              </a:ext>
            </a:extLst>
          </p:cNvPr>
          <p:cNvSpPr/>
          <p:nvPr/>
        </p:nvSpPr>
        <p:spPr>
          <a:xfrm>
            <a:off x="4894118" y="4277797"/>
            <a:ext cx="6846854" cy="461665"/>
          </a:xfrm>
          <a:prstGeom prst="rect">
            <a:avLst/>
          </a:prstGeom>
        </p:spPr>
        <p:txBody>
          <a:bodyPr wrap="square">
            <a:spAutoFit/>
          </a:bodyPr>
          <a:lstStyle/>
          <a:p>
            <a:r>
              <a:rPr lang="en-US" sz="2400" b="1" dirty="0">
                <a:solidFill>
                  <a:srgbClr val="0377BD"/>
                </a:solidFill>
                <a:latin typeface="Roboto Condensed"/>
              </a:rPr>
              <a:t>Total revenue    </a:t>
            </a:r>
            <a:r>
              <a:rPr lang="en-US" sz="2400" b="1" dirty="0">
                <a:solidFill>
                  <a:prstClr val="black"/>
                </a:solidFill>
                <a:latin typeface="Roboto Condensed"/>
              </a:rPr>
              <a:t>– </a:t>
            </a:r>
          </a:p>
        </p:txBody>
      </p:sp>
      <p:sp>
        <p:nvSpPr>
          <p:cNvPr id="4" name="TextBox 3">
            <a:extLst>
              <a:ext uri="{FF2B5EF4-FFF2-40B4-BE49-F238E27FC236}">
                <a16:creationId xmlns:a16="http://schemas.microsoft.com/office/drawing/2014/main" id="{1AE936CF-2B8B-DB46-5A2E-5CD3ABEF32AF}"/>
              </a:ext>
            </a:extLst>
          </p:cNvPr>
          <p:cNvSpPr txBox="1"/>
          <p:nvPr/>
        </p:nvSpPr>
        <p:spPr>
          <a:xfrm>
            <a:off x="952500" y="5449181"/>
            <a:ext cx="9029060" cy="369332"/>
          </a:xfrm>
          <a:prstGeom prst="rect">
            <a:avLst/>
          </a:prstGeom>
          <a:noFill/>
        </p:spPr>
        <p:txBody>
          <a:bodyPr wrap="square" lIns="0" tIns="0" rIns="0" bIns="0" rtlCol="0">
            <a:spAutoFit/>
          </a:bodyPr>
          <a:lstStyle/>
          <a:p>
            <a:r>
              <a:rPr lang="en-US" sz="2400" b="1" dirty="0">
                <a:solidFill>
                  <a:schemeClr val="accent2"/>
                </a:solidFill>
                <a:latin typeface="Roboto Condensed"/>
              </a:rPr>
              <a:t>Gross Profit</a:t>
            </a:r>
            <a:r>
              <a:rPr lang="en-US" sz="2400" b="1" dirty="0">
                <a:solidFill>
                  <a:prstClr val="black"/>
                </a:solidFill>
                <a:latin typeface="Roboto Condensed"/>
              </a:rPr>
              <a:t>		=   	     </a:t>
            </a:r>
            <a:r>
              <a:rPr lang="en-US" sz="2400" b="1" dirty="0">
                <a:solidFill>
                  <a:srgbClr val="565A5C"/>
                </a:solidFill>
                <a:latin typeface="Roboto Condensed"/>
              </a:rPr>
              <a:t>Current Revenue  </a:t>
            </a:r>
            <a:r>
              <a:rPr lang="en-US" sz="2400" b="1" dirty="0">
                <a:solidFill>
                  <a:prstClr val="black"/>
                </a:solidFill>
                <a:latin typeface="Roboto Condensed"/>
              </a:rPr>
              <a:t>–   Current Costs</a:t>
            </a:r>
          </a:p>
        </p:txBody>
      </p:sp>
      <p:cxnSp>
        <p:nvCxnSpPr>
          <p:cNvPr id="5" name="Straight Arrow Connector 4">
            <a:extLst>
              <a:ext uri="{FF2B5EF4-FFF2-40B4-BE49-F238E27FC236}">
                <a16:creationId xmlns:a16="http://schemas.microsoft.com/office/drawing/2014/main" id="{52A7F9F3-7679-35A9-0F8B-EE56A64ADDFA}"/>
              </a:ext>
            </a:extLst>
          </p:cNvPr>
          <p:cNvCxnSpPr>
            <a:cxnSpLocks/>
          </p:cNvCxnSpPr>
          <p:nvPr/>
        </p:nvCxnSpPr>
        <p:spPr bwMode="auto">
          <a:xfrm>
            <a:off x="3238500" y="4790162"/>
            <a:ext cx="1600200" cy="551019"/>
          </a:xfrm>
          <a:prstGeom prst="straightConnector1">
            <a:avLst/>
          </a:prstGeom>
          <a:ln>
            <a:headEnd type="none" w="med" len="med"/>
            <a:tailEnd type="triangle" w="lg" len="lg"/>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163B154C-63CC-BC89-31AF-A74B48E12F1E}"/>
              </a:ext>
            </a:extLst>
          </p:cNvPr>
          <p:cNvCxnSpPr>
            <a:cxnSpLocks/>
          </p:cNvCxnSpPr>
          <p:nvPr/>
        </p:nvCxnSpPr>
        <p:spPr bwMode="auto">
          <a:xfrm>
            <a:off x="883577" y="4774962"/>
            <a:ext cx="3297139" cy="0"/>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7" name="Rectangle 6">
            <a:extLst>
              <a:ext uri="{FF2B5EF4-FFF2-40B4-BE49-F238E27FC236}">
                <a16:creationId xmlns:a16="http://schemas.microsoft.com/office/drawing/2014/main" id="{4701A4B7-E634-689F-6ECF-DE84706C5382}"/>
              </a:ext>
            </a:extLst>
          </p:cNvPr>
          <p:cNvSpPr/>
          <p:nvPr/>
        </p:nvSpPr>
        <p:spPr>
          <a:xfrm>
            <a:off x="7438145" y="5379432"/>
            <a:ext cx="1844168" cy="490883"/>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338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fade">
                                      <p:cBhvr>
                                        <p:cTn id="5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2" grpId="0"/>
      <p:bldP spid="24" grpId="0"/>
      <p:bldP spid="25" grpId="0"/>
      <p:bldP spid="27" grpId="0"/>
      <p:bldP spid="4" grpId="0"/>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331601"/>
            <a:ext cx="10737274" cy="4923725"/>
          </a:xfrm>
        </p:spPr>
        <p:txBody>
          <a:bodyPr>
            <a:normAutofit/>
          </a:bodyPr>
          <a:lstStyle/>
          <a:p>
            <a:pPr marL="0" indent="0">
              <a:lnSpc>
                <a:spcPct val="110000"/>
              </a:lnSpc>
              <a:spcBef>
                <a:spcPts val="1200"/>
              </a:spcBef>
              <a:buNone/>
            </a:pPr>
            <a:r>
              <a:rPr lang="en-US" b="1" u="sng" dirty="0"/>
              <a:t>Example</a:t>
            </a:r>
          </a:p>
          <a:p>
            <a:pPr marL="0" indent="0">
              <a:lnSpc>
                <a:spcPct val="110000"/>
              </a:lnSpc>
              <a:spcBef>
                <a:spcPts val="1200"/>
              </a:spcBef>
              <a:buNone/>
            </a:pPr>
            <a:r>
              <a:rPr lang="en-US" sz="2600" b="1" dirty="0"/>
              <a:t>In Year 1</a:t>
            </a:r>
            <a:r>
              <a:rPr lang="en-US" sz="2600" dirty="0"/>
              <a:t>, </a:t>
            </a:r>
            <a:r>
              <a:rPr lang="en-US" sz="2600" dirty="0" err="1"/>
              <a:t>ConstructCo</a:t>
            </a:r>
            <a:r>
              <a:rPr lang="en-US" sz="2600" dirty="0"/>
              <a:t> spends $1M on a project and expects to spend an additional $3M to complete it. Total revenue for the project is $8M.</a:t>
            </a:r>
          </a:p>
          <a:p>
            <a:pPr marL="0" indent="0">
              <a:lnSpc>
                <a:spcPct val="110000"/>
              </a:lnSpc>
              <a:spcBef>
                <a:spcPts val="1200"/>
              </a:spcBef>
              <a:buNone/>
            </a:pPr>
            <a:r>
              <a:rPr lang="en-US" sz="2600" b="1" dirty="0"/>
              <a:t>What is the cumulative % complete?</a:t>
            </a:r>
          </a:p>
          <a:p>
            <a:pPr marL="0" indent="0">
              <a:lnSpc>
                <a:spcPct val="110000"/>
              </a:lnSpc>
              <a:spcBef>
                <a:spcPts val="1200"/>
              </a:spcBef>
              <a:buNone/>
            </a:pPr>
            <a:endParaRPr lang="en-US" sz="2600" dirty="0"/>
          </a:p>
          <a:p>
            <a:pPr marL="0" indent="0">
              <a:lnSpc>
                <a:spcPct val="110000"/>
              </a:lnSpc>
              <a:spcBef>
                <a:spcPts val="1200"/>
              </a:spcBef>
              <a:buNone/>
            </a:pPr>
            <a:r>
              <a:rPr lang="en-US" sz="2600" b="1" dirty="0"/>
              <a:t>How much cumulative (total) revenue should be recognized so far?</a:t>
            </a:r>
          </a:p>
          <a:p>
            <a:pPr marL="0" indent="0">
              <a:lnSpc>
                <a:spcPct val="110000"/>
              </a:lnSpc>
              <a:spcBef>
                <a:spcPts val="1200"/>
              </a:spcBef>
              <a:buNone/>
            </a:pPr>
            <a:endParaRPr lang="en-US" sz="2600" dirty="0"/>
          </a:p>
          <a:p>
            <a:pPr marL="0" indent="0">
              <a:lnSpc>
                <a:spcPct val="110000"/>
              </a:lnSpc>
              <a:spcBef>
                <a:spcPts val="1200"/>
              </a:spcBef>
              <a:buNone/>
            </a:pPr>
            <a:r>
              <a:rPr lang="en-US" sz="2600" b="1" dirty="0"/>
              <a:t>How much revenue to recognize in Year 1?</a:t>
            </a:r>
          </a:p>
        </p:txBody>
      </p:sp>
      <p:sp>
        <p:nvSpPr>
          <p:cNvPr id="2" name="Title 1"/>
          <p:cNvSpPr>
            <a:spLocks noGrp="1"/>
          </p:cNvSpPr>
          <p:nvPr>
            <p:ph type="title"/>
          </p:nvPr>
        </p:nvSpPr>
        <p:spPr/>
        <p:txBody>
          <a:bodyPr>
            <a:normAutofit/>
          </a:bodyPr>
          <a:lstStyle/>
          <a:p>
            <a:r>
              <a:rPr lang="en-US" altLang="en-US" sz="4000" dirty="0"/>
              <a:t>Method 1: Recognize over time</a:t>
            </a:r>
            <a:endParaRPr lang="en-US" sz="4000" dirty="0"/>
          </a:p>
        </p:txBody>
      </p:sp>
      <p:grpSp>
        <p:nvGrpSpPr>
          <p:cNvPr id="21" name="Group 20">
            <a:extLst>
              <a:ext uri="{FF2B5EF4-FFF2-40B4-BE49-F238E27FC236}">
                <a16:creationId xmlns:a16="http://schemas.microsoft.com/office/drawing/2014/main" id="{42DE714D-CE93-4D98-8D94-F976467A9B46}"/>
              </a:ext>
            </a:extLst>
          </p:cNvPr>
          <p:cNvGrpSpPr/>
          <p:nvPr/>
        </p:nvGrpSpPr>
        <p:grpSpPr>
          <a:xfrm>
            <a:off x="1887037" y="3443861"/>
            <a:ext cx="7020046" cy="711309"/>
            <a:chOff x="1887037" y="3443861"/>
            <a:chExt cx="7020046" cy="711309"/>
          </a:xfrm>
        </p:grpSpPr>
        <p:sp>
          <p:nvSpPr>
            <p:cNvPr id="7" name="Rectangle 6">
              <a:extLst>
                <a:ext uri="{FF2B5EF4-FFF2-40B4-BE49-F238E27FC236}">
                  <a16:creationId xmlns:a16="http://schemas.microsoft.com/office/drawing/2014/main" id="{B17584A8-0FD7-4F0F-9F50-977EDA1A8807}"/>
                </a:ext>
              </a:extLst>
            </p:cNvPr>
            <p:cNvSpPr/>
            <p:nvPr/>
          </p:nvSpPr>
          <p:spPr>
            <a:xfrm>
              <a:off x="1887037" y="3443861"/>
              <a:ext cx="4067139" cy="707886"/>
            </a:xfrm>
            <a:prstGeom prst="rect">
              <a:avLst/>
            </a:prstGeom>
          </p:spPr>
          <p:txBody>
            <a:bodyPr wrap="none">
              <a:spAutoFit/>
            </a:bodyPr>
            <a:lstStyle/>
            <a:p>
              <a:pPr algn="ctr">
                <a:spcAft>
                  <a:spcPts val="0"/>
                </a:spcAft>
              </a:pPr>
              <a:r>
                <a:rPr lang="en-US" sz="2000" dirty="0">
                  <a:solidFill>
                    <a:srgbClr val="C00000"/>
                  </a:solidFill>
                </a:rPr>
                <a:t>Actual costs incurred to date</a:t>
              </a:r>
            </a:p>
            <a:p>
              <a:pPr algn="ctr"/>
              <a:r>
                <a:rPr lang="en-US" sz="2000" dirty="0">
                  <a:solidFill>
                    <a:srgbClr val="C00000"/>
                  </a:solidFill>
                </a:rPr>
                <a:t>Most recent estimate of total costs</a:t>
              </a:r>
            </a:p>
          </p:txBody>
        </p:sp>
        <p:cxnSp>
          <p:nvCxnSpPr>
            <p:cNvPr id="8" name="Straight Connector 7">
              <a:extLst>
                <a:ext uri="{FF2B5EF4-FFF2-40B4-BE49-F238E27FC236}">
                  <a16:creationId xmlns:a16="http://schemas.microsoft.com/office/drawing/2014/main" id="{1A01157F-0833-4B8D-B56D-F75F77CFA71B}"/>
                </a:ext>
              </a:extLst>
            </p:cNvPr>
            <p:cNvCxnSpPr>
              <a:cxnSpLocks/>
            </p:cNvCxnSpPr>
            <p:nvPr/>
          </p:nvCxnSpPr>
          <p:spPr bwMode="auto">
            <a:xfrm>
              <a:off x="2062029" y="3797804"/>
              <a:ext cx="3718684"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147B95BC-B206-469B-81C9-56764EA000E9}"/>
                </a:ext>
              </a:extLst>
            </p:cNvPr>
            <p:cNvSpPr txBox="1"/>
            <p:nvPr/>
          </p:nvSpPr>
          <p:spPr>
            <a:xfrm flipH="1">
              <a:off x="5944759" y="3608487"/>
              <a:ext cx="311864" cy="400110"/>
            </a:xfrm>
            <a:prstGeom prst="rect">
              <a:avLst/>
            </a:prstGeom>
            <a:noFill/>
          </p:spPr>
          <p:txBody>
            <a:bodyPr wrap="square" rtlCol="0">
              <a:spAutoFit/>
            </a:bodyPr>
            <a:lstStyle/>
            <a:p>
              <a:r>
                <a:rPr lang="en-US" sz="2000" dirty="0">
                  <a:solidFill>
                    <a:srgbClr val="C00000"/>
                  </a:solidFill>
                  <a:latin typeface="Calibri" panose="020F0502020204030204" pitchFamily="34" charset="0"/>
                  <a:cs typeface="Calibri" panose="020F0502020204030204" pitchFamily="34" charset="0"/>
                </a:rPr>
                <a:t>=</a:t>
              </a:r>
            </a:p>
          </p:txBody>
        </p:sp>
        <p:sp>
          <p:nvSpPr>
            <p:cNvPr id="10" name="Rectangle 9">
              <a:extLst>
                <a:ext uri="{FF2B5EF4-FFF2-40B4-BE49-F238E27FC236}">
                  <a16:creationId xmlns:a16="http://schemas.microsoft.com/office/drawing/2014/main" id="{88F415BB-BF9F-4DCA-AF19-43B89ACB425E}"/>
                </a:ext>
              </a:extLst>
            </p:cNvPr>
            <p:cNvSpPr/>
            <p:nvPr/>
          </p:nvSpPr>
          <p:spPr>
            <a:xfrm>
              <a:off x="6258278" y="3447284"/>
              <a:ext cx="1669048" cy="707886"/>
            </a:xfrm>
            <a:prstGeom prst="rect">
              <a:avLst/>
            </a:prstGeom>
          </p:spPr>
          <p:txBody>
            <a:bodyPr wrap="none">
              <a:spAutoFit/>
            </a:bodyPr>
            <a:lstStyle/>
            <a:p>
              <a:pPr algn="ctr">
                <a:spcAft>
                  <a:spcPts val="0"/>
                </a:spcAft>
              </a:pPr>
              <a:r>
                <a:rPr lang="en-US" sz="2000" dirty="0">
                  <a:solidFill>
                    <a:srgbClr val="C00000"/>
                  </a:solidFill>
                </a:rPr>
                <a:t>1M</a:t>
              </a:r>
            </a:p>
            <a:p>
              <a:pPr algn="ctr"/>
              <a:r>
                <a:rPr lang="en-US" sz="2000" dirty="0">
                  <a:solidFill>
                    <a:srgbClr val="C00000"/>
                  </a:solidFill>
                </a:rPr>
                <a:t>1M + 3M est.</a:t>
              </a:r>
            </a:p>
          </p:txBody>
        </p:sp>
        <p:cxnSp>
          <p:nvCxnSpPr>
            <p:cNvPr id="11" name="Straight Connector 10">
              <a:extLst>
                <a:ext uri="{FF2B5EF4-FFF2-40B4-BE49-F238E27FC236}">
                  <a16:creationId xmlns:a16="http://schemas.microsoft.com/office/drawing/2014/main" id="{5E5DF605-C24E-4F23-8DFA-8B075FD69DDD}"/>
                </a:ext>
              </a:extLst>
            </p:cNvPr>
            <p:cNvCxnSpPr>
              <a:cxnSpLocks/>
            </p:cNvCxnSpPr>
            <p:nvPr/>
          </p:nvCxnSpPr>
          <p:spPr bwMode="auto">
            <a:xfrm>
              <a:off x="6420669" y="3797804"/>
              <a:ext cx="1345598"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ADB0C97F-21C5-494B-9783-3C902DE9CD8B}"/>
                </a:ext>
              </a:extLst>
            </p:cNvPr>
            <p:cNvSpPr txBox="1"/>
            <p:nvPr/>
          </p:nvSpPr>
          <p:spPr>
            <a:xfrm flipH="1">
              <a:off x="7963797" y="3608486"/>
              <a:ext cx="943286" cy="400110"/>
            </a:xfrm>
            <a:prstGeom prst="rect">
              <a:avLst/>
            </a:prstGeom>
            <a:noFill/>
          </p:spPr>
          <p:txBody>
            <a:bodyPr wrap="square" rtlCol="0">
              <a:spAutoFit/>
            </a:bodyPr>
            <a:lstStyle/>
            <a:p>
              <a:r>
                <a:rPr lang="en-US" sz="2000" dirty="0">
                  <a:solidFill>
                    <a:srgbClr val="C00000"/>
                  </a:solidFill>
                  <a:latin typeface="Calibri" panose="020F0502020204030204" pitchFamily="34" charset="0"/>
                  <a:cs typeface="Calibri" panose="020F0502020204030204" pitchFamily="34" charset="0"/>
                </a:rPr>
                <a:t>=  25%</a:t>
              </a:r>
            </a:p>
          </p:txBody>
        </p:sp>
      </p:grpSp>
      <p:grpSp>
        <p:nvGrpSpPr>
          <p:cNvPr id="17" name="Group 16">
            <a:extLst>
              <a:ext uri="{FF2B5EF4-FFF2-40B4-BE49-F238E27FC236}">
                <a16:creationId xmlns:a16="http://schemas.microsoft.com/office/drawing/2014/main" id="{1E640CCE-198C-42F0-98F1-297593AEA0C8}"/>
              </a:ext>
            </a:extLst>
          </p:cNvPr>
          <p:cNvGrpSpPr/>
          <p:nvPr/>
        </p:nvGrpSpPr>
        <p:grpSpPr>
          <a:xfrm>
            <a:off x="1771421" y="4700878"/>
            <a:ext cx="8203127" cy="400110"/>
            <a:chOff x="1771421" y="4700878"/>
            <a:chExt cx="8203127" cy="400110"/>
          </a:xfrm>
        </p:grpSpPr>
        <p:sp>
          <p:nvSpPr>
            <p:cNvPr id="14" name="Rectangle 13">
              <a:extLst>
                <a:ext uri="{FF2B5EF4-FFF2-40B4-BE49-F238E27FC236}">
                  <a16:creationId xmlns:a16="http://schemas.microsoft.com/office/drawing/2014/main" id="{36BEF161-D56A-4806-BA82-B546E8C74D80}"/>
                </a:ext>
              </a:extLst>
            </p:cNvPr>
            <p:cNvSpPr/>
            <p:nvPr/>
          </p:nvSpPr>
          <p:spPr>
            <a:xfrm>
              <a:off x="1771421" y="4700878"/>
              <a:ext cx="6078908" cy="400110"/>
            </a:xfrm>
            <a:prstGeom prst="rect">
              <a:avLst/>
            </a:prstGeom>
          </p:spPr>
          <p:txBody>
            <a:bodyPr wrap="none">
              <a:spAutoFit/>
            </a:bodyPr>
            <a:lstStyle/>
            <a:p>
              <a:r>
                <a:rPr lang="en-US" sz="2000" dirty="0">
                  <a:solidFill>
                    <a:srgbClr val="C00000"/>
                  </a:solidFill>
                </a:rPr>
                <a:t>Cumulative % complete × Estimated total revenue =</a:t>
              </a:r>
            </a:p>
          </p:txBody>
        </p:sp>
        <p:sp>
          <p:nvSpPr>
            <p:cNvPr id="15" name="Rectangle 14">
              <a:extLst>
                <a:ext uri="{FF2B5EF4-FFF2-40B4-BE49-F238E27FC236}">
                  <a16:creationId xmlns:a16="http://schemas.microsoft.com/office/drawing/2014/main" id="{F7F27FD3-A8FA-4AD5-8CC3-1BC79C0FF820}"/>
                </a:ext>
              </a:extLst>
            </p:cNvPr>
            <p:cNvSpPr/>
            <p:nvPr/>
          </p:nvSpPr>
          <p:spPr>
            <a:xfrm>
              <a:off x="7699566" y="4700878"/>
              <a:ext cx="2274982" cy="400110"/>
            </a:xfrm>
            <a:prstGeom prst="rect">
              <a:avLst/>
            </a:prstGeom>
          </p:spPr>
          <p:txBody>
            <a:bodyPr wrap="none">
              <a:spAutoFit/>
            </a:bodyPr>
            <a:lstStyle/>
            <a:p>
              <a:r>
                <a:rPr lang="en-US" sz="2000" dirty="0">
                  <a:solidFill>
                    <a:srgbClr val="C00000"/>
                  </a:solidFill>
                </a:rPr>
                <a:t>25% × $8M = $2M</a:t>
              </a:r>
            </a:p>
          </p:txBody>
        </p:sp>
      </p:grpSp>
      <p:grpSp>
        <p:nvGrpSpPr>
          <p:cNvPr id="20" name="Group 19">
            <a:extLst>
              <a:ext uri="{FF2B5EF4-FFF2-40B4-BE49-F238E27FC236}">
                <a16:creationId xmlns:a16="http://schemas.microsoft.com/office/drawing/2014/main" id="{F5F4019B-FB43-4BFF-A361-C92DC89EF103}"/>
              </a:ext>
            </a:extLst>
          </p:cNvPr>
          <p:cNvGrpSpPr/>
          <p:nvPr/>
        </p:nvGrpSpPr>
        <p:grpSpPr>
          <a:xfrm>
            <a:off x="1750639" y="5806538"/>
            <a:ext cx="7882283" cy="400110"/>
            <a:chOff x="1667511" y="5619500"/>
            <a:chExt cx="7882283" cy="400110"/>
          </a:xfrm>
        </p:grpSpPr>
        <p:sp>
          <p:nvSpPr>
            <p:cNvPr id="18" name="TextBox 17">
              <a:extLst>
                <a:ext uri="{FF2B5EF4-FFF2-40B4-BE49-F238E27FC236}">
                  <a16:creationId xmlns:a16="http://schemas.microsoft.com/office/drawing/2014/main" id="{C68DB9B1-E23A-45EF-ABC0-2EE7CB899C0C}"/>
                </a:ext>
              </a:extLst>
            </p:cNvPr>
            <p:cNvSpPr txBox="1"/>
            <p:nvPr/>
          </p:nvSpPr>
          <p:spPr>
            <a:xfrm>
              <a:off x="1667511" y="5619500"/>
              <a:ext cx="6957948" cy="400110"/>
            </a:xfrm>
            <a:prstGeom prst="rect">
              <a:avLst/>
            </a:prstGeom>
            <a:noFill/>
          </p:spPr>
          <p:txBody>
            <a:bodyPr wrap="square">
              <a:spAutoFit/>
            </a:bodyPr>
            <a:lstStyle/>
            <a:p>
              <a:r>
                <a:rPr lang="en-US" sz="2000" dirty="0">
                  <a:solidFill>
                    <a:srgbClr val="C00000"/>
                  </a:solidFill>
                </a:rPr>
                <a:t>Cumulative revenue – Revenue already recognized = </a:t>
              </a:r>
            </a:p>
          </p:txBody>
        </p:sp>
        <p:sp>
          <p:nvSpPr>
            <p:cNvPr id="19" name="Rectangle 18">
              <a:extLst>
                <a:ext uri="{FF2B5EF4-FFF2-40B4-BE49-F238E27FC236}">
                  <a16:creationId xmlns:a16="http://schemas.microsoft.com/office/drawing/2014/main" id="{001B9D13-18F3-411E-B1C9-F977EA65C764}"/>
                </a:ext>
              </a:extLst>
            </p:cNvPr>
            <p:cNvSpPr/>
            <p:nvPr/>
          </p:nvSpPr>
          <p:spPr>
            <a:xfrm>
              <a:off x="7794185" y="5619500"/>
              <a:ext cx="1755609" cy="400110"/>
            </a:xfrm>
            <a:prstGeom prst="rect">
              <a:avLst/>
            </a:prstGeom>
          </p:spPr>
          <p:txBody>
            <a:bodyPr wrap="none">
              <a:spAutoFit/>
            </a:bodyPr>
            <a:lstStyle/>
            <a:p>
              <a:r>
                <a:rPr lang="en-US" sz="2000" dirty="0">
                  <a:solidFill>
                    <a:srgbClr val="C00000"/>
                  </a:solidFill>
                </a:rPr>
                <a:t>2M – 0 = $2M</a:t>
              </a:r>
            </a:p>
          </p:txBody>
        </p:sp>
      </p:grpSp>
    </p:spTree>
    <p:extLst>
      <p:ext uri="{BB962C8B-B14F-4D97-AF65-F5344CB8AC3E}">
        <p14:creationId xmlns:p14="http://schemas.microsoft.com/office/powerpoint/2010/main" val="319041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451916"/>
            <a:ext cx="10970624" cy="4923725"/>
          </a:xfrm>
        </p:spPr>
        <p:txBody>
          <a:bodyPr>
            <a:normAutofit/>
          </a:bodyPr>
          <a:lstStyle/>
          <a:p>
            <a:pPr marL="0" indent="0">
              <a:lnSpc>
                <a:spcPct val="110000"/>
              </a:lnSpc>
              <a:spcBef>
                <a:spcPts val="1200"/>
              </a:spcBef>
              <a:buNone/>
            </a:pPr>
            <a:r>
              <a:rPr lang="en-US" b="1" u="sng" dirty="0"/>
              <a:t>Example</a:t>
            </a:r>
          </a:p>
          <a:p>
            <a:pPr marL="0" indent="0">
              <a:lnSpc>
                <a:spcPct val="110000"/>
              </a:lnSpc>
              <a:spcBef>
                <a:spcPts val="1200"/>
              </a:spcBef>
              <a:buNone/>
            </a:pPr>
            <a:r>
              <a:rPr lang="en-US" sz="2600" b="1" dirty="0"/>
              <a:t>In Year 2</a:t>
            </a:r>
            <a:r>
              <a:rPr lang="en-US" sz="2600" dirty="0"/>
              <a:t>, </a:t>
            </a:r>
            <a:r>
              <a:rPr lang="en-US" sz="2600" dirty="0" err="1"/>
              <a:t>ConstructCo</a:t>
            </a:r>
            <a:r>
              <a:rPr lang="en-US" sz="2600" dirty="0"/>
              <a:t> spends </a:t>
            </a:r>
            <a:r>
              <a:rPr lang="en-US" sz="2600" b="1" i="1" dirty="0"/>
              <a:t>another</a:t>
            </a:r>
            <a:r>
              <a:rPr lang="en-US" sz="2600" dirty="0"/>
              <a:t> $2M on the project and expects to spend an additional $2M to complete it. Total revenue remains at $8M.</a:t>
            </a:r>
          </a:p>
          <a:p>
            <a:pPr marL="0" indent="0">
              <a:lnSpc>
                <a:spcPct val="110000"/>
              </a:lnSpc>
              <a:spcBef>
                <a:spcPts val="1200"/>
              </a:spcBef>
              <a:buNone/>
            </a:pPr>
            <a:r>
              <a:rPr lang="en-US" sz="2600" b="1" dirty="0"/>
              <a:t>What is the cumulative % complete?</a:t>
            </a:r>
          </a:p>
          <a:p>
            <a:pPr marL="0" indent="0">
              <a:lnSpc>
                <a:spcPct val="110000"/>
              </a:lnSpc>
              <a:spcBef>
                <a:spcPts val="1200"/>
              </a:spcBef>
              <a:buNone/>
            </a:pPr>
            <a:endParaRPr lang="en-US" sz="2600" dirty="0"/>
          </a:p>
          <a:p>
            <a:pPr marL="0" indent="0">
              <a:lnSpc>
                <a:spcPct val="110000"/>
              </a:lnSpc>
              <a:spcBef>
                <a:spcPts val="1200"/>
              </a:spcBef>
              <a:buNone/>
            </a:pPr>
            <a:r>
              <a:rPr lang="en-US" sz="2600" b="1" dirty="0"/>
              <a:t>How much cumulative (total) revenue should be recognized so far?</a:t>
            </a:r>
          </a:p>
          <a:p>
            <a:pPr marL="0" indent="0">
              <a:lnSpc>
                <a:spcPct val="110000"/>
              </a:lnSpc>
              <a:spcBef>
                <a:spcPts val="1200"/>
              </a:spcBef>
              <a:buNone/>
            </a:pPr>
            <a:endParaRPr lang="en-US" sz="2600" dirty="0"/>
          </a:p>
          <a:p>
            <a:pPr marL="0" indent="0">
              <a:lnSpc>
                <a:spcPct val="110000"/>
              </a:lnSpc>
              <a:spcBef>
                <a:spcPts val="1200"/>
              </a:spcBef>
              <a:buNone/>
            </a:pPr>
            <a:r>
              <a:rPr lang="en-US" sz="2600" b="1" dirty="0"/>
              <a:t>How much revenue to recognize in Year 2?</a:t>
            </a:r>
          </a:p>
        </p:txBody>
      </p:sp>
      <p:sp>
        <p:nvSpPr>
          <p:cNvPr id="2" name="Title 1"/>
          <p:cNvSpPr>
            <a:spLocks noGrp="1"/>
          </p:cNvSpPr>
          <p:nvPr>
            <p:ph type="title"/>
          </p:nvPr>
        </p:nvSpPr>
        <p:spPr/>
        <p:txBody>
          <a:bodyPr>
            <a:normAutofit/>
          </a:bodyPr>
          <a:lstStyle/>
          <a:p>
            <a:r>
              <a:rPr lang="en-US" altLang="en-US" sz="4000" dirty="0"/>
              <a:t>Method 1: Recognize over time</a:t>
            </a:r>
            <a:endParaRPr lang="en-US" sz="4000" dirty="0"/>
          </a:p>
        </p:txBody>
      </p:sp>
      <p:grpSp>
        <p:nvGrpSpPr>
          <p:cNvPr id="21" name="Group 20">
            <a:extLst>
              <a:ext uri="{FF2B5EF4-FFF2-40B4-BE49-F238E27FC236}">
                <a16:creationId xmlns:a16="http://schemas.microsoft.com/office/drawing/2014/main" id="{42DE714D-CE93-4D98-8D94-F976467A9B46}"/>
              </a:ext>
            </a:extLst>
          </p:cNvPr>
          <p:cNvGrpSpPr/>
          <p:nvPr/>
        </p:nvGrpSpPr>
        <p:grpSpPr>
          <a:xfrm>
            <a:off x="1734400" y="3564176"/>
            <a:ext cx="8453348" cy="711309"/>
            <a:chOff x="1734400" y="3443861"/>
            <a:chExt cx="8453348" cy="711309"/>
          </a:xfrm>
        </p:grpSpPr>
        <p:sp>
          <p:nvSpPr>
            <p:cNvPr id="7" name="Rectangle 6">
              <a:extLst>
                <a:ext uri="{FF2B5EF4-FFF2-40B4-BE49-F238E27FC236}">
                  <a16:creationId xmlns:a16="http://schemas.microsoft.com/office/drawing/2014/main" id="{B17584A8-0FD7-4F0F-9F50-977EDA1A8807}"/>
                </a:ext>
              </a:extLst>
            </p:cNvPr>
            <p:cNvSpPr/>
            <p:nvPr/>
          </p:nvSpPr>
          <p:spPr>
            <a:xfrm>
              <a:off x="1734400" y="3443861"/>
              <a:ext cx="4372415" cy="707886"/>
            </a:xfrm>
            <a:prstGeom prst="rect">
              <a:avLst/>
            </a:prstGeom>
          </p:spPr>
          <p:txBody>
            <a:bodyPr wrap="none">
              <a:spAutoFit/>
            </a:bodyPr>
            <a:lstStyle/>
            <a:p>
              <a:pPr algn="ctr">
                <a:spcAft>
                  <a:spcPts val="0"/>
                </a:spcAft>
              </a:pPr>
              <a:r>
                <a:rPr lang="en-US" sz="2000" dirty="0">
                  <a:solidFill>
                    <a:srgbClr val="C00000"/>
                  </a:solidFill>
                </a:rPr>
                <a:t>Actual costs incurred to date</a:t>
              </a:r>
            </a:p>
            <a:p>
              <a:pPr algn="ctr"/>
              <a:r>
                <a:rPr lang="en-US" sz="2000" dirty="0">
                  <a:solidFill>
                    <a:srgbClr val="C00000"/>
                  </a:solidFill>
                </a:rPr>
                <a:t>Most recent estimate of TOTAL costs</a:t>
              </a:r>
            </a:p>
          </p:txBody>
        </p:sp>
        <p:cxnSp>
          <p:nvCxnSpPr>
            <p:cNvPr id="8" name="Straight Connector 7">
              <a:extLst>
                <a:ext uri="{FF2B5EF4-FFF2-40B4-BE49-F238E27FC236}">
                  <a16:creationId xmlns:a16="http://schemas.microsoft.com/office/drawing/2014/main" id="{1A01157F-0833-4B8D-B56D-F75F77CFA71B}"/>
                </a:ext>
              </a:extLst>
            </p:cNvPr>
            <p:cNvCxnSpPr>
              <a:cxnSpLocks/>
            </p:cNvCxnSpPr>
            <p:nvPr/>
          </p:nvCxnSpPr>
          <p:spPr bwMode="auto">
            <a:xfrm>
              <a:off x="2062029" y="3797804"/>
              <a:ext cx="3718684"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147B95BC-B206-469B-81C9-56764EA000E9}"/>
                </a:ext>
              </a:extLst>
            </p:cNvPr>
            <p:cNvSpPr txBox="1"/>
            <p:nvPr/>
          </p:nvSpPr>
          <p:spPr>
            <a:xfrm flipH="1">
              <a:off x="5944759" y="3608487"/>
              <a:ext cx="311864" cy="400110"/>
            </a:xfrm>
            <a:prstGeom prst="rect">
              <a:avLst/>
            </a:prstGeom>
            <a:noFill/>
          </p:spPr>
          <p:txBody>
            <a:bodyPr wrap="square" rtlCol="0">
              <a:spAutoFit/>
            </a:bodyPr>
            <a:lstStyle/>
            <a:p>
              <a:r>
                <a:rPr lang="en-US" sz="2000" dirty="0">
                  <a:solidFill>
                    <a:srgbClr val="C00000"/>
                  </a:solidFill>
                  <a:latin typeface="Calibri" panose="020F0502020204030204" pitchFamily="34" charset="0"/>
                  <a:cs typeface="Calibri" panose="020F0502020204030204" pitchFamily="34" charset="0"/>
                </a:rPr>
                <a:t>=</a:t>
              </a:r>
            </a:p>
          </p:txBody>
        </p:sp>
        <p:sp>
          <p:nvSpPr>
            <p:cNvPr id="10" name="Rectangle 9">
              <a:extLst>
                <a:ext uri="{FF2B5EF4-FFF2-40B4-BE49-F238E27FC236}">
                  <a16:creationId xmlns:a16="http://schemas.microsoft.com/office/drawing/2014/main" id="{88F415BB-BF9F-4DCA-AF19-43B89ACB425E}"/>
                </a:ext>
              </a:extLst>
            </p:cNvPr>
            <p:cNvSpPr/>
            <p:nvPr/>
          </p:nvSpPr>
          <p:spPr>
            <a:xfrm>
              <a:off x="6260097" y="3447284"/>
              <a:ext cx="1768433" cy="707886"/>
            </a:xfrm>
            <a:prstGeom prst="rect">
              <a:avLst/>
            </a:prstGeom>
          </p:spPr>
          <p:txBody>
            <a:bodyPr wrap="none">
              <a:spAutoFit/>
            </a:bodyPr>
            <a:lstStyle/>
            <a:p>
              <a:pPr algn="ctr">
                <a:spcAft>
                  <a:spcPts val="0"/>
                </a:spcAft>
              </a:pPr>
              <a:r>
                <a:rPr lang="en-US" sz="2000" dirty="0">
                  <a:solidFill>
                    <a:srgbClr val="C00000"/>
                  </a:solidFill>
                </a:rPr>
                <a:t>1M + 2M</a:t>
              </a:r>
            </a:p>
            <a:p>
              <a:pPr algn="ctr"/>
              <a:r>
                <a:rPr lang="en-US" sz="2000" dirty="0">
                  <a:solidFill>
                    <a:srgbClr val="C00000"/>
                  </a:solidFill>
                </a:rPr>
                <a:t>(3M) +2M est.</a:t>
              </a:r>
            </a:p>
          </p:txBody>
        </p:sp>
        <p:cxnSp>
          <p:nvCxnSpPr>
            <p:cNvPr id="11" name="Straight Connector 10">
              <a:extLst>
                <a:ext uri="{FF2B5EF4-FFF2-40B4-BE49-F238E27FC236}">
                  <a16:creationId xmlns:a16="http://schemas.microsoft.com/office/drawing/2014/main" id="{5E5DF605-C24E-4F23-8DFA-8B075FD69DDD}"/>
                </a:ext>
              </a:extLst>
            </p:cNvPr>
            <p:cNvCxnSpPr>
              <a:cxnSpLocks/>
            </p:cNvCxnSpPr>
            <p:nvPr/>
          </p:nvCxnSpPr>
          <p:spPr bwMode="auto">
            <a:xfrm>
              <a:off x="6439986" y="3797804"/>
              <a:ext cx="1345598"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ADB0C97F-21C5-494B-9783-3C902DE9CD8B}"/>
                </a:ext>
              </a:extLst>
            </p:cNvPr>
            <p:cNvSpPr txBox="1"/>
            <p:nvPr/>
          </p:nvSpPr>
          <p:spPr>
            <a:xfrm flipH="1">
              <a:off x="9244462" y="3586400"/>
              <a:ext cx="943286" cy="400110"/>
            </a:xfrm>
            <a:prstGeom prst="rect">
              <a:avLst/>
            </a:prstGeom>
            <a:noFill/>
          </p:spPr>
          <p:txBody>
            <a:bodyPr wrap="square" rtlCol="0">
              <a:spAutoFit/>
            </a:bodyPr>
            <a:lstStyle/>
            <a:p>
              <a:r>
                <a:rPr lang="en-US" sz="2000" dirty="0">
                  <a:solidFill>
                    <a:srgbClr val="C00000"/>
                  </a:solidFill>
                  <a:latin typeface="Calibri" panose="020F0502020204030204" pitchFamily="34" charset="0"/>
                  <a:cs typeface="Calibri" panose="020F0502020204030204" pitchFamily="34" charset="0"/>
                </a:rPr>
                <a:t>=  60%</a:t>
              </a:r>
            </a:p>
          </p:txBody>
        </p:sp>
      </p:grpSp>
      <p:grpSp>
        <p:nvGrpSpPr>
          <p:cNvPr id="17" name="Group 16">
            <a:extLst>
              <a:ext uri="{FF2B5EF4-FFF2-40B4-BE49-F238E27FC236}">
                <a16:creationId xmlns:a16="http://schemas.microsoft.com/office/drawing/2014/main" id="{1E640CCE-198C-42F0-98F1-297593AEA0C8}"/>
              </a:ext>
            </a:extLst>
          </p:cNvPr>
          <p:cNvGrpSpPr/>
          <p:nvPr/>
        </p:nvGrpSpPr>
        <p:grpSpPr>
          <a:xfrm>
            <a:off x="1771421" y="4821193"/>
            <a:ext cx="8416327" cy="400110"/>
            <a:chOff x="1771421" y="4700878"/>
            <a:chExt cx="8416327" cy="400110"/>
          </a:xfrm>
        </p:grpSpPr>
        <p:sp>
          <p:nvSpPr>
            <p:cNvPr id="14" name="Rectangle 13">
              <a:extLst>
                <a:ext uri="{FF2B5EF4-FFF2-40B4-BE49-F238E27FC236}">
                  <a16:creationId xmlns:a16="http://schemas.microsoft.com/office/drawing/2014/main" id="{36BEF161-D56A-4806-BA82-B546E8C74D80}"/>
                </a:ext>
              </a:extLst>
            </p:cNvPr>
            <p:cNvSpPr/>
            <p:nvPr/>
          </p:nvSpPr>
          <p:spPr>
            <a:xfrm>
              <a:off x="1771421" y="4700878"/>
              <a:ext cx="6078908" cy="400110"/>
            </a:xfrm>
            <a:prstGeom prst="rect">
              <a:avLst/>
            </a:prstGeom>
          </p:spPr>
          <p:txBody>
            <a:bodyPr wrap="none">
              <a:spAutoFit/>
            </a:bodyPr>
            <a:lstStyle/>
            <a:p>
              <a:r>
                <a:rPr lang="en-US" sz="2000" dirty="0">
                  <a:solidFill>
                    <a:srgbClr val="C00000"/>
                  </a:solidFill>
                </a:rPr>
                <a:t>Cumulative % complete × Estimated total revenue =</a:t>
              </a:r>
            </a:p>
          </p:txBody>
        </p:sp>
        <p:sp>
          <p:nvSpPr>
            <p:cNvPr id="15" name="Rectangle 14">
              <a:extLst>
                <a:ext uri="{FF2B5EF4-FFF2-40B4-BE49-F238E27FC236}">
                  <a16:creationId xmlns:a16="http://schemas.microsoft.com/office/drawing/2014/main" id="{F7F27FD3-A8FA-4AD5-8CC3-1BC79C0FF820}"/>
                </a:ext>
              </a:extLst>
            </p:cNvPr>
            <p:cNvSpPr/>
            <p:nvPr/>
          </p:nvSpPr>
          <p:spPr>
            <a:xfrm>
              <a:off x="7699566" y="4700878"/>
              <a:ext cx="2488182" cy="400110"/>
            </a:xfrm>
            <a:prstGeom prst="rect">
              <a:avLst/>
            </a:prstGeom>
          </p:spPr>
          <p:txBody>
            <a:bodyPr wrap="none">
              <a:spAutoFit/>
            </a:bodyPr>
            <a:lstStyle/>
            <a:p>
              <a:r>
                <a:rPr lang="en-US" sz="2000" dirty="0">
                  <a:solidFill>
                    <a:srgbClr val="C00000"/>
                  </a:solidFill>
                </a:rPr>
                <a:t>60% × $8M = $4.8M</a:t>
              </a:r>
            </a:p>
          </p:txBody>
        </p:sp>
      </p:grpSp>
      <p:grpSp>
        <p:nvGrpSpPr>
          <p:cNvPr id="20" name="Group 19">
            <a:extLst>
              <a:ext uri="{FF2B5EF4-FFF2-40B4-BE49-F238E27FC236}">
                <a16:creationId xmlns:a16="http://schemas.microsoft.com/office/drawing/2014/main" id="{F5F4019B-FB43-4BFF-A361-C92DC89EF103}"/>
              </a:ext>
            </a:extLst>
          </p:cNvPr>
          <p:cNvGrpSpPr/>
          <p:nvPr/>
        </p:nvGrpSpPr>
        <p:grpSpPr>
          <a:xfrm>
            <a:off x="1750639" y="5926853"/>
            <a:ext cx="8807216" cy="400110"/>
            <a:chOff x="1667511" y="5619500"/>
            <a:chExt cx="8807216" cy="400110"/>
          </a:xfrm>
        </p:grpSpPr>
        <p:sp>
          <p:nvSpPr>
            <p:cNvPr id="18" name="TextBox 17">
              <a:extLst>
                <a:ext uri="{FF2B5EF4-FFF2-40B4-BE49-F238E27FC236}">
                  <a16:creationId xmlns:a16="http://schemas.microsoft.com/office/drawing/2014/main" id="{C68DB9B1-E23A-45EF-ABC0-2EE7CB899C0C}"/>
                </a:ext>
              </a:extLst>
            </p:cNvPr>
            <p:cNvSpPr txBox="1"/>
            <p:nvPr/>
          </p:nvSpPr>
          <p:spPr>
            <a:xfrm>
              <a:off x="1667511" y="5619500"/>
              <a:ext cx="6957948" cy="400110"/>
            </a:xfrm>
            <a:prstGeom prst="rect">
              <a:avLst/>
            </a:prstGeom>
            <a:noFill/>
          </p:spPr>
          <p:txBody>
            <a:bodyPr wrap="square">
              <a:spAutoFit/>
            </a:bodyPr>
            <a:lstStyle/>
            <a:p>
              <a:r>
                <a:rPr lang="en-US" sz="2000" dirty="0">
                  <a:solidFill>
                    <a:srgbClr val="C00000"/>
                  </a:solidFill>
                </a:rPr>
                <a:t>Cumulative revenue – Revenue already recognized = </a:t>
              </a:r>
            </a:p>
          </p:txBody>
        </p:sp>
        <p:sp>
          <p:nvSpPr>
            <p:cNvPr id="19" name="Rectangle 18">
              <a:extLst>
                <a:ext uri="{FF2B5EF4-FFF2-40B4-BE49-F238E27FC236}">
                  <a16:creationId xmlns:a16="http://schemas.microsoft.com/office/drawing/2014/main" id="{001B9D13-18F3-411E-B1C9-F977EA65C764}"/>
                </a:ext>
              </a:extLst>
            </p:cNvPr>
            <p:cNvSpPr/>
            <p:nvPr/>
          </p:nvSpPr>
          <p:spPr>
            <a:xfrm>
              <a:off x="7794185" y="5619500"/>
              <a:ext cx="2680542" cy="400110"/>
            </a:xfrm>
            <a:prstGeom prst="rect">
              <a:avLst/>
            </a:prstGeom>
          </p:spPr>
          <p:txBody>
            <a:bodyPr wrap="none">
              <a:spAutoFit/>
            </a:bodyPr>
            <a:lstStyle/>
            <a:p>
              <a:r>
                <a:rPr lang="en-US" sz="2000" dirty="0">
                  <a:solidFill>
                    <a:srgbClr val="C00000"/>
                  </a:solidFill>
                </a:rPr>
                <a:t>$4.8M - $2M = $2.8M</a:t>
              </a:r>
            </a:p>
          </p:txBody>
        </p:sp>
      </p:grpSp>
      <p:sp>
        <p:nvSpPr>
          <p:cNvPr id="22" name="TextBox 21">
            <a:extLst>
              <a:ext uri="{FF2B5EF4-FFF2-40B4-BE49-F238E27FC236}">
                <a16:creationId xmlns:a16="http://schemas.microsoft.com/office/drawing/2014/main" id="{B590F70E-CE19-4EA5-AD60-A41440B68CE5}"/>
              </a:ext>
            </a:extLst>
          </p:cNvPr>
          <p:cNvSpPr txBox="1"/>
          <p:nvPr/>
        </p:nvSpPr>
        <p:spPr>
          <a:xfrm flipH="1">
            <a:off x="8907083" y="1176860"/>
            <a:ext cx="2837784" cy="923330"/>
          </a:xfrm>
          <a:prstGeom prst="rect">
            <a:avLst/>
          </a:prstGeom>
          <a:solidFill>
            <a:srgbClr val="CFB87C"/>
          </a:solidFill>
          <a:ln w="28575">
            <a:solidFill>
              <a:srgbClr val="CFB87C"/>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cs typeface="Calibri" panose="020F0502020204030204" pitchFamily="34" charset="0"/>
              </a:rPr>
              <a:t>Reminders from Year 1:</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cs typeface="Calibri" panose="020F0502020204030204" pitchFamily="34" charset="0"/>
              </a:rPr>
              <a:t>Spent $1M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cs typeface="Calibri" panose="020F0502020204030204" pitchFamily="34" charset="0"/>
              </a:rPr>
              <a:t>Recognized $2M revenue</a:t>
            </a:r>
          </a:p>
        </p:txBody>
      </p:sp>
      <p:sp>
        <p:nvSpPr>
          <p:cNvPr id="4" name="Rectangle 3">
            <a:extLst>
              <a:ext uri="{FF2B5EF4-FFF2-40B4-BE49-F238E27FC236}">
                <a16:creationId xmlns:a16="http://schemas.microsoft.com/office/drawing/2014/main" id="{5F89C9A3-CF95-2AA7-FDCE-B8660DBE94AC}"/>
              </a:ext>
            </a:extLst>
          </p:cNvPr>
          <p:cNvSpPr/>
          <p:nvPr/>
        </p:nvSpPr>
        <p:spPr>
          <a:xfrm>
            <a:off x="8431473" y="3567599"/>
            <a:ext cx="683200" cy="707886"/>
          </a:xfrm>
          <a:prstGeom prst="rect">
            <a:avLst/>
          </a:prstGeom>
        </p:spPr>
        <p:txBody>
          <a:bodyPr wrap="none">
            <a:spAutoFit/>
          </a:bodyPr>
          <a:lstStyle/>
          <a:p>
            <a:pPr algn="ctr">
              <a:spcAft>
                <a:spcPts val="0"/>
              </a:spcAft>
            </a:pPr>
            <a:r>
              <a:rPr lang="en-US" sz="2000" dirty="0">
                <a:solidFill>
                  <a:srgbClr val="C00000"/>
                </a:solidFill>
              </a:rPr>
              <a:t>$3M</a:t>
            </a:r>
          </a:p>
          <a:p>
            <a:pPr algn="ctr"/>
            <a:r>
              <a:rPr lang="en-US" sz="2000" dirty="0">
                <a:solidFill>
                  <a:srgbClr val="C00000"/>
                </a:solidFill>
              </a:rPr>
              <a:t>$5M</a:t>
            </a:r>
          </a:p>
        </p:txBody>
      </p:sp>
      <p:cxnSp>
        <p:nvCxnSpPr>
          <p:cNvPr id="5" name="Straight Connector 4">
            <a:extLst>
              <a:ext uri="{FF2B5EF4-FFF2-40B4-BE49-F238E27FC236}">
                <a16:creationId xmlns:a16="http://schemas.microsoft.com/office/drawing/2014/main" id="{415DBF27-E92D-E5B4-532E-D5995DCCEB57}"/>
              </a:ext>
            </a:extLst>
          </p:cNvPr>
          <p:cNvCxnSpPr>
            <a:cxnSpLocks/>
          </p:cNvCxnSpPr>
          <p:nvPr/>
        </p:nvCxnSpPr>
        <p:spPr bwMode="auto">
          <a:xfrm>
            <a:off x="8498570" y="3916633"/>
            <a:ext cx="570665"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1176B622-A8D8-29EF-9D4F-576598872BF8}"/>
              </a:ext>
            </a:extLst>
          </p:cNvPr>
          <p:cNvSpPr txBox="1"/>
          <p:nvPr/>
        </p:nvSpPr>
        <p:spPr>
          <a:xfrm flipH="1">
            <a:off x="8079413" y="3706715"/>
            <a:ext cx="423393" cy="400110"/>
          </a:xfrm>
          <a:prstGeom prst="rect">
            <a:avLst/>
          </a:prstGeom>
          <a:noFill/>
        </p:spPr>
        <p:txBody>
          <a:bodyPr wrap="square" rtlCol="0">
            <a:spAutoFit/>
          </a:bodyPr>
          <a:lstStyle/>
          <a:p>
            <a:r>
              <a:rPr lang="en-US" sz="2000" dirty="0">
                <a:solidFill>
                  <a:srgbClr val="C00000"/>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776196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6B450-4529-68F2-EC09-67987CF3D8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DC1FF2-B925-78B9-BE5B-B7612EEDD840}"/>
              </a:ext>
            </a:extLst>
          </p:cNvPr>
          <p:cNvSpPr>
            <a:spLocks noGrp="1"/>
          </p:cNvSpPr>
          <p:nvPr>
            <p:ph idx="1"/>
          </p:nvPr>
        </p:nvSpPr>
        <p:spPr>
          <a:xfrm>
            <a:off x="838199" y="1451916"/>
            <a:ext cx="10970624" cy="4923725"/>
          </a:xfrm>
        </p:spPr>
        <p:txBody>
          <a:bodyPr>
            <a:normAutofit/>
          </a:bodyPr>
          <a:lstStyle/>
          <a:p>
            <a:pPr marL="0" indent="0">
              <a:lnSpc>
                <a:spcPct val="110000"/>
              </a:lnSpc>
              <a:spcBef>
                <a:spcPts val="1200"/>
              </a:spcBef>
              <a:buNone/>
            </a:pPr>
            <a:r>
              <a:rPr lang="en-US" b="1" u="sng" dirty="0"/>
              <a:t>Example</a:t>
            </a:r>
          </a:p>
          <a:p>
            <a:pPr marL="0" indent="0">
              <a:lnSpc>
                <a:spcPct val="110000"/>
              </a:lnSpc>
              <a:spcBef>
                <a:spcPts val="1200"/>
              </a:spcBef>
              <a:buNone/>
            </a:pPr>
            <a:r>
              <a:rPr lang="en-US" sz="2600" b="1" dirty="0"/>
              <a:t>In Year 3</a:t>
            </a:r>
            <a:r>
              <a:rPr lang="en-US" sz="2600" dirty="0"/>
              <a:t>, </a:t>
            </a:r>
            <a:r>
              <a:rPr lang="en-US" sz="2600" dirty="0" err="1"/>
              <a:t>ConstructCo</a:t>
            </a:r>
            <a:r>
              <a:rPr lang="en-US" sz="2600" dirty="0"/>
              <a:t> spends </a:t>
            </a:r>
            <a:r>
              <a:rPr lang="en-US" sz="2600" b="1" i="1" dirty="0"/>
              <a:t>a final </a:t>
            </a:r>
            <a:r>
              <a:rPr lang="en-US" sz="2600" i="1" dirty="0"/>
              <a:t>$2.2 million </a:t>
            </a:r>
            <a:r>
              <a:rPr lang="en-US" sz="2600" dirty="0"/>
              <a:t>on the project which places the actual final cost at $5.2 million. Total revenue remains at $8M.</a:t>
            </a:r>
          </a:p>
          <a:p>
            <a:pPr marL="0" indent="0">
              <a:lnSpc>
                <a:spcPct val="110000"/>
              </a:lnSpc>
              <a:spcBef>
                <a:spcPts val="1200"/>
              </a:spcBef>
              <a:buNone/>
            </a:pPr>
            <a:r>
              <a:rPr lang="en-US" sz="2600" b="1" dirty="0"/>
              <a:t>What is the cumulative % complete?</a:t>
            </a:r>
          </a:p>
          <a:p>
            <a:pPr marL="0" indent="0">
              <a:lnSpc>
                <a:spcPct val="110000"/>
              </a:lnSpc>
              <a:spcBef>
                <a:spcPts val="1200"/>
              </a:spcBef>
              <a:buNone/>
            </a:pPr>
            <a:endParaRPr lang="en-US" sz="2600" dirty="0"/>
          </a:p>
          <a:p>
            <a:pPr marL="0" indent="0">
              <a:lnSpc>
                <a:spcPct val="110000"/>
              </a:lnSpc>
              <a:spcBef>
                <a:spcPts val="1200"/>
              </a:spcBef>
              <a:buNone/>
            </a:pPr>
            <a:r>
              <a:rPr lang="en-US" sz="2600" b="1" dirty="0"/>
              <a:t>How much cumulative (total) revenue should be recognized so far?</a:t>
            </a:r>
          </a:p>
          <a:p>
            <a:pPr marL="0" indent="0">
              <a:lnSpc>
                <a:spcPct val="110000"/>
              </a:lnSpc>
              <a:spcBef>
                <a:spcPts val="1200"/>
              </a:spcBef>
              <a:buNone/>
            </a:pPr>
            <a:endParaRPr lang="en-US" sz="2600" dirty="0"/>
          </a:p>
          <a:p>
            <a:pPr marL="0" indent="0">
              <a:lnSpc>
                <a:spcPct val="110000"/>
              </a:lnSpc>
              <a:spcBef>
                <a:spcPts val="1200"/>
              </a:spcBef>
              <a:buNone/>
            </a:pPr>
            <a:r>
              <a:rPr lang="en-US" sz="2600" b="1" dirty="0"/>
              <a:t>How much revenue to recognize in Year 3?</a:t>
            </a:r>
          </a:p>
        </p:txBody>
      </p:sp>
      <p:sp>
        <p:nvSpPr>
          <p:cNvPr id="2" name="Title 1">
            <a:extLst>
              <a:ext uri="{FF2B5EF4-FFF2-40B4-BE49-F238E27FC236}">
                <a16:creationId xmlns:a16="http://schemas.microsoft.com/office/drawing/2014/main" id="{6F413AF5-C867-40E4-1669-95C77D0930C6}"/>
              </a:ext>
            </a:extLst>
          </p:cNvPr>
          <p:cNvSpPr>
            <a:spLocks noGrp="1"/>
          </p:cNvSpPr>
          <p:nvPr>
            <p:ph type="title"/>
          </p:nvPr>
        </p:nvSpPr>
        <p:spPr/>
        <p:txBody>
          <a:bodyPr>
            <a:normAutofit/>
          </a:bodyPr>
          <a:lstStyle/>
          <a:p>
            <a:r>
              <a:rPr lang="en-US" altLang="en-US" sz="4000" dirty="0"/>
              <a:t>Method 1: Recognize over time</a:t>
            </a:r>
            <a:endParaRPr lang="en-US" sz="4000" dirty="0"/>
          </a:p>
        </p:txBody>
      </p:sp>
      <p:grpSp>
        <p:nvGrpSpPr>
          <p:cNvPr id="21" name="Group 20">
            <a:extLst>
              <a:ext uri="{FF2B5EF4-FFF2-40B4-BE49-F238E27FC236}">
                <a16:creationId xmlns:a16="http://schemas.microsoft.com/office/drawing/2014/main" id="{081C5ACC-3A2B-9489-EBF4-35FEB13E96C7}"/>
              </a:ext>
            </a:extLst>
          </p:cNvPr>
          <p:cNvGrpSpPr/>
          <p:nvPr/>
        </p:nvGrpSpPr>
        <p:grpSpPr>
          <a:xfrm>
            <a:off x="1734400" y="3564176"/>
            <a:ext cx="8510744" cy="711309"/>
            <a:chOff x="1734400" y="3443861"/>
            <a:chExt cx="8453348" cy="711309"/>
          </a:xfrm>
        </p:grpSpPr>
        <p:sp>
          <p:nvSpPr>
            <p:cNvPr id="7" name="Rectangle 6">
              <a:extLst>
                <a:ext uri="{FF2B5EF4-FFF2-40B4-BE49-F238E27FC236}">
                  <a16:creationId xmlns:a16="http://schemas.microsoft.com/office/drawing/2014/main" id="{3EF3F483-FF94-A5DB-5494-85A389485EC3}"/>
                </a:ext>
              </a:extLst>
            </p:cNvPr>
            <p:cNvSpPr/>
            <p:nvPr/>
          </p:nvSpPr>
          <p:spPr>
            <a:xfrm>
              <a:off x="1734400" y="3443861"/>
              <a:ext cx="4372415" cy="707886"/>
            </a:xfrm>
            <a:prstGeom prst="rect">
              <a:avLst/>
            </a:prstGeom>
          </p:spPr>
          <p:txBody>
            <a:bodyPr wrap="none">
              <a:spAutoFit/>
            </a:bodyPr>
            <a:lstStyle/>
            <a:p>
              <a:pPr algn="ctr">
                <a:spcAft>
                  <a:spcPts val="0"/>
                </a:spcAft>
              </a:pPr>
              <a:r>
                <a:rPr lang="en-US" sz="2000" dirty="0">
                  <a:solidFill>
                    <a:srgbClr val="C00000"/>
                  </a:solidFill>
                </a:rPr>
                <a:t>Actual costs incurred to date</a:t>
              </a:r>
            </a:p>
            <a:p>
              <a:pPr algn="ctr"/>
              <a:r>
                <a:rPr lang="en-US" sz="2000" dirty="0">
                  <a:solidFill>
                    <a:srgbClr val="C00000"/>
                  </a:solidFill>
                </a:rPr>
                <a:t>Most recent estimate of TOTAL costs</a:t>
              </a:r>
            </a:p>
          </p:txBody>
        </p:sp>
        <p:cxnSp>
          <p:nvCxnSpPr>
            <p:cNvPr id="8" name="Straight Connector 7">
              <a:extLst>
                <a:ext uri="{FF2B5EF4-FFF2-40B4-BE49-F238E27FC236}">
                  <a16:creationId xmlns:a16="http://schemas.microsoft.com/office/drawing/2014/main" id="{C8E18AF2-7ECD-C28C-4482-CE1667CC67C1}"/>
                </a:ext>
              </a:extLst>
            </p:cNvPr>
            <p:cNvCxnSpPr>
              <a:cxnSpLocks/>
            </p:cNvCxnSpPr>
            <p:nvPr/>
          </p:nvCxnSpPr>
          <p:spPr bwMode="auto">
            <a:xfrm>
              <a:off x="2062029" y="3797804"/>
              <a:ext cx="3718684"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917A661D-3960-519E-3597-97853BB0D9D8}"/>
                </a:ext>
              </a:extLst>
            </p:cNvPr>
            <p:cNvSpPr txBox="1"/>
            <p:nvPr/>
          </p:nvSpPr>
          <p:spPr>
            <a:xfrm flipH="1">
              <a:off x="5944759" y="3608487"/>
              <a:ext cx="311864" cy="400110"/>
            </a:xfrm>
            <a:prstGeom prst="rect">
              <a:avLst/>
            </a:prstGeom>
            <a:noFill/>
          </p:spPr>
          <p:txBody>
            <a:bodyPr wrap="square" rtlCol="0">
              <a:spAutoFit/>
            </a:bodyPr>
            <a:lstStyle/>
            <a:p>
              <a:r>
                <a:rPr lang="en-US" sz="2000" dirty="0">
                  <a:solidFill>
                    <a:srgbClr val="C00000"/>
                  </a:solidFill>
                  <a:latin typeface="Calibri" panose="020F0502020204030204" pitchFamily="34" charset="0"/>
                  <a:cs typeface="Calibri" panose="020F0502020204030204" pitchFamily="34" charset="0"/>
                </a:rPr>
                <a:t>=</a:t>
              </a:r>
            </a:p>
          </p:txBody>
        </p:sp>
        <p:sp>
          <p:nvSpPr>
            <p:cNvPr id="10" name="Rectangle 9">
              <a:extLst>
                <a:ext uri="{FF2B5EF4-FFF2-40B4-BE49-F238E27FC236}">
                  <a16:creationId xmlns:a16="http://schemas.microsoft.com/office/drawing/2014/main" id="{1ACC89E7-4CE8-3C35-7854-4773C9C7A55A}"/>
                </a:ext>
              </a:extLst>
            </p:cNvPr>
            <p:cNvSpPr/>
            <p:nvPr/>
          </p:nvSpPr>
          <p:spPr>
            <a:xfrm>
              <a:off x="6128337" y="3447284"/>
              <a:ext cx="2031956" cy="707886"/>
            </a:xfrm>
            <a:prstGeom prst="rect">
              <a:avLst/>
            </a:prstGeom>
          </p:spPr>
          <p:txBody>
            <a:bodyPr wrap="none">
              <a:spAutoFit/>
            </a:bodyPr>
            <a:lstStyle/>
            <a:p>
              <a:pPr algn="ctr">
                <a:spcAft>
                  <a:spcPts val="0"/>
                </a:spcAft>
              </a:pPr>
              <a:r>
                <a:rPr lang="en-US" sz="2000" dirty="0">
                  <a:solidFill>
                    <a:srgbClr val="C00000"/>
                  </a:solidFill>
                </a:rPr>
                <a:t>1M + 2M + 2.2M</a:t>
              </a:r>
            </a:p>
            <a:p>
              <a:pPr algn="ctr"/>
              <a:r>
                <a:rPr lang="en-US" sz="2000" dirty="0">
                  <a:solidFill>
                    <a:srgbClr val="C00000"/>
                  </a:solidFill>
                </a:rPr>
                <a:t>(3M) +2.2M</a:t>
              </a:r>
            </a:p>
          </p:txBody>
        </p:sp>
        <p:cxnSp>
          <p:nvCxnSpPr>
            <p:cNvPr id="11" name="Straight Connector 10">
              <a:extLst>
                <a:ext uri="{FF2B5EF4-FFF2-40B4-BE49-F238E27FC236}">
                  <a16:creationId xmlns:a16="http://schemas.microsoft.com/office/drawing/2014/main" id="{58AFEA7B-D5AE-17FC-C6AC-DDB4B4E4AAE5}"/>
                </a:ext>
              </a:extLst>
            </p:cNvPr>
            <p:cNvCxnSpPr>
              <a:cxnSpLocks/>
            </p:cNvCxnSpPr>
            <p:nvPr/>
          </p:nvCxnSpPr>
          <p:spPr bwMode="auto">
            <a:xfrm>
              <a:off x="6439986" y="3797804"/>
              <a:ext cx="1345598"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11356592-01E6-04B4-567A-22A10050FD58}"/>
                </a:ext>
              </a:extLst>
            </p:cNvPr>
            <p:cNvSpPr txBox="1"/>
            <p:nvPr/>
          </p:nvSpPr>
          <p:spPr>
            <a:xfrm flipH="1">
              <a:off x="9244462" y="3586400"/>
              <a:ext cx="943286" cy="400110"/>
            </a:xfrm>
            <a:prstGeom prst="rect">
              <a:avLst/>
            </a:prstGeom>
            <a:noFill/>
          </p:spPr>
          <p:txBody>
            <a:bodyPr wrap="square" rtlCol="0">
              <a:spAutoFit/>
            </a:bodyPr>
            <a:lstStyle/>
            <a:p>
              <a:r>
                <a:rPr lang="en-US" sz="2000" dirty="0">
                  <a:solidFill>
                    <a:srgbClr val="C00000"/>
                  </a:solidFill>
                  <a:latin typeface="Calibri" panose="020F0502020204030204" pitchFamily="34" charset="0"/>
                  <a:cs typeface="Calibri" panose="020F0502020204030204" pitchFamily="34" charset="0"/>
                </a:rPr>
                <a:t>= 100%</a:t>
              </a:r>
            </a:p>
          </p:txBody>
        </p:sp>
      </p:grpSp>
      <p:grpSp>
        <p:nvGrpSpPr>
          <p:cNvPr id="17" name="Group 16">
            <a:extLst>
              <a:ext uri="{FF2B5EF4-FFF2-40B4-BE49-F238E27FC236}">
                <a16:creationId xmlns:a16="http://schemas.microsoft.com/office/drawing/2014/main" id="{2F6F9AB0-9BDB-3CE4-C603-C3644A09AE16}"/>
              </a:ext>
            </a:extLst>
          </p:cNvPr>
          <p:cNvGrpSpPr/>
          <p:nvPr/>
        </p:nvGrpSpPr>
        <p:grpSpPr>
          <a:xfrm>
            <a:off x="1771421" y="4821193"/>
            <a:ext cx="8345795" cy="400110"/>
            <a:chOff x="1771421" y="4700878"/>
            <a:chExt cx="8345795" cy="400110"/>
          </a:xfrm>
        </p:grpSpPr>
        <p:sp>
          <p:nvSpPr>
            <p:cNvPr id="14" name="Rectangle 13">
              <a:extLst>
                <a:ext uri="{FF2B5EF4-FFF2-40B4-BE49-F238E27FC236}">
                  <a16:creationId xmlns:a16="http://schemas.microsoft.com/office/drawing/2014/main" id="{25D8818E-0C2B-EA0A-06ED-0BCC0B3BD0E3}"/>
                </a:ext>
              </a:extLst>
            </p:cNvPr>
            <p:cNvSpPr/>
            <p:nvPr/>
          </p:nvSpPr>
          <p:spPr>
            <a:xfrm>
              <a:off x="1771421" y="4700878"/>
              <a:ext cx="6078908" cy="400110"/>
            </a:xfrm>
            <a:prstGeom prst="rect">
              <a:avLst/>
            </a:prstGeom>
          </p:spPr>
          <p:txBody>
            <a:bodyPr wrap="none">
              <a:spAutoFit/>
            </a:bodyPr>
            <a:lstStyle/>
            <a:p>
              <a:r>
                <a:rPr lang="en-US" sz="2000" dirty="0">
                  <a:solidFill>
                    <a:srgbClr val="C00000"/>
                  </a:solidFill>
                </a:rPr>
                <a:t>Cumulative % complete × Estimated total revenue =</a:t>
              </a:r>
            </a:p>
          </p:txBody>
        </p:sp>
        <p:sp>
          <p:nvSpPr>
            <p:cNvPr id="15" name="Rectangle 14">
              <a:extLst>
                <a:ext uri="{FF2B5EF4-FFF2-40B4-BE49-F238E27FC236}">
                  <a16:creationId xmlns:a16="http://schemas.microsoft.com/office/drawing/2014/main" id="{708033DA-0296-4FF9-CA53-520575662498}"/>
                </a:ext>
              </a:extLst>
            </p:cNvPr>
            <p:cNvSpPr/>
            <p:nvPr/>
          </p:nvSpPr>
          <p:spPr>
            <a:xfrm>
              <a:off x="7699566" y="4700878"/>
              <a:ext cx="2417650" cy="400110"/>
            </a:xfrm>
            <a:prstGeom prst="rect">
              <a:avLst/>
            </a:prstGeom>
          </p:spPr>
          <p:txBody>
            <a:bodyPr wrap="none">
              <a:spAutoFit/>
            </a:bodyPr>
            <a:lstStyle/>
            <a:p>
              <a:r>
                <a:rPr lang="en-US" sz="2000" dirty="0">
                  <a:solidFill>
                    <a:srgbClr val="C00000"/>
                  </a:solidFill>
                </a:rPr>
                <a:t>100% × $8M = $8M</a:t>
              </a:r>
            </a:p>
          </p:txBody>
        </p:sp>
      </p:grpSp>
      <p:grpSp>
        <p:nvGrpSpPr>
          <p:cNvPr id="20" name="Group 19">
            <a:extLst>
              <a:ext uri="{FF2B5EF4-FFF2-40B4-BE49-F238E27FC236}">
                <a16:creationId xmlns:a16="http://schemas.microsoft.com/office/drawing/2014/main" id="{1306348E-EBB4-913D-56F6-9858E0CCC0AE}"/>
              </a:ext>
            </a:extLst>
          </p:cNvPr>
          <p:cNvGrpSpPr/>
          <p:nvPr/>
        </p:nvGrpSpPr>
        <p:grpSpPr>
          <a:xfrm>
            <a:off x="1750639" y="5926853"/>
            <a:ext cx="8749508" cy="400110"/>
            <a:chOff x="1667511" y="5619500"/>
            <a:chExt cx="8749508" cy="400110"/>
          </a:xfrm>
        </p:grpSpPr>
        <p:sp>
          <p:nvSpPr>
            <p:cNvPr id="18" name="TextBox 17">
              <a:extLst>
                <a:ext uri="{FF2B5EF4-FFF2-40B4-BE49-F238E27FC236}">
                  <a16:creationId xmlns:a16="http://schemas.microsoft.com/office/drawing/2014/main" id="{372190FD-148A-1507-4449-D55EA2FA5B32}"/>
                </a:ext>
              </a:extLst>
            </p:cNvPr>
            <p:cNvSpPr txBox="1"/>
            <p:nvPr/>
          </p:nvSpPr>
          <p:spPr>
            <a:xfrm>
              <a:off x="1667511" y="5619500"/>
              <a:ext cx="6957948" cy="400110"/>
            </a:xfrm>
            <a:prstGeom prst="rect">
              <a:avLst/>
            </a:prstGeom>
            <a:noFill/>
          </p:spPr>
          <p:txBody>
            <a:bodyPr wrap="square">
              <a:spAutoFit/>
            </a:bodyPr>
            <a:lstStyle/>
            <a:p>
              <a:r>
                <a:rPr lang="en-US" sz="2000" dirty="0">
                  <a:solidFill>
                    <a:srgbClr val="C00000"/>
                  </a:solidFill>
                </a:rPr>
                <a:t>Cumulative revenue – Revenue already recognized = </a:t>
              </a:r>
            </a:p>
          </p:txBody>
        </p:sp>
        <p:sp>
          <p:nvSpPr>
            <p:cNvPr id="19" name="Rectangle 18">
              <a:extLst>
                <a:ext uri="{FF2B5EF4-FFF2-40B4-BE49-F238E27FC236}">
                  <a16:creationId xmlns:a16="http://schemas.microsoft.com/office/drawing/2014/main" id="{ED5B842A-1F5D-7ED4-4056-C6B7DBA04933}"/>
                </a:ext>
              </a:extLst>
            </p:cNvPr>
            <p:cNvSpPr/>
            <p:nvPr/>
          </p:nvSpPr>
          <p:spPr>
            <a:xfrm>
              <a:off x="7794185" y="5619500"/>
              <a:ext cx="2622834" cy="400110"/>
            </a:xfrm>
            <a:prstGeom prst="rect">
              <a:avLst/>
            </a:prstGeom>
          </p:spPr>
          <p:txBody>
            <a:bodyPr wrap="none">
              <a:spAutoFit/>
            </a:bodyPr>
            <a:lstStyle/>
            <a:p>
              <a:r>
                <a:rPr lang="en-US" sz="2000" dirty="0">
                  <a:solidFill>
                    <a:srgbClr val="C00000"/>
                  </a:solidFill>
                </a:rPr>
                <a:t>$8M - $4.8M = $3.2M</a:t>
              </a:r>
            </a:p>
          </p:txBody>
        </p:sp>
      </p:grpSp>
      <p:sp>
        <p:nvSpPr>
          <p:cNvPr id="22" name="TextBox 21">
            <a:extLst>
              <a:ext uri="{FF2B5EF4-FFF2-40B4-BE49-F238E27FC236}">
                <a16:creationId xmlns:a16="http://schemas.microsoft.com/office/drawing/2014/main" id="{1555A94C-01A1-8C4E-54BE-6EF457A28D28}"/>
              </a:ext>
            </a:extLst>
          </p:cNvPr>
          <p:cNvSpPr txBox="1"/>
          <p:nvPr/>
        </p:nvSpPr>
        <p:spPr>
          <a:xfrm flipH="1">
            <a:off x="8583413" y="1176860"/>
            <a:ext cx="3161454" cy="923330"/>
          </a:xfrm>
          <a:prstGeom prst="rect">
            <a:avLst/>
          </a:prstGeom>
          <a:solidFill>
            <a:srgbClr val="CFB87C"/>
          </a:solidFill>
          <a:ln w="28575">
            <a:solidFill>
              <a:srgbClr val="CFB87C"/>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cs typeface="Calibri" panose="020F0502020204030204" pitchFamily="34" charset="0"/>
              </a:rPr>
              <a:t>Reminders from past: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cs typeface="Calibri" panose="020F0502020204030204" pitchFamily="34" charset="0"/>
              </a:rPr>
              <a:t>Spent $</a:t>
            </a:r>
            <a:r>
              <a:rPr lang="en-US" kern="0" dirty="0">
                <a:solidFill>
                  <a:prstClr val="black"/>
                </a:solidFill>
                <a:cs typeface="Calibri" panose="020F0502020204030204" pitchFamily="34" charset="0"/>
              </a:rPr>
              <a:t>1</a:t>
            </a:r>
            <a:r>
              <a:rPr kumimoji="0" lang="en-US" sz="1800" b="0" i="0" u="none" strike="noStrike" kern="0" cap="none" spc="0" normalizeH="0" baseline="0" noProof="0" dirty="0">
                <a:ln>
                  <a:noFill/>
                </a:ln>
                <a:solidFill>
                  <a:prstClr val="black"/>
                </a:solidFill>
                <a:effectLst/>
                <a:uLnTx/>
                <a:uFillTx/>
                <a:cs typeface="Calibri" panose="020F0502020204030204" pitchFamily="34" charset="0"/>
              </a:rPr>
              <a:t>M + $2M = $3M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cs typeface="Calibri" panose="020F0502020204030204" pitchFamily="34" charset="0"/>
              </a:rPr>
              <a:t>Recognized $</a:t>
            </a:r>
            <a:r>
              <a:rPr lang="en-US" kern="0" dirty="0">
                <a:solidFill>
                  <a:prstClr val="black"/>
                </a:solidFill>
                <a:cs typeface="Calibri" panose="020F0502020204030204" pitchFamily="34" charset="0"/>
              </a:rPr>
              <a:t>4.8</a:t>
            </a:r>
            <a:r>
              <a:rPr kumimoji="0" lang="en-US" sz="1800" b="0" i="0" u="none" strike="noStrike" kern="0" cap="none" spc="0" normalizeH="0" baseline="0" noProof="0" dirty="0">
                <a:ln>
                  <a:noFill/>
                </a:ln>
                <a:solidFill>
                  <a:prstClr val="black"/>
                </a:solidFill>
                <a:effectLst/>
                <a:uLnTx/>
                <a:uFillTx/>
                <a:cs typeface="Calibri" panose="020F0502020204030204" pitchFamily="34" charset="0"/>
              </a:rPr>
              <a:t>M revenue</a:t>
            </a:r>
          </a:p>
        </p:txBody>
      </p:sp>
      <p:sp>
        <p:nvSpPr>
          <p:cNvPr id="4" name="Rectangle 3">
            <a:extLst>
              <a:ext uri="{FF2B5EF4-FFF2-40B4-BE49-F238E27FC236}">
                <a16:creationId xmlns:a16="http://schemas.microsoft.com/office/drawing/2014/main" id="{76B51B03-0FC9-18B9-1DC0-28B82C4A1193}"/>
              </a:ext>
            </a:extLst>
          </p:cNvPr>
          <p:cNvSpPr/>
          <p:nvPr/>
        </p:nvSpPr>
        <p:spPr>
          <a:xfrm>
            <a:off x="8324874" y="3567599"/>
            <a:ext cx="896399" cy="707886"/>
          </a:xfrm>
          <a:prstGeom prst="rect">
            <a:avLst/>
          </a:prstGeom>
        </p:spPr>
        <p:txBody>
          <a:bodyPr wrap="none">
            <a:spAutoFit/>
          </a:bodyPr>
          <a:lstStyle/>
          <a:p>
            <a:pPr algn="ctr">
              <a:spcAft>
                <a:spcPts val="0"/>
              </a:spcAft>
            </a:pPr>
            <a:r>
              <a:rPr lang="en-US" sz="2000" dirty="0">
                <a:solidFill>
                  <a:srgbClr val="C00000"/>
                </a:solidFill>
              </a:rPr>
              <a:t>$5.2M</a:t>
            </a:r>
          </a:p>
          <a:p>
            <a:pPr algn="ctr"/>
            <a:r>
              <a:rPr lang="en-US" sz="2000" dirty="0">
                <a:solidFill>
                  <a:srgbClr val="C00000"/>
                </a:solidFill>
              </a:rPr>
              <a:t>$5.2M</a:t>
            </a:r>
          </a:p>
        </p:txBody>
      </p:sp>
      <p:cxnSp>
        <p:nvCxnSpPr>
          <p:cNvPr id="5" name="Straight Connector 4">
            <a:extLst>
              <a:ext uri="{FF2B5EF4-FFF2-40B4-BE49-F238E27FC236}">
                <a16:creationId xmlns:a16="http://schemas.microsoft.com/office/drawing/2014/main" id="{7FF98777-4D5A-D7C1-7B18-F8898F22A12F}"/>
              </a:ext>
            </a:extLst>
          </p:cNvPr>
          <p:cNvCxnSpPr>
            <a:cxnSpLocks/>
          </p:cNvCxnSpPr>
          <p:nvPr/>
        </p:nvCxnSpPr>
        <p:spPr bwMode="auto">
          <a:xfrm>
            <a:off x="8498570" y="3916633"/>
            <a:ext cx="570665" cy="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3FBBC692-9F99-9C98-2D78-EFA95DB5C08B}"/>
              </a:ext>
            </a:extLst>
          </p:cNvPr>
          <p:cNvSpPr txBox="1"/>
          <p:nvPr/>
        </p:nvSpPr>
        <p:spPr>
          <a:xfrm flipH="1">
            <a:off x="8079413" y="3706715"/>
            <a:ext cx="423393" cy="400110"/>
          </a:xfrm>
          <a:prstGeom prst="rect">
            <a:avLst/>
          </a:prstGeom>
          <a:noFill/>
        </p:spPr>
        <p:txBody>
          <a:bodyPr wrap="square" rtlCol="0">
            <a:spAutoFit/>
          </a:bodyPr>
          <a:lstStyle/>
          <a:p>
            <a:r>
              <a:rPr lang="en-US" sz="2000" dirty="0">
                <a:solidFill>
                  <a:srgbClr val="C00000"/>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87744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760396" y="196058"/>
            <a:ext cx="9617093" cy="1143000"/>
          </a:xfrm>
        </p:spPr>
        <p:txBody>
          <a:bodyPr>
            <a:normAutofit/>
          </a:bodyPr>
          <a:lstStyle/>
          <a:p>
            <a:r>
              <a:rPr lang="en-US" altLang="en-US" sz="4000" dirty="0"/>
              <a:t>Method 1: Recognize over time</a:t>
            </a:r>
          </a:p>
        </p:txBody>
      </p:sp>
      <p:sp>
        <p:nvSpPr>
          <p:cNvPr id="37891" name="Content Placeholder 1"/>
          <p:cNvSpPr>
            <a:spLocks noGrp="1"/>
          </p:cNvSpPr>
          <p:nvPr>
            <p:ph idx="1"/>
          </p:nvPr>
        </p:nvSpPr>
        <p:spPr>
          <a:xfrm>
            <a:off x="924024" y="1608139"/>
            <a:ext cx="10626291" cy="3800475"/>
          </a:xfrm>
        </p:spPr>
        <p:txBody>
          <a:bodyPr>
            <a:normAutofit/>
          </a:bodyPr>
          <a:lstStyle/>
          <a:p>
            <a:pPr marL="0" indent="0">
              <a:lnSpc>
                <a:spcPct val="100000"/>
              </a:lnSpc>
              <a:spcBef>
                <a:spcPts val="1200"/>
              </a:spcBef>
              <a:buNone/>
            </a:pPr>
            <a:r>
              <a:rPr lang="en-US" altLang="en-US" u="sng" dirty="0">
                <a:solidFill>
                  <a:srgbClr val="000000"/>
                </a:solidFill>
              </a:rPr>
              <a:t>Steps:</a:t>
            </a:r>
          </a:p>
          <a:p>
            <a:pPr marL="457200" indent="-457200">
              <a:lnSpc>
                <a:spcPct val="100000"/>
              </a:lnSpc>
              <a:spcBef>
                <a:spcPts val="1200"/>
              </a:spcBef>
              <a:buFont typeface="HelveticaNeue BoldCond"/>
              <a:buAutoNum type="arabicPeriod"/>
            </a:pPr>
            <a:r>
              <a:rPr lang="en-US" altLang="en-US" dirty="0">
                <a:solidFill>
                  <a:srgbClr val="000000"/>
                </a:solidFill>
              </a:rPr>
              <a:t>Track costs as incurred</a:t>
            </a:r>
          </a:p>
          <a:p>
            <a:pPr marL="457200" indent="-457200">
              <a:lnSpc>
                <a:spcPct val="100000"/>
              </a:lnSpc>
              <a:spcBef>
                <a:spcPts val="1200"/>
              </a:spcBef>
              <a:buFont typeface="HelveticaNeue BoldCond"/>
              <a:buAutoNum type="arabicPeriod" startAt="2"/>
            </a:pPr>
            <a:r>
              <a:rPr lang="en-US" altLang="en-US" dirty="0">
                <a:solidFill>
                  <a:srgbClr val="000000"/>
                </a:solidFill>
              </a:rPr>
              <a:t>Bill customer</a:t>
            </a:r>
          </a:p>
          <a:p>
            <a:pPr marL="457200" indent="-457200">
              <a:lnSpc>
                <a:spcPct val="100000"/>
              </a:lnSpc>
              <a:spcBef>
                <a:spcPts val="1200"/>
              </a:spcBef>
              <a:buFont typeface="HelveticaNeue BoldCond"/>
              <a:buAutoNum type="arabicPeriod" startAt="3"/>
            </a:pPr>
            <a:r>
              <a:rPr lang="en-US" altLang="en-US" dirty="0">
                <a:solidFill>
                  <a:srgbClr val="000000"/>
                </a:solidFill>
              </a:rPr>
              <a:t>Collect cash from customer</a:t>
            </a:r>
          </a:p>
          <a:p>
            <a:pPr marL="457200" indent="-457200">
              <a:lnSpc>
                <a:spcPct val="100000"/>
              </a:lnSpc>
              <a:spcBef>
                <a:spcPts val="1200"/>
              </a:spcBef>
              <a:buFont typeface="HelveticaNeue BoldCond"/>
              <a:buAutoNum type="arabicPeriod" startAt="4"/>
            </a:pPr>
            <a:r>
              <a:rPr lang="en-US" altLang="en-US" dirty="0">
                <a:solidFill>
                  <a:srgbClr val="000000"/>
                </a:solidFill>
              </a:rPr>
              <a:t>Recognize revenue and expense</a:t>
            </a:r>
          </a:p>
          <a:p>
            <a:pPr marL="457200" indent="-457200">
              <a:lnSpc>
                <a:spcPct val="100000"/>
              </a:lnSpc>
              <a:spcBef>
                <a:spcPts val="1200"/>
              </a:spcBef>
              <a:buFont typeface="HelveticaNeue BoldCond"/>
              <a:buAutoNum type="arabicPeriod" startAt="4"/>
            </a:pPr>
            <a:r>
              <a:rPr lang="en-US" altLang="en-US" dirty="0">
                <a:solidFill>
                  <a:srgbClr val="000000"/>
                </a:solidFill>
              </a:rPr>
              <a:t>Finish project: close out construction accounts</a:t>
            </a:r>
          </a:p>
        </p:txBody>
      </p:sp>
    </p:spTree>
    <p:extLst>
      <p:ext uri="{BB962C8B-B14F-4D97-AF65-F5344CB8AC3E}">
        <p14:creationId xmlns:p14="http://schemas.microsoft.com/office/powerpoint/2010/main" val="348503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sz="3600" dirty="0"/>
              <a:t>Step 1: Track costs as incurred</a:t>
            </a:r>
          </a:p>
        </p:txBody>
      </p:sp>
      <p:sp>
        <p:nvSpPr>
          <p:cNvPr id="8195" name="Content Placeholder 1"/>
          <p:cNvSpPr>
            <a:spLocks noGrp="1"/>
          </p:cNvSpPr>
          <p:nvPr>
            <p:ph idx="1"/>
          </p:nvPr>
        </p:nvSpPr>
        <p:spPr>
          <a:xfrm>
            <a:off x="903563" y="1773029"/>
            <a:ext cx="10087987" cy="2850356"/>
          </a:xfrm>
        </p:spPr>
        <p:txBody>
          <a:bodyPr/>
          <a:lstStyle/>
          <a:p>
            <a:pPr marL="0" indent="0">
              <a:spcAft>
                <a:spcPts val="450"/>
              </a:spcAft>
              <a:buNone/>
            </a:pPr>
            <a:r>
              <a:rPr lang="en-US" altLang="en-US" dirty="0"/>
              <a:t>Accumulate construction costs by increasing an inventory-type asset on the balance sheet.</a:t>
            </a:r>
          </a:p>
          <a:p>
            <a:pPr>
              <a:spcAft>
                <a:spcPts val="450"/>
              </a:spcAft>
              <a:buFont typeface="+mj-lt"/>
              <a:buAutoNum type="arabicPeriod"/>
            </a:pPr>
            <a:endParaRPr lang="en-US" altLang="en-US" dirty="0"/>
          </a:p>
          <a:p>
            <a:pPr>
              <a:spcAft>
                <a:spcPts val="450"/>
              </a:spcAft>
              <a:buFont typeface="+mj-lt"/>
              <a:buAutoNum type="arabicPeriod"/>
            </a:pPr>
            <a:endParaRPr lang="en-US" altLang="en-US" dirty="0"/>
          </a:p>
        </p:txBody>
      </p:sp>
      <p:sp>
        <p:nvSpPr>
          <p:cNvPr id="3" name="TextBox 2">
            <a:extLst>
              <a:ext uri="{FF2B5EF4-FFF2-40B4-BE49-F238E27FC236}">
                <a16:creationId xmlns:a16="http://schemas.microsoft.com/office/drawing/2014/main" id="{E5586CDB-A835-410D-929C-05830CE13FD9}"/>
              </a:ext>
            </a:extLst>
          </p:cNvPr>
          <p:cNvSpPr txBox="1"/>
          <p:nvPr/>
        </p:nvSpPr>
        <p:spPr>
          <a:xfrm>
            <a:off x="1200450" y="3073556"/>
            <a:ext cx="7971271" cy="830997"/>
          </a:xfrm>
          <a:prstGeom prst="rect">
            <a:avLst/>
          </a:prstGeom>
          <a:noFill/>
        </p:spPr>
        <p:txBody>
          <a:bodyPr wrap="square" rtlCol="0">
            <a:spAutoFit/>
          </a:bodyPr>
          <a:lstStyle/>
          <a:p>
            <a:r>
              <a:rPr lang="en-US" sz="2400" b="1" i="1" dirty="0"/>
              <a:t>Construction in Progress (B-A)		xx</a:t>
            </a:r>
          </a:p>
          <a:p>
            <a:r>
              <a:rPr lang="en-US" sz="2400" b="1" i="1" dirty="0"/>
              <a:t>	Cash (B-A) or A/P (B-L)			xx</a:t>
            </a:r>
            <a:endParaRPr lang="en-US" sz="2000" b="1" i="1" dirty="0"/>
          </a:p>
        </p:txBody>
      </p:sp>
      <p:sp>
        <p:nvSpPr>
          <p:cNvPr id="2" name="Rectangle 1">
            <a:extLst>
              <a:ext uri="{FF2B5EF4-FFF2-40B4-BE49-F238E27FC236}">
                <a16:creationId xmlns:a16="http://schemas.microsoft.com/office/drawing/2014/main" id="{7A15D633-2E41-BA4C-2BBC-932CD776A18A}"/>
              </a:ext>
            </a:extLst>
          </p:cNvPr>
          <p:cNvSpPr/>
          <p:nvPr/>
        </p:nvSpPr>
        <p:spPr>
          <a:xfrm>
            <a:off x="1200450" y="4873671"/>
            <a:ext cx="4609499" cy="99055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Role #1: </a:t>
            </a:r>
            <a:r>
              <a:rPr lang="en-US" sz="2000" dirty="0">
                <a:solidFill>
                  <a:sysClr val="windowText" lastClr="000000"/>
                </a:solidFill>
              </a:rPr>
              <a:t>Hold the asset that we’re constructing (similar to inventory)</a:t>
            </a:r>
          </a:p>
        </p:txBody>
      </p:sp>
      <p:cxnSp>
        <p:nvCxnSpPr>
          <p:cNvPr id="4" name="Straight Arrow Connector 3">
            <a:extLst>
              <a:ext uri="{FF2B5EF4-FFF2-40B4-BE49-F238E27FC236}">
                <a16:creationId xmlns:a16="http://schemas.microsoft.com/office/drawing/2014/main" id="{5A8C1055-06BC-4FB8-C82F-0F694A7AF6B1}"/>
              </a:ext>
            </a:extLst>
          </p:cNvPr>
          <p:cNvCxnSpPr>
            <a:cxnSpLocks/>
          </p:cNvCxnSpPr>
          <p:nvPr/>
        </p:nvCxnSpPr>
        <p:spPr>
          <a:xfrm>
            <a:off x="1417739" y="3624044"/>
            <a:ext cx="0" cy="107062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248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sz="3600" dirty="0"/>
              <a:t>Step 2: Bill customer</a:t>
            </a:r>
          </a:p>
        </p:txBody>
      </p:sp>
      <p:sp>
        <p:nvSpPr>
          <p:cNvPr id="8195" name="Content Placeholder 1"/>
          <p:cNvSpPr>
            <a:spLocks noGrp="1"/>
          </p:cNvSpPr>
          <p:nvPr>
            <p:ph idx="1"/>
          </p:nvPr>
        </p:nvSpPr>
        <p:spPr>
          <a:xfrm>
            <a:off x="903563" y="1773029"/>
            <a:ext cx="10087987" cy="2850356"/>
          </a:xfrm>
        </p:spPr>
        <p:txBody>
          <a:bodyPr/>
          <a:lstStyle/>
          <a:p>
            <a:pPr marL="0" indent="0">
              <a:spcAft>
                <a:spcPts val="450"/>
              </a:spcAft>
              <a:buNone/>
            </a:pPr>
            <a:r>
              <a:rPr lang="en-US" altLang="en-US" dirty="0"/>
              <a:t>When billing customer, increase A/R and Billings on Construction in Progress (contra-asset)</a:t>
            </a:r>
          </a:p>
          <a:p>
            <a:pPr>
              <a:spcAft>
                <a:spcPts val="450"/>
              </a:spcAft>
              <a:buFont typeface="+mj-lt"/>
              <a:buAutoNum type="arabicPeriod"/>
            </a:pPr>
            <a:endParaRPr lang="en-US" altLang="en-US" dirty="0"/>
          </a:p>
          <a:p>
            <a:pPr>
              <a:spcAft>
                <a:spcPts val="450"/>
              </a:spcAft>
              <a:buFont typeface="+mj-lt"/>
              <a:buAutoNum type="arabicPeriod"/>
            </a:pPr>
            <a:endParaRPr lang="en-US" altLang="en-US" dirty="0"/>
          </a:p>
        </p:txBody>
      </p:sp>
      <p:sp>
        <p:nvSpPr>
          <p:cNvPr id="3" name="TextBox 2">
            <a:extLst>
              <a:ext uri="{FF2B5EF4-FFF2-40B4-BE49-F238E27FC236}">
                <a16:creationId xmlns:a16="http://schemas.microsoft.com/office/drawing/2014/main" id="{E5586CDB-A835-410D-929C-05830CE13FD9}"/>
              </a:ext>
            </a:extLst>
          </p:cNvPr>
          <p:cNvSpPr txBox="1"/>
          <p:nvPr/>
        </p:nvSpPr>
        <p:spPr>
          <a:xfrm>
            <a:off x="1200450" y="3073556"/>
            <a:ext cx="7971271" cy="830997"/>
          </a:xfrm>
          <a:prstGeom prst="rect">
            <a:avLst/>
          </a:prstGeom>
          <a:noFill/>
        </p:spPr>
        <p:txBody>
          <a:bodyPr wrap="square" rtlCol="0">
            <a:spAutoFit/>
          </a:bodyPr>
          <a:lstStyle/>
          <a:p>
            <a:r>
              <a:rPr lang="en-US" sz="2400" b="1" i="1" dirty="0"/>
              <a:t>Accounts Receivable (B-A)		xx</a:t>
            </a:r>
          </a:p>
          <a:p>
            <a:r>
              <a:rPr lang="en-US" sz="2400" b="1" i="1" dirty="0"/>
              <a:t>	Billings on CIP (B-XA)			xx</a:t>
            </a:r>
            <a:endParaRPr lang="en-US" sz="2000" b="1" i="1" dirty="0"/>
          </a:p>
        </p:txBody>
      </p:sp>
      <p:sp>
        <p:nvSpPr>
          <p:cNvPr id="9" name="TextBox 8">
            <a:extLst>
              <a:ext uri="{FF2B5EF4-FFF2-40B4-BE49-F238E27FC236}">
                <a16:creationId xmlns:a16="http://schemas.microsoft.com/office/drawing/2014/main" id="{B9CDD8D5-665C-4417-A7C7-F048F8A87293}"/>
              </a:ext>
            </a:extLst>
          </p:cNvPr>
          <p:cNvSpPr txBox="1"/>
          <p:nvPr/>
        </p:nvSpPr>
        <p:spPr>
          <a:xfrm>
            <a:off x="2033279" y="4804836"/>
            <a:ext cx="6493612" cy="461665"/>
          </a:xfrm>
          <a:prstGeom prst="rect">
            <a:avLst/>
          </a:prstGeom>
          <a:noFill/>
        </p:spPr>
        <p:txBody>
          <a:bodyPr wrap="square" rtlCol="0">
            <a:spAutoFit/>
          </a:bodyPr>
          <a:lstStyle/>
          <a:p>
            <a:r>
              <a:rPr lang="en-US" sz="2400" dirty="0">
                <a:solidFill>
                  <a:srgbClr val="FF0000"/>
                </a:solidFill>
                <a:cs typeface="Calibri" panose="020F0502020204030204" pitchFamily="34" charset="0"/>
              </a:rPr>
              <a:t>Contra-asset to Construction in Progress (CIP)</a:t>
            </a:r>
          </a:p>
        </p:txBody>
      </p:sp>
      <p:sp>
        <p:nvSpPr>
          <p:cNvPr id="10" name="Arc 9">
            <a:extLst>
              <a:ext uri="{FF2B5EF4-FFF2-40B4-BE49-F238E27FC236}">
                <a16:creationId xmlns:a16="http://schemas.microsoft.com/office/drawing/2014/main" id="{E8A02065-5D6B-42A0-A626-01B9468D4B65}"/>
              </a:ext>
            </a:extLst>
          </p:cNvPr>
          <p:cNvSpPr/>
          <p:nvPr/>
        </p:nvSpPr>
        <p:spPr>
          <a:xfrm rot="8124005" flipV="1">
            <a:off x="1720837" y="3548647"/>
            <a:ext cx="1762950" cy="1425553"/>
          </a:xfrm>
          <a:prstGeom prst="arc">
            <a:avLst/>
          </a:prstGeom>
          <a:ln w="38100">
            <a:solidFill>
              <a:srgbClr val="FF0000"/>
            </a:solidFill>
            <a:headEnd type="triangle" w="med" len="med"/>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675267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sz="3600" dirty="0"/>
              <a:t>Step 3: Collect cash from customer</a:t>
            </a:r>
          </a:p>
        </p:txBody>
      </p:sp>
      <p:sp>
        <p:nvSpPr>
          <p:cNvPr id="8195" name="Content Placeholder 1"/>
          <p:cNvSpPr>
            <a:spLocks noGrp="1"/>
          </p:cNvSpPr>
          <p:nvPr>
            <p:ph idx="1"/>
          </p:nvPr>
        </p:nvSpPr>
        <p:spPr>
          <a:xfrm>
            <a:off x="903563" y="1773029"/>
            <a:ext cx="10087987" cy="2850356"/>
          </a:xfrm>
        </p:spPr>
        <p:txBody>
          <a:bodyPr/>
          <a:lstStyle/>
          <a:p>
            <a:pPr marL="0" indent="0">
              <a:spcAft>
                <a:spcPts val="450"/>
              </a:spcAft>
              <a:buNone/>
            </a:pPr>
            <a:r>
              <a:rPr lang="en-US" altLang="en-US" dirty="0"/>
              <a:t>When cash is received, record cash and reduce A/R</a:t>
            </a:r>
          </a:p>
          <a:p>
            <a:pPr>
              <a:spcAft>
                <a:spcPts val="450"/>
              </a:spcAft>
              <a:buFont typeface="+mj-lt"/>
              <a:buAutoNum type="arabicPeriod"/>
            </a:pPr>
            <a:endParaRPr lang="en-US" altLang="en-US" dirty="0"/>
          </a:p>
          <a:p>
            <a:pPr>
              <a:spcAft>
                <a:spcPts val="450"/>
              </a:spcAft>
              <a:buFont typeface="+mj-lt"/>
              <a:buAutoNum type="arabicPeriod"/>
            </a:pPr>
            <a:endParaRPr lang="en-US" altLang="en-US" dirty="0"/>
          </a:p>
        </p:txBody>
      </p:sp>
      <p:sp>
        <p:nvSpPr>
          <p:cNvPr id="3" name="TextBox 2">
            <a:extLst>
              <a:ext uri="{FF2B5EF4-FFF2-40B4-BE49-F238E27FC236}">
                <a16:creationId xmlns:a16="http://schemas.microsoft.com/office/drawing/2014/main" id="{E5586CDB-A835-410D-929C-05830CE13FD9}"/>
              </a:ext>
            </a:extLst>
          </p:cNvPr>
          <p:cNvSpPr txBox="1"/>
          <p:nvPr/>
        </p:nvSpPr>
        <p:spPr>
          <a:xfrm>
            <a:off x="1200450" y="3073556"/>
            <a:ext cx="7971271" cy="830997"/>
          </a:xfrm>
          <a:prstGeom prst="rect">
            <a:avLst/>
          </a:prstGeom>
          <a:noFill/>
        </p:spPr>
        <p:txBody>
          <a:bodyPr wrap="square" rtlCol="0">
            <a:spAutoFit/>
          </a:bodyPr>
          <a:lstStyle/>
          <a:p>
            <a:r>
              <a:rPr lang="en-US" sz="2400" b="1" i="1" dirty="0"/>
              <a:t>Cash (B-A)					xx</a:t>
            </a:r>
          </a:p>
          <a:p>
            <a:r>
              <a:rPr lang="en-US" sz="2400" b="1" i="1" dirty="0"/>
              <a:t>	Accounts Receivable (B-A)		xx</a:t>
            </a:r>
            <a:endParaRPr lang="en-US" sz="2000" b="1" i="1" dirty="0"/>
          </a:p>
        </p:txBody>
      </p:sp>
    </p:spTree>
    <p:extLst>
      <p:ext uri="{BB962C8B-B14F-4D97-AF65-F5344CB8AC3E}">
        <p14:creationId xmlns:p14="http://schemas.microsoft.com/office/powerpoint/2010/main" val="73958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sz="3600" dirty="0"/>
              <a:t>Step 4: Recognize revenue and costs</a:t>
            </a:r>
          </a:p>
        </p:txBody>
      </p:sp>
      <p:sp>
        <p:nvSpPr>
          <p:cNvPr id="8195" name="Content Placeholder 1"/>
          <p:cNvSpPr>
            <a:spLocks noGrp="1"/>
          </p:cNvSpPr>
          <p:nvPr>
            <p:ph idx="1"/>
          </p:nvPr>
        </p:nvSpPr>
        <p:spPr>
          <a:xfrm>
            <a:off x="903563" y="1773029"/>
            <a:ext cx="10087987" cy="2850356"/>
          </a:xfrm>
        </p:spPr>
        <p:txBody>
          <a:bodyPr/>
          <a:lstStyle/>
          <a:p>
            <a:pPr marL="0" indent="0">
              <a:spcAft>
                <a:spcPts val="450"/>
              </a:spcAft>
              <a:buNone/>
            </a:pPr>
            <a:r>
              <a:rPr lang="en-US" altLang="en-US" dirty="0"/>
              <a:t>Record revenue and costs on income statement at the end of each period. Gross profit goes into CIP account.</a:t>
            </a:r>
          </a:p>
          <a:p>
            <a:pPr>
              <a:spcAft>
                <a:spcPts val="450"/>
              </a:spcAft>
              <a:buFont typeface="+mj-lt"/>
              <a:buAutoNum type="arabicPeriod"/>
            </a:pPr>
            <a:endParaRPr lang="en-US" altLang="en-US" dirty="0"/>
          </a:p>
        </p:txBody>
      </p:sp>
      <p:sp>
        <p:nvSpPr>
          <p:cNvPr id="3" name="TextBox 2">
            <a:extLst>
              <a:ext uri="{FF2B5EF4-FFF2-40B4-BE49-F238E27FC236}">
                <a16:creationId xmlns:a16="http://schemas.microsoft.com/office/drawing/2014/main" id="{E5586CDB-A835-410D-929C-05830CE13FD9}"/>
              </a:ext>
            </a:extLst>
          </p:cNvPr>
          <p:cNvSpPr txBox="1"/>
          <p:nvPr/>
        </p:nvSpPr>
        <p:spPr>
          <a:xfrm>
            <a:off x="1200450" y="3073556"/>
            <a:ext cx="7971271" cy="1200329"/>
          </a:xfrm>
          <a:prstGeom prst="rect">
            <a:avLst/>
          </a:prstGeom>
          <a:noFill/>
        </p:spPr>
        <p:txBody>
          <a:bodyPr wrap="square" rtlCol="0">
            <a:spAutoFit/>
          </a:bodyPr>
          <a:lstStyle/>
          <a:p>
            <a:r>
              <a:rPr lang="en-US" sz="2400" b="1" i="1" dirty="0"/>
              <a:t>Construction Costs (I-E)			xx</a:t>
            </a:r>
          </a:p>
          <a:p>
            <a:r>
              <a:rPr lang="en-US" sz="2400" b="1" i="1" dirty="0"/>
              <a:t>Construction in Progress (B-A)		xx</a:t>
            </a:r>
          </a:p>
          <a:p>
            <a:r>
              <a:rPr lang="en-US" sz="2400" b="1" i="1" dirty="0"/>
              <a:t>	Revenue (I-R)				xx</a:t>
            </a:r>
            <a:endParaRPr lang="en-US" sz="2000" b="1" i="1" dirty="0"/>
          </a:p>
        </p:txBody>
      </p:sp>
      <p:sp>
        <p:nvSpPr>
          <p:cNvPr id="7" name="Arc 6">
            <a:extLst>
              <a:ext uri="{FF2B5EF4-FFF2-40B4-BE49-F238E27FC236}">
                <a16:creationId xmlns:a16="http://schemas.microsoft.com/office/drawing/2014/main" id="{4EDD75B7-F4B4-42BA-97A7-6FD95A0AD650}"/>
              </a:ext>
            </a:extLst>
          </p:cNvPr>
          <p:cNvSpPr/>
          <p:nvPr/>
        </p:nvSpPr>
        <p:spPr>
          <a:xfrm rot="21405566" flipV="1">
            <a:off x="6533292" y="2923747"/>
            <a:ext cx="1762950" cy="783726"/>
          </a:xfrm>
          <a:prstGeom prst="arc">
            <a:avLst/>
          </a:prstGeom>
          <a:noFill/>
          <a:ln w="38100" cap="flat" cmpd="sng" algn="ctr">
            <a:solidFill>
              <a:srgbClr val="FF0000"/>
            </a:solidFill>
            <a:prstDash val="solid"/>
            <a:miter lim="800000"/>
            <a:headEnd type="triangle" w="med" len="med"/>
            <a:tailEnd type="non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Calibri"/>
              <a:ea typeface="+mn-ea"/>
              <a:cs typeface="+mn-cs"/>
            </a:endParaRPr>
          </a:p>
        </p:txBody>
      </p:sp>
      <p:sp>
        <p:nvSpPr>
          <p:cNvPr id="8" name="TextBox 7">
            <a:extLst>
              <a:ext uri="{FF2B5EF4-FFF2-40B4-BE49-F238E27FC236}">
                <a16:creationId xmlns:a16="http://schemas.microsoft.com/office/drawing/2014/main" id="{161C6B9C-3EF0-492B-962D-6A68109959ED}"/>
              </a:ext>
            </a:extLst>
          </p:cNvPr>
          <p:cNvSpPr txBox="1"/>
          <p:nvPr/>
        </p:nvSpPr>
        <p:spPr>
          <a:xfrm>
            <a:off x="7946672" y="2817399"/>
            <a:ext cx="3060634" cy="830997"/>
          </a:xfrm>
          <a:prstGeom prst="rect">
            <a:avLst/>
          </a:prstGeom>
          <a:noFill/>
          <a:ln>
            <a:noFill/>
          </a:ln>
        </p:spPr>
        <p:txBody>
          <a:bodyPr wrap="square" rtlCol="0">
            <a:spAutoFit/>
          </a:bodyPr>
          <a:lstStyle/>
          <a:p>
            <a:pPr>
              <a:tabLst>
                <a:tab pos="627063" algn="l"/>
              </a:tabLst>
            </a:pPr>
            <a:r>
              <a:rPr lang="en-US" sz="2400" dirty="0">
                <a:solidFill>
                  <a:srgbClr val="FF0000"/>
                </a:solidFill>
                <a:latin typeface="Roboto Condensed"/>
                <a:cs typeface="Calibri" panose="020F0502020204030204" pitchFamily="34" charset="0"/>
              </a:rPr>
              <a:t>Plug 	</a:t>
            </a:r>
            <a:r>
              <a:rPr lang="en-US" sz="2400" dirty="0">
                <a:solidFill>
                  <a:srgbClr val="FF0000"/>
                </a:solidFill>
                <a:latin typeface="Roboto Condensed"/>
                <a:cs typeface="Calibri" panose="020F0502020204030204" pitchFamily="34" charset="0"/>
                <a:sym typeface="Wingdings" panose="05000000000000000000" pitchFamily="2" charset="2"/>
              </a:rPr>
              <a:t>=</a:t>
            </a:r>
            <a:r>
              <a:rPr lang="en-US" sz="2400" dirty="0">
                <a:solidFill>
                  <a:srgbClr val="FF0000"/>
                </a:solidFill>
                <a:latin typeface="Roboto Condensed"/>
                <a:cs typeface="Calibri" panose="020F0502020204030204" pitchFamily="34" charset="0"/>
              </a:rPr>
              <a:t> Revenue – Cost</a:t>
            </a:r>
          </a:p>
          <a:p>
            <a:pPr>
              <a:tabLst>
                <a:tab pos="627063" algn="l"/>
              </a:tabLst>
            </a:pPr>
            <a:r>
              <a:rPr lang="en-US" sz="2400" dirty="0">
                <a:solidFill>
                  <a:srgbClr val="FF0000"/>
                </a:solidFill>
                <a:latin typeface="Roboto Condensed"/>
                <a:cs typeface="Calibri" panose="020F0502020204030204" pitchFamily="34" charset="0"/>
              </a:rPr>
              <a:t>	= Profit</a:t>
            </a:r>
          </a:p>
        </p:txBody>
      </p:sp>
      <p:grpSp>
        <p:nvGrpSpPr>
          <p:cNvPr id="2" name="Group 1">
            <a:extLst>
              <a:ext uri="{FF2B5EF4-FFF2-40B4-BE49-F238E27FC236}">
                <a16:creationId xmlns:a16="http://schemas.microsoft.com/office/drawing/2014/main" id="{F92D97B6-4F03-4E37-8993-50D3727C6132}"/>
              </a:ext>
            </a:extLst>
          </p:cNvPr>
          <p:cNvGrpSpPr/>
          <p:nvPr/>
        </p:nvGrpSpPr>
        <p:grpSpPr>
          <a:xfrm>
            <a:off x="6720022" y="4472896"/>
            <a:ext cx="3357821" cy="2026396"/>
            <a:chOff x="4801191" y="4273885"/>
            <a:chExt cx="3357821" cy="2026396"/>
          </a:xfrm>
        </p:grpSpPr>
        <p:sp>
          <p:nvSpPr>
            <p:cNvPr id="9" name="Rectangle 8">
              <a:extLst>
                <a:ext uri="{FF2B5EF4-FFF2-40B4-BE49-F238E27FC236}">
                  <a16:creationId xmlns:a16="http://schemas.microsoft.com/office/drawing/2014/main" id="{28AB00EC-8335-4BC6-B63D-E2490175BF4A}"/>
                </a:ext>
              </a:extLst>
            </p:cNvPr>
            <p:cNvSpPr/>
            <p:nvPr/>
          </p:nvSpPr>
          <p:spPr>
            <a:xfrm>
              <a:off x="5004713" y="4273885"/>
              <a:ext cx="3154299" cy="202639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1F31E130-87C9-4532-AEE4-DC1629A5BCCC}"/>
                </a:ext>
              </a:extLst>
            </p:cNvPr>
            <p:cNvCxnSpPr>
              <a:cxnSpLocks/>
            </p:cNvCxnSpPr>
            <p:nvPr/>
          </p:nvCxnSpPr>
          <p:spPr>
            <a:xfrm>
              <a:off x="5159140" y="4814381"/>
              <a:ext cx="2819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D8EB8D1-D4BF-4386-A93B-D4262379E5C8}"/>
                </a:ext>
              </a:extLst>
            </p:cNvPr>
            <p:cNvCxnSpPr/>
            <p:nvPr/>
          </p:nvCxnSpPr>
          <p:spPr>
            <a:xfrm>
              <a:off x="5155473" y="5643056"/>
              <a:ext cx="2819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281F8A7-D468-4A90-B8EF-E63BA5EC5796}"/>
                </a:ext>
              </a:extLst>
            </p:cNvPr>
            <p:cNvCxnSpPr>
              <a:cxnSpLocks/>
            </p:cNvCxnSpPr>
            <p:nvPr/>
          </p:nvCxnSpPr>
          <p:spPr>
            <a:xfrm>
              <a:off x="6568840" y="4814381"/>
              <a:ext cx="0" cy="14859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43A53F6-6417-46B8-8158-F393BF677A58}"/>
                </a:ext>
              </a:extLst>
            </p:cNvPr>
            <p:cNvSpPr txBox="1"/>
            <p:nvPr/>
          </p:nvSpPr>
          <p:spPr>
            <a:xfrm>
              <a:off x="5121204" y="4420270"/>
              <a:ext cx="2991525" cy="400110"/>
            </a:xfrm>
            <a:prstGeom prst="rect">
              <a:avLst/>
            </a:prstGeom>
            <a:noFill/>
          </p:spPr>
          <p:txBody>
            <a:bodyPr wrap="none" rtlCol="0">
              <a:spAutoFit/>
            </a:bodyPr>
            <a:lstStyle/>
            <a:p>
              <a:pPr algn="ctr"/>
              <a:r>
                <a:rPr lang="en-US" sz="2000" i="1" dirty="0">
                  <a:solidFill>
                    <a:schemeClr val="tx2"/>
                  </a:solidFill>
                </a:rPr>
                <a:t>Construction in Progress</a:t>
              </a:r>
            </a:p>
          </p:txBody>
        </p:sp>
        <p:sp>
          <p:nvSpPr>
            <p:cNvPr id="14" name="TextBox 13">
              <a:extLst>
                <a:ext uri="{FF2B5EF4-FFF2-40B4-BE49-F238E27FC236}">
                  <a16:creationId xmlns:a16="http://schemas.microsoft.com/office/drawing/2014/main" id="{C489B918-5330-4FE6-A68D-1D27FA7949C3}"/>
                </a:ext>
              </a:extLst>
            </p:cNvPr>
            <p:cNvSpPr txBox="1"/>
            <p:nvPr/>
          </p:nvSpPr>
          <p:spPr>
            <a:xfrm>
              <a:off x="5004713" y="4814380"/>
              <a:ext cx="1876421" cy="369332"/>
            </a:xfrm>
            <a:prstGeom prst="rect">
              <a:avLst/>
            </a:prstGeom>
            <a:noFill/>
          </p:spPr>
          <p:txBody>
            <a:bodyPr wrap="square" rtlCol="0">
              <a:spAutoFit/>
            </a:bodyPr>
            <a:lstStyle/>
            <a:p>
              <a:r>
                <a:rPr lang="en-US" dirty="0">
                  <a:solidFill>
                    <a:schemeClr val="tx2"/>
                  </a:solidFill>
                </a:rPr>
                <a:t>Costs (Role 1)</a:t>
              </a:r>
            </a:p>
          </p:txBody>
        </p:sp>
        <p:sp>
          <p:nvSpPr>
            <p:cNvPr id="15" name="TextBox 14">
              <a:extLst>
                <a:ext uri="{FF2B5EF4-FFF2-40B4-BE49-F238E27FC236}">
                  <a16:creationId xmlns:a16="http://schemas.microsoft.com/office/drawing/2014/main" id="{AFC0A082-D793-447D-8099-0130D73FF482}"/>
                </a:ext>
              </a:extLst>
            </p:cNvPr>
            <p:cNvSpPr txBox="1"/>
            <p:nvPr/>
          </p:nvSpPr>
          <p:spPr>
            <a:xfrm>
              <a:off x="5016917" y="5120531"/>
              <a:ext cx="1612574" cy="369332"/>
            </a:xfrm>
            <a:prstGeom prst="rect">
              <a:avLst/>
            </a:prstGeom>
            <a:noFill/>
          </p:spPr>
          <p:txBody>
            <a:bodyPr wrap="square" rtlCol="0">
              <a:spAutoFit/>
            </a:bodyPr>
            <a:lstStyle/>
            <a:p>
              <a:r>
                <a:rPr lang="en-US" dirty="0">
                  <a:solidFill>
                    <a:schemeClr val="tx2"/>
                  </a:solidFill>
                </a:rPr>
                <a:t>Profit (Role 2)</a:t>
              </a:r>
            </a:p>
          </p:txBody>
        </p:sp>
        <p:sp>
          <p:nvSpPr>
            <p:cNvPr id="16" name="TextBox 15">
              <a:extLst>
                <a:ext uri="{FF2B5EF4-FFF2-40B4-BE49-F238E27FC236}">
                  <a16:creationId xmlns:a16="http://schemas.microsoft.com/office/drawing/2014/main" id="{86124EE5-7CA7-4B85-84B5-644432A0283A}"/>
                </a:ext>
              </a:extLst>
            </p:cNvPr>
            <p:cNvSpPr txBox="1"/>
            <p:nvPr/>
          </p:nvSpPr>
          <p:spPr>
            <a:xfrm>
              <a:off x="4801191" y="5653950"/>
              <a:ext cx="1876426" cy="646331"/>
            </a:xfrm>
            <a:prstGeom prst="rect">
              <a:avLst/>
            </a:prstGeom>
            <a:noFill/>
          </p:spPr>
          <p:txBody>
            <a:bodyPr wrap="square" rtlCol="0">
              <a:spAutoFit/>
            </a:bodyPr>
            <a:lstStyle/>
            <a:p>
              <a:pPr algn="ctr"/>
              <a:r>
                <a:rPr lang="en-US" dirty="0">
                  <a:solidFill>
                    <a:schemeClr val="tx2"/>
                  </a:solidFill>
                </a:rPr>
                <a:t>= Revenue </a:t>
              </a:r>
            </a:p>
            <a:p>
              <a:pPr algn="ctr"/>
              <a:r>
                <a:rPr lang="en-US" dirty="0">
                  <a:solidFill>
                    <a:schemeClr val="tx2"/>
                  </a:solidFill>
                </a:rPr>
                <a:t>To Date</a:t>
              </a:r>
            </a:p>
          </p:txBody>
        </p:sp>
      </p:grpSp>
      <p:sp>
        <p:nvSpPr>
          <p:cNvPr id="22" name="TextBox 21">
            <a:extLst>
              <a:ext uri="{FF2B5EF4-FFF2-40B4-BE49-F238E27FC236}">
                <a16:creationId xmlns:a16="http://schemas.microsoft.com/office/drawing/2014/main" id="{437DBE36-B64F-4CB1-908B-FEE12913BD0D}"/>
              </a:ext>
            </a:extLst>
          </p:cNvPr>
          <p:cNvSpPr txBox="1"/>
          <p:nvPr/>
        </p:nvSpPr>
        <p:spPr>
          <a:xfrm>
            <a:off x="886574" y="4913199"/>
            <a:ext cx="4986438" cy="400110"/>
          </a:xfrm>
          <a:prstGeom prst="rect">
            <a:avLst/>
          </a:prstGeom>
          <a:noFill/>
        </p:spPr>
        <p:txBody>
          <a:bodyPr wrap="square" rtlCol="0">
            <a:spAutoFit/>
          </a:bodyPr>
          <a:lstStyle/>
          <a:p>
            <a:r>
              <a:rPr lang="en-US" sz="2000" b="1" dirty="0">
                <a:solidFill>
                  <a:schemeClr val="bg1"/>
                </a:solidFill>
              </a:rPr>
              <a:t>How do we measure progress?</a:t>
            </a:r>
          </a:p>
        </p:txBody>
      </p:sp>
      <p:sp>
        <p:nvSpPr>
          <p:cNvPr id="4" name="Rectangle 3">
            <a:extLst>
              <a:ext uri="{FF2B5EF4-FFF2-40B4-BE49-F238E27FC236}">
                <a16:creationId xmlns:a16="http://schemas.microsoft.com/office/drawing/2014/main" id="{DF9511F9-2786-C744-AF0D-40250092698C}"/>
              </a:ext>
            </a:extLst>
          </p:cNvPr>
          <p:cNvSpPr/>
          <p:nvPr/>
        </p:nvSpPr>
        <p:spPr>
          <a:xfrm>
            <a:off x="1330607" y="4765785"/>
            <a:ext cx="4609499" cy="99055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Role #2: </a:t>
            </a:r>
            <a:r>
              <a:rPr lang="en-US" sz="2000" dirty="0">
                <a:solidFill>
                  <a:sysClr val="windowText" lastClr="000000"/>
                </a:solidFill>
              </a:rPr>
              <a:t>Hold the “profit” recognized to date (it eventually turns into A/R)</a:t>
            </a:r>
          </a:p>
        </p:txBody>
      </p:sp>
      <p:cxnSp>
        <p:nvCxnSpPr>
          <p:cNvPr id="5" name="Straight Arrow Connector 4">
            <a:extLst>
              <a:ext uri="{FF2B5EF4-FFF2-40B4-BE49-F238E27FC236}">
                <a16:creationId xmlns:a16="http://schemas.microsoft.com/office/drawing/2014/main" id="{13D1F7D1-405C-E362-5A80-26056BA45F43}"/>
              </a:ext>
            </a:extLst>
          </p:cNvPr>
          <p:cNvCxnSpPr>
            <a:cxnSpLocks/>
          </p:cNvCxnSpPr>
          <p:nvPr/>
        </p:nvCxnSpPr>
        <p:spPr>
          <a:xfrm>
            <a:off x="1417739" y="3847853"/>
            <a:ext cx="0" cy="8468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2354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8" grpId="0"/>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838200" y="178507"/>
            <a:ext cx="11169316" cy="1325563"/>
          </a:xfrm>
        </p:spPr>
        <p:txBody>
          <a:bodyPr>
            <a:normAutofit/>
          </a:bodyPr>
          <a:lstStyle/>
          <a:p>
            <a:r>
              <a:rPr lang="en-US" altLang="en-US" sz="2800" dirty="0"/>
              <a:t>Step 5: Finish project: Close construction accounts</a:t>
            </a:r>
            <a:endParaRPr lang="en-US" altLang="en-US" sz="3200" dirty="0"/>
          </a:p>
        </p:txBody>
      </p:sp>
      <p:sp>
        <p:nvSpPr>
          <p:cNvPr id="8195" name="Content Placeholder 1"/>
          <p:cNvSpPr>
            <a:spLocks noGrp="1"/>
          </p:cNvSpPr>
          <p:nvPr>
            <p:ph idx="1"/>
          </p:nvPr>
        </p:nvSpPr>
        <p:spPr>
          <a:xfrm>
            <a:off x="677423" y="1504070"/>
            <a:ext cx="11169316" cy="3335058"/>
          </a:xfrm>
        </p:spPr>
        <p:txBody>
          <a:bodyPr/>
          <a:lstStyle/>
          <a:p>
            <a:pPr>
              <a:lnSpc>
                <a:spcPct val="100000"/>
              </a:lnSpc>
              <a:spcBef>
                <a:spcPts val="0"/>
              </a:spcBef>
              <a:spcAft>
                <a:spcPts val="1200"/>
              </a:spcAft>
              <a:tabLst>
                <a:tab pos="3832225" algn="l"/>
              </a:tabLst>
            </a:pPr>
            <a:r>
              <a:rPr lang="en-US" altLang="en-US" dirty="0"/>
              <a:t>CIP (B-A) 	= Total Revenue (cost + profit) </a:t>
            </a:r>
          </a:p>
          <a:p>
            <a:pPr>
              <a:lnSpc>
                <a:spcPct val="100000"/>
              </a:lnSpc>
              <a:spcBef>
                <a:spcPts val="0"/>
              </a:spcBef>
              <a:spcAft>
                <a:spcPts val="1200"/>
              </a:spcAft>
              <a:tabLst>
                <a:tab pos="3832225" algn="l"/>
              </a:tabLst>
            </a:pPr>
            <a:r>
              <a:rPr lang="en-US" altLang="en-US" dirty="0"/>
              <a:t>Billings on CIP (B-XA) 	= Total Revenue (amount billed customer)</a:t>
            </a:r>
          </a:p>
          <a:p>
            <a:pPr>
              <a:lnSpc>
                <a:spcPct val="100000"/>
              </a:lnSpc>
              <a:spcBef>
                <a:spcPts val="0"/>
              </a:spcBef>
              <a:spcAft>
                <a:spcPts val="1200"/>
              </a:spcAft>
            </a:pPr>
            <a:r>
              <a:rPr lang="en-US" altLang="en-US" dirty="0"/>
              <a:t>Zero both out</a:t>
            </a:r>
          </a:p>
          <a:p>
            <a:pPr>
              <a:spcAft>
                <a:spcPts val="450"/>
              </a:spcAft>
              <a:buFont typeface="+mj-lt"/>
              <a:buAutoNum type="arabicPeriod"/>
            </a:pPr>
            <a:endParaRPr lang="en-US" altLang="en-US" dirty="0"/>
          </a:p>
          <a:p>
            <a:pPr>
              <a:spcAft>
                <a:spcPts val="450"/>
              </a:spcAft>
              <a:buFont typeface="+mj-lt"/>
              <a:buAutoNum type="arabicPeriod"/>
            </a:pPr>
            <a:endParaRPr lang="en-US" altLang="en-US" dirty="0"/>
          </a:p>
        </p:txBody>
      </p:sp>
      <p:sp>
        <p:nvSpPr>
          <p:cNvPr id="3" name="TextBox 2">
            <a:extLst>
              <a:ext uri="{FF2B5EF4-FFF2-40B4-BE49-F238E27FC236}">
                <a16:creationId xmlns:a16="http://schemas.microsoft.com/office/drawing/2014/main" id="{E5586CDB-A835-410D-929C-05830CE13FD9}"/>
              </a:ext>
            </a:extLst>
          </p:cNvPr>
          <p:cNvSpPr txBox="1"/>
          <p:nvPr/>
        </p:nvSpPr>
        <p:spPr>
          <a:xfrm>
            <a:off x="1200450" y="4008131"/>
            <a:ext cx="7971271" cy="830997"/>
          </a:xfrm>
          <a:prstGeom prst="rect">
            <a:avLst/>
          </a:prstGeom>
          <a:noFill/>
        </p:spPr>
        <p:txBody>
          <a:bodyPr wrap="square" rtlCol="0">
            <a:spAutoFit/>
          </a:bodyPr>
          <a:lstStyle/>
          <a:p>
            <a:r>
              <a:rPr lang="en-US" sz="2400" b="1" i="1" dirty="0"/>
              <a:t>Billings on CIP (B-XA)				xx</a:t>
            </a:r>
          </a:p>
          <a:p>
            <a:r>
              <a:rPr lang="en-US" sz="2400" b="1" i="1" dirty="0"/>
              <a:t>	Construction in Progress (B-A)			xx</a:t>
            </a:r>
            <a:endParaRPr lang="en-US" sz="2000" b="1" i="1" dirty="0"/>
          </a:p>
        </p:txBody>
      </p:sp>
    </p:spTree>
    <p:extLst>
      <p:ext uri="{BB962C8B-B14F-4D97-AF65-F5344CB8AC3E}">
        <p14:creationId xmlns:p14="http://schemas.microsoft.com/office/powerpoint/2010/main" val="59008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95FC4-CDEC-C587-E961-4971A1D81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7C6AE-405C-DAF9-FA33-EC867709D67B}"/>
              </a:ext>
            </a:extLst>
          </p:cNvPr>
          <p:cNvSpPr>
            <a:spLocks noGrp="1"/>
          </p:cNvSpPr>
          <p:nvPr>
            <p:ph type="title"/>
          </p:nvPr>
        </p:nvSpPr>
        <p:spPr>
          <a:xfrm>
            <a:off x="838199" y="178507"/>
            <a:ext cx="10674927" cy="1325563"/>
          </a:xfrm>
        </p:spPr>
        <p:txBody>
          <a:bodyPr/>
          <a:lstStyle/>
          <a:p>
            <a:r>
              <a:rPr lang="en-US" sz="3600" dirty="0"/>
              <a:t>How to measure progress to completion?</a:t>
            </a:r>
            <a:endParaRPr lang="en-US" dirty="0"/>
          </a:p>
        </p:txBody>
      </p:sp>
      <p:sp>
        <p:nvSpPr>
          <p:cNvPr id="3" name="Content Placeholder 2">
            <a:extLst>
              <a:ext uri="{FF2B5EF4-FFF2-40B4-BE49-F238E27FC236}">
                <a16:creationId xmlns:a16="http://schemas.microsoft.com/office/drawing/2014/main" id="{4382CB8E-3697-0C0A-6401-7152230D8797}"/>
              </a:ext>
            </a:extLst>
          </p:cNvPr>
          <p:cNvSpPr>
            <a:spLocks noGrp="1"/>
          </p:cNvSpPr>
          <p:nvPr>
            <p:ph idx="1"/>
          </p:nvPr>
        </p:nvSpPr>
        <p:spPr>
          <a:xfrm>
            <a:off x="838199" y="1325894"/>
            <a:ext cx="10515600" cy="3957337"/>
          </a:xfrm>
        </p:spPr>
        <p:txBody>
          <a:bodyPr/>
          <a:lstStyle/>
          <a:p>
            <a:pPr marL="0" indent="0">
              <a:buNone/>
            </a:pPr>
            <a:r>
              <a:rPr lang="en-US" u="sng" dirty="0"/>
              <a:t>Popular approach: </a:t>
            </a:r>
            <a:r>
              <a:rPr lang="en-US" b="1" u="sng" dirty="0"/>
              <a:t>Cost-to-cost</a:t>
            </a:r>
            <a:r>
              <a:rPr lang="en-US" u="sng" dirty="0"/>
              <a:t> method (aka Percent Complete)</a:t>
            </a:r>
          </a:p>
        </p:txBody>
      </p:sp>
      <p:sp>
        <p:nvSpPr>
          <p:cNvPr id="15" name="TextBox 14">
            <a:extLst>
              <a:ext uri="{FF2B5EF4-FFF2-40B4-BE49-F238E27FC236}">
                <a16:creationId xmlns:a16="http://schemas.microsoft.com/office/drawing/2014/main" id="{4B957090-F221-8183-336C-AF88581BCC2E}"/>
              </a:ext>
            </a:extLst>
          </p:cNvPr>
          <p:cNvSpPr txBox="1"/>
          <p:nvPr/>
        </p:nvSpPr>
        <p:spPr>
          <a:xfrm>
            <a:off x="959776" y="2184310"/>
            <a:ext cx="3878924" cy="369332"/>
          </a:xfrm>
          <a:prstGeom prst="rect">
            <a:avLst/>
          </a:prstGeom>
          <a:noFill/>
        </p:spPr>
        <p:txBody>
          <a:bodyPr wrap="square" lIns="0" tIns="0" rIns="0" bIns="0" rtlCol="0">
            <a:spAutoFit/>
          </a:bodyPr>
          <a:lstStyle/>
          <a:p>
            <a:r>
              <a:rPr lang="en-US" sz="2400" b="1" dirty="0">
                <a:solidFill>
                  <a:srgbClr val="CFB87C"/>
                </a:solidFill>
                <a:latin typeface="Roboto Condensed"/>
              </a:rPr>
              <a:t> % complete</a:t>
            </a:r>
            <a:r>
              <a:rPr lang="en-US" sz="2400" dirty="0">
                <a:solidFill>
                  <a:srgbClr val="CFB87C"/>
                </a:solidFill>
                <a:latin typeface="Roboto Condensed"/>
              </a:rPr>
              <a:t>   	</a:t>
            </a:r>
            <a:r>
              <a:rPr lang="en-US" sz="2400" dirty="0">
                <a:solidFill>
                  <a:prstClr val="black"/>
                </a:solidFill>
                <a:latin typeface="Roboto Condensed"/>
              </a:rPr>
              <a:t> 	</a:t>
            </a:r>
            <a:r>
              <a:rPr lang="en-US" sz="2400" b="1" dirty="0">
                <a:solidFill>
                  <a:prstClr val="black"/>
                </a:solidFill>
                <a:latin typeface="Roboto Condensed"/>
              </a:rPr>
              <a:t>=</a:t>
            </a:r>
          </a:p>
        </p:txBody>
      </p:sp>
      <p:sp>
        <p:nvSpPr>
          <p:cNvPr id="16" name="TextBox 15">
            <a:extLst>
              <a:ext uri="{FF2B5EF4-FFF2-40B4-BE49-F238E27FC236}">
                <a16:creationId xmlns:a16="http://schemas.microsoft.com/office/drawing/2014/main" id="{3F6E5C6C-B2CF-7C33-2E29-EF6522BCFF77}"/>
              </a:ext>
            </a:extLst>
          </p:cNvPr>
          <p:cNvSpPr txBox="1"/>
          <p:nvPr/>
        </p:nvSpPr>
        <p:spPr>
          <a:xfrm>
            <a:off x="952500" y="3278084"/>
            <a:ext cx="2925481" cy="369332"/>
          </a:xfrm>
          <a:prstGeom prst="rect">
            <a:avLst/>
          </a:prstGeom>
          <a:noFill/>
        </p:spPr>
        <p:txBody>
          <a:bodyPr wrap="none" lIns="0" tIns="0" rIns="0" bIns="0" rtlCol="0">
            <a:spAutoFit/>
          </a:bodyPr>
          <a:lstStyle/>
          <a:p>
            <a:r>
              <a:rPr lang="en-US" sz="2400" b="1" dirty="0">
                <a:solidFill>
                  <a:srgbClr val="0377BD"/>
                </a:solidFill>
                <a:latin typeface="Roboto Condensed"/>
              </a:rPr>
              <a:t>Total revenue</a:t>
            </a:r>
            <a:r>
              <a:rPr lang="en-US" sz="2400" b="1" dirty="0">
                <a:solidFill>
                  <a:prstClr val="black"/>
                </a:solidFill>
                <a:latin typeface="Roboto Condensed"/>
              </a:rPr>
              <a:t>		=</a:t>
            </a:r>
          </a:p>
        </p:txBody>
      </p:sp>
      <p:sp>
        <p:nvSpPr>
          <p:cNvPr id="17" name="TextBox 16">
            <a:extLst>
              <a:ext uri="{FF2B5EF4-FFF2-40B4-BE49-F238E27FC236}">
                <a16:creationId xmlns:a16="http://schemas.microsoft.com/office/drawing/2014/main" id="{738A06CF-921F-1D53-FBF3-F2DB7F1943E3}"/>
              </a:ext>
            </a:extLst>
          </p:cNvPr>
          <p:cNvSpPr txBox="1"/>
          <p:nvPr/>
        </p:nvSpPr>
        <p:spPr>
          <a:xfrm>
            <a:off x="962157" y="4331038"/>
            <a:ext cx="7551190" cy="369332"/>
          </a:xfrm>
          <a:prstGeom prst="rect">
            <a:avLst/>
          </a:prstGeom>
          <a:noFill/>
        </p:spPr>
        <p:txBody>
          <a:bodyPr wrap="square" lIns="0" tIns="0" rIns="0" bIns="0" rtlCol="0">
            <a:spAutoFit/>
          </a:bodyPr>
          <a:lstStyle/>
          <a:p>
            <a:r>
              <a:rPr lang="en-US" sz="2400" b="1" dirty="0">
                <a:solidFill>
                  <a:srgbClr val="565A5C"/>
                </a:solidFill>
                <a:latin typeface="Roboto Condensed"/>
              </a:rPr>
              <a:t>Current Revenue </a:t>
            </a:r>
            <a:r>
              <a:rPr lang="en-US" sz="2400" b="1" dirty="0">
                <a:solidFill>
                  <a:prstClr val="black"/>
                </a:solidFill>
                <a:latin typeface="Roboto Condensed"/>
              </a:rPr>
              <a:t>	=</a:t>
            </a:r>
          </a:p>
        </p:txBody>
      </p:sp>
      <p:cxnSp>
        <p:nvCxnSpPr>
          <p:cNvPr id="18" name="Straight Arrow Connector 17">
            <a:extLst>
              <a:ext uri="{FF2B5EF4-FFF2-40B4-BE49-F238E27FC236}">
                <a16:creationId xmlns:a16="http://schemas.microsoft.com/office/drawing/2014/main" id="{52F002D7-78A0-EC0E-2735-3DDA6C497868}"/>
              </a:ext>
            </a:extLst>
          </p:cNvPr>
          <p:cNvCxnSpPr>
            <a:cxnSpLocks/>
          </p:cNvCxnSpPr>
          <p:nvPr/>
        </p:nvCxnSpPr>
        <p:spPr bwMode="auto">
          <a:xfrm>
            <a:off x="3314700" y="2622318"/>
            <a:ext cx="1600200" cy="620486"/>
          </a:xfrm>
          <a:prstGeom prst="straightConnector1">
            <a:avLst/>
          </a:prstGeom>
          <a:noFill/>
          <a:ln w="19050" cap="flat" cmpd="sng" algn="ctr">
            <a:solidFill>
              <a:srgbClr val="CFB87C"/>
            </a:solidFill>
            <a:prstDash val="lgDash"/>
            <a:miter lim="800000"/>
            <a:headEnd type="none" w="med" len="med"/>
            <a:tailEnd type="triangle" w="lg" len="lg"/>
          </a:ln>
          <a:effectLst/>
        </p:spPr>
      </p:cxnSp>
      <p:cxnSp>
        <p:nvCxnSpPr>
          <p:cNvPr id="19" name="Straight Arrow Connector 18">
            <a:extLst>
              <a:ext uri="{FF2B5EF4-FFF2-40B4-BE49-F238E27FC236}">
                <a16:creationId xmlns:a16="http://schemas.microsoft.com/office/drawing/2014/main" id="{04A020F1-3E8F-0B2C-DB7A-DD4354F41470}"/>
              </a:ext>
            </a:extLst>
          </p:cNvPr>
          <p:cNvCxnSpPr>
            <a:cxnSpLocks/>
          </p:cNvCxnSpPr>
          <p:nvPr/>
        </p:nvCxnSpPr>
        <p:spPr bwMode="auto">
          <a:xfrm>
            <a:off x="3314700" y="3705996"/>
            <a:ext cx="1600200" cy="551019"/>
          </a:xfrm>
          <a:prstGeom prst="straightConnector1">
            <a:avLst/>
          </a:prstGeom>
          <a:noFill/>
          <a:ln w="19050" cap="flat" cmpd="sng" algn="ctr">
            <a:solidFill>
              <a:srgbClr val="0377BD"/>
            </a:solidFill>
            <a:prstDash val="lgDash"/>
            <a:miter lim="800000"/>
            <a:headEnd type="none" w="med" len="med"/>
            <a:tailEnd type="triangle" w="lg" len="lg"/>
          </a:ln>
          <a:effectLst/>
        </p:spPr>
      </p:cxnSp>
      <p:cxnSp>
        <p:nvCxnSpPr>
          <p:cNvPr id="20" name="Straight Connector 19">
            <a:extLst>
              <a:ext uri="{FF2B5EF4-FFF2-40B4-BE49-F238E27FC236}">
                <a16:creationId xmlns:a16="http://schemas.microsoft.com/office/drawing/2014/main" id="{EEBAC900-B23B-BB80-34C9-D740C1AB8349}"/>
              </a:ext>
            </a:extLst>
          </p:cNvPr>
          <p:cNvCxnSpPr>
            <a:cxnSpLocks/>
          </p:cNvCxnSpPr>
          <p:nvPr/>
        </p:nvCxnSpPr>
        <p:spPr bwMode="auto">
          <a:xfrm>
            <a:off x="959776" y="2622318"/>
            <a:ext cx="3297140" cy="0"/>
          </a:xfrm>
          <a:prstGeom prst="line">
            <a:avLst/>
          </a:prstGeom>
          <a:noFill/>
          <a:ln w="19050" cap="flat" cmpd="sng" algn="ctr">
            <a:solidFill>
              <a:srgbClr val="CFB87C"/>
            </a:solidFill>
            <a:prstDash val="lgDash"/>
            <a:miter lim="800000"/>
            <a:headEnd type="none" w="med" len="med"/>
            <a:tailEnd type="none" w="lg" len="lg"/>
          </a:ln>
          <a:effectLst/>
        </p:spPr>
      </p:cxnSp>
      <p:cxnSp>
        <p:nvCxnSpPr>
          <p:cNvPr id="21" name="Straight Connector 20">
            <a:extLst>
              <a:ext uri="{FF2B5EF4-FFF2-40B4-BE49-F238E27FC236}">
                <a16:creationId xmlns:a16="http://schemas.microsoft.com/office/drawing/2014/main" id="{FD78B8D6-34C8-44E5-7BF7-55A6ED00B5C8}"/>
              </a:ext>
            </a:extLst>
          </p:cNvPr>
          <p:cNvCxnSpPr>
            <a:cxnSpLocks/>
          </p:cNvCxnSpPr>
          <p:nvPr/>
        </p:nvCxnSpPr>
        <p:spPr bwMode="auto">
          <a:xfrm>
            <a:off x="959777" y="3690796"/>
            <a:ext cx="3297139" cy="0"/>
          </a:xfrm>
          <a:prstGeom prst="line">
            <a:avLst/>
          </a:prstGeom>
          <a:noFill/>
          <a:ln w="19050" cap="flat" cmpd="sng" algn="ctr">
            <a:solidFill>
              <a:srgbClr val="0377BD"/>
            </a:solidFill>
            <a:prstDash val="lgDash"/>
            <a:miter lim="800000"/>
            <a:headEnd type="none" w="med" len="med"/>
            <a:tailEnd type="none" w="med" len="med"/>
          </a:ln>
          <a:effectLst/>
        </p:spPr>
      </p:cxnSp>
      <p:sp>
        <p:nvSpPr>
          <p:cNvPr id="22" name="Rectangle 21">
            <a:extLst>
              <a:ext uri="{FF2B5EF4-FFF2-40B4-BE49-F238E27FC236}">
                <a16:creationId xmlns:a16="http://schemas.microsoft.com/office/drawing/2014/main" id="{44FD8B85-64CB-43E1-55AC-D4FBAF38141B}"/>
              </a:ext>
            </a:extLst>
          </p:cNvPr>
          <p:cNvSpPr/>
          <p:nvPr/>
        </p:nvSpPr>
        <p:spPr>
          <a:xfrm>
            <a:off x="4881254" y="1930021"/>
            <a:ext cx="4791697" cy="830997"/>
          </a:xfrm>
          <a:prstGeom prst="rect">
            <a:avLst/>
          </a:prstGeom>
        </p:spPr>
        <p:txBody>
          <a:bodyPr wrap="none">
            <a:spAutoFit/>
          </a:bodyPr>
          <a:lstStyle/>
          <a:p>
            <a:pPr algn="ctr"/>
            <a:r>
              <a:rPr lang="en-US" sz="2400" b="1" dirty="0">
                <a:solidFill>
                  <a:prstClr val="black"/>
                </a:solidFill>
                <a:latin typeface="Roboto Condensed"/>
              </a:rPr>
              <a:t>Actual costs incurred to date (so far)</a:t>
            </a:r>
          </a:p>
          <a:p>
            <a:pPr algn="ctr"/>
            <a:r>
              <a:rPr lang="en-US" sz="2400" b="1" dirty="0">
                <a:solidFill>
                  <a:prstClr val="black"/>
                </a:solidFill>
                <a:latin typeface="Roboto Condensed"/>
              </a:rPr>
              <a:t>Most recent estimate of TOTAL costs</a:t>
            </a:r>
            <a:endParaRPr lang="en-US" sz="2400" dirty="0">
              <a:solidFill>
                <a:prstClr val="black"/>
              </a:solidFill>
              <a:latin typeface="Roboto Condensed"/>
            </a:endParaRPr>
          </a:p>
        </p:txBody>
      </p:sp>
      <p:cxnSp>
        <p:nvCxnSpPr>
          <p:cNvPr id="23" name="Straight Connector 22">
            <a:extLst>
              <a:ext uri="{FF2B5EF4-FFF2-40B4-BE49-F238E27FC236}">
                <a16:creationId xmlns:a16="http://schemas.microsoft.com/office/drawing/2014/main" id="{89795B3D-F216-F32C-EBC5-8B49D6753782}"/>
              </a:ext>
            </a:extLst>
          </p:cNvPr>
          <p:cNvCxnSpPr>
            <a:cxnSpLocks/>
            <a:endCxn id="22" idx="3"/>
          </p:cNvCxnSpPr>
          <p:nvPr/>
        </p:nvCxnSpPr>
        <p:spPr bwMode="auto">
          <a:xfrm>
            <a:off x="5024722" y="2345519"/>
            <a:ext cx="4648229" cy="1"/>
          </a:xfrm>
          <a:prstGeom prst="line">
            <a:avLst/>
          </a:prstGeom>
          <a:noFill/>
          <a:ln w="28575" cap="flat" cmpd="sng" algn="ctr">
            <a:solidFill>
              <a:sysClr val="windowText" lastClr="000000"/>
            </a:solidFill>
            <a:prstDash val="solid"/>
            <a:miter lim="800000"/>
            <a:headEnd type="none" w="med" len="med"/>
            <a:tailEnd type="none" w="med" len="med"/>
          </a:ln>
          <a:effectLst/>
        </p:spPr>
      </p:cxnSp>
      <p:sp>
        <p:nvSpPr>
          <p:cNvPr id="24" name="Rectangle 23">
            <a:extLst>
              <a:ext uri="{FF2B5EF4-FFF2-40B4-BE49-F238E27FC236}">
                <a16:creationId xmlns:a16="http://schemas.microsoft.com/office/drawing/2014/main" id="{4A41342F-F59B-9B59-1D7D-ED5DB794886E}"/>
              </a:ext>
            </a:extLst>
          </p:cNvPr>
          <p:cNvSpPr/>
          <p:nvPr/>
        </p:nvSpPr>
        <p:spPr>
          <a:xfrm>
            <a:off x="4914900" y="3215587"/>
            <a:ext cx="4567276" cy="461665"/>
          </a:xfrm>
          <a:prstGeom prst="rect">
            <a:avLst/>
          </a:prstGeom>
        </p:spPr>
        <p:txBody>
          <a:bodyPr wrap="none">
            <a:spAutoFit/>
          </a:bodyPr>
          <a:lstStyle/>
          <a:p>
            <a:r>
              <a:rPr lang="en-US" sz="2400" b="1" dirty="0">
                <a:solidFill>
                  <a:srgbClr val="CFB87C"/>
                </a:solidFill>
                <a:latin typeface="Roboto Condensed"/>
              </a:rPr>
              <a:t>% complete        </a:t>
            </a:r>
            <a:r>
              <a:rPr lang="en-US" sz="2400" b="1" dirty="0">
                <a:solidFill>
                  <a:prstClr val="black"/>
                </a:solidFill>
                <a:latin typeface="Roboto Condensed"/>
              </a:rPr>
              <a:t>×      Contract Price</a:t>
            </a:r>
          </a:p>
        </p:txBody>
      </p:sp>
      <p:sp>
        <p:nvSpPr>
          <p:cNvPr id="25" name="TextBox 24">
            <a:extLst>
              <a:ext uri="{FF2B5EF4-FFF2-40B4-BE49-F238E27FC236}">
                <a16:creationId xmlns:a16="http://schemas.microsoft.com/office/drawing/2014/main" id="{CC2DFE3B-E529-3592-7121-0AE73F53F3AD}"/>
              </a:ext>
            </a:extLst>
          </p:cNvPr>
          <p:cNvSpPr txBox="1"/>
          <p:nvPr/>
        </p:nvSpPr>
        <p:spPr>
          <a:xfrm>
            <a:off x="7391401" y="4257015"/>
            <a:ext cx="4349571" cy="461665"/>
          </a:xfrm>
          <a:prstGeom prst="rect">
            <a:avLst/>
          </a:prstGeom>
          <a:noFill/>
        </p:spPr>
        <p:txBody>
          <a:bodyPr wrap="square">
            <a:spAutoFit/>
          </a:bodyPr>
          <a:lstStyle/>
          <a:p>
            <a:pPr algn="ctr"/>
            <a:r>
              <a:rPr lang="en-US" sz="2400" b="1" dirty="0">
                <a:solidFill>
                  <a:prstClr val="black"/>
                </a:solidFill>
                <a:latin typeface="Roboto Condensed"/>
              </a:rPr>
              <a:t>Prior Revenue already recognized </a:t>
            </a:r>
          </a:p>
        </p:txBody>
      </p:sp>
      <p:sp>
        <p:nvSpPr>
          <p:cNvPr id="27" name="Rectangle 26">
            <a:extLst>
              <a:ext uri="{FF2B5EF4-FFF2-40B4-BE49-F238E27FC236}">
                <a16:creationId xmlns:a16="http://schemas.microsoft.com/office/drawing/2014/main" id="{45C9E1C0-0456-B419-C2B6-0F2A13EA4B6F}"/>
              </a:ext>
            </a:extLst>
          </p:cNvPr>
          <p:cNvSpPr/>
          <p:nvPr/>
        </p:nvSpPr>
        <p:spPr>
          <a:xfrm>
            <a:off x="4894118" y="4277797"/>
            <a:ext cx="6846854" cy="461665"/>
          </a:xfrm>
          <a:prstGeom prst="rect">
            <a:avLst/>
          </a:prstGeom>
        </p:spPr>
        <p:txBody>
          <a:bodyPr wrap="square">
            <a:spAutoFit/>
          </a:bodyPr>
          <a:lstStyle/>
          <a:p>
            <a:r>
              <a:rPr lang="en-US" sz="2400" b="1" dirty="0">
                <a:solidFill>
                  <a:srgbClr val="0377BD"/>
                </a:solidFill>
                <a:latin typeface="Roboto Condensed"/>
              </a:rPr>
              <a:t>Total revenue    </a:t>
            </a:r>
            <a:r>
              <a:rPr lang="en-US" sz="2400" b="1" dirty="0">
                <a:solidFill>
                  <a:prstClr val="black"/>
                </a:solidFill>
                <a:latin typeface="Roboto Condensed"/>
              </a:rPr>
              <a:t>– </a:t>
            </a:r>
          </a:p>
        </p:txBody>
      </p:sp>
      <p:sp>
        <p:nvSpPr>
          <p:cNvPr id="4" name="TextBox 3">
            <a:extLst>
              <a:ext uri="{FF2B5EF4-FFF2-40B4-BE49-F238E27FC236}">
                <a16:creationId xmlns:a16="http://schemas.microsoft.com/office/drawing/2014/main" id="{4497EB99-3C61-FD66-E04C-9386FAE66027}"/>
              </a:ext>
            </a:extLst>
          </p:cNvPr>
          <p:cNvSpPr txBox="1"/>
          <p:nvPr/>
        </p:nvSpPr>
        <p:spPr>
          <a:xfrm>
            <a:off x="952500" y="5449181"/>
            <a:ext cx="9029060" cy="369332"/>
          </a:xfrm>
          <a:prstGeom prst="rect">
            <a:avLst/>
          </a:prstGeom>
          <a:noFill/>
        </p:spPr>
        <p:txBody>
          <a:bodyPr wrap="square" lIns="0" tIns="0" rIns="0" bIns="0" rtlCol="0">
            <a:spAutoFit/>
          </a:bodyPr>
          <a:lstStyle/>
          <a:p>
            <a:r>
              <a:rPr lang="en-US" sz="2400" b="1" dirty="0">
                <a:solidFill>
                  <a:schemeClr val="accent2"/>
                </a:solidFill>
                <a:latin typeface="Roboto Condensed"/>
              </a:rPr>
              <a:t>Gross Profit</a:t>
            </a:r>
            <a:r>
              <a:rPr lang="en-US" sz="2400" b="1" dirty="0">
                <a:solidFill>
                  <a:prstClr val="black"/>
                </a:solidFill>
                <a:latin typeface="Roboto Condensed"/>
              </a:rPr>
              <a:t>		=   	     </a:t>
            </a:r>
            <a:r>
              <a:rPr lang="en-US" sz="2400" b="1" dirty="0">
                <a:solidFill>
                  <a:srgbClr val="565A5C"/>
                </a:solidFill>
                <a:latin typeface="Roboto Condensed"/>
              </a:rPr>
              <a:t>Current Revenue  </a:t>
            </a:r>
            <a:r>
              <a:rPr lang="en-US" sz="2400" b="1" dirty="0">
                <a:solidFill>
                  <a:prstClr val="black"/>
                </a:solidFill>
                <a:latin typeface="Roboto Condensed"/>
              </a:rPr>
              <a:t>–   Current Costs</a:t>
            </a:r>
          </a:p>
        </p:txBody>
      </p:sp>
      <p:cxnSp>
        <p:nvCxnSpPr>
          <p:cNvPr id="5" name="Straight Arrow Connector 4">
            <a:extLst>
              <a:ext uri="{FF2B5EF4-FFF2-40B4-BE49-F238E27FC236}">
                <a16:creationId xmlns:a16="http://schemas.microsoft.com/office/drawing/2014/main" id="{4D8DB575-22EF-B20E-13B7-7E715132EC95}"/>
              </a:ext>
            </a:extLst>
          </p:cNvPr>
          <p:cNvCxnSpPr>
            <a:cxnSpLocks/>
          </p:cNvCxnSpPr>
          <p:nvPr/>
        </p:nvCxnSpPr>
        <p:spPr bwMode="auto">
          <a:xfrm>
            <a:off x="3238500" y="4790162"/>
            <a:ext cx="1600200" cy="551019"/>
          </a:xfrm>
          <a:prstGeom prst="straightConnector1">
            <a:avLst/>
          </a:prstGeom>
          <a:ln>
            <a:headEnd type="none" w="med" len="med"/>
            <a:tailEnd type="triangle" w="lg" len="lg"/>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157BFE8F-63B8-411D-EEA2-ABEFF0FC1073}"/>
              </a:ext>
            </a:extLst>
          </p:cNvPr>
          <p:cNvCxnSpPr>
            <a:cxnSpLocks/>
          </p:cNvCxnSpPr>
          <p:nvPr/>
        </p:nvCxnSpPr>
        <p:spPr bwMode="auto">
          <a:xfrm>
            <a:off x="883577" y="4774962"/>
            <a:ext cx="3297139" cy="0"/>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7" name="Rectangle 6">
            <a:extLst>
              <a:ext uri="{FF2B5EF4-FFF2-40B4-BE49-F238E27FC236}">
                <a16:creationId xmlns:a16="http://schemas.microsoft.com/office/drawing/2014/main" id="{2956383F-EB52-2B8B-B4A1-9DD8461E2083}"/>
              </a:ext>
            </a:extLst>
          </p:cNvPr>
          <p:cNvSpPr/>
          <p:nvPr/>
        </p:nvSpPr>
        <p:spPr>
          <a:xfrm>
            <a:off x="7438145" y="5379432"/>
            <a:ext cx="1844168" cy="490883"/>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76899A8-4A75-3B0B-0545-29186A1771F3}"/>
              </a:ext>
            </a:extLst>
          </p:cNvPr>
          <p:cNvSpPr/>
          <p:nvPr/>
        </p:nvSpPr>
        <p:spPr>
          <a:xfrm>
            <a:off x="708338" y="1841679"/>
            <a:ext cx="9485290" cy="91071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18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7B43E-A02C-4334-9575-736BF4E2B823}"/>
              </a:ext>
            </a:extLst>
          </p:cNvPr>
          <p:cNvSpPr>
            <a:spLocks noGrp="1"/>
          </p:cNvSpPr>
          <p:nvPr>
            <p:ph type="title"/>
          </p:nvPr>
        </p:nvSpPr>
        <p:spPr>
          <a:xfrm>
            <a:off x="341290" y="178507"/>
            <a:ext cx="11012510" cy="1325563"/>
          </a:xfrm>
        </p:spPr>
        <p:txBody>
          <a:bodyPr/>
          <a:lstStyle/>
          <a:p>
            <a:r>
              <a:rPr lang="en-US" dirty="0"/>
              <a:t>In-class problem A (Instructor Led)</a:t>
            </a:r>
          </a:p>
        </p:txBody>
      </p:sp>
      <p:sp>
        <p:nvSpPr>
          <p:cNvPr id="3" name="Content Placeholder 2">
            <a:extLst>
              <a:ext uri="{FF2B5EF4-FFF2-40B4-BE49-F238E27FC236}">
                <a16:creationId xmlns:a16="http://schemas.microsoft.com/office/drawing/2014/main" id="{1CEDA4AD-7FC7-438A-94D3-FFA7619D889B}"/>
              </a:ext>
            </a:extLst>
          </p:cNvPr>
          <p:cNvSpPr>
            <a:spLocks noGrp="1"/>
          </p:cNvSpPr>
          <p:nvPr>
            <p:ph idx="1"/>
          </p:nvPr>
        </p:nvSpPr>
        <p:spPr>
          <a:xfrm>
            <a:off x="838200" y="1504071"/>
            <a:ext cx="10515600" cy="2710648"/>
          </a:xfrm>
        </p:spPr>
        <p:txBody>
          <a:bodyPr/>
          <a:lstStyle/>
          <a:p>
            <a:pPr marL="0" indent="0">
              <a:buNone/>
            </a:pPr>
            <a:r>
              <a:rPr lang="en-US" sz="2200" dirty="0"/>
              <a:t>Peak Construction has a contract to construct a $4,500,000 bridge at an estimated cost of $4,000,000. The contract will start in July 2023, and the bridge will be completed in August 2025. Peak provides the following data for the construction period. Assume Peak pays construction costs in cash. </a:t>
            </a:r>
          </a:p>
          <a:p>
            <a:pPr marL="0" indent="0">
              <a:buNone/>
            </a:pP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0" lvl="0" indent="0">
              <a:buNone/>
            </a:pPr>
            <a:r>
              <a:rPr lang="en-US" sz="2200" dirty="0"/>
              <a:t>(a) Using the percentage-of-completion method, calculate the gross profit by year.</a:t>
            </a:r>
          </a:p>
          <a:p>
            <a:pPr marL="0" indent="0">
              <a:buNone/>
            </a:pPr>
            <a:r>
              <a:rPr lang="en-US" sz="2400" dirty="0">
                <a:latin typeface="Calibri" panose="020F0502020204030204" pitchFamily="34" charset="0"/>
                <a:ea typeface="Calibri" panose="020F0502020204030204" pitchFamily="34" charset="0"/>
                <a:cs typeface="Times New Roman" panose="02020603050405020304" pitchFamily="18" charset="0"/>
              </a:rPr>
              <a:t>(b) Show the journal entries for 2025.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7" name="Picture 6">
            <a:extLst>
              <a:ext uri="{FF2B5EF4-FFF2-40B4-BE49-F238E27FC236}">
                <a16:creationId xmlns:a16="http://schemas.microsoft.com/office/drawing/2014/main" id="{92660990-7145-8D3B-F328-C4C16C1A3873}"/>
              </a:ext>
            </a:extLst>
          </p:cNvPr>
          <p:cNvPicPr>
            <a:picLocks noChangeAspect="1"/>
          </p:cNvPicPr>
          <p:nvPr/>
        </p:nvPicPr>
        <p:blipFill>
          <a:blip r:embed="rId2"/>
          <a:stretch>
            <a:fillRect/>
          </a:stretch>
        </p:blipFill>
        <p:spPr>
          <a:xfrm>
            <a:off x="1208025" y="4305553"/>
            <a:ext cx="9235148" cy="1941648"/>
          </a:xfrm>
          <a:prstGeom prst="rect">
            <a:avLst/>
          </a:prstGeom>
        </p:spPr>
      </p:pic>
    </p:spTree>
    <p:extLst>
      <p:ext uri="{BB962C8B-B14F-4D97-AF65-F5344CB8AC3E}">
        <p14:creationId xmlns:p14="http://schemas.microsoft.com/office/powerpoint/2010/main" val="2945221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92D38-42B3-8D34-A784-EE9DAE60D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F9923-59E1-D4E7-A86C-3C08D935F053}"/>
              </a:ext>
            </a:extLst>
          </p:cNvPr>
          <p:cNvSpPr>
            <a:spLocks noGrp="1"/>
          </p:cNvSpPr>
          <p:nvPr>
            <p:ph type="title"/>
          </p:nvPr>
        </p:nvSpPr>
        <p:spPr/>
        <p:txBody>
          <a:bodyPr/>
          <a:lstStyle/>
          <a:p>
            <a:r>
              <a:rPr lang="en-US" dirty="0"/>
              <a:t>In-class problem B</a:t>
            </a:r>
          </a:p>
        </p:txBody>
      </p:sp>
      <p:sp>
        <p:nvSpPr>
          <p:cNvPr id="3" name="Content Placeholder 2">
            <a:extLst>
              <a:ext uri="{FF2B5EF4-FFF2-40B4-BE49-F238E27FC236}">
                <a16:creationId xmlns:a16="http://schemas.microsoft.com/office/drawing/2014/main" id="{1DD3F75D-A641-46B7-D7AE-1A468AD2FFC0}"/>
              </a:ext>
            </a:extLst>
          </p:cNvPr>
          <p:cNvSpPr>
            <a:spLocks noGrp="1"/>
          </p:cNvSpPr>
          <p:nvPr>
            <p:ph idx="1"/>
          </p:nvPr>
        </p:nvSpPr>
        <p:spPr>
          <a:xfrm>
            <a:off x="838200" y="1504070"/>
            <a:ext cx="10515600" cy="2462367"/>
          </a:xfrm>
        </p:spPr>
        <p:txBody>
          <a:bodyPr/>
          <a:lstStyle/>
          <a:p>
            <a:pPr marL="0" indent="0">
              <a:buNone/>
            </a:pPr>
            <a:r>
              <a:rPr lang="en-US" sz="2200" dirty="0"/>
              <a:t>Summit Construction has a contract to construct a $5,400,000 building at an estimated cost of $4,500,000. The contract will start in April 2023, and the building will be completed in September 2025. Summit provides the following data for the construction period. Assume Summit pays construction costs through Accounts Payable.</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0" lvl="0" indent="0">
              <a:buNone/>
            </a:pPr>
            <a:r>
              <a:rPr lang="en-US" sz="2200" dirty="0"/>
              <a:t>(a) Using the percentage-of-completion method, calculate the gross profit by year.</a:t>
            </a:r>
          </a:p>
          <a:p>
            <a:pPr marL="0" indent="0">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9" name="Picture 8">
            <a:extLst>
              <a:ext uri="{FF2B5EF4-FFF2-40B4-BE49-F238E27FC236}">
                <a16:creationId xmlns:a16="http://schemas.microsoft.com/office/drawing/2014/main" id="{3F5645C7-9259-F9A8-839B-35F3B69A15D4}"/>
              </a:ext>
            </a:extLst>
          </p:cNvPr>
          <p:cNvPicPr>
            <a:picLocks noChangeAspect="1"/>
          </p:cNvPicPr>
          <p:nvPr/>
        </p:nvPicPr>
        <p:blipFill>
          <a:blip r:embed="rId2"/>
          <a:stretch>
            <a:fillRect/>
          </a:stretch>
        </p:blipFill>
        <p:spPr>
          <a:xfrm>
            <a:off x="1180103" y="4298818"/>
            <a:ext cx="9326277" cy="2000529"/>
          </a:xfrm>
          <a:prstGeom prst="rect">
            <a:avLst/>
          </a:prstGeom>
        </p:spPr>
      </p:pic>
    </p:spTree>
    <p:extLst>
      <p:ext uri="{BB962C8B-B14F-4D97-AF65-F5344CB8AC3E}">
        <p14:creationId xmlns:p14="http://schemas.microsoft.com/office/powerpoint/2010/main" val="3108973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E2684-450A-4F56-8E0F-18692A437BFD}"/>
              </a:ext>
            </a:extLst>
          </p:cNvPr>
          <p:cNvSpPr>
            <a:spLocks noGrp="1"/>
          </p:cNvSpPr>
          <p:nvPr>
            <p:ph type="title"/>
          </p:nvPr>
        </p:nvSpPr>
        <p:spPr/>
        <p:txBody>
          <a:bodyPr/>
          <a:lstStyle/>
          <a:p>
            <a:r>
              <a:rPr lang="en-US" dirty="0"/>
              <a:t>Rev Rec Options</a:t>
            </a:r>
          </a:p>
        </p:txBody>
      </p:sp>
      <p:graphicFrame>
        <p:nvGraphicFramePr>
          <p:cNvPr id="4" name="Table 4">
            <a:extLst>
              <a:ext uri="{FF2B5EF4-FFF2-40B4-BE49-F238E27FC236}">
                <a16:creationId xmlns:a16="http://schemas.microsoft.com/office/drawing/2014/main" id="{66EB0B77-51B0-4E95-8B95-106E957ED0F1}"/>
              </a:ext>
            </a:extLst>
          </p:cNvPr>
          <p:cNvGraphicFramePr>
            <a:graphicFrameLocks noGrp="1"/>
          </p:cNvGraphicFramePr>
          <p:nvPr>
            <p:ph idx="1"/>
          </p:nvPr>
        </p:nvGraphicFramePr>
        <p:xfrm>
          <a:off x="838200" y="1825624"/>
          <a:ext cx="10515596" cy="4397376"/>
        </p:xfrm>
        <a:graphic>
          <a:graphicData uri="http://schemas.openxmlformats.org/drawingml/2006/table">
            <a:tbl>
              <a:tblPr firstRow="1" bandRow="1">
                <a:tableStyleId>{69012ECD-51FC-41F1-AA8D-1B2483CD663E}</a:tableStyleId>
              </a:tblPr>
              <a:tblGrid>
                <a:gridCol w="1447800">
                  <a:extLst>
                    <a:ext uri="{9D8B030D-6E8A-4147-A177-3AD203B41FA5}">
                      <a16:colId xmlns:a16="http://schemas.microsoft.com/office/drawing/2014/main" val="1070463286"/>
                    </a:ext>
                  </a:extLst>
                </a:gridCol>
                <a:gridCol w="2951018">
                  <a:extLst>
                    <a:ext uri="{9D8B030D-6E8A-4147-A177-3AD203B41FA5}">
                      <a16:colId xmlns:a16="http://schemas.microsoft.com/office/drawing/2014/main" val="341382623"/>
                    </a:ext>
                  </a:extLst>
                </a:gridCol>
                <a:gridCol w="3054927">
                  <a:extLst>
                    <a:ext uri="{9D8B030D-6E8A-4147-A177-3AD203B41FA5}">
                      <a16:colId xmlns:a16="http://schemas.microsoft.com/office/drawing/2014/main" val="456947654"/>
                    </a:ext>
                  </a:extLst>
                </a:gridCol>
                <a:gridCol w="3061851">
                  <a:extLst>
                    <a:ext uri="{9D8B030D-6E8A-4147-A177-3AD203B41FA5}">
                      <a16:colId xmlns:a16="http://schemas.microsoft.com/office/drawing/2014/main" val="2797683343"/>
                    </a:ext>
                  </a:extLst>
                </a:gridCol>
              </a:tblGrid>
              <a:tr h="1465792">
                <a:tc>
                  <a:txBody>
                    <a:bodyPr/>
                    <a:lstStyle/>
                    <a:p>
                      <a:pPr algn="ctr"/>
                      <a:endParaRPr lang="en-US" dirty="0"/>
                    </a:p>
                  </a:txBody>
                  <a:tcPr anchor="ctr">
                    <a:lnR w="12700" cap="flat" cmpd="sng" algn="ctr">
                      <a:solidFill>
                        <a:schemeClr val="accent1">
                          <a:lumMod val="50000"/>
                        </a:schemeClr>
                      </a:solidFill>
                      <a:prstDash val="solid"/>
                      <a:round/>
                      <a:headEnd type="none" w="med" len="med"/>
                      <a:tailEnd type="none" w="med" len="med"/>
                    </a:lnR>
                    <a:lnB w="12700" cap="flat" cmpd="sng" algn="ctr">
                      <a:solidFill>
                        <a:schemeClr val="accent1">
                          <a:lumMod val="50000"/>
                        </a:schemeClr>
                      </a:solidFill>
                      <a:prstDash val="solid"/>
                      <a:round/>
                      <a:headEnd type="none" w="med" len="med"/>
                      <a:tailEnd type="none" w="med" len="med"/>
                    </a:lnB>
                    <a:solidFill>
                      <a:schemeClr val="accent1">
                        <a:lumMod val="50000"/>
                      </a:schemeClr>
                    </a:solidFill>
                  </a:tcPr>
                </a:tc>
                <a:tc>
                  <a:txBody>
                    <a:bodyPr/>
                    <a:lstStyle/>
                    <a:p>
                      <a:pPr algn="ctr"/>
                      <a:r>
                        <a:rPr lang="en-US" sz="2400" dirty="0"/>
                        <a:t>Beginning of Project</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B w="12700" cap="flat" cmpd="sng" algn="ctr">
                      <a:solidFill>
                        <a:schemeClr val="accent1">
                          <a:lumMod val="50000"/>
                        </a:schemeClr>
                      </a:solidFill>
                      <a:prstDash val="solid"/>
                      <a:round/>
                      <a:headEnd type="none" w="med" len="med"/>
                      <a:tailEnd type="none" w="med" len="med"/>
                    </a:lnB>
                    <a:solidFill>
                      <a:schemeClr val="accent1">
                        <a:lumMod val="50000"/>
                      </a:schemeClr>
                    </a:solidFill>
                  </a:tcPr>
                </a:tc>
                <a:tc>
                  <a:txBody>
                    <a:bodyPr/>
                    <a:lstStyle/>
                    <a:p>
                      <a:pPr algn="ctr"/>
                      <a:r>
                        <a:rPr lang="en-US" sz="2400" dirty="0"/>
                        <a:t>Over Time</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B w="12700" cap="flat" cmpd="sng" algn="ctr">
                      <a:solidFill>
                        <a:schemeClr val="accent1">
                          <a:lumMod val="50000"/>
                        </a:schemeClr>
                      </a:solidFill>
                      <a:prstDash val="solid"/>
                      <a:round/>
                      <a:headEnd type="none" w="med" len="med"/>
                      <a:tailEnd type="none" w="med" len="med"/>
                    </a:lnB>
                    <a:solidFill>
                      <a:schemeClr val="accent1">
                        <a:lumMod val="50000"/>
                      </a:schemeClr>
                    </a:solidFill>
                  </a:tcPr>
                </a:tc>
                <a:tc>
                  <a:txBody>
                    <a:bodyPr/>
                    <a:lstStyle/>
                    <a:p>
                      <a:pPr algn="ctr"/>
                      <a:r>
                        <a:rPr lang="en-US" sz="2400" dirty="0"/>
                        <a:t>End of </a:t>
                      </a:r>
                    </a:p>
                    <a:p>
                      <a:pPr algn="ctr"/>
                      <a:r>
                        <a:rPr lang="en-US" sz="2400" dirty="0"/>
                        <a:t>Project</a:t>
                      </a:r>
                    </a:p>
                  </a:txBody>
                  <a:tcPr anchor="ctr">
                    <a:lnL w="12700" cap="flat" cmpd="sng" algn="ctr">
                      <a:solidFill>
                        <a:schemeClr val="accent1">
                          <a:lumMod val="50000"/>
                        </a:schemeClr>
                      </a:solidFill>
                      <a:prstDash val="solid"/>
                      <a:round/>
                      <a:headEnd type="none" w="med" len="med"/>
                      <a:tailEnd type="none" w="med" len="med"/>
                    </a:lnL>
                    <a:lnB w="12700" cap="flat" cmpd="sng" algn="ctr">
                      <a:solidFill>
                        <a:schemeClr val="accent1">
                          <a:lumMod val="5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294257763"/>
                  </a:ext>
                </a:extLst>
              </a:tr>
              <a:tr h="1465792">
                <a:tc>
                  <a:txBody>
                    <a:bodyPr/>
                    <a:lstStyle/>
                    <a:p>
                      <a:pPr algn="ctr"/>
                      <a:r>
                        <a:rPr lang="en-US" sz="2800" dirty="0"/>
                        <a:t>Pros</a:t>
                      </a:r>
                    </a:p>
                  </a:txBody>
                  <a:tcPr anchor="ctr">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1">
                        <a:lumMod val="60000"/>
                        <a:lumOff val="40000"/>
                      </a:schemeClr>
                    </a:solidFill>
                  </a:tcPr>
                </a:tc>
                <a:tc>
                  <a:txBody>
                    <a:bodyPr/>
                    <a:lstStyle/>
                    <a:p>
                      <a:pPr marL="285750" indent="-285750" algn="l">
                        <a:buFont typeface="Arial" panose="020B0604020202020204" pitchFamily="34" charset="0"/>
                        <a:buChar char="•"/>
                      </a:pPr>
                      <a:r>
                        <a:rPr lang="en-US" sz="2000" dirty="0"/>
                        <a:t>Timely</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2000" dirty="0"/>
                        <a:t>Timely</a:t>
                      </a:r>
                    </a:p>
                    <a:p>
                      <a:pPr marL="285750" indent="-285750">
                        <a:buFont typeface="Arial" panose="020B0604020202020204" pitchFamily="34" charset="0"/>
                        <a:buChar char="•"/>
                      </a:pPr>
                      <a:r>
                        <a:rPr lang="en-US" sz="2000" dirty="0"/>
                        <a:t>Matches revenue with work completed</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2000" dirty="0"/>
                        <a:t>Reliable (no estimates)</a:t>
                      </a:r>
                    </a:p>
                  </a:txBody>
                  <a:tcPr anchor="ctr">
                    <a:lnL w="12700" cap="flat" cmpd="sng" algn="ctr">
                      <a:solidFill>
                        <a:schemeClr val="accent1">
                          <a:lumMod val="50000"/>
                        </a:schemeClr>
                      </a:solidFill>
                      <a:prstDash val="solid"/>
                      <a:round/>
                      <a:headEnd type="none" w="med" len="med"/>
                      <a:tailEnd type="none" w="med" len="med"/>
                    </a:lnL>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extLst>
                  <a:ext uri="{0D108BD9-81ED-4DB2-BD59-A6C34878D82A}">
                    <a16:rowId xmlns:a16="http://schemas.microsoft.com/office/drawing/2014/main" val="1882102170"/>
                  </a:ext>
                </a:extLst>
              </a:tr>
              <a:tr h="1465792">
                <a:tc>
                  <a:txBody>
                    <a:bodyPr/>
                    <a:lstStyle/>
                    <a:p>
                      <a:pPr algn="ctr"/>
                      <a:r>
                        <a:rPr lang="en-US" sz="2800" dirty="0"/>
                        <a:t>Cons</a:t>
                      </a:r>
                    </a:p>
                  </a:txBody>
                  <a:tcPr anchor="ctr">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solidFill>
                      <a:schemeClr val="accent1">
                        <a:lumMod val="60000"/>
                        <a:lumOff val="40000"/>
                      </a:schemeClr>
                    </a:solidFill>
                  </a:tcPr>
                </a:tc>
                <a:tc>
                  <a:txBody>
                    <a:bodyPr/>
                    <a:lstStyle/>
                    <a:p>
                      <a:pPr marL="285750" indent="-285750" algn="l">
                        <a:buFont typeface="Arial" panose="020B0604020202020204" pitchFamily="34" charset="0"/>
                        <a:buChar char="•"/>
                      </a:pPr>
                      <a:r>
                        <a:rPr lang="en-US" sz="2000" dirty="0"/>
                        <a:t>Work is not complete</a:t>
                      </a:r>
                    </a:p>
                    <a:p>
                      <a:pPr marL="285750" indent="-285750" algn="l">
                        <a:buFont typeface="Arial" panose="020B0604020202020204" pitchFamily="34" charset="0"/>
                        <a:buChar char="•"/>
                      </a:pPr>
                      <a:r>
                        <a:rPr lang="en-US" sz="2000" dirty="0"/>
                        <a:t>Estimating profit</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tcPr>
                </a:tc>
                <a:tc>
                  <a:txBody>
                    <a:bodyPr/>
                    <a:lstStyle/>
                    <a:p>
                      <a:pPr marL="285750" indent="-285750">
                        <a:buFont typeface="Arial" panose="020B0604020202020204" pitchFamily="34" charset="0"/>
                        <a:buChar char="•"/>
                      </a:pPr>
                      <a:r>
                        <a:rPr lang="en-US" sz="2000" dirty="0"/>
                        <a:t>Requires estimates of remaining progress</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tcPr>
                </a:tc>
                <a:tc>
                  <a:txBody>
                    <a:bodyPr/>
                    <a:lstStyle/>
                    <a:p>
                      <a:pPr marL="285750" indent="-285750">
                        <a:buFont typeface="Arial" panose="020B0604020202020204" pitchFamily="34" charset="0"/>
                        <a:buChar char="•"/>
                      </a:pPr>
                      <a:r>
                        <a:rPr lang="en-US" sz="2000" dirty="0"/>
                        <a:t>Not timely</a:t>
                      </a:r>
                    </a:p>
                  </a:txBody>
                  <a:tcPr anchor="ctr">
                    <a:lnL w="12700" cap="flat" cmpd="sng" algn="ctr">
                      <a:solidFill>
                        <a:schemeClr val="accent1">
                          <a:lumMod val="50000"/>
                        </a:schemeClr>
                      </a:solidFill>
                      <a:prstDash val="solid"/>
                      <a:round/>
                      <a:headEnd type="none" w="med" len="med"/>
                      <a:tailEnd type="none" w="med" len="med"/>
                    </a:lnL>
                    <a:lnT w="12700" cap="flat" cmpd="sng" algn="ctr">
                      <a:solidFill>
                        <a:schemeClr val="accent1">
                          <a:lumMod val="50000"/>
                        </a:schemeClr>
                      </a:solidFill>
                      <a:prstDash val="solid"/>
                      <a:round/>
                      <a:headEnd type="none" w="med" len="med"/>
                      <a:tailEnd type="none" w="med" len="med"/>
                    </a:lnT>
                  </a:tcPr>
                </a:tc>
                <a:extLst>
                  <a:ext uri="{0D108BD9-81ED-4DB2-BD59-A6C34878D82A}">
                    <a16:rowId xmlns:a16="http://schemas.microsoft.com/office/drawing/2014/main" val="975444038"/>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26F99A3C-0378-47F0-A220-B1E8860485C2}"/>
                  </a:ext>
                </a:extLst>
              </p14:cNvPr>
              <p14:cNvContentPartPr/>
              <p14:nvPr/>
            </p14:nvContentPartPr>
            <p14:xfrm>
              <a:off x="3324033" y="-3908171"/>
              <a:ext cx="16200" cy="360"/>
            </p14:xfrm>
          </p:contentPart>
        </mc:Choice>
        <mc:Fallback xmlns="">
          <p:pic>
            <p:nvPicPr>
              <p:cNvPr id="10" name="Ink 9">
                <a:extLst>
                  <a:ext uri="{FF2B5EF4-FFF2-40B4-BE49-F238E27FC236}">
                    <a16:creationId xmlns:a16="http://schemas.microsoft.com/office/drawing/2014/main" id="{26F99A3C-0378-47F0-A220-B1E8860485C2}"/>
                  </a:ext>
                </a:extLst>
              </p:cNvPr>
              <p:cNvPicPr/>
              <p:nvPr/>
            </p:nvPicPr>
            <p:blipFill>
              <a:blip r:embed="rId3"/>
              <a:stretch>
                <a:fillRect/>
              </a:stretch>
            </p:blipFill>
            <p:spPr>
              <a:xfrm>
                <a:off x="3288393" y="-3943811"/>
                <a:ext cx="87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1" name="Ink 30">
                <a:extLst>
                  <a:ext uri="{FF2B5EF4-FFF2-40B4-BE49-F238E27FC236}">
                    <a16:creationId xmlns:a16="http://schemas.microsoft.com/office/drawing/2014/main" id="{2EEC2F52-F08D-4CCC-B303-D702E5321800}"/>
                  </a:ext>
                </a:extLst>
              </p14:cNvPr>
              <p14:cNvContentPartPr/>
              <p14:nvPr/>
            </p14:nvContentPartPr>
            <p14:xfrm>
              <a:off x="2382633" y="3546349"/>
              <a:ext cx="2715120" cy="2328840"/>
            </p14:xfrm>
          </p:contentPart>
        </mc:Choice>
        <mc:Fallback xmlns="">
          <p:pic>
            <p:nvPicPr>
              <p:cNvPr id="31" name="Ink 30">
                <a:extLst>
                  <a:ext uri="{FF2B5EF4-FFF2-40B4-BE49-F238E27FC236}">
                    <a16:creationId xmlns:a16="http://schemas.microsoft.com/office/drawing/2014/main" id="{2EEC2F52-F08D-4CCC-B303-D702E5321800}"/>
                  </a:ext>
                </a:extLst>
              </p:cNvPr>
              <p:cNvPicPr/>
              <p:nvPr/>
            </p:nvPicPr>
            <p:blipFill>
              <a:blip r:embed="rId5"/>
              <a:stretch>
                <a:fillRect/>
              </a:stretch>
            </p:blipFill>
            <p:spPr>
              <a:xfrm>
                <a:off x="2346633" y="3510349"/>
                <a:ext cx="2786760" cy="2400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4" name="Ink 33">
                <a:extLst>
                  <a:ext uri="{FF2B5EF4-FFF2-40B4-BE49-F238E27FC236}">
                    <a16:creationId xmlns:a16="http://schemas.microsoft.com/office/drawing/2014/main" id="{4EBF0049-A662-4E32-A7D4-583D1F098BDC}"/>
                  </a:ext>
                </a:extLst>
              </p14:cNvPr>
              <p14:cNvContentPartPr/>
              <p14:nvPr/>
            </p14:nvContentPartPr>
            <p14:xfrm>
              <a:off x="2970873" y="3629149"/>
              <a:ext cx="1988280" cy="2289240"/>
            </p14:xfrm>
          </p:contentPart>
        </mc:Choice>
        <mc:Fallback xmlns="">
          <p:pic>
            <p:nvPicPr>
              <p:cNvPr id="34" name="Ink 33">
                <a:extLst>
                  <a:ext uri="{FF2B5EF4-FFF2-40B4-BE49-F238E27FC236}">
                    <a16:creationId xmlns:a16="http://schemas.microsoft.com/office/drawing/2014/main" id="{4EBF0049-A662-4E32-A7D4-583D1F098BDC}"/>
                  </a:ext>
                </a:extLst>
              </p:cNvPr>
              <p:cNvPicPr/>
              <p:nvPr/>
            </p:nvPicPr>
            <p:blipFill>
              <a:blip r:embed="rId7"/>
              <a:stretch>
                <a:fillRect/>
              </a:stretch>
            </p:blipFill>
            <p:spPr>
              <a:xfrm>
                <a:off x="2935233" y="3593149"/>
                <a:ext cx="2059920" cy="2360880"/>
              </a:xfrm>
              <a:prstGeom prst="rect">
                <a:avLst/>
              </a:prstGeom>
            </p:spPr>
          </p:pic>
        </mc:Fallback>
      </mc:AlternateContent>
      <p:sp>
        <p:nvSpPr>
          <p:cNvPr id="11" name="Rectangle: Rounded Corners 10">
            <a:extLst>
              <a:ext uri="{FF2B5EF4-FFF2-40B4-BE49-F238E27FC236}">
                <a16:creationId xmlns:a16="http://schemas.microsoft.com/office/drawing/2014/main" id="{0391A926-929A-CDB2-8A96-C380A2E709FA}"/>
              </a:ext>
            </a:extLst>
          </p:cNvPr>
          <p:cNvSpPr/>
          <p:nvPr/>
        </p:nvSpPr>
        <p:spPr>
          <a:xfrm>
            <a:off x="8351952" y="2099256"/>
            <a:ext cx="2814031" cy="412374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59C301B5-5372-DE7F-82C9-B5C70052895D}"/>
                  </a:ext>
                </a:extLst>
              </p14:cNvPr>
              <p14:cNvContentPartPr/>
              <p14:nvPr/>
            </p14:nvContentPartPr>
            <p14:xfrm>
              <a:off x="5963164" y="4874654"/>
              <a:ext cx="1363970" cy="1169918"/>
            </p14:xfrm>
          </p:contentPart>
        </mc:Choice>
        <mc:Fallback xmlns="">
          <p:pic>
            <p:nvPicPr>
              <p:cNvPr id="3" name="Ink 2">
                <a:extLst>
                  <a:ext uri="{FF2B5EF4-FFF2-40B4-BE49-F238E27FC236}">
                    <a16:creationId xmlns:a16="http://schemas.microsoft.com/office/drawing/2014/main" id="{59C301B5-5372-DE7F-82C9-B5C70052895D}"/>
                  </a:ext>
                </a:extLst>
              </p:cNvPr>
              <p:cNvPicPr/>
              <p:nvPr/>
            </p:nvPicPr>
            <p:blipFill>
              <a:blip r:embed="rId9"/>
              <a:stretch>
                <a:fillRect/>
              </a:stretch>
            </p:blipFill>
            <p:spPr>
              <a:xfrm>
                <a:off x="5927166" y="4838657"/>
                <a:ext cx="1435606" cy="124155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B2E2B8B4-79C9-CF3F-FB36-ECC9230BB85F}"/>
                  </a:ext>
                </a:extLst>
              </p14:cNvPr>
              <p14:cNvContentPartPr/>
              <p14:nvPr/>
            </p14:nvContentPartPr>
            <p14:xfrm>
              <a:off x="6374321" y="4937746"/>
              <a:ext cx="998834" cy="1150025"/>
            </p14:xfrm>
          </p:contentPart>
        </mc:Choice>
        <mc:Fallback xmlns="">
          <p:pic>
            <p:nvPicPr>
              <p:cNvPr id="5" name="Ink 4">
                <a:extLst>
                  <a:ext uri="{FF2B5EF4-FFF2-40B4-BE49-F238E27FC236}">
                    <a16:creationId xmlns:a16="http://schemas.microsoft.com/office/drawing/2014/main" id="{B2E2B8B4-79C9-CF3F-FB36-ECC9230BB85F}"/>
                  </a:ext>
                </a:extLst>
              </p:cNvPr>
              <p:cNvPicPr/>
              <p:nvPr/>
            </p:nvPicPr>
            <p:blipFill>
              <a:blip r:embed="rId11"/>
              <a:stretch>
                <a:fillRect/>
              </a:stretch>
            </p:blipFill>
            <p:spPr>
              <a:xfrm>
                <a:off x="6338327" y="4901751"/>
                <a:ext cx="1070462" cy="1221654"/>
              </a:xfrm>
              <a:prstGeom prst="rect">
                <a:avLst/>
              </a:prstGeom>
            </p:spPr>
          </p:pic>
        </mc:Fallback>
      </mc:AlternateContent>
    </p:spTree>
    <p:extLst>
      <p:ext uri="{BB962C8B-B14F-4D97-AF65-F5344CB8AC3E}">
        <p14:creationId xmlns:p14="http://schemas.microsoft.com/office/powerpoint/2010/main" val="2566841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760396" y="196058"/>
            <a:ext cx="9617093" cy="1143000"/>
          </a:xfrm>
        </p:spPr>
        <p:txBody>
          <a:bodyPr>
            <a:normAutofit fontScale="90000"/>
          </a:bodyPr>
          <a:lstStyle/>
          <a:p>
            <a:r>
              <a:rPr lang="en-US" altLang="en-US" sz="4000" dirty="0"/>
              <a:t>Method 2: </a:t>
            </a:r>
            <a:br>
              <a:rPr lang="en-US" altLang="en-US" sz="4000" dirty="0"/>
            </a:br>
            <a:r>
              <a:rPr lang="en-US" altLang="en-US" sz="4000" dirty="0"/>
              <a:t>Recognize at POINT IN TIME</a:t>
            </a:r>
          </a:p>
        </p:txBody>
      </p:sp>
      <p:sp>
        <p:nvSpPr>
          <p:cNvPr id="37891" name="Content Placeholder 1"/>
          <p:cNvSpPr>
            <a:spLocks noGrp="1"/>
          </p:cNvSpPr>
          <p:nvPr>
            <p:ph idx="1"/>
          </p:nvPr>
        </p:nvSpPr>
        <p:spPr>
          <a:xfrm>
            <a:off x="924024" y="1608139"/>
            <a:ext cx="10626291" cy="4118893"/>
          </a:xfrm>
        </p:spPr>
        <p:txBody>
          <a:bodyPr>
            <a:normAutofit/>
          </a:bodyPr>
          <a:lstStyle/>
          <a:p>
            <a:pPr marL="0" indent="0">
              <a:lnSpc>
                <a:spcPct val="100000"/>
              </a:lnSpc>
              <a:spcBef>
                <a:spcPts val="1200"/>
              </a:spcBef>
              <a:buNone/>
            </a:pPr>
            <a:r>
              <a:rPr lang="en-US" altLang="en-US" dirty="0">
                <a:solidFill>
                  <a:srgbClr val="000000"/>
                </a:solidFill>
              </a:rPr>
              <a:t>Similar accounting, but delay profits</a:t>
            </a:r>
          </a:p>
          <a:p>
            <a:pPr marL="0" indent="0">
              <a:lnSpc>
                <a:spcPct val="100000"/>
              </a:lnSpc>
              <a:spcBef>
                <a:spcPts val="1800"/>
              </a:spcBef>
              <a:buNone/>
            </a:pPr>
            <a:r>
              <a:rPr lang="en-US" altLang="en-US" u="sng" dirty="0">
                <a:solidFill>
                  <a:srgbClr val="000000"/>
                </a:solidFill>
              </a:rPr>
              <a:t>Steps:</a:t>
            </a:r>
          </a:p>
          <a:p>
            <a:pPr marL="914389" lvl="1" indent="-457200">
              <a:lnSpc>
                <a:spcPct val="100000"/>
              </a:lnSpc>
              <a:spcBef>
                <a:spcPts val="1200"/>
              </a:spcBef>
              <a:buFont typeface="HelveticaNeue BoldCond"/>
              <a:buAutoNum type="arabicPeriod"/>
            </a:pPr>
            <a:r>
              <a:rPr lang="en-US" altLang="en-US" dirty="0">
                <a:solidFill>
                  <a:srgbClr val="000000"/>
                </a:solidFill>
              </a:rPr>
              <a:t>Track costs as incurred</a:t>
            </a:r>
          </a:p>
          <a:p>
            <a:pPr marL="914389" lvl="1" indent="-457200">
              <a:lnSpc>
                <a:spcPct val="100000"/>
              </a:lnSpc>
              <a:spcBef>
                <a:spcPts val="1200"/>
              </a:spcBef>
              <a:buFont typeface="HelveticaNeue BoldCond"/>
              <a:buAutoNum type="arabicPeriod"/>
            </a:pPr>
            <a:r>
              <a:rPr lang="en-US" altLang="en-US" dirty="0">
                <a:solidFill>
                  <a:srgbClr val="000000"/>
                </a:solidFill>
              </a:rPr>
              <a:t>Bill customer</a:t>
            </a:r>
          </a:p>
          <a:p>
            <a:pPr marL="914389" lvl="1" indent="-457200">
              <a:lnSpc>
                <a:spcPct val="100000"/>
              </a:lnSpc>
              <a:spcBef>
                <a:spcPts val="1200"/>
              </a:spcBef>
              <a:buFont typeface="HelveticaNeue BoldCond"/>
              <a:buAutoNum type="arabicPeriod"/>
            </a:pPr>
            <a:r>
              <a:rPr lang="en-US" altLang="en-US" dirty="0">
                <a:solidFill>
                  <a:srgbClr val="000000"/>
                </a:solidFill>
              </a:rPr>
              <a:t>Collect cash from customer</a:t>
            </a:r>
          </a:p>
          <a:p>
            <a:pPr marL="914389" lvl="1" indent="-457200">
              <a:lnSpc>
                <a:spcPct val="100000"/>
              </a:lnSpc>
              <a:spcBef>
                <a:spcPts val="1200"/>
              </a:spcBef>
              <a:buFont typeface="HelveticaNeue BoldCond"/>
              <a:buAutoNum type="arabicPeriod"/>
            </a:pPr>
            <a:r>
              <a:rPr lang="en-US" altLang="en-US" dirty="0">
                <a:solidFill>
                  <a:srgbClr val="C00000"/>
                </a:solidFill>
              </a:rPr>
              <a:t>Finish Project: recognize revenue and costs</a:t>
            </a:r>
          </a:p>
          <a:p>
            <a:pPr marL="914389" lvl="1" indent="-457200">
              <a:lnSpc>
                <a:spcPct val="100000"/>
              </a:lnSpc>
              <a:spcBef>
                <a:spcPts val="1200"/>
              </a:spcBef>
              <a:buFont typeface="HelveticaNeue BoldCond"/>
              <a:buAutoNum type="arabicPeriod"/>
            </a:pPr>
            <a:r>
              <a:rPr lang="en-US" altLang="en-US" dirty="0">
                <a:solidFill>
                  <a:srgbClr val="000000"/>
                </a:solidFill>
              </a:rPr>
              <a:t>Finish project: close out construction accounts</a:t>
            </a:r>
          </a:p>
        </p:txBody>
      </p:sp>
    </p:spTree>
    <p:extLst>
      <p:ext uri="{BB962C8B-B14F-4D97-AF65-F5344CB8AC3E}">
        <p14:creationId xmlns:p14="http://schemas.microsoft.com/office/powerpoint/2010/main" val="123265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8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normAutofit/>
          </a:bodyPr>
          <a:lstStyle/>
          <a:p>
            <a:r>
              <a:rPr lang="en-US" altLang="en-US" sz="3600" dirty="0"/>
              <a:t>Method 2: Recognize at point in time</a:t>
            </a:r>
          </a:p>
        </p:txBody>
      </p:sp>
      <p:sp>
        <p:nvSpPr>
          <p:cNvPr id="44035" name="Content Placeholder 1"/>
          <p:cNvSpPr>
            <a:spLocks noGrp="1"/>
          </p:cNvSpPr>
          <p:nvPr>
            <p:ph idx="1"/>
          </p:nvPr>
        </p:nvSpPr>
        <p:spPr>
          <a:xfrm>
            <a:off x="838200" y="1528764"/>
            <a:ext cx="8796337" cy="4708407"/>
          </a:xfrm>
        </p:spPr>
        <p:txBody>
          <a:bodyPr/>
          <a:lstStyle/>
          <a:p>
            <a:pPr marL="0" indent="0">
              <a:lnSpc>
                <a:spcPct val="100000"/>
              </a:lnSpc>
              <a:buNone/>
            </a:pPr>
            <a:r>
              <a:rPr lang="en-US" altLang="en-US" sz="2400" dirty="0">
                <a:solidFill>
                  <a:srgbClr val="000000"/>
                </a:solidFill>
              </a:rPr>
              <a:t>Using completed contract with last in-class problem B, how much revenue and expense are recognized on the income statement in 2023, 2024, and 2025?</a:t>
            </a:r>
          </a:p>
          <a:p>
            <a:pPr marL="0" indent="0">
              <a:lnSpc>
                <a:spcPct val="100000"/>
              </a:lnSpc>
              <a:buNone/>
            </a:pPr>
            <a:endParaRPr lang="en-US" altLang="en-US" sz="2400" dirty="0">
              <a:solidFill>
                <a:srgbClr val="000000"/>
              </a:solidFill>
            </a:endParaRPr>
          </a:p>
          <a:p>
            <a:pPr marL="0" indent="0">
              <a:lnSpc>
                <a:spcPct val="100000"/>
              </a:lnSpc>
              <a:buNone/>
            </a:pPr>
            <a:r>
              <a:rPr lang="en-US" altLang="en-US" sz="2400" dirty="0">
                <a:solidFill>
                  <a:srgbClr val="000000"/>
                </a:solidFill>
              </a:rPr>
              <a:t>	</a:t>
            </a:r>
            <a:r>
              <a:rPr lang="en-US" altLang="en-US" sz="2400" b="1" dirty="0">
                <a:solidFill>
                  <a:srgbClr val="000000"/>
                </a:solidFill>
              </a:rPr>
              <a:t>2023: $0 revenue and $0 expense</a:t>
            </a:r>
          </a:p>
          <a:p>
            <a:pPr marL="0" indent="0">
              <a:lnSpc>
                <a:spcPct val="100000"/>
              </a:lnSpc>
              <a:buNone/>
            </a:pPr>
            <a:r>
              <a:rPr lang="en-US" altLang="en-US" sz="1800" b="1" dirty="0">
                <a:solidFill>
                  <a:srgbClr val="000000"/>
                </a:solidFill>
              </a:rPr>
              <a:t>	</a:t>
            </a:r>
            <a:r>
              <a:rPr lang="en-US" altLang="en-US" sz="2400" b="1" dirty="0">
                <a:solidFill>
                  <a:srgbClr val="000000"/>
                </a:solidFill>
              </a:rPr>
              <a:t>2024: $0 revenue and $0 expense</a:t>
            </a:r>
          </a:p>
          <a:p>
            <a:pPr marL="0" indent="0">
              <a:lnSpc>
                <a:spcPct val="100000"/>
              </a:lnSpc>
              <a:buNone/>
            </a:pPr>
            <a:r>
              <a:rPr lang="en-US" altLang="en-US" sz="2400" b="1" dirty="0">
                <a:solidFill>
                  <a:srgbClr val="000000"/>
                </a:solidFill>
              </a:rPr>
              <a:t>	2025: $5,400,000 revenue and $5,050,000 expense</a:t>
            </a:r>
            <a:endParaRPr lang="en-US" altLang="en-US" sz="2400" dirty="0">
              <a:solidFill>
                <a:srgbClr val="000000"/>
              </a:solidFill>
            </a:endParaRPr>
          </a:p>
          <a:p>
            <a:pPr marL="0" indent="0">
              <a:lnSpc>
                <a:spcPct val="100000"/>
              </a:lnSpc>
              <a:buNone/>
            </a:pPr>
            <a:endParaRPr lang="en-US" altLang="en-US" sz="1800" dirty="0">
              <a:solidFill>
                <a:srgbClr val="000000"/>
              </a:solidFill>
            </a:endParaRPr>
          </a:p>
        </p:txBody>
      </p:sp>
    </p:spTree>
    <p:extLst>
      <p:ext uri="{BB962C8B-B14F-4D97-AF65-F5344CB8AC3E}">
        <p14:creationId xmlns:p14="http://schemas.microsoft.com/office/powerpoint/2010/main" val="405380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normAutofit/>
          </a:bodyPr>
          <a:lstStyle/>
          <a:p>
            <a:r>
              <a:rPr lang="en-US" altLang="en-US" sz="3600" dirty="0"/>
              <a:t>Method 2: Recognize at point in time</a:t>
            </a:r>
          </a:p>
        </p:txBody>
      </p:sp>
      <p:sp>
        <p:nvSpPr>
          <p:cNvPr id="5" name="Content Placeholder 1">
            <a:extLst>
              <a:ext uri="{FF2B5EF4-FFF2-40B4-BE49-F238E27FC236}">
                <a16:creationId xmlns:a16="http://schemas.microsoft.com/office/drawing/2014/main" id="{5998F5B7-79C5-413A-AA1B-ADA408912549}"/>
              </a:ext>
            </a:extLst>
          </p:cNvPr>
          <p:cNvSpPr>
            <a:spLocks noGrp="1"/>
          </p:cNvSpPr>
          <p:nvPr>
            <p:ph idx="1"/>
          </p:nvPr>
        </p:nvSpPr>
        <p:spPr>
          <a:xfrm>
            <a:off x="838200" y="1334529"/>
            <a:ext cx="9936329" cy="5344963"/>
          </a:xfrm>
        </p:spPr>
        <p:txBody>
          <a:bodyPr>
            <a:normAutofit fontScale="85000" lnSpcReduction="20000"/>
          </a:bodyPr>
          <a:lstStyle/>
          <a:p>
            <a:pPr marL="0" indent="0">
              <a:lnSpc>
                <a:spcPct val="100000"/>
              </a:lnSpc>
              <a:spcAft>
                <a:spcPts val="1200"/>
              </a:spcAft>
              <a:buNone/>
            </a:pPr>
            <a:r>
              <a:rPr lang="en-US" altLang="en-US" b="1" dirty="0">
                <a:solidFill>
                  <a:srgbClr val="000000"/>
                </a:solidFill>
              </a:rPr>
              <a:t>Journal entries during the project (2023 and 2024):</a:t>
            </a:r>
          </a:p>
          <a:p>
            <a:pPr marL="914389" lvl="1" indent="-457200">
              <a:lnSpc>
                <a:spcPct val="100000"/>
              </a:lnSpc>
              <a:spcBef>
                <a:spcPts val="1200"/>
              </a:spcBef>
              <a:spcAft>
                <a:spcPts val="600"/>
              </a:spcAft>
              <a:buFont typeface="+mj-lt"/>
              <a:buAutoNum type="arabicPeriod"/>
            </a:pPr>
            <a:r>
              <a:rPr lang="en-US" altLang="en-US" u="sng" dirty="0">
                <a:solidFill>
                  <a:srgbClr val="000000"/>
                </a:solidFill>
              </a:rPr>
              <a:t>Same construction cost J/E</a:t>
            </a:r>
          </a:p>
          <a:p>
            <a:pPr marL="914377" lvl="2" indent="0">
              <a:lnSpc>
                <a:spcPct val="100000"/>
              </a:lnSpc>
              <a:spcAft>
                <a:spcPts val="600"/>
              </a:spcAft>
              <a:buNone/>
            </a:pPr>
            <a:r>
              <a:rPr lang="en-US" altLang="en-US" dirty="0">
                <a:solidFill>
                  <a:srgbClr val="000000"/>
                </a:solidFill>
              </a:rPr>
              <a:t>	</a:t>
            </a:r>
            <a:r>
              <a:rPr lang="en-US" altLang="en-US" sz="2100" dirty="0">
                <a:solidFill>
                  <a:srgbClr val="000000"/>
                </a:solidFill>
              </a:rPr>
              <a:t>CIP (B-A)		xxx</a:t>
            </a:r>
          </a:p>
          <a:p>
            <a:pPr marL="914377" lvl="2" indent="0">
              <a:lnSpc>
                <a:spcPct val="100000"/>
              </a:lnSpc>
              <a:spcAft>
                <a:spcPts val="600"/>
              </a:spcAft>
              <a:buNone/>
            </a:pPr>
            <a:r>
              <a:rPr lang="en-US" altLang="en-US" sz="2100" dirty="0">
                <a:solidFill>
                  <a:srgbClr val="000000"/>
                </a:solidFill>
              </a:rPr>
              <a:t>		Cash (B-A)			xxx</a:t>
            </a:r>
          </a:p>
          <a:p>
            <a:pPr marL="914389" lvl="1" indent="-457200">
              <a:lnSpc>
                <a:spcPct val="100000"/>
              </a:lnSpc>
              <a:spcAft>
                <a:spcPts val="600"/>
              </a:spcAft>
              <a:buFont typeface="+mj-lt"/>
              <a:buAutoNum type="arabicPeriod"/>
            </a:pPr>
            <a:r>
              <a:rPr lang="en-US" altLang="en-US" u="sng" dirty="0">
                <a:solidFill>
                  <a:srgbClr val="000000"/>
                </a:solidFill>
              </a:rPr>
              <a:t>Same billing J/E</a:t>
            </a:r>
            <a:r>
              <a:rPr lang="en-US" altLang="en-US" dirty="0">
                <a:solidFill>
                  <a:srgbClr val="000000"/>
                </a:solidFill>
              </a:rPr>
              <a:t> </a:t>
            </a:r>
          </a:p>
          <a:p>
            <a:pPr marL="457189" lvl="1" indent="0">
              <a:lnSpc>
                <a:spcPct val="100000"/>
              </a:lnSpc>
              <a:spcAft>
                <a:spcPts val="600"/>
              </a:spcAft>
              <a:buNone/>
            </a:pPr>
            <a:r>
              <a:rPr lang="en-US" altLang="en-US" dirty="0">
                <a:solidFill>
                  <a:srgbClr val="000000"/>
                </a:solidFill>
              </a:rPr>
              <a:t>		</a:t>
            </a:r>
            <a:r>
              <a:rPr lang="en-US" altLang="en-US" sz="2100" dirty="0">
                <a:solidFill>
                  <a:srgbClr val="000000"/>
                </a:solidFill>
              </a:rPr>
              <a:t>A/R (B-A)		xxx</a:t>
            </a:r>
          </a:p>
          <a:p>
            <a:pPr marL="914377" lvl="2" indent="0">
              <a:lnSpc>
                <a:spcPct val="100000"/>
              </a:lnSpc>
              <a:spcAft>
                <a:spcPts val="600"/>
              </a:spcAft>
              <a:buNone/>
            </a:pPr>
            <a:r>
              <a:rPr lang="en-US" altLang="en-US" sz="2100" dirty="0">
                <a:solidFill>
                  <a:srgbClr val="000000"/>
                </a:solidFill>
              </a:rPr>
              <a:t>		Billings on CIP (B-XA)		xxx</a:t>
            </a:r>
          </a:p>
          <a:p>
            <a:pPr marL="914389" lvl="1" indent="-457200">
              <a:lnSpc>
                <a:spcPct val="100000"/>
              </a:lnSpc>
              <a:spcAft>
                <a:spcPts val="600"/>
              </a:spcAft>
              <a:buFont typeface="+mj-lt"/>
              <a:buAutoNum type="arabicPeriod" startAt="3"/>
            </a:pPr>
            <a:r>
              <a:rPr lang="en-US" altLang="en-US" u="sng" dirty="0">
                <a:solidFill>
                  <a:srgbClr val="000000"/>
                </a:solidFill>
              </a:rPr>
              <a:t>Same collection J/E</a:t>
            </a:r>
          </a:p>
          <a:p>
            <a:pPr marL="457189" lvl="1" indent="0">
              <a:lnSpc>
                <a:spcPct val="100000"/>
              </a:lnSpc>
              <a:spcAft>
                <a:spcPts val="600"/>
              </a:spcAft>
              <a:buNone/>
            </a:pPr>
            <a:r>
              <a:rPr lang="en-US" altLang="en-US" dirty="0">
                <a:solidFill>
                  <a:srgbClr val="000000"/>
                </a:solidFill>
              </a:rPr>
              <a:t>		</a:t>
            </a:r>
            <a:r>
              <a:rPr lang="en-US" altLang="en-US" sz="2100" dirty="0">
                <a:solidFill>
                  <a:srgbClr val="000000"/>
                </a:solidFill>
              </a:rPr>
              <a:t>Cash (B-A)		xxx</a:t>
            </a:r>
          </a:p>
          <a:p>
            <a:pPr marL="914377" lvl="2" indent="0">
              <a:lnSpc>
                <a:spcPct val="100000"/>
              </a:lnSpc>
              <a:spcAft>
                <a:spcPts val="600"/>
              </a:spcAft>
              <a:buNone/>
            </a:pPr>
            <a:r>
              <a:rPr lang="en-US" altLang="en-US" sz="2100" dirty="0">
                <a:solidFill>
                  <a:srgbClr val="000000"/>
                </a:solidFill>
              </a:rPr>
              <a:t>		A/R (B-XA)			xxx</a:t>
            </a:r>
          </a:p>
          <a:p>
            <a:pPr marL="914389" lvl="1" indent="-457200">
              <a:lnSpc>
                <a:spcPct val="100000"/>
              </a:lnSpc>
              <a:spcAft>
                <a:spcPts val="600"/>
              </a:spcAft>
              <a:buFont typeface="+mj-lt"/>
              <a:buAutoNum type="arabicPeriod" startAt="4"/>
            </a:pPr>
            <a:r>
              <a:rPr lang="en-US" altLang="en-US" dirty="0">
                <a:solidFill>
                  <a:srgbClr val="000000"/>
                </a:solidFill>
              </a:rPr>
              <a:t>No J/E to recognize revenue and expenses</a:t>
            </a:r>
          </a:p>
          <a:p>
            <a:pPr marL="0" indent="0">
              <a:lnSpc>
                <a:spcPct val="100000"/>
              </a:lnSpc>
              <a:buNone/>
            </a:pPr>
            <a:r>
              <a:rPr lang="en-US" altLang="en-US" sz="2400" dirty="0">
                <a:solidFill>
                  <a:srgbClr val="000000"/>
                </a:solidFill>
              </a:rPr>
              <a:t>	</a:t>
            </a:r>
          </a:p>
          <a:p>
            <a:pPr marL="0" indent="0">
              <a:lnSpc>
                <a:spcPct val="100000"/>
              </a:lnSpc>
              <a:buNone/>
            </a:pPr>
            <a:r>
              <a:rPr lang="en-US" altLang="en-US" sz="2400" dirty="0">
                <a:solidFill>
                  <a:srgbClr val="000000"/>
                </a:solidFill>
              </a:rPr>
              <a:t>	</a:t>
            </a:r>
            <a:endParaRPr lang="en-US" altLang="en-US" sz="1800" dirty="0">
              <a:solidFill>
                <a:srgbClr val="000000"/>
              </a:solidFill>
            </a:endParaRPr>
          </a:p>
        </p:txBody>
      </p:sp>
    </p:spTree>
    <p:extLst>
      <p:ext uri="{BB962C8B-B14F-4D97-AF65-F5344CB8AC3E}">
        <p14:creationId xmlns:p14="http://schemas.microsoft.com/office/powerpoint/2010/main" val="378638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normAutofit/>
          </a:bodyPr>
          <a:lstStyle/>
          <a:p>
            <a:r>
              <a:rPr lang="en-US" altLang="en-US" sz="3600" dirty="0"/>
              <a:t>Method 2: Recognize at point in time</a:t>
            </a:r>
          </a:p>
        </p:txBody>
      </p:sp>
      <p:sp>
        <p:nvSpPr>
          <p:cNvPr id="5" name="Content Placeholder 1">
            <a:extLst>
              <a:ext uri="{FF2B5EF4-FFF2-40B4-BE49-F238E27FC236}">
                <a16:creationId xmlns:a16="http://schemas.microsoft.com/office/drawing/2014/main" id="{5998F5B7-79C5-413A-AA1B-ADA408912549}"/>
              </a:ext>
            </a:extLst>
          </p:cNvPr>
          <p:cNvSpPr>
            <a:spLocks noGrp="1"/>
          </p:cNvSpPr>
          <p:nvPr>
            <p:ph idx="1"/>
          </p:nvPr>
        </p:nvSpPr>
        <p:spPr>
          <a:xfrm>
            <a:off x="838200" y="1368126"/>
            <a:ext cx="9936329" cy="4708407"/>
          </a:xfrm>
        </p:spPr>
        <p:txBody>
          <a:bodyPr>
            <a:normAutofit/>
          </a:bodyPr>
          <a:lstStyle/>
          <a:p>
            <a:pPr marL="0" indent="0">
              <a:lnSpc>
                <a:spcPct val="100000"/>
              </a:lnSpc>
              <a:buNone/>
            </a:pPr>
            <a:r>
              <a:rPr lang="en-US" altLang="en-US" sz="2400" b="1" dirty="0">
                <a:solidFill>
                  <a:srgbClr val="000000"/>
                </a:solidFill>
              </a:rPr>
              <a:t>Journal entries at the end of the project (2025):</a:t>
            </a:r>
          </a:p>
          <a:p>
            <a:pPr marL="457200" indent="-457200">
              <a:lnSpc>
                <a:spcPct val="100000"/>
              </a:lnSpc>
              <a:buFont typeface="+mj-lt"/>
              <a:buAutoNum type="arabicPeriod"/>
            </a:pPr>
            <a:r>
              <a:rPr lang="en-US" altLang="en-US" sz="2000" u="sng" dirty="0">
                <a:solidFill>
                  <a:srgbClr val="000000"/>
                </a:solidFill>
              </a:rPr>
              <a:t>Same construction cost J/E</a:t>
            </a:r>
          </a:p>
          <a:p>
            <a:pPr marL="457200" indent="-457200">
              <a:lnSpc>
                <a:spcPct val="100000"/>
              </a:lnSpc>
              <a:buFont typeface="+mj-lt"/>
              <a:buAutoNum type="arabicPeriod"/>
            </a:pPr>
            <a:r>
              <a:rPr lang="en-US" altLang="en-US" sz="2000" u="sng" dirty="0">
                <a:solidFill>
                  <a:srgbClr val="000000"/>
                </a:solidFill>
              </a:rPr>
              <a:t>Same billing J/E</a:t>
            </a:r>
            <a:r>
              <a:rPr lang="en-US" altLang="en-US" sz="2000" dirty="0">
                <a:solidFill>
                  <a:srgbClr val="000000"/>
                </a:solidFill>
              </a:rPr>
              <a:t> </a:t>
            </a:r>
          </a:p>
          <a:p>
            <a:pPr marL="457200" indent="-457200">
              <a:lnSpc>
                <a:spcPct val="100000"/>
              </a:lnSpc>
              <a:buFont typeface="+mj-lt"/>
              <a:buAutoNum type="arabicPeriod"/>
            </a:pPr>
            <a:r>
              <a:rPr lang="en-US" altLang="en-US" sz="2000" u="sng" dirty="0">
                <a:solidFill>
                  <a:srgbClr val="000000"/>
                </a:solidFill>
              </a:rPr>
              <a:t>Same collection J/E</a:t>
            </a:r>
          </a:p>
          <a:p>
            <a:pPr marL="457200" indent="-457200">
              <a:lnSpc>
                <a:spcPct val="100000"/>
              </a:lnSpc>
              <a:buFont typeface="+mj-lt"/>
              <a:buAutoNum type="arabicPeriod"/>
            </a:pPr>
            <a:r>
              <a:rPr lang="en-US" altLang="en-US" sz="2000" u="sng" dirty="0">
                <a:solidFill>
                  <a:srgbClr val="000000"/>
                </a:solidFill>
              </a:rPr>
              <a:t>Recognize all revenue and expense</a:t>
            </a:r>
          </a:p>
          <a:p>
            <a:pPr marL="0" indent="0">
              <a:lnSpc>
                <a:spcPct val="100000"/>
              </a:lnSpc>
              <a:spcBef>
                <a:spcPts val="0"/>
              </a:spcBef>
              <a:buNone/>
            </a:pPr>
            <a:r>
              <a:rPr lang="en-US" altLang="en-US" sz="2400" dirty="0">
                <a:solidFill>
                  <a:srgbClr val="000000"/>
                </a:solidFill>
              </a:rPr>
              <a:t>	</a:t>
            </a:r>
            <a:r>
              <a:rPr lang="en-US" altLang="en-US" sz="1800" dirty="0">
                <a:solidFill>
                  <a:srgbClr val="000000"/>
                </a:solidFill>
              </a:rPr>
              <a:t>Construction Costs (I-E)		5,050,000 </a:t>
            </a:r>
            <a:r>
              <a:rPr lang="en-US" altLang="en-US" sz="1800" dirty="0">
                <a:solidFill>
                  <a:srgbClr val="C00000"/>
                </a:solidFill>
              </a:rPr>
              <a:t>(Expense)</a:t>
            </a:r>
          </a:p>
          <a:p>
            <a:pPr marL="0" indent="0">
              <a:lnSpc>
                <a:spcPct val="100000"/>
              </a:lnSpc>
              <a:spcBef>
                <a:spcPts val="0"/>
              </a:spcBef>
              <a:buNone/>
            </a:pPr>
            <a:r>
              <a:rPr lang="en-US" altLang="en-US" sz="1800" dirty="0">
                <a:solidFill>
                  <a:srgbClr val="000000"/>
                </a:solidFill>
              </a:rPr>
              <a:t>	CIP (B-A)			   350,000 </a:t>
            </a:r>
            <a:r>
              <a:rPr lang="en-US" altLang="en-US" sz="1800" dirty="0">
                <a:solidFill>
                  <a:srgbClr val="C00000"/>
                </a:solidFill>
              </a:rPr>
              <a:t>(Profit)</a:t>
            </a:r>
          </a:p>
          <a:p>
            <a:pPr marL="0" indent="0">
              <a:lnSpc>
                <a:spcPct val="100000"/>
              </a:lnSpc>
              <a:spcBef>
                <a:spcPts val="0"/>
              </a:spcBef>
              <a:buNone/>
            </a:pPr>
            <a:r>
              <a:rPr lang="en-US" altLang="en-US" sz="1800" dirty="0">
                <a:solidFill>
                  <a:srgbClr val="000000"/>
                </a:solidFill>
              </a:rPr>
              <a:t>		Revenue (I-R)				5,400,000 </a:t>
            </a:r>
            <a:r>
              <a:rPr lang="en-US" altLang="en-US" sz="1800" dirty="0">
                <a:solidFill>
                  <a:srgbClr val="C00000"/>
                </a:solidFill>
              </a:rPr>
              <a:t>(Revenue)</a:t>
            </a:r>
          </a:p>
          <a:p>
            <a:pPr marL="457200" indent="-457200">
              <a:lnSpc>
                <a:spcPct val="100000"/>
              </a:lnSpc>
              <a:buFont typeface="+mj-lt"/>
              <a:buAutoNum type="arabicPeriod" startAt="5"/>
            </a:pPr>
            <a:r>
              <a:rPr lang="en-US" altLang="en-US" sz="2000" u="sng" dirty="0">
                <a:solidFill>
                  <a:srgbClr val="000000"/>
                </a:solidFill>
              </a:rPr>
              <a:t>Close long-term contract</a:t>
            </a:r>
            <a:endParaRPr lang="en-US" altLang="en-US" sz="2000" dirty="0">
              <a:solidFill>
                <a:srgbClr val="000000"/>
              </a:solidFill>
            </a:endParaRPr>
          </a:p>
          <a:p>
            <a:pPr marL="0" indent="0">
              <a:lnSpc>
                <a:spcPct val="100000"/>
              </a:lnSpc>
              <a:spcBef>
                <a:spcPts val="0"/>
              </a:spcBef>
              <a:buNone/>
            </a:pPr>
            <a:r>
              <a:rPr lang="en-US" altLang="en-US" sz="2400" dirty="0">
                <a:solidFill>
                  <a:srgbClr val="000000"/>
                </a:solidFill>
              </a:rPr>
              <a:t>	</a:t>
            </a:r>
            <a:r>
              <a:rPr lang="en-US" altLang="en-US" sz="1800" dirty="0">
                <a:solidFill>
                  <a:srgbClr val="000000"/>
                </a:solidFill>
              </a:rPr>
              <a:t>Billings on CIP (B-XA)		5,400,000</a:t>
            </a:r>
          </a:p>
          <a:p>
            <a:pPr marL="0" indent="0">
              <a:lnSpc>
                <a:spcPct val="100000"/>
              </a:lnSpc>
              <a:spcBef>
                <a:spcPts val="0"/>
              </a:spcBef>
              <a:buNone/>
            </a:pPr>
            <a:r>
              <a:rPr lang="en-US" altLang="en-US" sz="1800" dirty="0">
                <a:solidFill>
                  <a:srgbClr val="000000"/>
                </a:solidFill>
              </a:rPr>
              <a:t>		CIP (B-A)				5,400,000</a:t>
            </a:r>
          </a:p>
          <a:p>
            <a:pPr marL="0" indent="0">
              <a:lnSpc>
                <a:spcPct val="100000"/>
              </a:lnSpc>
              <a:buNone/>
            </a:pPr>
            <a:endParaRPr lang="en-US" altLang="en-US" sz="2400" dirty="0">
              <a:solidFill>
                <a:srgbClr val="000000"/>
              </a:solidFill>
            </a:endParaRPr>
          </a:p>
          <a:p>
            <a:pPr marL="0" indent="0">
              <a:lnSpc>
                <a:spcPct val="100000"/>
              </a:lnSpc>
              <a:buNone/>
            </a:pPr>
            <a:endParaRPr lang="en-US" altLang="en-US" sz="1800" dirty="0">
              <a:solidFill>
                <a:srgbClr val="000000"/>
              </a:solidFill>
            </a:endParaRPr>
          </a:p>
        </p:txBody>
      </p:sp>
    </p:spTree>
    <p:extLst>
      <p:ext uri="{BB962C8B-B14F-4D97-AF65-F5344CB8AC3E}">
        <p14:creationId xmlns:p14="http://schemas.microsoft.com/office/powerpoint/2010/main" val="220059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2"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15">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1047280" y="759805"/>
            <a:ext cx="10306520" cy="1325563"/>
          </a:xfrm>
        </p:spPr>
        <p:txBody>
          <a:bodyPr>
            <a:normAutofit/>
          </a:bodyPr>
          <a:lstStyle/>
          <a:p>
            <a:r>
              <a:rPr lang="en-US" sz="4000" dirty="0">
                <a:solidFill>
                  <a:srgbClr val="FFFFFF"/>
                </a:solidFill>
              </a:rPr>
              <a:t>Takeaways</a:t>
            </a:r>
          </a:p>
        </p:txBody>
      </p:sp>
      <p:sp>
        <p:nvSpPr>
          <p:cNvPr id="3" name="Content Placeholder 2"/>
          <p:cNvSpPr>
            <a:spLocks noGrp="1"/>
          </p:cNvSpPr>
          <p:nvPr>
            <p:ph idx="1"/>
          </p:nvPr>
        </p:nvSpPr>
        <p:spPr>
          <a:xfrm>
            <a:off x="1424904" y="2494450"/>
            <a:ext cx="5935943" cy="3563159"/>
          </a:xfrm>
        </p:spPr>
        <p:txBody>
          <a:bodyPr>
            <a:normAutofit/>
          </a:bodyPr>
          <a:lstStyle/>
          <a:p>
            <a:pPr>
              <a:spcBef>
                <a:spcPts val="1800"/>
              </a:spcBef>
            </a:pPr>
            <a:r>
              <a:rPr lang="en-US" sz="2400" dirty="0"/>
              <a:t>Long-term contracts &gt; 1 year production</a:t>
            </a:r>
          </a:p>
          <a:p>
            <a:pPr>
              <a:spcBef>
                <a:spcPts val="1800"/>
              </a:spcBef>
            </a:pPr>
            <a:r>
              <a:rPr lang="en-US" sz="2400" u="sng" dirty="0"/>
              <a:t>Revenue recognition over </a:t>
            </a:r>
            <a:r>
              <a:rPr lang="en-US" sz="2400" dirty="0"/>
              <a:t>time recognizes profits over time</a:t>
            </a:r>
          </a:p>
          <a:p>
            <a:pPr>
              <a:spcBef>
                <a:spcPts val="1800"/>
              </a:spcBef>
            </a:pPr>
            <a:r>
              <a:rPr lang="en-US" sz="2400" u="sng" dirty="0"/>
              <a:t>Revenue recognition at a point in time</a:t>
            </a:r>
            <a:r>
              <a:rPr lang="en-US" sz="2400" dirty="0"/>
              <a:t> recognizes profits at the end</a:t>
            </a:r>
          </a:p>
          <a:p>
            <a:pPr>
              <a:spcBef>
                <a:spcPts val="1800"/>
              </a:spcBef>
            </a:pPr>
            <a:r>
              <a:rPr lang="en-US" sz="2400" dirty="0"/>
              <a:t>Revenues and costs are the same with each method, just differ in timing</a:t>
            </a:r>
          </a:p>
          <a:p>
            <a:pPr marL="971539" lvl="1" indent="-514350">
              <a:spcBef>
                <a:spcPts val="1800"/>
              </a:spcBef>
              <a:buFont typeface="+mj-lt"/>
              <a:buAutoNum type="arabicPeriod"/>
            </a:pPr>
            <a:endParaRPr lang="en-US" sz="2000" dirty="0"/>
          </a:p>
          <a:p>
            <a:pPr marL="971539" lvl="1" indent="-514350">
              <a:spcBef>
                <a:spcPts val="1800"/>
              </a:spcBef>
              <a:buFont typeface="+mj-lt"/>
              <a:buAutoNum type="arabicPeriod"/>
            </a:pPr>
            <a:endParaRPr lang="en-US" sz="2000" dirty="0"/>
          </a:p>
          <a:p>
            <a:endParaRPr lang="en-US" sz="2000" dirty="0"/>
          </a:p>
        </p:txBody>
      </p:sp>
      <p:pic>
        <p:nvPicPr>
          <p:cNvPr id="4" name="Picture 3" descr="A green sign with white text&#10;&#10;Description automatically generated with medium confidence">
            <a:extLst>
              <a:ext uri="{FF2B5EF4-FFF2-40B4-BE49-F238E27FC236}">
                <a16:creationId xmlns:a16="http://schemas.microsoft.com/office/drawing/2014/main" id="{4903D05B-7F9C-42C2-B3DA-6DE3EEB613FD}"/>
              </a:ext>
            </a:extLst>
          </p:cNvPr>
          <p:cNvPicPr>
            <a:picLocks noChangeAspect="1"/>
          </p:cNvPicPr>
          <p:nvPr/>
        </p:nvPicPr>
        <p:blipFill rotWithShape="1">
          <a:blip r:embed="rId2"/>
          <a:srcRect l="2261" r="4748" b="2"/>
          <a:stretch/>
        </p:blipFill>
        <p:spPr>
          <a:xfrm>
            <a:off x="7667234" y="2494450"/>
            <a:ext cx="3249582" cy="2411182"/>
          </a:xfrm>
          <a:prstGeom prst="rect">
            <a:avLst/>
          </a:prstGeom>
        </p:spPr>
      </p:pic>
    </p:spTree>
    <p:extLst>
      <p:ext uri="{BB962C8B-B14F-4D97-AF65-F5344CB8AC3E}">
        <p14:creationId xmlns:p14="http://schemas.microsoft.com/office/powerpoint/2010/main" val="506929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26"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Rectangle 29">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1047280" y="759805"/>
            <a:ext cx="10306520" cy="1325563"/>
          </a:xfrm>
        </p:spPr>
        <p:txBody>
          <a:bodyPr vert="horz" lIns="91440" tIns="45720" rIns="91440" bIns="45720" rtlCol="0" anchor="ctr">
            <a:normAutofit/>
          </a:bodyPr>
          <a:lstStyle/>
          <a:p>
            <a:pPr defTabSz="914400"/>
            <a:r>
              <a:rPr lang="en-US" sz="4000" kern="1200">
                <a:solidFill>
                  <a:srgbClr val="FFFFFF"/>
                </a:solidFill>
                <a:latin typeface="+mj-lt"/>
                <a:ea typeface="+mj-ea"/>
                <a:cs typeface="+mj-cs"/>
              </a:rPr>
              <a:t>Things to do…</a:t>
            </a:r>
          </a:p>
        </p:txBody>
      </p:sp>
      <p:sp>
        <p:nvSpPr>
          <p:cNvPr id="17" name="Content Placeholder 2">
            <a:extLst>
              <a:ext uri="{FF2B5EF4-FFF2-40B4-BE49-F238E27FC236}">
                <a16:creationId xmlns:a16="http://schemas.microsoft.com/office/drawing/2014/main" id="{9A8B0B88-9B0B-4C32-BFB1-562A525C048B}"/>
              </a:ext>
            </a:extLst>
          </p:cNvPr>
          <p:cNvSpPr txBox="1">
            <a:spLocks/>
          </p:cNvSpPr>
          <p:nvPr/>
        </p:nvSpPr>
        <p:spPr>
          <a:xfrm>
            <a:off x="1424903" y="2494450"/>
            <a:ext cx="4982261" cy="356315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28600" defTabSz="914400">
              <a:buFont typeface="Arial" panose="020B0604020202020204" pitchFamily="34" charset="0"/>
              <a:buChar char="•"/>
              <a:tabLst>
                <a:tab pos="1492250" algn="l"/>
              </a:tabLst>
            </a:pPr>
            <a:endParaRPr lang="en-US" sz="2400" dirty="0"/>
          </a:p>
        </p:txBody>
      </p:sp>
      <p:pic>
        <p:nvPicPr>
          <p:cNvPr id="18" name="Picture 17" descr="Text, letter&#10;&#10;Description automatically generated">
            <a:extLst>
              <a:ext uri="{FF2B5EF4-FFF2-40B4-BE49-F238E27FC236}">
                <a16:creationId xmlns:a16="http://schemas.microsoft.com/office/drawing/2014/main" id="{8116D749-53DD-48B6-A2F8-325CD3FD540F}"/>
              </a:ext>
            </a:extLst>
          </p:cNvPr>
          <p:cNvPicPr>
            <a:picLocks noChangeAspect="1"/>
          </p:cNvPicPr>
          <p:nvPr/>
        </p:nvPicPr>
        <p:blipFill rotWithShape="1">
          <a:blip r:embed="rId2"/>
          <a:srcRect l="8046" r="16482" b="1"/>
          <a:stretch/>
        </p:blipFill>
        <p:spPr>
          <a:xfrm>
            <a:off x="6713552" y="2492395"/>
            <a:ext cx="4187743" cy="3107261"/>
          </a:xfrm>
          <a:prstGeom prst="rect">
            <a:avLst/>
          </a:prstGeom>
        </p:spPr>
      </p:pic>
    </p:spTree>
    <p:extLst>
      <p:ext uri="{BB962C8B-B14F-4D97-AF65-F5344CB8AC3E}">
        <p14:creationId xmlns:p14="http://schemas.microsoft.com/office/powerpoint/2010/main" val="4227653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864091" cy="6530027"/>
          </a:xfrm>
          <a:prstGeom prst="rect">
            <a:avLst/>
          </a:prstGeom>
        </p:spPr>
      </p:pic>
      <p:sp>
        <p:nvSpPr>
          <p:cNvPr id="5" name="Rectangle 3"/>
          <p:cNvSpPr>
            <a:spLocks noChangeArrowheads="1"/>
          </p:cNvSpPr>
          <p:nvPr/>
        </p:nvSpPr>
        <p:spPr bwMode="auto">
          <a:xfrm>
            <a:off x="-2" y="5303520"/>
            <a:ext cx="9864091" cy="1554480"/>
          </a:xfrm>
          <a:prstGeom prst="rect">
            <a:avLst/>
          </a:prstGeom>
          <a:solidFill>
            <a:schemeClr val="accent6">
              <a:lumMod val="50000"/>
            </a:schemeClr>
          </a:solidFill>
          <a:ln w="9525">
            <a:noFill/>
            <a:miter lim="800000"/>
            <a:headEnd/>
            <a:tailEnd/>
          </a:ln>
        </p:spPr>
        <p:txBody>
          <a:bodyPr wrap="none" anchor="ctr"/>
          <a:lstStyle/>
          <a:p>
            <a:pPr>
              <a:defRPr/>
            </a:pPr>
            <a:r>
              <a:rPr lang="en-US" altLang="en-US" sz="3200" b="1" i="1" dirty="0">
                <a:solidFill>
                  <a:schemeClr val="bg1"/>
                </a:solidFill>
              </a:rPr>
              <a:t>Revenue Recognition Part 2 </a:t>
            </a:r>
            <a:r>
              <a:rPr lang="en-US" altLang="en-US" sz="3200" b="1" i="1">
                <a:solidFill>
                  <a:schemeClr val="bg1"/>
                </a:solidFill>
              </a:rPr>
              <a:t>– Class</a:t>
            </a:r>
            <a:endParaRPr lang="en-US" altLang="en-US" sz="3200" b="1" i="1" dirty="0">
              <a:solidFill>
                <a:schemeClr val="bg1"/>
              </a:solidFill>
            </a:endParaRPr>
          </a:p>
        </p:txBody>
      </p:sp>
    </p:spTree>
    <p:extLst>
      <p:ext uri="{BB962C8B-B14F-4D97-AF65-F5344CB8AC3E}">
        <p14:creationId xmlns:p14="http://schemas.microsoft.com/office/powerpoint/2010/main" val="2222804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3369</TotalTime>
  <Words>2312</Words>
  <Application>Microsoft Office PowerPoint</Application>
  <PresentationFormat>Widescreen</PresentationFormat>
  <Paragraphs>290</Paragraphs>
  <Slides>29</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Wingdings</vt:lpstr>
      <vt:lpstr>Calibri</vt:lpstr>
      <vt:lpstr>HelveticaNeue BoldCond</vt:lpstr>
      <vt:lpstr>Times New Roman</vt:lpstr>
      <vt:lpstr>Arial Black</vt:lpstr>
      <vt:lpstr>Arial</vt:lpstr>
      <vt:lpstr>Roboto Condensed</vt:lpstr>
      <vt:lpstr>Office Theme</vt:lpstr>
      <vt:lpstr>PowerPoint Presentation</vt:lpstr>
      <vt:lpstr>Notes…</vt:lpstr>
      <vt:lpstr>Key Points from the Video</vt:lpstr>
      <vt:lpstr>Today’s Plan</vt:lpstr>
      <vt:lpstr>PowerPoint Presentation</vt:lpstr>
      <vt:lpstr>Accounting for Long-Term Contracts</vt:lpstr>
      <vt:lpstr>The Challenge (Revenue)</vt:lpstr>
      <vt:lpstr>Recognize revenue over time if one of the following…</vt:lpstr>
      <vt:lpstr>How to measure progress to completion?</vt:lpstr>
      <vt:lpstr>Method 1: Recognize over time</vt:lpstr>
      <vt:lpstr>Method 1: Recognize over time</vt:lpstr>
      <vt:lpstr>Method 1: Recognize over time</vt:lpstr>
      <vt:lpstr>Method 1: Recognize over time</vt:lpstr>
      <vt:lpstr>Step 1: Track costs as incurred</vt:lpstr>
      <vt:lpstr>Step 2: Bill customer</vt:lpstr>
      <vt:lpstr>Step 3: Collect cash from customer</vt:lpstr>
      <vt:lpstr>Step 4: Recognize revenue and costs</vt:lpstr>
      <vt:lpstr>Step 5: Finish project: Close construction accounts</vt:lpstr>
      <vt:lpstr>How to measure progress to completion?</vt:lpstr>
      <vt:lpstr>In-class problem A (Instructor Led)</vt:lpstr>
      <vt:lpstr>In-class problem B</vt:lpstr>
      <vt:lpstr>Rev Rec Options</vt:lpstr>
      <vt:lpstr>Method 2:  Recognize at POINT IN TIME</vt:lpstr>
      <vt:lpstr>Method 2: Recognize at point in time</vt:lpstr>
      <vt:lpstr>Method 2: Recognize at point in time</vt:lpstr>
      <vt:lpstr>Method 2: Recognize at point in time</vt:lpstr>
      <vt:lpstr>Takeaways</vt:lpstr>
      <vt:lpstr>Things to do…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 Kubie</dc:creator>
  <cp:lastModifiedBy>Jeremiah Contreras</cp:lastModifiedBy>
  <cp:revision>189</cp:revision>
  <dcterms:created xsi:type="dcterms:W3CDTF">2016-01-26T18:12:20Z</dcterms:created>
  <dcterms:modified xsi:type="dcterms:W3CDTF">2025-09-29T17:59:24Z</dcterms:modified>
</cp:coreProperties>
</file>