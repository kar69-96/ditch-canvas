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90" r:id="rId2"/>
    <p:sldId id="257" r:id="rId3"/>
    <p:sldId id="259" r:id="rId4"/>
    <p:sldId id="260" r:id="rId5"/>
    <p:sldId id="292" r:id="rId6"/>
    <p:sldId id="265" r:id="rId7"/>
    <p:sldId id="263" r:id="rId8"/>
    <p:sldId id="266" r:id="rId9"/>
    <p:sldId id="293" r:id="rId10"/>
    <p:sldId id="294" r:id="rId11"/>
    <p:sldId id="295" r:id="rId12"/>
    <p:sldId id="2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8005" autoAdjust="0"/>
  </p:normalViewPr>
  <p:slideViewPr>
    <p:cSldViewPr snapToGrid="0">
      <p:cViewPr varScale="1">
        <p:scale>
          <a:sx n="76" d="100"/>
          <a:sy n="76" d="100"/>
        </p:scale>
        <p:origin x="2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310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6CA9EAFC-1541-4F98-A8E2-0122BB49B72A}"/>
    <pc:docChg chg="delSld">
      <pc:chgData name="Jeremiah Contreras" userId="9ea49ee18badb19e" providerId="LiveId" clId="{6CA9EAFC-1541-4F98-A8E2-0122BB49B72A}" dt="2022-09-02T19:35:48.927" v="0" actId="47"/>
      <pc:docMkLst>
        <pc:docMk/>
      </pc:docMkLst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0" sldId="268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0" sldId="269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3908716000" sldId="297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4235441983" sldId="298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2768326037" sldId="299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3613020792" sldId="300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028808671" sldId="301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2769496319" sldId="302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918776755" sldId="303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38025033" sldId="305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3157683705" sldId="306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2524870289" sldId="307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095896789" sldId="308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2961736318" sldId="309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220468862" sldId="310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815478101" sldId="311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6686090" sldId="312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4078063541" sldId="313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760055888" sldId="314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468217400" sldId="315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717944279" sldId="316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0577693" sldId="317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225173085" sldId="318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3579788002" sldId="319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650827087" sldId="320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1565083428" sldId="321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986678784" sldId="322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3940749830" sldId="323"/>
        </pc:sldMkLst>
      </pc:sldChg>
      <pc:sldChg chg="del">
        <pc:chgData name="Jeremiah Contreras" userId="9ea49ee18badb19e" providerId="LiveId" clId="{6CA9EAFC-1541-4F98-A8E2-0122BB49B72A}" dt="2022-09-02T19:35:48.927" v="0" actId="47"/>
        <pc:sldMkLst>
          <pc:docMk/>
          <pc:sldMk cId="2445795254" sldId="32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F94A5-460A-4156-9EA8-059208A9DE5F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0A9D6D-7EB8-4AE0-88FE-F2C7E59C1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7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0A9D6D-7EB8-4AE0-88FE-F2C7E59C168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94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88160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6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687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77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72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3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91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53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70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95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21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066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0"/>
            <a:ext cx="5486400" cy="4451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888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3504723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143000"/>
            <a:ext cx="11176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8535906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for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11379200" cy="3276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"/>
          <p:cNvSpPr>
            <a:spLocks noGrp="1"/>
          </p:cNvSpPr>
          <p:nvPr>
            <p:ph sz="quarter" idx="15" hasCustomPrompt="1"/>
          </p:nvPr>
        </p:nvSpPr>
        <p:spPr>
          <a:xfrm>
            <a:off x="406400" y="5029200"/>
            <a:ext cx="11379200" cy="114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Font typeface="Arial" charset="0"/>
              <a:buNone/>
              <a:defRPr sz="2000" b="0" i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03275" indent="-450850">
              <a:spcBef>
                <a:spcPts val="1000"/>
              </a:spcBef>
              <a:buFont typeface="+mj-lt"/>
              <a:buAutoNum type="alphaLcPeriod"/>
              <a:tabLst/>
              <a:defRPr sz="2800" b="0" i="0" baseline="0">
                <a:solidFill>
                  <a:schemeClr val="tx1"/>
                </a:solidFill>
                <a:latin typeface="Source Sans Pro" charset="0"/>
                <a:ea typeface="Source Sans Pro" charset="0"/>
                <a:cs typeface="Source Sans Pro" charset="0"/>
              </a:defRPr>
            </a:lvl2pPr>
          </a:lstStyle>
          <a:p>
            <a:pPr lvl="0"/>
            <a:r>
              <a:rPr lang="en-US" sz="2000" dirty="0"/>
              <a:t>Figure 4.5 Figure title placeholder</a:t>
            </a:r>
          </a:p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107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cept Check Question (1of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1.1 Periodicity Assumption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406400" y="1752600"/>
            <a:ext cx="11379200" cy="4419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0"/>
              </a:spcBef>
              <a:buNone/>
              <a:defRPr sz="28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804672" indent="-448056">
              <a:spcBef>
                <a:spcPts val="1000"/>
              </a:spcBef>
              <a:buClr>
                <a:schemeClr val="accent2"/>
              </a:buClr>
              <a:buFont typeface="+mj-lt"/>
              <a:buAutoNum type="alphaLcPeriod"/>
              <a:defRPr sz="28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3pPr>
            <a:lvl4pPr marL="13716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4pPr>
            <a:lvl5pPr marL="1828800" indent="0">
              <a:buNone/>
              <a:defRPr sz="3000">
                <a:latin typeface="STIX" charset="0"/>
                <a:ea typeface="STIX" charset="0"/>
                <a:cs typeface="STIX" charset="0"/>
              </a:defRPr>
            </a:lvl5pPr>
          </a:lstStyle>
          <a:p>
            <a:pPr lvl="0"/>
            <a:r>
              <a:rPr lang="en-US" dirty="0"/>
              <a:t>Which one of these statements about the accrual basis of accounting is false?</a:t>
            </a:r>
          </a:p>
          <a:p>
            <a:pPr lvl="1"/>
            <a:r>
              <a:rPr lang="en-US" dirty="0"/>
              <a:t>Companies record events that change their financial statements in the period in which event occur, even if cash was not exchanged.</a:t>
            </a:r>
          </a:p>
          <a:p>
            <a:pPr lvl="1"/>
            <a:r>
              <a:rPr lang="en-US" dirty="0"/>
              <a:t>Companies recognize revenue in the period in which the performance obligation is satisfied.</a:t>
            </a:r>
          </a:p>
          <a:p>
            <a:pPr lvl="1"/>
            <a:r>
              <a:rPr lang="en-US" dirty="0"/>
              <a:t>This basis is accord with generally accepted accounting principles.</a:t>
            </a:r>
          </a:p>
        </p:txBody>
      </p:sp>
    </p:spTree>
    <p:extLst>
      <p:ext uri="{BB962C8B-B14F-4D97-AF65-F5344CB8AC3E}">
        <p14:creationId xmlns:p14="http://schemas.microsoft.com/office/powerpoint/2010/main" val="2030263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"/>
          <p:cNvSpPr>
            <a:spLocks noGrp="1"/>
          </p:cNvSpPr>
          <p:nvPr>
            <p:ph type="title" hasCustomPrompt="1"/>
          </p:nvPr>
        </p:nvSpPr>
        <p:spPr>
          <a:xfrm>
            <a:off x="406400" y="762002"/>
            <a:ext cx="11379200" cy="838199"/>
          </a:xfrm>
          <a:prstGeom prst="rect">
            <a:avLst/>
          </a:prstGeom>
        </p:spPr>
        <p:txBody>
          <a:bodyPr/>
          <a:lstStyle>
            <a:lvl1pPr>
              <a:defRPr sz="4000" b="1" i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or Topic Heading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sz="quarter" idx="16"/>
          </p:nvPr>
        </p:nvSpPr>
        <p:spPr>
          <a:xfrm>
            <a:off x="406400" y="1752600"/>
            <a:ext cx="5486400" cy="462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sz="quarter" idx="17"/>
          </p:nvPr>
        </p:nvSpPr>
        <p:spPr>
          <a:xfrm>
            <a:off x="6299200" y="1752601"/>
            <a:ext cx="5486400" cy="4620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9427-F580-D146-B60E-4CADEE754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©2019 John Wiley &amp; Sons, Inc.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8"/>
          </p:nvPr>
        </p:nvSpPr>
        <p:spPr>
          <a:xfrm>
            <a:off x="3048000" y="2366471"/>
            <a:ext cx="6096000" cy="5312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9"/>
          </p:nvPr>
        </p:nvSpPr>
        <p:spPr>
          <a:xfrm>
            <a:off x="406400" y="3049526"/>
            <a:ext cx="11379200" cy="496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406400" y="3656686"/>
            <a:ext cx="11379200" cy="4966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sz="quarter" idx="21"/>
          </p:nvPr>
        </p:nvSpPr>
        <p:spPr>
          <a:xfrm>
            <a:off x="429173" y="4263845"/>
            <a:ext cx="11356427" cy="3724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9AC083D-26BE-400F-A0FF-3DE60868238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9685" y="4719639"/>
            <a:ext cx="11332633" cy="3790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0FCA449-94ED-4C8F-96CE-51CBABEBFE4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29685" y="5175251"/>
            <a:ext cx="11332633" cy="3029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C07FB03D-0173-4F23-9B38-B4E8968F4B3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9685" y="5554664"/>
            <a:ext cx="11332633" cy="530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Calibri" panose="020F050202020403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8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5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Flow Statement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5614147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spc="13" dirty="0"/>
              <a:t>Goals: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2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47807" y="1658637"/>
            <a:ext cx="8097869" cy="2429775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sz="2800" dirty="0">
                <a:latin typeface="Arial"/>
                <a:cs typeface="Arial"/>
              </a:rPr>
              <a:t>Introduce the </a:t>
            </a:r>
            <a:r>
              <a:rPr sz="2800" spc="4" dirty="0">
                <a:latin typeface="Arial"/>
                <a:cs typeface="Arial"/>
              </a:rPr>
              <a:t>cash </a:t>
            </a:r>
            <a:r>
              <a:rPr sz="2800" dirty="0">
                <a:latin typeface="Arial"/>
                <a:cs typeface="Arial"/>
              </a:rPr>
              <a:t>flow</a:t>
            </a:r>
            <a:r>
              <a:rPr sz="2800" spc="26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statement</a:t>
            </a:r>
            <a:endParaRPr lang="en-US" sz="2800" dirty="0">
              <a:latin typeface="Arial"/>
              <a:cs typeface="Arial"/>
            </a:endParaRPr>
          </a:p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sz="2800" spc="4" dirty="0">
                <a:latin typeface="Arial"/>
                <a:cs typeface="Arial"/>
              </a:rPr>
              <a:t>Why </a:t>
            </a:r>
            <a:r>
              <a:rPr sz="2800" spc="-9" dirty="0">
                <a:latin typeface="Arial"/>
                <a:cs typeface="Arial"/>
              </a:rPr>
              <a:t>it’s</a:t>
            </a:r>
            <a:r>
              <a:rPr sz="2800" spc="-18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useful</a:t>
            </a:r>
            <a:endParaRPr lang="en-US"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9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Basic format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10423" y="1102611"/>
            <a:ext cx="8537680" cy="565313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3600" spc="-75" dirty="0"/>
              <a:t>W. </a:t>
            </a:r>
            <a:r>
              <a:rPr sz="3600" spc="-229" dirty="0"/>
              <a:t>T. </a:t>
            </a:r>
            <a:r>
              <a:rPr sz="3600" spc="4" dirty="0"/>
              <a:t>Grant: </a:t>
            </a:r>
            <a:r>
              <a:rPr sz="3600" dirty="0"/>
              <a:t>income vs. cash</a:t>
            </a:r>
            <a:r>
              <a:rPr sz="3600" spc="238" dirty="0"/>
              <a:t> </a:t>
            </a:r>
            <a:r>
              <a:rPr sz="3600" spc="-18" dirty="0"/>
              <a:t>flow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3674185" y="2028489"/>
            <a:ext cx="4732019" cy="3214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3</a:t>
            </a:fld>
            <a:endParaRPr spc="1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2457" y="1203020"/>
            <a:ext cx="9177156" cy="567576"/>
          </a:xfrm>
          <a:prstGeom prst="rect">
            <a:avLst/>
          </a:prstGeom>
        </p:spPr>
        <p:txBody>
          <a:bodyPr vert="horz" wrap="square" lIns="0" tIns="13447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06"/>
              </a:spcBef>
              <a:tabLst>
                <a:tab pos="691440" algn="l"/>
              </a:tabLst>
            </a:pPr>
            <a:r>
              <a:rPr sz="3600" spc="4" dirty="0"/>
              <a:t> 	</a:t>
            </a:r>
            <a:r>
              <a:rPr sz="3600" spc="-62" dirty="0"/>
              <a:t>W. </a:t>
            </a:r>
            <a:r>
              <a:rPr sz="3600" spc="-194" dirty="0"/>
              <a:t>T. </a:t>
            </a:r>
            <a:r>
              <a:rPr sz="3600" spc="13" dirty="0"/>
              <a:t>Grant: </a:t>
            </a:r>
            <a:r>
              <a:rPr sz="3600" spc="9" dirty="0"/>
              <a:t>income vs. cash</a:t>
            </a:r>
            <a:r>
              <a:rPr sz="3600" spc="229" dirty="0"/>
              <a:t> </a:t>
            </a:r>
            <a:r>
              <a:rPr sz="3600" spc="-4" dirty="0"/>
              <a:t>flow</a:t>
            </a:r>
            <a:endParaRPr sz="3600" dirty="0"/>
          </a:p>
        </p:txBody>
      </p:sp>
      <p:sp>
        <p:nvSpPr>
          <p:cNvPr id="3" name="object 3"/>
          <p:cNvSpPr/>
          <p:nvPr/>
        </p:nvSpPr>
        <p:spPr>
          <a:xfrm>
            <a:off x="3744109" y="2080932"/>
            <a:ext cx="4523590" cy="34969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4</a:t>
            </a:fld>
            <a:endParaRPr spc="1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D956B53-57C6-4CDB-83F7-4B0E4DEB3CBF}"/>
              </a:ext>
            </a:extLst>
          </p:cNvPr>
          <p:cNvSpPr/>
          <p:nvPr/>
        </p:nvSpPr>
        <p:spPr>
          <a:xfrm>
            <a:off x="7676551" y="3779806"/>
            <a:ext cx="4080387" cy="691819"/>
          </a:xfrm>
          <a:prstGeom prst="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E0D610-4F55-4FD3-A7E8-4474F41B9E32}"/>
              </a:ext>
            </a:extLst>
          </p:cNvPr>
          <p:cNvSpPr/>
          <p:nvPr/>
        </p:nvSpPr>
        <p:spPr>
          <a:xfrm>
            <a:off x="7686382" y="4486072"/>
            <a:ext cx="4080387" cy="6918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3A444-C512-4FBA-B26F-FB3651CF99B7}"/>
              </a:ext>
            </a:extLst>
          </p:cNvPr>
          <p:cNvSpPr/>
          <p:nvPr/>
        </p:nvSpPr>
        <p:spPr>
          <a:xfrm>
            <a:off x="7678994" y="3075679"/>
            <a:ext cx="4080387" cy="691819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10467444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lang="en-US" spc="13" dirty="0"/>
              <a:t>What is a cash flow statement?</a:t>
            </a:r>
            <a:r>
              <a:rPr spc="13"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5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47807" y="1658637"/>
            <a:ext cx="8097869" cy="931929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343477">
              <a:spcBef>
                <a:spcPts val="383"/>
              </a:spcBef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Financial statement that explains cash inflows and outflows over a period of time.</a:t>
            </a:r>
            <a:endParaRPr sz="28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6F780-E43E-4C69-B6D9-93F236E8C061}"/>
                  </a:ext>
                </a:extLst>
              </p:cNvPr>
              <p:cNvSpPr txBox="1"/>
              <p:nvPr/>
            </p:nvSpPr>
            <p:spPr>
              <a:xfrm>
                <a:off x="566337" y="3848716"/>
                <a:ext cx="6552628" cy="599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𝐶𝑎𝑠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𝑇𝑜𝑑𝑎𝑦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𝐶𝑎𝑠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𝑂𝑛𝑒𝑌𝑒𝑎𝑟𝐴𝑔𝑜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96F780-E43E-4C69-B6D9-93F236E8C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37" y="3848716"/>
                <a:ext cx="6552628" cy="599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B4A358-CCDA-4B61-A97E-264548A3DDA9}"/>
              </a:ext>
            </a:extLst>
          </p:cNvPr>
          <p:cNvSpPr txBox="1"/>
          <p:nvPr/>
        </p:nvSpPr>
        <p:spPr>
          <a:xfrm>
            <a:off x="7973961" y="3244334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Operating Cash Inflows/Outflows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70323-0867-455C-9AD5-5F9250F9388E}"/>
              </a:ext>
            </a:extLst>
          </p:cNvPr>
          <p:cNvSpPr txBox="1"/>
          <p:nvPr/>
        </p:nvSpPr>
        <p:spPr>
          <a:xfrm>
            <a:off x="7973961" y="3911137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Investing Cash Inflows/Outflows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AC066-6DF5-44C3-8191-E95E82789069}"/>
              </a:ext>
            </a:extLst>
          </p:cNvPr>
          <p:cNvSpPr txBox="1"/>
          <p:nvPr/>
        </p:nvSpPr>
        <p:spPr>
          <a:xfrm>
            <a:off x="7973961" y="4647315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Financing Cash Inflows/Outflows</a:t>
            </a:r>
          </a:p>
        </p:txBody>
      </p:sp>
    </p:spTree>
    <p:extLst>
      <p:ext uri="{BB962C8B-B14F-4D97-AF65-F5344CB8AC3E}">
        <p14:creationId xmlns:p14="http://schemas.microsoft.com/office/powerpoint/2010/main" val="2152520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9485" y="493120"/>
            <a:ext cx="11018050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</a:pPr>
            <a:r>
              <a:rPr lang="en-US" spc="13" dirty="0"/>
              <a:t>Cash Flow Classifications</a:t>
            </a:r>
            <a:endParaRPr spc="9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6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28142" y="1344282"/>
            <a:ext cx="9897174" cy="5307259"/>
          </a:xfrm>
          <a:prstGeom prst="rect">
            <a:avLst/>
          </a:prstGeom>
        </p:spPr>
        <p:txBody>
          <a:bodyPr vert="horz" wrap="square" lIns="0" tIns="99732" rIns="0" bIns="0" rtlCol="0">
            <a:spAutoFit/>
          </a:bodyPr>
          <a:lstStyle/>
          <a:p>
            <a:pPr marL="344599" indent="-333393">
              <a:spcBef>
                <a:spcPts val="785"/>
              </a:spcBef>
              <a:buAutoNum type="arabicParenBoth"/>
              <a:tabLst>
                <a:tab pos="344599" algn="l"/>
              </a:tabLst>
            </a:pPr>
            <a:r>
              <a:rPr sz="2000" b="1" spc="13" dirty="0">
                <a:solidFill>
                  <a:srgbClr val="C00000"/>
                </a:solidFill>
                <a:latin typeface="Arial"/>
                <a:cs typeface="Arial"/>
              </a:rPr>
              <a:t>Operating</a:t>
            </a:r>
            <a:r>
              <a:rPr sz="2000" b="1" spc="-1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9" dirty="0">
                <a:solidFill>
                  <a:srgbClr val="C00000"/>
                </a:solidFill>
                <a:latin typeface="Arial"/>
                <a:cs typeface="Arial"/>
              </a:rPr>
              <a:t>activities:</a:t>
            </a:r>
            <a:endParaRPr sz="2000" dirty="0">
              <a:latin typeface="Arial"/>
              <a:cs typeface="Arial"/>
            </a:endParaRPr>
          </a:p>
          <a:p>
            <a:pPr marL="11206" marR="382701">
              <a:spcBef>
                <a:spcPts val="767"/>
              </a:spcBef>
            </a:pPr>
            <a:r>
              <a:rPr spc="-4" dirty="0">
                <a:latin typeface="Arial"/>
                <a:cs typeface="Arial"/>
              </a:rPr>
              <a:t>Result </a:t>
            </a:r>
            <a:r>
              <a:rPr dirty="0">
                <a:latin typeface="Arial"/>
                <a:cs typeface="Arial"/>
              </a:rPr>
              <a:t>from </a:t>
            </a:r>
            <a:r>
              <a:rPr spc="-4" dirty="0">
                <a:latin typeface="Arial"/>
                <a:cs typeface="Arial"/>
              </a:rPr>
              <a:t>delivering or </a:t>
            </a:r>
            <a:r>
              <a:rPr dirty="0">
                <a:latin typeface="Arial"/>
                <a:cs typeface="Arial"/>
              </a:rPr>
              <a:t>producing </a:t>
            </a:r>
            <a:r>
              <a:rPr spc="-4" dirty="0">
                <a:latin typeface="Arial"/>
                <a:cs typeface="Arial"/>
              </a:rPr>
              <a:t>goods </a:t>
            </a:r>
            <a:r>
              <a:rPr dirty="0">
                <a:latin typeface="Arial"/>
                <a:cs typeface="Arial"/>
              </a:rPr>
              <a:t>for </a:t>
            </a:r>
            <a:r>
              <a:rPr spc="-4" dirty="0">
                <a:latin typeface="Arial"/>
                <a:cs typeface="Arial"/>
              </a:rPr>
              <a:t>sale and providing </a:t>
            </a:r>
            <a:r>
              <a:rPr dirty="0">
                <a:latin typeface="Arial"/>
                <a:cs typeface="Arial"/>
              </a:rPr>
              <a:t>services. </a:t>
            </a:r>
            <a:r>
              <a:rPr spc="-4" dirty="0">
                <a:latin typeface="Arial"/>
                <a:cs typeface="Arial"/>
              </a:rPr>
              <a:t>Also </a:t>
            </a:r>
            <a:r>
              <a:rPr dirty="0">
                <a:latin typeface="Arial"/>
                <a:cs typeface="Arial"/>
              </a:rPr>
              <a:t>result </a:t>
            </a:r>
            <a:r>
              <a:rPr spc="-4" dirty="0">
                <a:latin typeface="Arial"/>
                <a:cs typeface="Arial"/>
              </a:rPr>
              <a:t>from </a:t>
            </a:r>
            <a:r>
              <a:rPr dirty="0">
                <a:latin typeface="Arial"/>
                <a:cs typeface="Arial"/>
              </a:rPr>
              <a:t>paying expenses related to </a:t>
            </a:r>
            <a:r>
              <a:rPr spc="-4" dirty="0">
                <a:latin typeface="Arial"/>
                <a:cs typeface="Arial"/>
              </a:rPr>
              <a:t>those </a:t>
            </a:r>
            <a:r>
              <a:rPr dirty="0">
                <a:latin typeface="Arial"/>
                <a:cs typeface="Arial"/>
              </a:rPr>
              <a:t>revenue generating</a:t>
            </a:r>
            <a:r>
              <a:rPr spc="-101" dirty="0">
                <a:latin typeface="Arial"/>
                <a:cs typeface="Arial"/>
              </a:rPr>
              <a:t> </a:t>
            </a:r>
            <a:r>
              <a:rPr spc="-4" dirty="0">
                <a:latin typeface="Arial"/>
                <a:cs typeface="Arial"/>
              </a:rPr>
              <a:t>activities.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dirty="0">
              <a:latin typeface="Arial"/>
              <a:cs typeface="Arial"/>
            </a:endParaRPr>
          </a:p>
          <a:p>
            <a:pPr marL="344039" indent="-333393">
              <a:spcBef>
                <a:spcPts val="1271"/>
              </a:spcBef>
              <a:buAutoNum type="arabicParenBoth" startAt="2"/>
              <a:tabLst>
                <a:tab pos="344599" algn="l"/>
              </a:tabLst>
            </a:pPr>
            <a:r>
              <a:rPr sz="2000" b="1" spc="9" dirty="0">
                <a:solidFill>
                  <a:srgbClr val="0070C0"/>
                </a:solidFill>
                <a:latin typeface="Arial"/>
                <a:cs typeface="Arial"/>
              </a:rPr>
              <a:t>Investing</a:t>
            </a:r>
            <a:r>
              <a:rPr sz="2000" b="1" spc="-18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sz="2000" b="1" spc="9" dirty="0">
                <a:solidFill>
                  <a:srgbClr val="0070C0"/>
                </a:solidFill>
                <a:latin typeface="Arial"/>
                <a:cs typeface="Arial"/>
              </a:rPr>
              <a:t>activities:</a:t>
            </a:r>
            <a:endParaRPr sz="2000" dirty="0">
              <a:latin typeface="Arial"/>
              <a:cs typeface="Arial"/>
            </a:endParaRPr>
          </a:p>
          <a:p>
            <a:pPr marL="11206" marR="104220">
              <a:spcBef>
                <a:spcPts val="768"/>
              </a:spcBef>
            </a:pPr>
            <a:r>
              <a:rPr spc="-4" dirty="0">
                <a:latin typeface="Arial"/>
                <a:cs typeface="Arial"/>
              </a:rPr>
              <a:t>Result </a:t>
            </a:r>
            <a:r>
              <a:rPr dirty="0">
                <a:latin typeface="Arial"/>
                <a:cs typeface="Arial"/>
              </a:rPr>
              <a:t>from acquiring </a:t>
            </a:r>
            <a:r>
              <a:rPr spc="-4" dirty="0">
                <a:latin typeface="Arial"/>
                <a:cs typeface="Arial"/>
              </a:rPr>
              <a:t>and disposing of </a:t>
            </a:r>
            <a:r>
              <a:rPr dirty="0">
                <a:latin typeface="Arial"/>
                <a:cs typeface="Arial"/>
              </a:rPr>
              <a:t>(1) </a:t>
            </a:r>
            <a:r>
              <a:rPr spc="-4" dirty="0">
                <a:latin typeface="Arial"/>
                <a:cs typeface="Arial"/>
              </a:rPr>
              <a:t>long-term </a:t>
            </a:r>
            <a:r>
              <a:rPr dirty="0">
                <a:latin typeface="Arial"/>
                <a:cs typeface="Arial"/>
              </a:rPr>
              <a:t>productive assets or (2) </a:t>
            </a:r>
            <a:r>
              <a:rPr spc="-4" dirty="0">
                <a:latin typeface="Arial"/>
                <a:cs typeface="Arial"/>
              </a:rPr>
              <a:t>investments </a:t>
            </a:r>
            <a:r>
              <a:rPr dirty="0">
                <a:latin typeface="Arial"/>
                <a:cs typeface="Arial"/>
              </a:rPr>
              <a:t>that are </a:t>
            </a:r>
            <a:r>
              <a:rPr spc="-4" dirty="0">
                <a:latin typeface="Arial"/>
                <a:cs typeface="Arial"/>
              </a:rPr>
              <a:t>not considered </a:t>
            </a:r>
            <a:r>
              <a:rPr dirty="0">
                <a:latin typeface="Arial"/>
                <a:cs typeface="Arial"/>
              </a:rPr>
              <a:t>cash </a:t>
            </a:r>
            <a:r>
              <a:rPr spc="-4" dirty="0">
                <a:latin typeface="Arial"/>
                <a:cs typeface="Arial"/>
              </a:rPr>
              <a:t>equivalents.</a:t>
            </a:r>
            <a:endParaRPr lang="en-US" spc="-4" dirty="0">
              <a:latin typeface="Arial"/>
              <a:cs typeface="Arial"/>
            </a:endParaRPr>
          </a:p>
          <a:p>
            <a:pPr marL="811306" marR="104220" lvl="1" indent="-342900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pc="-4" dirty="0">
                <a:latin typeface="Arial"/>
                <a:cs typeface="Arial"/>
              </a:rPr>
              <a:t>PP&amp;E and other intangible assets (buying and selling)</a:t>
            </a:r>
          </a:p>
          <a:p>
            <a:pPr marL="811306" marR="104220" lvl="1" indent="-342900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spc="-4" dirty="0">
                <a:latin typeface="Arial"/>
                <a:cs typeface="Arial"/>
              </a:rPr>
              <a:t>Investments, including lending money (buying and selling)</a:t>
            </a:r>
            <a:endParaRPr dirty="0">
              <a:latin typeface="Arial"/>
              <a:cs typeface="Arial"/>
            </a:endParaRPr>
          </a:p>
          <a:p>
            <a:pPr marL="344039" indent="-333393">
              <a:spcBef>
                <a:spcPts val="1271"/>
              </a:spcBef>
              <a:buAutoNum type="arabicParenBoth" startAt="3"/>
              <a:tabLst>
                <a:tab pos="344599" algn="l"/>
              </a:tabLst>
            </a:pPr>
            <a:r>
              <a:rPr sz="2000" b="1" spc="13" dirty="0">
                <a:solidFill>
                  <a:srgbClr val="00B050"/>
                </a:solidFill>
                <a:latin typeface="Arial"/>
                <a:cs typeface="Arial"/>
              </a:rPr>
              <a:t>Financing</a:t>
            </a:r>
            <a:r>
              <a:rPr sz="2000" b="1" spc="-13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2000" b="1" spc="9" dirty="0">
                <a:solidFill>
                  <a:srgbClr val="00B050"/>
                </a:solidFill>
                <a:latin typeface="Arial"/>
                <a:cs typeface="Arial"/>
              </a:rPr>
              <a:t>activities:</a:t>
            </a:r>
            <a:endParaRPr sz="2000" dirty="0">
              <a:latin typeface="Arial"/>
              <a:cs typeface="Arial"/>
            </a:endParaRPr>
          </a:p>
          <a:p>
            <a:pPr marL="11206" marR="4483">
              <a:spcBef>
                <a:spcPts val="768"/>
              </a:spcBef>
            </a:pPr>
            <a:r>
              <a:rPr spc="-4" dirty="0">
                <a:latin typeface="Arial"/>
                <a:cs typeface="Arial"/>
              </a:rPr>
              <a:t>Result </a:t>
            </a:r>
            <a:r>
              <a:rPr dirty="0">
                <a:latin typeface="Arial"/>
                <a:cs typeface="Arial"/>
              </a:rPr>
              <a:t>from </a:t>
            </a:r>
            <a:r>
              <a:rPr spc="-4" dirty="0">
                <a:latin typeface="Arial"/>
                <a:cs typeface="Arial"/>
              </a:rPr>
              <a:t>transactions with owners and lenders </a:t>
            </a:r>
            <a:r>
              <a:rPr dirty="0">
                <a:latin typeface="Arial"/>
                <a:cs typeface="Arial"/>
              </a:rPr>
              <a:t>that provide </a:t>
            </a:r>
            <a:r>
              <a:rPr spc="-4" dirty="0">
                <a:latin typeface="Arial"/>
                <a:cs typeface="Arial"/>
              </a:rPr>
              <a:t>financial </a:t>
            </a:r>
            <a:r>
              <a:rPr dirty="0">
                <a:latin typeface="Arial"/>
                <a:cs typeface="Arial"/>
              </a:rPr>
              <a:t>resources to  the firm or return/repay </a:t>
            </a:r>
            <a:r>
              <a:rPr spc="-4" dirty="0">
                <a:latin typeface="Arial"/>
                <a:cs typeface="Arial"/>
              </a:rPr>
              <a:t>those</a:t>
            </a:r>
            <a:r>
              <a:rPr spc="-71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resources.</a:t>
            </a:r>
            <a:endParaRPr lang="en-US" dirty="0">
              <a:latin typeface="Arial"/>
              <a:cs typeface="Arial"/>
            </a:endParaRPr>
          </a:p>
          <a:p>
            <a:pPr marL="811306" marR="4483" lvl="1" indent="-342900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Transactions with creditors (borrowing and paying off debt)</a:t>
            </a:r>
          </a:p>
          <a:p>
            <a:pPr marL="811306" marR="4483" lvl="1" indent="-342900">
              <a:spcBef>
                <a:spcPts val="768"/>
              </a:spcBef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Transactions with shareholders (raising </a:t>
            </a:r>
            <a:r>
              <a:rPr lang="en-US" dirty="0">
                <a:latin typeface="Arial"/>
                <a:cs typeface="Arial"/>
              </a:rPr>
              <a:t>equity or distributing dividends)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742" y="498262"/>
            <a:ext cx="10064574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</a:pPr>
            <a:r>
              <a:rPr dirty="0"/>
              <a:t>How </a:t>
            </a:r>
            <a:r>
              <a:rPr spc="31" dirty="0"/>
              <a:t>are </a:t>
            </a:r>
            <a:r>
              <a:rPr spc="13" dirty="0"/>
              <a:t>cash </a:t>
            </a:r>
            <a:r>
              <a:rPr dirty="0"/>
              <a:t>flows</a:t>
            </a:r>
            <a:r>
              <a:rPr spc="-71" dirty="0"/>
              <a:t> </a:t>
            </a:r>
            <a:r>
              <a:rPr spc="13" dirty="0"/>
              <a:t>useful?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7</a:t>
            </a:fld>
            <a:endParaRPr spc="18" dirty="0"/>
          </a:p>
        </p:txBody>
      </p:sp>
      <p:pic>
        <p:nvPicPr>
          <p:cNvPr id="7" name="Picture 6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ECC48752-E0FB-437E-B31A-4B7B9DB88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69" y="1461186"/>
            <a:ext cx="9302198" cy="4878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599" y="613663"/>
            <a:ext cx="9462290" cy="45945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2912" spc="-4" dirty="0"/>
              <a:t> </a:t>
            </a:r>
            <a:r>
              <a:rPr sz="2912" spc="-706" dirty="0"/>
              <a:t> </a:t>
            </a:r>
            <a:r>
              <a:rPr lang="en-US" sz="2912" spc="-4" dirty="0"/>
              <a:t>Unique classifications</a:t>
            </a:r>
            <a:r>
              <a:rPr sz="2912" spc="-4" dirty="0"/>
              <a:t> to be </a:t>
            </a:r>
            <a:r>
              <a:rPr sz="2912" dirty="0"/>
              <a:t>aware</a:t>
            </a:r>
            <a:r>
              <a:rPr lang="en-US" sz="2912" spc="-115" dirty="0"/>
              <a:t> of: </a:t>
            </a:r>
            <a:r>
              <a:rPr lang="en-US" sz="2912" spc="-4" dirty="0"/>
              <a:t>Debt</a:t>
            </a:r>
            <a:endParaRPr sz="2912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8</a:t>
            </a:fld>
            <a:endParaRPr spc="18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2AC7BF2A-B5A9-40B7-A93A-57F1C1AE6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70" y="1337809"/>
            <a:ext cx="6872694" cy="4871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599" y="613663"/>
            <a:ext cx="9462290" cy="45945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2912" spc="-4" dirty="0"/>
              <a:t> </a:t>
            </a:r>
            <a:r>
              <a:rPr sz="2912" spc="-706" dirty="0"/>
              <a:t> </a:t>
            </a:r>
            <a:r>
              <a:rPr lang="en-US" sz="2912" spc="-4" dirty="0"/>
              <a:t>Unique classifications</a:t>
            </a:r>
            <a:r>
              <a:rPr sz="2912" spc="-4" dirty="0"/>
              <a:t> to be </a:t>
            </a:r>
            <a:r>
              <a:rPr sz="2912" dirty="0"/>
              <a:t>aware</a:t>
            </a:r>
            <a:r>
              <a:rPr lang="en-US" sz="2912" spc="-115" dirty="0"/>
              <a:t> of: </a:t>
            </a:r>
            <a:r>
              <a:rPr lang="en-US" sz="2912" spc="-4" dirty="0"/>
              <a:t>Equity</a:t>
            </a:r>
            <a:endParaRPr sz="2912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9</a:t>
            </a:fld>
            <a:endParaRPr spc="18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9757AD24-7D3D-4345-B7FE-660BB841B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6" y="1373541"/>
            <a:ext cx="6680709" cy="487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31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4599" y="613663"/>
            <a:ext cx="10475014" cy="45945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z="2912" spc="-4" dirty="0"/>
              <a:t> </a:t>
            </a:r>
            <a:r>
              <a:rPr sz="2912" spc="-706" dirty="0"/>
              <a:t> </a:t>
            </a:r>
            <a:r>
              <a:rPr lang="en-US" sz="2912" spc="-4" dirty="0"/>
              <a:t>Unique classifications</a:t>
            </a:r>
            <a:r>
              <a:rPr sz="2912" spc="-4" dirty="0"/>
              <a:t> to be </a:t>
            </a:r>
            <a:r>
              <a:rPr sz="2912" dirty="0"/>
              <a:t>aware</a:t>
            </a:r>
            <a:r>
              <a:rPr lang="en-US" sz="2912" spc="-115" dirty="0"/>
              <a:t> of: </a:t>
            </a:r>
            <a:r>
              <a:rPr lang="en-US" sz="2912" spc="-4" dirty="0"/>
              <a:t>Investments</a:t>
            </a:r>
            <a:endParaRPr sz="2912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10</a:t>
            </a:fld>
            <a:endParaRPr spc="18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3FC36CD-C6E0-4A9B-B765-975FA2BA6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975" y="1558036"/>
            <a:ext cx="6241520" cy="47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58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9988" y="481705"/>
            <a:ext cx="5614147" cy="691819"/>
          </a:xfrm>
          <a:prstGeom prst="rect">
            <a:avLst/>
          </a:prstGeom>
        </p:spPr>
        <p:txBody>
          <a:bodyPr vert="horz" wrap="square" lIns="0" tIns="14568" rIns="0" bIns="0" rtlCol="0" anchor="ctr">
            <a:spAutoFit/>
          </a:bodyPr>
          <a:lstStyle/>
          <a:p>
            <a:pPr marL="11206">
              <a:lnSpc>
                <a:spcPct val="100000"/>
              </a:lnSpc>
              <a:spcBef>
                <a:spcPts val="115"/>
              </a:spcBef>
              <a:tabLst>
                <a:tab pos="5602680" algn="l"/>
              </a:tabLst>
            </a:pPr>
            <a:r>
              <a:rPr lang="en-US" spc="13" dirty="0"/>
              <a:t>Closing Thoughts</a:t>
            </a:r>
            <a:r>
              <a:rPr spc="13" dirty="0"/>
              <a:t>	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7141462" y="6339705"/>
            <a:ext cx="28702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5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735"/>
              </a:lnSpc>
            </a:pPr>
            <a:fld id="{81D60167-4931-47E6-BA6A-407CBD079E47}" type="slidenum">
              <a:rPr lang="en-US" spc="20" smtClean="0"/>
              <a:pPr marL="38100">
                <a:lnSpc>
                  <a:spcPts val="1735"/>
                </a:lnSpc>
              </a:pPr>
              <a:t>11</a:t>
            </a:fld>
            <a:endParaRPr spc="18" dirty="0"/>
          </a:p>
        </p:txBody>
      </p:sp>
      <p:sp>
        <p:nvSpPr>
          <p:cNvPr id="3" name="object 3"/>
          <p:cNvSpPr txBox="1"/>
          <p:nvPr/>
        </p:nvSpPr>
        <p:spPr>
          <a:xfrm>
            <a:off x="947807" y="1658637"/>
            <a:ext cx="9995176" cy="3291549"/>
          </a:xfrm>
          <a:prstGeom prst="rect">
            <a:avLst/>
          </a:prstGeom>
        </p:spPr>
        <p:txBody>
          <a:bodyPr vert="horz" wrap="square" lIns="0" tIns="69476" rIns="0" bIns="0" rtlCol="0">
            <a:spAutoFit/>
          </a:bodyPr>
          <a:lstStyle/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dirty="0">
                <a:latin typeface="Arial"/>
                <a:cs typeface="Arial"/>
              </a:rPr>
              <a:t>Net income is not the same as cash flow – both matter!</a:t>
            </a:r>
          </a:p>
          <a:p>
            <a:pPr marL="718334" indent="-374857">
              <a:spcBef>
                <a:spcPts val="383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The cash flow statement shows how we went from last year’s cash balance to this year’s cash balance</a:t>
            </a:r>
            <a:endParaRPr lang="en-US" sz="2800" dirty="0">
              <a:latin typeface="Arial"/>
              <a:cs typeface="Arial"/>
            </a:endParaRPr>
          </a:p>
          <a:p>
            <a:pPr marL="718334" indent="-374857">
              <a:spcBef>
                <a:spcPts val="375"/>
              </a:spcBef>
              <a:buAutoNum type="arabicPeriod"/>
              <a:tabLst>
                <a:tab pos="718334" algn="l"/>
                <a:tab pos="718896" algn="l"/>
              </a:tabLst>
            </a:pPr>
            <a:endParaRPr sz="2800" dirty="0">
              <a:latin typeface="Arial"/>
              <a:cs typeface="Arial"/>
            </a:endParaRPr>
          </a:p>
          <a:p>
            <a:pPr marL="718334" indent="-374857">
              <a:spcBef>
                <a:spcPts val="379"/>
              </a:spcBef>
              <a:buAutoNum type="arabicPeriod"/>
              <a:tabLst>
                <a:tab pos="718334" algn="l"/>
                <a:tab pos="718896" algn="l"/>
              </a:tabLst>
            </a:pPr>
            <a:r>
              <a:rPr lang="en-US" sz="2800" spc="4" dirty="0">
                <a:latin typeface="Arial"/>
                <a:cs typeface="Arial"/>
              </a:rPr>
              <a:t>Cash flows are classified into operating, investing and financing activities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662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Cash Flow Statement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3743589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3645</TotalTime>
  <Words>306</Words>
  <Application>Microsoft Office PowerPoint</Application>
  <PresentationFormat>Widescreen</PresentationFormat>
  <Paragraphs>51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Cambria Math</vt:lpstr>
      <vt:lpstr>Source Sans Pro</vt:lpstr>
      <vt:lpstr>STIX</vt:lpstr>
      <vt:lpstr>1_Office Theme</vt:lpstr>
      <vt:lpstr>PowerPoint Presentation</vt:lpstr>
      <vt:lpstr>Goals: </vt:lpstr>
      <vt:lpstr>W. T. Grant: income vs. cash flow</vt:lpstr>
      <vt:lpstr>  W. T. Grant: income vs. cash flow</vt:lpstr>
      <vt:lpstr>What is a cash flow statement? </vt:lpstr>
      <vt:lpstr>Cash Flow Classifications</vt:lpstr>
      <vt:lpstr>How are cash flows useful?</vt:lpstr>
      <vt:lpstr>  Unique classifications to be aware of: Debt</vt:lpstr>
      <vt:lpstr>  Unique classifications to be aware of: Equity</vt:lpstr>
      <vt:lpstr>  Unique classifications to be aware of: Investments</vt:lpstr>
      <vt:lpstr>Closing Thoughts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112</cp:revision>
  <dcterms:created xsi:type="dcterms:W3CDTF">2020-06-14T18:30:52Z</dcterms:created>
  <dcterms:modified xsi:type="dcterms:W3CDTF">2022-09-02T19:35:54Z</dcterms:modified>
</cp:coreProperties>
</file>