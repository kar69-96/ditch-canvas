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80" r:id="rId2"/>
  </p:sldMasterIdLst>
  <p:notesMasterIdLst>
    <p:notesMasterId r:id="rId23"/>
  </p:notesMasterIdLst>
  <p:sldIdLst>
    <p:sldId id="583" r:id="rId3"/>
    <p:sldId id="258" r:id="rId4"/>
    <p:sldId id="257" r:id="rId5"/>
    <p:sldId id="582" r:id="rId6"/>
    <p:sldId id="584" r:id="rId7"/>
    <p:sldId id="585" r:id="rId8"/>
    <p:sldId id="589" r:id="rId9"/>
    <p:sldId id="319" r:id="rId10"/>
    <p:sldId id="555" r:id="rId11"/>
    <p:sldId id="592" r:id="rId12"/>
    <p:sldId id="591" r:id="rId13"/>
    <p:sldId id="593" r:id="rId14"/>
    <p:sldId id="550" r:id="rId15"/>
    <p:sldId id="601" r:id="rId16"/>
    <p:sldId id="556" r:id="rId17"/>
    <p:sldId id="587" r:id="rId18"/>
    <p:sldId id="600" r:id="rId19"/>
    <p:sldId id="599" r:id="rId20"/>
    <p:sldId id="594" r:id="rId21"/>
    <p:sldId id="595" r:id="rId22"/>
  </p:sldIdLst>
  <p:sldSz cx="12192000" cy="6858000"/>
  <p:notesSz cx="6858000" cy="9144000"/>
  <p:embeddedFontLst>
    <p:embeddedFont>
      <p:font typeface="Arial Black" panose="020B0A04020102020204" pitchFamily="34" charset="0"/>
      <p:bold r:id="rId24"/>
    </p:embeddedFont>
    <p:embeddedFont>
      <p:font typeface="Georgia" panose="02040502050405020303" pitchFamily="18" charset="0"/>
      <p:regular r:id="rId25"/>
      <p:bold r:id="rId26"/>
      <p:italic r:id="rId27"/>
      <p:boldItalic r:id="rId28"/>
    </p:embeddedFont>
    <p:embeddedFont>
      <p:font typeface="Ink Free" panose="03080402000500000000" pitchFamily="66" charset="0"/>
      <p:regular r:id="rId29"/>
    </p:embeddedFont>
    <p:embeddedFont>
      <p:font typeface="Source Sans Pro" panose="020B0503030403020204" pitchFamily="3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078655-746E-452C-BFA1-ED09F4998999}" v="74" dt="2025-09-08T11:13:19.9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8005" autoAdjust="0"/>
  </p:normalViewPr>
  <p:slideViewPr>
    <p:cSldViewPr snapToGrid="0">
      <p:cViewPr>
        <p:scale>
          <a:sx n="74" d="100"/>
          <a:sy n="74" d="100"/>
        </p:scale>
        <p:origin x="30" y="276"/>
      </p:cViewPr>
      <p:guideLst/>
    </p:cSldViewPr>
  </p:slideViewPr>
  <p:notesTextViewPr>
    <p:cViewPr>
      <p:scale>
        <a:sx n="1" d="1"/>
        <a:sy n="1" d="1"/>
      </p:scale>
      <p:origin x="0" y="0"/>
    </p:cViewPr>
  </p:notesTextViewPr>
  <p:sorterViewPr>
    <p:cViewPr varScale="1">
      <p:scale>
        <a:sx n="100" d="100"/>
        <a:sy n="100" d="100"/>
      </p:scale>
      <p:origin x="0" y="-5592"/>
    </p:cViewPr>
  </p:sorterViewPr>
  <p:notesViewPr>
    <p:cSldViewPr snapToGrid="0">
      <p:cViewPr varScale="1">
        <p:scale>
          <a:sx n="81" d="100"/>
          <a:sy n="81" d="100"/>
        </p:scale>
        <p:origin x="2310" y="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iah Contreras" userId="7aaf88c5-f86c-46d8-a0d4-f1ec65ded07c" providerId="ADAL" clId="{F6E7370A-F98F-4B9D-9048-17A7F4B239E7}"/>
    <pc:docChg chg="modSld">
      <pc:chgData name="Jeremiah Contreras" userId="7aaf88c5-f86c-46d8-a0d4-f1ec65ded07c" providerId="ADAL" clId="{F6E7370A-F98F-4B9D-9048-17A7F4B239E7}" dt="2023-09-11T16:38:04.499" v="0" actId="20577"/>
      <pc:docMkLst>
        <pc:docMk/>
      </pc:docMkLst>
      <pc:sldChg chg="modSp mod">
        <pc:chgData name="Jeremiah Contreras" userId="7aaf88c5-f86c-46d8-a0d4-f1ec65ded07c" providerId="ADAL" clId="{F6E7370A-F98F-4B9D-9048-17A7F4B239E7}" dt="2023-09-11T16:38:04.499" v="0" actId="20577"/>
        <pc:sldMkLst>
          <pc:docMk/>
          <pc:sldMk cId="1391677343" sldId="595"/>
        </pc:sldMkLst>
      </pc:sldChg>
    </pc:docChg>
  </pc:docChgLst>
  <pc:docChgLst>
    <pc:chgData name="Jeremiah Contreras" userId="7aaf88c5-f86c-46d8-a0d4-f1ec65ded07c" providerId="ADAL" clId="{47828E62-FC24-428A-ACF6-B28718A93287}"/>
    <pc:docChg chg="undo custSel addSld delSld modSld sldOrd">
      <pc:chgData name="Jeremiah Contreras" userId="7aaf88c5-f86c-46d8-a0d4-f1ec65ded07c" providerId="ADAL" clId="{47828E62-FC24-428A-ACF6-B28718A93287}" dt="2025-09-08T11:24:50.945" v="353" actId="20577"/>
      <pc:docMkLst>
        <pc:docMk/>
      </pc:docMkLst>
      <pc:sldChg chg="add">
        <pc:chgData name="Jeremiah Contreras" userId="7aaf88c5-f86c-46d8-a0d4-f1ec65ded07c" providerId="ADAL" clId="{47828E62-FC24-428A-ACF6-B28718A93287}" dt="2025-09-08T11:11:29.196" v="222"/>
        <pc:sldMkLst>
          <pc:docMk/>
          <pc:sldMk cId="0" sldId="257"/>
        </pc:sldMkLst>
      </pc:sldChg>
      <pc:sldChg chg="delSp modSp add del mod setBg delAnim">
        <pc:chgData name="Jeremiah Contreras" userId="7aaf88c5-f86c-46d8-a0d4-f1ec65ded07c" providerId="ADAL" clId="{47828E62-FC24-428A-ACF6-B28718A93287}" dt="2025-09-08T11:14:12.927" v="273" actId="1038"/>
        <pc:sldMkLst>
          <pc:docMk/>
          <pc:sldMk cId="0" sldId="258"/>
        </pc:sldMkLst>
        <pc:spChg chg="mod">
          <ac:chgData name="Jeremiah Contreras" userId="7aaf88c5-f86c-46d8-a0d4-f1ec65ded07c" providerId="ADAL" clId="{47828E62-FC24-428A-ACF6-B28718A93287}" dt="2025-09-08T11:12:18.436" v="230" actId="20577"/>
          <ac:spMkLst>
            <pc:docMk/>
            <pc:sldMk cId="0" sldId="258"/>
            <ac:spMk id="94" creationId="{00000000-0000-0000-0000-000000000000}"/>
          </ac:spMkLst>
        </pc:spChg>
        <pc:spChg chg="mod">
          <ac:chgData name="Jeremiah Contreras" userId="7aaf88c5-f86c-46d8-a0d4-f1ec65ded07c" providerId="ADAL" clId="{47828E62-FC24-428A-ACF6-B28718A93287}" dt="2025-09-08T11:14:12.927" v="273" actId="1038"/>
          <ac:spMkLst>
            <pc:docMk/>
            <pc:sldMk cId="0" sldId="258"/>
            <ac:spMk id="96" creationId="{00000000-0000-0000-0000-000000000000}"/>
          </ac:spMkLst>
        </pc:spChg>
        <pc:spChg chg="del mod">
          <ac:chgData name="Jeremiah Contreras" userId="7aaf88c5-f86c-46d8-a0d4-f1ec65ded07c" providerId="ADAL" clId="{47828E62-FC24-428A-ACF6-B28718A93287}" dt="2025-09-08T11:13:22.590" v="236" actId="478"/>
          <ac:spMkLst>
            <pc:docMk/>
            <pc:sldMk cId="0" sldId="258"/>
            <ac:spMk id="97" creationId="{00000000-0000-0000-0000-000000000000}"/>
          </ac:spMkLst>
        </pc:spChg>
        <pc:graphicFrameChg chg="modGraphic">
          <ac:chgData name="Jeremiah Contreras" userId="7aaf88c5-f86c-46d8-a0d4-f1ec65ded07c" providerId="ADAL" clId="{47828E62-FC24-428A-ACF6-B28718A93287}" dt="2025-09-08T11:14:07.660" v="246" actId="14734"/>
          <ac:graphicFrameMkLst>
            <pc:docMk/>
            <pc:sldMk cId="0" sldId="258"/>
            <ac:graphicFrameMk id="95" creationId="{00000000-0000-0000-0000-000000000000}"/>
          </ac:graphicFrameMkLst>
        </pc:graphicFrameChg>
        <pc:picChg chg="del">
          <ac:chgData name="Jeremiah Contreras" userId="7aaf88c5-f86c-46d8-a0d4-f1ec65ded07c" providerId="ADAL" clId="{47828E62-FC24-428A-ACF6-B28718A93287}" dt="2025-09-08T11:13:18.480" v="234" actId="478"/>
          <ac:picMkLst>
            <pc:docMk/>
            <pc:sldMk cId="0" sldId="258"/>
            <ac:picMk id="98" creationId="{00000000-0000-0000-0000-000000000000}"/>
          </ac:picMkLst>
        </pc:picChg>
        <pc:picChg chg="mod">
          <ac:chgData name="Jeremiah Contreras" userId="7aaf88c5-f86c-46d8-a0d4-f1ec65ded07c" providerId="ADAL" clId="{47828E62-FC24-428A-ACF6-B28718A93287}" dt="2025-09-08T11:14:12.927" v="273" actId="1038"/>
          <ac:picMkLst>
            <pc:docMk/>
            <pc:sldMk cId="0" sldId="258"/>
            <ac:picMk id="99" creationId="{00000000-0000-0000-0000-000000000000}"/>
          </ac:picMkLst>
        </pc:picChg>
      </pc:sldChg>
      <pc:sldChg chg="addSp delSp modSp mod ord delAnim modAnim">
        <pc:chgData name="Jeremiah Contreras" userId="7aaf88c5-f86c-46d8-a0d4-f1ec65ded07c" providerId="ADAL" clId="{47828E62-FC24-428A-ACF6-B28718A93287}" dt="2025-09-08T10:47:35.200" v="202" actId="478"/>
        <pc:sldMkLst>
          <pc:docMk/>
          <pc:sldMk cId="2901318398" sldId="550"/>
        </pc:sldMkLst>
        <pc:spChg chg="del mod">
          <ac:chgData name="Jeremiah Contreras" userId="7aaf88c5-f86c-46d8-a0d4-f1ec65ded07c" providerId="ADAL" clId="{47828E62-FC24-428A-ACF6-B28718A93287}" dt="2025-09-08T10:47:35.200" v="202" actId="478"/>
          <ac:spMkLst>
            <pc:docMk/>
            <pc:sldMk cId="2901318398" sldId="550"/>
            <ac:spMk id="4" creationId="{B50A02AA-5275-7C24-5F88-1F4E0CEB7AA8}"/>
          </ac:spMkLst>
        </pc:spChg>
        <pc:spChg chg="add mod">
          <ac:chgData name="Jeremiah Contreras" userId="7aaf88c5-f86c-46d8-a0d4-f1ec65ded07c" providerId="ADAL" clId="{47828E62-FC24-428A-ACF6-B28718A93287}" dt="2025-09-08T10:47:01.809" v="198" actId="14100"/>
          <ac:spMkLst>
            <pc:docMk/>
            <pc:sldMk cId="2901318398" sldId="550"/>
            <ac:spMk id="6" creationId="{8BB5BD8F-D045-BBD2-35A4-B48E5E37EC45}"/>
          </ac:spMkLst>
        </pc:spChg>
      </pc:sldChg>
      <pc:sldChg chg="modSp">
        <pc:chgData name="Jeremiah Contreras" userId="7aaf88c5-f86c-46d8-a0d4-f1ec65ded07c" providerId="ADAL" clId="{47828E62-FC24-428A-ACF6-B28718A93287}" dt="2025-09-08T10:45:10.609" v="193" actId="313"/>
        <pc:sldMkLst>
          <pc:docMk/>
          <pc:sldMk cId="4081785504" sldId="556"/>
        </pc:sldMkLst>
        <pc:spChg chg="mod">
          <ac:chgData name="Jeremiah Contreras" userId="7aaf88c5-f86c-46d8-a0d4-f1ec65ded07c" providerId="ADAL" clId="{47828E62-FC24-428A-ACF6-B28718A93287}" dt="2025-09-08T10:45:10.609" v="193" actId="313"/>
          <ac:spMkLst>
            <pc:docMk/>
            <pc:sldMk cId="4081785504" sldId="556"/>
            <ac:spMk id="4" creationId="{794833A3-D630-48B7-9695-F5AA5A305DC0}"/>
          </ac:spMkLst>
        </pc:spChg>
      </pc:sldChg>
      <pc:sldChg chg="modSp mod">
        <pc:chgData name="Jeremiah Contreras" userId="7aaf88c5-f86c-46d8-a0d4-f1ec65ded07c" providerId="ADAL" clId="{47828E62-FC24-428A-ACF6-B28718A93287}" dt="2025-09-08T10:49:28.760" v="221" actId="115"/>
        <pc:sldMkLst>
          <pc:docMk/>
          <pc:sldMk cId="1690433119" sldId="587"/>
        </pc:sldMkLst>
        <pc:spChg chg="mod">
          <ac:chgData name="Jeremiah Contreras" userId="7aaf88c5-f86c-46d8-a0d4-f1ec65ded07c" providerId="ADAL" clId="{47828E62-FC24-428A-ACF6-B28718A93287}" dt="2025-09-08T10:49:28.760" v="221" actId="115"/>
          <ac:spMkLst>
            <pc:docMk/>
            <pc:sldMk cId="1690433119" sldId="587"/>
            <ac:spMk id="7" creationId="{A8BDBE35-6CB3-B2D1-28CB-E7928D1CADE0}"/>
          </ac:spMkLst>
        </pc:spChg>
      </pc:sldChg>
      <pc:sldChg chg="modSp add del mod">
        <pc:chgData name="Jeremiah Contreras" userId="7aaf88c5-f86c-46d8-a0d4-f1ec65ded07c" providerId="ADAL" clId="{47828E62-FC24-428A-ACF6-B28718A93287}" dt="2025-09-08T10:41:22.726" v="3" actId="6549"/>
        <pc:sldMkLst>
          <pc:docMk/>
          <pc:sldMk cId="437241261" sldId="589"/>
        </pc:sldMkLst>
        <pc:spChg chg="mod">
          <ac:chgData name="Jeremiah Contreras" userId="7aaf88c5-f86c-46d8-a0d4-f1ec65ded07c" providerId="ADAL" clId="{47828E62-FC24-428A-ACF6-B28718A93287}" dt="2025-09-08T10:41:22.726" v="3" actId="6549"/>
          <ac:spMkLst>
            <pc:docMk/>
            <pc:sldMk cId="437241261" sldId="589"/>
            <ac:spMk id="2" creationId="{BA6AC53D-01D5-43F6-B465-40C0A2BCE843}"/>
          </ac:spMkLst>
        </pc:spChg>
      </pc:sldChg>
      <pc:sldChg chg="modSp mod ord modAnim">
        <pc:chgData name="Jeremiah Contreras" userId="7aaf88c5-f86c-46d8-a0d4-f1ec65ded07c" providerId="ADAL" clId="{47828E62-FC24-428A-ACF6-B28718A93287}" dt="2025-09-08T10:43:58.308" v="133"/>
        <pc:sldMkLst>
          <pc:docMk/>
          <pc:sldMk cId="1688802904" sldId="591"/>
        </pc:sldMkLst>
        <pc:spChg chg="mod">
          <ac:chgData name="Jeremiah Contreras" userId="7aaf88c5-f86c-46d8-a0d4-f1ec65ded07c" providerId="ADAL" clId="{47828E62-FC24-428A-ACF6-B28718A93287}" dt="2025-09-08T10:43:10.413" v="130" actId="20577"/>
          <ac:spMkLst>
            <pc:docMk/>
            <pc:sldMk cId="1688802904" sldId="591"/>
            <ac:spMk id="3" creationId="{35F29ECA-CA99-4586-B2B2-91282B180842}"/>
          </ac:spMkLst>
        </pc:spChg>
      </pc:sldChg>
      <pc:sldChg chg="modSp">
        <pc:chgData name="Jeremiah Contreras" userId="7aaf88c5-f86c-46d8-a0d4-f1ec65ded07c" providerId="ADAL" clId="{47828E62-FC24-428A-ACF6-B28718A93287}" dt="2025-09-08T10:44:21.688" v="140" actId="20577"/>
        <pc:sldMkLst>
          <pc:docMk/>
          <pc:sldMk cId="1180611504" sldId="592"/>
        </pc:sldMkLst>
        <pc:spChg chg="mod">
          <ac:chgData name="Jeremiah Contreras" userId="7aaf88c5-f86c-46d8-a0d4-f1ec65ded07c" providerId="ADAL" clId="{47828E62-FC24-428A-ACF6-B28718A93287}" dt="2025-09-08T10:44:21.688" v="140" actId="20577"/>
          <ac:spMkLst>
            <pc:docMk/>
            <pc:sldMk cId="1180611504" sldId="592"/>
            <ac:spMk id="3" creationId="{94BD853D-B07D-46CE-AD65-9B6674D3AB4F}"/>
          </ac:spMkLst>
        </pc:spChg>
      </pc:sldChg>
      <pc:sldChg chg="modSp mod ord">
        <pc:chgData name="Jeremiah Contreras" userId="7aaf88c5-f86c-46d8-a0d4-f1ec65ded07c" providerId="ADAL" clId="{47828E62-FC24-428A-ACF6-B28718A93287}" dt="2025-09-08T11:24:50.945" v="353" actId="20577"/>
        <pc:sldMkLst>
          <pc:docMk/>
          <pc:sldMk cId="1131070642" sldId="594"/>
        </pc:sldMkLst>
        <pc:spChg chg="mod">
          <ac:chgData name="Jeremiah Contreras" userId="7aaf88c5-f86c-46d8-a0d4-f1ec65ded07c" providerId="ADAL" clId="{47828E62-FC24-428A-ACF6-B28718A93287}" dt="2025-09-08T11:24:21.137" v="351" actId="20577"/>
          <ac:spMkLst>
            <pc:docMk/>
            <pc:sldMk cId="1131070642" sldId="594"/>
            <ac:spMk id="2" creationId="{09307FA3-3FD6-4AD3-9C1A-9D077A555276}"/>
          </ac:spMkLst>
        </pc:spChg>
        <pc:spChg chg="mod">
          <ac:chgData name="Jeremiah Contreras" userId="7aaf88c5-f86c-46d8-a0d4-f1ec65ded07c" providerId="ADAL" clId="{47828E62-FC24-428A-ACF6-B28718A93287}" dt="2025-09-08T11:24:50.945" v="353" actId="20577"/>
          <ac:spMkLst>
            <pc:docMk/>
            <pc:sldMk cId="1131070642" sldId="594"/>
            <ac:spMk id="3" creationId="{814BC936-E1BE-4193-BC53-558CC02AED77}"/>
          </ac:spMkLst>
        </pc:spChg>
      </pc:sldChg>
      <pc:sldChg chg="modSp mod ord">
        <pc:chgData name="Jeremiah Contreras" userId="7aaf88c5-f86c-46d8-a0d4-f1ec65ded07c" providerId="ADAL" clId="{47828E62-FC24-428A-ACF6-B28718A93287}" dt="2025-09-08T11:23:57.279" v="344" actId="113"/>
        <pc:sldMkLst>
          <pc:docMk/>
          <pc:sldMk cId="1391677343" sldId="595"/>
        </pc:sldMkLst>
        <pc:spChg chg="mod">
          <ac:chgData name="Jeremiah Contreras" userId="7aaf88c5-f86c-46d8-a0d4-f1ec65ded07c" providerId="ADAL" clId="{47828E62-FC24-428A-ACF6-B28718A93287}" dt="2025-09-08T11:23:49.786" v="320" actId="20577"/>
          <ac:spMkLst>
            <pc:docMk/>
            <pc:sldMk cId="1391677343" sldId="595"/>
            <ac:spMk id="2" creationId="{09307FA3-3FD6-4AD3-9C1A-9D077A555276}"/>
          </ac:spMkLst>
        </pc:spChg>
        <pc:spChg chg="mod">
          <ac:chgData name="Jeremiah Contreras" userId="7aaf88c5-f86c-46d8-a0d4-f1ec65ded07c" providerId="ADAL" clId="{47828E62-FC24-428A-ACF6-B28718A93287}" dt="2025-09-08T11:23:57.279" v="344" actId="113"/>
          <ac:spMkLst>
            <pc:docMk/>
            <pc:sldMk cId="1391677343" sldId="595"/>
            <ac:spMk id="3" creationId="{814BC936-E1BE-4193-BC53-558CC02AED77}"/>
          </ac:spMkLst>
        </pc:spChg>
      </pc:sldChg>
      <pc:sldChg chg="add modAnim">
        <pc:chgData name="Jeremiah Contreras" userId="7aaf88c5-f86c-46d8-a0d4-f1ec65ded07c" providerId="ADAL" clId="{47828E62-FC24-428A-ACF6-B28718A93287}" dt="2025-09-08T10:47:46.126" v="206"/>
        <pc:sldMkLst>
          <pc:docMk/>
          <pc:sldMk cId="1791421081" sldId="601"/>
        </pc:sldMkLst>
      </pc:sldChg>
    </pc:docChg>
  </pc:docChgLst>
  <pc:docChgLst>
    <pc:chgData name="Jeremiah Contreras" userId="353e0578-c100-4b27-ab8d-040de0f2d32b" providerId="ADAL" clId="{F842F746-CF79-48C6-9C64-53A5DDCAC795}"/>
    <pc:docChg chg="undo custSel addSld delSld modSld sldOrd delMainMaster">
      <pc:chgData name="Jeremiah Contreras" userId="353e0578-c100-4b27-ab8d-040de0f2d32b" providerId="ADAL" clId="{F842F746-CF79-48C6-9C64-53A5DDCAC795}" dt="2024-09-08T12:40:45.563" v="218"/>
      <pc:docMkLst>
        <pc:docMk/>
      </pc:docMkLst>
      <pc:sldChg chg="addSp modSp mod modAnim">
        <pc:chgData name="Jeremiah Contreras" userId="353e0578-c100-4b27-ab8d-040de0f2d32b" providerId="ADAL" clId="{F842F746-CF79-48C6-9C64-53A5DDCAC795}" dt="2024-09-08T12:24:12.600" v="104" actId="14100"/>
        <pc:sldMkLst>
          <pc:docMk/>
          <pc:sldMk cId="2901318398" sldId="550"/>
        </pc:sldMkLst>
      </pc:sldChg>
      <pc:sldChg chg="del">
        <pc:chgData name="Jeremiah Contreras" userId="353e0578-c100-4b27-ab8d-040de0f2d32b" providerId="ADAL" clId="{F842F746-CF79-48C6-9C64-53A5DDCAC795}" dt="2024-09-08T12:17:34.462" v="2" actId="47"/>
        <pc:sldMkLst>
          <pc:docMk/>
          <pc:sldMk cId="2160199109" sldId="586"/>
        </pc:sldMkLst>
      </pc:sldChg>
      <pc:sldChg chg="modSp mod">
        <pc:chgData name="Jeremiah Contreras" userId="353e0578-c100-4b27-ab8d-040de0f2d32b" providerId="ADAL" clId="{F842F746-CF79-48C6-9C64-53A5DDCAC795}" dt="2024-09-08T12:27:36.810" v="109" actId="1076"/>
        <pc:sldMkLst>
          <pc:docMk/>
          <pc:sldMk cId="1690433119" sldId="587"/>
        </pc:sldMkLst>
      </pc:sldChg>
      <pc:sldChg chg="del">
        <pc:chgData name="Jeremiah Contreras" userId="353e0578-c100-4b27-ab8d-040de0f2d32b" providerId="ADAL" clId="{F842F746-CF79-48C6-9C64-53A5DDCAC795}" dt="2024-09-08T12:15:37.920" v="1" actId="47"/>
        <pc:sldMkLst>
          <pc:docMk/>
          <pc:sldMk cId="0" sldId="596"/>
        </pc:sldMkLst>
      </pc:sldChg>
      <pc:sldChg chg="del">
        <pc:chgData name="Jeremiah Contreras" userId="353e0578-c100-4b27-ab8d-040de0f2d32b" providerId="ADAL" clId="{F842F746-CF79-48C6-9C64-53A5DDCAC795}" dt="2024-09-08T12:15:35.755" v="0" actId="47"/>
        <pc:sldMkLst>
          <pc:docMk/>
          <pc:sldMk cId="0" sldId="597"/>
        </pc:sldMkLst>
      </pc:sldChg>
      <pc:sldChg chg="ord">
        <pc:chgData name="Jeremiah Contreras" userId="353e0578-c100-4b27-ab8d-040de0f2d32b" providerId="ADAL" clId="{F842F746-CF79-48C6-9C64-53A5DDCAC795}" dt="2024-09-08T12:40:45.563" v="218"/>
        <pc:sldMkLst>
          <pc:docMk/>
          <pc:sldMk cId="522111109" sldId="598"/>
        </pc:sldMkLst>
      </pc:sldChg>
      <pc:sldChg chg="addSp delSp modSp add mod ord delAnim modAnim">
        <pc:chgData name="Jeremiah Contreras" userId="353e0578-c100-4b27-ab8d-040de0f2d32b" providerId="ADAL" clId="{F842F746-CF79-48C6-9C64-53A5DDCAC795}" dt="2024-09-08T12:35:48.290" v="216"/>
        <pc:sldMkLst>
          <pc:docMk/>
          <pc:sldMk cId="2986595091" sldId="599"/>
        </pc:sldMkLst>
      </pc:sldChg>
      <pc:sldChg chg="addSp modSp add mod modAnim">
        <pc:chgData name="Jeremiah Contreras" userId="353e0578-c100-4b27-ab8d-040de0f2d32b" providerId="ADAL" clId="{F842F746-CF79-48C6-9C64-53A5DDCAC795}" dt="2024-09-08T12:34:29.792" v="180" actId="14100"/>
        <pc:sldMkLst>
          <pc:docMk/>
          <pc:sldMk cId="923263873" sldId="600"/>
        </pc:sldMkLst>
      </pc:sldChg>
      <pc:sldChg chg="add del">
        <pc:chgData name="Jeremiah Contreras" userId="353e0578-c100-4b27-ab8d-040de0f2d32b" providerId="ADAL" clId="{F842F746-CF79-48C6-9C64-53A5DDCAC795}" dt="2024-09-08T12:31:24.952" v="144"/>
        <pc:sldMkLst>
          <pc:docMk/>
          <pc:sldMk cId="364680638" sldId="601"/>
        </pc:sldMkLst>
      </pc:sldChg>
      <pc:sldMasterChg chg="del delSldLayout">
        <pc:chgData name="Jeremiah Contreras" userId="353e0578-c100-4b27-ab8d-040de0f2d32b" providerId="ADAL" clId="{F842F746-CF79-48C6-9C64-53A5DDCAC795}" dt="2024-09-08T12:15:37.920" v="1" actId="47"/>
        <pc:sldMasterMkLst>
          <pc:docMk/>
          <pc:sldMasterMk cId="2093517723" sldId="2147483680"/>
        </pc:sldMasterMkLst>
        <pc:sldLayoutChg chg="del">
          <pc:chgData name="Jeremiah Contreras" userId="353e0578-c100-4b27-ab8d-040de0f2d32b" providerId="ADAL" clId="{F842F746-CF79-48C6-9C64-53A5DDCAC795}" dt="2024-09-08T12:15:37.920" v="1" actId="47"/>
          <pc:sldLayoutMkLst>
            <pc:docMk/>
            <pc:sldMasterMk cId="2093517723" sldId="2147483680"/>
            <pc:sldLayoutMk cId="3335441851" sldId="2147483681"/>
          </pc:sldLayoutMkLst>
        </pc:sldLayoutChg>
        <pc:sldLayoutChg chg="del">
          <pc:chgData name="Jeremiah Contreras" userId="353e0578-c100-4b27-ab8d-040de0f2d32b" providerId="ADAL" clId="{F842F746-CF79-48C6-9C64-53A5DDCAC795}" dt="2024-09-08T12:15:37.920" v="1" actId="47"/>
          <pc:sldLayoutMkLst>
            <pc:docMk/>
            <pc:sldMasterMk cId="2093517723" sldId="2147483680"/>
            <pc:sldLayoutMk cId="3460340905" sldId="2147483682"/>
          </pc:sldLayoutMkLst>
        </pc:sldLayoutChg>
        <pc:sldLayoutChg chg="del">
          <pc:chgData name="Jeremiah Contreras" userId="353e0578-c100-4b27-ab8d-040de0f2d32b" providerId="ADAL" clId="{F842F746-CF79-48C6-9C64-53A5DDCAC795}" dt="2024-09-08T12:15:37.920" v="1" actId="47"/>
          <pc:sldLayoutMkLst>
            <pc:docMk/>
            <pc:sldMasterMk cId="2093517723" sldId="2147483680"/>
            <pc:sldLayoutMk cId="3615479714" sldId="2147483683"/>
          </pc:sldLayoutMkLst>
        </pc:sldLayoutChg>
        <pc:sldLayoutChg chg="del">
          <pc:chgData name="Jeremiah Contreras" userId="353e0578-c100-4b27-ab8d-040de0f2d32b" providerId="ADAL" clId="{F842F746-CF79-48C6-9C64-53A5DDCAC795}" dt="2024-09-08T12:15:37.920" v="1" actId="47"/>
          <pc:sldLayoutMkLst>
            <pc:docMk/>
            <pc:sldMasterMk cId="2093517723" sldId="2147483680"/>
            <pc:sldLayoutMk cId="2994351860" sldId="2147483684"/>
          </pc:sldLayoutMkLst>
        </pc:sldLayoutChg>
        <pc:sldLayoutChg chg="del">
          <pc:chgData name="Jeremiah Contreras" userId="353e0578-c100-4b27-ab8d-040de0f2d32b" providerId="ADAL" clId="{F842F746-CF79-48C6-9C64-53A5DDCAC795}" dt="2024-09-08T12:15:37.920" v="1" actId="47"/>
          <pc:sldLayoutMkLst>
            <pc:docMk/>
            <pc:sldMasterMk cId="2093517723" sldId="2147483680"/>
            <pc:sldLayoutMk cId="2972340887" sldId="2147483685"/>
          </pc:sldLayoutMkLst>
        </pc:sldLayoutChg>
        <pc:sldLayoutChg chg="del">
          <pc:chgData name="Jeremiah Contreras" userId="353e0578-c100-4b27-ab8d-040de0f2d32b" providerId="ADAL" clId="{F842F746-CF79-48C6-9C64-53A5DDCAC795}" dt="2024-09-08T12:15:37.920" v="1" actId="47"/>
          <pc:sldLayoutMkLst>
            <pc:docMk/>
            <pc:sldMasterMk cId="2093517723" sldId="2147483680"/>
            <pc:sldLayoutMk cId="4156508623" sldId="2147483686"/>
          </pc:sldLayoutMkLst>
        </pc:sldLayoutChg>
        <pc:sldLayoutChg chg="del">
          <pc:chgData name="Jeremiah Contreras" userId="353e0578-c100-4b27-ab8d-040de0f2d32b" providerId="ADAL" clId="{F842F746-CF79-48C6-9C64-53A5DDCAC795}" dt="2024-09-08T12:15:37.920" v="1" actId="47"/>
          <pc:sldLayoutMkLst>
            <pc:docMk/>
            <pc:sldMasterMk cId="2093517723" sldId="2147483680"/>
            <pc:sldLayoutMk cId="1085934017" sldId="2147483687"/>
          </pc:sldLayoutMkLst>
        </pc:sldLayoutChg>
        <pc:sldLayoutChg chg="del">
          <pc:chgData name="Jeremiah Contreras" userId="353e0578-c100-4b27-ab8d-040de0f2d32b" providerId="ADAL" clId="{F842F746-CF79-48C6-9C64-53A5DDCAC795}" dt="2024-09-08T12:15:37.920" v="1" actId="47"/>
          <pc:sldLayoutMkLst>
            <pc:docMk/>
            <pc:sldMasterMk cId="2093517723" sldId="2147483680"/>
            <pc:sldLayoutMk cId="3355414315" sldId="2147483688"/>
          </pc:sldLayoutMkLst>
        </pc:sldLayoutChg>
        <pc:sldLayoutChg chg="del">
          <pc:chgData name="Jeremiah Contreras" userId="353e0578-c100-4b27-ab8d-040de0f2d32b" providerId="ADAL" clId="{F842F746-CF79-48C6-9C64-53A5DDCAC795}" dt="2024-09-08T12:15:37.920" v="1" actId="47"/>
          <pc:sldLayoutMkLst>
            <pc:docMk/>
            <pc:sldMasterMk cId="2093517723" sldId="2147483680"/>
            <pc:sldLayoutMk cId="4094936919" sldId="2147483689"/>
          </pc:sldLayoutMkLst>
        </pc:sldLayoutChg>
        <pc:sldLayoutChg chg="del">
          <pc:chgData name="Jeremiah Contreras" userId="353e0578-c100-4b27-ab8d-040de0f2d32b" providerId="ADAL" clId="{F842F746-CF79-48C6-9C64-53A5DDCAC795}" dt="2024-09-08T12:15:37.920" v="1" actId="47"/>
          <pc:sldLayoutMkLst>
            <pc:docMk/>
            <pc:sldMasterMk cId="2093517723" sldId="2147483680"/>
            <pc:sldLayoutMk cId="1496142957" sldId="2147483690"/>
          </pc:sldLayoutMkLst>
        </pc:sldLayoutChg>
        <pc:sldLayoutChg chg="del">
          <pc:chgData name="Jeremiah Contreras" userId="353e0578-c100-4b27-ab8d-040de0f2d32b" providerId="ADAL" clId="{F842F746-CF79-48C6-9C64-53A5DDCAC795}" dt="2024-09-08T12:15:37.920" v="1" actId="47"/>
          <pc:sldLayoutMkLst>
            <pc:docMk/>
            <pc:sldMasterMk cId="2093517723" sldId="2147483680"/>
            <pc:sldLayoutMk cId="2770559843" sldId="2147483691"/>
          </pc:sldLayoutMkLst>
        </pc:sldLayoutChg>
      </pc:sldMasterChg>
    </pc:docChg>
  </pc:docChgLst>
  <pc:docChgLst>
    <pc:chgData name="Jeremiah Contreras" userId="7aaf88c5-f86c-46d8-a0d4-f1ec65ded07c" providerId="ADAL" clId="{97D7FAB1-5333-4E49-9881-73C402ACB201}"/>
    <pc:docChg chg="custSel delSld modSld">
      <pc:chgData name="Jeremiah Contreras" userId="7aaf88c5-f86c-46d8-a0d4-f1ec65ded07c" providerId="ADAL" clId="{97D7FAB1-5333-4E49-9881-73C402ACB201}" dt="2025-08-10T04:51:18.942" v="114" actId="47"/>
      <pc:docMkLst>
        <pc:docMk/>
      </pc:docMkLst>
      <pc:sldChg chg="addSp delSp modSp mod">
        <pc:chgData name="Jeremiah Contreras" userId="7aaf88c5-f86c-46d8-a0d4-f1ec65ded07c" providerId="ADAL" clId="{97D7FAB1-5333-4E49-9881-73C402ACB201}" dt="2025-08-10T04:45:29.072" v="11" actId="692"/>
        <pc:sldMkLst>
          <pc:docMk/>
          <pc:sldMk cId="1690433119" sldId="587"/>
        </pc:sldMkLst>
        <pc:spChg chg="mod">
          <ac:chgData name="Jeremiah Contreras" userId="7aaf88c5-f86c-46d8-a0d4-f1ec65ded07c" providerId="ADAL" clId="{97D7FAB1-5333-4E49-9881-73C402ACB201}" dt="2025-08-10T04:44:36.586" v="5" actId="14100"/>
          <ac:spMkLst>
            <pc:docMk/>
            <pc:sldMk cId="1690433119" sldId="587"/>
            <ac:spMk id="6" creationId="{85152084-D909-49FA-A42D-88EB817657A9}"/>
          </ac:spMkLst>
        </pc:spChg>
        <pc:spChg chg="add mod">
          <ac:chgData name="Jeremiah Contreras" userId="7aaf88c5-f86c-46d8-a0d4-f1ec65ded07c" providerId="ADAL" clId="{97D7FAB1-5333-4E49-9881-73C402ACB201}" dt="2025-08-10T04:45:29.072" v="11" actId="692"/>
          <ac:spMkLst>
            <pc:docMk/>
            <pc:sldMk cId="1690433119" sldId="587"/>
            <ac:spMk id="7" creationId="{A8BDBE35-6CB3-B2D1-28CB-E7928D1CADE0}"/>
          </ac:spMkLst>
        </pc:spChg>
        <pc:picChg chg="add mod">
          <ac:chgData name="Jeremiah Contreras" userId="7aaf88c5-f86c-46d8-a0d4-f1ec65ded07c" providerId="ADAL" clId="{97D7FAB1-5333-4E49-9881-73C402ACB201}" dt="2025-08-10T04:45:00.990" v="8" actId="1076"/>
          <ac:picMkLst>
            <pc:docMk/>
            <pc:sldMk cId="1690433119" sldId="587"/>
            <ac:picMk id="4" creationId="{6E411BD5-FA19-BC52-CEA1-3FC162CEEAA9}"/>
          </ac:picMkLst>
        </pc:picChg>
      </pc:sldChg>
      <pc:sldChg chg="del">
        <pc:chgData name="Jeremiah Contreras" userId="7aaf88c5-f86c-46d8-a0d4-f1ec65ded07c" providerId="ADAL" clId="{97D7FAB1-5333-4E49-9881-73C402ACB201}" dt="2025-08-10T04:41:47.295" v="0" actId="47"/>
        <pc:sldMkLst>
          <pc:docMk/>
          <pc:sldMk cId="2959380999" sldId="590"/>
        </pc:sldMkLst>
      </pc:sldChg>
      <pc:sldChg chg="modSp mod">
        <pc:chgData name="Jeremiah Contreras" userId="7aaf88c5-f86c-46d8-a0d4-f1ec65ded07c" providerId="ADAL" clId="{97D7FAB1-5333-4E49-9881-73C402ACB201}" dt="2025-08-10T04:51:12.073" v="113" actId="20577"/>
        <pc:sldMkLst>
          <pc:docMk/>
          <pc:sldMk cId="1391677343" sldId="595"/>
        </pc:sldMkLst>
        <pc:spChg chg="mod">
          <ac:chgData name="Jeremiah Contreras" userId="7aaf88c5-f86c-46d8-a0d4-f1ec65ded07c" providerId="ADAL" clId="{97D7FAB1-5333-4E49-9881-73C402ACB201}" dt="2025-08-10T04:51:12.073" v="113" actId="20577"/>
          <ac:spMkLst>
            <pc:docMk/>
            <pc:sldMk cId="1391677343" sldId="595"/>
            <ac:spMk id="3" creationId="{814BC936-E1BE-4193-BC53-558CC02AED77}"/>
          </ac:spMkLst>
        </pc:spChg>
      </pc:sldChg>
      <pc:sldChg chg="del">
        <pc:chgData name="Jeremiah Contreras" userId="7aaf88c5-f86c-46d8-a0d4-f1ec65ded07c" providerId="ADAL" clId="{97D7FAB1-5333-4E49-9881-73C402ACB201}" dt="2025-08-10T04:51:18.942" v="114" actId="47"/>
        <pc:sldMkLst>
          <pc:docMk/>
          <pc:sldMk cId="522111109" sldId="598"/>
        </pc:sldMkLst>
      </pc:sldChg>
      <pc:sldChg chg="addSp delSp modSp mod delAnim">
        <pc:chgData name="Jeremiah Contreras" userId="7aaf88c5-f86c-46d8-a0d4-f1ec65ded07c" providerId="ADAL" clId="{97D7FAB1-5333-4E49-9881-73C402ACB201}" dt="2025-08-10T04:50:44.555" v="104" actId="1038"/>
        <pc:sldMkLst>
          <pc:docMk/>
          <pc:sldMk cId="2986595091" sldId="599"/>
        </pc:sldMkLst>
        <pc:picChg chg="add mod">
          <ac:chgData name="Jeremiah Contreras" userId="7aaf88c5-f86c-46d8-a0d4-f1ec65ded07c" providerId="ADAL" clId="{97D7FAB1-5333-4E49-9881-73C402ACB201}" dt="2025-08-10T04:50:44.555" v="104" actId="1038"/>
          <ac:picMkLst>
            <pc:docMk/>
            <pc:sldMk cId="2986595091" sldId="599"/>
            <ac:picMk id="3" creationId="{A091386E-2662-F6ED-5E52-4EF7B63193FF}"/>
          </ac:picMkLst>
        </pc:picChg>
        <pc:picChg chg="add mod">
          <ac:chgData name="Jeremiah Contreras" userId="7aaf88c5-f86c-46d8-a0d4-f1ec65ded07c" providerId="ADAL" clId="{97D7FAB1-5333-4E49-9881-73C402ACB201}" dt="2025-08-10T04:50:08.046" v="71" actId="1037"/>
          <ac:picMkLst>
            <pc:docMk/>
            <pc:sldMk cId="2986595091" sldId="599"/>
            <ac:picMk id="5" creationId="{1E034FFA-EC0C-9C58-8534-94039A32722D}"/>
          </ac:picMkLst>
        </pc:picChg>
        <pc:picChg chg="add mod ord">
          <ac:chgData name="Jeremiah Contreras" userId="7aaf88c5-f86c-46d8-a0d4-f1ec65ded07c" providerId="ADAL" clId="{97D7FAB1-5333-4E49-9881-73C402ACB201}" dt="2025-08-10T04:49:58.586" v="57" actId="692"/>
          <ac:picMkLst>
            <pc:docMk/>
            <pc:sldMk cId="2986595091" sldId="599"/>
            <ac:picMk id="7" creationId="{B248E34C-8B20-36C7-9622-A7B33CC1E5BA}"/>
          </ac:picMkLst>
        </pc:picChg>
      </pc:sldChg>
      <pc:sldChg chg="addSp delSp modSp mod delAnim">
        <pc:chgData name="Jeremiah Contreras" userId="7aaf88c5-f86c-46d8-a0d4-f1ec65ded07c" providerId="ADAL" clId="{97D7FAB1-5333-4E49-9881-73C402ACB201}" dt="2025-08-10T04:48:00.310" v="42" actId="692"/>
        <pc:sldMkLst>
          <pc:docMk/>
          <pc:sldMk cId="923263873" sldId="600"/>
        </pc:sldMkLst>
        <pc:picChg chg="add mod">
          <ac:chgData name="Jeremiah Contreras" userId="7aaf88c5-f86c-46d8-a0d4-f1ec65ded07c" providerId="ADAL" clId="{97D7FAB1-5333-4E49-9881-73C402ACB201}" dt="2025-08-10T04:46:35.924" v="32" actId="1038"/>
          <ac:picMkLst>
            <pc:docMk/>
            <pc:sldMk cId="923263873" sldId="600"/>
            <ac:picMk id="3" creationId="{E183C094-65C1-A87F-4A13-976BA8AC34AE}"/>
          </ac:picMkLst>
        </pc:picChg>
        <pc:picChg chg="add mod">
          <ac:chgData name="Jeremiah Contreras" userId="7aaf88c5-f86c-46d8-a0d4-f1ec65ded07c" providerId="ADAL" clId="{97D7FAB1-5333-4E49-9881-73C402ACB201}" dt="2025-08-10T04:47:07.787" v="34"/>
          <ac:picMkLst>
            <pc:docMk/>
            <pc:sldMk cId="923263873" sldId="600"/>
            <ac:picMk id="6" creationId="{32CC476F-EA6F-EA4D-DBDF-9FBEEEF5E499}"/>
          </ac:picMkLst>
        </pc:picChg>
        <pc:picChg chg="add mod">
          <ac:chgData name="Jeremiah Contreras" userId="7aaf88c5-f86c-46d8-a0d4-f1ec65ded07c" providerId="ADAL" clId="{97D7FAB1-5333-4E49-9881-73C402ACB201}" dt="2025-08-10T04:48:00.310" v="42" actId="692"/>
          <ac:picMkLst>
            <pc:docMk/>
            <pc:sldMk cId="923263873" sldId="600"/>
            <ac:picMk id="8" creationId="{113D3811-DD4D-28C0-B628-E338C3BCF4B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F94A5-460A-4156-9EA8-059208A9DE5F}" type="datetimeFigureOut">
              <a:rPr lang="en-US" smtClean="0"/>
              <a:t>9/7/2025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0A9D6D-7EB8-4AE0-88FE-F2C7E59C168E}" type="slidenum">
              <a:rPr lang="en-US" smtClean="0"/>
              <a:t>‹#›</a:t>
            </a:fld>
            <a:endParaRPr lang="en-US"/>
          </a:p>
        </p:txBody>
      </p:sp>
    </p:spTree>
    <p:extLst>
      <p:ext uri="{BB962C8B-B14F-4D97-AF65-F5344CB8AC3E}">
        <p14:creationId xmlns:p14="http://schemas.microsoft.com/office/powerpoint/2010/main" val="1656072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p:cNvSpPr>
          <p:nvPr>
            <p:ph type="sldImg"/>
          </p:nvPr>
        </p:nvSpPr>
        <p:spPr bwMode="auto">
          <a:xfrm>
            <a:off x="407988" y="698500"/>
            <a:ext cx="6208712"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xfrm>
            <a:off x="703263" y="4422775"/>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35" tIns="43867" rIns="87735" bIns="43867"/>
          <a:lstStyle/>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3614627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457a1669c6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457a1669c6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457a1669c6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457a1669c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sng" kern="1200" dirty="0">
                <a:solidFill>
                  <a:schemeClr val="tx1"/>
                </a:solidFill>
                <a:effectLst/>
                <a:latin typeface="+mn-lt"/>
                <a:ea typeface="+mn-ea"/>
                <a:cs typeface="+mn-cs"/>
              </a:rPr>
              <a:t>Valuation</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-artifact of </a:t>
            </a:r>
            <a:r>
              <a:rPr lang="en-US" sz="1200" b="0" i="0" u="none" strike="noStrike" kern="1200" dirty="0" err="1">
                <a:solidFill>
                  <a:schemeClr val="tx1"/>
                </a:solidFill>
                <a:effectLst/>
                <a:latin typeface="+mn-lt"/>
                <a:ea typeface="+mn-ea"/>
                <a:cs typeface="+mn-cs"/>
              </a:rPr>
              <a:t>acctg</a:t>
            </a:r>
            <a:r>
              <a:rPr lang="en-US" sz="1200" b="0" i="0" u="none" strike="noStrike" kern="1200" dirty="0">
                <a:solidFill>
                  <a:schemeClr val="tx1"/>
                </a:solidFill>
                <a:effectLst/>
                <a:latin typeface="+mn-lt"/>
                <a:ea typeface="+mn-ea"/>
                <a:cs typeface="+mn-cs"/>
              </a:rPr>
              <a:t>, NOT market value</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-driven by the assets and liabilities on the balance sheet </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-REMEMBER: </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   *many we don’t record</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   *those that we do record may not be held at FV</a:t>
            </a:r>
            <a:r>
              <a:rPr lang="en-US" sz="1200" b="0" i="0" kern="1200" dirty="0">
                <a:solidFill>
                  <a:schemeClr val="tx1"/>
                </a:solidFill>
                <a:effectLst/>
                <a:latin typeface="+mn-lt"/>
                <a:ea typeface="+mn-ea"/>
                <a:cs typeface="+mn-cs"/>
              </a:rPr>
              <a:t>​</a:t>
            </a:r>
          </a:p>
          <a:p>
            <a:pPr rtl="0" fontAlgn="base"/>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So, equity does not equate to market value or price!</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7B43515F-B653-44CA-89E9-3A15E3975250}" type="slidenum">
              <a:rPr lang="en-US" smtClean="0"/>
              <a:t>8</a:t>
            </a:fld>
            <a:endParaRPr lang="en-US" dirty="0"/>
          </a:p>
        </p:txBody>
      </p:sp>
    </p:spTree>
    <p:extLst>
      <p:ext uri="{BB962C8B-B14F-4D97-AF65-F5344CB8AC3E}">
        <p14:creationId xmlns:p14="http://schemas.microsoft.com/office/powerpoint/2010/main" val="181675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What does this mean for you??</a:t>
            </a:r>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---if you want to know what owners have contributed, add par and APIC together.</a:t>
            </a:r>
            <a:r>
              <a:rPr lang="en-US" sz="1200" b="0" i="0" kern="1200" dirty="0">
                <a:solidFill>
                  <a:schemeClr val="tx1"/>
                </a:solidFill>
                <a:effectLst/>
                <a:latin typeface="+mn-lt"/>
                <a:ea typeface="+mn-ea"/>
                <a:cs typeface="+mn-cs"/>
              </a:rPr>
              <a:t>​</a:t>
            </a:r>
          </a:p>
          <a:p>
            <a:pPr rtl="0" fontAlgn="base"/>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I say common stock here. Book says capital stock. It’s the same thing. </a:t>
            </a:r>
            <a:r>
              <a:rPr lang="en-US" sz="1200" b="0" i="0" kern="1200" dirty="0">
                <a:solidFill>
                  <a:schemeClr val="tx1"/>
                </a:solidFill>
                <a:effectLst/>
                <a:latin typeface="+mn-lt"/>
                <a:ea typeface="+mn-ea"/>
                <a:cs typeface="+mn-cs"/>
              </a:rPr>
              <a:t>​</a:t>
            </a:r>
          </a:p>
          <a:p>
            <a:pPr rtl="0" fontAlgn="base"/>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Par is relic. An arbitrary number. Sometimes it comes from the companies charter. Sometimes it’s a requirement of the state where the company was incorporated.</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A0A9D6D-7EB8-4AE0-88FE-F2C7E59C168E}" type="slidenum">
              <a:rPr lang="en-US" smtClean="0"/>
              <a:t>9</a:t>
            </a:fld>
            <a:endParaRPr lang="en-US"/>
          </a:p>
        </p:txBody>
      </p:sp>
    </p:spTree>
    <p:extLst>
      <p:ext uri="{BB962C8B-B14F-4D97-AF65-F5344CB8AC3E}">
        <p14:creationId xmlns:p14="http://schemas.microsoft.com/office/powerpoint/2010/main" val="774947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Equation is not literally true, but good enough for now. For example, Apple (2014) had some repurchase of common stock hit retained earning for example. This can happen if they buy back stock with no intent of every issuing it again and the difference between what they sold it and buy back (it cost more to buy it back) will hit retained earnings  reduces it.</a:t>
            </a:r>
            <a:endParaRPr lang="en-US" dirty="0"/>
          </a:p>
        </p:txBody>
      </p:sp>
      <p:sp>
        <p:nvSpPr>
          <p:cNvPr id="4" name="Slide Number Placeholder 3"/>
          <p:cNvSpPr>
            <a:spLocks noGrp="1"/>
          </p:cNvSpPr>
          <p:nvPr>
            <p:ph type="sldNum" sz="quarter" idx="5"/>
          </p:nvPr>
        </p:nvSpPr>
        <p:spPr/>
        <p:txBody>
          <a:bodyPr/>
          <a:lstStyle/>
          <a:p>
            <a:fld id="{2A0A9D6D-7EB8-4AE0-88FE-F2C7E59C168E}" type="slidenum">
              <a:rPr lang="en-US" smtClean="0"/>
              <a:t>15</a:t>
            </a:fld>
            <a:endParaRPr lang="en-US"/>
          </a:p>
        </p:txBody>
      </p:sp>
    </p:spTree>
    <p:extLst>
      <p:ext uri="{BB962C8B-B14F-4D97-AF65-F5344CB8AC3E}">
        <p14:creationId xmlns:p14="http://schemas.microsoft.com/office/powerpoint/2010/main" val="1176603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56351"/>
            <a:ext cx="2743200" cy="365125"/>
          </a:xfrm>
        </p:spPr>
        <p:txBody>
          <a:bodyPr/>
          <a:lstStyle/>
          <a:p>
            <a:fld id="{29999271-A573-1E42-984E-4EB780E50D50}" type="datetimeFigureOut">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419056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cxnSp>
        <p:nvCxnSpPr>
          <p:cNvPr id="8" name="Straight Connector 7"/>
          <p:cNvCxnSpPr/>
          <p:nvPr userDrawn="1"/>
        </p:nvCxnSpPr>
        <p:spPr>
          <a:xfrm>
            <a:off x="838200" y="1184982"/>
            <a:ext cx="7772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6872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218213"/>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999271-A573-1E42-984E-4EB780E50D50}" type="datetimeFigureOut">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73677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39449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99271-A573-1E42-984E-4EB780E50D50}" type="datetimeFigureOut">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3554072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253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999271-A573-1E42-984E-4EB780E50D50}" type="datetimeFigureOut">
              <a:rPr lang="en-US" smtClean="0"/>
              <a:t>9/7/2025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2461331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9999271-A573-1E42-984E-4EB780E50D50}" type="datetimeFigureOut">
              <a:rPr lang="en-US" smtClean="0"/>
              <a:t>9/7/2025</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662912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999271-A573-1E42-984E-4EB780E50D50}" type="datetimeFigureOut">
              <a:rPr lang="en-US" smtClean="0"/>
              <a:t>9/7/2025</a:t>
            </a:fld>
            <a:endParaRPr lang="en-US"/>
          </a:p>
        </p:txBody>
      </p:sp>
      <p:sp>
        <p:nvSpPr>
          <p:cNvPr id="3" name="Footer Placeholder 2"/>
          <p:cNvSpPr>
            <a:spLocks noGrp="1"/>
          </p:cNvSpPr>
          <p:nvPr>
            <p:ph type="ftr" sz="quarter" idx="11"/>
          </p:nvPr>
        </p:nvSpPr>
        <p:spPr/>
        <p:txBody>
          <a:bodyPr/>
          <a:lstStyle/>
          <a:p>
            <a:endParaRPr lang="en-US"/>
          </a:p>
        </p:txBody>
      </p:sp>
      <p:sp>
        <p:nvSpPr>
          <p:cNvPr id="5"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590953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3208270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669495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3131217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7"/>
            <a:ext cx="2628900" cy="54178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2"/>
            <a:ext cx="768179"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3891066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2"/>
            <a:ext cx="11379200" cy="838199"/>
          </a:xfrm>
          <a:prstGeom prst="rect">
            <a:avLst/>
          </a:prstGeom>
        </p:spPr>
        <p:txBody>
          <a:bodyPr/>
          <a:lstStyle>
            <a:lvl1pPr>
              <a:defRPr sz="4000" b="1" i="0">
                <a:solidFill>
                  <a:schemeClr val="accent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4451350"/>
          </a:xfrm>
          <a:prstGeom prst="rect">
            <a:avLst/>
          </a:prstGeom>
        </p:spPr>
        <p:txBody>
          <a:bodyPr/>
          <a:lstStyle>
            <a:lvl1pPr marL="0" indent="0">
              <a:buNone/>
              <a:defRPr sz="2800" b="0" i="0">
                <a:latin typeface="Calibri" panose="020F0502020204030204" pitchFamily="34" charset="0"/>
                <a:ea typeface="Calibri" panose="020F0502020204030204" pitchFamily="34" charset="0"/>
                <a:cs typeface="Calibri" panose="020F0502020204030204" pitchFamily="34" charset="0"/>
              </a:defRPr>
            </a:lvl1pPr>
          </a:lstStyle>
          <a:p>
            <a:pPr lvl="0"/>
            <a:endParaRPr lang="en-US" dirty="0"/>
          </a:p>
        </p:txBody>
      </p:sp>
      <p:sp>
        <p:nvSpPr>
          <p:cNvPr id="7" name="Content Placeholder 2"/>
          <p:cNvSpPr>
            <a:spLocks noGrp="1"/>
          </p:cNvSpPr>
          <p:nvPr>
            <p:ph sz="quarter" idx="17"/>
          </p:nvPr>
        </p:nvSpPr>
        <p:spPr>
          <a:xfrm>
            <a:off x="6299200" y="1752600"/>
            <a:ext cx="5486400" cy="4451350"/>
          </a:xfrm>
          <a:prstGeom prst="rect">
            <a:avLst/>
          </a:prstGeom>
        </p:spPr>
        <p:txBody>
          <a:bodyPr/>
          <a:lstStyle>
            <a:lvl1pPr marL="0" indent="0">
              <a:buNone/>
              <a:defRPr sz="2800" b="0" i="0">
                <a:latin typeface="Calibri" panose="020F0502020204030204" pitchFamily="34" charset="0"/>
                <a:ea typeface="Calibri" panose="020F0502020204030204" pitchFamily="34" charset="0"/>
                <a:cs typeface="Calibri" panose="020F0502020204030204" pitchFamily="34" charset="0"/>
              </a:defRPr>
            </a:lvl1pPr>
          </a:lstStyle>
          <a:p>
            <a:pPr lvl="0"/>
            <a:endParaRPr lang="en-US" dirty="0"/>
          </a:p>
        </p:txBody>
      </p:sp>
      <p:sp>
        <p:nvSpPr>
          <p:cNvPr id="3" name="Slide Number Placeholder "/>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p>
            <a:r>
              <a:rPr lang="en-US" dirty="0"/>
              <a:t>Copyright ©2019 John Wiley &amp; Sons, Inc.</a:t>
            </a:r>
            <a:r>
              <a:rPr lang="en-IN" dirty="0"/>
              <a:t> </a:t>
            </a:r>
            <a:endParaRPr lang="en-US" dirty="0"/>
          </a:p>
        </p:txBody>
      </p:sp>
    </p:spTree>
    <p:extLst>
      <p:ext uri="{BB962C8B-B14F-4D97-AF65-F5344CB8AC3E}">
        <p14:creationId xmlns:p14="http://schemas.microsoft.com/office/powerpoint/2010/main" val="3959888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504723"/>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08000" y="1143000"/>
            <a:ext cx="11176000" cy="48006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8535906"/>
      </p:ext>
    </p:extLst>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406400" y="762002"/>
            <a:ext cx="11379200" cy="838199"/>
          </a:xfrm>
          <a:prstGeom prst="rect">
            <a:avLst/>
          </a:prstGeom>
        </p:spPr>
        <p:txBody>
          <a:bodyPr/>
          <a:lstStyle>
            <a:lvl1pPr>
              <a:defRPr sz="4000" b="1" i="0">
                <a:solidFill>
                  <a:schemeClr val="accent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Section or Topic Heading</a:t>
            </a:r>
          </a:p>
        </p:txBody>
      </p:sp>
      <p:sp>
        <p:nvSpPr>
          <p:cNvPr id="11" name="Content Placeholder 10"/>
          <p:cNvSpPr>
            <a:spLocks noGrp="1"/>
          </p:cNvSpPr>
          <p:nvPr>
            <p:ph sz="quarter" idx="16"/>
          </p:nvPr>
        </p:nvSpPr>
        <p:spPr>
          <a:xfrm>
            <a:off x="406400" y="1752600"/>
            <a:ext cx="11379200" cy="3276600"/>
          </a:xfrm>
          <a:prstGeom prst="rect">
            <a:avLst/>
          </a:prstGeom>
        </p:spPr>
        <p:txBody>
          <a:bodyPr/>
          <a:lstStyle>
            <a:lvl1pPr marL="0" indent="0">
              <a:buNone/>
              <a:defRPr sz="2800" b="0" i="0">
                <a:latin typeface="Calibri" panose="020F0502020204030204" pitchFamily="34" charset="0"/>
                <a:ea typeface="Calibri" panose="020F0502020204030204" pitchFamily="34" charset="0"/>
                <a:cs typeface="Calibri" panose="020F0502020204030204" pitchFamily="34" charset="0"/>
              </a:defRPr>
            </a:lvl1pPr>
          </a:lstStyle>
          <a:p>
            <a:pPr lvl="0"/>
            <a:endParaRPr lang="en-US" dirty="0"/>
          </a:p>
        </p:txBody>
      </p:sp>
      <p:sp>
        <p:nvSpPr>
          <p:cNvPr id="7" name="Content"/>
          <p:cNvSpPr>
            <a:spLocks noGrp="1"/>
          </p:cNvSpPr>
          <p:nvPr>
            <p:ph sz="quarter" idx="15" hasCustomPrompt="1"/>
          </p:nvPr>
        </p:nvSpPr>
        <p:spPr>
          <a:xfrm>
            <a:off x="406400" y="5029200"/>
            <a:ext cx="11379200" cy="1143000"/>
          </a:xfrm>
          <a:prstGeom prst="rect">
            <a:avLst/>
          </a:prstGeom>
        </p:spPr>
        <p:txBody>
          <a:bodyPr/>
          <a:lstStyle>
            <a:lvl1pPr marL="0" indent="0">
              <a:spcBef>
                <a:spcPts val="1000"/>
              </a:spcBef>
              <a:buFont typeface="Arial" charset="0"/>
              <a:buNone/>
              <a:defRPr sz="20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Copyright ©2019 John Wiley &amp; Sons, Inc.</a:t>
            </a:r>
            <a:r>
              <a:rPr lang="en-IN" dirty="0"/>
              <a:t> </a:t>
            </a:r>
            <a:endParaRPr lang="en-US" dirty="0"/>
          </a:p>
        </p:txBody>
      </p:sp>
    </p:spTree>
    <p:extLst>
      <p:ext uri="{BB962C8B-B14F-4D97-AF65-F5344CB8AC3E}">
        <p14:creationId xmlns:p14="http://schemas.microsoft.com/office/powerpoint/2010/main" val="23631079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406400" y="762002"/>
            <a:ext cx="11379200" cy="838199"/>
          </a:xfrm>
          <a:prstGeom prst="rect">
            <a:avLst/>
          </a:prstGeom>
        </p:spPr>
        <p:txBody>
          <a:bodyPr/>
          <a:lstStyle>
            <a:lvl1pPr>
              <a:defRPr sz="4000" b="1" i="0">
                <a:solidFill>
                  <a:schemeClr val="accent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1.1 Periodicity Assumption</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Copyright ©2019 John Wiley &amp; Sons, Inc.</a:t>
            </a:r>
            <a:r>
              <a:rPr lang="en-IN" dirty="0"/>
              <a:t> </a:t>
            </a:r>
            <a:endParaRPr lang="en-US" dirty="0"/>
          </a:p>
        </p:txBody>
      </p:sp>
      <p:sp>
        <p:nvSpPr>
          <p:cNvPr id="7" name="Content Placeholder 6"/>
          <p:cNvSpPr>
            <a:spLocks noGrp="1"/>
          </p:cNvSpPr>
          <p:nvPr>
            <p:ph sz="quarter" idx="16" hasCustomPrompt="1"/>
          </p:nvPr>
        </p:nvSpPr>
        <p:spPr>
          <a:xfrm>
            <a:off x="406400" y="1752600"/>
            <a:ext cx="11379200" cy="4419600"/>
          </a:xfrm>
          <a:prstGeom prst="rect">
            <a:avLst/>
          </a:prstGeom>
        </p:spPr>
        <p:txBody>
          <a:bodyPr/>
          <a:lstStyle>
            <a:lvl1pPr marL="0" indent="0">
              <a:spcBef>
                <a:spcPts val="1000"/>
              </a:spcBef>
              <a:buNone/>
              <a:defRPr sz="2800" baseline="0">
                <a:latin typeface="Calibri" panose="020F0502020204030204" pitchFamily="34" charset="0"/>
                <a:ea typeface="Calibri" panose="020F0502020204030204" pitchFamily="34" charset="0"/>
                <a:cs typeface="Calibri" panose="020F0502020204030204" pitchFamily="34" charset="0"/>
              </a:defRPr>
            </a:lvl1pPr>
            <a:lvl2pPr marL="804672" indent="-448056">
              <a:spcBef>
                <a:spcPts val="1000"/>
              </a:spcBef>
              <a:buClr>
                <a:schemeClr val="accent2"/>
              </a:buClr>
              <a:buFont typeface="+mj-lt"/>
              <a:buAutoNum type="alphaLcPeriod"/>
              <a:defRPr sz="2800" baseline="0">
                <a:latin typeface="Calibri" panose="020F0502020204030204" pitchFamily="34" charset="0"/>
                <a:ea typeface="Calibri" panose="020F0502020204030204" pitchFamily="34" charset="0"/>
                <a:cs typeface="Calibri" panose="020F0502020204030204" pitchFamily="34" charset="0"/>
              </a:defRPr>
            </a:lvl2pPr>
            <a:lvl3pPr marL="914400" indent="0">
              <a:buNone/>
              <a:defRPr sz="3000">
                <a:latin typeface="STIX" charset="0"/>
                <a:ea typeface="STIX" charset="0"/>
                <a:cs typeface="STIX" charset="0"/>
              </a:defRPr>
            </a:lvl3pPr>
            <a:lvl4pPr marL="1371600" indent="0">
              <a:buNone/>
              <a:defRPr sz="3000">
                <a:latin typeface="STIX" charset="0"/>
                <a:ea typeface="STIX" charset="0"/>
                <a:cs typeface="STIX" charset="0"/>
              </a:defRPr>
            </a:lvl4pPr>
            <a:lvl5pPr marL="1828800" indent="0">
              <a:buNone/>
              <a:defRPr sz="3000">
                <a:latin typeface="STIX" charset="0"/>
                <a:ea typeface="STIX" charset="0"/>
                <a:cs typeface="STIX" charset="0"/>
              </a:defRPr>
            </a:lvl5pPr>
          </a:lstStyle>
          <a:p>
            <a:pPr lvl="0"/>
            <a:r>
              <a:rPr lang="en-US" dirty="0"/>
              <a:t>Which one of these statements about the accrual basis of accounting is false?</a:t>
            </a:r>
          </a:p>
          <a:p>
            <a:pPr lvl="1"/>
            <a:r>
              <a:rPr lang="en-US" dirty="0"/>
              <a:t>Companies record events that change their financial statements in the period in which event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p:txBody>
      </p:sp>
    </p:spTree>
    <p:extLst>
      <p:ext uri="{BB962C8B-B14F-4D97-AF65-F5344CB8AC3E}">
        <p14:creationId xmlns:p14="http://schemas.microsoft.com/office/powerpoint/2010/main" val="20302636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2"/>
            <a:ext cx="11379200" cy="838199"/>
          </a:xfrm>
          <a:prstGeom prst="rect">
            <a:avLst/>
          </a:prstGeom>
        </p:spPr>
        <p:txBody>
          <a:bodyPr/>
          <a:lstStyle>
            <a:lvl1pPr>
              <a:defRPr sz="4000" b="1" i="0">
                <a:solidFill>
                  <a:schemeClr val="accent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462080"/>
          </a:xfrm>
          <a:prstGeom prst="rect">
            <a:avLst/>
          </a:prstGeom>
        </p:spPr>
        <p:txBody>
          <a:bodyPr/>
          <a:lstStyle>
            <a:lvl1pPr marL="0" indent="0">
              <a:buNone/>
              <a:defRPr sz="2800" b="0" i="0">
                <a:latin typeface="Calibri" panose="020F0502020204030204" pitchFamily="34" charset="0"/>
                <a:ea typeface="Calibri" panose="020F0502020204030204" pitchFamily="34" charset="0"/>
                <a:cs typeface="Calibri" panose="020F0502020204030204" pitchFamily="34" charset="0"/>
              </a:defRPr>
            </a:lvl1pPr>
          </a:lstStyle>
          <a:p>
            <a:pPr lvl="0"/>
            <a:endParaRPr lang="en-US" dirty="0"/>
          </a:p>
        </p:txBody>
      </p:sp>
      <p:sp>
        <p:nvSpPr>
          <p:cNvPr id="7" name="Content Placeholder 2"/>
          <p:cNvSpPr>
            <a:spLocks noGrp="1"/>
          </p:cNvSpPr>
          <p:nvPr>
            <p:ph sz="quarter" idx="17"/>
          </p:nvPr>
        </p:nvSpPr>
        <p:spPr>
          <a:xfrm>
            <a:off x="6299200" y="1752601"/>
            <a:ext cx="5486400" cy="462080"/>
          </a:xfrm>
          <a:prstGeom prst="rect">
            <a:avLst/>
          </a:prstGeom>
        </p:spPr>
        <p:txBody>
          <a:bodyPr/>
          <a:lstStyle>
            <a:lvl1pPr marL="0" indent="0">
              <a:buNone/>
              <a:defRPr sz="2800" b="0" i="0">
                <a:latin typeface="Calibri" panose="020F0502020204030204" pitchFamily="34" charset="0"/>
                <a:ea typeface="Calibri" panose="020F0502020204030204" pitchFamily="34" charset="0"/>
                <a:cs typeface="Calibri" panose="020F0502020204030204" pitchFamily="34"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Copyright ©2019 John Wiley &amp; Sons, Inc.</a:t>
            </a:r>
            <a:r>
              <a:rPr lang="en-IN" dirty="0"/>
              <a:t> </a:t>
            </a:r>
            <a:endParaRPr lang="en-US" dirty="0"/>
          </a:p>
        </p:txBody>
      </p:sp>
      <p:sp>
        <p:nvSpPr>
          <p:cNvPr id="9" name="Content Placeholder 8"/>
          <p:cNvSpPr>
            <a:spLocks noGrp="1"/>
          </p:cNvSpPr>
          <p:nvPr>
            <p:ph sz="quarter" idx="18"/>
          </p:nvPr>
        </p:nvSpPr>
        <p:spPr>
          <a:xfrm>
            <a:off x="3048000" y="2366471"/>
            <a:ext cx="6096000" cy="531265"/>
          </a:xfrm>
          <a:prstGeom prst="rect">
            <a:avLst/>
          </a:prstGeom>
        </p:spPr>
        <p:txBody>
          <a:bodyPr/>
          <a:lstStyle>
            <a:lvl1pPr marL="0" indent="0">
              <a:buNone/>
              <a:defRPr sz="2800" b="0" i="0">
                <a:latin typeface="Calibri" panose="020F0502020204030204" pitchFamily="34" charset="0"/>
                <a:ea typeface="Calibri" panose="020F0502020204030204" pitchFamily="34" charset="0"/>
                <a:cs typeface="Calibri" panose="020F0502020204030204" pitchFamily="34" charset="0"/>
              </a:defRPr>
            </a:lvl1pPr>
          </a:lstStyle>
          <a:p>
            <a:pPr lvl="0"/>
            <a:endParaRPr lang="en-US" dirty="0"/>
          </a:p>
        </p:txBody>
      </p:sp>
      <p:sp>
        <p:nvSpPr>
          <p:cNvPr id="8" name="Content Placeholder 7"/>
          <p:cNvSpPr>
            <a:spLocks noGrp="1"/>
          </p:cNvSpPr>
          <p:nvPr>
            <p:ph sz="quarter" idx="19"/>
          </p:nvPr>
        </p:nvSpPr>
        <p:spPr>
          <a:xfrm>
            <a:off x="406400" y="3049526"/>
            <a:ext cx="11379200" cy="496613"/>
          </a:xfrm>
          <a:prstGeom prst="rect">
            <a:avLst/>
          </a:prstGeom>
        </p:spPr>
        <p:txBody>
          <a:bodyPr/>
          <a:lstStyle>
            <a:lvl1pPr marL="0" indent="0">
              <a:buNone/>
              <a:defRPr baseline="0">
                <a:latin typeface="Calibri" panose="020F0502020204030204" pitchFamily="34" charset="0"/>
              </a:defRPr>
            </a:lvl1pPr>
          </a:lstStyle>
          <a:p>
            <a:pPr lvl="0"/>
            <a:endParaRPr lang="en-US" dirty="0"/>
          </a:p>
        </p:txBody>
      </p:sp>
      <p:sp>
        <p:nvSpPr>
          <p:cNvPr id="11" name="Content Placeholder 10"/>
          <p:cNvSpPr>
            <a:spLocks noGrp="1"/>
          </p:cNvSpPr>
          <p:nvPr>
            <p:ph sz="quarter" idx="20"/>
          </p:nvPr>
        </p:nvSpPr>
        <p:spPr>
          <a:xfrm>
            <a:off x="406400" y="3656686"/>
            <a:ext cx="11379200" cy="496613"/>
          </a:xfrm>
          <a:prstGeom prst="rect">
            <a:avLst/>
          </a:prstGeom>
        </p:spPr>
        <p:txBody>
          <a:bodyPr/>
          <a:lstStyle>
            <a:lvl1pPr marL="0" indent="0">
              <a:buNone/>
              <a:defRPr baseline="0">
                <a:latin typeface="Calibri" panose="020F0502020204030204" pitchFamily="34" charset="0"/>
              </a:defRPr>
            </a:lvl1pPr>
          </a:lstStyle>
          <a:p>
            <a:pPr lvl="0"/>
            <a:endParaRPr lang="en-US" dirty="0"/>
          </a:p>
        </p:txBody>
      </p:sp>
      <p:sp>
        <p:nvSpPr>
          <p:cNvPr id="17" name="Content Placeholder 16"/>
          <p:cNvSpPr>
            <a:spLocks noGrp="1"/>
          </p:cNvSpPr>
          <p:nvPr>
            <p:ph sz="quarter" idx="21"/>
          </p:nvPr>
        </p:nvSpPr>
        <p:spPr>
          <a:xfrm>
            <a:off x="429173" y="4263845"/>
            <a:ext cx="11356427" cy="372460"/>
          </a:xfrm>
          <a:prstGeom prst="rect">
            <a:avLst/>
          </a:prstGeom>
        </p:spPr>
        <p:txBody>
          <a:bodyPr/>
          <a:lstStyle>
            <a:lvl1pPr marL="0" indent="0">
              <a:buNone/>
              <a:defRPr baseline="0">
                <a:latin typeface="Calibri" panose="020F0502020204030204" pitchFamily="34" charset="0"/>
              </a:defRPr>
            </a:lvl1pPr>
          </a:lstStyle>
          <a:p>
            <a:pPr lvl="0"/>
            <a:endParaRPr lang="en-US" dirty="0"/>
          </a:p>
        </p:txBody>
      </p:sp>
      <p:sp>
        <p:nvSpPr>
          <p:cNvPr id="10" name="Content Placeholder 9">
            <a:extLst>
              <a:ext uri="{FF2B5EF4-FFF2-40B4-BE49-F238E27FC236}">
                <a16:creationId xmlns:a16="http://schemas.microsoft.com/office/drawing/2014/main" id="{B9AC083D-26BE-400F-A0FF-3DE608682388}"/>
              </a:ext>
            </a:extLst>
          </p:cNvPr>
          <p:cNvSpPr>
            <a:spLocks noGrp="1"/>
          </p:cNvSpPr>
          <p:nvPr>
            <p:ph sz="quarter" idx="22"/>
          </p:nvPr>
        </p:nvSpPr>
        <p:spPr>
          <a:xfrm>
            <a:off x="429685" y="4719639"/>
            <a:ext cx="11332633" cy="379052"/>
          </a:xfrm>
          <a:prstGeom prst="rect">
            <a:avLst/>
          </a:prstGeom>
        </p:spPr>
        <p:txBody>
          <a:bodyPr/>
          <a:lstStyle>
            <a:lvl1pPr marL="0" indent="0">
              <a:buNone/>
              <a:defRPr baseline="0">
                <a:latin typeface="Calibri" panose="020F0502020204030204" pitchFamily="34" charset="0"/>
              </a:defRPr>
            </a:lvl1pPr>
          </a:lstStyle>
          <a:p>
            <a:pPr lvl="0"/>
            <a:endParaRPr lang="en-US" dirty="0"/>
          </a:p>
        </p:txBody>
      </p:sp>
      <p:sp>
        <p:nvSpPr>
          <p:cNvPr id="13" name="Content Placeholder 12">
            <a:extLst>
              <a:ext uri="{FF2B5EF4-FFF2-40B4-BE49-F238E27FC236}">
                <a16:creationId xmlns:a16="http://schemas.microsoft.com/office/drawing/2014/main" id="{D0FCA449-94ED-4C8F-96CE-51CBABEBFE4F}"/>
              </a:ext>
            </a:extLst>
          </p:cNvPr>
          <p:cNvSpPr>
            <a:spLocks noGrp="1"/>
          </p:cNvSpPr>
          <p:nvPr>
            <p:ph sz="quarter" idx="23"/>
          </p:nvPr>
        </p:nvSpPr>
        <p:spPr>
          <a:xfrm>
            <a:off x="429685" y="5175251"/>
            <a:ext cx="11332633" cy="302915"/>
          </a:xfrm>
          <a:prstGeom prst="rect">
            <a:avLst/>
          </a:prstGeom>
        </p:spPr>
        <p:txBody>
          <a:bodyPr/>
          <a:lstStyle>
            <a:lvl1pPr marL="0" indent="0">
              <a:buNone/>
              <a:defRPr baseline="0">
                <a:latin typeface="Calibri" panose="020F0502020204030204" pitchFamily="34" charset="0"/>
              </a:defRPr>
            </a:lvl1pPr>
          </a:lstStyle>
          <a:p>
            <a:pPr lvl="0"/>
            <a:endParaRPr lang="en-US" dirty="0"/>
          </a:p>
        </p:txBody>
      </p:sp>
      <p:sp>
        <p:nvSpPr>
          <p:cNvPr id="15" name="Content Placeholder 14">
            <a:extLst>
              <a:ext uri="{FF2B5EF4-FFF2-40B4-BE49-F238E27FC236}">
                <a16:creationId xmlns:a16="http://schemas.microsoft.com/office/drawing/2014/main" id="{C07FB03D-0173-4F23-9B38-B4E8968F4B32}"/>
              </a:ext>
            </a:extLst>
          </p:cNvPr>
          <p:cNvSpPr>
            <a:spLocks noGrp="1"/>
          </p:cNvSpPr>
          <p:nvPr>
            <p:ph sz="quarter" idx="24"/>
          </p:nvPr>
        </p:nvSpPr>
        <p:spPr>
          <a:xfrm>
            <a:off x="429685" y="5554664"/>
            <a:ext cx="11332633" cy="530225"/>
          </a:xfrm>
          <a:prstGeom prst="rect">
            <a:avLst/>
          </a:prstGeom>
        </p:spPr>
        <p:txBody>
          <a:bodyPr/>
          <a:lstStyle>
            <a:lvl1pPr marL="0" indent="0">
              <a:buNone/>
              <a:defRPr baseline="0">
                <a:latin typeface="Calibri" panose="020F0502020204030204" pitchFamily="34" charset="0"/>
              </a:defRPr>
            </a:lvl1pPr>
          </a:lstStyle>
          <a:p>
            <a:pPr lvl="0"/>
            <a:endParaRPr lang="en-US" dirty="0"/>
          </a:p>
        </p:txBody>
      </p:sp>
    </p:spTree>
    <p:extLst>
      <p:ext uri="{BB962C8B-B14F-4D97-AF65-F5344CB8AC3E}">
        <p14:creationId xmlns:p14="http://schemas.microsoft.com/office/powerpoint/2010/main" val="14966857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13" name="Google Shape;13;p2"/>
          <p:cNvSpPr/>
          <p:nvPr/>
        </p:nvSpPr>
        <p:spPr>
          <a:xfrm>
            <a:off x="277800" y="293233"/>
            <a:ext cx="11667200" cy="6234800"/>
          </a:xfrm>
          <a:prstGeom prst="rect">
            <a:avLst/>
          </a:prstGeom>
          <a:solidFill>
            <a:srgbClr val="FFFBEF"/>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Tree>
    <p:extLst>
      <p:ext uri="{BB962C8B-B14F-4D97-AF65-F5344CB8AC3E}">
        <p14:creationId xmlns:p14="http://schemas.microsoft.com/office/powerpoint/2010/main" val="3183720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6" name="Google Shape;16;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03704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0546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5" name="Google Shape;25;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456932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278373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1" name="Google Shape;31;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2" name="Google Shape;32;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514777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5" name="Google Shape;35;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904887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6"/>
        <p:cNvGrpSpPr/>
        <p:nvPr/>
      </p:nvGrpSpPr>
      <p:grpSpPr>
        <a:xfrm>
          <a:off x="0" y="0"/>
          <a:ext cx="0" cy="0"/>
          <a:chOff x="0" y="0"/>
          <a:chExt cx="0" cy="0"/>
        </a:xfrm>
      </p:grpSpPr>
      <p:sp>
        <p:nvSpPr>
          <p:cNvPr id="37" name="Google Shape;37;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9" name="Google Shape;39;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0" name="Google Shape;40;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1" name="Google Shape;41;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046530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310024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7" name="Google Shape;47;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8" name="Google Shape;48;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851413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02954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tif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7850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7"/>
            <a:ext cx="10515600" cy="3957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99271-A573-1E42-984E-4EB780E50D50}" type="datetimeFigureOut">
              <a:rPr lang="en-US" smtClean="0"/>
              <a:t>9/7/2025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8" name="Slide Number Placeholder 8"/>
          <p:cNvSpPr>
            <a:spLocks noGrp="1"/>
          </p:cNvSpPr>
          <p:nvPr>
            <p:ph type="sldNum" sz="quarter" idx="4"/>
          </p:nvPr>
        </p:nvSpPr>
        <p:spPr>
          <a:xfrm>
            <a:off x="8610600" y="6356352"/>
            <a:ext cx="817605" cy="365125"/>
          </a:xfrm>
          <a:prstGeom prst="rect">
            <a:avLst/>
          </a:prstGeom>
        </p:spPr>
        <p:txBody>
          <a:bodyPr/>
          <a:lstStyle/>
          <a:p>
            <a:fld id="{DD321DBF-325B-3546-BAAF-4F6E3B3181FF}" type="slidenum">
              <a:rPr lang="en-US" smtClean="0"/>
              <a:t>‹#›</a:t>
            </a:fld>
            <a:endParaRPr lang="en-US"/>
          </a:p>
        </p:txBody>
      </p:sp>
      <p:pic>
        <p:nvPicPr>
          <p:cNvPr id="10" name="Picture 9">
            <a:extLst>
              <a:ext uri="{FF2B5EF4-FFF2-40B4-BE49-F238E27FC236}">
                <a16:creationId xmlns:a16="http://schemas.microsoft.com/office/drawing/2014/main" id="{DDE8B790-23B5-4C60-94C1-802463953420}"/>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9968482" y="140401"/>
            <a:ext cx="2068409" cy="434769"/>
          </a:xfrm>
          <a:prstGeom prst="rect">
            <a:avLst/>
          </a:prstGeom>
        </p:spPr>
      </p:pic>
    </p:spTree>
    <p:extLst>
      <p:ext uri="{BB962C8B-B14F-4D97-AF65-F5344CB8AC3E}">
        <p14:creationId xmlns:p14="http://schemas.microsoft.com/office/powerpoint/2010/main" val="17052159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4" r:id="rId12"/>
    <p:sldLayoutId id="2147483675" r:id="rId13"/>
    <p:sldLayoutId id="2147483676" r:id="rId14"/>
    <p:sldLayoutId id="2147483677" r:id="rId15"/>
    <p:sldLayoutId id="2147483678" r:id="rId16"/>
    <p:sldLayoutId id="2147483679" r:id="rId17"/>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993333">
            <a:alpha val="71070"/>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9091853"/>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3.xml"/><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18.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s>
</file>

<file path=ppt/slides/_rels/slide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864091" cy="6530027"/>
          </a:xfrm>
          <a:prstGeom prst="rect">
            <a:avLst/>
          </a:prstGeom>
        </p:spPr>
      </p:pic>
      <p:sp>
        <p:nvSpPr>
          <p:cNvPr id="5" name="Rectangle 3"/>
          <p:cNvSpPr>
            <a:spLocks noChangeArrowheads="1"/>
          </p:cNvSpPr>
          <p:nvPr/>
        </p:nvSpPr>
        <p:spPr bwMode="auto">
          <a:xfrm>
            <a:off x="-2" y="5303520"/>
            <a:ext cx="9864091" cy="1554480"/>
          </a:xfrm>
          <a:prstGeom prst="rect">
            <a:avLst/>
          </a:prstGeom>
          <a:solidFill>
            <a:schemeClr val="accent6">
              <a:lumMod val="50000"/>
            </a:schemeClr>
          </a:solidFill>
          <a:ln w="9525">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1" i="1" u="none" strike="noStrike" kern="1200" cap="none" spc="0" normalizeH="0" baseline="0" noProof="0" dirty="0">
                <a:ln>
                  <a:noFill/>
                </a:ln>
                <a:solidFill>
                  <a:prstClr val="white"/>
                </a:solidFill>
                <a:effectLst/>
                <a:uLnTx/>
                <a:uFillTx/>
                <a:latin typeface="Arial" panose="020B0604020202020204"/>
                <a:ea typeface="+mn-ea"/>
                <a:cs typeface="+mn-cs"/>
              </a:rPr>
              <a:t>Balance Sheet  - Class</a:t>
            </a:r>
          </a:p>
        </p:txBody>
      </p:sp>
    </p:spTree>
    <p:extLst>
      <p:ext uri="{BB962C8B-B14F-4D97-AF65-F5344CB8AC3E}">
        <p14:creationId xmlns:p14="http://schemas.microsoft.com/office/powerpoint/2010/main" val="3928105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0242F"/>
        </a:solidFill>
        <a:effectLst/>
      </p:bgPr>
    </p:bg>
    <p:spTree>
      <p:nvGrpSpPr>
        <p:cNvPr id="1" name="Shape 93"/>
        <p:cNvGrpSpPr/>
        <p:nvPr/>
      </p:nvGrpSpPr>
      <p:grpSpPr>
        <a:xfrm>
          <a:off x="0" y="0"/>
          <a:ext cx="0" cy="0"/>
          <a:chOff x="0" y="0"/>
          <a:chExt cx="0" cy="0"/>
        </a:xfrm>
      </p:grpSpPr>
      <p:sp>
        <p:nvSpPr>
          <p:cNvPr id="94" name="Google Shape;94;p15"/>
          <p:cNvSpPr txBox="1">
            <a:spLocks noGrp="1"/>
          </p:cNvSpPr>
          <p:nvPr>
            <p:ph type="ctrTitle"/>
          </p:nvPr>
        </p:nvSpPr>
        <p:spPr>
          <a:xfrm>
            <a:off x="308933" y="417367"/>
            <a:ext cx="11294000" cy="1365600"/>
          </a:xfrm>
          <a:prstGeom prst="rect">
            <a:avLst/>
          </a:prstGeom>
        </p:spPr>
        <p:txBody>
          <a:bodyPr spcFirstLastPara="1" wrap="square" lIns="121900" tIns="121900" rIns="121900" bIns="121900" anchor="b" anchorCtr="0">
            <a:normAutofit/>
          </a:bodyPr>
          <a:lstStyle/>
          <a:p>
            <a:r>
              <a:rPr lang="en" b="1" dirty="0">
                <a:latin typeface="Georgia"/>
                <a:ea typeface="Georgia"/>
                <a:cs typeface="Georgia"/>
                <a:sym typeface="Georgia"/>
              </a:rPr>
              <a:t>BAP: Upcoming Events</a:t>
            </a:r>
            <a:endParaRPr b="1" dirty="0">
              <a:latin typeface="Georgia"/>
              <a:ea typeface="Georgia"/>
              <a:cs typeface="Georgia"/>
              <a:sym typeface="Georgia"/>
            </a:endParaRPr>
          </a:p>
        </p:txBody>
      </p:sp>
      <p:graphicFrame>
        <p:nvGraphicFramePr>
          <p:cNvPr id="95" name="Google Shape;95;p15"/>
          <p:cNvGraphicFramePr/>
          <p:nvPr>
            <p:extLst>
              <p:ext uri="{D42A27DB-BD31-4B8C-83A1-F6EECF244321}">
                <p14:modId xmlns:p14="http://schemas.microsoft.com/office/powerpoint/2010/main" val="2901675270"/>
              </p:ext>
            </p:extLst>
          </p:nvPr>
        </p:nvGraphicFramePr>
        <p:xfrm>
          <a:off x="661067" y="1803400"/>
          <a:ext cx="10941867" cy="1782960"/>
        </p:xfrm>
        <a:graphic>
          <a:graphicData uri="http://schemas.openxmlformats.org/drawingml/2006/table">
            <a:tbl>
              <a:tblPr>
                <a:noFill/>
              </a:tblPr>
              <a:tblGrid>
                <a:gridCol w="1201700">
                  <a:extLst>
                    <a:ext uri="{9D8B030D-6E8A-4147-A177-3AD203B41FA5}">
                      <a16:colId xmlns:a16="http://schemas.microsoft.com/office/drawing/2014/main" val="20000"/>
                    </a:ext>
                  </a:extLst>
                </a:gridCol>
                <a:gridCol w="1632600">
                  <a:extLst>
                    <a:ext uri="{9D8B030D-6E8A-4147-A177-3AD203B41FA5}">
                      <a16:colId xmlns:a16="http://schemas.microsoft.com/office/drawing/2014/main" val="20001"/>
                    </a:ext>
                  </a:extLst>
                </a:gridCol>
                <a:gridCol w="6073636">
                  <a:extLst>
                    <a:ext uri="{9D8B030D-6E8A-4147-A177-3AD203B41FA5}">
                      <a16:colId xmlns:a16="http://schemas.microsoft.com/office/drawing/2014/main" val="20002"/>
                    </a:ext>
                  </a:extLst>
                </a:gridCol>
                <a:gridCol w="2033931">
                  <a:extLst>
                    <a:ext uri="{9D8B030D-6E8A-4147-A177-3AD203B41FA5}">
                      <a16:colId xmlns:a16="http://schemas.microsoft.com/office/drawing/2014/main" val="20003"/>
                    </a:ext>
                  </a:extLst>
                </a:gridCol>
              </a:tblGrid>
              <a:tr h="589240">
                <a:tc>
                  <a:txBody>
                    <a:bodyPr/>
                    <a:lstStyle/>
                    <a:p>
                      <a:pPr marL="0" lvl="0" indent="0" algn="l" rtl="0">
                        <a:spcBef>
                          <a:spcPts val="0"/>
                        </a:spcBef>
                        <a:spcAft>
                          <a:spcPts val="0"/>
                        </a:spcAft>
                        <a:buNone/>
                      </a:pPr>
                      <a:r>
                        <a:rPr lang="en" sz="2300" b="1">
                          <a:latin typeface="Georgia"/>
                          <a:ea typeface="Georgia"/>
                          <a:cs typeface="Georgia"/>
                          <a:sym typeface="Georgia"/>
                        </a:rPr>
                        <a:t>Date</a:t>
                      </a:r>
                      <a:endParaRPr sz="2300" b="1">
                        <a:latin typeface="Georgia"/>
                        <a:ea typeface="Georgia"/>
                        <a:cs typeface="Georgia"/>
                        <a:sym typeface="Georgia"/>
                      </a:endParaRPr>
                    </a:p>
                  </a:txBody>
                  <a:tcPr marL="121900" marR="121900" marT="121900" marB="121900"/>
                </a:tc>
                <a:tc>
                  <a:txBody>
                    <a:bodyPr/>
                    <a:lstStyle/>
                    <a:p>
                      <a:pPr marL="0" lvl="0" indent="0" algn="l" rtl="0">
                        <a:spcBef>
                          <a:spcPts val="0"/>
                        </a:spcBef>
                        <a:spcAft>
                          <a:spcPts val="0"/>
                        </a:spcAft>
                        <a:buNone/>
                      </a:pPr>
                      <a:r>
                        <a:rPr lang="en" sz="2300" b="1">
                          <a:latin typeface="Georgia"/>
                          <a:ea typeface="Georgia"/>
                          <a:cs typeface="Georgia"/>
                          <a:sym typeface="Georgia"/>
                        </a:rPr>
                        <a:t>Time</a:t>
                      </a:r>
                      <a:endParaRPr sz="2300" b="1">
                        <a:latin typeface="Georgia"/>
                        <a:ea typeface="Georgia"/>
                        <a:cs typeface="Georgia"/>
                        <a:sym typeface="Georgia"/>
                      </a:endParaRPr>
                    </a:p>
                  </a:txBody>
                  <a:tcPr marL="121900" marR="121900" marT="121900" marB="121900"/>
                </a:tc>
                <a:tc>
                  <a:txBody>
                    <a:bodyPr/>
                    <a:lstStyle/>
                    <a:p>
                      <a:pPr marL="0" lvl="0" indent="0" algn="l" rtl="0">
                        <a:spcBef>
                          <a:spcPts val="0"/>
                        </a:spcBef>
                        <a:spcAft>
                          <a:spcPts val="0"/>
                        </a:spcAft>
                        <a:buNone/>
                      </a:pPr>
                      <a:r>
                        <a:rPr lang="en" sz="2300" b="1">
                          <a:latin typeface="Georgia"/>
                          <a:ea typeface="Georgia"/>
                          <a:cs typeface="Georgia"/>
                          <a:sym typeface="Georgia"/>
                        </a:rPr>
                        <a:t>Event</a:t>
                      </a:r>
                      <a:endParaRPr sz="2300" b="1">
                        <a:latin typeface="Georgia"/>
                        <a:ea typeface="Georgia"/>
                        <a:cs typeface="Georgia"/>
                        <a:sym typeface="Georgia"/>
                      </a:endParaRPr>
                    </a:p>
                  </a:txBody>
                  <a:tcPr marL="121900" marR="121900" marT="121900" marB="121900"/>
                </a:tc>
                <a:tc>
                  <a:txBody>
                    <a:bodyPr/>
                    <a:lstStyle/>
                    <a:p>
                      <a:pPr marL="0" lvl="0" indent="0" algn="l" rtl="0">
                        <a:spcBef>
                          <a:spcPts val="0"/>
                        </a:spcBef>
                        <a:spcAft>
                          <a:spcPts val="0"/>
                        </a:spcAft>
                        <a:buNone/>
                      </a:pPr>
                      <a:r>
                        <a:rPr lang="en" sz="2300" b="1">
                          <a:latin typeface="Georgia"/>
                          <a:ea typeface="Georgia"/>
                          <a:cs typeface="Georgia"/>
                          <a:sym typeface="Georgia"/>
                        </a:rPr>
                        <a:t>Room</a:t>
                      </a:r>
                      <a:endParaRPr sz="2300" b="1">
                        <a:latin typeface="Georgia"/>
                        <a:ea typeface="Georgia"/>
                        <a:cs typeface="Georgia"/>
                        <a:sym typeface="Georgia"/>
                      </a:endParaRPr>
                    </a:p>
                  </a:txBody>
                  <a:tcPr marL="121900" marR="121900" marT="121900" marB="121900"/>
                </a:tc>
                <a:extLst>
                  <a:ext uri="{0D108BD9-81ED-4DB2-BD59-A6C34878D82A}">
                    <a16:rowId xmlns:a16="http://schemas.microsoft.com/office/drawing/2014/main" val="10000"/>
                  </a:ext>
                </a:extLst>
              </a:tr>
              <a:tr h="589240">
                <a:tc>
                  <a:txBody>
                    <a:bodyPr/>
                    <a:lstStyle/>
                    <a:p>
                      <a:pPr marL="0" lvl="0" indent="0" algn="l" rtl="0">
                        <a:spcBef>
                          <a:spcPts val="0"/>
                        </a:spcBef>
                        <a:spcAft>
                          <a:spcPts val="0"/>
                        </a:spcAft>
                        <a:buNone/>
                      </a:pPr>
                      <a:r>
                        <a:rPr lang="en" sz="2300">
                          <a:latin typeface="Georgia"/>
                          <a:ea typeface="Georgia"/>
                          <a:cs typeface="Georgia"/>
                          <a:sym typeface="Georgia"/>
                        </a:rPr>
                        <a:t>9/9</a:t>
                      </a:r>
                      <a:endParaRPr sz="2300">
                        <a:latin typeface="Georgia"/>
                        <a:ea typeface="Georgia"/>
                        <a:cs typeface="Georgia"/>
                        <a:sym typeface="Georgia"/>
                      </a:endParaRPr>
                    </a:p>
                  </a:txBody>
                  <a:tcPr marL="121900" marR="121900" marT="121900" marB="121900"/>
                </a:tc>
                <a:tc>
                  <a:txBody>
                    <a:bodyPr/>
                    <a:lstStyle/>
                    <a:p>
                      <a:pPr marL="0" lvl="0" indent="0" algn="l" rtl="0">
                        <a:spcBef>
                          <a:spcPts val="0"/>
                        </a:spcBef>
                        <a:spcAft>
                          <a:spcPts val="0"/>
                        </a:spcAft>
                        <a:buNone/>
                      </a:pPr>
                      <a:r>
                        <a:rPr lang="en" sz="2300">
                          <a:latin typeface="Georgia"/>
                          <a:ea typeface="Georgia"/>
                          <a:cs typeface="Georgia"/>
                          <a:sym typeface="Georgia"/>
                        </a:rPr>
                        <a:t>5:45-7:45</a:t>
                      </a:r>
                      <a:endParaRPr sz="2300">
                        <a:latin typeface="Georgia"/>
                        <a:ea typeface="Georgia"/>
                        <a:cs typeface="Georgia"/>
                        <a:sym typeface="Georgia"/>
                      </a:endParaRPr>
                    </a:p>
                  </a:txBody>
                  <a:tcPr marL="121900" marR="121900" marT="121900" marB="121900"/>
                </a:tc>
                <a:tc>
                  <a:txBody>
                    <a:bodyPr/>
                    <a:lstStyle/>
                    <a:p>
                      <a:pPr marL="0" lvl="0" indent="0" algn="l" rtl="0">
                        <a:spcBef>
                          <a:spcPts val="0"/>
                        </a:spcBef>
                        <a:spcAft>
                          <a:spcPts val="0"/>
                        </a:spcAft>
                        <a:buNone/>
                      </a:pPr>
                      <a:r>
                        <a:rPr lang="en" sz="2300">
                          <a:latin typeface="Georgia"/>
                          <a:ea typeface="Georgia"/>
                          <a:cs typeface="Georgia"/>
                          <a:sym typeface="Georgia"/>
                        </a:rPr>
                        <a:t>Meet the Firms</a:t>
                      </a:r>
                      <a:endParaRPr sz="2300">
                        <a:latin typeface="Georgia"/>
                        <a:ea typeface="Georgia"/>
                        <a:cs typeface="Georgia"/>
                        <a:sym typeface="Georgia"/>
                      </a:endParaRPr>
                    </a:p>
                  </a:txBody>
                  <a:tcPr marL="121900" marR="121900" marT="121900" marB="121900"/>
                </a:tc>
                <a:tc>
                  <a:txBody>
                    <a:bodyPr/>
                    <a:lstStyle/>
                    <a:p>
                      <a:pPr marL="0" lvl="0" indent="0" algn="l" rtl="0">
                        <a:spcBef>
                          <a:spcPts val="0"/>
                        </a:spcBef>
                        <a:spcAft>
                          <a:spcPts val="0"/>
                        </a:spcAft>
                        <a:buNone/>
                      </a:pPr>
                      <a:r>
                        <a:rPr lang="en" sz="2300" dirty="0">
                          <a:latin typeface="Georgia"/>
                          <a:ea typeface="Georgia"/>
                          <a:cs typeface="Georgia"/>
                          <a:sym typeface="Georgia"/>
                        </a:rPr>
                        <a:t>UMC</a:t>
                      </a:r>
                      <a:endParaRPr sz="2300" dirty="0">
                        <a:latin typeface="Georgia"/>
                        <a:ea typeface="Georgia"/>
                        <a:cs typeface="Georgia"/>
                        <a:sym typeface="Georgia"/>
                      </a:endParaRPr>
                    </a:p>
                  </a:txBody>
                  <a:tcPr marL="121900" marR="121900" marT="121900" marB="121900"/>
                </a:tc>
                <a:extLst>
                  <a:ext uri="{0D108BD9-81ED-4DB2-BD59-A6C34878D82A}">
                    <a16:rowId xmlns:a16="http://schemas.microsoft.com/office/drawing/2014/main" val="10003"/>
                  </a:ext>
                </a:extLst>
              </a:tr>
              <a:tr h="589240">
                <a:tc>
                  <a:txBody>
                    <a:bodyPr/>
                    <a:lstStyle/>
                    <a:p>
                      <a:pPr marL="0" lvl="0" indent="0" algn="l" rtl="0">
                        <a:spcBef>
                          <a:spcPts val="0"/>
                        </a:spcBef>
                        <a:spcAft>
                          <a:spcPts val="0"/>
                        </a:spcAft>
                        <a:buNone/>
                      </a:pPr>
                      <a:r>
                        <a:rPr lang="en" sz="2300">
                          <a:latin typeface="Georgia"/>
                          <a:ea typeface="Georgia"/>
                          <a:cs typeface="Georgia"/>
                          <a:sym typeface="Georgia"/>
                        </a:rPr>
                        <a:t>9/11</a:t>
                      </a:r>
                      <a:endParaRPr sz="2300">
                        <a:latin typeface="Georgia"/>
                        <a:ea typeface="Georgia"/>
                        <a:cs typeface="Georgia"/>
                        <a:sym typeface="Georgia"/>
                      </a:endParaRPr>
                    </a:p>
                  </a:txBody>
                  <a:tcPr marL="121900" marR="121900" marT="121900" marB="121900"/>
                </a:tc>
                <a:tc>
                  <a:txBody>
                    <a:bodyPr/>
                    <a:lstStyle/>
                    <a:p>
                      <a:pPr marL="0" lvl="0" indent="0" algn="l" rtl="0">
                        <a:spcBef>
                          <a:spcPts val="0"/>
                        </a:spcBef>
                        <a:spcAft>
                          <a:spcPts val="0"/>
                        </a:spcAft>
                        <a:buNone/>
                      </a:pPr>
                      <a:r>
                        <a:rPr lang="en" sz="2300">
                          <a:latin typeface="Georgia"/>
                          <a:ea typeface="Georgia"/>
                          <a:cs typeface="Georgia"/>
                          <a:sym typeface="Georgia"/>
                        </a:rPr>
                        <a:t>6:30-7:30</a:t>
                      </a:r>
                      <a:endParaRPr sz="2300">
                        <a:latin typeface="Georgia"/>
                        <a:ea typeface="Georgia"/>
                        <a:cs typeface="Georgia"/>
                        <a:sym typeface="Georgia"/>
                      </a:endParaRPr>
                    </a:p>
                  </a:txBody>
                  <a:tcPr marL="121900" marR="121900" marT="121900" marB="121900"/>
                </a:tc>
                <a:tc>
                  <a:txBody>
                    <a:bodyPr/>
                    <a:lstStyle/>
                    <a:p>
                      <a:pPr marL="0" lvl="0" indent="0" algn="l" rtl="0">
                        <a:spcBef>
                          <a:spcPts val="0"/>
                        </a:spcBef>
                        <a:spcAft>
                          <a:spcPts val="0"/>
                        </a:spcAft>
                        <a:buNone/>
                      </a:pPr>
                      <a:r>
                        <a:rPr lang="en" sz="2300" dirty="0">
                          <a:latin typeface="Georgia"/>
                          <a:ea typeface="Georgia"/>
                          <a:cs typeface="Georgia"/>
                          <a:sym typeface="Georgia"/>
                        </a:rPr>
                        <a:t>KPMG &amp; Deloitte</a:t>
                      </a:r>
                      <a:endParaRPr sz="2300" dirty="0">
                        <a:latin typeface="Georgia"/>
                        <a:ea typeface="Georgia"/>
                        <a:cs typeface="Georgia"/>
                        <a:sym typeface="Georgia"/>
                      </a:endParaRPr>
                    </a:p>
                  </a:txBody>
                  <a:tcPr marL="121900" marR="121900" marT="121900" marB="121900"/>
                </a:tc>
                <a:tc>
                  <a:txBody>
                    <a:bodyPr/>
                    <a:lstStyle/>
                    <a:p>
                      <a:pPr marL="0" lvl="0" indent="0" algn="l" rtl="0">
                        <a:spcBef>
                          <a:spcPts val="0"/>
                        </a:spcBef>
                        <a:spcAft>
                          <a:spcPts val="0"/>
                        </a:spcAft>
                        <a:buNone/>
                      </a:pPr>
                      <a:r>
                        <a:rPr lang="en" sz="2300" dirty="0">
                          <a:latin typeface="Georgia"/>
                          <a:ea typeface="Georgia"/>
                          <a:cs typeface="Georgia"/>
                          <a:sym typeface="Georgia"/>
                        </a:rPr>
                        <a:t>KOBL 100</a:t>
                      </a:r>
                      <a:endParaRPr sz="2300" dirty="0">
                        <a:latin typeface="Georgia"/>
                        <a:ea typeface="Georgia"/>
                        <a:cs typeface="Georgia"/>
                        <a:sym typeface="Georgia"/>
                      </a:endParaRPr>
                    </a:p>
                  </a:txBody>
                  <a:tcPr marL="121900" marR="121900" marT="121900" marB="121900"/>
                </a:tc>
                <a:extLst>
                  <a:ext uri="{0D108BD9-81ED-4DB2-BD59-A6C34878D82A}">
                    <a16:rowId xmlns:a16="http://schemas.microsoft.com/office/drawing/2014/main" val="10004"/>
                  </a:ext>
                </a:extLst>
              </a:tr>
            </a:tbl>
          </a:graphicData>
        </a:graphic>
      </p:graphicFrame>
      <p:sp>
        <p:nvSpPr>
          <p:cNvPr id="96" name="Google Shape;96;p15"/>
          <p:cNvSpPr/>
          <p:nvPr/>
        </p:nvSpPr>
        <p:spPr>
          <a:xfrm>
            <a:off x="6392212" y="4457103"/>
            <a:ext cx="2014000" cy="121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2133" b="0" i="0" u="none" strike="noStrike" kern="0" cap="none" spc="0" normalizeH="0" baseline="0" noProof="0" dirty="0">
                <a:ln>
                  <a:noFill/>
                </a:ln>
                <a:solidFill>
                  <a:srgbClr val="000000"/>
                </a:solidFill>
                <a:effectLst/>
                <a:uLnTx/>
                <a:uFillTx/>
                <a:latin typeface="Georgia"/>
                <a:ea typeface="Georgia"/>
                <a:cs typeface="Georgia"/>
                <a:sym typeface="Georgia"/>
              </a:rPr>
              <a:t>← </a:t>
            </a:r>
            <a:endParaRPr kumimoji="0" sz="2133" b="0" i="0" u="none" strike="noStrike" kern="0" cap="none" spc="0" normalizeH="0" baseline="0" noProof="0" dirty="0">
              <a:ln>
                <a:noFill/>
              </a:ln>
              <a:solidFill>
                <a:srgbClr val="000000"/>
              </a:solidFill>
              <a:effectLst/>
              <a:uLnTx/>
              <a:uFillTx/>
              <a:latin typeface="Georgia"/>
              <a:ea typeface="Georgia"/>
              <a:cs typeface="Georgia"/>
              <a:sym typeface="Georgia"/>
            </a:endParaRPr>
          </a:p>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2133" b="0" i="0" u="none" strike="noStrike" kern="0" cap="none" spc="0" normalizeH="0" baseline="0" noProof="0" dirty="0">
                <a:ln>
                  <a:noFill/>
                </a:ln>
                <a:solidFill>
                  <a:srgbClr val="000000"/>
                </a:solidFill>
                <a:effectLst/>
                <a:uLnTx/>
                <a:uFillTx/>
                <a:latin typeface="Georgia"/>
                <a:ea typeface="Georgia"/>
                <a:cs typeface="Georgia"/>
                <a:sym typeface="Georgia"/>
              </a:rPr>
              <a:t>BAP Application</a:t>
            </a:r>
            <a:endParaRPr kumimoji="0" sz="2133" b="0" i="0" u="none" strike="noStrike" kern="0" cap="none" spc="0" normalizeH="0" baseline="0" noProof="0" dirty="0">
              <a:ln>
                <a:noFill/>
              </a:ln>
              <a:solidFill>
                <a:srgbClr val="000000"/>
              </a:solidFill>
              <a:effectLst/>
              <a:uLnTx/>
              <a:uFillTx/>
              <a:latin typeface="Georgia"/>
              <a:ea typeface="Georgia"/>
              <a:cs typeface="Georgia"/>
              <a:sym typeface="Georgia"/>
            </a:endParaRPr>
          </a:p>
        </p:txBody>
      </p:sp>
      <p:pic>
        <p:nvPicPr>
          <p:cNvPr id="99" name="Google Shape;99;p15"/>
          <p:cNvPicPr preferRelativeResize="0"/>
          <p:nvPr/>
        </p:nvPicPr>
        <p:blipFill>
          <a:blip r:embed="rId3">
            <a:alphaModFix/>
          </a:blip>
          <a:stretch>
            <a:fillRect/>
          </a:stretch>
        </p:blipFill>
        <p:spPr>
          <a:xfrm>
            <a:off x="3457975" y="4178366"/>
            <a:ext cx="2193703" cy="19394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500"/>
                                        <p:tgtEl>
                                          <p:spTgt spid="9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6"/>
                                        </p:tgtEl>
                                        <p:attrNameLst>
                                          <p:attrName>style.visibility</p:attrName>
                                        </p:attrNameLst>
                                      </p:cBhvr>
                                      <p:to>
                                        <p:strVal val="visible"/>
                                      </p:to>
                                    </p:set>
                                    <p:animEffect transition="in" filter="fade">
                                      <p:cBhvr>
                                        <p:cTn id="10"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0242F"/>
        </a:solidFill>
        <a:effectLst/>
      </p:bgPr>
    </p:bg>
    <p:spTree>
      <p:nvGrpSpPr>
        <p:cNvPr id="1" name="Shape 64"/>
        <p:cNvGrpSpPr/>
        <p:nvPr/>
      </p:nvGrpSpPr>
      <p:grpSpPr>
        <a:xfrm>
          <a:off x="0" y="0"/>
          <a:ext cx="0" cy="0"/>
          <a:chOff x="0" y="0"/>
          <a:chExt cx="0" cy="0"/>
        </a:xfrm>
      </p:grpSpPr>
      <p:sp>
        <p:nvSpPr>
          <p:cNvPr id="65" name="Google Shape;65;p14"/>
          <p:cNvSpPr txBox="1">
            <a:spLocks noGrp="1"/>
          </p:cNvSpPr>
          <p:nvPr>
            <p:ph type="ctrTitle"/>
          </p:nvPr>
        </p:nvSpPr>
        <p:spPr>
          <a:xfrm>
            <a:off x="308933" y="417367"/>
            <a:ext cx="11294000" cy="1365600"/>
          </a:xfrm>
          <a:prstGeom prst="rect">
            <a:avLst/>
          </a:prstGeom>
        </p:spPr>
        <p:txBody>
          <a:bodyPr spcFirstLastPara="1" wrap="square" lIns="121900" tIns="121900" rIns="121900" bIns="121900" anchor="b" anchorCtr="0">
            <a:noAutofit/>
          </a:bodyPr>
          <a:lstStyle/>
          <a:p>
            <a:r>
              <a:rPr lang="en" sz="7600" b="1">
                <a:latin typeface="Georgia"/>
                <a:ea typeface="Georgia"/>
                <a:cs typeface="Georgia"/>
                <a:sym typeface="Georgia"/>
              </a:rPr>
              <a:t>Meet the Firms</a:t>
            </a:r>
            <a:endParaRPr sz="7600" b="1">
              <a:latin typeface="Georgia"/>
              <a:ea typeface="Georgia"/>
              <a:cs typeface="Georgia"/>
              <a:sym typeface="Georgia"/>
            </a:endParaRPr>
          </a:p>
        </p:txBody>
      </p:sp>
      <p:pic>
        <p:nvPicPr>
          <p:cNvPr id="66" name="Google Shape;66;p14"/>
          <p:cNvPicPr preferRelativeResize="0"/>
          <p:nvPr/>
        </p:nvPicPr>
        <p:blipFill>
          <a:blip r:embed="rId3">
            <a:alphaModFix/>
          </a:blip>
          <a:stretch>
            <a:fillRect/>
          </a:stretch>
        </p:blipFill>
        <p:spPr>
          <a:xfrm>
            <a:off x="623800" y="1768800"/>
            <a:ext cx="2200933" cy="1100467"/>
          </a:xfrm>
          <a:prstGeom prst="rect">
            <a:avLst/>
          </a:prstGeom>
          <a:solidFill>
            <a:srgbClr val="FFFBEF"/>
          </a:solidFill>
          <a:ln>
            <a:noFill/>
          </a:ln>
        </p:spPr>
      </p:pic>
      <p:pic>
        <p:nvPicPr>
          <p:cNvPr id="67" name="Google Shape;67;p14"/>
          <p:cNvPicPr preferRelativeResize="0"/>
          <p:nvPr/>
        </p:nvPicPr>
        <p:blipFill>
          <a:blip r:embed="rId4">
            <a:alphaModFix/>
          </a:blip>
          <a:stretch>
            <a:fillRect/>
          </a:stretch>
        </p:blipFill>
        <p:spPr>
          <a:xfrm>
            <a:off x="7048867" y="1534633"/>
            <a:ext cx="1352387" cy="1365600"/>
          </a:xfrm>
          <a:prstGeom prst="rect">
            <a:avLst/>
          </a:prstGeom>
          <a:solidFill>
            <a:srgbClr val="FFFBEF"/>
          </a:solidFill>
          <a:ln>
            <a:noFill/>
          </a:ln>
        </p:spPr>
      </p:pic>
      <p:pic>
        <p:nvPicPr>
          <p:cNvPr id="68" name="Google Shape;68;p14"/>
          <p:cNvPicPr preferRelativeResize="0"/>
          <p:nvPr/>
        </p:nvPicPr>
        <p:blipFill>
          <a:blip r:embed="rId5">
            <a:alphaModFix/>
          </a:blip>
          <a:stretch>
            <a:fillRect/>
          </a:stretch>
        </p:blipFill>
        <p:spPr>
          <a:xfrm>
            <a:off x="3057200" y="1916785"/>
            <a:ext cx="3759200" cy="1007700"/>
          </a:xfrm>
          <a:prstGeom prst="rect">
            <a:avLst/>
          </a:prstGeom>
          <a:noFill/>
          <a:ln>
            <a:noFill/>
          </a:ln>
        </p:spPr>
      </p:pic>
      <p:pic>
        <p:nvPicPr>
          <p:cNvPr id="69" name="Google Shape;69;p14"/>
          <p:cNvPicPr preferRelativeResize="0"/>
          <p:nvPr/>
        </p:nvPicPr>
        <p:blipFill>
          <a:blip r:embed="rId6">
            <a:alphaModFix/>
          </a:blip>
          <a:stretch>
            <a:fillRect/>
          </a:stretch>
        </p:blipFill>
        <p:spPr>
          <a:xfrm>
            <a:off x="8756434" y="1726753"/>
            <a:ext cx="2961495" cy="1184567"/>
          </a:xfrm>
          <a:prstGeom prst="rect">
            <a:avLst/>
          </a:prstGeom>
          <a:solidFill>
            <a:srgbClr val="FFFBEF"/>
          </a:solidFill>
          <a:ln>
            <a:noFill/>
          </a:ln>
        </p:spPr>
      </p:pic>
      <p:pic>
        <p:nvPicPr>
          <p:cNvPr id="70" name="Google Shape;70;p14"/>
          <p:cNvPicPr preferRelativeResize="0"/>
          <p:nvPr/>
        </p:nvPicPr>
        <p:blipFill>
          <a:blip r:embed="rId7">
            <a:alphaModFix/>
          </a:blip>
          <a:stretch>
            <a:fillRect/>
          </a:stretch>
        </p:blipFill>
        <p:spPr>
          <a:xfrm>
            <a:off x="601367" y="2956701"/>
            <a:ext cx="2774767" cy="462000"/>
          </a:xfrm>
          <a:prstGeom prst="rect">
            <a:avLst/>
          </a:prstGeom>
          <a:noFill/>
          <a:ln>
            <a:noFill/>
          </a:ln>
        </p:spPr>
      </p:pic>
      <p:pic>
        <p:nvPicPr>
          <p:cNvPr id="71" name="Google Shape;71;p14"/>
          <p:cNvPicPr preferRelativeResize="0"/>
          <p:nvPr/>
        </p:nvPicPr>
        <p:blipFill>
          <a:blip r:embed="rId8">
            <a:alphaModFix/>
          </a:blip>
          <a:stretch>
            <a:fillRect/>
          </a:stretch>
        </p:blipFill>
        <p:spPr>
          <a:xfrm>
            <a:off x="1257634" y="3660379"/>
            <a:ext cx="1967468" cy="516455"/>
          </a:xfrm>
          <a:prstGeom prst="rect">
            <a:avLst/>
          </a:prstGeom>
          <a:noFill/>
          <a:ln>
            <a:noFill/>
          </a:ln>
        </p:spPr>
      </p:pic>
      <p:pic>
        <p:nvPicPr>
          <p:cNvPr id="72" name="Google Shape;72;p14"/>
          <p:cNvPicPr preferRelativeResize="0"/>
          <p:nvPr/>
        </p:nvPicPr>
        <p:blipFill>
          <a:blip r:embed="rId9">
            <a:alphaModFix/>
          </a:blip>
          <a:stretch>
            <a:fillRect/>
          </a:stretch>
        </p:blipFill>
        <p:spPr>
          <a:xfrm>
            <a:off x="3505201" y="3561800"/>
            <a:ext cx="1335668" cy="516467"/>
          </a:xfrm>
          <a:prstGeom prst="rect">
            <a:avLst/>
          </a:prstGeom>
          <a:noFill/>
          <a:ln>
            <a:noFill/>
          </a:ln>
        </p:spPr>
      </p:pic>
      <p:pic>
        <p:nvPicPr>
          <p:cNvPr id="73" name="Google Shape;73;p14"/>
          <p:cNvPicPr preferRelativeResize="0"/>
          <p:nvPr/>
        </p:nvPicPr>
        <p:blipFill>
          <a:blip r:embed="rId10">
            <a:alphaModFix/>
          </a:blip>
          <a:stretch>
            <a:fillRect/>
          </a:stretch>
        </p:blipFill>
        <p:spPr>
          <a:xfrm>
            <a:off x="512134" y="4050300"/>
            <a:ext cx="1032957" cy="516467"/>
          </a:xfrm>
          <a:prstGeom prst="rect">
            <a:avLst/>
          </a:prstGeom>
          <a:noFill/>
          <a:ln>
            <a:noFill/>
          </a:ln>
        </p:spPr>
      </p:pic>
      <p:pic>
        <p:nvPicPr>
          <p:cNvPr id="74" name="Google Shape;74;p14"/>
          <p:cNvPicPr preferRelativeResize="0"/>
          <p:nvPr/>
        </p:nvPicPr>
        <p:blipFill>
          <a:blip r:embed="rId11">
            <a:alphaModFix/>
          </a:blip>
          <a:stretch>
            <a:fillRect/>
          </a:stretch>
        </p:blipFill>
        <p:spPr>
          <a:xfrm>
            <a:off x="1766251" y="4357651"/>
            <a:ext cx="1458333" cy="755420"/>
          </a:xfrm>
          <a:prstGeom prst="rect">
            <a:avLst/>
          </a:prstGeom>
          <a:noFill/>
          <a:ln>
            <a:noFill/>
          </a:ln>
        </p:spPr>
      </p:pic>
      <p:pic>
        <p:nvPicPr>
          <p:cNvPr id="75" name="Google Shape;75;p14"/>
          <p:cNvPicPr preferRelativeResize="0"/>
          <p:nvPr/>
        </p:nvPicPr>
        <p:blipFill>
          <a:blip r:embed="rId12">
            <a:alphaModFix/>
          </a:blip>
          <a:stretch>
            <a:fillRect/>
          </a:stretch>
        </p:blipFill>
        <p:spPr>
          <a:xfrm>
            <a:off x="3472002" y="4349601"/>
            <a:ext cx="1445073" cy="370300"/>
          </a:xfrm>
          <a:prstGeom prst="rect">
            <a:avLst/>
          </a:prstGeom>
          <a:noFill/>
          <a:ln>
            <a:noFill/>
          </a:ln>
        </p:spPr>
      </p:pic>
      <p:pic>
        <p:nvPicPr>
          <p:cNvPr id="76" name="Google Shape;76;p14"/>
          <p:cNvPicPr preferRelativeResize="0"/>
          <p:nvPr/>
        </p:nvPicPr>
        <p:blipFill>
          <a:blip r:embed="rId13">
            <a:alphaModFix/>
          </a:blip>
          <a:stretch>
            <a:fillRect/>
          </a:stretch>
        </p:blipFill>
        <p:spPr>
          <a:xfrm>
            <a:off x="1401469" y="5198367"/>
            <a:ext cx="1247567" cy="656200"/>
          </a:xfrm>
          <a:prstGeom prst="rect">
            <a:avLst/>
          </a:prstGeom>
          <a:noFill/>
          <a:ln>
            <a:noFill/>
          </a:ln>
        </p:spPr>
      </p:pic>
      <p:pic>
        <p:nvPicPr>
          <p:cNvPr id="77" name="Google Shape;77;p14"/>
          <p:cNvPicPr preferRelativeResize="0"/>
          <p:nvPr/>
        </p:nvPicPr>
        <p:blipFill>
          <a:blip r:embed="rId14">
            <a:alphaModFix/>
          </a:blip>
          <a:stretch>
            <a:fillRect/>
          </a:stretch>
        </p:blipFill>
        <p:spPr>
          <a:xfrm>
            <a:off x="528400" y="4668368"/>
            <a:ext cx="755435" cy="755433"/>
          </a:xfrm>
          <a:prstGeom prst="rect">
            <a:avLst/>
          </a:prstGeom>
          <a:noFill/>
          <a:ln>
            <a:noFill/>
          </a:ln>
        </p:spPr>
      </p:pic>
      <p:pic>
        <p:nvPicPr>
          <p:cNvPr id="78" name="Google Shape;78;p14"/>
          <p:cNvPicPr preferRelativeResize="0"/>
          <p:nvPr/>
        </p:nvPicPr>
        <p:blipFill>
          <a:blip r:embed="rId15">
            <a:alphaModFix/>
          </a:blip>
          <a:stretch>
            <a:fillRect/>
          </a:stretch>
        </p:blipFill>
        <p:spPr>
          <a:xfrm>
            <a:off x="3887340" y="2916070"/>
            <a:ext cx="1247568" cy="486553"/>
          </a:xfrm>
          <a:prstGeom prst="rect">
            <a:avLst/>
          </a:prstGeom>
          <a:noFill/>
          <a:ln>
            <a:noFill/>
          </a:ln>
        </p:spPr>
      </p:pic>
      <p:pic>
        <p:nvPicPr>
          <p:cNvPr id="79" name="Google Shape;79;p14"/>
          <p:cNvPicPr preferRelativeResize="0"/>
          <p:nvPr/>
        </p:nvPicPr>
        <p:blipFill>
          <a:blip r:embed="rId16">
            <a:alphaModFix/>
          </a:blip>
          <a:stretch>
            <a:fillRect/>
          </a:stretch>
        </p:blipFill>
        <p:spPr>
          <a:xfrm>
            <a:off x="7764785" y="4032421"/>
            <a:ext cx="1798672" cy="755433"/>
          </a:xfrm>
          <a:prstGeom prst="rect">
            <a:avLst/>
          </a:prstGeom>
          <a:noFill/>
          <a:ln>
            <a:noFill/>
          </a:ln>
        </p:spPr>
      </p:pic>
      <p:pic>
        <p:nvPicPr>
          <p:cNvPr id="80" name="Google Shape;80;p14"/>
          <p:cNvPicPr preferRelativeResize="0"/>
          <p:nvPr/>
        </p:nvPicPr>
        <p:blipFill>
          <a:blip r:embed="rId17">
            <a:alphaModFix/>
          </a:blip>
          <a:stretch>
            <a:fillRect/>
          </a:stretch>
        </p:blipFill>
        <p:spPr>
          <a:xfrm>
            <a:off x="5120969" y="3290733"/>
            <a:ext cx="2481460" cy="462000"/>
          </a:xfrm>
          <a:prstGeom prst="rect">
            <a:avLst/>
          </a:prstGeom>
          <a:noFill/>
          <a:ln>
            <a:noFill/>
          </a:ln>
        </p:spPr>
      </p:pic>
      <p:pic>
        <p:nvPicPr>
          <p:cNvPr id="81" name="Google Shape;81;p14"/>
          <p:cNvPicPr preferRelativeResize="0"/>
          <p:nvPr/>
        </p:nvPicPr>
        <p:blipFill>
          <a:blip r:embed="rId18">
            <a:alphaModFix/>
          </a:blip>
          <a:stretch>
            <a:fillRect/>
          </a:stretch>
        </p:blipFill>
        <p:spPr>
          <a:xfrm>
            <a:off x="7155045" y="4151888"/>
            <a:ext cx="516467" cy="516467"/>
          </a:xfrm>
          <a:prstGeom prst="rect">
            <a:avLst/>
          </a:prstGeom>
          <a:noFill/>
          <a:ln>
            <a:noFill/>
          </a:ln>
        </p:spPr>
      </p:pic>
      <p:pic>
        <p:nvPicPr>
          <p:cNvPr id="82" name="Google Shape;82;p14"/>
          <p:cNvPicPr preferRelativeResize="0"/>
          <p:nvPr/>
        </p:nvPicPr>
        <p:blipFill>
          <a:blip r:embed="rId19">
            <a:alphaModFix/>
          </a:blip>
          <a:stretch>
            <a:fillRect/>
          </a:stretch>
        </p:blipFill>
        <p:spPr>
          <a:xfrm>
            <a:off x="5216134" y="3928885"/>
            <a:ext cx="1702125" cy="886201"/>
          </a:xfrm>
          <a:prstGeom prst="rect">
            <a:avLst/>
          </a:prstGeom>
          <a:noFill/>
          <a:ln>
            <a:noFill/>
          </a:ln>
        </p:spPr>
      </p:pic>
      <p:pic>
        <p:nvPicPr>
          <p:cNvPr id="83" name="Google Shape;83;p14"/>
          <p:cNvPicPr preferRelativeResize="0"/>
          <p:nvPr/>
        </p:nvPicPr>
        <p:blipFill rotWithShape="1">
          <a:blip r:embed="rId20">
            <a:alphaModFix/>
          </a:blip>
          <a:srcRect t="20224" b="10393"/>
          <a:stretch/>
        </p:blipFill>
        <p:spPr>
          <a:xfrm>
            <a:off x="360800" y="5915334"/>
            <a:ext cx="1352400" cy="486565"/>
          </a:xfrm>
          <a:prstGeom prst="rect">
            <a:avLst/>
          </a:prstGeom>
          <a:noFill/>
          <a:ln>
            <a:noFill/>
          </a:ln>
        </p:spPr>
      </p:pic>
      <p:pic>
        <p:nvPicPr>
          <p:cNvPr id="84" name="Google Shape;84;p14"/>
          <p:cNvPicPr preferRelativeResize="0"/>
          <p:nvPr/>
        </p:nvPicPr>
        <p:blipFill>
          <a:blip r:embed="rId21">
            <a:alphaModFix/>
          </a:blip>
          <a:stretch>
            <a:fillRect/>
          </a:stretch>
        </p:blipFill>
        <p:spPr>
          <a:xfrm>
            <a:off x="7984799" y="2839791"/>
            <a:ext cx="1100467" cy="1100467"/>
          </a:xfrm>
          <a:prstGeom prst="rect">
            <a:avLst/>
          </a:prstGeom>
          <a:noFill/>
          <a:ln>
            <a:noFill/>
          </a:ln>
        </p:spPr>
      </p:pic>
      <p:pic>
        <p:nvPicPr>
          <p:cNvPr id="85" name="Google Shape;85;p14"/>
          <p:cNvPicPr preferRelativeResize="0"/>
          <p:nvPr/>
        </p:nvPicPr>
        <p:blipFill>
          <a:blip r:embed="rId22">
            <a:alphaModFix/>
          </a:blip>
          <a:stretch>
            <a:fillRect/>
          </a:stretch>
        </p:blipFill>
        <p:spPr>
          <a:xfrm>
            <a:off x="9467634" y="3265135"/>
            <a:ext cx="2014348" cy="656200"/>
          </a:xfrm>
          <a:prstGeom prst="rect">
            <a:avLst/>
          </a:prstGeom>
          <a:noFill/>
          <a:ln>
            <a:noFill/>
          </a:ln>
        </p:spPr>
      </p:pic>
      <p:sp>
        <p:nvSpPr>
          <p:cNvPr id="86" name="Google Shape;86;p14"/>
          <p:cNvSpPr txBox="1"/>
          <p:nvPr/>
        </p:nvSpPr>
        <p:spPr>
          <a:xfrm>
            <a:off x="3707033" y="5258500"/>
            <a:ext cx="5844800" cy="939200"/>
          </a:xfrm>
          <a:prstGeom prst="rect">
            <a:avLst/>
          </a:prstGeom>
          <a:solidFill>
            <a:srgbClr val="EAD1DC"/>
          </a:solid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2400" b="1" i="0" u="none" strike="noStrike" kern="0" cap="none" spc="0" normalizeH="0" baseline="0" noProof="0">
                <a:ln>
                  <a:noFill/>
                </a:ln>
                <a:solidFill>
                  <a:srgbClr val="000000"/>
                </a:solidFill>
                <a:effectLst/>
                <a:uLnTx/>
                <a:uFillTx/>
                <a:latin typeface="Arial"/>
                <a:ea typeface="+mn-ea"/>
                <a:cs typeface="Arial"/>
                <a:sym typeface="Arial"/>
              </a:rPr>
              <a:t>When: 9/9 @ 5:45-7:45pm</a:t>
            </a:r>
            <a:endParaRPr kumimoji="0" sz="2400" b="1"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2400" b="1" i="0" u="none" strike="noStrike" kern="0" cap="none" spc="0" normalizeH="0" baseline="0" noProof="0">
                <a:ln>
                  <a:noFill/>
                </a:ln>
                <a:solidFill>
                  <a:srgbClr val="000000"/>
                </a:solidFill>
                <a:effectLst/>
                <a:uLnTx/>
                <a:uFillTx/>
                <a:latin typeface="Arial"/>
                <a:ea typeface="+mn-ea"/>
                <a:cs typeface="Arial"/>
                <a:sym typeface="Arial"/>
              </a:rPr>
              <a:t>Where: UMC - Glenn Miller Ballroom</a:t>
            </a:r>
            <a:endParaRPr kumimoji="0" sz="2400" b="1"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7" name="Google Shape;87;p14"/>
          <p:cNvSpPr/>
          <p:nvPr/>
        </p:nvSpPr>
        <p:spPr>
          <a:xfrm>
            <a:off x="2766700" y="5497100"/>
            <a:ext cx="864800" cy="462000"/>
          </a:xfrm>
          <a:prstGeom prst="rightArrow">
            <a:avLst>
              <a:gd name="adj1" fmla="val 50000"/>
              <a:gd name="adj2" fmla="val 50000"/>
            </a:avLst>
          </a:prstGeom>
          <a:solidFill>
            <a:srgbClr val="993333">
              <a:alpha val="71070"/>
            </a:srgbClr>
          </a:solidFill>
          <a:ln>
            <a:noFill/>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8" name="Google Shape;88;p14"/>
          <p:cNvSpPr/>
          <p:nvPr/>
        </p:nvSpPr>
        <p:spPr>
          <a:xfrm>
            <a:off x="9709667" y="4164233"/>
            <a:ext cx="2113200" cy="2212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89" name="Google Shape;89;p14"/>
          <p:cNvPicPr preferRelativeResize="0"/>
          <p:nvPr/>
        </p:nvPicPr>
        <p:blipFill>
          <a:blip r:embed="rId23">
            <a:alphaModFix/>
          </a:blip>
          <a:stretch>
            <a:fillRect/>
          </a:stretch>
        </p:blipFill>
        <p:spPr>
          <a:xfrm>
            <a:off x="9782533" y="4275130"/>
            <a:ext cx="1967467" cy="19575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2"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15">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0D39F6EF-C0F3-4923-AA7A-E1931E991434}"/>
              </a:ext>
            </a:extLst>
          </p:cNvPr>
          <p:cNvSpPr>
            <a:spLocks noGrp="1"/>
          </p:cNvSpPr>
          <p:nvPr>
            <p:ph type="title"/>
          </p:nvPr>
        </p:nvSpPr>
        <p:spPr>
          <a:xfrm>
            <a:off x="1047280" y="759805"/>
            <a:ext cx="10306520" cy="1325563"/>
          </a:xfrm>
        </p:spPr>
        <p:txBody>
          <a:bodyPr>
            <a:normAutofit/>
          </a:bodyPr>
          <a:lstStyle/>
          <a:p>
            <a:r>
              <a:rPr lang="en-US" sz="4000" dirty="0">
                <a:solidFill>
                  <a:srgbClr val="FFFFFF"/>
                </a:solidFill>
              </a:rPr>
              <a:t>Key Points from the Video</a:t>
            </a:r>
          </a:p>
        </p:txBody>
      </p:sp>
      <p:sp>
        <p:nvSpPr>
          <p:cNvPr id="3" name="Content Placeholder 2">
            <a:extLst>
              <a:ext uri="{FF2B5EF4-FFF2-40B4-BE49-F238E27FC236}">
                <a16:creationId xmlns:a16="http://schemas.microsoft.com/office/drawing/2014/main" id="{EE36A05A-B468-458A-B055-E3215687FA3B}"/>
              </a:ext>
            </a:extLst>
          </p:cNvPr>
          <p:cNvSpPr>
            <a:spLocks noGrp="1"/>
          </p:cNvSpPr>
          <p:nvPr>
            <p:ph idx="1"/>
          </p:nvPr>
        </p:nvSpPr>
        <p:spPr>
          <a:xfrm>
            <a:off x="1424904" y="2494450"/>
            <a:ext cx="5531154" cy="3563159"/>
          </a:xfrm>
        </p:spPr>
        <p:txBody>
          <a:bodyPr>
            <a:normAutofit/>
          </a:bodyPr>
          <a:lstStyle/>
          <a:p>
            <a:r>
              <a:rPr lang="en-US" sz="2400" dirty="0"/>
              <a:t>The balance sheet reports assets, liabilities, and equity at a point in time</a:t>
            </a:r>
          </a:p>
          <a:p>
            <a:endParaRPr lang="en-US" sz="2400" dirty="0"/>
          </a:p>
          <a:p>
            <a:r>
              <a:rPr lang="en-US" sz="2400" dirty="0"/>
              <a:t>Assets and liabilities are organized by liquidity </a:t>
            </a:r>
          </a:p>
          <a:p>
            <a:endParaRPr lang="en-US" sz="2400" dirty="0"/>
          </a:p>
          <a:p>
            <a:r>
              <a:rPr lang="en-US" sz="2400" dirty="0"/>
              <a:t>Not all future benefits and costs are recognized under the accounting rules</a:t>
            </a:r>
          </a:p>
        </p:txBody>
      </p:sp>
      <p:pic>
        <p:nvPicPr>
          <p:cNvPr id="4" name="Picture 3" descr="Text&#10;&#10;Description automatically generated with medium confidence">
            <a:extLst>
              <a:ext uri="{FF2B5EF4-FFF2-40B4-BE49-F238E27FC236}">
                <a16:creationId xmlns:a16="http://schemas.microsoft.com/office/drawing/2014/main" id="{41395F79-9F37-423D-8933-421DADE72A93}"/>
              </a:ext>
            </a:extLst>
          </p:cNvPr>
          <p:cNvPicPr>
            <a:picLocks noChangeAspect="1"/>
          </p:cNvPicPr>
          <p:nvPr/>
        </p:nvPicPr>
        <p:blipFill>
          <a:blip r:embed="rId2"/>
          <a:stretch>
            <a:fillRect/>
          </a:stretch>
        </p:blipFill>
        <p:spPr>
          <a:xfrm>
            <a:off x="7262445" y="2524513"/>
            <a:ext cx="3674019" cy="1910490"/>
          </a:xfrm>
          <a:prstGeom prst="rect">
            <a:avLst/>
          </a:prstGeom>
        </p:spPr>
      </p:pic>
    </p:spTree>
    <p:extLst>
      <p:ext uri="{BB962C8B-B14F-4D97-AF65-F5344CB8AC3E}">
        <p14:creationId xmlns:p14="http://schemas.microsoft.com/office/powerpoint/2010/main" val="2698007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01D6-3BB0-4976-83C9-255B47E739E3}"/>
              </a:ext>
            </a:extLst>
          </p:cNvPr>
          <p:cNvSpPr>
            <a:spLocks noGrp="1"/>
          </p:cNvSpPr>
          <p:nvPr>
            <p:ph type="title"/>
          </p:nvPr>
        </p:nvSpPr>
        <p:spPr/>
        <p:txBody>
          <a:bodyPr>
            <a:normAutofit/>
          </a:bodyPr>
          <a:lstStyle/>
          <a:p>
            <a:r>
              <a:rPr lang="en-US" sz="4000" dirty="0"/>
              <a:t>Asset or Liability? Current or Non?</a:t>
            </a:r>
          </a:p>
        </p:txBody>
      </p:sp>
      <p:sp>
        <p:nvSpPr>
          <p:cNvPr id="3" name="Content Placeholder 2">
            <a:extLst>
              <a:ext uri="{FF2B5EF4-FFF2-40B4-BE49-F238E27FC236}">
                <a16:creationId xmlns:a16="http://schemas.microsoft.com/office/drawing/2014/main" id="{A309A76D-7709-4220-9279-1EA1FEAEABF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8FEF721-0B3E-4F74-A47C-98E42B5561A5}"/>
              </a:ext>
            </a:extLst>
          </p:cNvPr>
          <p:cNvPicPr>
            <a:picLocks noChangeAspect="1"/>
          </p:cNvPicPr>
          <p:nvPr/>
        </p:nvPicPr>
        <p:blipFill>
          <a:blip r:embed="rId2"/>
          <a:stretch>
            <a:fillRect/>
          </a:stretch>
        </p:blipFill>
        <p:spPr>
          <a:xfrm>
            <a:off x="544657" y="1677758"/>
            <a:ext cx="11109207" cy="4246523"/>
          </a:xfrm>
          <a:prstGeom prst="rect">
            <a:avLst/>
          </a:prstGeom>
        </p:spPr>
      </p:pic>
      <p:sp>
        <p:nvSpPr>
          <p:cNvPr id="6" name="Rectangle 5">
            <a:extLst>
              <a:ext uri="{FF2B5EF4-FFF2-40B4-BE49-F238E27FC236}">
                <a16:creationId xmlns:a16="http://schemas.microsoft.com/office/drawing/2014/main" id="{EB9E6279-B4AE-409D-98B8-911A5A78CD30}"/>
              </a:ext>
            </a:extLst>
          </p:cNvPr>
          <p:cNvSpPr/>
          <p:nvPr/>
        </p:nvSpPr>
        <p:spPr>
          <a:xfrm>
            <a:off x="7013864" y="2421082"/>
            <a:ext cx="1267691"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EBC39AD-05AA-4114-B555-569CC4B08BB1}"/>
              </a:ext>
            </a:extLst>
          </p:cNvPr>
          <p:cNvSpPr/>
          <p:nvPr/>
        </p:nvSpPr>
        <p:spPr>
          <a:xfrm>
            <a:off x="7013863" y="2982191"/>
            <a:ext cx="1267691"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81CE6EE-F2D9-4114-841E-C15EC39F8E0E}"/>
              </a:ext>
            </a:extLst>
          </p:cNvPr>
          <p:cNvSpPr/>
          <p:nvPr/>
        </p:nvSpPr>
        <p:spPr>
          <a:xfrm>
            <a:off x="6972298" y="3566517"/>
            <a:ext cx="1267691"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8F7236A-7B3B-4269-B1BE-52629CDB4AF0}"/>
              </a:ext>
            </a:extLst>
          </p:cNvPr>
          <p:cNvSpPr/>
          <p:nvPr/>
        </p:nvSpPr>
        <p:spPr>
          <a:xfrm>
            <a:off x="6844146" y="4161972"/>
            <a:ext cx="1267691"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BCF8AEA-30A2-4435-8D18-4F535C39ECA6}"/>
              </a:ext>
            </a:extLst>
          </p:cNvPr>
          <p:cNvSpPr/>
          <p:nvPr/>
        </p:nvSpPr>
        <p:spPr>
          <a:xfrm>
            <a:off x="6864927" y="4711952"/>
            <a:ext cx="1267691"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911EC0-DA3D-43F5-9C0F-2B01F257A27C}"/>
              </a:ext>
            </a:extLst>
          </p:cNvPr>
          <p:cNvSpPr/>
          <p:nvPr/>
        </p:nvSpPr>
        <p:spPr>
          <a:xfrm>
            <a:off x="6085608" y="5387740"/>
            <a:ext cx="2985656"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755C632-0E13-47EE-A27A-3DD57E720895}"/>
              </a:ext>
            </a:extLst>
          </p:cNvPr>
          <p:cNvSpPr/>
          <p:nvPr/>
        </p:nvSpPr>
        <p:spPr>
          <a:xfrm>
            <a:off x="9364807" y="5387739"/>
            <a:ext cx="1774248"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885D7E-4155-4370-BF29-16FA65DD26C6}"/>
              </a:ext>
            </a:extLst>
          </p:cNvPr>
          <p:cNvSpPr/>
          <p:nvPr/>
        </p:nvSpPr>
        <p:spPr>
          <a:xfrm>
            <a:off x="9618085" y="4161972"/>
            <a:ext cx="1267691"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2A41C4D-E7FE-49C2-8510-8685CF33C238}"/>
              </a:ext>
            </a:extLst>
          </p:cNvPr>
          <p:cNvSpPr/>
          <p:nvPr/>
        </p:nvSpPr>
        <p:spPr>
          <a:xfrm>
            <a:off x="9344024" y="3549089"/>
            <a:ext cx="1795031"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1E6B091-E164-4F4F-8840-3883EAD978EF}"/>
              </a:ext>
            </a:extLst>
          </p:cNvPr>
          <p:cNvSpPr/>
          <p:nvPr/>
        </p:nvSpPr>
        <p:spPr>
          <a:xfrm>
            <a:off x="9607693" y="2449102"/>
            <a:ext cx="1267691"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429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01D6-3BB0-4976-83C9-255B47E739E3}"/>
              </a:ext>
            </a:extLst>
          </p:cNvPr>
          <p:cNvSpPr>
            <a:spLocks noGrp="1"/>
          </p:cNvSpPr>
          <p:nvPr>
            <p:ph type="title"/>
          </p:nvPr>
        </p:nvSpPr>
        <p:spPr/>
        <p:txBody>
          <a:bodyPr>
            <a:normAutofit/>
          </a:bodyPr>
          <a:lstStyle/>
          <a:p>
            <a:r>
              <a:rPr lang="en-US" sz="4000" dirty="0"/>
              <a:t>Asset or Liability? Current or Non?</a:t>
            </a:r>
          </a:p>
        </p:txBody>
      </p:sp>
      <p:pic>
        <p:nvPicPr>
          <p:cNvPr id="16" name="Picture 15">
            <a:extLst>
              <a:ext uri="{FF2B5EF4-FFF2-40B4-BE49-F238E27FC236}">
                <a16:creationId xmlns:a16="http://schemas.microsoft.com/office/drawing/2014/main" id="{114A207D-D9CB-420F-85BB-76D3C905E5FD}"/>
              </a:ext>
            </a:extLst>
          </p:cNvPr>
          <p:cNvPicPr>
            <a:picLocks noChangeAspect="1"/>
          </p:cNvPicPr>
          <p:nvPr/>
        </p:nvPicPr>
        <p:blipFill>
          <a:blip r:embed="rId2"/>
          <a:stretch>
            <a:fillRect/>
          </a:stretch>
        </p:blipFill>
        <p:spPr>
          <a:xfrm>
            <a:off x="568154" y="1661680"/>
            <a:ext cx="11321426" cy="4281920"/>
          </a:xfrm>
          <a:prstGeom prst="rect">
            <a:avLst/>
          </a:prstGeom>
        </p:spPr>
      </p:pic>
      <p:sp>
        <p:nvSpPr>
          <p:cNvPr id="17" name="Rectangle 16">
            <a:extLst>
              <a:ext uri="{FF2B5EF4-FFF2-40B4-BE49-F238E27FC236}">
                <a16:creationId xmlns:a16="http://schemas.microsoft.com/office/drawing/2014/main" id="{8BC0E512-984D-4757-8E2F-85AD4E9865E6}"/>
              </a:ext>
            </a:extLst>
          </p:cNvPr>
          <p:cNvSpPr/>
          <p:nvPr/>
        </p:nvSpPr>
        <p:spPr>
          <a:xfrm>
            <a:off x="5715001" y="2348346"/>
            <a:ext cx="3439390"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1BB6DF6-215B-4084-AB16-06C1FAAB58EA}"/>
              </a:ext>
            </a:extLst>
          </p:cNvPr>
          <p:cNvSpPr/>
          <p:nvPr/>
        </p:nvSpPr>
        <p:spPr>
          <a:xfrm>
            <a:off x="9445336" y="2348346"/>
            <a:ext cx="1814945"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FC18090-B9BA-4440-8272-C7F467D45601}"/>
              </a:ext>
            </a:extLst>
          </p:cNvPr>
          <p:cNvSpPr/>
          <p:nvPr/>
        </p:nvSpPr>
        <p:spPr>
          <a:xfrm>
            <a:off x="5715001" y="2952765"/>
            <a:ext cx="3439390"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1813EC5-6FE6-4EA8-9183-1FC5AB003492}"/>
              </a:ext>
            </a:extLst>
          </p:cNvPr>
          <p:cNvSpPr/>
          <p:nvPr/>
        </p:nvSpPr>
        <p:spPr>
          <a:xfrm>
            <a:off x="9154391" y="2952764"/>
            <a:ext cx="1960419"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0A7A10F-371C-4296-8299-8B4CB1B8E4DF}"/>
              </a:ext>
            </a:extLst>
          </p:cNvPr>
          <p:cNvSpPr/>
          <p:nvPr/>
        </p:nvSpPr>
        <p:spPr>
          <a:xfrm>
            <a:off x="6709064" y="3512127"/>
            <a:ext cx="1960419"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9B906A5-13B2-411C-B444-4974323864CF}"/>
              </a:ext>
            </a:extLst>
          </p:cNvPr>
          <p:cNvSpPr/>
          <p:nvPr/>
        </p:nvSpPr>
        <p:spPr>
          <a:xfrm>
            <a:off x="9154391" y="3579235"/>
            <a:ext cx="1960419"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A27FA27-5760-4870-8E35-CB8DB8925651}"/>
              </a:ext>
            </a:extLst>
          </p:cNvPr>
          <p:cNvSpPr/>
          <p:nvPr/>
        </p:nvSpPr>
        <p:spPr>
          <a:xfrm>
            <a:off x="6642712" y="4110045"/>
            <a:ext cx="1960419"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01BA19A-3E9E-4E52-80E9-C28ADC5C1926}"/>
              </a:ext>
            </a:extLst>
          </p:cNvPr>
          <p:cNvSpPr/>
          <p:nvPr/>
        </p:nvSpPr>
        <p:spPr>
          <a:xfrm>
            <a:off x="9154391" y="4134946"/>
            <a:ext cx="1960419"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CEFA0DC-FFD5-41FB-946F-86A6F09AAB4B}"/>
              </a:ext>
            </a:extLst>
          </p:cNvPr>
          <p:cNvSpPr/>
          <p:nvPr/>
        </p:nvSpPr>
        <p:spPr>
          <a:xfrm>
            <a:off x="6642712" y="4776023"/>
            <a:ext cx="1960419"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4AE69A0-CD78-46D1-8ADC-F0573191111F}"/>
              </a:ext>
            </a:extLst>
          </p:cNvPr>
          <p:cNvSpPr/>
          <p:nvPr/>
        </p:nvSpPr>
        <p:spPr>
          <a:xfrm>
            <a:off x="9074727" y="4776023"/>
            <a:ext cx="1960419"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0AB4B8A-1325-4331-B0EA-EC265D0FBFF8}"/>
              </a:ext>
            </a:extLst>
          </p:cNvPr>
          <p:cNvSpPr/>
          <p:nvPr/>
        </p:nvSpPr>
        <p:spPr>
          <a:xfrm>
            <a:off x="6709063" y="5317859"/>
            <a:ext cx="1960419"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D209071-4AE5-4D6E-9DA4-44B95675994D}"/>
              </a:ext>
            </a:extLst>
          </p:cNvPr>
          <p:cNvSpPr/>
          <p:nvPr/>
        </p:nvSpPr>
        <p:spPr>
          <a:xfrm>
            <a:off x="9154391" y="5293757"/>
            <a:ext cx="1960419" cy="446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809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AC53D-01D5-43F6-B465-40C0A2BCE843}"/>
              </a:ext>
            </a:extLst>
          </p:cNvPr>
          <p:cNvSpPr>
            <a:spLocks noGrp="1"/>
          </p:cNvSpPr>
          <p:nvPr>
            <p:ph type="title"/>
          </p:nvPr>
        </p:nvSpPr>
        <p:spPr/>
        <p:txBody>
          <a:bodyPr/>
          <a:lstStyle/>
          <a:p>
            <a:r>
              <a:rPr lang="en-US" dirty="0"/>
              <a:t>Useful Textbook References</a:t>
            </a:r>
          </a:p>
        </p:txBody>
      </p:sp>
      <p:pic>
        <p:nvPicPr>
          <p:cNvPr id="7" name="Picture 6">
            <a:extLst>
              <a:ext uri="{FF2B5EF4-FFF2-40B4-BE49-F238E27FC236}">
                <a16:creationId xmlns:a16="http://schemas.microsoft.com/office/drawing/2014/main" id="{9C60369B-A518-4606-8A9B-6A2C0014C040}"/>
              </a:ext>
            </a:extLst>
          </p:cNvPr>
          <p:cNvPicPr>
            <a:picLocks noChangeAspect="1"/>
          </p:cNvPicPr>
          <p:nvPr/>
        </p:nvPicPr>
        <p:blipFill>
          <a:blip r:embed="rId2"/>
          <a:stretch>
            <a:fillRect/>
          </a:stretch>
        </p:blipFill>
        <p:spPr>
          <a:xfrm>
            <a:off x="1075509" y="1899685"/>
            <a:ext cx="10040982" cy="3621338"/>
          </a:xfrm>
          <a:prstGeom prst="rect">
            <a:avLst/>
          </a:prstGeom>
        </p:spPr>
      </p:pic>
    </p:spTree>
    <p:extLst>
      <p:ext uri="{BB962C8B-B14F-4D97-AF65-F5344CB8AC3E}">
        <p14:creationId xmlns:p14="http://schemas.microsoft.com/office/powerpoint/2010/main" val="437241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AA0E6-467E-9B48-98DD-94E0A9518593}"/>
              </a:ext>
            </a:extLst>
          </p:cNvPr>
          <p:cNvSpPr>
            <a:spLocks noGrp="1"/>
          </p:cNvSpPr>
          <p:nvPr>
            <p:ph type="title"/>
          </p:nvPr>
        </p:nvSpPr>
        <p:spPr/>
        <p:txBody>
          <a:bodyPr>
            <a:normAutofit/>
          </a:bodyPr>
          <a:lstStyle/>
          <a:p>
            <a:r>
              <a:rPr lang="en-US" sz="4000" dirty="0"/>
              <a:t>Shareholders’ Equity​</a:t>
            </a:r>
            <a:endParaRPr lang="en-US" sz="4000" dirty="0">
              <a:solidFill>
                <a:srgbClr val="FF0000"/>
              </a:solidFill>
            </a:endParaRPr>
          </a:p>
        </p:txBody>
      </p:sp>
      <p:sp>
        <p:nvSpPr>
          <p:cNvPr id="7" name="Content Placeholder 6">
            <a:extLst>
              <a:ext uri="{FF2B5EF4-FFF2-40B4-BE49-F238E27FC236}">
                <a16:creationId xmlns:a16="http://schemas.microsoft.com/office/drawing/2014/main" id="{389C2B5A-2659-4DE1-B72C-A0E1A61BD7E9}"/>
              </a:ext>
            </a:extLst>
          </p:cNvPr>
          <p:cNvSpPr>
            <a:spLocks noGrp="1"/>
          </p:cNvSpPr>
          <p:nvPr>
            <p:ph idx="1"/>
          </p:nvPr>
        </p:nvSpPr>
        <p:spPr>
          <a:xfrm>
            <a:off x="642667" y="1308607"/>
            <a:ext cx="10180608" cy="1842910"/>
          </a:xfrm>
        </p:spPr>
        <p:txBody>
          <a:bodyPr>
            <a:normAutofit/>
          </a:bodyPr>
          <a:lstStyle/>
          <a:p>
            <a:pPr marL="0" indent="0" fontAlgn="base">
              <a:buNone/>
            </a:pPr>
            <a:r>
              <a:rPr lang="en-US" sz="2400" dirty="0"/>
              <a:t>Residual interest in the firm (assets minus liabilities)</a:t>
            </a:r>
          </a:p>
          <a:p>
            <a:endParaRPr lang="en-US" dirty="0"/>
          </a:p>
        </p:txBody>
      </p:sp>
      <p:sp>
        <p:nvSpPr>
          <p:cNvPr id="9" name="Rectangle 8">
            <a:extLst>
              <a:ext uri="{FF2B5EF4-FFF2-40B4-BE49-F238E27FC236}">
                <a16:creationId xmlns:a16="http://schemas.microsoft.com/office/drawing/2014/main" id="{F251F48E-30EA-425B-97CC-587C0C4A4BA2}"/>
              </a:ext>
            </a:extLst>
          </p:cNvPr>
          <p:cNvSpPr/>
          <p:nvPr/>
        </p:nvSpPr>
        <p:spPr>
          <a:xfrm>
            <a:off x="4318540" y="5223002"/>
            <a:ext cx="1288629" cy="369332"/>
          </a:xfrm>
          <a:prstGeom prst="rect">
            <a:avLst/>
          </a:prstGeom>
        </p:spPr>
        <p:txBody>
          <a:bodyPr wrap="square">
            <a:spAutoFit/>
          </a:bodyPr>
          <a:lstStyle/>
          <a:p>
            <a:r>
              <a:rPr lang="en-US" dirty="0">
                <a:solidFill>
                  <a:srgbClr val="000000"/>
                </a:solidFill>
                <a:latin typeface="Times New Roman" panose="02020603050405020304" pitchFamily="18" charset="0"/>
              </a:rPr>
              <a:t> </a:t>
            </a:r>
            <a:endParaRPr lang="en-US" dirty="0"/>
          </a:p>
        </p:txBody>
      </p:sp>
      <p:sp>
        <p:nvSpPr>
          <p:cNvPr id="15" name="TextBox 14">
            <a:extLst>
              <a:ext uri="{FF2B5EF4-FFF2-40B4-BE49-F238E27FC236}">
                <a16:creationId xmlns:a16="http://schemas.microsoft.com/office/drawing/2014/main" id="{B12BBE93-CC0E-4406-B4A9-05CA9E308716}"/>
              </a:ext>
            </a:extLst>
          </p:cNvPr>
          <p:cNvSpPr txBox="1"/>
          <p:nvPr/>
        </p:nvSpPr>
        <p:spPr>
          <a:xfrm>
            <a:off x="1368723" y="4776726"/>
            <a:ext cx="8476891" cy="1631216"/>
          </a:xfrm>
          <a:prstGeom prst="rect">
            <a:avLst/>
          </a:prstGeom>
          <a:noFill/>
        </p:spPr>
        <p:txBody>
          <a:bodyPr wrap="square" rtlCol="0">
            <a:spAutoFit/>
          </a:bodyPr>
          <a:lstStyle/>
          <a:p>
            <a:r>
              <a:rPr lang="en-US" sz="2400" u="sng" dirty="0"/>
              <a:t>Other accounts:</a:t>
            </a:r>
          </a:p>
          <a:p>
            <a:pPr marL="342900" indent="-342900">
              <a:buFont typeface="Arial" panose="020B0604020202020204" pitchFamily="34" charset="0"/>
              <a:buChar char="•"/>
            </a:pPr>
            <a:r>
              <a:rPr lang="en-US" sz="2400" dirty="0"/>
              <a:t>Accumulated Other Comprehensive Income </a:t>
            </a:r>
            <a:r>
              <a:rPr lang="en-US" sz="2400" i="1" dirty="0"/>
              <a:t>(AOCI) </a:t>
            </a:r>
            <a:endParaRPr lang="en-US" sz="2000" dirty="0"/>
          </a:p>
          <a:p>
            <a:pPr marL="342900" indent="-342900">
              <a:buFont typeface="Arial" panose="020B0604020202020204" pitchFamily="34" charset="0"/>
              <a:buChar char="•"/>
            </a:pPr>
            <a:r>
              <a:rPr lang="en-US" sz="2400" dirty="0"/>
              <a:t>Treasury Stock (Contra Equity) </a:t>
            </a:r>
          </a:p>
          <a:p>
            <a:pPr marL="342900" indent="-342900">
              <a:buFont typeface="Arial" panose="020B0604020202020204" pitchFamily="34" charset="0"/>
              <a:buChar char="•"/>
            </a:pPr>
            <a:r>
              <a:rPr lang="en-US" sz="2400" dirty="0"/>
              <a:t>Noncontrolling Interest</a:t>
            </a:r>
          </a:p>
        </p:txBody>
      </p:sp>
      <p:pic>
        <p:nvPicPr>
          <p:cNvPr id="4" name="Picture 3">
            <a:extLst>
              <a:ext uri="{FF2B5EF4-FFF2-40B4-BE49-F238E27FC236}">
                <a16:creationId xmlns:a16="http://schemas.microsoft.com/office/drawing/2014/main" id="{5FC375EF-F56D-4DC4-B465-C3C22D780BB8}"/>
              </a:ext>
            </a:extLst>
          </p:cNvPr>
          <p:cNvPicPr>
            <a:picLocks noChangeAspect="1"/>
          </p:cNvPicPr>
          <p:nvPr/>
        </p:nvPicPr>
        <p:blipFill>
          <a:blip r:embed="rId3"/>
          <a:stretch>
            <a:fillRect/>
          </a:stretch>
        </p:blipFill>
        <p:spPr>
          <a:xfrm>
            <a:off x="1882894" y="1975625"/>
            <a:ext cx="7448550" cy="2351783"/>
          </a:xfrm>
          <a:prstGeom prst="rect">
            <a:avLst/>
          </a:prstGeom>
        </p:spPr>
      </p:pic>
    </p:spTree>
    <p:extLst>
      <p:ext uri="{BB962C8B-B14F-4D97-AF65-F5344CB8AC3E}">
        <p14:creationId xmlns:p14="http://schemas.microsoft.com/office/powerpoint/2010/main" val="3665360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DF89E-F516-49FE-96F1-4EDB6196CF96}"/>
              </a:ext>
            </a:extLst>
          </p:cNvPr>
          <p:cNvSpPr>
            <a:spLocks noGrp="1"/>
          </p:cNvSpPr>
          <p:nvPr>
            <p:ph type="title"/>
          </p:nvPr>
        </p:nvSpPr>
        <p:spPr>
          <a:xfrm>
            <a:off x="660881" y="128462"/>
            <a:ext cx="10515600" cy="1325563"/>
          </a:xfrm>
        </p:spPr>
        <p:txBody>
          <a:bodyPr>
            <a:normAutofit/>
          </a:bodyPr>
          <a:lstStyle/>
          <a:p>
            <a:r>
              <a:rPr lang="en-US" sz="4000" dirty="0"/>
              <a:t>Paid-in or Contributed Capital</a:t>
            </a:r>
          </a:p>
        </p:txBody>
      </p:sp>
      <p:sp>
        <p:nvSpPr>
          <p:cNvPr id="4" name="Rectangle 3">
            <a:extLst>
              <a:ext uri="{FF2B5EF4-FFF2-40B4-BE49-F238E27FC236}">
                <a16:creationId xmlns:a16="http://schemas.microsoft.com/office/drawing/2014/main" id="{F25A6EC4-5C7A-49A8-AA4B-FDFA1A343905}"/>
              </a:ext>
            </a:extLst>
          </p:cNvPr>
          <p:cNvSpPr/>
          <p:nvPr/>
        </p:nvSpPr>
        <p:spPr>
          <a:xfrm>
            <a:off x="527648" y="1232486"/>
            <a:ext cx="11325046" cy="461665"/>
          </a:xfrm>
          <a:prstGeom prst="rect">
            <a:avLst/>
          </a:prstGeom>
        </p:spPr>
        <p:txBody>
          <a:bodyPr wrap="square">
            <a:spAutoFit/>
          </a:bodyPr>
          <a:lstStyle/>
          <a:p>
            <a:pPr fontAlgn="base">
              <a:spcBef>
                <a:spcPts val="1200"/>
              </a:spcBef>
            </a:pPr>
            <a:r>
              <a:rPr lang="en-US" sz="2400" dirty="0">
                <a:solidFill>
                  <a:srgbClr val="000000"/>
                </a:solidFill>
              </a:rPr>
              <a:t>Cash from owners or investors:​         </a:t>
            </a:r>
          </a:p>
        </p:txBody>
      </p:sp>
      <p:pic>
        <p:nvPicPr>
          <p:cNvPr id="6" name="Picture 5">
            <a:extLst>
              <a:ext uri="{FF2B5EF4-FFF2-40B4-BE49-F238E27FC236}">
                <a16:creationId xmlns:a16="http://schemas.microsoft.com/office/drawing/2014/main" id="{4581C59B-6573-432D-B8D8-50123AAD9EF6}"/>
              </a:ext>
            </a:extLst>
          </p:cNvPr>
          <p:cNvPicPr>
            <a:picLocks noChangeAspect="1"/>
          </p:cNvPicPr>
          <p:nvPr/>
        </p:nvPicPr>
        <p:blipFill>
          <a:blip r:embed="rId3"/>
          <a:stretch>
            <a:fillRect/>
          </a:stretch>
        </p:blipFill>
        <p:spPr>
          <a:xfrm>
            <a:off x="1015963" y="1814809"/>
            <a:ext cx="9636990" cy="3810705"/>
          </a:xfrm>
          <a:prstGeom prst="rect">
            <a:avLst/>
          </a:prstGeom>
        </p:spPr>
      </p:pic>
    </p:spTree>
    <p:extLst>
      <p:ext uri="{BB962C8B-B14F-4D97-AF65-F5344CB8AC3E}">
        <p14:creationId xmlns:p14="http://schemas.microsoft.com/office/powerpoint/2010/main" val="3851309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0F4A-22AE-47F4-9032-4A8685492BBD}"/>
              </a:ext>
            </a:extLst>
          </p:cNvPr>
          <p:cNvSpPr>
            <a:spLocks noGrp="1"/>
          </p:cNvSpPr>
          <p:nvPr>
            <p:ph type="title"/>
          </p:nvPr>
        </p:nvSpPr>
        <p:spPr/>
        <p:txBody>
          <a:bodyPr>
            <a:normAutofit/>
          </a:bodyPr>
          <a:lstStyle/>
          <a:p>
            <a:r>
              <a:rPr lang="en-US" sz="4000" dirty="0"/>
              <a:t>Accounting for contributed capital</a:t>
            </a:r>
          </a:p>
        </p:txBody>
      </p:sp>
      <p:sp>
        <p:nvSpPr>
          <p:cNvPr id="3" name="Content Placeholder 2">
            <a:extLst>
              <a:ext uri="{FF2B5EF4-FFF2-40B4-BE49-F238E27FC236}">
                <a16:creationId xmlns:a16="http://schemas.microsoft.com/office/drawing/2014/main" id="{94BD853D-B07D-46CE-AD65-9B6674D3AB4F}"/>
              </a:ext>
            </a:extLst>
          </p:cNvPr>
          <p:cNvSpPr>
            <a:spLocks noGrp="1"/>
          </p:cNvSpPr>
          <p:nvPr>
            <p:ph idx="1"/>
          </p:nvPr>
        </p:nvSpPr>
        <p:spPr>
          <a:xfrm>
            <a:off x="838200" y="1544270"/>
            <a:ext cx="10515600" cy="3957337"/>
          </a:xfrm>
        </p:spPr>
        <p:txBody>
          <a:bodyPr>
            <a:normAutofit/>
          </a:bodyPr>
          <a:lstStyle/>
          <a:p>
            <a:pPr marL="0" indent="0">
              <a:buNone/>
            </a:pPr>
            <a:r>
              <a:rPr lang="en-US" dirty="0"/>
              <a:t>A company issues 100 shares common stock and receives $300 cash from investors. </a:t>
            </a:r>
            <a:r>
              <a:rPr lang="en-US" dirty="0">
                <a:solidFill>
                  <a:srgbClr val="C00000"/>
                </a:solidFill>
              </a:rPr>
              <a:t>The stock has no par value listed.</a:t>
            </a:r>
          </a:p>
          <a:p>
            <a:endParaRPr lang="en-US" dirty="0">
              <a:solidFill>
                <a:srgbClr val="C00000"/>
              </a:solidFill>
            </a:endParaRPr>
          </a:p>
          <a:p>
            <a:pPr marL="0" indent="0">
              <a:buNone/>
            </a:pPr>
            <a:r>
              <a:rPr lang="en-US" dirty="0">
                <a:solidFill>
                  <a:srgbClr val="C00000"/>
                </a:solidFill>
              </a:rPr>
              <a:t>	</a:t>
            </a:r>
            <a:r>
              <a:rPr lang="en-US" sz="2400" dirty="0"/>
              <a:t>Cash (B-A)				300</a:t>
            </a:r>
          </a:p>
          <a:p>
            <a:pPr marL="0" indent="0">
              <a:buNone/>
            </a:pPr>
            <a:r>
              <a:rPr lang="en-US" sz="2400" dirty="0"/>
              <a:t>		Common Stock (B-E)		300</a:t>
            </a:r>
          </a:p>
          <a:p>
            <a:pPr marL="0" indent="0">
              <a:buNone/>
            </a:pPr>
            <a:endParaRPr lang="en-US" sz="2400" dirty="0"/>
          </a:p>
        </p:txBody>
      </p:sp>
    </p:spTree>
    <p:extLst>
      <p:ext uri="{BB962C8B-B14F-4D97-AF65-F5344CB8AC3E}">
        <p14:creationId xmlns:p14="http://schemas.microsoft.com/office/powerpoint/2010/main" val="118061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34E8-E31E-4EC8-B6F7-DA9F0E40E211}"/>
              </a:ext>
            </a:extLst>
          </p:cNvPr>
          <p:cNvSpPr>
            <a:spLocks noGrp="1"/>
          </p:cNvSpPr>
          <p:nvPr>
            <p:ph type="title"/>
          </p:nvPr>
        </p:nvSpPr>
        <p:spPr/>
        <p:txBody>
          <a:bodyPr>
            <a:normAutofit/>
          </a:bodyPr>
          <a:lstStyle/>
          <a:p>
            <a:r>
              <a:rPr lang="en-US" sz="4000" dirty="0"/>
              <a:t>What is Par Value?</a:t>
            </a:r>
          </a:p>
        </p:txBody>
      </p:sp>
      <p:sp>
        <p:nvSpPr>
          <p:cNvPr id="3" name="Content Placeholder 2">
            <a:extLst>
              <a:ext uri="{FF2B5EF4-FFF2-40B4-BE49-F238E27FC236}">
                <a16:creationId xmlns:a16="http://schemas.microsoft.com/office/drawing/2014/main" id="{35F29ECA-CA99-4586-B2B2-91282B180842}"/>
              </a:ext>
            </a:extLst>
          </p:cNvPr>
          <p:cNvSpPr>
            <a:spLocks noGrp="1"/>
          </p:cNvSpPr>
          <p:nvPr>
            <p:ph idx="1"/>
          </p:nvPr>
        </p:nvSpPr>
        <p:spPr>
          <a:xfrm>
            <a:off x="838200" y="1635909"/>
            <a:ext cx="10515600" cy="4328995"/>
          </a:xfrm>
        </p:spPr>
        <p:txBody>
          <a:bodyPr/>
          <a:lstStyle/>
          <a:p>
            <a:pPr>
              <a:buFont typeface="Arial" panose="020B0604020202020204" pitchFamily="34" charset="0"/>
              <a:buChar char="•"/>
            </a:pPr>
            <a:r>
              <a:rPr lang="en-US" dirty="0"/>
              <a:t>Nominal value per share set by firm’s articles of incorporation</a:t>
            </a:r>
          </a:p>
          <a:p>
            <a:pPr>
              <a:buFont typeface="Arial" panose="020B0604020202020204" pitchFamily="34" charset="0"/>
              <a:buChar char="•"/>
            </a:pPr>
            <a:endParaRPr lang="en-US" dirty="0"/>
          </a:p>
          <a:p>
            <a:pPr>
              <a:buFont typeface="Arial" panose="020B0604020202020204" pitchFamily="34" charset="0"/>
              <a:buChar char="•"/>
            </a:pPr>
            <a:r>
              <a:rPr lang="en-US" dirty="0"/>
              <a:t>Legal relic – unrelated to market value</a:t>
            </a:r>
          </a:p>
          <a:p>
            <a:pPr>
              <a:buFont typeface="Arial" panose="020B0604020202020204" pitchFamily="34" charset="0"/>
              <a:buChar char="•"/>
            </a:pPr>
            <a:endParaRPr lang="en-US" dirty="0"/>
          </a:p>
          <a:p>
            <a:pPr>
              <a:buFont typeface="Arial" panose="020B0604020202020204" pitchFamily="34" charset="0"/>
              <a:buChar char="•"/>
            </a:pPr>
            <a:r>
              <a:rPr lang="en-US" dirty="0"/>
              <a:t>Usually very low (a penny or less); can be zero (or no par value)</a:t>
            </a:r>
          </a:p>
          <a:p>
            <a:pPr>
              <a:buFont typeface="Arial" panose="020B0604020202020204" pitchFamily="34" charset="0"/>
              <a:buChar char="•"/>
            </a:pPr>
            <a:endParaRPr lang="en-US" dirty="0"/>
          </a:p>
          <a:p>
            <a:pPr>
              <a:buFont typeface="Arial" panose="020B0604020202020204" pitchFamily="34" charset="0"/>
              <a:buChar char="•"/>
            </a:pPr>
            <a:r>
              <a:rPr lang="en-US" dirty="0"/>
              <a:t>Most important: It is the amount recorded to Common Stock</a:t>
            </a:r>
          </a:p>
        </p:txBody>
      </p:sp>
    </p:spTree>
    <p:extLst>
      <p:ext uri="{BB962C8B-B14F-4D97-AF65-F5344CB8AC3E}">
        <p14:creationId xmlns:p14="http://schemas.microsoft.com/office/powerpoint/2010/main" val="1688802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0F4A-22AE-47F4-9032-4A8685492BBD}"/>
              </a:ext>
            </a:extLst>
          </p:cNvPr>
          <p:cNvSpPr>
            <a:spLocks noGrp="1"/>
          </p:cNvSpPr>
          <p:nvPr>
            <p:ph type="title"/>
          </p:nvPr>
        </p:nvSpPr>
        <p:spPr/>
        <p:txBody>
          <a:bodyPr>
            <a:normAutofit/>
          </a:bodyPr>
          <a:lstStyle/>
          <a:p>
            <a:r>
              <a:rPr lang="en-US" sz="4000" dirty="0"/>
              <a:t>Accounting for contributed capital</a:t>
            </a:r>
          </a:p>
        </p:txBody>
      </p:sp>
      <p:sp>
        <p:nvSpPr>
          <p:cNvPr id="3" name="Content Placeholder 2">
            <a:extLst>
              <a:ext uri="{FF2B5EF4-FFF2-40B4-BE49-F238E27FC236}">
                <a16:creationId xmlns:a16="http://schemas.microsoft.com/office/drawing/2014/main" id="{94BD853D-B07D-46CE-AD65-9B6674D3AB4F}"/>
              </a:ext>
            </a:extLst>
          </p:cNvPr>
          <p:cNvSpPr>
            <a:spLocks noGrp="1"/>
          </p:cNvSpPr>
          <p:nvPr>
            <p:ph idx="1"/>
          </p:nvPr>
        </p:nvSpPr>
        <p:spPr>
          <a:xfrm>
            <a:off x="838200" y="1544270"/>
            <a:ext cx="10515600" cy="3957337"/>
          </a:xfrm>
        </p:spPr>
        <p:txBody>
          <a:bodyPr>
            <a:normAutofit/>
          </a:bodyPr>
          <a:lstStyle/>
          <a:p>
            <a:pPr marL="0" indent="0">
              <a:buNone/>
            </a:pPr>
            <a:r>
              <a:rPr lang="en-US" dirty="0"/>
              <a:t>A company issues 100 shares of </a:t>
            </a:r>
            <a:r>
              <a:rPr lang="en-US" dirty="0">
                <a:solidFill>
                  <a:srgbClr val="C00000"/>
                </a:solidFill>
              </a:rPr>
              <a:t>$1 par value </a:t>
            </a:r>
            <a:r>
              <a:rPr lang="en-US" dirty="0"/>
              <a:t>common stock and receives $300 cash from investors. </a:t>
            </a:r>
            <a:endParaRPr lang="en-US" dirty="0">
              <a:solidFill>
                <a:srgbClr val="C00000"/>
              </a:solidFill>
            </a:endParaRPr>
          </a:p>
          <a:p>
            <a:pPr marL="0" indent="0">
              <a:buNone/>
            </a:pPr>
            <a:r>
              <a:rPr lang="en-US" dirty="0">
                <a:solidFill>
                  <a:srgbClr val="C00000"/>
                </a:solidFill>
              </a:rPr>
              <a:t>	</a:t>
            </a:r>
          </a:p>
          <a:p>
            <a:pPr marL="0" indent="0">
              <a:buNone/>
            </a:pPr>
            <a:r>
              <a:rPr lang="en-US" sz="2400" dirty="0">
                <a:solidFill>
                  <a:srgbClr val="C00000"/>
                </a:solidFill>
              </a:rPr>
              <a:t>	</a:t>
            </a:r>
            <a:r>
              <a:rPr lang="en-US" sz="2400" dirty="0"/>
              <a:t>Cash (B-A)				300</a:t>
            </a:r>
          </a:p>
          <a:p>
            <a:pPr marL="0" indent="0">
              <a:buNone/>
            </a:pPr>
            <a:r>
              <a:rPr lang="en-US" sz="2400" dirty="0"/>
              <a:t>		Common Stock (B-E)		100</a:t>
            </a:r>
          </a:p>
          <a:p>
            <a:pPr marL="0" indent="0">
              <a:buNone/>
            </a:pPr>
            <a:r>
              <a:rPr lang="en-US" sz="2400" dirty="0"/>
              <a:t>		Additional Paid in Capital (B-E)	200</a:t>
            </a:r>
          </a:p>
          <a:p>
            <a:pPr marL="0" indent="0">
              <a:buNone/>
            </a:pPr>
            <a:endParaRPr lang="en-US" sz="2400" dirty="0"/>
          </a:p>
        </p:txBody>
      </p:sp>
      <p:sp>
        <p:nvSpPr>
          <p:cNvPr id="4" name="TextBox 3">
            <a:extLst>
              <a:ext uri="{FF2B5EF4-FFF2-40B4-BE49-F238E27FC236}">
                <a16:creationId xmlns:a16="http://schemas.microsoft.com/office/drawing/2014/main" id="{A12E357F-098E-D43D-F9EC-31507081588A}"/>
              </a:ext>
            </a:extLst>
          </p:cNvPr>
          <p:cNvSpPr txBox="1"/>
          <p:nvPr/>
        </p:nvSpPr>
        <p:spPr>
          <a:xfrm>
            <a:off x="7972425" y="3400424"/>
            <a:ext cx="4064793" cy="461665"/>
          </a:xfrm>
          <a:prstGeom prst="rect">
            <a:avLst/>
          </a:prstGeom>
          <a:noFill/>
          <a:ln>
            <a:solidFill>
              <a:schemeClr val="tx1"/>
            </a:solidFill>
          </a:ln>
        </p:spPr>
        <p:txBody>
          <a:bodyPr wrap="square" rtlCol="0">
            <a:spAutoFit/>
          </a:bodyPr>
          <a:lstStyle/>
          <a:p>
            <a:pPr algn="ctr"/>
            <a:r>
              <a:rPr lang="en-US" sz="2400" b="1" dirty="0">
                <a:solidFill>
                  <a:schemeClr val="accent4">
                    <a:lumMod val="75000"/>
                  </a:schemeClr>
                </a:solidFill>
                <a:latin typeface="Ink Free" panose="03080402000500000000" pitchFamily="66" charset="0"/>
              </a:rPr>
              <a:t>C/S: Recognized at Par Value</a:t>
            </a:r>
          </a:p>
        </p:txBody>
      </p:sp>
      <p:sp>
        <p:nvSpPr>
          <p:cNvPr id="5" name="TextBox 4">
            <a:extLst>
              <a:ext uri="{FF2B5EF4-FFF2-40B4-BE49-F238E27FC236}">
                <a16:creationId xmlns:a16="http://schemas.microsoft.com/office/drawing/2014/main" id="{63005901-E2D6-3367-8334-05C5DEC52320}"/>
              </a:ext>
            </a:extLst>
          </p:cNvPr>
          <p:cNvSpPr txBox="1"/>
          <p:nvPr/>
        </p:nvSpPr>
        <p:spPr>
          <a:xfrm>
            <a:off x="4127897" y="4393865"/>
            <a:ext cx="1194197" cy="461665"/>
          </a:xfrm>
          <a:prstGeom prst="rect">
            <a:avLst/>
          </a:prstGeom>
          <a:noFill/>
          <a:ln>
            <a:solidFill>
              <a:schemeClr val="tx1"/>
            </a:solidFill>
          </a:ln>
        </p:spPr>
        <p:txBody>
          <a:bodyPr wrap="square" rtlCol="0">
            <a:spAutoFit/>
          </a:bodyPr>
          <a:lstStyle/>
          <a:p>
            <a:pPr algn="ctr"/>
            <a:r>
              <a:rPr lang="en-US" sz="2400" b="1" dirty="0">
                <a:solidFill>
                  <a:schemeClr val="accent4">
                    <a:lumMod val="75000"/>
                  </a:schemeClr>
                </a:solidFill>
                <a:latin typeface="Ink Free" panose="03080402000500000000" pitchFamily="66" charset="0"/>
              </a:rPr>
              <a:t>“APIC”</a:t>
            </a:r>
          </a:p>
        </p:txBody>
      </p:sp>
    </p:spTree>
    <p:extLst>
      <p:ext uri="{BB962C8B-B14F-4D97-AF65-F5344CB8AC3E}">
        <p14:creationId xmlns:p14="http://schemas.microsoft.com/office/powerpoint/2010/main" val="206271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9EB4-6734-46FF-A979-D8FB66858E58}"/>
              </a:ext>
            </a:extLst>
          </p:cNvPr>
          <p:cNvSpPr>
            <a:spLocks noGrp="1"/>
          </p:cNvSpPr>
          <p:nvPr>
            <p:ph type="title"/>
          </p:nvPr>
        </p:nvSpPr>
        <p:spPr>
          <a:xfrm>
            <a:off x="780691" y="80741"/>
            <a:ext cx="10515600" cy="1325563"/>
          </a:xfrm>
        </p:spPr>
        <p:txBody>
          <a:bodyPr>
            <a:normAutofit/>
          </a:bodyPr>
          <a:lstStyle/>
          <a:p>
            <a:r>
              <a:rPr lang="en-US" sz="3200" dirty="0"/>
              <a:t>Shareholders’ Equity – Target 2020</a:t>
            </a:r>
          </a:p>
        </p:txBody>
      </p:sp>
      <p:grpSp>
        <p:nvGrpSpPr>
          <p:cNvPr id="11" name="Group 10">
            <a:extLst>
              <a:ext uri="{FF2B5EF4-FFF2-40B4-BE49-F238E27FC236}">
                <a16:creationId xmlns:a16="http://schemas.microsoft.com/office/drawing/2014/main" id="{2812F850-0F9F-4192-8517-1D6BF2AC978D}"/>
              </a:ext>
            </a:extLst>
          </p:cNvPr>
          <p:cNvGrpSpPr>
            <a:grpSpLocks noChangeAspect="1"/>
          </p:cNvGrpSpPr>
          <p:nvPr/>
        </p:nvGrpSpPr>
        <p:grpSpPr>
          <a:xfrm>
            <a:off x="434732" y="1470438"/>
            <a:ext cx="11322535" cy="2615870"/>
            <a:chOff x="2705100" y="2452736"/>
            <a:chExt cx="6781800" cy="1566814"/>
          </a:xfrm>
        </p:grpSpPr>
        <p:pic>
          <p:nvPicPr>
            <p:cNvPr id="7" name="Picture 6">
              <a:extLst>
                <a:ext uri="{FF2B5EF4-FFF2-40B4-BE49-F238E27FC236}">
                  <a16:creationId xmlns:a16="http://schemas.microsoft.com/office/drawing/2014/main" id="{0AB7344E-5D38-486C-9C5C-5BE5FA20536E}"/>
                </a:ext>
              </a:extLst>
            </p:cNvPr>
            <p:cNvPicPr>
              <a:picLocks noChangeAspect="1"/>
            </p:cNvPicPr>
            <p:nvPr/>
          </p:nvPicPr>
          <p:blipFill>
            <a:blip r:embed="rId2"/>
            <a:stretch>
              <a:fillRect/>
            </a:stretch>
          </p:blipFill>
          <p:spPr>
            <a:xfrm>
              <a:off x="2705100" y="2838450"/>
              <a:ext cx="6781800" cy="1181100"/>
            </a:xfrm>
            <a:prstGeom prst="rect">
              <a:avLst/>
            </a:prstGeom>
          </p:spPr>
        </p:pic>
        <p:pic>
          <p:nvPicPr>
            <p:cNvPr id="10" name="Picture 9">
              <a:extLst>
                <a:ext uri="{FF2B5EF4-FFF2-40B4-BE49-F238E27FC236}">
                  <a16:creationId xmlns:a16="http://schemas.microsoft.com/office/drawing/2014/main" id="{140A5249-AF7E-4F11-B44D-D78B343B2E05}"/>
                </a:ext>
              </a:extLst>
            </p:cNvPr>
            <p:cNvPicPr>
              <a:picLocks noChangeAspect="1"/>
            </p:cNvPicPr>
            <p:nvPr/>
          </p:nvPicPr>
          <p:blipFill>
            <a:blip r:embed="rId3"/>
            <a:stretch>
              <a:fillRect/>
            </a:stretch>
          </p:blipFill>
          <p:spPr>
            <a:xfrm>
              <a:off x="2713890" y="2452736"/>
              <a:ext cx="6553200" cy="400050"/>
            </a:xfrm>
            <a:prstGeom prst="rect">
              <a:avLst/>
            </a:prstGeom>
          </p:spPr>
        </p:pic>
      </p:grpSp>
      <p:pic>
        <p:nvPicPr>
          <p:cNvPr id="13" name="Picture 12">
            <a:extLst>
              <a:ext uri="{FF2B5EF4-FFF2-40B4-BE49-F238E27FC236}">
                <a16:creationId xmlns:a16="http://schemas.microsoft.com/office/drawing/2014/main" id="{4E79497A-CEC7-4BC1-B6BD-9E84752BCFFC}"/>
              </a:ext>
            </a:extLst>
          </p:cNvPr>
          <p:cNvPicPr>
            <a:picLocks noChangeAspect="1"/>
          </p:cNvPicPr>
          <p:nvPr/>
        </p:nvPicPr>
        <p:blipFill>
          <a:blip r:embed="rId4"/>
          <a:stretch>
            <a:fillRect/>
          </a:stretch>
        </p:blipFill>
        <p:spPr>
          <a:xfrm>
            <a:off x="625561" y="4255125"/>
            <a:ext cx="10940877" cy="1322866"/>
          </a:xfrm>
          <a:prstGeom prst="rect">
            <a:avLst/>
          </a:prstGeom>
        </p:spPr>
      </p:pic>
      <p:sp>
        <p:nvSpPr>
          <p:cNvPr id="3" name="Rectangle 2">
            <a:extLst>
              <a:ext uri="{FF2B5EF4-FFF2-40B4-BE49-F238E27FC236}">
                <a16:creationId xmlns:a16="http://schemas.microsoft.com/office/drawing/2014/main" id="{99AB35E6-840B-A1A9-6CD8-92CFFDE034B5}"/>
              </a:ext>
            </a:extLst>
          </p:cNvPr>
          <p:cNvSpPr/>
          <p:nvPr/>
        </p:nvSpPr>
        <p:spPr>
          <a:xfrm>
            <a:off x="3893212" y="2364828"/>
            <a:ext cx="4241798" cy="8450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What amount had been raised from common stock by Jan 30 2021?</a:t>
            </a:r>
          </a:p>
        </p:txBody>
      </p:sp>
      <p:sp>
        <p:nvSpPr>
          <p:cNvPr id="5" name="Rectangle 4">
            <a:extLst>
              <a:ext uri="{FF2B5EF4-FFF2-40B4-BE49-F238E27FC236}">
                <a16:creationId xmlns:a16="http://schemas.microsoft.com/office/drawing/2014/main" id="{85923E56-2200-157F-9F21-7FEE4AF17DC0}"/>
              </a:ext>
            </a:extLst>
          </p:cNvPr>
          <p:cNvSpPr/>
          <p:nvPr/>
        </p:nvSpPr>
        <p:spPr>
          <a:xfrm>
            <a:off x="8717653" y="1569511"/>
            <a:ext cx="1387991" cy="53928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6" name="Rectangle 5">
            <a:extLst>
              <a:ext uri="{FF2B5EF4-FFF2-40B4-BE49-F238E27FC236}">
                <a16:creationId xmlns:a16="http://schemas.microsoft.com/office/drawing/2014/main" id="{8BB5BD8F-D045-BBD2-35A4-B48E5E37EC45}"/>
              </a:ext>
            </a:extLst>
          </p:cNvPr>
          <p:cNvSpPr/>
          <p:nvPr/>
        </p:nvSpPr>
        <p:spPr>
          <a:xfrm>
            <a:off x="565809" y="1791477"/>
            <a:ext cx="833784" cy="33294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Tree>
    <p:extLst>
      <p:ext uri="{BB962C8B-B14F-4D97-AF65-F5344CB8AC3E}">
        <p14:creationId xmlns:p14="http://schemas.microsoft.com/office/powerpoint/2010/main" val="290131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B0308-2F67-3B09-3C94-F9CEE84C2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6FCCC-2EF3-C531-1D93-3869464618F2}"/>
              </a:ext>
            </a:extLst>
          </p:cNvPr>
          <p:cNvSpPr>
            <a:spLocks noGrp="1"/>
          </p:cNvSpPr>
          <p:nvPr>
            <p:ph type="title"/>
          </p:nvPr>
        </p:nvSpPr>
        <p:spPr>
          <a:xfrm>
            <a:off x="780691" y="80741"/>
            <a:ext cx="10515600" cy="1325563"/>
          </a:xfrm>
        </p:spPr>
        <p:txBody>
          <a:bodyPr>
            <a:normAutofit/>
          </a:bodyPr>
          <a:lstStyle/>
          <a:p>
            <a:r>
              <a:rPr lang="en-US" sz="3200" dirty="0"/>
              <a:t>Shareholders’ Equity – Target 2020</a:t>
            </a:r>
          </a:p>
        </p:txBody>
      </p:sp>
      <p:grpSp>
        <p:nvGrpSpPr>
          <p:cNvPr id="11" name="Group 10">
            <a:extLst>
              <a:ext uri="{FF2B5EF4-FFF2-40B4-BE49-F238E27FC236}">
                <a16:creationId xmlns:a16="http://schemas.microsoft.com/office/drawing/2014/main" id="{9A84392A-C370-6629-18E7-5FF31B5A5743}"/>
              </a:ext>
            </a:extLst>
          </p:cNvPr>
          <p:cNvGrpSpPr>
            <a:grpSpLocks noChangeAspect="1"/>
          </p:cNvGrpSpPr>
          <p:nvPr/>
        </p:nvGrpSpPr>
        <p:grpSpPr>
          <a:xfrm>
            <a:off x="434732" y="1470438"/>
            <a:ext cx="11322535" cy="2615870"/>
            <a:chOff x="2705100" y="2452736"/>
            <a:chExt cx="6781800" cy="1566814"/>
          </a:xfrm>
        </p:grpSpPr>
        <p:pic>
          <p:nvPicPr>
            <p:cNvPr id="7" name="Picture 6">
              <a:extLst>
                <a:ext uri="{FF2B5EF4-FFF2-40B4-BE49-F238E27FC236}">
                  <a16:creationId xmlns:a16="http://schemas.microsoft.com/office/drawing/2014/main" id="{9A291541-8D42-244A-1A3F-87032A6A1651}"/>
                </a:ext>
              </a:extLst>
            </p:cNvPr>
            <p:cNvPicPr>
              <a:picLocks noChangeAspect="1"/>
            </p:cNvPicPr>
            <p:nvPr/>
          </p:nvPicPr>
          <p:blipFill>
            <a:blip r:embed="rId2"/>
            <a:stretch>
              <a:fillRect/>
            </a:stretch>
          </p:blipFill>
          <p:spPr>
            <a:xfrm>
              <a:off x="2705100" y="2838450"/>
              <a:ext cx="6781800" cy="1181100"/>
            </a:xfrm>
            <a:prstGeom prst="rect">
              <a:avLst/>
            </a:prstGeom>
          </p:spPr>
        </p:pic>
        <p:pic>
          <p:nvPicPr>
            <p:cNvPr id="10" name="Picture 9">
              <a:extLst>
                <a:ext uri="{FF2B5EF4-FFF2-40B4-BE49-F238E27FC236}">
                  <a16:creationId xmlns:a16="http://schemas.microsoft.com/office/drawing/2014/main" id="{C1B97EB9-F139-B722-A711-D5933C2BC9A2}"/>
                </a:ext>
              </a:extLst>
            </p:cNvPr>
            <p:cNvPicPr>
              <a:picLocks noChangeAspect="1"/>
            </p:cNvPicPr>
            <p:nvPr/>
          </p:nvPicPr>
          <p:blipFill>
            <a:blip r:embed="rId3"/>
            <a:stretch>
              <a:fillRect/>
            </a:stretch>
          </p:blipFill>
          <p:spPr>
            <a:xfrm>
              <a:off x="2713890" y="2452736"/>
              <a:ext cx="6553200" cy="400050"/>
            </a:xfrm>
            <a:prstGeom prst="rect">
              <a:avLst/>
            </a:prstGeom>
          </p:spPr>
        </p:pic>
      </p:grpSp>
      <p:pic>
        <p:nvPicPr>
          <p:cNvPr id="13" name="Picture 12">
            <a:extLst>
              <a:ext uri="{FF2B5EF4-FFF2-40B4-BE49-F238E27FC236}">
                <a16:creationId xmlns:a16="http://schemas.microsoft.com/office/drawing/2014/main" id="{C560A375-D0C1-2588-CD96-F89C24F07FEA}"/>
              </a:ext>
            </a:extLst>
          </p:cNvPr>
          <p:cNvPicPr>
            <a:picLocks noChangeAspect="1"/>
          </p:cNvPicPr>
          <p:nvPr/>
        </p:nvPicPr>
        <p:blipFill>
          <a:blip r:embed="rId4"/>
          <a:stretch>
            <a:fillRect/>
          </a:stretch>
        </p:blipFill>
        <p:spPr>
          <a:xfrm>
            <a:off x="625561" y="4255125"/>
            <a:ext cx="10940877" cy="1322866"/>
          </a:xfrm>
          <a:prstGeom prst="rect">
            <a:avLst/>
          </a:prstGeom>
        </p:spPr>
      </p:pic>
      <p:sp>
        <p:nvSpPr>
          <p:cNvPr id="3" name="Rectangle 2">
            <a:extLst>
              <a:ext uri="{FF2B5EF4-FFF2-40B4-BE49-F238E27FC236}">
                <a16:creationId xmlns:a16="http://schemas.microsoft.com/office/drawing/2014/main" id="{399E7344-04F4-AD90-1580-DDD8AE5C4B47}"/>
              </a:ext>
            </a:extLst>
          </p:cNvPr>
          <p:cNvSpPr/>
          <p:nvPr/>
        </p:nvSpPr>
        <p:spPr>
          <a:xfrm>
            <a:off x="3893212" y="2364828"/>
            <a:ext cx="4241798" cy="8450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What amount had been raised from common stock by Jan 30 2021?</a:t>
            </a:r>
          </a:p>
        </p:txBody>
      </p:sp>
      <p:sp>
        <p:nvSpPr>
          <p:cNvPr id="4" name="Rectangle 3">
            <a:extLst>
              <a:ext uri="{FF2B5EF4-FFF2-40B4-BE49-F238E27FC236}">
                <a16:creationId xmlns:a16="http://schemas.microsoft.com/office/drawing/2014/main" id="{0765E666-796A-DC18-C4B5-1DA50CE37169}"/>
              </a:ext>
            </a:extLst>
          </p:cNvPr>
          <p:cNvSpPr/>
          <p:nvPr/>
        </p:nvSpPr>
        <p:spPr>
          <a:xfrm>
            <a:off x="8494461" y="2451570"/>
            <a:ext cx="1526102" cy="6573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$6,371</a:t>
            </a:r>
          </a:p>
        </p:txBody>
      </p:sp>
      <p:sp>
        <p:nvSpPr>
          <p:cNvPr id="5" name="Rectangle 4">
            <a:extLst>
              <a:ext uri="{FF2B5EF4-FFF2-40B4-BE49-F238E27FC236}">
                <a16:creationId xmlns:a16="http://schemas.microsoft.com/office/drawing/2014/main" id="{4C4CE785-C611-FB78-930F-834700E66265}"/>
              </a:ext>
            </a:extLst>
          </p:cNvPr>
          <p:cNvSpPr/>
          <p:nvPr/>
        </p:nvSpPr>
        <p:spPr>
          <a:xfrm>
            <a:off x="8717653" y="1569511"/>
            <a:ext cx="1387991" cy="53928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6" name="Rectangle 5">
            <a:extLst>
              <a:ext uri="{FF2B5EF4-FFF2-40B4-BE49-F238E27FC236}">
                <a16:creationId xmlns:a16="http://schemas.microsoft.com/office/drawing/2014/main" id="{69721B30-E6F5-D0C6-7E9B-FB9406A7518D}"/>
              </a:ext>
            </a:extLst>
          </p:cNvPr>
          <p:cNvSpPr/>
          <p:nvPr/>
        </p:nvSpPr>
        <p:spPr>
          <a:xfrm>
            <a:off x="565809" y="1791477"/>
            <a:ext cx="833784" cy="33294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Tree>
    <p:extLst>
      <p:ext uri="{BB962C8B-B14F-4D97-AF65-F5344CB8AC3E}">
        <p14:creationId xmlns:p14="http://schemas.microsoft.com/office/powerpoint/2010/main" val="1791421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0DBC6-D9FD-46C5-8D57-4288DFC86807}"/>
              </a:ext>
            </a:extLst>
          </p:cNvPr>
          <p:cNvSpPr>
            <a:spLocks noGrp="1"/>
          </p:cNvSpPr>
          <p:nvPr>
            <p:ph type="title"/>
          </p:nvPr>
        </p:nvSpPr>
        <p:spPr/>
        <p:txBody>
          <a:bodyPr>
            <a:normAutofit/>
          </a:bodyPr>
          <a:lstStyle/>
          <a:p>
            <a:r>
              <a:rPr lang="en-US" sz="4000" dirty="0"/>
              <a:t>Retained Earnings</a:t>
            </a:r>
          </a:p>
        </p:txBody>
      </p:sp>
      <p:sp>
        <p:nvSpPr>
          <p:cNvPr id="3" name="Content Placeholder 2">
            <a:extLst>
              <a:ext uri="{FF2B5EF4-FFF2-40B4-BE49-F238E27FC236}">
                <a16:creationId xmlns:a16="http://schemas.microsoft.com/office/drawing/2014/main" id="{6113B56D-6C6C-45B7-AE4D-7FB8C80AD4D1}"/>
              </a:ext>
            </a:extLst>
          </p:cNvPr>
          <p:cNvSpPr>
            <a:spLocks noGrp="1"/>
          </p:cNvSpPr>
          <p:nvPr>
            <p:ph idx="1"/>
          </p:nvPr>
        </p:nvSpPr>
        <p:spPr>
          <a:xfrm>
            <a:off x="442823" y="1359801"/>
            <a:ext cx="10634932" cy="4327882"/>
          </a:xfrm>
        </p:spPr>
        <p:txBody>
          <a:bodyPr>
            <a:normAutofit/>
          </a:bodyPr>
          <a:lstStyle/>
          <a:p>
            <a:pPr marL="0" indent="0" fontAlgn="base">
              <a:buNone/>
            </a:pPr>
            <a:r>
              <a:rPr lang="en-US" dirty="0"/>
              <a:t>Accumulated net earnings less payouts over life of the firm​</a:t>
            </a:r>
          </a:p>
          <a:p>
            <a:pPr lvl="1" fontAlgn="base">
              <a:lnSpc>
                <a:spcPct val="100000"/>
              </a:lnSpc>
              <a:spcBef>
                <a:spcPts val="1200"/>
              </a:spcBef>
            </a:pPr>
            <a:r>
              <a:rPr lang="en-US" dirty="0"/>
              <a:t>Increased by profits​</a:t>
            </a:r>
          </a:p>
          <a:p>
            <a:pPr lvl="1" fontAlgn="base">
              <a:lnSpc>
                <a:spcPct val="100000"/>
              </a:lnSpc>
              <a:spcBef>
                <a:spcPts val="1200"/>
              </a:spcBef>
            </a:pPr>
            <a:r>
              <a:rPr lang="en-US" dirty="0"/>
              <a:t>Reduced by losses​</a:t>
            </a:r>
          </a:p>
          <a:p>
            <a:pPr lvl="1" fontAlgn="base">
              <a:lnSpc>
                <a:spcPct val="100000"/>
              </a:lnSpc>
              <a:spcBef>
                <a:spcPts val="1200"/>
              </a:spcBef>
            </a:pPr>
            <a:r>
              <a:rPr lang="en-US" dirty="0"/>
              <a:t>Reduced by dividend payment to shareholders (owners)​</a:t>
            </a:r>
          </a:p>
          <a:p>
            <a:pPr fontAlgn="base"/>
            <a:endParaRPr lang="en-US" dirty="0"/>
          </a:p>
          <a:p>
            <a:pPr marL="0" indent="0" fontAlgn="base">
              <a:buNone/>
            </a:pPr>
            <a:r>
              <a:rPr lang="en-US" sz="2400" dirty="0"/>
              <a:t>For any accounting period:​</a:t>
            </a:r>
          </a:p>
          <a:p>
            <a:pPr marL="0" indent="0" fontAlgn="base">
              <a:buNone/>
            </a:pPr>
            <a:endParaRPr lang="en-US" dirty="0"/>
          </a:p>
          <a:p>
            <a:pPr marL="0" indent="0">
              <a:buNone/>
            </a:pPr>
            <a:endParaRPr lang="en-US" dirty="0"/>
          </a:p>
        </p:txBody>
      </p:sp>
      <p:sp>
        <p:nvSpPr>
          <p:cNvPr id="5" name="TextBox 4">
            <a:extLst>
              <a:ext uri="{FF2B5EF4-FFF2-40B4-BE49-F238E27FC236}">
                <a16:creationId xmlns:a16="http://schemas.microsoft.com/office/drawing/2014/main" id="{3A5DFEC6-6CE0-447C-B848-673A25D2CA26}"/>
              </a:ext>
            </a:extLst>
          </p:cNvPr>
          <p:cNvSpPr txBox="1"/>
          <p:nvPr/>
        </p:nvSpPr>
        <p:spPr>
          <a:xfrm>
            <a:off x="1114245" y="4392728"/>
            <a:ext cx="7727045" cy="2308324"/>
          </a:xfrm>
          <a:prstGeom prst="rect">
            <a:avLst/>
          </a:prstGeom>
          <a:noFill/>
        </p:spPr>
        <p:txBody>
          <a:bodyPr wrap="square" rtlCol="0">
            <a:spAutoFit/>
          </a:bodyPr>
          <a:lstStyle/>
          <a:p>
            <a:r>
              <a:rPr lang="en-US" sz="3600" b="1" dirty="0">
                <a:solidFill>
                  <a:schemeClr val="accent4">
                    <a:lumMod val="75000"/>
                  </a:schemeClr>
                </a:solidFill>
                <a:latin typeface="Ink Free" panose="03080402000500000000" pitchFamily="66" charset="0"/>
              </a:rPr>
              <a:t>Retained Earnings, BEG</a:t>
            </a:r>
          </a:p>
          <a:p>
            <a:r>
              <a:rPr lang="en-US" sz="3600" b="1" dirty="0">
                <a:solidFill>
                  <a:schemeClr val="accent4">
                    <a:lumMod val="75000"/>
                  </a:schemeClr>
                </a:solidFill>
                <a:latin typeface="Ink Free" panose="03080402000500000000" pitchFamily="66" charset="0"/>
              </a:rPr>
              <a:t>+  Net Income (Loss)</a:t>
            </a:r>
          </a:p>
          <a:p>
            <a:r>
              <a:rPr lang="en-US" sz="3600" b="1" u="sng" dirty="0">
                <a:solidFill>
                  <a:schemeClr val="accent4">
                    <a:lumMod val="75000"/>
                  </a:schemeClr>
                </a:solidFill>
                <a:latin typeface="Ink Free" panose="03080402000500000000" pitchFamily="66" charset="0"/>
              </a:rPr>
              <a:t>-  Dividends Declared   </a:t>
            </a:r>
          </a:p>
          <a:p>
            <a:r>
              <a:rPr lang="en-US" sz="3600" b="1" dirty="0">
                <a:solidFill>
                  <a:schemeClr val="accent4">
                    <a:lumMod val="75000"/>
                  </a:schemeClr>
                </a:solidFill>
                <a:latin typeface="Ink Free" panose="03080402000500000000" pitchFamily="66" charset="0"/>
              </a:rPr>
              <a:t>Retained Earnings, END</a:t>
            </a:r>
          </a:p>
        </p:txBody>
      </p:sp>
      <p:sp>
        <p:nvSpPr>
          <p:cNvPr id="4" name="TextBox 3">
            <a:extLst>
              <a:ext uri="{FF2B5EF4-FFF2-40B4-BE49-F238E27FC236}">
                <a16:creationId xmlns:a16="http://schemas.microsoft.com/office/drawing/2014/main" id="{794833A3-D630-48B7-9695-F5AA5A305DC0}"/>
              </a:ext>
            </a:extLst>
          </p:cNvPr>
          <p:cNvSpPr txBox="1"/>
          <p:nvPr/>
        </p:nvSpPr>
        <p:spPr>
          <a:xfrm>
            <a:off x="6891001" y="4431865"/>
            <a:ext cx="5243422" cy="1323439"/>
          </a:xfrm>
          <a:prstGeom prst="rect">
            <a:avLst/>
          </a:prstGeom>
          <a:noFill/>
        </p:spPr>
        <p:txBody>
          <a:bodyPr wrap="square" rtlCol="0">
            <a:spAutoFit/>
          </a:bodyPr>
          <a:lstStyle/>
          <a:p>
            <a:r>
              <a:rPr lang="en-US" i="1" dirty="0"/>
              <a:t>Dividends declared may be paid now or later. </a:t>
            </a:r>
          </a:p>
          <a:p>
            <a:endParaRPr lang="en-US" sz="800" i="1" dirty="0"/>
          </a:p>
          <a:p>
            <a:r>
              <a:rPr lang="en-US" i="1" u="sng" dirty="0"/>
              <a:t>If paid later:</a:t>
            </a:r>
          </a:p>
          <a:p>
            <a:pPr>
              <a:tabLst>
                <a:tab pos="457200" algn="l"/>
                <a:tab pos="3709988" algn="l"/>
                <a:tab pos="4114800" algn="l"/>
              </a:tabLst>
            </a:pPr>
            <a:r>
              <a:rPr lang="en-US" i="1" dirty="0"/>
              <a:t>Dividends (or Ret. Earn) (B-E)	xx</a:t>
            </a:r>
          </a:p>
          <a:p>
            <a:pPr>
              <a:tabLst>
                <a:tab pos="457200" algn="l"/>
                <a:tab pos="3709988" algn="l"/>
                <a:tab pos="4395788" algn="l"/>
              </a:tabLst>
            </a:pPr>
            <a:r>
              <a:rPr lang="en-US" i="1" dirty="0"/>
              <a:t>	Dividends Payable (B-L)		xx</a:t>
            </a:r>
          </a:p>
        </p:txBody>
      </p:sp>
      <p:cxnSp>
        <p:nvCxnSpPr>
          <p:cNvPr id="8" name="Straight Arrow Connector 7">
            <a:extLst>
              <a:ext uri="{FF2B5EF4-FFF2-40B4-BE49-F238E27FC236}">
                <a16:creationId xmlns:a16="http://schemas.microsoft.com/office/drawing/2014/main" id="{7B07BC5D-CE74-4159-931A-A550EC515F94}"/>
              </a:ext>
            </a:extLst>
          </p:cNvPr>
          <p:cNvCxnSpPr>
            <a:cxnSpLocks/>
          </p:cNvCxnSpPr>
          <p:nvPr/>
        </p:nvCxnSpPr>
        <p:spPr>
          <a:xfrm flipH="1">
            <a:off x="5433649" y="5047488"/>
            <a:ext cx="930575" cy="6401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Left Brace 6">
            <a:extLst>
              <a:ext uri="{FF2B5EF4-FFF2-40B4-BE49-F238E27FC236}">
                <a16:creationId xmlns:a16="http://schemas.microsoft.com/office/drawing/2014/main" id="{5942010B-3696-4626-AB38-EF428071A126}"/>
              </a:ext>
            </a:extLst>
          </p:cNvPr>
          <p:cNvSpPr/>
          <p:nvPr/>
        </p:nvSpPr>
        <p:spPr>
          <a:xfrm>
            <a:off x="6547104" y="4383174"/>
            <a:ext cx="343897" cy="130450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8178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F4209-0CCD-4A4C-A0A1-2FDBA3F7DF6D}"/>
              </a:ext>
            </a:extLst>
          </p:cNvPr>
          <p:cNvSpPr>
            <a:spLocks noGrp="1"/>
          </p:cNvSpPr>
          <p:nvPr>
            <p:ph type="title"/>
          </p:nvPr>
        </p:nvSpPr>
        <p:spPr/>
        <p:txBody>
          <a:bodyPr/>
          <a:lstStyle/>
          <a:p>
            <a:r>
              <a:rPr lang="en-US" dirty="0"/>
              <a:t>In-class problem (Handout)</a:t>
            </a:r>
          </a:p>
        </p:txBody>
      </p:sp>
      <p:sp>
        <p:nvSpPr>
          <p:cNvPr id="6" name="Content Placeholder 5">
            <a:extLst>
              <a:ext uri="{FF2B5EF4-FFF2-40B4-BE49-F238E27FC236}">
                <a16:creationId xmlns:a16="http://schemas.microsoft.com/office/drawing/2014/main" id="{85152084-D909-49FA-A42D-88EB817657A9}"/>
              </a:ext>
            </a:extLst>
          </p:cNvPr>
          <p:cNvSpPr>
            <a:spLocks noGrp="1"/>
          </p:cNvSpPr>
          <p:nvPr>
            <p:ph idx="1"/>
          </p:nvPr>
        </p:nvSpPr>
        <p:spPr>
          <a:xfrm>
            <a:off x="460310" y="1285779"/>
            <a:ext cx="10731454" cy="3957337"/>
          </a:xfrm>
        </p:spPr>
        <p:txBody>
          <a:bodyPr/>
          <a:lstStyle/>
          <a:p>
            <a:pPr marL="0" indent="0">
              <a:buNone/>
            </a:pPr>
            <a:r>
              <a:rPr lang="en-US" sz="2000" dirty="0"/>
              <a:t>Pearl Street Bikes provides the following year-end account balances on December 31, 2024: </a:t>
            </a:r>
            <a:endParaRPr lang="en-US" dirty="0"/>
          </a:p>
        </p:txBody>
      </p:sp>
      <p:pic>
        <p:nvPicPr>
          <p:cNvPr id="4" name="Picture 3">
            <a:extLst>
              <a:ext uri="{FF2B5EF4-FFF2-40B4-BE49-F238E27FC236}">
                <a16:creationId xmlns:a16="http://schemas.microsoft.com/office/drawing/2014/main" id="{6E411BD5-FA19-BC52-CEA1-3FC162CEEAA9}"/>
              </a:ext>
            </a:extLst>
          </p:cNvPr>
          <p:cNvPicPr>
            <a:picLocks noChangeAspect="1"/>
          </p:cNvPicPr>
          <p:nvPr/>
        </p:nvPicPr>
        <p:blipFill>
          <a:blip r:embed="rId2"/>
          <a:stretch>
            <a:fillRect/>
          </a:stretch>
        </p:blipFill>
        <p:spPr>
          <a:xfrm>
            <a:off x="298274" y="1690885"/>
            <a:ext cx="5329896" cy="4988608"/>
          </a:xfrm>
          <a:prstGeom prst="rect">
            <a:avLst/>
          </a:prstGeom>
        </p:spPr>
      </p:pic>
      <p:sp>
        <p:nvSpPr>
          <p:cNvPr id="7" name="TextBox 6">
            <a:extLst>
              <a:ext uri="{FF2B5EF4-FFF2-40B4-BE49-F238E27FC236}">
                <a16:creationId xmlns:a16="http://schemas.microsoft.com/office/drawing/2014/main" id="{A8BDBE35-6CB3-B2D1-28CB-E7928D1CADE0}"/>
              </a:ext>
            </a:extLst>
          </p:cNvPr>
          <p:cNvSpPr txBox="1"/>
          <p:nvPr/>
        </p:nvSpPr>
        <p:spPr>
          <a:xfrm>
            <a:off x="5915609" y="2248729"/>
            <a:ext cx="6096000" cy="3139321"/>
          </a:xfrm>
          <a:prstGeom prst="rect">
            <a:avLst/>
          </a:prstGeom>
          <a:noFill/>
          <a:ln>
            <a:solidFill>
              <a:schemeClr val="tx1"/>
            </a:solidFill>
          </a:ln>
        </p:spPr>
        <p:txBody>
          <a:bodyPr wrap="square">
            <a:spAutoFit/>
          </a:bodyPr>
          <a:lstStyle/>
          <a:p>
            <a:r>
              <a:rPr lang="en-US" dirty="0"/>
              <a:t>Other info:</a:t>
            </a:r>
          </a:p>
          <a:p>
            <a:r>
              <a:rPr lang="en-US" dirty="0"/>
              <a:t>• On December 31, 2024, the company declared dividends of $50, but did not pay them (This is </a:t>
            </a:r>
            <a:r>
              <a:rPr lang="en-US" b="1" u="sng" dirty="0"/>
              <a:t>not</a:t>
            </a:r>
            <a:r>
              <a:rPr lang="en-US" dirty="0"/>
              <a:t> included in above accounts).</a:t>
            </a:r>
          </a:p>
          <a:p>
            <a:r>
              <a:rPr lang="en-US" dirty="0"/>
              <a:t>• The company is subject to a 30% income tax rate. If taxes are owed, the company will pay them in March 2025.</a:t>
            </a:r>
          </a:p>
          <a:p>
            <a:r>
              <a:rPr lang="en-US" dirty="0"/>
              <a:t>• The unearned revenue is related to goods to be delivered in June 2025.</a:t>
            </a:r>
          </a:p>
          <a:p>
            <a:endParaRPr lang="en-US" dirty="0"/>
          </a:p>
          <a:p>
            <a:r>
              <a:rPr lang="en-US" b="1" dirty="0"/>
              <a:t>Prepare a balance sheet for the current year.</a:t>
            </a:r>
          </a:p>
        </p:txBody>
      </p:sp>
    </p:spTree>
    <p:extLst>
      <p:ext uri="{BB962C8B-B14F-4D97-AF65-F5344CB8AC3E}">
        <p14:creationId xmlns:p14="http://schemas.microsoft.com/office/powerpoint/2010/main" val="1690433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F4209-0CCD-4A4C-A0A1-2FDBA3F7DF6D}"/>
              </a:ext>
            </a:extLst>
          </p:cNvPr>
          <p:cNvSpPr>
            <a:spLocks noGrp="1"/>
          </p:cNvSpPr>
          <p:nvPr>
            <p:ph type="title"/>
          </p:nvPr>
        </p:nvSpPr>
        <p:spPr/>
        <p:txBody>
          <a:bodyPr/>
          <a:lstStyle/>
          <a:p>
            <a:r>
              <a:rPr lang="en-US" dirty="0"/>
              <a:t>In-class problem (Handout)</a:t>
            </a:r>
          </a:p>
        </p:txBody>
      </p:sp>
      <p:pic>
        <p:nvPicPr>
          <p:cNvPr id="4" name="Picture 3">
            <a:extLst>
              <a:ext uri="{FF2B5EF4-FFF2-40B4-BE49-F238E27FC236}">
                <a16:creationId xmlns:a16="http://schemas.microsoft.com/office/drawing/2014/main" id="{77EA88C1-0FF1-3E1D-AC90-090BAF67813E}"/>
              </a:ext>
            </a:extLst>
          </p:cNvPr>
          <p:cNvPicPr>
            <a:picLocks noChangeAspect="1"/>
          </p:cNvPicPr>
          <p:nvPr/>
        </p:nvPicPr>
        <p:blipFill>
          <a:blip r:embed="rId2"/>
          <a:stretch>
            <a:fillRect/>
          </a:stretch>
        </p:blipFill>
        <p:spPr>
          <a:xfrm>
            <a:off x="5751194" y="1295642"/>
            <a:ext cx="3592183" cy="755596"/>
          </a:xfrm>
          <a:prstGeom prst="rect">
            <a:avLst/>
          </a:prstGeom>
          <a:ln>
            <a:solidFill>
              <a:schemeClr val="tx1"/>
            </a:solidFill>
          </a:ln>
        </p:spPr>
      </p:pic>
      <p:pic>
        <p:nvPicPr>
          <p:cNvPr id="9" name="Picture 8">
            <a:extLst>
              <a:ext uri="{FF2B5EF4-FFF2-40B4-BE49-F238E27FC236}">
                <a16:creationId xmlns:a16="http://schemas.microsoft.com/office/drawing/2014/main" id="{305F60AD-3716-52EB-E3A7-B78BC1B81D9D}"/>
              </a:ext>
            </a:extLst>
          </p:cNvPr>
          <p:cNvPicPr>
            <a:picLocks noChangeAspect="1"/>
          </p:cNvPicPr>
          <p:nvPr/>
        </p:nvPicPr>
        <p:blipFill>
          <a:blip r:embed="rId3"/>
          <a:stretch>
            <a:fillRect/>
          </a:stretch>
        </p:blipFill>
        <p:spPr>
          <a:xfrm>
            <a:off x="5768025" y="2215878"/>
            <a:ext cx="3566710" cy="3419279"/>
          </a:xfrm>
          <a:prstGeom prst="rect">
            <a:avLst/>
          </a:prstGeom>
          <a:ln>
            <a:solidFill>
              <a:schemeClr val="tx1"/>
            </a:solidFill>
          </a:ln>
        </p:spPr>
      </p:pic>
      <p:pic>
        <p:nvPicPr>
          <p:cNvPr id="13" name="Picture 12">
            <a:extLst>
              <a:ext uri="{FF2B5EF4-FFF2-40B4-BE49-F238E27FC236}">
                <a16:creationId xmlns:a16="http://schemas.microsoft.com/office/drawing/2014/main" id="{A0D9F49F-B13E-FBC8-7242-E2BD72955724}"/>
              </a:ext>
            </a:extLst>
          </p:cNvPr>
          <p:cNvPicPr>
            <a:picLocks noChangeAspect="1"/>
          </p:cNvPicPr>
          <p:nvPr/>
        </p:nvPicPr>
        <p:blipFill>
          <a:blip r:embed="rId4"/>
          <a:stretch>
            <a:fillRect/>
          </a:stretch>
        </p:blipFill>
        <p:spPr>
          <a:xfrm>
            <a:off x="5768025" y="5863687"/>
            <a:ext cx="3592182" cy="711017"/>
          </a:xfrm>
          <a:prstGeom prst="rect">
            <a:avLst/>
          </a:prstGeom>
          <a:ln>
            <a:solidFill>
              <a:schemeClr val="tx1"/>
            </a:solidFill>
          </a:ln>
        </p:spPr>
      </p:pic>
      <p:pic>
        <p:nvPicPr>
          <p:cNvPr id="3" name="Picture 2">
            <a:extLst>
              <a:ext uri="{FF2B5EF4-FFF2-40B4-BE49-F238E27FC236}">
                <a16:creationId xmlns:a16="http://schemas.microsoft.com/office/drawing/2014/main" id="{E183C094-65C1-A87F-4A13-976BA8AC34AE}"/>
              </a:ext>
            </a:extLst>
          </p:cNvPr>
          <p:cNvPicPr>
            <a:picLocks noChangeAspect="1"/>
          </p:cNvPicPr>
          <p:nvPr/>
        </p:nvPicPr>
        <p:blipFill rotWithShape="1">
          <a:blip r:embed="rId5"/>
          <a:srcRect b="3924"/>
          <a:stretch>
            <a:fillRect/>
          </a:stretch>
        </p:blipFill>
        <p:spPr bwMode="auto">
          <a:xfrm>
            <a:off x="5974242" y="2484854"/>
            <a:ext cx="3352579" cy="3108124"/>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32CC476F-EA6F-EA4D-DBDF-9FBEEEF5E499}"/>
              </a:ext>
            </a:extLst>
          </p:cNvPr>
          <p:cNvPicPr>
            <a:picLocks noChangeAspect="1"/>
          </p:cNvPicPr>
          <p:nvPr/>
        </p:nvPicPr>
        <p:blipFill>
          <a:blip r:embed="rId6"/>
          <a:stretch>
            <a:fillRect/>
          </a:stretch>
        </p:blipFill>
        <p:spPr>
          <a:xfrm>
            <a:off x="298274" y="1690885"/>
            <a:ext cx="5329896" cy="4988608"/>
          </a:xfrm>
          <a:prstGeom prst="rect">
            <a:avLst/>
          </a:prstGeom>
        </p:spPr>
      </p:pic>
      <p:pic>
        <p:nvPicPr>
          <p:cNvPr id="8" name="Picture 7">
            <a:extLst>
              <a:ext uri="{FF2B5EF4-FFF2-40B4-BE49-F238E27FC236}">
                <a16:creationId xmlns:a16="http://schemas.microsoft.com/office/drawing/2014/main" id="{113D3811-DD4D-28C0-B628-E338C3BCF4B4}"/>
              </a:ext>
            </a:extLst>
          </p:cNvPr>
          <p:cNvPicPr>
            <a:picLocks noChangeAspect="1"/>
          </p:cNvPicPr>
          <p:nvPr/>
        </p:nvPicPr>
        <p:blipFill>
          <a:blip r:embed="rId7"/>
          <a:stretch>
            <a:fillRect/>
          </a:stretch>
        </p:blipFill>
        <p:spPr>
          <a:xfrm>
            <a:off x="9687231" y="3759958"/>
            <a:ext cx="1992836" cy="1158465"/>
          </a:xfrm>
          <a:prstGeom prst="rect">
            <a:avLst/>
          </a:prstGeom>
          <a:ln>
            <a:solidFill>
              <a:schemeClr val="tx1"/>
            </a:solidFill>
          </a:ln>
        </p:spPr>
      </p:pic>
    </p:spTree>
    <p:extLst>
      <p:ext uri="{BB962C8B-B14F-4D97-AF65-F5344CB8AC3E}">
        <p14:creationId xmlns:p14="http://schemas.microsoft.com/office/powerpoint/2010/main" val="92326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248E34C-8B20-36C7-9622-A7B33CC1E5BA}"/>
              </a:ext>
            </a:extLst>
          </p:cNvPr>
          <p:cNvPicPr>
            <a:picLocks noChangeAspect="1"/>
          </p:cNvPicPr>
          <p:nvPr/>
        </p:nvPicPr>
        <p:blipFill>
          <a:blip r:embed="rId2"/>
          <a:stretch>
            <a:fillRect/>
          </a:stretch>
        </p:blipFill>
        <p:spPr>
          <a:xfrm>
            <a:off x="9064533" y="1693241"/>
            <a:ext cx="3053595" cy="3980829"/>
          </a:xfrm>
          <a:prstGeom prst="rect">
            <a:avLst/>
          </a:prstGeom>
          <a:ln>
            <a:solidFill>
              <a:schemeClr val="tx1"/>
            </a:solidFill>
          </a:ln>
        </p:spPr>
      </p:pic>
      <p:sp>
        <p:nvSpPr>
          <p:cNvPr id="2" name="Title 1">
            <a:extLst>
              <a:ext uri="{FF2B5EF4-FFF2-40B4-BE49-F238E27FC236}">
                <a16:creationId xmlns:a16="http://schemas.microsoft.com/office/drawing/2014/main" id="{0EFF4209-0CCD-4A4C-A0A1-2FDBA3F7DF6D}"/>
              </a:ext>
            </a:extLst>
          </p:cNvPr>
          <p:cNvSpPr>
            <a:spLocks noGrp="1"/>
          </p:cNvSpPr>
          <p:nvPr>
            <p:ph type="title"/>
          </p:nvPr>
        </p:nvSpPr>
        <p:spPr/>
        <p:txBody>
          <a:bodyPr/>
          <a:lstStyle/>
          <a:p>
            <a:r>
              <a:rPr lang="en-US" dirty="0"/>
              <a:t>In-class problem (Handout)</a:t>
            </a:r>
          </a:p>
        </p:txBody>
      </p:sp>
      <p:sp>
        <p:nvSpPr>
          <p:cNvPr id="17" name="Star: 5 Points 16">
            <a:extLst>
              <a:ext uri="{FF2B5EF4-FFF2-40B4-BE49-F238E27FC236}">
                <a16:creationId xmlns:a16="http://schemas.microsoft.com/office/drawing/2014/main" id="{F08010C5-D9C1-679E-CCDF-5E052EC531C4}"/>
              </a:ext>
            </a:extLst>
          </p:cNvPr>
          <p:cNvSpPr/>
          <p:nvPr/>
        </p:nvSpPr>
        <p:spPr>
          <a:xfrm>
            <a:off x="10591331" y="2496369"/>
            <a:ext cx="162684" cy="157075"/>
          </a:xfrm>
          <a:prstGeom prst="star5">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tar: 5 Points 17">
            <a:extLst>
              <a:ext uri="{FF2B5EF4-FFF2-40B4-BE49-F238E27FC236}">
                <a16:creationId xmlns:a16="http://schemas.microsoft.com/office/drawing/2014/main" id="{B609E3F5-5691-58A3-2696-D9C7E6B84951}"/>
              </a:ext>
            </a:extLst>
          </p:cNvPr>
          <p:cNvSpPr/>
          <p:nvPr/>
        </p:nvSpPr>
        <p:spPr>
          <a:xfrm>
            <a:off x="10160310" y="2727306"/>
            <a:ext cx="162684" cy="157075"/>
          </a:xfrm>
          <a:prstGeom prst="star5">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tar: 5 Points 18">
            <a:extLst>
              <a:ext uri="{FF2B5EF4-FFF2-40B4-BE49-F238E27FC236}">
                <a16:creationId xmlns:a16="http://schemas.microsoft.com/office/drawing/2014/main" id="{10688FBD-E14E-FA56-9EE3-4091E8B2292F}"/>
              </a:ext>
            </a:extLst>
          </p:cNvPr>
          <p:cNvSpPr/>
          <p:nvPr/>
        </p:nvSpPr>
        <p:spPr>
          <a:xfrm>
            <a:off x="10591331" y="4708506"/>
            <a:ext cx="162684" cy="157075"/>
          </a:xfrm>
          <a:prstGeom prst="star5">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091386E-2662-F6ED-5E52-4EF7B63193FF}"/>
              </a:ext>
            </a:extLst>
          </p:cNvPr>
          <p:cNvPicPr>
            <a:picLocks noChangeAspect="1"/>
          </p:cNvPicPr>
          <p:nvPr/>
        </p:nvPicPr>
        <p:blipFill>
          <a:blip r:embed="rId3"/>
          <a:stretch>
            <a:fillRect/>
          </a:stretch>
        </p:blipFill>
        <p:spPr>
          <a:xfrm>
            <a:off x="299031" y="1695142"/>
            <a:ext cx="5329896" cy="4988608"/>
          </a:xfrm>
          <a:prstGeom prst="rect">
            <a:avLst/>
          </a:prstGeom>
        </p:spPr>
      </p:pic>
      <p:pic>
        <p:nvPicPr>
          <p:cNvPr id="5" name="Picture 4">
            <a:extLst>
              <a:ext uri="{FF2B5EF4-FFF2-40B4-BE49-F238E27FC236}">
                <a16:creationId xmlns:a16="http://schemas.microsoft.com/office/drawing/2014/main" id="{1E034FFA-EC0C-9C58-8534-94039A32722D}"/>
              </a:ext>
            </a:extLst>
          </p:cNvPr>
          <p:cNvPicPr>
            <a:picLocks noChangeAspect="1"/>
          </p:cNvPicPr>
          <p:nvPr/>
        </p:nvPicPr>
        <p:blipFill>
          <a:blip r:embed="rId4"/>
          <a:stretch>
            <a:fillRect/>
          </a:stretch>
        </p:blipFill>
        <p:spPr>
          <a:xfrm>
            <a:off x="5724351" y="1917510"/>
            <a:ext cx="3255187" cy="3089669"/>
          </a:xfrm>
          <a:prstGeom prst="rect">
            <a:avLst/>
          </a:prstGeom>
          <a:ln>
            <a:solidFill>
              <a:schemeClr val="tx1"/>
            </a:solidFill>
          </a:ln>
        </p:spPr>
      </p:pic>
    </p:spTree>
    <p:extLst>
      <p:ext uri="{BB962C8B-B14F-4D97-AF65-F5344CB8AC3E}">
        <p14:creationId xmlns:p14="http://schemas.microsoft.com/office/powerpoint/2010/main" val="2986595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2"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15">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09307FA3-3FD6-4AD3-9C1A-9D077A555276}"/>
              </a:ext>
            </a:extLst>
          </p:cNvPr>
          <p:cNvSpPr>
            <a:spLocks noGrp="1"/>
          </p:cNvSpPr>
          <p:nvPr>
            <p:ph type="title"/>
          </p:nvPr>
        </p:nvSpPr>
        <p:spPr>
          <a:xfrm>
            <a:off x="1047280" y="759805"/>
            <a:ext cx="10306520" cy="1325563"/>
          </a:xfrm>
        </p:spPr>
        <p:txBody>
          <a:bodyPr>
            <a:normAutofit/>
          </a:bodyPr>
          <a:lstStyle/>
          <a:p>
            <a:r>
              <a:rPr lang="en-US" sz="4000" dirty="0">
                <a:solidFill>
                  <a:srgbClr val="FFFFFF"/>
                </a:solidFill>
              </a:rPr>
              <a:t>Some Takeaways</a:t>
            </a:r>
          </a:p>
        </p:txBody>
      </p:sp>
      <p:sp>
        <p:nvSpPr>
          <p:cNvPr id="3" name="Content Placeholder 2">
            <a:extLst>
              <a:ext uri="{FF2B5EF4-FFF2-40B4-BE49-F238E27FC236}">
                <a16:creationId xmlns:a16="http://schemas.microsoft.com/office/drawing/2014/main" id="{814BC936-E1BE-4193-BC53-558CC02AED77}"/>
              </a:ext>
            </a:extLst>
          </p:cNvPr>
          <p:cNvSpPr>
            <a:spLocks noGrp="1"/>
          </p:cNvSpPr>
          <p:nvPr>
            <p:ph idx="1"/>
          </p:nvPr>
        </p:nvSpPr>
        <p:spPr>
          <a:xfrm>
            <a:off x="1425306" y="2659126"/>
            <a:ext cx="5277101" cy="3563159"/>
          </a:xfrm>
        </p:spPr>
        <p:txBody>
          <a:bodyPr>
            <a:normAutofit/>
          </a:bodyPr>
          <a:lstStyle/>
          <a:p>
            <a:pPr>
              <a:lnSpc>
                <a:spcPct val="100000"/>
              </a:lnSpc>
              <a:spcBef>
                <a:spcPts val="1200"/>
              </a:spcBef>
            </a:pPr>
            <a:r>
              <a:rPr lang="en-US" sz="2000" dirty="0"/>
              <a:t>Classified balance sheet shows current assets and liabilities separately</a:t>
            </a:r>
          </a:p>
          <a:p>
            <a:pPr>
              <a:lnSpc>
                <a:spcPct val="100000"/>
              </a:lnSpc>
              <a:spcBef>
                <a:spcPts val="1200"/>
              </a:spcBef>
            </a:pPr>
            <a:r>
              <a:rPr lang="en-US" sz="2000"/>
              <a:t>If </a:t>
            </a:r>
            <a:r>
              <a:rPr lang="en-US" sz="2000" dirty="0"/>
              <a:t>there is a par value, APIC reports the amount received </a:t>
            </a:r>
            <a:r>
              <a:rPr lang="en-US" sz="2000" u="sng" dirty="0"/>
              <a:t>in excess</a:t>
            </a:r>
            <a:r>
              <a:rPr lang="en-US" sz="2000" dirty="0"/>
              <a:t>.</a:t>
            </a:r>
          </a:p>
          <a:p>
            <a:pPr>
              <a:lnSpc>
                <a:spcPct val="100000"/>
              </a:lnSpc>
              <a:spcBef>
                <a:spcPts val="1200"/>
              </a:spcBef>
            </a:pPr>
            <a:r>
              <a:rPr lang="en-US" sz="2000" dirty="0"/>
              <a:t>Dividends declared reduce retained earnings (even if not yet paid in cash)</a:t>
            </a:r>
          </a:p>
        </p:txBody>
      </p:sp>
      <p:pic>
        <p:nvPicPr>
          <p:cNvPr id="4" name="Picture 3" descr="A green sign with white text&#10;&#10;Description automatically generated with medium confidence">
            <a:extLst>
              <a:ext uri="{FF2B5EF4-FFF2-40B4-BE49-F238E27FC236}">
                <a16:creationId xmlns:a16="http://schemas.microsoft.com/office/drawing/2014/main" id="{A24E5D7B-FA3A-4CA1-81CD-D5AC74A9DE80}"/>
              </a:ext>
            </a:extLst>
          </p:cNvPr>
          <p:cNvPicPr>
            <a:picLocks noChangeAspect="1"/>
          </p:cNvPicPr>
          <p:nvPr/>
        </p:nvPicPr>
        <p:blipFill rotWithShape="1">
          <a:blip r:embed="rId2"/>
          <a:srcRect l="2261" r="4748" b="2"/>
          <a:stretch/>
        </p:blipFill>
        <p:spPr>
          <a:xfrm>
            <a:off x="7008392" y="2492389"/>
            <a:ext cx="3892903" cy="2888504"/>
          </a:xfrm>
          <a:prstGeom prst="rect">
            <a:avLst/>
          </a:prstGeom>
        </p:spPr>
      </p:pic>
    </p:spTree>
    <p:extLst>
      <p:ext uri="{BB962C8B-B14F-4D97-AF65-F5344CB8AC3E}">
        <p14:creationId xmlns:p14="http://schemas.microsoft.com/office/powerpoint/2010/main" val="1131070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2"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15">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09307FA3-3FD6-4AD3-9C1A-9D077A555276}"/>
              </a:ext>
            </a:extLst>
          </p:cNvPr>
          <p:cNvSpPr>
            <a:spLocks noGrp="1"/>
          </p:cNvSpPr>
          <p:nvPr>
            <p:ph type="title"/>
          </p:nvPr>
        </p:nvSpPr>
        <p:spPr>
          <a:xfrm>
            <a:off x="1047280" y="759805"/>
            <a:ext cx="10306520" cy="1325563"/>
          </a:xfrm>
        </p:spPr>
        <p:txBody>
          <a:bodyPr>
            <a:normAutofit/>
          </a:bodyPr>
          <a:lstStyle/>
          <a:p>
            <a:r>
              <a:rPr lang="en-US" sz="4000" dirty="0">
                <a:solidFill>
                  <a:srgbClr val="FFFFFF"/>
                </a:solidFill>
              </a:rPr>
              <a:t>Bonus Problem? </a:t>
            </a:r>
          </a:p>
        </p:txBody>
      </p:sp>
      <p:sp>
        <p:nvSpPr>
          <p:cNvPr id="3" name="Content Placeholder 2">
            <a:extLst>
              <a:ext uri="{FF2B5EF4-FFF2-40B4-BE49-F238E27FC236}">
                <a16:creationId xmlns:a16="http://schemas.microsoft.com/office/drawing/2014/main" id="{814BC936-E1BE-4193-BC53-558CC02AED77}"/>
              </a:ext>
            </a:extLst>
          </p:cNvPr>
          <p:cNvSpPr>
            <a:spLocks noGrp="1"/>
          </p:cNvSpPr>
          <p:nvPr>
            <p:ph idx="1"/>
          </p:nvPr>
        </p:nvSpPr>
        <p:spPr>
          <a:xfrm>
            <a:off x="1424904" y="2494450"/>
            <a:ext cx="5277101" cy="3563159"/>
          </a:xfrm>
        </p:spPr>
        <p:txBody>
          <a:bodyPr>
            <a:normAutofit/>
          </a:bodyPr>
          <a:lstStyle/>
          <a:p>
            <a:pPr>
              <a:lnSpc>
                <a:spcPct val="100000"/>
              </a:lnSpc>
              <a:spcBef>
                <a:spcPts val="1200"/>
              </a:spcBef>
            </a:pPr>
            <a:r>
              <a:rPr lang="en-US" sz="2400" b="1" dirty="0"/>
              <a:t>Discontinued Operations</a:t>
            </a:r>
          </a:p>
        </p:txBody>
      </p:sp>
      <p:pic>
        <p:nvPicPr>
          <p:cNvPr id="17" name="Picture 16" descr="Text, letter&#10;&#10;Description automatically generated">
            <a:extLst>
              <a:ext uri="{FF2B5EF4-FFF2-40B4-BE49-F238E27FC236}">
                <a16:creationId xmlns:a16="http://schemas.microsoft.com/office/drawing/2014/main" id="{15A27856-6E62-469B-98F7-1965B5CAB795}"/>
              </a:ext>
            </a:extLst>
          </p:cNvPr>
          <p:cNvPicPr>
            <a:picLocks noChangeAspect="1"/>
          </p:cNvPicPr>
          <p:nvPr/>
        </p:nvPicPr>
        <p:blipFill rotWithShape="1">
          <a:blip r:embed="rId2"/>
          <a:srcRect l="8046" r="16482" b="1"/>
          <a:stretch/>
        </p:blipFill>
        <p:spPr>
          <a:xfrm>
            <a:off x="7191216" y="2494450"/>
            <a:ext cx="3867989" cy="2870038"/>
          </a:xfrm>
          <a:prstGeom prst="rect">
            <a:avLst/>
          </a:prstGeom>
        </p:spPr>
      </p:pic>
    </p:spTree>
    <p:extLst>
      <p:ext uri="{BB962C8B-B14F-4D97-AF65-F5344CB8AC3E}">
        <p14:creationId xmlns:p14="http://schemas.microsoft.com/office/powerpoint/2010/main" val="139167734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2272</TotalTime>
  <Words>810</Words>
  <Application>Microsoft Office PowerPoint</Application>
  <PresentationFormat>Widescreen</PresentationFormat>
  <Paragraphs>114</Paragraphs>
  <Slides>20</Slides>
  <Notes>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20</vt:i4>
      </vt:variant>
    </vt:vector>
  </HeadingPairs>
  <TitlesOfParts>
    <vt:vector size="30" baseType="lpstr">
      <vt:lpstr>Source Sans Pro</vt:lpstr>
      <vt:lpstr>Calibri</vt:lpstr>
      <vt:lpstr>Times New Roman</vt:lpstr>
      <vt:lpstr>Arial Black</vt:lpstr>
      <vt:lpstr>Arial</vt:lpstr>
      <vt:lpstr>STIX</vt:lpstr>
      <vt:lpstr>Ink Free</vt:lpstr>
      <vt:lpstr>Georgia</vt:lpstr>
      <vt:lpstr>1_Office Theme</vt:lpstr>
      <vt:lpstr>Simple Light</vt:lpstr>
      <vt:lpstr>PowerPoint Presentation</vt:lpstr>
      <vt:lpstr>BAP: Upcoming Events</vt:lpstr>
      <vt:lpstr>Meet the Firms</vt:lpstr>
      <vt:lpstr>Key Points from the Video</vt:lpstr>
      <vt:lpstr>Asset or Liability? Current or Non?</vt:lpstr>
      <vt:lpstr>Asset or Liability? Current or Non?</vt:lpstr>
      <vt:lpstr>Useful Textbook References</vt:lpstr>
      <vt:lpstr>Shareholders’ Equity​</vt:lpstr>
      <vt:lpstr>Paid-in or Contributed Capital</vt:lpstr>
      <vt:lpstr>Accounting for contributed capital</vt:lpstr>
      <vt:lpstr>What is Par Value?</vt:lpstr>
      <vt:lpstr>Accounting for contributed capital</vt:lpstr>
      <vt:lpstr>Shareholders’ Equity – Target 2020</vt:lpstr>
      <vt:lpstr>Shareholders’ Equity – Target 2020</vt:lpstr>
      <vt:lpstr>Retained Earnings</vt:lpstr>
      <vt:lpstr>In-class problem (Handout)</vt:lpstr>
      <vt:lpstr>In-class problem (Handout)</vt:lpstr>
      <vt:lpstr>In-class problem (Handout)</vt:lpstr>
      <vt:lpstr>Some Takeaways</vt:lpstr>
      <vt:lpstr>Bonus Problem?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Susan McMahon</dc:creator>
  <cp:lastModifiedBy>Jeremiah Contreras</cp:lastModifiedBy>
  <cp:revision>121</cp:revision>
  <dcterms:created xsi:type="dcterms:W3CDTF">2020-06-14T18:30:52Z</dcterms:created>
  <dcterms:modified xsi:type="dcterms:W3CDTF">2025-09-08T11:24:53Z</dcterms:modified>
</cp:coreProperties>
</file>