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95" r:id="rId2"/>
    <p:sldId id="285" r:id="rId3"/>
    <p:sldId id="296" r:id="rId4"/>
    <p:sldId id="290" r:id="rId5"/>
    <p:sldId id="262" r:id="rId6"/>
    <p:sldId id="299" r:id="rId7"/>
    <p:sldId id="264" r:id="rId8"/>
    <p:sldId id="300" r:id="rId9"/>
    <p:sldId id="266" r:id="rId10"/>
    <p:sldId id="324" r:id="rId11"/>
    <p:sldId id="325" r:id="rId12"/>
    <p:sldId id="267" r:id="rId13"/>
    <p:sldId id="298" r:id="rId14"/>
    <p:sldId id="32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674" autoAdjust="0"/>
    <p:restoredTop sz="86448"/>
  </p:normalViewPr>
  <p:slideViewPr>
    <p:cSldViewPr snapToGrid="0" snapToObjects="1">
      <p:cViewPr varScale="1">
        <p:scale>
          <a:sx n="68" d="100"/>
          <a:sy n="68" d="100"/>
        </p:scale>
        <p:origin x="60" y="189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remiah Contreras" userId="9ea49ee18badb19e" providerId="LiveId" clId="{946CEE2E-8DA2-4451-BE1F-04A1055BF161}"/>
    <pc:docChg chg="delSld">
      <pc:chgData name="Jeremiah Contreras" userId="9ea49ee18badb19e" providerId="LiveId" clId="{946CEE2E-8DA2-4451-BE1F-04A1055BF161}" dt="2022-09-17T13:38:28.753" v="2" actId="47"/>
      <pc:docMkLst>
        <pc:docMk/>
      </pc:docMkLst>
      <pc:sldChg chg="del">
        <pc:chgData name="Jeremiah Contreras" userId="9ea49ee18badb19e" providerId="LiveId" clId="{946CEE2E-8DA2-4451-BE1F-04A1055BF161}" dt="2022-09-17T12:53:47.118" v="1" actId="47"/>
        <pc:sldMkLst>
          <pc:docMk/>
          <pc:sldMk cId="628696160" sldId="263"/>
        </pc:sldMkLst>
      </pc:sldChg>
      <pc:sldChg chg="del">
        <pc:chgData name="Jeremiah Contreras" userId="9ea49ee18badb19e" providerId="LiveId" clId="{946CEE2E-8DA2-4451-BE1F-04A1055BF161}" dt="2022-09-17T13:38:28.753" v="2" actId="47"/>
        <pc:sldMkLst>
          <pc:docMk/>
          <pc:sldMk cId="2415811218" sldId="269"/>
        </pc:sldMkLst>
      </pc:sldChg>
      <pc:sldChg chg="del">
        <pc:chgData name="Jeremiah Contreras" userId="9ea49ee18badb19e" providerId="LiveId" clId="{946CEE2E-8DA2-4451-BE1F-04A1055BF161}" dt="2022-09-17T13:38:28.753" v="2" actId="47"/>
        <pc:sldMkLst>
          <pc:docMk/>
          <pc:sldMk cId="3485039674" sldId="272"/>
        </pc:sldMkLst>
      </pc:sldChg>
      <pc:sldChg chg="del">
        <pc:chgData name="Jeremiah Contreras" userId="9ea49ee18badb19e" providerId="LiveId" clId="{946CEE2E-8DA2-4451-BE1F-04A1055BF161}" dt="2022-09-17T13:38:28.753" v="2" actId="47"/>
        <pc:sldMkLst>
          <pc:docMk/>
          <pc:sldMk cId="932484369" sldId="273"/>
        </pc:sldMkLst>
      </pc:sldChg>
      <pc:sldChg chg="del">
        <pc:chgData name="Jeremiah Contreras" userId="9ea49ee18badb19e" providerId="LiveId" clId="{946CEE2E-8DA2-4451-BE1F-04A1055BF161}" dt="2022-09-17T13:38:28.753" v="2" actId="47"/>
        <pc:sldMkLst>
          <pc:docMk/>
          <pc:sldMk cId="949573090" sldId="274"/>
        </pc:sldMkLst>
      </pc:sldChg>
      <pc:sldChg chg="del">
        <pc:chgData name="Jeremiah Contreras" userId="9ea49ee18badb19e" providerId="LiveId" clId="{946CEE2E-8DA2-4451-BE1F-04A1055BF161}" dt="2022-09-17T13:38:28.753" v="2" actId="47"/>
        <pc:sldMkLst>
          <pc:docMk/>
          <pc:sldMk cId="2431716243" sldId="275"/>
        </pc:sldMkLst>
      </pc:sldChg>
      <pc:sldChg chg="del">
        <pc:chgData name="Jeremiah Contreras" userId="9ea49ee18badb19e" providerId="LiveId" clId="{946CEE2E-8DA2-4451-BE1F-04A1055BF161}" dt="2022-09-17T12:53:47.118" v="1" actId="47"/>
        <pc:sldMkLst>
          <pc:docMk/>
          <pc:sldMk cId="3779434668" sldId="301"/>
        </pc:sldMkLst>
      </pc:sldChg>
      <pc:sldChg chg="del">
        <pc:chgData name="Jeremiah Contreras" userId="9ea49ee18badb19e" providerId="LiveId" clId="{946CEE2E-8DA2-4451-BE1F-04A1055BF161}" dt="2022-09-17T13:38:28.753" v="2" actId="47"/>
        <pc:sldMkLst>
          <pc:docMk/>
          <pc:sldMk cId="886742849" sldId="303"/>
        </pc:sldMkLst>
      </pc:sldChg>
      <pc:sldChg chg="del">
        <pc:chgData name="Jeremiah Contreras" userId="9ea49ee18badb19e" providerId="LiveId" clId="{946CEE2E-8DA2-4451-BE1F-04A1055BF161}" dt="2022-09-17T13:38:28.753" v="2" actId="47"/>
        <pc:sldMkLst>
          <pc:docMk/>
          <pc:sldMk cId="4113962692" sldId="313"/>
        </pc:sldMkLst>
      </pc:sldChg>
      <pc:sldChg chg="del">
        <pc:chgData name="Jeremiah Contreras" userId="9ea49ee18badb19e" providerId="LiveId" clId="{946CEE2E-8DA2-4451-BE1F-04A1055BF161}" dt="2022-09-17T13:38:28.753" v="2" actId="47"/>
        <pc:sldMkLst>
          <pc:docMk/>
          <pc:sldMk cId="2490572940" sldId="314"/>
        </pc:sldMkLst>
      </pc:sldChg>
      <pc:sldChg chg="del">
        <pc:chgData name="Jeremiah Contreras" userId="9ea49ee18badb19e" providerId="LiveId" clId="{946CEE2E-8DA2-4451-BE1F-04A1055BF161}" dt="2022-09-17T13:38:28.753" v="2" actId="47"/>
        <pc:sldMkLst>
          <pc:docMk/>
          <pc:sldMk cId="4083196713" sldId="315"/>
        </pc:sldMkLst>
      </pc:sldChg>
      <pc:sldChg chg="del">
        <pc:chgData name="Jeremiah Contreras" userId="9ea49ee18badb19e" providerId="LiveId" clId="{946CEE2E-8DA2-4451-BE1F-04A1055BF161}" dt="2022-09-17T13:38:28.753" v="2" actId="47"/>
        <pc:sldMkLst>
          <pc:docMk/>
          <pc:sldMk cId="506929921" sldId="316"/>
        </pc:sldMkLst>
      </pc:sldChg>
      <pc:sldChg chg="del">
        <pc:chgData name="Jeremiah Contreras" userId="9ea49ee18badb19e" providerId="LiveId" clId="{946CEE2E-8DA2-4451-BE1F-04A1055BF161}" dt="2022-09-17T13:38:28.753" v="2" actId="47"/>
        <pc:sldMkLst>
          <pc:docMk/>
          <pc:sldMk cId="2476937257" sldId="317"/>
        </pc:sldMkLst>
      </pc:sldChg>
      <pc:sldChg chg="del">
        <pc:chgData name="Jeremiah Contreras" userId="9ea49ee18badb19e" providerId="LiveId" clId="{946CEE2E-8DA2-4451-BE1F-04A1055BF161}" dt="2022-09-17T13:38:28.753" v="2" actId="47"/>
        <pc:sldMkLst>
          <pc:docMk/>
          <pc:sldMk cId="2945221207" sldId="319"/>
        </pc:sldMkLst>
      </pc:sldChg>
      <pc:sldChg chg="del">
        <pc:chgData name="Jeremiah Contreras" userId="9ea49ee18badb19e" providerId="LiveId" clId="{946CEE2E-8DA2-4451-BE1F-04A1055BF161}" dt="2022-09-17T12:51:04.998" v="0" actId="47"/>
        <pc:sldMkLst>
          <pc:docMk/>
          <pc:sldMk cId="3351408018" sldId="320"/>
        </pc:sldMkLst>
      </pc:sldChg>
      <pc:sldChg chg="del">
        <pc:chgData name="Jeremiah Contreras" userId="9ea49ee18badb19e" providerId="LiveId" clId="{946CEE2E-8DA2-4451-BE1F-04A1055BF161}" dt="2022-09-17T13:38:28.753" v="2" actId="47"/>
        <pc:sldMkLst>
          <pc:docMk/>
          <pc:sldMk cId="138552357" sldId="322"/>
        </pc:sldMkLst>
      </pc:sldChg>
      <pc:sldChg chg="del">
        <pc:chgData name="Jeremiah Contreras" userId="9ea49ee18badb19e" providerId="LiveId" clId="{946CEE2E-8DA2-4451-BE1F-04A1055BF161}" dt="2022-09-17T13:38:28.753" v="2" actId="47"/>
        <pc:sldMkLst>
          <pc:docMk/>
          <pc:sldMk cId="2222804360" sldId="323"/>
        </pc:sldMkLst>
      </pc:sldChg>
      <pc:sldChg chg="del">
        <pc:chgData name="Jeremiah Contreras" userId="9ea49ee18badb19e" providerId="LiveId" clId="{946CEE2E-8DA2-4451-BE1F-04A1055BF161}" dt="2022-09-17T13:38:28.753" v="2" actId="47"/>
        <pc:sldMkLst>
          <pc:docMk/>
          <pc:sldMk cId="1949716515" sldId="327"/>
        </pc:sldMkLst>
      </pc:sldChg>
      <pc:sldChg chg="del">
        <pc:chgData name="Jeremiah Contreras" userId="9ea49ee18badb19e" providerId="LiveId" clId="{946CEE2E-8DA2-4451-BE1F-04A1055BF161}" dt="2022-09-17T13:38:28.753" v="2" actId="47"/>
        <pc:sldMkLst>
          <pc:docMk/>
          <pc:sldMk cId="2073870762" sldId="328"/>
        </pc:sldMkLst>
      </pc:sldChg>
      <pc:sldChg chg="del">
        <pc:chgData name="Jeremiah Contreras" userId="9ea49ee18badb19e" providerId="LiveId" clId="{946CEE2E-8DA2-4451-BE1F-04A1055BF161}" dt="2022-09-17T13:38:28.753" v="2" actId="47"/>
        <pc:sldMkLst>
          <pc:docMk/>
          <pc:sldMk cId="2129707903" sldId="329"/>
        </pc:sldMkLst>
      </pc:sldChg>
      <pc:sldChg chg="del">
        <pc:chgData name="Jeremiah Contreras" userId="9ea49ee18badb19e" providerId="LiveId" clId="{946CEE2E-8DA2-4451-BE1F-04A1055BF161}" dt="2022-09-17T13:38:28.753" v="2" actId="47"/>
        <pc:sldMkLst>
          <pc:docMk/>
          <pc:sldMk cId="1872441605" sldId="330"/>
        </pc:sldMkLst>
      </pc:sldChg>
      <pc:sldChg chg="del">
        <pc:chgData name="Jeremiah Contreras" userId="9ea49ee18badb19e" providerId="LiveId" clId="{946CEE2E-8DA2-4451-BE1F-04A1055BF161}" dt="2022-09-17T13:38:28.753" v="2" actId="47"/>
        <pc:sldMkLst>
          <pc:docMk/>
          <pc:sldMk cId="3027137247" sldId="331"/>
        </pc:sldMkLst>
      </pc:sldChg>
      <pc:sldChg chg="del">
        <pc:chgData name="Jeremiah Contreras" userId="9ea49ee18badb19e" providerId="LiveId" clId="{946CEE2E-8DA2-4451-BE1F-04A1055BF161}" dt="2022-09-17T13:38:28.753" v="2" actId="47"/>
        <pc:sldMkLst>
          <pc:docMk/>
          <pc:sldMk cId="3356523002" sldId="332"/>
        </pc:sldMkLst>
      </pc:sldChg>
      <pc:sldChg chg="del">
        <pc:chgData name="Jeremiah Contreras" userId="9ea49ee18badb19e" providerId="LiveId" clId="{946CEE2E-8DA2-4451-BE1F-04A1055BF161}" dt="2022-09-17T13:38:28.753" v="2" actId="47"/>
        <pc:sldMkLst>
          <pc:docMk/>
          <pc:sldMk cId="3617791504" sldId="333"/>
        </pc:sldMkLst>
      </pc:sldChg>
      <pc:sldChg chg="del">
        <pc:chgData name="Jeremiah Contreras" userId="9ea49ee18badb19e" providerId="LiveId" clId="{946CEE2E-8DA2-4451-BE1F-04A1055BF161}" dt="2022-09-17T13:38:28.753" v="2" actId="47"/>
        <pc:sldMkLst>
          <pc:docMk/>
          <pc:sldMk cId="3929346811" sldId="334"/>
        </pc:sldMkLst>
      </pc:sldChg>
      <pc:sldChg chg="del">
        <pc:chgData name="Jeremiah Contreras" userId="9ea49ee18badb19e" providerId="LiveId" clId="{946CEE2E-8DA2-4451-BE1F-04A1055BF161}" dt="2022-09-17T13:38:28.753" v="2" actId="47"/>
        <pc:sldMkLst>
          <pc:docMk/>
          <pc:sldMk cId="1742914563" sldId="335"/>
        </pc:sldMkLst>
      </pc:sldChg>
      <pc:sldChg chg="del">
        <pc:chgData name="Jeremiah Contreras" userId="9ea49ee18badb19e" providerId="LiveId" clId="{946CEE2E-8DA2-4451-BE1F-04A1055BF161}" dt="2022-09-17T13:38:28.753" v="2" actId="47"/>
        <pc:sldMkLst>
          <pc:docMk/>
          <pc:sldMk cId="2498313" sldId="336"/>
        </pc:sldMkLst>
      </pc:sldChg>
      <pc:sldMasterChg chg="delSldLayout">
        <pc:chgData name="Jeremiah Contreras" userId="9ea49ee18badb19e" providerId="LiveId" clId="{946CEE2E-8DA2-4451-BE1F-04A1055BF161}" dt="2022-09-17T12:53:47.118" v="1" actId="47"/>
        <pc:sldMasterMkLst>
          <pc:docMk/>
          <pc:sldMasterMk cId="2055560233" sldId="2147483648"/>
        </pc:sldMasterMkLst>
        <pc:sldLayoutChg chg="del">
          <pc:chgData name="Jeremiah Contreras" userId="9ea49ee18badb19e" providerId="LiveId" clId="{946CEE2E-8DA2-4451-BE1F-04A1055BF161}" dt="2022-09-17T12:53:47.118" v="1" actId="47"/>
          <pc:sldLayoutMkLst>
            <pc:docMk/>
            <pc:sldMasterMk cId="2055560233" sldId="2147483648"/>
            <pc:sldLayoutMk cId="3767006062" sldId="214748366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2AF6DA-881C-4C79-B7BB-AE39812FEEB9}" type="datetimeFigureOut">
              <a:rPr lang="en-US" smtClean="0"/>
              <a:t>9/17/2022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1D006A-6F4D-4501-8E73-99D0EC5E5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429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07988" y="698500"/>
            <a:ext cx="6208712" cy="34925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3263" y="4422775"/>
            <a:ext cx="5616575" cy="41878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735" tIns="43867" rIns="87735" bIns="43867"/>
          <a:lstStyle/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02971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1D006A-6F4D-4501-8E73-99D0EC5E5B2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2977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1676" y="4481513"/>
            <a:ext cx="5619750" cy="36639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412" tIns="46206" rIns="92412" bIns="46206"/>
          <a:lstStyle/>
          <a:p>
            <a:r>
              <a:rPr lang="en-US" altLang="en-US" dirty="0"/>
              <a:t>Boeing</a:t>
            </a:r>
            <a:r>
              <a:rPr lang="en-US" altLang="en-US" baseline="0" dirty="0"/>
              <a:t> has 416 billion in contracts signed, but no cash received and no planes delivered</a:t>
            </a:r>
          </a:p>
          <a:p>
            <a:r>
              <a:rPr lang="en-US" altLang="en-US" baseline="0" dirty="0"/>
              <a:t>This is useful information to investors</a:t>
            </a:r>
          </a:p>
          <a:p>
            <a:r>
              <a:rPr lang="en-US" altLang="en-US" baseline="0" dirty="0"/>
              <a:t>But accounting says you can’t recognize it, but rather you disclose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603923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88950" y="700088"/>
            <a:ext cx="6211888" cy="34956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19138" y="4429125"/>
            <a:ext cx="5754687" cy="419258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412" tIns="46206" rIns="92412" bIns="46206"/>
          <a:lstStyle/>
          <a:p>
            <a:endParaRPr lang="en-US" altLang="en-US"/>
          </a:p>
        </p:txBody>
      </p:sp>
      <p:sp>
        <p:nvSpPr>
          <p:cNvPr id="22532" name="Date Placeholder 3"/>
          <p:cNvSpPr>
            <a:spLocks noGrp="1"/>
          </p:cNvSpPr>
          <p:nvPr>
            <p:ph type="dt" sz="quarter" idx="4294967295"/>
          </p:nvPr>
        </p:nvSpPr>
        <p:spPr bwMode="auto">
          <a:xfrm>
            <a:off x="4075113" y="0"/>
            <a:ext cx="3113087" cy="46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412" tIns="46206" rIns="92412" bIns="46206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6024" indent="-284125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9195" indent="-226982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12682" indent="-226982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74583" indent="-226982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31721" indent="-226982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88859" indent="-226982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45997" indent="-226982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03135" indent="-226982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ACCT 3220\Sep 4 2014</a:t>
            </a:r>
          </a:p>
        </p:txBody>
      </p:sp>
      <p:sp>
        <p:nvSpPr>
          <p:cNvPr id="22533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4075113" y="8856663"/>
            <a:ext cx="3113087" cy="465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412" tIns="46206" rIns="92412" bIns="46206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6024" indent="-284125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9195" indent="-226982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12682" indent="-226982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74583" indent="-226982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31721" indent="-226982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88859" indent="-226982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45997" indent="-226982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03135" indent="-226982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F2A903D-A4C2-4BC7-9826-4CC731DBBE5D}" type="slidenum">
              <a:rPr lang="en-US" altLang="en-US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83842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1676" y="4481513"/>
            <a:ext cx="5619750" cy="36639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412" tIns="46206" rIns="92412" bIns="4620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1051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1676" y="4481513"/>
            <a:ext cx="5619750" cy="36639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412" tIns="46206" rIns="92412" bIns="4620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05874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1676" y="4481513"/>
            <a:ext cx="5619750" cy="36639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412" tIns="46206" rIns="92412" bIns="4620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79139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07988" y="698500"/>
            <a:ext cx="6208712" cy="34925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3263" y="4422775"/>
            <a:ext cx="5616575" cy="41878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735" tIns="43867" rIns="87735" bIns="43867"/>
          <a:lstStyle/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40175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</p:spPr>
        <p:txBody>
          <a:bodyPr/>
          <a:lstStyle/>
          <a:p>
            <a:fld id="{29999271-A573-1E42-984E-4EB780E50D50}" type="datetimeFigureOut">
              <a:rPr lang="en-US" smtClean="0"/>
              <a:t>9/17/2022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406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9/17/2022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838200" y="1184982"/>
            <a:ext cx="777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7075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21821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9/17/2022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204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9449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9/17/2022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894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253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9/17/2022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383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9/17/2022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149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9/17/2022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709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9/17/2022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629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9/17/2022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74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9/17/2022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764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7"/>
            <a:ext cx="2628900" cy="54178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9/17/2022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768179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442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tif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7850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7"/>
            <a:ext cx="10515600" cy="3957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999271-A573-1E42-984E-4EB780E50D50}" type="datetimeFigureOut">
              <a:rPr lang="en-US" smtClean="0"/>
              <a:t>9/17/2022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E8B790-23B5-4C60-94C1-80246395342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8482" y="140401"/>
            <a:ext cx="2068409" cy="434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560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864091" cy="6530027"/>
          </a:xfrm>
          <a:prstGeom prst="rect">
            <a:avLst/>
          </a:prstGeom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-2" y="5303520"/>
            <a:ext cx="9864091" cy="155448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altLang="en-US" sz="3200" b="1" i="1" dirty="0">
                <a:solidFill>
                  <a:schemeClr val="bg1"/>
                </a:solidFill>
              </a:rPr>
              <a:t>Revenue Recognition Part 2 - Video</a:t>
            </a:r>
          </a:p>
        </p:txBody>
      </p:sp>
    </p:spTree>
    <p:extLst>
      <p:ext uri="{BB962C8B-B14F-4D97-AF65-F5344CB8AC3E}">
        <p14:creationId xmlns:p14="http://schemas.microsoft.com/office/powerpoint/2010/main" val="871637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Misc. Revenue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r>
              <a:rPr lang="en-US" sz="3200" dirty="0"/>
              <a:t>Unexecuted Contracts</a:t>
            </a:r>
          </a:p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endParaRPr lang="en-US" sz="1100" dirty="0"/>
          </a:p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r>
              <a:rPr lang="en-US" sz="3200" dirty="0"/>
              <a:t>Sales Returns</a:t>
            </a:r>
          </a:p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endParaRPr lang="en-US" sz="1100" dirty="0"/>
          </a:p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r>
              <a:rPr lang="en-US" sz="3200" dirty="0"/>
              <a:t>Principal Agent Relationships</a:t>
            </a:r>
          </a:p>
          <a:p>
            <a:pPr marL="971539" lvl="1" indent="-514350">
              <a:spcBef>
                <a:spcPts val="1800"/>
              </a:spcBef>
              <a:buFont typeface="+mj-lt"/>
              <a:buAutoNum type="arabicPeriod"/>
            </a:pPr>
            <a:endParaRPr lang="en-US" sz="11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600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Misc. Revenue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r>
              <a:rPr lang="en-US" sz="3200" b="1" dirty="0">
                <a:solidFill>
                  <a:srgbClr val="FF0000"/>
                </a:solidFill>
              </a:rPr>
              <a:t>Unexecuted Contracts</a:t>
            </a:r>
          </a:p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endParaRPr lang="en-US" sz="1200" dirty="0"/>
          </a:p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r>
              <a:rPr lang="en-US" sz="3200" dirty="0"/>
              <a:t>Sales Returns</a:t>
            </a:r>
          </a:p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endParaRPr lang="en-US" sz="1200" dirty="0"/>
          </a:p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r>
              <a:rPr lang="en-US" sz="3200" dirty="0"/>
              <a:t>Principal Agent Relationships</a:t>
            </a:r>
          </a:p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endParaRPr lang="en-US" sz="1200" dirty="0"/>
          </a:p>
          <a:p>
            <a:pPr marL="971539" lvl="1" indent="-514350">
              <a:spcBef>
                <a:spcPts val="1800"/>
              </a:spcBef>
              <a:buFont typeface="+mj-lt"/>
              <a:buAutoNum type="arabicPeriod"/>
            </a:pPr>
            <a:endParaRPr lang="en-US" sz="1100" dirty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938848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1) Unexecuted contracts: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8242148"/>
              </p:ext>
            </p:extLst>
          </p:nvPr>
        </p:nvGraphicFramePr>
        <p:xfrm>
          <a:off x="170212" y="1564719"/>
          <a:ext cx="9646888" cy="45881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809">
                  <a:extLst>
                    <a:ext uri="{9D8B030D-6E8A-4147-A177-3AD203B41FA5}">
                      <a16:colId xmlns:a16="http://schemas.microsoft.com/office/drawing/2014/main" val="704642052"/>
                    </a:ext>
                  </a:extLst>
                </a:gridCol>
                <a:gridCol w="1525631">
                  <a:extLst>
                    <a:ext uri="{9D8B030D-6E8A-4147-A177-3AD203B41FA5}">
                      <a16:colId xmlns:a16="http://schemas.microsoft.com/office/drawing/2014/main" val="3364389668"/>
                    </a:ext>
                  </a:extLst>
                </a:gridCol>
                <a:gridCol w="3747138">
                  <a:extLst>
                    <a:ext uri="{9D8B030D-6E8A-4147-A177-3AD203B41FA5}">
                      <a16:colId xmlns:a16="http://schemas.microsoft.com/office/drawing/2014/main" val="808154065"/>
                    </a:ext>
                  </a:extLst>
                </a:gridCol>
                <a:gridCol w="3697310">
                  <a:extLst>
                    <a:ext uri="{9D8B030D-6E8A-4147-A177-3AD203B41FA5}">
                      <a16:colId xmlns:a16="http://schemas.microsoft.com/office/drawing/2014/main" val="285749616"/>
                    </a:ext>
                  </a:extLst>
                </a:gridCol>
              </a:tblGrid>
              <a:tr h="537569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Cash</a:t>
                      </a:r>
                    </a:p>
                  </a:txBody>
                  <a:tcPr anchor="ctr">
                    <a:lnL w="12700" cmpd="sng">
                      <a:noFill/>
                    </a:lnL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005298"/>
                  </a:ext>
                </a:extLst>
              </a:tr>
              <a:tr h="46088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u="sng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u="sng" dirty="0"/>
                        <a:t>Received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u="sng" dirty="0"/>
                        <a:t>Not Received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9166338"/>
                  </a:ext>
                </a:extLst>
              </a:tr>
              <a:tr h="1713105">
                <a:tc rowSpan="2"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sz="4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Revenue</a:t>
                      </a:r>
                    </a:p>
                  </a:txBody>
                  <a:tcPr vert="vert270" anchor="ctr">
                    <a:lnR w="12700" cmpd="sng">
                      <a:noFill/>
                    </a:lnR>
                    <a:lnT w="12700" cmpd="sng">
                      <a:noFill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u="sng" dirty="0"/>
                        <a:t>Earned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0325" lvl="2" indent="0">
                        <a:buFont typeface="Wingdings" panose="05000000000000000000" pitchFamily="2" charset="2"/>
                        <a:buNone/>
                        <a:defRPr/>
                      </a:pPr>
                      <a:r>
                        <a:rPr lang="en-US" altLang="en-US" sz="2000" dirty="0"/>
                        <a:t>Dr. Cash (B-A)</a:t>
                      </a:r>
                    </a:p>
                    <a:p>
                      <a:pPr marL="280988" lvl="3" indent="0">
                        <a:buFont typeface="Wingdings" panose="05000000000000000000" pitchFamily="2" charset="2"/>
                        <a:buNone/>
                        <a:defRPr/>
                      </a:pPr>
                      <a:r>
                        <a:rPr lang="en-US" altLang="en-US" sz="2000" dirty="0">
                          <a:latin typeface="HelveticaNeue MediumCond"/>
                        </a:rPr>
                        <a:t>Cr. Revenue (I-R)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0325" lvl="1" indent="0">
                        <a:buFontTx/>
                        <a:buNone/>
                        <a:defRPr/>
                      </a:pPr>
                      <a:r>
                        <a:rPr lang="en-US" altLang="en-US" sz="2000" dirty="0"/>
                        <a:t>Dr. Accounts receivable (B-A)</a:t>
                      </a:r>
                    </a:p>
                    <a:p>
                      <a:pPr marL="401638" lvl="3" indent="0">
                        <a:buFont typeface="Wingdings" panose="05000000000000000000" pitchFamily="2" charset="2"/>
                        <a:buNone/>
                        <a:defRPr/>
                      </a:pPr>
                      <a:r>
                        <a:rPr lang="en-US" altLang="en-US" sz="2000" dirty="0">
                          <a:latin typeface="HelveticaNeue MediumCond"/>
                        </a:rPr>
                        <a:t>Cr. Revenue (I-R)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6770113"/>
                  </a:ext>
                </a:extLst>
              </a:tr>
              <a:tr h="1713105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u="sng" dirty="0"/>
                        <a:t>Not Earned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0325" lvl="1" indent="0">
                        <a:buFontTx/>
                        <a:buNone/>
                        <a:defRPr/>
                      </a:pPr>
                      <a:r>
                        <a:rPr lang="en-US" altLang="en-US" sz="2000" dirty="0"/>
                        <a:t>Dr. Cash (B-A)</a:t>
                      </a:r>
                    </a:p>
                    <a:p>
                      <a:pPr marL="280988" lvl="2" indent="0">
                        <a:buFont typeface="Wingdings" panose="05000000000000000000" pitchFamily="2" charset="2"/>
                        <a:buNone/>
                        <a:defRPr/>
                      </a:pPr>
                      <a:r>
                        <a:rPr lang="en-US" altLang="en-US" sz="2000" dirty="0">
                          <a:latin typeface="HelveticaNeue MediumCond"/>
                        </a:rPr>
                        <a:t>Cr. Unearned revenue (B-L)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rgbClr val="FF0000"/>
                          </a:solidFill>
                        </a:rPr>
                        <a:t>???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4428515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37BC3D95-8FD8-4674-B446-254E8F699C1C}"/>
              </a:ext>
            </a:extLst>
          </p:cNvPr>
          <p:cNvSpPr/>
          <p:nvPr/>
        </p:nvSpPr>
        <p:spPr>
          <a:xfrm>
            <a:off x="6408287" y="4632341"/>
            <a:ext cx="3267194" cy="12884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1998ED-E443-4280-876C-936F3EABDCEF}"/>
              </a:ext>
            </a:extLst>
          </p:cNvPr>
          <p:cNvSpPr/>
          <p:nvPr/>
        </p:nvSpPr>
        <p:spPr>
          <a:xfrm>
            <a:off x="2516519" y="4649045"/>
            <a:ext cx="3482347" cy="12884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2C2CC6-E7F2-4EA3-9C65-86242368216B}"/>
              </a:ext>
            </a:extLst>
          </p:cNvPr>
          <p:cNvSpPr/>
          <p:nvPr/>
        </p:nvSpPr>
        <p:spPr>
          <a:xfrm>
            <a:off x="6236234" y="2828216"/>
            <a:ext cx="3424030" cy="12884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182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679249" y="209552"/>
            <a:ext cx="9572827" cy="1139825"/>
          </a:xfrm>
        </p:spPr>
        <p:txBody>
          <a:bodyPr>
            <a:normAutofit/>
          </a:bodyPr>
          <a:lstStyle/>
          <a:p>
            <a:r>
              <a:rPr lang="en-US" altLang="en-US" dirty="0"/>
              <a:t>1) Unexecuted contracts:</a:t>
            </a:r>
          </a:p>
        </p:txBody>
      </p:sp>
      <p:sp>
        <p:nvSpPr>
          <p:cNvPr id="63492" name="Rectangle 1"/>
          <p:cNvSpPr>
            <a:spLocks noChangeArrowheads="1"/>
          </p:cNvSpPr>
          <p:nvPr/>
        </p:nvSpPr>
        <p:spPr bwMode="auto">
          <a:xfrm>
            <a:off x="400118" y="1417639"/>
            <a:ext cx="21510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2000" b="1" dirty="0">
                <a:latin typeface="+mn-lt"/>
              </a:rPr>
              <a:t>Boeing example</a:t>
            </a:r>
          </a:p>
        </p:txBody>
      </p:sp>
      <p:pic>
        <p:nvPicPr>
          <p:cNvPr id="1741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114"/>
          <a:stretch>
            <a:fillRect/>
          </a:stretch>
        </p:blipFill>
        <p:spPr bwMode="auto">
          <a:xfrm>
            <a:off x="473552" y="1954213"/>
            <a:ext cx="8945563" cy="290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3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083" b="786"/>
          <a:stretch>
            <a:fillRect/>
          </a:stretch>
        </p:blipFill>
        <p:spPr bwMode="auto">
          <a:xfrm>
            <a:off x="473552" y="4994274"/>
            <a:ext cx="8991600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1BA760C-8BDB-46CD-BEE1-13D3C089262F}"/>
              </a:ext>
            </a:extLst>
          </p:cNvPr>
          <p:cNvSpPr/>
          <p:nvPr/>
        </p:nvSpPr>
        <p:spPr>
          <a:xfrm>
            <a:off x="6096000" y="2476500"/>
            <a:ext cx="1117600" cy="23812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077071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Misc. Revenue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r>
              <a:rPr lang="en-US" dirty="0"/>
              <a:t>Unexecuted Contracts</a:t>
            </a:r>
          </a:p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endParaRPr lang="en-US" sz="1100" dirty="0"/>
          </a:p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r>
              <a:rPr lang="en-US" b="1" dirty="0">
                <a:solidFill>
                  <a:srgbClr val="FF0000"/>
                </a:solidFill>
              </a:rPr>
              <a:t>Sales Returns</a:t>
            </a:r>
          </a:p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endParaRPr lang="en-US" sz="1100" dirty="0"/>
          </a:p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r>
              <a:rPr lang="en-US" dirty="0"/>
              <a:t>Principal Agent Relationships</a:t>
            </a:r>
            <a:endParaRPr lang="en-US" sz="1100" dirty="0"/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231484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52563"/>
            <a:ext cx="9613900" cy="5226929"/>
          </a:xfrm>
        </p:spPr>
        <p:txBody>
          <a:bodyPr>
            <a:normAutofit fontScale="92500" lnSpcReduction="10000"/>
          </a:bodyPr>
          <a:lstStyle/>
          <a:p>
            <a:pPr marL="0" indent="0">
              <a:spcBef>
                <a:spcPct val="0"/>
              </a:spcBef>
              <a:buNone/>
              <a:defRPr/>
            </a:pPr>
            <a:r>
              <a:rPr lang="en-US" altLang="en-US" sz="2000" dirty="0"/>
              <a:t>If it is likely that some customers will return products, then revenue should reflect the expected after-return amount.</a:t>
            </a:r>
          </a:p>
          <a:p>
            <a:pPr marL="635000" indent="-635000">
              <a:spcBef>
                <a:spcPct val="0"/>
              </a:spcBef>
              <a:buNone/>
              <a:defRPr/>
            </a:pPr>
            <a:endParaRPr lang="en-US" altLang="en-US" sz="1600" dirty="0"/>
          </a:p>
          <a:p>
            <a:pPr marL="0" indent="0">
              <a:spcBef>
                <a:spcPct val="0"/>
              </a:spcBef>
              <a:buNone/>
              <a:defRPr/>
            </a:pPr>
            <a:r>
              <a:rPr lang="en-US" altLang="en-US" sz="2000" u="sng" dirty="0"/>
              <a:t>1) Reduce revenue at the time of sale for expected returns and create a liability</a:t>
            </a:r>
          </a:p>
          <a:p>
            <a:pPr marL="4292509" lvl="8" indent="-635000">
              <a:spcBef>
                <a:spcPct val="0"/>
              </a:spcBef>
              <a:buAutoNum type="arabicParenR"/>
              <a:defRPr/>
            </a:pPr>
            <a:endParaRPr lang="en-US" altLang="en-US" sz="1000" dirty="0">
              <a:solidFill>
                <a:srgbClr val="C00000"/>
              </a:solidFill>
            </a:endParaRPr>
          </a:p>
          <a:p>
            <a:pPr marL="0" indent="0">
              <a:spcBef>
                <a:spcPct val="0"/>
              </a:spcBef>
              <a:buNone/>
              <a:defRPr/>
            </a:pPr>
            <a:r>
              <a:rPr lang="en-US" altLang="en-US" sz="2000" dirty="0">
                <a:solidFill>
                  <a:srgbClr val="C00000"/>
                </a:solidFill>
              </a:rPr>
              <a:t>		Cash (B-A)			1,000</a:t>
            </a:r>
          </a:p>
          <a:p>
            <a:pPr marL="0" indent="0">
              <a:spcBef>
                <a:spcPct val="0"/>
              </a:spcBef>
              <a:buNone/>
              <a:defRPr/>
            </a:pPr>
            <a:r>
              <a:rPr lang="en-US" altLang="en-US" sz="2000" dirty="0">
                <a:solidFill>
                  <a:srgbClr val="C00000"/>
                </a:solidFill>
              </a:rPr>
              <a:t>			Revenue (I-R)				900</a:t>
            </a:r>
          </a:p>
          <a:p>
            <a:pPr marL="0" indent="0">
              <a:spcBef>
                <a:spcPct val="0"/>
              </a:spcBef>
              <a:buNone/>
              <a:defRPr/>
            </a:pPr>
            <a:r>
              <a:rPr lang="en-US" altLang="en-US" sz="2000" dirty="0">
                <a:solidFill>
                  <a:srgbClr val="C00000"/>
                </a:solidFill>
              </a:rPr>
              <a:t>			Return Liability (B-L)			100</a:t>
            </a:r>
          </a:p>
          <a:p>
            <a:pPr marL="0" indent="0">
              <a:spcBef>
                <a:spcPct val="0"/>
              </a:spcBef>
              <a:buNone/>
              <a:defRPr/>
            </a:pPr>
            <a:endParaRPr lang="en-US" altLang="en-US" sz="2000" u="sng" dirty="0">
              <a:solidFill>
                <a:srgbClr val="C00000"/>
              </a:solidFill>
            </a:endParaRPr>
          </a:p>
          <a:p>
            <a:pPr marL="0" indent="0">
              <a:spcBef>
                <a:spcPct val="0"/>
              </a:spcBef>
              <a:buNone/>
              <a:defRPr/>
            </a:pPr>
            <a:r>
              <a:rPr lang="en-US" altLang="en-US" sz="2000" u="sng" dirty="0"/>
              <a:t>2) Record COGS reduced for returns, asset for inventory expected returned</a:t>
            </a:r>
          </a:p>
          <a:p>
            <a:pPr marL="0" indent="0">
              <a:spcBef>
                <a:spcPct val="0"/>
              </a:spcBef>
              <a:buNone/>
              <a:defRPr/>
            </a:pPr>
            <a:endParaRPr lang="en-US" altLang="en-US" sz="2000" dirty="0">
              <a:solidFill>
                <a:srgbClr val="C00000"/>
              </a:solidFill>
            </a:endParaRPr>
          </a:p>
          <a:p>
            <a:pPr marL="0" indent="0">
              <a:spcBef>
                <a:spcPct val="0"/>
              </a:spcBef>
              <a:buNone/>
              <a:defRPr/>
            </a:pPr>
            <a:r>
              <a:rPr lang="en-US" altLang="en-US" sz="2000" dirty="0">
                <a:solidFill>
                  <a:srgbClr val="C00000"/>
                </a:solidFill>
              </a:rPr>
              <a:t>		COGS (I-E)			450</a:t>
            </a:r>
          </a:p>
          <a:p>
            <a:pPr marL="0" indent="0">
              <a:spcBef>
                <a:spcPct val="0"/>
              </a:spcBef>
              <a:buNone/>
              <a:defRPr/>
            </a:pPr>
            <a:r>
              <a:rPr lang="en-US" altLang="en-US" sz="2000" dirty="0">
                <a:solidFill>
                  <a:srgbClr val="C00000"/>
                </a:solidFill>
              </a:rPr>
              <a:t>		Estimated Inv. Returns (B-A)	50</a:t>
            </a:r>
          </a:p>
          <a:p>
            <a:pPr marL="0" indent="0">
              <a:spcBef>
                <a:spcPct val="0"/>
              </a:spcBef>
              <a:buNone/>
              <a:defRPr/>
            </a:pPr>
            <a:r>
              <a:rPr lang="en-US" altLang="en-US" sz="2000" dirty="0">
                <a:solidFill>
                  <a:srgbClr val="C00000"/>
                </a:solidFill>
              </a:rPr>
              <a:t>			Inventory (B-A)				500</a:t>
            </a:r>
          </a:p>
          <a:p>
            <a:pPr marL="635000" indent="-635000">
              <a:spcBef>
                <a:spcPct val="0"/>
              </a:spcBef>
              <a:buNone/>
              <a:defRPr/>
            </a:pPr>
            <a:r>
              <a:rPr lang="en-US" altLang="en-US" sz="2000" dirty="0"/>
              <a:t>				</a:t>
            </a:r>
          </a:p>
          <a:p>
            <a:pPr marL="635000" indent="-635000">
              <a:spcBef>
                <a:spcPct val="0"/>
              </a:spcBef>
              <a:buNone/>
              <a:defRPr/>
            </a:pPr>
            <a:endParaRPr lang="en-US" altLang="en-US" sz="2000" dirty="0"/>
          </a:p>
          <a:p>
            <a:pPr marL="0" indent="0">
              <a:spcBef>
                <a:spcPct val="0"/>
              </a:spcBef>
              <a:buNone/>
              <a:defRPr/>
            </a:pPr>
            <a:r>
              <a:rPr lang="en-US" altLang="en-US" sz="2000" u="sng" dirty="0"/>
              <a:t>3) When returns occur, reverse (and correct if necessary)</a:t>
            </a:r>
            <a:endParaRPr lang="en-US" altLang="en-US" sz="1000" dirty="0"/>
          </a:p>
          <a:p>
            <a:pPr marL="0" indent="0">
              <a:spcBef>
                <a:spcPct val="0"/>
              </a:spcBef>
              <a:buNone/>
              <a:defRPr/>
            </a:pPr>
            <a:endParaRPr lang="en-US" altLang="en-US" sz="1600" dirty="0">
              <a:solidFill>
                <a:srgbClr val="0000CC"/>
              </a:solidFill>
            </a:endParaRPr>
          </a:p>
          <a:p>
            <a:pPr marL="0" indent="0">
              <a:spcBef>
                <a:spcPct val="0"/>
              </a:spcBef>
              <a:buNone/>
              <a:defRPr/>
            </a:pPr>
            <a:r>
              <a:rPr lang="en-US" altLang="en-US" sz="1600" dirty="0">
                <a:solidFill>
                  <a:srgbClr val="0000CC"/>
                </a:solidFill>
              </a:rPr>
              <a:t>		</a:t>
            </a:r>
            <a:r>
              <a:rPr lang="en-US" altLang="en-US" sz="2000" dirty="0">
                <a:solidFill>
                  <a:srgbClr val="C00000"/>
                </a:solidFill>
              </a:rPr>
              <a:t> Return Liability (B-L) 			100</a:t>
            </a:r>
          </a:p>
          <a:p>
            <a:pPr marL="0" indent="0">
              <a:spcBef>
                <a:spcPct val="0"/>
              </a:spcBef>
              <a:buNone/>
              <a:defRPr/>
            </a:pPr>
            <a:r>
              <a:rPr lang="en-US" altLang="en-US" sz="2000" dirty="0">
                <a:solidFill>
                  <a:srgbClr val="C00000"/>
                </a:solidFill>
              </a:rPr>
              <a:t>			Cash (B-A)				100</a:t>
            </a:r>
          </a:p>
          <a:p>
            <a:pPr marL="0" indent="0">
              <a:spcBef>
                <a:spcPct val="0"/>
              </a:spcBef>
              <a:buNone/>
              <a:defRPr/>
            </a:pPr>
            <a:r>
              <a:rPr lang="en-US" altLang="en-US" sz="2000" dirty="0">
                <a:solidFill>
                  <a:srgbClr val="C00000"/>
                </a:solidFill>
              </a:rPr>
              <a:t>		 Inventory (B-A)				50</a:t>
            </a:r>
          </a:p>
          <a:p>
            <a:pPr marL="0" indent="0">
              <a:spcBef>
                <a:spcPct val="0"/>
              </a:spcBef>
              <a:buNone/>
              <a:defRPr/>
            </a:pPr>
            <a:r>
              <a:rPr lang="en-US" altLang="en-US" sz="2000" dirty="0">
                <a:solidFill>
                  <a:srgbClr val="C00000"/>
                </a:solidFill>
              </a:rPr>
              <a:t>			Estimated Inv. Returns (B-A)		50</a:t>
            </a:r>
          </a:p>
          <a:p>
            <a:pPr marL="0" indent="0">
              <a:spcBef>
                <a:spcPct val="0"/>
              </a:spcBef>
              <a:buNone/>
              <a:defRPr/>
            </a:pPr>
            <a:r>
              <a:rPr lang="en-US" altLang="en-US" sz="2000" dirty="0">
                <a:solidFill>
                  <a:srgbClr val="C00000"/>
                </a:solidFill>
              </a:rPr>
              <a:t>			</a:t>
            </a:r>
          </a:p>
          <a:p>
            <a:pPr marL="0" indent="0">
              <a:spcBef>
                <a:spcPct val="0"/>
              </a:spcBef>
              <a:buNone/>
              <a:defRPr/>
            </a:pPr>
            <a:endParaRPr lang="en-US" altLang="en-US" sz="1600" dirty="0">
              <a:solidFill>
                <a:srgbClr val="0000CC"/>
              </a:solidFill>
            </a:endParaRPr>
          </a:p>
        </p:txBody>
      </p:sp>
      <p:sp>
        <p:nvSpPr>
          <p:cNvPr id="2150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2) Sales and Returns</a:t>
            </a:r>
          </a:p>
        </p:txBody>
      </p:sp>
    </p:spTree>
    <p:extLst>
      <p:ext uri="{BB962C8B-B14F-4D97-AF65-F5344CB8AC3E}">
        <p14:creationId xmlns:p14="http://schemas.microsoft.com/office/powerpoint/2010/main" val="34523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Misc. Revenue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r>
              <a:rPr lang="en-US" dirty="0"/>
              <a:t>Unexecuted Contracts</a:t>
            </a:r>
          </a:p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endParaRPr lang="en-US" sz="1100" dirty="0"/>
          </a:p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r>
              <a:rPr lang="en-US" dirty="0"/>
              <a:t>Sales Returns</a:t>
            </a:r>
          </a:p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endParaRPr lang="en-US" sz="1100" dirty="0"/>
          </a:p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r>
              <a:rPr lang="en-US" b="1" dirty="0">
                <a:solidFill>
                  <a:srgbClr val="FF0000"/>
                </a:solidFill>
              </a:rPr>
              <a:t>Principal Agent Relationships</a:t>
            </a:r>
            <a:endParaRPr lang="en-US" sz="1100" dirty="0"/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073226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 txBox="1">
            <a:spLocks/>
          </p:cNvSpPr>
          <p:nvPr/>
        </p:nvSpPr>
        <p:spPr bwMode="auto">
          <a:xfrm>
            <a:off x="962525" y="1528764"/>
            <a:ext cx="8422775" cy="4852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+mn-lt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HelveticaNeue MediumCond" charset="0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l">
              <a:defRPr/>
            </a:pPr>
            <a:r>
              <a:rPr lang="en-US" altLang="en-US" sz="2400" dirty="0">
                <a:solidFill>
                  <a:srgbClr val="000000"/>
                </a:solidFill>
              </a:rPr>
              <a:t>Priceline.com acts as a broker to sell a United Airlines ticket for $300 plus $10 commission</a:t>
            </a:r>
          </a:p>
          <a:p>
            <a:pPr marL="1320800" indent="-1320800" algn="l">
              <a:defRPr/>
            </a:pPr>
            <a:endParaRPr lang="en-US" altLang="en-US" sz="2400" kern="0" dirty="0">
              <a:solidFill>
                <a:srgbClr val="000000"/>
              </a:solidFill>
            </a:endParaRPr>
          </a:p>
          <a:p>
            <a:pPr algn="l">
              <a:defRPr/>
            </a:pPr>
            <a:endParaRPr lang="en-US" altLang="en-US" sz="2400" kern="0" dirty="0">
              <a:solidFill>
                <a:srgbClr val="000000"/>
              </a:solidFill>
            </a:endParaRPr>
          </a:p>
          <a:p>
            <a:pPr algn="l">
              <a:spcBef>
                <a:spcPct val="0"/>
              </a:spcBef>
              <a:defRPr/>
            </a:pPr>
            <a:r>
              <a:rPr lang="en-US" altLang="en-US" sz="2400" u="sng" kern="0" dirty="0">
                <a:solidFill>
                  <a:srgbClr val="0000CC"/>
                </a:solidFill>
              </a:rPr>
              <a:t>For Priceline - (Jan 1):</a:t>
            </a:r>
            <a:endParaRPr lang="en-US" altLang="en-US" sz="2400" kern="0" dirty="0">
              <a:solidFill>
                <a:srgbClr val="000000"/>
              </a:solidFill>
            </a:endParaRPr>
          </a:p>
          <a:p>
            <a:pPr algn="l">
              <a:spcBef>
                <a:spcPct val="0"/>
              </a:spcBef>
              <a:defRPr/>
            </a:pPr>
            <a:r>
              <a:rPr lang="en-US" altLang="en-US" sz="2400" kern="0" dirty="0">
                <a:solidFill>
                  <a:srgbClr val="000000"/>
                </a:solidFill>
              </a:rPr>
              <a:t>	Cash (B-A)				$310</a:t>
            </a:r>
          </a:p>
          <a:p>
            <a:pPr algn="l">
              <a:spcBef>
                <a:spcPct val="0"/>
              </a:spcBef>
              <a:defRPr/>
            </a:pPr>
            <a:r>
              <a:rPr lang="en-US" altLang="en-US" sz="2400" kern="0" dirty="0">
                <a:solidFill>
                  <a:srgbClr val="000000"/>
                </a:solidFill>
              </a:rPr>
              <a:t>		Sales Revenue (I-R)      			$10</a:t>
            </a:r>
          </a:p>
          <a:p>
            <a:pPr algn="l">
              <a:spcBef>
                <a:spcPct val="0"/>
              </a:spcBef>
              <a:defRPr/>
            </a:pPr>
            <a:r>
              <a:rPr lang="en-US" altLang="en-US" sz="2400" kern="0" dirty="0">
                <a:solidFill>
                  <a:srgbClr val="000000"/>
                </a:solidFill>
              </a:rPr>
              <a:t>		A/P(B-L)					$300</a:t>
            </a:r>
          </a:p>
          <a:p>
            <a:pPr algn="l">
              <a:spcBef>
                <a:spcPct val="0"/>
              </a:spcBef>
              <a:defRPr/>
            </a:pPr>
            <a:r>
              <a:rPr lang="en-US" altLang="en-US" sz="2400" kern="0" dirty="0">
                <a:solidFill>
                  <a:srgbClr val="000000"/>
                </a:solidFill>
              </a:rPr>
              <a:t>	</a:t>
            </a:r>
          </a:p>
          <a:p>
            <a:pPr algn="l">
              <a:spcBef>
                <a:spcPct val="0"/>
              </a:spcBef>
              <a:defRPr/>
            </a:pPr>
            <a:r>
              <a:rPr lang="en-US" altLang="en-US" sz="2000" kern="0" dirty="0">
                <a:solidFill>
                  <a:srgbClr val="000000"/>
                </a:solidFill>
              </a:rPr>
              <a:t>	</a:t>
            </a:r>
            <a:endParaRPr lang="en-US" sz="2400" kern="0" dirty="0"/>
          </a:p>
        </p:txBody>
      </p:sp>
      <p:sp>
        <p:nvSpPr>
          <p:cNvPr id="8" name="Title 1"/>
          <p:cNvSpPr txBox="1">
            <a:spLocks/>
          </p:cNvSpPr>
          <p:nvPr/>
        </p:nvSpPr>
        <p:spPr bwMode="auto">
          <a:xfrm>
            <a:off x="760396" y="385764"/>
            <a:ext cx="11097928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HelveticaNeue BoldCond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HelveticaNeue BoldCond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HelveticaNeue BoldCond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HelveticaNeue BoldCond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HelveticaNeue BoldCond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HelveticaNeue BoldCond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HelveticaNeue BoldCond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HelveticaNeue BoldCond" charset="0"/>
              </a:defRPr>
            </a:lvl9pPr>
          </a:lstStyle>
          <a:p>
            <a:pPr algn="l">
              <a:defRPr/>
            </a:pPr>
            <a:r>
              <a:rPr lang="en-US" altLang="en-US" sz="3600" dirty="0">
                <a:solidFill>
                  <a:schemeClr val="tx1"/>
                </a:solidFill>
              </a:rPr>
              <a:t>3) Principal-Agent (“Middleman”)</a:t>
            </a:r>
            <a:endParaRPr lang="en-US" altLang="en-US" sz="3600" kern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5965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 txBox="1">
            <a:spLocks/>
          </p:cNvSpPr>
          <p:nvPr/>
        </p:nvSpPr>
        <p:spPr bwMode="auto">
          <a:xfrm>
            <a:off x="962525" y="1528764"/>
            <a:ext cx="8422775" cy="4852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+mn-lt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HelveticaNeue MediumCond" charset="0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l">
              <a:defRPr/>
            </a:pPr>
            <a:r>
              <a:rPr lang="en-US" altLang="en-US" sz="2400" dirty="0">
                <a:solidFill>
                  <a:srgbClr val="000000"/>
                </a:solidFill>
              </a:rPr>
              <a:t>Priceline.com acts as a broker to sell a United Airlines ticket for $300 plus $10 commission</a:t>
            </a:r>
          </a:p>
          <a:p>
            <a:pPr marL="1320800" indent="-1320800" algn="l">
              <a:defRPr/>
            </a:pPr>
            <a:endParaRPr lang="en-US" altLang="en-US" sz="2400" kern="0" dirty="0">
              <a:solidFill>
                <a:srgbClr val="000000"/>
              </a:solidFill>
            </a:endParaRPr>
          </a:p>
          <a:p>
            <a:pPr algn="l">
              <a:defRPr/>
            </a:pPr>
            <a:endParaRPr lang="en-US" altLang="en-US" sz="2400" kern="0" dirty="0">
              <a:solidFill>
                <a:srgbClr val="000000"/>
              </a:solidFill>
            </a:endParaRPr>
          </a:p>
          <a:p>
            <a:pPr algn="l">
              <a:spcBef>
                <a:spcPct val="0"/>
              </a:spcBef>
              <a:defRPr/>
            </a:pPr>
            <a:r>
              <a:rPr lang="en-US" altLang="en-US" sz="2400" u="sng" kern="0" dirty="0">
                <a:solidFill>
                  <a:srgbClr val="0000CC"/>
                </a:solidFill>
              </a:rPr>
              <a:t>For United Airlines - Initial date (Jan 1):</a:t>
            </a:r>
            <a:endParaRPr lang="en-US" altLang="en-US" sz="2400" kern="0" dirty="0">
              <a:solidFill>
                <a:srgbClr val="000000"/>
              </a:solidFill>
            </a:endParaRPr>
          </a:p>
          <a:p>
            <a:pPr algn="l">
              <a:spcBef>
                <a:spcPct val="0"/>
              </a:spcBef>
              <a:defRPr/>
            </a:pPr>
            <a:r>
              <a:rPr lang="en-US" altLang="en-US" sz="2400" kern="0" dirty="0">
                <a:solidFill>
                  <a:srgbClr val="000000"/>
                </a:solidFill>
              </a:rPr>
              <a:t>	Receivable (B-A)				$300</a:t>
            </a:r>
          </a:p>
          <a:p>
            <a:pPr algn="l">
              <a:spcBef>
                <a:spcPct val="0"/>
              </a:spcBef>
              <a:defRPr/>
            </a:pPr>
            <a:r>
              <a:rPr lang="en-US" altLang="en-US" sz="2400" kern="0" dirty="0">
                <a:solidFill>
                  <a:srgbClr val="000000"/>
                </a:solidFill>
              </a:rPr>
              <a:t>	Commission Expense (I-E)			$10</a:t>
            </a:r>
          </a:p>
          <a:p>
            <a:pPr algn="l">
              <a:spcBef>
                <a:spcPct val="0"/>
              </a:spcBef>
              <a:defRPr/>
            </a:pPr>
            <a:r>
              <a:rPr lang="en-US" altLang="en-US" sz="2400" kern="0" dirty="0">
                <a:solidFill>
                  <a:srgbClr val="000000"/>
                </a:solidFill>
              </a:rPr>
              <a:t>		Sales Revenue (I-R)      			$310</a:t>
            </a:r>
          </a:p>
          <a:p>
            <a:pPr algn="l">
              <a:spcBef>
                <a:spcPct val="0"/>
              </a:spcBef>
              <a:defRPr/>
            </a:pPr>
            <a:r>
              <a:rPr lang="en-US" altLang="en-US" sz="2400" kern="0" dirty="0">
                <a:solidFill>
                  <a:srgbClr val="000000"/>
                </a:solidFill>
              </a:rPr>
              <a:t>			</a:t>
            </a:r>
          </a:p>
          <a:p>
            <a:pPr algn="l">
              <a:spcBef>
                <a:spcPct val="0"/>
              </a:spcBef>
              <a:defRPr/>
            </a:pPr>
            <a:r>
              <a:rPr lang="en-US" altLang="en-US" sz="2000" kern="0" dirty="0">
                <a:solidFill>
                  <a:srgbClr val="000000"/>
                </a:solidFill>
              </a:rPr>
              <a:t>	</a:t>
            </a:r>
            <a:endParaRPr lang="en-US" sz="2400" kern="0" dirty="0"/>
          </a:p>
        </p:txBody>
      </p:sp>
      <p:sp>
        <p:nvSpPr>
          <p:cNvPr id="8" name="Title 1"/>
          <p:cNvSpPr txBox="1">
            <a:spLocks/>
          </p:cNvSpPr>
          <p:nvPr/>
        </p:nvSpPr>
        <p:spPr bwMode="auto">
          <a:xfrm>
            <a:off x="760396" y="385764"/>
            <a:ext cx="11097928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HelveticaNeue BoldCond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HelveticaNeue BoldCond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HelveticaNeue BoldCond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HelveticaNeue BoldCond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HelveticaNeue BoldCond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HelveticaNeue BoldCond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HelveticaNeue BoldCond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HelveticaNeue BoldCond" charset="0"/>
              </a:defRPr>
            </a:lvl9pPr>
          </a:lstStyle>
          <a:p>
            <a:pPr algn="l">
              <a:defRPr/>
            </a:pPr>
            <a:r>
              <a:rPr lang="en-US" altLang="en-US" sz="3600" dirty="0">
                <a:solidFill>
                  <a:schemeClr val="tx1"/>
                </a:solidFill>
              </a:rPr>
              <a:t>3) Principal-Agent (“Middleman”)</a:t>
            </a:r>
            <a:endParaRPr lang="en-US" altLang="en-US" sz="3600" kern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3574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87454-C0C1-48C4-ABFF-718C86B8C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>
                <a:solidFill>
                  <a:schemeClr val="tx1"/>
                </a:solidFill>
              </a:rPr>
              <a:t>3) Principal-Agent (“Middleman”)</a:t>
            </a:r>
            <a:br>
              <a:rPr lang="en-US" altLang="en-US" sz="4400" kern="0" dirty="0">
                <a:solidFill>
                  <a:schemeClr val="tx1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7E160-C392-45C6-9F8F-768E4D780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Same for physical goods – a </a:t>
            </a:r>
            <a:r>
              <a:rPr lang="en-US" dirty="0" err="1"/>
              <a:t>congsignor</a:t>
            </a:r>
            <a:r>
              <a:rPr lang="en-US" dirty="0"/>
              <a:t> gives goods to a consignee to sell.</a:t>
            </a:r>
          </a:p>
          <a:p>
            <a:endParaRPr lang="en-US" dirty="0"/>
          </a:p>
          <a:p>
            <a:r>
              <a:rPr lang="en-US" dirty="0"/>
              <a:t>No entry at initial transfer of goods.</a:t>
            </a:r>
          </a:p>
          <a:p>
            <a:endParaRPr lang="en-US" dirty="0"/>
          </a:p>
          <a:p>
            <a:r>
              <a:rPr lang="en-US" dirty="0"/>
              <a:t>Recognize revenues and expenses similar to </a:t>
            </a:r>
            <a:r>
              <a:rPr lang="en-US" dirty="0" err="1"/>
              <a:t>priceline</a:t>
            </a:r>
            <a:r>
              <a:rPr lang="en-US" dirty="0"/>
              <a:t>/UA example</a:t>
            </a:r>
          </a:p>
        </p:txBody>
      </p:sp>
    </p:spTree>
    <p:extLst>
      <p:ext uri="{BB962C8B-B14F-4D97-AF65-F5344CB8AC3E}">
        <p14:creationId xmlns:p14="http://schemas.microsoft.com/office/powerpoint/2010/main" val="3862272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87364"/>
            <a:ext cx="8915400" cy="588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4746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Closing Thoughts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r>
              <a:rPr lang="en-US" sz="3200" dirty="0"/>
              <a:t>Disclose unexecuted contracts</a:t>
            </a:r>
          </a:p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endParaRPr lang="en-US" sz="1200" dirty="0"/>
          </a:p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r>
              <a:rPr lang="en-US" sz="3200" dirty="0"/>
              <a:t>Recognize estimated post-return revenue up front, liability for cash to be returned and asset for inventory to be returned</a:t>
            </a:r>
            <a:endParaRPr lang="en-US" sz="2800" dirty="0"/>
          </a:p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endParaRPr lang="en-US" sz="1200" dirty="0"/>
          </a:p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r>
              <a:rPr lang="en-US" sz="3200" dirty="0"/>
              <a:t>If you are an agent, recognize net revenue you keep. If you are principal, full revenue and commission expense.</a:t>
            </a:r>
          </a:p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endParaRPr lang="en-US" sz="1200" dirty="0"/>
          </a:p>
          <a:p>
            <a:pPr marL="971539" lvl="1" indent="-514350">
              <a:spcBef>
                <a:spcPts val="1800"/>
              </a:spcBef>
              <a:buFont typeface="+mj-lt"/>
              <a:buAutoNum type="arabicPeriod"/>
            </a:pPr>
            <a:endParaRPr lang="en-US" sz="1100" dirty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6414053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864091" cy="6530027"/>
          </a:xfrm>
          <a:prstGeom prst="rect">
            <a:avLst/>
          </a:prstGeom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-2" y="5303520"/>
            <a:ext cx="9864091" cy="155448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altLang="en-US" sz="3200" b="1" i="1" dirty="0">
                <a:solidFill>
                  <a:schemeClr val="bg1"/>
                </a:solidFill>
              </a:rPr>
              <a:t>Revenue Recognition Part 2 - Video</a:t>
            </a:r>
          </a:p>
        </p:txBody>
      </p:sp>
    </p:spTree>
    <p:extLst>
      <p:ext uri="{BB962C8B-B14F-4D97-AF65-F5344CB8AC3E}">
        <p14:creationId xmlns:p14="http://schemas.microsoft.com/office/powerpoint/2010/main" val="3191673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1696</TotalTime>
  <Words>582</Words>
  <Application>Microsoft Office PowerPoint</Application>
  <PresentationFormat>Widescreen</PresentationFormat>
  <Paragraphs>107</Paragraphs>
  <Slides>14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Arial Black</vt:lpstr>
      <vt:lpstr>Calibri</vt:lpstr>
      <vt:lpstr>HelveticaNeue MediumCond</vt:lpstr>
      <vt:lpstr>Times New Roman</vt:lpstr>
      <vt:lpstr>Wingdings</vt:lpstr>
      <vt:lpstr>Office Theme</vt:lpstr>
      <vt:lpstr>PowerPoint Presentation</vt:lpstr>
      <vt:lpstr>Misc. Revenue Topics</vt:lpstr>
      <vt:lpstr>Misc. Revenue Topics</vt:lpstr>
      <vt:lpstr>1) Unexecuted contracts:</vt:lpstr>
      <vt:lpstr>1) Unexecuted contracts:</vt:lpstr>
      <vt:lpstr>Misc. Revenue Topics</vt:lpstr>
      <vt:lpstr>2) Sales and Returns</vt:lpstr>
      <vt:lpstr>Misc. Revenue Topics</vt:lpstr>
      <vt:lpstr>PowerPoint Presentation</vt:lpstr>
      <vt:lpstr>PowerPoint Presentation</vt:lpstr>
      <vt:lpstr>3) Principal-Agent (“Middleman”) </vt:lpstr>
      <vt:lpstr>PowerPoint Presentation</vt:lpstr>
      <vt:lpstr>Closing Thoughts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 Kubie</dc:creator>
  <cp:lastModifiedBy>Jeremiah Contreras</cp:lastModifiedBy>
  <cp:revision>110</cp:revision>
  <dcterms:created xsi:type="dcterms:W3CDTF">2016-01-26T18:12:20Z</dcterms:created>
  <dcterms:modified xsi:type="dcterms:W3CDTF">2022-09-17T13:38:38Z</dcterms:modified>
</cp:coreProperties>
</file>