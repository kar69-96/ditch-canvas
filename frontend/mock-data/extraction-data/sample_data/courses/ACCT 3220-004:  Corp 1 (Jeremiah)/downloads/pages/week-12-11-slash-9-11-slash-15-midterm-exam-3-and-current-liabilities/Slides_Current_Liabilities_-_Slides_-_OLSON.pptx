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309" r:id="rId2"/>
    <p:sldId id="321" r:id="rId3"/>
    <p:sldId id="312" r:id="rId4"/>
    <p:sldId id="264" r:id="rId5"/>
    <p:sldId id="265" r:id="rId6"/>
    <p:sldId id="286" r:id="rId7"/>
    <p:sldId id="324" r:id="rId8"/>
    <p:sldId id="313" r:id="rId9"/>
    <p:sldId id="314" r:id="rId10"/>
    <p:sldId id="315" r:id="rId11"/>
    <p:sldId id="287" r:id="rId12"/>
    <p:sldId id="320" r:id="rId13"/>
    <p:sldId id="316" r:id="rId14"/>
    <p:sldId id="273" r:id="rId15"/>
    <p:sldId id="301" r:id="rId16"/>
    <p:sldId id="317" r:id="rId17"/>
    <p:sldId id="322" r:id="rId18"/>
    <p:sldId id="318" r:id="rId19"/>
    <p:sldId id="268" r:id="rId20"/>
    <p:sldId id="296" r:id="rId21"/>
    <p:sldId id="284" r:id="rId22"/>
    <p:sldId id="323" r:id="rId23"/>
    <p:sldId id="271" r:id="rId24"/>
    <p:sldId id="282" r:id="rId25"/>
    <p:sldId id="319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E94FB-46C3-4449-BC40-1E4EBEC39074}" v="201" dt="2024-11-18T18:30:56.040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72003" autoAdjust="0"/>
  </p:normalViewPr>
  <p:slideViewPr>
    <p:cSldViewPr snapToGrid="0" snapToObjects="1">
      <p:cViewPr varScale="1">
        <p:scale>
          <a:sx n="73" d="100"/>
          <a:sy n="73" d="100"/>
        </p:scale>
        <p:origin x="1239" y="267"/>
      </p:cViewPr>
      <p:guideLst/>
    </p:cSldViewPr>
  </p:slideViewPr>
  <p:outlineViewPr>
    <p:cViewPr>
      <p:scale>
        <a:sx n="33" d="100"/>
        <a:sy n="33" d="100"/>
      </p:scale>
      <p:origin x="0" y="-19011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878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C89F8F-8190-4A97-AD72-41F7E499B2A6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541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7" tIns="45714" rIns="91427" bIns="45714">
            <a:normAutofit/>
          </a:bodyPr>
          <a:lstStyle/>
          <a:p>
            <a:pPr>
              <a:defRPr/>
            </a:pPr>
            <a:r>
              <a:rPr lang="en-US" dirty="0"/>
              <a:t>Breakage:</a:t>
            </a:r>
          </a:p>
          <a:p>
            <a:pPr marL="228569" indent="-228569">
              <a:buFontTx/>
              <a:buAutoNum type="arabicPeriod"/>
              <a:defRPr/>
            </a:pPr>
            <a:r>
              <a:rPr lang="en-US" dirty="0"/>
              <a:t>Remote method: estimate </a:t>
            </a:r>
            <a:r>
              <a:rPr lang="en-US" dirty="0" err="1"/>
              <a:t>amt</a:t>
            </a:r>
            <a:r>
              <a:rPr lang="en-US" dirty="0"/>
              <a:t> of breakage and </a:t>
            </a:r>
            <a:r>
              <a:rPr lang="en-US" dirty="0" err="1"/>
              <a:t>recog</a:t>
            </a:r>
            <a:r>
              <a:rPr lang="en-US" dirty="0"/>
              <a:t> when prob. Of redemption is REMOTE.</a:t>
            </a:r>
          </a:p>
          <a:p>
            <a:pPr marL="228569" indent="-228569">
              <a:buFontTx/>
              <a:buAutoNum type="arabicPeriod"/>
              <a:defRPr/>
            </a:pPr>
            <a:r>
              <a:rPr lang="en-US" dirty="0"/>
              <a:t>Proportional method: recognize ratably as actual redemption occurs (pool all gift cards and estimate # breakage and window of usage)</a:t>
            </a: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894EFC-6D2C-41A4-8CDE-9E8CEF4D7258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434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Colorado is 5 years unused gets reported as unclaimed property to the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92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698500"/>
            <a:ext cx="6203950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88244" tIns="44121" rIns="88244" bIns="44121"/>
          <a:lstStyle/>
          <a:p>
            <a:pPr>
              <a:defRPr/>
            </a:pPr>
            <a:r>
              <a:rPr lang="en-US" u="sng" dirty="0"/>
              <a:t>3 journal entries at sale:</a:t>
            </a:r>
          </a:p>
          <a:p>
            <a:pPr marL="220607" indent="-220607">
              <a:buFontTx/>
              <a:buAutoNum type="arabicParenR"/>
              <a:defRPr/>
            </a:pPr>
            <a:r>
              <a:rPr lang="en-US" dirty="0"/>
              <a:t>Revenue and receivable/cash (whatever is used to fulfill warranty claim)</a:t>
            </a:r>
          </a:p>
          <a:p>
            <a:pPr marL="220607" indent="-220607">
              <a:buFontTx/>
              <a:buAutoNum type="arabicParenR"/>
              <a:defRPr/>
            </a:pPr>
            <a:r>
              <a:rPr lang="en-US" dirty="0"/>
              <a:t>COGS and inventory</a:t>
            </a:r>
          </a:p>
          <a:p>
            <a:pPr marL="220607" indent="-220607">
              <a:buFontTx/>
              <a:buAutoNum type="arabicParenR"/>
              <a:defRPr/>
            </a:pPr>
            <a:r>
              <a:rPr lang="en-US" dirty="0"/>
              <a:t>(NEW) Warranty expense and liability</a:t>
            </a:r>
          </a:p>
          <a:p>
            <a:pPr marL="220607" indent="-220607">
              <a:buFontTx/>
              <a:buAutoNum type="arabicParenR"/>
              <a:defRPr/>
            </a:pPr>
            <a:endParaRPr lang="en-US" dirty="0"/>
          </a:p>
          <a:p>
            <a:pPr marL="220607" indent="-220607">
              <a:defRPr/>
            </a:pPr>
            <a:r>
              <a:rPr lang="en-US" dirty="0"/>
              <a:t>Estimate expense based on historical experience</a:t>
            </a:r>
          </a:p>
          <a:p>
            <a:pPr marL="220607" indent="-220607">
              <a:defRPr/>
            </a:pPr>
            <a:endParaRPr lang="en-US" dirty="0"/>
          </a:p>
          <a:p>
            <a:pPr marL="220607" indent="-220607">
              <a:defRPr/>
            </a:pPr>
            <a:r>
              <a:rPr lang="en-US" dirty="0"/>
              <a:t>No IS effects when claims are made (expense was matched to sale)</a:t>
            </a:r>
          </a:p>
          <a:p>
            <a:pPr marL="220607" indent="-220607">
              <a:defRPr/>
            </a:pPr>
            <a:endParaRPr lang="en-US" dirty="0"/>
          </a:p>
          <a:p>
            <a:pPr marL="220607" indent="-220607">
              <a:defRPr/>
            </a:pPr>
            <a:r>
              <a:rPr lang="en-US" dirty="0"/>
              <a:t>If liability estimate is overstated (i.e., liability left after warranty ends), GAIN on IS</a:t>
            </a:r>
          </a:p>
          <a:p>
            <a:pPr marL="220607" indent="-220607">
              <a:defRPr/>
            </a:pPr>
            <a:endParaRPr lang="en-US" dirty="0"/>
          </a:p>
          <a:p>
            <a:pPr marL="220607" indent="-220607">
              <a:defRPr/>
            </a:pPr>
            <a:r>
              <a:rPr lang="en-US" dirty="0"/>
              <a:t>Similar to an allowance for bad debt or returns</a:t>
            </a:r>
          </a:p>
          <a:p>
            <a:pPr marL="220607" indent="-220607">
              <a:defRPr/>
            </a:pPr>
            <a:r>
              <a:rPr lang="en-US" dirty="0"/>
              <a:t>This is a future cost of the current sale</a:t>
            </a:r>
          </a:p>
          <a:p>
            <a:pPr marL="220607" indent="-220607">
              <a:defRPr/>
            </a:pPr>
            <a:r>
              <a:rPr lang="en-US" dirty="0"/>
              <a:t>     -&gt; estimate the cost at the sale to match rev with exp</a:t>
            </a:r>
          </a:p>
        </p:txBody>
      </p:sp>
    </p:spTree>
    <p:extLst>
      <p:ext uri="{BB962C8B-B14F-4D97-AF65-F5344CB8AC3E}">
        <p14:creationId xmlns:p14="http://schemas.microsoft.com/office/powerpoint/2010/main" val="1788521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2475" indent="-28733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0463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7188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2325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95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67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39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11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ACCT 3220/Nov 29,2012</a:t>
            </a:r>
          </a:p>
        </p:txBody>
      </p:sp>
      <p:sp>
        <p:nvSpPr>
          <p:cNvPr id="50179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2475" indent="-28733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0463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7188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2325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95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67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39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11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E61680-39CE-419D-900A-40435166AA91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2775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97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2475" indent="-28733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0463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7188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2325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95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67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39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11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ACCT 3220/Nov 29,2012</a:t>
            </a:r>
          </a:p>
        </p:txBody>
      </p:sp>
      <p:sp>
        <p:nvSpPr>
          <p:cNvPr id="50179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2475" indent="-28733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0463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7188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2325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95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67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39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1125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E61680-39CE-419D-900A-40435166AA91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2775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2" tIns="45952" rIns="91902" bIns="45952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0055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8B9D-0684-912C-918C-5454DCAAF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6D39D-3249-4C28-1A99-268AC4C77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5C00E-57F4-3B68-9CF7-F0FBC798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80A87-EC4B-0226-5D88-B9676439C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6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9100" y="703263"/>
            <a:ext cx="6184900" cy="3479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2775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00" tIns="46650" rIns="93300" bIns="4665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05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6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ssingmoney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Current Liabilities and Contingencies – In-Class</a:t>
            </a:r>
          </a:p>
        </p:txBody>
      </p:sp>
    </p:spTree>
    <p:extLst>
      <p:ext uri="{BB962C8B-B14F-4D97-AF65-F5344CB8AC3E}">
        <p14:creationId xmlns:p14="http://schemas.microsoft.com/office/powerpoint/2010/main" val="3835523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A4462-A6DE-4650-B8FB-E4E73107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From the Video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CE08C-C668-4A2B-8AF6-6F3B7D55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Current liabilities are obligations to perform within a year.</a:t>
            </a:r>
          </a:p>
          <a:p>
            <a:endParaRPr lang="en-US" sz="2200"/>
          </a:p>
          <a:p>
            <a:r>
              <a:rPr lang="en-US" sz="2200"/>
              <a:t>Accounts payable are open, informal liabilities usually related to the purchase of inventory from a supplier.</a:t>
            </a:r>
          </a:p>
          <a:p>
            <a:endParaRPr lang="en-US" sz="2200"/>
          </a:p>
          <a:p>
            <a:r>
              <a:rPr lang="en-US" sz="2200"/>
              <a:t>Sales taxes are collected from the customer by the seller of goods and later remitted to the state.</a:t>
            </a:r>
          </a:p>
        </p:txBody>
      </p:sp>
    </p:spTree>
    <p:extLst>
      <p:ext uri="{BB962C8B-B14F-4D97-AF65-F5344CB8AC3E}">
        <p14:creationId xmlns:p14="http://schemas.microsoft.com/office/powerpoint/2010/main" val="376187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Current liabilities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We cover:</a:t>
            </a:r>
          </a:p>
          <a:p>
            <a:pPr lvl="1"/>
            <a:r>
              <a:rPr lang="en-US" sz="2200" dirty="0"/>
              <a:t>Accounts payable</a:t>
            </a:r>
          </a:p>
          <a:p>
            <a:pPr lvl="1"/>
            <a:r>
              <a:rPr lang="en-US" sz="2200" dirty="0"/>
              <a:t>Sales tax payable</a:t>
            </a:r>
          </a:p>
          <a:p>
            <a:pPr lvl="1"/>
            <a:r>
              <a:rPr lang="en-US" sz="2200" b="1" dirty="0"/>
              <a:t>Gift cards</a:t>
            </a:r>
          </a:p>
          <a:p>
            <a:pPr lvl="1"/>
            <a:r>
              <a:rPr lang="en-US" sz="2200" b="1" dirty="0"/>
              <a:t>Warranties</a:t>
            </a:r>
          </a:p>
          <a:p>
            <a:pPr lvl="1"/>
            <a:r>
              <a:rPr lang="en-US" sz="2200" b="1" dirty="0"/>
              <a:t>Contingencies</a:t>
            </a:r>
          </a:p>
          <a:p>
            <a:pPr marL="0" indent="0">
              <a:buNone/>
            </a:pPr>
            <a:r>
              <a:rPr lang="en-US" sz="2200" dirty="0"/>
              <a:t>Other current liabilities (not exhaustive):</a:t>
            </a:r>
          </a:p>
          <a:p>
            <a:pPr lvl="1"/>
            <a:r>
              <a:rPr lang="en-US" sz="2200" dirty="0"/>
              <a:t>Wages</a:t>
            </a:r>
          </a:p>
          <a:p>
            <a:pPr lvl="1"/>
            <a:r>
              <a:rPr lang="en-US" sz="2200" dirty="0"/>
              <a:t>Payroll taxes</a:t>
            </a:r>
          </a:p>
          <a:p>
            <a:pPr lvl="1"/>
            <a:r>
              <a:rPr lang="en-US" sz="2200" dirty="0"/>
              <a:t>Current portion of long-term debt</a:t>
            </a:r>
          </a:p>
          <a:p>
            <a:pPr lvl="1"/>
            <a:r>
              <a:rPr lang="en-US" sz="2200" dirty="0"/>
              <a:t>Dividends payable</a:t>
            </a:r>
          </a:p>
          <a:p>
            <a:pPr lvl="1"/>
            <a:r>
              <a:rPr lang="en-US" sz="2200" dirty="0"/>
              <a:t>Salaries payable</a:t>
            </a:r>
          </a:p>
          <a:p>
            <a:pPr lvl="1"/>
            <a:r>
              <a:rPr lang="en-US" sz="2200" dirty="0"/>
              <a:t>Unearned revenue</a:t>
            </a:r>
          </a:p>
        </p:txBody>
      </p:sp>
    </p:spTree>
    <p:extLst>
      <p:ext uri="{BB962C8B-B14F-4D97-AF65-F5344CB8AC3E}">
        <p14:creationId xmlns:p14="http://schemas.microsoft.com/office/powerpoint/2010/main" val="59591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Gift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1939"/>
            <a:ext cx="9161463" cy="3800475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  <a:defRPr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gift card</a:t>
            </a:r>
            <a:r>
              <a:rPr lang="en-US" sz="2400" dirty="0"/>
              <a:t> allows the holder to receive goods or services of a specified value from the issuing company.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/>
              <a:t>When a customer buys a gift card, the company receives cash on issuance </a:t>
            </a:r>
            <a:r>
              <a:rPr lang="en-US" sz="2400" dirty="0">
                <a:sym typeface="Wingdings" panose="05000000000000000000" pitchFamily="2" charset="2"/>
              </a:rPr>
              <a:t> goods/services not delivered yet</a:t>
            </a:r>
            <a:r>
              <a:rPr lang="en-US" sz="2400" dirty="0"/>
              <a:t> </a:t>
            </a:r>
          </a:p>
          <a:p>
            <a:pPr marL="0" indent="0">
              <a:buNone/>
              <a:defRPr/>
            </a:pPr>
            <a:r>
              <a:rPr lang="en-US" sz="2400" dirty="0"/>
              <a:t>	</a:t>
            </a:r>
          </a:p>
          <a:p>
            <a:pPr marL="0" indent="0">
              <a:buNone/>
              <a:defRPr/>
            </a:pPr>
            <a:r>
              <a:rPr lang="en-US" sz="2400" i="1" dirty="0">
                <a:solidFill>
                  <a:srgbClr val="C00000"/>
                </a:solidFill>
              </a:rPr>
              <a:t>	Cash (B-A)					100</a:t>
            </a:r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z="2400" i="1" dirty="0">
                <a:solidFill>
                  <a:srgbClr val="C00000"/>
                </a:solidFill>
              </a:rPr>
              <a:t>	      Unearned revenue – gift cards (B-L) 		100</a:t>
            </a:r>
          </a:p>
        </p:txBody>
      </p:sp>
    </p:spTree>
    <p:extLst>
      <p:ext uri="{BB962C8B-B14F-4D97-AF65-F5344CB8AC3E}">
        <p14:creationId xmlns:p14="http://schemas.microsoft.com/office/powerpoint/2010/main" val="399933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Gift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9538"/>
            <a:ext cx="9583739" cy="478155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1200"/>
              </a:spcAft>
              <a:buNone/>
              <a:defRPr/>
            </a:pPr>
            <a:r>
              <a:rPr lang="en-US" sz="2400" dirty="0"/>
              <a:t>Going forward...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u="sng" dirty="0"/>
              <a:t>Redemption</a:t>
            </a:r>
            <a:r>
              <a:rPr lang="en-US" sz="2400" dirty="0"/>
              <a:t>: When a customer redeems a gift card, company delivers the goods/services </a:t>
            </a:r>
            <a:r>
              <a:rPr lang="en-US" sz="2400" dirty="0">
                <a:sym typeface="Wingdings" panose="05000000000000000000" pitchFamily="2" charset="2"/>
              </a:rPr>
              <a:t> recognize revenue</a:t>
            </a:r>
          </a:p>
          <a:p>
            <a:pPr marL="0" indent="0">
              <a:buNone/>
              <a:defRPr/>
            </a:pPr>
            <a:r>
              <a:rPr lang="en-US" sz="2400" dirty="0"/>
              <a:t>	</a:t>
            </a:r>
            <a:r>
              <a:rPr lang="en-US" sz="2400" i="1" dirty="0">
                <a:solidFill>
                  <a:srgbClr val="C00000"/>
                </a:solidFill>
              </a:rPr>
              <a:t>Unearned revenue – gift cards (B-L) 	80</a:t>
            </a:r>
          </a:p>
          <a:p>
            <a:pPr marL="0" indent="0">
              <a:buNone/>
              <a:defRPr/>
            </a:pPr>
            <a:r>
              <a:rPr lang="en-US" sz="2400" i="1" dirty="0">
                <a:solidFill>
                  <a:srgbClr val="C00000"/>
                </a:solidFill>
              </a:rPr>
              <a:t>	       Sales Revenue	(I-R)				80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2"/>
              <a:defRPr/>
            </a:pPr>
            <a:endParaRPr lang="en-US" sz="2400" u="sng" dirty="0"/>
          </a:p>
          <a:p>
            <a:pPr marL="457200" indent="-457200">
              <a:spcAft>
                <a:spcPts val="1200"/>
              </a:spcAft>
              <a:buFont typeface="+mj-lt"/>
              <a:buAutoNum type="arabicPeriod" startAt="2"/>
              <a:defRPr/>
            </a:pPr>
            <a:r>
              <a:rPr lang="en-US" sz="2400" u="sng" dirty="0"/>
              <a:t>Breakage</a:t>
            </a:r>
            <a:r>
              <a:rPr lang="en-US" sz="2400" dirty="0"/>
              <a:t>: Not all gift cards are redeemed.  When redemption will not occur </a:t>
            </a:r>
            <a:r>
              <a:rPr lang="en-US" sz="2400" dirty="0">
                <a:sym typeface="Wingdings" panose="05000000000000000000" pitchFamily="2" charset="2"/>
              </a:rPr>
              <a:t> recognize revenue</a:t>
            </a:r>
          </a:p>
          <a:p>
            <a:pPr marL="0" indent="0">
              <a:buNone/>
              <a:defRPr/>
            </a:pPr>
            <a:r>
              <a:rPr lang="en-US" sz="2400" dirty="0"/>
              <a:t>	</a:t>
            </a:r>
            <a:r>
              <a:rPr lang="en-US" sz="2400" i="1" dirty="0">
                <a:solidFill>
                  <a:srgbClr val="C00000"/>
                </a:solidFill>
              </a:rPr>
              <a:t>Unearned revenue – gift cards (B-L) 	20</a:t>
            </a:r>
          </a:p>
          <a:p>
            <a:pPr marL="0" indent="0">
              <a:buNone/>
              <a:defRPr/>
            </a:pPr>
            <a:r>
              <a:rPr lang="en-US" sz="2400" i="1" dirty="0">
                <a:solidFill>
                  <a:srgbClr val="C00000"/>
                </a:solidFill>
              </a:rPr>
              <a:t>	       Breakage Revenue (I-R)			20</a:t>
            </a:r>
          </a:p>
          <a:p>
            <a:pPr marL="0" indent="0">
              <a:buNone/>
              <a:defRPr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20852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Gift cards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When do we recognize breakage? </a:t>
            </a:r>
          </a:p>
          <a:p>
            <a:pPr marL="0" indent="0">
              <a:buNone/>
            </a:pPr>
            <a:endParaRPr lang="en-US" sz="4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When likelihood of redemption is </a:t>
            </a:r>
            <a:r>
              <a:rPr lang="en-US" sz="2400" b="1" dirty="0"/>
              <a:t>remote</a:t>
            </a:r>
          </a:p>
          <a:p>
            <a:pPr lvl="1"/>
            <a:r>
              <a:rPr lang="en-US" dirty="0"/>
              <a:t>e.g., it’s been two years, let’s get rid of the liability and recognize the revenue.</a:t>
            </a:r>
          </a:p>
          <a:p>
            <a:pPr marL="514350" indent="-514350">
              <a:buFont typeface="+mj-lt"/>
              <a:buAutoNum type="arabicPeriod"/>
            </a:pPr>
            <a:endParaRPr lang="en-US" sz="800" dirty="0"/>
          </a:p>
          <a:p>
            <a:pPr marL="0" indent="0">
              <a:buNone/>
            </a:pPr>
            <a:r>
              <a:rPr lang="en-US" sz="2400" b="1" i="1" u="sng" dirty="0">
                <a:solidFill>
                  <a:srgbClr val="FF0000"/>
                </a:solidFill>
              </a:rPr>
              <a:t>OR</a:t>
            </a:r>
          </a:p>
          <a:p>
            <a:pPr marL="514350" indent="-514350">
              <a:buFont typeface="+mj-lt"/>
              <a:buAutoNum type="arabicPeriod"/>
            </a:pPr>
            <a:endParaRPr lang="en-US" sz="8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2400" b="1" dirty="0"/>
              <a:t>Ratably</a:t>
            </a:r>
            <a:r>
              <a:rPr lang="en-US" sz="2400" dirty="0"/>
              <a:t> while gift cards are redeemed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e.g., a company believes 20% of gift cards won’t be redeemed.  When X% of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expected gift cards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are redeemed, recognize X% of the breakage as revenue.</a:t>
            </a:r>
          </a:p>
        </p:txBody>
      </p:sp>
    </p:spTree>
    <p:extLst>
      <p:ext uri="{BB962C8B-B14F-4D97-AF65-F5344CB8AC3E}">
        <p14:creationId xmlns:p14="http://schemas.microsoft.com/office/powerpoint/2010/main" val="339486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5777-54AD-4D40-B7DF-8E4E2A0D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Ratable Breakage?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BEA1-C870-EE30-56DF-447E08130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7"/>
            <a:ext cx="10515600" cy="4853866"/>
          </a:xfrm>
        </p:spPr>
        <p:txBody>
          <a:bodyPr/>
          <a:lstStyle/>
          <a:p>
            <a:r>
              <a:rPr lang="en-US" dirty="0"/>
              <a:t>We owe customers goods or services equal to the value of their cards.</a:t>
            </a:r>
          </a:p>
          <a:p>
            <a:r>
              <a:rPr lang="en-US" dirty="0"/>
              <a:t>But based on years of experience, we know some cards will never be redeemed — those obligations will never require us to give anything back.</a:t>
            </a:r>
          </a:p>
          <a:p>
            <a:r>
              <a:rPr lang="en-US" dirty="0"/>
              <a:t>If we </a:t>
            </a:r>
            <a:r>
              <a:rPr lang="en-US" i="1" dirty="0"/>
              <a:t>don’t</a:t>
            </a:r>
            <a:r>
              <a:rPr lang="en-US" dirty="0"/>
              <a:t> reduce that liability gradually, we’d permanently </a:t>
            </a:r>
            <a:r>
              <a:rPr lang="en-US" b="1" dirty="0"/>
              <a:t>understate revenue and overstate liabilities</a:t>
            </a:r>
            <a:r>
              <a:rPr lang="en-US" dirty="0"/>
              <a:t>.</a:t>
            </a:r>
          </a:p>
          <a:p>
            <a:r>
              <a:rPr lang="en-US" dirty="0"/>
              <a:t>So, we recognize breakage revenue ratably — use the % of EXPECTED redemptions that have ACTUALLY been redeemed already — so the timing of breakage revenue tracks with the </a:t>
            </a:r>
            <a:r>
              <a:rPr lang="en-US" b="1" i="1" u="sng" dirty="0"/>
              <a:t>actual</a:t>
            </a:r>
            <a:r>
              <a:rPr lang="en-US" dirty="0"/>
              <a:t> customer activity, not with a one-time guess.</a:t>
            </a:r>
          </a:p>
        </p:txBody>
      </p:sp>
    </p:spTree>
    <p:extLst>
      <p:ext uri="{BB962C8B-B14F-4D97-AF65-F5344CB8AC3E}">
        <p14:creationId xmlns:p14="http://schemas.microsoft.com/office/powerpoint/2010/main" val="290351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481C1-6CEA-47D8-8D36-42C06343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Ratable Breakage Example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E32C-1F33-4CAA-A529-4803AE76D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Zany Zoo Corp. sells $1,000 of gift cards in 2020. $700 of gift cards are redeemed in 2020. Of the initial sale, Zany Zoo expects that 80% of the gift cards will be redeemed and 20% will never be redeemed.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Upon Sale: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Cash (B-A)					1,000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			Unearned Revenue				1,000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			or Gift Card Liability (B-L)</a:t>
            </a:r>
          </a:p>
        </p:txBody>
      </p:sp>
    </p:spTree>
    <p:extLst>
      <p:ext uri="{BB962C8B-B14F-4D97-AF65-F5344CB8AC3E}">
        <p14:creationId xmlns:p14="http://schemas.microsoft.com/office/powerpoint/2010/main" val="148033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481C1-6CEA-47D8-8D36-42C06343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Ratable Breakage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E32C-1F33-4CAA-A529-4803AE76D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Zany Zoo Corp. sells $1,000 of gift cards in 2020. $700 of gift cards are redeemed in 2020. Of the initial sale, Zany Zoo expects that 80% of the gift cards will be redeemed and 20% will never be redeemed.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Upon Redemption: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C00000"/>
                </a:solidFill>
              </a:rPr>
              <a:t>Unearned Revenue (B-L)			700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			Revenue (I-R)					700</a:t>
            </a:r>
          </a:p>
        </p:txBody>
      </p:sp>
    </p:spTree>
    <p:extLst>
      <p:ext uri="{BB962C8B-B14F-4D97-AF65-F5344CB8AC3E}">
        <p14:creationId xmlns:p14="http://schemas.microsoft.com/office/powerpoint/2010/main" val="8123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1C1-6CEA-47D8-8D36-42C06343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Ratable Breakage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E32C-1F33-4CAA-A529-4803AE76D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7"/>
            <a:ext cx="10515600" cy="4766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Zany Zoo Corp. sells $1,000 of gift cards in 2020. $700 of gift cards are redeemed in 2020. Of the initial sale, Zany Zoo expects that 80% of the gift cards will be redeemed and 20% will never be redeemed.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At end of first year (Ratably):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Unearned Revenue (B-L)		175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Revenue (I-R)				175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2BCC6-0F23-4733-9E46-7B6AEDA91236}"/>
              </a:ext>
            </a:extLst>
          </p:cNvPr>
          <p:cNvSpPr txBox="1"/>
          <p:nvPr/>
        </p:nvSpPr>
        <p:spPr>
          <a:xfrm>
            <a:off x="1927527" y="3423799"/>
            <a:ext cx="8915401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Expected breakage revenue = $1,000 x 20% 	= $200</a:t>
            </a:r>
          </a:p>
          <a:p>
            <a:r>
              <a:rPr lang="en-US" sz="2400" dirty="0"/>
              <a:t>Total expected redemptions = $1,000 x 80% 	= $800</a:t>
            </a:r>
          </a:p>
          <a:p>
            <a:r>
              <a:rPr lang="en-US" sz="2400" dirty="0"/>
              <a:t>% Redeemed 		= $700 / $800 	= 87.5%</a:t>
            </a:r>
          </a:p>
          <a:p>
            <a:r>
              <a:rPr lang="en-US" sz="2400" dirty="0"/>
              <a:t>Breakage Revenue 		= 87.5% x $200 	= $175	</a:t>
            </a:r>
          </a:p>
        </p:txBody>
      </p:sp>
    </p:spTree>
    <p:extLst>
      <p:ext uri="{BB962C8B-B14F-4D97-AF65-F5344CB8AC3E}">
        <p14:creationId xmlns:p14="http://schemas.microsoft.com/office/powerpoint/2010/main" val="151300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Gift cards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One breakage caveat:</a:t>
            </a:r>
          </a:p>
          <a:p>
            <a:pPr marL="0" indent="0">
              <a:buNone/>
            </a:pPr>
            <a:r>
              <a:rPr lang="en-US" sz="2200" dirty="0"/>
              <a:t>Some states consider unredeemed gifts cards to be unclaimed property, require companies to </a:t>
            </a:r>
            <a:r>
              <a:rPr lang="en-US" sz="2200" b="1" i="1" dirty="0"/>
              <a:t>escheat</a:t>
            </a:r>
            <a:r>
              <a:rPr lang="en-US" sz="2200" dirty="0"/>
              <a:t> the cash to the state.</a:t>
            </a:r>
          </a:p>
          <a:p>
            <a:endParaRPr lang="en-US" sz="2200" dirty="0"/>
          </a:p>
          <a:p>
            <a:pPr lvl="1"/>
            <a:r>
              <a:rPr lang="en-US" sz="2200" b="1" dirty="0"/>
              <a:t>Definition:</a:t>
            </a:r>
            <a:r>
              <a:rPr lang="en-US" sz="2200" dirty="0"/>
              <a:t> the reversion of property to the state, or (in feudal law) to a lord, on the owner's dying without legal heirs.</a:t>
            </a:r>
          </a:p>
          <a:p>
            <a:pPr marL="457189" lvl="1" indent="0">
              <a:buNone/>
            </a:pPr>
            <a:endParaRPr lang="en-US" sz="2200" dirty="0"/>
          </a:p>
          <a:p>
            <a:pPr lvl="1"/>
            <a:r>
              <a:rPr lang="en-US" sz="2200" dirty="0"/>
              <a:t>Big complication for companies in terms of tracking as well as compliance with different state laws.</a:t>
            </a:r>
          </a:p>
          <a:p>
            <a:pPr marL="457189" lvl="1" indent="0">
              <a:buNone/>
            </a:pPr>
            <a:endParaRPr lang="en-US" sz="2200" dirty="0"/>
          </a:p>
          <a:p>
            <a:r>
              <a:rPr lang="en-US" sz="2600" dirty="0"/>
              <a:t>However, you need to know the breakage rules for the exams!!</a:t>
            </a:r>
          </a:p>
        </p:txBody>
      </p:sp>
    </p:spTree>
    <p:extLst>
      <p:ext uri="{BB962C8B-B14F-4D97-AF65-F5344CB8AC3E}">
        <p14:creationId xmlns:p14="http://schemas.microsoft.com/office/powerpoint/2010/main" val="3962307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E9FD-954F-48DD-8CC5-58051470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3BFA-F07C-442F-9210-348B36C0E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2750F5-61E7-3736-BE35-22540E282E84}"/>
              </a:ext>
            </a:extLst>
          </p:cNvPr>
          <p:cNvSpPr txBox="1">
            <a:spLocks/>
          </p:cNvSpPr>
          <p:nvPr/>
        </p:nvSpPr>
        <p:spPr>
          <a:xfrm>
            <a:off x="990600" y="24985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#1</a:t>
            </a:r>
          </a:p>
        </p:txBody>
      </p:sp>
    </p:spTree>
    <p:extLst>
      <p:ext uri="{BB962C8B-B14F-4D97-AF65-F5344CB8AC3E}">
        <p14:creationId xmlns:p14="http://schemas.microsoft.com/office/powerpoint/2010/main" val="239986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Current liabilities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3" y="2026926"/>
            <a:ext cx="6713552" cy="411917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We cover:</a:t>
            </a:r>
          </a:p>
          <a:p>
            <a:pPr lvl="1"/>
            <a:r>
              <a:rPr lang="en-US" sz="2000" dirty="0"/>
              <a:t>Accounts payable</a:t>
            </a:r>
          </a:p>
          <a:p>
            <a:pPr lvl="1"/>
            <a:r>
              <a:rPr lang="en-US" sz="2000" dirty="0"/>
              <a:t>Sales tax payable</a:t>
            </a:r>
          </a:p>
          <a:p>
            <a:pPr lvl="1"/>
            <a:r>
              <a:rPr lang="en-US" sz="2000" dirty="0"/>
              <a:t>Gift cards</a:t>
            </a:r>
          </a:p>
          <a:p>
            <a:pPr lvl="1"/>
            <a:r>
              <a:rPr lang="en-US" sz="2000" b="1" dirty="0"/>
              <a:t>Warranties</a:t>
            </a:r>
          </a:p>
          <a:p>
            <a:endParaRPr lang="en-US" sz="400" dirty="0"/>
          </a:p>
          <a:p>
            <a:pPr marL="0" indent="0">
              <a:buNone/>
            </a:pPr>
            <a:r>
              <a:rPr lang="en-US" sz="2000" dirty="0"/>
              <a:t>Other current liabilities (not exhaustive):</a:t>
            </a:r>
          </a:p>
          <a:p>
            <a:pPr lvl="1"/>
            <a:r>
              <a:rPr lang="en-US" sz="2000" dirty="0"/>
              <a:t>Wages</a:t>
            </a:r>
          </a:p>
          <a:p>
            <a:pPr lvl="1"/>
            <a:r>
              <a:rPr lang="en-US" sz="2000" dirty="0"/>
              <a:t>Payroll taxes</a:t>
            </a:r>
          </a:p>
          <a:p>
            <a:pPr lvl="1"/>
            <a:r>
              <a:rPr lang="en-US" sz="2000" dirty="0"/>
              <a:t>Current portion of long-term debt</a:t>
            </a:r>
          </a:p>
          <a:p>
            <a:pPr lvl="1"/>
            <a:r>
              <a:rPr lang="en-US" sz="2000" dirty="0"/>
              <a:t>Dividends payable</a:t>
            </a:r>
          </a:p>
          <a:p>
            <a:pPr lvl="1"/>
            <a:r>
              <a:rPr lang="en-US" sz="2000" dirty="0"/>
              <a:t>Salaries payable</a:t>
            </a:r>
          </a:p>
          <a:p>
            <a:pPr lvl="1"/>
            <a:r>
              <a:rPr lang="en-US" sz="2000" dirty="0"/>
              <a:t>Unearned revenue</a:t>
            </a:r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D8E939D6-F154-057F-BECA-8DEDC878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44" r="-3" b="-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3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413" name="Rectangle 594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0488" tIns="44450" rIns="90488" bIns="44450" rtlCol="0" anchor="b">
            <a:normAutofit/>
          </a:bodyPr>
          <a:lstStyle/>
          <a:p>
            <a:r>
              <a:rPr lang="en-US" altLang="en-US" sz="5400"/>
              <a:t>Assurance/Product Warranty</a:t>
            </a:r>
          </a:p>
        </p:txBody>
      </p:sp>
      <p:sp>
        <p:nvSpPr>
          <p:cNvPr id="594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2492" y="1863070"/>
            <a:ext cx="10295111" cy="4493280"/>
          </a:xfrm>
        </p:spPr>
        <p:txBody>
          <a:bodyPr rtlCol="0" anchor="t">
            <a:noAutofit/>
          </a:bodyPr>
          <a:lstStyle/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An assurance or </a:t>
            </a:r>
            <a:r>
              <a:rPr lang="en-US" sz="2000" i="1" dirty="0"/>
              <a:t>product warranty</a:t>
            </a:r>
            <a:r>
              <a:rPr lang="en-US" sz="2000" dirty="0"/>
              <a:t> is a promise to repair/replace the good within a certain time. </a:t>
            </a:r>
            <a:r>
              <a:rPr lang="en-US" sz="2000" u="sng" dirty="0"/>
              <a:t>This is different from warranties sold separately from product </a:t>
            </a:r>
            <a:r>
              <a:rPr lang="en-US" sz="2000" i="1" u="sng" dirty="0"/>
              <a:t>(service warranty).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 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When goods are sold with a warranty, </a:t>
            </a:r>
            <a:r>
              <a:rPr lang="en-US" sz="2000" u="sng" dirty="0"/>
              <a:t>estimate the liability &amp; expense at the point of sale</a:t>
            </a:r>
            <a:r>
              <a:rPr lang="en-US" sz="2000" dirty="0"/>
              <a:t> :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 </a:t>
            </a:r>
          </a:p>
          <a:p>
            <a:pPr marL="862013" lvl="1" indent="-461963">
              <a:spcBef>
                <a:spcPct val="0"/>
              </a:spcBef>
              <a:buSzPct val="50000"/>
              <a:buNone/>
              <a:defRPr/>
            </a:pPr>
            <a:r>
              <a:rPr lang="en-US" sz="2000" i="1" dirty="0"/>
              <a:t>Warranty expense (I-E)		100</a:t>
            </a:r>
          </a:p>
          <a:p>
            <a:pPr marL="862013" lvl="1" indent="-461963">
              <a:spcBef>
                <a:spcPct val="0"/>
              </a:spcBef>
              <a:buSzPct val="50000"/>
              <a:buNone/>
              <a:defRPr/>
            </a:pPr>
            <a:r>
              <a:rPr lang="en-US" sz="2000" i="1" dirty="0"/>
              <a:t>		Warranty liability (B-L)	       		100</a:t>
            </a:r>
          </a:p>
          <a:p>
            <a:pPr marL="461963" indent="-461963">
              <a:spcBef>
                <a:spcPct val="0"/>
              </a:spcBef>
              <a:defRPr/>
            </a:pPr>
            <a:endParaRPr lang="en-US" sz="2000" dirty="0"/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If a </a:t>
            </a:r>
            <a:r>
              <a:rPr lang="en-US" sz="2000" u="sng" dirty="0"/>
              <a:t>claim is made</a:t>
            </a:r>
            <a:r>
              <a:rPr lang="en-US" sz="2000" dirty="0"/>
              <a:t>, the liability is reversed:</a:t>
            </a:r>
          </a:p>
          <a:p>
            <a:pPr marL="461963" indent="-461963">
              <a:spcBef>
                <a:spcPct val="0"/>
              </a:spcBef>
              <a:defRPr/>
            </a:pPr>
            <a:endParaRPr lang="en-US" sz="2000" dirty="0"/>
          </a:p>
          <a:p>
            <a:pPr marL="862013" lvl="1" indent="-461963">
              <a:spcBef>
                <a:spcPct val="0"/>
              </a:spcBef>
              <a:buSzPct val="50000"/>
              <a:buNone/>
              <a:defRPr/>
            </a:pPr>
            <a:r>
              <a:rPr lang="en-US" sz="2000" i="1" dirty="0"/>
              <a:t>Warranty liability (B-L) 		80</a:t>
            </a:r>
          </a:p>
          <a:p>
            <a:pPr marL="862013" lvl="1" indent="-461963">
              <a:spcBef>
                <a:spcPct val="0"/>
              </a:spcBef>
              <a:buSzPct val="50000"/>
              <a:buNone/>
              <a:defRPr/>
            </a:pPr>
            <a:r>
              <a:rPr lang="en-US" sz="2000" i="1" dirty="0"/>
              <a:t>		</a:t>
            </a:r>
            <a:r>
              <a:rPr lang="en-US" sz="2000" i="1" dirty="0">
                <a:highlight>
                  <a:srgbClr val="FFFF00"/>
                </a:highlight>
              </a:rPr>
              <a:t>Asset/Liability used to fulfill claim (B-A or B-L)	80 </a:t>
            </a:r>
          </a:p>
          <a:p>
            <a:pPr marL="461963" indent="-461963">
              <a:spcBef>
                <a:spcPct val="0"/>
              </a:spcBef>
              <a:defRPr/>
            </a:pPr>
            <a:endParaRPr lang="en-US" sz="2000" i="1" dirty="0"/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If the warranty period </a:t>
            </a:r>
            <a:r>
              <a:rPr lang="en-US" sz="2000" u="sng" dirty="0"/>
              <a:t>expires</a:t>
            </a:r>
            <a:r>
              <a:rPr lang="en-US" sz="2000" dirty="0"/>
              <a:t>, eliminate any unused liability:</a:t>
            </a:r>
          </a:p>
          <a:p>
            <a:pPr marL="461963" indent="-461963">
              <a:spcBef>
                <a:spcPct val="0"/>
              </a:spcBef>
              <a:defRPr/>
            </a:pPr>
            <a:endParaRPr lang="en-US" sz="2000" dirty="0"/>
          </a:p>
          <a:p>
            <a:pPr marL="862013" lvl="1" indent="-461963">
              <a:spcBef>
                <a:spcPct val="0"/>
              </a:spcBef>
              <a:buSzPct val="50000"/>
              <a:buNone/>
              <a:defRPr/>
            </a:pPr>
            <a:r>
              <a:rPr lang="en-US" sz="2000" i="1" dirty="0"/>
              <a:t>Warranty liability (B-L) 				20</a:t>
            </a:r>
          </a:p>
          <a:p>
            <a:pPr marL="862013" lvl="1" indent="-461963">
              <a:spcBef>
                <a:spcPct val="0"/>
              </a:spcBef>
              <a:buSzPct val="50000"/>
              <a:buNone/>
              <a:defRPr/>
            </a:pPr>
            <a:r>
              <a:rPr lang="en-US" sz="2000" i="1" dirty="0"/>
              <a:t>		Warranty Expense (I-E) </a:t>
            </a:r>
            <a:r>
              <a:rPr lang="en-US" sz="2000" b="1" i="1" dirty="0"/>
              <a:t>OR</a:t>
            </a:r>
            <a:r>
              <a:rPr lang="en-US" sz="2000" i="1" dirty="0"/>
              <a:t> Gain (I-R)   				20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59397" name="Rectangle 7"/>
          <p:cNvSpPr>
            <a:spLocks noChangeArrowheads="1"/>
          </p:cNvSpPr>
          <p:nvPr/>
        </p:nvSpPr>
        <p:spPr bwMode="auto">
          <a:xfrm>
            <a:off x="1752600" y="4724400"/>
            <a:ext cx="8915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461963" indent="-4619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200"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34BAA-8B8F-23AC-E79A-D548A2692FA6}"/>
              </a:ext>
            </a:extLst>
          </p:cNvPr>
          <p:cNvSpPr txBox="1"/>
          <p:nvPr/>
        </p:nvSpPr>
        <p:spPr>
          <a:xfrm>
            <a:off x="8509000" y="3289300"/>
            <a:ext cx="271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LOTS of ways warranty claims can be made. Cash paid. Inventory Given. Work done and Wage Payable recorded. Take this as it comes!!!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E0F16F-6304-1E9B-4631-18B207A97392}"/>
              </a:ext>
            </a:extLst>
          </p:cNvPr>
          <p:cNvCxnSpPr/>
          <p:nvPr/>
        </p:nvCxnSpPr>
        <p:spPr>
          <a:xfrm flipH="1">
            <a:off x="7404100" y="4178300"/>
            <a:ext cx="1104900" cy="8653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6771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4A2A7-B37F-4E3F-AE63-E077B501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Service Warranty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9DAC8-6BF8-461B-A7EA-53FBE2D46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/>
              <a:t>Sold separately</a:t>
            </a:r>
          </a:p>
          <a:p>
            <a:endParaRPr lang="en-US" sz="2200" dirty="0"/>
          </a:p>
          <a:p>
            <a:r>
              <a:rPr lang="en-US" sz="2200" dirty="0"/>
              <a:t>Warranty revenue recognized evenly over time</a:t>
            </a:r>
          </a:p>
          <a:p>
            <a:pPr lvl="1"/>
            <a:r>
              <a:rPr lang="en-US" sz="1800" dirty="0"/>
              <a:t>Essentially “straight-line” revenue recognition</a:t>
            </a:r>
          </a:p>
          <a:p>
            <a:endParaRPr lang="en-US" sz="2200" dirty="0"/>
          </a:p>
          <a:p>
            <a:r>
              <a:rPr lang="en-US" sz="2200" dirty="0"/>
              <a:t>Warranty expenses recognized as incurred</a:t>
            </a:r>
          </a:p>
          <a:p>
            <a:endParaRPr lang="en-US" sz="2200" dirty="0"/>
          </a:p>
          <a:p>
            <a:r>
              <a:rPr lang="en-US" sz="2200" dirty="0"/>
              <a:t>Do NOT estimate a warranty expense and liability at the point of sale!!!</a:t>
            </a:r>
          </a:p>
        </p:txBody>
      </p:sp>
      <p:pic>
        <p:nvPicPr>
          <p:cNvPr id="1026" name="Picture 2" descr="Best Buy Totaltech is latest Amazon Prime rival — what you need to know |  Tom&amp;#39;s Guide">
            <a:extLst>
              <a:ext uri="{FF2B5EF4-FFF2-40B4-BE49-F238E27FC236}">
                <a16:creationId xmlns:a16="http://schemas.microsoft.com/office/drawing/2014/main" id="{4CAE754B-6F53-4C3A-B705-D8661A313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6" r="5569" b="2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62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4A2A7-B37F-4E3F-AE63-E077B501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Service Warranty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9DAC8-6BF8-461B-A7EA-53FBE2D46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72" y="2071316"/>
            <a:ext cx="8058828" cy="4119172"/>
          </a:xfrm>
        </p:spPr>
        <p:txBody>
          <a:bodyPr anchor="t">
            <a:noAutofit/>
          </a:bodyPr>
          <a:lstStyle/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When two-year </a:t>
            </a:r>
            <a:r>
              <a:rPr lang="en-US" sz="2000" u="sng" dirty="0"/>
              <a:t>service</a:t>
            </a:r>
            <a:r>
              <a:rPr lang="en-US" sz="2000" dirty="0"/>
              <a:t> warranty is sold, record unearned revenue: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sz="2000" dirty="0"/>
              <a:t> </a:t>
            </a:r>
            <a:endParaRPr lang="en-US" sz="400" dirty="0"/>
          </a:p>
          <a:p>
            <a:pPr marL="862013" lvl="1" indent="-461963">
              <a:spcBef>
                <a:spcPct val="0"/>
              </a:spcBef>
              <a:spcAft>
                <a:spcPts val="600"/>
              </a:spcAft>
              <a:buSzPct val="50000"/>
              <a:buNone/>
              <a:defRPr/>
            </a:pPr>
            <a:r>
              <a:rPr lang="en-US" sz="2000" i="1" dirty="0"/>
              <a:t>Cash (B-A)				100			Unearned Revenue (B-L)	            	100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endParaRPr lang="en-US" sz="1200" dirty="0"/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lang="en-US" sz="2000" dirty="0"/>
              <a:t>If a </a:t>
            </a:r>
            <a:r>
              <a:rPr lang="en-US" sz="2000" u="sng" dirty="0"/>
              <a:t>claim is made</a:t>
            </a:r>
            <a:r>
              <a:rPr lang="en-US" sz="2000" dirty="0"/>
              <a:t>, recognize expense </a:t>
            </a:r>
            <a:r>
              <a:rPr lang="en-US" sz="2000" b="1" u="sng" dirty="0"/>
              <a:t>at that point in time</a:t>
            </a:r>
            <a:r>
              <a:rPr lang="en-US" sz="2000" dirty="0"/>
              <a:t>: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endParaRPr lang="en-US" sz="400" dirty="0"/>
          </a:p>
          <a:p>
            <a:pPr marL="862013" lvl="1" indent="-461963">
              <a:spcBef>
                <a:spcPct val="0"/>
              </a:spcBef>
              <a:spcAft>
                <a:spcPts val="600"/>
              </a:spcAft>
              <a:buSzPct val="50000"/>
              <a:buNone/>
              <a:defRPr/>
            </a:pPr>
            <a:r>
              <a:rPr lang="en-US" sz="2000" i="1" dirty="0"/>
              <a:t>Warranty expense (I-E) 		35</a:t>
            </a:r>
          </a:p>
          <a:p>
            <a:pPr marL="862013" lvl="1" indent="-461963">
              <a:spcBef>
                <a:spcPct val="0"/>
              </a:spcBef>
              <a:spcAft>
                <a:spcPts val="600"/>
              </a:spcAft>
              <a:buSzPct val="50000"/>
              <a:buNone/>
              <a:defRPr/>
            </a:pPr>
            <a:r>
              <a:rPr lang="en-US" sz="2000" i="1" dirty="0"/>
              <a:t>		</a:t>
            </a:r>
            <a:r>
              <a:rPr lang="en-US" sz="2000" i="1" dirty="0">
                <a:highlight>
                  <a:srgbClr val="FFFF00"/>
                </a:highlight>
              </a:rPr>
              <a:t> Asset/Liability used to fulfill claim (B-A or B-L)</a:t>
            </a:r>
            <a:r>
              <a:rPr lang="en-US" sz="2000" i="1" dirty="0"/>
              <a:t>  	35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endParaRPr lang="en-US" sz="1200" i="1" dirty="0"/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lang="en-US" sz="2000" dirty="0"/>
              <a:t>As time goes on, record ALL revenue on a straight-line basis: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endParaRPr lang="en-US" sz="400" i="1" dirty="0"/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  <a:defRPr/>
            </a:pPr>
            <a:r>
              <a:rPr lang="en-US" sz="2000" i="1" dirty="0"/>
              <a:t>       Unearned Revenue (B-L) 		50</a:t>
            </a:r>
          </a:p>
          <a:p>
            <a:pPr marL="862013" lvl="1" indent="-461963">
              <a:spcBef>
                <a:spcPct val="0"/>
              </a:spcBef>
              <a:spcAft>
                <a:spcPts val="600"/>
              </a:spcAft>
              <a:buSzPct val="50000"/>
              <a:buNone/>
              <a:defRPr/>
            </a:pPr>
            <a:r>
              <a:rPr lang="en-US" sz="2000" i="1" dirty="0"/>
              <a:t>		Warranty Revenue (I-R)	       	 	50</a:t>
            </a:r>
          </a:p>
        </p:txBody>
      </p:sp>
    </p:spTree>
    <p:extLst>
      <p:ext uri="{BB962C8B-B14F-4D97-AF65-F5344CB8AC3E}">
        <p14:creationId xmlns:p14="http://schemas.microsoft.com/office/powerpoint/2010/main" val="23149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E9FD-954F-48DD-8CC5-58051470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3BFA-F07C-442F-9210-348B36C0E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2750F5-61E7-3736-BE35-22540E282E84}"/>
              </a:ext>
            </a:extLst>
          </p:cNvPr>
          <p:cNvSpPr txBox="1">
            <a:spLocks/>
          </p:cNvSpPr>
          <p:nvPr/>
        </p:nvSpPr>
        <p:spPr>
          <a:xfrm>
            <a:off x="990600" y="24985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Problems #2 &amp; #3</a:t>
            </a:r>
          </a:p>
        </p:txBody>
      </p:sp>
    </p:spTree>
    <p:extLst>
      <p:ext uri="{BB962C8B-B14F-4D97-AF65-F5344CB8AC3E}">
        <p14:creationId xmlns:p14="http://schemas.microsoft.com/office/powerpoint/2010/main" val="155492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BB4375-A6C8-4029-AF27-39F86E41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842166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Contingencies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6FA88-A9D0-4731-84A6-86038F067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29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159" name="Rectangle 4915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altLang="en-US" sz="5400"/>
              <a:t>Contingencies</a:t>
            </a:r>
          </a:p>
        </p:txBody>
      </p:sp>
      <p:sp>
        <p:nvSpPr>
          <p:cNvPr id="4916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225425" indent="-225425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sz="2200" dirty="0"/>
              <a:t>A </a:t>
            </a:r>
            <a:r>
              <a:rPr lang="en-US" sz="2200" b="1" dirty="0"/>
              <a:t>loss contingency </a:t>
            </a:r>
            <a:r>
              <a:rPr lang="en-US" sz="2200" dirty="0"/>
              <a:t>(contingent liability) is </a:t>
            </a:r>
            <a:r>
              <a:rPr lang="en-US" sz="2200" u="sng" dirty="0"/>
              <a:t>potential</a:t>
            </a:r>
            <a:r>
              <a:rPr lang="en-US" sz="2200" dirty="0"/>
              <a:t> obligation that depends on future events </a:t>
            </a:r>
            <a:r>
              <a:rPr lang="en-US" sz="2200" dirty="0">
                <a:sym typeface="Wingdings" panose="05000000000000000000" pitchFamily="2" charset="2"/>
              </a:rPr>
              <a:t> uncertainty</a:t>
            </a:r>
            <a:endParaRPr lang="en-US" sz="2200" dirty="0"/>
          </a:p>
          <a:p>
            <a:pPr lvl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200" u="sng" dirty="0"/>
              <a:t>Examples</a:t>
            </a:r>
            <a:r>
              <a:rPr lang="en-US" sz="2200" dirty="0"/>
              <a:t>: Pending lawsuit, warranties, environmental remediation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200" dirty="0"/>
              <a:t>If recognized, increase a liability on balance sheet &amp; Loss / Expense on Income Statement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200" dirty="0">
                <a:solidFill>
                  <a:srgbClr val="FF0000"/>
                </a:solidFill>
              </a:rPr>
              <a:t>APPLICATION OF THE CONSERVATISM PRINCIPLE!!!</a:t>
            </a:r>
          </a:p>
          <a:p>
            <a:pPr marL="0" indent="0">
              <a:spcAft>
                <a:spcPts val="1200"/>
              </a:spcAft>
              <a:buNone/>
              <a:defRPr/>
            </a:pPr>
            <a:endParaRPr lang="en-US" sz="2200" dirty="0"/>
          </a:p>
        </p:txBody>
      </p:sp>
      <p:pic>
        <p:nvPicPr>
          <p:cNvPr id="2052" name="Picture 4" descr="The Grinder: 5 motivi per vedere la serie TV con Rob Lowe ...">
            <a:extLst>
              <a:ext uri="{FF2B5EF4-FFF2-40B4-BE49-F238E27FC236}">
                <a16:creationId xmlns:a16="http://schemas.microsoft.com/office/drawing/2014/main" id="{87451DAC-E3F9-4FCF-BC2E-AF3990F97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22" r="8948" b="-2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45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Contingencies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199" y="1601789"/>
            <a:ext cx="10654145" cy="4837512"/>
          </a:xfrm>
        </p:spPr>
        <p:txBody>
          <a:bodyPr>
            <a:normAutofit/>
          </a:bodyPr>
          <a:lstStyle/>
          <a:p>
            <a:pPr marL="225425" indent="-225425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gain contingency </a:t>
            </a:r>
            <a:r>
              <a:rPr lang="en-US" sz="2400" dirty="0"/>
              <a:t>is a claim to assets that a company </a:t>
            </a:r>
            <a:r>
              <a:rPr lang="en-US" sz="2400" u="sng" dirty="0"/>
              <a:t>may get</a:t>
            </a:r>
            <a:r>
              <a:rPr lang="en-US" sz="2400" dirty="0"/>
              <a:t> depending on future events </a:t>
            </a:r>
            <a:r>
              <a:rPr lang="en-US" sz="2400" dirty="0">
                <a:sym typeface="Wingdings" panose="05000000000000000000" pitchFamily="2" charset="2"/>
              </a:rPr>
              <a:t> uncertainty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tabLst>
                <a:tab pos="1600200" algn="l"/>
              </a:tabLst>
              <a:defRPr/>
            </a:pPr>
            <a:r>
              <a:rPr lang="en-US" sz="2000" u="sng" dirty="0"/>
              <a:t>Examples</a:t>
            </a:r>
            <a:r>
              <a:rPr lang="en-US" sz="2000" dirty="0"/>
              <a:t>: Pending lawsuit, receipt of future donations, refunds from tax disputes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000" dirty="0"/>
              <a:t>Disclosure in footnotes when there is </a:t>
            </a:r>
            <a:r>
              <a:rPr lang="en-US" sz="2000" u="sng" dirty="0"/>
              <a:t>high</a:t>
            </a:r>
            <a:r>
              <a:rPr lang="en-US" sz="2000" dirty="0"/>
              <a:t> probability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/>
            </a:pPr>
            <a:endParaRPr lang="en-US" sz="2000" dirty="0"/>
          </a:p>
          <a:p>
            <a:pPr marL="0" indent="0">
              <a:spcAft>
                <a:spcPts val="1200"/>
              </a:spcAft>
              <a:buNone/>
              <a:defRPr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A92E00-F2FC-4258-83E9-79D9E003CE8F}"/>
              </a:ext>
            </a:extLst>
          </p:cNvPr>
          <p:cNvSpPr txBox="1"/>
          <p:nvPr/>
        </p:nvSpPr>
        <p:spPr>
          <a:xfrm>
            <a:off x="2130136" y="4390736"/>
            <a:ext cx="772044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Never</a:t>
            </a:r>
            <a:r>
              <a:rPr lang="en-US" sz="3600" b="1" dirty="0"/>
              <a:t> </a:t>
            </a:r>
            <a:r>
              <a:rPr lang="en-US" sz="3600" b="1" u="sng" dirty="0"/>
              <a:t>recognize </a:t>
            </a:r>
            <a:r>
              <a:rPr lang="en-US" sz="3600" dirty="0"/>
              <a:t>gain contingency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FD455-FD21-B8A7-455A-C2694BB810AE}"/>
              </a:ext>
            </a:extLst>
          </p:cNvPr>
          <p:cNvSpPr txBox="1"/>
          <p:nvPr/>
        </p:nvSpPr>
        <p:spPr>
          <a:xfrm>
            <a:off x="3883152" y="5671066"/>
            <a:ext cx="442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Remember the “Conservatism Principle”</a:t>
            </a:r>
          </a:p>
        </p:txBody>
      </p:sp>
    </p:spTree>
    <p:extLst>
      <p:ext uri="{BB962C8B-B14F-4D97-AF65-F5344CB8AC3E}">
        <p14:creationId xmlns:p14="http://schemas.microsoft.com/office/powerpoint/2010/main" val="3573813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97" y="726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Accounting for Contingent Liabilities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97" y="3451141"/>
            <a:ext cx="11136193" cy="2754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99" y="1485944"/>
            <a:ext cx="2398096" cy="92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1" y="2438916"/>
            <a:ext cx="3366025" cy="29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1"/>
          <a:stretch>
            <a:fillRect/>
          </a:stretch>
        </p:blipFill>
        <p:spPr bwMode="auto">
          <a:xfrm>
            <a:off x="5071029" y="1672855"/>
            <a:ext cx="6609570" cy="1062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1867301" y="4629752"/>
            <a:ext cx="405223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48077" y="5176788"/>
            <a:ext cx="9849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248077" y="5444691"/>
            <a:ext cx="202611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374809" y="6022207"/>
            <a:ext cx="74274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863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0E19-60C0-B960-017D-77820711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975D-3A8D-E973-0DA1-E8A98DC5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Recording Contingent Liabilities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1C3865-3FF8-559A-E603-4A5E0DD4A540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17443"/>
            <a:ext cx="10163476" cy="13747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en-US" sz="2400" dirty="0"/>
              <a:t>Two factors affect whether a loss contingency must be accrued (reported as a liability):</a:t>
            </a:r>
          </a:p>
          <a:p>
            <a:pPr marL="800100" lvl="1" indent="-342900">
              <a:buFont typeface="HelveticaNeue BoldCond"/>
              <a:buAutoNum type="arabicPeriod"/>
            </a:pPr>
            <a:r>
              <a:rPr lang="en-US" altLang="en-US" sz="2000" i="1" u="sng" dirty="0"/>
              <a:t>Probability</a:t>
            </a:r>
            <a:r>
              <a:rPr lang="en-US" altLang="en-US" sz="2000" dirty="0"/>
              <a:t>: How likely is the event? </a:t>
            </a:r>
            <a:r>
              <a:rPr lang="en-US" altLang="en-US" sz="2000" dirty="0">
                <a:solidFill>
                  <a:srgbClr val="FF0000"/>
                </a:solidFill>
              </a:rPr>
              <a:t>If “more likely than not,” it’s probable.</a:t>
            </a:r>
          </a:p>
          <a:p>
            <a:pPr marL="800100" lvl="1" indent="-342900">
              <a:buFont typeface="HelveticaNeue BoldCond"/>
              <a:buAutoNum type="arabicPeriod"/>
            </a:pPr>
            <a:r>
              <a:rPr lang="en-US" altLang="en-US" sz="2000" i="1" u="sng" dirty="0"/>
              <a:t>Amount</a:t>
            </a:r>
            <a:r>
              <a:rPr lang="en-US" altLang="en-US" sz="2000" dirty="0"/>
              <a:t>: Can the loss be estimated?</a:t>
            </a:r>
          </a:p>
        </p:txBody>
      </p:sp>
      <p:graphicFrame>
        <p:nvGraphicFramePr>
          <p:cNvPr id="5" name="Group 30">
            <a:extLst>
              <a:ext uri="{FF2B5EF4-FFF2-40B4-BE49-F238E27FC236}">
                <a16:creationId xmlns:a16="http://schemas.microsoft.com/office/drawing/2014/main" id="{B91BDF27-721C-BFE5-20C8-97496BCF0045}"/>
              </a:ext>
            </a:extLst>
          </p:cNvPr>
          <p:cNvGraphicFramePr>
            <a:graphicFrameLocks/>
          </p:cNvGraphicFramePr>
          <p:nvPr/>
        </p:nvGraphicFramePr>
        <p:xfrm>
          <a:off x="1049154" y="3195572"/>
          <a:ext cx="9952521" cy="3178176"/>
        </p:xfrm>
        <a:graphic>
          <a:graphicData uri="http://schemas.openxmlformats.org/drawingml/2006/table">
            <a:tbl>
              <a:tblPr/>
              <a:tblGrid>
                <a:gridCol w="2119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Probability of future sacrifice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Probable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Reasonably 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Remote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Amount 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can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be estimated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Record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liability and loss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Disclose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liability in the notes to the financial statements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No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Amount 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cannot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be estimated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Disclose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liability in the notes to the financial statements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Disclose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liability in the notes to the financial statements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No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3CF633-CD6B-15E1-5AED-C9221F76F38F}"/>
              </a:ext>
            </a:extLst>
          </p:cNvPr>
          <p:cNvSpPr/>
          <p:nvPr/>
        </p:nvSpPr>
        <p:spPr>
          <a:xfrm>
            <a:off x="4050485" y="3618812"/>
            <a:ext cx="1350391" cy="4127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F5B1F1-09B3-792C-2882-1ACFA9A79363}"/>
              </a:ext>
            </a:extLst>
          </p:cNvPr>
          <p:cNvSpPr/>
          <p:nvPr/>
        </p:nvSpPr>
        <p:spPr>
          <a:xfrm>
            <a:off x="1049154" y="4183922"/>
            <a:ext cx="1998846" cy="7436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8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304" name="Rectangle 5530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Litigation Claims</a:t>
            </a:r>
          </a:p>
        </p:txBody>
      </p:sp>
      <p:sp>
        <p:nvSpPr>
          <p:cNvPr id="5530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07537"/>
            <a:ext cx="10515600" cy="4251960"/>
          </a:xfrm>
        </p:spPr>
        <p:txBody>
          <a:bodyPr>
            <a:normAutofit/>
          </a:bodyPr>
          <a:lstStyle/>
          <a:p>
            <a:pPr marL="225425" indent="-225425">
              <a:spcBef>
                <a:spcPts val="1200"/>
              </a:spcBef>
            </a:pPr>
            <a:r>
              <a:rPr lang="en-US" altLang="en-US" sz="2400" dirty="0"/>
              <a:t>Common disclosure for corporations</a:t>
            </a:r>
          </a:p>
          <a:p>
            <a:pPr marL="225425" indent="-225425">
              <a:spcBef>
                <a:spcPts val="1200"/>
              </a:spcBef>
            </a:pPr>
            <a:r>
              <a:rPr lang="en-US" altLang="en-US" sz="2400" dirty="0"/>
              <a:t>Key factors to determine if </a:t>
            </a:r>
            <a:r>
              <a:rPr lang="en-US" altLang="en-US" sz="2400" b="1" u="sng" dirty="0"/>
              <a:t>probable</a:t>
            </a:r>
            <a:r>
              <a:rPr lang="en-US" altLang="en-US" sz="2400" dirty="0"/>
              <a:t>:</a:t>
            </a:r>
          </a:p>
          <a:p>
            <a:pPr marL="838200" lvl="1" indent="-381000">
              <a:spcBef>
                <a:spcPts val="1200"/>
              </a:spcBef>
              <a:buFont typeface="Wingdings" panose="05000000000000000000" pitchFamily="2" charset="2"/>
              <a:buAutoNum type="arabicPeriod"/>
            </a:pPr>
            <a:r>
              <a:rPr lang="en-US" altLang="en-US" dirty="0"/>
              <a:t>Progress of the case in court</a:t>
            </a:r>
          </a:p>
          <a:p>
            <a:pPr marL="838200" lvl="1" indent="-381000">
              <a:spcBef>
                <a:spcPts val="1200"/>
              </a:spcBef>
              <a:buFont typeface="Wingdings" panose="05000000000000000000" pitchFamily="2" charset="2"/>
              <a:buAutoNum type="arabicPeriod"/>
            </a:pPr>
            <a:r>
              <a:rPr lang="en-US" altLang="en-US" dirty="0"/>
              <a:t>Views of legal counsel as to the probability of loss</a:t>
            </a:r>
          </a:p>
          <a:p>
            <a:pPr marL="838200" lvl="1" indent="-381000">
              <a:spcBef>
                <a:spcPts val="1200"/>
              </a:spcBef>
              <a:buFont typeface="Wingdings" panose="05000000000000000000" pitchFamily="2" charset="2"/>
              <a:buAutoNum type="arabicPeriod"/>
            </a:pPr>
            <a:r>
              <a:rPr lang="en-US" altLang="en-US" dirty="0"/>
              <a:t>Prior experience with similar cases</a:t>
            </a:r>
          </a:p>
          <a:p>
            <a:pPr marL="838200" lvl="1" indent="-381000">
              <a:spcBef>
                <a:spcPts val="1200"/>
              </a:spcBef>
              <a:buFont typeface="Wingdings" panose="05000000000000000000" pitchFamily="2" charset="2"/>
              <a:buAutoNum type="arabicPeriod"/>
            </a:pPr>
            <a:r>
              <a:rPr lang="en-US" altLang="en-US" dirty="0"/>
              <a:t>Management’s intended response to the lawsuit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D61C95-DC09-C078-B88D-41BA7252B648}"/>
              </a:ext>
            </a:extLst>
          </p:cNvPr>
          <p:cNvSpPr txBox="1"/>
          <p:nvPr/>
        </p:nvSpPr>
        <p:spPr>
          <a:xfrm>
            <a:off x="669036" y="5347264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General Rule of Thumb: Record liability when </a:t>
            </a:r>
            <a:r>
              <a:rPr lang="en-US" b="1" dirty="0">
                <a:solidFill>
                  <a:srgbClr val="FF0000"/>
                </a:solidFill>
              </a:rPr>
              <a:t>Losing</a:t>
            </a:r>
            <a:r>
              <a:rPr lang="en-US" dirty="0">
                <a:solidFill>
                  <a:srgbClr val="FF0000"/>
                </a:solidFill>
              </a:rPr>
              <a:t> the case becomes “more likely than not.” </a:t>
            </a:r>
          </a:p>
          <a:p>
            <a:r>
              <a:rPr lang="en-US" dirty="0">
                <a:solidFill>
                  <a:srgbClr val="FF0000"/>
                </a:solidFill>
              </a:rPr>
              <a:t>ANYTHING &gt;50%! 50% + a grain of sand on the scale!</a:t>
            </a:r>
          </a:p>
          <a:p>
            <a:r>
              <a:rPr lang="en-US" dirty="0">
                <a:solidFill>
                  <a:srgbClr val="FF0000"/>
                </a:solidFill>
              </a:rPr>
              <a:t>This is when we say the outcome is “probable”</a:t>
            </a:r>
          </a:p>
        </p:txBody>
      </p:sp>
    </p:spTree>
    <p:extLst>
      <p:ext uri="{BB962C8B-B14F-4D97-AF65-F5344CB8AC3E}">
        <p14:creationId xmlns:p14="http://schemas.microsoft.com/office/powerpoint/2010/main" val="413905656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831" name="Rectangle 7783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2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/>
              <a:t>Closing Thoughts</a:t>
            </a:r>
          </a:p>
        </p:txBody>
      </p:sp>
      <p:sp>
        <p:nvSpPr>
          <p:cNvPr id="7783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Gift card sales create a liability. Recognize breakage revenue ratably (based on collected vs expected) * if the state allows you to keep it.</a:t>
            </a:r>
          </a:p>
          <a:p>
            <a:endParaRPr lang="en-US" altLang="en-US" sz="2400" dirty="0"/>
          </a:p>
          <a:p>
            <a:r>
              <a:rPr lang="en-US" altLang="en-US" sz="2400" dirty="0"/>
              <a:t>Warranties:</a:t>
            </a:r>
          </a:p>
          <a:p>
            <a:pPr lvl="1"/>
            <a:r>
              <a:rPr lang="en-US" altLang="en-US" dirty="0"/>
              <a:t>Product: Expense and liability up front</a:t>
            </a:r>
          </a:p>
          <a:p>
            <a:pPr lvl="1"/>
            <a:r>
              <a:rPr lang="en-US" altLang="en-US" dirty="0"/>
              <a:t>Service: Unearned revenue up front, expenses as incurred, revenue over time</a:t>
            </a:r>
          </a:p>
          <a:p>
            <a:pPr lvl="1"/>
            <a:endParaRPr lang="en-US" altLang="en-US" dirty="0"/>
          </a:p>
          <a:p>
            <a:r>
              <a:rPr lang="en-US" altLang="en-US" sz="2400" dirty="0"/>
              <a:t>Contingencies</a:t>
            </a:r>
          </a:p>
          <a:p>
            <a:pPr lvl="1"/>
            <a:r>
              <a:rPr lang="en-US" altLang="en-US" dirty="0"/>
              <a:t>Never recognize a gain contingency</a:t>
            </a:r>
          </a:p>
          <a:p>
            <a:pPr lvl="1"/>
            <a:r>
              <a:rPr lang="en-US" altLang="en-US" dirty="0"/>
              <a:t>Recognize a loss contingency when probable and estimable</a:t>
            </a:r>
          </a:p>
        </p:txBody>
      </p:sp>
    </p:spTree>
    <p:extLst>
      <p:ext uri="{BB962C8B-B14F-4D97-AF65-F5344CB8AC3E}">
        <p14:creationId xmlns:p14="http://schemas.microsoft.com/office/powerpoint/2010/main" val="3137532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7E9FD-954F-48DD-8CC5-58051470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Find </a:t>
            </a:r>
            <a:r>
              <a:rPr lang="en-US" sz="5400" i="1" dirty="0"/>
              <a:t>YOUR</a:t>
            </a:r>
            <a:r>
              <a:rPr lang="en-US" sz="5400" dirty="0"/>
              <a:t> Missing Money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3BFA-F07C-442F-9210-348B36C0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https://www.missingmoney.com/</a:t>
            </a:r>
            <a:r>
              <a:rPr lang="en-US" dirty="0"/>
              <a:t>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27686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3330</TotalTime>
  <Words>1721</Words>
  <Application>Microsoft Office PowerPoint</Application>
  <PresentationFormat>Widescreen</PresentationFormat>
  <Paragraphs>223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 Black</vt:lpstr>
      <vt:lpstr>Wingdings</vt:lpstr>
      <vt:lpstr>Times New Roman</vt:lpstr>
      <vt:lpstr>Trebuchet MS</vt:lpstr>
      <vt:lpstr>Arial</vt:lpstr>
      <vt:lpstr>HelveticaNeue BoldCond</vt:lpstr>
      <vt:lpstr>Calibri</vt:lpstr>
      <vt:lpstr>Office Theme</vt:lpstr>
      <vt:lpstr>PowerPoint Presentation</vt:lpstr>
      <vt:lpstr>From the Video</vt:lpstr>
      <vt:lpstr>Current liabilities</vt:lpstr>
      <vt:lpstr>Gift cards</vt:lpstr>
      <vt:lpstr>Gift cards</vt:lpstr>
      <vt:lpstr>Gift cards</vt:lpstr>
      <vt:lpstr>Why Ratable Breakage?</vt:lpstr>
      <vt:lpstr>Ratable Breakage Example</vt:lpstr>
      <vt:lpstr>Ratable Breakage Example</vt:lpstr>
      <vt:lpstr>Ratable Breakage Example</vt:lpstr>
      <vt:lpstr>Gift cards</vt:lpstr>
      <vt:lpstr>Go to handout…</vt:lpstr>
      <vt:lpstr>Current liabilities</vt:lpstr>
      <vt:lpstr>Assurance/Product Warranty</vt:lpstr>
      <vt:lpstr>Service Warranty</vt:lpstr>
      <vt:lpstr>Service Warranty</vt:lpstr>
      <vt:lpstr>Go to handout…</vt:lpstr>
      <vt:lpstr>Contingencies</vt:lpstr>
      <vt:lpstr>Contingencies</vt:lpstr>
      <vt:lpstr>Contingencies</vt:lpstr>
      <vt:lpstr>Accounting for Contingent Liabilities</vt:lpstr>
      <vt:lpstr>Recording Contingent Liabilities</vt:lpstr>
      <vt:lpstr>Litigation Claims</vt:lpstr>
      <vt:lpstr>Closing Thoughts</vt:lpstr>
      <vt:lpstr>Find YOUR Missing Money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137</cp:revision>
  <dcterms:created xsi:type="dcterms:W3CDTF">2016-01-26T18:12:20Z</dcterms:created>
  <dcterms:modified xsi:type="dcterms:W3CDTF">2025-11-12T16:24:36Z</dcterms:modified>
</cp:coreProperties>
</file>