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97" r:id="rId2"/>
    <p:sldId id="299" r:id="rId3"/>
    <p:sldId id="336" r:id="rId4"/>
    <p:sldId id="337" r:id="rId5"/>
    <p:sldId id="372" r:id="rId6"/>
    <p:sldId id="313" r:id="rId7"/>
    <p:sldId id="328" r:id="rId8"/>
    <p:sldId id="338" r:id="rId9"/>
    <p:sldId id="339" r:id="rId10"/>
    <p:sldId id="341" r:id="rId11"/>
    <p:sldId id="342" r:id="rId12"/>
    <p:sldId id="340" r:id="rId13"/>
    <p:sldId id="343" r:id="rId14"/>
    <p:sldId id="344" r:id="rId15"/>
    <p:sldId id="329" r:id="rId16"/>
    <p:sldId id="346" r:id="rId17"/>
    <p:sldId id="347" r:id="rId18"/>
    <p:sldId id="318" r:id="rId19"/>
    <p:sldId id="319" r:id="rId20"/>
    <p:sldId id="335" r:id="rId21"/>
    <p:sldId id="350" r:id="rId22"/>
    <p:sldId id="34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8"/>
    <p:restoredTop sz="86448"/>
  </p:normalViewPr>
  <p:slideViewPr>
    <p:cSldViewPr snapToGrid="0" snapToObjects="1">
      <p:cViewPr varScale="1">
        <p:scale>
          <a:sx n="66" d="100"/>
          <a:sy n="66" d="100"/>
        </p:scale>
        <p:origin x="63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0C959E84-A71A-431B-81FB-3A98FC4CEA5B}"/>
    <pc:docChg chg="delSld">
      <pc:chgData name="Jeremiah Contreras" userId="9ea49ee18badb19e" providerId="LiveId" clId="{0C959E84-A71A-431B-81FB-3A98FC4CEA5B}" dt="2022-10-09T17:47:27.845" v="0" actId="47"/>
      <pc:docMkLst>
        <pc:docMk/>
      </pc:docMkLst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112492412" sldId="267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717631544" sldId="268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62585610" sldId="269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809746994" sldId="271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917818534" sldId="272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124903767" sldId="287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930401459" sldId="294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761456481" sldId="296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205041804" sldId="300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832889768" sldId="301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896325297" sldId="302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42879576" sldId="303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769878505" sldId="304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205672107" sldId="306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4249112041" sldId="307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276668151" sldId="308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559668065" sldId="309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4049003905" sldId="310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613186361" sldId="311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077915480" sldId="312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110976314" sldId="314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4241020064" sldId="315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482701752" sldId="316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713785396" sldId="322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641857648" sldId="324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4135765932" sldId="325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964274535" sldId="349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509894186" sldId="351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529074658" sldId="352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488044622" sldId="353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4013185" sldId="354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4291722696" sldId="356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361903506" sldId="358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651499221" sldId="359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572946867" sldId="360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507431647" sldId="361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602361512" sldId="362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1390409090" sldId="363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372119895" sldId="364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867498861" sldId="365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069680893" sldId="366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174207657" sldId="367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3016140838" sldId="368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198208674" sldId="369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2702175946" sldId="370"/>
        </pc:sldMkLst>
      </pc:sldChg>
      <pc:sldChg chg="del">
        <pc:chgData name="Jeremiah Contreras" userId="9ea49ee18badb19e" providerId="LiveId" clId="{0C959E84-A71A-431B-81FB-3A98FC4CEA5B}" dt="2022-10-09T17:47:27.845" v="0" actId="47"/>
        <pc:sldMkLst>
          <pc:docMk/>
          <pc:sldMk cId="4015375067" sldId="3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3725386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4080051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098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3897638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Rising 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090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to the bottom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99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2772054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1371884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to the bottom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300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184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274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2535994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4230688"/>
            <a:ext cx="6156325" cy="459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pPr marL="207963" indent="-207963"/>
            <a:r>
              <a:rPr lang="en-US" altLang="en-US" u="sng" dirty="0"/>
              <a:t>Reserve</a:t>
            </a:r>
            <a:r>
              <a:rPr lang="en-US" altLang="en-US" dirty="0"/>
              <a:t>: </a:t>
            </a:r>
          </a:p>
          <a:p>
            <a:pPr marL="207963" indent="-207963"/>
            <a:r>
              <a:rPr lang="en-US" altLang="en-US" dirty="0"/>
              <a:t>-not actually reserve</a:t>
            </a:r>
          </a:p>
          <a:p>
            <a:pPr marL="207963" indent="-207963"/>
            <a:r>
              <a:rPr lang="en-US" altLang="en-US" dirty="0"/>
              <a:t>-required to disclose what inventory would have been under another method (LIFO can go beyond conservative and be misleading)</a:t>
            </a:r>
          </a:p>
          <a:p>
            <a:pPr marL="207963" indent="-207963"/>
            <a:r>
              <a:rPr lang="en-US" altLang="en-US" dirty="0"/>
              <a:t>-how understated (or overstated) is your inventory relative to current prices.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Layers:</a:t>
            </a:r>
            <a:endParaRPr lang="en-US" altLang="en-US" dirty="0"/>
          </a:p>
          <a:p>
            <a:pPr marL="207963" indent="-207963"/>
            <a:r>
              <a:rPr lang="en-US" altLang="en-US" dirty="0"/>
              <a:t>-if buy&gt;sell in a period, creates another price “layer”  (also, when a layer is gone, it’s gone forever)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u="sng" dirty="0"/>
              <a:t>Liquidation</a:t>
            </a:r>
            <a:r>
              <a:rPr lang="en-US" altLang="en-US" dirty="0"/>
              <a:t>:</a:t>
            </a:r>
          </a:p>
          <a:p>
            <a:pPr marL="207963" indent="-207963"/>
            <a:r>
              <a:rPr lang="en-US" altLang="en-US" dirty="0"/>
              <a:t>-if buy&lt;sell in a period, sales dip into old layers (old prices).</a:t>
            </a:r>
          </a:p>
          <a:p>
            <a:pPr marL="207963" indent="-207963"/>
            <a:r>
              <a:rPr lang="en-US" altLang="en-US" dirty="0"/>
              <a:t>-given rising prices, COGS can be very understated (misrepresent margins)</a:t>
            </a:r>
          </a:p>
          <a:p>
            <a:pPr marL="207963" indent="-207963"/>
            <a:endParaRPr lang="en-US" altLang="en-US" dirty="0"/>
          </a:p>
          <a:p>
            <a:pPr marL="207963" indent="-207963"/>
            <a:r>
              <a:rPr lang="en-US" altLang="en-US" dirty="0"/>
              <a:t>MISC:</a:t>
            </a:r>
          </a:p>
          <a:p>
            <a:pPr marL="207963" indent="-207963"/>
            <a:r>
              <a:rPr lang="en-US" altLang="en-US" dirty="0"/>
              <a:t>-Tax conformity: per IRS, can use LIFO for taxes if use LIFO for GAAP (usually rising prices so higher expense so lower income/lower taxes)</a:t>
            </a:r>
          </a:p>
          <a:p>
            <a:pPr marL="207963" indent="-207963"/>
            <a:r>
              <a:rPr lang="en-US" altLang="en-US" dirty="0"/>
              <a:t>-Misstated asset values if have very old prices held on BS</a:t>
            </a:r>
          </a:p>
          <a:p>
            <a:pPr marL="207963" indent="-207963"/>
            <a:r>
              <a:rPr lang="en-US" altLang="en-US" dirty="0"/>
              <a:t>-Selling most recent.  Can manage earnings if dip into lower layers rather than purchase</a:t>
            </a:r>
            <a:endParaRPr lang="en-US" altLang="en-US" u="sng" dirty="0"/>
          </a:p>
        </p:txBody>
      </p:sp>
    </p:spTree>
    <p:extLst>
      <p:ext uri="{BB962C8B-B14F-4D97-AF65-F5344CB8AC3E}">
        <p14:creationId xmlns:p14="http://schemas.microsoft.com/office/powerpoint/2010/main" val="3150548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CC22F-DC1F-4153-B89D-C51C7AB1CB34}" type="slidenum">
              <a:rPr kumimoji="0" lang="en-US" alt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950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2844" tIns="46422" rIns="92844" bIns="46422">
            <a:normAutofit/>
          </a:bodyPr>
          <a:lstStyle/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dirty="0"/>
              <a:t>Beginning Inventory 		$500 (400 + 100 LIFO reserve)</a:t>
            </a:r>
          </a:p>
          <a:p>
            <a:pPr>
              <a:buNone/>
            </a:pPr>
            <a:r>
              <a:rPr lang="en-US" dirty="0"/>
              <a:t>Purchases			</a:t>
            </a:r>
            <a:r>
              <a:rPr lang="en-US" u="sng" dirty="0"/>
              <a:t>2400</a:t>
            </a:r>
            <a:r>
              <a:rPr lang="en-US" dirty="0"/>
              <a:t> (same for LIFO and FIFO)</a:t>
            </a:r>
          </a:p>
          <a:p>
            <a:pPr>
              <a:buNone/>
            </a:pPr>
            <a:r>
              <a:rPr lang="en-US" dirty="0"/>
              <a:t>Cost of Goods Available		$2900</a:t>
            </a:r>
          </a:p>
          <a:p>
            <a:pPr>
              <a:buNone/>
            </a:pPr>
            <a:r>
              <a:rPr lang="en-US" dirty="0"/>
              <a:t>Ending inventory			</a:t>
            </a:r>
            <a:r>
              <a:rPr lang="en-US" u="sng" dirty="0"/>
              <a:t>1350</a:t>
            </a:r>
            <a:r>
              <a:rPr lang="en-US" dirty="0"/>
              <a:t> (1000 + 350 LIFO reserve)</a:t>
            </a:r>
          </a:p>
          <a:p>
            <a:pPr>
              <a:buNone/>
            </a:pPr>
            <a:r>
              <a:rPr lang="en-US" dirty="0"/>
              <a:t>Cost of Goods Sold		$1,550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2844" tIns="46422" rIns="92844" bIns="46422"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64AE9D-37E6-4859-A4E8-92C0578BF3A7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874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2844" tIns="46422" rIns="92844" bIns="46422">
            <a:normAutofit/>
          </a:bodyPr>
          <a:lstStyle/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dirty="0"/>
              <a:t>Beginning Inventory 		$500 (400 + 100 LIFO reserve)</a:t>
            </a:r>
          </a:p>
          <a:p>
            <a:pPr>
              <a:buNone/>
            </a:pPr>
            <a:r>
              <a:rPr lang="en-US" dirty="0"/>
              <a:t>Purchases			</a:t>
            </a:r>
            <a:r>
              <a:rPr lang="en-US" u="sng" dirty="0"/>
              <a:t>2400</a:t>
            </a:r>
            <a:r>
              <a:rPr lang="en-US" dirty="0"/>
              <a:t> (same for LIFO and FIFO)</a:t>
            </a:r>
          </a:p>
          <a:p>
            <a:pPr>
              <a:buNone/>
            </a:pPr>
            <a:r>
              <a:rPr lang="en-US" dirty="0"/>
              <a:t>Cost of Goods Available		$2900</a:t>
            </a:r>
          </a:p>
          <a:p>
            <a:pPr>
              <a:buNone/>
            </a:pPr>
            <a:r>
              <a:rPr lang="en-US" dirty="0"/>
              <a:t>Ending inventory			</a:t>
            </a:r>
            <a:r>
              <a:rPr lang="en-US" u="sng" dirty="0"/>
              <a:t>1350</a:t>
            </a:r>
            <a:r>
              <a:rPr lang="en-US" dirty="0"/>
              <a:t> (1000 + 350 LIFO reserve)</a:t>
            </a:r>
          </a:p>
          <a:p>
            <a:pPr>
              <a:buNone/>
            </a:pPr>
            <a:r>
              <a:rPr lang="en-US" dirty="0"/>
              <a:t>Cost of Goods Sold		$1,550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2844" tIns="46422" rIns="92844" bIns="46422"/>
          <a:lstStyle/>
          <a:p>
            <a:pPr marL="0" marR="0" lvl="0" indent="0" algn="r" defTabSz="93100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64AE9D-37E6-4859-A4E8-92C0578BF3A7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00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616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67" tIns="44085" rIns="88167" bIns="44085"/>
          <a:lstStyle/>
          <a:p>
            <a:r>
              <a:rPr lang="en-US" altLang="en-US"/>
              <a:t>BS fix is easy.  IS fix more complicated.</a:t>
            </a:r>
          </a:p>
          <a:p>
            <a:endParaRPr lang="en-US" altLang="en-US"/>
          </a:p>
          <a:p>
            <a:r>
              <a:rPr lang="en-US" altLang="en-US"/>
              <a:t>From previous slide example:</a:t>
            </a:r>
          </a:p>
          <a:p>
            <a:r>
              <a:rPr lang="en-US" altLang="en-US"/>
              <a:t>COGS(FIFO)=COGS(LIFO)-(1,074-1,028)</a:t>
            </a:r>
          </a:p>
          <a:p>
            <a:r>
              <a:rPr lang="en-US" altLang="en-US"/>
              <a:t>COGS(FIFO)=COGS(LIFO)-46</a:t>
            </a:r>
          </a:p>
          <a:p>
            <a:endParaRPr lang="en-US" altLang="en-US"/>
          </a:p>
          <a:p>
            <a:r>
              <a:rPr lang="en-US" altLang="en-US"/>
              <a:t>Lines 1-2: t-acct for FIFO inventory and LIFO inventory</a:t>
            </a:r>
          </a:p>
          <a:p>
            <a:r>
              <a:rPr lang="en-US" altLang="en-US"/>
              <a:t>Line 3: sub in balance sheet equation from the top of slide for </a:t>
            </a:r>
          </a:p>
          <a:p>
            <a:r>
              <a:rPr lang="en-US" altLang="en-US"/>
              <a:t>    (i) BI(lifo) – BI(fifo) = LIFO Reserve (begin)</a:t>
            </a:r>
          </a:p>
          <a:p>
            <a:r>
              <a:rPr lang="en-US" altLang="en-US"/>
              <a:t>    (ii) EI(lifo) – EI(fifo) = LIFO Reserve (end)</a:t>
            </a:r>
          </a:p>
          <a:p>
            <a:r>
              <a:rPr lang="en-US" altLang="en-US"/>
              <a:t>Line 4: Sub in COGS (fifo) for BI(fifo)+P-EI(fifo) and rearrange </a:t>
            </a:r>
          </a:p>
        </p:txBody>
      </p:sp>
    </p:spTree>
    <p:extLst>
      <p:ext uri="{BB962C8B-B14F-4D97-AF65-F5344CB8AC3E}">
        <p14:creationId xmlns:p14="http://schemas.microsoft.com/office/powerpoint/2010/main" val="3495260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641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Inventory Part 2 –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LIFO Issues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Conformity Rule</a:t>
            </a:r>
          </a:p>
          <a:p>
            <a:pPr>
              <a:buSzPct val="50000"/>
              <a:buFont typeface="Wingdings" panose="05000000000000000000" pitchFamily="2" charset="2"/>
              <a:buChar char="m"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 (FIFO Inv – LIFO Inv) – </a:t>
            </a:r>
            <a:r>
              <a:rPr lang="en-US" altLang="en-U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could be misleading.</a:t>
            </a:r>
          </a:p>
          <a:p>
            <a:pPr>
              <a:buSzPct val="50000"/>
              <a:buFont typeface="Wingdings" panose="05000000000000000000" pitchFamily="2" charset="2"/>
              <a:buChar char="m"/>
            </a:pPr>
            <a:endParaRPr lang="en-US" altLang="en-US" sz="24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vs. FIFO Effect on Income</a:t>
            </a:r>
            <a:b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liquidations (in-class)</a:t>
            </a:r>
            <a:endParaRPr lang="en-US" altLang="en-US" sz="24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53600" y="6248400"/>
            <a:ext cx="914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6F1CEA-2A0D-4551-A55A-F0B4BB138D8D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3B19-E5B0-4124-98FD-C970AB10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Conformity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A067B-F9E8-40AF-A281-A291602AD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7"/>
            <a:ext cx="10998758" cy="395733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FIFO usually follows physical flow of goods (sell old ones first)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LIFO matches revenue with current costs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Under rising prices, income is LOWER under LIFO (higher COGS)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7D2FE3-E05C-459B-82C6-4CBD4113A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997" y="1350614"/>
            <a:ext cx="894397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5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7B94-5CFD-4927-AB81-0C37DF1C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Conformity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D8DBC-C688-4477-B95C-D9CB93F70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IRS allows LIFO when calculating taxable income, but you  MUST also use LIFO for GAAP</a:t>
            </a:r>
          </a:p>
          <a:p>
            <a:endParaRPr lang="en-US" dirty="0"/>
          </a:p>
          <a:p>
            <a:r>
              <a:rPr lang="en-US" dirty="0"/>
              <a:t>If you want lower taxes…you also report lower income to investors</a:t>
            </a:r>
          </a:p>
        </p:txBody>
      </p:sp>
    </p:spTree>
    <p:extLst>
      <p:ext uri="{BB962C8B-B14F-4D97-AF65-F5344CB8AC3E}">
        <p14:creationId xmlns:p14="http://schemas.microsoft.com/office/powerpoint/2010/main" val="183326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LIFO Issues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Conformity Rule</a:t>
            </a:r>
          </a:p>
          <a:p>
            <a:pPr>
              <a:buSzPct val="50000"/>
              <a:buFont typeface="Wingdings" panose="05000000000000000000" pitchFamily="2" charset="2"/>
              <a:buChar char="m"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LIFO Reserve (FIFO Inv – LIFO Inv) – </a:t>
            </a:r>
            <a:r>
              <a:rPr lang="en-US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LIFO could be misleading.</a:t>
            </a:r>
          </a:p>
          <a:p>
            <a:pPr>
              <a:buSzPct val="50000"/>
              <a:buFont typeface="Wingdings" panose="05000000000000000000" pitchFamily="2" charset="2"/>
              <a:buChar char="m"/>
            </a:pPr>
            <a:endParaRPr lang="en-US" altLang="en-US" sz="24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LIFO vs. FIFO Effect on Income</a:t>
            </a:r>
            <a:b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liquidations (in-class)</a:t>
            </a:r>
            <a:endParaRPr lang="en-US" altLang="en-US" sz="24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53600" y="6248400"/>
            <a:ext cx="914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6F1CEA-2A0D-4551-A55A-F0B4BB138D8D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870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 of LIFO issues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974E53-C2D4-42E2-82D1-978A5EF72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219200"/>
            <a:ext cx="10972800" cy="380047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Every year, firm </a:t>
            </a:r>
            <a:r>
              <a:rPr lang="en-US" b="1" dirty="0">
                <a:solidFill>
                  <a:srgbClr val="0070C0"/>
                </a:solidFill>
              </a:rPr>
              <a:t>buys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2 units </a:t>
            </a:r>
            <a:r>
              <a:rPr lang="en-US" dirty="0"/>
              <a:t>of inventory and </a:t>
            </a:r>
            <a:r>
              <a:rPr lang="en-US" b="1" dirty="0">
                <a:solidFill>
                  <a:srgbClr val="C00000"/>
                </a:solidFill>
              </a:rPr>
              <a:t>sells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1 unit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Unit cost is </a:t>
            </a:r>
            <a:r>
              <a:rPr lang="en-US" b="1" dirty="0">
                <a:solidFill>
                  <a:srgbClr val="0070C0"/>
                </a:solidFill>
              </a:rPr>
              <a:t>$5</a:t>
            </a:r>
            <a:r>
              <a:rPr lang="en-US" dirty="0"/>
              <a:t> in Year 1, </a:t>
            </a:r>
            <a:r>
              <a:rPr lang="en-US" b="1" dirty="0">
                <a:solidFill>
                  <a:srgbClr val="0070C0"/>
                </a:solidFill>
              </a:rPr>
              <a:t>$10 </a:t>
            </a:r>
            <a:r>
              <a:rPr lang="en-US" dirty="0"/>
              <a:t>in Year 2, and </a:t>
            </a:r>
            <a:r>
              <a:rPr lang="en-US" b="1" dirty="0">
                <a:solidFill>
                  <a:srgbClr val="0070C0"/>
                </a:solidFill>
              </a:rPr>
              <a:t>$15 </a:t>
            </a:r>
            <a:r>
              <a:rPr lang="en-US" dirty="0"/>
              <a:t>in Year 3.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Assume </a:t>
            </a:r>
            <a:r>
              <a:rPr lang="en-US" b="1" dirty="0">
                <a:solidFill>
                  <a:srgbClr val="0070C0"/>
                </a:solidFill>
              </a:rPr>
              <a:t>periodic</a:t>
            </a:r>
            <a:r>
              <a:rPr lang="en-US" dirty="0"/>
              <a:t> inventory method.</a:t>
            </a:r>
          </a:p>
        </p:txBody>
      </p:sp>
    </p:spTree>
    <p:extLst>
      <p:ext uri="{BB962C8B-B14F-4D97-AF65-F5344CB8AC3E}">
        <p14:creationId xmlns:p14="http://schemas.microsoft.com/office/powerpoint/2010/main" val="37240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Terminology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>
          <a:xfrm>
            <a:off x="400049" y="1219203"/>
            <a:ext cx="8210551" cy="3800475"/>
          </a:xfrm>
        </p:spPr>
        <p:txBody>
          <a:bodyPr/>
          <a:lstStyle/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 under FIFO minus inventory under LIFO</a:t>
            </a: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2"/>
            <a:ext cx="81760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21DBF-325B-3546-BAAF-4F6E3B3181FF}" type="slidenum">
              <a:rPr lang="en-US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05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571842-C9CF-44CF-91B8-3BE94C88496F}"/>
              </a:ext>
            </a:extLst>
          </p:cNvPr>
          <p:cNvSpPr/>
          <p:nvPr/>
        </p:nvSpPr>
        <p:spPr bwMode="auto">
          <a:xfrm>
            <a:off x="341616" y="2402407"/>
            <a:ext cx="5582855" cy="28422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5A325A-0BA2-49FA-97DB-DD90F36A2760}"/>
              </a:ext>
            </a:extLst>
          </p:cNvPr>
          <p:cNvSpPr/>
          <p:nvPr/>
        </p:nvSpPr>
        <p:spPr bwMode="auto">
          <a:xfrm>
            <a:off x="6096000" y="2402407"/>
            <a:ext cx="5582855" cy="28422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issues (Year 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0F2B7-E72F-441B-9E2F-F2F770ED937B}"/>
              </a:ext>
            </a:extLst>
          </p:cNvPr>
          <p:cNvSpPr/>
          <p:nvPr/>
        </p:nvSpPr>
        <p:spPr bwMode="auto">
          <a:xfrm>
            <a:off x="708716" y="326089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CE964-DF08-4CAF-8E73-E349B906A24C}"/>
              </a:ext>
            </a:extLst>
          </p:cNvPr>
          <p:cNvSpPr/>
          <p:nvPr/>
        </p:nvSpPr>
        <p:spPr bwMode="auto">
          <a:xfrm>
            <a:off x="820173" y="3179011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53032F-ECA2-444F-B729-F5B9B10666D8}"/>
              </a:ext>
            </a:extLst>
          </p:cNvPr>
          <p:cNvSpPr/>
          <p:nvPr/>
        </p:nvSpPr>
        <p:spPr bwMode="auto">
          <a:xfrm>
            <a:off x="1272823" y="3179011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5EBD3-5EAE-4CC3-980E-6D7F0BBF7965}"/>
              </a:ext>
            </a:extLst>
          </p:cNvPr>
          <p:cNvSpPr/>
          <p:nvPr/>
        </p:nvSpPr>
        <p:spPr bwMode="auto">
          <a:xfrm>
            <a:off x="708713" y="3677154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8D79D3-2343-407C-9412-BF222B79C863}"/>
              </a:ext>
            </a:extLst>
          </p:cNvPr>
          <p:cNvSpPr txBox="1"/>
          <p:nvPr/>
        </p:nvSpPr>
        <p:spPr>
          <a:xfrm>
            <a:off x="2686291" y="3501912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 = $5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EBE56-0E3F-4D17-9DED-203EF49FEB4D}"/>
              </a:ext>
            </a:extLst>
          </p:cNvPr>
          <p:cNvSpPr/>
          <p:nvPr/>
        </p:nvSpPr>
        <p:spPr bwMode="auto">
          <a:xfrm>
            <a:off x="2833217" y="3085655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D3815-5F97-4068-B1A9-194D259D0741}"/>
              </a:ext>
            </a:extLst>
          </p:cNvPr>
          <p:cNvSpPr/>
          <p:nvPr/>
        </p:nvSpPr>
        <p:spPr bwMode="auto">
          <a:xfrm>
            <a:off x="2944674" y="3003769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4876E-59D4-4478-93A7-B9F0F7EA3BFD}"/>
              </a:ext>
            </a:extLst>
          </p:cNvPr>
          <p:cNvSpPr/>
          <p:nvPr/>
        </p:nvSpPr>
        <p:spPr bwMode="auto">
          <a:xfrm>
            <a:off x="3397324" y="3003769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C0C1B-604C-46A9-B995-B1ABF4AB09E1}"/>
              </a:ext>
            </a:extLst>
          </p:cNvPr>
          <p:cNvSpPr txBox="1"/>
          <p:nvPr/>
        </p:nvSpPr>
        <p:spPr>
          <a:xfrm>
            <a:off x="2686291" y="4778797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 = $5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A96634-FE40-4B4D-9569-66DC2DDDE020}"/>
              </a:ext>
            </a:extLst>
          </p:cNvPr>
          <p:cNvSpPr/>
          <p:nvPr/>
        </p:nvSpPr>
        <p:spPr bwMode="auto">
          <a:xfrm>
            <a:off x="2833217" y="4362540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71811-8F26-4659-BACB-3861202DC055}"/>
              </a:ext>
            </a:extLst>
          </p:cNvPr>
          <p:cNvSpPr/>
          <p:nvPr/>
        </p:nvSpPr>
        <p:spPr bwMode="auto">
          <a:xfrm>
            <a:off x="2944674" y="428065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9B56C1-408E-4297-95EE-CC03B2485D4A}"/>
              </a:ext>
            </a:extLst>
          </p:cNvPr>
          <p:cNvSpPr/>
          <p:nvPr/>
        </p:nvSpPr>
        <p:spPr bwMode="auto">
          <a:xfrm>
            <a:off x="3397324" y="428065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5316C9-1C1B-489B-9B12-0D1902EB2D33}"/>
              </a:ext>
            </a:extLst>
          </p:cNvPr>
          <p:cNvCxnSpPr>
            <a:cxnSpLocks/>
          </p:cNvCxnSpPr>
          <p:nvPr/>
        </p:nvCxnSpPr>
        <p:spPr bwMode="auto">
          <a:xfrm flipV="1">
            <a:off x="1731373" y="3397377"/>
            <a:ext cx="954918" cy="1045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54D91E-4D48-4CDC-A166-F4340B337E51}"/>
              </a:ext>
            </a:extLst>
          </p:cNvPr>
          <p:cNvCxnSpPr>
            <a:cxnSpLocks/>
          </p:cNvCxnSpPr>
          <p:nvPr/>
        </p:nvCxnSpPr>
        <p:spPr bwMode="auto">
          <a:xfrm>
            <a:off x="1731373" y="4017211"/>
            <a:ext cx="954918" cy="55345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D5A80C-7283-4C84-943D-57378DF2E0CB}"/>
              </a:ext>
            </a:extLst>
          </p:cNvPr>
          <p:cNvSpPr txBox="1"/>
          <p:nvPr/>
        </p:nvSpPr>
        <p:spPr>
          <a:xfrm>
            <a:off x="3853598" y="3139894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EC8DFE-6F9E-4914-A798-FC4DA02D9C2B}"/>
              </a:ext>
            </a:extLst>
          </p:cNvPr>
          <p:cNvSpPr txBox="1"/>
          <p:nvPr/>
        </p:nvSpPr>
        <p:spPr>
          <a:xfrm>
            <a:off x="3853598" y="4410997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EEA72B-1207-4060-A025-D9C3D417CF39}"/>
              </a:ext>
            </a:extLst>
          </p:cNvPr>
          <p:cNvSpPr txBox="1"/>
          <p:nvPr/>
        </p:nvSpPr>
        <p:spPr>
          <a:xfrm>
            <a:off x="8413961" y="3544302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 = $5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EA813F-A3A1-4CD3-893E-55EED8045692}"/>
              </a:ext>
            </a:extLst>
          </p:cNvPr>
          <p:cNvSpPr/>
          <p:nvPr/>
        </p:nvSpPr>
        <p:spPr bwMode="auto">
          <a:xfrm>
            <a:off x="8560887" y="3128045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895B40-929F-47D0-8021-5A71875B690A}"/>
              </a:ext>
            </a:extLst>
          </p:cNvPr>
          <p:cNvSpPr/>
          <p:nvPr/>
        </p:nvSpPr>
        <p:spPr bwMode="auto">
          <a:xfrm>
            <a:off x="8672344" y="3046159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CF440-475B-47B9-BAE9-76C3FFEC23FC}"/>
              </a:ext>
            </a:extLst>
          </p:cNvPr>
          <p:cNvSpPr/>
          <p:nvPr/>
        </p:nvSpPr>
        <p:spPr bwMode="auto">
          <a:xfrm>
            <a:off x="9124994" y="3046159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87FD9E-E469-4EB0-8367-FF2E75620652}"/>
              </a:ext>
            </a:extLst>
          </p:cNvPr>
          <p:cNvSpPr txBox="1"/>
          <p:nvPr/>
        </p:nvSpPr>
        <p:spPr>
          <a:xfrm>
            <a:off x="8413961" y="4821187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 = $5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B23499-EAF9-44A2-A3CC-74533553750D}"/>
              </a:ext>
            </a:extLst>
          </p:cNvPr>
          <p:cNvSpPr/>
          <p:nvPr/>
        </p:nvSpPr>
        <p:spPr bwMode="auto">
          <a:xfrm>
            <a:off x="8560887" y="4404930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8DE03A-B27B-41F5-9617-724A3777C6D1}"/>
              </a:ext>
            </a:extLst>
          </p:cNvPr>
          <p:cNvSpPr/>
          <p:nvPr/>
        </p:nvSpPr>
        <p:spPr bwMode="auto">
          <a:xfrm>
            <a:off x="8672344" y="432304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A9A815-8712-45F3-965E-2189B55FF6ED}"/>
              </a:ext>
            </a:extLst>
          </p:cNvPr>
          <p:cNvSpPr/>
          <p:nvPr/>
        </p:nvSpPr>
        <p:spPr bwMode="auto">
          <a:xfrm>
            <a:off x="9124994" y="432304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CAC157-7421-49D7-804F-74F24AFE6C4C}"/>
              </a:ext>
            </a:extLst>
          </p:cNvPr>
          <p:cNvSpPr txBox="1"/>
          <p:nvPr/>
        </p:nvSpPr>
        <p:spPr>
          <a:xfrm>
            <a:off x="9581268" y="3182284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58078C-6CB1-4FE7-99B7-B891762067AA}"/>
              </a:ext>
            </a:extLst>
          </p:cNvPr>
          <p:cNvSpPr txBox="1"/>
          <p:nvPr/>
        </p:nvSpPr>
        <p:spPr>
          <a:xfrm>
            <a:off x="9581268" y="4453387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E9C7E4-B99B-4D4E-8C8F-3956BFCBFECC}"/>
              </a:ext>
            </a:extLst>
          </p:cNvPr>
          <p:cNvSpPr txBox="1"/>
          <p:nvPr/>
        </p:nvSpPr>
        <p:spPr>
          <a:xfrm>
            <a:off x="438180" y="244438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EFC126-15B4-4B05-B837-43A9F7DDC0BA}"/>
              </a:ext>
            </a:extLst>
          </p:cNvPr>
          <p:cNvSpPr txBox="1"/>
          <p:nvPr/>
        </p:nvSpPr>
        <p:spPr>
          <a:xfrm>
            <a:off x="6165850" y="244438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88D54D-AB83-407D-9757-571DB82779B3}"/>
              </a:ext>
            </a:extLst>
          </p:cNvPr>
          <p:cNvSpPr/>
          <p:nvPr/>
        </p:nvSpPr>
        <p:spPr bwMode="auto">
          <a:xfrm>
            <a:off x="6398286" y="3233690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037A34-659D-4D8E-B119-5F8DCCE69B41}"/>
              </a:ext>
            </a:extLst>
          </p:cNvPr>
          <p:cNvSpPr/>
          <p:nvPr/>
        </p:nvSpPr>
        <p:spPr bwMode="auto">
          <a:xfrm>
            <a:off x="6509743" y="315180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BB0E60-5D1E-49D2-9AD6-C5513ABB53CE}"/>
              </a:ext>
            </a:extLst>
          </p:cNvPr>
          <p:cNvSpPr/>
          <p:nvPr/>
        </p:nvSpPr>
        <p:spPr bwMode="auto">
          <a:xfrm>
            <a:off x="6962393" y="3151804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2E4F9BB-E29A-4A00-9472-44F7D2529E52}"/>
              </a:ext>
            </a:extLst>
          </p:cNvPr>
          <p:cNvSpPr/>
          <p:nvPr/>
        </p:nvSpPr>
        <p:spPr bwMode="auto">
          <a:xfrm>
            <a:off x="6398283" y="364994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D4026C-700A-4E69-9CC9-4F100F9969E1}"/>
              </a:ext>
            </a:extLst>
          </p:cNvPr>
          <p:cNvCxnSpPr>
            <a:cxnSpLocks/>
          </p:cNvCxnSpPr>
          <p:nvPr/>
        </p:nvCxnSpPr>
        <p:spPr bwMode="auto">
          <a:xfrm flipV="1">
            <a:off x="7420943" y="3370170"/>
            <a:ext cx="954918" cy="1045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9410FD5-8A7F-4426-BED6-7084C1023952}"/>
              </a:ext>
            </a:extLst>
          </p:cNvPr>
          <p:cNvCxnSpPr>
            <a:cxnSpLocks/>
          </p:cNvCxnSpPr>
          <p:nvPr/>
        </p:nvCxnSpPr>
        <p:spPr bwMode="auto">
          <a:xfrm>
            <a:off x="7420943" y="3990004"/>
            <a:ext cx="954918" cy="55345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09C82E-AC11-4170-A57E-29796DB52FCD}"/>
              </a:ext>
            </a:extLst>
          </p:cNvPr>
          <p:cNvSpPr txBox="1"/>
          <p:nvPr/>
        </p:nvSpPr>
        <p:spPr>
          <a:xfrm>
            <a:off x="347490" y="5736875"/>
            <a:ext cx="54104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 reserve 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</a:t>
            </a: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= 5 – 5 = 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485181-C44C-48EE-BCEA-282661AECF09}"/>
              </a:ext>
            </a:extLst>
          </p:cNvPr>
          <p:cNvSpPr txBox="1"/>
          <p:nvPr/>
        </p:nvSpPr>
        <p:spPr>
          <a:xfrm>
            <a:off x="3394625" y="2411050"/>
            <a:ext cx="2453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27D7A6-EFFC-4681-889C-A8A9560DC404}"/>
              </a:ext>
            </a:extLst>
          </p:cNvPr>
          <p:cNvSpPr txBox="1"/>
          <p:nvPr/>
        </p:nvSpPr>
        <p:spPr>
          <a:xfrm>
            <a:off x="9283404" y="2411050"/>
            <a:ext cx="230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oldest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7441F-3BDC-4BF3-B132-D92632E17B6E}"/>
              </a:ext>
            </a:extLst>
          </p:cNvPr>
          <p:cNvSpPr txBox="1"/>
          <p:nvPr/>
        </p:nvSpPr>
        <p:spPr>
          <a:xfrm>
            <a:off x="727985" y="1289909"/>
            <a:ext cx="5429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Activity: Buys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 @ $5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each and sells 1 unit.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FC0FDB-2482-496C-8A60-81720260F43B}"/>
              </a:ext>
            </a:extLst>
          </p:cNvPr>
          <p:cNvSpPr txBox="1"/>
          <p:nvPr/>
        </p:nvSpPr>
        <p:spPr>
          <a:xfrm>
            <a:off x="593648" y="4147044"/>
            <a:ext cx="1071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Buy 2 units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E4B70D-2587-45CB-89DA-18D587F6FF6E}"/>
              </a:ext>
            </a:extLst>
          </p:cNvPr>
          <p:cNvSpPr txBox="1"/>
          <p:nvPr/>
        </p:nvSpPr>
        <p:spPr>
          <a:xfrm>
            <a:off x="6291438" y="4155509"/>
            <a:ext cx="1071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Buy 2 units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F5A0AE-E7E1-4FED-980C-860EC825AB3B}"/>
              </a:ext>
            </a:extLst>
          </p:cNvPr>
          <p:cNvSpPr/>
          <p:nvPr/>
        </p:nvSpPr>
        <p:spPr>
          <a:xfrm>
            <a:off x="8375861" y="4162485"/>
            <a:ext cx="2878293" cy="966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EB17AB-A7E4-4A8F-B95B-A7F5F199E1A4}"/>
              </a:ext>
            </a:extLst>
          </p:cNvPr>
          <p:cNvSpPr/>
          <p:nvPr/>
        </p:nvSpPr>
        <p:spPr>
          <a:xfrm>
            <a:off x="2610732" y="2926349"/>
            <a:ext cx="2878293" cy="966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0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3" grpId="0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7" grpId="0"/>
      <p:bldP spid="28" grpId="0"/>
      <p:bldP spid="33" grpId="0"/>
      <p:bldP spid="34" grpId="0" animBg="1"/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3" grpId="0"/>
      <p:bldP spid="44" grpId="0"/>
      <p:bldP spid="49" grpId="0" animBg="1"/>
      <p:bldP spid="50" grpId="0" animBg="1"/>
      <p:bldP spid="51" grpId="0" animBg="1"/>
      <p:bldP spid="52" grpId="0" animBg="1"/>
      <p:bldP spid="15" grpId="0"/>
      <p:bldP spid="57" grpId="0"/>
      <p:bldP spid="59" grpId="0"/>
      <p:bldP spid="11" grpId="0" animBg="1"/>
      <p:bldP spid="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571842-C9CF-44CF-91B8-3BE94C88496F}"/>
              </a:ext>
            </a:extLst>
          </p:cNvPr>
          <p:cNvSpPr/>
          <p:nvPr/>
        </p:nvSpPr>
        <p:spPr bwMode="auto">
          <a:xfrm>
            <a:off x="395458" y="2414751"/>
            <a:ext cx="5582855" cy="281462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5A325A-0BA2-49FA-97DB-DD90F36A2760}"/>
              </a:ext>
            </a:extLst>
          </p:cNvPr>
          <p:cNvSpPr/>
          <p:nvPr/>
        </p:nvSpPr>
        <p:spPr bwMode="auto">
          <a:xfrm>
            <a:off x="6149297" y="2414751"/>
            <a:ext cx="5582855" cy="281462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issues (Year 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5EBD3-5EAE-4CC3-980E-6D7F0BBF7965}"/>
              </a:ext>
            </a:extLst>
          </p:cNvPr>
          <p:cNvSpPr/>
          <p:nvPr/>
        </p:nvSpPr>
        <p:spPr bwMode="auto">
          <a:xfrm>
            <a:off x="762555" y="4105755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EBE56-0E3F-4D17-9DED-203EF49FEB4D}"/>
              </a:ext>
            </a:extLst>
          </p:cNvPr>
          <p:cNvSpPr/>
          <p:nvPr/>
        </p:nvSpPr>
        <p:spPr bwMode="auto">
          <a:xfrm>
            <a:off x="2887059" y="3097999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D3815-5F97-4068-B1A9-194D259D0741}"/>
              </a:ext>
            </a:extLst>
          </p:cNvPr>
          <p:cNvSpPr/>
          <p:nvPr/>
        </p:nvSpPr>
        <p:spPr bwMode="auto">
          <a:xfrm>
            <a:off x="2998516" y="3016113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4876E-59D4-4478-93A7-B9F0F7EA3BFD}"/>
              </a:ext>
            </a:extLst>
          </p:cNvPr>
          <p:cNvSpPr/>
          <p:nvPr/>
        </p:nvSpPr>
        <p:spPr bwMode="auto">
          <a:xfrm>
            <a:off x="3451166" y="3016113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C0C1B-604C-46A9-B995-B1ABF4AB09E1}"/>
              </a:ext>
            </a:extLst>
          </p:cNvPr>
          <p:cNvSpPr txBox="1"/>
          <p:nvPr/>
        </p:nvSpPr>
        <p:spPr>
          <a:xfrm>
            <a:off x="2740133" y="4791141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$10 = $10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A96634-FE40-4B4D-9569-66DC2DDDE020}"/>
              </a:ext>
            </a:extLst>
          </p:cNvPr>
          <p:cNvSpPr/>
          <p:nvPr/>
        </p:nvSpPr>
        <p:spPr bwMode="auto">
          <a:xfrm>
            <a:off x="2887059" y="4374884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71811-8F26-4659-BACB-3861202DC055}"/>
              </a:ext>
            </a:extLst>
          </p:cNvPr>
          <p:cNvSpPr/>
          <p:nvPr/>
        </p:nvSpPr>
        <p:spPr bwMode="auto">
          <a:xfrm>
            <a:off x="2998516" y="4292998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9B56C1-408E-4297-95EE-CC03B2485D4A}"/>
              </a:ext>
            </a:extLst>
          </p:cNvPr>
          <p:cNvSpPr/>
          <p:nvPr/>
        </p:nvSpPr>
        <p:spPr bwMode="auto">
          <a:xfrm>
            <a:off x="3451166" y="4292998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5316C9-1C1B-489B-9B12-0D1902EB2D33}"/>
              </a:ext>
            </a:extLst>
          </p:cNvPr>
          <p:cNvCxnSpPr>
            <a:cxnSpLocks/>
          </p:cNvCxnSpPr>
          <p:nvPr/>
        </p:nvCxnSpPr>
        <p:spPr bwMode="auto">
          <a:xfrm flipV="1">
            <a:off x="1872573" y="3409722"/>
            <a:ext cx="867560" cy="27504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54D91E-4D48-4CDC-A166-F4340B337E51}"/>
              </a:ext>
            </a:extLst>
          </p:cNvPr>
          <p:cNvCxnSpPr>
            <a:cxnSpLocks/>
          </p:cNvCxnSpPr>
          <p:nvPr/>
        </p:nvCxnSpPr>
        <p:spPr bwMode="auto">
          <a:xfrm>
            <a:off x="1738386" y="4288142"/>
            <a:ext cx="1001747" cy="28908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D5A80C-7283-4C84-943D-57378DF2E0CB}"/>
              </a:ext>
            </a:extLst>
          </p:cNvPr>
          <p:cNvSpPr txBox="1"/>
          <p:nvPr/>
        </p:nvSpPr>
        <p:spPr>
          <a:xfrm>
            <a:off x="3907440" y="3152238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EC8DFE-6F9E-4914-A798-FC4DA02D9C2B}"/>
              </a:ext>
            </a:extLst>
          </p:cNvPr>
          <p:cNvSpPr txBox="1"/>
          <p:nvPr/>
        </p:nvSpPr>
        <p:spPr>
          <a:xfrm>
            <a:off x="3907440" y="4423341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EA813F-A3A1-4CD3-893E-55EED8045692}"/>
              </a:ext>
            </a:extLst>
          </p:cNvPr>
          <p:cNvSpPr/>
          <p:nvPr/>
        </p:nvSpPr>
        <p:spPr bwMode="auto">
          <a:xfrm>
            <a:off x="8585008" y="286244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895B40-929F-47D0-8021-5A71875B690A}"/>
              </a:ext>
            </a:extLst>
          </p:cNvPr>
          <p:cNvSpPr/>
          <p:nvPr/>
        </p:nvSpPr>
        <p:spPr bwMode="auto">
          <a:xfrm>
            <a:off x="8696465" y="2780561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CF440-475B-47B9-BAE9-76C3FFEC23FC}"/>
              </a:ext>
            </a:extLst>
          </p:cNvPr>
          <p:cNvSpPr/>
          <p:nvPr/>
        </p:nvSpPr>
        <p:spPr bwMode="auto">
          <a:xfrm>
            <a:off x="9149115" y="2780561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BD3FF0-405F-472F-87DE-DB3578F79C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498540" y="3096033"/>
            <a:ext cx="939542" cy="3719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93BDD3-90E2-45AB-A895-39AFA7FF65DD}"/>
              </a:ext>
            </a:extLst>
          </p:cNvPr>
          <p:cNvCxnSpPr>
            <a:cxnSpLocks/>
          </p:cNvCxnSpPr>
          <p:nvPr/>
        </p:nvCxnSpPr>
        <p:spPr bwMode="auto">
          <a:xfrm>
            <a:off x="7601625" y="4088552"/>
            <a:ext cx="888063" cy="4057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9CAC157-7421-49D7-804F-74F24AFE6C4C}"/>
              </a:ext>
            </a:extLst>
          </p:cNvPr>
          <p:cNvSpPr txBox="1"/>
          <p:nvPr/>
        </p:nvSpPr>
        <p:spPr>
          <a:xfrm>
            <a:off x="9605389" y="291668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58078C-6CB1-4FE7-99B7-B891762067AA}"/>
              </a:ext>
            </a:extLst>
          </p:cNvPr>
          <p:cNvSpPr txBox="1"/>
          <p:nvPr/>
        </p:nvSpPr>
        <p:spPr>
          <a:xfrm>
            <a:off x="9606855" y="4465731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D09264-4497-44CB-A7AC-27D3161B4B5C}"/>
              </a:ext>
            </a:extLst>
          </p:cNvPr>
          <p:cNvSpPr/>
          <p:nvPr/>
        </p:nvSpPr>
        <p:spPr bwMode="auto">
          <a:xfrm>
            <a:off x="762555" y="3268973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269A32-7257-421A-BF10-5BA08B097699}"/>
              </a:ext>
            </a:extLst>
          </p:cNvPr>
          <p:cNvSpPr/>
          <p:nvPr/>
        </p:nvSpPr>
        <p:spPr bwMode="auto">
          <a:xfrm>
            <a:off x="874015" y="3191355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B0F1AB-9714-48D8-827A-C52086309B37}"/>
              </a:ext>
            </a:extLst>
          </p:cNvPr>
          <p:cNvSpPr/>
          <p:nvPr/>
        </p:nvSpPr>
        <p:spPr bwMode="auto">
          <a:xfrm>
            <a:off x="1326665" y="3191355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F32883-D1CF-4C25-9744-502359427367}"/>
              </a:ext>
            </a:extLst>
          </p:cNvPr>
          <p:cNvSpPr/>
          <p:nvPr/>
        </p:nvSpPr>
        <p:spPr bwMode="auto">
          <a:xfrm>
            <a:off x="762555" y="3689498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2AFD393-27B6-47D0-98DE-4F9855A65D10}"/>
              </a:ext>
            </a:extLst>
          </p:cNvPr>
          <p:cNvSpPr/>
          <p:nvPr/>
        </p:nvSpPr>
        <p:spPr bwMode="auto">
          <a:xfrm>
            <a:off x="6423870" y="3237588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5EAE6C7-03EC-4281-9FF3-63CF65496263}"/>
              </a:ext>
            </a:extLst>
          </p:cNvPr>
          <p:cNvSpPr/>
          <p:nvPr/>
        </p:nvSpPr>
        <p:spPr bwMode="auto">
          <a:xfrm>
            <a:off x="6535330" y="3164148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D6816-E260-4FB0-86DD-81839A3136FC}"/>
              </a:ext>
            </a:extLst>
          </p:cNvPr>
          <p:cNvSpPr/>
          <p:nvPr/>
        </p:nvSpPr>
        <p:spPr bwMode="auto">
          <a:xfrm>
            <a:off x="6987980" y="3164148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1584F6-42B3-4D7A-BAC3-5B27DBA8DD60}"/>
              </a:ext>
            </a:extLst>
          </p:cNvPr>
          <p:cNvSpPr/>
          <p:nvPr/>
        </p:nvSpPr>
        <p:spPr bwMode="auto">
          <a:xfrm>
            <a:off x="6423870" y="3662291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DBE7A26-4E63-4034-9701-530796681243}"/>
              </a:ext>
            </a:extLst>
          </p:cNvPr>
          <p:cNvSpPr/>
          <p:nvPr/>
        </p:nvSpPr>
        <p:spPr bwMode="auto">
          <a:xfrm>
            <a:off x="6423870" y="4078049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38EFD7-7A6D-46B2-BC83-8CB7872A30BF}"/>
              </a:ext>
            </a:extLst>
          </p:cNvPr>
          <p:cNvSpPr/>
          <p:nvPr/>
        </p:nvSpPr>
        <p:spPr bwMode="auto">
          <a:xfrm>
            <a:off x="2887059" y="3514256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3A33A5-5FE5-4C01-A6E1-6B500C411C83}"/>
              </a:ext>
            </a:extLst>
          </p:cNvPr>
          <p:cNvSpPr/>
          <p:nvPr/>
        </p:nvSpPr>
        <p:spPr bwMode="auto">
          <a:xfrm>
            <a:off x="8585008" y="4119700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53B272-2DDA-4A0D-B0F3-15E739CB9048}"/>
              </a:ext>
            </a:extLst>
          </p:cNvPr>
          <p:cNvSpPr/>
          <p:nvPr/>
        </p:nvSpPr>
        <p:spPr bwMode="auto">
          <a:xfrm>
            <a:off x="8696465" y="403781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D505341-E387-4AE6-AF54-C77A4654D92A}"/>
              </a:ext>
            </a:extLst>
          </p:cNvPr>
          <p:cNvSpPr/>
          <p:nvPr/>
        </p:nvSpPr>
        <p:spPr bwMode="auto">
          <a:xfrm>
            <a:off x="9149115" y="403781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7030663-422E-43A7-90A3-4DB3F4C5D26D}"/>
              </a:ext>
            </a:extLst>
          </p:cNvPr>
          <p:cNvSpPr/>
          <p:nvPr/>
        </p:nvSpPr>
        <p:spPr bwMode="auto">
          <a:xfrm>
            <a:off x="8585007" y="4522046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9A11AC-298F-44A7-9F63-38851C499D07}"/>
              </a:ext>
            </a:extLst>
          </p:cNvPr>
          <p:cNvSpPr txBox="1"/>
          <p:nvPr/>
        </p:nvSpPr>
        <p:spPr>
          <a:xfrm>
            <a:off x="8456509" y="3283967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 = $5</a:t>
            </a:r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D6C6AAFC-828C-4D39-8C9B-A463A3FEA603}"/>
              </a:ext>
            </a:extLst>
          </p:cNvPr>
          <p:cNvSpPr/>
          <p:nvPr/>
        </p:nvSpPr>
        <p:spPr bwMode="auto">
          <a:xfrm>
            <a:off x="7468310" y="3682799"/>
            <a:ext cx="125500" cy="81150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" name="Right Brace 73">
            <a:extLst>
              <a:ext uri="{FF2B5EF4-FFF2-40B4-BE49-F238E27FC236}">
                <a16:creationId xmlns:a16="http://schemas.microsoft.com/office/drawing/2014/main" id="{F1F13B74-81AC-41D3-85BB-7A773519F9B6}"/>
              </a:ext>
            </a:extLst>
          </p:cNvPr>
          <p:cNvSpPr/>
          <p:nvPr/>
        </p:nvSpPr>
        <p:spPr bwMode="auto">
          <a:xfrm>
            <a:off x="1738386" y="3285257"/>
            <a:ext cx="125500" cy="81150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A0C989-DF45-4D7B-856E-822FCBA76CCE}"/>
              </a:ext>
            </a:extLst>
          </p:cNvPr>
          <p:cNvSpPr txBox="1"/>
          <p:nvPr/>
        </p:nvSpPr>
        <p:spPr>
          <a:xfrm>
            <a:off x="808182" y="1369246"/>
            <a:ext cx="5572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Activity: Buys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 @ $10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each and sells 1 unit.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53169A3-E766-4CCA-8D01-FDE0D0295680}"/>
              </a:ext>
            </a:extLst>
          </p:cNvPr>
          <p:cNvSpPr txBox="1"/>
          <p:nvPr/>
        </p:nvSpPr>
        <p:spPr>
          <a:xfrm>
            <a:off x="486386" y="245961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929795-D5B5-4A1E-8269-CFFDCB9C4E0D}"/>
              </a:ext>
            </a:extLst>
          </p:cNvPr>
          <p:cNvSpPr txBox="1"/>
          <p:nvPr/>
        </p:nvSpPr>
        <p:spPr>
          <a:xfrm>
            <a:off x="6214056" y="245961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FIFO: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A4908C8-B09A-4E9E-9A22-0B4EDF37846D}"/>
              </a:ext>
            </a:extLst>
          </p:cNvPr>
          <p:cNvSpPr txBox="1"/>
          <p:nvPr/>
        </p:nvSpPr>
        <p:spPr>
          <a:xfrm>
            <a:off x="3442831" y="2426286"/>
            <a:ext cx="2453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6570792-39D2-416E-A169-44F1863100C8}"/>
              </a:ext>
            </a:extLst>
          </p:cNvPr>
          <p:cNvSpPr txBox="1"/>
          <p:nvPr/>
        </p:nvSpPr>
        <p:spPr>
          <a:xfrm>
            <a:off x="9331610" y="2426286"/>
            <a:ext cx="230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oldest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A43E4F-1DCE-4B4A-BF44-EACDB3E255B1}"/>
              </a:ext>
            </a:extLst>
          </p:cNvPr>
          <p:cNvSpPr txBox="1"/>
          <p:nvPr/>
        </p:nvSpPr>
        <p:spPr>
          <a:xfrm>
            <a:off x="3086083" y="317699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08AF7D7-3EE1-4462-83BA-9B8D3BDA1D96}"/>
              </a:ext>
            </a:extLst>
          </p:cNvPr>
          <p:cNvSpPr txBox="1"/>
          <p:nvPr/>
        </p:nvSpPr>
        <p:spPr>
          <a:xfrm>
            <a:off x="3036390" y="357909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91EF251-7B43-4E4C-85AB-6F78B684F1D5}"/>
              </a:ext>
            </a:extLst>
          </p:cNvPr>
          <p:cNvSpPr txBox="1"/>
          <p:nvPr/>
        </p:nvSpPr>
        <p:spPr>
          <a:xfrm>
            <a:off x="8725900" y="4193633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FE11E64-E3E9-4A51-B50E-9C13E69CBAC6}"/>
              </a:ext>
            </a:extLst>
          </p:cNvPr>
          <p:cNvSpPr txBox="1"/>
          <p:nvPr/>
        </p:nvSpPr>
        <p:spPr>
          <a:xfrm>
            <a:off x="8734899" y="4577229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F7D875F-C37D-48FC-8449-1B0C05B69289}"/>
              </a:ext>
            </a:extLst>
          </p:cNvPr>
          <p:cNvSpPr txBox="1"/>
          <p:nvPr/>
        </p:nvSpPr>
        <p:spPr>
          <a:xfrm>
            <a:off x="347490" y="5694444"/>
            <a:ext cx="54104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 reserve 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</a:t>
            </a: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= 20 – 15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41147C0-E317-464C-B6F4-2AA14F34EF6D}"/>
              </a:ext>
            </a:extLst>
          </p:cNvPr>
          <p:cNvSpPr/>
          <p:nvPr/>
        </p:nvSpPr>
        <p:spPr>
          <a:xfrm>
            <a:off x="8300555" y="3895790"/>
            <a:ext cx="3128890" cy="1203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0323666-B604-403E-9496-29842FB587E3}"/>
              </a:ext>
            </a:extLst>
          </p:cNvPr>
          <p:cNvSpPr/>
          <p:nvPr/>
        </p:nvSpPr>
        <p:spPr>
          <a:xfrm>
            <a:off x="2699695" y="2893636"/>
            <a:ext cx="3128890" cy="1203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6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7" grpId="0"/>
      <p:bldP spid="28" grpId="0"/>
      <p:bldP spid="34" grpId="0" animBg="1"/>
      <p:bldP spid="35" grpId="0" animBg="1"/>
      <p:bldP spid="36" grpId="0" animBg="1"/>
      <p:bldP spid="43" grpId="0"/>
      <p:bldP spid="44" grpId="0"/>
      <p:bldP spid="55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/>
      <p:bldP spid="73" grpId="0" animBg="1"/>
      <p:bldP spid="74" grpId="0" animBg="1"/>
      <p:bldP spid="82" grpId="0"/>
      <p:bldP spid="83" grpId="0"/>
      <p:bldP spid="84" grpId="0"/>
      <p:bldP spid="89" grpId="0"/>
      <p:bldP spid="90" grpId="0"/>
      <p:bldP spid="91" grpId="0" animBg="1"/>
      <p:bldP spid="9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Terminology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>
          <a:xfrm>
            <a:off x="400049" y="1219203"/>
            <a:ext cx="8210551" cy="3800475"/>
          </a:xfrm>
        </p:spPr>
        <p:txBody>
          <a:bodyPr/>
          <a:lstStyle/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 under FIFO minus inventory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Sheet: 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=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FIFO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-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LIFO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lvl="2">
              <a:buSzPct val="50000"/>
              <a:buFont typeface="Wingdings" panose="05000000000000000000" pitchFamily="2" charset="2"/>
              <a:buChar char="m"/>
            </a:pP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2"/>
            <a:ext cx="81760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21DBF-325B-3546-BAAF-4F6E3B3181FF}" type="slidenum">
              <a:rPr lang="en-US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19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Terminology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>
          <a:xfrm>
            <a:off x="400049" y="1219203"/>
            <a:ext cx="8210551" cy="3800475"/>
          </a:xfrm>
        </p:spPr>
        <p:txBody>
          <a:bodyPr/>
          <a:lstStyle/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 under FIFO minus inventory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Sheet: 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=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FIFO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-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LIFO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vs. FIFO Effect on Income 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Difference in COGS/Income between LIFO and FIFO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COGS </a:t>
            </a:r>
            <a:r>
              <a:rPr lang="en-US" altLang="en-US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usually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higher under LIFO than FIFO, and therefore income usually lower under LIFO</a:t>
            </a:r>
          </a:p>
          <a:p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2"/>
            <a:ext cx="81760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21DBF-325B-3546-BAAF-4F6E3B3181FF}" type="slidenum">
              <a:rPr lang="en-US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715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571842-C9CF-44CF-91B8-3BE94C88496F}"/>
              </a:ext>
            </a:extLst>
          </p:cNvPr>
          <p:cNvSpPr/>
          <p:nvPr/>
        </p:nvSpPr>
        <p:spPr bwMode="auto">
          <a:xfrm>
            <a:off x="395458" y="2414751"/>
            <a:ext cx="5582855" cy="281462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5A325A-0BA2-49FA-97DB-DD90F36A2760}"/>
              </a:ext>
            </a:extLst>
          </p:cNvPr>
          <p:cNvSpPr/>
          <p:nvPr/>
        </p:nvSpPr>
        <p:spPr bwMode="auto">
          <a:xfrm>
            <a:off x="6149297" y="2414751"/>
            <a:ext cx="5582855" cy="281462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issues (Year 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5EBD3-5EAE-4CC3-980E-6D7F0BBF7965}"/>
              </a:ext>
            </a:extLst>
          </p:cNvPr>
          <p:cNvSpPr/>
          <p:nvPr/>
        </p:nvSpPr>
        <p:spPr bwMode="auto">
          <a:xfrm>
            <a:off x="762555" y="4105755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EBE56-0E3F-4D17-9DED-203EF49FEB4D}"/>
              </a:ext>
            </a:extLst>
          </p:cNvPr>
          <p:cNvSpPr/>
          <p:nvPr/>
        </p:nvSpPr>
        <p:spPr bwMode="auto">
          <a:xfrm>
            <a:off x="2887059" y="3097999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D3815-5F97-4068-B1A9-194D259D0741}"/>
              </a:ext>
            </a:extLst>
          </p:cNvPr>
          <p:cNvSpPr/>
          <p:nvPr/>
        </p:nvSpPr>
        <p:spPr bwMode="auto">
          <a:xfrm>
            <a:off x="2998516" y="3016113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4876E-59D4-4478-93A7-B9F0F7EA3BFD}"/>
              </a:ext>
            </a:extLst>
          </p:cNvPr>
          <p:cNvSpPr/>
          <p:nvPr/>
        </p:nvSpPr>
        <p:spPr bwMode="auto">
          <a:xfrm>
            <a:off x="3451166" y="3016113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C0C1B-604C-46A9-B995-B1ABF4AB09E1}"/>
              </a:ext>
            </a:extLst>
          </p:cNvPr>
          <p:cNvSpPr txBox="1"/>
          <p:nvPr/>
        </p:nvSpPr>
        <p:spPr>
          <a:xfrm>
            <a:off x="2740133" y="4791141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$10 = $10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A96634-FE40-4B4D-9569-66DC2DDDE020}"/>
              </a:ext>
            </a:extLst>
          </p:cNvPr>
          <p:cNvSpPr/>
          <p:nvPr/>
        </p:nvSpPr>
        <p:spPr bwMode="auto">
          <a:xfrm>
            <a:off x="2887059" y="4374884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71811-8F26-4659-BACB-3861202DC055}"/>
              </a:ext>
            </a:extLst>
          </p:cNvPr>
          <p:cNvSpPr/>
          <p:nvPr/>
        </p:nvSpPr>
        <p:spPr bwMode="auto">
          <a:xfrm>
            <a:off x="2998516" y="4292998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9B56C1-408E-4297-95EE-CC03B2485D4A}"/>
              </a:ext>
            </a:extLst>
          </p:cNvPr>
          <p:cNvSpPr/>
          <p:nvPr/>
        </p:nvSpPr>
        <p:spPr bwMode="auto">
          <a:xfrm>
            <a:off x="3451166" y="4292998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5316C9-1C1B-489B-9B12-0D1902EB2D33}"/>
              </a:ext>
            </a:extLst>
          </p:cNvPr>
          <p:cNvCxnSpPr>
            <a:cxnSpLocks/>
          </p:cNvCxnSpPr>
          <p:nvPr/>
        </p:nvCxnSpPr>
        <p:spPr bwMode="auto">
          <a:xfrm flipV="1">
            <a:off x="1872573" y="3409722"/>
            <a:ext cx="867560" cy="27504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54D91E-4D48-4CDC-A166-F4340B337E51}"/>
              </a:ext>
            </a:extLst>
          </p:cNvPr>
          <p:cNvCxnSpPr>
            <a:cxnSpLocks/>
          </p:cNvCxnSpPr>
          <p:nvPr/>
        </p:nvCxnSpPr>
        <p:spPr bwMode="auto">
          <a:xfrm>
            <a:off x="1738386" y="4288142"/>
            <a:ext cx="1001747" cy="28908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D5A80C-7283-4C84-943D-57378DF2E0CB}"/>
              </a:ext>
            </a:extLst>
          </p:cNvPr>
          <p:cNvSpPr txBox="1"/>
          <p:nvPr/>
        </p:nvSpPr>
        <p:spPr>
          <a:xfrm>
            <a:off x="3907440" y="3152238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EC8DFE-6F9E-4914-A798-FC4DA02D9C2B}"/>
              </a:ext>
            </a:extLst>
          </p:cNvPr>
          <p:cNvSpPr txBox="1"/>
          <p:nvPr/>
        </p:nvSpPr>
        <p:spPr>
          <a:xfrm>
            <a:off x="3907440" y="4423341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EA813F-A3A1-4CD3-893E-55EED8045692}"/>
              </a:ext>
            </a:extLst>
          </p:cNvPr>
          <p:cNvSpPr/>
          <p:nvPr/>
        </p:nvSpPr>
        <p:spPr bwMode="auto">
          <a:xfrm>
            <a:off x="8585008" y="286244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895B40-929F-47D0-8021-5A71875B690A}"/>
              </a:ext>
            </a:extLst>
          </p:cNvPr>
          <p:cNvSpPr/>
          <p:nvPr/>
        </p:nvSpPr>
        <p:spPr bwMode="auto">
          <a:xfrm>
            <a:off x="8696465" y="2780561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CF440-475B-47B9-BAE9-76C3FFEC23FC}"/>
              </a:ext>
            </a:extLst>
          </p:cNvPr>
          <p:cNvSpPr/>
          <p:nvPr/>
        </p:nvSpPr>
        <p:spPr bwMode="auto">
          <a:xfrm>
            <a:off x="9149115" y="2780561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BD3FF0-405F-472F-87DE-DB3578F79C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498540" y="3096033"/>
            <a:ext cx="939542" cy="3719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93BDD3-90E2-45AB-A895-39AFA7FF65DD}"/>
              </a:ext>
            </a:extLst>
          </p:cNvPr>
          <p:cNvCxnSpPr>
            <a:cxnSpLocks/>
          </p:cNvCxnSpPr>
          <p:nvPr/>
        </p:nvCxnSpPr>
        <p:spPr bwMode="auto">
          <a:xfrm>
            <a:off x="7601625" y="4088552"/>
            <a:ext cx="888063" cy="4057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9CAC157-7421-49D7-804F-74F24AFE6C4C}"/>
              </a:ext>
            </a:extLst>
          </p:cNvPr>
          <p:cNvSpPr txBox="1"/>
          <p:nvPr/>
        </p:nvSpPr>
        <p:spPr>
          <a:xfrm>
            <a:off x="9605389" y="291668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58078C-6CB1-4FE7-99B7-B891762067AA}"/>
              </a:ext>
            </a:extLst>
          </p:cNvPr>
          <p:cNvSpPr txBox="1"/>
          <p:nvPr/>
        </p:nvSpPr>
        <p:spPr>
          <a:xfrm>
            <a:off x="9606855" y="4465731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D09264-4497-44CB-A7AC-27D3161B4B5C}"/>
              </a:ext>
            </a:extLst>
          </p:cNvPr>
          <p:cNvSpPr/>
          <p:nvPr/>
        </p:nvSpPr>
        <p:spPr bwMode="auto">
          <a:xfrm>
            <a:off x="762555" y="3268973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269A32-7257-421A-BF10-5BA08B097699}"/>
              </a:ext>
            </a:extLst>
          </p:cNvPr>
          <p:cNvSpPr/>
          <p:nvPr/>
        </p:nvSpPr>
        <p:spPr bwMode="auto">
          <a:xfrm>
            <a:off x="874015" y="3191355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B0F1AB-9714-48D8-827A-C52086309B37}"/>
              </a:ext>
            </a:extLst>
          </p:cNvPr>
          <p:cNvSpPr/>
          <p:nvPr/>
        </p:nvSpPr>
        <p:spPr bwMode="auto">
          <a:xfrm>
            <a:off x="1326665" y="3191355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F32883-D1CF-4C25-9744-502359427367}"/>
              </a:ext>
            </a:extLst>
          </p:cNvPr>
          <p:cNvSpPr/>
          <p:nvPr/>
        </p:nvSpPr>
        <p:spPr bwMode="auto">
          <a:xfrm>
            <a:off x="762555" y="3689498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2AFD393-27B6-47D0-98DE-4F9855A65D10}"/>
              </a:ext>
            </a:extLst>
          </p:cNvPr>
          <p:cNvSpPr/>
          <p:nvPr/>
        </p:nvSpPr>
        <p:spPr bwMode="auto">
          <a:xfrm>
            <a:off x="6423870" y="3237588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5EAE6C7-03EC-4281-9FF3-63CF65496263}"/>
              </a:ext>
            </a:extLst>
          </p:cNvPr>
          <p:cNvSpPr/>
          <p:nvPr/>
        </p:nvSpPr>
        <p:spPr bwMode="auto">
          <a:xfrm>
            <a:off x="6535330" y="3164148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D6816-E260-4FB0-86DD-81839A3136FC}"/>
              </a:ext>
            </a:extLst>
          </p:cNvPr>
          <p:cNvSpPr/>
          <p:nvPr/>
        </p:nvSpPr>
        <p:spPr bwMode="auto">
          <a:xfrm>
            <a:off x="6987980" y="3164148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1584F6-42B3-4D7A-BAC3-5B27DBA8DD60}"/>
              </a:ext>
            </a:extLst>
          </p:cNvPr>
          <p:cNvSpPr/>
          <p:nvPr/>
        </p:nvSpPr>
        <p:spPr bwMode="auto">
          <a:xfrm>
            <a:off x="6423870" y="3662291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DBE7A26-4E63-4034-9701-530796681243}"/>
              </a:ext>
            </a:extLst>
          </p:cNvPr>
          <p:cNvSpPr/>
          <p:nvPr/>
        </p:nvSpPr>
        <p:spPr bwMode="auto">
          <a:xfrm>
            <a:off x="6423870" y="4078049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38EFD7-7A6D-46B2-BC83-8CB7872A30BF}"/>
              </a:ext>
            </a:extLst>
          </p:cNvPr>
          <p:cNvSpPr/>
          <p:nvPr/>
        </p:nvSpPr>
        <p:spPr bwMode="auto">
          <a:xfrm>
            <a:off x="2887059" y="3514256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3A33A5-5FE5-4C01-A6E1-6B500C411C83}"/>
              </a:ext>
            </a:extLst>
          </p:cNvPr>
          <p:cNvSpPr/>
          <p:nvPr/>
        </p:nvSpPr>
        <p:spPr bwMode="auto">
          <a:xfrm>
            <a:off x="8585008" y="4119700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53B272-2DDA-4A0D-B0F3-15E739CB9048}"/>
              </a:ext>
            </a:extLst>
          </p:cNvPr>
          <p:cNvSpPr/>
          <p:nvPr/>
        </p:nvSpPr>
        <p:spPr bwMode="auto">
          <a:xfrm>
            <a:off x="8696465" y="403781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D505341-E387-4AE6-AF54-C77A4654D92A}"/>
              </a:ext>
            </a:extLst>
          </p:cNvPr>
          <p:cNvSpPr/>
          <p:nvPr/>
        </p:nvSpPr>
        <p:spPr bwMode="auto">
          <a:xfrm>
            <a:off x="9149115" y="403781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7030663-422E-43A7-90A3-4DB3F4C5D26D}"/>
              </a:ext>
            </a:extLst>
          </p:cNvPr>
          <p:cNvSpPr/>
          <p:nvPr/>
        </p:nvSpPr>
        <p:spPr bwMode="auto">
          <a:xfrm>
            <a:off x="8585007" y="4522046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9A11AC-298F-44A7-9F63-38851C499D07}"/>
              </a:ext>
            </a:extLst>
          </p:cNvPr>
          <p:cNvSpPr txBox="1"/>
          <p:nvPr/>
        </p:nvSpPr>
        <p:spPr>
          <a:xfrm>
            <a:off x="8456509" y="3283967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$5 = $5</a:t>
            </a:r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D6C6AAFC-828C-4D39-8C9B-A463A3FEA603}"/>
              </a:ext>
            </a:extLst>
          </p:cNvPr>
          <p:cNvSpPr/>
          <p:nvPr/>
        </p:nvSpPr>
        <p:spPr bwMode="auto">
          <a:xfrm>
            <a:off x="7468310" y="3682799"/>
            <a:ext cx="125500" cy="81150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" name="Right Brace 73">
            <a:extLst>
              <a:ext uri="{FF2B5EF4-FFF2-40B4-BE49-F238E27FC236}">
                <a16:creationId xmlns:a16="http://schemas.microsoft.com/office/drawing/2014/main" id="{F1F13B74-81AC-41D3-85BB-7A773519F9B6}"/>
              </a:ext>
            </a:extLst>
          </p:cNvPr>
          <p:cNvSpPr/>
          <p:nvPr/>
        </p:nvSpPr>
        <p:spPr bwMode="auto">
          <a:xfrm>
            <a:off x="1738386" y="3285257"/>
            <a:ext cx="125500" cy="81150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A0C989-DF45-4D7B-856E-822FCBA76CCE}"/>
              </a:ext>
            </a:extLst>
          </p:cNvPr>
          <p:cNvSpPr txBox="1"/>
          <p:nvPr/>
        </p:nvSpPr>
        <p:spPr>
          <a:xfrm>
            <a:off x="808182" y="1369246"/>
            <a:ext cx="5572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Activity: Buys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 @ $10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each and sells 1 unit.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53169A3-E766-4CCA-8D01-FDE0D0295680}"/>
              </a:ext>
            </a:extLst>
          </p:cNvPr>
          <p:cNvSpPr txBox="1"/>
          <p:nvPr/>
        </p:nvSpPr>
        <p:spPr>
          <a:xfrm>
            <a:off x="486386" y="245961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929795-D5B5-4A1E-8269-CFFDCB9C4E0D}"/>
              </a:ext>
            </a:extLst>
          </p:cNvPr>
          <p:cNvSpPr txBox="1"/>
          <p:nvPr/>
        </p:nvSpPr>
        <p:spPr>
          <a:xfrm>
            <a:off x="6214056" y="2459616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FIFO: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A4908C8-B09A-4E9E-9A22-0B4EDF37846D}"/>
              </a:ext>
            </a:extLst>
          </p:cNvPr>
          <p:cNvSpPr txBox="1"/>
          <p:nvPr/>
        </p:nvSpPr>
        <p:spPr>
          <a:xfrm>
            <a:off x="3442831" y="2426286"/>
            <a:ext cx="2453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6570792-39D2-416E-A169-44F1863100C8}"/>
              </a:ext>
            </a:extLst>
          </p:cNvPr>
          <p:cNvSpPr txBox="1"/>
          <p:nvPr/>
        </p:nvSpPr>
        <p:spPr>
          <a:xfrm>
            <a:off x="9331610" y="2426286"/>
            <a:ext cx="230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oldest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A25858A-3C0A-40F5-BE2F-C435E6DE0457}"/>
              </a:ext>
            </a:extLst>
          </p:cNvPr>
          <p:cNvSpPr txBox="1"/>
          <p:nvPr/>
        </p:nvSpPr>
        <p:spPr>
          <a:xfrm>
            <a:off x="6214056" y="5775290"/>
            <a:ext cx="5850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Difference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COGS: </a:t>
            </a:r>
            <a:r>
              <a:rPr lang="en-US" sz="2000" noProof="0" dirty="0">
                <a:solidFill>
                  <a:srgbClr val="000000"/>
                </a:solidFill>
              </a:rPr>
              <a:t>COGS</a:t>
            </a:r>
            <a:r>
              <a:rPr lang="en-US" sz="2000" baseline="-25000" dirty="0">
                <a:solidFill>
                  <a:srgbClr val="000000"/>
                </a:solidFill>
              </a:rPr>
              <a:t>LIFO</a:t>
            </a:r>
            <a:r>
              <a:rPr lang="en-US" sz="2000" dirty="0">
                <a:solidFill>
                  <a:srgbClr val="000000"/>
                </a:solidFill>
              </a:rPr>
              <a:t> – COGS</a:t>
            </a:r>
            <a:r>
              <a:rPr lang="en-US" sz="2000" baseline="-25000" dirty="0">
                <a:solidFill>
                  <a:srgbClr val="000000"/>
                </a:solidFill>
              </a:rPr>
              <a:t>FIFO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000000"/>
                </a:solidFill>
              </a:rPr>
              <a:t>		= 10 – 5 = </a:t>
            </a:r>
            <a:r>
              <a:rPr lang="en-US" sz="2000" b="1" dirty="0">
                <a:solidFill>
                  <a:srgbClr val="000000"/>
                </a:solidFill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A43E4F-1DCE-4B4A-BF44-EACDB3E255B1}"/>
              </a:ext>
            </a:extLst>
          </p:cNvPr>
          <p:cNvSpPr txBox="1"/>
          <p:nvPr/>
        </p:nvSpPr>
        <p:spPr>
          <a:xfrm>
            <a:off x="3086083" y="317699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08AF7D7-3EE1-4462-83BA-9B8D3BDA1D96}"/>
              </a:ext>
            </a:extLst>
          </p:cNvPr>
          <p:cNvSpPr txBox="1"/>
          <p:nvPr/>
        </p:nvSpPr>
        <p:spPr>
          <a:xfrm>
            <a:off x="3036390" y="357909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91EF251-7B43-4E4C-85AB-6F78B684F1D5}"/>
              </a:ext>
            </a:extLst>
          </p:cNvPr>
          <p:cNvSpPr txBox="1"/>
          <p:nvPr/>
        </p:nvSpPr>
        <p:spPr>
          <a:xfrm>
            <a:off x="8725900" y="4193633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FE11E64-E3E9-4A51-B50E-9C13E69CBAC6}"/>
              </a:ext>
            </a:extLst>
          </p:cNvPr>
          <p:cNvSpPr txBox="1"/>
          <p:nvPr/>
        </p:nvSpPr>
        <p:spPr>
          <a:xfrm>
            <a:off x="8734899" y="4577229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F7D875F-C37D-48FC-8449-1B0C05B69289}"/>
              </a:ext>
            </a:extLst>
          </p:cNvPr>
          <p:cNvSpPr txBox="1"/>
          <p:nvPr/>
        </p:nvSpPr>
        <p:spPr>
          <a:xfrm>
            <a:off x="347490" y="5694444"/>
            <a:ext cx="54104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LIFO reserve 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FIFO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–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LIFO</a:t>
            </a:r>
            <a:endParaRPr kumimoji="0" lang="en-US" sz="2000" b="0" i="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		= 20 – 15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41147C0-E317-464C-B6F4-2AA14F34EF6D}"/>
              </a:ext>
            </a:extLst>
          </p:cNvPr>
          <p:cNvSpPr/>
          <p:nvPr/>
        </p:nvSpPr>
        <p:spPr>
          <a:xfrm>
            <a:off x="8408017" y="2715399"/>
            <a:ext cx="3128890" cy="9468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0323666-B604-403E-9496-29842FB587E3}"/>
              </a:ext>
            </a:extLst>
          </p:cNvPr>
          <p:cNvSpPr/>
          <p:nvPr/>
        </p:nvSpPr>
        <p:spPr>
          <a:xfrm>
            <a:off x="2651652" y="4209703"/>
            <a:ext cx="3128890" cy="866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56D2517-92C7-4891-B7B3-74B31DF045C9}"/>
              </a:ext>
            </a:extLst>
          </p:cNvPr>
          <p:cNvSpPr/>
          <p:nvPr/>
        </p:nvSpPr>
        <p:spPr>
          <a:xfrm>
            <a:off x="2773363" y="2962685"/>
            <a:ext cx="3128890" cy="1067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1B1062-68DE-417A-A498-B78FA8D48BB3}"/>
              </a:ext>
            </a:extLst>
          </p:cNvPr>
          <p:cNvSpPr/>
          <p:nvPr/>
        </p:nvSpPr>
        <p:spPr>
          <a:xfrm>
            <a:off x="8322988" y="3967618"/>
            <a:ext cx="3128890" cy="1067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4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7" grpId="0"/>
      <p:bldP spid="28" grpId="0"/>
      <p:bldP spid="34" grpId="0" animBg="1"/>
      <p:bldP spid="35" grpId="0" animBg="1"/>
      <p:bldP spid="36" grpId="0" animBg="1"/>
      <p:bldP spid="43" grpId="0"/>
      <p:bldP spid="44" grpId="0"/>
      <p:bldP spid="55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/>
      <p:bldP spid="73" grpId="0" animBg="1"/>
      <p:bldP spid="74" grpId="0" animBg="1"/>
      <p:bldP spid="75" grpId="0"/>
      <p:bldP spid="82" grpId="0"/>
      <p:bldP spid="83" grpId="0"/>
      <p:bldP spid="84" grpId="0"/>
      <p:bldP spid="89" grpId="0"/>
      <p:bldP spid="90" grpId="0"/>
      <p:bldP spid="91" grpId="0" animBg="1"/>
      <p:bldP spid="92" grpId="0" animBg="1"/>
      <p:bldP spid="67" grpId="0" animBg="1"/>
      <p:bldP spid="67" grpId="1" animBg="1"/>
      <p:bldP spid="68" grpId="0" animBg="1"/>
      <p:bldP spid="6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571842-C9CF-44CF-91B8-3BE94C88496F}"/>
              </a:ext>
            </a:extLst>
          </p:cNvPr>
          <p:cNvSpPr/>
          <p:nvPr/>
        </p:nvSpPr>
        <p:spPr bwMode="auto">
          <a:xfrm>
            <a:off x="379531" y="2333875"/>
            <a:ext cx="5582855" cy="28077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5A325A-0BA2-49FA-97DB-DD90F36A2760}"/>
              </a:ext>
            </a:extLst>
          </p:cNvPr>
          <p:cNvSpPr/>
          <p:nvPr/>
        </p:nvSpPr>
        <p:spPr bwMode="auto">
          <a:xfrm>
            <a:off x="6137278" y="2333875"/>
            <a:ext cx="5582855" cy="28077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issues (Year 3)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5EBD3-5EAE-4CC3-980E-6D7F0BBF7965}"/>
              </a:ext>
            </a:extLst>
          </p:cNvPr>
          <p:cNvSpPr/>
          <p:nvPr/>
        </p:nvSpPr>
        <p:spPr bwMode="auto">
          <a:xfrm>
            <a:off x="746628" y="4031230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EBE56-0E3F-4D17-9DED-203EF49FEB4D}"/>
              </a:ext>
            </a:extLst>
          </p:cNvPr>
          <p:cNvSpPr/>
          <p:nvPr/>
        </p:nvSpPr>
        <p:spPr bwMode="auto">
          <a:xfrm>
            <a:off x="2871132" y="2786931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D3815-5F97-4068-B1A9-194D259D0741}"/>
              </a:ext>
            </a:extLst>
          </p:cNvPr>
          <p:cNvSpPr/>
          <p:nvPr/>
        </p:nvSpPr>
        <p:spPr bwMode="auto">
          <a:xfrm>
            <a:off x="2982589" y="270187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4876E-59D4-4478-93A7-B9F0F7EA3BFD}"/>
              </a:ext>
            </a:extLst>
          </p:cNvPr>
          <p:cNvSpPr/>
          <p:nvPr/>
        </p:nvSpPr>
        <p:spPr bwMode="auto">
          <a:xfrm>
            <a:off x="3435239" y="270187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C0C1B-604C-46A9-B995-B1ABF4AB09E1}"/>
              </a:ext>
            </a:extLst>
          </p:cNvPr>
          <p:cNvSpPr txBox="1"/>
          <p:nvPr/>
        </p:nvSpPr>
        <p:spPr>
          <a:xfrm>
            <a:off x="2724206" y="4805516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$15 = $15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A96634-FE40-4B4D-9569-66DC2DDDE020}"/>
              </a:ext>
            </a:extLst>
          </p:cNvPr>
          <p:cNvSpPr/>
          <p:nvPr/>
        </p:nvSpPr>
        <p:spPr bwMode="auto">
          <a:xfrm>
            <a:off x="2871132" y="4389259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71811-8F26-4659-BACB-3861202DC055}"/>
              </a:ext>
            </a:extLst>
          </p:cNvPr>
          <p:cNvSpPr/>
          <p:nvPr/>
        </p:nvSpPr>
        <p:spPr bwMode="auto">
          <a:xfrm>
            <a:off x="2982589" y="4303483"/>
            <a:ext cx="216089" cy="818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9B56C1-408E-4297-95EE-CC03B2485D4A}"/>
              </a:ext>
            </a:extLst>
          </p:cNvPr>
          <p:cNvSpPr/>
          <p:nvPr/>
        </p:nvSpPr>
        <p:spPr bwMode="auto">
          <a:xfrm>
            <a:off x="3435239" y="4303483"/>
            <a:ext cx="216089" cy="818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5316C9-1C1B-489B-9B12-0D1902EB2D33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V="1">
            <a:off x="1807049" y="3328847"/>
            <a:ext cx="917157" cy="48949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54D91E-4D48-4CDC-A166-F4340B337E51}"/>
              </a:ext>
            </a:extLst>
          </p:cNvPr>
          <p:cNvCxnSpPr>
            <a:cxnSpLocks/>
          </p:cNvCxnSpPr>
          <p:nvPr/>
        </p:nvCxnSpPr>
        <p:spPr bwMode="auto">
          <a:xfrm>
            <a:off x="1874842" y="4650243"/>
            <a:ext cx="84936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D5A80C-7283-4C84-943D-57378DF2E0CB}"/>
              </a:ext>
            </a:extLst>
          </p:cNvPr>
          <p:cNvSpPr txBox="1"/>
          <p:nvPr/>
        </p:nvSpPr>
        <p:spPr>
          <a:xfrm>
            <a:off x="3891513" y="3071363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EC8DFE-6F9E-4914-A798-FC4DA02D9C2B}"/>
              </a:ext>
            </a:extLst>
          </p:cNvPr>
          <p:cNvSpPr txBox="1"/>
          <p:nvPr/>
        </p:nvSpPr>
        <p:spPr>
          <a:xfrm>
            <a:off x="3891513" y="434246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EA813F-A3A1-4CD3-893E-55EED8045692}"/>
              </a:ext>
            </a:extLst>
          </p:cNvPr>
          <p:cNvSpPr/>
          <p:nvPr/>
        </p:nvSpPr>
        <p:spPr bwMode="auto">
          <a:xfrm>
            <a:off x="8600699" y="2781572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rgbClr val="3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895B40-929F-47D0-8021-5A71875B690A}"/>
              </a:ext>
            </a:extLst>
          </p:cNvPr>
          <p:cNvSpPr/>
          <p:nvPr/>
        </p:nvSpPr>
        <p:spPr bwMode="auto">
          <a:xfrm>
            <a:off x="8712156" y="2694130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CF440-475B-47B9-BAE9-76C3FFEC23FC}"/>
              </a:ext>
            </a:extLst>
          </p:cNvPr>
          <p:cNvSpPr/>
          <p:nvPr/>
        </p:nvSpPr>
        <p:spPr bwMode="auto">
          <a:xfrm>
            <a:off x="9164806" y="2694130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BD3FF0-405F-472F-87DE-DB3578F79C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679" y="2995059"/>
            <a:ext cx="948094" cy="37442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93BDD3-90E2-45AB-A895-39AFA7FF65DD}"/>
              </a:ext>
            </a:extLst>
          </p:cNvPr>
          <p:cNvCxnSpPr>
            <a:cxnSpLocks/>
          </p:cNvCxnSpPr>
          <p:nvPr/>
        </p:nvCxnSpPr>
        <p:spPr bwMode="auto">
          <a:xfrm>
            <a:off x="7606420" y="4231072"/>
            <a:ext cx="807315" cy="1911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9CAC157-7421-49D7-804F-74F24AFE6C4C}"/>
              </a:ext>
            </a:extLst>
          </p:cNvPr>
          <p:cNvSpPr txBox="1"/>
          <p:nvPr/>
        </p:nvSpPr>
        <p:spPr>
          <a:xfrm>
            <a:off x="9621080" y="2835811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58078C-6CB1-4FE7-99B7-B891762067AA}"/>
              </a:ext>
            </a:extLst>
          </p:cNvPr>
          <p:cNvSpPr txBox="1"/>
          <p:nvPr/>
        </p:nvSpPr>
        <p:spPr>
          <a:xfrm>
            <a:off x="9622546" y="4384856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D09264-4497-44CB-A7AC-27D3161B4B5C}"/>
              </a:ext>
            </a:extLst>
          </p:cNvPr>
          <p:cNvSpPr/>
          <p:nvPr/>
        </p:nvSpPr>
        <p:spPr bwMode="auto">
          <a:xfrm>
            <a:off x="750459" y="318566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269A32-7257-421A-BF10-5BA08B097699}"/>
              </a:ext>
            </a:extLst>
          </p:cNvPr>
          <p:cNvSpPr/>
          <p:nvPr/>
        </p:nvSpPr>
        <p:spPr bwMode="auto">
          <a:xfrm>
            <a:off x="843102" y="3105807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B0F1AB-9714-48D8-827A-C52086309B37}"/>
              </a:ext>
            </a:extLst>
          </p:cNvPr>
          <p:cNvSpPr/>
          <p:nvPr/>
        </p:nvSpPr>
        <p:spPr bwMode="auto">
          <a:xfrm>
            <a:off x="1308216" y="3100606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F32883-D1CF-4C25-9744-502359427367}"/>
              </a:ext>
            </a:extLst>
          </p:cNvPr>
          <p:cNvSpPr/>
          <p:nvPr/>
        </p:nvSpPr>
        <p:spPr bwMode="auto">
          <a:xfrm>
            <a:off x="746628" y="3608623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2AFD393-27B6-47D0-98DE-4F9855A65D10}"/>
              </a:ext>
            </a:extLst>
          </p:cNvPr>
          <p:cNvSpPr/>
          <p:nvPr/>
        </p:nvSpPr>
        <p:spPr bwMode="auto">
          <a:xfrm>
            <a:off x="6439564" y="3165159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rgbClr val="3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5EAE6C7-03EC-4281-9FF3-63CF65496263}"/>
              </a:ext>
            </a:extLst>
          </p:cNvPr>
          <p:cNvSpPr/>
          <p:nvPr/>
        </p:nvSpPr>
        <p:spPr bwMode="auto">
          <a:xfrm>
            <a:off x="6552325" y="308144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rgbClr val="B00000"/>
              </a:gs>
              <a:gs pos="65000">
                <a:srgbClr val="B00000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D6816-E260-4FB0-86DD-81839A3136FC}"/>
              </a:ext>
            </a:extLst>
          </p:cNvPr>
          <p:cNvSpPr/>
          <p:nvPr/>
        </p:nvSpPr>
        <p:spPr bwMode="auto">
          <a:xfrm>
            <a:off x="7004975" y="308144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3">
                  <a:lumMod val="75000"/>
                  <a:lumOff val="25000"/>
                </a:schemeClr>
              </a:gs>
              <a:gs pos="65000">
                <a:schemeClr val="accent3">
                  <a:lumMod val="75000"/>
                  <a:lumOff val="2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1584F6-42B3-4D7A-BAC3-5B27DBA8DD60}"/>
              </a:ext>
            </a:extLst>
          </p:cNvPr>
          <p:cNvSpPr/>
          <p:nvPr/>
        </p:nvSpPr>
        <p:spPr bwMode="auto">
          <a:xfrm>
            <a:off x="6439561" y="3581416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38EFD7-7A6D-46B2-BC83-8CB7872A30BF}"/>
              </a:ext>
            </a:extLst>
          </p:cNvPr>
          <p:cNvSpPr/>
          <p:nvPr/>
        </p:nvSpPr>
        <p:spPr bwMode="auto">
          <a:xfrm>
            <a:off x="2871132" y="3203188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3A33A5-5FE5-4C01-A6E1-6B500C411C83}"/>
              </a:ext>
            </a:extLst>
          </p:cNvPr>
          <p:cNvSpPr/>
          <p:nvPr/>
        </p:nvSpPr>
        <p:spPr bwMode="auto">
          <a:xfrm>
            <a:off x="8600699" y="3783931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53B272-2DDA-4A0D-B0F3-15E739CB9048}"/>
              </a:ext>
            </a:extLst>
          </p:cNvPr>
          <p:cNvSpPr/>
          <p:nvPr/>
        </p:nvSpPr>
        <p:spPr bwMode="auto">
          <a:xfrm>
            <a:off x="8712156" y="369715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D505341-E387-4AE6-AF54-C77A4654D92A}"/>
              </a:ext>
            </a:extLst>
          </p:cNvPr>
          <p:cNvSpPr/>
          <p:nvPr/>
        </p:nvSpPr>
        <p:spPr bwMode="auto">
          <a:xfrm>
            <a:off x="9164806" y="369715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9A11AC-298F-44A7-9F63-38851C499D07}"/>
              </a:ext>
            </a:extLst>
          </p:cNvPr>
          <p:cNvSpPr txBox="1"/>
          <p:nvPr/>
        </p:nvSpPr>
        <p:spPr>
          <a:xfrm>
            <a:off x="8472200" y="3203092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$10 = $10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A07819-E6AB-4B7C-BD11-1CED6A047F10}"/>
              </a:ext>
            </a:extLst>
          </p:cNvPr>
          <p:cNvSpPr/>
          <p:nvPr/>
        </p:nvSpPr>
        <p:spPr bwMode="auto">
          <a:xfrm>
            <a:off x="746628" y="4447487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90397D-0DA4-44CB-A129-AB551A4CF19A}"/>
              </a:ext>
            </a:extLst>
          </p:cNvPr>
          <p:cNvSpPr/>
          <p:nvPr/>
        </p:nvSpPr>
        <p:spPr bwMode="auto">
          <a:xfrm>
            <a:off x="6439802" y="4005950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8DE1D4-D065-44A7-9848-2ABF71FF144B}"/>
              </a:ext>
            </a:extLst>
          </p:cNvPr>
          <p:cNvSpPr/>
          <p:nvPr/>
        </p:nvSpPr>
        <p:spPr bwMode="auto">
          <a:xfrm>
            <a:off x="6439802" y="4422207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F3B9FD-DA4B-425E-B9E1-B196DAEA7BA2}"/>
              </a:ext>
            </a:extLst>
          </p:cNvPr>
          <p:cNvSpPr/>
          <p:nvPr/>
        </p:nvSpPr>
        <p:spPr bwMode="auto">
          <a:xfrm>
            <a:off x="8600699" y="4205636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56B200-C284-4DE6-AA8D-C1279A6F1809}"/>
              </a:ext>
            </a:extLst>
          </p:cNvPr>
          <p:cNvSpPr/>
          <p:nvPr/>
        </p:nvSpPr>
        <p:spPr bwMode="auto">
          <a:xfrm>
            <a:off x="8600699" y="4621893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E6DE4D-357C-4352-A43A-81F12CD50B5C}"/>
              </a:ext>
            </a:extLst>
          </p:cNvPr>
          <p:cNvSpPr/>
          <p:nvPr/>
        </p:nvSpPr>
        <p:spPr bwMode="auto">
          <a:xfrm>
            <a:off x="2871131" y="3627163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BEF52CA-C28C-4F71-A7CB-105DC51AE8B5}"/>
              </a:ext>
            </a:extLst>
          </p:cNvPr>
          <p:cNvSpPr/>
          <p:nvPr/>
        </p:nvSpPr>
        <p:spPr bwMode="auto">
          <a:xfrm>
            <a:off x="1681548" y="3189190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A7365BE2-A781-4B8E-BF55-80AE0898B604}"/>
              </a:ext>
            </a:extLst>
          </p:cNvPr>
          <p:cNvSpPr/>
          <p:nvPr/>
        </p:nvSpPr>
        <p:spPr bwMode="auto">
          <a:xfrm>
            <a:off x="7484000" y="3601924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1FDC4A-85EF-4FE0-94D4-1C62926315B5}"/>
              </a:ext>
            </a:extLst>
          </p:cNvPr>
          <p:cNvSpPr txBox="1"/>
          <p:nvPr/>
        </p:nvSpPr>
        <p:spPr>
          <a:xfrm>
            <a:off x="7713205" y="800403"/>
            <a:ext cx="4606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(If asking for effect on net income, remember to take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after-tax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effect)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1424CE-9B2D-427F-8041-2BAFDE0B4A48}"/>
              </a:ext>
            </a:extLst>
          </p:cNvPr>
          <p:cNvSpPr txBox="1"/>
          <p:nvPr/>
        </p:nvSpPr>
        <p:spPr>
          <a:xfrm>
            <a:off x="838200" y="1459287"/>
            <a:ext cx="5572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Activity: Buys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 @ $15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each and sells 1 unit.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79EC87-F0F3-4A73-9BEB-2CFC63B76CBE}"/>
              </a:ext>
            </a:extLst>
          </p:cNvPr>
          <p:cNvSpPr txBox="1"/>
          <p:nvPr/>
        </p:nvSpPr>
        <p:spPr>
          <a:xfrm>
            <a:off x="493174" y="2383645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LIFO: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DFBA45-59D1-4739-8297-4BA7F02F61BD}"/>
              </a:ext>
            </a:extLst>
          </p:cNvPr>
          <p:cNvSpPr txBox="1"/>
          <p:nvPr/>
        </p:nvSpPr>
        <p:spPr>
          <a:xfrm>
            <a:off x="6200433" y="2378282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EB7FD4-AF48-4450-B47E-C82F75CC0418}"/>
              </a:ext>
            </a:extLst>
          </p:cNvPr>
          <p:cNvSpPr txBox="1"/>
          <p:nvPr/>
        </p:nvSpPr>
        <p:spPr>
          <a:xfrm>
            <a:off x="3429208" y="2344952"/>
            <a:ext cx="2453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6BB7A8-C82F-4D38-87AB-514EF92EE8BF}"/>
              </a:ext>
            </a:extLst>
          </p:cNvPr>
          <p:cNvSpPr txBox="1"/>
          <p:nvPr/>
        </p:nvSpPr>
        <p:spPr>
          <a:xfrm>
            <a:off x="9317987" y="2344952"/>
            <a:ext cx="230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oldest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24DD32-DCCF-4763-BEE5-11C73B74BFD4}"/>
              </a:ext>
            </a:extLst>
          </p:cNvPr>
          <p:cNvSpPr txBox="1"/>
          <p:nvPr/>
        </p:nvSpPr>
        <p:spPr>
          <a:xfrm>
            <a:off x="3090633" y="284808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355195-70F8-466E-B5AD-A141C4A2FF0F}"/>
              </a:ext>
            </a:extLst>
          </p:cNvPr>
          <p:cNvSpPr txBox="1"/>
          <p:nvPr/>
        </p:nvSpPr>
        <p:spPr>
          <a:xfrm>
            <a:off x="3057013" y="324015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E329856-C24F-4E72-BA87-EDD653BB0458}"/>
              </a:ext>
            </a:extLst>
          </p:cNvPr>
          <p:cNvSpPr txBox="1"/>
          <p:nvPr/>
        </p:nvSpPr>
        <p:spPr>
          <a:xfrm>
            <a:off x="3027128" y="368428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3067458-52A4-41D9-8D8F-350FA1882FDC}"/>
              </a:ext>
            </a:extLst>
          </p:cNvPr>
          <p:cNvSpPr txBox="1"/>
          <p:nvPr/>
        </p:nvSpPr>
        <p:spPr>
          <a:xfrm>
            <a:off x="8845980" y="3862645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8166A01-DE90-4DB9-9174-36AAA70CA2D5}"/>
              </a:ext>
            </a:extLst>
          </p:cNvPr>
          <p:cNvSpPr txBox="1"/>
          <p:nvPr/>
        </p:nvSpPr>
        <p:spPr>
          <a:xfrm>
            <a:off x="8812360" y="4254714"/>
            <a:ext cx="48282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25A564-879B-4A08-9A50-D5962D6D021D}"/>
              </a:ext>
            </a:extLst>
          </p:cNvPr>
          <p:cNvSpPr txBox="1"/>
          <p:nvPr/>
        </p:nvSpPr>
        <p:spPr>
          <a:xfrm>
            <a:off x="8782475" y="469883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A1E113A-277F-4535-8E50-E46CC216776C}"/>
              </a:ext>
            </a:extLst>
          </p:cNvPr>
          <p:cNvSpPr/>
          <p:nvPr/>
        </p:nvSpPr>
        <p:spPr>
          <a:xfrm>
            <a:off x="2737502" y="4239802"/>
            <a:ext cx="3128890" cy="866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F473780-329F-4B65-BD1F-E0672CC39746}"/>
              </a:ext>
            </a:extLst>
          </p:cNvPr>
          <p:cNvSpPr/>
          <p:nvPr/>
        </p:nvSpPr>
        <p:spPr>
          <a:xfrm>
            <a:off x="8451934" y="2642793"/>
            <a:ext cx="3128890" cy="866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882EFDE-AA50-410C-BCB7-90A415C7642B}"/>
              </a:ext>
            </a:extLst>
          </p:cNvPr>
          <p:cNvSpPr txBox="1"/>
          <p:nvPr/>
        </p:nvSpPr>
        <p:spPr>
          <a:xfrm>
            <a:off x="6214056" y="5775290"/>
            <a:ext cx="5850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Difference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COGS: </a:t>
            </a:r>
            <a:r>
              <a:rPr lang="en-US" sz="2000" noProof="0" dirty="0">
                <a:solidFill>
                  <a:srgbClr val="000000"/>
                </a:solidFill>
              </a:rPr>
              <a:t>COGS</a:t>
            </a:r>
            <a:r>
              <a:rPr lang="en-US" sz="2000" baseline="-25000" dirty="0">
                <a:solidFill>
                  <a:srgbClr val="000000"/>
                </a:solidFill>
              </a:rPr>
              <a:t>LIFO</a:t>
            </a:r>
            <a:r>
              <a:rPr lang="en-US" sz="2000" dirty="0">
                <a:solidFill>
                  <a:srgbClr val="000000"/>
                </a:solidFill>
              </a:rPr>
              <a:t> – COGS</a:t>
            </a:r>
            <a:r>
              <a:rPr lang="en-US" sz="2000" baseline="-25000" dirty="0">
                <a:solidFill>
                  <a:srgbClr val="000000"/>
                </a:solidFill>
              </a:rPr>
              <a:t>FIFO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000000"/>
                </a:solidFill>
              </a:rPr>
              <a:t>		= 10 – 5 = </a:t>
            </a:r>
            <a:r>
              <a:rPr lang="en-US" sz="2000" b="1" dirty="0">
                <a:solidFill>
                  <a:srgbClr val="000000"/>
                </a:solidFill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31EAEA9-EF12-4EE0-A361-1F13D1E718E4}"/>
              </a:ext>
            </a:extLst>
          </p:cNvPr>
          <p:cNvSpPr txBox="1"/>
          <p:nvPr/>
        </p:nvSpPr>
        <p:spPr>
          <a:xfrm>
            <a:off x="347490" y="5694444"/>
            <a:ext cx="54104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LIFO reserve 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FIFO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–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Inventory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LIFO</a:t>
            </a:r>
            <a:endParaRPr kumimoji="0" lang="en-US" sz="2000" b="0" i="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		= 40 – 30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10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BBFDC8B-274D-48B5-8A09-242DC01E07BB}"/>
              </a:ext>
            </a:extLst>
          </p:cNvPr>
          <p:cNvSpPr/>
          <p:nvPr/>
        </p:nvSpPr>
        <p:spPr>
          <a:xfrm>
            <a:off x="2663218" y="2640795"/>
            <a:ext cx="3128890" cy="1507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23CA3F0-529C-4B00-91CB-37EA6BDAC0FB}"/>
              </a:ext>
            </a:extLst>
          </p:cNvPr>
          <p:cNvSpPr/>
          <p:nvPr/>
        </p:nvSpPr>
        <p:spPr>
          <a:xfrm>
            <a:off x="8472969" y="3620638"/>
            <a:ext cx="3149469" cy="14851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4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7" grpId="0"/>
      <p:bldP spid="28" grpId="0"/>
      <p:bldP spid="34" grpId="0" animBg="1"/>
      <p:bldP spid="35" grpId="0" animBg="1"/>
      <p:bldP spid="36" grpId="0" animBg="1"/>
      <p:bldP spid="43" grpId="0"/>
      <p:bldP spid="44" grpId="0"/>
      <p:bldP spid="61" grpId="0" animBg="1"/>
      <p:bldP spid="62" grpId="0" animBg="1"/>
      <p:bldP spid="63" grpId="0" animBg="1"/>
      <p:bldP spid="64" grpId="0" animBg="1"/>
      <p:bldP spid="66" grpId="0"/>
      <p:bldP spid="49" grpId="0" animBg="1"/>
      <p:bldP spid="50" grpId="0" animBg="1"/>
      <p:bldP spid="51" grpId="0" animBg="1"/>
      <p:bldP spid="67" grpId="0" animBg="1"/>
      <p:bldP spid="68" grpId="0" animBg="1"/>
      <p:bldP spid="69" grpId="0" animBg="1"/>
      <p:bldP spid="10" grpId="0" animBg="1"/>
      <p:bldP spid="72" grpId="0" animBg="1"/>
      <p:bldP spid="81" grpId="0"/>
      <p:bldP spid="82" grpId="0"/>
      <p:bldP spid="83" grpId="0"/>
      <p:bldP spid="88" grpId="0"/>
      <p:bldP spid="89" grpId="0"/>
      <p:bldP spid="90" grpId="0" animBg="1"/>
      <p:bldP spid="91" grpId="0"/>
      <p:bldP spid="95" grpId="0" animBg="1"/>
      <p:bldP spid="96" grpId="0" animBg="1"/>
      <p:bldP spid="97" grpId="0"/>
      <p:bldP spid="98" grpId="0"/>
      <p:bldP spid="99" grpId="0" animBg="1"/>
      <p:bldP spid="10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571842-C9CF-44CF-91B8-3BE94C88496F}"/>
              </a:ext>
            </a:extLst>
          </p:cNvPr>
          <p:cNvSpPr/>
          <p:nvPr/>
        </p:nvSpPr>
        <p:spPr bwMode="auto">
          <a:xfrm>
            <a:off x="379531" y="2333875"/>
            <a:ext cx="5582855" cy="28077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5A325A-0BA2-49FA-97DB-DD90F36A2760}"/>
              </a:ext>
            </a:extLst>
          </p:cNvPr>
          <p:cNvSpPr/>
          <p:nvPr/>
        </p:nvSpPr>
        <p:spPr bwMode="auto">
          <a:xfrm>
            <a:off x="6137278" y="2333875"/>
            <a:ext cx="5582855" cy="28077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issues (Year 3)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5EBD3-5EAE-4CC3-980E-6D7F0BBF7965}"/>
              </a:ext>
            </a:extLst>
          </p:cNvPr>
          <p:cNvSpPr/>
          <p:nvPr/>
        </p:nvSpPr>
        <p:spPr bwMode="auto">
          <a:xfrm>
            <a:off x="746628" y="4031230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EBE56-0E3F-4D17-9DED-203EF49FEB4D}"/>
              </a:ext>
            </a:extLst>
          </p:cNvPr>
          <p:cNvSpPr/>
          <p:nvPr/>
        </p:nvSpPr>
        <p:spPr bwMode="auto">
          <a:xfrm>
            <a:off x="2871132" y="2786931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D3815-5F97-4068-B1A9-194D259D0741}"/>
              </a:ext>
            </a:extLst>
          </p:cNvPr>
          <p:cNvSpPr/>
          <p:nvPr/>
        </p:nvSpPr>
        <p:spPr bwMode="auto">
          <a:xfrm>
            <a:off x="2982589" y="270187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4876E-59D4-4478-93A7-B9F0F7EA3BFD}"/>
              </a:ext>
            </a:extLst>
          </p:cNvPr>
          <p:cNvSpPr/>
          <p:nvPr/>
        </p:nvSpPr>
        <p:spPr bwMode="auto">
          <a:xfrm>
            <a:off x="3435239" y="270187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C0C1B-604C-46A9-B995-B1ABF4AB09E1}"/>
              </a:ext>
            </a:extLst>
          </p:cNvPr>
          <p:cNvSpPr txBox="1"/>
          <p:nvPr/>
        </p:nvSpPr>
        <p:spPr>
          <a:xfrm>
            <a:off x="2724206" y="4805516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$15 = $15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A96634-FE40-4B4D-9569-66DC2DDDE020}"/>
              </a:ext>
            </a:extLst>
          </p:cNvPr>
          <p:cNvSpPr/>
          <p:nvPr/>
        </p:nvSpPr>
        <p:spPr bwMode="auto">
          <a:xfrm>
            <a:off x="2871132" y="4389259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71811-8F26-4659-BACB-3861202DC055}"/>
              </a:ext>
            </a:extLst>
          </p:cNvPr>
          <p:cNvSpPr/>
          <p:nvPr/>
        </p:nvSpPr>
        <p:spPr bwMode="auto">
          <a:xfrm>
            <a:off x="2982589" y="4303483"/>
            <a:ext cx="216089" cy="818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9B56C1-408E-4297-95EE-CC03B2485D4A}"/>
              </a:ext>
            </a:extLst>
          </p:cNvPr>
          <p:cNvSpPr/>
          <p:nvPr/>
        </p:nvSpPr>
        <p:spPr bwMode="auto">
          <a:xfrm>
            <a:off x="3435239" y="4303483"/>
            <a:ext cx="216089" cy="818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5316C9-1C1B-489B-9B12-0D1902EB2D33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V="1">
            <a:off x="1807049" y="3328847"/>
            <a:ext cx="917157" cy="48949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54D91E-4D48-4CDC-A166-F4340B337E51}"/>
              </a:ext>
            </a:extLst>
          </p:cNvPr>
          <p:cNvCxnSpPr>
            <a:cxnSpLocks/>
          </p:cNvCxnSpPr>
          <p:nvPr/>
        </p:nvCxnSpPr>
        <p:spPr bwMode="auto">
          <a:xfrm>
            <a:off x="1874842" y="4650243"/>
            <a:ext cx="84936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D5A80C-7283-4C84-943D-57378DF2E0CB}"/>
              </a:ext>
            </a:extLst>
          </p:cNvPr>
          <p:cNvSpPr txBox="1"/>
          <p:nvPr/>
        </p:nvSpPr>
        <p:spPr>
          <a:xfrm>
            <a:off x="3891513" y="3071363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EC8DFE-6F9E-4914-A798-FC4DA02D9C2B}"/>
              </a:ext>
            </a:extLst>
          </p:cNvPr>
          <p:cNvSpPr txBox="1"/>
          <p:nvPr/>
        </p:nvSpPr>
        <p:spPr>
          <a:xfrm>
            <a:off x="3891513" y="434246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EA813F-A3A1-4CD3-893E-55EED8045692}"/>
              </a:ext>
            </a:extLst>
          </p:cNvPr>
          <p:cNvSpPr/>
          <p:nvPr/>
        </p:nvSpPr>
        <p:spPr bwMode="auto">
          <a:xfrm>
            <a:off x="8600699" y="2781572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rgbClr val="3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895B40-929F-47D0-8021-5A71875B690A}"/>
              </a:ext>
            </a:extLst>
          </p:cNvPr>
          <p:cNvSpPr/>
          <p:nvPr/>
        </p:nvSpPr>
        <p:spPr bwMode="auto">
          <a:xfrm>
            <a:off x="8712156" y="2694130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CF440-475B-47B9-BAE9-76C3FFEC23FC}"/>
              </a:ext>
            </a:extLst>
          </p:cNvPr>
          <p:cNvSpPr/>
          <p:nvPr/>
        </p:nvSpPr>
        <p:spPr bwMode="auto">
          <a:xfrm>
            <a:off x="9164806" y="2694130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BD3FF0-405F-472F-87DE-DB3578F79C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679" y="2995059"/>
            <a:ext cx="948094" cy="37442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93BDD3-90E2-45AB-A895-39AFA7FF65DD}"/>
              </a:ext>
            </a:extLst>
          </p:cNvPr>
          <p:cNvCxnSpPr>
            <a:cxnSpLocks/>
          </p:cNvCxnSpPr>
          <p:nvPr/>
        </p:nvCxnSpPr>
        <p:spPr bwMode="auto">
          <a:xfrm>
            <a:off x="7606420" y="4231072"/>
            <a:ext cx="807315" cy="1911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9CAC157-7421-49D7-804F-74F24AFE6C4C}"/>
              </a:ext>
            </a:extLst>
          </p:cNvPr>
          <p:cNvSpPr txBox="1"/>
          <p:nvPr/>
        </p:nvSpPr>
        <p:spPr>
          <a:xfrm>
            <a:off x="9621080" y="2835811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58078C-6CB1-4FE7-99B7-B891762067AA}"/>
              </a:ext>
            </a:extLst>
          </p:cNvPr>
          <p:cNvSpPr txBox="1"/>
          <p:nvPr/>
        </p:nvSpPr>
        <p:spPr>
          <a:xfrm>
            <a:off x="9622546" y="4384856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D09264-4497-44CB-A7AC-27D3161B4B5C}"/>
              </a:ext>
            </a:extLst>
          </p:cNvPr>
          <p:cNvSpPr/>
          <p:nvPr/>
        </p:nvSpPr>
        <p:spPr bwMode="auto">
          <a:xfrm>
            <a:off x="750459" y="318566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269A32-7257-421A-BF10-5BA08B097699}"/>
              </a:ext>
            </a:extLst>
          </p:cNvPr>
          <p:cNvSpPr/>
          <p:nvPr/>
        </p:nvSpPr>
        <p:spPr bwMode="auto">
          <a:xfrm>
            <a:off x="843102" y="3105807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B0F1AB-9714-48D8-827A-C52086309B37}"/>
              </a:ext>
            </a:extLst>
          </p:cNvPr>
          <p:cNvSpPr/>
          <p:nvPr/>
        </p:nvSpPr>
        <p:spPr bwMode="auto">
          <a:xfrm>
            <a:off x="1308216" y="3100606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F32883-D1CF-4C25-9744-502359427367}"/>
              </a:ext>
            </a:extLst>
          </p:cNvPr>
          <p:cNvSpPr/>
          <p:nvPr/>
        </p:nvSpPr>
        <p:spPr bwMode="auto">
          <a:xfrm>
            <a:off x="746628" y="3608623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2AFD393-27B6-47D0-98DE-4F9855A65D10}"/>
              </a:ext>
            </a:extLst>
          </p:cNvPr>
          <p:cNvSpPr/>
          <p:nvPr/>
        </p:nvSpPr>
        <p:spPr bwMode="auto">
          <a:xfrm>
            <a:off x="6439564" y="3165159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rgbClr val="3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5EAE6C7-03EC-4281-9FF3-63CF65496263}"/>
              </a:ext>
            </a:extLst>
          </p:cNvPr>
          <p:cNvSpPr/>
          <p:nvPr/>
        </p:nvSpPr>
        <p:spPr bwMode="auto">
          <a:xfrm>
            <a:off x="6552325" y="308144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rgbClr val="B00000"/>
              </a:gs>
              <a:gs pos="65000">
                <a:srgbClr val="B00000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D6816-E260-4FB0-86DD-81839A3136FC}"/>
              </a:ext>
            </a:extLst>
          </p:cNvPr>
          <p:cNvSpPr/>
          <p:nvPr/>
        </p:nvSpPr>
        <p:spPr bwMode="auto">
          <a:xfrm>
            <a:off x="7004975" y="308144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3">
                  <a:lumMod val="75000"/>
                  <a:lumOff val="25000"/>
                </a:schemeClr>
              </a:gs>
              <a:gs pos="65000">
                <a:schemeClr val="accent3">
                  <a:lumMod val="75000"/>
                  <a:lumOff val="2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1584F6-42B3-4D7A-BAC3-5B27DBA8DD60}"/>
              </a:ext>
            </a:extLst>
          </p:cNvPr>
          <p:cNvSpPr/>
          <p:nvPr/>
        </p:nvSpPr>
        <p:spPr bwMode="auto">
          <a:xfrm>
            <a:off x="6439561" y="3581416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38EFD7-7A6D-46B2-BC83-8CB7872A30BF}"/>
              </a:ext>
            </a:extLst>
          </p:cNvPr>
          <p:cNvSpPr/>
          <p:nvPr/>
        </p:nvSpPr>
        <p:spPr bwMode="auto">
          <a:xfrm>
            <a:off x="2871132" y="3203188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3A33A5-5FE5-4C01-A6E1-6B500C411C83}"/>
              </a:ext>
            </a:extLst>
          </p:cNvPr>
          <p:cNvSpPr/>
          <p:nvPr/>
        </p:nvSpPr>
        <p:spPr bwMode="auto">
          <a:xfrm>
            <a:off x="8600699" y="3783931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53B272-2DDA-4A0D-B0F3-15E739CB9048}"/>
              </a:ext>
            </a:extLst>
          </p:cNvPr>
          <p:cNvSpPr/>
          <p:nvPr/>
        </p:nvSpPr>
        <p:spPr bwMode="auto">
          <a:xfrm>
            <a:off x="8712156" y="369715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D505341-E387-4AE6-AF54-C77A4654D92A}"/>
              </a:ext>
            </a:extLst>
          </p:cNvPr>
          <p:cNvSpPr/>
          <p:nvPr/>
        </p:nvSpPr>
        <p:spPr bwMode="auto">
          <a:xfrm>
            <a:off x="9164806" y="369715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9A11AC-298F-44A7-9F63-38851C499D07}"/>
              </a:ext>
            </a:extLst>
          </p:cNvPr>
          <p:cNvSpPr txBox="1"/>
          <p:nvPr/>
        </p:nvSpPr>
        <p:spPr>
          <a:xfrm>
            <a:off x="8472200" y="3203092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$10 = $10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A07819-E6AB-4B7C-BD11-1CED6A047F10}"/>
              </a:ext>
            </a:extLst>
          </p:cNvPr>
          <p:cNvSpPr/>
          <p:nvPr/>
        </p:nvSpPr>
        <p:spPr bwMode="auto">
          <a:xfrm>
            <a:off x="746628" y="4447487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90397D-0DA4-44CB-A129-AB551A4CF19A}"/>
              </a:ext>
            </a:extLst>
          </p:cNvPr>
          <p:cNvSpPr/>
          <p:nvPr/>
        </p:nvSpPr>
        <p:spPr bwMode="auto">
          <a:xfrm>
            <a:off x="6439802" y="4005950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8DE1D4-D065-44A7-9848-2ABF71FF144B}"/>
              </a:ext>
            </a:extLst>
          </p:cNvPr>
          <p:cNvSpPr/>
          <p:nvPr/>
        </p:nvSpPr>
        <p:spPr bwMode="auto">
          <a:xfrm>
            <a:off x="6439802" y="4422207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F3B9FD-DA4B-425E-B9E1-B196DAEA7BA2}"/>
              </a:ext>
            </a:extLst>
          </p:cNvPr>
          <p:cNvSpPr/>
          <p:nvPr/>
        </p:nvSpPr>
        <p:spPr bwMode="auto">
          <a:xfrm>
            <a:off x="8600699" y="4205636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56B200-C284-4DE6-AA8D-C1279A6F1809}"/>
              </a:ext>
            </a:extLst>
          </p:cNvPr>
          <p:cNvSpPr/>
          <p:nvPr/>
        </p:nvSpPr>
        <p:spPr bwMode="auto">
          <a:xfrm>
            <a:off x="8600699" y="4621893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E6DE4D-357C-4352-A43A-81F12CD50B5C}"/>
              </a:ext>
            </a:extLst>
          </p:cNvPr>
          <p:cNvSpPr/>
          <p:nvPr/>
        </p:nvSpPr>
        <p:spPr bwMode="auto">
          <a:xfrm>
            <a:off x="2871131" y="3627163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BEF52CA-C28C-4F71-A7CB-105DC51AE8B5}"/>
              </a:ext>
            </a:extLst>
          </p:cNvPr>
          <p:cNvSpPr/>
          <p:nvPr/>
        </p:nvSpPr>
        <p:spPr bwMode="auto">
          <a:xfrm>
            <a:off x="1681548" y="3189190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A7365BE2-A781-4B8E-BF55-80AE0898B604}"/>
              </a:ext>
            </a:extLst>
          </p:cNvPr>
          <p:cNvSpPr/>
          <p:nvPr/>
        </p:nvSpPr>
        <p:spPr bwMode="auto">
          <a:xfrm>
            <a:off x="7484000" y="3601924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1424CE-9B2D-427F-8041-2BAFDE0B4A48}"/>
              </a:ext>
            </a:extLst>
          </p:cNvPr>
          <p:cNvSpPr txBox="1"/>
          <p:nvPr/>
        </p:nvSpPr>
        <p:spPr>
          <a:xfrm>
            <a:off x="838200" y="1459287"/>
            <a:ext cx="5572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Activity: Buys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 @ $15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each and sells 1 unit.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79EC87-F0F3-4A73-9BEB-2CFC63B76CBE}"/>
              </a:ext>
            </a:extLst>
          </p:cNvPr>
          <p:cNvSpPr txBox="1"/>
          <p:nvPr/>
        </p:nvSpPr>
        <p:spPr>
          <a:xfrm>
            <a:off x="493174" y="2383645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LIFO: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DFBA45-59D1-4739-8297-4BA7F02F61BD}"/>
              </a:ext>
            </a:extLst>
          </p:cNvPr>
          <p:cNvSpPr txBox="1"/>
          <p:nvPr/>
        </p:nvSpPr>
        <p:spPr>
          <a:xfrm>
            <a:off x="6200433" y="2378282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EB7FD4-AF48-4450-B47E-C82F75CC0418}"/>
              </a:ext>
            </a:extLst>
          </p:cNvPr>
          <p:cNvSpPr txBox="1"/>
          <p:nvPr/>
        </p:nvSpPr>
        <p:spPr>
          <a:xfrm>
            <a:off x="3429208" y="2344952"/>
            <a:ext cx="2453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6BB7A8-C82F-4D38-87AB-514EF92EE8BF}"/>
              </a:ext>
            </a:extLst>
          </p:cNvPr>
          <p:cNvSpPr txBox="1"/>
          <p:nvPr/>
        </p:nvSpPr>
        <p:spPr>
          <a:xfrm>
            <a:off x="9317987" y="2344952"/>
            <a:ext cx="230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oldest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24DD32-DCCF-4763-BEE5-11C73B74BFD4}"/>
              </a:ext>
            </a:extLst>
          </p:cNvPr>
          <p:cNvSpPr txBox="1"/>
          <p:nvPr/>
        </p:nvSpPr>
        <p:spPr>
          <a:xfrm>
            <a:off x="3090633" y="284808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355195-70F8-466E-B5AD-A141C4A2FF0F}"/>
              </a:ext>
            </a:extLst>
          </p:cNvPr>
          <p:cNvSpPr txBox="1"/>
          <p:nvPr/>
        </p:nvSpPr>
        <p:spPr>
          <a:xfrm>
            <a:off x="3057013" y="324015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E329856-C24F-4E72-BA87-EDD653BB0458}"/>
              </a:ext>
            </a:extLst>
          </p:cNvPr>
          <p:cNvSpPr txBox="1"/>
          <p:nvPr/>
        </p:nvSpPr>
        <p:spPr>
          <a:xfrm>
            <a:off x="3027128" y="368428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3067458-52A4-41D9-8D8F-350FA1882FDC}"/>
              </a:ext>
            </a:extLst>
          </p:cNvPr>
          <p:cNvSpPr txBox="1"/>
          <p:nvPr/>
        </p:nvSpPr>
        <p:spPr>
          <a:xfrm>
            <a:off x="8845980" y="3862645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8166A01-DE90-4DB9-9174-36AAA70CA2D5}"/>
              </a:ext>
            </a:extLst>
          </p:cNvPr>
          <p:cNvSpPr txBox="1"/>
          <p:nvPr/>
        </p:nvSpPr>
        <p:spPr>
          <a:xfrm>
            <a:off x="8812360" y="4254714"/>
            <a:ext cx="48282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25A564-879B-4A08-9A50-D5962D6D021D}"/>
              </a:ext>
            </a:extLst>
          </p:cNvPr>
          <p:cNvSpPr txBox="1"/>
          <p:nvPr/>
        </p:nvSpPr>
        <p:spPr>
          <a:xfrm>
            <a:off x="8782475" y="469883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882EFDE-AA50-410C-BCB7-90A415C7642B}"/>
              </a:ext>
            </a:extLst>
          </p:cNvPr>
          <p:cNvSpPr txBox="1"/>
          <p:nvPr/>
        </p:nvSpPr>
        <p:spPr>
          <a:xfrm>
            <a:off x="6214056" y="5669748"/>
            <a:ext cx="58509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Difference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COGS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noProof="0" dirty="0">
                <a:solidFill>
                  <a:srgbClr val="000000"/>
                </a:solidFill>
              </a:rPr>
              <a:t>= COGS</a:t>
            </a:r>
            <a:r>
              <a:rPr lang="en-US" sz="2000" baseline="-25000" dirty="0">
                <a:solidFill>
                  <a:srgbClr val="000000"/>
                </a:solidFill>
              </a:rPr>
              <a:t>LIFO</a:t>
            </a:r>
            <a:r>
              <a:rPr lang="en-US" sz="2000" dirty="0">
                <a:solidFill>
                  <a:srgbClr val="000000"/>
                </a:solidFill>
              </a:rPr>
              <a:t> – COGS</a:t>
            </a:r>
            <a:r>
              <a:rPr lang="en-US" sz="2000" baseline="-25000" dirty="0">
                <a:solidFill>
                  <a:srgbClr val="000000"/>
                </a:solidFill>
              </a:rPr>
              <a:t>FIFO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000000"/>
                </a:solidFill>
              </a:rPr>
              <a:t>= 10 – 5 = </a:t>
            </a:r>
            <a:r>
              <a:rPr lang="en-US" sz="2000" b="1" dirty="0">
                <a:solidFill>
                  <a:srgbClr val="FF0000"/>
                </a:solidFill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31EAEA9-EF12-4EE0-A361-1F13D1E718E4}"/>
              </a:ext>
            </a:extLst>
          </p:cNvPr>
          <p:cNvSpPr txBox="1"/>
          <p:nvPr/>
        </p:nvSpPr>
        <p:spPr>
          <a:xfrm>
            <a:off x="347490" y="5694444"/>
            <a:ext cx="547278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Change in LIFO reserve 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= LIFO Reserve Year 3 – LIFO Reserve Year 2</a:t>
            </a:r>
            <a:endParaRPr kumimoji="0" lang="en-US" sz="2000" b="0" i="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= 10 – 5 =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FA98E4B-069C-4940-AA92-02AF11C48780}"/>
              </a:ext>
            </a:extLst>
          </p:cNvPr>
          <p:cNvSpPr txBox="1"/>
          <p:nvPr/>
        </p:nvSpPr>
        <p:spPr>
          <a:xfrm>
            <a:off x="3001665" y="5288189"/>
            <a:ext cx="5729454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Change in LIFO reserve </a:t>
            </a:r>
            <a:r>
              <a:rPr lang="en-US" sz="2000" b="1" dirty="0">
                <a:latin typeface="Arial"/>
              </a:rPr>
              <a:t>= Difference in COGS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F021BC9-CD0B-4C30-8202-1781568215B8}"/>
              </a:ext>
            </a:extLst>
          </p:cNvPr>
          <p:cNvSpPr/>
          <p:nvPr/>
        </p:nvSpPr>
        <p:spPr>
          <a:xfrm>
            <a:off x="1828800" y="6565900"/>
            <a:ext cx="5664200" cy="241690"/>
          </a:xfrm>
          <a:custGeom>
            <a:avLst/>
            <a:gdLst>
              <a:gd name="connsiteX0" fmla="*/ 0 w 5664200"/>
              <a:gd name="connsiteY0" fmla="*/ 0 h 241690"/>
              <a:gd name="connsiteX1" fmla="*/ 3759200 w 5664200"/>
              <a:gd name="connsiteY1" fmla="*/ 241300 h 241690"/>
              <a:gd name="connsiteX2" fmla="*/ 5664200 w 5664200"/>
              <a:gd name="connsiteY2" fmla="*/ 25400 h 24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64200" h="241690">
                <a:moveTo>
                  <a:pt x="0" y="0"/>
                </a:moveTo>
                <a:cubicBezTo>
                  <a:pt x="1407583" y="118533"/>
                  <a:pt x="2815167" y="237067"/>
                  <a:pt x="3759200" y="241300"/>
                </a:cubicBezTo>
                <a:cubicBezTo>
                  <a:pt x="4703233" y="245533"/>
                  <a:pt x="5346700" y="218017"/>
                  <a:pt x="5664200" y="2540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3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 animBg="1"/>
      <p:bldP spid="65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Terminology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>
          <a:xfrm>
            <a:off x="400049" y="1219203"/>
            <a:ext cx="11195051" cy="5137149"/>
          </a:xfrm>
        </p:spPr>
        <p:txBody>
          <a:bodyPr>
            <a:normAutofit/>
          </a:bodyPr>
          <a:lstStyle/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 under FIFO minus inventory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Sheet: 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=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FIFO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-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LIFO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lvl="2">
              <a:buSzPct val="50000"/>
              <a:buFont typeface="Wingdings" panose="05000000000000000000" pitchFamily="2" charset="2"/>
              <a:buChar char="m"/>
            </a:pP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vs. FIFO Effect on Income 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Difference in COGS/Income between LIFO and FIFO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COGS </a:t>
            </a:r>
            <a:r>
              <a:rPr lang="en-US" altLang="en-US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usually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higher under LIFO than FIFO, and therefore income usually lower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Statement: </a:t>
            </a:r>
            <a:r>
              <a:rPr lang="el-GR" altLang="en-US" sz="2000" b="1" dirty="0">
                <a:solidFill>
                  <a:srgbClr val="0070C0"/>
                </a:solidFill>
              </a:rPr>
              <a:t>Δ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(End Minus Beginning) = COGS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LIFO</a:t>
            </a:r>
            <a:r>
              <a:rPr lang="en-US" altLang="en-US" sz="2000" b="1" dirty="0">
                <a:solidFill>
                  <a:srgbClr val="0070C0"/>
                </a:solidFill>
              </a:rPr>
              <a:t> – COGS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FIFO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tax effect on net income: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income would have been this might higher / (lower) under FIFO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r>
              <a:rPr lang="el-GR" altLang="en-US" sz="1800" b="1" dirty="0">
                <a:solidFill>
                  <a:srgbClr val="0070C0"/>
                </a:solidFill>
              </a:rPr>
              <a:t>Δ</a:t>
            </a:r>
            <a:r>
              <a:rPr lang="en-US" altLang="en-US" sz="1800" b="1" dirty="0">
                <a:solidFill>
                  <a:srgbClr val="0070C0"/>
                </a:solidFill>
              </a:rPr>
              <a:t>LIFO Reserve x (1 – tax rate)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endParaRPr lang="en-US" altLang="en-US" b="1" dirty="0">
              <a:solidFill>
                <a:srgbClr val="0070C0"/>
              </a:solidFill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2"/>
            <a:ext cx="81760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21DBF-325B-3546-BAAF-4F6E3B3181FF}" type="slidenum">
              <a:rPr lang="en-US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14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Terminology</a:t>
            </a:r>
          </a:p>
        </p:txBody>
      </p:sp>
      <p:sp>
        <p:nvSpPr>
          <p:cNvPr id="72707" name="Content Placeholder 1"/>
          <p:cNvSpPr>
            <a:spLocks noGrp="1"/>
          </p:cNvSpPr>
          <p:nvPr>
            <p:ph idx="1"/>
          </p:nvPr>
        </p:nvSpPr>
        <p:spPr>
          <a:xfrm>
            <a:off x="400049" y="1219203"/>
            <a:ext cx="11195051" cy="5137149"/>
          </a:xfrm>
        </p:spPr>
        <p:txBody>
          <a:bodyPr>
            <a:normAutofit/>
          </a:bodyPr>
          <a:lstStyle/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 under FIFO minus inventory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Sheet: 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=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FIFO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- </a:t>
            </a:r>
            <a:r>
              <a:rPr lang="en-US" altLang="en-US" sz="2000" b="1" dirty="0" err="1">
                <a:solidFill>
                  <a:srgbClr val="0070C0"/>
                </a:solidFill>
              </a:rPr>
              <a:t>Inventory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LIFO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lvl="2">
              <a:buSzPct val="50000"/>
              <a:buFont typeface="Wingdings" panose="05000000000000000000" pitchFamily="2" charset="2"/>
              <a:buChar char="m"/>
            </a:pP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vs. FIFO Effect on Income 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Difference in COGS/Income between LIFO and FIFO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COGS </a:t>
            </a:r>
            <a:r>
              <a:rPr lang="en-US" altLang="en-US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usually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higher under LIFO than FIFO, and therefore income usually lower under LIFO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Statement: </a:t>
            </a:r>
            <a:r>
              <a:rPr lang="el-GR" altLang="en-US" sz="2000" b="1" dirty="0">
                <a:solidFill>
                  <a:srgbClr val="0070C0"/>
                </a:solidFill>
              </a:rPr>
              <a:t>Δ</a:t>
            </a:r>
            <a:r>
              <a:rPr lang="en-US" altLang="en-US" sz="2000" b="1" dirty="0">
                <a:solidFill>
                  <a:srgbClr val="0070C0"/>
                </a:solidFill>
              </a:rPr>
              <a:t>LIFO Reserve (End Minus Beginning) = COGS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LIFO</a:t>
            </a:r>
            <a:r>
              <a:rPr lang="en-US" altLang="en-US" sz="2000" b="1" dirty="0">
                <a:solidFill>
                  <a:srgbClr val="0070C0"/>
                </a:solidFill>
              </a:rPr>
              <a:t> – COGS</a:t>
            </a:r>
            <a:r>
              <a:rPr lang="en-US" altLang="en-US" sz="2000" b="1" baseline="-25000" dirty="0">
                <a:solidFill>
                  <a:srgbClr val="0070C0"/>
                </a:solidFill>
              </a:rPr>
              <a:t>FIFO</a:t>
            </a:r>
          </a:p>
          <a:p>
            <a:pPr lvl="2">
              <a:buSzPct val="50000"/>
              <a:buFont typeface="Wingdings" panose="05000000000000000000" pitchFamily="2" charset="2"/>
              <a:buChar char="m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tax effect on net income: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income would have been this might higher / (lower) under FIFO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r>
              <a:rPr lang="el-GR" altLang="en-US" sz="1800" b="1" dirty="0">
                <a:solidFill>
                  <a:srgbClr val="0070C0"/>
                </a:solidFill>
              </a:rPr>
              <a:t>Δ</a:t>
            </a:r>
            <a:r>
              <a:rPr lang="en-US" altLang="en-US" sz="1800" b="1" dirty="0">
                <a:solidFill>
                  <a:srgbClr val="0070C0"/>
                </a:solidFill>
              </a:rPr>
              <a:t>LIFO Reserve x (1 – tax rate)</a:t>
            </a:r>
          </a:p>
          <a:p>
            <a:pPr lvl="3">
              <a:buSzPct val="50000"/>
              <a:buFont typeface="Wingdings" panose="05000000000000000000" pitchFamily="2" charset="2"/>
              <a:buChar char="m"/>
            </a:pPr>
            <a:endParaRPr lang="en-US" altLang="en-US" b="1" dirty="0">
              <a:solidFill>
                <a:srgbClr val="0070C0"/>
              </a:solidFill>
            </a:endParaRPr>
          </a:p>
          <a:p>
            <a:pPr lvl="1">
              <a:buSzPct val="50000"/>
              <a:buFont typeface="Wingdings" panose="05000000000000000000" pitchFamily="2" charset="2"/>
              <a:buChar char="m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LIFO Layers</a:t>
            </a:r>
          </a:p>
          <a:p>
            <a:pPr lvl="1">
              <a:buSzPct val="50000"/>
              <a:buFont typeface="Wingdings" panose="05000000000000000000" pitchFamily="2" charset="2"/>
              <a:buChar char="m"/>
            </a:pPr>
            <a:endParaRPr lang="en-US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2"/>
            <a:ext cx="81760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21DBF-325B-3546-BAAF-4F6E3B3181FF}" type="slidenum">
              <a:rPr lang="en-US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8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571842-C9CF-44CF-91B8-3BE94C88496F}"/>
              </a:ext>
            </a:extLst>
          </p:cNvPr>
          <p:cNvSpPr/>
          <p:nvPr/>
        </p:nvSpPr>
        <p:spPr bwMode="auto">
          <a:xfrm>
            <a:off x="379531" y="2333875"/>
            <a:ext cx="5582855" cy="28077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5A325A-0BA2-49FA-97DB-DD90F36A2760}"/>
              </a:ext>
            </a:extLst>
          </p:cNvPr>
          <p:cNvSpPr/>
          <p:nvPr/>
        </p:nvSpPr>
        <p:spPr bwMode="auto">
          <a:xfrm>
            <a:off x="6137278" y="2333875"/>
            <a:ext cx="5582855" cy="28077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51F72-4484-47B5-AA4A-59390D61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issues (Year 3)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5EBD3-5EAE-4CC3-980E-6D7F0BBF7965}"/>
              </a:ext>
            </a:extLst>
          </p:cNvPr>
          <p:cNvSpPr/>
          <p:nvPr/>
        </p:nvSpPr>
        <p:spPr bwMode="auto">
          <a:xfrm>
            <a:off x="746628" y="4031230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EBE56-0E3F-4D17-9DED-203EF49FEB4D}"/>
              </a:ext>
            </a:extLst>
          </p:cNvPr>
          <p:cNvSpPr/>
          <p:nvPr/>
        </p:nvSpPr>
        <p:spPr bwMode="auto">
          <a:xfrm>
            <a:off x="2871132" y="2786931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D3815-5F97-4068-B1A9-194D259D0741}"/>
              </a:ext>
            </a:extLst>
          </p:cNvPr>
          <p:cNvSpPr/>
          <p:nvPr/>
        </p:nvSpPr>
        <p:spPr bwMode="auto">
          <a:xfrm>
            <a:off x="2982589" y="270187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4876E-59D4-4478-93A7-B9F0F7EA3BFD}"/>
              </a:ext>
            </a:extLst>
          </p:cNvPr>
          <p:cNvSpPr/>
          <p:nvPr/>
        </p:nvSpPr>
        <p:spPr bwMode="auto">
          <a:xfrm>
            <a:off x="3435239" y="2701870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C0C1B-604C-46A9-B995-B1ABF4AB09E1}"/>
              </a:ext>
            </a:extLst>
          </p:cNvPr>
          <p:cNvSpPr txBox="1"/>
          <p:nvPr/>
        </p:nvSpPr>
        <p:spPr>
          <a:xfrm>
            <a:off x="2724206" y="4805516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$15 = $15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A96634-FE40-4B4D-9569-66DC2DDDE020}"/>
              </a:ext>
            </a:extLst>
          </p:cNvPr>
          <p:cNvSpPr/>
          <p:nvPr/>
        </p:nvSpPr>
        <p:spPr bwMode="auto">
          <a:xfrm>
            <a:off x="2871132" y="4389259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71811-8F26-4659-BACB-3861202DC055}"/>
              </a:ext>
            </a:extLst>
          </p:cNvPr>
          <p:cNvSpPr/>
          <p:nvPr/>
        </p:nvSpPr>
        <p:spPr bwMode="auto">
          <a:xfrm>
            <a:off x="2982589" y="4303483"/>
            <a:ext cx="216089" cy="818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9B56C1-408E-4297-95EE-CC03B2485D4A}"/>
              </a:ext>
            </a:extLst>
          </p:cNvPr>
          <p:cNvSpPr/>
          <p:nvPr/>
        </p:nvSpPr>
        <p:spPr bwMode="auto">
          <a:xfrm>
            <a:off x="3435239" y="4303483"/>
            <a:ext cx="216089" cy="818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5316C9-1C1B-489B-9B12-0D1902EB2D33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V="1">
            <a:off x="1807049" y="3328847"/>
            <a:ext cx="917157" cy="48949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54D91E-4D48-4CDC-A166-F4340B337E51}"/>
              </a:ext>
            </a:extLst>
          </p:cNvPr>
          <p:cNvCxnSpPr>
            <a:cxnSpLocks/>
          </p:cNvCxnSpPr>
          <p:nvPr/>
        </p:nvCxnSpPr>
        <p:spPr bwMode="auto">
          <a:xfrm>
            <a:off x="1874842" y="4650243"/>
            <a:ext cx="84936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D5A80C-7283-4C84-943D-57378DF2E0CB}"/>
              </a:ext>
            </a:extLst>
          </p:cNvPr>
          <p:cNvSpPr txBox="1"/>
          <p:nvPr/>
        </p:nvSpPr>
        <p:spPr>
          <a:xfrm>
            <a:off x="3891513" y="3071363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EC8DFE-6F9E-4914-A798-FC4DA02D9C2B}"/>
              </a:ext>
            </a:extLst>
          </p:cNvPr>
          <p:cNvSpPr txBox="1"/>
          <p:nvPr/>
        </p:nvSpPr>
        <p:spPr>
          <a:xfrm>
            <a:off x="3891513" y="434246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EA813F-A3A1-4CD3-893E-55EED8045692}"/>
              </a:ext>
            </a:extLst>
          </p:cNvPr>
          <p:cNvSpPr/>
          <p:nvPr/>
        </p:nvSpPr>
        <p:spPr bwMode="auto">
          <a:xfrm>
            <a:off x="8600699" y="2781572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rgbClr val="3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895B40-929F-47D0-8021-5A71875B690A}"/>
              </a:ext>
            </a:extLst>
          </p:cNvPr>
          <p:cNvSpPr/>
          <p:nvPr/>
        </p:nvSpPr>
        <p:spPr bwMode="auto">
          <a:xfrm>
            <a:off x="8712156" y="2694130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CF440-475B-47B9-BAE9-76C3FFEC23FC}"/>
              </a:ext>
            </a:extLst>
          </p:cNvPr>
          <p:cNvSpPr/>
          <p:nvPr/>
        </p:nvSpPr>
        <p:spPr bwMode="auto">
          <a:xfrm>
            <a:off x="9164806" y="2694130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BD3FF0-405F-472F-87DE-DB3578F79C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679" y="2995059"/>
            <a:ext cx="948094" cy="37442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93BDD3-90E2-45AB-A895-39AFA7FF65DD}"/>
              </a:ext>
            </a:extLst>
          </p:cNvPr>
          <p:cNvCxnSpPr>
            <a:cxnSpLocks/>
          </p:cNvCxnSpPr>
          <p:nvPr/>
        </p:nvCxnSpPr>
        <p:spPr bwMode="auto">
          <a:xfrm>
            <a:off x="7606420" y="4231072"/>
            <a:ext cx="807315" cy="1911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9CAC157-7421-49D7-804F-74F24AFE6C4C}"/>
              </a:ext>
            </a:extLst>
          </p:cNvPr>
          <p:cNvSpPr txBox="1"/>
          <p:nvPr/>
        </p:nvSpPr>
        <p:spPr>
          <a:xfrm>
            <a:off x="9621080" y="2835811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Sold in current year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58078C-6CB1-4FE7-99B7-B891762067AA}"/>
              </a:ext>
            </a:extLst>
          </p:cNvPr>
          <p:cNvSpPr txBox="1"/>
          <p:nvPr/>
        </p:nvSpPr>
        <p:spPr>
          <a:xfrm>
            <a:off x="9622546" y="4384856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Left in inventory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D09264-4497-44CB-A7AC-27D3161B4B5C}"/>
              </a:ext>
            </a:extLst>
          </p:cNvPr>
          <p:cNvSpPr/>
          <p:nvPr/>
        </p:nvSpPr>
        <p:spPr bwMode="auto">
          <a:xfrm>
            <a:off x="750459" y="3185667"/>
            <a:ext cx="873457" cy="416257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269A32-7257-421A-BF10-5BA08B097699}"/>
              </a:ext>
            </a:extLst>
          </p:cNvPr>
          <p:cNvSpPr/>
          <p:nvPr/>
        </p:nvSpPr>
        <p:spPr bwMode="auto">
          <a:xfrm>
            <a:off x="843102" y="3105807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B0F1AB-9714-48D8-827A-C52086309B37}"/>
              </a:ext>
            </a:extLst>
          </p:cNvPr>
          <p:cNvSpPr/>
          <p:nvPr/>
        </p:nvSpPr>
        <p:spPr bwMode="auto">
          <a:xfrm>
            <a:off x="1308216" y="3100606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5"/>
              </a:gs>
              <a:gs pos="6500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F32883-D1CF-4C25-9744-502359427367}"/>
              </a:ext>
            </a:extLst>
          </p:cNvPr>
          <p:cNvSpPr/>
          <p:nvPr/>
        </p:nvSpPr>
        <p:spPr bwMode="auto">
          <a:xfrm>
            <a:off x="746628" y="3608623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2AFD393-27B6-47D0-98DE-4F9855A65D10}"/>
              </a:ext>
            </a:extLst>
          </p:cNvPr>
          <p:cNvSpPr/>
          <p:nvPr/>
        </p:nvSpPr>
        <p:spPr bwMode="auto">
          <a:xfrm>
            <a:off x="6439564" y="3165159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rgbClr val="3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5EAE6C7-03EC-4281-9FF3-63CF65496263}"/>
              </a:ext>
            </a:extLst>
          </p:cNvPr>
          <p:cNvSpPr/>
          <p:nvPr/>
        </p:nvSpPr>
        <p:spPr bwMode="auto">
          <a:xfrm>
            <a:off x="6552325" y="308144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rgbClr val="B00000"/>
              </a:gs>
              <a:gs pos="65000">
                <a:srgbClr val="B00000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D6816-E260-4FB0-86DD-81839A3136FC}"/>
              </a:ext>
            </a:extLst>
          </p:cNvPr>
          <p:cNvSpPr/>
          <p:nvPr/>
        </p:nvSpPr>
        <p:spPr bwMode="auto">
          <a:xfrm>
            <a:off x="7004975" y="3081442"/>
            <a:ext cx="216089" cy="8188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44000">
                <a:schemeClr val="accent3">
                  <a:lumMod val="75000"/>
                  <a:lumOff val="25000"/>
                </a:schemeClr>
              </a:gs>
              <a:gs pos="65000">
                <a:schemeClr val="accent3">
                  <a:lumMod val="75000"/>
                  <a:lumOff val="2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1584F6-42B3-4D7A-BAC3-5B27DBA8DD60}"/>
              </a:ext>
            </a:extLst>
          </p:cNvPr>
          <p:cNvSpPr/>
          <p:nvPr/>
        </p:nvSpPr>
        <p:spPr bwMode="auto">
          <a:xfrm>
            <a:off x="6439561" y="3581416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38EFD7-7A6D-46B2-BC83-8CB7872A30BF}"/>
              </a:ext>
            </a:extLst>
          </p:cNvPr>
          <p:cNvSpPr/>
          <p:nvPr/>
        </p:nvSpPr>
        <p:spPr bwMode="auto">
          <a:xfrm>
            <a:off x="2871132" y="3203188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3A33A5-5FE5-4C01-A6E1-6B500C411C83}"/>
              </a:ext>
            </a:extLst>
          </p:cNvPr>
          <p:cNvSpPr/>
          <p:nvPr/>
        </p:nvSpPr>
        <p:spPr bwMode="auto">
          <a:xfrm>
            <a:off x="8600699" y="3783931"/>
            <a:ext cx="873457" cy="416257"/>
          </a:xfrm>
          <a:prstGeom prst="rect">
            <a:avLst/>
          </a:prstGeom>
          <a:solidFill>
            <a:srgbClr val="B000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53B272-2DDA-4A0D-B0F3-15E739CB9048}"/>
              </a:ext>
            </a:extLst>
          </p:cNvPr>
          <p:cNvSpPr/>
          <p:nvPr/>
        </p:nvSpPr>
        <p:spPr bwMode="auto">
          <a:xfrm>
            <a:off x="8712156" y="369715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D505341-E387-4AE6-AF54-C77A4654D92A}"/>
              </a:ext>
            </a:extLst>
          </p:cNvPr>
          <p:cNvSpPr/>
          <p:nvPr/>
        </p:nvSpPr>
        <p:spPr bwMode="auto">
          <a:xfrm>
            <a:off x="9164806" y="3697154"/>
            <a:ext cx="216089" cy="81885"/>
          </a:xfrm>
          <a:prstGeom prst="rect">
            <a:avLst/>
          </a:prstGeom>
          <a:gradFill flip="none" rotWithShape="1">
            <a:gsLst>
              <a:gs pos="0">
                <a:srgbClr val="320000"/>
              </a:gs>
              <a:gs pos="44000">
                <a:srgbClr val="B00000"/>
              </a:gs>
              <a:gs pos="65000">
                <a:srgbClr val="B00000"/>
              </a:gs>
              <a:gs pos="100000">
                <a:srgbClr val="320000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9A11AC-298F-44A7-9F63-38851C499D07}"/>
              </a:ext>
            </a:extLst>
          </p:cNvPr>
          <p:cNvSpPr txBox="1"/>
          <p:nvPr/>
        </p:nvSpPr>
        <p:spPr>
          <a:xfrm>
            <a:off x="8472200" y="3203092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@ $10 = $10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A07819-E6AB-4B7C-BD11-1CED6A047F10}"/>
              </a:ext>
            </a:extLst>
          </p:cNvPr>
          <p:cNvSpPr/>
          <p:nvPr/>
        </p:nvSpPr>
        <p:spPr bwMode="auto">
          <a:xfrm>
            <a:off x="746628" y="4447487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90397D-0DA4-44CB-A129-AB551A4CF19A}"/>
              </a:ext>
            </a:extLst>
          </p:cNvPr>
          <p:cNvSpPr/>
          <p:nvPr/>
        </p:nvSpPr>
        <p:spPr bwMode="auto">
          <a:xfrm>
            <a:off x="6439802" y="4005950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8DE1D4-D065-44A7-9848-2ABF71FF144B}"/>
              </a:ext>
            </a:extLst>
          </p:cNvPr>
          <p:cNvSpPr/>
          <p:nvPr/>
        </p:nvSpPr>
        <p:spPr bwMode="auto">
          <a:xfrm>
            <a:off x="6439802" y="4422207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F3B9FD-DA4B-425E-B9E1-B196DAEA7BA2}"/>
              </a:ext>
            </a:extLst>
          </p:cNvPr>
          <p:cNvSpPr/>
          <p:nvPr/>
        </p:nvSpPr>
        <p:spPr bwMode="auto">
          <a:xfrm>
            <a:off x="8600699" y="4205636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56B200-C284-4DE6-AA8D-C1279A6F1809}"/>
              </a:ext>
            </a:extLst>
          </p:cNvPr>
          <p:cNvSpPr/>
          <p:nvPr/>
        </p:nvSpPr>
        <p:spPr bwMode="auto">
          <a:xfrm>
            <a:off x="8600699" y="4621893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E6DE4D-357C-4352-A43A-81F12CD50B5C}"/>
              </a:ext>
            </a:extLst>
          </p:cNvPr>
          <p:cNvSpPr/>
          <p:nvPr/>
        </p:nvSpPr>
        <p:spPr bwMode="auto">
          <a:xfrm>
            <a:off x="2871131" y="3627163"/>
            <a:ext cx="873457" cy="4162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BEF52CA-C28C-4F71-A7CB-105DC51AE8B5}"/>
              </a:ext>
            </a:extLst>
          </p:cNvPr>
          <p:cNvSpPr/>
          <p:nvPr/>
        </p:nvSpPr>
        <p:spPr bwMode="auto">
          <a:xfrm>
            <a:off x="1681548" y="3189190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A7365BE2-A781-4B8E-BF55-80AE0898B604}"/>
              </a:ext>
            </a:extLst>
          </p:cNvPr>
          <p:cNvSpPr/>
          <p:nvPr/>
        </p:nvSpPr>
        <p:spPr bwMode="auto">
          <a:xfrm>
            <a:off x="7484000" y="3601924"/>
            <a:ext cx="125501" cy="1258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1FDC4A-85EF-4FE0-94D4-1C62926315B5}"/>
              </a:ext>
            </a:extLst>
          </p:cNvPr>
          <p:cNvSpPr txBox="1"/>
          <p:nvPr/>
        </p:nvSpPr>
        <p:spPr>
          <a:xfrm>
            <a:off x="7713205" y="800403"/>
            <a:ext cx="4606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(If asking for effect on net income, remember to take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after-tax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effect)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1424CE-9B2D-427F-8041-2BAFDE0B4A48}"/>
              </a:ext>
            </a:extLst>
          </p:cNvPr>
          <p:cNvSpPr txBox="1"/>
          <p:nvPr/>
        </p:nvSpPr>
        <p:spPr>
          <a:xfrm>
            <a:off x="838200" y="1459287"/>
            <a:ext cx="5572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Activity: Buys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 @ $15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each and sells 1 unit.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79EC87-F0F3-4A73-9BEB-2CFC63B76CBE}"/>
              </a:ext>
            </a:extLst>
          </p:cNvPr>
          <p:cNvSpPr txBox="1"/>
          <p:nvPr/>
        </p:nvSpPr>
        <p:spPr>
          <a:xfrm>
            <a:off x="493174" y="2383645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LIFO: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DFBA45-59D1-4739-8297-4BA7F02F61BD}"/>
              </a:ext>
            </a:extLst>
          </p:cNvPr>
          <p:cNvSpPr txBox="1"/>
          <p:nvPr/>
        </p:nvSpPr>
        <p:spPr>
          <a:xfrm>
            <a:off x="6200433" y="2378282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FIFO: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EB7FD4-AF48-4450-B47E-C82F75CC0418}"/>
              </a:ext>
            </a:extLst>
          </p:cNvPr>
          <p:cNvSpPr txBox="1"/>
          <p:nvPr/>
        </p:nvSpPr>
        <p:spPr>
          <a:xfrm>
            <a:off x="3429208" y="2344952"/>
            <a:ext cx="2453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6BB7A8-C82F-4D38-87AB-514EF92EE8BF}"/>
              </a:ext>
            </a:extLst>
          </p:cNvPr>
          <p:cNvSpPr txBox="1"/>
          <p:nvPr/>
        </p:nvSpPr>
        <p:spPr>
          <a:xfrm>
            <a:off x="9317987" y="2344952"/>
            <a:ext cx="230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 </a:t>
            </a: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oldest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inventory first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24DD32-DCCF-4763-BEE5-11C73B74BFD4}"/>
              </a:ext>
            </a:extLst>
          </p:cNvPr>
          <p:cNvSpPr txBox="1"/>
          <p:nvPr/>
        </p:nvSpPr>
        <p:spPr>
          <a:xfrm>
            <a:off x="3090633" y="284808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355195-70F8-466E-B5AD-A141C4A2FF0F}"/>
              </a:ext>
            </a:extLst>
          </p:cNvPr>
          <p:cNvSpPr txBox="1"/>
          <p:nvPr/>
        </p:nvSpPr>
        <p:spPr>
          <a:xfrm>
            <a:off x="3057013" y="324015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E329856-C24F-4E72-BA87-EDD653BB0458}"/>
              </a:ext>
            </a:extLst>
          </p:cNvPr>
          <p:cNvSpPr txBox="1"/>
          <p:nvPr/>
        </p:nvSpPr>
        <p:spPr>
          <a:xfrm>
            <a:off x="3027128" y="368428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3067458-52A4-41D9-8D8F-350FA1882FDC}"/>
              </a:ext>
            </a:extLst>
          </p:cNvPr>
          <p:cNvSpPr txBox="1"/>
          <p:nvPr/>
        </p:nvSpPr>
        <p:spPr>
          <a:xfrm>
            <a:off x="8845980" y="3862645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8166A01-DE90-4DB9-9174-36AAA70CA2D5}"/>
              </a:ext>
            </a:extLst>
          </p:cNvPr>
          <p:cNvSpPr txBox="1"/>
          <p:nvPr/>
        </p:nvSpPr>
        <p:spPr>
          <a:xfrm>
            <a:off x="8812360" y="4254714"/>
            <a:ext cx="48282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25A564-879B-4A08-9A50-D5962D6D021D}"/>
              </a:ext>
            </a:extLst>
          </p:cNvPr>
          <p:cNvSpPr txBox="1"/>
          <p:nvPr/>
        </p:nvSpPr>
        <p:spPr>
          <a:xfrm>
            <a:off x="8782475" y="469883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089DE-87D6-4588-871B-A156527148BB}"/>
              </a:ext>
            </a:extLst>
          </p:cNvPr>
          <p:cNvSpPr/>
          <p:nvPr/>
        </p:nvSpPr>
        <p:spPr>
          <a:xfrm>
            <a:off x="2711117" y="2578337"/>
            <a:ext cx="1136989" cy="15955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F2E5567-CAEC-41C7-AF5B-A11A794F6D16}"/>
              </a:ext>
            </a:extLst>
          </p:cNvPr>
          <p:cNvSpPr txBox="1"/>
          <p:nvPr/>
        </p:nvSpPr>
        <p:spPr>
          <a:xfrm>
            <a:off x="2554749" y="5552319"/>
            <a:ext cx="8494633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LIFO Layers: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Build up of inventory costs from prior years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Could stay forever if the company keeps adding new inventory!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	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4EF1EE-7017-4EED-95AD-6E8E23B75C22}"/>
              </a:ext>
            </a:extLst>
          </p:cNvPr>
          <p:cNvCxnSpPr/>
          <p:nvPr/>
        </p:nvCxnSpPr>
        <p:spPr>
          <a:xfrm flipV="1">
            <a:off x="3340171" y="4265633"/>
            <a:ext cx="0" cy="12302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94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424" y="1490666"/>
            <a:ext cx="10972800" cy="563879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sz="2400" dirty="0"/>
              <a:t>	 	</a:t>
            </a:r>
            <a:r>
              <a:rPr lang="en-US" sz="2400" u="sng" dirty="0"/>
              <a:t>2018</a:t>
            </a:r>
            <a:r>
              <a:rPr lang="en-US" sz="2400" dirty="0"/>
              <a:t>	</a:t>
            </a:r>
            <a:r>
              <a:rPr lang="en-US" sz="2400" u="sng" dirty="0"/>
              <a:t>2017</a:t>
            </a:r>
          </a:p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sz="2400" dirty="0"/>
              <a:t>	LIFO ending inventory	$ 1,000	$ 400</a:t>
            </a:r>
          </a:p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sz="2400" dirty="0"/>
              <a:t>	LIFO reserve 	$ 350	$ 100</a:t>
            </a:r>
          </a:p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sz="2400" dirty="0"/>
              <a:t>	LIFO COGS	$ 1,800	$ 1,200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LIFO Reserve 	= </a:t>
            </a:r>
            <a:r>
              <a:rPr lang="en-US" altLang="en-US" dirty="0" err="1">
                <a:solidFill>
                  <a:srgbClr val="C00000"/>
                </a:solidFill>
              </a:rPr>
              <a:t>Inventory</a:t>
            </a:r>
            <a:r>
              <a:rPr lang="en-US" altLang="en-US" baseline="-25000" dirty="0" err="1">
                <a:solidFill>
                  <a:srgbClr val="C00000"/>
                </a:solidFill>
              </a:rPr>
              <a:t>FIFO</a:t>
            </a:r>
            <a:r>
              <a:rPr lang="en-US" altLang="en-US" baseline="-25000" dirty="0">
                <a:solidFill>
                  <a:srgbClr val="C00000"/>
                </a:solidFill>
              </a:rPr>
              <a:t> </a:t>
            </a:r>
            <a:r>
              <a:rPr lang="en-US" altLang="en-US" dirty="0">
                <a:solidFill>
                  <a:srgbClr val="C00000"/>
                </a:solidFill>
              </a:rPr>
              <a:t>– </a:t>
            </a:r>
            <a:r>
              <a:rPr lang="en-US" altLang="en-US" dirty="0" err="1">
                <a:solidFill>
                  <a:srgbClr val="C00000"/>
                </a:solidFill>
              </a:rPr>
              <a:t>Inventory</a:t>
            </a:r>
            <a:r>
              <a:rPr lang="en-US" altLang="en-US" baseline="-25000" dirty="0" err="1">
                <a:solidFill>
                  <a:srgbClr val="C00000"/>
                </a:solidFill>
              </a:rPr>
              <a:t>LIFO</a:t>
            </a:r>
            <a:endParaRPr lang="en-US" altLang="en-US" baseline="-25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en-US" dirty="0" err="1">
                <a:solidFill>
                  <a:srgbClr val="C00000"/>
                </a:solidFill>
              </a:rPr>
              <a:t>Inventory</a:t>
            </a:r>
            <a:r>
              <a:rPr lang="en-US" altLang="en-US" baseline="-25000" dirty="0" err="1">
                <a:solidFill>
                  <a:srgbClr val="C00000"/>
                </a:solidFill>
              </a:rPr>
              <a:t>FIFO</a:t>
            </a:r>
            <a:r>
              <a:rPr lang="en-US" altLang="en-US" baseline="-25000" dirty="0">
                <a:solidFill>
                  <a:srgbClr val="C00000"/>
                </a:solidFill>
              </a:rPr>
              <a:t>	</a:t>
            </a:r>
            <a:r>
              <a:rPr lang="en-US" altLang="en-US" dirty="0">
                <a:solidFill>
                  <a:srgbClr val="C00000"/>
                </a:solidFill>
              </a:rPr>
              <a:t>= </a:t>
            </a:r>
            <a:r>
              <a:rPr lang="en-US" altLang="en-US" dirty="0" err="1">
                <a:solidFill>
                  <a:srgbClr val="C00000"/>
                </a:solidFill>
              </a:rPr>
              <a:t>Inventory</a:t>
            </a:r>
            <a:r>
              <a:rPr lang="en-US" altLang="en-US" baseline="-25000" dirty="0" err="1">
                <a:solidFill>
                  <a:srgbClr val="C00000"/>
                </a:solidFill>
              </a:rPr>
              <a:t>LIFO</a:t>
            </a:r>
            <a:r>
              <a:rPr lang="en-US" altLang="en-US" dirty="0">
                <a:solidFill>
                  <a:srgbClr val="C00000"/>
                </a:solidFill>
              </a:rPr>
              <a:t> + LIFO Reserve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= 1,000 + 350 = $1,350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C68ED-B9BF-4DD5-8BEA-DD6BDD92B047}"/>
              </a:ext>
            </a:extLst>
          </p:cNvPr>
          <p:cNvSpPr/>
          <p:nvPr/>
        </p:nvSpPr>
        <p:spPr>
          <a:xfrm>
            <a:off x="838200" y="3429000"/>
            <a:ext cx="107632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 would ending inventory have been in 2018 if FIFO had been used?</a:t>
            </a:r>
          </a:p>
        </p:txBody>
      </p:sp>
    </p:spTree>
    <p:extLst>
      <p:ext uri="{BB962C8B-B14F-4D97-AF65-F5344CB8AC3E}">
        <p14:creationId xmlns:p14="http://schemas.microsoft.com/office/powerpoint/2010/main" val="86108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48" y="1219203"/>
            <a:ext cx="11258551" cy="53847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dirty="0"/>
              <a:t>	 </a:t>
            </a:r>
            <a:r>
              <a:rPr lang="en-US" sz="2600" dirty="0"/>
              <a:t>	</a:t>
            </a:r>
            <a:r>
              <a:rPr lang="en-US" sz="2600" u="sng" dirty="0"/>
              <a:t>2018</a:t>
            </a:r>
            <a:r>
              <a:rPr lang="en-US" sz="2600" dirty="0"/>
              <a:t>	</a:t>
            </a:r>
            <a:r>
              <a:rPr lang="en-US" sz="2600" u="sng" dirty="0"/>
              <a:t>2017</a:t>
            </a:r>
          </a:p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sz="2600" dirty="0"/>
              <a:t>	LIFO ending inventory	$ 1,000	$ 400</a:t>
            </a:r>
          </a:p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sz="2600" dirty="0"/>
              <a:t>	LIFO reserve 	$ 350	$ 100</a:t>
            </a:r>
          </a:p>
          <a:p>
            <a:pPr marL="0" indent="0">
              <a:buNone/>
              <a:tabLst>
                <a:tab pos="914400" algn="l"/>
                <a:tab pos="6400800" algn="r"/>
                <a:tab pos="8229600" algn="r"/>
              </a:tabLst>
            </a:pPr>
            <a:r>
              <a:rPr lang="en-US" sz="2600" dirty="0"/>
              <a:t>	LIFO COGS	$ 1,800	$ 1,200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	</a:t>
            </a:r>
            <a:r>
              <a:rPr lang="el-GR" altLang="en-US" dirty="0">
                <a:solidFill>
                  <a:srgbClr val="C00000"/>
                </a:solidFill>
              </a:rPr>
              <a:t>Δ</a:t>
            </a:r>
            <a:r>
              <a:rPr lang="en-US" altLang="en-US" dirty="0">
                <a:solidFill>
                  <a:srgbClr val="C00000"/>
                </a:solidFill>
              </a:rPr>
              <a:t>LIFO Reserve = COGS</a:t>
            </a:r>
            <a:r>
              <a:rPr lang="en-US" altLang="en-US" baseline="-25000" dirty="0">
                <a:solidFill>
                  <a:srgbClr val="C00000"/>
                </a:solidFill>
              </a:rPr>
              <a:t>LIFO</a:t>
            </a:r>
            <a:r>
              <a:rPr lang="en-US" altLang="en-US" dirty="0">
                <a:solidFill>
                  <a:srgbClr val="C00000"/>
                </a:solidFill>
              </a:rPr>
              <a:t> - COGS</a:t>
            </a:r>
            <a:r>
              <a:rPr lang="en-US" altLang="en-US" baseline="-25000" dirty="0">
                <a:solidFill>
                  <a:srgbClr val="C00000"/>
                </a:solidFill>
              </a:rPr>
              <a:t>FIFO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	</a:t>
            </a:r>
            <a:r>
              <a:rPr lang="el-GR" altLang="en-US" dirty="0">
                <a:solidFill>
                  <a:srgbClr val="C00000"/>
                </a:solidFill>
              </a:rPr>
              <a:t>Δ</a:t>
            </a:r>
            <a:r>
              <a:rPr lang="en-US" altLang="en-US" dirty="0">
                <a:solidFill>
                  <a:srgbClr val="C00000"/>
                </a:solidFill>
              </a:rPr>
              <a:t>LIFO Reserve = 350 – 100 = 250 = COGS</a:t>
            </a:r>
            <a:r>
              <a:rPr lang="en-US" altLang="en-US" baseline="-25000" dirty="0">
                <a:solidFill>
                  <a:srgbClr val="C00000"/>
                </a:solidFill>
              </a:rPr>
              <a:t>LIFO</a:t>
            </a:r>
            <a:r>
              <a:rPr lang="en-US" altLang="en-US" dirty="0">
                <a:solidFill>
                  <a:srgbClr val="C00000"/>
                </a:solidFill>
              </a:rPr>
              <a:t> - COGS</a:t>
            </a:r>
            <a:r>
              <a:rPr lang="en-US" altLang="en-US" baseline="-25000" dirty="0">
                <a:solidFill>
                  <a:srgbClr val="C00000"/>
                </a:solidFill>
              </a:rPr>
              <a:t>FIFO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	COGS is $250 higher under LIFO than FIFO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C00000"/>
                </a:solidFill>
              </a:rPr>
              <a:t>	COGS Difference 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× </a:t>
            </a:r>
            <a:r>
              <a:rPr lang="en-US" altLang="en-US" dirty="0">
                <a:solidFill>
                  <a:srgbClr val="C00000"/>
                </a:solidFill>
              </a:rPr>
              <a:t>(1 – tax rate) = 250 * (100% – 30%) = $175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+mn-lt"/>
              </a:rPr>
              <a:t>	Net income would have been $175 </a:t>
            </a:r>
            <a:r>
              <a:rPr lang="en-US" u="sng" dirty="0">
                <a:solidFill>
                  <a:srgbClr val="C00000"/>
                </a:solidFill>
                <a:latin typeface="+mn-lt"/>
              </a:rPr>
              <a:t>higher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 under FIFO.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A3D65-50CD-49B4-A8CE-DDD771BCA7A7}"/>
              </a:ext>
            </a:extLst>
          </p:cNvPr>
          <p:cNvSpPr/>
          <p:nvPr/>
        </p:nvSpPr>
        <p:spPr>
          <a:xfrm>
            <a:off x="533401" y="3080604"/>
            <a:ext cx="107441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tax rate is 30%, what is the effect on 2018 net income if company had used FIFO (is net income higher/lower under FIFO and by how much)?</a:t>
            </a:r>
          </a:p>
        </p:txBody>
      </p:sp>
    </p:spTree>
    <p:extLst>
      <p:ext uri="{BB962C8B-B14F-4D97-AF65-F5344CB8AC3E}">
        <p14:creationId xmlns:p14="http://schemas.microsoft.com/office/powerpoint/2010/main" val="103409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Converting LIFO → FIFO</a:t>
            </a:r>
          </a:p>
        </p:txBody>
      </p:sp>
      <p:sp>
        <p:nvSpPr>
          <p:cNvPr id="54275" name="Content Placeholder 1"/>
          <p:cNvSpPr>
            <a:spLocks noGrp="1"/>
          </p:cNvSpPr>
          <p:nvPr>
            <p:ph idx="1"/>
          </p:nvPr>
        </p:nvSpPr>
        <p:spPr>
          <a:xfrm>
            <a:off x="838200" y="1713297"/>
            <a:ext cx="10515600" cy="453510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US" alt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Balance Sheet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en-US" alt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Inventory</a:t>
            </a:r>
            <a:r>
              <a:rPr lang="en-US" altLang="en-US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FIFO</a:t>
            </a:r>
            <a:r>
              <a:rPr lang="en-US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Inventory</a:t>
            </a:r>
            <a:r>
              <a:rPr lang="en-US" altLang="en-US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LIFO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 Reserve </a:t>
            </a:r>
          </a:p>
          <a:p>
            <a:pPr marL="457200" indent="-457200">
              <a:buFontTx/>
              <a:buAutoNum type="arabicPeriod"/>
              <a:defRPr/>
            </a:pPr>
            <a:endParaRPr lang="en-US" altLang="en-US" sz="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  <a:defRPr/>
            </a:pPr>
            <a:endParaRPr lang="en-US" altLang="en-US" sz="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alt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Income Statement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 COGS</a:t>
            </a:r>
            <a:r>
              <a:rPr lang="en-US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FIFO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= COGS</a:t>
            </a:r>
            <a:r>
              <a:rPr lang="en-US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LIFO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– </a:t>
            </a:r>
            <a:r>
              <a:rPr lang="el-GR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 Reserve</a:t>
            </a:r>
          </a:p>
          <a:p>
            <a:pPr marL="857250" lvl="1" indent="-457200">
              <a:buSzPct val="50000"/>
              <a:buNone/>
              <a:defRPr/>
            </a:pPr>
            <a:endParaRPr lang="en-US" altLang="en-US" sz="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SzPct val="50000"/>
              <a:buNone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l-GR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 Reserve = LIFO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lang="en-US" altLang="en-US" sz="20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LIFO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lang="en-US" altLang="en-US" sz="20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57250" lvl="1" indent="-457200">
              <a:buSzPct val="50000"/>
              <a:buNone/>
              <a:defRPr/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en-US" sz="20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Proof:</a:t>
            </a:r>
          </a:p>
          <a:p>
            <a:pPr marL="0" indent="0">
              <a:buNone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COGS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= BI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P – EI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0" indent="0">
              <a:buNone/>
              <a:defRPr/>
            </a:pPr>
            <a:endParaRPr lang="en-US" altLang="en-US" sz="800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en-US" sz="800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COGS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= BI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P – EI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</a:p>
          <a:p>
            <a:pPr marL="0" indent="0">
              <a:buNone/>
              <a:defRPr/>
            </a:pPr>
            <a:endParaRPr lang="en-US" altLang="en-US" sz="2000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COGS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= (BI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LIFO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lang="en-US" altLang="en-US" sz="20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P – (EI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LIFO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lang="en-US" altLang="en-US" sz="20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  <a:defRPr/>
            </a:pPr>
            <a:endParaRPr lang="en-US" altLang="en-US" sz="2000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COGS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COGS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(LIFO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lang="en-US" altLang="en-US" sz="20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LIFO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lang="en-US" altLang="en-US" sz="20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  <a:defRPr/>
            </a:pP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en-US" dirty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813926" y="6248400"/>
            <a:ext cx="85407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A60626-0AF3-4A5B-985F-62F7155A64FB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888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1C8A-FFA1-4C4E-A3AC-D40D6627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07F23-1378-419C-8FDA-FECCBD069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7827"/>
            <a:ext cx="10515600" cy="4651373"/>
          </a:xfrm>
        </p:spPr>
        <p:txBody>
          <a:bodyPr>
            <a:normAutofit/>
          </a:bodyPr>
          <a:lstStyle/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Conformity Rule – Can only use LIFO for tax if you also use it for income.</a:t>
            </a:r>
          </a:p>
          <a:p>
            <a:pPr>
              <a:buSzPct val="50000"/>
              <a:buFont typeface="Wingdings" panose="05000000000000000000" pitchFamily="2" charset="2"/>
              <a:buChar char="m"/>
            </a:pP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Reserve (FIFO Inv – LIFO Inv) – LIFO could be misleading, disclose inventory if you used FIFO.</a:t>
            </a:r>
          </a:p>
          <a:p>
            <a:pPr>
              <a:buSzPct val="50000"/>
              <a:buFont typeface="Wingdings" panose="05000000000000000000" pitchFamily="2" charset="2"/>
              <a:buChar char="m"/>
            </a:pPr>
            <a:endParaRPr lang="en-US" altLang="en-US" sz="28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SzPct val="50000"/>
              <a:buFont typeface="Wingdings" panose="05000000000000000000" pitchFamily="2" charset="2"/>
              <a:buChar char="m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LIFO vs. FIFO Effect on Income – Equals the change in the LIFO reserve</a:t>
            </a:r>
            <a:b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213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Inventory Part 2 – Video</a:t>
            </a:r>
          </a:p>
        </p:txBody>
      </p:sp>
    </p:spTree>
    <p:extLst>
      <p:ext uri="{BB962C8B-B14F-4D97-AF65-F5344CB8AC3E}">
        <p14:creationId xmlns:p14="http://schemas.microsoft.com/office/powerpoint/2010/main" val="325058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2969</TotalTime>
  <Words>2851</Words>
  <Application>Microsoft Office PowerPoint</Application>
  <PresentationFormat>Widescreen</PresentationFormat>
  <Paragraphs>408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LIFO Issues</vt:lpstr>
      <vt:lpstr>LIFO Conformity Rule</vt:lpstr>
      <vt:lpstr>LIFO Conformity Rule</vt:lpstr>
      <vt:lpstr>LIFO Issues</vt:lpstr>
      <vt:lpstr>Illustration of LIFO issues</vt:lpstr>
      <vt:lpstr>Terminology</vt:lpstr>
      <vt:lpstr>LIFO issues (Year 1)</vt:lpstr>
      <vt:lpstr>LIFO issues (Year 2)</vt:lpstr>
      <vt:lpstr>Terminology</vt:lpstr>
      <vt:lpstr>Terminology</vt:lpstr>
      <vt:lpstr>LIFO issues (Year 2)</vt:lpstr>
      <vt:lpstr>LIFO issues (Year 3)</vt:lpstr>
      <vt:lpstr>LIFO issues (Year 3)</vt:lpstr>
      <vt:lpstr>Terminology</vt:lpstr>
      <vt:lpstr>Terminology</vt:lpstr>
      <vt:lpstr>LIFO issues (Year 3)</vt:lpstr>
      <vt:lpstr>Example Question 1</vt:lpstr>
      <vt:lpstr>Example Question 2</vt:lpstr>
      <vt:lpstr>Converting LIFO → FIFO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157</cp:revision>
  <dcterms:created xsi:type="dcterms:W3CDTF">2016-01-26T18:12:20Z</dcterms:created>
  <dcterms:modified xsi:type="dcterms:W3CDTF">2022-10-09T17:47:34Z</dcterms:modified>
</cp:coreProperties>
</file>