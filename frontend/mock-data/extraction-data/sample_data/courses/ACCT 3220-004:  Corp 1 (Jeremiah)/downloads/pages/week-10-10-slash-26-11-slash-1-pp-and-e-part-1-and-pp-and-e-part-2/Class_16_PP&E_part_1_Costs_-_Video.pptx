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95" r:id="rId2"/>
    <p:sldId id="320" r:id="rId3"/>
    <p:sldId id="297" r:id="rId4"/>
    <p:sldId id="417" r:id="rId5"/>
    <p:sldId id="427" r:id="rId6"/>
    <p:sldId id="322" r:id="rId7"/>
    <p:sldId id="429" r:id="rId8"/>
    <p:sldId id="430" r:id="rId9"/>
    <p:sldId id="419" r:id="rId10"/>
    <p:sldId id="420" r:id="rId11"/>
    <p:sldId id="431" r:id="rId12"/>
    <p:sldId id="432" r:id="rId13"/>
    <p:sldId id="433" r:id="rId14"/>
    <p:sldId id="434" r:id="rId15"/>
    <p:sldId id="42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3" autoAdjust="0"/>
    <p:restoredTop sz="86174" autoAdjust="0"/>
  </p:normalViewPr>
  <p:slideViewPr>
    <p:cSldViewPr snapToGrid="0">
      <p:cViewPr varScale="1">
        <p:scale>
          <a:sx n="74" d="100"/>
          <a:sy n="74" d="100"/>
        </p:scale>
        <p:origin x="32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iah Contreras" userId="9ea49ee18badb19e" providerId="LiveId" clId="{B4E4113C-5F08-4667-8567-18A5503AA505}"/>
    <pc:docChg chg="undo custSel addSld delSld">
      <pc:chgData name="Jeremiah Contreras" userId="9ea49ee18badb19e" providerId="LiveId" clId="{B4E4113C-5F08-4667-8567-18A5503AA505}" dt="2022-10-16T12:45:59.964" v="3" actId="47"/>
      <pc:docMkLst>
        <pc:docMk/>
      </pc:docMkLst>
      <pc:sldChg chg="del">
        <pc:chgData name="Jeremiah Contreras" userId="9ea49ee18badb19e" providerId="LiveId" clId="{B4E4113C-5F08-4667-8567-18A5503AA505}" dt="2022-10-16T12:45:51.488" v="1" actId="47"/>
        <pc:sldMkLst>
          <pc:docMk/>
          <pc:sldMk cId="1826230032" sldId="263"/>
        </pc:sldMkLst>
      </pc:sldChg>
      <pc:sldChg chg="del">
        <pc:chgData name="Jeremiah Contreras" userId="9ea49ee18badb19e" providerId="LiveId" clId="{B4E4113C-5F08-4667-8567-18A5503AA505}" dt="2022-10-16T12:45:51.488" v="1" actId="47"/>
        <pc:sldMkLst>
          <pc:docMk/>
          <pc:sldMk cId="1876821222" sldId="270"/>
        </pc:sldMkLst>
      </pc:sldChg>
      <pc:sldChg chg="del">
        <pc:chgData name="Jeremiah Contreras" userId="9ea49ee18badb19e" providerId="LiveId" clId="{B4E4113C-5F08-4667-8567-18A5503AA505}" dt="2022-10-16T12:45:51.488" v="1" actId="47"/>
        <pc:sldMkLst>
          <pc:docMk/>
          <pc:sldMk cId="1886436900" sldId="273"/>
        </pc:sldMkLst>
      </pc:sldChg>
      <pc:sldChg chg="del">
        <pc:chgData name="Jeremiah Contreras" userId="9ea49ee18badb19e" providerId="LiveId" clId="{B4E4113C-5F08-4667-8567-18A5503AA505}" dt="2022-10-16T12:45:51.488" v="1" actId="47"/>
        <pc:sldMkLst>
          <pc:docMk/>
          <pc:sldMk cId="3310618315" sldId="274"/>
        </pc:sldMkLst>
      </pc:sldChg>
      <pc:sldChg chg="del">
        <pc:chgData name="Jeremiah Contreras" userId="9ea49ee18badb19e" providerId="LiveId" clId="{B4E4113C-5F08-4667-8567-18A5503AA505}" dt="2022-10-16T12:45:51.488" v="1" actId="47"/>
        <pc:sldMkLst>
          <pc:docMk/>
          <pc:sldMk cId="3817211858" sldId="275"/>
        </pc:sldMkLst>
      </pc:sldChg>
      <pc:sldChg chg="del">
        <pc:chgData name="Jeremiah Contreras" userId="9ea49ee18badb19e" providerId="LiveId" clId="{B4E4113C-5F08-4667-8567-18A5503AA505}" dt="2022-10-16T12:45:51.488" v="1" actId="47"/>
        <pc:sldMkLst>
          <pc:docMk/>
          <pc:sldMk cId="655651221" sldId="276"/>
        </pc:sldMkLst>
      </pc:sldChg>
      <pc:sldChg chg="del">
        <pc:chgData name="Jeremiah Contreras" userId="9ea49ee18badb19e" providerId="LiveId" clId="{B4E4113C-5F08-4667-8567-18A5503AA505}" dt="2022-10-16T12:45:51.488" v="1" actId="47"/>
        <pc:sldMkLst>
          <pc:docMk/>
          <pc:sldMk cId="104718536" sldId="277"/>
        </pc:sldMkLst>
      </pc:sldChg>
      <pc:sldChg chg="del">
        <pc:chgData name="Jeremiah Contreras" userId="9ea49ee18badb19e" providerId="LiveId" clId="{B4E4113C-5F08-4667-8567-18A5503AA505}" dt="2022-10-16T12:45:51.488" v="1" actId="47"/>
        <pc:sldMkLst>
          <pc:docMk/>
          <pc:sldMk cId="3323843590" sldId="278"/>
        </pc:sldMkLst>
      </pc:sldChg>
      <pc:sldChg chg="del">
        <pc:chgData name="Jeremiah Contreras" userId="9ea49ee18badb19e" providerId="LiveId" clId="{B4E4113C-5F08-4667-8567-18A5503AA505}" dt="2022-10-16T12:45:51.488" v="1" actId="47"/>
        <pc:sldMkLst>
          <pc:docMk/>
          <pc:sldMk cId="2093252237" sldId="279"/>
        </pc:sldMkLst>
      </pc:sldChg>
      <pc:sldChg chg="del">
        <pc:chgData name="Jeremiah Contreras" userId="9ea49ee18badb19e" providerId="LiveId" clId="{B4E4113C-5F08-4667-8567-18A5503AA505}" dt="2022-10-16T12:45:51.488" v="1" actId="47"/>
        <pc:sldMkLst>
          <pc:docMk/>
          <pc:sldMk cId="4075687975" sldId="280"/>
        </pc:sldMkLst>
      </pc:sldChg>
      <pc:sldChg chg="del">
        <pc:chgData name="Jeremiah Contreras" userId="9ea49ee18badb19e" providerId="LiveId" clId="{B4E4113C-5F08-4667-8567-18A5503AA505}" dt="2022-10-16T12:45:51.488" v="1" actId="47"/>
        <pc:sldMkLst>
          <pc:docMk/>
          <pc:sldMk cId="1651053350" sldId="281"/>
        </pc:sldMkLst>
      </pc:sldChg>
      <pc:sldChg chg="del">
        <pc:chgData name="Jeremiah Contreras" userId="9ea49ee18badb19e" providerId="LiveId" clId="{B4E4113C-5F08-4667-8567-18A5503AA505}" dt="2022-10-16T12:45:51.488" v="1" actId="47"/>
        <pc:sldMkLst>
          <pc:docMk/>
          <pc:sldMk cId="3215292086" sldId="418"/>
        </pc:sldMkLst>
      </pc:sldChg>
      <pc:sldChg chg="del">
        <pc:chgData name="Jeremiah Contreras" userId="9ea49ee18badb19e" providerId="LiveId" clId="{B4E4113C-5F08-4667-8567-18A5503AA505}" dt="2022-10-16T12:45:51.488" v="1" actId="47"/>
        <pc:sldMkLst>
          <pc:docMk/>
          <pc:sldMk cId="0" sldId="424"/>
        </pc:sldMkLst>
      </pc:sldChg>
      <pc:sldChg chg="add del">
        <pc:chgData name="Jeremiah Contreras" userId="9ea49ee18badb19e" providerId="LiveId" clId="{B4E4113C-5F08-4667-8567-18A5503AA505}" dt="2022-10-16T12:45:59.964" v="3" actId="47"/>
        <pc:sldMkLst>
          <pc:docMk/>
          <pc:sldMk cId="3306800427" sldId="428"/>
        </pc:sldMkLst>
      </pc:sldChg>
      <pc:sldChg chg="del">
        <pc:chgData name="Jeremiah Contreras" userId="9ea49ee18badb19e" providerId="LiveId" clId="{B4E4113C-5F08-4667-8567-18A5503AA505}" dt="2022-10-16T12:45:51.488" v="1" actId="47"/>
        <pc:sldMkLst>
          <pc:docMk/>
          <pc:sldMk cId="1445483256" sldId="435"/>
        </pc:sldMkLst>
      </pc:sldChg>
      <pc:sldChg chg="del">
        <pc:chgData name="Jeremiah Contreras" userId="9ea49ee18badb19e" providerId="LiveId" clId="{B4E4113C-5F08-4667-8567-18A5503AA505}" dt="2022-10-16T12:45:51.488" v="1" actId="47"/>
        <pc:sldMkLst>
          <pc:docMk/>
          <pc:sldMk cId="1334177191" sldId="436"/>
        </pc:sldMkLst>
      </pc:sldChg>
      <pc:sldChg chg="del">
        <pc:chgData name="Jeremiah Contreras" userId="9ea49ee18badb19e" providerId="LiveId" clId="{B4E4113C-5F08-4667-8567-18A5503AA505}" dt="2022-10-16T12:45:51.488" v="1" actId="47"/>
        <pc:sldMkLst>
          <pc:docMk/>
          <pc:sldMk cId="4254619503" sldId="437"/>
        </pc:sldMkLst>
      </pc:sldChg>
      <pc:sldChg chg="del">
        <pc:chgData name="Jeremiah Contreras" userId="9ea49ee18badb19e" providerId="LiveId" clId="{B4E4113C-5F08-4667-8567-18A5503AA505}" dt="2022-10-16T12:45:51.488" v="1" actId="47"/>
        <pc:sldMkLst>
          <pc:docMk/>
          <pc:sldMk cId="477593023" sldId="438"/>
        </pc:sldMkLst>
      </pc:sldChg>
      <pc:sldChg chg="del">
        <pc:chgData name="Jeremiah Contreras" userId="9ea49ee18badb19e" providerId="LiveId" clId="{B4E4113C-5F08-4667-8567-18A5503AA505}" dt="2022-10-16T12:45:51.488" v="1" actId="47"/>
        <pc:sldMkLst>
          <pc:docMk/>
          <pc:sldMk cId="1761031151" sldId="439"/>
        </pc:sldMkLst>
      </pc:sldChg>
      <pc:sldChg chg="del">
        <pc:chgData name="Jeremiah Contreras" userId="9ea49ee18badb19e" providerId="LiveId" clId="{B4E4113C-5F08-4667-8567-18A5503AA505}" dt="2022-10-16T12:45:51.488" v="1" actId="47"/>
        <pc:sldMkLst>
          <pc:docMk/>
          <pc:sldMk cId="3088813193" sldId="442"/>
        </pc:sldMkLst>
      </pc:sldChg>
      <pc:sldChg chg="del">
        <pc:chgData name="Jeremiah Contreras" userId="9ea49ee18badb19e" providerId="LiveId" clId="{B4E4113C-5F08-4667-8567-18A5503AA505}" dt="2022-10-16T12:45:51.488" v="1" actId="47"/>
        <pc:sldMkLst>
          <pc:docMk/>
          <pc:sldMk cId="1837293358" sldId="443"/>
        </pc:sldMkLst>
      </pc:sldChg>
      <pc:sldChg chg="del">
        <pc:chgData name="Jeremiah Contreras" userId="9ea49ee18badb19e" providerId="LiveId" clId="{B4E4113C-5F08-4667-8567-18A5503AA505}" dt="2022-10-16T12:45:51.488" v="1" actId="47"/>
        <pc:sldMkLst>
          <pc:docMk/>
          <pc:sldMk cId="3860625456" sldId="444"/>
        </pc:sldMkLst>
      </pc:sldChg>
      <pc:sldChg chg="del">
        <pc:chgData name="Jeremiah Contreras" userId="9ea49ee18badb19e" providerId="LiveId" clId="{B4E4113C-5F08-4667-8567-18A5503AA505}" dt="2022-10-16T12:45:51.488" v="1" actId="47"/>
        <pc:sldMkLst>
          <pc:docMk/>
          <pc:sldMk cId="1988477337" sldId="445"/>
        </pc:sldMkLst>
      </pc:sldChg>
      <pc:sldChg chg="del">
        <pc:chgData name="Jeremiah Contreras" userId="9ea49ee18badb19e" providerId="LiveId" clId="{B4E4113C-5F08-4667-8567-18A5503AA505}" dt="2022-10-16T12:45:51.488" v="1" actId="47"/>
        <pc:sldMkLst>
          <pc:docMk/>
          <pc:sldMk cId="1568633815" sldId="446"/>
        </pc:sldMkLst>
      </pc:sldChg>
      <pc:sldChg chg="del">
        <pc:chgData name="Jeremiah Contreras" userId="9ea49ee18badb19e" providerId="LiveId" clId="{B4E4113C-5F08-4667-8567-18A5503AA505}" dt="2022-10-16T12:44:25.311" v="0" actId="47"/>
        <pc:sldMkLst>
          <pc:docMk/>
          <pc:sldMk cId="925501479" sldId="447"/>
        </pc:sldMkLst>
      </pc:sldChg>
      <pc:sldChg chg="del">
        <pc:chgData name="Jeremiah Contreras" userId="9ea49ee18badb19e" providerId="LiveId" clId="{B4E4113C-5F08-4667-8567-18A5503AA505}" dt="2022-10-16T12:45:51.488" v="1" actId="47"/>
        <pc:sldMkLst>
          <pc:docMk/>
          <pc:sldMk cId="1565542130" sldId="44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279B94-CEC4-4B78-AACA-8798394CE3A9}" type="datetimeFigureOut">
              <a:rPr lang="en-US" smtClean="0"/>
              <a:t>10/16/2022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ADFD3F-0C84-449A-9041-4377B2065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00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602971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PP&amp;E: part of an Asset Class considered Tangible, Operational Assets with long-term benefits.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DFD3F-0C84-449A-9041-4377B20657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84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12750" y="701675"/>
            <a:ext cx="6202363" cy="34893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1676" y="4422775"/>
            <a:ext cx="5619750" cy="41846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lIns="93247" tIns="46625" rIns="93247" bIns="46625"/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220525" indent="-220525">
              <a:defRPr/>
            </a:pP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35486297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88950" y="700088"/>
            <a:ext cx="6211888" cy="3495675"/>
          </a:xfrm>
          <a:prstGeom prst="rect">
            <a:avLst/>
          </a:prstGeom>
          <a:noFill/>
          <a:ln w="126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57263" y="4429125"/>
            <a:ext cx="5276850" cy="41894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926" tIns="47465" rIns="94926" bIns="47465"/>
          <a:lstStyle/>
          <a:p>
            <a:r>
              <a:rPr lang="en-US" altLang="en-US" dirty="0"/>
              <a:t>Largely the same as inventory or other tangible assets: </a:t>
            </a:r>
            <a:r>
              <a:rPr lang="en-US" altLang="en-US" b="1" dirty="0"/>
              <a:t>USE HISTORICAL COST</a:t>
            </a:r>
            <a:r>
              <a:rPr lang="en-US" altLang="en-US" dirty="0"/>
              <a:t>: </a:t>
            </a:r>
          </a:p>
          <a:p>
            <a:r>
              <a:rPr lang="en-US" altLang="en-US" dirty="0"/>
              <a:t>Why? Its Reliable. </a:t>
            </a:r>
          </a:p>
          <a:p>
            <a:r>
              <a:rPr lang="en-US" altLang="en-US" dirty="0"/>
              <a:t>We’re not going to use fair value because Companies should not anticipate gains/losses. But should </a:t>
            </a:r>
            <a:r>
              <a:rPr lang="en-US" altLang="en-US" dirty="0" err="1"/>
              <a:t>recog</a:t>
            </a:r>
            <a:r>
              <a:rPr lang="en-US" altLang="en-US"/>
              <a:t> Gain</a:t>
            </a:r>
            <a:r>
              <a:rPr lang="en-US" altLang="en-US" dirty="0"/>
              <a:t>/loss only when the asset is sold.</a:t>
            </a:r>
          </a:p>
          <a:p>
            <a:endParaRPr lang="en-US" altLang="en-US" dirty="0"/>
          </a:p>
          <a:p>
            <a:r>
              <a:rPr lang="en-US" altLang="en-US" dirty="0"/>
              <a:t>Note that </a:t>
            </a:r>
            <a:r>
              <a:rPr lang="en-US" altLang="en-US" b="1" dirty="0"/>
              <a:t>attorney costs </a:t>
            </a:r>
            <a:r>
              <a:rPr lang="en-US" altLang="en-US" dirty="0"/>
              <a:t>in the acquisition are capitalized (HW2).</a:t>
            </a:r>
          </a:p>
          <a:p>
            <a:endParaRPr lang="en-US" altLang="en-US" dirty="0"/>
          </a:p>
          <a:p>
            <a:r>
              <a:rPr lang="en-US" altLang="en-US" dirty="0"/>
              <a:t>Removing </a:t>
            </a:r>
            <a:r>
              <a:rPr lang="en-US" altLang="en-US" b="1" dirty="0"/>
              <a:t>old building goes to getting LAND ready for use</a:t>
            </a:r>
            <a:r>
              <a:rPr lang="en-US" altLang="en-US" dirty="0"/>
              <a:t>, not the future bldg. that may go up</a:t>
            </a:r>
          </a:p>
          <a:p>
            <a:r>
              <a:rPr lang="en-US" altLang="en-US" dirty="0"/>
              <a:t>Salvaged materials:  if you are able to sell the bricks or </a:t>
            </a:r>
            <a:r>
              <a:rPr lang="en-US" altLang="en-US" b="1" dirty="0"/>
              <a:t>copper (pipes</a:t>
            </a:r>
            <a:r>
              <a:rPr lang="en-US" altLang="en-US" dirty="0"/>
              <a:t>) salvaged on your land, you DR Cash and CR Land (to reduce cost of land)</a:t>
            </a:r>
          </a:p>
          <a:p>
            <a:endParaRPr lang="en-US" altLang="en-US" b="1" dirty="0"/>
          </a:p>
          <a:p>
            <a:r>
              <a:rPr lang="en-US" altLang="en-US" b="1" dirty="0"/>
              <a:t>NOTE: </a:t>
            </a:r>
            <a:r>
              <a:rPr lang="en-US" altLang="en-US" b="1" dirty="0">
                <a:latin typeface="Arial" panose="020B0604020202020204" pitchFamily="34" charset="0"/>
              </a:rPr>
              <a:t>improvements with limited lives are </a:t>
            </a:r>
            <a:r>
              <a:rPr lang="en-US" altLang="en-US" b="0" dirty="0">
                <a:latin typeface="Arial" panose="020B0604020202020204" pitchFamily="34" charset="0"/>
              </a:rPr>
              <a:t>recorded separately as </a:t>
            </a:r>
            <a:r>
              <a:rPr lang="en-US" altLang="en-US" b="1" dirty="0">
                <a:latin typeface="Arial" panose="020B0604020202020204" pitchFamily="34" charset="0"/>
              </a:rPr>
              <a:t>Land Improvements and depreciated over their estimated lives</a:t>
            </a:r>
          </a:p>
        </p:txBody>
      </p:sp>
    </p:spTree>
    <p:extLst>
      <p:ext uri="{BB962C8B-B14F-4D97-AF65-F5344CB8AC3E}">
        <p14:creationId xmlns:p14="http://schemas.microsoft.com/office/powerpoint/2010/main" val="2322213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88950" y="700088"/>
            <a:ext cx="6211888" cy="3495675"/>
          </a:xfrm>
          <a:prstGeom prst="rect">
            <a:avLst/>
          </a:prstGeom>
          <a:noFill/>
          <a:ln w="12699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57263" y="4429125"/>
            <a:ext cx="5276850" cy="418941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926" tIns="47465" rIns="94926" bIns="47465"/>
          <a:lstStyle/>
          <a:p>
            <a:r>
              <a:rPr lang="en-US" altLang="en-US" dirty="0"/>
              <a:t>Largely the same as inventory or other tangible assets: </a:t>
            </a:r>
            <a:r>
              <a:rPr lang="en-US" altLang="en-US" b="1" dirty="0"/>
              <a:t>USE HISTORICAL COST</a:t>
            </a:r>
            <a:r>
              <a:rPr lang="en-US" altLang="en-US" dirty="0"/>
              <a:t>: </a:t>
            </a:r>
          </a:p>
          <a:p>
            <a:r>
              <a:rPr lang="en-US" altLang="en-US" dirty="0"/>
              <a:t>Why? Its Reliable. </a:t>
            </a:r>
          </a:p>
          <a:p>
            <a:r>
              <a:rPr lang="en-US" altLang="en-US" dirty="0"/>
              <a:t>We’re not going to use fair value because Companies should not anticipate gains/losses. But should </a:t>
            </a:r>
            <a:r>
              <a:rPr lang="en-US" altLang="en-US" dirty="0" err="1"/>
              <a:t>recog</a:t>
            </a:r>
            <a:r>
              <a:rPr lang="en-US" altLang="en-US"/>
              <a:t> Gain</a:t>
            </a:r>
            <a:r>
              <a:rPr lang="en-US" altLang="en-US" dirty="0"/>
              <a:t>/loss only when the asset is sold.</a:t>
            </a:r>
          </a:p>
          <a:p>
            <a:endParaRPr lang="en-US" altLang="en-US" dirty="0"/>
          </a:p>
          <a:p>
            <a:r>
              <a:rPr lang="en-US" altLang="en-US" dirty="0"/>
              <a:t>Note that </a:t>
            </a:r>
            <a:r>
              <a:rPr lang="en-US" altLang="en-US" b="1" dirty="0"/>
              <a:t>attorney costs </a:t>
            </a:r>
            <a:r>
              <a:rPr lang="en-US" altLang="en-US" dirty="0"/>
              <a:t>in the acquisition are capitalized (HW2).</a:t>
            </a:r>
          </a:p>
          <a:p>
            <a:endParaRPr lang="en-US" altLang="en-US" dirty="0"/>
          </a:p>
          <a:p>
            <a:r>
              <a:rPr lang="en-US" altLang="en-US" dirty="0"/>
              <a:t>Removing </a:t>
            </a:r>
            <a:r>
              <a:rPr lang="en-US" altLang="en-US" b="1" dirty="0"/>
              <a:t>old building goes to getting LAND ready for use</a:t>
            </a:r>
            <a:r>
              <a:rPr lang="en-US" altLang="en-US" dirty="0"/>
              <a:t>, not the future bldg. that may go up</a:t>
            </a:r>
          </a:p>
          <a:p>
            <a:r>
              <a:rPr lang="en-US" altLang="en-US" dirty="0"/>
              <a:t>Salvaged materials:  if you are able to sell the bricks or </a:t>
            </a:r>
            <a:r>
              <a:rPr lang="en-US" altLang="en-US" b="1" dirty="0"/>
              <a:t>copper (pipes</a:t>
            </a:r>
            <a:r>
              <a:rPr lang="en-US" altLang="en-US" dirty="0"/>
              <a:t>) salvaged on your land, you DR Cash and CR Land (to reduce cost of land)</a:t>
            </a:r>
          </a:p>
          <a:p>
            <a:endParaRPr lang="en-US" altLang="en-US" b="1" dirty="0"/>
          </a:p>
          <a:p>
            <a:r>
              <a:rPr lang="en-US" altLang="en-US" b="1" dirty="0"/>
              <a:t>NOTE: </a:t>
            </a:r>
            <a:r>
              <a:rPr lang="en-US" altLang="en-US" b="1" dirty="0">
                <a:latin typeface="Arial" panose="020B0604020202020204" pitchFamily="34" charset="0"/>
              </a:rPr>
              <a:t>improvements with limited lives are </a:t>
            </a:r>
            <a:r>
              <a:rPr lang="en-US" altLang="en-US" b="0" dirty="0">
                <a:latin typeface="Arial" panose="020B0604020202020204" pitchFamily="34" charset="0"/>
              </a:rPr>
              <a:t>recorded separately as </a:t>
            </a:r>
            <a:r>
              <a:rPr lang="en-US" altLang="en-US" b="1" dirty="0">
                <a:latin typeface="Arial" panose="020B0604020202020204" pitchFamily="34" charset="0"/>
              </a:rPr>
              <a:t>Land Improvements and depreciated over their estimated lives</a:t>
            </a:r>
          </a:p>
        </p:txBody>
      </p:sp>
    </p:spTree>
    <p:extLst>
      <p:ext uri="{BB962C8B-B14F-4D97-AF65-F5344CB8AC3E}">
        <p14:creationId xmlns:p14="http://schemas.microsoft.com/office/powerpoint/2010/main" val="12159302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modifications necessary to fit equipment into a particular room, for example</a:t>
            </a:r>
          </a:p>
          <a:p>
            <a:r>
              <a:rPr lang="en-US" dirty="0"/>
              <a:t>And </a:t>
            </a:r>
          </a:p>
          <a:p>
            <a:r>
              <a:rPr lang="en-US" dirty="0"/>
              <a:t>Any money spent on </a:t>
            </a:r>
            <a:r>
              <a:rPr lang="en-US" b="1" dirty="0"/>
              <a:t>Testing and trial runs also gets Capitalized : booked to the asset …. </a:t>
            </a:r>
            <a:r>
              <a:rPr lang="en-US" b="0" dirty="0"/>
              <a:t>To be depreciated over its life and NOT expensed immediately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ADFD3F-0C84-449A-9041-4377B20657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9524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407988" y="698500"/>
            <a:ext cx="6208712" cy="34925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3263" y="4422775"/>
            <a:ext cx="5616575" cy="41878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735" tIns="43867" rIns="87735" bIns="43867"/>
          <a:lstStyle/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70990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75521" y="6425364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69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284788" y="6386666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838200" y="1184982"/>
            <a:ext cx="777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652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21821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347451" y="6494435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795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9449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261785" y="6352161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986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>
            <a:normAutofit/>
          </a:bodyPr>
          <a:lstStyle>
            <a:lvl1pPr>
              <a:defRPr sz="4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2531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227279" y="6340659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513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75521" y="6356352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9831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92774" y="6408111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31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198525" y="6356351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469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820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817605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38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4178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768179" cy="365125"/>
          </a:xfrm>
          <a:prstGeom prst="rect">
            <a:avLst/>
          </a:prstGeom>
        </p:spPr>
        <p:txBody>
          <a:bodyPr/>
          <a:lstStyle/>
          <a:p>
            <a:fld id="{DD321DBF-325B-3546-BAAF-4F6E3B3181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60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tif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7850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7"/>
            <a:ext cx="10515600" cy="3957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11219286" y="6408111"/>
            <a:ext cx="817605" cy="365125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DD321DBF-325B-3546-BAAF-4F6E3B3181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E8B790-23B5-4C60-94C1-80246395342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82" y="140401"/>
            <a:ext cx="2068409" cy="43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142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790489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200" b="1" i="1" dirty="0">
                <a:solidFill>
                  <a:prstClr val="white"/>
                </a:solidFill>
                <a:latin typeface="Arial" panose="020B0604020202020204"/>
              </a:rPr>
              <a:t>Property, Plant &amp; Equipment</a:t>
            </a:r>
            <a:r>
              <a:rPr kumimoji="0" lang="en-US" alt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Part 1 - Video</a:t>
            </a:r>
          </a:p>
        </p:txBody>
      </p:sp>
    </p:spTree>
    <p:extLst>
      <p:ext uri="{BB962C8B-B14F-4D97-AF65-F5344CB8AC3E}">
        <p14:creationId xmlns:p14="http://schemas.microsoft.com/office/powerpoint/2010/main" val="871637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83ABC-AE84-4FFB-B64E-8801C767C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+mj-lt"/>
                <a:cs typeface="Calibri Light" panose="020F0302020204030204" pitchFamily="34" charset="0"/>
              </a:rPr>
              <a:t>Property, Plant &amp; Equipment (PPE)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EDFCF06F-D9CD-464C-8D4D-D15B30C1B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676" y="1450181"/>
            <a:ext cx="9633884" cy="3957638"/>
          </a:xfrm>
        </p:spPr>
        <p:txBody>
          <a:bodyPr>
            <a:normAutofit/>
          </a:bodyPr>
          <a:lstStyle/>
          <a:p>
            <a:r>
              <a:rPr lang="en-US" sz="2400" dirty="0"/>
              <a:t>Actively used in operations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Expected to provide benefits beyond the current accounting period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Has physical substance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Generally reported as property, plant, and equipment; plant assets; or fixed assets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2B6B199-0599-4A00-BA54-732132A8A61C}"/>
              </a:ext>
            </a:extLst>
          </p:cNvPr>
          <p:cNvSpPr/>
          <p:nvPr/>
        </p:nvSpPr>
        <p:spPr>
          <a:xfrm rot="20963087">
            <a:off x="4419622" y="3115553"/>
            <a:ext cx="1582390" cy="62689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Tangible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B4B5187-334F-40BA-8123-451C37624B39}"/>
              </a:ext>
            </a:extLst>
          </p:cNvPr>
          <p:cNvSpPr/>
          <p:nvPr/>
        </p:nvSpPr>
        <p:spPr>
          <a:xfrm rot="20948747">
            <a:off x="10093876" y="2037144"/>
            <a:ext cx="1837208" cy="626892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Long-Term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35F0C26-521B-4779-B6A6-E98197AC1F4D}"/>
              </a:ext>
            </a:extLst>
          </p:cNvPr>
          <p:cNvSpPr/>
          <p:nvPr/>
        </p:nvSpPr>
        <p:spPr>
          <a:xfrm rot="20934125">
            <a:off x="5031941" y="1374362"/>
            <a:ext cx="1946251" cy="626892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Operational</a:t>
            </a:r>
          </a:p>
        </p:txBody>
      </p:sp>
    </p:spTree>
    <p:extLst>
      <p:ext uri="{BB962C8B-B14F-4D97-AF65-F5344CB8AC3E}">
        <p14:creationId xmlns:p14="http://schemas.microsoft.com/office/powerpoint/2010/main" val="1952487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791095" y="284430"/>
            <a:ext cx="8796337" cy="1143000"/>
          </a:xfrm>
        </p:spPr>
        <p:txBody>
          <a:bodyPr>
            <a:normAutofit/>
          </a:bodyPr>
          <a:lstStyle/>
          <a:p>
            <a:r>
              <a:rPr lang="en-US" altLang="en-US" sz="4000" dirty="0">
                <a:latin typeface="+mj-lt"/>
                <a:cs typeface="Calibri Light" panose="020F0302020204030204" pitchFamily="34" charset="0"/>
              </a:rPr>
              <a:t>PP&amp;E Life Cycle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4E814E-CD2A-4693-8F98-473AC7A62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50875"/>
            <a:ext cx="12192000" cy="346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062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8181" y="153408"/>
            <a:ext cx="8682037" cy="1143000"/>
          </a:xfrm>
        </p:spPr>
        <p:txBody>
          <a:bodyPr>
            <a:normAutofit/>
          </a:bodyPr>
          <a:lstStyle/>
          <a:p>
            <a:r>
              <a:rPr lang="en-US" altLang="en-US" dirty="0">
                <a:latin typeface="+mj-lt"/>
              </a:rPr>
              <a:t>Determining acquisition cost</a:t>
            </a:r>
          </a:p>
        </p:txBody>
      </p:sp>
      <p:sp>
        <p:nvSpPr>
          <p:cNvPr id="17411" name="Content Placeholder 1"/>
          <p:cNvSpPr>
            <a:spLocks noGrp="1"/>
          </p:cNvSpPr>
          <p:nvPr>
            <p:ph idx="1"/>
          </p:nvPr>
        </p:nvSpPr>
        <p:spPr>
          <a:xfrm>
            <a:off x="688181" y="1760531"/>
            <a:ext cx="11280299" cy="37868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5"/>
                </a:solidFill>
                <a:latin typeface="Arial" charset="0"/>
              </a:rPr>
              <a:t>Historical cost 	</a:t>
            </a:r>
            <a:r>
              <a:rPr lang="en-US" dirty="0">
                <a:latin typeface="Arial" charset="0"/>
              </a:rPr>
              <a:t>=</a:t>
            </a:r>
            <a:r>
              <a:rPr lang="en-US" sz="2400" b="0" dirty="0">
                <a:latin typeface="Arial" charset="0"/>
              </a:rPr>
              <a:t> 	price of obtaining the asset 	               		   (capitalize)		</a:t>
            </a:r>
          </a:p>
          <a:p>
            <a:pPr marL="0" indent="0">
              <a:buNone/>
            </a:pPr>
            <a:r>
              <a:rPr lang="en-US" sz="2400" b="0" dirty="0">
                <a:latin typeface="Arial" charset="0"/>
              </a:rPr>
              <a:t>				</a:t>
            </a:r>
            <a:r>
              <a:rPr lang="en-US" b="0" dirty="0">
                <a:latin typeface="Arial" charset="0"/>
              </a:rPr>
              <a:t>+</a:t>
            </a:r>
            <a:r>
              <a:rPr lang="en-US" sz="2400" b="0" dirty="0">
                <a:latin typeface="Arial" charset="0"/>
              </a:rPr>
              <a:t> </a:t>
            </a:r>
            <a:r>
              <a:rPr lang="en-US" sz="2400" dirty="0">
                <a:latin typeface="Arial" charset="0"/>
              </a:rPr>
              <a:t>any costs of</a:t>
            </a:r>
            <a:r>
              <a:rPr lang="en-US" sz="2400" b="0" dirty="0">
                <a:latin typeface="Arial" charset="0"/>
              </a:rPr>
              <a:t> bringing it to the location </a:t>
            </a:r>
            <a:endParaRPr lang="en-US" sz="2400" dirty="0">
              <a:latin typeface="Arial" charset="0"/>
            </a:endParaRPr>
          </a:p>
          <a:p>
            <a:pPr marL="0" indent="0">
              <a:buNone/>
            </a:pPr>
            <a:r>
              <a:rPr lang="en-US" sz="2400" b="0" dirty="0">
                <a:latin typeface="Arial" charset="0"/>
              </a:rPr>
              <a:t>		    </a:t>
            </a:r>
          </a:p>
          <a:p>
            <a:pPr marL="0" indent="0">
              <a:buNone/>
            </a:pPr>
            <a:r>
              <a:rPr lang="en-US" sz="2600" b="0" dirty="0">
                <a:latin typeface="Arial" charset="0"/>
              </a:rPr>
              <a:t>				+ </a:t>
            </a:r>
            <a:r>
              <a:rPr lang="en-US" sz="2400" b="0" dirty="0">
                <a:latin typeface="Arial" charset="0"/>
              </a:rPr>
              <a:t>any costs necessary for its intended use.</a:t>
            </a:r>
          </a:p>
          <a:p>
            <a:pPr marL="0" indent="0">
              <a:buNone/>
            </a:pPr>
            <a:endParaRPr lang="en-US" alt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1298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88181" y="153408"/>
            <a:ext cx="8682037" cy="1143000"/>
          </a:xfrm>
        </p:spPr>
        <p:txBody>
          <a:bodyPr>
            <a:normAutofit/>
          </a:bodyPr>
          <a:lstStyle/>
          <a:p>
            <a:r>
              <a:rPr lang="en-US" altLang="en-US" dirty="0">
                <a:latin typeface="+mj-lt"/>
              </a:rPr>
              <a:t>Determining acquisition cost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DEAFB5FF-7F9C-435E-84A0-779A7335081A}"/>
              </a:ext>
            </a:extLst>
          </p:cNvPr>
          <p:cNvSpPr txBox="1">
            <a:spLocks noChangeArrowheads="1"/>
          </p:cNvSpPr>
          <p:nvPr/>
        </p:nvSpPr>
        <p:spPr>
          <a:xfrm>
            <a:off x="864897" y="1910111"/>
            <a:ext cx="4114800" cy="3679364"/>
          </a:xfrm>
          <a:prstGeom prst="rect">
            <a:avLst/>
          </a:prstGeom>
          <a:solidFill>
            <a:srgbClr val="CCECFF"/>
          </a:solidFill>
          <a:ln w="285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  <a:buFont typeface="Wingdings 2" pitchFamily="18" charset="2"/>
              <a:buNone/>
            </a:pPr>
            <a:r>
              <a:rPr lang="en-US" sz="2200" u="sng" dirty="0">
                <a:cs typeface="Arial" charset="0"/>
              </a:rPr>
              <a:t>Land </a:t>
            </a:r>
            <a:r>
              <a:rPr lang="en-US" sz="2200" b="1" u="sng" dirty="0">
                <a:solidFill>
                  <a:srgbClr val="FF0000"/>
                </a:solidFill>
                <a:cs typeface="Arial" charset="0"/>
              </a:rPr>
              <a:t>(not depreciable)</a:t>
            </a:r>
          </a:p>
          <a:p>
            <a:pPr>
              <a:buClr>
                <a:schemeClr val="tx1"/>
              </a:buClr>
            </a:pPr>
            <a:r>
              <a:rPr lang="en-US" sz="2200" dirty="0">
                <a:cs typeface="Arial" charset="0"/>
              </a:rPr>
              <a:t>Purchase price</a:t>
            </a:r>
          </a:p>
          <a:p>
            <a:pPr>
              <a:buClr>
                <a:schemeClr val="tx1"/>
              </a:buClr>
            </a:pPr>
            <a:r>
              <a:rPr lang="en-US" sz="2200" dirty="0">
                <a:cs typeface="Arial" charset="0"/>
              </a:rPr>
              <a:t>Real estate commissions</a:t>
            </a:r>
          </a:p>
          <a:p>
            <a:pPr>
              <a:buClr>
                <a:schemeClr val="tx1"/>
              </a:buClr>
            </a:pPr>
            <a:r>
              <a:rPr lang="en-US" sz="2200" dirty="0">
                <a:cs typeface="Arial" charset="0"/>
              </a:rPr>
              <a:t>Attorney’s fees</a:t>
            </a:r>
          </a:p>
          <a:p>
            <a:pPr>
              <a:buClr>
                <a:schemeClr val="tx1"/>
              </a:buClr>
            </a:pPr>
            <a:r>
              <a:rPr lang="en-US" sz="2200" dirty="0">
                <a:cs typeface="Arial" charset="0"/>
              </a:rPr>
              <a:t>Title search</a:t>
            </a:r>
          </a:p>
          <a:p>
            <a:pPr>
              <a:buClr>
                <a:schemeClr val="tx1"/>
              </a:buClr>
            </a:pPr>
            <a:r>
              <a:rPr lang="en-US" sz="2200" dirty="0">
                <a:cs typeface="Arial" charset="0"/>
              </a:rPr>
              <a:t>Title transfer fees</a:t>
            </a:r>
          </a:p>
          <a:p>
            <a:pPr>
              <a:buClr>
                <a:schemeClr val="tx1"/>
              </a:buClr>
            </a:pPr>
            <a:r>
              <a:rPr lang="en-US" sz="2200" dirty="0">
                <a:cs typeface="Arial" charset="0"/>
              </a:rPr>
              <a:t>Title insurance premiums</a:t>
            </a:r>
          </a:p>
          <a:p>
            <a:pPr>
              <a:buClr>
                <a:schemeClr val="tx1"/>
              </a:buClr>
            </a:pPr>
            <a:r>
              <a:rPr lang="en-US" sz="2200" dirty="0">
                <a:cs typeface="Arial" charset="0"/>
              </a:rPr>
              <a:t>Removing old buildings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EC9703C4-32B9-40B5-BE32-D5A1E7CE3E48}"/>
              </a:ext>
            </a:extLst>
          </p:cNvPr>
          <p:cNvSpPr txBox="1">
            <a:spLocks noChangeArrowheads="1"/>
          </p:cNvSpPr>
          <p:nvPr/>
        </p:nvSpPr>
        <p:spPr>
          <a:xfrm>
            <a:off x="6355981" y="1910111"/>
            <a:ext cx="3480620" cy="3496235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90099"/>
              </a:buClr>
              <a:buFont typeface="Wingdings" pitchFamily="2" charset="2"/>
              <a:buNone/>
            </a:pPr>
            <a:r>
              <a:rPr lang="en-US" sz="2200" u="sng" dirty="0">
                <a:cs typeface="Arial" charset="0"/>
              </a:rPr>
              <a:t>Land Improvements</a:t>
            </a:r>
          </a:p>
          <a:p>
            <a:pPr>
              <a:buClr>
                <a:srgbClr val="990099"/>
              </a:buClr>
              <a:buFont typeface="Wingdings" pitchFamily="2" charset="2"/>
              <a:buNone/>
            </a:pPr>
            <a:r>
              <a:rPr lang="en-US" sz="2200" dirty="0">
                <a:cs typeface="Arial" charset="0"/>
              </a:rPr>
              <a:t>Separately identifiable</a:t>
            </a:r>
          </a:p>
          <a:p>
            <a:pPr>
              <a:buClr>
                <a:srgbClr val="990099"/>
              </a:buClr>
              <a:buFont typeface="Wingdings" pitchFamily="2" charset="2"/>
              <a:buNone/>
            </a:pPr>
            <a:r>
              <a:rPr lang="en-US" sz="2200" dirty="0">
                <a:cs typeface="Arial" charset="0"/>
              </a:rPr>
              <a:t> costs of</a:t>
            </a:r>
          </a:p>
          <a:p>
            <a:r>
              <a:rPr lang="en-US" sz="2200" dirty="0">
                <a:cs typeface="Arial" charset="0"/>
              </a:rPr>
              <a:t>Driveways</a:t>
            </a:r>
          </a:p>
          <a:p>
            <a:r>
              <a:rPr lang="en-US" sz="2200" dirty="0">
                <a:cs typeface="Arial" charset="0"/>
              </a:rPr>
              <a:t>Parking lots</a:t>
            </a:r>
          </a:p>
          <a:p>
            <a:r>
              <a:rPr lang="en-US" sz="2200" dirty="0">
                <a:cs typeface="Arial" charset="0"/>
              </a:rPr>
              <a:t>Fencing</a:t>
            </a:r>
          </a:p>
          <a:p>
            <a:r>
              <a:rPr lang="en-US" sz="2200" dirty="0">
                <a:cs typeface="Arial" charset="0"/>
              </a:rPr>
              <a:t>Landscaping</a:t>
            </a:r>
          </a:p>
          <a:p>
            <a:r>
              <a:rPr lang="en-US" sz="2200" dirty="0">
                <a:cs typeface="Arial" charset="0"/>
              </a:rPr>
              <a:t>Private roads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D29C2DD-CFC1-4365-A7B0-CC2D1240B795}"/>
              </a:ext>
            </a:extLst>
          </p:cNvPr>
          <p:cNvSpPr/>
          <p:nvPr/>
        </p:nvSpPr>
        <p:spPr>
          <a:xfrm rot="20922601">
            <a:off x="8579301" y="3201028"/>
            <a:ext cx="2514600" cy="914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MV Boli" pitchFamily="2" charset="0"/>
                <a:cs typeface="MV Boli" pitchFamily="2" charset="0"/>
              </a:rPr>
              <a:t>Yes, Depreciated!</a:t>
            </a:r>
          </a:p>
        </p:txBody>
      </p:sp>
    </p:spTree>
    <p:extLst>
      <p:ext uri="{BB962C8B-B14F-4D97-AF65-F5344CB8AC3E}">
        <p14:creationId xmlns:p14="http://schemas.microsoft.com/office/powerpoint/2010/main" val="7977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24BBBC0D-BE76-4ADA-B9CB-8A878C4B4C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5625"/>
            <a:ext cx="3704303" cy="3734517"/>
          </a:xfrm>
          <a:prstGeom prst="rect">
            <a:avLst/>
          </a:prstGeom>
          <a:solidFill>
            <a:srgbClr val="FFFFCC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lIns="90488" tIns="44450" rIns="90488" bIns="44450"/>
          <a:lstStyle/>
          <a:p>
            <a:pPr marL="0" indent="0">
              <a:lnSpc>
                <a:spcPct val="85000"/>
              </a:lnSpc>
              <a:spcBef>
                <a:spcPct val="30000"/>
              </a:spcBef>
              <a:buClr>
                <a:schemeClr val="tx1"/>
              </a:buClr>
              <a:buNone/>
            </a:pPr>
            <a:r>
              <a:rPr lang="en-US" sz="2400" b="1" u="sng" dirty="0"/>
              <a:t>Equipment</a:t>
            </a:r>
          </a:p>
          <a:p>
            <a:pPr marL="342900" indent="-342900">
              <a:lnSpc>
                <a:spcPct val="85000"/>
              </a:lnSpc>
              <a:spcBef>
                <a:spcPct val="30000"/>
              </a:spcBef>
              <a:buClr>
                <a:schemeClr val="tx1"/>
              </a:buClr>
              <a:buFont typeface="Arial" charset="0"/>
              <a:buChar char="•"/>
            </a:pPr>
            <a:r>
              <a:rPr lang="en-US" sz="2400" dirty="0"/>
              <a:t>Net purchase price</a:t>
            </a:r>
          </a:p>
          <a:p>
            <a:pPr marL="342900" indent="-342900">
              <a:lnSpc>
                <a:spcPct val="85000"/>
              </a:lnSpc>
              <a:spcBef>
                <a:spcPct val="30000"/>
              </a:spcBef>
              <a:buClr>
                <a:schemeClr val="tx1"/>
              </a:buClr>
              <a:buFont typeface="Arial" charset="0"/>
              <a:buChar char="•"/>
            </a:pPr>
            <a:r>
              <a:rPr lang="en-US" sz="2400" dirty="0"/>
              <a:t>Taxes</a:t>
            </a:r>
          </a:p>
          <a:p>
            <a:pPr marL="342900" indent="-342900">
              <a:lnSpc>
                <a:spcPct val="85000"/>
              </a:lnSpc>
              <a:spcBef>
                <a:spcPct val="30000"/>
              </a:spcBef>
              <a:buClr>
                <a:schemeClr val="tx1"/>
              </a:buClr>
              <a:buFont typeface="Arial" charset="0"/>
              <a:buChar char="•"/>
            </a:pPr>
            <a:r>
              <a:rPr lang="en-US" sz="2400" dirty="0"/>
              <a:t>Transportation costs</a:t>
            </a:r>
          </a:p>
          <a:p>
            <a:pPr marL="342900" indent="-342900">
              <a:lnSpc>
                <a:spcPct val="85000"/>
              </a:lnSpc>
              <a:spcBef>
                <a:spcPct val="30000"/>
              </a:spcBef>
              <a:buClr>
                <a:schemeClr val="tx1"/>
              </a:buClr>
              <a:buFont typeface="Arial" charset="0"/>
              <a:buChar char="•"/>
            </a:pPr>
            <a:r>
              <a:rPr lang="en-US" sz="2400" dirty="0"/>
              <a:t>Installation costs</a:t>
            </a:r>
          </a:p>
          <a:p>
            <a:pPr marL="342900" indent="-342900">
              <a:lnSpc>
                <a:spcPct val="85000"/>
              </a:lnSpc>
              <a:spcBef>
                <a:spcPct val="30000"/>
              </a:spcBef>
              <a:buClr>
                <a:schemeClr val="tx1"/>
              </a:buClr>
              <a:buFont typeface="Arial" charset="0"/>
              <a:buChar char="•"/>
            </a:pPr>
            <a:r>
              <a:rPr lang="en-US" sz="2400" dirty="0"/>
              <a:t>Modification to building</a:t>
            </a:r>
            <a:br>
              <a:rPr lang="en-US" sz="2400" dirty="0"/>
            </a:br>
            <a:r>
              <a:rPr lang="en-US" sz="2400" dirty="0"/>
              <a:t>necessary to install </a:t>
            </a:r>
            <a:br>
              <a:rPr lang="en-US" sz="2400" dirty="0"/>
            </a:br>
            <a:r>
              <a:rPr lang="en-US" sz="2400" dirty="0"/>
              <a:t>equipment</a:t>
            </a:r>
          </a:p>
          <a:p>
            <a:pPr marL="342900" indent="-342900">
              <a:lnSpc>
                <a:spcPct val="85000"/>
              </a:lnSpc>
              <a:spcBef>
                <a:spcPct val="30000"/>
              </a:spcBef>
              <a:buClr>
                <a:schemeClr val="tx1"/>
              </a:buClr>
              <a:buFont typeface="Arial" charset="0"/>
              <a:buChar char="•"/>
            </a:pPr>
            <a:r>
              <a:rPr lang="en-US" sz="2400" dirty="0"/>
              <a:t>Testing and trial runs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076ABAE-5DEC-4C20-830E-188D4A232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37778" y="1825625"/>
            <a:ext cx="3704303" cy="37345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65125" indent="-282575" eaLnBrk="0" hangingPunct="0">
              <a:spcBef>
                <a:spcPts val="600"/>
              </a:spcBef>
              <a:buClr>
                <a:schemeClr val="tx1"/>
              </a:buClr>
              <a:buSzPct val="80000"/>
              <a:defRPr/>
            </a:pPr>
            <a:r>
              <a:rPr lang="en-US" sz="2400" b="1" u="sng" dirty="0">
                <a:latin typeface="Arial" pitchFamily="34" charset="0"/>
                <a:cs typeface="Arial" pitchFamily="34" charset="0"/>
              </a:rPr>
              <a:t>Buildings</a:t>
            </a:r>
          </a:p>
          <a:p>
            <a:pPr marL="365125" indent="-282575" eaLnBrk="0" hangingPunct="0"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Purchase price</a:t>
            </a:r>
          </a:p>
          <a:p>
            <a:pPr marL="365125" indent="-282575" eaLnBrk="0" hangingPunct="0"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Attorney’s fees</a:t>
            </a:r>
          </a:p>
          <a:p>
            <a:pPr marL="365125" indent="-282575" eaLnBrk="0" hangingPunct="0"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Commissions</a:t>
            </a:r>
          </a:p>
          <a:p>
            <a:pPr marL="365125" indent="-282575" eaLnBrk="0" hangingPunct="0"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Reconditioning</a:t>
            </a:r>
          </a:p>
          <a:p>
            <a:pPr marL="365125" indent="-282575" eaLnBrk="0" hangingPunct="0">
              <a:spcBef>
                <a:spcPts val="600"/>
              </a:spcBef>
              <a:buClr>
                <a:schemeClr val="tx1"/>
              </a:buClr>
              <a:buSzPct val="80000"/>
              <a:buFont typeface="Arial" pitchFamily="34" charset="0"/>
              <a:buChar char="•"/>
              <a:defRPr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Delinquent Taxes</a:t>
            </a:r>
          </a:p>
          <a:p>
            <a:pPr marL="82550" eaLnBrk="0" hangingPunct="0">
              <a:spcBef>
                <a:spcPts val="600"/>
              </a:spcBef>
              <a:buClr>
                <a:schemeClr val="tx1"/>
              </a:buClr>
              <a:buSzPct val="80000"/>
              <a:defRPr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D03D0B0-333D-4AA7-9A17-51560C9731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7780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en-US" dirty="0">
                <a:latin typeface="+mj-lt"/>
              </a:rPr>
              <a:t>Determining acquisition cost</a:t>
            </a:r>
          </a:p>
        </p:txBody>
      </p:sp>
    </p:spTree>
    <p:extLst>
      <p:ext uri="{BB962C8B-B14F-4D97-AF65-F5344CB8AC3E}">
        <p14:creationId xmlns:p14="http://schemas.microsoft.com/office/powerpoint/2010/main" val="346235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AEA5E-A0A4-4CE9-B501-1C3D474AF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Do Not Capitalize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543D6-431D-40F2-A4BB-71C65B522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Interest incurred on debt to purchase plant assets because the asset is already in its intended condition for use.</a:t>
            </a:r>
          </a:p>
          <a:p>
            <a:endParaRPr lang="en-US" dirty="0"/>
          </a:p>
          <a:p>
            <a:r>
              <a:rPr lang="en-US" dirty="0"/>
              <a:t>Cost of training employees (improves employee value, not the asset)</a:t>
            </a:r>
          </a:p>
          <a:p>
            <a:endParaRPr lang="en-US" dirty="0"/>
          </a:p>
          <a:p>
            <a:r>
              <a:rPr lang="en-US" dirty="0"/>
              <a:t>Annual insurance costs or property taxes – these maintain the asset</a:t>
            </a:r>
          </a:p>
          <a:p>
            <a:endParaRPr lang="en-US" dirty="0"/>
          </a:p>
          <a:p>
            <a:r>
              <a:rPr lang="en-US" dirty="0"/>
              <a:t>Ordinary repairs</a:t>
            </a:r>
          </a:p>
        </p:txBody>
      </p:sp>
    </p:spTree>
    <p:extLst>
      <p:ext uri="{BB962C8B-B14F-4D97-AF65-F5344CB8AC3E}">
        <p14:creationId xmlns:p14="http://schemas.microsoft.com/office/powerpoint/2010/main" val="1563140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4B1C0-F93D-40D8-86E0-8C8184D4C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Lump Sum Purchase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BC364-31C6-4AEE-A667-4CBB329CB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070"/>
            <a:ext cx="10515600" cy="3957337"/>
          </a:xfrm>
        </p:spPr>
        <p:txBody>
          <a:bodyPr/>
          <a:lstStyle/>
          <a:p>
            <a:r>
              <a:rPr lang="en-US" dirty="0"/>
              <a:t>Acquire multiple fixed assets for a single price.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E5680B-8D4E-47D6-8081-C8E3209B9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327" y="2268220"/>
            <a:ext cx="8963025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779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EC849-6BCA-4E5A-B759-61DAE1C28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507"/>
            <a:ext cx="7834222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Lump Sum Purchase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1477A-368E-404E-B6A8-90106F424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642" y="1411558"/>
            <a:ext cx="11202358" cy="4944793"/>
          </a:xfrm>
        </p:spPr>
        <p:txBody>
          <a:bodyPr>
            <a:normAutofit/>
          </a:bodyPr>
          <a:lstStyle/>
          <a:p>
            <a:r>
              <a:rPr lang="en-US" sz="2400" dirty="0"/>
              <a:t>The negotiated acquisition price paid for land, a storage facility, and machinery for a purchase on December 1 is $90,000. 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These assets are individually </a:t>
            </a:r>
            <a:r>
              <a:rPr lang="en-US" sz="2400" b="1" dirty="0"/>
              <a:t>appraised</a:t>
            </a:r>
            <a:r>
              <a:rPr lang="en-US" sz="2400" dirty="0"/>
              <a:t> as follows: </a:t>
            </a:r>
          </a:p>
          <a:p>
            <a:pPr lvl="1"/>
            <a:r>
              <a:rPr lang="en-US" dirty="0"/>
              <a:t>Land, $30,000</a:t>
            </a:r>
          </a:p>
          <a:p>
            <a:pPr lvl="1"/>
            <a:r>
              <a:rPr lang="en-US" dirty="0"/>
              <a:t>Storage facility, $50,000</a:t>
            </a:r>
          </a:p>
          <a:p>
            <a:pPr lvl="1"/>
            <a:r>
              <a:rPr lang="en-US" dirty="0"/>
              <a:t>Machinery, $20,000</a:t>
            </a:r>
          </a:p>
          <a:p>
            <a:pPr marL="457189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</a:rPr>
              <a:t>Our Task: Allocate the single lump-sum price using the proportional method.</a:t>
            </a:r>
          </a:p>
          <a:p>
            <a:pPr marL="0" indent="0">
              <a:buNone/>
            </a:pPr>
            <a:endParaRPr lang="en-US" sz="24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173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664EF640-BDEC-4ADE-A650-501B98E1E6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6710310"/>
              </p:ext>
            </p:extLst>
          </p:nvPr>
        </p:nvGraphicFramePr>
        <p:xfrm>
          <a:off x="1572834" y="1504070"/>
          <a:ext cx="8547293" cy="2444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9187">
                  <a:extLst>
                    <a:ext uri="{9D8B030D-6E8A-4147-A177-3AD203B41FA5}">
                      <a16:colId xmlns:a16="http://schemas.microsoft.com/office/drawing/2014/main" val="3639426009"/>
                    </a:ext>
                  </a:extLst>
                </a:gridCol>
                <a:gridCol w="1643046">
                  <a:extLst>
                    <a:ext uri="{9D8B030D-6E8A-4147-A177-3AD203B41FA5}">
                      <a16:colId xmlns:a16="http://schemas.microsoft.com/office/drawing/2014/main" val="1215586986"/>
                    </a:ext>
                  </a:extLst>
                </a:gridCol>
                <a:gridCol w="1621162">
                  <a:extLst>
                    <a:ext uri="{9D8B030D-6E8A-4147-A177-3AD203B41FA5}">
                      <a16:colId xmlns:a16="http://schemas.microsoft.com/office/drawing/2014/main" val="3461073060"/>
                    </a:ext>
                  </a:extLst>
                </a:gridCol>
                <a:gridCol w="1266929">
                  <a:extLst>
                    <a:ext uri="{9D8B030D-6E8A-4147-A177-3AD203B41FA5}">
                      <a16:colId xmlns:a16="http://schemas.microsoft.com/office/drawing/2014/main" val="1061204222"/>
                    </a:ext>
                  </a:extLst>
                </a:gridCol>
                <a:gridCol w="1756969">
                  <a:extLst>
                    <a:ext uri="{9D8B030D-6E8A-4147-A177-3AD203B41FA5}">
                      <a16:colId xmlns:a16="http://schemas.microsoft.com/office/drawing/2014/main" val="360520342"/>
                    </a:ext>
                  </a:extLst>
                </a:gridCol>
              </a:tblGrid>
              <a:tr h="737008">
                <a:tc>
                  <a:txBody>
                    <a:bodyPr/>
                    <a:lstStyle/>
                    <a:p>
                      <a:r>
                        <a:rPr lang="en-US" dirty="0"/>
                        <a:t>Asset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Appraised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% of Value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     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Assigned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4166288"/>
                  </a:ext>
                </a:extLst>
              </a:tr>
              <a:tr h="426997">
                <a:tc>
                  <a:txBody>
                    <a:bodyPr/>
                    <a:lstStyle/>
                    <a:p>
                      <a:r>
                        <a:rPr lang="en-US" sz="2000" dirty="0"/>
                        <a:t>Land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$ 30,000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30/100 = 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 90,000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$ 27,000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954476"/>
                  </a:ext>
                </a:extLst>
              </a:tr>
              <a:tr h="426997">
                <a:tc>
                  <a:txBody>
                    <a:bodyPr/>
                    <a:lstStyle/>
                    <a:p>
                      <a:r>
                        <a:rPr lang="en-US" sz="2000" dirty="0"/>
                        <a:t>Storage facility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   50,000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50/100 = 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 90,000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  45,000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604662"/>
                  </a:ext>
                </a:extLst>
              </a:tr>
              <a:tr h="426997">
                <a:tc>
                  <a:txBody>
                    <a:bodyPr/>
                    <a:lstStyle/>
                    <a:p>
                      <a:r>
                        <a:rPr lang="en-US" sz="2000" dirty="0"/>
                        <a:t>Machinery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u="sng" dirty="0"/>
                        <a:t>   20,000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20/100 = 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 90,000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u="sng" dirty="0"/>
                        <a:t>  18,000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791521"/>
                  </a:ext>
                </a:extLst>
              </a:tr>
              <a:tr h="426997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$100,000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 $ 90,000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2598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5AF5618-7FD2-4122-870E-B0BA73D87EB4}"/>
              </a:ext>
            </a:extLst>
          </p:cNvPr>
          <p:cNvSpPr txBox="1"/>
          <p:nvPr/>
        </p:nvSpPr>
        <p:spPr>
          <a:xfrm>
            <a:off x="6807584" y="4246980"/>
            <a:ext cx="1765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Amounts for Journal entry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9C14DE-25B4-49B8-87F6-F1694C4EDD98}"/>
              </a:ext>
            </a:extLst>
          </p:cNvPr>
          <p:cNvSpPr txBox="1"/>
          <p:nvPr/>
        </p:nvSpPr>
        <p:spPr>
          <a:xfrm>
            <a:off x="5530871" y="2281316"/>
            <a:ext cx="431895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3ADB1A-F2AA-46C0-AD8D-0B152F6BE392}"/>
              </a:ext>
            </a:extLst>
          </p:cNvPr>
          <p:cNvSpPr txBox="1"/>
          <p:nvPr/>
        </p:nvSpPr>
        <p:spPr>
          <a:xfrm>
            <a:off x="5530870" y="2714903"/>
            <a:ext cx="431895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E56DF5-87AC-4257-8B7F-11C1AA73567B}"/>
              </a:ext>
            </a:extLst>
          </p:cNvPr>
          <p:cNvSpPr txBox="1"/>
          <p:nvPr/>
        </p:nvSpPr>
        <p:spPr>
          <a:xfrm>
            <a:off x="5530870" y="3133239"/>
            <a:ext cx="431895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0A9DCE-0A94-45A1-8C16-614FF2639362}"/>
              </a:ext>
            </a:extLst>
          </p:cNvPr>
          <p:cNvSpPr txBox="1"/>
          <p:nvPr/>
        </p:nvSpPr>
        <p:spPr>
          <a:xfrm>
            <a:off x="5530873" y="3551575"/>
            <a:ext cx="4318959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EFA7925-8888-4A04-9D98-FA20C5B7930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797" y="4627069"/>
            <a:ext cx="4815883" cy="1517368"/>
          </a:xfrm>
          <a:prstGeom prst="rect">
            <a:avLst/>
          </a:prstGeom>
          <a:noFill/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8FDD2DA-655C-44E4-8423-C70987BC13A7}"/>
              </a:ext>
            </a:extLst>
          </p:cNvPr>
          <p:cNvSpPr txBox="1"/>
          <p:nvPr/>
        </p:nvSpPr>
        <p:spPr>
          <a:xfrm>
            <a:off x="2121160" y="4893311"/>
            <a:ext cx="4197593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dirty="0"/>
              <a:t>Land                                       27,000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Storage facility                        45,000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Machinery                               18,000</a:t>
            </a:r>
          </a:p>
          <a:p>
            <a:pPr>
              <a:spcAft>
                <a:spcPts val="600"/>
              </a:spcAft>
            </a:pPr>
            <a:r>
              <a:rPr lang="en-US" sz="1600" dirty="0"/>
              <a:t>           Cash                                        90,000</a:t>
            </a:r>
          </a:p>
        </p:txBody>
      </p:sp>
      <p:sp>
        <p:nvSpPr>
          <p:cNvPr id="25" name="Arrow: Left-Up 24">
            <a:extLst>
              <a:ext uri="{FF2B5EF4-FFF2-40B4-BE49-F238E27FC236}">
                <a16:creationId xmlns:a16="http://schemas.microsoft.com/office/drawing/2014/main" id="{295BC802-7DD4-42C7-A110-5C0C872D4A33}"/>
              </a:ext>
            </a:extLst>
          </p:cNvPr>
          <p:cNvSpPr/>
          <p:nvPr/>
        </p:nvSpPr>
        <p:spPr>
          <a:xfrm>
            <a:off x="6855657" y="4246980"/>
            <a:ext cx="2460217" cy="1307117"/>
          </a:xfrm>
          <a:prstGeom prst="leftUpArrow">
            <a:avLst>
              <a:gd name="adj1" fmla="val 13717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1430393-5422-434C-AB0C-112C7ACEE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507"/>
            <a:ext cx="7834222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Lump Sum Purchase</a:t>
            </a:r>
          </a:p>
        </p:txBody>
      </p:sp>
    </p:spTree>
    <p:extLst>
      <p:ext uri="{BB962C8B-B14F-4D97-AF65-F5344CB8AC3E}">
        <p14:creationId xmlns:p14="http://schemas.microsoft.com/office/powerpoint/2010/main" val="3520089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4" grpId="0" animBg="1"/>
      <p:bldP spid="18" grpId="0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C77BA-84D5-4A42-A6BF-BE842B4DA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Purchase using Debt or Equity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D7A46-B74A-4374-927B-A6B7D192A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070"/>
            <a:ext cx="10515600" cy="3957337"/>
          </a:xfrm>
        </p:spPr>
        <p:txBody>
          <a:bodyPr/>
          <a:lstStyle/>
          <a:p>
            <a:r>
              <a:rPr lang="en-US" dirty="0"/>
              <a:t>Pay with a note payable or shares of equity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580D9F-8DB7-4BF0-96C0-E1A4CCD55F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012" y="2393243"/>
            <a:ext cx="8943975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809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C77BA-84D5-4A42-A6BF-BE842B4DA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Purchase using Debt or Equity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D7A46-B74A-4374-927B-A6B7D192A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070"/>
            <a:ext cx="10515600" cy="4541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Example: </a:t>
            </a:r>
            <a:r>
              <a:rPr lang="en-US" dirty="0" err="1"/>
              <a:t>Jafar</a:t>
            </a:r>
            <a:r>
              <a:rPr lang="en-US" dirty="0"/>
              <a:t> Enterprises purchases equipment on 1/1 in exchange for a $9,000 non-interest bearing note that is due in two years. The prevailing interest rate is 8% for liabilities of similar risk and duration. At the date of acquisition, what value should the equipment be recorded at on the balance sheet?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Scenario 1: </a:t>
            </a:r>
            <a:r>
              <a:rPr lang="en-US" dirty="0"/>
              <a:t>Fair value of asset is $7,000.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Answer: </a:t>
            </a:r>
            <a:r>
              <a:rPr lang="en-US" dirty="0"/>
              <a:t>Record at $7,000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37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C77BA-84D5-4A42-A6BF-BE842B4DA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Purchase using Debt or Equity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D7A46-B74A-4374-927B-A6B7D192A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070"/>
            <a:ext cx="10515600" cy="4541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Example: </a:t>
            </a:r>
            <a:r>
              <a:rPr lang="en-US" dirty="0" err="1"/>
              <a:t>Jafar</a:t>
            </a:r>
            <a:r>
              <a:rPr lang="en-US" dirty="0"/>
              <a:t> Enterprises purchases equipment on 1/1/ in exchange for a $9,000 non-interest bearing note that is due in two years. The prevailing interest rate is 8% for liabilities of similar risk and duration. At the date of acquisition, what value should the equipment be recorded at on the balance sheet?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Scenario 1: </a:t>
            </a:r>
            <a:r>
              <a:rPr lang="en-US" dirty="0"/>
              <a:t>Fair value of asset is unknown.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Answer: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62E288-6714-4127-B9B6-F2852C05A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060" y="5007610"/>
            <a:ext cx="55626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56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BA3E8-85F7-4A95-83C1-76D0F0017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Closing Thoughts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F8F65-AFDC-4979-B47C-380F59E5F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Property, plant, and equipment are tangible assets used in operations.</a:t>
            </a:r>
          </a:p>
          <a:p>
            <a:endParaRPr lang="en-US" dirty="0"/>
          </a:p>
          <a:p>
            <a:r>
              <a:rPr lang="en-US" dirty="0"/>
              <a:t>Always record PP&amp;E at historical cost (acquisition cost) on the balance sheet</a:t>
            </a:r>
          </a:p>
          <a:p>
            <a:endParaRPr lang="en-US" dirty="0"/>
          </a:p>
          <a:p>
            <a:r>
              <a:rPr lang="en-US" dirty="0"/>
              <a:t>If purchased in a lump sum, allocate using fair values</a:t>
            </a:r>
          </a:p>
          <a:p>
            <a:endParaRPr lang="en-US" dirty="0"/>
          </a:p>
          <a:p>
            <a:r>
              <a:rPr lang="en-US" dirty="0"/>
              <a:t>Be careful to record PP&amp;E at appropriate values if purchased using debt or equity.</a:t>
            </a:r>
          </a:p>
        </p:txBody>
      </p:sp>
    </p:spTree>
    <p:extLst>
      <p:ext uri="{BB962C8B-B14F-4D97-AF65-F5344CB8AC3E}">
        <p14:creationId xmlns:p14="http://schemas.microsoft.com/office/powerpoint/2010/main" val="3053609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864091" cy="6790489"/>
          </a:xfrm>
          <a:prstGeom prst="rect">
            <a:avLst/>
          </a:prstGeom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-2" y="5303520"/>
            <a:ext cx="9864091" cy="155448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3200" b="1" i="1" dirty="0">
                <a:solidFill>
                  <a:prstClr val="white"/>
                </a:solidFill>
                <a:latin typeface="Arial" panose="020B0604020202020204"/>
              </a:rPr>
              <a:t>Property, Plant &amp; Equipment</a:t>
            </a:r>
            <a:r>
              <a:rPr kumimoji="0" lang="en-US" altLang="en-US" sz="32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Part 1 - Video</a:t>
            </a:r>
          </a:p>
        </p:txBody>
      </p:sp>
    </p:spTree>
    <p:extLst>
      <p:ext uri="{BB962C8B-B14F-4D97-AF65-F5344CB8AC3E}">
        <p14:creationId xmlns:p14="http://schemas.microsoft.com/office/powerpoint/2010/main" val="330680042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1359</TotalTime>
  <Words>939</Words>
  <Application>Microsoft Office PowerPoint</Application>
  <PresentationFormat>Widescreen</PresentationFormat>
  <Paragraphs>150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Arial Black</vt:lpstr>
      <vt:lpstr>Calibri</vt:lpstr>
      <vt:lpstr>Calibri Light</vt:lpstr>
      <vt:lpstr>MV Boli</vt:lpstr>
      <vt:lpstr>Wingdings</vt:lpstr>
      <vt:lpstr>Wingdings 2</vt:lpstr>
      <vt:lpstr>1_Office Theme</vt:lpstr>
      <vt:lpstr>PowerPoint Presentation</vt:lpstr>
      <vt:lpstr>Property, Plant &amp; Equipment (PPE)</vt:lpstr>
      <vt:lpstr>PP&amp;E Life Cycle</vt:lpstr>
      <vt:lpstr>Determining acquisition cost</vt:lpstr>
      <vt:lpstr>Determining acquisition cost</vt:lpstr>
      <vt:lpstr>Determining acquisition cost</vt:lpstr>
      <vt:lpstr>Do Not Capitalize</vt:lpstr>
      <vt:lpstr>Lump Sum Purchase</vt:lpstr>
      <vt:lpstr>Lump Sum Purchase</vt:lpstr>
      <vt:lpstr>Lump Sum Purchase</vt:lpstr>
      <vt:lpstr>Purchase using Debt or Equity</vt:lpstr>
      <vt:lpstr>Purchase using Debt or Equity</vt:lpstr>
      <vt:lpstr>Purchase using Debt or Equity</vt:lpstr>
      <vt:lpstr>Closing Thoughts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Susan McMahon</dc:creator>
  <cp:lastModifiedBy>Jeremiah Contreras</cp:lastModifiedBy>
  <cp:revision>98</cp:revision>
  <dcterms:created xsi:type="dcterms:W3CDTF">2020-08-12T19:41:04Z</dcterms:created>
  <dcterms:modified xsi:type="dcterms:W3CDTF">2022-10-16T12:46:00Z</dcterms:modified>
</cp:coreProperties>
</file>