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316" r:id="rId2"/>
    <p:sldId id="393" r:id="rId3"/>
    <p:sldId id="265" r:id="rId4"/>
    <p:sldId id="269" r:id="rId5"/>
    <p:sldId id="318" r:id="rId6"/>
    <p:sldId id="386" r:id="rId7"/>
    <p:sldId id="320" r:id="rId8"/>
    <p:sldId id="324" r:id="rId9"/>
    <p:sldId id="325" r:id="rId10"/>
    <p:sldId id="326" r:id="rId11"/>
    <p:sldId id="321" r:id="rId12"/>
    <p:sldId id="322" r:id="rId13"/>
    <p:sldId id="323" r:id="rId14"/>
    <p:sldId id="327" r:id="rId15"/>
    <p:sldId id="329" r:id="rId16"/>
    <p:sldId id="328" r:id="rId17"/>
    <p:sldId id="330" r:id="rId18"/>
    <p:sldId id="332" r:id="rId19"/>
    <p:sldId id="333" r:id="rId20"/>
    <p:sldId id="387" r:id="rId21"/>
    <p:sldId id="334" r:id="rId22"/>
    <p:sldId id="336" r:id="rId23"/>
    <p:sldId id="337" r:id="rId24"/>
    <p:sldId id="341" r:id="rId25"/>
    <p:sldId id="339" r:id="rId26"/>
    <p:sldId id="342" r:id="rId27"/>
    <p:sldId id="343" r:id="rId28"/>
    <p:sldId id="344" r:id="rId29"/>
    <p:sldId id="346" r:id="rId30"/>
    <p:sldId id="392" r:id="rId31"/>
    <p:sldId id="347" r:id="rId32"/>
    <p:sldId id="349" r:id="rId33"/>
    <p:sldId id="351" r:id="rId34"/>
    <p:sldId id="350" r:id="rId35"/>
    <p:sldId id="352" r:id="rId36"/>
    <p:sldId id="353" r:id="rId37"/>
    <p:sldId id="354" r:id="rId38"/>
    <p:sldId id="338" r:id="rId39"/>
    <p:sldId id="356" r:id="rId40"/>
    <p:sldId id="357" r:id="rId41"/>
    <p:sldId id="35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09DA17-65E1-4B33-BA45-74EB1CFE1C73}" v="4" dt="2025-10-01T02:38:04.388"/>
  </p1510:revLst>
</p1510:revInfo>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8"/>
    <p:restoredTop sz="86448"/>
  </p:normalViewPr>
  <p:slideViewPr>
    <p:cSldViewPr snapToGrid="0" snapToObjects="1">
      <p:cViewPr>
        <p:scale>
          <a:sx n="71" d="100"/>
          <a:sy n="71" d="100"/>
        </p:scale>
        <p:origin x="72" y="309"/>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iah Contreras" userId="7aaf88c5-f86c-46d8-a0d4-f1ec65ded07c" providerId="ADAL" clId="{70DAAC2C-3495-4851-A44D-B24EE16DB359}"/>
    <pc:docChg chg="undo custSel modSld">
      <pc:chgData name="Jeremiah Contreras" userId="7aaf88c5-f86c-46d8-a0d4-f1ec65ded07c" providerId="ADAL" clId="{70DAAC2C-3495-4851-A44D-B24EE16DB359}" dt="2023-10-08T22:24:48.155" v="69" actId="207"/>
      <pc:docMkLst>
        <pc:docMk/>
      </pc:docMkLst>
      <pc:sldChg chg="addSp delSp modSp mod">
        <pc:chgData name="Jeremiah Contreras" userId="7aaf88c5-f86c-46d8-a0d4-f1ec65ded07c" providerId="ADAL" clId="{70DAAC2C-3495-4851-A44D-B24EE16DB359}" dt="2023-10-08T22:21:23.013" v="49" actId="1076"/>
        <pc:sldMkLst>
          <pc:docMk/>
          <pc:sldMk cId="3186530781" sldId="264"/>
        </pc:sldMkLst>
      </pc:sldChg>
      <pc:sldChg chg="modSp">
        <pc:chgData name="Jeremiah Contreras" userId="7aaf88c5-f86c-46d8-a0d4-f1ec65ded07c" providerId="ADAL" clId="{70DAAC2C-3495-4851-A44D-B24EE16DB359}" dt="2023-10-08T22:24:48.155" v="69" actId="207"/>
        <pc:sldMkLst>
          <pc:docMk/>
          <pc:sldMk cId="3081207211" sldId="346"/>
        </pc:sldMkLst>
      </pc:sldChg>
    </pc:docChg>
  </pc:docChgLst>
  <pc:docChgLst>
    <pc:chgData name="Jeremiah Contreras" userId="7aaf88c5-f86c-46d8-a0d4-f1ec65ded07c" providerId="ADAL" clId="{47828E62-FC24-428A-ACF6-B28718A93287}"/>
    <pc:docChg chg="delSld modSld">
      <pc:chgData name="Jeremiah Contreras" userId="7aaf88c5-f86c-46d8-a0d4-f1ec65ded07c" providerId="ADAL" clId="{47828E62-FC24-428A-ACF6-B28718A93287}" dt="2025-10-01T02:39:53.699" v="59" actId="20577"/>
      <pc:docMkLst>
        <pc:docMk/>
      </pc:docMkLst>
      <pc:sldChg chg="modSp mod">
        <pc:chgData name="Jeremiah Contreras" userId="7aaf88c5-f86c-46d8-a0d4-f1ec65ded07c" providerId="ADAL" clId="{47828E62-FC24-428A-ACF6-B28718A93287}" dt="2025-10-01T02:39:53.699" v="59" actId="20577"/>
        <pc:sldMkLst>
          <pc:docMk/>
          <pc:sldMk cId="2500230508" sldId="316"/>
        </pc:sldMkLst>
        <pc:spChg chg="mod">
          <ac:chgData name="Jeremiah Contreras" userId="7aaf88c5-f86c-46d8-a0d4-f1ec65ded07c" providerId="ADAL" clId="{47828E62-FC24-428A-ACF6-B28718A93287}" dt="2025-10-01T02:39:53.699" v="59" actId="20577"/>
          <ac:spMkLst>
            <pc:docMk/>
            <pc:sldMk cId="2500230508" sldId="316"/>
            <ac:spMk id="5" creationId="{00000000-0000-0000-0000-000000000000}"/>
          </ac:spMkLst>
        </pc:spChg>
      </pc:sldChg>
      <pc:sldChg chg="modSp mod">
        <pc:chgData name="Jeremiah Contreras" userId="7aaf88c5-f86c-46d8-a0d4-f1ec65ded07c" providerId="ADAL" clId="{47828E62-FC24-428A-ACF6-B28718A93287}" dt="2025-10-01T02:27:48.887" v="23" actId="207"/>
        <pc:sldMkLst>
          <pc:docMk/>
          <pc:sldMk cId="2792076983" sldId="334"/>
        </pc:sldMkLst>
        <pc:spChg chg="mod">
          <ac:chgData name="Jeremiah Contreras" userId="7aaf88c5-f86c-46d8-a0d4-f1ec65ded07c" providerId="ADAL" clId="{47828E62-FC24-428A-ACF6-B28718A93287}" dt="2025-10-01T02:27:48.887" v="23" actId="207"/>
          <ac:spMkLst>
            <pc:docMk/>
            <pc:sldMk cId="2792076983" sldId="334"/>
            <ac:spMk id="3" creationId="{F6AF9A7F-CC02-4508-BD30-14E58F8A0A7A}"/>
          </ac:spMkLst>
        </pc:spChg>
      </pc:sldChg>
      <pc:sldChg chg="del">
        <pc:chgData name="Jeremiah Contreras" userId="7aaf88c5-f86c-46d8-a0d4-f1ec65ded07c" providerId="ADAL" clId="{47828E62-FC24-428A-ACF6-B28718A93287}" dt="2025-10-01T02:33:34.129" v="24" actId="47"/>
        <pc:sldMkLst>
          <pc:docMk/>
          <pc:sldMk cId="1638568449" sldId="335"/>
        </pc:sldMkLst>
      </pc:sldChg>
      <pc:sldChg chg="modSp">
        <pc:chgData name="Jeremiah Contreras" userId="7aaf88c5-f86c-46d8-a0d4-f1ec65ded07c" providerId="ADAL" clId="{47828E62-FC24-428A-ACF6-B28718A93287}" dt="2025-10-01T02:37:42.623" v="44"/>
        <pc:sldMkLst>
          <pc:docMk/>
          <pc:sldMk cId="1807888378" sldId="339"/>
        </pc:sldMkLst>
        <pc:spChg chg="mod">
          <ac:chgData name="Jeremiah Contreras" userId="7aaf88c5-f86c-46d8-a0d4-f1ec65ded07c" providerId="ADAL" clId="{47828E62-FC24-428A-ACF6-B28718A93287}" dt="2025-10-01T02:37:42.623" v="44"/>
          <ac:spMkLst>
            <pc:docMk/>
            <pc:sldMk cId="1807888378" sldId="339"/>
            <ac:spMk id="2" creationId="{9F0A41CC-8390-43AB-A194-64491D5CC808}"/>
          </ac:spMkLst>
        </pc:spChg>
      </pc:sldChg>
      <pc:sldChg chg="modSp mod">
        <pc:chgData name="Jeremiah Contreras" userId="7aaf88c5-f86c-46d8-a0d4-f1ec65ded07c" providerId="ADAL" clId="{47828E62-FC24-428A-ACF6-B28718A93287}" dt="2025-10-01T02:37:27.381" v="43" actId="20577"/>
        <pc:sldMkLst>
          <pc:docMk/>
          <pc:sldMk cId="3284490481" sldId="341"/>
        </pc:sldMkLst>
        <pc:spChg chg="mod">
          <ac:chgData name="Jeremiah Contreras" userId="7aaf88c5-f86c-46d8-a0d4-f1ec65ded07c" providerId="ADAL" clId="{47828E62-FC24-428A-ACF6-B28718A93287}" dt="2025-10-01T02:37:27.381" v="43" actId="20577"/>
          <ac:spMkLst>
            <pc:docMk/>
            <pc:sldMk cId="3284490481" sldId="341"/>
            <ac:spMk id="2" creationId="{9F0A41CC-8390-43AB-A194-64491D5CC808}"/>
          </ac:spMkLst>
        </pc:spChg>
      </pc:sldChg>
      <pc:sldChg chg="modSp">
        <pc:chgData name="Jeremiah Contreras" userId="7aaf88c5-f86c-46d8-a0d4-f1ec65ded07c" providerId="ADAL" clId="{47828E62-FC24-428A-ACF6-B28718A93287}" dt="2025-10-01T02:37:45.354" v="45"/>
        <pc:sldMkLst>
          <pc:docMk/>
          <pc:sldMk cId="3396183216" sldId="342"/>
        </pc:sldMkLst>
        <pc:spChg chg="mod">
          <ac:chgData name="Jeremiah Contreras" userId="7aaf88c5-f86c-46d8-a0d4-f1ec65ded07c" providerId="ADAL" clId="{47828E62-FC24-428A-ACF6-B28718A93287}" dt="2025-10-01T02:37:45.354" v="45"/>
          <ac:spMkLst>
            <pc:docMk/>
            <pc:sldMk cId="3396183216" sldId="342"/>
            <ac:spMk id="2" creationId="{9F0A41CC-8390-43AB-A194-64491D5CC808}"/>
          </ac:spMkLst>
        </pc:spChg>
      </pc:sldChg>
      <pc:sldChg chg="modSp mod">
        <pc:chgData name="Jeremiah Contreras" userId="7aaf88c5-f86c-46d8-a0d4-f1ec65ded07c" providerId="ADAL" clId="{47828E62-FC24-428A-ACF6-B28718A93287}" dt="2025-10-01T02:37:58.506" v="57" actId="20577"/>
        <pc:sldMkLst>
          <pc:docMk/>
          <pc:sldMk cId="1995032481" sldId="343"/>
        </pc:sldMkLst>
        <pc:spChg chg="mod">
          <ac:chgData name="Jeremiah Contreras" userId="7aaf88c5-f86c-46d8-a0d4-f1ec65ded07c" providerId="ADAL" clId="{47828E62-FC24-428A-ACF6-B28718A93287}" dt="2025-10-01T02:37:58.506" v="57" actId="20577"/>
          <ac:spMkLst>
            <pc:docMk/>
            <pc:sldMk cId="1995032481" sldId="343"/>
            <ac:spMk id="2" creationId="{9F0A41CC-8390-43AB-A194-64491D5CC808}"/>
          </ac:spMkLst>
        </pc:spChg>
      </pc:sldChg>
      <pc:sldChg chg="modSp">
        <pc:chgData name="Jeremiah Contreras" userId="7aaf88c5-f86c-46d8-a0d4-f1ec65ded07c" providerId="ADAL" clId="{47828E62-FC24-428A-ACF6-B28718A93287}" dt="2025-10-01T02:38:04.388" v="58"/>
        <pc:sldMkLst>
          <pc:docMk/>
          <pc:sldMk cId="328067171" sldId="344"/>
        </pc:sldMkLst>
        <pc:spChg chg="mod">
          <ac:chgData name="Jeremiah Contreras" userId="7aaf88c5-f86c-46d8-a0d4-f1ec65ded07c" providerId="ADAL" clId="{47828E62-FC24-428A-ACF6-B28718A93287}" dt="2025-10-01T02:38:04.388" v="58"/>
          <ac:spMkLst>
            <pc:docMk/>
            <pc:sldMk cId="328067171" sldId="344"/>
            <ac:spMk id="2" creationId="{0388F0F0-6575-42BB-8E01-5A2B58556CF0}"/>
          </ac:spMkLst>
        </pc:spChg>
      </pc:sldChg>
    </pc:docChg>
  </pc:docChgLst>
  <pc:docChgLst>
    <pc:chgData name="Jeremiah Contreras" userId="7aaf88c5-f86c-46d8-a0d4-f1ec65ded07c" providerId="ADAL" clId="{81A440D4-4868-42C4-9992-0FB90F341BC0}"/>
    <pc:docChg chg="undo custSel delSld modSld sldOrd">
      <pc:chgData name="Jeremiah Contreras" userId="7aaf88c5-f86c-46d8-a0d4-f1ec65ded07c" providerId="ADAL" clId="{81A440D4-4868-42C4-9992-0FB90F341BC0}" dt="2025-08-19T14:41:03.613" v="187" actId="47"/>
      <pc:docMkLst>
        <pc:docMk/>
      </pc:docMkLst>
      <pc:sldChg chg="del">
        <pc:chgData name="Jeremiah Contreras" userId="7aaf88c5-f86c-46d8-a0d4-f1ec65ded07c" providerId="ADAL" clId="{81A440D4-4868-42C4-9992-0FB90F341BC0}" dt="2025-08-11T12:03:45.674" v="0" actId="47"/>
        <pc:sldMkLst>
          <pc:docMk/>
          <pc:sldMk cId="3186530781" sldId="264"/>
        </pc:sldMkLst>
      </pc:sldChg>
      <pc:sldChg chg="delSp mod">
        <pc:chgData name="Jeremiah Contreras" userId="7aaf88c5-f86c-46d8-a0d4-f1ec65ded07c" providerId="ADAL" clId="{81A440D4-4868-42C4-9992-0FB90F341BC0}" dt="2025-08-11T12:59:29.167" v="5" actId="478"/>
        <pc:sldMkLst>
          <pc:docMk/>
          <pc:sldMk cId="1638568449" sldId="335"/>
        </pc:sldMkLst>
      </pc:sldChg>
      <pc:sldChg chg="delSp modSp mod">
        <pc:chgData name="Jeremiah Contreras" userId="7aaf88c5-f86c-46d8-a0d4-f1ec65ded07c" providerId="ADAL" clId="{81A440D4-4868-42C4-9992-0FB90F341BC0}" dt="2025-08-11T12:59:23.990" v="4" actId="478"/>
        <pc:sldMkLst>
          <pc:docMk/>
          <pc:sldMk cId="3555883385" sldId="336"/>
        </pc:sldMkLst>
      </pc:sldChg>
      <pc:sldChg chg="delSp mod">
        <pc:chgData name="Jeremiah Contreras" userId="7aaf88c5-f86c-46d8-a0d4-f1ec65ded07c" providerId="ADAL" clId="{81A440D4-4868-42C4-9992-0FB90F341BC0}" dt="2025-08-11T12:59:19.095" v="2" actId="478"/>
        <pc:sldMkLst>
          <pc:docMk/>
          <pc:sldMk cId="1895480689" sldId="337"/>
        </pc:sldMkLst>
      </pc:sldChg>
      <pc:sldChg chg="delSp mod">
        <pc:chgData name="Jeremiah Contreras" userId="7aaf88c5-f86c-46d8-a0d4-f1ec65ded07c" providerId="ADAL" clId="{81A440D4-4868-42C4-9992-0FB90F341BC0}" dt="2025-08-11T12:59:54.321" v="8" actId="478"/>
        <pc:sldMkLst>
          <pc:docMk/>
          <pc:sldMk cId="1063258237" sldId="338"/>
        </pc:sldMkLst>
      </pc:sldChg>
      <pc:sldChg chg="delSp mod">
        <pc:chgData name="Jeremiah Contreras" userId="7aaf88c5-f86c-46d8-a0d4-f1ec65ded07c" providerId="ADAL" clId="{81A440D4-4868-42C4-9992-0FB90F341BC0}" dt="2025-08-11T12:04:20.817" v="1" actId="478"/>
        <pc:sldMkLst>
          <pc:docMk/>
          <pc:sldMk cId="3284490481" sldId="341"/>
        </pc:sldMkLst>
      </pc:sldChg>
      <pc:sldChg chg="delSp mod">
        <pc:chgData name="Jeremiah Contreras" userId="7aaf88c5-f86c-46d8-a0d4-f1ec65ded07c" providerId="ADAL" clId="{81A440D4-4868-42C4-9992-0FB90F341BC0}" dt="2025-08-11T12:59:42.242" v="6" actId="478"/>
        <pc:sldMkLst>
          <pc:docMk/>
          <pc:sldMk cId="1995032481" sldId="343"/>
        </pc:sldMkLst>
      </pc:sldChg>
      <pc:sldChg chg="addSp modSp mod modAnim">
        <pc:chgData name="Jeremiah Contreras" userId="7aaf88c5-f86c-46d8-a0d4-f1ec65ded07c" providerId="ADAL" clId="{81A440D4-4868-42C4-9992-0FB90F341BC0}" dt="2025-08-11T13:04:24.343" v="127" actId="20577"/>
        <pc:sldMkLst>
          <pc:docMk/>
          <pc:sldMk cId="3081207211" sldId="346"/>
        </pc:sldMkLst>
      </pc:sldChg>
      <pc:sldChg chg="delSp del mod">
        <pc:chgData name="Jeremiah Contreras" userId="7aaf88c5-f86c-46d8-a0d4-f1ec65ded07c" providerId="ADAL" clId="{81A440D4-4868-42C4-9992-0FB90F341BC0}" dt="2025-08-19T14:41:03.613" v="187" actId="47"/>
        <pc:sldMkLst>
          <pc:docMk/>
          <pc:sldMk cId="368516536" sldId="348"/>
        </pc:sldMkLst>
      </pc:sldChg>
      <pc:sldChg chg="addSp modSp mod modAnim">
        <pc:chgData name="Jeremiah Contreras" userId="7aaf88c5-f86c-46d8-a0d4-f1ec65ded07c" providerId="ADAL" clId="{81A440D4-4868-42C4-9992-0FB90F341BC0}" dt="2025-08-19T14:40:41.452" v="186" actId="20577"/>
        <pc:sldMkLst>
          <pc:docMk/>
          <pc:sldMk cId="3007878722" sldId="354"/>
        </pc:sldMkLst>
      </pc:sldChg>
      <pc:sldChg chg="delSp mod">
        <pc:chgData name="Jeremiah Contreras" userId="7aaf88c5-f86c-46d8-a0d4-f1ec65ded07c" providerId="ADAL" clId="{81A440D4-4868-42C4-9992-0FB90F341BC0}" dt="2025-08-11T12:59:57.513" v="9" actId="478"/>
        <pc:sldMkLst>
          <pc:docMk/>
          <pc:sldMk cId="1663451945" sldId="356"/>
        </pc:sldMkLst>
      </pc:sldChg>
      <pc:sldChg chg="addSp delSp modSp mod ord modAnim">
        <pc:chgData name="Jeremiah Contreras" userId="7aaf88c5-f86c-46d8-a0d4-f1ec65ded07c" providerId="ADAL" clId="{81A440D4-4868-42C4-9992-0FB90F341BC0}" dt="2025-08-11T13:13:39.264" v="143"/>
        <pc:sldMkLst>
          <pc:docMk/>
          <pc:sldMk cId="3944588091" sldId="392"/>
        </pc:sldMkLst>
      </pc:sldChg>
    </pc:docChg>
  </pc:docChgLst>
  <pc:docChgLst>
    <pc:chgData name="Jeremiah Contreras" userId="353e0578-c100-4b27-ab8d-040de0f2d32b" providerId="ADAL" clId="{554B6968-734E-41E9-97B4-236BE6C269A6}"/>
    <pc:docChg chg="undo custSel modSld">
      <pc:chgData name="Jeremiah Contreras" userId="353e0578-c100-4b27-ab8d-040de0f2d32b" providerId="ADAL" clId="{554B6968-734E-41E9-97B4-236BE6C269A6}" dt="2024-10-07T14:50:54.304" v="317" actId="20577"/>
      <pc:docMkLst>
        <pc:docMk/>
      </pc:docMkLst>
      <pc:sldChg chg="addSp delSp modSp mod addAnim delAnim">
        <pc:chgData name="Jeremiah Contreras" userId="353e0578-c100-4b27-ab8d-040de0f2d32b" providerId="ADAL" clId="{554B6968-734E-41E9-97B4-236BE6C269A6}" dt="2024-10-07T14:50:54.304" v="317" actId="20577"/>
        <pc:sldMkLst>
          <pc:docMk/>
          <pc:sldMk cId="3186530781" sldId="264"/>
        </pc:sldMkLst>
      </pc:sldChg>
      <pc:sldChg chg="modSp mod">
        <pc:chgData name="Jeremiah Contreras" userId="353e0578-c100-4b27-ab8d-040de0f2d32b" providerId="ADAL" clId="{554B6968-734E-41E9-97B4-236BE6C269A6}" dt="2024-10-07T13:05:13.493" v="116" actId="20577"/>
        <pc:sldMkLst>
          <pc:docMk/>
          <pc:sldMk cId="4100628889" sldId="265"/>
        </pc:sldMkLst>
      </pc:sldChg>
      <pc:sldChg chg="modSp mod">
        <pc:chgData name="Jeremiah Contreras" userId="353e0578-c100-4b27-ab8d-040de0f2d32b" providerId="ADAL" clId="{554B6968-734E-41E9-97B4-236BE6C269A6}" dt="2024-10-07T13:14:31.519" v="311" actId="20577"/>
        <pc:sldMkLst>
          <pc:docMk/>
          <pc:sldMk cId="2500230508" sldId="316"/>
        </pc:sldMkLst>
      </pc:sldChg>
      <pc:sldChg chg="modSp mod">
        <pc:chgData name="Jeremiah Contreras" userId="353e0578-c100-4b27-ab8d-040de0f2d32b" providerId="ADAL" clId="{554B6968-734E-41E9-97B4-236BE6C269A6}" dt="2024-10-07T13:06:09.830" v="120" actId="20577"/>
        <pc:sldMkLst>
          <pc:docMk/>
          <pc:sldMk cId="1804915044" sldId="320"/>
        </pc:sldMkLst>
      </pc:sldChg>
      <pc:sldChg chg="modSp mod">
        <pc:chgData name="Jeremiah Contreras" userId="353e0578-c100-4b27-ab8d-040de0f2d32b" providerId="ADAL" clId="{554B6968-734E-41E9-97B4-236BE6C269A6}" dt="2024-10-07T13:06:36.060" v="138" actId="20577"/>
        <pc:sldMkLst>
          <pc:docMk/>
          <pc:sldMk cId="2796713866" sldId="321"/>
        </pc:sldMkLst>
      </pc:sldChg>
      <pc:sldChg chg="modSp mod">
        <pc:chgData name="Jeremiah Contreras" userId="353e0578-c100-4b27-ab8d-040de0f2d32b" providerId="ADAL" clId="{554B6968-734E-41E9-97B4-236BE6C269A6}" dt="2024-10-07T13:06:40.436" v="142" actId="20577"/>
        <pc:sldMkLst>
          <pc:docMk/>
          <pc:sldMk cId="2625334855" sldId="322"/>
        </pc:sldMkLst>
      </pc:sldChg>
      <pc:sldChg chg="modSp mod">
        <pc:chgData name="Jeremiah Contreras" userId="353e0578-c100-4b27-ab8d-040de0f2d32b" providerId="ADAL" clId="{554B6968-734E-41E9-97B4-236BE6C269A6}" dt="2024-10-07T13:06:46.092" v="148" actId="20577"/>
        <pc:sldMkLst>
          <pc:docMk/>
          <pc:sldMk cId="1619683932" sldId="323"/>
        </pc:sldMkLst>
      </pc:sldChg>
      <pc:sldChg chg="modSp mod">
        <pc:chgData name="Jeremiah Contreras" userId="353e0578-c100-4b27-ab8d-040de0f2d32b" providerId="ADAL" clId="{554B6968-734E-41E9-97B4-236BE6C269A6}" dt="2024-10-07T13:06:16.625" v="124" actId="20577"/>
        <pc:sldMkLst>
          <pc:docMk/>
          <pc:sldMk cId="1114433661" sldId="324"/>
        </pc:sldMkLst>
      </pc:sldChg>
      <pc:sldChg chg="modSp mod">
        <pc:chgData name="Jeremiah Contreras" userId="353e0578-c100-4b27-ab8d-040de0f2d32b" providerId="ADAL" clId="{554B6968-734E-41E9-97B4-236BE6C269A6}" dt="2024-10-07T13:06:25.053" v="130" actId="20577"/>
        <pc:sldMkLst>
          <pc:docMk/>
          <pc:sldMk cId="3283010777" sldId="325"/>
        </pc:sldMkLst>
      </pc:sldChg>
      <pc:sldChg chg="modSp mod">
        <pc:chgData name="Jeremiah Contreras" userId="353e0578-c100-4b27-ab8d-040de0f2d32b" providerId="ADAL" clId="{554B6968-734E-41E9-97B4-236BE6C269A6}" dt="2024-10-07T13:06:30.947" v="134" actId="20577"/>
        <pc:sldMkLst>
          <pc:docMk/>
          <pc:sldMk cId="816236150" sldId="326"/>
        </pc:sldMkLst>
      </pc:sldChg>
      <pc:sldChg chg="modSp mod">
        <pc:chgData name="Jeremiah Contreras" userId="353e0578-c100-4b27-ab8d-040de0f2d32b" providerId="ADAL" clId="{554B6968-734E-41E9-97B4-236BE6C269A6}" dt="2024-10-07T13:06:51.449" v="152" actId="20577"/>
        <pc:sldMkLst>
          <pc:docMk/>
          <pc:sldMk cId="3969840367" sldId="327"/>
        </pc:sldMkLst>
      </pc:sldChg>
      <pc:sldChg chg="modSp mod">
        <pc:chgData name="Jeremiah Contreras" userId="353e0578-c100-4b27-ab8d-040de0f2d32b" providerId="ADAL" clId="{554B6968-734E-41E9-97B4-236BE6C269A6}" dt="2024-10-07T13:07:01.869" v="160" actId="20577"/>
        <pc:sldMkLst>
          <pc:docMk/>
          <pc:sldMk cId="4232827296" sldId="328"/>
        </pc:sldMkLst>
      </pc:sldChg>
      <pc:sldChg chg="modSp mod">
        <pc:chgData name="Jeremiah Contreras" userId="353e0578-c100-4b27-ab8d-040de0f2d32b" providerId="ADAL" clId="{554B6968-734E-41E9-97B4-236BE6C269A6}" dt="2024-10-07T13:06:57.420" v="156" actId="20577"/>
        <pc:sldMkLst>
          <pc:docMk/>
          <pc:sldMk cId="601887709" sldId="329"/>
        </pc:sldMkLst>
      </pc:sldChg>
      <pc:sldChg chg="modSp mod">
        <pc:chgData name="Jeremiah Contreras" userId="353e0578-c100-4b27-ab8d-040de0f2d32b" providerId="ADAL" clId="{554B6968-734E-41E9-97B4-236BE6C269A6}" dt="2024-10-07T13:07:07.318" v="164" actId="20577"/>
        <pc:sldMkLst>
          <pc:docMk/>
          <pc:sldMk cId="3410984630" sldId="330"/>
        </pc:sldMkLst>
      </pc:sldChg>
      <pc:sldChg chg="modSp mod">
        <pc:chgData name="Jeremiah Contreras" userId="353e0578-c100-4b27-ab8d-040de0f2d32b" providerId="ADAL" clId="{554B6968-734E-41E9-97B4-236BE6C269A6}" dt="2024-10-07T13:07:13.400" v="168" actId="20577"/>
        <pc:sldMkLst>
          <pc:docMk/>
          <pc:sldMk cId="1750202318" sldId="332"/>
        </pc:sldMkLst>
      </pc:sldChg>
      <pc:sldChg chg="modSp mod">
        <pc:chgData name="Jeremiah Contreras" userId="353e0578-c100-4b27-ab8d-040de0f2d32b" providerId="ADAL" clId="{554B6968-734E-41E9-97B4-236BE6C269A6}" dt="2024-10-07T13:07:18.851" v="172" actId="20577"/>
        <pc:sldMkLst>
          <pc:docMk/>
          <pc:sldMk cId="1627391281" sldId="333"/>
        </pc:sldMkLst>
      </pc:sldChg>
      <pc:sldChg chg="modSp mod">
        <pc:chgData name="Jeremiah Contreras" userId="353e0578-c100-4b27-ab8d-040de0f2d32b" providerId="ADAL" clId="{554B6968-734E-41E9-97B4-236BE6C269A6}" dt="2024-10-07T13:11:42.260" v="243" actId="20577"/>
        <pc:sldMkLst>
          <pc:docMk/>
          <pc:sldMk cId="1638568449" sldId="335"/>
        </pc:sldMkLst>
      </pc:sldChg>
      <pc:sldChg chg="modSp mod">
        <pc:chgData name="Jeremiah Contreras" userId="353e0578-c100-4b27-ab8d-040de0f2d32b" providerId="ADAL" clId="{554B6968-734E-41E9-97B4-236BE6C269A6}" dt="2024-10-07T13:12:00.549" v="244"/>
        <pc:sldMkLst>
          <pc:docMk/>
          <pc:sldMk cId="3555883385" sldId="336"/>
        </pc:sldMkLst>
      </pc:sldChg>
      <pc:sldChg chg="modSp mod">
        <pc:chgData name="Jeremiah Contreras" userId="353e0578-c100-4b27-ab8d-040de0f2d32b" providerId="ADAL" clId="{554B6968-734E-41E9-97B4-236BE6C269A6}" dt="2024-10-07T13:12:13.526" v="245"/>
        <pc:sldMkLst>
          <pc:docMk/>
          <pc:sldMk cId="1895480689" sldId="337"/>
        </pc:sldMkLst>
      </pc:sldChg>
      <pc:sldChg chg="modSp mod">
        <pc:chgData name="Jeremiah Contreras" userId="353e0578-c100-4b27-ab8d-040de0f2d32b" providerId="ADAL" clId="{554B6968-734E-41E9-97B4-236BE6C269A6}" dt="2024-10-07T13:12:31.281" v="248"/>
        <pc:sldMkLst>
          <pc:docMk/>
          <pc:sldMk cId="1807888378" sldId="339"/>
        </pc:sldMkLst>
      </pc:sldChg>
      <pc:sldChg chg="modSp mod">
        <pc:chgData name="Jeremiah Contreras" userId="353e0578-c100-4b27-ab8d-040de0f2d32b" providerId="ADAL" clId="{554B6968-734E-41E9-97B4-236BE6C269A6}" dt="2024-10-07T13:12:18.906" v="247" actId="20577"/>
        <pc:sldMkLst>
          <pc:docMk/>
          <pc:sldMk cId="3284490481" sldId="341"/>
        </pc:sldMkLst>
      </pc:sldChg>
      <pc:sldChg chg="modSp mod">
        <pc:chgData name="Jeremiah Contreras" userId="353e0578-c100-4b27-ab8d-040de0f2d32b" providerId="ADAL" clId="{554B6968-734E-41E9-97B4-236BE6C269A6}" dt="2024-10-07T13:12:38.838" v="249"/>
        <pc:sldMkLst>
          <pc:docMk/>
          <pc:sldMk cId="3396183216" sldId="342"/>
        </pc:sldMkLst>
      </pc:sldChg>
      <pc:sldChg chg="modSp mod">
        <pc:chgData name="Jeremiah Contreras" userId="353e0578-c100-4b27-ab8d-040de0f2d32b" providerId="ADAL" clId="{554B6968-734E-41E9-97B4-236BE6C269A6}" dt="2024-10-07T13:12:42.829" v="250"/>
        <pc:sldMkLst>
          <pc:docMk/>
          <pc:sldMk cId="1995032481" sldId="343"/>
        </pc:sldMkLst>
      </pc:sldChg>
      <pc:sldChg chg="modSp mod">
        <pc:chgData name="Jeremiah Contreras" userId="353e0578-c100-4b27-ab8d-040de0f2d32b" providerId="ADAL" clId="{554B6968-734E-41E9-97B4-236BE6C269A6}" dt="2024-10-07T13:12:52.612" v="251"/>
        <pc:sldMkLst>
          <pc:docMk/>
          <pc:sldMk cId="328067171" sldId="344"/>
        </pc:sldMkLst>
      </pc:sldChg>
      <pc:sldChg chg="modSp">
        <pc:chgData name="Jeremiah Contreras" userId="353e0578-c100-4b27-ab8d-040de0f2d32b" providerId="ADAL" clId="{554B6968-734E-41E9-97B4-236BE6C269A6}" dt="2024-10-07T13:08:16.166" v="176" actId="12"/>
        <pc:sldMkLst>
          <pc:docMk/>
          <pc:sldMk cId="3081207211" sldId="346"/>
        </pc:sldMkLst>
      </pc:sldChg>
      <pc:sldChg chg="modSp mod">
        <pc:chgData name="Jeremiah Contreras" userId="353e0578-c100-4b27-ab8d-040de0f2d32b" providerId="ADAL" clId="{554B6968-734E-41E9-97B4-236BE6C269A6}" dt="2024-10-07T13:13:06.846" v="257" actId="20577"/>
        <pc:sldMkLst>
          <pc:docMk/>
          <pc:sldMk cId="4029846938" sldId="347"/>
        </pc:sldMkLst>
      </pc:sldChg>
      <pc:sldChg chg="modSp mod">
        <pc:chgData name="Jeremiah Contreras" userId="353e0578-c100-4b27-ab8d-040de0f2d32b" providerId="ADAL" clId="{554B6968-734E-41E9-97B4-236BE6C269A6}" dt="2024-10-07T13:08:42.835" v="184" actId="20577"/>
        <pc:sldMkLst>
          <pc:docMk/>
          <pc:sldMk cId="3141900572" sldId="349"/>
        </pc:sldMkLst>
      </pc:sldChg>
      <pc:sldChg chg="modSp mod">
        <pc:chgData name="Jeremiah Contreras" userId="353e0578-c100-4b27-ab8d-040de0f2d32b" providerId="ADAL" clId="{554B6968-734E-41E9-97B4-236BE6C269A6}" dt="2024-10-07T13:08:56.623" v="200" actId="20577"/>
        <pc:sldMkLst>
          <pc:docMk/>
          <pc:sldMk cId="3316168384" sldId="350"/>
        </pc:sldMkLst>
      </pc:sldChg>
      <pc:sldChg chg="modSp mod">
        <pc:chgData name="Jeremiah Contreras" userId="353e0578-c100-4b27-ab8d-040de0f2d32b" providerId="ADAL" clId="{554B6968-734E-41E9-97B4-236BE6C269A6}" dt="2024-10-07T13:13:25.453" v="261" actId="20577"/>
        <pc:sldMkLst>
          <pc:docMk/>
          <pc:sldMk cId="2040480366" sldId="351"/>
        </pc:sldMkLst>
      </pc:sldChg>
      <pc:sldChg chg="modSp mod">
        <pc:chgData name="Jeremiah Contreras" userId="353e0578-c100-4b27-ab8d-040de0f2d32b" providerId="ADAL" clId="{554B6968-734E-41E9-97B4-236BE6C269A6}" dt="2024-10-07T13:09:06.025" v="210" actId="20577"/>
        <pc:sldMkLst>
          <pc:docMk/>
          <pc:sldMk cId="1728520147" sldId="352"/>
        </pc:sldMkLst>
      </pc:sldChg>
      <pc:sldChg chg="modSp mod">
        <pc:chgData name="Jeremiah Contreras" userId="353e0578-c100-4b27-ab8d-040de0f2d32b" providerId="ADAL" clId="{554B6968-734E-41E9-97B4-236BE6C269A6}" dt="2024-10-07T13:09:13.714" v="218" actId="20577"/>
        <pc:sldMkLst>
          <pc:docMk/>
          <pc:sldMk cId="3320388800" sldId="353"/>
        </pc:sldMkLst>
      </pc:sldChg>
      <pc:sldChg chg="modSp mod">
        <pc:chgData name="Jeremiah Contreras" userId="353e0578-c100-4b27-ab8d-040de0f2d32b" providerId="ADAL" clId="{554B6968-734E-41E9-97B4-236BE6C269A6}" dt="2024-10-07T13:09:23.296" v="226" actId="20577"/>
        <pc:sldMkLst>
          <pc:docMk/>
          <pc:sldMk cId="3007878722" sldId="354"/>
        </pc:sldMkLst>
      </pc:sldChg>
      <pc:sldChg chg="modSp mod">
        <pc:chgData name="Jeremiah Contreras" userId="353e0578-c100-4b27-ab8d-040de0f2d32b" providerId="ADAL" clId="{554B6968-734E-41E9-97B4-236BE6C269A6}" dt="2024-10-06T14:07:36.826" v="60" actId="20577"/>
        <pc:sldMkLst>
          <pc:docMk/>
          <pc:sldMk cId="1377109944" sldId="357"/>
        </pc:sldMkLst>
      </pc:sldChg>
      <pc:sldChg chg="modSp">
        <pc:chgData name="Jeremiah Contreras" userId="353e0578-c100-4b27-ab8d-040de0f2d32b" providerId="ADAL" clId="{554B6968-734E-41E9-97B4-236BE6C269A6}" dt="2024-10-07T13:11:10.707" v="239" actId="20577"/>
        <pc:sldMkLst>
          <pc:docMk/>
          <pc:sldMk cId="1954256610" sldId="387"/>
        </pc:sldMkLst>
      </pc:sldChg>
    </pc:docChg>
  </pc:docChgLst>
  <pc:docChgLst>
    <pc:chgData name="Jeremiah Contreras" userId="9ea49ee18badb19e" providerId="LiveId" clId="{A0D389ED-0E55-4E95-9E7F-69F6B2062966}"/>
    <pc:docChg chg="undo redo custSel addSld delSld modSld">
      <pc:chgData name="Jeremiah Contreras" userId="9ea49ee18badb19e" providerId="LiveId" clId="{A0D389ED-0E55-4E95-9E7F-69F6B2062966}" dt="2022-10-03T12:06:17.692" v="368"/>
      <pc:docMkLst>
        <pc:docMk/>
      </pc:docMkLst>
      <pc:sldChg chg="add del">
        <pc:chgData name="Jeremiah Contreras" userId="9ea49ee18badb19e" providerId="LiveId" clId="{A0D389ED-0E55-4E95-9E7F-69F6B2062966}" dt="2022-10-02T20:41:22.139" v="2" actId="47"/>
        <pc:sldMkLst>
          <pc:docMk/>
          <pc:sldMk cId="2582577024" sldId="258"/>
        </pc:sldMkLst>
      </pc:sldChg>
      <pc:sldChg chg="addSp delSp modSp mod setBg modAnim">
        <pc:chgData name="Jeremiah Contreras" userId="9ea49ee18badb19e" providerId="LiveId" clId="{A0D389ED-0E55-4E95-9E7F-69F6B2062966}" dt="2022-10-03T12:06:17.692" v="368"/>
        <pc:sldMkLst>
          <pc:docMk/>
          <pc:sldMk cId="3186530781" sldId="264"/>
        </pc:sldMkLst>
      </pc:sldChg>
      <pc:sldChg chg="add del">
        <pc:chgData name="Jeremiah Contreras" userId="9ea49ee18badb19e" providerId="LiveId" clId="{A0D389ED-0E55-4E95-9E7F-69F6B2062966}" dt="2022-10-02T20:41:22.139" v="2" actId="47"/>
        <pc:sldMkLst>
          <pc:docMk/>
          <pc:sldMk cId="871637387" sldId="302"/>
        </pc:sldMkLst>
      </pc:sldChg>
      <pc:sldChg chg="add del">
        <pc:chgData name="Jeremiah Contreras" userId="9ea49ee18badb19e" providerId="LiveId" clId="{A0D389ED-0E55-4E95-9E7F-69F6B2062966}" dt="2022-10-02T20:41:22.139" v="2" actId="47"/>
        <pc:sldMkLst>
          <pc:docMk/>
          <pc:sldMk cId="183532104" sldId="303"/>
        </pc:sldMkLst>
      </pc:sldChg>
      <pc:sldChg chg="add del">
        <pc:chgData name="Jeremiah Contreras" userId="9ea49ee18badb19e" providerId="LiveId" clId="{A0D389ED-0E55-4E95-9E7F-69F6B2062966}" dt="2022-10-02T20:41:22.139" v="2" actId="47"/>
        <pc:sldMkLst>
          <pc:docMk/>
          <pc:sldMk cId="3222832105" sldId="304"/>
        </pc:sldMkLst>
      </pc:sldChg>
      <pc:sldChg chg="add del">
        <pc:chgData name="Jeremiah Contreras" userId="9ea49ee18badb19e" providerId="LiveId" clId="{A0D389ED-0E55-4E95-9E7F-69F6B2062966}" dt="2022-10-02T20:41:22.139" v="2" actId="47"/>
        <pc:sldMkLst>
          <pc:docMk/>
          <pc:sldMk cId="2806499030" sldId="305"/>
        </pc:sldMkLst>
      </pc:sldChg>
      <pc:sldChg chg="add del">
        <pc:chgData name="Jeremiah Contreras" userId="9ea49ee18badb19e" providerId="LiveId" clId="{A0D389ED-0E55-4E95-9E7F-69F6B2062966}" dt="2022-10-02T20:41:22.139" v="2" actId="47"/>
        <pc:sldMkLst>
          <pc:docMk/>
          <pc:sldMk cId="936387155" sldId="306"/>
        </pc:sldMkLst>
      </pc:sldChg>
      <pc:sldChg chg="add del">
        <pc:chgData name="Jeremiah Contreras" userId="9ea49ee18badb19e" providerId="LiveId" clId="{A0D389ED-0E55-4E95-9E7F-69F6B2062966}" dt="2022-10-02T20:41:22.139" v="2" actId="47"/>
        <pc:sldMkLst>
          <pc:docMk/>
          <pc:sldMk cId="1676637509" sldId="307"/>
        </pc:sldMkLst>
      </pc:sldChg>
      <pc:sldChg chg="add del">
        <pc:chgData name="Jeremiah Contreras" userId="9ea49ee18badb19e" providerId="LiveId" clId="{A0D389ED-0E55-4E95-9E7F-69F6B2062966}" dt="2022-10-02T20:41:22.139" v="2" actId="47"/>
        <pc:sldMkLst>
          <pc:docMk/>
          <pc:sldMk cId="821957435" sldId="308"/>
        </pc:sldMkLst>
      </pc:sldChg>
      <pc:sldChg chg="add del">
        <pc:chgData name="Jeremiah Contreras" userId="9ea49ee18badb19e" providerId="LiveId" clId="{A0D389ED-0E55-4E95-9E7F-69F6B2062966}" dt="2022-10-02T20:41:22.139" v="2" actId="47"/>
        <pc:sldMkLst>
          <pc:docMk/>
          <pc:sldMk cId="3760305466" sldId="309"/>
        </pc:sldMkLst>
      </pc:sldChg>
      <pc:sldChg chg="add del">
        <pc:chgData name="Jeremiah Contreras" userId="9ea49ee18badb19e" providerId="LiveId" clId="{A0D389ED-0E55-4E95-9E7F-69F6B2062966}" dt="2022-10-02T20:41:22.139" v="2" actId="47"/>
        <pc:sldMkLst>
          <pc:docMk/>
          <pc:sldMk cId="914871471" sldId="312"/>
        </pc:sldMkLst>
      </pc:sldChg>
      <pc:sldChg chg="add del">
        <pc:chgData name="Jeremiah Contreras" userId="9ea49ee18badb19e" providerId="LiveId" clId="{A0D389ED-0E55-4E95-9E7F-69F6B2062966}" dt="2022-10-02T20:41:22.139" v="2" actId="47"/>
        <pc:sldMkLst>
          <pc:docMk/>
          <pc:sldMk cId="4195112534" sldId="315"/>
        </pc:sldMkLst>
      </pc:sldChg>
      <pc:sldChg chg="add del">
        <pc:chgData name="Jeremiah Contreras" userId="9ea49ee18badb19e" providerId="LiveId" clId="{A0D389ED-0E55-4E95-9E7F-69F6B2062966}" dt="2022-10-02T20:41:22.139" v="2" actId="47"/>
        <pc:sldMkLst>
          <pc:docMk/>
          <pc:sldMk cId="2973550011" sldId="317"/>
        </pc:sldMkLst>
      </pc:sldChg>
      <pc:sldChg chg="del">
        <pc:chgData name="Jeremiah Contreras" userId="9ea49ee18badb19e" providerId="LiveId" clId="{A0D389ED-0E55-4E95-9E7F-69F6B2062966}" dt="2022-10-03T11:42:31.231" v="100" actId="47"/>
        <pc:sldMkLst>
          <pc:docMk/>
          <pc:sldMk cId="584067640" sldId="345"/>
        </pc:sldMkLst>
      </pc:sldChg>
      <pc:sldChg chg="modSp mod">
        <pc:chgData name="Jeremiah Contreras" userId="9ea49ee18badb19e" providerId="LiveId" clId="{A0D389ED-0E55-4E95-9E7F-69F6B2062966}" dt="2022-10-03T11:49:20.219" v="124" actId="1038"/>
        <pc:sldMkLst>
          <pc:docMk/>
          <pc:sldMk cId="4029846938" sldId="347"/>
        </pc:sldMkLst>
      </pc:sldChg>
      <pc:sldChg chg="modSp mod">
        <pc:chgData name="Jeremiah Contreras" userId="9ea49ee18badb19e" providerId="LiveId" clId="{A0D389ED-0E55-4E95-9E7F-69F6B2062966}" dt="2022-10-03T11:50:22.903" v="205" actId="1076"/>
        <pc:sldMkLst>
          <pc:docMk/>
          <pc:sldMk cId="368516536" sldId="348"/>
        </pc:sldMkLst>
      </pc:sldChg>
      <pc:sldChg chg="modSp add mod">
        <pc:chgData name="Jeremiah Contreras" userId="9ea49ee18badb19e" providerId="LiveId" clId="{A0D389ED-0E55-4E95-9E7F-69F6B2062966}" dt="2022-10-03T11:40:53.539" v="96" actId="1036"/>
        <pc:sldMkLst>
          <pc:docMk/>
          <pc:sldMk cId="4273156225" sldId="386"/>
        </pc:sldMkLst>
      </pc:sldChg>
      <pc:sldChg chg="add">
        <pc:chgData name="Jeremiah Contreras" userId="9ea49ee18badb19e" providerId="LiveId" clId="{A0D389ED-0E55-4E95-9E7F-69F6B2062966}" dt="2022-10-03T11:41:23.041" v="98"/>
        <pc:sldMkLst>
          <pc:docMk/>
          <pc:sldMk cId="1954256610" sldId="387"/>
        </pc:sldMkLst>
      </pc:sldChg>
      <pc:sldChg chg="add del">
        <pc:chgData name="Jeremiah Contreras" userId="9ea49ee18badb19e" providerId="LiveId" clId="{A0D389ED-0E55-4E95-9E7F-69F6B2062966}" dt="2022-10-03T11:41:16.025" v="97" actId="2696"/>
        <pc:sldMkLst>
          <pc:docMk/>
          <pc:sldMk cId="3696856863" sldId="387"/>
        </pc:sldMkLst>
      </pc:sldChg>
      <pc:sldChg chg="add">
        <pc:chgData name="Jeremiah Contreras" userId="9ea49ee18badb19e" providerId="LiveId" clId="{A0D389ED-0E55-4E95-9E7F-69F6B2062966}" dt="2022-10-03T11:42:26.484" v="99"/>
        <pc:sldMkLst>
          <pc:docMk/>
          <pc:sldMk cId="3944588091" sldId="392"/>
        </pc:sldMkLst>
      </pc:sldChg>
      <pc:sldChg chg="add">
        <pc:chgData name="Jeremiah Contreras" userId="9ea49ee18badb19e" providerId="LiveId" clId="{A0D389ED-0E55-4E95-9E7F-69F6B2062966}" dt="2022-10-03T11:52:16.500" v="206"/>
        <pc:sldMkLst>
          <pc:docMk/>
          <pc:sldMk cId="687941457" sldId="3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AF6DA-881C-4C79-B7BB-AE39812FEEB9}" type="datetimeFigureOut">
              <a:rPr lang="en-US" smtClean="0"/>
              <a:t>9/30/2025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1D006A-6F4D-4501-8E73-99D0EC5E5B2D}" type="slidenum">
              <a:rPr lang="en-US" smtClean="0"/>
              <a:t>‹#›</a:t>
            </a:fld>
            <a:endParaRPr lang="en-US"/>
          </a:p>
        </p:txBody>
      </p:sp>
    </p:spTree>
    <p:extLst>
      <p:ext uri="{BB962C8B-B14F-4D97-AF65-F5344CB8AC3E}">
        <p14:creationId xmlns:p14="http://schemas.microsoft.com/office/powerpoint/2010/main" val="3330429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p:cNvSpPr>
          <p:nvPr>
            <p:ph type="sldImg"/>
          </p:nvPr>
        </p:nvSpPr>
        <p:spPr bwMode="auto">
          <a:xfrm>
            <a:off x="407988" y="698500"/>
            <a:ext cx="6208712"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xfrm>
            <a:off x="703263" y="4422775"/>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35" tIns="43867" rIns="87735" bIns="43867"/>
          <a:lstStyle/>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3919990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xfrm>
            <a:off x="701675" y="4479925"/>
            <a:ext cx="5619750" cy="36655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4" rIns="91427" bIns="45714"/>
          <a:lstStyle/>
          <a:p>
            <a:endParaRPr lang="en-US" altLang="en-US"/>
          </a:p>
        </p:txBody>
      </p:sp>
    </p:spTree>
    <p:extLst>
      <p:ext uri="{BB962C8B-B14F-4D97-AF65-F5344CB8AC3E}">
        <p14:creationId xmlns:p14="http://schemas.microsoft.com/office/powerpoint/2010/main" val="3408428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xfrm>
            <a:off x="701675" y="4479925"/>
            <a:ext cx="5619750" cy="36655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433" tIns="46217" rIns="92433" bIns="46217"/>
          <a:lstStyle/>
          <a:p>
            <a:endParaRPr lang="en-US" altLang="en-US"/>
          </a:p>
        </p:txBody>
      </p:sp>
    </p:spTree>
    <p:extLst>
      <p:ext uri="{BB962C8B-B14F-4D97-AF65-F5344CB8AC3E}">
        <p14:creationId xmlns:p14="http://schemas.microsoft.com/office/powerpoint/2010/main" val="4255142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xfrm>
            <a:off x="701675" y="4479925"/>
            <a:ext cx="5619750" cy="36655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4" rIns="91427" bIns="45714"/>
          <a:lstStyle/>
          <a:p>
            <a:endParaRPr lang="en-US" altLang="en-US"/>
          </a:p>
        </p:txBody>
      </p:sp>
    </p:spTree>
    <p:extLst>
      <p:ext uri="{BB962C8B-B14F-4D97-AF65-F5344CB8AC3E}">
        <p14:creationId xmlns:p14="http://schemas.microsoft.com/office/powerpoint/2010/main" val="2177558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33AF5C-8B74-48F2-A112-25185789B7AE}" type="slidenum">
              <a:rPr lang="en-US" smtClean="0"/>
              <a:t>6</a:t>
            </a:fld>
            <a:endParaRPr lang="en-US" dirty="0"/>
          </a:p>
        </p:txBody>
      </p:sp>
    </p:spTree>
    <p:extLst>
      <p:ext uri="{BB962C8B-B14F-4D97-AF65-F5344CB8AC3E}">
        <p14:creationId xmlns:p14="http://schemas.microsoft.com/office/powerpoint/2010/main" val="1430911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12</a:t>
            </a:fld>
            <a:endParaRPr lang="en-US"/>
          </a:p>
        </p:txBody>
      </p:sp>
    </p:spTree>
    <p:extLst>
      <p:ext uri="{BB962C8B-B14F-4D97-AF65-F5344CB8AC3E}">
        <p14:creationId xmlns:p14="http://schemas.microsoft.com/office/powerpoint/2010/main" val="899225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13</a:t>
            </a:fld>
            <a:endParaRPr lang="en-US"/>
          </a:p>
        </p:txBody>
      </p:sp>
    </p:spTree>
    <p:extLst>
      <p:ext uri="{BB962C8B-B14F-4D97-AF65-F5344CB8AC3E}">
        <p14:creationId xmlns:p14="http://schemas.microsoft.com/office/powerpoint/2010/main" val="3044611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14</a:t>
            </a:fld>
            <a:endParaRPr lang="en-US"/>
          </a:p>
        </p:txBody>
      </p:sp>
    </p:spTree>
    <p:extLst>
      <p:ext uri="{BB962C8B-B14F-4D97-AF65-F5344CB8AC3E}">
        <p14:creationId xmlns:p14="http://schemas.microsoft.com/office/powerpoint/2010/main" val="2658537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15</a:t>
            </a:fld>
            <a:endParaRPr lang="en-US"/>
          </a:p>
        </p:txBody>
      </p:sp>
    </p:spTree>
    <p:extLst>
      <p:ext uri="{BB962C8B-B14F-4D97-AF65-F5344CB8AC3E}">
        <p14:creationId xmlns:p14="http://schemas.microsoft.com/office/powerpoint/2010/main" val="2578278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16</a:t>
            </a:fld>
            <a:endParaRPr lang="en-US"/>
          </a:p>
        </p:txBody>
      </p:sp>
    </p:spTree>
    <p:extLst>
      <p:ext uri="{BB962C8B-B14F-4D97-AF65-F5344CB8AC3E}">
        <p14:creationId xmlns:p14="http://schemas.microsoft.com/office/powerpoint/2010/main" val="1127971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17</a:t>
            </a:fld>
            <a:endParaRPr lang="en-US"/>
          </a:p>
        </p:txBody>
      </p:sp>
    </p:spTree>
    <p:extLst>
      <p:ext uri="{BB962C8B-B14F-4D97-AF65-F5344CB8AC3E}">
        <p14:creationId xmlns:p14="http://schemas.microsoft.com/office/powerpoint/2010/main" val="3556407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18</a:t>
            </a:fld>
            <a:endParaRPr lang="en-US"/>
          </a:p>
        </p:txBody>
      </p:sp>
    </p:spTree>
    <p:extLst>
      <p:ext uri="{BB962C8B-B14F-4D97-AF65-F5344CB8AC3E}">
        <p14:creationId xmlns:p14="http://schemas.microsoft.com/office/powerpoint/2010/main" val="37280059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19</a:t>
            </a:fld>
            <a:endParaRPr lang="en-US"/>
          </a:p>
        </p:txBody>
      </p:sp>
    </p:spTree>
    <p:extLst>
      <p:ext uri="{BB962C8B-B14F-4D97-AF65-F5344CB8AC3E}">
        <p14:creationId xmlns:p14="http://schemas.microsoft.com/office/powerpoint/2010/main" val="2829191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933AF5C-8B74-48F2-A112-25185789B7AE}" type="slidenum">
              <a:rPr lang="en-US" smtClean="0"/>
              <a:t>20</a:t>
            </a:fld>
            <a:endParaRPr lang="en-US" dirty="0"/>
          </a:p>
        </p:txBody>
      </p:sp>
    </p:spTree>
    <p:extLst>
      <p:ext uri="{BB962C8B-B14F-4D97-AF65-F5344CB8AC3E}">
        <p14:creationId xmlns:p14="http://schemas.microsoft.com/office/powerpoint/2010/main" val="24679723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32</a:t>
            </a:fld>
            <a:endParaRPr lang="en-US"/>
          </a:p>
        </p:txBody>
      </p:sp>
    </p:spTree>
    <p:extLst>
      <p:ext uri="{BB962C8B-B14F-4D97-AF65-F5344CB8AC3E}">
        <p14:creationId xmlns:p14="http://schemas.microsoft.com/office/powerpoint/2010/main" val="3739666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33</a:t>
            </a:fld>
            <a:endParaRPr lang="en-US"/>
          </a:p>
        </p:txBody>
      </p:sp>
    </p:spTree>
    <p:extLst>
      <p:ext uri="{BB962C8B-B14F-4D97-AF65-F5344CB8AC3E}">
        <p14:creationId xmlns:p14="http://schemas.microsoft.com/office/powerpoint/2010/main" val="9463625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34</a:t>
            </a:fld>
            <a:endParaRPr lang="en-US"/>
          </a:p>
        </p:txBody>
      </p:sp>
    </p:spTree>
    <p:extLst>
      <p:ext uri="{BB962C8B-B14F-4D97-AF65-F5344CB8AC3E}">
        <p14:creationId xmlns:p14="http://schemas.microsoft.com/office/powerpoint/2010/main" val="1598060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35</a:t>
            </a:fld>
            <a:endParaRPr lang="en-US"/>
          </a:p>
        </p:txBody>
      </p:sp>
    </p:spTree>
    <p:extLst>
      <p:ext uri="{BB962C8B-B14F-4D97-AF65-F5344CB8AC3E}">
        <p14:creationId xmlns:p14="http://schemas.microsoft.com/office/powerpoint/2010/main" val="748478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36</a:t>
            </a:fld>
            <a:endParaRPr lang="en-US"/>
          </a:p>
        </p:txBody>
      </p:sp>
    </p:spTree>
    <p:extLst>
      <p:ext uri="{BB962C8B-B14F-4D97-AF65-F5344CB8AC3E}">
        <p14:creationId xmlns:p14="http://schemas.microsoft.com/office/powerpoint/2010/main" val="709999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37</a:t>
            </a:fld>
            <a:endParaRPr lang="en-US"/>
          </a:p>
        </p:txBody>
      </p:sp>
    </p:spTree>
    <p:extLst>
      <p:ext uri="{BB962C8B-B14F-4D97-AF65-F5344CB8AC3E}">
        <p14:creationId xmlns:p14="http://schemas.microsoft.com/office/powerpoint/2010/main" val="2108079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1"/>
            <a:ext cx="2743200" cy="365125"/>
          </a:xfrm>
        </p:spPr>
        <p:txBody>
          <a:bodyPr/>
          <a:lstStyle/>
          <a:p>
            <a:fld id="{29999271-A573-1E42-984E-4EB780E50D50}"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23140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cxnSp>
        <p:nvCxnSpPr>
          <p:cNvPr id="8" name="Straight Connector 7"/>
          <p:cNvCxnSpPr/>
          <p:nvPr userDrawn="1"/>
        </p:nvCxnSpPr>
        <p:spPr>
          <a:xfrm>
            <a:off x="838200" y="1184982"/>
            <a:ext cx="7772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075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218213"/>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999271-A573-1E42-984E-4EB780E50D50}"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669204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39449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99271-A573-1E42-984E-4EB780E50D50}"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948894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253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999271-A573-1E42-984E-4EB780E50D50}" type="datetimeFigureOut">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862383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999271-A573-1E42-984E-4EB780E50D50}" type="datetimeFigureOut">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704149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999271-A573-1E42-984E-4EB780E50D50}" type="datetimeFigureOut">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5"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9870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69629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477474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20764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7"/>
            <a:ext cx="2628900" cy="54178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2"/>
            <a:ext cx="768179"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11442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7850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7"/>
            <a:ext cx="10515600" cy="3957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99271-A573-1E42-984E-4EB780E50D50}" type="datetimeFigureOut">
              <a:rPr lang="en-US" smtClean="0"/>
              <a:t>9/30/2025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8" name="Slide Number Placeholder 8"/>
          <p:cNvSpPr>
            <a:spLocks noGrp="1"/>
          </p:cNvSpPr>
          <p:nvPr>
            <p:ph type="sldNum" sz="quarter" idx="4"/>
          </p:nvPr>
        </p:nvSpPr>
        <p:spPr>
          <a:xfrm>
            <a:off x="8610600" y="6356352"/>
            <a:ext cx="817605" cy="365125"/>
          </a:xfrm>
          <a:prstGeom prst="rect">
            <a:avLst/>
          </a:prstGeom>
        </p:spPr>
        <p:txBody>
          <a:bodyPr/>
          <a:lstStyle/>
          <a:p>
            <a:fld id="{DD321DBF-325B-3546-BAAF-4F6E3B3181FF}" type="slidenum">
              <a:rPr lang="en-US" smtClean="0"/>
              <a:t>‹#›</a:t>
            </a:fld>
            <a:endParaRPr lang="en-US"/>
          </a:p>
        </p:txBody>
      </p:sp>
      <p:pic>
        <p:nvPicPr>
          <p:cNvPr id="10" name="Picture 9">
            <a:extLst>
              <a:ext uri="{FF2B5EF4-FFF2-40B4-BE49-F238E27FC236}">
                <a16:creationId xmlns:a16="http://schemas.microsoft.com/office/drawing/2014/main" id="{DDE8B790-23B5-4C60-94C1-80246395342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968482" y="140401"/>
            <a:ext cx="2068409" cy="434769"/>
          </a:xfrm>
          <a:prstGeom prst="rect">
            <a:avLst/>
          </a:prstGeom>
        </p:spPr>
      </p:pic>
    </p:spTree>
    <p:extLst>
      <p:ext uri="{BB962C8B-B14F-4D97-AF65-F5344CB8AC3E}">
        <p14:creationId xmlns:p14="http://schemas.microsoft.com/office/powerpoint/2010/main" val="2055560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864091" cy="6530027"/>
          </a:xfrm>
          <a:prstGeom prst="rect">
            <a:avLst/>
          </a:prstGeom>
        </p:spPr>
      </p:pic>
      <p:sp>
        <p:nvSpPr>
          <p:cNvPr id="5" name="Rectangle 3"/>
          <p:cNvSpPr>
            <a:spLocks noChangeArrowheads="1"/>
          </p:cNvSpPr>
          <p:nvPr/>
        </p:nvSpPr>
        <p:spPr bwMode="auto">
          <a:xfrm>
            <a:off x="-2" y="5303520"/>
            <a:ext cx="9864091" cy="1554480"/>
          </a:xfrm>
          <a:prstGeom prst="rect">
            <a:avLst/>
          </a:prstGeom>
          <a:solidFill>
            <a:schemeClr val="accent6">
              <a:lumMod val="50000"/>
            </a:schemeClr>
          </a:solidFill>
          <a:ln w="9525">
            <a:noFill/>
            <a:miter lim="800000"/>
            <a:headEnd/>
            <a:tailEnd/>
          </a:ln>
        </p:spPr>
        <p:txBody>
          <a:bodyPr wrap="none" anchor="ctr"/>
          <a:lstStyle/>
          <a:p>
            <a:pPr>
              <a:defRPr/>
            </a:pPr>
            <a:r>
              <a:rPr lang="en-US" altLang="en-US" sz="3200" b="1" i="1" dirty="0">
                <a:solidFill>
                  <a:schemeClr val="bg1"/>
                </a:solidFill>
              </a:rPr>
              <a:t>Cash and A/R Part 1 – In-Class</a:t>
            </a:r>
          </a:p>
        </p:txBody>
      </p:sp>
    </p:spTree>
    <p:extLst>
      <p:ext uri="{BB962C8B-B14F-4D97-AF65-F5344CB8AC3E}">
        <p14:creationId xmlns:p14="http://schemas.microsoft.com/office/powerpoint/2010/main" val="2500230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ctrTitle"/>
          </p:nvPr>
        </p:nvSpPr>
        <p:spPr>
          <a:xfrm>
            <a:off x="2209800" y="3141079"/>
            <a:ext cx="7772400" cy="1470025"/>
          </a:xfrm>
        </p:spPr>
        <p:txBody>
          <a:bodyPr>
            <a:normAutofit fontScale="90000"/>
          </a:bodyPr>
          <a:lstStyle/>
          <a:p>
            <a:r>
              <a:rPr lang="en-US" altLang="en-US" dirty="0"/>
              <a:t>Accounts Receivable </a:t>
            </a:r>
            <a:br>
              <a:rPr lang="en-US" altLang="en-US" dirty="0"/>
            </a:br>
            <a:endParaRPr lang="en-US" altLang="en-US" dirty="0"/>
          </a:p>
        </p:txBody>
      </p:sp>
    </p:spTree>
    <p:extLst>
      <p:ext uri="{BB962C8B-B14F-4D97-AF65-F5344CB8AC3E}">
        <p14:creationId xmlns:p14="http://schemas.microsoft.com/office/powerpoint/2010/main" val="687941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dirty="0"/>
              <a:t>Accounts Receivable</a:t>
            </a:r>
          </a:p>
        </p:txBody>
      </p:sp>
      <p:sp>
        <p:nvSpPr>
          <p:cNvPr id="20483" name="Rectangle 3"/>
          <p:cNvSpPr>
            <a:spLocks noGrp="1" noChangeArrowheads="1"/>
          </p:cNvSpPr>
          <p:nvPr>
            <p:ph type="body" idx="1"/>
          </p:nvPr>
        </p:nvSpPr>
        <p:spPr>
          <a:xfrm>
            <a:off x="838200" y="1601789"/>
            <a:ext cx="9980596" cy="4981891"/>
          </a:xfrm>
        </p:spPr>
        <p:txBody>
          <a:bodyPr>
            <a:normAutofit/>
          </a:bodyPr>
          <a:lstStyle/>
          <a:p>
            <a:pPr>
              <a:spcAft>
                <a:spcPts val="1200"/>
              </a:spcAft>
            </a:pPr>
            <a:r>
              <a:rPr lang="en-US" altLang="en-US" sz="2400" dirty="0"/>
              <a:t>Accounts receivable are promises of the purchaser to pay for goods and services (open lines of credit).</a:t>
            </a:r>
          </a:p>
          <a:p>
            <a:pPr>
              <a:spcAft>
                <a:spcPts val="1200"/>
              </a:spcAft>
            </a:pPr>
            <a:endParaRPr lang="en-US" altLang="en-US" sz="2400" dirty="0"/>
          </a:p>
          <a:p>
            <a:pPr>
              <a:spcAft>
                <a:spcPts val="1200"/>
              </a:spcAft>
            </a:pPr>
            <a:r>
              <a:rPr lang="en-US" altLang="en-US" sz="2400" dirty="0"/>
              <a:t>Usually short-term period, no interest, based on invoices (informal)</a:t>
            </a:r>
          </a:p>
          <a:p>
            <a:pPr>
              <a:spcAft>
                <a:spcPts val="1200"/>
              </a:spcAft>
            </a:pPr>
            <a:endParaRPr lang="en-US" altLang="en-US" sz="2400" dirty="0"/>
          </a:p>
          <a:p>
            <a:r>
              <a:rPr lang="en-US" altLang="en-US" sz="2400" dirty="0"/>
              <a:t>Initial measurement of receivables (amount of the sale) may be affected by the availability of discounts.</a:t>
            </a:r>
            <a:endParaRPr lang="en-US" altLang="en-US" sz="2200" dirty="0"/>
          </a:p>
          <a:p>
            <a:pPr lvl="1"/>
            <a:r>
              <a:rPr lang="en-US" altLang="en-US" sz="2000" dirty="0">
                <a:solidFill>
                  <a:srgbClr val="0070C0"/>
                </a:solidFill>
              </a:rPr>
              <a:t>Trade</a:t>
            </a:r>
            <a:r>
              <a:rPr lang="en-US" altLang="en-US" sz="2000" dirty="0"/>
              <a:t> or </a:t>
            </a:r>
            <a:r>
              <a:rPr lang="en-US" altLang="en-US" sz="2000" dirty="0">
                <a:solidFill>
                  <a:srgbClr val="0070C0"/>
                </a:solidFill>
              </a:rPr>
              <a:t>volume</a:t>
            </a:r>
            <a:r>
              <a:rPr lang="en-US" altLang="en-US" sz="2000" dirty="0"/>
              <a:t> discounts (up next)</a:t>
            </a:r>
          </a:p>
          <a:p>
            <a:pPr lvl="1"/>
            <a:r>
              <a:rPr lang="en-US" altLang="en-US" sz="2000" dirty="0">
                <a:solidFill>
                  <a:srgbClr val="0070C0"/>
                </a:solidFill>
              </a:rPr>
              <a:t>Sales</a:t>
            </a:r>
            <a:r>
              <a:rPr lang="en-US" altLang="en-US" sz="2000" dirty="0"/>
              <a:t> discounts (also called cash discounts, cover on Wednesday)</a:t>
            </a:r>
          </a:p>
        </p:txBody>
      </p:sp>
    </p:spTree>
    <p:extLst>
      <p:ext uri="{BB962C8B-B14F-4D97-AF65-F5344CB8AC3E}">
        <p14:creationId xmlns:p14="http://schemas.microsoft.com/office/powerpoint/2010/main" val="4100628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3"/>
          <p:cNvSpPr>
            <a:spLocks noGrp="1" noChangeArrowheads="1"/>
          </p:cNvSpPr>
          <p:nvPr>
            <p:ph type="ctrTitle"/>
          </p:nvPr>
        </p:nvSpPr>
        <p:spPr>
          <a:xfrm>
            <a:off x="2209800" y="2130426"/>
            <a:ext cx="7772400" cy="1470025"/>
          </a:xfrm>
        </p:spPr>
        <p:txBody>
          <a:bodyPr>
            <a:normAutofit fontScale="90000"/>
          </a:bodyPr>
          <a:lstStyle/>
          <a:p>
            <a:r>
              <a:rPr lang="en-US" altLang="en-US"/>
              <a:t>Accounting for Uncollectibles</a:t>
            </a:r>
          </a:p>
        </p:txBody>
      </p:sp>
    </p:spTree>
    <p:extLst>
      <p:ext uri="{BB962C8B-B14F-4D97-AF65-F5344CB8AC3E}">
        <p14:creationId xmlns:p14="http://schemas.microsoft.com/office/powerpoint/2010/main" val="3061935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Tesla</a:t>
            </a:r>
          </a:p>
        </p:txBody>
      </p:sp>
      <p:sp>
        <p:nvSpPr>
          <p:cNvPr id="3" name="Content Placeholder 2">
            <a:extLst>
              <a:ext uri="{FF2B5EF4-FFF2-40B4-BE49-F238E27FC236}">
                <a16:creationId xmlns:a16="http://schemas.microsoft.com/office/drawing/2014/main" id="{D46E9499-B408-4468-B32B-1E539252719D}"/>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BA1D5B6B-EA00-49B2-8048-C9856A5291B8}"/>
              </a:ext>
            </a:extLst>
          </p:cNvPr>
          <p:cNvPicPr>
            <a:picLocks noChangeAspect="1"/>
          </p:cNvPicPr>
          <p:nvPr/>
        </p:nvPicPr>
        <p:blipFill>
          <a:blip r:embed="rId2"/>
          <a:stretch>
            <a:fillRect/>
          </a:stretch>
        </p:blipFill>
        <p:spPr>
          <a:xfrm>
            <a:off x="838200" y="1825627"/>
            <a:ext cx="5438933" cy="4082228"/>
          </a:xfrm>
          <a:prstGeom prst="rect">
            <a:avLst/>
          </a:prstGeom>
        </p:spPr>
      </p:pic>
      <p:pic>
        <p:nvPicPr>
          <p:cNvPr id="9" name="Picture 8">
            <a:extLst>
              <a:ext uri="{FF2B5EF4-FFF2-40B4-BE49-F238E27FC236}">
                <a16:creationId xmlns:a16="http://schemas.microsoft.com/office/drawing/2014/main" id="{0635F93C-6957-46E2-9106-696A89BDDCE8}"/>
              </a:ext>
            </a:extLst>
          </p:cNvPr>
          <p:cNvPicPr>
            <a:picLocks noChangeAspect="1"/>
          </p:cNvPicPr>
          <p:nvPr/>
        </p:nvPicPr>
        <p:blipFill>
          <a:blip r:embed="rId3"/>
          <a:stretch>
            <a:fillRect/>
          </a:stretch>
        </p:blipFill>
        <p:spPr>
          <a:xfrm>
            <a:off x="6280644" y="1207355"/>
            <a:ext cx="5911356" cy="4675786"/>
          </a:xfrm>
          <a:prstGeom prst="rect">
            <a:avLst/>
          </a:prstGeom>
        </p:spPr>
      </p:pic>
      <p:sp>
        <p:nvSpPr>
          <p:cNvPr id="10" name="Rectangle 9">
            <a:extLst>
              <a:ext uri="{FF2B5EF4-FFF2-40B4-BE49-F238E27FC236}">
                <a16:creationId xmlns:a16="http://schemas.microsoft.com/office/drawing/2014/main" id="{1048B5CF-1636-4C8A-8210-8B10FDCD4645}"/>
              </a:ext>
            </a:extLst>
          </p:cNvPr>
          <p:cNvSpPr/>
          <p:nvPr/>
        </p:nvSpPr>
        <p:spPr>
          <a:xfrm>
            <a:off x="1161535" y="2644346"/>
            <a:ext cx="2681416" cy="25949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5FA0D92-01E5-4AFA-8BF4-79D918FCE45B}"/>
              </a:ext>
            </a:extLst>
          </p:cNvPr>
          <p:cNvSpPr txBox="1"/>
          <p:nvPr/>
        </p:nvSpPr>
        <p:spPr>
          <a:xfrm>
            <a:off x="4259080" y="2598340"/>
            <a:ext cx="1183364" cy="369332"/>
          </a:xfrm>
          <a:prstGeom prst="rect">
            <a:avLst/>
          </a:prstGeom>
          <a:noFill/>
        </p:spPr>
        <p:txBody>
          <a:bodyPr wrap="square" rtlCol="0">
            <a:spAutoFit/>
          </a:bodyPr>
          <a:lstStyle/>
          <a:p>
            <a:r>
              <a:rPr lang="en-US" b="1" dirty="0">
                <a:solidFill>
                  <a:srgbClr val="FF0000"/>
                </a:solidFill>
              </a:rPr>
              <a:t>Net?</a:t>
            </a:r>
          </a:p>
        </p:txBody>
      </p:sp>
      <p:cxnSp>
        <p:nvCxnSpPr>
          <p:cNvPr id="13" name="Straight Arrow Connector 12">
            <a:extLst>
              <a:ext uri="{FF2B5EF4-FFF2-40B4-BE49-F238E27FC236}">
                <a16:creationId xmlns:a16="http://schemas.microsoft.com/office/drawing/2014/main" id="{EED5BDC8-D5C0-4D2B-95A0-A4B9C0B3E857}"/>
              </a:ext>
            </a:extLst>
          </p:cNvPr>
          <p:cNvCxnSpPr/>
          <p:nvPr/>
        </p:nvCxnSpPr>
        <p:spPr>
          <a:xfrm flipH="1">
            <a:off x="3928902" y="2778516"/>
            <a:ext cx="30145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363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36DA4-17B8-4C2B-8D93-D2EC15D1ABDE}"/>
              </a:ext>
            </a:extLst>
          </p:cNvPr>
          <p:cNvSpPr>
            <a:spLocks noGrp="1"/>
          </p:cNvSpPr>
          <p:nvPr>
            <p:ph type="title"/>
          </p:nvPr>
        </p:nvSpPr>
        <p:spPr/>
        <p:txBody>
          <a:bodyPr>
            <a:normAutofit/>
          </a:bodyPr>
          <a:lstStyle/>
          <a:p>
            <a:r>
              <a:rPr lang="en-US" sz="4000" dirty="0"/>
              <a:t>Excerpt from Apple’s Balance Sheet</a:t>
            </a:r>
          </a:p>
        </p:txBody>
      </p:sp>
      <p:pic>
        <p:nvPicPr>
          <p:cNvPr id="8" name="Content Placeholder 3">
            <a:extLst>
              <a:ext uri="{FF2B5EF4-FFF2-40B4-BE49-F238E27FC236}">
                <a16:creationId xmlns:a16="http://schemas.microsoft.com/office/drawing/2014/main" id="{8E45E3FA-E3AF-4E82-96C3-468E7EEC58B5}"/>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6058" y="1734457"/>
            <a:ext cx="11403800" cy="3962400"/>
          </a:xfrm>
          <a:prstGeom prst="rect">
            <a:avLst/>
          </a:prstGeom>
        </p:spPr>
      </p:pic>
      <p:sp>
        <p:nvSpPr>
          <p:cNvPr id="10" name="Rectangle 9">
            <a:extLst>
              <a:ext uri="{FF2B5EF4-FFF2-40B4-BE49-F238E27FC236}">
                <a16:creationId xmlns:a16="http://schemas.microsoft.com/office/drawing/2014/main" id="{D0B7768A-7F3F-4F40-B26D-6B46F0C25759}"/>
              </a:ext>
            </a:extLst>
          </p:cNvPr>
          <p:cNvSpPr/>
          <p:nvPr/>
        </p:nvSpPr>
        <p:spPr>
          <a:xfrm>
            <a:off x="3568083" y="4747747"/>
            <a:ext cx="1704110" cy="584775"/>
          </a:xfrm>
          <a:prstGeom prst="rect">
            <a:avLst/>
          </a:prstGeom>
        </p:spPr>
        <p:txBody>
          <a:bodyPr wrap="square">
            <a:spAutoFit/>
          </a:bodyPr>
          <a:lstStyle/>
          <a:p>
            <a:pPr marL="0" lvl="1" algn="ctr">
              <a:spcBef>
                <a:spcPct val="20000"/>
              </a:spcBef>
              <a:spcAft>
                <a:spcPts val="1200"/>
              </a:spcAft>
              <a:buSzPct val="50000"/>
              <a:defRPr/>
            </a:pPr>
            <a:r>
              <a:rPr lang="en-US" sz="1600" b="1" dirty="0"/>
              <a:t>What are allowances?</a:t>
            </a:r>
          </a:p>
        </p:txBody>
      </p:sp>
      <p:pic>
        <p:nvPicPr>
          <p:cNvPr id="13" name="Graphic 12" descr="Arrow: Slight curve with solid fill">
            <a:extLst>
              <a:ext uri="{FF2B5EF4-FFF2-40B4-BE49-F238E27FC236}">
                <a16:creationId xmlns:a16="http://schemas.microsoft.com/office/drawing/2014/main" id="{56E039B9-C63D-45ED-8A29-A47F7B15BAD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4967999">
            <a:off x="3929385" y="4030499"/>
            <a:ext cx="584775" cy="584775"/>
          </a:xfrm>
          <a:prstGeom prst="rect">
            <a:avLst/>
          </a:prstGeom>
        </p:spPr>
      </p:pic>
    </p:spTree>
    <p:extLst>
      <p:ext uri="{BB962C8B-B14F-4D97-AF65-F5344CB8AC3E}">
        <p14:creationId xmlns:p14="http://schemas.microsoft.com/office/powerpoint/2010/main" val="4273156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The problem…</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181386272"/>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2044149" cy="369332"/>
          </a:xfrm>
          <a:prstGeom prst="rect">
            <a:avLst/>
          </a:prstGeom>
          <a:noFill/>
        </p:spPr>
        <p:txBody>
          <a:bodyPr wrap="none" rtlCol="0">
            <a:spAutoFit/>
          </a:bodyPr>
          <a:lstStyle/>
          <a:p>
            <a:r>
              <a:rPr lang="en-US" b="1" u="sng" dirty="0"/>
              <a:t>A/R Ledger (B-A)</a:t>
            </a:r>
          </a:p>
        </p:txBody>
      </p:sp>
      <p:sp>
        <p:nvSpPr>
          <p:cNvPr id="15" name="Right Brace 14">
            <a:extLst>
              <a:ext uri="{FF2B5EF4-FFF2-40B4-BE49-F238E27FC236}">
                <a16:creationId xmlns:a16="http://schemas.microsoft.com/office/drawing/2014/main" id="{8B3A6327-9C35-4BCD-B912-9F25274C2374}"/>
              </a:ext>
            </a:extLst>
          </p:cNvPr>
          <p:cNvSpPr/>
          <p:nvPr/>
        </p:nvSpPr>
        <p:spPr>
          <a:xfrm>
            <a:off x="5908431" y="1873402"/>
            <a:ext cx="1415772" cy="3703433"/>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1C215B9F-6E13-4107-9016-458CCCF9E455}"/>
              </a:ext>
            </a:extLst>
          </p:cNvPr>
          <p:cNvSpPr txBox="1"/>
          <p:nvPr/>
        </p:nvSpPr>
        <p:spPr>
          <a:xfrm>
            <a:off x="7527679" y="3309378"/>
            <a:ext cx="3676859" cy="830997"/>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We know some of these customers won’t pay…</a:t>
            </a:r>
          </a:p>
        </p:txBody>
      </p:sp>
    </p:spTree>
    <p:extLst>
      <p:ext uri="{BB962C8B-B14F-4D97-AF65-F5344CB8AC3E}">
        <p14:creationId xmlns:p14="http://schemas.microsoft.com/office/powerpoint/2010/main" val="180491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The problem…</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931494168"/>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strike="sngStrike" dirty="0"/>
                        <a:t>Shem Manufacturing</a:t>
                      </a:r>
                    </a:p>
                  </a:txBody>
                  <a:tcPr/>
                </a:tc>
                <a:tc>
                  <a:txBody>
                    <a:bodyPr/>
                    <a:lstStyle/>
                    <a:p>
                      <a:pPr algn="r"/>
                      <a:r>
                        <a:rPr lang="en-US" strike="sngStrike" dirty="0"/>
                        <a:t>10,000</a:t>
                      </a:r>
                    </a:p>
                  </a:txBody>
                  <a:tcPr/>
                </a:tc>
                <a:extLst>
                  <a:ext uri="{0D108BD9-81ED-4DB2-BD59-A6C34878D82A}">
                    <a16:rowId xmlns:a16="http://schemas.microsoft.com/office/drawing/2014/main" val="3435893132"/>
                  </a:ext>
                </a:extLst>
              </a:tr>
              <a:tr h="370840">
                <a:tc>
                  <a:txBody>
                    <a:bodyPr/>
                    <a:lstStyle/>
                    <a:p>
                      <a:r>
                        <a:rPr lang="en-US" strike="sngStrike" dirty="0"/>
                        <a:t>Miah Inc.</a:t>
                      </a:r>
                    </a:p>
                  </a:txBody>
                  <a:tcPr/>
                </a:tc>
                <a:tc>
                  <a:txBody>
                    <a:bodyPr/>
                    <a:lstStyle/>
                    <a:p>
                      <a:pPr algn="r"/>
                      <a:r>
                        <a:rPr lang="en-US" strike="sngStrike"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$4,980,000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2044149" cy="369332"/>
          </a:xfrm>
          <a:prstGeom prst="rect">
            <a:avLst/>
          </a:prstGeom>
          <a:noFill/>
        </p:spPr>
        <p:txBody>
          <a:bodyPr wrap="none" rtlCol="0">
            <a:spAutoFit/>
          </a:bodyPr>
          <a:lstStyle/>
          <a:p>
            <a:r>
              <a:rPr lang="en-US" b="1" u="sng" dirty="0"/>
              <a:t>A/R Ledger (B-A)</a:t>
            </a:r>
          </a:p>
        </p:txBody>
      </p:sp>
      <p:sp>
        <p:nvSpPr>
          <p:cNvPr id="15" name="Right Brace 14">
            <a:extLst>
              <a:ext uri="{FF2B5EF4-FFF2-40B4-BE49-F238E27FC236}">
                <a16:creationId xmlns:a16="http://schemas.microsoft.com/office/drawing/2014/main" id="{8B3A6327-9C35-4BCD-B912-9F25274C2374}"/>
              </a:ext>
            </a:extLst>
          </p:cNvPr>
          <p:cNvSpPr/>
          <p:nvPr/>
        </p:nvSpPr>
        <p:spPr>
          <a:xfrm>
            <a:off x="5908431" y="1873402"/>
            <a:ext cx="1415772" cy="3703433"/>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1C215B9F-6E13-4107-9016-458CCCF9E455}"/>
              </a:ext>
            </a:extLst>
          </p:cNvPr>
          <p:cNvSpPr txBox="1"/>
          <p:nvPr/>
        </p:nvSpPr>
        <p:spPr>
          <a:xfrm>
            <a:off x="7527679" y="3124712"/>
            <a:ext cx="3676859" cy="1200329"/>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If we know </a:t>
            </a:r>
            <a:r>
              <a:rPr lang="en-US" sz="2400" b="1" dirty="0"/>
              <a:t>which</a:t>
            </a:r>
            <a:r>
              <a:rPr lang="en-US" sz="2400" dirty="0"/>
              <a:t> ones won’t pay, we can get rid of them.</a:t>
            </a:r>
          </a:p>
        </p:txBody>
      </p:sp>
    </p:spTree>
    <p:extLst>
      <p:ext uri="{BB962C8B-B14F-4D97-AF65-F5344CB8AC3E}">
        <p14:creationId xmlns:p14="http://schemas.microsoft.com/office/powerpoint/2010/main" val="1114433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The problem…</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1949703345"/>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strike="sngStrike" dirty="0"/>
                        <a:t>Shem Manufacturing</a:t>
                      </a:r>
                    </a:p>
                  </a:txBody>
                  <a:tcPr/>
                </a:tc>
                <a:tc>
                  <a:txBody>
                    <a:bodyPr/>
                    <a:lstStyle/>
                    <a:p>
                      <a:pPr algn="r"/>
                      <a:r>
                        <a:rPr lang="en-US" strike="sngStrike" dirty="0"/>
                        <a:t>10,000</a:t>
                      </a:r>
                    </a:p>
                  </a:txBody>
                  <a:tcPr/>
                </a:tc>
                <a:extLst>
                  <a:ext uri="{0D108BD9-81ED-4DB2-BD59-A6C34878D82A}">
                    <a16:rowId xmlns:a16="http://schemas.microsoft.com/office/drawing/2014/main" val="3435893132"/>
                  </a:ext>
                </a:extLst>
              </a:tr>
              <a:tr h="370840">
                <a:tc>
                  <a:txBody>
                    <a:bodyPr/>
                    <a:lstStyle/>
                    <a:p>
                      <a:r>
                        <a:rPr lang="en-US" strike="sngStrike" dirty="0"/>
                        <a:t>Miah Inc.</a:t>
                      </a:r>
                    </a:p>
                  </a:txBody>
                  <a:tcPr/>
                </a:tc>
                <a:tc>
                  <a:txBody>
                    <a:bodyPr/>
                    <a:lstStyle/>
                    <a:p>
                      <a:pPr algn="r"/>
                      <a:r>
                        <a:rPr lang="en-US" strike="sngStrike"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$4,980,000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2044149" cy="369332"/>
          </a:xfrm>
          <a:prstGeom prst="rect">
            <a:avLst/>
          </a:prstGeom>
          <a:noFill/>
        </p:spPr>
        <p:txBody>
          <a:bodyPr wrap="none" rtlCol="0">
            <a:spAutoFit/>
          </a:bodyPr>
          <a:lstStyle/>
          <a:p>
            <a:r>
              <a:rPr lang="en-US" b="1" u="sng" dirty="0"/>
              <a:t>A/R Ledger (B-A)</a:t>
            </a:r>
          </a:p>
        </p:txBody>
      </p:sp>
      <p:sp>
        <p:nvSpPr>
          <p:cNvPr id="15" name="Right Brace 14">
            <a:extLst>
              <a:ext uri="{FF2B5EF4-FFF2-40B4-BE49-F238E27FC236}">
                <a16:creationId xmlns:a16="http://schemas.microsoft.com/office/drawing/2014/main" id="{8B3A6327-9C35-4BCD-B912-9F25274C2374}"/>
              </a:ext>
            </a:extLst>
          </p:cNvPr>
          <p:cNvSpPr/>
          <p:nvPr/>
        </p:nvSpPr>
        <p:spPr>
          <a:xfrm>
            <a:off x="5908431" y="1873402"/>
            <a:ext cx="1415772" cy="3703433"/>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1C215B9F-6E13-4107-9016-458CCCF9E455}"/>
              </a:ext>
            </a:extLst>
          </p:cNvPr>
          <p:cNvSpPr txBox="1"/>
          <p:nvPr/>
        </p:nvSpPr>
        <p:spPr>
          <a:xfrm>
            <a:off x="7527679" y="3124712"/>
            <a:ext cx="3676859" cy="1200329"/>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And A/R will be stated at the amount we expect to collect.</a:t>
            </a:r>
          </a:p>
        </p:txBody>
      </p:sp>
    </p:spTree>
    <p:extLst>
      <p:ext uri="{BB962C8B-B14F-4D97-AF65-F5344CB8AC3E}">
        <p14:creationId xmlns:p14="http://schemas.microsoft.com/office/powerpoint/2010/main" val="3283010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The problem…</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424019701"/>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strike="sngStrike" dirty="0"/>
                        <a:t>Shem Manufacturing</a:t>
                      </a:r>
                    </a:p>
                  </a:txBody>
                  <a:tcPr/>
                </a:tc>
                <a:tc>
                  <a:txBody>
                    <a:bodyPr/>
                    <a:lstStyle/>
                    <a:p>
                      <a:pPr algn="r"/>
                      <a:r>
                        <a:rPr lang="en-US" strike="sngStrike" dirty="0"/>
                        <a:t>10,000</a:t>
                      </a:r>
                    </a:p>
                  </a:txBody>
                  <a:tcPr/>
                </a:tc>
                <a:extLst>
                  <a:ext uri="{0D108BD9-81ED-4DB2-BD59-A6C34878D82A}">
                    <a16:rowId xmlns:a16="http://schemas.microsoft.com/office/drawing/2014/main" val="3435893132"/>
                  </a:ext>
                </a:extLst>
              </a:tr>
              <a:tr h="370840">
                <a:tc>
                  <a:txBody>
                    <a:bodyPr/>
                    <a:lstStyle/>
                    <a:p>
                      <a:r>
                        <a:rPr lang="en-US" strike="sngStrike" dirty="0"/>
                        <a:t>Miah Inc.</a:t>
                      </a:r>
                    </a:p>
                  </a:txBody>
                  <a:tcPr/>
                </a:tc>
                <a:tc>
                  <a:txBody>
                    <a:bodyPr/>
                    <a:lstStyle/>
                    <a:p>
                      <a:pPr algn="r"/>
                      <a:r>
                        <a:rPr lang="en-US" strike="sngStrike"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$4,980,000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2044149" cy="369332"/>
          </a:xfrm>
          <a:prstGeom prst="rect">
            <a:avLst/>
          </a:prstGeom>
          <a:noFill/>
        </p:spPr>
        <p:txBody>
          <a:bodyPr wrap="none" rtlCol="0">
            <a:spAutoFit/>
          </a:bodyPr>
          <a:lstStyle/>
          <a:p>
            <a:r>
              <a:rPr lang="en-US" b="1" u="sng" dirty="0"/>
              <a:t>A/R Ledger (B-A)</a:t>
            </a:r>
          </a:p>
        </p:txBody>
      </p:sp>
      <p:sp>
        <p:nvSpPr>
          <p:cNvPr id="15" name="Right Brace 14">
            <a:extLst>
              <a:ext uri="{FF2B5EF4-FFF2-40B4-BE49-F238E27FC236}">
                <a16:creationId xmlns:a16="http://schemas.microsoft.com/office/drawing/2014/main" id="{8B3A6327-9C35-4BCD-B912-9F25274C2374}"/>
              </a:ext>
            </a:extLst>
          </p:cNvPr>
          <p:cNvSpPr/>
          <p:nvPr/>
        </p:nvSpPr>
        <p:spPr>
          <a:xfrm>
            <a:off x="5908431" y="1873402"/>
            <a:ext cx="1415772" cy="3703433"/>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1C215B9F-6E13-4107-9016-458CCCF9E455}"/>
              </a:ext>
            </a:extLst>
          </p:cNvPr>
          <p:cNvSpPr txBox="1"/>
          <p:nvPr/>
        </p:nvSpPr>
        <p:spPr>
          <a:xfrm>
            <a:off x="7527679" y="3494044"/>
            <a:ext cx="3676859" cy="461665"/>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That’s good.</a:t>
            </a:r>
          </a:p>
        </p:txBody>
      </p:sp>
    </p:spTree>
    <p:extLst>
      <p:ext uri="{BB962C8B-B14F-4D97-AF65-F5344CB8AC3E}">
        <p14:creationId xmlns:p14="http://schemas.microsoft.com/office/powerpoint/2010/main" val="8162361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The problem…</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578478113"/>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2044149" cy="369332"/>
          </a:xfrm>
          <a:prstGeom prst="rect">
            <a:avLst/>
          </a:prstGeom>
          <a:noFill/>
        </p:spPr>
        <p:txBody>
          <a:bodyPr wrap="none" rtlCol="0">
            <a:spAutoFit/>
          </a:bodyPr>
          <a:lstStyle/>
          <a:p>
            <a:r>
              <a:rPr lang="en-US" b="1" u="sng" dirty="0"/>
              <a:t>A/R Ledger (B-A)</a:t>
            </a:r>
          </a:p>
        </p:txBody>
      </p:sp>
      <p:sp>
        <p:nvSpPr>
          <p:cNvPr id="15" name="Right Brace 14">
            <a:extLst>
              <a:ext uri="{FF2B5EF4-FFF2-40B4-BE49-F238E27FC236}">
                <a16:creationId xmlns:a16="http://schemas.microsoft.com/office/drawing/2014/main" id="{8B3A6327-9C35-4BCD-B912-9F25274C2374}"/>
              </a:ext>
            </a:extLst>
          </p:cNvPr>
          <p:cNvSpPr/>
          <p:nvPr/>
        </p:nvSpPr>
        <p:spPr>
          <a:xfrm>
            <a:off x="5908431" y="1873402"/>
            <a:ext cx="1415772" cy="3703433"/>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1C215B9F-6E13-4107-9016-458CCCF9E455}"/>
              </a:ext>
            </a:extLst>
          </p:cNvPr>
          <p:cNvSpPr txBox="1"/>
          <p:nvPr/>
        </p:nvSpPr>
        <p:spPr>
          <a:xfrm>
            <a:off x="7527679" y="3124712"/>
            <a:ext cx="3676859" cy="1200329"/>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BUT…we usually don’t know which ones won’t pay.</a:t>
            </a:r>
          </a:p>
        </p:txBody>
      </p:sp>
    </p:spTree>
    <p:extLst>
      <p:ext uri="{BB962C8B-B14F-4D97-AF65-F5344CB8AC3E}">
        <p14:creationId xmlns:p14="http://schemas.microsoft.com/office/powerpoint/2010/main" val="2796713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The problem…</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285042415"/>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2044149" cy="369332"/>
          </a:xfrm>
          <a:prstGeom prst="rect">
            <a:avLst/>
          </a:prstGeom>
          <a:noFill/>
        </p:spPr>
        <p:txBody>
          <a:bodyPr wrap="none" rtlCol="0">
            <a:spAutoFit/>
          </a:bodyPr>
          <a:lstStyle/>
          <a:p>
            <a:r>
              <a:rPr lang="en-US" b="1" u="sng" dirty="0"/>
              <a:t>A/R Ledger (B-A)</a:t>
            </a:r>
          </a:p>
        </p:txBody>
      </p:sp>
      <p:sp>
        <p:nvSpPr>
          <p:cNvPr id="15" name="Right Brace 14">
            <a:extLst>
              <a:ext uri="{FF2B5EF4-FFF2-40B4-BE49-F238E27FC236}">
                <a16:creationId xmlns:a16="http://schemas.microsoft.com/office/drawing/2014/main" id="{8B3A6327-9C35-4BCD-B912-9F25274C2374}"/>
              </a:ext>
            </a:extLst>
          </p:cNvPr>
          <p:cNvSpPr/>
          <p:nvPr/>
        </p:nvSpPr>
        <p:spPr>
          <a:xfrm>
            <a:off x="5908431" y="1873402"/>
            <a:ext cx="1415772" cy="3703433"/>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1C215B9F-6E13-4107-9016-458CCCF9E455}"/>
              </a:ext>
            </a:extLst>
          </p:cNvPr>
          <p:cNvSpPr txBox="1"/>
          <p:nvPr/>
        </p:nvSpPr>
        <p:spPr>
          <a:xfrm>
            <a:off x="7527679" y="3124712"/>
            <a:ext cx="3676859" cy="1200329"/>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Leaving our A/R at $5M would </a:t>
            </a:r>
            <a:r>
              <a:rPr lang="en-US" sz="2400" b="1" dirty="0">
                <a:solidFill>
                  <a:srgbClr val="FF0000"/>
                </a:solidFill>
              </a:rPr>
              <a:t>OVERSTATE</a:t>
            </a:r>
            <a:r>
              <a:rPr lang="en-US" sz="2400" dirty="0"/>
              <a:t> our assets.</a:t>
            </a:r>
          </a:p>
        </p:txBody>
      </p:sp>
    </p:spTree>
    <p:extLst>
      <p:ext uri="{BB962C8B-B14F-4D97-AF65-F5344CB8AC3E}">
        <p14:creationId xmlns:p14="http://schemas.microsoft.com/office/powerpoint/2010/main" val="2625334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The problem…</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3413894921"/>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2044149" cy="369332"/>
          </a:xfrm>
          <a:prstGeom prst="rect">
            <a:avLst/>
          </a:prstGeom>
          <a:noFill/>
        </p:spPr>
        <p:txBody>
          <a:bodyPr wrap="none" rtlCol="0">
            <a:spAutoFit/>
          </a:bodyPr>
          <a:lstStyle/>
          <a:p>
            <a:r>
              <a:rPr lang="en-US" b="1" u="sng" dirty="0"/>
              <a:t>A/R Ledger (B-A)</a:t>
            </a:r>
          </a:p>
        </p:txBody>
      </p:sp>
      <p:sp>
        <p:nvSpPr>
          <p:cNvPr id="15" name="Right Brace 14">
            <a:extLst>
              <a:ext uri="{FF2B5EF4-FFF2-40B4-BE49-F238E27FC236}">
                <a16:creationId xmlns:a16="http://schemas.microsoft.com/office/drawing/2014/main" id="{8B3A6327-9C35-4BCD-B912-9F25274C2374}"/>
              </a:ext>
            </a:extLst>
          </p:cNvPr>
          <p:cNvSpPr/>
          <p:nvPr/>
        </p:nvSpPr>
        <p:spPr>
          <a:xfrm>
            <a:off x="5908431" y="1873402"/>
            <a:ext cx="1415772" cy="3703433"/>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1C215B9F-6E13-4107-9016-458CCCF9E455}"/>
              </a:ext>
            </a:extLst>
          </p:cNvPr>
          <p:cNvSpPr txBox="1"/>
          <p:nvPr/>
        </p:nvSpPr>
        <p:spPr>
          <a:xfrm>
            <a:off x="7527679" y="3494044"/>
            <a:ext cx="3676859" cy="461665"/>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That’s bad.</a:t>
            </a:r>
          </a:p>
        </p:txBody>
      </p:sp>
    </p:spTree>
    <p:extLst>
      <p:ext uri="{BB962C8B-B14F-4D97-AF65-F5344CB8AC3E}">
        <p14:creationId xmlns:p14="http://schemas.microsoft.com/office/powerpoint/2010/main" val="1619683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The problem…</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017864961"/>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2044149" cy="369332"/>
          </a:xfrm>
          <a:prstGeom prst="rect">
            <a:avLst/>
          </a:prstGeom>
          <a:noFill/>
        </p:spPr>
        <p:txBody>
          <a:bodyPr wrap="none" rtlCol="0">
            <a:spAutoFit/>
          </a:bodyPr>
          <a:lstStyle/>
          <a:p>
            <a:r>
              <a:rPr lang="en-US" b="1" u="sng" dirty="0"/>
              <a:t>A/R Ledger (B-A)</a:t>
            </a:r>
          </a:p>
        </p:txBody>
      </p:sp>
      <p:sp>
        <p:nvSpPr>
          <p:cNvPr id="15" name="Right Brace 14">
            <a:extLst>
              <a:ext uri="{FF2B5EF4-FFF2-40B4-BE49-F238E27FC236}">
                <a16:creationId xmlns:a16="http://schemas.microsoft.com/office/drawing/2014/main" id="{8B3A6327-9C35-4BCD-B912-9F25274C2374}"/>
              </a:ext>
            </a:extLst>
          </p:cNvPr>
          <p:cNvSpPr/>
          <p:nvPr/>
        </p:nvSpPr>
        <p:spPr>
          <a:xfrm>
            <a:off x="5908431" y="1873402"/>
            <a:ext cx="1415772" cy="3703433"/>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1C215B9F-6E13-4107-9016-458CCCF9E455}"/>
              </a:ext>
            </a:extLst>
          </p:cNvPr>
          <p:cNvSpPr txBox="1"/>
          <p:nvPr/>
        </p:nvSpPr>
        <p:spPr>
          <a:xfrm>
            <a:off x="7527679" y="3494044"/>
            <a:ext cx="3676859" cy="461665"/>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What do we do?</a:t>
            </a:r>
          </a:p>
        </p:txBody>
      </p:sp>
    </p:spTree>
    <p:extLst>
      <p:ext uri="{BB962C8B-B14F-4D97-AF65-F5344CB8AC3E}">
        <p14:creationId xmlns:p14="http://schemas.microsoft.com/office/powerpoint/2010/main" val="39698403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The problem…</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098699780"/>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2044149" cy="369332"/>
          </a:xfrm>
          <a:prstGeom prst="rect">
            <a:avLst/>
          </a:prstGeom>
          <a:noFill/>
        </p:spPr>
        <p:txBody>
          <a:bodyPr wrap="none" rtlCol="0">
            <a:spAutoFit/>
          </a:bodyPr>
          <a:lstStyle/>
          <a:p>
            <a:r>
              <a:rPr lang="en-US" b="1" u="sng" dirty="0"/>
              <a:t>A/R Ledger (B-A)</a:t>
            </a:r>
          </a:p>
        </p:txBody>
      </p:sp>
      <p:sp>
        <p:nvSpPr>
          <p:cNvPr id="15" name="Right Brace 14">
            <a:extLst>
              <a:ext uri="{FF2B5EF4-FFF2-40B4-BE49-F238E27FC236}">
                <a16:creationId xmlns:a16="http://schemas.microsoft.com/office/drawing/2014/main" id="{8B3A6327-9C35-4BCD-B912-9F25274C2374}"/>
              </a:ext>
            </a:extLst>
          </p:cNvPr>
          <p:cNvSpPr/>
          <p:nvPr/>
        </p:nvSpPr>
        <p:spPr>
          <a:xfrm>
            <a:off x="5908431" y="1873402"/>
            <a:ext cx="1415772" cy="3703433"/>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a:extLst>
              <a:ext uri="{FF2B5EF4-FFF2-40B4-BE49-F238E27FC236}">
                <a16:creationId xmlns:a16="http://schemas.microsoft.com/office/drawing/2014/main" id="{1C215B9F-6E13-4107-9016-458CCCF9E455}"/>
              </a:ext>
            </a:extLst>
          </p:cNvPr>
          <p:cNvSpPr txBox="1"/>
          <p:nvPr/>
        </p:nvSpPr>
        <p:spPr>
          <a:xfrm>
            <a:off x="7527679" y="3124712"/>
            <a:ext cx="3676859" cy="1200329"/>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Suppose we know two customers won’t pay, on average.</a:t>
            </a:r>
          </a:p>
        </p:txBody>
      </p:sp>
    </p:spTree>
    <p:extLst>
      <p:ext uri="{BB962C8B-B14F-4D97-AF65-F5344CB8AC3E}">
        <p14:creationId xmlns:p14="http://schemas.microsoft.com/office/powerpoint/2010/main" val="601887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Allowance Method</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232109654"/>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extLst>
              <p:ext uri="{D42A27DB-BD31-4B8C-83A1-F6EECF244321}">
                <p14:modId xmlns:p14="http://schemas.microsoft.com/office/powerpoint/2010/main" val="4208778162"/>
              </p:ext>
            </p:extLst>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u="sng" dirty="0"/>
                        <a:t>???</a:t>
                      </a:r>
                    </a:p>
                  </a:txBody>
                  <a:tcPr/>
                </a:tc>
                <a:tc>
                  <a:txBody>
                    <a:bodyPr/>
                    <a:lstStyle/>
                    <a:p>
                      <a:pPr algn="r"/>
                      <a:r>
                        <a:rPr lang="en-US" u="sng" dirty="0"/>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(20,000)</a:t>
                      </a:r>
                    </a:p>
                  </a:txBody>
                  <a:tcPr/>
                </a:tc>
                <a:extLst>
                  <a:ext uri="{0D108BD9-81ED-4DB2-BD59-A6C34878D82A}">
                    <a16:rowId xmlns:a16="http://schemas.microsoft.com/office/drawing/2014/main" val="2213925017"/>
                  </a:ext>
                </a:extLst>
              </a:tr>
            </a:tbl>
          </a:graphicData>
        </a:graphic>
      </p:graphicFrame>
      <p:sp>
        <p:nvSpPr>
          <p:cNvPr id="9" name="Right Brace 8">
            <a:extLst>
              <a:ext uri="{FF2B5EF4-FFF2-40B4-BE49-F238E27FC236}">
                <a16:creationId xmlns:a16="http://schemas.microsoft.com/office/drawing/2014/main" id="{61B3569E-7E5D-4922-9E0B-2C420C5036EC}"/>
              </a:ext>
            </a:extLst>
          </p:cNvPr>
          <p:cNvSpPr/>
          <p:nvPr/>
        </p:nvSpPr>
        <p:spPr>
          <a:xfrm rot="5400000">
            <a:off x="8652995" y="1500036"/>
            <a:ext cx="1415772" cy="5273701"/>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0007ED1F-A7BF-41A3-88A4-74496AC0D92B}"/>
              </a:ext>
            </a:extLst>
          </p:cNvPr>
          <p:cNvSpPr txBox="1"/>
          <p:nvPr/>
        </p:nvSpPr>
        <p:spPr>
          <a:xfrm>
            <a:off x="7300128" y="5037383"/>
            <a:ext cx="4320791" cy="1200329"/>
          </a:xfrm>
          <a:prstGeom prst="rect">
            <a:avLst/>
          </a:prstGeom>
          <a:solidFill>
            <a:schemeClr val="accent4">
              <a:lumMod val="20000"/>
              <a:lumOff val="80000"/>
            </a:schemeClr>
          </a:solidFill>
          <a:ln>
            <a:solidFill>
              <a:schemeClr val="tx1"/>
            </a:solidFill>
          </a:ln>
        </p:spPr>
        <p:txBody>
          <a:bodyPr wrap="square" rtlCol="0">
            <a:spAutoFit/>
          </a:bodyPr>
          <a:lstStyle/>
          <a:p>
            <a:r>
              <a:rPr lang="en-US" sz="2400" dirty="0"/>
              <a:t>Create a new account that will </a:t>
            </a:r>
            <a:r>
              <a:rPr lang="en-US" sz="2400" b="1" dirty="0">
                <a:solidFill>
                  <a:srgbClr val="FF0000"/>
                </a:solidFill>
              </a:rPr>
              <a:t>REDUCE</a:t>
            </a:r>
            <a:r>
              <a:rPr lang="en-US" sz="2400" dirty="0"/>
              <a:t> accounts receivable by that estimate.</a:t>
            </a:r>
          </a:p>
        </p:txBody>
      </p:sp>
    </p:spTree>
    <p:extLst>
      <p:ext uri="{BB962C8B-B14F-4D97-AF65-F5344CB8AC3E}">
        <p14:creationId xmlns:p14="http://schemas.microsoft.com/office/powerpoint/2010/main" val="4232827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Allowance Method</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1036862988"/>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u="sng" dirty="0"/>
                        <a:t>???</a:t>
                      </a:r>
                    </a:p>
                  </a:txBody>
                  <a:tcPr/>
                </a:tc>
                <a:tc>
                  <a:txBody>
                    <a:bodyPr/>
                    <a:lstStyle/>
                    <a:p>
                      <a:pPr algn="r"/>
                      <a:r>
                        <a:rPr lang="en-US" u="sng" dirty="0"/>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(20,000)</a:t>
                      </a:r>
                    </a:p>
                  </a:txBody>
                  <a:tcPr/>
                </a:tc>
                <a:extLst>
                  <a:ext uri="{0D108BD9-81ED-4DB2-BD59-A6C34878D82A}">
                    <a16:rowId xmlns:a16="http://schemas.microsoft.com/office/drawing/2014/main" val="2213925017"/>
                  </a:ext>
                </a:extLst>
              </a:tr>
            </a:tbl>
          </a:graphicData>
        </a:graphic>
      </p:graphicFrame>
      <p:sp>
        <p:nvSpPr>
          <p:cNvPr id="3" name="TextBox 2">
            <a:extLst>
              <a:ext uri="{FF2B5EF4-FFF2-40B4-BE49-F238E27FC236}">
                <a16:creationId xmlns:a16="http://schemas.microsoft.com/office/drawing/2014/main" id="{A2F66766-65B7-4A94-AD3B-3D1B893F7C5D}"/>
              </a:ext>
            </a:extLst>
          </p:cNvPr>
          <p:cNvSpPr txBox="1"/>
          <p:nvPr/>
        </p:nvSpPr>
        <p:spPr>
          <a:xfrm>
            <a:off x="6213233" y="4288011"/>
            <a:ext cx="5867400" cy="923330"/>
          </a:xfrm>
          <a:prstGeom prst="rect">
            <a:avLst/>
          </a:prstGeom>
          <a:solidFill>
            <a:schemeClr val="accent4">
              <a:lumMod val="20000"/>
              <a:lumOff val="80000"/>
            </a:schemeClr>
          </a:solidFill>
          <a:ln>
            <a:solidFill>
              <a:schemeClr val="tx1"/>
            </a:solidFill>
          </a:ln>
        </p:spPr>
        <p:txBody>
          <a:bodyPr wrap="square" rtlCol="0">
            <a:spAutoFit/>
          </a:bodyPr>
          <a:lstStyle/>
          <a:p>
            <a:r>
              <a:rPr lang="en-US" dirty="0"/>
              <a:t>Accounts Receivable		$5,000,000</a:t>
            </a:r>
          </a:p>
          <a:p>
            <a:r>
              <a:rPr lang="en-US" u="sng" dirty="0"/>
              <a:t>Allowance for Doubtful Accounts</a:t>
            </a:r>
            <a:r>
              <a:rPr lang="en-US" dirty="0"/>
              <a:t>	</a:t>
            </a:r>
            <a:r>
              <a:rPr lang="en-US" u="sng" dirty="0"/>
              <a:t>$(20,000)</a:t>
            </a:r>
          </a:p>
          <a:p>
            <a:r>
              <a:rPr lang="en-US" dirty="0"/>
              <a:t>A/R, net				$4,980,000</a:t>
            </a:r>
          </a:p>
        </p:txBody>
      </p:sp>
    </p:spTree>
    <p:extLst>
      <p:ext uri="{BB962C8B-B14F-4D97-AF65-F5344CB8AC3E}">
        <p14:creationId xmlns:p14="http://schemas.microsoft.com/office/powerpoint/2010/main" val="3410984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Allowance Method</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936948496"/>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u="sng" dirty="0"/>
                        <a:t>???</a:t>
                      </a:r>
                    </a:p>
                  </a:txBody>
                  <a:tcPr/>
                </a:tc>
                <a:tc>
                  <a:txBody>
                    <a:bodyPr/>
                    <a:lstStyle/>
                    <a:p>
                      <a:pPr algn="r"/>
                      <a:r>
                        <a:rPr lang="en-US" u="sng" dirty="0"/>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(20,000)</a:t>
                      </a:r>
                    </a:p>
                  </a:txBody>
                  <a:tcPr/>
                </a:tc>
                <a:extLst>
                  <a:ext uri="{0D108BD9-81ED-4DB2-BD59-A6C34878D82A}">
                    <a16:rowId xmlns:a16="http://schemas.microsoft.com/office/drawing/2014/main" val="2213925017"/>
                  </a:ext>
                </a:extLst>
              </a:tr>
            </a:tbl>
          </a:graphicData>
        </a:graphic>
      </p:graphicFrame>
      <p:sp>
        <p:nvSpPr>
          <p:cNvPr id="3" name="TextBox 2">
            <a:extLst>
              <a:ext uri="{FF2B5EF4-FFF2-40B4-BE49-F238E27FC236}">
                <a16:creationId xmlns:a16="http://schemas.microsoft.com/office/drawing/2014/main" id="{A2F66766-65B7-4A94-AD3B-3D1B893F7C5D}"/>
              </a:ext>
            </a:extLst>
          </p:cNvPr>
          <p:cNvSpPr txBox="1"/>
          <p:nvPr/>
        </p:nvSpPr>
        <p:spPr>
          <a:xfrm>
            <a:off x="6213233" y="4288011"/>
            <a:ext cx="5867400" cy="923330"/>
          </a:xfrm>
          <a:prstGeom prst="rect">
            <a:avLst/>
          </a:prstGeom>
          <a:solidFill>
            <a:schemeClr val="accent4">
              <a:lumMod val="20000"/>
              <a:lumOff val="80000"/>
            </a:schemeClr>
          </a:solidFill>
          <a:ln>
            <a:solidFill>
              <a:schemeClr val="tx1"/>
            </a:solidFill>
          </a:ln>
        </p:spPr>
        <p:txBody>
          <a:bodyPr wrap="square" rtlCol="0">
            <a:spAutoFit/>
          </a:bodyPr>
          <a:lstStyle/>
          <a:p>
            <a:r>
              <a:rPr lang="en-US" dirty="0"/>
              <a:t>Accounts Receivable 		$5,000,000</a:t>
            </a:r>
          </a:p>
          <a:p>
            <a:r>
              <a:rPr lang="en-US" u="sng" dirty="0"/>
              <a:t>Allowance for Doubtful Accounts</a:t>
            </a:r>
            <a:r>
              <a:rPr lang="en-US" dirty="0"/>
              <a:t>	</a:t>
            </a:r>
            <a:r>
              <a:rPr lang="en-US" u="sng" dirty="0"/>
              <a:t>$(20,000)</a:t>
            </a:r>
          </a:p>
          <a:p>
            <a:r>
              <a:rPr lang="en-US" dirty="0"/>
              <a:t>A/R, net				$4,980,000</a:t>
            </a:r>
          </a:p>
        </p:txBody>
      </p:sp>
      <p:sp>
        <p:nvSpPr>
          <p:cNvPr id="9" name="TextBox 8">
            <a:extLst>
              <a:ext uri="{FF2B5EF4-FFF2-40B4-BE49-F238E27FC236}">
                <a16:creationId xmlns:a16="http://schemas.microsoft.com/office/drawing/2014/main" id="{43C84988-1171-4647-A2F9-34C789A69883}"/>
              </a:ext>
            </a:extLst>
          </p:cNvPr>
          <p:cNvSpPr txBox="1"/>
          <p:nvPr/>
        </p:nvSpPr>
        <p:spPr>
          <a:xfrm>
            <a:off x="6213233" y="5756163"/>
            <a:ext cx="5867400" cy="646331"/>
          </a:xfrm>
          <a:prstGeom prst="rect">
            <a:avLst/>
          </a:prstGeom>
          <a:solidFill>
            <a:schemeClr val="accent4">
              <a:lumMod val="20000"/>
              <a:lumOff val="80000"/>
            </a:schemeClr>
          </a:solidFill>
          <a:ln>
            <a:solidFill>
              <a:schemeClr val="tx1"/>
            </a:solidFill>
          </a:ln>
        </p:spPr>
        <p:txBody>
          <a:bodyPr wrap="square" rtlCol="0">
            <a:spAutoFit/>
          </a:bodyPr>
          <a:lstStyle/>
          <a:p>
            <a:r>
              <a:rPr lang="en-US" dirty="0"/>
              <a:t>These two accounts combine to state A/R at what we expect to collect.</a:t>
            </a:r>
          </a:p>
        </p:txBody>
      </p:sp>
      <p:cxnSp>
        <p:nvCxnSpPr>
          <p:cNvPr id="5" name="Straight Arrow Connector 4">
            <a:extLst>
              <a:ext uri="{FF2B5EF4-FFF2-40B4-BE49-F238E27FC236}">
                <a16:creationId xmlns:a16="http://schemas.microsoft.com/office/drawing/2014/main" id="{A56BB696-0284-426D-82D4-B9FB3F272F4B}"/>
              </a:ext>
            </a:extLst>
          </p:cNvPr>
          <p:cNvCxnSpPr>
            <a:cxnSpLocks/>
          </p:cNvCxnSpPr>
          <p:nvPr/>
        </p:nvCxnSpPr>
        <p:spPr>
          <a:xfrm flipV="1">
            <a:off x="9146933" y="5232400"/>
            <a:ext cx="0" cy="43252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2023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Allowance Method</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966687961"/>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dirty="0"/>
                        <a:t>Miah Inc.</a:t>
                      </a:r>
                    </a:p>
                  </a:txBody>
                  <a:tcPr/>
                </a:tc>
                <a:tc>
                  <a:txBody>
                    <a:bodyPr/>
                    <a:lstStyle/>
                    <a:p>
                      <a:pPr algn="r"/>
                      <a:r>
                        <a:rPr lang="en-US" dirty="0"/>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u="sng" dirty="0"/>
                        <a:t>???</a:t>
                      </a:r>
                    </a:p>
                  </a:txBody>
                  <a:tcPr/>
                </a:tc>
                <a:tc>
                  <a:txBody>
                    <a:bodyPr/>
                    <a:lstStyle/>
                    <a:p>
                      <a:pPr algn="r"/>
                      <a:r>
                        <a:rPr lang="en-US" u="sng" dirty="0"/>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(20,000)</a:t>
                      </a:r>
                    </a:p>
                  </a:txBody>
                  <a:tcPr/>
                </a:tc>
                <a:extLst>
                  <a:ext uri="{0D108BD9-81ED-4DB2-BD59-A6C34878D82A}">
                    <a16:rowId xmlns:a16="http://schemas.microsoft.com/office/drawing/2014/main" val="2213925017"/>
                  </a:ext>
                </a:extLst>
              </a:tr>
            </a:tbl>
          </a:graphicData>
        </a:graphic>
      </p:graphicFrame>
      <p:sp>
        <p:nvSpPr>
          <p:cNvPr id="3" name="TextBox 2">
            <a:extLst>
              <a:ext uri="{FF2B5EF4-FFF2-40B4-BE49-F238E27FC236}">
                <a16:creationId xmlns:a16="http://schemas.microsoft.com/office/drawing/2014/main" id="{A2F66766-65B7-4A94-AD3B-3D1B893F7C5D}"/>
              </a:ext>
            </a:extLst>
          </p:cNvPr>
          <p:cNvSpPr txBox="1"/>
          <p:nvPr/>
        </p:nvSpPr>
        <p:spPr>
          <a:xfrm>
            <a:off x="6213233" y="4288011"/>
            <a:ext cx="5867400" cy="923330"/>
          </a:xfrm>
          <a:prstGeom prst="rect">
            <a:avLst/>
          </a:prstGeom>
          <a:solidFill>
            <a:schemeClr val="accent4">
              <a:lumMod val="20000"/>
              <a:lumOff val="80000"/>
            </a:schemeClr>
          </a:solidFill>
          <a:ln>
            <a:solidFill>
              <a:schemeClr val="tx1"/>
            </a:solidFill>
          </a:ln>
        </p:spPr>
        <p:txBody>
          <a:bodyPr wrap="square" rtlCol="0">
            <a:spAutoFit/>
          </a:bodyPr>
          <a:lstStyle/>
          <a:p>
            <a:r>
              <a:rPr lang="en-US" dirty="0"/>
              <a:t>Accounts Receivable 		$5,000,000</a:t>
            </a:r>
          </a:p>
          <a:p>
            <a:r>
              <a:rPr lang="en-US" u="sng" dirty="0"/>
              <a:t>Allowance for Doubtful Accounts</a:t>
            </a:r>
            <a:r>
              <a:rPr lang="en-US" dirty="0"/>
              <a:t>	</a:t>
            </a:r>
            <a:r>
              <a:rPr lang="en-US" u="sng" dirty="0"/>
              <a:t>$(20,000)</a:t>
            </a:r>
          </a:p>
          <a:p>
            <a:r>
              <a:rPr lang="en-US" dirty="0"/>
              <a:t>A/R, net				$4,980,000</a:t>
            </a:r>
          </a:p>
        </p:txBody>
      </p:sp>
      <p:sp>
        <p:nvSpPr>
          <p:cNvPr id="9" name="TextBox 8">
            <a:extLst>
              <a:ext uri="{FF2B5EF4-FFF2-40B4-BE49-F238E27FC236}">
                <a16:creationId xmlns:a16="http://schemas.microsoft.com/office/drawing/2014/main" id="{43C84988-1171-4647-A2F9-34C789A69883}"/>
              </a:ext>
            </a:extLst>
          </p:cNvPr>
          <p:cNvSpPr txBox="1"/>
          <p:nvPr/>
        </p:nvSpPr>
        <p:spPr>
          <a:xfrm>
            <a:off x="6213233" y="5756163"/>
            <a:ext cx="5867400" cy="646331"/>
          </a:xfrm>
          <a:prstGeom prst="rect">
            <a:avLst/>
          </a:prstGeom>
          <a:solidFill>
            <a:schemeClr val="accent4">
              <a:lumMod val="20000"/>
              <a:lumOff val="80000"/>
            </a:schemeClr>
          </a:solidFill>
          <a:ln>
            <a:solidFill>
              <a:schemeClr val="tx1"/>
            </a:solidFill>
          </a:ln>
        </p:spPr>
        <p:txBody>
          <a:bodyPr wrap="square" rtlCol="0">
            <a:spAutoFit/>
          </a:bodyPr>
          <a:lstStyle/>
          <a:p>
            <a:r>
              <a:rPr lang="en-US" dirty="0"/>
              <a:t>We need the allowance because of the uncertainty about who won’t pay.</a:t>
            </a:r>
          </a:p>
        </p:txBody>
      </p:sp>
      <p:cxnSp>
        <p:nvCxnSpPr>
          <p:cNvPr id="5" name="Straight Arrow Connector 4">
            <a:extLst>
              <a:ext uri="{FF2B5EF4-FFF2-40B4-BE49-F238E27FC236}">
                <a16:creationId xmlns:a16="http://schemas.microsoft.com/office/drawing/2014/main" id="{A56BB696-0284-426D-82D4-B9FB3F272F4B}"/>
              </a:ext>
            </a:extLst>
          </p:cNvPr>
          <p:cNvCxnSpPr>
            <a:cxnSpLocks/>
          </p:cNvCxnSpPr>
          <p:nvPr/>
        </p:nvCxnSpPr>
        <p:spPr>
          <a:xfrm flipV="1">
            <a:off x="9146933" y="5232400"/>
            <a:ext cx="0" cy="43252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7391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AE51A-1CFC-4018-87AE-170AE3E9EA10}"/>
              </a:ext>
            </a:extLst>
          </p:cNvPr>
          <p:cNvSpPr>
            <a:spLocks noGrp="1"/>
          </p:cNvSpPr>
          <p:nvPr>
            <p:ph type="title"/>
          </p:nvPr>
        </p:nvSpPr>
        <p:spPr/>
        <p:txBody>
          <a:bodyPr>
            <a:normAutofit/>
          </a:bodyPr>
          <a:lstStyle/>
          <a:p>
            <a:r>
              <a:rPr lang="en-US" sz="4000" dirty="0"/>
              <a:t>GAAP Reporting Rules for A/R</a:t>
            </a:r>
          </a:p>
        </p:txBody>
      </p:sp>
      <p:sp>
        <p:nvSpPr>
          <p:cNvPr id="14" name="Rectangle 13">
            <a:extLst>
              <a:ext uri="{FF2B5EF4-FFF2-40B4-BE49-F238E27FC236}">
                <a16:creationId xmlns:a16="http://schemas.microsoft.com/office/drawing/2014/main" id="{4328402C-67A2-470E-B685-CD75F3ECBB38}"/>
              </a:ext>
            </a:extLst>
          </p:cNvPr>
          <p:cNvSpPr/>
          <p:nvPr/>
        </p:nvSpPr>
        <p:spPr>
          <a:xfrm>
            <a:off x="2156563" y="3819732"/>
            <a:ext cx="8894618" cy="1956703"/>
          </a:xfrm>
          <a:prstGeom prst="rect">
            <a:avLst/>
          </a:prstGeom>
          <a:solidFill>
            <a:srgbClr val="CFB87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
        <p:nvSpPr>
          <p:cNvPr id="16" name="TextBox 15">
            <a:extLst>
              <a:ext uri="{FF2B5EF4-FFF2-40B4-BE49-F238E27FC236}">
                <a16:creationId xmlns:a16="http://schemas.microsoft.com/office/drawing/2014/main" id="{1012CB41-C52F-4739-8190-68769146506C}"/>
              </a:ext>
            </a:extLst>
          </p:cNvPr>
          <p:cNvSpPr txBox="1"/>
          <p:nvPr/>
        </p:nvSpPr>
        <p:spPr>
          <a:xfrm>
            <a:off x="838200" y="1380978"/>
            <a:ext cx="9816662" cy="954107"/>
          </a:xfrm>
          <a:prstGeom prst="rect">
            <a:avLst/>
          </a:prstGeom>
          <a:noFill/>
        </p:spPr>
        <p:txBody>
          <a:bodyPr wrap="square">
            <a:spAutoFit/>
          </a:bodyPr>
          <a:lstStyle/>
          <a:p>
            <a:r>
              <a:rPr lang="en-US" altLang="en-US" sz="2800" dirty="0">
                <a:solidFill>
                  <a:prstClr val="black"/>
                </a:solidFill>
                <a:latin typeface="Calibri"/>
              </a:rPr>
              <a:t>Not all customers keep their promise to pay</a:t>
            </a:r>
          </a:p>
          <a:p>
            <a:r>
              <a:rPr lang="en-US" sz="2800" dirty="0">
                <a:solidFill>
                  <a:prstClr val="black"/>
                </a:solidFill>
                <a:latin typeface="Calibri"/>
              </a:rPr>
              <a:t> 	(but we don’t know which ones…)</a:t>
            </a:r>
          </a:p>
        </p:txBody>
      </p:sp>
      <p:sp>
        <p:nvSpPr>
          <p:cNvPr id="18" name="TextBox 17">
            <a:extLst>
              <a:ext uri="{FF2B5EF4-FFF2-40B4-BE49-F238E27FC236}">
                <a16:creationId xmlns:a16="http://schemas.microsoft.com/office/drawing/2014/main" id="{10E66400-562C-476D-A553-0BF89EA91BB5}"/>
              </a:ext>
            </a:extLst>
          </p:cNvPr>
          <p:cNvSpPr txBox="1"/>
          <p:nvPr/>
        </p:nvSpPr>
        <p:spPr>
          <a:xfrm>
            <a:off x="1284502" y="2701341"/>
            <a:ext cx="9250148" cy="1077218"/>
          </a:xfrm>
          <a:prstGeom prst="rect">
            <a:avLst/>
          </a:prstGeom>
          <a:noFill/>
        </p:spPr>
        <p:txBody>
          <a:bodyPr wrap="square">
            <a:spAutoFit/>
          </a:bodyPr>
          <a:lstStyle/>
          <a:p>
            <a:r>
              <a:rPr lang="en-US" altLang="en-US" sz="3200" dirty="0">
                <a:solidFill>
                  <a:srgbClr val="44546A"/>
                </a:solidFill>
                <a:latin typeface="Roboto Condensed"/>
              </a:rPr>
              <a:t>Accounts Receivable on the Balance Sheet must always show the amount </a:t>
            </a:r>
            <a:r>
              <a:rPr lang="en-US" altLang="en-US" sz="3200" b="1" dirty="0">
                <a:solidFill>
                  <a:srgbClr val="44546A"/>
                </a:solidFill>
                <a:latin typeface="Roboto Condensed"/>
              </a:rPr>
              <a:t>expected</a:t>
            </a:r>
            <a:r>
              <a:rPr lang="en-US" altLang="en-US" sz="3200" dirty="0">
                <a:solidFill>
                  <a:srgbClr val="44546A"/>
                </a:solidFill>
                <a:latin typeface="Roboto Condensed"/>
              </a:rPr>
              <a:t> to be collected.</a:t>
            </a:r>
            <a:endParaRPr lang="en-US" sz="3200" dirty="0">
              <a:solidFill>
                <a:srgbClr val="44546A"/>
              </a:solidFill>
              <a:latin typeface="Roboto Condensed"/>
            </a:endParaRPr>
          </a:p>
        </p:txBody>
      </p:sp>
      <p:cxnSp>
        <p:nvCxnSpPr>
          <p:cNvPr id="19" name="Straight Connector 18">
            <a:extLst>
              <a:ext uri="{FF2B5EF4-FFF2-40B4-BE49-F238E27FC236}">
                <a16:creationId xmlns:a16="http://schemas.microsoft.com/office/drawing/2014/main" id="{3F94108C-C977-4273-88B2-3191CDE1F502}"/>
              </a:ext>
            </a:extLst>
          </p:cNvPr>
          <p:cNvCxnSpPr/>
          <p:nvPr/>
        </p:nvCxnSpPr>
        <p:spPr>
          <a:xfrm>
            <a:off x="1154256" y="3819732"/>
            <a:ext cx="9902537" cy="0"/>
          </a:xfrm>
          <a:prstGeom prst="line">
            <a:avLst/>
          </a:prstGeom>
          <a:noFill/>
          <a:ln w="57150" cap="rnd" cmpd="sng" algn="ctr">
            <a:solidFill>
              <a:srgbClr val="565A5C"/>
            </a:solidFill>
            <a:prstDash val="solid"/>
            <a:miter lim="800000"/>
          </a:ln>
          <a:effectLst/>
        </p:spPr>
      </p:cxnSp>
      <p:sp>
        <p:nvSpPr>
          <p:cNvPr id="21" name="TextBox 20">
            <a:extLst>
              <a:ext uri="{FF2B5EF4-FFF2-40B4-BE49-F238E27FC236}">
                <a16:creationId xmlns:a16="http://schemas.microsoft.com/office/drawing/2014/main" id="{B7988C4A-17B3-4A34-97E3-406F4921991A}"/>
              </a:ext>
            </a:extLst>
          </p:cNvPr>
          <p:cNvSpPr txBox="1"/>
          <p:nvPr/>
        </p:nvSpPr>
        <p:spPr>
          <a:xfrm>
            <a:off x="3097355" y="4018449"/>
            <a:ext cx="7719614" cy="1569660"/>
          </a:xfrm>
          <a:prstGeom prst="rect">
            <a:avLst/>
          </a:prstGeom>
          <a:noFill/>
        </p:spPr>
        <p:txBody>
          <a:bodyPr wrap="none" rtlCol="0">
            <a:spAutoFit/>
          </a:bodyPr>
          <a:lstStyle/>
          <a:p>
            <a:r>
              <a:rPr lang="en-US" sz="3200" dirty="0">
                <a:solidFill>
                  <a:prstClr val="black"/>
                </a:solidFill>
                <a:latin typeface="Calibri"/>
              </a:rPr>
              <a:t>Accounts Receivable (B-A)</a:t>
            </a:r>
          </a:p>
          <a:p>
            <a:r>
              <a:rPr lang="en-US" sz="3200" dirty="0">
                <a:solidFill>
                  <a:prstClr val="black"/>
                </a:solidFill>
                <a:latin typeface="Calibri"/>
              </a:rPr>
              <a:t>Allowance for Doubtful Accounts (B-XA)</a:t>
            </a:r>
          </a:p>
          <a:p>
            <a:r>
              <a:rPr lang="en-US" sz="3200" dirty="0">
                <a:solidFill>
                  <a:prstClr val="black"/>
                </a:solidFill>
                <a:latin typeface="Calibri"/>
              </a:rPr>
              <a:t>Net Realizable Value for Accounts Receivable</a:t>
            </a:r>
          </a:p>
        </p:txBody>
      </p:sp>
      <p:cxnSp>
        <p:nvCxnSpPr>
          <p:cNvPr id="23" name="Straight Connector 22">
            <a:extLst>
              <a:ext uri="{FF2B5EF4-FFF2-40B4-BE49-F238E27FC236}">
                <a16:creationId xmlns:a16="http://schemas.microsoft.com/office/drawing/2014/main" id="{D454CD1B-DC20-416C-A9BC-B035B18E240B}"/>
              </a:ext>
            </a:extLst>
          </p:cNvPr>
          <p:cNvCxnSpPr/>
          <p:nvPr/>
        </p:nvCxnSpPr>
        <p:spPr>
          <a:xfrm>
            <a:off x="2505074" y="5017421"/>
            <a:ext cx="8188036" cy="0"/>
          </a:xfrm>
          <a:prstGeom prst="line">
            <a:avLst/>
          </a:prstGeom>
          <a:noFill/>
          <a:ln w="19050" cap="flat" cmpd="sng" algn="ctr">
            <a:solidFill>
              <a:sysClr val="windowText" lastClr="000000"/>
            </a:solidFill>
            <a:prstDash val="solid"/>
            <a:miter lim="800000"/>
          </a:ln>
          <a:effectLst/>
        </p:spPr>
      </p:cxnSp>
      <p:cxnSp>
        <p:nvCxnSpPr>
          <p:cNvPr id="24" name="Straight Connector 23">
            <a:extLst>
              <a:ext uri="{FF2B5EF4-FFF2-40B4-BE49-F238E27FC236}">
                <a16:creationId xmlns:a16="http://schemas.microsoft.com/office/drawing/2014/main" id="{4A59D3CB-900E-48E0-9F4D-3AF197B25352}"/>
              </a:ext>
            </a:extLst>
          </p:cNvPr>
          <p:cNvCxnSpPr>
            <a:cxnSpLocks/>
          </p:cNvCxnSpPr>
          <p:nvPr/>
        </p:nvCxnSpPr>
        <p:spPr>
          <a:xfrm>
            <a:off x="2785628" y="4820473"/>
            <a:ext cx="187036" cy="0"/>
          </a:xfrm>
          <a:prstGeom prst="line">
            <a:avLst/>
          </a:prstGeom>
          <a:noFill/>
          <a:ln w="38100" cap="flat" cmpd="sng" algn="ctr">
            <a:solidFill>
              <a:sysClr val="windowText" lastClr="000000"/>
            </a:solidFill>
            <a:prstDash val="solid"/>
            <a:miter lim="800000"/>
          </a:ln>
          <a:effectLst/>
        </p:spPr>
      </p:cxnSp>
      <p:cxnSp>
        <p:nvCxnSpPr>
          <p:cNvPr id="25" name="Straight Arrow Connector 24">
            <a:extLst>
              <a:ext uri="{FF2B5EF4-FFF2-40B4-BE49-F238E27FC236}">
                <a16:creationId xmlns:a16="http://schemas.microsoft.com/office/drawing/2014/main" id="{97D55AAD-AFAE-4ED1-B4EC-FD6ADA5C9349}"/>
              </a:ext>
            </a:extLst>
          </p:cNvPr>
          <p:cNvCxnSpPr>
            <a:cxnSpLocks/>
          </p:cNvCxnSpPr>
          <p:nvPr/>
        </p:nvCxnSpPr>
        <p:spPr>
          <a:xfrm flipH="1">
            <a:off x="8601740" y="2503042"/>
            <a:ext cx="1679944" cy="2224793"/>
          </a:xfrm>
          <a:prstGeom prst="straightConnector1">
            <a:avLst/>
          </a:prstGeom>
          <a:noFill/>
          <a:ln w="19050" cap="flat" cmpd="sng" algn="ctr">
            <a:solidFill>
              <a:srgbClr val="0377BD"/>
            </a:solidFill>
            <a:prstDash val="solid"/>
            <a:round/>
            <a:tailEnd type="triangle" w="lg" len="lg"/>
          </a:ln>
          <a:effectLst/>
        </p:spPr>
      </p:cxnSp>
      <p:sp>
        <p:nvSpPr>
          <p:cNvPr id="26" name="TextBox 25">
            <a:extLst>
              <a:ext uri="{FF2B5EF4-FFF2-40B4-BE49-F238E27FC236}">
                <a16:creationId xmlns:a16="http://schemas.microsoft.com/office/drawing/2014/main" id="{74ADBCA3-922C-4B42-A83D-946CF444DF12}"/>
              </a:ext>
            </a:extLst>
          </p:cNvPr>
          <p:cNvSpPr txBox="1"/>
          <p:nvPr/>
        </p:nvSpPr>
        <p:spPr>
          <a:xfrm>
            <a:off x="8826034" y="1374913"/>
            <a:ext cx="3417232" cy="1200329"/>
          </a:xfrm>
          <a:prstGeom prst="rect">
            <a:avLst/>
          </a:prstGeom>
          <a:noFill/>
        </p:spPr>
        <p:txBody>
          <a:bodyPr wrap="square">
            <a:spAutoFit/>
          </a:bodyPr>
          <a:lstStyle/>
          <a:p>
            <a:r>
              <a:rPr lang="en-US" altLang="en-US" b="1" dirty="0">
                <a:solidFill>
                  <a:srgbClr val="0377BD"/>
                </a:solidFill>
                <a:latin typeface="Calibri"/>
              </a:rPr>
              <a:t>Also known as:</a:t>
            </a:r>
          </a:p>
          <a:p>
            <a:pPr marL="285750" indent="-171450">
              <a:buFont typeface="Arial" panose="020B0604020202020204" pitchFamily="34" charset="0"/>
              <a:buChar char="•"/>
            </a:pPr>
            <a:r>
              <a:rPr lang="en-US" altLang="en-US" b="1" dirty="0">
                <a:solidFill>
                  <a:srgbClr val="0377BD"/>
                </a:solidFill>
                <a:latin typeface="Calibri"/>
              </a:rPr>
              <a:t>Allowance for Bad Debt</a:t>
            </a:r>
          </a:p>
          <a:p>
            <a:pPr marL="285750" indent="-171450">
              <a:buFont typeface="Arial" panose="020B0604020202020204" pitchFamily="34" charset="0"/>
              <a:buChar char="•"/>
            </a:pPr>
            <a:r>
              <a:rPr lang="en-US" b="1" dirty="0">
                <a:solidFill>
                  <a:srgbClr val="0377BD"/>
                </a:solidFill>
                <a:latin typeface="Calibri"/>
              </a:rPr>
              <a:t>Allowance for Uncollectible Accounts</a:t>
            </a:r>
          </a:p>
        </p:txBody>
      </p:sp>
    </p:spTree>
    <p:extLst>
      <p:ext uri="{BB962C8B-B14F-4D97-AF65-F5344CB8AC3E}">
        <p14:creationId xmlns:p14="http://schemas.microsoft.com/office/powerpoint/2010/main" val="1954256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8" grpId="0"/>
      <p:bldP spid="21" grpId="0"/>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62303-53C8-47DF-B79C-C7DE9C7E1DEB}"/>
              </a:ext>
            </a:extLst>
          </p:cNvPr>
          <p:cNvSpPr>
            <a:spLocks noGrp="1"/>
          </p:cNvSpPr>
          <p:nvPr>
            <p:ph type="title"/>
          </p:nvPr>
        </p:nvSpPr>
        <p:spPr/>
        <p:txBody>
          <a:bodyPr/>
          <a:lstStyle/>
          <a:p>
            <a:r>
              <a:rPr lang="en-US" dirty="0"/>
              <a:t>Reporting</a:t>
            </a:r>
          </a:p>
        </p:txBody>
      </p:sp>
      <p:sp>
        <p:nvSpPr>
          <p:cNvPr id="3" name="Content Placeholder 2">
            <a:extLst>
              <a:ext uri="{FF2B5EF4-FFF2-40B4-BE49-F238E27FC236}">
                <a16:creationId xmlns:a16="http://schemas.microsoft.com/office/drawing/2014/main" id="{F6AF9A7F-CC02-4508-BD30-14E58F8A0A7A}"/>
              </a:ext>
            </a:extLst>
          </p:cNvPr>
          <p:cNvSpPr>
            <a:spLocks noGrp="1"/>
          </p:cNvSpPr>
          <p:nvPr>
            <p:ph idx="1"/>
          </p:nvPr>
        </p:nvSpPr>
        <p:spPr/>
        <p:txBody>
          <a:bodyPr/>
          <a:lstStyle/>
          <a:p>
            <a:r>
              <a:rPr lang="en-US" dirty="0"/>
              <a:t>Called the “allowance method”</a:t>
            </a:r>
          </a:p>
          <a:p>
            <a:endParaRPr lang="en-US" dirty="0"/>
          </a:p>
          <a:p>
            <a:r>
              <a:rPr lang="en-US" b="1" dirty="0"/>
              <a:t>Report A/R on the balance sheet </a:t>
            </a:r>
            <a:r>
              <a:rPr lang="en-US" dirty="0"/>
              <a:t>at </a:t>
            </a:r>
            <a:r>
              <a:rPr lang="en-US" b="1" dirty="0">
                <a:solidFill>
                  <a:srgbClr val="0070C0"/>
                </a:solidFill>
              </a:rPr>
              <a:t>net realizable value </a:t>
            </a:r>
            <a:r>
              <a:rPr lang="en-US" dirty="0"/>
              <a:t>(what you expect to collect)</a:t>
            </a:r>
          </a:p>
        </p:txBody>
      </p:sp>
    </p:spTree>
    <p:extLst>
      <p:ext uri="{BB962C8B-B14F-4D97-AF65-F5344CB8AC3E}">
        <p14:creationId xmlns:p14="http://schemas.microsoft.com/office/powerpoint/2010/main" val="27920769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41CC-8390-43AB-A194-64491D5CC808}"/>
              </a:ext>
            </a:extLst>
          </p:cNvPr>
          <p:cNvSpPr>
            <a:spLocks noGrp="1"/>
          </p:cNvSpPr>
          <p:nvPr>
            <p:ph type="title"/>
          </p:nvPr>
        </p:nvSpPr>
        <p:spPr/>
        <p:txBody>
          <a:bodyPr/>
          <a:lstStyle/>
          <a:p>
            <a:r>
              <a:rPr lang="en-US" dirty="0"/>
              <a:t>Allowance Method in Detail</a:t>
            </a:r>
          </a:p>
        </p:txBody>
      </p:sp>
      <p:pic>
        <p:nvPicPr>
          <p:cNvPr id="6" name="Picture 5">
            <a:extLst>
              <a:ext uri="{FF2B5EF4-FFF2-40B4-BE49-F238E27FC236}">
                <a16:creationId xmlns:a16="http://schemas.microsoft.com/office/drawing/2014/main" id="{3CC7CDB3-6D33-4E39-9EEA-151880CAB985}"/>
              </a:ext>
            </a:extLst>
          </p:cNvPr>
          <p:cNvPicPr>
            <a:picLocks noChangeAspect="1"/>
          </p:cNvPicPr>
          <p:nvPr/>
        </p:nvPicPr>
        <p:blipFill>
          <a:blip r:embed="rId2"/>
          <a:stretch>
            <a:fillRect/>
          </a:stretch>
        </p:blipFill>
        <p:spPr>
          <a:xfrm>
            <a:off x="1939591" y="1341343"/>
            <a:ext cx="8312818" cy="5182576"/>
          </a:xfrm>
          <a:prstGeom prst="rect">
            <a:avLst/>
          </a:prstGeom>
        </p:spPr>
      </p:pic>
    </p:spTree>
    <p:extLst>
      <p:ext uri="{BB962C8B-B14F-4D97-AF65-F5344CB8AC3E}">
        <p14:creationId xmlns:p14="http://schemas.microsoft.com/office/powerpoint/2010/main" val="3555883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41CC-8390-43AB-A194-64491D5CC808}"/>
              </a:ext>
            </a:extLst>
          </p:cNvPr>
          <p:cNvSpPr>
            <a:spLocks noGrp="1"/>
          </p:cNvSpPr>
          <p:nvPr>
            <p:ph type="title"/>
          </p:nvPr>
        </p:nvSpPr>
        <p:spPr/>
        <p:txBody>
          <a:bodyPr/>
          <a:lstStyle/>
          <a:p>
            <a:r>
              <a:rPr lang="en-US" dirty="0"/>
              <a:t>Allowance Method in Detail</a:t>
            </a:r>
          </a:p>
        </p:txBody>
      </p:sp>
      <p:pic>
        <p:nvPicPr>
          <p:cNvPr id="5" name="Picture 4">
            <a:extLst>
              <a:ext uri="{FF2B5EF4-FFF2-40B4-BE49-F238E27FC236}">
                <a16:creationId xmlns:a16="http://schemas.microsoft.com/office/drawing/2014/main" id="{49FE4E19-DE17-4F60-95DB-CDAD36AB01B6}"/>
              </a:ext>
            </a:extLst>
          </p:cNvPr>
          <p:cNvPicPr>
            <a:picLocks noChangeAspect="1"/>
          </p:cNvPicPr>
          <p:nvPr/>
        </p:nvPicPr>
        <p:blipFill>
          <a:blip r:embed="rId2"/>
          <a:stretch>
            <a:fillRect/>
          </a:stretch>
        </p:blipFill>
        <p:spPr>
          <a:xfrm>
            <a:off x="2077956" y="1463402"/>
            <a:ext cx="7522744" cy="5216091"/>
          </a:xfrm>
          <a:prstGeom prst="rect">
            <a:avLst/>
          </a:prstGeom>
        </p:spPr>
      </p:pic>
      <p:sp>
        <p:nvSpPr>
          <p:cNvPr id="7" name="TextBox 6">
            <a:extLst>
              <a:ext uri="{FF2B5EF4-FFF2-40B4-BE49-F238E27FC236}">
                <a16:creationId xmlns:a16="http://schemas.microsoft.com/office/drawing/2014/main" id="{F6BD78D7-F835-40DB-BE27-2A36D17820EC}"/>
              </a:ext>
            </a:extLst>
          </p:cNvPr>
          <p:cNvSpPr txBox="1"/>
          <p:nvPr/>
        </p:nvSpPr>
        <p:spPr>
          <a:xfrm>
            <a:off x="2370646" y="2465799"/>
            <a:ext cx="7743398" cy="1938992"/>
          </a:xfrm>
          <a:prstGeom prst="rect">
            <a:avLst/>
          </a:prstGeom>
          <a:solidFill>
            <a:schemeClr val="accent4">
              <a:lumMod val="20000"/>
              <a:lumOff val="80000"/>
            </a:schemeClr>
          </a:solidFill>
          <a:ln>
            <a:solidFill>
              <a:schemeClr val="tx1"/>
            </a:solidFill>
          </a:ln>
        </p:spPr>
        <p:txBody>
          <a:bodyPr wrap="square" rtlCol="0">
            <a:spAutoFit/>
          </a:bodyPr>
          <a:lstStyle/>
          <a:p>
            <a:r>
              <a:rPr lang="en-US" sz="4000" dirty="0"/>
              <a:t>This is an </a:t>
            </a:r>
            <a:r>
              <a:rPr lang="en-US" sz="4000" b="1" dirty="0">
                <a:solidFill>
                  <a:srgbClr val="FF0000"/>
                </a:solidFill>
              </a:rPr>
              <a:t>ESTIMATE</a:t>
            </a:r>
            <a:r>
              <a:rPr lang="en-US" sz="4000" dirty="0"/>
              <a:t> for what won’t be collected. Record expense </a:t>
            </a:r>
            <a:r>
              <a:rPr lang="en-US" sz="4000" i="1" dirty="0"/>
              <a:t>before </a:t>
            </a:r>
            <a:r>
              <a:rPr lang="en-US" sz="4000" dirty="0"/>
              <a:t>we know.</a:t>
            </a:r>
          </a:p>
        </p:txBody>
      </p:sp>
    </p:spTree>
    <p:extLst>
      <p:ext uri="{BB962C8B-B14F-4D97-AF65-F5344CB8AC3E}">
        <p14:creationId xmlns:p14="http://schemas.microsoft.com/office/powerpoint/2010/main" val="189548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41CC-8390-43AB-A194-64491D5CC808}"/>
              </a:ext>
            </a:extLst>
          </p:cNvPr>
          <p:cNvSpPr>
            <a:spLocks noGrp="1"/>
          </p:cNvSpPr>
          <p:nvPr>
            <p:ph type="title"/>
          </p:nvPr>
        </p:nvSpPr>
        <p:spPr/>
        <p:txBody>
          <a:bodyPr/>
          <a:lstStyle/>
          <a:p>
            <a:r>
              <a:rPr lang="en-US" dirty="0"/>
              <a:t>Percentage of Sales</a:t>
            </a:r>
          </a:p>
        </p:txBody>
      </p:sp>
      <p:pic>
        <p:nvPicPr>
          <p:cNvPr id="5" name="Picture 4">
            <a:extLst>
              <a:ext uri="{FF2B5EF4-FFF2-40B4-BE49-F238E27FC236}">
                <a16:creationId xmlns:a16="http://schemas.microsoft.com/office/drawing/2014/main" id="{49FE4E19-DE17-4F60-95DB-CDAD36AB01B6}"/>
              </a:ext>
            </a:extLst>
          </p:cNvPr>
          <p:cNvPicPr>
            <a:picLocks noChangeAspect="1"/>
          </p:cNvPicPr>
          <p:nvPr/>
        </p:nvPicPr>
        <p:blipFill>
          <a:blip r:embed="rId2"/>
          <a:stretch>
            <a:fillRect/>
          </a:stretch>
        </p:blipFill>
        <p:spPr>
          <a:xfrm>
            <a:off x="2077956" y="1463402"/>
            <a:ext cx="7522744" cy="5216091"/>
          </a:xfrm>
          <a:prstGeom prst="rect">
            <a:avLst/>
          </a:prstGeom>
        </p:spPr>
      </p:pic>
      <p:sp>
        <p:nvSpPr>
          <p:cNvPr id="6" name="TextBox 5">
            <a:extLst>
              <a:ext uri="{FF2B5EF4-FFF2-40B4-BE49-F238E27FC236}">
                <a16:creationId xmlns:a16="http://schemas.microsoft.com/office/drawing/2014/main" id="{44AD71C8-1B07-435D-B3F0-FFE896242503}"/>
              </a:ext>
            </a:extLst>
          </p:cNvPr>
          <p:cNvSpPr txBox="1"/>
          <p:nvPr/>
        </p:nvSpPr>
        <p:spPr>
          <a:xfrm>
            <a:off x="0" y="4605076"/>
            <a:ext cx="3022100" cy="954107"/>
          </a:xfrm>
          <a:prstGeom prst="rect">
            <a:avLst/>
          </a:prstGeom>
          <a:noFill/>
        </p:spPr>
        <p:txBody>
          <a:bodyPr wrap="square" rtlCol="0">
            <a:spAutoFit/>
          </a:bodyPr>
          <a:lstStyle/>
          <a:p>
            <a:r>
              <a:rPr lang="en-US" sz="2800" b="1" dirty="0">
                <a:solidFill>
                  <a:srgbClr val="FF0000"/>
                </a:solidFill>
              </a:rPr>
              <a:t>Method 1: Estimate this</a:t>
            </a:r>
          </a:p>
        </p:txBody>
      </p:sp>
      <p:cxnSp>
        <p:nvCxnSpPr>
          <p:cNvPr id="8" name="Straight Arrow Connector 7">
            <a:extLst>
              <a:ext uri="{FF2B5EF4-FFF2-40B4-BE49-F238E27FC236}">
                <a16:creationId xmlns:a16="http://schemas.microsoft.com/office/drawing/2014/main" id="{3C05068D-0E77-414A-A2D6-66AF5D01EECC}"/>
              </a:ext>
            </a:extLst>
          </p:cNvPr>
          <p:cNvCxnSpPr>
            <a:cxnSpLocks/>
          </p:cNvCxnSpPr>
          <p:nvPr/>
        </p:nvCxnSpPr>
        <p:spPr>
          <a:xfrm>
            <a:off x="2362700" y="5311186"/>
            <a:ext cx="5075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44904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41CC-8390-43AB-A194-64491D5CC808}"/>
              </a:ext>
            </a:extLst>
          </p:cNvPr>
          <p:cNvSpPr>
            <a:spLocks noGrp="1"/>
          </p:cNvSpPr>
          <p:nvPr>
            <p:ph type="title"/>
          </p:nvPr>
        </p:nvSpPr>
        <p:spPr/>
        <p:txBody>
          <a:bodyPr/>
          <a:lstStyle/>
          <a:p>
            <a:r>
              <a:rPr lang="en-US" dirty="0"/>
              <a:t>Percentage of Sales</a:t>
            </a:r>
          </a:p>
        </p:txBody>
      </p:sp>
      <p:sp>
        <p:nvSpPr>
          <p:cNvPr id="3" name="Content Placeholder 2">
            <a:extLst>
              <a:ext uri="{FF2B5EF4-FFF2-40B4-BE49-F238E27FC236}">
                <a16:creationId xmlns:a16="http://schemas.microsoft.com/office/drawing/2014/main" id="{DB4F992B-F7E1-4A7A-A5A6-03CDEAFEAF17}"/>
              </a:ext>
            </a:extLst>
          </p:cNvPr>
          <p:cNvSpPr>
            <a:spLocks noGrp="1"/>
          </p:cNvSpPr>
          <p:nvPr>
            <p:ph idx="1"/>
          </p:nvPr>
        </p:nvSpPr>
        <p:spPr/>
        <p:txBody>
          <a:bodyPr/>
          <a:lstStyle/>
          <a:p>
            <a:endParaRPr lang="en-US" dirty="0"/>
          </a:p>
        </p:txBody>
      </p:sp>
      <p:pic>
        <p:nvPicPr>
          <p:cNvPr id="6" name="Picture 5">
            <a:extLst>
              <a:ext uri="{FF2B5EF4-FFF2-40B4-BE49-F238E27FC236}">
                <a16:creationId xmlns:a16="http://schemas.microsoft.com/office/drawing/2014/main" id="{590493E6-D688-4670-9C7F-9B9DFA0C7640}"/>
              </a:ext>
            </a:extLst>
          </p:cNvPr>
          <p:cNvPicPr>
            <a:picLocks noChangeAspect="1"/>
          </p:cNvPicPr>
          <p:nvPr/>
        </p:nvPicPr>
        <p:blipFill>
          <a:blip r:embed="rId2"/>
          <a:stretch>
            <a:fillRect/>
          </a:stretch>
        </p:blipFill>
        <p:spPr>
          <a:xfrm>
            <a:off x="-37432" y="1402514"/>
            <a:ext cx="12192000" cy="5124401"/>
          </a:xfrm>
          <a:prstGeom prst="rect">
            <a:avLst/>
          </a:prstGeom>
        </p:spPr>
      </p:pic>
      <p:sp>
        <p:nvSpPr>
          <p:cNvPr id="8" name="Rectangle 7">
            <a:extLst>
              <a:ext uri="{FF2B5EF4-FFF2-40B4-BE49-F238E27FC236}">
                <a16:creationId xmlns:a16="http://schemas.microsoft.com/office/drawing/2014/main" id="{08B0E3D2-FAD6-4FEB-B0BA-FDDC3B45B995}"/>
              </a:ext>
            </a:extLst>
          </p:cNvPr>
          <p:cNvSpPr/>
          <p:nvPr/>
        </p:nvSpPr>
        <p:spPr>
          <a:xfrm>
            <a:off x="7058526" y="2133600"/>
            <a:ext cx="4957011" cy="42511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C0E1A5AF-8099-4E3E-97C0-3AE75C5F2BB9}"/>
              </a:ext>
            </a:extLst>
          </p:cNvPr>
          <p:cNvCxnSpPr/>
          <p:nvPr/>
        </p:nvCxnSpPr>
        <p:spPr>
          <a:xfrm>
            <a:off x="3594100" y="1825627"/>
            <a:ext cx="2895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FAF9A9A-D7BE-4837-B105-954E0422833B}"/>
              </a:ext>
            </a:extLst>
          </p:cNvPr>
          <p:cNvCxnSpPr>
            <a:cxnSpLocks/>
          </p:cNvCxnSpPr>
          <p:nvPr/>
        </p:nvCxnSpPr>
        <p:spPr>
          <a:xfrm>
            <a:off x="1473200" y="3184527"/>
            <a:ext cx="42672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7888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41CC-8390-43AB-A194-64491D5CC808}"/>
              </a:ext>
            </a:extLst>
          </p:cNvPr>
          <p:cNvSpPr>
            <a:spLocks noGrp="1"/>
          </p:cNvSpPr>
          <p:nvPr>
            <p:ph type="title"/>
          </p:nvPr>
        </p:nvSpPr>
        <p:spPr/>
        <p:txBody>
          <a:bodyPr/>
          <a:lstStyle/>
          <a:p>
            <a:r>
              <a:rPr lang="en-US" dirty="0"/>
              <a:t>Percentage of Sales</a:t>
            </a:r>
          </a:p>
        </p:txBody>
      </p:sp>
      <p:sp>
        <p:nvSpPr>
          <p:cNvPr id="3" name="Content Placeholder 2">
            <a:extLst>
              <a:ext uri="{FF2B5EF4-FFF2-40B4-BE49-F238E27FC236}">
                <a16:creationId xmlns:a16="http://schemas.microsoft.com/office/drawing/2014/main" id="{DB4F992B-F7E1-4A7A-A5A6-03CDEAFEAF17}"/>
              </a:ext>
            </a:extLst>
          </p:cNvPr>
          <p:cNvSpPr>
            <a:spLocks noGrp="1"/>
          </p:cNvSpPr>
          <p:nvPr>
            <p:ph idx="1"/>
          </p:nvPr>
        </p:nvSpPr>
        <p:spPr/>
        <p:txBody>
          <a:bodyPr/>
          <a:lstStyle/>
          <a:p>
            <a:endParaRPr lang="en-US" dirty="0"/>
          </a:p>
        </p:txBody>
      </p:sp>
      <p:pic>
        <p:nvPicPr>
          <p:cNvPr id="6" name="Picture 5">
            <a:extLst>
              <a:ext uri="{FF2B5EF4-FFF2-40B4-BE49-F238E27FC236}">
                <a16:creationId xmlns:a16="http://schemas.microsoft.com/office/drawing/2014/main" id="{590493E6-D688-4670-9C7F-9B9DFA0C7640}"/>
              </a:ext>
            </a:extLst>
          </p:cNvPr>
          <p:cNvPicPr>
            <a:picLocks noChangeAspect="1"/>
          </p:cNvPicPr>
          <p:nvPr/>
        </p:nvPicPr>
        <p:blipFill>
          <a:blip r:embed="rId2"/>
          <a:stretch>
            <a:fillRect/>
          </a:stretch>
        </p:blipFill>
        <p:spPr>
          <a:xfrm>
            <a:off x="-37432" y="1402514"/>
            <a:ext cx="12192000" cy="5124401"/>
          </a:xfrm>
          <a:prstGeom prst="rect">
            <a:avLst/>
          </a:prstGeom>
        </p:spPr>
      </p:pic>
      <p:cxnSp>
        <p:nvCxnSpPr>
          <p:cNvPr id="10" name="Straight Connector 9">
            <a:extLst>
              <a:ext uri="{FF2B5EF4-FFF2-40B4-BE49-F238E27FC236}">
                <a16:creationId xmlns:a16="http://schemas.microsoft.com/office/drawing/2014/main" id="{C0E1A5AF-8099-4E3E-97C0-3AE75C5F2BB9}"/>
              </a:ext>
            </a:extLst>
          </p:cNvPr>
          <p:cNvCxnSpPr/>
          <p:nvPr/>
        </p:nvCxnSpPr>
        <p:spPr>
          <a:xfrm>
            <a:off x="3594100" y="1825627"/>
            <a:ext cx="2895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FAF9A9A-D7BE-4837-B105-954E0422833B}"/>
              </a:ext>
            </a:extLst>
          </p:cNvPr>
          <p:cNvCxnSpPr>
            <a:cxnSpLocks/>
          </p:cNvCxnSpPr>
          <p:nvPr/>
        </p:nvCxnSpPr>
        <p:spPr>
          <a:xfrm>
            <a:off x="1473200" y="3184527"/>
            <a:ext cx="42672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6183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41CC-8390-43AB-A194-64491D5CC808}"/>
              </a:ext>
            </a:extLst>
          </p:cNvPr>
          <p:cNvSpPr>
            <a:spLocks noGrp="1"/>
          </p:cNvSpPr>
          <p:nvPr>
            <p:ph type="title"/>
          </p:nvPr>
        </p:nvSpPr>
        <p:spPr/>
        <p:txBody>
          <a:bodyPr/>
          <a:lstStyle/>
          <a:p>
            <a:r>
              <a:rPr lang="en-US" dirty="0"/>
              <a:t>Percentage of Receivables</a:t>
            </a:r>
          </a:p>
        </p:txBody>
      </p:sp>
      <p:pic>
        <p:nvPicPr>
          <p:cNvPr id="5" name="Picture 4">
            <a:extLst>
              <a:ext uri="{FF2B5EF4-FFF2-40B4-BE49-F238E27FC236}">
                <a16:creationId xmlns:a16="http://schemas.microsoft.com/office/drawing/2014/main" id="{49FE4E19-DE17-4F60-95DB-CDAD36AB01B6}"/>
              </a:ext>
            </a:extLst>
          </p:cNvPr>
          <p:cNvPicPr>
            <a:picLocks noChangeAspect="1"/>
          </p:cNvPicPr>
          <p:nvPr/>
        </p:nvPicPr>
        <p:blipFill>
          <a:blip r:embed="rId2"/>
          <a:stretch>
            <a:fillRect/>
          </a:stretch>
        </p:blipFill>
        <p:spPr>
          <a:xfrm>
            <a:off x="2077956" y="1463402"/>
            <a:ext cx="7522744" cy="5216091"/>
          </a:xfrm>
          <a:prstGeom prst="rect">
            <a:avLst/>
          </a:prstGeom>
        </p:spPr>
      </p:pic>
      <p:sp>
        <p:nvSpPr>
          <p:cNvPr id="6" name="TextBox 5">
            <a:extLst>
              <a:ext uri="{FF2B5EF4-FFF2-40B4-BE49-F238E27FC236}">
                <a16:creationId xmlns:a16="http://schemas.microsoft.com/office/drawing/2014/main" id="{44AD71C8-1B07-435D-B3F0-FFE896242503}"/>
              </a:ext>
            </a:extLst>
          </p:cNvPr>
          <p:cNvSpPr txBox="1"/>
          <p:nvPr/>
        </p:nvSpPr>
        <p:spPr>
          <a:xfrm>
            <a:off x="0" y="5082129"/>
            <a:ext cx="3022100" cy="954107"/>
          </a:xfrm>
          <a:prstGeom prst="rect">
            <a:avLst/>
          </a:prstGeom>
          <a:noFill/>
        </p:spPr>
        <p:txBody>
          <a:bodyPr wrap="square" rtlCol="0">
            <a:spAutoFit/>
          </a:bodyPr>
          <a:lstStyle/>
          <a:p>
            <a:r>
              <a:rPr lang="en-US" sz="2800" b="1" dirty="0">
                <a:solidFill>
                  <a:srgbClr val="FF0000"/>
                </a:solidFill>
              </a:rPr>
              <a:t>Method 2: Estimate this</a:t>
            </a:r>
          </a:p>
        </p:txBody>
      </p:sp>
      <p:cxnSp>
        <p:nvCxnSpPr>
          <p:cNvPr id="8" name="Straight Arrow Connector 7">
            <a:extLst>
              <a:ext uri="{FF2B5EF4-FFF2-40B4-BE49-F238E27FC236}">
                <a16:creationId xmlns:a16="http://schemas.microsoft.com/office/drawing/2014/main" id="{3C05068D-0E77-414A-A2D6-66AF5D01EECC}"/>
              </a:ext>
            </a:extLst>
          </p:cNvPr>
          <p:cNvCxnSpPr>
            <a:cxnSpLocks/>
          </p:cNvCxnSpPr>
          <p:nvPr/>
        </p:nvCxnSpPr>
        <p:spPr>
          <a:xfrm>
            <a:off x="2438400" y="5808364"/>
            <a:ext cx="10155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5032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8F0F0-6575-42BB-8E01-5A2B58556CF0}"/>
              </a:ext>
            </a:extLst>
          </p:cNvPr>
          <p:cNvSpPr>
            <a:spLocks noGrp="1"/>
          </p:cNvSpPr>
          <p:nvPr>
            <p:ph type="title"/>
          </p:nvPr>
        </p:nvSpPr>
        <p:spPr/>
        <p:txBody>
          <a:bodyPr/>
          <a:lstStyle/>
          <a:p>
            <a:r>
              <a:rPr lang="en-US" dirty="0"/>
              <a:t>Percentage of Receivables</a:t>
            </a:r>
          </a:p>
        </p:txBody>
      </p:sp>
      <p:sp>
        <p:nvSpPr>
          <p:cNvPr id="3" name="Content Placeholder 2">
            <a:extLst>
              <a:ext uri="{FF2B5EF4-FFF2-40B4-BE49-F238E27FC236}">
                <a16:creationId xmlns:a16="http://schemas.microsoft.com/office/drawing/2014/main" id="{47B294AE-9F6E-4F5E-9793-D0BB0FACC20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9C9E63E-6BB4-4332-BA94-27C8E88CE419}"/>
              </a:ext>
            </a:extLst>
          </p:cNvPr>
          <p:cNvPicPr>
            <a:picLocks noChangeAspect="1"/>
          </p:cNvPicPr>
          <p:nvPr/>
        </p:nvPicPr>
        <p:blipFill>
          <a:blip r:embed="rId2"/>
          <a:stretch>
            <a:fillRect/>
          </a:stretch>
        </p:blipFill>
        <p:spPr>
          <a:xfrm>
            <a:off x="0" y="1318675"/>
            <a:ext cx="12192000" cy="5181404"/>
          </a:xfrm>
          <a:prstGeom prst="rect">
            <a:avLst/>
          </a:prstGeom>
        </p:spPr>
      </p:pic>
      <p:cxnSp>
        <p:nvCxnSpPr>
          <p:cNvPr id="6" name="Straight Connector 5">
            <a:extLst>
              <a:ext uri="{FF2B5EF4-FFF2-40B4-BE49-F238E27FC236}">
                <a16:creationId xmlns:a16="http://schemas.microsoft.com/office/drawing/2014/main" id="{2225C791-2D36-4C1F-AB9F-B87EB3003AAD}"/>
              </a:ext>
            </a:extLst>
          </p:cNvPr>
          <p:cNvCxnSpPr>
            <a:cxnSpLocks/>
          </p:cNvCxnSpPr>
          <p:nvPr/>
        </p:nvCxnSpPr>
        <p:spPr>
          <a:xfrm>
            <a:off x="3594100" y="1825627"/>
            <a:ext cx="3982357"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F089095-A19C-4DE5-9D5F-F31A523779CC}"/>
              </a:ext>
            </a:extLst>
          </p:cNvPr>
          <p:cNvCxnSpPr>
            <a:cxnSpLocks/>
          </p:cNvCxnSpPr>
          <p:nvPr/>
        </p:nvCxnSpPr>
        <p:spPr>
          <a:xfrm>
            <a:off x="1602921" y="3173781"/>
            <a:ext cx="422512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0671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6155-9D1F-4C83-AC72-39C2420D22E1}"/>
              </a:ext>
            </a:extLst>
          </p:cNvPr>
          <p:cNvSpPr>
            <a:spLocks noGrp="1"/>
          </p:cNvSpPr>
          <p:nvPr>
            <p:ph type="title"/>
          </p:nvPr>
        </p:nvSpPr>
        <p:spPr/>
        <p:txBody>
          <a:bodyPr/>
          <a:lstStyle/>
          <a:p>
            <a:r>
              <a:rPr lang="en-US" dirty="0"/>
              <a:t>Summary of methods</a:t>
            </a:r>
          </a:p>
        </p:txBody>
      </p:sp>
      <p:sp>
        <p:nvSpPr>
          <p:cNvPr id="3" name="Content Placeholder 2">
            <a:extLst>
              <a:ext uri="{FF2B5EF4-FFF2-40B4-BE49-F238E27FC236}">
                <a16:creationId xmlns:a16="http://schemas.microsoft.com/office/drawing/2014/main" id="{DBF3F27E-7A38-4297-8D41-620A824ABD20}"/>
              </a:ext>
            </a:extLst>
          </p:cNvPr>
          <p:cNvSpPr>
            <a:spLocks noGrp="1"/>
          </p:cNvSpPr>
          <p:nvPr>
            <p:ph idx="1"/>
          </p:nvPr>
        </p:nvSpPr>
        <p:spPr/>
        <p:txBody>
          <a:bodyPr/>
          <a:lstStyle/>
          <a:p>
            <a:pPr marL="514350" indent="-514350">
              <a:buFont typeface="+mj-lt"/>
              <a:buAutoNum type="arabicPeriod"/>
            </a:pPr>
            <a:r>
              <a:rPr lang="en-US" dirty="0"/>
              <a:t>Income statement (percentage of sales)</a:t>
            </a:r>
          </a:p>
          <a:p>
            <a:pPr lvl="1"/>
            <a:r>
              <a:rPr lang="en-US" dirty="0"/>
              <a:t>Estimate the </a:t>
            </a:r>
            <a:r>
              <a:rPr lang="en-US" dirty="0">
                <a:solidFill>
                  <a:srgbClr val="FF0000"/>
                </a:solidFill>
              </a:rPr>
              <a:t>BAD DEBT EXPENSE (I/S)</a:t>
            </a:r>
          </a:p>
          <a:p>
            <a:pPr lvl="1"/>
            <a:r>
              <a:rPr lang="en-US" dirty="0"/>
              <a:t>Find the ending allowance balance</a:t>
            </a:r>
          </a:p>
          <a:p>
            <a:pPr lvl="1"/>
            <a:endParaRPr lang="en-US" dirty="0"/>
          </a:p>
          <a:p>
            <a:pPr marL="514350" indent="-514350">
              <a:buFont typeface="+mj-lt"/>
              <a:buAutoNum type="arabicPeriod"/>
            </a:pPr>
            <a:r>
              <a:rPr lang="en-US" dirty="0"/>
              <a:t>Balance sheet (percentage of receivables)</a:t>
            </a:r>
          </a:p>
          <a:p>
            <a:pPr lvl="1"/>
            <a:r>
              <a:rPr lang="en-US" dirty="0"/>
              <a:t>Estimate the </a:t>
            </a:r>
            <a:r>
              <a:rPr lang="en-US" dirty="0">
                <a:solidFill>
                  <a:srgbClr val="FF0000"/>
                </a:solidFill>
              </a:rPr>
              <a:t>Ending ALLOWANCE (B/S)</a:t>
            </a:r>
          </a:p>
          <a:p>
            <a:pPr lvl="1"/>
            <a:r>
              <a:rPr lang="en-US" dirty="0"/>
              <a:t>Plug the bad debt expense</a:t>
            </a:r>
          </a:p>
        </p:txBody>
      </p:sp>
      <p:sp>
        <p:nvSpPr>
          <p:cNvPr id="4" name="Rectangle 3">
            <a:extLst>
              <a:ext uri="{FF2B5EF4-FFF2-40B4-BE49-F238E27FC236}">
                <a16:creationId xmlns:a16="http://schemas.microsoft.com/office/drawing/2014/main" id="{C5CC5531-9CA6-E5A3-3C94-41A23D72FC97}"/>
              </a:ext>
            </a:extLst>
          </p:cNvPr>
          <p:cNvSpPr/>
          <p:nvPr/>
        </p:nvSpPr>
        <p:spPr>
          <a:xfrm>
            <a:off x="692524" y="3254188"/>
            <a:ext cx="8041341" cy="1922930"/>
          </a:xfrm>
          <a:prstGeom prst="rect">
            <a:avLst/>
          </a:prstGeom>
          <a:noFill/>
          <a:ln w="3810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DF720B0-D4A2-F63B-8CB1-C649294A79EC}"/>
              </a:ext>
            </a:extLst>
          </p:cNvPr>
          <p:cNvSpPr txBox="1"/>
          <p:nvPr/>
        </p:nvSpPr>
        <p:spPr>
          <a:xfrm>
            <a:off x="838200" y="5560359"/>
            <a:ext cx="8478370" cy="461665"/>
          </a:xfrm>
          <a:prstGeom prst="rect">
            <a:avLst/>
          </a:prstGeom>
          <a:noFill/>
        </p:spPr>
        <p:txBody>
          <a:bodyPr wrap="square" rtlCol="0">
            <a:spAutoFit/>
          </a:bodyPr>
          <a:lstStyle/>
          <a:p>
            <a:r>
              <a:rPr lang="en-US" sz="2400" b="1" dirty="0">
                <a:solidFill>
                  <a:srgbClr val="00B050"/>
                </a:solidFill>
              </a:rPr>
              <a:t>FOCUS for Exam: Percentage of Receivables Method</a:t>
            </a:r>
          </a:p>
        </p:txBody>
      </p:sp>
      <p:cxnSp>
        <p:nvCxnSpPr>
          <p:cNvPr id="7" name="Straight Connector 6">
            <a:extLst>
              <a:ext uri="{FF2B5EF4-FFF2-40B4-BE49-F238E27FC236}">
                <a16:creationId xmlns:a16="http://schemas.microsoft.com/office/drawing/2014/main" id="{D90956B3-EC13-E5C7-A630-7F13F98E93AA}"/>
              </a:ext>
            </a:extLst>
          </p:cNvPr>
          <p:cNvCxnSpPr/>
          <p:nvPr/>
        </p:nvCxnSpPr>
        <p:spPr>
          <a:xfrm>
            <a:off x="1008529" y="1768288"/>
            <a:ext cx="6797489" cy="120351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C0E0795-89E3-4037-D778-31F21DA784EF}"/>
              </a:ext>
            </a:extLst>
          </p:cNvPr>
          <p:cNvCxnSpPr>
            <a:cxnSpLocks/>
          </p:cNvCxnSpPr>
          <p:nvPr/>
        </p:nvCxnSpPr>
        <p:spPr>
          <a:xfrm flipV="1">
            <a:off x="1055594" y="1936376"/>
            <a:ext cx="6750424" cy="96146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120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par>
                                <p:cTn id="16" presetID="10" presetClass="entr" presetSubtype="0" fill="hold"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0723A-B995-4C9D-9EB7-8CC87BD82D2A}"/>
              </a:ext>
            </a:extLst>
          </p:cNvPr>
          <p:cNvSpPr>
            <a:spLocks noGrp="1"/>
          </p:cNvSpPr>
          <p:nvPr>
            <p:ph type="title"/>
          </p:nvPr>
        </p:nvSpPr>
        <p:spPr/>
        <p:txBody>
          <a:bodyPr/>
          <a:lstStyle/>
          <a:p>
            <a:r>
              <a:rPr lang="en-US" dirty="0"/>
              <a:t>In-Class Problem</a:t>
            </a:r>
          </a:p>
        </p:txBody>
      </p:sp>
      <p:sp>
        <p:nvSpPr>
          <p:cNvPr id="3" name="Content Placeholder 2">
            <a:extLst>
              <a:ext uri="{FF2B5EF4-FFF2-40B4-BE49-F238E27FC236}">
                <a16:creationId xmlns:a16="http://schemas.microsoft.com/office/drawing/2014/main" id="{D7F1A392-D6E3-4401-B59A-CAFD5612744D}"/>
              </a:ext>
            </a:extLst>
          </p:cNvPr>
          <p:cNvSpPr>
            <a:spLocks noGrp="1"/>
          </p:cNvSpPr>
          <p:nvPr>
            <p:ph idx="1"/>
          </p:nvPr>
        </p:nvSpPr>
        <p:spPr>
          <a:xfrm>
            <a:off x="838200" y="1229330"/>
            <a:ext cx="10783186" cy="5186982"/>
          </a:xfrm>
        </p:spPr>
        <p:txBody>
          <a:bodyPr>
            <a:normAutofit/>
          </a:bodyPr>
          <a:lstStyle/>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Nemo Co. has the following information during 2024:</a:t>
            </a:r>
          </a:p>
          <a:p>
            <a:pPr marL="0" marR="0" indent="0">
              <a:lnSpc>
                <a:spcPct val="107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Credit sales for the year:				$4,000,000</a:t>
            </a:r>
          </a:p>
          <a:p>
            <a:pPr marL="0" marR="0" indent="0">
              <a:lnSpc>
                <a:spcPct val="107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Accounts receivable at 12/31				$543,200</a:t>
            </a:r>
          </a:p>
          <a:p>
            <a:pPr marL="0" marR="0" indent="0">
              <a:lnSpc>
                <a:spcPct val="107000"/>
              </a:lnSpc>
              <a:spcBef>
                <a:spcPts val="0"/>
              </a:spcBef>
              <a:spcAft>
                <a:spcPts val="0"/>
              </a:spcAft>
              <a:buNone/>
            </a:pPr>
            <a:r>
              <a:rPr lang="en-US" sz="1800" dirty="0">
                <a:effectLst/>
                <a:latin typeface="Calibri" panose="020F0502020204030204" pitchFamily="34" charset="0"/>
                <a:ea typeface="Calibri" panose="020F0502020204030204" pitchFamily="34" charset="0"/>
                <a:cs typeface="Times New Roman" panose="02020603050405020304" pitchFamily="18" charset="0"/>
              </a:rPr>
              <a:t>Allowance for doubtful accounts at 12/31, unadjusted	$125,000 (credit)</a:t>
            </a:r>
          </a:p>
          <a:p>
            <a:pPr marL="0" marR="0" indent="0">
              <a:lnSpc>
                <a:spcPct val="107000"/>
              </a:lnSpc>
              <a:spcBef>
                <a:spcPts val="0"/>
              </a:spcBef>
              <a:spcAft>
                <a:spcPts val="0"/>
              </a:spcAft>
              <a:buNone/>
            </a:pPr>
            <a:endParaRPr lang="en-US" sz="1800" dirty="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arenBoth"/>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company estimates expected credit losses as 30% of the accounts receivables balance at the end of the period. Prepare the adjusting journal entry required to record the bad debt provision for the current year. Identify the bad debt expense and ending allowance.</a:t>
            </a:r>
          </a:p>
          <a:p>
            <a:pPr marL="342900" marR="0" lvl="0" indent="-342900">
              <a:lnSpc>
                <a:spcPct val="107000"/>
              </a:lnSpc>
              <a:spcBef>
                <a:spcPts val="0"/>
              </a:spcBef>
              <a:spcAft>
                <a:spcPts val="800"/>
              </a:spcAft>
              <a:buFont typeface="+mj-lt"/>
              <a:buAutoNum type="arabicParenBoth"/>
            </a:pPr>
            <a:r>
              <a:rPr lang="en-US" sz="1800" dirty="0">
                <a:effectLst/>
                <a:latin typeface="Calibri" panose="020F0502020204030204" pitchFamily="34" charset="0"/>
                <a:ea typeface="Calibri" panose="020F0502020204030204" pitchFamily="34" charset="0"/>
                <a:cs typeface="Times New Roman" panose="02020603050405020304" pitchFamily="18" charset="0"/>
              </a:rPr>
              <a:t>Independent of the above scenario, assume the company estimates aging of account receivables using the following rules for % uncollectible: current: 5%, &lt;30 days past due: 8%, 31-60 days: 10%, 61-90 days: 30%, &gt;90 days: 50%. The aged schedule of receivables is below. </a:t>
            </a:r>
            <a:r>
              <a:rPr lang="en-US" sz="1800" dirty="0">
                <a:ea typeface="Calibri" panose="020F0502020204030204" pitchFamily="34" charset="0"/>
                <a:cs typeface="Times New Roman" panose="02020603050405020304" pitchFamily="18" charset="0"/>
              </a:rPr>
              <a:t>Prepare the adjusting journal entry required to record the bad debt provision for the current year.</a:t>
            </a:r>
            <a:endParaRPr lang="en-US" sz="1800" dirty="0">
              <a:cs typeface="Times New Roman" panose="02020603050405020304" pitchFamily="18" charset="0"/>
            </a:endParaRPr>
          </a:p>
          <a:p>
            <a:pPr marL="0" indent="0">
              <a:buNone/>
            </a:pPr>
            <a:endParaRPr lang="en-US" sz="1800" dirty="0"/>
          </a:p>
          <a:p>
            <a:pPr marL="0" indent="0">
              <a:buNone/>
            </a:pPr>
            <a:endParaRPr lang="en-US" dirty="0"/>
          </a:p>
        </p:txBody>
      </p:sp>
      <p:graphicFrame>
        <p:nvGraphicFramePr>
          <p:cNvPr id="5" name="Table 4">
            <a:extLst>
              <a:ext uri="{FF2B5EF4-FFF2-40B4-BE49-F238E27FC236}">
                <a16:creationId xmlns:a16="http://schemas.microsoft.com/office/drawing/2014/main" id="{06399549-EDBD-4AC7-B689-F58801340876}"/>
              </a:ext>
            </a:extLst>
          </p:cNvPr>
          <p:cNvGraphicFramePr>
            <a:graphicFrameLocks noGrp="1"/>
          </p:cNvGraphicFramePr>
          <p:nvPr>
            <p:extLst>
              <p:ext uri="{D42A27DB-BD31-4B8C-83A1-F6EECF244321}">
                <p14:modId xmlns:p14="http://schemas.microsoft.com/office/powerpoint/2010/main" val="2003080441"/>
              </p:ext>
            </p:extLst>
          </p:nvPr>
        </p:nvGraphicFramePr>
        <p:xfrm>
          <a:off x="4023006" y="5198407"/>
          <a:ext cx="2942122" cy="1366266"/>
        </p:xfrm>
        <a:graphic>
          <a:graphicData uri="http://schemas.openxmlformats.org/drawingml/2006/table">
            <a:tbl>
              <a:tblPr firstRow="1" bandRow="1"/>
              <a:tblGrid>
                <a:gridCol w="1724461">
                  <a:extLst>
                    <a:ext uri="{9D8B030D-6E8A-4147-A177-3AD203B41FA5}">
                      <a16:colId xmlns:a16="http://schemas.microsoft.com/office/drawing/2014/main" val="1190933069"/>
                    </a:ext>
                  </a:extLst>
                </a:gridCol>
                <a:gridCol w="1217661">
                  <a:extLst>
                    <a:ext uri="{9D8B030D-6E8A-4147-A177-3AD203B41FA5}">
                      <a16:colId xmlns:a16="http://schemas.microsoft.com/office/drawing/2014/main" val="2344988417"/>
                    </a:ext>
                  </a:extLst>
                </a:gridCol>
              </a:tblGrid>
              <a:tr h="0">
                <a:tc>
                  <a:txBody>
                    <a:bodyPr/>
                    <a:lstStyle>
                      <a:lvl1pPr marL="0" algn="l" defTabSz="914377" rtl="0" eaLnBrk="1" latinLnBrk="0" hangingPunct="1">
                        <a:defRPr sz="1800" b="1" kern="1200">
                          <a:solidFill>
                            <a:schemeClr val="lt1"/>
                          </a:solidFill>
                          <a:latin typeface="Calibri"/>
                        </a:defRPr>
                      </a:lvl1pPr>
                      <a:lvl2pPr marL="457189" algn="l" defTabSz="914377" rtl="0" eaLnBrk="1" latinLnBrk="0" hangingPunct="1">
                        <a:defRPr sz="1800" b="1" kern="1200">
                          <a:solidFill>
                            <a:schemeClr val="lt1"/>
                          </a:solidFill>
                          <a:latin typeface="Calibri"/>
                        </a:defRPr>
                      </a:lvl2pPr>
                      <a:lvl3pPr marL="914377" algn="l" defTabSz="914377" rtl="0" eaLnBrk="1" latinLnBrk="0" hangingPunct="1">
                        <a:defRPr sz="1800" b="1" kern="1200">
                          <a:solidFill>
                            <a:schemeClr val="lt1"/>
                          </a:solidFill>
                          <a:latin typeface="Calibri"/>
                        </a:defRPr>
                      </a:lvl3pPr>
                      <a:lvl4pPr marL="1371566" algn="l" defTabSz="914377" rtl="0" eaLnBrk="1" latinLnBrk="0" hangingPunct="1">
                        <a:defRPr sz="1800" b="1" kern="1200">
                          <a:solidFill>
                            <a:schemeClr val="lt1"/>
                          </a:solidFill>
                          <a:latin typeface="Calibri"/>
                        </a:defRPr>
                      </a:lvl4pPr>
                      <a:lvl5pPr marL="1828754" algn="l" defTabSz="914377" rtl="0" eaLnBrk="1" latinLnBrk="0" hangingPunct="1">
                        <a:defRPr sz="1800" b="1" kern="1200">
                          <a:solidFill>
                            <a:schemeClr val="lt1"/>
                          </a:solidFill>
                          <a:latin typeface="Calibri"/>
                        </a:defRPr>
                      </a:lvl5pPr>
                      <a:lvl6pPr marL="2285943" algn="l" defTabSz="914377" rtl="0" eaLnBrk="1" latinLnBrk="0" hangingPunct="1">
                        <a:defRPr sz="1800" b="1" kern="1200">
                          <a:solidFill>
                            <a:schemeClr val="lt1"/>
                          </a:solidFill>
                          <a:latin typeface="Calibri"/>
                        </a:defRPr>
                      </a:lvl6pPr>
                      <a:lvl7pPr marL="2743131" algn="l" defTabSz="914377" rtl="0" eaLnBrk="1" latinLnBrk="0" hangingPunct="1">
                        <a:defRPr sz="1800" b="1" kern="1200">
                          <a:solidFill>
                            <a:schemeClr val="lt1"/>
                          </a:solidFill>
                          <a:latin typeface="Calibri"/>
                        </a:defRPr>
                      </a:lvl7pPr>
                      <a:lvl8pPr marL="3200320" algn="l" defTabSz="914377" rtl="0" eaLnBrk="1" latinLnBrk="0" hangingPunct="1">
                        <a:defRPr sz="1800" b="1" kern="1200">
                          <a:solidFill>
                            <a:schemeClr val="lt1"/>
                          </a:solidFill>
                          <a:latin typeface="Calibri"/>
                        </a:defRPr>
                      </a:lvl8pPr>
                      <a:lvl9pPr marL="3657509" algn="l" defTabSz="914377" rtl="0" eaLnBrk="1" latinLnBrk="0" hangingPunct="1">
                        <a:defRPr sz="1800" b="1" kern="1200">
                          <a:solidFill>
                            <a:schemeClr val="lt1"/>
                          </a:solidFill>
                          <a:latin typeface="Calibri"/>
                        </a:defRPr>
                      </a:lvl9pPr>
                    </a:lstStyle>
                    <a:p>
                      <a:pPr marL="0" marR="0">
                        <a:lnSpc>
                          <a:spcPct val="107000"/>
                        </a:lnSpc>
                        <a:spcBef>
                          <a:spcPts val="0"/>
                        </a:spcBef>
                        <a:spcAft>
                          <a:spcPts val="0"/>
                        </a:spcAft>
                      </a:pPr>
                      <a:r>
                        <a:rPr lang="en-US" sz="1400" dirty="0">
                          <a:effectLst/>
                        </a:rPr>
                        <a:t>Days Past Due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546A"/>
                    </a:solidFill>
                  </a:tcPr>
                </a:tc>
                <a:tc>
                  <a:txBody>
                    <a:bodyPr/>
                    <a:lstStyle>
                      <a:lvl1pPr marL="0" algn="l" defTabSz="914377" rtl="0" eaLnBrk="1" latinLnBrk="0" hangingPunct="1">
                        <a:defRPr sz="1800" b="1" kern="1200">
                          <a:solidFill>
                            <a:schemeClr val="lt1"/>
                          </a:solidFill>
                          <a:latin typeface="Calibri"/>
                        </a:defRPr>
                      </a:lvl1pPr>
                      <a:lvl2pPr marL="457189" algn="l" defTabSz="914377" rtl="0" eaLnBrk="1" latinLnBrk="0" hangingPunct="1">
                        <a:defRPr sz="1800" b="1" kern="1200">
                          <a:solidFill>
                            <a:schemeClr val="lt1"/>
                          </a:solidFill>
                          <a:latin typeface="Calibri"/>
                        </a:defRPr>
                      </a:lvl2pPr>
                      <a:lvl3pPr marL="914377" algn="l" defTabSz="914377" rtl="0" eaLnBrk="1" latinLnBrk="0" hangingPunct="1">
                        <a:defRPr sz="1800" b="1" kern="1200">
                          <a:solidFill>
                            <a:schemeClr val="lt1"/>
                          </a:solidFill>
                          <a:latin typeface="Calibri"/>
                        </a:defRPr>
                      </a:lvl3pPr>
                      <a:lvl4pPr marL="1371566" algn="l" defTabSz="914377" rtl="0" eaLnBrk="1" latinLnBrk="0" hangingPunct="1">
                        <a:defRPr sz="1800" b="1" kern="1200">
                          <a:solidFill>
                            <a:schemeClr val="lt1"/>
                          </a:solidFill>
                          <a:latin typeface="Calibri"/>
                        </a:defRPr>
                      </a:lvl4pPr>
                      <a:lvl5pPr marL="1828754" algn="l" defTabSz="914377" rtl="0" eaLnBrk="1" latinLnBrk="0" hangingPunct="1">
                        <a:defRPr sz="1800" b="1" kern="1200">
                          <a:solidFill>
                            <a:schemeClr val="lt1"/>
                          </a:solidFill>
                          <a:latin typeface="Calibri"/>
                        </a:defRPr>
                      </a:lvl5pPr>
                      <a:lvl6pPr marL="2285943" algn="l" defTabSz="914377" rtl="0" eaLnBrk="1" latinLnBrk="0" hangingPunct="1">
                        <a:defRPr sz="1800" b="1" kern="1200">
                          <a:solidFill>
                            <a:schemeClr val="lt1"/>
                          </a:solidFill>
                          <a:latin typeface="Calibri"/>
                        </a:defRPr>
                      </a:lvl6pPr>
                      <a:lvl7pPr marL="2743131" algn="l" defTabSz="914377" rtl="0" eaLnBrk="1" latinLnBrk="0" hangingPunct="1">
                        <a:defRPr sz="1800" b="1" kern="1200">
                          <a:solidFill>
                            <a:schemeClr val="lt1"/>
                          </a:solidFill>
                          <a:latin typeface="Calibri"/>
                        </a:defRPr>
                      </a:lvl7pPr>
                      <a:lvl8pPr marL="3200320" algn="l" defTabSz="914377" rtl="0" eaLnBrk="1" latinLnBrk="0" hangingPunct="1">
                        <a:defRPr sz="1800" b="1" kern="1200">
                          <a:solidFill>
                            <a:schemeClr val="lt1"/>
                          </a:solidFill>
                          <a:latin typeface="Calibri"/>
                        </a:defRPr>
                      </a:lvl8pPr>
                      <a:lvl9pPr marL="3657509" algn="l" defTabSz="914377" rtl="0" eaLnBrk="1" latinLnBrk="0" hangingPunct="1">
                        <a:defRPr sz="1800" b="1" kern="1200">
                          <a:solidFill>
                            <a:schemeClr val="lt1"/>
                          </a:solidFill>
                          <a:latin typeface="Calibri"/>
                        </a:defRPr>
                      </a:lvl9pPr>
                    </a:lstStyle>
                    <a:p>
                      <a:pPr marL="0" marR="0" algn="ctr">
                        <a:lnSpc>
                          <a:spcPct val="107000"/>
                        </a:lnSpc>
                        <a:spcBef>
                          <a:spcPts val="0"/>
                        </a:spcBef>
                        <a:spcAft>
                          <a:spcPts val="0"/>
                        </a:spcAft>
                      </a:pPr>
                      <a:r>
                        <a:rPr lang="en-US" sz="1400" dirty="0">
                          <a:effectLst/>
                        </a:rPr>
                        <a:t>Balance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546A"/>
                    </a:solidFill>
                  </a:tcPr>
                </a:tc>
                <a:extLst>
                  <a:ext uri="{0D108BD9-81ED-4DB2-BD59-A6C34878D82A}">
                    <a16:rowId xmlns:a16="http://schemas.microsoft.com/office/drawing/2014/main" val="1093894125"/>
                  </a:ext>
                </a:extLst>
              </a:tr>
              <a:tr h="0">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nSpc>
                          <a:spcPct val="107000"/>
                        </a:lnSpc>
                        <a:spcBef>
                          <a:spcPts val="0"/>
                        </a:spcBef>
                        <a:spcAft>
                          <a:spcPts val="0"/>
                        </a:spcAft>
                      </a:pPr>
                      <a:r>
                        <a:rPr lang="en-US" sz="1400" dirty="0">
                          <a:effectLst/>
                        </a:rPr>
                        <a:t>Current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gn="ctr">
                        <a:lnSpc>
                          <a:spcPct val="107000"/>
                        </a:lnSpc>
                        <a:spcBef>
                          <a:spcPts val="0"/>
                        </a:spcBef>
                        <a:spcAft>
                          <a:spcPts val="0"/>
                        </a:spcAft>
                      </a:pPr>
                      <a:r>
                        <a:rPr lang="en-US" sz="1400" dirty="0">
                          <a:effectLst/>
                        </a:rPr>
                        <a:t>123,000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extLst>
                  <a:ext uri="{0D108BD9-81ED-4DB2-BD59-A6C34878D82A}">
                    <a16:rowId xmlns:a16="http://schemas.microsoft.com/office/drawing/2014/main" val="3139019870"/>
                  </a:ext>
                </a:extLst>
              </a:tr>
              <a:tr h="0">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nSpc>
                          <a:spcPct val="107000"/>
                        </a:lnSpc>
                        <a:spcBef>
                          <a:spcPts val="0"/>
                        </a:spcBef>
                        <a:spcAft>
                          <a:spcPts val="0"/>
                        </a:spcAft>
                      </a:pPr>
                      <a:r>
                        <a:rPr lang="en-US" sz="1400" dirty="0">
                          <a:effectLst/>
                        </a:rPr>
                        <a:t>&lt; 30 days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2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gn="ctr">
                        <a:lnSpc>
                          <a:spcPct val="107000"/>
                        </a:lnSpc>
                        <a:spcBef>
                          <a:spcPts val="0"/>
                        </a:spcBef>
                        <a:spcAft>
                          <a:spcPts val="0"/>
                        </a:spcAft>
                      </a:pPr>
                      <a:r>
                        <a:rPr lang="en-US" sz="1400" dirty="0">
                          <a:effectLst/>
                        </a:rPr>
                        <a:t>53,000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20000"/>
                      </a:srgbClr>
                    </a:solidFill>
                  </a:tcPr>
                </a:tc>
                <a:extLst>
                  <a:ext uri="{0D108BD9-81ED-4DB2-BD59-A6C34878D82A}">
                    <a16:rowId xmlns:a16="http://schemas.microsoft.com/office/drawing/2014/main" val="3937635938"/>
                  </a:ext>
                </a:extLst>
              </a:tr>
              <a:tr h="0">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nSpc>
                          <a:spcPct val="107000"/>
                        </a:lnSpc>
                        <a:spcBef>
                          <a:spcPts val="0"/>
                        </a:spcBef>
                        <a:spcAft>
                          <a:spcPts val="0"/>
                        </a:spcAft>
                      </a:pPr>
                      <a:r>
                        <a:rPr lang="en-US" sz="1400" dirty="0">
                          <a:effectLst/>
                        </a:rPr>
                        <a:t>30-60 days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gn="ctr">
                        <a:lnSpc>
                          <a:spcPct val="107000"/>
                        </a:lnSpc>
                        <a:spcBef>
                          <a:spcPts val="0"/>
                        </a:spcBef>
                        <a:spcAft>
                          <a:spcPts val="0"/>
                        </a:spcAft>
                      </a:pPr>
                      <a:r>
                        <a:rPr lang="en-US" sz="1400" dirty="0">
                          <a:effectLst/>
                        </a:rPr>
                        <a:t>60,500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extLst>
                  <a:ext uri="{0D108BD9-81ED-4DB2-BD59-A6C34878D82A}">
                    <a16:rowId xmlns:a16="http://schemas.microsoft.com/office/drawing/2014/main" val="3206574663"/>
                  </a:ext>
                </a:extLst>
              </a:tr>
              <a:tr h="0">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nSpc>
                          <a:spcPct val="107000"/>
                        </a:lnSpc>
                        <a:spcBef>
                          <a:spcPts val="0"/>
                        </a:spcBef>
                        <a:spcAft>
                          <a:spcPts val="0"/>
                        </a:spcAft>
                      </a:pPr>
                      <a:r>
                        <a:rPr lang="en-US" sz="1400" dirty="0">
                          <a:effectLst/>
                        </a:rPr>
                        <a:t>61-90 days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2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gn="ctr">
                        <a:lnSpc>
                          <a:spcPct val="107000"/>
                        </a:lnSpc>
                        <a:spcBef>
                          <a:spcPts val="0"/>
                        </a:spcBef>
                        <a:spcAft>
                          <a:spcPts val="0"/>
                        </a:spcAft>
                      </a:pPr>
                      <a:r>
                        <a:rPr lang="en-US" sz="1400" dirty="0">
                          <a:effectLst/>
                        </a:rPr>
                        <a:t>46,400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20000"/>
                      </a:srgbClr>
                    </a:solidFill>
                  </a:tcPr>
                </a:tc>
                <a:extLst>
                  <a:ext uri="{0D108BD9-81ED-4DB2-BD59-A6C34878D82A}">
                    <a16:rowId xmlns:a16="http://schemas.microsoft.com/office/drawing/2014/main" val="4036626506"/>
                  </a:ext>
                </a:extLst>
              </a:tr>
              <a:tr h="0">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nSpc>
                          <a:spcPct val="107000"/>
                        </a:lnSpc>
                        <a:spcBef>
                          <a:spcPts val="0"/>
                        </a:spcBef>
                        <a:spcAft>
                          <a:spcPts val="0"/>
                        </a:spcAft>
                      </a:pPr>
                      <a:r>
                        <a:rPr lang="en-US" sz="1400" dirty="0">
                          <a:effectLst/>
                        </a:rPr>
                        <a:t>&gt;90 days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tc>
                  <a:txBody>
                    <a:bodyPr/>
                    <a:lstStyle>
                      <a:lvl1pPr marL="0" algn="l" defTabSz="914377" rtl="0" eaLnBrk="1" latinLnBrk="0" hangingPunct="1">
                        <a:defRPr sz="1800" kern="1200">
                          <a:solidFill>
                            <a:schemeClr val="dk1"/>
                          </a:solidFill>
                          <a:latin typeface="Calibri"/>
                        </a:defRPr>
                      </a:lvl1pPr>
                      <a:lvl2pPr marL="457189" algn="l" defTabSz="914377" rtl="0" eaLnBrk="1" latinLnBrk="0" hangingPunct="1">
                        <a:defRPr sz="1800" kern="1200">
                          <a:solidFill>
                            <a:schemeClr val="dk1"/>
                          </a:solidFill>
                          <a:latin typeface="Calibri"/>
                        </a:defRPr>
                      </a:lvl2pPr>
                      <a:lvl3pPr marL="914377" algn="l" defTabSz="914377" rtl="0" eaLnBrk="1" latinLnBrk="0" hangingPunct="1">
                        <a:defRPr sz="1800" kern="1200">
                          <a:solidFill>
                            <a:schemeClr val="dk1"/>
                          </a:solidFill>
                          <a:latin typeface="Calibri"/>
                        </a:defRPr>
                      </a:lvl3pPr>
                      <a:lvl4pPr marL="1371566" algn="l" defTabSz="914377" rtl="0" eaLnBrk="1" latinLnBrk="0" hangingPunct="1">
                        <a:defRPr sz="1800" kern="1200">
                          <a:solidFill>
                            <a:schemeClr val="dk1"/>
                          </a:solidFill>
                          <a:latin typeface="Calibri"/>
                        </a:defRPr>
                      </a:lvl4pPr>
                      <a:lvl5pPr marL="1828754" algn="l" defTabSz="914377" rtl="0" eaLnBrk="1" latinLnBrk="0" hangingPunct="1">
                        <a:defRPr sz="1800" kern="1200">
                          <a:solidFill>
                            <a:schemeClr val="dk1"/>
                          </a:solidFill>
                          <a:latin typeface="Calibri"/>
                        </a:defRPr>
                      </a:lvl5pPr>
                      <a:lvl6pPr marL="2285943" algn="l" defTabSz="914377" rtl="0" eaLnBrk="1" latinLnBrk="0" hangingPunct="1">
                        <a:defRPr sz="1800" kern="1200">
                          <a:solidFill>
                            <a:schemeClr val="dk1"/>
                          </a:solidFill>
                          <a:latin typeface="Calibri"/>
                        </a:defRPr>
                      </a:lvl6pPr>
                      <a:lvl7pPr marL="2743131" algn="l" defTabSz="914377" rtl="0" eaLnBrk="1" latinLnBrk="0" hangingPunct="1">
                        <a:defRPr sz="1800" kern="1200">
                          <a:solidFill>
                            <a:schemeClr val="dk1"/>
                          </a:solidFill>
                          <a:latin typeface="Calibri"/>
                        </a:defRPr>
                      </a:lvl7pPr>
                      <a:lvl8pPr marL="3200320" algn="l" defTabSz="914377" rtl="0" eaLnBrk="1" latinLnBrk="0" hangingPunct="1">
                        <a:defRPr sz="1800" kern="1200">
                          <a:solidFill>
                            <a:schemeClr val="dk1"/>
                          </a:solidFill>
                          <a:latin typeface="Calibri"/>
                        </a:defRPr>
                      </a:lvl8pPr>
                      <a:lvl9pPr marL="3657509" algn="l" defTabSz="914377" rtl="0" eaLnBrk="1" latinLnBrk="0" hangingPunct="1">
                        <a:defRPr sz="1800" kern="1200">
                          <a:solidFill>
                            <a:schemeClr val="dk1"/>
                          </a:solidFill>
                          <a:latin typeface="Calibri"/>
                        </a:defRPr>
                      </a:lvl9pPr>
                    </a:lstStyle>
                    <a:p>
                      <a:pPr marL="0" marR="0" algn="ctr">
                        <a:lnSpc>
                          <a:spcPct val="107000"/>
                        </a:lnSpc>
                        <a:spcBef>
                          <a:spcPts val="0"/>
                        </a:spcBef>
                        <a:spcAft>
                          <a:spcPts val="0"/>
                        </a:spcAft>
                      </a:pPr>
                      <a:r>
                        <a:rPr lang="en-US" sz="1400" dirty="0">
                          <a:effectLst/>
                        </a:rPr>
                        <a:t>260,300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51435" marR="51435" marT="9525" marB="0">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546A">
                        <a:tint val="40000"/>
                      </a:srgbClr>
                    </a:solidFill>
                  </a:tcPr>
                </a:tc>
                <a:extLst>
                  <a:ext uri="{0D108BD9-81ED-4DB2-BD59-A6C34878D82A}">
                    <a16:rowId xmlns:a16="http://schemas.microsoft.com/office/drawing/2014/main" val="1262721609"/>
                  </a:ext>
                </a:extLst>
              </a:tr>
            </a:tbl>
          </a:graphicData>
        </a:graphic>
      </p:graphicFrame>
    </p:spTree>
    <p:extLst>
      <p:ext uri="{BB962C8B-B14F-4D97-AF65-F5344CB8AC3E}">
        <p14:creationId xmlns:p14="http://schemas.microsoft.com/office/powerpoint/2010/main" val="394458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F5397-B5CA-4CF6-944B-4CF6EFE901F7}"/>
              </a:ext>
            </a:extLst>
          </p:cNvPr>
          <p:cNvSpPr>
            <a:spLocks noGrp="1"/>
          </p:cNvSpPr>
          <p:nvPr>
            <p:ph type="title"/>
          </p:nvPr>
        </p:nvSpPr>
        <p:spPr/>
        <p:txBody>
          <a:bodyPr/>
          <a:lstStyle/>
          <a:p>
            <a:r>
              <a:rPr lang="en-US" dirty="0"/>
              <a:t>As Time Goes on…</a:t>
            </a:r>
          </a:p>
        </p:txBody>
      </p:sp>
      <p:pic>
        <p:nvPicPr>
          <p:cNvPr id="5" name="Picture 4">
            <a:extLst>
              <a:ext uri="{FF2B5EF4-FFF2-40B4-BE49-F238E27FC236}">
                <a16:creationId xmlns:a16="http://schemas.microsoft.com/office/drawing/2014/main" id="{82D03B98-A5DD-4312-9DA7-7BF9406852B1}"/>
              </a:ext>
            </a:extLst>
          </p:cNvPr>
          <p:cNvPicPr>
            <a:picLocks noChangeAspect="1"/>
          </p:cNvPicPr>
          <p:nvPr/>
        </p:nvPicPr>
        <p:blipFill rotWithShape="1">
          <a:blip r:embed="rId2"/>
          <a:srcRect b="25355"/>
          <a:stretch/>
        </p:blipFill>
        <p:spPr>
          <a:xfrm>
            <a:off x="2012185" y="1403266"/>
            <a:ext cx="7925268" cy="3850906"/>
          </a:xfrm>
          <a:prstGeom prst="rect">
            <a:avLst/>
          </a:prstGeom>
        </p:spPr>
      </p:pic>
      <p:sp>
        <p:nvSpPr>
          <p:cNvPr id="6" name="TextBox 5">
            <a:extLst>
              <a:ext uri="{FF2B5EF4-FFF2-40B4-BE49-F238E27FC236}">
                <a16:creationId xmlns:a16="http://schemas.microsoft.com/office/drawing/2014/main" id="{0DBA4B2D-6B7C-409B-937A-5F904E534303}"/>
              </a:ext>
            </a:extLst>
          </p:cNvPr>
          <p:cNvSpPr txBox="1"/>
          <p:nvPr/>
        </p:nvSpPr>
        <p:spPr>
          <a:xfrm>
            <a:off x="4857262" y="5562039"/>
            <a:ext cx="2207287" cy="707886"/>
          </a:xfrm>
          <a:prstGeom prst="rect">
            <a:avLst/>
          </a:prstGeom>
          <a:solidFill>
            <a:schemeClr val="accent4">
              <a:lumMod val="20000"/>
              <a:lumOff val="80000"/>
            </a:schemeClr>
          </a:solidFill>
          <a:ln>
            <a:solidFill>
              <a:schemeClr val="tx1"/>
            </a:solidFill>
          </a:ln>
        </p:spPr>
        <p:txBody>
          <a:bodyPr wrap="square" rtlCol="0">
            <a:spAutoFit/>
          </a:bodyPr>
          <a:lstStyle/>
          <a:p>
            <a:pPr algn="ctr"/>
            <a:r>
              <a:rPr lang="en-US" sz="4000" b="1" dirty="0">
                <a:solidFill>
                  <a:srgbClr val="FF0000"/>
                </a:solidFill>
              </a:rPr>
              <a:t>??????</a:t>
            </a:r>
          </a:p>
        </p:txBody>
      </p:sp>
    </p:spTree>
    <p:extLst>
      <p:ext uri="{BB962C8B-B14F-4D97-AF65-F5344CB8AC3E}">
        <p14:creationId xmlns:p14="http://schemas.microsoft.com/office/powerpoint/2010/main" val="4029846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Write Offs</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1487439870"/>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b="1" dirty="0">
                          <a:solidFill>
                            <a:srgbClr val="FF0000"/>
                          </a:solidFill>
                        </a:rPr>
                        <a:t>Miah Inc.</a:t>
                      </a:r>
                    </a:p>
                  </a:txBody>
                  <a:tcPr/>
                </a:tc>
                <a:tc>
                  <a:txBody>
                    <a:bodyPr/>
                    <a:lstStyle/>
                    <a:p>
                      <a:pPr algn="r"/>
                      <a:r>
                        <a:rPr lang="en-US" b="1" dirty="0">
                          <a:solidFill>
                            <a:srgbClr val="FF0000"/>
                          </a:solidFill>
                        </a:rPr>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extLst>
              <p:ext uri="{D42A27DB-BD31-4B8C-83A1-F6EECF244321}">
                <p14:modId xmlns:p14="http://schemas.microsoft.com/office/powerpoint/2010/main" val="743508598"/>
              </p:ext>
            </p:extLst>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u="sng" dirty="0"/>
                        <a:t>???</a:t>
                      </a:r>
                    </a:p>
                  </a:txBody>
                  <a:tcPr/>
                </a:tc>
                <a:tc>
                  <a:txBody>
                    <a:bodyPr/>
                    <a:lstStyle/>
                    <a:p>
                      <a:pPr algn="r"/>
                      <a:r>
                        <a:rPr lang="en-US" u="sng" dirty="0"/>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(20,000)</a:t>
                      </a:r>
                    </a:p>
                  </a:txBody>
                  <a:tcPr/>
                </a:tc>
                <a:extLst>
                  <a:ext uri="{0D108BD9-81ED-4DB2-BD59-A6C34878D82A}">
                    <a16:rowId xmlns:a16="http://schemas.microsoft.com/office/drawing/2014/main" val="2213925017"/>
                  </a:ext>
                </a:extLst>
              </a:tr>
            </a:tbl>
          </a:graphicData>
        </a:graphic>
      </p:graphicFrame>
      <p:sp>
        <p:nvSpPr>
          <p:cNvPr id="9" name="TextBox 8">
            <a:extLst>
              <a:ext uri="{FF2B5EF4-FFF2-40B4-BE49-F238E27FC236}">
                <a16:creationId xmlns:a16="http://schemas.microsoft.com/office/drawing/2014/main" id="{43C84988-1171-4647-A2F9-34C789A69883}"/>
              </a:ext>
            </a:extLst>
          </p:cNvPr>
          <p:cNvSpPr txBox="1"/>
          <p:nvPr/>
        </p:nvSpPr>
        <p:spPr>
          <a:xfrm>
            <a:off x="2696311" y="5805007"/>
            <a:ext cx="7613299" cy="523220"/>
          </a:xfrm>
          <a:prstGeom prst="rect">
            <a:avLst/>
          </a:prstGeom>
          <a:solidFill>
            <a:schemeClr val="accent4">
              <a:lumMod val="20000"/>
              <a:lumOff val="80000"/>
            </a:schemeClr>
          </a:solidFill>
          <a:ln>
            <a:solidFill>
              <a:schemeClr val="tx1"/>
            </a:solidFill>
          </a:ln>
        </p:spPr>
        <p:txBody>
          <a:bodyPr wrap="square" rtlCol="0">
            <a:spAutoFit/>
          </a:bodyPr>
          <a:lstStyle/>
          <a:p>
            <a:r>
              <a:rPr lang="en-US" sz="2800" dirty="0"/>
              <a:t>Suppose we identify that Miah Inc. won’t pay…</a:t>
            </a:r>
          </a:p>
        </p:txBody>
      </p:sp>
    </p:spTree>
    <p:extLst>
      <p:ext uri="{BB962C8B-B14F-4D97-AF65-F5344CB8AC3E}">
        <p14:creationId xmlns:p14="http://schemas.microsoft.com/office/powerpoint/2010/main" val="3141900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Write Offs</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1065576385"/>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b="1" dirty="0">
                          <a:solidFill>
                            <a:srgbClr val="FF0000"/>
                          </a:solidFill>
                        </a:rPr>
                        <a:t>Miah Inc.</a:t>
                      </a:r>
                    </a:p>
                  </a:txBody>
                  <a:tcPr/>
                </a:tc>
                <a:tc>
                  <a:txBody>
                    <a:bodyPr/>
                    <a:lstStyle/>
                    <a:p>
                      <a:pPr algn="r"/>
                      <a:r>
                        <a:rPr lang="en-US" b="1" dirty="0">
                          <a:solidFill>
                            <a:srgbClr val="FF0000"/>
                          </a:solidFill>
                        </a:rPr>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$5,000,000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extLst>
              <p:ext uri="{D42A27DB-BD31-4B8C-83A1-F6EECF244321}">
                <p14:modId xmlns:p14="http://schemas.microsoft.com/office/powerpoint/2010/main" val="1942738907"/>
              </p:ext>
            </p:extLst>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b="1" u="sng" dirty="0">
                          <a:solidFill>
                            <a:srgbClr val="FF0000"/>
                          </a:solidFill>
                        </a:rPr>
                        <a:t>Miah Inc.</a:t>
                      </a:r>
                    </a:p>
                  </a:txBody>
                  <a:tcPr/>
                </a:tc>
                <a:tc>
                  <a:txBody>
                    <a:bodyPr/>
                    <a:lstStyle/>
                    <a:p>
                      <a:pPr algn="r"/>
                      <a:r>
                        <a:rPr lang="en-US" b="1" u="sng" dirty="0">
                          <a:solidFill>
                            <a:srgbClr val="FF0000"/>
                          </a:solidFill>
                        </a:rPr>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(20,000)</a:t>
                      </a:r>
                    </a:p>
                  </a:txBody>
                  <a:tcPr/>
                </a:tc>
                <a:extLst>
                  <a:ext uri="{0D108BD9-81ED-4DB2-BD59-A6C34878D82A}">
                    <a16:rowId xmlns:a16="http://schemas.microsoft.com/office/drawing/2014/main" val="2213925017"/>
                  </a:ext>
                </a:extLst>
              </a:tr>
            </a:tbl>
          </a:graphicData>
        </a:graphic>
      </p:graphicFrame>
      <p:sp>
        <p:nvSpPr>
          <p:cNvPr id="9" name="TextBox 8">
            <a:extLst>
              <a:ext uri="{FF2B5EF4-FFF2-40B4-BE49-F238E27FC236}">
                <a16:creationId xmlns:a16="http://schemas.microsoft.com/office/drawing/2014/main" id="{43C84988-1171-4647-A2F9-34C789A69883}"/>
              </a:ext>
            </a:extLst>
          </p:cNvPr>
          <p:cNvSpPr txBox="1"/>
          <p:nvPr/>
        </p:nvSpPr>
        <p:spPr>
          <a:xfrm>
            <a:off x="2696311" y="5805007"/>
            <a:ext cx="7613299" cy="523220"/>
          </a:xfrm>
          <a:prstGeom prst="rect">
            <a:avLst/>
          </a:prstGeom>
          <a:solidFill>
            <a:schemeClr val="accent4">
              <a:lumMod val="20000"/>
              <a:lumOff val="80000"/>
            </a:schemeClr>
          </a:solidFill>
          <a:ln>
            <a:solidFill>
              <a:schemeClr val="tx1"/>
            </a:solidFill>
          </a:ln>
        </p:spPr>
        <p:txBody>
          <a:bodyPr wrap="square" rtlCol="0">
            <a:spAutoFit/>
          </a:bodyPr>
          <a:lstStyle/>
          <a:p>
            <a:r>
              <a:rPr lang="en-US" sz="2800" b="1" i="1" dirty="0"/>
              <a:t>Assume</a:t>
            </a:r>
            <a:r>
              <a:rPr lang="en-US" sz="2800" dirty="0"/>
              <a:t> that Miah was in the allowance…</a:t>
            </a:r>
          </a:p>
        </p:txBody>
      </p:sp>
      <p:cxnSp>
        <p:nvCxnSpPr>
          <p:cNvPr id="4" name="Straight Arrow Connector 3">
            <a:extLst>
              <a:ext uri="{FF2B5EF4-FFF2-40B4-BE49-F238E27FC236}">
                <a16:creationId xmlns:a16="http://schemas.microsoft.com/office/drawing/2014/main" id="{E73850D9-190E-49D9-A984-5DD7999A80F2}"/>
              </a:ext>
            </a:extLst>
          </p:cNvPr>
          <p:cNvCxnSpPr>
            <a:cxnSpLocks/>
          </p:cNvCxnSpPr>
          <p:nvPr/>
        </p:nvCxnSpPr>
        <p:spPr>
          <a:xfrm flipV="1">
            <a:off x="5978769" y="2994410"/>
            <a:ext cx="905244" cy="32154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04803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Write Offs</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1694490218"/>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b="1" strike="sngStrike" dirty="0">
                          <a:solidFill>
                            <a:srgbClr val="FF0000"/>
                          </a:solidFill>
                        </a:rPr>
                        <a:t>Miah Inc.</a:t>
                      </a:r>
                    </a:p>
                  </a:txBody>
                  <a:tcPr/>
                </a:tc>
                <a:tc>
                  <a:txBody>
                    <a:bodyPr/>
                    <a:lstStyle/>
                    <a:p>
                      <a:pPr algn="r"/>
                      <a:r>
                        <a:rPr lang="en-US" b="1" strike="sngStrike" dirty="0">
                          <a:solidFill>
                            <a:srgbClr val="FF0000"/>
                          </a:solidFill>
                        </a:rPr>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$4,990,000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extLst>
              <p:ext uri="{D42A27DB-BD31-4B8C-83A1-F6EECF244321}">
                <p14:modId xmlns:p14="http://schemas.microsoft.com/office/powerpoint/2010/main" val="3607238142"/>
              </p:ext>
            </p:extLst>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b="1" u="sng" dirty="0">
                          <a:solidFill>
                            <a:srgbClr val="FF0000"/>
                          </a:solidFill>
                        </a:rPr>
                        <a:t>Miah Inc.</a:t>
                      </a:r>
                    </a:p>
                  </a:txBody>
                  <a:tcPr/>
                </a:tc>
                <a:tc>
                  <a:txBody>
                    <a:bodyPr/>
                    <a:lstStyle/>
                    <a:p>
                      <a:pPr algn="r"/>
                      <a:r>
                        <a:rPr lang="en-US" b="1" u="sng" dirty="0">
                          <a:solidFill>
                            <a:srgbClr val="FF0000"/>
                          </a:solidFill>
                        </a:rPr>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(20,000)</a:t>
                      </a:r>
                    </a:p>
                  </a:txBody>
                  <a:tcPr/>
                </a:tc>
                <a:extLst>
                  <a:ext uri="{0D108BD9-81ED-4DB2-BD59-A6C34878D82A}">
                    <a16:rowId xmlns:a16="http://schemas.microsoft.com/office/drawing/2014/main" val="2213925017"/>
                  </a:ext>
                </a:extLst>
              </a:tr>
            </a:tbl>
          </a:graphicData>
        </a:graphic>
      </p:graphicFrame>
      <p:sp>
        <p:nvSpPr>
          <p:cNvPr id="9" name="TextBox 8">
            <a:extLst>
              <a:ext uri="{FF2B5EF4-FFF2-40B4-BE49-F238E27FC236}">
                <a16:creationId xmlns:a16="http://schemas.microsoft.com/office/drawing/2014/main" id="{43C84988-1171-4647-A2F9-34C789A69883}"/>
              </a:ext>
            </a:extLst>
          </p:cNvPr>
          <p:cNvSpPr txBox="1"/>
          <p:nvPr/>
        </p:nvSpPr>
        <p:spPr>
          <a:xfrm>
            <a:off x="2696311" y="5805007"/>
            <a:ext cx="7613299" cy="523220"/>
          </a:xfrm>
          <a:prstGeom prst="rect">
            <a:avLst/>
          </a:prstGeom>
          <a:solidFill>
            <a:schemeClr val="accent4">
              <a:lumMod val="20000"/>
              <a:lumOff val="80000"/>
            </a:schemeClr>
          </a:solidFill>
          <a:ln>
            <a:solidFill>
              <a:schemeClr val="tx1"/>
            </a:solidFill>
          </a:ln>
        </p:spPr>
        <p:txBody>
          <a:bodyPr wrap="square" rtlCol="0">
            <a:spAutoFit/>
          </a:bodyPr>
          <a:lstStyle/>
          <a:p>
            <a:r>
              <a:rPr lang="en-US" sz="2800" dirty="0"/>
              <a:t>Get rid of the A/R…no longer an asset.</a:t>
            </a:r>
          </a:p>
        </p:txBody>
      </p:sp>
      <p:cxnSp>
        <p:nvCxnSpPr>
          <p:cNvPr id="11" name="Straight Arrow Connector 10">
            <a:extLst>
              <a:ext uri="{FF2B5EF4-FFF2-40B4-BE49-F238E27FC236}">
                <a16:creationId xmlns:a16="http://schemas.microsoft.com/office/drawing/2014/main" id="{1BB89F24-9E00-42E3-BC4B-B4A6F4891B79}"/>
              </a:ext>
            </a:extLst>
          </p:cNvPr>
          <p:cNvCxnSpPr>
            <a:cxnSpLocks/>
          </p:cNvCxnSpPr>
          <p:nvPr/>
        </p:nvCxnSpPr>
        <p:spPr>
          <a:xfrm flipV="1">
            <a:off x="487177" y="3375298"/>
            <a:ext cx="591404" cy="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61683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Write Offs</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75864612"/>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b="1" strike="sngStrike" dirty="0">
                          <a:solidFill>
                            <a:srgbClr val="FF0000"/>
                          </a:solidFill>
                        </a:rPr>
                        <a:t>Miah Inc.</a:t>
                      </a:r>
                    </a:p>
                  </a:txBody>
                  <a:tcPr/>
                </a:tc>
                <a:tc>
                  <a:txBody>
                    <a:bodyPr/>
                    <a:lstStyle/>
                    <a:p>
                      <a:pPr algn="r"/>
                      <a:r>
                        <a:rPr lang="en-US" b="1" strike="sngStrike" dirty="0">
                          <a:solidFill>
                            <a:srgbClr val="FF0000"/>
                          </a:solidFill>
                        </a:rPr>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$4,990,000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extLst>
              <p:ext uri="{D42A27DB-BD31-4B8C-83A1-F6EECF244321}">
                <p14:modId xmlns:p14="http://schemas.microsoft.com/office/powerpoint/2010/main" val="1072766684"/>
              </p:ext>
            </p:extLst>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b="1" u="sng" dirty="0">
                          <a:solidFill>
                            <a:srgbClr val="FF0000"/>
                          </a:solidFill>
                        </a:rPr>
                        <a:t>Miah Inc.</a:t>
                      </a:r>
                    </a:p>
                  </a:txBody>
                  <a:tcPr/>
                </a:tc>
                <a:tc>
                  <a:txBody>
                    <a:bodyPr/>
                    <a:lstStyle/>
                    <a:p>
                      <a:pPr algn="r"/>
                      <a:r>
                        <a:rPr lang="en-US" b="1" u="sng" dirty="0">
                          <a:solidFill>
                            <a:srgbClr val="FF0000"/>
                          </a:solidFill>
                        </a:rPr>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(20,000)</a:t>
                      </a:r>
                    </a:p>
                  </a:txBody>
                  <a:tcPr/>
                </a:tc>
                <a:extLst>
                  <a:ext uri="{0D108BD9-81ED-4DB2-BD59-A6C34878D82A}">
                    <a16:rowId xmlns:a16="http://schemas.microsoft.com/office/drawing/2014/main" val="2213925017"/>
                  </a:ext>
                </a:extLst>
              </a:tr>
            </a:tbl>
          </a:graphicData>
        </a:graphic>
      </p:graphicFrame>
      <p:sp>
        <p:nvSpPr>
          <p:cNvPr id="9" name="TextBox 8">
            <a:extLst>
              <a:ext uri="{FF2B5EF4-FFF2-40B4-BE49-F238E27FC236}">
                <a16:creationId xmlns:a16="http://schemas.microsoft.com/office/drawing/2014/main" id="{43C84988-1171-4647-A2F9-34C789A69883}"/>
              </a:ext>
            </a:extLst>
          </p:cNvPr>
          <p:cNvSpPr txBox="1"/>
          <p:nvPr/>
        </p:nvSpPr>
        <p:spPr>
          <a:xfrm>
            <a:off x="2696311" y="5805007"/>
            <a:ext cx="7613299" cy="523220"/>
          </a:xfrm>
          <a:prstGeom prst="rect">
            <a:avLst/>
          </a:prstGeom>
          <a:solidFill>
            <a:schemeClr val="accent4">
              <a:lumMod val="20000"/>
              <a:lumOff val="80000"/>
            </a:schemeClr>
          </a:solidFill>
          <a:ln>
            <a:solidFill>
              <a:schemeClr val="tx1"/>
            </a:solidFill>
          </a:ln>
        </p:spPr>
        <p:txBody>
          <a:bodyPr wrap="square" rtlCol="0">
            <a:spAutoFit/>
          </a:bodyPr>
          <a:lstStyle/>
          <a:p>
            <a:r>
              <a:rPr lang="en-US" sz="2800" dirty="0"/>
              <a:t>Get rid of the A/R…no longer an asset.</a:t>
            </a:r>
          </a:p>
        </p:txBody>
      </p:sp>
      <p:sp>
        <p:nvSpPr>
          <p:cNvPr id="5" name="TextBox 4">
            <a:extLst>
              <a:ext uri="{FF2B5EF4-FFF2-40B4-BE49-F238E27FC236}">
                <a16:creationId xmlns:a16="http://schemas.microsoft.com/office/drawing/2014/main" id="{84EC22D5-473D-4B10-9169-8E17C365F880}"/>
              </a:ext>
            </a:extLst>
          </p:cNvPr>
          <p:cNvSpPr txBox="1"/>
          <p:nvPr/>
        </p:nvSpPr>
        <p:spPr>
          <a:xfrm>
            <a:off x="6301209" y="3689542"/>
            <a:ext cx="5776910" cy="1477328"/>
          </a:xfrm>
          <a:prstGeom prst="rect">
            <a:avLst/>
          </a:prstGeom>
          <a:noFill/>
        </p:spPr>
        <p:txBody>
          <a:bodyPr wrap="square" rtlCol="0">
            <a:spAutoFit/>
          </a:bodyPr>
          <a:lstStyle/>
          <a:p>
            <a:r>
              <a:rPr lang="en-US" b="1" u="sng" dirty="0"/>
              <a:t>Journal Entry</a:t>
            </a:r>
            <a:endParaRPr lang="en-US" b="1" dirty="0"/>
          </a:p>
          <a:p>
            <a:endParaRPr lang="en-US" b="1" dirty="0"/>
          </a:p>
          <a:p>
            <a:endParaRPr lang="en-US" b="1" dirty="0"/>
          </a:p>
          <a:p>
            <a:r>
              <a:rPr lang="en-US" b="1" dirty="0"/>
              <a:t>		Cr. Accounts Receivable 10,000		</a:t>
            </a:r>
          </a:p>
        </p:txBody>
      </p:sp>
      <p:cxnSp>
        <p:nvCxnSpPr>
          <p:cNvPr id="13" name="Straight Arrow Connector 12">
            <a:extLst>
              <a:ext uri="{FF2B5EF4-FFF2-40B4-BE49-F238E27FC236}">
                <a16:creationId xmlns:a16="http://schemas.microsoft.com/office/drawing/2014/main" id="{1BC3C570-642F-4B6B-867F-0074BF0BD854}"/>
              </a:ext>
            </a:extLst>
          </p:cNvPr>
          <p:cNvCxnSpPr>
            <a:cxnSpLocks/>
          </p:cNvCxnSpPr>
          <p:nvPr/>
        </p:nvCxnSpPr>
        <p:spPr>
          <a:xfrm flipV="1">
            <a:off x="7552842" y="4693307"/>
            <a:ext cx="591404" cy="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5201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Write Offs</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549486911"/>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b="1" strike="sngStrike" dirty="0">
                          <a:solidFill>
                            <a:srgbClr val="FF0000"/>
                          </a:solidFill>
                        </a:rPr>
                        <a:t>Miah Inc.</a:t>
                      </a:r>
                    </a:p>
                  </a:txBody>
                  <a:tcPr/>
                </a:tc>
                <a:tc>
                  <a:txBody>
                    <a:bodyPr/>
                    <a:lstStyle/>
                    <a:p>
                      <a:pPr algn="r"/>
                      <a:r>
                        <a:rPr lang="en-US" b="1" strike="sngStrike" dirty="0">
                          <a:solidFill>
                            <a:srgbClr val="FF0000"/>
                          </a:solidFill>
                        </a:rPr>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$4,990,000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extLst>
              <p:ext uri="{D42A27DB-BD31-4B8C-83A1-F6EECF244321}">
                <p14:modId xmlns:p14="http://schemas.microsoft.com/office/powerpoint/2010/main" val="1112403291"/>
              </p:ext>
            </p:extLst>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b="1" u="sng" strike="sngStrike" dirty="0">
                          <a:solidFill>
                            <a:srgbClr val="FF0000"/>
                          </a:solidFill>
                        </a:rPr>
                        <a:t>Miah Inc.</a:t>
                      </a:r>
                    </a:p>
                  </a:txBody>
                  <a:tcPr/>
                </a:tc>
                <a:tc>
                  <a:txBody>
                    <a:bodyPr/>
                    <a:lstStyle/>
                    <a:p>
                      <a:pPr algn="r"/>
                      <a:r>
                        <a:rPr lang="en-US" b="1" u="sng" strike="sngStrike" dirty="0">
                          <a:solidFill>
                            <a:srgbClr val="FF0000"/>
                          </a:solidFill>
                        </a:rPr>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(10,000)</a:t>
                      </a:r>
                    </a:p>
                  </a:txBody>
                  <a:tcPr/>
                </a:tc>
                <a:extLst>
                  <a:ext uri="{0D108BD9-81ED-4DB2-BD59-A6C34878D82A}">
                    <a16:rowId xmlns:a16="http://schemas.microsoft.com/office/drawing/2014/main" val="2213925017"/>
                  </a:ext>
                </a:extLst>
              </a:tr>
            </a:tbl>
          </a:graphicData>
        </a:graphic>
      </p:graphicFrame>
      <p:sp>
        <p:nvSpPr>
          <p:cNvPr id="9" name="TextBox 8">
            <a:extLst>
              <a:ext uri="{FF2B5EF4-FFF2-40B4-BE49-F238E27FC236}">
                <a16:creationId xmlns:a16="http://schemas.microsoft.com/office/drawing/2014/main" id="{43C84988-1171-4647-A2F9-34C789A69883}"/>
              </a:ext>
            </a:extLst>
          </p:cNvPr>
          <p:cNvSpPr txBox="1"/>
          <p:nvPr/>
        </p:nvSpPr>
        <p:spPr>
          <a:xfrm>
            <a:off x="2494559" y="5725386"/>
            <a:ext cx="7613299" cy="954107"/>
          </a:xfrm>
          <a:prstGeom prst="rect">
            <a:avLst/>
          </a:prstGeom>
          <a:solidFill>
            <a:schemeClr val="accent4">
              <a:lumMod val="20000"/>
              <a:lumOff val="80000"/>
            </a:schemeClr>
          </a:solidFill>
          <a:ln>
            <a:solidFill>
              <a:schemeClr val="tx1"/>
            </a:solidFill>
          </a:ln>
        </p:spPr>
        <p:txBody>
          <a:bodyPr wrap="square" rtlCol="0">
            <a:spAutoFit/>
          </a:bodyPr>
          <a:lstStyle/>
          <a:p>
            <a:r>
              <a:rPr lang="en-US" sz="2800" dirty="0"/>
              <a:t>Get rid of the associated allowance (if the asset is gone, don’t need a reserve against it).</a:t>
            </a:r>
          </a:p>
        </p:txBody>
      </p:sp>
      <p:sp>
        <p:nvSpPr>
          <p:cNvPr id="5" name="TextBox 4">
            <a:extLst>
              <a:ext uri="{FF2B5EF4-FFF2-40B4-BE49-F238E27FC236}">
                <a16:creationId xmlns:a16="http://schemas.microsoft.com/office/drawing/2014/main" id="{84EC22D5-473D-4B10-9169-8E17C365F880}"/>
              </a:ext>
            </a:extLst>
          </p:cNvPr>
          <p:cNvSpPr txBox="1"/>
          <p:nvPr/>
        </p:nvSpPr>
        <p:spPr>
          <a:xfrm>
            <a:off x="6301209" y="3689542"/>
            <a:ext cx="5776910" cy="1477328"/>
          </a:xfrm>
          <a:prstGeom prst="rect">
            <a:avLst/>
          </a:prstGeom>
          <a:noFill/>
        </p:spPr>
        <p:txBody>
          <a:bodyPr wrap="square" rtlCol="0">
            <a:spAutoFit/>
          </a:bodyPr>
          <a:lstStyle/>
          <a:p>
            <a:r>
              <a:rPr lang="en-US" b="1" u="sng" dirty="0"/>
              <a:t>Journal Entry</a:t>
            </a:r>
            <a:endParaRPr lang="en-US" b="1" dirty="0"/>
          </a:p>
          <a:p>
            <a:endParaRPr lang="en-US" b="1" dirty="0"/>
          </a:p>
          <a:p>
            <a:endParaRPr lang="en-US" b="1" dirty="0"/>
          </a:p>
          <a:p>
            <a:r>
              <a:rPr lang="en-US" b="1" dirty="0"/>
              <a:t>		Cr. Accounts Receivable 10,000		</a:t>
            </a:r>
          </a:p>
        </p:txBody>
      </p:sp>
      <p:cxnSp>
        <p:nvCxnSpPr>
          <p:cNvPr id="13" name="Straight Arrow Connector 12">
            <a:extLst>
              <a:ext uri="{FF2B5EF4-FFF2-40B4-BE49-F238E27FC236}">
                <a16:creationId xmlns:a16="http://schemas.microsoft.com/office/drawing/2014/main" id="{1BC3C570-642F-4B6B-867F-0074BF0BD854}"/>
              </a:ext>
            </a:extLst>
          </p:cNvPr>
          <p:cNvCxnSpPr>
            <a:cxnSpLocks/>
          </p:cNvCxnSpPr>
          <p:nvPr/>
        </p:nvCxnSpPr>
        <p:spPr>
          <a:xfrm flipV="1">
            <a:off x="5978769" y="2974312"/>
            <a:ext cx="1041788" cy="389705"/>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3888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63465-35B4-45C0-BD1C-558D2AAE62F2}"/>
              </a:ext>
            </a:extLst>
          </p:cNvPr>
          <p:cNvSpPr>
            <a:spLocks noGrp="1"/>
          </p:cNvSpPr>
          <p:nvPr>
            <p:ph type="title"/>
          </p:nvPr>
        </p:nvSpPr>
        <p:spPr/>
        <p:txBody>
          <a:bodyPr/>
          <a:lstStyle/>
          <a:p>
            <a:r>
              <a:rPr lang="en-US" dirty="0"/>
              <a:t>Write Offs</a:t>
            </a:r>
          </a:p>
        </p:txBody>
      </p:sp>
      <p:graphicFrame>
        <p:nvGraphicFramePr>
          <p:cNvPr id="12" name="Table 13">
            <a:extLst>
              <a:ext uri="{FF2B5EF4-FFF2-40B4-BE49-F238E27FC236}">
                <a16:creationId xmlns:a16="http://schemas.microsoft.com/office/drawing/2014/main" id="{1D4E5A4B-994D-487F-A1AF-8357A30FF192}"/>
              </a:ext>
            </a:extLst>
          </p:cNvPr>
          <p:cNvGraphicFramePr>
            <a:graphicFrameLocks noGrp="1"/>
          </p:cNvGraphicFramePr>
          <p:nvPr>
            <p:extLst>
              <p:ext uri="{D42A27DB-BD31-4B8C-83A1-F6EECF244321}">
                <p14:modId xmlns:p14="http://schemas.microsoft.com/office/powerpoint/2010/main" val="2481780136"/>
              </p:ext>
            </p:extLst>
          </p:nvPr>
        </p:nvGraphicFramePr>
        <p:xfrm>
          <a:off x="1105319" y="2056097"/>
          <a:ext cx="4873450" cy="33375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Balance Owed</a:t>
                      </a:r>
                    </a:p>
                  </a:txBody>
                  <a:tcPr/>
                </a:tc>
                <a:extLst>
                  <a:ext uri="{0D108BD9-81ED-4DB2-BD59-A6C34878D82A}">
                    <a16:rowId xmlns:a16="http://schemas.microsoft.com/office/drawing/2014/main" val="3070210636"/>
                  </a:ext>
                </a:extLst>
              </a:tr>
              <a:tr h="370840">
                <a:tc>
                  <a:txBody>
                    <a:bodyPr/>
                    <a:lstStyle/>
                    <a:p>
                      <a:r>
                        <a:rPr lang="en-US" dirty="0"/>
                        <a:t>Homer Corp. </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dirty="0"/>
                        <a:t>Shem Manufacturing</a:t>
                      </a:r>
                    </a:p>
                  </a:txBody>
                  <a:tcPr/>
                </a:tc>
                <a:tc>
                  <a:txBody>
                    <a:bodyPr/>
                    <a:lstStyle/>
                    <a:p>
                      <a:pPr algn="r"/>
                      <a:r>
                        <a:rPr lang="en-US" dirty="0"/>
                        <a:t>10,000</a:t>
                      </a:r>
                    </a:p>
                  </a:txBody>
                  <a:tcPr/>
                </a:tc>
                <a:extLst>
                  <a:ext uri="{0D108BD9-81ED-4DB2-BD59-A6C34878D82A}">
                    <a16:rowId xmlns:a16="http://schemas.microsoft.com/office/drawing/2014/main" val="3435893132"/>
                  </a:ext>
                </a:extLst>
              </a:tr>
              <a:tr h="370840">
                <a:tc>
                  <a:txBody>
                    <a:bodyPr/>
                    <a:lstStyle/>
                    <a:p>
                      <a:r>
                        <a:rPr lang="en-US" b="1" strike="sngStrike" dirty="0">
                          <a:solidFill>
                            <a:srgbClr val="FF0000"/>
                          </a:solidFill>
                        </a:rPr>
                        <a:t>Miah Inc.</a:t>
                      </a:r>
                    </a:p>
                  </a:txBody>
                  <a:tcPr/>
                </a:tc>
                <a:tc>
                  <a:txBody>
                    <a:bodyPr/>
                    <a:lstStyle/>
                    <a:p>
                      <a:pPr algn="r"/>
                      <a:r>
                        <a:rPr lang="en-US" b="1" strike="sngStrike" dirty="0">
                          <a:solidFill>
                            <a:srgbClr val="FF0000"/>
                          </a:solidFill>
                        </a:rPr>
                        <a:t>10,000</a:t>
                      </a:r>
                    </a:p>
                  </a:txBody>
                  <a:tcPr/>
                </a:tc>
                <a:extLst>
                  <a:ext uri="{0D108BD9-81ED-4DB2-BD59-A6C34878D82A}">
                    <a16:rowId xmlns:a16="http://schemas.microsoft.com/office/drawing/2014/main" val="2213925017"/>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3968566"/>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899150062"/>
                  </a:ext>
                </a:extLst>
              </a:tr>
              <a:tr h="370840">
                <a:tc>
                  <a:txBody>
                    <a:bodyPr/>
                    <a:lstStyle/>
                    <a:p>
                      <a:r>
                        <a:rPr lang="en-US" dirty="0"/>
                        <a:t>…</a:t>
                      </a:r>
                    </a:p>
                  </a:txBody>
                  <a:tcPr/>
                </a:tc>
                <a:tc>
                  <a:txBody>
                    <a:bodyPr/>
                    <a:lstStyle/>
                    <a:p>
                      <a:pPr algn="r"/>
                      <a:endParaRPr lang="en-US" dirty="0"/>
                    </a:p>
                  </a:txBody>
                  <a:tcPr/>
                </a:tc>
                <a:extLst>
                  <a:ext uri="{0D108BD9-81ED-4DB2-BD59-A6C34878D82A}">
                    <a16:rowId xmlns:a16="http://schemas.microsoft.com/office/drawing/2014/main" val="2821898709"/>
                  </a:ext>
                </a:extLst>
              </a:tr>
              <a:tr h="370840">
                <a:tc>
                  <a:txBody>
                    <a:bodyPr/>
                    <a:lstStyle/>
                    <a:p>
                      <a:r>
                        <a:rPr lang="en-US" u="sng" dirty="0"/>
                        <a:t>Keller Kompany</a:t>
                      </a:r>
                    </a:p>
                  </a:txBody>
                  <a:tcPr/>
                </a:tc>
                <a:tc>
                  <a:txBody>
                    <a:bodyPr/>
                    <a:lstStyle/>
                    <a:p>
                      <a:pPr algn="r"/>
                      <a:r>
                        <a:rPr lang="en-US" u="sng" dirty="0"/>
                        <a:t>10,000</a:t>
                      </a:r>
                    </a:p>
                  </a:txBody>
                  <a:tcPr/>
                </a:tc>
                <a:extLst>
                  <a:ext uri="{0D108BD9-81ED-4DB2-BD59-A6C34878D82A}">
                    <a16:rowId xmlns:a16="http://schemas.microsoft.com/office/drawing/2014/main" val="4291933562"/>
                  </a:ext>
                </a:extLst>
              </a:tr>
              <a:tr h="370840">
                <a:tc>
                  <a:txBody>
                    <a:bodyPr/>
                    <a:lstStyle/>
                    <a:p>
                      <a:r>
                        <a:rPr lang="en-US" dirty="0"/>
                        <a:t>Total</a:t>
                      </a:r>
                    </a:p>
                  </a:txBody>
                  <a:tcPr/>
                </a:tc>
                <a:tc>
                  <a:txBody>
                    <a:bodyPr/>
                    <a:lstStyle/>
                    <a:p>
                      <a:pPr algn="r"/>
                      <a:r>
                        <a:rPr lang="en-US" dirty="0"/>
                        <a:t>$4,990,000</a:t>
                      </a:r>
                    </a:p>
                  </a:txBody>
                  <a:tcPr/>
                </a:tc>
                <a:extLst>
                  <a:ext uri="{0D108BD9-81ED-4DB2-BD59-A6C34878D82A}">
                    <a16:rowId xmlns:a16="http://schemas.microsoft.com/office/drawing/2014/main" val="2795849537"/>
                  </a:ext>
                </a:extLst>
              </a:tr>
            </a:tbl>
          </a:graphicData>
        </a:graphic>
      </p:graphicFrame>
      <p:sp>
        <p:nvSpPr>
          <p:cNvPr id="14" name="TextBox 13">
            <a:extLst>
              <a:ext uri="{FF2B5EF4-FFF2-40B4-BE49-F238E27FC236}">
                <a16:creationId xmlns:a16="http://schemas.microsoft.com/office/drawing/2014/main" id="{865A71A4-3DFE-4F53-A3A1-3E0D67AFDA08}"/>
              </a:ext>
            </a:extLst>
          </p:cNvPr>
          <p:cNvSpPr txBox="1"/>
          <p:nvPr/>
        </p:nvSpPr>
        <p:spPr>
          <a:xfrm>
            <a:off x="1105319" y="1504070"/>
            <a:ext cx="1415772" cy="369332"/>
          </a:xfrm>
          <a:prstGeom prst="rect">
            <a:avLst/>
          </a:prstGeom>
          <a:noFill/>
        </p:spPr>
        <p:txBody>
          <a:bodyPr wrap="none" rtlCol="0">
            <a:spAutoFit/>
          </a:bodyPr>
          <a:lstStyle/>
          <a:p>
            <a:r>
              <a:rPr lang="en-US" b="1" u="sng" dirty="0"/>
              <a:t>A/R Ledger</a:t>
            </a:r>
          </a:p>
        </p:txBody>
      </p:sp>
      <p:sp>
        <p:nvSpPr>
          <p:cNvPr id="7" name="TextBox 6">
            <a:extLst>
              <a:ext uri="{FF2B5EF4-FFF2-40B4-BE49-F238E27FC236}">
                <a16:creationId xmlns:a16="http://schemas.microsoft.com/office/drawing/2014/main" id="{76C4E26A-2C14-4BFB-BBC6-FD263F4DD25F}"/>
              </a:ext>
            </a:extLst>
          </p:cNvPr>
          <p:cNvSpPr txBox="1"/>
          <p:nvPr/>
        </p:nvSpPr>
        <p:spPr>
          <a:xfrm>
            <a:off x="7020557" y="1497872"/>
            <a:ext cx="4600362" cy="369332"/>
          </a:xfrm>
          <a:prstGeom prst="rect">
            <a:avLst/>
          </a:prstGeom>
          <a:noFill/>
        </p:spPr>
        <p:txBody>
          <a:bodyPr wrap="none" rtlCol="0">
            <a:spAutoFit/>
          </a:bodyPr>
          <a:lstStyle/>
          <a:p>
            <a:r>
              <a:rPr lang="en-US" b="1" u="sng" dirty="0"/>
              <a:t>Allowance for Doubtful Accounts (B-XA)</a:t>
            </a:r>
          </a:p>
        </p:txBody>
      </p:sp>
      <p:graphicFrame>
        <p:nvGraphicFramePr>
          <p:cNvPr id="8" name="Table 13">
            <a:extLst>
              <a:ext uri="{FF2B5EF4-FFF2-40B4-BE49-F238E27FC236}">
                <a16:creationId xmlns:a16="http://schemas.microsoft.com/office/drawing/2014/main" id="{C9180879-D431-40BB-942D-F0DE18D89D89}"/>
              </a:ext>
            </a:extLst>
          </p:cNvPr>
          <p:cNvGraphicFramePr>
            <a:graphicFrameLocks noGrp="1"/>
          </p:cNvGraphicFramePr>
          <p:nvPr>
            <p:extLst>
              <p:ext uri="{D42A27DB-BD31-4B8C-83A1-F6EECF244321}">
                <p14:modId xmlns:p14="http://schemas.microsoft.com/office/powerpoint/2010/main" val="880852697"/>
              </p:ext>
            </p:extLst>
          </p:nvPr>
        </p:nvGraphicFramePr>
        <p:xfrm>
          <a:off x="6884013" y="2022568"/>
          <a:ext cx="4873450" cy="1483360"/>
        </p:xfrm>
        <a:graphic>
          <a:graphicData uri="http://schemas.openxmlformats.org/drawingml/2006/table">
            <a:tbl>
              <a:tblPr firstRow="1" bandRow="1">
                <a:tableStyleId>{5C22544A-7EE6-4342-B048-85BDC9FD1C3A}</a:tableStyleId>
              </a:tblPr>
              <a:tblGrid>
                <a:gridCol w="2436725">
                  <a:extLst>
                    <a:ext uri="{9D8B030D-6E8A-4147-A177-3AD203B41FA5}">
                      <a16:colId xmlns:a16="http://schemas.microsoft.com/office/drawing/2014/main" val="1842089026"/>
                    </a:ext>
                  </a:extLst>
                </a:gridCol>
                <a:gridCol w="2436725">
                  <a:extLst>
                    <a:ext uri="{9D8B030D-6E8A-4147-A177-3AD203B41FA5}">
                      <a16:colId xmlns:a16="http://schemas.microsoft.com/office/drawing/2014/main" val="412147477"/>
                    </a:ext>
                  </a:extLst>
                </a:gridCol>
              </a:tblGrid>
              <a:tr h="370840">
                <a:tc>
                  <a:txBody>
                    <a:bodyPr/>
                    <a:lstStyle/>
                    <a:p>
                      <a:pPr algn="ctr"/>
                      <a:r>
                        <a:rPr lang="en-US" dirty="0"/>
                        <a:t>Customer Name</a:t>
                      </a:r>
                    </a:p>
                  </a:txBody>
                  <a:tcPr/>
                </a:tc>
                <a:tc>
                  <a:txBody>
                    <a:bodyPr/>
                    <a:lstStyle/>
                    <a:p>
                      <a:pPr algn="ctr"/>
                      <a:r>
                        <a:rPr lang="en-US" dirty="0"/>
                        <a:t>Uncollectible</a:t>
                      </a:r>
                    </a:p>
                  </a:txBody>
                  <a:tcPr/>
                </a:tc>
                <a:extLst>
                  <a:ext uri="{0D108BD9-81ED-4DB2-BD59-A6C34878D82A}">
                    <a16:rowId xmlns:a16="http://schemas.microsoft.com/office/drawing/2014/main" val="3070210636"/>
                  </a:ext>
                </a:extLst>
              </a:tr>
              <a:tr h="370840">
                <a:tc>
                  <a:txBody>
                    <a:bodyPr/>
                    <a:lstStyle/>
                    <a:p>
                      <a:r>
                        <a:rPr lang="en-US" dirty="0"/>
                        <a:t>???</a:t>
                      </a:r>
                    </a:p>
                  </a:txBody>
                  <a:tcPr/>
                </a:tc>
                <a:tc>
                  <a:txBody>
                    <a:bodyPr/>
                    <a:lstStyle/>
                    <a:p>
                      <a:pPr algn="r"/>
                      <a:r>
                        <a:rPr lang="en-US" dirty="0"/>
                        <a:t>(10,000)</a:t>
                      </a:r>
                    </a:p>
                  </a:txBody>
                  <a:tcPr/>
                </a:tc>
                <a:extLst>
                  <a:ext uri="{0D108BD9-81ED-4DB2-BD59-A6C34878D82A}">
                    <a16:rowId xmlns:a16="http://schemas.microsoft.com/office/drawing/2014/main" val="1341578668"/>
                  </a:ext>
                </a:extLst>
              </a:tr>
              <a:tr h="370840">
                <a:tc>
                  <a:txBody>
                    <a:bodyPr/>
                    <a:lstStyle/>
                    <a:p>
                      <a:r>
                        <a:rPr lang="en-US" b="1" u="sng" strike="sngStrike" dirty="0">
                          <a:solidFill>
                            <a:srgbClr val="FF0000"/>
                          </a:solidFill>
                        </a:rPr>
                        <a:t>Miah Inc.</a:t>
                      </a:r>
                    </a:p>
                  </a:txBody>
                  <a:tcPr/>
                </a:tc>
                <a:tc>
                  <a:txBody>
                    <a:bodyPr/>
                    <a:lstStyle/>
                    <a:p>
                      <a:pPr algn="r"/>
                      <a:r>
                        <a:rPr lang="en-US" b="1" u="sng" strike="sngStrike" dirty="0">
                          <a:solidFill>
                            <a:srgbClr val="FF0000"/>
                          </a:solidFill>
                        </a:rPr>
                        <a:t>(10,000)</a:t>
                      </a:r>
                    </a:p>
                  </a:txBody>
                  <a:tcPr/>
                </a:tc>
                <a:extLst>
                  <a:ext uri="{0D108BD9-81ED-4DB2-BD59-A6C34878D82A}">
                    <a16:rowId xmlns:a16="http://schemas.microsoft.com/office/drawing/2014/main" val="3435893132"/>
                  </a:ext>
                </a:extLst>
              </a:tr>
              <a:tr h="370840">
                <a:tc>
                  <a:txBody>
                    <a:bodyPr/>
                    <a:lstStyle/>
                    <a:p>
                      <a:r>
                        <a:rPr lang="en-US" dirty="0"/>
                        <a:t>Total</a:t>
                      </a:r>
                    </a:p>
                  </a:txBody>
                  <a:tcPr/>
                </a:tc>
                <a:tc>
                  <a:txBody>
                    <a:bodyPr/>
                    <a:lstStyle/>
                    <a:p>
                      <a:pPr algn="r"/>
                      <a:r>
                        <a:rPr lang="en-US" dirty="0"/>
                        <a:t>(10,000)</a:t>
                      </a:r>
                    </a:p>
                  </a:txBody>
                  <a:tcPr/>
                </a:tc>
                <a:extLst>
                  <a:ext uri="{0D108BD9-81ED-4DB2-BD59-A6C34878D82A}">
                    <a16:rowId xmlns:a16="http://schemas.microsoft.com/office/drawing/2014/main" val="2213925017"/>
                  </a:ext>
                </a:extLst>
              </a:tr>
            </a:tbl>
          </a:graphicData>
        </a:graphic>
      </p:graphicFrame>
      <p:sp>
        <p:nvSpPr>
          <p:cNvPr id="9" name="TextBox 8">
            <a:extLst>
              <a:ext uri="{FF2B5EF4-FFF2-40B4-BE49-F238E27FC236}">
                <a16:creationId xmlns:a16="http://schemas.microsoft.com/office/drawing/2014/main" id="{43C84988-1171-4647-A2F9-34C789A69883}"/>
              </a:ext>
            </a:extLst>
          </p:cNvPr>
          <p:cNvSpPr txBox="1"/>
          <p:nvPr/>
        </p:nvSpPr>
        <p:spPr>
          <a:xfrm>
            <a:off x="560713" y="5686356"/>
            <a:ext cx="7613299" cy="954107"/>
          </a:xfrm>
          <a:prstGeom prst="rect">
            <a:avLst/>
          </a:prstGeom>
          <a:solidFill>
            <a:schemeClr val="accent4">
              <a:lumMod val="20000"/>
              <a:lumOff val="80000"/>
            </a:schemeClr>
          </a:solidFill>
          <a:ln>
            <a:solidFill>
              <a:schemeClr val="tx1"/>
            </a:solidFill>
          </a:ln>
        </p:spPr>
        <p:txBody>
          <a:bodyPr wrap="square" rtlCol="0">
            <a:spAutoFit/>
          </a:bodyPr>
          <a:lstStyle/>
          <a:p>
            <a:r>
              <a:rPr lang="en-US" sz="2800" dirty="0"/>
              <a:t>Remove the associated allowance (if the asset is gone, don’t need a reserve against it).</a:t>
            </a:r>
          </a:p>
        </p:txBody>
      </p:sp>
      <p:sp>
        <p:nvSpPr>
          <p:cNvPr id="5" name="TextBox 4">
            <a:extLst>
              <a:ext uri="{FF2B5EF4-FFF2-40B4-BE49-F238E27FC236}">
                <a16:creationId xmlns:a16="http://schemas.microsoft.com/office/drawing/2014/main" id="{84EC22D5-473D-4B10-9169-8E17C365F880}"/>
              </a:ext>
            </a:extLst>
          </p:cNvPr>
          <p:cNvSpPr txBox="1"/>
          <p:nvPr/>
        </p:nvSpPr>
        <p:spPr>
          <a:xfrm>
            <a:off x="6301209" y="3689542"/>
            <a:ext cx="5776910" cy="1477328"/>
          </a:xfrm>
          <a:prstGeom prst="rect">
            <a:avLst/>
          </a:prstGeom>
          <a:noFill/>
        </p:spPr>
        <p:txBody>
          <a:bodyPr wrap="square" rtlCol="0">
            <a:spAutoFit/>
          </a:bodyPr>
          <a:lstStyle/>
          <a:p>
            <a:r>
              <a:rPr lang="en-US" b="1" u="sng" dirty="0"/>
              <a:t>Journal Entry</a:t>
            </a:r>
            <a:endParaRPr lang="en-US" b="1" dirty="0"/>
          </a:p>
          <a:p>
            <a:endParaRPr lang="en-US" b="1" dirty="0"/>
          </a:p>
          <a:p>
            <a:r>
              <a:rPr lang="en-US" b="1" dirty="0"/>
              <a:t>	Dr. Allowance 		10,000</a:t>
            </a:r>
          </a:p>
          <a:p>
            <a:r>
              <a:rPr lang="en-US" b="1" dirty="0"/>
              <a:t>		Cr. Accounts Receivable 10,000		</a:t>
            </a:r>
          </a:p>
        </p:txBody>
      </p:sp>
      <p:cxnSp>
        <p:nvCxnSpPr>
          <p:cNvPr id="13" name="Straight Arrow Connector 12">
            <a:extLst>
              <a:ext uri="{FF2B5EF4-FFF2-40B4-BE49-F238E27FC236}">
                <a16:creationId xmlns:a16="http://schemas.microsoft.com/office/drawing/2014/main" id="{1BC3C570-642F-4B6B-867F-0074BF0BD854}"/>
              </a:ext>
            </a:extLst>
          </p:cNvPr>
          <p:cNvCxnSpPr>
            <a:cxnSpLocks/>
          </p:cNvCxnSpPr>
          <p:nvPr/>
        </p:nvCxnSpPr>
        <p:spPr>
          <a:xfrm flipV="1">
            <a:off x="6592610" y="4428206"/>
            <a:ext cx="582805" cy="1"/>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8E3C2C2-3BE3-52DA-5C67-291DFEE6F820}"/>
              </a:ext>
            </a:extLst>
          </p:cNvPr>
          <p:cNvSpPr txBox="1"/>
          <p:nvPr/>
        </p:nvSpPr>
        <p:spPr>
          <a:xfrm>
            <a:off x="8552329" y="5686357"/>
            <a:ext cx="3330807" cy="954107"/>
          </a:xfrm>
          <a:prstGeom prst="rect">
            <a:avLst/>
          </a:prstGeom>
          <a:solidFill>
            <a:schemeClr val="accent4">
              <a:lumMod val="20000"/>
              <a:lumOff val="80000"/>
            </a:schemeClr>
          </a:solidFill>
          <a:ln>
            <a:solidFill>
              <a:schemeClr val="tx1"/>
            </a:solidFill>
          </a:ln>
        </p:spPr>
        <p:txBody>
          <a:bodyPr wrap="square" rtlCol="0">
            <a:spAutoFit/>
          </a:bodyPr>
          <a:lstStyle/>
          <a:p>
            <a:pPr algn="ctr"/>
            <a:r>
              <a:rPr lang="en-US" sz="2800" b="1" dirty="0">
                <a:solidFill>
                  <a:srgbClr val="FF0000"/>
                </a:solidFill>
              </a:rPr>
              <a:t>Note: There is no Expense!</a:t>
            </a:r>
          </a:p>
        </p:txBody>
      </p:sp>
    </p:spTree>
    <p:extLst>
      <p:ext uri="{BB962C8B-B14F-4D97-AF65-F5344CB8AC3E}">
        <p14:creationId xmlns:p14="http://schemas.microsoft.com/office/powerpoint/2010/main" val="3007878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41CC-8390-43AB-A194-64491D5CC808}"/>
              </a:ext>
            </a:extLst>
          </p:cNvPr>
          <p:cNvSpPr>
            <a:spLocks noGrp="1"/>
          </p:cNvSpPr>
          <p:nvPr>
            <p:ph type="title"/>
          </p:nvPr>
        </p:nvSpPr>
        <p:spPr/>
        <p:txBody>
          <a:bodyPr/>
          <a:lstStyle/>
          <a:p>
            <a:r>
              <a:rPr lang="en-US" dirty="0"/>
              <a:t>Payment after write off?</a:t>
            </a:r>
          </a:p>
        </p:txBody>
      </p:sp>
      <p:pic>
        <p:nvPicPr>
          <p:cNvPr id="6" name="Picture 5">
            <a:extLst>
              <a:ext uri="{FF2B5EF4-FFF2-40B4-BE49-F238E27FC236}">
                <a16:creationId xmlns:a16="http://schemas.microsoft.com/office/drawing/2014/main" id="{ADE0888F-0125-46EE-A515-ED174BD74BD6}"/>
              </a:ext>
            </a:extLst>
          </p:cNvPr>
          <p:cNvPicPr>
            <a:picLocks noChangeAspect="1"/>
          </p:cNvPicPr>
          <p:nvPr/>
        </p:nvPicPr>
        <p:blipFill>
          <a:blip r:embed="rId2"/>
          <a:stretch>
            <a:fillRect/>
          </a:stretch>
        </p:blipFill>
        <p:spPr>
          <a:xfrm>
            <a:off x="3763620" y="1406224"/>
            <a:ext cx="7309106" cy="5365279"/>
          </a:xfrm>
          <a:prstGeom prst="rect">
            <a:avLst/>
          </a:prstGeom>
        </p:spPr>
      </p:pic>
      <p:sp>
        <p:nvSpPr>
          <p:cNvPr id="8" name="TextBox 7">
            <a:extLst>
              <a:ext uri="{FF2B5EF4-FFF2-40B4-BE49-F238E27FC236}">
                <a16:creationId xmlns:a16="http://schemas.microsoft.com/office/drawing/2014/main" id="{06D831B8-3BDA-4570-BD42-553B172838D9}"/>
              </a:ext>
            </a:extLst>
          </p:cNvPr>
          <p:cNvSpPr txBox="1"/>
          <p:nvPr/>
        </p:nvSpPr>
        <p:spPr>
          <a:xfrm>
            <a:off x="200947" y="4618710"/>
            <a:ext cx="3022100" cy="954107"/>
          </a:xfrm>
          <a:prstGeom prst="rect">
            <a:avLst/>
          </a:prstGeom>
          <a:noFill/>
        </p:spPr>
        <p:txBody>
          <a:bodyPr wrap="square" rtlCol="0">
            <a:spAutoFit/>
          </a:bodyPr>
          <a:lstStyle/>
          <a:p>
            <a:r>
              <a:rPr lang="en-US" sz="2800" b="1" dirty="0">
                <a:solidFill>
                  <a:srgbClr val="FF0000"/>
                </a:solidFill>
              </a:rPr>
              <a:t>Reverse the write-off</a:t>
            </a:r>
          </a:p>
        </p:txBody>
      </p:sp>
      <p:cxnSp>
        <p:nvCxnSpPr>
          <p:cNvPr id="9" name="Straight Arrow Connector 8">
            <a:extLst>
              <a:ext uri="{FF2B5EF4-FFF2-40B4-BE49-F238E27FC236}">
                <a16:creationId xmlns:a16="http://schemas.microsoft.com/office/drawing/2014/main" id="{EB8FC913-87F2-4F56-BD50-284BC288D584}"/>
              </a:ext>
            </a:extLst>
          </p:cNvPr>
          <p:cNvCxnSpPr>
            <a:cxnSpLocks/>
          </p:cNvCxnSpPr>
          <p:nvPr/>
        </p:nvCxnSpPr>
        <p:spPr>
          <a:xfrm>
            <a:off x="2945026" y="5095763"/>
            <a:ext cx="10155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32582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41CC-8390-43AB-A194-64491D5CC808}"/>
              </a:ext>
            </a:extLst>
          </p:cNvPr>
          <p:cNvSpPr>
            <a:spLocks noGrp="1"/>
          </p:cNvSpPr>
          <p:nvPr>
            <p:ph type="title"/>
          </p:nvPr>
        </p:nvSpPr>
        <p:spPr/>
        <p:txBody>
          <a:bodyPr/>
          <a:lstStyle/>
          <a:p>
            <a:r>
              <a:rPr lang="en-US" dirty="0"/>
              <a:t>Payment after write off?</a:t>
            </a:r>
          </a:p>
        </p:txBody>
      </p:sp>
      <p:pic>
        <p:nvPicPr>
          <p:cNvPr id="6" name="Picture 5">
            <a:extLst>
              <a:ext uri="{FF2B5EF4-FFF2-40B4-BE49-F238E27FC236}">
                <a16:creationId xmlns:a16="http://schemas.microsoft.com/office/drawing/2014/main" id="{ADE0888F-0125-46EE-A515-ED174BD74BD6}"/>
              </a:ext>
            </a:extLst>
          </p:cNvPr>
          <p:cNvPicPr>
            <a:picLocks noChangeAspect="1"/>
          </p:cNvPicPr>
          <p:nvPr/>
        </p:nvPicPr>
        <p:blipFill>
          <a:blip r:embed="rId2"/>
          <a:stretch>
            <a:fillRect/>
          </a:stretch>
        </p:blipFill>
        <p:spPr>
          <a:xfrm>
            <a:off x="3763620" y="1406224"/>
            <a:ext cx="7309106" cy="5365279"/>
          </a:xfrm>
          <a:prstGeom prst="rect">
            <a:avLst/>
          </a:prstGeom>
        </p:spPr>
      </p:pic>
      <p:sp>
        <p:nvSpPr>
          <p:cNvPr id="8" name="TextBox 7">
            <a:extLst>
              <a:ext uri="{FF2B5EF4-FFF2-40B4-BE49-F238E27FC236}">
                <a16:creationId xmlns:a16="http://schemas.microsoft.com/office/drawing/2014/main" id="{06D831B8-3BDA-4570-BD42-553B172838D9}"/>
              </a:ext>
            </a:extLst>
          </p:cNvPr>
          <p:cNvSpPr txBox="1"/>
          <p:nvPr/>
        </p:nvSpPr>
        <p:spPr>
          <a:xfrm>
            <a:off x="200947" y="5995691"/>
            <a:ext cx="3022100" cy="523220"/>
          </a:xfrm>
          <a:prstGeom prst="rect">
            <a:avLst/>
          </a:prstGeom>
          <a:noFill/>
        </p:spPr>
        <p:txBody>
          <a:bodyPr wrap="square" rtlCol="0">
            <a:spAutoFit/>
          </a:bodyPr>
          <a:lstStyle/>
          <a:p>
            <a:r>
              <a:rPr lang="en-US" sz="2800" b="1" dirty="0">
                <a:solidFill>
                  <a:srgbClr val="FF0000"/>
                </a:solidFill>
              </a:rPr>
              <a:t>Collect cash</a:t>
            </a:r>
          </a:p>
        </p:txBody>
      </p:sp>
      <p:cxnSp>
        <p:nvCxnSpPr>
          <p:cNvPr id="9" name="Straight Arrow Connector 8">
            <a:extLst>
              <a:ext uri="{FF2B5EF4-FFF2-40B4-BE49-F238E27FC236}">
                <a16:creationId xmlns:a16="http://schemas.microsoft.com/office/drawing/2014/main" id="{EB8FC913-87F2-4F56-BD50-284BC288D584}"/>
              </a:ext>
            </a:extLst>
          </p:cNvPr>
          <p:cNvCxnSpPr>
            <a:cxnSpLocks/>
          </p:cNvCxnSpPr>
          <p:nvPr/>
        </p:nvCxnSpPr>
        <p:spPr>
          <a:xfrm>
            <a:off x="2945026" y="6257301"/>
            <a:ext cx="10155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4519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26308-7F8B-40B0-81D3-F23D3350E6FB}"/>
              </a:ext>
            </a:extLst>
          </p:cNvPr>
          <p:cNvSpPr>
            <a:spLocks noGrp="1"/>
          </p:cNvSpPr>
          <p:nvPr>
            <p:ph type="title"/>
          </p:nvPr>
        </p:nvSpPr>
        <p:spPr/>
        <p:txBody>
          <a:bodyPr/>
          <a:lstStyle/>
          <a:p>
            <a:r>
              <a:rPr lang="en-US" dirty="0"/>
              <a:t>Go to handout…</a:t>
            </a:r>
          </a:p>
        </p:txBody>
      </p:sp>
      <p:sp>
        <p:nvSpPr>
          <p:cNvPr id="3" name="Content Placeholder 2">
            <a:extLst>
              <a:ext uri="{FF2B5EF4-FFF2-40B4-BE49-F238E27FC236}">
                <a16:creationId xmlns:a16="http://schemas.microsoft.com/office/drawing/2014/main" id="{70F914CF-B999-4906-8040-78A5DBA894C7}"/>
              </a:ext>
            </a:extLst>
          </p:cNvPr>
          <p:cNvSpPr>
            <a:spLocks noGrp="1"/>
          </p:cNvSpPr>
          <p:nvPr>
            <p:ph idx="1"/>
          </p:nvPr>
        </p:nvSpPr>
        <p:spPr/>
        <p:txBody>
          <a:bodyPr/>
          <a:lstStyle/>
          <a:p>
            <a:r>
              <a:rPr lang="en-US" dirty="0"/>
              <a:t>Problem #2</a:t>
            </a:r>
          </a:p>
          <a:p>
            <a:r>
              <a:rPr lang="en-US" dirty="0"/>
              <a:t>Problem #3</a:t>
            </a:r>
          </a:p>
        </p:txBody>
      </p:sp>
    </p:spTree>
    <p:extLst>
      <p:ext uri="{BB962C8B-B14F-4D97-AF65-F5344CB8AC3E}">
        <p14:creationId xmlns:p14="http://schemas.microsoft.com/office/powerpoint/2010/main" val="1377109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63E81-E4C8-440F-B9C1-A17B7AF2647D}"/>
              </a:ext>
            </a:extLst>
          </p:cNvPr>
          <p:cNvSpPr>
            <a:spLocks noGrp="1"/>
          </p:cNvSpPr>
          <p:nvPr>
            <p:ph type="title"/>
          </p:nvPr>
        </p:nvSpPr>
        <p:spPr/>
        <p:txBody>
          <a:bodyPr/>
          <a:lstStyle/>
          <a:p>
            <a:r>
              <a:rPr lang="en-US" dirty="0"/>
              <a:t>Closing Thoughts</a:t>
            </a:r>
          </a:p>
        </p:txBody>
      </p:sp>
      <p:sp>
        <p:nvSpPr>
          <p:cNvPr id="3" name="Content Placeholder 2">
            <a:extLst>
              <a:ext uri="{FF2B5EF4-FFF2-40B4-BE49-F238E27FC236}">
                <a16:creationId xmlns:a16="http://schemas.microsoft.com/office/drawing/2014/main" id="{A5631E46-49DD-49B8-85C8-381214F2C57B}"/>
              </a:ext>
            </a:extLst>
          </p:cNvPr>
          <p:cNvSpPr>
            <a:spLocks noGrp="1"/>
          </p:cNvSpPr>
          <p:nvPr>
            <p:ph idx="1"/>
          </p:nvPr>
        </p:nvSpPr>
        <p:spPr/>
        <p:txBody>
          <a:bodyPr>
            <a:normAutofit lnSpcReduction="10000"/>
          </a:bodyPr>
          <a:lstStyle/>
          <a:p>
            <a:r>
              <a:rPr lang="en-US" dirty="0"/>
              <a:t>Accounts Receivable is reported at the net realizable value (what will be collected)</a:t>
            </a:r>
          </a:p>
          <a:p>
            <a:endParaRPr lang="en-US" dirty="0"/>
          </a:p>
          <a:p>
            <a:r>
              <a:rPr lang="en-US" dirty="0"/>
              <a:t>Net realizable value is a combination of two accounts:</a:t>
            </a:r>
          </a:p>
          <a:p>
            <a:pPr lvl="1"/>
            <a:r>
              <a:rPr lang="en-US" dirty="0"/>
              <a:t>Accounts receivable (asset, what you are owed)</a:t>
            </a:r>
          </a:p>
          <a:p>
            <a:pPr lvl="1"/>
            <a:r>
              <a:rPr lang="en-US" dirty="0"/>
              <a:t>Allowance for doubtful accounts (contra-asset, estimate of what you won’t collect)</a:t>
            </a:r>
          </a:p>
          <a:p>
            <a:pPr lvl="1"/>
            <a:endParaRPr lang="en-US" dirty="0"/>
          </a:p>
          <a:p>
            <a:r>
              <a:rPr lang="en-US" dirty="0"/>
              <a:t>Write-offs do not affect the income statement or the net realizable value of A/R</a:t>
            </a:r>
          </a:p>
        </p:txBody>
      </p:sp>
    </p:spTree>
    <p:extLst>
      <p:ext uri="{BB962C8B-B14F-4D97-AF65-F5344CB8AC3E}">
        <p14:creationId xmlns:p14="http://schemas.microsoft.com/office/powerpoint/2010/main" val="24984148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2618</TotalTime>
  <Words>1771</Words>
  <Application>Microsoft Office PowerPoint</Application>
  <PresentationFormat>Widescreen</PresentationFormat>
  <Paragraphs>555</Paragraphs>
  <Slides>41</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Arial Black</vt:lpstr>
      <vt:lpstr>Calibri</vt:lpstr>
      <vt:lpstr>Roboto Condensed</vt:lpstr>
      <vt:lpstr>Times New Roman</vt:lpstr>
      <vt:lpstr>Office Theme</vt:lpstr>
      <vt:lpstr>PowerPoint Presentation</vt:lpstr>
      <vt:lpstr>Accounts Receivable  </vt:lpstr>
      <vt:lpstr>Accounts Receivable</vt:lpstr>
      <vt:lpstr>Accounting for Uncollectibles</vt:lpstr>
      <vt:lpstr>Tesla</vt:lpstr>
      <vt:lpstr>Excerpt from Apple’s Balance Sheet</vt:lpstr>
      <vt:lpstr>The problem…</vt:lpstr>
      <vt:lpstr>The problem…</vt:lpstr>
      <vt:lpstr>The problem…</vt:lpstr>
      <vt:lpstr>The problem…</vt:lpstr>
      <vt:lpstr>The problem…</vt:lpstr>
      <vt:lpstr>The problem…</vt:lpstr>
      <vt:lpstr>The problem…</vt:lpstr>
      <vt:lpstr>The problem…</vt:lpstr>
      <vt:lpstr>The problem…</vt:lpstr>
      <vt:lpstr>Allowance Method</vt:lpstr>
      <vt:lpstr>Allowance Method</vt:lpstr>
      <vt:lpstr>Allowance Method</vt:lpstr>
      <vt:lpstr>Allowance Method</vt:lpstr>
      <vt:lpstr>GAAP Reporting Rules for A/R</vt:lpstr>
      <vt:lpstr>Reporting</vt:lpstr>
      <vt:lpstr>Allowance Method in Detail</vt:lpstr>
      <vt:lpstr>Allowance Method in Detail</vt:lpstr>
      <vt:lpstr>Percentage of Sales</vt:lpstr>
      <vt:lpstr>Percentage of Sales</vt:lpstr>
      <vt:lpstr>Percentage of Sales</vt:lpstr>
      <vt:lpstr>Percentage of Receivables</vt:lpstr>
      <vt:lpstr>Percentage of Receivables</vt:lpstr>
      <vt:lpstr>Summary of methods</vt:lpstr>
      <vt:lpstr>In-Class Problem</vt:lpstr>
      <vt:lpstr>As Time Goes on…</vt:lpstr>
      <vt:lpstr>Write Offs</vt:lpstr>
      <vt:lpstr>Write Offs</vt:lpstr>
      <vt:lpstr>Write Offs</vt:lpstr>
      <vt:lpstr>Write Offs</vt:lpstr>
      <vt:lpstr>Write Offs</vt:lpstr>
      <vt:lpstr>Write Offs</vt:lpstr>
      <vt:lpstr>Payment after write off?</vt:lpstr>
      <vt:lpstr>Payment after write off?</vt:lpstr>
      <vt:lpstr>Go to handout…</vt:lpstr>
      <vt:lpstr>Closing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 Kubie</dc:creator>
  <cp:lastModifiedBy>Jeremiah Contreras</cp:lastModifiedBy>
  <cp:revision>130</cp:revision>
  <dcterms:created xsi:type="dcterms:W3CDTF">2016-01-26T18:12:20Z</dcterms:created>
  <dcterms:modified xsi:type="dcterms:W3CDTF">2025-10-01T02:40:04Z</dcterms:modified>
</cp:coreProperties>
</file>