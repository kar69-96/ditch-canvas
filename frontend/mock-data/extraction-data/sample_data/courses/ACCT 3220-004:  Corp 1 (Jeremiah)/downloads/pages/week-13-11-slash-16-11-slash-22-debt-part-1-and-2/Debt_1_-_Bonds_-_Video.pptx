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8"/>
    <p:restoredTop sz="86448"/>
  </p:normalViewPr>
  <p:slideViewPr>
    <p:cSldViewPr snapToGrid="0" snapToObjects="1">
      <p:cViewPr varScale="1">
        <p:scale>
          <a:sx n="66" d="100"/>
          <a:sy n="66" d="100"/>
        </p:scale>
        <p:origin x="45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E8D953EE-4AAC-4E76-AF9C-41860357E962}"/>
    <pc:docChg chg="delSld">
      <pc:chgData name="Jeremiah Contreras" userId="9ea49ee18badb19e" providerId="LiveId" clId="{E8D953EE-4AAC-4E76-AF9C-41860357E962}" dt="2022-11-16T13:35:54.227" v="1" actId="47"/>
      <pc:docMkLst>
        <pc:docMk/>
      </pc:docMkLst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1110762594" sldId="258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1435289167" sldId="264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4025641957" sldId="307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143861044" sldId="308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322375646" sldId="309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540326302" sldId="310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36543672" sldId="311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4133787848" sldId="312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25086993" sldId="313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970257386" sldId="314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913435703" sldId="315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674759889" sldId="316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833891785" sldId="317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675768496" sldId="318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933132291" sldId="319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1049942971" sldId="320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0510620" sldId="321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3569899353" sldId="322"/>
        </pc:sldMkLst>
      </pc:sldChg>
      <pc:sldChg chg="del">
        <pc:chgData name="Jeremiah Contreras" userId="9ea49ee18badb19e" providerId="LiveId" clId="{E8D953EE-4AAC-4E76-AF9C-41860357E962}" dt="2022-11-16T13:35:54.227" v="1" actId="47"/>
        <pc:sldMkLst>
          <pc:docMk/>
          <pc:sldMk cId="2251706097" sldId="323"/>
        </pc:sldMkLst>
      </pc:sldChg>
      <pc:sldChg chg="del">
        <pc:chgData name="Jeremiah Contreras" userId="9ea49ee18badb19e" providerId="LiveId" clId="{E8D953EE-4AAC-4E76-AF9C-41860357E962}" dt="2022-11-16T13:35:40.314" v="0" actId="47"/>
        <pc:sldMkLst>
          <pc:docMk/>
          <pc:sldMk cId="2474316893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1 - Video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84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42AB-99BA-4851-A916-89A02158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Non-Current Liabilities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64E22-2730-43DD-9510-1209090F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53"/>
            <a:ext cx="10515600" cy="39573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Non-current (or long-term) liabilities </a:t>
            </a:r>
            <a:r>
              <a:rPr lang="en-US" dirty="0"/>
              <a:t>are obligations due in more than one year.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5DF6B-6C21-46D8-B0C0-C2DC3E16B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45839"/>
            <a:ext cx="10795686" cy="40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8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1705-815A-42F6-88EC-820A778D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Payable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2C130-F5A6-4BEE-86BE-988715E7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Formal financing agreement with interest</a:t>
            </a:r>
          </a:p>
          <a:p>
            <a:endParaRPr lang="en-US" dirty="0"/>
          </a:p>
          <a:p>
            <a:pPr lvl="1"/>
            <a:r>
              <a:rPr lang="en-US" dirty="0"/>
              <a:t>Written promissory note that specifies amount(s) and timing of cash receipts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Can be issued to borrow cash or for specific asset acquisitions (e.g., PP&amp;E)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Measure carrying value (book value) at PV of cash flows </a:t>
            </a:r>
            <a:r>
              <a:rPr lang="en-US" b="1" dirty="0"/>
              <a:t>discounted by market rate</a:t>
            </a:r>
            <a:r>
              <a:rPr lang="en-US" dirty="0"/>
              <a:t> unless note is issued for asset and fair value is known.</a:t>
            </a:r>
          </a:p>
        </p:txBody>
      </p:sp>
    </p:spTree>
    <p:extLst>
      <p:ext uri="{BB962C8B-B14F-4D97-AF65-F5344CB8AC3E}">
        <p14:creationId xmlns:p14="http://schemas.microsoft.com/office/powerpoint/2010/main" val="37055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F27A-C6AB-4789-8B91-88F98F3C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Discount/Premium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E8BB9-6F24-4E35-B756-F6271690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1276350"/>
            <a:ext cx="8486775" cy="5581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6764FB-3395-41F3-AC7D-63B083D10ABE}"/>
              </a:ext>
            </a:extLst>
          </p:cNvPr>
          <p:cNvSpPr/>
          <p:nvPr/>
        </p:nvSpPr>
        <p:spPr>
          <a:xfrm>
            <a:off x="1940011" y="3064476"/>
            <a:ext cx="8279027" cy="1779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54EAF5-5EF6-4F00-BF87-FC382C3F5AD6}"/>
              </a:ext>
            </a:extLst>
          </p:cNvPr>
          <p:cNvSpPr/>
          <p:nvPr/>
        </p:nvSpPr>
        <p:spPr>
          <a:xfrm>
            <a:off x="1956485" y="5078627"/>
            <a:ext cx="8279027" cy="1779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stated interest of 8% 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(a) Record the journal entry for the note issuance.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1/1/2020		Cash (B-A)				50,000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Note Payable (B-L)		50,000</a:t>
            </a:r>
          </a:p>
        </p:txBody>
      </p:sp>
    </p:spTree>
    <p:extLst>
      <p:ext uri="{BB962C8B-B14F-4D97-AF65-F5344CB8AC3E}">
        <p14:creationId xmlns:p14="http://schemas.microsoft.com/office/powerpoint/2010/main" val="60187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stated interest of 8% 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(b) Record the interest expense journal entry on Dec. 31, 2020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12/31/2020		Interest Exp. (I-E)		4,000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	4,000</a:t>
            </a:r>
          </a:p>
        </p:txBody>
      </p:sp>
    </p:spTree>
    <p:extLst>
      <p:ext uri="{BB962C8B-B14F-4D97-AF65-F5344CB8AC3E}">
        <p14:creationId xmlns:p14="http://schemas.microsoft.com/office/powerpoint/2010/main" val="184434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stated interest of 8% 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(c) Record the repayment of principal on Dec. 31, 2022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12/31/2022		Note Payable (B-L)		50,000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	50,000</a:t>
            </a:r>
          </a:p>
        </p:txBody>
      </p:sp>
    </p:spTree>
    <p:extLst>
      <p:ext uri="{BB962C8B-B14F-4D97-AF65-F5344CB8AC3E}">
        <p14:creationId xmlns:p14="http://schemas.microsoft.com/office/powerpoint/2010/main" val="89057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060"/>
            <a:ext cx="10515600" cy="4735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January 1, 2020, Philippe Inc. issued a three-year, $50,000 </a:t>
            </a:r>
            <a:r>
              <a:rPr lang="en-US" dirty="0">
                <a:solidFill>
                  <a:srgbClr val="C00000"/>
                </a:solidFill>
              </a:rPr>
              <a:t>zero-interest bearing</a:t>
            </a:r>
            <a:r>
              <a:rPr lang="en-US" dirty="0"/>
              <a:t> note to Maurice Banking.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(a) Record the journal entry for the note issuance.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1/1/2020		Cash (B-A)				39,692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Discount on N/P (B-XL)	10,308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Note Payable (B-L)		50,000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C020C-3B5D-4181-88A6-CA6A62F4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938" y="94890"/>
            <a:ext cx="3582671" cy="196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6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575"/>
            <a:ext cx="10515600" cy="42430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January 1, 2020, Philippe Inc. issued a three-year, $50,000 </a:t>
            </a:r>
            <a:r>
              <a:rPr lang="en-US" dirty="0">
                <a:solidFill>
                  <a:srgbClr val="C00000"/>
                </a:solidFill>
              </a:rPr>
              <a:t>zero-interest bearing </a:t>
            </a:r>
            <a:r>
              <a:rPr lang="en-US" dirty="0"/>
              <a:t>note to Maurice Banking.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(b) Record the interest expense journal entry on Dec. 31, 2020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12/31/2020		Interest Exp. (I-E)		3,175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Discount on N/P (B-XL)	3,175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8827F-E4BE-4786-8F65-49F661C5C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5" y="25400"/>
            <a:ext cx="50006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9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1227"/>
            <a:ext cx="10515600" cy="3957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January 1, 2020, Philippe Inc. issued a three-year, $50,000 </a:t>
            </a:r>
            <a:r>
              <a:rPr lang="en-US" dirty="0">
                <a:solidFill>
                  <a:srgbClr val="C00000"/>
                </a:solidFill>
              </a:rPr>
              <a:t>zero-interest bearing </a:t>
            </a:r>
            <a:r>
              <a:rPr lang="en-US" dirty="0"/>
              <a:t>note to Maurice Banking.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(c) Record the repayment of principal on Dec. 31, 2022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12/31/2022		Note Payable (B-L)		50,000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	50,000</a:t>
            </a:r>
          </a:p>
        </p:txBody>
      </p:sp>
    </p:spTree>
    <p:extLst>
      <p:ext uri="{BB962C8B-B14F-4D97-AF65-F5344CB8AC3E}">
        <p14:creationId xmlns:p14="http://schemas.microsoft.com/office/powerpoint/2010/main" val="62572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1903"/>
            <a:ext cx="10515600" cy="4735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</a:t>
            </a:r>
            <a:r>
              <a:rPr lang="en-US" dirty="0">
                <a:solidFill>
                  <a:srgbClr val="C00000"/>
                </a:solidFill>
              </a:rPr>
              <a:t>stated interest of 10% </a:t>
            </a:r>
            <a:r>
              <a:rPr lang="en-US" dirty="0"/>
              <a:t>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(a) Record the journal entry for the note issuance.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1/1/2020		Cash (B-A)				52,577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Premium on N/P (B-L)		2,577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Note Payable (B-L)		50,000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16230-5FD7-4888-AC41-E488565CB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763" y="0"/>
            <a:ext cx="3716816" cy="238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7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6879"/>
            <a:ext cx="10515600" cy="4431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</a:t>
            </a:r>
            <a:r>
              <a:rPr lang="en-US" dirty="0">
                <a:solidFill>
                  <a:srgbClr val="C00000"/>
                </a:solidFill>
              </a:rPr>
              <a:t>stated interest of 10% </a:t>
            </a:r>
            <a:r>
              <a:rPr lang="en-US" dirty="0"/>
              <a:t>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(b) Record the interest expense journal entry on Dec. 31, 2020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12/31/2020		Interest Exp. (I-E)		4,206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Premium on N/P (B-L)		794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	5,000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11E66B-314B-4CBF-B15F-493DF61A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575" y="0"/>
            <a:ext cx="49244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5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49E7-E029-472E-B7D1-4A78CB3E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EA81-F4EF-46B2-96BC-260E850D4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7127"/>
            <a:ext cx="10515600" cy="39573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 January 1, 2020, Philippe Inc. issued a three-year, $50,000 note to Maurice Banking, with a </a:t>
            </a:r>
            <a:r>
              <a:rPr lang="en-US" dirty="0">
                <a:solidFill>
                  <a:srgbClr val="C00000"/>
                </a:solidFill>
              </a:rPr>
              <a:t>stated interest of 10% </a:t>
            </a:r>
            <a:r>
              <a:rPr lang="en-US" dirty="0"/>
              <a:t>to be paid annually on December 31. The prevailing market rate is 8%.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(c) Record the repayment of principal on Dec. 31, 2022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12/31/2022		Note Payable (B-L)		50,000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		Cash (B-A)				50,000</a:t>
            </a:r>
          </a:p>
        </p:txBody>
      </p:sp>
    </p:spTree>
    <p:extLst>
      <p:ext uri="{BB962C8B-B14F-4D97-AF65-F5344CB8AC3E}">
        <p14:creationId xmlns:p14="http://schemas.microsoft.com/office/powerpoint/2010/main" val="19456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CB2B-2504-4ADA-BCD9-EBF8353F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D9BC-8EB2-4562-84C8-BC264C808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5AAFD-772A-4FEB-965F-531221F9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62" y="2008832"/>
            <a:ext cx="95059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7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232F-FD90-4BE2-A3B8-FBF5A035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Notes Payable Issued for Non-Cash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A6F78-3088-4B95-B8CE-7B2AE6A60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receiving cash, note is exchanged for a non-cash item (goods or services)</a:t>
            </a:r>
          </a:p>
          <a:p>
            <a:endParaRPr lang="en-US" dirty="0"/>
          </a:p>
          <a:p>
            <a:r>
              <a:rPr lang="en-US" dirty="0"/>
              <a:t>At issuance, measure carrying value (book value) of N/P at:</a:t>
            </a:r>
          </a:p>
          <a:p>
            <a:pPr lvl="1"/>
            <a:r>
              <a:rPr lang="en-US" dirty="0"/>
              <a:t>First choice: fair value of non-cash item</a:t>
            </a:r>
          </a:p>
          <a:p>
            <a:pPr lvl="1"/>
            <a:r>
              <a:rPr lang="en-US" dirty="0"/>
              <a:t>Otherwise, PV of future cash flows</a:t>
            </a:r>
          </a:p>
          <a:p>
            <a:pPr lvl="1"/>
            <a:endParaRPr lang="en-US" dirty="0"/>
          </a:p>
          <a:p>
            <a:r>
              <a:rPr lang="en-US" dirty="0"/>
              <a:t>Record asset received at carrying value of note payable</a:t>
            </a:r>
          </a:p>
        </p:txBody>
      </p:sp>
    </p:spTree>
    <p:extLst>
      <p:ext uri="{BB962C8B-B14F-4D97-AF65-F5344CB8AC3E}">
        <p14:creationId xmlns:p14="http://schemas.microsoft.com/office/powerpoint/2010/main" val="251460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5461E-8F26-483F-B466-A66E00BD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1340-C663-4B4A-A0A8-FB44F894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Bond payables and note payables are measured at present value of future cash flows </a:t>
            </a:r>
            <a:r>
              <a:rPr lang="en-US"/>
              <a:t>at issuance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Notes issued for non-cash items (like PP&amp;E) are measured at fair value of item (or PV of future cash flows if fair value unknown)</a:t>
            </a:r>
          </a:p>
          <a:p>
            <a:endParaRPr lang="en-US" dirty="0"/>
          </a:p>
          <a:p>
            <a:r>
              <a:rPr lang="en-US" dirty="0"/>
              <a:t>Notes and bonds can be issued at pay, premium, or discount.</a:t>
            </a:r>
          </a:p>
        </p:txBody>
      </p:sp>
    </p:spTree>
    <p:extLst>
      <p:ext uri="{BB962C8B-B14F-4D97-AF65-F5344CB8AC3E}">
        <p14:creationId xmlns:p14="http://schemas.microsoft.com/office/powerpoint/2010/main" val="3442127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52ABA-48AD-41C4-B6D5-52DBF7B1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CA8F881-7542-4CB3-829A-6BB5356B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257800"/>
            <a:ext cx="9864091" cy="16002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Non-Current Liabilities Part 1 - Video</a:t>
            </a:r>
            <a:endParaRPr kumimoji="0" lang="en-US" altLang="en-US" sz="3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030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3988</TotalTime>
  <Words>974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Non-Current Liabilities</vt:lpstr>
      <vt:lpstr>Note Payable</vt:lpstr>
      <vt:lpstr>Review of Discount/Premium</vt:lpstr>
      <vt:lpstr>Example 1</vt:lpstr>
      <vt:lpstr>Example 1</vt:lpstr>
      <vt:lpstr>Example 1</vt:lpstr>
      <vt:lpstr>Example 2</vt:lpstr>
      <vt:lpstr>Example 2</vt:lpstr>
      <vt:lpstr>Example 2</vt:lpstr>
      <vt:lpstr>Example 3</vt:lpstr>
      <vt:lpstr>Example 3</vt:lpstr>
      <vt:lpstr>Example 3</vt:lpstr>
      <vt:lpstr>Summary of Examples</vt:lpstr>
      <vt:lpstr>Notes Payable Issued for Non-Cash Consideration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178</cp:revision>
  <dcterms:created xsi:type="dcterms:W3CDTF">2016-01-26T18:12:20Z</dcterms:created>
  <dcterms:modified xsi:type="dcterms:W3CDTF">2022-11-16T13:35:59Z</dcterms:modified>
</cp:coreProperties>
</file>