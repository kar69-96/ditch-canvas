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95" r:id="rId2"/>
    <p:sldId id="261" r:id="rId3"/>
    <p:sldId id="262" r:id="rId4"/>
    <p:sldId id="288" r:id="rId5"/>
    <p:sldId id="302" r:id="rId6"/>
    <p:sldId id="263" r:id="rId7"/>
    <p:sldId id="259" r:id="rId8"/>
    <p:sldId id="260" r:id="rId9"/>
    <p:sldId id="303" r:id="rId10"/>
    <p:sldId id="304" r:id="rId11"/>
    <p:sldId id="305" r:id="rId12"/>
    <p:sldId id="306" r:id="rId13"/>
    <p:sldId id="307" r:id="rId14"/>
    <p:sldId id="30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53" autoAdjust="0"/>
    <p:restoredTop sz="86448"/>
  </p:normalViewPr>
  <p:slideViewPr>
    <p:cSldViewPr snapToGrid="0" snapToObjects="1">
      <p:cViewPr varScale="1">
        <p:scale>
          <a:sx n="66" d="100"/>
          <a:sy n="66" d="100"/>
        </p:scale>
        <p:origin x="45" y="15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DFA3FE43-F1F2-40EB-A469-408E80DE9D76}"/>
    <pc:docChg chg="delSld">
      <pc:chgData name="Jeremiah Contreras" userId="9ea49ee18badb19e" providerId="LiveId" clId="{DFA3FE43-F1F2-40EB-A469-408E80DE9D76}" dt="2022-11-04T19:31:08.274" v="0" actId="47"/>
      <pc:docMkLst>
        <pc:docMk/>
      </pc:docMkLst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3999335786" sldId="264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4208526311" sldId="265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313911783" sldId="267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777451255" sldId="268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4139056566" sldId="271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277372225" sldId="272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3359677185" sldId="273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2412452370" sldId="277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3137532981" sldId="282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1905863908" sldId="284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584643371" sldId="285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3394867802" sldId="286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3962307298" sldId="287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3573813301" sldId="296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4180627208" sldId="301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3835523718" sldId="309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273269869" sldId="310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124795475" sldId="311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595913554" sldId="312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1480334881" sldId="313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812358462" sldId="314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1513002646" sldId="315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2948736734" sldId="316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231494492" sldId="317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2257729544" sldId="318"/>
        </pc:sldMkLst>
      </pc:sldChg>
      <pc:sldChg chg="del">
        <pc:chgData name="Jeremiah Contreras" userId="9ea49ee18badb19e" providerId="LiveId" clId="{DFA3FE43-F1F2-40EB-A469-408E80DE9D76}" dt="2022-11-04T19:31:08.274" v="0" actId="47"/>
        <pc:sldMkLst>
          <pc:docMk/>
          <pc:sldMk cId="1127686710" sldId="31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43BCEA-DE22-4F99-8BC7-89931856CA18}" type="doc">
      <dgm:prSet loTypeId="urn:microsoft.com/office/officeart/2009/layout/CircleArrowProcess" loCatId="cycle" qsTypeId="urn:microsoft.com/office/officeart/2005/8/quickstyle/simple4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97A8F4C3-3721-471A-B6EF-7CD301DB4238}">
      <dgm:prSet phldrT="[Text]"/>
      <dgm:spPr/>
      <dgm:t>
        <a:bodyPr/>
        <a:lstStyle/>
        <a:p>
          <a:r>
            <a:rPr lang="en-US" dirty="0"/>
            <a:t>Inventory ↑ </a:t>
          </a:r>
          <a:br>
            <a:rPr lang="en-US" dirty="0"/>
          </a:br>
          <a:r>
            <a:rPr lang="en-US" dirty="0"/>
            <a:t>A/P ↑</a:t>
          </a:r>
        </a:p>
      </dgm:t>
    </dgm:pt>
    <dgm:pt modelId="{35F51B10-303D-4344-86C1-2C7D04224B23}" type="parTrans" cxnId="{A6F6B7B8-E768-4156-AE81-20BFD35B0EE2}">
      <dgm:prSet/>
      <dgm:spPr/>
      <dgm:t>
        <a:bodyPr/>
        <a:lstStyle/>
        <a:p>
          <a:endParaRPr lang="en-US"/>
        </a:p>
      </dgm:t>
    </dgm:pt>
    <dgm:pt modelId="{0A900F18-3098-4DF4-9918-7440177EB4EB}" type="sibTrans" cxnId="{A6F6B7B8-E768-4156-AE81-20BFD35B0EE2}">
      <dgm:prSet/>
      <dgm:spPr/>
      <dgm:t>
        <a:bodyPr/>
        <a:lstStyle/>
        <a:p>
          <a:endParaRPr lang="en-US"/>
        </a:p>
      </dgm:t>
    </dgm:pt>
    <dgm:pt modelId="{DDC4A43E-9651-4F14-AEF9-00E9D5B82E5B}">
      <dgm:prSet phldrT="[Text]"/>
      <dgm:spPr/>
      <dgm:t>
        <a:bodyPr/>
        <a:lstStyle/>
        <a:p>
          <a:r>
            <a:rPr lang="en-US" dirty="0"/>
            <a:t>Inventory ↓</a:t>
          </a:r>
          <a:br>
            <a:rPr lang="en-US" dirty="0"/>
          </a:br>
          <a:r>
            <a:rPr lang="en-US" dirty="0"/>
            <a:t>Cash ↑</a:t>
          </a:r>
        </a:p>
      </dgm:t>
    </dgm:pt>
    <dgm:pt modelId="{BFA1D423-3C32-43C0-9CB0-6E290F88F28D}" type="parTrans" cxnId="{EAB5D625-2EDD-4D09-BB43-23DCC78FAC6F}">
      <dgm:prSet/>
      <dgm:spPr/>
      <dgm:t>
        <a:bodyPr/>
        <a:lstStyle/>
        <a:p>
          <a:endParaRPr lang="en-US"/>
        </a:p>
      </dgm:t>
    </dgm:pt>
    <dgm:pt modelId="{9E15C91E-5AFF-48E6-8D05-936A3FBBD0C6}" type="sibTrans" cxnId="{EAB5D625-2EDD-4D09-BB43-23DCC78FAC6F}">
      <dgm:prSet/>
      <dgm:spPr/>
      <dgm:t>
        <a:bodyPr/>
        <a:lstStyle/>
        <a:p>
          <a:endParaRPr lang="en-US"/>
        </a:p>
      </dgm:t>
    </dgm:pt>
    <dgm:pt modelId="{8D9272A0-FA27-46A0-8865-B5F8F372B1C8}">
      <dgm:prSet phldrT="[Text]"/>
      <dgm:spPr/>
      <dgm:t>
        <a:bodyPr/>
        <a:lstStyle/>
        <a:p>
          <a:r>
            <a:rPr lang="en-US" dirty="0"/>
            <a:t>Cash ↓</a:t>
          </a:r>
          <a:br>
            <a:rPr lang="en-US" dirty="0"/>
          </a:br>
          <a:r>
            <a:rPr lang="en-US" dirty="0"/>
            <a:t>A/P ↓</a:t>
          </a:r>
        </a:p>
      </dgm:t>
    </dgm:pt>
    <dgm:pt modelId="{811C70E0-7D6B-46BA-B691-4F51C8F9F029}" type="parTrans" cxnId="{4CEEFD98-A685-46CD-A945-FFE18487653D}">
      <dgm:prSet/>
      <dgm:spPr/>
      <dgm:t>
        <a:bodyPr/>
        <a:lstStyle/>
        <a:p>
          <a:endParaRPr lang="en-US"/>
        </a:p>
      </dgm:t>
    </dgm:pt>
    <dgm:pt modelId="{CFB0C000-48F4-4EA6-845B-F7A3855403B5}" type="sibTrans" cxnId="{4CEEFD98-A685-46CD-A945-FFE18487653D}">
      <dgm:prSet/>
      <dgm:spPr/>
      <dgm:t>
        <a:bodyPr/>
        <a:lstStyle/>
        <a:p>
          <a:endParaRPr lang="en-US"/>
        </a:p>
      </dgm:t>
    </dgm:pt>
    <dgm:pt modelId="{19F59D6A-EC20-4DCA-A9FE-62CB27432558}" type="pres">
      <dgm:prSet presAssocID="{D043BCEA-DE22-4F99-8BC7-89931856CA18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6D28EF72-2DDC-4465-B5EA-6C8785BA5593}" type="pres">
      <dgm:prSet presAssocID="{97A8F4C3-3721-471A-B6EF-7CD301DB4238}" presName="Accent1" presStyleCnt="0"/>
      <dgm:spPr/>
    </dgm:pt>
    <dgm:pt modelId="{3CA705AC-B999-4441-99B5-4B28A8EF3221}" type="pres">
      <dgm:prSet presAssocID="{97A8F4C3-3721-471A-B6EF-7CD301DB4238}" presName="Accent" presStyleLbl="node1" presStyleIdx="0" presStyleCnt="3"/>
      <dgm:spPr/>
    </dgm:pt>
    <dgm:pt modelId="{04007B08-E626-4B50-A772-04368E41A60C}" type="pres">
      <dgm:prSet presAssocID="{97A8F4C3-3721-471A-B6EF-7CD301DB4238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A3903FBB-562B-409B-944F-D75CBC768095}" type="pres">
      <dgm:prSet presAssocID="{DDC4A43E-9651-4F14-AEF9-00E9D5B82E5B}" presName="Accent2" presStyleCnt="0"/>
      <dgm:spPr/>
    </dgm:pt>
    <dgm:pt modelId="{1E8FB749-4C2C-48F5-A50B-FFFED6D16526}" type="pres">
      <dgm:prSet presAssocID="{DDC4A43E-9651-4F14-AEF9-00E9D5B82E5B}" presName="Accent" presStyleLbl="node1" presStyleIdx="1" presStyleCnt="3"/>
      <dgm:spPr/>
    </dgm:pt>
    <dgm:pt modelId="{5F4F6A4A-1D13-4447-929E-22B197AD6A66}" type="pres">
      <dgm:prSet presAssocID="{DDC4A43E-9651-4F14-AEF9-00E9D5B82E5B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30A089F8-451A-4CCD-9CB5-43FCD4936741}" type="pres">
      <dgm:prSet presAssocID="{8D9272A0-FA27-46A0-8865-B5F8F372B1C8}" presName="Accent3" presStyleCnt="0"/>
      <dgm:spPr/>
    </dgm:pt>
    <dgm:pt modelId="{6A50A805-87CC-4D5F-A625-691146D973C9}" type="pres">
      <dgm:prSet presAssocID="{8D9272A0-FA27-46A0-8865-B5F8F372B1C8}" presName="Accent" presStyleLbl="node1" presStyleIdx="2" presStyleCnt="3"/>
      <dgm:spPr/>
    </dgm:pt>
    <dgm:pt modelId="{065E50B8-3507-47AC-BC47-1979B01CA7F1}" type="pres">
      <dgm:prSet presAssocID="{8D9272A0-FA27-46A0-8865-B5F8F372B1C8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EAB5D625-2EDD-4D09-BB43-23DCC78FAC6F}" srcId="{D043BCEA-DE22-4F99-8BC7-89931856CA18}" destId="{DDC4A43E-9651-4F14-AEF9-00E9D5B82E5B}" srcOrd="1" destOrd="0" parTransId="{BFA1D423-3C32-43C0-9CB0-6E290F88F28D}" sibTransId="{9E15C91E-5AFF-48E6-8D05-936A3FBBD0C6}"/>
    <dgm:cxn modelId="{28B5B792-DB6A-44F7-B1B2-CC5EAB7BA4F1}" type="presOf" srcId="{97A8F4C3-3721-471A-B6EF-7CD301DB4238}" destId="{04007B08-E626-4B50-A772-04368E41A60C}" srcOrd="0" destOrd="0" presId="urn:microsoft.com/office/officeart/2009/layout/CircleArrowProcess"/>
    <dgm:cxn modelId="{4CEEFD98-A685-46CD-A945-FFE18487653D}" srcId="{D043BCEA-DE22-4F99-8BC7-89931856CA18}" destId="{8D9272A0-FA27-46A0-8865-B5F8F372B1C8}" srcOrd="2" destOrd="0" parTransId="{811C70E0-7D6B-46BA-B691-4F51C8F9F029}" sibTransId="{CFB0C000-48F4-4EA6-845B-F7A3855403B5}"/>
    <dgm:cxn modelId="{A6F6B7B8-E768-4156-AE81-20BFD35B0EE2}" srcId="{D043BCEA-DE22-4F99-8BC7-89931856CA18}" destId="{97A8F4C3-3721-471A-B6EF-7CD301DB4238}" srcOrd="0" destOrd="0" parTransId="{35F51B10-303D-4344-86C1-2C7D04224B23}" sibTransId="{0A900F18-3098-4DF4-9918-7440177EB4EB}"/>
    <dgm:cxn modelId="{FCD737CA-0D8E-4B83-9559-B4475D78A795}" type="presOf" srcId="{8D9272A0-FA27-46A0-8865-B5F8F372B1C8}" destId="{065E50B8-3507-47AC-BC47-1979B01CA7F1}" srcOrd="0" destOrd="0" presId="urn:microsoft.com/office/officeart/2009/layout/CircleArrowProcess"/>
    <dgm:cxn modelId="{3AEDE6CB-FA04-4D13-A775-50BEE4D0B29D}" type="presOf" srcId="{D043BCEA-DE22-4F99-8BC7-89931856CA18}" destId="{19F59D6A-EC20-4DCA-A9FE-62CB27432558}" srcOrd="0" destOrd="0" presId="urn:microsoft.com/office/officeart/2009/layout/CircleArrowProcess"/>
    <dgm:cxn modelId="{23C6B1D5-F0B7-4BCA-88F3-C045B911C2CD}" type="presOf" srcId="{DDC4A43E-9651-4F14-AEF9-00E9D5B82E5B}" destId="{5F4F6A4A-1D13-4447-929E-22B197AD6A66}" srcOrd="0" destOrd="0" presId="urn:microsoft.com/office/officeart/2009/layout/CircleArrowProcess"/>
    <dgm:cxn modelId="{B33B09AA-F0AA-43A5-A0C6-3098B91C0EC1}" type="presParOf" srcId="{19F59D6A-EC20-4DCA-A9FE-62CB27432558}" destId="{6D28EF72-2DDC-4465-B5EA-6C8785BA5593}" srcOrd="0" destOrd="0" presId="urn:microsoft.com/office/officeart/2009/layout/CircleArrowProcess"/>
    <dgm:cxn modelId="{74EBC715-A286-4BA3-AC27-304DE6CE7D33}" type="presParOf" srcId="{6D28EF72-2DDC-4465-B5EA-6C8785BA5593}" destId="{3CA705AC-B999-4441-99B5-4B28A8EF3221}" srcOrd="0" destOrd="0" presId="urn:microsoft.com/office/officeart/2009/layout/CircleArrowProcess"/>
    <dgm:cxn modelId="{84F1B182-D637-4B2D-B2EC-5CF3E513154C}" type="presParOf" srcId="{19F59D6A-EC20-4DCA-A9FE-62CB27432558}" destId="{04007B08-E626-4B50-A772-04368E41A60C}" srcOrd="1" destOrd="0" presId="urn:microsoft.com/office/officeart/2009/layout/CircleArrowProcess"/>
    <dgm:cxn modelId="{1B2C3071-677B-43D6-AF40-7051FB0D4FF8}" type="presParOf" srcId="{19F59D6A-EC20-4DCA-A9FE-62CB27432558}" destId="{A3903FBB-562B-409B-944F-D75CBC768095}" srcOrd="2" destOrd="0" presId="urn:microsoft.com/office/officeart/2009/layout/CircleArrowProcess"/>
    <dgm:cxn modelId="{19A7AFB3-9A4F-44DF-998C-D1E0E363632F}" type="presParOf" srcId="{A3903FBB-562B-409B-944F-D75CBC768095}" destId="{1E8FB749-4C2C-48F5-A50B-FFFED6D16526}" srcOrd="0" destOrd="0" presId="urn:microsoft.com/office/officeart/2009/layout/CircleArrowProcess"/>
    <dgm:cxn modelId="{0D303E60-0F21-4CB6-AAEE-A92612E0ABA1}" type="presParOf" srcId="{19F59D6A-EC20-4DCA-A9FE-62CB27432558}" destId="{5F4F6A4A-1D13-4447-929E-22B197AD6A66}" srcOrd="3" destOrd="0" presId="urn:microsoft.com/office/officeart/2009/layout/CircleArrowProcess"/>
    <dgm:cxn modelId="{AE62F8BB-C304-4136-956F-DE9A1733EE08}" type="presParOf" srcId="{19F59D6A-EC20-4DCA-A9FE-62CB27432558}" destId="{30A089F8-451A-4CCD-9CB5-43FCD4936741}" srcOrd="4" destOrd="0" presId="urn:microsoft.com/office/officeart/2009/layout/CircleArrowProcess"/>
    <dgm:cxn modelId="{05864E78-C553-434A-96C6-85C05390BB56}" type="presParOf" srcId="{30A089F8-451A-4CCD-9CB5-43FCD4936741}" destId="{6A50A805-87CC-4D5F-A625-691146D973C9}" srcOrd="0" destOrd="0" presId="urn:microsoft.com/office/officeart/2009/layout/CircleArrowProcess"/>
    <dgm:cxn modelId="{0F89622E-AF01-4F3F-8BA4-479252D4CFD1}" type="presParOf" srcId="{19F59D6A-EC20-4DCA-A9FE-62CB27432558}" destId="{065E50B8-3507-47AC-BC47-1979B01CA7F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A705AC-B999-4441-99B5-4B28A8EF3221}">
      <dsp:nvSpPr>
        <dsp:cNvPr id="0" name=""/>
        <dsp:cNvSpPr/>
      </dsp:nvSpPr>
      <dsp:spPr>
        <a:xfrm>
          <a:off x="2341595" y="0"/>
          <a:ext cx="1956111" cy="195640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007B08-E626-4B50-A772-04368E41A60C}">
      <dsp:nvSpPr>
        <dsp:cNvPr id="0" name=""/>
        <dsp:cNvSpPr/>
      </dsp:nvSpPr>
      <dsp:spPr>
        <a:xfrm>
          <a:off x="2773960" y="706323"/>
          <a:ext cx="1086973" cy="54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Inventory ↑ </a:t>
          </a:r>
          <a:br>
            <a:rPr lang="en-US" sz="1700" kern="1200" dirty="0"/>
          </a:br>
          <a:r>
            <a:rPr lang="en-US" sz="1700" kern="1200" dirty="0"/>
            <a:t>A/P ↑</a:t>
          </a:r>
        </a:p>
      </dsp:txBody>
      <dsp:txXfrm>
        <a:off x="2773960" y="706323"/>
        <a:ext cx="1086973" cy="543356"/>
      </dsp:txXfrm>
    </dsp:sp>
    <dsp:sp modelId="{1E8FB749-4C2C-48F5-A50B-FFFED6D16526}">
      <dsp:nvSpPr>
        <dsp:cNvPr id="0" name=""/>
        <dsp:cNvSpPr/>
      </dsp:nvSpPr>
      <dsp:spPr>
        <a:xfrm>
          <a:off x="1798292" y="1124102"/>
          <a:ext cx="1956111" cy="195640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5">
                <a:shade val="80000"/>
                <a:hueOff val="174641"/>
                <a:satOff val="-3128"/>
                <a:lumOff val="1329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shade val="80000"/>
                <a:hueOff val="174641"/>
                <a:satOff val="-3128"/>
                <a:lumOff val="1329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shade val="80000"/>
                <a:hueOff val="174641"/>
                <a:satOff val="-3128"/>
                <a:lumOff val="1329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4F6A4A-1D13-4447-929E-22B197AD6A66}">
      <dsp:nvSpPr>
        <dsp:cNvPr id="0" name=""/>
        <dsp:cNvSpPr/>
      </dsp:nvSpPr>
      <dsp:spPr>
        <a:xfrm>
          <a:off x="2232861" y="1836927"/>
          <a:ext cx="1086973" cy="54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Inventory ↓</a:t>
          </a:r>
          <a:br>
            <a:rPr lang="en-US" sz="1700" kern="1200" dirty="0"/>
          </a:br>
          <a:r>
            <a:rPr lang="en-US" sz="1700" kern="1200" dirty="0"/>
            <a:t>Cash ↑</a:t>
          </a:r>
        </a:p>
      </dsp:txBody>
      <dsp:txXfrm>
        <a:off x="2232861" y="1836927"/>
        <a:ext cx="1086973" cy="543356"/>
      </dsp:txXfrm>
    </dsp:sp>
    <dsp:sp modelId="{6A50A805-87CC-4D5F-A625-691146D973C9}">
      <dsp:nvSpPr>
        <dsp:cNvPr id="0" name=""/>
        <dsp:cNvSpPr/>
      </dsp:nvSpPr>
      <dsp:spPr>
        <a:xfrm>
          <a:off x="2480819" y="2382723"/>
          <a:ext cx="1680603" cy="1681276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gradFill rotWithShape="0">
          <a:gsLst>
            <a:gs pos="0">
              <a:schemeClr val="accent5">
                <a:shade val="80000"/>
                <a:hueOff val="349283"/>
                <a:satOff val="-6256"/>
                <a:lumOff val="2658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shade val="80000"/>
                <a:hueOff val="349283"/>
                <a:satOff val="-6256"/>
                <a:lumOff val="2658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shade val="80000"/>
                <a:hueOff val="349283"/>
                <a:satOff val="-6256"/>
                <a:lumOff val="2658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5E50B8-3507-47AC-BC47-1979B01CA7F1}">
      <dsp:nvSpPr>
        <dsp:cNvPr id="0" name=""/>
        <dsp:cNvSpPr/>
      </dsp:nvSpPr>
      <dsp:spPr>
        <a:xfrm>
          <a:off x="2776532" y="2969158"/>
          <a:ext cx="1086973" cy="54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Cash ↓</a:t>
          </a:r>
          <a:br>
            <a:rPr lang="en-US" sz="1700" kern="1200" dirty="0"/>
          </a:br>
          <a:r>
            <a:rPr lang="en-US" sz="1700" kern="1200" dirty="0"/>
            <a:t>A/P ↓</a:t>
          </a:r>
        </a:p>
      </dsp:txBody>
      <dsp:txXfrm>
        <a:off x="2776532" y="2969158"/>
        <a:ext cx="1086973" cy="5433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97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1163" y="700088"/>
            <a:ext cx="6200775" cy="34893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5038" y="4422775"/>
            <a:ext cx="515302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930" tIns="46966" rIns="93930" bIns="46966"/>
          <a:lstStyle/>
          <a:p>
            <a:r>
              <a:rPr lang="en-US" altLang="en-US"/>
              <a:t>Re. (4), we will talk about contingent obligations next week</a:t>
            </a:r>
          </a:p>
        </p:txBody>
      </p:sp>
    </p:spTree>
    <p:extLst>
      <p:ext uri="{BB962C8B-B14F-4D97-AF65-F5344CB8AC3E}">
        <p14:creationId xmlns:p14="http://schemas.microsoft.com/office/powerpoint/2010/main" val="4144006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698500"/>
            <a:ext cx="6203950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88244" tIns="44121" rIns="88244" bIns="44121"/>
          <a:lstStyle/>
          <a:p>
            <a:pPr>
              <a:defRPr/>
            </a:pPr>
            <a:r>
              <a:rPr lang="en-US" dirty="0"/>
              <a:t>Separate based on either</a:t>
            </a:r>
          </a:p>
          <a:p>
            <a:pPr marL="219373" indent="-219373">
              <a:buFontTx/>
              <a:buAutoNum type="arabicParenR"/>
              <a:defRPr/>
            </a:pPr>
            <a:r>
              <a:rPr lang="en-US" dirty="0"/>
              <a:t>When the obligation must be filled or </a:t>
            </a:r>
          </a:p>
          <a:p>
            <a:pPr marL="219373" indent="-219373">
              <a:buFontTx/>
              <a:buAutoNum type="arabicParenR"/>
              <a:defRPr/>
            </a:pPr>
            <a:r>
              <a:rPr lang="en-US" dirty="0"/>
              <a:t>The type of asset used to fulfill the obligation</a:t>
            </a:r>
          </a:p>
        </p:txBody>
      </p:sp>
    </p:spTree>
    <p:extLst>
      <p:ext uri="{BB962C8B-B14F-4D97-AF65-F5344CB8AC3E}">
        <p14:creationId xmlns:p14="http://schemas.microsoft.com/office/powerpoint/2010/main" val="2260537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9147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4237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6913"/>
            <a:ext cx="6207125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9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2" tIns="45952" rIns="91902" bIns="45952"/>
          <a:lstStyle/>
          <a:p>
            <a:r>
              <a:rPr lang="en-US" altLang="en-US"/>
              <a:t>Numbers are in MILLIONS. A/P makes up nearly 60% of current liabilities, nearly 40% of all liabilities.</a:t>
            </a:r>
          </a:p>
        </p:txBody>
      </p:sp>
    </p:spTree>
    <p:extLst>
      <p:ext uri="{BB962C8B-B14F-4D97-AF65-F5344CB8AC3E}">
        <p14:creationId xmlns:p14="http://schemas.microsoft.com/office/powerpoint/2010/main" val="1834756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66250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Current Liabilities and Contingencies - Video</a:t>
            </a:r>
          </a:p>
        </p:txBody>
      </p:sp>
      <p:pic>
        <p:nvPicPr>
          <p:cNvPr id="4" name="Picture 2" descr="Electrical Current Definition">
            <a:extLst>
              <a:ext uri="{FF2B5EF4-FFF2-40B4-BE49-F238E27FC236}">
                <a16:creationId xmlns:a16="http://schemas.microsoft.com/office/drawing/2014/main" id="{D114901E-2394-4013-B7A9-548247AE8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08" y="662333"/>
            <a:ext cx="6122992" cy="389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Ocean current | Britannica">
            <a:extLst>
              <a:ext uri="{FF2B5EF4-FFF2-40B4-BE49-F238E27FC236}">
                <a16:creationId xmlns:a16="http://schemas.microsoft.com/office/drawing/2014/main" id="{AE1D6FD4-2A2C-410D-8B03-D1A84A5D6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08" y="662333"/>
            <a:ext cx="7711324" cy="389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What Are Currants and How Are They Used?">
            <a:extLst>
              <a:ext uri="{FF2B5EF4-FFF2-40B4-BE49-F238E27FC236}">
                <a16:creationId xmlns:a16="http://schemas.microsoft.com/office/drawing/2014/main" id="{91D572C1-A025-4DE7-9B74-A433E2894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08" y="327973"/>
            <a:ext cx="4725992" cy="472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C37827-767E-4CBC-901A-4C07E5E7C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" y="962181"/>
            <a:ext cx="5924874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3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 liability?</a:t>
            </a:r>
          </a:p>
        </p:txBody>
      </p:sp>
      <p:sp>
        <p:nvSpPr>
          <p:cNvPr id="33796" name="Content Placeholder 1"/>
          <p:cNvSpPr>
            <a:spLocks noGrp="1"/>
          </p:cNvSpPr>
          <p:nvPr>
            <p:ph idx="1"/>
          </p:nvPr>
        </p:nvSpPr>
        <p:spPr>
          <a:xfrm>
            <a:off x="838201" y="1531939"/>
            <a:ext cx="10782300" cy="4830360"/>
          </a:xfrm>
        </p:spPr>
        <p:txBody>
          <a:bodyPr/>
          <a:lstStyle/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en-US" sz="2400" u="sng" dirty="0">
                <a:solidFill>
                  <a:srgbClr val="000000"/>
                </a:solidFill>
              </a:rPr>
              <a:t>Definition</a:t>
            </a:r>
            <a:r>
              <a:rPr lang="en-US" altLang="en-US" sz="2400" dirty="0">
                <a:solidFill>
                  <a:srgbClr val="000000"/>
                </a:solidFill>
              </a:rPr>
              <a:t>:</a:t>
            </a:r>
          </a:p>
          <a:p>
            <a:pPr marL="0" lvl="1" indent="0">
              <a:spcBef>
                <a:spcPct val="50000"/>
              </a:spcBef>
              <a:buNone/>
              <a:defRPr/>
            </a:pPr>
            <a:r>
              <a:rPr lang="en-US" altLang="en-US" i="1" dirty="0">
                <a:solidFill>
                  <a:srgbClr val="000000"/>
                </a:solidFill>
              </a:rPr>
              <a:t>Probable future sacrifice of resources arising from a current obligation to transfer assets/services as a result of a past event</a:t>
            </a:r>
            <a:r>
              <a:rPr lang="en-US" altLang="en-US" dirty="0">
                <a:solidFill>
                  <a:srgbClr val="000000"/>
                </a:solidFill>
              </a:rPr>
              <a:t>.</a:t>
            </a:r>
          </a:p>
          <a:p>
            <a:pPr marL="0" indent="0">
              <a:spcBef>
                <a:spcPct val="50000"/>
              </a:spcBef>
              <a:buNone/>
              <a:defRPr/>
            </a:pPr>
            <a:endParaRPr lang="en-US" altLang="en-US" sz="2400" u="sng" dirty="0">
              <a:solidFill>
                <a:srgbClr val="000000"/>
              </a:solidFill>
            </a:endParaRPr>
          </a:p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en-US" sz="2400" u="sng" dirty="0">
                <a:solidFill>
                  <a:srgbClr val="000000"/>
                </a:solidFill>
              </a:rPr>
              <a:t>Recognize if there is a</a:t>
            </a:r>
            <a:r>
              <a:rPr lang="en-US" altLang="en-US" sz="2400" dirty="0">
                <a:solidFill>
                  <a:srgbClr val="000000"/>
                </a:solidFill>
              </a:rPr>
              <a:t>:</a:t>
            </a:r>
          </a:p>
          <a:p>
            <a:pPr marL="574675">
              <a:spcBef>
                <a:spcPts val="6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Firm </a:t>
            </a:r>
            <a:r>
              <a:rPr lang="en-US" altLang="en-US" sz="2400" i="1" u="sng" dirty="0">
                <a:solidFill>
                  <a:srgbClr val="000000"/>
                </a:solidFill>
              </a:rPr>
              <a:t>currently</a:t>
            </a:r>
            <a:r>
              <a:rPr lang="en-US" altLang="en-US" sz="2400" i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has an obligation</a:t>
            </a:r>
          </a:p>
          <a:p>
            <a:pPr marL="574675">
              <a:spcBef>
                <a:spcPts val="6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The obligation resulted from a </a:t>
            </a:r>
            <a:r>
              <a:rPr lang="en-US" altLang="en-US" sz="2400" i="1" u="sng" dirty="0">
                <a:solidFill>
                  <a:srgbClr val="000000"/>
                </a:solidFill>
              </a:rPr>
              <a:t>past</a:t>
            </a:r>
            <a:r>
              <a:rPr lang="en-US" altLang="en-US" sz="2400" i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transaction or event</a:t>
            </a:r>
          </a:p>
          <a:p>
            <a:pPr marL="574675">
              <a:spcBef>
                <a:spcPts val="6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The obligation requires the outlay of a probable </a:t>
            </a:r>
            <a:r>
              <a:rPr lang="en-US" altLang="en-US" sz="2400" i="1" u="sng" dirty="0">
                <a:solidFill>
                  <a:srgbClr val="000000"/>
                </a:solidFill>
              </a:rPr>
              <a:t>future</a:t>
            </a:r>
            <a:r>
              <a:rPr lang="en-US" altLang="en-US" sz="2400" dirty="0">
                <a:solidFill>
                  <a:srgbClr val="000000"/>
                </a:solidFill>
              </a:rPr>
              <a:t> resource</a:t>
            </a:r>
          </a:p>
          <a:p>
            <a:pPr marL="574675">
              <a:spcBef>
                <a:spcPts val="6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The amount is </a:t>
            </a:r>
            <a:r>
              <a:rPr lang="en-US" altLang="en-US" sz="2400" i="1" dirty="0">
                <a:solidFill>
                  <a:srgbClr val="000000"/>
                </a:solidFill>
              </a:rPr>
              <a:t>quantifiable/measurable </a:t>
            </a:r>
            <a:r>
              <a:rPr lang="en-US" altLang="en-US" sz="2400" dirty="0">
                <a:solidFill>
                  <a:srgbClr val="000000"/>
                </a:solidFill>
              </a:rPr>
              <a:t>(“estimable”)</a:t>
            </a:r>
            <a:endParaRPr lang="en-US" altLang="en-US" sz="2400" i="1" dirty="0">
              <a:solidFill>
                <a:srgbClr val="000000"/>
              </a:solidFill>
            </a:endParaRPr>
          </a:p>
          <a:p>
            <a:pPr marL="395288" lvl="1" indent="0">
              <a:spcBef>
                <a:spcPct val="50000"/>
              </a:spcBef>
              <a:buNone/>
              <a:defRPr/>
            </a:pPr>
            <a:endParaRPr lang="en-US" alt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815514" y="6248400"/>
            <a:ext cx="8524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E36386-7FFC-496B-9BE3-708B6BFED53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505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Liability </a:t>
            </a:r>
            <a:r>
              <a:rPr lang="en-US" altLang="en-US" dirty="0"/>
              <a:t>Classification by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026" y="1531938"/>
            <a:ext cx="10975874" cy="4629150"/>
          </a:xfrm>
        </p:spPr>
        <p:txBody>
          <a:bodyPr rtlCol="0">
            <a:normAutofit/>
          </a:bodyPr>
          <a:lstStyle/>
          <a:p>
            <a:pPr marL="0" indent="0">
              <a:spcBef>
                <a:spcPct val="40000"/>
              </a:spcBef>
              <a:spcAft>
                <a:spcPct val="400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</a:rPr>
              <a:t>Liabilities are separated into </a:t>
            </a:r>
            <a:r>
              <a:rPr lang="en-US" sz="2400" i="1" dirty="0">
                <a:solidFill>
                  <a:srgbClr val="000000"/>
                </a:solidFill>
              </a:rPr>
              <a:t>current</a:t>
            </a:r>
            <a:r>
              <a:rPr lang="en-US" sz="2400" dirty="0">
                <a:solidFill>
                  <a:srgbClr val="000000"/>
                </a:solidFill>
              </a:rPr>
              <a:t> and </a:t>
            </a:r>
            <a:r>
              <a:rPr lang="en-US" sz="2400" i="1" dirty="0">
                <a:solidFill>
                  <a:srgbClr val="000000"/>
                </a:solidFill>
              </a:rPr>
              <a:t>noncurrent</a:t>
            </a:r>
            <a:r>
              <a:rPr lang="en-US" sz="2400" dirty="0">
                <a:solidFill>
                  <a:srgbClr val="000000"/>
                </a:solidFill>
              </a:rPr>
              <a:t> based on when the obligation must be fulfilled.</a:t>
            </a:r>
          </a:p>
          <a:p>
            <a:pPr marL="225425" indent="-225425">
              <a:spcBef>
                <a:spcPct val="40000"/>
              </a:spcBef>
              <a:spcAft>
                <a:spcPct val="40000"/>
              </a:spcAft>
              <a:defRPr/>
            </a:pPr>
            <a:r>
              <a:rPr lang="en-US" sz="2000" i="1" u="sng" dirty="0">
                <a:solidFill>
                  <a:srgbClr val="000000"/>
                </a:solidFill>
              </a:rPr>
              <a:t>Current liabilities</a:t>
            </a:r>
            <a:r>
              <a:rPr lang="en-US" sz="2000" dirty="0">
                <a:solidFill>
                  <a:srgbClr val="000000"/>
                </a:solidFill>
              </a:rPr>
              <a:t>: obligations due within the current operating cycle (generally one year).</a:t>
            </a:r>
          </a:p>
          <a:p>
            <a:pPr marL="796925" lvl="1" indent="-334963">
              <a:spcBef>
                <a:spcPct val="40000"/>
              </a:spcBef>
              <a:spcAft>
                <a:spcPct val="40000"/>
              </a:spcAft>
              <a:buFont typeface="Wingdings" panose="05000000000000000000" pitchFamily="2" charset="2"/>
              <a:buChar char="ü"/>
              <a:defRPr/>
            </a:pPr>
            <a:r>
              <a:rPr lang="en-US" sz="1800" dirty="0">
                <a:solidFill>
                  <a:srgbClr val="000000"/>
                </a:solidFill>
              </a:rPr>
              <a:t>Classify as noncurrent if intend and able to refinance</a:t>
            </a:r>
          </a:p>
          <a:p>
            <a:pPr marL="796925" lvl="1" indent="-334963">
              <a:spcBef>
                <a:spcPct val="40000"/>
              </a:spcBef>
              <a:spcAft>
                <a:spcPct val="40000"/>
              </a:spcAft>
              <a:buFont typeface="Wingdings" panose="05000000000000000000" pitchFamily="2" charset="2"/>
              <a:buChar char="ü"/>
              <a:defRPr/>
            </a:pPr>
            <a:endParaRPr lang="en-US" sz="1800" dirty="0">
              <a:solidFill>
                <a:srgbClr val="000000"/>
              </a:solidFill>
            </a:endParaRPr>
          </a:p>
          <a:p>
            <a:pPr marL="225425" indent="-225425">
              <a:spcBef>
                <a:spcPct val="40000"/>
              </a:spcBef>
              <a:spcAft>
                <a:spcPct val="40000"/>
              </a:spcAft>
              <a:defRPr/>
            </a:pPr>
            <a:r>
              <a:rPr lang="en-US" sz="2000" i="1" u="sng" dirty="0">
                <a:solidFill>
                  <a:srgbClr val="000000"/>
                </a:solidFill>
              </a:rPr>
              <a:t>Non-current liabilities</a:t>
            </a:r>
            <a:r>
              <a:rPr lang="en-US" sz="2000" dirty="0">
                <a:solidFill>
                  <a:srgbClr val="000000"/>
                </a:solidFill>
              </a:rPr>
              <a:t>: obligations that do not need to be fulfilled within the current operating cycle.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739314" y="6248400"/>
            <a:ext cx="9286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36F333-5507-41D0-B0F5-8141E7DBFE5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73A48B-565B-4C32-9153-8F4D9E7D66A9}"/>
              </a:ext>
            </a:extLst>
          </p:cNvPr>
          <p:cNvSpPr txBox="1"/>
          <p:nvPr/>
        </p:nvSpPr>
        <p:spPr>
          <a:xfrm>
            <a:off x="2307211" y="4432724"/>
            <a:ext cx="8209503" cy="22467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Important Note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liability could be split into current and non-current!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Obligations with periodic payments (e.g., a mortgage) may be noncurrent but have a current portion.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0241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liabilities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82"/>
            <a:ext cx="10515600" cy="46375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 cover:</a:t>
            </a:r>
          </a:p>
          <a:p>
            <a:pPr lvl="1"/>
            <a:r>
              <a:rPr lang="en-US" dirty="0"/>
              <a:t>Accounts payable</a:t>
            </a:r>
          </a:p>
          <a:p>
            <a:pPr lvl="1"/>
            <a:r>
              <a:rPr lang="en-US" dirty="0"/>
              <a:t>Sales tax payable</a:t>
            </a:r>
          </a:p>
          <a:p>
            <a:pPr lvl="1"/>
            <a:r>
              <a:rPr lang="en-US" dirty="0"/>
              <a:t>Gift cards</a:t>
            </a:r>
          </a:p>
          <a:p>
            <a:pPr lvl="1"/>
            <a:r>
              <a:rPr lang="en-US" dirty="0"/>
              <a:t>Warranties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Other current liabilities (not exhaustive):</a:t>
            </a:r>
          </a:p>
          <a:p>
            <a:pPr lvl="1"/>
            <a:r>
              <a:rPr lang="en-US" dirty="0"/>
              <a:t>Wages</a:t>
            </a:r>
          </a:p>
          <a:p>
            <a:pPr lvl="1"/>
            <a:r>
              <a:rPr lang="en-US" dirty="0"/>
              <a:t>Payroll taxes</a:t>
            </a:r>
          </a:p>
          <a:p>
            <a:pPr lvl="1"/>
            <a:r>
              <a:rPr lang="en-US" dirty="0"/>
              <a:t>Current portion of long-term debt</a:t>
            </a:r>
          </a:p>
          <a:p>
            <a:pPr lvl="1"/>
            <a:r>
              <a:rPr lang="en-US" dirty="0"/>
              <a:t>Dividends payable</a:t>
            </a:r>
          </a:p>
          <a:p>
            <a:pPr lvl="1"/>
            <a:r>
              <a:rPr lang="en-US" dirty="0"/>
              <a:t>Salaries payable</a:t>
            </a:r>
          </a:p>
          <a:p>
            <a:pPr lvl="1"/>
            <a:r>
              <a:rPr lang="en-US" dirty="0"/>
              <a:t>Unearned revenue</a:t>
            </a:r>
          </a:p>
        </p:txBody>
      </p:sp>
    </p:spTree>
    <p:extLst>
      <p:ext uri="{BB962C8B-B14F-4D97-AF65-F5344CB8AC3E}">
        <p14:creationId xmlns:p14="http://schemas.microsoft.com/office/powerpoint/2010/main" val="185140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liabilities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82"/>
            <a:ext cx="10515600" cy="46375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 cover: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Accounts payable</a:t>
            </a:r>
          </a:p>
          <a:p>
            <a:pPr lvl="1"/>
            <a:r>
              <a:rPr lang="en-US" dirty="0"/>
              <a:t>Sales tax payable</a:t>
            </a:r>
          </a:p>
          <a:p>
            <a:pPr lvl="1"/>
            <a:r>
              <a:rPr lang="en-US" dirty="0"/>
              <a:t>Gift cards</a:t>
            </a:r>
          </a:p>
          <a:p>
            <a:pPr lvl="1"/>
            <a:r>
              <a:rPr lang="en-US" dirty="0"/>
              <a:t>Warranties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Other current liabilities (not exhaustive):</a:t>
            </a:r>
          </a:p>
          <a:p>
            <a:pPr lvl="1"/>
            <a:r>
              <a:rPr lang="en-US" dirty="0"/>
              <a:t>Wages</a:t>
            </a:r>
          </a:p>
          <a:p>
            <a:pPr lvl="1"/>
            <a:r>
              <a:rPr lang="en-US" dirty="0"/>
              <a:t>Payroll taxes</a:t>
            </a:r>
          </a:p>
          <a:p>
            <a:pPr lvl="1"/>
            <a:r>
              <a:rPr lang="en-US" dirty="0"/>
              <a:t>Current portion of long-term debt</a:t>
            </a:r>
          </a:p>
          <a:p>
            <a:pPr lvl="1"/>
            <a:r>
              <a:rPr lang="en-US" dirty="0"/>
              <a:t>Dividends payable</a:t>
            </a:r>
          </a:p>
          <a:p>
            <a:pPr lvl="1"/>
            <a:r>
              <a:rPr lang="en-US" dirty="0"/>
              <a:t>Salaries payable</a:t>
            </a:r>
          </a:p>
          <a:p>
            <a:pPr lvl="1"/>
            <a:r>
              <a:rPr lang="en-US" dirty="0"/>
              <a:t>Unearned revenue</a:t>
            </a:r>
          </a:p>
        </p:txBody>
      </p:sp>
    </p:spTree>
    <p:extLst>
      <p:ext uri="{BB962C8B-B14F-4D97-AF65-F5344CB8AC3E}">
        <p14:creationId xmlns:p14="http://schemas.microsoft.com/office/powerpoint/2010/main" val="94170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Accounts payable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838201" y="1682751"/>
            <a:ext cx="8826500" cy="499674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altLang="en-US" sz="2400" b="1" dirty="0"/>
              <a:t>Accounts payable </a:t>
            </a:r>
            <a:r>
              <a:rPr lang="en-US" altLang="en-US" sz="2400" dirty="0"/>
              <a:t>are promises by the company (purchaser) to pay for goods or services.</a:t>
            </a:r>
          </a:p>
          <a:p>
            <a:pPr>
              <a:spcAft>
                <a:spcPts val="1200"/>
              </a:spcAft>
            </a:pPr>
            <a:endParaRPr lang="en-US" altLang="en-US" sz="2400" dirty="0"/>
          </a:p>
          <a:p>
            <a:pPr>
              <a:spcAft>
                <a:spcPts val="1200"/>
              </a:spcAft>
            </a:pPr>
            <a:r>
              <a:rPr lang="en-US" altLang="en-US" sz="2400" dirty="0"/>
              <a:t>Usually open line of credit with no interest.</a:t>
            </a:r>
          </a:p>
          <a:p>
            <a:pPr>
              <a:spcAft>
                <a:spcPts val="1200"/>
              </a:spcAft>
            </a:pPr>
            <a:endParaRPr lang="en-US" altLang="en-US" sz="2400" dirty="0"/>
          </a:p>
          <a:p>
            <a:pPr>
              <a:spcAft>
                <a:spcPts val="1200"/>
              </a:spcAft>
            </a:pPr>
            <a:r>
              <a:rPr lang="en-US" altLang="en-US" sz="2400" dirty="0"/>
              <a:t>Initial measurement of payable may be affected by purchase discounts (think 2/10, n/30).</a:t>
            </a:r>
          </a:p>
          <a:p>
            <a:pPr lvl="1">
              <a:spcAft>
                <a:spcPts val="1200"/>
              </a:spcAft>
            </a:pPr>
            <a:r>
              <a:rPr lang="en-US" altLang="en-US" sz="2000" dirty="0"/>
              <a:t>Mirror image of accounts receivable</a:t>
            </a:r>
          </a:p>
        </p:txBody>
      </p:sp>
      <p:pic>
        <p:nvPicPr>
          <p:cNvPr id="1026" name="Picture 2" descr="What is Accounts Payable?. When companies make purchases from ...">
            <a:extLst>
              <a:ext uri="{FF2B5EF4-FFF2-40B4-BE49-F238E27FC236}">
                <a16:creationId xmlns:a16="http://schemas.microsoft.com/office/drawing/2014/main" id="{5FCA21C9-49E8-4FD3-8233-D86E9DF43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599" y="2258049"/>
            <a:ext cx="2764425" cy="2073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00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Operating cycle of Amazon.com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234238" y="1814513"/>
            <a:ext cx="326390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Last 3 months of the year: </a:t>
            </a:r>
            <a:r>
              <a:rPr lang="en-US" altLang="en-US" sz="2000">
                <a:latin typeface="Times New Roman" panose="02020603050405020304" pitchFamily="18" charset="0"/>
              </a:rPr>
              <a:t>Amazon buys inventory to prep for holidays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712913" y="3036889"/>
            <a:ext cx="30464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End of the year (Dec 31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st</a:t>
            </a:r>
            <a:r>
              <a:rPr lang="en-US" altLang="en-US" sz="2000" b="1">
                <a:latin typeface="Times New Roman" panose="02020603050405020304" pitchFamily="18" charset="0"/>
              </a:rPr>
              <a:t>):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Customers purchases goods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083425" y="3933826"/>
            <a:ext cx="32210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First 3 months of next year: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Amazon pays back suppliers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2832515" y="168341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33013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Amazon.com (2014)</a:t>
            </a:r>
          </a:p>
        </p:txBody>
      </p:sp>
      <p:pic>
        <p:nvPicPr>
          <p:cNvPr id="3277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05"/>
          <a:stretch>
            <a:fillRect/>
          </a:stretch>
        </p:blipFill>
        <p:spPr bwMode="auto">
          <a:xfrm>
            <a:off x="1060688" y="1531937"/>
            <a:ext cx="7310200" cy="3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5A9188-1F1C-47CA-A954-2E5108C21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425" y="1374068"/>
            <a:ext cx="9201150" cy="530542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EE18D6-FE7D-4E58-8EF3-A3E88176F59F}"/>
              </a:ext>
            </a:extLst>
          </p:cNvPr>
          <p:cNvSpPr/>
          <p:nvPr/>
        </p:nvSpPr>
        <p:spPr>
          <a:xfrm>
            <a:off x="1495425" y="1835416"/>
            <a:ext cx="9201150" cy="20299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1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BF0C-DC41-4E47-9329-2C1A00EAB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A/P Discounts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8CC35-6103-45E9-890B-F44EB98C7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50110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Mack Attack Inc. buys $20,000 of inventory with 2/10, net/30 terms.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Gross Method</a:t>
            </a:r>
          </a:p>
          <a:p>
            <a:pPr marL="0" indent="0">
              <a:buNone/>
            </a:pPr>
            <a:r>
              <a:rPr lang="en-US" i="1" dirty="0"/>
              <a:t>At purchase:</a:t>
            </a:r>
            <a:r>
              <a:rPr lang="en-US" dirty="0"/>
              <a:t> 	</a:t>
            </a:r>
            <a:r>
              <a:rPr lang="en-US" dirty="0">
                <a:solidFill>
                  <a:srgbClr val="C00000"/>
                </a:solidFill>
              </a:rPr>
              <a:t>Inventory (B-A)		20,000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	A/P (B-L)			20,000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Pay early:</a:t>
            </a: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A/P (B-L)			20,000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	Cash (B-A)			19,600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	Inventory (B-A)		400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Pay late:</a:t>
            </a: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A/P (B-L)			20,000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	Cash				20,000</a:t>
            </a:r>
            <a:r>
              <a:rPr lang="en-US" dirty="0"/>
              <a:t>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38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9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BF0C-DC41-4E47-9329-2C1A00EAB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A/P Discounts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8CC35-6103-45E9-890B-F44EB98C7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501103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Mack Attack Inc. buys $20,000 of inventory with 2/10, net/30 terms.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Net Method</a:t>
            </a:r>
          </a:p>
          <a:p>
            <a:pPr marL="0" indent="0">
              <a:buNone/>
            </a:pPr>
            <a:r>
              <a:rPr lang="en-US" i="1" dirty="0"/>
              <a:t>At purchase:</a:t>
            </a:r>
            <a:r>
              <a:rPr lang="en-US" dirty="0"/>
              <a:t> 	</a:t>
            </a:r>
            <a:r>
              <a:rPr lang="en-US" dirty="0">
                <a:solidFill>
                  <a:srgbClr val="C00000"/>
                </a:solidFill>
              </a:rPr>
              <a:t>Inventory (B-A)		19,600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	A/P (B-L)			19,600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Pay early:</a:t>
            </a: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A/P (B-L)			19,600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	Cash (B-A)			19,600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Pay late:</a:t>
            </a: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A/P (B-L)			19,600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Inventory (B-A)		400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	Cash				20,000</a:t>
            </a:r>
            <a:r>
              <a:rPr lang="en-US" dirty="0"/>
              <a:t>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05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liabilities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82"/>
            <a:ext cx="10515600" cy="46375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 cover:</a:t>
            </a:r>
          </a:p>
          <a:p>
            <a:pPr lvl="1"/>
            <a:r>
              <a:rPr lang="en-US" dirty="0"/>
              <a:t>Accounts payable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Sales tax payable</a:t>
            </a:r>
          </a:p>
          <a:p>
            <a:pPr lvl="1"/>
            <a:r>
              <a:rPr lang="en-US" dirty="0"/>
              <a:t>Gift cards</a:t>
            </a:r>
          </a:p>
          <a:p>
            <a:pPr lvl="1"/>
            <a:r>
              <a:rPr lang="en-US" dirty="0"/>
              <a:t>Warranties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Other current liabilities (not exhaustive):</a:t>
            </a:r>
          </a:p>
          <a:p>
            <a:pPr lvl="1"/>
            <a:r>
              <a:rPr lang="en-US" dirty="0"/>
              <a:t>Wages</a:t>
            </a:r>
          </a:p>
          <a:p>
            <a:pPr lvl="1"/>
            <a:r>
              <a:rPr lang="en-US" dirty="0"/>
              <a:t>Payroll taxes</a:t>
            </a:r>
          </a:p>
          <a:p>
            <a:pPr lvl="1"/>
            <a:r>
              <a:rPr lang="en-US" dirty="0"/>
              <a:t>Current portion of long-term debt</a:t>
            </a:r>
          </a:p>
          <a:p>
            <a:pPr lvl="1"/>
            <a:r>
              <a:rPr lang="en-US" dirty="0"/>
              <a:t>Dividends payable</a:t>
            </a:r>
          </a:p>
          <a:p>
            <a:pPr lvl="1"/>
            <a:r>
              <a:rPr lang="en-US" dirty="0"/>
              <a:t>Salaries payable</a:t>
            </a:r>
          </a:p>
          <a:p>
            <a:pPr lvl="1"/>
            <a:r>
              <a:rPr lang="en-US" dirty="0"/>
              <a:t>Unearned revenue</a:t>
            </a:r>
          </a:p>
        </p:txBody>
      </p:sp>
    </p:spTree>
    <p:extLst>
      <p:ext uri="{BB962C8B-B14F-4D97-AF65-F5344CB8AC3E}">
        <p14:creationId xmlns:p14="http://schemas.microsoft.com/office/powerpoint/2010/main" val="2285946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5B38-7EAE-4C33-807F-6287C333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Taxes Payable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DCD82-E303-4821-B813-2391918A5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399"/>
            <a:ext cx="10515600" cy="47076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Company is obligated to collect sales tax on behalf of the state. Remits the sales tax collected periodically.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Parrot Shoes Inc. sells a pair of sandals for $100 and the state sales tax is 7%.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Upon Sale:	</a:t>
            </a: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Cash (B-A)				107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	Revenue (I-R)			100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	Sales Tax Payable (B-L)		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Upon Remittance:</a:t>
            </a: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Sales Tax Payable (B-L)		7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	Cash (B-A)				7</a:t>
            </a:r>
          </a:p>
        </p:txBody>
      </p:sp>
    </p:spTree>
    <p:extLst>
      <p:ext uri="{BB962C8B-B14F-4D97-AF65-F5344CB8AC3E}">
        <p14:creationId xmlns:p14="http://schemas.microsoft.com/office/powerpoint/2010/main" val="343128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9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4462-A6DE-4650-B8FB-E4E731072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CE08C-C668-4A2B-8AF6-6F3B7D554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liabilities are obligations to pay within a year.</a:t>
            </a:r>
          </a:p>
          <a:p>
            <a:endParaRPr lang="en-US" dirty="0"/>
          </a:p>
          <a:p>
            <a:r>
              <a:rPr lang="en-US" dirty="0"/>
              <a:t>Accounts payable are open, informal liabilities usually related to the purchase of inventory from a supplier.</a:t>
            </a:r>
          </a:p>
          <a:p>
            <a:endParaRPr lang="en-US" dirty="0"/>
          </a:p>
          <a:p>
            <a:r>
              <a:rPr lang="en-US" dirty="0"/>
              <a:t>Sales taxes are collected from the customer by the seller of goods and later remitted to the state.</a:t>
            </a:r>
          </a:p>
        </p:txBody>
      </p:sp>
    </p:spTree>
    <p:extLst>
      <p:ext uri="{BB962C8B-B14F-4D97-AF65-F5344CB8AC3E}">
        <p14:creationId xmlns:p14="http://schemas.microsoft.com/office/powerpoint/2010/main" val="3518294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Current Liabilities and Contingencies - Video</a:t>
            </a:r>
          </a:p>
        </p:txBody>
      </p:sp>
    </p:spTree>
    <p:extLst>
      <p:ext uri="{BB962C8B-B14F-4D97-AF65-F5344CB8AC3E}">
        <p14:creationId xmlns:p14="http://schemas.microsoft.com/office/powerpoint/2010/main" val="187300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1088</TotalTime>
  <Words>844</Words>
  <Application>Microsoft Office PowerPoint</Application>
  <PresentationFormat>Widescreen</PresentationFormat>
  <Paragraphs>133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Times New Roman</vt:lpstr>
      <vt:lpstr>Wingdings</vt:lpstr>
      <vt:lpstr>Office Theme</vt:lpstr>
      <vt:lpstr>PowerPoint Presentation</vt:lpstr>
      <vt:lpstr>What is a liability?</vt:lpstr>
      <vt:lpstr>Liability Classification by Timing</vt:lpstr>
      <vt:lpstr>Current liabilities</vt:lpstr>
      <vt:lpstr>Current liabilities</vt:lpstr>
      <vt:lpstr>Accounts payable</vt:lpstr>
      <vt:lpstr>Operating cycle of Amazon.com</vt:lpstr>
      <vt:lpstr>Amazon.com (2014)</vt:lpstr>
      <vt:lpstr>A/P Discounts</vt:lpstr>
      <vt:lpstr>A/P Discounts</vt:lpstr>
      <vt:lpstr>Current liabilities</vt:lpstr>
      <vt:lpstr>Sales Taxes Payable</vt:lpstr>
      <vt:lpstr>Closing Thoughts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116</cp:revision>
  <dcterms:created xsi:type="dcterms:W3CDTF">2016-01-26T18:12:20Z</dcterms:created>
  <dcterms:modified xsi:type="dcterms:W3CDTF">2022-11-04T19:31:42Z</dcterms:modified>
</cp:coreProperties>
</file>