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7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0"/>
  </p:notesMasterIdLst>
  <p:sldIdLst>
    <p:sldId id="297" r:id="rId2"/>
    <p:sldId id="611" r:id="rId3"/>
    <p:sldId id="299" r:id="rId4"/>
    <p:sldId id="300" r:id="rId5"/>
    <p:sldId id="326" r:id="rId6"/>
    <p:sldId id="301" r:id="rId7"/>
    <p:sldId id="610" r:id="rId8"/>
    <p:sldId id="268" r:id="rId9"/>
    <p:sldId id="269" r:id="rId10"/>
    <p:sldId id="303" r:id="rId11"/>
    <p:sldId id="305" r:id="rId12"/>
    <p:sldId id="306" r:id="rId13"/>
    <p:sldId id="307" r:id="rId14"/>
    <p:sldId id="308" r:id="rId15"/>
    <p:sldId id="310" r:id="rId16"/>
    <p:sldId id="608" r:id="rId17"/>
    <p:sldId id="323" r:id="rId18"/>
    <p:sldId id="609" r:id="rId19"/>
    <p:sldId id="321" r:id="rId20"/>
    <p:sldId id="311" r:id="rId21"/>
    <p:sldId id="328" r:id="rId22"/>
    <p:sldId id="329" r:id="rId23"/>
    <p:sldId id="332" r:id="rId24"/>
    <p:sldId id="612" r:id="rId25"/>
    <p:sldId id="324" r:id="rId26"/>
    <p:sldId id="607" r:id="rId27"/>
    <p:sldId id="327" r:id="rId28"/>
    <p:sldId id="331" r:id="rId29"/>
  </p:sldIdLst>
  <p:sldSz cx="12192000" cy="6858000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Roboto Condensed" panose="02000000000000000000" pitchFamily="2" charset="0"/>
      <p:regular r:id="rId32"/>
      <p:bold r:id="rId33"/>
      <p:italic r:id="rId34"/>
      <p:boldItalic r:id="rId35"/>
    </p:embeddedFont>
    <p:embeddedFont>
      <p:font typeface="Source Sans Pro" panose="020B0503030403020204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C3BE7-9A66-4419-9E22-30E0D3DAA1C4}" v="2" dt="2025-09-10T11:03:43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31" autoAdjust="0"/>
    <p:restoredTop sz="88005" autoAdjust="0"/>
  </p:normalViewPr>
  <p:slideViewPr>
    <p:cSldViewPr snapToGrid="0">
      <p:cViewPr varScale="1">
        <p:scale>
          <a:sx n="77" d="100"/>
          <a:sy n="77" d="100"/>
        </p:scale>
        <p:origin x="294" y="2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 varScale="1">
        <p:scale>
          <a:sx n="81" d="100"/>
          <a:sy n="81" d="100"/>
        </p:scale>
        <p:origin x="231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7aaf88c5-f86c-46d8-a0d4-f1ec65ded07c" providerId="ADAL" clId="{47828E62-FC24-428A-ACF6-B28718A93287}"/>
    <pc:docChg chg="custSel addSld delSld modSld">
      <pc:chgData name="Jeremiah Contreras" userId="7aaf88c5-f86c-46d8-a0d4-f1ec65ded07c" providerId="ADAL" clId="{47828E62-FC24-428A-ACF6-B28718A93287}" dt="2025-09-10T11:04:14.392" v="157" actId="20577"/>
      <pc:docMkLst>
        <pc:docMk/>
      </pc:docMkLst>
      <pc:sldChg chg="del">
        <pc:chgData name="Jeremiah Contreras" userId="7aaf88c5-f86c-46d8-a0d4-f1ec65ded07c" providerId="ADAL" clId="{47828E62-FC24-428A-ACF6-B28718A93287}" dt="2025-09-10T10:44:45.900" v="0" actId="47"/>
        <pc:sldMkLst>
          <pc:docMk/>
          <pc:sldMk cId="4235441983" sldId="298"/>
        </pc:sldMkLst>
      </pc:sldChg>
      <pc:sldChg chg="addSp delSp modSp mod delAnim modAnim">
        <pc:chgData name="Jeremiah Contreras" userId="7aaf88c5-f86c-46d8-a0d4-f1ec65ded07c" providerId="ADAL" clId="{47828E62-FC24-428A-ACF6-B28718A93287}" dt="2025-09-10T11:00:12.779" v="63" actId="1076"/>
        <pc:sldMkLst>
          <pc:docMk/>
          <pc:sldMk cId="1358152654" sldId="611"/>
        </pc:sldMkLst>
        <pc:spChg chg="mod">
          <ac:chgData name="Jeremiah Contreras" userId="7aaf88c5-f86c-46d8-a0d4-f1ec65ded07c" providerId="ADAL" clId="{47828E62-FC24-428A-ACF6-B28718A93287}" dt="2025-09-10T10:58:54.365" v="40" actId="14100"/>
          <ac:spMkLst>
            <pc:docMk/>
            <pc:sldMk cId="1358152654" sldId="611"/>
            <ac:spMk id="3" creationId="{00000000-0000-0000-0000-000000000000}"/>
          </ac:spMkLst>
        </pc:spChg>
        <pc:spChg chg="del mod">
          <ac:chgData name="Jeremiah Contreras" userId="7aaf88c5-f86c-46d8-a0d4-f1ec65ded07c" providerId="ADAL" clId="{47828E62-FC24-428A-ACF6-B28718A93287}" dt="2025-09-10T10:59:02.505" v="41" actId="478"/>
          <ac:spMkLst>
            <pc:docMk/>
            <pc:sldMk cId="1358152654" sldId="611"/>
            <ac:spMk id="6" creationId="{0C38AAC5-F6F9-A843-CC1D-E53153A938CF}"/>
          </ac:spMkLst>
        </pc:spChg>
        <pc:spChg chg="mod">
          <ac:chgData name="Jeremiah Contreras" userId="7aaf88c5-f86c-46d8-a0d4-f1ec65ded07c" providerId="ADAL" clId="{47828E62-FC24-428A-ACF6-B28718A93287}" dt="2025-09-10T11:00:12.779" v="63" actId="1076"/>
          <ac:spMkLst>
            <pc:docMk/>
            <pc:sldMk cId="1358152654" sldId="611"/>
            <ac:spMk id="7" creationId="{C15CF6D6-E52F-3E9A-F85B-AE4FACCA6E8F}"/>
          </ac:spMkLst>
        </pc:spChg>
        <pc:spChg chg="add mod">
          <ac:chgData name="Jeremiah Contreras" userId="7aaf88c5-f86c-46d8-a0d4-f1ec65ded07c" providerId="ADAL" clId="{47828E62-FC24-428A-ACF6-B28718A93287}" dt="2025-09-10T10:59:52.605" v="62" actId="1035"/>
          <ac:spMkLst>
            <pc:docMk/>
            <pc:sldMk cId="1358152654" sldId="611"/>
            <ac:spMk id="8" creationId="{1894BE01-EE98-AE99-F0C6-42BCDAF561A5}"/>
          </ac:spMkLst>
        </pc:spChg>
      </pc:sldChg>
      <pc:sldChg chg="modSp add mod">
        <pc:chgData name="Jeremiah Contreras" userId="7aaf88c5-f86c-46d8-a0d4-f1ec65ded07c" providerId="ADAL" clId="{47828E62-FC24-428A-ACF6-B28718A93287}" dt="2025-09-10T11:04:14.392" v="157" actId="20577"/>
        <pc:sldMkLst>
          <pc:docMk/>
          <pc:sldMk cId="1257833361" sldId="612"/>
        </pc:sldMkLst>
        <pc:spChg chg="mod">
          <ac:chgData name="Jeremiah Contreras" userId="7aaf88c5-f86c-46d8-a0d4-f1ec65ded07c" providerId="ADAL" clId="{47828E62-FC24-428A-ACF6-B28718A93287}" dt="2025-09-10T11:03:54.809" v="91" actId="20577"/>
          <ac:spMkLst>
            <pc:docMk/>
            <pc:sldMk cId="1257833361" sldId="612"/>
            <ac:spMk id="2" creationId="{9229B696-0729-CCF6-65A2-7A13C23FC3CD}"/>
          </ac:spMkLst>
        </pc:spChg>
        <pc:spChg chg="mod">
          <ac:chgData name="Jeremiah Contreras" userId="7aaf88c5-f86c-46d8-a0d4-f1ec65ded07c" providerId="ADAL" clId="{47828E62-FC24-428A-ACF6-B28718A93287}" dt="2025-09-10T11:04:14.392" v="157" actId="20577"/>
          <ac:spMkLst>
            <pc:docMk/>
            <pc:sldMk cId="1257833361" sldId="612"/>
            <ac:spMk id="3" creationId="{9AA7F3A6-6909-BEC6-10F5-4C3584F3AC0C}"/>
          </ac:spMkLst>
        </pc:spChg>
      </pc:sldChg>
    </pc:docChg>
  </pc:docChgLst>
  <pc:docChgLst>
    <pc:chgData name="Jeremiah Contreras" userId="7aaf88c5-f86c-46d8-a0d4-f1ec65ded07c" providerId="ADAL" clId="{128B6FCF-3FA8-4FF9-B13B-484BA8D9EF0B}"/>
    <pc:docChg chg="undo custSel delSld modSld">
      <pc:chgData name="Jeremiah Contreras" userId="7aaf88c5-f86c-46d8-a0d4-f1ec65ded07c" providerId="ADAL" clId="{128B6FCF-3FA8-4FF9-B13B-484BA8D9EF0B}" dt="2025-08-10T13:57:10.180" v="119" actId="1076"/>
      <pc:docMkLst>
        <pc:docMk/>
      </pc:docMkLst>
      <pc:sldChg chg="del">
        <pc:chgData name="Jeremiah Contreras" userId="7aaf88c5-f86c-46d8-a0d4-f1ec65ded07c" providerId="ADAL" clId="{128B6FCF-3FA8-4FF9-B13B-484BA8D9EF0B}" dt="2025-08-10T13:38:54.978" v="0" actId="47"/>
        <pc:sldMkLst>
          <pc:docMk/>
          <pc:sldMk cId="0" sldId="257"/>
        </pc:sldMkLst>
      </pc:sldChg>
      <pc:sldChg chg="modSp mod">
        <pc:chgData name="Jeremiah Contreras" userId="7aaf88c5-f86c-46d8-a0d4-f1ec65ded07c" providerId="ADAL" clId="{128B6FCF-3FA8-4FF9-B13B-484BA8D9EF0B}" dt="2025-08-10T13:39:05.029" v="1" actId="20577"/>
        <pc:sldMkLst>
          <pc:docMk/>
          <pc:sldMk cId="3908716000" sldId="297"/>
        </pc:sldMkLst>
      </pc:sldChg>
      <pc:sldChg chg="modSp mod">
        <pc:chgData name="Jeremiah Contreras" userId="7aaf88c5-f86c-46d8-a0d4-f1ec65ded07c" providerId="ADAL" clId="{128B6FCF-3FA8-4FF9-B13B-484BA8D9EF0B}" dt="2025-08-10T13:49:28.527" v="17" actId="20577"/>
        <pc:sldMkLst>
          <pc:docMk/>
          <pc:sldMk cId="2768326037" sldId="299"/>
        </pc:sldMkLst>
      </pc:sldChg>
      <pc:sldChg chg="modSp mod">
        <pc:chgData name="Jeremiah Contreras" userId="7aaf88c5-f86c-46d8-a0d4-f1ec65ded07c" providerId="ADAL" clId="{128B6FCF-3FA8-4FF9-B13B-484BA8D9EF0B}" dt="2025-08-10T13:50:49.456" v="40" actId="1076"/>
        <pc:sldMkLst>
          <pc:docMk/>
          <pc:sldMk cId="3157683705" sldId="306"/>
        </pc:sldMkLst>
      </pc:sldChg>
      <pc:sldChg chg="modSp mod">
        <pc:chgData name="Jeremiah Contreras" userId="7aaf88c5-f86c-46d8-a0d4-f1ec65ded07c" providerId="ADAL" clId="{128B6FCF-3FA8-4FF9-B13B-484BA8D9EF0B}" dt="2025-08-10T13:51:41.898" v="98" actId="20577"/>
        <pc:sldMkLst>
          <pc:docMk/>
          <pc:sldMk cId="1095896789" sldId="308"/>
        </pc:sldMkLst>
      </pc:sldChg>
      <pc:sldChg chg="addSp modSp mod">
        <pc:chgData name="Jeremiah Contreras" userId="7aaf88c5-f86c-46d8-a0d4-f1ec65ded07c" providerId="ADAL" clId="{128B6FCF-3FA8-4FF9-B13B-484BA8D9EF0B}" dt="2025-08-10T13:57:10.180" v="119" actId="1076"/>
        <pc:sldMkLst>
          <pc:docMk/>
          <pc:sldMk cId="3306697640" sldId="323"/>
        </pc:sldMkLst>
      </pc:sldChg>
      <pc:sldChg chg="modSp mod">
        <pc:chgData name="Jeremiah Contreras" userId="7aaf88c5-f86c-46d8-a0d4-f1ec65ded07c" providerId="ADAL" clId="{128B6FCF-3FA8-4FF9-B13B-484BA8D9EF0B}" dt="2025-08-10T13:53:10.655" v="101" actId="20577"/>
        <pc:sldMkLst>
          <pc:docMk/>
          <pc:sldMk cId="3271160336" sldId="607"/>
        </pc:sldMkLst>
      </pc:sldChg>
      <pc:sldChg chg="modSp mod">
        <pc:chgData name="Jeremiah Contreras" userId="7aaf88c5-f86c-46d8-a0d4-f1ec65ded07c" providerId="ADAL" clId="{128B6FCF-3FA8-4FF9-B13B-484BA8D9EF0B}" dt="2025-08-10T13:39:44.752" v="3" actId="207"/>
        <pc:sldMkLst>
          <pc:docMk/>
          <pc:sldMk cId="1358152654" sldId="611"/>
        </pc:sldMkLst>
      </pc:sldChg>
    </pc:docChg>
  </pc:docChgLst>
  <pc:docChgLst>
    <pc:chgData name="Jeremiah Contreras" userId="353e0578-c100-4b27-ab8d-040de0f2d32b" providerId="ADAL" clId="{6507F926-C88C-422D-A261-CF44993CDB0C}"/>
    <pc:docChg chg="undo custSel addSld delSld modSld sldOrd delMainMaster">
      <pc:chgData name="Jeremiah Contreras" userId="353e0578-c100-4b27-ab8d-040de0f2d32b" providerId="ADAL" clId="{6507F926-C88C-422D-A261-CF44993CDB0C}" dt="2024-09-11T16:57:35.457" v="127" actId="1076"/>
      <pc:docMkLst>
        <pc:docMk/>
      </pc:docMkLst>
      <pc:sldChg chg="add ord">
        <pc:chgData name="Jeremiah Contreras" userId="353e0578-c100-4b27-ab8d-040de0f2d32b" providerId="ADAL" clId="{6507F926-C88C-422D-A261-CF44993CDB0C}" dt="2024-09-11T15:11:42.521" v="22"/>
        <pc:sldMkLst>
          <pc:docMk/>
          <pc:sldMk cId="0" sldId="257"/>
        </pc:sldMkLst>
      </pc:sldChg>
      <pc:sldChg chg="delSp modSp mod ord delAnim">
        <pc:chgData name="Jeremiah Contreras" userId="353e0578-c100-4b27-ab8d-040de0f2d32b" providerId="ADAL" clId="{6507F926-C88C-422D-A261-CF44993CDB0C}" dt="2024-09-11T16:57:35.457" v="127" actId="1076"/>
        <pc:sldMkLst>
          <pc:docMk/>
          <pc:sldMk cId="4235441983" sldId="298"/>
        </pc:sldMkLst>
      </pc:sldChg>
      <pc:sldChg chg="del">
        <pc:chgData name="Jeremiah Contreras" userId="353e0578-c100-4b27-ab8d-040de0f2d32b" providerId="ADAL" clId="{6507F926-C88C-422D-A261-CF44993CDB0C}" dt="2024-09-11T15:11:03.409" v="4" actId="47"/>
        <pc:sldMkLst>
          <pc:docMk/>
          <pc:sldMk cId="0" sldId="596"/>
        </pc:sldMkLst>
      </pc:sldChg>
      <pc:sldChg chg="del">
        <pc:chgData name="Jeremiah Contreras" userId="353e0578-c100-4b27-ab8d-040de0f2d32b" providerId="ADAL" clId="{6507F926-C88C-422D-A261-CF44993CDB0C}" dt="2024-09-11T15:11:07.216" v="5" actId="47"/>
        <pc:sldMkLst>
          <pc:docMk/>
          <pc:sldMk cId="0" sldId="597"/>
        </pc:sldMkLst>
      </pc:sldChg>
      <pc:sldChg chg="delSp modSp add mod setBg delDesignElem">
        <pc:chgData name="Jeremiah Contreras" userId="353e0578-c100-4b27-ab8d-040de0f2d32b" providerId="ADAL" clId="{6507F926-C88C-422D-A261-CF44993CDB0C}" dt="2024-09-11T15:16:07.724" v="125" actId="1076"/>
        <pc:sldMkLst>
          <pc:docMk/>
          <pc:sldMk cId="1358152654" sldId="611"/>
        </pc:sldMkLst>
      </pc:sldChg>
      <pc:sldMasterChg chg="del delSldLayout">
        <pc:chgData name="Jeremiah Contreras" userId="353e0578-c100-4b27-ab8d-040de0f2d32b" providerId="ADAL" clId="{6507F926-C88C-422D-A261-CF44993CDB0C}" dt="2024-09-11T15:11:07.216" v="5" actId="47"/>
        <pc:sldMasterMkLst>
          <pc:docMk/>
          <pc:sldMasterMk cId="3534843091" sldId="2147483680"/>
        </pc:sldMasterMkLst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1358969926" sldId="2147483681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1709519734" sldId="2147483682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1463535724" sldId="2147483683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1922310179" sldId="2147483684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2832284701" sldId="2147483685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576935262" sldId="2147483686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1223686253" sldId="2147483687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666824631" sldId="2147483688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2215137988" sldId="2147483689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3789769888" sldId="2147483690"/>
          </pc:sldLayoutMkLst>
        </pc:sldLayoutChg>
        <pc:sldLayoutChg chg="del">
          <pc:chgData name="Jeremiah Contreras" userId="353e0578-c100-4b27-ab8d-040de0f2d32b" providerId="ADAL" clId="{6507F926-C88C-422D-A261-CF44993CDB0C}" dt="2024-09-11T15:11:07.216" v="5" actId="47"/>
          <pc:sldLayoutMkLst>
            <pc:docMk/>
            <pc:sldMasterMk cId="3534843091" sldId="2147483680"/>
            <pc:sldLayoutMk cId="2152575026" sldId="214748369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94A5-460A-4156-9EA8-059208A9DE5F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A9D6D-7EB8-4AE0-88FE-F2C7E59C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7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9840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433638" y="557213"/>
            <a:ext cx="4965700" cy="27924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984568" y="3402330"/>
            <a:ext cx="7865427" cy="335153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009" tIns="48004" rIns="96009" bIns="48004"/>
          <a:lstStyle/>
          <a:p>
            <a:pPr marL="238061" indent="-238061">
              <a:buFontTx/>
              <a:buAutoNum type="arabicParenR"/>
              <a:defRPr/>
            </a:pPr>
            <a:r>
              <a:rPr lang="en-US" dirty="0"/>
              <a:t>Interest and dividend revenue on investments (assume not in business of investing)</a:t>
            </a:r>
          </a:p>
          <a:p>
            <a:pPr marL="238061" indent="-238061">
              <a:defRPr/>
            </a:pPr>
            <a:r>
              <a:rPr lang="en-US" dirty="0"/>
              <a:t>     -derived from investing</a:t>
            </a:r>
          </a:p>
          <a:p>
            <a:pPr marL="238061" indent="-238061">
              <a:defRPr/>
            </a:pPr>
            <a:r>
              <a:rPr lang="en-US" dirty="0"/>
              <a:t>     -but treated as operating</a:t>
            </a:r>
          </a:p>
          <a:p>
            <a:pPr marL="238061" indent="-238061">
              <a:defRPr/>
            </a:pPr>
            <a:endParaRPr lang="en-US" sz="800" dirty="0"/>
          </a:p>
          <a:p>
            <a:pPr marL="238061" indent="-238061">
              <a:buFontTx/>
              <a:buAutoNum type="arabicParenR" startAt="2"/>
              <a:defRPr/>
            </a:pPr>
            <a:r>
              <a:rPr lang="en-US" dirty="0"/>
              <a:t>Interest expense from borrowing</a:t>
            </a:r>
          </a:p>
          <a:p>
            <a:pPr marL="238061" indent="-238061">
              <a:defRPr/>
            </a:pPr>
            <a:r>
              <a:rPr lang="en-US" dirty="0"/>
              <a:t>     -derived from financing</a:t>
            </a:r>
          </a:p>
          <a:p>
            <a:pPr marL="238061" indent="-238061">
              <a:defRPr/>
            </a:pPr>
            <a:r>
              <a:rPr lang="en-US" dirty="0"/>
              <a:t>     -but treated as operating</a:t>
            </a:r>
          </a:p>
          <a:p>
            <a:pPr marL="238061" indent="-238061">
              <a:defRPr/>
            </a:pPr>
            <a:r>
              <a:rPr lang="en-US" dirty="0"/>
              <a:t>	-logic: </a:t>
            </a:r>
          </a:p>
          <a:p>
            <a:pPr marL="238061" indent="-238061">
              <a:defRPr/>
            </a:pPr>
            <a:r>
              <a:rPr lang="en-US" dirty="0"/>
              <a:t>       *you can finance infrastructure with borrowing, purchase, or leases</a:t>
            </a:r>
          </a:p>
          <a:p>
            <a:pPr marL="238061" indent="-238061">
              <a:defRPr/>
            </a:pPr>
            <a:r>
              <a:rPr lang="en-US" dirty="0"/>
              <a:t>       *buy/lease: rent, depreciation, interest, etc. all in operating</a:t>
            </a:r>
          </a:p>
          <a:p>
            <a:pPr marL="238061" indent="-238061">
              <a:defRPr/>
            </a:pPr>
            <a:r>
              <a:rPr lang="en-US" dirty="0"/>
              <a:t>       *try to be consistent across all financing (all operating)</a:t>
            </a:r>
          </a:p>
          <a:p>
            <a:pPr marL="238061" indent="-238061">
              <a:defRPr/>
            </a:pPr>
            <a:endParaRPr lang="en-US" sz="800" dirty="0"/>
          </a:p>
          <a:p>
            <a:pPr marL="241412" indent="-241412">
              <a:buFontTx/>
              <a:buAutoNum type="arabicParenR" startAt="3"/>
              <a:defRPr/>
            </a:pPr>
            <a:r>
              <a:rPr lang="en-US" dirty="0"/>
              <a:t>Dividends paid=financing (remember dividends received=operating)</a:t>
            </a:r>
          </a:p>
          <a:p>
            <a:pPr marL="241412" indent="-241412">
              <a:buFontTx/>
              <a:buAutoNum type="arabicParenR" startAt="3"/>
              <a:defRPr/>
            </a:pPr>
            <a:endParaRPr lang="en-US" sz="800" dirty="0"/>
          </a:p>
          <a:p>
            <a:pPr>
              <a:defRPr/>
            </a:pPr>
            <a:r>
              <a:rPr lang="en-US" dirty="0"/>
              <a:t>3 items in net income -&gt; all in O </a:t>
            </a:r>
          </a:p>
          <a:p>
            <a:pPr>
              <a:defRPr/>
            </a:pPr>
            <a:r>
              <a:rPr lang="en-US" dirty="0"/>
              <a:t>-</a:t>
            </a:r>
            <a:r>
              <a:rPr lang="en-US" dirty="0" err="1"/>
              <a:t>int</a:t>
            </a:r>
            <a:r>
              <a:rPr lang="en-US" dirty="0"/>
              <a:t> rev</a:t>
            </a:r>
          </a:p>
          <a:p>
            <a:pPr>
              <a:defRPr/>
            </a:pPr>
            <a:r>
              <a:rPr lang="en-US" dirty="0"/>
              <a:t>-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exp</a:t>
            </a:r>
            <a:endParaRPr lang="en-US" dirty="0"/>
          </a:p>
          <a:p>
            <a:pPr>
              <a:defRPr/>
            </a:pPr>
            <a:r>
              <a:rPr lang="en-US" dirty="0"/>
              <a:t>-div revenue (received)s</a:t>
            </a:r>
          </a:p>
        </p:txBody>
      </p:sp>
    </p:spTree>
    <p:extLst>
      <p:ext uri="{BB962C8B-B14F-4D97-AF65-F5344CB8AC3E}">
        <p14:creationId xmlns:p14="http://schemas.microsoft.com/office/powerpoint/2010/main" val="2931115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A9D6D-7EB8-4AE0-88FE-F2C7E59C16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80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35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3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6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87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7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72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3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1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53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7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9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1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66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88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504723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143000"/>
            <a:ext cx="111760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8535906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107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04672" indent="-448056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defRPr sz="28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3pPr>
            <a:lvl4pPr marL="13716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4pPr>
            <a:lvl5pPr marL="18288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</p:txBody>
      </p:sp>
    </p:spTree>
    <p:extLst>
      <p:ext uri="{BB962C8B-B14F-4D97-AF65-F5344CB8AC3E}">
        <p14:creationId xmlns:p14="http://schemas.microsoft.com/office/powerpoint/2010/main" val="2030263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2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1"/>
            <a:ext cx="5486400" cy="462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2366471"/>
            <a:ext cx="6096000" cy="531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06400" y="3049526"/>
            <a:ext cx="11379200" cy="496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406400" y="3656686"/>
            <a:ext cx="11379200" cy="496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1"/>
          </p:nvPr>
        </p:nvSpPr>
        <p:spPr>
          <a:xfrm>
            <a:off x="429173" y="4263845"/>
            <a:ext cx="11356427" cy="372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9AC083D-26BE-400F-A0FF-3DE60868238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9685" y="4719639"/>
            <a:ext cx="11332633" cy="37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0FCA449-94ED-4C8F-96CE-51CBABEBFE4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29685" y="5175251"/>
            <a:ext cx="11332633" cy="3029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07FB03D-0173-4F23-9B38-B4E8968F4B3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9685" y="5554664"/>
            <a:ext cx="11332633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8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Flow Statement Part 1 –Class</a:t>
            </a:r>
          </a:p>
        </p:txBody>
      </p:sp>
    </p:spTree>
    <p:extLst>
      <p:ext uri="{BB962C8B-B14F-4D97-AF65-F5344CB8AC3E}">
        <p14:creationId xmlns:p14="http://schemas.microsoft.com/office/powerpoint/2010/main" val="390871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206" defTabSz="914400">
              <a:tabLst>
                <a:tab pos="5602680" algn="l"/>
              </a:tabLst>
            </a:pPr>
            <a:r>
              <a:rPr lang="en-US" sz="4000" kern="1200" spc="13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Points from the Video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8278" y="2498262"/>
            <a:ext cx="8815240" cy="3563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r>
              <a:rPr lang="en-US" sz="2000" dirty="0"/>
              <a:t>Net income and operating cash flow are: a) equal b) Not the same</a:t>
            </a:r>
          </a:p>
          <a:p>
            <a:pPr marL="489734">
              <a:lnSpc>
                <a:spcPct val="90000"/>
              </a:lnSpc>
              <a:spcBef>
                <a:spcPts val="383"/>
              </a:spcBef>
              <a:tabLst>
                <a:tab pos="718334" algn="l"/>
                <a:tab pos="718896" algn="l"/>
              </a:tabLst>
            </a:pPr>
            <a:endParaRPr lang="en-US" sz="2000" dirty="0"/>
          </a:p>
          <a:p>
            <a:pPr marL="718334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r>
              <a:rPr lang="en-US" sz="2000" spc="4" dirty="0"/>
              <a:t>The cash flow statement reconciles changes in cash between balance sheet dates</a:t>
            </a:r>
            <a:endParaRPr lang="en-US" sz="2000" dirty="0"/>
          </a:p>
          <a:p>
            <a:pPr marL="718334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endParaRPr lang="en-US" sz="2000" dirty="0"/>
          </a:p>
          <a:p>
            <a:pPr marL="718334" indent="-228600">
              <a:lnSpc>
                <a:spcPct val="90000"/>
              </a:lnSpc>
              <a:spcBef>
                <a:spcPts val="379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r>
              <a:rPr lang="en-US" sz="2000" spc="4" dirty="0"/>
              <a:t>Cash flows are classified into operating, investing and financing activities</a:t>
            </a:r>
            <a:endParaRPr lang="en-US" sz="2000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770CD12C-4EFA-407C-AE19-B5B2BBF2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858" y="124658"/>
            <a:ext cx="4187743" cy="2167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707624" y="6382512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600"/>
              </a:spcAft>
            </a:pPr>
            <a:fld id="{81D60167-4931-47E6-BA6A-407CBD079E47}" type="slidenum">
              <a:rPr lang="en-US" sz="1000" spc="2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>
                <a:spcAft>
                  <a:spcPts val="600"/>
                </a:spcAft>
              </a:pPr>
              <a:t>2</a:t>
            </a:fld>
            <a:endParaRPr lang="en-US" sz="1000" spc="18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5CF6D6-E52F-3E9A-F85B-AE4FACCA6E8F}"/>
              </a:ext>
            </a:extLst>
          </p:cNvPr>
          <p:cNvSpPr/>
          <p:nvPr/>
        </p:nvSpPr>
        <p:spPr>
          <a:xfrm>
            <a:off x="5362763" y="4144985"/>
            <a:ext cx="4072195" cy="26971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           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94BE01-EE98-AE99-F0C6-42BCDAF561A5}"/>
              </a:ext>
            </a:extLst>
          </p:cNvPr>
          <p:cNvSpPr/>
          <p:nvPr/>
        </p:nvSpPr>
        <p:spPr>
          <a:xfrm>
            <a:off x="7570239" y="2506828"/>
            <a:ext cx="1946988" cy="3421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5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7475-A783-45BA-9300-E87B3E7B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8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Identify the CF Activity </a:t>
            </a:r>
            <a:br>
              <a:rPr lang="en-US" sz="4000" dirty="0"/>
            </a:br>
            <a:r>
              <a:rPr lang="en-US" sz="4000" dirty="0"/>
              <a:t>Operating, Investing, or Financing?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3A571-02D6-4821-B151-CC7AFEC29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pplication, table&#10;&#10;Description automatically generated with medium confidence">
            <a:extLst>
              <a:ext uri="{FF2B5EF4-FFF2-40B4-BE49-F238E27FC236}">
                <a16:creationId xmlns:a16="http://schemas.microsoft.com/office/drawing/2014/main" id="{57D5AA1C-7089-494C-9346-59265E5D5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2" y="1512709"/>
            <a:ext cx="10869470" cy="47886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C82E74-5A74-42D6-A985-23330902A97C}"/>
              </a:ext>
            </a:extLst>
          </p:cNvPr>
          <p:cNvSpPr/>
          <p:nvPr/>
        </p:nvSpPr>
        <p:spPr>
          <a:xfrm>
            <a:off x="8577470" y="1679713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FC0B9-523E-4A4F-BF0B-B6A0D6AE2AFF}"/>
              </a:ext>
            </a:extLst>
          </p:cNvPr>
          <p:cNvSpPr/>
          <p:nvPr/>
        </p:nvSpPr>
        <p:spPr>
          <a:xfrm>
            <a:off x="8577470" y="2171840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27941-BEFB-4B78-9C05-7AFFB12D08D5}"/>
              </a:ext>
            </a:extLst>
          </p:cNvPr>
          <p:cNvSpPr/>
          <p:nvPr/>
        </p:nvSpPr>
        <p:spPr>
          <a:xfrm>
            <a:off x="8729870" y="2696919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C7922A-E90E-4BD9-8864-414F99EE2FD6}"/>
              </a:ext>
            </a:extLst>
          </p:cNvPr>
          <p:cNvSpPr/>
          <p:nvPr/>
        </p:nvSpPr>
        <p:spPr>
          <a:xfrm>
            <a:off x="8577469" y="3166806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66B01C-D64D-4C81-B1EA-E6C533E9F77D}"/>
              </a:ext>
            </a:extLst>
          </p:cNvPr>
          <p:cNvSpPr/>
          <p:nvPr/>
        </p:nvSpPr>
        <p:spPr>
          <a:xfrm>
            <a:off x="8577468" y="3658933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77C68-5543-4EAF-932D-1D77DC8C03BB}"/>
              </a:ext>
            </a:extLst>
          </p:cNvPr>
          <p:cNvSpPr/>
          <p:nvPr/>
        </p:nvSpPr>
        <p:spPr>
          <a:xfrm>
            <a:off x="8577467" y="4239941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CA010-AA43-4A37-B751-476EB8DC9C8D}"/>
              </a:ext>
            </a:extLst>
          </p:cNvPr>
          <p:cNvSpPr/>
          <p:nvPr/>
        </p:nvSpPr>
        <p:spPr>
          <a:xfrm>
            <a:off x="8659355" y="4694950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55AA40-4C21-404B-825C-70C59662E74B}"/>
              </a:ext>
            </a:extLst>
          </p:cNvPr>
          <p:cNvSpPr/>
          <p:nvPr/>
        </p:nvSpPr>
        <p:spPr>
          <a:xfrm>
            <a:off x="8577466" y="5225244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0AB482-DC0B-44A5-A2BE-2404A7062830}"/>
              </a:ext>
            </a:extLst>
          </p:cNvPr>
          <p:cNvSpPr/>
          <p:nvPr/>
        </p:nvSpPr>
        <p:spPr>
          <a:xfrm>
            <a:off x="8729870" y="5654439"/>
            <a:ext cx="2067339" cy="387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2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7F6F-2E3E-43B7-B9A5-61862E50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1026" name="Picture 2" descr="UM I HAVE ADDITIONAL QUESTIONS | Questions Meme on ME.ME">
            <a:extLst>
              <a:ext uri="{FF2B5EF4-FFF2-40B4-BE49-F238E27FC236}">
                <a16:creationId xmlns:a16="http://schemas.microsoft.com/office/drawing/2014/main" id="{C07A627F-DC39-42FF-9CFA-652CF7DE8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009775"/>
            <a:ext cx="476250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02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62526" y="260133"/>
            <a:ext cx="9705475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Reminders</a:t>
            </a:r>
          </a:p>
        </p:txBody>
      </p:sp>
      <p:sp>
        <p:nvSpPr>
          <p:cNvPr id="30724" name="Content Placeholder 1"/>
          <p:cNvSpPr>
            <a:spLocks noGrp="1"/>
          </p:cNvSpPr>
          <p:nvPr>
            <p:ph idx="1"/>
          </p:nvPr>
        </p:nvSpPr>
        <p:spPr>
          <a:xfrm>
            <a:off x="1087655" y="1539876"/>
            <a:ext cx="9580346" cy="5024553"/>
          </a:xfrm>
        </p:spPr>
        <p:txBody>
          <a:bodyPr>
            <a:norm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Investments: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Buy/sell = </a:t>
            </a:r>
            <a:r>
              <a:rPr lang="en-US" altLang="en-US" sz="2800" dirty="0">
                <a:solidFill>
                  <a:srgbClr val="0070C0"/>
                </a:solidFill>
              </a:rPr>
              <a:t>investing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Receive interest revenue = </a:t>
            </a:r>
            <a:r>
              <a:rPr lang="en-US" altLang="en-US" sz="2800" dirty="0">
                <a:solidFill>
                  <a:srgbClr val="C00000"/>
                </a:solidFill>
              </a:rPr>
              <a:t>operating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Receive dividends = </a:t>
            </a:r>
            <a:r>
              <a:rPr lang="en-US" altLang="en-US" sz="2800" dirty="0">
                <a:solidFill>
                  <a:srgbClr val="C00000"/>
                </a:solidFill>
              </a:rPr>
              <a:t>operating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Debt: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Issue/retire = </a:t>
            </a:r>
            <a:r>
              <a:rPr lang="en-US" altLang="en-US" sz="2800" dirty="0">
                <a:solidFill>
                  <a:srgbClr val="00B050"/>
                </a:solidFill>
              </a:rPr>
              <a:t>financing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Pay interest expense = </a:t>
            </a:r>
            <a:r>
              <a:rPr lang="en-US" altLang="en-US" sz="2800" dirty="0">
                <a:solidFill>
                  <a:srgbClr val="C00000"/>
                </a:solidFill>
              </a:rPr>
              <a:t>operating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Stock: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Issue/repurchase stock = </a:t>
            </a:r>
            <a:r>
              <a:rPr lang="en-US" altLang="en-US" sz="2800" dirty="0">
                <a:solidFill>
                  <a:srgbClr val="00B050"/>
                </a:solidFill>
              </a:rPr>
              <a:t>financing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r>
              <a:rPr lang="en-US" altLang="en-US" sz="2800" dirty="0">
                <a:solidFill>
                  <a:srgbClr val="000000"/>
                </a:solidFill>
              </a:rPr>
              <a:t>Pay dividends = </a:t>
            </a:r>
            <a:r>
              <a:rPr lang="en-US" altLang="en-US" sz="2800" dirty="0">
                <a:solidFill>
                  <a:srgbClr val="00B050"/>
                </a:solidFill>
              </a:rPr>
              <a:t>financing</a:t>
            </a:r>
          </a:p>
          <a:p>
            <a:pPr marL="914400" lvl="1" indent="-457200">
              <a:buSzPct val="50000"/>
              <a:buFontTx/>
              <a:buAutoNum type="alphaLcParenR"/>
              <a:defRPr/>
            </a:pPr>
            <a:endParaRPr lang="en-US" altLang="en-US" sz="1000" dirty="0">
              <a:solidFill>
                <a:srgbClr val="000000"/>
              </a:solidFill>
            </a:endParaRPr>
          </a:p>
          <a:p>
            <a:pPr marL="457200" indent="-457200">
              <a:defRPr/>
            </a:pPr>
            <a:endParaRPr lang="en-US" altLang="en-US" dirty="0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</p:spPr>
        <p:txBody>
          <a:bodyPr/>
          <a:lstStyle/>
          <a:p>
            <a:fld id="{DD321DBF-325B-3546-BAAF-4F6E3B3181FF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81B780-3648-1D96-3EE0-6D38C12B3484}"/>
              </a:ext>
            </a:extLst>
          </p:cNvPr>
          <p:cNvSpPr/>
          <p:nvPr/>
        </p:nvSpPr>
        <p:spPr>
          <a:xfrm>
            <a:off x="1463040" y="2484643"/>
            <a:ext cx="6779173" cy="9459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10C5BE-C1C6-AC06-CB0A-53332C840ACA}"/>
              </a:ext>
            </a:extLst>
          </p:cNvPr>
          <p:cNvSpPr/>
          <p:nvPr/>
        </p:nvSpPr>
        <p:spPr>
          <a:xfrm>
            <a:off x="1463040" y="4366936"/>
            <a:ext cx="6779173" cy="5266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81AD2F-81F8-1916-83A1-215A3300B55B}"/>
              </a:ext>
            </a:extLst>
          </p:cNvPr>
          <p:cNvSpPr/>
          <p:nvPr/>
        </p:nvSpPr>
        <p:spPr>
          <a:xfrm>
            <a:off x="1451476" y="5829670"/>
            <a:ext cx="6779173" cy="52668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D74DF1-9EB7-A31B-062F-0D581F283506}"/>
              </a:ext>
            </a:extLst>
          </p:cNvPr>
          <p:cNvSpPr/>
          <p:nvPr/>
        </p:nvSpPr>
        <p:spPr>
          <a:xfrm>
            <a:off x="8517147" y="1800912"/>
            <a:ext cx="3425736" cy="380625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Interest &amp; Dividends = Operating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u="sng" dirty="0">
                <a:solidFill>
                  <a:schemeClr val="tx1"/>
                </a:solidFill>
              </a:rPr>
              <a:t>UNLESS</a:t>
            </a:r>
            <a:r>
              <a:rPr lang="en-US" dirty="0">
                <a:solidFill>
                  <a:schemeClr val="tx1"/>
                </a:solidFill>
              </a:rPr>
              <a:t> you are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PAYING Dividends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b="1" dirty="0">
                <a:solidFill>
                  <a:srgbClr val="FF0000"/>
                </a:solidFill>
              </a:rPr>
              <a:t>Financing</a:t>
            </a:r>
          </a:p>
        </p:txBody>
      </p:sp>
    </p:spTree>
    <p:extLst>
      <p:ext uri="{BB962C8B-B14F-4D97-AF65-F5344CB8AC3E}">
        <p14:creationId xmlns:p14="http://schemas.microsoft.com/office/powerpoint/2010/main" val="405257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4CE2-602F-4CCA-8658-04AADF5E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Method vs Indirect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26E722A7-6937-4159-B813-84E5036888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526"/>
          <a:stretch/>
        </p:blipFill>
        <p:spPr>
          <a:xfrm>
            <a:off x="531812" y="1504070"/>
            <a:ext cx="3740385" cy="47053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C703D1-637C-6557-7603-D89F79BFC080}"/>
              </a:ext>
            </a:extLst>
          </p:cNvPr>
          <p:cNvSpPr/>
          <p:nvPr/>
        </p:nvSpPr>
        <p:spPr>
          <a:xfrm>
            <a:off x="422517" y="1627001"/>
            <a:ext cx="4218852" cy="155763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F358-B2AF-58BA-C0FF-35CFCA8E5A8F}"/>
              </a:ext>
            </a:extLst>
          </p:cNvPr>
          <p:cNvSpPr/>
          <p:nvPr/>
        </p:nvSpPr>
        <p:spPr>
          <a:xfrm>
            <a:off x="372066" y="3045898"/>
            <a:ext cx="4162097" cy="316352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0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4CE2-602F-4CCA-8658-04AADF5E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CFS Format: Direct Method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26E722A7-6937-4159-B813-84E503688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2" y="1504070"/>
            <a:ext cx="10544175" cy="4705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1D0ED3-001F-2F7E-193D-B979AEEA76F3}"/>
              </a:ext>
            </a:extLst>
          </p:cNvPr>
          <p:cNvSpPr txBox="1"/>
          <p:nvPr/>
        </p:nvSpPr>
        <p:spPr>
          <a:xfrm>
            <a:off x="2623278" y="6153462"/>
            <a:ext cx="689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Follow the Cash!</a:t>
            </a:r>
          </a:p>
        </p:txBody>
      </p:sp>
    </p:spTree>
    <p:extLst>
      <p:ext uri="{BB962C8B-B14F-4D97-AF65-F5344CB8AC3E}">
        <p14:creationId xmlns:p14="http://schemas.microsoft.com/office/powerpoint/2010/main" val="119449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91902" y="1521065"/>
            <a:ext cx="3847877" cy="852268"/>
          </a:xfrm>
          <a:prstGeom prst="rect">
            <a:avLst/>
          </a:prstGeom>
        </p:spPr>
        <p:txBody>
          <a:bodyPr vert="horz" wrap="square" lIns="0" tIns="51546" rIns="0" bIns="0" rtlCol="0" anchor="ctr">
            <a:spAutoFit/>
          </a:bodyPr>
          <a:lstStyle/>
          <a:p>
            <a:pPr marL="11206" marR="4483" indent="7284" algn="ctr">
              <a:lnSpc>
                <a:spcPct val="100000"/>
              </a:lnSpc>
              <a:spcBef>
                <a:spcPts val="600"/>
              </a:spcBef>
            </a:pPr>
            <a:r>
              <a:rPr lang="en-US" sz="2800" spc="18" dirty="0"/>
              <a:t>Direct Method:</a:t>
            </a:r>
            <a:br>
              <a:rPr lang="en-US" sz="2800" spc="18" dirty="0"/>
            </a:br>
            <a:r>
              <a:rPr lang="en-US" sz="2400" spc="18" dirty="0"/>
              <a:t>CVS (2020 </a:t>
            </a:r>
            <a:r>
              <a:rPr sz="2400" spc="18" dirty="0"/>
              <a:t>C</a:t>
            </a:r>
            <a:r>
              <a:rPr sz="2400" spc="13" dirty="0"/>
              <a:t>FS</a:t>
            </a:r>
            <a:r>
              <a:rPr lang="en-US" sz="2400" spc="13" dirty="0"/>
              <a:t>)</a:t>
            </a:r>
            <a:endParaRPr sz="2294" dirty="0"/>
          </a:p>
        </p:txBody>
      </p:sp>
      <p:sp>
        <p:nvSpPr>
          <p:cNvPr id="10" name="object 10"/>
          <p:cNvSpPr/>
          <p:nvPr/>
        </p:nvSpPr>
        <p:spPr>
          <a:xfrm>
            <a:off x="8911362" y="2544699"/>
            <a:ext cx="1208958" cy="687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91FFF5-EA58-424E-B344-43A78618A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31" y="126132"/>
            <a:ext cx="6244272" cy="66057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0572FC-01FE-4FC6-8901-10BA7CD1AB30}"/>
              </a:ext>
            </a:extLst>
          </p:cNvPr>
          <p:cNvSpPr txBox="1"/>
          <p:nvPr/>
        </p:nvSpPr>
        <p:spPr>
          <a:xfrm>
            <a:off x="7806733" y="4735391"/>
            <a:ext cx="2209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Pontano Sans"/>
              </a:rPr>
              <a:t>Change in Cash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DABDC3-90AB-4E2F-82B6-8C33BDD33F05}"/>
              </a:ext>
            </a:extLst>
          </p:cNvPr>
          <p:cNvSpPr txBox="1"/>
          <p:nvPr/>
        </p:nvSpPr>
        <p:spPr>
          <a:xfrm>
            <a:off x="7806733" y="5064437"/>
            <a:ext cx="3300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Pontano Sans"/>
              </a:rPr>
              <a:t>Beginning Cash Balance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A1D210-4D9E-419D-AA66-7D3DC2B39CF7}"/>
              </a:ext>
            </a:extLst>
          </p:cNvPr>
          <p:cNvSpPr txBox="1"/>
          <p:nvPr/>
        </p:nvSpPr>
        <p:spPr>
          <a:xfrm>
            <a:off x="7813145" y="5505320"/>
            <a:ext cx="2895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Pontano Sans"/>
              </a:rPr>
              <a:t>Ending Cash Balance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44DF91-3D91-4923-83F9-F6A2C03B1FCE}"/>
              </a:ext>
            </a:extLst>
          </p:cNvPr>
          <p:cNvCxnSpPr/>
          <p:nvPr/>
        </p:nvCxnSpPr>
        <p:spPr>
          <a:xfrm>
            <a:off x="7536569" y="5493928"/>
            <a:ext cx="3571068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BE0AE3-A160-4DF9-9F16-25C9A34DE7AE}"/>
              </a:ext>
            </a:extLst>
          </p:cNvPr>
          <p:cNvSpPr txBox="1"/>
          <p:nvPr/>
        </p:nvSpPr>
        <p:spPr>
          <a:xfrm>
            <a:off x="7536569" y="5007787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Pontano Sans"/>
              </a:rPr>
              <a:t>+ 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C4E8CF7B-D3EC-4980-A237-D95D76C0E8A5}"/>
              </a:ext>
            </a:extLst>
          </p:cNvPr>
          <p:cNvSpPr/>
          <p:nvPr/>
        </p:nvSpPr>
        <p:spPr>
          <a:xfrm rot="5830693">
            <a:off x="7269869" y="5504140"/>
            <a:ext cx="914400" cy="914400"/>
          </a:xfrm>
          <a:prstGeom prst="arc">
            <a:avLst/>
          </a:prstGeom>
          <a:noFill/>
          <a:ln w="57150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ntano Sans"/>
              <a:ea typeface="+mn-ea"/>
              <a:cs typeface="+mn-cs"/>
            </a:endParaRP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75676BB2-40E9-4870-AB7C-0DFE80EB2930}"/>
              </a:ext>
            </a:extLst>
          </p:cNvPr>
          <p:cNvSpPr/>
          <p:nvPr/>
        </p:nvSpPr>
        <p:spPr>
          <a:xfrm>
            <a:off x="7186509" y="6167505"/>
            <a:ext cx="250130" cy="481674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ntano Sans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4" grpId="0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V="1">
            <a:off x="643440" y="841640"/>
            <a:ext cx="10031185" cy="45719"/>
          </a:xfrm>
          <a:custGeom>
            <a:avLst/>
            <a:gdLst/>
            <a:ahLst/>
            <a:cxnLst/>
            <a:rect l="l" t="t" r="r" b="b"/>
            <a:pathLst>
              <a:path w="6412230" h="10160">
                <a:moveTo>
                  <a:pt x="6412230" y="9906"/>
                </a:moveTo>
                <a:lnTo>
                  <a:pt x="6412230" y="0"/>
                </a:lnTo>
                <a:lnTo>
                  <a:pt x="0" y="0"/>
                </a:lnTo>
                <a:lnTo>
                  <a:pt x="0" y="9906"/>
                </a:lnTo>
                <a:lnTo>
                  <a:pt x="6412230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41" y="251984"/>
            <a:ext cx="7049446" cy="569839"/>
          </a:xfrm>
          <a:prstGeom prst="rect">
            <a:avLst/>
          </a:prstGeom>
        </p:spPr>
        <p:txBody>
          <a:bodyPr vert="horz" wrap="square" lIns="0" tIns="1568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24"/>
              </a:spcBef>
            </a:pPr>
            <a:r>
              <a:rPr sz="3600" spc="22" dirty="0"/>
              <a:t>Direct</a:t>
            </a:r>
            <a:r>
              <a:rPr sz="3600" spc="-62" dirty="0"/>
              <a:t> </a:t>
            </a:r>
            <a:r>
              <a:rPr sz="3600" spc="18" dirty="0"/>
              <a:t>Method</a:t>
            </a:r>
            <a:r>
              <a:rPr lang="en-US" sz="3600" spc="18" dirty="0"/>
              <a:t>: Operating</a:t>
            </a:r>
            <a:endParaRPr sz="36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9</a:t>
            </a:fld>
            <a:endParaRPr spc="18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3846D0-B63D-491A-96B4-2480E322A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40" y="1767174"/>
            <a:ext cx="10132511" cy="35616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127734-BFE6-60DA-33DE-4CDC7B287637}"/>
              </a:ext>
            </a:extLst>
          </p:cNvPr>
          <p:cNvSpPr/>
          <p:nvPr/>
        </p:nvSpPr>
        <p:spPr>
          <a:xfrm>
            <a:off x="681174" y="4877294"/>
            <a:ext cx="9982730" cy="3064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V="1">
            <a:off x="643440" y="841640"/>
            <a:ext cx="10031185" cy="45719"/>
          </a:xfrm>
          <a:custGeom>
            <a:avLst/>
            <a:gdLst/>
            <a:ahLst/>
            <a:cxnLst/>
            <a:rect l="l" t="t" r="r" b="b"/>
            <a:pathLst>
              <a:path w="6412230" h="10160">
                <a:moveTo>
                  <a:pt x="6412230" y="9906"/>
                </a:moveTo>
                <a:lnTo>
                  <a:pt x="6412230" y="0"/>
                </a:lnTo>
                <a:lnTo>
                  <a:pt x="0" y="0"/>
                </a:lnTo>
                <a:lnTo>
                  <a:pt x="0" y="9906"/>
                </a:lnTo>
                <a:lnTo>
                  <a:pt x="6412230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41" y="251984"/>
            <a:ext cx="7049446" cy="569839"/>
          </a:xfrm>
          <a:prstGeom prst="rect">
            <a:avLst/>
          </a:prstGeom>
        </p:spPr>
        <p:txBody>
          <a:bodyPr vert="horz" wrap="square" lIns="0" tIns="1568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24"/>
              </a:spcBef>
            </a:pPr>
            <a:r>
              <a:rPr sz="3600" spc="22" dirty="0"/>
              <a:t>Direct</a:t>
            </a:r>
            <a:r>
              <a:rPr sz="3600" spc="-62" dirty="0"/>
              <a:t> </a:t>
            </a:r>
            <a:r>
              <a:rPr sz="3600" spc="18" dirty="0"/>
              <a:t>Method</a:t>
            </a:r>
            <a:r>
              <a:rPr lang="en-US" sz="3600" spc="18" dirty="0"/>
              <a:t>: Investing</a:t>
            </a:r>
            <a:endParaRPr sz="36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10</a:t>
            </a:fld>
            <a:endParaRPr spc="18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0DBD3F-21C1-48DC-B270-BFA03EA3A076}"/>
              </a:ext>
            </a:extLst>
          </p:cNvPr>
          <p:cNvGrpSpPr>
            <a:grpSpLocks noChangeAspect="1"/>
          </p:cNvGrpSpPr>
          <p:nvPr/>
        </p:nvGrpSpPr>
        <p:grpSpPr>
          <a:xfrm>
            <a:off x="620604" y="1800225"/>
            <a:ext cx="9675202" cy="3257550"/>
            <a:chOff x="2786062" y="2114550"/>
            <a:chExt cx="6619875" cy="22288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08F8A0-6050-4A3B-884A-7AE4932FE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6062" y="2514600"/>
              <a:ext cx="6619875" cy="1828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BC626C-5FC6-4533-8E68-F9B426CF7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5587" y="2114550"/>
              <a:ext cx="6600825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877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V="1">
            <a:off x="643440" y="841640"/>
            <a:ext cx="10031185" cy="45719"/>
          </a:xfrm>
          <a:custGeom>
            <a:avLst/>
            <a:gdLst/>
            <a:ahLst/>
            <a:cxnLst/>
            <a:rect l="l" t="t" r="r" b="b"/>
            <a:pathLst>
              <a:path w="6412230" h="10160">
                <a:moveTo>
                  <a:pt x="6412230" y="9906"/>
                </a:moveTo>
                <a:lnTo>
                  <a:pt x="6412230" y="0"/>
                </a:lnTo>
                <a:lnTo>
                  <a:pt x="0" y="0"/>
                </a:lnTo>
                <a:lnTo>
                  <a:pt x="0" y="9906"/>
                </a:lnTo>
                <a:lnTo>
                  <a:pt x="6412230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41" y="251984"/>
            <a:ext cx="7049446" cy="569839"/>
          </a:xfrm>
          <a:prstGeom prst="rect">
            <a:avLst/>
          </a:prstGeom>
        </p:spPr>
        <p:txBody>
          <a:bodyPr vert="horz" wrap="square" lIns="0" tIns="1568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24"/>
              </a:spcBef>
            </a:pPr>
            <a:r>
              <a:rPr sz="3600" spc="22" dirty="0"/>
              <a:t>Direct</a:t>
            </a:r>
            <a:r>
              <a:rPr sz="3600" spc="-62" dirty="0"/>
              <a:t> </a:t>
            </a:r>
            <a:r>
              <a:rPr sz="3600" spc="18" dirty="0"/>
              <a:t>Method</a:t>
            </a:r>
            <a:r>
              <a:rPr lang="en-US" sz="3600" spc="18" dirty="0"/>
              <a:t>: Financing</a:t>
            </a:r>
            <a:endParaRPr sz="36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11</a:t>
            </a:fld>
            <a:endParaRPr spc="18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C74DD-70AA-45F7-B0D1-F7F3DE57FC2C}"/>
              </a:ext>
            </a:extLst>
          </p:cNvPr>
          <p:cNvGrpSpPr>
            <a:grpSpLocks noChangeAspect="1"/>
          </p:cNvGrpSpPr>
          <p:nvPr/>
        </p:nvGrpSpPr>
        <p:grpSpPr>
          <a:xfrm>
            <a:off x="643440" y="1586679"/>
            <a:ext cx="9941857" cy="3684641"/>
            <a:chOff x="2795587" y="3200400"/>
            <a:chExt cx="6600825" cy="244639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5139620-08E6-42C0-A8C7-A0AD7F38A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5587" y="3200400"/>
              <a:ext cx="6600825" cy="457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9553FF-B678-48FA-8558-3CC9367AF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5112" y="3675116"/>
              <a:ext cx="6591300" cy="1971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02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4CE2-602F-4CCA-8658-04AADF5E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Formats: Indirect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F6262-08CC-4530-B030-F1875E31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4470999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99% of the time!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6312024B-948E-40DD-AAB5-89EEDDB2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5" y="1683479"/>
            <a:ext cx="9279538" cy="4996014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44393569-DFD3-4C62-89EC-6FD032A1E8ED}"/>
              </a:ext>
            </a:extLst>
          </p:cNvPr>
          <p:cNvSpPr/>
          <p:nvPr/>
        </p:nvSpPr>
        <p:spPr>
          <a:xfrm>
            <a:off x="10021330" y="4028303"/>
            <a:ext cx="593124" cy="2651190"/>
          </a:xfrm>
          <a:prstGeom prst="rightBrac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EC6FC-82AC-4582-9578-DE07309D4AFB}"/>
              </a:ext>
            </a:extLst>
          </p:cNvPr>
          <p:cNvSpPr txBox="1"/>
          <p:nvPr/>
        </p:nvSpPr>
        <p:spPr>
          <a:xfrm>
            <a:off x="10725917" y="4630623"/>
            <a:ext cx="14493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Follow The Cash</a:t>
            </a:r>
          </a:p>
          <a:p>
            <a:r>
              <a:rPr lang="en-US" sz="2200" b="1" dirty="0">
                <a:solidFill>
                  <a:srgbClr val="00B050"/>
                </a:solidFill>
              </a:rPr>
              <a:t>* Always Direct!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F70924-C9AC-38F5-CEB2-F678FBCE2A80}"/>
              </a:ext>
            </a:extLst>
          </p:cNvPr>
          <p:cNvSpPr/>
          <p:nvPr/>
        </p:nvSpPr>
        <p:spPr>
          <a:xfrm>
            <a:off x="618006" y="1652225"/>
            <a:ext cx="3695436" cy="246572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8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V="1">
            <a:off x="643440" y="841640"/>
            <a:ext cx="10031185" cy="45719"/>
          </a:xfrm>
          <a:custGeom>
            <a:avLst/>
            <a:gdLst/>
            <a:ahLst/>
            <a:cxnLst/>
            <a:rect l="l" t="t" r="r" b="b"/>
            <a:pathLst>
              <a:path w="6412230" h="10160">
                <a:moveTo>
                  <a:pt x="6412230" y="9906"/>
                </a:moveTo>
                <a:lnTo>
                  <a:pt x="6412230" y="0"/>
                </a:lnTo>
                <a:lnTo>
                  <a:pt x="0" y="0"/>
                </a:lnTo>
                <a:lnTo>
                  <a:pt x="0" y="9906"/>
                </a:lnTo>
                <a:lnTo>
                  <a:pt x="6412230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41" y="251984"/>
            <a:ext cx="7049446" cy="569839"/>
          </a:xfrm>
          <a:prstGeom prst="rect">
            <a:avLst/>
          </a:prstGeom>
        </p:spPr>
        <p:txBody>
          <a:bodyPr vert="horz" wrap="square" lIns="0" tIns="1568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24"/>
              </a:spcBef>
            </a:pPr>
            <a:r>
              <a:rPr lang="en-US" sz="3600" spc="22" dirty="0"/>
              <a:t>Ind</a:t>
            </a:r>
            <a:r>
              <a:rPr sz="3600" spc="22" dirty="0"/>
              <a:t>irect</a:t>
            </a:r>
            <a:r>
              <a:rPr sz="3600" spc="-62" dirty="0"/>
              <a:t> </a:t>
            </a:r>
            <a:r>
              <a:rPr sz="3600" spc="18" dirty="0"/>
              <a:t>Method</a:t>
            </a:r>
            <a:r>
              <a:rPr lang="en-US" sz="3600" spc="18" dirty="0"/>
              <a:t>: Operating</a:t>
            </a:r>
            <a:endParaRPr sz="36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13</a:t>
            </a:fld>
            <a:endParaRPr spc="18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9EF5F-810A-4636-9332-216367489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40" y="955041"/>
            <a:ext cx="8519610" cy="5082722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B6A55EA-14BA-4868-A208-663571774032}"/>
              </a:ext>
            </a:extLst>
          </p:cNvPr>
          <p:cNvSpPr txBox="1">
            <a:spLocks/>
          </p:cNvSpPr>
          <p:nvPr/>
        </p:nvSpPr>
        <p:spPr>
          <a:xfrm>
            <a:off x="9334500" y="4308821"/>
            <a:ext cx="2515303" cy="9680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ntano 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ntano 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ntano 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ntano 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ntano 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Totals are same as in direct method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082225-FC77-45C7-B686-71F256C9C069}"/>
              </a:ext>
            </a:extLst>
          </p:cNvPr>
          <p:cNvCxnSpPr>
            <a:cxnSpLocks/>
          </p:cNvCxnSpPr>
          <p:nvPr/>
        </p:nvCxnSpPr>
        <p:spPr>
          <a:xfrm flipH="1">
            <a:off x="9010650" y="4992005"/>
            <a:ext cx="884897" cy="910954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C1B71F3-0715-C641-0E0E-44EA8893A242}"/>
              </a:ext>
            </a:extLst>
          </p:cNvPr>
          <p:cNvSpPr/>
          <p:nvPr/>
        </p:nvSpPr>
        <p:spPr>
          <a:xfrm>
            <a:off x="806824" y="1667435"/>
            <a:ext cx="8256494" cy="295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36CB1-1D7B-A20A-2A07-00CA504DED0D}"/>
              </a:ext>
            </a:extLst>
          </p:cNvPr>
          <p:cNvSpPr/>
          <p:nvPr/>
        </p:nvSpPr>
        <p:spPr>
          <a:xfrm>
            <a:off x="806824" y="2338085"/>
            <a:ext cx="8256494" cy="33506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7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988" y="481705"/>
            <a:ext cx="8383647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  <a:tabLst>
                <a:tab pos="5602680" algn="l"/>
              </a:tabLst>
            </a:pPr>
            <a:r>
              <a:rPr lang="en-US" spc="13" dirty="0"/>
              <a:t>Indirect Method Steps</a:t>
            </a:r>
            <a:endParaRPr spc="13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14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600627" y="1781647"/>
            <a:ext cx="10231755" cy="3958398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343477" algn="ctr">
              <a:spcBef>
                <a:spcPts val="383"/>
              </a:spcBef>
              <a:tabLst>
                <a:tab pos="718334" algn="l"/>
                <a:tab pos="718896" algn="l"/>
              </a:tabLst>
            </a:pPr>
            <a:r>
              <a:rPr lang="en-US" sz="4000" b="1" u="sng" dirty="0">
                <a:latin typeface="Arial"/>
                <a:cs typeface="Arial"/>
              </a:rPr>
              <a:t>Goal</a:t>
            </a:r>
          </a:p>
          <a:p>
            <a:pPr marL="343477" algn="ctr">
              <a:spcBef>
                <a:spcPts val="383"/>
              </a:spcBef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Start with Net Income and </a:t>
            </a:r>
          </a:p>
          <a:p>
            <a:pPr marL="343477" algn="ctr">
              <a:spcBef>
                <a:spcPts val="383"/>
              </a:spcBef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remove non-cash revenues and expenses</a:t>
            </a:r>
          </a:p>
          <a:p>
            <a:pPr marL="343477" algn="ctr">
              <a:spcBef>
                <a:spcPts val="383"/>
              </a:spcBef>
              <a:tabLst>
                <a:tab pos="718334" algn="l"/>
                <a:tab pos="718896" algn="l"/>
              </a:tabLst>
            </a:pPr>
            <a:endParaRPr lang="en-US" sz="2800" dirty="0">
              <a:latin typeface="Arial"/>
              <a:cs typeface="Arial"/>
            </a:endParaRPr>
          </a:p>
          <a:p>
            <a:pPr marL="343477" algn="ctr">
              <a:spcBef>
                <a:spcPts val="383"/>
              </a:spcBef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(In other words, net income is our starting estimate of operating cash flow, but it includes some non-cash items, and doesn’t include other cash items)</a:t>
            </a:r>
          </a:p>
          <a:p>
            <a:pPr marL="718334" indent="-374857" algn="ctr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589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FC50-2604-47AF-9327-606DA043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Method: Operating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2283-C82C-4AF6-82E3-98D9DD49E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96" y="1323704"/>
            <a:ext cx="10844001" cy="5442244"/>
          </a:xfrm>
        </p:spPr>
        <p:txBody>
          <a:bodyPr>
            <a:normAutofit lnSpcReduction="10000"/>
          </a:bodyPr>
          <a:lstStyle/>
          <a:p>
            <a:pPr marL="457189" lvl="1" indent="0">
              <a:buNone/>
            </a:pPr>
            <a:r>
              <a:rPr lang="en-US" sz="2800" dirty="0"/>
              <a:t>Start with </a:t>
            </a:r>
            <a:r>
              <a:rPr lang="en-US" sz="2800" b="1" dirty="0"/>
              <a:t>net income</a:t>
            </a:r>
          </a:p>
          <a:p>
            <a:pPr marL="457189" lvl="1" indent="0">
              <a:buNone/>
            </a:pPr>
            <a:br>
              <a:rPr lang="en-US" sz="2800" dirty="0"/>
            </a:br>
            <a:r>
              <a:rPr lang="en-US" sz="2800" b="1" dirty="0"/>
              <a:t>*** Make 3 Types of Adjustments to Net Income ***</a:t>
            </a:r>
          </a:p>
          <a:p>
            <a:pPr marL="457189" lvl="1" indent="0">
              <a:buNone/>
            </a:pPr>
            <a:endParaRPr lang="en-US" sz="2800" b="1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/>
              <a:t>Income Statement Items:</a:t>
            </a:r>
          </a:p>
          <a:p>
            <a:pPr marL="1428727" lvl="2" indent="-514350">
              <a:buFont typeface="+mj-lt"/>
              <a:buAutoNum type="alphaLcParenR"/>
            </a:pPr>
            <a:r>
              <a:rPr lang="en-US" sz="2400" dirty="0"/>
              <a:t>Gains/Losses (sell LT assets: PP&amp;E, intangibles, </a:t>
            </a:r>
            <a:r>
              <a:rPr lang="en-US" sz="2400" dirty="0" err="1"/>
              <a:t>investmts</a:t>
            </a:r>
            <a:r>
              <a:rPr lang="en-US" sz="2400" dirty="0"/>
              <a:t>)</a:t>
            </a:r>
          </a:p>
          <a:p>
            <a:pPr marL="1428727" lvl="2" indent="-514350">
              <a:buFont typeface="+mj-lt"/>
              <a:buAutoNum type="alphaLcParenR"/>
            </a:pPr>
            <a:r>
              <a:rPr lang="en-US" sz="2400" dirty="0"/>
              <a:t>Non-Cash Expenses (Depreciation/Amortization, Stock Compensation, etc)</a:t>
            </a:r>
            <a:br>
              <a:rPr lang="en-US" sz="2400" dirty="0"/>
            </a:br>
            <a:endParaRPr lang="en-US" sz="2400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/>
              <a:t>Changes in operating assets (B/S, typically current)</a:t>
            </a:r>
            <a:br>
              <a:rPr lang="en-US" sz="2800" dirty="0"/>
            </a:br>
            <a:endParaRPr lang="en-US" sz="2800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/>
              <a:t>Changes in operating liabilities (B/S, typically current)</a:t>
            </a:r>
            <a:br>
              <a:rPr lang="en-US" sz="2800" u="sng" dirty="0"/>
            </a:br>
            <a:endParaRPr lang="en-US" sz="2800" u="sng" dirty="0"/>
          </a:p>
          <a:p>
            <a:pPr marL="457189" lvl="1" indent="0">
              <a:buNone/>
            </a:pPr>
            <a:r>
              <a:rPr lang="en-US" sz="2800" b="1" dirty="0"/>
              <a:t>Net Cash from </a:t>
            </a:r>
            <a:r>
              <a:rPr lang="en-US" sz="2800" b="1" u="sng" dirty="0"/>
              <a:t>Operations</a:t>
            </a:r>
          </a:p>
          <a:p>
            <a:pPr marL="971539" lvl="1" indent="-514350">
              <a:buFont typeface="+mj-lt"/>
              <a:buAutoNum type="arabicPeriod"/>
            </a:pPr>
            <a:endParaRPr lang="en-US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1972ED-D93B-4501-8746-B7D1DAB210B9}"/>
              </a:ext>
            </a:extLst>
          </p:cNvPr>
          <p:cNvCxnSpPr>
            <a:cxnSpLocks/>
          </p:cNvCxnSpPr>
          <p:nvPr/>
        </p:nvCxnSpPr>
        <p:spPr>
          <a:xfrm>
            <a:off x="568802" y="5859318"/>
            <a:ext cx="8610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896EE73-5ADB-955F-B378-839600EA2998}"/>
              </a:ext>
            </a:extLst>
          </p:cNvPr>
          <p:cNvSpPr/>
          <p:nvPr/>
        </p:nvSpPr>
        <p:spPr>
          <a:xfrm>
            <a:off x="9995052" y="2939071"/>
            <a:ext cx="1901628" cy="808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Opposite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(of Effect)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2DF0D3-5F70-1A21-E52A-7CD342919FEA}"/>
              </a:ext>
            </a:extLst>
          </p:cNvPr>
          <p:cNvSpPr/>
          <p:nvPr/>
        </p:nvSpPr>
        <p:spPr>
          <a:xfrm>
            <a:off x="9995052" y="4167712"/>
            <a:ext cx="1901628" cy="808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Opposite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(of Change)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7279F-D856-29BB-A950-C46608E6B1AA}"/>
              </a:ext>
            </a:extLst>
          </p:cNvPr>
          <p:cNvSpPr/>
          <p:nvPr/>
        </p:nvSpPr>
        <p:spPr>
          <a:xfrm>
            <a:off x="9995052" y="5142626"/>
            <a:ext cx="1901628" cy="80859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Same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(as Change)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5E8E98-5669-F2E1-D14B-1AFFA4223053}"/>
              </a:ext>
            </a:extLst>
          </p:cNvPr>
          <p:cNvSpPr/>
          <p:nvPr/>
        </p:nvSpPr>
        <p:spPr>
          <a:xfrm>
            <a:off x="4297336" y="1135883"/>
            <a:ext cx="4469837" cy="7363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Non-Cash Number!!!</a:t>
            </a:r>
          </a:p>
        </p:txBody>
      </p:sp>
    </p:spTree>
    <p:extLst>
      <p:ext uri="{BB962C8B-B14F-4D97-AF65-F5344CB8AC3E}">
        <p14:creationId xmlns:p14="http://schemas.microsoft.com/office/powerpoint/2010/main" val="122046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1B60CB2F-529D-4F3A-A4FF-9D6DD3D50E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781"/>
          <a:stretch/>
        </p:blipFill>
        <p:spPr>
          <a:xfrm>
            <a:off x="0" y="13430"/>
            <a:ext cx="6122774" cy="6831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5849D5-1BB8-4C0D-8116-F91AABF27BF6}"/>
              </a:ext>
            </a:extLst>
          </p:cNvPr>
          <p:cNvSpPr txBox="1"/>
          <p:nvPr/>
        </p:nvSpPr>
        <p:spPr>
          <a:xfrm>
            <a:off x="6305797" y="1341912"/>
            <a:ext cx="567640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Solution:</a:t>
            </a:r>
          </a:p>
          <a:p>
            <a:endParaRPr lang="en-US" sz="800" b="1" dirty="0"/>
          </a:p>
          <a:p>
            <a:pPr>
              <a:spcAft>
                <a:spcPts val="1200"/>
              </a:spcAft>
              <a:tabLst>
                <a:tab pos="463550" algn="l"/>
                <a:tab pos="688975" algn="l"/>
                <a:tab pos="5035550" algn="r"/>
              </a:tabLst>
            </a:pPr>
            <a:r>
              <a:rPr lang="en-US" sz="2400" b="1" dirty="0"/>
              <a:t>	</a:t>
            </a:r>
            <a:r>
              <a:rPr lang="en-US" sz="2400" dirty="0"/>
              <a:t>Net Income	9,000</a:t>
            </a:r>
          </a:p>
          <a:p>
            <a:pPr>
              <a:tabLst>
                <a:tab pos="463550" algn="l"/>
                <a:tab pos="688975" algn="l"/>
                <a:tab pos="5035550" algn="r"/>
              </a:tabLst>
            </a:pPr>
            <a:r>
              <a:rPr lang="en-US" sz="2400" dirty="0"/>
              <a:t>	Non-cash adj:</a:t>
            </a:r>
          </a:p>
          <a:p>
            <a:pPr>
              <a:tabLst>
                <a:tab pos="463550" algn="l"/>
                <a:tab pos="914400" algn="l"/>
                <a:tab pos="5035550" algn="r"/>
              </a:tabLst>
            </a:pPr>
            <a:r>
              <a:rPr lang="en-US" sz="2400" dirty="0"/>
              <a:t>		</a:t>
            </a:r>
            <a:r>
              <a:rPr lang="en-US" sz="2200" dirty="0"/>
              <a:t>+ </a:t>
            </a:r>
            <a:r>
              <a:rPr lang="en-US" sz="2200" dirty="0" err="1"/>
              <a:t>Depr</a:t>
            </a:r>
            <a:r>
              <a:rPr lang="en-US" sz="2200" dirty="0"/>
              <a:t> Exp	3,000</a:t>
            </a:r>
          </a:p>
          <a:p>
            <a:pPr>
              <a:spcBef>
                <a:spcPts val="1200"/>
              </a:spcBef>
              <a:tabLst>
                <a:tab pos="463550" algn="l"/>
                <a:tab pos="688975" algn="l"/>
                <a:tab pos="5035550" algn="r"/>
              </a:tabLst>
            </a:pPr>
            <a:r>
              <a:rPr lang="en-US" sz="2400" dirty="0"/>
              <a:t>	(-) </a:t>
            </a:r>
            <a:r>
              <a:rPr lang="en-US" sz="2400" dirty="0" err="1"/>
              <a:t>Chg</a:t>
            </a:r>
            <a:r>
              <a:rPr lang="en-US" sz="2400" dirty="0"/>
              <a:t> Op Assets:</a:t>
            </a:r>
          </a:p>
          <a:p>
            <a:pPr>
              <a:tabLst>
                <a:tab pos="463550" algn="l"/>
                <a:tab pos="914400" algn="l"/>
                <a:tab pos="5035550" algn="r"/>
              </a:tabLst>
            </a:pPr>
            <a:r>
              <a:rPr lang="en-US" sz="2400" dirty="0"/>
              <a:t>		</a:t>
            </a:r>
            <a:r>
              <a:rPr lang="en-US" sz="2200" dirty="0"/>
              <a:t>- </a:t>
            </a:r>
            <a:r>
              <a:rPr lang="en-US" sz="2200" dirty="0" err="1"/>
              <a:t>Incr</a:t>
            </a:r>
            <a:r>
              <a:rPr lang="en-US" sz="2200" dirty="0"/>
              <a:t> A/R	(6,000)</a:t>
            </a:r>
          </a:p>
          <a:p>
            <a:pPr>
              <a:spcBef>
                <a:spcPts val="1200"/>
              </a:spcBef>
              <a:tabLst>
                <a:tab pos="463550" algn="l"/>
                <a:tab pos="688975" algn="l"/>
                <a:tab pos="5035550" algn="r"/>
              </a:tabLst>
            </a:pPr>
            <a:r>
              <a:rPr lang="en-US" sz="2400" dirty="0"/>
              <a:t>	(+) </a:t>
            </a:r>
            <a:r>
              <a:rPr lang="en-US" sz="2400" dirty="0" err="1"/>
              <a:t>Chg</a:t>
            </a:r>
            <a:r>
              <a:rPr lang="en-US" sz="2400" dirty="0"/>
              <a:t> Op </a:t>
            </a:r>
            <a:r>
              <a:rPr lang="en-US" sz="2400" dirty="0" err="1"/>
              <a:t>Liabilites</a:t>
            </a:r>
            <a:r>
              <a:rPr lang="en-US" sz="2400" dirty="0"/>
              <a:t>:</a:t>
            </a:r>
          </a:p>
          <a:p>
            <a:pPr>
              <a:tabLst>
                <a:tab pos="463550" algn="l"/>
                <a:tab pos="914400" algn="l"/>
                <a:tab pos="5035550" algn="r"/>
              </a:tabLst>
            </a:pPr>
            <a:r>
              <a:rPr lang="en-US" sz="2400" dirty="0"/>
              <a:t>		</a:t>
            </a:r>
            <a:r>
              <a:rPr lang="en-US" sz="2200" dirty="0"/>
              <a:t>+ </a:t>
            </a:r>
            <a:r>
              <a:rPr lang="en-US" sz="2200" dirty="0" err="1"/>
              <a:t>Incr</a:t>
            </a:r>
            <a:r>
              <a:rPr lang="en-US" sz="2200" dirty="0"/>
              <a:t> A/P	2,500</a:t>
            </a:r>
          </a:p>
          <a:p>
            <a:pPr>
              <a:tabLst>
                <a:tab pos="463550" algn="l"/>
                <a:tab pos="914400" algn="l"/>
                <a:tab pos="5035550" algn="r"/>
              </a:tabLst>
            </a:pPr>
            <a:r>
              <a:rPr lang="en-US" sz="2200" dirty="0"/>
              <a:t>		+ </a:t>
            </a:r>
            <a:r>
              <a:rPr lang="en-US" sz="2200" dirty="0" err="1"/>
              <a:t>Decr</a:t>
            </a:r>
            <a:r>
              <a:rPr lang="en-US" sz="2200"/>
              <a:t> Tax Pay</a:t>
            </a:r>
            <a:r>
              <a:rPr lang="en-US" sz="2200" dirty="0"/>
              <a:t>	(4,000)</a:t>
            </a:r>
          </a:p>
          <a:p>
            <a:pPr>
              <a:spcBef>
                <a:spcPts val="1200"/>
              </a:spcBef>
              <a:tabLst>
                <a:tab pos="463550" algn="l"/>
                <a:tab pos="914400" algn="l"/>
                <a:tab pos="5035550" algn="r"/>
              </a:tabLst>
            </a:pPr>
            <a:r>
              <a:rPr lang="en-US" sz="2400" dirty="0"/>
              <a:t>	Operating Cash Flow	4,500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407371-817F-444C-BED4-BE8471D31F84}"/>
              </a:ext>
            </a:extLst>
          </p:cNvPr>
          <p:cNvCxnSpPr/>
          <p:nvPr/>
        </p:nvCxnSpPr>
        <p:spPr>
          <a:xfrm>
            <a:off x="6863938" y="5379530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DA85ABE-F783-4D8A-B77E-96895FFEE28C}"/>
              </a:ext>
            </a:extLst>
          </p:cNvPr>
          <p:cNvSpPr/>
          <p:nvPr/>
        </p:nvSpPr>
        <p:spPr>
          <a:xfrm>
            <a:off x="6122774" y="985652"/>
            <a:ext cx="2748094" cy="3562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7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27EC025-F1CD-4222-D8DE-3CD8C02E0CA5}"/>
              </a:ext>
            </a:extLst>
          </p:cNvPr>
          <p:cNvGrpSpPr/>
          <p:nvPr/>
        </p:nvGrpSpPr>
        <p:grpSpPr>
          <a:xfrm>
            <a:off x="2893268" y="1241125"/>
            <a:ext cx="6997181" cy="5285614"/>
            <a:chOff x="2893268" y="1241125"/>
            <a:chExt cx="6997181" cy="52856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F805A65-9686-03EB-9361-D986FAB9E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3268" y="1241125"/>
              <a:ext cx="6953592" cy="52856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FF4DCEA-5344-CA37-8F59-F00EB4C5D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4816" y="1654117"/>
              <a:ext cx="1394716" cy="24459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8F4824-D53E-61FC-F96E-49784AD80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69468" y="1628037"/>
              <a:ext cx="720981" cy="20294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5E733C-F369-4A23-8C78-5EA7A569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5CAFB-D731-493E-9BE1-0B7B363E7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34" y="1504070"/>
            <a:ext cx="2437263" cy="4419971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the records of Mulan Corp. on December 31, 202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3F575-7696-4575-915E-B822B53597E9}"/>
              </a:ext>
            </a:extLst>
          </p:cNvPr>
          <p:cNvSpPr txBox="1"/>
          <p:nvPr/>
        </p:nvSpPr>
        <p:spPr>
          <a:xfrm>
            <a:off x="6659285" y="4963417"/>
            <a:ext cx="5246463" cy="72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286000" algn="ctr"/>
                <a:tab pos="4572000" algn="ctr"/>
              </a:tabLst>
            </a:pPr>
            <a:r>
              <a:rPr lang="en-US" sz="20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Prepare the Cash Flow from </a:t>
            </a:r>
            <a:r>
              <a:rPr lang="en-US" sz="20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Operating</a:t>
            </a:r>
            <a:r>
              <a:rPr lang="en-US" sz="20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Activities </a:t>
            </a:r>
            <a:r>
              <a:rPr lang="en-US" sz="20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section using the </a:t>
            </a:r>
            <a:r>
              <a:rPr lang="en-US" sz="20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Indirect Method</a:t>
            </a:r>
            <a:r>
              <a:rPr lang="en-US" sz="20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CF0F46A-DD7E-F2AE-9834-CD99AA8CC31D}"/>
              </a:ext>
            </a:extLst>
          </p:cNvPr>
          <p:cNvSpPr/>
          <p:nvPr/>
        </p:nvSpPr>
        <p:spPr>
          <a:xfrm rot="10800000">
            <a:off x="10039494" y="3673776"/>
            <a:ext cx="1121672" cy="20435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9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accel="56000" decel="4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FC50-2604-47AF-9327-606DA043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Method: Operating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2283-C82C-4AF6-82E3-98D9DD49E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96" y="1323704"/>
            <a:ext cx="10844001" cy="5442244"/>
          </a:xfrm>
        </p:spPr>
        <p:txBody>
          <a:bodyPr>
            <a:normAutofit lnSpcReduction="10000"/>
          </a:bodyPr>
          <a:lstStyle/>
          <a:p>
            <a:pPr marL="457189" lvl="1" indent="0">
              <a:buNone/>
            </a:pPr>
            <a:r>
              <a:rPr lang="en-US" sz="2800" dirty="0"/>
              <a:t>Start with </a:t>
            </a:r>
            <a:r>
              <a:rPr lang="en-US" sz="2800" b="1" dirty="0"/>
              <a:t>net income</a:t>
            </a:r>
          </a:p>
          <a:p>
            <a:pPr marL="457189" lvl="1" indent="0">
              <a:buNone/>
            </a:pPr>
            <a:br>
              <a:rPr lang="en-US" sz="2800" dirty="0"/>
            </a:br>
            <a:r>
              <a:rPr lang="en-US" sz="2800" b="1" dirty="0"/>
              <a:t>*** Make 3 Types of Adjustments to Net Income ***</a:t>
            </a:r>
          </a:p>
          <a:p>
            <a:pPr marL="457189" lvl="1" indent="0">
              <a:buNone/>
            </a:pPr>
            <a:endParaRPr lang="en-US" sz="2800" b="1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/>
              <a:t>Income Statement Items:</a:t>
            </a:r>
          </a:p>
          <a:p>
            <a:pPr marL="1428727" lvl="2" indent="-514350">
              <a:buFont typeface="+mj-lt"/>
              <a:buAutoNum type="alphaLcParenR"/>
            </a:pPr>
            <a:r>
              <a:rPr lang="en-US" sz="2400" dirty="0"/>
              <a:t>Gains/Losses (sell LT assets: PP&amp;E, intangibles, </a:t>
            </a:r>
            <a:r>
              <a:rPr lang="en-US" sz="2400" dirty="0" err="1"/>
              <a:t>investmts</a:t>
            </a:r>
            <a:r>
              <a:rPr lang="en-US" sz="2400" dirty="0"/>
              <a:t>)</a:t>
            </a:r>
          </a:p>
          <a:p>
            <a:pPr marL="1428727" lvl="2" indent="-514350">
              <a:buFont typeface="+mj-lt"/>
              <a:buAutoNum type="alphaLcParenR"/>
            </a:pPr>
            <a:r>
              <a:rPr lang="en-US" sz="2400" dirty="0"/>
              <a:t>Non-Cash Expenses (Depreciation/Amortization, Stock Compensation, etc)</a:t>
            </a:r>
            <a:br>
              <a:rPr lang="en-US" sz="2400" dirty="0"/>
            </a:br>
            <a:endParaRPr lang="en-US" sz="2400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/>
              <a:t>Changes in operating assets (B/S, typically current)</a:t>
            </a:r>
            <a:br>
              <a:rPr lang="en-US" sz="2800" dirty="0"/>
            </a:br>
            <a:endParaRPr lang="en-US" sz="2800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/>
              <a:t>Changes in operating liabilities (B/S, typically current)</a:t>
            </a:r>
            <a:br>
              <a:rPr lang="en-US" sz="2800" u="sng" dirty="0"/>
            </a:br>
            <a:endParaRPr lang="en-US" sz="2800" u="sng" dirty="0"/>
          </a:p>
          <a:p>
            <a:pPr marL="457189" lvl="1" indent="0">
              <a:buNone/>
            </a:pPr>
            <a:r>
              <a:rPr lang="en-US" sz="2800" b="1" dirty="0"/>
              <a:t>Net Cash from Operations</a:t>
            </a:r>
          </a:p>
          <a:p>
            <a:pPr marL="971539" lvl="1" indent="-514350">
              <a:buFont typeface="+mj-lt"/>
              <a:buAutoNum type="arabicPeriod"/>
            </a:pPr>
            <a:endParaRPr lang="en-US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1972ED-D93B-4501-8746-B7D1DAB210B9}"/>
              </a:ext>
            </a:extLst>
          </p:cNvPr>
          <p:cNvCxnSpPr>
            <a:cxnSpLocks/>
          </p:cNvCxnSpPr>
          <p:nvPr/>
        </p:nvCxnSpPr>
        <p:spPr>
          <a:xfrm>
            <a:off x="568802" y="5859318"/>
            <a:ext cx="8610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896EE73-5ADB-955F-B378-839600EA2998}"/>
              </a:ext>
            </a:extLst>
          </p:cNvPr>
          <p:cNvSpPr/>
          <p:nvPr/>
        </p:nvSpPr>
        <p:spPr>
          <a:xfrm>
            <a:off x="9995052" y="2939071"/>
            <a:ext cx="1901628" cy="808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Opposite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(of Effect)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2DF0D3-5F70-1A21-E52A-7CD342919FEA}"/>
              </a:ext>
            </a:extLst>
          </p:cNvPr>
          <p:cNvSpPr/>
          <p:nvPr/>
        </p:nvSpPr>
        <p:spPr>
          <a:xfrm>
            <a:off x="9995052" y="4167712"/>
            <a:ext cx="1901628" cy="808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Opposite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(of Change)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7279F-D856-29BB-A950-C46608E6B1AA}"/>
              </a:ext>
            </a:extLst>
          </p:cNvPr>
          <p:cNvSpPr/>
          <p:nvPr/>
        </p:nvSpPr>
        <p:spPr>
          <a:xfrm>
            <a:off x="9995052" y="5142626"/>
            <a:ext cx="1901628" cy="80859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Same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(as Change)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5E8E98-5669-F2E1-D14B-1AFFA4223053}"/>
              </a:ext>
            </a:extLst>
          </p:cNvPr>
          <p:cNvSpPr/>
          <p:nvPr/>
        </p:nvSpPr>
        <p:spPr>
          <a:xfrm>
            <a:off x="4297336" y="1135883"/>
            <a:ext cx="4469837" cy="7363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Non-Cash Number!!!</a:t>
            </a:r>
          </a:p>
        </p:txBody>
      </p:sp>
    </p:spTree>
    <p:extLst>
      <p:ext uri="{BB962C8B-B14F-4D97-AF65-F5344CB8AC3E}">
        <p14:creationId xmlns:p14="http://schemas.microsoft.com/office/powerpoint/2010/main" val="626901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FC50-2604-47AF-9327-606DA043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2283-C82C-4AF6-82E3-98D9DD49E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842"/>
            <a:ext cx="10515600" cy="5088835"/>
          </a:xfrm>
        </p:spPr>
        <p:txBody>
          <a:bodyPr>
            <a:normAutofit fontScale="92500" lnSpcReduction="20000"/>
          </a:bodyPr>
          <a:lstStyle/>
          <a:p>
            <a:pPr marL="457189" lvl="1" indent="0">
              <a:buNone/>
            </a:pPr>
            <a:r>
              <a:rPr lang="en-US" sz="2800" dirty="0"/>
              <a:t>Start with </a:t>
            </a:r>
            <a:r>
              <a:rPr lang="en-US" sz="2800" b="1" dirty="0"/>
              <a:t>net income </a:t>
            </a:r>
            <a:r>
              <a:rPr lang="en-US" sz="2800" dirty="0"/>
              <a:t>(accrual number)</a:t>
            </a:r>
            <a:br>
              <a:rPr lang="en-US" sz="2800" dirty="0"/>
            </a:br>
            <a:endParaRPr lang="en-US" sz="2800" b="1" dirty="0"/>
          </a:p>
          <a:p>
            <a:pPr marL="971539" lvl="1" indent="-514350">
              <a:buFont typeface="+mj-lt"/>
              <a:buAutoNum type="arabicPeriod"/>
            </a:pPr>
            <a:r>
              <a:rPr lang="en-US" sz="2800" dirty="0"/>
              <a:t>Subtract non-cash gains</a:t>
            </a:r>
          </a:p>
          <a:p>
            <a:pPr lvl="2"/>
            <a:r>
              <a:rPr lang="en-US" sz="2400" dirty="0"/>
              <a:t>Gains on sales of long-term assets (PP&amp;E and intangibles)</a:t>
            </a:r>
          </a:p>
          <a:p>
            <a:pPr lvl="2"/>
            <a:r>
              <a:rPr lang="en-US" sz="2400" dirty="0"/>
              <a:t>Gains on sales of investments</a:t>
            </a:r>
            <a:br>
              <a:rPr lang="en-US" sz="2400" dirty="0"/>
            </a:br>
            <a:endParaRPr lang="en-US" sz="2400" i="1" dirty="0"/>
          </a:p>
          <a:p>
            <a:pPr marL="457189" lvl="1" indent="0">
              <a:buNone/>
            </a:pPr>
            <a:r>
              <a:rPr lang="en-US" sz="2800" dirty="0"/>
              <a:t>Add back non-cash losses/expenses</a:t>
            </a:r>
          </a:p>
          <a:p>
            <a:pPr lvl="2"/>
            <a:r>
              <a:rPr lang="en-US" sz="2400" dirty="0"/>
              <a:t>Losses on sales of long-term assets (PP&amp;E and intangibles)</a:t>
            </a:r>
          </a:p>
          <a:p>
            <a:pPr lvl="2"/>
            <a:r>
              <a:rPr lang="en-US" sz="2400" dirty="0"/>
              <a:t>Losses on sales of investments</a:t>
            </a:r>
          </a:p>
          <a:p>
            <a:pPr lvl="2"/>
            <a:r>
              <a:rPr lang="en-US" sz="2400" dirty="0"/>
              <a:t>Depreciation and amortization</a:t>
            </a:r>
            <a:br>
              <a:rPr lang="en-US" sz="2400" dirty="0"/>
            </a:br>
            <a:endParaRPr lang="en-US" sz="2400" dirty="0"/>
          </a:p>
          <a:p>
            <a:pPr marL="457189" lvl="1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2. Subtract changes in operating assets</a:t>
            </a:r>
            <a:br>
              <a:rPr lang="en-US" sz="2800" dirty="0"/>
            </a:br>
            <a:endParaRPr lang="en-US" sz="2800" dirty="0"/>
          </a:p>
          <a:p>
            <a:pPr marL="457189" lvl="1" indent="0">
              <a:buNone/>
            </a:pPr>
            <a:r>
              <a:rPr lang="en-US" sz="2800" u="sng" dirty="0">
                <a:solidFill>
                  <a:srgbClr val="FF0000"/>
                </a:solidFill>
              </a:rPr>
              <a:t>3. Add changes in operating liabilities</a:t>
            </a:r>
            <a:br>
              <a:rPr lang="en-US" sz="2800" u="sng" dirty="0"/>
            </a:br>
            <a:endParaRPr lang="en-US" sz="2800" u="sng" dirty="0"/>
          </a:p>
          <a:p>
            <a:pPr marL="457189" lvl="1" indent="0">
              <a:buNone/>
            </a:pPr>
            <a:r>
              <a:rPr lang="en-US" sz="2800" b="1" dirty="0"/>
              <a:t>Net Cash from Operations</a:t>
            </a:r>
          </a:p>
          <a:p>
            <a:pPr marL="971539" lvl="1" indent="-51435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60769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90FD-13E0-4C07-86AF-2462ACB5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Cash Flow Intuition – operating asset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74EA-16A8-4F85-888B-4E156ADFE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6" y="1453626"/>
            <a:ext cx="10041447" cy="5225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Change in Accounts Receivable (</a:t>
            </a:r>
            <a:r>
              <a:rPr lang="en-US" b="1" dirty="0">
                <a:solidFill>
                  <a:srgbClr val="FF0000"/>
                </a:solidFill>
              </a:rPr>
              <a:t>Opposite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Firm sells $100 of goods on account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Journal entry?</a:t>
            </a:r>
          </a:p>
          <a:p>
            <a:pPr marL="0" indent="0">
              <a:buNone/>
            </a:pPr>
            <a:r>
              <a:rPr lang="en-US" dirty="0"/>
              <a:t>	A/R (B-A)			100</a:t>
            </a:r>
          </a:p>
          <a:p>
            <a:pPr marL="0" indent="0">
              <a:buNone/>
            </a:pPr>
            <a:r>
              <a:rPr lang="en-US" dirty="0"/>
              <a:t>		Revenue (I-R)		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6A114-D544-42EF-8A5B-9B2A509DA198}"/>
              </a:ext>
            </a:extLst>
          </p:cNvPr>
          <p:cNvSpPr txBox="1"/>
          <p:nvPr/>
        </p:nvSpPr>
        <p:spPr>
          <a:xfrm>
            <a:off x="1587447" y="5404374"/>
            <a:ext cx="9141434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Net Income goes up but no effect on Cash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47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90FD-13E0-4C07-86AF-2462ACB5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Cash Flow Intuition – operating asset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74EA-16A8-4F85-888B-4E156ADFE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6" y="1453626"/>
            <a:ext cx="9854410" cy="5225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Change in Accounts Receivable (</a:t>
            </a:r>
            <a:r>
              <a:rPr lang="en-US" b="1" dirty="0">
                <a:solidFill>
                  <a:srgbClr val="FF0000"/>
                </a:solidFill>
              </a:rPr>
              <a:t>Opposite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Firm collects $50 from previous sale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Journal entry?</a:t>
            </a:r>
          </a:p>
          <a:p>
            <a:pPr marL="0" indent="0">
              <a:buNone/>
            </a:pPr>
            <a:r>
              <a:rPr lang="en-US" dirty="0"/>
              <a:t>	Cash (B-A)			50</a:t>
            </a:r>
          </a:p>
          <a:p>
            <a:pPr marL="0" indent="0">
              <a:buNone/>
            </a:pPr>
            <a:r>
              <a:rPr lang="en-US" dirty="0"/>
              <a:t>		A/R (B-A)			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6A114-D544-42EF-8A5B-9B2A509DA198}"/>
              </a:ext>
            </a:extLst>
          </p:cNvPr>
          <p:cNvSpPr txBox="1"/>
          <p:nvPr/>
        </p:nvSpPr>
        <p:spPr>
          <a:xfrm>
            <a:off x="1587447" y="5404374"/>
            <a:ext cx="914143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Cash goes up but no effect on Net Income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64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90FD-13E0-4C07-86AF-2462ACB5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Cash Flow Intuition – operating liability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74EA-16A8-4F85-888B-4E156ADFE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6" y="1358376"/>
            <a:ext cx="10715124" cy="5225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Change in Salaries Payable (</a:t>
            </a:r>
            <a:r>
              <a:rPr lang="en-US" b="1" dirty="0">
                <a:solidFill>
                  <a:srgbClr val="00B050"/>
                </a:solidFill>
              </a:rPr>
              <a:t>Same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/>
              <a:t>Firm has employee salaries of $10,000 for December. Company will pay employees on January 5th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Journal entry?</a:t>
            </a:r>
          </a:p>
          <a:p>
            <a:pPr marL="0" indent="0">
              <a:buNone/>
            </a:pPr>
            <a:r>
              <a:rPr lang="en-US" dirty="0"/>
              <a:t>	Salary Expense (I-E)			10,000</a:t>
            </a:r>
          </a:p>
          <a:p>
            <a:pPr marL="0" indent="0">
              <a:buNone/>
            </a:pPr>
            <a:r>
              <a:rPr lang="en-US" dirty="0"/>
              <a:t>		Salary Payable (B-L)			10,000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6A114-D544-42EF-8A5B-9B2A509DA198}"/>
              </a:ext>
            </a:extLst>
          </p:cNvPr>
          <p:cNvSpPr txBox="1"/>
          <p:nvPr/>
        </p:nvSpPr>
        <p:spPr>
          <a:xfrm>
            <a:off x="1322109" y="5499624"/>
            <a:ext cx="9547781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Net Income goes down but no effect on Cash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56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90FD-13E0-4C07-86AF-2462ACB5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Cash Flow Intuition – operating 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74EA-16A8-4F85-888B-4E156ADFE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6" y="1453626"/>
            <a:ext cx="9417992" cy="5225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Change in Salaries Payable (</a:t>
            </a:r>
            <a:r>
              <a:rPr lang="en-US" b="1" dirty="0">
                <a:solidFill>
                  <a:srgbClr val="00B050"/>
                </a:solidFill>
              </a:rPr>
              <a:t>Same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/>
              <a:t>Firm pays employee salaries of $10,000 from previous month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Journal entry?</a:t>
            </a:r>
          </a:p>
          <a:p>
            <a:pPr marL="0" indent="0">
              <a:buNone/>
            </a:pPr>
            <a:r>
              <a:rPr lang="en-US" dirty="0"/>
              <a:t>	Salary Payable (B-L) 			10,000</a:t>
            </a:r>
          </a:p>
          <a:p>
            <a:pPr marL="0" indent="0">
              <a:buNone/>
            </a:pPr>
            <a:r>
              <a:rPr lang="en-US" dirty="0"/>
              <a:t>		Cash (B-A)					10,000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6A114-D544-42EF-8A5B-9B2A509DA198}"/>
              </a:ext>
            </a:extLst>
          </p:cNvPr>
          <p:cNvSpPr txBox="1"/>
          <p:nvPr/>
        </p:nvSpPr>
        <p:spPr>
          <a:xfrm>
            <a:off x="1339796" y="5499624"/>
            <a:ext cx="95300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Cash goes down but no effect on Net Income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8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EDA4E-8E0E-029A-42E3-14770B25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ACCF89-9DD8-04E6-E0B2-142EA1F10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14ED57-E5A1-85FC-FAF9-760F2A81B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2" name="Freeform 44">
              <a:extLst>
                <a:ext uri="{FF2B5EF4-FFF2-40B4-BE49-F238E27FC236}">
                  <a16:creationId xmlns:a16="http://schemas.microsoft.com/office/drawing/2014/main" id="{C9DCAED1-9B3A-67F2-EB14-B5E7E6A15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Freeform 45">
              <a:extLst>
                <a:ext uri="{FF2B5EF4-FFF2-40B4-BE49-F238E27FC236}">
                  <a16:creationId xmlns:a16="http://schemas.microsoft.com/office/drawing/2014/main" id="{DF7A8C9E-046A-65C4-C603-2E89861FD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712CDA2E-51F5-1C6B-7B30-095C377C3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" name="Freeform 47">
              <a:extLst>
                <a:ext uri="{FF2B5EF4-FFF2-40B4-BE49-F238E27FC236}">
                  <a16:creationId xmlns:a16="http://schemas.microsoft.com/office/drawing/2014/main" id="{51BD0F9C-0CFB-17B0-8201-41D511B6A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21BFE-69DF-CC6F-EA81-DF648A30BC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29B696-0729-CCF6-65A2-7A13C23FC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Optional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7F3A6-6909-BEC6-10F5-4C3584F3A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703" y="2494450"/>
            <a:ext cx="5594125" cy="3938434"/>
          </a:xfrm>
        </p:spPr>
        <p:txBody>
          <a:bodyPr>
            <a:noAutofit/>
          </a:bodyPr>
          <a:lstStyle/>
          <a:p>
            <a:pPr>
              <a:tabLst>
                <a:tab pos="1492250" algn="l"/>
              </a:tabLst>
            </a:pPr>
            <a:endParaRPr lang="en-US" sz="2400" dirty="0"/>
          </a:p>
          <a:p>
            <a:pPr>
              <a:tabLst>
                <a:tab pos="1492250" algn="l"/>
              </a:tabLst>
            </a:pPr>
            <a:r>
              <a:rPr lang="en-US" sz="2400" dirty="0"/>
              <a:t>Next Class: Cash Flow 2</a:t>
            </a:r>
          </a:p>
          <a:p>
            <a:pPr>
              <a:tabLst>
                <a:tab pos="1492250" algn="l"/>
              </a:tabLst>
            </a:pPr>
            <a:r>
              <a:rPr lang="en-US" sz="2400" dirty="0"/>
              <a:t>In-Class Problem: Do Operating Section</a:t>
            </a:r>
          </a:p>
          <a:p>
            <a:pPr>
              <a:tabLst>
                <a:tab pos="1492250" algn="l"/>
              </a:tabLst>
            </a:pPr>
            <a:endParaRPr lang="en-US" sz="2400" dirty="0"/>
          </a:p>
          <a:p>
            <a:pPr>
              <a:tabLst>
                <a:tab pos="1492250" algn="l"/>
              </a:tabLst>
            </a:pPr>
            <a:endParaRPr lang="en-US" sz="2400" dirty="0"/>
          </a:p>
          <a:p>
            <a:pPr>
              <a:tabLst>
                <a:tab pos="1492250" algn="l"/>
              </a:tabLst>
            </a:pPr>
            <a:endParaRPr lang="en-US" sz="2400" dirty="0"/>
          </a:p>
        </p:txBody>
      </p:sp>
      <p:pic>
        <p:nvPicPr>
          <p:cNvPr id="17" name="Picture 16" descr="Text, letter&#10;&#10;Description automatically generated">
            <a:extLst>
              <a:ext uri="{FF2B5EF4-FFF2-40B4-BE49-F238E27FC236}">
                <a16:creationId xmlns:a16="http://schemas.microsoft.com/office/drawing/2014/main" id="{832CB4E9-9310-F72C-22A8-17536F1DC8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46" r="16482" b="1"/>
          <a:stretch/>
        </p:blipFill>
        <p:spPr>
          <a:xfrm>
            <a:off x="7191216" y="2494450"/>
            <a:ext cx="3867989" cy="287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33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206" defTabSz="914400">
              <a:tabLst>
                <a:tab pos="5602680" algn="l"/>
              </a:tabLst>
            </a:pPr>
            <a:r>
              <a:rPr lang="en-US" sz="4000" kern="1200" spc="13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7279" y="2494450"/>
            <a:ext cx="5549685" cy="4076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r>
              <a:rPr lang="en-US" sz="2400" dirty="0"/>
              <a:t>Two cash flow reporting methods: Direct and Indirect</a:t>
            </a:r>
          </a:p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endParaRPr lang="en-US" sz="2400" dirty="0"/>
          </a:p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r>
              <a:rPr lang="en-US" sz="2400" dirty="0"/>
              <a:t>Investing and Financing are </a:t>
            </a:r>
            <a:r>
              <a:rPr lang="en-US" sz="2400" u="sng" dirty="0"/>
              <a:t>always direct method</a:t>
            </a:r>
          </a:p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endParaRPr lang="en-US" sz="2400" dirty="0"/>
          </a:p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r>
              <a:rPr lang="en-US" sz="2400" b="1" dirty="0"/>
              <a:t>Operating</a:t>
            </a:r>
            <a:r>
              <a:rPr lang="en-US" sz="2400" dirty="0"/>
              <a:t> can be either (but </a:t>
            </a:r>
            <a:r>
              <a:rPr lang="en-US" sz="2400" u="sng" dirty="0"/>
              <a:t>usually indirect</a:t>
            </a:r>
            <a:r>
              <a:rPr lang="en-US" sz="2400" dirty="0"/>
              <a:t>). </a:t>
            </a:r>
          </a:p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endParaRPr lang="en-US" sz="2400" dirty="0"/>
          </a:p>
          <a:p>
            <a:pPr marL="718334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r>
              <a:rPr lang="en-US" sz="2400" dirty="0"/>
              <a:t>If use direct must also report indirect.</a:t>
            </a:r>
          </a:p>
          <a:p>
            <a:pPr marL="1175534" lvl="1" indent="-228600">
              <a:lnSpc>
                <a:spcPct val="90000"/>
              </a:lnSpc>
              <a:spcBef>
                <a:spcPts val="383"/>
              </a:spcBef>
              <a:buFont typeface="Arial" panose="020B0604020202020204" pitchFamily="34" charset="0"/>
              <a:buChar char="•"/>
              <a:tabLst>
                <a:tab pos="718334" algn="l"/>
                <a:tab pos="718896" algn="l"/>
              </a:tabLst>
            </a:pPr>
            <a:endParaRPr lang="en-US" sz="2000" dirty="0"/>
          </a:p>
        </p:txBody>
      </p:sp>
      <p:pic>
        <p:nvPicPr>
          <p:cNvPr id="5" name="Picture 4" descr="A green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8316668-22A6-492B-A227-C3A936D5AC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1" r="4748" b="2"/>
          <a:stretch/>
        </p:blipFill>
        <p:spPr>
          <a:xfrm>
            <a:off x="6903352" y="2492388"/>
            <a:ext cx="3997943" cy="296644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707624" y="6382512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600"/>
              </a:spcAft>
            </a:pPr>
            <a:fld id="{81D60167-4931-47E6-BA6A-407CBD079E47}" type="slidenum">
              <a:rPr lang="en-US" sz="1000" spc="2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>
                <a:spcAft>
                  <a:spcPts val="600"/>
                </a:spcAft>
              </a:pPr>
              <a:t>25</a:t>
            </a:fld>
            <a:endParaRPr lang="en-US" sz="1000" spc="18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79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2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7AF6F8-0943-4410-B3EF-33A50C13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Things to do…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4152F-72F6-48DB-8B2E-5751723A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703" y="2494450"/>
            <a:ext cx="5594125" cy="3938434"/>
          </a:xfrm>
        </p:spPr>
        <p:txBody>
          <a:bodyPr>
            <a:noAutofit/>
          </a:bodyPr>
          <a:lstStyle/>
          <a:p>
            <a:pPr>
              <a:tabLst>
                <a:tab pos="1492250" algn="l"/>
              </a:tabLst>
            </a:pPr>
            <a:endParaRPr lang="en-US" sz="2400" dirty="0"/>
          </a:p>
          <a:p>
            <a:pPr>
              <a:tabLst>
                <a:tab pos="1492250" algn="l"/>
              </a:tabLst>
            </a:pPr>
            <a:endParaRPr lang="en-US" sz="2400" dirty="0"/>
          </a:p>
          <a:p>
            <a:pPr>
              <a:tabLst>
                <a:tab pos="1492250" algn="l"/>
              </a:tabLst>
            </a:pPr>
            <a:endParaRPr lang="en-US" sz="2400" dirty="0"/>
          </a:p>
          <a:p>
            <a:pPr>
              <a:tabLst>
                <a:tab pos="1492250" algn="l"/>
              </a:tabLst>
            </a:pPr>
            <a:endParaRPr lang="en-US" sz="2400" dirty="0"/>
          </a:p>
          <a:p>
            <a:pPr>
              <a:tabLst>
                <a:tab pos="1492250" algn="l"/>
              </a:tabLst>
            </a:pPr>
            <a:endParaRPr lang="en-US" sz="2400" dirty="0"/>
          </a:p>
        </p:txBody>
      </p:sp>
      <p:pic>
        <p:nvPicPr>
          <p:cNvPr id="17" name="Picture 16" descr="Text, letter&#10;&#10;Description automatically generated">
            <a:extLst>
              <a:ext uri="{FF2B5EF4-FFF2-40B4-BE49-F238E27FC236}">
                <a16:creationId xmlns:a16="http://schemas.microsoft.com/office/drawing/2014/main" id="{30C7C9E1-A75E-48EF-83F9-56721EBE3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46" r="16482" b="1"/>
          <a:stretch/>
        </p:blipFill>
        <p:spPr>
          <a:xfrm>
            <a:off x="7191216" y="2494450"/>
            <a:ext cx="3867989" cy="287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60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90FD-13E0-4C07-86AF-2462ACB5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Cash Flow Intuition – operating asset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74EA-16A8-4F85-888B-4E156ADFE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6" y="1453626"/>
            <a:ext cx="9141435" cy="522586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Pontano Sans" panose="020B0604020202020204" charset="0"/>
              </a:rPr>
              <a:t>Example: Change in Accounts Receivable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E8ECC-0677-40D2-9E66-D00224226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6" y="2132985"/>
            <a:ext cx="10290163" cy="20008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AA6A0E-9E1A-45F5-AD5A-3F47856B1A07}"/>
              </a:ext>
            </a:extLst>
          </p:cNvPr>
          <p:cNvSpPr/>
          <p:nvPr/>
        </p:nvSpPr>
        <p:spPr>
          <a:xfrm>
            <a:off x="0" y="4162097"/>
            <a:ext cx="12192000" cy="1783781"/>
          </a:xfrm>
          <a:prstGeom prst="rect">
            <a:avLst/>
          </a:prstGeom>
          <a:solidFill>
            <a:srgbClr val="E7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ntano Sans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6FAB10-342A-40D3-B32F-00530022FA98}"/>
              </a:ext>
            </a:extLst>
          </p:cNvPr>
          <p:cNvSpPr txBox="1"/>
          <p:nvPr/>
        </p:nvSpPr>
        <p:spPr>
          <a:xfrm>
            <a:off x="932793" y="4260606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/>
            <a:r>
              <a:rPr lang="en-US" sz="2400" dirty="0">
                <a:solidFill>
                  <a:prstClr val="black"/>
                </a:solidFill>
                <a:latin typeface="Roboto Condensed"/>
              </a:rPr>
              <a:t>If A/R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increases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, firm had more revenue than cash collected, so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subtract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 the increase from net income.</a:t>
            </a:r>
          </a:p>
          <a:p>
            <a:pPr marL="231775"/>
            <a:r>
              <a:rPr lang="en-US" sz="2400" dirty="0">
                <a:solidFill>
                  <a:prstClr val="black"/>
                </a:solidFill>
                <a:latin typeface="Roboto Condensed"/>
              </a:rPr>
              <a:t>If A/R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decreases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, firm collected more cash than revenue recognized, so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add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 the decrease to net income.</a:t>
            </a:r>
          </a:p>
        </p:txBody>
      </p:sp>
      <p:pic>
        <p:nvPicPr>
          <p:cNvPr id="13" name="Graphic 12" descr="Lights On with solid fill">
            <a:extLst>
              <a:ext uri="{FF2B5EF4-FFF2-40B4-BE49-F238E27FC236}">
                <a16:creationId xmlns:a16="http://schemas.microsoft.com/office/drawing/2014/main" id="{D34FD1CB-347B-417A-A69C-4AD848DFC62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093" y="4271116"/>
            <a:ext cx="533400" cy="533400"/>
          </a:xfrm>
          <a:prstGeom prst="rect">
            <a:avLst/>
          </a:prstGeom>
        </p:spPr>
      </p:pic>
      <p:pic>
        <p:nvPicPr>
          <p:cNvPr id="14" name="Graphic 13" descr="Lights On with solid fill">
            <a:extLst>
              <a:ext uri="{FF2B5EF4-FFF2-40B4-BE49-F238E27FC236}">
                <a16:creationId xmlns:a16="http://schemas.microsoft.com/office/drawing/2014/main" id="{F0D8D6D5-DA7E-44B1-A805-31E0CF89EA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093" y="4995506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90FD-13E0-4C07-86AF-2462ACB5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Cash Flow Intuition – operating 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74EA-16A8-4F85-888B-4E156ADFE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6" y="1453626"/>
            <a:ext cx="9141435" cy="522586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Pontano Sans" panose="020B0604020202020204" charset="0"/>
              </a:rPr>
              <a:t>Example: Change in Salaries Payable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AA6A0E-9E1A-45F5-AD5A-3F47856B1A07}"/>
              </a:ext>
            </a:extLst>
          </p:cNvPr>
          <p:cNvSpPr/>
          <p:nvPr/>
        </p:nvSpPr>
        <p:spPr>
          <a:xfrm>
            <a:off x="0" y="4162097"/>
            <a:ext cx="12192000" cy="1783781"/>
          </a:xfrm>
          <a:prstGeom prst="rect">
            <a:avLst/>
          </a:prstGeom>
          <a:solidFill>
            <a:srgbClr val="E7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ntano Sans"/>
              <a:ea typeface="+mn-ea"/>
              <a:cs typeface="+mn-cs"/>
            </a:endParaRPr>
          </a:p>
        </p:txBody>
      </p:sp>
      <p:pic>
        <p:nvPicPr>
          <p:cNvPr id="13" name="Graphic 12" descr="Lights On with solid fill">
            <a:extLst>
              <a:ext uri="{FF2B5EF4-FFF2-40B4-BE49-F238E27FC236}">
                <a16:creationId xmlns:a16="http://schemas.microsoft.com/office/drawing/2014/main" id="{D34FD1CB-347B-417A-A69C-4AD848DFC62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093" y="4271116"/>
            <a:ext cx="533400" cy="533400"/>
          </a:xfrm>
          <a:prstGeom prst="rect">
            <a:avLst/>
          </a:prstGeom>
        </p:spPr>
      </p:pic>
      <p:pic>
        <p:nvPicPr>
          <p:cNvPr id="14" name="Graphic 13" descr="Lights On with solid fill">
            <a:extLst>
              <a:ext uri="{FF2B5EF4-FFF2-40B4-BE49-F238E27FC236}">
                <a16:creationId xmlns:a16="http://schemas.microsoft.com/office/drawing/2014/main" id="{F0D8D6D5-DA7E-44B1-A805-31E0CF89EA3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093" y="4995506"/>
            <a:ext cx="5334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927BB4-EEE1-4233-8E13-42C5D9526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01398"/>
            <a:ext cx="10125670" cy="19557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4AECF1-8884-43AD-9E4D-FE375088C070}"/>
              </a:ext>
            </a:extLst>
          </p:cNvPr>
          <p:cNvSpPr txBox="1"/>
          <p:nvPr/>
        </p:nvSpPr>
        <p:spPr>
          <a:xfrm>
            <a:off x="932793" y="4260606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/>
            <a:r>
              <a:rPr lang="en-US" sz="2400" dirty="0">
                <a:solidFill>
                  <a:prstClr val="black"/>
                </a:solidFill>
                <a:latin typeface="Roboto Condensed"/>
              </a:rPr>
              <a:t>If payable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increases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, firm had more expense than cash paid out, so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add 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the increase from net income.</a:t>
            </a:r>
          </a:p>
          <a:p>
            <a:pPr marL="231775"/>
            <a:r>
              <a:rPr lang="en-US" sz="2400" dirty="0">
                <a:solidFill>
                  <a:prstClr val="black"/>
                </a:solidFill>
                <a:latin typeface="Roboto Condensed"/>
              </a:rPr>
              <a:t>If payable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decreases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, firm paid out more cash than expensed, so </a:t>
            </a:r>
            <a:r>
              <a:rPr lang="en-US" sz="2400" b="1" dirty="0">
                <a:solidFill>
                  <a:prstClr val="black"/>
                </a:solidFill>
                <a:latin typeface="Roboto Condensed"/>
              </a:rPr>
              <a:t>subtract</a:t>
            </a:r>
            <a:r>
              <a:rPr lang="en-US" sz="2400" dirty="0">
                <a:solidFill>
                  <a:prstClr val="black"/>
                </a:solidFill>
                <a:latin typeface="Roboto Condensed"/>
              </a:rPr>
              <a:t> the decrease to net income.</a:t>
            </a:r>
          </a:p>
        </p:txBody>
      </p:sp>
    </p:spTree>
    <p:extLst>
      <p:ext uri="{BB962C8B-B14F-4D97-AF65-F5344CB8AC3E}">
        <p14:creationId xmlns:p14="http://schemas.microsoft.com/office/powerpoint/2010/main" val="208284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4229</TotalTime>
  <Words>1139</Words>
  <Application>Microsoft Office PowerPoint</Application>
  <PresentationFormat>Widescreen</PresentationFormat>
  <Paragraphs>200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Calibri</vt:lpstr>
      <vt:lpstr>Arial Black</vt:lpstr>
      <vt:lpstr>Arial</vt:lpstr>
      <vt:lpstr>STIX</vt:lpstr>
      <vt:lpstr>Source Sans Pro</vt:lpstr>
      <vt:lpstr>Pontano Sans</vt:lpstr>
      <vt:lpstr>Roboto Condensed</vt:lpstr>
      <vt:lpstr>1_Office Theme</vt:lpstr>
      <vt:lpstr>PowerPoint Presentation</vt:lpstr>
      <vt:lpstr>Key Points from the Video</vt:lpstr>
      <vt:lpstr>Identify the CF Activity  Operating, Investing, or Financing?</vt:lpstr>
      <vt:lpstr>Questions?</vt:lpstr>
      <vt:lpstr>Reminders</vt:lpstr>
      <vt:lpstr>Direct Method vs Indirect</vt:lpstr>
      <vt:lpstr>CFS Format: Direct Method</vt:lpstr>
      <vt:lpstr>Direct Method: CVS (2020 CFS)</vt:lpstr>
      <vt:lpstr>Direct Method: Operating</vt:lpstr>
      <vt:lpstr>Direct Method: Investing</vt:lpstr>
      <vt:lpstr>Direct Method: Financing</vt:lpstr>
      <vt:lpstr>Formats: Indirect Method</vt:lpstr>
      <vt:lpstr>Indirect Method: Operating</vt:lpstr>
      <vt:lpstr>Indirect Method Steps</vt:lpstr>
      <vt:lpstr>Indirect Method: Operating</vt:lpstr>
      <vt:lpstr>PowerPoint Presentation</vt:lpstr>
      <vt:lpstr>In-class problem</vt:lpstr>
      <vt:lpstr>Indirect Method: Operating</vt:lpstr>
      <vt:lpstr>Indirect Method</vt:lpstr>
      <vt:lpstr>Cash Flow Intuition – operating asset</vt:lpstr>
      <vt:lpstr>Cash Flow Intuition – operating asset</vt:lpstr>
      <vt:lpstr>Cash Flow Intuition – operating liability</vt:lpstr>
      <vt:lpstr>Cash Flow Intuition – operating liability</vt:lpstr>
      <vt:lpstr>Optional Problem?</vt:lpstr>
      <vt:lpstr>Takeaways</vt:lpstr>
      <vt:lpstr>Things to do…</vt:lpstr>
      <vt:lpstr>Cash Flow Intuition – operating asset</vt:lpstr>
      <vt:lpstr>Cash Flow Intuition – operating liability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lastModifiedBy>Jeremiah Contreras</cp:lastModifiedBy>
  <cp:revision>144</cp:revision>
  <dcterms:created xsi:type="dcterms:W3CDTF">2020-06-14T18:30:52Z</dcterms:created>
  <dcterms:modified xsi:type="dcterms:W3CDTF">2025-09-10T11:04:19Z</dcterms:modified>
</cp:coreProperties>
</file>