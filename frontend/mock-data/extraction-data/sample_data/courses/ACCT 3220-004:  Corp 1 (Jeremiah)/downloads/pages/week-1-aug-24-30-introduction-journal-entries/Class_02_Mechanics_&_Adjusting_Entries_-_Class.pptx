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60" r:id="rId2"/>
  </p:sldMasterIdLst>
  <p:notesMasterIdLst>
    <p:notesMasterId r:id="rId15"/>
  </p:notesMasterIdLst>
  <p:sldIdLst>
    <p:sldId id="374" r:id="rId3"/>
    <p:sldId id="383" r:id="rId4"/>
    <p:sldId id="1929" r:id="rId5"/>
    <p:sldId id="384" r:id="rId6"/>
    <p:sldId id="359" r:id="rId7"/>
    <p:sldId id="361" r:id="rId8"/>
    <p:sldId id="376" r:id="rId9"/>
    <p:sldId id="360" r:id="rId10"/>
    <p:sldId id="397" r:id="rId11"/>
    <p:sldId id="398" r:id="rId12"/>
    <p:sldId id="372" r:id="rId13"/>
    <p:sldId id="377" r:id="rId14"/>
  </p:sldIdLst>
  <p:sldSz cx="12192000" cy="6858000"/>
  <p:notesSz cx="7023100" cy="9309100"/>
  <p:embeddedFontLst>
    <p:embeddedFont>
      <p:font typeface="Arial Black" panose="020B0A04020102020204" pitchFamily="34" charset="0"/>
      <p:bold r:id="rId16"/>
    </p:embeddedFont>
    <p:embeddedFont>
      <p:font typeface="Helvetica" panose="020B060402020202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w Stephan" initials="AS" lastIdx="1" clrIdx="0">
    <p:extLst>
      <p:ext uri="{19B8F6BF-5375-455C-9EA6-DF929625EA0E}">
        <p15:presenceInfo xmlns:p15="http://schemas.microsoft.com/office/powerpoint/2012/main" userId="643069494b899e4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FB87C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8C19DE-7C18-44D0-AB37-E86CFC13A333}" v="1" dt="2025-08-27T02:31:49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37" autoAdjust="0"/>
    <p:restoredTop sz="87065" autoAdjust="0"/>
  </p:normalViewPr>
  <p:slideViewPr>
    <p:cSldViewPr snapToGrid="0" snapToObjects="1">
      <p:cViewPr varScale="1">
        <p:scale>
          <a:sx n="69" d="100"/>
          <a:sy n="69" d="100"/>
        </p:scale>
        <p:origin x="135" y="2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7aaf88c5-f86c-46d8-a0d4-f1ec65ded07c" providerId="ADAL" clId="{9E8C19DE-7C18-44D0-AB37-E86CFC13A333}"/>
    <pc:docChg chg="modSld">
      <pc:chgData name="Jeremiah Contreras" userId="7aaf88c5-f86c-46d8-a0d4-f1ec65ded07c" providerId="ADAL" clId="{9E8C19DE-7C18-44D0-AB37-E86CFC13A333}" dt="2025-08-27T02:31:49.966" v="0"/>
      <pc:docMkLst>
        <pc:docMk/>
      </pc:docMkLst>
      <pc:sldChg chg="modAnim">
        <pc:chgData name="Jeremiah Contreras" userId="7aaf88c5-f86c-46d8-a0d4-f1ec65ded07c" providerId="ADAL" clId="{9E8C19DE-7C18-44D0-AB37-E86CFC13A333}" dt="2025-08-27T02:31:49.966" v="0"/>
        <pc:sldMkLst>
          <pc:docMk/>
          <pc:sldMk cId="1327472193" sldId="1929"/>
        </pc:sldMkLst>
      </pc:sldChg>
    </pc:docChg>
  </pc:docChgLst>
  <pc:docChgLst>
    <pc:chgData name="Jeremiah Contreras" userId="353e0578-c100-4b27-ab8d-040de0f2d32b" providerId="ADAL" clId="{84395B2A-38B3-4014-8CB6-E1FED802B9E7}"/>
    <pc:docChg chg="undo custSel modSld">
      <pc:chgData name="Jeremiah Contreras" userId="353e0578-c100-4b27-ab8d-040de0f2d32b" providerId="ADAL" clId="{84395B2A-38B3-4014-8CB6-E1FED802B9E7}" dt="2024-08-28T16:18:44.141" v="556" actId="6549"/>
      <pc:docMkLst>
        <pc:docMk/>
      </pc:docMkLst>
      <pc:sldChg chg="modSp mod modAnim">
        <pc:chgData name="Jeremiah Contreras" userId="353e0578-c100-4b27-ab8d-040de0f2d32b" providerId="ADAL" clId="{84395B2A-38B3-4014-8CB6-E1FED802B9E7}" dt="2024-08-28T13:26:08.864" v="301"/>
        <pc:sldMkLst>
          <pc:docMk/>
          <pc:sldMk cId="3543528742" sldId="384"/>
        </pc:sldMkLst>
      </pc:sldChg>
      <pc:sldChg chg="modSp mod modAnim modNotesTx">
        <pc:chgData name="Jeremiah Contreras" userId="353e0578-c100-4b27-ab8d-040de0f2d32b" providerId="ADAL" clId="{84395B2A-38B3-4014-8CB6-E1FED802B9E7}" dt="2024-08-28T16:18:44.141" v="556" actId="6549"/>
        <pc:sldMkLst>
          <pc:docMk/>
          <pc:sldMk cId="1327472193" sldId="1929"/>
        </pc:sldMkLst>
      </pc:sldChg>
    </pc:docChg>
  </pc:docChgLst>
  <pc:docChgLst>
    <pc:chgData name="Jeremiah Contreras" userId="7aaf88c5-f86c-46d8-a0d4-f1ec65ded07c" providerId="ADAL" clId="{75024D37-CA58-4E4B-9AFB-D2CF26849110}"/>
    <pc:docChg chg="custSel delSld modSld">
      <pc:chgData name="Jeremiah Contreras" userId="7aaf88c5-f86c-46d8-a0d4-f1ec65ded07c" providerId="ADAL" clId="{75024D37-CA58-4E4B-9AFB-D2CF26849110}" dt="2025-08-09T19:53:55.148" v="155" actId="20577"/>
      <pc:docMkLst>
        <pc:docMk/>
      </pc:docMkLst>
      <pc:sldChg chg="modSp mod">
        <pc:chgData name="Jeremiah Contreras" userId="7aaf88c5-f86c-46d8-a0d4-f1ec65ded07c" providerId="ADAL" clId="{75024D37-CA58-4E4B-9AFB-D2CF26849110}" dt="2025-08-09T19:25:32.861" v="127" actId="20577"/>
        <pc:sldMkLst>
          <pc:docMk/>
          <pc:sldMk cId="723545867" sldId="360"/>
        </pc:sldMkLst>
        <pc:spChg chg="mod">
          <ac:chgData name="Jeremiah Contreras" userId="7aaf88c5-f86c-46d8-a0d4-f1ec65ded07c" providerId="ADAL" clId="{75024D37-CA58-4E4B-9AFB-D2CF26849110}" dt="2025-08-09T19:25:32.861" v="127" actId="20577"/>
          <ac:spMkLst>
            <pc:docMk/>
            <pc:sldMk cId="723545867" sldId="360"/>
            <ac:spMk id="39939" creationId="{00000000-0000-0000-0000-000000000000}"/>
          </ac:spMkLst>
        </pc:spChg>
      </pc:sldChg>
      <pc:sldChg chg="modSp">
        <pc:chgData name="Jeremiah Contreras" userId="7aaf88c5-f86c-46d8-a0d4-f1ec65ded07c" providerId="ADAL" clId="{75024D37-CA58-4E4B-9AFB-D2CF26849110}" dt="2025-08-09T19:53:55.148" v="155" actId="20577"/>
        <pc:sldMkLst>
          <pc:docMk/>
          <pc:sldMk cId="3543528742" sldId="384"/>
        </pc:sldMkLst>
        <pc:spChg chg="mod">
          <ac:chgData name="Jeremiah Contreras" userId="7aaf88c5-f86c-46d8-a0d4-f1ec65ded07c" providerId="ADAL" clId="{75024D37-CA58-4E4B-9AFB-D2CF26849110}" dt="2025-08-09T19:53:55.148" v="155" actId="20577"/>
          <ac:spMkLst>
            <pc:docMk/>
            <pc:sldMk cId="3543528742" sldId="384"/>
            <ac:spMk id="3" creationId="{84017D56-DE12-4BB0-95BF-D415C8D99B9C}"/>
          </ac:spMkLst>
        </pc:spChg>
      </pc:sldChg>
      <pc:sldChg chg="del">
        <pc:chgData name="Jeremiah Contreras" userId="7aaf88c5-f86c-46d8-a0d4-f1ec65ded07c" providerId="ADAL" clId="{75024D37-CA58-4E4B-9AFB-D2CF26849110}" dt="2025-08-09T19:53:18.701" v="137" actId="47"/>
        <pc:sldMkLst>
          <pc:docMk/>
          <pc:sldMk cId="2445013801" sldId="385"/>
        </pc:sldMkLst>
      </pc:sldChg>
      <pc:sldChg chg="del">
        <pc:chgData name="Jeremiah Contreras" userId="7aaf88c5-f86c-46d8-a0d4-f1ec65ded07c" providerId="ADAL" clId="{75024D37-CA58-4E4B-9AFB-D2CF26849110}" dt="2025-08-09T19:53:22.261" v="138" actId="47"/>
        <pc:sldMkLst>
          <pc:docMk/>
          <pc:sldMk cId="4069721419" sldId="386"/>
        </pc:sldMkLst>
      </pc:sldChg>
      <pc:sldChg chg="del">
        <pc:chgData name="Jeremiah Contreras" userId="7aaf88c5-f86c-46d8-a0d4-f1ec65ded07c" providerId="ADAL" clId="{75024D37-CA58-4E4B-9AFB-D2CF26849110}" dt="2025-08-09T19:53:24.046" v="139" actId="47"/>
        <pc:sldMkLst>
          <pc:docMk/>
          <pc:sldMk cId="2730626174" sldId="387"/>
        </pc:sldMkLst>
      </pc:sldChg>
      <pc:sldChg chg="del">
        <pc:chgData name="Jeremiah Contreras" userId="7aaf88c5-f86c-46d8-a0d4-f1ec65ded07c" providerId="ADAL" clId="{75024D37-CA58-4E4B-9AFB-D2CF26849110}" dt="2025-08-09T19:53:26.294" v="140" actId="47"/>
        <pc:sldMkLst>
          <pc:docMk/>
          <pc:sldMk cId="2812761517" sldId="388"/>
        </pc:sldMkLst>
      </pc:sldChg>
      <pc:sldChg chg="del">
        <pc:chgData name="Jeremiah Contreras" userId="7aaf88c5-f86c-46d8-a0d4-f1ec65ded07c" providerId="ADAL" clId="{75024D37-CA58-4E4B-9AFB-D2CF26849110}" dt="2025-08-09T19:52:32.725" v="134" actId="47"/>
        <pc:sldMkLst>
          <pc:docMk/>
          <pc:sldMk cId="3701233793" sldId="389"/>
        </pc:sldMkLst>
      </pc:sldChg>
      <pc:sldChg chg="del">
        <pc:chgData name="Jeremiah Contreras" userId="7aaf88c5-f86c-46d8-a0d4-f1ec65ded07c" providerId="ADAL" clId="{75024D37-CA58-4E4B-9AFB-D2CF26849110}" dt="2025-08-09T19:53:28.461" v="141" actId="47"/>
        <pc:sldMkLst>
          <pc:docMk/>
          <pc:sldMk cId="2672761652" sldId="390"/>
        </pc:sldMkLst>
      </pc:sldChg>
      <pc:sldChg chg="del">
        <pc:chgData name="Jeremiah Contreras" userId="7aaf88c5-f86c-46d8-a0d4-f1ec65ded07c" providerId="ADAL" clId="{75024D37-CA58-4E4B-9AFB-D2CF26849110}" dt="2025-08-09T19:53:29.799" v="142" actId="47"/>
        <pc:sldMkLst>
          <pc:docMk/>
          <pc:sldMk cId="1163108327" sldId="391"/>
        </pc:sldMkLst>
      </pc:sldChg>
      <pc:sldChg chg="del">
        <pc:chgData name="Jeremiah Contreras" userId="7aaf88c5-f86c-46d8-a0d4-f1ec65ded07c" providerId="ADAL" clId="{75024D37-CA58-4E4B-9AFB-D2CF26849110}" dt="2025-08-09T19:52:33.687" v="135" actId="47"/>
        <pc:sldMkLst>
          <pc:docMk/>
          <pc:sldMk cId="2013051194" sldId="392"/>
        </pc:sldMkLst>
      </pc:sldChg>
      <pc:sldChg chg="del">
        <pc:chgData name="Jeremiah Contreras" userId="7aaf88c5-f86c-46d8-a0d4-f1ec65ded07c" providerId="ADAL" clId="{75024D37-CA58-4E4B-9AFB-D2CF26849110}" dt="2025-08-09T19:52:35.256" v="136" actId="47"/>
        <pc:sldMkLst>
          <pc:docMk/>
          <pc:sldMk cId="2186540140" sldId="393"/>
        </pc:sldMkLst>
      </pc:sldChg>
      <pc:sldChg chg="del">
        <pc:chgData name="Jeremiah Contreras" userId="7aaf88c5-f86c-46d8-a0d4-f1ec65ded07c" providerId="ADAL" clId="{75024D37-CA58-4E4B-9AFB-D2CF26849110}" dt="2025-08-09T19:53:31.706" v="143" actId="47"/>
        <pc:sldMkLst>
          <pc:docMk/>
          <pc:sldMk cId="1243809014" sldId="394"/>
        </pc:sldMkLst>
      </pc:sldChg>
      <pc:sldChg chg="del">
        <pc:chgData name="Jeremiah Contreras" userId="7aaf88c5-f86c-46d8-a0d4-f1ec65ded07c" providerId="ADAL" clId="{75024D37-CA58-4E4B-9AFB-D2CF26849110}" dt="2025-08-09T19:53:33.344" v="144" actId="47"/>
        <pc:sldMkLst>
          <pc:docMk/>
          <pc:sldMk cId="4053398172" sldId="395"/>
        </pc:sldMkLst>
      </pc:sldChg>
      <pc:sldChg chg="del">
        <pc:chgData name="Jeremiah Contreras" userId="7aaf88c5-f86c-46d8-a0d4-f1ec65ded07c" providerId="ADAL" clId="{75024D37-CA58-4E4B-9AFB-D2CF26849110}" dt="2025-08-09T19:53:34.537" v="145" actId="47"/>
        <pc:sldMkLst>
          <pc:docMk/>
          <pc:sldMk cId="3802485052" sldId="396"/>
        </pc:sldMkLst>
      </pc:sldChg>
      <pc:sldChg chg="modSp mod">
        <pc:chgData name="Jeremiah Contreras" userId="7aaf88c5-f86c-46d8-a0d4-f1ec65ded07c" providerId="ADAL" clId="{75024D37-CA58-4E4B-9AFB-D2CF26849110}" dt="2025-08-09T19:39:14.829" v="129" actId="20577"/>
        <pc:sldMkLst>
          <pc:docMk/>
          <pc:sldMk cId="3857617571" sldId="397"/>
        </pc:sldMkLst>
        <pc:spChg chg="mod">
          <ac:chgData name="Jeremiah Contreras" userId="7aaf88c5-f86c-46d8-a0d4-f1ec65ded07c" providerId="ADAL" clId="{75024D37-CA58-4E4B-9AFB-D2CF26849110}" dt="2025-08-09T19:39:14.829" v="129" actId="20577"/>
          <ac:spMkLst>
            <pc:docMk/>
            <pc:sldMk cId="3857617571" sldId="397"/>
            <ac:spMk id="3" creationId="{936E289D-6BA5-40E2-9C7C-D5AB52AEAB6B}"/>
          </ac:spMkLst>
        </pc:spChg>
      </pc:sldChg>
    </pc:docChg>
  </pc:docChgLst>
  <pc:docChgLst>
    <pc:chgData name="Jeremiah Contreras" userId="353e0578-c100-4b27-ab8d-040de0f2d32b" providerId="ADAL" clId="{19C38686-FD29-40CA-9149-975BDAB2D5F7}"/>
    <pc:docChg chg="undo custSel delSld modSld">
      <pc:chgData name="Jeremiah Contreras" userId="353e0578-c100-4b27-ab8d-040de0f2d32b" providerId="ADAL" clId="{19C38686-FD29-40CA-9149-975BDAB2D5F7}" dt="2024-07-31T18:58:03.287" v="32" actId="47"/>
      <pc:docMkLst>
        <pc:docMk/>
      </pc:docMkLst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2384781183" sldId="258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1736794172" sldId="259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3077921154" sldId="261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1059011254" sldId="263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1440559426" sldId="264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3863368819" sldId="265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2019128248" sldId="266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3651734110" sldId="267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2090027877" sldId="289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3070260068" sldId="290"/>
        </pc:sldMkLst>
      </pc:sldChg>
      <pc:sldChg chg="modSp mod">
        <pc:chgData name="Jeremiah Contreras" userId="353e0578-c100-4b27-ab8d-040de0f2d32b" providerId="ADAL" clId="{19C38686-FD29-40CA-9149-975BDAB2D5F7}" dt="2024-07-31T18:56:16.079" v="31" actId="20577"/>
        <pc:sldMkLst>
          <pc:docMk/>
          <pc:sldMk cId="150961028" sldId="374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539031462" sldId="378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2058489965" sldId="379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2466302029" sldId="380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812412072" sldId="381"/>
        </pc:sldMkLst>
      </pc:sldChg>
      <pc:sldChg chg="del">
        <pc:chgData name="Jeremiah Contreras" userId="353e0578-c100-4b27-ab8d-040de0f2d32b" providerId="ADAL" clId="{19C38686-FD29-40CA-9149-975BDAB2D5F7}" dt="2024-07-31T18:58:03.287" v="32" actId="47"/>
        <pc:sldMkLst>
          <pc:docMk/>
          <pc:sldMk cId="387857050" sldId="3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802AF6DA-881C-4C79-B7BB-AE39812FEE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F1D006A-6F4D-4501-8E73-99D0EC5E5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29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341015"/>
            <a:ext cx="5755040" cy="472889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22" tIns="47160" rIns="94322" bIns="4716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8477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52BD47-EF12-4205-A55F-EA0B6840A6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811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752475" y="1184275"/>
            <a:ext cx="5688013" cy="31988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560813"/>
            <a:ext cx="5755040" cy="373172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6996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74048" y="9002029"/>
            <a:ext cx="3116501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2332" indent="-2786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9282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1318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3355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9973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6591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210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9828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A1C064-116B-4E29-842A-1F770CA6E8A2}" type="slidenum">
              <a:rPr lang="en-US" altLang="en-US" sz="1100"/>
              <a:pPr/>
              <a:t>6</a:t>
            </a:fld>
            <a:endParaRPr lang="en-US" altLang="en-US" sz="11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800" y="4307076"/>
            <a:ext cx="5270576" cy="445737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pPr marL="230069" indent="-230069"/>
            <a:r>
              <a:rPr lang="en-US" altLang="en-US" u="sng" dirty="0"/>
              <a:t>First talk about “cash in the past”</a:t>
            </a:r>
          </a:p>
          <a:p>
            <a:pPr marL="230069" indent="-230069">
              <a:buFontTx/>
              <a:buAutoNum type="arabicParenR"/>
            </a:pPr>
            <a:r>
              <a:rPr lang="en-US" altLang="en-US" dirty="0"/>
              <a:t>Cash received in advance (unearned revenue or cash advance) – cash up front for 12 month subscription: </a:t>
            </a:r>
          </a:p>
          <a:p>
            <a:pPr marL="230069" indent="-230069"/>
            <a:r>
              <a:rPr lang="en-US" altLang="en-US" dirty="0"/>
              <a:t>	-have you earned it? </a:t>
            </a:r>
          </a:p>
          <a:p>
            <a:pPr marL="230069" indent="-230069"/>
            <a:r>
              <a:rPr lang="en-US" altLang="en-US" dirty="0"/>
              <a:t>	-have you received more cash that needs to be recorded?</a:t>
            </a:r>
          </a:p>
          <a:p>
            <a:pPr marL="230069" indent="-230069"/>
            <a:endParaRPr lang="en-US" altLang="en-US" dirty="0"/>
          </a:p>
          <a:p>
            <a:pPr marL="230069" indent="-230069">
              <a:buFontTx/>
              <a:buAutoNum type="arabicParenR" startAt="3"/>
            </a:pPr>
            <a:r>
              <a:rPr lang="en-US" altLang="en-US" dirty="0"/>
              <a:t>Cash paid in past (prepaid or fixed asset): </a:t>
            </a:r>
          </a:p>
          <a:p>
            <a:pPr marL="230069" indent="-230069"/>
            <a:r>
              <a:rPr lang="en-US" altLang="en-US" dirty="0"/>
              <a:t>	-record new consumption (new depreciation or reduction of prepaid insurance/warranty/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marL="230069" indent="-230069"/>
            <a:r>
              <a:rPr lang="en-US" altLang="en-US" dirty="0"/>
              <a:t>	-any new cash paid that needs to be recorded?</a:t>
            </a:r>
          </a:p>
          <a:p>
            <a:pPr marL="230069" indent="-230069">
              <a:buFontTx/>
              <a:buAutoNum type="arabicParenR"/>
            </a:pPr>
            <a:endParaRPr lang="en-US" altLang="en-US" dirty="0"/>
          </a:p>
          <a:p>
            <a:pPr marL="230069" indent="-230069"/>
            <a:r>
              <a:rPr lang="en-US" altLang="en-US" u="sng" dirty="0"/>
              <a:t>Second talk about “cash in the future”</a:t>
            </a:r>
          </a:p>
          <a:p>
            <a:pPr marL="230069" indent="-230069"/>
            <a:r>
              <a:rPr lang="en-US" altLang="en-US" dirty="0"/>
              <a:t>2) Services/goods in advance (collectible): </a:t>
            </a:r>
          </a:p>
          <a:p>
            <a:pPr marL="230069" indent="-230069"/>
            <a:r>
              <a:rPr lang="en-US" altLang="en-US" dirty="0"/>
              <a:t>	-do you need to record any new services/goods provided? </a:t>
            </a:r>
          </a:p>
          <a:p>
            <a:pPr marL="230069" indent="-230069"/>
            <a:r>
              <a:rPr lang="en-US" altLang="en-US" dirty="0"/>
              <a:t>	-have you collected on any old receivables?</a:t>
            </a:r>
          </a:p>
          <a:p>
            <a:pPr marL="230069" indent="-230069"/>
            <a:endParaRPr lang="en-US" altLang="en-US" dirty="0"/>
          </a:p>
          <a:p>
            <a:pPr marL="230069" indent="-230069">
              <a:buFontTx/>
              <a:buAutoNum type="arabicParenR" startAt="4"/>
            </a:pPr>
            <a:r>
              <a:rPr lang="en-US" altLang="en-US" dirty="0"/>
              <a:t>Services/goods received in advance (payable): </a:t>
            </a:r>
          </a:p>
          <a:p>
            <a:pPr marL="230069" indent="-230069"/>
            <a:r>
              <a:rPr lang="en-US" altLang="en-US" dirty="0"/>
              <a:t>	-any new services/goods received to record?</a:t>
            </a:r>
          </a:p>
          <a:p>
            <a:pPr marL="230069" indent="-230069"/>
            <a:r>
              <a:rPr lang="en-US" altLang="en-US" dirty="0"/>
              <a:t>	-any old payables that have been paid?</a:t>
            </a:r>
          </a:p>
        </p:txBody>
      </p:sp>
    </p:spTree>
    <p:extLst>
      <p:ext uri="{BB962C8B-B14F-4D97-AF65-F5344CB8AC3E}">
        <p14:creationId xmlns:p14="http://schemas.microsoft.com/office/powerpoint/2010/main" val="937160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74048" y="9002029"/>
            <a:ext cx="3116501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2332" indent="-2786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9282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1318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3355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9973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6591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210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9828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2A1C064-116B-4E29-842A-1F770CA6E8A2}" type="slidenum">
              <a:rPr lang="en-US" altLang="en-US" sz="1100"/>
              <a:pPr/>
              <a:t>7</a:t>
            </a:fld>
            <a:endParaRPr lang="en-US" altLang="en-US" sz="110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800" y="4307076"/>
            <a:ext cx="5270576" cy="445737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pPr marL="230069" indent="-230069"/>
            <a:r>
              <a:rPr lang="en-US" altLang="en-US" u="sng" dirty="0"/>
              <a:t>First talk about “cash in the past”</a:t>
            </a:r>
          </a:p>
          <a:p>
            <a:pPr marL="230069" indent="-230069">
              <a:buFontTx/>
              <a:buAutoNum type="arabicParenR"/>
            </a:pPr>
            <a:r>
              <a:rPr lang="en-US" altLang="en-US" dirty="0"/>
              <a:t>Cash received in advance (unearned revenue or cash advance) – cash up front for 12 month subscription: </a:t>
            </a:r>
          </a:p>
          <a:p>
            <a:pPr marL="230069" indent="-230069"/>
            <a:r>
              <a:rPr lang="en-US" altLang="en-US" dirty="0"/>
              <a:t>	-have you earned it? </a:t>
            </a:r>
          </a:p>
          <a:p>
            <a:pPr marL="230069" indent="-230069"/>
            <a:r>
              <a:rPr lang="en-US" altLang="en-US" dirty="0"/>
              <a:t>	-have you received more cash that needs to be recorded?</a:t>
            </a:r>
          </a:p>
          <a:p>
            <a:pPr marL="230069" indent="-230069"/>
            <a:endParaRPr lang="en-US" altLang="en-US" dirty="0"/>
          </a:p>
          <a:p>
            <a:pPr marL="230069" indent="-230069">
              <a:buFontTx/>
              <a:buAutoNum type="arabicParenR" startAt="3"/>
            </a:pPr>
            <a:r>
              <a:rPr lang="en-US" altLang="en-US" dirty="0"/>
              <a:t>Cash paid in past (prepaid or fixed asset): </a:t>
            </a:r>
          </a:p>
          <a:p>
            <a:pPr marL="230069" indent="-230069"/>
            <a:r>
              <a:rPr lang="en-US" altLang="en-US" dirty="0"/>
              <a:t>	-record new consumption (new depreciation or reduction of prepaid insurance/warranty/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marL="230069" indent="-230069"/>
            <a:r>
              <a:rPr lang="en-US" altLang="en-US" dirty="0"/>
              <a:t>	-any new cash paid that needs to be recorded?</a:t>
            </a:r>
          </a:p>
          <a:p>
            <a:pPr marL="230069" indent="-230069">
              <a:buFontTx/>
              <a:buAutoNum type="arabicParenR"/>
            </a:pPr>
            <a:endParaRPr lang="en-US" altLang="en-US" dirty="0"/>
          </a:p>
          <a:p>
            <a:pPr marL="230069" indent="-230069"/>
            <a:r>
              <a:rPr lang="en-US" altLang="en-US" u="sng" dirty="0"/>
              <a:t>Second talk about “cash in the future”</a:t>
            </a:r>
          </a:p>
          <a:p>
            <a:pPr marL="230069" indent="-230069"/>
            <a:r>
              <a:rPr lang="en-US" altLang="en-US" dirty="0"/>
              <a:t>2) Services/goods in advance (collectible): </a:t>
            </a:r>
          </a:p>
          <a:p>
            <a:pPr marL="230069" indent="-230069"/>
            <a:r>
              <a:rPr lang="en-US" altLang="en-US" dirty="0"/>
              <a:t>	-do you need to record any new services/goods provided? </a:t>
            </a:r>
          </a:p>
          <a:p>
            <a:pPr marL="230069" indent="-230069"/>
            <a:r>
              <a:rPr lang="en-US" altLang="en-US" dirty="0"/>
              <a:t>	-have you collected on any old receivables?</a:t>
            </a:r>
          </a:p>
          <a:p>
            <a:pPr marL="230069" indent="-230069"/>
            <a:endParaRPr lang="en-US" altLang="en-US" dirty="0"/>
          </a:p>
          <a:p>
            <a:pPr marL="230069" indent="-230069">
              <a:buFontTx/>
              <a:buAutoNum type="arabicParenR" startAt="4"/>
            </a:pPr>
            <a:r>
              <a:rPr lang="en-US" altLang="en-US" dirty="0"/>
              <a:t>Services/goods received in advance (payable): </a:t>
            </a:r>
          </a:p>
          <a:p>
            <a:pPr marL="230069" indent="-230069"/>
            <a:r>
              <a:rPr lang="en-US" altLang="en-US" dirty="0"/>
              <a:t>	-any new services/goods received to record?</a:t>
            </a:r>
          </a:p>
          <a:p>
            <a:pPr marL="230069" indent="-230069"/>
            <a:r>
              <a:rPr lang="en-US" altLang="en-US" dirty="0"/>
              <a:t>	-any old payables that have been paid?</a:t>
            </a:r>
          </a:p>
        </p:txBody>
      </p:sp>
    </p:spTree>
    <p:extLst>
      <p:ext uri="{BB962C8B-B14F-4D97-AF65-F5344CB8AC3E}">
        <p14:creationId xmlns:p14="http://schemas.microsoft.com/office/powerpoint/2010/main" val="3379565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4074048" y="9002029"/>
            <a:ext cx="3116501" cy="47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>
            <a:lvl1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2332" indent="-2786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29282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1318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3355" indent="-2235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99973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66591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33210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99828" indent="-223588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19C116-64D4-4F82-9496-DA67BE6F14B8}" type="slidenum">
              <a:rPr lang="en-US" altLang="en-US" sz="1100"/>
              <a:pPr/>
              <a:t>8</a:t>
            </a:fld>
            <a:endParaRPr lang="en-US" altLang="en-US" sz="110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8567" y="4501015"/>
            <a:ext cx="5755040" cy="426505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47" tIns="47172" rIns="94347" bIns="47172"/>
          <a:lstStyle/>
          <a:p>
            <a:endParaRPr lang="en-US" altLang="en-US" dirty="0"/>
          </a:p>
          <a:p>
            <a:r>
              <a:rPr lang="en-US" altLang="en-US" dirty="0"/>
              <a:t>Big question:  Has anything changed between now and the period end?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Note some examples:</a:t>
            </a:r>
          </a:p>
          <a:p>
            <a:endParaRPr lang="en-US" altLang="en-US" dirty="0"/>
          </a:p>
          <a:p>
            <a:r>
              <a:rPr lang="en-US" altLang="en-US" dirty="0"/>
              <a:t>3) Advances/unearned revenue (cash advance so owe goods/services)</a:t>
            </a:r>
          </a:p>
          <a:p>
            <a:r>
              <a:rPr lang="en-US" altLang="en-US" dirty="0"/>
              <a:t>4) </a:t>
            </a:r>
            <a:r>
              <a:rPr lang="en-US" altLang="en-US" dirty="0" err="1"/>
              <a:t>prepaids</a:t>
            </a:r>
            <a:r>
              <a:rPr lang="en-US" altLang="en-US" dirty="0"/>
              <a:t> (insurance, magazine subscriptions)</a:t>
            </a:r>
          </a:p>
        </p:txBody>
      </p:sp>
    </p:spTree>
    <p:extLst>
      <p:ext uri="{BB962C8B-B14F-4D97-AF65-F5344CB8AC3E}">
        <p14:creationId xmlns:p14="http://schemas.microsoft.com/office/powerpoint/2010/main" val="358838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166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1D006A-6F4D-4501-8E73-99D0EC5E5B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69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36563" y="711200"/>
            <a:ext cx="6318250" cy="355441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18567" y="4341015"/>
            <a:ext cx="5755040" cy="472889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322" tIns="47160" rIns="94322" bIns="47160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7813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06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7075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38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14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0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62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74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4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42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08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0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47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68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54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930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550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894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334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146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820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0"/>
            <a:ext cx="11379200" cy="1676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242CEB-F8A1-47B1-87A6-3A73B9D3786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© Cambridge Business Publishers, 2021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06400" y="1905000"/>
            <a:ext cx="11379200" cy="4495800"/>
          </a:xfrm>
        </p:spPr>
        <p:txBody>
          <a:bodyPr/>
          <a:lstStyle>
            <a:lvl1pPr>
              <a:buClr>
                <a:srgbClr val="FFC000"/>
              </a:buClr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rgbClr val="FFC000"/>
              </a:buCl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rgbClr val="FFC000"/>
              </a:buClr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buClr>
                <a:srgbClr val="FFC000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rgbClr val="FFC00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239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© Cambridge Business Publishers,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242CEB-F8A1-47B1-87A6-3A73B9D3786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8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242CEB-F8A1-47B1-87A6-3A73B9D3786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000000">
                    <a:lumMod val="75000"/>
                    <a:lumOff val="25000"/>
                  </a:srgbClr>
                </a:solidFill>
              </a:rPr>
              <a:t>© Cambridge Business Publishers, 2021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06400" y="1905000"/>
            <a:ext cx="11379200" cy="4495800"/>
          </a:xfrm>
        </p:spPr>
        <p:txBody>
          <a:bodyPr/>
          <a:lstStyle>
            <a:lvl1pPr marL="342900" indent="-342900">
              <a:buClr>
                <a:srgbClr val="FFC000"/>
              </a:buClr>
              <a:buSzPct val="100000"/>
              <a:buFont typeface="+mj-lt"/>
              <a:buAutoNum type="arabicPeriod"/>
              <a:defRPr sz="2400"/>
            </a:lvl1pPr>
            <a:lvl2pPr marL="685800" indent="-342900">
              <a:buClr>
                <a:srgbClr val="FFC000"/>
              </a:buClr>
              <a:buSzPct val="100000"/>
              <a:buFont typeface="+mj-lt"/>
              <a:buAutoNum type="arabicPeriod"/>
              <a:defRPr sz="2000"/>
            </a:lvl2pPr>
            <a:lvl3pPr marL="1055688" indent="-457200">
              <a:buFont typeface="+mj-lt"/>
              <a:buAutoNum type="arabicPeriod"/>
              <a:defRPr/>
            </a:lvl3pPr>
            <a:lvl4pPr marL="925513" indent="0">
              <a:buFont typeface="+mj-lt"/>
              <a:buNone/>
              <a:defRPr/>
            </a:lvl4pPr>
            <a:lvl5pPr marL="147955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12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99271-A573-1E42-984E-4EB780E50D5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59A14-9083-4F7C-9813-A66C5454743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54EF63-9714-4AA6-87A6-54FA48D3B3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5494" y="1393693"/>
            <a:ext cx="26116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Andrew Stephan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8B50B8-BE2C-497A-A0DD-8C15108F9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E69AA46-C81D-442C-9F01-C88B71E81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ACCT 3220 – </a:t>
            </a:r>
            <a:r>
              <a:rPr lang="en-US" altLang="en-US" sz="3200" b="1" dirty="0" err="1">
                <a:solidFill>
                  <a:srgbClr val="FF0000"/>
                </a:solidFill>
              </a:rPr>
              <a:t>Acctg</a:t>
            </a:r>
            <a:r>
              <a:rPr lang="en-US" altLang="en-US" sz="3200" b="1" dirty="0">
                <a:solidFill>
                  <a:srgbClr val="FF0000"/>
                </a:solidFill>
              </a:rPr>
              <a:t> Mechanics REVIEW DAY!!!</a:t>
            </a:r>
          </a:p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Mechanics &amp; Adjusting Entries – In-Class</a:t>
            </a:r>
          </a:p>
        </p:txBody>
      </p:sp>
    </p:spTree>
    <p:extLst>
      <p:ext uri="{BB962C8B-B14F-4D97-AF65-F5344CB8AC3E}">
        <p14:creationId xmlns:p14="http://schemas.microsoft.com/office/powerpoint/2010/main" val="150961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D38EE57-B708-47C9-A4A4-E25F09FAB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7A28182-58A5-4DBB-8F64-BD944BCA8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09710" y="635715"/>
            <a:ext cx="11142208" cy="2482136"/>
            <a:chOff x="409710" y="635715"/>
            <a:chExt cx="11142208" cy="2482136"/>
          </a:xfrm>
        </p:grpSpPr>
        <p:sp>
          <p:nvSpPr>
            <p:cNvPr id="26" name="Freeform 44">
              <a:extLst>
                <a:ext uri="{FF2B5EF4-FFF2-40B4-BE49-F238E27FC236}">
                  <a16:creationId xmlns:a16="http://schemas.microsoft.com/office/drawing/2014/main" id="{E4A9080E-7BA6-45FC-8677-8B9D5F4DA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23203" y="635716"/>
              <a:ext cx="328612" cy="1742360"/>
            </a:xfrm>
            <a:custGeom>
              <a:avLst/>
              <a:gdLst>
                <a:gd name="T0" fmla="*/ 207 w 207"/>
                <a:gd name="T1" fmla="*/ 987 h 1114"/>
                <a:gd name="T2" fmla="*/ 0 w 207"/>
                <a:gd name="T3" fmla="*/ 1114 h 1114"/>
                <a:gd name="T4" fmla="*/ 0 w 207"/>
                <a:gd name="T5" fmla="*/ 127 h 1114"/>
                <a:gd name="T6" fmla="*/ 207 w 207"/>
                <a:gd name="T7" fmla="*/ 0 h 1114"/>
                <a:gd name="T8" fmla="*/ 207 w 207"/>
                <a:gd name="T9" fmla="*/ 987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" h="1114">
                  <a:moveTo>
                    <a:pt x="207" y="987"/>
                  </a:moveTo>
                  <a:lnTo>
                    <a:pt x="0" y="1114"/>
                  </a:lnTo>
                  <a:lnTo>
                    <a:pt x="0" y="127"/>
                  </a:lnTo>
                  <a:lnTo>
                    <a:pt x="207" y="0"/>
                  </a:lnTo>
                  <a:lnTo>
                    <a:pt x="207" y="987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7" name="Freeform 45">
              <a:extLst>
                <a:ext uri="{FF2B5EF4-FFF2-40B4-BE49-F238E27FC236}">
                  <a16:creationId xmlns:a16="http://schemas.microsoft.com/office/drawing/2014/main" id="{2163D516-75D4-4DE0-AC27-63719125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1022350"/>
              <a:ext cx="709612" cy="2095501"/>
            </a:xfrm>
            <a:custGeom>
              <a:avLst/>
              <a:gdLst>
                <a:gd name="T0" fmla="*/ 447 w 447"/>
                <a:gd name="T1" fmla="*/ 1363 h 1363"/>
                <a:gd name="T2" fmla="*/ 0 w 447"/>
                <a:gd name="T3" fmla="*/ 987 h 1363"/>
                <a:gd name="T4" fmla="*/ 0 w 447"/>
                <a:gd name="T5" fmla="*/ 0 h 1363"/>
                <a:gd name="T6" fmla="*/ 447 w 447"/>
                <a:gd name="T7" fmla="*/ 376 h 1363"/>
                <a:gd name="T8" fmla="*/ 447 w 447"/>
                <a:gd name="T9" fmla="*/ 1363 h 1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7" h="1363">
                  <a:moveTo>
                    <a:pt x="447" y="1363"/>
                  </a:moveTo>
                  <a:lnTo>
                    <a:pt x="0" y="987"/>
                  </a:lnTo>
                  <a:lnTo>
                    <a:pt x="0" y="0"/>
                  </a:lnTo>
                  <a:lnTo>
                    <a:pt x="447" y="376"/>
                  </a:lnTo>
                  <a:lnTo>
                    <a:pt x="447" y="1363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Freeform 46">
              <a:extLst>
                <a:ext uri="{FF2B5EF4-FFF2-40B4-BE49-F238E27FC236}">
                  <a16:creationId xmlns:a16="http://schemas.microsoft.com/office/drawing/2014/main" id="{E74A26A5-C23A-46D4-B0FF-155FB3834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09710" y="837744"/>
              <a:ext cx="403225" cy="1705431"/>
            </a:xfrm>
            <a:custGeom>
              <a:avLst/>
              <a:gdLst>
                <a:gd name="T0" fmla="*/ 254 w 254"/>
                <a:gd name="T1" fmla="*/ 987 h 1109"/>
                <a:gd name="T2" fmla="*/ 0 w 254"/>
                <a:gd name="T3" fmla="*/ 1109 h 1109"/>
                <a:gd name="T4" fmla="*/ 0 w 254"/>
                <a:gd name="T5" fmla="*/ 119 h 1109"/>
                <a:gd name="T6" fmla="*/ 254 w 254"/>
                <a:gd name="T7" fmla="*/ 0 h 1109"/>
                <a:gd name="T8" fmla="*/ 254 w 254"/>
                <a:gd name="T9" fmla="*/ 987 h 1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4" h="1109">
                  <a:moveTo>
                    <a:pt x="254" y="987"/>
                  </a:moveTo>
                  <a:lnTo>
                    <a:pt x="0" y="1109"/>
                  </a:lnTo>
                  <a:lnTo>
                    <a:pt x="0" y="119"/>
                  </a:lnTo>
                  <a:lnTo>
                    <a:pt x="254" y="0"/>
                  </a:lnTo>
                  <a:lnTo>
                    <a:pt x="254" y="987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Freeform 47">
              <a:extLst>
                <a:ext uri="{FF2B5EF4-FFF2-40B4-BE49-F238E27FC236}">
                  <a16:creationId xmlns:a16="http://schemas.microsoft.com/office/drawing/2014/main" id="{08E0243F-1062-43C6-AD04-130DFF668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660" y="640894"/>
              <a:ext cx="168275" cy="1713195"/>
            </a:xfrm>
            <a:custGeom>
              <a:avLst/>
              <a:gdLst>
                <a:gd name="T0" fmla="*/ 106 w 106"/>
                <a:gd name="T1" fmla="*/ 1114 h 1114"/>
                <a:gd name="T2" fmla="*/ 0 w 106"/>
                <a:gd name="T3" fmla="*/ 1005 h 1114"/>
                <a:gd name="T4" fmla="*/ 0 w 106"/>
                <a:gd name="T5" fmla="*/ 0 h 1114"/>
                <a:gd name="T6" fmla="*/ 106 w 106"/>
                <a:gd name="T7" fmla="*/ 110 h 1114"/>
                <a:gd name="T8" fmla="*/ 106 w 106"/>
                <a:gd name="T9" fmla="*/ 1114 h 1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" h="1114">
                  <a:moveTo>
                    <a:pt x="106" y="1114"/>
                  </a:moveTo>
                  <a:lnTo>
                    <a:pt x="0" y="1005"/>
                  </a:lnTo>
                  <a:lnTo>
                    <a:pt x="0" y="0"/>
                  </a:lnTo>
                  <a:lnTo>
                    <a:pt x="106" y="110"/>
                  </a:lnTo>
                  <a:lnTo>
                    <a:pt x="106" y="111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4C5517B-1B0F-47AA-93A5-3671899698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4055" y="635715"/>
              <a:ext cx="10907863" cy="154145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DF239D-C418-4335-B23C-46EBD7633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280" y="759805"/>
            <a:ext cx="1030652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 Points from the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014D0-85BD-4096-BB96-626208D0D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0919" y="2463454"/>
            <a:ext cx="5476979" cy="37278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Journal entries can include balance sheet &amp; income statement accounts (or Dividends)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i="1" dirty="0"/>
              <a:t>Debits increase assets and expenses (&amp; </a:t>
            </a:r>
            <a:r>
              <a:rPr lang="en-US" sz="1800" i="1" dirty="0" err="1"/>
              <a:t>Div</a:t>
            </a:r>
            <a:r>
              <a:rPr lang="en-US" sz="1800" i="1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1" dirty="0"/>
              <a:t>Credits increase liabilities, equity, and revenue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1" dirty="0"/>
              <a:t>Debits = Credits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i="1" dirty="0"/>
              <a:t>Assets = Liabilities + Equity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Net income flows into Retained Earnings (Equity)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1800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sz="1800" dirty="0"/>
              <a:t>This affects almost everything we learn this semester.</a:t>
            </a:r>
          </a:p>
          <a:p>
            <a:endParaRPr lang="en-US" sz="1500" dirty="0"/>
          </a:p>
        </p:txBody>
      </p:sp>
      <p:pic>
        <p:nvPicPr>
          <p:cNvPr id="18" name="Picture 17" descr="Text&#10;&#10;Description automatically generated">
            <a:extLst>
              <a:ext uri="{FF2B5EF4-FFF2-40B4-BE49-F238E27FC236}">
                <a16:creationId xmlns:a16="http://schemas.microsoft.com/office/drawing/2014/main" id="{D9B46B75-5898-4DE9-88AC-68AF454AE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286" y="2644323"/>
            <a:ext cx="3935277" cy="203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9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AD7236-87F7-4DB2-8620-6A29E4AB6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301" y="-159972"/>
            <a:ext cx="10677395" cy="1325563"/>
          </a:xfrm>
        </p:spPr>
        <p:txBody>
          <a:bodyPr>
            <a:noAutofit/>
          </a:bodyPr>
          <a:lstStyle/>
          <a:p>
            <a:pPr algn="ctr"/>
            <a:r>
              <a:rPr lang="en-US" sz="4800" dirty="0">
                <a:solidFill>
                  <a:srgbClr val="0000FF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Account Types</a:t>
            </a: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 &amp; </a:t>
            </a:r>
            <a:r>
              <a:rPr lang="en-US" sz="4800" dirty="0">
                <a:solidFill>
                  <a:srgbClr val="00B05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Financial Statements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6A98B-5FC8-413D-8624-F641778DD803}"/>
              </a:ext>
            </a:extLst>
          </p:cNvPr>
          <p:cNvSpPr txBox="1"/>
          <p:nvPr/>
        </p:nvSpPr>
        <p:spPr>
          <a:xfrm>
            <a:off x="243725" y="2671220"/>
            <a:ext cx="1480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Assets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62D6A-4333-429E-9E3F-C231F1BD0486}"/>
              </a:ext>
            </a:extLst>
          </p:cNvPr>
          <p:cNvSpPr txBox="1"/>
          <p:nvPr/>
        </p:nvSpPr>
        <p:spPr>
          <a:xfrm>
            <a:off x="1890144" y="2671220"/>
            <a:ext cx="183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Liabilities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E16105-1684-4AF7-9811-9B754847507E}"/>
              </a:ext>
            </a:extLst>
          </p:cNvPr>
          <p:cNvSpPr txBox="1"/>
          <p:nvPr/>
        </p:nvSpPr>
        <p:spPr>
          <a:xfrm>
            <a:off x="4006548" y="2657145"/>
            <a:ext cx="1382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 Equity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975A38-CD71-4342-A0C4-C2810F4D3CD9}"/>
              </a:ext>
            </a:extLst>
          </p:cNvPr>
          <p:cNvSpPr txBox="1"/>
          <p:nvPr/>
        </p:nvSpPr>
        <p:spPr>
          <a:xfrm>
            <a:off x="4880733" y="4016641"/>
            <a:ext cx="1814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Revenue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2122C5-8F10-4718-981F-0B023BE8ECB6}"/>
              </a:ext>
            </a:extLst>
          </p:cNvPr>
          <p:cNvSpPr txBox="1"/>
          <p:nvPr/>
        </p:nvSpPr>
        <p:spPr>
          <a:xfrm>
            <a:off x="4881519" y="4582698"/>
            <a:ext cx="1655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Expense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1BFF28-FC31-4351-BA0A-A0D1FECA983F}"/>
              </a:ext>
            </a:extLst>
          </p:cNvPr>
          <p:cNvSpPr txBox="1"/>
          <p:nvPr/>
        </p:nvSpPr>
        <p:spPr>
          <a:xfrm>
            <a:off x="4898304" y="5255602"/>
            <a:ext cx="2017045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Dividend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53227E-4DB0-42A1-AE7E-649977A89C14}"/>
              </a:ext>
            </a:extLst>
          </p:cNvPr>
          <p:cNvSpPr txBox="1"/>
          <p:nvPr/>
        </p:nvSpPr>
        <p:spPr>
          <a:xfrm>
            <a:off x="1543348" y="2684771"/>
            <a:ext cx="285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0F20A1-D50D-4BC5-8B8F-C1F854402502}"/>
              </a:ext>
            </a:extLst>
          </p:cNvPr>
          <p:cNvSpPr txBox="1"/>
          <p:nvPr/>
        </p:nvSpPr>
        <p:spPr>
          <a:xfrm>
            <a:off x="3714644" y="2671220"/>
            <a:ext cx="305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+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2772BBB8-40BD-400B-A239-7B40AD0A871A}"/>
              </a:ext>
            </a:extLst>
          </p:cNvPr>
          <p:cNvSpPr/>
          <p:nvPr/>
        </p:nvSpPr>
        <p:spPr>
          <a:xfrm rot="16200000">
            <a:off x="2625493" y="-114289"/>
            <a:ext cx="382964" cy="5043715"/>
          </a:xfrm>
          <a:prstGeom prst="rightBrace">
            <a:avLst>
              <a:gd name="adj1" fmla="val 8333"/>
              <a:gd name="adj2" fmla="val 50273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EF6E58-371A-4A5E-B71D-CAEC09407BC2}"/>
              </a:ext>
            </a:extLst>
          </p:cNvPr>
          <p:cNvSpPr txBox="1"/>
          <p:nvPr/>
        </p:nvSpPr>
        <p:spPr>
          <a:xfrm>
            <a:off x="1522978" y="1492647"/>
            <a:ext cx="2635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Balance Sheet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80C4366D-82DD-4016-AE26-4793CBBD2F78}"/>
              </a:ext>
            </a:extLst>
          </p:cNvPr>
          <p:cNvSpPr/>
          <p:nvPr/>
        </p:nvSpPr>
        <p:spPr>
          <a:xfrm>
            <a:off x="9049045" y="3099145"/>
            <a:ext cx="301078" cy="2792493"/>
          </a:xfrm>
          <a:prstGeom prst="rightBrace">
            <a:avLst>
              <a:gd name="adj1" fmla="val 0"/>
              <a:gd name="adj2" fmla="val 55685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2851EE-625C-4D4F-A375-C9E398E52E2E}"/>
              </a:ext>
            </a:extLst>
          </p:cNvPr>
          <p:cNvSpPr txBox="1"/>
          <p:nvPr/>
        </p:nvSpPr>
        <p:spPr>
          <a:xfrm>
            <a:off x="9428653" y="3674757"/>
            <a:ext cx="26157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Statement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of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Stockholders’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Equity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30D88D-2C53-437C-9456-E66C1A5C330A}"/>
              </a:ext>
            </a:extLst>
          </p:cNvPr>
          <p:cNvSpPr txBox="1"/>
          <p:nvPr/>
        </p:nvSpPr>
        <p:spPr>
          <a:xfrm>
            <a:off x="6735507" y="3890201"/>
            <a:ext cx="25218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Income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Statement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185068E7-9456-4347-9EDD-0E1AABE62A44}"/>
              </a:ext>
            </a:extLst>
          </p:cNvPr>
          <p:cNvSpPr/>
          <p:nvPr/>
        </p:nvSpPr>
        <p:spPr>
          <a:xfrm>
            <a:off x="6614382" y="4167238"/>
            <a:ext cx="171450" cy="808885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F7AB26-83DF-43C1-9EED-78429CA92125}"/>
              </a:ext>
            </a:extLst>
          </p:cNvPr>
          <p:cNvSpPr txBox="1"/>
          <p:nvPr/>
        </p:nvSpPr>
        <p:spPr>
          <a:xfrm>
            <a:off x="6922155" y="4751345"/>
            <a:ext cx="217773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</a:rPr>
              <a:t>Net Income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49ADB4A-4B64-428D-9783-2CCFE5A70A15}"/>
              </a:ext>
            </a:extLst>
          </p:cNvPr>
          <p:cNvSpPr txBox="1">
            <a:spLocks/>
          </p:cNvSpPr>
          <p:nvPr/>
        </p:nvSpPr>
        <p:spPr bwMode="gray">
          <a:xfrm>
            <a:off x="3886821" y="3290364"/>
            <a:ext cx="1710505" cy="410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1" fontAlgn="base" hangingPunct="1">
              <a:spcBef>
                <a:spcPts val="1200"/>
              </a:spcBef>
              <a:spcAft>
                <a:spcPct val="0"/>
              </a:spcAft>
              <a:buClr>
                <a:srgbClr val="CEB87C"/>
              </a:buClr>
              <a:buChar char="•"/>
              <a:defRPr lang="en-US" sz="2800" baseline="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809625" indent="-26670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US" sz="2400" baseline="0" dirty="0" smtClean="0">
                <a:solidFill>
                  <a:srgbClr val="000000"/>
                </a:solidFill>
                <a:latin typeface="+mj-lt"/>
              </a:defRPr>
            </a:lvl2pPr>
            <a:lvl3pPr marL="1343025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US" sz="2000" baseline="0" dirty="0" smtClean="0">
                <a:solidFill>
                  <a:srgbClr val="000000"/>
                </a:solidFill>
                <a:latin typeface="+mj-lt"/>
              </a:defRPr>
            </a:lvl3pPr>
            <a:lvl4pPr marL="18859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US" baseline="0" dirty="0" smtClean="0">
                <a:solidFill>
                  <a:srgbClr val="000000"/>
                </a:solidFill>
                <a:latin typeface="+mj-lt"/>
              </a:defRPr>
            </a:lvl4pPr>
            <a:lvl5pPr marL="24193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GB" baseline="0" dirty="0">
                <a:solidFill>
                  <a:srgbClr val="000000"/>
                </a:solidFill>
                <a:latin typeface="+mj-lt"/>
              </a:defRPr>
            </a:lvl5pPr>
            <a:lvl6pPr marL="28765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6pPr>
            <a:lvl7pPr marL="33337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7pPr>
            <a:lvl8pPr marL="37909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8pPr>
            <a:lvl9pPr marL="42481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CEB87C"/>
              </a:buClr>
              <a:buSzTx/>
              <a:buFontTx/>
              <a:buNone/>
              <a:tabLst/>
              <a:defRPr/>
            </a:pPr>
            <a:r>
              <a:rPr kumimoji="0" lang="en-US" sz="2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Wingdings" panose="05000000000000000000" pitchFamily="2" charset="2"/>
              </a:rPr>
              <a:t>C/S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BA84BDE-D9E9-41D1-9490-5A5D68EE18C1}"/>
              </a:ext>
            </a:extLst>
          </p:cNvPr>
          <p:cNvSpPr txBox="1">
            <a:spLocks/>
          </p:cNvSpPr>
          <p:nvPr/>
        </p:nvSpPr>
        <p:spPr bwMode="gray">
          <a:xfrm>
            <a:off x="4741762" y="3295147"/>
            <a:ext cx="3203743" cy="410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266700" indent="-266700" algn="l" rtl="0" eaLnBrk="1" fontAlgn="base" hangingPunct="1">
              <a:spcBef>
                <a:spcPts val="1200"/>
              </a:spcBef>
              <a:spcAft>
                <a:spcPct val="0"/>
              </a:spcAft>
              <a:buClr>
                <a:srgbClr val="CEB87C"/>
              </a:buClr>
              <a:buChar char="•"/>
              <a:defRPr lang="en-US" sz="2800" baseline="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809625" indent="-266700" algn="l" rtl="0" eaLnBrk="1" fontAlgn="base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US" sz="2400" baseline="0" dirty="0" smtClean="0">
                <a:solidFill>
                  <a:srgbClr val="000000"/>
                </a:solidFill>
                <a:latin typeface="+mj-lt"/>
              </a:defRPr>
            </a:lvl2pPr>
            <a:lvl3pPr marL="1343025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US" sz="2000" baseline="0" dirty="0" smtClean="0">
                <a:solidFill>
                  <a:srgbClr val="000000"/>
                </a:solidFill>
                <a:latin typeface="+mj-lt"/>
              </a:defRPr>
            </a:lvl3pPr>
            <a:lvl4pPr marL="18859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US" baseline="0" dirty="0" smtClean="0">
                <a:solidFill>
                  <a:srgbClr val="000000"/>
                </a:solidFill>
                <a:latin typeface="+mj-lt"/>
              </a:defRPr>
            </a:lvl4pPr>
            <a:lvl5pPr marL="24193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rgbClr val="CEB87C"/>
              </a:buClr>
              <a:buFont typeface="Arial" charset="0"/>
              <a:buChar char="–"/>
              <a:defRPr lang="en-GB" baseline="0" dirty="0">
                <a:solidFill>
                  <a:srgbClr val="000000"/>
                </a:solidFill>
                <a:latin typeface="+mj-lt"/>
              </a:defRPr>
            </a:lvl5pPr>
            <a:lvl6pPr marL="28765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6pPr>
            <a:lvl7pPr marL="33337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7pPr>
            <a:lvl8pPr marL="37909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8pPr>
            <a:lvl9pPr marL="4248150" indent="-266700" algn="l" rtl="0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Arial" charset="0"/>
              <a:buChar char="–"/>
              <a:defRPr sz="22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CEB87C"/>
              </a:buClr>
              <a:buSzTx/>
              <a:buFontTx/>
              <a:buNone/>
              <a:tabLst/>
              <a:defRPr/>
            </a:pPr>
            <a:r>
              <a:rPr kumimoji="0" lang="en-US" sz="2300" b="0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panose="020B0604020202020204" pitchFamily="34" charset="0"/>
                <a:ea typeface="+mn-ea"/>
                <a:cs typeface="Helvetica" panose="020B0604020202020204" pitchFamily="34" charset="0"/>
                <a:sym typeface="Wingdings" panose="05000000000000000000" pitchFamily="2" charset="2"/>
              </a:rPr>
              <a:t>Retained Earnings</a:t>
            </a:r>
          </a:p>
        </p:txBody>
      </p:sp>
    </p:spTree>
    <p:extLst>
      <p:ext uri="{BB962C8B-B14F-4D97-AF65-F5344CB8AC3E}">
        <p14:creationId xmlns:p14="http://schemas.microsoft.com/office/powerpoint/2010/main" val="132747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20" grpId="0"/>
      <p:bldP spid="21" grpId="0" animBg="1"/>
      <p:bldP spid="22" grpId="0"/>
      <p:bldP spid="23" grpId="0"/>
      <p:bldP spid="24" grpId="0" animBg="1"/>
      <p:bldP spid="25" grpId="0"/>
      <p:bldP spid="19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D479F-C6D6-493D-B18E-237DA6351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17D56-DE12-4BB0-95BF-D415C8D99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journal entries 1 – 10 (Not 11). These events occurred </a:t>
            </a:r>
            <a:r>
              <a:rPr lang="en-US" b="1" i="1" dirty="0"/>
              <a:t>DURING</a:t>
            </a:r>
            <a:r>
              <a:rPr lang="en-US" dirty="0"/>
              <a:t> the period.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Things to consider: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accounts are involved? Up or Down? Do we balance?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financial statements are affected?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Will anything cause this account to move later (time/use)?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52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Adjusting Entries</a:t>
            </a:r>
          </a:p>
        </p:txBody>
      </p:sp>
    </p:spTree>
    <p:extLst>
      <p:ext uri="{BB962C8B-B14F-4D97-AF65-F5344CB8AC3E}">
        <p14:creationId xmlns:p14="http://schemas.microsoft.com/office/powerpoint/2010/main" val="3424155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Accrual Accounting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  <a:defRPr/>
            </a:pPr>
            <a:endParaRPr lang="en-US" sz="2400" b="1" dirty="0">
              <a:solidFill>
                <a:srgbClr val="000000"/>
              </a:solidFill>
              <a:latin typeface="Times New Roman"/>
            </a:endParaRPr>
          </a:p>
          <a:p>
            <a:pPr marL="0" indent="0" algn="ctr">
              <a:buNone/>
              <a:defRPr/>
            </a:pPr>
            <a:r>
              <a:rPr lang="en-US" sz="2400" b="1" u="sng" dirty="0">
                <a:solidFill>
                  <a:srgbClr val="000000"/>
                </a:solidFill>
                <a:latin typeface="Times New Roman"/>
              </a:rPr>
              <a:t>Definitions</a:t>
            </a: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Deferred: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Cash is exchanged, but revenue or expense is not recognized until later.</a:t>
            </a:r>
          </a:p>
          <a:p>
            <a:pPr marL="0" indent="0"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endParaRPr lang="en-US" sz="2400" dirty="0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Accrued: </a:t>
            </a:r>
            <a:r>
              <a:rPr lang="en-US" sz="2400" dirty="0">
                <a:solidFill>
                  <a:srgbClr val="000000"/>
                </a:solidFill>
                <a:latin typeface="Times New Roman"/>
              </a:rPr>
              <a:t>No cash is exchanged, but revenue or expense is recognized now.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99626" y="6248400"/>
            <a:ext cx="9683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660657-ADC5-4439-A727-6A2F0E00CE84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1448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Accrual Accounting</a:t>
            </a:r>
          </a:p>
        </p:txBody>
      </p:sp>
      <p:sp>
        <p:nvSpPr>
          <p:cNvPr id="4198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699626" y="6248400"/>
            <a:ext cx="968375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660657-ADC5-4439-A727-6A2F0E00CE84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868928"/>
              </p:ext>
            </p:extLst>
          </p:nvPr>
        </p:nvGraphicFramePr>
        <p:xfrm>
          <a:off x="1345210" y="1825627"/>
          <a:ext cx="9577348" cy="404261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2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9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56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1549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Deferred </a:t>
                      </a:r>
                      <a:r>
                        <a:rPr lang="en-US" sz="1800" dirty="0"/>
                        <a:t>(receive/pay cash early)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Accrued </a:t>
                      </a:r>
                      <a:r>
                        <a:rPr lang="en-US" sz="1800" dirty="0"/>
                        <a:t>(receive/pay cash late)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531">
                <a:tc>
                  <a:txBody>
                    <a:bodyPr/>
                    <a:lstStyle/>
                    <a:p>
                      <a:r>
                        <a:rPr lang="en-US" sz="1800" b="1" dirty="0"/>
                        <a:t>Revenue</a:t>
                      </a:r>
                    </a:p>
                    <a:p>
                      <a:r>
                        <a:rPr lang="en-US" sz="1800" b="1" dirty="0"/>
                        <a:t>(</a:t>
                      </a:r>
                      <a:r>
                        <a:rPr lang="en-US" sz="1800" b="1" i="1" dirty="0">
                          <a:solidFill>
                            <a:srgbClr val="FF0000"/>
                          </a:solidFill>
                        </a:rPr>
                        <a:t>earned</a:t>
                      </a:r>
                      <a:r>
                        <a:rPr lang="en-US" sz="1800" b="1" dirty="0"/>
                        <a:t>)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/>
                        <a:t>1)  Deferred revenue (receive a down payment, but have not yet delivered goods, so no revenue)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3)  Accrued revenue (delivered goods to customer, but have not yet been paid)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0531">
                <a:tc>
                  <a:txBody>
                    <a:bodyPr/>
                    <a:lstStyle/>
                    <a:p>
                      <a:r>
                        <a:rPr lang="en-US" sz="1800" b="1" dirty="0"/>
                        <a:t>Expense</a:t>
                      </a:r>
                    </a:p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(</a:t>
                      </a:r>
                      <a:r>
                        <a:rPr lang="en-US" sz="1800" b="1" i="1" dirty="0">
                          <a:solidFill>
                            <a:srgbClr val="FF0000"/>
                          </a:solidFill>
                        </a:rPr>
                        <a:t>incurred</a:t>
                      </a:r>
                      <a:r>
                        <a:rPr lang="en-US" sz="1800" b="1" dirty="0"/>
                        <a:t>)</a:t>
                      </a:r>
                    </a:p>
                    <a:p>
                      <a:endParaRPr lang="en-US" sz="1800" b="1" dirty="0"/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2)  Deferred (or prepaid) expense (pay rent in advance, but do not have access to building yet)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4)  Accrued expense (used electricity for a month, but haven’t paid yet)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45916F70-467B-669D-CD46-0BBF6237D9F4}"/>
              </a:ext>
            </a:extLst>
          </p:cNvPr>
          <p:cNvSpPr/>
          <p:nvPr/>
        </p:nvSpPr>
        <p:spPr>
          <a:xfrm>
            <a:off x="3020602" y="2527443"/>
            <a:ext cx="3719245" cy="1582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C5DE98-1B0D-B226-E67F-B9651731071F}"/>
              </a:ext>
            </a:extLst>
          </p:cNvPr>
          <p:cNvSpPr/>
          <p:nvPr/>
        </p:nvSpPr>
        <p:spPr>
          <a:xfrm>
            <a:off x="3020602" y="4236475"/>
            <a:ext cx="3719245" cy="1582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161C5-D397-930B-C139-768DD639057A}"/>
              </a:ext>
            </a:extLst>
          </p:cNvPr>
          <p:cNvSpPr/>
          <p:nvPr/>
        </p:nvSpPr>
        <p:spPr>
          <a:xfrm>
            <a:off x="6858653" y="2542187"/>
            <a:ext cx="3970849" cy="1582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2B3D42-4A69-0EF8-71DB-67154FABEF6E}"/>
              </a:ext>
            </a:extLst>
          </p:cNvPr>
          <p:cNvSpPr/>
          <p:nvPr/>
        </p:nvSpPr>
        <p:spPr>
          <a:xfrm>
            <a:off x="6845778" y="4251219"/>
            <a:ext cx="3970849" cy="1582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44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Adjusting Entries</a:t>
            </a:r>
          </a:p>
        </p:txBody>
      </p:sp>
      <p:sp>
        <p:nvSpPr>
          <p:cNvPr id="39939" name="Content Placeholder 1"/>
          <p:cNvSpPr>
            <a:spLocks noGrp="1"/>
          </p:cNvSpPr>
          <p:nvPr>
            <p:ph idx="1"/>
          </p:nvPr>
        </p:nvSpPr>
        <p:spPr>
          <a:xfrm>
            <a:off x="838200" y="1825627"/>
            <a:ext cx="10515600" cy="46136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solidFill>
                  <a:srgbClr val="000000"/>
                </a:solidFill>
              </a:rPr>
              <a:t>All cash transactions have already been recorded. 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en-US" sz="2400" b="1" dirty="0">
                <a:solidFill>
                  <a:srgbClr val="000000"/>
                </a:solidFill>
              </a:rPr>
              <a:t>Adjusting Entry: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00"/>
                </a:solidFill>
              </a:rPr>
              <a:t>An adjusting entry is made </a:t>
            </a:r>
            <a:r>
              <a:rPr lang="en-US" i="1" dirty="0">
                <a:solidFill>
                  <a:schemeClr val="accent5"/>
                </a:solidFill>
              </a:rPr>
              <a:t>at the end of an accounting period </a:t>
            </a:r>
            <a:r>
              <a:rPr lang="en-US" dirty="0">
                <a:solidFill>
                  <a:srgbClr val="000000"/>
                </a:solidFill>
              </a:rPr>
              <a:t>to record </a:t>
            </a:r>
            <a:r>
              <a:rPr lang="en-US" b="1" i="1" dirty="0">
                <a:solidFill>
                  <a:schemeClr val="accent5"/>
                </a:solidFill>
              </a:rPr>
              <a:t>noncash</a:t>
            </a:r>
            <a:r>
              <a:rPr lang="en-US" dirty="0">
                <a:solidFill>
                  <a:srgbClr val="000000"/>
                </a:solidFill>
              </a:rPr>
              <a:t> economic events that occurred during that period.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ctr">
              <a:buSzPct val="50000"/>
              <a:buNone/>
            </a:pPr>
            <a:r>
              <a:rPr lang="en-US" altLang="en-US" b="1" u="sng" dirty="0">
                <a:solidFill>
                  <a:srgbClr val="000000"/>
                </a:solidFill>
                <a:latin typeface="Times New Roman" panose="02020603050405020304" pitchFamily="18" charset="0"/>
              </a:rPr>
              <a:t>Ask yourself:</a:t>
            </a:r>
          </a:p>
          <a:p>
            <a:pPr marL="0" indent="0">
              <a:buSzPct val="50000"/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Have I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earned </a:t>
            </a:r>
            <a:r>
              <a:rPr lang="en-US" altLang="en-US" dirty="0">
                <a:latin typeface="Times New Roman" panose="02020603050405020304" pitchFamily="18" charset="0"/>
              </a:rPr>
              <a:t>any revenue 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or </a:t>
            </a:r>
            <a:r>
              <a:rPr lang="en-US" altLang="en-US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incurred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any expenses that have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not yet been recorded?</a:t>
            </a:r>
          </a:p>
          <a:p>
            <a:pPr>
              <a:buSzPct val="50000"/>
            </a:pPr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endParaRPr lang="en-US" alt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726614" y="6248400"/>
            <a:ext cx="94138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HelveticaNeue MediumCond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893DBB-54D7-4CBE-9550-BF2012D49BC4}" type="slidenum">
              <a:rPr lang="en-US" altLang="en-US" sz="140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5458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877E-649E-4E54-AEDA-C08F0AAC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 to handout…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E289D-6BA5-40E2-9C7C-D5AB52AEA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entry 11 and remaining Adjusting Entries</a:t>
            </a:r>
          </a:p>
        </p:txBody>
      </p:sp>
    </p:spTree>
    <p:extLst>
      <p:ext uri="{BB962C8B-B14F-4D97-AF65-F5344CB8AC3E}">
        <p14:creationId xmlns:p14="http://schemas.microsoft.com/office/powerpoint/2010/main" val="385761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49583-60BC-415E-90E1-E3BA4093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Adjusting Entries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FBB3-A12D-4337-ADBA-9B3E39C9E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165412E9-7FC4-465B-88B3-1892B6485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51" y="1757267"/>
            <a:ext cx="11821297" cy="40940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CE6B80-3FFD-4B08-9667-6B10AA17D999}"/>
              </a:ext>
            </a:extLst>
          </p:cNvPr>
          <p:cNvSpPr/>
          <p:nvPr/>
        </p:nvSpPr>
        <p:spPr>
          <a:xfrm>
            <a:off x="391293" y="2598921"/>
            <a:ext cx="11322909" cy="84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CA9C53-9ED7-44CF-A14F-DE2EE6E535BD}"/>
              </a:ext>
            </a:extLst>
          </p:cNvPr>
          <p:cNvSpPr/>
          <p:nvPr/>
        </p:nvSpPr>
        <p:spPr>
          <a:xfrm>
            <a:off x="391296" y="3341854"/>
            <a:ext cx="11322909" cy="84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0C062-7993-44FE-AF93-D67DBC334802}"/>
              </a:ext>
            </a:extLst>
          </p:cNvPr>
          <p:cNvSpPr/>
          <p:nvPr/>
        </p:nvSpPr>
        <p:spPr>
          <a:xfrm>
            <a:off x="391295" y="4141033"/>
            <a:ext cx="11322909" cy="84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F0BBDC-A6C6-4052-8AED-53D8E8D2F8FA}"/>
              </a:ext>
            </a:extLst>
          </p:cNvPr>
          <p:cNvSpPr/>
          <p:nvPr/>
        </p:nvSpPr>
        <p:spPr>
          <a:xfrm>
            <a:off x="391294" y="4896639"/>
            <a:ext cx="11322909" cy="8427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377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8216" y="1341611"/>
            <a:ext cx="9619786" cy="472405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Know journal entries inside and out.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/>
              <a:t>Always use a </a:t>
            </a:r>
            <a:r>
              <a:rPr lang="en-US" sz="3200" dirty="0"/>
              <a:t>journal entry when cash moves, but consider also if you </a:t>
            </a:r>
            <a:r>
              <a:rPr lang="en-US" sz="3200" i="1" dirty="0"/>
              <a:t>earn </a:t>
            </a:r>
            <a:r>
              <a:rPr lang="en-US" sz="3200" dirty="0"/>
              <a:t>revenue or </a:t>
            </a:r>
            <a:r>
              <a:rPr lang="en-US" sz="3200" i="1" dirty="0"/>
              <a:t>incur </a:t>
            </a:r>
            <a:r>
              <a:rPr lang="en-US" sz="3200" dirty="0"/>
              <a:t>expenses without cash moving.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32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When understanding effects of errors, write out correct entry and see what changes.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</a:rPr>
              <a:t>If today was confusing, get help now!</a:t>
            </a:r>
          </a:p>
        </p:txBody>
      </p:sp>
    </p:spTree>
    <p:extLst>
      <p:ext uri="{BB962C8B-B14F-4D97-AF65-F5344CB8AC3E}">
        <p14:creationId xmlns:p14="http://schemas.microsoft.com/office/powerpoint/2010/main" val="387731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5494" y="1393693"/>
            <a:ext cx="261161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chemeClr val="bg1"/>
                </a:solidFill>
              </a:rPr>
              <a:t>Andrew Stephan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88B50B8-BE2C-497A-A0DD-8C15108F9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530027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7E69AA46-C81D-442C-9F01-C88B71E81D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r>
              <a:rPr lang="en-US" altLang="en-US" sz="3200" b="1" dirty="0">
                <a:solidFill>
                  <a:schemeClr val="bg1"/>
                </a:solidFill>
              </a:rPr>
              <a:t>ACCT 3220</a:t>
            </a:r>
          </a:p>
          <a:p>
            <a:pPr>
              <a:defRPr/>
            </a:pPr>
            <a:r>
              <a:rPr lang="en-US" altLang="en-US" sz="3200" b="1" i="1" dirty="0">
                <a:solidFill>
                  <a:schemeClr val="bg1"/>
                </a:solidFill>
              </a:rPr>
              <a:t>Mechanics &amp; Adjusting Entries – In-Class</a:t>
            </a:r>
          </a:p>
        </p:txBody>
      </p:sp>
    </p:spTree>
    <p:extLst>
      <p:ext uri="{BB962C8B-B14F-4D97-AF65-F5344CB8AC3E}">
        <p14:creationId xmlns:p14="http://schemas.microsoft.com/office/powerpoint/2010/main" val="1834001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1458</TotalTime>
  <Words>813</Words>
  <Application>Microsoft Office PowerPoint</Application>
  <PresentationFormat>Widescreen</PresentationFormat>
  <Paragraphs>131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Times New Roman</vt:lpstr>
      <vt:lpstr>Helvetica</vt:lpstr>
      <vt:lpstr>Calibri Light</vt:lpstr>
      <vt:lpstr>Calibri</vt:lpstr>
      <vt:lpstr>Wingdings</vt:lpstr>
      <vt:lpstr>Arial</vt:lpstr>
      <vt:lpstr>Arial Black</vt:lpstr>
      <vt:lpstr>Office Theme</vt:lpstr>
      <vt:lpstr>1_Office Theme</vt:lpstr>
      <vt:lpstr>PowerPoint Presentation</vt:lpstr>
      <vt:lpstr>Key Points from the Video</vt:lpstr>
      <vt:lpstr>Account Types &amp; Financial Statements</vt:lpstr>
      <vt:lpstr>Go to handout…</vt:lpstr>
      <vt:lpstr>Adjusting Entries</vt:lpstr>
      <vt:lpstr>Accrual Accounting</vt:lpstr>
      <vt:lpstr>Accrual Accounting</vt:lpstr>
      <vt:lpstr>Adjusting Entries</vt:lpstr>
      <vt:lpstr>Go to handout…</vt:lpstr>
      <vt:lpstr>Summary of Adjusting Entries</vt:lpstr>
      <vt:lpstr>Closing Thoughts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Kubie</dc:creator>
  <cp:lastModifiedBy>Jeremiah Contreras</cp:lastModifiedBy>
  <cp:revision>61</cp:revision>
  <cp:lastPrinted>2018-08-29T18:02:53Z</cp:lastPrinted>
  <dcterms:created xsi:type="dcterms:W3CDTF">2016-01-26T18:12:20Z</dcterms:created>
  <dcterms:modified xsi:type="dcterms:W3CDTF">2025-08-27T02:31:58Z</dcterms:modified>
</cp:coreProperties>
</file>