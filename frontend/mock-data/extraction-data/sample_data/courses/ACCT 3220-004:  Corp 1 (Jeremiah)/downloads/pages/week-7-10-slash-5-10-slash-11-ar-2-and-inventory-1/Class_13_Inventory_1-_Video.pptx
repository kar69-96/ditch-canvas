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0"/>
  </p:notesMasterIdLst>
  <p:sldIdLst>
    <p:sldId id="295" r:id="rId3"/>
    <p:sldId id="342" r:id="rId4"/>
    <p:sldId id="268" r:id="rId5"/>
    <p:sldId id="272" r:id="rId6"/>
    <p:sldId id="308" r:id="rId7"/>
    <p:sldId id="309" r:id="rId8"/>
    <p:sldId id="310" r:id="rId9"/>
    <p:sldId id="277" r:id="rId10"/>
    <p:sldId id="334" r:id="rId11"/>
    <p:sldId id="335" r:id="rId12"/>
    <p:sldId id="336" r:id="rId13"/>
    <p:sldId id="337" r:id="rId14"/>
    <p:sldId id="338" r:id="rId15"/>
    <p:sldId id="339" r:id="rId16"/>
    <p:sldId id="341" r:id="rId17"/>
    <p:sldId id="340" r:id="rId18"/>
    <p:sldId id="34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3A3"/>
    <a:srgbClr val="F17F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8"/>
    <p:restoredTop sz="86448"/>
  </p:normalViewPr>
  <p:slideViewPr>
    <p:cSldViewPr snapToGrid="0" snapToObjects="1">
      <p:cViewPr varScale="1">
        <p:scale>
          <a:sx n="66" d="100"/>
          <a:sy n="66" d="100"/>
        </p:scale>
        <p:origin x="63" y="2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9ea49ee18badb19e" providerId="LiveId" clId="{554B0901-2218-4DF9-896F-1890CFCB6F2C}"/>
    <pc:docChg chg="delSld">
      <pc:chgData name="Jeremiah Contreras" userId="9ea49ee18badb19e" providerId="LiveId" clId="{554B0901-2218-4DF9-896F-1890CFCB6F2C}" dt="2022-10-09T15:39:50.120" v="0" actId="47"/>
      <pc:docMkLst>
        <pc:docMk/>
      </pc:docMkLst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3868757799" sldId="278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3034772825" sldId="279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2024294210" sldId="280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1902606775" sldId="281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1039827473" sldId="311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3746110600" sldId="312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3139603433" sldId="328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3837367433" sldId="344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3955372264" sldId="345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99678622" sldId="346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1827411249" sldId="347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3934036146" sldId="348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787458922" sldId="349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2595591414" sldId="350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1512387247" sldId="351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3234028977" sldId="352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4024570398" sldId="353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864408441" sldId="359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900074311" sldId="360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2172908782" sldId="361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395862556" sldId="362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2982956800" sldId="363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934725236" sldId="365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421286336" sldId="366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2136445566" sldId="367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1502026978" sldId="368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2768560339" sldId="369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2222604866" sldId="370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3630966870" sldId="371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3385656636" sldId="372"/>
        </pc:sldMkLst>
      </pc:sldChg>
      <pc:sldChg chg="del">
        <pc:chgData name="Jeremiah Contreras" userId="9ea49ee18badb19e" providerId="LiveId" clId="{554B0901-2218-4DF9-896F-1890CFCB6F2C}" dt="2022-10-09T15:39:50.120" v="0" actId="47"/>
        <pc:sldMkLst>
          <pc:docMk/>
          <pc:sldMk cId="997468450" sldId="3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AF6DA-881C-4C79-B7BB-AE39812FEEB9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D006A-6F4D-4501-8E73-99D0EC5E5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02971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2750" y="700088"/>
            <a:ext cx="6197600" cy="348773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1188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02" tIns="46603" rIns="93202" bIns="4660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9829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2750" y="700088"/>
            <a:ext cx="6197600" cy="348773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1188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02" tIns="46603" rIns="93202" bIns="46603"/>
          <a:lstStyle/>
          <a:p>
            <a:r>
              <a:rPr lang="en-US" altLang="en-US" dirty="0"/>
              <a:t>Brown-Forman: Jack Daniels, </a:t>
            </a:r>
            <a:r>
              <a:rPr lang="en-US" altLang="en-US" dirty="0" err="1"/>
              <a:t>Finlandia</a:t>
            </a:r>
            <a:r>
              <a:rPr lang="en-US" altLang="en-US" dirty="0"/>
              <a:t>, Vodka, </a:t>
            </a:r>
            <a:r>
              <a:rPr lang="en-US" altLang="en-US" dirty="0" err="1"/>
              <a:t>Korbel</a:t>
            </a:r>
            <a:r>
              <a:rPr lang="en-US" altLang="en-US" dirty="0"/>
              <a:t>, etc.</a:t>
            </a:r>
          </a:p>
          <a:p>
            <a:endParaRPr lang="en-US" altLang="en-US" dirty="0"/>
          </a:p>
          <a:p>
            <a:r>
              <a:rPr lang="en-US" altLang="en-US" dirty="0"/>
              <a:t>Whiskey is aged in barrels for a number of years -&gt; all CA</a:t>
            </a:r>
          </a:p>
          <a:p>
            <a:endParaRPr lang="en-US" altLang="en-US" dirty="0"/>
          </a:p>
          <a:p>
            <a:r>
              <a:rPr lang="en-US" altLang="en-US" dirty="0"/>
              <a:t>Can observe long production cycle</a:t>
            </a:r>
            <a:r>
              <a:rPr lang="en-US" altLang="en-US" baseline="0" dirty="0"/>
              <a:t> – high WIP and barreled Whiskey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40408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8332">
              <a:defRPr/>
            </a:pPr>
            <a:r>
              <a:rPr lang="en-US" i="1" dirty="0">
                <a:solidFill>
                  <a:srgbClr val="000000"/>
                </a:solidFill>
                <a:latin typeface="Times New Roman"/>
              </a:rPr>
              <a:t>Is a plant manager’s salary part of inventory? What about an accountant’s salary? What do I do with transportation costs?</a:t>
            </a:r>
          </a:p>
          <a:p>
            <a:pPr defTabSz="918332">
              <a:defRPr/>
            </a:pPr>
            <a:r>
              <a:rPr lang="en-US" i="1" dirty="0">
                <a:solidFill>
                  <a:srgbClr val="000000"/>
                </a:solidFill>
                <a:latin typeface="Times New Roman"/>
              </a:rPr>
              <a:t>What’s the value of a phone after a new version is released?</a:t>
            </a:r>
          </a:p>
          <a:p>
            <a:pPr defTabSz="918332">
              <a:defRPr/>
            </a:pPr>
            <a:endParaRPr lang="en-US" i="1" dirty="0">
              <a:solidFill>
                <a:srgbClr val="000000"/>
              </a:solidFill>
              <a:latin typeface="Times New Roman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8CC22F-DC1F-4153-B89D-C51C7AB1CB34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2684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8CC22F-DC1F-4153-B89D-C51C7AB1CB34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0753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552450" y="727075"/>
            <a:ext cx="6426200" cy="3614738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3354" y="4582658"/>
            <a:ext cx="6023549" cy="43417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050" tIns="49027" rIns="98050" bIns="49027"/>
          <a:lstStyle/>
          <a:p>
            <a:r>
              <a:rPr lang="en-US" altLang="en-US" dirty="0"/>
              <a:t>Include everything it takes to get inventory ready to sell</a:t>
            </a:r>
          </a:p>
          <a:p>
            <a:endParaRPr lang="en-US" altLang="en-US" dirty="0"/>
          </a:p>
          <a:p>
            <a:r>
              <a:rPr lang="en-US" altLang="en-US" dirty="0"/>
              <a:t>Product: salary of production employees, materials, depreciation on </a:t>
            </a:r>
            <a:r>
              <a:rPr lang="en-US" altLang="en-US" dirty="0" err="1"/>
              <a:t>mfg</a:t>
            </a:r>
            <a:r>
              <a:rPr lang="en-US" altLang="en-US" dirty="0"/>
              <a:t> equipment (“essential to production”)</a:t>
            </a:r>
          </a:p>
          <a:p>
            <a:r>
              <a:rPr lang="en-US" altLang="en-US" dirty="0"/>
              <a:t>Period: salary of accountant, salesperson</a:t>
            </a:r>
            <a:r>
              <a:rPr lang="en-US" altLang="en-US" baseline="0" dirty="0"/>
              <a:t> wages</a:t>
            </a:r>
            <a:r>
              <a:rPr lang="en-US" altLang="en-US" dirty="0"/>
              <a:t>, advertising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51000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2750" y="700088"/>
            <a:ext cx="6197600" cy="348773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1188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02" tIns="46603" rIns="93202" bIns="46603"/>
          <a:lstStyle/>
          <a:p>
            <a:r>
              <a:rPr lang="en-US" altLang="en-US" dirty="0"/>
              <a:t>Admin: EXPENSE</a:t>
            </a:r>
          </a:p>
          <a:p>
            <a:r>
              <a:rPr lang="en-US" altLang="en-US" dirty="0"/>
              <a:t>Production: CAPITALIZE (into inventory)</a:t>
            </a:r>
          </a:p>
          <a:p>
            <a:endParaRPr lang="en-US" altLang="en-US" dirty="0"/>
          </a:p>
          <a:p>
            <a:r>
              <a:rPr lang="en-US" altLang="en-US" dirty="0"/>
              <a:t>1) The same type of costs could be in either bucket (e.g., salaries) depending on whether the costs go directly to generate revenue or not.</a:t>
            </a:r>
          </a:p>
          <a:p>
            <a:endParaRPr lang="en-US" altLang="en-US" dirty="0"/>
          </a:p>
          <a:p>
            <a:r>
              <a:rPr lang="en-US" altLang="en-US" dirty="0"/>
              <a:t>2) Give example: union strike -&gt; office workers and admin each trained for 1 job.  </a:t>
            </a:r>
          </a:p>
          <a:p>
            <a:endParaRPr lang="en-US" altLang="en-US" dirty="0"/>
          </a:p>
          <a:p>
            <a:r>
              <a:rPr lang="en-US" altLang="en-US" dirty="0"/>
              <a:t>The credit is the same, need to determine debit (Inventory or SGA-</a:t>
            </a:r>
            <a:r>
              <a:rPr lang="en-US" altLang="en-US" dirty="0" err="1"/>
              <a:t>Exp</a:t>
            </a:r>
            <a:r>
              <a:rPr lang="en-US" altLang="en-US" dirty="0"/>
              <a:t>)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5392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2750" y="700088"/>
            <a:ext cx="6197600" cy="348773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1188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02" tIns="46603" rIns="93202" bIns="46603"/>
          <a:lstStyle/>
          <a:p>
            <a:r>
              <a:rPr lang="en-US" altLang="en-US" dirty="0"/>
              <a:t>Admin: EXPENSE</a:t>
            </a:r>
          </a:p>
          <a:p>
            <a:r>
              <a:rPr lang="en-US" altLang="en-US" dirty="0"/>
              <a:t>Production: CAPITALIZE (into inventory)</a:t>
            </a:r>
          </a:p>
          <a:p>
            <a:endParaRPr lang="en-US" altLang="en-US" dirty="0"/>
          </a:p>
          <a:p>
            <a:r>
              <a:rPr lang="en-US" altLang="en-US" dirty="0"/>
              <a:t>1) The same type of costs could be in either bucket (e.g., salaries) depending on whether the costs go directly to generate revenue or not.</a:t>
            </a:r>
          </a:p>
          <a:p>
            <a:endParaRPr lang="en-US" altLang="en-US" dirty="0"/>
          </a:p>
          <a:p>
            <a:r>
              <a:rPr lang="en-US" altLang="en-US" dirty="0"/>
              <a:t>2) Give example: union strike -&gt; office workers and admin each trained for 1 job.  </a:t>
            </a:r>
          </a:p>
          <a:p>
            <a:endParaRPr lang="en-US" altLang="en-US" dirty="0"/>
          </a:p>
          <a:p>
            <a:r>
              <a:rPr lang="en-US" altLang="en-US" dirty="0"/>
              <a:t>The credit is the same, need to determine debit (Inventory or SGA-</a:t>
            </a:r>
            <a:r>
              <a:rPr lang="en-US" altLang="en-US" dirty="0" err="1"/>
              <a:t>Exp</a:t>
            </a:r>
            <a:r>
              <a:rPr lang="en-US" altLang="en-US" dirty="0"/>
              <a:t>)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01079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2750" y="700088"/>
            <a:ext cx="6197600" cy="348773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1188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02" tIns="46603" rIns="93202" bIns="46603"/>
          <a:lstStyle/>
          <a:p>
            <a:r>
              <a:rPr lang="en-US" altLang="en-US" dirty="0"/>
              <a:t>Admin: EXPENSE</a:t>
            </a:r>
          </a:p>
          <a:p>
            <a:r>
              <a:rPr lang="en-US" altLang="en-US" dirty="0"/>
              <a:t>Production: CAPITALIZE (into inventory)</a:t>
            </a:r>
          </a:p>
          <a:p>
            <a:endParaRPr lang="en-US" altLang="en-US" dirty="0"/>
          </a:p>
          <a:p>
            <a:r>
              <a:rPr lang="en-US" altLang="en-US" dirty="0"/>
              <a:t>1) The same type of costs could be in either bucket (e.g., salaries) depending on whether the costs go directly to generate revenue or not.</a:t>
            </a:r>
          </a:p>
          <a:p>
            <a:endParaRPr lang="en-US" altLang="en-US" dirty="0"/>
          </a:p>
          <a:p>
            <a:r>
              <a:rPr lang="en-US" altLang="en-US" dirty="0"/>
              <a:t>2) Give example: union strike -&gt; office workers and admin each trained for 1 job.  </a:t>
            </a:r>
          </a:p>
          <a:p>
            <a:endParaRPr lang="en-US" altLang="en-US" dirty="0"/>
          </a:p>
          <a:p>
            <a:r>
              <a:rPr lang="en-US" altLang="en-US" dirty="0"/>
              <a:t>The credit is the same, need to determine debit (Inventory or SGA-</a:t>
            </a:r>
            <a:r>
              <a:rPr lang="en-US" altLang="en-US" dirty="0" err="1"/>
              <a:t>Exp</a:t>
            </a:r>
            <a:r>
              <a:rPr lang="en-US" altLang="en-US" dirty="0"/>
              <a:t>)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73393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2750" y="700088"/>
            <a:ext cx="6197600" cy="348773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1188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02" tIns="46603" rIns="93202" bIns="46603"/>
          <a:lstStyle/>
          <a:p>
            <a:r>
              <a:rPr lang="en-US" altLang="en-US" dirty="0"/>
              <a:t>Admin: EXPENSE</a:t>
            </a:r>
          </a:p>
          <a:p>
            <a:r>
              <a:rPr lang="en-US" altLang="en-US" dirty="0"/>
              <a:t>Production: CAPITALIZE (into inventory)</a:t>
            </a:r>
          </a:p>
          <a:p>
            <a:endParaRPr lang="en-US" altLang="en-US" dirty="0"/>
          </a:p>
          <a:p>
            <a:r>
              <a:rPr lang="en-US" altLang="en-US" dirty="0"/>
              <a:t>1) The same type of costs could be in either bucket (e.g., salaries) depending on whether the costs go directly to generate revenue or not.</a:t>
            </a:r>
          </a:p>
          <a:p>
            <a:endParaRPr lang="en-US" altLang="en-US" dirty="0"/>
          </a:p>
          <a:p>
            <a:r>
              <a:rPr lang="en-US" altLang="en-US" dirty="0"/>
              <a:t>2) Give example: union strike -&gt; office workers and admin each trained for 1 job.  </a:t>
            </a:r>
          </a:p>
          <a:p>
            <a:endParaRPr lang="en-US" altLang="en-US" dirty="0"/>
          </a:p>
          <a:p>
            <a:r>
              <a:rPr lang="en-US" altLang="en-US" dirty="0"/>
              <a:t>The credit is the same, need to determine debit (Inventory or SGA-</a:t>
            </a:r>
            <a:r>
              <a:rPr lang="en-US" altLang="en-US" dirty="0" err="1"/>
              <a:t>Exp</a:t>
            </a:r>
            <a:r>
              <a:rPr lang="en-US" altLang="en-US" dirty="0"/>
              <a:t>)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992243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2750" y="700088"/>
            <a:ext cx="6197600" cy="348773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1188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02" tIns="46603" rIns="93202" bIns="46603"/>
          <a:lstStyle/>
          <a:p>
            <a:r>
              <a:rPr lang="en-US" altLang="en-US" dirty="0"/>
              <a:t>Admin: EXPENSE</a:t>
            </a:r>
          </a:p>
          <a:p>
            <a:r>
              <a:rPr lang="en-US" altLang="en-US" dirty="0"/>
              <a:t>Production: CAPITALIZE (into inventory)</a:t>
            </a:r>
          </a:p>
          <a:p>
            <a:endParaRPr lang="en-US" altLang="en-US" dirty="0"/>
          </a:p>
          <a:p>
            <a:r>
              <a:rPr lang="en-US" altLang="en-US" dirty="0"/>
              <a:t>1) The same type of costs could be in either bucket (e.g., salaries) depending on whether the costs go directly to generate revenue or not.</a:t>
            </a:r>
          </a:p>
          <a:p>
            <a:endParaRPr lang="en-US" altLang="en-US" dirty="0"/>
          </a:p>
          <a:p>
            <a:r>
              <a:rPr lang="en-US" altLang="en-US" dirty="0"/>
              <a:t>2) Give example: union strike -&gt; office workers and admin each trained for 1 job.  </a:t>
            </a:r>
          </a:p>
          <a:p>
            <a:endParaRPr lang="en-US" altLang="en-US" dirty="0"/>
          </a:p>
          <a:p>
            <a:r>
              <a:rPr lang="en-US" altLang="en-US" dirty="0"/>
              <a:t>The credit is the same, need to determine debit (Inventory or SGA-</a:t>
            </a:r>
            <a:r>
              <a:rPr lang="en-US" altLang="en-US" dirty="0" err="1"/>
              <a:t>Exp</a:t>
            </a:r>
            <a:r>
              <a:rPr lang="en-US" altLang="en-US" dirty="0"/>
              <a:t>)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4137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2750" y="700088"/>
            <a:ext cx="6197600" cy="348773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1188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02" tIns="46603" rIns="93202" bIns="46603"/>
          <a:lstStyle/>
          <a:p>
            <a:r>
              <a:rPr lang="en-US" altLang="en-US" dirty="0"/>
              <a:t>Admin: EXPENSE</a:t>
            </a:r>
          </a:p>
          <a:p>
            <a:r>
              <a:rPr lang="en-US" altLang="en-US" dirty="0"/>
              <a:t>Production: CAPITALIZE (into inventory)</a:t>
            </a:r>
          </a:p>
          <a:p>
            <a:endParaRPr lang="en-US" altLang="en-US" dirty="0"/>
          </a:p>
          <a:p>
            <a:r>
              <a:rPr lang="en-US" altLang="en-US" dirty="0"/>
              <a:t>1) The same type of costs could be in either bucket (e.g., salaries) depending on whether the costs go directly to generate revenue or not.</a:t>
            </a:r>
          </a:p>
          <a:p>
            <a:endParaRPr lang="en-US" altLang="en-US" dirty="0"/>
          </a:p>
          <a:p>
            <a:r>
              <a:rPr lang="en-US" altLang="en-US" dirty="0"/>
              <a:t>2) Give example: union strike -&gt; office workers and admin each trained for 1 job.  </a:t>
            </a:r>
          </a:p>
          <a:p>
            <a:endParaRPr lang="en-US" altLang="en-US" dirty="0"/>
          </a:p>
          <a:p>
            <a:r>
              <a:rPr lang="en-US" altLang="en-US" dirty="0"/>
              <a:t>The credit is the same, need to determine debit (Inventory or SGA-</a:t>
            </a:r>
            <a:r>
              <a:rPr lang="en-US" altLang="en-US" dirty="0" err="1"/>
              <a:t>Exp</a:t>
            </a:r>
            <a:r>
              <a:rPr lang="en-US" altLang="en-US" dirty="0"/>
              <a:t>)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43026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12750" y="700088"/>
            <a:ext cx="6197600" cy="348773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21188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02" tIns="46603" rIns="93202" bIns="46603"/>
          <a:lstStyle/>
          <a:p>
            <a:r>
              <a:rPr lang="en-US" altLang="en-US" dirty="0"/>
              <a:t>Admin: EXPENSE</a:t>
            </a:r>
          </a:p>
          <a:p>
            <a:r>
              <a:rPr lang="en-US" altLang="en-US" dirty="0"/>
              <a:t>Production: CAPITALIZE (into inventory)</a:t>
            </a:r>
          </a:p>
          <a:p>
            <a:endParaRPr lang="en-US" altLang="en-US" dirty="0"/>
          </a:p>
          <a:p>
            <a:r>
              <a:rPr lang="en-US" altLang="en-US" dirty="0"/>
              <a:t>1) The same type of costs could be in either bucket (e.g., salaries) depending on whether the costs go directly to generate revenue or not.</a:t>
            </a:r>
          </a:p>
          <a:p>
            <a:endParaRPr lang="en-US" altLang="en-US" dirty="0"/>
          </a:p>
          <a:p>
            <a:r>
              <a:rPr lang="en-US" altLang="en-US" dirty="0"/>
              <a:t>2) Give example: union strike -&gt; office workers and admin each trained for 1 job.  </a:t>
            </a:r>
          </a:p>
          <a:p>
            <a:endParaRPr lang="en-US" altLang="en-US" dirty="0"/>
          </a:p>
          <a:p>
            <a:r>
              <a:rPr lang="en-US" altLang="en-US" dirty="0"/>
              <a:t>The credit is the same, need to determine debit (Inventory or SGA-</a:t>
            </a:r>
            <a:r>
              <a:rPr lang="en-US" altLang="en-US" dirty="0" err="1"/>
              <a:t>Exp</a:t>
            </a:r>
            <a:r>
              <a:rPr lang="en-US" altLang="en-US" dirty="0"/>
              <a:t>)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913474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8332">
              <a:defRPr/>
            </a:pPr>
            <a:r>
              <a:rPr lang="en-US" i="1" dirty="0">
                <a:solidFill>
                  <a:srgbClr val="000000"/>
                </a:solidFill>
                <a:latin typeface="Times New Roman"/>
              </a:rPr>
              <a:t>Is a plant manager’s salary part of inventory? What about an accountant’s salary? What do I do with transportation costs?</a:t>
            </a:r>
          </a:p>
          <a:p>
            <a:pPr defTabSz="918332">
              <a:defRPr/>
            </a:pPr>
            <a:r>
              <a:rPr lang="en-US" i="1" dirty="0">
                <a:solidFill>
                  <a:srgbClr val="000000"/>
                </a:solidFill>
                <a:latin typeface="Times New Roman"/>
              </a:rPr>
              <a:t>What’s the value of a phone after a new version is released?</a:t>
            </a:r>
          </a:p>
          <a:p>
            <a:pPr defTabSz="918332">
              <a:defRPr/>
            </a:pPr>
            <a:endParaRPr lang="en-US" i="1" dirty="0">
              <a:solidFill>
                <a:srgbClr val="000000"/>
              </a:solidFill>
              <a:latin typeface="Times New Roman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8CC22F-DC1F-4153-B89D-C51C7AB1CB34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43477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55209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0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7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0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8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0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42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15775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1800">
                <a:latin typeface="+mj-lt"/>
              </a:defRPr>
            </a:lvl3pPr>
            <a:lvl4pPr>
              <a:defRPr sz="1600">
                <a:latin typeface="+mj-lt"/>
              </a:defRPr>
            </a:lvl4pPr>
            <a:lvl5pPr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5239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9677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8667" y="1860551"/>
            <a:ext cx="5384800" cy="3800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26667" y="1860551"/>
            <a:ext cx="5384800" cy="38004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92303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6272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9117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76104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28559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73976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71160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36519" y="433391"/>
            <a:ext cx="2774949" cy="52276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9553" y="433391"/>
            <a:ext cx="8123767" cy="52276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08457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50976"/>
            <a:ext cx="10972800" cy="1162050"/>
          </a:xfrm>
        </p:spPr>
        <p:txBody>
          <a:bodyPr lIns="0" tIns="0" rIns="0" bIns="0" anchor="b"/>
          <a:lstStyle>
            <a:lvl1pPr>
              <a:lnSpc>
                <a:spcPct val="90000"/>
              </a:lnSpc>
              <a:defRPr sz="2400" b="1" kern="1200" spc="-53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267713"/>
            <a:ext cx="10972800" cy="4315968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75"/>
              </a:spcBef>
              <a:defRPr sz="1950"/>
            </a:lvl1pPr>
            <a:lvl2pPr marL="171450" indent="-17145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§"/>
              <a:defRPr sz="1950"/>
            </a:lvl2pPr>
            <a:lvl3pPr marL="342900" indent="-17145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§"/>
              <a:defRPr sz="1950"/>
            </a:lvl3pPr>
            <a:lvl4pPr marL="557213" indent="-214313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§"/>
              <a:defRPr sz="1950"/>
            </a:lvl4pPr>
            <a:lvl5pPr marL="728663" indent="-17145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§"/>
              <a:defRPr sz="19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4362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60063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0049" y="1219203"/>
            <a:ext cx="10972800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0" y="6019800"/>
            <a:ext cx="2545650" cy="49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203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HelveticaNeue BoldCond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HelveticaNeue BoldCond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HelveticaNeue BoldCond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HelveticaNeue BoldCond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HelveticaNeue BoldCond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HelveticaNeue BoldCond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HelveticaNeue BoldCond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HelveticaNeue BoldCond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HelveticaNeue BoldCond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HelveticaNeueLT Std" panose="020B0604020202020204" pitchFamily="34" charset="0"/>
          <a:ea typeface="+mn-ea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HelveticaNeueLT Std" panose="020B0604020202020204" pitchFamily="34" charset="0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HelveticaNeueLT Std" panose="020B0604020202020204" pitchFamily="34" charset="0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HelveticaNeueLT Std" panose="020B0604020202020204" pitchFamily="34" charset="0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HelveticaNeueLT Std" panose="020B0604020202020204" pitchFamily="34" charset="0"/>
          <a:cs typeface="Times New Roman" panose="02020603050405020304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i="1" dirty="0">
                <a:solidFill>
                  <a:schemeClr val="bg1"/>
                </a:solidFill>
              </a:rPr>
              <a:t>Inventory Part 1 - Video</a:t>
            </a:r>
          </a:p>
        </p:txBody>
      </p:sp>
    </p:spTree>
    <p:extLst>
      <p:ext uri="{BB962C8B-B14F-4D97-AF65-F5344CB8AC3E}">
        <p14:creationId xmlns:p14="http://schemas.microsoft.com/office/powerpoint/2010/main" val="87163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D0D71-A3AB-4B07-BDF1-115518499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12B96-313F-43AE-9A29-580728735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inventory</a:t>
            </a:r>
          </a:p>
          <a:p>
            <a:endParaRPr lang="en-US" dirty="0"/>
          </a:p>
          <a:p>
            <a:r>
              <a:rPr lang="en-US" dirty="0"/>
              <a:t>Consider what costs are included</a:t>
            </a:r>
          </a:p>
        </p:txBody>
      </p:sp>
    </p:spTree>
    <p:extLst>
      <p:ext uri="{BB962C8B-B14F-4D97-AF65-F5344CB8AC3E}">
        <p14:creationId xmlns:p14="http://schemas.microsoft.com/office/powerpoint/2010/main" val="3529899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Definitions</a:t>
            </a:r>
          </a:p>
        </p:txBody>
      </p:sp>
      <p:sp>
        <p:nvSpPr>
          <p:cNvPr id="5123" name="Content Placeholder 1"/>
          <p:cNvSpPr>
            <a:spLocks noGrp="1"/>
          </p:cNvSpPr>
          <p:nvPr>
            <p:ph idx="1"/>
          </p:nvPr>
        </p:nvSpPr>
        <p:spPr>
          <a:xfrm>
            <a:off x="838200" y="1576389"/>
            <a:ext cx="10647066" cy="4522787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altLang="en-US" sz="2400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Inventory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  <a:p>
            <a:pPr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Tangible items held for sale (or further processing prior to sale) as part of operations</a:t>
            </a:r>
          </a:p>
          <a:p>
            <a:pPr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What may be inventory for one firm may not be for another firm.  For example: </a:t>
            </a:r>
          </a:p>
          <a:p>
            <a:pPr lvl="1">
              <a:buSzPct val="50000"/>
              <a:buFont typeface="Wingdings" panose="05000000000000000000" pitchFamily="2" charset="2"/>
              <a:buChar char="m"/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Computers are inventory for Dell, but not for McDonald’s</a:t>
            </a:r>
          </a:p>
          <a:p>
            <a:pPr lvl="1">
              <a:buSzPct val="50000"/>
              <a:buFont typeface="Wingdings" panose="05000000000000000000" pitchFamily="2" charset="2"/>
              <a:buChar char="m"/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Machines are inventory for John Deere, but not a home-building company</a:t>
            </a:r>
          </a:p>
          <a:p>
            <a:pPr marL="0" indent="0">
              <a:buNone/>
              <a:defRPr/>
            </a:pPr>
            <a:endParaRPr lang="en-US" altLang="en-US" sz="2000" u="sng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altLang="en-US" sz="2400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On the financial statements:</a:t>
            </a:r>
          </a:p>
          <a:p>
            <a:pPr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Inventory (balance sheet) = costs associated with goods held for sale (includes raw materials, work-in-process, and finished goods)</a:t>
            </a:r>
          </a:p>
          <a:p>
            <a:pPr>
              <a:defRPr/>
            </a:pPr>
            <a:endParaRPr lang="en-US" altLang="en-US" sz="5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Cost of goods sold (income statement) = costs expensed by the firm once the units associated with the costs are sold</a:t>
            </a:r>
          </a:p>
          <a:p>
            <a:pPr>
              <a:defRPr/>
            </a:pPr>
            <a:endParaRPr lang="en-US" altLang="en-US" dirty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859964" y="6248400"/>
            <a:ext cx="8080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374868-E5BB-40EC-99BF-981A89E7BBDD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11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805265" y="348708"/>
            <a:ext cx="9416764" cy="8382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000" dirty="0"/>
              <a:t>Inventory Example – Brown-Forman</a:t>
            </a:r>
          </a:p>
        </p:txBody>
      </p:sp>
      <p:sp>
        <p:nvSpPr>
          <p:cNvPr id="35843" name="Slide Number Placeholder 8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734552" y="6248400"/>
            <a:ext cx="898525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953088-7FE2-4808-AA09-652E887978F2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pic>
        <p:nvPicPr>
          <p:cNvPr id="3584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72" y="2462447"/>
            <a:ext cx="9200716" cy="241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6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55" y="2764564"/>
            <a:ext cx="9231121" cy="1690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7DE8A8-3C96-466C-993B-14DFB15C57DE}"/>
              </a:ext>
            </a:extLst>
          </p:cNvPr>
          <p:cNvSpPr/>
          <p:nvPr/>
        </p:nvSpPr>
        <p:spPr>
          <a:xfrm>
            <a:off x="8769850" y="4109311"/>
            <a:ext cx="1371600" cy="40664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E53BD1-F1E9-4DC8-9F54-98438B956F29}"/>
              </a:ext>
            </a:extLst>
          </p:cNvPr>
          <p:cNvSpPr txBox="1"/>
          <p:nvPr/>
        </p:nvSpPr>
        <p:spPr>
          <a:xfrm>
            <a:off x="9992226" y="2177373"/>
            <a:ext cx="242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Presented on B/S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A3661E2-FB55-4BE7-AC49-7642DD431033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9992226" y="2546705"/>
            <a:ext cx="1211262" cy="15626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43438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C4B36-5A39-46FE-A805-39D1EA727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Challenges with valuing inventory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4F921-A569-418C-836F-DA0343728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0"/>
            <a:ext cx="8026400" cy="5032373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What goods are included in inventory?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Which costs are included?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Which items did we sell?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What if the value changes?</a:t>
            </a:r>
          </a:p>
        </p:txBody>
      </p:sp>
    </p:spTree>
    <p:extLst>
      <p:ext uri="{BB962C8B-B14F-4D97-AF65-F5344CB8AC3E}">
        <p14:creationId xmlns:p14="http://schemas.microsoft.com/office/powerpoint/2010/main" val="234008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F4889-9374-4E29-8EF7-2E9768345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1) What goods are included in inventory?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39449-805F-4707-9F3B-C86B87DB2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504070"/>
            <a:ext cx="8585200" cy="4727573"/>
          </a:xfrm>
        </p:spPr>
        <p:txBody>
          <a:bodyPr>
            <a:normAutofit fontScale="92500"/>
          </a:bodyPr>
          <a:lstStyle/>
          <a:p>
            <a:pPr>
              <a:spcAft>
                <a:spcPts val="1200"/>
              </a:spcAft>
            </a:pPr>
            <a:r>
              <a:rPr lang="en-US" dirty="0"/>
              <a:t>Goods in company’s physical possession.</a:t>
            </a:r>
          </a:p>
          <a:p>
            <a:pPr>
              <a:spcAft>
                <a:spcPts val="1200"/>
              </a:spcAft>
            </a:pPr>
            <a:endParaRPr lang="en-US" dirty="0"/>
          </a:p>
          <a:p>
            <a:r>
              <a:rPr lang="en-US" dirty="0"/>
              <a:t>Goods in transit – depends on who has title to goods.</a:t>
            </a:r>
          </a:p>
          <a:p>
            <a:pPr lvl="1"/>
            <a:r>
              <a:rPr lang="en-US" dirty="0"/>
              <a:t>Shipped f.o.b. (free on board) </a:t>
            </a:r>
            <a:r>
              <a:rPr lang="en-US" b="1" i="1" dirty="0">
                <a:solidFill>
                  <a:srgbClr val="FF0000"/>
                </a:solidFill>
              </a:rPr>
              <a:t>shipping point </a:t>
            </a:r>
            <a:r>
              <a:rPr lang="en-US" dirty="0"/>
              <a:t>means title passes when goods shipped: </a:t>
            </a:r>
            <a:r>
              <a:rPr lang="en-US" b="1" dirty="0">
                <a:solidFill>
                  <a:srgbClr val="FF0000"/>
                </a:solidFill>
              </a:rPr>
              <a:t>buyer</a:t>
            </a:r>
            <a:r>
              <a:rPr lang="en-US" dirty="0"/>
              <a:t> reports goods in inventory.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Shipped f.o.b. </a:t>
            </a:r>
            <a:r>
              <a:rPr lang="en-US" b="1" i="1" dirty="0">
                <a:solidFill>
                  <a:srgbClr val="FF0000"/>
                </a:solidFill>
              </a:rPr>
              <a:t>destination</a:t>
            </a:r>
            <a:r>
              <a:rPr lang="en-US" dirty="0"/>
              <a:t> means title passes when goods received: </a:t>
            </a:r>
            <a:r>
              <a:rPr lang="en-US" b="1" dirty="0">
                <a:solidFill>
                  <a:srgbClr val="FF0000"/>
                </a:solidFill>
              </a:rPr>
              <a:t>seller</a:t>
            </a:r>
            <a:r>
              <a:rPr lang="en-US" dirty="0"/>
              <a:t> reports goods in inventory.</a:t>
            </a:r>
          </a:p>
          <a:p>
            <a:pPr lvl="1">
              <a:spcAft>
                <a:spcPts val="1200"/>
              </a:spcAft>
            </a:pPr>
            <a:endParaRPr lang="en-US" dirty="0"/>
          </a:p>
          <a:p>
            <a:r>
              <a:rPr lang="en-US" dirty="0"/>
              <a:t>Goods in consignment arrangements.</a:t>
            </a:r>
          </a:p>
        </p:txBody>
      </p:sp>
    </p:spTree>
    <p:extLst>
      <p:ext uri="{BB962C8B-B14F-4D97-AF65-F5344CB8AC3E}">
        <p14:creationId xmlns:p14="http://schemas.microsoft.com/office/powerpoint/2010/main" val="52110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2) Which costs are included?</a:t>
            </a:r>
          </a:p>
        </p:txBody>
      </p:sp>
      <p:sp>
        <p:nvSpPr>
          <p:cNvPr id="23555" name="Content Placeholder 1"/>
          <p:cNvSpPr>
            <a:spLocks noGrp="1"/>
          </p:cNvSpPr>
          <p:nvPr>
            <p:ph idx="1"/>
          </p:nvPr>
        </p:nvSpPr>
        <p:spPr>
          <a:xfrm>
            <a:off x="838200" y="1504070"/>
            <a:ext cx="10515600" cy="4655429"/>
          </a:xfrm>
        </p:spPr>
        <p:txBody>
          <a:bodyPr>
            <a:normAutofit fontScale="70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altLang="en-US" i="1" dirty="0">
                <a:solidFill>
                  <a:srgbClr val="FF0000"/>
                </a:solidFill>
              </a:rPr>
              <a:t>All costs incurred to acquire and prepare for sale:</a:t>
            </a:r>
          </a:p>
          <a:p>
            <a:pPr>
              <a:spcAft>
                <a:spcPts val="1200"/>
              </a:spcAft>
            </a:pPr>
            <a:r>
              <a:rPr lang="en-US" altLang="en-US" b="1" dirty="0"/>
              <a:t>Merchandising/retail firms</a:t>
            </a:r>
            <a:r>
              <a:rPr lang="en-US" altLang="en-US" dirty="0"/>
              <a:t>:  </a:t>
            </a:r>
          </a:p>
          <a:p>
            <a:pPr lvl="1"/>
            <a:r>
              <a:rPr lang="en-US" altLang="en-US" dirty="0"/>
              <a:t>unit price</a:t>
            </a:r>
          </a:p>
          <a:p>
            <a:pPr lvl="1"/>
            <a:r>
              <a:rPr lang="en-US" altLang="en-US" dirty="0"/>
              <a:t>freight-in charges</a:t>
            </a:r>
          </a:p>
          <a:p>
            <a:pPr lvl="1"/>
            <a:r>
              <a:rPr lang="en-US" altLang="en-US" dirty="0"/>
              <a:t>packaging and handling costs at acquisition</a:t>
            </a:r>
          </a:p>
          <a:p>
            <a:pPr lvl="1"/>
            <a:r>
              <a:rPr lang="en-US" altLang="en-US" dirty="0"/>
              <a:t>less discounts (product costs).</a:t>
            </a:r>
          </a:p>
          <a:p>
            <a:pPr marL="457189" lvl="1" indent="0">
              <a:buNone/>
            </a:pPr>
            <a:endParaRPr lang="en-US" altLang="en-US" dirty="0"/>
          </a:p>
          <a:p>
            <a:pPr>
              <a:spcAft>
                <a:spcPts val="1200"/>
              </a:spcAft>
            </a:pPr>
            <a:r>
              <a:rPr lang="en-US" altLang="en-US" b="1" dirty="0"/>
              <a:t>Manufacturing firms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/>
              <a:t>raw materials</a:t>
            </a:r>
          </a:p>
          <a:p>
            <a:pPr lvl="1"/>
            <a:r>
              <a:rPr lang="en-US" altLang="en-US" dirty="0"/>
              <a:t>direct labor </a:t>
            </a:r>
          </a:p>
          <a:p>
            <a:pPr lvl="1"/>
            <a:r>
              <a:rPr lang="en-US" altLang="en-US" dirty="0"/>
              <a:t>manufacturing overhead (product costs).</a:t>
            </a:r>
          </a:p>
          <a:p>
            <a:pPr marL="0" indent="0">
              <a:spcAft>
                <a:spcPts val="1200"/>
              </a:spcAft>
              <a:buNone/>
            </a:pPr>
            <a:endParaRPr lang="en-US" altLang="en-US" dirty="0"/>
          </a:p>
          <a:p>
            <a:pPr marL="0" indent="0">
              <a:spcAft>
                <a:spcPts val="1200"/>
              </a:spcAft>
              <a:buNone/>
            </a:pPr>
            <a:r>
              <a:rPr lang="en-US" altLang="en-US" b="1" dirty="0"/>
              <a:t>Note: </a:t>
            </a:r>
            <a:r>
              <a:rPr lang="en-US" altLang="en-US" dirty="0"/>
              <a:t>Overhead not tied to production (like advertising, executive salaries) go to Selling, General and Administrative (SG&amp;A) or another expense (period costs).</a:t>
            </a:r>
          </a:p>
        </p:txBody>
      </p:sp>
    </p:spTree>
    <p:extLst>
      <p:ext uri="{BB962C8B-B14F-4D97-AF65-F5344CB8AC3E}">
        <p14:creationId xmlns:p14="http://schemas.microsoft.com/office/powerpoint/2010/main" val="2888069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"/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"/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/>
              <a:t>Costs in Inventory</a:t>
            </a:r>
          </a:p>
        </p:txBody>
      </p:sp>
      <p:sp>
        <p:nvSpPr>
          <p:cNvPr id="4608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012364" y="6218238"/>
            <a:ext cx="6556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3AEA9F-7A93-491A-BF55-8D2AC30A97C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Rectangle 5"/>
          <p:cNvSpPr txBox="1">
            <a:spLocks noChangeArrowheads="1"/>
          </p:cNvSpPr>
          <p:nvPr/>
        </p:nvSpPr>
        <p:spPr bwMode="auto">
          <a:xfrm>
            <a:off x="883603" y="1338392"/>
            <a:ext cx="9128761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>
              <a:defRPr/>
            </a:pPr>
            <a:r>
              <a:rPr lang="en-US" sz="2000" kern="0" dirty="0">
                <a:solidFill>
                  <a:srgbClr val="000000"/>
                </a:solidFill>
                <a:latin typeface="Times New Roman"/>
              </a:rPr>
              <a:t>The decision to expense an item in the current period vs. capitalizing the item (recording it as an asset on the Balance Sheet) depends on the type of item: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803045"/>
              </p:ext>
            </p:extLst>
          </p:nvPr>
        </p:nvGraphicFramePr>
        <p:xfrm>
          <a:off x="961725" y="2350165"/>
          <a:ext cx="9298805" cy="3463493"/>
        </p:xfrm>
        <a:graphic>
          <a:graphicData uri="http://schemas.openxmlformats.org/drawingml/2006/table">
            <a:tbl>
              <a:tblPr/>
              <a:tblGrid>
                <a:gridCol w="1305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5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Period Costs (administrative)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Product Costs (production related)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Wages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Salary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Salaries Payable (B - L)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Salaries Payable (B - L)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Utilities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Utility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Cash (B - 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Cash (B - 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Depreciation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Depreciation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Accumulated Depreciation (B - XA)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Accumulated Depreciation (B - XA)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734D34A-11F8-4EF9-9E66-09019C7A518B}"/>
              </a:ext>
            </a:extLst>
          </p:cNvPr>
          <p:cNvSpPr/>
          <p:nvPr/>
        </p:nvSpPr>
        <p:spPr>
          <a:xfrm>
            <a:off x="2120900" y="2679700"/>
            <a:ext cx="3810000" cy="33075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8C199B-5B07-43CA-A518-7722E4AA4724}"/>
              </a:ext>
            </a:extLst>
          </p:cNvPr>
          <p:cNvSpPr/>
          <p:nvPr/>
        </p:nvSpPr>
        <p:spPr>
          <a:xfrm>
            <a:off x="6530182" y="2679700"/>
            <a:ext cx="3810000" cy="33075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43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/>
              <a:t>Costs in Inventory</a:t>
            </a:r>
          </a:p>
        </p:txBody>
      </p:sp>
      <p:sp>
        <p:nvSpPr>
          <p:cNvPr id="4608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012364" y="6218238"/>
            <a:ext cx="6556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3AEA9F-7A93-491A-BF55-8D2AC30A97C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Rectangle 5"/>
          <p:cNvSpPr txBox="1">
            <a:spLocks noChangeArrowheads="1"/>
          </p:cNvSpPr>
          <p:nvPr/>
        </p:nvSpPr>
        <p:spPr bwMode="auto">
          <a:xfrm>
            <a:off x="883603" y="1338392"/>
            <a:ext cx="9128761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>
              <a:defRPr/>
            </a:pPr>
            <a:r>
              <a:rPr lang="en-US" sz="2000" kern="0" dirty="0">
                <a:solidFill>
                  <a:srgbClr val="000000"/>
                </a:solidFill>
                <a:latin typeface="Times New Roman"/>
              </a:rPr>
              <a:t>The decision to expense an item in the current period vs. capitalizing the item (recording it as an asset on the Balance Sheet) depends on the type of item: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61725" y="2350165"/>
          <a:ext cx="9298805" cy="3463493"/>
        </p:xfrm>
        <a:graphic>
          <a:graphicData uri="http://schemas.openxmlformats.org/drawingml/2006/table">
            <a:tbl>
              <a:tblPr/>
              <a:tblGrid>
                <a:gridCol w="1305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5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Period Costs (administrative)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Product Costs (production related)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Wages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Salary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Salaries Payable (B - L)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Salaries Payable (B - L)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Utilities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Utility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Cash (B - 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Cash (B - 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Depreciation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Depreciation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Accumulated Depreciation (B - XA)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Accumulated Depreciation (B - XA)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734D34A-11F8-4EF9-9E66-09019C7A518B}"/>
              </a:ext>
            </a:extLst>
          </p:cNvPr>
          <p:cNvSpPr/>
          <p:nvPr/>
        </p:nvSpPr>
        <p:spPr>
          <a:xfrm>
            <a:off x="2120900" y="3517900"/>
            <a:ext cx="3810000" cy="2453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8C199B-5B07-43CA-A518-7722E4AA4724}"/>
              </a:ext>
            </a:extLst>
          </p:cNvPr>
          <p:cNvSpPr/>
          <p:nvPr/>
        </p:nvSpPr>
        <p:spPr>
          <a:xfrm>
            <a:off x="6530182" y="2679700"/>
            <a:ext cx="3810000" cy="33075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75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/>
              <a:t>Costs in Inventory</a:t>
            </a:r>
          </a:p>
        </p:txBody>
      </p:sp>
      <p:sp>
        <p:nvSpPr>
          <p:cNvPr id="4608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012364" y="6218238"/>
            <a:ext cx="6556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3AEA9F-7A93-491A-BF55-8D2AC30A97C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Rectangle 5"/>
          <p:cNvSpPr txBox="1">
            <a:spLocks noChangeArrowheads="1"/>
          </p:cNvSpPr>
          <p:nvPr/>
        </p:nvSpPr>
        <p:spPr bwMode="auto">
          <a:xfrm>
            <a:off x="883603" y="1338392"/>
            <a:ext cx="9128761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>
              <a:defRPr/>
            </a:pPr>
            <a:r>
              <a:rPr lang="en-US" sz="2000" kern="0" dirty="0">
                <a:solidFill>
                  <a:srgbClr val="000000"/>
                </a:solidFill>
                <a:latin typeface="Times New Roman"/>
              </a:rPr>
              <a:t>The decision to expense an item in the current period vs. capitalizing the item (recording it as an asset on the Balance Sheet) depends on the type of item: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61725" y="2350165"/>
          <a:ext cx="9298805" cy="3463493"/>
        </p:xfrm>
        <a:graphic>
          <a:graphicData uri="http://schemas.openxmlformats.org/drawingml/2006/table">
            <a:tbl>
              <a:tblPr/>
              <a:tblGrid>
                <a:gridCol w="1305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5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Period Costs (administrative)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Product Costs (production related)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Wages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Salary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Salaries Payable (B - L)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Salaries Payable (B - L)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Utilities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Utility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Cash (B - 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Cash (B - 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Depreciation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Depreciation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Accumulated Depreciation (B - XA)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Accumulated Depreciation (B - XA)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734D34A-11F8-4EF9-9E66-09019C7A518B}"/>
              </a:ext>
            </a:extLst>
          </p:cNvPr>
          <p:cNvSpPr/>
          <p:nvPr/>
        </p:nvSpPr>
        <p:spPr>
          <a:xfrm>
            <a:off x="2120900" y="3517900"/>
            <a:ext cx="3810000" cy="2453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8C199B-5B07-43CA-A518-7722E4AA4724}"/>
              </a:ext>
            </a:extLst>
          </p:cNvPr>
          <p:cNvSpPr/>
          <p:nvPr/>
        </p:nvSpPr>
        <p:spPr>
          <a:xfrm>
            <a:off x="6530182" y="3533645"/>
            <a:ext cx="3810000" cy="2453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920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/>
              <a:t>Costs in Inventory</a:t>
            </a:r>
          </a:p>
        </p:txBody>
      </p:sp>
      <p:sp>
        <p:nvSpPr>
          <p:cNvPr id="4608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012364" y="6218238"/>
            <a:ext cx="6556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3AEA9F-7A93-491A-BF55-8D2AC30A97C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Rectangle 5"/>
          <p:cNvSpPr txBox="1">
            <a:spLocks noChangeArrowheads="1"/>
          </p:cNvSpPr>
          <p:nvPr/>
        </p:nvSpPr>
        <p:spPr bwMode="auto">
          <a:xfrm>
            <a:off x="883603" y="1338392"/>
            <a:ext cx="9128761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>
              <a:defRPr/>
            </a:pPr>
            <a:r>
              <a:rPr lang="en-US" sz="2000" kern="0" dirty="0">
                <a:solidFill>
                  <a:srgbClr val="000000"/>
                </a:solidFill>
                <a:latin typeface="Times New Roman"/>
              </a:rPr>
              <a:t>The decision to expense an item in the current period vs. capitalizing the item (recording it as an asset on the Balance Sheet) depends on the type of item: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61725" y="2350165"/>
          <a:ext cx="9298805" cy="3463493"/>
        </p:xfrm>
        <a:graphic>
          <a:graphicData uri="http://schemas.openxmlformats.org/drawingml/2006/table">
            <a:tbl>
              <a:tblPr/>
              <a:tblGrid>
                <a:gridCol w="1305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5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Period Costs (administrative)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Product Costs (production related)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Wages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Salary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Salaries Payable (B - L)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Salaries Payable (B - L)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Utilities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Utility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Cash (B - 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Cash (B - 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Depreciation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Depreciation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Accumulated Depreciation (B - XA)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Accumulated Depreciation (B - XA)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734D34A-11F8-4EF9-9E66-09019C7A518B}"/>
              </a:ext>
            </a:extLst>
          </p:cNvPr>
          <p:cNvSpPr/>
          <p:nvPr/>
        </p:nvSpPr>
        <p:spPr>
          <a:xfrm>
            <a:off x="2120900" y="4813300"/>
            <a:ext cx="3810000" cy="11581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8C199B-5B07-43CA-A518-7722E4AA4724}"/>
              </a:ext>
            </a:extLst>
          </p:cNvPr>
          <p:cNvSpPr/>
          <p:nvPr/>
        </p:nvSpPr>
        <p:spPr>
          <a:xfrm>
            <a:off x="6530182" y="3533645"/>
            <a:ext cx="3810000" cy="2453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52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/>
              <a:t>Costs in Inventory</a:t>
            </a:r>
          </a:p>
        </p:txBody>
      </p:sp>
      <p:sp>
        <p:nvSpPr>
          <p:cNvPr id="4608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012364" y="6218238"/>
            <a:ext cx="6556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3AEA9F-7A93-491A-BF55-8D2AC30A97C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Rectangle 5"/>
          <p:cNvSpPr txBox="1">
            <a:spLocks noChangeArrowheads="1"/>
          </p:cNvSpPr>
          <p:nvPr/>
        </p:nvSpPr>
        <p:spPr bwMode="auto">
          <a:xfrm>
            <a:off x="883603" y="1338392"/>
            <a:ext cx="9128761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>
              <a:defRPr/>
            </a:pPr>
            <a:r>
              <a:rPr lang="en-US" sz="2000" kern="0" dirty="0">
                <a:solidFill>
                  <a:srgbClr val="000000"/>
                </a:solidFill>
                <a:latin typeface="Times New Roman"/>
              </a:rPr>
              <a:t>The decision to expense an item in the current period vs. capitalizing the item (recording it as an asset on the Balance Sheet) depends on the type of item: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61725" y="2350165"/>
          <a:ext cx="9298805" cy="3463493"/>
        </p:xfrm>
        <a:graphic>
          <a:graphicData uri="http://schemas.openxmlformats.org/drawingml/2006/table">
            <a:tbl>
              <a:tblPr/>
              <a:tblGrid>
                <a:gridCol w="1305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5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Period Costs (administrative)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Product Costs (production related)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Wages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Salary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Salaries Payable (B - L)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Salaries Payable (B - L)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Utilities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Utility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Cash (B - 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Cash (B - 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Depreciation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Depreciation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Accumulated Depreciation (B - XA)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Accumulated Depreciation (B - XA)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734D34A-11F8-4EF9-9E66-09019C7A518B}"/>
              </a:ext>
            </a:extLst>
          </p:cNvPr>
          <p:cNvSpPr/>
          <p:nvPr/>
        </p:nvSpPr>
        <p:spPr>
          <a:xfrm>
            <a:off x="2120900" y="4813300"/>
            <a:ext cx="3810000" cy="11581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8C199B-5B07-43CA-A518-7722E4AA4724}"/>
              </a:ext>
            </a:extLst>
          </p:cNvPr>
          <p:cNvSpPr/>
          <p:nvPr/>
        </p:nvSpPr>
        <p:spPr>
          <a:xfrm>
            <a:off x="6530182" y="4829043"/>
            <a:ext cx="3810000" cy="11581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11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/>
              <a:t>Costs in Inventory</a:t>
            </a:r>
          </a:p>
        </p:txBody>
      </p:sp>
      <p:sp>
        <p:nvSpPr>
          <p:cNvPr id="4608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012364" y="6218238"/>
            <a:ext cx="6556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3AEA9F-7A93-491A-BF55-8D2AC30A97C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Rectangle 5"/>
          <p:cNvSpPr txBox="1">
            <a:spLocks noChangeArrowheads="1"/>
          </p:cNvSpPr>
          <p:nvPr/>
        </p:nvSpPr>
        <p:spPr bwMode="auto">
          <a:xfrm>
            <a:off x="883603" y="1338392"/>
            <a:ext cx="9128761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>
              <a:defRPr/>
            </a:pPr>
            <a:r>
              <a:rPr lang="en-US" sz="2000" kern="0" dirty="0">
                <a:solidFill>
                  <a:srgbClr val="000000"/>
                </a:solidFill>
                <a:latin typeface="Times New Roman"/>
              </a:rPr>
              <a:t>The decision to expense an item in the current period vs. capitalizing the item (recording it as an asset on the Balance Sheet) depends on the type of item: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61725" y="2350165"/>
          <a:ext cx="9298805" cy="3463493"/>
        </p:xfrm>
        <a:graphic>
          <a:graphicData uri="http://schemas.openxmlformats.org/drawingml/2006/table">
            <a:tbl>
              <a:tblPr/>
              <a:tblGrid>
                <a:gridCol w="1305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5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Period Costs (administrative)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Product Costs (production related)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Wages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Salary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Salaries Payable (B - L)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Salaries Payable (B - L)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Utilities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Utility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Cash (B - 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Cash (B - 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Depreciation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Depreciation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Accumulated Depreciation (B - XA)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Accumulated Depreciation (B - XA)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648C199B-5B07-43CA-A518-7722E4AA4724}"/>
              </a:ext>
            </a:extLst>
          </p:cNvPr>
          <p:cNvSpPr/>
          <p:nvPr/>
        </p:nvSpPr>
        <p:spPr>
          <a:xfrm>
            <a:off x="6530182" y="4829043"/>
            <a:ext cx="3810000" cy="11581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90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/>
              <a:t>Costs in Inventory</a:t>
            </a:r>
          </a:p>
        </p:txBody>
      </p:sp>
      <p:sp>
        <p:nvSpPr>
          <p:cNvPr id="4608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012364" y="6218238"/>
            <a:ext cx="6556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3AEA9F-7A93-491A-BF55-8D2AC30A97C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Rectangle 5"/>
          <p:cNvSpPr txBox="1">
            <a:spLocks noChangeArrowheads="1"/>
          </p:cNvSpPr>
          <p:nvPr/>
        </p:nvSpPr>
        <p:spPr bwMode="auto">
          <a:xfrm>
            <a:off x="883603" y="1338392"/>
            <a:ext cx="9128761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>
              <a:defRPr/>
            </a:pPr>
            <a:r>
              <a:rPr lang="en-US" sz="2000" kern="0" dirty="0">
                <a:solidFill>
                  <a:srgbClr val="000000"/>
                </a:solidFill>
                <a:latin typeface="Times New Roman"/>
              </a:rPr>
              <a:t>The decision to expense an item in the current period vs. capitalizing the item (recording it as an asset on the Balance Sheet) depends on the type of item: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61725" y="2350165"/>
          <a:ext cx="9298805" cy="3463493"/>
        </p:xfrm>
        <a:graphic>
          <a:graphicData uri="http://schemas.openxmlformats.org/drawingml/2006/table">
            <a:tbl>
              <a:tblPr/>
              <a:tblGrid>
                <a:gridCol w="1305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5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Period Costs (administrative)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Product Costs (production related)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Wages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Salary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Salaries Payable (B - L)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Salaries Payable (B - L)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Utilities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Utility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Cash (B - 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Cash (B - 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Depreciation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Depreciation Expense (I - E)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Dr.  Work in Process Inventory (B - A)</a:t>
                      </a: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Accumulated Depreciation (B - XA)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10555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Cr.  Accumulated Depreciation (B - XA)</a:t>
                      </a:r>
                    </a:p>
                  </a:txBody>
                  <a:tcPr marL="253353" marR="10555" marT="105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4788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C4B36-5A39-46FE-A805-39D1EA727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Challenges with valuing inventory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4F921-A569-418C-836F-DA0343728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0"/>
            <a:ext cx="8026400" cy="5032373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What goods are included in inventory?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Which costs are included?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dirty="0"/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Which items did we sell?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b="1" dirty="0">
              <a:solidFill>
                <a:srgbClr val="FF0000"/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What if the value changes?</a:t>
            </a:r>
          </a:p>
        </p:txBody>
      </p:sp>
    </p:spTree>
    <p:extLst>
      <p:ext uri="{BB962C8B-B14F-4D97-AF65-F5344CB8AC3E}">
        <p14:creationId xmlns:p14="http://schemas.microsoft.com/office/powerpoint/2010/main" val="3494692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E6ED-B3D7-4227-B8A0-21C0233E2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17B63-13D7-4F62-A301-8B0631750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Inventory is goods held for sale, includes raw materials and work-in-process</a:t>
            </a:r>
          </a:p>
          <a:p>
            <a:endParaRPr lang="en-US" dirty="0"/>
          </a:p>
          <a:p>
            <a:r>
              <a:rPr lang="en-US" dirty="0"/>
              <a:t>Be aware of goods in transit, on consignment – who owns them?</a:t>
            </a:r>
          </a:p>
          <a:p>
            <a:endParaRPr lang="en-US" dirty="0"/>
          </a:p>
          <a:p>
            <a:r>
              <a:rPr lang="en-US" dirty="0"/>
              <a:t>All costs to acquire and produce inventory – not just purchasing costs.</a:t>
            </a:r>
          </a:p>
        </p:txBody>
      </p:sp>
    </p:spTree>
    <p:extLst>
      <p:ext uri="{BB962C8B-B14F-4D97-AF65-F5344CB8AC3E}">
        <p14:creationId xmlns:p14="http://schemas.microsoft.com/office/powerpoint/2010/main" val="3628957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i="1" dirty="0">
                <a:solidFill>
                  <a:schemeClr val="bg1"/>
                </a:solidFill>
              </a:rPr>
              <a:t>Inventory Part 1 - Video</a:t>
            </a:r>
          </a:p>
        </p:txBody>
      </p:sp>
    </p:spTree>
    <p:extLst>
      <p:ext uri="{BB962C8B-B14F-4D97-AF65-F5344CB8AC3E}">
        <p14:creationId xmlns:p14="http://schemas.microsoft.com/office/powerpoint/2010/main" val="2239434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Custom Design">
  <a:themeElements>
    <a:clrScheme name="Custom 3">
      <a:dk1>
        <a:srgbClr val="000000"/>
      </a:dk1>
      <a:lt1>
        <a:srgbClr val="FFFFFF"/>
      </a:lt1>
      <a:dk2>
        <a:srgbClr val="565A5C"/>
      </a:dk2>
      <a:lt2>
        <a:srgbClr val="CFB87C"/>
      </a:lt2>
      <a:accent1>
        <a:srgbClr val="565A5C"/>
      </a:accent1>
      <a:accent2>
        <a:srgbClr val="003C71"/>
      </a:accent2>
      <a:accent3>
        <a:srgbClr val="500000"/>
      </a:accent3>
      <a:accent4>
        <a:srgbClr val="5B6236"/>
      </a:accent4>
      <a:accent5>
        <a:srgbClr val="999942"/>
      </a:accent5>
      <a:accent6>
        <a:srgbClr val="332C2C"/>
      </a:accent6>
      <a:hlink>
        <a:srgbClr val="707373"/>
      </a:hlink>
      <a:folHlink>
        <a:srgbClr val="FFFFFF"/>
      </a:folHlink>
    </a:clrScheme>
    <a:fontScheme name="3_Custom Design">
      <a:majorFont>
        <a:latin typeface="HelveticaNeue BoldC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3827</TotalTime>
  <Words>2217</Words>
  <Application>Microsoft Office PowerPoint</Application>
  <PresentationFormat>Widescreen</PresentationFormat>
  <Paragraphs>279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Black</vt:lpstr>
      <vt:lpstr>Calibri</vt:lpstr>
      <vt:lpstr>HelveticaNeue BoldCond</vt:lpstr>
      <vt:lpstr>HelveticaNeueLT Std</vt:lpstr>
      <vt:lpstr>Times New Roman</vt:lpstr>
      <vt:lpstr>Wingdings</vt:lpstr>
      <vt:lpstr>Office Theme</vt:lpstr>
      <vt:lpstr>3_Custom Design</vt:lpstr>
      <vt:lpstr>PowerPoint Presentation</vt:lpstr>
      <vt:lpstr>Goals</vt:lpstr>
      <vt:lpstr>Definitions</vt:lpstr>
      <vt:lpstr>Inventory Example – Brown-Forman</vt:lpstr>
      <vt:lpstr>Challenges with valuing inventory</vt:lpstr>
      <vt:lpstr>1) What goods are included in inventory?</vt:lpstr>
      <vt:lpstr>2) Which costs are included?</vt:lpstr>
      <vt:lpstr>Costs in Inventory</vt:lpstr>
      <vt:lpstr>Costs in Inventory</vt:lpstr>
      <vt:lpstr>Costs in Inventory</vt:lpstr>
      <vt:lpstr>Costs in Inventory</vt:lpstr>
      <vt:lpstr>Costs in Inventory</vt:lpstr>
      <vt:lpstr>Costs in Inventory</vt:lpstr>
      <vt:lpstr>Costs in Inventory</vt:lpstr>
      <vt:lpstr>Challenges with valuing inventory</vt:lpstr>
      <vt:lpstr>Closing Thoughts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Kubie</dc:creator>
  <cp:lastModifiedBy>Jeremiah Contreras</cp:lastModifiedBy>
  <cp:revision>163</cp:revision>
  <dcterms:created xsi:type="dcterms:W3CDTF">2016-01-26T18:12:20Z</dcterms:created>
  <dcterms:modified xsi:type="dcterms:W3CDTF">2022-10-09T15:40:00Z</dcterms:modified>
</cp:coreProperties>
</file>