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90" r:id="rId2"/>
    <p:sldId id="257" r:id="rId3"/>
    <p:sldId id="326" r:id="rId4"/>
    <p:sldId id="325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8005" autoAdjust="0"/>
  </p:normalViewPr>
  <p:slideViewPr>
    <p:cSldViewPr snapToGrid="0">
      <p:cViewPr varScale="1">
        <p:scale>
          <a:sx n="76" d="100"/>
          <a:sy n="76" d="100"/>
        </p:scale>
        <p:origin x="2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31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934070AF-B916-4ABD-9AA7-8ACB737F2802}"/>
    <pc:docChg chg="delSld">
      <pc:chgData name="Jeremiah Contreras" userId="9ea49ee18badb19e" providerId="LiveId" clId="{934070AF-B916-4ABD-9AA7-8ACB737F2802}" dt="2022-09-04T17:24:00.875" v="0" actId="47"/>
      <pc:docMkLst>
        <pc:docMk/>
      </pc:docMkLst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0" sldId="256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2409693587" sldId="281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3806584320" sldId="287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3574718069" sldId="341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1785182728" sldId="342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1226428531" sldId="343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1929483698" sldId="344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786312946" sldId="345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4264220366" sldId="346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1181128803" sldId="347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2359842985" sldId="348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1209570258" sldId="349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3093212727" sldId="350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773083570" sldId="351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3920354558" sldId="352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819679453" sldId="353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1840371428" sldId="354"/>
        </pc:sldMkLst>
      </pc:sldChg>
      <pc:sldChg chg="del">
        <pc:chgData name="Jeremiah Contreras" userId="9ea49ee18badb19e" providerId="LiveId" clId="{934070AF-B916-4ABD-9AA7-8ACB737F2802}" dt="2022-09-04T17:24:00.875" v="0" actId="47"/>
        <pc:sldMkLst>
          <pc:docMk/>
          <pc:sldMk cId="2294578751" sldId="3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94A5-460A-4156-9EA8-059208A9DE5F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A9D6D-7EB8-4AE0-88FE-F2C7E59C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7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97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A9D6D-7EB8-4AE0-88FE-F2C7E59C168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94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0811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6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87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7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72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3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12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53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7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95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1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66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888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3504723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143000"/>
            <a:ext cx="11176000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8535906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107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cept Check Question (1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1.1 Periodicity Assumption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28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804672" indent="-448056">
              <a:spcBef>
                <a:spcPts val="1000"/>
              </a:spcBef>
              <a:buClr>
                <a:schemeClr val="accent2"/>
              </a:buClr>
              <a:buFont typeface="+mj-lt"/>
              <a:buAutoNum type="alphaLcPeriod"/>
              <a:defRPr sz="28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3pPr>
            <a:lvl4pPr marL="13716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4pPr>
            <a:lvl5pPr marL="18288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5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Companies record events that change their financial statements in the period in which event occur, even if cash was not exchanged.</a:t>
            </a:r>
          </a:p>
          <a:p>
            <a:pPr lvl="1"/>
            <a:r>
              <a:rPr lang="en-US" dirty="0"/>
              <a:t>Companies recognize revenue in the period in which the performance obligation is satisfied.</a:t>
            </a:r>
          </a:p>
          <a:p>
            <a:pPr lvl="1"/>
            <a:r>
              <a:rPr lang="en-US" dirty="0"/>
              <a:t>This basis is accord with generally accepted accounting principles.</a:t>
            </a:r>
          </a:p>
        </p:txBody>
      </p:sp>
    </p:spTree>
    <p:extLst>
      <p:ext uri="{BB962C8B-B14F-4D97-AF65-F5344CB8AC3E}">
        <p14:creationId xmlns:p14="http://schemas.microsoft.com/office/powerpoint/2010/main" val="2030263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62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1"/>
            <a:ext cx="5486400" cy="462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2366471"/>
            <a:ext cx="6096000" cy="531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9"/>
          </p:nvPr>
        </p:nvSpPr>
        <p:spPr>
          <a:xfrm>
            <a:off x="406400" y="3049526"/>
            <a:ext cx="11379200" cy="496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406400" y="3656686"/>
            <a:ext cx="11379200" cy="496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1"/>
          </p:nvPr>
        </p:nvSpPr>
        <p:spPr>
          <a:xfrm>
            <a:off x="429173" y="4263845"/>
            <a:ext cx="11356427" cy="372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9AC083D-26BE-400F-A0FF-3DE60868238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9685" y="4719639"/>
            <a:ext cx="11332633" cy="379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0FCA449-94ED-4C8F-96CE-51CBABEBFE4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29685" y="5175251"/>
            <a:ext cx="11332633" cy="3029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07FB03D-0173-4F23-9B38-B4E8968F4B3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9685" y="5554664"/>
            <a:ext cx="11332633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8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tif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15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Flow Statement Part 2 - Video</a:t>
            </a:r>
          </a:p>
        </p:txBody>
      </p:sp>
    </p:spTree>
    <p:extLst>
      <p:ext uri="{BB962C8B-B14F-4D97-AF65-F5344CB8AC3E}">
        <p14:creationId xmlns:p14="http://schemas.microsoft.com/office/powerpoint/2010/main" val="87163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988" y="481705"/>
            <a:ext cx="5614147" cy="691819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5"/>
              </a:spcBef>
              <a:tabLst>
                <a:tab pos="5602680" algn="l"/>
              </a:tabLst>
            </a:pPr>
            <a:r>
              <a:rPr spc="13" dirty="0"/>
              <a:t>Goals: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2</a:t>
            </a:fld>
            <a:endParaRPr spc="18" dirty="0"/>
          </a:p>
        </p:txBody>
      </p:sp>
      <p:sp>
        <p:nvSpPr>
          <p:cNvPr id="3" name="object 3"/>
          <p:cNvSpPr txBox="1"/>
          <p:nvPr/>
        </p:nvSpPr>
        <p:spPr>
          <a:xfrm>
            <a:off x="947807" y="1658637"/>
            <a:ext cx="8097869" cy="2429775"/>
          </a:xfrm>
          <a:prstGeom prst="rect">
            <a:avLst/>
          </a:prstGeom>
        </p:spPr>
        <p:txBody>
          <a:bodyPr vert="horz" wrap="square" lIns="0" tIns="69476" rIns="0" bIns="0" rtlCol="0">
            <a:spAutoFit/>
          </a:bodyPr>
          <a:lstStyle/>
          <a:p>
            <a:pPr marL="718334" indent="-374857">
              <a:spcBef>
                <a:spcPts val="383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lang="en-US" sz="2800" dirty="0">
                <a:latin typeface="Arial"/>
                <a:cs typeface="Arial"/>
              </a:rPr>
              <a:t>Investing Activities</a:t>
            </a:r>
          </a:p>
          <a:p>
            <a:pPr marL="718334" indent="-374857">
              <a:spcBef>
                <a:spcPts val="383"/>
              </a:spcBef>
              <a:buAutoNum type="arabicPeriod"/>
              <a:tabLst>
                <a:tab pos="718334" algn="l"/>
                <a:tab pos="718896" algn="l"/>
              </a:tabLst>
            </a:pPr>
            <a:endParaRPr sz="2800" dirty="0">
              <a:latin typeface="Arial"/>
              <a:cs typeface="Arial"/>
            </a:endParaRPr>
          </a:p>
          <a:p>
            <a:pPr marL="718334" indent="-374857">
              <a:spcBef>
                <a:spcPts val="375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lang="en-US" sz="2800" spc="4" dirty="0">
                <a:latin typeface="Arial"/>
                <a:cs typeface="Arial"/>
              </a:rPr>
              <a:t>Financing Activities</a:t>
            </a:r>
            <a:endParaRPr lang="en-US" sz="2800" dirty="0">
              <a:latin typeface="Arial"/>
              <a:cs typeface="Arial"/>
            </a:endParaRPr>
          </a:p>
          <a:p>
            <a:pPr marL="718334" indent="-374857">
              <a:spcBef>
                <a:spcPts val="375"/>
              </a:spcBef>
              <a:buAutoNum type="arabicPeriod"/>
              <a:tabLst>
                <a:tab pos="718334" algn="l"/>
                <a:tab pos="718896" algn="l"/>
              </a:tabLst>
            </a:pPr>
            <a:endParaRPr sz="2800" dirty="0">
              <a:latin typeface="Arial"/>
              <a:cs typeface="Arial"/>
            </a:endParaRPr>
          </a:p>
          <a:p>
            <a:pPr marL="718334" indent="-374857">
              <a:spcBef>
                <a:spcPts val="379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lang="en-US" sz="2800" spc="4" dirty="0">
                <a:latin typeface="Arial"/>
                <a:cs typeface="Arial"/>
              </a:rPr>
              <a:t>Subsequent Events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956B53-57C6-4CDB-83F7-4B0E4DEB3CBF}"/>
              </a:ext>
            </a:extLst>
          </p:cNvPr>
          <p:cNvSpPr/>
          <p:nvPr/>
        </p:nvSpPr>
        <p:spPr>
          <a:xfrm>
            <a:off x="7676551" y="3779806"/>
            <a:ext cx="4080387" cy="691819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E0D610-4F55-4FD3-A7E8-4474F41B9E32}"/>
              </a:ext>
            </a:extLst>
          </p:cNvPr>
          <p:cNvSpPr/>
          <p:nvPr/>
        </p:nvSpPr>
        <p:spPr>
          <a:xfrm>
            <a:off x="7686382" y="4486072"/>
            <a:ext cx="4080387" cy="6918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B3A444-C512-4FBA-B26F-FB3651CF99B7}"/>
              </a:ext>
            </a:extLst>
          </p:cNvPr>
          <p:cNvSpPr/>
          <p:nvPr/>
        </p:nvSpPr>
        <p:spPr>
          <a:xfrm>
            <a:off x="7678994" y="3075679"/>
            <a:ext cx="4080387" cy="69181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988" y="481705"/>
            <a:ext cx="10467444" cy="691819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5"/>
              </a:spcBef>
              <a:tabLst>
                <a:tab pos="5602680" algn="l"/>
              </a:tabLst>
            </a:pPr>
            <a:r>
              <a:rPr lang="en-US" spc="13" dirty="0"/>
              <a:t>What is a cash flow statement?</a:t>
            </a:r>
            <a:r>
              <a:rPr spc="13"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3</a:t>
            </a:fld>
            <a:endParaRPr spc="18" dirty="0"/>
          </a:p>
        </p:txBody>
      </p:sp>
      <p:sp>
        <p:nvSpPr>
          <p:cNvPr id="3" name="object 3"/>
          <p:cNvSpPr txBox="1"/>
          <p:nvPr/>
        </p:nvSpPr>
        <p:spPr>
          <a:xfrm>
            <a:off x="947807" y="1658637"/>
            <a:ext cx="8097869" cy="931929"/>
          </a:xfrm>
          <a:prstGeom prst="rect">
            <a:avLst/>
          </a:prstGeom>
        </p:spPr>
        <p:txBody>
          <a:bodyPr vert="horz" wrap="square" lIns="0" tIns="69476" rIns="0" bIns="0" rtlCol="0">
            <a:spAutoFit/>
          </a:bodyPr>
          <a:lstStyle/>
          <a:p>
            <a:pPr marL="343477">
              <a:spcBef>
                <a:spcPts val="383"/>
              </a:spcBef>
              <a:tabLst>
                <a:tab pos="718334" algn="l"/>
                <a:tab pos="718896" algn="l"/>
              </a:tabLst>
            </a:pPr>
            <a:r>
              <a:rPr lang="en-US" sz="2800" dirty="0">
                <a:latin typeface="Arial"/>
                <a:cs typeface="Arial"/>
              </a:rPr>
              <a:t>Financial statement that explains cash inflows and outflows over a period of time.</a:t>
            </a:r>
            <a:endParaRPr sz="28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96F780-E43E-4C69-B6D9-93F236E8C061}"/>
                  </a:ext>
                </a:extLst>
              </p:cNvPr>
              <p:cNvSpPr txBox="1"/>
              <p:nvPr/>
            </p:nvSpPr>
            <p:spPr>
              <a:xfrm>
                <a:off x="566337" y="3848716"/>
                <a:ext cx="6552628" cy="5990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𝐶𝑎𝑠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𝑇𝑜𝑑𝑎𝑦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𝐶𝑎𝑠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𝑂𝑛𝑒𝑌𝑒𝑎𝑟𝐴𝑔𝑜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96F780-E43E-4C69-B6D9-93F236E8C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37" y="3848716"/>
                <a:ext cx="6552628" cy="599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B4A358-CCDA-4B61-A97E-264548A3DDA9}"/>
              </a:ext>
            </a:extLst>
          </p:cNvPr>
          <p:cNvSpPr txBox="1"/>
          <p:nvPr/>
        </p:nvSpPr>
        <p:spPr>
          <a:xfrm>
            <a:off x="7973961" y="3244334"/>
            <a:ext cx="354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Operating Cash Inflows/Outflows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470323-0867-455C-9AD5-5F9250F9388E}"/>
              </a:ext>
            </a:extLst>
          </p:cNvPr>
          <p:cNvSpPr txBox="1"/>
          <p:nvPr/>
        </p:nvSpPr>
        <p:spPr>
          <a:xfrm>
            <a:off x="7973961" y="3911137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Investing Cash Inflows/Outflows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5AC066-6DF5-44C3-8191-E95E82789069}"/>
              </a:ext>
            </a:extLst>
          </p:cNvPr>
          <p:cNvSpPr txBox="1"/>
          <p:nvPr/>
        </p:nvSpPr>
        <p:spPr>
          <a:xfrm>
            <a:off x="7973961" y="4647315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Financing Cash Inflows/Outflows</a:t>
            </a:r>
          </a:p>
        </p:txBody>
      </p:sp>
    </p:spTree>
    <p:extLst>
      <p:ext uri="{BB962C8B-B14F-4D97-AF65-F5344CB8AC3E}">
        <p14:creationId xmlns:p14="http://schemas.microsoft.com/office/powerpoint/2010/main" val="392940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201D-FF42-4CA6-B53C-364AE15B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Investing Cash Flows</a:t>
            </a:r>
          </a:p>
        </p:txBody>
      </p:sp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1EA78C3-5A34-43CF-8955-94EB25CEC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721" y="1587984"/>
            <a:ext cx="6162450" cy="462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07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AE86-F40E-43A3-9C98-148598EA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Nike (2019)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4704FD66-777F-491B-8382-3494C6567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13" y="2010245"/>
            <a:ext cx="11347174" cy="358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12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C77D-CBF8-4C11-8FA7-0422FFAC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Investing: PP&amp;E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157C0-0F5D-450A-98DA-37E4F1C0D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372" y="1504070"/>
            <a:ext cx="10240617" cy="3957337"/>
          </a:xfrm>
        </p:spPr>
        <p:txBody>
          <a:bodyPr/>
          <a:lstStyle/>
          <a:p>
            <a:pPr marL="0" indent="0" algn="ctr">
              <a:buNone/>
            </a:pPr>
            <a:r>
              <a:rPr lang="en-US" u="sng" dirty="0"/>
              <a:t>Cash flows over the life of PP&amp;E using the </a:t>
            </a:r>
            <a:r>
              <a:rPr lang="en-US" b="1" u="sng" dirty="0"/>
              <a:t>indirect</a:t>
            </a:r>
            <a:r>
              <a:rPr lang="en-US" u="sng" dirty="0"/>
              <a:t> method</a:t>
            </a:r>
          </a:p>
        </p:txBody>
      </p:sp>
      <p:pic>
        <p:nvPicPr>
          <p:cNvPr id="5" name="Picture 4" descr="Chart, diagram, box and whisker chart&#10;&#10;Description automatically generated">
            <a:extLst>
              <a:ext uri="{FF2B5EF4-FFF2-40B4-BE49-F238E27FC236}">
                <a16:creationId xmlns:a16="http://schemas.microsoft.com/office/drawing/2014/main" id="{3CBEFAB5-8021-4F84-BDB7-215895D60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696" y="2117215"/>
            <a:ext cx="7501971" cy="457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7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C77D-CBF8-4C11-8FA7-0422FFAC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Investing: PP&amp;E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776F0-EE7E-45B8-8CDF-E9E317D1F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AE557803-2252-4F24-9C00-ED2C0BAF0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3190"/>
            <a:ext cx="10971162" cy="464221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11D143B-D958-4CEE-8CB6-285A54832FAA}"/>
              </a:ext>
            </a:extLst>
          </p:cNvPr>
          <p:cNvSpPr/>
          <p:nvPr/>
        </p:nvSpPr>
        <p:spPr>
          <a:xfrm>
            <a:off x="1158240" y="4318000"/>
            <a:ext cx="717296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15B20A-9BB2-4694-82AF-3AE6B7E993A0}"/>
              </a:ext>
            </a:extLst>
          </p:cNvPr>
          <p:cNvSpPr/>
          <p:nvPr/>
        </p:nvSpPr>
        <p:spPr>
          <a:xfrm>
            <a:off x="8386916" y="4915246"/>
            <a:ext cx="3347884" cy="12101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3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&#10;&#10;Description automatically generated with medium confidence">
            <a:extLst>
              <a:ext uri="{FF2B5EF4-FFF2-40B4-BE49-F238E27FC236}">
                <a16:creationId xmlns:a16="http://schemas.microsoft.com/office/drawing/2014/main" id="{A3C3A31E-1DE3-47DA-8CA2-5DA9BE909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64848"/>
            <a:ext cx="10972800" cy="423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5DC77D-CBF8-4C11-8FA7-0422FFAC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Investing: PP&amp;E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D143B-D958-4CEE-8CB6-285A54832FAA}"/>
              </a:ext>
            </a:extLst>
          </p:cNvPr>
          <p:cNvSpPr/>
          <p:nvPr/>
        </p:nvSpPr>
        <p:spPr>
          <a:xfrm>
            <a:off x="491612" y="4298248"/>
            <a:ext cx="7423355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15B20A-9BB2-4694-82AF-3AE6B7E993A0}"/>
              </a:ext>
            </a:extLst>
          </p:cNvPr>
          <p:cNvSpPr/>
          <p:nvPr/>
        </p:nvSpPr>
        <p:spPr>
          <a:xfrm>
            <a:off x="8025578" y="4298248"/>
            <a:ext cx="3416875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6A4917-BDC6-4F7B-A76E-A28B5110D425}"/>
              </a:ext>
            </a:extLst>
          </p:cNvPr>
          <p:cNvSpPr/>
          <p:nvPr/>
        </p:nvSpPr>
        <p:spPr>
          <a:xfrm>
            <a:off x="749546" y="5754616"/>
            <a:ext cx="717296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76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217B40DA-9330-4424-BCC3-CEC58014C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20" y="1842010"/>
            <a:ext cx="10962968" cy="39126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5DC77D-CBF8-4C11-8FA7-0422FFAC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Investing: PP&amp;E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D143B-D958-4CEE-8CB6-285A54832FAA}"/>
              </a:ext>
            </a:extLst>
          </p:cNvPr>
          <p:cNvSpPr/>
          <p:nvPr/>
        </p:nvSpPr>
        <p:spPr>
          <a:xfrm>
            <a:off x="737419" y="3960308"/>
            <a:ext cx="11169445" cy="19095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6A4917-BDC6-4F7B-A76E-A28B5110D425}"/>
              </a:ext>
            </a:extLst>
          </p:cNvPr>
          <p:cNvSpPr/>
          <p:nvPr/>
        </p:nvSpPr>
        <p:spPr>
          <a:xfrm>
            <a:off x="749546" y="5754616"/>
            <a:ext cx="717296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Text, table&#10;&#10;Description automatically generated with medium confidence">
            <a:extLst>
              <a:ext uri="{FF2B5EF4-FFF2-40B4-BE49-F238E27FC236}">
                <a16:creationId xmlns:a16="http://schemas.microsoft.com/office/drawing/2014/main" id="{AE38303C-DBB0-4BCA-94A1-17D63208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697" y="749095"/>
            <a:ext cx="3175819" cy="15099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05C263-8A2A-4510-AF9D-6648017333A0}"/>
              </a:ext>
            </a:extLst>
          </p:cNvPr>
          <p:cNvSpPr/>
          <p:nvPr/>
        </p:nvSpPr>
        <p:spPr>
          <a:xfrm>
            <a:off x="8952271" y="721337"/>
            <a:ext cx="3023419" cy="15377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5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8A57ABDA-326F-4756-A065-C75F43296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44536"/>
            <a:ext cx="10515601" cy="46315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5DC77D-CBF8-4C11-8FA7-0422FFAC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Investing: PP&amp;E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D143B-D958-4CEE-8CB6-285A54832FAA}"/>
              </a:ext>
            </a:extLst>
          </p:cNvPr>
          <p:cNvSpPr/>
          <p:nvPr/>
        </p:nvSpPr>
        <p:spPr>
          <a:xfrm>
            <a:off x="1022555" y="3299730"/>
            <a:ext cx="10331245" cy="2976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6A4917-BDC6-4F7B-A76E-A28B5110D425}"/>
              </a:ext>
            </a:extLst>
          </p:cNvPr>
          <p:cNvSpPr/>
          <p:nvPr/>
        </p:nvSpPr>
        <p:spPr>
          <a:xfrm>
            <a:off x="749546" y="5754616"/>
            <a:ext cx="717296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Text, table&#10;&#10;Description automatically generated with medium confidence">
            <a:extLst>
              <a:ext uri="{FF2B5EF4-FFF2-40B4-BE49-F238E27FC236}">
                <a16:creationId xmlns:a16="http://schemas.microsoft.com/office/drawing/2014/main" id="{AE38303C-DBB0-4BCA-94A1-17D63208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697" y="749095"/>
            <a:ext cx="3175819" cy="15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56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9DDAF35-5FAF-4C87-96AE-29A1FDAAA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5809"/>
            <a:ext cx="10223254" cy="41258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5DC77D-CBF8-4C11-8FA7-0422FFAC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Investing: PP&amp;E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1D143B-D958-4CEE-8CB6-285A54832FAA}"/>
              </a:ext>
            </a:extLst>
          </p:cNvPr>
          <p:cNvSpPr/>
          <p:nvPr/>
        </p:nvSpPr>
        <p:spPr>
          <a:xfrm>
            <a:off x="930377" y="3271502"/>
            <a:ext cx="10331245" cy="2976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6A4917-BDC6-4F7B-A76E-A28B5110D425}"/>
              </a:ext>
            </a:extLst>
          </p:cNvPr>
          <p:cNvSpPr/>
          <p:nvPr/>
        </p:nvSpPr>
        <p:spPr>
          <a:xfrm>
            <a:off x="749546" y="5754616"/>
            <a:ext cx="717296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Text, table&#10;&#10;Description automatically generated with medium confidence">
            <a:extLst>
              <a:ext uri="{FF2B5EF4-FFF2-40B4-BE49-F238E27FC236}">
                <a16:creationId xmlns:a16="http://schemas.microsoft.com/office/drawing/2014/main" id="{AE38303C-DBB0-4BCA-94A1-17D63208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697" y="749095"/>
            <a:ext cx="3175819" cy="15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23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201D-FF42-4CA6-B53C-364AE15B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Financing Cash Flows</a:t>
            </a:r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D8E6437-BE8A-4E14-AECE-4C64E5440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408" y="1717853"/>
            <a:ext cx="60960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208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AE86-F40E-43A3-9C98-148598EA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Nike (2019)</a:t>
            </a:r>
          </a:p>
        </p:txBody>
      </p:sp>
      <p:pic>
        <p:nvPicPr>
          <p:cNvPr id="4" name="Picture 3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6D6074B2-36BD-4971-9426-D951E8384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6" y="1802818"/>
            <a:ext cx="11353800" cy="384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40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AE86-F40E-43A3-9C98-148598EA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Nike (2019)</a:t>
            </a:r>
          </a:p>
        </p:txBody>
      </p:sp>
      <p:pic>
        <p:nvPicPr>
          <p:cNvPr id="4" name="Picture 3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6D6074B2-36BD-4971-9426-D951E8384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6" y="1802818"/>
            <a:ext cx="11353800" cy="3844317"/>
          </a:xfrm>
          <a:prstGeom prst="rect">
            <a:avLst/>
          </a:prstGeom>
        </p:spPr>
      </p:pic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0BD5B43-E06B-4F87-80C9-4BEE77054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32" y="1802818"/>
            <a:ext cx="11560936" cy="390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10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77413-E5C8-43B1-BE80-FB6D4101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Subsequent Events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3D41788-2578-4C37-B9E2-E946F6663DD2}"/>
              </a:ext>
            </a:extLst>
          </p:cNvPr>
          <p:cNvSpPr txBox="1"/>
          <p:nvPr/>
        </p:nvSpPr>
        <p:spPr>
          <a:xfrm>
            <a:off x="838199" y="1656914"/>
            <a:ext cx="10515600" cy="43441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295" marR="5080" indent="-189230">
              <a:lnSpc>
                <a:spcPct val="100400"/>
              </a:lnSpc>
              <a:spcBef>
                <a:spcPts val="95"/>
              </a:spcBef>
              <a:buChar char="•"/>
              <a:tabLst>
                <a:tab pos="201930" algn="l"/>
              </a:tabLst>
            </a:pPr>
            <a:r>
              <a:rPr sz="2800" spc="5" dirty="0">
                <a:latin typeface="Arial"/>
                <a:cs typeface="Arial"/>
              </a:rPr>
              <a:t>An </a:t>
            </a:r>
            <a:r>
              <a:rPr sz="2800" dirty="0">
                <a:latin typeface="Arial"/>
                <a:cs typeface="Arial"/>
              </a:rPr>
              <a:t>event that occurs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after</a:t>
            </a:r>
            <a:r>
              <a:rPr sz="2800" dirty="0">
                <a:latin typeface="Arial"/>
                <a:cs typeface="Arial"/>
              </a:rPr>
              <a:t> the fiscal year-end (e.g., 12/31/2018)  but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before</a:t>
            </a:r>
            <a:r>
              <a:rPr sz="2800" dirty="0">
                <a:latin typeface="Arial"/>
                <a:cs typeface="Arial"/>
              </a:rPr>
              <a:t> financial statements are issued (e.g.</a:t>
            </a:r>
            <a:r>
              <a:rPr sz="2800" spc="8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3/1/2019).</a:t>
            </a:r>
            <a:br>
              <a:rPr lang="en-US" sz="2800" spc="-5" dirty="0">
                <a:latin typeface="Arial"/>
                <a:cs typeface="Arial"/>
              </a:rPr>
            </a:br>
            <a:endParaRPr sz="2800" dirty="0">
              <a:latin typeface="Arial"/>
              <a:cs typeface="Arial"/>
            </a:endParaRPr>
          </a:p>
          <a:p>
            <a:pPr marL="201295" marR="919480" indent="-189230">
              <a:lnSpc>
                <a:spcPct val="100400"/>
              </a:lnSpc>
              <a:spcBef>
                <a:spcPts val="1820"/>
              </a:spcBef>
              <a:buChar char="•"/>
              <a:tabLst>
                <a:tab pos="201930" algn="l"/>
              </a:tabLst>
            </a:pPr>
            <a:r>
              <a:rPr sz="2800" spc="5" dirty="0">
                <a:latin typeface="Arial"/>
                <a:cs typeface="Arial"/>
              </a:rPr>
              <a:t>Examples: </a:t>
            </a:r>
            <a:r>
              <a:rPr sz="2800" dirty="0">
                <a:latin typeface="Arial"/>
                <a:cs typeface="Arial"/>
              </a:rPr>
              <a:t>sale of </a:t>
            </a:r>
            <a:r>
              <a:rPr sz="2800" spc="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business, issuance of debt or equity  securities, settlement of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litigation.</a:t>
            </a:r>
            <a:br>
              <a:rPr lang="en-US" sz="2800" dirty="0">
                <a:latin typeface="Arial"/>
                <a:cs typeface="Arial"/>
              </a:rPr>
            </a:br>
            <a:endParaRPr sz="2800" dirty="0">
              <a:latin typeface="Arial"/>
              <a:cs typeface="Arial"/>
            </a:endParaRPr>
          </a:p>
          <a:p>
            <a:pPr marL="201295" indent="-189230">
              <a:lnSpc>
                <a:spcPct val="100000"/>
              </a:lnSpc>
              <a:spcBef>
                <a:spcPts val="1825"/>
              </a:spcBef>
              <a:buChar char="•"/>
              <a:tabLst>
                <a:tab pos="201930" algn="l"/>
              </a:tabLst>
            </a:pPr>
            <a:r>
              <a:rPr sz="2800" dirty="0">
                <a:latin typeface="Arial"/>
                <a:cs typeface="Arial"/>
              </a:rPr>
              <a:t>Possible accounting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treatments:</a:t>
            </a:r>
          </a:p>
          <a:p>
            <a:pPr marL="578485" lvl="1" indent="-189230">
              <a:lnSpc>
                <a:spcPct val="100000"/>
              </a:lnSpc>
              <a:spcBef>
                <a:spcPts val="459"/>
              </a:spcBef>
              <a:buChar char="•"/>
              <a:tabLst>
                <a:tab pos="579120" algn="l"/>
              </a:tabLst>
            </a:pPr>
            <a:r>
              <a:rPr sz="2400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Adjust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numbers </a:t>
            </a:r>
            <a:r>
              <a:rPr sz="2400" spc="10" dirty="0">
                <a:latin typeface="Arial"/>
                <a:cs typeface="Arial"/>
              </a:rPr>
              <a:t>before releasing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financials</a:t>
            </a:r>
            <a:endParaRPr sz="2400" dirty="0">
              <a:latin typeface="Arial"/>
              <a:cs typeface="Arial"/>
            </a:endParaRPr>
          </a:p>
          <a:p>
            <a:pPr marL="578485" lvl="1" indent="-189230">
              <a:lnSpc>
                <a:spcPct val="100000"/>
              </a:lnSpc>
              <a:spcBef>
                <a:spcPts val="440"/>
              </a:spcBef>
              <a:buChar char="•"/>
              <a:tabLst>
                <a:tab pos="579120" algn="l"/>
              </a:tabLst>
            </a:pPr>
            <a:r>
              <a:rPr sz="2400" u="heavy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Disclose</a:t>
            </a:r>
            <a:r>
              <a:rPr sz="2400" spc="10" dirty="0">
                <a:latin typeface="Arial"/>
                <a:cs typeface="Arial"/>
              </a:rPr>
              <a:t> the event </a:t>
            </a:r>
            <a:r>
              <a:rPr sz="2400" spc="5" dirty="0">
                <a:latin typeface="Arial"/>
                <a:cs typeface="Arial"/>
              </a:rPr>
              <a:t>in </a:t>
            </a:r>
            <a:r>
              <a:rPr sz="2400" spc="10" dirty="0">
                <a:latin typeface="Arial"/>
                <a:cs typeface="Arial"/>
              </a:rPr>
              <a:t>the footnotes, but not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adjust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708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E260-F7D2-4666-85A2-B9C86C78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Subsequent Events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0C94F52-9245-4AA6-9468-5A6653ABB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17" y="1746717"/>
            <a:ext cx="10790583" cy="46667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8C9430-A854-4C86-A9F1-7C96043DE155}"/>
              </a:ext>
            </a:extLst>
          </p:cNvPr>
          <p:cNvSpPr/>
          <p:nvPr/>
        </p:nvSpPr>
        <p:spPr>
          <a:xfrm>
            <a:off x="563217" y="3809327"/>
            <a:ext cx="4949687" cy="1093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BC424C-B4DB-4517-B153-49657D76755F}"/>
              </a:ext>
            </a:extLst>
          </p:cNvPr>
          <p:cNvSpPr/>
          <p:nvPr/>
        </p:nvSpPr>
        <p:spPr>
          <a:xfrm>
            <a:off x="5618922" y="3930650"/>
            <a:ext cx="4949687" cy="1093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BC8547-83C3-4768-BBCB-4E6CC39B19E1}"/>
              </a:ext>
            </a:extLst>
          </p:cNvPr>
          <p:cNvSpPr/>
          <p:nvPr/>
        </p:nvSpPr>
        <p:spPr>
          <a:xfrm>
            <a:off x="5565913" y="5237635"/>
            <a:ext cx="4949687" cy="1093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3E9F7-8F6D-4D65-8E71-2A897A83C2D6}"/>
              </a:ext>
            </a:extLst>
          </p:cNvPr>
          <p:cNvSpPr txBox="1"/>
          <p:nvPr/>
        </p:nvSpPr>
        <p:spPr>
          <a:xfrm>
            <a:off x="5232899" y="5196400"/>
            <a:ext cx="2800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F98798-337D-4C70-A7C0-BE4E75899B2D}"/>
              </a:ext>
            </a:extLst>
          </p:cNvPr>
          <p:cNvSpPr/>
          <p:nvPr/>
        </p:nvSpPr>
        <p:spPr>
          <a:xfrm>
            <a:off x="510208" y="5023954"/>
            <a:ext cx="5108714" cy="1093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6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988" y="481705"/>
            <a:ext cx="5614147" cy="691819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5"/>
              </a:spcBef>
              <a:tabLst>
                <a:tab pos="5602680" algn="l"/>
              </a:tabLst>
            </a:pPr>
            <a:r>
              <a:rPr lang="en-US" spc="13" dirty="0"/>
              <a:t>Closing Thoughts</a:t>
            </a:r>
            <a:r>
              <a:rPr spc="13"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17</a:t>
            </a:fld>
            <a:endParaRPr spc="18" dirty="0"/>
          </a:p>
        </p:txBody>
      </p:sp>
      <p:sp>
        <p:nvSpPr>
          <p:cNvPr id="3" name="object 3"/>
          <p:cNvSpPr txBox="1"/>
          <p:nvPr/>
        </p:nvSpPr>
        <p:spPr>
          <a:xfrm>
            <a:off x="947807" y="1658637"/>
            <a:ext cx="9700528" cy="3722436"/>
          </a:xfrm>
          <a:prstGeom prst="rect">
            <a:avLst/>
          </a:prstGeom>
        </p:spPr>
        <p:txBody>
          <a:bodyPr vert="horz" wrap="square" lIns="0" tIns="69476" rIns="0" bIns="0" rtlCol="0">
            <a:spAutoFit/>
          </a:bodyPr>
          <a:lstStyle/>
          <a:p>
            <a:pPr marL="718334" indent="-374857">
              <a:spcBef>
                <a:spcPts val="383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lang="en-US" sz="2800" dirty="0">
                <a:latin typeface="Arial"/>
                <a:cs typeface="Arial"/>
              </a:rPr>
              <a:t>Investing and financing sections show </a:t>
            </a:r>
            <a:r>
              <a:rPr lang="en-US" sz="2800" i="1" dirty="0">
                <a:latin typeface="Arial"/>
                <a:cs typeface="Arial"/>
              </a:rPr>
              <a:t>direct</a:t>
            </a:r>
            <a:r>
              <a:rPr lang="en-US" sz="2800" dirty="0">
                <a:latin typeface="Arial"/>
                <a:cs typeface="Arial"/>
              </a:rPr>
              <a:t> cash inflows and outflows</a:t>
            </a:r>
          </a:p>
          <a:p>
            <a:pPr marL="718334" indent="-374857">
              <a:spcBef>
                <a:spcPts val="383"/>
              </a:spcBef>
              <a:buAutoNum type="arabicPeriod"/>
              <a:tabLst>
                <a:tab pos="718334" algn="l"/>
                <a:tab pos="718896" algn="l"/>
              </a:tabLst>
            </a:pPr>
            <a:endParaRPr sz="2800" dirty="0">
              <a:latin typeface="Arial"/>
              <a:cs typeface="Arial"/>
            </a:endParaRPr>
          </a:p>
          <a:p>
            <a:pPr marL="718334" indent="-374857">
              <a:spcBef>
                <a:spcPts val="375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lang="en-US" sz="2800" spc="4" dirty="0">
                <a:latin typeface="Arial"/>
                <a:cs typeface="Arial"/>
              </a:rPr>
              <a:t>When selling PP&amp;E, put </a:t>
            </a:r>
            <a:r>
              <a:rPr lang="en-US" sz="2800" i="1" spc="4" dirty="0">
                <a:latin typeface="Arial"/>
                <a:cs typeface="Arial"/>
              </a:rPr>
              <a:t>all</a:t>
            </a:r>
            <a:r>
              <a:rPr lang="en-US" sz="2800" spc="4" dirty="0">
                <a:latin typeface="Arial"/>
                <a:cs typeface="Arial"/>
              </a:rPr>
              <a:t> cash received in investing, back out the gain/loss from operating</a:t>
            </a:r>
            <a:endParaRPr lang="en-US" sz="2800" dirty="0">
              <a:latin typeface="Arial"/>
              <a:cs typeface="Arial"/>
            </a:endParaRPr>
          </a:p>
          <a:p>
            <a:pPr marL="718334" indent="-374857">
              <a:spcBef>
                <a:spcPts val="375"/>
              </a:spcBef>
              <a:buAutoNum type="arabicPeriod"/>
              <a:tabLst>
                <a:tab pos="718334" algn="l"/>
                <a:tab pos="718896" algn="l"/>
              </a:tabLst>
            </a:pPr>
            <a:endParaRPr sz="2800" dirty="0">
              <a:latin typeface="Arial"/>
              <a:cs typeface="Arial"/>
            </a:endParaRPr>
          </a:p>
          <a:p>
            <a:pPr marL="718334" indent="-374857">
              <a:spcBef>
                <a:spcPts val="379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lang="en-US" sz="2800" spc="4" dirty="0">
                <a:latin typeface="Arial"/>
                <a:cs typeface="Arial"/>
              </a:rPr>
              <a:t>Adjust/disclose subsequent events in F/S depending on whether there is a pre-existing condition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0326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Flow Statement Part 2 - Video</a:t>
            </a:r>
          </a:p>
        </p:txBody>
      </p:sp>
    </p:spTree>
    <p:extLst>
      <p:ext uri="{BB962C8B-B14F-4D97-AF65-F5344CB8AC3E}">
        <p14:creationId xmlns:p14="http://schemas.microsoft.com/office/powerpoint/2010/main" val="8158786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4256</TotalTime>
  <Words>254</Words>
  <Application>Microsoft Office PowerPoint</Application>
  <PresentationFormat>Widescreen</PresentationFormat>
  <Paragraphs>46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Calibri</vt:lpstr>
      <vt:lpstr>Cambria Math</vt:lpstr>
      <vt:lpstr>Source Sans Pro</vt:lpstr>
      <vt:lpstr>STIX</vt:lpstr>
      <vt:lpstr>1_Office Theme</vt:lpstr>
      <vt:lpstr>PowerPoint Presentation</vt:lpstr>
      <vt:lpstr>Goals: </vt:lpstr>
      <vt:lpstr>What is a cash flow statement? </vt:lpstr>
      <vt:lpstr>Investing Cash Flows</vt:lpstr>
      <vt:lpstr>Nike (2019)</vt:lpstr>
      <vt:lpstr>Investing: PP&amp;E</vt:lpstr>
      <vt:lpstr>Investing: PP&amp;E</vt:lpstr>
      <vt:lpstr>Investing: PP&amp;E</vt:lpstr>
      <vt:lpstr>Investing: PP&amp;E</vt:lpstr>
      <vt:lpstr>Investing: PP&amp;E</vt:lpstr>
      <vt:lpstr>Investing: PP&amp;E</vt:lpstr>
      <vt:lpstr>Financing Cash Flows</vt:lpstr>
      <vt:lpstr>Nike (2019)</vt:lpstr>
      <vt:lpstr>Nike (2019)</vt:lpstr>
      <vt:lpstr>Subsequent Events</vt:lpstr>
      <vt:lpstr>Subsequent Events</vt:lpstr>
      <vt:lpstr>Closing Thoughts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Susan McMahon</dc:creator>
  <cp:lastModifiedBy>Jeremiah Contreras</cp:lastModifiedBy>
  <cp:revision>136</cp:revision>
  <dcterms:created xsi:type="dcterms:W3CDTF">2020-06-14T18:30:52Z</dcterms:created>
  <dcterms:modified xsi:type="dcterms:W3CDTF">2022-09-04T17:24:08Z</dcterms:modified>
</cp:coreProperties>
</file>