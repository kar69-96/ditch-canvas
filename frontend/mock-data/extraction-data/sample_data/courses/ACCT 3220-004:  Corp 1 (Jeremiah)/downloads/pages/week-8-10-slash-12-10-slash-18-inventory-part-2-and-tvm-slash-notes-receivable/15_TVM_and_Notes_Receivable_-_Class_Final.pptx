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6"/>
  </p:notesMasterIdLst>
  <p:sldIdLst>
    <p:sldId id="316" r:id="rId2"/>
    <p:sldId id="317" r:id="rId3"/>
    <p:sldId id="338" r:id="rId4"/>
    <p:sldId id="912" r:id="rId5"/>
    <p:sldId id="903" r:id="rId6"/>
    <p:sldId id="836" r:id="rId7"/>
    <p:sldId id="884" r:id="rId8"/>
    <p:sldId id="908" r:id="rId9"/>
    <p:sldId id="910" r:id="rId10"/>
    <p:sldId id="904" r:id="rId11"/>
    <p:sldId id="892" r:id="rId12"/>
    <p:sldId id="333" r:id="rId13"/>
    <p:sldId id="837" r:id="rId14"/>
    <p:sldId id="911" r:id="rId15"/>
    <p:sldId id="339" r:id="rId16"/>
    <p:sldId id="326" r:id="rId17"/>
    <p:sldId id="291" r:id="rId18"/>
    <p:sldId id="327" r:id="rId19"/>
    <p:sldId id="855" r:id="rId20"/>
    <p:sldId id="856" r:id="rId21"/>
    <p:sldId id="857" r:id="rId22"/>
    <p:sldId id="858" r:id="rId23"/>
    <p:sldId id="328" r:id="rId24"/>
    <p:sldId id="330" r:id="rId25"/>
  </p:sldIdLst>
  <p:sldSz cx="12192000" cy="6858000"/>
  <p:notesSz cx="6858000" cy="9144000"/>
  <p:embeddedFontLst>
    <p:embeddedFont>
      <p:font typeface="Arial Black" panose="020B0A04020102020204" pitchFamily="34" charset="0"/>
      <p:bold r:id="rId27"/>
    </p:embeddedFont>
    <p:embeddedFont>
      <p:font typeface="Roboto Condensed" panose="02000000000000000000" pitchFamily="2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8D9C87-3917-4CC0-9EF7-ED49E89BA42B}" v="65" dt="2025-10-15T10:11:15.9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4554" autoAdjust="0"/>
  </p:normalViewPr>
  <p:slideViewPr>
    <p:cSldViewPr snapToGrid="0" snapToObjects="1">
      <p:cViewPr varScale="1">
        <p:scale>
          <a:sx n="83" d="100"/>
          <a:sy n="83" d="100"/>
        </p:scale>
        <p:origin x="195" y="2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7aaf88c5-f86c-46d8-a0d4-f1ec65ded07c" providerId="ADAL" clId="{47828E62-FC24-428A-ACF6-B28718A93287}"/>
    <pc:docChg chg="custSel addSld modSld">
      <pc:chgData name="Jeremiah Contreras" userId="7aaf88c5-f86c-46d8-a0d4-f1ec65ded07c" providerId="ADAL" clId="{47828E62-FC24-428A-ACF6-B28718A93287}" dt="2025-10-15T10:11:15.959" v="111" actId="20577"/>
      <pc:docMkLst>
        <pc:docMk/>
      </pc:docMkLst>
      <pc:sldChg chg="addSp modSp add mod modAnim">
        <pc:chgData name="Jeremiah Contreras" userId="7aaf88c5-f86c-46d8-a0d4-f1ec65ded07c" providerId="ADAL" clId="{47828E62-FC24-428A-ACF6-B28718A93287}" dt="2025-10-15T10:04:13.504" v="55"/>
        <pc:sldMkLst>
          <pc:docMk/>
          <pc:sldMk cId="4135154709" sldId="339"/>
        </pc:sldMkLst>
        <pc:graphicFrameChg chg="modGraphic">
          <ac:chgData name="Jeremiah Contreras" userId="7aaf88c5-f86c-46d8-a0d4-f1ec65ded07c" providerId="ADAL" clId="{47828E62-FC24-428A-ACF6-B28718A93287}" dt="2025-10-15T10:01:10.610" v="46" actId="20577"/>
          <ac:graphicFrameMkLst>
            <pc:docMk/>
            <pc:sldMk cId="4135154709" sldId="339"/>
            <ac:graphicFrameMk id="4" creationId="{42C90F76-E2DE-87D4-2BFA-6B1041994C60}"/>
          </ac:graphicFrameMkLst>
        </pc:graphicFrameChg>
        <pc:cxnChg chg="add mod">
          <ac:chgData name="Jeremiah Contreras" userId="7aaf88c5-f86c-46d8-a0d4-f1ec65ded07c" providerId="ADAL" clId="{47828E62-FC24-428A-ACF6-B28718A93287}" dt="2025-10-15T10:03:42.309" v="54" actId="14100"/>
          <ac:cxnSpMkLst>
            <pc:docMk/>
            <pc:sldMk cId="4135154709" sldId="339"/>
            <ac:cxnSpMk id="3" creationId="{B518D008-0F7B-A9A3-69BC-975F71C15531}"/>
          </ac:cxnSpMkLst>
        </pc:cxnChg>
        <pc:cxnChg chg="mod">
          <ac:chgData name="Jeremiah Contreras" userId="7aaf88c5-f86c-46d8-a0d4-f1ec65ded07c" providerId="ADAL" clId="{47828E62-FC24-428A-ACF6-B28718A93287}" dt="2025-10-15T10:03:35.585" v="52" actId="14100"/>
          <ac:cxnSpMkLst>
            <pc:docMk/>
            <pc:sldMk cId="4135154709" sldId="339"/>
            <ac:cxnSpMk id="5" creationId="{57F45A4B-6E56-A300-BD68-A7583E3A3F1C}"/>
          </ac:cxnSpMkLst>
        </pc:cxnChg>
      </pc:sldChg>
      <pc:sldChg chg="addSp delSp modSp mod delAnim modAnim">
        <pc:chgData name="Jeremiah Contreras" userId="7aaf88c5-f86c-46d8-a0d4-f1ec65ded07c" providerId="ADAL" clId="{47828E62-FC24-428A-ACF6-B28718A93287}" dt="2025-10-15T10:10:51.354" v="80" actId="20577"/>
        <pc:sldMkLst>
          <pc:docMk/>
          <pc:sldMk cId="2748836122" sldId="908"/>
        </pc:sldMkLst>
        <pc:spChg chg="add del mod">
          <ac:chgData name="Jeremiah Contreras" userId="7aaf88c5-f86c-46d8-a0d4-f1ec65ded07c" providerId="ADAL" clId="{47828E62-FC24-428A-ACF6-B28718A93287}" dt="2025-10-15T09:58:30.839" v="1" actId="478"/>
          <ac:spMkLst>
            <pc:docMk/>
            <pc:sldMk cId="2748836122" sldId="908"/>
            <ac:spMk id="5" creationId="{66C70F61-E72C-C74B-0EFC-1EDAC1E0E962}"/>
          </ac:spMkLst>
        </pc:spChg>
        <pc:spChg chg="mod">
          <ac:chgData name="Jeremiah Contreras" userId="7aaf88c5-f86c-46d8-a0d4-f1ec65ded07c" providerId="ADAL" clId="{47828E62-FC24-428A-ACF6-B28718A93287}" dt="2025-10-15T10:08:49.790" v="72" actId="20577"/>
          <ac:spMkLst>
            <pc:docMk/>
            <pc:sldMk cId="2748836122" sldId="908"/>
            <ac:spMk id="7" creationId="{CBB97B55-3A89-4899-1843-A7E7305EC2C6}"/>
          </ac:spMkLst>
        </pc:spChg>
        <pc:graphicFrameChg chg="del">
          <ac:chgData name="Jeremiah Contreras" userId="7aaf88c5-f86c-46d8-a0d4-f1ec65ded07c" providerId="ADAL" clId="{47828E62-FC24-428A-ACF6-B28718A93287}" dt="2025-10-15T09:58:26.477" v="0" actId="478"/>
          <ac:graphicFrameMkLst>
            <pc:docMk/>
            <pc:sldMk cId="2748836122" sldId="908"/>
            <ac:graphicFrameMk id="4" creationId="{DE6C71F7-EC3C-2308-2B95-FA2FE8F67055}"/>
          </ac:graphicFrameMkLst>
        </pc:graphicFrameChg>
      </pc:sldChg>
      <pc:sldChg chg="modSp modAnim">
        <pc:chgData name="Jeremiah Contreras" userId="7aaf88c5-f86c-46d8-a0d4-f1ec65ded07c" providerId="ADAL" clId="{47828E62-FC24-428A-ACF6-B28718A93287}" dt="2025-10-15T10:11:15.959" v="111" actId="20577"/>
        <pc:sldMkLst>
          <pc:docMk/>
          <pc:sldMk cId="2267793536" sldId="910"/>
        </pc:sldMkLst>
        <pc:spChg chg="mod">
          <ac:chgData name="Jeremiah Contreras" userId="7aaf88c5-f86c-46d8-a0d4-f1ec65ded07c" providerId="ADAL" clId="{47828E62-FC24-428A-ACF6-B28718A93287}" dt="2025-10-15T10:11:15.959" v="111" actId="20577"/>
          <ac:spMkLst>
            <pc:docMk/>
            <pc:sldMk cId="2267793536" sldId="910"/>
            <ac:spMk id="7" creationId="{A8BD1B04-AFD4-DDAD-A212-D31CE49134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79010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1647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1363" indent="-28416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1413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7025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5813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CED472D-9555-4F58-A051-550FCBF46950}" type="slidenum">
              <a:rPr lang="en-US" altLang="en-US">
                <a:latin typeface="Arial" panose="020B0604020202020204" pitchFamily="34" charset="0"/>
              </a:rPr>
              <a:pPr/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We know the future value of the lump sum and annuity, know the interest rate, know the periods – what don’t we know? Present value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We might not know the interest rate, but exchange the note for equipment or some other good with a fair value.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54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1363" indent="-28416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1413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7025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5813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CED472D-9555-4F58-A051-550FCBF46950}" type="slidenum">
              <a:rPr lang="en-US" altLang="en-US">
                <a:latin typeface="Arial" panose="020B0604020202020204" pitchFamily="34" charset="0"/>
              </a:rPr>
              <a:pPr/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We know the future value of the lump sum and annuity, know the interest rate, know the periods – what don’t we know? Present value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We might not know the interest rate, but exchange the note for equipment or some other good with a fair value.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255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33" tIns="46217" rIns="92433" bIns="46217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637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33" tIns="46217" rIns="92433" bIns="46217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987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1D006A-6F4D-4501-8E73-99D0EC5E5B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037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33" tIns="46217" rIns="92433" bIns="46217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5595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33" tIns="46217" rIns="92433" bIns="46217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5038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33" tIns="46217" rIns="92433" bIns="46217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7072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8" r="-1" b="-1"/>
          <a:stretch/>
        </p:blipFill>
        <p:spPr>
          <a:xfrm>
            <a:off x="0" y="-2458"/>
            <a:ext cx="8450317" cy="6857990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43468" y="643467"/>
            <a:ext cx="4620584" cy="4567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44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TVM &amp; Notes Receivable – In-Class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A21909-79EF-EB99-CB36-F2AD7A4994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79" r="12193"/>
          <a:stretch/>
        </p:blipFill>
        <p:spPr>
          <a:xfrm>
            <a:off x="6225997" y="-2458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87476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BC35E-5758-4738-9C81-16B3C6C61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Today &amp; Later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5132-B49E-4962-8B28-F1A2F0B33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619123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300" dirty="0"/>
          </a:p>
          <a:p>
            <a:r>
              <a:rPr lang="en-US" sz="2300" dirty="0"/>
              <a:t>Today: Time value of money is used with Notes Receivable.</a:t>
            </a:r>
          </a:p>
          <a:p>
            <a:pPr lvl="1"/>
            <a:r>
              <a:rPr lang="en-US" sz="2300" dirty="0"/>
              <a:t>Discounts or Premiums may be recorded </a:t>
            </a:r>
          </a:p>
          <a:p>
            <a:pPr marL="0" indent="0">
              <a:buNone/>
            </a:pPr>
            <a:endParaRPr lang="en-US" sz="2300" b="1" u="sng" dirty="0"/>
          </a:p>
          <a:p>
            <a:r>
              <a:rPr lang="en-US" sz="2300" dirty="0"/>
              <a:t>Later: TVM is also used with Debt &amp; Bonds.</a:t>
            </a:r>
          </a:p>
          <a:p>
            <a:pPr lvl="1"/>
            <a:r>
              <a:rPr lang="en-US" sz="2300" dirty="0"/>
              <a:t>Bonds have a few more details, however the core concepts are </a:t>
            </a:r>
            <a:r>
              <a:rPr lang="en-US" sz="2300" b="1" i="1" dirty="0"/>
              <a:t>similar</a:t>
            </a:r>
            <a:r>
              <a:rPr lang="en-US" sz="2300" dirty="0"/>
              <a:t> to today’s class.</a:t>
            </a:r>
          </a:p>
          <a:p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89145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904" name="Rectangle 3790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Title 1"/>
          <p:cNvSpPr>
            <a:spLocks noGrp="1" noChangeArrowheads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altLang="en-US" sz="5400"/>
              <a:t>Notes Receivable</a:t>
            </a:r>
          </a:p>
        </p:txBody>
      </p:sp>
      <p:sp>
        <p:nvSpPr>
          <p:cNvPr id="3790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1" name="Text Box 6"/>
          <p:cNvSpPr>
            <a:spLocks noGrp="1" noChangeArrowheads="1"/>
          </p:cNvSpPr>
          <p:nvPr>
            <p:ph idx="1"/>
          </p:nvPr>
        </p:nvSpPr>
        <p:spPr>
          <a:xfrm>
            <a:off x="572493" y="2071316"/>
            <a:ext cx="6837050" cy="4119172"/>
          </a:xfrm>
        </p:spPr>
        <p:txBody>
          <a:bodyPr anchor="t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en-US" sz="2000" dirty="0"/>
              <a:t>Formal promissory note (i.e. written promise) for a certain amount of money on a specific date (longer A/R).</a:t>
            </a:r>
          </a:p>
          <a:p>
            <a:pPr lvl="1">
              <a:spcAft>
                <a:spcPts val="1200"/>
              </a:spcAft>
            </a:pPr>
            <a:r>
              <a:rPr lang="en-US" altLang="en-US" sz="1600" dirty="0"/>
              <a:t>Generally for more than a year, so there’s an interest component!</a:t>
            </a:r>
          </a:p>
          <a:p>
            <a:r>
              <a:rPr lang="en-US" altLang="en-US" sz="2000" dirty="0"/>
              <a:t>Generally arise from:</a:t>
            </a:r>
          </a:p>
          <a:p>
            <a:pPr lvl="1"/>
            <a:r>
              <a:rPr lang="en-US" altLang="en-US" sz="2000" dirty="0"/>
              <a:t>Sales to customers that need extended payment</a:t>
            </a:r>
          </a:p>
          <a:p>
            <a:pPr lvl="1"/>
            <a:r>
              <a:rPr lang="en-US" altLang="en-US" sz="2000" dirty="0"/>
              <a:t>Sales of property, plant, and equipment</a:t>
            </a:r>
          </a:p>
          <a:p>
            <a:pPr lvl="1">
              <a:spcAft>
                <a:spcPts val="1200"/>
              </a:spcAft>
            </a:pPr>
            <a:r>
              <a:rPr lang="en-US" altLang="en-US" sz="2000" dirty="0"/>
              <a:t>Lending transactions (the majority of notes)</a:t>
            </a:r>
          </a:p>
          <a:p>
            <a:r>
              <a:rPr lang="en-US" altLang="en-US" sz="2000" dirty="0"/>
              <a:t>KEY IDEA: Under GAAP a Note Receivable (N/R) is reported at the </a:t>
            </a:r>
            <a:r>
              <a:rPr lang="en-US" altLang="en-US" sz="2000" b="1" dirty="0"/>
              <a:t>present value </a:t>
            </a:r>
            <a:r>
              <a:rPr lang="en-US" altLang="en-US" sz="2000" dirty="0"/>
              <a:t>of cash expected to be collected at issuance (this represents the book or carrying value of the Note Receivable).</a:t>
            </a:r>
          </a:p>
        </p:txBody>
      </p:sp>
      <p:pic>
        <p:nvPicPr>
          <p:cNvPr id="37893" name="Picture 37892" descr="Calculator, pen, compass, money and a paper with graphs printed on it">
            <a:extLst>
              <a:ext uri="{FF2B5EF4-FFF2-40B4-BE49-F238E27FC236}">
                <a16:creationId xmlns:a16="http://schemas.microsoft.com/office/drawing/2014/main" id="{27C3B744-37A6-33D5-601C-91BA8CC69F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74" r="19163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6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DAE93-D75A-D1C4-D840-4234F3C01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B2745F-137B-7F35-5AF1-FA57D0D99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Base Case: Notes Receivable Exchanged for Cash Today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1E7B1-D09D-566E-B863-E3540F8D1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9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Note Receivable Example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4765" y="1330036"/>
            <a:ext cx="10823835" cy="4894552"/>
          </a:xfrm>
        </p:spPr>
        <p:txBody>
          <a:bodyPr/>
          <a:lstStyle/>
          <a:p>
            <a:pPr marL="1588" indent="-1588">
              <a:lnSpc>
                <a:spcPct val="100000"/>
              </a:lnSpc>
              <a:buNone/>
            </a:pPr>
            <a:r>
              <a:rPr lang="en-US" altLang="en-US" sz="2200" dirty="0"/>
              <a:t>On January 1, McDowells Corp receives a 3-year, $50,000 face value note bearing 10% annual interest rate from </a:t>
            </a:r>
            <a:r>
              <a:rPr lang="en-US" altLang="en-US" sz="2200" dirty="0" err="1"/>
              <a:t>Winny’s</a:t>
            </a:r>
            <a:r>
              <a:rPr lang="en-US" altLang="en-US" sz="2200" dirty="0"/>
              <a:t> Corp (i.e., McDowells </a:t>
            </a:r>
            <a:r>
              <a:rPr lang="en-US" altLang="en-US" sz="2200" dirty="0">
                <a:solidFill>
                  <a:schemeClr val="hlink"/>
                </a:solidFill>
              </a:rPr>
              <a:t>paid </a:t>
            </a:r>
            <a:r>
              <a:rPr lang="en-US" altLang="en-US" sz="2200" dirty="0" err="1"/>
              <a:t>Winny’s</a:t>
            </a:r>
            <a:r>
              <a:rPr lang="en-US" altLang="en-US" sz="2200" dirty="0"/>
              <a:t> today in exchange for a receivable in the future).  The market interest rate for a note of similar risk is also 10%.  Interest is paid annually.  </a:t>
            </a:r>
          </a:p>
          <a:p>
            <a:pPr marL="1588" indent="-1588">
              <a:lnSpc>
                <a:spcPct val="80000"/>
              </a:lnSpc>
              <a:buNone/>
            </a:pPr>
            <a:endParaRPr lang="en-US" altLang="en-US" sz="2200" dirty="0">
              <a:solidFill>
                <a:schemeClr val="hlink"/>
              </a:solidFill>
            </a:endParaRPr>
          </a:p>
          <a:p>
            <a:pPr marL="1588" indent="-1588">
              <a:lnSpc>
                <a:spcPct val="80000"/>
              </a:lnSpc>
              <a:buNone/>
            </a:pPr>
            <a:endParaRPr lang="en-US" altLang="en-US" sz="1600" dirty="0">
              <a:solidFill>
                <a:srgbClr val="CC3399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F7FCA3-BB5C-42C7-9C28-29AE30BC258F}"/>
              </a:ext>
            </a:extLst>
          </p:cNvPr>
          <p:cNvSpPr/>
          <p:nvPr/>
        </p:nvSpPr>
        <p:spPr bwMode="auto">
          <a:xfrm>
            <a:off x="1052684" y="3947428"/>
            <a:ext cx="3360621" cy="2116878"/>
          </a:xfrm>
          <a:prstGeom prst="rect">
            <a:avLst/>
          </a:prstGeom>
          <a:noFill/>
          <a:ln w="9525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000" dirty="0" err="1"/>
              <a:t>Winny’s</a:t>
            </a:r>
            <a:r>
              <a:rPr lang="en-US" sz="2000" dirty="0"/>
              <a:t> Corp.</a:t>
            </a:r>
          </a:p>
          <a:p>
            <a:pPr algn="ctr">
              <a:defRPr/>
            </a:pPr>
            <a:r>
              <a:rPr lang="en-US" sz="2000" u="sng" dirty="0"/>
              <a:t>issues</a:t>
            </a:r>
            <a:r>
              <a:rPr lang="en-US" sz="2000" dirty="0"/>
              <a:t> the note</a:t>
            </a:r>
          </a:p>
          <a:p>
            <a:pPr marL="400050" indent="-168275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Receive cash today</a:t>
            </a:r>
          </a:p>
          <a:p>
            <a:pPr marL="400050" indent="-168275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Notes Payable (B-L)</a:t>
            </a:r>
          </a:p>
          <a:p>
            <a:pPr marL="400050" indent="-168275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Interest Expense (I-E)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056243-9FA4-4F86-AECF-01C2A5C0D632}"/>
              </a:ext>
            </a:extLst>
          </p:cNvPr>
          <p:cNvSpPr/>
          <p:nvPr/>
        </p:nvSpPr>
        <p:spPr bwMode="auto">
          <a:xfrm>
            <a:off x="7362826" y="3947428"/>
            <a:ext cx="3392659" cy="2116878"/>
          </a:xfrm>
          <a:prstGeom prst="rect">
            <a:avLst/>
          </a:prstGeom>
          <a:noFill/>
          <a:ln w="9525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000" dirty="0" err="1"/>
              <a:t>McDowells</a:t>
            </a:r>
            <a:endParaRPr lang="en-US" sz="2000" dirty="0"/>
          </a:p>
          <a:p>
            <a:pPr algn="ctr">
              <a:defRPr/>
            </a:pPr>
            <a:r>
              <a:rPr lang="en-US" sz="2000" u="sng" dirty="0"/>
              <a:t>receives</a:t>
            </a:r>
            <a:r>
              <a:rPr lang="en-US" sz="2000" dirty="0"/>
              <a:t> the note</a:t>
            </a:r>
          </a:p>
          <a:p>
            <a:pPr marL="400050" indent="-168275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Pay cash today</a:t>
            </a:r>
          </a:p>
          <a:p>
            <a:pPr marL="400050" indent="-168275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C00000"/>
                </a:solidFill>
              </a:rPr>
              <a:t>Notes Receivable (B-A)</a:t>
            </a:r>
          </a:p>
          <a:p>
            <a:pPr marL="400050" indent="-168275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Interest Revenue (I-R)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D23E16-8781-41C4-B2C0-40E242EC621C}"/>
              </a:ext>
            </a:extLst>
          </p:cNvPr>
          <p:cNvSpPr/>
          <p:nvPr/>
        </p:nvSpPr>
        <p:spPr bwMode="auto">
          <a:xfrm>
            <a:off x="4892676" y="3947428"/>
            <a:ext cx="2016125" cy="2116878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dirty="0"/>
              <a:t>Written Contract:</a:t>
            </a:r>
          </a:p>
          <a:p>
            <a:pPr algn="ctr">
              <a:defRPr/>
            </a:pPr>
            <a:r>
              <a:rPr lang="en-US" dirty="0"/>
              <a:t>“I promise to pay you $50,000 in 3 years...”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070793" y="3167224"/>
            <a:ext cx="132440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+mn-lt"/>
              </a:rPr>
              <a:t>Borrower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+mn-lt"/>
              </a:rPr>
              <a:t>(Maker)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895650" y="3337361"/>
            <a:ext cx="19784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+mn-lt"/>
              </a:rPr>
              <a:t>gives a note to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510768" y="3167224"/>
            <a:ext cx="10967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+mn-lt"/>
              </a:rPr>
              <a:t>Lender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+mn-lt"/>
              </a:rPr>
              <a:t>(Payee)</a:t>
            </a:r>
          </a:p>
        </p:txBody>
      </p:sp>
      <p:pic>
        <p:nvPicPr>
          <p:cNvPr id="14" name="Graphic 13" descr="Arrow Right with solid fill">
            <a:extLst>
              <a:ext uri="{FF2B5EF4-FFF2-40B4-BE49-F238E27FC236}">
                <a16:creationId xmlns:a16="http://schemas.microsoft.com/office/drawing/2014/main" id="{2799E16F-41F9-4514-B415-A30344744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6527" y="4276423"/>
            <a:ext cx="391501" cy="912656"/>
          </a:xfrm>
          <a:prstGeom prst="rect">
            <a:avLst/>
          </a:prstGeom>
        </p:spPr>
      </p:pic>
      <p:pic>
        <p:nvPicPr>
          <p:cNvPr id="16" name="Graphic 15" descr="Arrow Right with solid fill">
            <a:extLst>
              <a:ext uri="{FF2B5EF4-FFF2-40B4-BE49-F238E27FC236}">
                <a16:creationId xmlns:a16="http://schemas.microsoft.com/office/drawing/2014/main" id="{5D78B378-DE74-4E07-86E5-980D62C08D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2489" y="4276423"/>
            <a:ext cx="331991" cy="914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860547E-CAD9-9B4B-ACE2-29B7F66A76DE}"/>
              </a:ext>
            </a:extLst>
          </p:cNvPr>
          <p:cNvSpPr/>
          <p:nvPr/>
        </p:nvSpPr>
        <p:spPr>
          <a:xfrm>
            <a:off x="8092714" y="3167224"/>
            <a:ext cx="1932833" cy="70788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7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Key Terminology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4765" y="1330036"/>
            <a:ext cx="10823835" cy="4894552"/>
          </a:xfrm>
        </p:spPr>
        <p:txBody>
          <a:bodyPr/>
          <a:lstStyle/>
          <a:p>
            <a:pPr marL="1588" indent="-1588">
              <a:lnSpc>
                <a:spcPct val="100000"/>
              </a:lnSpc>
              <a:buNone/>
            </a:pPr>
            <a:r>
              <a:rPr lang="en-US" altLang="en-US" sz="2200" dirty="0"/>
              <a:t>On January 1, McDowells Corp receives a 3-year, $50,000 face value note bearing 10% annual interest rate from </a:t>
            </a:r>
            <a:r>
              <a:rPr lang="en-US" altLang="en-US" sz="2200" dirty="0" err="1"/>
              <a:t>Winny’s</a:t>
            </a:r>
            <a:r>
              <a:rPr lang="en-US" altLang="en-US" sz="2200" dirty="0"/>
              <a:t> Corp (i.e., McDowells </a:t>
            </a:r>
            <a:r>
              <a:rPr lang="en-US" altLang="en-US" sz="2200" dirty="0">
                <a:solidFill>
                  <a:schemeClr val="hlink"/>
                </a:solidFill>
              </a:rPr>
              <a:t>paid </a:t>
            </a:r>
            <a:r>
              <a:rPr lang="en-US" altLang="en-US" sz="2200" dirty="0" err="1"/>
              <a:t>Winny’s</a:t>
            </a:r>
            <a:r>
              <a:rPr lang="en-US" altLang="en-US" sz="2200" dirty="0"/>
              <a:t> today in exchange for a receivable in the future).  The market interest rate for a note of similar risk is also 10%.  Interest is paid annually.  </a:t>
            </a:r>
          </a:p>
          <a:p>
            <a:pPr marL="1588" indent="-1588">
              <a:lnSpc>
                <a:spcPct val="80000"/>
              </a:lnSpc>
              <a:buNone/>
            </a:pPr>
            <a:endParaRPr lang="en-US" altLang="en-US" sz="2200" dirty="0">
              <a:solidFill>
                <a:schemeClr val="hlink"/>
              </a:solidFill>
            </a:endParaRPr>
          </a:p>
          <a:p>
            <a:pPr marL="1588" indent="-1588">
              <a:lnSpc>
                <a:spcPct val="80000"/>
              </a:lnSpc>
              <a:buNone/>
            </a:pPr>
            <a:endParaRPr lang="en-US" altLang="en-US" sz="2200" dirty="0">
              <a:solidFill>
                <a:schemeClr val="hlink"/>
              </a:solidFill>
            </a:endParaRPr>
          </a:p>
          <a:p>
            <a:pPr marL="1588" indent="-1588">
              <a:lnSpc>
                <a:spcPct val="80000"/>
              </a:lnSpc>
              <a:buNone/>
            </a:pPr>
            <a:endParaRPr lang="en-US" altLang="en-US" sz="1600" dirty="0">
              <a:solidFill>
                <a:srgbClr val="CC3399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C567EE-7606-42CB-9F41-0D43A0744965}"/>
              </a:ext>
            </a:extLst>
          </p:cNvPr>
          <p:cNvSpPr/>
          <p:nvPr/>
        </p:nvSpPr>
        <p:spPr>
          <a:xfrm>
            <a:off x="759823" y="5275739"/>
            <a:ext cx="4241072" cy="643387"/>
          </a:xfrm>
          <a:prstGeom prst="rect">
            <a:avLst/>
          </a:prstGeom>
          <a:solidFill>
            <a:srgbClr val="05396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E96153-1CD4-43B3-9DA3-2A4928CF0D87}"/>
              </a:ext>
            </a:extLst>
          </p:cNvPr>
          <p:cNvSpPr/>
          <p:nvPr/>
        </p:nvSpPr>
        <p:spPr>
          <a:xfrm>
            <a:off x="759822" y="4388579"/>
            <a:ext cx="4241071" cy="643387"/>
          </a:xfrm>
          <a:prstGeom prst="rect">
            <a:avLst/>
          </a:prstGeom>
          <a:solidFill>
            <a:srgbClr val="A2A4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9EE7CC-D83D-4931-833C-AAA36E1E695D}"/>
              </a:ext>
            </a:extLst>
          </p:cNvPr>
          <p:cNvSpPr/>
          <p:nvPr/>
        </p:nvSpPr>
        <p:spPr>
          <a:xfrm>
            <a:off x="759823" y="3484979"/>
            <a:ext cx="4241070" cy="643387"/>
          </a:xfrm>
          <a:prstGeom prst="rect">
            <a:avLst/>
          </a:prstGeom>
          <a:solidFill>
            <a:srgbClr val="CFB87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73FCA1-2C0E-4453-B219-E86989545408}"/>
              </a:ext>
            </a:extLst>
          </p:cNvPr>
          <p:cNvSpPr txBox="1"/>
          <p:nvPr/>
        </p:nvSpPr>
        <p:spPr>
          <a:xfrm>
            <a:off x="5074913" y="3635209"/>
            <a:ext cx="6940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prstClr val="black"/>
                </a:solidFill>
                <a:latin typeface="Roboto Condensed"/>
              </a:rPr>
              <a:t>Principal amount to be received at end of period (lump sum).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6FBA1E-DC3A-43C6-9233-F8B8107C5A78}"/>
              </a:ext>
            </a:extLst>
          </p:cNvPr>
          <p:cNvSpPr txBox="1"/>
          <p:nvPr/>
        </p:nvSpPr>
        <p:spPr>
          <a:xfrm>
            <a:off x="912220" y="3606617"/>
            <a:ext cx="4356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Roboto Condensed"/>
              </a:rPr>
              <a:t>Face Value</a:t>
            </a:r>
            <a:r>
              <a:rPr lang="en-US" sz="2000" dirty="0">
                <a:solidFill>
                  <a:prstClr val="black"/>
                </a:solidFill>
                <a:latin typeface="Roboto Condensed"/>
              </a:rPr>
              <a:t> </a:t>
            </a:r>
            <a:r>
              <a:rPr lang="en-US" sz="2000" b="1" dirty="0">
                <a:solidFill>
                  <a:prstClr val="black"/>
                </a:solidFill>
                <a:latin typeface="Roboto Condensed"/>
              </a:rPr>
              <a:t>(Maturity Value)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C6B33F-137A-4B4E-9A2F-5B2F8A6FC07B}"/>
              </a:ext>
            </a:extLst>
          </p:cNvPr>
          <p:cNvSpPr txBox="1"/>
          <p:nvPr/>
        </p:nvSpPr>
        <p:spPr>
          <a:xfrm>
            <a:off x="912220" y="4510217"/>
            <a:ext cx="34322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Roboto Condensed"/>
              </a:rPr>
              <a:t>Stated Interest Rate (Coupon)</a:t>
            </a:r>
            <a:endParaRPr lang="en-US" sz="2000" dirty="0">
              <a:solidFill>
                <a:prstClr val="black"/>
              </a:solidFill>
              <a:latin typeface="Roboto Condense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D7FA75-82BE-42CF-AEFD-D0F79A78B9B4}"/>
              </a:ext>
            </a:extLst>
          </p:cNvPr>
          <p:cNvSpPr txBox="1"/>
          <p:nvPr/>
        </p:nvSpPr>
        <p:spPr>
          <a:xfrm>
            <a:off x="912220" y="5397377"/>
            <a:ext cx="4088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prstClr val="white"/>
                </a:solidFill>
                <a:latin typeface="Roboto Condensed"/>
              </a:rPr>
              <a:t>Market Rate (Yield or Effective Rate)</a:t>
            </a:r>
            <a:endParaRPr lang="en-US" sz="2000" dirty="0">
              <a:solidFill>
                <a:prstClr val="white"/>
              </a:solidFill>
              <a:latin typeface="Roboto Condensed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5F3338-1E80-45E0-85CE-EFC8B9C4DCB5}"/>
              </a:ext>
            </a:extLst>
          </p:cNvPr>
          <p:cNvSpPr txBox="1"/>
          <p:nvPr/>
        </p:nvSpPr>
        <p:spPr>
          <a:xfrm>
            <a:off x="5074913" y="5246047"/>
            <a:ext cx="6542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prstClr val="black"/>
                </a:solidFill>
                <a:latin typeface="Roboto Condensed"/>
              </a:rPr>
              <a:t>Interest rate for a note of similar risk. This is the RATE that we use for present value calculations.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4B0368-5B3B-4E71-9FEB-B2CD2EFE4CFD}"/>
              </a:ext>
            </a:extLst>
          </p:cNvPr>
          <p:cNvSpPr txBox="1"/>
          <p:nvPr/>
        </p:nvSpPr>
        <p:spPr>
          <a:xfrm>
            <a:off x="5074913" y="4373747"/>
            <a:ext cx="6940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prstClr val="black"/>
                </a:solidFill>
                <a:latin typeface="Roboto Condensed"/>
              </a:rPr>
              <a:t>Rate to calculate regular cash payments or PMT promised (annuity). It can be zero if there are no regular cash payments.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0742313-5D27-4235-8C71-BF72B4E1E9FC}"/>
              </a:ext>
            </a:extLst>
          </p:cNvPr>
          <p:cNvCxnSpPr>
            <a:cxnSpLocks/>
          </p:cNvCxnSpPr>
          <p:nvPr/>
        </p:nvCxnSpPr>
        <p:spPr>
          <a:xfrm>
            <a:off x="759822" y="4128366"/>
            <a:ext cx="10898778" cy="0"/>
          </a:xfrm>
          <a:prstGeom prst="line">
            <a:avLst/>
          </a:prstGeom>
          <a:noFill/>
          <a:ln w="19050" cap="flat" cmpd="sng" algn="ctr">
            <a:solidFill>
              <a:srgbClr val="CFB87C"/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0C33B22-1B1A-47FD-AB31-E65ABCA6056B}"/>
              </a:ext>
            </a:extLst>
          </p:cNvPr>
          <p:cNvCxnSpPr>
            <a:cxnSpLocks/>
          </p:cNvCxnSpPr>
          <p:nvPr/>
        </p:nvCxnSpPr>
        <p:spPr>
          <a:xfrm>
            <a:off x="759822" y="5031966"/>
            <a:ext cx="10898778" cy="0"/>
          </a:xfrm>
          <a:prstGeom prst="line">
            <a:avLst/>
          </a:prstGeom>
          <a:noFill/>
          <a:ln w="19050" cap="flat" cmpd="sng" algn="ctr">
            <a:solidFill>
              <a:srgbClr val="A2A4A3"/>
            </a:solidFill>
            <a:prstDash val="solid"/>
            <a:miter lim="800000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22AC13C-4435-4049-B0AD-16BF0AB0394C}"/>
              </a:ext>
            </a:extLst>
          </p:cNvPr>
          <p:cNvCxnSpPr>
            <a:cxnSpLocks/>
          </p:cNvCxnSpPr>
          <p:nvPr/>
        </p:nvCxnSpPr>
        <p:spPr>
          <a:xfrm>
            <a:off x="759822" y="5919126"/>
            <a:ext cx="10898778" cy="0"/>
          </a:xfrm>
          <a:prstGeom prst="line">
            <a:avLst/>
          </a:prstGeom>
          <a:noFill/>
          <a:ln w="19050" cap="flat" cmpd="sng" algn="ctr">
            <a:solidFill>
              <a:srgbClr val="053968"/>
            </a:solidFill>
            <a:prstDash val="solid"/>
            <a:miter lim="800000"/>
          </a:ln>
          <a:effectLst/>
        </p:spPr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0EC77FA-7EC6-463F-9D38-60E6C75609AC}"/>
              </a:ext>
            </a:extLst>
          </p:cNvPr>
          <p:cNvSpPr/>
          <p:nvPr/>
        </p:nvSpPr>
        <p:spPr>
          <a:xfrm>
            <a:off x="6965503" y="1276524"/>
            <a:ext cx="1380568" cy="495116"/>
          </a:xfrm>
          <a:custGeom>
            <a:avLst/>
            <a:gdLst>
              <a:gd name="connsiteX0" fmla="*/ 0 w 1380568"/>
              <a:gd name="connsiteY0" fmla="*/ 247558 h 495116"/>
              <a:gd name="connsiteX1" fmla="*/ 690284 w 1380568"/>
              <a:gd name="connsiteY1" fmla="*/ 0 h 495116"/>
              <a:gd name="connsiteX2" fmla="*/ 1380568 w 1380568"/>
              <a:gd name="connsiteY2" fmla="*/ 247558 h 495116"/>
              <a:gd name="connsiteX3" fmla="*/ 690284 w 1380568"/>
              <a:gd name="connsiteY3" fmla="*/ 495116 h 495116"/>
              <a:gd name="connsiteX4" fmla="*/ 0 w 1380568"/>
              <a:gd name="connsiteY4" fmla="*/ 247558 h 495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0568" h="495116" extrusionOk="0">
                <a:moveTo>
                  <a:pt x="0" y="247558"/>
                </a:moveTo>
                <a:cubicBezTo>
                  <a:pt x="-44082" y="58998"/>
                  <a:pt x="319499" y="-3793"/>
                  <a:pt x="690284" y="0"/>
                </a:cubicBezTo>
                <a:cubicBezTo>
                  <a:pt x="1050280" y="11932"/>
                  <a:pt x="1402506" y="104289"/>
                  <a:pt x="1380568" y="247558"/>
                </a:cubicBezTo>
                <a:cubicBezTo>
                  <a:pt x="1367138" y="357505"/>
                  <a:pt x="1060250" y="530174"/>
                  <a:pt x="690284" y="495116"/>
                </a:cubicBezTo>
                <a:cubicBezTo>
                  <a:pt x="316297" y="485120"/>
                  <a:pt x="33882" y="381493"/>
                  <a:pt x="0" y="247558"/>
                </a:cubicBezTo>
                <a:close/>
              </a:path>
            </a:pathLst>
          </a:custGeom>
          <a:noFill/>
          <a:ln w="38100" cap="flat" cmpd="sng" algn="ctr">
            <a:solidFill>
              <a:srgbClr val="CFB87C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8792487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DBB801E-FDD9-4A94-8710-4150F1246B38}"/>
              </a:ext>
            </a:extLst>
          </p:cNvPr>
          <p:cNvSpPr/>
          <p:nvPr/>
        </p:nvSpPr>
        <p:spPr>
          <a:xfrm>
            <a:off x="814059" y="1671331"/>
            <a:ext cx="757646" cy="470942"/>
          </a:xfrm>
          <a:custGeom>
            <a:avLst/>
            <a:gdLst>
              <a:gd name="connsiteX0" fmla="*/ 0 w 757646"/>
              <a:gd name="connsiteY0" fmla="*/ 235471 h 470942"/>
              <a:gd name="connsiteX1" fmla="*/ 378823 w 757646"/>
              <a:gd name="connsiteY1" fmla="*/ 0 h 470942"/>
              <a:gd name="connsiteX2" fmla="*/ 757646 w 757646"/>
              <a:gd name="connsiteY2" fmla="*/ 235471 h 470942"/>
              <a:gd name="connsiteX3" fmla="*/ 378823 w 757646"/>
              <a:gd name="connsiteY3" fmla="*/ 470942 h 470942"/>
              <a:gd name="connsiteX4" fmla="*/ 0 w 757646"/>
              <a:gd name="connsiteY4" fmla="*/ 235471 h 470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7646" h="470942" extrusionOk="0">
                <a:moveTo>
                  <a:pt x="0" y="235471"/>
                </a:moveTo>
                <a:cubicBezTo>
                  <a:pt x="-1057" y="100784"/>
                  <a:pt x="161780" y="-4744"/>
                  <a:pt x="378823" y="0"/>
                </a:cubicBezTo>
                <a:cubicBezTo>
                  <a:pt x="587355" y="3914"/>
                  <a:pt x="762123" y="100351"/>
                  <a:pt x="757646" y="235471"/>
                </a:cubicBezTo>
                <a:cubicBezTo>
                  <a:pt x="730945" y="346195"/>
                  <a:pt x="606581" y="457172"/>
                  <a:pt x="378823" y="470942"/>
                </a:cubicBezTo>
                <a:cubicBezTo>
                  <a:pt x="180322" y="485770"/>
                  <a:pt x="-10697" y="358225"/>
                  <a:pt x="0" y="235471"/>
                </a:cubicBezTo>
                <a:close/>
              </a:path>
            </a:pathLst>
          </a:custGeom>
          <a:noFill/>
          <a:ln w="38100" cap="flat" cmpd="sng" algn="ctr">
            <a:solidFill>
              <a:srgbClr val="44546A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2548644965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9227C06-273D-4456-911E-43092F2350AF}"/>
              </a:ext>
            </a:extLst>
          </p:cNvPr>
          <p:cNvCxnSpPr>
            <a:cxnSpLocks/>
          </p:cNvCxnSpPr>
          <p:nvPr/>
        </p:nvCxnSpPr>
        <p:spPr>
          <a:xfrm flipV="1">
            <a:off x="498573" y="2018111"/>
            <a:ext cx="302814" cy="663008"/>
          </a:xfrm>
          <a:prstGeom prst="straightConnector1">
            <a:avLst/>
          </a:prstGeom>
          <a:noFill/>
          <a:ln w="38100" cap="flat" cmpd="sng" algn="ctr">
            <a:solidFill>
              <a:srgbClr val="44546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439C5DC-E4DA-4F72-B0DE-E6657B0CCC11}"/>
              </a:ext>
            </a:extLst>
          </p:cNvPr>
          <p:cNvSpPr txBox="1"/>
          <p:nvPr/>
        </p:nvSpPr>
        <p:spPr>
          <a:xfrm>
            <a:off x="153847" y="2722317"/>
            <a:ext cx="2078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44546A"/>
                </a:solidFill>
                <a:latin typeface="Calibri"/>
              </a:rPr>
              <a:t>Stated Interest Rate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0C6C800-F389-4AB6-BF98-F8BBA22D26AB}"/>
              </a:ext>
            </a:extLst>
          </p:cNvPr>
          <p:cNvSpPr/>
          <p:nvPr/>
        </p:nvSpPr>
        <p:spPr>
          <a:xfrm>
            <a:off x="2194455" y="2350143"/>
            <a:ext cx="757646" cy="400110"/>
          </a:xfrm>
          <a:custGeom>
            <a:avLst/>
            <a:gdLst>
              <a:gd name="connsiteX0" fmla="*/ 0 w 757646"/>
              <a:gd name="connsiteY0" fmla="*/ 200055 h 400110"/>
              <a:gd name="connsiteX1" fmla="*/ 378823 w 757646"/>
              <a:gd name="connsiteY1" fmla="*/ 0 h 400110"/>
              <a:gd name="connsiteX2" fmla="*/ 757646 w 757646"/>
              <a:gd name="connsiteY2" fmla="*/ 200055 h 400110"/>
              <a:gd name="connsiteX3" fmla="*/ 378823 w 757646"/>
              <a:gd name="connsiteY3" fmla="*/ 400110 h 400110"/>
              <a:gd name="connsiteX4" fmla="*/ 0 w 757646"/>
              <a:gd name="connsiteY4" fmla="*/ 200055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7646" h="400110" extrusionOk="0">
                <a:moveTo>
                  <a:pt x="0" y="200055"/>
                </a:moveTo>
                <a:cubicBezTo>
                  <a:pt x="-4535" y="69651"/>
                  <a:pt x="150633" y="-11503"/>
                  <a:pt x="378823" y="0"/>
                </a:cubicBezTo>
                <a:cubicBezTo>
                  <a:pt x="584193" y="21955"/>
                  <a:pt x="775067" y="69830"/>
                  <a:pt x="757646" y="200055"/>
                </a:cubicBezTo>
                <a:cubicBezTo>
                  <a:pt x="721373" y="284293"/>
                  <a:pt x="605891" y="386852"/>
                  <a:pt x="378823" y="400110"/>
                </a:cubicBezTo>
                <a:cubicBezTo>
                  <a:pt x="183705" y="419619"/>
                  <a:pt x="-22659" y="295093"/>
                  <a:pt x="0" y="200055"/>
                </a:cubicBezTo>
                <a:close/>
              </a:path>
            </a:pathLst>
          </a:custGeom>
          <a:noFill/>
          <a:ln w="38100" cap="flat" cmpd="sng" algn="ctr">
            <a:solidFill>
              <a:srgbClr val="0377BD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2548644965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D85B3AA-2550-49F5-A475-459F3446BA50}"/>
              </a:ext>
            </a:extLst>
          </p:cNvPr>
          <p:cNvSpPr txBox="1"/>
          <p:nvPr/>
        </p:nvSpPr>
        <p:spPr>
          <a:xfrm>
            <a:off x="2777930" y="2656671"/>
            <a:ext cx="1383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377BD"/>
                </a:solidFill>
                <a:latin typeface="Calibri"/>
              </a:rPr>
              <a:t>Market Rate</a:t>
            </a:r>
          </a:p>
        </p:txBody>
      </p:sp>
    </p:spTree>
    <p:extLst>
      <p:ext uri="{BB962C8B-B14F-4D97-AF65-F5344CB8AC3E}">
        <p14:creationId xmlns:p14="http://schemas.microsoft.com/office/powerpoint/2010/main" val="85804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/>
      <p:bldP spid="35" grpId="0"/>
      <p:bldP spid="52" grpId="0" animBg="1"/>
      <p:bldP spid="53" grpId="0" animBg="1"/>
      <p:bldP spid="55" grpId="0"/>
      <p:bldP spid="58" grpId="0" animBg="1"/>
      <p:bldP spid="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EC3C-65D8-1BBE-1E86-0EA98C7BF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Stated Rate vs Market Rate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37900-944B-D52B-2212-7F3FA2348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28" y="1575759"/>
            <a:ext cx="10876472" cy="4445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if a note is signed at one rate — the </a:t>
            </a:r>
            <a:r>
              <a:rPr lang="en-US" b="1" i="1" dirty="0"/>
              <a:t>stated</a:t>
            </a:r>
            <a:r>
              <a:rPr lang="en-US" b="1" dirty="0"/>
              <a:t> rate — but the </a:t>
            </a:r>
            <a:r>
              <a:rPr lang="en-US" b="1" u="sng" dirty="0"/>
              <a:t>market</a:t>
            </a:r>
            <a:r>
              <a:rPr lang="en-US" b="1" dirty="0"/>
              <a:t> says a similar note would earn a </a:t>
            </a:r>
            <a:r>
              <a:rPr lang="en-US" b="1" i="1" dirty="0"/>
              <a:t>different</a:t>
            </a:r>
            <a:r>
              <a:rPr lang="en-US" b="1" dirty="0"/>
              <a:t> rate?</a:t>
            </a:r>
            <a:endParaRPr lang="en-US" dirty="0"/>
          </a:p>
          <a:p>
            <a:endParaRPr lang="en-US" sz="600" dirty="0"/>
          </a:p>
          <a:p>
            <a:r>
              <a:rPr lang="en-US" dirty="0"/>
              <a:t>GAAP says we must record </a:t>
            </a:r>
            <a:r>
              <a:rPr lang="en-US" b="1" dirty="0"/>
              <a:t>interest revenue at the </a:t>
            </a:r>
            <a:r>
              <a:rPr lang="en-US" b="1" i="1" dirty="0"/>
              <a:t>market rate</a:t>
            </a:r>
            <a:r>
              <a:rPr lang="en-US" dirty="0"/>
              <a:t> (the rate a lender would actually demand for that level of risk).</a:t>
            </a:r>
          </a:p>
          <a:p>
            <a:endParaRPr lang="en-US" sz="600" dirty="0"/>
          </a:p>
          <a:p>
            <a:r>
              <a:rPr lang="en-US" dirty="0"/>
              <a:t>However, the loan will be paid back using the </a:t>
            </a:r>
            <a:r>
              <a:rPr lang="en-US" i="1" dirty="0"/>
              <a:t>stated</a:t>
            </a:r>
            <a:r>
              <a:rPr lang="en-US" dirty="0"/>
              <a:t> rate. </a:t>
            </a:r>
          </a:p>
          <a:p>
            <a:r>
              <a:rPr lang="en-US" dirty="0"/>
              <a:t>So… </a:t>
            </a:r>
            <a:r>
              <a:rPr lang="en-US" b="1" dirty="0"/>
              <a:t>what do we do?</a:t>
            </a:r>
          </a:p>
          <a:p>
            <a:pPr marL="0" indent="0">
              <a:buNone/>
            </a:pPr>
            <a:endParaRPr lang="en-US" sz="600" b="1" dirty="0"/>
          </a:p>
          <a:p>
            <a:pPr marL="0" indent="0">
              <a:buNone/>
            </a:pPr>
            <a:r>
              <a:rPr lang="en-US" dirty="0"/>
              <a:t>We adjust the note’s initial </a:t>
            </a:r>
            <a:r>
              <a:rPr lang="en-US" b="1" dirty="0"/>
              <a:t>book/carrying value </a:t>
            </a:r>
            <a:r>
              <a:rPr lang="en-US" dirty="0"/>
              <a:t>using </a:t>
            </a:r>
            <a:r>
              <a:rPr lang="en-US" b="1" dirty="0"/>
              <a:t>present value computations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23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6C63-1D6A-2FAC-1482-C6E1006A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90782-3E3B-3866-AE37-FA7EA0DCF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789" y="550553"/>
            <a:ext cx="11129513" cy="572417"/>
          </a:xfrm>
        </p:spPr>
        <p:txBody>
          <a:bodyPr>
            <a:normAutofit fontScale="90000"/>
          </a:bodyPr>
          <a:lstStyle/>
          <a:p>
            <a:r>
              <a:rPr lang="en-US" dirty="0"/>
              <a:t>Connecting Rates to Present Value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B97B55-3A89-4899-1843-A7E7305EC2C6}"/>
              </a:ext>
            </a:extLst>
          </p:cNvPr>
          <p:cNvSpPr txBox="1"/>
          <p:nvPr/>
        </p:nvSpPr>
        <p:spPr>
          <a:xfrm>
            <a:off x="730370" y="1403209"/>
            <a:ext cx="10069902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/>
              <a:t>We find the </a:t>
            </a:r>
            <a:r>
              <a:rPr lang="en-US" sz="2100" b="1" dirty="0"/>
              <a:t>present value </a:t>
            </a:r>
            <a:r>
              <a:rPr lang="en-US" sz="2100" dirty="0"/>
              <a:t>of the note by discounting its future cash flows —</a:t>
            </a:r>
            <a:br>
              <a:rPr lang="en-US" sz="2100" dirty="0"/>
            </a:br>
            <a:r>
              <a:rPr lang="en-US" sz="2100" dirty="0"/>
              <a:t>the payments of interest (based on the </a:t>
            </a:r>
            <a:r>
              <a:rPr lang="en-US" sz="2100" b="1" dirty="0"/>
              <a:t>stated rate</a:t>
            </a:r>
            <a:r>
              <a:rPr lang="en-US" sz="2100" dirty="0"/>
              <a:t>) and the repayment of principal. We find this Present Value (PV) using the </a:t>
            </a:r>
            <a:r>
              <a:rPr lang="en-US" sz="2100" b="1" dirty="0"/>
              <a:t>market rate of interest</a:t>
            </a:r>
            <a:r>
              <a:rPr lang="en-US" sz="2100" dirty="0"/>
              <a:t>.</a:t>
            </a:r>
          </a:p>
          <a:p>
            <a:endParaRPr lang="en-US" sz="2100" dirty="0"/>
          </a:p>
          <a:p>
            <a:r>
              <a:rPr lang="en-US" sz="2100" dirty="0"/>
              <a:t>The </a:t>
            </a:r>
            <a:r>
              <a:rPr lang="en-US" sz="2100" b="1" dirty="0"/>
              <a:t>difference</a:t>
            </a:r>
            <a:r>
              <a:rPr lang="en-US" sz="2100" dirty="0"/>
              <a:t> between the note’s </a:t>
            </a:r>
            <a:r>
              <a:rPr lang="en-US" sz="2100" b="1" dirty="0"/>
              <a:t>face value</a:t>
            </a:r>
            <a:r>
              <a:rPr lang="en-US" sz="2100" dirty="0"/>
              <a:t> and its </a:t>
            </a:r>
            <a:r>
              <a:rPr lang="en-US" sz="2100" b="1" dirty="0"/>
              <a:t>present value </a:t>
            </a:r>
            <a:r>
              <a:rPr lang="en-US" sz="2100" dirty="0"/>
              <a:t>becomes a </a:t>
            </a:r>
            <a:r>
              <a:rPr lang="en-US" sz="2100" b="1" dirty="0"/>
              <a:t>discount</a:t>
            </a:r>
            <a:r>
              <a:rPr lang="en-US" sz="2100" dirty="0"/>
              <a:t> or </a:t>
            </a:r>
            <a:r>
              <a:rPr lang="en-US" sz="2100" b="1" dirty="0"/>
              <a:t>premium</a:t>
            </a:r>
            <a:r>
              <a:rPr lang="en-US" sz="2100" dirty="0"/>
              <a:t>, which adjusts the amount recorded at issuance.</a:t>
            </a:r>
          </a:p>
          <a:p>
            <a:endParaRPr lang="en-US" sz="600" dirty="0"/>
          </a:p>
          <a:p>
            <a:r>
              <a:rPr lang="en-US" sz="2100" dirty="0"/>
              <a:t>In short:</a:t>
            </a:r>
          </a:p>
          <a:p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i="1" dirty="0"/>
              <a:t>Stated rate determines the cash payments.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i="1" dirty="0"/>
              <a:t>Market rate determines the true interest revenue earned through time.</a:t>
            </a:r>
          </a:p>
        </p:txBody>
      </p:sp>
    </p:spTree>
    <p:extLst>
      <p:ext uri="{BB962C8B-B14F-4D97-AF65-F5344CB8AC3E}">
        <p14:creationId xmlns:p14="http://schemas.microsoft.com/office/powerpoint/2010/main" val="274883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8CC11-B1E1-962B-B71E-3E5982922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856A-064E-1C57-3E8B-0AF5DFFE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789" y="550553"/>
            <a:ext cx="11129513" cy="572417"/>
          </a:xfrm>
        </p:spPr>
        <p:txBody>
          <a:bodyPr>
            <a:normAutofit fontScale="90000"/>
          </a:bodyPr>
          <a:lstStyle/>
          <a:p>
            <a:r>
              <a:rPr lang="en-US" dirty="0"/>
              <a:t>Connecting Rates to Present Value	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D7D982-7B04-212E-4145-A9F0B96215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49702" y="4661527"/>
          <a:ext cx="10515600" cy="1645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711247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184321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79007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If…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Then…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Effect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655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Stated rate &gt; Market rate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Note issued at a </a:t>
                      </a:r>
                      <a:r>
                        <a:rPr lang="en-US" b="1"/>
                        <a:t>premium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Borrower receives </a:t>
                      </a:r>
                      <a:r>
                        <a:rPr lang="en-US" b="1" i="1" dirty="0"/>
                        <a:t>more</a:t>
                      </a:r>
                      <a:r>
                        <a:rPr lang="en-US" b="0" i="1" dirty="0"/>
                        <a:t> cash up front from lender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587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Stated rate &lt; Market rate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Note issued at a </a:t>
                      </a:r>
                      <a:r>
                        <a:rPr lang="en-US" b="1" dirty="0"/>
                        <a:t>discount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Borrower receives </a:t>
                      </a:r>
                      <a:r>
                        <a:rPr lang="en-US" b="1" i="1" dirty="0"/>
                        <a:t>less</a:t>
                      </a:r>
                      <a:r>
                        <a:rPr lang="en-US" i="1" dirty="0"/>
                        <a:t> cash up front from lender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71133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8BD1B04-AFD4-DDAD-A212-D31CE49134F6}"/>
              </a:ext>
            </a:extLst>
          </p:cNvPr>
          <p:cNvSpPr txBox="1"/>
          <p:nvPr/>
        </p:nvSpPr>
        <p:spPr>
          <a:xfrm>
            <a:off x="730370" y="1403209"/>
            <a:ext cx="10069902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/>
              <a:t>If I’m offering you 12% (stated rate) on a note where everyone else is only demanding 10% interest for a similar note, </a:t>
            </a:r>
            <a:r>
              <a:rPr lang="en-US" sz="2100" b="1" i="1" dirty="0"/>
              <a:t>you are thrilled!</a:t>
            </a:r>
            <a:r>
              <a:rPr lang="en-US" sz="2100" dirty="0"/>
              <a:t> So you’re willing </a:t>
            </a:r>
            <a:r>
              <a:rPr lang="en-US" sz="2100"/>
              <a:t>to give me </a:t>
            </a:r>
            <a:r>
              <a:rPr lang="en-US" sz="2100" dirty="0"/>
              <a:t>a bit </a:t>
            </a:r>
            <a:r>
              <a:rPr lang="en-US" sz="2100" b="1" dirty="0"/>
              <a:t>more than face value </a:t>
            </a:r>
            <a:r>
              <a:rPr lang="en-US" sz="2100" dirty="0"/>
              <a:t>up front to lock in that extra bit of return! </a:t>
            </a:r>
          </a:p>
          <a:p>
            <a:r>
              <a:rPr lang="en-US" sz="2100" i="1" dirty="0"/>
              <a:t>	That’s a </a:t>
            </a:r>
            <a:r>
              <a:rPr lang="en-US" sz="2100" b="1" i="1" u="sng" dirty="0"/>
              <a:t>Premium</a:t>
            </a:r>
          </a:p>
          <a:p>
            <a:endParaRPr lang="en-US" sz="2100" dirty="0"/>
          </a:p>
          <a:p>
            <a:r>
              <a:rPr lang="en-US" sz="2100" dirty="0"/>
              <a:t>If instead I’m offering you 8% on a note where everyone else is demanding 10% interest for a similar note, </a:t>
            </a:r>
            <a:r>
              <a:rPr lang="en-US" sz="2100" b="1" i="1" u="sng" dirty="0"/>
              <a:t>you are sad.</a:t>
            </a:r>
            <a:r>
              <a:rPr lang="en-US" sz="2100" dirty="0"/>
              <a:t> You’d only take that deal if you can give me </a:t>
            </a:r>
            <a:r>
              <a:rPr lang="en-US" sz="2100" b="1" dirty="0"/>
              <a:t>less</a:t>
            </a:r>
            <a:r>
              <a:rPr lang="en-US" sz="2100" dirty="0"/>
              <a:t> up front than the note’s face value.	</a:t>
            </a:r>
          </a:p>
          <a:p>
            <a:r>
              <a:rPr lang="en-US" sz="2100" i="1" dirty="0"/>
              <a:t>	That’s a </a:t>
            </a:r>
            <a:r>
              <a:rPr lang="en-US" sz="2100" b="1" i="1" u="sng" dirty="0"/>
              <a:t>Discount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26779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title"/>
          </p:nvPr>
        </p:nvSpPr>
        <p:spPr>
          <a:xfrm>
            <a:off x="843766" y="308259"/>
            <a:ext cx="8893175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Face value, Discount or Premium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EEE741-B92B-4200-8791-662865AEF50A}"/>
              </a:ext>
            </a:extLst>
          </p:cNvPr>
          <p:cNvSpPr txBox="1"/>
          <p:nvPr/>
        </p:nvSpPr>
        <p:spPr>
          <a:xfrm>
            <a:off x="633554" y="1399011"/>
            <a:ext cx="10881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Premiums or Discounts arise from the difference in the </a:t>
            </a:r>
            <a:r>
              <a:rPr lang="en-US" b="1" u="sng" dirty="0">
                <a:solidFill>
                  <a:srgbClr val="0070C0"/>
                </a:solidFill>
              </a:rPr>
              <a:t>stated interest rate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/>
              <a:t>on the note and the </a:t>
            </a:r>
            <a:r>
              <a:rPr lang="en-US" b="1" u="sng" dirty="0">
                <a:solidFill>
                  <a:srgbClr val="FF0000"/>
                </a:solidFill>
              </a:rPr>
              <a:t>market interest rate</a:t>
            </a:r>
            <a:r>
              <a:rPr lang="en-US" b="1" dirty="0"/>
              <a:t>.</a:t>
            </a:r>
          </a:p>
          <a:p>
            <a:r>
              <a:rPr lang="en-US" b="1" dirty="0"/>
              <a:t>They are part of Notes Receivable book value</a:t>
            </a:r>
          </a:p>
          <a:p>
            <a:r>
              <a:rPr lang="en-US" b="1" dirty="0"/>
              <a:t>We tack them onto the Face Value to get the book/carrying value of the note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B3465B-C332-EDDF-F5AF-FEC98393A1A4}"/>
              </a:ext>
            </a:extLst>
          </p:cNvPr>
          <p:cNvGrpSpPr/>
          <p:nvPr/>
        </p:nvGrpSpPr>
        <p:grpSpPr>
          <a:xfrm>
            <a:off x="1291047" y="2583320"/>
            <a:ext cx="1968138" cy="1381257"/>
            <a:chOff x="1291047" y="2583320"/>
            <a:chExt cx="1968138" cy="13812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E116BB8-6728-9438-E500-6C6004D79BFB}"/>
                </a:ext>
              </a:extLst>
            </p:cNvPr>
            <p:cNvCxnSpPr>
              <a:cxnSpLocks/>
            </p:cNvCxnSpPr>
            <p:nvPr/>
          </p:nvCxnSpPr>
          <p:spPr>
            <a:xfrm>
              <a:off x="2462349" y="3246120"/>
              <a:ext cx="0" cy="71845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74A9CB9-9E4D-CC80-F94B-E14330ECD897}"/>
                </a:ext>
              </a:extLst>
            </p:cNvPr>
            <p:cNvCxnSpPr>
              <a:cxnSpLocks/>
            </p:cNvCxnSpPr>
            <p:nvPr/>
          </p:nvCxnSpPr>
          <p:spPr>
            <a:xfrm>
              <a:off x="1567545" y="3246120"/>
              <a:ext cx="16916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9C53A2-07DF-DC9C-B0D0-350420F607D1}"/>
                </a:ext>
              </a:extLst>
            </p:cNvPr>
            <p:cNvSpPr txBox="1"/>
            <p:nvPr/>
          </p:nvSpPr>
          <p:spPr>
            <a:xfrm>
              <a:off x="1796146" y="2583320"/>
              <a:ext cx="13324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Note Receivable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7DA98D-1A7A-0404-ACE3-585418FB7716}"/>
                </a:ext>
              </a:extLst>
            </p:cNvPr>
            <p:cNvSpPr txBox="1"/>
            <p:nvPr/>
          </p:nvSpPr>
          <p:spPr>
            <a:xfrm>
              <a:off x="1291047" y="3262590"/>
              <a:ext cx="13324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$50,000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4974C0C-99C6-3D5E-8C4C-DB2F43F2AF0A}"/>
              </a:ext>
            </a:extLst>
          </p:cNvPr>
          <p:cNvSpPr txBox="1"/>
          <p:nvPr/>
        </p:nvSpPr>
        <p:spPr>
          <a:xfrm>
            <a:off x="1291047" y="5553096"/>
            <a:ext cx="1936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Carrying Value = $50,000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86ACAA-CC8C-0E96-BA44-BF710F6BAAAE}"/>
              </a:ext>
            </a:extLst>
          </p:cNvPr>
          <p:cNvGrpSpPr/>
          <p:nvPr/>
        </p:nvGrpSpPr>
        <p:grpSpPr>
          <a:xfrm>
            <a:off x="4613373" y="2583320"/>
            <a:ext cx="1968138" cy="1381257"/>
            <a:chOff x="1291047" y="2583320"/>
            <a:chExt cx="1968138" cy="138125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37F17D3-5A3B-0955-CA5E-CCADFFBCBF91}"/>
                </a:ext>
              </a:extLst>
            </p:cNvPr>
            <p:cNvCxnSpPr>
              <a:cxnSpLocks/>
            </p:cNvCxnSpPr>
            <p:nvPr/>
          </p:nvCxnSpPr>
          <p:spPr>
            <a:xfrm>
              <a:off x="2462349" y="3246120"/>
              <a:ext cx="0" cy="71845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1668D56-C122-D34D-2F03-AA77913FB17D}"/>
                </a:ext>
              </a:extLst>
            </p:cNvPr>
            <p:cNvCxnSpPr>
              <a:cxnSpLocks/>
            </p:cNvCxnSpPr>
            <p:nvPr/>
          </p:nvCxnSpPr>
          <p:spPr>
            <a:xfrm>
              <a:off x="1567545" y="3246120"/>
              <a:ext cx="16916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CCB6DA-E645-0218-86C7-B396E05296E1}"/>
                </a:ext>
              </a:extLst>
            </p:cNvPr>
            <p:cNvSpPr txBox="1"/>
            <p:nvPr/>
          </p:nvSpPr>
          <p:spPr>
            <a:xfrm>
              <a:off x="1796146" y="2583320"/>
              <a:ext cx="13324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Note Receivable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64C1DB-962E-EA94-1C06-4F8FD508FD82}"/>
                </a:ext>
              </a:extLst>
            </p:cNvPr>
            <p:cNvSpPr txBox="1"/>
            <p:nvPr/>
          </p:nvSpPr>
          <p:spPr>
            <a:xfrm>
              <a:off x="1291047" y="3262590"/>
              <a:ext cx="13324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$50,000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9D5096C-5D63-E8E3-5067-D992E3661777}"/>
              </a:ext>
            </a:extLst>
          </p:cNvPr>
          <p:cNvGrpSpPr/>
          <p:nvPr/>
        </p:nvGrpSpPr>
        <p:grpSpPr>
          <a:xfrm>
            <a:off x="4824556" y="4014545"/>
            <a:ext cx="2022562" cy="1381257"/>
            <a:chOff x="1567545" y="2583320"/>
            <a:chExt cx="2022562" cy="138125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0D34EFF-1257-9AF4-40E9-12902370C86D}"/>
                </a:ext>
              </a:extLst>
            </p:cNvPr>
            <p:cNvCxnSpPr>
              <a:cxnSpLocks/>
            </p:cNvCxnSpPr>
            <p:nvPr/>
          </p:nvCxnSpPr>
          <p:spPr>
            <a:xfrm>
              <a:off x="2462349" y="3246120"/>
              <a:ext cx="0" cy="71845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326F362-20E3-B041-A261-DE575BC4FD35}"/>
                </a:ext>
              </a:extLst>
            </p:cNvPr>
            <p:cNvCxnSpPr>
              <a:cxnSpLocks/>
            </p:cNvCxnSpPr>
            <p:nvPr/>
          </p:nvCxnSpPr>
          <p:spPr>
            <a:xfrm>
              <a:off x="1567545" y="3246120"/>
              <a:ext cx="16916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2289F4-F7B3-C45F-80DA-1BC4845C4C47}"/>
                </a:ext>
              </a:extLst>
            </p:cNvPr>
            <p:cNvSpPr txBox="1"/>
            <p:nvPr/>
          </p:nvSpPr>
          <p:spPr>
            <a:xfrm>
              <a:off x="1796146" y="2583320"/>
              <a:ext cx="13324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Discount on N/R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648CD86-425D-231C-33EA-ECEFDE602DC2}"/>
                </a:ext>
              </a:extLst>
            </p:cNvPr>
            <p:cNvSpPr txBox="1"/>
            <p:nvPr/>
          </p:nvSpPr>
          <p:spPr>
            <a:xfrm>
              <a:off x="2257698" y="3262590"/>
              <a:ext cx="13324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$5,000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E1C3C86-5AD1-0B60-B6BB-B9E92AE839ED}"/>
              </a:ext>
            </a:extLst>
          </p:cNvPr>
          <p:cNvSpPr txBox="1"/>
          <p:nvPr/>
        </p:nvSpPr>
        <p:spPr>
          <a:xfrm>
            <a:off x="4767951" y="5553095"/>
            <a:ext cx="1804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Carrying Value = $45,000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50CAE55-BE9C-0EE4-A9E1-BBA2D95F1A97}"/>
              </a:ext>
            </a:extLst>
          </p:cNvPr>
          <p:cNvGrpSpPr/>
          <p:nvPr/>
        </p:nvGrpSpPr>
        <p:grpSpPr>
          <a:xfrm>
            <a:off x="8051077" y="2582900"/>
            <a:ext cx="1968138" cy="1381257"/>
            <a:chOff x="1291047" y="2583320"/>
            <a:chExt cx="1968138" cy="138125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79E785B-7EFA-4255-2734-4BD6228A954C}"/>
                </a:ext>
              </a:extLst>
            </p:cNvPr>
            <p:cNvCxnSpPr>
              <a:cxnSpLocks/>
            </p:cNvCxnSpPr>
            <p:nvPr/>
          </p:nvCxnSpPr>
          <p:spPr>
            <a:xfrm>
              <a:off x="2462349" y="3246120"/>
              <a:ext cx="0" cy="71845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4D68C9C-CF81-26A6-8DC3-3939D8C22707}"/>
                </a:ext>
              </a:extLst>
            </p:cNvPr>
            <p:cNvCxnSpPr>
              <a:cxnSpLocks/>
            </p:cNvCxnSpPr>
            <p:nvPr/>
          </p:nvCxnSpPr>
          <p:spPr>
            <a:xfrm>
              <a:off x="1567545" y="3246120"/>
              <a:ext cx="16916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E7E4990-CA59-2318-53C9-DD7D569C2132}"/>
                </a:ext>
              </a:extLst>
            </p:cNvPr>
            <p:cNvSpPr txBox="1"/>
            <p:nvPr/>
          </p:nvSpPr>
          <p:spPr>
            <a:xfrm>
              <a:off x="1796146" y="2583320"/>
              <a:ext cx="13324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Note Receivable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3E59A21-B485-52BA-E4CB-6AE730D78606}"/>
                </a:ext>
              </a:extLst>
            </p:cNvPr>
            <p:cNvSpPr txBox="1"/>
            <p:nvPr/>
          </p:nvSpPr>
          <p:spPr>
            <a:xfrm>
              <a:off x="1291047" y="3262590"/>
              <a:ext cx="13324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$50,000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AFA7BC4-9992-A1C3-6794-D22A44EE6610}"/>
              </a:ext>
            </a:extLst>
          </p:cNvPr>
          <p:cNvGrpSpPr/>
          <p:nvPr/>
        </p:nvGrpSpPr>
        <p:grpSpPr>
          <a:xfrm>
            <a:off x="8042369" y="4014125"/>
            <a:ext cx="1911531" cy="1381257"/>
            <a:chOff x="1347654" y="2583320"/>
            <a:chExt cx="1911531" cy="138125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23DB225-1CD9-BEA3-E39D-C4EFD44F2CD8}"/>
                </a:ext>
              </a:extLst>
            </p:cNvPr>
            <p:cNvCxnSpPr>
              <a:cxnSpLocks/>
            </p:cNvCxnSpPr>
            <p:nvPr/>
          </p:nvCxnSpPr>
          <p:spPr>
            <a:xfrm>
              <a:off x="2462349" y="3246120"/>
              <a:ext cx="0" cy="71845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0207CDF-827A-E345-4A72-CC2805E34830}"/>
                </a:ext>
              </a:extLst>
            </p:cNvPr>
            <p:cNvCxnSpPr>
              <a:cxnSpLocks/>
            </p:cNvCxnSpPr>
            <p:nvPr/>
          </p:nvCxnSpPr>
          <p:spPr>
            <a:xfrm>
              <a:off x="1567545" y="3246120"/>
              <a:ext cx="16916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74656E7-C465-FE24-F590-80525553E915}"/>
                </a:ext>
              </a:extLst>
            </p:cNvPr>
            <p:cNvSpPr txBox="1"/>
            <p:nvPr/>
          </p:nvSpPr>
          <p:spPr>
            <a:xfrm>
              <a:off x="1796146" y="2583320"/>
              <a:ext cx="13324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Premium on N/R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2595F52-3C72-F811-F965-9DE367D06E9E}"/>
                </a:ext>
              </a:extLst>
            </p:cNvPr>
            <p:cNvSpPr txBox="1"/>
            <p:nvPr/>
          </p:nvSpPr>
          <p:spPr>
            <a:xfrm>
              <a:off x="1347654" y="3296534"/>
              <a:ext cx="13324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$5,000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08FC52C-7160-4AF7-AF97-34BCCCDCF4C1}"/>
              </a:ext>
            </a:extLst>
          </p:cNvPr>
          <p:cNvSpPr txBox="1"/>
          <p:nvPr/>
        </p:nvSpPr>
        <p:spPr>
          <a:xfrm>
            <a:off x="8278589" y="5553096"/>
            <a:ext cx="1789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Carrying Value = $55,000</a:t>
            </a:r>
          </a:p>
        </p:txBody>
      </p:sp>
    </p:spTree>
    <p:extLst>
      <p:ext uri="{BB962C8B-B14F-4D97-AF65-F5344CB8AC3E}">
        <p14:creationId xmlns:p14="http://schemas.microsoft.com/office/powerpoint/2010/main" val="380550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1" grpId="0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title"/>
          </p:nvPr>
        </p:nvSpPr>
        <p:spPr>
          <a:xfrm>
            <a:off x="843766" y="308259"/>
            <a:ext cx="8893175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Face value, premium or discount?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19A272B-07E1-4772-8488-2161CACF7182}"/>
              </a:ext>
            </a:extLst>
          </p:cNvPr>
          <p:cNvSpPr/>
          <p:nvPr/>
        </p:nvSpPr>
        <p:spPr>
          <a:xfrm>
            <a:off x="850115" y="1738103"/>
            <a:ext cx="3274122" cy="972379"/>
          </a:xfrm>
          <a:custGeom>
            <a:avLst/>
            <a:gdLst>
              <a:gd name="connsiteX0" fmla="*/ 0 w 2503437"/>
              <a:gd name="connsiteY0" fmla="*/ 0 h 1001375"/>
              <a:gd name="connsiteX1" fmla="*/ 2503437 w 2503437"/>
              <a:gd name="connsiteY1" fmla="*/ 0 h 1001375"/>
              <a:gd name="connsiteX2" fmla="*/ 2503437 w 2503437"/>
              <a:gd name="connsiteY2" fmla="*/ 1001375 h 1001375"/>
              <a:gd name="connsiteX3" fmla="*/ 0 w 2503437"/>
              <a:gd name="connsiteY3" fmla="*/ 1001375 h 1001375"/>
              <a:gd name="connsiteX4" fmla="*/ 0 w 2503437"/>
              <a:gd name="connsiteY4" fmla="*/ 0 h 100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3437" h="1001375">
                <a:moveTo>
                  <a:pt x="0" y="0"/>
                </a:moveTo>
                <a:lnTo>
                  <a:pt x="2503437" y="0"/>
                </a:lnTo>
                <a:lnTo>
                  <a:pt x="2503437" y="1001375"/>
                </a:lnTo>
                <a:lnTo>
                  <a:pt x="0" y="1001375"/>
                </a:lnTo>
                <a:lnTo>
                  <a:pt x="0" y="0"/>
                </a:lnTo>
                <a:close/>
              </a:path>
            </a:pathLst>
          </a:custGeom>
          <a:solidFill>
            <a:srgbClr val="CFB87C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70688" tIns="97536" rIns="170688" bIns="97536" spcCol="1270" anchor="ctr"/>
          <a:lstStyle/>
          <a:p>
            <a:pPr algn="ctr"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If</a:t>
            </a:r>
          </a:p>
          <a:p>
            <a:pPr algn="ctr"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Stated Rate = Mkt Rate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6641242-695E-466A-BEC4-CBE11D1016F5}"/>
              </a:ext>
            </a:extLst>
          </p:cNvPr>
          <p:cNvSpPr/>
          <p:nvPr/>
        </p:nvSpPr>
        <p:spPr>
          <a:xfrm>
            <a:off x="843766" y="2710482"/>
            <a:ext cx="3291496" cy="2737417"/>
          </a:xfrm>
          <a:custGeom>
            <a:avLst/>
            <a:gdLst>
              <a:gd name="connsiteX0" fmla="*/ 0 w 2515554"/>
              <a:gd name="connsiteY0" fmla="*/ 0 h 2766960"/>
              <a:gd name="connsiteX1" fmla="*/ 2515554 w 2515554"/>
              <a:gd name="connsiteY1" fmla="*/ 0 h 2766960"/>
              <a:gd name="connsiteX2" fmla="*/ 2515554 w 2515554"/>
              <a:gd name="connsiteY2" fmla="*/ 2766960 h 2766960"/>
              <a:gd name="connsiteX3" fmla="*/ 0 w 2515554"/>
              <a:gd name="connsiteY3" fmla="*/ 2766960 h 2766960"/>
              <a:gd name="connsiteX4" fmla="*/ 0 w 2515554"/>
              <a:gd name="connsiteY4" fmla="*/ 0 h 2766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5554" h="2766960">
                <a:moveTo>
                  <a:pt x="0" y="0"/>
                </a:moveTo>
                <a:lnTo>
                  <a:pt x="2515554" y="0"/>
                </a:lnTo>
                <a:lnTo>
                  <a:pt x="2515554" y="2766960"/>
                </a:lnTo>
                <a:lnTo>
                  <a:pt x="0" y="276696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96012" tIns="96012" rIns="128016" bIns="144018" spcCol="1270"/>
          <a:lstStyle/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dirty="0">
                <a:cs typeface="Times New Roman" panose="02020603050405020304" pitchFamily="18" charset="0"/>
              </a:rPr>
              <a:t>N/R issued at Face Value</a:t>
            </a:r>
          </a:p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dirty="0">
                <a:cs typeface="Times New Roman" panose="02020603050405020304" pitchFamily="18" charset="0"/>
              </a:rPr>
              <a:t>Carrying value = Face value</a:t>
            </a:r>
          </a:p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dirty="0">
                <a:cs typeface="Times New Roman" panose="02020603050405020304" pitchFamily="18" charset="0"/>
              </a:rPr>
              <a:t>Cash = Face Value</a:t>
            </a:r>
          </a:p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dirty="0">
                <a:cs typeface="Times New Roman" panose="02020603050405020304" pitchFamily="18" charset="0"/>
              </a:rPr>
              <a:t>No discount or premium</a:t>
            </a:r>
          </a:p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dirty="0">
                <a:cs typeface="Times New Roman" panose="02020603050405020304" pitchFamily="18" charset="0"/>
              </a:rPr>
              <a:t>Interest Revenue = Cash Received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918ECB8-2328-4290-A67A-1068D40FF6F2}"/>
              </a:ext>
            </a:extLst>
          </p:cNvPr>
          <p:cNvSpPr/>
          <p:nvPr/>
        </p:nvSpPr>
        <p:spPr>
          <a:xfrm>
            <a:off x="4415608" y="1738103"/>
            <a:ext cx="3332037" cy="972379"/>
          </a:xfrm>
          <a:custGeom>
            <a:avLst/>
            <a:gdLst>
              <a:gd name="connsiteX0" fmla="*/ 0 w 2503437"/>
              <a:gd name="connsiteY0" fmla="*/ 0 h 1001375"/>
              <a:gd name="connsiteX1" fmla="*/ 2503437 w 2503437"/>
              <a:gd name="connsiteY1" fmla="*/ 0 h 1001375"/>
              <a:gd name="connsiteX2" fmla="*/ 2503437 w 2503437"/>
              <a:gd name="connsiteY2" fmla="*/ 1001375 h 1001375"/>
              <a:gd name="connsiteX3" fmla="*/ 0 w 2503437"/>
              <a:gd name="connsiteY3" fmla="*/ 1001375 h 1001375"/>
              <a:gd name="connsiteX4" fmla="*/ 0 w 2503437"/>
              <a:gd name="connsiteY4" fmla="*/ 0 h 100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3437" h="1001375">
                <a:moveTo>
                  <a:pt x="0" y="0"/>
                </a:moveTo>
                <a:lnTo>
                  <a:pt x="2503437" y="0"/>
                </a:lnTo>
                <a:lnTo>
                  <a:pt x="2503437" y="1001375"/>
                </a:lnTo>
                <a:lnTo>
                  <a:pt x="0" y="1001375"/>
                </a:lnTo>
                <a:lnTo>
                  <a:pt x="0" y="0"/>
                </a:lnTo>
                <a:close/>
              </a:path>
            </a:pathLst>
          </a:custGeom>
          <a:solidFill>
            <a:srgbClr val="CFB87C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70688" tIns="97536" rIns="170688" bIns="97536" spcCol="1270" anchor="ctr"/>
          <a:lstStyle/>
          <a:p>
            <a:pPr algn="ctr"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If</a:t>
            </a:r>
          </a:p>
          <a:p>
            <a:pPr algn="ctr"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Stated Rate &lt; Mkt Rate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BBF6013-F13E-47CB-B5CE-A075FDAC2AA0}"/>
              </a:ext>
            </a:extLst>
          </p:cNvPr>
          <p:cNvSpPr/>
          <p:nvPr/>
        </p:nvSpPr>
        <p:spPr>
          <a:xfrm>
            <a:off x="4415608" y="2710482"/>
            <a:ext cx="3332037" cy="2737417"/>
          </a:xfrm>
          <a:custGeom>
            <a:avLst/>
            <a:gdLst>
              <a:gd name="connsiteX0" fmla="*/ 0 w 2503437"/>
              <a:gd name="connsiteY0" fmla="*/ 0 h 2766960"/>
              <a:gd name="connsiteX1" fmla="*/ 2503437 w 2503437"/>
              <a:gd name="connsiteY1" fmla="*/ 0 h 2766960"/>
              <a:gd name="connsiteX2" fmla="*/ 2503437 w 2503437"/>
              <a:gd name="connsiteY2" fmla="*/ 2766960 h 2766960"/>
              <a:gd name="connsiteX3" fmla="*/ 0 w 2503437"/>
              <a:gd name="connsiteY3" fmla="*/ 2766960 h 2766960"/>
              <a:gd name="connsiteX4" fmla="*/ 0 w 2503437"/>
              <a:gd name="connsiteY4" fmla="*/ 0 h 2766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3437" h="2766960">
                <a:moveTo>
                  <a:pt x="0" y="0"/>
                </a:moveTo>
                <a:lnTo>
                  <a:pt x="2503437" y="0"/>
                </a:lnTo>
                <a:lnTo>
                  <a:pt x="2503437" y="2766960"/>
                </a:lnTo>
                <a:lnTo>
                  <a:pt x="0" y="276696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96012" tIns="96012" rIns="128016" bIns="144018" spcCol="1270"/>
          <a:lstStyle/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NR issued at a Discount</a:t>
            </a:r>
            <a:endParaRPr lang="en-US" dirty="0">
              <a:cs typeface="Times New Roman" panose="02020603050405020304" pitchFamily="18" charset="0"/>
            </a:endParaRPr>
          </a:p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dirty="0">
                <a:cs typeface="Times New Roman" panose="02020603050405020304" pitchFamily="18" charset="0"/>
              </a:rPr>
              <a:t>Carrying value </a:t>
            </a:r>
            <a:r>
              <a:rPr lang="en-US" altLang="en-US" dirty="0">
                <a:cs typeface="Times New Roman" panose="02020603050405020304" pitchFamily="18" charset="0"/>
              </a:rPr>
              <a:t>&lt; Face value </a:t>
            </a:r>
          </a:p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Cash &lt; Face Value</a:t>
            </a:r>
          </a:p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Discount = contra-asset (</a:t>
            </a:r>
            <a:r>
              <a:rPr lang="en-US" altLang="en-US" dirty="0" err="1">
                <a:cs typeface="Times New Roman" panose="02020603050405020304" pitchFamily="18" charset="0"/>
              </a:rPr>
              <a:t>cr</a:t>
            </a:r>
            <a:r>
              <a:rPr lang="en-US" altLang="en-US" dirty="0">
                <a:cs typeface="Times New Roman" panose="02020603050405020304" pitchFamily="18" charset="0"/>
              </a:rPr>
              <a:t>)</a:t>
            </a:r>
          </a:p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dirty="0">
                <a:cs typeface="Times New Roman" panose="02020603050405020304" pitchFamily="18" charset="0"/>
              </a:rPr>
              <a:t>Interest Revenue = Cash Interest + Amortization of the Discount (ratable consumption) 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1E789CD-604A-4ECE-A8BE-75053AE665C2}"/>
              </a:ext>
            </a:extLst>
          </p:cNvPr>
          <p:cNvSpPr/>
          <p:nvPr/>
        </p:nvSpPr>
        <p:spPr>
          <a:xfrm>
            <a:off x="7971774" y="1738103"/>
            <a:ext cx="3366786" cy="972379"/>
          </a:xfrm>
          <a:custGeom>
            <a:avLst/>
            <a:gdLst>
              <a:gd name="connsiteX0" fmla="*/ 0 w 2503437"/>
              <a:gd name="connsiteY0" fmla="*/ 0 h 1001375"/>
              <a:gd name="connsiteX1" fmla="*/ 2503437 w 2503437"/>
              <a:gd name="connsiteY1" fmla="*/ 0 h 1001375"/>
              <a:gd name="connsiteX2" fmla="*/ 2503437 w 2503437"/>
              <a:gd name="connsiteY2" fmla="*/ 1001375 h 1001375"/>
              <a:gd name="connsiteX3" fmla="*/ 0 w 2503437"/>
              <a:gd name="connsiteY3" fmla="*/ 1001375 h 1001375"/>
              <a:gd name="connsiteX4" fmla="*/ 0 w 2503437"/>
              <a:gd name="connsiteY4" fmla="*/ 0 h 100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3437" h="1001375">
                <a:moveTo>
                  <a:pt x="0" y="0"/>
                </a:moveTo>
                <a:lnTo>
                  <a:pt x="2503437" y="0"/>
                </a:lnTo>
                <a:lnTo>
                  <a:pt x="2503437" y="1001375"/>
                </a:lnTo>
                <a:lnTo>
                  <a:pt x="0" y="1001375"/>
                </a:lnTo>
                <a:lnTo>
                  <a:pt x="0" y="0"/>
                </a:lnTo>
                <a:close/>
              </a:path>
            </a:pathLst>
          </a:custGeom>
          <a:solidFill>
            <a:srgbClr val="CFB87C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70688" tIns="97536" rIns="170688" bIns="97536" spcCol="1270" anchor="ctr"/>
          <a:lstStyle/>
          <a:p>
            <a:pPr algn="ctr"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If</a:t>
            </a:r>
          </a:p>
          <a:p>
            <a:pPr algn="ctr"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Stated Rate &gt; Mkt Rate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64C8443-5F93-499D-AA3C-ADA88C397628}"/>
              </a:ext>
            </a:extLst>
          </p:cNvPr>
          <p:cNvSpPr/>
          <p:nvPr/>
        </p:nvSpPr>
        <p:spPr>
          <a:xfrm>
            <a:off x="7971774" y="2710482"/>
            <a:ext cx="3366786" cy="2737417"/>
          </a:xfrm>
          <a:custGeom>
            <a:avLst/>
            <a:gdLst>
              <a:gd name="connsiteX0" fmla="*/ 0 w 2503437"/>
              <a:gd name="connsiteY0" fmla="*/ 0 h 2766960"/>
              <a:gd name="connsiteX1" fmla="*/ 2503437 w 2503437"/>
              <a:gd name="connsiteY1" fmla="*/ 0 h 2766960"/>
              <a:gd name="connsiteX2" fmla="*/ 2503437 w 2503437"/>
              <a:gd name="connsiteY2" fmla="*/ 2766960 h 2766960"/>
              <a:gd name="connsiteX3" fmla="*/ 0 w 2503437"/>
              <a:gd name="connsiteY3" fmla="*/ 2766960 h 2766960"/>
              <a:gd name="connsiteX4" fmla="*/ 0 w 2503437"/>
              <a:gd name="connsiteY4" fmla="*/ 0 h 2766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3437" h="2766960">
                <a:moveTo>
                  <a:pt x="0" y="0"/>
                </a:moveTo>
                <a:lnTo>
                  <a:pt x="2503437" y="0"/>
                </a:lnTo>
                <a:lnTo>
                  <a:pt x="2503437" y="2766960"/>
                </a:lnTo>
                <a:lnTo>
                  <a:pt x="0" y="276696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96012" tIns="96012" rIns="128016" bIns="144018" spcCol="1270"/>
          <a:lstStyle/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NR issued at a Premium</a:t>
            </a:r>
            <a:endParaRPr lang="en-US" dirty="0">
              <a:cs typeface="Times New Roman" panose="02020603050405020304" pitchFamily="18" charset="0"/>
            </a:endParaRPr>
          </a:p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Carrying value &gt; Face value</a:t>
            </a:r>
          </a:p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Cash &gt; Face Value</a:t>
            </a:r>
          </a:p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dirty="0">
                <a:cs typeface="Times New Roman" panose="02020603050405020304" pitchFamily="18" charset="0"/>
              </a:rPr>
              <a:t>Premium = asset (</a:t>
            </a:r>
            <a:r>
              <a:rPr lang="en-US" dirty="0" err="1">
                <a:cs typeface="Times New Roman" panose="02020603050405020304" pitchFamily="18" charset="0"/>
              </a:rPr>
              <a:t>dr</a:t>
            </a:r>
            <a:r>
              <a:rPr lang="en-US" dirty="0">
                <a:cs typeface="Times New Roman" panose="02020603050405020304" pitchFamily="18" charset="0"/>
              </a:rPr>
              <a:t>)</a:t>
            </a:r>
          </a:p>
          <a:p>
            <a:pPr marL="171450" lvl="1" indent="-171450" defTabSz="800100">
              <a:spcAft>
                <a:spcPts val="600"/>
              </a:spcAft>
              <a:buFontTx/>
              <a:buChar char="••"/>
              <a:defRPr/>
            </a:pPr>
            <a:r>
              <a:rPr lang="en-US" dirty="0">
                <a:cs typeface="Times New Roman" panose="02020603050405020304" pitchFamily="18" charset="0"/>
              </a:rPr>
              <a:t>Interest Revenue = Cash Interest - Amortization of the Premium (ratable consumption)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EEE741-B92B-4200-8791-662865AEF50A}"/>
              </a:ext>
            </a:extLst>
          </p:cNvPr>
          <p:cNvSpPr txBox="1"/>
          <p:nvPr/>
        </p:nvSpPr>
        <p:spPr>
          <a:xfrm>
            <a:off x="1186990" y="5892337"/>
            <a:ext cx="10174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Premium or Discounts are part of Notes Receivable book value (they adjust the Note Receivable account to show the Carrying Amount, or BV)</a:t>
            </a:r>
          </a:p>
        </p:txBody>
      </p:sp>
    </p:spTree>
    <p:extLst>
      <p:ext uri="{BB962C8B-B14F-4D97-AF65-F5344CB8AC3E}">
        <p14:creationId xmlns:p14="http://schemas.microsoft.com/office/powerpoint/2010/main" val="412553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471C-6A9A-4B73-A284-C6E95ADB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Main Rules for N/R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58553-DDBB-4D2F-A469-0D0B56022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7"/>
            <a:ext cx="10761617" cy="4623811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Book value or Carrying Value =  Present value of future cash flows.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Interest revenue = book value X market rate (i.e. effective rate)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Coupon payment = face value X coupon rate (i.e. stated rate)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Difference between interest revenue and coupon payment adjusts the receivable</a:t>
            </a:r>
          </a:p>
          <a:p>
            <a:pPr lvl="1"/>
            <a:r>
              <a:rPr lang="en-US" dirty="0"/>
              <a:t>Discount or premium accounts net with notes receivable to show carry amount</a:t>
            </a:r>
          </a:p>
          <a:p>
            <a:pPr lvl="1"/>
            <a:r>
              <a:rPr lang="en-US" dirty="0"/>
              <a:t>This is the “amortization” of the discount or premium step.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The amortization is bringing the carrying value </a:t>
            </a:r>
            <a:r>
              <a:rPr lang="en-US" b="1" i="1" u="sng" dirty="0">
                <a:solidFill>
                  <a:srgbClr val="FF0000"/>
                </a:solidFill>
              </a:rPr>
              <a:t>closer </a:t>
            </a:r>
            <a:r>
              <a:rPr lang="en-US" dirty="0">
                <a:solidFill>
                  <a:srgbClr val="FF0000"/>
                </a:solidFill>
              </a:rPr>
              <a:t>to the face value over time</a:t>
            </a:r>
          </a:p>
          <a:p>
            <a:pPr lvl="3"/>
            <a:r>
              <a:rPr lang="en-US" dirty="0"/>
              <a:t>Amortization of discount </a:t>
            </a:r>
            <a:r>
              <a:rPr lang="en-US" b="1" i="1" u="sng" dirty="0"/>
              <a:t>increases </a:t>
            </a:r>
            <a:r>
              <a:rPr lang="en-US" dirty="0"/>
              <a:t>the carrying value over time</a:t>
            </a:r>
          </a:p>
          <a:p>
            <a:pPr lvl="3"/>
            <a:r>
              <a:rPr lang="en-US" dirty="0"/>
              <a:t>Amortization of a premium </a:t>
            </a:r>
            <a:r>
              <a:rPr lang="en-US" b="1" i="1" u="sng" dirty="0"/>
              <a:t>decreases </a:t>
            </a:r>
            <a:r>
              <a:rPr lang="en-US" dirty="0"/>
              <a:t>the carrying value over time</a:t>
            </a:r>
          </a:p>
        </p:txBody>
      </p:sp>
    </p:spTree>
    <p:extLst>
      <p:ext uri="{BB962C8B-B14F-4D97-AF65-F5344CB8AC3E}">
        <p14:creationId xmlns:p14="http://schemas.microsoft.com/office/powerpoint/2010/main" val="303446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00149-EF0F-431D-A7C8-ABB9832C9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Notes Receivable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D188AE-A03D-4D7C-9894-E56CEEE9BA2C}"/>
              </a:ext>
            </a:extLst>
          </p:cNvPr>
          <p:cNvCxnSpPr>
            <a:cxnSpLocks/>
          </p:cNvCxnSpPr>
          <p:nvPr/>
        </p:nvCxnSpPr>
        <p:spPr>
          <a:xfrm>
            <a:off x="1626229" y="3065015"/>
            <a:ext cx="9029700" cy="0"/>
          </a:xfrm>
          <a:prstGeom prst="line">
            <a:avLst/>
          </a:prstGeom>
          <a:noFill/>
          <a:ln w="38100" cap="rnd" cmpd="sng" algn="ctr">
            <a:solidFill>
              <a:srgbClr val="CFB87C"/>
            </a:solidFill>
            <a:prstDash val="solid"/>
            <a:miter lim="800000"/>
          </a:ln>
          <a:effectLst/>
        </p:spPr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C593374C-6778-435E-9691-C5B15AAF1CA1}"/>
              </a:ext>
            </a:extLst>
          </p:cNvPr>
          <p:cNvGrpSpPr/>
          <p:nvPr/>
        </p:nvGrpSpPr>
        <p:grpSpPr>
          <a:xfrm>
            <a:off x="2562565" y="1912202"/>
            <a:ext cx="714081" cy="1250376"/>
            <a:chOff x="2349500" y="2276187"/>
            <a:chExt cx="714081" cy="1250376"/>
          </a:xfrm>
        </p:grpSpPr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72F686EE-8C63-4901-8D4A-30A742A684C8}"/>
                </a:ext>
              </a:extLst>
            </p:cNvPr>
            <p:cNvSpPr/>
            <p:nvPr/>
          </p:nvSpPr>
          <p:spPr>
            <a:xfrm rot="5400000">
              <a:off x="2496990" y="2290051"/>
              <a:ext cx="572075" cy="561106"/>
            </a:xfrm>
            <a:prstGeom prst="triangle">
              <a:avLst/>
            </a:prstGeom>
            <a:solidFill>
              <a:srgbClr val="CFB87C"/>
            </a:solidFill>
            <a:ln w="12700" cap="flat" cmpd="sng" algn="ctr">
              <a:solidFill>
                <a:srgbClr val="CFB87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107161-8D04-4A7E-9028-640424B71E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1386" y="2276187"/>
              <a:ext cx="0" cy="1124674"/>
            </a:xfrm>
            <a:prstGeom prst="line">
              <a:avLst/>
            </a:prstGeom>
            <a:noFill/>
            <a:ln w="107950" cap="flat" cmpd="sng" algn="ctr">
              <a:solidFill>
                <a:srgbClr val="565A5C"/>
              </a:solidFill>
              <a:prstDash val="solid"/>
              <a:miter lim="800000"/>
            </a:ln>
            <a:effectLst/>
          </p:spPr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E72499D-0565-444D-8D14-7330DA41B612}"/>
                </a:ext>
              </a:extLst>
            </p:cNvPr>
            <p:cNvSpPr/>
            <p:nvPr/>
          </p:nvSpPr>
          <p:spPr>
            <a:xfrm>
              <a:off x="2349500" y="3329139"/>
              <a:ext cx="197424" cy="197424"/>
            </a:xfrm>
            <a:prstGeom prst="ellipse">
              <a:avLst/>
            </a:prstGeom>
            <a:solidFill>
              <a:srgbClr val="CFB87C"/>
            </a:solidFill>
            <a:ln w="12700" cap="flat" cmpd="sng" algn="ctr">
              <a:solidFill>
                <a:srgbClr val="CFB87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E37493A-BE06-4CDA-978E-40407A6FB152}"/>
              </a:ext>
            </a:extLst>
          </p:cNvPr>
          <p:cNvGrpSpPr/>
          <p:nvPr/>
        </p:nvGrpSpPr>
        <p:grpSpPr>
          <a:xfrm>
            <a:off x="5998205" y="1912202"/>
            <a:ext cx="714081" cy="1250376"/>
            <a:chOff x="2349500" y="2276187"/>
            <a:chExt cx="714081" cy="1250376"/>
          </a:xfrm>
        </p:grpSpPr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E3AAE8B2-DA77-45EA-83EF-6BB7FCE79963}"/>
                </a:ext>
              </a:extLst>
            </p:cNvPr>
            <p:cNvSpPr/>
            <p:nvPr/>
          </p:nvSpPr>
          <p:spPr>
            <a:xfrm rot="5400000">
              <a:off x="2496990" y="2290051"/>
              <a:ext cx="572075" cy="561106"/>
            </a:xfrm>
            <a:prstGeom prst="triangle">
              <a:avLst/>
            </a:prstGeom>
            <a:solidFill>
              <a:srgbClr val="CFB87C"/>
            </a:solidFill>
            <a:ln w="12700" cap="flat" cmpd="sng" algn="ctr">
              <a:solidFill>
                <a:srgbClr val="CFB87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8DD5696-8002-425C-A41C-4821FC244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1386" y="2276187"/>
              <a:ext cx="0" cy="1124674"/>
            </a:xfrm>
            <a:prstGeom prst="line">
              <a:avLst/>
            </a:prstGeom>
            <a:noFill/>
            <a:ln w="107950" cap="flat" cmpd="sng" algn="ctr">
              <a:solidFill>
                <a:srgbClr val="565A5C"/>
              </a:solidFill>
              <a:prstDash val="solid"/>
              <a:miter lim="800000"/>
            </a:ln>
            <a:effectLst/>
          </p:spPr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605573D-F114-4CFC-86AE-9AD623D2A8CA}"/>
                </a:ext>
              </a:extLst>
            </p:cNvPr>
            <p:cNvSpPr/>
            <p:nvPr/>
          </p:nvSpPr>
          <p:spPr>
            <a:xfrm>
              <a:off x="2349500" y="3329139"/>
              <a:ext cx="197424" cy="197424"/>
            </a:xfrm>
            <a:prstGeom prst="ellipse">
              <a:avLst/>
            </a:prstGeom>
            <a:solidFill>
              <a:srgbClr val="CFB87C"/>
            </a:solidFill>
            <a:ln w="12700" cap="flat" cmpd="sng" algn="ctr">
              <a:solidFill>
                <a:srgbClr val="CFB87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B6274C7-61E9-4FAC-9BF3-14ECDAD3A6B7}"/>
              </a:ext>
            </a:extLst>
          </p:cNvPr>
          <p:cNvGrpSpPr/>
          <p:nvPr/>
        </p:nvGrpSpPr>
        <p:grpSpPr>
          <a:xfrm>
            <a:off x="9433844" y="1920581"/>
            <a:ext cx="714081" cy="1250376"/>
            <a:chOff x="2349500" y="2276187"/>
            <a:chExt cx="714081" cy="1250376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CC66D78-6FE6-4FC3-ACA6-DDEC49AE75E9}"/>
                </a:ext>
              </a:extLst>
            </p:cNvPr>
            <p:cNvSpPr/>
            <p:nvPr/>
          </p:nvSpPr>
          <p:spPr>
            <a:xfrm rot="5400000">
              <a:off x="2496990" y="2290051"/>
              <a:ext cx="572075" cy="561106"/>
            </a:xfrm>
            <a:prstGeom prst="triangle">
              <a:avLst/>
            </a:prstGeom>
            <a:solidFill>
              <a:srgbClr val="CFB87C"/>
            </a:solidFill>
            <a:ln w="12700" cap="flat" cmpd="sng" algn="ctr">
              <a:solidFill>
                <a:srgbClr val="CFB87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914F86C-AC62-42FC-9835-E9A2DA00A6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1386" y="2276187"/>
              <a:ext cx="0" cy="1124674"/>
            </a:xfrm>
            <a:prstGeom prst="line">
              <a:avLst/>
            </a:prstGeom>
            <a:noFill/>
            <a:ln w="107950" cap="flat" cmpd="sng" algn="ctr">
              <a:solidFill>
                <a:srgbClr val="565A5C"/>
              </a:solidFill>
              <a:prstDash val="solid"/>
              <a:miter lim="800000"/>
            </a:ln>
            <a:effectLst/>
          </p:spPr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C8C6B16-F1D2-4A7A-A132-3399D02F8CFF}"/>
                </a:ext>
              </a:extLst>
            </p:cNvPr>
            <p:cNvSpPr/>
            <p:nvPr/>
          </p:nvSpPr>
          <p:spPr>
            <a:xfrm>
              <a:off x="2349500" y="3329139"/>
              <a:ext cx="197424" cy="197424"/>
            </a:xfrm>
            <a:prstGeom prst="ellipse">
              <a:avLst/>
            </a:prstGeom>
            <a:solidFill>
              <a:srgbClr val="CFB87C"/>
            </a:solidFill>
            <a:ln w="12700" cap="flat" cmpd="sng" algn="ctr">
              <a:solidFill>
                <a:srgbClr val="CFB87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DED69F6-4CD5-4F44-8800-5A84F94A0869}"/>
              </a:ext>
            </a:extLst>
          </p:cNvPr>
          <p:cNvSpPr txBox="1"/>
          <p:nvPr/>
        </p:nvSpPr>
        <p:spPr>
          <a:xfrm>
            <a:off x="1800311" y="3324707"/>
            <a:ext cx="17219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Roboto Condensed"/>
              </a:rPr>
              <a:t>Receive a Note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DED10B-3222-4020-9B53-930F61D97477}"/>
              </a:ext>
            </a:extLst>
          </p:cNvPr>
          <p:cNvSpPr txBox="1"/>
          <p:nvPr/>
        </p:nvSpPr>
        <p:spPr>
          <a:xfrm>
            <a:off x="4829452" y="3324707"/>
            <a:ext cx="2966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Roboto Condensed"/>
              </a:rPr>
              <a:t>Record Interest Revenue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55220C-A984-4874-B28E-9A5D65803035}"/>
              </a:ext>
            </a:extLst>
          </p:cNvPr>
          <p:cNvSpPr txBox="1"/>
          <p:nvPr/>
        </p:nvSpPr>
        <p:spPr>
          <a:xfrm>
            <a:off x="8461209" y="3324707"/>
            <a:ext cx="25362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Roboto Condensed"/>
              </a:rPr>
              <a:t>Receive Principal Back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D43631-6298-4A81-81DC-F420AC8D4B49}"/>
              </a:ext>
            </a:extLst>
          </p:cNvPr>
          <p:cNvSpPr txBox="1"/>
          <p:nvPr/>
        </p:nvSpPr>
        <p:spPr>
          <a:xfrm>
            <a:off x="540065" y="3767123"/>
            <a:ext cx="382873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Record cash paid </a:t>
            </a:r>
            <a:br>
              <a:rPr lang="en-US" sz="2000" dirty="0">
                <a:solidFill>
                  <a:prstClr val="black"/>
                </a:solidFill>
                <a:latin typeface="Calibri"/>
              </a:rPr>
            </a:br>
            <a:r>
              <a:rPr lang="en-US" sz="2000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US" sz="2000" i="1" dirty="0">
                <a:solidFill>
                  <a:prstClr val="black"/>
                </a:solidFill>
                <a:latin typeface="Calibri"/>
              </a:rPr>
              <a:t>equal to PV of note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Record N/R (B-A) at face (maturity) value.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Record Discount (B-XA) or Premium (B-A), if applicable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682152-0599-4210-A59E-CBB21F471820}"/>
              </a:ext>
            </a:extLst>
          </p:cNvPr>
          <p:cNvSpPr txBox="1"/>
          <p:nvPr/>
        </p:nvSpPr>
        <p:spPr>
          <a:xfrm>
            <a:off x="4511364" y="3792985"/>
            <a:ext cx="382873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Record cash payment received (if any), </a:t>
            </a:r>
            <a:r>
              <a:rPr lang="en-US" sz="2000" u="sng" dirty="0">
                <a:solidFill>
                  <a:prstClr val="black"/>
                </a:solidFill>
                <a:latin typeface="Calibri"/>
              </a:rPr>
              <a:t>face value × stated rate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Record Interest Revenue (I-R), </a:t>
            </a:r>
            <a:r>
              <a:rPr lang="en-US" sz="2000" u="sng" dirty="0">
                <a:solidFill>
                  <a:prstClr val="black"/>
                </a:solidFill>
                <a:latin typeface="Calibri"/>
              </a:rPr>
              <a:t>market rate × PV of note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Amortize Discount or Premium, if applicable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39B0ED-77C1-40D1-84EC-1962923ECC6A}"/>
              </a:ext>
            </a:extLst>
          </p:cNvPr>
          <p:cNvSpPr txBox="1"/>
          <p:nvPr/>
        </p:nvSpPr>
        <p:spPr>
          <a:xfrm>
            <a:off x="8416052" y="3767123"/>
            <a:ext cx="328027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Record cash received (</a:t>
            </a:r>
            <a:r>
              <a:rPr lang="en-US" sz="2000" i="1" dirty="0">
                <a:solidFill>
                  <a:prstClr val="black"/>
                </a:solidFill>
                <a:latin typeface="Calibri"/>
              </a:rPr>
              <a:t>equal to face value)</a:t>
            </a:r>
            <a:endParaRPr lang="en-US" sz="2000" dirty="0">
              <a:solidFill>
                <a:prstClr val="black"/>
              </a:solidFill>
              <a:latin typeface="Calibri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Remove N/R at face value</a:t>
            </a:r>
          </a:p>
        </p:txBody>
      </p:sp>
    </p:spTree>
    <p:extLst>
      <p:ext uri="{BB962C8B-B14F-4D97-AF65-F5344CB8AC3E}">
        <p14:creationId xmlns:p14="http://schemas.microsoft.com/office/powerpoint/2010/main" val="381396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F4442-93AA-D2B0-4606-B1BF039F9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634" y="9095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Journal Entries / Discount or Premium Amortization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DC04D8-6E9C-84E0-B85A-CAFBE18A5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314060"/>
              </p:ext>
            </p:extLst>
          </p:nvPr>
        </p:nvGraphicFramePr>
        <p:xfrm>
          <a:off x="225357" y="1573246"/>
          <a:ext cx="11272734" cy="4010431"/>
        </p:xfrm>
        <a:graphic>
          <a:graphicData uri="http://schemas.openxmlformats.org/drawingml/2006/table">
            <a:tbl>
              <a:tblPr/>
              <a:tblGrid>
                <a:gridCol w="1878789">
                  <a:extLst>
                    <a:ext uri="{9D8B030D-6E8A-4147-A177-3AD203B41FA5}">
                      <a16:colId xmlns:a16="http://schemas.microsoft.com/office/drawing/2014/main" val="319956880"/>
                    </a:ext>
                  </a:extLst>
                </a:gridCol>
                <a:gridCol w="1878789">
                  <a:extLst>
                    <a:ext uri="{9D8B030D-6E8A-4147-A177-3AD203B41FA5}">
                      <a16:colId xmlns:a16="http://schemas.microsoft.com/office/drawing/2014/main" val="2961263621"/>
                    </a:ext>
                  </a:extLst>
                </a:gridCol>
                <a:gridCol w="1878789">
                  <a:extLst>
                    <a:ext uri="{9D8B030D-6E8A-4147-A177-3AD203B41FA5}">
                      <a16:colId xmlns:a16="http://schemas.microsoft.com/office/drawing/2014/main" val="4268681845"/>
                    </a:ext>
                  </a:extLst>
                </a:gridCol>
                <a:gridCol w="1878789">
                  <a:extLst>
                    <a:ext uri="{9D8B030D-6E8A-4147-A177-3AD203B41FA5}">
                      <a16:colId xmlns:a16="http://schemas.microsoft.com/office/drawing/2014/main" val="3797083870"/>
                    </a:ext>
                  </a:extLst>
                </a:gridCol>
                <a:gridCol w="1878789">
                  <a:extLst>
                    <a:ext uri="{9D8B030D-6E8A-4147-A177-3AD203B41FA5}">
                      <a16:colId xmlns:a16="http://schemas.microsoft.com/office/drawing/2014/main" val="1629588107"/>
                    </a:ext>
                  </a:extLst>
                </a:gridCol>
                <a:gridCol w="1878789">
                  <a:extLst>
                    <a:ext uri="{9D8B030D-6E8A-4147-A177-3AD203B41FA5}">
                      <a16:colId xmlns:a16="http://schemas.microsoft.com/office/drawing/2014/main" val="3376418656"/>
                    </a:ext>
                  </a:extLst>
                </a:gridCol>
              </a:tblGrid>
              <a:tr h="1091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Period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Beg. Carrying Value</a:t>
                      </a:r>
                      <a:endParaRPr lang="en-US" sz="1600" dirty="0"/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Interest Revenue</a:t>
                      </a:r>
                      <a:r>
                        <a:rPr lang="en-US" sz="1600"/>
                        <a:t> </a:t>
                      </a:r>
                      <a:r>
                        <a:rPr lang="en-US" sz="1600" i="1"/>
                        <a:t>(Market Rate × Beg CV)</a:t>
                      </a:r>
                      <a:endParaRPr lang="en-US" sz="1600"/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Cash Received</a:t>
                      </a:r>
                      <a:r>
                        <a:rPr lang="en-US" sz="1600"/>
                        <a:t> </a:t>
                      </a:r>
                      <a:r>
                        <a:rPr lang="en-US" sz="1600" i="1"/>
                        <a:t>(Stated Rate × Face)</a:t>
                      </a:r>
                      <a:endParaRPr lang="en-US" sz="1600"/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Amortization of Disc/Prem</a:t>
                      </a:r>
                      <a:r>
                        <a:rPr lang="en-US" sz="1600"/>
                        <a:t> </a:t>
                      </a:r>
                      <a:r>
                        <a:rPr lang="en-US" sz="1600" i="1"/>
                        <a:t>(Difference)</a:t>
                      </a:r>
                      <a:endParaRPr lang="en-US" sz="1600"/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End Carrying Value</a:t>
                      </a:r>
                      <a:endParaRPr lang="en-US" sz="1600"/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196522"/>
                  </a:ext>
                </a:extLst>
              </a:tr>
              <a:tr h="8270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PV = Initial Carrying Value</a:t>
                      </a:r>
                      <a:endParaRPr lang="en-US" sz="1600" dirty="0"/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918874"/>
                  </a:ext>
                </a:extLst>
              </a:tr>
              <a:tr h="588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CV Beg 1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Mkt × CV Beg 1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Stated × Face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Int Rev – Cash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CV Beg 1 ± Amort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234514"/>
                  </a:ext>
                </a:extLst>
              </a:tr>
              <a:tr h="588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CV Beg 2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Mkt × CV Beg 2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Stated × Face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Int Rev – Cash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CV Beg 2 ± Amort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113345"/>
                  </a:ext>
                </a:extLst>
              </a:tr>
              <a:tr h="3366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…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…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…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…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…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…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242357"/>
                  </a:ext>
                </a:extLst>
              </a:tr>
              <a:tr h="5789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N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CV Beg N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Mkt × CV Beg N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Stated × Face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Int Rev – Cash</a:t>
                      </a:r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= Face Value</a:t>
                      </a:r>
                      <a:endParaRPr lang="en-US" sz="1600" dirty="0"/>
                    </a:p>
                  </a:txBody>
                  <a:tcPr marL="82451" marR="82451" marT="41225" marB="412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79500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178765-E9FE-BF95-438F-99593EED332C}"/>
              </a:ext>
            </a:extLst>
          </p:cNvPr>
          <p:cNvCxnSpPr>
            <a:cxnSpLocks/>
          </p:cNvCxnSpPr>
          <p:nvPr/>
        </p:nvCxnSpPr>
        <p:spPr>
          <a:xfrm flipH="1">
            <a:off x="3492230" y="3216505"/>
            <a:ext cx="6215974" cy="48000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AAACC8-BF4C-527E-B435-460B700F6E5D}"/>
              </a:ext>
            </a:extLst>
          </p:cNvPr>
          <p:cNvCxnSpPr>
            <a:cxnSpLocks/>
          </p:cNvCxnSpPr>
          <p:nvPr/>
        </p:nvCxnSpPr>
        <p:spPr>
          <a:xfrm flipH="1">
            <a:off x="3492230" y="3848911"/>
            <a:ext cx="6215974" cy="48000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623016B-DFFF-2D99-B475-837506F44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440" y="5468721"/>
            <a:ext cx="5481104" cy="1445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Int Rev	     	      Cash	     Disc/Prem</a:t>
            </a:r>
            <a:endParaRPr lang="en-US" sz="2000" b="1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0B050"/>
                </a:solidFill>
              </a:rPr>
              <a:t>Entries</a:t>
            </a:r>
          </a:p>
        </p:txBody>
      </p:sp>
    </p:spTree>
    <p:extLst>
      <p:ext uri="{BB962C8B-B14F-4D97-AF65-F5344CB8AC3E}">
        <p14:creationId xmlns:p14="http://schemas.microsoft.com/office/powerpoint/2010/main" val="64523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471C-6A9A-4B73-A284-C6E95ADB6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5" y="47838"/>
            <a:ext cx="10515600" cy="1325563"/>
          </a:xfrm>
        </p:spPr>
        <p:txBody>
          <a:bodyPr/>
          <a:lstStyle/>
          <a:p>
            <a:r>
              <a:rPr lang="en-US" dirty="0"/>
              <a:t>Entries for Disc/Prem</a:t>
            </a:r>
            <a:br>
              <a:rPr lang="en-US" dirty="0"/>
            </a:br>
            <a:r>
              <a:rPr lang="en-US" dirty="0"/>
              <a:t>Amortization Table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2C90F76-E2DE-87D4-2BFA-6B1041994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191994"/>
              </p:ext>
            </p:extLst>
          </p:nvPr>
        </p:nvGraphicFramePr>
        <p:xfrm>
          <a:off x="1130777" y="2036590"/>
          <a:ext cx="9436838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615">
                  <a:extLst>
                    <a:ext uri="{9D8B030D-6E8A-4147-A177-3AD203B41FA5}">
                      <a16:colId xmlns:a16="http://schemas.microsoft.com/office/drawing/2014/main" val="381824107"/>
                    </a:ext>
                  </a:extLst>
                </a:gridCol>
                <a:gridCol w="2061749">
                  <a:extLst>
                    <a:ext uri="{9D8B030D-6E8A-4147-A177-3AD203B41FA5}">
                      <a16:colId xmlns:a16="http://schemas.microsoft.com/office/drawing/2014/main" val="4085839221"/>
                    </a:ext>
                  </a:extLst>
                </a:gridCol>
                <a:gridCol w="1996968">
                  <a:extLst>
                    <a:ext uri="{9D8B030D-6E8A-4147-A177-3AD203B41FA5}">
                      <a16:colId xmlns:a16="http://schemas.microsoft.com/office/drawing/2014/main" val="2644171310"/>
                    </a:ext>
                  </a:extLst>
                </a:gridCol>
                <a:gridCol w="2365376">
                  <a:extLst>
                    <a:ext uri="{9D8B030D-6E8A-4147-A177-3AD203B41FA5}">
                      <a16:colId xmlns:a16="http://schemas.microsoft.com/office/drawing/2014/main" val="2003575474"/>
                    </a:ext>
                  </a:extLst>
                </a:gridCol>
                <a:gridCol w="2053130">
                  <a:extLst>
                    <a:ext uri="{9D8B030D-6E8A-4147-A177-3AD203B41FA5}">
                      <a16:colId xmlns:a16="http://schemas.microsoft.com/office/drawing/2014/main" val="1306960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Interest Rev</a:t>
                      </a:r>
                    </a:p>
                    <a:p>
                      <a:pPr algn="ctr"/>
                      <a:r>
                        <a:rPr lang="en-US" dirty="0"/>
                        <a:t>(Mkt Rate%)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Payment</a:t>
                      </a:r>
                    </a:p>
                    <a:p>
                      <a:pPr algn="ctr"/>
                      <a:r>
                        <a:rPr lang="en-US" dirty="0"/>
                        <a:t>(Stated Rate%)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Amt to Amortize</a:t>
                      </a:r>
                    </a:p>
                    <a:p>
                      <a:pPr algn="ctr"/>
                      <a:r>
                        <a:rPr lang="en-US" dirty="0"/>
                        <a:t>Interest - 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Carry Value (CV)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06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PV = Initial CV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003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Mkt Rate x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Pmt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Amtz</a:t>
                      </a:r>
                      <a:r>
                        <a:rPr lang="en-US" dirty="0"/>
                        <a:t> = Int Rev - </a:t>
                      </a:r>
                      <a:r>
                        <a:rPr lang="en-US" dirty="0" err="1"/>
                        <a:t>Pmt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CV - </a:t>
                      </a:r>
                      <a:r>
                        <a:rPr lang="en-US" dirty="0" err="1"/>
                        <a:t>Amtz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481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Mkt Rate x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Pmt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Amtz</a:t>
                      </a:r>
                      <a:r>
                        <a:rPr lang="en-US" dirty="0"/>
                        <a:t> = Int Rev - </a:t>
                      </a:r>
                      <a:r>
                        <a:rPr lang="en-US" dirty="0" err="1"/>
                        <a:t>Pmt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CV - </a:t>
                      </a:r>
                      <a:r>
                        <a:rPr lang="en-US" dirty="0" err="1"/>
                        <a:t>Amtz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170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Mkt Rate x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Pmt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Amtz</a:t>
                      </a:r>
                      <a:r>
                        <a:rPr lang="en-US" dirty="0"/>
                        <a:t> = Int Rev - </a:t>
                      </a:r>
                      <a:r>
                        <a:rPr lang="en-US" dirty="0" err="1"/>
                        <a:t>Pmt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CV - </a:t>
                      </a:r>
                      <a:r>
                        <a:rPr lang="en-US" dirty="0" err="1"/>
                        <a:t>Amtz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Now = Face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13975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CD2F22-4B20-142C-61DB-3FEDBF305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381" y="4604844"/>
            <a:ext cx="5481104" cy="23753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Int Rev	     	      Cash	     Disc/Prem</a:t>
            </a:r>
            <a:endParaRPr lang="en-US" sz="2000" b="1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0B050"/>
                </a:solidFill>
              </a:rPr>
              <a:t>Entries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ED9A5E-5AA1-1620-7041-B828380BB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78" y="3038123"/>
            <a:ext cx="9436838" cy="39087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F45A4B-6E56-A300-BD68-A7583E3A3F1C}"/>
              </a:ext>
            </a:extLst>
          </p:cNvPr>
          <p:cNvCxnSpPr>
            <a:cxnSpLocks/>
          </p:cNvCxnSpPr>
          <p:nvPr/>
        </p:nvCxnSpPr>
        <p:spPr>
          <a:xfrm flipH="1">
            <a:off x="3838288" y="2824925"/>
            <a:ext cx="4861575" cy="3915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581E24B-3F96-428F-D29D-8723CFAD3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78" y="3429000"/>
            <a:ext cx="9436838" cy="3370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BB2E5F-2967-3C12-FAD9-1E4675D26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76" y="3766081"/>
            <a:ext cx="9436838" cy="663189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18D008-0F7B-A9A3-69BC-975F71C15531}"/>
              </a:ext>
            </a:extLst>
          </p:cNvPr>
          <p:cNvCxnSpPr>
            <a:cxnSpLocks/>
          </p:cNvCxnSpPr>
          <p:nvPr/>
        </p:nvCxnSpPr>
        <p:spPr>
          <a:xfrm flipH="1">
            <a:off x="3838288" y="3216505"/>
            <a:ext cx="5070581" cy="44155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15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603F2-EFB6-45AB-A877-56040C11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handout…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AE523-2717-4811-A4EF-9C5EA5E35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1 &amp; Extra Problem 1</a:t>
            </a:r>
          </a:p>
          <a:p>
            <a:endParaRPr lang="en-US" dirty="0"/>
          </a:p>
          <a:p>
            <a:r>
              <a:rPr lang="en-US" dirty="0"/>
              <a:t>We will use </a:t>
            </a:r>
            <a:r>
              <a:rPr lang="en-US" b="1" i="1" dirty="0"/>
              <a:t>Excel</a:t>
            </a:r>
            <a:r>
              <a:rPr lang="en-US" dirty="0"/>
              <a:t> in Class.</a:t>
            </a:r>
          </a:p>
          <a:p>
            <a:r>
              <a:rPr lang="en-US" dirty="0"/>
              <a:t>We will use </a:t>
            </a:r>
            <a:r>
              <a:rPr lang="en-US" b="1" i="1" dirty="0"/>
              <a:t>Intuition</a:t>
            </a:r>
            <a:r>
              <a:rPr lang="en-US" dirty="0"/>
              <a:t> and </a:t>
            </a:r>
            <a:r>
              <a:rPr lang="en-US" b="1" i="1" dirty="0"/>
              <a:t>Amortization Tables</a:t>
            </a:r>
            <a:r>
              <a:rPr lang="en-US" dirty="0"/>
              <a:t> on the exam!</a:t>
            </a:r>
          </a:p>
          <a:p>
            <a:pPr lvl="1"/>
            <a:r>
              <a:rPr lang="en-US" sz="2800" b="1" dirty="0">
                <a:solidFill>
                  <a:srgbClr val="0070C0"/>
                </a:solidFill>
              </a:rPr>
              <a:t>Solve the problems when given the present value.</a:t>
            </a:r>
          </a:p>
        </p:txBody>
      </p:sp>
    </p:spTree>
    <p:extLst>
      <p:ext uri="{BB962C8B-B14F-4D97-AF65-F5344CB8AC3E}">
        <p14:creationId xmlns:p14="http://schemas.microsoft.com/office/powerpoint/2010/main" val="2748995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Notes receivable exchanged for other assets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0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6A0C6C-5E02-47E4-A0E1-539A673B1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Scenario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D5EC9B-08DE-4AEE-B4EF-F5CFD4211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</a:t>
            </a:r>
            <a:r>
              <a:rPr lang="en-US" b="1" dirty="0">
                <a:solidFill>
                  <a:srgbClr val="00B050"/>
                </a:solidFill>
              </a:rPr>
              <a:t>sell</a:t>
            </a:r>
            <a:r>
              <a:rPr lang="en-US" dirty="0"/>
              <a:t> something (inventory, PP&amp;E, Car) in exchange for a note receivable (i.e., someone now owes us money).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839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837398" y="341697"/>
            <a:ext cx="9830603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Note receivable for Non-cash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398" y="1484696"/>
            <a:ext cx="10517204" cy="5316153"/>
          </a:xfrm>
        </p:spPr>
        <p:txBody>
          <a:bodyPr>
            <a:normAutofit fontScale="92500" lnSpcReduction="20000"/>
          </a:bodyPr>
          <a:lstStyle/>
          <a:p>
            <a:pPr marL="168275" indent="-1682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sz="2400" b="1" dirty="0"/>
              <a:t>Receiving a note for </a:t>
            </a:r>
            <a:r>
              <a:rPr lang="en-US" sz="2400" b="1" dirty="0">
                <a:solidFill>
                  <a:srgbClr val="00B050"/>
                </a:solidFill>
              </a:rPr>
              <a:t>selling</a:t>
            </a:r>
            <a:r>
              <a:rPr lang="en-US" sz="2400" b="1" dirty="0"/>
              <a:t> products/services or PP&amp;E: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400" b="1" dirty="0"/>
              <a:t>Measure the </a:t>
            </a:r>
            <a:r>
              <a:rPr lang="en-US" sz="2400" b="1" dirty="0">
                <a:solidFill>
                  <a:srgbClr val="0070C0"/>
                </a:solidFill>
              </a:rPr>
              <a:t>present value </a:t>
            </a:r>
            <a:r>
              <a:rPr lang="en-US" sz="2400" dirty="0"/>
              <a:t>of notes receivable at either:</a:t>
            </a:r>
          </a:p>
          <a:p>
            <a:pPr marL="914389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2000" dirty="0"/>
              <a:t>First choice: Use fair value of the non-cash items, if known</a:t>
            </a:r>
          </a:p>
          <a:p>
            <a:pPr marL="914389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2000" dirty="0"/>
              <a:t>Otherwise, </a:t>
            </a:r>
            <a:r>
              <a:rPr lang="en-US" sz="2000" i="1" dirty="0"/>
              <a:t>estimate </a:t>
            </a:r>
            <a:r>
              <a:rPr lang="en-US" sz="2000" dirty="0"/>
              <a:t>fair value by calculating present value using market rate</a:t>
            </a:r>
            <a:endParaRPr lang="en-US" sz="2000" i="1" dirty="0"/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The PV is $38,000 because we </a:t>
            </a:r>
            <a:r>
              <a:rPr lang="en-US" sz="2400" b="1" i="1" dirty="0">
                <a:solidFill>
                  <a:srgbClr val="0070C0"/>
                </a:solidFill>
              </a:rPr>
              <a:t>KNOW</a:t>
            </a:r>
            <a:r>
              <a:rPr lang="en-US" sz="2400" dirty="0">
                <a:solidFill>
                  <a:srgbClr val="0070C0"/>
                </a:solidFill>
              </a:rPr>
              <a:t> the fair value of the land!</a:t>
            </a:r>
          </a:p>
          <a:p>
            <a:pPr marL="0" indent="0"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/>
              <a:t>Dr. Notes Receivable 40,000</a:t>
            </a:r>
          </a:p>
          <a:p>
            <a:pPr marL="0" indent="0">
              <a:buNone/>
              <a:defRPr/>
            </a:pPr>
            <a:r>
              <a:rPr lang="en-US" sz="2400" dirty="0"/>
              <a:t>		Cr. Discount of Notes Receivable 	2,000</a:t>
            </a:r>
          </a:p>
          <a:p>
            <a:pPr marL="0" indent="0">
              <a:buNone/>
              <a:defRPr/>
            </a:pPr>
            <a:r>
              <a:rPr lang="en-US" sz="2400" dirty="0"/>
              <a:t>		Cr. Land				20,000</a:t>
            </a:r>
          </a:p>
          <a:p>
            <a:pPr marL="0" indent="0">
              <a:buNone/>
              <a:defRPr/>
            </a:pPr>
            <a:r>
              <a:rPr lang="en-US" sz="2400" dirty="0"/>
              <a:t>		Cr. Gain				18,000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21BD8A-2D28-4ED2-A413-C538DD4D7D06}"/>
              </a:ext>
            </a:extLst>
          </p:cNvPr>
          <p:cNvSpPr/>
          <p:nvPr/>
        </p:nvSpPr>
        <p:spPr>
          <a:xfrm>
            <a:off x="1396947" y="2862379"/>
            <a:ext cx="9105953" cy="1733006"/>
          </a:xfrm>
          <a:prstGeom prst="rect">
            <a:avLst/>
          </a:prstGeom>
          <a:solidFill>
            <a:srgbClr val="EEF0E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D3DE7-1410-4DBE-9BBA-25B54C0C5424}"/>
              </a:ext>
            </a:extLst>
          </p:cNvPr>
          <p:cNvSpPr txBox="1"/>
          <p:nvPr/>
        </p:nvSpPr>
        <p:spPr>
          <a:xfrm>
            <a:off x="1544918" y="3131304"/>
            <a:ext cx="8821783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prstClr val="black"/>
                </a:solidFill>
                <a:latin typeface="Calibri"/>
              </a:rPr>
              <a:t>On January 1, 2020, Fred Company sells land with a cost of $20,000 and receives a two-year $40,000 note in exchange. The stated interest rate on the note is 8% paid annually. The prevailing interest rate on similar notes is 11%. The fair value of the land is $38,000.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90292C-BBC0-4056-973B-5DAF8E80CAA2}"/>
              </a:ext>
            </a:extLst>
          </p:cNvPr>
          <p:cNvSpPr txBox="1"/>
          <p:nvPr/>
        </p:nvSpPr>
        <p:spPr>
          <a:xfrm>
            <a:off x="5063790" y="4120707"/>
            <a:ext cx="1202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/>
              </a:rPr>
              <a:t>$38,000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990F21-88FC-492E-8881-8EB7F4F73A40}"/>
              </a:ext>
            </a:extLst>
          </p:cNvPr>
          <p:cNvSpPr txBox="1"/>
          <p:nvPr/>
        </p:nvSpPr>
        <p:spPr>
          <a:xfrm>
            <a:off x="2358870" y="4115802"/>
            <a:ext cx="253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Calibri"/>
              </a:rPr>
              <a:t>PV of Notes Receivable?</a:t>
            </a:r>
          </a:p>
        </p:txBody>
      </p:sp>
    </p:spTree>
    <p:extLst>
      <p:ext uri="{BB962C8B-B14F-4D97-AF65-F5344CB8AC3E}">
        <p14:creationId xmlns:p14="http://schemas.microsoft.com/office/powerpoint/2010/main" val="313808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837398" y="341697"/>
            <a:ext cx="9830603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Note receivable for Non-cash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398" y="1484697"/>
            <a:ext cx="10517204" cy="4984364"/>
          </a:xfrm>
        </p:spPr>
        <p:txBody>
          <a:bodyPr>
            <a:normAutofit lnSpcReduction="10000"/>
          </a:bodyPr>
          <a:lstStyle/>
          <a:p>
            <a:pPr marL="168275" indent="-1682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sz="2400" b="1" dirty="0"/>
              <a:t>Receiving a note for </a:t>
            </a:r>
            <a:r>
              <a:rPr lang="en-US" sz="2400" b="1" dirty="0">
                <a:solidFill>
                  <a:srgbClr val="00B050"/>
                </a:solidFill>
              </a:rPr>
              <a:t>selling</a:t>
            </a:r>
            <a:r>
              <a:rPr lang="en-US" sz="2400" b="1" dirty="0"/>
              <a:t> products/services or PP&amp;E: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400" b="1" dirty="0"/>
              <a:t>Measure the </a:t>
            </a:r>
            <a:r>
              <a:rPr lang="en-US" sz="2400" b="1" dirty="0">
                <a:solidFill>
                  <a:srgbClr val="0070C0"/>
                </a:solidFill>
              </a:rPr>
              <a:t>present value </a:t>
            </a:r>
            <a:r>
              <a:rPr lang="en-US" sz="2400" dirty="0"/>
              <a:t>of notes receivable at either:</a:t>
            </a:r>
          </a:p>
          <a:p>
            <a:pPr marL="914389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2000" dirty="0"/>
              <a:t>First choice: Use fair value of the non-cash items, if known</a:t>
            </a:r>
          </a:p>
          <a:p>
            <a:pPr marL="914389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2000" dirty="0"/>
              <a:t>Otherwise, </a:t>
            </a:r>
            <a:r>
              <a:rPr lang="en-US" sz="2000" i="1" dirty="0"/>
              <a:t>estimate </a:t>
            </a:r>
            <a:r>
              <a:rPr lang="en-US" sz="2000" dirty="0"/>
              <a:t>fair value by calculating present value using market rate</a:t>
            </a:r>
            <a:endParaRPr lang="en-US" sz="2000" i="1" dirty="0"/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endParaRPr lang="en-US" sz="5500" dirty="0"/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If the fair value of something is not known, we can estimate it using the Present Value of the </a:t>
            </a:r>
            <a:r>
              <a:rPr lang="en-US" sz="2400" b="1" dirty="0">
                <a:solidFill>
                  <a:srgbClr val="0070C0"/>
                </a:solidFill>
              </a:rPr>
              <a:t>note’s future cash flows using the market rate. </a:t>
            </a:r>
          </a:p>
          <a:p>
            <a:pPr marL="0" indent="0">
              <a:buNone/>
              <a:defRPr/>
            </a:pP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21BD8A-2D28-4ED2-A413-C538DD4D7D06}"/>
              </a:ext>
            </a:extLst>
          </p:cNvPr>
          <p:cNvSpPr/>
          <p:nvPr/>
        </p:nvSpPr>
        <p:spPr>
          <a:xfrm>
            <a:off x="1466797" y="3794257"/>
            <a:ext cx="8821783" cy="1733006"/>
          </a:xfrm>
          <a:prstGeom prst="rect">
            <a:avLst/>
          </a:prstGeom>
          <a:solidFill>
            <a:srgbClr val="EEF0E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D3DE7-1410-4DBE-9BBA-25B54C0C5424}"/>
              </a:ext>
            </a:extLst>
          </p:cNvPr>
          <p:cNvSpPr txBox="1"/>
          <p:nvPr/>
        </p:nvSpPr>
        <p:spPr>
          <a:xfrm>
            <a:off x="1614768" y="3986982"/>
            <a:ext cx="8821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On January 1, 2020, Fred Company sells land and receives a two-year $40,000 note in exchange. The stated interest rate on the note is 8% paid annually. The prevailing interest rate on similar notes is 11%. </a:t>
            </a:r>
            <a:r>
              <a:rPr lang="en-US" b="1" u="sng" dirty="0">
                <a:solidFill>
                  <a:prstClr val="black"/>
                </a:solidFill>
                <a:latin typeface="Calibri"/>
              </a:rPr>
              <a:t>The fair value of the land is unknown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CF6F0-FBF5-490B-9B70-E93F8ABFAE01}"/>
              </a:ext>
            </a:extLst>
          </p:cNvPr>
          <p:cNvSpPr txBox="1"/>
          <p:nvPr/>
        </p:nvSpPr>
        <p:spPr>
          <a:xfrm>
            <a:off x="2428720" y="4971480"/>
            <a:ext cx="253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Calibri"/>
              </a:rPr>
              <a:t>PV of Notes Receivable?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90292C-BBC0-4056-973B-5DAF8E80CAA2}"/>
              </a:ext>
            </a:extLst>
          </p:cNvPr>
          <p:cNvSpPr txBox="1"/>
          <p:nvPr/>
        </p:nvSpPr>
        <p:spPr>
          <a:xfrm>
            <a:off x="5302466" y="4984153"/>
            <a:ext cx="4386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/>
              </a:rPr>
              <a:t>Must calculate: PV(0.11, 2, 3200, 40000)</a:t>
            </a:r>
          </a:p>
        </p:txBody>
      </p:sp>
    </p:spTree>
    <p:extLst>
      <p:ext uri="{BB962C8B-B14F-4D97-AF65-F5344CB8AC3E}">
        <p14:creationId xmlns:p14="http://schemas.microsoft.com/office/powerpoint/2010/main" val="140971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837398" y="341697"/>
            <a:ext cx="9830603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Note receivable for Non-cash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397" y="1291267"/>
            <a:ext cx="11014633" cy="5225036"/>
          </a:xfrm>
        </p:spPr>
        <p:txBody>
          <a:bodyPr>
            <a:normAutofit/>
          </a:bodyPr>
          <a:lstStyle/>
          <a:p>
            <a:pPr marL="168275" indent="-168275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/>
            </a:pPr>
            <a:r>
              <a:rPr lang="en-US" b="1" dirty="0"/>
              <a:t>Receiving a note for </a:t>
            </a:r>
            <a:r>
              <a:rPr lang="en-US" b="1" dirty="0">
                <a:solidFill>
                  <a:srgbClr val="00B050"/>
                </a:solidFill>
              </a:rPr>
              <a:t>selling</a:t>
            </a:r>
            <a:r>
              <a:rPr lang="en-US" b="1" dirty="0"/>
              <a:t> products/services or PP&amp;E:</a:t>
            </a:r>
            <a:endParaRPr lang="en-US" sz="2400" b="1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2400" b="1" dirty="0"/>
              <a:t>Measure the present value </a:t>
            </a:r>
            <a:r>
              <a:rPr lang="en-US" sz="2400" dirty="0"/>
              <a:t>of notes receivable at either:</a:t>
            </a:r>
          </a:p>
          <a:p>
            <a:pPr marL="914389" lvl="1" indent="-45720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  <a:defRPr/>
            </a:pPr>
            <a:r>
              <a:rPr lang="en-US" sz="2200" dirty="0"/>
              <a:t>First choice: Use fair value of the non-cash items if known</a:t>
            </a:r>
          </a:p>
          <a:p>
            <a:pPr marL="914389" lvl="1" indent="-45720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  <a:defRPr/>
            </a:pPr>
            <a:r>
              <a:rPr lang="en-US" sz="2200" dirty="0"/>
              <a:t>Otherwise, </a:t>
            </a:r>
            <a:r>
              <a:rPr lang="en-US" sz="2200" i="1" dirty="0"/>
              <a:t>estimate </a:t>
            </a:r>
            <a:r>
              <a:rPr lang="en-US" sz="2200" dirty="0"/>
              <a:t>fair value by calculating present value using market rate</a:t>
            </a:r>
            <a:endParaRPr lang="en-US" sz="2200" i="1" dirty="0"/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1" dirty="0"/>
              <a:t>Record discount or premium </a:t>
            </a:r>
            <a:r>
              <a:rPr lang="en-US" sz="2400" dirty="0"/>
              <a:t>on N/R for the difference between the Note’s face value and present value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dirty="0"/>
              <a:t>Finally:</a:t>
            </a:r>
          </a:p>
          <a:p>
            <a:pPr marL="914389" lvl="1" indent="-45720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  <a:defRPr/>
            </a:pPr>
            <a:r>
              <a:rPr lang="en-US" sz="2200" b="1" dirty="0"/>
              <a:t>If selling goods/services:</a:t>
            </a:r>
            <a:r>
              <a:rPr lang="en-US" sz="2200" dirty="0"/>
              <a:t> recognize </a:t>
            </a:r>
            <a:r>
              <a:rPr lang="en-US" sz="2200" b="1" dirty="0">
                <a:solidFill>
                  <a:srgbClr val="00B050"/>
                </a:solidFill>
              </a:rPr>
              <a:t>revenue </a:t>
            </a:r>
            <a:r>
              <a:rPr lang="en-US" sz="2200" dirty="0"/>
              <a:t>as the </a:t>
            </a:r>
            <a:r>
              <a:rPr lang="en-US" sz="2200" b="1" dirty="0">
                <a:solidFill>
                  <a:srgbClr val="0070C0"/>
                </a:solidFill>
              </a:rPr>
              <a:t>present value of note</a:t>
            </a:r>
          </a:p>
          <a:p>
            <a:pPr marL="914389" lvl="1" indent="-45720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  <a:defRPr/>
            </a:pPr>
            <a:r>
              <a:rPr lang="en-US" sz="2200" b="1" dirty="0"/>
              <a:t>If selling PP&amp;E: </a:t>
            </a:r>
            <a:endParaRPr lang="en-US" sz="2200" dirty="0"/>
          </a:p>
          <a:p>
            <a:pPr marL="1371577" lvl="2" indent="-457200">
              <a:lnSpc>
                <a:spcPct val="100000"/>
              </a:lnSpc>
              <a:spcBef>
                <a:spcPts val="600"/>
              </a:spcBef>
              <a:buFont typeface="+mj-lt"/>
              <a:buAutoNum type="romanLcPeriod"/>
              <a:defRPr/>
            </a:pPr>
            <a:r>
              <a:rPr lang="en-US" dirty="0"/>
              <a:t>Remove the asset and accumulated depreciation</a:t>
            </a:r>
          </a:p>
          <a:p>
            <a:pPr marL="1371577" lvl="2" indent="-457200">
              <a:lnSpc>
                <a:spcPct val="100000"/>
              </a:lnSpc>
              <a:spcBef>
                <a:spcPts val="600"/>
              </a:spcBef>
              <a:buFont typeface="+mj-lt"/>
              <a:buAutoNum type="romanLcPeriod"/>
              <a:defRPr/>
            </a:pPr>
            <a:r>
              <a:rPr lang="en-US" dirty="0"/>
              <a:t>Recognize gain or loss from sale = Fair Value – Book Value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8326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DD3D5-0F07-4807-B9F8-16F61D171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147FC-81F9-4BE7-A60C-D048AE961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331"/>
            <a:ext cx="10515600" cy="522916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2400" dirty="0" err="1"/>
              <a:t>Flik</a:t>
            </a:r>
            <a:r>
              <a:rPr lang="en-US" sz="2400" dirty="0"/>
              <a:t> Co. provides repair services and accepts a note in exchange. The note has a maturity value of $5,000, a two-year maturity, and no annual interest payments. </a:t>
            </a:r>
            <a:r>
              <a:rPr lang="en-US" sz="2400" dirty="0" err="1"/>
              <a:t>Flik</a:t>
            </a:r>
            <a:r>
              <a:rPr lang="en-US" sz="2400" dirty="0"/>
              <a:t> does not typically provide repair services so fair value is unknown. The market interest rate for a note of similar risk is 9.5%.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How much revenue does </a:t>
            </a:r>
            <a:r>
              <a:rPr lang="en-US" sz="2400" b="1" dirty="0" err="1"/>
              <a:t>Flik</a:t>
            </a:r>
            <a:r>
              <a:rPr lang="en-US" sz="2400" b="1" dirty="0"/>
              <a:t> recognize?</a:t>
            </a:r>
            <a:endParaRPr lang="en-US" sz="2400" dirty="0"/>
          </a:p>
          <a:p>
            <a:pPr marL="91440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/>
          </a:p>
          <a:p>
            <a:pPr marL="509588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Revenue = Present value of N/R</a:t>
            </a:r>
            <a:endParaRPr lang="en-US" sz="2400" dirty="0"/>
          </a:p>
          <a:p>
            <a:pPr marL="914400" indent="0">
              <a:lnSpc>
                <a:spcPct val="100000"/>
              </a:lnSpc>
              <a:spcBef>
                <a:spcPts val="600"/>
              </a:spcBef>
              <a:buNone/>
              <a:tabLst>
                <a:tab pos="914400" algn="l"/>
                <a:tab pos="1776413" algn="l"/>
              </a:tabLst>
            </a:pPr>
            <a:r>
              <a:rPr lang="en-US" sz="1800" dirty="0"/>
              <a:t>FV =	$5,000</a:t>
            </a:r>
          </a:p>
          <a:p>
            <a:pPr marL="914400" indent="0">
              <a:lnSpc>
                <a:spcPct val="100000"/>
              </a:lnSpc>
              <a:spcBef>
                <a:spcPts val="0"/>
              </a:spcBef>
              <a:buNone/>
              <a:tabLst>
                <a:tab pos="914400" algn="l"/>
                <a:tab pos="1776413" algn="l"/>
              </a:tabLst>
            </a:pPr>
            <a:r>
              <a:rPr lang="en-US" sz="1800" dirty="0"/>
              <a:t>N = 	2 periods</a:t>
            </a:r>
          </a:p>
          <a:p>
            <a:pPr marL="914400" indent="0">
              <a:lnSpc>
                <a:spcPct val="100000"/>
              </a:lnSpc>
              <a:spcBef>
                <a:spcPts val="0"/>
              </a:spcBef>
              <a:buNone/>
              <a:tabLst>
                <a:tab pos="914400" algn="l"/>
                <a:tab pos="1776413" algn="l"/>
              </a:tabLst>
            </a:pPr>
            <a:r>
              <a:rPr lang="en-US" sz="1800" dirty="0"/>
              <a:t>PMT = 	0</a:t>
            </a:r>
          </a:p>
          <a:p>
            <a:pPr marL="914400" indent="0">
              <a:lnSpc>
                <a:spcPct val="100000"/>
              </a:lnSpc>
              <a:spcBef>
                <a:spcPts val="0"/>
              </a:spcBef>
              <a:buNone/>
              <a:tabLst>
                <a:tab pos="914400" algn="l"/>
                <a:tab pos="1776413" algn="l"/>
              </a:tabLst>
            </a:pPr>
            <a:r>
              <a:rPr lang="en-US" sz="1800" dirty="0"/>
              <a:t>I = 	9.5%</a:t>
            </a:r>
            <a:endParaRPr lang="en-US" sz="2400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3600A658-56E8-4601-99A8-613DC80B532D}"/>
              </a:ext>
            </a:extLst>
          </p:cNvPr>
          <p:cNvSpPr/>
          <p:nvPr/>
        </p:nvSpPr>
        <p:spPr>
          <a:xfrm>
            <a:off x="3606301" y="4042180"/>
            <a:ext cx="315200" cy="1292772"/>
          </a:xfrm>
          <a:prstGeom prst="rightBrace">
            <a:avLst/>
          </a:prstGeom>
          <a:noFill/>
          <a:ln w="635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2EC9E-E678-4946-ABFA-14AA534D5D83}"/>
              </a:ext>
            </a:extLst>
          </p:cNvPr>
          <p:cNvSpPr txBox="1"/>
          <p:nvPr/>
        </p:nvSpPr>
        <p:spPr>
          <a:xfrm>
            <a:off x="3931741" y="4488551"/>
            <a:ext cx="12554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$4,170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given on Exam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321A5-B6BD-46BA-A01F-F96F886F0D5B}"/>
              </a:ext>
            </a:extLst>
          </p:cNvPr>
          <p:cNvSpPr txBox="1"/>
          <p:nvPr/>
        </p:nvSpPr>
        <p:spPr>
          <a:xfrm>
            <a:off x="5416521" y="4488551"/>
            <a:ext cx="5707960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Note Receivable (B-A)	5,000</a:t>
            </a:r>
          </a:p>
          <a:p>
            <a:r>
              <a:rPr lang="en-US" sz="2400" dirty="0"/>
              <a:t>	Discount (B-XA)		830</a:t>
            </a:r>
          </a:p>
          <a:p>
            <a:r>
              <a:rPr lang="en-US" sz="2400" dirty="0"/>
              <a:t>	Revenue (I-R)		4,170</a:t>
            </a:r>
          </a:p>
        </p:txBody>
      </p:sp>
    </p:spTree>
    <p:extLst>
      <p:ext uri="{BB962C8B-B14F-4D97-AF65-F5344CB8AC3E}">
        <p14:creationId xmlns:p14="http://schemas.microsoft.com/office/powerpoint/2010/main" val="235122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DCEE-4458-4EE7-9BAA-A54A250EB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types of exchanges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04CF8-7717-4F70-90D6-62488984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213"/>
            <a:ext cx="10515600" cy="527428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If it is a sale of inventory, record revenue to offset the value of the note receivable.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00B050"/>
                </a:solidFill>
              </a:rPr>
              <a:t>Note receivable 			XX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			Revenue				XX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		</a:t>
            </a:r>
            <a:r>
              <a:rPr lang="en-US" b="1" dirty="0">
                <a:solidFill>
                  <a:srgbClr val="FF0000"/>
                </a:solidFill>
              </a:rPr>
              <a:t>(Maybe have a premium or discount)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it is a sale of a long term asset (PP&amp;E, intangible), treat it like any other disposal of long term asset. Gain/Loss is difference between book value given up and fair value of note received.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00B050"/>
                </a:solidFill>
              </a:rPr>
              <a:t>Note receivable			XX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		</a:t>
            </a:r>
            <a:r>
              <a:rPr lang="en-US" b="1" dirty="0" err="1">
                <a:solidFill>
                  <a:srgbClr val="00B050"/>
                </a:solidFill>
              </a:rPr>
              <a:t>Accum</a:t>
            </a:r>
            <a:r>
              <a:rPr lang="en-US" b="1" dirty="0">
                <a:solidFill>
                  <a:srgbClr val="00B050"/>
                </a:solidFill>
              </a:rPr>
              <a:t>. </a:t>
            </a:r>
            <a:r>
              <a:rPr lang="en-US" b="1" dirty="0" err="1">
                <a:solidFill>
                  <a:srgbClr val="00B050"/>
                </a:solidFill>
              </a:rPr>
              <a:t>Depr</a:t>
            </a:r>
            <a:r>
              <a:rPr lang="en-US" b="1" dirty="0">
                <a:solidFill>
                  <a:srgbClr val="00B050"/>
                </a:solidFill>
              </a:rPr>
              <a:t>.			XX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			Gain/Loss				XX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			Old PP&amp;E				XX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FF0000"/>
                </a:solidFill>
              </a:rPr>
              <a:t> (Maybe have a premium or discount)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32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A05C-EF0E-4EDA-9FF2-0134135C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handout…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FF6A7-442D-4619-A405-CA2742D98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2</a:t>
            </a:r>
          </a:p>
        </p:txBody>
      </p:sp>
    </p:spTree>
    <p:extLst>
      <p:ext uri="{BB962C8B-B14F-4D97-AF65-F5344CB8AC3E}">
        <p14:creationId xmlns:p14="http://schemas.microsoft.com/office/powerpoint/2010/main" val="147340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5512</TotalTime>
  <Words>2368</Words>
  <Application>Microsoft Office PowerPoint</Application>
  <PresentationFormat>Widescreen</PresentationFormat>
  <Paragraphs>305</Paragraphs>
  <Slides>24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Roboto Condensed</vt:lpstr>
      <vt:lpstr>Calibri</vt:lpstr>
      <vt:lpstr>Times New Roman</vt:lpstr>
      <vt:lpstr>Arial Black</vt:lpstr>
      <vt:lpstr>Office Theme</vt:lpstr>
      <vt:lpstr>PowerPoint Presentation</vt:lpstr>
      <vt:lpstr>Today &amp; Later</vt:lpstr>
      <vt:lpstr>Notes Receivable</vt:lpstr>
      <vt:lpstr>The Base Case: Notes Receivable Exchanged for Cash Today</vt:lpstr>
      <vt:lpstr>Note Receivable Example</vt:lpstr>
      <vt:lpstr>Key Terminology</vt:lpstr>
      <vt:lpstr>Stated Rate vs Market Rate </vt:lpstr>
      <vt:lpstr>Connecting Rates to Present Value </vt:lpstr>
      <vt:lpstr>Connecting Rates to Present Value </vt:lpstr>
      <vt:lpstr>Face value, Discount or Premium</vt:lpstr>
      <vt:lpstr>Face value, premium or discount?</vt:lpstr>
      <vt:lpstr>Four Main Rules for N/R</vt:lpstr>
      <vt:lpstr>Overview of Notes Receivable</vt:lpstr>
      <vt:lpstr>Journal Entries / Discount or Premium Amortization Table</vt:lpstr>
      <vt:lpstr>Entries for Disc/Prem Amortization Table</vt:lpstr>
      <vt:lpstr>Go to handout…</vt:lpstr>
      <vt:lpstr>Notes receivable exchanged for other assets</vt:lpstr>
      <vt:lpstr>The Scenario</vt:lpstr>
      <vt:lpstr>Note receivable for Non-cash Assets</vt:lpstr>
      <vt:lpstr>Note receivable for Non-cash Assets</vt:lpstr>
      <vt:lpstr>Note receivable for Non-cash Assets</vt:lpstr>
      <vt:lpstr>Example</vt:lpstr>
      <vt:lpstr>Two types of exchanges</vt:lpstr>
      <vt:lpstr>Go to handout…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107</cp:revision>
  <dcterms:created xsi:type="dcterms:W3CDTF">2016-01-26T18:12:20Z</dcterms:created>
  <dcterms:modified xsi:type="dcterms:W3CDTF">2025-10-15T10:11:16Z</dcterms:modified>
</cp:coreProperties>
</file>