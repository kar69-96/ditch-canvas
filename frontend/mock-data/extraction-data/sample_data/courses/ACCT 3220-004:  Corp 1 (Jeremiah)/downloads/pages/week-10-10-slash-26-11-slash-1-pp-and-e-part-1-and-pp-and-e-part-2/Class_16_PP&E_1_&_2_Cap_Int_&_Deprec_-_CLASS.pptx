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8"/>
  </p:notesMasterIdLst>
  <p:sldIdLst>
    <p:sldId id="435" r:id="rId3"/>
    <p:sldId id="375" r:id="rId4"/>
    <p:sldId id="464" r:id="rId5"/>
    <p:sldId id="462" r:id="rId6"/>
    <p:sldId id="451" r:id="rId7"/>
    <p:sldId id="452" r:id="rId8"/>
    <p:sldId id="437" r:id="rId9"/>
    <p:sldId id="453" r:id="rId10"/>
    <p:sldId id="454" r:id="rId11"/>
    <p:sldId id="455" r:id="rId12"/>
    <p:sldId id="456" r:id="rId13"/>
    <p:sldId id="457" r:id="rId14"/>
    <p:sldId id="458" r:id="rId15"/>
    <p:sldId id="459" r:id="rId16"/>
    <p:sldId id="460" r:id="rId17"/>
    <p:sldId id="461" r:id="rId18"/>
    <p:sldId id="446" r:id="rId19"/>
    <p:sldId id="304" r:id="rId20"/>
    <p:sldId id="463" r:id="rId21"/>
    <p:sldId id="467" r:id="rId22"/>
    <p:sldId id="775" r:id="rId23"/>
    <p:sldId id="790" r:id="rId24"/>
    <p:sldId id="796" r:id="rId25"/>
    <p:sldId id="807" r:id="rId26"/>
    <p:sldId id="813" r:id="rId27"/>
    <p:sldId id="814" r:id="rId28"/>
    <p:sldId id="816" r:id="rId29"/>
    <p:sldId id="815" r:id="rId30"/>
    <p:sldId id="835" r:id="rId31"/>
    <p:sldId id="827" r:id="rId32"/>
    <p:sldId id="809" r:id="rId33"/>
    <p:sldId id="834" r:id="rId34"/>
    <p:sldId id="821" r:id="rId35"/>
    <p:sldId id="291" r:id="rId36"/>
    <p:sldId id="37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87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4CBC6-A761-4D4E-96B4-7CFBE1C3D52A}" v="11" dt="2025-10-26T14:45:12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38" autoAdjust="0"/>
    <p:restoredTop sz="86178" autoAdjust="0"/>
  </p:normalViewPr>
  <p:slideViewPr>
    <p:cSldViewPr snapToGrid="0">
      <p:cViewPr varScale="1">
        <p:scale>
          <a:sx n="75" d="100"/>
          <a:sy n="75" d="100"/>
        </p:scale>
        <p:origin x="294" y="267"/>
      </p:cViewPr>
      <p:guideLst/>
    </p:cSldViewPr>
  </p:slideViewPr>
  <p:outlineViewPr>
    <p:cViewPr>
      <p:scale>
        <a:sx n="33" d="100"/>
        <a:sy n="33" d="100"/>
      </p:scale>
      <p:origin x="0" y="-1177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3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65E32A59-11A9-4A87-BFB5-B84F13B22B24}"/>
    <pc:docChg chg="undo redo custSel delSld modSld">
      <pc:chgData name="Jeremiah Contreras" userId="9ea49ee18badb19e" providerId="LiveId" clId="{65E32A59-11A9-4A87-BFB5-B84F13B22B24}" dt="2022-10-16T17:11:18.029" v="19" actId="14100"/>
      <pc:docMkLst>
        <pc:docMk/>
      </pc:docMkLst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929600959" sldId="285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871637387" sldId="295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475062745" sldId="297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2641405354" sldId="298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1952487475" sldId="320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3462352739" sldId="322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1731298274" sldId="417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663173596" sldId="419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79775915" sldId="427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3306800427" sldId="428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1563140270" sldId="429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4244779357" sldId="430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477809727" sldId="431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422637212" sldId="432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58756059" sldId="433"/>
        </pc:sldMkLst>
      </pc:sldChg>
      <pc:sldChg chg="del">
        <pc:chgData name="Jeremiah Contreras" userId="9ea49ee18badb19e" providerId="LiveId" clId="{65E32A59-11A9-4A87-BFB5-B84F13B22B24}" dt="2022-10-12T14:56:24.925" v="0" actId="47"/>
        <pc:sldMkLst>
          <pc:docMk/>
          <pc:sldMk cId="318949685" sldId="449"/>
        </pc:sldMkLst>
      </pc:sldChg>
      <pc:sldChg chg="modSp mod addAnim delAnim modAnim">
        <pc:chgData name="Jeremiah Contreras" userId="9ea49ee18badb19e" providerId="LiveId" clId="{65E32A59-11A9-4A87-BFB5-B84F13B22B24}" dt="2022-10-16T17:11:18.029" v="19" actId="14100"/>
        <pc:sldMkLst>
          <pc:docMk/>
          <pc:sldMk cId="3227646897" sldId="789"/>
        </pc:sldMkLst>
      </pc:sldChg>
    </pc:docChg>
  </pc:docChgLst>
  <pc:docChgLst>
    <pc:chgData name="Jeremiah Contreras" userId="7aaf88c5-f86c-46d8-a0d4-f1ec65ded07c" providerId="ADAL" clId="{AA32A1BD-BE30-4A82-A9BA-9C3782F6D8A6}"/>
    <pc:docChg chg="undo custSel addSld delSld modSld modShowInfo">
      <pc:chgData name="Jeremiah Contreras" userId="7aaf88c5-f86c-46d8-a0d4-f1ec65ded07c" providerId="ADAL" clId="{AA32A1BD-BE30-4A82-A9BA-9C3782F6D8A6}" dt="2023-10-25T14:01:24.585" v="225" actId="2744"/>
      <pc:docMkLst>
        <pc:docMk/>
      </pc:docMkLst>
      <pc:sldChg chg="modSp">
        <pc:chgData name="Jeremiah Contreras" userId="7aaf88c5-f86c-46d8-a0d4-f1ec65ded07c" providerId="ADAL" clId="{AA32A1BD-BE30-4A82-A9BA-9C3782F6D8A6}" dt="2023-10-25T01:11:34.511" v="105" actId="20577"/>
        <pc:sldMkLst>
          <pc:docMk/>
          <pc:sldMk cId="3055534536" sldId="261"/>
        </pc:sldMkLst>
      </pc:sldChg>
      <pc:sldChg chg="add del">
        <pc:chgData name="Jeremiah Contreras" userId="7aaf88c5-f86c-46d8-a0d4-f1ec65ded07c" providerId="ADAL" clId="{AA32A1BD-BE30-4A82-A9BA-9C3782F6D8A6}" dt="2023-10-25T01:26:31.220" v="130"/>
        <pc:sldMkLst>
          <pc:docMk/>
          <pc:sldMk cId="1909602988" sldId="291"/>
        </pc:sldMkLst>
      </pc:sldChg>
      <pc:sldChg chg="add del">
        <pc:chgData name="Jeremiah Contreras" userId="7aaf88c5-f86c-46d8-a0d4-f1ec65ded07c" providerId="ADAL" clId="{AA32A1BD-BE30-4A82-A9BA-9C3782F6D8A6}" dt="2023-10-25T01:24:07.945" v="125" actId="47"/>
        <pc:sldMkLst>
          <pc:docMk/>
          <pc:sldMk cId="2476937257" sldId="374"/>
        </pc:sldMkLst>
      </pc:sldChg>
      <pc:sldChg chg="addSp delSp modSp add del mod setBg delDesignElem">
        <pc:chgData name="Jeremiah Contreras" userId="7aaf88c5-f86c-46d8-a0d4-f1ec65ded07c" providerId="ADAL" clId="{AA32A1BD-BE30-4A82-A9BA-9C3782F6D8A6}" dt="2023-10-25T01:34:29.797" v="202" actId="14100"/>
        <pc:sldMkLst>
          <pc:docMk/>
          <pc:sldMk cId="886742849" sldId="375"/>
        </pc:sldMkLst>
      </pc:sldChg>
      <pc:sldChg chg="modSp del mod">
        <pc:chgData name="Jeremiah Contreras" userId="7aaf88c5-f86c-46d8-a0d4-f1ec65ded07c" providerId="ADAL" clId="{AA32A1BD-BE30-4A82-A9BA-9C3782F6D8A6}" dt="2023-10-25T01:26:52.141" v="131" actId="47"/>
        <pc:sldMkLst>
          <pc:docMk/>
          <pc:sldMk cId="506929921" sldId="376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0" sldId="424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4254619503" sldId="437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1568633815" sldId="446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3933320487" sldId="451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1001984044" sldId="452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4052261823" sldId="453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2382759597" sldId="454"/>
        </pc:sldMkLst>
      </pc:sldChg>
      <pc:sldChg chg="addSp modSp del mod modAnim">
        <pc:chgData name="Jeremiah Contreras" userId="7aaf88c5-f86c-46d8-a0d4-f1ec65ded07c" providerId="ADAL" clId="{AA32A1BD-BE30-4A82-A9BA-9C3782F6D8A6}" dt="2023-10-25T00:17:19.058" v="40" actId="47"/>
        <pc:sldMkLst>
          <pc:docMk/>
          <pc:sldMk cId="69026220" sldId="455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1094221804" sldId="456"/>
        </pc:sldMkLst>
      </pc:sldChg>
      <pc:sldChg chg="addSp modSp del mod modAnim">
        <pc:chgData name="Jeremiah Contreras" userId="7aaf88c5-f86c-46d8-a0d4-f1ec65ded07c" providerId="ADAL" clId="{AA32A1BD-BE30-4A82-A9BA-9C3782F6D8A6}" dt="2023-10-25T00:17:19.058" v="40" actId="47"/>
        <pc:sldMkLst>
          <pc:docMk/>
          <pc:sldMk cId="242401871" sldId="457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1533996679" sldId="458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2593276880" sldId="459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354600660" sldId="460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433733480" sldId="461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4243377498" sldId="462"/>
        </pc:sldMkLst>
      </pc:sldChg>
      <pc:sldChg chg="del">
        <pc:chgData name="Jeremiah Contreras" userId="7aaf88c5-f86c-46d8-a0d4-f1ec65ded07c" providerId="ADAL" clId="{AA32A1BD-BE30-4A82-A9BA-9C3782F6D8A6}" dt="2023-10-25T00:17:19.058" v="40" actId="47"/>
        <pc:sldMkLst>
          <pc:docMk/>
          <pc:sldMk cId="1923676399" sldId="464"/>
        </pc:sldMkLst>
      </pc:sldChg>
      <pc:sldChg chg="mod modShow">
        <pc:chgData name="Jeremiah Contreras" userId="7aaf88c5-f86c-46d8-a0d4-f1ec65ded07c" providerId="ADAL" clId="{AA32A1BD-BE30-4A82-A9BA-9C3782F6D8A6}" dt="2023-10-25T00:11:44.868" v="39" actId="729"/>
        <pc:sldMkLst>
          <pc:docMk/>
          <pc:sldMk cId="2015352978" sldId="790"/>
        </pc:sldMkLst>
      </pc:sldChg>
      <pc:sldChg chg="del">
        <pc:chgData name="Jeremiah Contreras" userId="7aaf88c5-f86c-46d8-a0d4-f1ec65ded07c" providerId="ADAL" clId="{AA32A1BD-BE30-4A82-A9BA-9C3782F6D8A6}" dt="2023-10-25T01:18:58.052" v="119" actId="2696"/>
        <pc:sldMkLst>
          <pc:docMk/>
          <pc:sldMk cId="588453292" sldId="796"/>
        </pc:sldMkLst>
      </pc:sldChg>
      <pc:sldChg chg="add">
        <pc:chgData name="Jeremiah Contreras" userId="7aaf88c5-f86c-46d8-a0d4-f1ec65ded07c" providerId="ADAL" clId="{AA32A1BD-BE30-4A82-A9BA-9C3782F6D8A6}" dt="2023-10-25T01:19:01.104" v="120"/>
        <pc:sldMkLst>
          <pc:docMk/>
          <pc:sldMk cId="753005134" sldId="796"/>
        </pc:sldMkLst>
      </pc:sldChg>
      <pc:sldChg chg="del">
        <pc:chgData name="Jeremiah Contreras" userId="7aaf88c5-f86c-46d8-a0d4-f1ec65ded07c" providerId="ADAL" clId="{AA32A1BD-BE30-4A82-A9BA-9C3782F6D8A6}" dt="2023-10-25T01:21:30.867" v="121" actId="47"/>
        <pc:sldMkLst>
          <pc:docMk/>
          <pc:sldMk cId="1486363346" sldId="804"/>
        </pc:sldMkLst>
      </pc:sldChg>
      <pc:sldChg chg="modSp mod">
        <pc:chgData name="Jeremiah Contreras" userId="7aaf88c5-f86c-46d8-a0d4-f1ec65ded07c" providerId="ADAL" clId="{AA32A1BD-BE30-4A82-A9BA-9C3782F6D8A6}" dt="2023-10-25T13:50:39.325" v="204" actId="1076"/>
        <pc:sldMkLst>
          <pc:docMk/>
          <pc:sldMk cId="3132633336" sldId="806"/>
        </pc:sldMkLst>
      </pc:sldChg>
      <pc:sldChg chg="modSp del mod modAnim">
        <pc:chgData name="Jeremiah Contreras" userId="7aaf88c5-f86c-46d8-a0d4-f1ec65ded07c" providerId="ADAL" clId="{AA32A1BD-BE30-4A82-A9BA-9C3782F6D8A6}" dt="2023-10-25T01:18:58.052" v="119" actId="2696"/>
        <pc:sldMkLst>
          <pc:docMk/>
          <pc:sldMk cId="1171496523" sldId="807"/>
        </pc:sldMkLst>
      </pc:sldChg>
      <pc:sldChg chg="modSp add mod modAnim">
        <pc:chgData name="Jeremiah Contreras" userId="7aaf88c5-f86c-46d8-a0d4-f1ec65ded07c" providerId="ADAL" clId="{AA32A1BD-BE30-4A82-A9BA-9C3782F6D8A6}" dt="2023-10-25T13:51:40.934" v="222" actId="1076"/>
        <pc:sldMkLst>
          <pc:docMk/>
          <pc:sldMk cId="3342074924" sldId="807"/>
        </pc:sldMkLst>
      </pc:sldChg>
      <pc:sldChg chg="modSp del mod">
        <pc:chgData name="Jeremiah Contreras" userId="7aaf88c5-f86c-46d8-a0d4-f1ec65ded07c" providerId="ADAL" clId="{AA32A1BD-BE30-4A82-A9BA-9C3782F6D8A6}" dt="2023-10-25T00:21:14.275" v="45" actId="47"/>
        <pc:sldMkLst>
          <pc:docMk/>
          <pc:sldMk cId="1070368072" sldId="809"/>
        </pc:sldMkLst>
      </pc:sldChg>
      <pc:sldChg chg="add del">
        <pc:chgData name="Jeremiah Contreras" userId="7aaf88c5-f86c-46d8-a0d4-f1ec65ded07c" providerId="ADAL" clId="{AA32A1BD-BE30-4A82-A9BA-9C3782F6D8A6}" dt="2023-10-25T13:55:41.825" v="224"/>
        <pc:sldMkLst>
          <pc:docMk/>
          <pc:sldMk cId="2484958692" sldId="809"/>
        </pc:sldMkLst>
      </pc:sldChg>
      <pc:sldChg chg="add del">
        <pc:chgData name="Jeremiah Contreras" userId="7aaf88c5-f86c-46d8-a0d4-f1ec65ded07c" providerId="ADAL" clId="{AA32A1BD-BE30-4A82-A9BA-9C3782F6D8A6}" dt="2023-10-25T13:55:41.825" v="224"/>
        <pc:sldMkLst>
          <pc:docMk/>
          <pc:sldMk cId="786850437" sldId="810"/>
        </pc:sldMkLst>
      </pc:sldChg>
      <pc:sldChg chg="add del">
        <pc:chgData name="Jeremiah Contreras" userId="7aaf88c5-f86c-46d8-a0d4-f1ec65ded07c" providerId="ADAL" clId="{AA32A1BD-BE30-4A82-A9BA-9C3782F6D8A6}" dt="2023-10-25T13:55:41.825" v="224"/>
        <pc:sldMkLst>
          <pc:docMk/>
          <pc:sldMk cId="3282213250" sldId="811"/>
        </pc:sldMkLst>
      </pc:sldChg>
      <pc:sldChg chg="add del">
        <pc:chgData name="Jeremiah Contreras" userId="7aaf88c5-f86c-46d8-a0d4-f1ec65ded07c" providerId="ADAL" clId="{AA32A1BD-BE30-4A82-A9BA-9C3782F6D8A6}" dt="2023-10-25T13:55:41.825" v="224"/>
        <pc:sldMkLst>
          <pc:docMk/>
          <pc:sldMk cId="1683533261" sldId="812"/>
        </pc:sldMkLst>
      </pc:sldChg>
      <pc:sldChg chg="del">
        <pc:chgData name="Jeremiah Contreras" userId="7aaf88c5-f86c-46d8-a0d4-f1ec65ded07c" providerId="ADAL" clId="{AA32A1BD-BE30-4A82-A9BA-9C3782F6D8A6}" dt="2023-10-25T01:07:14.859" v="46" actId="2696"/>
        <pc:sldMkLst>
          <pc:docMk/>
          <pc:sldMk cId="1349479589" sldId="813"/>
        </pc:sldMkLst>
      </pc:sldChg>
      <pc:sldChg chg="add">
        <pc:chgData name="Jeremiah Contreras" userId="7aaf88c5-f86c-46d8-a0d4-f1ec65ded07c" providerId="ADAL" clId="{AA32A1BD-BE30-4A82-A9BA-9C3782F6D8A6}" dt="2023-10-25T01:07:25" v="47"/>
        <pc:sldMkLst>
          <pc:docMk/>
          <pc:sldMk cId="2642553856" sldId="813"/>
        </pc:sldMkLst>
      </pc:sldChg>
      <pc:sldChg chg="del">
        <pc:chgData name="Jeremiah Contreras" userId="7aaf88c5-f86c-46d8-a0d4-f1ec65ded07c" providerId="ADAL" clId="{AA32A1BD-BE30-4A82-A9BA-9C3782F6D8A6}" dt="2023-10-25T01:07:14.859" v="46" actId="2696"/>
        <pc:sldMkLst>
          <pc:docMk/>
          <pc:sldMk cId="1654684447" sldId="814"/>
        </pc:sldMkLst>
      </pc:sldChg>
      <pc:sldChg chg="add">
        <pc:chgData name="Jeremiah Contreras" userId="7aaf88c5-f86c-46d8-a0d4-f1ec65ded07c" providerId="ADAL" clId="{AA32A1BD-BE30-4A82-A9BA-9C3782F6D8A6}" dt="2023-10-25T01:07:25" v="47"/>
        <pc:sldMkLst>
          <pc:docMk/>
          <pc:sldMk cId="2195155441" sldId="814"/>
        </pc:sldMkLst>
      </pc:sldChg>
      <pc:sldChg chg="add">
        <pc:chgData name="Jeremiah Contreras" userId="7aaf88c5-f86c-46d8-a0d4-f1ec65ded07c" providerId="ADAL" clId="{AA32A1BD-BE30-4A82-A9BA-9C3782F6D8A6}" dt="2023-10-25T01:07:25" v="47"/>
        <pc:sldMkLst>
          <pc:docMk/>
          <pc:sldMk cId="872382066" sldId="815"/>
        </pc:sldMkLst>
      </pc:sldChg>
      <pc:sldChg chg="del">
        <pc:chgData name="Jeremiah Contreras" userId="7aaf88c5-f86c-46d8-a0d4-f1ec65ded07c" providerId="ADAL" clId="{AA32A1BD-BE30-4A82-A9BA-9C3782F6D8A6}" dt="2023-10-25T01:07:14.859" v="46" actId="2696"/>
        <pc:sldMkLst>
          <pc:docMk/>
          <pc:sldMk cId="2335259743" sldId="815"/>
        </pc:sldMkLst>
      </pc:sldChg>
      <pc:sldChg chg="del">
        <pc:chgData name="Jeremiah Contreras" userId="7aaf88c5-f86c-46d8-a0d4-f1ec65ded07c" providerId="ADAL" clId="{AA32A1BD-BE30-4A82-A9BA-9C3782F6D8A6}" dt="2023-10-25T01:07:14.859" v="46" actId="2696"/>
        <pc:sldMkLst>
          <pc:docMk/>
          <pc:sldMk cId="1150868122" sldId="816"/>
        </pc:sldMkLst>
      </pc:sldChg>
      <pc:sldChg chg="add">
        <pc:chgData name="Jeremiah Contreras" userId="7aaf88c5-f86c-46d8-a0d4-f1ec65ded07c" providerId="ADAL" clId="{AA32A1BD-BE30-4A82-A9BA-9C3782F6D8A6}" dt="2023-10-25T01:07:25" v="47"/>
        <pc:sldMkLst>
          <pc:docMk/>
          <pc:sldMk cId="2900657863" sldId="816"/>
        </pc:sldMkLst>
      </pc:sldChg>
      <pc:sldChg chg="add del">
        <pc:chgData name="Jeremiah Contreras" userId="7aaf88c5-f86c-46d8-a0d4-f1ec65ded07c" providerId="ADAL" clId="{AA32A1BD-BE30-4A82-A9BA-9C3782F6D8A6}" dt="2023-10-25T01:26:31.220" v="130"/>
        <pc:sldMkLst>
          <pc:docMk/>
          <pc:sldMk cId="3729856043" sldId="821"/>
        </pc:sldMkLst>
      </pc:sldChg>
      <pc:sldChg chg="add del">
        <pc:chgData name="Jeremiah Contreras" userId="7aaf88c5-f86c-46d8-a0d4-f1ec65ded07c" providerId="ADAL" clId="{AA32A1BD-BE30-4A82-A9BA-9C3782F6D8A6}" dt="2023-10-25T13:55:41.825" v="224"/>
        <pc:sldMkLst>
          <pc:docMk/>
          <pc:sldMk cId="3607234908" sldId="827"/>
        </pc:sldMkLst>
      </pc:sldChg>
      <pc:sldChg chg="del">
        <pc:chgData name="Jeremiah Contreras" userId="7aaf88c5-f86c-46d8-a0d4-f1ec65ded07c" providerId="ADAL" clId="{AA32A1BD-BE30-4A82-A9BA-9C3782F6D8A6}" dt="2023-10-25T01:23:15.762" v="122" actId="47"/>
        <pc:sldMkLst>
          <pc:docMk/>
          <pc:sldMk cId="2484958692" sldId="828"/>
        </pc:sldMkLst>
      </pc:sldChg>
      <pc:sldChg chg="modSp add del mod">
        <pc:chgData name="Jeremiah Contreras" userId="7aaf88c5-f86c-46d8-a0d4-f1ec65ded07c" providerId="ADAL" clId="{AA32A1BD-BE30-4A82-A9BA-9C3782F6D8A6}" dt="2023-10-25T01:23:15.762" v="122" actId="47"/>
        <pc:sldMkLst>
          <pc:docMk/>
          <pc:sldMk cId="3980144571" sldId="829"/>
        </pc:sldMkLst>
      </pc:sldChg>
      <pc:sldChg chg="addSp modSp mod modAnim">
        <pc:chgData name="Jeremiah Contreras" userId="7aaf88c5-f86c-46d8-a0d4-f1ec65ded07c" providerId="ADAL" clId="{AA32A1BD-BE30-4A82-A9BA-9C3782F6D8A6}" dt="2023-10-25T01:13:02.753" v="116"/>
        <pc:sldMkLst>
          <pc:docMk/>
          <pc:sldMk cId="2703228951" sldId="832"/>
        </pc:sldMkLst>
      </pc:sldChg>
    </pc:docChg>
  </pc:docChgLst>
  <pc:docChgLst>
    <pc:chgData name="Jeremiah Contreras" userId="7aaf88c5-f86c-46d8-a0d4-f1ec65ded07c" providerId="ADAL" clId="{47828E62-FC24-428A-ACF6-B28718A93287}"/>
    <pc:docChg chg="undo custSel addSld delSld modSld sldOrd">
      <pc:chgData name="Jeremiah Contreras" userId="7aaf88c5-f86c-46d8-a0d4-f1ec65ded07c" providerId="ADAL" clId="{47828E62-FC24-428A-ACF6-B28718A93287}" dt="2025-10-26T14:59:52.746" v="186"/>
      <pc:docMkLst>
        <pc:docMk/>
      </pc:docMkLst>
      <pc:sldChg chg="del">
        <pc:chgData name="Jeremiah Contreras" userId="7aaf88c5-f86c-46d8-a0d4-f1ec65ded07c" providerId="ADAL" clId="{47828E62-FC24-428A-ACF6-B28718A93287}" dt="2025-09-21T10:58:42.349" v="54" actId="2696"/>
        <pc:sldMkLst>
          <pc:docMk/>
          <pc:sldMk cId="1475342078" sldId="259"/>
        </pc:sldMkLst>
      </pc:sldChg>
      <pc:sldChg chg="del">
        <pc:chgData name="Jeremiah Contreras" userId="7aaf88c5-f86c-46d8-a0d4-f1ec65ded07c" providerId="ADAL" clId="{47828E62-FC24-428A-ACF6-B28718A93287}" dt="2025-09-21T10:58:42.349" v="54" actId="2696"/>
        <pc:sldMkLst>
          <pc:docMk/>
          <pc:sldMk cId="3055534536" sldId="261"/>
        </pc:sldMkLst>
      </pc:sldChg>
      <pc:sldChg chg="modSp mod">
        <pc:chgData name="Jeremiah Contreras" userId="7aaf88c5-f86c-46d8-a0d4-f1ec65ded07c" providerId="ADAL" clId="{47828E62-FC24-428A-ACF6-B28718A93287}" dt="2025-09-21T10:59:47.558" v="58" actId="20577"/>
        <pc:sldMkLst>
          <pc:docMk/>
          <pc:sldMk cId="886742849" sldId="375"/>
        </pc:sldMkLst>
      </pc:sldChg>
      <pc:sldChg chg="del">
        <pc:chgData name="Jeremiah Contreras" userId="7aaf88c5-f86c-46d8-a0d4-f1ec65ded07c" providerId="ADAL" clId="{47828E62-FC24-428A-ACF6-B28718A93287}" dt="2025-09-21T10:52:41.231" v="0" actId="47"/>
        <pc:sldMkLst>
          <pc:docMk/>
          <pc:sldMk cId="1838657000" sldId="422"/>
        </pc:sldMkLst>
      </pc:sldChg>
      <pc:sldChg chg="del">
        <pc:chgData name="Jeremiah Contreras" userId="7aaf88c5-f86c-46d8-a0d4-f1ec65ded07c" providerId="ADAL" clId="{47828E62-FC24-428A-ACF6-B28718A93287}" dt="2025-10-26T14:46:36.148" v="180" actId="47"/>
        <pc:sldMkLst>
          <pc:docMk/>
          <pc:sldMk cId="659504431" sldId="475"/>
        </pc:sldMkLst>
      </pc:sldChg>
      <pc:sldChg chg="addSp modSp mod modAnim">
        <pc:chgData name="Jeremiah Contreras" userId="7aaf88c5-f86c-46d8-a0d4-f1ec65ded07c" providerId="ADAL" clId="{47828E62-FC24-428A-ACF6-B28718A93287}" dt="2025-09-21T10:56:01.379" v="53"/>
        <pc:sldMkLst>
          <pc:docMk/>
          <pc:sldMk cId="2015352978" sldId="790"/>
        </pc:sldMkLst>
      </pc:sldChg>
      <pc:sldChg chg="del">
        <pc:chgData name="Jeremiah Contreras" userId="7aaf88c5-f86c-46d8-a0d4-f1ec65ded07c" providerId="ADAL" clId="{47828E62-FC24-428A-ACF6-B28718A93287}" dt="2025-10-26T14:45:26.656" v="177" actId="47"/>
        <pc:sldMkLst>
          <pc:docMk/>
          <pc:sldMk cId="3225508173" sldId="793"/>
        </pc:sldMkLst>
      </pc:sldChg>
      <pc:sldChg chg="addSp delSp modSp del mod addAnim delAnim modAnim">
        <pc:chgData name="Jeremiah Contreras" userId="7aaf88c5-f86c-46d8-a0d4-f1ec65ded07c" providerId="ADAL" clId="{47828E62-FC24-428A-ACF6-B28718A93287}" dt="2025-10-26T14:46:34.498" v="179" actId="47"/>
        <pc:sldMkLst>
          <pc:docMk/>
          <pc:sldMk cId="1700569860" sldId="805"/>
        </pc:sldMkLst>
        <pc:spChg chg="mod">
          <ac:chgData name="Jeremiah Contreras" userId="7aaf88c5-f86c-46d8-a0d4-f1ec65ded07c" providerId="ADAL" clId="{47828E62-FC24-428A-ACF6-B28718A93287}" dt="2025-10-26T14:43:49.167" v="93" actId="14100"/>
          <ac:spMkLst>
            <pc:docMk/>
            <pc:sldMk cId="1700569860" sldId="805"/>
            <ac:spMk id="3" creationId="{FD8C222F-1CB0-420F-8290-35E54F749251}"/>
          </ac:spMkLst>
        </pc:spChg>
        <pc:spChg chg="add del">
          <ac:chgData name="Jeremiah Contreras" userId="7aaf88c5-f86c-46d8-a0d4-f1ec65ded07c" providerId="ADAL" clId="{47828E62-FC24-428A-ACF6-B28718A93287}" dt="2025-10-26T14:44:40.604" v="153" actId="478"/>
          <ac:spMkLst>
            <pc:docMk/>
            <pc:sldMk cId="1700569860" sldId="805"/>
            <ac:spMk id="4" creationId="{55609C99-B36D-49D9-B91E-534A5DB96608}"/>
          </ac:spMkLst>
        </pc:spChg>
        <pc:spChg chg="add mod">
          <ac:chgData name="Jeremiah Contreras" userId="7aaf88c5-f86c-46d8-a0d4-f1ec65ded07c" providerId="ADAL" clId="{47828E62-FC24-428A-ACF6-B28718A93287}" dt="2025-10-26T14:43:37.415" v="78" actId="767"/>
          <ac:spMkLst>
            <pc:docMk/>
            <pc:sldMk cId="1700569860" sldId="805"/>
            <ac:spMk id="5" creationId="{8B46A915-1909-231A-4E78-4C187CB5EA89}"/>
          </ac:spMkLst>
        </pc:spChg>
        <pc:spChg chg="add mod">
          <ac:chgData name="Jeremiah Contreras" userId="7aaf88c5-f86c-46d8-a0d4-f1ec65ded07c" providerId="ADAL" clId="{47828E62-FC24-428A-ACF6-B28718A93287}" dt="2025-10-26T14:45:19.628" v="176" actId="1036"/>
          <ac:spMkLst>
            <pc:docMk/>
            <pc:sldMk cId="1700569860" sldId="805"/>
            <ac:spMk id="6" creationId="{3BE12095-9D31-0B61-C14F-226AC213ECA9}"/>
          </ac:spMkLst>
        </pc:spChg>
      </pc:sldChg>
      <pc:sldChg chg="del">
        <pc:chgData name="Jeremiah Contreras" userId="7aaf88c5-f86c-46d8-a0d4-f1ec65ded07c" providerId="ADAL" clId="{47828E62-FC24-428A-ACF6-B28718A93287}" dt="2025-10-26T14:45:28.268" v="178" actId="47"/>
        <pc:sldMkLst>
          <pc:docMk/>
          <pc:sldMk cId="3132633336" sldId="806"/>
        </pc:sldMkLst>
      </pc:sldChg>
      <pc:sldChg chg="ord">
        <pc:chgData name="Jeremiah Contreras" userId="7aaf88c5-f86c-46d8-a0d4-f1ec65ded07c" providerId="ADAL" clId="{47828E62-FC24-428A-ACF6-B28718A93287}" dt="2025-10-26T14:59:52.746" v="186"/>
        <pc:sldMkLst>
          <pc:docMk/>
          <pc:sldMk cId="872382066" sldId="815"/>
        </pc:sldMkLst>
      </pc:sldChg>
      <pc:sldChg chg="ord">
        <pc:chgData name="Jeremiah Contreras" userId="7aaf88c5-f86c-46d8-a0d4-f1ec65ded07c" providerId="ADAL" clId="{47828E62-FC24-428A-ACF6-B28718A93287}" dt="2025-10-26T14:59:47.582" v="184"/>
        <pc:sldMkLst>
          <pc:docMk/>
          <pc:sldMk cId="2900657863" sldId="816"/>
        </pc:sldMkLst>
      </pc:sldChg>
      <pc:sldChg chg="del">
        <pc:chgData name="Jeremiah Contreras" userId="7aaf88c5-f86c-46d8-a0d4-f1ec65ded07c" providerId="ADAL" clId="{47828E62-FC24-428A-ACF6-B28718A93287}" dt="2025-09-21T10:58:42.349" v="54" actId="2696"/>
        <pc:sldMkLst>
          <pc:docMk/>
          <pc:sldMk cId="2205820458" sldId="818"/>
        </pc:sldMkLst>
      </pc:sldChg>
      <pc:sldChg chg="del">
        <pc:chgData name="Jeremiah Contreras" userId="7aaf88c5-f86c-46d8-a0d4-f1ec65ded07c" providerId="ADAL" clId="{47828E62-FC24-428A-ACF6-B28718A93287}" dt="2025-09-21T10:58:42.349" v="54" actId="2696"/>
        <pc:sldMkLst>
          <pc:docMk/>
          <pc:sldMk cId="2703228951" sldId="832"/>
        </pc:sldMkLst>
      </pc:sldChg>
      <pc:sldChg chg="del">
        <pc:chgData name="Jeremiah Contreras" userId="7aaf88c5-f86c-46d8-a0d4-f1ec65ded07c" providerId="ADAL" clId="{47828E62-FC24-428A-ACF6-B28718A93287}" dt="2025-09-21T10:58:42.349" v="54" actId="2696"/>
        <pc:sldMkLst>
          <pc:docMk/>
          <pc:sldMk cId="2875066212" sldId="833"/>
        </pc:sldMkLst>
      </pc:sldChg>
      <pc:sldChg chg="modSp add mod">
        <pc:chgData name="Jeremiah Contreras" userId="7aaf88c5-f86c-46d8-a0d4-f1ec65ded07c" providerId="ADAL" clId="{47828E62-FC24-428A-ACF6-B28718A93287}" dt="2025-09-21T11:28:09.338" v="76" actId="20577"/>
        <pc:sldMkLst>
          <pc:docMk/>
          <pc:sldMk cId="725164496" sldId="835"/>
        </pc:sldMkLst>
      </pc:sldChg>
    </pc:docChg>
  </pc:docChgLst>
  <pc:docChgLst>
    <pc:chgData name="Jeremiah Contreras" userId="7aaf88c5-f86c-46d8-a0d4-f1ec65ded07c" providerId="ADAL" clId="{0E3E2688-B0DC-4299-952D-A449ADB1F04F}"/>
    <pc:docChg chg="undo custSel addSld delSld modSld">
      <pc:chgData name="Jeremiah Contreras" userId="7aaf88c5-f86c-46d8-a0d4-f1ec65ded07c" providerId="ADAL" clId="{0E3E2688-B0DC-4299-952D-A449ADB1F04F}" dt="2025-08-07T13:50:41.588" v="543" actId="313"/>
      <pc:docMkLst>
        <pc:docMk/>
      </pc:docMkLst>
      <pc:sldChg chg="add del">
        <pc:chgData name="Jeremiah Contreras" userId="7aaf88c5-f86c-46d8-a0d4-f1ec65ded07c" providerId="ADAL" clId="{0E3E2688-B0DC-4299-952D-A449ADB1F04F}" dt="2025-08-07T13:46:03.569" v="392" actId="2696"/>
        <pc:sldMkLst>
          <pc:docMk/>
          <pc:sldMk cId="2518481163" sldId="265"/>
        </pc:sldMkLst>
      </pc:sldChg>
      <pc:sldChg chg="add del">
        <pc:chgData name="Jeremiah Contreras" userId="7aaf88c5-f86c-46d8-a0d4-f1ec65ded07c" providerId="ADAL" clId="{0E3E2688-B0DC-4299-952D-A449ADB1F04F}" dt="2025-08-07T13:46:03.569" v="392" actId="2696"/>
        <pc:sldMkLst>
          <pc:docMk/>
          <pc:sldMk cId="990363558" sldId="299"/>
        </pc:sldMkLst>
      </pc:sldChg>
      <pc:sldChg chg="add del">
        <pc:chgData name="Jeremiah Contreras" userId="7aaf88c5-f86c-46d8-a0d4-f1ec65ded07c" providerId="ADAL" clId="{0E3E2688-B0DC-4299-952D-A449ADB1F04F}" dt="2025-08-07T13:46:03.569" v="392" actId="2696"/>
        <pc:sldMkLst>
          <pc:docMk/>
          <pc:sldMk cId="2709844677" sldId="300"/>
        </pc:sldMkLst>
      </pc:sldChg>
      <pc:sldChg chg="add del">
        <pc:chgData name="Jeremiah Contreras" userId="7aaf88c5-f86c-46d8-a0d4-f1ec65ded07c" providerId="ADAL" clId="{0E3E2688-B0DC-4299-952D-A449ADB1F04F}" dt="2025-08-07T13:46:03.569" v="392" actId="2696"/>
        <pc:sldMkLst>
          <pc:docMk/>
          <pc:sldMk cId="218341827" sldId="301"/>
        </pc:sldMkLst>
      </pc:sldChg>
      <pc:sldChg chg="add del">
        <pc:chgData name="Jeremiah Contreras" userId="7aaf88c5-f86c-46d8-a0d4-f1ec65ded07c" providerId="ADAL" clId="{0E3E2688-B0DC-4299-952D-A449ADB1F04F}" dt="2025-08-07T13:46:03.569" v="392" actId="2696"/>
        <pc:sldMkLst>
          <pc:docMk/>
          <pc:sldMk cId="4096998919" sldId="302"/>
        </pc:sldMkLst>
      </pc:sldChg>
      <pc:sldChg chg="add del">
        <pc:chgData name="Jeremiah Contreras" userId="7aaf88c5-f86c-46d8-a0d4-f1ec65ded07c" providerId="ADAL" clId="{0E3E2688-B0DC-4299-952D-A449ADB1F04F}" dt="2025-08-07T13:46:03.569" v="392" actId="2696"/>
        <pc:sldMkLst>
          <pc:docMk/>
          <pc:sldMk cId="3507252538" sldId="303"/>
        </pc:sldMkLst>
      </pc:sldChg>
      <pc:sldChg chg="modSp add mod">
        <pc:chgData name="Jeremiah Contreras" userId="7aaf88c5-f86c-46d8-a0d4-f1ec65ded07c" providerId="ADAL" clId="{0E3E2688-B0DC-4299-952D-A449ADB1F04F}" dt="2025-08-07T13:48:01.693" v="395" actId="14100"/>
        <pc:sldMkLst>
          <pc:docMk/>
          <pc:sldMk cId="2540492319" sldId="304"/>
        </pc:sldMkLst>
      </pc:sldChg>
      <pc:sldChg chg="delSp add del setBg delDesignElem">
        <pc:chgData name="Jeremiah Contreras" userId="7aaf88c5-f86c-46d8-a0d4-f1ec65ded07c" providerId="ADAL" clId="{0E3E2688-B0DC-4299-952D-A449ADB1F04F}" dt="2025-08-07T13:36:52.137" v="346" actId="47"/>
        <pc:sldMkLst>
          <pc:docMk/>
          <pc:sldMk cId="2476937257" sldId="374"/>
        </pc:sldMkLst>
      </pc:sldChg>
      <pc:sldChg chg="modSp mod">
        <pc:chgData name="Jeremiah Contreras" userId="7aaf88c5-f86c-46d8-a0d4-f1ec65ded07c" providerId="ADAL" clId="{0E3E2688-B0DC-4299-952D-A449ADB1F04F}" dt="2025-08-07T13:37:29.384" v="372" actId="20577"/>
        <pc:sldMkLst>
          <pc:docMk/>
          <pc:sldMk cId="886742849" sldId="375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3444707168" sldId="437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4254619503" sldId="437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1568633815" sldId="446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2588257601" sldId="446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3609851626" sldId="451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3933320487" sldId="451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377510634" sldId="452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1001984044" sldId="452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1882570697" sldId="453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4052261823" sldId="453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2382759597" sldId="454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3730364481" sldId="454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69026220" sldId="455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463339339" sldId="455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1094221804" sldId="456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4226711389" sldId="456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242401871" sldId="457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2133246528" sldId="457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1533996679" sldId="458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2032695090" sldId="458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2221955206" sldId="459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2593276880" sldId="459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354600660" sldId="460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2266936245" sldId="460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433733480" sldId="461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2607103709" sldId="461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2409442799" sldId="462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4243377498" sldId="462"/>
        </pc:sldMkLst>
      </pc:sldChg>
      <pc:sldChg chg="add del">
        <pc:chgData name="Jeremiah Contreras" userId="7aaf88c5-f86c-46d8-a0d4-f1ec65ded07c" providerId="ADAL" clId="{0E3E2688-B0DC-4299-952D-A449ADB1F04F}" dt="2025-08-07T13:37:04.192" v="347" actId="2696"/>
        <pc:sldMkLst>
          <pc:docMk/>
          <pc:sldMk cId="1923676399" sldId="464"/>
        </pc:sldMkLst>
      </pc:sldChg>
      <pc:sldChg chg="add">
        <pc:chgData name="Jeremiah Contreras" userId="7aaf88c5-f86c-46d8-a0d4-f1ec65ded07c" providerId="ADAL" clId="{0E3E2688-B0DC-4299-952D-A449ADB1F04F}" dt="2025-08-07T13:37:15.503" v="348"/>
        <pc:sldMkLst>
          <pc:docMk/>
          <pc:sldMk cId="2405784555" sldId="464"/>
        </pc:sldMkLst>
      </pc:sldChg>
      <pc:sldChg chg="del">
        <pc:chgData name="Jeremiah Contreras" userId="7aaf88c5-f86c-46d8-a0d4-f1ec65ded07c" providerId="ADAL" clId="{0E3E2688-B0DC-4299-952D-A449ADB1F04F}" dt="2025-08-07T13:48:08.720" v="396" actId="47"/>
        <pc:sldMkLst>
          <pc:docMk/>
          <pc:sldMk cId="192407238" sldId="465"/>
        </pc:sldMkLst>
      </pc:sldChg>
      <pc:sldChg chg="del">
        <pc:chgData name="Jeremiah Contreras" userId="7aaf88c5-f86c-46d8-a0d4-f1ec65ded07c" providerId="ADAL" clId="{0E3E2688-B0DC-4299-952D-A449ADB1F04F}" dt="2025-07-26T21:23:48.301" v="52" actId="47"/>
        <pc:sldMkLst>
          <pc:docMk/>
          <pc:sldMk cId="1377189477" sldId="466"/>
        </pc:sldMkLst>
      </pc:sldChg>
      <pc:sldChg chg="add del">
        <pc:chgData name="Jeremiah Contreras" userId="7aaf88c5-f86c-46d8-a0d4-f1ec65ded07c" providerId="ADAL" clId="{0E3E2688-B0DC-4299-952D-A449ADB1F04F}" dt="2025-07-26T21:24:08.488" v="55" actId="47"/>
        <pc:sldMkLst>
          <pc:docMk/>
          <pc:sldMk cId="3227646897" sldId="789"/>
        </pc:sldMkLst>
      </pc:sldChg>
      <pc:sldChg chg="del">
        <pc:chgData name="Jeremiah Contreras" userId="7aaf88c5-f86c-46d8-a0d4-f1ec65ded07c" providerId="ADAL" clId="{0E3E2688-B0DC-4299-952D-A449ADB1F04F}" dt="2025-07-26T21:23:30.770" v="50" actId="47"/>
        <pc:sldMkLst>
          <pc:docMk/>
          <pc:sldMk cId="1877028390" sldId="801"/>
        </pc:sldMkLst>
      </pc:sldChg>
      <pc:sldChg chg="del">
        <pc:chgData name="Jeremiah Contreras" userId="7aaf88c5-f86c-46d8-a0d4-f1ec65ded07c" providerId="ADAL" clId="{0E3E2688-B0DC-4299-952D-A449ADB1F04F}" dt="2025-07-26T21:23:32.226" v="51" actId="47"/>
        <pc:sldMkLst>
          <pc:docMk/>
          <pc:sldMk cId="1170472777" sldId="808"/>
        </pc:sldMkLst>
      </pc:sldChg>
      <pc:sldChg chg="add">
        <pc:chgData name="Jeremiah Contreras" userId="7aaf88c5-f86c-46d8-a0d4-f1ec65ded07c" providerId="ADAL" clId="{0E3E2688-B0DC-4299-952D-A449ADB1F04F}" dt="2025-08-07T13:50:03.103" v="494"/>
        <pc:sldMkLst>
          <pc:docMk/>
          <pc:sldMk cId="1113558269" sldId="809"/>
        </pc:sldMkLst>
      </pc:sldChg>
      <pc:sldChg chg="del">
        <pc:chgData name="Jeremiah Contreras" userId="7aaf88c5-f86c-46d8-a0d4-f1ec65ded07c" providerId="ADAL" clId="{0E3E2688-B0DC-4299-952D-A449ADB1F04F}" dt="2025-08-07T13:49:47.716" v="493" actId="2696"/>
        <pc:sldMkLst>
          <pc:docMk/>
          <pc:sldMk cId="2484958692" sldId="809"/>
        </pc:sldMkLst>
      </pc:sldChg>
      <pc:sldChg chg="del">
        <pc:chgData name="Jeremiah Contreras" userId="7aaf88c5-f86c-46d8-a0d4-f1ec65ded07c" providerId="ADAL" clId="{0E3E2688-B0DC-4299-952D-A449ADB1F04F}" dt="2025-07-24T00:39:05.719" v="0" actId="47"/>
        <pc:sldMkLst>
          <pc:docMk/>
          <pc:sldMk cId="786850437" sldId="810"/>
        </pc:sldMkLst>
      </pc:sldChg>
      <pc:sldChg chg="del">
        <pc:chgData name="Jeremiah Contreras" userId="7aaf88c5-f86c-46d8-a0d4-f1ec65ded07c" providerId="ADAL" clId="{0E3E2688-B0DC-4299-952D-A449ADB1F04F}" dt="2025-07-24T00:39:06.168" v="1" actId="47"/>
        <pc:sldMkLst>
          <pc:docMk/>
          <pc:sldMk cId="3282213250" sldId="811"/>
        </pc:sldMkLst>
      </pc:sldChg>
      <pc:sldChg chg="del">
        <pc:chgData name="Jeremiah Contreras" userId="7aaf88c5-f86c-46d8-a0d4-f1ec65ded07c" providerId="ADAL" clId="{0E3E2688-B0DC-4299-952D-A449ADB1F04F}" dt="2025-07-24T00:39:07.423" v="2" actId="47"/>
        <pc:sldMkLst>
          <pc:docMk/>
          <pc:sldMk cId="1683533261" sldId="812"/>
        </pc:sldMkLst>
      </pc:sldChg>
      <pc:sldChg chg="modSp mod modAnim">
        <pc:chgData name="Jeremiah Contreras" userId="7aaf88c5-f86c-46d8-a0d4-f1ec65ded07c" providerId="ADAL" clId="{0E3E2688-B0DC-4299-952D-A449ADB1F04F}" dt="2025-07-26T21:28:55.185" v="297" actId="113"/>
        <pc:sldMkLst>
          <pc:docMk/>
          <pc:sldMk cId="2195155441" sldId="814"/>
        </pc:sldMkLst>
      </pc:sldChg>
      <pc:sldChg chg="delSp modSp modAnim">
        <pc:chgData name="Jeremiah Contreras" userId="7aaf88c5-f86c-46d8-a0d4-f1ec65ded07c" providerId="ADAL" clId="{0E3E2688-B0DC-4299-952D-A449ADB1F04F}" dt="2025-07-26T21:26:54.902" v="155" actId="1076"/>
        <pc:sldMkLst>
          <pc:docMk/>
          <pc:sldMk cId="872382066" sldId="815"/>
        </pc:sldMkLst>
      </pc:sldChg>
      <pc:sldChg chg="modSp mod">
        <pc:chgData name="Jeremiah Contreras" userId="7aaf88c5-f86c-46d8-a0d4-f1ec65ded07c" providerId="ADAL" clId="{0E3E2688-B0DC-4299-952D-A449ADB1F04F}" dt="2025-07-24T00:40:13.909" v="49" actId="1076"/>
        <pc:sldMkLst>
          <pc:docMk/>
          <pc:sldMk cId="2205820458" sldId="818"/>
        </pc:sldMkLst>
      </pc:sldChg>
      <pc:sldChg chg="modSp del mod">
        <pc:chgData name="Jeremiah Contreras" userId="7aaf88c5-f86c-46d8-a0d4-f1ec65ded07c" providerId="ADAL" clId="{0E3E2688-B0DC-4299-952D-A449ADB1F04F}" dt="2025-08-07T13:49:47.716" v="493" actId="2696"/>
        <pc:sldMkLst>
          <pc:docMk/>
          <pc:sldMk cId="3607234908" sldId="827"/>
        </pc:sldMkLst>
      </pc:sldChg>
      <pc:sldChg chg="modSp add mod">
        <pc:chgData name="Jeremiah Contreras" userId="7aaf88c5-f86c-46d8-a0d4-f1ec65ded07c" providerId="ADAL" clId="{0E3E2688-B0DC-4299-952D-A449ADB1F04F}" dt="2025-08-07T13:50:41.588" v="543" actId="313"/>
        <pc:sldMkLst>
          <pc:docMk/>
          <pc:sldMk cId="4077415561" sldId="827"/>
        </pc:sldMkLst>
      </pc:sldChg>
      <pc:sldChg chg="modSp add del mod">
        <pc:chgData name="Jeremiah Contreras" userId="7aaf88c5-f86c-46d8-a0d4-f1ec65ded07c" providerId="ADAL" clId="{0E3E2688-B0DC-4299-952D-A449ADB1F04F}" dt="2025-08-07T13:46:03.569" v="392" actId="2696"/>
        <pc:sldMkLst>
          <pc:docMk/>
          <pc:sldMk cId="2963360828" sldId="829"/>
        </pc:sldMkLst>
      </pc:sldChg>
      <pc:sldChg chg="add del">
        <pc:chgData name="Jeremiah Contreras" userId="7aaf88c5-f86c-46d8-a0d4-f1ec65ded07c" providerId="ADAL" clId="{0E3E2688-B0DC-4299-952D-A449ADB1F04F}" dt="2025-08-07T13:36:40.863" v="345" actId="47"/>
        <pc:sldMkLst>
          <pc:docMk/>
          <pc:sldMk cId="1586882233" sldId="833"/>
        </pc:sldMkLst>
      </pc:sldChg>
      <pc:sldChg chg="modSp add mod">
        <pc:chgData name="Jeremiah Contreras" userId="7aaf88c5-f86c-46d8-a0d4-f1ec65ded07c" providerId="ADAL" clId="{0E3E2688-B0DC-4299-952D-A449ADB1F04F}" dt="2025-08-07T13:48:39.466" v="398" actId="1076"/>
        <pc:sldMkLst>
          <pc:docMk/>
          <pc:sldMk cId="2875066212" sldId="833"/>
        </pc:sldMkLst>
      </pc:sldChg>
      <pc:sldChg chg="modSp add mod">
        <pc:chgData name="Jeremiah Contreras" userId="7aaf88c5-f86c-46d8-a0d4-f1ec65ded07c" providerId="ADAL" clId="{0E3E2688-B0DC-4299-952D-A449ADB1F04F}" dt="2025-08-07T13:49:22.131" v="492" actId="1037"/>
        <pc:sldMkLst>
          <pc:docMk/>
          <pc:sldMk cId="691067247" sldId="834"/>
        </pc:sldMkLst>
      </pc:sldChg>
    </pc:docChg>
  </pc:docChgLst>
  <pc:docChgLst>
    <pc:chgData name="Jeremiah Contreras" userId="353e0578-c100-4b27-ab8d-040de0f2d32b" providerId="ADAL" clId="{A6BE99D1-CE6D-444F-8D9C-34E99A47D232}"/>
    <pc:docChg chg="modSld">
      <pc:chgData name="Jeremiah Contreras" userId="353e0578-c100-4b27-ab8d-040de0f2d32b" providerId="ADAL" clId="{A6BE99D1-CE6D-444F-8D9C-34E99A47D232}" dt="2024-10-23T11:36:28.019" v="6"/>
      <pc:docMkLst>
        <pc:docMk/>
      </pc:docMkLst>
      <pc:sldChg chg="addSp modSp mod modAnim">
        <pc:chgData name="Jeremiah Contreras" userId="353e0578-c100-4b27-ab8d-040de0f2d32b" providerId="ADAL" clId="{A6BE99D1-CE6D-444F-8D9C-34E99A47D232}" dt="2024-10-23T11:36:28.019" v="6"/>
        <pc:sldMkLst>
          <pc:docMk/>
          <pc:sldMk cId="2703228951" sldId="832"/>
        </pc:sldMkLst>
      </pc:sldChg>
    </pc:docChg>
  </pc:docChgLst>
  <pc:docChgLst>
    <pc:chgData name="Jeremiah Contreras" userId="353e0578-c100-4b27-ab8d-040de0f2d32b" providerId="ADAL" clId="{FDD6BDD8-AD5F-4C6D-9421-3FC1CD62DCE1}"/>
    <pc:docChg chg="custSel modSld">
      <pc:chgData name="Jeremiah Contreras" userId="353e0578-c100-4b27-ab8d-040de0f2d32b" providerId="ADAL" clId="{FDD6BDD8-AD5F-4C6D-9421-3FC1CD62DCE1}" dt="2024-08-01T18:12:09.166" v="50" actId="20577"/>
      <pc:docMkLst>
        <pc:docMk/>
      </pc:docMkLst>
      <pc:sldChg chg="modSp mod">
        <pc:chgData name="Jeremiah Contreras" userId="353e0578-c100-4b27-ab8d-040de0f2d32b" providerId="ADAL" clId="{FDD6BDD8-AD5F-4C6D-9421-3FC1CD62DCE1}" dt="2024-08-01T18:12:09.166" v="50" actId="20577"/>
        <pc:sldMkLst>
          <pc:docMk/>
          <pc:sldMk cId="872382066" sldId="81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26T22:22:31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1 871 24575,'25'28'0,"-2"1"0,-1 0 0,32 58 0,-48-78 0,15 30 0,0 1 0,-3 0 0,21 68 0,-38-101 0,1 0 0,0-1 0,1 0 0,-1 1 0,1-1 0,0 0 0,1 0 0,-1-1 0,1 1 0,1-1 0,-1 1 0,1-2 0,-1 1 0,1 0 0,1-1 0,-1 0 0,1 0 0,-1 0 0,1-1 0,0 0 0,1 0 0,-1 0 0,0-1 0,1 0 0,-1 0 0,1-1 0,0 0 0,-1 0 0,1-1 0,0 1 0,0-1 0,0-1 0,12-1 0,6-3 0,-1-1 0,1-1 0,-1-1 0,-1-1 0,0-1 0,0-1 0,-1-1 0,28-20 0,19-19 0,70-68 0,-49 40 0,977-709 0,-767 600-224,-225 143-917,-23 14-5685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4T16:46:23.6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1,'17'15,"1"-1,1-1,1-1,0 0,22 8,-3 0,543 297,-43-24,111 56,-508-268,-120-67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4T16:46:32.5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1379 0,'-11'3,"1"-1,-1 1,1 1,0 0,0 1,1 0,0 0,-16 12,21-15,-79 59,3 3,-98 101,88-79,14-14,-133 119,154-146,-120 75,-106 44,239-139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79B94-CEC4-4B78-AACA-8798394CE3A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DFD3F-0C84-449A-9041-4377B2065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0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25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220525" indent="-220525">
              <a:defRPr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89626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4173218" y="0"/>
            <a:ext cx="3192909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22" tIns="47160" rIns="94322" bIns="47160"/>
          <a:lstStyle>
            <a:lvl1pPr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9091" indent="-275434"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6041" indent="-220348"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8077" indent="-220348"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0114" indent="-220348"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6733" indent="-220348" defTabSz="94295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3351" indent="-220348" defTabSz="94295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969" indent="-220348" defTabSz="94295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6588" indent="-220348" defTabSz="94295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29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ACCT 3220\Oct 24 2013</a:t>
            </a:r>
          </a:p>
        </p:txBody>
      </p:sp>
      <p:sp>
        <p:nvSpPr>
          <p:cNvPr id="34819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73218" y="9018191"/>
            <a:ext cx="3192909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22" tIns="47160" rIns="94322" bIns="47160"/>
          <a:lstStyle>
            <a:lvl1pPr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29091" indent="-275434"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6041" indent="-220348"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78077" indent="-220348"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0114" indent="-220348" defTabSz="942958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6733" indent="-220348" defTabSz="94295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3351" indent="-220348" defTabSz="94295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969" indent="-220348" defTabSz="94295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6588" indent="-220348" defTabSz="94295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429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D1E0FB-7FE0-4039-BDE5-0605C76ADEAE}" type="slidenum"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pPr marL="0" marR="0" lvl="0" indent="0" algn="r" defTabSz="9429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4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15938" y="712788"/>
            <a:ext cx="6330950" cy="35607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0308" y="4510713"/>
            <a:ext cx="5403885" cy="426828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22" tIns="47160" rIns="94322" bIns="47160"/>
          <a:lstStyle/>
          <a:p>
            <a:pPr eaLnBrk="1" hangingPunct="1"/>
            <a:r>
              <a:rPr lang="en-US" altLang="en-US" dirty="0"/>
              <a:t>I start making</a:t>
            </a:r>
            <a:r>
              <a:rPr lang="en-US" altLang="en-US" baseline="0" dirty="0"/>
              <a:t> payments for construction.  If I have to take out a loan to make these payments, that interest would otherwise be avoidable.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83829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220525" indent="-220525">
              <a:defRPr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628695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Regardless of the method used to calculate the amount of cost allocated to a period, we must have three items of information:  (1) the estimated useful life of the asset; </a:t>
            </a:r>
          </a:p>
          <a:p>
            <a:r>
              <a:rPr lang="en-US" altLang="en-US" dirty="0"/>
              <a:t>(2) the allocation base which is the cost of the asset less its estimated residual value at the end of its useful life, and</a:t>
            </a:r>
          </a:p>
          <a:p>
            <a:r>
              <a:rPr lang="en-US" altLang="en-US" dirty="0"/>
              <a:t> (3) the allocation method.</a:t>
            </a:r>
          </a:p>
        </p:txBody>
      </p:sp>
      <p:sp>
        <p:nvSpPr>
          <p:cNvPr id="71684" name="Date Placeholder 1"/>
          <p:cNvSpPr>
            <a:spLocks noGrp="1"/>
          </p:cNvSpPr>
          <p:nvPr>
            <p:ph type="dt" sz="quarter" idx="4294967295"/>
          </p:nvPr>
        </p:nvSpPr>
        <p:spPr bwMode="auto">
          <a:xfrm>
            <a:off x="3975733" y="0"/>
            <a:ext cx="3042603" cy="46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41" tIns="45770" rIns="91541" bIns="45770"/>
          <a:lstStyle>
            <a:lvl1pPr>
              <a:defRPr b="1">
                <a:solidFill>
                  <a:schemeClr val="folHlink"/>
                </a:solidFill>
                <a:latin typeface="Comic Sans MS" pitchFamily="66" charset="0"/>
              </a:defRPr>
            </a:lvl1pPr>
            <a:lvl2pPr marL="743767" indent="-286064">
              <a:defRPr b="1">
                <a:solidFill>
                  <a:schemeClr val="folHlink"/>
                </a:solidFill>
                <a:latin typeface="Comic Sans MS" pitchFamily="66" charset="0"/>
              </a:defRPr>
            </a:lvl2pPr>
            <a:lvl3pPr marL="1144257" indent="-228851">
              <a:defRPr b="1">
                <a:solidFill>
                  <a:schemeClr val="folHlink"/>
                </a:solidFill>
                <a:latin typeface="Comic Sans MS" pitchFamily="66" charset="0"/>
              </a:defRPr>
            </a:lvl3pPr>
            <a:lvl4pPr marL="1601960" indent="-228851">
              <a:defRPr b="1">
                <a:solidFill>
                  <a:schemeClr val="folHlink"/>
                </a:solidFill>
                <a:latin typeface="Comic Sans MS" pitchFamily="66" charset="0"/>
              </a:defRPr>
            </a:lvl4pPr>
            <a:lvl5pPr marL="2059663" indent="-228851">
              <a:defRPr b="1">
                <a:solidFill>
                  <a:schemeClr val="folHlink"/>
                </a:solidFill>
                <a:latin typeface="Comic Sans MS" pitchFamily="66" charset="0"/>
              </a:defRPr>
            </a:lvl5pPr>
            <a:lvl6pPr marL="2517366" indent="-228851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6pPr>
            <a:lvl7pPr marL="2975069" indent="-228851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7pPr>
            <a:lvl8pPr marL="3432772" indent="-228851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8pPr>
            <a:lvl9pPr marL="3890475" indent="-228851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9pPr>
          </a:lstStyle>
          <a:p>
            <a:r>
              <a:rPr lang="en-US" altLang="en-US"/>
              <a:t>11/26/2018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accelerated methods assume the asset is more efficient earlier in its life, therefore more depreciation is taken earlier and less later (= decreasing charge as asset ages).</a:t>
            </a:r>
          </a:p>
          <a:p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7675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DFD3F-0C84-449A-9041-4377B20657F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4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7715-27F9-3E73-FCDA-BED66472C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56F0F19-F7AC-D3C3-FDC2-995D058C8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A9A06491-2B03-FC37-7CD3-89720FAEEB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220525" indent="-220525">
              <a:defRPr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472257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r>
              <a:rPr lang="en-US" altLang="en-US"/>
              <a:t>Conceptually, there is a fine line: maintain vs. improve</a:t>
            </a:r>
          </a:p>
          <a:p>
            <a:endParaRPr lang="en-US" altLang="en-US"/>
          </a:p>
          <a:p>
            <a:r>
              <a:rPr lang="en-US" altLang="en-US"/>
              <a:t>Practically, firms may set a $ threshold</a:t>
            </a:r>
          </a:p>
          <a:p>
            <a:r>
              <a:rPr lang="en-US" altLang="en-US"/>
              <a:t>&lt;$500 expense</a:t>
            </a:r>
          </a:p>
          <a:p>
            <a:r>
              <a:rPr lang="en-US" altLang="en-US"/>
              <a:t>&gt;$500 capitalize</a:t>
            </a:r>
          </a:p>
        </p:txBody>
      </p:sp>
    </p:spTree>
    <p:extLst>
      <p:ext uri="{BB962C8B-B14F-4D97-AF65-F5344CB8AC3E}">
        <p14:creationId xmlns:p14="http://schemas.microsoft.com/office/powerpoint/2010/main" val="3932939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8150" y="712788"/>
            <a:ext cx="6315075" cy="355282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549" y="4502631"/>
            <a:ext cx="5277079" cy="42602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53" tIns="47927" rIns="95853" bIns="47927"/>
          <a:lstStyle/>
          <a:p>
            <a:r>
              <a:rPr lang="en-US" altLang="en-US" dirty="0"/>
              <a:t>Remember: inputs to depreciation are all estimates (useful life, salvage value, market value, improvements).</a:t>
            </a:r>
          </a:p>
          <a:p>
            <a:endParaRPr lang="en-US" altLang="en-US" dirty="0"/>
          </a:p>
          <a:p>
            <a:r>
              <a:rPr lang="en-US" altLang="en-US" dirty="0"/>
              <a:t>New information can arise along the way </a:t>
            </a:r>
          </a:p>
          <a:p>
            <a:r>
              <a:rPr lang="en-US" altLang="en-US" dirty="0"/>
              <a:t> -use machine differently than expected</a:t>
            </a:r>
          </a:p>
          <a:p>
            <a:r>
              <a:rPr lang="en-US" altLang="en-US" dirty="0"/>
              <a:t>-machine wears better/worse than anticipated</a:t>
            </a:r>
          </a:p>
          <a:p>
            <a:r>
              <a:rPr lang="en-US" altLang="en-US" dirty="0"/>
              <a:t>-add new functionality or extend life with expenditures</a:t>
            </a:r>
          </a:p>
        </p:txBody>
      </p:sp>
    </p:spTree>
    <p:extLst>
      <p:ext uri="{BB962C8B-B14F-4D97-AF65-F5344CB8AC3E}">
        <p14:creationId xmlns:p14="http://schemas.microsoft.com/office/powerpoint/2010/main" val="505299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53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425364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84788" y="6386666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65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47451" y="6494435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79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61785" y="635216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98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27279" y="6340659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1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356352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83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2774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3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8525" y="635635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6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2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3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60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425364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53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84788" y="6386666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544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47451" y="6494435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270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61785" y="635216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80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27279" y="6340659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001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356352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2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2774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2425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8525" y="635635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93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323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9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873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0801455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219286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4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219286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8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5.png"/><Relationship Id="rId4" Type="http://schemas.openxmlformats.org/officeDocument/2006/relationships/customXml" Target="../ink/ink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Property, Plant &amp; Equipment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Part 1 – In-Class</a:t>
            </a:r>
          </a:p>
        </p:txBody>
      </p:sp>
    </p:spTree>
    <p:extLst>
      <p:ext uri="{BB962C8B-B14F-4D97-AF65-F5344CB8AC3E}">
        <p14:creationId xmlns:p14="http://schemas.microsoft.com/office/powerpoint/2010/main" val="1445483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5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+mn-lt"/>
              </a:rPr>
              <a:t>Today’s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904" y="2494450"/>
            <a:ext cx="4509847" cy="3563159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/>
              <a:t>Interest Capitalization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Depreciation Methods</a:t>
            </a:r>
            <a:endParaRPr lang="en-US" sz="2000" dirty="0"/>
          </a:p>
          <a:p>
            <a:pPr>
              <a:spcBef>
                <a:spcPts val="1800"/>
              </a:spcBef>
            </a:pPr>
            <a:r>
              <a:rPr lang="en-US" sz="2400" dirty="0"/>
              <a:t>Improvements/repairs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Post Acquisition Expenditures</a:t>
            </a:r>
          </a:p>
          <a:p>
            <a:pPr>
              <a:spcBef>
                <a:spcPts val="1800"/>
              </a:spcBef>
            </a:pPr>
            <a:endParaRPr lang="en-US" sz="2400" dirty="0"/>
          </a:p>
          <a:p>
            <a:pPr>
              <a:spcBef>
                <a:spcPts val="1800"/>
              </a:spcBef>
            </a:pPr>
            <a:endParaRPr lang="en-US" sz="2400" dirty="0"/>
          </a:p>
          <a:p>
            <a:pPr>
              <a:spcBef>
                <a:spcPts val="1800"/>
              </a:spcBef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DB7E2-E2B2-4BC9-ADBF-A777D1DC3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2378076"/>
            <a:ext cx="4600498" cy="237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4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+mj-lt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E814E-CD2A-4693-8F98-473AC7A6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0875"/>
            <a:ext cx="12192000" cy="3467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B278E9-2903-4E8E-82A3-0B8CBB9E2921}"/>
                  </a:ext>
                </a:extLst>
              </p14:cNvPr>
              <p14:cNvContentPartPr/>
              <p14:nvPr/>
            </p14:nvContentPartPr>
            <p14:xfrm>
              <a:off x="594504" y="3492779"/>
              <a:ext cx="879840" cy="505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B278E9-2903-4E8E-82A3-0B8CBB9E29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864" y="3484139"/>
                <a:ext cx="897480" cy="5234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C4E76BE1-216D-4358-85CC-E9F0BF53320A}"/>
              </a:ext>
            </a:extLst>
          </p:cNvPr>
          <p:cNvSpPr/>
          <p:nvPr/>
        </p:nvSpPr>
        <p:spPr>
          <a:xfrm>
            <a:off x="231648" y="3887196"/>
            <a:ext cx="3791712" cy="8168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8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8710-44F0-484A-825C-DFF25CEB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7787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Interest Capitalization</a:t>
            </a:r>
          </a:p>
        </p:txBody>
      </p:sp>
    </p:spTree>
    <p:extLst>
      <p:ext uri="{BB962C8B-B14F-4D97-AF65-F5344CB8AC3E}">
        <p14:creationId xmlns:p14="http://schemas.microsoft.com/office/powerpoint/2010/main" val="240944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0279-80F1-48E6-A032-39FFF3CE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Interest Capitalization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859AF-15DB-41AB-8CF1-185B81678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81713"/>
            <a:ext cx="10515600" cy="2887563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u="sng" dirty="0"/>
              <a:t>Interest can be capitalized (put on balance sheet) if:</a:t>
            </a:r>
          </a:p>
          <a:p>
            <a:pPr marL="971539" lvl="1" indent="-51435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There are expenditures towards the asset</a:t>
            </a:r>
          </a:p>
          <a:p>
            <a:pPr marL="971539" lvl="1" indent="-51435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Activities to prepare the asset are in progress</a:t>
            </a:r>
          </a:p>
          <a:p>
            <a:pPr marL="971539" lvl="1" indent="-51435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Interest is being incurred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7EB88-4030-4D9B-A342-0F173520E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033" y="1313501"/>
            <a:ext cx="449580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5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CA46BB-3E8D-4D50-BD69-8D65177C608B}"/>
              </a:ext>
            </a:extLst>
          </p:cNvPr>
          <p:cNvCxnSpPr>
            <a:cxnSpLocks/>
          </p:cNvCxnSpPr>
          <p:nvPr/>
        </p:nvCxnSpPr>
        <p:spPr>
          <a:xfrm>
            <a:off x="5475890" y="2601650"/>
            <a:ext cx="998482" cy="1234626"/>
          </a:xfrm>
          <a:prstGeom prst="straightConnector1">
            <a:avLst/>
          </a:prstGeom>
          <a:noFill/>
          <a:ln w="76200" cap="flat" cmpd="sng" algn="ctr">
            <a:solidFill>
              <a:srgbClr val="A2A4A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4FB521-5BFF-4E79-9F1A-2EC0F0731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Interest Capitalization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14358-0227-44E7-98E5-219A93914157}"/>
              </a:ext>
            </a:extLst>
          </p:cNvPr>
          <p:cNvSpPr/>
          <p:nvPr/>
        </p:nvSpPr>
        <p:spPr>
          <a:xfrm>
            <a:off x="1166648" y="1923397"/>
            <a:ext cx="4309242" cy="2774731"/>
          </a:xfrm>
          <a:prstGeom prst="rect">
            <a:avLst/>
          </a:prstGeom>
          <a:solidFill>
            <a:srgbClr val="44546A"/>
          </a:solidFill>
          <a:ln w="12700" cap="flat" cmpd="sng" algn="ctr">
            <a:solidFill>
              <a:srgbClr val="44546A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7A7A8-3B77-4F61-A692-9A01C8CB4EC0}"/>
              </a:ext>
            </a:extLst>
          </p:cNvPr>
          <p:cNvSpPr txBox="1"/>
          <p:nvPr/>
        </p:nvSpPr>
        <p:spPr>
          <a:xfrm>
            <a:off x="1888786" y="2175645"/>
            <a:ext cx="28536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Pay Actual Interest 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All Outstanding Debt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9416A-BFC2-4E4D-8CE7-206C59C2034F}"/>
              </a:ext>
            </a:extLst>
          </p:cNvPr>
          <p:cNvSpPr txBox="1"/>
          <p:nvPr/>
        </p:nvSpPr>
        <p:spPr>
          <a:xfrm>
            <a:off x="1534510" y="3092636"/>
            <a:ext cx="37942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Interest on construction loans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Interest on general debt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(i.e., notes payable, bonds payable, mortgage payable)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C5522B-DD1C-46B0-AE5F-AE71FA4BD2A2}"/>
              </a:ext>
            </a:extLst>
          </p:cNvPr>
          <p:cNvSpPr/>
          <p:nvPr/>
        </p:nvSpPr>
        <p:spPr>
          <a:xfrm>
            <a:off x="6474372" y="3429001"/>
            <a:ext cx="4183118" cy="2299134"/>
          </a:xfrm>
          <a:prstGeom prst="rect">
            <a:avLst/>
          </a:prstGeom>
          <a:solidFill>
            <a:srgbClr val="E7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536AC2-3ABD-4748-A422-13F996EFF47D}"/>
              </a:ext>
            </a:extLst>
          </p:cNvPr>
          <p:cNvSpPr/>
          <p:nvPr/>
        </p:nvSpPr>
        <p:spPr>
          <a:xfrm>
            <a:off x="6474372" y="1897863"/>
            <a:ext cx="4183117" cy="1345324"/>
          </a:xfrm>
          <a:prstGeom prst="rect">
            <a:avLst/>
          </a:prstGeom>
          <a:solidFill>
            <a:srgbClr val="CFB87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95B2FB-C44A-457A-A595-58D1784070C7}"/>
              </a:ext>
            </a:extLst>
          </p:cNvPr>
          <p:cNvSpPr txBox="1"/>
          <p:nvPr/>
        </p:nvSpPr>
        <p:spPr>
          <a:xfrm>
            <a:off x="7210095" y="2150111"/>
            <a:ext cx="25955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Interest Expense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(Income Statement)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0BE0D5-4298-470C-B077-D4FBCB808797}"/>
              </a:ext>
            </a:extLst>
          </p:cNvPr>
          <p:cNvSpPr txBox="1"/>
          <p:nvPr/>
        </p:nvSpPr>
        <p:spPr>
          <a:xfrm>
            <a:off x="7211532" y="3618993"/>
            <a:ext cx="2667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Capitalized Interest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(Balance Sheet)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1B11D8-8124-429A-AE34-D2FB0A7F29F1}"/>
              </a:ext>
            </a:extLst>
          </p:cNvPr>
          <p:cNvSpPr txBox="1"/>
          <p:nvPr/>
        </p:nvSpPr>
        <p:spPr>
          <a:xfrm>
            <a:off x="6621518" y="4432607"/>
            <a:ext cx="3951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Known as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avoidable interest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 not expense immediately – expensed later with depreciation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47A523A-D8E0-44BF-BB3C-EF58C0F4A81F}"/>
              </a:ext>
            </a:extLst>
          </p:cNvPr>
          <p:cNvCxnSpPr>
            <a:cxnSpLocks/>
          </p:cNvCxnSpPr>
          <p:nvPr/>
        </p:nvCxnSpPr>
        <p:spPr>
          <a:xfrm>
            <a:off x="5475890" y="2601650"/>
            <a:ext cx="998482" cy="0"/>
          </a:xfrm>
          <a:prstGeom prst="straightConnector1">
            <a:avLst/>
          </a:prstGeom>
          <a:noFill/>
          <a:ln w="76200" cap="flat" cmpd="sng" algn="ctr">
            <a:solidFill>
              <a:srgbClr val="A2A4A3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751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6" grpId="0" animBg="1"/>
      <p:bldP spid="17" grpId="0" animBg="1"/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3"/>
          <p:cNvSpPr txBox="1">
            <a:spLocks noChangeArrowheads="1"/>
          </p:cNvSpPr>
          <p:nvPr/>
        </p:nvSpPr>
        <p:spPr bwMode="auto">
          <a:xfrm>
            <a:off x="838200" y="1426990"/>
            <a:ext cx="10972800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“Avoidable interest”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 interest expense that is dedicated to the construction (i.e., it is avoidable if there is no construction)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Qualifying assets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require time to prepare for intended use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Assets under construction for the company’s own use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Assets constructed/produced for sale or lease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Capitalization period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Begins when 1. expenditures made, 2. activities in progress, and 3. interest being incurred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Ends when asset substantially complete and ready for use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Journal Entry </a:t>
            </a:r>
          </a:p>
          <a:p>
            <a:pPr marL="3429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Construction in Progress (B-A)		XX</a:t>
            </a:r>
          </a:p>
          <a:p>
            <a:pPr marL="3429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	Cash	(B-A)	[or Payable]			XX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7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latin typeface="+mj-lt"/>
              </a:rPr>
              <a:t>Interest Capitalization</a:t>
            </a:r>
            <a:endParaRPr lang="en-US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470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835770"/>
          </a:xfrm>
        </p:spPr>
        <p:txBody>
          <a:bodyPr>
            <a:normAutofit/>
          </a:bodyPr>
          <a:lstStyle/>
          <a:p>
            <a:pPr marL="966788" indent="-96678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0000"/>
                </a:solidFill>
              </a:rPr>
              <a:t>Step 1</a:t>
            </a:r>
            <a:r>
              <a:rPr lang="en-US" sz="2400" b="1" dirty="0"/>
              <a:t>:</a:t>
            </a:r>
            <a:r>
              <a:rPr lang="en-US" sz="2400" dirty="0"/>
              <a:t> Record expenditures in Construction in Process (B-A) and calculate </a:t>
            </a:r>
            <a:r>
              <a:rPr lang="en-US" sz="2400" b="1" dirty="0"/>
              <a:t>weighted-average accumulated expenditures</a:t>
            </a:r>
            <a:r>
              <a:rPr lang="en-US" sz="2400" dirty="0"/>
              <a:t> (aka weighted-average funding needs)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u="sng" dirty="0"/>
              <a:t>Journal Entry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	</a:t>
            </a:r>
            <a:r>
              <a:rPr lang="en-US" sz="2000" i="1" dirty="0"/>
              <a:t>Construction </a:t>
            </a:r>
            <a:r>
              <a:rPr lang="en-US" sz="2000" i="1"/>
              <a:t>in Progress </a:t>
            </a:r>
            <a:r>
              <a:rPr lang="en-US" sz="2000" i="1" dirty="0"/>
              <a:t>(B-A)		xx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i="1" dirty="0"/>
              <a:t>		Cash (B-A) or A/P (B-L)			xx</a:t>
            </a:r>
            <a:endParaRPr lang="en-US" sz="24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u="sng" dirty="0"/>
              <a:t>Calculate weighted-average accumulated expenditures</a:t>
            </a:r>
          </a:p>
          <a:p>
            <a:pPr marL="914389" lvl="1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For each expenditure, multiply the amount by the capitalization period (fraction of period between expenditure and end of period).</a:t>
            </a:r>
          </a:p>
          <a:p>
            <a:pPr marL="914389" lvl="1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Sum the weighted expenditures to get the weighted-avg accumulated expenditures</a:t>
            </a:r>
          </a:p>
          <a:p>
            <a:pPr marL="914389" lvl="1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This is the amount for which we can calculate </a:t>
            </a:r>
            <a:r>
              <a:rPr lang="en-US" sz="2000" b="1" dirty="0"/>
              <a:t>avoidable interest</a:t>
            </a:r>
          </a:p>
        </p:txBody>
      </p:sp>
    </p:spTree>
    <p:extLst>
      <p:ext uri="{BB962C8B-B14F-4D97-AF65-F5344CB8AC3E}">
        <p14:creationId xmlns:p14="http://schemas.microsoft.com/office/powerpoint/2010/main" val="188257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1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282409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dirty="0"/>
              <a:t>Sprout Co. has a construction project throughout all of 2021. During the first year of construction, Sprout incurred the following expenditures (assume paid in cash):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dirty="0"/>
              <a:t>	April 1, 2021	$500,000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dirty="0"/>
              <a:t>	July 1, 2021	$600,000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dirty="0"/>
              <a:t>	December 1, 2021	$900,000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b="1" dirty="0"/>
              <a:t>Record the journal entries for each expenditure.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81E7E-F881-4E7A-BEBE-2C4032E2ADD0}"/>
              </a:ext>
            </a:extLst>
          </p:cNvPr>
          <p:cNvSpPr txBox="1"/>
          <p:nvPr/>
        </p:nvSpPr>
        <p:spPr>
          <a:xfrm>
            <a:off x="838200" y="4338267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5486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4/1/21	Construction in Pro</a:t>
            </a:r>
            <a:r>
              <a:rPr lang="en-US" dirty="0" err="1">
                <a:solidFill>
                  <a:prstClr val="black"/>
                </a:solidFill>
                <a:latin typeface="Arial" panose="020B0604020202020204"/>
              </a:rPr>
              <a:t>gress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(B-A)	500,000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293938" algn="l"/>
                <a:tab pos="5486400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	Cash (B-A)		500,000</a:t>
            </a:r>
          </a:p>
          <a:p>
            <a:pPr lvl="0">
              <a:tabLst>
                <a:tab pos="914400" algn="l"/>
                <a:tab pos="1828800" algn="l"/>
                <a:tab pos="5486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7/1/21	Construction in </a:t>
            </a:r>
            <a:r>
              <a:rPr lang="en-US" dirty="0">
                <a:solidFill>
                  <a:prstClr val="black"/>
                </a:solidFill>
              </a:rPr>
              <a:t>Progress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(B-A)	600,000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293938" algn="l"/>
                <a:tab pos="5486400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	Cash (B-A)		600,000</a:t>
            </a:r>
          </a:p>
          <a:p>
            <a:pPr lvl="0">
              <a:tabLst>
                <a:tab pos="914400" algn="l"/>
                <a:tab pos="1828800" algn="l"/>
                <a:tab pos="5486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12/1/21	Construction in </a:t>
            </a:r>
            <a:r>
              <a:rPr lang="en-US" dirty="0">
                <a:solidFill>
                  <a:prstClr val="black"/>
                </a:solidFill>
              </a:rPr>
              <a:t>Progress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(B-A)	900,000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293938" algn="l"/>
                <a:tab pos="5486400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	Cash (B-A)		900,000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293938" algn="l"/>
                <a:tab pos="5486400" algn="l"/>
                <a:tab pos="64008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36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1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69"/>
            <a:ext cx="10515600" cy="36913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dirty="0"/>
              <a:t>Sprout Co. has a construction project throughout all of 2021. During the first year of construction, Sprout incurred the following expenditures (assume paid in cash):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dirty="0"/>
              <a:t>	April 1, 2021	$500,000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dirty="0"/>
              <a:t>	July 1, 2021	$600,000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dirty="0"/>
              <a:t>	December 1, 2021	$900,000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endParaRPr lang="en-US" sz="22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b="1" dirty="0"/>
              <a:t>Calculate the weighted-average accumulated expenditures.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/>
              <a:t>Capitalization </a:t>
            </a:r>
            <a:r>
              <a:rPr lang="en-US" sz="2200" dirty="0"/>
              <a:t>Period = What proportion of the year would Annual loans be used.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81E7E-F881-4E7A-BEBE-2C4032E2ADD0}"/>
              </a:ext>
            </a:extLst>
          </p:cNvPr>
          <p:cNvSpPr txBox="1"/>
          <p:nvPr/>
        </p:nvSpPr>
        <p:spPr>
          <a:xfrm>
            <a:off x="5195888" y="2336185"/>
            <a:ext cx="10515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4865688" algn="l"/>
                <a:tab pos="5486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x 9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/ 12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=     375,000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4865688" algn="l"/>
                <a:tab pos="5486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x 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/ 12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=     300,000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4865688" algn="l"/>
                <a:tab pos="5486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x 1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/ 12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=      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75,000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4865688" algn="l"/>
                <a:tab pos="5486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                    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$750,000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344714-8F0F-495B-A892-5B8476DB481D}"/>
              </a:ext>
            </a:extLst>
          </p:cNvPr>
          <p:cNvSpPr/>
          <p:nvPr/>
        </p:nvSpPr>
        <p:spPr>
          <a:xfrm>
            <a:off x="6067425" y="2650240"/>
            <a:ext cx="5394960" cy="434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70BC62-0968-47D6-B6A5-DAD33813D7F5}"/>
              </a:ext>
            </a:extLst>
          </p:cNvPr>
          <p:cNvSpPr/>
          <p:nvPr/>
        </p:nvSpPr>
        <p:spPr>
          <a:xfrm>
            <a:off x="5998845" y="3113584"/>
            <a:ext cx="5394960" cy="88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9BC9FA-7C92-C6B8-7511-AC124959841B}"/>
              </a:ext>
            </a:extLst>
          </p:cNvPr>
          <p:cNvSpPr/>
          <p:nvPr/>
        </p:nvSpPr>
        <p:spPr>
          <a:xfrm>
            <a:off x="8499764" y="3574472"/>
            <a:ext cx="1323109" cy="42370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33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835770"/>
          </a:xfrm>
        </p:spPr>
        <p:txBody>
          <a:bodyPr>
            <a:normAutofit/>
          </a:bodyPr>
          <a:lstStyle/>
          <a:p>
            <a:pPr marL="966788" indent="-96678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/>
              <a:t>Step 1:</a:t>
            </a:r>
            <a:r>
              <a:rPr lang="en-US" sz="2400" dirty="0"/>
              <a:t> Record expenditures in Construction in Process (B-A) and calculate </a:t>
            </a:r>
            <a:r>
              <a:rPr lang="en-US" sz="2400" b="1" dirty="0"/>
              <a:t>weighted-average accumulated expenditures</a:t>
            </a:r>
            <a:r>
              <a:rPr lang="en-US" sz="2400" dirty="0"/>
              <a:t> (aka weighted-average funding needs)</a:t>
            </a:r>
            <a:endParaRPr lang="en-US" sz="2000" b="1" dirty="0"/>
          </a:p>
          <a:p>
            <a:pPr marL="966788" indent="-96678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0000"/>
                </a:solidFill>
              </a:rPr>
              <a:t>Step 2</a:t>
            </a:r>
            <a:r>
              <a:rPr lang="en-US" sz="2400" b="1" dirty="0"/>
              <a:t>: </a:t>
            </a:r>
            <a:r>
              <a:rPr lang="en-US" sz="2400" dirty="0"/>
              <a:t>Determine interest rate to use</a:t>
            </a:r>
          </a:p>
          <a:p>
            <a:pPr marL="1484313" lvl="1" indent="-346075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First, use the interest rate for project-related loans on the weighted-avg accumulated expenditures up to the loan amount</a:t>
            </a:r>
          </a:p>
          <a:p>
            <a:pPr marL="1484313" lvl="1" indent="-346075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For remaining weighted-avg accumulated expenditures, use weighted-average interest rate on general (non-project) debt</a:t>
            </a:r>
          </a:p>
        </p:txBody>
      </p:sp>
    </p:spTree>
    <p:extLst>
      <p:ext uri="{BB962C8B-B14F-4D97-AF65-F5344CB8AC3E}">
        <p14:creationId xmlns:p14="http://schemas.microsoft.com/office/powerpoint/2010/main" val="422671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2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941"/>
            <a:ext cx="10515600" cy="282409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dirty="0"/>
              <a:t>Sprout Co. has the following debt for 2021: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1776413" algn="l"/>
                <a:tab pos="4572000" algn="l"/>
              </a:tabLst>
            </a:pPr>
            <a:r>
              <a:rPr lang="en-US" sz="2200" dirty="0"/>
              <a:t>	</a:t>
            </a:r>
            <a:r>
              <a:rPr lang="en-US" sz="2000" dirty="0"/>
              <a:t>Construction-specific loan	$500,000 at 7% interest rate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1776413" algn="l"/>
                <a:tab pos="4572000" algn="l"/>
              </a:tabLst>
            </a:pPr>
            <a:r>
              <a:rPr lang="en-US" sz="2000" dirty="0"/>
              <a:t>	Note payable		$1,000,000 at 10% interest rate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1776413" algn="l"/>
                <a:tab pos="4572000" algn="l"/>
              </a:tabLst>
            </a:pPr>
            <a:r>
              <a:rPr lang="en-US" sz="2000" dirty="0"/>
              <a:t>	Bond payable		$250,000 at 8% interest rate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3657600" algn="l"/>
              </a:tabLst>
            </a:pPr>
            <a:r>
              <a:rPr lang="en-US" sz="2200" b="1" dirty="0"/>
              <a:t>Determine appropriate interest rates.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81E7E-F881-4E7A-BEBE-2C4032E2ADD0}"/>
              </a:ext>
            </a:extLst>
          </p:cNvPr>
          <p:cNvSpPr txBox="1"/>
          <p:nvPr/>
        </p:nvSpPr>
        <p:spPr>
          <a:xfrm>
            <a:off x="1373038" y="3727396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5037138" algn="r"/>
                <a:tab pos="5262563" algn="l"/>
                <a:tab pos="7194550" algn="r"/>
              </a:tabLst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Project-specific Debt: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5037138" algn="r"/>
                <a:tab pos="5262563" algn="l"/>
                <a:tab pos="7194550" algn="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Construction-specific loan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5037138" algn="r"/>
                <a:tab pos="5262563" algn="l"/>
                <a:tab pos="7194550" algn="r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5037138" algn="r"/>
                <a:tab pos="5262563" algn="l"/>
                <a:tab pos="7194550" algn="r"/>
              </a:tabLst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General Debt (need weighted-average interest rate):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5037138" algn="r"/>
                <a:tab pos="5262563" algn="l"/>
                <a:tab pos="7194550" algn="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                                                  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              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5037138" algn="r"/>
                <a:tab pos="5262563" algn="l"/>
                <a:tab pos="7194550" algn="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Note Payable 	$1,000,000 	x 10% = 	$100,000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5037138" algn="r"/>
                <a:tab pos="5262563" algn="l"/>
                <a:tab pos="7194550" algn="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Bond Payable 	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$ 250,000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	x 8% =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	$20,000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5037138" algn="r"/>
                <a:tab pos="5262563" algn="l"/>
                <a:tab pos="7194550" algn="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$1,250,000		$120,000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293938" algn="l"/>
                <a:tab pos="5486400" algn="l"/>
                <a:tab pos="64008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FE6833AC-4226-4AB4-BC0D-9AF6B3C4C33C}"/>
              </a:ext>
            </a:extLst>
          </p:cNvPr>
          <p:cNvSpPr/>
          <p:nvPr/>
        </p:nvSpPr>
        <p:spPr>
          <a:xfrm>
            <a:off x="2260121" y="2459966"/>
            <a:ext cx="362309" cy="7591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1678D-011C-41D8-B3EF-66831ED892E7}"/>
              </a:ext>
            </a:extLst>
          </p:cNvPr>
          <p:cNvSpPr txBox="1"/>
          <p:nvPr/>
        </p:nvSpPr>
        <p:spPr>
          <a:xfrm>
            <a:off x="1216325" y="2547140"/>
            <a:ext cx="1121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General debt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78B3B-354B-45BB-91AC-AA86437FB67D}"/>
              </a:ext>
            </a:extLst>
          </p:cNvPr>
          <p:cNvSpPr txBox="1"/>
          <p:nvPr/>
        </p:nvSpPr>
        <p:spPr>
          <a:xfrm>
            <a:off x="2024332" y="6128053"/>
            <a:ext cx="8143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120,000 / 1,250,000 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9.6%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weighted-avg interest rate for general debt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00BD7E-3C76-4F4C-EC08-12DC1ADEE9D9}"/>
              </a:ext>
            </a:extLst>
          </p:cNvPr>
          <p:cNvSpPr/>
          <p:nvPr/>
        </p:nvSpPr>
        <p:spPr>
          <a:xfrm>
            <a:off x="2557463" y="1864519"/>
            <a:ext cx="7865268" cy="500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234A77-6BF5-0D30-5C01-4649D9079BBA}"/>
              </a:ext>
            </a:extLst>
          </p:cNvPr>
          <p:cNvSpPr/>
          <p:nvPr/>
        </p:nvSpPr>
        <p:spPr>
          <a:xfrm>
            <a:off x="1975572" y="5996838"/>
            <a:ext cx="7480156" cy="5845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2313E2-151C-C57C-3C83-FF9785FCE429}"/>
              </a:ext>
            </a:extLst>
          </p:cNvPr>
          <p:cNvSpPr/>
          <p:nvPr/>
        </p:nvSpPr>
        <p:spPr>
          <a:xfrm>
            <a:off x="1262462" y="2505846"/>
            <a:ext cx="1075297" cy="67195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24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835770"/>
          </a:xfrm>
        </p:spPr>
        <p:txBody>
          <a:bodyPr>
            <a:normAutofit/>
          </a:bodyPr>
          <a:lstStyle/>
          <a:p>
            <a:pPr marL="1138238" indent="-113823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/>
              <a:t>Step 1:</a:t>
            </a:r>
            <a:r>
              <a:rPr lang="en-US" sz="2400" dirty="0"/>
              <a:t> Record expenditures in Construction in Process (B-A) and calculate </a:t>
            </a:r>
            <a:r>
              <a:rPr lang="en-US" sz="2400" b="1" dirty="0"/>
              <a:t>weighted-average accumulated expenditures</a:t>
            </a:r>
            <a:r>
              <a:rPr lang="en-US" sz="2400" dirty="0"/>
              <a:t> (aka weighted-average funding needs)</a:t>
            </a:r>
            <a:endParaRPr lang="en-US" sz="2000" b="1" dirty="0"/>
          </a:p>
          <a:p>
            <a:pPr marL="966788" indent="-96678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/>
              <a:t>Step 2: </a:t>
            </a:r>
            <a:r>
              <a:rPr lang="en-US" sz="2400" dirty="0"/>
              <a:t>Determine interest rate to use</a:t>
            </a:r>
          </a:p>
          <a:p>
            <a:pPr marL="1484313" lvl="1" indent="-346075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First, use the interest rate for project-related loans on the weighted-avg accumulated expenditures up to the loan amount</a:t>
            </a:r>
          </a:p>
          <a:p>
            <a:pPr marL="1484313" lvl="1" indent="-346075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For remaining weighted-avg accumulated expenditures, use weighted-average interest rate on general (non-project) debt</a:t>
            </a:r>
          </a:p>
          <a:p>
            <a:pPr marL="1138238" lvl="1" indent="-113823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0000"/>
                </a:solidFill>
              </a:rPr>
              <a:t>Step 3</a:t>
            </a:r>
            <a:r>
              <a:rPr lang="en-US" sz="2400" b="1" dirty="0"/>
              <a:t>: </a:t>
            </a:r>
            <a:r>
              <a:rPr lang="en-US" sz="2400" dirty="0"/>
              <a:t>Calculate </a:t>
            </a:r>
            <a:r>
              <a:rPr lang="en-US" sz="2400" b="1" dirty="0"/>
              <a:t>actual interest</a:t>
            </a:r>
            <a:r>
              <a:rPr lang="en-US" sz="2400" dirty="0"/>
              <a:t> and </a:t>
            </a:r>
            <a:r>
              <a:rPr lang="en-US" sz="2400" b="1" dirty="0"/>
              <a:t>avoidable interest </a:t>
            </a:r>
            <a:r>
              <a:rPr lang="en-US" sz="2400" dirty="0"/>
              <a:t>(capitalize the lesser of these two)</a:t>
            </a:r>
            <a:endParaRPr lang="en-US" sz="2400" b="1" dirty="0"/>
          </a:p>
          <a:p>
            <a:pPr marL="1484313" lvl="1" indent="-346075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32695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7EE186B-F94F-4F91-9BFE-6ED78476363D}"/>
              </a:ext>
            </a:extLst>
          </p:cNvPr>
          <p:cNvSpPr txBox="1"/>
          <p:nvPr/>
        </p:nvSpPr>
        <p:spPr>
          <a:xfrm>
            <a:off x="7240384" y="4670680"/>
            <a:ext cx="1449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=   35,000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9C01CF-5F81-498C-B508-257CB69C515E}"/>
              </a:ext>
            </a:extLst>
          </p:cNvPr>
          <p:cNvSpPr txBox="1"/>
          <p:nvPr/>
        </p:nvSpPr>
        <p:spPr>
          <a:xfrm>
            <a:off x="6590531" y="4668522"/>
            <a:ext cx="928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 7%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FF1072-08F6-44BB-9152-696C6F29A581}"/>
              </a:ext>
            </a:extLst>
          </p:cNvPr>
          <p:cNvSpPr txBox="1"/>
          <p:nvPr/>
        </p:nvSpPr>
        <p:spPr>
          <a:xfrm>
            <a:off x="5178670" y="4687804"/>
            <a:ext cx="1449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$500,000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6911DD-9DE6-4D73-A5C1-A701FFAF0E77}"/>
              </a:ext>
            </a:extLst>
          </p:cNvPr>
          <p:cNvSpPr txBox="1"/>
          <p:nvPr/>
        </p:nvSpPr>
        <p:spPr>
          <a:xfrm>
            <a:off x="7352583" y="3292780"/>
            <a:ext cx="3881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$155,000 Total Actual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941"/>
            <a:ext cx="10515600" cy="232545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u="sng" dirty="0"/>
              <a:t>Actual Interest: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4054475" algn="l"/>
                <a:tab pos="6400800" algn="r"/>
                <a:tab pos="7435850" algn="r"/>
              </a:tabLst>
            </a:pPr>
            <a:r>
              <a:rPr lang="en-US" sz="2200" dirty="0"/>
              <a:t>	</a:t>
            </a:r>
            <a:r>
              <a:rPr lang="en-US" sz="2000" dirty="0"/>
              <a:t>Construction-specific loan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4054475" algn="l"/>
                <a:tab pos="6400800" algn="r"/>
                <a:tab pos="7435850" algn="r"/>
              </a:tabLst>
            </a:pPr>
            <a:r>
              <a:rPr lang="en-US" sz="2000" dirty="0"/>
              <a:t>	Note payable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4054475" algn="l"/>
                <a:tab pos="6400800" algn="r"/>
                <a:tab pos="7435850" algn="r"/>
              </a:tabLst>
            </a:pPr>
            <a:r>
              <a:rPr lang="en-US" sz="2000" dirty="0"/>
              <a:t>	Bond payable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914400" algn="l"/>
                <a:tab pos="4054475" algn="l"/>
                <a:tab pos="6400800" algn="r"/>
                <a:tab pos="7435850" algn="r"/>
              </a:tabLst>
            </a:pPr>
            <a:r>
              <a:rPr lang="en-US" sz="2000" dirty="0"/>
              <a:t>			</a:t>
            </a:r>
            <a:endParaRPr lang="en-US" sz="2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29128-B06D-4A03-B8CA-87B767B5FFBF}"/>
              </a:ext>
            </a:extLst>
          </p:cNvPr>
          <p:cNvSpPr txBox="1"/>
          <p:nvPr/>
        </p:nvSpPr>
        <p:spPr>
          <a:xfrm>
            <a:off x="7256253" y="1933725"/>
            <a:ext cx="1204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35,000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100,000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20,000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55CCA-8604-47ED-B743-263BE902FD52}"/>
              </a:ext>
            </a:extLst>
          </p:cNvPr>
          <p:cNvSpPr txBox="1"/>
          <p:nvPr/>
        </p:nvSpPr>
        <p:spPr>
          <a:xfrm>
            <a:off x="6096000" y="1920201"/>
            <a:ext cx="1204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 7%   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 10% 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 8%   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4DC64-264C-44E6-8BB0-14820DE12E0E}"/>
              </a:ext>
            </a:extLst>
          </p:cNvPr>
          <p:cNvSpPr txBox="1"/>
          <p:nvPr/>
        </p:nvSpPr>
        <p:spPr>
          <a:xfrm>
            <a:off x="4387966" y="1919956"/>
            <a:ext cx="18201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$500,000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$1,000,000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$250,000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1B913C-62E6-4323-9D25-2099DBC5D3F7}"/>
              </a:ext>
            </a:extLst>
          </p:cNvPr>
          <p:cNvSpPr txBox="1">
            <a:spLocks/>
          </p:cNvSpPr>
          <p:nvPr/>
        </p:nvSpPr>
        <p:spPr>
          <a:xfrm>
            <a:off x="838200" y="3660671"/>
            <a:ext cx="10515600" cy="2325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Avoidable Interest: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>
                <a:tab pos="914400" algn="l"/>
                <a:tab pos="4227513" algn="l"/>
                <a:tab pos="6400800" algn="r"/>
                <a:tab pos="7435850" algn="r"/>
                <a:tab pos="7539038" algn="l"/>
              </a:tabLst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1.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Construction-specific loan 		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>
                <a:tab pos="914400" algn="l"/>
                <a:tab pos="4227513" algn="l"/>
                <a:tab pos="6400800" algn="r"/>
                <a:tab pos="7435850" algn="r"/>
                <a:tab pos="75390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2.General debt		</a:t>
            </a:r>
            <a:endParaRPr kumimoji="0" lang="en-US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>
                <a:tab pos="914400" algn="l"/>
                <a:tab pos="4227513" algn="l"/>
                <a:tab pos="6400800" algn="r"/>
                <a:tab pos="7435850" algn="r"/>
                <a:tab pos="75390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	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44B89-7492-4B53-928B-044DD732360D}"/>
              </a:ext>
            </a:extLst>
          </p:cNvPr>
          <p:cNvSpPr txBox="1"/>
          <p:nvPr/>
        </p:nvSpPr>
        <p:spPr>
          <a:xfrm>
            <a:off x="6369115" y="5139333"/>
            <a:ext cx="1449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 9.6%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5A7CA-4FCF-4A7C-986B-12C25FA1C31F}"/>
              </a:ext>
            </a:extLst>
          </p:cNvPr>
          <p:cNvSpPr txBox="1"/>
          <p:nvPr/>
        </p:nvSpPr>
        <p:spPr>
          <a:xfrm>
            <a:off x="5178670" y="5125809"/>
            <a:ext cx="1449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$250,000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3 Example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22870-FB18-48C8-9192-01B25E334B71}"/>
              </a:ext>
            </a:extLst>
          </p:cNvPr>
          <p:cNvSpPr txBox="1"/>
          <p:nvPr/>
        </p:nvSpPr>
        <p:spPr>
          <a:xfrm>
            <a:off x="7257637" y="5138483"/>
            <a:ext cx="1449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=  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24,000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EB4F08-31B1-4B98-90B9-30D267552C56}"/>
              </a:ext>
            </a:extLst>
          </p:cNvPr>
          <p:cNvSpPr txBox="1"/>
          <p:nvPr/>
        </p:nvSpPr>
        <p:spPr>
          <a:xfrm>
            <a:off x="5178670" y="3778815"/>
            <a:ext cx="1449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$750,000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44B63C-EDAD-4F58-AF45-A156E0B7D08E}"/>
              </a:ext>
            </a:extLst>
          </p:cNvPr>
          <p:cNvSpPr txBox="1"/>
          <p:nvPr/>
        </p:nvSpPr>
        <p:spPr>
          <a:xfrm>
            <a:off x="7620664" y="5586016"/>
            <a:ext cx="361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$59,000 Avoidable Interest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D80078C-86AB-4F29-A454-7E24FF170DBE}"/>
              </a:ext>
            </a:extLst>
          </p:cNvPr>
          <p:cNvSpPr/>
          <p:nvPr/>
        </p:nvSpPr>
        <p:spPr>
          <a:xfrm>
            <a:off x="7475312" y="5568763"/>
            <a:ext cx="1276278" cy="4024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5" name="Graphic 24" descr="Back with solid fill">
            <a:extLst>
              <a:ext uri="{FF2B5EF4-FFF2-40B4-BE49-F238E27FC236}">
                <a16:creationId xmlns:a16="http://schemas.microsoft.com/office/drawing/2014/main" id="{0C7FA34B-93D1-4163-B4D6-249C75B535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54391">
            <a:off x="6772399" y="5551511"/>
            <a:ext cx="776323" cy="77632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9B370E-024F-4432-9BCF-FD6B18142B62}"/>
              </a:ext>
            </a:extLst>
          </p:cNvPr>
          <p:cNvSpPr txBox="1"/>
          <p:nvPr/>
        </p:nvSpPr>
        <p:spPr>
          <a:xfrm>
            <a:off x="6219591" y="6191321"/>
            <a:ext cx="1598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CAPITALIZE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1" name="Graphic 20" descr="Back with solid fill">
            <a:extLst>
              <a:ext uri="{FF2B5EF4-FFF2-40B4-BE49-F238E27FC236}">
                <a16:creationId xmlns:a16="http://schemas.microsoft.com/office/drawing/2014/main" id="{0AE63F01-5F3F-4C25-A8F8-3FA5DB3835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674606">
            <a:off x="5066039" y="3179406"/>
            <a:ext cx="776323" cy="77632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C2F11A3-DDAC-42AB-B2FA-B0ED70216409}"/>
              </a:ext>
            </a:extLst>
          </p:cNvPr>
          <p:cNvSpPr txBox="1"/>
          <p:nvPr/>
        </p:nvSpPr>
        <p:spPr>
          <a:xfrm>
            <a:off x="2876450" y="3243395"/>
            <a:ext cx="2501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Weighted Average Accumulated Expenditures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95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2" grpId="0"/>
      <p:bldP spid="20" grpId="0"/>
      <p:bldP spid="18" grpId="0"/>
      <p:bldP spid="17" grpId="0"/>
      <p:bldP spid="14" grpId="0"/>
      <p:bldP spid="13" grpId="0"/>
      <p:bldP spid="10" grpId="0"/>
      <p:bldP spid="9" grpId="0"/>
      <p:bldP spid="11" grpId="0"/>
      <p:bldP spid="19" grpId="0"/>
      <p:bldP spid="12" grpId="0"/>
      <p:bldP spid="24" grpId="0" animBg="1"/>
      <p:bldP spid="26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835770"/>
          </a:xfrm>
        </p:spPr>
        <p:txBody>
          <a:bodyPr>
            <a:normAutofit/>
          </a:bodyPr>
          <a:lstStyle/>
          <a:p>
            <a:pPr marL="1138238" indent="-113823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/>
              <a:t>Step 1:</a:t>
            </a:r>
            <a:r>
              <a:rPr lang="en-US" sz="2400" dirty="0"/>
              <a:t> Record expenditures in Construction in Process (B-A) and calculate </a:t>
            </a:r>
            <a:r>
              <a:rPr lang="en-US" sz="2400" b="1" dirty="0"/>
              <a:t>weighted-average accumulated expenditures</a:t>
            </a:r>
            <a:r>
              <a:rPr lang="en-US" sz="2400" dirty="0"/>
              <a:t> (aka weighted-average funding needs)</a:t>
            </a:r>
            <a:endParaRPr lang="en-US" sz="2000" b="1" dirty="0"/>
          </a:p>
          <a:p>
            <a:pPr marL="966788" indent="-96678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/>
              <a:t>Step 2: </a:t>
            </a:r>
            <a:r>
              <a:rPr lang="en-US" sz="2400" dirty="0"/>
              <a:t>Determine interest rate to use</a:t>
            </a:r>
          </a:p>
          <a:p>
            <a:pPr marL="1484313" lvl="1" indent="-346075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First, use the interest rate for project-related loans on the weighted-avg accumulated expenditures up to the loan amount</a:t>
            </a:r>
          </a:p>
          <a:p>
            <a:pPr marL="1484313" lvl="1" indent="-346075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For remaining weighted-avg accumulated expenditures, use weighted-average interest rate on general (non-project) debt</a:t>
            </a:r>
          </a:p>
          <a:p>
            <a:pPr marL="1138238" lvl="1" indent="-113823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/>
              <a:t>Step 3: </a:t>
            </a:r>
            <a:r>
              <a:rPr lang="en-US" sz="2400" dirty="0"/>
              <a:t>Calculate </a:t>
            </a:r>
            <a:r>
              <a:rPr lang="en-US" sz="2400" b="1" dirty="0"/>
              <a:t>actual interest</a:t>
            </a:r>
            <a:r>
              <a:rPr lang="en-US" sz="2400" dirty="0"/>
              <a:t> and </a:t>
            </a:r>
            <a:r>
              <a:rPr lang="en-US" sz="2400" b="1" dirty="0"/>
              <a:t>avoidable interest </a:t>
            </a:r>
            <a:r>
              <a:rPr lang="en-US" sz="2400" dirty="0"/>
              <a:t>(capitalize the lesser of these two)</a:t>
            </a:r>
          </a:p>
          <a:p>
            <a:pPr marL="1138238" lvl="1" indent="-1138238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Step 4</a:t>
            </a:r>
            <a:r>
              <a:rPr lang="en-US" b="1" dirty="0"/>
              <a:t>: </a:t>
            </a:r>
            <a:r>
              <a:rPr lang="en-US" dirty="0"/>
              <a:t>Record interest expense and interest capitalized</a:t>
            </a:r>
            <a:endParaRPr lang="en-US" sz="2400" b="1" dirty="0"/>
          </a:p>
          <a:p>
            <a:pPr marL="1484313" lvl="1" indent="-346075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6936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C1F-D341-43B3-A099-6A8EC3E6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capitalization: Step 4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396B1-707B-4AF6-AA0F-E301A3C6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835770"/>
          </a:xfrm>
        </p:spPr>
        <p:txBody>
          <a:bodyPr>
            <a:normAutofit/>
          </a:bodyPr>
          <a:lstStyle/>
          <a:p>
            <a:pPr marL="346075" indent="-346075">
              <a:lnSpc>
                <a:spcPct val="100000"/>
              </a:lnSpc>
              <a:spcAft>
                <a:spcPts val="600"/>
              </a:spcAft>
            </a:pPr>
            <a:r>
              <a:rPr lang="en-US" sz="2400" dirty="0"/>
              <a:t>Split Total Actual Interest into: </a:t>
            </a:r>
          </a:p>
          <a:p>
            <a:pPr marL="803264" lvl="1" indent="-346075">
              <a:lnSpc>
                <a:spcPct val="100000"/>
              </a:lnSpc>
              <a:spcAft>
                <a:spcPts val="600"/>
              </a:spcAft>
            </a:pPr>
            <a:r>
              <a:rPr lang="en-US" sz="2000" b="1" dirty="0"/>
              <a:t>Capitalized Interest</a:t>
            </a:r>
            <a:r>
              <a:rPr lang="en-US" sz="2000" dirty="0"/>
              <a:t>: debit Construction in </a:t>
            </a:r>
            <a:r>
              <a:rPr lang="en-US" sz="2000" dirty="0">
                <a:solidFill>
                  <a:prstClr val="black"/>
                </a:solidFill>
              </a:rPr>
              <a:t>Progress</a:t>
            </a:r>
            <a:r>
              <a:rPr lang="en-US" sz="2000" dirty="0"/>
              <a:t> (B-A)</a:t>
            </a:r>
          </a:p>
          <a:p>
            <a:pPr marL="803264" lvl="1" indent="-346075">
              <a:lnSpc>
                <a:spcPct val="100000"/>
              </a:lnSpc>
              <a:spcAft>
                <a:spcPts val="600"/>
              </a:spcAft>
            </a:pPr>
            <a:r>
              <a:rPr lang="en-US" sz="2000" b="1" dirty="0"/>
              <a:t>Interest Expense: </a:t>
            </a:r>
            <a:r>
              <a:rPr lang="en-US" sz="2000" dirty="0"/>
              <a:t>debit Interest Expense (I-E)</a:t>
            </a:r>
            <a:endParaRPr lang="en-US" sz="2000" b="1" dirty="0"/>
          </a:p>
          <a:p>
            <a:pPr marL="346075" indent="-346075">
              <a:lnSpc>
                <a:spcPct val="100000"/>
              </a:lnSpc>
              <a:spcAft>
                <a:spcPts val="600"/>
              </a:spcAft>
            </a:pPr>
            <a:r>
              <a:rPr lang="en-US" sz="2400" dirty="0"/>
              <a:t>Credit cash (if paid now) or interest payable (if paid later)</a:t>
            </a:r>
          </a:p>
          <a:p>
            <a:pPr marL="346075" indent="-346075">
              <a:lnSpc>
                <a:spcPct val="100000"/>
              </a:lnSpc>
              <a:spcAft>
                <a:spcPts val="600"/>
              </a:spcAft>
            </a:pPr>
            <a:r>
              <a:rPr lang="en-US" sz="2400" dirty="0"/>
              <a:t>Journal Entry for Sprouts on 12/31/2021 (assume paid cash now)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/>
              <a:t>	</a:t>
            </a:r>
            <a:r>
              <a:rPr lang="en-US" sz="2000" i="1" dirty="0"/>
              <a:t>Construction in </a:t>
            </a:r>
            <a:r>
              <a:rPr lang="en-US" sz="2000" dirty="0">
                <a:solidFill>
                  <a:prstClr val="black"/>
                </a:solidFill>
              </a:rPr>
              <a:t>Progress</a:t>
            </a:r>
            <a:r>
              <a:rPr lang="en-US" sz="2000" i="1" dirty="0"/>
              <a:t> (B-A)	59,000 (avoidable interest from Step 3)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/>
              <a:t>	Interest Expense (I-E)		96,000 (actual – avoidable)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/>
              <a:t>		Cash (B-A)			155,000 (actual interest from Step 3)	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0710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0E190-C0FD-4E53-B696-FEBEEAB2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In-class problem: Cap Int.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83C70-DE99-46FD-9859-64C9DD12F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0331"/>
            <a:ext cx="10703943" cy="522916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8257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Arial Black" panose="020B0A04020102020204" pitchFamily="34" charset="0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E814E-CD2A-4693-8F98-473AC7A6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1507"/>
            <a:ext cx="12192000" cy="34674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60D56CA-623A-4810-9C18-DD78789CA775}"/>
              </a:ext>
            </a:extLst>
          </p:cNvPr>
          <p:cNvSpPr/>
          <p:nvPr/>
        </p:nvSpPr>
        <p:spPr>
          <a:xfrm>
            <a:off x="4406305" y="3597401"/>
            <a:ext cx="2785010" cy="3713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49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8710-44F0-484A-825C-DFF25CEB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7787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Depreciation</a:t>
            </a:r>
          </a:p>
        </p:txBody>
      </p:sp>
    </p:spTree>
    <p:extLst>
      <p:ext uri="{BB962C8B-B14F-4D97-AF65-F5344CB8AC3E}">
        <p14:creationId xmlns:p14="http://schemas.microsoft.com/office/powerpoint/2010/main" val="3968663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ED3B7A-D538-4B82-8E81-38F467CD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E337B3-D38B-476F-85BF-300BEF0A1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39573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400" dirty="0"/>
              <a:t>Allocate fixed asset cost to expense over estimated useful life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400" dirty="0"/>
              <a:t>Allocate in a systematic manner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24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dirty="0"/>
              <a:t>	</a:t>
            </a:r>
            <a:r>
              <a:rPr lang="en-US" sz="2400" i="1" dirty="0"/>
              <a:t>Depreciation Expense (I-E)			XX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i="1" dirty="0"/>
              <a:t>		Accumulated Depreciation (B-XA) 		XX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477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715858" y="573531"/>
            <a:ext cx="118414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folHlink"/>
                </a:solidFill>
                <a:latin typeface="Comic Sans MS" pitchFamily="66" charset="0"/>
              </a:defRPr>
            </a:lvl1pPr>
            <a:lvl2pPr marL="742950" indent="-285750">
              <a:defRPr b="1">
                <a:solidFill>
                  <a:schemeClr val="folHlink"/>
                </a:solidFill>
                <a:latin typeface="Comic Sans MS" pitchFamily="66" charset="0"/>
              </a:defRPr>
            </a:lvl2pPr>
            <a:lvl3pPr marL="11430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3pPr>
            <a:lvl4pPr marL="16002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4pPr>
            <a:lvl5pPr marL="20574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9pPr>
          </a:lstStyle>
          <a:p>
            <a:r>
              <a:rPr lang="en-US" altLang="en-US" sz="3600" b="0" dirty="0">
                <a:solidFill>
                  <a:schemeClr val="tx1"/>
                </a:solidFill>
                <a:latin typeface="+mj-lt"/>
                <a:cs typeface="Calibri Light" panose="020F0302020204030204" pitchFamily="34" charset="0"/>
              </a:rPr>
              <a:t>Need three pieces of information:</a:t>
            </a:r>
          </a:p>
        </p:txBody>
      </p:sp>
      <p:cxnSp>
        <p:nvCxnSpPr>
          <p:cNvPr id="29713" name="AutoShape 4"/>
          <p:cNvCxnSpPr>
            <a:cxnSpLocks noChangeShapeType="1"/>
          </p:cNvCxnSpPr>
          <p:nvPr/>
        </p:nvCxnSpPr>
        <p:spPr bwMode="auto">
          <a:xfrm rot="16200000" flipH="1">
            <a:off x="2459945" y="3228889"/>
            <a:ext cx="776200" cy="529"/>
          </a:xfrm>
          <a:prstGeom prst="bentConnector3">
            <a:avLst>
              <a:gd name="adj1" fmla="val 50000"/>
            </a:avLst>
          </a:prstGeom>
          <a:noFill/>
          <a:ln w="57150">
            <a:solidFill>
              <a:schemeClr val="accent6">
                <a:lumMod val="75000"/>
              </a:schemeClr>
            </a:solidFill>
            <a:miter lim="800000"/>
            <a:headEnd/>
            <a:tailEnd type="triangle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AutoShape 7"/>
          <p:cNvCxnSpPr>
            <a:cxnSpLocks noChangeShapeType="1"/>
          </p:cNvCxnSpPr>
          <p:nvPr/>
        </p:nvCxnSpPr>
        <p:spPr bwMode="auto">
          <a:xfrm flipH="1">
            <a:off x="5705624" y="2950878"/>
            <a:ext cx="1" cy="2029896"/>
          </a:xfrm>
          <a:prstGeom prst="straightConnector1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AutoShape 10"/>
          <p:cNvCxnSpPr>
            <a:cxnSpLocks noChangeShapeType="1"/>
          </p:cNvCxnSpPr>
          <p:nvPr/>
        </p:nvCxnSpPr>
        <p:spPr bwMode="auto">
          <a:xfrm rot="16200000" flipH="1">
            <a:off x="7695859" y="2920758"/>
            <a:ext cx="1385442" cy="1"/>
          </a:xfrm>
          <a:prstGeom prst="bentConnector3">
            <a:avLst>
              <a:gd name="adj1" fmla="val 50000"/>
            </a:avLst>
          </a:prstGeom>
          <a:noFill/>
          <a:ln w="57150">
            <a:solidFill>
              <a:schemeClr val="accent6">
                <a:lumMod val="75000"/>
              </a:schemeClr>
            </a:solidFill>
            <a:miter lim="800000"/>
            <a:headEnd/>
            <a:tailEnd type="triangle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2" name="Text Box 12"/>
          <p:cNvSpPr txBox="1">
            <a:spLocks noChangeArrowheads="1"/>
          </p:cNvSpPr>
          <p:nvPr/>
        </p:nvSpPr>
        <p:spPr bwMode="auto">
          <a:xfrm>
            <a:off x="4579198" y="2049741"/>
            <a:ext cx="2057400" cy="83185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71842" dir="2700000" algn="ctr" rotWithShape="0">
              <a:schemeClr val="tx1"/>
            </a:outerShdw>
          </a:effectLst>
        </p:spPr>
        <p:txBody>
          <a:bodyPr>
            <a:spAutoFit/>
          </a:bodyPr>
          <a:lstStyle>
            <a:lvl1pPr>
              <a:defRPr b="1">
                <a:solidFill>
                  <a:schemeClr val="folHlink"/>
                </a:solidFill>
                <a:latin typeface="Comic Sans MS" pitchFamily="66" charset="0"/>
              </a:defRPr>
            </a:lvl1pPr>
            <a:lvl2pPr marL="742950" indent="-285750">
              <a:defRPr b="1">
                <a:solidFill>
                  <a:schemeClr val="folHlink"/>
                </a:solidFill>
                <a:latin typeface="Comic Sans MS" pitchFamily="66" charset="0"/>
              </a:defRPr>
            </a:lvl2pPr>
            <a:lvl3pPr marL="11430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3pPr>
            <a:lvl4pPr marL="16002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4pPr>
            <a:lvl5pPr marL="20574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0" dirty="0">
                <a:latin typeface="+mn-lt"/>
                <a:cs typeface="Arial" charset="0"/>
              </a:rPr>
              <a:t>Depreciable Base</a:t>
            </a:r>
          </a:p>
        </p:txBody>
      </p:sp>
      <p:sp>
        <p:nvSpPr>
          <p:cNvPr id="29703" name="Text Box 13"/>
          <p:cNvSpPr txBox="1">
            <a:spLocks noChangeArrowheads="1"/>
          </p:cNvSpPr>
          <p:nvPr/>
        </p:nvSpPr>
        <p:spPr bwMode="auto">
          <a:xfrm>
            <a:off x="1819610" y="2009392"/>
            <a:ext cx="2057400" cy="83185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71842" dir="2700000" algn="ctr" rotWithShape="0">
              <a:schemeClr val="tx1"/>
            </a:outerShdw>
          </a:effectLst>
        </p:spPr>
        <p:txBody>
          <a:bodyPr>
            <a:spAutoFit/>
          </a:bodyPr>
          <a:lstStyle>
            <a:lvl1pPr>
              <a:defRPr b="1">
                <a:solidFill>
                  <a:schemeClr val="folHlink"/>
                </a:solidFill>
                <a:latin typeface="Comic Sans MS" pitchFamily="66" charset="0"/>
              </a:defRPr>
            </a:lvl1pPr>
            <a:lvl2pPr marL="742950" indent="-285750">
              <a:defRPr b="1">
                <a:solidFill>
                  <a:schemeClr val="folHlink"/>
                </a:solidFill>
                <a:latin typeface="Comic Sans MS" pitchFamily="66" charset="0"/>
              </a:defRPr>
            </a:lvl2pPr>
            <a:lvl3pPr marL="11430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3pPr>
            <a:lvl4pPr marL="16002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4pPr>
            <a:lvl5pPr marL="20574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0" dirty="0">
                <a:latin typeface="+mn-lt"/>
                <a:cs typeface="Arial" charset="0"/>
              </a:rPr>
              <a:t>Service</a:t>
            </a:r>
            <a:br>
              <a:rPr lang="en-US" altLang="en-US" sz="2400" b="0" dirty="0">
                <a:latin typeface="+mn-lt"/>
                <a:cs typeface="Arial" charset="0"/>
              </a:rPr>
            </a:br>
            <a:r>
              <a:rPr lang="en-US" altLang="en-US" sz="2400" b="0" dirty="0">
                <a:latin typeface="+mn-lt"/>
                <a:cs typeface="Arial" charset="0"/>
              </a:rPr>
              <a:t> Life</a:t>
            </a:r>
          </a:p>
        </p:txBody>
      </p:sp>
      <p:sp>
        <p:nvSpPr>
          <p:cNvPr id="29704" name="Text Box 14"/>
          <p:cNvSpPr txBox="1">
            <a:spLocks noChangeArrowheads="1"/>
          </p:cNvSpPr>
          <p:nvPr/>
        </p:nvSpPr>
        <p:spPr bwMode="auto">
          <a:xfrm>
            <a:off x="7294521" y="2049741"/>
            <a:ext cx="2057400" cy="57785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71842" dir="2700000" algn="ctr" rotWithShape="0">
              <a:schemeClr val="tx1"/>
            </a:outerShdw>
          </a:effectLst>
        </p:spPr>
        <p:txBody>
          <a:bodyPr>
            <a:spAutoFit/>
          </a:bodyPr>
          <a:lstStyle>
            <a:lvl1pPr>
              <a:defRPr b="1">
                <a:solidFill>
                  <a:schemeClr val="folHlink"/>
                </a:solidFill>
                <a:latin typeface="Comic Sans MS" pitchFamily="66" charset="0"/>
              </a:defRPr>
            </a:lvl1pPr>
            <a:lvl2pPr marL="742950" indent="-285750">
              <a:defRPr b="1">
                <a:solidFill>
                  <a:schemeClr val="folHlink"/>
                </a:solidFill>
                <a:latin typeface="Comic Sans MS" pitchFamily="66" charset="0"/>
              </a:defRPr>
            </a:lvl2pPr>
            <a:lvl3pPr marL="11430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3pPr>
            <a:lvl4pPr marL="16002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4pPr>
            <a:lvl5pPr marL="2057400" indent="-228600">
              <a:defRPr b="1">
                <a:solidFill>
                  <a:schemeClr val="folHlink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folHlink"/>
                </a:solidFill>
                <a:latin typeface="Comic Sans MS" pitchFamily="66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en-US" sz="2400" b="0" dirty="0">
                <a:latin typeface="+mn-lt"/>
                <a:cs typeface="Arial" charset="0"/>
              </a:rPr>
              <a:t>Method</a:t>
            </a:r>
          </a:p>
        </p:txBody>
      </p:sp>
      <p:sp>
        <p:nvSpPr>
          <p:cNvPr id="5" name="Oval 4"/>
          <p:cNvSpPr/>
          <p:nvPr/>
        </p:nvSpPr>
        <p:spPr>
          <a:xfrm>
            <a:off x="2584995" y="1263502"/>
            <a:ext cx="6223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347199" y="1259996"/>
            <a:ext cx="6223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8062240" y="1259996"/>
            <a:ext cx="6223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B019EC-84B0-41D3-8413-EE767EA5D879}"/>
              </a:ext>
            </a:extLst>
          </p:cNvPr>
          <p:cNvGrpSpPr/>
          <p:nvPr/>
        </p:nvGrpSpPr>
        <p:grpSpPr>
          <a:xfrm>
            <a:off x="3324558" y="4980774"/>
            <a:ext cx="4772723" cy="1196909"/>
            <a:chOff x="-63301" y="1643577"/>
            <a:chExt cx="7112436" cy="119690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BD31276-D3C8-4E1C-BFAF-50ABB2801DB7}"/>
                </a:ext>
              </a:extLst>
            </p:cNvPr>
            <p:cNvSpPr/>
            <p:nvPr/>
          </p:nvSpPr>
          <p:spPr>
            <a:xfrm>
              <a:off x="0" y="1643577"/>
              <a:ext cx="7049135" cy="1196909"/>
            </a:xfrm>
            <a:prstGeom prst="roundRect">
              <a:avLst/>
            </a:prstGeom>
            <a:solidFill>
              <a:srgbClr val="809A67">
                <a:hueOff val="-2665464"/>
                <a:satOff val="-13422"/>
                <a:lumOff val="-12549"/>
                <a:alphaOff val="0"/>
              </a:srgbClr>
            </a:solidFill>
            <a:ln w="12700" cap="flat" cmpd="sng" algn="in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A184E323-F0BF-4F44-9F03-08A6A29F2285}"/>
                </a:ext>
              </a:extLst>
            </p:cNvPr>
            <p:cNvSpPr txBox="1"/>
            <p:nvPr/>
          </p:nvSpPr>
          <p:spPr>
            <a:xfrm>
              <a:off x="-63301" y="1688612"/>
              <a:ext cx="6932279" cy="10800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sysClr val="window" lastClr="FFFFFF"/>
                  </a:solidFill>
                  <a:latin typeface="+mn-lt"/>
                  <a:ea typeface="+mn-ea"/>
                  <a:cs typeface="+mn-cs"/>
                </a:rPr>
                <a:t>Total cost to be allocated</a:t>
              </a:r>
            </a:p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>
                  <a:solidFill>
                    <a:sysClr val="window" lastClr="FFFFFF"/>
                  </a:solidFill>
                </a:rPr>
                <a:t>(Cost – Salvage Value)</a:t>
              </a:r>
              <a:endParaRPr lang="en-US" sz="2400" kern="1200" dirty="0">
                <a:solidFill>
                  <a:sysClr val="window" lastClr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197DE1-3B28-4065-911D-83EA18BE4D96}"/>
              </a:ext>
            </a:extLst>
          </p:cNvPr>
          <p:cNvGrpSpPr/>
          <p:nvPr/>
        </p:nvGrpSpPr>
        <p:grpSpPr>
          <a:xfrm>
            <a:off x="1288636" y="3636338"/>
            <a:ext cx="3121791" cy="1002072"/>
            <a:chOff x="1990381" y="3657603"/>
            <a:chExt cx="3121791" cy="82422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9BFFA77-1D72-4D87-82F5-5134B89D68BE}"/>
                </a:ext>
              </a:extLst>
            </p:cNvPr>
            <p:cNvSpPr/>
            <p:nvPr/>
          </p:nvSpPr>
          <p:spPr>
            <a:xfrm>
              <a:off x="1990381" y="3657603"/>
              <a:ext cx="3121791" cy="824223"/>
            </a:xfrm>
            <a:prstGeom prst="roundRect">
              <a:avLst/>
            </a:prstGeom>
            <a:solidFill>
              <a:srgbClr val="809A67">
                <a:hueOff val="0"/>
                <a:satOff val="0"/>
                <a:lumOff val="0"/>
                <a:alphaOff val="0"/>
              </a:srgbClr>
            </a:solidFill>
            <a:ln w="12700" cap="flat" cmpd="sng" algn="in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CD06B265-2811-41B3-83E3-3F91DF44CF0B}"/>
                </a:ext>
              </a:extLst>
            </p:cNvPr>
            <p:cNvSpPr txBox="1"/>
            <p:nvPr/>
          </p:nvSpPr>
          <p:spPr>
            <a:xfrm>
              <a:off x="2036914" y="3782898"/>
              <a:ext cx="3071256" cy="5946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sz="2400" kern="1200" dirty="0">
                  <a:solidFill>
                    <a:sysClr val="window" lastClr="FFFFFF"/>
                  </a:solidFill>
                  <a:latin typeface="+mn-lt"/>
                  <a:ea typeface="+mn-ea"/>
                  <a:cs typeface="+mn-cs"/>
                </a:rPr>
                <a:t>Useful life in years (or units)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D4C6F9-CCB0-412E-B5A8-F69F3BDFD89F}"/>
              </a:ext>
            </a:extLst>
          </p:cNvPr>
          <p:cNvGrpSpPr/>
          <p:nvPr/>
        </p:nvGrpSpPr>
        <p:grpSpPr>
          <a:xfrm>
            <a:off x="6123051" y="3617396"/>
            <a:ext cx="4507915" cy="1144308"/>
            <a:chOff x="5927098" y="3956358"/>
            <a:chExt cx="4507915" cy="114430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EB221CF-F311-48BE-BB24-D7DF8DCEBA51}"/>
                </a:ext>
              </a:extLst>
            </p:cNvPr>
            <p:cNvSpPr/>
            <p:nvPr/>
          </p:nvSpPr>
          <p:spPr>
            <a:xfrm>
              <a:off x="6307433" y="3956358"/>
              <a:ext cx="4127580" cy="1144308"/>
            </a:xfrm>
            <a:prstGeom prst="roundRect">
              <a:avLst/>
            </a:prstGeom>
            <a:solidFill>
              <a:srgbClr val="809A67">
                <a:hueOff val="0"/>
                <a:satOff val="0"/>
                <a:lumOff val="0"/>
                <a:alphaOff val="0"/>
              </a:srgbClr>
            </a:solidFill>
            <a:ln w="12700" cap="flat" cmpd="sng" algn="in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38DA0561-66DD-4889-BCB3-F0AF2F8D953B}"/>
                </a:ext>
              </a:extLst>
            </p:cNvPr>
            <p:cNvSpPr txBox="1"/>
            <p:nvPr/>
          </p:nvSpPr>
          <p:spPr>
            <a:xfrm>
              <a:off x="5927098" y="4043638"/>
              <a:ext cx="4339013" cy="9337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1" algn="ctr">
                <a:defRPr/>
              </a:pPr>
              <a:r>
                <a:rPr lang="en-US" sz="2400" dirty="0">
                  <a:solidFill>
                    <a:schemeClr val="bg1"/>
                  </a:solidFill>
                </a:rPr>
                <a:t>The systematic approach used for allocation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nimBg="1"/>
      <p:bldP spid="29703" grpId="0" animBg="1"/>
      <p:bldP spid="29704" grpId="0" animBg="1"/>
      <p:bldP spid="5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5"/>
          <p:cNvSpPr txBox="1">
            <a:spLocks noChangeArrowheads="1"/>
          </p:cNvSpPr>
          <p:nvPr/>
        </p:nvSpPr>
        <p:spPr bwMode="auto">
          <a:xfrm>
            <a:off x="624840" y="458551"/>
            <a:ext cx="8001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 algn="l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Gill Sans MT" pitchFamily="34" charset="0"/>
              </a:defRPr>
            </a:lvl2pPr>
            <a:lvl3pPr marL="1143000" indent="-228600" algn="l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 algn="l">
              <a:spcBef>
                <a:spcPts val="400"/>
              </a:spcBef>
              <a:buClr>
                <a:srgbClr val="8BA2B4"/>
              </a:buClr>
              <a:buSzPct val="70000"/>
              <a:buFont typeface="Wingdings" pitchFamily="2" charset="2"/>
              <a:buChar char=""/>
              <a:defRPr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 algn="l">
              <a:spcBef>
                <a:spcPts val="300"/>
              </a:spcBef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>
              <a:spcBef>
                <a:spcPct val="30000"/>
              </a:spcBef>
              <a:spcAft>
                <a:spcPct val="20000"/>
              </a:spcAft>
              <a:buClrTx/>
              <a:buSzPct val="80000"/>
              <a:buFontTx/>
              <a:buNone/>
            </a:pPr>
            <a:r>
              <a:rPr lang="en-US" altLang="en-US" sz="4000" dirty="0">
                <a:latin typeface="+mj-lt"/>
                <a:cs typeface="Calibri Light" panose="020F0302020204030204" pitchFamily="34" charset="0"/>
              </a:rPr>
              <a:t>Methods of Depreciation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5712F1-BCF0-4F1B-9240-9295A8117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151" y="1399576"/>
            <a:ext cx="7972425" cy="4552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F46291-5F4D-CBEE-CECB-7B813352B94B}"/>
              </a:ext>
            </a:extLst>
          </p:cNvPr>
          <p:cNvSpPr txBox="1"/>
          <p:nvPr/>
        </p:nvSpPr>
        <p:spPr>
          <a:xfrm>
            <a:off x="2623588" y="6045449"/>
            <a:ext cx="6559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We will NOT test Sum-of-the-Year’s Digits</a:t>
            </a:r>
          </a:p>
        </p:txBody>
      </p:sp>
    </p:spTree>
    <p:extLst>
      <p:ext uri="{BB962C8B-B14F-4D97-AF65-F5344CB8AC3E}">
        <p14:creationId xmlns:p14="http://schemas.microsoft.com/office/powerpoint/2010/main" val="201535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CDC4-740E-455C-B4C6-E9E95860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Double Declining Balance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C3E72-217F-4B9F-9E56-3F63603D9BA1}"/>
              </a:ext>
            </a:extLst>
          </p:cNvPr>
          <p:cNvSpPr txBox="1"/>
          <p:nvPr/>
        </p:nvSpPr>
        <p:spPr>
          <a:xfrm>
            <a:off x="1861783" y="5290135"/>
            <a:ext cx="774542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/>
              <a:t>Assumes asset is more productive at generating revenue early in its life (accelerates depreciation)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08E3E-EEAA-4200-8DCC-9E9D06162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893" y="1504070"/>
            <a:ext cx="8839200" cy="36480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31A6C25-27FF-4B85-96AE-1C831F0E6ADE}"/>
              </a:ext>
            </a:extLst>
          </p:cNvPr>
          <p:cNvSpPr/>
          <p:nvPr/>
        </p:nvSpPr>
        <p:spPr>
          <a:xfrm rot="20922601">
            <a:off x="278959" y="2408477"/>
            <a:ext cx="3045431" cy="1397583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MV Boli" pitchFamily="2" charset="0"/>
                <a:cs typeface="MV Boli" pitchFamily="2" charset="0"/>
              </a:rPr>
              <a:t>Note: </a:t>
            </a:r>
            <a:r>
              <a:rPr lang="en-US" sz="2000" b="1" dirty="0">
                <a:solidFill>
                  <a:srgbClr val="FF0000"/>
                </a:solidFill>
                <a:latin typeface="MV Boli" pitchFamily="2" charset="0"/>
                <a:cs typeface="MV Boli" pitchFamily="2" charset="0"/>
              </a:rPr>
              <a:t>ignore</a:t>
            </a:r>
            <a:r>
              <a:rPr lang="en-US" sz="2000" dirty="0">
                <a:solidFill>
                  <a:schemeClr val="tx1"/>
                </a:solidFill>
                <a:latin typeface="MV Boli" pitchFamily="2" charset="0"/>
                <a:cs typeface="MV Boli" pitchFamily="2" charset="0"/>
              </a:rPr>
              <a:t> salvage in calculation (manually stop)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65E865-BC84-FB3F-C3B9-014A2DD87CFD}"/>
              </a:ext>
            </a:extLst>
          </p:cNvPr>
          <p:cNvSpPr/>
          <p:nvPr/>
        </p:nvSpPr>
        <p:spPr>
          <a:xfrm>
            <a:off x="772867" y="515031"/>
            <a:ext cx="2170358" cy="54224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214863-18E2-3320-E9F6-823815057F2E}"/>
              </a:ext>
            </a:extLst>
          </p:cNvPr>
          <p:cNvSpPr/>
          <p:nvPr/>
        </p:nvSpPr>
        <p:spPr>
          <a:xfrm>
            <a:off x="6440242" y="2457450"/>
            <a:ext cx="424902" cy="3167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0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827F2B4D-2486-43D0-8E52-CAC4AE3341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457768"/>
                  </p:ext>
                </p:extLst>
              </p:nvPr>
            </p:nvGraphicFramePr>
            <p:xfrm>
              <a:off x="1155700" y="3653366"/>
              <a:ext cx="10198100" cy="24807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00898">
                      <a:extLst>
                        <a:ext uri="{9D8B030D-6E8A-4147-A177-3AD203B41FA5}">
                          <a16:colId xmlns:a16="http://schemas.microsoft.com/office/drawing/2014/main" val="1728734422"/>
                        </a:ext>
                      </a:extLst>
                    </a:gridCol>
                    <a:gridCol w="3212302">
                      <a:extLst>
                        <a:ext uri="{9D8B030D-6E8A-4147-A177-3AD203B41FA5}">
                          <a16:colId xmlns:a16="http://schemas.microsoft.com/office/drawing/2014/main" val="384728250"/>
                        </a:ext>
                      </a:extLst>
                    </a:gridCol>
                    <a:gridCol w="2908300">
                      <a:extLst>
                        <a:ext uri="{9D8B030D-6E8A-4147-A177-3AD203B41FA5}">
                          <a16:colId xmlns:a16="http://schemas.microsoft.com/office/drawing/2014/main" val="425043910"/>
                        </a:ext>
                      </a:extLst>
                    </a:gridCol>
                    <a:gridCol w="3276600">
                      <a:extLst>
                        <a:ext uri="{9D8B030D-6E8A-4147-A177-3AD203B41FA5}">
                          <a16:colId xmlns:a16="http://schemas.microsoft.com/office/drawing/2014/main" val="973194972"/>
                        </a:ext>
                      </a:extLst>
                    </a:gridCol>
                  </a:tblGrid>
                  <a:tr h="6201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Depreciation Expense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End Acc. </a:t>
                          </a:r>
                          <a:r>
                            <a:rPr lang="en-US" b="1" dirty="0" err="1"/>
                            <a:t>Depr</a:t>
                          </a:r>
                          <a:r>
                            <a:rPr lang="en-US" b="1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End Book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2407599"/>
                      </a:ext>
                    </a:extLst>
                  </a:tr>
                  <a:tr h="62018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2021: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$15,000 x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= $10,000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+ 10,000 = $10,000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15,000 – 10,000 = $5,000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5804387"/>
                      </a:ext>
                    </a:extLst>
                  </a:tr>
                  <a:tr h="62018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2022: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$5,000 x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/>
                            <a:t> = $3,333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10,000 + 2,000 = $12,000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5,000 - 2,000 = $3,000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789627"/>
                      </a:ext>
                    </a:extLst>
                  </a:tr>
                  <a:tr h="62018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2023: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$12,000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$3,000 (salvage)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65894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827F2B4D-2486-43D0-8E52-CAC4AE3341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457768"/>
                  </p:ext>
                </p:extLst>
              </p:nvPr>
            </p:nvGraphicFramePr>
            <p:xfrm>
              <a:off x="1155700" y="3653366"/>
              <a:ext cx="10198100" cy="24807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00898">
                      <a:extLst>
                        <a:ext uri="{9D8B030D-6E8A-4147-A177-3AD203B41FA5}">
                          <a16:colId xmlns:a16="http://schemas.microsoft.com/office/drawing/2014/main" val="1728734422"/>
                        </a:ext>
                      </a:extLst>
                    </a:gridCol>
                    <a:gridCol w="3212302">
                      <a:extLst>
                        <a:ext uri="{9D8B030D-6E8A-4147-A177-3AD203B41FA5}">
                          <a16:colId xmlns:a16="http://schemas.microsoft.com/office/drawing/2014/main" val="384728250"/>
                        </a:ext>
                      </a:extLst>
                    </a:gridCol>
                    <a:gridCol w="2908300">
                      <a:extLst>
                        <a:ext uri="{9D8B030D-6E8A-4147-A177-3AD203B41FA5}">
                          <a16:colId xmlns:a16="http://schemas.microsoft.com/office/drawing/2014/main" val="425043910"/>
                        </a:ext>
                      </a:extLst>
                    </a:gridCol>
                    <a:gridCol w="3276600">
                      <a:extLst>
                        <a:ext uri="{9D8B030D-6E8A-4147-A177-3AD203B41FA5}">
                          <a16:colId xmlns:a16="http://schemas.microsoft.com/office/drawing/2014/main" val="973194972"/>
                        </a:ext>
                      </a:extLst>
                    </a:gridCol>
                  </a:tblGrid>
                  <a:tr h="6201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Depreciation Expense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End Acc. </a:t>
                          </a:r>
                          <a:r>
                            <a:rPr lang="en-US" b="1" dirty="0" err="1"/>
                            <a:t>Depr</a:t>
                          </a:r>
                          <a:r>
                            <a:rPr lang="en-US" b="1" dirty="0"/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End Book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2407599"/>
                      </a:ext>
                    </a:extLst>
                  </a:tr>
                  <a:tr h="62018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2021: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00" t="-104902" r="-192614" b="-2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+ 10,000 = $10,000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15,000 – 10,000 = $5,000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5804387"/>
                      </a:ext>
                    </a:extLst>
                  </a:tr>
                  <a:tr h="62018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2022: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000" t="-204902" r="-192614" b="-10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10,000 + 2,000 = $12,000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5,000 - 2,000 = $3,000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789627"/>
                      </a:ext>
                    </a:extLst>
                  </a:tr>
                  <a:tr h="62018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2023: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$12,000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$3,000 (salvage)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65894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C222F-1CB0-420F-8290-35E54F749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630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 January 1, 2021, Donuts-to-Go acquired a delivery truck at a cost of $15,000. The company estimates a useful life of three years and expects a salvage value of $3,000. Compute the depreciation expense for 2021, 2022, and 2023 using the double declining balance method.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  <a:tabLst>
                <a:tab pos="914400" algn="l"/>
                <a:tab pos="4000500" algn="l"/>
              </a:tabLst>
            </a:pPr>
            <a:r>
              <a:rPr lang="en-US" sz="2400" dirty="0"/>
              <a:t>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9C22A-636B-45E7-A690-F82FAEA9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Example: Double Declining Balance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2D7927-BAD9-4EB2-9140-E0BAA3C5E01A}"/>
                  </a:ext>
                </a:extLst>
              </p14:cNvPr>
              <p14:cNvContentPartPr/>
              <p14:nvPr/>
            </p14:nvContentPartPr>
            <p14:xfrm>
              <a:off x="3403220" y="4990740"/>
              <a:ext cx="760320" cy="417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2D7927-BAD9-4EB2-9140-E0BAA3C5E0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4220" y="4982100"/>
                <a:ext cx="77796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D615F5-6ADA-4B6D-9D3C-C40FD562C67D}"/>
                  </a:ext>
                </a:extLst>
              </p14:cNvPr>
              <p14:cNvContentPartPr/>
              <p14:nvPr/>
            </p14:nvContentPartPr>
            <p14:xfrm>
              <a:off x="3542180" y="5015940"/>
              <a:ext cx="496440" cy="375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D615F5-6ADA-4B6D-9D3C-C40FD562C6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3540" y="5006940"/>
                <a:ext cx="514080" cy="3934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504EA0B-ECC0-431D-BBB6-CF755BF55DA5}"/>
              </a:ext>
            </a:extLst>
          </p:cNvPr>
          <p:cNvSpPr/>
          <p:nvPr/>
        </p:nvSpPr>
        <p:spPr>
          <a:xfrm>
            <a:off x="1968500" y="4330700"/>
            <a:ext cx="2959100" cy="516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69CA41-D8D6-44BA-9A38-FE737D3BDCDB}"/>
              </a:ext>
            </a:extLst>
          </p:cNvPr>
          <p:cNvSpPr/>
          <p:nvPr/>
        </p:nvSpPr>
        <p:spPr>
          <a:xfrm>
            <a:off x="5270500" y="4305300"/>
            <a:ext cx="2207740" cy="417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2B5FFA-41B1-4C3B-81C7-097010975E1C}"/>
              </a:ext>
            </a:extLst>
          </p:cNvPr>
          <p:cNvSpPr/>
          <p:nvPr/>
        </p:nvSpPr>
        <p:spPr>
          <a:xfrm>
            <a:off x="8151340" y="4421920"/>
            <a:ext cx="2719860" cy="417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6B5794-FAF1-41BE-8AD5-21E66413F965}"/>
              </a:ext>
            </a:extLst>
          </p:cNvPr>
          <p:cNvSpPr/>
          <p:nvPr/>
        </p:nvSpPr>
        <p:spPr>
          <a:xfrm>
            <a:off x="1981200" y="4997320"/>
            <a:ext cx="2888070" cy="461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D1D112-A1FC-4DC7-B779-D28FC9520157}"/>
              </a:ext>
            </a:extLst>
          </p:cNvPr>
          <p:cNvSpPr/>
          <p:nvPr/>
        </p:nvSpPr>
        <p:spPr>
          <a:xfrm>
            <a:off x="5243920" y="4973820"/>
            <a:ext cx="2693580" cy="417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024933-A645-4DE1-9766-A94B4E90D1A2}"/>
              </a:ext>
            </a:extLst>
          </p:cNvPr>
          <p:cNvSpPr/>
          <p:nvPr/>
        </p:nvSpPr>
        <p:spPr>
          <a:xfrm>
            <a:off x="8178800" y="4956500"/>
            <a:ext cx="2362200" cy="417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FE18D1-4320-4C41-A929-193DA4040446}"/>
              </a:ext>
            </a:extLst>
          </p:cNvPr>
          <p:cNvSpPr/>
          <p:nvPr/>
        </p:nvSpPr>
        <p:spPr>
          <a:xfrm>
            <a:off x="1981200" y="5561100"/>
            <a:ext cx="2857500" cy="417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8B4CFE-7CAB-4976-A877-CC30488AF7E1}"/>
              </a:ext>
            </a:extLst>
          </p:cNvPr>
          <p:cNvSpPr/>
          <p:nvPr/>
        </p:nvSpPr>
        <p:spPr>
          <a:xfrm>
            <a:off x="5327650" y="5561100"/>
            <a:ext cx="2362200" cy="417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EF74C6-1AF8-4A6E-950C-D6B74ECCD240}"/>
              </a:ext>
            </a:extLst>
          </p:cNvPr>
          <p:cNvSpPr/>
          <p:nvPr/>
        </p:nvSpPr>
        <p:spPr>
          <a:xfrm>
            <a:off x="8178800" y="5619300"/>
            <a:ext cx="1672431" cy="417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E5331F-A48D-49AD-AE03-9402A74B013D}"/>
              </a:ext>
            </a:extLst>
          </p:cNvPr>
          <p:cNvSpPr txBox="1"/>
          <p:nvPr/>
        </p:nvSpPr>
        <p:spPr>
          <a:xfrm>
            <a:off x="4369980" y="5031008"/>
            <a:ext cx="789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2,000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E04F30-2F11-48E1-97C8-5B7133683F35}"/>
              </a:ext>
            </a:extLst>
          </p:cNvPr>
          <p:cNvCxnSpPr/>
          <p:nvPr/>
        </p:nvCxnSpPr>
        <p:spPr>
          <a:xfrm flipH="1">
            <a:off x="2540000" y="4711830"/>
            <a:ext cx="7429500" cy="29268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C876A85-EAD2-48E9-A869-20CF0E9AB084}"/>
              </a:ext>
            </a:extLst>
          </p:cNvPr>
          <p:cNvSpPr/>
          <p:nvPr/>
        </p:nvSpPr>
        <p:spPr>
          <a:xfrm>
            <a:off x="1981200" y="4990740"/>
            <a:ext cx="811680" cy="409600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59B895-BB54-AC21-CF54-C93B05EFDD5F}"/>
              </a:ext>
            </a:extLst>
          </p:cNvPr>
          <p:cNvSpPr/>
          <p:nvPr/>
        </p:nvSpPr>
        <p:spPr>
          <a:xfrm>
            <a:off x="5741590" y="5593586"/>
            <a:ext cx="1858169" cy="44367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0986FD-492B-28A6-8432-E3BD8EAE3234}"/>
              </a:ext>
            </a:extLst>
          </p:cNvPr>
          <p:cNvSpPr/>
          <p:nvPr/>
        </p:nvSpPr>
        <p:spPr>
          <a:xfrm>
            <a:off x="4298576" y="4976184"/>
            <a:ext cx="824694" cy="44367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7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39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C15B-8AAC-42C0-A464-1FB345E84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171858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Partial Year Depreciation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8459D-35DC-4626-9AFE-6D1E3FE4F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53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416BD3-6BFE-4D6F-A3E0-7AE16034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Partial Year Depreciation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884C3-64B4-4BD9-AD7F-903C83038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How do we depreciate if PP&amp;E is purchased (or disposed of) during the year?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u="sng" dirty="0"/>
              <a:t>Assume Full Month Convention</a:t>
            </a:r>
            <a:r>
              <a:rPr lang="en-US" b="1" dirty="0"/>
              <a:t>: </a:t>
            </a:r>
            <a:r>
              <a:rPr lang="en-US" dirty="0"/>
              <a:t>Pro-rate depreciation for the fraction of the year owned.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Count a full month of depreciation in the month purchased.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 depreciation in the month sold.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NOTE</a:t>
            </a:r>
            <a:r>
              <a:rPr lang="en-US" dirty="0"/>
              <a:t>: Companies may have different policies for cutoff, such as half month.</a:t>
            </a:r>
          </a:p>
        </p:txBody>
      </p:sp>
    </p:spTree>
    <p:extLst>
      <p:ext uri="{BB962C8B-B14F-4D97-AF65-F5344CB8AC3E}">
        <p14:creationId xmlns:p14="http://schemas.microsoft.com/office/powerpoint/2010/main" val="219515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416BD3-6BFE-4D6F-A3E0-7AE16034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Partial Year Example (straight-line)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0A56661-B214-4B42-921F-097D448D5739}"/>
              </a:ext>
            </a:extLst>
          </p:cNvPr>
          <p:cNvSpPr txBox="1">
            <a:spLocks/>
          </p:cNvSpPr>
          <p:nvPr/>
        </p:nvSpPr>
        <p:spPr>
          <a:xfrm>
            <a:off x="723901" y="1488630"/>
            <a:ext cx="11115674" cy="1941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October 1, 2021, Donuts-to-Go acquired a delivery truck at a cost of $15,000. The company estimates a useful life of three years and expects a salvage value of $3,000.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 depreciation using the straight-line method for 2021, 2022, 2023 and 2024.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6376D5C-BAA1-4A9E-BAE4-28DEC818A2CB}"/>
              </a:ext>
            </a:extLst>
          </p:cNvPr>
          <p:cNvSpPr txBox="1">
            <a:spLocks/>
          </p:cNvSpPr>
          <p:nvPr/>
        </p:nvSpPr>
        <p:spPr>
          <a:xfrm>
            <a:off x="1949197" y="3269045"/>
            <a:ext cx="3049523" cy="582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Annual depreciation =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935F074-79BE-483F-AF5E-B85BD730FE83}"/>
              </a:ext>
            </a:extLst>
          </p:cNvPr>
          <p:cNvSpPr txBox="1">
            <a:spLocks/>
          </p:cNvSpPr>
          <p:nvPr/>
        </p:nvSpPr>
        <p:spPr>
          <a:xfrm>
            <a:off x="4703573" y="3309225"/>
            <a:ext cx="4043171" cy="4285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(15,000 – 3,000) / 3 = $4,000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CCB5D81-D30D-41A3-B135-84FAF8A3C0DC}"/>
              </a:ext>
            </a:extLst>
          </p:cNvPr>
          <p:cNvSpPr txBox="1">
            <a:spLocks/>
          </p:cNvSpPr>
          <p:nvPr/>
        </p:nvSpPr>
        <p:spPr>
          <a:xfrm>
            <a:off x="2196085" y="3757141"/>
            <a:ext cx="2887979" cy="468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2021 depreciation: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F5EC97-FDCA-4FC3-BE1E-655220AA71CE}"/>
              </a:ext>
            </a:extLst>
          </p:cNvPr>
          <p:cNvSpPr txBox="1">
            <a:spLocks/>
          </p:cNvSpPr>
          <p:nvPr/>
        </p:nvSpPr>
        <p:spPr>
          <a:xfrm>
            <a:off x="4771645" y="3799281"/>
            <a:ext cx="4043171" cy="4285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$4,000 × 3/12 = $1,000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7442C3C-CCFD-4B75-893B-3B8CB48C886F}"/>
              </a:ext>
            </a:extLst>
          </p:cNvPr>
          <p:cNvSpPr txBox="1">
            <a:spLocks/>
          </p:cNvSpPr>
          <p:nvPr/>
        </p:nvSpPr>
        <p:spPr>
          <a:xfrm>
            <a:off x="2196085" y="4133056"/>
            <a:ext cx="2887979" cy="468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2022 depreciation: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25160AB0-663F-4E79-8113-EB03B154DBC5}"/>
              </a:ext>
            </a:extLst>
          </p:cNvPr>
          <p:cNvSpPr txBox="1">
            <a:spLocks/>
          </p:cNvSpPr>
          <p:nvPr/>
        </p:nvSpPr>
        <p:spPr>
          <a:xfrm>
            <a:off x="4771645" y="4175196"/>
            <a:ext cx="4043171" cy="4285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$4,000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722C2DF-BFC8-4BF9-9002-0131D1F39027}"/>
              </a:ext>
            </a:extLst>
          </p:cNvPr>
          <p:cNvSpPr txBox="1">
            <a:spLocks/>
          </p:cNvSpPr>
          <p:nvPr/>
        </p:nvSpPr>
        <p:spPr>
          <a:xfrm>
            <a:off x="2196085" y="4500409"/>
            <a:ext cx="2887979" cy="468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2023 depreciation: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2DB8C1A-DF92-41F6-9C2E-F6CB106BA120}"/>
              </a:ext>
            </a:extLst>
          </p:cNvPr>
          <p:cNvSpPr txBox="1">
            <a:spLocks/>
          </p:cNvSpPr>
          <p:nvPr/>
        </p:nvSpPr>
        <p:spPr>
          <a:xfrm>
            <a:off x="4771645" y="4548690"/>
            <a:ext cx="4043171" cy="4285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$4,000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0EEC185-3E96-4A2D-93B8-FB96AEA82627}"/>
              </a:ext>
            </a:extLst>
          </p:cNvPr>
          <p:cNvSpPr txBox="1">
            <a:spLocks/>
          </p:cNvSpPr>
          <p:nvPr/>
        </p:nvSpPr>
        <p:spPr>
          <a:xfrm>
            <a:off x="2196085" y="4880044"/>
            <a:ext cx="2887979" cy="468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2024 depreciation: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7A9F7E8-B463-4D77-B831-5BD2B5506536}"/>
              </a:ext>
            </a:extLst>
          </p:cNvPr>
          <p:cNvSpPr txBox="1">
            <a:spLocks/>
          </p:cNvSpPr>
          <p:nvPr/>
        </p:nvSpPr>
        <p:spPr>
          <a:xfrm>
            <a:off x="4771645" y="4922184"/>
            <a:ext cx="4043171" cy="4285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$4,000 × 9/12 = $3,000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65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416BD3-6BFE-4D6F-A3E0-7AE16034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Pro-rating by depreciation method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796BB45-6AC6-4076-9451-472CD04FB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847850"/>
            <a:ext cx="2635250" cy="371475"/>
          </a:xfrm>
          <a:prstGeom prst="rect">
            <a:avLst/>
          </a:prstGeom>
          <a:solidFill>
            <a:srgbClr val="4454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0D8C42EA-8478-422C-AE11-9FBBDEC59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1849438"/>
            <a:ext cx="3614738" cy="369888"/>
          </a:xfrm>
          <a:prstGeom prst="rect">
            <a:avLst/>
          </a:prstGeom>
          <a:solidFill>
            <a:srgbClr val="4454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8391A7B0-C719-407C-A371-84E668B7E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300" y="1849438"/>
            <a:ext cx="3971925" cy="369888"/>
          </a:xfrm>
          <a:prstGeom prst="rect">
            <a:avLst/>
          </a:prstGeom>
          <a:solidFill>
            <a:srgbClr val="4454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912C07E9-B3CD-4F6A-A437-D5A93C0C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2219325"/>
            <a:ext cx="2635250" cy="1038225"/>
          </a:xfrm>
          <a:prstGeom prst="rect">
            <a:avLst/>
          </a:prstGeom>
          <a:solidFill>
            <a:srgbClr val="4454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3BF918E4-7C27-4EF2-B4F0-4A07BA846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2219325"/>
            <a:ext cx="3614738" cy="1038225"/>
          </a:xfrm>
          <a:prstGeom prst="rect">
            <a:avLst/>
          </a:prstGeom>
          <a:solidFill>
            <a:srgbClr val="CFD1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89AEC274-82AE-4EC9-ABF9-8844169C7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300" y="2219325"/>
            <a:ext cx="3971925" cy="1038225"/>
          </a:xfrm>
          <a:prstGeom prst="rect">
            <a:avLst/>
          </a:prstGeom>
          <a:solidFill>
            <a:srgbClr val="CFD1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DA069F29-52C9-4BE8-A712-252F1E6A6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3257550"/>
            <a:ext cx="2635250" cy="639763"/>
          </a:xfrm>
          <a:prstGeom prst="rect">
            <a:avLst/>
          </a:prstGeom>
          <a:solidFill>
            <a:srgbClr val="4454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3CFC4276-6EB4-4987-A8C9-C502E2DAD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3257550"/>
            <a:ext cx="3614738" cy="639763"/>
          </a:xfrm>
          <a:prstGeom prst="rect">
            <a:avLst/>
          </a:prstGeom>
          <a:solidFill>
            <a:srgbClr val="E9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E73EB164-8E9A-4C56-B629-5F810A109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300" y="3257550"/>
            <a:ext cx="3971925" cy="639763"/>
          </a:xfrm>
          <a:prstGeom prst="rect">
            <a:avLst/>
          </a:prstGeom>
          <a:solidFill>
            <a:srgbClr val="E9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B61A8ED6-0292-4DBD-BE41-41F2A635C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3895725"/>
            <a:ext cx="2635250" cy="1036638"/>
          </a:xfrm>
          <a:prstGeom prst="rect">
            <a:avLst/>
          </a:prstGeom>
          <a:solidFill>
            <a:srgbClr val="4454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741C4ACA-D415-4D28-AE93-5CD971D2E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3895725"/>
            <a:ext cx="3614738" cy="1036638"/>
          </a:xfrm>
          <a:prstGeom prst="rect">
            <a:avLst/>
          </a:prstGeom>
          <a:solidFill>
            <a:srgbClr val="E9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5ECC8443-386A-406E-B2A7-D1E4FD38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300" y="3895725"/>
            <a:ext cx="3971925" cy="1036638"/>
          </a:xfrm>
          <a:prstGeom prst="rect">
            <a:avLst/>
          </a:prstGeom>
          <a:solidFill>
            <a:srgbClr val="E9E9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Line 20">
            <a:extLst>
              <a:ext uri="{FF2B5EF4-FFF2-40B4-BE49-F238E27FC236}">
                <a16:creationId xmlns:a16="http://schemas.microsoft.com/office/drawing/2014/main" id="{D179DA0B-BED9-4EB0-923C-8F55985E3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63" y="1841500"/>
            <a:ext cx="0" cy="44116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Line 21">
            <a:extLst>
              <a:ext uri="{FF2B5EF4-FFF2-40B4-BE49-F238E27FC236}">
                <a16:creationId xmlns:a16="http://schemas.microsoft.com/office/drawing/2014/main" id="{7E5A25B2-38E2-4100-B1F3-F93740C9F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1841500"/>
            <a:ext cx="0" cy="4413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9ABCDCC2-95B7-4A33-B240-F26CFF618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963" y="2219325"/>
            <a:ext cx="10234613" cy="0"/>
          </a:xfrm>
          <a:prstGeom prst="line">
            <a:avLst/>
          </a:prstGeom>
          <a:noFill/>
          <a:ln w="381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F94BCA22-FDC8-4071-8BA3-89C4F3A7E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963" y="3257550"/>
            <a:ext cx="102346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EE2AA1EA-439B-4B60-9F1D-F0AE6B313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963" y="3884613"/>
            <a:ext cx="102346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Line 25">
            <a:extLst>
              <a:ext uri="{FF2B5EF4-FFF2-40B4-BE49-F238E27FC236}">
                <a16:creationId xmlns:a16="http://schemas.microsoft.com/office/drawing/2014/main" id="{F869271E-5B26-426E-A562-F12331F3D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963" y="3895725"/>
            <a:ext cx="102346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Line 26">
            <a:extLst>
              <a:ext uri="{FF2B5EF4-FFF2-40B4-BE49-F238E27FC236}">
                <a16:creationId xmlns:a16="http://schemas.microsoft.com/office/drawing/2014/main" id="{74B1932C-DE09-4CD7-B6A5-5359047B9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976313" y="1841500"/>
            <a:ext cx="0" cy="44116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Line 27">
            <a:extLst>
              <a:ext uri="{FF2B5EF4-FFF2-40B4-BE49-F238E27FC236}">
                <a16:creationId xmlns:a16="http://schemas.microsoft.com/office/drawing/2014/main" id="{22F20DB7-23F9-4C06-9E3A-706A64B49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98225" y="1841500"/>
            <a:ext cx="0" cy="4413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Line 28">
            <a:extLst>
              <a:ext uri="{FF2B5EF4-FFF2-40B4-BE49-F238E27FC236}">
                <a16:creationId xmlns:a16="http://schemas.microsoft.com/office/drawing/2014/main" id="{EC613641-392B-4B6D-AD9D-3ACC899CFE7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963" y="1849438"/>
            <a:ext cx="102346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Line 29">
            <a:extLst>
              <a:ext uri="{FF2B5EF4-FFF2-40B4-BE49-F238E27FC236}">
                <a16:creationId xmlns:a16="http://schemas.microsoft.com/office/drawing/2014/main" id="{352E0037-5601-4DBA-B93A-D422EC54A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963" y="4932363"/>
            <a:ext cx="102346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0">
            <a:extLst>
              <a:ext uri="{FF2B5EF4-FFF2-40B4-BE49-F238E27FC236}">
                <a16:creationId xmlns:a16="http://schemas.microsoft.com/office/drawing/2014/main" id="{E4ACF65A-0BD1-47D8-A1D1-D982C3523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0" y="1890713"/>
            <a:ext cx="10144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First Year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Rectangle 31">
            <a:extLst>
              <a:ext uri="{FF2B5EF4-FFF2-40B4-BE49-F238E27FC236}">
                <a16:creationId xmlns:a16="http://schemas.microsoft.com/office/drawing/2014/main" id="{C255B73B-F757-4D69-8520-E57AA71CB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413" y="1890713"/>
            <a:ext cx="18129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Subsequent Years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B354A4BD-737F-451F-AB54-9DE9C4AA1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88" y="2262188"/>
            <a:ext cx="8683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Straight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" name="Rectangle 33">
            <a:extLst>
              <a:ext uri="{FF2B5EF4-FFF2-40B4-BE49-F238E27FC236}">
                <a16:creationId xmlns:a16="http://schemas.microsoft.com/office/drawing/2014/main" id="{2FDD1BA4-1850-4537-8B30-71B1A7299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338" y="2262188"/>
            <a:ext cx="1920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-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2" name="Rectangle 34">
            <a:extLst>
              <a:ext uri="{FF2B5EF4-FFF2-40B4-BE49-F238E27FC236}">
                <a16:creationId xmlns:a16="http://schemas.microsoft.com/office/drawing/2014/main" id="{6265C603-770B-4227-A47E-74C9C8B8E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188" y="2262188"/>
            <a:ext cx="5111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Line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3" name="Rectangle 35">
            <a:extLst>
              <a:ext uri="{FF2B5EF4-FFF2-40B4-BE49-F238E27FC236}">
                <a16:creationId xmlns:a16="http://schemas.microsoft.com/office/drawing/2014/main" id="{668C142D-7559-4459-91D1-3DAC4CC81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2262188"/>
            <a:ext cx="2936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1.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4" name="Rectangle 36">
            <a:extLst>
              <a:ext uri="{FF2B5EF4-FFF2-40B4-BE49-F238E27FC236}">
                <a16:creationId xmlns:a16="http://schemas.microsoft.com/office/drawing/2014/main" id="{28E4144F-665C-4C3F-BE48-3603D01D9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2262188"/>
            <a:ext cx="2139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Calculate a full year’s 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" name="Rectangle 37">
            <a:extLst>
              <a:ext uri="{FF2B5EF4-FFF2-40B4-BE49-F238E27FC236}">
                <a16:creationId xmlns:a16="http://schemas.microsoft.com/office/drawing/2014/main" id="{C8BD0579-2090-448F-B4AF-1345B7860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2533650"/>
            <a:ext cx="21367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depreciation amount.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6" name="Rectangle 38">
            <a:extLst>
              <a:ext uri="{FF2B5EF4-FFF2-40B4-BE49-F238E27FC236}">
                <a16:creationId xmlns:a16="http://schemas.microsoft.com/office/drawing/2014/main" id="{56F4207B-231C-45E4-8825-EC3D27346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2876550"/>
            <a:ext cx="293688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2.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7" name="Rectangle 39">
            <a:extLst>
              <a:ext uri="{FF2B5EF4-FFF2-40B4-BE49-F238E27FC236}">
                <a16:creationId xmlns:a16="http://schemas.microsoft.com/office/drawing/2014/main" id="{3B7C19DD-8F34-4C37-9842-5B1152BB2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2876550"/>
            <a:ext cx="1220788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Multiply by 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13E793-47CE-408A-8DAB-1EB2BF574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2262188"/>
            <a:ext cx="38576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Every year has a full year’s depreciation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9E98CA-2EC7-4D0E-AE0A-B6785DF9E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2533650"/>
            <a:ext cx="3595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except for last year, which records the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2AFF8CF-728E-41A2-8CEE-EC47D8AFC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2808288"/>
            <a:ext cx="30537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Remaining depreciable amount.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027367-F663-4155-B034-A465D854E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88" y="3297238"/>
            <a:ext cx="6191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Units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5F9174-3EE4-4A1E-9472-9CA01AD74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3297238"/>
            <a:ext cx="1920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-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C57278-509D-4C76-9116-04402EB4D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3297238"/>
            <a:ext cx="3175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of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BCE399-BB98-4712-BC68-F925E6624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3" y="3297238"/>
            <a:ext cx="1920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-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C567C4-9AD3-42A4-8D67-1EA92E4D3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413" y="3297238"/>
            <a:ext cx="11668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Production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B21B9BE-F011-46AC-A0A6-B0DC3F866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297238"/>
            <a:ext cx="11620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No change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5D422C6-2A58-48E1-9A9E-CC842CE5D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38" y="3297238"/>
            <a:ext cx="2333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–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D0E1ED-380A-4654-8935-D98712ABD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3297238"/>
            <a:ext cx="22288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calculate depreciation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AD19E1C-082F-4E31-8C82-69A0D9BBC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571875"/>
            <a:ext cx="30416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based on actual units produced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087DBD8-9B0C-4BA6-8E60-56E2A8863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3297238"/>
            <a:ext cx="11620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No change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30F36F0-5C09-4697-854A-AFFE36D69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9775" y="3297238"/>
            <a:ext cx="2333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–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D15FB95-D9E9-48A2-80C6-252AB3833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63" y="3297238"/>
            <a:ext cx="22288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calculate depreciation 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33DFE24-5CA2-4A3A-A6EE-69B2DF845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3571875"/>
            <a:ext cx="3098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based on actual units produced.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1" name="Rectangle 87">
            <a:extLst>
              <a:ext uri="{FF2B5EF4-FFF2-40B4-BE49-F238E27FC236}">
                <a16:creationId xmlns:a16="http://schemas.microsoft.com/office/drawing/2014/main" id="{BD99BE79-424A-4A6C-862E-78C84728F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9" y="3985419"/>
            <a:ext cx="2527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Double Declining Balance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2" name="Rectangle 88">
            <a:extLst>
              <a:ext uri="{FF2B5EF4-FFF2-40B4-BE49-F238E27FC236}">
                <a16:creationId xmlns:a16="http://schemas.microsoft.com/office/drawing/2014/main" id="{63678066-AD98-4EBA-97A2-C11049402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935413"/>
            <a:ext cx="2936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1.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3" name="Rectangle 89">
            <a:extLst>
              <a:ext uri="{FF2B5EF4-FFF2-40B4-BE49-F238E27FC236}">
                <a16:creationId xmlns:a16="http://schemas.microsoft.com/office/drawing/2014/main" id="{83D2D564-6ACE-4869-AAA2-710A64774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3935413"/>
            <a:ext cx="21399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Calculate a full year’s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4" name="Rectangle 90">
            <a:extLst>
              <a:ext uri="{FF2B5EF4-FFF2-40B4-BE49-F238E27FC236}">
                <a16:creationId xmlns:a16="http://schemas.microsoft.com/office/drawing/2014/main" id="{97AF689E-4D14-4005-8B73-3EA6997EF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4211638"/>
            <a:ext cx="21367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depreciation amount.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5" name="Rectangle 91">
            <a:extLst>
              <a:ext uri="{FF2B5EF4-FFF2-40B4-BE49-F238E27FC236}">
                <a16:creationId xmlns:a16="http://schemas.microsoft.com/office/drawing/2014/main" id="{1E322999-097A-49EF-8A40-121002082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4554538"/>
            <a:ext cx="2936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2.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6" name="Rectangle 92">
            <a:extLst>
              <a:ext uri="{FF2B5EF4-FFF2-40B4-BE49-F238E27FC236}">
                <a16:creationId xmlns:a16="http://schemas.microsoft.com/office/drawing/2014/main" id="{02CC990F-522F-457B-B500-DA51219B1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4554538"/>
            <a:ext cx="12207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Multiply by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7" name="Rectangle 100">
            <a:extLst>
              <a:ext uri="{FF2B5EF4-FFF2-40B4-BE49-F238E27FC236}">
                <a16:creationId xmlns:a16="http://schemas.microsoft.com/office/drawing/2014/main" id="{8FEC4315-197F-4079-8B2D-84C1575B3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3935413"/>
            <a:ext cx="39258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Calculate like normal for each remaining 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8" name="Rectangle 101">
            <a:extLst>
              <a:ext uri="{FF2B5EF4-FFF2-40B4-BE49-F238E27FC236}">
                <a16:creationId xmlns:a16="http://schemas.microsoft.com/office/drawing/2014/main" id="{9E218D48-D087-4B92-8E80-732FBEC78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4211638"/>
            <a:ext cx="33051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year. Depreciate to residual value.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070C56E-CDC9-461C-A382-5D1613E8BA77}"/>
                  </a:ext>
                </a:extLst>
              </p:cNvPr>
              <p:cNvSpPr txBox="1"/>
              <p:nvPr/>
            </p:nvSpPr>
            <p:spPr>
              <a:xfrm>
                <a:off x="4833145" y="4412457"/>
                <a:ext cx="2209798" cy="472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#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𝑜𝑓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𝑚𝑜𝑛𝑡h𝑠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𝑜𝑤𝑛𝑒𝑑</m:t>
                          </m:r>
                        </m:num>
                        <m:den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𝑚𝑜𝑛𝑡h𝑠</m:t>
                          </m:r>
                        </m:den>
                      </m:f>
                    </m:oMath>
                  </m:oMathPara>
                </a14:m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070C56E-CDC9-461C-A382-5D1613E8B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145" y="4412457"/>
                <a:ext cx="2209798" cy="472758"/>
              </a:xfrm>
              <a:prstGeom prst="rect">
                <a:avLst/>
              </a:prstGeom>
              <a:blipFill>
                <a:blip r:embed="rId2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E656462-D061-4CEF-A6FA-C4B613BD6573}"/>
                  </a:ext>
                </a:extLst>
              </p:cNvPr>
              <p:cNvSpPr txBox="1"/>
              <p:nvPr/>
            </p:nvSpPr>
            <p:spPr>
              <a:xfrm>
                <a:off x="4787901" y="2761207"/>
                <a:ext cx="2209798" cy="472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#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𝑜𝑓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𝑚𝑜𝑛𝑡h𝑠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𝑜𝑤𝑛𝑒𝑑</m:t>
                          </m:r>
                        </m:num>
                        <m:den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12 </m:t>
                          </m:r>
                          <m:r>
                            <a:rPr kumimoji="0" lang="en-US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𝑚𝑜𝑛𝑡h𝑠</m:t>
                          </m:r>
                        </m:den>
                      </m:f>
                    </m:oMath>
                  </m:oMathPara>
                </a14:m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E656462-D061-4CEF-A6FA-C4B613BD6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901" y="2761207"/>
                <a:ext cx="2209798" cy="4727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38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37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A9B4-AA33-E980-F282-8296321C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FC78-6D28-7FA6-C6C3-1826BB36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In-class problem: Lump Purchase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DD2FB-8721-6085-A1B2-2EFA7D49F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0331"/>
            <a:ext cx="10703943" cy="522916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25164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C15B-8AAC-42C0-A464-1FB345E84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803558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Depletion</a:t>
            </a:r>
            <a:br>
              <a:rPr lang="en-US" dirty="0"/>
            </a:br>
            <a:r>
              <a:rPr lang="en-US" sz="3300" dirty="0"/>
              <a:t>(“Depreciation” for Natural Resources)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8459D-35DC-4626-9AFE-6D1E3FE4F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221165"/>
            <a:ext cx="10515600" cy="121821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High Level Understanding</a:t>
            </a:r>
          </a:p>
        </p:txBody>
      </p:sp>
    </p:spTree>
    <p:extLst>
      <p:ext uri="{BB962C8B-B14F-4D97-AF65-F5344CB8AC3E}">
        <p14:creationId xmlns:p14="http://schemas.microsoft.com/office/powerpoint/2010/main" val="4077415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82E6-24F1-4DEA-AF22-06A214C9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j-lt"/>
              </a:rPr>
              <a:t>Depletion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8056-5E1C-42BD-A7B3-36E2A2A302AB}"/>
              </a:ext>
            </a:extLst>
          </p:cNvPr>
          <p:cNvSpPr/>
          <p:nvPr/>
        </p:nvSpPr>
        <p:spPr>
          <a:xfrm>
            <a:off x="2108499" y="3313355"/>
            <a:ext cx="7756263" cy="11403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FC303E-F8FB-4EAA-B707-0336BFC2D774}"/>
              </a:ext>
            </a:extLst>
          </p:cNvPr>
          <p:cNvSpPr/>
          <p:nvPr/>
        </p:nvSpPr>
        <p:spPr>
          <a:xfrm>
            <a:off x="2241429" y="4464728"/>
            <a:ext cx="7756263" cy="1441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5F756C-4AD2-4B68-8BB4-31C4C618218D}"/>
              </a:ext>
            </a:extLst>
          </p:cNvPr>
          <p:cNvSpPr txBox="1"/>
          <p:nvPr/>
        </p:nvSpPr>
        <p:spPr>
          <a:xfrm>
            <a:off x="838200" y="1274656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Allocate cost of natural resources that are physically consumed over time (i.e., oil and gas, mining) and sold to customers.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AE427E-2844-47DF-8184-2954D54D71E4}"/>
              </a:ext>
            </a:extLst>
          </p:cNvPr>
          <p:cNvCxnSpPr>
            <a:cxnSpLocks/>
          </p:cNvCxnSpPr>
          <p:nvPr/>
        </p:nvCxnSpPr>
        <p:spPr>
          <a:xfrm>
            <a:off x="1550267" y="3675124"/>
            <a:ext cx="9029700" cy="0"/>
          </a:xfrm>
          <a:prstGeom prst="line">
            <a:avLst/>
          </a:prstGeom>
          <a:noFill/>
          <a:ln w="38100" cap="rnd" cmpd="sng" algn="ctr">
            <a:solidFill>
              <a:srgbClr val="CFB87C"/>
            </a:solidFill>
            <a:prstDash val="solid"/>
            <a:miter lim="800000"/>
          </a:ln>
          <a:effectLst/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2DBD99-D7A0-4CE2-BB97-E87C3180BB65}"/>
              </a:ext>
            </a:extLst>
          </p:cNvPr>
          <p:cNvGrpSpPr/>
          <p:nvPr/>
        </p:nvGrpSpPr>
        <p:grpSpPr>
          <a:xfrm>
            <a:off x="2486603" y="2522311"/>
            <a:ext cx="714081" cy="1250376"/>
            <a:chOff x="2349500" y="2276187"/>
            <a:chExt cx="714081" cy="1250376"/>
          </a:xfrm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C8DDF18-6A52-4082-8115-591C2F4A7A24}"/>
                </a:ext>
              </a:extLst>
            </p:cNvPr>
            <p:cNvSpPr/>
            <p:nvPr/>
          </p:nvSpPr>
          <p:spPr>
            <a:xfrm rot="5400000">
              <a:off x="2496990" y="2290051"/>
              <a:ext cx="572075" cy="561106"/>
            </a:xfrm>
            <a:prstGeom prst="triangl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4C3F57B-7367-4E18-9050-18A3B01A5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1386" y="2276187"/>
              <a:ext cx="0" cy="1124674"/>
            </a:xfrm>
            <a:prstGeom prst="line">
              <a:avLst/>
            </a:prstGeom>
            <a:noFill/>
            <a:ln w="107950" cap="flat" cmpd="sng" algn="ctr">
              <a:solidFill>
                <a:srgbClr val="565A5C"/>
              </a:solidFill>
              <a:prstDash val="solid"/>
              <a:miter lim="800000"/>
            </a:ln>
            <a:effectLst/>
          </p:spPr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2A720C5-7DC6-4878-BF28-860CC1F99749}"/>
                </a:ext>
              </a:extLst>
            </p:cNvPr>
            <p:cNvSpPr/>
            <p:nvPr/>
          </p:nvSpPr>
          <p:spPr>
            <a:xfrm>
              <a:off x="2349500" y="3329139"/>
              <a:ext cx="197424" cy="197424"/>
            </a:xfrm>
            <a:prstGeom prst="ellips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9AD4B4-1964-46FA-97E2-B39E391EAE86}"/>
              </a:ext>
            </a:extLst>
          </p:cNvPr>
          <p:cNvGrpSpPr/>
          <p:nvPr/>
        </p:nvGrpSpPr>
        <p:grpSpPr>
          <a:xfrm>
            <a:off x="5922243" y="2522311"/>
            <a:ext cx="714081" cy="1250376"/>
            <a:chOff x="2349500" y="2276187"/>
            <a:chExt cx="714081" cy="1250376"/>
          </a:xfrm>
        </p:grpSpPr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F4B2E985-C3EB-45EF-887F-013C6CB6E8B7}"/>
                </a:ext>
              </a:extLst>
            </p:cNvPr>
            <p:cNvSpPr/>
            <p:nvPr/>
          </p:nvSpPr>
          <p:spPr>
            <a:xfrm rot="5400000">
              <a:off x="2496990" y="2290051"/>
              <a:ext cx="572075" cy="561106"/>
            </a:xfrm>
            <a:prstGeom prst="triangl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1481113-8683-4C7D-87E8-4C98039527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1386" y="2276187"/>
              <a:ext cx="0" cy="1124674"/>
            </a:xfrm>
            <a:prstGeom prst="line">
              <a:avLst/>
            </a:prstGeom>
            <a:noFill/>
            <a:ln w="107950" cap="flat" cmpd="sng" algn="ctr">
              <a:solidFill>
                <a:srgbClr val="565A5C"/>
              </a:solidFill>
              <a:prstDash val="solid"/>
              <a:miter lim="800000"/>
            </a:ln>
            <a:effectLst/>
          </p:spPr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71CC64F-8229-4A00-9F0B-92FD259807C7}"/>
                </a:ext>
              </a:extLst>
            </p:cNvPr>
            <p:cNvSpPr/>
            <p:nvPr/>
          </p:nvSpPr>
          <p:spPr>
            <a:xfrm>
              <a:off x="2349500" y="3329139"/>
              <a:ext cx="197424" cy="197424"/>
            </a:xfrm>
            <a:prstGeom prst="ellips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EB89EFD-7F85-4FD9-B4AF-BCAA6854DDA6}"/>
              </a:ext>
            </a:extLst>
          </p:cNvPr>
          <p:cNvGrpSpPr/>
          <p:nvPr/>
        </p:nvGrpSpPr>
        <p:grpSpPr>
          <a:xfrm>
            <a:off x="9357882" y="2530690"/>
            <a:ext cx="714081" cy="1250376"/>
            <a:chOff x="2349500" y="2276187"/>
            <a:chExt cx="714081" cy="1250376"/>
          </a:xfrm>
        </p:grpSpPr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00B07FFA-BB3E-4BA7-84C7-0E481A271CDD}"/>
                </a:ext>
              </a:extLst>
            </p:cNvPr>
            <p:cNvSpPr/>
            <p:nvPr/>
          </p:nvSpPr>
          <p:spPr>
            <a:xfrm rot="5400000">
              <a:off x="2496990" y="2290051"/>
              <a:ext cx="572075" cy="561106"/>
            </a:xfrm>
            <a:prstGeom prst="triangl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E9A3876-F869-4495-B753-3A2B3CCEE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1386" y="2276187"/>
              <a:ext cx="0" cy="1124674"/>
            </a:xfrm>
            <a:prstGeom prst="line">
              <a:avLst/>
            </a:prstGeom>
            <a:noFill/>
            <a:ln w="107950" cap="flat" cmpd="sng" algn="ctr">
              <a:solidFill>
                <a:srgbClr val="565A5C"/>
              </a:solidFill>
              <a:prstDash val="solid"/>
              <a:miter lim="800000"/>
            </a:ln>
            <a:effectLst/>
          </p:spPr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7CF9DCD-557C-40BC-B62D-36D05178C271}"/>
                </a:ext>
              </a:extLst>
            </p:cNvPr>
            <p:cNvSpPr/>
            <p:nvPr/>
          </p:nvSpPr>
          <p:spPr>
            <a:xfrm>
              <a:off x="2349500" y="3329139"/>
              <a:ext cx="197424" cy="197424"/>
            </a:xfrm>
            <a:prstGeom prst="ellipse">
              <a:avLst/>
            </a:prstGeom>
            <a:solidFill>
              <a:srgbClr val="CFB87C"/>
            </a:solidFill>
            <a:ln w="12700" cap="flat" cmpd="sng" algn="ctr">
              <a:solidFill>
                <a:srgbClr val="CFB87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B453D0E-81E9-4950-883D-A6A589FFFB7D}"/>
              </a:ext>
            </a:extLst>
          </p:cNvPr>
          <p:cNvSpPr txBox="1"/>
          <p:nvPr/>
        </p:nvSpPr>
        <p:spPr>
          <a:xfrm>
            <a:off x="1099507" y="3877666"/>
            <a:ext cx="2966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Acquire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Natural Resource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E7E7FB-B16F-4D14-8577-57D363F6576C}"/>
              </a:ext>
            </a:extLst>
          </p:cNvPr>
          <p:cNvSpPr txBox="1"/>
          <p:nvPr/>
        </p:nvSpPr>
        <p:spPr>
          <a:xfrm>
            <a:off x="4581957" y="3877666"/>
            <a:ext cx="2966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Record Depletion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Each Period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4C5AEB-4703-42F7-8F3E-F868DBC9BCD4}"/>
              </a:ext>
            </a:extLst>
          </p:cNvPr>
          <p:cNvSpPr txBox="1"/>
          <p:nvPr/>
        </p:nvSpPr>
        <p:spPr>
          <a:xfrm>
            <a:off x="8203623" y="3877666"/>
            <a:ext cx="253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Sell Resources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from Inventory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625C37-4547-49B2-BDA5-5B9E52B98BCA}"/>
              </a:ext>
            </a:extLst>
          </p:cNvPr>
          <p:cNvSpPr txBox="1"/>
          <p:nvPr/>
        </p:nvSpPr>
        <p:spPr>
          <a:xfrm>
            <a:off x="1101015" y="4629238"/>
            <a:ext cx="313055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Capitalize historic cost on balance sheet as asset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Determine depletion base (historic cost - salvage)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FAD1BD-9DD2-4066-9666-A291F26C4300}"/>
              </a:ext>
            </a:extLst>
          </p:cNvPr>
          <p:cNvSpPr txBox="1"/>
          <p:nvPr/>
        </p:nvSpPr>
        <p:spPr>
          <a:xfrm>
            <a:off x="4235378" y="4629238"/>
            <a:ext cx="372506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Reduce asset directly for amount extracted using units-of-production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Amount removed goes to Inventory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760016-35AC-42C8-87F3-9533A7C06EDD}"/>
              </a:ext>
            </a:extLst>
          </p:cNvPr>
          <p:cNvSpPr txBox="1"/>
          <p:nvPr/>
        </p:nvSpPr>
        <p:spPr>
          <a:xfrm>
            <a:off x="8292466" y="4635532"/>
            <a:ext cx="244743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Reduce inventory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Expense as Cost of Goods Sold</a:t>
            </a:r>
          </a:p>
        </p:txBody>
      </p:sp>
    </p:spTree>
    <p:extLst>
      <p:ext uri="{BB962C8B-B14F-4D97-AF65-F5344CB8AC3E}">
        <p14:creationId xmlns:p14="http://schemas.microsoft.com/office/powerpoint/2010/main" val="111355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7B75-5F66-B2A8-6B1B-29628CC5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DDFAE5F-0C62-FDBC-2DD3-72D8A5602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Arial Black" panose="020B0A04020102020204" pitchFamily="34" charset="0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35D8A7-ECA1-BFA9-6741-CDE42F2A3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1507"/>
            <a:ext cx="12192000" cy="34674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640ABB-86D7-0383-9F39-3E9099206C06}"/>
              </a:ext>
            </a:extLst>
          </p:cNvPr>
          <p:cNvSpPr/>
          <p:nvPr/>
        </p:nvSpPr>
        <p:spPr>
          <a:xfrm flipH="1">
            <a:off x="3987486" y="4359401"/>
            <a:ext cx="3803685" cy="3713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06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+mj-lt"/>
              </a:rPr>
              <a:t>Post-acquisition expenditures</a:t>
            </a:r>
          </a:p>
        </p:txBody>
      </p:sp>
      <p:sp>
        <p:nvSpPr>
          <p:cNvPr id="116740" name="Content Placeholder 1"/>
          <p:cNvSpPr>
            <a:spLocks noGrp="1"/>
          </p:cNvSpPr>
          <p:nvPr>
            <p:ph idx="1"/>
          </p:nvPr>
        </p:nvSpPr>
        <p:spPr>
          <a:xfrm>
            <a:off x="838200" y="1528764"/>
            <a:ext cx="9525000" cy="4719636"/>
          </a:xfrm>
        </p:spPr>
        <p:txBody>
          <a:bodyPr>
            <a:normAutofit/>
          </a:bodyPr>
          <a:lstStyle/>
          <a:p>
            <a:pPr marL="914400" indent="-914400">
              <a:spcBef>
                <a:spcPct val="0"/>
              </a:spcBef>
              <a:buNone/>
              <a:defRPr/>
            </a:pPr>
            <a:r>
              <a:rPr lang="en-US" altLang="en-US" sz="2400" dirty="0"/>
              <a:t>Issue: How to account for cash spent on maintenance, repairs, and improvements? </a:t>
            </a:r>
          </a:p>
          <a:p>
            <a:pPr lvl="1">
              <a:spcBef>
                <a:spcPct val="0"/>
              </a:spcBef>
              <a:buSzPct val="50000"/>
              <a:buFont typeface="Wingdings" pitchFamily="2" charset="2"/>
              <a:buChar char="m"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0"/>
              </a:spcBef>
              <a:buSzPct val="50000"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indent="0" algn="ctr">
              <a:spcBef>
                <a:spcPct val="0"/>
              </a:spcBef>
              <a:buSzPct val="50000"/>
              <a:buNone/>
              <a:defRPr/>
            </a:pPr>
            <a:endParaRPr lang="en-US" altLang="en-US" sz="2000" i="1" dirty="0">
              <a:solidFill>
                <a:srgbClr val="C00000"/>
              </a:solidFill>
            </a:endParaRPr>
          </a:p>
          <a:p>
            <a:pPr marL="0" indent="0" algn="ctr">
              <a:spcBef>
                <a:spcPct val="0"/>
              </a:spcBef>
              <a:buSzPct val="50000"/>
              <a:buNone/>
              <a:defRPr/>
            </a:pPr>
            <a:r>
              <a:rPr lang="en-US" altLang="en-US" sz="2000" i="1" dirty="0">
                <a:solidFill>
                  <a:srgbClr val="C00000"/>
                </a:solidFill>
              </a:rPr>
              <a:t>**Clearly, lots of subjectivity.  Plus, practical cost-benefit issues.**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0A586-EA2B-4D9C-AC99-472F9E2F9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365" y="2652417"/>
            <a:ext cx="3203673" cy="28657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C634B6-7137-4365-876A-828B2B485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643273"/>
            <a:ext cx="3203673" cy="285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5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+mj-lt"/>
              </a:rPr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5E0315-4220-41C3-A494-8AC7D968B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331"/>
            <a:ext cx="10706100" cy="4747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Cave of Wonders Transportation made the following expenditures on its trucks during the current year:</a:t>
            </a:r>
          </a:p>
          <a:p>
            <a:pPr marL="0" indent="0">
              <a:buNone/>
            </a:pPr>
            <a:endParaRPr lang="en-US" sz="1000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$7,900 for oil and filter changes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$8,000 for installation of refrigeration systems in trucks so they can transport ice cream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$10,000 for engine overhauls to extend the fleet’s useful life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$4,500 for other ordinary repairs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200" b="1" dirty="0"/>
              <a:t>Which of the above expenditures should be capitalized on the balance sheet (i.e., not immediately expensed)?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F43565-5BB8-46FC-ABC4-299112A5056E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BBEE5D-98B4-4907-8676-09C5F92CC313}"/>
              </a:ext>
            </a:extLst>
          </p:cNvPr>
          <p:cNvSpPr/>
          <p:nvPr/>
        </p:nvSpPr>
        <p:spPr>
          <a:xfrm>
            <a:off x="1257300" y="2962038"/>
            <a:ext cx="10287000" cy="64476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27408FF-5451-4F73-83AC-1376736D420D}"/>
              </a:ext>
            </a:extLst>
          </p:cNvPr>
          <p:cNvSpPr/>
          <p:nvPr/>
        </p:nvSpPr>
        <p:spPr>
          <a:xfrm>
            <a:off x="1270000" y="3533538"/>
            <a:ext cx="10287000" cy="64476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0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Property, Plant &amp; Equipment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Part 1 – In-Class</a:t>
            </a:r>
          </a:p>
        </p:txBody>
      </p:sp>
    </p:spTree>
    <p:extLst>
      <p:ext uri="{BB962C8B-B14F-4D97-AF65-F5344CB8AC3E}">
        <p14:creationId xmlns:p14="http://schemas.microsoft.com/office/powerpoint/2010/main" val="29595146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6228</TotalTime>
  <Words>2127</Words>
  <Application>Microsoft Office PowerPoint</Application>
  <PresentationFormat>Widescreen</PresentationFormat>
  <Paragraphs>318</Paragraphs>
  <Slides>35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</vt:lpstr>
      <vt:lpstr>Arial Black</vt:lpstr>
      <vt:lpstr>Calibri</vt:lpstr>
      <vt:lpstr>Calibri Light</vt:lpstr>
      <vt:lpstr>Cambria Math</vt:lpstr>
      <vt:lpstr>Georgia</vt:lpstr>
      <vt:lpstr>MV Boli</vt:lpstr>
      <vt:lpstr>Roboto Condensed</vt:lpstr>
      <vt:lpstr>Times New Roman</vt:lpstr>
      <vt:lpstr>Wingdings</vt:lpstr>
      <vt:lpstr>1_Office Theme</vt:lpstr>
      <vt:lpstr>2_Office Theme</vt:lpstr>
      <vt:lpstr>PowerPoint Presentation</vt:lpstr>
      <vt:lpstr>Today’s Plan</vt:lpstr>
      <vt:lpstr>PP&amp;E Life Cycle</vt:lpstr>
      <vt:lpstr>Interest Capitalization</vt:lpstr>
      <vt:lpstr>Interest Capitalization</vt:lpstr>
      <vt:lpstr>Interest Capitalization</vt:lpstr>
      <vt:lpstr>Interest Capitalization</vt:lpstr>
      <vt:lpstr>Interest capitalization: Step 1</vt:lpstr>
      <vt:lpstr>Interest capitalization: Step 1 Example</vt:lpstr>
      <vt:lpstr>Interest capitalization: Step 1 Example</vt:lpstr>
      <vt:lpstr>Interest capitalization: Step 2</vt:lpstr>
      <vt:lpstr>Interest capitalization: Step 2 Example</vt:lpstr>
      <vt:lpstr>Interest capitalization: Step 3</vt:lpstr>
      <vt:lpstr>Interest capitalization: Step 3 Example</vt:lpstr>
      <vt:lpstr>Interest capitalization: Step 4</vt:lpstr>
      <vt:lpstr>Interest capitalization: Step 4 Example</vt:lpstr>
      <vt:lpstr>In-class problem: Cap Int.</vt:lpstr>
      <vt:lpstr>PP&amp;E Life Cycle</vt:lpstr>
      <vt:lpstr>Depreciation</vt:lpstr>
      <vt:lpstr>Depreciation</vt:lpstr>
      <vt:lpstr>PowerPoint Presentation</vt:lpstr>
      <vt:lpstr>PowerPoint Presentation</vt:lpstr>
      <vt:lpstr>Double Declining Balance</vt:lpstr>
      <vt:lpstr>Example: Double Declining Balance</vt:lpstr>
      <vt:lpstr>Partial Year Depreciation</vt:lpstr>
      <vt:lpstr>Partial Year Depreciation</vt:lpstr>
      <vt:lpstr>Partial Year Example (straight-line)</vt:lpstr>
      <vt:lpstr>Pro-rating by depreciation method</vt:lpstr>
      <vt:lpstr>In-class problem: Lump Purchase</vt:lpstr>
      <vt:lpstr>Depletion (“Depreciation” for Natural Resources)</vt:lpstr>
      <vt:lpstr>Depletion</vt:lpstr>
      <vt:lpstr>PP&amp;E Life Cycle</vt:lpstr>
      <vt:lpstr>Post-acquisition expenditures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McMahon</dc:creator>
  <cp:lastModifiedBy>Jeremiah Contreras</cp:lastModifiedBy>
  <cp:revision>217</cp:revision>
  <dcterms:created xsi:type="dcterms:W3CDTF">2020-08-12T19:41:04Z</dcterms:created>
  <dcterms:modified xsi:type="dcterms:W3CDTF">2025-10-26T14:59:53Z</dcterms:modified>
</cp:coreProperties>
</file>