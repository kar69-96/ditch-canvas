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02" r:id="rId2"/>
    <p:sldId id="258" r:id="rId3"/>
    <p:sldId id="303" r:id="rId4"/>
    <p:sldId id="304" r:id="rId5"/>
    <p:sldId id="305" r:id="rId6"/>
    <p:sldId id="306" r:id="rId7"/>
    <p:sldId id="309" r:id="rId8"/>
    <p:sldId id="312" r:id="rId9"/>
    <p:sldId id="307" r:id="rId10"/>
    <p:sldId id="308" r:id="rId11"/>
    <p:sldId id="317" r:id="rId12"/>
    <p:sldId id="31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8"/>
    <p:restoredTop sz="86448"/>
  </p:normalViewPr>
  <p:slideViewPr>
    <p:cSldViewPr snapToGrid="0" snapToObjects="1">
      <p:cViewPr varScale="1">
        <p:scale>
          <a:sx n="66" d="100"/>
          <a:sy n="66" d="100"/>
        </p:scale>
        <p:origin x="63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B37FE8D5-CBCA-4831-8F99-2BE2C75A5C56}"/>
    <pc:docChg chg="delSld">
      <pc:chgData name="Jeremiah Contreras" userId="9ea49ee18badb19e" providerId="LiveId" clId="{B37FE8D5-CBCA-4831-8F99-2BE2C75A5C56}" dt="2022-10-02T13:32:29.480" v="0" actId="47"/>
      <pc:docMkLst>
        <pc:docMk/>
      </pc:docMkLst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186530781" sldId="264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4100628889" sldId="265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061935277" sldId="269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2500230508" sldId="316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2653635127" sldId="318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804915044" sldId="320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2796713866" sldId="321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2625334855" sldId="322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619683932" sldId="323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114433661" sldId="324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283010777" sldId="325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816236150" sldId="326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969840367" sldId="327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4232827296" sldId="328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601887709" sldId="329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410984630" sldId="330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750202318" sldId="332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627391281" sldId="333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2792076983" sldId="334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638568449" sldId="335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555883385" sldId="336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895480689" sldId="337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063258237" sldId="338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807888378" sldId="339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284490481" sldId="341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396183216" sldId="342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995032481" sldId="343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28067171" sldId="344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584067640" sldId="345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081207211" sldId="346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4029846938" sldId="347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68516536" sldId="348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141900572" sldId="349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316168384" sldId="350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2040480366" sldId="351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728520147" sldId="352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320388800" sldId="353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3007878722" sldId="354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663451945" sldId="356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1377109944" sldId="357"/>
        </pc:sldMkLst>
      </pc:sldChg>
      <pc:sldChg chg="del">
        <pc:chgData name="Jeremiah Contreras" userId="9ea49ee18badb19e" providerId="LiveId" clId="{B37FE8D5-CBCA-4831-8F99-2BE2C75A5C56}" dt="2022-10-02T13:32:29.480" v="0" actId="47"/>
        <pc:sldMkLst>
          <pc:docMk/>
          <pc:sldMk cId="2498414859" sldId="3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300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r>
              <a:rPr lang="en-US" altLang="en-US" dirty="0"/>
              <a:t>Important criteria: post-dated checks don’t meet that, traditional CDs don’t meet that.</a:t>
            </a:r>
          </a:p>
          <a:p>
            <a:endParaRPr lang="en-US" altLang="en-US" dirty="0"/>
          </a:p>
          <a:p>
            <a:r>
              <a:rPr lang="en-US" altLang="en-US" dirty="0"/>
              <a:t>What are cash equivalents?</a:t>
            </a:r>
          </a:p>
          <a:p>
            <a:pPr lvl="1"/>
            <a:r>
              <a:rPr lang="en-US" altLang="en-US" dirty="0"/>
              <a:t>Short-term, highly liquid investments that are both readily convertible to known amounts of cash and are so near their maturity (generally &lt; 3 months) that they present insignificant risk of changes in value because of changes in interest rates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086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r>
              <a:rPr lang="en-US" altLang="en-US" dirty="0"/>
              <a:t>Important criteria: post-dated checks don’t meet that, traditional CDs don’t meet that.</a:t>
            </a:r>
          </a:p>
          <a:p>
            <a:endParaRPr lang="en-US" altLang="en-US" dirty="0"/>
          </a:p>
          <a:p>
            <a:r>
              <a:rPr lang="en-US" altLang="en-US" dirty="0"/>
              <a:t>What are cash equivalents?</a:t>
            </a:r>
          </a:p>
          <a:p>
            <a:pPr lvl="1"/>
            <a:r>
              <a:rPr lang="en-US" altLang="en-US" dirty="0"/>
              <a:t>Short-term, highly liquid investments that are both readily convertible to known amounts of cash and are so near their maturity (generally &lt; 3 months) that they present insignificant risk of changes in value because of changes in interest rates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696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5" tIns="45708" rIns="91415" bIns="45708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9775" indent="-2825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25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438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4225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14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86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58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30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C5931E-906C-4888-AFB6-D31FCFF57B07}" type="slidenum">
              <a:rPr lang="en-US" altLang="en-US">
                <a:latin typeface="Arial" panose="020B0604020202020204" pitchFamily="34" charset="0"/>
              </a:rPr>
              <a:pPr/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5" tIns="45708" rIns="91415" bIns="45708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310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5" tIns="45708" rIns="91415" bIns="45708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9775" indent="-2825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25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438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4225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14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86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58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30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C5931E-906C-4888-AFB6-D31FCFF57B07}" type="slidenum">
              <a:rPr lang="en-US" altLang="en-US">
                <a:latin typeface="Arial" panose="020B0604020202020204" pitchFamily="34" charset="0"/>
              </a:rPr>
              <a:pPr/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5" tIns="45708" rIns="91415" bIns="45708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145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60375" y="687388"/>
            <a:ext cx="6102350" cy="34337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349750"/>
            <a:ext cx="5619750" cy="41195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21" tIns="46211" rIns="92421" bIns="46211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989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5" tIns="45708" rIns="91415" bIns="45708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9775" indent="-2825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9825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5438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4225" indent="-22542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14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86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58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3025" indent="-22542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C5931E-906C-4888-AFB6-D31FCFF57B07}" type="slidenum">
              <a:rPr lang="en-US" altLang="en-US">
                <a:latin typeface="Arial" panose="020B0604020202020204" pitchFamily="34" charset="0"/>
              </a:rPr>
              <a:pPr/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5" tIns="45708" rIns="91415" bIns="45708"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547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759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33" tIns="46217" rIns="92433" bIns="46217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1750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95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801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Cash and A/R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Cash and Cash Equivalents</a:t>
            </a:r>
          </a:p>
        </p:txBody>
      </p:sp>
    </p:spTree>
    <p:extLst>
      <p:ext uri="{BB962C8B-B14F-4D97-AF65-F5344CB8AC3E}">
        <p14:creationId xmlns:p14="http://schemas.microsoft.com/office/powerpoint/2010/main" val="2582577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title"/>
          </p:nvPr>
        </p:nvSpPr>
        <p:spPr>
          <a:xfrm>
            <a:off x="757139" y="298634"/>
            <a:ext cx="8783637" cy="1143000"/>
          </a:xfrm>
        </p:spPr>
        <p:txBody>
          <a:bodyPr/>
          <a:lstStyle/>
          <a:p>
            <a:r>
              <a:rPr lang="en-US" altLang="en-US" dirty="0"/>
              <a:t>Cash and cash equivalents</a:t>
            </a:r>
          </a:p>
        </p:txBody>
      </p:sp>
      <p:sp>
        <p:nvSpPr>
          <p:cNvPr id="81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6274" y="1576389"/>
            <a:ext cx="10048774" cy="468003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en-US" sz="2400" dirty="0"/>
              <a:t>Most liquid of assets (always at top of balance sheet).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Must be </a:t>
            </a:r>
            <a:r>
              <a:rPr lang="en-US" altLang="en-US" sz="2400" u="sng" dirty="0"/>
              <a:t>readily available</a:t>
            </a:r>
            <a:r>
              <a:rPr lang="en-US" altLang="en-US" sz="2400" dirty="0"/>
              <a:t> to pay obligations.</a:t>
            </a:r>
          </a:p>
          <a:p>
            <a:pPr>
              <a:spcAft>
                <a:spcPts val="1200"/>
              </a:spcAft>
            </a:pPr>
            <a:r>
              <a:rPr lang="en-US" altLang="en-US" sz="2400" b="1" u="sng" dirty="0"/>
              <a:t>Cash</a:t>
            </a:r>
            <a:r>
              <a:rPr lang="en-US" altLang="en-US" sz="2400" b="1" dirty="0"/>
              <a:t>: </a:t>
            </a:r>
            <a:r>
              <a:rPr lang="en-US" altLang="en-US" sz="2400" dirty="0"/>
              <a:t>petty cash, checking and savings accounts, money orders, checks, currency.</a:t>
            </a:r>
          </a:p>
          <a:p>
            <a:pPr>
              <a:spcAft>
                <a:spcPts val="1200"/>
              </a:spcAft>
            </a:pPr>
            <a:endParaRPr lang="en-US" altLang="en-US" sz="2400" dirty="0"/>
          </a:p>
        </p:txBody>
      </p:sp>
      <p:pic>
        <p:nvPicPr>
          <p:cNvPr id="1026" name="Picture 2" descr="4 reasons it can pay to use cash">
            <a:extLst>
              <a:ext uri="{FF2B5EF4-FFF2-40B4-BE49-F238E27FC236}">
                <a16:creationId xmlns:a16="http://schemas.microsoft.com/office/drawing/2014/main" id="{DD011D2C-A862-4C7A-B1FA-66AEEB9F1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2" y="4305274"/>
            <a:ext cx="2877482" cy="195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verywhere Checking | First Bank">
            <a:extLst>
              <a:ext uri="{FF2B5EF4-FFF2-40B4-BE49-F238E27FC236}">
                <a16:creationId xmlns:a16="http://schemas.microsoft.com/office/drawing/2014/main" id="{FE309B03-EE89-4773-8843-501663F75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948" y="3884149"/>
            <a:ext cx="2229957" cy="268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Fill Out A Money Order Step By Step | Bankrate">
            <a:extLst>
              <a:ext uri="{FF2B5EF4-FFF2-40B4-BE49-F238E27FC236}">
                <a16:creationId xmlns:a16="http://schemas.microsoft.com/office/drawing/2014/main" id="{82FE9F9F-62F5-40BE-B721-680747E04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36439"/>
            <a:ext cx="2690242" cy="151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fety Checks - As Low as $5.95 a Box | Checks.com">
            <a:extLst>
              <a:ext uri="{FF2B5EF4-FFF2-40B4-BE49-F238E27FC236}">
                <a16:creationId xmlns:a16="http://schemas.microsoft.com/office/drawing/2014/main" id="{63132DB9-8884-419A-AC49-78807B58C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661" y="5203371"/>
            <a:ext cx="3284101" cy="151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uro | Definition, History, &amp; Facts | Britannica">
            <a:extLst>
              <a:ext uri="{FF2B5EF4-FFF2-40B4-BE49-F238E27FC236}">
                <a16:creationId xmlns:a16="http://schemas.microsoft.com/office/drawing/2014/main" id="{5BBE545D-3B9A-4B7C-8F59-AE96715CA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837" y="4041906"/>
            <a:ext cx="2871401" cy="191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3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title"/>
          </p:nvPr>
        </p:nvSpPr>
        <p:spPr>
          <a:xfrm>
            <a:off x="757139" y="298634"/>
            <a:ext cx="8783637" cy="1143000"/>
          </a:xfrm>
        </p:spPr>
        <p:txBody>
          <a:bodyPr/>
          <a:lstStyle/>
          <a:p>
            <a:r>
              <a:rPr lang="en-US" altLang="en-US" dirty="0"/>
              <a:t>Cash and cash equivalents</a:t>
            </a:r>
          </a:p>
        </p:txBody>
      </p:sp>
      <p:sp>
        <p:nvSpPr>
          <p:cNvPr id="81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6274" y="1576389"/>
            <a:ext cx="10048774" cy="4680032"/>
          </a:xfrm>
        </p:spPr>
        <p:txBody>
          <a:bodyPr>
            <a:normAutofit/>
          </a:bodyPr>
          <a:lstStyle/>
          <a:p>
            <a:r>
              <a:rPr lang="en-US" altLang="en-US" sz="2400" b="1" u="sng" dirty="0"/>
              <a:t>Cash equivalents</a:t>
            </a:r>
            <a:r>
              <a:rPr lang="en-US" altLang="en-US" sz="2400" b="1" dirty="0"/>
              <a:t>: </a:t>
            </a:r>
            <a:r>
              <a:rPr lang="en-US" altLang="en-US" sz="2400" dirty="0"/>
              <a:t>T-bills, commercial paper, money </a:t>
            </a:r>
            <a:br>
              <a:rPr lang="en-US" altLang="en-US" sz="2400" dirty="0"/>
            </a:br>
            <a:r>
              <a:rPr lang="en-US" altLang="en-US" sz="2400" dirty="0"/>
              <a:t>market funds</a:t>
            </a:r>
          </a:p>
          <a:p>
            <a:pPr lvl="1"/>
            <a:r>
              <a:rPr lang="en-US" altLang="en-US" sz="2000" dirty="0"/>
              <a:t>Readily convertible to known amounts of cash</a:t>
            </a:r>
          </a:p>
          <a:p>
            <a:pPr lvl="1"/>
            <a:r>
              <a:rPr lang="en-US" altLang="en-US" sz="2000" dirty="0"/>
              <a:t>So near to maturity that there is little risk of changes in interest rates (&lt;3 months)</a:t>
            </a:r>
          </a:p>
          <a:p>
            <a:pPr>
              <a:spcAft>
                <a:spcPts val="1200"/>
              </a:spcAft>
            </a:pPr>
            <a:endParaRPr lang="en-US" altLang="en-US" sz="2400" dirty="0"/>
          </a:p>
        </p:txBody>
      </p:sp>
      <p:pic>
        <p:nvPicPr>
          <p:cNvPr id="2050" name="Picture 2" descr="United States Treasury security - Wikiwand">
            <a:extLst>
              <a:ext uri="{FF2B5EF4-FFF2-40B4-BE49-F238E27FC236}">
                <a16:creationId xmlns:a16="http://schemas.microsoft.com/office/drawing/2014/main" id="{99DDFDAB-D21E-4680-83E2-6FF47B3C0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34" y="3637314"/>
            <a:ext cx="3767592" cy="261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mmercial Paper – Meaning, Features, Types and More">
            <a:extLst>
              <a:ext uri="{FF2B5EF4-FFF2-40B4-BE49-F238E27FC236}">
                <a16:creationId xmlns:a16="http://schemas.microsoft.com/office/drawing/2014/main" id="{5554B3F5-921C-4B37-B49E-D6D2BC8C9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812" y="3140157"/>
            <a:ext cx="5549599" cy="361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anguard on Twitter: &quot;We agree. It does matter where you keep your ...">
            <a:extLst>
              <a:ext uri="{FF2B5EF4-FFF2-40B4-BE49-F238E27FC236}">
                <a16:creationId xmlns:a16="http://schemas.microsoft.com/office/drawing/2014/main" id="{609C04EC-A94C-4632-9233-89AC132DF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964" y="3724830"/>
            <a:ext cx="4602893" cy="253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83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Reporting Issues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0E44329-7FF7-48CD-AB70-DE00905D0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5928" y="1504070"/>
            <a:ext cx="10987872" cy="5237495"/>
          </a:xfrm>
        </p:spPr>
        <p:txBody>
          <a:bodyPr>
            <a:normAutofit/>
          </a:bodyPr>
          <a:lstStyle/>
          <a:p>
            <a:pPr lvl="1" eaLnBrk="1" hangingPunct="1">
              <a:defRPr/>
            </a:pPr>
            <a:r>
              <a:rPr lang="en-US" altLang="en-US" b="1" dirty="0"/>
              <a:t>Reporting: </a:t>
            </a:r>
            <a:r>
              <a:rPr lang="en-US" altLang="en-US" dirty="0"/>
              <a:t>Most firms report “Cash and cash equivalents” as a single item on the balance sheet </a:t>
            </a:r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/>
              <a:t>Cash Flows Statement reconciles to this amount </a:t>
            </a:r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/>
              <a:t>A </a:t>
            </a:r>
            <a:r>
              <a:rPr lang="en-US" altLang="en-US" i="1" dirty="0"/>
              <a:t>footnote</a:t>
            </a:r>
            <a:r>
              <a:rPr lang="en-US" altLang="en-US" dirty="0"/>
              <a:t> explains the composition of cash and cash equivalents</a:t>
            </a:r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/>
              <a:t>Overdrafts are liabilities</a:t>
            </a:r>
          </a:p>
          <a:p>
            <a:pPr eaLnBrk="1" hangingPunct="1">
              <a:defRPr/>
            </a:pPr>
            <a:endParaRPr lang="en-US" altLang="en-US" sz="1800" dirty="0"/>
          </a:p>
          <a:p>
            <a:pPr lvl="2" eaLnBrk="1" hangingPunct="1">
              <a:defRPr/>
            </a:pPr>
            <a:endParaRPr lang="en-US" altLang="en-US" sz="1200" dirty="0"/>
          </a:p>
          <a:p>
            <a:pPr eaLnBrk="1" hangingPunct="1">
              <a:defRPr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0649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Restricted Cash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0E44329-7FF7-48CD-AB70-DE00905D0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5637" y="1428767"/>
            <a:ext cx="11631805" cy="5237495"/>
          </a:xfrm>
        </p:spPr>
        <p:txBody>
          <a:bodyPr>
            <a:normAutofit/>
          </a:bodyPr>
          <a:lstStyle/>
          <a:p>
            <a:pPr lvl="1" eaLnBrk="1" hangingPunct="1">
              <a:defRPr/>
            </a:pPr>
            <a:r>
              <a:rPr lang="en-US" altLang="en-US" b="1" dirty="0"/>
              <a:t>Examples</a:t>
            </a:r>
          </a:p>
          <a:p>
            <a:pPr lvl="2">
              <a:defRPr/>
            </a:pPr>
            <a:r>
              <a:rPr lang="en-US" altLang="en-US" dirty="0"/>
              <a:t>Cash held in escrow accounts</a:t>
            </a:r>
          </a:p>
          <a:p>
            <a:pPr lvl="2">
              <a:defRPr/>
            </a:pPr>
            <a:r>
              <a:rPr lang="en-US" altLang="en-US" dirty="0"/>
              <a:t>Cash set aside for dividends/payroll</a:t>
            </a:r>
          </a:p>
          <a:p>
            <a:pPr lvl="2">
              <a:defRPr/>
            </a:pPr>
            <a:r>
              <a:rPr lang="en-US" altLang="en-US" dirty="0"/>
              <a:t>Bond sinking fund: set aside to retire bonds in the future</a:t>
            </a:r>
          </a:p>
          <a:p>
            <a:pPr lvl="2"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b="1" dirty="0"/>
              <a:t>Reporting:  </a:t>
            </a:r>
          </a:p>
          <a:p>
            <a:pPr lvl="2" eaLnBrk="1" hangingPunct="1">
              <a:defRPr/>
            </a:pPr>
            <a:r>
              <a:rPr lang="en-US" altLang="en-US" u="sng" dirty="0"/>
              <a:t>Restricted Cash</a:t>
            </a:r>
            <a:r>
              <a:rPr lang="en-US" altLang="en-US" dirty="0"/>
              <a:t> under current assets if used within one year</a:t>
            </a:r>
          </a:p>
          <a:p>
            <a:pPr lvl="2" eaLnBrk="1" hangingPunct="1">
              <a:defRPr/>
            </a:pPr>
            <a:r>
              <a:rPr lang="en-US" altLang="en-US" u="sng" dirty="0"/>
              <a:t>Restricted Cash</a:t>
            </a:r>
            <a:r>
              <a:rPr lang="en-US" altLang="en-US" dirty="0"/>
              <a:t> under non-current assets if used beyond one year</a:t>
            </a:r>
          </a:p>
          <a:p>
            <a:pPr lvl="2" eaLnBrk="1" hangingPunct="1">
              <a:defRPr/>
            </a:pPr>
            <a:endParaRPr lang="en-US" altLang="en-US" sz="2400" dirty="0"/>
          </a:p>
          <a:p>
            <a:pPr lvl="2" eaLnBrk="1" hangingPunct="1">
              <a:defRPr/>
            </a:pPr>
            <a:endParaRPr lang="en-US" altLang="en-US" sz="2400" dirty="0"/>
          </a:p>
          <a:p>
            <a:pPr lvl="2"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3638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65" y="1406460"/>
            <a:ext cx="9670953" cy="257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C2A5DA-8F00-4BE8-B824-D2EE6E53E50B}"/>
              </a:ext>
            </a:extLst>
          </p:cNvPr>
          <p:cNvSpPr/>
          <p:nvPr/>
        </p:nvSpPr>
        <p:spPr bwMode="auto">
          <a:xfrm>
            <a:off x="290865" y="4984406"/>
            <a:ext cx="9356559" cy="897789"/>
          </a:xfrm>
          <a:prstGeom prst="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endParaRPr lang="en-US" sz="40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340" name="Title 3"/>
          <p:cNvSpPr>
            <a:spLocks noGrp="1" noChangeArrowheads="1"/>
          </p:cNvSpPr>
          <p:nvPr>
            <p:ph type="title"/>
          </p:nvPr>
        </p:nvSpPr>
        <p:spPr>
          <a:xfrm>
            <a:off x="789272" y="344247"/>
            <a:ext cx="958225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Restricted cash: Whole Foods (2014)</a:t>
            </a:r>
          </a:p>
        </p:txBody>
      </p:sp>
      <p:sp>
        <p:nvSpPr>
          <p:cNvPr id="14341" name="Rounded Rectangle 3"/>
          <p:cNvSpPr>
            <a:spLocks noChangeArrowheads="1"/>
          </p:cNvSpPr>
          <p:nvPr/>
        </p:nvSpPr>
        <p:spPr bwMode="auto">
          <a:xfrm>
            <a:off x="365278" y="2601607"/>
            <a:ext cx="9507837" cy="227013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4000">
              <a:latin typeface="Times New Roman" panose="02020603050405020304" pitchFamily="18" charset="0"/>
            </a:endParaRPr>
          </a:p>
        </p:txBody>
      </p:sp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290865" y="4623376"/>
            <a:ext cx="29691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Times New Roman" panose="02020603050405020304" pitchFamily="18" charset="0"/>
              </a:rPr>
              <a:t>From Notes to the Financial Statements:</a:t>
            </a:r>
          </a:p>
        </p:txBody>
      </p:sp>
      <p:pic>
        <p:nvPicPr>
          <p:cNvPr id="14343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78" y="5093343"/>
            <a:ext cx="9180744" cy="679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0305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Compensating Balances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0E44329-7FF7-48CD-AB70-DE00905D0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5637" y="1428767"/>
            <a:ext cx="11631805" cy="5237495"/>
          </a:xfrm>
        </p:spPr>
        <p:txBody>
          <a:bodyPr>
            <a:normAutofit/>
          </a:bodyPr>
          <a:lstStyle/>
          <a:p>
            <a:pPr lvl="1" eaLnBrk="1" hangingPunct="1">
              <a:defRPr/>
            </a:pPr>
            <a:r>
              <a:rPr lang="en-US" altLang="en-US" b="1" dirty="0"/>
              <a:t>Examples</a:t>
            </a:r>
          </a:p>
          <a:p>
            <a:pPr lvl="2">
              <a:defRPr/>
            </a:pPr>
            <a:r>
              <a:rPr lang="en-US" altLang="en-US" dirty="0"/>
              <a:t>Legally binding deposits at lender’s financial institution</a:t>
            </a:r>
          </a:p>
          <a:p>
            <a:pPr lvl="2">
              <a:defRPr/>
            </a:pPr>
            <a:r>
              <a:rPr lang="en-US" altLang="en-US" dirty="0"/>
              <a:t>Informal agreement to keep a minimum cash balance at lender’s institution</a:t>
            </a:r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b="1" dirty="0"/>
              <a:t>Reporting:  </a:t>
            </a:r>
          </a:p>
          <a:p>
            <a:pPr lvl="2" eaLnBrk="1" hangingPunct="1">
              <a:defRPr/>
            </a:pPr>
            <a:r>
              <a:rPr lang="en-US" altLang="en-US" dirty="0"/>
              <a:t>If legally binding, </a:t>
            </a:r>
            <a:r>
              <a:rPr lang="en-US" altLang="en-US" u="sng" dirty="0"/>
              <a:t>Compensating Balance</a:t>
            </a:r>
            <a:r>
              <a:rPr lang="en-US" altLang="en-US" dirty="0"/>
              <a:t> under current (short-term debt) or non-current assets (long-term debt)</a:t>
            </a:r>
          </a:p>
          <a:p>
            <a:pPr lvl="2" eaLnBrk="1" hangingPunct="1">
              <a:defRPr/>
            </a:pPr>
            <a:r>
              <a:rPr lang="en-US" altLang="en-US" dirty="0"/>
              <a:t>If not legally binding, combined with </a:t>
            </a:r>
            <a:r>
              <a:rPr lang="en-US" altLang="en-US" u="sng" dirty="0"/>
              <a:t>Cash</a:t>
            </a:r>
            <a:r>
              <a:rPr lang="en-US" altLang="en-US" dirty="0"/>
              <a:t> and disclose in footnotes</a:t>
            </a:r>
            <a:endParaRPr lang="en-US" altLang="en-US" sz="1100" dirty="0"/>
          </a:p>
          <a:p>
            <a:pPr eaLnBrk="1" hangingPunct="1">
              <a:defRPr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1487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>
          <a:xfrm>
            <a:off x="834140" y="327510"/>
            <a:ext cx="8513762" cy="1143000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Why compensating balances?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001027" y="1685926"/>
            <a:ext cx="9628873" cy="4737176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altLang="en-US" sz="2000" b="1" dirty="0"/>
              <a:t>Option 1:</a:t>
            </a:r>
            <a:r>
              <a:rPr lang="en-US" altLang="en-US" sz="2000" dirty="0"/>
              <a:t> Bank loans $1,000,000 to Firm, requires firm to maintain $100,000 in restricted cash account.</a:t>
            </a:r>
          </a:p>
          <a:p>
            <a:pPr marL="0" indent="0">
              <a:spcAft>
                <a:spcPts val="1200"/>
              </a:spcAft>
              <a:buNone/>
            </a:pPr>
            <a:endParaRPr lang="en-US" altLang="en-US" sz="2000" b="1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sz="2000" b="1" dirty="0"/>
              <a:t>Option 2: </a:t>
            </a:r>
            <a:r>
              <a:rPr lang="en-US" altLang="en-US" sz="2000" dirty="0"/>
              <a:t>Bank loans $900,000 to firm.</a:t>
            </a:r>
          </a:p>
          <a:p>
            <a:pPr marL="0" indent="0">
              <a:spcAft>
                <a:spcPts val="1200"/>
              </a:spcAft>
              <a:buNone/>
            </a:pPr>
            <a:endParaRPr lang="en-US" altLang="en-US" sz="2000" b="1" dirty="0"/>
          </a:p>
          <a:p>
            <a:pPr marL="0" indent="0">
              <a:spcAft>
                <a:spcPts val="1200"/>
              </a:spcAft>
              <a:buNone/>
            </a:pPr>
            <a:endParaRPr lang="en-US" altLang="en-US" sz="2000" b="1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sz="2000" b="1" dirty="0"/>
              <a:t>Why not just loan the company less money instead of restricting cash?</a:t>
            </a:r>
          </a:p>
          <a:p>
            <a:pPr marL="0" indent="0">
              <a:spcAft>
                <a:spcPts val="1200"/>
              </a:spcAft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7663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>
          <a:xfrm>
            <a:off x="834140" y="327510"/>
            <a:ext cx="8513762" cy="1143000"/>
          </a:xfrm>
        </p:spPr>
        <p:txBody>
          <a:bodyPr/>
          <a:lstStyle/>
          <a:p>
            <a:r>
              <a:rPr lang="en-US" altLang="en-US" dirty="0"/>
              <a:t>Restricted cash example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001027" y="1685926"/>
            <a:ext cx="8193773" cy="4737176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altLang="en-US" sz="2000" b="1" dirty="0"/>
              <a:t>Example: </a:t>
            </a:r>
            <a:r>
              <a:rPr lang="en-US" altLang="en-US" sz="2000" dirty="0"/>
              <a:t>Bruce Bank loans Marlin Company $1,000,000 for one year at 8% interest. The bank also requires Marlin to keep 10% of the loan on deposit as security. What is the effective interest rate for the loan?</a:t>
            </a:r>
          </a:p>
          <a:p>
            <a:pPr marL="0" indent="0">
              <a:spcAft>
                <a:spcPts val="1200"/>
              </a:spcAft>
              <a:buNone/>
            </a:pPr>
            <a:endParaRPr lang="en-US" altLang="en-US" sz="20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	1,000,000 × 0.08			=	$80,000 of interest</a:t>
            </a:r>
          </a:p>
          <a:p>
            <a:pPr lvl="1">
              <a:spcAft>
                <a:spcPts val="1200"/>
              </a:spcAft>
              <a:buNone/>
            </a:pPr>
            <a:r>
              <a:rPr lang="en-US" altLang="en-US" sz="1800" dirty="0"/>
              <a:t>		</a:t>
            </a:r>
          </a:p>
          <a:p>
            <a:pPr lvl="1">
              <a:spcAft>
                <a:spcPts val="1200"/>
              </a:spcAft>
              <a:buNone/>
            </a:pPr>
            <a:r>
              <a:rPr lang="en-US" altLang="en-US" sz="1800" dirty="0"/>
              <a:t>		80,000/(1,000,000-100,000)	=	8.89%</a:t>
            </a:r>
          </a:p>
          <a:p>
            <a:pPr lvl="1">
              <a:spcAft>
                <a:spcPts val="1200"/>
              </a:spcAft>
              <a:buNone/>
            </a:pPr>
            <a:endParaRPr lang="en-US" altLang="en-US" sz="1800" i="1" dirty="0"/>
          </a:p>
          <a:p>
            <a:pPr lvl="1">
              <a:spcAft>
                <a:spcPts val="1200"/>
              </a:spcAft>
              <a:buNone/>
            </a:pPr>
            <a:r>
              <a:rPr lang="en-US" altLang="en-US" sz="1800" i="1" dirty="0"/>
              <a:t>*</a:t>
            </a:r>
            <a:r>
              <a:rPr lang="en-US" altLang="en-US" sz="1600" i="1" dirty="0"/>
              <a:t>borrow $1,000,000, but have only $900,000 to use (worse effective interest rate) </a:t>
            </a:r>
          </a:p>
          <a:p>
            <a:pPr marL="0" indent="0">
              <a:spcAft>
                <a:spcPts val="1200"/>
              </a:spcAft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2195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5227-7B7E-44DA-8BA2-CB0CF230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F055-0D5F-4DA4-8765-C8C0FC5AE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Cash and cash equivalents are reported together</a:t>
            </a:r>
          </a:p>
          <a:p>
            <a:endParaRPr lang="en-US" dirty="0"/>
          </a:p>
          <a:p>
            <a:r>
              <a:rPr lang="en-US" dirty="0"/>
              <a:t>Restricted cash is reported separately and disclosed</a:t>
            </a:r>
          </a:p>
          <a:p>
            <a:endParaRPr lang="en-US" dirty="0"/>
          </a:p>
          <a:p>
            <a:r>
              <a:rPr lang="en-US" dirty="0"/>
              <a:t>Compensating balances can be legally binding or not, raise effective interest rate</a:t>
            </a:r>
          </a:p>
        </p:txBody>
      </p:sp>
    </p:spTree>
    <p:extLst>
      <p:ext uri="{BB962C8B-B14F-4D97-AF65-F5344CB8AC3E}">
        <p14:creationId xmlns:p14="http://schemas.microsoft.com/office/powerpoint/2010/main" val="2973550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Cash and A/R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4195112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2121</TotalTime>
  <Words>561</Words>
  <Application>Microsoft Office PowerPoint</Application>
  <PresentationFormat>Widescreen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Cash and Cash Equivalents</vt:lpstr>
      <vt:lpstr>Cash and cash equivalents</vt:lpstr>
      <vt:lpstr>Cash and cash equivalents</vt:lpstr>
      <vt:lpstr>Reporting Issues</vt:lpstr>
      <vt:lpstr>Restricted Cash</vt:lpstr>
      <vt:lpstr>Restricted cash: Whole Foods (2014)</vt:lpstr>
      <vt:lpstr>Compensating Balances</vt:lpstr>
      <vt:lpstr>Why compensating balances?</vt:lpstr>
      <vt:lpstr>Restricted cash example</vt:lpstr>
      <vt:lpstr>Closing Thoughts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130</cp:revision>
  <dcterms:created xsi:type="dcterms:W3CDTF">2016-01-26T18:12:20Z</dcterms:created>
  <dcterms:modified xsi:type="dcterms:W3CDTF">2022-10-02T13:32:34Z</dcterms:modified>
</cp:coreProperties>
</file>