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95" r:id="rId2"/>
    <p:sldId id="258" r:id="rId3"/>
    <p:sldId id="296" r:id="rId4"/>
    <p:sldId id="259" r:id="rId5"/>
    <p:sldId id="298" r:id="rId6"/>
    <p:sldId id="260" r:id="rId7"/>
    <p:sldId id="261" r:id="rId8"/>
    <p:sldId id="262" r:id="rId9"/>
    <p:sldId id="263" r:id="rId10"/>
    <p:sldId id="269" r:id="rId11"/>
    <p:sldId id="309" r:id="rId12"/>
    <p:sldId id="310" r:id="rId13"/>
    <p:sldId id="297" r:id="rId14"/>
    <p:sldId id="311" r:id="rId15"/>
    <p:sldId id="312" r:id="rId16"/>
    <p:sldId id="313" r:id="rId17"/>
    <p:sldId id="314" r:id="rId18"/>
    <p:sldId id="31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86448"/>
  </p:normalViewPr>
  <p:slideViewPr>
    <p:cSldViewPr snapToGrid="0" snapToObjects="1">
      <p:cViewPr varScale="1">
        <p:scale>
          <a:sx n="75" d="100"/>
          <a:sy n="75" d="100"/>
        </p:scale>
        <p:origin x="258" y="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9ea49ee18badb19e" providerId="LiveId" clId="{7933361A-EF21-4CE1-AAE1-90E5484EAD5F}"/>
    <pc:docChg chg="delSld modSld">
      <pc:chgData name="Jeremiah Contreras" userId="9ea49ee18badb19e" providerId="LiveId" clId="{7933361A-EF21-4CE1-AAE1-90E5484EAD5F}" dt="2022-11-14T15:14:02.777" v="12" actId="20577"/>
      <pc:docMkLst>
        <pc:docMk/>
      </pc:docMkLst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2556769839" sldId="283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3176518133" sldId="286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1871921820" sldId="287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3878353921" sldId="288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3093389763" sldId="289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2755624781" sldId="290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19810060" sldId="291"/>
        </pc:sldMkLst>
      </pc:sldChg>
      <pc:sldChg chg="modSp mod">
        <pc:chgData name="Jeremiah Contreras" userId="9ea49ee18badb19e" providerId="LiveId" clId="{7933361A-EF21-4CE1-AAE1-90E5484EAD5F}" dt="2022-11-14T15:13:56.788" v="6" actId="20577"/>
        <pc:sldMkLst>
          <pc:docMk/>
          <pc:sldMk cId="871637387" sldId="295"/>
        </pc:sldMkLst>
        <pc:spChg chg="mod">
          <ac:chgData name="Jeremiah Contreras" userId="9ea49ee18badb19e" providerId="LiveId" clId="{7933361A-EF21-4CE1-AAE1-90E5484EAD5F}" dt="2022-11-14T15:13:56.788" v="6" actId="20577"/>
          <ac:spMkLst>
            <pc:docMk/>
            <pc:sldMk cId="871637387" sldId="295"/>
            <ac:spMk id="5" creationId="{00000000-0000-0000-0000-000000000000}"/>
          </ac:spMkLst>
        </pc:spChg>
      </pc:sldChg>
      <pc:sldChg chg="modSp mod">
        <pc:chgData name="Jeremiah Contreras" userId="9ea49ee18badb19e" providerId="LiveId" clId="{7933361A-EF21-4CE1-AAE1-90E5484EAD5F}" dt="2022-11-14T15:14:02.777" v="12" actId="20577"/>
        <pc:sldMkLst>
          <pc:docMk/>
          <pc:sldMk cId="4102356988" sldId="315"/>
        </pc:sldMkLst>
        <pc:spChg chg="mod">
          <ac:chgData name="Jeremiah Contreras" userId="9ea49ee18badb19e" providerId="LiveId" clId="{7933361A-EF21-4CE1-AAE1-90E5484EAD5F}" dt="2022-11-14T15:14:02.777" v="12" actId="20577"/>
          <ac:spMkLst>
            <pc:docMk/>
            <pc:sldMk cId="4102356988" sldId="315"/>
            <ac:spMk id="5" creationId="{00000000-0000-0000-0000-000000000000}"/>
          </ac:spMkLst>
        </pc:spChg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3987476427" sldId="316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2891458403" sldId="317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1370717033" sldId="318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4245016121" sldId="319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3053075026" sldId="320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2585893761" sldId="321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1364342723" sldId="322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350723969" sldId="323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384830101" sldId="324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1017679492" sldId="325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2748995544" sldId="326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3217839727" sldId="327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2733329876" sldId="328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4196458810" sldId="329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1473409311" sldId="330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686922082" sldId="331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2045128831" sldId="332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3938999479" sldId="333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840214569" sldId="334"/>
        </pc:sldMkLst>
      </pc:sldChg>
      <pc:sldChg chg="del">
        <pc:chgData name="Jeremiah Contreras" userId="9ea49ee18badb19e" providerId="LiveId" clId="{7933361A-EF21-4CE1-AAE1-90E5484EAD5F}" dt="2022-11-14T15:13:46.109" v="0" actId="47"/>
        <pc:sldMkLst>
          <pc:docMk/>
          <pc:sldMk cId="95806653" sldId="335"/>
        </pc:sldMkLst>
      </pc:sldChg>
      <pc:sldMasterChg chg="delSldLayout">
        <pc:chgData name="Jeremiah Contreras" userId="9ea49ee18badb19e" providerId="LiveId" clId="{7933361A-EF21-4CE1-AAE1-90E5484EAD5F}" dt="2022-11-14T15:13:46.109" v="0" actId="47"/>
        <pc:sldMasterMkLst>
          <pc:docMk/>
          <pc:sldMasterMk cId="2055560233" sldId="2147483648"/>
        </pc:sldMasterMkLst>
        <pc:sldLayoutChg chg="del">
          <pc:chgData name="Jeremiah Contreras" userId="9ea49ee18badb19e" providerId="LiveId" clId="{7933361A-EF21-4CE1-AAE1-90E5484EAD5F}" dt="2022-11-14T15:13:46.109" v="0" actId="47"/>
          <pc:sldLayoutMkLst>
            <pc:docMk/>
            <pc:sldMasterMk cId="2055560233" sldId="2147483648"/>
            <pc:sldLayoutMk cId="3811046076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AF6DA-881C-4C79-B7BB-AE39812FEEB9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D006A-6F4D-4501-8E73-99D0EC5E5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02971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88925" y="677863"/>
            <a:ext cx="6003925" cy="3378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57226" y="4279901"/>
            <a:ext cx="5270500" cy="4056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73" tIns="43887" rIns="87773" bIns="43887"/>
          <a:lstStyle/>
          <a:p>
            <a:r>
              <a:rPr lang="en-US" altLang="en-US" dirty="0"/>
              <a:t>If you asked me if I wanted 50,000 today or 100,000 in a year, I would probably pick 100,000</a:t>
            </a:r>
          </a:p>
          <a:p>
            <a:r>
              <a:rPr lang="en-US" altLang="en-US" dirty="0"/>
              <a:t>If you asked me if I wanted 50,000 today or 50,000 in a year, I would pick 50,000 today. The value of the $50,000 I have to wait for is lower today than the value of the $50,000 I get today.  There are things I can do with the $50,000 over the course of the year.  If I had the money now I could spend it or even better, I can earn interest; generate return in the stock market, or start a business to grow the money.  In order to determine what a cash flow I expect in the future is worth today I need to calculate the cash flows present value.</a:t>
            </a:r>
          </a:p>
          <a:p>
            <a:endParaRPr lang="en-US" altLang="en-US" dirty="0"/>
          </a:p>
          <a:p>
            <a:r>
              <a:rPr lang="en-US" altLang="en-US" dirty="0"/>
              <a:t>What do I need to know to do that: INTEREST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29038" y="8562976"/>
            <a:ext cx="2854325" cy="44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73" tIns="43887" rIns="87773" bIns="43887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2692" indent="-271426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99989" indent="-219045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42841" indent="-219045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82520" indent="-219045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39658" indent="-21904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96797" indent="-21904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53935" indent="-21904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1073" indent="-21904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093E5A4-DD34-484D-9F68-26DF2F65BD21}" type="slidenum">
              <a:rPr lang="en-US" altLang="en-US" sz="1900"/>
              <a:pPr/>
              <a:t>2</a:t>
            </a:fld>
            <a:endParaRPr lang="en-US" altLang="en-US" sz="1900"/>
          </a:p>
        </p:txBody>
      </p:sp>
      <p:sp>
        <p:nvSpPr>
          <p:cNvPr id="28677" name="Date Placeholder 6"/>
          <p:cNvSpPr>
            <a:spLocks noGrp="1"/>
          </p:cNvSpPr>
          <p:nvPr>
            <p:ph type="dt" sz="quarter" idx="4294967295"/>
          </p:nvPr>
        </p:nvSpPr>
        <p:spPr bwMode="auto">
          <a:xfrm>
            <a:off x="3729038" y="0"/>
            <a:ext cx="2854325" cy="44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73" tIns="43887" rIns="87773" bIns="43887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2692" indent="-271426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99989" indent="-219045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42841" indent="-219045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82520" indent="-219045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39658" indent="-21904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96797" indent="-21904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53935" indent="-21904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1073" indent="-21904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900"/>
              <a:t>ACCT 3220 | Sep 30 2014</a:t>
            </a:r>
          </a:p>
        </p:txBody>
      </p:sp>
    </p:spTree>
    <p:extLst>
      <p:ext uri="{BB962C8B-B14F-4D97-AF65-F5344CB8AC3E}">
        <p14:creationId xmlns:p14="http://schemas.microsoft.com/office/powerpoint/2010/main" val="3048426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88925" y="677863"/>
            <a:ext cx="6003925" cy="33782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57226" y="4279901"/>
            <a:ext cx="5270500" cy="4056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73" tIns="43887" rIns="87773" bIns="43887"/>
          <a:lstStyle/>
          <a:p>
            <a:r>
              <a:rPr lang="en-US" altLang="en-US" dirty="0"/>
              <a:t>If you asked me if I wanted 50,000 today or 100,000 in a year, I would probably pick 100,000</a:t>
            </a:r>
          </a:p>
          <a:p>
            <a:r>
              <a:rPr lang="en-US" altLang="en-US" dirty="0"/>
              <a:t>If you asked me if I wanted 50,000 today or 50,000 in a year, I would pick 50,000 today. The value of the $50,000 I have to wait for is lower today than the value of the $50,000 I get today.  There are things I can do with the $50,000 over the course of the year.  If I had the money now I could spend it or even better, I can earn interest; generate return in the stock market, or start a business to grow the money.  In order to determine what a cash flow I expect in the future is worth today I need to calculate the cash flows present value.</a:t>
            </a:r>
          </a:p>
          <a:p>
            <a:endParaRPr lang="en-US" altLang="en-US" dirty="0"/>
          </a:p>
          <a:p>
            <a:r>
              <a:rPr lang="en-US" altLang="en-US" dirty="0"/>
              <a:t>What do I need to know to do that: INTEREST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29038" y="8562976"/>
            <a:ext cx="2854325" cy="44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73" tIns="43887" rIns="87773" bIns="43887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2692" indent="-271426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99989" indent="-219045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42841" indent="-219045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82520" indent="-219045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39658" indent="-21904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96797" indent="-21904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53935" indent="-21904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1073" indent="-21904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093E5A4-DD34-484D-9F68-26DF2F65BD21}" type="slidenum">
              <a:rPr lang="en-US" altLang="en-US" sz="1900"/>
              <a:pPr/>
              <a:t>3</a:t>
            </a:fld>
            <a:endParaRPr lang="en-US" altLang="en-US" sz="1900"/>
          </a:p>
        </p:txBody>
      </p:sp>
      <p:sp>
        <p:nvSpPr>
          <p:cNvPr id="28677" name="Date Placeholder 6"/>
          <p:cNvSpPr>
            <a:spLocks noGrp="1"/>
          </p:cNvSpPr>
          <p:nvPr>
            <p:ph type="dt" sz="quarter" idx="4294967295"/>
          </p:nvPr>
        </p:nvSpPr>
        <p:spPr bwMode="auto">
          <a:xfrm>
            <a:off x="3729038" y="0"/>
            <a:ext cx="2854325" cy="44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73" tIns="43887" rIns="87773" bIns="43887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2692" indent="-271426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99989" indent="-219045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42841" indent="-219045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82520" indent="-219045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39658" indent="-21904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96797" indent="-21904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53935" indent="-21904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11073" indent="-219045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900"/>
              <a:t>ACCT 3220 | Sep 30 2014</a:t>
            </a:r>
          </a:p>
        </p:txBody>
      </p:sp>
    </p:spTree>
    <p:extLst>
      <p:ext uri="{BB962C8B-B14F-4D97-AF65-F5344CB8AC3E}">
        <p14:creationId xmlns:p14="http://schemas.microsoft.com/office/powerpoint/2010/main" val="2695384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85788" y="1127125"/>
            <a:ext cx="5410200" cy="304323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58813" y="4337050"/>
            <a:ext cx="5267325" cy="35496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96" tIns="43898" rIns="87796" bIns="43898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48076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397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6099" y="4474509"/>
            <a:ext cx="5485804" cy="3659842"/>
          </a:xfrm>
          <a:prstGeom prst="rect">
            <a:avLst/>
          </a:prstGeom>
        </p:spPr>
        <p:txBody>
          <a:bodyPr lIns="87808" tIns="43904" rIns="87808" bIns="43904"/>
          <a:lstStyle/>
          <a:p>
            <a:r>
              <a:rPr lang="en-US" dirty="0"/>
              <a:t>Simple interest – what we have done so far, short</a:t>
            </a:r>
            <a:r>
              <a:rPr lang="en-US" baseline="0" dirty="0"/>
              <a:t> term, multiply what you owe by the interest rate, convert for the # of months/years</a:t>
            </a:r>
          </a:p>
          <a:p>
            <a:endParaRPr lang="en-US" baseline="0" dirty="0"/>
          </a:p>
          <a:p>
            <a:r>
              <a:rPr lang="en-US" baseline="0" dirty="0"/>
              <a:t>Compound interest – you pay interest on interest that you haven’t paid yet.</a:t>
            </a:r>
          </a:p>
          <a:p>
            <a:r>
              <a:rPr lang="en-US" baseline="0" dirty="0"/>
              <a:t>-Compounds monthly but paid annually, calculate interest for month 1, add it to the balance.  Month two interest is the rate * original balance + month 1 interest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383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397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6099" y="4474509"/>
            <a:ext cx="5485804" cy="3659842"/>
          </a:xfrm>
          <a:prstGeom prst="rect">
            <a:avLst/>
          </a:prstGeom>
        </p:spPr>
        <p:txBody>
          <a:bodyPr lIns="87808" tIns="43904" rIns="87808" bIns="4390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915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When interest is compounded more than once a year, effective interest rate is actual amount of interest earned in a year.</a:t>
            </a:r>
          </a:p>
          <a:p>
            <a:r>
              <a:rPr lang="en-US" sz="1200" dirty="0"/>
              <a:t>If compounded more than once a year, effective rate &gt; stated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8CC22F-DC1F-4153-B89D-C51C7AB1CB34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4288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85788" y="1127125"/>
            <a:ext cx="5410200" cy="304323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58813" y="4338638"/>
            <a:ext cx="5267325" cy="35480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758" tIns="42379" rIns="84758" bIns="42379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dirty="0"/>
              <a:t>Lump sum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en-US" dirty="0"/>
              <a:t>I</a:t>
            </a:r>
            <a:r>
              <a:rPr lang="en-US" altLang="en-US" baseline="0" dirty="0"/>
              <a:t> promise to pay $1,000 10 years from now, that is the future value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en-US" baseline="0" dirty="0"/>
              <a:t>How much you pay me today for that is the present value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en-US" baseline="0" dirty="0"/>
              <a:t>You loan me $1,000 today (present value)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en-US" baseline="0" dirty="0"/>
              <a:t>How much I will repay in 10 years is the future value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en-US" baseline="0" dirty="0"/>
              <a:t>Annuity – a series of payments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en-US" baseline="0" dirty="0"/>
              <a:t>I pay $100 every year for 10 years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en-US" baseline="0" dirty="0"/>
              <a:t>Present value – how much would you pay me today for that stream of payments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en-US" baseline="0" dirty="0"/>
              <a:t>Future value – What is the value at the end of the 10 years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If you know 3 of the variables, you can always solve for the fourth.</a:t>
            </a:r>
          </a:p>
        </p:txBody>
      </p:sp>
    </p:spTree>
    <p:extLst>
      <p:ext uri="{BB962C8B-B14F-4D97-AF65-F5344CB8AC3E}">
        <p14:creationId xmlns:p14="http://schemas.microsoft.com/office/powerpoint/2010/main" val="1184381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6913"/>
            <a:ext cx="6207125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6"/>
            <a:ext cx="5616575" cy="4189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890" tIns="45945" rIns="91890" bIns="4594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54996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6913"/>
            <a:ext cx="6207125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6"/>
            <a:ext cx="5616575" cy="4189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890" tIns="45945" rIns="91890" bIns="4594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99624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D006A-6F4D-4501-8E73-99D0EC5E5B2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307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85788" y="1127125"/>
            <a:ext cx="5410200" cy="304323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58813" y="4338638"/>
            <a:ext cx="5267325" cy="35480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4758" tIns="42379" rIns="84758" bIns="42379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dirty="0"/>
              <a:t>Lump sum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en-US" dirty="0"/>
              <a:t>I</a:t>
            </a:r>
            <a:r>
              <a:rPr lang="en-US" altLang="en-US" baseline="0" dirty="0"/>
              <a:t> promise to pay $1,000 10 years from now, that is the future value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en-US" baseline="0" dirty="0"/>
              <a:t>How much you pay me today for that is the present value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en-US" baseline="0" dirty="0"/>
              <a:t>You loan me $1,000 today (present value)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en-US" baseline="0" dirty="0"/>
              <a:t>How much I will repay in 10 years is the future value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en-US" baseline="0" dirty="0"/>
              <a:t>Annuity – a series of payments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en-US" baseline="0" dirty="0"/>
              <a:t>I pay $100 every year for 10 years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en-US" baseline="0" dirty="0"/>
              <a:t>Present value – how much would you pay me today for that stream of payments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altLang="en-US" baseline="0" dirty="0"/>
              <a:t>Future value – What is the value at the end of the 10 years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If you know 3 of the variables, you can always solve for the fourth.</a:t>
            </a:r>
          </a:p>
        </p:txBody>
      </p:sp>
    </p:spTree>
    <p:extLst>
      <p:ext uri="{BB962C8B-B14F-4D97-AF65-F5344CB8AC3E}">
        <p14:creationId xmlns:p14="http://schemas.microsoft.com/office/powerpoint/2010/main" val="3186119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6913"/>
            <a:ext cx="6207125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6"/>
            <a:ext cx="5616575" cy="4189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890" tIns="45945" rIns="91890" bIns="4594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16463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6913"/>
            <a:ext cx="6207125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6"/>
            <a:ext cx="5616575" cy="4189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890" tIns="45945" rIns="91890" bIns="4594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919490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D006A-6F4D-4501-8E73-99D0EC5E5B2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543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59055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0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7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0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8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0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4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i="1" dirty="0">
                <a:solidFill>
                  <a:schemeClr val="bg1"/>
                </a:solidFill>
              </a:rPr>
              <a:t>TVM &amp; Notes Receivable - Video</a:t>
            </a:r>
          </a:p>
        </p:txBody>
      </p:sp>
    </p:spTree>
    <p:extLst>
      <p:ext uri="{BB962C8B-B14F-4D97-AF65-F5344CB8AC3E}">
        <p14:creationId xmlns:p14="http://schemas.microsoft.com/office/powerpoint/2010/main" val="87163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778000" y="1860555"/>
            <a:ext cx="8720138" cy="38004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en-US" dirty="0">
                <a:latin typeface="Calibri" panose="020F0502020204030204" pitchFamily="34" charset="0"/>
              </a:rPr>
              <a:t>Simply put…</a:t>
            </a:r>
          </a:p>
          <a:p>
            <a:pPr marL="457200" indent="0">
              <a:buNone/>
              <a:defRPr/>
            </a:pPr>
            <a:r>
              <a:rPr lang="en-US" altLang="en-US" dirty="0">
                <a:latin typeface="Calibri" panose="020F0502020204030204" pitchFamily="34" charset="0"/>
              </a:rPr>
              <a:t>A dollar available today is worth more than a dollar in the future.</a:t>
            </a:r>
          </a:p>
          <a:p>
            <a:pPr marL="457200" indent="0">
              <a:buNone/>
              <a:defRPr/>
            </a:pPr>
            <a:endParaRPr lang="en-US" altLang="en-US" dirty="0">
              <a:latin typeface="Calibri" panose="020F0502020204030204" pitchFamily="34" charset="0"/>
            </a:endParaRPr>
          </a:p>
          <a:p>
            <a:pPr>
              <a:defRPr/>
            </a:pPr>
            <a:endParaRPr lang="en-US" altLang="en-US" dirty="0">
              <a:latin typeface="Calibri" panose="020F0502020204030204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276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Time value of money</a:t>
            </a:r>
          </a:p>
        </p:txBody>
      </p:sp>
      <p:pic>
        <p:nvPicPr>
          <p:cNvPr id="27652" name="Picture 1" descr="What is Money Value of Time - Prospector's Academy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25"/>
          <a:stretch>
            <a:fillRect/>
          </a:stretch>
        </p:blipFill>
        <p:spPr bwMode="auto">
          <a:xfrm>
            <a:off x="7386643" y="3762375"/>
            <a:ext cx="2200275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2437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60989" y="1827315"/>
            <a:ext cx="4388709" cy="3800475"/>
          </a:xfrm>
        </p:spPr>
        <p:txBody>
          <a:bodyPr/>
          <a:lstStyle/>
          <a:p>
            <a:pPr marL="0" indent="0" algn="ctr">
              <a:buNone/>
              <a:defRPr/>
            </a:pPr>
            <a:r>
              <a:rPr lang="en-US" altLang="en-US" b="1" u="sng" dirty="0">
                <a:latin typeface="Calibri" panose="020F0502020204030204" pitchFamily="34" charset="0"/>
              </a:rPr>
              <a:t>Today</a:t>
            </a:r>
            <a:r>
              <a:rPr lang="en-US" altLang="en-US" b="1" dirty="0">
                <a:latin typeface="Calibri" panose="020F0502020204030204" pitchFamily="34" charset="0"/>
              </a:rPr>
              <a:t>								</a:t>
            </a:r>
            <a:endParaRPr lang="en-US" altLang="en-US" b="1" u="sng" dirty="0">
              <a:latin typeface="Calibri" panose="020F0502020204030204" pitchFamily="34" charset="0"/>
            </a:endParaRPr>
          </a:p>
          <a:p>
            <a:pPr marL="457200" indent="0">
              <a:buNone/>
              <a:defRPr/>
            </a:pPr>
            <a:endParaRPr lang="en-US" altLang="en-US" dirty="0">
              <a:latin typeface="Calibri" panose="020F0502020204030204" pitchFamily="34" charset="0"/>
            </a:endParaRPr>
          </a:p>
          <a:p>
            <a:pPr>
              <a:defRPr/>
            </a:pPr>
            <a:endParaRPr lang="en-US" altLang="en-US" dirty="0">
              <a:latin typeface="Calibri" panose="020F0502020204030204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276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Time value of money</a:t>
            </a:r>
          </a:p>
        </p:txBody>
      </p:sp>
      <p:pic>
        <p:nvPicPr>
          <p:cNvPr id="1026" name="Picture 2" descr="Stack Of Cash | Bossier Press-Tribune">
            <a:extLst>
              <a:ext uri="{FF2B5EF4-FFF2-40B4-BE49-F238E27FC236}">
                <a16:creationId xmlns:a16="http://schemas.microsoft.com/office/drawing/2014/main" id="{A6AA1B6C-6B44-465B-991C-EFBD2083D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396" y="2472812"/>
            <a:ext cx="3428190" cy="2283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3D8767-47A2-4F6E-9475-EFCF73DE637A}"/>
              </a:ext>
            </a:extLst>
          </p:cNvPr>
          <p:cNvSpPr txBox="1"/>
          <p:nvPr/>
        </p:nvSpPr>
        <p:spPr>
          <a:xfrm>
            <a:off x="5360451" y="3404558"/>
            <a:ext cx="1334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vs.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E5811A5-2098-47EF-AA75-7C7B74555FFC}"/>
              </a:ext>
            </a:extLst>
          </p:cNvPr>
          <p:cNvSpPr txBox="1">
            <a:spLocks/>
          </p:cNvSpPr>
          <p:nvPr/>
        </p:nvSpPr>
        <p:spPr>
          <a:xfrm>
            <a:off x="8301846" y="1861482"/>
            <a:ext cx="4388709" cy="3800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en-US" altLang="en-US" b="1" u="sng" dirty="0">
                <a:latin typeface="Calibri" panose="020F0502020204030204" pitchFamily="34" charset="0"/>
              </a:rPr>
              <a:t>10 years from now</a:t>
            </a:r>
            <a:r>
              <a:rPr lang="en-US" altLang="en-US" b="1" dirty="0">
                <a:latin typeface="Calibri" panose="020F0502020204030204" pitchFamily="34" charset="0"/>
              </a:rPr>
              <a:t>								</a:t>
            </a:r>
            <a:endParaRPr lang="en-US" altLang="en-US" b="1" u="sng" dirty="0">
              <a:latin typeface="Calibri" panose="020F0502020204030204" pitchFamily="34" charset="0"/>
            </a:endParaRPr>
          </a:p>
          <a:p>
            <a:pPr>
              <a:defRPr/>
            </a:pPr>
            <a:endParaRPr lang="en-US" altLang="en-US" dirty="0">
              <a:latin typeface="Calibri" panose="020F0502020204030204" pitchFamily="34" charset="0"/>
            </a:endParaRPr>
          </a:p>
          <a:p>
            <a:pPr>
              <a:defRPr/>
            </a:pPr>
            <a:endParaRPr lang="en-US" dirty="0"/>
          </a:p>
        </p:txBody>
      </p:sp>
      <p:pic>
        <p:nvPicPr>
          <p:cNvPr id="11" name="Picture 2" descr="Stack Of Cash | Bossier Press-Tribune">
            <a:extLst>
              <a:ext uri="{FF2B5EF4-FFF2-40B4-BE49-F238E27FC236}">
                <a16:creationId xmlns:a16="http://schemas.microsoft.com/office/drawing/2014/main" id="{39E4BD2F-5A84-4D76-BE86-69C8CDF58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302" y="2472812"/>
            <a:ext cx="3428190" cy="2283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4B1AFD85-B701-4DD0-9766-184DA5D4BCA1}"/>
              </a:ext>
            </a:extLst>
          </p:cNvPr>
          <p:cNvSpPr/>
          <p:nvPr/>
        </p:nvSpPr>
        <p:spPr>
          <a:xfrm>
            <a:off x="83396" y="1610918"/>
            <a:ext cx="4237396" cy="380047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DAC65B-809E-483F-B8FE-03AC1C114C09}"/>
              </a:ext>
            </a:extLst>
          </p:cNvPr>
          <p:cNvSpPr txBox="1"/>
          <p:nvPr/>
        </p:nvSpPr>
        <p:spPr>
          <a:xfrm>
            <a:off x="3766150" y="2149567"/>
            <a:ext cx="5004079" cy="25853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b="1" u="sng" dirty="0"/>
              <a:t>Why is cash today preferred?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Uncertainty about the future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41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2" grpId="0"/>
      <p:bldP spid="10" grpId="0"/>
      <p:bldP spid="3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do we care?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986589" y="1576393"/>
            <a:ext cx="9956800" cy="4084637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Contractual cash flows sometimes occur far in the future.</a:t>
            </a:r>
          </a:p>
        </p:txBody>
      </p:sp>
      <p:pic>
        <p:nvPicPr>
          <p:cNvPr id="29700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528" y="2108200"/>
            <a:ext cx="7629525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TextBox 5"/>
          <p:cNvSpPr txBox="1">
            <a:spLocks noChangeArrowheads="1"/>
          </p:cNvSpPr>
          <p:nvPr/>
        </p:nvSpPr>
        <p:spPr bwMode="auto">
          <a:xfrm>
            <a:off x="7574118" y="6099968"/>
            <a:ext cx="417353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>
                <a:latin typeface="Times New Roman" panose="02020603050405020304" pitchFamily="18" charset="0"/>
              </a:rPr>
              <a:t>© Pearson Education, Inc.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978507" y="2860708"/>
            <a:ext cx="770021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905782" y="4531894"/>
            <a:ext cx="770021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EEF48CC-AFF7-4414-B602-3EC4B1302BB2}"/>
              </a:ext>
            </a:extLst>
          </p:cNvPr>
          <p:cNvCxnSpPr/>
          <p:nvPr/>
        </p:nvCxnSpPr>
        <p:spPr>
          <a:xfrm>
            <a:off x="905782" y="4011054"/>
            <a:ext cx="770021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647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61D23-0022-48D5-B149-40F798BE0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EEADB-2BCE-44FB-A555-E917EA788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Interest</a:t>
            </a:r>
          </a:p>
          <a:p>
            <a:r>
              <a:rPr lang="en-US" dirty="0"/>
              <a:t>Compounding</a:t>
            </a:r>
          </a:p>
          <a:p>
            <a:r>
              <a:rPr lang="en-US" dirty="0"/>
              <a:t>Effective interest rate</a:t>
            </a:r>
          </a:p>
          <a:p>
            <a:r>
              <a:rPr lang="en-US" dirty="0"/>
              <a:t>Future Value</a:t>
            </a:r>
          </a:p>
          <a:p>
            <a:r>
              <a:rPr lang="en-US" dirty="0"/>
              <a:t>Present Value</a:t>
            </a:r>
          </a:p>
          <a:p>
            <a:r>
              <a:rPr lang="en-US" dirty="0"/>
              <a:t>Single Sum</a:t>
            </a:r>
          </a:p>
          <a:p>
            <a:r>
              <a:rPr lang="en-US" dirty="0"/>
              <a:t>Annuity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14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124" y="1413489"/>
            <a:ext cx="9499600" cy="2850356"/>
          </a:xfrm>
        </p:spPr>
        <p:txBody>
          <a:bodyPr/>
          <a:lstStyle/>
          <a:p>
            <a:pPr>
              <a:spcAft>
                <a:spcPts val="900"/>
              </a:spcAft>
            </a:pPr>
            <a:r>
              <a:rPr lang="en-US" dirty="0"/>
              <a:t>Interest is the price of money - excess cash received/paid over the principal.</a:t>
            </a:r>
          </a:p>
          <a:p>
            <a:pPr>
              <a:spcAft>
                <a:spcPts val="900"/>
              </a:spcAft>
            </a:pPr>
            <a:r>
              <a:rPr lang="en-US" dirty="0"/>
              <a:t>Interest rates are generally stated on an </a:t>
            </a:r>
            <a:r>
              <a:rPr lang="en-US" b="1" dirty="0"/>
              <a:t>annual</a:t>
            </a:r>
            <a:r>
              <a:rPr lang="en-US" dirty="0"/>
              <a:t> basis.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999458"/>
              </p:ext>
            </p:extLst>
          </p:nvPr>
        </p:nvGraphicFramePr>
        <p:xfrm>
          <a:off x="1565168" y="3492441"/>
          <a:ext cx="3977802" cy="289929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77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0755"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en-US" sz="1400" dirty="0"/>
                        <a:t>Simple Interest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8543">
                <a:tc>
                  <a:txBody>
                    <a:bodyPr/>
                    <a:lstStyle/>
                    <a:p>
                      <a:pPr marL="457200" indent="-285750">
                        <a:spcBef>
                          <a:spcPts val="600"/>
                        </a:spcBef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Interest</a:t>
                      </a:r>
                      <a:r>
                        <a:rPr lang="en-US" sz="1800" baseline="0" dirty="0"/>
                        <a:t> on principal only.</a:t>
                      </a:r>
                    </a:p>
                    <a:p>
                      <a:pPr marL="457200" indent="-285750"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baseline="0" dirty="0"/>
                        <a:t>Interest = principal × interest rate × time</a:t>
                      </a:r>
                    </a:p>
                    <a:p>
                      <a:pPr marL="457200" indent="-285750"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baseline="0" dirty="0"/>
                        <a:t>Used for short-term only.</a:t>
                      </a:r>
                      <a:endParaRPr lang="en-US" sz="1800" dirty="0"/>
                    </a:p>
                  </a:txBody>
                  <a:tcPr marL="68580" marR="68580" marT="13716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828547"/>
              </p:ext>
            </p:extLst>
          </p:nvPr>
        </p:nvGraphicFramePr>
        <p:xfrm>
          <a:off x="5771570" y="3492442"/>
          <a:ext cx="4114800" cy="289929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2808">
                <a:tc>
                  <a:txBody>
                    <a:bodyPr/>
                    <a:lstStyle/>
                    <a:p>
                      <a:pPr algn="ctr">
                        <a:spcAft>
                          <a:spcPts val="1200"/>
                        </a:spcAft>
                      </a:pPr>
                      <a:r>
                        <a:rPr lang="en-US" sz="1400" dirty="0"/>
                        <a:t>Compound Interest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1743">
                <a:tc>
                  <a:txBody>
                    <a:bodyPr/>
                    <a:lstStyle/>
                    <a:p>
                      <a:pPr marL="398463" indent="-285750">
                        <a:spcBef>
                          <a:spcPts val="600"/>
                        </a:spcBef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Interest</a:t>
                      </a:r>
                      <a:r>
                        <a:rPr lang="en-US" sz="1800" baseline="0" dirty="0"/>
                        <a:t> on principal and interest earned that has not been paid out/withdrawn.</a:t>
                      </a:r>
                    </a:p>
                    <a:p>
                      <a:pPr marL="398463" indent="-285750"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baseline="0" dirty="0"/>
                        <a:t>Compounded over any time period – convert rate by # of periods per year.</a:t>
                      </a:r>
                    </a:p>
                    <a:p>
                      <a:pPr marL="398463" indent="-285750">
                        <a:spcAft>
                          <a:spcPts val="1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baseline="0" dirty="0"/>
                        <a:t>Usually used for long-term items.</a:t>
                      </a:r>
                      <a:endParaRPr lang="en-US" sz="1800" dirty="0"/>
                    </a:p>
                  </a:txBody>
                  <a:tcPr marL="68580" marR="68580" marT="13716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236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Compounding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952901" y="1761803"/>
            <a:ext cx="9760017" cy="457162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2600" dirty="0"/>
              <a:t>If the compounding period is &lt;1 year: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b="1" dirty="0"/>
              <a:t>Convert interest rate</a:t>
            </a:r>
            <a:r>
              <a:rPr lang="en-US" sz="2600" dirty="0"/>
              <a:t>: Divide the annual interest rate by the number of compounding periods per year</a:t>
            </a:r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2600" i="1" dirty="0"/>
              <a:t>	</a:t>
            </a:r>
            <a:r>
              <a:rPr lang="en-US" sz="2600" i="1" dirty="0">
                <a:solidFill>
                  <a:srgbClr val="FF0000"/>
                </a:solidFill>
              </a:rPr>
              <a:t>12% compounded quarterly = 0.12 / 4 = 0.03</a:t>
            </a:r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endParaRPr lang="en-US" sz="2600" i="1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600" b="1" dirty="0"/>
              <a:t>Convert # of periods</a:t>
            </a:r>
            <a:r>
              <a:rPr lang="en-US" sz="2600" dirty="0"/>
              <a:t>: Multiply the number of years by the number of compounding periods per year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600" i="1" dirty="0"/>
              <a:t>	</a:t>
            </a:r>
            <a:r>
              <a:rPr lang="en-US" sz="2600" i="1" dirty="0">
                <a:solidFill>
                  <a:srgbClr val="FF0000"/>
                </a:solidFill>
              </a:rPr>
              <a:t>5 year loan compounded monthly = 5 × 12 = 60 	periods</a:t>
            </a:r>
          </a:p>
        </p:txBody>
      </p:sp>
    </p:spTree>
    <p:extLst>
      <p:ext uri="{BB962C8B-B14F-4D97-AF65-F5344CB8AC3E}">
        <p14:creationId xmlns:p14="http://schemas.microsoft.com/office/powerpoint/2010/main" val="267022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3E686-478E-42F2-A7B1-B6314D6F0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Effective interest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48CA9-F6C7-462E-BCFF-2BA9AB31D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669" y="1373441"/>
            <a:ext cx="10308656" cy="461265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pPr marL="255985" indent="0">
              <a:buNone/>
            </a:pPr>
            <a:r>
              <a:rPr lang="en-US" sz="2200" u="sng" dirty="0"/>
              <a:t>Example</a:t>
            </a:r>
            <a:r>
              <a:rPr lang="en-US" sz="2200" dirty="0"/>
              <a:t>: </a:t>
            </a:r>
            <a:r>
              <a:rPr lang="en-US" sz="2200" dirty="0" err="1"/>
              <a:t>Krei</a:t>
            </a:r>
            <a:r>
              <a:rPr lang="en-US" sz="2200" dirty="0"/>
              <a:t> Inc. invests </a:t>
            </a:r>
            <a:r>
              <a:rPr lang="en-US" sz="2200" b="1" dirty="0"/>
              <a:t>$1,000,000 </a:t>
            </a:r>
            <a:r>
              <a:rPr lang="en-US" sz="2200" dirty="0"/>
              <a:t>for a year at a stated rate of </a:t>
            </a:r>
            <a:r>
              <a:rPr lang="en-US" sz="2200" b="1" dirty="0"/>
              <a:t>10%</a:t>
            </a:r>
            <a:r>
              <a:rPr lang="en-US" sz="2200" dirty="0"/>
              <a:t>, compounded </a:t>
            </a:r>
            <a:r>
              <a:rPr lang="en-US" sz="2200" b="1" dirty="0"/>
              <a:t>semiannually</a:t>
            </a:r>
            <a:r>
              <a:rPr lang="en-US" sz="2200" dirty="0"/>
              <a:t>. What is the effective interest rate?</a:t>
            </a:r>
          </a:p>
          <a:p>
            <a:pPr marL="255985" indent="0">
              <a:buNone/>
            </a:pPr>
            <a:endParaRPr lang="en-US" sz="2200" dirty="0"/>
          </a:p>
          <a:p>
            <a:pPr marL="255985" indent="0">
              <a:buNone/>
            </a:pPr>
            <a:r>
              <a:rPr lang="en-US" sz="2200" dirty="0"/>
              <a:t>Interest in first 6 months: 1,000,000 × (10%/2) = 50,000</a:t>
            </a:r>
          </a:p>
          <a:p>
            <a:pPr marL="255985" indent="0">
              <a:buNone/>
            </a:pPr>
            <a:r>
              <a:rPr lang="en-US" sz="2200" dirty="0"/>
              <a:t>Interest in second 6 months : 1,050,000 </a:t>
            </a:r>
            <a:r>
              <a:rPr lang="en-US" sz="2200" dirty="0">
                <a:latin typeface="Times New Roman" panose="02020603050405020304" pitchFamily="18" charset="0"/>
              </a:rPr>
              <a:t>× </a:t>
            </a:r>
            <a:r>
              <a:rPr lang="en-US" sz="2200" dirty="0"/>
              <a:t>(10%/2) = 52,500</a:t>
            </a:r>
          </a:p>
          <a:p>
            <a:pPr marL="255985" indent="0">
              <a:buNone/>
            </a:pPr>
            <a:endParaRPr lang="en-US" sz="2200" dirty="0"/>
          </a:p>
          <a:p>
            <a:pPr marL="255985" indent="0">
              <a:buNone/>
            </a:pPr>
            <a:r>
              <a:rPr lang="en-US" sz="2200" dirty="0"/>
              <a:t>Effective interest rate = (50,000+52,500)/1,000,000 = </a:t>
            </a:r>
            <a:r>
              <a:rPr lang="en-US" sz="2200" dirty="0">
                <a:solidFill>
                  <a:srgbClr val="FF0000"/>
                </a:solidFill>
              </a:rPr>
              <a:t>10.25%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70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39574" y="297906"/>
            <a:ext cx="8513762" cy="1143000"/>
          </a:xfrm>
        </p:spPr>
        <p:txBody>
          <a:bodyPr/>
          <a:lstStyle/>
          <a:p>
            <a:r>
              <a:rPr lang="en-US" altLang="en-US" dirty="0"/>
              <a:t>Single or Lump Sum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8779" y="1770761"/>
            <a:ext cx="9846644" cy="38004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200" u="sng" dirty="0"/>
              <a:t>Single sum (lump sum)</a:t>
            </a:r>
            <a:r>
              <a:rPr lang="en-US" sz="2200" dirty="0"/>
              <a:t>: a single amount of money that either exists now or will exist in the future.</a:t>
            </a:r>
          </a:p>
          <a:p>
            <a:pPr marL="0" indent="0">
              <a:spcAft>
                <a:spcPts val="600"/>
              </a:spcAft>
              <a:buNone/>
              <a:defRPr/>
            </a:pPr>
            <a:endParaRPr lang="en-US" sz="2600" dirty="0"/>
          </a:p>
          <a:p>
            <a:pPr marL="0" indent="0">
              <a:spcAft>
                <a:spcPts val="600"/>
              </a:spcAft>
              <a:buNone/>
              <a:defRPr/>
            </a:pPr>
            <a:endParaRPr lang="en-US" sz="2600" dirty="0"/>
          </a:p>
          <a:p>
            <a:pPr>
              <a:defRPr/>
            </a:pPr>
            <a:endParaRPr lang="en-US" sz="2200" u="sng" dirty="0"/>
          </a:p>
          <a:p>
            <a:pPr>
              <a:defRPr/>
            </a:pPr>
            <a:endParaRPr lang="en-US" sz="2600" dirty="0"/>
          </a:p>
        </p:txBody>
      </p:sp>
      <p:cxnSp>
        <p:nvCxnSpPr>
          <p:cNvPr id="3" name="Straight Arrow Connector 2"/>
          <p:cNvCxnSpPr/>
          <p:nvPr/>
        </p:nvCxnSpPr>
        <p:spPr bwMode="auto">
          <a:xfrm>
            <a:off x="2795913" y="4552789"/>
            <a:ext cx="6072187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 bwMode="auto">
          <a:xfrm>
            <a:off x="2795908" y="4438489"/>
            <a:ext cx="0" cy="2286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 bwMode="auto">
          <a:xfrm>
            <a:off x="4124645" y="4438489"/>
            <a:ext cx="0" cy="2286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 bwMode="auto">
          <a:xfrm>
            <a:off x="5453383" y="4438489"/>
            <a:ext cx="0" cy="2286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auto">
          <a:xfrm>
            <a:off x="6780533" y="4438489"/>
            <a:ext cx="0" cy="2286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auto">
          <a:xfrm>
            <a:off x="8109270" y="4438489"/>
            <a:ext cx="0" cy="2286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47467" y="4681382"/>
            <a:ext cx="2984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b="1" dirty="0"/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6199" y="4681382"/>
            <a:ext cx="2984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b="1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7798" y="4681382"/>
            <a:ext cx="2984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b="1" dirty="0"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2092" y="4681382"/>
            <a:ext cx="2984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b="1" dirty="0"/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0824" y="4681382"/>
            <a:ext cx="2984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b="1" dirty="0"/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7524" y="3962244"/>
            <a:ext cx="151836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b="1" dirty="0"/>
              <a:t>Present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7000" y="3959069"/>
            <a:ext cx="140455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600" b="1" dirty="0"/>
              <a:t>Future value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44177" y="4162269"/>
            <a:ext cx="4828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400" b="1" i="1" dirty="0">
                <a:solidFill>
                  <a:srgbClr val="7030A0"/>
                </a:solidFill>
              </a:rPr>
              <a:t>$$$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0720" y="4162269"/>
            <a:ext cx="48282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400" b="1" i="1" dirty="0">
                <a:solidFill>
                  <a:srgbClr val="7030A0"/>
                </a:solidFill>
              </a:rPr>
              <a:t>$$$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843D114-FAD7-418A-AFD0-6F78D0EAF41C}"/>
              </a:ext>
            </a:extLst>
          </p:cNvPr>
          <p:cNvGrpSpPr/>
          <p:nvPr/>
        </p:nvGrpSpPr>
        <p:grpSpPr>
          <a:xfrm>
            <a:off x="3631246" y="3573472"/>
            <a:ext cx="3631572" cy="753135"/>
            <a:chOff x="4064628" y="1916842"/>
            <a:chExt cx="3631572" cy="753135"/>
          </a:xfrm>
        </p:grpSpPr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E3239478-E99F-4F86-858F-03E5B1171338}"/>
                </a:ext>
              </a:extLst>
            </p:cNvPr>
            <p:cNvCxnSpPr/>
            <p:nvPr/>
          </p:nvCxnSpPr>
          <p:spPr bwMode="auto">
            <a:xfrm flipH="1">
              <a:off x="4064628" y="2644990"/>
              <a:ext cx="3631572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3C431BA-0ED3-4C4E-9185-1EA3790C99FC}"/>
                </a:ext>
              </a:extLst>
            </p:cNvPr>
            <p:cNvSpPr txBox="1"/>
            <p:nvPr/>
          </p:nvSpPr>
          <p:spPr>
            <a:xfrm>
              <a:off x="5290432" y="2362200"/>
              <a:ext cx="20168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rgbClr val="C00000"/>
                  </a:solidFill>
                  <a:latin typeface="+mj-lt"/>
                </a:rPr>
                <a:t>DISCOUNTING by </a:t>
              </a:r>
              <a:r>
                <a:rPr lang="en-US" sz="1400" b="1" i="1" dirty="0" err="1">
                  <a:solidFill>
                    <a:srgbClr val="C00000"/>
                  </a:solidFill>
                  <a:latin typeface="+mj-lt"/>
                </a:rPr>
                <a:t>i</a:t>
              </a:r>
              <a:endParaRPr lang="en-US" sz="1400" b="1" i="1" dirty="0">
                <a:solidFill>
                  <a:srgbClr val="C00000"/>
                </a:solidFill>
                <a:latin typeface="+mj-lt"/>
              </a:endParaRP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3D7BA345-9CE3-4D7C-B361-51DF8A704FCE}"/>
                </a:ext>
              </a:extLst>
            </p:cNvPr>
            <p:cNvCxnSpPr/>
            <p:nvPr/>
          </p:nvCxnSpPr>
          <p:spPr bwMode="auto">
            <a:xfrm>
              <a:off x="4064628" y="2199632"/>
              <a:ext cx="3631572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BA045FF-28F8-4F84-B8C1-0B1FC0E59FCC}"/>
                </a:ext>
              </a:extLst>
            </p:cNvPr>
            <p:cNvSpPr txBox="1"/>
            <p:nvPr/>
          </p:nvSpPr>
          <p:spPr>
            <a:xfrm>
              <a:off x="5181600" y="1916842"/>
              <a:ext cx="22208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i="1" dirty="0">
                  <a:solidFill>
                    <a:schemeClr val="accent2"/>
                  </a:solidFill>
                  <a:latin typeface="+mj-lt"/>
                </a:rPr>
                <a:t>ACCUMULATING by </a:t>
              </a:r>
              <a:r>
                <a:rPr lang="en-US" sz="1400" b="1" i="1" dirty="0" err="1">
                  <a:solidFill>
                    <a:schemeClr val="accent2"/>
                  </a:solidFill>
                  <a:latin typeface="+mj-lt"/>
                </a:rPr>
                <a:t>i</a:t>
              </a:r>
              <a:endParaRPr lang="en-US" sz="1400" b="1" i="1" dirty="0">
                <a:solidFill>
                  <a:schemeClr val="accent2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5657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998543" y="279384"/>
            <a:ext cx="8740775" cy="1143000"/>
          </a:xfrm>
        </p:spPr>
        <p:txBody>
          <a:bodyPr/>
          <a:lstStyle/>
          <a:p>
            <a:r>
              <a:rPr lang="en-US" altLang="en-US" sz="3600" dirty="0"/>
              <a:t>Future Value of a Single Sum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998543" y="1528768"/>
            <a:ext cx="10474771" cy="4852781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spcAft>
                <a:spcPts val="600"/>
              </a:spcAft>
              <a:buNone/>
              <a:defRPr/>
            </a:pPr>
            <a:r>
              <a:rPr lang="en-US" altLang="en-US" b="1" dirty="0">
                <a:solidFill>
                  <a:srgbClr val="0070C0"/>
                </a:solidFill>
              </a:rPr>
              <a:t>What is a future lump sum worth today?</a:t>
            </a:r>
            <a:endParaRPr lang="en-US" altLang="en-US" sz="10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altLang="en-US" dirty="0"/>
          </a:p>
        </p:txBody>
      </p:sp>
      <p:sp>
        <p:nvSpPr>
          <p:cNvPr id="37892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739318" y="6248400"/>
            <a:ext cx="92868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FB9882-82D3-49CE-BE7F-90DB8D51B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754" y="2385912"/>
            <a:ext cx="7156771" cy="339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553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998543" y="279384"/>
            <a:ext cx="8740775" cy="1143000"/>
          </a:xfrm>
        </p:spPr>
        <p:txBody>
          <a:bodyPr/>
          <a:lstStyle/>
          <a:p>
            <a:r>
              <a:rPr lang="en-US" altLang="en-US" sz="3600" dirty="0"/>
              <a:t>Future Value of a Single Sum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998543" y="1528768"/>
            <a:ext cx="10474771" cy="4852781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spcAft>
                <a:spcPts val="600"/>
              </a:spcAft>
              <a:buNone/>
              <a:defRPr/>
            </a:pPr>
            <a:r>
              <a:rPr lang="en-US" altLang="en-US" b="1" dirty="0">
                <a:solidFill>
                  <a:srgbClr val="0070C0"/>
                </a:solidFill>
              </a:rPr>
              <a:t>What is a lump sum today worth in the future?</a:t>
            </a:r>
            <a:endParaRPr lang="en-US" altLang="en-US" sz="10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altLang="en-US" dirty="0"/>
          </a:p>
        </p:txBody>
      </p:sp>
      <p:sp>
        <p:nvSpPr>
          <p:cNvPr id="37892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739318" y="6248400"/>
            <a:ext cx="92868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0FE14B-5F1B-43F5-A349-B3F62C599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264" y="2469748"/>
            <a:ext cx="864870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753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DDE4B-7DE1-4AFD-92FE-F4C2FD9F8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F128E8-E75B-4D8F-9AF1-B2E91C180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9112"/>
            <a:ext cx="12192000" cy="61788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73020EC-F331-4550-B166-6CA2C194C811}"/>
              </a:ext>
            </a:extLst>
          </p:cNvPr>
          <p:cNvSpPr/>
          <p:nvPr/>
        </p:nvSpPr>
        <p:spPr>
          <a:xfrm>
            <a:off x="6096000" y="1256044"/>
            <a:ext cx="5730910" cy="18991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64AA51-5D4A-471B-B2B3-C0D953D480DE}"/>
              </a:ext>
            </a:extLst>
          </p:cNvPr>
          <p:cNvSpPr/>
          <p:nvPr/>
        </p:nvSpPr>
        <p:spPr>
          <a:xfrm>
            <a:off x="6096000" y="3183653"/>
            <a:ext cx="5730910" cy="16496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B3C581-9E8C-4F7B-A883-53F6D19F08AA}"/>
              </a:ext>
            </a:extLst>
          </p:cNvPr>
          <p:cNvSpPr/>
          <p:nvPr/>
        </p:nvSpPr>
        <p:spPr>
          <a:xfrm>
            <a:off x="6328787" y="4861728"/>
            <a:ext cx="5730910" cy="18991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85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39574" y="297906"/>
            <a:ext cx="8513762" cy="1143000"/>
          </a:xfrm>
        </p:spPr>
        <p:txBody>
          <a:bodyPr/>
          <a:lstStyle/>
          <a:p>
            <a:r>
              <a:rPr lang="en-US" altLang="en-US" dirty="0"/>
              <a:t>Annuity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408" y="1705150"/>
            <a:ext cx="9846644" cy="380047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200" u="sng" dirty="0"/>
              <a:t>Annuity</a:t>
            </a:r>
            <a:r>
              <a:rPr lang="en-US" sz="2200" dirty="0"/>
              <a:t>: a series of equal periodic payments</a:t>
            </a:r>
          </a:p>
          <a:p>
            <a:pPr lvl="1">
              <a:defRPr/>
            </a:pPr>
            <a:r>
              <a:rPr lang="en-US" sz="1800" dirty="0"/>
              <a:t>With an </a:t>
            </a:r>
            <a:r>
              <a:rPr lang="en-US" sz="1800" b="1" dirty="0">
                <a:solidFill>
                  <a:schemeClr val="accent2"/>
                </a:solidFill>
              </a:rPr>
              <a:t>ordinary annuity (or annuity)</a:t>
            </a:r>
            <a:r>
              <a:rPr lang="en-US" sz="1800" dirty="0"/>
              <a:t>, payments occur at the </a:t>
            </a:r>
            <a:r>
              <a:rPr lang="en-US" sz="1800" u="sng" dirty="0"/>
              <a:t>end</a:t>
            </a:r>
            <a:r>
              <a:rPr lang="en-US" sz="1800" dirty="0"/>
              <a:t> of each period </a:t>
            </a:r>
            <a:r>
              <a:rPr lang="en-US" sz="1800" b="1" dirty="0"/>
              <a:t>(ASSUME THIS WHEN I SAY “ANNUITY”</a:t>
            </a:r>
            <a:r>
              <a:rPr lang="en-US" sz="1800" dirty="0"/>
              <a:t>)</a:t>
            </a:r>
          </a:p>
          <a:p>
            <a:pPr lvl="1">
              <a:defRPr/>
            </a:pPr>
            <a:r>
              <a:rPr lang="en-US" sz="1800" dirty="0"/>
              <a:t>With an </a:t>
            </a:r>
            <a:r>
              <a:rPr lang="en-US" sz="1800" b="1" dirty="0">
                <a:solidFill>
                  <a:srgbClr val="C00000"/>
                </a:solidFill>
              </a:rPr>
              <a:t>annuity due</a:t>
            </a:r>
            <a:r>
              <a:rPr lang="en-US" sz="1800" dirty="0"/>
              <a:t>, payments occur at the </a:t>
            </a:r>
            <a:r>
              <a:rPr lang="en-US" sz="1800" u="sng" dirty="0"/>
              <a:t>beginning</a:t>
            </a:r>
            <a:r>
              <a:rPr lang="en-US" sz="1800" dirty="0"/>
              <a:t> of each period</a:t>
            </a:r>
            <a:endParaRPr lang="en-US" altLang="en-US" sz="1800" dirty="0"/>
          </a:p>
          <a:p>
            <a:pPr>
              <a:defRPr/>
            </a:pPr>
            <a:endParaRPr lang="en-US" sz="2600" dirty="0"/>
          </a:p>
        </p:txBody>
      </p:sp>
      <p:sp>
        <p:nvSpPr>
          <p:cNvPr id="20" name="TextBox 19"/>
          <p:cNvSpPr txBox="1"/>
          <p:nvPr/>
        </p:nvSpPr>
        <p:spPr>
          <a:xfrm>
            <a:off x="2187151" y="3913010"/>
            <a:ext cx="1347787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400" b="1" dirty="0"/>
              <a:t>Present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2446" y="3852674"/>
            <a:ext cx="1247775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400" b="1" dirty="0"/>
              <a:t>Future value</a:t>
            </a:r>
          </a:p>
        </p:txBody>
      </p: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2812615" y="4438825"/>
            <a:ext cx="6213475" cy="830262"/>
            <a:chOff x="1406516" y="5250480"/>
            <a:chExt cx="6213627" cy="829391"/>
          </a:xfrm>
        </p:grpSpPr>
        <p:cxnSp>
          <p:nvCxnSpPr>
            <p:cNvPr id="38" name="Straight Arrow Connector 37"/>
            <p:cNvCxnSpPr/>
            <p:nvPr/>
          </p:nvCxnSpPr>
          <p:spPr bwMode="auto">
            <a:xfrm>
              <a:off x="1547807" y="5643767"/>
              <a:ext cx="6072336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>
              <a:off x="1547807" y="5529587"/>
              <a:ext cx="0" cy="22836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 bwMode="auto">
            <a:xfrm>
              <a:off x="2876577" y="5529587"/>
              <a:ext cx="0" cy="22836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 bwMode="auto">
            <a:xfrm>
              <a:off x="4205347" y="5529587"/>
              <a:ext cx="0" cy="22836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 bwMode="auto">
            <a:xfrm>
              <a:off x="5532530" y="5529587"/>
              <a:ext cx="0" cy="22836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 bwMode="auto">
            <a:xfrm>
              <a:off x="6861299" y="5529587"/>
              <a:ext cx="0" cy="22836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1406516" y="5772219"/>
              <a:ext cx="284170" cy="3076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400" b="1" dirty="0"/>
                <a:t>0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735287" y="5772219"/>
              <a:ext cx="284169" cy="3076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400" b="1" dirty="0"/>
                <a:t>1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056119" y="5772219"/>
              <a:ext cx="284169" cy="3076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400" b="1" dirty="0"/>
                <a:t>2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391238" y="5772219"/>
              <a:ext cx="284170" cy="3076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400" b="1" dirty="0"/>
                <a:t>3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718421" y="5772219"/>
              <a:ext cx="284170" cy="30765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400" b="1" dirty="0"/>
                <a:t>4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621534" y="5250480"/>
              <a:ext cx="510088" cy="2767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200" b="1" i="1" dirty="0">
                  <a:solidFill>
                    <a:schemeClr val="accent2"/>
                  </a:solidFill>
                </a:rPr>
                <a:t>PMT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939985" y="5250480"/>
              <a:ext cx="510088" cy="2767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200" b="1" i="1" dirty="0">
                  <a:solidFill>
                    <a:schemeClr val="accent2"/>
                  </a:solidFill>
                </a:rPr>
                <a:t>PMT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278279" y="5250480"/>
              <a:ext cx="510088" cy="2767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200" b="1" i="1" dirty="0">
                  <a:solidFill>
                    <a:schemeClr val="accent2"/>
                  </a:solidFill>
                </a:rPr>
                <a:t>PMT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606256" y="5250480"/>
              <a:ext cx="510088" cy="27670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200" b="1" i="1" dirty="0">
                  <a:solidFill>
                    <a:schemeClr val="accent2"/>
                  </a:solidFill>
                </a:rPr>
                <a:t>PMT</a:t>
              </a: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2722679" y="4391736"/>
            <a:ext cx="439738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i="1" dirty="0">
                <a:solidFill>
                  <a:srgbClr val="7030A0"/>
                </a:solidFill>
              </a:rPr>
              <a:t>$$$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68035" y="4218431"/>
            <a:ext cx="439737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i="1" dirty="0">
                <a:solidFill>
                  <a:srgbClr val="7030A0"/>
                </a:solidFill>
              </a:rPr>
              <a:t>$$$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22679" y="5272796"/>
            <a:ext cx="5100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i="1" dirty="0">
                <a:solidFill>
                  <a:srgbClr val="C00000"/>
                </a:solidFill>
              </a:rPr>
              <a:t>PMT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41098" y="5272796"/>
            <a:ext cx="5100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i="1" dirty="0">
                <a:solidFill>
                  <a:srgbClr val="C00000"/>
                </a:solidFill>
              </a:rPr>
              <a:t>PMT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80154" y="5272796"/>
            <a:ext cx="5100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i="1" dirty="0">
                <a:solidFill>
                  <a:srgbClr val="C00000"/>
                </a:solidFill>
              </a:rPr>
              <a:t>PMT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07304" y="5272796"/>
            <a:ext cx="5100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i="1" dirty="0">
                <a:solidFill>
                  <a:srgbClr val="C00000"/>
                </a:solidFill>
              </a:rPr>
              <a:t>PMT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843D114-FAD7-418A-AFD0-6F78D0EAF41C}"/>
              </a:ext>
            </a:extLst>
          </p:cNvPr>
          <p:cNvGrpSpPr/>
          <p:nvPr/>
        </p:nvGrpSpPr>
        <p:grpSpPr>
          <a:xfrm>
            <a:off x="4014307" y="3499529"/>
            <a:ext cx="3631572" cy="728148"/>
            <a:chOff x="4064628" y="1916842"/>
            <a:chExt cx="3631572" cy="728148"/>
          </a:xfrm>
        </p:grpSpPr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E3239478-E99F-4F86-858F-03E5B1171338}"/>
                </a:ext>
              </a:extLst>
            </p:cNvPr>
            <p:cNvCxnSpPr/>
            <p:nvPr/>
          </p:nvCxnSpPr>
          <p:spPr bwMode="auto">
            <a:xfrm flipH="1">
              <a:off x="4064628" y="2644990"/>
              <a:ext cx="3631572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3C431BA-0ED3-4C4E-9185-1EA3790C99FC}"/>
                </a:ext>
              </a:extLst>
            </p:cNvPr>
            <p:cNvSpPr txBox="1"/>
            <p:nvPr/>
          </p:nvSpPr>
          <p:spPr>
            <a:xfrm>
              <a:off x="5290432" y="2362200"/>
              <a:ext cx="14061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i="1" dirty="0">
                  <a:solidFill>
                    <a:srgbClr val="C00000"/>
                  </a:solidFill>
                  <a:latin typeface="+mj-lt"/>
                </a:rPr>
                <a:t>DISCOUNTING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3D7BA345-9CE3-4D7C-B361-51DF8A704FCE}"/>
                </a:ext>
              </a:extLst>
            </p:cNvPr>
            <p:cNvCxnSpPr/>
            <p:nvPr/>
          </p:nvCxnSpPr>
          <p:spPr bwMode="auto">
            <a:xfrm>
              <a:off x="4064628" y="2199632"/>
              <a:ext cx="3631572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BA045FF-28F8-4F84-B8C1-0B1FC0E59FCC}"/>
                </a:ext>
              </a:extLst>
            </p:cNvPr>
            <p:cNvSpPr txBox="1"/>
            <p:nvPr/>
          </p:nvSpPr>
          <p:spPr>
            <a:xfrm>
              <a:off x="5181600" y="1916842"/>
              <a:ext cx="15835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i="1" dirty="0">
                  <a:solidFill>
                    <a:schemeClr val="accent2"/>
                  </a:solidFill>
                  <a:latin typeface="+mj-lt"/>
                </a:rPr>
                <a:t>ACCUMULATING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6085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998543" y="279384"/>
            <a:ext cx="8740775" cy="1143000"/>
          </a:xfrm>
        </p:spPr>
        <p:txBody>
          <a:bodyPr/>
          <a:lstStyle/>
          <a:p>
            <a:r>
              <a:rPr lang="en-US" altLang="en-US" sz="3600" dirty="0"/>
              <a:t>Present Value of an Annuity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998543" y="1528768"/>
            <a:ext cx="10474771" cy="4852781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spcAft>
                <a:spcPts val="600"/>
              </a:spcAft>
              <a:buNone/>
              <a:defRPr/>
            </a:pPr>
            <a:r>
              <a:rPr lang="en-US" altLang="en-US" b="1" dirty="0">
                <a:solidFill>
                  <a:srgbClr val="0070C0"/>
                </a:solidFill>
              </a:rPr>
              <a:t>What is a series of future payments worth today?</a:t>
            </a:r>
            <a:endParaRPr lang="en-US" altLang="en-US" sz="10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altLang="en-US" dirty="0"/>
          </a:p>
        </p:txBody>
      </p:sp>
      <p:sp>
        <p:nvSpPr>
          <p:cNvPr id="37892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739318" y="6248400"/>
            <a:ext cx="92868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B561C9-AAA8-49CB-A64D-C2EF8519E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5" y="2371725"/>
            <a:ext cx="8943975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144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998543" y="279384"/>
            <a:ext cx="8740775" cy="1143000"/>
          </a:xfrm>
        </p:spPr>
        <p:txBody>
          <a:bodyPr/>
          <a:lstStyle/>
          <a:p>
            <a:r>
              <a:rPr lang="en-US" altLang="en-US" sz="3600" dirty="0"/>
              <a:t>Future Value of an Annuity?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998543" y="1528768"/>
            <a:ext cx="10474771" cy="4852781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spcAft>
                <a:spcPts val="600"/>
              </a:spcAft>
              <a:buNone/>
              <a:defRPr/>
            </a:pPr>
            <a:r>
              <a:rPr lang="en-US" altLang="en-US" b="1" dirty="0">
                <a:solidFill>
                  <a:srgbClr val="0070C0"/>
                </a:solidFill>
              </a:rPr>
              <a:t>What is the future value of a series of payments?</a:t>
            </a:r>
            <a:endParaRPr lang="en-US" altLang="en-US" sz="10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altLang="en-US" dirty="0"/>
          </a:p>
        </p:txBody>
      </p:sp>
      <p:sp>
        <p:nvSpPr>
          <p:cNvPr id="37892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739318" y="6248400"/>
            <a:ext cx="92868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400">
              <a:latin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E98EC9-E744-4484-A5B9-644132BA9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243" y="2390574"/>
            <a:ext cx="7839075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01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9F0F4-B1B1-4480-95F4-A715F62FC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8F92A8-3BCA-4055-BEEC-75D8560A2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0999"/>
            <a:ext cx="12192000" cy="58584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277BCA-13A4-412A-B1B6-A8E52EABDEFC}"/>
              </a:ext>
            </a:extLst>
          </p:cNvPr>
          <p:cNvSpPr/>
          <p:nvPr/>
        </p:nvSpPr>
        <p:spPr>
          <a:xfrm>
            <a:off x="6096000" y="1825627"/>
            <a:ext cx="5730910" cy="18991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AB9E0C-C948-45FB-BCFB-4902CF81E12D}"/>
              </a:ext>
            </a:extLst>
          </p:cNvPr>
          <p:cNvSpPr/>
          <p:nvPr/>
        </p:nvSpPr>
        <p:spPr>
          <a:xfrm>
            <a:off x="6096000" y="4139921"/>
            <a:ext cx="5730910" cy="2011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63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BC35E-5758-4738-9C81-16B3C6C61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85132-B49E-4962-8B28-F1A2F0B33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value of money can be used to value certain accounts on the balance sheet.</a:t>
            </a:r>
          </a:p>
          <a:p>
            <a:endParaRPr lang="en-US" dirty="0"/>
          </a:p>
          <a:p>
            <a:r>
              <a:rPr lang="en-US" dirty="0"/>
              <a:t>Present value refers to today’s value of cash flows, and future values refers to value in the future.</a:t>
            </a:r>
          </a:p>
          <a:p>
            <a:endParaRPr lang="en-US" dirty="0"/>
          </a:p>
          <a:p>
            <a:r>
              <a:rPr lang="en-US" dirty="0"/>
              <a:t>Be comfortable with the lump sum and annuity – we often combine these!</a:t>
            </a:r>
          </a:p>
        </p:txBody>
      </p:sp>
    </p:spTree>
    <p:extLst>
      <p:ext uri="{BB962C8B-B14F-4D97-AF65-F5344CB8AC3E}">
        <p14:creationId xmlns:p14="http://schemas.microsoft.com/office/powerpoint/2010/main" val="3387992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i="1" dirty="0">
                <a:solidFill>
                  <a:schemeClr val="bg1"/>
                </a:solidFill>
              </a:rPr>
              <a:t>TVM &amp; Notes Receivable - Video</a:t>
            </a:r>
          </a:p>
        </p:txBody>
      </p:sp>
    </p:spTree>
    <p:extLst>
      <p:ext uri="{BB962C8B-B14F-4D97-AF65-F5344CB8AC3E}">
        <p14:creationId xmlns:p14="http://schemas.microsoft.com/office/powerpoint/2010/main" val="4102356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3235</TotalTime>
  <Words>1225</Words>
  <Application>Microsoft Office PowerPoint</Application>
  <PresentationFormat>Widescreen</PresentationFormat>
  <Paragraphs>155</Paragraphs>
  <Slides>18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Black</vt:lpstr>
      <vt:lpstr>Calibri</vt:lpstr>
      <vt:lpstr>Times New Roman</vt:lpstr>
      <vt:lpstr>Office Theme</vt:lpstr>
      <vt:lpstr>PowerPoint Presentation</vt:lpstr>
      <vt:lpstr>Time value of money</vt:lpstr>
      <vt:lpstr>Time value of money</vt:lpstr>
      <vt:lpstr>Why do we care?</vt:lpstr>
      <vt:lpstr>Review of Terminology</vt:lpstr>
      <vt:lpstr>Interest</vt:lpstr>
      <vt:lpstr>Compounding</vt:lpstr>
      <vt:lpstr>Effective interest rate</vt:lpstr>
      <vt:lpstr>Single or Lump Sum</vt:lpstr>
      <vt:lpstr>Future Value of a Single Sum</vt:lpstr>
      <vt:lpstr>Future Value of a Single Sum</vt:lpstr>
      <vt:lpstr>PowerPoint Presentation</vt:lpstr>
      <vt:lpstr>Annuity</vt:lpstr>
      <vt:lpstr>Present Value of an Annuity</vt:lpstr>
      <vt:lpstr>Future Value of an Annuity?</vt:lpstr>
      <vt:lpstr>PowerPoint Presentation</vt:lpstr>
      <vt:lpstr>Closing Thoughts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Kubie</dc:creator>
  <cp:lastModifiedBy>Jeremiah Contreras</cp:lastModifiedBy>
  <cp:revision>79</cp:revision>
  <dcterms:created xsi:type="dcterms:W3CDTF">2016-01-26T18:12:20Z</dcterms:created>
  <dcterms:modified xsi:type="dcterms:W3CDTF">2022-11-14T15:14:04Z</dcterms:modified>
</cp:coreProperties>
</file>