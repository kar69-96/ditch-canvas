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440" r:id="rId2"/>
    <p:sldId id="449" r:id="rId3"/>
    <p:sldId id="448" r:id="rId4"/>
    <p:sldId id="450" r:id="rId5"/>
    <p:sldId id="451" r:id="rId6"/>
    <p:sldId id="454" r:id="rId7"/>
    <p:sldId id="455" r:id="rId8"/>
    <p:sldId id="456" r:id="rId9"/>
    <p:sldId id="457" r:id="rId10"/>
    <p:sldId id="458" r:id="rId11"/>
    <p:sldId id="447" r:id="rId12"/>
    <p:sldId id="459" r:id="rId13"/>
    <p:sldId id="460" r:id="rId14"/>
    <p:sldId id="467" r:id="rId15"/>
    <p:sldId id="442" r:id="rId16"/>
    <p:sldId id="468" r:id="rId17"/>
    <p:sldId id="466" r:id="rId18"/>
    <p:sldId id="461" r:id="rId19"/>
    <p:sldId id="324" r:id="rId20"/>
    <p:sldId id="462" r:id="rId21"/>
  </p:sldIdLst>
  <p:sldSz cx="12192000" cy="6858000"/>
  <p:notesSz cx="7023100" cy="9309100"/>
  <p:embeddedFontLst>
    <p:embeddedFont>
      <p:font typeface="Arial Black" panose="020B0A04020102020204" pitchFamily="34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19E42-202C-438B-B8DC-211E011B725A}" v="4" dt="2025-11-19T14:29:56.232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8"/>
    <p:restoredTop sz="86448"/>
  </p:normalViewPr>
  <p:slideViewPr>
    <p:cSldViewPr snapToGrid="0" snapToObjects="1">
      <p:cViewPr varScale="1">
        <p:scale>
          <a:sx n="89" d="100"/>
          <a:sy n="89" d="100"/>
        </p:scale>
        <p:origin x="639" y="2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7aaf88c5-f86c-46d8-a0d4-f1ec65ded07c" providerId="ADAL" clId="{47828E62-FC24-428A-ACF6-B28718A93287}"/>
    <pc:docChg chg="addSld delSld modSld sldOrd">
      <pc:chgData name="Jeremiah Contreras" userId="7aaf88c5-f86c-46d8-a0d4-f1ec65ded07c" providerId="ADAL" clId="{47828E62-FC24-428A-ACF6-B28718A93287}" dt="2025-11-17T20:11:15.301" v="130" actId="20577"/>
      <pc:docMkLst>
        <pc:docMk/>
      </pc:docMkLst>
      <pc:sldChg chg="del">
        <pc:chgData name="Jeremiah Contreras" userId="7aaf88c5-f86c-46d8-a0d4-f1ec65ded07c" providerId="ADAL" clId="{47828E62-FC24-428A-ACF6-B28718A93287}" dt="2025-11-17T12:00:00.275" v="3" actId="47"/>
        <pc:sldMkLst>
          <pc:docMk/>
          <pc:sldMk cId="174990569" sldId="386"/>
        </pc:sldMkLst>
      </pc:sldChg>
      <pc:sldChg chg="del">
        <pc:chgData name="Jeremiah Contreras" userId="7aaf88c5-f86c-46d8-a0d4-f1ec65ded07c" providerId="ADAL" clId="{47828E62-FC24-428A-ACF6-B28718A93287}" dt="2025-11-17T12:00:49.807" v="4" actId="47"/>
        <pc:sldMkLst>
          <pc:docMk/>
          <pc:sldMk cId="1217761127" sldId="391"/>
        </pc:sldMkLst>
      </pc:sldChg>
      <pc:sldChg chg="ord">
        <pc:chgData name="Jeremiah Contreras" userId="7aaf88c5-f86c-46d8-a0d4-f1ec65ded07c" providerId="ADAL" clId="{47828E62-FC24-428A-ACF6-B28718A93287}" dt="2025-11-17T12:04:12.293" v="9"/>
        <pc:sldMkLst>
          <pc:docMk/>
          <pc:sldMk cId="1431248110" sldId="442"/>
        </pc:sldMkLst>
      </pc:sldChg>
      <pc:sldChg chg="del">
        <pc:chgData name="Jeremiah Contreras" userId="7aaf88c5-f86c-46d8-a0d4-f1ec65ded07c" providerId="ADAL" clId="{47828E62-FC24-428A-ACF6-B28718A93287}" dt="2025-11-17T12:16:57.711" v="12" actId="47"/>
        <pc:sldMkLst>
          <pc:docMk/>
          <pc:sldMk cId="2761924634" sldId="444"/>
        </pc:sldMkLst>
      </pc:sldChg>
      <pc:sldChg chg="del">
        <pc:chgData name="Jeremiah Contreras" userId="7aaf88c5-f86c-46d8-a0d4-f1ec65ded07c" providerId="ADAL" clId="{47828E62-FC24-428A-ACF6-B28718A93287}" dt="2025-11-17T12:16:57.711" v="12" actId="47"/>
        <pc:sldMkLst>
          <pc:docMk/>
          <pc:sldMk cId="934905056" sldId="445"/>
        </pc:sldMkLst>
      </pc:sldChg>
      <pc:sldChg chg="del">
        <pc:chgData name="Jeremiah Contreras" userId="7aaf88c5-f86c-46d8-a0d4-f1ec65ded07c" providerId="ADAL" clId="{47828E62-FC24-428A-ACF6-B28718A93287}" dt="2025-11-17T12:00:50.989" v="5" actId="47"/>
        <pc:sldMkLst>
          <pc:docMk/>
          <pc:sldMk cId="2183284266" sldId="446"/>
        </pc:sldMkLst>
      </pc:sldChg>
      <pc:sldChg chg="del">
        <pc:chgData name="Jeremiah Contreras" userId="7aaf88c5-f86c-46d8-a0d4-f1ec65ded07c" providerId="ADAL" clId="{47828E62-FC24-428A-ACF6-B28718A93287}" dt="2025-11-17T12:16:57.711" v="12" actId="47"/>
        <pc:sldMkLst>
          <pc:docMk/>
          <pc:sldMk cId="2751976341" sldId="452"/>
        </pc:sldMkLst>
      </pc:sldChg>
      <pc:sldChg chg="del">
        <pc:chgData name="Jeremiah Contreras" userId="7aaf88c5-f86c-46d8-a0d4-f1ec65ded07c" providerId="ADAL" clId="{47828E62-FC24-428A-ACF6-B28718A93287}" dt="2025-11-17T12:16:57.711" v="12" actId="47"/>
        <pc:sldMkLst>
          <pc:docMk/>
          <pc:sldMk cId="190361007" sldId="453"/>
        </pc:sldMkLst>
      </pc:sldChg>
      <pc:sldChg chg="modSp modAnim">
        <pc:chgData name="Jeremiah Contreras" userId="7aaf88c5-f86c-46d8-a0d4-f1ec65ded07c" providerId="ADAL" clId="{47828E62-FC24-428A-ACF6-B28718A93287}" dt="2025-11-17T20:11:15.301" v="130" actId="20577"/>
        <pc:sldMkLst>
          <pc:docMk/>
          <pc:sldMk cId="2401273241" sldId="461"/>
        </pc:sldMkLst>
        <pc:spChg chg="mod">
          <ac:chgData name="Jeremiah Contreras" userId="7aaf88c5-f86c-46d8-a0d4-f1ec65ded07c" providerId="ADAL" clId="{47828E62-FC24-428A-ACF6-B28718A93287}" dt="2025-11-17T20:11:15.301" v="130" actId="20577"/>
          <ac:spMkLst>
            <pc:docMk/>
            <pc:sldMk cId="2401273241" sldId="461"/>
            <ac:spMk id="3" creationId="{E6ED8E70-948C-410C-A997-F28DF282D9C3}"/>
          </ac:spMkLst>
        </pc:spChg>
      </pc:sldChg>
      <pc:sldChg chg="del">
        <pc:chgData name="Jeremiah Contreras" userId="7aaf88c5-f86c-46d8-a0d4-f1ec65ded07c" providerId="ADAL" clId="{47828E62-FC24-428A-ACF6-B28718A93287}" dt="2025-11-17T12:16:57.711" v="12" actId="47"/>
        <pc:sldMkLst>
          <pc:docMk/>
          <pc:sldMk cId="4029626877" sldId="465"/>
        </pc:sldMkLst>
      </pc:sldChg>
      <pc:sldChg chg="modSp del modAnim">
        <pc:chgData name="Jeremiah Contreras" userId="7aaf88c5-f86c-46d8-a0d4-f1ec65ded07c" providerId="ADAL" clId="{47828E62-FC24-428A-ACF6-B28718A93287}" dt="2025-11-17T12:16:26.792" v="10" actId="2696"/>
        <pc:sldMkLst>
          <pc:docMk/>
          <pc:sldMk cId="1096733187" sldId="466"/>
        </pc:sldMkLst>
      </pc:sldChg>
      <pc:sldChg chg="add">
        <pc:chgData name="Jeremiah Contreras" userId="7aaf88c5-f86c-46d8-a0d4-f1ec65ded07c" providerId="ADAL" clId="{47828E62-FC24-428A-ACF6-B28718A93287}" dt="2025-11-17T12:16:47.650" v="11"/>
        <pc:sldMkLst>
          <pc:docMk/>
          <pc:sldMk cId="4085798580" sldId="466"/>
        </pc:sldMkLst>
      </pc:sldChg>
    </pc:docChg>
  </pc:docChgLst>
  <pc:docChgLst>
    <pc:chgData name="Jeremiah Contreras" userId="7aaf88c5-f86c-46d8-a0d4-f1ec65ded07c" providerId="ADAL" clId="{1C6858BE-E7F0-42C1-AD99-CDD2903F6DB9}"/>
    <pc:docChg chg="undo custSel addSld delSld modSld">
      <pc:chgData name="Jeremiah Contreras" userId="7aaf88c5-f86c-46d8-a0d4-f1ec65ded07c" providerId="ADAL" clId="{1C6858BE-E7F0-42C1-AD99-CDD2903F6DB9}" dt="2025-11-19T14:29:59.337" v="323" actId="20577"/>
      <pc:docMkLst>
        <pc:docMk/>
      </pc:docMkLst>
      <pc:sldChg chg="add del">
        <pc:chgData name="Jeremiah Contreras" userId="7aaf88c5-f86c-46d8-a0d4-f1ec65ded07c" providerId="ADAL" clId="{1C6858BE-E7F0-42C1-AD99-CDD2903F6DB9}" dt="2025-11-19T13:56:57.417" v="1" actId="2696"/>
        <pc:sldMkLst>
          <pc:docMk/>
          <pc:sldMk cId="1746234464" sldId="324"/>
        </pc:sldMkLst>
      </pc:sldChg>
      <pc:sldChg chg="add">
        <pc:chgData name="Jeremiah Contreras" userId="7aaf88c5-f86c-46d8-a0d4-f1ec65ded07c" providerId="ADAL" clId="{1C6858BE-E7F0-42C1-AD99-CDD2903F6DB9}" dt="2025-11-19T13:57:08.761" v="2"/>
        <pc:sldMkLst>
          <pc:docMk/>
          <pc:sldMk cId="2267889475" sldId="324"/>
        </pc:sldMkLst>
      </pc:sldChg>
      <pc:sldChg chg="modSp mod">
        <pc:chgData name="Jeremiah Contreras" userId="7aaf88c5-f86c-46d8-a0d4-f1ec65ded07c" providerId="ADAL" clId="{1C6858BE-E7F0-42C1-AD99-CDD2903F6DB9}" dt="2025-11-19T14:24:13.804" v="6" actId="1076"/>
        <pc:sldMkLst>
          <pc:docMk/>
          <pc:sldMk cId="3413708828" sldId="447"/>
        </pc:sldMkLst>
        <pc:spChg chg="mod">
          <ac:chgData name="Jeremiah Contreras" userId="7aaf88c5-f86c-46d8-a0d4-f1ec65ded07c" providerId="ADAL" clId="{1C6858BE-E7F0-42C1-AD99-CDD2903F6DB9}" dt="2025-11-19T14:24:10.653" v="4" actId="1076"/>
          <ac:spMkLst>
            <pc:docMk/>
            <pc:sldMk cId="3413708828" sldId="447"/>
            <ac:spMk id="11" creationId="{49989EA4-75C5-45B6-B641-6591CB42194A}"/>
          </ac:spMkLst>
        </pc:spChg>
        <pc:spChg chg="mod">
          <ac:chgData name="Jeremiah Contreras" userId="7aaf88c5-f86c-46d8-a0d4-f1ec65ded07c" providerId="ADAL" clId="{1C6858BE-E7F0-42C1-AD99-CDD2903F6DB9}" dt="2025-11-19T14:24:13.804" v="6" actId="1076"/>
          <ac:spMkLst>
            <pc:docMk/>
            <pc:sldMk cId="3413708828" sldId="447"/>
            <ac:spMk id="13" creationId="{2A3CCB32-537B-4C05-A729-EF11088294D2}"/>
          </ac:spMkLst>
        </pc:spChg>
      </pc:sldChg>
      <pc:sldChg chg="modSp mod">
        <pc:chgData name="Jeremiah Contreras" userId="7aaf88c5-f86c-46d8-a0d4-f1ec65ded07c" providerId="ADAL" clId="{1C6858BE-E7F0-42C1-AD99-CDD2903F6DB9}" dt="2025-11-19T14:24:53.166" v="8" actId="20577"/>
        <pc:sldMkLst>
          <pc:docMk/>
          <pc:sldMk cId="3087041443" sldId="460"/>
        </pc:sldMkLst>
        <pc:spChg chg="mod">
          <ac:chgData name="Jeremiah Contreras" userId="7aaf88c5-f86c-46d8-a0d4-f1ec65ded07c" providerId="ADAL" clId="{1C6858BE-E7F0-42C1-AD99-CDD2903F6DB9}" dt="2025-11-19T14:24:53.166" v="8" actId="20577"/>
          <ac:spMkLst>
            <pc:docMk/>
            <pc:sldMk cId="3087041443" sldId="460"/>
            <ac:spMk id="3" creationId="{7575A1B9-77FC-4845-AAD7-A02C6B21CD0E}"/>
          </ac:spMkLst>
        </pc:spChg>
      </pc:sldChg>
      <pc:sldChg chg="modSp add mod">
        <pc:chgData name="Jeremiah Contreras" userId="7aaf88c5-f86c-46d8-a0d4-f1ec65ded07c" providerId="ADAL" clId="{1C6858BE-E7F0-42C1-AD99-CDD2903F6DB9}" dt="2025-11-19T14:29:22.267" v="320" actId="20577"/>
        <pc:sldMkLst>
          <pc:docMk/>
          <pc:sldMk cId="2081458232" sldId="467"/>
        </pc:sldMkLst>
        <pc:spChg chg="mod">
          <ac:chgData name="Jeremiah Contreras" userId="7aaf88c5-f86c-46d8-a0d4-f1ec65ded07c" providerId="ADAL" clId="{1C6858BE-E7F0-42C1-AD99-CDD2903F6DB9}" dt="2025-11-19T14:27:45.426" v="211" actId="20577"/>
          <ac:spMkLst>
            <pc:docMk/>
            <pc:sldMk cId="2081458232" sldId="467"/>
            <ac:spMk id="2" creationId="{EED69E11-CD99-820A-8FF7-1297A0BAC42C}"/>
          </ac:spMkLst>
        </pc:spChg>
        <pc:spChg chg="mod">
          <ac:chgData name="Jeremiah Contreras" userId="7aaf88c5-f86c-46d8-a0d4-f1ec65ded07c" providerId="ADAL" clId="{1C6858BE-E7F0-42C1-AD99-CDD2903F6DB9}" dt="2025-11-19T14:29:22.267" v="320" actId="20577"/>
          <ac:spMkLst>
            <pc:docMk/>
            <pc:sldMk cId="2081458232" sldId="467"/>
            <ac:spMk id="3" creationId="{6E25651A-BE05-1C01-DDFD-C2BA76D22939}"/>
          </ac:spMkLst>
        </pc:spChg>
      </pc:sldChg>
      <pc:sldChg chg="modSp add mod">
        <pc:chgData name="Jeremiah Contreras" userId="7aaf88c5-f86c-46d8-a0d4-f1ec65ded07c" providerId="ADAL" clId="{1C6858BE-E7F0-42C1-AD99-CDD2903F6DB9}" dt="2025-11-19T14:29:59.337" v="323" actId="20577"/>
        <pc:sldMkLst>
          <pc:docMk/>
          <pc:sldMk cId="4293746336" sldId="468"/>
        </pc:sldMkLst>
        <pc:spChg chg="mod">
          <ac:chgData name="Jeremiah Contreras" userId="7aaf88c5-f86c-46d8-a0d4-f1ec65ded07c" providerId="ADAL" clId="{1C6858BE-E7F0-42C1-AD99-CDD2903F6DB9}" dt="2025-11-19T14:29:59.337" v="323" actId="20577"/>
          <ac:spMkLst>
            <pc:docMk/>
            <pc:sldMk cId="4293746336" sldId="468"/>
            <ac:spMk id="3" creationId="{09AA9984-4587-ECDF-EC72-2FE026E0EB9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1E536B2F-5150-4C67-A8B2-026CBE407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7363" y="731838"/>
            <a:ext cx="6518275" cy="36671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2A44A280-730D-493C-A581-B2A535BC10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49457" y="4643238"/>
            <a:ext cx="5992395" cy="439919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28" tIns="48563" rIns="97128" bIns="48563"/>
          <a:lstStyle/>
          <a:p>
            <a:r>
              <a:rPr lang="en-US" altLang="en-US"/>
              <a:t>Talk about (1) and (2) from next slide here</a:t>
            </a:r>
          </a:p>
        </p:txBody>
      </p:sp>
    </p:spTree>
    <p:extLst>
      <p:ext uri="{BB962C8B-B14F-4D97-AF65-F5344CB8AC3E}">
        <p14:creationId xmlns:p14="http://schemas.microsoft.com/office/powerpoint/2010/main" val="4248045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orado.campuslabs.com/eval-home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Non-Current Liabilities Part 2 </a:t>
            </a:r>
            <a:r>
              <a:rPr lang="en-US" altLang="en-US" sz="3200" b="1" i="1">
                <a:solidFill>
                  <a:prstClr val="white"/>
                </a:solidFill>
                <a:latin typeface="Arial" panose="020B0604020202020204"/>
              </a:rPr>
              <a:t>– In-Class</a:t>
            </a:r>
            <a:endParaRPr kumimoji="0" lang="en-US" alt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786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CD275F90-B020-4791-BC6D-27448F8F6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4258"/>
            <a:ext cx="9144000" cy="2387600"/>
          </a:xfrm>
        </p:spPr>
        <p:txBody>
          <a:bodyPr/>
          <a:lstStyle/>
          <a:p>
            <a:r>
              <a:rPr lang="en-US" altLang="en-US" dirty="0"/>
              <a:t>Bond Issued Between Dates</a:t>
            </a:r>
          </a:p>
        </p:txBody>
      </p:sp>
      <p:sp>
        <p:nvSpPr>
          <p:cNvPr id="10243" name="Slide Number Placeholder 2">
            <a:extLst>
              <a:ext uri="{FF2B5EF4-FFF2-40B4-BE49-F238E27FC236}">
                <a16:creationId xmlns:a16="http://schemas.microsoft.com/office/drawing/2014/main" id="{A14EE460-71E6-4BD4-8A0D-D1937FD10F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9898064" y="6248400"/>
            <a:ext cx="7699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855536-71E7-4D8F-A1E0-5AE5745B55F7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274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Issuance (so far)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2471286"/>
            <a:ext cx="89058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17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Issuance (now)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2561874"/>
            <a:ext cx="8934450" cy="2581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0380" y="5948413"/>
            <a:ext cx="82397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How many months have investors owned the bonds on June 30</a:t>
            </a:r>
            <a:r>
              <a:rPr lang="en-US" sz="2000" b="1" baseline="30000" dirty="0">
                <a:solidFill>
                  <a:srgbClr val="C00000"/>
                </a:solidFill>
              </a:rPr>
              <a:t>th</a:t>
            </a:r>
            <a:r>
              <a:rPr lang="en-US" sz="20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82596" y="5948413"/>
            <a:ext cx="782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TWO</a:t>
            </a:r>
          </a:p>
        </p:txBody>
      </p:sp>
    </p:spTree>
    <p:extLst>
      <p:ext uri="{BB962C8B-B14F-4D97-AF65-F5344CB8AC3E}">
        <p14:creationId xmlns:p14="http://schemas.microsoft.com/office/powerpoint/2010/main" val="167231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Issuance (now)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2561874"/>
            <a:ext cx="8934450" cy="2581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723A16-F018-4A0C-9100-AB8052303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37" y="5283528"/>
            <a:ext cx="9573126" cy="157447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CCAFD98-ECA5-4B91-85C7-CBB66BD9DA45}"/>
              </a:ext>
            </a:extLst>
          </p:cNvPr>
          <p:cNvSpPr/>
          <p:nvPr/>
        </p:nvSpPr>
        <p:spPr>
          <a:xfrm>
            <a:off x="3711387" y="2316085"/>
            <a:ext cx="1149725" cy="28972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1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Issuance (now)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2561874"/>
            <a:ext cx="8934450" cy="2581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179352-F845-4CE0-BE9E-3ABA0D9B1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5703887"/>
            <a:ext cx="8515350" cy="73342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68EDAD8-6A0B-4438-B825-A513500C56D1}"/>
              </a:ext>
            </a:extLst>
          </p:cNvPr>
          <p:cNvSpPr/>
          <p:nvPr/>
        </p:nvSpPr>
        <p:spPr>
          <a:xfrm>
            <a:off x="2770093" y="2245895"/>
            <a:ext cx="1149725" cy="28972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9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79A361-DE02-4709-9FE4-357DE089B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570" y="5286624"/>
            <a:ext cx="9280525" cy="15726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Issuance (now)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2561874"/>
            <a:ext cx="8934450" cy="258127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FB47AC0-5A31-6AA1-9A93-5F920C66C6C8}"/>
              </a:ext>
            </a:extLst>
          </p:cNvPr>
          <p:cNvSpPr/>
          <p:nvPr/>
        </p:nvSpPr>
        <p:spPr>
          <a:xfrm>
            <a:off x="4800599" y="2439627"/>
            <a:ext cx="1741394" cy="28972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5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Issuance (now)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2561874"/>
            <a:ext cx="8934450" cy="2581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C1EEB1-39C8-4CAD-A220-E7E56074F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5610488"/>
            <a:ext cx="8934450" cy="106900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613DE32-5435-C5AD-683B-3E38D4712D1A}"/>
              </a:ext>
            </a:extLst>
          </p:cNvPr>
          <p:cNvSpPr/>
          <p:nvPr/>
        </p:nvSpPr>
        <p:spPr>
          <a:xfrm>
            <a:off x="4800599" y="2439627"/>
            <a:ext cx="1741394" cy="28972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Issuance (now)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2561874"/>
            <a:ext cx="8934450" cy="258127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CCAFD98-ECA5-4B91-85C7-CBB66BD9DA45}"/>
              </a:ext>
            </a:extLst>
          </p:cNvPr>
          <p:cNvSpPr/>
          <p:nvPr/>
        </p:nvSpPr>
        <p:spPr>
          <a:xfrm>
            <a:off x="7865311" y="2479565"/>
            <a:ext cx="2165684" cy="28972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F729C-9953-40C9-AC55-932C29BB3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5488420"/>
            <a:ext cx="993457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2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Issuance (now)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2561874"/>
            <a:ext cx="8934450" cy="258127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CCAFD98-ECA5-4B91-85C7-CBB66BD9DA45}"/>
              </a:ext>
            </a:extLst>
          </p:cNvPr>
          <p:cNvSpPr/>
          <p:nvPr/>
        </p:nvSpPr>
        <p:spPr>
          <a:xfrm>
            <a:off x="7865311" y="2479565"/>
            <a:ext cx="2165684" cy="289725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BD9CB0-844B-474B-926F-8E19444DF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95" y="5592682"/>
            <a:ext cx="8343900" cy="108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25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23797-19DD-4E67-8F3E-3FD893634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34" y="1377070"/>
            <a:ext cx="8863566" cy="5200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0BC46E-9813-4ECF-8DE0-CC72BE93A6B2}"/>
              </a:ext>
            </a:extLst>
          </p:cNvPr>
          <p:cNvSpPr/>
          <p:nvPr/>
        </p:nvSpPr>
        <p:spPr>
          <a:xfrm>
            <a:off x="1917700" y="3911600"/>
            <a:ext cx="4178300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285182-4BD2-49DA-9E20-17792E962234}"/>
              </a:ext>
            </a:extLst>
          </p:cNvPr>
          <p:cNvSpPr/>
          <p:nvPr/>
        </p:nvSpPr>
        <p:spPr>
          <a:xfrm>
            <a:off x="1924050" y="4364682"/>
            <a:ext cx="4883150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76B604-A507-4F29-A5A4-72C606FE09AF}"/>
              </a:ext>
            </a:extLst>
          </p:cNvPr>
          <p:cNvSpPr/>
          <p:nvPr/>
        </p:nvSpPr>
        <p:spPr>
          <a:xfrm>
            <a:off x="1924050" y="4771082"/>
            <a:ext cx="5899150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989EA4-75C5-45B6-B641-6591CB42194A}"/>
              </a:ext>
            </a:extLst>
          </p:cNvPr>
          <p:cNvSpPr/>
          <p:nvPr/>
        </p:nvSpPr>
        <p:spPr>
          <a:xfrm>
            <a:off x="1530350" y="5329882"/>
            <a:ext cx="7004050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366614-41E9-4C72-AD19-AB83C187C4E6}"/>
              </a:ext>
            </a:extLst>
          </p:cNvPr>
          <p:cNvSpPr/>
          <p:nvPr/>
        </p:nvSpPr>
        <p:spPr>
          <a:xfrm>
            <a:off x="2419350" y="5766445"/>
            <a:ext cx="7004050" cy="338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3CCB32-537B-4C05-A729-EF11088294D2}"/>
              </a:ext>
            </a:extLst>
          </p:cNvPr>
          <p:cNvSpPr/>
          <p:nvPr/>
        </p:nvSpPr>
        <p:spPr>
          <a:xfrm>
            <a:off x="2419350" y="6146806"/>
            <a:ext cx="7004050" cy="338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0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83B9-FB98-44D6-B13B-AB584CBD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F3A1A-8C24-4206-9F42-7001BC97E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92602-EA35-4F03-BADD-C1396CBE6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479" y="1453270"/>
            <a:ext cx="9019172" cy="50411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BC3DFFB-12B1-4299-A7BD-1018B4DB44A1}"/>
              </a:ext>
            </a:extLst>
          </p:cNvPr>
          <p:cNvSpPr/>
          <p:nvPr/>
        </p:nvSpPr>
        <p:spPr>
          <a:xfrm>
            <a:off x="3086100" y="6066828"/>
            <a:ext cx="7106151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2ACB83-C892-476A-97C8-D9B2FDBDF2F7}"/>
              </a:ext>
            </a:extLst>
          </p:cNvPr>
          <p:cNvSpPr/>
          <p:nvPr/>
        </p:nvSpPr>
        <p:spPr>
          <a:xfrm>
            <a:off x="1549400" y="5233217"/>
            <a:ext cx="7106151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D19029-0A7F-4788-A10E-DAEA6DF298C6}"/>
              </a:ext>
            </a:extLst>
          </p:cNvPr>
          <p:cNvSpPr/>
          <p:nvPr/>
        </p:nvSpPr>
        <p:spPr>
          <a:xfrm>
            <a:off x="1773321" y="5579764"/>
            <a:ext cx="7106151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3EE5E4-3398-D8A2-41E4-5928F3187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519" y="3973853"/>
            <a:ext cx="6686525" cy="75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1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A126-6B4C-4242-9F3B-49AD6A3E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handout…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5A1B9-77FC-4845-AAD7-A02C6B21C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 1</a:t>
            </a:r>
          </a:p>
        </p:txBody>
      </p:sp>
    </p:spTree>
    <p:extLst>
      <p:ext uri="{BB962C8B-B14F-4D97-AF65-F5344CB8AC3E}">
        <p14:creationId xmlns:p14="http://schemas.microsoft.com/office/powerpoint/2010/main" val="3087041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7E21-926C-2051-F351-601A06BA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9E11-CD99-820A-8FF7-1297A0BA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Retire / Buy Back Bonds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651A-BE05-1C01-DDFD-C2BA76D22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Companies can retire their bonds before maturity in two main ways: </a:t>
            </a:r>
          </a:p>
          <a:p>
            <a:pPr lvl="1"/>
            <a:r>
              <a:rPr lang="en-US" sz="2800" dirty="0"/>
              <a:t>Retire at a call price, if the bond is callable, or</a:t>
            </a:r>
          </a:p>
          <a:p>
            <a:pPr lvl="1"/>
            <a:r>
              <a:rPr lang="en-US" sz="2800" dirty="0"/>
              <a:t>Buy them back on the open market at the current market rate.</a:t>
            </a:r>
          </a:p>
        </p:txBody>
      </p:sp>
    </p:spTree>
    <p:extLst>
      <p:ext uri="{BB962C8B-B14F-4D97-AF65-F5344CB8AC3E}">
        <p14:creationId xmlns:p14="http://schemas.microsoft.com/office/powerpoint/2010/main" val="2081458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82" y="1504070"/>
            <a:ext cx="8677275" cy="4010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48" y="265025"/>
            <a:ext cx="3362325" cy="11525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74482" y="4533499"/>
            <a:ext cx="8252912" cy="1058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C7B1E-A734-7E2C-6A91-E08900D4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2CBB-199F-424B-F931-B34DC768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handout…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A9984-4587-ECDF-EC72-2FE026E0E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 2</a:t>
            </a:r>
          </a:p>
        </p:txBody>
      </p:sp>
    </p:spTree>
    <p:extLst>
      <p:ext uri="{BB962C8B-B14F-4D97-AF65-F5344CB8AC3E}">
        <p14:creationId xmlns:p14="http://schemas.microsoft.com/office/powerpoint/2010/main" val="4293746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D31A0-EE33-D30B-EB3B-112FDEE2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A21E-01A7-FDB1-5E39-63FAA6B06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Instruments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96F0-C43E-9B46-4F1C-E829E5BC4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335819"/>
            <a:ext cx="11633200" cy="5442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1) Know your basic entries</a:t>
            </a:r>
          </a:p>
          <a:p>
            <a:pPr lvl="1"/>
            <a:r>
              <a:rPr lang="en-US" sz="2000" dirty="0"/>
              <a:t>Note Receivable: Dr NR, Cr Cash (or Equip, Rev) </a:t>
            </a:r>
            <a:r>
              <a:rPr lang="en-US" sz="2000" dirty="0">
                <a:sym typeface="Wingdings" panose="05000000000000000000" pitchFamily="2" charset="2"/>
              </a:rPr>
              <a:t> P</a:t>
            </a:r>
            <a:r>
              <a:rPr lang="en-US" sz="2000" dirty="0"/>
              <a:t>ossible Disc/Prem</a:t>
            </a:r>
          </a:p>
          <a:p>
            <a:pPr lvl="1"/>
            <a:r>
              <a:rPr lang="en-US" sz="2000" dirty="0"/>
              <a:t>Note Payable: Dr Cash (or Equip), Cr NP </a:t>
            </a:r>
            <a:r>
              <a:rPr lang="en-US" sz="2000" dirty="0">
                <a:sym typeface="Wingdings" panose="05000000000000000000" pitchFamily="2" charset="2"/>
              </a:rPr>
              <a:t> P</a:t>
            </a:r>
            <a:r>
              <a:rPr lang="en-US" sz="2000" dirty="0"/>
              <a:t>ossible Disc/Prem</a:t>
            </a:r>
          </a:p>
          <a:p>
            <a:pPr lvl="1"/>
            <a:r>
              <a:rPr lang="en-US" sz="2000" dirty="0"/>
              <a:t>Bond Payable: Dr Cash,</a:t>
            </a:r>
            <a:r>
              <a:rPr lang="en-US" sz="2000" dirty="0">
                <a:sym typeface="Wingdings" panose="05000000000000000000" pitchFamily="2" charset="2"/>
              </a:rPr>
              <a:t> Cr Bond Pay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P</a:t>
            </a:r>
            <a:r>
              <a:rPr lang="en-US" sz="2000" dirty="0"/>
              <a:t>ossible Disc/Prem</a:t>
            </a:r>
          </a:p>
          <a:p>
            <a:pPr marL="457189" lvl="1" indent="0">
              <a:buNone/>
            </a:pPr>
            <a:endParaRPr lang="en-US" sz="200" dirty="0"/>
          </a:p>
          <a:p>
            <a:pPr marL="0" indent="0">
              <a:buNone/>
            </a:pPr>
            <a:endParaRPr lang="en-US" sz="200" dirty="0"/>
          </a:p>
          <a:p>
            <a:pPr marL="0" indent="0">
              <a:buNone/>
            </a:pPr>
            <a:r>
              <a:rPr lang="en-US" sz="2000" dirty="0"/>
              <a:t>3) Know your Amortization Table: </a:t>
            </a:r>
          </a:p>
          <a:p>
            <a:pPr lvl="1"/>
            <a:r>
              <a:rPr lang="en-US" sz="2000" dirty="0"/>
              <a:t>Period, Int, </a:t>
            </a:r>
            <a:r>
              <a:rPr lang="en-US" sz="2000" dirty="0" err="1"/>
              <a:t>Pmt</a:t>
            </a:r>
            <a:r>
              <a:rPr lang="en-US" sz="2000" dirty="0"/>
              <a:t>, </a:t>
            </a:r>
            <a:r>
              <a:rPr lang="en-US" sz="2000" dirty="0" err="1"/>
              <a:t>Amtz</a:t>
            </a:r>
            <a:r>
              <a:rPr lang="en-US" sz="2000" dirty="0"/>
              <a:t>, Carry Value</a:t>
            </a:r>
          </a:p>
        </p:txBody>
      </p:sp>
    </p:spTree>
    <p:extLst>
      <p:ext uri="{BB962C8B-B14F-4D97-AF65-F5344CB8AC3E}">
        <p14:creationId xmlns:p14="http://schemas.microsoft.com/office/powerpoint/2010/main" val="408579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9316-8654-40FD-A3D1-F39A6F69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Exam Study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D8E70-948C-410C-A997-F28DF282D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504071"/>
            <a:ext cx="11633200" cy="5274100"/>
          </a:xfrm>
        </p:spPr>
        <p:txBody>
          <a:bodyPr>
            <a:normAutofit/>
          </a:bodyPr>
          <a:lstStyle/>
          <a:p>
            <a:r>
              <a:rPr lang="en-US" dirty="0"/>
              <a:t>Summarize each topic: Simple </a:t>
            </a:r>
            <a:r>
              <a:rPr lang="en-US" b="1" dirty="0"/>
              <a:t>Summary Notes (Use LLM?)</a:t>
            </a:r>
          </a:p>
          <a:p>
            <a:r>
              <a:rPr lang="en-US" dirty="0"/>
              <a:t>Work in-Class Problems using only your summary doc</a:t>
            </a:r>
          </a:p>
          <a:p>
            <a:pPr lvl="1"/>
            <a:r>
              <a:rPr lang="en-US" dirty="0"/>
              <a:t>If you need more info to work a problem, add this to the summary doc</a:t>
            </a:r>
          </a:p>
          <a:p>
            <a:r>
              <a:rPr lang="en-US" dirty="0"/>
              <a:t>Work Practice Exam problems</a:t>
            </a:r>
          </a:p>
          <a:p>
            <a:r>
              <a:rPr lang="en-US" dirty="0"/>
              <a:t>Complete Comprehensive HW problems (HW#11)</a:t>
            </a:r>
          </a:p>
          <a:p>
            <a:pPr lvl="1"/>
            <a:r>
              <a:rPr lang="en-US"/>
              <a:t>Review past HWs </a:t>
            </a:r>
            <a:r>
              <a:rPr lang="en-US" dirty="0"/>
              <a:t>if you want more practice on a topic</a:t>
            </a:r>
          </a:p>
          <a:p>
            <a:endParaRPr lang="en-US" sz="25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27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1A5AB-5C59-EEEA-BCAC-B1B6E34E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2653F-8F6C-CD7D-F1D3-EB29F345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71E90-0714-CBA6-EA7A-87219BE18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12" y="1825627"/>
            <a:ext cx="10772375" cy="4853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10 Minutes to Complete Your FCQ</a:t>
            </a:r>
            <a:endParaRPr lang="en-US" dirty="0"/>
          </a:p>
          <a:p>
            <a:r>
              <a:rPr lang="en-US" dirty="0"/>
              <a:t>Your feedback is incredibly important for improving this class.</a:t>
            </a:r>
          </a:p>
          <a:p>
            <a:r>
              <a:rPr lang="en-US" dirty="0"/>
              <a:t>I carefully read your comments and take your input seriously.</a:t>
            </a:r>
          </a:p>
          <a:p>
            <a:r>
              <a:rPr lang="en-US" dirty="0"/>
              <a:t>Please share what I’m doing well and how this class could be even better.</a:t>
            </a:r>
          </a:p>
          <a:p>
            <a:r>
              <a:rPr lang="en-US" dirty="0"/>
              <a:t>Your responses also inform my department about the course’s effectiveness. (They look at the number rank)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https://colorado.campuslabs.com/eval-home/</a:t>
            </a:r>
            <a:r>
              <a:rPr lang="en-US" dirty="0"/>
              <a:t>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89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Non-Current Liabilities Part 2 </a:t>
            </a:r>
            <a:r>
              <a:rPr lang="en-US" altLang="en-US" sz="3200" b="1" i="1">
                <a:solidFill>
                  <a:prstClr val="white"/>
                </a:solidFill>
                <a:latin typeface="Arial" panose="020B0604020202020204"/>
              </a:rPr>
              <a:t>– In-Class</a:t>
            </a:r>
            <a:endParaRPr kumimoji="0" lang="en-US" alt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486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3582</TotalTime>
  <Words>351</Words>
  <Application>Microsoft Office PowerPoint</Application>
  <PresentationFormat>Widescreen</PresentationFormat>
  <Paragraphs>50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Black</vt:lpstr>
      <vt:lpstr>Wingdings</vt:lpstr>
      <vt:lpstr>Arial</vt:lpstr>
      <vt:lpstr>Times New Roman</vt:lpstr>
      <vt:lpstr>Calibri</vt:lpstr>
      <vt:lpstr>Office Theme</vt:lpstr>
      <vt:lpstr>PowerPoint Presentation</vt:lpstr>
      <vt:lpstr>Bond Issued Between Dates</vt:lpstr>
      <vt:lpstr>Bond Issuance (so far)</vt:lpstr>
      <vt:lpstr>Bond Issuance (now)</vt:lpstr>
      <vt:lpstr>Bond Issuance (now)</vt:lpstr>
      <vt:lpstr>Bond Issuance (now)</vt:lpstr>
      <vt:lpstr>Bond Issuance (now)</vt:lpstr>
      <vt:lpstr>Bond Issuance (now)</vt:lpstr>
      <vt:lpstr>Bond Issuance (now)</vt:lpstr>
      <vt:lpstr>Bond Issuance (now)</vt:lpstr>
      <vt:lpstr>Example</vt:lpstr>
      <vt:lpstr>Example</vt:lpstr>
      <vt:lpstr>Go to handout…</vt:lpstr>
      <vt:lpstr>Retire / Buy Back Bonds</vt:lpstr>
      <vt:lpstr>Example</vt:lpstr>
      <vt:lpstr>Go to handout…</vt:lpstr>
      <vt:lpstr>Financial Instruments</vt:lpstr>
      <vt:lpstr>Final Exam Study Tips</vt:lpstr>
      <vt:lpstr>FCQs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185</cp:revision>
  <cp:lastPrinted>2018-11-29T14:22:57Z</cp:lastPrinted>
  <dcterms:created xsi:type="dcterms:W3CDTF">2016-01-26T18:12:20Z</dcterms:created>
  <dcterms:modified xsi:type="dcterms:W3CDTF">2025-11-19T14:30:02Z</dcterms:modified>
</cp:coreProperties>
</file>