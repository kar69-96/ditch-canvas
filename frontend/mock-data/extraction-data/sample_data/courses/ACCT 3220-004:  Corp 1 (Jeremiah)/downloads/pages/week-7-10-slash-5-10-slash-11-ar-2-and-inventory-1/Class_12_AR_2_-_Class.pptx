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13" r:id="rId2"/>
    <p:sldId id="385" r:id="rId3"/>
    <p:sldId id="369" r:id="rId4"/>
    <p:sldId id="370" r:id="rId5"/>
    <p:sldId id="378" r:id="rId6"/>
    <p:sldId id="387" r:id="rId7"/>
    <p:sldId id="388" r:id="rId8"/>
    <p:sldId id="381" r:id="rId9"/>
    <p:sldId id="305" r:id="rId10"/>
    <p:sldId id="263" r:id="rId11"/>
    <p:sldId id="318" r:id="rId12"/>
    <p:sldId id="319" r:id="rId13"/>
    <p:sldId id="320" r:id="rId14"/>
    <p:sldId id="264" r:id="rId15"/>
    <p:sldId id="322" r:id="rId16"/>
    <p:sldId id="323" r:id="rId17"/>
    <p:sldId id="324" r:id="rId18"/>
    <p:sldId id="389" r:id="rId19"/>
    <p:sldId id="383" r:id="rId20"/>
    <p:sldId id="32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Stephan" initials="AS" lastIdx="1" clrIdx="0">
    <p:extLst>
      <p:ext uri="{19B8F6BF-5375-455C-9EA6-DF929625EA0E}">
        <p15:presenceInfo xmlns:p15="http://schemas.microsoft.com/office/powerpoint/2012/main" userId="Andrew Steph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2BF09-BA7A-4E7F-9A19-35B03FCF3D4A}" v="12" dt="2025-10-06T11:29:45.957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42" autoAdjust="0"/>
    <p:restoredTop sz="86448"/>
  </p:normalViewPr>
  <p:slideViewPr>
    <p:cSldViewPr snapToGrid="0" snapToObjects="1">
      <p:cViewPr varScale="1">
        <p:scale>
          <a:sx n="75" d="100"/>
          <a:sy n="75" d="100"/>
        </p:scale>
        <p:origin x="54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C0478130-2E68-4C54-B028-2FE6B586FE57}"/>
    <pc:docChg chg="undo redo custSel addSld delSld modSld">
      <pc:chgData name="Jeremiah Contreras" userId="7aaf88c5-f86c-46d8-a0d4-f1ec65ded07c" providerId="ADAL" clId="{C0478130-2E68-4C54-B028-2FE6B586FE57}" dt="2023-10-11T16:42:53.653" v="931" actId="20577"/>
      <pc:docMkLst>
        <pc:docMk/>
      </pc:docMkLst>
      <pc:sldChg chg="modSp mod setBg modAnim">
        <pc:chgData name="Jeremiah Contreras" userId="7aaf88c5-f86c-46d8-a0d4-f1ec65ded07c" providerId="ADAL" clId="{C0478130-2E68-4C54-B028-2FE6B586FE57}" dt="2023-10-11T16:42:53.653" v="931" actId="20577"/>
        <pc:sldMkLst>
          <pc:docMk/>
          <pc:sldMk cId="4035356059" sldId="264"/>
        </pc:sldMkLst>
      </pc:sldChg>
      <pc:sldChg chg="modSp add del mod modAnim">
        <pc:chgData name="Jeremiah Contreras" userId="7aaf88c5-f86c-46d8-a0d4-f1ec65ded07c" providerId="ADAL" clId="{C0478130-2E68-4C54-B028-2FE6B586FE57}" dt="2023-10-10T23:15:45.592" v="773" actId="47"/>
        <pc:sldMkLst>
          <pc:docMk/>
          <pc:sldMk cId="148327078" sldId="268"/>
        </pc:sldMkLst>
      </pc:sldChg>
      <pc:sldChg chg="add del">
        <pc:chgData name="Jeremiah Contreras" userId="7aaf88c5-f86c-46d8-a0d4-f1ec65ded07c" providerId="ADAL" clId="{C0478130-2E68-4C54-B028-2FE6B586FE57}" dt="2023-10-10T21:56:54.347" v="257" actId="47"/>
        <pc:sldMkLst>
          <pc:docMk/>
          <pc:sldMk cId="3343174189" sldId="317"/>
        </pc:sldMkLst>
      </pc:sldChg>
      <pc:sldChg chg="modSp mod">
        <pc:chgData name="Jeremiah Contreras" userId="7aaf88c5-f86c-46d8-a0d4-f1ec65ded07c" providerId="ADAL" clId="{C0478130-2E68-4C54-B028-2FE6B586FE57}" dt="2023-10-11T13:35:14.993" v="913" actId="207"/>
        <pc:sldMkLst>
          <pc:docMk/>
          <pc:sldMk cId="2168469090" sldId="319"/>
        </pc:sldMkLst>
      </pc:sldChg>
      <pc:sldChg chg="modSp">
        <pc:chgData name="Jeremiah Contreras" userId="7aaf88c5-f86c-46d8-a0d4-f1ec65ded07c" providerId="ADAL" clId="{C0478130-2E68-4C54-B028-2FE6B586FE57}" dt="2023-10-10T23:03:52.254" v="428" actId="20577"/>
        <pc:sldMkLst>
          <pc:docMk/>
          <pc:sldMk cId="1754518640" sldId="320"/>
        </pc:sldMkLst>
      </pc:sldChg>
      <pc:sldChg chg="modSp mod modAnim">
        <pc:chgData name="Jeremiah Contreras" userId="7aaf88c5-f86c-46d8-a0d4-f1ec65ded07c" providerId="ADAL" clId="{C0478130-2E68-4C54-B028-2FE6B586FE57}" dt="2023-10-11T13:34:55.853" v="911" actId="207"/>
        <pc:sldMkLst>
          <pc:docMk/>
          <pc:sldMk cId="2974719281" sldId="322"/>
        </pc:sldMkLst>
      </pc:sldChg>
      <pc:sldChg chg="modSp mod modAnim">
        <pc:chgData name="Jeremiah Contreras" userId="7aaf88c5-f86c-46d8-a0d4-f1ec65ded07c" providerId="ADAL" clId="{C0478130-2E68-4C54-B028-2FE6B586FE57}" dt="2023-10-11T13:35:05.437" v="912" actId="207"/>
        <pc:sldMkLst>
          <pc:docMk/>
          <pc:sldMk cId="599951594" sldId="324"/>
        </pc:sldMkLst>
      </pc:sldChg>
      <pc:sldChg chg="delSp modSp mod delAnim modAnim">
        <pc:chgData name="Jeremiah Contreras" userId="7aaf88c5-f86c-46d8-a0d4-f1ec65ded07c" providerId="ADAL" clId="{C0478130-2E68-4C54-B028-2FE6B586FE57}" dt="2023-10-10T21:34:50.725" v="31"/>
        <pc:sldMkLst>
          <pc:docMk/>
          <pc:sldMk cId="3935682864" sldId="370"/>
        </pc:sldMkLst>
      </pc:sldChg>
      <pc:sldChg chg="addSp delSp modSp mod delAnim modAnim">
        <pc:chgData name="Jeremiah Contreras" userId="7aaf88c5-f86c-46d8-a0d4-f1ec65ded07c" providerId="ADAL" clId="{C0478130-2E68-4C54-B028-2FE6B586FE57}" dt="2023-10-10T21:51:54.217" v="245"/>
        <pc:sldMkLst>
          <pc:docMk/>
          <pc:sldMk cId="3055838207" sldId="378"/>
        </pc:sldMkLst>
      </pc:sldChg>
      <pc:sldChg chg="del">
        <pc:chgData name="Jeremiah Contreras" userId="7aaf88c5-f86c-46d8-a0d4-f1ec65ded07c" providerId="ADAL" clId="{C0478130-2E68-4C54-B028-2FE6B586FE57}" dt="2023-10-10T21:52:21.706" v="247" actId="47"/>
        <pc:sldMkLst>
          <pc:docMk/>
          <pc:sldMk cId="3737316552" sldId="379"/>
        </pc:sldMkLst>
      </pc:sldChg>
      <pc:sldChg chg="del">
        <pc:chgData name="Jeremiah Contreras" userId="7aaf88c5-f86c-46d8-a0d4-f1ec65ded07c" providerId="ADAL" clId="{C0478130-2E68-4C54-B028-2FE6B586FE57}" dt="2023-10-10T21:52:23.987" v="248" actId="47"/>
        <pc:sldMkLst>
          <pc:docMk/>
          <pc:sldMk cId="1637807379" sldId="380"/>
        </pc:sldMkLst>
      </pc:sldChg>
      <pc:sldChg chg="addSp delSp modSp mod">
        <pc:chgData name="Jeremiah Contreras" userId="7aaf88c5-f86c-46d8-a0d4-f1ec65ded07c" providerId="ADAL" clId="{C0478130-2E68-4C54-B028-2FE6B586FE57}" dt="2023-10-11T15:16:32.115" v="916" actId="478"/>
        <pc:sldMkLst>
          <pc:docMk/>
          <pc:sldMk cId="2694150093" sldId="381"/>
        </pc:sldMkLst>
      </pc:sldChg>
      <pc:sldChg chg="modSp mod">
        <pc:chgData name="Jeremiah Contreras" userId="7aaf88c5-f86c-46d8-a0d4-f1ec65ded07c" providerId="ADAL" clId="{C0478130-2E68-4C54-B028-2FE6B586FE57}" dt="2023-10-10T21:32:49.891" v="20" actId="20577"/>
        <pc:sldMkLst>
          <pc:docMk/>
          <pc:sldMk cId="4070485738" sldId="382"/>
        </pc:sldMkLst>
      </pc:sldChg>
      <pc:sldChg chg="addSp delSp modSp del modAnim">
        <pc:chgData name="Jeremiah Contreras" userId="7aaf88c5-f86c-46d8-a0d4-f1ec65ded07c" providerId="ADAL" clId="{C0478130-2E68-4C54-B028-2FE6B586FE57}" dt="2023-10-10T23:14:07.273" v="770" actId="47"/>
        <pc:sldMkLst>
          <pc:docMk/>
          <pc:sldMk cId="886747896" sldId="384"/>
        </pc:sldMkLst>
      </pc:sldChg>
      <pc:sldChg chg="add del">
        <pc:chgData name="Jeremiah Contreras" userId="7aaf88c5-f86c-46d8-a0d4-f1ec65ded07c" providerId="ADAL" clId="{C0478130-2E68-4C54-B028-2FE6B586FE57}" dt="2023-10-10T21:52:12.725" v="246" actId="47"/>
        <pc:sldMkLst>
          <pc:docMk/>
          <pc:sldMk cId="1364913446" sldId="386"/>
        </pc:sldMkLst>
      </pc:sldChg>
      <pc:sldChg chg="addSp delSp modSp add mod delAnim modAnim">
        <pc:chgData name="Jeremiah Contreras" userId="7aaf88c5-f86c-46d8-a0d4-f1ec65ded07c" providerId="ADAL" clId="{C0478130-2E68-4C54-B028-2FE6B586FE57}" dt="2023-10-11T15:22:21.299" v="919"/>
        <pc:sldMkLst>
          <pc:docMk/>
          <pc:sldMk cId="4092674758" sldId="387"/>
        </pc:sldMkLst>
      </pc:sldChg>
      <pc:sldChg chg="add del">
        <pc:chgData name="Jeremiah Contreras" userId="7aaf88c5-f86c-46d8-a0d4-f1ec65ded07c" providerId="ADAL" clId="{C0478130-2E68-4C54-B028-2FE6B586FE57}" dt="2023-10-10T21:46:12.806" v="164" actId="47"/>
        <pc:sldMkLst>
          <pc:docMk/>
          <pc:sldMk cId="1711254215" sldId="388"/>
        </pc:sldMkLst>
      </pc:sldChg>
      <pc:sldChg chg="delSp modSp add mod delAnim modAnim">
        <pc:chgData name="Jeremiah Contreras" userId="7aaf88c5-f86c-46d8-a0d4-f1ec65ded07c" providerId="ADAL" clId="{C0478130-2E68-4C54-B028-2FE6B586FE57}" dt="2023-10-11T13:32:32.597" v="906"/>
        <pc:sldMkLst>
          <pc:docMk/>
          <pc:sldMk cId="2781873917" sldId="388"/>
        </pc:sldMkLst>
      </pc:sldChg>
    </pc:docChg>
  </pc:docChgLst>
  <pc:docChgLst>
    <pc:chgData name="Jeremiah Contreras" userId="7aaf88c5-f86c-46d8-a0d4-f1ec65ded07c" providerId="ADAL" clId="{47828E62-FC24-428A-ACF6-B28718A93287}"/>
    <pc:docChg chg="modSld">
      <pc:chgData name="Jeremiah Contreras" userId="7aaf88c5-f86c-46d8-a0d4-f1ec65ded07c" providerId="ADAL" clId="{47828E62-FC24-428A-ACF6-B28718A93287}" dt="2025-10-06T11:29:45.957" v="11" actId="313"/>
      <pc:docMkLst>
        <pc:docMk/>
      </pc:docMkLst>
      <pc:sldChg chg="modSp">
        <pc:chgData name="Jeremiah Contreras" userId="7aaf88c5-f86c-46d8-a0d4-f1ec65ded07c" providerId="ADAL" clId="{47828E62-FC24-428A-ACF6-B28718A93287}" dt="2025-10-06T11:28:17.337" v="2" actId="207"/>
        <pc:sldMkLst>
          <pc:docMk/>
          <pc:sldMk cId="4230137081" sldId="323"/>
        </pc:sldMkLst>
        <pc:spChg chg="mod">
          <ac:chgData name="Jeremiah Contreras" userId="7aaf88c5-f86c-46d8-a0d4-f1ec65ded07c" providerId="ADAL" clId="{47828E62-FC24-428A-ACF6-B28718A93287}" dt="2025-10-06T11:28:17.337" v="2" actId="207"/>
          <ac:spMkLst>
            <pc:docMk/>
            <pc:sldMk cId="4230137081" sldId="323"/>
            <ac:spMk id="3" creationId="{6A9773A0-ABFB-4467-917F-D338FBAAB943}"/>
          </ac:spMkLst>
        </pc:spChg>
      </pc:sldChg>
      <pc:sldChg chg="modSp">
        <pc:chgData name="Jeremiah Contreras" userId="7aaf88c5-f86c-46d8-a0d4-f1ec65ded07c" providerId="ADAL" clId="{47828E62-FC24-428A-ACF6-B28718A93287}" dt="2025-10-06T11:29:45.957" v="11" actId="313"/>
        <pc:sldMkLst>
          <pc:docMk/>
          <pc:sldMk cId="599951594" sldId="324"/>
        </pc:sldMkLst>
        <pc:spChg chg="mod">
          <ac:chgData name="Jeremiah Contreras" userId="7aaf88c5-f86c-46d8-a0d4-f1ec65ded07c" providerId="ADAL" clId="{47828E62-FC24-428A-ACF6-B28718A93287}" dt="2025-10-06T11:29:24.434" v="5" actId="20577"/>
          <ac:spMkLst>
            <pc:docMk/>
            <pc:sldMk cId="599951594" sldId="324"/>
            <ac:spMk id="2" creationId="{C9FADFE7-FFF2-7F84-FB0B-87C7B4685484}"/>
          </ac:spMkLst>
        </pc:spChg>
        <pc:spChg chg="mod">
          <ac:chgData name="Jeremiah Contreras" userId="7aaf88c5-f86c-46d8-a0d4-f1ec65ded07c" providerId="ADAL" clId="{47828E62-FC24-428A-ACF6-B28718A93287}" dt="2025-10-06T11:29:45.957" v="11" actId="313"/>
          <ac:spMkLst>
            <pc:docMk/>
            <pc:sldMk cId="599951594" sldId="324"/>
            <ac:spMk id="34819" creationId="{6F91E4C8-4027-48F5-B9F5-31955D3298E4}"/>
          </ac:spMkLst>
        </pc:spChg>
      </pc:sldChg>
    </pc:docChg>
  </pc:docChgLst>
  <pc:docChgLst>
    <pc:chgData name="Jeremiah Contreras" userId="353e0578-c100-4b27-ab8d-040de0f2d32b" providerId="ADAL" clId="{DFD68A5D-BF30-4F0F-8220-5DE500212F28}"/>
    <pc:docChg chg="undo custSel addSld delSld modSld">
      <pc:chgData name="Jeremiah Contreras" userId="353e0578-c100-4b27-ab8d-040de0f2d32b" providerId="ADAL" clId="{DFD68A5D-BF30-4F0F-8220-5DE500212F28}" dt="2024-10-09T15:34:56.646" v="851" actId="1076"/>
      <pc:docMkLst>
        <pc:docMk/>
      </pc:docMkLst>
      <pc:sldChg chg="modSp mod">
        <pc:chgData name="Jeremiah Contreras" userId="353e0578-c100-4b27-ab8d-040de0f2d32b" providerId="ADAL" clId="{DFD68A5D-BF30-4F0F-8220-5DE500212F28}" dt="2024-10-09T15:30:28.102" v="732" actId="27636"/>
        <pc:sldMkLst>
          <pc:docMk/>
          <pc:sldMk cId="1260481322" sldId="263"/>
        </pc:sldMkLst>
      </pc:sldChg>
      <pc:sldChg chg="modSp mod">
        <pc:chgData name="Jeremiah Contreras" userId="353e0578-c100-4b27-ab8d-040de0f2d32b" providerId="ADAL" clId="{DFD68A5D-BF30-4F0F-8220-5DE500212F28}" dt="2024-10-09T15:29:57.398" v="703" actId="20577"/>
        <pc:sldMkLst>
          <pc:docMk/>
          <pc:sldMk cId="548063103" sldId="305"/>
        </pc:sldMkLst>
      </pc:sldChg>
      <pc:sldChg chg="modSp mod">
        <pc:chgData name="Jeremiah Contreras" userId="353e0578-c100-4b27-ab8d-040de0f2d32b" providerId="ADAL" clId="{DFD68A5D-BF30-4F0F-8220-5DE500212F28}" dt="2024-10-09T15:30:14.773" v="726" actId="20577"/>
        <pc:sldMkLst>
          <pc:docMk/>
          <pc:sldMk cId="4089285116" sldId="316"/>
        </pc:sldMkLst>
      </pc:sldChg>
      <pc:sldChg chg="modSp mod">
        <pc:chgData name="Jeremiah Contreras" userId="353e0578-c100-4b27-ab8d-040de0f2d32b" providerId="ADAL" clId="{DFD68A5D-BF30-4F0F-8220-5DE500212F28}" dt="2024-10-09T15:26:08.916" v="636" actId="20577"/>
        <pc:sldMkLst>
          <pc:docMk/>
          <pc:sldMk cId="3935682864" sldId="370"/>
        </pc:sldMkLst>
      </pc:sldChg>
      <pc:sldChg chg="del">
        <pc:chgData name="Jeremiah Contreras" userId="353e0578-c100-4b27-ab8d-040de0f2d32b" providerId="ADAL" clId="{DFD68A5D-BF30-4F0F-8220-5DE500212F28}" dt="2024-10-09T15:26:48.184" v="637" actId="47"/>
        <pc:sldMkLst>
          <pc:docMk/>
          <pc:sldMk cId="2112780963" sldId="373"/>
        </pc:sldMkLst>
      </pc:sldChg>
      <pc:sldChg chg="modSp mod">
        <pc:chgData name="Jeremiah Contreras" userId="353e0578-c100-4b27-ab8d-040de0f2d32b" providerId="ADAL" clId="{DFD68A5D-BF30-4F0F-8220-5DE500212F28}" dt="2024-10-09T15:28:25.134" v="645" actId="208"/>
        <pc:sldMkLst>
          <pc:docMk/>
          <pc:sldMk cId="3055838207" sldId="378"/>
        </pc:sldMkLst>
      </pc:sldChg>
      <pc:sldChg chg="del">
        <pc:chgData name="Jeremiah Contreras" userId="353e0578-c100-4b27-ab8d-040de0f2d32b" providerId="ADAL" clId="{DFD68A5D-BF30-4F0F-8220-5DE500212F28}" dt="2024-10-09T01:24:51.657" v="0" actId="47"/>
        <pc:sldMkLst>
          <pc:docMk/>
          <pc:sldMk cId="4070485738" sldId="382"/>
        </pc:sldMkLst>
      </pc:sldChg>
      <pc:sldChg chg="modSp mod">
        <pc:chgData name="Jeremiah Contreras" userId="353e0578-c100-4b27-ab8d-040de0f2d32b" providerId="ADAL" clId="{DFD68A5D-BF30-4F0F-8220-5DE500212F28}" dt="2024-10-09T15:34:56.646" v="851" actId="1076"/>
        <pc:sldMkLst>
          <pc:docMk/>
          <pc:sldMk cId="1704841565" sldId="385"/>
        </pc:sldMkLst>
      </pc:sldChg>
      <pc:sldChg chg="modSp mod">
        <pc:chgData name="Jeremiah Contreras" userId="353e0578-c100-4b27-ab8d-040de0f2d32b" providerId="ADAL" clId="{DFD68A5D-BF30-4F0F-8220-5DE500212F28}" dt="2024-10-09T15:28:29.321" v="646" actId="208"/>
        <pc:sldMkLst>
          <pc:docMk/>
          <pc:sldMk cId="4092674758" sldId="387"/>
        </pc:sldMkLst>
      </pc:sldChg>
      <pc:sldChg chg="modSp mod">
        <pc:chgData name="Jeremiah Contreras" userId="353e0578-c100-4b27-ab8d-040de0f2d32b" providerId="ADAL" clId="{DFD68A5D-BF30-4F0F-8220-5DE500212F28}" dt="2024-10-09T15:29:22.250" v="671" actId="20577"/>
        <pc:sldMkLst>
          <pc:docMk/>
          <pc:sldMk cId="2781873917" sldId="388"/>
        </pc:sldMkLst>
      </pc:sldChg>
      <pc:sldChg chg="addSp delSp modSp add mod delAnim modAnim">
        <pc:chgData name="Jeremiah Contreras" userId="353e0578-c100-4b27-ab8d-040de0f2d32b" providerId="ADAL" clId="{DFD68A5D-BF30-4F0F-8220-5DE500212F28}" dt="2024-10-09T15:15:07.612" v="536" actId="20577"/>
        <pc:sldMkLst>
          <pc:docMk/>
          <pc:sldMk cId="703629811" sldId="389"/>
        </pc:sldMkLst>
      </pc:sldChg>
    </pc:docChg>
  </pc:docChgLst>
  <pc:docChgLst>
    <pc:chgData name="Jeremiah Contreras" userId="7aaf88c5-f86c-46d8-a0d4-f1ec65ded07c" providerId="ADAL" clId="{61959937-6113-4928-AA8D-E4CBA960D15D}"/>
    <pc:docChg chg="custSel delSld modSld">
      <pc:chgData name="Jeremiah Contreras" userId="7aaf88c5-f86c-46d8-a0d4-f1ec65ded07c" providerId="ADAL" clId="{61959937-6113-4928-AA8D-E4CBA960D15D}" dt="2025-08-19T14:45:22.047" v="107" actId="20577"/>
      <pc:docMkLst>
        <pc:docMk/>
      </pc:docMkLst>
      <pc:sldChg chg="addSp modSp mod modAnim">
        <pc:chgData name="Jeremiah Contreras" userId="7aaf88c5-f86c-46d8-a0d4-f1ec65ded07c" providerId="ADAL" clId="{61959937-6113-4928-AA8D-E4CBA960D15D}" dt="2025-08-19T14:45:22.047" v="107" actId="20577"/>
        <pc:sldMkLst>
          <pc:docMk/>
          <pc:sldMk cId="548063103" sldId="305"/>
        </pc:sldMkLst>
      </pc:sldChg>
      <pc:sldChg chg="modSp mod">
        <pc:chgData name="Jeremiah Contreras" userId="7aaf88c5-f86c-46d8-a0d4-f1ec65ded07c" providerId="ADAL" clId="{61959937-6113-4928-AA8D-E4CBA960D15D}" dt="2025-08-11T13:28:36.222" v="45" actId="6549"/>
        <pc:sldMkLst>
          <pc:docMk/>
          <pc:sldMk cId="4107619483" sldId="313"/>
        </pc:sldMkLst>
      </pc:sldChg>
      <pc:sldChg chg="del">
        <pc:chgData name="Jeremiah Contreras" userId="7aaf88c5-f86c-46d8-a0d4-f1ec65ded07c" providerId="ADAL" clId="{61959937-6113-4928-AA8D-E4CBA960D15D}" dt="2025-08-11T13:25:31.503" v="9" actId="47"/>
        <pc:sldMkLst>
          <pc:docMk/>
          <pc:sldMk cId="4089285116" sldId="316"/>
        </pc:sldMkLst>
      </pc:sldChg>
      <pc:sldChg chg="modSp mod">
        <pc:chgData name="Jeremiah Contreras" userId="7aaf88c5-f86c-46d8-a0d4-f1ec65ded07c" providerId="ADAL" clId="{61959937-6113-4928-AA8D-E4CBA960D15D}" dt="2025-08-11T13:39:06.818" v="71" actId="20577"/>
        <pc:sldMkLst>
          <pc:docMk/>
          <pc:sldMk cId="2538548394" sldId="329"/>
        </pc:sldMkLst>
      </pc:sldChg>
      <pc:sldChg chg="delSp modSp mod">
        <pc:chgData name="Jeremiah Contreras" userId="7aaf88c5-f86c-46d8-a0d4-f1ec65ded07c" providerId="ADAL" clId="{61959937-6113-4928-AA8D-E4CBA960D15D}" dt="2025-08-11T13:24:12.436" v="3" actId="20577"/>
        <pc:sldMkLst>
          <pc:docMk/>
          <pc:sldMk cId="2694150093" sldId="381"/>
        </pc:sldMkLst>
      </pc:sldChg>
      <pc:sldChg chg="modSp mod">
        <pc:chgData name="Jeremiah Contreras" userId="7aaf88c5-f86c-46d8-a0d4-f1ec65ded07c" providerId="ADAL" clId="{61959937-6113-4928-AA8D-E4CBA960D15D}" dt="2025-08-11T13:26:01.307" v="16" actId="20577"/>
        <pc:sldMkLst>
          <pc:docMk/>
          <pc:sldMk cId="62436956" sldId="383"/>
        </pc:sldMkLst>
      </pc:sldChg>
      <pc:sldChg chg="modSp mod">
        <pc:chgData name="Jeremiah Contreras" userId="7aaf88c5-f86c-46d8-a0d4-f1ec65ded07c" providerId="ADAL" clId="{61959937-6113-4928-AA8D-E4CBA960D15D}" dt="2025-08-11T13:38:34.358" v="48" actId="27636"/>
        <pc:sldMkLst>
          <pc:docMk/>
          <pc:sldMk cId="1704841565" sldId="385"/>
        </pc:sldMkLst>
      </pc:sldChg>
    </pc:docChg>
  </pc:docChgLst>
  <pc:docChgLst>
    <pc:chgData name="Jeremiah Contreras" userId="9ea49ee18badb19e" providerId="LiveId" clId="{4048B70B-F668-49B5-A0FD-BDF14D34B535}"/>
    <pc:docChg chg="undo custSel addSld delSld modSld sldOrd">
      <pc:chgData name="Jeremiah Contreras" userId="9ea49ee18badb19e" providerId="LiveId" clId="{4048B70B-F668-49B5-A0FD-BDF14D34B535}" dt="2022-10-05T19:47:29.145" v="834" actId="1076"/>
      <pc:docMkLst>
        <pc:docMk/>
      </pc:docMkLst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154792487" sldId="258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2479958828" sldId="260"/>
        </pc:sldMkLst>
      </pc:sldChg>
      <pc:sldChg chg="del">
        <pc:chgData name="Jeremiah Contreras" userId="9ea49ee18badb19e" providerId="LiveId" clId="{4048B70B-F668-49B5-A0FD-BDF14D34B535}" dt="2022-10-05T01:30:44.410" v="238" actId="47"/>
        <pc:sldMkLst>
          <pc:docMk/>
          <pc:sldMk cId="422879212" sldId="261"/>
        </pc:sldMkLst>
      </pc:sldChg>
      <pc:sldChg chg="del">
        <pc:chgData name="Jeremiah Contreras" userId="9ea49ee18badb19e" providerId="LiveId" clId="{4048B70B-F668-49B5-A0FD-BDF14D34B535}" dt="2022-10-05T01:30:44.410" v="238" actId="47"/>
        <pc:sldMkLst>
          <pc:docMk/>
          <pc:sldMk cId="338480380" sldId="262"/>
        </pc:sldMkLst>
      </pc:sldChg>
      <pc:sldChg chg="addSp delSp modSp mod ord modAnim">
        <pc:chgData name="Jeremiah Contreras" userId="9ea49ee18badb19e" providerId="LiveId" clId="{4048B70B-F668-49B5-A0FD-BDF14D34B535}" dt="2022-10-05T01:37:11.196" v="279"/>
        <pc:sldMkLst>
          <pc:docMk/>
          <pc:sldMk cId="1260481322" sldId="263"/>
        </pc:sldMkLst>
      </pc:sldChg>
      <pc:sldChg chg="del">
        <pc:chgData name="Jeremiah Contreras" userId="9ea49ee18badb19e" providerId="LiveId" clId="{4048B70B-F668-49B5-A0FD-BDF14D34B535}" dt="2022-10-05T01:30:44.410" v="238" actId="47"/>
        <pc:sldMkLst>
          <pc:docMk/>
          <pc:sldMk cId="3297006605" sldId="265"/>
        </pc:sldMkLst>
      </pc:sldChg>
      <pc:sldChg chg="del">
        <pc:chgData name="Jeremiah Contreras" userId="9ea49ee18badb19e" providerId="LiveId" clId="{4048B70B-F668-49B5-A0FD-BDF14D34B535}" dt="2022-10-05T01:30:44.410" v="238" actId="47"/>
        <pc:sldMkLst>
          <pc:docMk/>
          <pc:sldMk cId="1789868227" sldId="266"/>
        </pc:sldMkLst>
      </pc:sldChg>
      <pc:sldChg chg="modSp del modAnim">
        <pc:chgData name="Jeremiah Contreras" userId="9ea49ee18badb19e" providerId="LiveId" clId="{4048B70B-F668-49B5-A0FD-BDF14D34B535}" dt="2022-10-05T01:56:50.336" v="296" actId="47"/>
        <pc:sldMkLst>
          <pc:docMk/>
          <pc:sldMk cId="2492918943" sldId="267"/>
        </pc:sldMkLst>
      </pc:sldChg>
      <pc:sldChg chg="modSp add">
        <pc:chgData name="Jeremiah Contreras" userId="9ea49ee18badb19e" providerId="LiveId" clId="{4048B70B-F668-49B5-A0FD-BDF14D34B535}" dt="2022-10-05T11:57:34.286" v="661" actId="20577"/>
        <pc:sldMkLst>
          <pc:docMk/>
          <pc:sldMk cId="148327078" sldId="268"/>
        </pc:sldMkLst>
      </pc:sldChg>
      <pc:sldChg chg="del">
        <pc:chgData name="Jeremiah Contreras" userId="9ea49ee18badb19e" providerId="LiveId" clId="{4048B70B-F668-49B5-A0FD-BDF14D34B535}" dt="2022-10-05T02:18:19.611" v="320" actId="2696"/>
        <pc:sldMkLst>
          <pc:docMk/>
          <pc:sldMk cId="166487527" sldId="268"/>
        </pc:sldMkLst>
      </pc:sldChg>
      <pc:sldChg chg="del">
        <pc:chgData name="Jeremiah Contreras" userId="9ea49ee18badb19e" providerId="LiveId" clId="{4048B70B-F668-49B5-A0FD-BDF14D34B535}" dt="2022-10-05T02:00:29.019" v="311" actId="47"/>
        <pc:sldMkLst>
          <pc:docMk/>
          <pc:sldMk cId="3618536430" sldId="269"/>
        </pc:sldMkLst>
      </pc:sldChg>
      <pc:sldChg chg="del">
        <pc:chgData name="Jeremiah Contreras" userId="9ea49ee18badb19e" providerId="LiveId" clId="{4048B70B-F668-49B5-A0FD-BDF14D34B535}" dt="2022-10-05T01:55:29.295" v="295" actId="47"/>
        <pc:sldMkLst>
          <pc:docMk/>
          <pc:sldMk cId="3005436658" sldId="270"/>
        </pc:sldMkLst>
      </pc:sldChg>
      <pc:sldChg chg="del">
        <pc:chgData name="Jeremiah Contreras" userId="9ea49ee18badb19e" providerId="LiveId" clId="{4048B70B-F668-49B5-A0FD-BDF14D34B535}" dt="2022-10-05T01:55:29.295" v="295" actId="47"/>
        <pc:sldMkLst>
          <pc:docMk/>
          <pc:sldMk cId="2755817217" sldId="271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2117461467" sldId="282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871637387" sldId="302"/>
        </pc:sldMkLst>
      </pc:sldChg>
      <pc:sldChg chg="del">
        <pc:chgData name="Jeremiah Contreras" userId="9ea49ee18badb19e" providerId="LiveId" clId="{4048B70B-F668-49B5-A0FD-BDF14D34B535}" dt="2022-10-05T01:55:19.248" v="294" actId="47"/>
        <pc:sldMkLst>
          <pc:docMk/>
          <pc:sldMk cId="3849650287" sldId="303"/>
        </pc:sldMkLst>
      </pc:sldChg>
      <pc:sldChg chg="add del ord">
        <pc:chgData name="Jeremiah Contreras" userId="9ea49ee18badb19e" providerId="LiveId" clId="{4048B70B-F668-49B5-A0FD-BDF14D34B535}" dt="2022-10-05T01:44:51.458" v="285"/>
        <pc:sldMkLst>
          <pc:docMk/>
          <pc:sldMk cId="548063103" sldId="305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389996853" sldId="306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3827908343" sldId="307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3722017537" sldId="308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3501091077" sldId="309"/>
        </pc:sldMkLst>
      </pc:sldChg>
      <pc:sldChg chg="del">
        <pc:chgData name="Jeremiah Contreras" userId="9ea49ee18badb19e" providerId="LiveId" clId="{4048B70B-F668-49B5-A0FD-BDF14D34B535}" dt="2022-10-05T01:11:34.139" v="0" actId="47"/>
        <pc:sldMkLst>
          <pc:docMk/>
          <pc:sldMk cId="2740566291" sldId="311"/>
        </pc:sldMkLst>
      </pc:sldChg>
      <pc:sldChg chg="del">
        <pc:chgData name="Jeremiah Contreras" userId="9ea49ee18badb19e" providerId="LiveId" clId="{4048B70B-F668-49B5-A0FD-BDF14D34B535}" dt="2022-10-05T01:55:19.248" v="294" actId="47"/>
        <pc:sldMkLst>
          <pc:docMk/>
          <pc:sldMk cId="74012355" sldId="312"/>
        </pc:sldMkLst>
      </pc:sldChg>
      <pc:sldChg chg="del">
        <pc:chgData name="Jeremiah Contreras" userId="9ea49ee18badb19e" providerId="LiveId" clId="{4048B70B-F668-49B5-A0FD-BDF14D34B535}" dt="2022-10-05T01:34:58.796" v="261" actId="47"/>
        <pc:sldMkLst>
          <pc:docMk/>
          <pc:sldMk cId="3908239784" sldId="315"/>
        </pc:sldMkLst>
      </pc:sldChg>
      <pc:sldChg chg="modSp mod">
        <pc:chgData name="Jeremiah Contreras" userId="9ea49ee18badb19e" providerId="LiveId" clId="{4048B70B-F668-49B5-A0FD-BDF14D34B535}" dt="2022-10-05T01:34:50.079" v="260" actId="20577"/>
        <pc:sldMkLst>
          <pc:docMk/>
          <pc:sldMk cId="3343174189" sldId="317"/>
        </pc:sldMkLst>
      </pc:sldChg>
      <pc:sldChg chg="modSp mod modAnim">
        <pc:chgData name="Jeremiah Contreras" userId="9ea49ee18badb19e" providerId="LiveId" clId="{4048B70B-F668-49B5-A0FD-BDF14D34B535}" dt="2022-10-05T02:20:58.103" v="353" actId="20577"/>
        <pc:sldMkLst>
          <pc:docMk/>
          <pc:sldMk cId="2168469090" sldId="319"/>
        </pc:sldMkLst>
      </pc:sldChg>
      <pc:sldChg chg="addSp delSp modSp mod addAnim delAnim modAnim">
        <pc:chgData name="Jeremiah Contreras" userId="9ea49ee18badb19e" providerId="LiveId" clId="{4048B70B-F668-49B5-A0FD-BDF14D34B535}" dt="2022-10-05T02:36:07.279" v="654" actId="20577"/>
        <pc:sldMkLst>
          <pc:docMk/>
          <pc:sldMk cId="2974719281" sldId="322"/>
        </pc:sldMkLst>
      </pc:sldChg>
      <pc:sldChg chg="modSp">
        <pc:chgData name="Jeremiah Contreras" userId="9ea49ee18badb19e" providerId="LiveId" clId="{4048B70B-F668-49B5-A0FD-BDF14D34B535}" dt="2022-10-05T01:57:15.553" v="309" actId="313"/>
        <pc:sldMkLst>
          <pc:docMk/>
          <pc:sldMk cId="4230137081" sldId="323"/>
        </pc:sldMkLst>
      </pc:sldChg>
      <pc:sldChg chg="addSp modSp mod modAnim">
        <pc:chgData name="Jeremiah Contreras" userId="9ea49ee18badb19e" providerId="LiveId" clId="{4048B70B-F668-49B5-A0FD-BDF14D34B535}" dt="2022-10-05T02:36:03.779" v="652" actId="20577"/>
        <pc:sldMkLst>
          <pc:docMk/>
          <pc:sldMk cId="599951594" sldId="324"/>
        </pc:sldMkLst>
      </pc:sldChg>
      <pc:sldChg chg="del">
        <pc:chgData name="Jeremiah Contreras" userId="9ea49ee18badb19e" providerId="LiveId" clId="{4048B70B-F668-49B5-A0FD-BDF14D34B535}" dt="2022-10-05T01:50:35.645" v="292" actId="47"/>
        <pc:sldMkLst>
          <pc:docMk/>
          <pc:sldMk cId="109877198" sldId="325"/>
        </pc:sldMkLst>
      </pc:sldChg>
      <pc:sldChg chg="del">
        <pc:chgData name="Jeremiah Contreras" userId="9ea49ee18badb19e" providerId="LiveId" clId="{4048B70B-F668-49B5-A0FD-BDF14D34B535}" dt="2022-10-05T01:55:19.248" v="294" actId="47"/>
        <pc:sldMkLst>
          <pc:docMk/>
          <pc:sldMk cId="4006210989" sldId="327"/>
        </pc:sldMkLst>
      </pc:sldChg>
      <pc:sldChg chg="del">
        <pc:chgData name="Jeremiah Contreras" userId="9ea49ee18badb19e" providerId="LiveId" clId="{4048B70B-F668-49B5-A0FD-BDF14D34B535}" dt="2022-10-05T01:55:19.248" v="294" actId="47"/>
        <pc:sldMkLst>
          <pc:docMk/>
          <pc:sldMk cId="518102948" sldId="328"/>
        </pc:sldMkLst>
      </pc:sldChg>
      <pc:sldChg chg="add del">
        <pc:chgData name="Jeremiah Contreras" userId="9ea49ee18badb19e" providerId="LiveId" clId="{4048B70B-F668-49B5-A0FD-BDF14D34B535}" dt="2022-10-05T01:50:40.777" v="293" actId="47"/>
        <pc:sldMkLst>
          <pc:docMk/>
          <pc:sldMk cId="3651462003" sldId="330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601567440" sldId="369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3935682864" sldId="370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2112780963" sldId="373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3055838207" sldId="378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3737316552" sldId="379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1637807379" sldId="380"/>
        </pc:sldMkLst>
      </pc:sldChg>
      <pc:sldChg chg="add">
        <pc:chgData name="Jeremiah Contreras" userId="9ea49ee18badb19e" providerId="LiveId" clId="{4048B70B-F668-49B5-A0FD-BDF14D34B535}" dt="2022-10-05T01:44:15.208" v="280"/>
        <pc:sldMkLst>
          <pc:docMk/>
          <pc:sldMk cId="2694150093" sldId="381"/>
        </pc:sldMkLst>
      </pc:sldChg>
      <pc:sldChg chg="addSp delSp modSp add mod">
        <pc:chgData name="Jeremiah Contreras" userId="9ea49ee18badb19e" providerId="LiveId" clId="{4048B70B-F668-49B5-A0FD-BDF14D34B535}" dt="2022-10-05T19:47:29.145" v="834" actId="1076"/>
        <pc:sldMkLst>
          <pc:docMk/>
          <pc:sldMk cId="4070485738" sldId="382"/>
        </pc:sldMkLst>
      </pc:sldChg>
      <pc:sldChg chg="add">
        <pc:chgData name="Jeremiah Contreras" userId="9ea49ee18badb19e" providerId="LiveId" clId="{4048B70B-F668-49B5-A0FD-BDF14D34B535}" dt="2022-10-05T01:50:33.437" v="291"/>
        <pc:sldMkLst>
          <pc:docMk/>
          <pc:sldMk cId="62436956" sldId="383"/>
        </pc:sldMkLst>
      </pc:sldChg>
      <pc:sldChg chg="addSp delSp modSp add mod modAnim">
        <pc:chgData name="Jeremiah Contreras" userId="9ea49ee18badb19e" providerId="LiveId" clId="{4048B70B-F668-49B5-A0FD-BDF14D34B535}" dt="2022-10-05T02:01:43.617" v="319" actId="14100"/>
        <pc:sldMkLst>
          <pc:docMk/>
          <pc:sldMk cId="886747896" sldId="384"/>
        </pc:sldMkLst>
      </pc:sldChg>
      <pc:sldChg chg="delSp add mod">
        <pc:chgData name="Jeremiah Contreras" userId="9ea49ee18badb19e" providerId="LiveId" clId="{4048B70B-F668-49B5-A0FD-BDF14D34B535}" dt="2022-10-05T15:51:54.708" v="780" actId="478"/>
        <pc:sldMkLst>
          <pc:docMk/>
          <pc:sldMk cId="1704841565" sldId="385"/>
        </pc:sldMkLst>
      </pc:sldChg>
      <pc:sldMasterChg chg="delSldLayout">
        <pc:chgData name="Jeremiah Contreras" userId="9ea49ee18badb19e" providerId="LiveId" clId="{4048B70B-F668-49B5-A0FD-BDF14D34B535}" dt="2022-10-05T02:00:29.019" v="311" actId="47"/>
        <pc:sldMasterMkLst>
          <pc:docMk/>
          <pc:sldMasterMk cId="2055560233" sldId="2147483648"/>
        </pc:sldMasterMkLst>
        <pc:sldLayoutChg chg="del">
          <pc:chgData name="Jeremiah Contreras" userId="9ea49ee18badb19e" providerId="LiveId" clId="{4048B70B-F668-49B5-A0FD-BDF14D34B535}" dt="2022-10-05T02:00:29.019" v="311" actId="47"/>
          <pc:sldLayoutMkLst>
            <pc:docMk/>
            <pc:sldMasterMk cId="2055560233" sldId="2147483648"/>
            <pc:sldLayoutMk cId="2615599267" sldId="214748366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7C0292-1F51-4378-8380-05B0EA8CE2E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1FEFCB-F160-4E74-96C6-F731E37ECFC4}">
      <dgm:prSet phldrT="[Text]"/>
      <dgm:spPr/>
      <dgm:t>
        <a:bodyPr/>
        <a:lstStyle/>
        <a:p>
          <a:r>
            <a:rPr lang="en-US" dirty="0"/>
            <a:t>Transfer of Receivables</a:t>
          </a:r>
        </a:p>
      </dgm:t>
    </dgm:pt>
    <dgm:pt modelId="{10D33621-83C0-4E80-9569-442687223137}" type="parTrans" cxnId="{2C614E03-5420-4B5A-915C-9A484F44A4A9}">
      <dgm:prSet/>
      <dgm:spPr/>
      <dgm:t>
        <a:bodyPr/>
        <a:lstStyle/>
        <a:p>
          <a:endParaRPr lang="en-US"/>
        </a:p>
      </dgm:t>
    </dgm:pt>
    <dgm:pt modelId="{D0CAECB2-BE09-4068-8C18-A33FF73E252A}" type="sibTrans" cxnId="{2C614E03-5420-4B5A-915C-9A484F44A4A9}">
      <dgm:prSet/>
      <dgm:spPr/>
      <dgm:t>
        <a:bodyPr/>
        <a:lstStyle/>
        <a:p>
          <a:endParaRPr lang="en-US"/>
        </a:p>
      </dgm:t>
    </dgm:pt>
    <dgm:pt modelId="{F5805692-2041-41E1-8AB5-511C9D3A5DB5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Video: Secured Borrowing</a:t>
          </a:r>
        </a:p>
      </dgm:t>
    </dgm:pt>
    <dgm:pt modelId="{3771827C-5180-4A1A-92D2-5049C715FD49}" type="parTrans" cxnId="{CC7CB37B-5CEA-4635-AAD2-041A78A63519}">
      <dgm:prSet/>
      <dgm:spPr/>
      <dgm:t>
        <a:bodyPr/>
        <a:lstStyle/>
        <a:p>
          <a:endParaRPr lang="en-US"/>
        </a:p>
      </dgm:t>
    </dgm:pt>
    <dgm:pt modelId="{339CCAEC-2BC3-4B2C-AF80-8C4897BEE874}" type="sibTrans" cxnId="{CC7CB37B-5CEA-4635-AAD2-041A78A63519}">
      <dgm:prSet/>
      <dgm:spPr/>
      <dgm:t>
        <a:bodyPr/>
        <a:lstStyle/>
        <a:p>
          <a:endParaRPr lang="en-US"/>
        </a:p>
      </dgm:t>
    </dgm:pt>
    <dgm:pt modelId="{5F87F8AD-9A0A-4E06-90FF-15A0399475DC}">
      <dgm:prSet phldrT="[Text]"/>
      <dgm:spPr/>
      <dgm:t>
        <a:bodyPr/>
        <a:lstStyle/>
        <a:p>
          <a:r>
            <a:rPr lang="en-US" dirty="0"/>
            <a:t>Sell/Factor</a:t>
          </a:r>
        </a:p>
      </dgm:t>
    </dgm:pt>
    <dgm:pt modelId="{1DE41224-D5DE-4888-8282-7065A9F8B3D6}" type="parTrans" cxnId="{F2F5965A-B758-45ED-B6BC-1B46D359489E}">
      <dgm:prSet/>
      <dgm:spPr/>
      <dgm:t>
        <a:bodyPr/>
        <a:lstStyle/>
        <a:p>
          <a:endParaRPr lang="en-US"/>
        </a:p>
      </dgm:t>
    </dgm:pt>
    <dgm:pt modelId="{765DCD5F-F70A-46D9-B153-35D2E1EC6A02}" type="sibTrans" cxnId="{F2F5965A-B758-45ED-B6BC-1B46D359489E}">
      <dgm:prSet/>
      <dgm:spPr/>
      <dgm:t>
        <a:bodyPr/>
        <a:lstStyle/>
        <a:p>
          <a:endParaRPr lang="en-US"/>
        </a:p>
      </dgm:t>
    </dgm:pt>
    <dgm:pt modelId="{52377535-CB34-4DD7-9703-EDE2B2F2222A}">
      <dgm:prSet/>
      <dgm:spPr/>
      <dgm:t>
        <a:bodyPr/>
        <a:lstStyle/>
        <a:p>
          <a:r>
            <a:rPr lang="en-US" dirty="0"/>
            <a:t>Securitize Receivables</a:t>
          </a:r>
        </a:p>
      </dgm:t>
    </dgm:pt>
    <dgm:pt modelId="{151432FA-00F7-4B10-953B-6169D774FABC}" type="parTrans" cxnId="{9D9655CE-5318-436A-87D4-3450C18CA9BC}">
      <dgm:prSet/>
      <dgm:spPr/>
      <dgm:t>
        <a:bodyPr/>
        <a:lstStyle/>
        <a:p>
          <a:endParaRPr lang="en-US"/>
        </a:p>
      </dgm:t>
    </dgm:pt>
    <dgm:pt modelId="{EB82EDEF-83CE-42E7-A2B8-E885F6EFA3E1}" type="sibTrans" cxnId="{9D9655CE-5318-436A-87D4-3450C18CA9BC}">
      <dgm:prSet/>
      <dgm:spPr/>
      <dgm:t>
        <a:bodyPr/>
        <a:lstStyle/>
        <a:p>
          <a:endParaRPr lang="en-US"/>
        </a:p>
      </dgm:t>
    </dgm:pt>
    <dgm:pt modelId="{8C1EDA2B-BEA2-467A-A1E4-5A72020A6D8F}" type="pres">
      <dgm:prSet presAssocID="{8B7C0292-1F51-4378-8380-05B0EA8CE2E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A366C30-1CD8-49D7-A3BA-804BDAC72591}" type="pres">
      <dgm:prSet presAssocID="{C41FEFCB-F160-4E74-96C6-F731E37ECFC4}" presName="hierRoot1" presStyleCnt="0">
        <dgm:presLayoutVars>
          <dgm:hierBranch val="init"/>
        </dgm:presLayoutVars>
      </dgm:prSet>
      <dgm:spPr/>
    </dgm:pt>
    <dgm:pt modelId="{A55CC1E5-511C-4D82-92DF-FF938A8F94A9}" type="pres">
      <dgm:prSet presAssocID="{C41FEFCB-F160-4E74-96C6-F731E37ECFC4}" presName="rootComposite1" presStyleCnt="0"/>
      <dgm:spPr/>
    </dgm:pt>
    <dgm:pt modelId="{85CBDF16-36A4-4096-BE27-5D39A967E8C2}" type="pres">
      <dgm:prSet presAssocID="{C41FEFCB-F160-4E74-96C6-F731E37ECFC4}" presName="rootText1" presStyleLbl="node0" presStyleIdx="0" presStyleCnt="1" custScaleX="144832">
        <dgm:presLayoutVars>
          <dgm:chPref val="3"/>
        </dgm:presLayoutVars>
      </dgm:prSet>
      <dgm:spPr/>
    </dgm:pt>
    <dgm:pt modelId="{FB615334-18B3-463D-97B4-3DBDFD2D99E0}" type="pres">
      <dgm:prSet presAssocID="{C41FEFCB-F160-4E74-96C6-F731E37ECFC4}" presName="rootConnector1" presStyleLbl="node1" presStyleIdx="0" presStyleCnt="0"/>
      <dgm:spPr/>
    </dgm:pt>
    <dgm:pt modelId="{EB5D9A3B-7A7B-496C-A38A-87F0B27C9BAB}" type="pres">
      <dgm:prSet presAssocID="{C41FEFCB-F160-4E74-96C6-F731E37ECFC4}" presName="hierChild2" presStyleCnt="0"/>
      <dgm:spPr/>
    </dgm:pt>
    <dgm:pt modelId="{1CD9E785-FE97-4378-BD4E-6A2BFDF33A1E}" type="pres">
      <dgm:prSet presAssocID="{3771827C-5180-4A1A-92D2-5049C715FD49}" presName="Name37" presStyleLbl="parChTrans1D2" presStyleIdx="0" presStyleCnt="3"/>
      <dgm:spPr/>
    </dgm:pt>
    <dgm:pt modelId="{1CF7620D-16F9-4C60-A627-D1E3C19D613D}" type="pres">
      <dgm:prSet presAssocID="{F5805692-2041-41E1-8AB5-511C9D3A5DB5}" presName="hierRoot2" presStyleCnt="0">
        <dgm:presLayoutVars>
          <dgm:hierBranch val="init"/>
        </dgm:presLayoutVars>
      </dgm:prSet>
      <dgm:spPr/>
    </dgm:pt>
    <dgm:pt modelId="{B246FF62-0C9D-4CA5-90A0-7CC7FFEBED65}" type="pres">
      <dgm:prSet presAssocID="{F5805692-2041-41E1-8AB5-511C9D3A5DB5}" presName="rootComposite" presStyleCnt="0"/>
      <dgm:spPr/>
    </dgm:pt>
    <dgm:pt modelId="{9930C9E6-36C9-4133-9220-9729937618AB}" type="pres">
      <dgm:prSet presAssocID="{F5805692-2041-41E1-8AB5-511C9D3A5DB5}" presName="rootText" presStyleLbl="node2" presStyleIdx="0" presStyleCnt="3">
        <dgm:presLayoutVars>
          <dgm:chPref val="3"/>
        </dgm:presLayoutVars>
      </dgm:prSet>
      <dgm:spPr/>
    </dgm:pt>
    <dgm:pt modelId="{73AE254A-F006-4DA0-9E5F-EACFC8EADA1F}" type="pres">
      <dgm:prSet presAssocID="{F5805692-2041-41E1-8AB5-511C9D3A5DB5}" presName="rootConnector" presStyleLbl="node2" presStyleIdx="0" presStyleCnt="3"/>
      <dgm:spPr/>
    </dgm:pt>
    <dgm:pt modelId="{DFD465EC-1E5A-4704-891A-E8400FF36DC4}" type="pres">
      <dgm:prSet presAssocID="{F5805692-2041-41E1-8AB5-511C9D3A5DB5}" presName="hierChild4" presStyleCnt="0"/>
      <dgm:spPr/>
    </dgm:pt>
    <dgm:pt modelId="{B1AB828F-010A-4635-88E8-9C4AC4F04A33}" type="pres">
      <dgm:prSet presAssocID="{F5805692-2041-41E1-8AB5-511C9D3A5DB5}" presName="hierChild5" presStyleCnt="0"/>
      <dgm:spPr/>
    </dgm:pt>
    <dgm:pt modelId="{0DD66D15-BBA1-4BB2-9CA4-3E8ECAE6DE13}" type="pres">
      <dgm:prSet presAssocID="{1DE41224-D5DE-4888-8282-7065A9F8B3D6}" presName="Name37" presStyleLbl="parChTrans1D2" presStyleIdx="1" presStyleCnt="3"/>
      <dgm:spPr/>
    </dgm:pt>
    <dgm:pt modelId="{A1C04401-7687-43F6-BE66-9F0C53DA223F}" type="pres">
      <dgm:prSet presAssocID="{5F87F8AD-9A0A-4E06-90FF-15A0399475DC}" presName="hierRoot2" presStyleCnt="0">
        <dgm:presLayoutVars>
          <dgm:hierBranch val="init"/>
        </dgm:presLayoutVars>
      </dgm:prSet>
      <dgm:spPr/>
    </dgm:pt>
    <dgm:pt modelId="{57D9FD0A-50FC-4F52-9A90-E9B7E1436A7A}" type="pres">
      <dgm:prSet presAssocID="{5F87F8AD-9A0A-4E06-90FF-15A0399475DC}" presName="rootComposite" presStyleCnt="0"/>
      <dgm:spPr/>
    </dgm:pt>
    <dgm:pt modelId="{3376FE84-C8B8-4F16-823C-4BCC12F93234}" type="pres">
      <dgm:prSet presAssocID="{5F87F8AD-9A0A-4E06-90FF-15A0399475DC}" presName="rootText" presStyleLbl="node2" presStyleIdx="1" presStyleCnt="3">
        <dgm:presLayoutVars>
          <dgm:chPref val="3"/>
        </dgm:presLayoutVars>
      </dgm:prSet>
      <dgm:spPr/>
    </dgm:pt>
    <dgm:pt modelId="{F2DA9C49-F41D-4E92-B5D2-340ECD83D054}" type="pres">
      <dgm:prSet presAssocID="{5F87F8AD-9A0A-4E06-90FF-15A0399475DC}" presName="rootConnector" presStyleLbl="node2" presStyleIdx="1" presStyleCnt="3"/>
      <dgm:spPr/>
    </dgm:pt>
    <dgm:pt modelId="{4C7DC9AF-CB86-435E-8B64-FE8AC7EEA079}" type="pres">
      <dgm:prSet presAssocID="{5F87F8AD-9A0A-4E06-90FF-15A0399475DC}" presName="hierChild4" presStyleCnt="0"/>
      <dgm:spPr/>
    </dgm:pt>
    <dgm:pt modelId="{5F444E41-44C1-42B9-B3A9-1B87A786ED28}" type="pres">
      <dgm:prSet presAssocID="{5F87F8AD-9A0A-4E06-90FF-15A0399475DC}" presName="hierChild5" presStyleCnt="0"/>
      <dgm:spPr/>
    </dgm:pt>
    <dgm:pt modelId="{48DA7B5E-512D-4B2B-9A95-C9CF067A55BD}" type="pres">
      <dgm:prSet presAssocID="{151432FA-00F7-4B10-953B-6169D774FABC}" presName="Name37" presStyleLbl="parChTrans1D2" presStyleIdx="2" presStyleCnt="3"/>
      <dgm:spPr/>
    </dgm:pt>
    <dgm:pt modelId="{667868BE-1BC7-4375-9ADA-DDAD55A8C16C}" type="pres">
      <dgm:prSet presAssocID="{52377535-CB34-4DD7-9703-EDE2B2F2222A}" presName="hierRoot2" presStyleCnt="0">
        <dgm:presLayoutVars>
          <dgm:hierBranch val="init"/>
        </dgm:presLayoutVars>
      </dgm:prSet>
      <dgm:spPr/>
    </dgm:pt>
    <dgm:pt modelId="{923CD634-3968-4B8B-A6A4-52A0332C97D8}" type="pres">
      <dgm:prSet presAssocID="{52377535-CB34-4DD7-9703-EDE2B2F2222A}" presName="rootComposite" presStyleCnt="0"/>
      <dgm:spPr/>
    </dgm:pt>
    <dgm:pt modelId="{579D908B-2B84-4613-8FBF-6769743A4A87}" type="pres">
      <dgm:prSet presAssocID="{52377535-CB34-4DD7-9703-EDE2B2F2222A}" presName="rootText" presStyleLbl="node2" presStyleIdx="2" presStyleCnt="3">
        <dgm:presLayoutVars>
          <dgm:chPref val="3"/>
        </dgm:presLayoutVars>
      </dgm:prSet>
      <dgm:spPr/>
    </dgm:pt>
    <dgm:pt modelId="{90659B69-BD9C-4A20-84D0-5AC0823BC530}" type="pres">
      <dgm:prSet presAssocID="{52377535-CB34-4DD7-9703-EDE2B2F2222A}" presName="rootConnector" presStyleLbl="node2" presStyleIdx="2" presStyleCnt="3"/>
      <dgm:spPr/>
    </dgm:pt>
    <dgm:pt modelId="{68F1800E-AF9D-4DF7-B927-0C4E318E1ED0}" type="pres">
      <dgm:prSet presAssocID="{52377535-CB34-4DD7-9703-EDE2B2F2222A}" presName="hierChild4" presStyleCnt="0"/>
      <dgm:spPr/>
    </dgm:pt>
    <dgm:pt modelId="{74FAA29B-F3E1-4A5B-8EAD-9D66EFEDDA11}" type="pres">
      <dgm:prSet presAssocID="{52377535-CB34-4DD7-9703-EDE2B2F2222A}" presName="hierChild5" presStyleCnt="0"/>
      <dgm:spPr/>
    </dgm:pt>
    <dgm:pt modelId="{57929786-43FA-43B3-9528-9531F3BDBBCF}" type="pres">
      <dgm:prSet presAssocID="{C41FEFCB-F160-4E74-96C6-F731E37ECFC4}" presName="hierChild3" presStyleCnt="0"/>
      <dgm:spPr/>
    </dgm:pt>
  </dgm:ptLst>
  <dgm:cxnLst>
    <dgm:cxn modelId="{2C614E03-5420-4B5A-915C-9A484F44A4A9}" srcId="{8B7C0292-1F51-4378-8380-05B0EA8CE2E1}" destId="{C41FEFCB-F160-4E74-96C6-F731E37ECFC4}" srcOrd="0" destOrd="0" parTransId="{10D33621-83C0-4E80-9569-442687223137}" sibTransId="{D0CAECB2-BE09-4068-8C18-A33FF73E252A}"/>
    <dgm:cxn modelId="{C7215320-7039-455D-82FC-974B426034DB}" type="presOf" srcId="{8B7C0292-1F51-4378-8380-05B0EA8CE2E1}" destId="{8C1EDA2B-BEA2-467A-A1E4-5A72020A6D8F}" srcOrd="0" destOrd="0" presId="urn:microsoft.com/office/officeart/2005/8/layout/orgChart1"/>
    <dgm:cxn modelId="{CBA94527-6FF1-4C93-B334-DFA44571667F}" type="presOf" srcId="{F5805692-2041-41E1-8AB5-511C9D3A5DB5}" destId="{9930C9E6-36C9-4133-9220-9729937618AB}" srcOrd="0" destOrd="0" presId="urn:microsoft.com/office/officeart/2005/8/layout/orgChart1"/>
    <dgm:cxn modelId="{A7F6645F-161B-4125-9442-0CFA17BF0B0A}" type="presOf" srcId="{C41FEFCB-F160-4E74-96C6-F731E37ECFC4}" destId="{85CBDF16-36A4-4096-BE27-5D39A967E8C2}" srcOrd="0" destOrd="0" presId="urn:microsoft.com/office/officeart/2005/8/layout/orgChart1"/>
    <dgm:cxn modelId="{5DA30464-EB0D-4AAE-A3A0-0D957218EC71}" type="presOf" srcId="{52377535-CB34-4DD7-9703-EDE2B2F2222A}" destId="{90659B69-BD9C-4A20-84D0-5AC0823BC530}" srcOrd="1" destOrd="0" presId="urn:microsoft.com/office/officeart/2005/8/layout/orgChart1"/>
    <dgm:cxn modelId="{B3C24553-B5B1-4AF9-9F8E-248A432433B1}" type="presOf" srcId="{1DE41224-D5DE-4888-8282-7065A9F8B3D6}" destId="{0DD66D15-BBA1-4BB2-9CA4-3E8ECAE6DE13}" srcOrd="0" destOrd="0" presId="urn:microsoft.com/office/officeart/2005/8/layout/orgChart1"/>
    <dgm:cxn modelId="{21529157-8CD7-4FF4-A788-50BE0795CEE9}" type="presOf" srcId="{151432FA-00F7-4B10-953B-6169D774FABC}" destId="{48DA7B5E-512D-4B2B-9A95-C9CF067A55BD}" srcOrd="0" destOrd="0" presId="urn:microsoft.com/office/officeart/2005/8/layout/orgChart1"/>
    <dgm:cxn modelId="{F2F5965A-B758-45ED-B6BC-1B46D359489E}" srcId="{C41FEFCB-F160-4E74-96C6-F731E37ECFC4}" destId="{5F87F8AD-9A0A-4E06-90FF-15A0399475DC}" srcOrd="1" destOrd="0" parTransId="{1DE41224-D5DE-4888-8282-7065A9F8B3D6}" sibTransId="{765DCD5F-F70A-46D9-B153-35D2E1EC6A02}"/>
    <dgm:cxn modelId="{CC7CB37B-5CEA-4635-AAD2-041A78A63519}" srcId="{C41FEFCB-F160-4E74-96C6-F731E37ECFC4}" destId="{F5805692-2041-41E1-8AB5-511C9D3A5DB5}" srcOrd="0" destOrd="0" parTransId="{3771827C-5180-4A1A-92D2-5049C715FD49}" sibTransId="{339CCAEC-2BC3-4B2C-AF80-8C4897BEE874}"/>
    <dgm:cxn modelId="{33096D94-9180-4E9F-96A1-3C5EFC9DC9E3}" type="presOf" srcId="{52377535-CB34-4DD7-9703-EDE2B2F2222A}" destId="{579D908B-2B84-4613-8FBF-6769743A4A87}" srcOrd="0" destOrd="0" presId="urn:microsoft.com/office/officeart/2005/8/layout/orgChart1"/>
    <dgm:cxn modelId="{F15219AA-5B9F-43CC-BDDD-C2F92A940F0E}" type="presOf" srcId="{5F87F8AD-9A0A-4E06-90FF-15A0399475DC}" destId="{3376FE84-C8B8-4F16-823C-4BCC12F93234}" srcOrd="0" destOrd="0" presId="urn:microsoft.com/office/officeart/2005/8/layout/orgChart1"/>
    <dgm:cxn modelId="{9D9655CE-5318-436A-87D4-3450C18CA9BC}" srcId="{C41FEFCB-F160-4E74-96C6-F731E37ECFC4}" destId="{52377535-CB34-4DD7-9703-EDE2B2F2222A}" srcOrd="2" destOrd="0" parTransId="{151432FA-00F7-4B10-953B-6169D774FABC}" sibTransId="{EB82EDEF-83CE-42E7-A2B8-E885F6EFA3E1}"/>
    <dgm:cxn modelId="{F7DABFE4-FAA0-4D3D-8BE0-43982F458798}" type="presOf" srcId="{3771827C-5180-4A1A-92D2-5049C715FD49}" destId="{1CD9E785-FE97-4378-BD4E-6A2BFDF33A1E}" srcOrd="0" destOrd="0" presId="urn:microsoft.com/office/officeart/2005/8/layout/orgChart1"/>
    <dgm:cxn modelId="{26F317F4-B3D5-4263-AD5C-50FA36195B3C}" type="presOf" srcId="{5F87F8AD-9A0A-4E06-90FF-15A0399475DC}" destId="{F2DA9C49-F41D-4E92-B5D2-340ECD83D054}" srcOrd="1" destOrd="0" presId="urn:microsoft.com/office/officeart/2005/8/layout/orgChart1"/>
    <dgm:cxn modelId="{2C6E58F6-98D5-4625-BCDE-6288FCBC9342}" type="presOf" srcId="{F5805692-2041-41E1-8AB5-511C9D3A5DB5}" destId="{73AE254A-F006-4DA0-9E5F-EACFC8EADA1F}" srcOrd="1" destOrd="0" presId="urn:microsoft.com/office/officeart/2005/8/layout/orgChart1"/>
    <dgm:cxn modelId="{CB4BA2FA-93FA-49AA-BE58-A32EE3596E3C}" type="presOf" srcId="{C41FEFCB-F160-4E74-96C6-F731E37ECFC4}" destId="{FB615334-18B3-463D-97B4-3DBDFD2D99E0}" srcOrd="1" destOrd="0" presId="urn:microsoft.com/office/officeart/2005/8/layout/orgChart1"/>
    <dgm:cxn modelId="{40CE6150-26A4-4438-985B-DB71B35AE9BB}" type="presParOf" srcId="{8C1EDA2B-BEA2-467A-A1E4-5A72020A6D8F}" destId="{2A366C30-1CD8-49D7-A3BA-804BDAC72591}" srcOrd="0" destOrd="0" presId="urn:microsoft.com/office/officeart/2005/8/layout/orgChart1"/>
    <dgm:cxn modelId="{7B2DA900-8BE9-420F-8ABF-69F2E2ABB52C}" type="presParOf" srcId="{2A366C30-1CD8-49D7-A3BA-804BDAC72591}" destId="{A55CC1E5-511C-4D82-92DF-FF938A8F94A9}" srcOrd="0" destOrd="0" presId="urn:microsoft.com/office/officeart/2005/8/layout/orgChart1"/>
    <dgm:cxn modelId="{77C8EBED-2155-4196-A8A8-E9A294B47AFA}" type="presParOf" srcId="{A55CC1E5-511C-4D82-92DF-FF938A8F94A9}" destId="{85CBDF16-36A4-4096-BE27-5D39A967E8C2}" srcOrd="0" destOrd="0" presId="urn:microsoft.com/office/officeart/2005/8/layout/orgChart1"/>
    <dgm:cxn modelId="{C07B27AC-A0CC-4D06-8739-27B28130C274}" type="presParOf" srcId="{A55CC1E5-511C-4D82-92DF-FF938A8F94A9}" destId="{FB615334-18B3-463D-97B4-3DBDFD2D99E0}" srcOrd="1" destOrd="0" presId="urn:microsoft.com/office/officeart/2005/8/layout/orgChart1"/>
    <dgm:cxn modelId="{E8AA0175-7750-40E5-BFC1-14DCF961D3CA}" type="presParOf" srcId="{2A366C30-1CD8-49D7-A3BA-804BDAC72591}" destId="{EB5D9A3B-7A7B-496C-A38A-87F0B27C9BAB}" srcOrd="1" destOrd="0" presId="urn:microsoft.com/office/officeart/2005/8/layout/orgChart1"/>
    <dgm:cxn modelId="{57B44768-D087-416A-A846-916A86979B7E}" type="presParOf" srcId="{EB5D9A3B-7A7B-496C-A38A-87F0B27C9BAB}" destId="{1CD9E785-FE97-4378-BD4E-6A2BFDF33A1E}" srcOrd="0" destOrd="0" presId="urn:microsoft.com/office/officeart/2005/8/layout/orgChart1"/>
    <dgm:cxn modelId="{4AABA87E-6C32-4665-A674-86FD20C1C09D}" type="presParOf" srcId="{EB5D9A3B-7A7B-496C-A38A-87F0B27C9BAB}" destId="{1CF7620D-16F9-4C60-A627-D1E3C19D613D}" srcOrd="1" destOrd="0" presId="urn:microsoft.com/office/officeart/2005/8/layout/orgChart1"/>
    <dgm:cxn modelId="{25021A67-AD51-476F-BF62-F2C83C755894}" type="presParOf" srcId="{1CF7620D-16F9-4C60-A627-D1E3C19D613D}" destId="{B246FF62-0C9D-4CA5-90A0-7CC7FFEBED65}" srcOrd="0" destOrd="0" presId="urn:microsoft.com/office/officeart/2005/8/layout/orgChart1"/>
    <dgm:cxn modelId="{309BE909-9D5C-401B-86FE-079C7A5AE2DC}" type="presParOf" srcId="{B246FF62-0C9D-4CA5-90A0-7CC7FFEBED65}" destId="{9930C9E6-36C9-4133-9220-9729937618AB}" srcOrd="0" destOrd="0" presId="urn:microsoft.com/office/officeart/2005/8/layout/orgChart1"/>
    <dgm:cxn modelId="{9FF10313-BD2C-4B26-A82D-0CA2191A7AA2}" type="presParOf" srcId="{B246FF62-0C9D-4CA5-90A0-7CC7FFEBED65}" destId="{73AE254A-F006-4DA0-9E5F-EACFC8EADA1F}" srcOrd="1" destOrd="0" presId="urn:microsoft.com/office/officeart/2005/8/layout/orgChart1"/>
    <dgm:cxn modelId="{F4B767E1-8C0F-4C00-8D9D-E639638B5D48}" type="presParOf" srcId="{1CF7620D-16F9-4C60-A627-D1E3C19D613D}" destId="{DFD465EC-1E5A-4704-891A-E8400FF36DC4}" srcOrd="1" destOrd="0" presId="urn:microsoft.com/office/officeart/2005/8/layout/orgChart1"/>
    <dgm:cxn modelId="{9EEEDA1F-BCDB-4112-8705-FA66A3C451F5}" type="presParOf" srcId="{1CF7620D-16F9-4C60-A627-D1E3C19D613D}" destId="{B1AB828F-010A-4635-88E8-9C4AC4F04A33}" srcOrd="2" destOrd="0" presId="urn:microsoft.com/office/officeart/2005/8/layout/orgChart1"/>
    <dgm:cxn modelId="{6EA38BDD-2CF7-41AB-AFAC-387C2F521C28}" type="presParOf" srcId="{EB5D9A3B-7A7B-496C-A38A-87F0B27C9BAB}" destId="{0DD66D15-BBA1-4BB2-9CA4-3E8ECAE6DE13}" srcOrd="2" destOrd="0" presId="urn:microsoft.com/office/officeart/2005/8/layout/orgChart1"/>
    <dgm:cxn modelId="{8CC08B51-FB15-4495-81B9-819E7F563955}" type="presParOf" srcId="{EB5D9A3B-7A7B-496C-A38A-87F0B27C9BAB}" destId="{A1C04401-7687-43F6-BE66-9F0C53DA223F}" srcOrd="3" destOrd="0" presId="urn:microsoft.com/office/officeart/2005/8/layout/orgChart1"/>
    <dgm:cxn modelId="{E652140F-ED54-48C8-B3C1-9EA03B5D52FC}" type="presParOf" srcId="{A1C04401-7687-43F6-BE66-9F0C53DA223F}" destId="{57D9FD0A-50FC-4F52-9A90-E9B7E1436A7A}" srcOrd="0" destOrd="0" presId="urn:microsoft.com/office/officeart/2005/8/layout/orgChart1"/>
    <dgm:cxn modelId="{24B0DC55-0089-4EAF-BA04-975139A796FA}" type="presParOf" srcId="{57D9FD0A-50FC-4F52-9A90-E9B7E1436A7A}" destId="{3376FE84-C8B8-4F16-823C-4BCC12F93234}" srcOrd="0" destOrd="0" presId="urn:microsoft.com/office/officeart/2005/8/layout/orgChart1"/>
    <dgm:cxn modelId="{D882D20C-F905-4325-8919-0D65ED0EDC86}" type="presParOf" srcId="{57D9FD0A-50FC-4F52-9A90-E9B7E1436A7A}" destId="{F2DA9C49-F41D-4E92-B5D2-340ECD83D054}" srcOrd="1" destOrd="0" presId="urn:microsoft.com/office/officeart/2005/8/layout/orgChart1"/>
    <dgm:cxn modelId="{54F32917-E4B1-4694-BC63-EB66FF173612}" type="presParOf" srcId="{A1C04401-7687-43F6-BE66-9F0C53DA223F}" destId="{4C7DC9AF-CB86-435E-8B64-FE8AC7EEA079}" srcOrd="1" destOrd="0" presId="urn:microsoft.com/office/officeart/2005/8/layout/orgChart1"/>
    <dgm:cxn modelId="{734299EB-D04C-4D9B-A6DF-12C117CB6D90}" type="presParOf" srcId="{A1C04401-7687-43F6-BE66-9F0C53DA223F}" destId="{5F444E41-44C1-42B9-B3A9-1B87A786ED28}" srcOrd="2" destOrd="0" presId="urn:microsoft.com/office/officeart/2005/8/layout/orgChart1"/>
    <dgm:cxn modelId="{3E4F6EB4-A40E-4F03-8E4E-36C91A2357F4}" type="presParOf" srcId="{EB5D9A3B-7A7B-496C-A38A-87F0B27C9BAB}" destId="{48DA7B5E-512D-4B2B-9A95-C9CF067A55BD}" srcOrd="4" destOrd="0" presId="urn:microsoft.com/office/officeart/2005/8/layout/orgChart1"/>
    <dgm:cxn modelId="{8609BAF4-6B4B-4A73-94B9-25F892B6E55A}" type="presParOf" srcId="{EB5D9A3B-7A7B-496C-A38A-87F0B27C9BAB}" destId="{667868BE-1BC7-4375-9ADA-DDAD55A8C16C}" srcOrd="5" destOrd="0" presId="urn:microsoft.com/office/officeart/2005/8/layout/orgChart1"/>
    <dgm:cxn modelId="{E03B1D7E-1FCB-4177-B232-56582069E36B}" type="presParOf" srcId="{667868BE-1BC7-4375-9ADA-DDAD55A8C16C}" destId="{923CD634-3968-4B8B-A6A4-52A0332C97D8}" srcOrd="0" destOrd="0" presId="urn:microsoft.com/office/officeart/2005/8/layout/orgChart1"/>
    <dgm:cxn modelId="{90DE0BE6-3032-4F04-A211-2344AAA4B153}" type="presParOf" srcId="{923CD634-3968-4B8B-A6A4-52A0332C97D8}" destId="{579D908B-2B84-4613-8FBF-6769743A4A87}" srcOrd="0" destOrd="0" presId="urn:microsoft.com/office/officeart/2005/8/layout/orgChart1"/>
    <dgm:cxn modelId="{A6703888-89C9-4359-BEF7-36DC0EC6DF39}" type="presParOf" srcId="{923CD634-3968-4B8B-A6A4-52A0332C97D8}" destId="{90659B69-BD9C-4A20-84D0-5AC0823BC530}" srcOrd="1" destOrd="0" presId="urn:microsoft.com/office/officeart/2005/8/layout/orgChart1"/>
    <dgm:cxn modelId="{5948F673-206B-4E2C-B028-B63AF91D8619}" type="presParOf" srcId="{667868BE-1BC7-4375-9ADA-DDAD55A8C16C}" destId="{68F1800E-AF9D-4DF7-B927-0C4E318E1ED0}" srcOrd="1" destOrd="0" presId="urn:microsoft.com/office/officeart/2005/8/layout/orgChart1"/>
    <dgm:cxn modelId="{7C727031-B8D0-469D-B09E-2D1B5367BE37}" type="presParOf" srcId="{667868BE-1BC7-4375-9ADA-DDAD55A8C16C}" destId="{74FAA29B-F3E1-4A5B-8EAD-9D66EFEDDA11}" srcOrd="2" destOrd="0" presId="urn:microsoft.com/office/officeart/2005/8/layout/orgChart1"/>
    <dgm:cxn modelId="{CA51333B-5303-4DAA-9E19-A90DEDB709AD}" type="presParOf" srcId="{2A366C30-1CD8-49D7-A3BA-804BDAC72591}" destId="{57929786-43FA-43B3-9528-9531F3BDBBC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DA7B5E-512D-4B2B-9A95-C9CF067A55BD}">
      <dsp:nvSpPr>
        <dsp:cNvPr id="0" name=""/>
        <dsp:cNvSpPr/>
      </dsp:nvSpPr>
      <dsp:spPr>
        <a:xfrm>
          <a:off x="5257800" y="1656014"/>
          <a:ext cx="3719932" cy="6456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2804"/>
              </a:lnTo>
              <a:lnTo>
                <a:pt x="3719932" y="322804"/>
              </a:lnTo>
              <a:lnTo>
                <a:pt x="3719932" y="645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D66D15-BBA1-4BB2-9CA4-3E8ECAE6DE13}">
      <dsp:nvSpPr>
        <dsp:cNvPr id="0" name=""/>
        <dsp:cNvSpPr/>
      </dsp:nvSpPr>
      <dsp:spPr>
        <a:xfrm>
          <a:off x="5212080" y="1656014"/>
          <a:ext cx="91440" cy="64560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5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D9E785-FE97-4378-BD4E-6A2BFDF33A1E}">
      <dsp:nvSpPr>
        <dsp:cNvPr id="0" name=""/>
        <dsp:cNvSpPr/>
      </dsp:nvSpPr>
      <dsp:spPr>
        <a:xfrm>
          <a:off x="1537867" y="1656014"/>
          <a:ext cx="3719932" cy="645608"/>
        </a:xfrm>
        <a:custGeom>
          <a:avLst/>
          <a:gdLst/>
          <a:ahLst/>
          <a:cxnLst/>
          <a:rect l="0" t="0" r="0" b="0"/>
          <a:pathLst>
            <a:path>
              <a:moveTo>
                <a:pt x="3719932" y="0"/>
              </a:moveTo>
              <a:lnTo>
                <a:pt x="3719932" y="322804"/>
              </a:lnTo>
              <a:lnTo>
                <a:pt x="0" y="322804"/>
              </a:lnTo>
              <a:lnTo>
                <a:pt x="0" y="6456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BDF16-36A4-4096-BE27-5D39A967E8C2}">
      <dsp:nvSpPr>
        <dsp:cNvPr id="0" name=""/>
        <dsp:cNvSpPr/>
      </dsp:nvSpPr>
      <dsp:spPr>
        <a:xfrm>
          <a:off x="3031497" y="118852"/>
          <a:ext cx="4452604" cy="15371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Transfer of Receivables</a:t>
          </a:r>
        </a:p>
      </dsp:txBody>
      <dsp:txXfrm>
        <a:off x="3031497" y="118852"/>
        <a:ext cx="4452604" cy="1537161"/>
      </dsp:txXfrm>
    </dsp:sp>
    <dsp:sp modelId="{9930C9E6-36C9-4133-9220-9729937618AB}">
      <dsp:nvSpPr>
        <dsp:cNvPr id="0" name=""/>
        <dsp:cNvSpPr/>
      </dsp:nvSpPr>
      <dsp:spPr>
        <a:xfrm>
          <a:off x="706" y="2301623"/>
          <a:ext cx="3074323" cy="1537161"/>
        </a:xfrm>
        <a:prstGeom prst="rect">
          <a:avLst/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Video: Secured Borrowing</a:t>
          </a:r>
        </a:p>
      </dsp:txBody>
      <dsp:txXfrm>
        <a:off x="706" y="2301623"/>
        <a:ext cx="3074323" cy="1537161"/>
      </dsp:txXfrm>
    </dsp:sp>
    <dsp:sp modelId="{3376FE84-C8B8-4F16-823C-4BCC12F93234}">
      <dsp:nvSpPr>
        <dsp:cNvPr id="0" name=""/>
        <dsp:cNvSpPr/>
      </dsp:nvSpPr>
      <dsp:spPr>
        <a:xfrm>
          <a:off x="3720638" y="2301623"/>
          <a:ext cx="3074323" cy="15371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Sell/Factor</a:t>
          </a:r>
        </a:p>
      </dsp:txBody>
      <dsp:txXfrm>
        <a:off x="3720638" y="2301623"/>
        <a:ext cx="3074323" cy="1537161"/>
      </dsp:txXfrm>
    </dsp:sp>
    <dsp:sp modelId="{579D908B-2B84-4613-8FBF-6769743A4A87}">
      <dsp:nvSpPr>
        <dsp:cNvPr id="0" name=""/>
        <dsp:cNvSpPr/>
      </dsp:nvSpPr>
      <dsp:spPr>
        <a:xfrm>
          <a:off x="7440570" y="2301623"/>
          <a:ext cx="3074323" cy="15371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Securitize Receivables</a:t>
          </a:r>
        </a:p>
      </dsp:txBody>
      <dsp:txXfrm>
        <a:off x="7440570" y="2301623"/>
        <a:ext cx="3074323" cy="15371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96384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162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3AF5C-8B74-48F2-A112-25185789B7A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332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74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3AF5C-8B74-48F2-A112-25185789B7A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309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3AF5C-8B74-48F2-A112-25185789B7A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7136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3AF5C-8B74-48F2-A112-25185789B7A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4604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62E852D-55DA-4688-BF69-355783045066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336540D-B0CA-4577-A0F9-3361FC3DB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>
              <a:defRPr/>
            </a:pPr>
            <a:r>
              <a:rPr lang="en-US" altLang="en-US" dirty="0"/>
              <a:t>3 ways to get cash today from A/R</a:t>
            </a:r>
          </a:p>
          <a:p>
            <a:pPr marL="220690" indent="-220690" eaLnBrk="1" hangingPunct="1">
              <a:buFontTx/>
              <a:buAutoNum type="arabicParenR"/>
              <a:defRPr/>
            </a:pPr>
            <a:r>
              <a:rPr lang="en-US" altLang="en-US" dirty="0"/>
              <a:t>Pledge/assign (collateral)</a:t>
            </a:r>
          </a:p>
          <a:p>
            <a:pPr marL="220690" indent="-220690" eaLnBrk="1" hangingPunct="1">
              <a:buFontTx/>
              <a:buAutoNum type="arabicParenR"/>
              <a:defRPr/>
            </a:pPr>
            <a:r>
              <a:rPr lang="en-US" altLang="en-US" dirty="0"/>
              <a:t>Factor (sell receivables to 3</a:t>
            </a:r>
            <a:r>
              <a:rPr lang="en-US" altLang="en-US" baseline="30000" dirty="0"/>
              <a:t>rd</a:t>
            </a:r>
            <a:r>
              <a:rPr lang="en-US" altLang="en-US" dirty="0"/>
              <a:t> party at a discount)</a:t>
            </a:r>
          </a:p>
          <a:p>
            <a:pPr marL="220690" indent="-220690" eaLnBrk="1" hangingPunct="1">
              <a:buFontTx/>
              <a:buAutoNum type="arabicParenR"/>
              <a:defRPr/>
            </a:pPr>
            <a:r>
              <a:rPr lang="en-US" altLang="en-US" dirty="0"/>
              <a:t>Securitize (bundle together and sell interest in many separate receivables)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123 of 500 firms in 2009 discuss the use of receivables to obtain financing in their annual reports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102 sold, 11 with recourse, 45 without, 46 don’t discuss recourse</a:t>
            </a:r>
          </a:p>
          <a:p>
            <a:pPr eaLnBrk="1" hangingPunct="1">
              <a:defRPr/>
            </a:pPr>
            <a:r>
              <a:rPr lang="en-US" altLang="en-US" dirty="0"/>
              <a:t>21, receivables used as collateral</a:t>
            </a:r>
          </a:p>
          <a:p>
            <a:pPr eaLnBrk="1" hangingPunct="1">
              <a:defRPr/>
            </a:pPr>
            <a:endParaRPr lang="en-US" altLang="en-US" dirty="0"/>
          </a:p>
          <a:p>
            <a:pPr marL="231775" indent="-174625">
              <a:lnSpc>
                <a:spcPct val="80000"/>
              </a:lnSpc>
              <a:defRPr/>
            </a:pPr>
            <a:r>
              <a:rPr lang="en-US" altLang="en-US" sz="2400" dirty="0"/>
              <a:t>The “real world”: 123/500 firms in 2009 discuss the use of receivables to obtain financing in annual reports</a:t>
            </a:r>
          </a:p>
          <a:p>
            <a:pPr marL="631825" lvl="1" indent="-174625">
              <a:lnSpc>
                <a:spcPct val="80000"/>
              </a:lnSpc>
              <a:defRPr/>
            </a:pPr>
            <a:r>
              <a:rPr lang="en-US" altLang="en-US" sz="2000" dirty="0"/>
              <a:t>102 sold (11 with recourse, 45 without recourse, 46 don’t mention)</a:t>
            </a:r>
          </a:p>
          <a:p>
            <a:pPr marL="631825" lvl="1" indent="-174625">
              <a:lnSpc>
                <a:spcPct val="80000"/>
              </a:lnSpc>
              <a:defRPr/>
            </a:pPr>
            <a:r>
              <a:rPr lang="en-US" altLang="en-US" sz="2000" dirty="0"/>
              <a:t>21 used as collateral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83082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6C5AA-1B02-4AEE-AD13-EEA61FA2A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675" y="4479925"/>
            <a:ext cx="5619750" cy="3665538"/>
          </a:xfrm>
          <a:prstGeom prst="rect">
            <a:avLst/>
          </a:prstGeom>
        </p:spPr>
        <p:txBody>
          <a:bodyPr lIns="92433" tIns="46217" rIns="92433" bIns="46217"/>
          <a:lstStyle/>
          <a:p>
            <a:pPr>
              <a:defRPr/>
            </a:pPr>
            <a:r>
              <a:rPr lang="en-US" dirty="0"/>
              <a:t>Pretty much the seller doesn’t control the receivables in any way.</a:t>
            </a:r>
          </a:p>
          <a:p>
            <a:pPr marL="231084" indent="-231084">
              <a:buFontTx/>
              <a:buAutoNum type="arabicParenBoth"/>
              <a:defRPr/>
            </a:pPr>
            <a:r>
              <a:rPr lang="en-US" dirty="0"/>
              <a:t>Receivables are out of the reach of sellers as well as its creditors, even in the case of bankruptcy</a:t>
            </a:r>
          </a:p>
          <a:p>
            <a:pPr marL="231084" indent="-231084">
              <a:buFontTx/>
              <a:buAutoNum type="arabicParenBoth"/>
              <a:defRPr/>
            </a:pPr>
            <a:r>
              <a:rPr lang="en-US" dirty="0"/>
              <a:t>The buyer can do whatever they want with the receivables.</a:t>
            </a:r>
          </a:p>
          <a:p>
            <a:pPr marL="231084" indent="-231084">
              <a:buFontTx/>
              <a:buAutoNum type="arabicParenBoth"/>
              <a:defRPr/>
            </a:pPr>
            <a:r>
              <a:rPr lang="en-US" dirty="0"/>
              <a:t>There is no agreement for seller to repurchase or redeem before maturity.</a:t>
            </a:r>
          </a:p>
          <a:p>
            <a:pPr marL="231084" indent="-231084">
              <a:buFontTx/>
              <a:buAutoNum type="arabicParenBoth"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Continued involvement: servicing or recourse?</a:t>
            </a:r>
          </a:p>
        </p:txBody>
      </p:sp>
    </p:spTree>
    <p:extLst>
      <p:ext uri="{BB962C8B-B14F-4D97-AF65-F5344CB8AC3E}">
        <p14:creationId xmlns:p14="http://schemas.microsoft.com/office/powerpoint/2010/main" val="3829726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5" y="4479925"/>
            <a:ext cx="5619750" cy="366553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r>
              <a:rPr lang="en-US" altLang="en-US" dirty="0"/>
              <a:t>Who incurs bad debt losses?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Recourse: (per WILEY GAAP 2014, p. 1166)</a:t>
            </a:r>
          </a:p>
          <a:p>
            <a:pPr eaLnBrk="1" hangingPunct="1"/>
            <a:r>
              <a:rPr lang="en-US" altLang="en-US" dirty="0"/>
              <a:t>“effect of a recourse provision on…surrender of control provisions may vary by jurisdiction and by the level of recourse provided.”</a:t>
            </a:r>
          </a:p>
          <a:p>
            <a:pPr eaLnBrk="1" hangingPunct="1"/>
            <a:r>
              <a:rPr lang="en-US" altLang="en-US" dirty="0"/>
              <a:t>  - full recourse may not place receivables beyond reach of transferor</a:t>
            </a:r>
          </a:p>
          <a:p>
            <a:pPr eaLnBrk="1" hangingPunct="1"/>
            <a:r>
              <a:rPr lang="en-US" altLang="en-US" dirty="0"/>
              <a:t>  - some will be sales, some will be secured borrowings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9749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70FB60-4557-42DA-A239-9105101C7F8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5030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70FB60-4557-42DA-A239-9105101C7F8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5884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1363" indent="-28416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14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97025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5813" indent="-227013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670FB60-4557-42DA-A239-9105101C7F85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7" tIns="45714" rIns="91427" bIns="45714"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4752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A/R Part 2 – In-Class</a:t>
            </a:r>
          </a:p>
        </p:txBody>
      </p:sp>
    </p:spTree>
    <p:extLst>
      <p:ext uri="{BB962C8B-B14F-4D97-AF65-F5344CB8AC3E}">
        <p14:creationId xmlns:p14="http://schemas.microsoft.com/office/powerpoint/2010/main" val="410761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/>
          <p:cNvSpPr>
            <a:spLocks noGrp="1" noChangeArrowheads="1"/>
          </p:cNvSpPr>
          <p:nvPr>
            <p:ph type="ctrTitle"/>
          </p:nvPr>
        </p:nvSpPr>
        <p:spPr>
          <a:xfrm>
            <a:off x="1211580" y="274321"/>
            <a:ext cx="9921240" cy="5745480"/>
          </a:xfrm>
        </p:spPr>
        <p:txBody>
          <a:bodyPr>
            <a:normAutofit/>
          </a:bodyPr>
          <a:lstStyle/>
          <a:p>
            <a:r>
              <a:rPr lang="en-US" altLang="en-US" dirty="0"/>
              <a:t>Sales Discounts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4400" dirty="0">
                <a:solidFill>
                  <a:srgbClr val="00B050"/>
                </a:solidFill>
              </a:rPr>
              <a:t>Offer a discount as incentive for customer to pay early</a:t>
            </a:r>
            <a:br>
              <a:rPr lang="en-US" altLang="en-US" sz="4400" dirty="0">
                <a:solidFill>
                  <a:srgbClr val="00B050"/>
                </a:solidFill>
              </a:rPr>
            </a:br>
            <a:br>
              <a:rPr lang="en-US" altLang="en-US" sz="4400" dirty="0"/>
            </a:br>
            <a:br>
              <a:rPr lang="en-US" altLang="en-US" sz="4400" dirty="0"/>
            </a:br>
            <a:r>
              <a:rPr lang="en-US" altLang="en-US" sz="4400" dirty="0"/>
              <a:t>Record using </a:t>
            </a:r>
            <a:r>
              <a:rPr lang="en-US" altLang="en-US" sz="4400" dirty="0">
                <a:solidFill>
                  <a:srgbClr val="FF0000"/>
                </a:solidFill>
              </a:rPr>
              <a:t>Gross </a:t>
            </a:r>
            <a:r>
              <a:rPr lang="en-US" altLang="en-US" sz="4400" u="sng" dirty="0">
                <a:solidFill>
                  <a:srgbClr val="FF0000"/>
                </a:solidFill>
              </a:rPr>
              <a:t>or</a:t>
            </a:r>
            <a:r>
              <a:rPr lang="en-US" altLang="en-US" sz="4400" dirty="0">
                <a:solidFill>
                  <a:srgbClr val="FF0000"/>
                </a:solidFill>
              </a:rPr>
              <a:t> Net Method</a:t>
            </a:r>
          </a:p>
        </p:txBody>
      </p:sp>
    </p:spTree>
    <p:extLst>
      <p:ext uri="{BB962C8B-B14F-4D97-AF65-F5344CB8AC3E}">
        <p14:creationId xmlns:p14="http://schemas.microsoft.com/office/powerpoint/2010/main" val="1704841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A671470-EBE6-44F5-BAA6-A50122E83BE5}"/>
              </a:ext>
            </a:extLst>
          </p:cNvPr>
          <p:cNvSpPr/>
          <p:nvPr/>
        </p:nvSpPr>
        <p:spPr>
          <a:xfrm>
            <a:off x="1539726" y="1994901"/>
            <a:ext cx="8839200" cy="1570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A71C26-AEA2-4AB3-BACC-2FB1F9C3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8396"/>
          </a:xfrm>
        </p:spPr>
        <p:txBody>
          <a:bodyPr>
            <a:normAutofit/>
          </a:bodyPr>
          <a:lstStyle/>
          <a:p>
            <a:r>
              <a:rPr lang="en-US" dirty="0"/>
              <a:t>Sales Discount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15424-98CA-4662-BCA1-5EE8CB3EFB6B}"/>
              </a:ext>
            </a:extLst>
          </p:cNvPr>
          <p:cNvSpPr txBox="1"/>
          <p:nvPr/>
        </p:nvSpPr>
        <p:spPr>
          <a:xfrm>
            <a:off x="838199" y="1276747"/>
            <a:ext cx="100070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/>
              <a:t>Discount offered to customers for early cash payment on A/R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E0F49-8E24-462F-865C-2C989BB5EC99}"/>
              </a:ext>
            </a:extLst>
          </p:cNvPr>
          <p:cNvSpPr txBox="1"/>
          <p:nvPr/>
        </p:nvSpPr>
        <p:spPr>
          <a:xfrm>
            <a:off x="2030816" y="2085316"/>
            <a:ext cx="8059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/>
              <a:t>Usually presented in terms such as: </a:t>
            </a:r>
            <a:r>
              <a:rPr lang="en-US" altLang="en-US" sz="2800" b="1" dirty="0"/>
              <a:t>2/10, n/30</a:t>
            </a:r>
            <a:endParaRPr 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7C368C-4011-42EA-B9D5-AB66E5EDD7A5}"/>
              </a:ext>
            </a:extLst>
          </p:cNvPr>
          <p:cNvSpPr txBox="1"/>
          <p:nvPr/>
        </p:nvSpPr>
        <p:spPr>
          <a:xfrm>
            <a:off x="1539725" y="3919266"/>
            <a:ext cx="9560665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en-US" sz="2400" b="1" dirty="0"/>
              <a:t>Discount is not all or nothing:</a:t>
            </a:r>
            <a:r>
              <a:rPr lang="en-US" altLang="en-US" sz="2400" dirty="0"/>
              <a:t> Customer can pay for part of order early (get discount) and remaining portion later (no discount).</a:t>
            </a:r>
          </a:p>
          <a:p>
            <a:r>
              <a:rPr lang="en-US" sz="2400" b="1" dirty="0"/>
              <a:t>Type of variable consideration: </a:t>
            </a:r>
            <a:r>
              <a:rPr lang="en-US" sz="2400" dirty="0"/>
              <a:t>Company does not know exactly when customer will pay – need to estimate (gross method or net method).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123E1685-F82D-44E8-8BA6-0EDB7BD38195}"/>
              </a:ext>
            </a:extLst>
          </p:cNvPr>
          <p:cNvSpPr/>
          <p:nvPr/>
        </p:nvSpPr>
        <p:spPr>
          <a:xfrm rot="16200000">
            <a:off x="8245327" y="2000206"/>
            <a:ext cx="276225" cy="1571627"/>
          </a:xfrm>
          <a:prstGeom prst="leftBrace">
            <a:avLst/>
          </a:prstGeom>
          <a:ln w="19050">
            <a:solidFill>
              <a:srgbClr val="053968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093D2-D6F5-4B42-B0AA-3C9EEB003889}"/>
              </a:ext>
            </a:extLst>
          </p:cNvPr>
          <p:cNvSpPr txBox="1"/>
          <p:nvPr/>
        </p:nvSpPr>
        <p:spPr>
          <a:xfrm>
            <a:off x="6262579" y="2866271"/>
            <a:ext cx="41360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53968"/>
                </a:solidFill>
              </a:rPr>
              <a:t>2% discount if paid within 10 days,</a:t>
            </a:r>
          </a:p>
          <a:p>
            <a:pPr algn="ctr"/>
            <a:r>
              <a:rPr lang="en-US" b="1" dirty="0">
                <a:solidFill>
                  <a:srgbClr val="053968"/>
                </a:solidFill>
              </a:rPr>
              <a:t>all else due in 30 days.</a:t>
            </a:r>
          </a:p>
        </p:txBody>
      </p:sp>
      <p:pic>
        <p:nvPicPr>
          <p:cNvPr id="14" name="Graphic 13" descr="Lights On with solid fill">
            <a:extLst>
              <a:ext uri="{FF2B5EF4-FFF2-40B4-BE49-F238E27FC236}">
                <a16:creationId xmlns:a16="http://schemas.microsoft.com/office/drawing/2014/main" id="{D74FBF9F-A30F-4D25-AD64-A8B17CA87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967" y="3950316"/>
            <a:ext cx="639325" cy="639325"/>
          </a:xfrm>
          <a:prstGeom prst="rect">
            <a:avLst/>
          </a:prstGeom>
        </p:spPr>
      </p:pic>
      <p:pic>
        <p:nvPicPr>
          <p:cNvPr id="21" name="Graphic 20" descr="Lights On with solid fill">
            <a:extLst>
              <a:ext uri="{FF2B5EF4-FFF2-40B4-BE49-F238E27FC236}">
                <a16:creationId xmlns:a16="http://schemas.microsoft.com/office/drawing/2014/main" id="{A43B102F-AC0A-466E-90C3-ED214C35CE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1967" y="4863730"/>
            <a:ext cx="639325" cy="63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56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1DCCD829-E9C1-4967-ACC7-52D0C07EB7E8}"/>
              </a:ext>
            </a:extLst>
          </p:cNvPr>
          <p:cNvGraphicFramePr>
            <a:graphicFrameLocks noGrp="1"/>
          </p:cNvGraphicFramePr>
          <p:nvPr/>
        </p:nvGraphicFramePr>
        <p:xfrm>
          <a:off x="895350" y="1746668"/>
          <a:ext cx="10401300" cy="4177775"/>
        </p:xfrm>
        <a:graphic>
          <a:graphicData uri="http://schemas.openxmlformats.org/drawingml/2006/table">
            <a:tbl>
              <a:tblPr firstRow="1" firstCol="1" bandRow="1"/>
              <a:tblGrid>
                <a:gridCol w="1505977">
                  <a:extLst>
                    <a:ext uri="{9D8B030D-6E8A-4147-A177-3AD203B41FA5}">
                      <a16:colId xmlns:a16="http://schemas.microsoft.com/office/drawing/2014/main" val="1246530027"/>
                    </a:ext>
                  </a:extLst>
                </a:gridCol>
                <a:gridCol w="4429638">
                  <a:extLst>
                    <a:ext uri="{9D8B030D-6E8A-4147-A177-3AD203B41FA5}">
                      <a16:colId xmlns:a16="http://schemas.microsoft.com/office/drawing/2014/main" val="377702628"/>
                    </a:ext>
                  </a:extLst>
                </a:gridCol>
                <a:gridCol w="4465685">
                  <a:extLst>
                    <a:ext uri="{9D8B030D-6E8A-4147-A177-3AD203B41FA5}">
                      <a16:colId xmlns:a16="http://schemas.microsoft.com/office/drawing/2014/main" val="1542702389"/>
                    </a:ext>
                  </a:extLst>
                </a:gridCol>
              </a:tblGrid>
              <a:tr h="909415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Gross Method</a:t>
                      </a:r>
                    </a:p>
                    <a:p>
                      <a:pPr algn="ctr"/>
                      <a:r>
                        <a:rPr lang="en-US" b="0" dirty="0"/>
                        <a:t>(assume customer </a:t>
                      </a:r>
                      <a:r>
                        <a:rPr lang="en-US" b="0" u="sng" dirty="0"/>
                        <a:t>is not</a:t>
                      </a:r>
                      <a:r>
                        <a:rPr lang="en-US" b="0" u="none" dirty="0"/>
                        <a:t> </a:t>
                      </a:r>
                      <a:r>
                        <a:rPr lang="en-US" b="0" dirty="0"/>
                        <a:t>taking discount)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r>
                        <a:rPr lang="en-US" sz="2400" dirty="0"/>
                        <a:t>Net Method</a:t>
                      </a:r>
                      <a:endParaRPr lang="en-US" dirty="0"/>
                    </a:p>
                    <a:p>
                      <a:pPr algn="ctr"/>
                      <a:r>
                        <a:rPr lang="en-US" b="0" dirty="0"/>
                        <a:t>(assume customer </a:t>
                      </a:r>
                      <a:r>
                        <a:rPr lang="en-US" b="0" i="0" u="sng" dirty="0"/>
                        <a:t>is</a:t>
                      </a:r>
                      <a:r>
                        <a:rPr lang="en-US" b="0" dirty="0"/>
                        <a:t> taking discount)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074969"/>
                  </a:ext>
                </a:extLst>
              </a:tr>
              <a:tr h="77703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Date of Sale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025347"/>
                  </a:ext>
                </a:extLst>
              </a:tr>
              <a:tr h="2491330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r>
                        <a:rPr lang="en-US" dirty="0"/>
                        <a:t>After Sale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/>
                      <a:endParaRPr lang="en-US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546A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82481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999E1F1-7F64-4433-B164-BEBE5E4A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Recording Sales Discounts: Gross vs Net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96E6B-EF48-4087-9231-6137C2A8D3B4}"/>
              </a:ext>
            </a:extLst>
          </p:cNvPr>
          <p:cNvSpPr txBox="1"/>
          <p:nvPr/>
        </p:nvSpPr>
        <p:spPr>
          <a:xfrm>
            <a:off x="2668633" y="2698764"/>
            <a:ext cx="4008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Record revenue and accounts receivable at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full sales value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(no discount)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A6F34B-F284-4128-B52F-49D2D01742AB}"/>
              </a:ext>
            </a:extLst>
          </p:cNvPr>
          <p:cNvSpPr txBox="1"/>
          <p:nvPr/>
        </p:nvSpPr>
        <p:spPr>
          <a:xfrm>
            <a:off x="6953250" y="2698764"/>
            <a:ext cx="4229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Record revenue and accounts receivable at sales value </a:t>
            </a:r>
            <a:r>
              <a:rPr lang="en-US" b="1" dirty="0">
                <a:solidFill>
                  <a:prstClr val="black"/>
                </a:solidFill>
                <a:latin typeface="Calibri"/>
              </a:rPr>
              <a:t>less discount amount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D17C1-1B0F-4EC5-A2C8-386364ACD541}"/>
              </a:ext>
            </a:extLst>
          </p:cNvPr>
          <p:cNvSpPr txBox="1"/>
          <p:nvPr/>
        </p:nvSpPr>
        <p:spPr>
          <a:xfrm>
            <a:off x="2668633" y="3499528"/>
            <a:ext cx="40083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en-US" dirty="0">
                <a:solidFill>
                  <a:prstClr val="black"/>
                </a:solidFill>
                <a:latin typeface="Calibri"/>
              </a:rPr>
              <a:t>If customer pays early (gets discount)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Debit cash received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Credit A/R for original amount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Debit 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Sales Discount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(I-XR)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</a:endParaRP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If customer pays late (no discount)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Debit cash received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Credit A/R for original amount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4D2674-55D6-4D75-A179-00E26C608FB3}"/>
              </a:ext>
            </a:extLst>
          </p:cNvPr>
          <p:cNvSpPr txBox="1"/>
          <p:nvPr/>
        </p:nvSpPr>
        <p:spPr>
          <a:xfrm>
            <a:off x="6907530" y="3499528"/>
            <a:ext cx="42291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libri"/>
              </a:rPr>
              <a:t>If customer pays early (gets discount)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Debit cash received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Credit A/R for original amount recorded</a:t>
            </a:r>
          </a:p>
          <a:p>
            <a:endParaRPr lang="en-US" dirty="0">
              <a:solidFill>
                <a:prstClr val="black"/>
              </a:solidFill>
              <a:latin typeface="Calibri"/>
            </a:endParaRPr>
          </a:p>
          <a:p>
            <a:r>
              <a:rPr lang="en-US" dirty="0">
                <a:solidFill>
                  <a:prstClr val="black"/>
                </a:solidFill>
                <a:latin typeface="Calibri"/>
              </a:rPr>
              <a:t>If customer pays late (no discount)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Debit cash received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Credit A/R for original amount recorded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latin typeface="Calibri"/>
              </a:rPr>
              <a:t>Credit </a:t>
            </a:r>
            <a:r>
              <a:rPr lang="en-US" dirty="0">
                <a:solidFill>
                  <a:srgbClr val="FF0000"/>
                </a:solidFill>
                <a:latin typeface="Calibri"/>
              </a:rPr>
              <a:t>Sales Discount Forfeited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(I-R)</a:t>
            </a:r>
          </a:p>
        </p:txBody>
      </p:sp>
    </p:spTree>
    <p:extLst>
      <p:ext uri="{BB962C8B-B14F-4D97-AF65-F5344CB8AC3E}">
        <p14:creationId xmlns:p14="http://schemas.microsoft.com/office/powerpoint/2010/main" val="39356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2943DF-71D4-427B-903B-62A2456578D8}"/>
              </a:ext>
            </a:extLst>
          </p:cNvPr>
          <p:cNvSpPr txBox="1"/>
          <p:nvPr/>
        </p:nvSpPr>
        <p:spPr>
          <a:xfrm flipH="1">
            <a:off x="761999" y="1371590"/>
            <a:ext cx="1043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Suppose Plankton Co. sells $100 on account with terms 2/10, n/30.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A21F7-9A9C-4ACC-B765-1E04F600EFB7}"/>
              </a:ext>
            </a:extLst>
          </p:cNvPr>
          <p:cNvSpPr txBox="1"/>
          <p:nvPr/>
        </p:nvSpPr>
        <p:spPr>
          <a:xfrm flipH="1">
            <a:off x="2743200" y="2513078"/>
            <a:ext cx="421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Journal Entries on Date of Sale: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3B53A-3758-4F11-BD15-53AAB67F5DE2}"/>
              </a:ext>
            </a:extLst>
          </p:cNvPr>
          <p:cNvSpPr txBox="1"/>
          <p:nvPr/>
        </p:nvSpPr>
        <p:spPr>
          <a:xfrm flipH="1">
            <a:off x="2743200" y="3122966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9D401-544B-4BE8-B7C5-FEEC47B5AECC}"/>
              </a:ext>
            </a:extLst>
          </p:cNvPr>
          <p:cNvSpPr txBox="1"/>
          <p:nvPr/>
        </p:nvSpPr>
        <p:spPr>
          <a:xfrm flipH="1">
            <a:off x="3309936" y="3538466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Revenue (I-R)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0B1C0-2654-4DF4-841D-E3E4FDCEDB16}"/>
              </a:ext>
            </a:extLst>
          </p:cNvPr>
          <p:cNvSpPr txBox="1"/>
          <p:nvPr/>
        </p:nvSpPr>
        <p:spPr>
          <a:xfrm flipH="1">
            <a:off x="1128712" y="1942334"/>
            <a:ext cx="2181224" cy="461665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Gross Method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BA34B-5CC9-4B66-96E2-C214625117CC}"/>
              </a:ext>
            </a:extLst>
          </p:cNvPr>
          <p:cNvSpPr txBox="1"/>
          <p:nvPr/>
        </p:nvSpPr>
        <p:spPr>
          <a:xfrm flipH="1">
            <a:off x="6829425" y="3122966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03733-13C4-4977-B119-360DB134CB17}"/>
              </a:ext>
            </a:extLst>
          </p:cNvPr>
          <p:cNvSpPr txBox="1"/>
          <p:nvPr/>
        </p:nvSpPr>
        <p:spPr>
          <a:xfrm flipH="1">
            <a:off x="7396161" y="3538466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E6240464-C5AB-4634-8E8B-4553E99B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Sales Discount (</a:t>
            </a:r>
            <a:r>
              <a:rPr lang="en-US" sz="4000" dirty="0">
                <a:solidFill>
                  <a:srgbClr val="7030A0"/>
                </a:solidFill>
              </a:rPr>
              <a:t>Gross</a:t>
            </a:r>
            <a:r>
              <a:rPr lang="en-US" sz="4000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1BFAD-3A87-3427-B069-9B85C71B83D3}"/>
              </a:ext>
            </a:extLst>
          </p:cNvPr>
          <p:cNvSpPr txBox="1"/>
          <p:nvPr/>
        </p:nvSpPr>
        <p:spPr>
          <a:xfrm flipH="1">
            <a:off x="409574" y="4306144"/>
            <a:ext cx="490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Customer Pays in 10 Days (discount):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D8EFA-0D9C-99FD-A436-65B6B79FEC8D}"/>
              </a:ext>
            </a:extLst>
          </p:cNvPr>
          <p:cNvSpPr txBox="1"/>
          <p:nvPr/>
        </p:nvSpPr>
        <p:spPr>
          <a:xfrm flipH="1">
            <a:off x="646445" y="4833085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Cash (B-A)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DBD54-69AF-4408-51D8-0AADC1EEE6E8}"/>
              </a:ext>
            </a:extLst>
          </p:cNvPr>
          <p:cNvSpPr txBox="1"/>
          <p:nvPr/>
        </p:nvSpPr>
        <p:spPr>
          <a:xfrm flipH="1">
            <a:off x="1213181" y="5534335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07682-C6B2-2DDF-0181-5184CCF09FBF}"/>
              </a:ext>
            </a:extLst>
          </p:cNvPr>
          <p:cNvSpPr txBox="1"/>
          <p:nvPr/>
        </p:nvSpPr>
        <p:spPr>
          <a:xfrm flipH="1">
            <a:off x="4681918" y="4833085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406B2-B573-5D6F-52C2-4B8E96C32E1E}"/>
              </a:ext>
            </a:extLst>
          </p:cNvPr>
          <p:cNvSpPr txBox="1"/>
          <p:nvPr/>
        </p:nvSpPr>
        <p:spPr>
          <a:xfrm flipH="1">
            <a:off x="5248654" y="5534335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DF90BC-43F7-4248-9A85-132E747D3F8B}"/>
              </a:ext>
            </a:extLst>
          </p:cNvPr>
          <p:cNvSpPr txBox="1"/>
          <p:nvPr/>
        </p:nvSpPr>
        <p:spPr>
          <a:xfrm flipH="1">
            <a:off x="646445" y="5183369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Sales Discount (I-XR)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7C3BF9-22C3-CF35-069E-635654C0BAAA}"/>
              </a:ext>
            </a:extLst>
          </p:cNvPr>
          <p:cNvSpPr txBox="1"/>
          <p:nvPr/>
        </p:nvSpPr>
        <p:spPr>
          <a:xfrm flipH="1">
            <a:off x="4832682" y="5183369"/>
            <a:ext cx="752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B34B8B-48F6-83E5-6D70-11765C511A69}"/>
              </a:ext>
            </a:extLst>
          </p:cNvPr>
          <p:cNvSpPr txBox="1"/>
          <p:nvPr/>
        </p:nvSpPr>
        <p:spPr>
          <a:xfrm flipH="1">
            <a:off x="6096000" y="4321473"/>
            <a:ext cx="544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Customer Pays in 30 Days (No discount):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B9523-166D-1F9E-170B-FB4B4E15883C}"/>
              </a:ext>
            </a:extLst>
          </p:cNvPr>
          <p:cNvSpPr/>
          <p:nvPr/>
        </p:nvSpPr>
        <p:spPr>
          <a:xfrm>
            <a:off x="279400" y="4184650"/>
            <a:ext cx="5702300" cy="22606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8F46B8-FFD6-7A17-6D99-B5F636601C86}"/>
              </a:ext>
            </a:extLst>
          </p:cNvPr>
          <p:cNvSpPr/>
          <p:nvPr/>
        </p:nvSpPr>
        <p:spPr>
          <a:xfrm>
            <a:off x="6134100" y="4184650"/>
            <a:ext cx="5702300" cy="226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363C4-F3F4-F698-00E8-3DAF73534C72}"/>
              </a:ext>
            </a:extLst>
          </p:cNvPr>
          <p:cNvSpPr txBox="1"/>
          <p:nvPr/>
        </p:nvSpPr>
        <p:spPr>
          <a:xfrm flipH="1">
            <a:off x="6126179" y="4815193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Cash (B-A)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652DAB-9825-C4F5-A935-AA6A7AF0C9FF}"/>
              </a:ext>
            </a:extLst>
          </p:cNvPr>
          <p:cNvSpPr txBox="1"/>
          <p:nvPr/>
        </p:nvSpPr>
        <p:spPr>
          <a:xfrm flipH="1">
            <a:off x="6692915" y="5230693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AF1F5E-1427-22DE-63EE-4844562D490B}"/>
              </a:ext>
            </a:extLst>
          </p:cNvPr>
          <p:cNvSpPr txBox="1"/>
          <p:nvPr/>
        </p:nvSpPr>
        <p:spPr>
          <a:xfrm flipH="1">
            <a:off x="10441004" y="4815193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ABE54D-9291-4D56-E1EA-92C0DE5843DC}"/>
              </a:ext>
            </a:extLst>
          </p:cNvPr>
          <p:cNvSpPr txBox="1"/>
          <p:nvPr/>
        </p:nvSpPr>
        <p:spPr>
          <a:xfrm flipH="1">
            <a:off x="11150615" y="5230693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05583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  <p:bldP spid="15" grpId="0"/>
      <p:bldP spid="2" grpId="0"/>
      <p:bldP spid="3" grpId="0"/>
      <p:bldP spid="4" grpId="0"/>
      <p:bldP spid="10" grpId="0"/>
      <p:bldP spid="11" grpId="0"/>
      <p:bldP spid="13" grpId="0"/>
      <p:bldP spid="22" grpId="0"/>
      <p:bldP spid="23" grpId="0"/>
      <p:bldP spid="24" grpId="0" animBg="1"/>
      <p:bldP spid="25" grpId="0" animBg="1"/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2943DF-71D4-427B-903B-62A2456578D8}"/>
              </a:ext>
            </a:extLst>
          </p:cNvPr>
          <p:cNvSpPr txBox="1"/>
          <p:nvPr/>
        </p:nvSpPr>
        <p:spPr>
          <a:xfrm flipH="1">
            <a:off x="761999" y="1371590"/>
            <a:ext cx="10439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Suppose Plankton Co. sells $100 on account with terms 2/10, n/30.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A21F7-9A9C-4ACC-B765-1E04F600EFB7}"/>
              </a:ext>
            </a:extLst>
          </p:cNvPr>
          <p:cNvSpPr txBox="1"/>
          <p:nvPr/>
        </p:nvSpPr>
        <p:spPr>
          <a:xfrm flipH="1">
            <a:off x="2743200" y="2513078"/>
            <a:ext cx="4210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Journal Entries on Date of Sale: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3B53A-3758-4F11-BD15-53AAB67F5DE2}"/>
              </a:ext>
            </a:extLst>
          </p:cNvPr>
          <p:cNvSpPr txBox="1"/>
          <p:nvPr/>
        </p:nvSpPr>
        <p:spPr>
          <a:xfrm flipH="1">
            <a:off x="2743200" y="3122966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9D401-544B-4BE8-B7C5-FEEC47B5AECC}"/>
              </a:ext>
            </a:extLst>
          </p:cNvPr>
          <p:cNvSpPr txBox="1"/>
          <p:nvPr/>
        </p:nvSpPr>
        <p:spPr>
          <a:xfrm flipH="1">
            <a:off x="3309936" y="3538466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Revenue (I-R)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3BA34B-5CC9-4B66-96E2-C214625117CC}"/>
              </a:ext>
            </a:extLst>
          </p:cNvPr>
          <p:cNvSpPr txBox="1"/>
          <p:nvPr/>
        </p:nvSpPr>
        <p:spPr>
          <a:xfrm flipH="1">
            <a:off x="6829425" y="3122966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03733-13C4-4977-B119-360DB134CB17}"/>
              </a:ext>
            </a:extLst>
          </p:cNvPr>
          <p:cNvSpPr txBox="1"/>
          <p:nvPr/>
        </p:nvSpPr>
        <p:spPr>
          <a:xfrm flipH="1">
            <a:off x="7396161" y="3538466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21" name="Title 5">
            <a:extLst>
              <a:ext uri="{FF2B5EF4-FFF2-40B4-BE49-F238E27FC236}">
                <a16:creationId xmlns:a16="http://schemas.microsoft.com/office/drawing/2014/main" id="{E6240464-C5AB-4634-8E8B-4553E99BA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Sales Discount (</a:t>
            </a:r>
            <a:r>
              <a:rPr lang="en-US" sz="4000" dirty="0">
                <a:solidFill>
                  <a:srgbClr val="0070C0"/>
                </a:solidFill>
              </a:rPr>
              <a:t>Net</a:t>
            </a:r>
            <a:r>
              <a:rPr lang="en-US" sz="4000" dirty="0"/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21BFAD-3A87-3427-B069-9B85C71B83D3}"/>
              </a:ext>
            </a:extLst>
          </p:cNvPr>
          <p:cNvSpPr txBox="1"/>
          <p:nvPr/>
        </p:nvSpPr>
        <p:spPr>
          <a:xfrm flipH="1">
            <a:off x="409574" y="4306144"/>
            <a:ext cx="490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Customer Pays in 10 Days (discount):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D8EFA-0D9C-99FD-A436-65B6B79FEC8D}"/>
              </a:ext>
            </a:extLst>
          </p:cNvPr>
          <p:cNvSpPr txBox="1"/>
          <p:nvPr/>
        </p:nvSpPr>
        <p:spPr>
          <a:xfrm flipH="1">
            <a:off x="646445" y="4833085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Cash (B-A)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0DBD54-69AF-4408-51D8-0AADC1EEE6E8}"/>
              </a:ext>
            </a:extLst>
          </p:cNvPr>
          <p:cNvSpPr txBox="1"/>
          <p:nvPr/>
        </p:nvSpPr>
        <p:spPr>
          <a:xfrm flipH="1">
            <a:off x="1181447" y="5354621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07682-C6B2-2DDF-0181-5184CCF09FBF}"/>
              </a:ext>
            </a:extLst>
          </p:cNvPr>
          <p:cNvSpPr txBox="1"/>
          <p:nvPr/>
        </p:nvSpPr>
        <p:spPr>
          <a:xfrm flipH="1">
            <a:off x="4681918" y="4833085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9406B2-B573-5D6F-52C2-4B8E96C32E1E}"/>
              </a:ext>
            </a:extLst>
          </p:cNvPr>
          <p:cNvSpPr txBox="1"/>
          <p:nvPr/>
        </p:nvSpPr>
        <p:spPr>
          <a:xfrm flipH="1">
            <a:off x="5216920" y="5354621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B34B8B-48F6-83E5-6D70-11765C511A69}"/>
              </a:ext>
            </a:extLst>
          </p:cNvPr>
          <p:cNvSpPr txBox="1"/>
          <p:nvPr/>
        </p:nvSpPr>
        <p:spPr>
          <a:xfrm flipH="1">
            <a:off x="6096000" y="4321473"/>
            <a:ext cx="544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Calibri" panose="020F0502020204030204" pitchFamily="34" charset="0"/>
                <a:cs typeface="Calibri" panose="020F0502020204030204" pitchFamily="34" charset="0"/>
              </a:rPr>
              <a:t>Customer Pays in 30 Days (No discount):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9B9523-166D-1F9E-170B-FB4B4E15883C}"/>
              </a:ext>
            </a:extLst>
          </p:cNvPr>
          <p:cNvSpPr/>
          <p:nvPr/>
        </p:nvSpPr>
        <p:spPr>
          <a:xfrm>
            <a:off x="279400" y="4184650"/>
            <a:ext cx="5702300" cy="22606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8F46B8-FFD6-7A17-6D99-B5F636601C86}"/>
              </a:ext>
            </a:extLst>
          </p:cNvPr>
          <p:cNvSpPr/>
          <p:nvPr/>
        </p:nvSpPr>
        <p:spPr>
          <a:xfrm>
            <a:off x="6134100" y="4184650"/>
            <a:ext cx="5702300" cy="226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363C4-F3F4-F698-00E8-3DAF73534C72}"/>
              </a:ext>
            </a:extLst>
          </p:cNvPr>
          <p:cNvSpPr txBox="1"/>
          <p:nvPr/>
        </p:nvSpPr>
        <p:spPr>
          <a:xfrm flipH="1">
            <a:off x="6126179" y="4815193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Cash (B-A)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652DAB-9825-C4F5-A935-AA6A7AF0C9FF}"/>
              </a:ext>
            </a:extLst>
          </p:cNvPr>
          <p:cNvSpPr txBox="1"/>
          <p:nvPr/>
        </p:nvSpPr>
        <p:spPr>
          <a:xfrm flipH="1">
            <a:off x="6692915" y="5230693"/>
            <a:ext cx="3619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Accounts Receivable (B-A)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AF1F5E-1427-22DE-63EE-4844562D490B}"/>
              </a:ext>
            </a:extLst>
          </p:cNvPr>
          <p:cNvSpPr txBox="1"/>
          <p:nvPr/>
        </p:nvSpPr>
        <p:spPr>
          <a:xfrm flipH="1">
            <a:off x="10441004" y="4815193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ABE54D-9291-4D56-E1EA-92C0DE5843DC}"/>
              </a:ext>
            </a:extLst>
          </p:cNvPr>
          <p:cNvSpPr txBox="1"/>
          <p:nvPr/>
        </p:nvSpPr>
        <p:spPr>
          <a:xfrm flipH="1">
            <a:off x="11150615" y="5230693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98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3804B7-6132-DB0D-7F50-8CCB34A3AA6D}"/>
              </a:ext>
            </a:extLst>
          </p:cNvPr>
          <p:cNvSpPr txBox="1"/>
          <p:nvPr/>
        </p:nvSpPr>
        <p:spPr>
          <a:xfrm flipH="1">
            <a:off x="1213181" y="1964428"/>
            <a:ext cx="2181224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Net Method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5031B3-9072-1162-ECFA-77564801FADC}"/>
              </a:ext>
            </a:extLst>
          </p:cNvPr>
          <p:cNvSpPr txBox="1"/>
          <p:nvPr/>
        </p:nvSpPr>
        <p:spPr>
          <a:xfrm flipH="1">
            <a:off x="6692914" y="5692358"/>
            <a:ext cx="3876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Sales Discount Forfeited (I-R)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A4980-2016-83D5-075F-90779D6A924F}"/>
              </a:ext>
            </a:extLst>
          </p:cNvPr>
          <p:cNvSpPr txBox="1"/>
          <p:nvPr/>
        </p:nvSpPr>
        <p:spPr>
          <a:xfrm flipH="1">
            <a:off x="11242055" y="5692358"/>
            <a:ext cx="1876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9267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4" grpId="0"/>
      <p:bldP spid="15" grpId="0"/>
      <p:bldP spid="2" grpId="0"/>
      <p:bldP spid="3" grpId="0"/>
      <p:bldP spid="4" grpId="0"/>
      <p:bldP spid="10" grpId="0"/>
      <p:bldP spid="11" grpId="0"/>
      <p:bldP spid="23" grpId="0"/>
      <p:bldP spid="24" grpId="0" animBg="1"/>
      <p:bldP spid="25" grpId="0" animBg="1"/>
      <p:bldP spid="28" grpId="0"/>
      <p:bldP spid="29" grpId="0"/>
      <p:bldP spid="30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71C26-AEA2-4AB3-BACC-2FB1F9C34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8396"/>
          </a:xfrm>
        </p:spPr>
        <p:txBody>
          <a:bodyPr>
            <a:normAutofit/>
          </a:bodyPr>
          <a:lstStyle/>
          <a:p>
            <a:r>
              <a:rPr lang="en-US" dirty="0"/>
              <a:t>Sales Discount New Accounts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15424-98CA-4662-BCA1-5EE8CB3EFB6B}"/>
              </a:ext>
            </a:extLst>
          </p:cNvPr>
          <p:cNvSpPr txBox="1"/>
          <p:nvPr/>
        </p:nvSpPr>
        <p:spPr>
          <a:xfrm>
            <a:off x="838199" y="1423522"/>
            <a:ext cx="105156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dirty="0"/>
              <a:t>Two New Accounts:</a:t>
            </a:r>
          </a:p>
          <a:p>
            <a:endParaRPr lang="en-US" altLang="en-US" sz="2800" dirty="0"/>
          </a:p>
          <a:p>
            <a:r>
              <a:rPr lang="en-US" altLang="en-US" sz="2800" dirty="0"/>
              <a:t>Gross Method: Sales Discounts (If taken) </a:t>
            </a:r>
            <a:r>
              <a:rPr lang="en-US" altLang="en-US" sz="2800" dirty="0">
                <a:solidFill>
                  <a:srgbClr val="FF0000"/>
                </a:solidFill>
              </a:rPr>
              <a:t>* Contra Revenue</a:t>
            </a:r>
          </a:p>
          <a:p>
            <a:endParaRPr lang="en-US" sz="2800" dirty="0"/>
          </a:p>
          <a:p>
            <a:r>
              <a:rPr lang="en-US" sz="2800" dirty="0"/>
              <a:t>Net Method: Sales Discount Forfeited (If NOT taken) </a:t>
            </a:r>
            <a:r>
              <a:rPr lang="en-US" sz="2800" dirty="0">
                <a:solidFill>
                  <a:srgbClr val="FF0000"/>
                </a:solidFill>
              </a:rPr>
              <a:t>* Revenue</a:t>
            </a:r>
          </a:p>
        </p:txBody>
      </p:sp>
    </p:spTree>
    <p:extLst>
      <p:ext uri="{BB962C8B-B14F-4D97-AF65-F5344CB8AC3E}">
        <p14:creationId xmlns:p14="http://schemas.microsoft.com/office/powerpoint/2010/main" val="2781873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23A-B995-4C9D-9EB7-8CC87BD8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Problem #1</a:t>
            </a:r>
          </a:p>
        </p:txBody>
      </p:sp>
    </p:spTree>
    <p:extLst>
      <p:ext uri="{BB962C8B-B14F-4D97-AF65-F5344CB8AC3E}">
        <p14:creationId xmlns:p14="http://schemas.microsoft.com/office/powerpoint/2010/main" val="2694150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875899" y="473076"/>
            <a:ext cx="9536515" cy="8683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Sell (Factor) Receivables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9B2390-1788-4C5E-B39E-57D996B29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051360"/>
              </p:ext>
            </p:extLst>
          </p:nvPr>
        </p:nvGraphicFramePr>
        <p:xfrm>
          <a:off x="838200" y="1825625"/>
          <a:ext cx="10515600" cy="3957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2B961D3-FAD2-7C81-208C-C497317845E9}"/>
              </a:ext>
            </a:extLst>
          </p:cNvPr>
          <p:cNvSpPr/>
          <p:nvPr/>
        </p:nvSpPr>
        <p:spPr>
          <a:xfrm>
            <a:off x="4318000" y="3816350"/>
            <a:ext cx="3663950" cy="235585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631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>
          <a:xfrm>
            <a:off x="760396" y="327821"/>
            <a:ext cx="10231655" cy="1143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When is a Transfer a Sale?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C8D0C7-F203-4058-B564-78DC21588CE9}"/>
              </a:ext>
            </a:extLst>
          </p:cNvPr>
          <p:cNvSpPr/>
          <p:nvPr/>
        </p:nvSpPr>
        <p:spPr bwMode="auto">
          <a:xfrm>
            <a:off x="2301875" y="1849439"/>
            <a:ext cx="4027488" cy="7572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Are receivables isolated </a:t>
            </a:r>
            <a:br>
              <a:rPr lang="en-US" dirty="0"/>
            </a:br>
            <a:r>
              <a:rPr lang="en-US" dirty="0"/>
              <a:t>from the seller?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814109-00AE-496D-8E92-FF9EACCF6E68}"/>
              </a:ext>
            </a:extLst>
          </p:cNvPr>
          <p:cNvSpPr/>
          <p:nvPr/>
        </p:nvSpPr>
        <p:spPr bwMode="auto">
          <a:xfrm>
            <a:off x="7916864" y="2973389"/>
            <a:ext cx="2359025" cy="839787"/>
          </a:xfrm>
          <a:prstGeom prst="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Record as secured borrowing</a:t>
            </a:r>
            <a:endParaRPr lang="en-US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7C371F-7DA7-4826-B5EF-C81FBF2EA1FA}"/>
              </a:ext>
            </a:extLst>
          </p:cNvPr>
          <p:cNvSpPr/>
          <p:nvPr/>
        </p:nvSpPr>
        <p:spPr bwMode="auto">
          <a:xfrm>
            <a:off x="2870200" y="5326063"/>
            <a:ext cx="2889250" cy="419100"/>
          </a:xfrm>
          <a:prstGeom prst="rect">
            <a:avLst/>
          </a:prstGeom>
          <a:solidFill>
            <a:schemeClr val="accent2"/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chemeClr val="bg1"/>
                </a:solidFill>
              </a:rPr>
              <a:t>Record as a sale</a:t>
            </a:r>
            <a:endParaRPr lang="en-US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606B9EE-607B-41E1-B696-EC62A09C4B76}"/>
              </a:ext>
            </a:extLst>
          </p:cNvPr>
          <p:cNvCxnSpPr>
            <a:cxnSpLocks/>
            <a:stCxn id="7" idx="2"/>
          </p:cNvCxnSpPr>
          <p:nvPr/>
        </p:nvCxnSpPr>
        <p:spPr bwMode="auto">
          <a:xfrm>
            <a:off x="4314825" y="2606676"/>
            <a:ext cx="0" cy="36671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6247A2-7C35-4925-8FDC-B3C9785067D1}"/>
              </a:ext>
            </a:extLst>
          </p:cNvPr>
          <p:cNvCxnSpPr>
            <a:cxnSpLocks/>
          </p:cNvCxnSpPr>
          <p:nvPr/>
        </p:nvCxnSpPr>
        <p:spPr bwMode="auto">
          <a:xfrm>
            <a:off x="4314825" y="3808413"/>
            <a:ext cx="0" cy="38100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47318F-1C94-487B-97AA-7F94EF74D5CD}"/>
              </a:ext>
            </a:extLst>
          </p:cNvPr>
          <p:cNvCxnSpPr>
            <a:cxnSpLocks/>
            <a:endCxn id="12" idx="0"/>
          </p:cNvCxnSpPr>
          <p:nvPr/>
        </p:nvCxnSpPr>
        <p:spPr bwMode="auto">
          <a:xfrm flipH="1">
            <a:off x="4314825" y="4946651"/>
            <a:ext cx="0" cy="379413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0D225BE2-8B90-4DED-A918-E06A01F8C03E}"/>
              </a:ext>
            </a:extLst>
          </p:cNvPr>
          <p:cNvCxnSpPr>
            <a:stCxn id="7" idx="3"/>
            <a:endCxn id="11" idx="0"/>
          </p:cNvCxnSpPr>
          <p:nvPr/>
        </p:nvCxnSpPr>
        <p:spPr bwMode="auto">
          <a:xfrm>
            <a:off x="6329363" y="2228850"/>
            <a:ext cx="2767012" cy="744538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A4AEAC4A-1545-4366-B62B-6D4C79D030D9}"/>
              </a:ext>
            </a:extLst>
          </p:cNvPr>
          <p:cNvCxnSpPr>
            <a:cxnSpLocks/>
            <a:endCxn id="11" idx="1"/>
          </p:cNvCxnSpPr>
          <p:nvPr/>
        </p:nvCxnSpPr>
        <p:spPr bwMode="auto">
          <a:xfrm>
            <a:off x="6329363" y="3390901"/>
            <a:ext cx="1587500" cy="317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DD08D13A-6B5C-4629-BCA6-FB794A1CE38D}"/>
              </a:ext>
            </a:extLst>
          </p:cNvPr>
          <p:cNvCxnSpPr>
            <a:cxnSpLocks/>
            <a:endCxn id="11" idx="2"/>
          </p:cNvCxnSpPr>
          <p:nvPr/>
        </p:nvCxnSpPr>
        <p:spPr bwMode="auto">
          <a:xfrm flipV="1">
            <a:off x="6329363" y="3813175"/>
            <a:ext cx="2767012" cy="755650"/>
          </a:xfrm>
          <a:prstGeom prst="bentConnector2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>
            <a:spLocks noChangeArrowheads="1"/>
          </p:cNvSpPr>
          <p:nvPr/>
        </p:nvSpPr>
        <p:spPr bwMode="auto">
          <a:xfrm flipH="1">
            <a:off x="7234239" y="1835151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00000"/>
                </a:solidFill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 flipH="1">
            <a:off x="7227889" y="2981326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00000"/>
                </a:solidFill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 flipH="1">
            <a:off x="7234239" y="4187826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00000"/>
                </a:solidFill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17425" name="TextBox 54"/>
          <p:cNvSpPr txBox="1">
            <a:spLocks noChangeArrowheads="1"/>
          </p:cNvSpPr>
          <p:nvPr/>
        </p:nvSpPr>
        <p:spPr bwMode="auto">
          <a:xfrm flipH="1">
            <a:off x="4349751" y="2593976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8000"/>
                </a:solidFill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7426" name="TextBox 55"/>
          <p:cNvSpPr txBox="1">
            <a:spLocks noChangeArrowheads="1"/>
          </p:cNvSpPr>
          <p:nvPr/>
        </p:nvSpPr>
        <p:spPr bwMode="auto">
          <a:xfrm flipH="1">
            <a:off x="4349751" y="3808414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8000"/>
                </a:solidFill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17427" name="TextBox 56"/>
          <p:cNvSpPr txBox="1">
            <a:spLocks noChangeArrowheads="1"/>
          </p:cNvSpPr>
          <p:nvPr/>
        </p:nvSpPr>
        <p:spPr bwMode="auto">
          <a:xfrm flipH="1">
            <a:off x="4349751" y="4926014"/>
            <a:ext cx="5619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008000"/>
                </a:solidFill>
                <a:latin typeface="Times New Roman" panose="02020603050405020304" pitchFamily="18" charset="0"/>
              </a:rPr>
              <a:t>Yes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CF4B7D-BF83-376F-16BB-67CA5CABB419}"/>
              </a:ext>
            </a:extLst>
          </p:cNvPr>
          <p:cNvSpPr/>
          <p:nvPr/>
        </p:nvSpPr>
        <p:spPr bwMode="auto">
          <a:xfrm>
            <a:off x="2336007" y="4200317"/>
            <a:ext cx="4027488" cy="7572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Does the buyer have the right to pledge or sell the receivables?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9590B-F430-9BBD-F50D-1C188E40D7C3}"/>
              </a:ext>
            </a:extLst>
          </p:cNvPr>
          <p:cNvSpPr/>
          <p:nvPr/>
        </p:nvSpPr>
        <p:spPr bwMode="auto">
          <a:xfrm>
            <a:off x="2301875" y="2973389"/>
            <a:ext cx="4027488" cy="8350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Does the seller give up effective control over the receivables?</a:t>
            </a:r>
            <a:endParaRPr lang="en-US" dirty="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48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6" grpId="0"/>
      <p:bldP spid="47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F2A-3FFD-4FFE-8317-1E11D07E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 of Receivables (Factoring)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76E3DD-E41B-4091-888C-0A19A4DDE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880" y="1710575"/>
            <a:ext cx="92297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03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639D-1BC0-4AF8-AD6D-34C85FE2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Entry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37CE-5F1A-449E-AEC3-DCC8C6F6F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Harvey Company sells its $80,000 of receivables and is charged a </a:t>
            </a:r>
            <a:r>
              <a:rPr lang="en-US" dirty="0">
                <a:solidFill>
                  <a:srgbClr val="00B050"/>
                </a:solidFill>
              </a:rPr>
              <a:t>5% factoring fee</a:t>
            </a:r>
            <a:r>
              <a:rPr lang="en-US" dirty="0"/>
              <a:t>. Record the journal entry.</a:t>
            </a:r>
          </a:p>
          <a:p>
            <a:pPr marL="0" indent="0">
              <a:buNone/>
            </a:pPr>
            <a:endParaRPr lang="en-US" altLang="en-US" sz="2400" b="1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Factoring Fee </a:t>
            </a:r>
            <a:r>
              <a:rPr lang="en-US" altLang="en-US" sz="2400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2400" b="1" dirty="0">
                <a:solidFill>
                  <a:srgbClr val="000000"/>
                </a:solidFill>
              </a:rPr>
              <a:t>Loss on Sale of A/R </a:t>
            </a:r>
            <a:r>
              <a:rPr lang="en-US" altLang="en-US" sz="2400" dirty="0">
                <a:solidFill>
                  <a:srgbClr val="000000"/>
                </a:solidFill>
              </a:rPr>
              <a:t>= 80,000 * 5% = 4,000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Dr. Cash (B-A)					76,000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Dr. Loss on Sale of AR (I-E)</a:t>
            </a:r>
            <a:r>
              <a:rPr lang="en-US" dirty="0">
                <a:solidFill>
                  <a:srgbClr val="FF0000"/>
                </a:solidFill>
              </a:rPr>
              <a:t>			4,000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	Accounts Receivable (B-A)		80,000</a:t>
            </a:r>
          </a:p>
        </p:txBody>
      </p:sp>
    </p:spTree>
    <p:extLst>
      <p:ext uri="{BB962C8B-B14F-4D97-AF65-F5344CB8AC3E}">
        <p14:creationId xmlns:p14="http://schemas.microsoft.com/office/powerpoint/2010/main" val="2168469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842D3-CD82-4444-860D-8F0F5BDF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considerations: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45434-0DF3-4447-90D0-66EB008A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Recourse: </a:t>
            </a:r>
            <a:r>
              <a:rPr lang="en-US" dirty="0"/>
              <a:t>The Seller guarantees that all of the receivables will be collectible.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Hold Back: </a:t>
            </a:r>
            <a:r>
              <a:rPr lang="en-US" dirty="0"/>
              <a:t>The Buyer keeps some cash until receivables are collected, then pays the seller the remaining balance.</a:t>
            </a:r>
          </a:p>
        </p:txBody>
      </p:sp>
    </p:spTree>
    <p:extLst>
      <p:ext uri="{BB962C8B-B14F-4D97-AF65-F5344CB8AC3E}">
        <p14:creationId xmlns:p14="http://schemas.microsoft.com/office/powerpoint/2010/main" val="175451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What does recourse mean?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5CDF6A-6DB7-4251-BC56-2A1188097327}"/>
              </a:ext>
            </a:extLst>
          </p:cNvPr>
          <p:cNvSpPr/>
          <p:nvPr/>
        </p:nvSpPr>
        <p:spPr bwMode="auto">
          <a:xfrm>
            <a:off x="1449126" y="2290764"/>
            <a:ext cx="3490913" cy="4022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4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8B3734-9912-497A-8366-75E71DAD587D}"/>
              </a:ext>
            </a:extLst>
          </p:cNvPr>
          <p:cNvSpPr/>
          <p:nvPr/>
        </p:nvSpPr>
        <p:spPr bwMode="auto">
          <a:xfrm>
            <a:off x="6096000" y="2290726"/>
            <a:ext cx="3490913" cy="4022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>
              <a:defRPr/>
            </a:pPr>
            <a:endParaRPr lang="en-US" sz="40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651625" y="2417726"/>
            <a:ext cx="2378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 u="sng">
                <a:latin typeface="Times New Roman" panose="02020603050405020304" pitchFamily="18" charset="0"/>
              </a:rPr>
              <a:t>Sale without Recourse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174613" y="2417764"/>
            <a:ext cx="2057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800" b="1" u="sng">
                <a:latin typeface="Times New Roman" panose="02020603050405020304" pitchFamily="18" charset="0"/>
              </a:rPr>
              <a:t>Sale with Recourse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6472B-498A-4DB6-94A8-84505DEAFABF}"/>
              </a:ext>
            </a:extLst>
          </p:cNvPr>
          <p:cNvSpPr txBox="1"/>
          <p:nvPr/>
        </p:nvSpPr>
        <p:spPr>
          <a:xfrm>
            <a:off x="6096000" y="2897150"/>
            <a:ext cx="3490913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u="sng" dirty="0"/>
              <a:t>Buyer</a:t>
            </a:r>
            <a:r>
              <a:rPr lang="en-US" dirty="0"/>
              <a:t> assumes risk of uncollectible amounts and subsequent losses.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u="sng" dirty="0"/>
              <a:t>Seller</a:t>
            </a:r>
            <a:r>
              <a:rPr lang="en-US" dirty="0"/>
              <a:t> removes receivable from balance sheet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Seller records gain or loss from sale (difference in proceeds and face value of receivable)</a:t>
            </a:r>
          </a:p>
          <a:p>
            <a:pPr marL="169863" indent="-169863"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449126" y="2897188"/>
            <a:ext cx="3576166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800" u="sng" dirty="0">
                <a:latin typeface="+mn-lt"/>
              </a:rPr>
              <a:t>Seller</a:t>
            </a:r>
            <a:r>
              <a:rPr lang="en-US" altLang="en-US" sz="1800" dirty="0">
                <a:latin typeface="+mn-lt"/>
              </a:rPr>
              <a:t> assumes risk of uncollectible amounts and subsequent losses. </a:t>
            </a:r>
          </a:p>
          <a:p>
            <a:pPr>
              <a:spcBef>
                <a:spcPct val="0"/>
              </a:spcBef>
            </a:pPr>
            <a:endParaRPr lang="en-US" altLang="en-US" sz="1800" dirty="0">
              <a:latin typeface="+mn-lt"/>
            </a:endParaRPr>
          </a:p>
          <a:p>
            <a:pPr>
              <a:spcBef>
                <a:spcPct val="0"/>
              </a:spcBef>
            </a:pPr>
            <a:r>
              <a:rPr lang="en-US" altLang="en-US" sz="1800" u="sng" dirty="0">
                <a:latin typeface="+mn-lt"/>
              </a:rPr>
              <a:t>Seller</a:t>
            </a:r>
            <a:r>
              <a:rPr lang="en-US" altLang="en-US" sz="1800" dirty="0">
                <a:latin typeface="+mn-lt"/>
              </a:rPr>
              <a:t> removes receivable from balance sheet </a:t>
            </a:r>
          </a:p>
          <a:p>
            <a:pPr>
              <a:spcBef>
                <a:spcPct val="0"/>
              </a:spcBef>
            </a:pPr>
            <a:endParaRPr lang="en-US" altLang="en-US" sz="1800" dirty="0">
              <a:latin typeface="+mn-lt"/>
            </a:endParaRPr>
          </a:p>
          <a:p>
            <a:pPr>
              <a:spcBef>
                <a:spcPct val="0"/>
              </a:spcBef>
            </a:pPr>
            <a:r>
              <a:rPr lang="en-US" altLang="en-US" sz="1800" u="sng" dirty="0">
                <a:latin typeface="+mn-lt"/>
              </a:rPr>
              <a:t>Seller</a:t>
            </a:r>
            <a:r>
              <a:rPr lang="en-US" altLang="en-US" sz="1800" dirty="0">
                <a:latin typeface="+mn-lt"/>
              </a:rPr>
              <a:t> records </a:t>
            </a:r>
            <a:r>
              <a:rPr lang="en-US" altLang="en-US" sz="1800" b="1" dirty="0">
                <a:latin typeface="+mn-lt"/>
              </a:rPr>
              <a:t>additional</a:t>
            </a:r>
            <a:r>
              <a:rPr lang="en-US" altLang="en-US" sz="1800" dirty="0">
                <a:latin typeface="+mn-lt"/>
              </a:rPr>
              <a:t> loss from sale </a:t>
            </a:r>
            <a:r>
              <a:rPr lang="en-US" altLang="en-US" sz="1800" b="1" dirty="0">
                <a:latin typeface="+mn-lt"/>
              </a:rPr>
              <a:t>&amp;</a:t>
            </a:r>
            <a:r>
              <a:rPr lang="en-US" altLang="en-US" sz="1800" dirty="0">
                <a:latin typeface="+mn-lt"/>
              </a:rPr>
              <a:t> establishes a liability for the uncollectible amount</a:t>
            </a:r>
          </a:p>
        </p:txBody>
      </p:sp>
      <p:sp>
        <p:nvSpPr>
          <p:cNvPr id="19465" name="TextBox 9"/>
          <p:cNvSpPr txBox="1">
            <a:spLocks noChangeArrowheads="1"/>
          </p:cNvSpPr>
          <p:nvPr/>
        </p:nvSpPr>
        <p:spPr bwMode="auto">
          <a:xfrm>
            <a:off x="838200" y="1546225"/>
            <a:ext cx="96551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latin typeface="Times New Roman" panose="02020603050405020304" pitchFamily="18" charset="0"/>
              </a:rPr>
              <a:t>Recourse</a:t>
            </a:r>
            <a:r>
              <a:rPr lang="en-US" altLang="en-US" sz="2000" b="1" dirty="0">
                <a:latin typeface="Times New Roman" panose="02020603050405020304" pitchFamily="18" charset="0"/>
              </a:rPr>
              <a:t>:</a:t>
            </a:r>
            <a:r>
              <a:rPr lang="en-US" altLang="en-US" sz="2000" dirty="0">
                <a:latin typeface="Times New Roman" panose="02020603050405020304" pitchFamily="18" charset="0"/>
              </a:rPr>
              <a:t> When the seller </a:t>
            </a:r>
            <a:r>
              <a:rPr lang="en-US" altLang="en-US" sz="2000" i="1" dirty="0">
                <a:latin typeface="Times New Roman" panose="02020603050405020304" pitchFamily="18" charset="0"/>
              </a:rPr>
              <a:t>guarantees</a:t>
            </a:r>
            <a:r>
              <a:rPr lang="en-US" altLang="en-US" sz="2000" dirty="0">
                <a:latin typeface="Times New Roman" panose="02020603050405020304" pitchFamily="18" charset="0"/>
              </a:rPr>
              <a:t> that all or part of receivables can be collected. </a:t>
            </a:r>
          </a:p>
        </p:txBody>
      </p:sp>
    </p:spTree>
    <p:extLst>
      <p:ext uri="{BB962C8B-B14F-4D97-AF65-F5344CB8AC3E}">
        <p14:creationId xmlns:p14="http://schemas.microsoft.com/office/powerpoint/2010/main" val="403535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  <p:bldP spid="7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18147" y="533736"/>
            <a:ext cx="9392653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Sale </a:t>
            </a:r>
            <a:r>
              <a:rPr lang="en-US" altLang="en-US" sz="4000" u="sng" dirty="0">
                <a:solidFill>
                  <a:srgbClr val="0070C0"/>
                </a:solidFill>
              </a:rPr>
              <a:t>with</a:t>
            </a:r>
            <a:r>
              <a:rPr lang="en-US" altLang="en-US" sz="4000" dirty="0">
                <a:solidFill>
                  <a:srgbClr val="0070C0"/>
                </a:solidFill>
              </a:rPr>
              <a:t> </a:t>
            </a:r>
            <a:r>
              <a:rPr lang="en-US" altLang="en-US" sz="4000" dirty="0"/>
              <a:t>recourse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F91E4C8-4027-48F5-B9F5-31955D329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4" y="1454151"/>
            <a:ext cx="10072221" cy="4957763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</a:tabLst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If customers default…seller makes buyer whole</a:t>
            </a:r>
            <a:r>
              <a:rPr lang="en-US" altLang="en-US" sz="2000" dirty="0">
                <a:solidFill>
                  <a:srgbClr val="FF0000"/>
                </a:solidFill>
              </a:rPr>
              <a:t>.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</a:tabLst>
              <a:defRPr/>
            </a:pPr>
            <a:endParaRPr lang="en-US" altLang="en-US" sz="1100" dirty="0"/>
          </a:p>
          <a:p>
            <a:pPr marL="3175" indent="4763">
              <a:lnSpc>
                <a:spcPct val="120000"/>
              </a:lnSpc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r>
              <a:rPr lang="en-US" altLang="en-US" sz="2000" dirty="0"/>
              <a:t>Harvey sells $80,000 of its customer receivables to Leslie </a:t>
            </a:r>
            <a:r>
              <a:rPr lang="en-US" altLang="en-US" sz="2000" u="sng" dirty="0">
                <a:solidFill>
                  <a:srgbClr val="00B050"/>
                </a:solidFill>
              </a:rPr>
              <a:t>with recourse</a:t>
            </a:r>
            <a:r>
              <a:rPr lang="en-US" altLang="en-US" sz="2000" dirty="0"/>
              <a:t>. Leslie charges a 5% factoring fee for this service. </a:t>
            </a:r>
            <a:r>
              <a:rPr lang="en-US" altLang="en-US" sz="2000" u="sng" dirty="0"/>
              <a:t>It is determined that the recourse obligation related to default risks has a </a:t>
            </a:r>
            <a:r>
              <a:rPr lang="en-US" altLang="en-US" sz="2000" u="sng" dirty="0">
                <a:solidFill>
                  <a:srgbClr val="00B050"/>
                </a:solidFill>
              </a:rPr>
              <a:t>fair value of $3,200</a:t>
            </a:r>
            <a:r>
              <a:rPr lang="en-US" altLang="en-US" sz="2000" dirty="0"/>
              <a:t>.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endParaRPr lang="en-US" altLang="en-US" sz="800" dirty="0"/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b="1" dirty="0">
                <a:solidFill>
                  <a:srgbClr val="000000"/>
                </a:solidFill>
              </a:rPr>
              <a:t>Factoring Fee </a:t>
            </a:r>
            <a:r>
              <a:rPr lang="en-US" altLang="en-US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b="1" dirty="0">
                <a:solidFill>
                  <a:srgbClr val="000000"/>
                </a:solidFill>
              </a:rPr>
              <a:t>Loss on Sale of A/R:</a:t>
            </a:r>
            <a:r>
              <a:rPr lang="en-US" altLang="en-US" sz="1800" dirty="0">
                <a:solidFill>
                  <a:srgbClr val="000000"/>
                </a:solidFill>
              </a:rPr>
              <a:t> 80,000 * 5% = $4,000  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b="1" dirty="0">
                <a:solidFill>
                  <a:srgbClr val="000000"/>
                </a:solidFill>
              </a:rPr>
              <a:t>PLUS Additional loss on Sale: </a:t>
            </a:r>
            <a:r>
              <a:rPr lang="en-US" altLang="en-US" sz="1800" dirty="0">
                <a:solidFill>
                  <a:srgbClr val="000000"/>
                </a:solidFill>
              </a:rPr>
              <a:t>$3,200 (For the Recourse </a:t>
            </a:r>
            <a:r>
              <a:rPr lang="en-US" altLang="en-US" sz="18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dirty="0">
                <a:solidFill>
                  <a:srgbClr val="000000"/>
                </a:solidFill>
              </a:rPr>
              <a:t>ALSO Record LIABILITY)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dirty="0">
                <a:solidFill>
                  <a:srgbClr val="000000"/>
                </a:solidFill>
                <a:sym typeface="Wingdings" panose="05000000000000000000" pitchFamily="2" charset="2"/>
              </a:rPr>
              <a:t>= $</a:t>
            </a:r>
            <a:r>
              <a:rPr lang="en-US" altLang="en-US" sz="1800" b="1" dirty="0">
                <a:solidFill>
                  <a:srgbClr val="000000"/>
                </a:solidFill>
              </a:rPr>
              <a:t>7,200 Loss on Sale of A/R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  <a:tab pos="7089775" algn="r"/>
              </a:tabLst>
              <a:defRPr/>
            </a:pPr>
            <a:r>
              <a:rPr lang="en-US" altLang="en-US" sz="1800" dirty="0">
                <a:solidFill>
                  <a:srgbClr val="000000"/>
                </a:solidFill>
              </a:rPr>
              <a:t>				</a:t>
            </a:r>
            <a:endParaRPr lang="en-US" altLang="en-US" sz="800" dirty="0"/>
          </a:p>
          <a:p>
            <a:pPr marL="3175" indent="4763">
              <a:buNone/>
              <a:tabLst>
                <a:tab pos="914400" algn="l"/>
                <a:tab pos="4343400" algn="dec"/>
                <a:tab pos="6169025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Dr. Cash	 (B-A)		76,000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6169025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Dr. Loss on Sale of AR (I-E)		7,200		</a:t>
            </a:r>
          </a:p>
          <a:p>
            <a:pPr marL="747713" lvl="1">
              <a:buNone/>
              <a:tabLst>
                <a:tab pos="914400" algn="l"/>
                <a:tab pos="4343400" algn="dec"/>
                <a:tab pos="6973888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Cr. Accounts Receivable (B-A)		80,000</a:t>
            </a:r>
          </a:p>
          <a:p>
            <a:pPr marL="747713" lvl="1">
              <a:buNone/>
              <a:tabLst>
                <a:tab pos="914400" algn="l"/>
                <a:tab pos="4343400" algn="dec"/>
                <a:tab pos="6973888" algn="r"/>
                <a:tab pos="7089775" algn="r"/>
              </a:tabLst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Cr. Recourse Liability (B-L)</a:t>
            </a:r>
            <a:r>
              <a:rPr lang="en-US" altLang="en-US" sz="1800" dirty="0">
                <a:solidFill>
                  <a:srgbClr val="C00000"/>
                </a:solidFill>
              </a:rPr>
              <a:t>		3,200	</a:t>
            </a:r>
          </a:p>
          <a:p>
            <a:pPr marL="747713" lvl="1"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endParaRPr lang="en-US" altLang="en-US" sz="1800" dirty="0">
              <a:solidFill>
                <a:srgbClr val="C00000"/>
              </a:solidFill>
            </a:endParaRPr>
          </a:p>
          <a:p>
            <a:pPr marL="747713" lvl="1"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endParaRPr lang="en-US" alt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1BFD40-09BF-FE3F-A2F5-EDD60E328144}"/>
              </a:ext>
            </a:extLst>
          </p:cNvPr>
          <p:cNvSpPr txBox="1"/>
          <p:nvPr/>
        </p:nvSpPr>
        <p:spPr>
          <a:xfrm>
            <a:off x="9036050" y="5313945"/>
            <a:ext cx="2146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$4,000 + $3,200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4EBD495-6273-F68D-FB68-6DF0C14ABA5E}"/>
              </a:ext>
            </a:extLst>
          </p:cNvPr>
          <p:cNvCxnSpPr/>
          <p:nvPr/>
        </p:nvCxnSpPr>
        <p:spPr>
          <a:xfrm flipH="1">
            <a:off x="7359650" y="5498780"/>
            <a:ext cx="1676400" cy="0"/>
          </a:xfrm>
          <a:prstGeom prst="straightConnector1">
            <a:avLst/>
          </a:prstGeom>
          <a:ln w="9525">
            <a:solidFill>
              <a:srgbClr val="0070C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71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429F-6D83-47D8-84A6-5BF3726F9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Hold 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773A0-ABFB-4467-917F-D338FBAAB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What does it mean for a buyer to hold back cash?</a:t>
            </a:r>
          </a:p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buyer</a:t>
            </a:r>
            <a:r>
              <a:rPr lang="en-US" dirty="0"/>
              <a:t> can hold back some of the cash proceeds to cover adjustments to receivables, like sales discounts or sales returns.</a:t>
            </a:r>
          </a:p>
          <a:p>
            <a:r>
              <a:rPr lang="en-US" dirty="0"/>
              <a:t>Buyer will release cash later to seller less the adjustments.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Accounting:</a:t>
            </a:r>
          </a:p>
          <a:p>
            <a:r>
              <a:rPr lang="en-US" dirty="0"/>
              <a:t>Cash received is reduced by the amount held back. “Holdback”</a:t>
            </a:r>
          </a:p>
          <a:p>
            <a:r>
              <a:rPr lang="en-US" dirty="0"/>
              <a:t>Seller records a receivable from the buyer for the held back amount.</a:t>
            </a:r>
          </a:p>
        </p:txBody>
      </p:sp>
    </p:spTree>
    <p:extLst>
      <p:ext uri="{BB962C8B-B14F-4D97-AF65-F5344CB8AC3E}">
        <p14:creationId xmlns:p14="http://schemas.microsoft.com/office/powerpoint/2010/main" val="423013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18147" y="533736"/>
            <a:ext cx="9392653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Sale </a:t>
            </a:r>
            <a:r>
              <a:rPr lang="en-US" altLang="en-US" sz="4000" u="sng" dirty="0">
                <a:solidFill>
                  <a:srgbClr val="0070C0"/>
                </a:solidFill>
              </a:rPr>
              <a:t>with</a:t>
            </a:r>
            <a:r>
              <a:rPr lang="en-US" altLang="en-US" sz="4000" dirty="0">
                <a:solidFill>
                  <a:srgbClr val="0070C0"/>
                </a:solidFill>
              </a:rPr>
              <a:t> </a:t>
            </a:r>
            <a:r>
              <a:rPr lang="en-US" altLang="en-US" sz="4000" dirty="0"/>
              <a:t>recourse + hold backs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F91E4C8-4027-48F5-B9F5-31955D329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5" y="1454151"/>
            <a:ext cx="9620150" cy="495776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</a:tabLst>
              <a:defRPr/>
            </a:pPr>
            <a:r>
              <a:rPr lang="en-US" altLang="en-US" sz="2000" dirty="0">
                <a:solidFill>
                  <a:srgbClr val="C00000"/>
                </a:solidFill>
              </a:rPr>
              <a:t>If customers default…seller makes buyer whole</a:t>
            </a:r>
            <a:r>
              <a:rPr lang="en-US" altLang="en-US" sz="2000" dirty="0">
                <a:solidFill>
                  <a:srgbClr val="FF0000"/>
                </a:solidFill>
              </a:rPr>
              <a:t>.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</a:tabLst>
              <a:defRPr/>
            </a:pPr>
            <a:endParaRPr lang="en-US" altLang="en-US" sz="1100" dirty="0"/>
          </a:p>
          <a:p>
            <a:pPr marL="3175" indent="4763">
              <a:lnSpc>
                <a:spcPct val="120000"/>
              </a:lnSpc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r>
              <a:rPr lang="en-US" altLang="en-US" sz="2000" dirty="0"/>
              <a:t>Harvey sells $80,000 of its customer receivables to Leslie </a:t>
            </a:r>
            <a:r>
              <a:rPr lang="en-US" altLang="en-US" sz="2000" u="sng" dirty="0"/>
              <a:t>with recourse</a:t>
            </a:r>
            <a:r>
              <a:rPr lang="en-US" altLang="en-US" sz="2000" dirty="0"/>
              <a:t>. Leslie charges a 5% factoring fee for this service and </a:t>
            </a:r>
            <a:r>
              <a:rPr lang="en-US" altLang="en-US" sz="2000" dirty="0">
                <a:solidFill>
                  <a:srgbClr val="00B050"/>
                </a:solidFill>
              </a:rPr>
              <a:t>retains 3% in case of sales returns </a:t>
            </a:r>
            <a:r>
              <a:rPr lang="en-US" altLang="en-US" sz="2000" dirty="0"/>
              <a:t>and discounts. </a:t>
            </a:r>
            <a:r>
              <a:rPr lang="en-US" altLang="en-US" sz="2000" u="sng" dirty="0"/>
              <a:t>It is determined that the recourse obligation related to default risks has a fair value of $3,200</a:t>
            </a:r>
            <a:r>
              <a:rPr lang="en-US" altLang="en-US" sz="2000" dirty="0"/>
              <a:t>.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endParaRPr lang="en-US" altLang="en-US" sz="800" dirty="0"/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b="1" dirty="0">
                <a:solidFill>
                  <a:srgbClr val="000000"/>
                </a:solidFill>
              </a:rPr>
              <a:t>Factoring Fee </a:t>
            </a:r>
            <a:r>
              <a:rPr lang="en-US" altLang="en-US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b="1" dirty="0">
                <a:solidFill>
                  <a:srgbClr val="000000"/>
                </a:solidFill>
              </a:rPr>
              <a:t>Loss on Sale of A/R:</a:t>
            </a:r>
            <a:r>
              <a:rPr lang="en-US" altLang="en-US" sz="1800" dirty="0">
                <a:solidFill>
                  <a:srgbClr val="000000"/>
                </a:solidFill>
              </a:rPr>
              <a:t> 80,000 * 5% = $4,000  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b="1" dirty="0">
                <a:solidFill>
                  <a:srgbClr val="000000"/>
                </a:solidFill>
              </a:rPr>
              <a:t>PLUS Additional loss on Sale: </a:t>
            </a:r>
            <a:r>
              <a:rPr lang="en-US" altLang="en-US" sz="1800" dirty="0">
                <a:solidFill>
                  <a:srgbClr val="000000"/>
                </a:solidFill>
              </a:rPr>
              <a:t>$3,200 (For the Recourse </a:t>
            </a:r>
            <a:r>
              <a:rPr lang="en-US" altLang="en-US" sz="1800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dirty="0">
                <a:solidFill>
                  <a:srgbClr val="000000"/>
                </a:solidFill>
              </a:rPr>
              <a:t>ALSO Record LIABILITY)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1800" dirty="0">
                <a:solidFill>
                  <a:srgbClr val="000000"/>
                </a:solidFill>
                <a:sym typeface="Wingdings" panose="05000000000000000000" pitchFamily="2" charset="2"/>
              </a:rPr>
              <a:t>= $</a:t>
            </a:r>
            <a:r>
              <a:rPr lang="en-US" altLang="en-US" sz="1800" b="1" dirty="0">
                <a:solidFill>
                  <a:srgbClr val="000000"/>
                </a:solidFill>
              </a:rPr>
              <a:t>7,200 Loss on Sale of A/R</a:t>
            </a:r>
          </a:p>
          <a:p>
            <a:pPr marL="0" indent="0">
              <a:lnSpc>
                <a:spcPct val="80000"/>
              </a:lnSpc>
              <a:buNone/>
              <a:tabLst>
                <a:tab pos="2403475" algn="l"/>
                <a:tab pos="4514850" algn="l"/>
                <a:tab pos="7089775" algn="r"/>
              </a:tabLst>
              <a:defRPr/>
            </a:pPr>
            <a:r>
              <a:rPr lang="en-US" altLang="en-US" sz="1800" b="1" dirty="0">
                <a:solidFill>
                  <a:srgbClr val="000000"/>
                </a:solidFill>
              </a:rPr>
              <a:t>Holdback </a:t>
            </a:r>
            <a:r>
              <a:rPr lang="en-US" altLang="en-US" sz="1800" b="1" dirty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en-US" altLang="en-US" sz="1800" b="1" dirty="0">
                <a:solidFill>
                  <a:srgbClr val="000000"/>
                </a:solidFill>
              </a:rPr>
              <a:t>Receivable from Factor:</a:t>
            </a:r>
            <a:r>
              <a:rPr lang="en-US" altLang="en-US" sz="1800" dirty="0">
                <a:solidFill>
                  <a:srgbClr val="000000"/>
                </a:solidFill>
              </a:rPr>
              <a:t> 80,000 * 3%  = </a:t>
            </a:r>
            <a:r>
              <a:rPr lang="en-US" altLang="en-US" sz="1800">
                <a:solidFill>
                  <a:srgbClr val="000000"/>
                </a:solidFill>
              </a:rPr>
              <a:t>2,400 (They “Holdback” </a:t>
            </a:r>
            <a:r>
              <a:rPr lang="en-US" altLang="en-US" sz="1800" dirty="0">
                <a:solidFill>
                  <a:srgbClr val="000000"/>
                </a:solidFill>
              </a:rPr>
              <a:t>some cash)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  <a:tab pos="7089775" algn="r"/>
              </a:tabLst>
              <a:defRPr/>
            </a:pPr>
            <a:r>
              <a:rPr lang="en-US" altLang="en-US" sz="1800" dirty="0">
                <a:solidFill>
                  <a:srgbClr val="000000"/>
                </a:solidFill>
              </a:rPr>
              <a:t>				</a:t>
            </a:r>
            <a:endParaRPr lang="en-US" altLang="en-US" sz="800" dirty="0"/>
          </a:p>
          <a:p>
            <a:pPr marL="3175" indent="4763">
              <a:buNone/>
              <a:tabLst>
                <a:tab pos="914400" algn="l"/>
                <a:tab pos="4343400" algn="dec"/>
                <a:tab pos="6169025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Dr. Cash	 (B-A)		73,600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6169025" algn="r"/>
              </a:tabLst>
              <a:defRPr/>
            </a:pPr>
            <a:r>
              <a:rPr lang="en-US" altLang="en-US" sz="1800" dirty="0">
                <a:solidFill>
                  <a:srgbClr val="00B050"/>
                </a:solidFill>
              </a:rPr>
              <a:t>Dr. Receivable from Factor (B-A)</a:t>
            </a:r>
            <a:r>
              <a:rPr lang="en-US" altLang="en-US" sz="1800" dirty="0">
                <a:solidFill>
                  <a:srgbClr val="C00000"/>
                </a:solidFill>
              </a:rPr>
              <a:t>		2,400 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6169025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Dr. Loss on Sale of AR (I-E)		7,200		</a:t>
            </a:r>
          </a:p>
          <a:p>
            <a:pPr marL="747713" lvl="1">
              <a:buNone/>
              <a:tabLst>
                <a:tab pos="914400" algn="l"/>
                <a:tab pos="4343400" algn="dec"/>
                <a:tab pos="6973888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Cr. Accounts Receivable (B-A)		80,000</a:t>
            </a:r>
          </a:p>
          <a:p>
            <a:pPr marL="747713" lvl="1">
              <a:buNone/>
              <a:tabLst>
                <a:tab pos="914400" algn="l"/>
                <a:tab pos="4343400" algn="dec"/>
                <a:tab pos="6973888" algn="r"/>
                <a:tab pos="7089775" algn="r"/>
              </a:tabLst>
              <a:defRPr/>
            </a:pPr>
            <a:r>
              <a:rPr lang="en-US" altLang="en-US" sz="1800" dirty="0">
                <a:solidFill>
                  <a:srgbClr val="C00000"/>
                </a:solidFill>
              </a:rPr>
              <a:t>Cr. Recourse Liability (B-L)		3,200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FADFE7-FFF2-7F84-FB0B-87C7B4685484}"/>
              </a:ext>
            </a:extLst>
          </p:cNvPr>
          <p:cNvSpPr txBox="1"/>
          <p:nvPr/>
        </p:nvSpPr>
        <p:spPr>
          <a:xfrm>
            <a:off x="8937625" y="4717061"/>
            <a:ext cx="2444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3% of cash gets “held back” and may be received later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3F33833-F004-C792-CAAE-07AD08259059}"/>
              </a:ext>
            </a:extLst>
          </p:cNvPr>
          <p:cNvCxnSpPr/>
          <p:nvPr/>
        </p:nvCxnSpPr>
        <p:spPr>
          <a:xfrm flipH="1">
            <a:off x="7350126" y="5003496"/>
            <a:ext cx="1676400" cy="0"/>
          </a:xfrm>
          <a:prstGeom prst="straightConnector1">
            <a:avLst/>
          </a:prstGeom>
          <a:ln w="9525">
            <a:solidFill>
              <a:srgbClr val="0070C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D7E666-CFBD-E477-D918-ED79CA9C8A18}"/>
              </a:ext>
            </a:extLst>
          </p:cNvPr>
          <p:cNvCxnSpPr/>
          <p:nvPr/>
        </p:nvCxnSpPr>
        <p:spPr>
          <a:xfrm flipH="1">
            <a:off x="7350126" y="5003496"/>
            <a:ext cx="1676400" cy="334872"/>
          </a:xfrm>
          <a:prstGeom prst="straightConnector1">
            <a:avLst/>
          </a:prstGeom>
          <a:ln w="9525">
            <a:solidFill>
              <a:srgbClr val="0070C0"/>
            </a:solidFill>
            <a:headEnd type="none"/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951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18147" y="533736"/>
            <a:ext cx="9392653" cy="792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Summary of Considerations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6F91E4C8-4027-48F5-B9F5-31955D3298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454151"/>
            <a:ext cx="11163300" cy="4957763"/>
          </a:xfrm>
        </p:spPr>
        <p:txBody>
          <a:bodyPr>
            <a:normAutofit/>
          </a:bodyPr>
          <a:lstStyle/>
          <a:p>
            <a:pPr marL="3175" indent="4763">
              <a:lnSpc>
                <a:spcPct val="120000"/>
              </a:lnSpc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r>
              <a:rPr lang="en-US" altLang="en-US" sz="2200" dirty="0"/>
              <a:t>Harvey sells $80,000 of its customer receivables to Leslie </a:t>
            </a:r>
            <a:r>
              <a:rPr lang="en-US" altLang="en-US" sz="2200" u="sng" dirty="0"/>
              <a:t>with recourse</a:t>
            </a:r>
            <a:r>
              <a:rPr lang="en-US" altLang="en-US" sz="2200" dirty="0"/>
              <a:t>. Leslie charges a 5% factoring fee for this service and </a:t>
            </a:r>
            <a:r>
              <a:rPr lang="en-US" altLang="en-US" sz="2200" dirty="0">
                <a:solidFill>
                  <a:srgbClr val="00B050"/>
                </a:solidFill>
              </a:rPr>
              <a:t>retains 3% in case of sales returns </a:t>
            </a:r>
            <a:r>
              <a:rPr lang="en-US" altLang="en-US" sz="2200" dirty="0"/>
              <a:t>and discounts. </a:t>
            </a:r>
            <a:r>
              <a:rPr lang="en-US" altLang="en-US" sz="2200" u="sng" dirty="0"/>
              <a:t>It is determined that the recourse obligation related to default risks has a fair value of $3,200</a:t>
            </a:r>
            <a:r>
              <a:rPr lang="en-US" altLang="en-US" sz="2200" dirty="0"/>
              <a:t>.</a:t>
            </a:r>
          </a:p>
          <a:p>
            <a:pPr marL="3175" indent="4763">
              <a:buNone/>
              <a:tabLst>
                <a:tab pos="914400" algn="l"/>
                <a:tab pos="4343400" algn="dec"/>
                <a:tab pos="5148263" algn="dec"/>
              </a:tabLst>
              <a:defRPr/>
            </a:pPr>
            <a:endParaRPr lang="en-US" altLang="en-US" sz="800" dirty="0"/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2200" b="1" dirty="0">
                <a:solidFill>
                  <a:srgbClr val="000000"/>
                </a:solidFill>
              </a:rPr>
              <a:t>ALWAYS write off all A/R: Cr A/R</a:t>
            </a: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2200" b="1" dirty="0">
                <a:solidFill>
                  <a:srgbClr val="000000"/>
                </a:solidFill>
              </a:rPr>
              <a:t>Factoring Fee </a:t>
            </a:r>
            <a:r>
              <a:rPr lang="en-US" altLang="en-US" sz="2200" b="1" dirty="0">
                <a:solidFill>
                  <a:srgbClr val="000000"/>
                </a:solidFill>
                <a:sym typeface="Wingdings" panose="05000000000000000000" pitchFamily="2" charset="2"/>
              </a:rPr>
              <a:t> Dr </a:t>
            </a:r>
            <a:r>
              <a:rPr lang="en-US" altLang="en-US" sz="2200" b="1" dirty="0">
                <a:solidFill>
                  <a:srgbClr val="000000"/>
                </a:solidFill>
              </a:rPr>
              <a:t>Loss on Sale of A/R</a:t>
            </a:r>
            <a:endParaRPr lang="en-US" altLang="en-US" sz="22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2400300" algn="l"/>
                <a:tab pos="4514850" algn="l"/>
                <a:tab pos="7086600" algn="r"/>
              </a:tabLst>
              <a:defRPr/>
            </a:pPr>
            <a:r>
              <a:rPr lang="en-US" altLang="en-US" sz="2200" b="1" dirty="0">
                <a:solidFill>
                  <a:srgbClr val="000000"/>
                </a:solidFill>
              </a:rPr>
              <a:t>“With Recourse” </a:t>
            </a:r>
            <a:r>
              <a:rPr lang="en-US" altLang="en-US" sz="2200" b="1" dirty="0">
                <a:solidFill>
                  <a:srgbClr val="000000"/>
                </a:solidFill>
                <a:sym typeface="Wingdings" panose="05000000000000000000" pitchFamily="2" charset="2"/>
              </a:rPr>
              <a:t> Dr </a:t>
            </a:r>
            <a:r>
              <a:rPr lang="en-US" altLang="en-US" sz="2200" b="1" dirty="0">
                <a:solidFill>
                  <a:srgbClr val="000000"/>
                </a:solidFill>
              </a:rPr>
              <a:t>More Loss on Sale of AR </a:t>
            </a:r>
            <a:r>
              <a:rPr lang="en-US" altLang="en-US" sz="2200" b="1" u="sng" dirty="0">
                <a:solidFill>
                  <a:srgbClr val="FF0000"/>
                </a:solidFill>
              </a:rPr>
              <a:t>PLUS</a:t>
            </a:r>
            <a:r>
              <a:rPr lang="en-US" altLang="en-US" sz="2200" b="1" dirty="0">
                <a:solidFill>
                  <a:srgbClr val="000000"/>
                </a:solidFill>
              </a:rPr>
              <a:t> Cr Recourse Liability Entry</a:t>
            </a:r>
            <a:endParaRPr lang="en-US" altLang="en-US" sz="22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buNone/>
              <a:tabLst>
                <a:tab pos="2403475" algn="l"/>
                <a:tab pos="4514850" algn="l"/>
                <a:tab pos="7089775" algn="r"/>
              </a:tabLst>
              <a:defRPr/>
            </a:pPr>
            <a:r>
              <a:rPr lang="en-US" altLang="en-US" sz="2200" b="1" dirty="0">
                <a:solidFill>
                  <a:srgbClr val="000000"/>
                </a:solidFill>
              </a:rPr>
              <a:t>“Holdback” </a:t>
            </a:r>
            <a:r>
              <a:rPr lang="en-US" altLang="en-US" sz="2200" b="1" dirty="0">
                <a:solidFill>
                  <a:srgbClr val="000000"/>
                </a:solidFill>
                <a:sym typeface="Wingdings" panose="05000000000000000000" pitchFamily="2" charset="2"/>
              </a:rPr>
              <a:t> Dr </a:t>
            </a:r>
            <a:r>
              <a:rPr lang="en-US" altLang="en-US" sz="2200" b="1" dirty="0">
                <a:solidFill>
                  <a:srgbClr val="000000"/>
                </a:solidFill>
              </a:rPr>
              <a:t>Receivable from Factor:</a:t>
            </a:r>
            <a:r>
              <a:rPr lang="en-US" altLang="en-US" sz="2200" dirty="0">
                <a:solidFill>
                  <a:srgbClr val="000000"/>
                </a:solidFill>
              </a:rPr>
              <a:t> Buyer (Factor) Holds back some cash</a:t>
            </a:r>
          </a:p>
          <a:p>
            <a:pPr marL="0" indent="0">
              <a:lnSpc>
                <a:spcPct val="80000"/>
              </a:lnSpc>
              <a:buNone/>
              <a:tabLst>
                <a:tab pos="2403475" algn="l"/>
                <a:tab pos="4514850" algn="l"/>
                <a:tab pos="7089775" algn="r"/>
              </a:tabLst>
              <a:defRPr/>
            </a:pPr>
            <a:r>
              <a:rPr lang="en-US" altLang="en-US" sz="2200" b="1" dirty="0">
                <a:solidFill>
                  <a:srgbClr val="000000"/>
                </a:solidFill>
              </a:rPr>
              <a:t>Finally, Plug a Dr Cash entry</a:t>
            </a:r>
          </a:p>
          <a:p>
            <a:pPr marL="0" indent="0">
              <a:lnSpc>
                <a:spcPct val="80000"/>
              </a:lnSpc>
              <a:buNone/>
              <a:tabLst>
                <a:tab pos="2403475" algn="l"/>
                <a:tab pos="4514850" algn="l"/>
                <a:tab pos="7089775" algn="r"/>
              </a:tabLst>
              <a:defRPr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buNone/>
              <a:tabLst>
                <a:tab pos="2403475" algn="l"/>
                <a:tab pos="4514850" algn="l"/>
                <a:tab pos="7089775" algn="r"/>
              </a:tabLst>
              <a:defRPr/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0" indent="0">
              <a:lnSpc>
                <a:spcPct val="80000"/>
              </a:lnSpc>
              <a:buNone/>
              <a:tabLst>
                <a:tab pos="1149350" algn="l"/>
                <a:tab pos="5264150" algn="dec"/>
                <a:tab pos="6234113" algn="dec"/>
                <a:tab pos="7089775" algn="r"/>
              </a:tabLst>
              <a:defRPr/>
            </a:pPr>
            <a:endParaRPr lang="en-US" altLang="en-US" sz="1800" dirty="0">
              <a:solidFill>
                <a:srgbClr val="C0000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F298E7-D76B-C8F8-44E1-6AEA41B05E1B}"/>
              </a:ext>
            </a:extLst>
          </p:cNvPr>
          <p:cNvSpPr/>
          <p:nvPr/>
        </p:nvSpPr>
        <p:spPr>
          <a:xfrm>
            <a:off x="2217420" y="1539240"/>
            <a:ext cx="449580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5FEB78-F8C2-01DA-643D-8DA1C1D763DA}"/>
              </a:ext>
            </a:extLst>
          </p:cNvPr>
          <p:cNvSpPr/>
          <p:nvPr/>
        </p:nvSpPr>
        <p:spPr>
          <a:xfrm>
            <a:off x="853792" y="1949433"/>
            <a:ext cx="2102416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182C70-7E46-7ECB-A843-CCA1BEBFB3C4}"/>
              </a:ext>
            </a:extLst>
          </p:cNvPr>
          <p:cNvSpPr/>
          <p:nvPr/>
        </p:nvSpPr>
        <p:spPr>
          <a:xfrm>
            <a:off x="7811376" y="1547753"/>
            <a:ext cx="1776248" cy="3253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D83CD37-AE7B-17F0-A9BC-7E11F90D4DBD}"/>
              </a:ext>
            </a:extLst>
          </p:cNvPr>
          <p:cNvSpPr/>
          <p:nvPr/>
        </p:nvSpPr>
        <p:spPr>
          <a:xfrm>
            <a:off x="5368592" y="1928862"/>
            <a:ext cx="4350064" cy="3253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4C99549-ADA6-B02F-93B0-27A7CADB4FA2}"/>
              </a:ext>
            </a:extLst>
          </p:cNvPr>
          <p:cNvSpPr/>
          <p:nvPr/>
        </p:nvSpPr>
        <p:spPr>
          <a:xfrm>
            <a:off x="3624488" y="2354295"/>
            <a:ext cx="2448652" cy="32537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2BE0DF-9BED-1A00-412F-44B96D2659C1}"/>
              </a:ext>
            </a:extLst>
          </p:cNvPr>
          <p:cNvSpPr/>
          <p:nvPr/>
        </p:nvSpPr>
        <p:spPr>
          <a:xfrm>
            <a:off x="571500" y="2749516"/>
            <a:ext cx="1051560" cy="3048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29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1515-EE49-425D-B9F0-221BC77B3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problem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F75F1-A25F-4A74-A790-70062F38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459" y="1342741"/>
            <a:ext cx="10515600" cy="4873124"/>
          </a:xfrm>
        </p:spPr>
        <p:txBody>
          <a:bodyPr>
            <a:normAutofit/>
          </a:bodyPr>
          <a:lstStyle/>
          <a:p>
            <a:pPr marL="285761" indent="-285750">
              <a:lnSpc>
                <a:spcPct val="107000"/>
              </a:lnSpc>
              <a:spcBef>
                <a:spcPts val="0"/>
              </a:spcBef>
              <a:spcAft>
                <a:spcPts val="1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Vandelay Corp. (seller)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$720,000 of receivables to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Dunder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Mifflin Financing (factor, buyer)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without recourse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The transaction qualifies as a sale for accounting purposes. DMF charges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5% factoring fee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(aka finance fee to cover processing costs, default risk, and costs related to the time value of money) and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holds back an additional 8%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security. What is Vandelay’s journal entry to record the transaction?</a:t>
            </a:r>
          </a:p>
          <a:p>
            <a:pPr marL="285761" indent="-285750">
              <a:lnSpc>
                <a:spcPct val="107000"/>
              </a:lnSpc>
              <a:spcBef>
                <a:spcPts val="0"/>
              </a:spcBef>
              <a:spcAft>
                <a:spcPts val="1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Vandelay Corp. (seller)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$720,000 of receivables to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Dunder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Mifflin Financing (factor or buyer)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recourse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The transaction qualifies as a sale for accounting purposes. DMF charges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5% factoring fee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holds back an additional 8%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security. </a:t>
            </a:r>
            <a:r>
              <a:rPr lang="en-US" sz="1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addition, the fair value of the recourse liability is estimated at $20,000.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What is Vandelay’s journal entry to record the transaction?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61" indent="-285750">
              <a:lnSpc>
                <a:spcPct val="107000"/>
              </a:lnSpc>
              <a:spcBef>
                <a:spcPts val="0"/>
              </a:spcBef>
              <a:spcAft>
                <a:spcPts val="1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Vandelay Corp.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borrows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$684,000 from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Dunder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Mifflin Financing by securing a revolving line of credit at a 7% interest rate.  Interest is due and payable at the end of each month based on the outstanding balance at the beginning of the month. Vandelay assigned $720,000 of its accounts receivable as collateral for the lending arrangement. There is no finance fee. What is Vandelay’s journal entry to record the transaction?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6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6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93DD6-0F66-4867-BAB7-A65B223B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A3499-6A05-448F-8094-9B7956ED3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1825627"/>
            <a:ext cx="10706100" cy="3957337"/>
          </a:xfrm>
        </p:spPr>
        <p:txBody>
          <a:bodyPr>
            <a:normAutofit/>
          </a:bodyPr>
          <a:lstStyle/>
          <a:p>
            <a:r>
              <a:rPr lang="en-US" dirty="0"/>
              <a:t>Sale vs. secured borrowing for transferring</a:t>
            </a:r>
          </a:p>
          <a:p>
            <a:pPr lvl="1"/>
            <a:r>
              <a:rPr lang="en-US" b="1" dirty="0"/>
              <a:t>Sale</a:t>
            </a:r>
            <a:r>
              <a:rPr lang="en-US" dirty="0"/>
              <a:t>: Remove A/R for sales, deal with recourse and hold backs</a:t>
            </a:r>
          </a:p>
          <a:p>
            <a:pPr lvl="1"/>
            <a:r>
              <a:rPr lang="en-US" b="1" dirty="0"/>
              <a:t>Secured Borrowing</a:t>
            </a:r>
            <a:r>
              <a:rPr lang="en-US" dirty="0"/>
              <a:t>: Keep A/R for collateralized borrowing. Just a loan.</a:t>
            </a:r>
          </a:p>
          <a:p>
            <a:pPr lvl="1"/>
            <a:endParaRPr lang="en-US" dirty="0"/>
          </a:p>
          <a:p>
            <a:r>
              <a:rPr lang="en-US"/>
              <a:t>AR: Sales discounts (Gross vs Net)</a:t>
            </a:r>
            <a:endParaRPr lang="en-US" dirty="0"/>
          </a:p>
          <a:p>
            <a:pPr lvl="1"/>
            <a:r>
              <a:rPr lang="en-US" dirty="0"/>
              <a:t>Reductions for paying quickly</a:t>
            </a:r>
          </a:p>
          <a:p>
            <a:pPr lvl="1"/>
            <a:r>
              <a:rPr lang="en-US" dirty="0"/>
              <a:t>Assume they will or will not take, correct if you’re wrong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548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2739</TotalTime>
  <Words>1881</Words>
  <Application>Microsoft Office PowerPoint</Application>
  <PresentationFormat>Widescreen</PresentationFormat>
  <Paragraphs>219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Times New Roman</vt:lpstr>
      <vt:lpstr>Wingdings</vt:lpstr>
      <vt:lpstr>Office Theme</vt:lpstr>
      <vt:lpstr>PowerPoint Presentation</vt:lpstr>
      <vt:lpstr>Sales Discounts  Offer a discount as incentive for customer to pay early   Record using Gross or Net Method</vt:lpstr>
      <vt:lpstr>Sales Discount</vt:lpstr>
      <vt:lpstr>Recording Sales Discounts: Gross vs Net</vt:lpstr>
      <vt:lpstr>Example: Sales Discount (Gross)</vt:lpstr>
      <vt:lpstr>Example: Sales Discount (Net)</vt:lpstr>
      <vt:lpstr>Sales Discount New Accounts</vt:lpstr>
      <vt:lpstr>In-Class Problem #1</vt:lpstr>
      <vt:lpstr>Sell (Factor) Receivables</vt:lpstr>
      <vt:lpstr>When is a Transfer a Sale?</vt:lpstr>
      <vt:lpstr>Sale of Receivables (Factoring)</vt:lpstr>
      <vt:lpstr>Basic Entry</vt:lpstr>
      <vt:lpstr>Two considerations:</vt:lpstr>
      <vt:lpstr>What does recourse mean?</vt:lpstr>
      <vt:lpstr>Sale with recourse</vt:lpstr>
      <vt:lpstr>Hold Backs</vt:lpstr>
      <vt:lpstr>Sale with recourse + hold backs</vt:lpstr>
      <vt:lpstr>Summary of Considerations</vt:lpstr>
      <vt:lpstr>In-class problem #2</vt:lpstr>
      <vt:lpstr>Closing Thoughts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122</cp:revision>
  <dcterms:created xsi:type="dcterms:W3CDTF">2016-01-26T18:12:20Z</dcterms:created>
  <dcterms:modified xsi:type="dcterms:W3CDTF">2025-10-06T11:29:53Z</dcterms:modified>
</cp:coreProperties>
</file>