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6"/>
  </p:notesMasterIdLst>
  <p:sldIdLst>
    <p:sldId id="828" r:id="rId2"/>
    <p:sldId id="829" r:id="rId3"/>
    <p:sldId id="830" r:id="rId4"/>
    <p:sldId id="831" r:id="rId5"/>
    <p:sldId id="832" r:id="rId6"/>
    <p:sldId id="833" r:id="rId7"/>
    <p:sldId id="834" r:id="rId8"/>
    <p:sldId id="835" r:id="rId9"/>
    <p:sldId id="836" r:id="rId10"/>
    <p:sldId id="837" r:id="rId11"/>
    <p:sldId id="838" r:id="rId12"/>
    <p:sldId id="839" r:id="rId13"/>
    <p:sldId id="840" r:id="rId14"/>
    <p:sldId id="84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7" autoAdjust="0"/>
    <p:restoredTop sz="82513" autoAdjust="0"/>
  </p:normalViewPr>
  <p:slideViewPr>
    <p:cSldViewPr snapToGrid="0">
      <p:cViewPr varScale="1">
        <p:scale>
          <a:sx n="79" d="100"/>
          <a:sy n="79" d="100"/>
        </p:scale>
        <p:origin x="37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31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353e0578-c100-4b27-ab8d-040de0f2d32b" providerId="ADAL" clId="{D3024CA6-AAE0-4B72-9570-0A6E68708714}"/>
    <pc:docChg chg="delSld delMainMaster">
      <pc:chgData name="Jeremiah Contreras" userId="353e0578-c100-4b27-ab8d-040de0f2d32b" providerId="ADAL" clId="{D3024CA6-AAE0-4B72-9570-0A6E68708714}" dt="2024-08-01T18:30:12.438" v="0" actId="47"/>
      <pc:docMkLst>
        <pc:docMk/>
      </pc:docMkLst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475342078" sldId="259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779025516" sldId="260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671402044" sldId="27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346724590" sldId="275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993556506" sldId="276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374632005" sldId="277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997985179" sldId="288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98592847" sldId="290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909602988" sldId="291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408307816" sldId="306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411024175" sldId="320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688101096" sldId="321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762207847" sldId="322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681237572" sldId="323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10944821" sldId="32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024550562" sldId="325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912452003" sldId="326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191975743" sldId="327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017664012" sldId="328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612705552" sldId="329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423243136" sldId="330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79834823" sldId="331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4215267729" sldId="333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867825088" sldId="33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032871194" sldId="45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279667377" sldId="455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205820458" sldId="818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865455247" sldId="820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729856043" sldId="821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931332484" sldId="822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987048508" sldId="82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328702403" sldId="842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2904844109" sldId="843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4195930444" sldId="844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975247387" sldId="845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5893484" sldId="846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1968954888" sldId="847"/>
        </pc:sldMkLst>
      </pc:sldChg>
      <pc:sldChg chg="del">
        <pc:chgData name="Jeremiah Contreras" userId="353e0578-c100-4b27-ab8d-040de0f2d32b" providerId="ADAL" clId="{D3024CA6-AAE0-4B72-9570-0A6E68708714}" dt="2024-08-01T18:30:12.438" v="0" actId="47"/>
        <pc:sldMkLst>
          <pc:docMk/>
          <pc:sldMk cId="3380089829" sldId="848"/>
        </pc:sldMkLst>
      </pc:sldChg>
      <pc:sldMasterChg chg="del delSldLayout">
        <pc:chgData name="Jeremiah Contreras" userId="353e0578-c100-4b27-ab8d-040de0f2d32b" providerId="ADAL" clId="{D3024CA6-AAE0-4B72-9570-0A6E68708714}" dt="2024-08-01T18:30:12.438" v="0" actId="47"/>
        <pc:sldMasterMkLst>
          <pc:docMk/>
          <pc:sldMasterMk cId="2961168767" sldId="2147483660"/>
        </pc:sldMasterMkLst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3244967043" sldId="2147483661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1891323028" sldId="2147483662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1764064861" sldId="2147483663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363449523" sldId="2147483664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2852217352" sldId="2147483665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3906080446" sldId="2147483666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287526571" sldId="2147483667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1628736190" sldId="2147483668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1416286999" sldId="2147483669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2037384872" sldId="2147483670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516748872" sldId="2147483671"/>
          </pc:sldLayoutMkLst>
        </pc:sldLayoutChg>
        <pc:sldLayoutChg chg="del">
          <pc:chgData name="Jeremiah Contreras" userId="353e0578-c100-4b27-ab8d-040de0f2d32b" providerId="ADAL" clId="{D3024CA6-AAE0-4B72-9570-0A6E68708714}" dt="2024-08-01T18:30:12.438" v="0" actId="47"/>
          <pc:sldLayoutMkLst>
            <pc:docMk/>
            <pc:sldMasterMk cId="2961168767" sldId="2147483660"/>
            <pc:sldLayoutMk cId="2868145324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5B8D7-9042-4011-901D-F673E4CB5C5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BA369-E86F-4476-B8BE-23494C326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3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48629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5902" y="4347480"/>
            <a:ext cx="6018407" cy="461414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r>
              <a:rPr lang="en-US" altLang="en-US" dirty="0"/>
              <a:t>Accounting is conservative:</a:t>
            </a:r>
          </a:p>
          <a:p>
            <a:r>
              <a:rPr lang="en-US" altLang="en-US" dirty="0"/>
              <a:t>-Don’t write up (i.e., don’t realize any holding gains until sell the asset)</a:t>
            </a:r>
          </a:p>
          <a:p>
            <a:r>
              <a:rPr lang="en-US" altLang="en-US" dirty="0"/>
              <a:t>-Write down (i.e., incur holding costs immediately)</a:t>
            </a:r>
          </a:p>
          <a:p>
            <a:endParaRPr lang="en-US" altLang="en-US" dirty="0"/>
          </a:p>
          <a:p>
            <a:r>
              <a:rPr lang="en-US" altLang="en-US" dirty="0"/>
              <a:t>Implication: </a:t>
            </a:r>
          </a:p>
          <a:p>
            <a:r>
              <a:rPr lang="en-US" altLang="en-US" dirty="0"/>
              <a:t>-may have some buildings/land with much greater MV than recorded. </a:t>
            </a:r>
          </a:p>
          <a:p>
            <a:r>
              <a:rPr lang="en-US" altLang="en-US" dirty="0"/>
              <a:t>-can’t </a:t>
            </a:r>
            <a:r>
              <a:rPr lang="en-US" altLang="en-US" dirty="0" err="1"/>
              <a:t>recog</a:t>
            </a:r>
            <a:r>
              <a:rPr lang="en-US" altLang="en-US" dirty="0"/>
              <a:t> gain unless sell.</a:t>
            </a:r>
          </a:p>
          <a:p>
            <a:r>
              <a:rPr lang="en-US" altLang="en-US" dirty="0"/>
              <a:t>-leads to some shady transactions where form=sale, substance=retained </a:t>
            </a:r>
          </a:p>
          <a:p>
            <a:r>
              <a:rPr lang="en-US" altLang="en-US" dirty="0"/>
              <a:t>-e.g., sale-leaseback (FASB plugged this hole: no longer a sale w/gain </a:t>
            </a:r>
            <a:r>
              <a:rPr lang="en-US" altLang="en-US" dirty="0" err="1"/>
              <a:t>recog</a:t>
            </a:r>
            <a:r>
              <a:rPr lang="en-US" altLang="en-US" dirty="0"/>
              <a:t>)</a:t>
            </a:r>
          </a:p>
          <a:p>
            <a:endParaRPr lang="en-US" altLang="en-US" dirty="0"/>
          </a:p>
          <a:p>
            <a:r>
              <a:rPr lang="en-US" altLang="en-US" dirty="0"/>
              <a:t>Undiscounted cash flows:</a:t>
            </a:r>
          </a:p>
          <a:p>
            <a:r>
              <a:rPr lang="en-US" altLang="en-US" dirty="0"/>
              <a:t>-includes maintenance</a:t>
            </a:r>
          </a:p>
          <a:p>
            <a:r>
              <a:rPr lang="en-US" altLang="en-US" dirty="0"/>
              <a:t>-assumptions about future use (e.g., “highest and best use”, firm assumptions, market assumptions</a:t>
            </a:r>
          </a:p>
        </p:txBody>
      </p:sp>
    </p:spTree>
    <p:extLst>
      <p:ext uri="{BB962C8B-B14F-4D97-AF65-F5344CB8AC3E}">
        <p14:creationId xmlns:p14="http://schemas.microsoft.com/office/powerpoint/2010/main" val="238254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63464" y="9003646"/>
            <a:ext cx="3186406" cy="47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3116" indent="-290017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73027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47746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9225" indent="-231689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85843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2462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19080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85698" indent="-231689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9B5C7-8763-4640-BFA4-4DA1A2D50807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5938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51" y="4502631"/>
            <a:ext cx="5880220" cy="42650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pPr eaLnBrk="1" hangingPunct="1"/>
            <a:r>
              <a:rPr lang="en-US" altLang="en-US"/>
              <a:t>Step 2: Lots of estimates, this is just the “best” one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Step 3: Not FV of cash flows from step 2 b/c</a:t>
            </a:r>
          </a:p>
          <a:p>
            <a:pPr eaLnBrk="1" hangingPunct="1"/>
            <a:r>
              <a:rPr lang="en-US" altLang="en-US"/>
              <a:t>   i. firm est of cash flows is not necessarily the same est market would make</a:t>
            </a:r>
          </a:p>
          <a:p>
            <a:pPr eaLnBrk="1" hangingPunct="1"/>
            <a:r>
              <a:rPr lang="en-US" altLang="en-US"/>
              <a:t>  ii. Don’t know market discount rate</a:t>
            </a:r>
          </a:p>
        </p:txBody>
      </p:sp>
    </p:spTree>
    <p:extLst>
      <p:ext uri="{BB962C8B-B14F-4D97-AF65-F5344CB8AC3E}">
        <p14:creationId xmlns:p14="http://schemas.microsoft.com/office/powerpoint/2010/main" val="1980928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5938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51" y="4502631"/>
            <a:ext cx="5880220" cy="42650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34" tIns="47166" rIns="94334" bIns="47166"/>
          <a:lstStyle/>
          <a:p>
            <a:r>
              <a:rPr lang="en-US" altLang="en-US"/>
              <a:t>Remember: </a:t>
            </a:r>
          </a:p>
          <a:p>
            <a:r>
              <a:rPr lang="en-US" altLang="en-US"/>
              <a:t> − est. cash flows of $11,000 is based on firm assumptions and use.</a:t>
            </a:r>
          </a:p>
          <a:p>
            <a:r>
              <a:rPr lang="en-US" altLang="en-US"/>
              <a:t> − est. market value based on market assumptions and use</a:t>
            </a:r>
          </a:p>
        </p:txBody>
      </p:sp>
    </p:spTree>
    <p:extLst>
      <p:ext uri="{BB962C8B-B14F-4D97-AF65-F5344CB8AC3E}">
        <p14:creationId xmlns:p14="http://schemas.microsoft.com/office/powerpoint/2010/main" val="1849643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628695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59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40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577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7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6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7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4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3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0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0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Property, Plant &amp; Equipment Part 3 – Video</a:t>
            </a:r>
          </a:p>
        </p:txBody>
      </p:sp>
    </p:spTree>
    <p:extLst>
      <p:ext uri="{BB962C8B-B14F-4D97-AF65-F5344CB8AC3E}">
        <p14:creationId xmlns:p14="http://schemas.microsoft.com/office/powerpoint/2010/main" val="249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8C4C81-9008-4347-9613-AEF16586E4A6}"/>
              </a:ext>
            </a:extLst>
          </p:cNvPr>
          <p:cNvSpPr/>
          <p:nvPr/>
        </p:nvSpPr>
        <p:spPr>
          <a:xfrm>
            <a:off x="4176823" y="4727576"/>
            <a:ext cx="3178570" cy="801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0D56CA-623A-4810-9C18-DD78789CA775}"/>
              </a:ext>
            </a:extLst>
          </p:cNvPr>
          <p:cNvSpPr/>
          <p:nvPr/>
        </p:nvSpPr>
        <p:spPr>
          <a:xfrm>
            <a:off x="7876291" y="3471556"/>
            <a:ext cx="2785010" cy="507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87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Changes in Market Value of Assets</a:t>
            </a:r>
          </a:p>
        </p:txBody>
      </p:sp>
      <p:sp>
        <p:nvSpPr>
          <p:cNvPr id="111619" name="Content Placeholder 1"/>
          <p:cNvSpPr>
            <a:spLocks noGrp="1"/>
          </p:cNvSpPr>
          <p:nvPr>
            <p:ph idx="1"/>
          </p:nvPr>
        </p:nvSpPr>
        <p:spPr>
          <a:xfrm>
            <a:off x="838200" y="1478281"/>
            <a:ext cx="9829800" cy="4800599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spcAft>
                <a:spcPct val="40000"/>
              </a:spcAft>
              <a:buNone/>
              <a:defRPr/>
            </a:pPr>
            <a:r>
              <a:rPr lang="en-US" altLang="en-US" sz="2400" b="1" dirty="0"/>
              <a:t>Asset impairment</a:t>
            </a:r>
            <a:r>
              <a:rPr lang="en-US" altLang="en-US" sz="2400" dirty="0"/>
              <a:t> occurs when future economic value of the asset (ability to generate future cash flow) decreases significantly</a:t>
            </a:r>
          </a:p>
          <a:p>
            <a:pPr marL="0" indent="0">
              <a:spcBef>
                <a:spcPct val="0"/>
              </a:spcBef>
              <a:spcAft>
                <a:spcPct val="40000"/>
              </a:spcAft>
              <a:buNone/>
              <a:defRPr/>
            </a:pPr>
            <a:endParaRPr lang="en-US" altLang="en-US" sz="2400" u="sng" dirty="0">
              <a:solidFill>
                <a:srgbClr val="000000"/>
              </a:solidFill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982200" y="6248400"/>
            <a:ext cx="685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A20D33-F628-43C4-941A-E2EADBE136D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1193D-39D7-47DF-AE0E-7766E1F1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3219"/>
            <a:ext cx="10668000" cy="411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2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449F-A50A-4A30-B8DE-140C5D37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 of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01B2-542E-47B0-86D9-DCEEB0FDA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3957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for impairment when there are triggering events or change in circumstances that indicator possible impairment.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46751-B7CB-4952-9010-3E11C7DB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24" y="2743843"/>
            <a:ext cx="9163050" cy="3495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6871E3-78B9-431D-BE99-3AA554B8FEF4}"/>
              </a:ext>
            </a:extLst>
          </p:cNvPr>
          <p:cNvSpPr/>
          <p:nvPr/>
        </p:nvSpPr>
        <p:spPr>
          <a:xfrm>
            <a:off x="4448432" y="5140411"/>
            <a:ext cx="6043742" cy="1186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98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225D-DC58-4001-9641-C137F093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Asset Recoverability 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BDAE9E-E90E-4946-854E-EB2221376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5993" y="1694996"/>
            <a:ext cx="8593728" cy="39576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ED6832-9B4E-4667-A433-5741321CBDF0}"/>
              </a:ext>
            </a:extLst>
          </p:cNvPr>
          <p:cNvSpPr/>
          <p:nvPr/>
        </p:nvSpPr>
        <p:spPr>
          <a:xfrm>
            <a:off x="3954161" y="4657312"/>
            <a:ext cx="6043742" cy="1186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85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225D-DC58-4001-9641-C137F093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Impairment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C2FD7-69F7-409A-9CE0-BB6C60FD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1729"/>
            <a:ext cx="8677275" cy="411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F8861A-0633-44B1-B9C6-93A58D17253C}"/>
              </a:ext>
            </a:extLst>
          </p:cNvPr>
          <p:cNvSpPr/>
          <p:nvPr/>
        </p:nvSpPr>
        <p:spPr>
          <a:xfrm>
            <a:off x="838200" y="4657312"/>
            <a:ext cx="8677274" cy="1186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0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5148" y="183131"/>
            <a:ext cx="962045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Impairment Example #1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95148" y="1524001"/>
            <a:ext cx="10019900" cy="48864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sz="2400" dirty="0"/>
              <a:t>Surprise Inc. owns a specialized oven to make pizza. Facts: 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At 12/31/2013, </a:t>
            </a:r>
            <a:r>
              <a:rPr lang="en-US" sz="2000" u="sng" dirty="0"/>
              <a:t>cost basis</a:t>
            </a:r>
            <a:r>
              <a:rPr lang="en-US" sz="2000" dirty="0"/>
              <a:t> is $18,000 and </a:t>
            </a:r>
            <a:r>
              <a:rPr lang="en-US" sz="2000" u="sng" dirty="0" err="1"/>
              <a:t>acc</a:t>
            </a:r>
            <a:r>
              <a:rPr lang="en-US" sz="2000" u="sng" dirty="0"/>
              <a:t> </a:t>
            </a:r>
            <a:r>
              <a:rPr lang="en-US" sz="2000" u="sng" dirty="0" err="1"/>
              <a:t>depr</a:t>
            </a:r>
            <a:r>
              <a:rPr lang="en-US" sz="2000" dirty="0"/>
              <a:t> is $4,000 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	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0070C0"/>
                </a:solidFill>
              </a:rPr>
              <a:t>Net Book Value = 18,000 – 4,000 = $14,000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+mj-lt"/>
              <a:buAutoNum type="arabicPeriod" startAt="2"/>
              <a:defRPr/>
            </a:pPr>
            <a:r>
              <a:rPr lang="en-US" sz="2000" dirty="0"/>
              <a:t>The </a:t>
            </a:r>
            <a:r>
              <a:rPr lang="en-US" sz="2000" u="sng" dirty="0"/>
              <a:t>“best” estimate of expected cash flows</a:t>
            </a:r>
            <a:r>
              <a:rPr lang="en-US" sz="2000" dirty="0"/>
              <a:t> over the next four years (undiscounted) related to the oven are: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2014:		$2,000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2015:		$2,500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2016:		$3,000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2017:		</a:t>
            </a:r>
            <a:r>
              <a:rPr lang="en-US" sz="2000" u="sng" dirty="0"/>
              <a:t>$3,500</a:t>
            </a:r>
            <a:endParaRPr lang="en-US" sz="2000" dirty="0"/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000" dirty="0"/>
              <a:t>	Total		</a:t>
            </a:r>
            <a:r>
              <a:rPr lang="en-US" sz="2000" dirty="0">
                <a:solidFill>
                  <a:srgbClr val="0070C0"/>
                </a:solidFill>
              </a:rPr>
              <a:t>$11,000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+mj-lt"/>
              <a:buAutoNum type="arabicPeriod" startAt="3"/>
              <a:defRPr/>
            </a:pPr>
            <a:r>
              <a:rPr lang="en-US" sz="2000" dirty="0"/>
              <a:t>The </a:t>
            </a:r>
            <a:r>
              <a:rPr lang="en-US" sz="2000" u="sng" dirty="0"/>
              <a:t>fair value</a:t>
            </a:r>
            <a:r>
              <a:rPr lang="en-US" sz="2000" dirty="0"/>
              <a:t> of the oven at December 31, 2013 is </a:t>
            </a:r>
            <a:r>
              <a:rPr lang="en-US" sz="2000" dirty="0">
                <a:solidFill>
                  <a:srgbClr val="0070C0"/>
                </a:solidFill>
              </a:rPr>
              <a:t>$9,000</a:t>
            </a:r>
            <a:r>
              <a:rPr lang="en-US" sz="2000" dirty="0"/>
              <a:t>.</a:t>
            </a:r>
          </a:p>
          <a:p>
            <a:pPr marL="0" indent="0">
              <a:lnSpc>
                <a:spcPct val="80000"/>
              </a:lnSpc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819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47826" y="387417"/>
            <a:ext cx="8763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Impairment Example #1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47826" y="1470026"/>
            <a:ext cx="9515374" cy="5113654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When</a:t>
            </a:r>
            <a:r>
              <a:rPr lang="en-US" altLang="en-US" sz="2000" dirty="0">
                <a:solidFill>
                  <a:srgbClr val="000000"/>
                </a:solidFill>
              </a:rPr>
              <a:t>: Assume “events and changes in circumstances” indicate possible impairment</a:t>
            </a:r>
            <a:endParaRPr lang="en-US" sz="2000" dirty="0">
              <a:solidFill>
                <a:srgbClr val="0070C0"/>
              </a:solidFill>
            </a:endParaRPr>
          </a:p>
          <a:p>
            <a:pPr marL="457200" indent="-457200"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</a:rPr>
              <a:t>Recoverability test:</a:t>
            </a:r>
            <a:r>
              <a:rPr lang="en-US" sz="2000" dirty="0"/>
              <a:t>  </a:t>
            </a:r>
          </a:p>
          <a:p>
            <a:pPr marL="457200" lvl="1" indent="0">
              <a:buClr>
                <a:schemeClr val="tx2"/>
              </a:buClr>
              <a:buNone/>
              <a:defRPr/>
            </a:pPr>
            <a:r>
              <a:rPr lang="en-US" sz="1800" dirty="0"/>
              <a:t>	 $11,000 (Est. cash flow) &lt; $14,000 (Net Book Value) </a:t>
            </a:r>
          </a:p>
          <a:p>
            <a:pPr marL="457200" lvl="1" indent="0">
              <a:buClr>
                <a:schemeClr val="tx2"/>
              </a:buClr>
              <a:buNone/>
              <a:defRPr/>
            </a:pPr>
            <a:r>
              <a:rPr lang="en-US" sz="1800" dirty="0"/>
              <a:t>	→ Need impairment</a:t>
            </a:r>
          </a:p>
          <a:p>
            <a:pPr lvl="1">
              <a:buClr>
                <a:schemeClr val="tx2"/>
              </a:buClr>
              <a:buFont typeface="Arial" charset="0"/>
              <a:buChar char="•"/>
              <a:defRPr/>
            </a:pPr>
            <a:endParaRPr lang="en-US" sz="700" dirty="0"/>
          </a:p>
          <a:p>
            <a:pPr marL="457200" indent="-457200"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</a:rPr>
              <a:t>Write down </a:t>
            </a:r>
            <a:r>
              <a:rPr lang="en-US" sz="2000" dirty="0"/>
              <a:t>to fair value (~ market price)</a:t>
            </a:r>
          </a:p>
          <a:p>
            <a:pPr marL="803275" lvl="2" indent="-285750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Notes on fair value: </a:t>
            </a:r>
          </a:p>
          <a:p>
            <a:pPr marL="1487488" lvl="4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dirty="0"/>
              <a:t>Value the “market” would place on the asset given how market participants (not the firm) would use it.</a:t>
            </a:r>
          </a:p>
          <a:p>
            <a:pPr marL="803275" lvl="2" indent="-290513"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en-US" sz="1800"/>
              <a:t>Write-down </a:t>
            </a:r>
            <a:r>
              <a:rPr lang="en-US" sz="1800" dirty="0"/>
              <a:t>from NBV ($14,000) to FV ($9,000)</a:t>
            </a:r>
          </a:p>
          <a:p>
            <a:pPr marL="230188" lvl="2" indent="0">
              <a:spcBef>
                <a:spcPts val="600"/>
              </a:spcBef>
              <a:buNone/>
              <a:tabLst>
                <a:tab pos="1377950" algn="l"/>
                <a:tab pos="4572000" algn="l"/>
              </a:tabLst>
              <a:defRPr/>
            </a:pPr>
            <a:r>
              <a:rPr lang="en-US" sz="1800" dirty="0"/>
              <a:t>	Loss (I-E)	$5,000</a:t>
            </a:r>
          </a:p>
          <a:p>
            <a:pPr marL="230188" lvl="2" indent="0">
              <a:spcBef>
                <a:spcPts val="600"/>
              </a:spcBef>
              <a:buNone/>
              <a:defRPr/>
            </a:pPr>
            <a:r>
              <a:rPr lang="en-US" sz="1800" dirty="0"/>
              <a:t>		Accumulated </a:t>
            </a:r>
            <a:r>
              <a:rPr lang="en-US" sz="1800" dirty="0" err="1"/>
              <a:t>Depr</a:t>
            </a:r>
            <a:r>
              <a:rPr lang="en-US" sz="1800" dirty="0"/>
              <a:t> (B-XA)		$5,000</a:t>
            </a:r>
          </a:p>
          <a:p>
            <a:pPr marL="230188" lvl="2" indent="0">
              <a:spcBef>
                <a:spcPts val="600"/>
              </a:spcBef>
              <a:buNone/>
              <a:defRPr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334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60D56CA-623A-4810-9C18-DD78789CA775}"/>
              </a:ext>
            </a:extLst>
          </p:cNvPr>
          <p:cNvSpPr/>
          <p:nvPr/>
        </p:nvSpPr>
        <p:spPr>
          <a:xfrm>
            <a:off x="7876291" y="3471556"/>
            <a:ext cx="2785010" cy="507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10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39939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10325100" cy="4731618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When a long-term tangible asset is disposed, the financial statements need to reflect this event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 asset (original cost and accumulated depreciation)</a:t>
            </a: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Record consideration received (if any)</a:t>
            </a:r>
          </a:p>
          <a:p>
            <a:pPr marL="914400" lvl="1" indent="-457200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Record a gain or loss if consideration received 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book value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CD8AF2-95B4-47C6-8BEF-05D7AA5C936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E1BAA-3F25-494A-A837-2A994BC02345}"/>
              </a:ext>
            </a:extLst>
          </p:cNvPr>
          <p:cNvSpPr txBox="1"/>
          <p:nvPr/>
        </p:nvSpPr>
        <p:spPr>
          <a:xfrm>
            <a:off x="3835400" y="4889500"/>
            <a:ext cx="367030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Gain if proceeds &gt; Book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Loss if proceeds &lt; Book Value</a:t>
            </a:r>
          </a:p>
        </p:txBody>
      </p:sp>
    </p:spTree>
    <p:extLst>
      <p:ext uri="{BB962C8B-B14F-4D97-AF65-F5344CB8AC3E}">
        <p14:creationId xmlns:p14="http://schemas.microsoft.com/office/powerpoint/2010/main" val="88560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44035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9918700" cy="505887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Standard sale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</a:rPr>
              <a:t>Regular Co. sells a machine that cost $100,000 and has $20,000 of accumulated depreciation for $110,000 in cash.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Cash (B-A) 				110,000 (consideration received)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Accumulated Depreciation (B-XA) 		20,000 (remove in full)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Gain (I-R)					30,000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Asset (B-A)					100,000 (remove in full)</a:t>
            </a:r>
          </a:p>
          <a:p>
            <a:pPr>
              <a:defRPr/>
            </a:pPr>
            <a:endParaRPr lang="en-US" altLang="en-US" sz="4000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4746C-150B-4BC8-85AA-8998FF37E1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4255" y="2612799"/>
            <a:ext cx="180260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NBV = 80,000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= 110,000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Gain = 30,000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3346A-18A2-47DA-B9F6-DE38B12E533C}"/>
              </a:ext>
            </a:extLst>
          </p:cNvPr>
          <p:cNvSpPr/>
          <p:nvPr/>
        </p:nvSpPr>
        <p:spPr>
          <a:xfrm>
            <a:off x="1282700" y="4203700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1471A-0204-48F3-A95C-D184A0A9D2A6}"/>
              </a:ext>
            </a:extLst>
          </p:cNvPr>
          <p:cNvSpPr/>
          <p:nvPr/>
        </p:nvSpPr>
        <p:spPr>
          <a:xfrm>
            <a:off x="1384300" y="4533900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DC69F7-06A0-4178-B7F5-15FD9121E4FA}"/>
              </a:ext>
            </a:extLst>
          </p:cNvPr>
          <p:cNvSpPr/>
          <p:nvPr/>
        </p:nvSpPr>
        <p:spPr>
          <a:xfrm>
            <a:off x="1562100" y="4925442"/>
            <a:ext cx="9194800" cy="332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00208-093E-4B11-B92E-9E5A03AF465B}"/>
              </a:ext>
            </a:extLst>
          </p:cNvPr>
          <p:cNvSpPr/>
          <p:nvPr/>
        </p:nvSpPr>
        <p:spPr>
          <a:xfrm>
            <a:off x="1435100" y="5257800"/>
            <a:ext cx="9194800" cy="42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55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Assets Retirements</a:t>
            </a:r>
          </a:p>
        </p:txBody>
      </p:sp>
      <p:sp>
        <p:nvSpPr>
          <p:cNvPr id="44035" name="Content Placeholder 1"/>
          <p:cNvSpPr>
            <a:spLocks noGrp="1"/>
          </p:cNvSpPr>
          <p:nvPr>
            <p:ph idx="1"/>
          </p:nvPr>
        </p:nvSpPr>
        <p:spPr>
          <a:xfrm>
            <a:off x="838200" y="1447801"/>
            <a:ext cx="9918700" cy="505887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Standard sale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</a:rPr>
              <a:t>Regular Co. sells a machine that cost $100,000 and has $20,000 of accumulated depreciation for $110,000 in cash.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en-US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Cash (B-A) 				110,000 (consideration received)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Accumulated Depreciation (B-XA) 		20,000 (remove in full)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Gain (I-R)					30,000 </a:t>
            </a:r>
          </a:p>
          <a:p>
            <a:pPr marL="914400" lvl="1" indent="-457200">
              <a:spcBef>
                <a:spcPct val="0"/>
              </a:spcBef>
              <a:buSzPct val="5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Asset (B-A)					100,000 (remove in full)</a:t>
            </a:r>
          </a:p>
          <a:p>
            <a:pPr>
              <a:defRPr/>
            </a:pPr>
            <a:endParaRPr lang="en-US" altLang="en-US" sz="4000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77400" y="6248400"/>
            <a:ext cx="990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4746C-150B-4BC8-85AA-8998FF37E1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4255" y="2612799"/>
            <a:ext cx="180260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NBV = 80,000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= 110,000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Gain = 30,000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789CA-DE2D-4387-9321-A243F6B469DF}"/>
              </a:ext>
            </a:extLst>
          </p:cNvPr>
          <p:cNvSpPr txBox="1"/>
          <p:nvPr/>
        </p:nvSpPr>
        <p:spPr>
          <a:xfrm>
            <a:off x="838200" y="6052141"/>
            <a:ext cx="10287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Warning: You might need to record depreciation expense before the sale (if it is not up to date).</a:t>
            </a:r>
          </a:p>
        </p:txBody>
      </p:sp>
    </p:spTree>
    <p:extLst>
      <p:ext uri="{BB962C8B-B14F-4D97-AF65-F5344CB8AC3E}">
        <p14:creationId xmlns:p14="http://schemas.microsoft.com/office/powerpoint/2010/main" val="2250689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D786-A6B2-4717-8461-E31F55F3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E6ABA-DF05-499B-9D0D-C9E04434B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Asset impairments lead to write downs of the book value to fair value</a:t>
            </a:r>
          </a:p>
          <a:p>
            <a:endParaRPr lang="en-US" dirty="0"/>
          </a:p>
          <a:p>
            <a:r>
              <a:rPr lang="en-US" dirty="0"/>
              <a:t>PP&amp;E can be written down for impairment, but can never be written up.</a:t>
            </a:r>
          </a:p>
          <a:p>
            <a:endParaRPr lang="en-US" dirty="0"/>
          </a:p>
          <a:p>
            <a:r>
              <a:rPr lang="en-US" dirty="0"/>
              <a:t>In sale of PP&amp;E, remember to check whether accumulated depreciation is current as of the disposal date.</a:t>
            </a:r>
          </a:p>
        </p:txBody>
      </p:sp>
    </p:spTree>
    <p:extLst>
      <p:ext uri="{BB962C8B-B14F-4D97-AF65-F5344CB8AC3E}">
        <p14:creationId xmlns:p14="http://schemas.microsoft.com/office/powerpoint/2010/main" val="165615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Property, Plant &amp; Equipment Part 3 – Video</a:t>
            </a:r>
          </a:p>
        </p:txBody>
      </p:sp>
    </p:spTree>
    <p:extLst>
      <p:ext uri="{BB962C8B-B14F-4D97-AF65-F5344CB8AC3E}">
        <p14:creationId xmlns:p14="http://schemas.microsoft.com/office/powerpoint/2010/main" val="203171403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833</Words>
  <Application>Microsoft Office PowerPoint</Application>
  <PresentationFormat>Widescreen</PresentationFormat>
  <Paragraphs>108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Wingdings</vt:lpstr>
      <vt:lpstr>2_Office Theme</vt:lpstr>
      <vt:lpstr>PowerPoint Presentation</vt:lpstr>
      <vt:lpstr>PP&amp;E Life Cycle</vt:lpstr>
      <vt:lpstr>Changes in Market Value of Assets</vt:lpstr>
      <vt:lpstr>Indicators of Impairment</vt:lpstr>
      <vt:lpstr>Step 1: Asset Recoverability Test</vt:lpstr>
      <vt:lpstr>Step 2: Impairment</vt:lpstr>
      <vt:lpstr>Impairment Example #1</vt:lpstr>
      <vt:lpstr>Impairment Example #1</vt:lpstr>
      <vt:lpstr>PP&amp;E Life Cycle</vt:lpstr>
      <vt:lpstr>Assets Retirements</vt:lpstr>
      <vt:lpstr>Assets Retirements</vt:lpstr>
      <vt:lpstr>Assets Retirements</vt:lpstr>
      <vt:lpstr>Closing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117</cp:revision>
  <dcterms:created xsi:type="dcterms:W3CDTF">2020-09-07T22:49:11Z</dcterms:created>
  <dcterms:modified xsi:type="dcterms:W3CDTF">2024-08-01T18:30:12Z</dcterms:modified>
</cp:coreProperties>
</file>