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321" r:id="rId3"/>
    <p:sldId id="305" r:id="rId4"/>
    <p:sldId id="399" r:id="rId5"/>
    <p:sldId id="568" r:id="rId6"/>
    <p:sldId id="388" r:id="rId7"/>
    <p:sldId id="577" r:id="rId8"/>
    <p:sldId id="391" r:id="rId9"/>
    <p:sldId id="565" r:id="rId10"/>
    <p:sldId id="418" r:id="rId11"/>
    <p:sldId id="574" r:id="rId12"/>
    <p:sldId id="5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73674" autoAdjust="0"/>
  </p:normalViewPr>
  <p:slideViewPr>
    <p:cSldViewPr snapToGrid="0">
      <p:cViewPr varScale="1">
        <p:scale>
          <a:sx n="63" d="100"/>
          <a:sy n="63" d="100"/>
        </p:scale>
        <p:origin x="7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31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5D5F869A-4B65-4BE5-B85D-47AA274DD150}"/>
    <pc:docChg chg="delSld">
      <pc:chgData name="Jeremiah Contreras" userId="9ea49ee18badb19e" providerId="LiveId" clId="{5D5F869A-4B65-4BE5-B85D-47AA274DD150}" dt="2022-08-26T11:34:21.665" v="0" actId="47"/>
      <pc:docMkLst>
        <pc:docMk/>
      </pc:docMkLst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468993247" sldId="331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0" sldId="337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06778115" sldId="341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763107682" sldId="352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066678335" sldId="374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4187474382" sldId="401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137900665" sldId="403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607919237" sldId="404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000560815" sldId="407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0" sldId="431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0" sldId="433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4188480462" sldId="438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492623615" sldId="439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637281828" sldId="440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761331507" sldId="442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001845982" sldId="443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594740847" sldId="537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231859860" sldId="542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481387451" sldId="546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935151499" sldId="548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832307523" sldId="549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994694209" sldId="550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280433387" sldId="553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159659122" sldId="559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549846634" sldId="560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71375412" sldId="562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766284317" sldId="563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4042072404" sldId="564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418233062" sldId="566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87825799" sldId="569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123291096" sldId="570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132914340" sldId="571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4111343574" sldId="572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96831162" sldId="578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693171430" sldId="579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763010740" sldId="580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99018801" sldId="581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691867220" sldId="582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642525085" sldId="583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963860470" sldId="584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99348025" sldId="585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15480971" sldId="586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235653369" sldId="587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774253280" sldId="588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626333930" sldId="589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500333822" sldId="590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395991545" sldId="591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471708988" sldId="592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611914323" sldId="593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370014241" sldId="594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686906466" sldId="596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640867927" sldId="597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885053236" sldId="599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61703992" sldId="600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1556493058" sldId="601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3285251238" sldId="602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399222602" sldId="603"/>
        </pc:sldMkLst>
      </pc:sldChg>
      <pc:sldChg chg="del">
        <pc:chgData name="Jeremiah Contreras" userId="9ea49ee18badb19e" providerId="LiveId" clId="{5D5F869A-4B65-4BE5-B85D-47AA274DD150}" dt="2022-08-26T11:34:21.665" v="0" actId="47"/>
        <pc:sldMkLst>
          <pc:docMk/>
          <pc:sldMk cId="2845358930" sldId="604"/>
        </pc:sldMkLst>
      </pc:sldChg>
      <pc:sldMasterChg chg="delSldLayout">
        <pc:chgData name="Jeremiah Contreras" userId="9ea49ee18badb19e" providerId="LiveId" clId="{5D5F869A-4B65-4BE5-B85D-47AA274DD150}" dt="2022-08-26T11:34:21.665" v="0" actId="47"/>
        <pc:sldMasterMkLst>
          <pc:docMk/>
          <pc:sldMasterMk cId="3104083061" sldId="2147483660"/>
        </pc:sldMasterMkLst>
        <pc:sldLayoutChg chg="del">
          <pc:chgData name="Jeremiah Contreras" userId="9ea49ee18badb19e" providerId="LiveId" clId="{5D5F869A-4B65-4BE5-B85D-47AA274DD150}" dt="2022-08-26T11:34:21.665" v="0" actId="47"/>
          <pc:sldLayoutMkLst>
            <pc:docMk/>
            <pc:sldMasterMk cId="3104083061" sldId="2147483660"/>
            <pc:sldLayoutMk cId="41208829" sldId="2147483673"/>
          </pc:sldLayoutMkLst>
        </pc:sldLayoutChg>
        <pc:sldLayoutChg chg="del">
          <pc:chgData name="Jeremiah Contreras" userId="9ea49ee18badb19e" providerId="LiveId" clId="{5D5F869A-4B65-4BE5-B85D-47AA274DD150}" dt="2022-08-26T11:34:21.665" v="0" actId="47"/>
          <pc:sldLayoutMkLst>
            <pc:docMk/>
            <pc:sldMasterMk cId="3104083061" sldId="2147483660"/>
            <pc:sldLayoutMk cId="2107554428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D902F-FFFA-44B3-907D-79CE22789CEC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D9D51-AC68-4AE5-9786-FCF021306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6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5" tIns="45708" rIns="91415" bIns="45708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4141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Income Statement summarizes firm performance (the profit generating activities)  between Balance Sheet dates.</a:t>
            </a:r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D9D51-AC68-4AE5-9786-FCF0213068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27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Usefulness:</a:t>
            </a:r>
          </a:p>
          <a:p>
            <a:pPr marL="514350" marR="0" lvl="0" indent="-51435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Can evaluate past performance 			  2. Can provide a basis for predicting the  						   future,	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Compare to prior year’s and to competitor’s performance	    identify trends that may continue into the future</a:t>
            </a:r>
          </a:p>
          <a:p>
            <a:pPr lvl="2">
              <a:lnSpc>
                <a:spcPct val="80000"/>
              </a:lnSpc>
            </a:pPr>
            <a:r>
              <a:rPr lang="en-US" sz="2600" dirty="0"/>
              <a:t>					Increasing revenue</a:t>
            </a:r>
          </a:p>
          <a:p>
            <a:pPr lvl="2">
              <a:lnSpc>
                <a:spcPct val="80000"/>
              </a:lnSpc>
            </a:pPr>
            <a:r>
              <a:rPr lang="en-US" sz="2600" dirty="0"/>
              <a:t>					Shrinking margins   </a:t>
            </a:r>
          </a:p>
          <a:p>
            <a:pPr marL="0" indent="0">
              <a:lnSpc>
                <a:spcPct val="80000"/>
              </a:lnSpc>
              <a:buFont typeface="+mj-lt"/>
              <a:buNone/>
            </a:pPr>
            <a:r>
              <a:rPr lang="en-US" dirty="0"/>
              <a:t>3. Can help assess the risk or uncertainty of future cash flows</a:t>
            </a:r>
          </a:p>
          <a:p>
            <a:pPr lvl="1">
              <a:lnSpc>
                <a:spcPct val="80000"/>
              </a:lnSpc>
            </a:pPr>
            <a:r>
              <a:rPr lang="en-US" sz="2600" dirty="0"/>
              <a:t>Segregating continuing operations from non-recurring sources</a:t>
            </a:r>
          </a:p>
          <a:p>
            <a:endParaRPr lang="en-US" dirty="0"/>
          </a:p>
          <a:p>
            <a:r>
              <a:rPr lang="en-US" b="1" dirty="0"/>
              <a:t>Limitations: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dirty="0"/>
              <a:t>Items that cannot be measured reliably are not reported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Most unrealized gains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Changes in brand recognition, customer service</a:t>
            </a:r>
          </a:p>
          <a:p>
            <a:pPr lvl="1"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dirty="0"/>
              <a:t>Income numbers are affected by the </a:t>
            </a:r>
            <a:r>
              <a:rPr lang="en-US" sz="2800" b="1" dirty="0"/>
              <a:t>accounting methods </a:t>
            </a:r>
            <a:r>
              <a:rPr lang="en-US" sz="2800" dirty="0"/>
              <a:t>employed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Straight line versus accelerated depreciation. Both methods are allowed and Net income will differ.</a:t>
            </a:r>
          </a:p>
          <a:p>
            <a:pPr marL="274320" lvl="1" indent="0">
              <a:lnSpc>
                <a:spcPct val="80000"/>
              </a:lnSpc>
              <a:buNone/>
            </a:pPr>
            <a:endParaRPr lang="en-US" sz="28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 dirty="0"/>
              <a:t>Income measurement involves </a:t>
            </a:r>
            <a:r>
              <a:rPr lang="en-US" sz="2800" b="1" dirty="0"/>
              <a:t>judgment &amp; estimates</a:t>
            </a:r>
          </a:p>
          <a:p>
            <a:pPr lvl="1">
              <a:lnSpc>
                <a:spcPct val="80000"/>
              </a:lnSpc>
            </a:pPr>
            <a:r>
              <a:rPr lang="en-US" sz="2400" dirty="0"/>
              <a:t>Same asset, Company A estimates 10 year useful life, Company B estimates a 12 year life.  Both allowed, net income will differ.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D9D51-AC68-4AE5-9786-FCF0213068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32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Income  statements come in 2 varieties:</a:t>
            </a:r>
          </a:p>
          <a:p>
            <a:endParaRPr lang="en-US" dirty="0"/>
          </a:p>
          <a:p>
            <a:r>
              <a:rPr lang="en-US" dirty="0"/>
              <a:t>The single step presents two broad classifications</a:t>
            </a:r>
          </a:p>
          <a:p>
            <a:pPr marL="228600" indent="-228600">
              <a:buAutoNum type="arabicPeriod"/>
            </a:pPr>
            <a:r>
              <a:rPr lang="en-US" dirty="0"/>
              <a:t>Revenues and gains</a:t>
            </a:r>
          </a:p>
          <a:p>
            <a:pPr marL="228600" indent="-228600">
              <a:buAutoNum type="arabicPeriod"/>
            </a:pPr>
            <a:r>
              <a:rPr lang="en-US" dirty="0"/>
              <a:t>Expenses and losses</a:t>
            </a:r>
          </a:p>
          <a:p>
            <a:pPr marL="0" indent="0">
              <a:buNone/>
            </a:pPr>
            <a:r>
              <a:rPr lang="en-US" dirty="0"/>
              <a:t>Followed by income Tax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difference between a Revenue &amp; a gain or an Expense and a loss 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the goods or service that we sold  is a </a:t>
            </a:r>
            <a:r>
              <a:rPr lang="en-US" b="1" dirty="0"/>
              <a:t>primary </a:t>
            </a:r>
            <a:r>
              <a:rPr lang="en-US" dirty="0"/>
              <a:t>operation, we’ll call it Revenue. </a:t>
            </a:r>
          </a:p>
          <a:p>
            <a:pPr marL="0" indent="0">
              <a:buNone/>
            </a:pPr>
            <a:r>
              <a:rPr lang="en-US" dirty="0"/>
              <a:t>Let’s look at this example. Just by the magnitude of the numbers we can see that the interest revenue is NOT a primary operation for this company. (it’s $3,000 compared to Sales rev of 1M.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Companies are going to receive assets for sales of things outside of the principle activities of the firm.</a:t>
            </a:r>
          </a:p>
          <a:p>
            <a:pPr marL="0" indent="0">
              <a:buNone/>
            </a:pPr>
            <a:r>
              <a:rPr lang="en-US" dirty="0"/>
              <a:t>(for example, they might sell an old company car). Assume a company is not a car dealership; and yet they happen to sell a car, that should be classified as a Gain of sale of an asset for example.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Same concept applies with expenses, if a cost is incidental to the company and not related to primary operations,</a:t>
            </a:r>
          </a:p>
          <a:p>
            <a:pPr marL="0" indent="0">
              <a:buNone/>
            </a:pPr>
            <a:r>
              <a:rPr lang="en-US" dirty="0"/>
              <a:t>It might be more properly classified as a loss (instead of an expense).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Now, for the Single Step Income Statement, Revenues &amp; Gains are clumped together. Expenses &amp;Losses are also grouped together.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3515F-B653-44CA-89E9-3A15E39752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56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might notice that the Multi Step Income Statement organizes the same exact material a bit differently.</a:t>
            </a:r>
          </a:p>
          <a:p>
            <a:r>
              <a:rPr lang="en-US" dirty="0"/>
              <a:t>As a matter of fact</a:t>
            </a:r>
          </a:p>
          <a:p>
            <a:r>
              <a:rPr lang="en-US" dirty="0"/>
              <a:t>The most important information (for predicting future performance) is going to be at the top.</a:t>
            </a:r>
          </a:p>
          <a:p>
            <a:endParaRPr lang="en-US" dirty="0"/>
          </a:p>
          <a:p>
            <a:r>
              <a:rPr lang="en-US" dirty="0"/>
              <a:t>You know how we, as humans, can get bored reading anything technical in nature, Readers are likely to find the most relevant information  toward the top of the document. </a:t>
            </a:r>
          </a:p>
          <a:p>
            <a:r>
              <a:rPr lang="en-US" dirty="0"/>
              <a:t>This is ASIDE from the absolute bottom line, (Net Income), and EPS</a:t>
            </a:r>
          </a:p>
          <a:p>
            <a:endParaRPr lang="en-US" dirty="0"/>
          </a:p>
          <a:p>
            <a:r>
              <a:rPr lang="en-US" dirty="0"/>
              <a:t>Our Non-Operating Items (these are the company’s non-primary, incidental or peripheral activities) often are conveniently identifies as “Other” </a:t>
            </a:r>
          </a:p>
          <a:p>
            <a:r>
              <a:rPr lang="en-US" dirty="0"/>
              <a:t>Now, these may occur year after year (for example interest expense on a loan).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3515F-B653-44CA-89E9-3A15E39752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36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like the Multi Step because the information provided, and its presentation, can better achieve </a:t>
            </a:r>
            <a:r>
              <a:rPr lang="en-US" b="1" dirty="0"/>
              <a:t>the goal of financial reporting. </a:t>
            </a:r>
          </a:p>
          <a:p>
            <a:endParaRPr lang="en-US" b="1" dirty="0"/>
          </a:p>
          <a:p>
            <a:r>
              <a:rPr lang="en-US" dirty="0"/>
              <a:t>The goal of financial reporting (from Chapter 1):</a:t>
            </a:r>
          </a:p>
          <a:p>
            <a:r>
              <a:rPr lang="en-US" sz="2800" dirty="0"/>
              <a:t>to prepare the financial statements for external users  like investors and creditors </a:t>
            </a:r>
          </a:p>
          <a:p>
            <a:pPr lvl="1"/>
            <a:r>
              <a:rPr lang="en-US" sz="2800" dirty="0"/>
              <a:t>so they can make informed decisions about where to allocate their resources (that is, invest their money).</a:t>
            </a:r>
          </a:p>
          <a:p>
            <a:endParaRPr lang="en-US" dirty="0"/>
          </a:p>
          <a:p>
            <a:r>
              <a:rPr lang="en-US" dirty="0"/>
              <a:t>Investors/creditors are interested in future performance, </a:t>
            </a:r>
          </a:p>
          <a:p>
            <a:r>
              <a:rPr lang="en-US" dirty="0"/>
              <a:t>the rundown of activity in a multi-step income </a:t>
            </a:r>
            <a:r>
              <a:rPr lang="en-US" dirty="0" err="1"/>
              <a:t>stmt</a:t>
            </a:r>
            <a:r>
              <a:rPr lang="en-US" dirty="0"/>
              <a:t> is organized to assist readers in grasping what activities are likely to occur again versus those that are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BD9D51-AC68-4AE5-9786-FCF0213068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58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7713" indent="-284163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9350" indent="-225425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12900" indent="-225425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76450" indent="-225425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33650" indent="-225425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90850" indent="-225425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48050" indent="-225425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05250" indent="-225425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827DC1A-9408-44F6-971B-1B84FDD85FC5}" type="slidenum">
              <a:rPr lang="en-US" altLang="en-US" smtClean="0"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700088"/>
            <a:ext cx="6202363" cy="3489325"/>
          </a:xfrm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3263" y="4421188"/>
            <a:ext cx="5616575" cy="4187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693" tIns="46348" rIns="92693" bIns="46348"/>
          <a:lstStyle/>
          <a:p>
            <a:r>
              <a:rPr lang="en-US" altLang="en-US" dirty="0"/>
              <a:t>SEE SEC.GOV</a:t>
            </a:r>
          </a:p>
          <a:p>
            <a:endParaRPr lang="en-US" altLang="en-US" dirty="0"/>
          </a:p>
          <a:p>
            <a:r>
              <a:rPr lang="en-US" altLang="en-US" dirty="0"/>
              <a:t>Firms often similar goals (maximize total profits) but different strategies.</a:t>
            </a:r>
          </a:p>
          <a:p>
            <a:r>
              <a:rPr lang="en-US" altLang="en-US" dirty="0"/>
              <a:t>Example: Walmart vs Tiffany (low margins/high volume vs. high mark-ups/low volume) − if didn’t already in Class 2</a:t>
            </a:r>
          </a:p>
          <a:p>
            <a:endParaRPr lang="en-US" altLang="en-US" dirty="0"/>
          </a:p>
          <a:p>
            <a:r>
              <a:rPr lang="en-US" altLang="en-US" dirty="0"/>
              <a:t>Walk through IS:</a:t>
            </a:r>
          </a:p>
          <a:p>
            <a:r>
              <a:rPr lang="en-US" altLang="en-US" dirty="0"/>
              <a:t>Comparative IS with 3 years</a:t>
            </a:r>
          </a:p>
          <a:p>
            <a:r>
              <a:rPr lang="en-US" altLang="en-US" dirty="0"/>
              <a:t>GP is also known as Gross Margin</a:t>
            </a:r>
          </a:p>
          <a:p>
            <a:endParaRPr lang="en-US" altLang="en-US" dirty="0"/>
          </a:p>
          <a:p>
            <a:r>
              <a:rPr lang="en-US" altLang="en-US" dirty="0"/>
              <a:t>EPS is the earnings per common shareholder, discussion coming soon – featured in video 2 </a:t>
            </a:r>
          </a:p>
          <a:p>
            <a:r>
              <a:rPr lang="en-US" altLang="en-US" dirty="0"/>
              <a:t>We know the IS </a:t>
            </a:r>
            <a:r>
              <a:rPr lang="en-US" altLang="en-US" dirty="0" err="1"/>
              <a:t>is</a:t>
            </a:r>
            <a:r>
              <a:rPr lang="en-US" altLang="en-US" dirty="0"/>
              <a:t> the first fin </a:t>
            </a:r>
            <a:r>
              <a:rPr lang="en-US" altLang="en-US" dirty="0" err="1"/>
              <a:t>stmt</a:t>
            </a:r>
            <a:r>
              <a:rPr lang="en-US" altLang="en-US" dirty="0"/>
              <a:t> prepared as we need the Net Income number to calculate the final Retained Earnings number that appears on the Balance Sheet, if we move to the corresponding Balance Sheet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08122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61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1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8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19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9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83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8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19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2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2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10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-by-Side with HEADER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52400"/>
            <a:ext cx="11785600" cy="838200"/>
          </a:xfrm>
        </p:spPr>
        <p:txBody>
          <a:bodyPr/>
          <a:lstStyle>
            <a:lvl1pPr>
              <a:defRPr kumimoji="0" lang="en-US" sz="2800" kern="1200" dirty="0" smtClean="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Cambridge Business Publishers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07DFC85B-0534-4466-A51D-C5DA6FBFF0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6084107" y="1575653"/>
            <a:ext cx="11895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sz="1800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2286000"/>
            <a:ext cx="5384800" cy="3767328"/>
          </a:xfrm>
        </p:spPr>
        <p:txBody>
          <a:bodyPr/>
          <a:lstStyle>
            <a:lvl1pPr>
              <a:defRPr sz="250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2286000"/>
            <a:ext cx="5384800" cy="3767328"/>
          </a:xfrm>
        </p:spPr>
        <p:txBody>
          <a:bodyPr/>
          <a:lstStyle>
            <a:lvl1pPr>
              <a:defRPr sz="2500"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402336" y="1524000"/>
            <a:ext cx="5386917" cy="732974"/>
          </a:xfrm>
          <a:solidFill>
            <a:schemeClr val="bg2">
              <a:lumMod val="25000"/>
            </a:schemeClr>
          </a:solidFill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solidFill>
            <a:schemeClr val="bg2">
              <a:lumMod val="25000"/>
            </a:schemeClr>
          </a:solidFill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9420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8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800472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Income Statement - Video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C1B320-F9A6-33FA-0082-A81D93B05188}"/>
              </a:ext>
            </a:extLst>
          </p:cNvPr>
          <p:cNvSpPr/>
          <p:nvPr/>
        </p:nvSpPr>
        <p:spPr>
          <a:xfrm>
            <a:off x="3634740" y="5715000"/>
            <a:ext cx="1752600" cy="7086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altLang="en-US" sz="4000" dirty="0"/>
              <a:t>Goals: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708" y="1528762"/>
            <a:ext cx="6844324" cy="3800475"/>
          </a:xfrm>
        </p:spPr>
        <p:txBody>
          <a:bodyPr/>
          <a:lstStyle/>
          <a:p>
            <a:pPr marL="971539" lvl="1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800" dirty="0"/>
              <a:t>Introduce the Income Statement</a:t>
            </a:r>
          </a:p>
          <a:p>
            <a:pPr marL="971539" lvl="1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/>
            </a:pPr>
            <a:endParaRPr lang="en-US" sz="2800" dirty="0"/>
          </a:p>
          <a:p>
            <a:pPr marL="971539" lvl="1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800" dirty="0"/>
              <a:t>Why it’s useful / limitations</a:t>
            </a:r>
          </a:p>
          <a:p>
            <a:pPr marL="971539" lvl="1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/>
            </a:pPr>
            <a:endParaRPr lang="en-US" sz="2800" dirty="0"/>
          </a:p>
          <a:p>
            <a:pPr marL="971539" lvl="1" indent="-51435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/>
            </a:pPr>
            <a:r>
              <a:rPr lang="en-US" sz="2800" dirty="0"/>
              <a:t>Format</a:t>
            </a:r>
          </a:p>
          <a:p>
            <a:pPr marL="914377" lvl="2" indent="0">
              <a:lnSpc>
                <a:spcPct val="100000"/>
              </a:lnSpc>
              <a:buNone/>
              <a:defRPr/>
            </a:pPr>
            <a:endParaRPr lang="en-US" dirty="0"/>
          </a:p>
          <a:p>
            <a:pPr marL="0" indent="0" algn="ctr"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79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C5105-4FE9-4121-BA50-1EE7A6E1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Income Statement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B905E46-2A3C-4E7C-A7B6-D70BFDDDF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85" y="1370846"/>
            <a:ext cx="10515600" cy="163274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2600" b="1" dirty="0"/>
              <a:t>Purpose: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2600" dirty="0"/>
              <a:t>The Income Statement reports the profit generating activities (revenues/gains, expenses/losses) for a specified period.</a:t>
            </a:r>
            <a:endParaRPr lang="en-US" sz="400" dirty="0"/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endParaRPr lang="en-US" sz="2400" dirty="0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F85D3709-D480-49A8-9AA9-C9DD30E18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620" y="4523825"/>
            <a:ext cx="465162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800"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2400" b="0" dirty="0">
                <a:solidFill>
                  <a:schemeClr val="tx1"/>
                </a:solidFill>
                <a:latin typeface="Liberation Sans"/>
              </a:rPr>
              <a:t> Revenues</a:t>
            </a: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2400" b="0" u="sng" dirty="0">
                <a:solidFill>
                  <a:schemeClr val="tx1"/>
                </a:solidFill>
                <a:latin typeface="Liberation Sans"/>
              </a:rPr>
              <a:t>- Expenses</a:t>
            </a: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2400" b="0" u="dbl" dirty="0">
                <a:solidFill>
                  <a:schemeClr val="tx1"/>
                </a:solidFill>
                <a:latin typeface="Liberation Sans"/>
              </a:rPr>
              <a:t>Net Income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6A57A-57A7-4FEB-8110-D05C3E8C6364}"/>
              </a:ext>
            </a:extLst>
          </p:cNvPr>
          <p:cNvSpPr txBox="1"/>
          <p:nvPr/>
        </p:nvSpPr>
        <p:spPr>
          <a:xfrm>
            <a:off x="3175673" y="3854409"/>
            <a:ext cx="8178127" cy="1392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2400" dirty="0"/>
              <a:t>Income statement equation: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ts val="12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2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880" y="278920"/>
            <a:ext cx="9785230" cy="838200"/>
          </a:xfrm>
        </p:spPr>
        <p:txBody>
          <a:bodyPr>
            <a:normAutofit/>
          </a:bodyPr>
          <a:lstStyle/>
          <a:p>
            <a:r>
              <a:rPr lang="en-US" sz="4000" dirty="0"/>
              <a:t>Income Statement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355263" y="1396738"/>
            <a:ext cx="9146019" cy="2666590"/>
          </a:xfrm>
          <a:ln w="12700"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Usefulness:</a:t>
            </a:r>
          </a:p>
          <a:p>
            <a:pPr marL="574675" indent="-350838">
              <a:lnSpc>
                <a:spcPct val="100000"/>
              </a:lnSpc>
              <a:spcBef>
                <a:spcPts val="1200"/>
              </a:spcBef>
              <a:buClr>
                <a:srgbClr val="911B2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</a:rPr>
              <a:t>Evaluate </a:t>
            </a:r>
            <a:r>
              <a:rPr lang="en-US" altLang="en-US" sz="2400" b="1" dirty="0">
                <a:solidFill>
                  <a:srgbClr val="000000"/>
                </a:solidFill>
              </a:rPr>
              <a:t>past performance</a:t>
            </a:r>
            <a:r>
              <a:rPr lang="en-US" altLang="en-US" sz="2400" dirty="0">
                <a:solidFill>
                  <a:srgbClr val="000000"/>
                </a:solidFill>
              </a:rPr>
              <a:t> of the company</a:t>
            </a:r>
          </a:p>
          <a:p>
            <a:pPr marL="574675" indent="-350838">
              <a:lnSpc>
                <a:spcPct val="100000"/>
              </a:lnSpc>
              <a:spcBef>
                <a:spcPts val="1200"/>
              </a:spcBef>
              <a:buClr>
                <a:srgbClr val="911B2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Provide </a:t>
            </a:r>
            <a:r>
              <a:rPr lang="en-US" sz="2400" b="1" dirty="0">
                <a:solidFill>
                  <a:srgbClr val="000000"/>
                </a:solidFill>
              </a:rPr>
              <a:t>a basis for predicting future performance</a:t>
            </a:r>
          </a:p>
          <a:p>
            <a:pPr marL="574675" indent="-350838">
              <a:lnSpc>
                <a:spcPct val="100000"/>
              </a:lnSpc>
              <a:spcBef>
                <a:spcPts val="1200"/>
              </a:spcBef>
              <a:buClr>
                <a:srgbClr val="911B2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Help assess the risk/uncertainty of achieving future cash flows</a:t>
            </a:r>
          </a:p>
          <a:p>
            <a:pPr marL="223837" indent="0">
              <a:lnSpc>
                <a:spcPct val="100000"/>
              </a:lnSpc>
              <a:spcBef>
                <a:spcPts val="1200"/>
              </a:spcBef>
              <a:buClr>
                <a:srgbClr val="911B21"/>
              </a:buClr>
              <a:buNone/>
            </a:pPr>
            <a:endParaRPr lang="en-US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DCC5E-38CA-4429-B144-A43604816F00}"/>
              </a:ext>
            </a:extLst>
          </p:cNvPr>
          <p:cNvSpPr txBox="1"/>
          <p:nvPr/>
        </p:nvSpPr>
        <p:spPr>
          <a:xfrm>
            <a:off x="514726" y="4135995"/>
            <a:ext cx="800554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Limitations:</a:t>
            </a:r>
          </a:p>
          <a:p>
            <a:pPr marL="574675" lvl="0" indent="-350838">
              <a:lnSpc>
                <a:spcPct val="100000"/>
              </a:lnSpc>
              <a:spcBef>
                <a:spcPts val="1200"/>
              </a:spcBef>
              <a:buClr>
                <a:srgbClr val="911B2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</a:rPr>
              <a:t>Companies omit items they cannot measure reliably</a:t>
            </a:r>
          </a:p>
          <a:p>
            <a:pPr marL="574675" indent="-350838">
              <a:lnSpc>
                <a:spcPct val="100000"/>
              </a:lnSpc>
              <a:spcBef>
                <a:spcPts val="1200"/>
              </a:spcBef>
              <a:buClr>
                <a:srgbClr val="911B21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</a:rPr>
              <a:t>Income is affected by the accounting methods employed</a:t>
            </a:r>
          </a:p>
          <a:p>
            <a:pPr marL="574675" indent="-350838">
              <a:lnSpc>
                <a:spcPct val="100000"/>
              </a:lnSpc>
              <a:spcBef>
                <a:spcPts val="1200"/>
              </a:spcBef>
              <a:buClr>
                <a:srgbClr val="911B21"/>
              </a:buClr>
              <a:buFont typeface="Arial" panose="020B0604020202020204" pitchFamily="34" charset="0"/>
              <a:buChar char="•"/>
            </a:pPr>
            <a:r>
              <a:rPr lang="en-US" altLang="en-US" sz="2400" dirty="0"/>
              <a:t>Income measurement involves judgment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64677B-DDB5-4927-8A9F-4F4328F90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545" y="994281"/>
            <a:ext cx="1493649" cy="163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2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2580-C8AF-BF4B-930E-0C619E87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52400"/>
            <a:ext cx="6744677" cy="838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Multiple-Step vs. </a:t>
            </a:r>
            <a:r>
              <a:rPr lang="en-US" sz="3600" b="1" dirty="0">
                <a:latin typeface="+mn-lt"/>
              </a:rPr>
              <a:t>Single-Step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324510-400F-4521-9D78-7C28DED4AC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43"/>
          <a:stretch/>
        </p:blipFill>
        <p:spPr>
          <a:xfrm>
            <a:off x="3200725" y="1296071"/>
            <a:ext cx="4940896" cy="5291727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3E1514-6403-4F92-BDF6-8B21BFCAEB14}"/>
              </a:ext>
            </a:extLst>
          </p:cNvPr>
          <p:cNvSpPr>
            <a:spLocks noGrp="1"/>
          </p:cNvSpPr>
          <p:nvPr>
            <p:ph type="body" sz="half" idx="3"/>
          </p:nvPr>
        </p:nvSpPr>
        <p:spPr>
          <a:xfrm>
            <a:off x="203200" y="1416925"/>
            <a:ext cx="2813538" cy="838199"/>
          </a:xfrm>
        </p:spPr>
        <p:txBody>
          <a:bodyPr/>
          <a:lstStyle/>
          <a:p>
            <a:r>
              <a:rPr lang="en-US" dirty="0"/>
              <a:t>Single Step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9ACF051-FD91-48E8-BD2B-CAA8B068E724}"/>
              </a:ext>
            </a:extLst>
          </p:cNvPr>
          <p:cNvSpPr/>
          <p:nvPr/>
        </p:nvSpPr>
        <p:spPr>
          <a:xfrm>
            <a:off x="2305539" y="3313723"/>
            <a:ext cx="978408" cy="3751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3558BE8-290A-4C95-B3E6-11FE20AE6F85}"/>
              </a:ext>
            </a:extLst>
          </p:cNvPr>
          <p:cNvSpPr/>
          <p:nvPr/>
        </p:nvSpPr>
        <p:spPr>
          <a:xfrm>
            <a:off x="2260345" y="5306666"/>
            <a:ext cx="978408" cy="3672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79483E-1548-4F95-9721-206B4A0EC7F5}"/>
              </a:ext>
            </a:extLst>
          </p:cNvPr>
          <p:cNvSpPr txBox="1"/>
          <p:nvPr/>
        </p:nvSpPr>
        <p:spPr>
          <a:xfrm>
            <a:off x="265723" y="3895042"/>
            <a:ext cx="2102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2 Broad classifications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3ABC1A-7C71-47DF-BA63-A54DFCBCD60B}"/>
              </a:ext>
            </a:extLst>
          </p:cNvPr>
          <p:cNvSpPr txBox="1"/>
          <p:nvPr/>
        </p:nvSpPr>
        <p:spPr>
          <a:xfrm>
            <a:off x="203200" y="5534960"/>
            <a:ext cx="24071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Followed by income tax and</a:t>
            </a:r>
          </a:p>
          <a:p>
            <a:r>
              <a:rPr lang="en-US" sz="2000" dirty="0">
                <a:solidFill>
                  <a:schemeClr val="accent6"/>
                </a:solidFill>
              </a:rPr>
              <a:t>the bottom line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1D520F5-6F27-4F33-A22C-DFACC20139E4}"/>
              </a:ext>
            </a:extLst>
          </p:cNvPr>
          <p:cNvSpPr/>
          <p:nvPr/>
        </p:nvSpPr>
        <p:spPr>
          <a:xfrm>
            <a:off x="2226968" y="5803968"/>
            <a:ext cx="978408" cy="37513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9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20" grpId="0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2580-C8AF-BF4B-930E-0C619E87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52400"/>
            <a:ext cx="6744677" cy="8382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Multiple-Step </a:t>
            </a:r>
            <a:r>
              <a:rPr lang="en-US" sz="3600" b="1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vs. Single-Step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9AB1AC-4252-D846-8884-39A2EC236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6991" y="2235721"/>
            <a:ext cx="3649785" cy="3110523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200" dirty="0">
                <a:latin typeface="+mn-lt"/>
              </a:rPr>
              <a:t>Separates operating and nonoperating items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200" dirty="0">
                <a:latin typeface="+mn-lt"/>
              </a:rPr>
              <a:t>Typically presents: 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Gross profit </a:t>
            </a:r>
            <a:endParaRPr lang="en-US" sz="2200" dirty="0">
              <a:solidFill>
                <a:schemeClr val="accent4">
                  <a:lumMod val="75000"/>
                </a:schemeClr>
              </a:solidFill>
              <a:latin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200" b="1" dirty="0">
                <a:solidFill>
                  <a:schemeClr val="accent1"/>
                </a:solidFill>
                <a:latin typeface="+mn-lt"/>
              </a:rPr>
              <a:t>Operating items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endParaRPr lang="en-US" sz="2200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2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Nonoperating items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sz="24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sz="2400" b="1" dirty="0">
              <a:latin typeface="+mn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B534AF-423D-CB4D-B806-3362D3421A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4800" y="1283054"/>
            <a:ext cx="3548185" cy="732974"/>
          </a:xfrm>
        </p:spPr>
        <p:txBody>
          <a:bodyPr/>
          <a:lstStyle/>
          <a:p>
            <a:pPr algn="ctr"/>
            <a:r>
              <a:rPr lang="en-US" sz="2400" dirty="0">
                <a:latin typeface="+mn-lt"/>
              </a:rPr>
              <a:t>Multiple-Step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C763A6-B0DA-4284-874D-B922D8272A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17"/>
          <a:stretch/>
        </p:blipFill>
        <p:spPr>
          <a:xfrm>
            <a:off x="4169663" y="1300987"/>
            <a:ext cx="4508054" cy="50656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A8172D-F99C-40FF-BA62-10D207809CFD}"/>
              </a:ext>
            </a:extLst>
          </p:cNvPr>
          <p:cNvSpPr txBox="1"/>
          <p:nvPr/>
        </p:nvSpPr>
        <p:spPr>
          <a:xfrm>
            <a:off x="549992" y="5552141"/>
            <a:ext cx="33918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Followed by income tax</a:t>
            </a:r>
          </a:p>
          <a:p>
            <a:r>
              <a:rPr lang="en-US" sz="2200" dirty="0"/>
              <a:t>and the bottom line</a:t>
            </a:r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C06D975A-BB5A-425C-909E-F4502E2E57EE}"/>
              </a:ext>
            </a:extLst>
          </p:cNvPr>
          <p:cNvSpPr/>
          <p:nvPr/>
        </p:nvSpPr>
        <p:spPr>
          <a:xfrm>
            <a:off x="3965746" y="4281331"/>
            <a:ext cx="247342" cy="1064914"/>
          </a:xfrm>
          <a:prstGeom prst="leftBracket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6E6A9912-D3D8-4178-951E-6D1E4F348B48}"/>
              </a:ext>
            </a:extLst>
          </p:cNvPr>
          <p:cNvSpPr/>
          <p:nvPr/>
        </p:nvSpPr>
        <p:spPr>
          <a:xfrm>
            <a:off x="4026087" y="3005313"/>
            <a:ext cx="187001" cy="1120824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B4671A-255B-4DF2-A1DE-CB5136B91A95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133904" y="3565725"/>
            <a:ext cx="892183" cy="38737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81B08FD-8D1B-496D-B669-AA40F132F5F7}"/>
              </a:ext>
            </a:extLst>
          </p:cNvPr>
          <p:cNvCxnSpPr>
            <a:cxnSpLocks/>
          </p:cNvCxnSpPr>
          <p:nvPr/>
        </p:nvCxnSpPr>
        <p:spPr>
          <a:xfrm flipV="1">
            <a:off x="3522401" y="4813788"/>
            <a:ext cx="428444" cy="115757"/>
          </a:xfrm>
          <a:prstGeom prst="line">
            <a:avLst/>
          </a:prstGeom>
          <a:ln w="254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E76A8103-4165-4AD0-91FC-92F5AE49A652}"/>
              </a:ext>
            </a:extLst>
          </p:cNvPr>
          <p:cNvCxnSpPr>
            <a:cxnSpLocks/>
          </p:cNvCxnSpPr>
          <p:nvPr/>
        </p:nvCxnSpPr>
        <p:spPr>
          <a:xfrm flipV="1">
            <a:off x="2555475" y="2852383"/>
            <a:ext cx="1564113" cy="772479"/>
          </a:xfrm>
          <a:prstGeom prst="bentConnector3">
            <a:avLst/>
          </a:prstGeom>
          <a:ln w="25400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Left Bracket 32">
            <a:extLst>
              <a:ext uri="{FF2B5EF4-FFF2-40B4-BE49-F238E27FC236}">
                <a16:creationId xmlns:a16="http://schemas.microsoft.com/office/drawing/2014/main" id="{DE520EDA-3718-4178-8B88-F12B3DFEA9C5}"/>
              </a:ext>
            </a:extLst>
          </p:cNvPr>
          <p:cNvSpPr/>
          <p:nvPr/>
        </p:nvSpPr>
        <p:spPr>
          <a:xfrm>
            <a:off x="3878059" y="5404507"/>
            <a:ext cx="241529" cy="652416"/>
          </a:xfrm>
          <a:prstGeom prst="leftBracket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4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12" grpId="0"/>
      <p:bldP spid="17" grpId="0" animBg="1"/>
      <p:bldP spid="18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D4B3A2-F9F9-4B8C-8F44-B5B0AAA62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501" y="194339"/>
            <a:ext cx="6856997" cy="666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33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>
            <a:extLst>
              <a:ext uri="{FF2B5EF4-FFF2-40B4-BE49-F238E27FC236}">
                <a16:creationId xmlns:a16="http://schemas.microsoft.com/office/drawing/2014/main" id="{B04FDF57-31C5-49EE-9C04-752C2537371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590168" y="1341849"/>
            <a:ext cx="10515600" cy="2575320"/>
          </a:xfrm>
          <a:prstGeom prst="rect">
            <a:avLst/>
          </a:prstGeom>
          <a:noFill/>
          <a:ln w="19050" cap="sq" algn="ctr">
            <a:noFill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Times New Roman" pitchFamily="18" charset="0"/>
              </a:defRPr>
            </a:lvl1pPr>
            <a:lvl2pPr marL="685800" indent="-457200"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1" algn="l">
              <a:lnSpc>
                <a:spcPct val="120000"/>
              </a:lnSpc>
              <a:spcBef>
                <a:spcPts val="1200"/>
              </a:spcBef>
              <a:buClr>
                <a:srgbClr val="800000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Arial" charset="0"/>
              </a:rPr>
              <a:t>Separates operating from nonoperating transactions.</a:t>
            </a:r>
          </a:p>
          <a:p>
            <a:pPr lvl="1" algn="l">
              <a:lnSpc>
                <a:spcPct val="120000"/>
              </a:lnSpc>
              <a:spcBef>
                <a:spcPts val="1200"/>
              </a:spcBef>
              <a:buClr>
                <a:srgbClr val="800000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Arial" charset="0"/>
              </a:rPr>
              <a:t>Matches costs and expenses with related revenues.  </a:t>
            </a:r>
            <a:r>
              <a:rPr lang="en-US" sz="2400" dirty="0">
                <a:solidFill>
                  <a:srgbClr val="0070C0"/>
                </a:solidFill>
                <a:latin typeface="Arial" charset="0"/>
              </a:rPr>
              <a:t>(i.e. right after Sales we see the Cost of those Sales)</a:t>
            </a:r>
          </a:p>
          <a:p>
            <a:pPr lvl="1" algn="l">
              <a:lnSpc>
                <a:spcPct val="120000"/>
              </a:lnSpc>
              <a:spcBef>
                <a:spcPts val="1200"/>
              </a:spcBef>
              <a:buClr>
                <a:srgbClr val="800000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Arial" charset="0"/>
              </a:rPr>
              <a:t>Highlights certain components of income that analysts use assessing financial performance. For example: </a:t>
            </a:r>
            <a:r>
              <a:rPr lang="en-US" sz="2400" dirty="0">
                <a:solidFill>
                  <a:srgbClr val="00B050"/>
                </a:solidFill>
                <a:latin typeface="Arial" charset="0"/>
              </a:rPr>
              <a:t>Gross Profit </a:t>
            </a:r>
            <a:r>
              <a:rPr lang="en-US" sz="2400" dirty="0">
                <a:latin typeface="Arial" charset="0"/>
              </a:rPr>
              <a:t>or </a:t>
            </a:r>
            <a:r>
              <a:rPr lang="en-US" sz="2400" dirty="0">
                <a:solidFill>
                  <a:srgbClr val="7030A0"/>
                </a:solidFill>
                <a:latin typeface="Arial" charset="0"/>
              </a:rPr>
              <a:t>Operating Income.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D51867-A997-4FC4-8136-33BC11B46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>
                <a:solidFill>
                  <a:srgbClr val="800000"/>
                </a:solidFill>
              </a:rPr>
              <a:t>Why we like the Multi-step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31ED3D-0F46-4C23-A99A-FF6D1A852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39" y="4146200"/>
            <a:ext cx="7571888" cy="16765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5C02A5-9899-4B54-BF50-6A780C5AE6DC}"/>
              </a:ext>
            </a:extLst>
          </p:cNvPr>
          <p:cNvSpPr/>
          <p:nvPr/>
        </p:nvSpPr>
        <p:spPr>
          <a:xfrm>
            <a:off x="2739041" y="5848496"/>
            <a:ext cx="72045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ea typeface="Verdana" panose="020B0604030504040204" pitchFamily="34" charset="0"/>
                <a:cs typeface="Verdana" panose="020B0604030504040204" pitchFamily="34" charset="0"/>
              </a:rPr>
              <a:t>Reliable financial information helps users to make more informed decisions on resource allocation. </a:t>
            </a:r>
          </a:p>
        </p:txBody>
      </p:sp>
    </p:spTree>
    <p:extLst>
      <p:ext uri="{BB962C8B-B14F-4D97-AF65-F5344CB8AC3E}">
        <p14:creationId xmlns:p14="http://schemas.microsoft.com/office/powerpoint/2010/main" val="3029928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9950" y="368657"/>
            <a:ext cx="11965923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“Format” requirements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429949" y="1384489"/>
            <a:ext cx="11000051" cy="4832349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dirty="0"/>
              <a:t>Ordering of items (revenue, COGS, operating expenses, non-operating exp., income before tax, tax, income)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Which line items </a:t>
            </a:r>
            <a:r>
              <a:rPr lang="en-US" altLang="en-US" i="1" dirty="0">
                <a:solidFill>
                  <a:schemeClr val="hlink"/>
                </a:solidFill>
              </a:rPr>
              <a:t>must</a:t>
            </a:r>
            <a:r>
              <a:rPr lang="en-US" altLang="en-US" dirty="0"/>
              <a:t> be separated (e.g., tax expense, material items)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Required sub-totals (e.g., income before tax)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/>
              <a:t>Which items must/can be “prominently” displayed</a:t>
            </a:r>
          </a:p>
          <a:p>
            <a:pPr lvl="1">
              <a:lnSpc>
                <a:spcPct val="80000"/>
              </a:lnSpc>
            </a:pPr>
            <a:r>
              <a:rPr lang="en-US" altLang="en-US" sz="2800" dirty="0">
                <a:latin typeface="HelveticaNeue MediumCond"/>
              </a:rPr>
              <a:t>Net of tax (e.g., discontinued operations)</a:t>
            </a:r>
          </a:p>
          <a:p>
            <a:pPr lvl="1">
              <a:lnSpc>
                <a:spcPct val="80000"/>
              </a:lnSpc>
            </a:pPr>
            <a:r>
              <a:rPr lang="en-US" altLang="en-US" sz="2800" dirty="0">
                <a:latin typeface="HelveticaNeue MediumCond"/>
              </a:rPr>
              <a:t>Per share amounts presented</a:t>
            </a:r>
          </a:p>
          <a:p>
            <a:pPr marL="914377" lvl="2" indent="0" eaLnBrk="1" hangingPunct="1">
              <a:lnSpc>
                <a:spcPct val="80000"/>
              </a:lnSpc>
              <a:buNone/>
            </a:pPr>
            <a:endParaRPr lang="en-US" altLang="en-US" sz="2400" dirty="0">
              <a:latin typeface="HelveticaNeue MediumCo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1" y="433388"/>
            <a:ext cx="6784975" cy="449262"/>
          </a:xfrm>
        </p:spPr>
        <p:txBody>
          <a:bodyPr>
            <a:normAutofit fontScale="90000"/>
          </a:bodyPr>
          <a:lstStyle/>
          <a:p>
            <a:r>
              <a:rPr lang="en-US" altLang="en-US" sz="3200"/>
              <a:t>Income Statement (Apple 2016)</a:t>
            </a: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4505326" y="6648450"/>
            <a:ext cx="616267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900" i="1">
                <a:latin typeface="Times New Roman" panose="02020603050405020304" pitchFamily="18" charset="0"/>
              </a:rPr>
              <a:t>https://www.sec.gov/Archives/edgar/data/320193/000162828016020309/a201610-k9242016.htm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7" y="882650"/>
            <a:ext cx="7927246" cy="578549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ACE3EDC-65DE-4F04-9B60-B0D23A661C51}"/>
              </a:ext>
            </a:extLst>
          </p:cNvPr>
          <p:cNvSpPr/>
          <p:nvPr/>
        </p:nvSpPr>
        <p:spPr>
          <a:xfrm>
            <a:off x="4329886" y="3429000"/>
            <a:ext cx="664644" cy="2538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4C7BE9C-6A76-4182-A809-F0F2C54F9243}"/>
              </a:ext>
            </a:extLst>
          </p:cNvPr>
          <p:cNvSpPr/>
          <p:nvPr/>
        </p:nvSpPr>
        <p:spPr>
          <a:xfrm>
            <a:off x="4329886" y="3878262"/>
            <a:ext cx="664644" cy="253807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1CA957C-C6E2-4C3C-BB78-0FF3ACF206AA}"/>
              </a:ext>
            </a:extLst>
          </p:cNvPr>
          <p:cNvSpPr/>
          <p:nvPr/>
        </p:nvSpPr>
        <p:spPr>
          <a:xfrm>
            <a:off x="4329886" y="1908561"/>
            <a:ext cx="664644" cy="253807"/>
          </a:xfrm>
          <a:prstGeom prst="righ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3DD8062-5C4F-4579-BDEB-4744210417FC}"/>
              </a:ext>
            </a:extLst>
          </p:cNvPr>
          <p:cNvSpPr/>
          <p:nvPr/>
        </p:nvSpPr>
        <p:spPr>
          <a:xfrm>
            <a:off x="4329886" y="4278506"/>
            <a:ext cx="664644" cy="25380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4152-9199-4E00-AD2E-06EAC6ECF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844EF-05DC-460D-A5AC-B7C6AF88A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results of operations for a period of time (revenues and expenses)</a:t>
            </a:r>
          </a:p>
          <a:p>
            <a:endParaRPr lang="en-US" dirty="0"/>
          </a:p>
          <a:p>
            <a:r>
              <a:rPr lang="en-US" dirty="0"/>
              <a:t>Material items are presented separately</a:t>
            </a:r>
          </a:p>
          <a:p>
            <a:endParaRPr lang="en-US" dirty="0"/>
          </a:p>
          <a:p>
            <a:r>
              <a:rPr lang="en-US" dirty="0"/>
              <a:t>Multi-step separates by operating and non-operating</a:t>
            </a:r>
          </a:p>
          <a:p>
            <a:endParaRPr lang="en-US" dirty="0"/>
          </a:p>
          <a:p>
            <a:r>
              <a:rPr lang="en-US" dirty="0"/>
              <a:t>A few required lines (income before tax, tax, income)</a:t>
            </a:r>
          </a:p>
        </p:txBody>
      </p:sp>
    </p:spTree>
    <p:extLst>
      <p:ext uri="{BB962C8B-B14F-4D97-AF65-F5344CB8AC3E}">
        <p14:creationId xmlns:p14="http://schemas.microsoft.com/office/powerpoint/2010/main" val="1644844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800472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Income Statement - Video</a:t>
            </a:r>
          </a:p>
        </p:txBody>
      </p:sp>
    </p:spTree>
    <p:extLst>
      <p:ext uri="{BB962C8B-B14F-4D97-AF65-F5344CB8AC3E}">
        <p14:creationId xmlns:p14="http://schemas.microsoft.com/office/powerpoint/2010/main" val="416264553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2168</TotalTime>
  <Words>1110</Words>
  <Application>Microsoft Office PowerPoint</Application>
  <PresentationFormat>Widescreen</PresentationFormat>
  <Paragraphs>140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Calibri</vt:lpstr>
      <vt:lpstr>HelveticaNeue MediumCond</vt:lpstr>
      <vt:lpstr>Liberation Sans</vt:lpstr>
      <vt:lpstr>Times New Roman</vt:lpstr>
      <vt:lpstr>Verdana</vt:lpstr>
      <vt:lpstr>1_Office Theme</vt:lpstr>
      <vt:lpstr>PowerPoint Presentation</vt:lpstr>
      <vt:lpstr>Goals:</vt:lpstr>
      <vt:lpstr>Income Statement</vt:lpstr>
      <vt:lpstr>Income Statement</vt:lpstr>
      <vt:lpstr>Multiple-Step vs. Single-Step </vt:lpstr>
      <vt:lpstr>Multiple-Step vs. Single-Step </vt:lpstr>
      <vt:lpstr>PowerPoint Presentation</vt:lpstr>
      <vt:lpstr>Why we like the Multi-step</vt:lpstr>
      <vt:lpstr>“Format” requirements</vt:lpstr>
      <vt:lpstr>Income Statement (Apple 2016)</vt:lpstr>
      <vt:lpstr>Closing Thoughts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McMahon</dc:creator>
  <cp:lastModifiedBy>Jeremiah Contreras</cp:lastModifiedBy>
  <cp:revision>199</cp:revision>
  <dcterms:created xsi:type="dcterms:W3CDTF">2020-06-12T00:16:03Z</dcterms:created>
  <dcterms:modified xsi:type="dcterms:W3CDTF">2022-08-26T11:34:24Z</dcterms:modified>
</cp:coreProperties>
</file>