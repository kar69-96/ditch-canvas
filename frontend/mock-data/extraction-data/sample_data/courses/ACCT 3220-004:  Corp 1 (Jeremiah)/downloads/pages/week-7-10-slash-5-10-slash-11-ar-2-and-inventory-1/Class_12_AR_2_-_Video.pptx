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302" r:id="rId2"/>
    <p:sldId id="258" r:id="rId3"/>
    <p:sldId id="282" r:id="rId4"/>
    <p:sldId id="260" r:id="rId5"/>
    <p:sldId id="305" r:id="rId6"/>
    <p:sldId id="306" r:id="rId7"/>
    <p:sldId id="307" r:id="rId8"/>
    <p:sldId id="308" r:id="rId9"/>
    <p:sldId id="311" r:id="rId10"/>
    <p:sldId id="30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drew Stephan" initials="AS" lastIdx="1" clrIdx="0">
    <p:extLst>
      <p:ext uri="{19B8F6BF-5375-455C-9EA6-DF929625EA0E}">
        <p15:presenceInfo xmlns:p15="http://schemas.microsoft.com/office/powerpoint/2012/main" userId="Andrew Steph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4588"/>
    <p:restoredTop sz="86448"/>
  </p:normalViewPr>
  <p:slideViewPr>
    <p:cSldViewPr snapToGrid="0" snapToObjects="1">
      <p:cViewPr varScale="1">
        <p:scale>
          <a:sx n="66" d="100"/>
          <a:sy n="66" d="100"/>
        </p:scale>
        <p:origin x="63" y="23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remiah Contreras" userId="9ea49ee18badb19e" providerId="LiveId" clId="{A76FC210-1F20-4FD1-83FD-EFD4EF6B7804}"/>
    <pc:docChg chg="delSld">
      <pc:chgData name="Jeremiah Contreras" userId="9ea49ee18badb19e" providerId="LiveId" clId="{A76FC210-1F20-4FD1-83FD-EFD4EF6B7804}" dt="2022-10-02T13:33:18.617" v="0" actId="47"/>
      <pc:docMkLst>
        <pc:docMk/>
      </pc:docMkLst>
      <pc:sldChg chg="del">
        <pc:chgData name="Jeremiah Contreras" userId="9ea49ee18badb19e" providerId="LiveId" clId="{A76FC210-1F20-4FD1-83FD-EFD4EF6B7804}" dt="2022-10-02T13:33:18.617" v="0" actId="47"/>
        <pc:sldMkLst>
          <pc:docMk/>
          <pc:sldMk cId="422879212" sldId="261"/>
        </pc:sldMkLst>
      </pc:sldChg>
      <pc:sldChg chg="del">
        <pc:chgData name="Jeremiah Contreras" userId="9ea49ee18badb19e" providerId="LiveId" clId="{A76FC210-1F20-4FD1-83FD-EFD4EF6B7804}" dt="2022-10-02T13:33:18.617" v="0" actId="47"/>
        <pc:sldMkLst>
          <pc:docMk/>
          <pc:sldMk cId="338480380" sldId="262"/>
        </pc:sldMkLst>
      </pc:sldChg>
      <pc:sldChg chg="del">
        <pc:chgData name="Jeremiah Contreras" userId="9ea49ee18badb19e" providerId="LiveId" clId="{A76FC210-1F20-4FD1-83FD-EFD4EF6B7804}" dt="2022-10-02T13:33:18.617" v="0" actId="47"/>
        <pc:sldMkLst>
          <pc:docMk/>
          <pc:sldMk cId="1260481322" sldId="263"/>
        </pc:sldMkLst>
      </pc:sldChg>
      <pc:sldChg chg="del">
        <pc:chgData name="Jeremiah Contreras" userId="9ea49ee18badb19e" providerId="LiveId" clId="{A76FC210-1F20-4FD1-83FD-EFD4EF6B7804}" dt="2022-10-02T13:33:18.617" v="0" actId="47"/>
        <pc:sldMkLst>
          <pc:docMk/>
          <pc:sldMk cId="4035356059" sldId="264"/>
        </pc:sldMkLst>
      </pc:sldChg>
      <pc:sldChg chg="del">
        <pc:chgData name="Jeremiah Contreras" userId="9ea49ee18badb19e" providerId="LiveId" clId="{A76FC210-1F20-4FD1-83FD-EFD4EF6B7804}" dt="2022-10-02T13:33:18.617" v="0" actId="47"/>
        <pc:sldMkLst>
          <pc:docMk/>
          <pc:sldMk cId="3297006605" sldId="265"/>
        </pc:sldMkLst>
      </pc:sldChg>
      <pc:sldChg chg="del">
        <pc:chgData name="Jeremiah Contreras" userId="9ea49ee18badb19e" providerId="LiveId" clId="{A76FC210-1F20-4FD1-83FD-EFD4EF6B7804}" dt="2022-10-02T13:33:18.617" v="0" actId="47"/>
        <pc:sldMkLst>
          <pc:docMk/>
          <pc:sldMk cId="1789868227" sldId="266"/>
        </pc:sldMkLst>
      </pc:sldChg>
      <pc:sldChg chg="del">
        <pc:chgData name="Jeremiah Contreras" userId="9ea49ee18badb19e" providerId="LiveId" clId="{A76FC210-1F20-4FD1-83FD-EFD4EF6B7804}" dt="2022-10-02T13:33:18.617" v="0" actId="47"/>
        <pc:sldMkLst>
          <pc:docMk/>
          <pc:sldMk cId="2492918943" sldId="267"/>
        </pc:sldMkLst>
      </pc:sldChg>
      <pc:sldChg chg="del">
        <pc:chgData name="Jeremiah Contreras" userId="9ea49ee18badb19e" providerId="LiveId" clId="{A76FC210-1F20-4FD1-83FD-EFD4EF6B7804}" dt="2022-10-02T13:33:18.617" v="0" actId="47"/>
        <pc:sldMkLst>
          <pc:docMk/>
          <pc:sldMk cId="166487527" sldId="268"/>
        </pc:sldMkLst>
      </pc:sldChg>
      <pc:sldChg chg="del">
        <pc:chgData name="Jeremiah Contreras" userId="9ea49ee18badb19e" providerId="LiveId" clId="{A76FC210-1F20-4FD1-83FD-EFD4EF6B7804}" dt="2022-10-02T13:33:18.617" v="0" actId="47"/>
        <pc:sldMkLst>
          <pc:docMk/>
          <pc:sldMk cId="3618536430" sldId="269"/>
        </pc:sldMkLst>
      </pc:sldChg>
      <pc:sldChg chg="del">
        <pc:chgData name="Jeremiah Contreras" userId="9ea49ee18badb19e" providerId="LiveId" clId="{A76FC210-1F20-4FD1-83FD-EFD4EF6B7804}" dt="2022-10-02T13:33:18.617" v="0" actId="47"/>
        <pc:sldMkLst>
          <pc:docMk/>
          <pc:sldMk cId="3005436658" sldId="270"/>
        </pc:sldMkLst>
      </pc:sldChg>
      <pc:sldChg chg="del">
        <pc:chgData name="Jeremiah Contreras" userId="9ea49ee18badb19e" providerId="LiveId" clId="{A76FC210-1F20-4FD1-83FD-EFD4EF6B7804}" dt="2022-10-02T13:33:18.617" v="0" actId="47"/>
        <pc:sldMkLst>
          <pc:docMk/>
          <pc:sldMk cId="2755817217" sldId="271"/>
        </pc:sldMkLst>
      </pc:sldChg>
      <pc:sldChg chg="del">
        <pc:chgData name="Jeremiah Contreras" userId="9ea49ee18badb19e" providerId="LiveId" clId="{A76FC210-1F20-4FD1-83FD-EFD4EF6B7804}" dt="2022-10-02T13:33:18.617" v="0" actId="47"/>
        <pc:sldMkLst>
          <pc:docMk/>
          <pc:sldMk cId="3849650287" sldId="303"/>
        </pc:sldMkLst>
      </pc:sldChg>
      <pc:sldChg chg="del">
        <pc:chgData name="Jeremiah Contreras" userId="9ea49ee18badb19e" providerId="LiveId" clId="{A76FC210-1F20-4FD1-83FD-EFD4EF6B7804}" dt="2022-10-02T13:33:18.617" v="0" actId="47"/>
        <pc:sldMkLst>
          <pc:docMk/>
          <pc:sldMk cId="74012355" sldId="312"/>
        </pc:sldMkLst>
      </pc:sldChg>
      <pc:sldChg chg="del">
        <pc:chgData name="Jeremiah Contreras" userId="9ea49ee18badb19e" providerId="LiveId" clId="{A76FC210-1F20-4FD1-83FD-EFD4EF6B7804}" dt="2022-10-02T13:33:18.617" v="0" actId="47"/>
        <pc:sldMkLst>
          <pc:docMk/>
          <pc:sldMk cId="4107619483" sldId="313"/>
        </pc:sldMkLst>
      </pc:sldChg>
      <pc:sldChg chg="del">
        <pc:chgData name="Jeremiah Contreras" userId="9ea49ee18badb19e" providerId="LiveId" clId="{A76FC210-1F20-4FD1-83FD-EFD4EF6B7804}" dt="2022-10-02T13:33:18.617" v="0" actId="47"/>
        <pc:sldMkLst>
          <pc:docMk/>
          <pc:sldMk cId="3908239784" sldId="315"/>
        </pc:sldMkLst>
      </pc:sldChg>
      <pc:sldChg chg="del">
        <pc:chgData name="Jeremiah Contreras" userId="9ea49ee18badb19e" providerId="LiveId" clId="{A76FC210-1F20-4FD1-83FD-EFD4EF6B7804}" dt="2022-10-02T13:33:18.617" v="0" actId="47"/>
        <pc:sldMkLst>
          <pc:docMk/>
          <pc:sldMk cId="4089285116" sldId="316"/>
        </pc:sldMkLst>
      </pc:sldChg>
      <pc:sldChg chg="del">
        <pc:chgData name="Jeremiah Contreras" userId="9ea49ee18badb19e" providerId="LiveId" clId="{A76FC210-1F20-4FD1-83FD-EFD4EF6B7804}" dt="2022-10-02T13:33:18.617" v="0" actId="47"/>
        <pc:sldMkLst>
          <pc:docMk/>
          <pc:sldMk cId="3343174189" sldId="317"/>
        </pc:sldMkLst>
      </pc:sldChg>
      <pc:sldChg chg="del">
        <pc:chgData name="Jeremiah Contreras" userId="9ea49ee18badb19e" providerId="LiveId" clId="{A76FC210-1F20-4FD1-83FD-EFD4EF6B7804}" dt="2022-10-02T13:33:18.617" v="0" actId="47"/>
        <pc:sldMkLst>
          <pc:docMk/>
          <pc:sldMk cId="3312703074" sldId="318"/>
        </pc:sldMkLst>
      </pc:sldChg>
      <pc:sldChg chg="del">
        <pc:chgData name="Jeremiah Contreras" userId="9ea49ee18badb19e" providerId="LiveId" clId="{A76FC210-1F20-4FD1-83FD-EFD4EF6B7804}" dt="2022-10-02T13:33:18.617" v="0" actId="47"/>
        <pc:sldMkLst>
          <pc:docMk/>
          <pc:sldMk cId="2168469090" sldId="319"/>
        </pc:sldMkLst>
      </pc:sldChg>
      <pc:sldChg chg="del">
        <pc:chgData name="Jeremiah Contreras" userId="9ea49ee18badb19e" providerId="LiveId" clId="{A76FC210-1F20-4FD1-83FD-EFD4EF6B7804}" dt="2022-10-02T13:33:18.617" v="0" actId="47"/>
        <pc:sldMkLst>
          <pc:docMk/>
          <pc:sldMk cId="1754518640" sldId="320"/>
        </pc:sldMkLst>
      </pc:sldChg>
      <pc:sldChg chg="del">
        <pc:chgData name="Jeremiah Contreras" userId="9ea49ee18badb19e" providerId="LiveId" clId="{A76FC210-1F20-4FD1-83FD-EFD4EF6B7804}" dt="2022-10-02T13:33:18.617" v="0" actId="47"/>
        <pc:sldMkLst>
          <pc:docMk/>
          <pc:sldMk cId="2974719281" sldId="322"/>
        </pc:sldMkLst>
      </pc:sldChg>
      <pc:sldChg chg="del">
        <pc:chgData name="Jeremiah Contreras" userId="9ea49ee18badb19e" providerId="LiveId" clId="{A76FC210-1F20-4FD1-83FD-EFD4EF6B7804}" dt="2022-10-02T13:33:18.617" v="0" actId="47"/>
        <pc:sldMkLst>
          <pc:docMk/>
          <pc:sldMk cId="4230137081" sldId="323"/>
        </pc:sldMkLst>
      </pc:sldChg>
      <pc:sldChg chg="del">
        <pc:chgData name="Jeremiah Contreras" userId="9ea49ee18badb19e" providerId="LiveId" clId="{A76FC210-1F20-4FD1-83FD-EFD4EF6B7804}" dt="2022-10-02T13:33:18.617" v="0" actId="47"/>
        <pc:sldMkLst>
          <pc:docMk/>
          <pc:sldMk cId="599951594" sldId="324"/>
        </pc:sldMkLst>
      </pc:sldChg>
      <pc:sldChg chg="del">
        <pc:chgData name="Jeremiah Contreras" userId="9ea49ee18badb19e" providerId="LiveId" clId="{A76FC210-1F20-4FD1-83FD-EFD4EF6B7804}" dt="2022-10-02T13:33:18.617" v="0" actId="47"/>
        <pc:sldMkLst>
          <pc:docMk/>
          <pc:sldMk cId="109877198" sldId="325"/>
        </pc:sldMkLst>
      </pc:sldChg>
      <pc:sldChg chg="del">
        <pc:chgData name="Jeremiah Contreras" userId="9ea49ee18badb19e" providerId="LiveId" clId="{A76FC210-1F20-4FD1-83FD-EFD4EF6B7804}" dt="2022-10-02T13:33:18.617" v="0" actId="47"/>
        <pc:sldMkLst>
          <pc:docMk/>
          <pc:sldMk cId="4006210989" sldId="327"/>
        </pc:sldMkLst>
      </pc:sldChg>
      <pc:sldChg chg="del">
        <pc:chgData name="Jeremiah Contreras" userId="9ea49ee18badb19e" providerId="LiveId" clId="{A76FC210-1F20-4FD1-83FD-EFD4EF6B7804}" dt="2022-10-02T13:33:18.617" v="0" actId="47"/>
        <pc:sldMkLst>
          <pc:docMk/>
          <pc:sldMk cId="518102948" sldId="328"/>
        </pc:sldMkLst>
      </pc:sldChg>
      <pc:sldChg chg="del">
        <pc:chgData name="Jeremiah Contreras" userId="9ea49ee18badb19e" providerId="LiveId" clId="{A76FC210-1F20-4FD1-83FD-EFD4EF6B7804}" dt="2022-10-02T13:33:18.617" v="0" actId="47"/>
        <pc:sldMkLst>
          <pc:docMk/>
          <pc:sldMk cId="2538548394" sldId="329"/>
        </pc:sldMkLst>
      </pc:sldChg>
      <pc:sldMasterChg chg="delSldLayout">
        <pc:chgData name="Jeremiah Contreras" userId="9ea49ee18badb19e" providerId="LiveId" clId="{A76FC210-1F20-4FD1-83FD-EFD4EF6B7804}" dt="2022-10-02T13:33:18.617" v="0" actId="47"/>
        <pc:sldMasterMkLst>
          <pc:docMk/>
          <pc:sldMasterMk cId="2055560233" sldId="2147483648"/>
        </pc:sldMasterMkLst>
        <pc:sldLayoutChg chg="del">
          <pc:chgData name="Jeremiah Contreras" userId="9ea49ee18badb19e" providerId="LiveId" clId="{A76FC210-1F20-4FD1-83FD-EFD4EF6B7804}" dt="2022-10-02T13:33:18.617" v="0" actId="47"/>
          <pc:sldLayoutMkLst>
            <pc:docMk/>
            <pc:sldMasterMk cId="2055560233" sldId="2147483648"/>
            <pc:sldLayoutMk cId="2615599267" sldId="2147483660"/>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7C0292-1F51-4378-8380-05B0EA8CE2E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41FEFCB-F160-4E74-96C6-F731E37ECFC4}">
      <dgm:prSet phldrT="[Text]"/>
      <dgm:spPr/>
      <dgm:t>
        <a:bodyPr/>
        <a:lstStyle/>
        <a:p>
          <a:r>
            <a:rPr lang="en-US" dirty="0"/>
            <a:t>Transfer of Receivables</a:t>
          </a:r>
        </a:p>
      </dgm:t>
    </dgm:pt>
    <dgm:pt modelId="{10D33621-83C0-4E80-9569-442687223137}" type="parTrans" cxnId="{2C614E03-5420-4B5A-915C-9A484F44A4A9}">
      <dgm:prSet/>
      <dgm:spPr/>
      <dgm:t>
        <a:bodyPr/>
        <a:lstStyle/>
        <a:p>
          <a:endParaRPr lang="en-US"/>
        </a:p>
      </dgm:t>
    </dgm:pt>
    <dgm:pt modelId="{D0CAECB2-BE09-4068-8C18-A33FF73E252A}" type="sibTrans" cxnId="{2C614E03-5420-4B5A-915C-9A484F44A4A9}">
      <dgm:prSet/>
      <dgm:spPr/>
      <dgm:t>
        <a:bodyPr/>
        <a:lstStyle/>
        <a:p>
          <a:endParaRPr lang="en-US"/>
        </a:p>
      </dgm:t>
    </dgm:pt>
    <dgm:pt modelId="{F5805692-2041-41E1-8AB5-511C9D3A5DB5}">
      <dgm:prSet phldrT="[Text]"/>
      <dgm:spPr/>
      <dgm:t>
        <a:bodyPr/>
        <a:lstStyle/>
        <a:p>
          <a:r>
            <a:rPr lang="en-US" dirty="0"/>
            <a:t>Secured Borrowing</a:t>
          </a:r>
        </a:p>
      </dgm:t>
    </dgm:pt>
    <dgm:pt modelId="{3771827C-5180-4A1A-92D2-5049C715FD49}" type="parTrans" cxnId="{CC7CB37B-5CEA-4635-AAD2-041A78A63519}">
      <dgm:prSet/>
      <dgm:spPr/>
      <dgm:t>
        <a:bodyPr/>
        <a:lstStyle/>
        <a:p>
          <a:endParaRPr lang="en-US"/>
        </a:p>
      </dgm:t>
    </dgm:pt>
    <dgm:pt modelId="{339CCAEC-2BC3-4B2C-AF80-8C4897BEE874}" type="sibTrans" cxnId="{CC7CB37B-5CEA-4635-AAD2-041A78A63519}">
      <dgm:prSet/>
      <dgm:spPr/>
      <dgm:t>
        <a:bodyPr/>
        <a:lstStyle/>
        <a:p>
          <a:endParaRPr lang="en-US"/>
        </a:p>
      </dgm:t>
    </dgm:pt>
    <dgm:pt modelId="{5F87F8AD-9A0A-4E06-90FF-15A0399475DC}">
      <dgm:prSet phldrT="[Text]"/>
      <dgm:spPr/>
      <dgm:t>
        <a:bodyPr/>
        <a:lstStyle/>
        <a:p>
          <a:r>
            <a:rPr lang="en-US" dirty="0"/>
            <a:t>Sell/Factor</a:t>
          </a:r>
        </a:p>
      </dgm:t>
    </dgm:pt>
    <dgm:pt modelId="{1DE41224-D5DE-4888-8282-7065A9F8B3D6}" type="parTrans" cxnId="{F2F5965A-B758-45ED-B6BC-1B46D359489E}">
      <dgm:prSet/>
      <dgm:spPr/>
      <dgm:t>
        <a:bodyPr/>
        <a:lstStyle/>
        <a:p>
          <a:endParaRPr lang="en-US"/>
        </a:p>
      </dgm:t>
    </dgm:pt>
    <dgm:pt modelId="{765DCD5F-F70A-46D9-B153-35D2E1EC6A02}" type="sibTrans" cxnId="{F2F5965A-B758-45ED-B6BC-1B46D359489E}">
      <dgm:prSet/>
      <dgm:spPr/>
      <dgm:t>
        <a:bodyPr/>
        <a:lstStyle/>
        <a:p>
          <a:endParaRPr lang="en-US"/>
        </a:p>
      </dgm:t>
    </dgm:pt>
    <dgm:pt modelId="{956CB9FC-BE38-4C10-8D88-798528C5E9C7}">
      <dgm:prSet/>
      <dgm:spPr/>
      <dgm:t>
        <a:bodyPr/>
        <a:lstStyle/>
        <a:p>
          <a:r>
            <a:rPr lang="en-US" dirty="0"/>
            <a:t>Securitize Receivables</a:t>
          </a:r>
        </a:p>
      </dgm:t>
    </dgm:pt>
    <dgm:pt modelId="{5E010302-A70E-402A-9685-6FC42D618A37}" type="parTrans" cxnId="{C1575274-EAD6-43C6-9D18-D6572233F031}">
      <dgm:prSet/>
      <dgm:spPr/>
    </dgm:pt>
    <dgm:pt modelId="{BA7F2B42-7BA0-4A46-9D90-12B01A388874}" type="sibTrans" cxnId="{C1575274-EAD6-43C6-9D18-D6572233F031}">
      <dgm:prSet/>
      <dgm:spPr/>
    </dgm:pt>
    <dgm:pt modelId="{8C1EDA2B-BEA2-467A-A1E4-5A72020A6D8F}" type="pres">
      <dgm:prSet presAssocID="{8B7C0292-1F51-4378-8380-05B0EA8CE2E1}" presName="hierChild1" presStyleCnt="0">
        <dgm:presLayoutVars>
          <dgm:orgChart val="1"/>
          <dgm:chPref val="1"/>
          <dgm:dir/>
          <dgm:animOne val="branch"/>
          <dgm:animLvl val="lvl"/>
          <dgm:resizeHandles/>
        </dgm:presLayoutVars>
      </dgm:prSet>
      <dgm:spPr/>
    </dgm:pt>
    <dgm:pt modelId="{2A366C30-1CD8-49D7-A3BA-804BDAC72591}" type="pres">
      <dgm:prSet presAssocID="{C41FEFCB-F160-4E74-96C6-F731E37ECFC4}" presName="hierRoot1" presStyleCnt="0">
        <dgm:presLayoutVars>
          <dgm:hierBranch val="init"/>
        </dgm:presLayoutVars>
      </dgm:prSet>
      <dgm:spPr/>
    </dgm:pt>
    <dgm:pt modelId="{A55CC1E5-511C-4D82-92DF-FF938A8F94A9}" type="pres">
      <dgm:prSet presAssocID="{C41FEFCB-F160-4E74-96C6-F731E37ECFC4}" presName="rootComposite1" presStyleCnt="0"/>
      <dgm:spPr/>
    </dgm:pt>
    <dgm:pt modelId="{85CBDF16-36A4-4096-BE27-5D39A967E8C2}" type="pres">
      <dgm:prSet presAssocID="{C41FEFCB-F160-4E74-96C6-F731E37ECFC4}" presName="rootText1" presStyleLbl="node0" presStyleIdx="0" presStyleCnt="1" custScaleX="144832">
        <dgm:presLayoutVars>
          <dgm:chPref val="3"/>
        </dgm:presLayoutVars>
      </dgm:prSet>
      <dgm:spPr/>
    </dgm:pt>
    <dgm:pt modelId="{FB615334-18B3-463D-97B4-3DBDFD2D99E0}" type="pres">
      <dgm:prSet presAssocID="{C41FEFCB-F160-4E74-96C6-F731E37ECFC4}" presName="rootConnector1" presStyleLbl="node1" presStyleIdx="0" presStyleCnt="0"/>
      <dgm:spPr/>
    </dgm:pt>
    <dgm:pt modelId="{EB5D9A3B-7A7B-496C-A38A-87F0B27C9BAB}" type="pres">
      <dgm:prSet presAssocID="{C41FEFCB-F160-4E74-96C6-F731E37ECFC4}" presName="hierChild2" presStyleCnt="0"/>
      <dgm:spPr/>
    </dgm:pt>
    <dgm:pt modelId="{1CD9E785-FE97-4378-BD4E-6A2BFDF33A1E}" type="pres">
      <dgm:prSet presAssocID="{3771827C-5180-4A1A-92D2-5049C715FD49}" presName="Name37" presStyleLbl="parChTrans1D2" presStyleIdx="0" presStyleCnt="3"/>
      <dgm:spPr/>
    </dgm:pt>
    <dgm:pt modelId="{1CF7620D-16F9-4C60-A627-D1E3C19D613D}" type="pres">
      <dgm:prSet presAssocID="{F5805692-2041-41E1-8AB5-511C9D3A5DB5}" presName="hierRoot2" presStyleCnt="0">
        <dgm:presLayoutVars>
          <dgm:hierBranch val="init"/>
        </dgm:presLayoutVars>
      </dgm:prSet>
      <dgm:spPr/>
    </dgm:pt>
    <dgm:pt modelId="{B246FF62-0C9D-4CA5-90A0-7CC7FFEBED65}" type="pres">
      <dgm:prSet presAssocID="{F5805692-2041-41E1-8AB5-511C9D3A5DB5}" presName="rootComposite" presStyleCnt="0"/>
      <dgm:spPr/>
    </dgm:pt>
    <dgm:pt modelId="{9930C9E6-36C9-4133-9220-9729937618AB}" type="pres">
      <dgm:prSet presAssocID="{F5805692-2041-41E1-8AB5-511C9D3A5DB5}" presName="rootText" presStyleLbl="node2" presStyleIdx="0" presStyleCnt="3">
        <dgm:presLayoutVars>
          <dgm:chPref val="3"/>
        </dgm:presLayoutVars>
      </dgm:prSet>
      <dgm:spPr/>
    </dgm:pt>
    <dgm:pt modelId="{73AE254A-F006-4DA0-9E5F-EACFC8EADA1F}" type="pres">
      <dgm:prSet presAssocID="{F5805692-2041-41E1-8AB5-511C9D3A5DB5}" presName="rootConnector" presStyleLbl="node2" presStyleIdx="0" presStyleCnt="3"/>
      <dgm:spPr/>
    </dgm:pt>
    <dgm:pt modelId="{DFD465EC-1E5A-4704-891A-E8400FF36DC4}" type="pres">
      <dgm:prSet presAssocID="{F5805692-2041-41E1-8AB5-511C9D3A5DB5}" presName="hierChild4" presStyleCnt="0"/>
      <dgm:spPr/>
    </dgm:pt>
    <dgm:pt modelId="{B1AB828F-010A-4635-88E8-9C4AC4F04A33}" type="pres">
      <dgm:prSet presAssocID="{F5805692-2041-41E1-8AB5-511C9D3A5DB5}" presName="hierChild5" presStyleCnt="0"/>
      <dgm:spPr/>
    </dgm:pt>
    <dgm:pt modelId="{0DD66D15-BBA1-4BB2-9CA4-3E8ECAE6DE13}" type="pres">
      <dgm:prSet presAssocID="{1DE41224-D5DE-4888-8282-7065A9F8B3D6}" presName="Name37" presStyleLbl="parChTrans1D2" presStyleIdx="1" presStyleCnt="3"/>
      <dgm:spPr/>
    </dgm:pt>
    <dgm:pt modelId="{A1C04401-7687-43F6-BE66-9F0C53DA223F}" type="pres">
      <dgm:prSet presAssocID="{5F87F8AD-9A0A-4E06-90FF-15A0399475DC}" presName="hierRoot2" presStyleCnt="0">
        <dgm:presLayoutVars>
          <dgm:hierBranch val="init"/>
        </dgm:presLayoutVars>
      </dgm:prSet>
      <dgm:spPr/>
    </dgm:pt>
    <dgm:pt modelId="{57D9FD0A-50FC-4F52-9A90-E9B7E1436A7A}" type="pres">
      <dgm:prSet presAssocID="{5F87F8AD-9A0A-4E06-90FF-15A0399475DC}" presName="rootComposite" presStyleCnt="0"/>
      <dgm:spPr/>
    </dgm:pt>
    <dgm:pt modelId="{3376FE84-C8B8-4F16-823C-4BCC12F93234}" type="pres">
      <dgm:prSet presAssocID="{5F87F8AD-9A0A-4E06-90FF-15A0399475DC}" presName="rootText" presStyleLbl="node2" presStyleIdx="1" presStyleCnt="3">
        <dgm:presLayoutVars>
          <dgm:chPref val="3"/>
        </dgm:presLayoutVars>
      </dgm:prSet>
      <dgm:spPr/>
    </dgm:pt>
    <dgm:pt modelId="{F2DA9C49-F41D-4E92-B5D2-340ECD83D054}" type="pres">
      <dgm:prSet presAssocID="{5F87F8AD-9A0A-4E06-90FF-15A0399475DC}" presName="rootConnector" presStyleLbl="node2" presStyleIdx="1" presStyleCnt="3"/>
      <dgm:spPr/>
    </dgm:pt>
    <dgm:pt modelId="{4C7DC9AF-CB86-435E-8B64-FE8AC7EEA079}" type="pres">
      <dgm:prSet presAssocID="{5F87F8AD-9A0A-4E06-90FF-15A0399475DC}" presName="hierChild4" presStyleCnt="0"/>
      <dgm:spPr/>
    </dgm:pt>
    <dgm:pt modelId="{5F444E41-44C1-42B9-B3A9-1B87A786ED28}" type="pres">
      <dgm:prSet presAssocID="{5F87F8AD-9A0A-4E06-90FF-15A0399475DC}" presName="hierChild5" presStyleCnt="0"/>
      <dgm:spPr/>
    </dgm:pt>
    <dgm:pt modelId="{85F652E7-775C-4313-94BE-C652BDA85396}" type="pres">
      <dgm:prSet presAssocID="{5E010302-A70E-402A-9685-6FC42D618A37}" presName="Name37" presStyleLbl="parChTrans1D2" presStyleIdx="2" presStyleCnt="3"/>
      <dgm:spPr/>
    </dgm:pt>
    <dgm:pt modelId="{5C8C92DB-6FA6-478B-B912-A740C9F9340C}" type="pres">
      <dgm:prSet presAssocID="{956CB9FC-BE38-4C10-8D88-798528C5E9C7}" presName="hierRoot2" presStyleCnt="0">
        <dgm:presLayoutVars>
          <dgm:hierBranch val="init"/>
        </dgm:presLayoutVars>
      </dgm:prSet>
      <dgm:spPr/>
    </dgm:pt>
    <dgm:pt modelId="{B61389EA-8C7A-489F-A884-7DA87DB5A335}" type="pres">
      <dgm:prSet presAssocID="{956CB9FC-BE38-4C10-8D88-798528C5E9C7}" presName="rootComposite" presStyleCnt="0"/>
      <dgm:spPr/>
    </dgm:pt>
    <dgm:pt modelId="{D10E6289-C91E-4663-B650-6EF48470E54E}" type="pres">
      <dgm:prSet presAssocID="{956CB9FC-BE38-4C10-8D88-798528C5E9C7}" presName="rootText" presStyleLbl="node2" presStyleIdx="2" presStyleCnt="3">
        <dgm:presLayoutVars>
          <dgm:chPref val="3"/>
        </dgm:presLayoutVars>
      </dgm:prSet>
      <dgm:spPr/>
    </dgm:pt>
    <dgm:pt modelId="{6C301A90-DEF5-457C-99EF-EBD6B9E0FAB2}" type="pres">
      <dgm:prSet presAssocID="{956CB9FC-BE38-4C10-8D88-798528C5E9C7}" presName="rootConnector" presStyleLbl="node2" presStyleIdx="2" presStyleCnt="3"/>
      <dgm:spPr/>
    </dgm:pt>
    <dgm:pt modelId="{32193720-A57A-406D-A94E-9460048DA0AC}" type="pres">
      <dgm:prSet presAssocID="{956CB9FC-BE38-4C10-8D88-798528C5E9C7}" presName="hierChild4" presStyleCnt="0"/>
      <dgm:spPr/>
    </dgm:pt>
    <dgm:pt modelId="{BD3E2E86-137C-44B1-9D1D-78DA5AB0958D}" type="pres">
      <dgm:prSet presAssocID="{956CB9FC-BE38-4C10-8D88-798528C5E9C7}" presName="hierChild5" presStyleCnt="0"/>
      <dgm:spPr/>
    </dgm:pt>
    <dgm:pt modelId="{57929786-43FA-43B3-9528-9531F3BDBBCF}" type="pres">
      <dgm:prSet presAssocID="{C41FEFCB-F160-4E74-96C6-F731E37ECFC4}" presName="hierChild3" presStyleCnt="0"/>
      <dgm:spPr/>
    </dgm:pt>
  </dgm:ptLst>
  <dgm:cxnLst>
    <dgm:cxn modelId="{2C614E03-5420-4B5A-915C-9A484F44A4A9}" srcId="{8B7C0292-1F51-4378-8380-05B0EA8CE2E1}" destId="{C41FEFCB-F160-4E74-96C6-F731E37ECFC4}" srcOrd="0" destOrd="0" parTransId="{10D33621-83C0-4E80-9569-442687223137}" sibTransId="{D0CAECB2-BE09-4068-8C18-A33FF73E252A}"/>
    <dgm:cxn modelId="{C7215320-7039-455D-82FC-974B426034DB}" type="presOf" srcId="{8B7C0292-1F51-4378-8380-05B0EA8CE2E1}" destId="{8C1EDA2B-BEA2-467A-A1E4-5A72020A6D8F}" srcOrd="0" destOrd="0" presId="urn:microsoft.com/office/officeart/2005/8/layout/orgChart1"/>
    <dgm:cxn modelId="{CBA94527-6FF1-4C93-B334-DFA44571667F}" type="presOf" srcId="{F5805692-2041-41E1-8AB5-511C9D3A5DB5}" destId="{9930C9E6-36C9-4133-9220-9729937618AB}" srcOrd="0" destOrd="0" presId="urn:microsoft.com/office/officeart/2005/8/layout/orgChart1"/>
    <dgm:cxn modelId="{A7F6645F-161B-4125-9442-0CFA17BF0B0A}" type="presOf" srcId="{C41FEFCB-F160-4E74-96C6-F731E37ECFC4}" destId="{85CBDF16-36A4-4096-BE27-5D39A967E8C2}" srcOrd="0" destOrd="0" presId="urn:microsoft.com/office/officeart/2005/8/layout/orgChart1"/>
    <dgm:cxn modelId="{C015E345-292B-4CDC-959E-D2569EBE0165}" type="presOf" srcId="{5E010302-A70E-402A-9685-6FC42D618A37}" destId="{85F652E7-775C-4313-94BE-C652BDA85396}" srcOrd="0" destOrd="0" presId="urn:microsoft.com/office/officeart/2005/8/layout/orgChart1"/>
    <dgm:cxn modelId="{B3C24553-B5B1-4AF9-9F8E-248A432433B1}" type="presOf" srcId="{1DE41224-D5DE-4888-8282-7065A9F8B3D6}" destId="{0DD66D15-BBA1-4BB2-9CA4-3E8ECAE6DE13}" srcOrd="0" destOrd="0" presId="urn:microsoft.com/office/officeart/2005/8/layout/orgChart1"/>
    <dgm:cxn modelId="{C1575274-EAD6-43C6-9D18-D6572233F031}" srcId="{C41FEFCB-F160-4E74-96C6-F731E37ECFC4}" destId="{956CB9FC-BE38-4C10-8D88-798528C5E9C7}" srcOrd="2" destOrd="0" parTransId="{5E010302-A70E-402A-9685-6FC42D618A37}" sibTransId="{BA7F2B42-7BA0-4A46-9D90-12B01A388874}"/>
    <dgm:cxn modelId="{F2F5965A-B758-45ED-B6BC-1B46D359489E}" srcId="{C41FEFCB-F160-4E74-96C6-F731E37ECFC4}" destId="{5F87F8AD-9A0A-4E06-90FF-15A0399475DC}" srcOrd="1" destOrd="0" parTransId="{1DE41224-D5DE-4888-8282-7065A9F8B3D6}" sibTransId="{765DCD5F-F70A-46D9-B153-35D2E1EC6A02}"/>
    <dgm:cxn modelId="{CC7CB37B-5CEA-4635-AAD2-041A78A63519}" srcId="{C41FEFCB-F160-4E74-96C6-F731E37ECFC4}" destId="{F5805692-2041-41E1-8AB5-511C9D3A5DB5}" srcOrd="0" destOrd="0" parTransId="{3771827C-5180-4A1A-92D2-5049C715FD49}" sibTransId="{339CCAEC-2BC3-4B2C-AF80-8C4897BEE874}"/>
    <dgm:cxn modelId="{F15219AA-5B9F-43CC-BDDD-C2F92A940F0E}" type="presOf" srcId="{5F87F8AD-9A0A-4E06-90FF-15A0399475DC}" destId="{3376FE84-C8B8-4F16-823C-4BCC12F93234}" srcOrd="0" destOrd="0" presId="urn:microsoft.com/office/officeart/2005/8/layout/orgChart1"/>
    <dgm:cxn modelId="{A47A0FAF-D0A4-43D8-B263-71B85B46B267}" type="presOf" srcId="{956CB9FC-BE38-4C10-8D88-798528C5E9C7}" destId="{D10E6289-C91E-4663-B650-6EF48470E54E}" srcOrd="0" destOrd="0" presId="urn:microsoft.com/office/officeart/2005/8/layout/orgChart1"/>
    <dgm:cxn modelId="{1074A3CF-A79C-4D46-91E6-4E509BC87577}" type="presOf" srcId="{956CB9FC-BE38-4C10-8D88-798528C5E9C7}" destId="{6C301A90-DEF5-457C-99EF-EBD6B9E0FAB2}" srcOrd="1" destOrd="0" presId="urn:microsoft.com/office/officeart/2005/8/layout/orgChart1"/>
    <dgm:cxn modelId="{F7DABFE4-FAA0-4D3D-8BE0-43982F458798}" type="presOf" srcId="{3771827C-5180-4A1A-92D2-5049C715FD49}" destId="{1CD9E785-FE97-4378-BD4E-6A2BFDF33A1E}" srcOrd="0" destOrd="0" presId="urn:microsoft.com/office/officeart/2005/8/layout/orgChart1"/>
    <dgm:cxn modelId="{26F317F4-B3D5-4263-AD5C-50FA36195B3C}" type="presOf" srcId="{5F87F8AD-9A0A-4E06-90FF-15A0399475DC}" destId="{F2DA9C49-F41D-4E92-B5D2-340ECD83D054}" srcOrd="1" destOrd="0" presId="urn:microsoft.com/office/officeart/2005/8/layout/orgChart1"/>
    <dgm:cxn modelId="{2C6E58F6-98D5-4625-BCDE-6288FCBC9342}" type="presOf" srcId="{F5805692-2041-41E1-8AB5-511C9D3A5DB5}" destId="{73AE254A-F006-4DA0-9E5F-EACFC8EADA1F}" srcOrd="1" destOrd="0" presId="urn:microsoft.com/office/officeart/2005/8/layout/orgChart1"/>
    <dgm:cxn modelId="{CB4BA2FA-93FA-49AA-BE58-A32EE3596E3C}" type="presOf" srcId="{C41FEFCB-F160-4E74-96C6-F731E37ECFC4}" destId="{FB615334-18B3-463D-97B4-3DBDFD2D99E0}" srcOrd="1" destOrd="0" presId="urn:microsoft.com/office/officeart/2005/8/layout/orgChart1"/>
    <dgm:cxn modelId="{40CE6150-26A4-4438-985B-DB71B35AE9BB}" type="presParOf" srcId="{8C1EDA2B-BEA2-467A-A1E4-5A72020A6D8F}" destId="{2A366C30-1CD8-49D7-A3BA-804BDAC72591}" srcOrd="0" destOrd="0" presId="urn:microsoft.com/office/officeart/2005/8/layout/orgChart1"/>
    <dgm:cxn modelId="{7B2DA900-8BE9-420F-8ABF-69F2E2ABB52C}" type="presParOf" srcId="{2A366C30-1CD8-49D7-A3BA-804BDAC72591}" destId="{A55CC1E5-511C-4D82-92DF-FF938A8F94A9}" srcOrd="0" destOrd="0" presId="urn:microsoft.com/office/officeart/2005/8/layout/orgChart1"/>
    <dgm:cxn modelId="{77C8EBED-2155-4196-A8A8-E9A294B47AFA}" type="presParOf" srcId="{A55CC1E5-511C-4D82-92DF-FF938A8F94A9}" destId="{85CBDF16-36A4-4096-BE27-5D39A967E8C2}" srcOrd="0" destOrd="0" presId="urn:microsoft.com/office/officeart/2005/8/layout/orgChart1"/>
    <dgm:cxn modelId="{C07B27AC-A0CC-4D06-8739-27B28130C274}" type="presParOf" srcId="{A55CC1E5-511C-4D82-92DF-FF938A8F94A9}" destId="{FB615334-18B3-463D-97B4-3DBDFD2D99E0}" srcOrd="1" destOrd="0" presId="urn:microsoft.com/office/officeart/2005/8/layout/orgChart1"/>
    <dgm:cxn modelId="{E8AA0175-7750-40E5-BFC1-14DCF961D3CA}" type="presParOf" srcId="{2A366C30-1CD8-49D7-A3BA-804BDAC72591}" destId="{EB5D9A3B-7A7B-496C-A38A-87F0B27C9BAB}" srcOrd="1" destOrd="0" presId="urn:microsoft.com/office/officeart/2005/8/layout/orgChart1"/>
    <dgm:cxn modelId="{57B44768-D087-416A-A846-916A86979B7E}" type="presParOf" srcId="{EB5D9A3B-7A7B-496C-A38A-87F0B27C9BAB}" destId="{1CD9E785-FE97-4378-BD4E-6A2BFDF33A1E}" srcOrd="0" destOrd="0" presId="urn:microsoft.com/office/officeart/2005/8/layout/orgChart1"/>
    <dgm:cxn modelId="{4AABA87E-6C32-4665-A674-86FD20C1C09D}" type="presParOf" srcId="{EB5D9A3B-7A7B-496C-A38A-87F0B27C9BAB}" destId="{1CF7620D-16F9-4C60-A627-D1E3C19D613D}" srcOrd="1" destOrd="0" presId="urn:microsoft.com/office/officeart/2005/8/layout/orgChart1"/>
    <dgm:cxn modelId="{25021A67-AD51-476F-BF62-F2C83C755894}" type="presParOf" srcId="{1CF7620D-16F9-4C60-A627-D1E3C19D613D}" destId="{B246FF62-0C9D-4CA5-90A0-7CC7FFEBED65}" srcOrd="0" destOrd="0" presId="urn:microsoft.com/office/officeart/2005/8/layout/orgChart1"/>
    <dgm:cxn modelId="{309BE909-9D5C-401B-86FE-079C7A5AE2DC}" type="presParOf" srcId="{B246FF62-0C9D-4CA5-90A0-7CC7FFEBED65}" destId="{9930C9E6-36C9-4133-9220-9729937618AB}" srcOrd="0" destOrd="0" presId="urn:microsoft.com/office/officeart/2005/8/layout/orgChart1"/>
    <dgm:cxn modelId="{9FF10313-BD2C-4B26-A82D-0CA2191A7AA2}" type="presParOf" srcId="{B246FF62-0C9D-4CA5-90A0-7CC7FFEBED65}" destId="{73AE254A-F006-4DA0-9E5F-EACFC8EADA1F}" srcOrd="1" destOrd="0" presId="urn:microsoft.com/office/officeart/2005/8/layout/orgChart1"/>
    <dgm:cxn modelId="{F4B767E1-8C0F-4C00-8D9D-E639638B5D48}" type="presParOf" srcId="{1CF7620D-16F9-4C60-A627-D1E3C19D613D}" destId="{DFD465EC-1E5A-4704-891A-E8400FF36DC4}" srcOrd="1" destOrd="0" presId="urn:microsoft.com/office/officeart/2005/8/layout/orgChart1"/>
    <dgm:cxn modelId="{9EEEDA1F-BCDB-4112-8705-FA66A3C451F5}" type="presParOf" srcId="{1CF7620D-16F9-4C60-A627-D1E3C19D613D}" destId="{B1AB828F-010A-4635-88E8-9C4AC4F04A33}" srcOrd="2" destOrd="0" presId="urn:microsoft.com/office/officeart/2005/8/layout/orgChart1"/>
    <dgm:cxn modelId="{6EA38BDD-2CF7-41AB-AFAC-387C2F521C28}" type="presParOf" srcId="{EB5D9A3B-7A7B-496C-A38A-87F0B27C9BAB}" destId="{0DD66D15-BBA1-4BB2-9CA4-3E8ECAE6DE13}" srcOrd="2" destOrd="0" presId="urn:microsoft.com/office/officeart/2005/8/layout/orgChart1"/>
    <dgm:cxn modelId="{8CC08B51-FB15-4495-81B9-819E7F563955}" type="presParOf" srcId="{EB5D9A3B-7A7B-496C-A38A-87F0B27C9BAB}" destId="{A1C04401-7687-43F6-BE66-9F0C53DA223F}" srcOrd="3" destOrd="0" presId="urn:microsoft.com/office/officeart/2005/8/layout/orgChart1"/>
    <dgm:cxn modelId="{E652140F-ED54-48C8-B3C1-9EA03B5D52FC}" type="presParOf" srcId="{A1C04401-7687-43F6-BE66-9F0C53DA223F}" destId="{57D9FD0A-50FC-4F52-9A90-E9B7E1436A7A}" srcOrd="0" destOrd="0" presId="urn:microsoft.com/office/officeart/2005/8/layout/orgChart1"/>
    <dgm:cxn modelId="{24B0DC55-0089-4EAF-BA04-975139A796FA}" type="presParOf" srcId="{57D9FD0A-50FC-4F52-9A90-E9B7E1436A7A}" destId="{3376FE84-C8B8-4F16-823C-4BCC12F93234}" srcOrd="0" destOrd="0" presId="urn:microsoft.com/office/officeart/2005/8/layout/orgChart1"/>
    <dgm:cxn modelId="{D882D20C-F905-4325-8919-0D65ED0EDC86}" type="presParOf" srcId="{57D9FD0A-50FC-4F52-9A90-E9B7E1436A7A}" destId="{F2DA9C49-F41D-4E92-B5D2-340ECD83D054}" srcOrd="1" destOrd="0" presId="urn:microsoft.com/office/officeart/2005/8/layout/orgChart1"/>
    <dgm:cxn modelId="{54F32917-E4B1-4694-BC63-EB66FF173612}" type="presParOf" srcId="{A1C04401-7687-43F6-BE66-9F0C53DA223F}" destId="{4C7DC9AF-CB86-435E-8B64-FE8AC7EEA079}" srcOrd="1" destOrd="0" presId="urn:microsoft.com/office/officeart/2005/8/layout/orgChart1"/>
    <dgm:cxn modelId="{734299EB-D04C-4D9B-A6DF-12C117CB6D90}" type="presParOf" srcId="{A1C04401-7687-43F6-BE66-9F0C53DA223F}" destId="{5F444E41-44C1-42B9-B3A9-1B87A786ED28}" srcOrd="2" destOrd="0" presId="urn:microsoft.com/office/officeart/2005/8/layout/orgChart1"/>
    <dgm:cxn modelId="{9512B6E4-C995-4B4D-BA6F-B61161DF867D}" type="presParOf" srcId="{EB5D9A3B-7A7B-496C-A38A-87F0B27C9BAB}" destId="{85F652E7-775C-4313-94BE-C652BDA85396}" srcOrd="4" destOrd="0" presId="urn:microsoft.com/office/officeart/2005/8/layout/orgChart1"/>
    <dgm:cxn modelId="{0AA626DB-B91E-4C1E-8E8F-C318BB325D65}" type="presParOf" srcId="{EB5D9A3B-7A7B-496C-A38A-87F0B27C9BAB}" destId="{5C8C92DB-6FA6-478B-B912-A740C9F9340C}" srcOrd="5" destOrd="0" presId="urn:microsoft.com/office/officeart/2005/8/layout/orgChart1"/>
    <dgm:cxn modelId="{6F54B902-A5BD-4588-97ED-16647A59C11D}" type="presParOf" srcId="{5C8C92DB-6FA6-478B-B912-A740C9F9340C}" destId="{B61389EA-8C7A-489F-A884-7DA87DB5A335}" srcOrd="0" destOrd="0" presId="urn:microsoft.com/office/officeart/2005/8/layout/orgChart1"/>
    <dgm:cxn modelId="{D4FBADC0-AE89-4F4D-999A-7D789D64BD75}" type="presParOf" srcId="{B61389EA-8C7A-489F-A884-7DA87DB5A335}" destId="{D10E6289-C91E-4663-B650-6EF48470E54E}" srcOrd="0" destOrd="0" presId="urn:microsoft.com/office/officeart/2005/8/layout/orgChart1"/>
    <dgm:cxn modelId="{C0AD4F55-B17F-49C7-9514-964151D02A8B}" type="presParOf" srcId="{B61389EA-8C7A-489F-A884-7DA87DB5A335}" destId="{6C301A90-DEF5-457C-99EF-EBD6B9E0FAB2}" srcOrd="1" destOrd="0" presId="urn:microsoft.com/office/officeart/2005/8/layout/orgChart1"/>
    <dgm:cxn modelId="{289C0C20-642F-4D67-A691-15DC8FFA9251}" type="presParOf" srcId="{5C8C92DB-6FA6-478B-B912-A740C9F9340C}" destId="{32193720-A57A-406D-A94E-9460048DA0AC}" srcOrd="1" destOrd="0" presId="urn:microsoft.com/office/officeart/2005/8/layout/orgChart1"/>
    <dgm:cxn modelId="{ED8CAA0E-5816-49B4-AFED-AC49AB77C7AF}" type="presParOf" srcId="{5C8C92DB-6FA6-478B-B912-A740C9F9340C}" destId="{BD3E2E86-137C-44B1-9D1D-78DA5AB0958D}" srcOrd="2" destOrd="0" presId="urn:microsoft.com/office/officeart/2005/8/layout/orgChart1"/>
    <dgm:cxn modelId="{CA51333B-5303-4DAA-9E19-A90DEDB709AD}" type="presParOf" srcId="{2A366C30-1CD8-49D7-A3BA-804BDAC72591}" destId="{57929786-43FA-43B3-9528-9531F3BDBBC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7C0292-1F51-4378-8380-05B0EA8CE2E1}"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41FEFCB-F160-4E74-96C6-F731E37ECFC4}">
      <dgm:prSet phldrT="[Text]"/>
      <dgm:spPr/>
      <dgm:t>
        <a:bodyPr/>
        <a:lstStyle/>
        <a:p>
          <a:r>
            <a:rPr lang="en-US" dirty="0"/>
            <a:t>Transfer of Receivables</a:t>
          </a:r>
        </a:p>
      </dgm:t>
    </dgm:pt>
    <dgm:pt modelId="{10D33621-83C0-4E80-9569-442687223137}" type="parTrans" cxnId="{2C614E03-5420-4B5A-915C-9A484F44A4A9}">
      <dgm:prSet/>
      <dgm:spPr/>
      <dgm:t>
        <a:bodyPr/>
        <a:lstStyle/>
        <a:p>
          <a:endParaRPr lang="en-US"/>
        </a:p>
      </dgm:t>
    </dgm:pt>
    <dgm:pt modelId="{D0CAECB2-BE09-4068-8C18-A33FF73E252A}" type="sibTrans" cxnId="{2C614E03-5420-4B5A-915C-9A484F44A4A9}">
      <dgm:prSet/>
      <dgm:spPr/>
      <dgm:t>
        <a:bodyPr/>
        <a:lstStyle/>
        <a:p>
          <a:endParaRPr lang="en-US"/>
        </a:p>
      </dgm:t>
    </dgm:pt>
    <dgm:pt modelId="{F5805692-2041-41E1-8AB5-511C9D3A5DB5}">
      <dgm:prSet phldrT="[Text]"/>
      <dgm:spPr>
        <a:solidFill>
          <a:srgbClr val="7030A0"/>
        </a:solidFill>
      </dgm:spPr>
      <dgm:t>
        <a:bodyPr/>
        <a:lstStyle/>
        <a:p>
          <a:r>
            <a:rPr lang="en-US" dirty="0"/>
            <a:t>Secured Borrowing</a:t>
          </a:r>
        </a:p>
      </dgm:t>
    </dgm:pt>
    <dgm:pt modelId="{3771827C-5180-4A1A-92D2-5049C715FD49}" type="parTrans" cxnId="{CC7CB37B-5CEA-4635-AAD2-041A78A63519}">
      <dgm:prSet/>
      <dgm:spPr/>
      <dgm:t>
        <a:bodyPr/>
        <a:lstStyle/>
        <a:p>
          <a:endParaRPr lang="en-US"/>
        </a:p>
      </dgm:t>
    </dgm:pt>
    <dgm:pt modelId="{339CCAEC-2BC3-4B2C-AF80-8C4897BEE874}" type="sibTrans" cxnId="{CC7CB37B-5CEA-4635-AAD2-041A78A63519}">
      <dgm:prSet/>
      <dgm:spPr/>
      <dgm:t>
        <a:bodyPr/>
        <a:lstStyle/>
        <a:p>
          <a:endParaRPr lang="en-US"/>
        </a:p>
      </dgm:t>
    </dgm:pt>
    <dgm:pt modelId="{5F87F8AD-9A0A-4E06-90FF-15A0399475DC}">
      <dgm:prSet phldrT="[Text]"/>
      <dgm:spPr/>
      <dgm:t>
        <a:bodyPr/>
        <a:lstStyle/>
        <a:p>
          <a:r>
            <a:rPr lang="en-US" dirty="0"/>
            <a:t>Sell/Factor</a:t>
          </a:r>
        </a:p>
      </dgm:t>
    </dgm:pt>
    <dgm:pt modelId="{1DE41224-D5DE-4888-8282-7065A9F8B3D6}" type="parTrans" cxnId="{F2F5965A-B758-45ED-B6BC-1B46D359489E}">
      <dgm:prSet/>
      <dgm:spPr/>
      <dgm:t>
        <a:bodyPr/>
        <a:lstStyle/>
        <a:p>
          <a:endParaRPr lang="en-US"/>
        </a:p>
      </dgm:t>
    </dgm:pt>
    <dgm:pt modelId="{765DCD5F-F70A-46D9-B153-35D2E1EC6A02}" type="sibTrans" cxnId="{F2F5965A-B758-45ED-B6BC-1B46D359489E}">
      <dgm:prSet/>
      <dgm:spPr/>
      <dgm:t>
        <a:bodyPr/>
        <a:lstStyle/>
        <a:p>
          <a:endParaRPr lang="en-US"/>
        </a:p>
      </dgm:t>
    </dgm:pt>
    <dgm:pt modelId="{52377535-CB34-4DD7-9703-EDE2B2F2222A}">
      <dgm:prSet/>
      <dgm:spPr/>
      <dgm:t>
        <a:bodyPr/>
        <a:lstStyle/>
        <a:p>
          <a:r>
            <a:rPr lang="en-US" dirty="0"/>
            <a:t>Securitize Receivables</a:t>
          </a:r>
        </a:p>
      </dgm:t>
    </dgm:pt>
    <dgm:pt modelId="{151432FA-00F7-4B10-953B-6169D774FABC}" type="parTrans" cxnId="{9D9655CE-5318-436A-87D4-3450C18CA9BC}">
      <dgm:prSet/>
      <dgm:spPr/>
    </dgm:pt>
    <dgm:pt modelId="{EB82EDEF-83CE-42E7-A2B8-E885F6EFA3E1}" type="sibTrans" cxnId="{9D9655CE-5318-436A-87D4-3450C18CA9BC}">
      <dgm:prSet/>
      <dgm:spPr/>
    </dgm:pt>
    <dgm:pt modelId="{8C1EDA2B-BEA2-467A-A1E4-5A72020A6D8F}" type="pres">
      <dgm:prSet presAssocID="{8B7C0292-1F51-4378-8380-05B0EA8CE2E1}" presName="hierChild1" presStyleCnt="0">
        <dgm:presLayoutVars>
          <dgm:orgChart val="1"/>
          <dgm:chPref val="1"/>
          <dgm:dir/>
          <dgm:animOne val="branch"/>
          <dgm:animLvl val="lvl"/>
          <dgm:resizeHandles/>
        </dgm:presLayoutVars>
      </dgm:prSet>
      <dgm:spPr/>
    </dgm:pt>
    <dgm:pt modelId="{2A366C30-1CD8-49D7-A3BA-804BDAC72591}" type="pres">
      <dgm:prSet presAssocID="{C41FEFCB-F160-4E74-96C6-F731E37ECFC4}" presName="hierRoot1" presStyleCnt="0">
        <dgm:presLayoutVars>
          <dgm:hierBranch val="init"/>
        </dgm:presLayoutVars>
      </dgm:prSet>
      <dgm:spPr/>
    </dgm:pt>
    <dgm:pt modelId="{A55CC1E5-511C-4D82-92DF-FF938A8F94A9}" type="pres">
      <dgm:prSet presAssocID="{C41FEFCB-F160-4E74-96C6-F731E37ECFC4}" presName="rootComposite1" presStyleCnt="0"/>
      <dgm:spPr/>
    </dgm:pt>
    <dgm:pt modelId="{85CBDF16-36A4-4096-BE27-5D39A967E8C2}" type="pres">
      <dgm:prSet presAssocID="{C41FEFCB-F160-4E74-96C6-F731E37ECFC4}" presName="rootText1" presStyleLbl="node0" presStyleIdx="0" presStyleCnt="1" custScaleX="144832">
        <dgm:presLayoutVars>
          <dgm:chPref val="3"/>
        </dgm:presLayoutVars>
      </dgm:prSet>
      <dgm:spPr/>
    </dgm:pt>
    <dgm:pt modelId="{FB615334-18B3-463D-97B4-3DBDFD2D99E0}" type="pres">
      <dgm:prSet presAssocID="{C41FEFCB-F160-4E74-96C6-F731E37ECFC4}" presName="rootConnector1" presStyleLbl="node1" presStyleIdx="0" presStyleCnt="0"/>
      <dgm:spPr/>
    </dgm:pt>
    <dgm:pt modelId="{EB5D9A3B-7A7B-496C-A38A-87F0B27C9BAB}" type="pres">
      <dgm:prSet presAssocID="{C41FEFCB-F160-4E74-96C6-F731E37ECFC4}" presName="hierChild2" presStyleCnt="0"/>
      <dgm:spPr/>
    </dgm:pt>
    <dgm:pt modelId="{1CD9E785-FE97-4378-BD4E-6A2BFDF33A1E}" type="pres">
      <dgm:prSet presAssocID="{3771827C-5180-4A1A-92D2-5049C715FD49}" presName="Name37" presStyleLbl="parChTrans1D2" presStyleIdx="0" presStyleCnt="3"/>
      <dgm:spPr/>
    </dgm:pt>
    <dgm:pt modelId="{1CF7620D-16F9-4C60-A627-D1E3C19D613D}" type="pres">
      <dgm:prSet presAssocID="{F5805692-2041-41E1-8AB5-511C9D3A5DB5}" presName="hierRoot2" presStyleCnt="0">
        <dgm:presLayoutVars>
          <dgm:hierBranch val="init"/>
        </dgm:presLayoutVars>
      </dgm:prSet>
      <dgm:spPr/>
    </dgm:pt>
    <dgm:pt modelId="{B246FF62-0C9D-4CA5-90A0-7CC7FFEBED65}" type="pres">
      <dgm:prSet presAssocID="{F5805692-2041-41E1-8AB5-511C9D3A5DB5}" presName="rootComposite" presStyleCnt="0"/>
      <dgm:spPr/>
    </dgm:pt>
    <dgm:pt modelId="{9930C9E6-36C9-4133-9220-9729937618AB}" type="pres">
      <dgm:prSet presAssocID="{F5805692-2041-41E1-8AB5-511C9D3A5DB5}" presName="rootText" presStyleLbl="node2" presStyleIdx="0" presStyleCnt="3">
        <dgm:presLayoutVars>
          <dgm:chPref val="3"/>
        </dgm:presLayoutVars>
      </dgm:prSet>
      <dgm:spPr/>
    </dgm:pt>
    <dgm:pt modelId="{73AE254A-F006-4DA0-9E5F-EACFC8EADA1F}" type="pres">
      <dgm:prSet presAssocID="{F5805692-2041-41E1-8AB5-511C9D3A5DB5}" presName="rootConnector" presStyleLbl="node2" presStyleIdx="0" presStyleCnt="3"/>
      <dgm:spPr/>
    </dgm:pt>
    <dgm:pt modelId="{DFD465EC-1E5A-4704-891A-E8400FF36DC4}" type="pres">
      <dgm:prSet presAssocID="{F5805692-2041-41E1-8AB5-511C9D3A5DB5}" presName="hierChild4" presStyleCnt="0"/>
      <dgm:spPr/>
    </dgm:pt>
    <dgm:pt modelId="{B1AB828F-010A-4635-88E8-9C4AC4F04A33}" type="pres">
      <dgm:prSet presAssocID="{F5805692-2041-41E1-8AB5-511C9D3A5DB5}" presName="hierChild5" presStyleCnt="0"/>
      <dgm:spPr/>
    </dgm:pt>
    <dgm:pt modelId="{0DD66D15-BBA1-4BB2-9CA4-3E8ECAE6DE13}" type="pres">
      <dgm:prSet presAssocID="{1DE41224-D5DE-4888-8282-7065A9F8B3D6}" presName="Name37" presStyleLbl="parChTrans1D2" presStyleIdx="1" presStyleCnt="3"/>
      <dgm:spPr/>
    </dgm:pt>
    <dgm:pt modelId="{A1C04401-7687-43F6-BE66-9F0C53DA223F}" type="pres">
      <dgm:prSet presAssocID="{5F87F8AD-9A0A-4E06-90FF-15A0399475DC}" presName="hierRoot2" presStyleCnt="0">
        <dgm:presLayoutVars>
          <dgm:hierBranch val="init"/>
        </dgm:presLayoutVars>
      </dgm:prSet>
      <dgm:spPr/>
    </dgm:pt>
    <dgm:pt modelId="{57D9FD0A-50FC-4F52-9A90-E9B7E1436A7A}" type="pres">
      <dgm:prSet presAssocID="{5F87F8AD-9A0A-4E06-90FF-15A0399475DC}" presName="rootComposite" presStyleCnt="0"/>
      <dgm:spPr/>
    </dgm:pt>
    <dgm:pt modelId="{3376FE84-C8B8-4F16-823C-4BCC12F93234}" type="pres">
      <dgm:prSet presAssocID="{5F87F8AD-9A0A-4E06-90FF-15A0399475DC}" presName="rootText" presStyleLbl="node2" presStyleIdx="1" presStyleCnt="3">
        <dgm:presLayoutVars>
          <dgm:chPref val="3"/>
        </dgm:presLayoutVars>
      </dgm:prSet>
      <dgm:spPr/>
    </dgm:pt>
    <dgm:pt modelId="{F2DA9C49-F41D-4E92-B5D2-340ECD83D054}" type="pres">
      <dgm:prSet presAssocID="{5F87F8AD-9A0A-4E06-90FF-15A0399475DC}" presName="rootConnector" presStyleLbl="node2" presStyleIdx="1" presStyleCnt="3"/>
      <dgm:spPr/>
    </dgm:pt>
    <dgm:pt modelId="{4C7DC9AF-CB86-435E-8B64-FE8AC7EEA079}" type="pres">
      <dgm:prSet presAssocID="{5F87F8AD-9A0A-4E06-90FF-15A0399475DC}" presName="hierChild4" presStyleCnt="0"/>
      <dgm:spPr/>
    </dgm:pt>
    <dgm:pt modelId="{5F444E41-44C1-42B9-B3A9-1B87A786ED28}" type="pres">
      <dgm:prSet presAssocID="{5F87F8AD-9A0A-4E06-90FF-15A0399475DC}" presName="hierChild5" presStyleCnt="0"/>
      <dgm:spPr/>
    </dgm:pt>
    <dgm:pt modelId="{48DA7B5E-512D-4B2B-9A95-C9CF067A55BD}" type="pres">
      <dgm:prSet presAssocID="{151432FA-00F7-4B10-953B-6169D774FABC}" presName="Name37" presStyleLbl="parChTrans1D2" presStyleIdx="2" presStyleCnt="3"/>
      <dgm:spPr/>
    </dgm:pt>
    <dgm:pt modelId="{667868BE-1BC7-4375-9ADA-DDAD55A8C16C}" type="pres">
      <dgm:prSet presAssocID="{52377535-CB34-4DD7-9703-EDE2B2F2222A}" presName="hierRoot2" presStyleCnt="0">
        <dgm:presLayoutVars>
          <dgm:hierBranch val="init"/>
        </dgm:presLayoutVars>
      </dgm:prSet>
      <dgm:spPr/>
    </dgm:pt>
    <dgm:pt modelId="{923CD634-3968-4B8B-A6A4-52A0332C97D8}" type="pres">
      <dgm:prSet presAssocID="{52377535-CB34-4DD7-9703-EDE2B2F2222A}" presName="rootComposite" presStyleCnt="0"/>
      <dgm:spPr/>
    </dgm:pt>
    <dgm:pt modelId="{579D908B-2B84-4613-8FBF-6769743A4A87}" type="pres">
      <dgm:prSet presAssocID="{52377535-CB34-4DD7-9703-EDE2B2F2222A}" presName="rootText" presStyleLbl="node2" presStyleIdx="2" presStyleCnt="3">
        <dgm:presLayoutVars>
          <dgm:chPref val="3"/>
        </dgm:presLayoutVars>
      </dgm:prSet>
      <dgm:spPr/>
    </dgm:pt>
    <dgm:pt modelId="{90659B69-BD9C-4A20-84D0-5AC0823BC530}" type="pres">
      <dgm:prSet presAssocID="{52377535-CB34-4DD7-9703-EDE2B2F2222A}" presName="rootConnector" presStyleLbl="node2" presStyleIdx="2" presStyleCnt="3"/>
      <dgm:spPr/>
    </dgm:pt>
    <dgm:pt modelId="{68F1800E-AF9D-4DF7-B927-0C4E318E1ED0}" type="pres">
      <dgm:prSet presAssocID="{52377535-CB34-4DD7-9703-EDE2B2F2222A}" presName="hierChild4" presStyleCnt="0"/>
      <dgm:spPr/>
    </dgm:pt>
    <dgm:pt modelId="{74FAA29B-F3E1-4A5B-8EAD-9D66EFEDDA11}" type="pres">
      <dgm:prSet presAssocID="{52377535-CB34-4DD7-9703-EDE2B2F2222A}" presName="hierChild5" presStyleCnt="0"/>
      <dgm:spPr/>
    </dgm:pt>
    <dgm:pt modelId="{57929786-43FA-43B3-9528-9531F3BDBBCF}" type="pres">
      <dgm:prSet presAssocID="{C41FEFCB-F160-4E74-96C6-F731E37ECFC4}" presName="hierChild3" presStyleCnt="0"/>
      <dgm:spPr/>
    </dgm:pt>
  </dgm:ptLst>
  <dgm:cxnLst>
    <dgm:cxn modelId="{2C614E03-5420-4B5A-915C-9A484F44A4A9}" srcId="{8B7C0292-1F51-4378-8380-05B0EA8CE2E1}" destId="{C41FEFCB-F160-4E74-96C6-F731E37ECFC4}" srcOrd="0" destOrd="0" parTransId="{10D33621-83C0-4E80-9569-442687223137}" sibTransId="{D0CAECB2-BE09-4068-8C18-A33FF73E252A}"/>
    <dgm:cxn modelId="{C7215320-7039-455D-82FC-974B426034DB}" type="presOf" srcId="{8B7C0292-1F51-4378-8380-05B0EA8CE2E1}" destId="{8C1EDA2B-BEA2-467A-A1E4-5A72020A6D8F}" srcOrd="0" destOrd="0" presId="urn:microsoft.com/office/officeart/2005/8/layout/orgChart1"/>
    <dgm:cxn modelId="{CBA94527-6FF1-4C93-B334-DFA44571667F}" type="presOf" srcId="{F5805692-2041-41E1-8AB5-511C9D3A5DB5}" destId="{9930C9E6-36C9-4133-9220-9729937618AB}" srcOrd="0" destOrd="0" presId="urn:microsoft.com/office/officeart/2005/8/layout/orgChart1"/>
    <dgm:cxn modelId="{A7F6645F-161B-4125-9442-0CFA17BF0B0A}" type="presOf" srcId="{C41FEFCB-F160-4E74-96C6-F731E37ECFC4}" destId="{85CBDF16-36A4-4096-BE27-5D39A967E8C2}" srcOrd="0" destOrd="0" presId="urn:microsoft.com/office/officeart/2005/8/layout/orgChart1"/>
    <dgm:cxn modelId="{5DA30464-EB0D-4AAE-A3A0-0D957218EC71}" type="presOf" srcId="{52377535-CB34-4DD7-9703-EDE2B2F2222A}" destId="{90659B69-BD9C-4A20-84D0-5AC0823BC530}" srcOrd="1" destOrd="0" presId="urn:microsoft.com/office/officeart/2005/8/layout/orgChart1"/>
    <dgm:cxn modelId="{B3C24553-B5B1-4AF9-9F8E-248A432433B1}" type="presOf" srcId="{1DE41224-D5DE-4888-8282-7065A9F8B3D6}" destId="{0DD66D15-BBA1-4BB2-9CA4-3E8ECAE6DE13}" srcOrd="0" destOrd="0" presId="urn:microsoft.com/office/officeart/2005/8/layout/orgChart1"/>
    <dgm:cxn modelId="{21529157-8CD7-4FF4-A788-50BE0795CEE9}" type="presOf" srcId="{151432FA-00F7-4B10-953B-6169D774FABC}" destId="{48DA7B5E-512D-4B2B-9A95-C9CF067A55BD}" srcOrd="0" destOrd="0" presId="urn:microsoft.com/office/officeart/2005/8/layout/orgChart1"/>
    <dgm:cxn modelId="{F2F5965A-B758-45ED-B6BC-1B46D359489E}" srcId="{C41FEFCB-F160-4E74-96C6-F731E37ECFC4}" destId="{5F87F8AD-9A0A-4E06-90FF-15A0399475DC}" srcOrd="1" destOrd="0" parTransId="{1DE41224-D5DE-4888-8282-7065A9F8B3D6}" sibTransId="{765DCD5F-F70A-46D9-B153-35D2E1EC6A02}"/>
    <dgm:cxn modelId="{CC7CB37B-5CEA-4635-AAD2-041A78A63519}" srcId="{C41FEFCB-F160-4E74-96C6-F731E37ECFC4}" destId="{F5805692-2041-41E1-8AB5-511C9D3A5DB5}" srcOrd="0" destOrd="0" parTransId="{3771827C-5180-4A1A-92D2-5049C715FD49}" sibTransId="{339CCAEC-2BC3-4B2C-AF80-8C4897BEE874}"/>
    <dgm:cxn modelId="{33096D94-9180-4E9F-96A1-3C5EFC9DC9E3}" type="presOf" srcId="{52377535-CB34-4DD7-9703-EDE2B2F2222A}" destId="{579D908B-2B84-4613-8FBF-6769743A4A87}" srcOrd="0" destOrd="0" presId="urn:microsoft.com/office/officeart/2005/8/layout/orgChart1"/>
    <dgm:cxn modelId="{F15219AA-5B9F-43CC-BDDD-C2F92A940F0E}" type="presOf" srcId="{5F87F8AD-9A0A-4E06-90FF-15A0399475DC}" destId="{3376FE84-C8B8-4F16-823C-4BCC12F93234}" srcOrd="0" destOrd="0" presId="urn:microsoft.com/office/officeart/2005/8/layout/orgChart1"/>
    <dgm:cxn modelId="{9D9655CE-5318-436A-87D4-3450C18CA9BC}" srcId="{C41FEFCB-F160-4E74-96C6-F731E37ECFC4}" destId="{52377535-CB34-4DD7-9703-EDE2B2F2222A}" srcOrd="2" destOrd="0" parTransId="{151432FA-00F7-4B10-953B-6169D774FABC}" sibTransId="{EB82EDEF-83CE-42E7-A2B8-E885F6EFA3E1}"/>
    <dgm:cxn modelId="{F7DABFE4-FAA0-4D3D-8BE0-43982F458798}" type="presOf" srcId="{3771827C-5180-4A1A-92D2-5049C715FD49}" destId="{1CD9E785-FE97-4378-BD4E-6A2BFDF33A1E}" srcOrd="0" destOrd="0" presId="urn:microsoft.com/office/officeart/2005/8/layout/orgChart1"/>
    <dgm:cxn modelId="{26F317F4-B3D5-4263-AD5C-50FA36195B3C}" type="presOf" srcId="{5F87F8AD-9A0A-4E06-90FF-15A0399475DC}" destId="{F2DA9C49-F41D-4E92-B5D2-340ECD83D054}" srcOrd="1" destOrd="0" presId="urn:microsoft.com/office/officeart/2005/8/layout/orgChart1"/>
    <dgm:cxn modelId="{2C6E58F6-98D5-4625-BCDE-6288FCBC9342}" type="presOf" srcId="{F5805692-2041-41E1-8AB5-511C9D3A5DB5}" destId="{73AE254A-F006-4DA0-9E5F-EACFC8EADA1F}" srcOrd="1" destOrd="0" presId="urn:microsoft.com/office/officeart/2005/8/layout/orgChart1"/>
    <dgm:cxn modelId="{CB4BA2FA-93FA-49AA-BE58-A32EE3596E3C}" type="presOf" srcId="{C41FEFCB-F160-4E74-96C6-F731E37ECFC4}" destId="{FB615334-18B3-463D-97B4-3DBDFD2D99E0}" srcOrd="1" destOrd="0" presId="urn:microsoft.com/office/officeart/2005/8/layout/orgChart1"/>
    <dgm:cxn modelId="{40CE6150-26A4-4438-985B-DB71B35AE9BB}" type="presParOf" srcId="{8C1EDA2B-BEA2-467A-A1E4-5A72020A6D8F}" destId="{2A366C30-1CD8-49D7-A3BA-804BDAC72591}" srcOrd="0" destOrd="0" presId="urn:microsoft.com/office/officeart/2005/8/layout/orgChart1"/>
    <dgm:cxn modelId="{7B2DA900-8BE9-420F-8ABF-69F2E2ABB52C}" type="presParOf" srcId="{2A366C30-1CD8-49D7-A3BA-804BDAC72591}" destId="{A55CC1E5-511C-4D82-92DF-FF938A8F94A9}" srcOrd="0" destOrd="0" presId="urn:microsoft.com/office/officeart/2005/8/layout/orgChart1"/>
    <dgm:cxn modelId="{77C8EBED-2155-4196-A8A8-E9A294B47AFA}" type="presParOf" srcId="{A55CC1E5-511C-4D82-92DF-FF938A8F94A9}" destId="{85CBDF16-36A4-4096-BE27-5D39A967E8C2}" srcOrd="0" destOrd="0" presId="urn:microsoft.com/office/officeart/2005/8/layout/orgChart1"/>
    <dgm:cxn modelId="{C07B27AC-A0CC-4D06-8739-27B28130C274}" type="presParOf" srcId="{A55CC1E5-511C-4D82-92DF-FF938A8F94A9}" destId="{FB615334-18B3-463D-97B4-3DBDFD2D99E0}" srcOrd="1" destOrd="0" presId="urn:microsoft.com/office/officeart/2005/8/layout/orgChart1"/>
    <dgm:cxn modelId="{E8AA0175-7750-40E5-BFC1-14DCF961D3CA}" type="presParOf" srcId="{2A366C30-1CD8-49D7-A3BA-804BDAC72591}" destId="{EB5D9A3B-7A7B-496C-A38A-87F0B27C9BAB}" srcOrd="1" destOrd="0" presId="urn:microsoft.com/office/officeart/2005/8/layout/orgChart1"/>
    <dgm:cxn modelId="{57B44768-D087-416A-A846-916A86979B7E}" type="presParOf" srcId="{EB5D9A3B-7A7B-496C-A38A-87F0B27C9BAB}" destId="{1CD9E785-FE97-4378-BD4E-6A2BFDF33A1E}" srcOrd="0" destOrd="0" presId="urn:microsoft.com/office/officeart/2005/8/layout/orgChart1"/>
    <dgm:cxn modelId="{4AABA87E-6C32-4665-A674-86FD20C1C09D}" type="presParOf" srcId="{EB5D9A3B-7A7B-496C-A38A-87F0B27C9BAB}" destId="{1CF7620D-16F9-4C60-A627-D1E3C19D613D}" srcOrd="1" destOrd="0" presId="urn:microsoft.com/office/officeart/2005/8/layout/orgChart1"/>
    <dgm:cxn modelId="{25021A67-AD51-476F-BF62-F2C83C755894}" type="presParOf" srcId="{1CF7620D-16F9-4C60-A627-D1E3C19D613D}" destId="{B246FF62-0C9D-4CA5-90A0-7CC7FFEBED65}" srcOrd="0" destOrd="0" presId="urn:microsoft.com/office/officeart/2005/8/layout/orgChart1"/>
    <dgm:cxn modelId="{309BE909-9D5C-401B-86FE-079C7A5AE2DC}" type="presParOf" srcId="{B246FF62-0C9D-4CA5-90A0-7CC7FFEBED65}" destId="{9930C9E6-36C9-4133-9220-9729937618AB}" srcOrd="0" destOrd="0" presId="urn:microsoft.com/office/officeart/2005/8/layout/orgChart1"/>
    <dgm:cxn modelId="{9FF10313-BD2C-4B26-A82D-0CA2191A7AA2}" type="presParOf" srcId="{B246FF62-0C9D-4CA5-90A0-7CC7FFEBED65}" destId="{73AE254A-F006-4DA0-9E5F-EACFC8EADA1F}" srcOrd="1" destOrd="0" presId="urn:microsoft.com/office/officeart/2005/8/layout/orgChart1"/>
    <dgm:cxn modelId="{F4B767E1-8C0F-4C00-8D9D-E639638B5D48}" type="presParOf" srcId="{1CF7620D-16F9-4C60-A627-D1E3C19D613D}" destId="{DFD465EC-1E5A-4704-891A-E8400FF36DC4}" srcOrd="1" destOrd="0" presId="urn:microsoft.com/office/officeart/2005/8/layout/orgChart1"/>
    <dgm:cxn modelId="{9EEEDA1F-BCDB-4112-8705-FA66A3C451F5}" type="presParOf" srcId="{1CF7620D-16F9-4C60-A627-D1E3C19D613D}" destId="{B1AB828F-010A-4635-88E8-9C4AC4F04A33}" srcOrd="2" destOrd="0" presId="urn:microsoft.com/office/officeart/2005/8/layout/orgChart1"/>
    <dgm:cxn modelId="{6EA38BDD-2CF7-41AB-AFAC-387C2F521C28}" type="presParOf" srcId="{EB5D9A3B-7A7B-496C-A38A-87F0B27C9BAB}" destId="{0DD66D15-BBA1-4BB2-9CA4-3E8ECAE6DE13}" srcOrd="2" destOrd="0" presId="urn:microsoft.com/office/officeart/2005/8/layout/orgChart1"/>
    <dgm:cxn modelId="{8CC08B51-FB15-4495-81B9-819E7F563955}" type="presParOf" srcId="{EB5D9A3B-7A7B-496C-A38A-87F0B27C9BAB}" destId="{A1C04401-7687-43F6-BE66-9F0C53DA223F}" srcOrd="3" destOrd="0" presId="urn:microsoft.com/office/officeart/2005/8/layout/orgChart1"/>
    <dgm:cxn modelId="{E652140F-ED54-48C8-B3C1-9EA03B5D52FC}" type="presParOf" srcId="{A1C04401-7687-43F6-BE66-9F0C53DA223F}" destId="{57D9FD0A-50FC-4F52-9A90-E9B7E1436A7A}" srcOrd="0" destOrd="0" presId="urn:microsoft.com/office/officeart/2005/8/layout/orgChart1"/>
    <dgm:cxn modelId="{24B0DC55-0089-4EAF-BA04-975139A796FA}" type="presParOf" srcId="{57D9FD0A-50FC-4F52-9A90-E9B7E1436A7A}" destId="{3376FE84-C8B8-4F16-823C-4BCC12F93234}" srcOrd="0" destOrd="0" presId="urn:microsoft.com/office/officeart/2005/8/layout/orgChart1"/>
    <dgm:cxn modelId="{D882D20C-F905-4325-8919-0D65ED0EDC86}" type="presParOf" srcId="{57D9FD0A-50FC-4F52-9A90-E9B7E1436A7A}" destId="{F2DA9C49-F41D-4E92-B5D2-340ECD83D054}" srcOrd="1" destOrd="0" presId="urn:microsoft.com/office/officeart/2005/8/layout/orgChart1"/>
    <dgm:cxn modelId="{54F32917-E4B1-4694-BC63-EB66FF173612}" type="presParOf" srcId="{A1C04401-7687-43F6-BE66-9F0C53DA223F}" destId="{4C7DC9AF-CB86-435E-8B64-FE8AC7EEA079}" srcOrd="1" destOrd="0" presId="urn:microsoft.com/office/officeart/2005/8/layout/orgChart1"/>
    <dgm:cxn modelId="{734299EB-D04C-4D9B-A6DF-12C117CB6D90}" type="presParOf" srcId="{A1C04401-7687-43F6-BE66-9F0C53DA223F}" destId="{5F444E41-44C1-42B9-B3A9-1B87A786ED28}" srcOrd="2" destOrd="0" presId="urn:microsoft.com/office/officeart/2005/8/layout/orgChart1"/>
    <dgm:cxn modelId="{3E4F6EB4-A40E-4F03-8E4E-36C91A2357F4}" type="presParOf" srcId="{EB5D9A3B-7A7B-496C-A38A-87F0B27C9BAB}" destId="{48DA7B5E-512D-4B2B-9A95-C9CF067A55BD}" srcOrd="4" destOrd="0" presId="urn:microsoft.com/office/officeart/2005/8/layout/orgChart1"/>
    <dgm:cxn modelId="{8609BAF4-6B4B-4A73-94B9-25F892B6E55A}" type="presParOf" srcId="{EB5D9A3B-7A7B-496C-A38A-87F0B27C9BAB}" destId="{667868BE-1BC7-4375-9ADA-DDAD55A8C16C}" srcOrd="5" destOrd="0" presId="urn:microsoft.com/office/officeart/2005/8/layout/orgChart1"/>
    <dgm:cxn modelId="{E03B1D7E-1FCB-4177-B232-56582069E36B}" type="presParOf" srcId="{667868BE-1BC7-4375-9ADA-DDAD55A8C16C}" destId="{923CD634-3968-4B8B-A6A4-52A0332C97D8}" srcOrd="0" destOrd="0" presId="urn:microsoft.com/office/officeart/2005/8/layout/orgChart1"/>
    <dgm:cxn modelId="{90DE0BE6-3032-4F04-A211-2344AAA4B153}" type="presParOf" srcId="{923CD634-3968-4B8B-A6A4-52A0332C97D8}" destId="{579D908B-2B84-4613-8FBF-6769743A4A87}" srcOrd="0" destOrd="0" presId="urn:microsoft.com/office/officeart/2005/8/layout/orgChart1"/>
    <dgm:cxn modelId="{A6703888-89C9-4359-BEF7-36DC0EC6DF39}" type="presParOf" srcId="{923CD634-3968-4B8B-A6A4-52A0332C97D8}" destId="{90659B69-BD9C-4A20-84D0-5AC0823BC530}" srcOrd="1" destOrd="0" presId="urn:microsoft.com/office/officeart/2005/8/layout/orgChart1"/>
    <dgm:cxn modelId="{5948F673-206B-4E2C-B028-B63AF91D8619}" type="presParOf" srcId="{667868BE-1BC7-4375-9ADA-DDAD55A8C16C}" destId="{68F1800E-AF9D-4DF7-B927-0C4E318E1ED0}" srcOrd="1" destOrd="0" presId="urn:microsoft.com/office/officeart/2005/8/layout/orgChart1"/>
    <dgm:cxn modelId="{7C727031-B8D0-469D-B09E-2D1B5367BE37}" type="presParOf" srcId="{667868BE-1BC7-4375-9ADA-DDAD55A8C16C}" destId="{74FAA29B-F3E1-4A5B-8EAD-9D66EFEDDA11}" srcOrd="2" destOrd="0" presId="urn:microsoft.com/office/officeart/2005/8/layout/orgChart1"/>
    <dgm:cxn modelId="{CA51333B-5303-4DAA-9E19-A90DEDB709AD}" type="presParOf" srcId="{2A366C30-1CD8-49D7-A3BA-804BDAC72591}" destId="{57929786-43FA-43B3-9528-9531F3BDBBCF}"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F652E7-775C-4313-94BE-C652BDA85396}">
      <dsp:nvSpPr>
        <dsp:cNvPr id="0" name=""/>
        <dsp:cNvSpPr/>
      </dsp:nvSpPr>
      <dsp:spPr>
        <a:xfrm>
          <a:off x="5257800" y="1656014"/>
          <a:ext cx="3719932" cy="645608"/>
        </a:xfrm>
        <a:custGeom>
          <a:avLst/>
          <a:gdLst/>
          <a:ahLst/>
          <a:cxnLst/>
          <a:rect l="0" t="0" r="0" b="0"/>
          <a:pathLst>
            <a:path>
              <a:moveTo>
                <a:pt x="0" y="0"/>
              </a:moveTo>
              <a:lnTo>
                <a:pt x="0" y="322804"/>
              </a:lnTo>
              <a:lnTo>
                <a:pt x="3719932" y="322804"/>
              </a:lnTo>
              <a:lnTo>
                <a:pt x="3719932" y="645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D66D15-BBA1-4BB2-9CA4-3E8ECAE6DE13}">
      <dsp:nvSpPr>
        <dsp:cNvPr id="0" name=""/>
        <dsp:cNvSpPr/>
      </dsp:nvSpPr>
      <dsp:spPr>
        <a:xfrm>
          <a:off x="5212080" y="1656014"/>
          <a:ext cx="91440" cy="645608"/>
        </a:xfrm>
        <a:custGeom>
          <a:avLst/>
          <a:gdLst/>
          <a:ahLst/>
          <a:cxnLst/>
          <a:rect l="0" t="0" r="0" b="0"/>
          <a:pathLst>
            <a:path>
              <a:moveTo>
                <a:pt x="45720" y="0"/>
              </a:moveTo>
              <a:lnTo>
                <a:pt x="45720" y="645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D9E785-FE97-4378-BD4E-6A2BFDF33A1E}">
      <dsp:nvSpPr>
        <dsp:cNvPr id="0" name=""/>
        <dsp:cNvSpPr/>
      </dsp:nvSpPr>
      <dsp:spPr>
        <a:xfrm>
          <a:off x="1537867" y="1656014"/>
          <a:ext cx="3719932" cy="645608"/>
        </a:xfrm>
        <a:custGeom>
          <a:avLst/>
          <a:gdLst/>
          <a:ahLst/>
          <a:cxnLst/>
          <a:rect l="0" t="0" r="0" b="0"/>
          <a:pathLst>
            <a:path>
              <a:moveTo>
                <a:pt x="3719932" y="0"/>
              </a:moveTo>
              <a:lnTo>
                <a:pt x="3719932" y="322804"/>
              </a:lnTo>
              <a:lnTo>
                <a:pt x="0" y="322804"/>
              </a:lnTo>
              <a:lnTo>
                <a:pt x="0" y="645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CBDF16-36A4-4096-BE27-5D39A967E8C2}">
      <dsp:nvSpPr>
        <dsp:cNvPr id="0" name=""/>
        <dsp:cNvSpPr/>
      </dsp:nvSpPr>
      <dsp:spPr>
        <a:xfrm>
          <a:off x="3031497" y="118852"/>
          <a:ext cx="4452604" cy="153716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t>Transfer of Receivables</a:t>
          </a:r>
        </a:p>
      </dsp:txBody>
      <dsp:txXfrm>
        <a:off x="3031497" y="118852"/>
        <a:ext cx="4452604" cy="1537161"/>
      </dsp:txXfrm>
    </dsp:sp>
    <dsp:sp modelId="{9930C9E6-36C9-4133-9220-9729937618AB}">
      <dsp:nvSpPr>
        <dsp:cNvPr id="0" name=""/>
        <dsp:cNvSpPr/>
      </dsp:nvSpPr>
      <dsp:spPr>
        <a:xfrm>
          <a:off x="706" y="2301623"/>
          <a:ext cx="3074323" cy="153716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t>Secured Borrowing</a:t>
          </a:r>
        </a:p>
      </dsp:txBody>
      <dsp:txXfrm>
        <a:off x="706" y="2301623"/>
        <a:ext cx="3074323" cy="1537161"/>
      </dsp:txXfrm>
    </dsp:sp>
    <dsp:sp modelId="{3376FE84-C8B8-4F16-823C-4BCC12F93234}">
      <dsp:nvSpPr>
        <dsp:cNvPr id="0" name=""/>
        <dsp:cNvSpPr/>
      </dsp:nvSpPr>
      <dsp:spPr>
        <a:xfrm>
          <a:off x="3720638" y="2301623"/>
          <a:ext cx="3074323" cy="153716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t>Sell/Factor</a:t>
          </a:r>
        </a:p>
      </dsp:txBody>
      <dsp:txXfrm>
        <a:off x="3720638" y="2301623"/>
        <a:ext cx="3074323" cy="1537161"/>
      </dsp:txXfrm>
    </dsp:sp>
    <dsp:sp modelId="{D10E6289-C91E-4663-B650-6EF48470E54E}">
      <dsp:nvSpPr>
        <dsp:cNvPr id="0" name=""/>
        <dsp:cNvSpPr/>
      </dsp:nvSpPr>
      <dsp:spPr>
        <a:xfrm>
          <a:off x="7440570" y="2301623"/>
          <a:ext cx="3074323" cy="153716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t>Securitize Receivables</a:t>
          </a:r>
        </a:p>
      </dsp:txBody>
      <dsp:txXfrm>
        <a:off x="7440570" y="2301623"/>
        <a:ext cx="3074323" cy="15371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DA7B5E-512D-4B2B-9A95-C9CF067A55BD}">
      <dsp:nvSpPr>
        <dsp:cNvPr id="0" name=""/>
        <dsp:cNvSpPr/>
      </dsp:nvSpPr>
      <dsp:spPr>
        <a:xfrm>
          <a:off x="5257800" y="1656014"/>
          <a:ext cx="3719932" cy="645608"/>
        </a:xfrm>
        <a:custGeom>
          <a:avLst/>
          <a:gdLst/>
          <a:ahLst/>
          <a:cxnLst/>
          <a:rect l="0" t="0" r="0" b="0"/>
          <a:pathLst>
            <a:path>
              <a:moveTo>
                <a:pt x="0" y="0"/>
              </a:moveTo>
              <a:lnTo>
                <a:pt x="0" y="322804"/>
              </a:lnTo>
              <a:lnTo>
                <a:pt x="3719932" y="322804"/>
              </a:lnTo>
              <a:lnTo>
                <a:pt x="3719932" y="645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D66D15-BBA1-4BB2-9CA4-3E8ECAE6DE13}">
      <dsp:nvSpPr>
        <dsp:cNvPr id="0" name=""/>
        <dsp:cNvSpPr/>
      </dsp:nvSpPr>
      <dsp:spPr>
        <a:xfrm>
          <a:off x="5212080" y="1656014"/>
          <a:ext cx="91440" cy="645608"/>
        </a:xfrm>
        <a:custGeom>
          <a:avLst/>
          <a:gdLst/>
          <a:ahLst/>
          <a:cxnLst/>
          <a:rect l="0" t="0" r="0" b="0"/>
          <a:pathLst>
            <a:path>
              <a:moveTo>
                <a:pt x="45720" y="0"/>
              </a:moveTo>
              <a:lnTo>
                <a:pt x="45720" y="645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D9E785-FE97-4378-BD4E-6A2BFDF33A1E}">
      <dsp:nvSpPr>
        <dsp:cNvPr id="0" name=""/>
        <dsp:cNvSpPr/>
      </dsp:nvSpPr>
      <dsp:spPr>
        <a:xfrm>
          <a:off x="1537867" y="1656014"/>
          <a:ext cx="3719932" cy="645608"/>
        </a:xfrm>
        <a:custGeom>
          <a:avLst/>
          <a:gdLst/>
          <a:ahLst/>
          <a:cxnLst/>
          <a:rect l="0" t="0" r="0" b="0"/>
          <a:pathLst>
            <a:path>
              <a:moveTo>
                <a:pt x="3719932" y="0"/>
              </a:moveTo>
              <a:lnTo>
                <a:pt x="3719932" y="322804"/>
              </a:lnTo>
              <a:lnTo>
                <a:pt x="0" y="322804"/>
              </a:lnTo>
              <a:lnTo>
                <a:pt x="0" y="64560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CBDF16-36A4-4096-BE27-5D39A967E8C2}">
      <dsp:nvSpPr>
        <dsp:cNvPr id="0" name=""/>
        <dsp:cNvSpPr/>
      </dsp:nvSpPr>
      <dsp:spPr>
        <a:xfrm>
          <a:off x="3031497" y="118852"/>
          <a:ext cx="4452604" cy="153716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t>Transfer of Receivables</a:t>
          </a:r>
        </a:p>
      </dsp:txBody>
      <dsp:txXfrm>
        <a:off x="3031497" y="118852"/>
        <a:ext cx="4452604" cy="1537161"/>
      </dsp:txXfrm>
    </dsp:sp>
    <dsp:sp modelId="{9930C9E6-36C9-4133-9220-9729937618AB}">
      <dsp:nvSpPr>
        <dsp:cNvPr id="0" name=""/>
        <dsp:cNvSpPr/>
      </dsp:nvSpPr>
      <dsp:spPr>
        <a:xfrm>
          <a:off x="706" y="2301623"/>
          <a:ext cx="3074323" cy="1537161"/>
        </a:xfrm>
        <a:prstGeom prst="rect">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t>Secured Borrowing</a:t>
          </a:r>
        </a:p>
      </dsp:txBody>
      <dsp:txXfrm>
        <a:off x="706" y="2301623"/>
        <a:ext cx="3074323" cy="1537161"/>
      </dsp:txXfrm>
    </dsp:sp>
    <dsp:sp modelId="{3376FE84-C8B8-4F16-823C-4BCC12F93234}">
      <dsp:nvSpPr>
        <dsp:cNvPr id="0" name=""/>
        <dsp:cNvSpPr/>
      </dsp:nvSpPr>
      <dsp:spPr>
        <a:xfrm>
          <a:off x="3720638" y="2301623"/>
          <a:ext cx="3074323" cy="153716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t>Sell/Factor</a:t>
          </a:r>
        </a:p>
      </dsp:txBody>
      <dsp:txXfrm>
        <a:off x="3720638" y="2301623"/>
        <a:ext cx="3074323" cy="1537161"/>
      </dsp:txXfrm>
    </dsp:sp>
    <dsp:sp modelId="{579D908B-2B84-4613-8FBF-6769743A4A87}">
      <dsp:nvSpPr>
        <dsp:cNvPr id="0" name=""/>
        <dsp:cNvSpPr/>
      </dsp:nvSpPr>
      <dsp:spPr>
        <a:xfrm>
          <a:off x="7440570" y="2301623"/>
          <a:ext cx="3074323" cy="1537161"/>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t>Securitize Receivables</a:t>
          </a:r>
        </a:p>
      </dsp:txBody>
      <dsp:txXfrm>
        <a:off x="7440570" y="2301623"/>
        <a:ext cx="3074323" cy="1537161"/>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2AF6DA-881C-4C79-B7BB-AE39812FEEB9}" type="datetimeFigureOut">
              <a:rPr lang="en-US" smtClean="0"/>
              <a:t>10/2/2022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1D006A-6F4D-4501-8E73-99D0EC5E5B2D}" type="slidenum">
              <a:rPr lang="en-US" smtClean="0"/>
              <a:t>‹#›</a:t>
            </a:fld>
            <a:endParaRPr lang="en-US"/>
          </a:p>
        </p:txBody>
      </p:sp>
    </p:spTree>
    <p:extLst>
      <p:ext uri="{BB962C8B-B14F-4D97-AF65-F5344CB8AC3E}">
        <p14:creationId xmlns:p14="http://schemas.microsoft.com/office/powerpoint/2010/main" val="3330429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p:cNvSpPr>
          <p:nvPr>
            <p:ph type="sldImg"/>
          </p:nvPr>
        </p:nvSpPr>
        <p:spPr bwMode="auto">
          <a:xfrm>
            <a:off x="407988" y="698500"/>
            <a:ext cx="6208712"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xfrm>
            <a:off x="703263" y="4422775"/>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35" tIns="43867" rIns="87735" bIns="43867"/>
          <a:lstStyle/>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2602971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p:cNvSpPr>
          <p:nvPr>
            <p:ph type="sldImg"/>
          </p:nvPr>
        </p:nvSpPr>
        <p:spPr bwMode="auto">
          <a:xfrm>
            <a:off x="719138" y="1163638"/>
            <a:ext cx="5584825" cy="314166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5" name="Notes Placeholder 2"/>
          <p:cNvSpPr>
            <a:spLocks noGrp="1"/>
          </p:cNvSpPr>
          <p:nvPr>
            <p:ph type="body" idx="1"/>
          </p:nvPr>
        </p:nvSpPr>
        <p:spPr bwMode="auto">
          <a:xfrm>
            <a:off x="701675" y="4479925"/>
            <a:ext cx="5619750" cy="366553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4" rIns="91427" bIns="45714"/>
          <a:lstStyle/>
          <a:p>
            <a:endParaRPr lang="en-US" altLang="en-US"/>
          </a:p>
        </p:txBody>
      </p:sp>
    </p:spTree>
    <p:extLst>
      <p:ext uri="{BB962C8B-B14F-4D97-AF65-F5344CB8AC3E}">
        <p14:creationId xmlns:p14="http://schemas.microsoft.com/office/powerpoint/2010/main" val="28249798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27" indent="-171427" eaLnBrk="1" hangingPunct="1">
              <a:buFont typeface="Arial" panose="020B0604020202020204" pitchFamily="34" charset="0"/>
              <a:buChar char="•"/>
              <a:defRPr/>
            </a:pPr>
            <a:r>
              <a:rPr lang="en-US" altLang="en-US" dirty="0"/>
              <a:t>What?  Sell A/R (future cash flows) for cash today</a:t>
            </a:r>
          </a:p>
          <a:p>
            <a:pPr marL="171427" indent="-171427" eaLnBrk="1" hangingPunct="1">
              <a:buFont typeface="Arial" panose="020B0604020202020204" pitchFamily="34" charset="0"/>
              <a:buChar char="•"/>
              <a:defRPr/>
            </a:pPr>
            <a:r>
              <a:rPr lang="en-US" altLang="en-US" dirty="0"/>
              <a:t>Why?  </a:t>
            </a:r>
          </a:p>
          <a:p>
            <a:pPr eaLnBrk="1" hangingPunct="1">
              <a:buFont typeface="Arial" panose="020B0604020202020204" pitchFamily="34" charset="0"/>
              <a:buNone/>
              <a:defRPr/>
            </a:pPr>
            <a:r>
              <a:rPr lang="en-US" altLang="en-US" dirty="0"/>
              <a:t>       -Many firms w/large A/R not in the business of collecting, rather have $ now</a:t>
            </a:r>
          </a:p>
          <a:p>
            <a:pPr eaLnBrk="1" hangingPunct="1">
              <a:buFont typeface="Arial" panose="020B0604020202020204" pitchFamily="34" charset="0"/>
              <a:buNone/>
              <a:defRPr/>
            </a:pPr>
            <a:r>
              <a:rPr lang="en-US" altLang="en-US" dirty="0"/>
              <a:t>       -Other firms are in the business of collecting, optimizes for them to do so</a:t>
            </a:r>
          </a:p>
          <a:p>
            <a:pPr eaLnBrk="1" hangingPunct="1">
              <a:buFont typeface="Arial" panose="020B0604020202020204" pitchFamily="34" charset="0"/>
              <a:buNone/>
              <a:defRPr/>
            </a:pPr>
            <a:r>
              <a:rPr lang="en-US" altLang="en-US" dirty="0"/>
              <a:t>       -E.g. retail stores (GAP, target, etc.), car dealerships, etc. (think store credit cards, customer financing)</a:t>
            </a:r>
          </a:p>
          <a:p>
            <a:pPr eaLnBrk="1" hangingPunct="1">
              <a:buFont typeface="Arial" panose="020B0604020202020204" pitchFamily="34" charset="0"/>
              <a:buNone/>
              <a:defRPr/>
            </a:pPr>
            <a:endParaRPr lang="en-US" altLang="en-US" dirty="0"/>
          </a:p>
          <a:p>
            <a:pPr marL="171450" indent="-171450" eaLnBrk="1" hangingPunct="1">
              <a:buFont typeface="Arial" panose="020B0604020202020204" pitchFamily="34" charset="0"/>
              <a:buChar char="•"/>
              <a:defRPr/>
            </a:pPr>
            <a:r>
              <a:rPr lang="en-US" altLang="en-US" dirty="0"/>
              <a:t>Let’s say I have</a:t>
            </a:r>
            <a:r>
              <a:rPr lang="en-US" altLang="en-US" baseline="0" dirty="0"/>
              <a:t> $1M and I am good at making loans.</a:t>
            </a:r>
          </a:p>
          <a:p>
            <a:pPr marL="628650" lvl="1" indent="-171450" eaLnBrk="1" hangingPunct="1">
              <a:buFont typeface="Arial" panose="020B0604020202020204" pitchFamily="34" charset="0"/>
              <a:buChar char="•"/>
              <a:defRPr/>
            </a:pPr>
            <a:r>
              <a:rPr lang="en-US" altLang="en-US" baseline="0" dirty="0"/>
              <a:t>I loan my $1M to someone to buy a house</a:t>
            </a:r>
          </a:p>
          <a:p>
            <a:pPr marL="628650" lvl="1" indent="-171450" eaLnBrk="1" hangingPunct="1">
              <a:buFont typeface="Arial" panose="020B0604020202020204" pitchFamily="34" charset="0"/>
              <a:buChar char="•"/>
              <a:defRPr/>
            </a:pPr>
            <a:r>
              <a:rPr lang="en-US" altLang="en-US" baseline="0" dirty="0"/>
              <a:t>But now I’m out of money.</a:t>
            </a:r>
          </a:p>
          <a:p>
            <a:pPr marL="628650" lvl="1" indent="-171450" eaLnBrk="1" hangingPunct="1">
              <a:buFont typeface="Arial" panose="020B0604020202020204" pitchFamily="34" charset="0"/>
              <a:buChar char="•"/>
              <a:defRPr/>
            </a:pPr>
            <a:r>
              <a:rPr lang="en-US" altLang="en-US" baseline="0" dirty="0"/>
              <a:t>So I sell my receivable to someone who wants slow, steady cash flows (pensions?)</a:t>
            </a:r>
          </a:p>
          <a:p>
            <a:pPr marL="628650" lvl="1" indent="-171450" eaLnBrk="1" hangingPunct="1">
              <a:buFont typeface="Arial" panose="020B0604020202020204" pitchFamily="34" charset="0"/>
              <a:buChar char="•"/>
              <a:defRPr/>
            </a:pPr>
            <a:r>
              <a:rPr lang="en-US" altLang="en-US" baseline="0" dirty="0"/>
              <a:t>Now I have more money and can make another loan.</a:t>
            </a:r>
          </a:p>
          <a:p>
            <a:pPr marL="171450" lvl="0" indent="-171450" eaLnBrk="1" hangingPunct="1">
              <a:buFont typeface="Arial" panose="020B0604020202020204" pitchFamily="34" charset="0"/>
              <a:buChar char="•"/>
              <a:defRPr/>
            </a:pPr>
            <a:r>
              <a:rPr lang="en-US" altLang="en-US" baseline="0" dirty="0"/>
              <a:t>Downside</a:t>
            </a:r>
          </a:p>
          <a:p>
            <a:pPr marL="628650" lvl="1" indent="-171450" eaLnBrk="1" hangingPunct="1">
              <a:buFont typeface="Arial" panose="020B0604020202020204" pitchFamily="34" charset="0"/>
              <a:buChar char="•"/>
              <a:defRPr/>
            </a:pPr>
            <a:r>
              <a:rPr lang="en-US" altLang="en-US" baseline="0" dirty="0"/>
              <a:t>Now I don’t hold any risk</a:t>
            </a:r>
          </a:p>
          <a:p>
            <a:pPr marL="628650" lvl="1" indent="-171450" eaLnBrk="1" hangingPunct="1">
              <a:buFont typeface="Arial" panose="020B0604020202020204" pitchFamily="34" charset="0"/>
              <a:buChar char="•"/>
              <a:defRPr/>
            </a:pPr>
            <a:r>
              <a:rPr lang="en-US" altLang="en-US" baseline="0" dirty="0"/>
              <a:t>If my buyer can’t observe the risk of the loan I make, then why should I care whether they will pay it back not?</a:t>
            </a:r>
          </a:p>
          <a:p>
            <a:pPr marL="628650" lvl="1" indent="-171450" eaLnBrk="1" hangingPunct="1">
              <a:buFont typeface="Arial" panose="020B0604020202020204" pitchFamily="34" charset="0"/>
              <a:buChar char="•"/>
              <a:defRPr/>
            </a:pPr>
            <a:r>
              <a:rPr lang="en-US" altLang="en-US" baseline="0" dirty="0"/>
              <a:t>Mortgage crisis was like this, very opaque, lumped loans together and divided them up into high and low risk, but just comparatively, so some low risk were actually medium or high, but just lower risk compared to others.</a:t>
            </a:r>
          </a:p>
          <a:p>
            <a:pPr marL="628650" lvl="1" indent="-171450" eaLnBrk="1" hangingPunct="1">
              <a:buFont typeface="Arial" panose="020B0604020202020204" pitchFamily="34" charset="0"/>
              <a:buChar char="•"/>
              <a:defRPr/>
            </a:pPr>
            <a:r>
              <a:rPr lang="en-US" altLang="en-US" baseline="0" dirty="0"/>
              <a:t>Buyers weren’t critical enough, assumed these were safe</a:t>
            </a:r>
            <a:endParaRPr lang="en-US" altLang="en-US" dirty="0"/>
          </a:p>
          <a:p>
            <a:pPr eaLnBrk="1" hangingPunct="1">
              <a:buFont typeface="Arial" panose="020B0604020202020204" pitchFamily="34" charset="0"/>
              <a:buNone/>
              <a:defRPr/>
            </a:pPr>
            <a:r>
              <a:rPr lang="en-US" altLang="en-US" dirty="0"/>
              <a:t>     </a:t>
            </a:r>
          </a:p>
          <a:p>
            <a:endParaRPr lang="en-US" dirty="0"/>
          </a:p>
        </p:txBody>
      </p:sp>
      <p:sp>
        <p:nvSpPr>
          <p:cNvPr id="4" name="Slide Number Placeholder 3"/>
          <p:cNvSpPr>
            <a:spLocks noGrp="1"/>
          </p:cNvSpPr>
          <p:nvPr>
            <p:ph type="sldNum" sz="quarter" idx="10"/>
          </p:nvPr>
        </p:nvSpPr>
        <p:spPr/>
        <p:txBody>
          <a:bodyPr/>
          <a:lstStyle/>
          <a:p>
            <a:fld id="{FF1D006A-6F4D-4501-8E73-99D0EC5E5B2D}" type="slidenum">
              <a:rPr lang="en-US" smtClean="0"/>
              <a:t>3</a:t>
            </a:fld>
            <a:endParaRPr lang="en-US"/>
          </a:p>
        </p:txBody>
      </p:sp>
    </p:spTree>
    <p:extLst>
      <p:ext uri="{BB962C8B-B14F-4D97-AF65-F5344CB8AC3E}">
        <p14:creationId xmlns:p14="http://schemas.microsoft.com/office/powerpoint/2010/main" val="2846299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4" rIns="91427" bIns="45714"/>
          <a:lstStyle>
            <a:lvl1pPr>
              <a:defRPr sz="1200">
                <a:solidFill>
                  <a:schemeClr val="tx1"/>
                </a:solidFill>
                <a:latin typeface="Times New Roman" panose="02020603050405020304" pitchFamily="18" charset="0"/>
              </a:defRPr>
            </a:lvl1pPr>
            <a:lvl2pPr marL="741363" indent="-284163">
              <a:defRPr sz="1200">
                <a:solidFill>
                  <a:schemeClr val="tx1"/>
                </a:solidFill>
                <a:latin typeface="Times New Roman" panose="02020603050405020304" pitchFamily="18" charset="0"/>
              </a:defRPr>
            </a:lvl2pPr>
            <a:lvl3pPr marL="1141413" indent="-227013">
              <a:defRPr sz="1200">
                <a:solidFill>
                  <a:schemeClr val="tx1"/>
                </a:solidFill>
                <a:latin typeface="Times New Roman" panose="02020603050405020304" pitchFamily="18" charset="0"/>
              </a:defRPr>
            </a:lvl3pPr>
            <a:lvl4pPr marL="1597025" indent="-227013">
              <a:defRPr sz="1200">
                <a:solidFill>
                  <a:schemeClr val="tx1"/>
                </a:solidFill>
                <a:latin typeface="Times New Roman" panose="02020603050405020304" pitchFamily="18" charset="0"/>
              </a:defRPr>
            </a:lvl4pPr>
            <a:lvl5pPr marL="2055813" indent="-227013">
              <a:defRPr sz="1200">
                <a:solidFill>
                  <a:schemeClr val="tx1"/>
                </a:solidFill>
                <a:latin typeface="Times New Roman" panose="02020603050405020304" pitchFamily="18" charset="0"/>
              </a:defRPr>
            </a:lvl5pPr>
            <a:lvl6pPr marL="2513013" indent="-227013" eaLnBrk="0" fontAlgn="base" hangingPunct="0">
              <a:spcBef>
                <a:spcPct val="0"/>
              </a:spcBef>
              <a:spcAft>
                <a:spcPct val="0"/>
              </a:spcAft>
              <a:defRPr sz="1200">
                <a:solidFill>
                  <a:schemeClr val="tx1"/>
                </a:solidFill>
                <a:latin typeface="Times New Roman" panose="02020603050405020304" pitchFamily="18" charset="0"/>
              </a:defRPr>
            </a:lvl6pPr>
            <a:lvl7pPr marL="2970213" indent="-227013" eaLnBrk="0" fontAlgn="base" hangingPunct="0">
              <a:spcBef>
                <a:spcPct val="0"/>
              </a:spcBef>
              <a:spcAft>
                <a:spcPct val="0"/>
              </a:spcAft>
              <a:defRPr sz="1200">
                <a:solidFill>
                  <a:schemeClr val="tx1"/>
                </a:solidFill>
                <a:latin typeface="Times New Roman" panose="02020603050405020304" pitchFamily="18" charset="0"/>
              </a:defRPr>
            </a:lvl7pPr>
            <a:lvl8pPr marL="3427413" indent="-227013" eaLnBrk="0" fontAlgn="base" hangingPunct="0">
              <a:spcBef>
                <a:spcPct val="0"/>
              </a:spcBef>
              <a:spcAft>
                <a:spcPct val="0"/>
              </a:spcAft>
              <a:defRPr sz="1200">
                <a:solidFill>
                  <a:schemeClr val="tx1"/>
                </a:solidFill>
                <a:latin typeface="Times New Roman" panose="02020603050405020304" pitchFamily="18" charset="0"/>
              </a:defRPr>
            </a:lvl8pPr>
            <a:lvl9pPr marL="3884613" indent="-227013" eaLnBrk="0" fontAlgn="base" hangingPunct="0">
              <a:spcBef>
                <a:spcPct val="0"/>
              </a:spcBef>
              <a:spcAft>
                <a:spcPct val="0"/>
              </a:spcAft>
              <a:defRPr sz="1200">
                <a:solidFill>
                  <a:schemeClr val="tx1"/>
                </a:solidFill>
                <a:latin typeface="Times New Roman" panose="02020603050405020304" pitchFamily="18" charset="0"/>
              </a:defRPr>
            </a:lvl9pPr>
          </a:lstStyle>
          <a:p>
            <a:fld id="{B62E852D-55DA-4688-BF69-355783045066}" type="slidenum">
              <a:rPr lang="en-US" altLang="en-US"/>
              <a:pPr/>
              <a:t>4</a:t>
            </a:fld>
            <a:endParaRPr lang="en-US" altLang="en-US"/>
          </a:p>
        </p:txBody>
      </p:sp>
      <p:sp>
        <p:nvSpPr>
          <p:cNvPr id="12291" name="Rectangle 2"/>
          <p:cNvSpPr>
            <a:spLocks noGrp="1" noRot="1" noChangeAspect="1" noChangeArrowheads="1" noTextEdit="1"/>
          </p:cNvSpPr>
          <p:nvPr>
            <p:ph type="sldImg"/>
          </p:nvPr>
        </p:nvSpPr>
        <p:spPr bwMode="auto">
          <a:xfrm>
            <a:off x="381000" y="685800"/>
            <a:ext cx="6096000"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8" name="Rectangle 3">
            <a:extLst>
              <a:ext uri="{FF2B5EF4-FFF2-40B4-BE49-F238E27FC236}">
                <a16:creationId xmlns:a16="http://schemas.microsoft.com/office/drawing/2014/main" id="{5336540D-B0CA-4577-A0F9-3361FC3DBD4C}"/>
              </a:ext>
            </a:extLst>
          </p:cNvPr>
          <p:cNvSpPr>
            <a:spLocks noGrp="1" noChangeArrowheads="1"/>
          </p:cNvSpPr>
          <p:nvPr>
            <p:ph type="body" idx="1"/>
          </p:nvPr>
        </p:nvSpPr>
        <p:spPr bwMode="auto">
          <a:xfrm>
            <a:off x="685800" y="4343400"/>
            <a:ext cx="5486400" cy="4114800"/>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4" rIns="91427" bIns="45714"/>
          <a:lstStyle/>
          <a:p>
            <a:pPr eaLnBrk="1" hangingPunct="1">
              <a:defRPr/>
            </a:pPr>
            <a:r>
              <a:rPr lang="en-US" altLang="en-US" dirty="0"/>
              <a:t>3 ways to get cash today from A/R</a:t>
            </a:r>
          </a:p>
          <a:p>
            <a:pPr marL="220690" indent="-220690" eaLnBrk="1" hangingPunct="1">
              <a:buFontTx/>
              <a:buAutoNum type="arabicParenR"/>
              <a:defRPr/>
            </a:pPr>
            <a:r>
              <a:rPr lang="en-US" altLang="en-US" dirty="0"/>
              <a:t>Pledge/assign (collateral)</a:t>
            </a:r>
          </a:p>
          <a:p>
            <a:pPr marL="220690" indent="-220690" eaLnBrk="1" hangingPunct="1">
              <a:buFontTx/>
              <a:buAutoNum type="arabicParenR"/>
              <a:defRPr/>
            </a:pPr>
            <a:r>
              <a:rPr lang="en-US" altLang="en-US" dirty="0"/>
              <a:t>Factor (sell receivables to 3</a:t>
            </a:r>
            <a:r>
              <a:rPr lang="en-US" altLang="en-US" baseline="30000" dirty="0"/>
              <a:t>rd</a:t>
            </a:r>
            <a:r>
              <a:rPr lang="en-US" altLang="en-US" dirty="0"/>
              <a:t> party at a discount)</a:t>
            </a:r>
          </a:p>
          <a:p>
            <a:pPr marL="220690" indent="-220690" eaLnBrk="1" hangingPunct="1">
              <a:buFontTx/>
              <a:buAutoNum type="arabicParenR"/>
              <a:defRPr/>
            </a:pPr>
            <a:r>
              <a:rPr lang="en-US" altLang="en-US" dirty="0"/>
              <a:t>Securitize (bundle together and sell interest in many separate receivables)</a:t>
            </a:r>
          </a:p>
          <a:p>
            <a:pPr eaLnBrk="1" hangingPunct="1">
              <a:defRPr/>
            </a:pPr>
            <a:endParaRPr lang="en-US" altLang="en-US" dirty="0"/>
          </a:p>
          <a:p>
            <a:pPr eaLnBrk="1" hangingPunct="1">
              <a:defRPr/>
            </a:pPr>
            <a:r>
              <a:rPr lang="en-US" altLang="en-US" dirty="0"/>
              <a:t>123 of 500 firms in 2009 discuss the use of receivables to obtain financing in their annual reports</a:t>
            </a:r>
          </a:p>
          <a:p>
            <a:pPr eaLnBrk="1" hangingPunct="1">
              <a:defRPr/>
            </a:pPr>
            <a:endParaRPr lang="en-US" altLang="en-US" dirty="0"/>
          </a:p>
          <a:p>
            <a:pPr eaLnBrk="1" hangingPunct="1">
              <a:defRPr/>
            </a:pPr>
            <a:r>
              <a:rPr lang="en-US" altLang="en-US" dirty="0"/>
              <a:t>102 sold, 11 with recourse, 45 without, 46 don’t discuss recourse</a:t>
            </a:r>
          </a:p>
          <a:p>
            <a:pPr eaLnBrk="1" hangingPunct="1">
              <a:defRPr/>
            </a:pPr>
            <a:r>
              <a:rPr lang="en-US" altLang="en-US" dirty="0"/>
              <a:t>21, receivables used as collateral</a:t>
            </a:r>
          </a:p>
          <a:p>
            <a:pPr eaLnBrk="1" hangingPunct="1">
              <a:defRPr/>
            </a:pPr>
            <a:endParaRPr lang="en-US" altLang="en-US" dirty="0"/>
          </a:p>
          <a:p>
            <a:pPr marL="231775" indent="-174625">
              <a:lnSpc>
                <a:spcPct val="80000"/>
              </a:lnSpc>
              <a:defRPr/>
            </a:pPr>
            <a:r>
              <a:rPr lang="en-US" altLang="en-US" sz="2400" dirty="0"/>
              <a:t>The “real world”: 123/500 firms in 2009 discuss the use of receivables to obtain financing in annual reports</a:t>
            </a:r>
          </a:p>
          <a:p>
            <a:pPr marL="631825" lvl="1" indent="-174625">
              <a:lnSpc>
                <a:spcPct val="80000"/>
              </a:lnSpc>
              <a:defRPr/>
            </a:pPr>
            <a:r>
              <a:rPr lang="en-US" altLang="en-US" sz="2000" dirty="0"/>
              <a:t>102 sold (11 with recourse, 45 without recourse, 46 don’t mention)</a:t>
            </a:r>
          </a:p>
          <a:p>
            <a:pPr marL="631825" lvl="1" indent="-174625">
              <a:lnSpc>
                <a:spcPct val="80000"/>
              </a:lnSpc>
              <a:defRPr/>
            </a:pPr>
            <a:r>
              <a:rPr lang="en-US" altLang="en-US" sz="2000" dirty="0"/>
              <a:t>21 used as collateral</a:t>
            </a:r>
          </a:p>
          <a:p>
            <a:pPr eaLnBrk="1" hangingPunct="1">
              <a:defRPr/>
            </a:pPr>
            <a:endParaRPr lang="en-US" altLang="en-US" dirty="0"/>
          </a:p>
          <a:p>
            <a:pPr eaLnBrk="1" hangingPunct="1">
              <a:defRPr/>
            </a:pPr>
            <a:endParaRPr lang="en-US" altLang="en-US" dirty="0"/>
          </a:p>
        </p:txBody>
      </p:sp>
    </p:spTree>
    <p:extLst>
      <p:ext uri="{BB962C8B-B14F-4D97-AF65-F5344CB8AC3E}">
        <p14:creationId xmlns:p14="http://schemas.microsoft.com/office/powerpoint/2010/main" val="5104998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4294967295"/>
          </p:nvPr>
        </p:nvSpPr>
        <p:spPr bwMode="auto">
          <a:xfrm>
            <a:off x="3884613" y="8685213"/>
            <a:ext cx="2971800" cy="457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4" rIns="91427" bIns="45714"/>
          <a:lstStyle>
            <a:lvl1pPr>
              <a:defRPr sz="1200">
                <a:solidFill>
                  <a:schemeClr val="tx1"/>
                </a:solidFill>
                <a:latin typeface="Times New Roman" panose="02020603050405020304" pitchFamily="18" charset="0"/>
              </a:defRPr>
            </a:lvl1pPr>
            <a:lvl2pPr marL="741363" indent="-284163">
              <a:defRPr sz="1200">
                <a:solidFill>
                  <a:schemeClr val="tx1"/>
                </a:solidFill>
                <a:latin typeface="Times New Roman" panose="02020603050405020304" pitchFamily="18" charset="0"/>
              </a:defRPr>
            </a:lvl2pPr>
            <a:lvl3pPr marL="1141413" indent="-227013">
              <a:defRPr sz="1200">
                <a:solidFill>
                  <a:schemeClr val="tx1"/>
                </a:solidFill>
                <a:latin typeface="Times New Roman" panose="02020603050405020304" pitchFamily="18" charset="0"/>
              </a:defRPr>
            </a:lvl3pPr>
            <a:lvl4pPr marL="1597025" indent="-227013">
              <a:defRPr sz="1200">
                <a:solidFill>
                  <a:schemeClr val="tx1"/>
                </a:solidFill>
                <a:latin typeface="Times New Roman" panose="02020603050405020304" pitchFamily="18" charset="0"/>
              </a:defRPr>
            </a:lvl4pPr>
            <a:lvl5pPr marL="2055813" indent="-227013">
              <a:defRPr sz="1200">
                <a:solidFill>
                  <a:schemeClr val="tx1"/>
                </a:solidFill>
                <a:latin typeface="Times New Roman" panose="02020603050405020304" pitchFamily="18" charset="0"/>
              </a:defRPr>
            </a:lvl5pPr>
            <a:lvl6pPr marL="2513013" indent="-227013" eaLnBrk="0" fontAlgn="base" hangingPunct="0">
              <a:spcBef>
                <a:spcPct val="0"/>
              </a:spcBef>
              <a:spcAft>
                <a:spcPct val="0"/>
              </a:spcAft>
              <a:defRPr sz="1200">
                <a:solidFill>
                  <a:schemeClr val="tx1"/>
                </a:solidFill>
                <a:latin typeface="Times New Roman" panose="02020603050405020304" pitchFamily="18" charset="0"/>
              </a:defRPr>
            </a:lvl6pPr>
            <a:lvl7pPr marL="2970213" indent="-227013" eaLnBrk="0" fontAlgn="base" hangingPunct="0">
              <a:spcBef>
                <a:spcPct val="0"/>
              </a:spcBef>
              <a:spcAft>
                <a:spcPct val="0"/>
              </a:spcAft>
              <a:defRPr sz="1200">
                <a:solidFill>
                  <a:schemeClr val="tx1"/>
                </a:solidFill>
                <a:latin typeface="Times New Roman" panose="02020603050405020304" pitchFamily="18" charset="0"/>
              </a:defRPr>
            </a:lvl7pPr>
            <a:lvl8pPr marL="3427413" indent="-227013" eaLnBrk="0" fontAlgn="base" hangingPunct="0">
              <a:spcBef>
                <a:spcPct val="0"/>
              </a:spcBef>
              <a:spcAft>
                <a:spcPct val="0"/>
              </a:spcAft>
              <a:defRPr sz="1200">
                <a:solidFill>
                  <a:schemeClr val="tx1"/>
                </a:solidFill>
                <a:latin typeface="Times New Roman" panose="02020603050405020304" pitchFamily="18" charset="0"/>
              </a:defRPr>
            </a:lvl8pPr>
            <a:lvl9pPr marL="3884613" indent="-227013" eaLnBrk="0" fontAlgn="base" hangingPunct="0">
              <a:spcBef>
                <a:spcPct val="0"/>
              </a:spcBef>
              <a:spcAft>
                <a:spcPct val="0"/>
              </a:spcAft>
              <a:defRPr sz="1200">
                <a:solidFill>
                  <a:schemeClr val="tx1"/>
                </a:solidFill>
                <a:latin typeface="Times New Roman" panose="02020603050405020304" pitchFamily="18" charset="0"/>
              </a:defRPr>
            </a:lvl9pPr>
          </a:lstStyle>
          <a:p>
            <a:fld id="{B62E852D-55DA-4688-BF69-355783045066}" type="slidenum">
              <a:rPr lang="en-US" altLang="en-US"/>
              <a:pPr/>
              <a:t>5</a:t>
            </a:fld>
            <a:endParaRPr lang="en-US" altLang="en-US"/>
          </a:p>
        </p:txBody>
      </p:sp>
      <p:sp>
        <p:nvSpPr>
          <p:cNvPr id="12291" name="Rectangle 2"/>
          <p:cNvSpPr>
            <a:spLocks noGrp="1" noRot="1" noChangeAspect="1" noChangeArrowheads="1" noTextEdit="1"/>
          </p:cNvSpPr>
          <p:nvPr>
            <p:ph type="sldImg"/>
          </p:nvPr>
        </p:nvSpPr>
        <p:spPr bwMode="auto">
          <a:xfrm>
            <a:off x="381000" y="685800"/>
            <a:ext cx="6096000" cy="34290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11268" name="Rectangle 3">
            <a:extLst>
              <a:ext uri="{FF2B5EF4-FFF2-40B4-BE49-F238E27FC236}">
                <a16:creationId xmlns:a16="http://schemas.microsoft.com/office/drawing/2014/main" id="{5336540D-B0CA-4577-A0F9-3361FC3DBD4C}"/>
              </a:ext>
            </a:extLst>
          </p:cNvPr>
          <p:cNvSpPr>
            <a:spLocks noGrp="1" noChangeArrowheads="1"/>
          </p:cNvSpPr>
          <p:nvPr>
            <p:ph type="body" idx="1"/>
          </p:nvPr>
        </p:nvSpPr>
        <p:spPr bwMode="auto">
          <a:xfrm>
            <a:off x="685800" y="4343400"/>
            <a:ext cx="5486400" cy="4114800"/>
          </a:xfrm>
          <a:prstGeom prst="rect">
            <a:avLst/>
          </a:prstGeom>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7" tIns="45714" rIns="91427" bIns="45714"/>
          <a:lstStyle/>
          <a:p>
            <a:pPr eaLnBrk="1" hangingPunct="1">
              <a:defRPr/>
            </a:pPr>
            <a:r>
              <a:rPr lang="en-US" altLang="en-US" dirty="0"/>
              <a:t>3 ways to get cash today from A/R</a:t>
            </a:r>
          </a:p>
          <a:p>
            <a:pPr marL="220690" indent="-220690" eaLnBrk="1" hangingPunct="1">
              <a:buFontTx/>
              <a:buAutoNum type="arabicParenR"/>
              <a:defRPr/>
            </a:pPr>
            <a:r>
              <a:rPr lang="en-US" altLang="en-US" dirty="0"/>
              <a:t>Pledge/assign (collateral)</a:t>
            </a:r>
          </a:p>
          <a:p>
            <a:pPr marL="220690" indent="-220690" eaLnBrk="1" hangingPunct="1">
              <a:buFontTx/>
              <a:buAutoNum type="arabicParenR"/>
              <a:defRPr/>
            </a:pPr>
            <a:r>
              <a:rPr lang="en-US" altLang="en-US" dirty="0"/>
              <a:t>Factor (sell receivables to 3</a:t>
            </a:r>
            <a:r>
              <a:rPr lang="en-US" altLang="en-US" baseline="30000" dirty="0"/>
              <a:t>rd</a:t>
            </a:r>
            <a:r>
              <a:rPr lang="en-US" altLang="en-US" dirty="0"/>
              <a:t> party at a discount)</a:t>
            </a:r>
          </a:p>
          <a:p>
            <a:pPr marL="220690" indent="-220690" eaLnBrk="1" hangingPunct="1">
              <a:buFontTx/>
              <a:buAutoNum type="arabicParenR"/>
              <a:defRPr/>
            </a:pPr>
            <a:r>
              <a:rPr lang="en-US" altLang="en-US" dirty="0"/>
              <a:t>Securitize (bundle together and sell interest in many separate receivables)</a:t>
            </a:r>
          </a:p>
          <a:p>
            <a:pPr eaLnBrk="1" hangingPunct="1">
              <a:defRPr/>
            </a:pPr>
            <a:endParaRPr lang="en-US" altLang="en-US" dirty="0"/>
          </a:p>
          <a:p>
            <a:pPr eaLnBrk="1" hangingPunct="1">
              <a:defRPr/>
            </a:pPr>
            <a:r>
              <a:rPr lang="en-US" altLang="en-US" dirty="0"/>
              <a:t>123 of 500 firms in 2009 discuss the use of receivables to obtain financing in their annual reports</a:t>
            </a:r>
          </a:p>
          <a:p>
            <a:pPr eaLnBrk="1" hangingPunct="1">
              <a:defRPr/>
            </a:pPr>
            <a:endParaRPr lang="en-US" altLang="en-US" dirty="0"/>
          </a:p>
          <a:p>
            <a:pPr eaLnBrk="1" hangingPunct="1">
              <a:defRPr/>
            </a:pPr>
            <a:r>
              <a:rPr lang="en-US" altLang="en-US" dirty="0"/>
              <a:t>102 sold, 11 with recourse, 45 without, 46 don’t discuss recourse</a:t>
            </a:r>
          </a:p>
          <a:p>
            <a:pPr eaLnBrk="1" hangingPunct="1">
              <a:defRPr/>
            </a:pPr>
            <a:r>
              <a:rPr lang="en-US" altLang="en-US" dirty="0"/>
              <a:t>21, receivables used as collateral</a:t>
            </a:r>
          </a:p>
          <a:p>
            <a:pPr eaLnBrk="1" hangingPunct="1">
              <a:defRPr/>
            </a:pPr>
            <a:endParaRPr lang="en-US" altLang="en-US" dirty="0"/>
          </a:p>
          <a:p>
            <a:pPr marL="231775" indent="-174625">
              <a:lnSpc>
                <a:spcPct val="80000"/>
              </a:lnSpc>
              <a:defRPr/>
            </a:pPr>
            <a:r>
              <a:rPr lang="en-US" altLang="en-US" sz="2400" dirty="0"/>
              <a:t>The “real world”: 123/500 firms in 2009 discuss the use of receivables to obtain financing in annual reports</a:t>
            </a:r>
          </a:p>
          <a:p>
            <a:pPr marL="631825" lvl="1" indent="-174625">
              <a:lnSpc>
                <a:spcPct val="80000"/>
              </a:lnSpc>
              <a:defRPr/>
            </a:pPr>
            <a:r>
              <a:rPr lang="en-US" altLang="en-US" sz="2000" dirty="0"/>
              <a:t>102 sold (11 with recourse, 45 without recourse, 46 don’t mention)</a:t>
            </a:r>
          </a:p>
          <a:p>
            <a:pPr marL="631825" lvl="1" indent="-174625">
              <a:lnSpc>
                <a:spcPct val="80000"/>
              </a:lnSpc>
              <a:defRPr/>
            </a:pPr>
            <a:r>
              <a:rPr lang="en-US" altLang="en-US" sz="2000" dirty="0"/>
              <a:t>21 used as collateral</a:t>
            </a:r>
          </a:p>
          <a:p>
            <a:pPr eaLnBrk="1" hangingPunct="1">
              <a:defRPr/>
            </a:pPr>
            <a:endParaRPr lang="en-US" altLang="en-US" dirty="0"/>
          </a:p>
          <a:p>
            <a:pPr eaLnBrk="1" hangingPunct="1">
              <a:defRPr/>
            </a:pPr>
            <a:endParaRPr lang="en-US" altLang="en-US" dirty="0"/>
          </a:p>
        </p:txBody>
      </p:sp>
    </p:spTree>
    <p:extLst>
      <p:ext uri="{BB962C8B-B14F-4D97-AF65-F5344CB8AC3E}">
        <p14:creationId xmlns:p14="http://schemas.microsoft.com/office/powerpoint/2010/main" val="30830829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F1D006A-6F4D-4501-8E73-99D0EC5E5B2D}" type="slidenum">
              <a:rPr lang="en-US" smtClean="0"/>
              <a:t>8</a:t>
            </a:fld>
            <a:endParaRPr lang="en-US"/>
          </a:p>
        </p:txBody>
      </p:sp>
    </p:spTree>
    <p:extLst>
      <p:ext uri="{BB962C8B-B14F-4D97-AF65-F5344CB8AC3E}">
        <p14:creationId xmlns:p14="http://schemas.microsoft.com/office/powerpoint/2010/main" val="2280251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Image Placeholder 1"/>
          <p:cNvSpPr>
            <a:spLocks noGrp="1" noRot="1" noChangeAspect="1"/>
          </p:cNvSpPr>
          <p:nvPr>
            <p:ph type="sldImg"/>
          </p:nvPr>
        </p:nvSpPr>
        <p:spPr bwMode="auto">
          <a:xfrm>
            <a:off x="407988" y="698500"/>
            <a:ext cx="6208712" cy="3492500"/>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Notes Placeholder 2"/>
          <p:cNvSpPr>
            <a:spLocks noGrp="1"/>
          </p:cNvSpPr>
          <p:nvPr>
            <p:ph type="body" idx="1"/>
          </p:nvPr>
        </p:nvSpPr>
        <p:spPr bwMode="auto">
          <a:xfrm>
            <a:off x="703263" y="4422775"/>
            <a:ext cx="5616575" cy="418782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7735" tIns="43867" rIns="87735" bIns="43867"/>
          <a:lstStyle/>
          <a:p>
            <a:endParaRPr lang="en-US" altLang="en-US" dirty="0"/>
          </a:p>
          <a:p>
            <a:endParaRPr lang="en-US" altLang="en-US" dirty="0"/>
          </a:p>
          <a:p>
            <a:endParaRPr lang="en-US" altLang="en-US" dirty="0"/>
          </a:p>
        </p:txBody>
      </p:sp>
    </p:spTree>
    <p:extLst>
      <p:ext uri="{BB962C8B-B14F-4D97-AF65-F5344CB8AC3E}">
        <p14:creationId xmlns:p14="http://schemas.microsoft.com/office/powerpoint/2010/main" val="36723184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1"/>
            <a:ext cx="2743200" cy="365125"/>
          </a:xfrm>
        </p:spPr>
        <p:txBody>
          <a:bodyPr/>
          <a:lstStyle/>
          <a:p>
            <a:fld id="{29999271-A573-1E42-984E-4EB780E50D50}" type="datetimeFigureOut">
              <a:rPr lang="en-US" smtClean="0"/>
              <a:t>10/2/2022</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23140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10/2/2022</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cxnSp>
        <p:nvCxnSpPr>
          <p:cNvPr id="8" name="Straight Connector 7"/>
          <p:cNvCxnSpPr/>
          <p:nvPr userDrawn="1"/>
        </p:nvCxnSpPr>
        <p:spPr>
          <a:xfrm>
            <a:off x="838200" y="1184982"/>
            <a:ext cx="77724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7075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1" y="4589465"/>
            <a:ext cx="10515600" cy="1218213"/>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999271-A573-1E42-984E-4EB780E50D50}" type="datetimeFigureOut">
              <a:rPr lang="en-US" smtClean="0"/>
              <a:t>10/2/2022</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6692045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39449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99271-A573-1E42-984E-4EB780E50D50}" type="datetimeFigureOut">
              <a:rPr lang="en-US" smtClean="0"/>
              <a:t>10/2/2022</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9488948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253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9999271-A573-1E42-984E-4EB780E50D50}" type="datetimeFigureOut">
              <a:rPr lang="en-US" smtClean="0"/>
              <a:t>10/2/2022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8623830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9999271-A573-1E42-984E-4EB780E50D50}" type="datetimeFigureOut">
              <a:rPr lang="en-US" smtClean="0"/>
              <a:t>10/2/2022</a:t>
            </a:fld>
            <a:endParaRPr lang="en-US"/>
          </a:p>
        </p:txBody>
      </p:sp>
      <p:sp>
        <p:nvSpPr>
          <p:cNvPr id="4" name="Footer Placeholder 3"/>
          <p:cNvSpPr>
            <a:spLocks noGrp="1"/>
          </p:cNvSpPr>
          <p:nvPr>
            <p:ph type="ftr" sz="quarter" idx="11"/>
          </p:nvPr>
        </p:nvSpPr>
        <p:spPr/>
        <p:txBody>
          <a:bodyPr/>
          <a:lstStyle/>
          <a:p>
            <a:endParaRPr lang="en-US"/>
          </a:p>
        </p:txBody>
      </p:sp>
      <p:sp>
        <p:nvSpPr>
          <p:cNvPr id="6"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704149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999271-A573-1E42-984E-4EB780E50D50}" type="datetimeFigureOut">
              <a:rPr lang="en-US" smtClean="0"/>
              <a:t>10/2/2022</a:t>
            </a:fld>
            <a:endParaRPr lang="en-US"/>
          </a:p>
        </p:txBody>
      </p:sp>
      <p:sp>
        <p:nvSpPr>
          <p:cNvPr id="3" name="Footer Placeholder 2"/>
          <p:cNvSpPr>
            <a:spLocks noGrp="1"/>
          </p:cNvSpPr>
          <p:nvPr>
            <p:ph type="ftr" sz="quarter" idx="11"/>
          </p:nvPr>
        </p:nvSpPr>
        <p:spPr/>
        <p:txBody>
          <a:bodyPr/>
          <a:lstStyle/>
          <a:p>
            <a:endParaRPr lang="en-US"/>
          </a:p>
        </p:txBody>
      </p:sp>
      <p:sp>
        <p:nvSpPr>
          <p:cNvPr id="5"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987093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10/2/2022</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696290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999271-A573-1E42-984E-4EB780E50D50}" type="datetimeFigureOut">
              <a:rPr lang="en-US" smtClean="0"/>
              <a:t>10/2/2022</a:t>
            </a:fld>
            <a:endParaRPr lang="en-US"/>
          </a:p>
        </p:txBody>
      </p:sp>
      <p:sp>
        <p:nvSpPr>
          <p:cNvPr id="6" name="Footer Placeholder 5"/>
          <p:cNvSpPr>
            <a:spLocks noGrp="1"/>
          </p:cNvSpPr>
          <p:nvPr>
            <p:ph type="ftr" sz="quarter" idx="11"/>
          </p:nvPr>
        </p:nvSpPr>
        <p:spPr/>
        <p:txBody>
          <a:bodyPr/>
          <a:lstStyle/>
          <a:p>
            <a:endParaRPr lang="en-US"/>
          </a:p>
        </p:txBody>
      </p:sp>
      <p:sp>
        <p:nvSpPr>
          <p:cNvPr id="8"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477474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10/2/2022</a:t>
            </a:fld>
            <a:endParaRPr lang="en-US"/>
          </a:p>
        </p:txBody>
      </p:sp>
      <p:sp>
        <p:nvSpPr>
          <p:cNvPr id="5" name="Footer Placeholder 4"/>
          <p:cNvSpPr>
            <a:spLocks noGrp="1"/>
          </p:cNvSpPr>
          <p:nvPr>
            <p:ph type="ftr" sz="quarter" idx="11"/>
          </p:nvPr>
        </p:nvSpPr>
        <p:spPr/>
        <p:txBody>
          <a:bodyPr/>
          <a:lstStyle/>
          <a:p>
            <a:endParaRPr lang="en-US"/>
          </a:p>
        </p:txBody>
      </p:sp>
      <p:sp>
        <p:nvSpPr>
          <p:cNvPr id="7" name="Slide Number Placeholder 8"/>
          <p:cNvSpPr>
            <a:spLocks noGrp="1"/>
          </p:cNvSpPr>
          <p:nvPr>
            <p:ph type="sldNum" sz="quarter" idx="12"/>
          </p:nvPr>
        </p:nvSpPr>
        <p:spPr>
          <a:xfrm>
            <a:off x="8610600" y="6356352"/>
            <a:ext cx="817605"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920764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7"/>
            <a:ext cx="2628900" cy="541783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9999271-A573-1E42-984E-4EB780E50D50}" type="datetimeFigureOut">
              <a:rPr lang="en-US" smtClean="0"/>
              <a:t>10/2/2022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8610600" y="6356352"/>
            <a:ext cx="768179" cy="365125"/>
          </a:xfrm>
          <a:prstGeom prst="rect">
            <a:avLst/>
          </a:prstGeom>
        </p:spPr>
        <p:txBody>
          <a:bodyPr/>
          <a:lstStyle/>
          <a:p>
            <a:fld id="{DD321DBF-325B-3546-BAAF-4F6E3B3181FF}" type="slidenum">
              <a:rPr lang="en-US" smtClean="0"/>
              <a:t>‹#›</a:t>
            </a:fld>
            <a:endParaRPr lang="en-US"/>
          </a:p>
        </p:txBody>
      </p:sp>
    </p:spTree>
    <p:extLst>
      <p:ext uri="{BB962C8B-B14F-4D97-AF65-F5344CB8AC3E}">
        <p14:creationId xmlns:p14="http://schemas.microsoft.com/office/powerpoint/2010/main" val="13114420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tif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178507"/>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7"/>
            <a:ext cx="10515600" cy="3957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9999271-A573-1E42-984E-4EB780E50D50}" type="datetimeFigureOut">
              <a:rPr lang="en-US" smtClean="0"/>
              <a:t>10/2/2022</a:t>
            </a:fld>
            <a:endParaRPr lang="en-US"/>
          </a:p>
        </p:txBody>
      </p:sp>
      <p:sp>
        <p:nvSpPr>
          <p:cNvPr id="5"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8" name="Slide Number Placeholder 8"/>
          <p:cNvSpPr>
            <a:spLocks noGrp="1"/>
          </p:cNvSpPr>
          <p:nvPr>
            <p:ph type="sldNum" sz="quarter" idx="4"/>
          </p:nvPr>
        </p:nvSpPr>
        <p:spPr>
          <a:xfrm>
            <a:off x="8610600" y="6356352"/>
            <a:ext cx="817605" cy="365125"/>
          </a:xfrm>
          <a:prstGeom prst="rect">
            <a:avLst/>
          </a:prstGeom>
        </p:spPr>
        <p:txBody>
          <a:bodyPr/>
          <a:lstStyle/>
          <a:p>
            <a:fld id="{DD321DBF-325B-3546-BAAF-4F6E3B3181FF}" type="slidenum">
              <a:rPr lang="en-US" smtClean="0"/>
              <a:t>‹#›</a:t>
            </a:fld>
            <a:endParaRPr lang="en-US"/>
          </a:p>
        </p:txBody>
      </p:sp>
      <p:pic>
        <p:nvPicPr>
          <p:cNvPr id="10" name="Picture 9">
            <a:extLst>
              <a:ext uri="{FF2B5EF4-FFF2-40B4-BE49-F238E27FC236}">
                <a16:creationId xmlns:a16="http://schemas.microsoft.com/office/drawing/2014/main" id="{DDE8B790-23B5-4C60-94C1-802463953420}"/>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9968482" y="140401"/>
            <a:ext cx="2068409" cy="434769"/>
          </a:xfrm>
          <a:prstGeom prst="rect">
            <a:avLst/>
          </a:prstGeom>
        </p:spPr>
      </p:pic>
    </p:spTree>
    <p:extLst>
      <p:ext uri="{BB962C8B-B14F-4D97-AF65-F5344CB8AC3E}">
        <p14:creationId xmlns:p14="http://schemas.microsoft.com/office/powerpoint/2010/main" val="20555602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864091" cy="6530027"/>
          </a:xfrm>
          <a:prstGeom prst="rect">
            <a:avLst/>
          </a:prstGeom>
        </p:spPr>
      </p:pic>
      <p:sp>
        <p:nvSpPr>
          <p:cNvPr id="5" name="Rectangle 3"/>
          <p:cNvSpPr>
            <a:spLocks noChangeArrowheads="1"/>
          </p:cNvSpPr>
          <p:nvPr/>
        </p:nvSpPr>
        <p:spPr bwMode="auto">
          <a:xfrm>
            <a:off x="-2" y="5303520"/>
            <a:ext cx="9864091" cy="1554480"/>
          </a:xfrm>
          <a:prstGeom prst="rect">
            <a:avLst/>
          </a:prstGeom>
          <a:solidFill>
            <a:schemeClr val="accent6">
              <a:lumMod val="50000"/>
            </a:schemeClr>
          </a:solidFill>
          <a:ln w="9525">
            <a:noFill/>
            <a:miter lim="800000"/>
            <a:headEnd/>
            <a:tailEnd/>
          </a:ln>
        </p:spPr>
        <p:txBody>
          <a:bodyPr wrap="none" anchor="ctr"/>
          <a:lstStyle/>
          <a:p>
            <a:pPr>
              <a:defRPr/>
            </a:pPr>
            <a:r>
              <a:rPr lang="en-US" altLang="en-US" sz="3200" b="1" i="1" dirty="0">
                <a:solidFill>
                  <a:schemeClr val="bg1"/>
                </a:solidFill>
              </a:rPr>
              <a:t>Cash and A/R Part 2 - Video</a:t>
            </a:r>
          </a:p>
        </p:txBody>
      </p:sp>
    </p:spTree>
    <p:extLst>
      <p:ext uri="{BB962C8B-B14F-4D97-AF65-F5344CB8AC3E}">
        <p14:creationId xmlns:p14="http://schemas.microsoft.com/office/powerpoint/2010/main" val="871637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noChangeArrowheads="1"/>
          </p:cNvSpPr>
          <p:nvPr>
            <p:ph type="title"/>
          </p:nvPr>
        </p:nvSpPr>
        <p:spPr/>
        <p:txBody>
          <a:bodyPr>
            <a:normAutofit/>
          </a:bodyPr>
          <a:lstStyle/>
          <a:p>
            <a:r>
              <a:rPr lang="en-US" altLang="en-US" dirty="0"/>
              <a:t>Transfer of Receivables</a:t>
            </a:r>
            <a:br>
              <a:rPr lang="en-US" altLang="en-US" dirty="0"/>
            </a:br>
            <a:endParaRPr lang="en-US" altLang="en-US" dirty="0"/>
          </a:p>
        </p:txBody>
      </p:sp>
      <p:sp>
        <p:nvSpPr>
          <p:cNvPr id="3" name="Text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47924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US" dirty="0"/>
              <a:t>Transfers of receivables</a:t>
            </a:r>
            <a:endParaRPr lang="en-US" dirty="0"/>
          </a:p>
        </p:txBody>
      </p:sp>
      <p:sp>
        <p:nvSpPr>
          <p:cNvPr id="5" name="Content Placeholder 4"/>
          <p:cNvSpPr>
            <a:spLocks noGrp="1"/>
          </p:cNvSpPr>
          <p:nvPr>
            <p:ph idx="1"/>
          </p:nvPr>
        </p:nvSpPr>
        <p:spPr/>
        <p:txBody>
          <a:bodyPr/>
          <a:lstStyle/>
          <a:p>
            <a:pPr marL="233363" indent="-233363">
              <a:lnSpc>
                <a:spcPct val="80000"/>
              </a:lnSpc>
              <a:spcBef>
                <a:spcPts val="1200"/>
              </a:spcBef>
              <a:spcAft>
                <a:spcPts val="600"/>
              </a:spcAft>
              <a:buFontTx/>
              <a:buChar char="•"/>
              <a:defRPr/>
            </a:pPr>
            <a:r>
              <a:rPr lang="en-US" altLang="en-US" dirty="0"/>
              <a:t>What is a transfer of receivables (other terms often used include factoring or securitizing receivables)?</a:t>
            </a:r>
          </a:p>
          <a:p>
            <a:pPr marL="690552" lvl="1" indent="-233363">
              <a:lnSpc>
                <a:spcPct val="80000"/>
              </a:lnSpc>
              <a:spcBef>
                <a:spcPts val="1200"/>
              </a:spcBef>
              <a:spcAft>
                <a:spcPts val="600"/>
              </a:spcAft>
              <a:buFontTx/>
              <a:buChar char="•"/>
              <a:defRPr/>
            </a:pPr>
            <a:r>
              <a:rPr lang="en-US" altLang="en-US" dirty="0"/>
              <a:t>Selling your receivables for cash now, or using receivables as collateral for a loan.</a:t>
            </a:r>
          </a:p>
          <a:p>
            <a:pPr marL="233363" indent="-233363">
              <a:lnSpc>
                <a:spcPct val="80000"/>
              </a:lnSpc>
              <a:spcBef>
                <a:spcPts val="1200"/>
              </a:spcBef>
              <a:spcAft>
                <a:spcPts val="600"/>
              </a:spcAft>
              <a:buFontTx/>
              <a:buChar char="•"/>
              <a:defRPr/>
            </a:pPr>
            <a:endParaRPr lang="en-US" altLang="en-US" dirty="0"/>
          </a:p>
          <a:p>
            <a:pPr marL="233363" indent="-233363">
              <a:lnSpc>
                <a:spcPct val="80000"/>
              </a:lnSpc>
              <a:spcBef>
                <a:spcPts val="1200"/>
              </a:spcBef>
              <a:spcAft>
                <a:spcPts val="600"/>
              </a:spcAft>
              <a:buFontTx/>
              <a:buChar char="•"/>
              <a:defRPr/>
            </a:pPr>
            <a:r>
              <a:rPr lang="en-US" altLang="en-US" dirty="0"/>
              <a:t>Why would a firm transfer receivables? </a:t>
            </a:r>
          </a:p>
          <a:p>
            <a:pPr marL="690552" lvl="1" indent="-233363">
              <a:lnSpc>
                <a:spcPct val="80000"/>
              </a:lnSpc>
              <a:spcBef>
                <a:spcPts val="1200"/>
              </a:spcBef>
              <a:spcAft>
                <a:spcPts val="600"/>
              </a:spcAft>
              <a:buFontTx/>
              <a:buChar char="•"/>
              <a:defRPr/>
            </a:pPr>
            <a:r>
              <a:rPr lang="en-US" altLang="en-US" dirty="0"/>
              <a:t>Prefer cash today versus waiting to collect</a:t>
            </a:r>
          </a:p>
          <a:p>
            <a:pPr marL="690552" lvl="1" indent="-233363">
              <a:lnSpc>
                <a:spcPct val="80000"/>
              </a:lnSpc>
              <a:spcBef>
                <a:spcPts val="1200"/>
              </a:spcBef>
              <a:spcAft>
                <a:spcPts val="600"/>
              </a:spcAft>
              <a:buFontTx/>
              <a:buChar char="•"/>
              <a:defRPr/>
            </a:pPr>
            <a:r>
              <a:rPr lang="en-US" altLang="en-US" dirty="0"/>
              <a:t>There is a cost…</a:t>
            </a:r>
          </a:p>
          <a:p>
            <a:endParaRPr lang="en-US" dirty="0"/>
          </a:p>
        </p:txBody>
      </p:sp>
    </p:spTree>
    <p:extLst>
      <p:ext uri="{BB962C8B-B14F-4D97-AF65-F5344CB8AC3E}">
        <p14:creationId xmlns:p14="http://schemas.microsoft.com/office/powerpoint/2010/main" val="2117461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75899" y="473076"/>
            <a:ext cx="9536515" cy="868363"/>
          </a:xfrm>
        </p:spPr>
        <p:txBody>
          <a:bodyPr>
            <a:normAutofit/>
          </a:bodyPr>
          <a:lstStyle/>
          <a:p>
            <a:r>
              <a:rPr lang="en-US" altLang="en-US" sz="4000" dirty="0"/>
              <a:t>Transfers of receivables</a:t>
            </a:r>
          </a:p>
        </p:txBody>
      </p:sp>
      <p:graphicFrame>
        <p:nvGraphicFramePr>
          <p:cNvPr id="5" name="Content Placeholder 4">
            <a:extLst>
              <a:ext uri="{FF2B5EF4-FFF2-40B4-BE49-F238E27FC236}">
                <a16:creationId xmlns:a16="http://schemas.microsoft.com/office/drawing/2014/main" id="{3E9B2390-1788-4C5E-B39E-57D996B29C72}"/>
              </a:ext>
            </a:extLst>
          </p:cNvPr>
          <p:cNvGraphicFramePr>
            <a:graphicFrameLocks noGrp="1"/>
          </p:cNvGraphicFramePr>
          <p:nvPr>
            <p:ph idx="1"/>
            <p:extLst>
              <p:ext uri="{D42A27DB-BD31-4B8C-83A1-F6EECF244321}">
                <p14:modId xmlns:p14="http://schemas.microsoft.com/office/powerpoint/2010/main" val="596910866"/>
              </p:ext>
            </p:extLst>
          </p:nvPr>
        </p:nvGraphicFramePr>
        <p:xfrm>
          <a:off x="838200" y="1825625"/>
          <a:ext cx="10515600" cy="3957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7995882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875899" y="473076"/>
            <a:ext cx="9536515" cy="868363"/>
          </a:xfrm>
        </p:spPr>
        <p:txBody>
          <a:bodyPr>
            <a:normAutofit/>
          </a:bodyPr>
          <a:lstStyle/>
          <a:p>
            <a:r>
              <a:rPr lang="en-US" altLang="en-US" sz="4000" dirty="0"/>
              <a:t>Transfers of receivables</a:t>
            </a:r>
          </a:p>
        </p:txBody>
      </p:sp>
      <p:graphicFrame>
        <p:nvGraphicFramePr>
          <p:cNvPr id="5" name="Content Placeholder 4">
            <a:extLst>
              <a:ext uri="{FF2B5EF4-FFF2-40B4-BE49-F238E27FC236}">
                <a16:creationId xmlns:a16="http://schemas.microsoft.com/office/drawing/2014/main" id="{3E9B2390-1788-4C5E-B39E-57D996B29C72}"/>
              </a:ext>
            </a:extLst>
          </p:cNvPr>
          <p:cNvGraphicFramePr>
            <a:graphicFrameLocks noGrp="1"/>
          </p:cNvGraphicFramePr>
          <p:nvPr>
            <p:ph idx="1"/>
            <p:extLst>
              <p:ext uri="{D42A27DB-BD31-4B8C-83A1-F6EECF244321}">
                <p14:modId xmlns:p14="http://schemas.microsoft.com/office/powerpoint/2010/main" val="588502296"/>
              </p:ext>
            </p:extLst>
          </p:nvPr>
        </p:nvGraphicFramePr>
        <p:xfrm>
          <a:off x="838200" y="1825625"/>
          <a:ext cx="10515600" cy="39576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48063103"/>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705F7-6010-44F0-B86C-FDB084F0F76A}"/>
              </a:ext>
            </a:extLst>
          </p:cNvPr>
          <p:cNvSpPr>
            <a:spLocks noGrp="1"/>
          </p:cNvSpPr>
          <p:nvPr>
            <p:ph type="title"/>
          </p:nvPr>
        </p:nvSpPr>
        <p:spPr/>
        <p:txBody>
          <a:bodyPr/>
          <a:lstStyle/>
          <a:p>
            <a:r>
              <a:rPr lang="en-US" dirty="0"/>
              <a:t>Secured Borrowing</a:t>
            </a:r>
          </a:p>
        </p:txBody>
      </p:sp>
      <p:sp>
        <p:nvSpPr>
          <p:cNvPr id="3" name="Content Placeholder 2">
            <a:extLst>
              <a:ext uri="{FF2B5EF4-FFF2-40B4-BE49-F238E27FC236}">
                <a16:creationId xmlns:a16="http://schemas.microsoft.com/office/drawing/2014/main" id="{3A383094-10C8-401A-B402-E4A7FD53659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E98CA27-EF96-4EE9-AF89-85945620B9F7}"/>
              </a:ext>
            </a:extLst>
          </p:cNvPr>
          <p:cNvPicPr>
            <a:picLocks noChangeAspect="1"/>
          </p:cNvPicPr>
          <p:nvPr/>
        </p:nvPicPr>
        <p:blipFill>
          <a:blip r:embed="rId2"/>
          <a:stretch>
            <a:fillRect/>
          </a:stretch>
        </p:blipFill>
        <p:spPr>
          <a:xfrm>
            <a:off x="838200" y="1275407"/>
            <a:ext cx="10420350" cy="5057775"/>
          </a:xfrm>
          <a:prstGeom prst="rect">
            <a:avLst/>
          </a:prstGeom>
        </p:spPr>
      </p:pic>
    </p:spTree>
    <p:extLst>
      <p:ext uri="{BB962C8B-B14F-4D97-AF65-F5344CB8AC3E}">
        <p14:creationId xmlns:p14="http://schemas.microsoft.com/office/powerpoint/2010/main" val="389996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A1A5A-7349-474C-BBC3-4270E2812F49}"/>
              </a:ext>
            </a:extLst>
          </p:cNvPr>
          <p:cNvSpPr>
            <a:spLocks noGrp="1"/>
          </p:cNvSpPr>
          <p:nvPr>
            <p:ph type="title"/>
          </p:nvPr>
        </p:nvSpPr>
        <p:spPr/>
        <p:txBody>
          <a:bodyPr>
            <a:normAutofit/>
          </a:bodyPr>
          <a:lstStyle/>
          <a:p>
            <a:r>
              <a:rPr lang="en-US" sz="4000" dirty="0"/>
              <a:t>Journal Entry for Secured Borrowing</a:t>
            </a:r>
          </a:p>
        </p:txBody>
      </p:sp>
      <p:sp>
        <p:nvSpPr>
          <p:cNvPr id="3" name="Content Placeholder 2">
            <a:extLst>
              <a:ext uri="{FF2B5EF4-FFF2-40B4-BE49-F238E27FC236}">
                <a16:creationId xmlns:a16="http://schemas.microsoft.com/office/drawing/2014/main" id="{D053AB0D-DAF2-48FA-90F6-F5FE928DCA0D}"/>
              </a:ext>
            </a:extLst>
          </p:cNvPr>
          <p:cNvSpPr>
            <a:spLocks noGrp="1"/>
          </p:cNvSpPr>
          <p:nvPr>
            <p:ph idx="1"/>
          </p:nvPr>
        </p:nvSpPr>
        <p:spPr/>
        <p:txBody>
          <a:bodyPr/>
          <a:lstStyle/>
          <a:p>
            <a:r>
              <a:rPr lang="en-US" dirty="0"/>
              <a:t>Record cash proceeds from loan, financing charge as an expense, and liability outstanding</a:t>
            </a:r>
          </a:p>
        </p:txBody>
      </p:sp>
      <p:pic>
        <p:nvPicPr>
          <p:cNvPr id="5" name="Picture 4">
            <a:extLst>
              <a:ext uri="{FF2B5EF4-FFF2-40B4-BE49-F238E27FC236}">
                <a16:creationId xmlns:a16="http://schemas.microsoft.com/office/drawing/2014/main" id="{042665AD-7DFD-47E0-AFDA-0D7A6724FCA1}"/>
              </a:ext>
            </a:extLst>
          </p:cNvPr>
          <p:cNvPicPr>
            <a:picLocks noChangeAspect="1"/>
          </p:cNvPicPr>
          <p:nvPr/>
        </p:nvPicPr>
        <p:blipFill>
          <a:blip r:embed="rId2"/>
          <a:stretch>
            <a:fillRect/>
          </a:stretch>
        </p:blipFill>
        <p:spPr>
          <a:xfrm>
            <a:off x="701632" y="3254461"/>
            <a:ext cx="10220325" cy="2400300"/>
          </a:xfrm>
          <a:prstGeom prst="rect">
            <a:avLst/>
          </a:prstGeom>
        </p:spPr>
      </p:pic>
    </p:spTree>
    <p:extLst>
      <p:ext uri="{BB962C8B-B14F-4D97-AF65-F5344CB8AC3E}">
        <p14:creationId xmlns:p14="http://schemas.microsoft.com/office/powerpoint/2010/main" val="3827908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DED49-9D4D-4EFE-989A-8CBD9839DEAA}"/>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8B371154-17E7-4263-B279-19CED40F69F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EDBAF25-3ABA-4BCA-B1F9-DDB63F0314CB}"/>
              </a:ext>
            </a:extLst>
          </p:cNvPr>
          <p:cNvPicPr>
            <a:picLocks noChangeAspect="1"/>
          </p:cNvPicPr>
          <p:nvPr/>
        </p:nvPicPr>
        <p:blipFill>
          <a:blip r:embed="rId3"/>
          <a:stretch>
            <a:fillRect/>
          </a:stretch>
        </p:blipFill>
        <p:spPr>
          <a:xfrm>
            <a:off x="0" y="623489"/>
            <a:ext cx="12192000" cy="6055865"/>
          </a:xfrm>
          <a:prstGeom prst="rect">
            <a:avLst/>
          </a:prstGeom>
        </p:spPr>
      </p:pic>
      <p:sp>
        <p:nvSpPr>
          <p:cNvPr id="6" name="Rectangle 5">
            <a:extLst>
              <a:ext uri="{FF2B5EF4-FFF2-40B4-BE49-F238E27FC236}">
                <a16:creationId xmlns:a16="http://schemas.microsoft.com/office/drawing/2014/main" id="{6747E2D1-AA2C-4324-8930-59F97A03DEBB}"/>
              </a:ext>
            </a:extLst>
          </p:cNvPr>
          <p:cNvSpPr/>
          <p:nvPr/>
        </p:nvSpPr>
        <p:spPr>
          <a:xfrm>
            <a:off x="6215449" y="2049865"/>
            <a:ext cx="5696465" cy="200654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2017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BFBB9E-B149-482D-9914-5F85FD02203B}"/>
              </a:ext>
            </a:extLst>
          </p:cNvPr>
          <p:cNvSpPr>
            <a:spLocks noGrp="1"/>
          </p:cNvSpPr>
          <p:nvPr>
            <p:ph type="title"/>
          </p:nvPr>
        </p:nvSpPr>
        <p:spPr/>
        <p:txBody>
          <a:bodyPr/>
          <a:lstStyle/>
          <a:p>
            <a:r>
              <a:rPr lang="en-US" dirty="0"/>
              <a:t>Closing Thoughts</a:t>
            </a:r>
          </a:p>
        </p:txBody>
      </p:sp>
      <p:sp>
        <p:nvSpPr>
          <p:cNvPr id="3" name="Content Placeholder 2">
            <a:extLst>
              <a:ext uri="{FF2B5EF4-FFF2-40B4-BE49-F238E27FC236}">
                <a16:creationId xmlns:a16="http://schemas.microsoft.com/office/drawing/2014/main" id="{7F14910C-5078-4825-9F6E-A883D2AFF2EF}"/>
              </a:ext>
            </a:extLst>
          </p:cNvPr>
          <p:cNvSpPr>
            <a:spLocks noGrp="1"/>
          </p:cNvSpPr>
          <p:nvPr>
            <p:ph idx="1"/>
          </p:nvPr>
        </p:nvSpPr>
        <p:spPr/>
        <p:txBody>
          <a:bodyPr/>
          <a:lstStyle/>
          <a:p>
            <a:r>
              <a:rPr lang="en-US" dirty="0"/>
              <a:t>Three ways to transfer receivables: secured borrowing, factoring/selling, securitizing</a:t>
            </a:r>
          </a:p>
          <a:p>
            <a:endParaRPr lang="en-US" dirty="0"/>
          </a:p>
          <a:p>
            <a:r>
              <a:rPr lang="en-US" dirty="0"/>
              <a:t>Secured borrowing uses receivables as collateral for a loan</a:t>
            </a:r>
          </a:p>
        </p:txBody>
      </p:sp>
    </p:spTree>
    <p:extLst>
      <p:ext uri="{BB962C8B-B14F-4D97-AF65-F5344CB8AC3E}">
        <p14:creationId xmlns:p14="http://schemas.microsoft.com/office/powerpoint/2010/main" val="2740566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0"/>
            <a:ext cx="9864091" cy="6530027"/>
          </a:xfrm>
          <a:prstGeom prst="rect">
            <a:avLst/>
          </a:prstGeom>
        </p:spPr>
      </p:pic>
      <p:sp>
        <p:nvSpPr>
          <p:cNvPr id="5" name="Rectangle 3"/>
          <p:cNvSpPr>
            <a:spLocks noChangeArrowheads="1"/>
          </p:cNvSpPr>
          <p:nvPr/>
        </p:nvSpPr>
        <p:spPr bwMode="auto">
          <a:xfrm>
            <a:off x="-2" y="5303520"/>
            <a:ext cx="9864091" cy="1554480"/>
          </a:xfrm>
          <a:prstGeom prst="rect">
            <a:avLst/>
          </a:prstGeom>
          <a:solidFill>
            <a:schemeClr val="accent6">
              <a:lumMod val="50000"/>
            </a:schemeClr>
          </a:solidFill>
          <a:ln w="9525">
            <a:noFill/>
            <a:miter lim="800000"/>
            <a:headEnd/>
            <a:tailEnd/>
          </a:ln>
        </p:spPr>
        <p:txBody>
          <a:bodyPr wrap="none" anchor="ctr"/>
          <a:lstStyle/>
          <a:p>
            <a:pPr>
              <a:defRPr/>
            </a:pPr>
            <a:r>
              <a:rPr lang="en-US" altLang="en-US" sz="3200" b="1" i="1" dirty="0">
                <a:solidFill>
                  <a:schemeClr val="bg1"/>
                </a:solidFill>
              </a:rPr>
              <a:t>Cash and A/R Part 2 - Video</a:t>
            </a:r>
          </a:p>
        </p:txBody>
      </p:sp>
    </p:spTree>
    <p:extLst>
      <p:ext uri="{BB962C8B-B14F-4D97-AF65-F5344CB8AC3E}">
        <p14:creationId xmlns:p14="http://schemas.microsoft.com/office/powerpoint/2010/main" val="35010910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1255</TotalTime>
  <Words>616</Words>
  <Application>Microsoft Office PowerPoint</Application>
  <PresentationFormat>Widescreen</PresentationFormat>
  <Paragraphs>76</Paragraphs>
  <Slides>10</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Arial Black</vt:lpstr>
      <vt:lpstr>Calibri</vt:lpstr>
      <vt:lpstr>Times New Roman</vt:lpstr>
      <vt:lpstr>Office Theme</vt:lpstr>
      <vt:lpstr>PowerPoint Presentation</vt:lpstr>
      <vt:lpstr>Transfer of Receivables </vt:lpstr>
      <vt:lpstr>Transfers of receivables</vt:lpstr>
      <vt:lpstr>Transfers of receivables</vt:lpstr>
      <vt:lpstr>Transfers of receivables</vt:lpstr>
      <vt:lpstr>Secured Borrowing</vt:lpstr>
      <vt:lpstr>Journal Entry for Secured Borrowing</vt:lpstr>
      <vt:lpstr>PowerPoint Presentation</vt:lpstr>
      <vt:lpstr>Closing Thoughts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William Kubie</dc:creator>
  <cp:lastModifiedBy>Jeremiah Contreras</cp:lastModifiedBy>
  <cp:revision>122</cp:revision>
  <dcterms:created xsi:type="dcterms:W3CDTF">2016-01-26T18:12:20Z</dcterms:created>
  <dcterms:modified xsi:type="dcterms:W3CDTF">2022-10-02T13:33:24Z</dcterms:modified>
</cp:coreProperties>
</file>