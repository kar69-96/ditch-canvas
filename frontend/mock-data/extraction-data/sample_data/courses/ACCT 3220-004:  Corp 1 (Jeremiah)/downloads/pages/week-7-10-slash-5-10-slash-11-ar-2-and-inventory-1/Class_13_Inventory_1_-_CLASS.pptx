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0"/>
  </p:notesMasterIdLst>
  <p:sldIdLst>
    <p:sldId id="374" r:id="rId3"/>
    <p:sldId id="375" r:id="rId4"/>
    <p:sldId id="345" r:id="rId5"/>
    <p:sldId id="311" r:id="rId6"/>
    <p:sldId id="363" r:id="rId7"/>
    <p:sldId id="365" r:id="rId8"/>
    <p:sldId id="366" r:id="rId9"/>
    <p:sldId id="368" r:id="rId10"/>
    <p:sldId id="367" r:id="rId11"/>
    <p:sldId id="278" r:id="rId12"/>
    <p:sldId id="359" r:id="rId13"/>
    <p:sldId id="360" r:id="rId14"/>
    <p:sldId id="361" r:id="rId15"/>
    <p:sldId id="362" r:id="rId16"/>
    <p:sldId id="328" r:id="rId17"/>
    <p:sldId id="279" r:id="rId18"/>
    <p:sldId id="369" r:id="rId19"/>
    <p:sldId id="344" r:id="rId20"/>
    <p:sldId id="370" r:id="rId21"/>
    <p:sldId id="349" r:id="rId22"/>
    <p:sldId id="386" r:id="rId23"/>
    <p:sldId id="280" r:id="rId24"/>
    <p:sldId id="281" r:id="rId25"/>
    <p:sldId id="373" r:id="rId26"/>
    <p:sldId id="376" r:id="rId27"/>
    <p:sldId id="387" r:id="rId28"/>
    <p:sldId id="31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3A3"/>
    <a:srgbClr val="F17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179CC0-403C-426F-98AD-E27ADC3C9A5A}" v="2" dt="2025-10-08T00:16:45.486"/>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8"/>
    <p:restoredTop sz="86448"/>
  </p:normalViewPr>
  <p:slideViewPr>
    <p:cSldViewPr snapToGrid="0" snapToObjects="1">
      <p:cViewPr varScale="1">
        <p:scale>
          <a:sx n="60" d="100"/>
          <a:sy n="60" d="100"/>
        </p:scale>
        <p:origin x="21" y="54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7aaf88c5-f86c-46d8-a0d4-f1ec65ded07c" providerId="ADAL" clId="{A172D7DD-C591-4EE4-8005-BB90B00AEEA7}"/>
    <pc:docChg chg="custSel modSld">
      <pc:chgData name="Jeremiah Contreras" userId="7aaf88c5-f86c-46d8-a0d4-f1ec65ded07c" providerId="ADAL" clId="{A172D7DD-C591-4EE4-8005-BB90B00AEEA7}" dt="2025-08-23T14:01:44.862" v="132" actId="20577"/>
      <pc:docMkLst>
        <pc:docMk/>
      </pc:docMkLst>
      <pc:sldChg chg="addSp delSp modSp mod">
        <pc:chgData name="Jeremiah Contreras" userId="7aaf88c5-f86c-46d8-a0d4-f1ec65ded07c" providerId="ADAL" clId="{A172D7DD-C591-4EE4-8005-BB90B00AEEA7}" dt="2025-08-16T13:45:12.494" v="118" actId="255"/>
        <pc:sldMkLst>
          <pc:docMk/>
          <pc:sldMk cId="1902606775" sldId="281"/>
        </pc:sldMkLst>
      </pc:sldChg>
      <pc:sldChg chg="modSp mod">
        <pc:chgData name="Jeremiah Contreras" userId="7aaf88c5-f86c-46d8-a0d4-f1ec65ded07c" providerId="ADAL" clId="{A172D7DD-C591-4EE4-8005-BB90B00AEEA7}" dt="2025-08-16T13:34:45.781" v="93" actId="1037"/>
        <pc:sldMkLst>
          <pc:docMk/>
          <pc:sldMk cId="1039827473" sldId="311"/>
        </pc:sldMkLst>
      </pc:sldChg>
      <pc:sldChg chg="addSp delSp modSp mod modAnim">
        <pc:chgData name="Jeremiah Contreras" userId="7aaf88c5-f86c-46d8-a0d4-f1ec65ded07c" providerId="ADAL" clId="{A172D7DD-C591-4EE4-8005-BB90B00AEEA7}" dt="2025-08-16T13:35:28.630" v="106"/>
        <pc:sldMkLst>
          <pc:docMk/>
          <pc:sldMk cId="3139603433" sldId="328"/>
        </pc:sldMkLst>
      </pc:sldChg>
      <pc:sldChg chg="delSp modSp mod">
        <pc:chgData name="Jeremiah Contreras" userId="7aaf88c5-f86c-46d8-a0d4-f1ec65ded07c" providerId="ADAL" clId="{A172D7DD-C591-4EE4-8005-BB90B00AEEA7}" dt="2025-08-16T13:45:26.113" v="119" actId="478"/>
        <pc:sldMkLst>
          <pc:docMk/>
          <pc:sldMk cId="997468450" sldId="373"/>
        </pc:sldMkLst>
      </pc:sldChg>
      <pc:sldChg chg="modSp mod">
        <pc:chgData name="Jeremiah Contreras" userId="7aaf88c5-f86c-46d8-a0d4-f1ec65ded07c" providerId="ADAL" clId="{A172D7DD-C591-4EE4-8005-BB90B00AEEA7}" dt="2025-07-26T16:29:34.663" v="55" actId="20577"/>
        <pc:sldMkLst>
          <pc:docMk/>
          <pc:sldMk cId="506929921" sldId="376"/>
        </pc:sldMkLst>
      </pc:sldChg>
      <pc:sldChg chg="modSp mod">
        <pc:chgData name="Jeremiah Contreras" userId="7aaf88c5-f86c-46d8-a0d4-f1ec65ded07c" providerId="ADAL" clId="{A172D7DD-C591-4EE4-8005-BB90B00AEEA7}" dt="2025-08-23T14:01:44.862" v="132" actId="20577"/>
        <pc:sldMkLst>
          <pc:docMk/>
          <pc:sldMk cId="3057997895" sldId="387"/>
        </pc:sldMkLst>
      </pc:sldChg>
    </pc:docChg>
  </pc:docChgLst>
  <pc:docChgLst>
    <pc:chgData name="Jeremiah Contreras" userId="353e0578-c100-4b27-ab8d-040de0f2d32b" providerId="ADAL" clId="{C40E36EA-7592-47BC-A54A-5EF901012886}"/>
    <pc:docChg chg="addSld modSld sldOrd">
      <pc:chgData name="Jeremiah Contreras" userId="353e0578-c100-4b27-ab8d-040de0f2d32b" providerId="ADAL" clId="{C40E36EA-7592-47BC-A54A-5EF901012886}" dt="2024-10-14T13:02:51.903" v="44"/>
      <pc:docMkLst>
        <pc:docMk/>
      </pc:docMkLst>
      <pc:sldChg chg="ord">
        <pc:chgData name="Jeremiah Contreras" userId="353e0578-c100-4b27-ab8d-040de0f2d32b" providerId="ADAL" clId="{C40E36EA-7592-47BC-A54A-5EF901012886}" dt="2024-10-14T13:02:36.107" v="42"/>
        <pc:sldMkLst>
          <pc:docMk/>
          <pc:sldMk cId="3955372264" sldId="345"/>
        </pc:sldMkLst>
      </pc:sldChg>
      <pc:sldChg chg="modSp mod ord">
        <pc:chgData name="Jeremiah Contreras" userId="353e0578-c100-4b27-ab8d-040de0f2d32b" providerId="ADAL" clId="{C40E36EA-7592-47BC-A54A-5EF901012886}" dt="2024-10-14T13:02:10.231" v="38" actId="20577"/>
        <pc:sldMkLst>
          <pc:docMk/>
          <pc:sldMk cId="997468450" sldId="373"/>
        </pc:sldMkLst>
      </pc:sldChg>
      <pc:sldChg chg="ord">
        <pc:chgData name="Jeremiah Contreras" userId="353e0578-c100-4b27-ab8d-040de0f2d32b" providerId="ADAL" clId="{C40E36EA-7592-47BC-A54A-5EF901012886}" dt="2024-10-14T13:02:51.903" v="44"/>
        <pc:sldMkLst>
          <pc:docMk/>
          <pc:sldMk cId="2053100816" sldId="375"/>
        </pc:sldMkLst>
      </pc:sldChg>
      <pc:sldChg chg="ord">
        <pc:chgData name="Jeremiah Contreras" userId="353e0578-c100-4b27-ab8d-040de0f2d32b" providerId="ADAL" clId="{C40E36EA-7592-47BC-A54A-5EF901012886}" dt="2024-10-14T12:59:47.900" v="3"/>
        <pc:sldMkLst>
          <pc:docMk/>
          <pc:sldMk cId="506929921" sldId="376"/>
        </pc:sldMkLst>
      </pc:sldChg>
      <pc:sldChg chg="modSp add mod">
        <pc:chgData name="Jeremiah Contreras" userId="353e0578-c100-4b27-ab8d-040de0f2d32b" providerId="ADAL" clId="{C40E36EA-7592-47BC-A54A-5EF901012886}" dt="2024-10-14T13:02:17.975" v="40" actId="6549"/>
        <pc:sldMkLst>
          <pc:docMk/>
          <pc:sldMk cId="3057997895" sldId="387"/>
        </pc:sldMkLst>
      </pc:sldChg>
    </pc:docChg>
  </pc:docChgLst>
  <pc:docChgLst>
    <pc:chgData name="Jeremiah Contreras" userId="7aaf88c5-f86c-46d8-a0d4-f1ec65ded07c" providerId="ADAL" clId="{47828E62-FC24-428A-ACF6-B28718A93287}"/>
    <pc:docChg chg="modSld">
      <pc:chgData name="Jeremiah Contreras" userId="7aaf88c5-f86c-46d8-a0d4-f1ec65ded07c" providerId="ADAL" clId="{47828E62-FC24-428A-ACF6-B28718A93287}" dt="2025-10-08T00:16:45.486" v="1"/>
      <pc:docMkLst>
        <pc:docMk/>
      </pc:docMkLst>
      <pc:sldChg chg="modAnim">
        <pc:chgData name="Jeremiah Contreras" userId="7aaf88c5-f86c-46d8-a0d4-f1ec65ded07c" providerId="ADAL" clId="{47828E62-FC24-428A-ACF6-B28718A93287}" dt="2025-10-08T00:16:45.486" v="1"/>
        <pc:sldMkLst>
          <pc:docMk/>
          <pc:sldMk cId="369320957" sldId="386"/>
        </pc:sldMkLst>
      </pc:sldChg>
    </pc:docChg>
  </pc:docChgLst>
  <pc:docChgLst>
    <pc:chgData name="Jeremiah Contreras" userId="9ea49ee18badb19e" providerId="LiveId" clId="{C1F67800-BB74-4916-A746-35C026AAC51D}"/>
    <pc:docChg chg="custSel addSld delSld modSld sldOrd">
      <pc:chgData name="Jeremiah Contreras" userId="9ea49ee18badb19e" providerId="LiveId" clId="{C1F67800-BB74-4916-A746-35C026AAC51D}" dt="2022-10-10T16:07:46.583" v="383" actId="47"/>
      <pc:docMkLst>
        <pc:docMk/>
      </pc:docMkLst>
      <pc:sldChg chg="del">
        <pc:chgData name="Jeremiah Contreras" userId="9ea49ee18badb19e" providerId="LiveId" clId="{C1F67800-BB74-4916-A746-35C026AAC51D}" dt="2022-10-09T17:09:01.889" v="0" actId="47"/>
        <pc:sldMkLst>
          <pc:docMk/>
          <pc:sldMk cId="3425115584" sldId="268"/>
        </pc:sldMkLst>
      </pc:sldChg>
      <pc:sldChg chg="del">
        <pc:chgData name="Jeremiah Contreras" userId="9ea49ee18badb19e" providerId="LiveId" clId="{C1F67800-BB74-4916-A746-35C026AAC51D}" dt="2022-10-09T17:09:01.889" v="0" actId="47"/>
        <pc:sldMkLst>
          <pc:docMk/>
          <pc:sldMk cId="530434380" sldId="272"/>
        </pc:sldMkLst>
      </pc:sldChg>
      <pc:sldChg chg="del">
        <pc:chgData name="Jeremiah Contreras" userId="9ea49ee18badb19e" providerId="LiveId" clId="{C1F67800-BB74-4916-A746-35C026AAC51D}" dt="2022-10-09T17:09:01.889" v="0" actId="47"/>
        <pc:sldMkLst>
          <pc:docMk/>
          <pc:sldMk cId="2373143124" sldId="277"/>
        </pc:sldMkLst>
      </pc:sldChg>
      <pc:sldChg chg="addSp modSp mod modAnim">
        <pc:chgData name="Jeremiah Contreras" userId="9ea49ee18badb19e" providerId="LiveId" clId="{C1F67800-BB74-4916-A746-35C026AAC51D}" dt="2022-10-10T16:01:26.689" v="382" actId="1036"/>
        <pc:sldMkLst>
          <pc:docMk/>
          <pc:sldMk cId="3034772825" sldId="279"/>
        </pc:sldMkLst>
      </pc:sldChg>
      <pc:sldChg chg="modSp mod modAnim">
        <pc:chgData name="Jeremiah Contreras" userId="9ea49ee18badb19e" providerId="LiveId" clId="{C1F67800-BB74-4916-A746-35C026AAC51D}" dt="2022-10-09T17:27:57.560" v="211" actId="20577"/>
        <pc:sldMkLst>
          <pc:docMk/>
          <pc:sldMk cId="2024294210" sldId="280"/>
        </pc:sldMkLst>
      </pc:sldChg>
      <pc:sldChg chg="del">
        <pc:chgData name="Jeremiah Contreras" userId="9ea49ee18badb19e" providerId="LiveId" clId="{C1F67800-BB74-4916-A746-35C026AAC51D}" dt="2022-10-09T17:09:01.889" v="0" actId="47"/>
        <pc:sldMkLst>
          <pc:docMk/>
          <pc:sldMk cId="871637387" sldId="295"/>
        </pc:sldMkLst>
      </pc:sldChg>
      <pc:sldChg chg="del">
        <pc:chgData name="Jeremiah Contreras" userId="9ea49ee18badb19e" providerId="LiveId" clId="{C1F67800-BB74-4916-A746-35C026AAC51D}" dt="2022-10-09T17:09:01.889" v="0" actId="47"/>
        <pc:sldMkLst>
          <pc:docMk/>
          <pc:sldMk cId="2340080392" sldId="308"/>
        </pc:sldMkLst>
      </pc:sldChg>
      <pc:sldChg chg="del">
        <pc:chgData name="Jeremiah Contreras" userId="9ea49ee18badb19e" providerId="LiveId" clId="{C1F67800-BB74-4916-A746-35C026AAC51D}" dt="2022-10-09T17:09:01.889" v="0" actId="47"/>
        <pc:sldMkLst>
          <pc:docMk/>
          <pc:sldMk cId="521104581" sldId="309"/>
        </pc:sldMkLst>
      </pc:sldChg>
      <pc:sldChg chg="del">
        <pc:chgData name="Jeremiah Contreras" userId="9ea49ee18badb19e" providerId="LiveId" clId="{C1F67800-BB74-4916-A746-35C026AAC51D}" dt="2022-10-09T17:09:01.889" v="0" actId="47"/>
        <pc:sldMkLst>
          <pc:docMk/>
          <pc:sldMk cId="2888069724" sldId="310"/>
        </pc:sldMkLst>
      </pc:sldChg>
      <pc:sldChg chg="addSp modSp mod modAnim">
        <pc:chgData name="Jeremiah Contreras" userId="9ea49ee18badb19e" providerId="LiveId" clId="{C1F67800-BB74-4916-A746-35C026AAC51D}" dt="2022-10-09T17:12:11.576" v="14"/>
        <pc:sldMkLst>
          <pc:docMk/>
          <pc:sldMk cId="1039827473" sldId="311"/>
        </pc:sldMkLst>
      </pc:sldChg>
      <pc:sldChg chg="ord modAnim">
        <pc:chgData name="Jeremiah Contreras" userId="9ea49ee18badb19e" providerId="LiveId" clId="{C1F67800-BB74-4916-A746-35C026AAC51D}" dt="2022-10-09T17:28:37.739" v="214"/>
        <pc:sldMkLst>
          <pc:docMk/>
          <pc:sldMk cId="3746110600" sldId="312"/>
        </pc:sldMkLst>
      </pc:sldChg>
      <pc:sldChg chg="addSp modSp mod modAnim">
        <pc:chgData name="Jeremiah Contreras" userId="9ea49ee18badb19e" providerId="LiveId" clId="{C1F67800-BB74-4916-A746-35C026AAC51D}" dt="2022-10-10T15:57:28.121" v="273" actId="1036"/>
        <pc:sldMkLst>
          <pc:docMk/>
          <pc:sldMk cId="3139603433" sldId="328"/>
        </pc:sldMkLst>
      </pc:sldChg>
      <pc:sldChg chg="del">
        <pc:chgData name="Jeremiah Contreras" userId="9ea49ee18badb19e" providerId="LiveId" clId="{C1F67800-BB74-4916-A746-35C026AAC51D}" dt="2022-10-09T17:09:01.889" v="0" actId="47"/>
        <pc:sldMkLst>
          <pc:docMk/>
          <pc:sldMk cId="2261375985" sldId="334"/>
        </pc:sldMkLst>
      </pc:sldChg>
      <pc:sldChg chg="del">
        <pc:chgData name="Jeremiah Contreras" userId="9ea49ee18badb19e" providerId="LiveId" clId="{C1F67800-BB74-4916-A746-35C026AAC51D}" dt="2022-10-09T17:09:01.889" v="0" actId="47"/>
        <pc:sldMkLst>
          <pc:docMk/>
          <pc:sldMk cId="2076920296" sldId="335"/>
        </pc:sldMkLst>
      </pc:sldChg>
      <pc:sldChg chg="del">
        <pc:chgData name="Jeremiah Contreras" userId="9ea49ee18badb19e" providerId="LiveId" clId="{C1F67800-BB74-4916-A746-35C026AAC51D}" dt="2022-10-09T17:09:01.889" v="0" actId="47"/>
        <pc:sldMkLst>
          <pc:docMk/>
          <pc:sldMk cId="3966652746" sldId="336"/>
        </pc:sldMkLst>
      </pc:sldChg>
      <pc:sldChg chg="del">
        <pc:chgData name="Jeremiah Contreras" userId="9ea49ee18badb19e" providerId="LiveId" clId="{C1F67800-BB74-4916-A746-35C026AAC51D}" dt="2022-10-09T17:09:01.889" v="0" actId="47"/>
        <pc:sldMkLst>
          <pc:docMk/>
          <pc:sldMk cId="741611079" sldId="337"/>
        </pc:sldMkLst>
      </pc:sldChg>
      <pc:sldChg chg="del">
        <pc:chgData name="Jeremiah Contreras" userId="9ea49ee18badb19e" providerId="LiveId" clId="{C1F67800-BB74-4916-A746-35C026AAC51D}" dt="2022-10-09T17:09:01.889" v="0" actId="47"/>
        <pc:sldMkLst>
          <pc:docMk/>
          <pc:sldMk cId="3787590608" sldId="338"/>
        </pc:sldMkLst>
      </pc:sldChg>
      <pc:sldChg chg="del">
        <pc:chgData name="Jeremiah Contreras" userId="9ea49ee18badb19e" providerId="LiveId" clId="{C1F67800-BB74-4916-A746-35C026AAC51D}" dt="2022-10-09T17:09:01.889" v="0" actId="47"/>
        <pc:sldMkLst>
          <pc:docMk/>
          <pc:sldMk cId="3664788799" sldId="339"/>
        </pc:sldMkLst>
      </pc:sldChg>
      <pc:sldChg chg="del">
        <pc:chgData name="Jeremiah Contreras" userId="9ea49ee18badb19e" providerId="LiveId" clId="{C1F67800-BB74-4916-A746-35C026AAC51D}" dt="2022-10-09T17:09:01.889" v="0" actId="47"/>
        <pc:sldMkLst>
          <pc:docMk/>
          <pc:sldMk cId="3628957602" sldId="340"/>
        </pc:sldMkLst>
      </pc:sldChg>
      <pc:sldChg chg="del">
        <pc:chgData name="Jeremiah Contreras" userId="9ea49ee18badb19e" providerId="LiveId" clId="{C1F67800-BB74-4916-A746-35C026AAC51D}" dt="2022-10-09T17:09:01.889" v="0" actId="47"/>
        <pc:sldMkLst>
          <pc:docMk/>
          <pc:sldMk cId="3494692506" sldId="341"/>
        </pc:sldMkLst>
      </pc:sldChg>
      <pc:sldChg chg="del">
        <pc:chgData name="Jeremiah Contreras" userId="9ea49ee18badb19e" providerId="LiveId" clId="{C1F67800-BB74-4916-A746-35C026AAC51D}" dt="2022-10-09T17:09:01.889" v="0" actId="47"/>
        <pc:sldMkLst>
          <pc:docMk/>
          <pc:sldMk cId="3529899664" sldId="342"/>
        </pc:sldMkLst>
      </pc:sldChg>
      <pc:sldChg chg="del">
        <pc:chgData name="Jeremiah Contreras" userId="9ea49ee18badb19e" providerId="LiveId" clId="{C1F67800-BB74-4916-A746-35C026AAC51D}" dt="2022-10-09T17:09:01.889" v="0" actId="47"/>
        <pc:sldMkLst>
          <pc:docMk/>
          <pc:sldMk cId="2239434183" sldId="343"/>
        </pc:sldMkLst>
      </pc:sldChg>
      <pc:sldChg chg="del">
        <pc:chgData name="Jeremiah Contreras" userId="9ea49ee18badb19e" providerId="LiveId" clId="{C1F67800-BB74-4916-A746-35C026AAC51D}" dt="2022-10-09T17:09:30.401" v="4" actId="47"/>
        <pc:sldMkLst>
          <pc:docMk/>
          <pc:sldMk cId="99678622" sldId="346"/>
        </pc:sldMkLst>
      </pc:sldChg>
      <pc:sldChg chg="del">
        <pc:chgData name="Jeremiah Contreras" userId="9ea49ee18badb19e" providerId="LiveId" clId="{C1F67800-BB74-4916-A746-35C026AAC51D}" dt="2022-10-09T17:10:08.635" v="5" actId="47"/>
        <pc:sldMkLst>
          <pc:docMk/>
          <pc:sldMk cId="1827411249" sldId="347"/>
        </pc:sldMkLst>
      </pc:sldChg>
      <pc:sldChg chg="del">
        <pc:chgData name="Jeremiah Contreras" userId="9ea49ee18badb19e" providerId="LiveId" clId="{C1F67800-BB74-4916-A746-35C026AAC51D}" dt="2022-10-10T15:55:52.249" v="257" actId="47"/>
        <pc:sldMkLst>
          <pc:docMk/>
          <pc:sldMk cId="3934036146" sldId="348"/>
        </pc:sldMkLst>
      </pc:sldChg>
      <pc:sldChg chg="del">
        <pc:chgData name="Jeremiah Contreras" userId="9ea49ee18badb19e" providerId="LiveId" clId="{C1F67800-BB74-4916-A746-35C026AAC51D}" dt="2022-10-09T17:23:56.393" v="120" actId="47"/>
        <pc:sldMkLst>
          <pc:docMk/>
          <pc:sldMk cId="2595591414" sldId="350"/>
        </pc:sldMkLst>
      </pc:sldChg>
      <pc:sldChg chg="del">
        <pc:chgData name="Jeremiah Contreras" userId="9ea49ee18badb19e" providerId="LiveId" clId="{C1F67800-BB74-4916-A746-35C026AAC51D}" dt="2022-10-09T17:23:56.393" v="120" actId="47"/>
        <pc:sldMkLst>
          <pc:docMk/>
          <pc:sldMk cId="1512387247" sldId="351"/>
        </pc:sldMkLst>
      </pc:sldChg>
      <pc:sldChg chg="del">
        <pc:chgData name="Jeremiah Contreras" userId="9ea49ee18badb19e" providerId="LiveId" clId="{C1F67800-BB74-4916-A746-35C026AAC51D}" dt="2022-10-09T17:23:56.393" v="120" actId="47"/>
        <pc:sldMkLst>
          <pc:docMk/>
          <pc:sldMk cId="3234028977" sldId="352"/>
        </pc:sldMkLst>
      </pc:sldChg>
      <pc:sldChg chg="del">
        <pc:chgData name="Jeremiah Contreras" userId="9ea49ee18badb19e" providerId="LiveId" clId="{C1F67800-BB74-4916-A746-35C026AAC51D}" dt="2022-10-09T17:23:56.393" v="120" actId="47"/>
        <pc:sldMkLst>
          <pc:docMk/>
          <pc:sldMk cId="4024570398" sldId="353"/>
        </pc:sldMkLst>
      </pc:sldChg>
      <pc:sldChg chg="del">
        <pc:chgData name="Jeremiah Contreras" userId="9ea49ee18badb19e" providerId="LiveId" clId="{C1F67800-BB74-4916-A746-35C026AAC51D}" dt="2022-10-09T17:12:37.243" v="15" actId="2696"/>
        <pc:sldMkLst>
          <pc:docMk/>
          <pc:sldMk cId="2982956800" sldId="363"/>
        </pc:sldMkLst>
      </pc:sldChg>
      <pc:sldChg chg="add del">
        <pc:chgData name="Jeremiah Contreras" userId="9ea49ee18badb19e" providerId="LiveId" clId="{C1F67800-BB74-4916-A746-35C026AAC51D}" dt="2022-10-09T17:12:43.678" v="17"/>
        <pc:sldMkLst>
          <pc:docMk/>
          <pc:sldMk cId="3931296960" sldId="363"/>
        </pc:sldMkLst>
      </pc:sldChg>
      <pc:sldChg chg="add del">
        <pc:chgData name="Jeremiah Contreras" userId="9ea49ee18badb19e" providerId="LiveId" clId="{C1F67800-BB74-4916-A746-35C026AAC51D}" dt="2022-10-09T17:12:43.678" v="17"/>
        <pc:sldMkLst>
          <pc:docMk/>
          <pc:sldMk cId="788543813" sldId="365"/>
        </pc:sldMkLst>
      </pc:sldChg>
      <pc:sldChg chg="del">
        <pc:chgData name="Jeremiah Contreras" userId="9ea49ee18badb19e" providerId="LiveId" clId="{C1F67800-BB74-4916-A746-35C026AAC51D}" dt="2022-10-09T17:12:37.243" v="15" actId="2696"/>
        <pc:sldMkLst>
          <pc:docMk/>
          <pc:sldMk cId="934725236" sldId="365"/>
        </pc:sldMkLst>
      </pc:sldChg>
      <pc:sldChg chg="del">
        <pc:chgData name="Jeremiah Contreras" userId="9ea49ee18badb19e" providerId="LiveId" clId="{C1F67800-BB74-4916-A746-35C026AAC51D}" dt="2022-10-09T17:12:37.243" v="15" actId="2696"/>
        <pc:sldMkLst>
          <pc:docMk/>
          <pc:sldMk cId="421286336" sldId="366"/>
        </pc:sldMkLst>
      </pc:sldChg>
      <pc:sldChg chg="add del">
        <pc:chgData name="Jeremiah Contreras" userId="9ea49ee18badb19e" providerId="LiveId" clId="{C1F67800-BB74-4916-A746-35C026AAC51D}" dt="2022-10-09T17:12:43.678" v="17"/>
        <pc:sldMkLst>
          <pc:docMk/>
          <pc:sldMk cId="4197591802" sldId="366"/>
        </pc:sldMkLst>
      </pc:sldChg>
      <pc:sldChg chg="del">
        <pc:chgData name="Jeremiah Contreras" userId="9ea49ee18badb19e" providerId="LiveId" clId="{C1F67800-BB74-4916-A746-35C026AAC51D}" dt="2022-10-09T17:12:37.243" v="15" actId="2696"/>
        <pc:sldMkLst>
          <pc:docMk/>
          <pc:sldMk cId="2136445566" sldId="367"/>
        </pc:sldMkLst>
      </pc:sldChg>
      <pc:sldChg chg="add del">
        <pc:chgData name="Jeremiah Contreras" userId="9ea49ee18badb19e" providerId="LiveId" clId="{C1F67800-BB74-4916-A746-35C026AAC51D}" dt="2022-10-09T17:12:43.678" v="17"/>
        <pc:sldMkLst>
          <pc:docMk/>
          <pc:sldMk cId="3093541998" sldId="367"/>
        </pc:sldMkLst>
      </pc:sldChg>
      <pc:sldChg chg="del">
        <pc:chgData name="Jeremiah Contreras" userId="9ea49ee18badb19e" providerId="LiveId" clId="{C1F67800-BB74-4916-A746-35C026AAC51D}" dt="2022-10-09T17:12:37.243" v="15" actId="2696"/>
        <pc:sldMkLst>
          <pc:docMk/>
          <pc:sldMk cId="1502026978" sldId="368"/>
        </pc:sldMkLst>
      </pc:sldChg>
      <pc:sldChg chg="add del">
        <pc:chgData name="Jeremiah Contreras" userId="9ea49ee18badb19e" providerId="LiveId" clId="{C1F67800-BB74-4916-A746-35C026AAC51D}" dt="2022-10-09T17:12:43.678" v="17"/>
        <pc:sldMkLst>
          <pc:docMk/>
          <pc:sldMk cId="2617422276" sldId="368"/>
        </pc:sldMkLst>
      </pc:sldChg>
      <pc:sldChg chg="del">
        <pc:chgData name="Jeremiah Contreras" userId="9ea49ee18badb19e" providerId="LiveId" clId="{C1F67800-BB74-4916-A746-35C026AAC51D}" dt="2022-10-09T17:23:56.393" v="120" actId="47"/>
        <pc:sldMkLst>
          <pc:docMk/>
          <pc:sldMk cId="3630966870" sldId="371"/>
        </pc:sldMkLst>
      </pc:sldChg>
      <pc:sldChg chg="del">
        <pc:chgData name="Jeremiah Contreras" userId="9ea49ee18badb19e" providerId="LiveId" clId="{C1F67800-BB74-4916-A746-35C026AAC51D}" dt="2022-10-09T17:28:58.178" v="215" actId="47"/>
        <pc:sldMkLst>
          <pc:docMk/>
          <pc:sldMk cId="3385656636" sldId="372"/>
        </pc:sldMkLst>
      </pc:sldChg>
      <pc:sldChg chg="addSp delSp modSp add del mod setBg delDesignElem">
        <pc:chgData name="Jeremiah Contreras" userId="9ea49ee18badb19e" providerId="LiveId" clId="{C1F67800-BB74-4916-A746-35C026AAC51D}" dt="2022-10-10T15:55:42.259" v="256" actId="207"/>
        <pc:sldMkLst>
          <pc:docMk/>
          <pc:sldMk cId="2476937257" sldId="374"/>
        </pc:sldMkLst>
      </pc:sldChg>
      <pc:sldChg chg="modSp mod">
        <pc:chgData name="Jeremiah Contreras" userId="9ea49ee18badb19e" providerId="LiveId" clId="{C1F67800-BB74-4916-A746-35C026AAC51D}" dt="2022-10-09T17:29:28.361" v="216" actId="1076"/>
        <pc:sldMkLst>
          <pc:docMk/>
          <pc:sldMk cId="506929921" sldId="376"/>
        </pc:sldMkLst>
      </pc:sldChg>
      <pc:sldChg chg="addSp modSp mod">
        <pc:chgData name="Jeremiah Contreras" userId="9ea49ee18badb19e" providerId="LiveId" clId="{C1F67800-BB74-4916-A746-35C026AAC51D}" dt="2022-10-09T17:24:14.768" v="121" actId="6549"/>
        <pc:sldMkLst>
          <pc:docMk/>
          <pc:sldMk cId="369320957" sldId="386"/>
        </pc:sldMkLst>
      </pc:sldChg>
      <pc:sldChg chg="del">
        <pc:chgData name="Jeremiah Contreras" userId="9ea49ee18badb19e" providerId="LiveId" clId="{C1F67800-BB74-4916-A746-35C026AAC51D}" dt="2022-10-10T16:07:46.583" v="383" actId="47"/>
        <pc:sldMkLst>
          <pc:docMk/>
          <pc:sldMk cId="3408201959" sldId="387"/>
        </pc:sldMkLst>
      </pc:sldChg>
    </pc:docChg>
  </pc:docChgLst>
  <pc:docChgLst>
    <pc:chgData name="Jeremiah Contreras" userId="7aaf88c5-f86c-46d8-a0d4-f1ec65ded07c" providerId="ADAL" clId="{31B3F2DA-C727-4F58-B915-295FF024D41B}"/>
    <pc:docChg chg="custSel modSld sldOrd">
      <pc:chgData name="Jeremiah Contreras" userId="7aaf88c5-f86c-46d8-a0d4-f1ec65ded07c" providerId="ADAL" clId="{31B3F2DA-C727-4F58-B915-295FF024D41B}" dt="2023-10-16T13:50:02.089" v="123" actId="20577"/>
      <pc:docMkLst>
        <pc:docMk/>
      </pc:docMkLst>
      <pc:sldChg chg="modSp mod">
        <pc:chgData name="Jeremiah Contreras" userId="7aaf88c5-f86c-46d8-a0d4-f1ec65ded07c" providerId="ADAL" clId="{31B3F2DA-C727-4F58-B915-295FF024D41B}" dt="2023-10-16T00:57:52.052" v="36" actId="1035"/>
        <pc:sldMkLst>
          <pc:docMk/>
          <pc:sldMk cId="787458922" sldId="349"/>
        </pc:sldMkLst>
      </pc:sldChg>
      <pc:sldChg chg="addSp delSp modSp mod">
        <pc:chgData name="Jeremiah Contreras" userId="7aaf88c5-f86c-46d8-a0d4-f1ec65ded07c" providerId="ADAL" clId="{31B3F2DA-C727-4F58-B915-295FF024D41B}" dt="2023-10-16T13:45:59.395" v="51" actId="1035"/>
        <pc:sldMkLst>
          <pc:docMk/>
          <pc:sldMk cId="900074311" sldId="360"/>
        </pc:sldMkLst>
      </pc:sldChg>
      <pc:sldChg chg="addSp delSp modSp mod">
        <pc:chgData name="Jeremiah Contreras" userId="7aaf88c5-f86c-46d8-a0d4-f1ec65ded07c" providerId="ADAL" clId="{31B3F2DA-C727-4F58-B915-295FF024D41B}" dt="2023-10-16T13:47:00.659" v="53" actId="1076"/>
        <pc:sldMkLst>
          <pc:docMk/>
          <pc:sldMk cId="2172908782" sldId="361"/>
        </pc:sldMkLst>
      </pc:sldChg>
      <pc:sldChg chg="addSp modSp mod">
        <pc:chgData name="Jeremiah Contreras" userId="7aaf88c5-f86c-46d8-a0d4-f1ec65ded07c" providerId="ADAL" clId="{31B3F2DA-C727-4F58-B915-295FF024D41B}" dt="2023-10-16T13:47:12.390" v="63" actId="1038"/>
        <pc:sldMkLst>
          <pc:docMk/>
          <pc:sldMk cId="395862556" sldId="362"/>
        </pc:sldMkLst>
      </pc:sldChg>
      <pc:sldChg chg="addSp modSp mod">
        <pc:chgData name="Jeremiah Contreras" userId="7aaf88c5-f86c-46d8-a0d4-f1ec65ded07c" providerId="ADAL" clId="{31B3F2DA-C727-4F58-B915-295FF024D41B}" dt="2023-10-16T00:51:27.276" v="3" actId="14100"/>
        <pc:sldMkLst>
          <pc:docMk/>
          <pc:sldMk cId="3577843704" sldId="365"/>
        </pc:sldMkLst>
      </pc:sldChg>
      <pc:sldChg chg="modSp mod ord">
        <pc:chgData name="Jeremiah Contreras" userId="7aaf88c5-f86c-46d8-a0d4-f1ec65ded07c" providerId="ADAL" clId="{31B3F2DA-C727-4F58-B915-295FF024D41B}" dt="2023-10-16T13:50:02.089" v="123" actId="20577"/>
        <pc:sldMkLst>
          <pc:docMk/>
          <pc:sldMk cId="997468450" sldId="373"/>
        </pc:sldMkLst>
      </pc:sldChg>
      <pc:sldChg chg="modAnim">
        <pc:chgData name="Jeremiah Contreras" userId="7aaf88c5-f86c-46d8-a0d4-f1ec65ded07c" providerId="ADAL" clId="{31B3F2DA-C727-4F58-B915-295FF024D41B}" dt="2023-10-16T13:49:04.654" v="70"/>
        <pc:sldMkLst>
          <pc:docMk/>
          <pc:sldMk cId="369320957" sldId="38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21T22:39:32.888"/>
    </inkml:context>
    <inkml:brush xml:id="br0">
      <inkml:brushProperty name="width" value="0.05" units="cm"/>
      <inkml:brushProperty name="height" value="0.05" units="cm"/>
      <inkml:brushProperty name="color" value="#E71224"/>
    </inkml:brush>
  </inkml:definitions>
  <inkml:trace contextRef="#ctx0" brushRef="#br0">1 1388 24575,'32'26'0,"-26"-23"0,-1 1 0,-1-1 0,1 1 0,-1 0 0,1 1 0,-1-1 0,0 1 0,0-1 0,5 11 0,13 34 0,-2 1 0,-2 0 0,-3 2 0,12 66 0,4 12 0,-27-117 0,-2-1 0,1 0 0,1 0 0,0-1 0,1 0 0,9 16 0,-12-24 0,1 1 0,-1-1 0,1 0 0,0-1 0,0 1 0,0 0 0,0-1 0,0 0 0,1 1 0,-1-1 0,1-1 0,-1 1 0,1 0 0,0-1 0,0 0 0,0 0 0,0 0 0,-1 0 0,1-1 0,8 1 0,15-2 0,0 0 0,0-2 0,-1-1 0,0-2 0,0 0 0,0-1 0,46-21 0,-1-5 0,94-60 0,433-309 224,-20-30-1064,361-251-611,-629 488 1441,-140 90-1067,-85 52-3960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21T22:39:34.913"/>
    </inkml:context>
    <inkml:brush xml:id="br0">
      <inkml:brushProperty name="width" value="0.05" units="cm"/>
      <inkml:brushProperty name="height" value="0.05" units="cm"/>
      <inkml:brushProperty name="color" value="#E71224"/>
    </inkml:brush>
  </inkml:definitions>
  <inkml:trace contextRef="#ctx0" brushRef="#br0">1 1388 24575,'32'26'0,"-26"-23"0,-1 1 0,-1-1 0,1 1 0,-1 0 0,1 1 0,-1-1 0,0 1 0,0-1 0,5 11 0,13 34 0,-2 1 0,-2 0 0,-3 2 0,12 66 0,4 12 0,-27-117 0,-2-1 0,1 0 0,1 0 0,0-1 0,1 0 0,9 16 0,-12-24 0,1 1 0,-1-1 0,1 0 0,0-1 0,0 1 0,0 0 0,0-1 0,0 0 0,1 1 0,-1-1 0,1-1 0,-1 1 0,1 0 0,0-1 0,0 0 0,0 0 0,0 0 0,-1 0 0,1-1 0,8 1 0,15-2 0,0 0 0,0-2 0,-1-1 0,0-2 0,0 0 0,0-1 0,46-21 0,-1-5 0,94-60 0,433-309 224,-20-30-1064,361-251-611,-629 488 1441,-140 90-1067,-85 52-3960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AF6DA-881C-4C79-B7BB-AE39812FEEB9}"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D006A-6F4D-4501-8E73-99D0EC5E5B2D}" type="slidenum">
              <a:rPr lang="en-US" smtClean="0"/>
              <a:t>‹#›</a:t>
            </a:fld>
            <a:endParaRPr lang="en-US"/>
          </a:p>
        </p:txBody>
      </p:sp>
    </p:spTree>
    <p:extLst>
      <p:ext uri="{BB962C8B-B14F-4D97-AF65-F5344CB8AC3E}">
        <p14:creationId xmlns:p14="http://schemas.microsoft.com/office/powerpoint/2010/main" val="333042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8332">
              <a:defRPr/>
            </a:pPr>
            <a:r>
              <a:rPr lang="en-US" i="1" dirty="0">
                <a:solidFill>
                  <a:srgbClr val="000000"/>
                </a:solidFill>
                <a:latin typeface="Times New Roman"/>
              </a:rPr>
              <a:t>Is a plant manager’s salary part of inventory? What about an accountant’s salary? What do I do with transportation costs?</a:t>
            </a:r>
          </a:p>
          <a:p>
            <a:pPr defTabSz="918332">
              <a:defRPr/>
            </a:pPr>
            <a:r>
              <a:rPr lang="en-US" i="1" dirty="0">
                <a:solidFill>
                  <a:srgbClr val="000000"/>
                </a:solidFill>
                <a:latin typeface="Times New Roman"/>
              </a:rPr>
              <a:t>What’s the value of a phone after a new version is released?</a:t>
            </a:r>
          </a:p>
          <a:p>
            <a:pPr defTabSz="918332">
              <a:defRPr/>
            </a:pPr>
            <a:endParaRPr lang="en-US" i="1" dirty="0">
              <a:solidFill>
                <a:srgbClr val="000000"/>
              </a:solidFill>
              <a:latin typeface="Times New Roman"/>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8CC22F-DC1F-4153-B89D-C51C7AB1CB3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4347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39884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bwMode="auto">
          <a:xfrm>
            <a:off x="407988" y="696913"/>
            <a:ext cx="6207125"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xfrm>
            <a:off x="703263" y="4421188"/>
            <a:ext cx="5616575" cy="419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92" tIns="46197" rIns="92392" bIns="46197"/>
          <a:lstStyle/>
          <a:p>
            <a:r>
              <a:rPr lang="en-US" altLang="en-US" dirty="0"/>
              <a:t>1) All products must end the period in one of these two buckets</a:t>
            </a:r>
          </a:p>
          <a:p>
            <a:r>
              <a:rPr lang="en-US" altLang="en-US" dirty="0"/>
              <a:t>-sold in COGS</a:t>
            </a:r>
          </a:p>
          <a:p>
            <a:r>
              <a:rPr lang="en-US" altLang="en-US" dirty="0"/>
              <a:t>-unsold in Inventory</a:t>
            </a:r>
          </a:p>
          <a:p>
            <a:endParaRPr lang="en-US" altLang="en-US" dirty="0"/>
          </a:p>
          <a:p>
            <a:r>
              <a:rPr lang="en-US" altLang="en-US" dirty="0"/>
              <a:t>2) Parallels last class:</a:t>
            </a:r>
          </a:p>
          <a:p>
            <a:r>
              <a:rPr lang="en-US" altLang="en-US" dirty="0"/>
              <a:t>Allowance (estimate end balance and plug expense)</a:t>
            </a:r>
          </a:p>
          <a:p>
            <a:r>
              <a:rPr lang="en-US" altLang="en-US" dirty="0"/>
              <a:t>Bad debt (calculate expense and plug end balance)</a:t>
            </a:r>
          </a:p>
          <a:p>
            <a:endParaRPr lang="en-US" altLang="en-US" dirty="0"/>
          </a:p>
          <a:p>
            <a:r>
              <a:rPr lang="en-US" altLang="en-US" dirty="0"/>
              <a:t>3) </a:t>
            </a:r>
          </a:p>
          <a:p>
            <a:r>
              <a:rPr lang="en-US" altLang="en-US" dirty="0"/>
              <a:t>Periodic: </a:t>
            </a:r>
          </a:p>
          <a:p>
            <a:r>
              <a:rPr lang="en-US" altLang="en-US" dirty="0"/>
              <a:t>-pretty accurate for most firms external reporting</a:t>
            </a:r>
          </a:p>
          <a:p>
            <a:r>
              <a:rPr lang="en-US" altLang="en-US" dirty="0"/>
              <a:t>-assume this method in this class going forward</a:t>
            </a:r>
          </a:p>
          <a:p>
            <a:endParaRPr lang="en-US" altLang="en-US" dirty="0"/>
          </a:p>
          <a:p>
            <a:r>
              <a:rPr lang="en-US" altLang="en-US" dirty="0"/>
              <a:t>Perpetual:</a:t>
            </a:r>
          </a:p>
          <a:p>
            <a:r>
              <a:rPr lang="en-US" altLang="en-US" dirty="0"/>
              <a:t>-more likely for internal information</a:t>
            </a:r>
          </a:p>
          <a:p>
            <a:endParaRPr lang="en-US" altLang="en-US" dirty="0"/>
          </a:p>
          <a:p>
            <a:endParaRPr lang="en-US" altLang="en-US" dirty="0"/>
          </a:p>
        </p:txBody>
      </p:sp>
    </p:spTree>
    <p:extLst>
      <p:ext uri="{BB962C8B-B14F-4D97-AF65-F5344CB8AC3E}">
        <p14:creationId xmlns:p14="http://schemas.microsoft.com/office/powerpoint/2010/main" val="4294393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14</a:t>
            </a:fld>
            <a:endParaRPr lang="en-US"/>
          </a:p>
        </p:txBody>
      </p:sp>
    </p:spTree>
    <p:extLst>
      <p:ext uri="{BB962C8B-B14F-4D97-AF65-F5344CB8AC3E}">
        <p14:creationId xmlns:p14="http://schemas.microsoft.com/office/powerpoint/2010/main" val="279743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421188"/>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02" tIns="46603" rIns="93202" bIns="46603"/>
          <a:lstStyle/>
          <a:p>
            <a:r>
              <a:rPr lang="en-US" altLang="en-US" dirty="0"/>
              <a:t>Once we figure out the # units sold vs. retained, still have one issue – Cost allocation.</a:t>
            </a:r>
          </a:p>
          <a:p>
            <a:endParaRPr lang="en-US" altLang="en-US" dirty="0"/>
          </a:p>
          <a:p>
            <a:r>
              <a:rPr lang="en-US" altLang="en-US" dirty="0"/>
              <a:t>Know Rev=$2 x 200 gal</a:t>
            </a:r>
          </a:p>
          <a:p>
            <a:r>
              <a:rPr lang="en-US" altLang="en-US" dirty="0"/>
              <a:t>Know sold 200 units:  </a:t>
            </a:r>
            <a:r>
              <a:rPr lang="en-US" altLang="en-US" i="1" dirty="0"/>
              <a:t>which units were sold?</a:t>
            </a:r>
          </a:p>
          <a:p>
            <a:r>
              <a:rPr lang="en-US" altLang="en-US" i="1" dirty="0"/>
              <a:t>-</a:t>
            </a:r>
            <a:r>
              <a:rPr lang="en-US" altLang="en-US" dirty="0"/>
              <a:t>have 800 units to sell, which do we assume are sold?</a:t>
            </a:r>
          </a:p>
          <a:p>
            <a:r>
              <a:rPr lang="en-US" altLang="en-US" dirty="0"/>
              <a:t>What is COGS?  (price per gallon)</a:t>
            </a:r>
          </a:p>
          <a:p>
            <a:r>
              <a:rPr lang="en-US" altLang="en-US" dirty="0"/>
              <a:t>-is it $1 or $1.50 or some average cost between these?</a:t>
            </a:r>
          </a:p>
        </p:txBody>
      </p:sp>
    </p:spTree>
    <p:extLst>
      <p:ext uri="{BB962C8B-B14F-4D97-AF65-F5344CB8AC3E}">
        <p14:creationId xmlns:p14="http://schemas.microsoft.com/office/powerpoint/2010/main" val="1287779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421188"/>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02" tIns="46603" rIns="93202" bIns="46603"/>
          <a:lstStyle/>
          <a:p>
            <a:r>
              <a:rPr lang="en-US" altLang="en-US" dirty="0"/>
              <a:t>Once we figure out the # units sold vs. retained, still have one issue – Cost allocation.</a:t>
            </a:r>
          </a:p>
          <a:p>
            <a:endParaRPr lang="en-US" altLang="en-US" dirty="0"/>
          </a:p>
          <a:p>
            <a:r>
              <a:rPr lang="en-US" altLang="en-US" dirty="0"/>
              <a:t>Know Rev=$2 x 200 gal</a:t>
            </a:r>
          </a:p>
          <a:p>
            <a:r>
              <a:rPr lang="en-US" altLang="en-US" dirty="0"/>
              <a:t>Know sold 200 units:  </a:t>
            </a:r>
            <a:r>
              <a:rPr lang="en-US" altLang="en-US" i="1" dirty="0"/>
              <a:t>which units were sold?</a:t>
            </a:r>
          </a:p>
          <a:p>
            <a:r>
              <a:rPr lang="en-US" altLang="en-US" i="1" dirty="0"/>
              <a:t>-</a:t>
            </a:r>
            <a:r>
              <a:rPr lang="en-US" altLang="en-US" dirty="0"/>
              <a:t>have 800 units to sell, which do we assume are sold?</a:t>
            </a:r>
          </a:p>
          <a:p>
            <a:r>
              <a:rPr lang="en-US" altLang="en-US" dirty="0"/>
              <a:t>What is COGS?  (price per gallon)</a:t>
            </a:r>
          </a:p>
          <a:p>
            <a:r>
              <a:rPr lang="en-US" altLang="en-US" dirty="0"/>
              <a:t>-is it $1 or $1.50 or some average cost between these?</a:t>
            </a:r>
          </a:p>
        </p:txBody>
      </p:sp>
    </p:spTree>
    <p:extLst>
      <p:ext uri="{BB962C8B-B14F-4D97-AF65-F5344CB8AC3E}">
        <p14:creationId xmlns:p14="http://schemas.microsoft.com/office/powerpoint/2010/main" val="299010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421188"/>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02" tIns="46603" rIns="93202" bIns="46603"/>
          <a:lstStyle/>
          <a:p>
            <a:r>
              <a:rPr lang="en-US" altLang="en-US" dirty="0"/>
              <a:t>Once we figure out the # units sold vs. retained, still have one issue – Cost allocation.</a:t>
            </a:r>
          </a:p>
          <a:p>
            <a:endParaRPr lang="en-US" altLang="en-US" dirty="0"/>
          </a:p>
          <a:p>
            <a:r>
              <a:rPr lang="en-US" altLang="en-US" dirty="0"/>
              <a:t>Know Rev=$2 x 200 gal</a:t>
            </a:r>
          </a:p>
          <a:p>
            <a:r>
              <a:rPr lang="en-US" altLang="en-US" dirty="0"/>
              <a:t>Know sold 200 units:  </a:t>
            </a:r>
            <a:r>
              <a:rPr lang="en-US" altLang="en-US" i="1" dirty="0"/>
              <a:t>which units were sold?</a:t>
            </a:r>
          </a:p>
          <a:p>
            <a:r>
              <a:rPr lang="en-US" altLang="en-US" i="1" dirty="0"/>
              <a:t>-</a:t>
            </a:r>
            <a:r>
              <a:rPr lang="en-US" altLang="en-US" dirty="0"/>
              <a:t>have 800 units to sell, which do we assume are sold?</a:t>
            </a:r>
          </a:p>
          <a:p>
            <a:r>
              <a:rPr lang="en-US" altLang="en-US" dirty="0"/>
              <a:t>What is COGS?  (price per gallon)</a:t>
            </a:r>
          </a:p>
          <a:p>
            <a:r>
              <a:rPr lang="en-US" altLang="en-US" dirty="0"/>
              <a:t>-is it $1 or $1.50 or some average cost between these?</a:t>
            </a:r>
          </a:p>
        </p:txBody>
      </p:sp>
    </p:spTree>
    <p:extLst>
      <p:ext uri="{BB962C8B-B14F-4D97-AF65-F5344CB8AC3E}">
        <p14:creationId xmlns:p14="http://schemas.microsoft.com/office/powerpoint/2010/main" val="42101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421188"/>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02" tIns="46603" rIns="93202" bIns="46603"/>
          <a:lstStyle/>
          <a:p>
            <a:r>
              <a:rPr lang="en-US" altLang="en-US" dirty="0"/>
              <a:t>Once we figure out the # units sold vs. retained, still have one issue – Cost allocation.</a:t>
            </a:r>
          </a:p>
          <a:p>
            <a:endParaRPr lang="en-US" altLang="en-US" dirty="0"/>
          </a:p>
          <a:p>
            <a:r>
              <a:rPr lang="en-US" altLang="en-US" dirty="0"/>
              <a:t>Know Rev=$2 x 200 gal</a:t>
            </a:r>
          </a:p>
          <a:p>
            <a:r>
              <a:rPr lang="en-US" altLang="en-US" dirty="0"/>
              <a:t>Know sold 200 units:  </a:t>
            </a:r>
            <a:r>
              <a:rPr lang="en-US" altLang="en-US" i="1" dirty="0"/>
              <a:t>which units were sold?</a:t>
            </a:r>
          </a:p>
          <a:p>
            <a:r>
              <a:rPr lang="en-US" altLang="en-US" i="1" dirty="0"/>
              <a:t>-</a:t>
            </a:r>
            <a:r>
              <a:rPr lang="en-US" altLang="en-US" dirty="0"/>
              <a:t>have 800 units to sell, which do we assume are sold?</a:t>
            </a:r>
          </a:p>
          <a:p>
            <a:r>
              <a:rPr lang="en-US" altLang="en-US" dirty="0"/>
              <a:t>What is COGS?  (price per gallon)</a:t>
            </a:r>
          </a:p>
          <a:p>
            <a:r>
              <a:rPr lang="en-US" altLang="en-US" dirty="0"/>
              <a:t>-is it $1 or $1.50 or some average cost between these?</a:t>
            </a:r>
          </a:p>
        </p:txBody>
      </p:sp>
    </p:spTree>
    <p:extLst>
      <p:ext uri="{BB962C8B-B14F-4D97-AF65-F5344CB8AC3E}">
        <p14:creationId xmlns:p14="http://schemas.microsoft.com/office/powerpoint/2010/main" val="4232132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421188"/>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02" tIns="46603" rIns="93202" bIns="46603"/>
          <a:lstStyle/>
          <a:p>
            <a:r>
              <a:rPr lang="en-US" altLang="en-US" dirty="0"/>
              <a:t>Once we figure out the # units sold vs. retained, still have one issue – Cost allocation.</a:t>
            </a:r>
          </a:p>
          <a:p>
            <a:endParaRPr lang="en-US" altLang="en-US" dirty="0"/>
          </a:p>
          <a:p>
            <a:r>
              <a:rPr lang="en-US" altLang="en-US" dirty="0"/>
              <a:t>Know Rev=$2 x 200 gal</a:t>
            </a:r>
          </a:p>
          <a:p>
            <a:r>
              <a:rPr lang="en-US" altLang="en-US" dirty="0"/>
              <a:t>Know sold 200 units:  </a:t>
            </a:r>
            <a:r>
              <a:rPr lang="en-US" altLang="en-US" i="1" dirty="0"/>
              <a:t>which units were sold?</a:t>
            </a:r>
          </a:p>
          <a:p>
            <a:r>
              <a:rPr lang="en-US" altLang="en-US" i="1" dirty="0"/>
              <a:t>-</a:t>
            </a:r>
            <a:r>
              <a:rPr lang="en-US" altLang="en-US" dirty="0"/>
              <a:t>have 800 units to sell, which do we assume are sold?</a:t>
            </a:r>
          </a:p>
          <a:p>
            <a:r>
              <a:rPr lang="en-US" altLang="en-US" dirty="0"/>
              <a:t>What is COGS?  (price per gallon)</a:t>
            </a:r>
          </a:p>
          <a:p>
            <a:r>
              <a:rPr lang="en-US" altLang="en-US" dirty="0"/>
              <a:t>-is it $1 or $1.50 or some average cost between these?</a:t>
            </a:r>
          </a:p>
        </p:txBody>
      </p:sp>
    </p:spTree>
    <p:extLst>
      <p:ext uri="{BB962C8B-B14F-4D97-AF65-F5344CB8AC3E}">
        <p14:creationId xmlns:p14="http://schemas.microsoft.com/office/powerpoint/2010/main" val="2027030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xfrm>
            <a:off x="412750" y="700088"/>
            <a:ext cx="6197600" cy="348773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703263" y="4273550"/>
            <a:ext cx="5616575" cy="4516438"/>
          </a:xfrm>
          <a:prstGeom prst="rect">
            <a:avLst/>
          </a:prstGeom>
          <a:ln>
            <a:miter lim="800000"/>
            <a:headEnd/>
            <a:tailEnd/>
          </a:ln>
        </p:spPr>
        <p:txBody>
          <a:bodyPr lIns="93202" tIns="46603" rIns="93202" bIns="46603"/>
          <a:lstStyle/>
          <a:p>
            <a:pPr>
              <a:defRPr/>
            </a:pPr>
            <a:r>
              <a:rPr lang="en-US" u="sng" dirty="0"/>
              <a:t>Examples:</a:t>
            </a:r>
          </a:p>
          <a:p>
            <a:pPr>
              <a:defRPr/>
            </a:pPr>
            <a:r>
              <a:rPr lang="en-US" dirty="0"/>
              <a:t>-FIFO: milk</a:t>
            </a:r>
          </a:p>
          <a:p>
            <a:pPr>
              <a:defRPr/>
            </a:pPr>
            <a:r>
              <a:rPr lang="en-US" dirty="0"/>
              <a:t>-LIFO: cereal</a:t>
            </a:r>
          </a:p>
          <a:p>
            <a:pPr>
              <a:defRPr/>
            </a:pPr>
            <a:r>
              <a:rPr lang="en-US" dirty="0"/>
              <a:t>-Weighted </a:t>
            </a:r>
            <a:r>
              <a:rPr lang="en-US" dirty="0" err="1"/>
              <a:t>avg</a:t>
            </a:r>
            <a:r>
              <a:rPr lang="en-US" dirty="0"/>
              <a:t>: olive oil</a:t>
            </a:r>
          </a:p>
          <a:p>
            <a:pPr>
              <a:defRPr/>
            </a:pPr>
            <a:r>
              <a:rPr lang="en-US" dirty="0"/>
              <a:t>-Specific ID: yacht dealer (big ticket, customized, not interchangeable)</a:t>
            </a:r>
          </a:p>
          <a:p>
            <a:pPr>
              <a:defRPr/>
            </a:pPr>
            <a:endParaRPr lang="en-US" dirty="0"/>
          </a:p>
          <a:p>
            <a:pPr>
              <a:defRPr/>
            </a:pPr>
            <a:r>
              <a:rPr lang="en-US" u="sng" dirty="0"/>
              <a:t>LIFO</a:t>
            </a:r>
            <a:r>
              <a:rPr lang="en-US" dirty="0"/>
              <a:t>: if rising prices</a:t>
            </a:r>
          </a:p>
          <a:p>
            <a:pPr>
              <a:defRPr/>
            </a:pPr>
            <a:r>
              <a:rPr lang="en-US" dirty="0"/>
              <a:t>-high expenses (sell current) =&gt; lower taxes (good)</a:t>
            </a:r>
          </a:p>
          <a:p>
            <a:pPr>
              <a:defRPr/>
            </a:pPr>
            <a:r>
              <a:rPr lang="en-US" dirty="0"/>
              <a:t>-low inventory  (keep old)</a:t>
            </a:r>
          </a:p>
          <a:p>
            <a:pPr>
              <a:defRPr/>
            </a:pPr>
            <a:r>
              <a:rPr lang="en-US" dirty="0"/>
              <a:t>generally higher costs early so preferred for taxes if rising prices (lower taxable income).  This is the one time that tax is important for Fin </a:t>
            </a:r>
            <a:r>
              <a:rPr lang="en-US" dirty="0" err="1"/>
              <a:t>Reptg</a:t>
            </a:r>
            <a:r>
              <a:rPr lang="en-US" dirty="0"/>
              <a:t> (parity)</a:t>
            </a:r>
          </a:p>
          <a:p>
            <a:pPr>
              <a:defRPr/>
            </a:pPr>
            <a:endParaRPr lang="en-US" u="sng" dirty="0"/>
          </a:p>
          <a:p>
            <a:pPr>
              <a:defRPr/>
            </a:pPr>
            <a:r>
              <a:rPr lang="en-US" u="sng" dirty="0"/>
              <a:t>Notes:</a:t>
            </a:r>
            <a:endParaRPr lang="en-US" dirty="0"/>
          </a:p>
          <a:p>
            <a:pPr marL="220451" indent="-220451">
              <a:buFontTx/>
              <a:buAutoNum type="arabicPeriod"/>
              <a:defRPr/>
            </a:pPr>
            <a:r>
              <a:rPr lang="en-US" dirty="0"/>
              <a:t>Assumptions important: affect inventory and net income (firms MUST disclose) </a:t>
            </a:r>
          </a:p>
          <a:p>
            <a:pPr marL="220451" indent="-220451">
              <a:buFontTx/>
              <a:buAutoNum type="arabicPeriod"/>
              <a:defRPr/>
            </a:pPr>
            <a:r>
              <a:rPr lang="en-US" dirty="0"/>
              <a:t>These assumptions about cost flow are purely accounting - not physical flow)</a:t>
            </a:r>
          </a:p>
          <a:p>
            <a:pPr marL="220451" indent="-220451">
              <a:buFontTx/>
              <a:buAutoNum type="arabicPeriod"/>
              <a:defRPr/>
            </a:pPr>
            <a:r>
              <a:rPr lang="en-US" dirty="0"/>
              <a:t>Over the life of the firm COGS are the same; this is just timing </a:t>
            </a:r>
          </a:p>
          <a:p>
            <a:pPr marL="220451" indent="-220451">
              <a:buFontTx/>
              <a:buAutoNum type="arabicPeriod"/>
              <a:defRPr/>
            </a:pPr>
            <a:r>
              <a:rPr lang="en-US" dirty="0"/>
              <a:t>Over the life of the firm taxes can be deferred, benefit=time-value of $</a:t>
            </a:r>
          </a:p>
          <a:p>
            <a:pPr marL="220451" indent="-220451">
              <a:defRPr/>
            </a:pPr>
            <a:r>
              <a:rPr lang="en-US" dirty="0"/>
              <a:t>    	   -only REAL cash benefit is deferral of taxes (keep your $ to use/invest longer)</a:t>
            </a:r>
          </a:p>
        </p:txBody>
      </p:sp>
    </p:spTree>
    <p:extLst>
      <p:ext uri="{BB962C8B-B14F-4D97-AF65-F5344CB8AC3E}">
        <p14:creationId xmlns:p14="http://schemas.microsoft.com/office/powerpoint/2010/main" val="1891590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p:cNvSpPr>
          <p:nvPr>
            <p:ph type="sldImg"/>
          </p:nvPr>
        </p:nvSpPr>
        <p:spPr bwMode="auto">
          <a:xfrm>
            <a:off x="663575" y="1128713"/>
            <a:ext cx="5411788" cy="3044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xfrm>
            <a:off x="673100" y="4343400"/>
            <a:ext cx="5395913" cy="35544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3" tIns="44612" rIns="89223" bIns="44612"/>
          <a:lstStyle/>
          <a:p>
            <a:r>
              <a:rPr lang="en-US" altLang="en-US"/>
              <a:t>Don’t add up to 100 because companies can use different cost assumptions for different inventory items</a:t>
            </a:r>
          </a:p>
        </p:txBody>
      </p:sp>
    </p:spTree>
    <p:extLst>
      <p:ext uri="{BB962C8B-B14F-4D97-AF65-F5344CB8AC3E}">
        <p14:creationId xmlns:p14="http://schemas.microsoft.com/office/powerpoint/2010/main" val="1153789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slide to pause and review.</a:t>
            </a:r>
          </a:p>
        </p:txBody>
      </p:sp>
      <p:sp>
        <p:nvSpPr>
          <p:cNvPr id="4" name="Slide Number Placeholder 3"/>
          <p:cNvSpPr>
            <a:spLocks noGrp="1"/>
          </p:cNvSpPr>
          <p:nvPr>
            <p:ph type="sldNum" sz="quarter" idx="5"/>
          </p:nvPr>
        </p:nvSpPr>
        <p:spPr/>
        <p:txBody>
          <a:bodyPr/>
          <a:lstStyle/>
          <a:p>
            <a:pPr>
              <a:defRPr/>
            </a:pPr>
            <a:fld id="{AD8CC22F-DC1F-4153-B89D-C51C7AB1CB34}" type="slidenum">
              <a:rPr lang="en-US" altLang="en-US" smtClean="0"/>
              <a:pPr>
                <a:defRPr/>
              </a:pPr>
              <a:t>27</a:t>
            </a:fld>
            <a:endParaRPr lang="en-US" altLang="en-US"/>
          </a:p>
        </p:txBody>
      </p:sp>
    </p:spTree>
    <p:extLst>
      <p:ext uri="{BB962C8B-B14F-4D97-AF65-F5344CB8AC3E}">
        <p14:creationId xmlns:p14="http://schemas.microsoft.com/office/powerpoint/2010/main" val="423772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23140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07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204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94889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86238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0414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9870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6962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7747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2076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11442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615775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5239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59677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38667" y="1860551"/>
            <a:ext cx="5384800" cy="3800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26667" y="1860551"/>
            <a:ext cx="5384800" cy="3800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9230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27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9117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610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528559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97397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116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36519" y="433391"/>
            <a:ext cx="2774949" cy="52276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9553" y="433391"/>
            <a:ext cx="8123767" cy="52276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08457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950976"/>
            <a:ext cx="10972800" cy="1162050"/>
          </a:xfrm>
        </p:spPr>
        <p:txBody>
          <a:bodyPr lIns="0" tIns="0" rIns="0" bIns="0" anchor="b"/>
          <a:lstStyle>
            <a:lvl1pPr>
              <a:lnSpc>
                <a:spcPct val="90000"/>
              </a:lnSpc>
              <a:defRPr sz="2400" b="1" kern="1200" spc="-53" baseline="0"/>
            </a:lvl1pPr>
          </a:lstStyle>
          <a:p>
            <a:r>
              <a:rPr lang="en-US" dirty="0"/>
              <a:t>Click to edit Master title style</a:t>
            </a:r>
          </a:p>
        </p:txBody>
      </p:sp>
      <p:sp>
        <p:nvSpPr>
          <p:cNvPr id="3" name="Content Placeholder 2"/>
          <p:cNvSpPr>
            <a:spLocks noGrp="1"/>
          </p:cNvSpPr>
          <p:nvPr>
            <p:ph idx="1"/>
          </p:nvPr>
        </p:nvSpPr>
        <p:spPr>
          <a:xfrm>
            <a:off x="609599" y="2267713"/>
            <a:ext cx="10972800" cy="4315968"/>
          </a:xfrm>
        </p:spPr>
        <p:txBody>
          <a:bodyPr lIns="0" tIns="0" rIns="0" bIns="0"/>
          <a:lstStyle>
            <a:lvl1pPr marL="0" indent="0">
              <a:lnSpc>
                <a:spcPct val="100000"/>
              </a:lnSpc>
              <a:spcBef>
                <a:spcPts val="675"/>
              </a:spcBef>
              <a:defRPr sz="1950"/>
            </a:lvl1pPr>
            <a:lvl2pPr marL="171450" indent="-171450">
              <a:lnSpc>
                <a:spcPct val="100000"/>
              </a:lnSpc>
              <a:spcBef>
                <a:spcPts val="675"/>
              </a:spcBef>
              <a:buFont typeface="Wingdings" pitchFamily="2" charset="2"/>
              <a:buChar char="§"/>
              <a:defRPr sz="1950"/>
            </a:lvl2pPr>
            <a:lvl3pPr marL="342900" indent="-171450">
              <a:lnSpc>
                <a:spcPct val="100000"/>
              </a:lnSpc>
              <a:spcBef>
                <a:spcPts val="675"/>
              </a:spcBef>
              <a:buFont typeface="Wingdings" pitchFamily="2" charset="2"/>
              <a:buChar char="§"/>
              <a:defRPr sz="1950"/>
            </a:lvl3pPr>
            <a:lvl4pPr marL="557213" indent="-214313">
              <a:lnSpc>
                <a:spcPct val="100000"/>
              </a:lnSpc>
              <a:spcBef>
                <a:spcPts val="675"/>
              </a:spcBef>
              <a:buFont typeface="Wingdings" pitchFamily="2" charset="2"/>
              <a:buChar char="§"/>
              <a:defRPr sz="1950"/>
            </a:lvl4pPr>
            <a:lvl5pPr marL="728663" indent="-171450">
              <a:lnSpc>
                <a:spcPct val="100000"/>
              </a:lnSpc>
              <a:spcBef>
                <a:spcPts val="675"/>
              </a:spcBef>
              <a:buFont typeface="Wingdings" pitchFamily="2" charset="2"/>
              <a:buChar char="§"/>
              <a:defRPr sz="19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4362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10/7/2025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2055560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06400" y="60063"/>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Rectangle 3"/>
          <p:cNvSpPr>
            <a:spLocks noGrp="1" noChangeArrowheads="1"/>
          </p:cNvSpPr>
          <p:nvPr>
            <p:ph type="body" idx="1"/>
          </p:nvPr>
        </p:nvSpPr>
        <p:spPr bwMode="auto">
          <a:xfrm>
            <a:off x="400049" y="1219203"/>
            <a:ext cx="10972800"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5" name="Picture 4"/>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220200" y="6019800"/>
            <a:ext cx="2545650" cy="499873"/>
          </a:xfrm>
          <a:prstGeom prst="rect">
            <a:avLst/>
          </a:prstGeom>
        </p:spPr>
      </p:pic>
    </p:spTree>
    <p:extLst>
      <p:ext uri="{BB962C8B-B14F-4D97-AF65-F5344CB8AC3E}">
        <p14:creationId xmlns:p14="http://schemas.microsoft.com/office/powerpoint/2010/main" val="2328203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0" fontAlgn="base" hangingPunct="0">
        <a:spcBef>
          <a:spcPct val="0"/>
        </a:spcBef>
        <a:spcAft>
          <a:spcPct val="0"/>
        </a:spcAft>
        <a:defRPr sz="4400" b="1">
          <a:solidFill>
            <a:schemeClr val="tx1"/>
          </a:solidFill>
          <a:latin typeface="HelveticaNeue BoldCond"/>
          <a:ea typeface="+mj-ea"/>
          <a:cs typeface="+mj-cs"/>
        </a:defRPr>
      </a:lvl1pPr>
      <a:lvl2pPr algn="ctr" rtl="0" eaLnBrk="0" fontAlgn="base" hangingPunct="0">
        <a:spcBef>
          <a:spcPct val="0"/>
        </a:spcBef>
        <a:spcAft>
          <a:spcPct val="0"/>
        </a:spcAft>
        <a:defRPr sz="4400">
          <a:solidFill>
            <a:schemeClr val="tx2"/>
          </a:solidFill>
          <a:latin typeface="HelveticaNeue BoldCond" charset="0"/>
        </a:defRPr>
      </a:lvl2pPr>
      <a:lvl3pPr algn="ctr" rtl="0" eaLnBrk="0" fontAlgn="base" hangingPunct="0">
        <a:spcBef>
          <a:spcPct val="0"/>
        </a:spcBef>
        <a:spcAft>
          <a:spcPct val="0"/>
        </a:spcAft>
        <a:defRPr sz="4400">
          <a:solidFill>
            <a:schemeClr val="tx2"/>
          </a:solidFill>
          <a:latin typeface="HelveticaNeue BoldCond" charset="0"/>
        </a:defRPr>
      </a:lvl3pPr>
      <a:lvl4pPr algn="ctr" rtl="0" eaLnBrk="0" fontAlgn="base" hangingPunct="0">
        <a:spcBef>
          <a:spcPct val="0"/>
        </a:spcBef>
        <a:spcAft>
          <a:spcPct val="0"/>
        </a:spcAft>
        <a:defRPr sz="4400">
          <a:solidFill>
            <a:schemeClr val="tx2"/>
          </a:solidFill>
          <a:latin typeface="HelveticaNeue BoldCond" charset="0"/>
        </a:defRPr>
      </a:lvl4pPr>
      <a:lvl5pPr algn="ctr" rtl="0" eaLnBrk="0" fontAlgn="base" hangingPunct="0">
        <a:spcBef>
          <a:spcPct val="0"/>
        </a:spcBef>
        <a:spcAft>
          <a:spcPct val="0"/>
        </a:spcAft>
        <a:defRPr sz="4400">
          <a:solidFill>
            <a:schemeClr val="tx2"/>
          </a:solidFill>
          <a:latin typeface="HelveticaNeue BoldCond" charset="0"/>
        </a:defRPr>
      </a:lvl5pPr>
      <a:lvl6pPr marL="457200" algn="l" rtl="0" eaLnBrk="1" fontAlgn="base" hangingPunct="1">
        <a:spcBef>
          <a:spcPct val="0"/>
        </a:spcBef>
        <a:spcAft>
          <a:spcPct val="0"/>
        </a:spcAft>
        <a:defRPr sz="4400">
          <a:solidFill>
            <a:schemeClr val="tx2"/>
          </a:solidFill>
          <a:latin typeface="HelveticaNeue BoldCond" charset="0"/>
        </a:defRPr>
      </a:lvl6pPr>
      <a:lvl7pPr marL="914400" algn="l" rtl="0" eaLnBrk="1" fontAlgn="base" hangingPunct="1">
        <a:spcBef>
          <a:spcPct val="0"/>
        </a:spcBef>
        <a:spcAft>
          <a:spcPct val="0"/>
        </a:spcAft>
        <a:defRPr sz="4400">
          <a:solidFill>
            <a:schemeClr val="tx2"/>
          </a:solidFill>
          <a:latin typeface="HelveticaNeue BoldCond" charset="0"/>
        </a:defRPr>
      </a:lvl7pPr>
      <a:lvl8pPr marL="1371600" algn="l" rtl="0" eaLnBrk="1" fontAlgn="base" hangingPunct="1">
        <a:spcBef>
          <a:spcPct val="0"/>
        </a:spcBef>
        <a:spcAft>
          <a:spcPct val="0"/>
        </a:spcAft>
        <a:defRPr sz="4400">
          <a:solidFill>
            <a:schemeClr val="tx2"/>
          </a:solidFill>
          <a:latin typeface="HelveticaNeue BoldCond" charset="0"/>
        </a:defRPr>
      </a:lvl8pPr>
      <a:lvl9pPr marL="1828800" algn="l" rtl="0" eaLnBrk="1" fontAlgn="base" hangingPunct="1">
        <a:spcBef>
          <a:spcPct val="0"/>
        </a:spcBef>
        <a:spcAft>
          <a:spcPct val="0"/>
        </a:spcAft>
        <a:defRPr sz="4400">
          <a:solidFill>
            <a:schemeClr val="tx2"/>
          </a:solidFill>
          <a:latin typeface="HelveticaNeue BoldCond" charset="0"/>
        </a:defRPr>
      </a:lvl9pPr>
    </p:titleStyle>
    <p:bodyStyle>
      <a:lvl1pPr marL="342900" indent="-342900" algn="l" rtl="0" eaLnBrk="0" fontAlgn="base" hangingPunct="0">
        <a:spcBef>
          <a:spcPct val="20000"/>
        </a:spcBef>
        <a:spcAft>
          <a:spcPct val="0"/>
        </a:spcAft>
        <a:buChar char="•"/>
        <a:defRPr sz="3200">
          <a:solidFill>
            <a:schemeClr val="tx1"/>
          </a:solidFill>
          <a:latin typeface="HelveticaNeueLT Std" panose="020B0604020202020204" pitchFamily="34" charset="0"/>
          <a:ea typeface="+mn-ea"/>
          <a:cs typeface="Times New Roman" panose="02020603050405020304" pitchFamily="18" charset="0"/>
        </a:defRPr>
      </a:lvl1pPr>
      <a:lvl2pPr marL="742950" indent="-285750" algn="l" rtl="0" eaLnBrk="0" fontAlgn="base" hangingPunct="0">
        <a:spcBef>
          <a:spcPct val="20000"/>
        </a:spcBef>
        <a:spcAft>
          <a:spcPct val="0"/>
        </a:spcAft>
        <a:buChar char="–"/>
        <a:defRPr sz="2800">
          <a:solidFill>
            <a:schemeClr val="tx1"/>
          </a:solidFill>
          <a:latin typeface="HelveticaNeueLT Std" panose="020B0604020202020204" pitchFamily="34" charset="0"/>
          <a:cs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HelveticaNeueLT Std" panose="020B0604020202020204" pitchFamily="34" charset="0"/>
          <a:cs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HelveticaNeueLT Std" panose="020B0604020202020204" pitchFamily="34" charset="0"/>
          <a:cs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HelveticaNeueLT Std" panose="020B0604020202020204" pitchFamily="34" charset="0"/>
          <a:cs typeface="Times New Roman" panose="02020603050405020304" pitchFamily="18"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9"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0"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8EDBE47F-7963-4EFE-9209-98BADD0456B7}"/>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Key Points from the Video</a:t>
            </a:r>
          </a:p>
        </p:txBody>
      </p:sp>
      <p:sp>
        <p:nvSpPr>
          <p:cNvPr id="3" name="Content Placeholder 2">
            <a:extLst>
              <a:ext uri="{FF2B5EF4-FFF2-40B4-BE49-F238E27FC236}">
                <a16:creationId xmlns:a16="http://schemas.microsoft.com/office/drawing/2014/main" id="{6DA69708-047E-46E0-A1D0-9220C7DED656}"/>
              </a:ext>
            </a:extLst>
          </p:cNvPr>
          <p:cNvSpPr>
            <a:spLocks noGrp="1"/>
          </p:cNvSpPr>
          <p:nvPr>
            <p:ph idx="1"/>
          </p:nvPr>
        </p:nvSpPr>
        <p:spPr>
          <a:xfrm>
            <a:off x="1424904" y="2494450"/>
            <a:ext cx="4836196" cy="3563159"/>
          </a:xfrm>
        </p:spPr>
        <p:txBody>
          <a:bodyPr>
            <a:normAutofit lnSpcReduction="10000"/>
          </a:bodyPr>
          <a:lstStyle/>
          <a:p>
            <a:pPr>
              <a:spcAft>
                <a:spcPts val="1200"/>
              </a:spcAft>
            </a:pPr>
            <a:r>
              <a:rPr lang="en-US" sz="2000" dirty="0"/>
              <a:t>Inventory includes items held for sale (including raw materials and work-in-process)</a:t>
            </a:r>
          </a:p>
          <a:p>
            <a:pPr>
              <a:spcAft>
                <a:spcPts val="1200"/>
              </a:spcAft>
            </a:pPr>
            <a:r>
              <a:rPr lang="en-US" sz="2000" dirty="0"/>
              <a:t>Be aware of goods in transit (depends on terms) and on consignment</a:t>
            </a:r>
          </a:p>
          <a:p>
            <a:pPr>
              <a:spcAft>
                <a:spcPts val="1200"/>
              </a:spcAft>
            </a:pPr>
            <a:r>
              <a:rPr lang="en-US" sz="2000" dirty="0"/>
              <a:t>Inventory costs include all to prepare the goods for sale (not just unit costs)</a:t>
            </a:r>
          </a:p>
          <a:p>
            <a:pPr>
              <a:spcAft>
                <a:spcPts val="1200"/>
              </a:spcAft>
            </a:pPr>
            <a:endParaRPr lang="en-US" sz="2000" dirty="0"/>
          </a:p>
          <a:p>
            <a:pPr>
              <a:spcAft>
                <a:spcPts val="1200"/>
              </a:spcAft>
            </a:pPr>
            <a:r>
              <a:rPr lang="en-US" sz="2000" b="1" dirty="0">
                <a:solidFill>
                  <a:srgbClr val="FF0000"/>
                </a:solidFill>
              </a:rPr>
              <a:t>NOTE</a:t>
            </a:r>
            <a:r>
              <a:rPr lang="en-US" sz="2000" dirty="0"/>
              <a:t>: Exam 1 Answers Open</a:t>
            </a:r>
          </a:p>
          <a:p>
            <a:endParaRPr lang="en-US" sz="1500" dirty="0"/>
          </a:p>
        </p:txBody>
      </p:sp>
      <p:pic>
        <p:nvPicPr>
          <p:cNvPr id="4" name="Picture 3" descr="Text&#10;&#10;Description automatically generated">
            <a:extLst>
              <a:ext uri="{FF2B5EF4-FFF2-40B4-BE49-F238E27FC236}">
                <a16:creationId xmlns:a16="http://schemas.microsoft.com/office/drawing/2014/main" id="{104F6B94-7D6F-472F-9458-A9DECC2F7301}"/>
              </a:ext>
            </a:extLst>
          </p:cNvPr>
          <p:cNvPicPr>
            <a:picLocks noChangeAspect="1"/>
          </p:cNvPicPr>
          <p:nvPr/>
        </p:nvPicPr>
        <p:blipFill>
          <a:blip r:embed="rId2"/>
          <a:stretch>
            <a:fillRect/>
          </a:stretch>
        </p:blipFill>
        <p:spPr>
          <a:xfrm>
            <a:off x="6677348" y="2378076"/>
            <a:ext cx="4239467" cy="2193924"/>
          </a:xfrm>
          <a:prstGeom prst="rect">
            <a:avLst/>
          </a:prstGeom>
        </p:spPr>
      </p:pic>
    </p:spTree>
    <p:extLst>
      <p:ext uri="{BB962C8B-B14F-4D97-AF65-F5344CB8AC3E}">
        <p14:creationId xmlns:p14="http://schemas.microsoft.com/office/powerpoint/2010/main" val="2476937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4B36-5A39-46FE-A805-39D1EA727BA7}"/>
              </a:ext>
            </a:extLst>
          </p:cNvPr>
          <p:cNvSpPr>
            <a:spLocks noGrp="1"/>
          </p:cNvSpPr>
          <p:nvPr>
            <p:ph type="title"/>
          </p:nvPr>
        </p:nvSpPr>
        <p:spPr/>
        <p:txBody>
          <a:bodyPr>
            <a:normAutofit/>
          </a:bodyPr>
          <a:lstStyle/>
          <a:p>
            <a:r>
              <a:rPr lang="en-US" sz="4000" dirty="0"/>
              <a:t>Challenges with valuing inventory</a:t>
            </a:r>
          </a:p>
        </p:txBody>
      </p:sp>
      <p:sp>
        <p:nvSpPr>
          <p:cNvPr id="3" name="Content Placeholder 2">
            <a:extLst>
              <a:ext uri="{FF2B5EF4-FFF2-40B4-BE49-F238E27FC236}">
                <a16:creationId xmlns:a16="http://schemas.microsoft.com/office/drawing/2014/main" id="{B424F921-A569-418C-836F-DA03437284F7}"/>
              </a:ext>
            </a:extLst>
          </p:cNvPr>
          <p:cNvSpPr>
            <a:spLocks noGrp="1"/>
          </p:cNvSpPr>
          <p:nvPr>
            <p:ph idx="1"/>
          </p:nvPr>
        </p:nvSpPr>
        <p:spPr>
          <a:xfrm>
            <a:off x="838200" y="1504070"/>
            <a:ext cx="8026400" cy="5032373"/>
          </a:xfrm>
        </p:spPr>
        <p:txBody>
          <a:bodyPr>
            <a:normAutofit/>
          </a:bodyPr>
          <a:lstStyle/>
          <a:p>
            <a:pPr marL="514350" indent="-514350">
              <a:lnSpc>
                <a:spcPct val="100000"/>
              </a:lnSpc>
              <a:spcBef>
                <a:spcPts val="600"/>
              </a:spcBef>
              <a:spcAft>
                <a:spcPts val="600"/>
              </a:spcAft>
              <a:buFont typeface="+mj-lt"/>
              <a:buAutoNum type="arabicPeriod"/>
            </a:pPr>
            <a:r>
              <a:rPr lang="en-US" dirty="0"/>
              <a:t>What goods are included in inventory?</a:t>
            </a:r>
          </a:p>
          <a:p>
            <a:pPr marL="514350" indent="-514350">
              <a:lnSpc>
                <a:spcPct val="100000"/>
              </a:lnSpc>
              <a:spcBef>
                <a:spcPts val="600"/>
              </a:spcBef>
              <a:spcAft>
                <a:spcPts val="600"/>
              </a:spcAft>
              <a:buFont typeface="+mj-lt"/>
              <a:buAutoNum type="arabicPeriod"/>
            </a:pPr>
            <a:endParaRPr lang="en-US" dirty="0"/>
          </a:p>
          <a:p>
            <a:pPr marL="514350" indent="-514350">
              <a:lnSpc>
                <a:spcPct val="100000"/>
              </a:lnSpc>
              <a:spcBef>
                <a:spcPts val="600"/>
              </a:spcBef>
              <a:spcAft>
                <a:spcPts val="600"/>
              </a:spcAft>
              <a:buFont typeface="+mj-lt"/>
              <a:buAutoNum type="arabicPeriod"/>
            </a:pPr>
            <a:r>
              <a:rPr lang="en-US" dirty="0"/>
              <a:t>Which costs are included?</a:t>
            </a:r>
          </a:p>
          <a:p>
            <a:pPr marL="514350" indent="-514350">
              <a:lnSpc>
                <a:spcPct val="100000"/>
              </a:lnSpc>
              <a:spcBef>
                <a:spcPts val="600"/>
              </a:spcBef>
              <a:spcAft>
                <a:spcPts val="600"/>
              </a:spcAft>
              <a:buFont typeface="+mj-lt"/>
              <a:buAutoNum type="arabicPeriod"/>
            </a:pPr>
            <a:endParaRPr lang="en-US" dirty="0"/>
          </a:p>
          <a:p>
            <a:pPr marL="514350" indent="-514350">
              <a:lnSpc>
                <a:spcPct val="100000"/>
              </a:lnSpc>
              <a:spcBef>
                <a:spcPts val="600"/>
              </a:spcBef>
              <a:spcAft>
                <a:spcPts val="600"/>
              </a:spcAft>
              <a:buFont typeface="+mj-lt"/>
              <a:buAutoNum type="arabicPeriod"/>
            </a:pPr>
            <a:r>
              <a:rPr lang="en-US" dirty="0"/>
              <a:t>Which items (costs) did we sell?</a:t>
            </a:r>
          </a:p>
          <a:p>
            <a:pPr marL="514350" indent="-514350">
              <a:lnSpc>
                <a:spcPct val="100000"/>
              </a:lnSpc>
              <a:spcBef>
                <a:spcPts val="600"/>
              </a:spcBef>
              <a:spcAft>
                <a:spcPts val="600"/>
              </a:spcAft>
              <a:buFont typeface="+mj-lt"/>
              <a:buAutoNum type="arabicPeriod"/>
            </a:pPr>
            <a:endParaRPr lang="en-US" b="1" dirty="0">
              <a:solidFill>
                <a:srgbClr val="FF0000"/>
              </a:solidFill>
            </a:endParaRPr>
          </a:p>
          <a:p>
            <a:pPr marL="514350" indent="-514350">
              <a:lnSpc>
                <a:spcPct val="100000"/>
              </a:lnSpc>
              <a:spcBef>
                <a:spcPts val="600"/>
              </a:spcBef>
              <a:spcAft>
                <a:spcPts val="600"/>
              </a:spcAft>
              <a:buFont typeface="+mj-lt"/>
              <a:buAutoNum type="arabicPeriod"/>
            </a:pPr>
            <a:r>
              <a:rPr lang="en-US" dirty="0"/>
              <a:t>What if the value changes?</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7C5FC4A-0965-41BC-9B1C-DFE298076619}"/>
                  </a:ext>
                </a:extLst>
              </p14:cNvPr>
              <p14:cNvContentPartPr/>
              <p14:nvPr/>
            </p14:nvContentPartPr>
            <p14:xfrm>
              <a:off x="1282040" y="1443100"/>
              <a:ext cx="1261080" cy="739080"/>
            </p14:xfrm>
          </p:contentPart>
        </mc:Choice>
        <mc:Fallback xmlns="">
          <p:pic>
            <p:nvPicPr>
              <p:cNvPr id="4" name="Ink 3">
                <a:extLst>
                  <a:ext uri="{FF2B5EF4-FFF2-40B4-BE49-F238E27FC236}">
                    <a16:creationId xmlns:a16="http://schemas.microsoft.com/office/drawing/2014/main" id="{57C5FC4A-0965-41BC-9B1C-DFE298076619}"/>
                  </a:ext>
                </a:extLst>
              </p:cNvPr>
              <p:cNvPicPr/>
              <p:nvPr/>
            </p:nvPicPr>
            <p:blipFill>
              <a:blip r:embed="rId4"/>
              <a:stretch>
                <a:fillRect/>
              </a:stretch>
            </p:blipFill>
            <p:spPr>
              <a:xfrm>
                <a:off x="1273400" y="1434460"/>
                <a:ext cx="1278720" cy="756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E36A13C-7B15-43FF-8AFC-03D16224814C}"/>
                  </a:ext>
                </a:extLst>
              </p14:cNvPr>
              <p14:cNvContentPartPr/>
              <p14:nvPr/>
            </p14:nvContentPartPr>
            <p14:xfrm>
              <a:off x="1282040" y="2572581"/>
              <a:ext cx="1261080" cy="739080"/>
            </p14:xfrm>
          </p:contentPart>
        </mc:Choice>
        <mc:Fallback xmlns="">
          <p:pic>
            <p:nvPicPr>
              <p:cNvPr id="5" name="Ink 4">
                <a:extLst>
                  <a:ext uri="{FF2B5EF4-FFF2-40B4-BE49-F238E27FC236}">
                    <a16:creationId xmlns:a16="http://schemas.microsoft.com/office/drawing/2014/main" id="{4E36A13C-7B15-43FF-8AFC-03D16224814C}"/>
                  </a:ext>
                </a:extLst>
              </p:cNvPr>
              <p:cNvPicPr/>
              <p:nvPr/>
            </p:nvPicPr>
            <p:blipFill>
              <a:blip r:embed="rId4"/>
              <a:stretch>
                <a:fillRect/>
              </a:stretch>
            </p:blipFill>
            <p:spPr>
              <a:xfrm>
                <a:off x="1273400" y="2563941"/>
                <a:ext cx="1278720" cy="756720"/>
              </a:xfrm>
              <a:prstGeom prst="rect">
                <a:avLst/>
              </a:prstGeom>
            </p:spPr>
          </p:pic>
        </mc:Fallback>
      </mc:AlternateContent>
      <p:sp>
        <p:nvSpPr>
          <p:cNvPr id="7" name="Oval 6">
            <a:extLst>
              <a:ext uri="{FF2B5EF4-FFF2-40B4-BE49-F238E27FC236}">
                <a16:creationId xmlns:a16="http://schemas.microsoft.com/office/drawing/2014/main" id="{2B270060-8088-493D-8E78-757720BEFB41}"/>
              </a:ext>
            </a:extLst>
          </p:cNvPr>
          <p:cNvSpPr/>
          <p:nvPr/>
        </p:nvSpPr>
        <p:spPr>
          <a:xfrm>
            <a:off x="584200" y="3657600"/>
            <a:ext cx="6375400" cy="97962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5310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Inventory Part 1 – In-Class</a:t>
            </a:r>
          </a:p>
        </p:txBody>
      </p:sp>
    </p:spTree>
    <p:extLst>
      <p:ext uri="{BB962C8B-B14F-4D97-AF65-F5344CB8AC3E}">
        <p14:creationId xmlns:p14="http://schemas.microsoft.com/office/powerpoint/2010/main" val="395537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418" y="178507"/>
            <a:ext cx="10515600" cy="1325563"/>
          </a:xfrm>
        </p:spPr>
        <p:txBody>
          <a:bodyPr/>
          <a:lstStyle/>
          <a:p>
            <a:r>
              <a:rPr lang="en-US" dirty="0"/>
              <a:t>Two decisions companies make</a:t>
            </a:r>
          </a:p>
        </p:txBody>
      </p:sp>
      <p:sp>
        <p:nvSpPr>
          <p:cNvPr id="3" name="Content Placeholder 2"/>
          <p:cNvSpPr>
            <a:spLocks noGrp="1"/>
          </p:cNvSpPr>
          <p:nvPr>
            <p:ph idx="1"/>
          </p:nvPr>
        </p:nvSpPr>
        <p:spPr/>
        <p:txBody>
          <a:bodyPr/>
          <a:lstStyle/>
          <a:p>
            <a:pPr marL="0" indent="0">
              <a:buNone/>
            </a:pPr>
            <a:r>
              <a:rPr lang="en-US" b="1" dirty="0"/>
              <a:t>When to record COGS/Inventory shipment</a:t>
            </a:r>
          </a:p>
          <a:p>
            <a:pPr marL="914389" lvl="1" indent="-457200">
              <a:buFont typeface="+mj-lt"/>
              <a:buAutoNum type="arabicPeriod"/>
            </a:pPr>
            <a:r>
              <a:rPr lang="en-US" dirty="0"/>
              <a:t>Periodic</a:t>
            </a:r>
          </a:p>
          <a:p>
            <a:pPr marL="914389" lvl="1" indent="-457200">
              <a:buFont typeface="+mj-lt"/>
              <a:buAutoNum type="arabicPeriod"/>
            </a:pPr>
            <a:r>
              <a:rPr lang="en-US" dirty="0"/>
              <a:t>Perpetual</a:t>
            </a:r>
          </a:p>
          <a:p>
            <a:endParaRPr lang="en-US" dirty="0"/>
          </a:p>
          <a:p>
            <a:pPr marL="0" indent="0">
              <a:buNone/>
            </a:pPr>
            <a:r>
              <a:rPr lang="en-US" b="1" dirty="0"/>
              <a:t>Cost flow assumption</a:t>
            </a:r>
          </a:p>
          <a:p>
            <a:pPr marL="914389" lvl="1" indent="-457200">
              <a:buFont typeface="+mj-lt"/>
              <a:buAutoNum type="arabicPeriod"/>
            </a:pPr>
            <a:r>
              <a:rPr lang="en-US" dirty="0"/>
              <a:t>FIFO</a:t>
            </a:r>
          </a:p>
          <a:p>
            <a:pPr marL="914389" lvl="1" indent="-457200">
              <a:buFont typeface="+mj-lt"/>
              <a:buAutoNum type="arabicPeriod"/>
            </a:pPr>
            <a:r>
              <a:rPr lang="en-US" dirty="0"/>
              <a:t>LIFO</a:t>
            </a:r>
          </a:p>
          <a:p>
            <a:pPr marL="914389" lvl="1" indent="-457200">
              <a:buFont typeface="+mj-lt"/>
              <a:buAutoNum type="arabicPeriod"/>
            </a:pPr>
            <a:r>
              <a:rPr lang="en-US" dirty="0"/>
              <a:t>Avg. Cost</a:t>
            </a:r>
          </a:p>
          <a:p>
            <a:pPr marL="914389" lvl="1" indent="-457200">
              <a:buFont typeface="+mj-lt"/>
              <a:buAutoNum type="arabicPeriod"/>
            </a:pPr>
            <a:r>
              <a:rPr lang="en-US" dirty="0"/>
              <a:t>Specific</a:t>
            </a:r>
          </a:p>
        </p:txBody>
      </p:sp>
      <p:sp>
        <p:nvSpPr>
          <p:cNvPr id="4" name="Oval 3">
            <a:extLst>
              <a:ext uri="{FF2B5EF4-FFF2-40B4-BE49-F238E27FC236}">
                <a16:creationId xmlns:a16="http://schemas.microsoft.com/office/drawing/2014/main" id="{8FDC94DF-DA55-66F7-3422-E5F2AD270145}"/>
              </a:ext>
            </a:extLst>
          </p:cNvPr>
          <p:cNvSpPr/>
          <p:nvPr/>
        </p:nvSpPr>
        <p:spPr>
          <a:xfrm>
            <a:off x="1103086" y="2140858"/>
            <a:ext cx="2373086" cy="113211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982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3F89-4DCB-40D0-9D22-EB023078D586}"/>
              </a:ext>
            </a:extLst>
          </p:cNvPr>
          <p:cNvSpPr>
            <a:spLocks noGrp="1"/>
          </p:cNvSpPr>
          <p:nvPr>
            <p:ph type="title"/>
          </p:nvPr>
        </p:nvSpPr>
        <p:spPr/>
        <p:txBody>
          <a:bodyPr/>
          <a:lstStyle/>
          <a:p>
            <a:r>
              <a:rPr lang="en-US" dirty="0"/>
              <a:t>Periodic System</a:t>
            </a:r>
          </a:p>
        </p:txBody>
      </p:sp>
      <p:sp>
        <p:nvSpPr>
          <p:cNvPr id="3" name="Content Placeholder 2">
            <a:extLst>
              <a:ext uri="{FF2B5EF4-FFF2-40B4-BE49-F238E27FC236}">
                <a16:creationId xmlns:a16="http://schemas.microsoft.com/office/drawing/2014/main" id="{54047CAD-C0B0-4EC2-A731-E5978296E63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3E1AF3A-E6DA-4043-A049-BFCAF4EAE9B2}"/>
              </a:ext>
            </a:extLst>
          </p:cNvPr>
          <p:cNvPicPr>
            <a:picLocks noChangeAspect="1"/>
          </p:cNvPicPr>
          <p:nvPr/>
        </p:nvPicPr>
        <p:blipFill>
          <a:blip r:embed="rId2"/>
          <a:stretch>
            <a:fillRect/>
          </a:stretch>
        </p:blipFill>
        <p:spPr>
          <a:xfrm>
            <a:off x="1952367" y="1380915"/>
            <a:ext cx="8096507" cy="5298578"/>
          </a:xfrm>
          <a:prstGeom prst="rect">
            <a:avLst/>
          </a:prstGeom>
        </p:spPr>
      </p:pic>
    </p:spTree>
    <p:extLst>
      <p:ext uri="{BB962C8B-B14F-4D97-AF65-F5344CB8AC3E}">
        <p14:creationId xmlns:p14="http://schemas.microsoft.com/office/powerpoint/2010/main" val="111676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E6FF-3D3C-4071-BD47-AC15002F69BF}"/>
              </a:ext>
            </a:extLst>
          </p:cNvPr>
          <p:cNvSpPr>
            <a:spLocks noGrp="1"/>
          </p:cNvSpPr>
          <p:nvPr>
            <p:ph type="title"/>
          </p:nvPr>
        </p:nvSpPr>
        <p:spPr/>
        <p:txBody>
          <a:bodyPr/>
          <a:lstStyle/>
          <a:p>
            <a:r>
              <a:rPr lang="en-US" dirty="0"/>
              <a:t>Periodic System</a:t>
            </a:r>
          </a:p>
        </p:txBody>
      </p:sp>
      <p:sp>
        <p:nvSpPr>
          <p:cNvPr id="3" name="Content Placeholder 2">
            <a:extLst>
              <a:ext uri="{FF2B5EF4-FFF2-40B4-BE49-F238E27FC236}">
                <a16:creationId xmlns:a16="http://schemas.microsoft.com/office/drawing/2014/main" id="{D3915E4F-D562-4E25-841A-D1FC20DB3B4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BCD3042-0D10-4794-87F9-E85A13BA4D63}"/>
              </a:ext>
            </a:extLst>
          </p:cNvPr>
          <p:cNvPicPr>
            <a:picLocks noChangeAspect="1"/>
          </p:cNvPicPr>
          <p:nvPr/>
        </p:nvPicPr>
        <p:blipFill>
          <a:blip r:embed="rId2"/>
          <a:stretch>
            <a:fillRect/>
          </a:stretch>
        </p:blipFill>
        <p:spPr>
          <a:xfrm>
            <a:off x="727668" y="1291332"/>
            <a:ext cx="9096375" cy="1647825"/>
          </a:xfrm>
          <a:prstGeom prst="rect">
            <a:avLst/>
          </a:prstGeom>
        </p:spPr>
      </p:pic>
      <p:pic>
        <p:nvPicPr>
          <p:cNvPr id="6" name="Picture 5">
            <a:extLst>
              <a:ext uri="{FF2B5EF4-FFF2-40B4-BE49-F238E27FC236}">
                <a16:creationId xmlns:a16="http://schemas.microsoft.com/office/drawing/2014/main" id="{54F34716-786C-4E06-BD14-9280A40BA200}"/>
              </a:ext>
            </a:extLst>
          </p:cNvPr>
          <p:cNvPicPr>
            <a:picLocks noChangeAspect="1"/>
          </p:cNvPicPr>
          <p:nvPr/>
        </p:nvPicPr>
        <p:blipFill>
          <a:blip r:embed="rId3"/>
          <a:stretch>
            <a:fillRect/>
          </a:stretch>
        </p:blipFill>
        <p:spPr>
          <a:xfrm>
            <a:off x="1123845" y="3603328"/>
            <a:ext cx="6648450" cy="1057275"/>
          </a:xfrm>
          <a:prstGeom prst="rect">
            <a:avLst/>
          </a:prstGeom>
        </p:spPr>
      </p:pic>
      <p:cxnSp>
        <p:nvCxnSpPr>
          <p:cNvPr id="8" name="Straight Arrow Connector 7">
            <a:extLst>
              <a:ext uri="{FF2B5EF4-FFF2-40B4-BE49-F238E27FC236}">
                <a16:creationId xmlns:a16="http://schemas.microsoft.com/office/drawing/2014/main" id="{47A6239D-A4DD-4877-ADD1-D7678B11E1BB}"/>
              </a:ext>
            </a:extLst>
          </p:cNvPr>
          <p:cNvCxnSpPr/>
          <p:nvPr/>
        </p:nvCxnSpPr>
        <p:spPr>
          <a:xfrm>
            <a:off x="914400" y="2361362"/>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388B735-6296-4370-8497-8B5F100A18CB}"/>
              </a:ext>
            </a:extLst>
          </p:cNvPr>
          <p:cNvSpPr/>
          <p:nvPr/>
        </p:nvSpPr>
        <p:spPr>
          <a:xfrm>
            <a:off x="1256043" y="3603328"/>
            <a:ext cx="6320413" cy="10572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0EE42FDB-D34C-81F0-FECD-AE0D5BECF558}"/>
              </a:ext>
            </a:extLst>
          </p:cNvPr>
          <p:cNvPicPr>
            <a:picLocks noChangeAspect="1"/>
          </p:cNvPicPr>
          <p:nvPr/>
        </p:nvPicPr>
        <p:blipFill>
          <a:blip r:embed="rId4"/>
          <a:stretch>
            <a:fillRect/>
          </a:stretch>
        </p:blipFill>
        <p:spPr>
          <a:xfrm>
            <a:off x="1366576" y="2607229"/>
            <a:ext cx="8664930" cy="418305"/>
          </a:xfrm>
          <a:prstGeom prst="rect">
            <a:avLst/>
          </a:prstGeom>
        </p:spPr>
      </p:pic>
    </p:spTree>
    <p:extLst>
      <p:ext uri="{BB962C8B-B14F-4D97-AF65-F5344CB8AC3E}">
        <p14:creationId xmlns:p14="http://schemas.microsoft.com/office/powerpoint/2010/main" val="357784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E6FF-3D3C-4071-BD47-AC15002F69BF}"/>
              </a:ext>
            </a:extLst>
          </p:cNvPr>
          <p:cNvSpPr>
            <a:spLocks noGrp="1"/>
          </p:cNvSpPr>
          <p:nvPr>
            <p:ph type="title"/>
          </p:nvPr>
        </p:nvSpPr>
        <p:spPr/>
        <p:txBody>
          <a:bodyPr/>
          <a:lstStyle/>
          <a:p>
            <a:r>
              <a:rPr lang="en-US" dirty="0"/>
              <a:t>Periodic System</a:t>
            </a:r>
          </a:p>
        </p:txBody>
      </p:sp>
      <p:pic>
        <p:nvPicPr>
          <p:cNvPr id="5" name="Picture 4">
            <a:extLst>
              <a:ext uri="{FF2B5EF4-FFF2-40B4-BE49-F238E27FC236}">
                <a16:creationId xmlns:a16="http://schemas.microsoft.com/office/drawing/2014/main" id="{BBCD3042-0D10-4794-87F9-E85A13BA4D63}"/>
              </a:ext>
            </a:extLst>
          </p:cNvPr>
          <p:cNvPicPr>
            <a:picLocks noChangeAspect="1"/>
          </p:cNvPicPr>
          <p:nvPr/>
        </p:nvPicPr>
        <p:blipFill>
          <a:blip r:embed="rId2"/>
          <a:stretch>
            <a:fillRect/>
          </a:stretch>
        </p:blipFill>
        <p:spPr>
          <a:xfrm>
            <a:off x="727668" y="1291332"/>
            <a:ext cx="9096375" cy="1647825"/>
          </a:xfrm>
          <a:prstGeom prst="rect">
            <a:avLst/>
          </a:prstGeom>
        </p:spPr>
      </p:pic>
      <p:pic>
        <p:nvPicPr>
          <p:cNvPr id="6" name="Picture 5">
            <a:extLst>
              <a:ext uri="{FF2B5EF4-FFF2-40B4-BE49-F238E27FC236}">
                <a16:creationId xmlns:a16="http://schemas.microsoft.com/office/drawing/2014/main" id="{54F34716-786C-4E06-BD14-9280A40BA200}"/>
              </a:ext>
            </a:extLst>
          </p:cNvPr>
          <p:cNvPicPr>
            <a:picLocks noChangeAspect="1"/>
          </p:cNvPicPr>
          <p:nvPr/>
        </p:nvPicPr>
        <p:blipFill>
          <a:blip r:embed="rId3"/>
          <a:stretch>
            <a:fillRect/>
          </a:stretch>
        </p:blipFill>
        <p:spPr>
          <a:xfrm>
            <a:off x="1123845" y="3603328"/>
            <a:ext cx="6648450" cy="1057275"/>
          </a:xfrm>
          <a:prstGeom prst="rect">
            <a:avLst/>
          </a:prstGeom>
        </p:spPr>
      </p:pic>
      <p:pic>
        <p:nvPicPr>
          <p:cNvPr id="7" name="Content Placeholder 6">
            <a:extLst>
              <a:ext uri="{FF2B5EF4-FFF2-40B4-BE49-F238E27FC236}">
                <a16:creationId xmlns:a16="http://schemas.microsoft.com/office/drawing/2014/main" id="{C5630FEF-1086-44AA-A3F5-7B71EA0EDD7F}"/>
              </a:ext>
            </a:extLst>
          </p:cNvPr>
          <p:cNvPicPr>
            <a:picLocks noGrp="1" noChangeAspect="1"/>
          </p:cNvPicPr>
          <p:nvPr>
            <p:ph idx="1"/>
          </p:nvPr>
        </p:nvPicPr>
        <p:blipFill>
          <a:blip r:embed="rId4"/>
          <a:stretch>
            <a:fillRect/>
          </a:stretch>
        </p:blipFill>
        <p:spPr>
          <a:xfrm>
            <a:off x="1274675" y="4660603"/>
            <a:ext cx="4457700" cy="942975"/>
          </a:xfrm>
          <a:prstGeom prst="rect">
            <a:avLst/>
          </a:prstGeom>
        </p:spPr>
      </p:pic>
      <p:cxnSp>
        <p:nvCxnSpPr>
          <p:cNvPr id="8" name="Straight Arrow Connector 7">
            <a:extLst>
              <a:ext uri="{FF2B5EF4-FFF2-40B4-BE49-F238E27FC236}">
                <a16:creationId xmlns:a16="http://schemas.microsoft.com/office/drawing/2014/main" id="{19715785-3D9C-4054-9218-87789CBCFC4D}"/>
              </a:ext>
            </a:extLst>
          </p:cNvPr>
          <p:cNvCxnSpPr/>
          <p:nvPr/>
        </p:nvCxnSpPr>
        <p:spPr>
          <a:xfrm>
            <a:off x="914400" y="2763296"/>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8CF3B91-3FA0-4DFD-8756-838526261C28}"/>
              </a:ext>
            </a:extLst>
          </p:cNvPr>
          <p:cNvPicPr>
            <a:picLocks noChangeAspect="1"/>
          </p:cNvPicPr>
          <p:nvPr/>
        </p:nvPicPr>
        <p:blipFill>
          <a:blip r:embed="rId5"/>
          <a:stretch>
            <a:fillRect/>
          </a:stretch>
        </p:blipFill>
        <p:spPr>
          <a:xfrm>
            <a:off x="8952244" y="3428999"/>
            <a:ext cx="2438400" cy="2371725"/>
          </a:xfrm>
          <a:prstGeom prst="rect">
            <a:avLst/>
          </a:prstGeom>
        </p:spPr>
      </p:pic>
      <p:sp>
        <p:nvSpPr>
          <p:cNvPr id="10" name="Rectangle 9">
            <a:extLst>
              <a:ext uri="{FF2B5EF4-FFF2-40B4-BE49-F238E27FC236}">
                <a16:creationId xmlns:a16="http://schemas.microsoft.com/office/drawing/2014/main" id="{021F2C7C-5586-48E6-8E0F-9B8FA0401D69}"/>
              </a:ext>
            </a:extLst>
          </p:cNvPr>
          <p:cNvSpPr/>
          <p:nvPr/>
        </p:nvSpPr>
        <p:spPr>
          <a:xfrm>
            <a:off x="1366575" y="4520878"/>
            <a:ext cx="6405719" cy="12798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F59D7EF1-3D49-49EC-B727-B5C3CAA02CB0}"/>
              </a:ext>
            </a:extLst>
          </p:cNvPr>
          <p:cNvSpPr/>
          <p:nvPr/>
        </p:nvSpPr>
        <p:spPr>
          <a:xfrm>
            <a:off x="9276302" y="4994825"/>
            <a:ext cx="822291" cy="48152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87732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E6FF-3D3C-4071-BD47-AC15002F69BF}"/>
              </a:ext>
            </a:extLst>
          </p:cNvPr>
          <p:cNvSpPr>
            <a:spLocks noGrp="1"/>
          </p:cNvSpPr>
          <p:nvPr>
            <p:ph type="title"/>
          </p:nvPr>
        </p:nvSpPr>
        <p:spPr/>
        <p:txBody>
          <a:bodyPr/>
          <a:lstStyle/>
          <a:p>
            <a:r>
              <a:rPr lang="en-US" dirty="0"/>
              <a:t>Periodic System</a:t>
            </a:r>
          </a:p>
        </p:txBody>
      </p:sp>
      <p:pic>
        <p:nvPicPr>
          <p:cNvPr id="5" name="Picture 4">
            <a:extLst>
              <a:ext uri="{FF2B5EF4-FFF2-40B4-BE49-F238E27FC236}">
                <a16:creationId xmlns:a16="http://schemas.microsoft.com/office/drawing/2014/main" id="{BBCD3042-0D10-4794-87F9-E85A13BA4D63}"/>
              </a:ext>
            </a:extLst>
          </p:cNvPr>
          <p:cNvPicPr>
            <a:picLocks noChangeAspect="1"/>
          </p:cNvPicPr>
          <p:nvPr/>
        </p:nvPicPr>
        <p:blipFill>
          <a:blip r:embed="rId2"/>
          <a:stretch>
            <a:fillRect/>
          </a:stretch>
        </p:blipFill>
        <p:spPr>
          <a:xfrm>
            <a:off x="727668" y="1291332"/>
            <a:ext cx="9096375" cy="1647825"/>
          </a:xfrm>
          <a:prstGeom prst="rect">
            <a:avLst/>
          </a:prstGeom>
        </p:spPr>
      </p:pic>
      <p:pic>
        <p:nvPicPr>
          <p:cNvPr id="6" name="Picture 5">
            <a:extLst>
              <a:ext uri="{FF2B5EF4-FFF2-40B4-BE49-F238E27FC236}">
                <a16:creationId xmlns:a16="http://schemas.microsoft.com/office/drawing/2014/main" id="{54F34716-786C-4E06-BD14-9280A40BA200}"/>
              </a:ext>
            </a:extLst>
          </p:cNvPr>
          <p:cNvPicPr>
            <a:picLocks noChangeAspect="1"/>
          </p:cNvPicPr>
          <p:nvPr/>
        </p:nvPicPr>
        <p:blipFill>
          <a:blip r:embed="rId3"/>
          <a:stretch>
            <a:fillRect/>
          </a:stretch>
        </p:blipFill>
        <p:spPr>
          <a:xfrm>
            <a:off x="1123845" y="3603328"/>
            <a:ext cx="6648450" cy="1057275"/>
          </a:xfrm>
          <a:prstGeom prst="rect">
            <a:avLst/>
          </a:prstGeom>
        </p:spPr>
      </p:pic>
      <p:pic>
        <p:nvPicPr>
          <p:cNvPr id="7" name="Content Placeholder 6">
            <a:extLst>
              <a:ext uri="{FF2B5EF4-FFF2-40B4-BE49-F238E27FC236}">
                <a16:creationId xmlns:a16="http://schemas.microsoft.com/office/drawing/2014/main" id="{C5630FEF-1086-44AA-A3F5-7B71EA0EDD7F}"/>
              </a:ext>
            </a:extLst>
          </p:cNvPr>
          <p:cNvPicPr>
            <a:picLocks noGrp="1" noChangeAspect="1"/>
          </p:cNvPicPr>
          <p:nvPr>
            <p:ph idx="1"/>
          </p:nvPr>
        </p:nvPicPr>
        <p:blipFill>
          <a:blip r:embed="rId4"/>
          <a:stretch>
            <a:fillRect/>
          </a:stretch>
        </p:blipFill>
        <p:spPr>
          <a:xfrm>
            <a:off x="1274675" y="4660603"/>
            <a:ext cx="4457700" cy="942975"/>
          </a:xfrm>
          <a:prstGeom prst="rect">
            <a:avLst/>
          </a:prstGeom>
        </p:spPr>
      </p:pic>
      <p:cxnSp>
        <p:nvCxnSpPr>
          <p:cNvPr id="8" name="Straight Arrow Connector 7">
            <a:extLst>
              <a:ext uri="{FF2B5EF4-FFF2-40B4-BE49-F238E27FC236}">
                <a16:creationId xmlns:a16="http://schemas.microsoft.com/office/drawing/2014/main" id="{19715785-3D9C-4054-9218-87789CBCFC4D}"/>
              </a:ext>
            </a:extLst>
          </p:cNvPr>
          <p:cNvCxnSpPr/>
          <p:nvPr/>
        </p:nvCxnSpPr>
        <p:spPr>
          <a:xfrm>
            <a:off x="914400" y="2763296"/>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8CF3B91-3FA0-4DFD-8756-838526261C28}"/>
              </a:ext>
            </a:extLst>
          </p:cNvPr>
          <p:cNvPicPr>
            <a:picLocks noChangeAspect="1"/>
          </p:cNvPicPr>
          <p:nvPr/>
        </p:nvPicPr>
        <p:blipFill>
          <a:blip r:embed="rId5"/>
          <a:stretch>
            <a:fillRect/>
          </a:stretch>
        </p:blipFill>
        <p:spPr>
          <a:xfrm>
            <a:off x="8952244" y="3428999"/>
            <a:ext cx="2438400" cy="2371725"/>
          </a:xfrm>
          <a:prstGeom prst="rect">
            <a:avLst/>
          </a:prstGeom>
        </p:spPr>
      </p:pic>
      <p:sp>
        <p:nvSpPr>
          <p:cNvPr id="10" name="Rectangle 9">
            <a:extLst>
              <a:ext uri="{FF2B5EF4-FFF2-40B4-BE49-F238E27FC236}">
                <a16:creationId xmlns:a16="http://schemas.microsoft.com/office/drawing/2014/main" id="{021F2C7C-5586-48E6-8E0F-9B8FA0401D69}"/>
              </a:ext>
            </a:extLst>
          </p:cNvPr>
          <p:cNvSpPr/>
          <p:nvPr/>
        </p:nvSpPr>
        <p:spPr>
          <a:xfrm>
            <a:off x="5988818" y="4520878"/>
            <a:ext cx="1783476" cy="11564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F59D7EF1-3D49-49EC-B727-B5C3CAA02CB0}"/>
              </a:ext>
            </a:extLst>
          </p:cNvPr>
          <p:cNvSpPr/>
          <p:nvPr/>
        </p:nvSpPr>
        <p:spPr>
          <a:xfrm>
            <a:off x="10306154" y="4280115"/>
            <a:ext cx="822291" cy="48152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81902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E6FF-3D3C-4071-BD47-AC15002F69BF}"/>
              </a:ext>
            </a:extLst>
          </p:cNvPr>
          <p:cNvSpPr>
            <a:spLocks noGrp="1"/>
          </p:cNvSpPr>
          <p:nvPr>
            <p:ph type="title"/>
          </p:nvPr>
        </p:nvSpPr>
        <p:spPr/>
        <p:txBody>
          <a:bodyPr/>
          <a:lstStyle/>
          <a:p>
            <a:r>
              <a:rPr lang="en-US" dirty="0"/>
              <a:t>Periodic System</a:t>
            </a:r>
          </a:p>
        </p:txBody>
      </p:sp>
      <p:pic>
        <p:nvPicPr>
          <p:cNvPr id="5" name="Picture 4">
            <a:extLst>
              <a:ext uri="{FF2B5EF4-FFF2-40B4-BE49-F238E27FC236}">
                <a16:creationId xmlns:a16="http://schemas.microsoft.com/office/drawing/2014/main" id="{BBCD3042-0D10-4794-87F9-E85A13BA4D63}"/>
              </a:ext>
            </a:extLst>
          </p:cNvPr>
          <p:cNvPicPr>
            <a:picLocks noChangeAspect="1"/>
          </p:cNvPicPr>
          <p:nvPr/>
        </p:nvPicPr>
        <p:blipFill>
          <a:blip r:embed="rId2"/>
          <a:stretch>
            <a:fillRect/>
          </a:stretch>
        </p:blipFill>
        <p:spPr>
          <a:xfrm>
            <a:off x="727668" y="1291332"/>
            <a:ext cx="9096375" cy="1647825"/>
          </a:xfrm>
          <a:prstGeom prst="rect">
            <a:avLst/>
          </a:prstGeom>
        </p:spPr>
      </p:pic>
      <p:pic>
        <p:nvPicPr>
          <p:cNvPr id="6" name="Picture 5">
            <a:extLst>
              <a:ext uri="{FF2B5EF4-FFF2-40B4-BE49-F238E27FC236}">
                <a16:creationId xmlns:a16="http://schemas.microsoft.com/office/drawing/2014/main" id="{54F34716-786C-4E06-BD14-9280A40BA200}"/>
              </a:ext>
            </a:extLst>
          </p:cNvPr>
          <p:cNvPicPr>
            <a:picLocks noChangeAspect="1"/>
          </p:cNvPicPr>
          <p:nvPr/>
        </p:nvPicPr>
        <p:blipFill>
          <a:blip r:embed="rId3"/>
          <a:stretch>
            <a:fillRect/>
          </a:stretch>
        </p:blipFill>
        <p:spPr>
          <a:xfrm>
            <a:off x="1123845" y="3603328"/>
            <a:ext cx="6648450" cy="1057275"/>
          </a:xfrm>
          <a:prstGeom prst="rect">
            <a:avLst/>
          </a:prstGeom>
        </p:spPr>
      </p:pic>
      <p:pic>
        <p:nvPicPr>
          <p:cNvPr id="7" name="Content Placeholder 6">
            <a:extLst>
              <a:ext uri="{FF2B5EF4-FFF2-40B4-BE49-F238E27FC236}">
                <a16:creationId xmlns:a16="http://schemas.microsoft.com/office/drawing/2014/main" id="{C5630FEF-1086-44AA-A3F5-7B71EA0EDD7F}"/>
              </a:ext>
            </a:extLst>
          </p:cNvPr>
          <p:cNvPicPr>
            <a:picLocks noGrp="1" noChangeAspect="1"/>
          </p:cNvPicPr>
          <p:nvPr>
            <p:ph idx="1"/>
          </p:nvPr>
        </p:nvPicPr>
        <p:blipFill>
          <a:blip r:embed="rId4"/>
          <a:stretch>
            <a:fillRect/>
          </a:stretch>
        </p:blipFill>
        <p:spPr>
          <a:xfrm>
            <a:off x="1274675" y="4660603"/>
            <a:ext cx="4457700" cy="942975"/>
          </a:xfrm>
          <a:prstGeom prst="rect">
            <a:avLst/>
          </a:prstGeom>
        </p:spPr>
      </p:pic>
      <p:cxnSp>
        <p:nvCxnSpPr>
          <p:cNvPr id="8" name="Straight Arrow Connector 7">
            <a:extLst>
              <a:ext uri="{FF2B5EF4-FFF2-40B4-BE49-F238E27FC236}">
                <a16:creationId xmlns:a16="http://schemas.microsoft.com/office/drawing/2014/main" id="{19715785-3D9C-4054-9218-87789CBCFC4D}"/>
              </a:ext>
            </a:extLst>
          </p:cNvPr>
          <p:cNvCxnSpPr/>
          <p:nvPr/>
        </p:nvCxnSpPr>
        <p:spPr>
          <a:xfrm>
            <a:off x="914400" y="2763296"/>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E479064-BD1B-46B9-B014-BFF1210CA191}"/>
              </a:ext>
            </a:extLst>
          </p:cNvPr>
          <p:cNvPicPr>
            <a:picLocks noChangeAspect="1"/>
          </p:cNvPicPr>
          <p:nvPr/>
        </p:nvPicPr>
        <p:blipFill>
          <a:blip r:embed="rId5"/>
          <a:stretch>
            <a:fillRect/>
          </a:stretch>
        </p:blipFill>
        <p:spPr>
          <a:xfrm>
            <a:off x="5819565" y="4504316"/>
            <a:ext cx="1619250" cy="1038225"/>
          </a:xfrm>
          <a:prstGeom prst="rect">
            <a:avLst/>
          </a:prstGeom>
        </p:spPr>
      </p:pic>
      <p:pic>
        <p:nvPicPr>
          <p:cNvPr id="11" name="Picture 10">
            <a:extLst>
              <a:ext uri="{FF2B5EF4-FFF2-40B4-BE49-F238E27FC236}">
                <a16:creationId xmlns:a16="http://schemas.microsoft.com/office/drawing/2014/main" id="{49A3A05A-71B4-4BDF-9350-E7505F72233A}"/>
              </a:ext>
            </a:extLst>
          </p:cNvPr>
          <p:cNvPicPr>
            <a:picLocks noChangeAspect="1"/>
          </p:cNvPicPr>
          <p:nvPr/>
        </p:nvPicPr>
        <p:blipFill>
          <a:blip r:embed="rId6"/>
          <a:stretch>
            <a:fillRect/>
          </a:stretch>
        </p:blipFill>
        <p:spPr>
          <a:xfrm>
            <a:off x="9161270" y="3535502"/>
            <a:ext cx="2533650" cy="2438400"/>
          </a:xfrm>
          <a:prstGeom prst="rect">
            <a:avLst/>
          </a:prstGeom>
        </p:spPr>
      </p:pic>
      <p:sp>
        <p:nvSpPr>
          <p:cNvPr id="12" name="Rectangle 11">
            <a:extLst>
              <a:ext uri="{FF2B5EF4-FFF2-40B4-BE49-F238E27FC236}">
                <a16:creationId xmlns:a16="http://schemas.microsoft.com/office/drawing/2014/main" id="{3F2868FF-9CB0-47D4-BD97-5EC35F036758}"/>
              </a:ext>
            </a:extLst>
          </p:cNvPr>
          <p:cNvSpPr/>
          <p:nvPr/>
        </p:nvSpPr>
        <p:spPr>
          <a:xfrm>
            <a:off x="5958309" y="4553870"/>
            <a:ext cx="1783476" cy="11564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70DF68E7-C97E-496A-A589-B7D8A1EEBA85}"/>
              </a:ext>
            </a:extLst>
          </p:cNvPr>
          <p:cNvSpPr/>
          <p:nvPr/>
        </p:nvSpPr>
        <p:spPr>
          <a:xfrm>
            <a:off x="10639060" y="4458734"/>
            <a:ext cx="536433" cy="48412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2950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75900" y="433389"/>
            <a:ext cx="9671452" cy="871537"/>
          </a:xfrm>
        </p:spPr>
        <p:txBody>
          <a:bodyPr>
            <a:normAutofit/>
          </a:bodyPr>
          <a:lstStyle/>
          <a:p>
            <a:pPr>
              <a:defRPr/>
            </a:pPr>
            <a:r>
              <a:rPr lang="en-US" dirty="0"/>
              <a:t>Perpetual</a:t>
            </a:r>
            <a:r>
              <a:rPr lang="en-US" sz="3200" dirty="0"/>
              <a:t> </a:t>
            </a:r>
            <a:r>
              <a:rPr lang="en-US" dirty="0"/>
              <a:t>System</a:t>
            </a:r>
            <a:endParaRPr lang="en-US" sz="3200" dirty="0"/>
          </a:p>
        </p:txBody>
      </p:sp>
      <p:sp>
        <p:nvSpPr>
          <p:cNvPr id="48134" name="Slide Number Placeholder 3"/>
          <p:cNvSpPr txBox="1">
            <a:spLocks/>
          </p:cNvSpPr>
          <p:nvPr/>
        </p:nvSpPr>
        <p:spPr bwMode="auto">
          <a:xfrm>
            <a:off x="10355421" y="6153306"/>
            <a:ext cx="1112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E72C0FB-E0C2-426F-AAA7-5EF5C6716D1B}" type="slidenum">
              <a:rPr lang="en-US" altLang="en-US" sz="1400">
                <a:latin typeface="Times New Roman" panose="02020603050405020304" pitchFamily="18" charset="0"/>
              </a:rPr>
              <a:pPr>
                <a:spcBef>
                  <a:spcPct val="0"/>
                </a:spcBef>
                <a:buFontTx/>
                <a:buNone/>
              </a:pPr>
              <a:t>10</a:t>
            </a:fld>
            <a:endParaRPr lang="en-US" altLang="en-US" sz="1400">
              <a:latin typeface="Times New Roman" panose="02020603050405020304" pitchFamily="18" charset="0"/>
            </a:endParaRPr>
          </a:p>
        </p:txBody>
      </p:sp>
      <p:pic>
        <p:nvPicPr>
          <p:cNvPr id="4" name="Picture 3">
            <a:extLst>
              <a:ext uri="{FF2B5EF4-FFF2-40B4-BE49-F238E27FC236}">
                <a16:creationId xmlns:a16="http://schemas.microsoft.com/office/drawing/2014/main" id="{FF615EA4-258C-45FC-966E-D398BE81CB44}"/>
              </a:ext>
            </a:extLst>
          </p:cNvPr>
          <p:cNvPicPr>
            <a:picLocks noChangeAspect="1"/>
          </p:cNvPicPr>
          <p:nvPr/>
        </p:nvPicPr>
        <p:blipFill>
          <a:blip r:embed="rId3"/>
          <a:stretch>
            <a:fillRect/>
          </a:stretch>
        </p:blipFill>
        <p:spPr>
          <a:xfrm>
            <a:off x="1973366" y="1325999"/>
            <a:ext cx="8245267" cy="5284507"/>
          </a:xfrm>
          <a:prstGeom prst="rect">
            <a:avLst/>
          </a:prstGeom>
        </p:spPr>
      </p:pic>
    </p:spTree>
    <p:extLst>
      <p:ext uri="{BB962C8B-B14F-4D97-AF65-F5344CB8AC3E}">
        <p14:creationId xmlns:p14="http://schemas.microsoft.com/office/powerpoint/2010/main" val="386875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E1E1-6BA0-48D1-A2AF-E11128654942}"/>
              </a:ext>
            </a:extLst>
          </p:cNvPr>
          <p:cNvSpPr>
            <a:spLocks noGrp="1"/>
          </p:cNvSpPr>
          <p:nvPr>
            <p:ph type="title"/>
          </p:nvPr>
        </p:nvSpPr>
        <p:spPr/>
        <p:txBody>
          <a:bodyPr/>
          <a:lstStyle/>
          <a:p>
            <a:r>
              <a:rPr lang="en-US" dirty="0"/>
              <a:t>Perpetual System</a:t>
            </a:r>
          </a:p>
        </p:txBody>
      </p:sp>
      <p:sp>
        <p:nvSpPr>
          <p:cNvPr id="3" name="Content Placeholder 2">
            <a:extLst>
              <a:ext uri="{FF2B5EF4-FFF2-40B4-BE49-F238E27FC236}">
                <a16:creationId xmlns:a16="http://schemas.microsoft.com/office/drawing/2014/main" id="{3E6FCAE2-2C3A-4DBA-A3C2-97E1813B0DC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9E7E34F-A5F6-4D13-8E8A-C6DA7E8BE0E4}"/>
              </a:ext>
            </a:extLst>
          </p:cNvPr>
          <p:cNvPicPr>
            <a:picLocks noChangeAspect="1"/>
          </p:cNvPicPr>
          <p:nvPr/>
        </p:nvPicPr>
        <p:blipFill>
          <a:blip r:embed="rId2"/>
          <a:stretch>
            <a:fillRect/>
          </a:stretch>
        </p:blipFill>
        <p:spPr>
          <a:xfrm>
            <a:off x="671042" y="1332296"/>
            <a:ext cx="8820150" cy="2867025"/>
          </a:xfrm>
          <a:prstGeom prst="rect">
            <a:avLst/>
          </a:prstGeom>
        </p:spPr>
      </p:pic>
    </p:spTree>
    <p:extLst>
      <p:ext uri="{BB962C8B-B14F-4D97-AF65-F5344CB8AC3E}">
        <p14:creationId xmlns:p14="http://schemas.microsoft.com/office/powerpoint/2010/main" val="864408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E1E1-6BA0-48D1-A2AF-E11128654942}"/>
              </a:ext>
            </a:extLst>
          </p:cNvPr>
          <p:cNvSpPr>
            <a:spLocks noGrp="1"/>
          </p:cNvSpPr>
          <p:nvPr>
            <p:ph type="title"/>
          </p:nvPr>
        </p:nvSpPr>
        <p:spPr/>
        <p:txBody>
          <a:bodyPr/>
          <a:lstStyle/>
          <a:p>
            <a:r>
              <a:rPr lang="en-US" dirty="0"/>
              <a:t>Perpetual System</a:t>
            </a:r>
          </a:p>
        </p:txBody>
      </p:sp>
      <p:pic>
        <p:nvPicPr>
          <p:cNvPr id="5" name="Picture 4">
            <a:extLst>
              <a:ext uri="{FF2B5EF4-FFF2-40B4-BE49-F238E27FC236}">
                <a16:creationId xmlns:a16="http://schemas.microsoft.com/office/drawing/2014/main" id="{E9E7E34F-A5F6-4D13-8E8A-C6DA7E8BE0E4}"/>
              </a:ext>
            </a:extLst>
          </p:cNvPr>
          <p:cNvPicPr>
            <a:picLocks noChangeAspect="1"/>
          </p:cNvPicPr>
          <p:nvPr/>
        </p:nvPicPr>
        <p:blipFill>
          <a:blip r:embed="rId2"/>
          <a:stretch>
            <a:fillRect/>
          </a:stretch>
        </p:blipFill>
        <p:spPr>
          <a:xfrm>
            <a:off x="671042" y="1332296"/>
            <a:ext cx="8820150" cy="2867025"/>
          </a:xfrm>
          <a:prstGeom prst="rect">
            <a:avLst/>
          </a:prstGeom>
        </p:spPr>
      </p:pic>
      <p:pic>
        <p:nvPicPr>
          <p:cNvPr id="6" name="Picture 5">
            <a:extLst>
              <a:ext uri="{FF2B5EF4-FFF2-40B4-BE49-F238E27FC236}">
                <a16:creationId xmlns:a16="http://schemas.microsoft.com/office/drawing/2014/main" id="{45A5193E-5984-4F0C-80B0-A4AE1A5CB947}"/>
              </a:ext>
            </a:extLst>
          </p:cNvPr>
          <p:cNvPicPr>
            <a:picLocks noChangeAspect="1"/>
          </p:cNvPicPr>
          <p:nvPr/>
        </p:nvPicPr>
        <p:blipFill>
          <a:blip r:embed="rId3"/>
          <a:stretch>
            <a:fillRect/>
          </a:stretch>
        </p:blipFill>
        <p:spPr>
          <a:xfrm>
            <a:off x="3817869" y="3937603"/>
            <a:ext cx="4488639" cy="1237297"/>
          </a:xfrm>
          <a:prstGeom prst="rect">
            <a:avLst/>
          </a:prstGeom>
        </p:spPr>
      </p:pic>
      <p:pic>
        <p:nvPicPr>
          <p:cNvPr id="8" name="Picture 7">
            <a:extLst>
              <a:ext uri="{FF2B5EF4-FFF2-40B4-BE49-F238E27FC236}">
                <a16:creationId xmlns:a16="http://schemas.microsoft.com/office/drawing/2014/main" id="{A25D6C36-4D9E-42AA-BCB6-64EC082601F2}"/>
              </a:ext>
            </a:extLst>
          </p:cNvPr>
          <p:cNvPicPr>
            <a:picLocks noChangeAspect="1"/>
          </p:cNvPicPr>
          <p:nvPr/>
        </p:nvPicPr>
        <p:blipFill>
          <a:blip r:embed="rId4"/>
          <a:stretch>
            <a:fillRect/>
          </a:stretch>
        </p:blipFill>
        <p:spPr>
          <a:xfrm>
            <a:off x="9491192" y="3785372"/>
            <a:ext cx="2581275" cy="2514600"/>
          </a:xfrm>
          <a:prstGeom prst="rect">
            <a:avLst/>
          </a:prstGeom>
        </p:spPr>
      </p:pic>
      <p:cxnSp>
        <p:nvCxnSpPr>
          <p:cNvPr id="9" name="Straight Arrow Connector 8">
            <a:extLst>
              <a:ext uri="{FF2B5EF4-FFF2-40B4-BE49-F238E27FC236}">
                <a16:creationId xmlns:a16="http://schemas.microsoft.com/office/drawing/2014/main" id="{C977680C-9FE3-416B-A15D-12AA9CE332FB}"/>
              </a:ext>
            </a:extLst>
          </p:cNvPr>
          <p:cNvCxnSpPr/>
          <p:nvPr/>
        </p:nvCxnSpPr>
        <p:spPr>
          <a:xfrm>
            <a:off x="838200" y="2562329"/>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FAD208B-0B4A-411B-8074-0AAD8C8EEDC9}"/>
              </a:ext>
            </a:extLst>
          </p:cNvPr>
          <p:cNvSpPr/>
          <p:nvPr/>
        </p:nvSpPr>
        <p:spPr>
          <a:xfrm>
            <a:off x="3667648" y="3774284"/>
            <a:ext cx="5436158" cy="14931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194D14E-D287-412B-CA96-A54E6D216F33}"/>
              </a:ext>
            </a:extLst>
          </p:cNvPr>
          <p:cNvPicPr>
            <a:picLocks noChangeAspect="1"/>
          </p:cNvPicPr>
          <p:nvPr/>
        </p:nvPicPr>
        <p:blipFill>
          <a:blip r:embed="rId5"/>
          <a:stretch>
            <a:fillRect/>
          </a:stretch>
        </p:blipFill>
        <p:spPr>
          <a:xfrm>
            <a:off x="1290376" y="3218898"/>
            <a:ext cx="7120759" cy="378185"/>
          </a:xfrm>
          <a:prstGeom prst="rect">
            <a:avLst/>
          </a:prstGeom>
        </p:spPr>
      </p:pic>
      <p:pic>
        <p:nvPicPr>
          <p:cNvPr id="7" name="Content Placeholder 6">
            <a:extLst>
              <a:ext uri="{FF2B5EF4-FFF2-40B4-BE49-F238E27FC236}">
                <a16:creationId xmlns:a16="http://schemas.microsoft.com/office/drawing/2014/main" id="{65A94A25-C6FB-8B23-C0E1-4757997A14DE}"/>
              </a:ext>
            </a:extLst>
          </p:cNvPr>
          <p:cNvPicPr>
            <a:picLocks noGrp="1" noChangeAspect="1"/>
          </p:cNvPicPr>
          <p:nvPr>
            <p:ph idx="1"/>
          </p:nvPr>
        </p:nvPicPr>
        <p:blipFill>
          <a:blip r:embed="rId5"/>
          <a:stretch>
            <a:fillRect/>
          </a:stretch>
        </p:blipFill>
        <p:spPr>
          <a:xfrm>
            <a:off x="1364152" y="3651275"/>
            <a:ext cx="2109803" cy="739189"/>
          </a:xfrm>
          <a:prstGeom prst="rect">
            <a:avLst/>
          </a:prstGeom>
        </p:spPr>
      </p:pic>
      <p:cxnSp>
        <p:nvCxnSpPr>
          <p:cNvPr id="11" name="Straight Connector 10">
            <a:extLst>
              <a:ext uri="{FF2B5EF4-FFF2-40B4-BE49-F238E27FC236}">
                <a16:creationId xmlns:a16="http://schemas.microsoft.com/office/drawing/2014/main" id="{BEA17B2B-9DE9-754A-DBCE-C5B7FD0F9434}"/>
              </a:ext>
            </a:extLst>
          </p:cNvPr>
          <p:cNvCxnSpPr/>
          <p:nvPr/>
        </p:nvCxnSpPr>
        <p:spPr>
          <a:xfrm>
            <a:off x="9977718" y="5076265"/>
            <a:ext cx="1667435" cy="0"/>
          </a:xfrm>
          <a:prstGeom prst="line">
            <a:avLst/>
          </a:prstGeom>
          <a:ln w="19050"/>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CE41906A-6600-876C-6481-CDA6736F6424}"/>
              </a:ext>
            </a:extLst>
          </p:cNvPr>
          <p:cNvSpPr txBox="1"/>
          <p:nvPr/>
        </p:nvSpPr>
        <p:spPr>
          <a:xfrm>
            <a:off x="9977718" y="5121108"/>
            <a:ext cx="652182" cy="369332"/>
          </a:xfrm>
          <a:prstGeom prst="rect">
            <a:avLst/>
          </a:prstGeom>
          <a:noFill/>
        </p:spPr>
        <p:txBody>
          <a:bodyPr wrap="square" rtlCol="0">
            <a:spAutoFit/>
          </a:bodyPr>
          <a:lstStyle/>
          <a:p>
            <a:r>
              <a:rPr lang="en-US" dirty="0"/>
              <a:t>500</a:t>
            </a:r>
          </a:p>
        </p:txBody>
      </p:sp>
    </p:spTree>
    <p:extLst>
      <p:ext uri="{BB962C8B-B14F-4D97-AF65-F5344CB8AC3E}">
        <p14:creationId xmlns:p14="http://schemas.microsoft.com/office/powerpoint/2010/main" val="900074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E1E1-6BA0-48D1-A2AF-E11128654942}"/>
              </a:ext>
            </a:extLst>
          </p:cNvPr>
          <p:cNvSpPr>
            <a:spLocks noGrp="1"/>
          </p:cNvSpPr>
          <p:nvPr>
            <p:ph type="title"/>
          </p:nvPr>
        </p:nvSpPr>
        <p:spPr/>
        <p:txBody>
          <a:bodyPr/>
          <a:lstStyle/>
          <a:p>
            <a:r>
              <a:rPr lang="en-US" dirty="0"/>
              <a:t>Perpetual System</a:t>
            </a:r>
          </a:p>
        </p:txBody>
      </p:sp>
      <p:sp>
        <p:nvSpPr>
          <p:cNvPr id="3" name="Content Placeholder 2">
            <a:extLst>
              <a:ext uri="{FF2B5EF4-FFF2-40B4-BE49-F238E27FC236}">
                <a16:creationId xmlns:a16="http://schemas.microsoft.com/office/drawing/2014/main" id="{3E6FCAE2-2C3A-4DBA-A3C2-97E1813B0DC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9E7E34F-A5F6-4D13-8E8A-C6DA7E8BE0E4}"/>
              </a:ext>
            </a:extLst>
          </p:cNvPr>
          <p:cNvPicPr>
            <a:picLocks noChangeAspect="1"/>
          </p:cNvPicPr>
          <p:nvPr/>
        </p:nvPicPr>
        <p:blipFill>
          <a:blip r:embed="rId2"/>
          <a:stretch>
            <a:fillRect/>
          </a:stretch>
        </p:blipFill>
        <p:spPr>
          <a:xfrm>
            <a:off x="671042" y="1332296"/>
            <a:ext cx="8820150" cy="2867025"/>
          </a:xfrm>
          <a:prstGeom prst="rect">
            <a:avLst/>
          </a:prstGeom>
        </p:spPr>
      </p:pic>
      <p:pic>
        <p:nvPicPr>
          <p:cNvPr id="6" name="Picture 5">
            <a:extLst>
              <a:ext uri="{FF2B5EF4-FFF2-40B4-BE49-F238E27FC236}">
                <a16:creationId xmlns:a16="http://schemas.microsoft.com/office/drawing/2014/main" id="{45A5193E-5984-4F0C-80B0-A4AE1A5CB947}"/>
              </a:ext>
            </a:extLst>
          </p:cNvPr>
          <p:cNvPicPr>
            <a:picLocks noChangeAspect="1"/>
          </p:cNvPicPr>
          <p:nvPr/>
        </p:nvPicPr>
        <p:blipFill>
          <a:blip r:embed="rId3"/>
          <a:stretch>
            <a:fillRect/>
          </a:stretch>
        </p:blipFill>
        <p:spPr>
          <a:xfrm>
            <a:off x="3754797" y="4047051"/>
            <a:ext cx="4817704" cy="1328004"/>
          </a:xfrm>
          <a:prstGeom prst="rect">
            <a:avLst/>
          </a:prstGeom>
        </p:spPr>
      </p:pic>
      <p:pic>
        <p:nvPicPr>
          <p:cNvPr id="7" name="Picture 6">
            <a:extLst>
              <a:ext uri="{FF2B5EF4-FFF2-40B4-BE49-F238E27FC236}">
                <a16:creationId xmlns:a16="http://schemas.microsoft.com/office/drawing/2014/main" id="{D0ABBBF4-7D22-4E30-869C-824EA7410FC0}"/>
              </a:ext>
            </a:extLst>
          </p:cNvPr>
          <p:cNvPicPr>
            <a:picLocks noChangeAspect="1"/>
          </p:cNvPicPr>
          <p:nvPr/>
        </p:nvPicPr>
        <p:blipFill>
          <a:blip r:embed="rId4"/>
          <a:stretch>
            <a:fillRect/>
          </a:stretch>
        </p:blipFill>
        <p:spPr>
          <a:xfrm>
            <a:off x="9691455" y="4133893"/>
            <a:ext cx="2457450" cy="2352675"/>
          </a:xfrm>
          <a:prstGeom prst="rect">
            <a:avLst/>
          </a:prstGeom>
        </p:spPr>
      </p:pic>
      <p:cxnSp>
        <p:nvCxnSpPr>
          <p:cNvPr id="9" name="Straight Arrow Connector 8">
            <a:extLst>
              <a:ext uri="{FF2B5EF4-FFF2-40B4-BE49-F238E27FC236}">
                <a16:creationId xmlns:a16="http://schemas.microsoft.com/office/drawing/2014/main" id="{3E470F83-51F3-4DD5-8A59-CABA5F3AAB56}"/>
              </a:ext>
            </a:extLst>
          </p:cNvPr>
          <p:cNvCxnSpPr/>
          <p:nvPr/>
        </p:nvCxnSpPr>
        <p:spPr>
          <a:xfrm>
            <a:off x="838200" y="3408903"/>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7E38A86-512A-4C85-804F-30903D785BDD}"/>
              </a:ext>
            </a:extLst>
          </p:cNvPr>
          <p:cNvSpPr/>
          <p:nvPr/>
        </p:nvSpPr>
        <p:spPr>
          <a:xfrm>
            <a:off x="10168930" y="5769740"/>
            <a:ext cx="542611" cy="314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7ACB1DFE-42B9-C162-F263-F7FA46D527A0}"/>
              </a:ext>
            </a:extLst>
          </p:cNvPr>
          <p:cNvCxnSpPr/>
          <p:nvPr/>
        </p:nvCxnSpPr>
        <p:spPr>
          <a:xfrm>
            <a:off x="9977718" y="5264524"/>
            <a:ext cx="1667435" cy="0"/>
          </a:xfrm>
          <a:prstGeom prst="line">
            <a:avLst/>
          </a:prstGeom>
          <a:ln w="19050"/>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C3507A30-E9D8-09D0-3E0F-FE7A4B5B8975}"/>
              </a:ext>
            </a:extLst>
          </p:cNvPr>
          <p:cNvSpPr txBox="1"/>
          <p:nvPr/>
        </p:nvSpPr>
        <p:spPr>
          <a:xfrm>
            <a:off x="9977718" y="5309367"/>
            <a:ext cx="652182" cy="369332"/>
          </a:xfrm>
          <a:prstGeom prst="rect">
            <a:avLst/>
          </a:prstGeom>
          <a:noFill/>
        </p:spPr>
        <p:txBody>
          <a:bodyPr wrap="square" rtlCol="0">
            <a:spAutoFit/>
          </a:bodyPr>
          <a:lstStyle/>
          <a:p>
            <a:r>
              <a:rPr lang="en-US" dirty="0"/>
              <a:t>500</a:t>
            </a:r>
          </a:p>
        </p:txBody>
      </p:sp>
    </p:spTree>
    <p:extLst>
      <p:ext uri="{BB962C8B-B14F-4D97-AF65-F5344CB8AC3E}">
        <p14:creationId xmlns:p14="http://schemas.microsoft.com/office/powerpoint/2010/main" val="217290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E1E1-6BA0-48D1-A2AF-E11128654942}"/>
              </a:ext>
            </a:extLst>
          </p:cNvPr>
          <p:cNvSpPr>
            <a:spLocks noGrp="1"/>
          </p:cNvSpPr>
          <p:nvPr>
            <p:ph type="title"/>
          </p:nvPr>
        </p:nvSpPr>
        <p:spPr/>
        <p:txBody>
          <a:bodyPr/>
          <a:lstStyle/>
          <a:p>
            <a:r>
              <a:rPr lang="en-US" dirty="0"/>
              <a:t>Perpetual System</a:t>
            </a:r>
          </a:p>
        </p:txBody>
      </p:sp>
      <p:sp>
        <p:nvSpPr>
          <p:cNvPr id="3" name="Content Placeholder 2">
            <a:extLst>
              <a:ext uri="{FF2B5EF4-FFF2-40B4-BE49-F238E27FC236}">
                <a16:creationId xmlns:a16="http://schemas.microsoft.com/office/drawing/2014/main" id="{3E6FCAE2-2C3A-4DBA-A3C2-97E1813B0DC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9E7E34F-A5F6-4D13-8E8A-C6DA7E8BE0E4}"/>
              </a:ext>
            </a:extLst>
          </p:cNvPr>
          <p:cNvPicPr>
            <a:picLocks noChangeAspect="1"/>
          </p:cNvPicPr>
          <p:nvPr/>
        </p:nvPicPr>
        <p:blipFill>
          <a:blip r:embed="rId3"/>
          <a:stretch>
            <a:fillRect/>
          </a:stretch>
        </p:blipFill>
        <p:spPr>
          <a:xfrm>
            <a:off x="559832" y="1250867"/>
            <a:ext cx="8820150" cy="2867025"/>
          </a:xfrm>
          <a:prstGeom prst="rect">
            <a:avLst/>
          </a:prstGeom>
        </p:spPr>
      </p:pic>
      <p:pic>
        <p:nvPicPr>
          <p:cNvPr id="6" name="Picture 5">
            <a:extLst>
              <a:ext uri="{FF2B5EF4-FFF2-40B4-BE49-F238E27FC236}">
                <a16:creationId xmlns:a16="http://schemas.microsoft.com/office/drawing/2014/main" id="{45A5193E-5984-4F0C-80B0-A4AE1A5CB947}"/>
              </a:ext>
            </a:extLst>
          </p:cNvPr>
          <p:cNvPicPr>
            <a:picLocks noChangeAspect="1"/>
          </p:cNvPicPr>
          <p:nvPr/>
        </p:nvPicPr>
        <p:blipFill>
          <a:blip r:embed="rId4"/>
          <a:stretch>
            <a:fillRect/>
          </a:stretch>
        </p:blipFill>
        <p:spPr>
          <a:xfrm>
            <a:off x="3846054" y="3854135"/>
            <a:ext cx="4679382" cy="1289875"/>
          </a:xfrm>
          <a:prstGeom prst="rect">
            <a:avLst/>
          </a:prstGeom>
        </p:spPr>
      </p:pic>
      <p:pic>
        <p:nvPicPr>
          <p:cNvPr id="7" name="Picture 6">
            <a:extLst>
              <a:ext uri="{FF2B5EF4-FFF2-40B4-BE49-F238E27FC236}">
                <a16:creationId xmlns:a16="http://schemas.microsoft.com/office/drawing/2014/main" id="{D0ABBBF4-7D22-4E30-869C-824EA7410FC0}"/>
              </a:ext>
            </a:extLst>
          </p:cNvPr>
          <p:cNvPicPr>
            <a:picLocks noChangeAspect="1"/>
          </p:cNvPicPr>
          <p:nvPr/>
        </p:nvPicPr>
        <p:blipFill>
          <a:blip r:embed="rId5"/>
          <a:stretch>
            <a:fillRect/>
          </a:stretch>
        </p:blipFill>
        <p:spPr>
          <a:xfrm>
            <a:off x="9691455" y="4133893"/>
            <a:ext cx="2457450" cy="2352675"/>
          </a:xfrm>
          <a:prstGeom prst="rect">
            <a:avLst/>
          </a:prstGeom>
        </p:spPr>
      </p:pic>
      <p:pic>
        <p:nvPicPr>
          <p:cNvPr id="8" name="Picture 7">
            <a:extLst>
              <a:ext uri="{FF2B5EF4-FFF2-40B4-BE49-F238E27FC236}">
                <a16:creationId xmlns:a16="http://schemas.microsoft.com/office/drawing/2014/main" id="{2F740A61-A392-4B60-9457-A29881283E31}"/>
              </a:ext>
            </a:extLst>
          </p:cNvPr>
          <p:cNvPicPr>
            <a:picLocks noChangeAspect="1"/>
          </p:cNvPicPr>
          <p:nvPr/>
        </p:nvPicPr>
        <p:blipFill>
          <a:blip r:embed="rId6"/>
          <a:stretch>
            <a:fillRect/>
          </a:stretch>
        </p:blipFill>
        <p:spPr>
          <a:xfrm>
            <a:off x="9691455" y="4095793"/>
            <a:ext cx="2505075" cy="2390775"/>
          </a:xfrm>
          <a:prstGeom prst="rect">
            <a:avLst/>
          </a:prstGeom>
        </p:spPr>
      </p:pic>
      <p:pic>
        <p:nvPicPr>
          <p:cNvPr id="10" name="Picture 9">
            <a:extLst>
              <a:ext uri="{FF2B5EF4-FFF2-40B4-BE49-F238E27FC236}">
                <a16:creationId xmlns:a16="http://schemas.microsoft.com/office/drawing/2014/main" id="{22421A71-C543-4F66-8235-D6A074DBC2C9}"/>
              </a:ext>
            </a:extLst>
          </p:cNvPr>
          <p:cNvPicPr>
            <a:picLocks noChangeAspect="1"/>
          </p:cNvPicPr>
          <p:nvPr/>
        </p:nvPicPr>
        <p:blipFill>
          <a:blip r:embed="rId7"/>
          <a:stretch>
            <a:fillRect/>
          </a:stretch>
        </p:blipFill>
        <p:spPr>
          <a:xfrm>
            <a:off x="3951588" y="5264402"/>
            <a:ext cx="4816940" cy="1439805"/>
          </a:xfrm>
          <a:prstGeom prst="rect">
            <a:avLst/>
          </a:prstGeom>
        </p:spPr>
      </p:pic>
      <p:cxnSp>
        <p:nvCxnSpPr>
          <p:cNvPr id="11" name="Straight Arrow Connector 10">
            <a:extLst>
              <a:ext uri="{FF2B5EF4-FFF2-40B4-BE49-F238E27FC236}">
                <a16:creationId xmlns:a16="http://schemas.microsoft.com/office/drawing/2014/main" id="{0E66A75C-3FB7-44CB-B83F-848E15CDB0CB}"/>
              </a:ext>
            </a:extLst>
          </p:cNvPr>
          <p:cNvCxnSpPr/>
          <p:nvPr/>
        </p:nvCxnSpPr>
        <p:spPr>
          <a:xfrm>
            <a:off x="717620" y="3298371"/>
            <a:ext cx="452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F8314821-888C-4CE4-AFA9-95292E2D8D40}"/>
              </a:ext>
            </a:extLst>
          </p:cNvPr>
          <p:cNvSpPr/>
          <p:nvPr/>
        </p:nvSpPr>
        <p:spPr>
          <a:xfrm>
            <a:off x="3567165" y="5211019"/>
            <a:ext cx="5436158" cy="14931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23B43BC4-7C6C-F979-B777-A110EC51452B}"/>
              </a:ext>
            </a:extLst>
          </p:cNvPr>
          <p:cNvCxnSpPr/>
          <p:nvPr/>
        </p:nvCxnSpPr>
        <p:spPr>
          <a:xfrm>
            <a:off x="10132091" y="5318312"/>
            <a:ext cx="1667435" cy="0"/>
          </a:xfrm>
          <a:prstGeom prst="line">
            <a:avLst/>
          </a:prstGeom>
          <a:ln w="19050"/>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25F06207-ADD3-030D-6D82-A1E645A954EE}"/>
              </a:ext>
            </a:extLst>
          </p:cNvPr>
          <p:cNvSpPr txBox="1"/>
          <p:nvPr/>
        </p:nvSpPr>
        <p:spPr>
          <a:xfrm>
            <a:off x="10132091" y="5363155"/>
            <a:ext cx="652182" cy="369332"/>
          </a:xfrm>
          <a:prstGeom prst="rect">
            <a:avLst/>
          </a:prstGeom>
          <a:noFill/>
        </p:spPr>
        <p:txBody>
          <a:bodyPr wrap="square" rtlCol="0">
            <a:spAutoFit/>
          </a:bodyPr>
          <a:lstStyle/>
          <a:p>
            <a:r>
              <a:rPr lang="en-US" dirty="0"/>
              <a:t>500</a:t>
            </a:r>
          </a:p>
        </p:txBody>
      </p:sp>
    </p:spTree>
    <p:extLst>
      <p:ext uri="{BB962C8B-B14F-4D97-AF65-F5344CB8AC3E}">
        <p14:creationId xmlns:p14="http://schemas.microsoft.com/office/powerpoint/2010/main" val="395862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When to record COGS/Inventory shipment</a:t>
            </a:r>
          </a:p>
          <a:p>
            <a:pPr marL="914389" lvl="1" indent="-457200">
              <a:buFont typeface="+mj-lt"/>
              <a:buAutoNum type="arabicPeriod"/>
            </a:pPr>
            <a:r>
              <a:rPr lang="en-US" dirty="0"/>
              <a:t>Periodic</a:t>
            </a:r>
          </a:p>
          <a:p>
            <a:pPr marL="914389" lvl="1" indent="-457200">
              <a:buFont typeface="+mj-lt"/>
              <a:buAutoNum type="arabicPeriod"/>
            </a:pPr>
            <a:r>
              <a:rPr lang="en-US" dirty="0"/>
              <a:t>Perpetual</a:t>
            </a:r>
          </a:p>
          <a:p>
            <a:endParaRPr lang="en-US" dirty="0"/>
          </a:p>
          <a:p>
            <a:pPr marL="0" indent="0">
              <a:buNone/>
            </a:pPr>
            <a:r>
              <a:rPr lang="en-US" b="1" dirty="0"/>
              <a:t>Cost flow assumption</a:t>
            </a:r>
          </a:p>
          <a:p>
            <a:pPr marL="914389" lvl="1" indent="-457200">
              <a:buFont typeface="+mj-lt"/>
              <a:buAutoNum type="arabicPeriod"/>
            </a:pPr>
            <a:r>
              <a:rPr lang="en-US" dirty="0"/>
              <a:t>FIFO</a:t>
            </a:r>
          </a:p>
          <a:p>
            <a:pPr marL="914389" lvl="1" indent="-457200">
              <a:buFont typeface="+mj-lt"/>
              <a:buAutoNum type="arabicPeriod"/>
            </a:pPr>
            <a:r>
              <a:rPr lang="en-US" dirty="0"/>
              <a:t>LIFO</a:t>
            </a:r>
          </a:p>
          <a:p>
            <a:pPr marL="914389" lvl="1" indent="-457200">
              <a:buFont typeface="+mj-lt"/>
              <a:buAutoNum type="arabicPeriod"/>
            </a:pPr>
            <a:r>
              <a:rPr lang="en-US" dirty="0"/>
              <a:t>Avg. Cost</a:t>
            </a:r>
          </a:p>
          <a:p>
            <a:pPr marL="914389" lvl="1" indent="-457200">
              <a:buFont typeface="+mj-lt"/>
              <a:buAutoNum type="arabicPeriod"/>
            </a:pPr>
            <a:r>
              <a:rPr lang="en-US" dirty="0"/>
              <a:t>Specific ID</a:t>
            </a:r>
          </a:p>
        </p:txBody>
      </p:sp>
      <p:sp>
        <p:nvSpPr>
          <p:cNvPr id="4" name="Oval 3">
            <a:extLst>
              <a:ext uri="{FF2B5EF4-FFF2-40B4-BE49-F238E27FC236}">
                <a16:creationId xmlns:a16="http://schemas.microsoft.com/office/drawing/2014/main" id="{FC9055A7-A0AE-A6F8-D5BD-CA91EC751E79}"/>
              </a:ext>
            </a:extLst>
          </p:cNvPr>
          <p:cNvSpPr/>
          <p:nvPr/>
        </p:nvSpPr>
        <p:spPr>
          <a:xfrm>
            <a:off x="1139371" y="3780974"/>
            <a:ext cx="2373086" cy="222920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C3D00F1-5D21-4A94-77BD-B2C119FEDB99}"/>
              </a:ext>
            </a:extLst>
          </p:cNvPr>
          <p:cNvCxnSpPr>
            <a:cxnSpLocks/>
          </p:cNvCxnSpPr>
          <p:nvPr/>
        </p:nvCxnSpPr>
        <p:spPr>
          <a:xfrm>
            <a:off x="1515729" y="2353235"/>
            <a:ext cx="1543477" cy="18153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0F43776-9754-90E8-028F-A15EA9CDAD41}"/>
              </a:ext>
            </a:extLst>
          </p:cNvPr>
          <p:cNvCxnSpPr>
            <a:cxnSpLocks/>
          </p:cNvCxnSpPr>
          <p:nvPr/>
        </p:nvCxnSpPr>
        <p:spPr>
          <a:xfrm flipV="1">
            <a:off x="1515729" y="2353235"/>
            <a:ext cx="1543477" cy="21894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21F12F8F-16C8-F4DA-FC90-F5169F63E65D}"/>
              </a:ext>
            </a:extLst>
          </p:cNvPr>
          <p:cNvSpPr>
            <a:spLocks noGrp="1"/>
          </p:cNvSpPr>
          <p:nvPr>
            <p:ph type="title"/>
          </p:nvPr>
        </p:nvSpPr>
        <p:spPr>
          <a:xfrm>
            <a:off x="273418" y="178507"/>
            <a:ext cx="10515600" cy="1325563"/>
          </a:xfrm>
        </p:spPr>
        <p:txBody>
          <a:bodyPr/>
          <a:lstStyle/>
          <a:p>
            <a:r>
              <a:rPr lang="en-US" dirty="0"/>
              <a:t>Two decisions companies make</a:t>
            </a:r>
          </a:p>
        </p:txBody>
      </p:sp>
    </p:spTree>
    <p:extLst>
      <p:ext uri="{BB962C8B-B14F-4D97-AF65-F5344CB8AC3E}">
        <p14:creationId xmlns:p14="http://schemas.microsoft.com/office/powerpoint/2010/main" val="313960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838200" y="433389"/>
            <a:ext cx="9588501" cy="839787"/>
          </a:xfrm>
        </p:spPr>
        <p:txBody>
          <a:bodyPr>
            <a:normAutofit fontScale="90000"/>
          </a:bodyPr>
          <a:lstStyle/>
          <a:p>
            <a:pPr>
              <a:defRPr/>
            </a:pPr>
            <a:r>
              <a:rPr lang="en-US" sz="2800" dirty="0"/>
              <a:t>Inventory:  The need to make cost-flow assumptions</a:t>
            </a:r>
          </a:p>
        </p:txBody>
      </p:sp>
      <p:sp>
        <p:nvSpPr>
          <p:cNvPr id="35843" name="Content Placeholder 1"/>
          <p:cNvSpPr>
            <a:spLocks noGrp="1"/>
          </p:cNvSpPr>
          <p:nvPr>
            <p:ph idx="1"/>
          </p:nvPr>
        </p:nvSpPr>
        <p:spPr>
          <a:xfrm>
            <a:off x="838200" y="1426867"/>
            <a:ext cx="8265607" cy="4821534"/>
          </a:xfrm>
        </p:spPr>
        <p:txBody>
          <a:bodyPr>
            <a:normAutofit/>
          </a:bodyPr>
          <a:lstStyle/>
          <a:p>
            <a:pPr marL="0" indent="0">
              <a:buNone/>
              <a:defRPr/>
            </a:pPr>
            <a:r>
              <a:rPr lang="en-US" altLang="en-US" sz="2400" b="1" u="sng" dirty="0">
                <a:solidFill>
                  <a:srgbClr val="000000"/>
                </a:solidFill>
                <a:latin typeface="Times New Roman" panose="02020603050405020304" pitchFamily="18" charset="0"/>
              </a:rPr>
              <a:t>New gas station begins operations</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1:  Buy </a:t>
            </a:r>
            <a:r>
              <a:rPr lang="en-US" altLang="en-US" b="1" dirty="0">
                <a:solidFill>
                  <a:srgbClr val="C00000"/>
                </a:solidFill>
                <a:latin typeface="Times New Roman" panose="02020603050405020304" pitchFamily="18" charset="0"/>
              </a:rPr>
              <a:t>500</a:t>
            </a:r>
            <a:r>
              <a:rPr lang="en-US" altLang="en-US"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@$1</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2:  Buy </a:t>
            </a:r>
            <a:r>
              <a:rPr lang="en-US" altLang="en-US" b="1" dirty="0">
                <a:solidFill>
                  <a:srgbClr val="C00000"/>
                </a:solidFill>
                <a:latin typeface="Times New Roman" panose="02020603050405020304" pitchFamily="18" charset="0"/>
              </a:rPr>
              <a:t>300</a:t>
            </a:r>
            <a:r>
              <a:rPr lang="en-US" altLang="en-US" dirty="0">
                <a:solidFill>
                  <a:srgbClr val="C00000"/>
                </a:solidFill>
                <a:latin typeface="Times New Roman" panose="02020603050405020304" pitchFamily="18" charset="0"/>
              </a:rPr>
              <a:t> </a:t>
            </a:r>
            <a:r>
              <a:rPr lang="en-US" altLang="en-US" dirty="0">
                <a:solidFill>
                  <a:srgbClr val="000000"/>
                </a:solidFill>
                <a:latin typeface="Times New Roman" panose="02020603050405020304" pitchFamily="18" charset="0"/>
              </a:rPr>
              <a:t>gallons of gas </a:t>
            </a:r>
            <a:r>
              <a:rPr lang="en-US" altLang="en-US" b="1" dirty="0">
                <a:solidFill>
                  <a:srgbClr val="0070C0"/>
                </a:solidFill>
                <a:latin typeface="Times New Roman" panose="02020603050405020304" pitchFamily="18" charset="0"/>
              </a:rPr>
              <a:t>@$1.50</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endParaRPr lang="en-US" altLang="en-US" dirty="0">
              <a:solidFill>
                <a:srgbClr val="000000"/>
              </a:solidFill>
              <a:latin typeface="Times New Roman" panose="02020603050405020304" pitchFamily="18" charset="0"/>
            </a:endParaRPr>
          </a:p>
        </p:txBody>
      </p:sp>
      <p:sp>
        <p:nvSpPr>
          <p:cNvPr id="50180" name="Slide Number Placeholder 3"/>
          <p:cNvSpPr>
            <a:spLocks noGrp="1"/>
          </p:cNvSpPr>
          <p:nvPr>
            <p:ph type="sldNum" sz="quarter" idx="4294967295"/>
          </p:nvPr>
        </p:nvSpPr>
        <p:spPr bwMode="auto">
          <a:xfrm>
            <a:off x="9859964" y="6248400"/>
            <a:ext cx="808037"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6340808-CF3B-424A-9DD9-D6DC5898ECC8}" type="slidenum">
              <a:rPr lang="en-US" altLang="en-US" sz="1400">
                <a:latin typeface="Times New Roman" panose="02020603050405020304" pitchFamily="18" charset="0"/>
              </a:rPr>
              <a:pPr>
                <a:spcBef>
                  <a:spcPct val="0"/>
                </a:spcBef>
                <a:buFontTx/>
                <a:buNone/>
              </a:pPr>
              <a:t>16</a:t>
            </a:fld>
            <a:endParaRPr lang="en-US" altLang="en-US" sz="1400">
              <a:latin typeface="Times New Roman" panose="02020603050405020304" pitchFamily="18" charset="0"/>
            </a:endParaRPr>
          </a:p>
        </p:txBody>
      </p:sp>
      <p:pic>
        <p:nvPicPr>
          <p:cNvPr id="3074" name="Picture 2" descr="National Tank Truck Carriers Seeks Five-Year Exemption From Rest ...">
            <a:extLst>
              <a:ext uri="{FF2B5EF4-FFF2-40B4-BE49-F238E27FC236}">
                <a16:creationId xmlns:a16="http://schemas.microsoft.com/office/drawing/2014/main" id="{8F8BA87C-8B27-49B9-9856-C8102A7CB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441" y="1455266"/>
            <a:ext cx="3535046" cy="1973734"/>
          </a:xfrm>
          <a:prstGeom prst="rect">
            <a:avLst/>
          </a:prstGeom>
          <a:noFill/>
          <a:extLst>
            <a:ext uri="{909E8E84-426E-40DD-AFC4-6F175D3DCCD1}">
              <a14:hiddenFill xmlns:a14="http://schemas.microsoft.com/office/drawing/2010/main">
                <a:solidFill>
                  <a:srgbClr val="FFFFFF"/>
                </a:solidFill>
              </a14:hiddenFill>
            </a:ext>
          </a:extLst>
        </p:spPr>
      </p:pic>
      <p:sp>
        <p:nvSpPr>
          <p:cNvPr id="2" name="Cylinder 1">
            <a:extLst>
              <a:ext uri="{FF2B5EF4-FFF2-40B4-BE49-F238E27FC236}">
                <a16:creationId xmlns:a16="http://schemas.microsoft.com/office/drawing/2014/main" id="{9AF29957-369D-48BA-AC8C-940F109E56D3}"/>
              </a:ext>
            </a:extLst>
          </p:cNvPr>
          <p:cNvSpPr/>
          <p:nvPr/>
        </p:nvSpPr>
        <p:spPr>
          <a:xfrm>
            <a:off x="495299" y="4596714"/>
            <a:ext cx="1915297" cy="210888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ylinder 6">
            <a:extLst>
              <a:ext uri="{FF2B5EF4-FFF2-40B4-BE49-F238E27FC236}">
                <a16:creationId xmlns:a16="http://schemas.microsoft.com/office/drawing/2014/main" id="{A2A7C353-F691-4B7F-8C42-63C766C71CA1}"/>
              </a:ext>
            </a:extLst>
          </p:cNvPr>
          <p:cNvSpPr/>
          <p:nvPr/>
        </p:nvSpPr>
        <p:spPr>
          <a:xfrm>
            <a:off x="495299" y="3647551"/>
            <a:ext cx="1915297" cy="1421841"/>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E08AF9-4956-4CDD-9856-51DAE4784F10}"/>
              </a:ext>
            </a:extLst>
          </p:cNvPr>
          <p:cNvSpPr txBox="1"/>
          <p:nvPr/>
        </p:nvSpPr>
        <p:spPr>
          <a:xfrm>
            <a:off x="692917" y="5431133"/>
            <a:ext cx="1822102" cy="646331"/>
          </a:xfrm>
          <a:prstGeom prst="rect">
            <a:avLst/>
          </a:prstGeom>
          <a:noFill/>
        </p:spPr>
        <p:txBody>
          <a:bodyPr wrap="square" rtlCol="0">
            <a:spAutoFit/>
          </a:bodyPr>
          <a:lstStyle/>
          <a:p>
            <a:r>
              <a:rPr lang="en-US" dirty="0"/>
              <a:t>500 gallons @ $1/g = $500</a:t>
            </a:r>
          </a:p>
        </p:txBody>
      </p:sp>
      <p:sp>
        <p:nvSpPr>
          <p:cNvPr id="9" name="TextBox 8">
            <a:extLst>
              <a:ext uri="{FF2B5EF4-FFF2-40B4-BE49-F238E27FC236}">
                <a16:creationId xmlns:a16="http://schemas.microsoft.com/office/drawing/2014/main" id="{CCBD05D0-767D-4496-9EC9-614765AFB5E8}"/>
              </a:ext>
            </a:extLst>
          </p:cNvPr>
          <p:cNvSpPr txBox="1"/>
          <p:nvPr/>
        </p:nvSpPr>
        <p:spPr>
          <a:xfrm>
            <a:off x="692917" y="4185364"/>
            <a:ext cx="1822102" cy="646331"/>
          </a:xfrm>
          <a:prstGeom prst="rect">
            <a:avLst/>
          </a:prstGeom>
          <a:noFill/>
        </p:spPr>
        <p:txBody>
          <a:bodyPr wrap="square" rtlCol="0">
            <a:spAutoFit/>
          </a:bodyPr>
          <a:lstStyle/>
          <a:p>
            <a:r>
              <a:rPr lang="en-US" dirty="0"/>
              <a:t>300 gallons @ $1.5/g = $450</a:t>
            </a:r>
          </a:p>
        </p:txBody>
      </p:sp>
      <p:sp>
        <p:nvSpPr>
          <p:cNvPr id="10" name="Cylinder 9">
            <a:extLst>
              <a:ext uri="{FF2B5EF4-FFF2-40B4-BE49-F238E27FC236}">
                <a16:creationId xmlns:a16="http://schemas.microsoft.com/office/drawing/2014/main" id="{DE031353-9E8B-45C8-82E5-142C766F7B3A}"/>
              </a:ext>
            </a:extLst>
          </p:cNvPr>
          <p:cNvSpPr/>
          <p:nvPr/>
        </p:nvSpPr>
        <p:spPr>
          <a:xfrm>
            <a:off x="3285921" y="3643744"/>
            <a:ext cx="1915297" cy="3060188"/>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3919D5-4106-4AEC-A0BF-657CCB62E047}"/>
              </a:ext>
            </a:extLst>
          </p:cNvPr>
          <p:cNvSpPr txBox="1"/>
          <p:nvPr/>
        </p:nvSpPr>
        <p:spPr>
          <a:xfrm>
            <a:off x="3450839" y="4826511"/>
            <a:ext cx="1822102" cy="646331"/>
          </a:xfrm>
          <a:prstGeom prst="rect">
            <a:avLst/>
          </a:prstGeom>
          <a:noFill/>
        </p:spPr>
        <p:txBody>
          <a:bodyPr wrap="square" rtlCol="0">
            <a:spAutoFit/>
          </a:bodyPr>
          <a:lstStyle/>
          <a:p>
            <a:r>
              <a:rPr lang="en-US" dirty="0"/>
              <a:t>800 gallons @ $1.19/g = $950</a:t>
            </a:r>
          </a:p>
        </p:txBody>
      </p:sp>
      <p:sp>
        <p:nvSpPr>
          <p:cNvPr id="12" name="TextBox 11">
            <a:extLst>
              <a:ext uri="{FF2B5EF4-FFF2-40B4-BE49-F238E27FC236}">
                <a16:creationId xmlns:a16="http://schemas.microsoft.com/office/drawing/2014/main" id="{AA6D54F7-25CF-4B47-8516-534B8D7B4E4C}"/>
              </a:ext>
            </a:extLst>
          </p:cNvPr>
          <p:cNvSpPr txBox="1"/>
          <p:nvPr/>
        </p:nvSpPr>
        <p:spPr>
          <a:xfrm>
            <a:off x="2622959" y="4804506"/>
            <a:ext cx="1822102" cy="369332"/>
          </a:xfrm>
          <a:prstGeom prst="rect">
            <a:avLst/>
          </a:prstGeom>
          <a:noFill/>
        </p:spPr>
        <p:txBody>
          <a:bodyPr wrap="square" rtlCol="0">
            <a:spAutoFit/>
          </a:bodyPr>
          <a:lstStyle/>
          <a:p>
            <a:r>
              <a:rPr lang="en-US" b="1" dirty="0"/>
              <a:t>OR</a:t>
            </a:r>
          </a:p>
        </p:txBody>
      </p:sp>
      <p:sp>
        <p:nvSpPr>
          <p:cNvPr id="4" name="TextBox 3">
            <a:extLst>
              <a:ext uri="{FF2B5EF4-FFF2-40B4-BE49-F238E27FC236}">
                <a16:creationId xmlns:a16="http://schemas.microsoft.com/office/drawing/2014/main" id="{055E135E-A924-D3B3-8889-D5ABA797E1C0}"/>
              </a:ext>
            </a:extLst>
          </p:cNvPr>
          <p:cNvSpPr txBox="1"/>
          <p:nvPr/>
        </p:nvSpPr>
        <p:spPr>
          <a:xfrm>
            <a:off x="3143877" y="4770172"/>
            <a:ext cx="6574043" cy="492443"/>
          </a:xfrm>
          <a:prstGeom prst="rect">
            <a:avLst/>
          </a:prstGeom>
          <a:noFill/>
        </p:spPr>
        <p:txBody>
          <a:bodyPr wrap="square" rtlCol="0">
            <a:spAutoFit/>
          </a:bodyPr>
          <a:lstStyle/>
          <a:p>
            <a:r>
              <a:rPr lang="en-US" sz="2600" dirty="0">
                <a:solidFill>
                  <a:srgbClr val="FF0000"/>
                </a:solidFill>
              </a:rPr>
              <a:t>What cost should we use for each gallon?</a:t>
            </a:r>
          </a:p>
        </p:txBody>
      </p:sp>
    </p:spTree>
    <p:extLst>
      <p:ext uri="{BB962C8B-B14F-4D97-AF65-F5344CB8AC3E}">
        <p14:creationId xmlns:p14="http://schemas.microsoft.com/office/powerpoint/2010/main" val="303477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4"/>
                                        </p:tgtEl>
                                      </p:cBhvr>
                                    </p:animEffect>
                                    <p:set>
                                      <p:cBhvr>
                                        <p:cTn id="28" dur="1" fill="hold">
                                          <p:stCondLst>
                                            <p:cond delay="499"/>
                                          </p:stCondLst>
                                        </p:cTn>
                                        <p:tgtEl>
                                          <p:spTgt spid="4"/>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3" grpId="0"/>
      <p:bldP spid="9" grpId="0"/>
      <p:bldP spid="10" grpId="0" animBg="1"/>
      <p:bldP spid="11" grpId="0"/>
      <p:bldP spid="12" grpId="0"/>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838200" y="433389"/>
            <a:ext cx="9588501" cy="839787"/>
          </a:xfrm>
        </p:spPr>
        <p:txBody>
          <a:bodyPr>
            <a:normAutofit fontScale="90000"/>
          </a:bodyPr>
          <a:lstStyle/>
          <a:p>
            <a:pPr>
              <a:defRPr/>
            </a:pPr>
            <a:r>
              <a:rPr lang="en-US" sz="2800" dirty="0"/>
              <a:t>Inventory:  The need to make cost-flow assumptions</a:t>
            </a:r>
          </a:p>
        </p:txBody>
      </p:sp>
      <p:sp>
        <p:nvSpPr>
          <p:cNvPr id="35843" name="Content Placeholder 1"/>
          <p:cNvSpPr>
            <a:spLocks noGrp="1"/>
          </p:cNvSpPr>
          <p:nvPr>
            <p:ph idx="1"/>
          </p:nvPr>
        </p:nvSpPr>
        <p:spPr>
          <a:xfrm>
            <a:off x="838200" y="1426867"/>
            <a:ext cx="8265607" cy="4821534"/>
          </a:xfrm>
        </p:spPr>
        <p:txBody>
          <a:bodyPr>
            <a:normAutofit/>
          </a:bodyPr>
          <a:lstStyle/>
          <a:p>
            <a:pPr marL="0" indent="0">
              <a:buNone/>
              <a:defRPr/>
            </a:pPr>
            <a:r>
              <a:rPr lang="en-US" altLang="en-US" sz="2400" b="1" u="sng" dirty="0">
                <a:solidFill>
                  <a:srgbClr val="000000"/>
                </a:solidFill>
                <a:latin typeface="Times New Roman" panose="02020603050405020304" pitchFamily="18" charset="0"/>
              </a:rPr>
              <a:t>New gas station begins operations</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1:  Buy </a:t>
            </a:r>
            <a:r>
              <a:rPr lang="en-US" altLang="en-US" b="1" dirty="0">
                <a:solidFill>
                  <a:srgbClr val="C00000"/>
                </a:solidFill>
                <a:latin typeface="Times New Roman" panose="02020603050405020304" pitchFamily="18" charset="0"/>
              </a:rPr>
              <a:t>500</a:t>
            </a:r>
            <a:r>
              <a:rPr lang="en-US" altLang="en-US"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@$1</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2:  Buy </a:t>
            </a:r>
            <a:r>
              <a:rPr lang="en-US" altLang="en-US" b="1" dirty="0">
                <a:solidFill>
                  <a:srgbClr val="C00000"/>
                </a:solidFill>
                <a:latin typeface="Times New Roman" panose="02020603050405020304" pitchFamily="18" charset="0"/>
              </a:rPr>
              <a:t>300</a:t>
            </a:r>
            <a:r>
              <a:rPr lang="en-US" altLang="en-US" dirty="0">
                <a:solidFill>
                  <a:srgbClr val="C00000"/>
                </a:solidFill>
                <a:latin typeface="Times New Roman" panose="02020603050405020304" pitchFamily="18" charset="0"/>
              </a:rPr>
              <a:t> </a:t>
            </a:r>
            <a:r>
              <a:rPr lang="en-US" altLang="en-US" dirty="0">
                <a:solidFill>
                  <a:srgbClr val="000000"/>
                </a:solidFill>
                <a:latin typeface="Times New Roman" panose="02020603050405020304" pitchFamily="18" charset="0"/>
              </a:rPr>
              <a:t>gallons of gas </a:t>
            </a:r>
            <a:r>
              <a:rPr lang="en-US" altLang="en-US" b="1" dirty="0">
                <a:solidFill>
                  <a:srgbClr val="0070C0"/>
                </a:solidFill>
                <a:latin typeface="Times New Roman" panose="02020603050405020304" pitchFamily="18" charset="0"/>
              </a:rPr>
              <a:t>@$1.50</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b="1" dirty="0">
                <a:solidFill>
                  <a:srgbClr val="000000"/>
                </a:solidFill>
                <a:latin typeface="Times New Roman" panose="02020603050405020304" pitchFamily="18" charset="0"/>
              </a:rPr>
              <a:t>Day 3:  Sell </a:t>
            </a:r>
            <a:r>
              <a:rPr lang="en-US" altLang="en-US" b="1" dirty="0">
                <a:solidFill>
                  <a:srgbClr val="C00000"/>
                </a:solidFill>
                <a:latin typeface="Times New Roman" panose="02020603050405020304" pitchFamily="18" charset="0"/>
              </a:rPr>
              <a:t>200</a:t>
            </a:r>
            <a:r>
              <a:rPr lang="en-US" altLang="en-US" b="1"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@$2</a:t>
            </a:r>
            <a:r>
              <a:rPr lang="en-US" altLang="en-US" b="1"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endParaRPr lang="en-US" altLang="en-US" dirty="0">
              <a:solidFill>
                <a:srgbClr val="000000"/>
              </a:solidFill>
              <a:latin typeface="Times New Roman" panose="02020603050405020304" pitchFamily="18" charset="0"/>
            </a:endParaRPr>
          </a:p>
        </p:txBody>
      </p:sp>
      <p:pic>
        <p:nvPicPr>
          <p:cNvPr id="3074" name="Picture 2" descr="National Tank Truck Carriers Seeks Five-Year Exemption From Rest ...">
            <a:extLst>
              <a:ext uri="{FF2B5EF4-FFF2-40B4-BE49-F238E27FC236}">
                <a16:creationId xmlns:a16="http://schemas.microsoft.com/office/drawing/2014/main" id="{8F8BA87C-8B27-49B9-9856-C8102A7CB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441" y="1455266"/>
            <a:ext cx="3535046" cy="1973734"/>
          </a:xfrm>
          <a:prstGeom prst="rect">
            <a:avLst/>
          </a:prstGeom>
          <a:noFill/>
          <a:extLst>
            <a:ext uri="{909E8E84-426E-40DD-AFC4-6F175D3DCCD1}">
              <a14:hiddenFill xmlns:a14="http://schemas.microsoft.com/office/drawing/2010/main">
                <a:solidFill>
                  <a:srgbClr val="FFFFFF"/>
                </a:solidFill>
              </a14:hiddenFill>
            </a:ext>
          </a:extLst>
        </p:spPr>
      </p:pic>
      <p:sp>
        <p:nvSpPr>
          <p:cNvPr id="2" name="Cylinder 1">
            <a:extLst>
              <a:ext uri="{FF2B5EF4-FFF2-40B4-BE49-F238E27FC236}">
                <a16:creationId xmlns:a16="http://schemas.microsoft.com/office/drawing/2014/main" id="{9AF29957-369D-48BA-AC8C-940F109E56D3}"/>
              </a:ext>
            </a:extLst>
          </p:cNvPr>
          <p:cNvSpPr/>
          <p:nvPr/>
        </p:nvSpPr>
        <p:spPr>
          <a:xfrm>
            <a:off x="495299" y="4596714"/>
            <a:ext cx="1915297" cy="210888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ylinder 6">
            <a:extLst>
              <a:ext uri="{FF2B5EF4-FFF2-40B4-BE49-F238E27FC236}">
                <a16:creationId xmlns:a16="http://schemas.microsoft.com/office/drawing/2014/main" id="{A2A7C353-F691-4B7F-8C42-63C766C71CA1}"/>
              </a:ext>
            </a:extLst>
          </p:cNvPr>
          <p:cNvSpPr/>
          <p:nvPr/>
        </p:nvSpPr>
        <p:spPr>
          <a:xfrm>
            <a:off x="495299" y="3647551"/>
            <a:ext cx="1915297" cy="1421841"/>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E08AF9-4956-4CDD-9856-51DAE4784F10}"/>
              </a:ext>
            </a:extLst>
          </p:cNvPr>
          <p:cNvSpPr txBox="1"/>
          <p:nvPr/>
        </p:nvSpPr>
        <p:spPr>
          <a:xfrm>
            <a:off x="692917" y="5431133"/>
            <a:ext cx="1822102" cy="646331"/>
          </a:xfrm>
          <a:prstGeom prst="rect">
            <a:avLst/>
          </a:prstGeom>
          <a:noFill/>
        </p:spPr>
        <p:txBody>
          <a:bodyPr wrap="square" rtlCol="0">
            <a:spAutoFit/>
          </a:bodyPr>
          <a:lstStyle/>
          <a:p>
            <a:r>
              <a:rPr lang="en-US" dirty="0"/>
              <a:t>500 gallons @ $1/g = $500</a:t>
            </a:r>
          </a:p>
        </p:txBody>
      </p:sp>
      <p:sp>
        <p:nvSpPr>
          <p:cNvPr id="9" name="TextBox 8">
            <a:extLst>
              <a:ext uri="{FF2B5EF4-FFF2-40B4-BE49-F238E27FC236}">
                <a16:creationId xmlns:a16="http://schemas.microsoft.com/office/drawing/2014/main" id="{CCBD05D0-767D-4496-9EC9-614765AFB5E8}"/>
              </a:ext>
            </a:extLst>
          </p:cNvPr>
          <p:cNvSpPr txBox="1"/>
          <p:nvPr/>
        </p:nvSpPr>
        <p:spPr>
          <a:xfrm>
            <a:off x="692917" y="4185364"/>
            <a:ext cx="1822102" cy="646331"/>
          </a:xfrm>
          <a:prstGeom prst="rect">
            <a:avLst/>
          </a:prstGeom>
          <a:noFill/>
        </p:spPr>
        <p:txBody>
          <a:bodyPr wrap="square" rtlCol="0">
            <a:spAutoFit/>
          </a:bodyPr>
          <a:lstStyle/>
          <a:p>
            <a:r>
              <a:rPr lang="en-US" dirty="0"/>
              <a:t>300 gallons @ $1.5/g = $450</a:t>
            </a:r>
          </a:p>
        </p:txBody>
      </p:sp>
      <p:sp>
        <p:nvSpPr>
          <p:cNvPr id="10" name="Cylinder 9">
            <a:extLst>
              <a:ext uri="{FF2B5EF4-FFF2-40B4-BE49-F238E27FC236}">
                <a16:creationId xmlns:a16="http://schemas.microsoft.com/office/drawing/2014/main" id="{DE031353-9E8B-45C8-82E5-142C766F7B3A}"/>
              </a:ext>
            </a:extLst>
          </p:cNvPr>
          <p:cNvSpPr/>
          <p:nvPr/>
        </p:nvSpPr>
        <p:spPr>
          <a:xfrm>
            <a:off x="3285921" y="3643744"/>
            <a:ext cx="1915297" cy="3060188"/>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3919D5-4106-4AEC-A0BF-657CCB62E047}"/>
              </a:ext>
            </a:extLst>
          </p:cNvPr>
          <p:cNvSpPr txBox="1"/>
          <p:nvPr/>
        </p:nvSpPr>
        <p:spPr>
          <a:xfrm>
            <a:off x="3450839" y="4826511"/>
            <a:ext cx="1822102" cy="646331"/>
          </a:xfrm>
          <a:prstGeom prst="rect">
            <a:avLst/>
          </a:prstGeom>
          <a:noFill/>
        </p:spPr>
        <p:txBody>
          <a:bodyPr wrap="square" rtlCol="0">
            <a:spAutoFit/>
          </a:bodyPr>
          <a:lstStyle/>
          <a:p>
            <a:r>
              <a:rPr lang="en-US" dirty="0"/>
              <a:t>800 gallons @ $1.19/g = $950</a:t>
            </a:r>
          </a:p>
        </p:txBody>
      </p:sp>
      <p:sp>
        <p:nvSpPr>
          <p:cNvPr id="12" name="TextBox 11">
            <a:extLst>
              <a:ext uri="{FF2B5EF4-FFF2-40B4-BE49-F238E27FC236}">
                <a16:creationId xmlns:a16="http://schemas.microsoft.com/office/drawing/2014/main" id="{AA6D54F7-25CF-4B47-8516-534B8D7B4E4C}"/>
              </a:ext>
            </a:extLst>
          </p:cNvPr>
          <p:cNvSpPr txBox="1"/>
          <p:nvPr/>
        </p:nvSpPr>
        <p:spPr>
          <a:xfrm>
            <a:off x="2622959" y="4804506"/>
            <a:ext cx="1822102" cy="369332"/>
          </a:xfrm>
          <a:prstGeom prst="rect">
            <a:avLst/>
          </a:prstGeom>
          <a:noFill/>
        </p:spPr>
        <p:txBody>
          <a:bodyPr wrap="square" rtlCol="0">
            <a:spAutoFit/>
          </a:bodyPr>
          <a:lstStyle/>
          <a:p>
            <a:r>
              <a:rPr lang="en-US" b="1" dirty="0"/>
              <a:t>OR</a:t>
            </a:r>
          </a:p>
        </p:txBody>
      </p:sp>
      <p:sp>
        <p:nvSpPr>
          <p:cNvPr id="4" name="Arrow: Right 3">
            <a:extLst>
              <a:ext uri="{FF2B5EF4-FFF2-40B4-BE49-F238E27FC236}">
                <a16:creationId xmlns:a16="http://schemas.microsoft.com/office/drawing/2014/main" id="{62C80CF0-7393-4E4E-951B-CDB7C627B5F3}"/>
              </a:ext>
            </a:extLst>
          </p:cNvPr>
          <p:cNvSpPr/>
          <p:nvPr/>
        </p:nvSpPr>
        <p:spPr>
          <a:xfrm>
            <a:off x="5511800" y="4978400"/>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C44460-F557-409D-BC38-3688C826B464}"/>
              </a:ext>
            </a:extLst>
          </p:cNvPr>
          <p:cNvSpPr txBox="1"/>
          <p:nvPr/>
        </p:nvSpPr>
        <p:spPr>
          <a:xfrm>
            <a:off x="5711780" y="4700060"/>
            <a:ext cx="1822102" cy="369332"/>
          </a:xfrm>
          <a:prstGeom prst="rect">
            <a:avLst/>
          </a:prstGeom>
          <a:noFill/>
        </p:spPr>
        <p:txBody>
          <a:bodyPr wrap="square" rtlCol="0">
            <a:spAutoFit/>
          </a:bodyPr>
          <a:lstStyle/>
          <a:p>
            <a:r>
              <a:rPr lang="en-US" b="1" dirty="0"/>
              <a:t>Sell</a:t>
            </a:r>
          </a:p>
        </p:txBody>
      </p:sp>
      <p:sp>
        <p:nvSpPr>
          <p:cNvPr id="15" name="Cylinder 14">
            <a:extLst>
              <a:ext uri="{FF2B5EF4-FFF2-40B4-BE49-F238E27FC236}">
                <a16:creationId xmlns:a16="http://schemas.microsoft.com/office/drawing/2014/main" id="{B70449DA-FC67-4A8A-B0A1-78D6CA2CEE67}"/>
              </a:ext>
            </a:extLst>
          </p:cNvPr>
          <p:cNvSpPr/>
          <p:nvPr/>
        </p:nvSpPr>
        <p:spPr>
          <a:xfrm>
            <a:off x="7029177" y="3680571"/>
            <a:ext cx="1915297" cy="898818"/>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ylinder 15">
            <a:extLst>
              <a:ext uri="{FF2B5EF4-FFF2-40B4-BE49-F238E27FC236}">
                <a16:creationId xmlns:a16="http://schemas.microsoft.com/office/drawing/2014/main" id="{DF8AA56A-1289-492E-B6B0-83710DA18986}"/>
              </a:ext>
            </a:extLst>
          </p:cNvPr>
          <p:cNvSpPr/>
          <p:nvPr/>
        </p:nvSpPr>
        <p:spPr>
          <a:xfrm>
            <a:off x="7029176" y="4819018"/>
            <a:ext cx="1915297" cy="93528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ylinder 16">
            <a:extLst>
              <a:ext uri="{FF2B5EF4-FFF2-40B4-BE49-F238E27FC236}">
                <a16:creationId xmlns:a16="http://schemas.microsoft.com/office/drawing/2014/main" id="{81D611E0-B86A-488D-9658-F87940C35B45}"/>
              </a:ext>
            </a:extLst>
          </p:cNvPr>
          <p:cNvSpPr/>
          <p:nvPr/>
        </p:nvSpPr>
        <p:spPr>
          <a:xfrm>
            <a:off x="7029177" y="5854858"/>
            <a:ext cx="1915297" cy="935279"/>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168121-DEBF-4822-BBDA-F0ADC0A007BA}"/>
              </a:ext>
            </a:extLst>
          </p:cNvPr>
          <p:cNvSpPr txBox="1"/>
          <p:nvPr/>
        </p:nvSpPr>
        <p:spPr>
          <a:xfrm>
            <a:off x="7181390" y="3933058"/>
            <a:ext cx="1822102" cy="646331"/>
          </a:xfrm>
          <a:prstGeom prst="rect">
            <a:avLst/>
          </a:prstGeom>
          <a:noFill/>
        </p:spPr>
        <p:txBody>
          <a:bodyPr wrap="square" rtlCol="0">
            <a:spAutoFit/>
          </a:bodyPr>
          <a:lstStyle/>
          <a:p>
            <a:r>
              <a:rPr lang="en-US" dirty="0"/>
              <a:t>200 gallons @ $1.5/g = $300</a:t>
            </a:r>
          </a:p>
        </p:txBody>
      </p:sp>
      <p:sp>
        <p:nvSpPr>
          <p:cNvPr id="19" name="TextBox 18">
            <a:extLst>
              <a:ext uri="{FF2B5EF4-FFF2-40B4-BE49-F238E27FC236}">
                <a16:creationId xmlns:a16="http://schemas.microsoft.com/office/drawing/2014/main" id="{4C5D3B49-2916-4FA9-9C6F-B8947A939EE8}"/>
              </a:ext>
            </a:extLst>
          </p:cNvPr>
          <p:cNvSpPr txBox="1"/>
          <p:nvPr/>
        </p:nvSpPr>
        <p:spPr>
          <a:xfrm>
            <a:off x="7254146" y="5055670"/>
            <a:ext cx="1822102" cy="646331"/>
          </a:xfrm>
          <a:prstGeom prst="rect">
            <a:avLst/>
          </a:prstGeom>
          <a:noFill/>
        </p:spPr>
        <p:txBody>
          <a:bodyPr wrap="square" rtlCol="0">
            <a:spAutoFit/>
          </a:bodyPr>
          <a:lstStyle/>
          <a:p>
            <a:r>
              <a:rPr lang="en-US" dirty="0"/>
              <a:t>200 gallons @ $1/g = $200</a:t>
            </a:r>
          </a:p>
        </p:txBody>
      </p:sp>
      <p:sp>
        <p:nvSpPr>
          <p:cNvPr id="20" name="TextBox 19">
            <a:extLst>
              <a:ext uri="{FF2B5EF4-FFF2-40B4-BE49-F238E27FC236}">
                <a16:creationId xmlns:a16="http://schemas.microsoft.com/office/drawing/2014/main" id="{58A183C0-8715-4BD3-A88E-581EA88A52E5}"/>
              </a:ext>
            </a:extLst>
          </p:cNvPr>
          <p:cNvSpPr txBox="1"/>
          <p:nvPr/>
        </p:nvSpPr>
        <p:spPr>
          <a:xfrm>
            <a:off x="7181390" y="6101445"/>
            <a:ext cx="1822102" cy="646331"/>
          </a:xfrm>
          <a:prstGeom prst="rect">
            <a:avLst/>
          </a:prstGeom>
          <a:noFill/>
        </p:spPr>
        <p:txBody>
          <a:bodyPr wrap="square" rtlCol="0">
            <a:spAutoFit/>
          </a:bodyPr>
          <a:lstStyle/>
          <a:p>
            <a:r>
              <a:rPr lang="en-US" dirty="0"/>
              <a:t>200 gallons @ $1.19/g = $238</a:t>
            </a:r>
          </a:p>
        </p:txBody>
      </p:sp>
      <p:sp>
        <p:nvSpPr>
          <p:cNvPr id="21" name="TextBox 20">
            <a:extLst>
              <a:ext uri="{FF2B5EF4-FFF2-40B4-BE49-F238E27FC236}">
                <a16:creationId xmlns:a16="http://schemas.microsoft.com/office/drawing/2014/main" id="{4B446360-55F0-4A46-8FF7-AD6ADA78E7EB}"/>
              </a:ext>
            </a:extLst>
          </p:cNvPr>
          <p:cNvSpPr txBox="1"/>
          <p:nvPr/>
        </p:nvSpPr>
        <p:spPr>
          <a:xfrm>
            <a:off x="9166258" y="3989139"/>
            <a:ext cx="2771742" cy="369332"/>
          </a:xfrm>
          <a:prstGeom prst="rect">
            <a:avLst/>
          </a:prstGeom>
          <a:noFill/>
        </p:spPr>
        <p:txBody>
          <a:bodyPr wrap="square" rtlCol="0">
            <a:spAutoFit/>
          </a:bodyPr>
          <a:lstStyle/>
          <a:p>
            <a:r>
              <a:rPr lang="en-US" b="1" u="sng" dirty="0">
                <a:solidFill>
                  <a:srgbClr val="FF0000"/>
                </a:solidFill>
              </a:rPr>
              <a:t>Last In-First Out (LIFO)</a:t>
            </a:r>
          </a:p>
        </p:txBody>
      </p:sp>
      <p:sp>
        <p:nvSpPr>
          <p:cNvPr id="25" name="TextBox 24">
            <a:extLst>
              <a:ext uri="{FF2B5EF4-FFF2-40B4-BE49-F238E27FC236}">
                <a16:creationId xmlns:a16="http://schemas.microsoft.com/office/drawing/2014/main" id="{A0AE58E4-1674-4283-BB5E-4920525E97EE}"/>
              </a:ext>
            </a:extLst>
          </p:cNvPr>
          <p:cNvSpPr txBox="1"/>
          <p:nvPr/>
        </p:nvSpPr>
        <p:spPr>
          <a:xfrm>
            <a:off x="9166258" y="5055670"/>
            <a:ext cx="2771742" cy="369332"/>
          </a:xfrm>
          <a:prstGeom prst="rect">
            <a:avLst/>
          </a:prstGeom>
          <a:noFill/>
        </p:spPr>
        <p:txBody>
          <a:bodyPr wrap="square" rtlCol="0">
            <a:spAutoFit/>
          </a:bodyPr>
          <a:lstStyle/>
          <a:p>
            <a:r>
              <a:rPr lang="en-US" b="1" u="sng" dirty="0">
                <a:solidFill>
                  <a:srgbClr val="FF0000"/>
                </a:solidFill>
              </a:rPr>
              <a:t>First In-First Out (FIFO)</a:t>
            </a:r>
          </a:p>
        </p:txBody>
      </p:sp>
      <p:sp>
        <p:nvSpPr>
          <p:cNvPr id="26" name="TextBox 25">
            <a:extLst>
              <a:ext uri="{FF2B5EF4-FFF2-40B4-BE49-F238E27FC236}">
                <a16:creationId xmlns:a16="http://schemas.microsoft.com/office/drawing/2014/main" id="{C7DE938B-3A0C-4B50-A417-59024F52223B}"/>
              </a:ext>
            </a:extLst>
          </p:cNvPr>
          <p:cNvSpPr txBox="1"/>
          <p:nvPr/>
        </p:nvSpPr>
        <p:spPr>
          <a:xfrm>
            <a:off x="9217920" y="6101445"/>
            <a:ext cx="2771742" cy="369332"/>
          </a:xfrm>
          <a:prstGeom prst="rect">
            <a:avLst/>
          </a:prstGeom>
          <a:noFill/>
        </p:spPr>
        <p:txBody>
          <a:bodyPr wrap="square" rtlCol="0">
            <a:spAutoFit/>
          </a:bodyPr>
          <a:lstStyle/>
          <a:p>
            <a:r>
              <a:rPr lang="en-US" b="1" u="sng" dirty="0">
                <a:solidFill>
                  <a:srgbClr val="FF0000"/>
                </a:solidFill>
              </a:rPr>
              <a:t>Average Cost</a:t>
            </a:r>
          </a:p>
        </p:txBody>
      </p:sp>
    </p:spTree>
    <p:extLst>
      <p:ext uri="{BB962C8B-B14F-4D97-AF65-F5344CB8AC3E}">
        <p14:creationId xmlns:p14="http://schemas.microsoft.com/office/powerpoint/2010/main" val="276856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5" grpId="0" animBg="1"/>
      <p:bldP spid="16" grpId="0" animBg="1"/>
      <p:bldP spid="17" grpId="0" animBg="1"/>
      <p:bldP spid="18" grpId="0"/>
      <p:bldP spid="19" grpId="0"/>
      <p:bldP spid="20" grpId="0"/>
      <p:bldP spid="21" grpId="0"/>
      <p:bldP spid="25"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838200" y="433389"/>
            <a:ext cx="9588501" cy="839787"/>
          </a:xfrm>
        </p:spPr>
        <p:txBody>
          <a:bodyPr>
            <a:normAutofit fontScale="90000"/>
          </a:bodyPr>
          <a:lstStyle/>
          <a:p>
            <a:pPr>
              <a:defRPr/>
            </a:pPr>
            <a:r>
              <a:rPr lang="en-US" sz="2800" dirty="0"/>
              <a:t>Inventory:  The need to make cost-flow assumptions</a:t>
            </a:r>
          </a:p>
        </p:txBody>
      </p:sp>
      <p:sp>
        <p:nvSpPr>
          <p:cNvPr id="35843" name="Content Placeholder 1"/>
          <p:cNvSpPr>
            <a:spLocks noGrp="1"/>
          </p:cNvSpPr>
          <p:nvPr>
            <p:ph idx="1"/>
          </p:nvPr>
        </p:nvSpPr>
        <p:spPr>
          <a:xfrm>
            <a:off x="838200" y="1426867"/>
            <a:ext cx="8265607" cy="4821534"/>
          </a:xfrm>
        </p:spPr>
        <p:txBody>
          <a:bodyPr>
            <a:normAutofit/>
          </a:bodyPr>
          <a:lstStyle/>
          <a:p>
            <a:pPr marL="0" indent="0">
              <a:buNone/>
              <a:defRPr/>
            </a:pPr>
            <a:r>
              <a:rPr lang="en-US" altLang="en-US" sz="2400" b="1" u="sng" dirty="0">
                <a:solidFill>
                  <a:srgbClr val="000000"/>
                </a:solidFill>
                <a:latin typeface="Times New Roman" panose="02020603050405020304" pitchFamily="18" charset="0"/>
              </a:rPr>
              <a:t>New gas station begins operations</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1:  Buy </a:t>
            </a:r>
            <a:r>
              <a:rPr lang="en-US" altLang="en-US" b="1" dirty="0">
                <a:solidFill>
                  <a:srgbClr val="C00000"/>
                </a:solidFill>
                <a:latin typeface="Times New Roman" panose="02020603050405020304" pitchFamily="18" charset="0"/>
              </a:rPr>
              <a:t>500</a:t>
            </a:r>
            <a:r>
              <a:rPr lang="en-US" altLang="en-US"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@$1</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2:  Buy </a:t>
            </a:r>
            <a:r>
              <a:rPr lang="en-US" altLang="en-US" b="1" dirty="0">
                <a:solidFill>
                  <a:srgbClr val="C00000"/>
                </a:solidFill>
                <a:latin typeface="Times New Roman" panose="02020603050405020304" pitchFamily="18" charset="0"/>
              </a:rPr>
              <a:t>300</a:t>
            </a:r>
            <a:r>
              <a:rPr lang="en-US" altLang="en-US" dirty="0">
                <a:solidFill>
                  <a:srgbClr val="C00000"/>
                </a:solidFill>
                <a:latin typeface="Times New Roman" panose="02020603050405020304" pitchFamily="18" charset="0"/>
              </a:rPr>
              <a:t> </a:t>
            </a:r>
            <a:r>
              <a:rPr lang="en-US" altLang="en-US" dirty="0">
                <a:solidFill>
                  <a:srgbClr val="000000"/>
                </a:solidFill>
                <a:latin typeface="Times New Roman" panose="02020603050405020304" pitchFamily="18" charset="0"/>
              </a:rPr>
              <a:t>gallons of gas </a:t>
            </a:r>
            <a:r>
              <a:rPr lang="en-US" altLang="en-US" b="1" dirty="0">
                <a:solidFill>
                  <a:srgbClr val="0070C0"/>
                </a:solidFill>
                <a:latin typeface="Times New Roman" panose="02020603050405020304" pitchFamily="18" charset="0"/>
              </a:rPr>
              <a:t>@$1.50</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b="1" dirty="0">
                <a:solidFill>
                  <a:srgbClr val="000000"/>
                </a:solidFill>
                <a:latin typeface="Times New Roman" panose="02020603050405020304" pitchFamily="18" charset="0"/>
              </a:rPr>
              <a:t>Day 3:  Sell </a:t>
            </a:r>
            <a:r>
              <a:rPr lang="en-US" altLang="en-US" b="1" dirty="0">
                <a:solidFill>
                  <a:srgbClr val="C00000"/>
                </a:solidFill>
                <a:latin typeface="Times New Roman" panose="02020603050405020304" pitchFamily="18" charset="0"/>
              </a:rPr>
              <a:t>200</a:t>
            </a:r>
            <a:r>
              <a:rPr lang="en-US" altLang="en-US" b="1"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@$2</a:t>
            </a:r>
            <a:r>
              <a:rPr lang="en-US" altLang="en-US" b="1"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endParaRPr lang="en-US" altLang="en-US" dirty="0">
              <a:solidFill>
                <a:srgbClr val="000000"/>
              </a:solidFill>
              <a:latin typeface="Times New Roman" panose="02020603050405020304" pitchFamily="18" charset="0"/>
            </a:endParaRPr>
          </a:p>
        </p:txBody>
      </p:sp>
      <p:pic>
        <p:nvPicPr>
          <p:cNvPr id="3074" name="Picture 2" descr="National Tank Truck Carriers Seeks Five-Year Exemption From Rest ...">
            <a:extLst>
              <a:ext uri="{FF2B5EF4-FFF2-40B4-BE49-F238E27FC236}">
                <a16:creationId xmlns:a16="http://schemas.microsoft.com/office/drawing/2014/main" id="{8F8BA87C-8B27-49B9-9856-C8102A7CB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441" y="1455266"/>
            <a:ext cx="3535046" cy="1973734"/>
          </a:xfrm>
          <a:prstGeom prst="rect">
            <a:avLst/>
          </a:prstGeom>
          <a:noFill/>
          <a:extLst>
            <a:ext uri="{909E8E84-426E-40DD-AFC4-6F175D3DCCD1}">
              <a14:hiddenFill xmlns:a14="http://schemas.microsoft.com/office/drawing/2010/main">
                <a:solidFill>
                  <a:srgbClr val="FFFFFF"/>
                </a:solidFill>
              </a14:hiddenFill>
            </a:ext>
          </a:extLst>
        </p:spPr>
      </p:pic>
      <p:sp>
        <p:nvSpPr>
          <p:cNvPr id="2" name="Cylinder 1">
            <a:extLst>
              <a:ext uri="{FF2B5EF4-FFF2-40B4-BE49-F238E27FC236}">
                <a16:creationId xmlns:a16="http://schemas.microsoft.com/office/drawing/2014/main" id="{9AF29957-369D-48BA-AC8C-940F109E56D3}"/>
              </a:ext>
            </a:extLst>
          </p:cNvPr>
          <p:cNvSpPr/>
          <p:nvPr/>
        </p:nvSpPr>
        <p:spPr>
          <a:xfrm>
            <a:off x="495299" y="4596714"/>
            <a:ext cx="1915297" cy="210888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ylinder 6">
            <a:extLst>
              <a:ext uri="{FF2B5EF4-FFF2-40B4-BE49-F238E27FC236}">
                <a16:creationId xmlns:a16="http://schemas.microsoft.com/office/drawing/2014/main" id="{A2A7C353-F691-4B7F-8C42-63C766C71CA1}"/>
              </a:ext>
            </a:extLst>
          </p:cNvPr>
          <p:cNvSpPr/>
          <p:nvPr/>
        </p:nvSpPr>
        <p:spPr>
          <a:xfrm>
            <a:off x="495299" y="3647551"/>
            <a:ext cx="1915297" cy="1421841"/>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E08AF9-4956-4CDD-9856-51DAE4784F10}"/>
              </a:ext>
            </a:extLst>
          </p:cNvPr>
          <p:cNvSpPr txBox="1"/>
          <p:nvPr/>
        </p:nvSpPr>
        <p:spPr>
          <a:xfrm>
            <a:off x="692917" y="5431133"/>
            <a:ext cx="1822102" cy="646331"/>
          </a:xfrm>
          <a:prstGeom prst="rect">
            <a:avLst/>
          </a:prstGeom>
          <a:noFill/>
        </p:spPr>
        <p:txBody>
          <a:bodyPr wrap="square" rtlCol="0">
            <a:spAutoFit/>
          </a:bodyPr>
          <a:lstStyle/>
          <a:p>
            <a:r>
              <a:rPr lang="en-US" dirty="0"/>
              <a:t>500 gallons @ $1/g = $500</a:t>
            </a:r>
          </a:p>
        </p:txBody>
      </p:sp>
      <p:sp>
        <p:nvSpPr>
          <p:cNvPr id="9" name="TextBox 8">
            <a:extLst>
              <a:ext uri="{FF2B5EF4-FFF2-40B4-BE49-F238E27FC236}">
                <a16:creationId xmlns:a16="http://schemas.microsoft.com/office/drawing/2014/main" id="{CCBD05D0-767D-4496-9EC9-614765AFB5E8}"/>
              </a:ext>
            </a:extLst>
          </p:cNvPr>
          <p:cNvSpPr txBox="1"/>
          <p:nvPr/>
        </p:nvSpPr>
        <p:spPr>
          <a:xfrm>
            <a:off x="692917" y="4185364"/>
            <a:ext cx="1822102" cy="646331"/>
          </a:xfrm>
          <a:prstGeom prst="rect">
            <a:avLst/>
          </a:prstGeom>
          <a:noFill/>
        </p:spPr>
        <p:txBody>
          <a:bodyPr wrap="square" rtlCol="0">
            <a:spAutoFit/>
          </a:bodyPr>
          <a:lstStyle/>
          <a:p>
            <a:r>
              <a:rPr lang="en-US" dirty="0"/>
              <a:t>300 gallons @ $1.5/g = $450</a:t>
            </a:r>
          </a:p>
        </p:txBody>
      </p:sp>
      <p:sp>
        <p:nvSpPr>
          <p:cNvPr id="4" name="Arrow: Right 3">
            <a:extLst>
              <a:ext uri="{FF2B5EF4-FFF2-40B4-BE49-F238E27FC236}">
                <a16:creationId xmlns:a16="http://schemas.microsoft.com/office/drawing/2014/main" id="{62C80CF0-7393-4E4E-951B-CDB7C627B5F3}"/>
              </a:ext>
            </a:extLst>
          </p:cNvPr>
          <p:cNvSpPr/>
          <p:nvPr/>
        </p:nvSpPr>
        <p:spPr>
          <a:xfrm>
            <a:off x="2908300" y="4978400"/>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C44460-F557-409D-BC38-3688C826B464}"/>
              </a:ext>
            </a:extLst>
          </p:cNvPr>
          <p:cNvSpPr txBox="1"/>
          <p:nvPr/>
        </p:nvSpPr>
        <p:spPr>
          <a:xfrm>
            <a:off x="3108280" y="4700060"/>
            <a:ext cx="1822102" cy="369332"/>
          </a:xfrm>
          <a:prstGeom prst="rect">
            <a:avLst/>
          </a:prstGeom>
          <a:noFill/>
        </p:spPr>
        <p:txBody>
          <a:bodyPr wrap="square" rtlCol="0">
            <a:spAutoFit/>
          </a:bodyPr>
          <a:lstStyle/>
          <a:p>
            <a:r>
              <a:rPr lang="en-US" b="1" dirty="0"/>
              <a:t>Sell</a:t>
            </a:r>
          </a:p>
        </p:txBody>
      </p:sp>
      <p:sp>
        <p:nvSpPr>
          <p:cNvPr id="15" name="Cylinder 14">
            <a:extLst>
              <a:ext uri="{FF2B5EF4-FFF2-40B4-BE49-F238E27FC236}">
                <a16:creationId xmlns:a16="http://schemas.microsoft.com/office/drawing/2014/main" id="{B70449DA-FC67-4A8A-B0A1-78D6CA2CEE67}"/>
              </a:ext>
            </a:extLst>
          </p:cNvPr>
          <p:cNvSpPr/>
          <p:nvPr/>
        </p:nvSpPr>
        <p:spPr>
          <a:xfrm>
            <a:off x="4565994" y="4755357"/>
            <a:ext cx="1915297" cy="898818"/>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168121-DEBF-4822-BBDA-F0ADC0A007BA}"/>
              </a:ext>
            </a:extLst>
          </p:cNvPr>
          <p:cNvSpPr txBox="1"/>
          <p:nvPr/>
        </p:nvSpPr>
        <p:spPr>
          <a:xfrm>
            <a:off x="4758861" y="4974826"/>
            <a:ext cx="1822102" cy="646331"/>
          </a:xfrm>
          <a:prstGeom prst="rect">
            <a:avLst/>
          </a:prstGeom>
          <a:noFill/>
        </p:spPr>
        <p:txBody>
          <a:bodyPr wrap="square" rtlCol="0">
            <a:spAutoFit/>
          </a:bodyPr>
          <a:lstStyle/>
          <a:p>
            <a:r>
              <a:rPr lang="en-US" dirty="0"/>
              <a:t>200 gallons @ $1.5/g = $300</a:t>
            </a:r>
          </a:p>
        </p:txBody>
      </p:sp>
      <p:sp>
        <p:nvSpPr>
          <p:cNvPr id="21" name="TextBox 20">
            <a:extLst>
              <a:ext uri="{FF2B5EF4-FFF2-40B4-BE49-F238E27FC236}">
                <a16:creationId xmlns:a16="http://schemas.microsoft.com/office/drawing/2014/main" id="{4B446360-55F0-4A46-8FF7-AD6ADA78E7EB}"/>
              </a:ext>
            </a:extLst>
          </p:cNvPr>
          <p:cNvSpPr txBox="1"/>
          <p:nvPr/>
        </p:nvSpPr>
        <p:spPr>
          <a:xfrm>
            <a:off x="4319119" y="4139197"/>
            <a:ext cx="2771742" cy="369332"/>
          </a:xfrm>
          <a:prstGeom prst="rect">
            <a:avLst/>
          </a:prstGeom>
          <a:noFill/>
        </p:spPr>
        <p:txBody>
          <a:bodyPr wrap="square" rtlCol="0">
            <a:spAutoFit/>
          </a:bodyPr>
          <a:lstStyle/>
          <a:p>
            <a:r>
              <a:rPr lang="en-US" b="1" u="sng" dirty="0">
                <a:solidFill>
                  <a:srgbClr val="FF0000"/>
                </a:solidFill>
              </a:rPr>
              <a:t>Last In-First Out (LIFO)</a:t>
            </a:r>
          </a:p>
        </p:txBody>
      </p:sp>
      <p:sp>
        <p:nvSpPr>
          <p:cNvPr id="23" name="Arrow: Right 22">
            <a:extLst>
              <a:ext uri="{FF2B5EF4-FFF2-40B4-BE49-F238E27FC236}">
                <a16:creationId xmlns:a16="http://schemas.microsoft.com/office/drawing/2014/main" id="{D3D779F4-DBB8-4E78-8F6C-527D0168BBA2}"/>
              </a:ext>
            </a:extLst>
          </p:cNvPr>
          <p:cNvSpPr/>
          <p:nvPr/>
        </p:nvSpPr>
        <p:spPr>
          <a:xfrm>
            <a:off x="6923864" y="4952835"/>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1F3BB6E-39A2-4619-B623-0743AF92FFBA}"/>
              </a:ext>
            </a:extLst>
          </p:cNvPr>
          <p:cNvSpPr txBox="1"/>
          <p:nvPr/>
        </p:nvSpPr>
        <p:spPr>
          <a:xfrm>
            <a:off x="6626574" y="4376894"/>
            <a:ext cx="1822102" cy="646331"/>
          </a:xfrm>
          <a:prstGeom prst="rect">
            <a:avLst/>
          </a:prstGeom>
          <a:noFill/>
        </p:spPr>
        <p:txBody>
          <a:bodyPr wrap="square" rtlCol="0">
            <a:spAutoFit/>
          </a:bodyPr>
          <a:lstStyle/>
          <a:p>
            <a:pPr algn="ctr"/>
            <a:r>
              <a:rPr lang="en-US" b="1" dirty="0"/>
              <a:t>Ending Inventory</a:t>
            </a:r>
          </a:p>
        </p:txBody>
      </p:sp>
      <p:sp>
        <p:nvSpPr>
          <p:cNvPr id="27" name="Cylinder 26">
            <a:extLst>
              <a:ext uri="{FF2B5EF4-FFF2-40B4-BE49-F238E27FC236}">
                <a16:creationId xmlns:a16="http://schemas.microsoft.com/office/drawing/2014/main" id="{8072B843-D546-4CC7-8D1C-27ED1ED2C81B}"/>
              </a:ext>
            </a:extLst>
          </p:cNvPr>
          <p:cNvSpPr/>
          <p:nvPr/>
        </p:nvSpPr>
        <p:spPr>
          <a:xfrm>
            <a:off x="8562742" y="4596714"/>
            <a:ext cx="1915297" cy="210888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ylinder 27">
            <a:extLst>
              <a:ext uri="{FF2B5EF4-FFF2-40B4-BE49-F238E27FC236}">
                <a16:creationId xmlns:a16="http://schemas.microsoft.com/office/drawing/2014/main" id="{F7F2965F-23EA-457B-A7B8-511CAACAA71D}"/>
              </a:ext>
            </a:extLst>
          </p:cNvPr>
          <p:cNvSpPr/>
          <p:nvPr/>
        </p:nvSpPr>
        <p:spPr>
          <a:xfrm>
            <a:off x="8562742" y="4358470"/>
            <a:ext cx="1915297" cy="724623"/>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F3D6DCD-F48C-415B-ADA3-E814097FAE49}"/>
              </a:ext>
            </a:extLst>
          </p:cNvPr>
          <p:cNvSpPr txBox="1"/>
          <p:nvPr/>
        </p:nvSpPr>
        <p:spPr>
          <a:xfrm>
            <a:off x="8760360" y="5431133"/>
            <a:ext cx="1822102" cy="646331"/>
          </a:xfrm>
          <a:prstGeom prst="rect">
            <a:avLst/>
          </a:prstGeom>
          <a:noFill/>
        </p:spPr>
        <p:txBody>
          <a:bodyPr wrap="square" rtlCol="0">
            <a:spAutoFit/>
          </a:bodyPr>
          <a:lstStyle/>
          <a:p>
            <a:r>
              <a:rPr lang="en-US" dirty="0"/>
              <a:t>500 gallons @ $1/g = $500</a:t>
            </a:r>
          </a:p>
        </p:txBody>
      </p:sp>
      <p:sp>
        <p:nvSpPr>
          <p:cNvPr id="30" name="TextBox 29">
            <a:extLst>
              <a:ext uri="{FF2B5EF4-FFF2-40B4-BE49-F238E27FC236}">
                <a16:creationId xmlns:a16="http://schemas.microsoft.com/office/drawing/2014/main" id="{70EA0828-E0C9-49D6-BA0A-D80144CBD349}"/>
              </a:ext>
            </a:extLst>
          </p:cNvPr>
          <p:cNvSpPr txBox="1"/>
          <p:nvPr/>
        </p:nvSpPr>
        <p:spPr>
          <a:xfrm>
            <a:off x="8718665" y="4475907"/>
            <a:ext cx="1822102" cy="646331"/>
          </a:xfrm>
          <a:prstGeom prst="rect">
            <a:avLst/>
          </a:prstGeom>
          <a:noFill/>
        </p:spPr>
        <p:txBody>
          <a:bodyPr wrap="square" rtlCol="0">
            <a:spAutoFit/>
          </a:bodyPr>
          <a:lstStyle/>
          <a:p>
            <a:r>
              <a:rPr lang="en-US" dirty="0"/>
              <a:t>100 gallons @ $1.5/g = $150</a:t>
            </a:r>
          </a:p>
        </p:txBody>
      </p:sp>
    </p:spTree>
    <p:extLst>
      <p:ext uri="{BB962C8B-B14F-4D97-AF65-F5344CB8AC3E}">
        <p14:creationId xmlns:p14="http://schemas.microsoft.com/office/powerpoint/2010/main" val="383736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7" grpId="0" animBg="1"/>
      <p:bldP spid="28" grpId="0" animBg="1"/>
      <p:bldP spid="29" grpId="0"/>
      <p:bldP spid="3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838200" y="433389"/>
            <a:ext cx="9588501" cy="839787"/>
          </a:xfrm>
        </p:spPr>
        <p:txBody>
          <a:bodyPr>
            <a:normAutofit fontScale="90000"/>
          </a:bodyPr>
          <a:lstStyle/>
          <a:p>
            <a:pPr>
              <a:defRPr/>
            </a:pPr>
            <a:r>
              <a:rPr lang="en-US" sz="2800" dirty="0"/>
              <a:t>Inventory:  The need to make cost-flow assumptions</a:t>
            </a:r>
          </a:p>
        </p:txBody>
      </p:sp>
      <p:sp>
        <p:nvSpPr>
          <p:cNvPr id="35843" name="Content Placeholder 1"/>
          <p:cNvSpPr>
            <a:spLocks noGrp="1"/>
          </p:cNvSpPr>
          <p:nvPr>
            <p:ph idx="1"/>
          </p:nvPr>
        </p:nvSpPr>
        <p:spPr>
          <a:xfrm>
            <a:off x="838200" y="1426867"/>
            <a:ext cx="8265607" cy="4821534"/>
          </a:xfrm>
        </p:spPr>
        <p:txBody>
          <a:bodyPr>
            <a:normAutofit/>
          </a:bodyPr>
          <a:lstStyle/>
          <a:p>
            <a:pPr marL="0" indent="0">
              <a:buNone/>
              <a:defRPr/>
            </a:pPr>
            <a:r>
              <a:rPr lang="en-US" altLang="en-US" sz="2400" b="1" u="sng" dirty="0">
                <a:solidFill>
                  <a:srgbClr val="000000"/>
                </a:solidFill>
                <a:latin typeface="Times New Roman" panose="02020603050405020304" pitchFamily="18" charset="0"/>
              </a:rPr>
              <a:t>New gas station begins operations</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1:  Buy </a:t>
            </a:r>
            <a:r>
              <a:rPr lang="en-US" altLang="en-US" b="1" dirty="0">
                <a:solidFill>
                  <a:srgbClr val="C00000"/>
                </a:solidFill>
                <a:latin typeface="Times New Roman" panose="02020603050405020304" pitchFamily="18" charset="0"/>
              </a:rPr>
              <a:t>500</a:t>
            </a:r>
            <a:r>
              <a:rPr lang="en-US" altLang="en-US"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@$1</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2:  Buy </a:t>
            </a:r>
            <a:r>
              <a:rPr lang="en-US" altLang="en-US" b="1" dirty="0">
                <a:solidFill>
                  <a:srgbClr val="C00000"/>
                </a:solidFill>
                <a:latin typeface="Times New Roman" panose="02020603050405020304" pitchFamily="18" charset="0"/>
              </a:rPr>
              <a:t>300</a:t>
            </a:r>
            <a:r>
              <a:rPr lang="en-US" altLang="en-US" dirty="0">
                <a:solidFill>
                  <a:srgbClr val="C00000"/>
                </a:solidFill>
                <a:latin typeface="Times New Roman" panose="02020603050405020304" pitchFamily="18" charset="0"/>
              </a:rPr>
              <a:t> </a:t>
            </a:r>
            <a:r>
              <a:rPr lang="en-US" altLang="en-US" dirty="0">
                <a:solidFill>
                  <a:srgbClr val="000000"/>
                </a:solidFill>
                <a:latin typeface="Times New Roman" panose="02020603050405020304" pitchFamily="18" charset="0"/>
              </a:rPr>
              <a:t>gallons of gas </a:t>
            </a:r>
            <a:r>
              <a:rPr lang="en-US" altLang="en-US" b="1" dirty="0">
                <a:solidFill>
                  <a:srgbClr val="0070C0"/>
                </a:solidFill>
                <a:latin typeface="Times New Roman" panose="02020603050405020304" pitchFamily="18" charset="0"/>
              </a:rPr>
              <a:t>@$1.50</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b="1" dirty="0">
                <a:solidFill>
                  <a:srgbClr val="000000"/>
                </a:solidFill>
                <a:latin typeface="Times New Roman" panose="02020603050405020304" pitchFamily="18" charset="0"/>
              </a:rPr>
              <a:t>Day 3:  Sell </a:t>
            </a:r>
            <a:r>
              <a:rPr lang="en-US" altLang="en-US" b="1" dirty="0">
                <a:solidFill>
                  <a:srgbClr val="C00000"/>
                </a:solidFill>
                <a:latin typeface="Times New Roman" panose="02020603050405020304" pitchFamily="18" charset="0"/>
              </a:rPr>
              <a:t>200</a:t>
            </a:r>
            <a:r>
              <a:rPr lang="en-US" altLang="en-US" b="1"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@$2</a:t>
            </a:r>
            <a:r>
              <a:rPr lang="en-US" altLang="en-US" b="1"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endParaRPr lang="en-US" altLang="en-US" dirty="0">
              <a:solidFill>
                <a:srgbClr val="000000"/>
              </a:solidFill>
              <a:latin typeface="Times New Roman" panose="02020603050405020304" pitchFamily="18" charset="0"/>
            </a:endParaRPr>
          </a:p>
        </p:txBody>
      </p:sp>
      <p:pic>
        <p:nvPicPr>
          <p:cNvPr id="3074" name="Picture 2" descr="National Tank Truck Carriers Seeks Five-Year Exemption From Rest ...">
            <a:extLst>
              <a:ext uri="{FF2B5EF4-FFF2-40B4-BE49-F238E27FC236}">
                <a16:creationId xmlns:a16="http://schemas.microsoft.com/office/drawing/2014/main" id="{8F8BA87C-8B27-49B9-9856-C8102A7CB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441" y="1455266"/>
            <a:ext cx="3535046" cy="1973734"/>
          </a:xfrm>
          <a:prstGeom prst="rect">
            <a:avLst/>
          </a:prstGeom>
          <a:noFill/>
          <a:extLst>
            <a:ext uri="{909E8E84-426E-40DD-AFC4-6F175D3DCCD1}">
              <a14:hiddenFill xmlns:a14="http://schemas.microsoft.com/office/drawing/2010/main">
                <a:solidFill>
                  <a:srgbClr val="FFFFFF"/>
                </a:solidFill>
              </a14:hiddenFill>
            </a:ext>
          </a:extLst>
        </p:spPr>
      </p:pic>
      <p:sp>
        <p:nvSpPr>
          <p:cNvPr id="2" name="Cylinder 1">
            <a:extLst>
              <a:ext uri="{FF2B5EF4-FFF2-40B4-BE49-F238E27FC236}">
                <a16:creationId xmlns:a16="http://schemas.microsoft.com/office/drawing/2014/main" id="{9AF29957-369D-48BA-AC8C-940F109E56D3}"/>
              </a:ext>
            </a:extLst>
          </p:cNvPr>
          <p:cNvSpPr/>
          <p:nvPr/>
        </p:nvSpPr>
        <p:spPr>
          <a:xfrm>
            <a:off x="495299" y="4596714"/>
            <a:ext cx="1915297" cy="210888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ylinder 6">
            <a:extLst>
              <a:ext uri="{FF2B5EF4-FFF2-40B4-BE49-F238E27FC236}">
                <a16:creationId xmlns:a16="http://schemas.microsoft.com/office/drawing/2014/main" id="{A2A7C353-F691-4B7F-8C42-63C766C71CA1}"/>
              </a:ext>
            </a:extLst>
          </p:cNvPr>
          <p:cNvSpPr/>
          <p:nvPr/>
        </p:nvSpPr>
        <p:spPr>
          <a:xfrm>
            <a:off x="495299" y="3647551"/>
            <a:ext cx="1915297" cy="1421841"/>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E08AF9-4956-4CDD-9856-51DAE4784F10}"/>
              </a:ext>
            </a:extLst>
          </p:cNvPr>
          <p:cNvSpPr txBox="1"/>
          <p:nvPr/>
        </p:nvSpPr>
        <p:spPr>
          <a:xfrm>
            <a:off x="692917" y="5431133"/>
            <a:ext cx="1822102" cy="646331"/>
          </a:xfrm>
          <a:prstGeom prst="rect">
            <a:avLst/>
          </a:prstGeom>
          <a:noFill/>
        </p:spPr>
        <p:txBody>
          <a:bodyPr wrap="square" rtlCol="0">
            <a:spAutoFit/>
          </a:bodyPr>
          <a:lstStyle/>
          <a:p>
            <a:r>
              <a:rPr lang="en-US" dirty="0"/>
              <a:t>500 gallons @ $1/g = $500</a:t>
            </a:r>
          </a:p>
        </p:txBody>
      </p:sp>
      <p:sp>
        <p:nvSpPr>
          <p:cNvPr id="9" name="TextBox 8">
            <a:extLst>
              <a:ext uri="{FF2B5EF4-FFF2-40B4-BE49-F238E27FC236}">
                <a16:creationId xmlns:a16="http://schemas.microsoft.com/office/drawing/2014/main" id="{CCBD05D0-767D-4496-9EC9-614765AFB5E8}"/>
              </a:ext>
            </a:extLst>
          </p:cNvPr>
          <p:cNvSpPr txBox="1"/>
          <p:nvPr/>
        </p:nvSpPr>
        <p:spPr>
          <a:xfrm>
            <a:off x="692917" y="4185364"/>
            <a:ext cx="1822102" cy="646331"/>
          </a:xfrm>
          <a:prstGeom prst="rect">
            <a:avLst/>
          </a:prstGeom>
          <a:noFill/>
        </p:spPr>
        <p:txBody>
          <a:bodyPr wrap="square" rtlCol="0">
            <a:spAutoFit/>
          </a:bodyPr>
          <a:lstStyle/>
          <a:p>
            <a:r>
              <a:rPr lang="en-US" dirty="0"/>
              <a:t>300 gallons @ $1.5/g = $450</a:t>
            </a:r>
          </a:p>
        </p:txBody>
      </p:sp>
      <p:sp>
        <p:nvSpPr>
          <p:cNvPr id="4" name="Arrow: Right 3">
            <a:extLst>
              <a:ext uri="{FF2B5EF4-FFF2-40B4-BE49-F238E27FC236}">
                <a16:creationId xmlns:a16="http://schemas.microsoft.com/office/drawing/2014/main" id="{62C80CF0-7393-4E4E-951B-CDB7C627B5F3}"/>
              </a:ext>
            </a:extLst>
          </p:cNvPr>
          <p:cNvSpPr/>
          <p:nvPr/>
        </p:nvSpPr>
        <p:spPr>
          <a:xfrm>
            <a:off x="2908300" y="4978400"/>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C44460-F557-409D-BC38-3688C826B464}"/>
              </a:ext>
            </a:extLst>
          </p:cNvPr>
          <p:cNvSpPr txBox="1"/>
          <p:nvPr/>
        </p:nvSpPr>
        <p:spPr>
          <a:xfrm>
            <a:off x="3108280" y="4700060"/>
            <a:ext cx="1822102" cy="369332"/>
          </a:xfrm>
          <a:prstGeom prst="rect">
            <a:avLst/>
          </a:prstGeom>
          <a:noFill/>
        </p:spPr>
        <p:txBody>
          <a:bodyPr wrap="square" rtlCol="0">
            <a:spAutoFit/>
          </a:bodyPr>
          <a:lstStyle/>
          <a:p>
            <a:r>
              <a:rPr lang="en-US" b="1" dirty="0"/>
              <a:t>Sell</a:t>
            </a:r>
          </a:p>
        </p:txBody>
      </p:sp>
      <p:sp>
        <p:nvSpPr>
          <p:cNvPr id="15" name="Cylinder 14">
            <a:extLst>
              <a:ext uri="{FF2B5EF4-FFF2-40B4-BE49-F238E27FC236}">
                <a16:creationId xmlns:a16="http://schemas.microsoft.com/office/drawing/2014/main" id="{B70449DA-FC67-4A8A-B0A1-78D6CA2CEE67}"/>
              </a:ext>
            </a:extLst>
          </p:cNvPr>
          <p:cNvSpPr/>
          <p:nvPr/>
        </p:nvSpPr>
        <p:spPr>
          <a:xfrm>
            <a:off x="4565994" y="4755357"/>
            <a:ext cx="1915297" cy="898818"/>
          </a:xfrm>
          <a:prstGeom prst="can">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168121-DEBF-4822-BBDA-F0ADC0A007BA}"/>
              </a:ext>
            </a:extLst>
          </p:cNvPr>
          <p:cNvSpPr txBox="1"/>
          <p:nvPr/>
        </p:nvSpPr>
        <p:spPr>
          <a:xfrm>
            <a:off x="4758861" y="4974826"/>
            <a:ext cx="1822102" cy="646331"/>
          </a:xfrm>
          <a:prstGeom prst="rect">
            <a:avLst/>
          </a:prstGeom>
          <a:noFill/>
        </p:spPr>
        <p:txBody>
          <a:bodyPr wrap="square" rtlCol="0">
            <a:spAutoFit/>
          </a:bodyPr>
          <a:lstStyle/>
          <a:p>
            <a:r>
              <a:rPr lang="en-US" dirty="0"/>
              <a:t>200 gallons @ $1/g = $200</a:t>
            </a:r>
          </a:p>
        </p:txBody>
      </p:sp>
      <p:sp>
        <p:nvSpPr>
          <p:cNvPr id="21" name="TextBox 20">
            <a:extLst>
              <a:ext uri="{FF2B5EF4-FFF2-40B4-BE49-F238E27FC236}">
                <a16:creationId xmlns:a16="http://schemas.microsoft.com/office/drawing/2014/main" id="{4B446360-55F0-4A46-8FF7-AD6ADA78E7EB}"/>
              </a:ext>
            </a:extLst>
          </p:cNvPr>
          <p:cNvSpPr txBox="1"/>
          <p:nvPr/>
        </p:nvSpPr>
        <p:spPr>
          <a:xfrm>
            <a:off x="4319119" y="4139197"/>
            <a:ext cx="2771742" cy="369332"/>
          </a:xfrm>
          <a:prstGeom prst="rect">
            <a:avLst/>
          </a:prstGeom>
          <a:noFill/>
        </p:spPr>
        <p:txBody>
          <a:bodyPr wrap="square" rtlCol="0">
            <a:spAutoFit/>
          </a:bodyPr>
          <a:lstStyle/>
          <a:p>
            <a:r>
              <a:rPr lang="en-US" b="1" u="sng" dirty="0">
                <a:solidFill>
                  <a:srgbClr val="FF0000"/>
                </a:solidFill>
              </a:rPr>
              <a:t>First In-First Out (FIFO)</a:t>
            </a:r>
          </a:p>
        </p:txBody>
      </p:sp>
      <p:sp>
        <p:nvSpPr>
          <p:cNvPr id="23" name="Arrow: Right 22">
            <a:extLst>
              <a:ext uri="{FF2B5EF4-FFF2-40B4-BE49-F238E27FC236}">
                <a16:creationId xmlns:a16="http://schemas.microsoft.com/office/drawing/2014/main" id="{D3D779F4-DBB8-4E78-8F6C-527D0168BBA2}"/>
              </a:ext>
            </a:extLst>
          </p:cNvPr>
          <p:cNvSpPr/>
          <p:nvPr/>
        </p:nvSpPr>
        <p:spPr>
          <a:xfrm>
            <a:off x="6923864" y="4952835"/>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1F3BB6E-39A2-4619-B623-0743AF92FFBA}"/>
              </a:ext>
            </a:extLst>
          </p:cNvPr>
          <p:cNvSpPr txBox="1"/>
          <p:nvPr/>
        </p:nvSpPr>
        <p:spPr>
          <a:xfrm>
            <a:off x="6626574" y="4376894"/>
            <a:ext cx="1822102" cy="646331"/>
          </a:xfrm>
          <a:prstGeom prst="rect">
            <a:avLst/>
          </a:prstGeom>
          <a:noFill/>
        </p:spPr>
        <p:txBody>
          <a:bodyPr wrap="square" rtlCol="0">
            <a:spAutoFit/>
          </a:bodyPr>
          <a:lstStyle/>
          <a:p>
            <a:pPr algn="ctr"/>
            <a:r>
              <a:rPr lang="en-US" b="1" dirty="0"/>
              <a:t>Ending Inventory</a:t>
            </a:r>
          </a:p>
        </p:txBody>
      </p:sp>
      <p:sp>
        <p:nvSpPr>
          <p:cNvPr id="27" name="Cylinder 26">
            <a:extLst>
              <a:ext uri="{FF2B5EF4-FFF2-40B4-BE49-F238E27FC236}">
                <a16:creationId xmlns:a16="http://schemas.microsoft.com/office/drawing/2014/main" id="{8072B843-D546-4CC7-8D1C-27ED1ED2C81B}"/>
              </a:ext>
            </a:extLst>
          </p:cNvPr>
          <p:cNvSpPr/>
          <p:nvPr/>
        </p:nvSpPr>
        <p:spPr>
          <a:xfrm>
            <a:off x="8562742" y="4596714"/>
            <a:ext cx="1915297" cy="148075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ylinder 27">
            <a:extLst>
              <a:ext uri="{FF2B5EF4-FFF2-40B4-BE49-F238E27FC236}">
                <a16:creationId xmlns:a16="http://schemas.microsoft.com/office/drawing/2014/main" id="{F7F2965F-23EA-457B-A7B8-511CAACAA71D}"/>
              </a:ext>
            </a:extLst>
          </p:cNvPr>
          <p:cNvSpPr/>
          <p:nvPr/>
        </p:nvSpPr>
        <p:spPr>
          <a:xfrm>
            <a:off x="8562742" y="3847772"/>
            <a:ext cx="1915297" cy="1235322"/>
          </a:xfrm>
          <a:prstGeom prst="can">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F3D6DCD-F48C-415B-ADA3-E814097FAE49}"/>
              </a:ext>
            </a:extLst>
          </p:cNvPr>
          <p:cNvSpPr txBox="1"/>
          <p:nvPr/>
        </p:nvSpPr>
        <p:spPr>
          <a:xfrm>
            <a:off x="8770003" y="5236785"/>
            <a:ext cx="1822102" cy="646331"/>
          </a:xfrm>
          <a:prstGeom prst="rect">
            <a:avLst/>
          </a:prstGeom>
          <a:noFill/>
        </p:spPr>
        <p:txBody>
          <a:bodyPr wrap="square" rtlCol="0">
            <a:spAutoFit/>
          </a:bodyPr>
          <a:lstStyle/>
          <a:p>
            <a:r>
              <a:rPr lang="en-US" dirty="0"/>
              <a:t>300 gallons @ $1/g = $300</a:t>
            </a:r>
          </a:p>
        </p:txBody>
      </p:sp>
      <p:sp>
        <p:nvSpPr>
          <p:cNvPr id="30" name="TextBox 29">
            <a:extLst>
              <a:ext uri="{FF2B5EF4-FFF2-40B4-BE49-F238E27FC236}">
                <a16:creationId xmlns:a16="http://schemas.microsoft.com/office/drawing/2014/main" id="{70EA0828-E0C9-49D6-BA0A-D80144CBD349}"/>
              </a:ext>
            </a:extLst>
          </p:cNvPr>
          <p:cNvSpPr txBox="1"/>
          <p:nvPr/>
        </p:nvSpPr>
        <p:spPr>
          <a:xfrm>
            <a:off x="8718665" y="4287617"/>
            <a:ext cx="1822102" cy="646331"/>
          </a:xfrm>
          <a:prstGeom prst="rect">
            <a:avLst/>
          </a:prstGeom>
          <a:noFill/>
        </p:spPr>
        <p:txBody>
          <a:bodyPr wrap="square" rtlCol="0">
            <a:spAutoFit/>
          </a:bodyPr>
          <a:lstStyle/>
          <a:p>
            <a:r>
              <a:rPr lang="en-US" dirty="0"/>
              <a:t>300 gallons @ $1.5/g = $450</a:t>
            </a:r>
          </a:p>
        </p:txBody>
      </p:sp>
    </p:spTree>
    <p:extLst>
      <p:ext uri="{BB962C8B-B14F-4D97-AF65-F5344CB8AC3E}">
        <p14:creationId xmlns:p14="http://schemas.microsoft.com/office/powerpoint/2010/main" val="222260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7" grpId="0" animBg="1"/>
      <p:bldP spid="28" grpId="0" animBg="1"/>
      <p:bldP spid="29"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838200" y="433389"/>
            <a:ext cx="9588501" cy="839787"/>
          </a:xfrm>
        </p:spPr>
        <p:txBody>
          <a:bodyPr>
            <a:normAutofit fontScale="90000"/>
          </a:bodyPr>
          <a:lstStyle/>
          <a:p>
            <a:pPr>
              <a:defRPr/>
            </a:pPr>
            <a:r>
              <a:rPr lang="en-US" sz="2800" dirty="0"/>
              <a:t>Inventory:  The need to make cost-flow assumptions</a:t>
            </a:r>
          </a:p>
        </p:txBody>
      </p:sp>
      <p:sp>
        <p:nvSpPr>
          <p:cNvPr id="35843" name="Content Placeholder 1"/>
          <p:cNvSpPr>
            <a:spLocks noGrp="1"/>
          </p:cNvSpPr>
          <p:nvPr>
            <p:ph idx="1"/>
          </p:nvPr>
        </p:nvSpPr>
        <p:spPr>
          <a:xfrm>
            <a:off x="838200" y="1426867"/>
            <a:ext cx="8265607" cy="4821534"/>
          </a:xfrm>
        </p:spPr>
        <p:txBody>
          <a:bodyPr>
            <a:normAutofit/>
          </a:bodyPr>
          <a:lstStyle/>
          <a:p>
            <a:pPr marL="0" indent="0">
              <a:buNone/>
              <a:defRPr/>
            </a:pPr>
            <a:r>
              <a:rPr lang="en-US" altLang="en-US" sz="2400" b="1" u="sng" dirty="0">
                <a:solidFill>
                  <a:srgbClr val="000000"/>
                </a:solidFill>
                <a:latin typeface="Times New Roman" panose="02020603050405020304" pitchFamily="18" charset="0"/>
              </a:rPr>
              <a:t>New gas station begins operations</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1:  Buy </a:t>
            </a:r>
            <a:r>
              <a:rPr lang="en-US" altLang="en-US" b="1" dirty="0">
                <a:solidFill>
                  <a:srgbClr val="C00000"/>
                </a:solidFill>
                <a:latin typeface="Times New Roman" panose="02020603050405020304" pitchFamily="18" charset="0"/>
              </a:rPr>
              <a:t>500</a:t>
            </a:r>
            <a:r>
              <a:rPr lang="en-US" altLang="en-US"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@$1</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dirty="0">
                <a:solidFill>
                  <a:srgbClr val="000000"/>
                </a:solidFill>
                <a:latin typeface="Times New Roman" panose="02020603050405020304" pitchFamily="18" charset="0"/>
              </a:rPr>
              <a:t>Day 2:  Buy </a:t>
            </a:r>
            <a:r>
              <a:rPr lang="en-US" altLang="en-US" b="1" dirty="0">
                <a:solidFill>
                  <a:srgbClr val="C00000"/>
                </a:solidFill>
                <a:latin typeface="Times New Roman" panose="02020603050405020304" pitchFamily="18" charset="0"/>
              </a:rPr>
              <a:t>300</a:t>
            </a:r>
            <a:r>
              <a:rPr lang="en-US" altLang="en-US" dirty="0">
                <a:solidFill>
                  <a:srgbClr val="C00000"/>
                </a:solidFill>
                <a:latin typeface="Times New Roman" panose="02020603050405020304" pitchFamily="18" charset="0"/>
              </a:rPr>
              <a:t> </a:t>
            </a:r>
            <a:r>
              <a:rPr lang="en-US" altLang="en-US" dirty="0">
                <a:solidFill>
                  <a:srgbClr val="000000"/>
                </a:solidFill>
                <a:latin typeface="Times New Roman" panose="02020603050405020304" pitchFamily="18" charset="0"/>
              </a:rPr>
              <a:t>gallons of gas </a:t>
            </a:r>
            <a:r>
              <a:rPr lang="en-US" altLang="en-US" b="1" dirty="0">
                <a:solidFill>
                  <a:srgbClr val="0070C0"/>
                </a:solidFill>
                <a:latin typeface="Times New Roman" panose="02020603050405020304" pitchFamily="18" charset="0"/>
              </a:rPr>
              <a:t>@$1.50</a:t>
            </a:r>
            <a:r>
              <a:rPr lang="en-US" altLang="en-US"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r>
              <a:rPr lang="en-US" altLang="en-US" b="1" dirty="0">
                <a:solidFill>
                  <a:srgbClr val="000000"/>
                </a:solidFill>
                <a:latin typeface="Times New Roman" panose="02020603050405020304" pitchFamily="18" charset="0"/>
              </a:rPr>
              <a:t>Day 3:  Sell </a:t>
            </a:r>
            <a:r>
              <a:rPr lang="en-US" altLang="en-US" b="1" dirty="0">
                <a:solidFill>
                  <a:srgbClr val="C00000"/>
                </a:solidFill>
                <a:latin typeface="Times New Roman" panose="02020603050405020304" pitchFamily="18" charset="0"/>
              </a:rPr>
              <a:t>200</a:t>
            </a:r>
            <a:r>
              <a:rPr lang="en-US" altLang="en-US" b="1" dirty="0">
                <a:solidFill>
                  <a:srgbClr val="000000"/>
                </a:solidFill>
                <a:latin typeface="Times New Roman" panose="02020603050405020304" pitchFamily="18" charset="0"/>
              </a:rPr>
              <a:t> gallons of gas </a:t>
            </a:r>
            <a:r>
              <a:rPr lang="en-US" altLang="en-US" b="1" dirty="0">
                <a:solidFill>
                  <a:srgbClr val="0070C0"/>
                </a:solidFill>
                <a:latin typeface="Times New Roman" panose="02020603050405020304" pitchFamily="18" charset="0"/>
              </a:rPr>
              <a:t>@$2</a:t>
            </a:r>
            <a:r>
              <a:rPr lang="en-US" altLang="en-US" b="1" dirty="0">
                <a:solidFill>
                  <a:srgbClr val="000000"/>
                </a:solidFill>
                <a:latin typeface="Times New Roman" panose="02020603050405020304" pitchFamily="18" charset="0"/>
              </a:rPr>
              <a:t>/gallon</a:t>
            </a:r>
          </a:p>
          <a:p>
            <a:pPr lvl="1">
              <a:buSzPct val="50000"/>
              <a:buFont typeface="Wingdings" panose="05000000000000000000" pitchFamily="2" charset="2"/>
              <a:buChar char="m"/>
              <a:defRPr/>
            </a:pPr>
            <a:endParaRPr lang="en-US" altLang="en-US" dirty="0">
              <a:solidFill>
                <a:srgbClr val="000000"/>
              </a:solidFill>
              <a:latin typeface="Times New Roman" panose="02020603050405020304" pitchFamily="18" charset="0"/>
            </a:endParaRPr>
          </a:p>
        </p:txBody>
      </p:sp>
      <p:pic>
        <p:nvPicPr>
          <p:cNvPr id="3074" name="Picture 2" descr="National Tank Truck Carriers Seeks Five-Year Exemption From Rest ...">
            <a:extLst>
              <a:ext uri="{FF2B5EF4-FFF2-40B4-BE49-F238E27FC236}">
                <a16:creationId xmlns:a16="http://schemas.microsoft.com/office/drawing/2014/main" id="{8F8BA87C-8B27-49B9-9856-C8102A7CB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2441" y="1455266"/>
            <a:ext cx="3535046" cy="1973734"/>
          </a:xfrm>
          <a:prstGeom prst="rect">
            <a:avLst/>
          </a:prstGeom>
          <a:noFill/>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62C80CF0-7393-4E4E-951B-CDB7C627B5F3}"/>
              </a:ext>
            </a:extLst>
          </p:cNvPr>
          <p:cNvSpPr/>
          <p:nvPr/>
        </p:nvSpPr>
        <p:spPr>
          <a:xfrm>
            <a:off x="2908300" y="4978400"/>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C44460-F557-409D-BC38-3688C826B464}"/>
              </a:ext>
            </a:extLst>
          </p:cNvPr>
          <p:cNvSpPr txBox="1"/>
          <p:nvPr/>
        </p:nvSpPr>
        <p:spPr>
          <a:xfrm>
            <a:off x="3108280" y="4700060"/>
            <a:ext cx="1822102" cy="369332"/>
          </a:xfrm>
          <a:prstGeom prst="rect">
            <a:avLst/>
          </a:prstGeom>
          <a:noFill/>
        </p:spPr>
        <p:txBody>
          <a:bodyPr wrap="square" rtlCol="0">
            <a:spAutoFit/>
          </a:bodyPr>
          <a:lstStyle/>
          <a:p>
            <a:r>
              <a:rPr lang="en-US" b="1" dirty="0"/>
              <a:t>Sell</a:t>
            </a:r>
          </a:p>
        </p:txBody>
      </p:sp>
      <p:sp>
        <p:nvSpPr>
          <p:cNvPr id="15" name="Cylinder 14">
            <a:extLst>
              <a:ext uri="{FF2B5EF4-FFF2-40B4-BE49-F238E27FC236}">
                <a16:creationId xmlns:a16="http://schemas.microsoft.com/office/drawing/2014/main" id="{B70449DA-FC67-4A8A-B0A1-78D6CA2CEE67}"/>
              </a:ext>
            </a:extLst>
          </p:cNvPr>
          <p:cNvSpPr/>
          <p:nvPr/>
        </p:nvSpPr>
        <p:spPr>
          <a:xfrm>
            <a:off x="4565994" y="4755357"/>
            <a:ext cx="1915297" cy="898818"/>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168121-DEBF-4822-BBDA-F0ADC0A007BA}"/>
              </a:ext>
            </a:extLst>
          </p:cNvPr>
          <p:cNvSpPr txBox="1"/>
          <p:nvPr/>
        </p:nvSpPr>
        <p:spPr>
          <a:xfrm>
            <a:off x="4758861" y="4974826"/>
            <a:ext cx="1822102" cy="646331"/>
          </a:xfrm>
          <a:prstGeom prst="rect">
            <a:avLst/>
          </a:prstGeom>
          <a:noFill/>
        </p:spPr>
        <p:txBody>
          <a:bodyPr wrap="square" rtlCol="0">
            <a:spAutoFit/>
          </a:bodyPr>
          <a:lstStyle/>
          <a:p>
            <a:r>
              <a:rPr lang="en-US" dirty="0"/>
              <a:t>200 gallons @ $1.19/g = $238</a:t>
            </a:r>
          </a:p>
        </p:txBody>
      </p:sp>
      <p:sp>
        <p:nvSpPr>
          <p:cNvPr id="21" name="TextBox 20">
            <a:extLst>
              <a:ext uri="{FF2B5EF4-FFF2-40B4-BE49-F238E27FC236}">
                <a16:creationId xmlns:a16="http://schemas.microsoft.com/office/drawing/2014/main" id="{4B446360-55F0-4A46-8FF7-AD6ADA78E7EB}"/>
              </a:ext>
            </a:extLst>
          </p:cNvPr>
          <p:cNvSpPr txBox="1"/>
          <p:nvPr/>
        </p:nvSpPr>
        <p:spPr>
          <a:xfrm>
            <a:off x="4653191" y="4139197"/>
            <a:ext cx="2771742" cy="369332"/>
          </a:xfrm>
          <a:prstGeom prst="rect">
            <a:avLst/>
          </a:prstGeom>
          <a:noFill/>
        </p:spPr>
        <p:txBody>
          <a:bodyPr wrap="square" rtlCol="0">
            <a:spAutoFit/>
          </a:bodyPr>
          <a:lstStyle/>
          <a:p>
            <a:r>
              <a:rPr lang="en-US" b="1" u="sng" dirty="0">
                <a:solidFill>
                  <a:srgbClr val="FF0000"/>
                </a:solidFill>
              </a:rPr>
              <a:t>Average Cost</a:t>
            </a:r>
          </a:p>
        </p:txBody>
      </p:sp>
      <p:sp>
        <p:nvSpPr>
          <p:cNvPr id="23" name="Arrow: Right 22">
            <a:extLst>
              <a:ext uri="{FF2B5EF4-FFF2-40B4-BE49-F238E27FC236}">
                <a16:creationId xmlns:a16="http://schemas.microsoft.com/office/drawing/2014/main" id="{D3D779F4-DBB8-4E78-8F6C-527D0168BBA2}"/>
              </a:ext>
            </a:extLst>
          </p:cNvPr>
          <p:cNvSpPr/>
          <p:nvPr/>
        </p:nvSpPr>
        <p:spPr>
          <a:xfrm>
            <a:off x="6923864" y="4952835"/>
            <a:ext cx="1257300" cy="452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1F3BB6E-39A2-4619-B623-0743AF92FFBA}"/>
              </a:ext>
            </a:extLst>
          </p:cNvPr>
          <p:cNvSpPr txBox="1"/>
          <p:nvPr/>
        </p:nvSpPr>
        <p:spPr>
          <a:xfrm>
            <a:off x="6626574" y="4376894"/>
            <a:ext cx="1822102" cy="646331"/>
          </a:xfrm>
          <a:prstGeom prst="rect">
            <a:avLst/>
          </a:prstGeom>
          <a:noFill/>
        </p:spPr>
        <p:txBody>
          <a:bodyPr wrap="square" rtlCol="0">
            <a:spAutoFit/>
          </a:bodyPr>
          <a:lstStyle/>
          <a:p>
            <a:pPr algn="ctr"/>
            <a:r>
              <a:rPr lang="en-US" b="1" dirty="0"/>
              <a:t>Ending Inventory</a:t>
            </a:r>
          </a:p>
        </p:txBody>
      </p:sp>
      <p:sp>
        <p:nvSpPr>
          <p:cNvPr id="20" name="Cylinder 19">
            <a:extLst>
              <a:ext uri="{FF2B5EF4-FFF2-40B4-BE49-F238E27FC236}">
                <a16:creationId xmlns:a16="http://schemas.microsoft.com/office/drawing/2014/main" id="{B2A140DE-1CDC-49C9-A19B-3C6C65964E76}"/>
              </a:ext>
            </a:extLst>
          </p:cNvPr>
          <p:cNvSpPr/>
          <p:nvPr/>
        </p:nvSpPr>
        <p:spPr>
          <a:xfrm>
            <a:off x="569246" y="3570560"/>
            <a:ext cx="1915297" cy="3060188"/>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82795A1-B679-4AAA-82B4-FC6636882B11}"/>
              </a:ext>
            </a:extLst>
          </p:cNvPr>
          <p:cNvSpPr txBox="1"/>
          <p:nvPr/>
        </p:nvSpPr>
        <p:spPr>
          <a:xfrm>
            <a:off x="734164" y="4753327"/>
            <a:ext cx="1822102" cy="646331"/>
          </a:xfrm>
          <a:prstGeom prst="rect">
            <a:avLst/>
          </a:prstGeom>
          <a:noFill/>
        </p:spPr>
        <p:txBody>
          <a:bodyPr wrap="square" rtlCol="0">
            <a:spAutoFit/>
          </a:bodyPr>
          <a:lstStyle/>
          <a:p>
            <a:r>
              <a:rPr lang="en-US" dirty="0"/>
              <a:t>800 gallons @ $1.19/g = $950</a:t>
            </a:r>
          </a:p>
        </p:txBody>
      </p:sp>
      <p:sp>
        <p:nvSpPr>
          <p:cNvPr id="25" name="Cylinder 24">
            <a:extLst>
              <a:ext uri="{FF2B5EF4-FFF2-40B4-BE49-F238E27FC236}">
                <a16:creationId xmlns:a16="http://schemas.microsoft.com/office/drawing/2014/main" id="{797C10D3-7D00-4B69-8F28-A5E371669DD5}"/>
              </a:ext>
            </a:extLst>
          </p:cNvPr>
          <p:cNvSpPr/>
          <p:nvPr/>
        </p:nvSpPr>
        <p:spPr>
          <a:xfrm>
            <a:off x="8678836" y="4128117"/>
            <a:ext cx="1915297" cy="2274619"/>
          </a:xfrm>
          <a:prstGeom prst="can">
            <a:avLst/>
          </a:prstGeom>
          <a:solidFill>
            <a:srgbClr val="9448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AC0CE4E-2076-4937-A081-E26105E7837B}"/>
              </a:ext>
            </a:extLst>
          </p:cNvPr>
          <p:cNvSpPr txBox="1"/>
          <p:nvPr/>
        </p:nvSpPr>
        <p:spPr>
          <a:xfrm>
            <a:off x="8843754" y="4950598"/>
            <a:ext cx="1822102" cy="646331"/>
          </a:xfrm>
          <a:prstGeom prst="rect">
            <a:avLst/>
          </a:prstGeom>
          <a:noFill/>
        </p:spPr>
        <p:txBody>
          <a:bodyPr wrap="square" rtlCol="0">
            <a:spAutoFit/>
          </a:bodyPr>
          <a:lstStyle/>
          <a:p>
            <a:r>
              <a:rPr lang="en-US" dirty="0"/>
              <a:t>600 gallons @ $1.19/g = $714</a:t>
            </a:r>
          </a:p>
        </p:txBody>
      </p:sp>
    </p:spTree>
    <p:extLst>
      <p:ext uri="{BB962C8B-B14F-4D97-AF65-F5344CB8AC3E}">
        <p14:creationId xmlns:p14="http://schemas.microsoft.com/office/powerpoint/2010/main" val="787458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Picking an inventory cost-flow method</a:t>
            </a:r>
            <a:endParaRPr lang="en-US" sz="4000" dirty="0"/>
          </a:p>
        </p:txBody>
      </p:sp>
      <p:sp>
        <p:nvSpPr>
          <p:cNvPr id="3" name="Content Placeholder 2"/>
          <p:cNvSpPr>
            <a:spLocks noGrp="1"/>
          </p:cNvSpPr>
          <p:nvPr>
            <p:ph idx="1"/>
          </p:nvPr>
        </p:nvSpPr>
        <p:spPr>
          <a:xfrm>
            <a:off x="838200" y="1450331"/>
            <a:ext cx="10515600" cy="3957337"/>
          </a:xfrm>
        </p:spPr>
        <p:txBody>
          <a:bodyPr/>
          <a:lstStyle/>
          <a:p>
            <a:pPr marL="0" indent="0">
              <a:lnSpc>
                <a:spcPct val="100000"/>
              </a:lnSpc>
              <a:spcAft>
                <a:spcPts val="600"/>
              </a:spcAft>
              <a:buNone/>
            </a:pPr>
            <a:r>
              <a:rPr lang="en-US" u="sng" dirty="0"/>
              <a:t>A new gas station begins operations</a:t>
            </a:r>
            <a:endParaRPr lang="en-US" dirty="0"/>
          </a:p>
          <a:p>
            <a:pPr lvl="1">
              <a:lnSpc>
                <a:spcPct val="100000"/>
              </a:lnSpc>
              <a:spcAft>
                <a:spcPts val="600"/>
              </a:spcAft>
            </a:pPr>
            <a:r>
              <a:rPr lang="en-US" dirty="0"/>
              <a:t>Day 1: Buy 500 gallons of gas @ $1.00/gallon</a:t>
            </a:r>
          </a:p>
          <a:p>
            <a:pPr lvl="1">
              <a:lnSpc>
                <a:spcPct val="100000"/>
              </a:lnSpc>
              <a:spcAft>
                <a:spcPts val="600"/>
              </a:spcAft>
            </a:pPr>
            <a:r>
              <a:rPr lang="en-US" dirty="0"/>
              <a:t>Day 2: Buy 300 gallons of gas @ $1.50/gallon</a:t>
            </a:r>
          </a:p>
          <a:p>
            <a:pPr lvl="1">
              <a:lnSpc>
                <a:spcPct val="100000"/>
              </a:lnSpc>
              <a:spcAft>
                <a:spcPts val="600"/>
              </a:spcAft>
            </a:pPr>
            <a:r>
              <a:rPr lang="en-US" dirty="0"/>
              <a:t>Day 3: </a:t>
            </a:r>
            <a:r>
              <a:rPr lang="en-US" b="1" dirty="0"/>
              <a:t>Sell</a:t>
            </a:r>
            <a:r>
              <a:rPr lang="en-US" dirty="0"/>
              <a:t> 200 gallons of gas @ $2.00/gallon</a:t>
            </a:r>
          </a:p>
          <a:p>
            <a:pPr lvl="1"/>
            <a:endParaRPr lang="en-US" dirty="0"/>
          </a:p>
        </p:txBody>
      </p:sp>
      <p:graphicFrame>
        <p:nvGraphicFramePr>
          <p:cNvPr id="4" name="Table 9">
            <a:extLst>
              <a:ext uri="{FF2B5EF4-FFF2-40B4-BE49-F238E27FC236}">
                <a16:creationId xmlns:a16="http://schemas.microsoft.com/office/drawing/2014/main" id="{2CF9C326-CD9F-4C83-BF62-AC8B73845A4F}"/>
              </a:ext>
            </a:extLst>
          </p:cNvPr>
          <p:cNvGraphicFramePr>
            <a:graphicFrameLocks noGrp="1"/>
          </p:cNvGraphicFramePr>
          <p:nvPr/>
        </p:nvGraphicFramePr>
        <p:xfrm>
          <a:off x="971550" y="3875090"/>
          <a:ext cx="9953624" cy="1828800"/>
        </p:xfrm>
        <a:graphic>
          <a:graphicData uri="http://schemas.openxmlformats.org/drawingml/2006/table">
            <a:tbl>
              <a:tblPr firstRow="1" bandRow="1"/>
              <a:tblGrid>
                <a:gridCol w="2060987">
                  <a:extLst>
                    <a:ext uri="{9D8B030D-6E8A-4147-A177-3AD203B41FA5}">
                      <a16:colId xmlns:a16="http://schemas.microsoft.com/office/drawing/2014/main" val="3877462611"/>
                    </a:ext>
                  </a:extLst>
                </a:gridCol>
                <a:gridCol w="2630879">
                  <a:extLst>
                    <a:ext uri="{9D8B030D-6E8A-4147-A177-3AD203B41FA5}">
                      <a16:colId xmlns:a16="http://schemas.microsoft.com/office/drawing/2014/main" val="2191084024"/>
                    </a:ext>
                  </a:extLst>
                </a:gridCol>
                <a:gridCol w="2630879">
                  <a:extLst>
                    <a:ext uri="{9D8B030D-6E8A-4147-A177-3AD203B41FA5}">
                      <a16:colId xmlns:a16="http://schemas.microsoft.com/office/drawing/2014/main" val="3361911642"/>
                    </a:ext>
                  </a:extLst>
                </a:gridCol>
                <a:gridCol w="2630879">
                  <a:extLst>
                    <a:ext uri="{9D8B030D-6E8A-4147-A177-3AD203B41FA5}">
                      <a16:colId xmlns:a16="http://schemas.microsoft.com/office/drawing/2014/main" val="3673628795"/>
                    </a:ext>
                  </a:extLst>
                </a:gridCol>
              </a:tblGrid>
              <a:tr h="370840">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pPr algn="ctr"/>
                      <a:r>
                        <a:rPr lang="en-US" sz="2400" dirty="0"/>
                        <a:t>Revenue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pPr algn="ctr"/>
                      <a:r>
                        <a:rPr lang="en-US" sz="2400" dirty="0"/>
                        <a:t>COGS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pPr algn="ctr"/>
                      <a:r>
                        <a:rPr lang="en-US" sz="2400" dirty="0"/>
                        <a:t>Gross Profit</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extLst>
                  <a:ext uri="{0D108BD9-81ED-4DB2-BD59-A6C34878D82A}">
                    <a16:rowId xmlns:a16="http://schemas.microsoft.com/office/drawing/2014/main" val="4170497217"/>
                  </a:ext>
                </a:extLst>
              </a:tr>
              <a:tr h="37084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r>
                        <a:rPr lang="en-US" sz="2400" b="0" dirty="0">
                          <a:latin typeface="+mn-lt"/>
                        </a:rPr>
                        <a:t>FIFO</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extLst>
                  <a:ext uri="{0D108BD9-81ED-4DB2-BD59-A6C34878D82A}">
                    <a16:rowId xmlns:a16="http://schemas.microsoft.com/office/drawing/2014/main" val="1563897960"/>
                  </a:ext>
                </a:extLst>
              </a:tr>
              <a:tr h="37084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r>
                        <a:rPr lang="en-US" sz="2400" b="0" dirty="0">
                          <a:latin typeface="+mn-lt"/>
                        </a:rPr>
                        <a:t>LIFO</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extLst>
                  <a:ext uri="{0D108BD9-81ED-4DB2-BD59-A6C34878D82A}">
                    <a16:rowId xmlns:a16="http://schemas.microsoft.com/office/drawing/2014/main" val="154636098"/>
                  </a:ext>
                </a:extLst>
              </a:tr>
              <a:tr h="37084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r>
                        <a:rPr lang="en-US" sz="2400" b="0" dirty="0">
                          <a:latin typeface="+mn-lt"/>
                        </a:rPr>
                        <a:t>Average Cost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endParaRPr lang="en-US" sz="24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extLst>
                  <a:ext uri="{0D108BD9-81ED-4DB2-BD59-A6C34878D82A}">
                    <a16:rowId xmlns:a16="http://schemas.microsoft.com/office/drawing/2014/main" val="4212483676"/>
                  </a:ext>
                </a:extLst>
              </a:tr>
            </a:tbl>
          </a:graphicData>
        </a:graphic>
      </p:graphicFrame>
      <p:sp>
        <p:nvSpPr>
          <p:cNvPr id="5" name="TextBox 4">
            <a:extLst>
              <a:ext uri="{FF2B5EF4-FFF2-40B4-BE49-F238E27FC236}">
                <a16:creationId xmlns:a16="http://schemas.microsoft.com/office/drawing/2014/main" id="{90CD9BFB-5A3A-4F61-B631-E35D07C9080A}"/>
              </a:ext>
            </a:extLst>
          </p:cNvPr>
          <p:cNvSpPr txBox="1"/>
          <p:nvPr/>
        </p:nvSpPr>
        <p:spPr>
          <a:xfrm>
            <a:off x="3061443" y="4340525"/>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2.00 = $400</a:t>
            </a:r>
          </a:p>
        </p:txBody>
      </p:sp>
      <p:sp>
        <p:nvSpPr>
          <p:cNvPr id="6" name="TextBox 5">
            <a:extLst>
              <a:ext uri="{FF2B5EF4-FFF2-40B4-BE49-F238E27FC236}">
                <a16:creationId xmlns:a16="http://schemas.microsoft.com/office/drawing/2014/main" id="{72337FEE-3EC0-47CC-A5FA-C0F8FC1F0688}"/>
              </a:ext>
            </a:extLst>
          </p:cNvPr>
          <p:cNvSpPr txBox="1"/>
          <p:nvPr/>
        </p:nvSpPr>
        <p:spPr>
          <a:xfrm>
            <a:off x="5652101" y="4340525"/>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1.00 = $200</a:t>
            </a:r>
          </a:p>
        </p:txBody>
      </p:sp>
      <p:sp>
        <p:nvSpPr>
          <p:cNvPr id="7" name="TextBox 6">
            <a:extLst>
              <a:ext uri="{FF2B5EF4-FFF2-40B4-BE49-F238E27FC236}">
                <a16:creationId xmlns:a16="http://schemas.microsoft.com/office/drawing/2014/main" id="{C2EAD2B6-F94F-4F6D-9032-EEF18AC85C58}"/>
              </a:ext>
            </a:extLst>
          </p:cNvPr>
          <p:cNvSpPr txBox="1"/>
          <p:nvPr/>
        </p:nvSpPr>
        <p:spPr>
          <a:xfrm>
            <a:off x="9028180" y="4340524"/>
            <a:ext cx="81304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a:t>
            </a:r>
          </a:p>
        </p:txBody>
      </p:sp>
      <p:sp>
        <p:nvSpPr>
          <p:cNvPr id="8" name="TextBox 7">
            <a:extLst>
              <a:ext uri="{FF2B5EF4-FFF2-40B4-BE49-F238E27FC236}">
                <a16:creationId xmlns:a16="http://schemas.microsoft.com/office/drawing/2014/main" id="{04B79FA4-14BF-4028-949B-5AB0ED238530}"/>
              </a:ext>
            </a:extLst>
          </p:cNvPr>
          <p:cNvSpPr txBox="1"/>
          <p:nvPr/>
        </p:nvSpPr>
        <p:spPr>
          <a:xfrm>
            <a:off x="3061443" y="4797724"/>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2.00 = $400</a:t>
            </a:r>
          </a:p>
        </p:txBody>
      </p:sp>
      <p:sp>
        <p:nvSpPr>
          <p:cNvPr id="9" name="TextBox 8">
            <a:extLst>
              <a:ext uri="{FF2B5EF4-FFF2-40B4-BE49-F238E27FC236}">
                <a16:creationId xmlns:a16="http://schemas.microsoft.com/office/drawing/2014/main" id="{7A6F7F96-24D0-4371-ADC2-3D37637125BF}"/>
              </a:ext>
            </a:extLst>
          </p:cNvPr>
          <p:cNvSpPr txBox="1"/>
          <p:nvPr/>
        </p:nvSpPr>
        <p:spPr>
          <a:xfrm>
            <a:off x="3061443" y="5254626"/>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2.00 = $400</a:t>
            </a:r>
          </a:p>
        </p:txBody>
      </p:sp>
      <p:sp>
        <p:nvSpPr>
          <p:cNvPr id="10" name="TextBox 9">
            <a:extLst>
              <a:ext uri="{FF2B5EF4-FFF2-40B4-BE49-F238E27FC236}">
                <a16:creationId xmlns:a16="http://schemas.microsoft.com/office/drawing/2014/main" id="{0451BC80-82EF-4B2F-90EC-98740F3EEFCB}"/>
              </a:ext>
            </a:extLst>
          </p:cNvPr>
          <p:cNvSpPr txBox="1"/>
          <p:nvPr/>
        </p:nvSpPr>
        <p:spPr>
          <a:xfrm>
            <a:off x="5652101" y="4797724"/>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1.50 = $300</a:t>
            </a:r>
          </a:p>
        </p:txBody>
      </p:sp>
      <p:sp>
        <p:nvSpPr>
          <p:cNvPr id="11" name="TextBox 10">
            <a:extLst>
              <a:ext uri="{FF2B5EF4-FFF2-40B4-BE49-F238E27FC236}">
                <a16:creationId xmlns:a16="http://schemas.microsoft.com/office/drawing/2014/main" id="{5ACC8A4D-380E-4E6F-B65B-A8CD992A4257}"/>
              </a:ext>
            </a:extLst>
          </p:cNvPr>
          <p:cNvSpPr txBox="1"/>
          <p:nvPr/>
        </p:nvSpPr>
        <p:spPr>
          <a:xfrm>
            <a:off x="9028180" y="4792961"/>
            <a:ext cx="81304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$100</a:t>
            </a:r>
          </a:p>
        </p:txBody>
      </p:sp>
      <p:sp>
        <p:nvSpPr>
          <p:cNvPr id="12" name="TextBox 11">
            <a:extLst>
              <a:ext uri="{FF2B5EF4-FFF2-40B4-BE49-F238E27FC236}">
                <a16:creationId xmlns:a16="http://schemas.microsoft.com/office/drawing/2014/main" id="{B4A478E8-A5AA-4472-98F9-426B0A076CF0}"/>
              </a:ext>
            </a:extLst>
          </p:cNvPr>
          <p:cNvSpPr txBox="1"/>
          <p:nvPr/>
        </p:nvSpPr>
        <p:spPr>
          <a:xfrm>
            <a:off x="5652101" y="5254626"/>
            <a:ext cx="247856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200 × 1.19 = $238</a:t>
            </a:r>
          </a:p>
        </p:txBody>
      </p:sp>
      <p:sp>
        <p:nvSpPr>
          <p:cNvPr id="13" name="TextBox 12">
            <a:extLst>
              <a:ext uri="{FF2B5EF4-FFF2-40B4-BE49-F238E27FC236}">
                <a16:creationId xmlns:a16="http://schemas.microsoft.com/office/drawing/2014/main" id="{A3985493-FC58-40DC-A221-3BCBE2CDE0EC}"/>
              </a:ext>
            </a:extLst>
          </p:cNvPr>
          <p:cNvSpPr txBox="1"/>
          <p:nvPr/>
        </p:nvSpPr>
        <p:spPr>
          <a:xfrm>
            <a:off x="9028180" y="5254625"/>
            <a:ext cx="81304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a:ea typeface="+mn-ea"/>
                <a:cs typeface="+mn-cs"/>
              </a:rPr>
              <a:t>$162</a:t>
            </a:r>
          </a:p>
        </p:txBody>
      </p:sp>
      <p:sp>
        <p:nvSpPr>
          <p:cNvPr id="14" name="Rectangle: Rounded Corners 13">
            <a:extLst>
              <a:ext uri="{FF2B5EF4-FFF2-40B4-BE49-F238E27FC236}">
                <a16:creationId xmlns:a16="http://schemas.microsoft.com/office/drawing/2014/main" id="{3869C276-BBB8-4BAE-897B-456E7D97B66B}"/>
              </a:ext>
            </a:extLst>
          </p:cNvPr>
          <p:cNvSpPr/>
          <p:nvPr/>
        </p:nvSpPr>
        <p:spPr>
          <a:xfrm>
            <a:off x="8819666" y="1724825"/>
            <a:ext cx="2043113" cy="1601789"/>
          </a:xfrm>
          <a:prstGeom prst="roundRect">
            <a:avLst>
              <a:gd name="adj" fmla="val 7961"/>
            </a:avLst>
          </a:prstGeom>
          <a:solidFill>
            <a:srgbClr val="E7E6E6"/>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025CF3C4-7B04-4CB4-8706-D9008C8595EF}"/>
              </a:ext>
            </a:extLst>
          </p:cNvPr>
          <p:cNvSpPr txBox="1"/>
          <p:nvPr/>
        </p:nvSpPr>
        <p:spPr>
          <a:xfrm>
            <a:off x="8932284" y="1837564"/>
            <a:ext cx="1835246" cy="140038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Weighted Avg Cost:</a:t>
            </a:r>
          </a:p>
          <a:p>
            <a:pPr marL="0" marR="0" lvl="0" indent="0" algn="l" defTabSz="914400" rtl="0" eaLnBrk="1" fontAlgn="auto" latinLnBrk="0" hangingPunct="1">
              <a:lnSpc>
                <a:spcPct val="100000"/>
              </a:lnSpc>
              <a:spcBef>
                <a:spcPts val="0"/>
              </a:spcBef>
              <a:spcAft>
                <a:spcPts val="0"/>
              </a:spcAft>
              <a:buClrTx/>
              <a:buSzTx/>
              <a:buFontTx/>
              <a:buNone/>
              <a:tabLst>
                <a:tab pos="1257300"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500 × 1.00 = 	500</a:t>
            </a:r>
          </a:p>
          <a:p>
            <a:pPr marL="0" marR="0" lvl="0" indent="0" algn="l" defTabSz="914400" rtl="0" eaLnBrk="1" fontAlgn="auto" latinLnBrk="0" hangingPunct="1">
              <a:lnSpc>
                <a:spcPct val="100000"/>
              </a:lnSpc>
              <a:spcBef>
                <a:spcPts val="0"/>
              </a:spcBef>
              <a:spcAft>
                <a:spcPts val="0"/>
              </a:spcAft>
              <a:buClrTx/>
              <a:buSzTx/>
              <a:buFontTx/>
              <a:buNone/>
              <a:tabLst>
                <a:tab pos="1257300"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300 × 1.50 = 	</a:t>
            </a:r>
            <a:r>
              <a:rPr kumimoji="0" lang="en-US" sz="1600" b="0" i="0" u="sng" strike="noStrike" kern="1200" cap="none" spc="0" normalizeH="0" baseline="0" noProof="0" dirty="0">
                <a:ln>
                  <a:noFill/>
                </a:ln>
                <a:solidFill>
                  <a:prstClr val="black"/>
                </a:solidFill>
                <a:effectLst/>
                <a:uLnTx/>
                <a:uFillTx/>
                <a:latin typeface="Calibri"/>
                <a:ea typeface="+mn-ea"/>
                <a:cs typeface="+mn-cs"/>
              </a:rPr>
              <a:t>450</a:t>
            </a:r>
          </a:p>
          <a:p>
            <a:pPr marL="0" marR="0" lvl="0" indent="0" algn="l" defTabSz="914400" rtl="0" eaLnBrk="1" fontAlgn="auto" latinLnBrk="0" hangingPunct="1">
              <a:lnSpc>
                <a:spcPct val="100000"/>
              </a:lnSpc>
              <a:spcBef>
                <a:spcPts val="0"/>
              </a:spcBef>
              <a:spcAft>
                <a:spcPts val="600"/>
              </a:spcAft>
              <a:buClrTx/>
              <a:buSzTx/>
              <a:buFontTx/>
              <a:buNone/>
              <a:tabLst>
                <a:tab pos="1143000"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$950</a:t>
            </a:r>
          </a:p>
          <a:p>
            <a:pPr marL="0" marR="0" lvl="0" indent="0" algn="l" defTabSz="914400" rtl="0" eaLnBrk="1" fontAlgn="auto" latinLnBrk="0" hangingPunct="1">
              <a:lnSpc>
                <a:spcPct val="100000"/>
              </a:lnSpc>
              <a:spcBef>
                <a:spcPts val="0"/>
              </a:spcBef>
              <a:spcAft>
                <a:spcPts val="0"/>
              </a:spcAft>
              <a:buClrTx/>
              <a:buSzTx/>
              <a:buFontTx/>
              <a:buNone/>
              <a:tabLst>
                <a:tab pos="1143000"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$950 / 800 = $1.19</a:t>
            </a:r>
          </a:p>
        </p:txBody>
      </p:sp>
      <p:sp>
        <p:nvSpPr>
          <p:cNvPr id="16" name="Content Placeholder 2">
            <a:extLst>
              <a:ext uri="{FF2B5EF4-FFF2-40B4-BE49-F238E27FC236}">
                <a16:creationId xmlns:a16="http://schemas.microsoft.com/office/drawing/2014/main" id="{438C67D1-086D-94A8-9BD0-7FECEF6A19AA}"/>
              </a:ext>
            </a:extLst>
          </p:cNvPr>
          <p:cNvSpPr txBox="1">
            <a:spLocks/>
          </p:cNvSpPr>
          <p:nvPr/>
        </p:nvSpPr>
        <p:spPr>
          <a:xfrm>
            <a:off x="1875972" y="6069125"/>
            <a:ext cx="10515600" cy="96796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57189" lvl="1" indent="0">
              <a:buNone/>
            </a:pPr>
            <a:r>
              <a:rPr lang="en-US" b="1" dirty="0">
                <a:solidFill>
                  <a:srgbClr val="FF0000"/>
                </a:solidFill>
              </a:rPr>
              <a:t>Assumption</a:t>
            </a:r>
            <a:r>
              <a:rPr lang="en-US" dirty="0"/>
              <a:t>: Costs </a:t>
            </a:r>
            <a:r>
              <a:rPr lang="en-US" i="1" dirty="0"/>
              <a:t>generally</a:t>
            </a:r>
            <a:r>
              <a:rPr lang="en-US" dirty="0"/>
              <a:t> rise over time</a:t>
            </a:r>
          </a:p>
        </p:txBody>
      </p:sp>
    </p:spTree>
    <p:extLst>
      <p:ext uri="{BB962C8B-B14F-4D97-AF65-F5344CB8AC3E}">
        <p14:creationId xmlns:p14="http://schemas.microsoft.com/office/powerpoint/2010/main" val="36932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animBg="1"/>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08522" y="433389"/>
            <a:ext cx="9591191" cy="1004887"/>
          </a:xfrm>
        </p:spPr>
        <p:txBody>
          <a:bodyPr>
            <a:normAutofit fontScale="90000"/>
          </a:bodyPr>
          <a:lstStyle/>
          <a:p>
            <a:pPr>
              <a:defRPr/>
            </a:pPr>
            <a:r>
              <a:rPr lang="en-US" sz="3600" dirty="0"/>
              <a:t>Inventory:  Four Cost-Flow Assumptions</a:t>
            </a:r>
          </a:p>
        </p:txBody>
      </p:sp>
      <p:sp>
        <p:nvSpPr>
          <p:cNvPr id="2" name="Content Placeholder 1"/>
          <p:cNvSpPr>
            <a:spLocks noGrp="1"/>
          </p:cNvSpPr>
          <p:nvPr>
            <p:ph idx="1"/>
          </p:nvPr>
        </p:nvSpPr>
        <p:spPr>
          <a:xfrm>
            <a:off x="904775" y="1511166"/>
            <a:ext cx="9494939" cy="5346834"/>
          </a:xfrm>
        </p:spPr>
        <p:txBody>
          <a:bodyPr>
            <a:normAutofit lnSpcReduction="10000"/>
          </a:bodyPr>
          <a:lstStyle/>
          <a:p>
            <a:pPr marL="0" indent="0">
              <a:buNone/>
              <a:defRPr/>
            </a:pPr>
            <a:r>
              <a:rPr lang="en-US" sz="2400" dirty="0">
                <a:solidFill>
                  <a:srgbClr val="000000"/>
                </a:solidFill>
                <a:latin typeface="Times New Roman"/>
              </a:rPr>
              <a:t>How do we pick which gallon of gas that we’re selling?</a:t>
            </a:r>
          </a:p>
          <a:p>
            <a:pPr>
              <a:defRPr/>
            </a:pPr>
            <a:endParaRPr lang="en-US" sz="800" dirty="0">
              <a:solidFill>
                <a:srgbClr val="000000"/>
              </a:solidFill>
              <a:latin typeface="Times New Roman"/>
            </a:endParaRPr>
          </a:p>
          <a:p>
            <a:pPr marL="282575" indent="-225425">
              <a:defRPr/>
            </a:pPr>
            <a:r>
              <a:rPr lang="en-US" sz="2000" b="1" i="1" dirty="0">
                <a:solidFill>
                  <a:srgbClr val="000000"/>
                </a:solidFill>
                <a:latin typeface="Times New Roman"/>
              </a:rPr>
              <a:t>FIFO</a:t>
            </a:r>
            <a:r>
              <a:rPr lang="en-US" sz="2000" b="1" i="1" dirty="0">
                <a:solidFill>
                  <a:srgbClr val="FF0000"/>
                </a:solidFill>
                <a:latin typeface="Times New Roman"/>
              </a:rPr>
              <a:t>*</a:t>
            </a:r>
            <a:r>
              <a:rPr lang="en-US" sz="2000" b="1" dirty="0">
                <a:solidFill>
                  <a:srgbClr val="000000"/>
                </a:solidFill>
                <a:latin typeface="Times New Roman"/>
              </a:rPr>
              <a:t>:</a:t>
            </a:r>
            <a:r>
              <a:rPr lang="en-US" sz="2000" dirty="0">
                <a:solidFill>
                  <a:srgbClr val="000000"/>
                </a:solidFill>
                <a:latin typeface="Times New Roman"/>
              </a:rPr>
              <a:t>  First In-First Out -- costs of oldest units in COGS, newest in inventory</a:t>
            </a:r>
          </a:p>
          <a:p>
            <a:pPr marL="282575" indent="-225425">
              <a:defRPr/>
            </a:pPr>
            <a:endParaRPr lang="en-US" sz="800" dirty="0">
              <a:solidFill>
                <a:srgbClr val="000000"/>
              </a:solidFill>
              <a:latin typeface="Times New Roman"/>
            </a:endParaRPr>
          </a:p>
          <a:p>
            <a:pPr marL="282575" indent="-225425">
              <a:defRPr/>
            </a:pPr>
            <a:r>
              <a:rPr lang="en-US" sz="2000" b="1" i="1" dirty="0">
                <a:solidFill>
                  <a:srgbClr val="000000"/>
                </a:solidFill>
                <a:latin typeface="Times New Roman"/>
              </a:rPr>
              <a:t>LIFO</a:t>
            </a:r>
            <a:r>
              <a:rPr lang="en-US" sz="2000" b="1" i="1" dirty="0">
                <a:solidFill>
                  <a:srgbClr val="FF0000"/>
                </a:solidFill>
                <a:latin typeface="Times New Roman"/>
              </a:rPr>
              <a:t>*</a:t>
            </a:r>
            <a:r>
              <a:rPr lang="en-US" sz="2000" b="1" dirty="0">
                <a:solidFill>
                  <a:srgbClr val="000000"/>
                </a:solidFill>
                <a:latin typeface="Times New Roman"/>
              </a:rPr>
              <a:t>:</a:t>
            </a:r>
            <a:r>
              <a:rPr lang="en-US" sz="2000" dirty="0">
                <a:solidFill>
                  <a:srgbClr val="000000"/>
                </a:solidFill>
                <a:latin typeface="Times New Roman"/>
              </a:rPr>
              <a:t>  Last In-First Out -- costs of newest units in COGS, oldest in inventory</a:t>
            </a:r>
          </a:p>
          <a:p>
            <a:pPr marL="282575" indent="-225425">
              <a:defRPr/>
            </a:pPr>
            <a:endParaRPr lang="en-US" sz="800" i="1" dirty="0">
              <a:solidFill>
                <a:srgbClr val="000000"/>
              </a:solidFill>
              <a:latin typeface="Times New Roman"/>
            </a:endParaRPr>
          </a:p>
          <a:p>
            <a:pPr marL="282575" indent="-225425">
              <a:defRPr/>
            </a:pPr>
            <a:r>
              <a:rPr lang="en-US" sz="2000" b="1" i="1" dirty="0">
                <a:solidFill>
                  <a:srgbClr val="000000"/>
                </a:solidFill>
                <a:latin typeface="Times New Roman"/>
              </a:rPr>
              <a:t>Average Cost</a:t>
            </a:r>
            <a:r>
              <a:rPr lang="en-US" sz="2000" b="1" i="1" dirty="0">
                <a:solidFill>
                  <a:srgbClr val="FF0000"/>
                </a:solidFill>
                <a:latin typeface="Times New Roman"/>
              </a:rPr>
              <a:t>*</a:t>
            </a:r>
            <a:r>
              <a:rPr lang="en-US" sz="2000" b="1" dirty="0">
                <a:solidFill>
                  <a:srgbClr val="000000"/>
                </a:solidFill>
                <a:latin typeface="Times New Roman"/>
              </a:rPr>
              <a:t>:  </a:t>
            </a:r>
            <a:r>
              <a:rPr lang="en-US" sz="2000" dirty="0">
                <a:solidFill>
                  <a:srgbClr val="000000"/>
                </a:solidFill>
                <a:latin typeface="Times New Roman"/>
              </a:rPr>
              <a:t>COGS and inventory based on average costs in the period</a:t>
            </a:r>
          </a:p>
          <a:p>
            <a:pPr marL="282575" indent="-225425">
              <a:defRPr/>
            </a:pPr>
            <a:endParaRPr lang="en-US" sz="800" dirty="0">
              <a:solidFill>
                <a:srgbClr val="000000"/>
              </a:solidFill>
              <a:latin typeface="Times New Roman"/>
            </a:endParaRPr>
          </a:p>
          <a:p>
            <a:pPr marL="282575" indent="-225425">
              <a:defRPr/>
            </a:pPr>
            <a:r>
              <a:rPr lang="en-US" sz="2000" b="1" i="1" dirty="0">
                <a:solidFill>
                  <a:srgbClr val="000000"/>
                </a:solidFill>
                <a:latin typeface="Times New Roman"/>
              </a:rPr>
              <a:t>Specific identification</a:t>
            </a:r>
            <a:r>
              <a:rPr lang="en-US" sz="2000" b="1" dirty="0">
                <a:solidFill>
                  <a:srgbClr val="000000"/>
                </a:solidFill>
                <a:latin typeface="Times New Roman"/>
              </a:rPr>
              <a:t>:  </a:t>
            </a:r>
            <a:r>
              <a:rPr lang="en-US" sz="2000" dirty="0">
                <a:solidFill>
                  <a:srgbClr val="000000"/>
                </a:solidFill>
                <a:latin typeface="Times New Roman"/>
              </a:rPr>
              <a:t>units and associated costs are specifically identified</a:t>
            </a:r>
          </a:p>
          <a:p>
            <a:pPr marL="0" indent="0" algn="ctr">
              <a:buNone/>
              <a:defRPr/>
            </a:pPr>
            <a:endParaRPr lang="en-US" sz="1200" dirty="0">
              <a:solidFill>
                <a:srgbClr val="0070C0"/>
              </a:solidFill>
              <a:latin typeface="Times New Roman"/>
            </a:endParaRPr>
          </a:p>
          <a:p>
            <a:pPr marL="0" indent="0" algn="ctr">
              <a:buNone/>
              <a:defRPr/>
            </a:pPr>
            <a:r>
              <a:rPr lang="en-US" sz="3200" b="1" dirty="0">
                <a:solidFill>
                  <a:srgbClr val="FF0000"/>
                </a:solidFill>
                <a:latin typeface="Times New Roman"/>
              </a:rPr>
              <a:t>*NOTE</a:t>
            </a:r>
          </a:p>
          <a:p>
            <a:pPr marL="0" indent="0" algn="ctr">
              <a:buNone/>
              <a:defRPr/>
            </a:pPr>
            <a:r>
              <a:rPr lang="en-US" sz="3200" b="1" dirty="0">
                <a:solidFill>
                  <a:srgbClr val="0070C0"/>
                </a:solidFill>
                <a:latin typeface="Times New Roman"/>
              </a:rPr>
              <a:t>COST Flow </a:t>
            </a:r>
          </a:p>
          <a:p>
            <a:pPr marL="0" indent="0" algn="ctr">
              <a:buNone/>
              <a:defRPr/>
            </a:pPr>
            <a:r>
              <a:rPr lang="en-US" sz="3200" b="1" dirty="0">
                <a:solidFill>
                  <a:srgbClr val="0070C0"/>
                </a:solidFill>
                <a:latin typeface="Times New Roman"/>
              </a:rPr>
              <a:t>Does </a:t>
            </a:r>
            <a:r>
              <a:rPr lang="en-US" sz="3200" b="1" u="sng" dirty="0">
                <a:solidFill>
                  <a:srgbClr val="0070C0"/>
                </a:solidFill>
                <a:latin typeface="Times New Roman"/>
              </a:rPr>
              <a:t>NOT</a:t>
            </a:r>
            <a:r>
              <a:rPr lang="en-US" sz="3200" b="1" dirty="0">
                <a:solidFill>
                  <a:srgbClr val="0070C0"/>
                </a:solidFill>
                <a:latin typeface="Times New Roman"/>
              </a:rPr>
              <a:t> have to follow</a:t>
            </a:r>
          </a:p>
          <a:p>
            <a:pPr marL="0" indent="0" algn="ctr">
              <a:buNone/>
              <a:defRPr/>
            </a:pPr>
            <a:r>
              <a:rPr lang="en-US" sz="3200" b="1" dirty="0">
                <a:solidFill>
                  <a:srgbClr val="0070C0"/>
                </a:solidFill>
                <a:latin typeface="Times New Roman"/>
              </a:rPr>
              <a:t>PHYSICAL Flow</a:t>
            </a:r>
          </a:p>
          <a:p>
            <a:pPr>
              <a:defRPr/>
            </a:pPr>
            <a:endParaRPr lang="en-US" dirty="0"/>
          </a:p>
        </p:txBody>
      </p:sp>
      <p:sp>
        <p:nvSpPr>
          <p:cNvPr id="52228" name="Slide Number Placeholder 3"/>
          <p:cNvSpPr>
            <a:spLocks noGrp="1"/>
          </p:cNvSpPr>
          <p:nvPr>
            <p:ph type="sldNum" sz="quarter" idx="4294967295"/>
          </p:nvPr>
        </p:nvSpPr>
        <p:spPr bwMode="auto">
          <a:xfrm>
            <a:off x="9661526" y="6248400"/>
            <a:ext cx="100647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4379377-3A20-4CF2-963E-AF884106EA06}" type="slidenum">
              <a:rPr lang="en-US" altLang="en-US" sz="1400">
                <a:latin typeface="Times New Roman" panose="02020603050405020304" pitchFamily="18" charset="0"/>
              </a:rPr>
              <a:pPr>
                <a:spcBef>
                  <a:spcPct val="0"/>
                </a:spcBef>
                <a:buFontTx/>
                <a:buNone/>
              </a:pPr>
              <a:t>22</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20242942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a:t>Comparison of methods</a:t>
            </a:r>
          </a:p>
        </p:txBody>
      </p:sp>
      <p:sp>
        <p:nvSpPr>
          <p:cNvPr id="54276" name="TextBox 2"/>
          <p:cNvSpPr txBox="1">
            <a:spLocks noChangeArrowheads="1"/>
          </p:cNvSpPr>
          <p:nvPr/>
        </p:nvSpPr>
        <p:spPr bwMode="auto">
          <a:xfrm>
            <a:off x="2913295" y="6432165"/>
            <a:ext cx="619111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sz="1100" b="1" dirty="0"/>
              <a:t>Source:</a:t>
            </a:r>
            <a:r>
              <a:rPr lang="en-US" sz="1100" dirty="0"/>
              <a:t> TheCorporateCounsel.net, </a:t>
            </a:r>
            <a:r>
              <a:rPr lang="en-US" sz="1100" i="1" dirty="0"/>
              <a:t>"Companies Using LIFO Face Investor Scrutiny"</a:t>
            </a:r>
            <a:r>
              <a:rPr lang="en-US" sz="1100" dirty="0"/>
              <a:t>, June 2022</a:t>
            </a:r>
            <a:endParaRPr lang="en-US" altLang="en-US" sz="1100" i="1" dirty="0">
              <a:latin typeface="Times New Roman" panose="02020603050405020304" pitchFamily="18" charset="0"/>
            </a:endParaRPr>
          </a:p>
        </p:txBody>
      </p:sp>
      <p:pic>
        <p:nvPicPr>
          <p:cNvPr id="5" name="Content Placeholder 4" descr="A graph of a number of blue squares&#10;&#10;AI-generated content may be incorrect.">
            <a:extLst>
              <a:ext uri="{FF2B5EF4-FFF2-40B4-BE49-F238E27FC236}">
                <a16:creationId xmlns:a16="http://schemas.microsoft.com/office/drawing/2014/main" id="{06354781-7202-9EAC-14E0-10E3807F5469}"/>
              </a:ext>
            </a:extLst>
          </p:cNvPr>
          <p:cNvPicPr>
            <a:picLocks noGrp="1" noChangeAspect="1"/>
          </p:cNvPicPr>
          <p:nvPr>
            <p:ph idx="1"/>
          </p:nvPr>
        </p:nvPicPr>
        <p:blipFill>
          <a:blip r:embed="rId3"/>
          <a:stretch>
            <a:fillRect/>
          </a:stretch>
        </p:blipFill>
        <p:spPr>
          <a:xfrm>
            <a:off x="838200" y="1504070"/>
            <a:ext cx="9200029" cy="4871964"/>
          </a:xfrm>
        </p:spPr>
      </p:pic>
    </p:spTree>
    <p:extLst>
      <p:ext uri="{BB962C8B-B14F-4D97-AF65-F5344CB8AC3E}">
        <p14:creationId xmlns:p14="http://schemas.microsoft.com/office/powerpoint/2010/main" val="1902606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16EB-D3EE-44A7-9F8C-187B82C90308}"/>
              </a:ext>
            </a:extLst>
          </p:cNvPr>
          <p:cNvSpPr>
            <a:spLocks noGrp="1"/>
          </p:cNvSpPr>
          <p:nvPr>
            <p:ph type="title"/>
          </p:nvPr>
        </p:nvSpPr>
        <p:spPr/>
        <p:txBody>
          <a:bodyPr/>
          <a:lstStyle/>
          <a:p>
            <a:r>
              <a:rPr lang="en-US" dirty="0"/>
              <a:t>Handout…</a:t>
            </a:r>
            <a:endParaRPr lang="en-US" dirty="0">
              <a:solidFill>
                <a:srgbClr val="FF0000"/>
              </a:solidFill>
            </a:endParaRPr>
          </a:p>
        </p:txBody>
      </p:sp>
    </p:spTree>
    <p:extLst>
      <p:ext uri="{BB962C8B-B14F-4D97-AF65-F5344CB8AC3E}">
        <p14:creationId xmlns:p14="http://schemas.microsoft.com/office/powerpoint/2010/main" val="997468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2" name="Title 1"/>
          <p:cNvSpPr>
            <a:spLocks noGrp="1"/>
          </p:cNvSpPr>
          <p:nvPr>
            <p:ph type="title"/>
          </p:nvPr>
        </p:nvSpPr>
        <p:spPr>
          <a:xfrm>
            <a:off x="1047280" y="759805"/>
            <a:ext cx="10306520" cy="1325563"/>
          </a:xfrm>
        </p:spPr>
        <p:txBody>
          <a:bodyPr>
            <a:normAutofit/>
          </a:bodyPr>
          <a:lstStyle/>
          <a:p>
            <a:r>
              <a:rPr lang="en-US" sz="4000" dirty="0">
                <a:solidFill>
                  <a:srgbClr val="FFFFFF"/>
                </a:solidFill>
              </a:rPr>
              <a:t>Takeaways</a:t>
            </a:r>
          </a:p>
        </p:txBody>
      </p:sp>
      <p:sp>
        <p:nvSpPr>
          <p:cNvPr id="3" name="Content Placeholder 2"/>
          <p:cNvSpPr>
            <a:spLocks noGrp="1"/>
          </p:cNvSpPr>
          <p:nvPr>
            <p:ph idx="1"/>
          </p:nvPr>
        </p:nvSpPr>
        <p:spPr>
          <a:xfrm>
            <a:off x="1424904" y="2736006"/>
            <a:ext cx="5660109" cy="3563159"/>
          </a:xfrm>
        </p:spPr>
        <p:txBody>
          <a:bodyPr>
            <a:normAutofit/>
          </a:bodyPr>
          <a:lstStyle/>
          <a:p>
            <a:r>
              <a:rPr lang="en-US" sz="1900" dirty="0"/>
              <a:t>Perpetual and periodic inventory systems determine when to record COGS and update inventory – We will focus on </a:t>
            </a:r>
            <a:r>
              <a:rPr lang="en-US" sz="1900"/>
              <a:t>Perpetual most common)</a:t>
            </a:r>
            <a:endParaRPr lang="en-US" sz="1900" dirty="0"/>
          </a:p>
          <a:p>
            <a:r>
              <a:rPr lang="en-US" sz="1900" dirty="0"/>
              <a:t>Cost flow methods determine which costs go into COGS and which remain in inventory</a:t>
            </a:r>
          </a:p>
          <a:p>
            <a:r>
              <a:rPr lang="en-US" sz="1900" dirty="0"/>
              <a:t>Choice of cost flow method can greatly affect net income (if prices are changing over time)</a:t>
            </a:r>
          </a:p>
        </p:txBody>
      </p:sp>
      <p:pic>
        <p:nvPicPr>
          <p:cNvPr id="4" name="Picture 3" descr="A green sign with white text&#10;&#10;Description automatically generated with medium confidence">
            <a:extLst>
              <a:ext uri="{FF2B5EF4-FFF2-40B4-BE49-F238E27FC236}">
                <a16:creationId xmlns:a16="http://schemas.microsoft.com/office/drawing/2014/main" id="{4903D05B-7F9C-42C2-B3DA-6DE3EEB613FD}"/>
              </a:ext>
            </a:extLst>
          </p:cNvPr>
          <p:cNvPicPr>
            <a:picLocks noChangeAspect="1"/>
          </p:cNvPicPr>
          <p:nvPr/>
        </p:nvPicPr>
        <p:blipFill rotWithShape="1">
          <a:blip r:embed="rId2"/>
          <a:srcRect l="2261" r="4748" b="2"/>
          <a:stretch/>
        </p:blipFill>
        <p:spPr>
          <a:xfrm>
            <a:off x="7391400" y="2492389"/>
            <a:ext cx="3509896" cy="2604316"/>
          </a:xfrm>
          <a:prstGeom prst="rect">
            <a:avLst/>
          </a:prstGeom>
        </p:spPr>
      </p:pic>
    </p:spTree>
    <p:extLst>
      <p:ext uri="{BB962C8B-B14F-4D97-AF65-F5344CB8AC3E}">
        <p14:creationId xmlns:p14="http://schemas.microsoft.com/office/powerpoint/2010/main" val="506929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16EB-D3EE-44A7-9F8C-187B82C90308}"/>
              </a:ext>
            </a:extLst>
          </p:cNvPr>
          <p:cNvSpPr>
            <a:spLocks noGrp="1"/>
          </p:cNvSpPr>
          <p:nvPr>
            <p:ph type="title"/>
          </p:nvPr>
        </p:nvSpPr>
        <p:spPr/>
        <p:txBody>
          <a:bodyPr/>
          <a:lstStyle/>
          <a:p>
            <a:r>
              <a:rPr lang="en-US" dirty="0"/>
              <a:t>Go to handout…</a:t>
            </a:r>
            <a:endParaRPr lang="en-US" dirty="0">
              <a:solidFill>
                <a:srgbClr val="FF0000"/>
              </a:solidFill>
            </a:endParaRPr>
          </a:p>
        </p:txBody>
      </p:sp>
      <p:sp>
        <p:nvSpPr>
          <p:cNvPr id="3" name="Content Placeholder 2">
            <a:extLst>
              <a:ext uri="{FF2B5EF4-FFF2-40B4-BE49-F238E27FC236}">
                <a16:creationId xmlns:a16="http://schemas.microsoft.com/office/drawing/2014/main" id="{1024D40C-14AA-402C-A5CF-E021A6A5F4AD}"/>
              </a:ext>
            </a:extLst>
          </p:cNvPr>
          <p:cNvSpPr>
            <a:spLocks noGrp="1"/>
          </p:cNvSpPr>
          <p:nvPr>
            <p:ph idx="1"/>
          </p:nvPr>
        </p:nvSpPr>
        <p:spPr/>
        <p:txBody>
          <a:bodyPr/>
          <a:lstStyle/>
          <a:p>
            <a:r>
              <a:rPr lang="en-US" dirty="0"/>
              <a:t>Bonus Problem</a:t>
            </a:r>
          </a:p>
        </p:txBody>
      </p:sp>
    </p:spTree>
    <p:extLst>
      <p:ext uri="{BB962C8B-B14F-4D97-AF65-F5344CB8AC3E}">
        <p14:creationId xmlns:p14="http://schemas.microsoft.com/office/powerpoint/2010/main" val="3057997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24C0D-B8C1-47AE-BB82-9FB9C153176B}"/>
              </a:ext>
            </a:extLst>
          </p:cNvPr>
          <p:cNvSpPr>
            <a:spLocks noGrp="1"/>
          </p:cNvSpPr>
          <p:nvPr>
            <p:ph type="title"/>
          </p:nvPr>
        </p:nvSpPr>
        <p:spPr>
          <a:xfrm>
            <a:off x="406400" y="60063"/>
            <a:ext cx="11203904" cy="1143000"/>
          </a:xfrm>
        </p:spPr>
        <p:txBody>
          <a:bodyPr>
            <a:normAutofit/>
          </a:bodyPr>
          <a:lstStyle/>
          <a:p>
            <a:r>
              <a:rPr lang="en-US" sz="3200" dirty="0"/>
              <a:t>Calculating total COGS and ending inventory </a:t>
            </a:r>
          </a:p>
        </p:txBody>
      </p:sp>
      <p:graphicFrame>
        <p:nvGraphicFramePr>
          <p:cNvPr id="4" name="Content Placeholder 3">
            <a:extLst>
              <a:ext uri="{FF2B5EF4-FFF2-40B4-BE49-F238E27FC236}">
                <a16:creationId xmlns:a16="http://schemas.microsoft.com/office/drawing/2014/main" id="{2099346C-D929-4B3A-88DC-24420408EBED}"/>
              </a:ext>
            </a:extLst>
          </p:cNvPr>
          <p:cNvGraphicFramePr>
            <a:graphicFrameLocks noGrp="1"/>
          </p:cNvGraphicFramePr>
          <p:nvPr>
            <p:ph idx="1"/>
          </p:nvPr>
        </p:nvGraphicFramePr>
        <p:xfrm>
          <a:off x="500531" y="1103290"/>
          <a:ext cx="11285069" cy="5069840"/>
        </p:xfrm>
        <a:graphic>
          <a:graphicData uri="http://schemas.openxmlformats.org/drawingml/2006/table">
            <a:tbl>
              <a:tblPr firstRow="1" bandRow="1">
                <a:tableStyleId>{00A15C55-8517-42AA-B614-E9B94910E393}</a:tableStyleId>
              </a:tblPr>
              <a:tblGrid>
                <a:gridCol w="1723597">
                  <a:extLst>
                    <a:ext uri="{9D8B030D-6E8A-4147-A177-3AD203B41FA5}">
                      <a16:colId xmlns:a16="http://schemas.microsoft.com/office/drawing/2014/main" val="3656697539"/>
                    </a:ext>
                  </a:extLst>
                </a:gridCol>
                <a:gridCol w="4780736">
                  <a:extLst>
                    <a:ext uri="{9D8B030D-6E8A-4147-A177-3AD203B41FA5}">
                      <a16:colId xmlns:a16="http://schemas.microsoft.com/office/drawing/2014/main" val="376235116"/>
                    </a:ext>
                  </a:extLst>
                </a:gridCol>
                <a:gridCol w="4780736">
                  <a:extLst>
                    <a:ext uri="{9D8B030D-6E8A-4147-A177-3AD203B41FA5}">
                      <a16:colId xmlns:a16="http://schemas.microsoft.com/office/drawing/2014/main" val="1485235951"/>
                    </a:ext>
                  </a:extLst>
                </a:gridCol>
              </a:tblGrid>
              <a:tr h="370840">
                <a:tc>
                  <a:txBody>
                    <a:bodyPr/>
                    <a:lstStyle/>
                    <a:p>
                      <a:endParaRPr lang="en-US" sz="1200" dirty="0"/>
                    </a:p>
                  </a:txBody>
                  <a:tcPr/>
                </a:tc>
                <a:tc>
                  <a:txBody>
                    <a:bodyPr/>
                    <a:lstStyle/>
                    <a:p>
                      <a:pPr algn="ctr"/>
                      <a:r>
                        <a:rPr lang="en-US" sz="1200" dirty="0"/>
                        <a:t>Periodic</a:t>
                      </a:r>
                    </a:p>
                  </a:txBody>
                  <a:tcPr anchor="ctr"/>
                </a:tc>
                <a:tc>
                  <a:txBody>
                    <a:bodyPr/>
                    <a:lstStyle/>
                    <a:p>
                      <a:pPr algn="ctr"/>
                      <a:r>
                        <a:rPr lang="en-US" sz="1200" dirty="0"/>
                        <a:t>Perpetual</a:t>
                      </a:r>
                    </a:p>
                  </a:txBody>
                  <a:tcPr anchor="ctr"/>
                </a:tc>
                <a:extLst>
                  <a:ext uri="{0D108BD9-81ED-4DB2-BD59-A6C34878D82A}">
                    <a16:rowId xmlns:a16="http://schemas.microsoft.com/office/drawing/2014/main" val="2820634933"/>
                  </a:ext>
                </a:extLst>
              </a:tr>
              <a:tr h="370840">
                <a:tc>
                  <a:txBody>
                    <a:bodyPr/>
                    <a:lstStyle/>
                    <a:p>
                      <a:r>
                        <a:rPr lang="en-US" sz="1200" dirty="0"/>
                        <a:t>FIFO</a:t>
                      </a:r>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extLst>
                  <a:ext uri="{0D108BD9-81ED-4DB2-BD59-A6C34878D82A}">
                    <a16:rowId xmlns:a16="http://schemas.microsoft.com/office/drawing/2014/main" val="2191702880"/>
                  </a:ext>
                </a:extLst>
              </a:tr>
              <a:tr h="370840">
                <a:tc>
                  <a:txBody>
                    <a:bodyPr/>
                    <a:lstStyle/>
                    <a:p>
                      <a:r>
                        <a:rPr lang="en-US" sz="1200" dirty="0"/>
                        <a:t>LIFO</a:t>
                      </a:r>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extLst>
                  <a:ext uri="{0D108BD9-81ED-4DB2-BD59-A6C34878D82A}">
                    <a16:rowId xmlns:a16="http://schemas.microsoft.com/office/drawing/2014/main" val="420540718"/>
                  </a:ext>
                </a:extLst>
              </a:tr>
              <a:tr h="370840">
                <a:tc>
                  <a:txBody>
                    <a:bodyPr/>
                    <a:lstStyle/>
                    <a:p>
                      <a:r>
                        <a:rPr lang="en-US" sz="1200" dirty="0"/>
                        <a:t>Average cost or </a:t>
                      </a:r>
                    </a:p>
                    <a:p>
                      <a:r>
                        <a:rPr lang="en-US" sz="1200" dirty="0"/>
                        <a:t>Moving average</a:t>
                      </a:r>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tc>
                  <a:txBody>
                    <a:bodyPr/>
                    <a:lstStyle/>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500" dirty="0"/>
                    </a:p>
                    <a:p>
                      <a:pPr marL="174625" marR="0" lvl="0" indent="-1746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lang="en-US" sz="1200" dirty="0"/>
                    </a:p>
                  </a:txBody>
                  <a:tcPr/>
                </a:tc>
                <a:extLst>
                  <a:ext uri="{0D108BD9-81ED-4DB2-BD59-A6C34878D82A}">
                    <a16:rowId xmlns:a16="http://schemas.microsoft.com/office/drawing/2014/main" val="1415303383"/>
                  </a:ext>
                </a:extLst>
              </a:tr>
            </a:tbl>
          </a:graphicData>
        </a:graphic>
      </p:graphicFrame>
      <p:sp>
        <p:nvSpPr>
          <p:cNvPr id="6" name="Rectangle 5">
            <a:extLst>
              <a:ext uri="{FF2B5EF4-FFF2-40B4-BE49-F238E27FC236}">
                <a16:creationId xmlns:a16="http://schemas.microsoft.com/office/drawing/2014/main" id="{7E7A3745-4109-4E02-8EBC-8D5C9E01DCC5}"/>
              </a:ext>
            </a:extLst>
          </p:cNvPr>
          <p:cNvSpPr/>
          <p:nvPr/>
        </p:nvSpPr>
        <p:spPr>
          <a:xfrm>
            <a:off x="7010400" y="1470607"/>
            <a:ext cx="4681069" cy="1405513"/>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b="1" dirty="0">
                <a:latin typeface="Times New Roman" panose="02020603050405020304" pitchFamily="18" charset="0"/>
                <a:cs typeface="Times New Roman" panose="02020603050405020304" pitchFamily="18" charset="0"/>
              </a:rPr>
              <a:t>Total COGS and ending inventory are the same values as those calculated in periodic FIFO.</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COGS: for </a:t>
            </a:r>
            <a:r>
              <a:rPr lang="en-US" sz="1200" u="sng" dirty="0">
                <a:latin typeface="Times New Roman" panose="02020603050405020304" pitchFamily="18" charset="0"/>
                <a:cs typeface="Times New Roman" panose="02020603050405020304" pitchFamily="18" charset="0"/>
              </a:rPr>
              <a:t>each</a:t>
            </a:r>
            <a:r>
              <a:rPr lang="en-US" sz="1200" dirty="0">
                <a:latin typeface="Times New Roman" panose="02020603050405020304" pitchFamily="18" charset="0"/>
                <a:cs typeface="Times New Roman" panose="02020603050405020304" pitchFamily="18" charset="0"/>
              </a:rPr>
              <a:t> sale, calculate cost for units sold starting from earliest units. Add up costs for all sales to get total COGS.</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Ending Inventory: calculate total cost of available for sale during period and subtract COGS.</a:t>
            </a:r>
          </a:p>
        </p:txBody>
      </p:sp>
      <p:sp>
        <p:nvSpPr>
          <p:cNvPr id="3" name="Rectangle 2">
            <a:extLst>
              <a:ext uri="{FF2B5EF4-FFF2-40B4-BE49-F238E27FC236}">
                <a16:creationId xmlns:a16="http://schemas.microsoft.com/office/drawing/2014/main" id="{A79052D2-A24B-47B3-8915-9E1B3F1CC251}"/>
              </a:ext>
            </a:extLst>
          </p:cNvPr>
          <p:cNvSpPr/>
          <p:nvPr/>
        </p:nvSpPr>
        <p:spPr>
          <a:xfrm>
            <a:off x="2223752" y="1474709"/>
            <a:ext cx="4681069" cy="1405513"/>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Calculate # of total available for sale over entire period. Allocate to # sold and # left in inventory.</a:t>
            </a:r>
          </a:p>
          <a:p>
            <a:pPr marL="174625" indent="-174625">
              <a:spcAft>
                <a:spcPts val="8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COGS: calculate cost starting from earliest units until total units hits # sold.</a:t>
            </a:r>
          </a:p>
          <a:p>
            <a:pPr marL="174625" indent="-174625">
              <a:spcAft>
                <a:spcPts val="8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Ending Inventory: calculate total cost of available for sale during period and subtract COGS.</a:t>
            </a:r>
          </a:p>
        </p:txBody>
      </p:sp>
      <p:sp>
        <p:nvSpPr>
          <p:cNvPr id="5" name="Rectangle 4">
            <a:extLst>
              <a:ext uri="{FF2B5EF4-FFF2-40B4-BE49-F238E27FC236}">
                <a16:creationId xmlns:a16="http://schemas.microsoft.com/office/drawing/2014/main" id="{F5ABD140-B7F5-49BD-968D-2B4B729760BC}"/>
              </a:ext>
            </a:extLst>
          </p:cNvPr>
          <p:cNvSpPr/>
          <p:nvPr/>
        </p:nvSpPr>
        <p:spPr>
          <a:xfrm>
            <a:off x="7016840" y="3080103"/>
            <a:ext cx="4775200" cy="933589"/>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COGS: for </a:t>
            </a:r>
            <a:r>
              <a:rPr lang="en-US" sz="1200" u="sng" dirty="0">
                <a:latin typeface="Times New Roman" panose="02020603050405020304" pitchFamily="18" charset="0"/>
                <a:cs typeface="Times New Roman" panose="02020603050405020304" pitchFamily="18" charset="0"/>
              </a:rPr>
              <a:t>each</a:t>
            </a:r>
            <a:r>
              <a:rPr lang="en-US" sz="1200" dirty="0">
                <a:latin typeface="Times New Roman" panose="02020603050405020304" pitchFamily="18" charset="0"/>
                <a:cs typeface="Times New Roman" panose="02020603050405020304" pitchFamily="18" charset="0"/>
              </a:rPr>
              <a:t> sale, calculate cost for units sold starting from last units purchase. Add up costs for all sales to get total COGS.</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Ending Inventory: calculate total cost of available for sale during period and subtract COGS.</a:t>
            </a:r>
          </a:p>
        </p:txBody>
      </p:sp>
      <p:sp>
        <p:nvSpPr>
          <p:cNvPr id="8" name="Rectangle 7">
            <a:extLst>
              <a:ext uri="{FF2B5EF4-FFF2-40B4-BE49-F238E27FC236}">
                <a16:creationId xmlns:a16="http://schemas.microsoft.com/office/drawing/2014/main" id="{6C51A521-23FE-4B6C-97F6-AFC09BA1244E}"/>
              </a:ext>
            </a:extLst>
          </p:cNvPr>
          <p:cNvSpPr/>
          <p:nvPr/>
        </p:nvSpPr>
        <p:spPr>
          <a:xfrm>
            <a:off x="2223752" y="2882559"/>
            <a:ext cx="4773769" cy="1405513"/>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Calculate # of total available for sale over entire period. Allocate to # sold and # left in inventory.</a:t>
            </a:r>
          </a:p>
          <a:p>
            <a:pPr marL="174625" indent="-174625">
              <a:spcAft>
                <a:spcPts val="8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COGS: calculate cost starting from latest units until total units hits # sold.</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Ending Inventory: calculate total cost of available for sale during period and subtract COGS.</a:t>
            </a:r>
          </a:p>
        </p:txBody>
      </p:sp>
      <p:sp>
        <p:nvSpPr>
          <p:cNvPr id="9" name="Rectangle 8">
            <a:extLst>
              <a:ext uri="{FF2B5EF4-FFF2-40B4-BE49-F238E27FC236}">
                <a16:creationId xmlns:a16="http://schemas.microsoft.com/office/drawing/2014/main" id="{1C2ADE48-9056-48F0-9CE4-9F0FE20F1FBD}"/>
              </a:ext>
            </a:extLst>
          </p:cNvPr>
          <p:cNvSpPr/>
          <p:nvPr/>
        </p:nvSpPr>
        <p:spPr>
          <a:xfrm>
            <a:off x="2223752" y="4288072"/>
            <a:ext cx="4786648" cy="1877437"/>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Calculate # of total available for sale over entire period. Allocate to # sold and # left in inventory.</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Calculate weighted-average unit cost for total available for sale over entire period.</a:t>
            </a:r>
          </a:p>
          <a:p>
            <a:pPr marL="174625" indent="-174625">
              <a:spcAft>
                <a:spcPts val="8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COGS: compute # sold × weighted-average unit cost.</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Ending Inventory: compute # left in inventory × weighted-average unit cost (or calculate total cost of available for sale during period and subtract COGS.)</a:t>
            </a:r>
          </a:p>
        </p:txBody>
      </p:sp>
      <p:sp>
        <p:nvSpPr>
          <p:cNvPr id="11" name="Rectangle 10">
            <a:extLst>
              <a:ext uri="{FF2B5EF4-FFF2-40B4-BE49-F238E27FC236}">
                <a16:creationId xmlns:a16="http://schemas.microsoft.com/office/drawing/2014/main" id="{20E3B6C6-8A39-4E0C-B923-D4BF49581989}"/>
              </a:ext>
            </a:extLst>
          </p:cNvPr>
          <p:cNvSpPr/>
          <p:nvPr/>
        </p:nvSpPr>
        <p:spPr>
          <a:xfrm>
            <a:off x="7003961" y="4300950"/>
            <a:ext cx="4775200" cy="1590179"/>
          </a:xfrm>
          <a:prstGeom prst="rect">
            <a:avLst/>
          </a:prstGeom>
        </p:spPr>
        <p:txBody>
          <a:bodyPr wrap="square">
            <a:spAutoFit/>
          </a:bodyPr>
          <a:lstStyle/>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For </a:t>
            </a:r>
            <a:r>
              <a:rPr lang="en-US" sz="1200" u="sng" dirty="0">
                <a:latin typeface="Times New Roman" panose="02020603050405020304" pitchFamily="18" charset="0"/>
                <a:cs typeface="Times New Roman" panose="02020603050405020304" pitchFamily="18" charset="0"/>
              </a:rPr>
              <a:t>each</a:t>
            </a:r>
            <a:r>
              <a:rPr lang="en-US" sz="1200" dirty="0">
                <a:latin typeface="Times New Roman" panose="02020603050405020304" pitchFamily="18" charset="0"/>
                <a:cs typeface="Times New Roman" panose="02020603050405020304" pitchFamily="18" charset="0"/>
              </a:rPr>
              <a:t> sale, calculate weighted-average unit cost based on available for sale as of that date. Use this unit cost for units that are left over after sale (carry over for next calculation of cost).</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COGS: for </a:t>
            </a:r>
            <a:r>
              <a:rPr lang="en-US" sz="1200" u="sng" dirty="0">
                <a:latin typeface="Times New Roman" panose="02020603050405020304" pitchFamily="18" charset="0"/>
                <a:cs typeface="Times New Roman" panose="02020603050405020304" pitchFamily="18" charset="0"/>
              </a:rPr>
              <a:t>each</a:t>
            </a:r>
            <a:r>
              <a:rPr lang="en-US" sz="1200" dirty="0">
                <a:latin typeface="Times New Roman" panose="02020603050405020304" pitchFamily="18" charset="0"/>
                <a:cs typeface="Times New Roman" panose="02020603050405020304" pitchFamily="18" charset="0"/>
              </a:rPr>
              <a:t> sale, compute # sold × weighted-average unit cost. Add up costs for all sales to get total COGS.</a:t>
            </a:r>
          </a:p>
          <a:p>
            <a:pPr marL="174625" lvl="0" indent="-174625" eaLnBrk="1" fontAlgn="auto" hangingPunct="1">
              <a:spcBef>
                <a:spcPts val="0"/>
              </a:spcBef>
              <a:spcAft>
                <a:spcPts val="800"/>
              </a:spcAft>
              <a:buFont typeface="Arial" panose="020B0604020202020204" pitchFamily="34" charset="0"/>
              <a:buChar char="•"/>
              <a:defRPr/>
            </a:pPr>
            <a:r>
              <a:rPr lang="en-US" sz="1200" dirty="0">
                <a:latin typeface="Times New Roman" panose="02020603050405020304" pitchFamily="18" charset="0"/>
                <a:cs typeface="Times New Roman" panose="02020603050405020304" pitchFamily="18" charset="0"/>
              </a:rPr>
              <a:t>Ending Inventory: calculate total cost of available for sale during period and subtract COGS.</a:t>
            </a:r>
          </a:p>
        </p:txBody>
      </p:sp>
    </p:spTree>
    <p:extLst>
      <p:ext uri="{BB962C8B-B14F-4D97-AF65-F5344CB8AC3E}">
        <p14:creationId xmlns:p14="http://schemas.microsoft.com/office/powerpoint/2010/main" val="3746110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Custom 3">
      <a:dk1>
        <a:srgbClr val="000000"/>
      </a:dk1>
      <a:lt1>
        <a:srgbClr val="FFFFFF"/>
      </a:lt1>
      <a:dk2>
        <a:srgbClr val="565A5C"/>
      </a:dk2>
      <a:lt2>
        <a:srgbClr val="CFB87C"/>
      </a:lt2>
      <a:accent1>
        <a:srgbClr val="565A5C"/>
      </a:accent1>
      <a:accent2>
        <a:srgbClr val="003C71"/>
      </a:accent2>
      <a:accent3>
        <a:srgbClr val="500000"/>
      </a:accent3>
      <a:accent4>
        <a:srgbClr val="5B6236"/>
      </a:accent4>
      <a:accent5>
        <a:srgbClr val="999942"/>
      </a:accent5>
      <a:accent6>
        <a:srgbClr val="332C2C"/>
      </a:accent6>
      <a:hlink>
        <a:srgbClr val="707373"/>
      </a:hlink>
      <a:folHlink>
        <a:srgbClr val="FFFFFF"/>
      </a:folHlink>
    </a:clrScheme>
    <a:fontScheme name="3_Custom Design">
      <a:majorFont>
        <a:latin typeface="HelveticaNeue BoldC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5556</TotalTime>
  <Words>2016</Words>
  <Application>Microsoft Office PowerPoint</Application>
  <PresentationFormat>Widescreen</PresentationFormat>
  <Paragraphs>278</Paragraphs>
  <Slides>27</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Arial</vt:lpstr>
      <vt:lpstr>Arial Black</vt:lpstr>
      <vt:lpstr>Calibri</vt:lpstr>
      <vt:lpstr>HelveticaNeue BoldCond</vt:lpstr>
      <vt:lpstr>HelveticaNeueLT Std</vt:lpstr>
      <vt:lpstr>Times New Roman</vt:lpstr>
      <vt:lpstr>Wingdings</vt:lpstr>
      <vt:lpstr>Office Theme</vt:lpstr>
      <vt:lpstr>3_Custom Design</vt:lpstr>
      <vt:lpstr>Key Points from the Video</vt:lpstr>
      <vt:lpstr>Challenges with valuing inventory</vt:lpstr>
      <vt:lpstr>PowerPoint Presentation</vt:lpstr>
      <vt:lpstr>Two decisions companies make</vt:lpstr>
      <vt:lpstr>Periodic System</vt:lpstr>
      <vt:lpstr>Periodic System</vt:lpstr>
      <vt:lpstr>Periodic System</vt:lpstr>
      <vt:lpstr>Periodic System</vt:lpstr>
      <vt:lpstr>Periodic System</vt:lpstr>
      <vt:lpstr>Perpetual System</vt:lpstr>
      <vt:lpstr>Perpetual System</vt:lpstr>
      <vt:lpstr>Perpetual System</vt:lpstr>
      <vt:lpstr>Perpetual System</vt:lpstr>
      <vt:lpstr>Perpetual System</vt:lpstr>
      <vt:lpstr>Two decisions companies make</vt:lpstr>
      <vt:lpstr>Inventory:  The need to make cost-flow assumptions</vt:lpstr>
      <vt:lpstr>Inventory:  The need to make cost-flow assumptions</vt:lpstr>
      <vt:lpstr>Inventory:  The need to make cost-flow assumptions</vt:lpstr>
      <vt:lpstr>Inventory:  The need to make cost-flow assumptions</vt:lpstr>
      <vt:lpstr>Inventory:  The need to make cost-flow assumptions</vt:lpstr>
      <vt:lpstr>Picking an inventory cost-flow method</vt:lpstr>
      <vt:lpstr>Inventory:  Four Cost-Flow Assumptions</vt:lpstr>
      <vt:lpstr>Comparison of methods</vt:lpstr>
      <vt:lpstr>Handout…</vt:lpstr>
      <vt:lpstr>Takeaways</vt:lpstr>
      <vt:lpstr>Go to handout…</vt:lpstr>
      <vt:lpstr>Calculating total COGS and ending inventory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Kubie</dc:creator>
  <cp:lastModifiedBy>Jeremiah Contreras</cp:lastModifiedBy>
  <cp:revision>163</cp:revision>
  <dcterms:created xsi:type="dcterms:W3CDTF">2016-01-26T18:12:20Z</dcterms:created>
  <dcterms:modified xsi:type="dcterms:W3CDTF">2025-10-08T00:16:50Z</dcterms:modified>
</cp:coreProperties>
</file>