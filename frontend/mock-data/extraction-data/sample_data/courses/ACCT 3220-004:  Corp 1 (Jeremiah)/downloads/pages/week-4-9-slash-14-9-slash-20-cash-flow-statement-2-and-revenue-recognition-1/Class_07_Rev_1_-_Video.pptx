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95" r:id="rId2"/>
    <p:sldId id="297" r:id="rId3"/>
    <p:sldId id="301" r:id="rId4"/>
    <p:sldId id="299" r:id="rId5"/>
    <p:sldId id="259" r:id="rId6"/>
    <p:sldId id="310" r:id="rId7"/>
    <p:sldId id="314" r:id="rId8"/>
    <p:sldId id="263" r:id="rId9"/>
    <p:sldId id="264" r:id="rId10"/>
    <p:sldId id="298" r:id="rId11"/>
    <p:sldId id="269" r:id="rId12"/>
    <p:sldId id="318" r:id="rId13"/>
    <p:sldId id="319" r:id="rId14"/>
    <p:sldId id="320" r:id="rId15"/>
    <p:sldId id="432" r:id="rId16"/>
    <p:sldId id="433" r:id="rId17"/>
    <p:sldId id="434" r:id="rId18"/>
    <p:sldId id="436" r:id="rId19"/>
    <p:sldId id="435" r:id="rId20"/>
    <p:sldId id="437" r:id="rId21"/>
    <p:sldId id="328" r:id="rId22"/>
    <p:sldId id="272" r:id="rId23"/>
    <p:sldId id="329" r:id="rId24"/>
    <p:sldId id="330" r:id="rId25"/>
    <p:sldId id="331" r:id="rId26"/>
    <p:sldId id="332" r:id="rId27"/>
    <p:sldId id="273" r:id="rId28"/>
    <p:sldId id="334" r:id="rId29"/>
    <p:sldId id="335" r:id="rId30"/>
    <p:sldId id="274" r:id="rId31"/>
    <p:sldId id="337" r:id="rId32"/>
    <p:sldId id="338" r:id="rId33"/>
    <p:sldId id="439" r:id="rId34"/>
    <p:sldId id="43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8"/>
    <p:restoredTop sz="84606" autoAdjust="0"/>
  </p:normalViewPr>
  <p:slideViewPr>
    <p:cSldViewPr snapToGrid="0" snapToObjects="1">
      <p:cViewPr varScale="1">
        <p:scale>
          <a:sx n="66" d="100"/>
          <a:sy n="66" d="100"/>
        </p:scale>
        <p:origin x="63" y="195"/>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iah Contreras" userId="9ea49ee18badb19e" providerId="LiveId" clId="{9AED3F5B-8C09-4239-A47C-10FA53AF6E93}"/>
    <pc:docChg chg="delSld">
      <pc:chgData name="Jeremiah Contreras" userId="9ea49ee18badb19e" providerId="LiveId" clId="{9AED3F5B-8C09-4239-A47C-10FA53AF6E93}" dt="2022-09-04T17:45:29.401" v="0" actId="47"/>
      <pc:docMkLst>
        <pc:docMk/>
      </pc:docMkLst>
      <pc:sldChg chg="del">
        <pc:chgData name="Jeremiah Contreras" userId="9ea49ee18badb19e" providerId="LiveId" clId="{9AED3F5B-8C09-4239-A47C-10FA53AF6E93}" dt="2022-09-04T17:45:29.401" v="0" actId="47"/>
        <pc:sldMkLst>
          <pc:docMk/>
          <pc:sldMk cId="410908687" sldId="265"/>
        </pc:sldMkLst>
      </pc:sldChg>
      <pc:sldChg chg="del">
        <pc:chgData name="Jeremiah Contreras" userId="9ea49ee18badb19e" providerId="LiveId" clId="{9AED3F5B-8C09-4239-A47C-10FA53AF6E93}" dt="2022-09-04T17:45:29.401" v="0" actId="47"/>
        <pc:sldMkLst>
          <pc:docMk/>
          <pc:sldMk cId="237041318" sldId="266"/>
        </pc:sldMkLst>
      </pc:sldChg>
      <pc:sldChg chg="del">
        <pc:chgData name="Jeremiah Contreras" userId="9ea49ee18badb19e" providerId="LiveId" clId="{9AED3F5B-8C09-4239-A47C-10FA53AF6E93}" dt="2022-09-04T17:45:29.401" v="0" actId="47"/>
        <pc:sldMkLst>
          <pc:docMk/>
          <pc:sldMk cId="295841296" sldId="267"/>
        </pc:sldMkLst>
      </pc:sldChg>
      <pc:sldChg chg="del">
        <pc:chgData name="Jeremiah Contreras" userId="9ea49ee18badb19e" providerId="LiveId" clId="{9AED3F5B-8C09-4239-A47C-10FA53AF6E93}" dt="2022-09-04T17:45:29.401" v="0" actId="47"/>
        <pc:sldMkLst>
          <pc:docMk/>
          <pc:sldMk cId="2852779655" sldId="275"/>
        </pc:sldMkLst>
      </pc:sldChg>
      <pc:sldChg chg="del">
        <pc:chgData name="Jeremiah Contreras" userId="9ea49ee18badb19e" providerId="LiveId" clId="{9AED3F5B-8C09-4239-A47C-10FA53AF6E93}" dt="2022-09-04T17:45:29.401" v="0" actId="47"/>
        <pc:sldMkLst>
          <pc:docMk/>
          <pc:sldMk cId="1423451377" sldId="276"/>
        </pc:sldMkLst>
      </pc:sldChg>
      <pc:sldChg chg="del">
        <pc:chgData name="Jeremiah Contreras" userId="9ea49ee18badb19e" providerId="LiveId" clId="{9AED3F5B-8C09-4239-A47C-10FA53AF6E93}" dt="2022-09-04T17:45:29.401" v="0" actId="47"/>
        <pc:sldMkLst>
          <pc:docMk/>
          <pc:sldMk cId="3832306220" sldId="277"/>
        </pc:sldMkLst>
      </pc:sldChg>
      <pc:sldChg chg="del">
        <pc:chgData name="Jeremiah Contreras" userId="9ea49ee18badb19e" providerId="LiveId" clId="{9AED3F5B-8C09-4239-A47C-10FA53AF6E93}" dt="2022-09-04T17:45:29.401" v="0" actId="47"/>
        <pc:sldMkLst>
          <pc:docMk/>
          <pc:sldMk cId="158083694" sldId="278"/>
        </pc:sldMkLst>
      </pc:sldChg>
      <pc:sldChg chg="del">
        <pc:chgData name="Jeremiah Contreras" userId="9ea49ee18badb19e" providerId="LiveId" clId="{9AED3F5B-8C09-4239-A47C-10FA53AF6E93}" dt="2022-09-04T17:45:29.401" v="0" actId="47"/>
        <pc:sldMkLst>
          <pc:docMk/>
          <pc:sldMk cId="2378552606" sldId="279"/>
        </pc:sldMkLst>
      </pc:sldChg>
      <pc:sldChg chg="del">
        <pc:chgData name="Jeremiah Contreras" userId="9ea49ee18badb19e" providerId="LiveId" clId="{9AED3F5B-8C09-4239-A47C-10FA53AF6E93}" dt="2022-09-04T17:45:29.401" v="0" actId="47"/>
        <pc:sldMkLst>
          <pc:docMk/>
          <pc:sldMk cId="4132430062" sldId="339"/>
        </pc:sldMkLst>
      </pc:sldChg>
      <pc:sldChg chg="del">
        <pc:chgData name="Jeremiah Contreras" userId="9ea49ee18badb19e" providerId="LiveId" clId="{9AED3F5B-8C09-4239-A47C-10FA53AF6E93}" dt="2022-09-04T17:45:29.401" v="0" actId="47"/>
        <pc:sldMkLst>
          <pc:docMk/>
          <pc:sldMk cId="3407776137" sldId="340"/>
        </pc:sldMkLst>
      </pc:sldChg>
      <pc:sldChg chg="del">
        <pc:chgData name="Jeremiah Contreras" userId="9ea49ee18badb19e" providerId="LiveId" clId="{9AED3F5B-8C09-4239-A47C-10FA53AF6E93}" dt="2022-09-04T17:45:29.401" v="0" actId="47"/>
        <pc:sldMkLst>
          <pc:docMk/>
          <pc:sldMk cId="3585567092" sldId="341"/>
        </pc:sldMkLst>
      </pc:sldChg>
      <pc:sldChg chg="del">
        <pc:chgData name="Jeremiah Contreras" userId="9ea49ee18badb19e" providerId="LiveId" clId="{9AED3F5B-8C09-4239-A47C-10FA53AF6E93}" dt="2022-09-04T17:45:29.401" v="0" actId="47"/>
        <pc:sldMkLst>
          <pc:docMk/>
          <pc:sldMk cId="3038349905" sldId="342"/>
        </pc:sldMkLst>
      </pc:sldChg>
      <pc:sldChg chg="del">
        <pc:chgData name="Jeremiah Contreras" userId="9ea49ee18badb19e" providerId="LiveId" clId="{9AED3F5B-8C09-4239-A47C-10FA53AF6E93}" dt="2022-09-04T17:45:29.401" v="0" actId="47"/>
        <pc:sldMkLst>
          <pc:docMk/>
          <pc:sldMk cId="1228505506" sldId="343"/>
        </pc:sldMkLst>
      </pc:sldChg>
      <pc:sldChg chg="del">
        <pc:chgData name="Jeremiah Contreras" userId="9ea49ee18badb19e" providerId="LiveId" clId="{9AED3F5B-8C09-4239-A47C-10FA53AF6E93}" dt="2022-09-04T17:45:29.401" v="0" actId="47"/>
        <pc:sldMkLst>
          <pc:docMk/>
          <pc:sldMk cId="258434162" sldId="344"/>
        </pc:sldMkLst>
      </pc:sldChg>
      <pc:sldChg chg="del">
        <pc:chgData name="Jeremiah Contreras" userId="9ea49ee18badb19e" providerId="LiveId" clId="{9AED3F5B-8C09-4239-A47C-10FA53AF6E93}" dt="2022-09-04T17:45:29.401" v="0" actId="47"/>
        <pc:sldMkLst>
          <pc:docMk/>
          <pc:sldMk cId="824007940" sldId="346"/>
        </pc:sldMkLst>
      </pc:sldChg>
      <pc:sldChg chg="del">
        <pc:chgData name="Jeremiah Contreras" userId="9ea49ee18badb19e" providerId="LiveId" clId="{9AED3F5B-8C09-4239-A47C-10FA53AF6E93}" dt="2022-09-04T17:45:29.401" v="0" actId="47"/>
        <pc:sldMkLst>
          <pc:docMk/>
          <pc:sldMk cId="4279599982" sldId="347"/>
        </pc:sldMkLst>
      </pc:sldChg>
      <pc:sldChg chg="del">
        <pc:chgData name="Jeremiah Contreras" userId="9ea49ee18badb19e" providerId="LiveId" clId="{9AED3F5B-8C09-4239-A47C-10FA53AF6E93}" dt="2022-09-04T17:45:29.401" v="0" actId="47"/>
        <pc:sldMkLst>
          <pc:docMk/>
          <pc:sldMk cId="4053903689" sldId="349"/>
        </pc:sldMkLst>
      </pc:sldChg>
      <pc:sldChg chg="del">
        <pc:chgData name="Jeremiah Contreras" userId="9ea49ee18badb19e" providerId="LiveId" clId="{9AED3F5B-8C09-4239-A47C-10FA53AF6E93}" dt="2022-09-04T17:45:29.401" v="0" actId="47"/>
        <pc:sldMkLst>
          <pc:docMk/>
          <pc:sldMk cId="2443736864" sldId="350"/>
        </pc:sldMkLst>
      </pc:sldChg>
      <pc:sldChg chg="del">
        <pc:chgData name="Jeremiah Contreras" userId="9ea49ee18badb19e" providerId="LiveId" clId="{9AED3F5B-8C09-4239-A47C-10FA53AF6E93}" dt="2022-09-04T17:45:29.401" v="0" actId="47"/>
        <pc:sldMkLst>
          <pc:docMk/>
          <pc:sldMk cId="2395099532" sldId="351"/>
        </pc:sldMkLst>
      </pc:sldChg>
      <pc:sldChg chg="del">
        <pc:chgData name="Jeremiah Contreras" userId="9ea49ee18badb19e" providerId="LiveId" clId="{9AED3F5B-8C09-4239-A47C-10FA53AF6E93}" dt="2022-09-04T17:45:29.401" v="0" actId="47"/>
        <pc:sldMkLst>
          <pc:docMk/>
          <pc:sldMk cId="2467685582" sldId="352"/>
        </pc:sldMkLst>
      </pc:sldChg>
      <pc:sldChg chg="del">
        <pc:chgData name="Jeremiah Contreras" userId="9ea49ee18badb19e" providerId="LiveId" clId="{9AED3F5B-8C09-4239-A47C-10FA53AF6E93}" dt="2022-09-04T17:45:29.401" v="0" actId="47"/>
        <pc:sldMkLst>
          <pc:docMk/>
          <pc:sldMk cId="461393932" sldId="354"/>
        </pc:sldMkLst>
      </pc:sldChg>
      <pc:sldChg chg="del">
        <pc:chgData name="Jeremiah Contreras" userId="9ea49ee18badb19e" providerId="LiveId" clId="{9AED3F5B-8C09-4239-A47C-10FA53AF6E93}" dt="2022-09-04T17:45:29.401" v="0" actId="47"/>
        <pc:sldMkLst>
          <pc:docMk/>
          <pc:sldMk cId="568806012" sldId="355"/>
        </pc:sldMkLst>
      </pc:sldChg>
      <pc:sldChg chg="del">
        <pc:chgData name="Jeremiah Contreras" userId="9ea49ee18badb19e" providerId="LiveId" clId="{9AED3F5B-8C09-4239-A47C-10FA53AF6E93}" dt="2022-09-04T17:45:29.401" v="0" actId="47"/>
        <pc:sldMkLst>
          <pc:docMk/>
          <pc:sldMk cId="2399075802" sldId="356"/>
        </pc:sldMkLst>
      </pc:sldChg>
      <pc:sldChg chg="del">
        <pc:chgData name="Jeremiah Contreras" userId="9ea49ee18badb19e" providerId="LiveId" clId="{9AED3F5B-8C09-4239-A47C-10FA53AF6E93}" dt="2022-09-04T17:45:29.401" v="0" actId="47"/>
        <pc:sldMkLst>
          <pc:docMk/>
          <pc:sldMk cId="3323169378" sldId="358"/>
        </pc:sldMkLst>
      </pc:sldChg>
      <pc:sldChg chg="del">
        <pc:chgData name="Jeremiah Contreras" userId="9ea49ee18badb19e" providerId="LiveId" clId="{9AED3F5B-8C09-4239-A47C-10FA53AF6E93}" dt="2022-09-04T17:45:29.401" v="0" actId="47"/>
        <pc:sldMkLst>
          <pc:docMk/>
          <pc:sldMk cId="386459851" sldId="359"/>
        </pc:sldMkLst>
      </pc:sldChg>
      <pc:sldChg chg="del">
        <pc:chgData name="Jeremiah Contreras" userId="9ea49ee18badb19e" providerId="LiveId" clId="{9AED3F5B-8C09-4239-A47C-10FA53AF6E93}" dt="2022-09-04T17:45:29.401" v="0" actId="47"/>
        <pc:sldMkLst>
          <pc:docMk/>
          <pc:sldMk cId="2349534512" sldId="361"/>
        </pc:sldMkLst>
      </pc:sldChg>
      <pc:sldChg chg="del">
        <pc:chgData name="Jeremiah Contreras" userId="9ea49ee18badb19e" providerId="LiveId" clId="{9AED3F5B-8C09-4239-A47C-10FA53AF6E93}" dt="2022-09-04T17:45:29.401" v="0" actId="47"/>
        <pc:sldMkLst>
          <pc:docMk/>
          <pc:sldMk cId="494272022" sldId="363"/>
        </pc:sldMkLst>
      </pc:sldChg>
      <pc:sldChg chg="del">
        <pc:chgData name="Jeremiah Contreras" userId="9ea49ee18badb19e" providerId="LiveId" clId="{9AED3F5B-8C09-4239-A47C-10FA53AF6E93}" dt="2022-09-04T17:45:29.401" v="0" actId="47"/>
        <pc:sldMkLst>
          <pc:docMk/>
          <pc:sldMk cId="1908820567" sldId="364"/>
        </pc:sldMkLst>
      </pc:sldChg>
      <pc:sldChg chg="del">
        <pc:chgData name="Jeremiah Contreras" userId="9ea49ee18badb19e" providerId="LiveId" clId="{9AED3F5B-8C09-4239-A47C-10FA53AF6E93}" dt="2022-09-04T17:45:29.401" v="0" actId="47"/>
        <pc:sldMkLst>
          <pc:docMk/>
          <pc:sldMk cId="3004705062" sldId="365"/>
        </pc:sldMkLst>
      </pc:sldChg>
      <pc:sldChg chg="del">
        <pc:chgData name="Jeremiah Contreras" userId="9ea49ee18badb19e" providerId="LiveId" clId="{9AED3F5B-8C09-4239-A47C-10FA53AF6E93}" dt="2022-09-04T17:45:29.401" v="0" actId="47"/>
        <pc:sldMkLst>
          <pc:docMk/>
          <pc:sldMk cId="3445833310" sldId="367"/>
        </pc:sldMkLst>
      </pc:sldChg>
      <pc:sldChg chg="del">
        <pc:chgData name="Jeremiah Contreras" userId="9ea49ee18badb19e" providerId="LiveId" clId="{9AED3F5B-8C09-4239-A47C-10FA53AF6E93}" dt="2022-09-04T17:45:29.401" v="0" actId="47"/>
        <pc:sldMkLst>
          <pc:docMk/>
          <pc:sldMk cId="1134505766" sldId="368"/>
        </pc:sldMkLst>
      </pc:sldChg>
      <pc:sldChg chg="del">
        <pc:chgData name="Jeremiah Contreras" userId="9ea49ee18badb19e" providerId="LiveId" clId="{9AED3F5B-8C09-4239-A47C-10FA53AF6E93}" dt="2022-09-04T17:45:29.401" v="0" actId="47"/>
        <pc:sldMkLst>
          <pc:docMk/>
          <pc:sldMk cId="3664577199" sldId="369"/>
        </pc:sldMkLst>
      </pc:sldChg>
      <pc:sldChg chg="del">
        <pc:chgData name="Jeremiah Contreras" userId="9ea49ee18badb19e" providerId="LiveId" clId="{9AED3F5B-8C09-4239-A47C-10FA53AF6E93}" dt="2022-09-04T17:45:29.401" v="0" actId="47"/>
        <pc:sldMkLst>
          <pc:docMk/>
          <pc:sldMk cId="2985327929" sldId="371"/>
        </pc:sldMkLst>
      </pc:sldChg>
      <pc:sldChg chg="del">
        <pc:chgData name="Jeremiah Contreras" userId="9ea49ee18badb19e" providerId="LiveId" clId="{9AED3F5B-8C09-4239-A47C-10FA53AF6E93}" dt="2022-09-04T17:45:29.401" v="0" actId="47"/>
        <pc:sldMkLst>
          <pc:docMk/>
          <pc:sldMk cId="1377587177" sldId="372"/>
        </pc:sldMkLst>
      </pc:sldChg>
      <pc:sldChg chg="del">
        <pc:chgData name="Jeremiah Contreras" userId="9ea49ee18badb19e" providerId="LiveId" clId="{9AED3F5B-8C09-4239-A47C-10FA53AF6E93}" dt="2022-09-04T17:45:29.401" v="0" actId="47"/>
        <pc:sldMkLst>
          <pc:docMk/>
          <pc:sldMk cId="1039424803" sldId="373"/>
        </pc:sldMkLst>
      </pc:sldChg>
      <pc:sldChg chg="del">
        <pc:chgData name="Jeremiah Contreras" userId="9ea49ee18badb19e" providerId="LiveId" clId="{9AED3F5B-8C09-4239-A47C-10FA53AF6E93}" dt="2022-09-04T17:45:29.401" v="0" actId="47"/>
        <pc:sldMkLst>
          <pc:docMk/>
          <pc:sldMk cId="3045250926" sldId="374"/>
        </pc:sldMkLst>
      </pc:sldChg>
      <pc:sldChg chg="del">
        <pc:chgData name="Jeremiah Contreras" userId="9ea49ee18badb19e" providerId="LiveId" clId="{9AED3F5B-8C09-4239-A47C-10FA53AF6E93}" dt="2022-09-04T17:45:29.401" v="0" actId="47"/>
        <pc:sldMkLst>
          <pc:docMk/>
          <pc:sldMk cId="3468533979" sldId="387"/>
        </pc:sldMkLst>
      </pc:sldChg>
      <pc:sldChg chg="del">
        <pc:chgData name="Jeremiah Contreras" userId="9ea49ee18badb19e" providerId="LiveId" clId="{9AED3F5B-8C09-4239-A47C-10FA53AF6E93}" dt="2022-09-04T17:45:29.401" v="0" actId="47"/>
        <pc:sldMkLst>
          <pc:docMk/>
          <pc:sldMk cId="2169924698" sldId="388"/>
        </pc:sldMkLst>
      </pc:sldChg>
      <pc:sldChg chg="del">
        <pc:chgData name="Jeremiah Contreras" userId="9ea49ee18badb19e" providerId="LiveId" clId="{9AED3F5B-8C09-4239-A47C-10FA53AF6E93}" dt="2022-09-04T17:45:29.401" v="0" actId="47"/>
        <pc:sldMkLst>
          <pc:docMk/>
          <pc:sldMk cId="1251406577" sldId="389"/>
        </pc:sldMkLst>
      </pc:sldChg>
      <pc:sldChg chg="del">
        <pc:chgData name="Jeremiah Contreras" userId="9ea49ee18badb19e" providerId="LiveId" clId="{9AED3F5B-8C09-4239-A47C-10FA53AF6E93}" dt="2022-09-04T17:45:29.401" v="0" actId="47"/>
        <pc:sldMkLst>
          <pc:docMk/>
          <pc:sldMk cId="646762350" sldId="390"/>
        </pc:sldMkLst>
      </pc:sldChg>
      <pc:sldChg chg="del">
        <pc:chgData name="Jeremiah Contreras" userId="9ea49ee18badb19e" providerId="LiveId" clId="{9AED3F5B-8C09-4239-A47C-10FA53AF6E93}" dt="2022-09-04T17:45:29.401" v="0" actId="47"/>
        <pc:sldMkLst>
          <pc:docMk/>
          <pc:sldMk cId="2444446549" sldId="391"/>
        </pc:sldMkLst>
      </pc:sldChg>
      <pc:sldChg chg="del">
        <pc:chgData name="Jeremiah Contreras" userId="9ea49ee18badb19e" providerId="LiveId" clId="{9AED3F5B-8C09-4239-A47C-10FA53AF6E93}" dt="2022-09-04T17:45:29.401" v="0" actId="47"/>
        <pc:sldMkLst>
          <pc:docMk/>
          <pc:sldMk cId="3522813700" sldId="392"/>
        </pc:sldMkLst>
      </pc:sldChg>
      <pc:sldChg chg="del">
        <pc:chgData name="Jeremiah Contreras" userId="9ea49ee18badb19e" providerId="LiveId" clId="{9AED3F5B-8C09-4239-A47C-10FA53AF6E93}" dt="2022-09-04T17:45:29.401" v="0" actId="47"/>
        <pc:sldMkLst>
          <pc:docMk/>
          <pc:sldMk cId="3557538831" sldId="393"/>
        </pc:sldMkLst>
      </pc:sldChg>
      <pc:sldChg chg="del">
        <pc:chgData name="Jeremiah Contreras" userId="9ea49ee18badb19e" providerId="LiveId" clId="{9AED3F5B-8C09-4239-A47C-10FA53AF6E93}" dt="2022-09-04T17:45:29.401" v="0" actId="47"/>
        <pc:sldMkLst>
          <pc:docMk/>
          <pc:sldMk cId="982689797" sldId="418"/>
        </pc:sldMkLst>
      </pc:sldChg>
      <pc:sldChg chg="del">
        <pc:chgData name="Jeremiah Contreras" userId="9ea49ee18badb19e" providerId="LiveId" clId="{9AED3F5B-8C09-4239-A47C-10FA53AF6E93}" dt="2022-09-04T17:45:29.401" v="0" actId="47"/>
        <pc:sldMkLst>
          <pc:docMk/>
          <pc:sldMk cId="2300976765" sldId="419"/>
        </pc:sldMkLst>
      </pc:sldChg>
      <pc:sldChg chg="del">
        <pc:chgData name="Jeremiah Contreras" userId="9ea49ee18badb19e" providerId="LiveId" clId="{9AED3F5B-8C09-4239-A47C-10FA53AF6E93}" dt="2022-09-04T17:45:29.401" v="0" actId="47"/>
        <pc:sldMkLst>
          <pc:docMk/>
          <pc:sldMk cId="2344814658" sldId="420"/>
        </pc:sldMkLst>
      </pc:sldChg>
      <pc:sldChg chg="del">
        <pc:chgData name="Jeremiah Contreras" userId="9ea49ee18badb19e" providerId="LiveId" clId="{9AED3F5B-8C09-4239-A47C-10FA53AF6E93}" dt="2022-09-04T17:45:29.401" v="0" actId="47"/>
        <pc:sldMkLst>
          <pc:docMk/>
          <pc:sldMk cId="2381788873" sldId="421"/>
        </pc:sldMkLst>
      </pc:sldChg>
      <pc:sldChg chg="del">
        <pc:chgData name="Jeremiah Contreras" userId="9ea49ee18badb19e" providerId="LiveId" clId="{9AED3F5B-8C09-4239-A47C-10FA53AF6E93}" dt="2022-09-04T17:45:29.401" v="0" actId="47"/>
        <pc:sldMkLst>
          <pc:docMk/>
          <pc:sldMk cId="207354066" sldId="422"/>
        </pc:sldMkLst>
      </pc:sldChg>
      <pc:sldChg chg="del">
        <pc:chgData name="Jeremiah Contreras" userId="9ea49ee18badb19e" providerId="LiveId" clId="{9AED3F5B-8C09-4239-A47C-10FA53AF6E93}" dt="2022-09-04T17:45:29.401" v="0" actId="47"/>
        <pc:sldMkLst>
          <pc:docMk/>
          <pc:sldMk cId="2016004932" sldId="423"/>
        </pc:sldMkLst>
      </pc:sldChg>
      <pc:sldChg chg="del">
        <pc:chgData name="Jeremiah Contreras" userId="9ea49ee18badb19e" providerId="LiveId" clId="{9AED3F5B-8C09-4239-A47C-10FA53AF6E93}" dt="2022-09-04T17:45:29.401" v="0" actId="47"/>
        <pc:sldMkLst>
          <pc:docMk/>
          <pc:sldMk cId="2892856794" sldId="424"/>
        </pc:sldMkLst>
      </pc:sldChg>
      <pc:sldChg chg="del">
        <pc:chgData name="Jeremiah Contreras" userId="9ea49ee18badb19e" providerId="LiveId" clId="{9AED3F5B-8C09-4239-A47C-10FA53AF6E93}" dt="2022-09-04T17:45:29.401" v="0" actId="47"/>
        <pc:sldMkLst>
          <pc:docMk/>
          <pc:sldMk cId="2179874701" sldId="425"/>
        </pc:sldMkLst>
      </pc:sldChg>
      <pc:sldChg chg="del">
        <pc:chgData name="Jeremiah Contreras" userId="9ea49ee18badb19e" providerId="LiveId" clId="{9AED3F5B-8C09-4239-A47C-10FA53AF6E93}" dt="2022-09-04T17:45:29.401" v="0" actId="47"/>
        <pc:sldMkLst>
          <pc:docMk/>
          <pc:sldMk cId="1188530402" sldId="426"/>
        </pc:sldMkLst>
      </pc:sldChg>
      <pc:sldChg chg="del">
        <pc:chgData name="Jeremiah Contreras" userId="9ea49ee18badb19e" providerId="LiveId" clId="{9AED3F5B-8C09-4239-A47C-10FA53AF6E93}" dt="2022-09-04T17:45:29.401" v="0" actId="47"/>
        <pc:sldMkLst>
          <pc:docMk/>
          <pc:sldMk cId="4013328770" sldId="427"/>
        </pc:sldMkLst>
      </pc:sldChg>
      <pc:sldChg chg="del">
        <pc:chgData name="Jeremiah Contreras" userId="9ea49ee18badb19e" providerId="LiveId" clId="{9AED3F5B-8C09-4239-A47C-10FA53AF6E93}" dt="2022-09-04T17:45:29.401" v="0" actId="47"/>
        <pc:sldMkLst>
          <pc:docMk/>
          <pc:sldMk cId="3691159793" sldId="428"/>
        </pc:sldMkLst>
      </pc:sldChg>
      <pc:sldChg chg="del">
        <pc:chgData name="Jeremiah Contreras" userId="9ea49ee18badb19e" providerId="LiveId" clId="{9AED3F5B-8C09-4239-A47C-10FA53AF6E93}" dt="2022-09-04T17:45:29.401" v="0" actId="47"/>
        <pc:sldMkLst>
          <pc:docMk/>
          <pc:sldMk cId="271074855" sldId="429"/>
        </pc:sldMkLst>
      </pc:sldChg>
      <pc:sldChg chg="del">
        <pc:chgData name="Jeremiah Contreras" userId="9ea49ee18badb19e" providerId="LiveId" clId="{9AED3F5B-8C09-4239-A47C-10FA53AF6E93}" dt="2022-09-04T17:45:29.401" v="0" actId="47"/>
        <pc:sldMkLst>
          <pc:docMk/>
          <pc:sldMk cId="3332561823" sldId="430"/>
        </pc:sldMkLst>
      </pc:sldChg>
      <pc:sldChg chg="del">
        <pc:chgData name="Jeremiah Contreras" userId="9ea49ee18badb19e" providerId="LiveId" clId="{9AED3F5B-8C09-4239-A47C-10FA53AF6E93}" dt="2022-09-04T17:45:29.401" v="0" actId="47"/>
        <pc:sldMkLst>
          <pc:docMk/>
          <pc:sldMk cId="2720219616" sldId="440"/>
        </pc:sldMkLst>
      </pc:sldChg>
      <pc:sldChg chg="del">
        <pc:chgData name="Jeremiah Contreras" userId="9ea49ee18badb19e" providerId="LiveId" clId="{9AED3F5B-8C09-4239-A47C-10FA53AF6E93}" dt="2022-09-04T17:45:29.401" v="0" actId="47"/>
        <pc:sldMkLst>
          <pc:docMk/>
          <pc:sldMk cId="2666416834" sldId="441"/>
        </pc:sldMkLst>
      </pc:sldChg>
      <pc:sldChg chg="del">
        <pc:chgData name="Jeremiah Contreras" userId="9ea49ee18badb19e" providerId="LiveId" clId="{9AED3F5B-8C09-4239-A47C-10FA53AF6E93}" dt="2022-09-04T17:45:29.401" v="0" actId="47"/>
        <pc:sldMkLst>
          <pc:docMk/>
          <pc:sldMk cId="1914313533" sldId="442"/>
        </pc:sldMkLst>
      </pc:sldChg>
      <pc:sldChg chg="del">
        <pc:chgData name="Jeremiah Contreras" userId="9ea49ee18badb19e" providerId="LiveId" clId="{9AED3F5B-8C09-4239-A47C-10FA53AF6E93}" dt="2022-09-04T17:45:29.401" v="0" actId="47"/>
        <pc:sldMkLst>
          <pc:docMk/>
          <pc:sldMk cId="701526281" sldId="443"/>
        </pc:sldMkLst>
      </pc:sldChg>
      <pc:sldChg chg="del">
        <pc:chgData name="Jeremiah Contreras" userId="9ea49ee18badb19e" providerId="LiveId" clId="{9AED3F5B-8C09-4239-A47C-10FA53AF6E93}" dt="2022-09-04T17:45:29.401" v="0" actId="47"/>
        <pc:sldMkLst>
          <pc:docMk/>
          <pc:sldMk cId="297116144" sldId="444"/>
        </pc:sldMkLst>
      </pc:sldChg>
      <pc:sldChg chg="del">
        <pc:chgData name="Jeremiah Contreras" userId="9ea49ee18badb19e" providerId="LiveId" clId="{9AED3F5B-8C09-4239-A47C-10FA53AF6E93}" dt="2022-09-04T17:45:29.401" v="0" actId="47"/>
        <pc:sldMkLst>
          <pc:docMk/>
          <pc:sldMk cId="2805402400" sldId="445"/>
        </pc:sldMkLst>
      </pc:sldChg>
      <pc:sldChg chg="del">
        <pc:chgData name="Jeremiah Contreras" userId="9ea49ee18badb19e" providerId="LiveId" clId="{9AED3F5B-8C09-4239-A47C-10FA53AF6E93}" dt="2022-09-04T17:45:29.401" v="0" actId="47"/>
        <pc:sldMkLst>
          <pc:docMk/>
          <pc:sldMk cId="1695433320" sldId="446"/>
        </pc:sldMkLst>
      </pc:sldChg>
      <pc:sldChg chg="del">
        <pc:chgData name="Jeremiah Contreras" userId="9ea49ee18badb19e" providerId="LiveId" clId="{9AED3F5B-8C09-4239-A47C-10FA53AF6E93}" dt="2022-09-04T17:45:29.401" v="0" actId="47"/>
        <pc:sldMkLst>
          <pc:docMk/>
          <pc:sldMk cId="736374946" sldId="447"/>
        </pc:sldMkLst>
      </pc:sldChg>
      <pc:sldChg chg="del">
        <pc:chgData name="Jeremiah Contreras" userId="9ea49ee18badb19e" providerId="LiveId" clId="{9AED3F5B-8C09-4239-A47C-10FA53AF6E93}" dt="2022-09-04T17:45:29.401" v="0" actId="47"/>
        <pc:sldMkLst>
          <pc:docMk/>
          <pc:sldMk cId="1253652027" sldId="44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2AF6DA-881C-4C79-B7BB-AE39812FEEB9}" type="datetimeFigureOut">
              <a:rPr lang="en-US" smtClean="0"/>
              <a:t>9/4/2022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1D006A-6F4D-4501-8E73-99D0EC5E5B2D}" type="slidenum">
              <a:rPr lang="en-US" smtClean="0"/>
              <a:t>‹#›</a:t>
            </a:fld>
            <a:endParaRPr lang="en-US"/>
          </a:p>
        </p:txBody>
      </p:sp>
    </p:spTree>
    <p:extLst>
      <p:ext uri="{BB962C8B-B14F-4D97-AF65-F5344CB8AC3E}">
        <p14:creationId xmlns:p14="http://schemas.microsoft.com/office/powerpoint/2010/main" val="3330429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p:cNvSpPr>
          <p:nvPr>
            <p:ph type="sldImg"/>
          </p:nvPr>
        </p:nvSpPr>
        <p:spPr bwMode="auto">
          <a:xfrm>
            <a:off x="407988" y="698500"/>
            <a:ext cx="6208712"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xfrm>
            <a:off x="703263" y="4422775"/>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35" tIns="43867" rIns="87735" bIns="43867"/>
          <a:lstStyle/>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2602971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p:cNvSpPr>
          <p:nvPr>
            <p:ph type="sldImg"/>
          </p:nvPr>
        </p:nvSpPr>
        <p:spPr bwMode="auto">
          <a:xfrm>
            <a:off x="412750" y="701675"/>
            <a:ext cx="6202363" cy="34893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xfrm>
            <a:off x="701676" y="4422775"/>
            <a:ext cx="5619750" cy="4184650"/>
          </a:xfrm>
          <a:prstGeom prst="rect">
            <a:avLst/>
          </a:prstGeom>
          <a:ln>
            <a:miter lim="800000"/>
            <a:headEnd/>
            <a:tailEnd/>
          </a:ln>
        </p:spPr>
        <p:txBody>
          <a:bodyPr lIns="93247" tIns="46625" rIns="93247" bIns="46625"/>
          <a:lstStyle/>
          <a:p>
            <a:pPr>
              <a:defRPr/>
            </a:pPr>
            <a:r>
              <a:rPr lang="en-US" u="none" dirty="0"/>
              <a:t>We spend two classes on revenue recognition.  </a:t>
            </a:r>
          </a:p>
          <a:p>
            <a:pPr marL="171450" indent="-171450">
              <a:buFont typeface="Arial" panose="020B0604020202020204" pitchFamily="34" charset="0"/>
              <a:buChar char="•"/>
              <a:defRPr/>
            </a:pPr>
            <a:r>
              <a:rPr lang="en-US" u="none" dirty="0"/>
              <a:t>Previously intuition on when to recognize is when it is earned – when you do the work.</a:t>
            </a:r>
          </a:p>
          <a:p>
            <a:pPr marL="171450" indent="-171450">
              <a:buFont typeface="Arial" panose="020B0604020202020204" pitchFamily="34" charset="0"/>
              <a:buChar char="•"/>
              <a:defRPr/>
            </a:pPr>
            <a:r>
              <a:rPr lang="en-US" u="none" dirty="0"/>
              <a:t>This intuition will continue – the problem is that companies enter into all sorts of different contracts that make identifying when and how much revenue to recognize difficult.</a:t>
            </a:r>
          </a:p>
          <a:p>
            <a:pPr>
              <a:defRPr/>
            </a:pPr>
            <a:endParaRPr lang="en-US" u="sng" dirty="0"/>
          </a:p>
          <a:p>
            <a:pPr>
              <a:defRPr/>
            </a:pPr>
            <a:r>
              <a:rPr lang="en-US" u="sng" dirty="0"/>
              <a:t>Why</a:t>
            </a:r>
            <a:r>
              <a:rPr lang="en-US" dirty="0"/>
              <a:t>:</a:t>
            </a:r>
          </a:p>
          <a:p>
            <a:pPr marL="221827" indent="-221827">
              <a:buFontTx/>
              <a:buAutoNum type="arabicParenR"/>
              <a:defRPr/>
            </a:pPr>
            <a:r>
              <a:rPr lang="en-US" dirty="0"/>
              <a:t>Big impact (incentive) – increasing revenue by 10% will increase profits more than decreasing costs by 10% (usually)</a:t>
            </a:r>
          </a:p>
          <a:p>
            <a:pPr marL="221827" indent="-221827">
              <a:buFontTx/>
              <a:buAutoNum type="arabicParenR"/>
              <a:defRPr/>
            </a:pPr>
            <a:r>
              <a:rPr lang="en-US" dirty="0"/>
              <a:t>Gray area (ability)</a:t>
            </a:r>
          </a:p>
          <a:p>
            <a:pPr marL="221827" indent="-221827">
              <a:buFontTx/>
              <a:buAutoNum type="arabicParenR"/>
              <a:defRPr/>
            </a:pPr>
            <a:r>
              <a:rPr lang="en-US" dirty="0"/>
              <a:t>Implications:</a:t>
            </a:r>
          </a:p>
          <a:p>
            <a:pPr>
              <a:defRPr/>
            </a:pPr>
            <a:r>
              <a:rPr lang="en-US" dirty="0"/>
              <a:t>       -Fraud allegations (AAERS): 366 out of 895 related to revenue </a:t>
            </a:r>
            <a:r>
              <a:rPr lang="en-US" dirty="0" err="1"/>
              <a:t>recog</a:t>
            </a:r>
            <a:r>
              <a:rPr lang="en-US" dirty="0"/>
              <a:t>: 41% (per DGLS)</a:t>
            </a:r>
          </a:p>
          <a:p>
            <a:pPr>
              <a:defRPr/>
            </a:pPr>
            <a:r>
              <a:rPr lang="en-US" dirty="0"/>
              <a:t>       -Restatements: 25% relate to revenue (GAO from 2002-2005)</a:t>
            </a:r>
          </a:p>
          <a:p>
            <a:pPr>
              <a:defRPr/>
            </a:pPr>
            <a:r>
              <a:rPr lang="en-US" dirty="0"/>
              <a:t>4) New standard for firm years beginning after 2018 – in the works for 10+ years. Signed off in 2015</a:t>
            </a:r>
          </a:p>
          <a:p>
            <a:pPr>
              <a:defRPr/>
            </a:pPr>
            <a:endParaRPr lang="en-US" dirty="0"/>
          </a:p>
          <a:p>
            <a:pPr>
              <a:defRPr/>
            </a:pPr>
            <a:endParaRPr lang="en-US" dirty="0"/>
          </a:p>
          <a:p>
            <a:pPr marL="220525" indent="-220525">
              <a:defRPr/>
            </a:pPr>
            <a:endParaRPr lang="en-US" u="sng" dirty="0"/>
          </a:p>
        </p:txBody>
      </p:sp>
    </p:spTree>
    <p:extLst>
      <p:ext uri="{BB962C8B-B14F-4D97-AF65-F5344CB8AC3E}">
        <p14:creationId xmlns:p14="http://schemas.microsoft.com/office/powerpoint/2010/main" val="3548629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p:cNvSpPr>
          <p:nvPr>
            <p:ph type="sldImg"/>
          </p:nvPr>
        </p:nvSpPr>
        <p:spPr bwMode="auto">
          <a:xfrm>
            <a:off x="412750" y="701675"/>
            <a:ext cx="6202363" cy="34893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xfrm>
            <a:off x="701676" y="4422775"/>
            <a:ext cx="5619750" cy="41846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211" tIns="44105" rIns="88211" bIns="44105"/>
          <a:lstStyle/>
          <a:p>
            <a:r>
              <a:rPr lang="en-US" altLang="en-US"/>
              <a:t>Simplest policy.</a:t>
            </a:r>
          </a:p>
          <a:p>
            <a:r>
              <a:rPr lang="en-US" altLang="en-US"/>
              <a:t>No sales on account, no warranties for future coverage.</a:t>
            </a:r>
          </a:p>
        </p:txBody>
      </p:sp>
    </p:spTree>
    <p:extLst>
      <p:ext uri="{BB962C8B-B14F-4D97-AF65-F5344CB8AC3E}">
        <p14:creationId xmlns:p14="http://schemas.microsoft.com/office/powerpoint/2010/main" val="1125600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p:cNvSpPr>
          <p:nvPr>
            <p:ph type="sldImg"/>
          </p:nvPr>
        </p:nvSpPr>
        <p:spPr bwMode="auto">
          <a:xfrm>
            <a:off x="412750" y="701675"/>
            <a:ext cx="6202363" cy="34893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xfrm>
            <a:off x="701676" y="4422775"/>
            <a:ext cx="5619750" cy="41846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211" tIns="44105" rIns="88211" bIns="44105"/>
          <a:lstStyle/>
          <a:p>
            <a:r>
              <a:rPr lang="en-US" altLang="en-US"/>
              <a:t>Simplest policy.</a:t>
            </a:r>
          </a:p>
          <a:p>
            <a:r>
              <a:rPr lang="en-US" altLang="en-US"/>
              <a:t>No sales on account, no warranties for future coverage.</a:t>
            </a:r>
          </a:p>
        </p:txBody>
      </p:sp>
    </p:spTree>
    <p:extLst>
      <p:ext uri="{BB962C8B-B14F-4D97-AF65-F5344CB8AC3E}">
        <p14:creationId xmlns:p14="http://schemas.microsoft.com/office/powerpoint/2010/main" val="4116040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p:cNvSpPr>
          <p:nvPr>
            <p:ph type="sldImg"/>
          </p:nvPr>
        </p:nvSpPr>
        <p:spPr bwMode="auto">
          <a:xfrm>
            <a:off x="412750" y="701675"/>
            <a:ext cx="6202363" cy="34893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xfrm>
            <a:off x="701676" y="4422775"/>
            <a:ext cx="5619750" cy="4184650"/>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7" tIns="46625" rIns="93247" bIns="46625"/>
          <a:lstStyle/>
          <a:p>
            <a:pPr>
              <a:defRPr/>
            </a:pPr>
            <a:r>
              <a:rPr lang="en-US" dirty="0"/>
              <a:t>This is 2007 b/c interesting rev </a:t>
            </a:r>
            <a:r>
              <a:rPr lang="en-US" dirty="0" err="1"/>
              <a:t>recog</a:t>
            </a:r>
            <a:r>
              <a:rPr lang="en-US" dirty="0"/>
              <a:t> at this time.  After we talk about this, I’ll tell you how they </a:t>
            </a:r>
            <a:r>
              <a:rPr lang="en-US" dirty="0" err="1"/>
              <a:t>recog</a:t>
            </a:r>
            <a:r>
              <a:rPr lang="en-US" dirty="0"/>
              <a:t> rev now.</a:t>
            </a:r>
          </a:p>
          <a:p>
            <a:pPr>
              <a:defRPr/>
            </a:pPr>
            <a:endParaRPr lang="en-US" dirty="0"/>
          </a:p>
          <a:p>
            <a:pPr>
              <a:defRPr/>
            </a:pPr>
            <a:r>
              <a:rPr lang="en-US" u="sng" dirty="0"/>
              <a:t>2007</a:t>
            </a:r>
            <a:r>
              <a:rPr lang="en-US" dirty="0"/>
              <a:t>:</a:t>
            </a:r>
          </a:p>
          <a:p>
            <a:pPr>
              <a:defRPr/>
            </a:pPr>
            <a:r>
              <a:rPr lang="en-US" dirty="0"/>
              <a:t>Defer revenue on iPhone, very unique.  Do not defer for iPod.  WHY??</a:t>
            </a:r>
          </a:p>
          <a:p>
            <a:pPr>
              <a:defRPr/>
            </a:pPr>
            <a:r>
              <a:rPr lang="en-US" dirty="0"/>
              <a:t>They do this b/c of later product updates that are provided free to customer.</a:t>
            </a:r>
          </a:p>
          <a:p>
            <a:pPr>
              <a:defRPr/>
            </a:pPr>
            <a:r>
              <a:rPr lang="en-US" dirty="0"/>
              <a:t>They do not defer for </a:t>
            </a:r>
            <a:r>
              <a:rPr lang="en-US" dirty="0" err="1"/>
              <a:t>ipod</a:t>
            </a:r>
            <a:r>
              <a:rPr lang="en-US" dirty="0"/>
              <a:t> b/c they charge for updates.</a:t>
            </a:r>
          </a:p>
          <a:p>
            <a:pPr>
              <a:defRPr/>
            </a:pPr>
            <a:endParaRPr lang="en-US" dirty="0"/>
          </a:p>
          <a:p>
            <a:pPr>
              <a:defRPr/>
            </a:pPr>
            <a:r>
              <a:rPr lang="en-US" dirty="0"/>
              <a:t>Why do they want this?  Helps smooth sales, less seasonal perhaps.</a:t>
            </a:r>
          </a:p>
          <a:p>
            <a:pPr>
              <a:defRPr/>
            </a:pPr>
            <a:endParaRPr lang="en-US" dirty="0"/>
          </a:p>
          <a:p>
            <a:pPr>
              <a:defRPr/>
            </a:pPr>
            <a:r>
              <a:rPr lang="en-US" u="sng" dirty="0"/>
              <a:t>Now</a:t>
            </a:r>
            <a:r>
              <a:rPr lang="en-US" dirty="0"/>
              <a:t>:</a:t>
            </a:r>
          </a:p>
          <a:p>
            <a:pPr>
              <a:defRPr/>
            </a:pPr>
            <a:r>
              <a:rPr lang="en-US" dirty="0"/>
              <a:t>Allocate b/w </a:t>
            </a:r>
          </a:p>
          <a:p>
            <a:pPr marL="221858" indent="-221858">
              <a:buFontTx/>
              <a:buAutoNum type="arabicParenR"/>
              <a:defRPr/>
            </a:pPr>
            <a:r>
              <a:rPr lang="en-US" dirty="0"/>
              <a:t>Hardware/software (</a:t>
            </a:r>
            <a:r>
              <a:rPr lang="en-US" dirty="0" err="1"/>
              <a:t>recog</a:t>
            </a:r>
            <a:r>
              <a:rPr lang="en-US" dirty="0"/>
              <a:t> at sale)</a:t>
            </a:r>
          </a:p>
          <a:p>
            <a:pPr marL="221858" indent="-221858">
              <a:buFontTx/>
              <a:buAutoNum type="arabicParenR"/>
              <a:defRPr/>
            </a:pPr>
            <a:r>
              <a:rPr lang="en-US" dirty="0"/>
              <a:t>Right to future upgrades in software (</a:t>
            </a:r>
            <a:r>
              <a:rPr lang="en-US" dirty="0" err="1"/>
              <a:t>straightline</a:t>
            </a:r>
            <a:r>
              <a:rPr lang="en-US" dirty="0"/>
              <a:t> 24-48 </a:t>
            </a:r>
            <a:r>
              <a:rPr lang="en-US" dirty="0" err="1"/>
              <a:t>mos</a:t>
            </a:r>
            <a:r>
              <a:rPr lang="en-US" dirty="0"/>
              <a:t>)</a:t>
            </a:r>
          </a:p>
          <a:p>
            <a:pPr marL="221858" indent="-221858">
              <a:buFontTx/>
              <a:buAutoNum type="arabicParenR"/>
              <a:defRPr/>
            </a:pPr>
            <a:r>
              <a:rPr lang="en-US" dirty="0"/>
              <a:t>Non-software services (</a:t>
            </a:r>
            <a:r>
              <a:rPr lang="en-US" dirty="0" err="1"/>
              <a:t>straightline</a:t>
            </a:r>
            <a:r>
              <a:rPr lang="en-US" dirty="0"/>
              <a:t> 24-48 </a:t>
            </a:r>
            <a:r>
              <a:rPr lang="en-US" dirty="0" err="1"/>
              <a:t>mos</a:t>
            </a:r>
            <a:r>
              <a:rPr lang="en-US" dirty="0"/>
              <a:t>)</a:t>
            </a:r>
          </a:p>
        </p:txBody>
      </p:sp>
    </p:spTree>
    <p:extLst>
      <p:ext uri="{BB962C8B-B14F-4D97-AF65-F5344CB8AC3E}">
        <p14:creationId xmlns:p14="http://schemas.microsoft.com/office/powerpoint/2010/main" val="1108803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p:cNvSpPr>
          <p:nvPr>
            <p:ph type="sldImg"/>
          </p:nvPr>
        </p:nvSpPr>
        <p:spPr bwMode="auto">
          <a:xfrm>
            <a:off x="412750" y="701675"/>
            <a:ext cx="6202363" cy="34893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xfrm>
            <a:off x="701676" y="4422775"/>
            <a:ext cx="5619750" cy="4184650"/>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7" tIns="46625" rIns="93247" bIns="46625"/>
          <a:lstStyle/>
          <a:p>
            <a:pPr>
              <a:defRPr/>
            </a:pPr>
            <a:r>
              <a:rPr lang="en-US" dirty="0"/>
              <a:t>This is 2007 b/c interesting rev </a:t>
            </a:r>
            <a:r>
              <a:rPr lang="en-US" dirty="0" err="1"/>
              <a:t>recog</a:t>
            </a:r>
            <a:r>
              <a:rPr lang="en-US" dirty="0"/>
              <a:t> at this time.  After we talk about this, I’ll tell you how they </a:t>
            </a:r>
            <a:r>
              <a:rPr lang="en-US" dirty="0" err="1"/>
              <a:t>recog</a:t>
            </a:r>
            <a:r>
              <a:rPr lang="en-US" dirty="0"/>
              <a:t> rev now.</a:t>
            </a:r>
          </a:p>
          <a:p>
            <a:pPr>
              <a:defRPr/>
            </a:pPr>
            <a:endParaRPr lang="en-US" dirty="0"/>
          </a:p>
          <a:p>
            <a:pPr>
              <a:defRPr/>
            </a:pPr>
            <a:r>
              <a:rPr lang="en-US" u="sng" dirty="0"/>
              <a:t>2007</a:t>
            </a:r>
            <a:r>
              <a:rPr lang="en-US" dirty="0"/>
              <a:t>:</a:t>
            </a:r>
          </a:p>
          <a:p>
            <a:pPr>
              <a:defRPr/>
            </a:pPr>
            <a:r>
              <a:rPr lang="en-US" dirty="0"/>
              <a:t>Defer revenue on iPhone, very unique.</a:t>
            </a:r>
          </a:p>
          <a:p>
            <a:pPr>
              <a:defRPr/>
            </a:pPr>
            <a:r>
              <a:rPr lang="en-US" dirty="0"/>
              <a:t>They do this b/c of later product updates that are provided free to customer.</a:t>
            </a:r>
          </a:p>
          <a:p>
            <a:pPr>
              <a:defRPr/>
            </a:pPr>
            <a:r>
              <a:rPr lang="en-US" dirty="0"/>
              <a:t>They do not defer for </a:t>
            </a:r>
            <a:r>
              <a:rPr lang="en-US" dirty="0" err="1"/>
              <a:t>ipod</a:t>
            </a:r>
            <a:r>
              <a:rPr lang="en-US" dirty="0"/>
              <a:t> b/c they charge for updates.</a:t>
            </a:r>
          </a:p>
          <a:p>
            <a:pPr>
              <a:defRPr/>
            </a:pPr>
            <a:endParaRPr lang="en-US" dirty="0"/>
          </a:p>
          <a:p>
            <a:pPr>
              <a:defRPr/>
            </a:pPr>
            <a:r>
              <a:rPr lang="en-US" u="sng" dirty="0"/>
              <a:t>Now</a:t>
            </a:r>
            <a:r>
              <a:rPr lang="en-US" dirty="0"/>
              <a:t>:</a:t>
            </a:r>
          </a:p>
          <a:p>
            <a:pPr>
              <a:defRPr/>
            </a:pPr>
            <a:r>
              <a:rPr lang="en-US" dirty="0"/>
              <a:t>Allocate b/w </a:t>
            </a:r>
          </a:p>
          <a:p>
            <a:pPr marL="221858" indent="-221858">
              <a:buFontTx/>
              <a:buAutoNum type="arabicParenR"/>
              <a:defRPr/>
            </a:pPr>
            <a:r>
              <a:rPr lang="en-US" dirty="0"/>
              <a:t>Hardware/software (</a:t>
            </a:r>
            <a:r>
              <a:rPr lang="en-US" dirty="0" err="1"/>
              <a:t>recog</a:t>
            </a:r>
            <a:r>
              <a:rPr lang="en-US" dirty="0"/>
              <a:t> at sale)</a:t>
            </a:r>
          </a:p>
          <a:p>
            <a:pPr marL="221858" indent="-221858">
              <a:buFontTx/>
              <a:buAutoNum type="arabicParenR"/>
              <a:defRPr/>
            </a:pPr>
            <a:r>
              <a:rPr lang="en-US" dirty="0"/>
              <a:t>Right to future upgrades in software (</a:t>
            </a:r>
            <a:r>
              <a:rPr lang="en-US" dirty="0" err="1"/>
              <a:t>straightline</a:t>
            </a:r>
            <a:r>
              <a:rPr lang="en-US" dirty="0"/>
              <a:t> 24-48 </a:t>
            </a:r>
            <a:r>
              <a:rPr lang="en-US" dirty="0" err="1"/>
              <a:t>mos</a:t>
            </a:r>
            <a:r>
              <a:rPr lang="en-US" dirty="0"/>
              <a:t>)</a:t>
            </a:r>
          </a:p>
          <a:p>
            <a:pPr marL="221858" indent="-221858">
              <a:buFontTx/>
              <a:buAutoNum type="arabicParenR"/>
              <a:defRPr/>
            </a:pPr>
            <a:r>
              <a:rPr lang="en-US" dirty="0"/>
              <a:t>Non-software services (</a:t>
            </a:r>
            <a:r>
              <a:rPr lang="en-US" dirty="0" err="1"/>
              <a:t>straightline</a:t>
            </a:r>
            <a:r>
              <a:rPr lang="en-US" dirty="0"/>
              <a:t> 24-48 </a:t>
            </a:r>
            <a:r>
              <a:rPr lang="en-US" dirty="0" err="1"/>
              <a:t>mos</a:t>
            </a:r>
            <a:r>
              <a:rPr lang="en-US" dirty="0"/>
              <a:t>)</a:t>
            </a:r>
          </a:p>
        </p:txBody>
      </p:sp>
    </p:spTree>
    <p:extLst>
      <p:ext uri="{BB962C8B-B14F-4D97-AF65-F5344CB8AC3E}">
        <p14:creationId xmlns:p14="http://schemas.microsoft.com/office/powerpoint/2010/main" val="1081250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p:cNvSpPr>
          <p:nvPr>
            <p:ph type="sldImg"/>
          </p:nvPr>
        </p:nvSpPr>
        <p:spPr bwMode="auto">
          <a:xfrm>
            <a:off x="412750" y="701675"/>
            <a:ext cx="6202363" cy="34893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xfrm>
            <a:off x="701676" y="4422775"/>
            <a:ext cx="5619750" cy="4184650"/>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7" tIns="46625" rIns="93247" bIns="46625"/>
          <a:lstStyle/>
          <a:p>
            <a:pPr>
              <a:defRPr/>
            </a:pPr>
            <a:r>
              <a:rPr lang="en-US" dirty="0"/>
              <a:t>This is 2007 b/c interesting rev </a:t>
            </a:r>
            <a:r>
              <a:rPr lang="en-US" dirty="0" err="1"/>
              <a:t>recog</a:t>
            </a:r>
            <a:r>
              <a:rPr lang="en-US" dirty="0"/>
              <a:t> at this time.  After we talk about this, I’ll tell you how they </a:t>
            </a:r>
            <a:r>
              <a:rPr lang="en-US" dirty="0" err="1"/>
              <a:t>recog</a:t>
            </a:r>
            <a:r>
              <a:rPr lang="en-US" dirty="0"/>
              <a:t> rev now.</a:t>
            </a:r>
          </a:p>
          <a:p>
            <a:pPr>
              <a:defRPr/>
            </a:pPr>
            <a:endParaRPr lang="en-US" dirty="0"/>
          </a:p>
          <a:p>
            <a:pPr>
              <a:defRPr/>
            </a:pPr>
            <a:r>
              <a:rPr lang="en-US" u="sng" dirty="0"/>
              <a:t>2007</a:t>
            </a:r>
            <a:r>
              <a:rPr lang="en-US" dirty="0"/>
              <a:t>:</a:t>
            </a:r>
          </a:p>
          <a:p>
            <a:pPr>
              <a:defRPr/>
            </a:pPr>
            <a:r>
              <a:rPr lang="en-US" dirty="0"/>
              <a:t>Defer revenue on iPhone, very unique.</a:t>
            </a:r>
          </a:p>
          <a:p>
            <a:pPr>
              <a:defRPr/>
            </a:pPr>
            <a:r>
              <a:rPr lang="en-US" dirty="0"/>
              <a:t>They do this b/c of later product updates that are provided free to customer.</a:t>
            </a:r>
          </a:p>
          <a:p>
            <a:pPr>
              <a:defRPr/>
            </a:pPr>
            <a:r>
              <a:rPr lang="en-US" dirty="0"/>
              <a:t>They do not defer for </a:t>
            </a:r>
            <a:r>
              <a:rPr lang="en-US" dirty="0" err="1"/>
              <a:t>ipod</a:t>
            </a:r>
            <a:r>
              <a:rPr lang="en-US" dirty="0"/>
              <a:t> b/c they charge for updates.</a:t>
            </a:r>
          </a:p>
          <a:p>
            <a:pPr>
              <a:defRPr/>
            </a:pPr>
            <a:endParaRPr lang="en-US" dirty="0"/>
          </a:p>
          <a:p>
            <a:pPr>
              <a:defRPr/>
            </a:pPr>
            <a:r>
              <a:rPr lang="en-US" u="sng" dirty="0"/>
              <a:t>Now</a:t>
            </a:r>
            <a:r>
              <a:rPr lang="en-US" dirty="0"/>
              <a:t>:</a:t>
            </a:r>
          </a:p>
          <a:p>
            <a:pPr>
              <a:defRPr/>
            </a:pPr>
            <a:r>
              <a:rPr lang="en-US" dirty="0"/>
              <a:t>Allocate b/w </a:t>
            </a:r>
          </a:p>
          <a:p>
            <a:pPr marL="221858" indent="-221858">
              <a:buFontTx/>
              <a:buAutoNum type="arabicParenR"/>
              <a:defRPr/>
            </a:pPr>
            <a:r>
              <a:rPr lang="en-US" dirty="0"/>
              <a:t>Hardware/software (</a:t>
            </a:r>
            <a:r>
              <a:rPr lang="en-US" dirty="0" err="1"/>
              <a:t>recog</a:t>
            </a:r>
            <a:r>
              <a:rPr lang="en-US" dirty="0"/>
              <a:t> at sale)</a:t>
            </a:r>
          </a:p>
          <a:p>
            <a:pPr marL="221858" indent="-221858">
              <a:buFontTx/>
              <a:buAutoNum type="arabicParenR"/>
              <a:defRPr/>
            </a:pPr>
            <a:r>
              <a:rPr lang="en-US" dirty="0"/>
              <a:t>Right to future upgrades in software (</a:t>
            </a:r>
            <a:r>
              <a:rPr lang="en-US" dirty="0" err="1"/>
              <a:t>straightline</a:t>
            </a:r>
            <a:r>
              <a:rPr lang="en-US" dirty="0"/>
              <a:t> 24-48 </a:t>
            </a:r>
            <a:r>
              <a:rPr lang="en-US" dirty="0" err="1"/>
              <a:t>mos</a:t>
            </a:r>
            <a:r>
              <a:rPr lang="en-US" dirty="0"/>
              <a:t>)</a:t>
            </a:r>
          </a:p>
          <a:p>
            <a:pPr marL="221858" indent="-221858">
              <a:buFontTx/>
              <a:buAutoNum type="arabicParenR"/>
              <a:defRPr/>
            </a:pPr>
            <a:r>
              <a:rPr lang="en-US" dirty="0"/>
              <a:t>Non-software services (</a:t>
            </a:r>
            <a:r>
              <a:rPr lang="en-US" dirty="0" err="1"/>
              <a:t>straightline</a:t>
            </a:r>
            <a:r>
              <a:rPr lang="en-US" dirty="0"/>
              <a:t> 24-48 </a:t>
            </a:r>
            <a:r>
              <a:rPr lang="en-US" dirty="0" err="1"/>
              <a:t>mos</a:t>
            </a:r>
            <a:r>
              <a:rPr lang="en-US" dirty="0"/>
              <a:t>)</a:t>
            </a:r>
          </a:p>
        </p:txBody>
      </p:sp>
    </p:spTree>
    <p:extLst>
      <p:ext uri="{BB962C8B-B14F-4D97-AF65-F5344CB8AC3E}">
        <p14:creationId xmlns:p14="http://schemas.microsoft.com/office/powerpoint/2010/main" val="3823281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xfrm>
            <a:off x="701676" y="4481513"/>
            <a:ext cx="5619750" cy="3663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24" tIns="46212" rIns="92424" bIns="46212"/>
          <a:lstStyle/>
          <a:p>
            <a:pPr marL="228600" indent="-228600">
              <a:buAutoNum type="arabicParenR"/>
            </a:pPr>
            <a:r>
              <a:rPr lang="en-US" altLang="en-US" dirty="0"/>
              <a:t>Contract – usually straightforward, customers wants to buy your goods or services – can’t just ship somebody something!</a:t>
            </a:r>
          </a:p>
          <a:p>
            <a:pPr marL="228600" indent="-228600">
              <a:buAutoNum type="arabicParenR"/>
            </a:pPr>
            <a:r>
              <a:rPr lang="en-US" altLang="en-US" dirty="0"/>
              <a:t>What do we have to do to earn it? Think Apple – Deliver a phone, deliver software updates</a:t>
            </a:r>
          </a:p>
          <a:p>
            <a:pPr marL="228600" indent="-228600">
              <a:buAutoNum type="arabicParenR"/>
            </a:pPr>
            <a:r>
              <a:rPr lang="en-US" altLang="en-US" dirty="0"/>
              <a:t>Price – Various complications if the price depends on future actions (returns, sales discounts, volume discounts)</a:t>
            </a:r>
          </a:p>
          <a:p>
            <a:pPr marL="228600" indent="-228600">
              <a:buAutoNum type="arabicParenR"/>
            </a:pPr>
            <a:r>
              <a:rPr lang="en-US" altLang="en-US" dirty="0"/>
              <a:t>Multiple deliverables – Think Apple – only one price for phone and software</a:t>
            </a:r>
          </a:p>
          <a:p>
            <a:pPr marL="228600" indent="-228600">
              <a:buAutoNum type="arabicParenR"/>
            </a:pPr>
            <a:r>
              <a:rPr lang="en-US" altLang="en-US" dirty="0"/>
              <a:t>This is when they earn it!</a:t>
            </a:r>
          </a:p>
        </p:txBody>
      </p:sp>
    </p:spTree>
    <p:extLst>
      <p:ext uri="{BB962C8B-B14F-4D97-AF65-F5344CB8AC3E}">
        <p14:creationId xmlns:p14="http://schemas.microsoft.com/office/powerpoint/2010/main" val="3919718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xfrm>
            <a:off x="701676" y="4481513"/>
            <a:ext cx="5619750" cy="3663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24" tIns="46212" rIns="92424" bIns="46212"/>
          <a:lstStyle/>
          <a:p>
            <a:endParaRPr lang="en-US" altLang="en-US"/>
          </a:p>
        </p:txBody>
      </p:sp>
    </p:spTree>
    <p:extLst>
      <p:ext uri="{BB962C8B-B14F-4D97-AF65-F5344CB8AC3E}">
        <p14:creationId xmlns:p14="http://schemas.microsoft.com/office/powerpoint/2010/main" val="3560146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xfrm>
            <a:off x="701676" y="4481513"/>
            <a:ext cx="5619750" cy="3663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24" tIns="46212" rIns="92424" bIns="46212"/>
          <a:lstStyle/>
          <a:p>
            <a:endParaRPr lang="en-US" altLang="en-US"/>
          </a:p>
        </p:txBody>
      </p:sp>
    </p:spTree>
    <p:extLst>
      <p:ext uri="{BB962C8B-B14F-4D97-AF65-F5344CB8AC3E}">
        <p14:creationId xmlns:p14="http://schemas.microsoft.com/office/powerpoint/2010/main" val="3427774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xfrm>
            <a:off x="701676" y="4481513"/>
            <a:ext cx="5619750" cy="3663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24" tIns="46212" rIns="92424" bIns="46212"/>
          <a:lstStyle/>
          <a:p>
            <a:endParaRPr lang="en-US" altLang="en-US"/>
          </a:p>
        </p:txBody>
      </p:sp>
    </p:spTree>
    <p:extLst>
      <p:ext uri="{BB962C8B-B14F-4D97-AF65-F5344CB8AC3E}">
        <p14:creationId xmlns:p14="http://schemas.microsoft.com/office/powerpoint/2010/main" val="360300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xfrm>
            <a:off x="701676" y="4481513"/>
            <a:ext cx="5619750" cy="3663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24" tIns="46212" rIns="92424" bIns="46212"/>
          <a:lstStyle/>
          <a:p>
            <a:endParaRPr lang="en-US" altLang="en-US"/>
          </a:p>
        </p:txBody>
      </p:sp>
    </p:spTree>
    <p:extLst>
      <p:ext uri="{BB962C8B-B14F-4D97-AF65-F5344CB8AC3E}">
        <p14:creationId xmlns:p14="http://schemas.microsoft.com/office/powerpoint/2010/main" val="3500473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xfrm>
            <a:off x="701676" y="4481513"/>
            <a:ext cx="5619750" cy="3663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24" tIns="46212" rIns="92424" bIns="46212"/>
          <a:lstStyle/>
          <a:p>
            <a:endParaRPr lang="en-US" altLang="en-US" dirty="0"/>
          </a:p>
        </p:txBody>
      </p:sp>
    </p:spTree>
    <p:extLst>
      <p:ext uri="{BB962C8B-B14F-4D97-AF65-F5344CB8AC3E}">
        <p14:creationId xmlns:p14="http://schemas.microsoft.com/office/powerpoint/2010/main" val="13933587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xfrm>
            <a:off x="701676" y="4481513"/>
            <a:ext cx="5619750" cy="3663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24" tIns="46212" rIns="92424" bIns="46212"/>
          <a:lstStyle/>
          <a:p>
            <a:pPr marL="228600" indent="-228600">
              <a:buAutoNum type="arabicParenR"/>
            </a:pPr>
            <a:r>
              <a:rPr lang="en-US" altLang="en-US" dirty="0"/>
              <a:t>Contract – usually straightforward, customers wants to buy your goods or services – can’t just ship somebody something!</a:t>
            </a:r>
          </a:p>
          <a:p>
            <a:pPr marL="228600" indent="-228600">
              <a:buAutoNum type="arabicParenR"/>
            </a:pPr>
            <a:r>
              <a:rPr lang="en-US" altLang="en-US" dirty="0"/>
              <a:t>What do we have to do to earn it? Think Apple – Deliver a phone, deliver software updates</a:t>
            </a:r>
          </a:p>
          <a:p>
            <a:pPr marL="228600" indent="-228600">
              <a:buAutoNum type="arabicParenR"/>
            </a:pPr>
            <a:r>
              <a:rPr lang="en-US" altLang="en-US" dirty="0"/>
              <a:t>Price – Various complications if the price depends on future actions (returns, sales discounts, volume discounts)</a:t>
            </a:r>
          </a:p>
          <a:p>
            <a:pPr marL="228600" indent="-228600">
              <a:buAutoNum type="arabicParenR"/>
            </a:pPr>
            <a:r>
              <a:rPr lang="en-US" altLang="en-US" dirty="0"/>
              <a:t>Multiple deliverables – Think Apple – only one price for phone and software</a:t>
            </a:r>
          </a:p>
          <a:p>
            <a:pPr marL="228600" indent="-228600">
              <a:buAutoNum type="arabicParenR"/>
            </a:pPr>
            <a:r>
              <a:rPr lang="en-US" altLang="en-US" dirty="0"/>
              <a:t>This is when they earn it!</a:t>
            </a:r>
          </a:p>
        </p:txBody>
      </p:sp>
    </p:spTree>
    <p:extLst>
      <p:ext uri="{BB962C8B-B14F-4D97-AF65-F5344CB8AC3E}">
        <p14:creationId xmlns:p14="http://schemas.microsoft.com/office/powerpoint/2010/main" val="2393934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xfrm>
            <a:off x="701676" y="4481513"/>
            <a:ext cx="5619750" cy="3663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24" tIns="46212" rIns="92424" bIns="46212"/>
          <a:lstStyle/>
          <a:p>
            <a:endParaRPr lang="en-US" altLang="en-US"/>
          </a:p>
        </p:txBody>
      </p:sp>
    </p:spTree>
    <p:extLst>
      <p:ext uri="{BB962C8B-B14F-4D97-AF65-F5344CB8AC3E}">
        <p14:creationId xmlns:p14="http://schemas.microsoft.com/office/powerpoint/2010/main" val="22486825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p:cNvSpPr>
          <p:nvPr>
            <p:ph type="sldImg"/>
          </p:nvPr>
        </p:nvSpPr>
        <p:spPr bwMode="auto">
          <a:xfrm>
            <a:off x="6429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a:xfrm>
            <a:off x="687389" y="4479926"/>
            <a:ext cx="5495925" cy="3665538"/>
          </a:xfrm>
          <a:prstGeom prst="rect">
            <a:avLst/>
          </a:prstGeom>
        </p:spPr>
        <p:txBody>
          <a:bodyPr lIns="91564" tIns="45783" rIns="91564" bIns="45783"/>
          <a:lstStyle/>
          <a:p>
            <a:pPr marL="228912" indent="-228912">
              <a:buFontTx/>
              <a:buAutoNum type="arabicPeriod"/>
              <a:defRPr/>
            </a:pPr>
            <a:r>
              <a:rPr lang="en-US" dirty="0"/>
              <a:t>YES, Software license benefit without install b/c not dependent on CRED install (can be done by another firm) -&gt; not interdependent</a:t>
            </a:r>
          </a:p>
          <a:p>
            <a:pPr marL="228912" indent="-228912">
              <a:buFontTx/>
              <a:buAutoNum type="arabicPeriod"/>
              <a:defRPr/>
            </a:pPr>
            <a:r>
              <a:rPr lang="en-US" dirty="0"/>
              <a:t>YES, Install does not modify software and could be performed by another firm.</a:t>
            </a:r>
          </a:p>
          <a:p>
            <a:pPr marL="228912" indent="-228912">
              <a:buFontTx/>
              <a:buAutoNum type="arabicPeriod"/>
              <a:defRPr/>
            </a:pPr>
            <a:endParaRPr lang="en-US" dirty="0"/>
          </a:p>
          <a:p>
            <a:pPr>
              <a:defRPr/>
            </a:pPr>
            <a:r>
              <a:rPr lang="en-US" dirty="0"/>
              <a:t>-&gt; separate performance obligations, identify separately.</a:t>
            </a:r>
          </a:p>
        </p:txBody>
      </p:sp>
    </p:spTree>
    <p:extLst>
      <p:ext uri="{BB962C8B-B14F-4D97-AF65-F5344CB8AC3E}">
        <p14:creationId xmlns:p14="http://schemas.microsoft.com/office/powerpoint/2010/main" val="1562601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bwMode="auto">
          <a:xfrm>
            <a:off x="6429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xfrm>
            <a:off x="687389" y="4479926"/>
            <a:ext cx="5495925" cy="36655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64" tIns="45783" rIns="91564" bIns="45783"/>
          <a:lstStyle/>
          <a:p>
            <a:r>
              <a:rPr lang="en-US" altLang="en-US"/>
              <a:t>2. NO, b/c install with modify software they are interdependent and can’t be separately identifiable.  </a:t>
            </a:r>
          </a:p>
          <a:p>
            <a:endParaRPr lang="en-US" altLang="en-US"/>
          </a:p>
          <a:p>
            <a:r>
              <a:rPr lang="en-US" altLang="en-US"/>
              <a:t>-&gt; One performance obligation that should be combined </a:t>
            </a:r>
          </a:p>
        </p:txBody>
      </p:sp>
    </p:spTree>
    <p:extLst>
      <p:ext uri="{BB962C8B-B14F-4D97-AF65-F5344CB8AC3E}">
        <p14:creationId xmlns:p14="http://schemas.microsoft.com/office/powerpoint/2010/main" val="4019557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p:cNvSpPr>
          <p:nvPr>
            <p:ph type="sldImg"/>
          </p:nvPr>
        </p:nvSpPr>
        <p:spPr bwMode="auto">
          <a:xfrm>
            <a:off x="407988" y="698500"/>
            <a:ext cx="6208712"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xfrm>
            <a:off x="703263" y="4422775"/>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35" tIns="43867" rIns="87735" bIns="43867"/>
          <a:lstStyle/>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2912654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56351"/>
            <a:ext cx="2743200" cy="365125"/>
          </a:xfrm>
        </p:spPr>
        <p:txBody>
          <a:bodyPr/>
          <a:lstStyle/>
          <a:p>
            <a:fld id="{29999271-A573-1E42-984E-4EB780E50D50}" type="datetimeFigureOut">
              <a:rPr lang="en-US" smtClean="0"/>
              <a:t>9/4/2022</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23140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9/4/2022</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cxnSp>
        <p:nvCxnSpPr>
          <p:cNvPr id="8" name="Straight Connector 7"/>
          <p:cNvCxnSpPr/>
          <p:nvPr userDrawn="1"/>
        </p:nvCxnSpPr>
        <p:spPr>
          <a:xfrm>
            <a:off x="838200" y="1184982"/>
            <a:ext cx="7772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075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218213"/>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999271-A573-1E42-984E-4EB780E50D50}" type="datetimeFigureOut">
              <a:rPr lang="en-US" smtClean="0"/>
              <a:t>9/4/2022</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669204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39449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99271-A573-1E42-984E-4EB780E50D50}" type="datetimeFigureOut">
              <a:rPr lang="en-US" smtClean="0"/>
              <a:t>9/4/2022</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948894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253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999271-A573-1E42-984E-4EB780E50D50}" type="datetimeFigureOut">
              <a:rPr lang="en-US" smtClean="0"/>
              <a:t>9/4/2022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862383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9999271-A573-1E42-984E-4EB780E50D50}" type="datetimeFigureOut">
              <a:rPr lang="en-US" smtClean="0"/>
              <a:t>9/4/2022</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704149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999271-A573-1E42-984E-4EB780E50D50}" type="datetimeFigureOut">
              <a:rPr lang="en-US" smtClean="0"/>
              <a:t>9/4/2022</a:t>
            </a:fld>
            <a:endParaRPr lang="en-US"/>
          </a:p>
        </p:txBody>
      </p:sp>
      <p:sp>
        <p:nvSpPr>
          <p:cNvPr id="3" name="Footer Placeholder 2"/>
          <p:cNvSpPr>
            <a:spLocks noGrp="1"/>
          </p:cNvSpPr>
          <p:nvPr>
            <p:ph type="ftr" sz="quarter" idx="11"/>
          </p:nvPr>
        </p:nvSpPr>
        <p:spPr/>
        <p:txBody>
          <a:bodyPr/>
          <a:lstStyle/>
          <a:p>
            <a:endParaRPr lang="en-US"/>
          </a:p>
        </p:txBody>
      </p:sp>
      <p:sp>
        <p:nvSpPr>
          <p:cNvPr id="5"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998709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9/4/2022</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369629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9/4/2022</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477474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9/4/2022</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920764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7"/>
            <a:ext cx="2628900" cy="54178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2"/>
            <a:ext cx="768179"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311442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7850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7"/>
            <a:ext cx="10515600" cy="3957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99271-A573-1E42-984E-4EB780E50D50}" type="datetimeFigureOut">
              <a:rPr lang="en-US" smtClean="0"/>
              <a:t>9/4/2022</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8" name="Slide Number Placeholder 8"/>
          <p:cNvSpPr>
            <a:spLocks noGrp="1"/>
          </p:cNvSpPr>
          <p:nvPr>
            <p:ph type="sldNum" sz="quarter" idx="4"/>
          </p:nvPr>
        </p:nvSpPr>
        <p:spPr>
          <a:xfrm>
            <a:off x="8610600" y="6356352"/>
            <a:ext cx="817605" cy="365125"/>
          </a:xfrm>
          <a:prstGeom prst="rect">
            <a:avLst/>
          </a:prstGeom>
        </p:spPr>
        <p:txBody>
          <a:bodyPr/>
          <a:lstStyle/>
          <a:p>
            <a:fld id="{DD321DBF-325B-3546-BAAF-4F6E3B3181FF}" type="slidenum">
              <a:rPr lang="en-US" smtClean="0"/>
              <a:t>‹#›</a:t>
            </a:fld>
            <a:endParaRPr lang="en-US"/>
          </a:p>
        </p:txBody>
      </p:sp>
      <p:pic>
        <p:nvPicPr>
          <p:cNvPr id="10" name="Picture 9">
            <a:extLst>
              <a:ext uri="{FF2B5EF4-FFF2-40B4-BE49-F238E27FC236}">
                <a16:creationId xmlns:a16="http://schemas.microsoft.com/office/drawing/2014/main" id="{DDE8B790-23B5-4C60-94C1-80246395342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968482" y="140401"/>
            <a:ext cx="2068409" cy="434769"/>
          </a:xfrm>
          <a:prstGeom prst="rect">
            <a:avLst/>
          </a:prstGeom>
        </p:spPr>
      </p:pic>
    </p:spTree>
    <p:extLst>
      <p:ext uri="{BB962C8B-B14F-4D97-AF65-F5344CB8AC3E}">
        <p14:creationId xmlns:p14="http://schemas.microsoft.com/office/powerpoint/2010/main" val="2055560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864091" cy="6530027"/>
          </a:xfrm>
          <a:prstGeom prst="rect">
            <a:avLst/>
          </a:prstGeom>
        </p:spPr>
      </p:pic>
      <p:sp>
        <p:nvSpPr>
          <p:cNvPr id="5" name="Rectangle 3"/>
          <p:cNvSpPr>
            <a:spLocks noChangeArrowheads="1"/>
          </p:cNvSpPr>
          <p:nvPr/>
        </p:nvSpPr>
        <p:spPr bwMode="auto">
          <a:xfrm>
            <a:off x="-2" y="5303520"/>
            <a:ext cx="9864091" cy="1554480"/>
          </a:xfrm>
          <a:prstGeom prst="rect">
            <a:avLst/>
          </a:prstGeom>
          <a:solidFill>
            <a:schemeClr val="accent6">
              <a:lumMod val="50000"/>
            </a:schemeClr>
          </a:solidFill>
          <a:ln w="9525">
            <a:noFill/>
            <a:miter lim="800000"/>
            <a:headEnd/>
            <a:tailEnd/>
          </a:ln>
        </p:spPr>
        <p:txBody>
          <a:bodyPr wrap="none" anchor="ctr"/>
          <a:lstStyle/>
          <a:p>
            <a:pPr>
              <a:defRPr/>
            </a:pPr>
            <a:r>
              <a:rPr lang="en-US" altLang="en-US" sz="3200" b="1" i="1" dirty="0">
                <a:solidFill>
                  <a:schemeClr val="bg1"/>
                </a:solidFill>
              </a:rPr>
              <a:t>Revenue Recognition Part 1 - Video</a:t>
            </a:r>
          </a:p>
        </p:txBody>
      </p:sp>
    </p:spTree>
    <p:extLst>
      <p:ext uri="{BB962C8B-B14F-4D97-AF65-F5344CB8AC3E}">
        <p14:creationId xmlns:p14="http://schemas.microsoft.com/office/powerpoint/2010/main" val="871637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37102" y="352208"/>
            <a:ext cx="8796337" cy="1143000"/>
          </a:xfrm>
        </p:spPr>
        <p:txBody>
          <a:bodyPr/>
          <a:lstStyle/>
          <a:p>
            <a:r>
              <a:rPr lang="en-US" altLang="en-US" sz="3600" dirty="0"/>
              <a:t>In This Video</a:t>
            </a:r>
          </a:p>
        </p:txBody>
      </p:sp>
      <p:sp>
        <p:nvSpPr>
          <p:cNvPr id="11267" name="Content Placeholder 1"/>
          <p:cNvSpPr>
            <a:spLocks noGrp="1"/>
          </p:cNvSpPr>
          <p:nvPr>
            <p:ph idx="1"/>
          </p:nvPr>
        </p:nvSpPr>
        <p:spPr>
          <a:xfrm>
            <a:off x="1020279" y="1544639"/>
            <a:ext cx="8092900" cy="4952414"/>
          </a:xfrm>
        </p:spPr>
        <p:txBody>
          <a:bodyPr>
            <a:normAutofit/>
          </a:bodyPr>
          <a:lstStyle/>
          <a:p>
            <a:pPr marL="457211" indent="-457200">
              <a:buSzPct val="50000"/>
              <a:buFont typeface="Wingdings" panose="05000000000000000000" pitchFamily="2" charset="2"/>
              <a:buChar char="m"/>
            </a:pPr>
            <a:r>
              <a:rPr lang="en-US" altLang="en-US" sz="2600" dirty="0">
                <a:solidFill>
                  <a:srgbClr val="000000"/>
                </a:solidFill>
                <a:latin typeface="Times New Roman" panose="02020603050405020304" pitchFamily="18" charset="0"/>
              </a:rPr>
              <a:t>Why revenue recognition?</a:t>
            </a:r>
          </a:p>
          <a:p>
            <a:pPr marL="457211" indent="-457200">
              <a:buSzPct val="50000"/>
              <a:buFont typeface="Wingdings" panose="05000000000000000000" pitchFamily="2" charset="2"/>
              <a:buChar char="m"/>
            </a:pPr>
            <a:endParaRPr lang="en-US" altLang="en-US" sz="2600" dirty="0">
              <a:solidFill>
                <a:srgbClr val="000000"/>
              </a:solidFill>
              <a:latin typeface="Times New Roman" panose="02020603050405020304" pitchFamily="18" charset="0"/>
            </a:endParaRPr>
          </a:p>
          <a:p>
            <a:pPr marL="457211" indent="-457200">
              <a:buSzPct val="50000"/>
              <a:buFont typeface="Wingdings" panose="05000000000000000000" pitchFamily="2" charset="2"/>
              <a:buChar char="m"/>
            </a:pPr>
            <a:r>
              <a:rPr lang="en-US" altLang="en-US" sz="2600" dirty="0">
                <a:solidFill>
                  <a:srgbClr val="000000"/>
                </a:solidFill>
                <a:latin typeface="Times New Roman" panose="02020603050405020304" pitchFamily="18" charset="0"/>
              </a:rPr>
              <a:t>Dollar Tree vs. Apple</a:t>
            </a:r>
          </a:p>
          <a:p>
            <a:pPr marL="457211" indent="-457200">
              <a:buSzPct val="50000"/>
              <a:buFont typeface="Wingdings" panose="05000000000000000000" pitchFamily="2" charset="2"/>
              <a:buChar char="m"/>
            </a:pPr>
            <a:endParaRPr lang="en-US" altLang="en-US" sz="2600" dirty="0">
              <a:solidFill>
                <a:srgbClr val="000000"/>
              </a:solidFill>
              <a:latin typeface="Times New Roman" panose="02020603050405020304" pitchFamily="18" charset="0"/>
            </a:endParaRPr>
          </a:p>
          <a:p>
            <a:pPr marL="457211" indent="-457200">
              <a:buSzPct val="50000"/>
              <a:buFont typeface="Wingdings" panose="05000000000000000000" pitchFamily="2" charset="2"/>
              <a:buChar char="m"/>
            </a:pPr>
            <a:r>
              <a:rPr lang="en-US" altLang="en-US" sz="2600" dirty="0">
                <a:solidFill>
                  <a:srgbClr val="000000"/>
                </a:solidFill>
                <a:latin typeface="Times New Roman" panose="02020603050405020304" pitchFamily="18" charset="0"/>
              </a:rPr>
              <a:t>Overview of the 5 steps</a:t>
            </a:r>
          </a:p>
          <a:p>
            <a:pPr marL="457211" indent="-457200">
              <a:buSzPct val="50000"/>
              <a:buFont typeface="Wingdings" panose="05000000000000000000" pitchFamily="2" charset="2"/>
              <a:buChar char="m"/>
            </a:pPr>
            <a:endParaRPr lang="en-US" altLang="en-US" sz="2600" dirty="0">
              <a:solidFill>
                <a:srgbClr val="000000"/>
              </a:solidFill>
              <a:latin typeface="Times New Roman" panose="02020603050405020304" pitchFamily="18" charset="0"/>
            </a:endParaRPr>
          </a:p>
          <a:p>
            <a:pPr marL="457211" indent="-457200">
              <a:buSzPct val="50000"/>
              <a:buFont typeface="Wingdings" panose="05000000000000000000" pitchFamily="2" charset="2"/>
              <a:buChar char="m"/>
            </a:pPr>
            <a:r>
              <a:rPr lang="en-US" altLang="en-US" sz="2600" dirty="0">
                <a:solidFill>
                  <a:srgbClr val="000000"/>
                </a:solidFill>
                <a:latin typeface="Times New Roman" panose="02020603050405020304" pitchFamily="18" charset="0"/>
              </a:rPr>
              <a:t>First two steps in detail</a:t>
            </a:r>
          </a:p>
          <a:p>
            <a:pPr marL="0" indent="0">
              <a:buNone/>
            </a:pPr>
            <a:endParaRPr lang="en-US" altLang="en-US" dirty="0"/>
          </a:p>
        </p:txBody>
      </p:sp>
      <p:sp>
        <p:nvSpPr>
          <p:cNvPr id="11268" name="Slide Number Placeholder 3"/>
          <p:cNvSpPr>
            <a:spLocks noGrp="1"/>
          </p:cNvSpPr>
          <p:nvPr>
            <p:ph type="sldNum" sz="quarter" idx="4294967295"/>
          </p:nvPr>
        </p:nvSpPr>
        <p:spPr bwMode="auto">
          <a:xfrm>
            <a:off x="9780588" y="6248400"/>
            <a:ext cx="887412"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25260CA-CC9B-4135-B687-BC6A6CBC4AE5}" type="slidenum">
              <a:rPr lang="en-US" altLang="en-US" sz="1400">
                <a:latin typeface="Times New Roman" panose="02020603050405020304" pitchFamily="18" charset="0"/>
              </a:rPr>
              <a:pPr>
                <a:spcBef>
                  <a:spcPct val="0"/>
                </a:spcBef>
                <a:buFontTx/>
                <a:buNone/>
              </a:pPr>
              <a:t>2</a:t>
            </a:fld>
            <a:endParaRPr lang="en-US" altLang="en-US" sz="1400">
              <a:latin typeface="Times New Roman" panose="02020603050405020304" pitchFamily="18" charset="0"/>
            </a:endParaRPr>
          </a:p>
        </p:txBody>
      </p:sp>
    </p:spTree>
    <p:extLst>
      <p:ext uri="{BB962C8B-B14F-4D97-AF65-F5344CB8AC3E}">
        <p14:creationId xmlns:p14="http://schemas.microsoft.com/office/powerpoint/2010/main" val="475062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D4E08-2127-472D-A02A-5EE100B4B849}"/>
              </a:ext>
            </a:extLst>
          </p:cNvPr>
          <p:cNvSpPr>
            <a:spLocks noGrp="1"/>
          </p:cNvSpPr>
          <p:nvPr>
            <p:ph type="title"/>
          </p:nvPr>
        </p:nvSpPr>
        <p:spPr/>
        <p:txBody>
          <a:bodyPr/>
          <a:lstStyle/>
          <a:p>
            <a:r>
              <a:rPr lang="en-US" dirty="0"/>
              <a:t>Why revenue recognition?</a:t>
            </a:r>
          </a:p>
        </p:txBody>
      </p:sp>
      <p:sp>
        <p:nvSpPr>
          <p:cNvPr id="3" name="Content Placeholder 2">
            <a:extLst>
              <a:ext uri="{FF2B5EF4-FFF2-40B4-BE49-F238E27FC236}">
                <a16:creationId xmlns:a16="http://schemas.microsoft.com/office/drawing/2014/main" id="{947A5229-76D9-4A00-9C00-541DC9F66714}"/>
              </a:ext>
            </a:extLst>
          </p:cNvPr>
          <p:cNvSpPr>
            <a:spLocks noGrp="1"/>
          </p:cNvSpPr>
          <p:nvPr>
            <p:ph idx="1"/>
          </p:nvPr>
        </p:nvSpPr>
        <p:spPr/>
        <p:txBody>
          <a:bodyPr/>
          <a:lstStyle/>
          <a:p>
            <a:endParaRPr lang="en-US" dirty="0"/>
          </a:p>
        </p:txBody>
      </p:sp>
      <p:pic>
        <p:nvPicPr>
          <p:cNvPr id="1026" name="Picture 2" descr="Game of Thrones Coffee Cup Goof Inspires This Hilarious Indiana ...">
            <a:extLst>
              <a:ext uri="{FF2B5EF4-FFF2-40B4-BE49-F238E27FC236}">
                <a16:creationId xmlns:a16="http://schemas.microsoft.com/office/drawing/2014/main" id="{BA85A742-6451-48B6-B148-FF43E4CD4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04070"/>
            <a:ext cx="7478462" cy="4645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705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2AFDE-1090-4528-B741-1C683978BBB1}"/>
              </a:ext>
            </a:extLst>
          </p:cNvPr>
          <p:cNvSpPr>
            <a:spLocks noGrp="1"/>
          </p:cNvSpPr>
          <p:nvPr>
            <p:ph type="title"/>
          </p:nvPr>
        </p:nvSpPr>
        <p:spPr/>
        <p:txBody>
          <a:bodyPr/>
          <a:lstStyle/>
          <a:p>
            <a:r>
              <a:rPr lang="en-US" dirty="0"/>
              <a:t>In a nutshell</a:t>
            </a:r>
          </a:p>
        </p:txBody>
      </p:sp>
      <p:sp>
        <p:nvSpPr>
          <p:cNvPr id="3" name="Content Placeholder 2">
            <a:extLst>
              <a:ext uri="{FF2B5EF4-FFF2-40B4-BE49-F238E27FC236}">
                <a16:creationId xmlns:a16="http://schemas.microsoft.com/office/drawing/2014/main" id="{F92349CC-931F-48F6-8E08-D851F2237FFD}"/>
              </a:ext>
            </a:extLst>
          </p:cNvPr>
          <p:cNvSpPr>
            <a:spLocks noGrp="1"/>
          </p:cNvSpPr>
          <p:nvPr>
            <p:ph idx="1"/>
          </p:nvPr>
        </p:nvSpPr>
        <p:spPr/>
        <p:txBody>
          <a:bodyPr/>
          <a:lstStyle/>
          <a:p>
            <a:pPr algn="ctr"/>
            <a:endParaRPr lang="en-US" dirty="0"/>
          </a:p>
          <a:p>
            <a:pPr algn="ctr"/>
            <a:endParaRPr lang="en-US" dirty="0"/>
          </a:p>
          <a:p>
            <a:pPr marL="0" indent="0" algn="ctr">
              <a:buNone/>
            </a:pPr>
            <a:r>
              <a:rPr lang="en-US" sz="4000" b="1" i="1" dirty="0"/>
              <a:t>Recognize revenue when it is </a:t>
            </a:r>
            <a:r>
              <a:rPr lang="en-US" sz="4000" b="1" i="1" u="sng" dirty="0"/>
              <a:t>earned</a:t>
            </a:r>
            <a:r>
              <a:rPr lang="en-US" sz="4000" b="1" i="1" dirty="0"/>
              <a:t>.</a:t>
            </a:r>
          </a:p>
        </p:txBody>
      </p:sp>
    </p:spTree>
    <p:extLst>
      <p:ext uri="{BB962C8B-B14F-4D97-AF65-F5344CB8AC3E}">
        <p14:creationId xmlns:p14="http://schemas.microsoft.com/office/powerpoint/2010/main" val="3135877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766764" y="298634"/>
            <a:ext cx="8770937" cy="1143000"/>
          </a:xfrm>
        </p:spPr>
        <p:txBody>
          <a:bodyPr/>
          <a:lstStyle/>
          <a:p>
            <a:r>
              <a:rPr lang="en-US" altLang="en-US" sz="3600" dirty="0"/>
              <a:t>Dollar Tree</a:t>
            </a:r>
          </a:p>
        </p:txBody>
      </p:sp>
      <p:sp>
        <p:nvSpPr>
          <p:cNvPr id="15364" name="Slide Number Placeholder 3"/>
          <p:cNvSpPr>
            <a:spLocks noGrp="1"/>
          </p:cNvSpPr>
          <p:nvPr>
            <p:ph type="sldNum" sz="quarter" idx="4294967295"/>
          </p:nvPr>
        </p:nvSpPr>
        <p:spPr bwMode="auto">
          <a:xfrm>
            <a:off x="9834564" y="6248400"/>
            <a:ext cx="833437"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59265A7-63B1-4356-8103-15DF0DB74675}" type="slidenum">
              <a:rPr lang="en-US" altLang="en-US" sz="1400">
                <a:latin typeface="Times New Roman" panose="02020603050405020304" pitchFamily="18" charset="0"/>
              </a:rPr>
              <a:pPr>
                <a:spcBef>
                  <a:spcPct val="0"/>
                </a:spcBef>
                <a:buFontTx/>
                <a:buNone/>
              </a:pPr>
              <a:t>5</a:t>
            </a:fld>
            <a:endParaRPr lang="en-US" altLang="en-US" sz="1400">
              <a:latin typeface="Times New Roman" panose="02020603050405020304" pitchFamily="18" charset="0"/>
            </a:endParaRPr>
          </a:p>
        </p:txBody>
      </p:sp>
      <p:sp>
        <p:nvSpPr>
          <p:cNvPr id="3" name="Content Placeholder 2">
            <a:extLst>
              <a:ext uri="{FF2B5EF4-FFF2-40B4-BE49-F238E27FC236}">
                <a16:creationId xmlns:a16="http://schemas.microsoft.com/office/drawing/2014/main" id="{F0880896-984E-46AB-B4AD-2056744A8B8F}"/>
              </a:ext>
            </a:extLst>
          </p:cNvPr>
          <p:cNvSpPr>
            <a:spLocks noGrp="1"/>
          </p:cNvSpPr>
          <p:nvPr>
            <p:ph idx="1"/>
          </p:nvPr>
        </p:nvSpPr>
        <p:spPr/>
        <p:txBody>
          <a:bodyPr/>
          <a:lstStyle/>
          <a:p>
            <a:endParaRPr lang="en-US"/>
          </a:p>
        </p:txBody>
      </p:sp>
      <p:pic>
        <p:nvPicPr>
          <p:cNvPr id="7170" name="Picture 2" descr="What You Should Know Before Stepping Foot Into Dollar Tree Again ...">
            <a:extLst>
              <a:ext uri="{FF2B5EF4-FFF2-40B4-BE49-F238E27FC236}">
                <a16:creationId xmlns:a16="http://schemas.microsoft.com/office/drawing/2014/main" id="{7114768E-931B-4831-84C2-8F29FA1C8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124" y="1441634"/>
            <a:ext cx="7732583" cy="4349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883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766764" y="298634"/>
            <a:ext cx="8770937" cy="1143000"/>
          </a:xfrm>
        </p:spPr>
        <p:txBody>
          <a:bodyPr/>
          <a:lstStyle/>
          <a:p>
            <a:r>
              <a:rPr lang="en-US" altLang="en-US" sz="3600" dirty="0"/>
              <a:t>Dollar Tree</a:t>
            </a:r>
          </a:p>
        </p:txBody>
      </p:sp>
      <p:sp>
        <p:nvSpPr>
          <p:cNvPr id="15363" name="Content Placeholder 1"/>
          <p:cNvSpPr>
            <a:spLocks noGrp="1"/>
          </p:cNvSpPr>
          <p:nvPr>
            <p:ph idx="1"/>
          </p:nvPr>
        </p:nvSpPr>
        <p:spPr>
          <a:xfrm>
            <a:off x="838200" y="1825627"/>
            <a:ext cx="7658528" cy="3957337"/>
          </a:xfrm>
        </p:spPr>
        <p:txBody>
          <a:bodyPr>
            <a:normAutofit/>
          </a:bodyPr>
          <a:lstStyle/>
          <a:p>
            <a:pPr marL="0" indent="0">
              <a:buNone/>
            </a:pPr>
            <a:r>
              <a:rPr lang="en-US" altLang="en-US" sz="2600" b="1" dirty="0">
                <a:solidFill>
                  <a:srgbClr val="000000"/>
                </a:solidFill>
                <a:latin typeface="Times New Roman" panose="02020603050405020304" pitchFamily="18" charset="0"/>
              </a:rPr>
              <a:t>“Revenue Recognition</a:t>
            </a:r>
          </a:p>
          <a:p>
            <a:pPr marL="0" indent="0">
              <a:buNone/>
            </a:pPr>
            <a:r>
              <a:rPr lang="en-US" altLang="en-US" sz="2600" dirty="0">
                <a:solidFill>
                  <a:srgbClr val="000000"/>
                </a:solidFill>
                <a:latin typeface="Times New Roman" panose="02020603050405020304" pitchFamily="18" charset="0"/>
              </a:rPr>
              <a:t>The Company recognizes sales revenue at the time a sale is made to its customer.”</a:t>
            </a:r>
          </a:p>
          <a:p>
            <a:pPr marL="0" indent="0">
              <a:buNone/>
            </a:pPr>
            <a:endParaRPr lang="en-US" altLang="en-US" sz="2600" dirty="0">
              <a:solidFill>
                <a:srgbClr val="000000"/>
              </a:solidFill>
              <a:latin typeface="Times New Roman" panose="02020603050405020304" pitchFamily="18" charset="0"/>
            </a:endParaRPr>
          </a:p>
          <a:p>
            <a:pPr marL="0" indent="0">
              <a:buNone/>
            </a:pPr>
            <a:r>
              <a:rPr lang="en-US" altLang="en-US" sz="2600" dirty="0">
                <a:solidFill>
                  <a:srgbClr val="000000"/>
                </a:solidFill>
                <a:latin typeface="Times New Roman" panose="02020603050405020304" pitchFamily="18" charset="0"/>
              </a:rPr>
              <a:t>	- Dollar Tree</a:t>
            </a:r>
          </a:p>
        </p:txBody>
      </p:sp>
      <p:sp>
        <p:nvSpPr>
          <p:cNvPr id="15364" name="Slide Number Placeholder 3"/>
          <p:cNvSpPr>
            <a:spLocks noGrp="1"/>
          </p:cNvSpPr>
          <p:nvPr>
            <p:ph type="sldNum" sz="quarter" idx="4294967295"/>
          </p:nvPr>
        </p:nvSpPr>
        <p:spPr bwMode="auto">
          <a:xfrm>
            <a:off x="9834564" y="6248400"/>
            <a:ext cx="833437"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59265A7-63B1-4356-8103-15DF0DB74675}" type="slidenum">
              <a:rPr lang="en-US" altLang="en-US" sz="1400">
                <a:latin typeface="Times New Roman" panose="02020603050405020304" pitchFamily="18" charset="0"/>
              </a:rPr>
              <a:pPr>
                <a:spcBef>
                  <a:spcPct val="0"/>
                </a:spcBef>
                <a:buFontTx/>
                <a:buNone/>
              </a:pPr>
              <a:t>6</a:t>
            </a:fld>
            <a:endParaRPr lang="en-US" altLang="en-US" sz="1400">
              <a:latin typeface="Times New Roman" panose="02020603050405020304" pitchFamily="18" charset="0"/>
            </a:endParaRPr>
          </a:p>
        </p:txBody>
      </p:sp>
    </p:spTree>
    <p:extLst>
      <p:ext uri="{BB962C8B-B14F-4D97-AF65-F5344CB8AC3E}">
        <p14:creationId xmlns:p14="http://schemas.microsoft.com/office/powerpoint/2010/main" val="318605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098F4-EB51-4D51-B77C-3C2966443EFD}"/>
              </a:ext>
            </a:extLst>
          </p:cNvPr>
          <p:cNvSpPr>
            <a:spLocks noGrp="1"/>
          </p:cNvSpPr>
          <p:nvPr>
            <p:ph type="title"/>
          </p:nvPr>
        </p:nvSpPr>
        <p:spPr/>
        <p:txBody>
          <a:bodyPr/>
          <a:lstStyle/>
          <a:p>
            <a:r>
              <a:rPr lang="en-US" dirty="0"/>
              <a:t>Apple Inc.</a:t>
            </a:r>
          </a:p>
        </p:txBody>
      </p:sp>
      <p:sp>
        <p:nvSpPr>
          <p:cNvPr id="3" name="Content Placeholder 2">
            <a:extLst>
              <a:ext uri="{FF2B5EF4-FFF2-40B4-BE49-F238E27FC236}">
                <a16:creationId xmlns:a16="http://schemas.microsoft.com/office/drawing/2014/main" id="{490AA6B1-8C26-4E81-8A0E-797FD504510A}"/>
              </a:ext>
            </a:extLst>
          </p:cNvPr>
          <p:cNvSpPr>
            <a:spLocks noGrp="1"/>
          </p:cNvSpPr>
          <p:nvPr>
            <p:ph idx="1"/>
          </p:nvPr>
        </p:nvSpPr>
        <p:spPr/>
        <p:txBody>
          <a:bodyPr/>
          <a:lstStyle/>
          <a:p>
            <a:endParaRPr lang="en-US" dirty="0"/>
          </a:p>
        </p:txBody>
      </p:sp>
      <p:pic>
        <p:nvPicPr>
          <p:cNvPr id="11266" name="Picture 2" descr="Apple iPhone 11 - 128GB - Purple ($0 down Req’s' 0% APR installment agmt, qual. credit &amp; service) (with contract)">
            <a:extLst>
              <a:ext uri="{FF2B5EF4-FFF2-40B4-BE49-F238E27FC236}">
                <a16:creationId xmlns:a16="http://schemas.microsoft.com/office/drawing/2014/main" id="{64394878-0FF6-49D0-904B-9499A40416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0769" y="1571696"/>
            <a:ext cx="3163587" cy="4211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967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770823" y="116958"/>
            <a:ext cx="9829800" cy="1143000"/>
          </a:xfrm>
        </p:spPr>
        <p:txBody>
          <a:bodyPr>
            <a:normAutofit/>
          </a:bodyPr>
          <a:lstStyle/>
          <a:p>
            <a:r>
              <a:rPr lang="en-US" altLang="en-US" sz="3600" dirty="0"/>
              <a:t>Apple Inc.</a:t>
            </a:r>
            <a:br>
              <a:rPr lang="en-US" altLang="en-US" sz="3600" dirty="0"/>
            </a:br>
            <a:r>
              <a:rPr lang="en-US" altLang="en-US" sz="3600" dirty="0"/>
              <a:t>Multiple Deliverables (2007)</a:t>
            </a:r>
          </a:p>
        </p:txBody>
      </p:sp>
      <p:sp>
        <p:nvSpPr>
          <p:cNvPr id="37892" name="Content Placeholder 1"/>
          <p:cNvSpPr>
            <a:spLocks noGrp="1"/>
          </p:cNvSpPr>
          <p:nvPr>
            <p:ph idx="1"/>
          </p:nvPr>
        </p:nvSpPr>
        <p:spPr>
          <a:xfrm>
            <a:off x="838200" y="1825627"/>
            <a:ext cx="7884560" cy="5032373"/>
          </a:xfrm>
        </p:spPr>
        <p:txBody>
          <a:bodyPr/>
          <a:lstStyle/>
          <a:p>
            <a:pPr marL="0" indent="0">
              <a:buNone/>
              <a:defRPr/>
            </a:pPr>
            <a:r>
              <a:rPr lang="en-US" altLang="en-US" sz="2400" dirty="0">
                <a:solidFill>
                  <a:srgbClr val="000000"/>
                </a:solidFill>
                <a:latin typeface="Times New Roman" panose="02020603050405020304" pitchFamily="18" charset="0"/>
              </a:rPr>
              <a:t>“During 2007, the Company began shipping Apple TV and iPhone. For both Apple TV and iPhone, the Company indicated it may provide future unspecified features and additional software products free of charge to customers. Therefore, sales of Apple TV and iPhone handsets are recognized under subscription accounting in accordance with SOP No. 97-2. </a:t>
            </a:r>
            <a:r>
              <a:rPr lang="en-US" altLang="en-US" sz="2400" b="1" u="sng" dirty="0">
                <a:solidFill>
                  <a:srgbClr val="000000"/>
                </a:solidFill>
                <a:latin typeface="Times New Roman" panose="02020603050405020304" pitchFamily="18" charset="0"/>
              </a:rPr>
              <a:t>The Company recognizes the associated revenue and cost of goods sold on a straight-line basis over the currently estimated 24-month economic lives of these products with any loss recognized at the time of sale. </a:t>
            </a:r>
            <a:r>
              <a:rPr lang="en-US" altLang="en-US" sz="2400" dirty="0">
                <a:solidFill>
                  <a:srgbClr val="000000"/>
                </a:solidFill>
                <a:latin typeface="Times New Roman" panose="02020603050405020304" pitchFamily="18" charset="0"/>
              </a:rPr>
              <a:t>Costs incurred by the Company for engineering, sales, marketing and warranty are expensed as incurred.”</a:t>
            </a:r>
          </a:p>
          <a:p>
            <a:pPr>
              <a:defRPr/>
            </a:pPr>
            <a:r>
              <a:rPr lang="en-US" altLang="en-US" sz="2400" i="1" dirty="0">
                <a:solidFill>
                  <a:srgbClr val="000000"/>
                </a:solidFill>
                <a:latin typeface="Times New Roman" panose="02020603050405020304" pitchFamily="18" charset="0"/>
              </a:rPr>
              <a:t>- Excerpt from 10-K for the fiscal year ending September 29, 2007</a:t>
            </a:r>
          </a:p>
          <a:p>
            <a:pPr>
              <a:defRPr/>
            </a:pPr>
            <a:endParaRPr lang="en-US" altLang="en-US" dirty="0"/>
          </a:p>
        </p:txBody>
      </p:sp>
      <p:sp>
        <p:nvSpPr>
          <p:cNvPr id="23556" name="Slide Number Placeholder 3"/>
          <p:cNvSpPr>
            <a:spLocks noGrp="1"/>
          </p:cNvSpPr>
          <p:nvPr>
            <p:ph type="sldNum" sz="quarter" idx="4294967295"/>
          </p:nvPr>
        </p:nvSpPr>
        <p:spPr bwMode="auto">
          <a:xfrm>
            <a:off x="9753600" y="6248400"/>
            <a:ext cx="9144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C8D987C-4ADE-48B2-8433-AECEE8EDE22E}" type="slidenum">
              <a:rPr lang="en-US" altLang="en-US" sz="1400">
                <a:latin typeface="Times New Roman" panose="02020603050405020304" pitchFamily="18" charset="0"/>
              </a:rPr>
              <a:pPr>
                <a:spcBef>
                  <a:spcPct val="0"/>
                </a:spcBef>
                <a:buFontTx/>
                <a:buNone/>
              </a:pPr>
              <a:t>8</a:t>
            </a:fld>
            <a:endParaRPr lang="en-US" altLang="en-US" sz="1400">
              <a:latin typeface="Times New Roman" panose="02020603050405020304" pitchFamily="18" charset="0"/>
            </a:endParaRPr>
          </a:p>
        </p:txBody>
      </p:sp>
    </p:spTree>
    <p:extLst>
      <p:ext uri="{BB962C8B-B14F-4D97-AF65-F5344CB8AC3E}">
        <p14:creationId xmlns:p14="http://schemas.microsoft.com/office/powerpoint/2010/main" val="248755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786012" y="130177"/>
            <a:ext cx="9881987" cy="1143000"/>
          </a:xfrm>
        </p:spPr>
        <p:txBody>
          <a:bodyPr>
            <a:noAutofit/>
          </a:bodyPr>
          <a:lstStyle/>
          <a:p>
            <a:r>
              <a:rPr lang="en-US" altLang="en-US" sz="3600" dirty="0"/>
              <a:t>Apple Inc.</a:t>
            </a:r>
            <a:br>
              <a:rPr lang="en-US" altLang="en-US" sz="3600" dirty="0"/>
            </a:br>
            <a:r>
              <a:rPr lang="en-US" altLang="en-US" sz="3600" dirty="0"/>
              <a:t>Multiple Deliverables (2019)</a:t>
            </a:r>
          </a:p>
        </p:txBody>
      </p:sp>
      <p:sp>
        <p:nvSpPr>
          <p:cNvPr id="37892" name="Content Placeholder 1"/>
          <p:cNvSpPr>
            <a:spLocks noGrp="1"/>
          </p:cNvSpPr>
          <p:nvPr>
            <p:ph idx="1"/>
          </p:nvPr>
        </p:nvSpPr>
        <p:spPr>
          <a:xfrm>
            <a:off x="786013" y="1402687"/>
            <a:ext cx="7690168" cy="5204059"/>
          </a:xfrm>
        </p:spPr>
        <p:txBody>
          <a:bodyPr>
            <a:noAutofit/>
          </a:bodyPr>
          <a:lstStyle/>
          <a:p>
            <a:pPr marL="0" indent="0">
              <a:buNone/>
              <a:defRPr/>
            </a:pPr>
            <a:r>
              <a:rPr lang="en-US" altLang="en-US" sz="2400" dirty="0">
                <a:solidFill>
                  <a:srgbClr val="000000"/>
                </a:solidFill>
                <a:latin typeface="Times New Roman" panose="02020603050405020304" pitchFamily="18" charset="0"/>
              </a:rPr>
              <a:t>“</a:t>
            </a:r>
            <a:r>
              <a:rPr lang="en-US" sz="2000" dirty="0"/>
              <a:t>For most of the Company’s </a:t>
            </a:r>
            <a:r>
              <a:rPr lang="en-US" sz="2000" b="1" dirty="0"/>
              <a:t>Products</a:t>
            </a:r>
            <a:r>
              <a:rPr lang="en-US" sz="2000" dirty="0"/>
              <a:t> net sales, control transfers when products are shipped. For the Company’s </a:t>
            </a:r>
            <a:r>
              <a:rPr lang="en-US" sz="2000" b="1" dirty="0"/>
              <a:t>Services</a:t>
            </a:r>
            <a:r>
              <a:rPr lang="en-US" sz="2000" dirty="0"/>
              <a:t> net sales, control transfers over time as services are delivered.</a:t>
            </a:r>
          </a:p>
          <a:p>
            <a:pPr marL="0" indent="0">
              <a:buNone/>
              <a:defRPr/>
            </a:pPr>
            <a:endParaRPr lang="en-US" sz="2000" dirty="0"/>
          </a:p>
          <a:p>
            <a:pPr marL="0" indent="0">
              <a:buNone/>
              <a:defRPr/>
            </a:pPr>
            <a:r>
              <a:rPr lang="en-US" sz="2000" dirty="0"/>
              <a:t>For arrangements with multiple performance obligations, which represent promises within an arrangement that are capable of being distinct,</a:t>
            </a:r>
            <a:r>
              <a:rPr lang="en-US" sz="2000" b="1" dirty="0"/>
              <a:t> the Company allocates revenue to all distinct performance obligations based on their relative stand-alone selling prices (“SSPs”). </a:t>
            </a:r>
            <a:r>
              <a:rPr lang="en-US" sz="2000" dirty="0"/>
              <a:t>When available, the Company uses observable prices to determine SSPs. When observable prices are not available, SSPs are established that reflect the Company’s best estimates of what the selling prices of the performance obligations would be if they were sold regularly on a stand-alone basis</a:t>
            </a:r>
          </a:p>
          <a:p>
            <a:pPr marL="0" indent="0">
              <a:buNone/>
              <a:defRPr/>
            </a:pPr>
            <a:endParaRPr lang="en-US" sz="2000" dirty="0"/>
          </a:p>
          <a:p>
            <a:pPr marL="0" indent="0">
              <a:buNone/>
              <a:defRPr/>
            </a:pPr>
            <a:r>
              <a:rPr lang="en-US" altLang="en-US" sz="2400" i="1" dirty="0">
                <a:solidFill>
                  <a:srgbClr val="000000"/>
                </a:solidFill>
                <a:latin typeface="Times New Roman" panose="02020603050405020304" pitchFamily="18" charset="0"/>
              </a:rPr>
              <a:t>- Excerpt from 10-K for the fiscal year ending September, 2019</a:t>
            </a:r>
          </a:p>
          <a:p>
            <a:pPr>
              <a:defRPr/>
            </a:pPr>
            <a:endParaRPr lang="en-US" altLang="en-US" sz="3200" dirty="0"/>
          </a:p>
        </p:txBody>
      </p:sp>
      <p:sp>
        <p:nvSpPr>
          <p:cNvPr id="25604" name="Slide Number Placeholder 3"/>
          <p:cNvSpPr>
            <a:spLocks noGrp="1"/>
          </p:cNvSpPr>
          <p:nvPr>
            <p:ph type="sldNum" sz="quarter" idx="4294967295"/>
          </p:nvPr>
        </p:nvSpPr>
        <p:spPr bwMode="auto">
          <a:xfrm>
            <a:off x="9753600" y="6248400"/>
            <a:ext cx="9144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DFDB60D-E2BA-43FA-A0EF-E79ADB18FF6A}" type="slidenum">
              <a:rPr lang="en-US" altLang="en-US" sz="1400">
                <a:latin typeface="Times New Roman" panose="02020603050405020304" pitchFamily="18" charset="0"/>
              </a:rPr>
              <a:pPr>
                <a:spcBef>
                  <a:spcPct val="0"/>
                </a:spcBef>
                <a:buFontTx/>
                <a:buNone/>
              </a:pPr>
              <a:t>9</a:t>
            </a:fld>
            <a:endParaRPr lang="en-US" altLang="en-US" sz="1400">
              <a:latin typeface="Times New Roman" panose="02020603050405020304" pitchFamily="18" charset="0"/>
            </a:endParaRPr>
          </a:p>
        </p:txBody>
      </p:sp>
    </p:spTree>
    <p:extLst>
      <p:ext uri="{BB962C8B-B14F-4D97-AF65-F5344CB8AC3E}">
        <p14:creationId xmlns:p14="http://schemas.microsoft.com/office/powerpoint/2010/main" val="3414552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786012" y="130177"/>
            <a:ext cx="9881987" cy="1143000"/>
          </a:xfrm>
        </p:spPr>
        <p:txBody>
          <a:bodyPr>
            <a:noAutofit/>
          </a:bodyPr>
          <a:lstStyle/>
          <a:p>
            <a:r>
              <a:rPr lang="en-US" altLang="en-US" sz="3600" dirty="0"/>
              <a:t>Apple Inc.</a:t>
            </a:r>
            <a:br>
              <a:rPr lang="en-US" altLang="en-US" sz="3600" dirty="0"/>
            </a:br>
            <a:r>
              <a:rPr lang="en-US" altLang="en-US" sz="3600" dirty="0"/>
              <a:t>Multiple Deliverables (2019)</a:t>
            </a:r>
          </a:p>
        </p:txBody>
      </p:sp>
      <p:sp>
        <p:nvSpPr>
          <p:cNvPr id="37892" name="Content Placeholder 1"/>
          <p:cNvSpPr>
            <a:spLocks noGrp="1"/>
          </p:cNvSpPr>
          <p:nvPr>
            <p:ph idx="1"/>
          </p:nvPr>
        </p:nvSpPr>
        <p:spPr>
          <a:xfrm>
            <a:off x="895149" y="1501541"/>
            <a:ext cx="7827611" cy="5204059"/>
          </a:xfrm>
        </p:spPr>
        <p:txBody>
          <a:bodyPr>
            <a:noAutofit/>
          </a:bodyPr>
          <a:lstStyle/>
          <a:p>
            <a:pPr>
              <a:defRPr/>
            </a:pPr>
            <a:endParaRPr lang="en-US" altLang="en-US" sz="3200" dirty="0"/>
          </a:p>
        </p:txBody>
      </p:sp>
      <p:sp>
        <p:nvSpPr>
          <p:cNvPr id="25604" name="Slide Number Placeholder 3"/>
          <p:cNvSpPr>
            <a:spLocks noGrp="1"/>
          </p:cNvSpPr>
          <p:nvPr>
            <p:ph type="sldNum" sz="quarter" idx="4294967295"/>
          </p:nvPr>
        </p:nvSpPr>
        <p:spPr bwMode="auto">
          <a:xfrm>
            <a:off x="9753600" y="6248400"/>
            <a:ext cx="9144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DFDB60D-E2BA-43FA-A0EF-E79ADB18FF6A}" type="slidenum">
              <a:rPr lang="en-US" altLang="en-US" sz="1400">
                <a:latin typeface="Times New Roman" panose="02020603050405020304" pitchFamily="18" charset="0"/>
              </a:rPr>
              <a:pPr>
                <a:spcBef>
                  <a:spcPct val="0"/>
                </a:spcBef>
                <a:buFontTx/>
                <a:buNone/>
              </a:pPr>
              <a:t>10</a:t>
            </a:fld>
            <a:endParaRPr lang="en-US" altLang="en-US" sz="1400">
              <a:latin typeface="Times New Roman" panose="02020603050405020304" pitchFamily="18" charset="0"/>
            </a:endParaRPr>
          </a:p>
        </p:txBody>
      </p:sp>
      <p:pic>
        <p:nvPicPr>
          <p:cNvPr id="1026" name="Picture 2" descr="product-main-image">
            <a:extLst>
              <a:ext uri="{FF2B5EF4-FFF2-40B4-BE49-F238E27FC236}">
                <a16:creationId xmlns:a16="http://schemas.microsoft.com/office/drawing/2014/main" id="{3697BF46-A3DA-42EC-B515-55571C79DC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07" y="2836070"/>
            <a:ext cx="1234825" cy="198306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product-main-image">
            <a:extLst>
              <a:ext uri="{FF2B5EF4-FFF2-40B4-BE49-F238E27FC236}">
                <a16:creationId xmlns:a16="http://schemas.microsoft.com/office/drawing/2014/main" id="{F1600389-612A-4617-ACC6-04293570F4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2071" y="1367945"/>
            <a:ext cx="936348" cy="15037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ri Commands, Siri Questions, Things to ask Siri 2020 (iOS 13)">
            <a:extLst>
              <a:ext uri="{FF2B5EF4-FFF2-40B4-BE49-F238E27FC236}">
                <a16:creationId xmlns:a16="http://schemas.microsoft.com/office/drawing/2014/main" id="{2C4B49C0-92F4-4882-B224-2BD95F4360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2761" y="3127376"/>
            <a:ext cx="1968826" cy="12668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pdate your iPhone, iPad, or iPod touch - Apple Support">
            <a:extLst>
              <a:ext uri="{FF2B5EF4-FFF2-40B4-BE49-F238E27FC236}">
                <a16:creationId xmlns:a16="http://schemas.microsoft.com/office/drawing/2014/main" id="{20112D7E-7211-418F-9B7D-4B43EEF521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5832" y="4706118"/>
            <a:ext cx="1968826" cy="168756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7C51D63-CC4B-4904-A732-E7C77DE2BF6A}"/>
              </a:ext>
            </a:extLst>
          </p:cNvPr>
          <p:cNvSpPr txBox="1"/>
          <p:nvPr/>
        </p:nvSpPr>
        <p:spPr>
          <a:xfrm>
            <a:off x="5171206" y="1860331"/>
            <a:ext cx="2198038" cy="369332"/>
          </a:xfrm>
          <a:prstGeom prst="rect">
            <a:avLst/>
          </a:prstGeom>
          <a:noFill/>
        </p:spPr>
        <p:txBody>
          <a:bodyPr wrap="none" rtlCol="0">
            <a:spAutoFit/>
          </a:bodyPr>
          <a:lstStyle/>
          <a:p>
            <a:r>
              <a:rPr lang="en-US" b="1" dirty="0"/>
              <a:t>$700 (stand alone)</a:t>
            </a:r>
          </a:p>
        </p:txBody>
      </p:sp>
      <p:sp>
        <p:nvSpPr>
          <p:cNvPr id="10" name="TextBox 9">
            <a:extLst>
              <a:ext uri="{FF2B5EF4-FFF2-40B4-BE49-F238E27FC236}">
                <a16:creationId xmlns:a16="http://schemas.microsoft.com/office/drawing/2014/main" id="{6B8788E2-45D8-452F-91D7-0D08D6589E87}"/>
              </a:ext>
            </a:extLst>
          </p:cNvPr>
          <p:cNvSpPr txBox="1"/>
          <p:nvPr/>
        </p:nvSpPr>
        <p:spPr>
          <a:xfrm>
            <a:off x="5171206" y="3576122"/>
            <a:ext cx="1851789" cy="369332"/>
          </a:xfrm>
          <a:prstGeom prst="rect">
            <a:avLst/>
          </a:prstGeom>
          <a:noFill/>
        </p:spPr>
        <p:txBody>
          <a:bodyPr wrap="none" rtlCol="0">
            <a:spAutoFit/>
          </a:bodyPr>
          <a:lstStyle/>
          <a:p>
            <a:r>
              <a:rPr lang="en-US" b="1" dirty="0"/>
              <a:t>$200 (estimate)</a:t>
            </a:r>
          </a:p>
        </p:txBody>
      </p:sp>
      <p:sp>
        <p:nvSpPr>
          <p:cNvPr id="11" name="TextBox 10">
            <a:extLst>
              <a:ext uri="{FF2B5EF4-FFF2-40B4-BE49-F238E27FC236}">
                <a16:creationId xmlns:a16="http://schemas.microsoft.com/office/drawing/2014/main" id="{08A17850-C1A7-4A20-AB67-0548CDC6C5E3}"/>
              </a:ext>
            </a:extLst>
          </p:cNvPr>
          <p:cNvSpPr txBox="1"/>
          <p:nvPr/>
        </p:nvSpPr>
        <p:spPr>
          <a:xfrm>
            <a:off x="605725" y="4862833"/>
            <a:ext cx="889987" cy="369332"/>
          </a:xfrm>
          <a:prstGeom prst="rect">
            <a:avLst/>
          </a:prstGeom>
          <a:noFill/>
        </p:spPr>
        <p:txBody>
          <a:bodyPr wrap="none" rtlCol="0">
            <a:spAutoFit/>
          </a:bodyPr>
          <a:lstStyle/>
          <a:p>
            <a:r>
              <a:rPr lang="en-US" b="1" dirty="0"/>
              <a:t>$1,000</a:t>
            </a:r>
          </a:p>
        </p:txBody>
      </p:sp>
      <p:sp>
        <p:nvSpPr>
          <p:cNvPr id="12" name="TextBox 11">
            <a:extLst>
              <a:ext uri="{FF2B5EF4-FFF2-40B4-BE49-F238E27FC236}">
                <a16:creationId xmlns:a16="http://schemas.microsoft.com/office/drawing/2014/main" id="{ED1D1289-B353-42A6-B96A-A04E57A2C4E0}"/>
              </a:ext>
            </a:extLst>
          </p:cNvPr>
          <p:cNvSpPr txBox="1"/>
          <p:nvPr/>
        </p:nvSpPr>
        <p:spPr>
          <a:xfrm>
            <a:off x="5171205" y="5365234"/>
            <a:ext cx="1851789" cy="369332"/>
          </a:xfrm>
          <a:prstGeom prst="rect">
            <a:avLst/>
          </a:prstGeom>
          <a:noFill/>
        </p:spPr>
        <p:txBody>
          <a:bodyPr wrap="none" rtlCol="0">
            <a:spAutoFit/>
          </a:bodyPr>
          <a:lstStyle/>
          <a:p>
            <a:r>
              <a:rPr lang="en-US" b="1" dirty="0"/>
              <a:t>$100 (estimate)</a:t>
            </a:r>
          </a:p>
        </p:txBody>
      </p:sp>
      <p:sp>
        <p:nvSpPr>
          <p:cNvPr id="13" name="TextBox 12">
            <a:extLst>
              <a:ext uri="{FF2B5EF4-FFF2-40B4-BE49-F238E27FC236}">
                <a16:creationId xmlns:a16="http://schemas.microsoft.com/office/drawing/2014/main" id="{65B74582-68DA-46AF-8D74-C3F83456BF55}"/>
              </a:ext>
            </a:extLst>
          </p:cNvPr>
          <p:cNvSpPr txBox="1"/>
          <p:nvPr/>
        </p:nvSpPr>
        <p:spPr>
          <a:xfrm>
            <a:off x="7830430" y="1860331"/>
            <a:ext cx="1287532" cy="369332"/>
          </a:xfrm>
          <a:prstGeom prst="rect">
            <a:avLst/>
          </a:prstGeom>
          <a:noFill/>
        </p:spPr>
        <p:txBody>
          <a:bodyPr wrap="none" rtlCol="0">
            <a:spAutoFit/>
          </a:bodyPr>
          <a:lstStyle/>
          <a:p>
            <a:r>
              <a:rPr lang="en-US" b="1" dirty="0"/>
              <a:t>Upon sale</a:t>
            </a:r>
          </a:p>
        </p:txBody>
      </p:sp>
      <p:sp>
        <p:nvSpPr>
          <p:cNvPr id="14" name="TextBox 13">
            <a:extLst>
              <a:ext uri="{FF2B5EF4-FFF2-40B4-BE49-F238E27FC236}">
                <a16:creationId xmlns:a16="http://schemas.microsoft.com/office/drawing/2014/main" id="{1BC7345B-EDFC-4D56-BDC8-19C8F508E184}"/>
              </a:ext>
            </a:extLst>
          </p:cNvPr>
          <p:cNvSpPr txBox="1"/>
          <p:nvPr/>
        </p:nvSpPr>
        <p:spPr>
          <a:xfrm>
            <a:off x="7830430" y="3574728"/>
            <a:ext cx="1249060" cy="369332"/>
          </a:xfrm>
          <a:prstGeom prst="rect">
            <a:avLst/>
          </a:prstGeom>
          <a:noFill/>
        </p:spPr>
        <p:txBody>
          <a:bodyPr wrap="none" rtlCol="0">
            <a:spAutoFit/>
          </a:bodyPr>
          <a:lstStyle/>
          <a:p>
            <a:r>
              <a:rPr lang="en-US" b="1" dirty="0"/>
              <a:t>Over time</a:t>
            </a:r>
          </a:p>
        </p:txBody>
      </p:sp>
      <p:sp>
        <p:nvSpPr>
          <p:cNvPr id="15" name="TextBox 14">
            <a:extLst>
              <a:ext uri="{FF2B5EF4-FFF2-40B4-BE49-F238E27FC236}">
                <a16:creationId xmlns:a16="http://schemas.microsoft.com/office/drawing/2014/main" id="{4B106617-C498-45BA-ACB0-C2AF467AA382}"/>
              </a:ext>
            </a:extLst>
          </p:cNvPr>
          <p:cNvSpPr txBox="1"/>
          <p:nvPr/>
        </p:nvSpPr>
        <p:spPr>
          <a:xfrm>
            <a:off x="7820871" y="5365234"/>
            <a:ext cx="1249060" cy="369332"/>
          </a:xfrm>
          <a:prstGeom prst="rect">
            <a:avLst/>
          </a:prstGeom>
          <a:noFill/>
        </p:spPr>
        <p:txBody>
          <a:bodyPr wrap="none" rtlCol="0">
            <a:spAutoFit/>
          </a:bodyPr>
          <a:lstStyle/>
          <a:p>
            <a:r>
              <a:rPr lang="en-US" b="1" dirty="0"/>
              <a:t>Over time</a:t>
            </a:r>
          </a:p>
        </p:txBody>
      </p:sp>
      <p:sp>
        <p:nvSpPr>
          <p:cNvPr id="3" name="Arrow: Bent 2">
            <a:extLst>
              <a:ext uri="{FF2B5EF4-FFF2-40B4-BE49-F238E27FC236}">
                <a16:creationId xmlns:a16="http://schemas.microsoft.com/office/drawing/2014/main" id="{B10D6C8E-03AE-4549-8874-5EDEC01B761A}"/>
              </a:ext>
            </a:extLst>
          </p:cNvPr>
          <p:cNvSpPr/>
          <p:nvPr/>
        </p:nvSpPr>
        <p:spPr>
          <a:xfrm>
            <a:off x="867358" y="1627638"/>
            <a:ext cx="1653319" cy="821245"/>
          </a:xfrm>
          <a:prstGeom prst="ben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Arrow: Bent 18">
            <a:extLst>
              <a:ext uri="{FF2B5EF4-FFF2-40B4-BE49-F238E27FC236}">
                <a16:creationId xmlns:a16="http://schemas.microsoft.com/office/drawing/2014/main" id="{81FC7A70-9F67-4EDF-83C1-99A17D4BAA87}"/>
              </a:ext>
            </a:extLst>
          </p:cNvPr>
          <p:cNvSpPr/>
          <p:nvPr/>
        </p:nvSpPr>
        <p:spPr>
          <a:xfrm>
            <a:off x="895149" y="5364840"/>
            <a:ext cx="1653319" cy="821245"/>
          </a:xfrm>
          <a:prstGeom prst="bentArrow">
            <a:avLst/>
          </a:prstGeom>
          <a:solidFill>
            <a:srgbClr val="7030A0"/>
          </a:solidFill>
          <a:ln>
            <a:solidFill>
              <a:srgbClr val="7030A0"/>
            </a:solidFill>
          </a:ln>
          <a:scene3d>
            <a:camera prst="orthographicFront">
              <a:rot lat="0" lon="10799999" rev="10799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Arrow: Right 3">
            <a:extLst>
              <a:ext uri="{FF2B5EF4-FFF2-40B4-BE49-F238E27FC236}">
                <a16:creationId xmlns:a16="http://schemas.microsoft.com/office/drawing/2014/main" id="{D9F434C9-8E6E-4417-A95C-C330AB983B1D}"/>
              </a:ext>
            </a:extLst>
          </p:cNvPr>
          <p:cNvSpPr/>
          <p:nvPr/>
        </p:nvSpPr>
        <p:spPr>
          <a:xfrm>
            <a:off x="1671750" y="3528175"/>
            <a:ext cx="663600" cy="465227"/>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1FAF8FAA-EC6C-4199-83E6-34CBDABE2081}"/>
              </a:ext>
            </a:extLst>
          </p:cNvPr>
          <p:cNvSpPr/>
          <p:nvPr/>
        </p:nvSpPr>
        <p:spPr>
          <a:xfrm>
            <a:off x="4368673" y="1849231"/>
            <a:ext cx="802532" cy="465227"/>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8FF345F0-C7DE-4CAD-8319-97E2A16EE5CC}"/>
              </a:ext>
            </a:extLst>
          </p:cNvPr>
          <p:cNvSpPr/>
          <p:nvPr/>
        </p:nvSpPr>
        <p:spPr>
          <a:xfrm>
            <a:off x="4570838" y="3526780"/>
            <a:ext cx="600367" cy="465227"/>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7FB09534-5125-4650-B061-0E958EB58C24}"/>
              </a:ext>
            </a:extLst>
          </p:cNvPr>
          <p:cNvSpPr/>
          <p:nvPr/>
        </p:nvSpPr>
        <p:spPr>
          <a:xfrm>
            <a:off x="4552705" y="5317286"/>
            <a:ext cx="600367" cy="465227"/>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C6E3FF68-3496-4E4F-B205-EFCAE7A65724}"/>
              </a:ext>
            </a:extLst>
          </p:cNvPr>
          <p:cNvSpPr/>
          <p:nvPr/>
        </p:nvSpPr>
        <p:spPr>
          <a:xfrm>
            <a:off x="7255103" y="1812383"/>
            <a:ext cx="600367" cy="465227"/>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C5228769-4D5D-4526-95FC-9F162547F383}"/>
              </a:ext>
            </a:extLst>
          </p:cNvPr>
          <p:cNvSpPr/>
          <p:nvPr/>
        </p:nvSpPr>
        <p:spPr>
          <a:xfrm>
            <a:off x="7184653" y="3532824"/>
            <a:ext cx="600367" cy="465227"/>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DCC8824F-C59C-41CD-8355-DB1A17BE2855}"/>
              </a:ext>
            </a:extLst>
          </p:cNvPr>
          <p:cNvSpPr/>
          <p:nvPr/>
        </p:nvSpPr>
        <p:spPr>
          <a:xfrm>
            <a:off x="7191066" y="5315386"/>
            <a:ext cx="600367" cy="465227"/>
          </a:xfrm>
          <a:prstGeom prst="right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7942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2" grpId="0"/>
      <p:bldP spid="13" grpId="0"/>
      <p:bldP spid="14" grpId="0"/>
      <p:bldP spid="15" grpId="0"/>
      <p:bldP spid="3" grpId="0" animBg="1"/>
      <p:bldP spid="19" grpId="0" animBg="1"/>
      <p:bldP spid="4" grpId="0" animBg="1"/>
      <p:bldP spid="21" grpId="0" animBg="1"/>
      <p:bldP spid="22" grpId="0" animBg="1"/>
      <p:bldP spid="23" grpId="0" animBg="1"/>
      <p:bldP spid="24" grpId="0" animBg="1"/>
      <p:bldP spid="25"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descr=" 35842"/>
          <p:cNvSpPr>
            <a:spLocks noGrp="1"/>
          </p:cNvSpPr>
          <p:nvPr>
            <p:ph type="title"/>
          </p:nvPr>
        </p:nvSpPr>
        <p:spPr>
          <a:xfrm>
            <a:off x="778194" y="275273"/>
            <a:ext cx="10011726" cy="1143000"/>
          </a:xfrm>
        </p:spPr>
        <p:txBody>
          <a:bodyPr/>
          <a:lstStyle/>
          <a:p>
            <a:r>
              <a:rPr lang="en-US" altLang="en-US" sz="3600" dirty="0"/>
              <a:t>ASC 606: Five Steps to Recognition</a:t>
            </a:r>
          </a:p>
        </p:txBody>
      </p:sp>
      <p:pic>
        <p:nvPicPr>
          <p:cNvPr id="35843" name="Picture 1" descr=" 3584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4969" y="1418273"/>
            <a:ext cx="4875212" cy="532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descr=" 2">
            <a:extLst>
              <a:ext uri="{FF2B5EF4-FFF2-40B4-BE49-F238E27FC236}">
                <a16:creationId xmlns:a16="http://schemas.microsoft.com/office/drawing/2014/main" id="{118008C3-87AB-4EB2-BDA2-81658AE85326}"/>
              </a:ext>
            </a:extLst>
          </p:cNvPr>
          <p:cNvSpPr/>
          <p:nvPr/>
        </p:nvSpPr>
        <p:spPr>
          <a:xfrm>
            <a:off x="1694969" y="1952091"/>
            <a:ext cx="4952411" cy="17055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descr=" 5">
            <a:extLst>
              <a:ext uri="{FF2B5EF4-FFF2-40B4-BE49-F238E27FC236}">
                <a16:creationId xmlns:a16="http://schemas.microsoft.com/office/drawing/2014/main" id="{FBF35C55-E8F3-4BC1-AC59-DA0BAAD61BB5}"/>
              </a:ext>
            </a:extLst>
          </p:cNvPr>
          <p:cNvSpPr/>
          <p:nvPr/>
        </p:nvSpPr>
        <p:spPr>
          <a:xfrm>
            <a:off x="1694969" y="3657601"/>
            <a:ext cx="4952411" cy="15308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descr=" 6">
            <a:extLst>
              <a:ext uri="{FF2B5EF4-FFF2-40B4-BE49-F238E27FC236}">
                <a16:creationId xmlns:a16="http://schemas.microsoft.com/office/drawing/2014/main" id="{B6F3D561-A00A-4F64-9775-9B55D8B0BA52}"/>
              </a:ext>
            </a:extLst>
          </p:cNvPr>
          <p:cNvSpPr/>
          <p:nvPr/>
        </p:nvSpPr>
        <p:spPr>
          <a:xfrm>
            <a:off x="1694969" y="5188449"/>
            <a:ext cx="4952411" cy="15308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490380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descr=" 35842"/>
          <p:cNvSpPr>
            <a:spLocks noGrp="1"/>
          </p:cNvSpPr>
          <p:nvPr>
            <p:ph type="title"/>
          </p:nvPr>
        </p:nvSpPr>
        <p:spPr>
          <a:xfrm>
            <a:off x="778194" y="275273"/>
            <a:ext cx="10011726" cy="1143000"/>
          </a:xfrm>
        </p:spPr>
        <p:txBody>
          <a:bodyPr/>
          <a:lstStyle/>
          <a:p>
            <a:r>
              <a:rPr lang="en-US" altLang="en-US" sz="3600" dirty="0"/>
              <a:t>ASC 606: Five Steps to Recognition</a:t>
            </a:r>
          </a:p>
        </p:txBody>
      </p:sp>
      <p:pic>
        <p:nvPicPr>
          <p:cNvPr id="35843" name="Picture 1" descr=" 3584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4969" y="1418273"/>
            <a:ext cx="4875212" cy="532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descr=" 5">
            <a:extLst>
              <a:ext uri="{FF2B5EF4-FFF2-40B4-BE49-F238E27FC236}">
                <a16:creationId xmlns:a16="http://schemas.microsoft.com/office/drawing/2014/main" id="{FBF35C55-E8F3-4BC1-AC59-DA0BAAD61BB5}"/>
              </a:ext>
            </a:extLst>
          </p:cNvPr>
          <p:cNvSpPr/>
          <p:nvPr/>
        </p:nvSpPr>
        <p:spPr>
          <a:xfrm>
            <a:off x="1694969" y="3657601"/>
            <a:ext cx="4952411" cy="15308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descr=" 6">
            <a:extLst>
              <a:ext uri="{FF2B5EF4-FFF2-40B4-BE49-F238E27FC236}">
                <a16:creationId xmlns:a16="http://schemas.microsoft.com/office/drawing/2014/main" id="{B6F3D561-A00A-4F64-9775-9B55D8B0BA52}"/>
              </a:ext>
            </a:extLst>
          </p:cNvPr>
          <p:cNvSpPr/>
          <p:nvPr/>
        </p:nvSpPr>
        <p:spPr>
          <a:xfrm>
            <a:off x="1694969" y="5188449"/>
            <a:ext cx="4952411" cy="15308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88662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descr=" 35842"/>
          <p:cNvSpPr>
            <a:spLocks noGrp="1"/>
          </p:cNvSpPr>
          <p:nvPr>
            <p:ph type="title"/>
          </p:nvPr>
        </p:nvSpPr>
        <p:spPr>
          <a:xfrm>
            <a:off x="778194" y="275273"/>
            <a:ext cx="10011726" cy="1143000"/>
          </a:xfrm>
        </p:spPr>
        <p:txBody>
          <a:bodyPr/>
          <a:lstStyle/>
          <a:p>
            <a:r>
              <a:rPr lang="en-US" altLang="en-US" sz="3600" dirty="0"/>
              <a:t>ASC 606: Five Steps to Recognition</a:t>
            </a:r>
          </a:p>
        </p:txBody>
      </p:sp>
      <p:pic>
        <p:nvPicPr>
          <p:cNvPr id="35843" name="Picture 1" descr=" 3584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4969" y="1418273"/>
            <a:ext cx="4875212" cy="532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descr=" 6">
            <a:extLst>
              <a:ext uri="{FF2B5EF4-FFF2-40B4-BE49-F238E27FC236}">
                <a16:creationId xmlns:a16="http://schemas.microsoft.com/office/drawing/2014/main" id="{B6F3D561-A00A-4F64-9775-9B55D8B0BA52}"/>
              </a:ext>
            </a:extLst>
          </p:cNvPr>
          <p:cNvSpPr/>
          <p:nvPr/>
        </p:nvSpPr>
        <p:spPr>
          <a:xfrm>
            <a:off x="1694969" y="5188449"/>
            <a:ext cx="4952411" cy="15308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13415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descr=" 35842"/>
          <p:cNvSpPr>
            <a:spLocks noGrp="1"/>
          </p:cNvSpPr>
          <p:nvPr>
            <p:ph type="title"/>
          </p:nvPr>
        </p:nvSpPr>
        <p:spPr>
          <a:xfrm>
            <a:off x="778194" y="275273"/>
            <a:ext cx="10011726" cy="1143000"/>
          </a:xfrm>
        </p:spPr>
        <p:txBody>
          <a:bodyPr/>
          <a:lstStyle/>
          <a:p>
            <a:r>
              <a:rPr lang="en-US" altLang="en-US" sz="3600" dirty="0"/>
              <a:t>ASC 606: Five Steps to Recognition</a:t>
            </a:r>
          </a:p>
        </p:txBody>
      </p:sp>
      <p:pic>
        <p:nvPicPr>
          <p:cNvPr id="35843" name="Picture 1" descr=" 3584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4969" y="1418273"/>
            <a:ext cx="4875212" cy="532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64957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descr=" 35842"/>
          <p:cNvSpPr>
            <a:spLocks noGrp="1"/>
          </p:cNvSpPr>
          <p:nvPr>
            <p:ph type="title"/>
          </p:nvPr>
        </p:nvSpPr>
        <p:spPr>
          <a:xfrm>
            <a:off x="778194" y="275273"/>
            <a:ext cx="10011726" cy="1143000"/>
          </a:xfrm>
        </p:spPr>
        <p:txBody>
          <a:bodyPr/>
          <a:lstStyle/>
          <a:p>
            <a:r>
              <a:rPr lang="en-US" altLang="en-US" sz="3600" dirty="0"/>
              <a:t>Five Steps for Dollar Tree</a:t>
            </a:r>
          </a:p>
        </p:txBody>
      </p:sp>
      <p:graphicFrame>
        <p:nvGraphicFramePr>
          <p:cNvPr id="2" name="Table 2">
            <a:extLst>
              <a:ext uri="{FF2B5EF4-FFF2-40B4-BE49-F238E27FC236}">
                <a16:creationId xmlns:a16="http://schemas.microsoft.com/office/drawing/2014/main" id="{50F22F65-57AC-4C69-9723-199AD7C30519}"/>
              </a:ext>
            </a:extLst>
          </p:cNvPr>
          <p:cNvGraphicFramePr>
            <a:graphicFrameLocks noGrp="1"/>
          </p:cNvGraphicFramePr>
          <p:nvPr>
            <p:extLst>
              <p:ext uri="{D42A27DB-BD31-4B8C-83A1-F6EECF244321}">
                <p14:modId xmlns:p14="http://schemas.microsoft.com/office/powerpoint/2010/main" val="3873492930"/>
              </p:ext>
            </p:extLst>
          </p:nvPr>
        </p:nvGraphicFramePr>
        <p:xfrm>
          <a:off x="380144" y="1455392"/>
          <a:ext cx="6698750" cy="5132588"/>
        </p:xfrm>
        <a:graphic>
          <a:graphicData uri="http://schemas.openxmlformats.org/drawingml/2006/table">
            <a:tbl>
              <a:tblPr firstRow="1" bandRow="1">
                <a:tableStyleId>{5C22544A-7EE6-4342-B048-85BDC9FD1C3A}</a:tableStyleId>
              </a:tblPr>
              <a:tblGrid>
                <a:gridCol w="3349375">
                  <a:extLst>
                    <a:ext uri="{9D8B030D-6E8A-4147-A177-3AD203B41FA5}">
                      <a16:colId xmlns:a16="http://schemas.microsoft.com/office/drawing/2014/main" val="4236313901"/>
                    </a:ext>
                  </a:extLst>
                </a:gridCol>
                <a:gridCol w="3349375">
                  <a:extLst>
                    <a:ext uri="{9D8B030D-6E8A-4147-A177-3AD203B41FA5}">
                      <a16:colId xmlns:a16="http://schemas.microsoft.com/office/drawing/2014/main" val="3705615505"/>
                    </a:ext>
                  </a:extLst>
                </a:gridCol>
              </a:tblGrid>
              <a:tr h="825947">
                <a:tc>
                  <a:txBody>
                    <a:bodyPr/>
                    <a:lstStyle/>
                    <a:p>
                      <a:pPr algn="ctr"/>
                      <a:r>
                        <a:rPr lang="en-US" sz="3200" dirty="0"/>
                        <a:t>Step #</a:t>
                      </a:r>
                    </a:p>
                  </a:txBody>
                  <a:tcPr anchor="ctr"/>
                </a:tc>
                <a:tc>
                  <a:txBody>
                    <a:bodyPr/>
                    <a:lstStyle/>
                    <a:p>
                      <a:pPr algn="ctr"/>
                      <a:r>
                        <a:rPr lang="en-US" sz="3200" dirty="0"/>
                        <a:t>Application</a:t>
                      </a:r>
                    </a:p>
                  </a:txBody>
                  <a:tcPr anchor="ctr"/>
                </a:tc>
                <a:extLst>
                  <a:ext uri="{0D108BD9-81ED-4DB2-BD59-A6C34878D82A}">
                    <a16:rowId xmlns:a16="http://schemas.microsoft.com/office/drawing/2014/main" val="3714295106"/>
                  </a:ext>
                </a:extLst>
              </a:tr>
              <a:tr h="825947">
                <a:tc>
                  <a:txBody>
                    <a:bodyPr/>
                    <a:lstStyle/>
                    <a:p>
                      <a:r>
                        <a:rPr lang="en-US" dirty="0"/>
                        <a:t>#1: Identify Contract</a:t>
                      </a:r>
                    </a:p>
                  </a:txBody>
                  <a:tcPr/>
                </a:tc>
                <a:tc>
                  <a:txBody>
                    <a:bodyPr/>
                    <a:lstStyle/>
                    <a:p>
                      <a:r>
                        <a:rPr lang="en-US" dirty="0"/>
                        <a:t>Customer in the checkout lane with a product</a:t>
                      </a:r>
                    </a:p>
                  </a:txBody>
                  <a:tcPr/>
                </a:tc>
                <a:extLst>
                  <a:ext uri="{0D108BD9-81ED-4DB2-BD59-A6C34878D82A}">
                    <a16:rowId xmlns:a16="http://schemas.microsoft.com/office/drawing/2014/main" val="3084246603"/>
                  </a:ext>
                </a:extLst>
              </a:tr>
              <a:tr h="825947">
                <a:tc>
                  <a:txBody>
                    <a:bodyPr/>
                    <a:lstStyle/>
                    <a:p>
                      <a:r>
                        <a:rPr lang="en-US" dirty="0"/>
                        <a:t>#2: Identify performance obligations</a:t>
                      </a:r>
                    </a:p>
                  </a:txBody>
                  <a:tcPr/>
                </a:tc>
                <a:tc>
                  <a:txBody>
                    <a:bodyPr/>
                    <a:lstStyle/>
                    <a:p>
                      <a:r>
                        <a:rPr lang="en-US" dirty="0"/>
                        <a:t>Give product to customer</a:t>
                      </a:r>
                    </a:p>
                  </a:txBody>
                  <a:tcPr/>
                </a:tc>
                <a:extLst>
                  <a:ext uri="{0D108BD9-81ED-4DB2-BD59-A6C34878D82A}">
                    <a16:rowId xmlns:a16="http://schemas.microsoft.com/office/drawing/2014/main" val="2312310988"/>
                  </a:ext>
                </a:extLst>
              </a:tr>
              <a:tr h="825947">
                <a:tc>
                  <a:txBody>
                    <a:bodyPr/>
                    <a:lstStyle/>
                    <a:p>
                      <a:r>
                        <a:rPr lang="en-US" dirty="0"/>
                        <a:t>#3: Determine price</a:t>
                      </a:r>
                    </a:p>
                  </a:txBody>
                  <a:tcPr/>
                </a:tc>
                <a:tc>
                  <a:txBody>
                    <a:bodyPr/>
                    <a:lstStyle/>
                    <a:p>
                      <a:r>
                        <a:rPr lang="en-US" dirty="0"/>
                        <a:t>One dollar</a:t>
                      </a:r>
                    </a:p>
                  </a:txBody>
                  <a:tcPr/>
                </a:tc>
                <a:extLst>
                  <a:ext uri="{0D108BD9-81ED-4DB2-BD59-A6C34878D82A}">
                    <a16:rowId xmlns:a16="http://schemas.microsoft.com/office/drawing/2014/main" val="3861437936"/>
                  </a:ext>
                </a:extLst>
              </a:tr>
              <a:tr h="825947">
                <a:tc>
                  <a:txBody>
                    <a:bodyPr/>
                    <a:lstStyle/>
                    <a:p>
                      <a:r>
                        <a:rPr lang="en-US" dirty="0"/>
                        <a:t>#4: Allocate price to performance obligations</a:t>
                      </a:r>
                    </a:p>
                  </a:txBody>
                  <a:tcPr/>
                </a:tc>
                <a:tc>
                  <a:txBody>
                    <a:bodyPr/>
                    <a:lstStyle/>
                    <a:p>
                      <a:r>
                        <a:rPr lang="en-US" dirty="0"/>
                        <a:t>Full price ($1) is allocated to giving the product to the customer</a:t>
                      </a:r>
                    </a:p>
                  </a:txBody>
                  <a:tcPr/>
                </a:tc>
                <a:extLst>
                  <a:ext uri="{0D108BD9-81ED-4DB2-BD59-A6C34878D82A}">
                    <a16:rowId xmlns:a16="http://schemas.microsoft.com/office/drawing/2014/main" val="1492010006"/>
                  </a:ext>
                </a:extLst>
              </a:tr>
              <a:tr h="825947">
                <a:tc>
                  <a:txBody>
                    <a:bodyPr/>
                    <a:lstStyle/>
                    <a:p>
                      <a:r>
                        <a:rPr lang="en-US" dirty="0"/>
                        <a:t>#5: Recognize when performance is fulfilled</a:t>
                      </a:r>
                    </a:p>
                  </a:txBody>
                  <a:tcPr/>
                </a:tc>
                <a:tc>
                  <a:txBody>
                    <a:bodyPr/>
                    <a:lstStyle/>
                    <a:p>
                      <a:r>
                        <a:rPr lang="en-US" dirty="0"/>
                        <a:t>Customer completes transaction, takes product, then recognize revenue</a:t>
                      </a:r>
                    </a:p>
                  </a:txBody>
                  <a:tcPr/>
                </a:tc>
                <a:extLst>
                  <a:ext uri="{0D108BD9-81ED-4DB2-BD59-A6C34878D82A}">
                    <a16:rowId xmlns:a16="http://schemas.microsoft.com/office/drawing/2014/main" val="3735917733"/>
                  </a:ext>
                </a:extLst>
              </a:tr>
            </a:tbl>
          </a:graphicData>
        </a:graphic>
      </p:graphicFrame>
      <p:sp>
        <p:nvSpPr>
          <p:cNvPr id="3" name="Rectangle 2">
            <a:extLst>
              <a:ext uri="{FF2B5EF4-FFF2-40B4-BE49-F238E27FC236}">
                <a16:creationId xmlns:a16="http://schemas.microsoft.com/office/drawing/2014/main" id="{024C8CB4-344E-4A4A-B8CA-2F8E7B786AB1}"/>
              </a:ext>
            </a:extLst>
          </p:cNvPr>
          <p:cNvSpPr/>
          <p:nvPr/>
        </p:nvSpPr>
        <p:spPr>
          <a:xfrm>
            <a:off x="246580" y="2250040"/>
            <a:ext cx="6965878" cy="8527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C5AC4E8-E930-4790-8691-2B3652300EB6}"/>
              </a:ext>
            </a:extLst>
          </p:cNvPr>
          <p:cNvSpPr/>
          <p:nvPr/>
        </p:nvSpPr>
        <p:spPr>
          <a:xfrm>
            <a:off x="246580" y="3102796"/>
            <a:ext cx="6965878" cy="8527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7200C7D-0CF6-4E23-855E-3C66CC0581C6}"/>
              </a:ext>
            </a:extLst>
          </p:cNvPr>
          <p:cNvSpPr/>
          <p:nvPr/>
        </p:nvSpPr>
        <p:spPr>
          <a:xfrm>
            <a:off x="246580" y="3934563"/>
            <a:ext cx="6965878" cy="8527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9D98920-5FCC-4A99-B990-22E8814627F1}"/>
              </a:ext>
            </a:extLst>
          </p:cNvPr>
          <p:cNvSpPr/>
          <p:nvPr/>
        </p:nvSpPr>
        <p:spPr>
          <a:xfrm>
            <a:off x="246580" y="4793616"/>
            <a:ext cx="6965878" cy="8527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EA03BD6-11A5-4ED5-901B-6C0D29CCF094}"/>
              </a:ext>
            </a:extLst>
          </p:cNvPr>
          <p:cNvSpPr/>
          <p:nvPr/>
        </p:nvSpPr>
        <p:spPr>
          <a:xfrm>
            <a:off x="380144" y="5683490"/>
            <a:ext cx="6965878" cy="9044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038955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descr=" 37890"/>
          <p:cNvSpPr>
            <a:spLocks noGrp="1"/>
          </p:cNvSpPr>
          <p:nvPr>
            <p:ph type="title"/>
          </p:nvPr>
        </p:nvSpPr>
        <p:spPr/>
        <p:txBody>
          <a:bodyPr/>
          <a:lstStyle/>
          <a:p>
            <a:r>
              <a:rPr lang="en-US" altLang="en-US"/>
              <a:t>Step 1: Identify the contract</a:t>
            </a:r>
          </a:p>
        </p:txBody>
      </p:sp>
      <p:sp>
        <p:nvSpPr>
          <p:cNvPr id="37891" name="Slide Number Placeholder 3" descr=" 37891"/>
          <p:cNvSpPr>
            <a:spLocks noGrp="1"/>
          </p:cNvSpPr>
          <p:nvPr>
            <p:ph type="sldNum" sz="quarter" idx="4294967295"/>
          </p:nvPr>
        </p:nvSpPr>
        <p:spPr bwMode="auto">
          <a:xfrm>
            <a:off x="8763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latin typeface="Times New Roman" panose="02020603050405020304" pitchFamily="18" charset="0"/>
              </a:rPr>
              <a:t>5</a:t>
            </a:r>
          </a:p>
        </p:txBody>
      </p:sp>
      <p:sp>
        <p:nvSpPr>
          <p:cNvPr id="2" name="TextBox 1" descr=" 2"/>
          <p:cNvSpPr txBox="1"/>
          <p:nvPr/>
        </p:nvSpPr>
        <p:spPr>
          <a:xfrm>
            <a:off x="981777" y="3005522"/>
            <a:ext cx="7781223" cy="1200329"/>
          </a:xfrm>
          <a:prstGeom prst="rect">
            <a:avLst/>
          </a:prstGeom>
          <a:noFill/>
        </p:spPr>
        <p:txBody>
          <a:bodyPr wrap="square">
            <a:spAutoFit/>
          </a:bodyPr>
          <a:lstStyle/>
          <a:p>
            <a:pPr>
              <a:defRPr/>
            </a:pPr>
            <a:r>
              <a:rPr lang="en-US" sz="2400" dirty="0">
                <a:solidFill>
                  <a:srgbClr val="0070C0"/>
                </a:solidFill>
              </a:rPr>
              <a:t>A </a:t>
            </a:r>
            <a:r>
              <a:rPr lang="en-US" sz="2400" u="sng" dirty="0">
                <a:solidFill>
                  <a:srgbClr val="0070C0"/>
                </a:solidFill>
              </a:rPr>
              <a:t>contract</a:t>
            </a:r>
            <a:r>
              <a:rPr lang="en-US" sz="2400" dirty="0">
                <a:solidFill>
                  <a:srgbClr val="0070C0"/>
                </a:solidFill>
              </a:rPr>
              <a:t> is an agreement between parties that creates enforceable rights and obligations.  Can be written, oral, or implied by normal business practices.</a:t>
            </a:r>
          </a:p>
        </p:txBody>
      </p:sp>
      <p:sp>
        <p:nvSpPr>
          <p:cNvPr id="3" name="Rectangle 2">
            <a:extLst>
              <a:ext uri="{FF2B5EF4-FFF2-40B4-BE49-F238E27FC236}">
                <a16:creationId xmlns:a16="http://schemas.microsoft.com/office/drawing/2014/main" id="{31E060FD-52BF-454D-918D-0FABD268EF69}"/>
              </a:ext>
            </a:extLst>
          </p:cNvPr>
          <p:cNvSpPr/>
          <p:nvPr/>
        </p:nvSpPr>
        <p:spPr>
          <a:xfrm>
            <a:off x="3256908" y="4202130"/>
            <a:ext cx="5856270" cy="2568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6EF9992-E4FE-4CB0-9251-8B083B66E697}"/>
              </a:ext>
            </a:extLst>
          </p:cNvPr>
          <p:cNvSpPr/>
          <p:nvPr/>
        </p:nvSpPr>
        <p:spPr>
          <a:xfrm>
            <a:off x="703638" y="4500394"/>
            <a:ext cx="5856270" cy="2568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41666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descr=" 37890"/>
          <p:cNvSpPr>
            <a:spLocks noGrp="1"/>
          </p:cNvSpPr>
          <p:nvPr>
            <p:ph type="title"/>
          </p:nvPr>
        </p:nvSpPr>
        <p:spPr/>
        <p:txBody>
          <a:bodyPr/>
          <a:lstStyle/>
          <a:p>
            <a:r>
              <a:rPr lang="en-US" altLang="en-US"/>
              <a:t>Step 1: Identify the contract</a:t>
            </a:r>
          </a:p>
        </p:txBody>
      </p:sp>
      <p:sp>
        <p:nvSpPr>
          <p:cNvPr id="37891" name="Slide Number Placeholder 3" descr=" 37891"/>
          <p:cNvSpPr>
            <a:spLocks noGrp="1"/>
          </p:cNvSpPr>
          <p:nvPr>
            <p:ph type="sldNum" sz="quarter" idx="4294967295"/>
          </p:nvPr>
        </p:nvSpPr>
        <p:spPr bwMode="auto">
          <a:xfrm>
            <a:off x="8763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latin typeface="Times New Roman" panose="02020603050405020304" pitchFamily="18" charset="0"/>
              </a:rPr>
              <a:t>5</a:t>
            </a:r>
          </a:p>
        </p:txBody>
      </p:sp>
      <p:sp>
        <p:nvSpPr>
          <p:cNvPr id="2" name="TextBox 1" descr=" 2"/>
          <p:cNvSpPr txBox="1"/>
          <p:nvPr/>
        </p:nvSpPr>
        <p:spPr>
          <a:xfrm>
            <a:off x="981777" y="1462088"/>
            <a:ext cx="7781223" cy="2446824"/>
          </a:xfrm>
          <a:prstGeom prst="rect">
            <a:avLst/>
          </a:prstGeom>
          <a:noFill/>
        </p:spPr>
        <p:txBody>
          <a:bodyPr wrap="square">
            <a:spAutoFit/>
          </a:bodyPr>
          <a:lstStyle/>
          <a:p>
            <a:pPr>
              <a:defRPr/>
            </a:pPr>
            <a:endParaRPr lang="en-US" sz="800" i="1" dirty="0"/>
          </a:p>
          <a:p>
            <a:pPr>
              <a:defRPr/>
            </a:pPr>
            <a:r>
              <a:rPr lang="en-US" sz="1600" dirty="0"/>
              <a:t>JC Enterprises manufactures designer cases for cell phones and is attempting to enter a new market. To implement this strategy, JC agrees to sell 5,000 units to a retailer for a price of $75 each. The retailer agrees to pay 90 days after delivery. JC knows the retailer is struggling financially, but wants to enter the new market. JC believes they will need to offer the customer a 20% price reduction.</a:t>
            </a:r>
          </a:p>
          <a:p>
            <a:pPr marL="457200" indent="-457200" algn="ctr">
              <a:spcBef>
                <a:spcPts val="600"/>
              </a:spcBef>
              <a:spcAft>
                <a:spcPts val="600"/>
              </a:spcAft>
              <a:buFont typeface="+mj-lt"/>
              <a:buChar char=" "/>
              <a:defRPr/>
            </a:pPr>
            <a:r>
              <a:rPr lang="en-US" sz="2000" dirty="0"/>
              <a:t>                                                       </a:t>
            </a:r>
            <a:br>
              <a:rPr lang="en-US" sz="2000" dirty="0"/>
            </a:br>
            <a:r>
              <a:rPr lang="en-US" sz="2000" b="1" dirty="0"/>
              <a:t>Is this a valid contract? </a:t>
            </a:r>
            <a:r>
              <a:rPr lang="en-US" sz="2000" b="1" i="1" dirty="0"/>
              <a:t>                                                          </a:t>
            </a:r>
            <a:br>
              <a:rPr lang="en-US" sz="2000" i="1" dirty="0"/>
            </a:br>
            <a:r>
              <a:rPr lang="en-US" sz="2000" i="1" dirty="0"/>
              <a:t>                                  </a:t>
            </a:r>
            <a:endParaRPr lang="en-US" sz="2000" dirty="0"/>
          </a:p>
        </p:txBody>
      </p:sp>
    </p:spTree>
    <p:extLst>
      <p:ext uri="{BB962C8B-B14F-4D97-AF65-F5344CB8AC3E}">
        <p14:creationId xmlns:p14="http://schemas.microsoft.com/office/powerpoint/2010/main" val="40833476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descr=" 37890"/>
          <p:cNvSpPr>
            <a:spLocks noGrp="1"/>
          </p:cNvSpPr>
          <p:nvPr>
            <p:ph type="title"/>
          </p:nvPr>
        </p:nvSpPr>
        <p:spPr/>
        <p:txBody>
          <a:bodyPr/>
          <a:lstStyle/>
          <a:p>
            <a:r>
              <a:rPr lang="en-US" altLang="en-US"/>
              <a:t>Step 1: Identify the contract</a:t>
            </a:r>
          </a:p>
        </p:txBody>
      </p:sp>
      <p:sp>
        <p:nvSpPr>
          <p:cNvPr id="37891" name="Slide Number Placeholder 3" descr=" 37891"/>
          <p:cNvSpPr>
            <a:spLocks noGrp="1"/>
          </p:cNvSpPr>
          <p:nvPr>
            <p:ph type="sldNum" sz="quarter" idx="4294967295"/>
          </p:nvPr>
        </p:nvSpPr>
        <p:spPr bwMode="auto">
          <a:xfrm>
            <a:off x="8763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latin typeface="Times New Roman" panose="02020603050405020304" pitchFamily="18" charset="0"/>
              </a:rPr>
              <a:t>5</a:t>
            </a:r>
          </a:p>
        </p:txBody>
      </p:sp>
      <p:sp>
        <p:nvSpPr>
          <p:cNvPr id="2" name="TextBox 1" descr=" 2"/>
          <p:cNvSpPr txBox="1"/>
          <p:nvPr/>
        </p:nvSpPr>
        <p:spPr>
          <a:xfrm>
            <a:off x="981777" y="1462088"/>
            <a:ext cx="7781223" cy="2446824"/>
          </a:xfrm>
          <a:prstGeom prst="rect">
            <a:avLst/>
          </a:prstGeom>
          <a:noFill/>
        </p:spPr>
        <p:txBody>
          <a:bodyPr wrap="square">
            <a:spAutoFit/>
          </a:bodyPr>
          <a:lstStyle/>
          <a:p>
            <a:pPr>
              <a:defRPr/>
            </a:pPr>
            <a:endParaRPr lang="en-US" sz="800" i="1" dirty="0"/>
          </a:p>
          <a:p>
            <a:pPr>
              <a:defRPr/>
            </a:pPr>
            <a:r>
              <a:rPr lang="en-US" sz="1600" dirty="0"/>
              <a:t>JC Enterprises manufactures designer cases for cell phones and is attempting to enter a new market. To implement this strategy, JC agrees to sell 5,000 units to a retailer for a price of $75 each. The retailer agrees to pay 90 days after delivery. JC knows the retailer is struggling financially, but wants to enter the new market. JC believes they will need to offer the customer a 20% price reduction.</a:t>
            </a:r>
          </a:p>
          <a:p>
            <a:pPr marL="457200" indent="-457200" algn="ctr">
              <a:spcBef>
                <a:spcPts val="600"/>
              </a:spcBef>
              <a:spcAft>
                <a:spcPts val="600"/>
              </a:spcAft>
              <a:buFont typeface="+mj-lt"/>
              <a:buChar char=" "/>
              <a:defRPr/>
            </a:pPr>
            <a:r>
              <a:rPr lang="en-US" sz="2000" dirty="0"/>
              <a:t>                                                       </a:t>
            </a:r>
            <a:br>
              <a:rPr lang="en-US" sz="2000" dirty="0"/>
            </a:br>
            <a:r>
              <a:rPr lang="en-US" sz="2000" b="1" dirty="0"/>
              <a:t>Is this a valid contract? </a:t>
            </a:r>
            <a:r>
              <a:rPr lang="en-US" sz="2000" b="1" i="1" dirty="0"/>
              <a:t>                                                          </a:t>
            </a:r>
            <a:br>
              <a:rPr lang="en-US" sz="2000" i="1" dirty="0"/>
            </a:br>
            <a:r>
              <a:rPr lang="en-US" sz="2000" i="1" dirty="0"/>
              <a:t>                                  </a:t>
            </a:r>
            <a:endParaRPr lang="en-US" sz="2000" dirty="0"/>
          </a:p>
        </p:txBody>
      </p:sp>
      <p:pic>
        <p:nvPicPr>
          <p:cNvPr id="5" name="Picture 4">
            <a:extLst>
              <a:ext uri="{FF2B5EF4-FFF2-40B4-BE49-F238E27FC236}">
                <a16:creationId xmlns:a16="http://schemas.microsoft.com/office/drawing/2014/main" id="{2407295D-C03F-448C-95EC-EE441A63EF0A}"/>
              </a:ext>
            </a:extLst>
          </p:cNvPr>
          <p:cNvPicPr>
            <a:picLocks noChangeAspect="1"/>
          </p:cNvPicPr>
          <p:nvPr/>
        </p:nvPicPr>
        <p:blipFill>
          <a:blip r:embed="rId3"/>
          <a:stretch>
            <a:fillRect/>
          </a:stretch>
        </p:blipFill>
        <p:spPr>
          <a:xfrm>
            <a:off x="1709524" y="3765157"/>
            <a:ext cx="7197053" cy="2291514"/>
          </a:xfrm>
          <a:prstGeom prst="rect">
            <a:avLst/>
          </a:prstGeom>
        </p:spPr>
      </p:pic>
    </p:spTree>
    <p:extLst>
      <p:ext uri="{BB962C8B-B14F-4D97-AF65-F5344CB8AC3E}">
        <p14:creationId xmlns:p14="http://schemas.microsoft.com/office/powerpoint/2010/main" val="224486126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descr=" 37890"/>
          <p:cNvSpPr>
            <a:spLocks noGrp="1"/>
          </p:cNvSpPr>
          <p:nvPr>
            <p:ph type="title"/>
          </p:nvPr>
        </p:nvSpPr>
        <p:spPr/>
        <p:txBody>
          <a:bodyPr/>
          <a:lstStyle/>
          <a:p>
            <a:r>
              <a:rPr lang="en-US" altLang="en-US"/>
              <a:t>Step 1: Identify the contract</a:t>
            </a:r>
          </a:p>
        </p:txBody>
      </p:sp>
      <p:sp>
        <p:nvSpPr>
          <p:cNvPr id="37891" name="Slide Number Placeholder 3" descr=" 37891"/>
          <p:cNvSpPr>
            <a:spLocks noGrp="1"/>
          </p:cNvSpPr>
          <p:nvPr>
            <p:ph type="sldNum" sz="quarter" idx="4294967295"/>
          </p:nvPr>
        </p:nvSpPr>
        <p:spPr bwMode="auto">
          <a:xfrm>
            <a:off x="8763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latin typeface="Times New Roman" panose="02020603050405020304" pitchFamily="18" charset="0"/>
              </a:rPr>
              <a:t>5</a:t>
            </a:r>
          </a:p>
        </p:txBody>
      </p:sp>
      <p:sp>
        <p:nvSpPr>
          <p:cNvPr id="2" name="TextBox 1" descr=" 2"/>
          <p:cNvSpPr txBox="1"/>
          <p:nvPr/>
        </p:nvSpPr>
        <p:spPr>
          <a:xfrm>
            <a:off x="981777" y="1462088"/>
            <a:ext cx="7781223" cy="3223959"/>
          </a:xfrm>
          <a:prstGeom prst="rect">
            <a:avLst/>
          </a:prstGeom>
          <a:noFill/>
        </p:spPr>
        <p:txBody>
          <a:bodyPr wrap="square">
            <a:spAutoFit/>
          </a:bodyPr>
          <a:lstStyle/>
          <a:p>
            <a:pPr>
              <a:defRPr/>
            </a:pPr>
            <a:endParaRPr lang="en-US" sz="800" i="1" dirty="0"/>
          </a:p>
          <a:p>
            <a:pPr>
              <a:defRPr/>
            </a:pPr>
            <a:endParaRPr lang="en-US" sz="1050" u="sng" dirty="0"/>
          </a:p>
          <a:p>
            <a:pPr marL="457200" indent="-457200">
              <a:spcBef>
                <a:spcPts val="600"/>
              </a:spcBef>
              <a:spcAft>
                <a:spcPts val="600"/>
              </a:spcAft>
              <a:buFont typeface="+mj-lt"/>
              <a:buChar char=" "/>
              <a:defRPr/>
            </a:pPr>
            <a:r>
              <a:rPr lang="en-US" sz="2000" dirty="0"/>
              <a:t>                                                         </a:t>
            </a:r>
            <a:br>
              <a:rPr lang="en-US" sz="2000" dirty="0"/>
            </a:br>
            <a:r>
              <a:rPr lang="en-US" sz="2000" dirty="0"/>
              <a:t>          </a:t>
            </a:r>
          </a:p>
          <a:p>
            <a:pPr marL="457200" indent="-457200">
              <a:spcBef>
                <a:spcPts val="600"/>
              </a:spcBef>
              <a:spcAft>
                <a:spcPts val="600"/>
              </a:spcAft>
              <a:buFont typeface="+mj-lt"/>
              <a:buChar char=" "/>
              <a:defRPr/>
            </a:pPr>
            <a:r>
              <a:rPr lang="en-US" sz="2000" dirty="0"/>
              <a:t>                               </a:t>
            </a:r>
          </a:p>
          <a:p>
            <a:pPr marL="457200" indent="-457200">
              <a:spcBef>
                <a:spcPts val="600"/>
              </a:spcBef>
              <a:spcAft>
                <a:spcPts val="600"/>
              </a:spcAft>
              <a:buFont typeface="+mj-lt"/>
              <a:buChar char=" "/>
              <a:defRPr/>
            </a:pPr>
            <a:r>
              <a:rPr lang="en-US" sz="2000" dirty="0"/>
              <a:t>                                  </a:t>
            </a:r>
          </a:p>
          <a:p>
            <a:pPr marL="457200" indent="-457200">
              <a:spcBef>
                <a:spcPts val="600"/>
              </a:spcBef>
              <a:spcAft>
                <a:spcPts val="600"/>
              </a:spcAft>
              <a:buFont typeface="+mj-lt"/>
              <a:buChar char=" "/>
              <a:defRPr/>
            </a:pPr>
            <a:r>
              <a:rPr lang="en-US" sz="2000" dirty="0"/>
              <a:t>                                 </a:t>
            </a:r>
          </a:p>
          <a:p>
            <a:pPr marL="457200" indent="-457200">
              <a:spcBef>
                <a:spcPts val="600"/>
              </a:spcBef>
              <a:spcAft>
                <a:spcPts val="600"/>
              </a:spcAft>
              <a:buFont typeface="+mj-lt"/>
              <a:buChar char=" "/>
              <a:defRPr/>
            </a:pPr>
            <a:r>
              <a:rPr lang="en-US" sz="2000" b="1" u="sng" dirty="0"/>
              <a:t>Is this a valid contract? </a:t>
            </a:r>
            <a:r>
              <a:rPr lang="en-US" sz="2000" b="1" i="1" u="sng" dirty="0"/>
              <a:t>                                                          </a:t>
            </a:r>
            <a:br>
              <a:rPr lang="en-US" sz="2000" i="1" dirty="0"/>
            </a:br>
            <a:r>
              <a:rPr lang="en-US" sz="2000" i="1" dirty="0"/>
              <a:t>                                  </a:t>
            </a:r>
            <a:endParaRPr lang="en-US" sz="2000" dirty="0"/>
          </a:p>
        </p:txBody>
      </p:sp>
      <p:pic>
        <p:nvPicPr>
          <p:cNvPr id="5" name="Picture 3" descr=" 39940">
            <a:extLst>
              <a:ext uri="{FF2B5EF4-FFF2-40B4-BE49-F238E27FC236}">
                <a16:creationId xmlns:a16="http://schemas.microsoft.com/office/drawing/2014/main" id="{15CB7AED-44AF-4026-96A1-26D8270C9DFE}"/>
              </a:ext>
            </a:extLst>
          </p:cNvPr>
          <p:cNvPicPr>
            <a:picLocks noChangeAspect="1"/>
          </p:cNvPicPr>
          <p:nvPr/>
        </p:nvPicPr>
        <p:blipFill>
          <a:blip r:embed="rId3">
            <a:extLst>
              <a:ext uri="{28A0092B-C50C-407E-A947-70E740481C1C}">
                <a14:useLocalDpi xmlns:a14="http://schemas.microsoft.com/office/drawing/2010/main" val="0"/>
              </a:ext>
            </a:extLst>
          </a:blip>
          <a:srcRect b="38914"/>
          <a:stretch>
            <a:fillRect/>
          </a:stretch>
        </p:blipFill>
        <p:spPr bwMode="auto">
          <a:xfrm>
            <a:off x="703638" y="1545480"/>
            <a:ext cx="8670282" cy="1866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31E060FD-52BF-454D-918D-0FABD268EF69}"/>
              </a:ext>
            </a:extLst>
          </p:cNvPr>
          <p:cNvSpPr/>
          <p:nvPr/>
        </p:nvSpPr>
        <p:spPr>
          <a:xfrm>
            <a:off x="3328828" y="2757885"/>
            <a:ext cx="5856270" cy="2568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6EF9992-E4FE-4CB0-9251-8B083B66E697}"/>
              </a:ext>
            </a:extLst>
          </p:cNvPr>
          <p:cNvSpPr/>
          <p:nvPr/>
        </p:nvSpPr>
        <p:spPr>
          <a:xfrm>
            <a:off x="703638" y="3084922"/>
            <a:ext cx="5856270" cy="2568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E9ED626-FA10-45B7-A53C-F1F1FD52516A}"/>
              </a:ext>
            </a:extLst>
          </p:cNvPr>
          <p:cNvPicPr>
            <a:picLocks noChangeAspect="1"/>
          </p:cNvPicPr>
          <p:nvPr/>
        </p:nvPicPr>
        <p:blipFill>
          <a:blip r:embed="rId4"/>
          <a:stretch>
            <a:fillRect/>
          </a:stretch>
        </p:blipFill>
        <p:spPr>
          <a:xfrm>
            <a:off x="2176867" y="4340510"/>
            <a:ext cx="7197053" cy="2291514"/>
          </a:xfrm>
          <a:prstGeom prst="rect">
            <a:avLst/>
          </a:prstGeom>
        </p:spPr>
      </p:pic>
    </p:spTree>
    <p:extLst>
      <p:ext uri="{BB962C8B-B14F-4D97-AF65-F5344CB8AC3E}">
        <p14:creationId xmlns:p14="http://schemas.microsoft.com/office/powerpoint/2010/main" val="400449293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descr=" 37890"/>
          <p:cNvSpPr>
            <a:spLocks noGrp="1"/>
          </p:cNvSpPr>
          <p:nvPr>
            <p:ph type="title"/>
          </p:nvPr>
        </p:nvSpPr>
        <p:spPr/>
        <p:txBody>
          <a:bodyPr/>
          <a:lstStyle/>
          <a:p>
            <a:r>
              <a:rPr lang="en-US" altLang="en-US"/>
              <a:t>Step 1: Identify the contract</a:t>
            </a:r>
          </a:p>
        </p:txBody>
      </p:sp>
      <p:sp>
        <p:nvSpPr>
          <p:cNvPr id="37891" name="Slide Number Placeholder 3" descr=" 37891"/>
          <p:cNvSpPr>
            <a:spLocks noGrp="1"/>
          </p:cNvSpPr>
          <p:nvPr>
            <p:ph type="sldNum" sz="quarter" idx="4294967295"/>
          </p:nvPr>
        </p:nvSpPr>
        <p:spPr bwMode="auto">
          <a:xfrm>
            <a:off x="8763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latin typeface="Times New Roman" panose="02020603050405020304" pitchFamily="18" charset="0"/>
              </a:rPr>
              <a:t>5</a:t>
            </a:r>
          </a:p>
        </p:txBody>
      </p:sp>
      <p:sp>
        <p:nvSpPr>
          <p:cNvPr id="2" name="TextBox 1" descr=" 2"/>
          <p:cNvSpPr txBox="1"/>
          <p:nvPr/>
        </p:nvSpPr>
        <p:spPr>
          <a:xfrm>
            <a:off x="981777" y="1462088"/>
            <a:ext cx="7781223" cy="3223959"/>
          </a:xfrm>
          <a:prstGeom prst="rect">
            <a:avLst/>
          </a:prstGeom>
          <a:noFill/>
        </p:spPr>
        <p:txBody>
          <a:bodyPr wrap="square">
            <a:spAutoFit/>
          </a:bodyPr>
          <a:lstStyle/>
          <a:p>
            <a:pPr>
              <a:defRPr/>
            </a:pPr>
            <a:endParaRPr lang="en-US" sz="800" i="1" dirty="0"/>
          </a:p>
          <a:p>
            <a:pPr>
              <a:defRPr/>
            </a:pPr>
            <a:endParaRPr lang="en-US" sz="1050" u="sng" dirty="0"/>
          </a:p>
          <a:p>
            <a:pPr marL="457200" indent="-457200">
              <a:spcBef>
                <a:spcPts val="600"/>
              </a:spcBef>
              <a:spcAft>
                <a:spcPts val="600"/>
              </a:spcAft>
              <a:buFont typeface="+mj-lt"/>
              <a:buChar char=" "/>
              <a:defRPr/>
            </a:pPr>
            <a:r>
              <a:rPr lang="en-US" sz="2000" dirty="0"/>
              <a:t>                                                         </a:t>
            </a:r>
            <a:br>
              <a:rPr lang="en-US" sz="2000" dirty="0"/>
            </a:br>
            <a:r>
              <a:rPr lang="en-US" sz="2000" dirty="0"/>
              <a:t>          </a:t>
            </a:r>
          </a:p>
          <a:p>
            <a:pPr marL="457200" indent="-457200">
              <a:spcBef>
                <a:spcPts val="600"/>
              </a:spcBef>
              <a:spcAft>
                <a:spcPts val="600"/>
              </a:spcAft>
              <a:buFont typeface="+mj-lt"/>
              <a:buChar char=" "/>
              <a:defRPr/>
            </a:pPr>
            <a:r>
              <a:rPr lang="en-US" sz="2000" dirty="0"/>
              <a:t>                               </a:t>
            </a:r>
          </a:p>
          <a:p>
            <a:pPr marL="457200" indent="-457200">
              <a:spcBef>
                <a:spcPts val="600"/>
              </a:spcBef>
              <a:spcAft>
                <a:spcPts val="600"/>
              </a:spcAft>
              <a:buFont typeface="+mj-lt"/>
              <a:buChar char=" "/>
              <a:defRPr/>
            </a:pPr>
            <a:r>
              <a:rPr lang="en-US" sz="2000" dirty="0"/>
              <a:t>                                  </a:t>
            </a:r>
          </a:p>
          <a:p>
            <a:pPr marL="457200" indent="-457200">
              <a:spcBef>
                <a:spcPts val="600"/>
              </a:spcBef>
              <a:spcAft>
                <a:spcPts val="600"/>
              </a:spcAft>
              <a:buFont typeface="+mj-lt"/>
              <a:buChar char=" "/>
              <a:defRPr/>
            </a:pPr>
            <a:r>
              <a:rPr lang="en-US" sz="2000" dirty="0"/>
              <a:t>                                 </a:t>
            </a:r>
          </a:p>
          <a:p>
            <a:pPr marL="457200" indent="-457200">
              <a:spcBef>
                <a:spcPts val="600"/>
              </a:spcBef>
              <a:spcAft>
                <a:spcPts val="600"/>
              </a:spcAft>
              <a:buFont typeface="+mj-lt"/>
              <a:buChar char=" "/>
              <a:defRPr/>
            </a:pPr>
            <a:r>
              <a:rPr lang="en-US" sz="2000" b="1" u="sng" dirty="0"/>
              <a:t>Is this a valid contract? </a:t>
            </a:r>
            <a:r>
              <a:rPr lang="en-US" sz="2000" b="1" i="1" u="sng" dirty="0"/>
              <a:t>                                                          </a:t>
            </a:r>
            <a:br>
              <a:rPr lang="en-US" sz="2000" i="1" dirty="0"/>
            </a:br>
            <a:r>
              <a:rPr lang="en-US" sz="2000" i="1" dirty="0"/>
              <a:t>                                  </a:t>
            </a:r>
            <a:endParaRPr lang="en-US" sz="2000" dirty="0"/>
          </a:p>
        </p:txBody>
      </p:sp>
      <p:pic>
        <p:nvPicPr>
          <p:cNvPr id="5" name="Picture 3" descr=" 39940">
            <a:extLst>
              <a:ext uri="{FF2B5EF4-FFF2-40B4-BE49-F238E27FC236}">
                <a16:creationId xmlns:a16="http://schemas.microsoft.com/office/drawing/2014/main" id="{15CB7AED-44AF-4026-96A1-26D8270C9DFE}"/>
              </a:ext>
            </a:extLst>
          </p:cNvPr>
          <p:cNvPicPr>
            <a:picLocks noChangeAspect="1"/>
          </p:cNvPicPr>
          <p:nvPr/>
        </p:nvPicPr>
        <p:blipFill>
          <a:blip r:embed="rId3">
            <a:extLst>
              <a:ext uri="{28A0092B-C50C-407E-A947-70E740481C1C}">
                <a14:useLocalDpi xmlns:a14="http://schemas.microsoft.com/office/drawing/2010/main" val="0"/>
              </a:ext>
            </a:extLst>
          </a:blip>
          <a:srcRect b="38914"/>
          <a:stretch>
            <a:fillRect/>
          </a:stretch>
        </p:blipFill>
        <p:spPr bwMode="auto">
          <a:xfrm>
            <a:off x="703638" y="1545480"/>
            <a:ext cx="8670282" cy="1866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31E060FD-52BF-454D-918D-0FABD268EF69}"/>
              </a:ext>
            </a:extLst>
          </p:cNvPr>
          <p:cNvSpPr/>
          <p:nvPr/>
        </p:nvSpPr>
        <p:spPr>
          <a:xfrm>
            <a:off x="3328828" y="2757885"/>
            <a:ext cx="5856270" cy="2568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6EF9992-E4FE-4CB0-9251-8B083B66E697}"/>
              </a:ext>
            </a:extLst>
          </p:cNvPr>
          <p:cNvSpPr/>
          <p:nvPr/>
        </p:nvSpPr>
        <p:spPr>
          <a:xfrm>
            <a:off x="703638" y="3084922"/>
            <a:ext cx="5856270" cy="2568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E9ED626-FA10-45B7-A53C-F1F1FD52516A}"/>
              </a:ext>
            </a:extLst>
          </p:cNvPr>
          <p:cNvPicPr>
            <a:picLocks noChangeAspect="1"/>
          </p:cNvPicPr>
          <p:nvPr/>
        </p:nvPicPr>
        <p:blipFill>
          <a:blip r:embed="rId4"/>
          <a:stretch>
            <a:fillRect/>
          </a:stretch>
        </p:blipFill>
        <p:spPr>
          <a:xfrm>
            <a:off x="2176867" y="4340510"/>
            <a:ext cx="7197053" cy="2291514"/>
          </a:xfrm>
          <a:prstGeom prst="rect">
            <a:avLst/>
          </a:prstGeom>
        </p:spPr>
      </p:pic>
      <p:sp>
        <p:nvSpPr>
          <p:cNvPr id="8" name="Arrow: Circular 7">
            <a:extLst>
              <a:ext uri="{FF2B5EF4-FFF2-40B4-BE49-F238E27FC236}">
                <a16:creationId xmlns:a16="http://schemas.microsoft.com/office/drawing/2014/main" id="{A09127DE-534F-4690-8A98-00F7C81F957B}"/>
              </a:ext>
            </a:extLst>
          </p:cNvPr>
          <p:cNvSpPr/>
          <p:nvPr/>
        </p:nvSpPr>
        <p:spPr>
          <a:xfrm rot="5400000">
            <a:off x="8518774" y="3263589"/>
            <a:ext cx="1866478" cy="3308702"/>
          </a:xfrm>
          <a:prstGeom prst="circularArrow">
            <a:avLst>
              <a:gd name="adj1" fmla="val 12500"/>
              <a:gd name="adj2" fmla="val 1142319"/>
              <a:gd name="adj3" fmla="val 20457681"/>
              <a:gd name="adj4" fmla="val 14682136"/>
              <a:gd name="adj5" fmla="val 1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142DCFF8-4B11-4D15-840A-2054912DBF52}"/>
              </a:ext>
            </a:extLst>
          </p:cNvPr>
          <p:cNvSpPr txBox="1"/>
          <p:nvPr/>
        </p:nvSpPr>
        <p:spPr>
          <a:xfrm>
            <a:off x="8097767" y="3897602"/>
            <a:ext cx="3921266" cy="369332"/>
          </a:xfrm>
          <a:prstGeom prst="rect">
            <a:avLst/>
          </a:prstGeom>
          <a:solidFill>
            <a:schemeClr val="accent4">
              <a:lumMod val="40000"/>
              <a:lumOff val="60000"/>
            </a:schemeClr>
          </a:solidFill>
        </p:spPr>
        <p:txBody>
          <a:bodyPr wrap="none" rtlCol="0">
            <a:spAutoFit/>
          </a:bodyPr>
          <a:lstStyle/>
          <a:p>
            <a:r>
              <a:rPr lang="en-US" dirty="0">
                <a:latin typeface="Arial Black" panose="020B0A04020102020204" pitchFamily="34" charset="0"/>
              </a:rPr>
              <a:t>Recognize collectible amount</a:t>
            </a:r>
          </a:p>
        </p:txBody>
      </p:sp>
    </p:spTree>
    <p:extLst>
      <p:ext uri="{BB962C8B-B14F-4D97-AF65-F5344CB8AC3E}">
        <p14:creationId xmlns:p14="http://schemas.microsoft.com/office/powerpoint/2010/main" val="35172123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778194" y="275273"/>
            <a:ext cx="10011726" cy="1143000"/>
          </a:xfrm>
        </p:spPr>
        <p:txBody>
          <a:bodyPr/>
          <a:lstStyle/>
          <a:p>
            <a:r>
              <a:rPr lang="en-US" altLang="en-US" sz="3600" dirty="0"/>
              <a:t>Five Steps to Recognition</a:t>
            </a:r>
          </a:p>
        </p:txBody>
      </p:sp>
      <p:pic>
        <p:nvPicPr>
          <p:cNvPr id="3584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4969" y="1418273"/>
            <a:ext cx="4875212" cy="532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118008C3-87AB-4EB2-BDA2-81658AE85326}"/>
              </a:ext>
            </a:extLst>
          </p:cNvPr>
          <p:cNvSpPr/>
          <p:nvPr/>
        </p:nvSpPr>
        <p:spPr>
          <a:xfrm>
            <a:off x="4279900" y="1952091"/>
            <a:ext cx="2367480" cy="17055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BF35C55-E8F3-4BC1-AC59-DA0BAAD61BB5}"/>
              </a:ext>
            </a:extLst>
          </p:cNvPr>
          <p:cNvSpPr/>
          <p:nvPr/>
        </p:nvSpPr>
        <p:spPr>
          <a:xfrm>
            <a:off x="1694969" y="3657601"/>
            <a:ext cx="4952411" cy="15308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6F3D561-A00A-4F64-9775-9B55D8B0BA52}"/>
              </a:ext>
            </a:extLst>
          </p:cNvPr>
          <p:cNvSpPr/>
          <p:nvPr/>
        </p:nvSpPr>
        <p:spPr>
          <a:xfrm>
            <a:off x="1694969" y="5188449"/>
            <a:ext cx="4952411" cy="15308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5758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descr=" 41986"/>
          <p:cNvSpPr>
            <a:spLocks noGrp="1"/>
          </p:cNvSpPr>
          <p:nvPr>
            <p:ph type="title"/>
          </p:nvPr>
        </p:nvSpPr>
        <p:spPr>
          <a:xfrm>
            <a:off x="750772" y="289009"/>
            <a:ext cx="10934298" cy="1143000"/>
          </a:xfrm>
        </p:spPr>
        <p:txBody>
          <a:bodyPr/>
          <a:lstStyle/>
          <a:p>
            <a:r>
              <a:rPr lang="en-US" altLang="en-US" sz="3600" dirty="0"/>
              <a:t>Step 2: Identify performance obligations</a:t>
            </a:r>
          </a:p>
        </p:txBody>
      </p:sp>
      <p:sp>
        <p:nvSpPr>
          <p:cNvPr id="2" name="Content Placeholder 1" descr=" 2"/>
          <p:cNvSpPr>
            <a:spLocks noGrp="1"/>
          </p:cNvSpPr>
          <p:nvPr>
            <p:ph idx="1"/>
          </p:nvPr>
        </p:nvSpPr>
        <p:spPr>
          <a:xfrm>
            <a:off x="750773" y="1582739"/>
            <a:ext cx="8723428" cy="5424453"/>
          </a:xfrm>
        </p:spPr>
        <p:txBody>
          <a:bodyPr>
            <a:normAutofit/>
          </a:bodyPr>
          <a:lstStyle/>
          <a:p>
            <a:pPr marL="0" indent="0">
              <a:buNone/>
              <a:defRPr/>
            </a:pPr>
            <a:r>
              <a:rPr lang="en-US" dirty="0">
                <a:solidFill>
                  <a:srgbClr val="0070C0"/>
                </a:solidFill>
              </a:rPr>
              <a:t>A </a:t>
            </a:r>
            <a:r>
              <a:rPr lang="en-US" u="sng" dirty="0">
                <a:solidFill>
                  <a:srgbClr val="0070C0"/>
                </a:solidFill>
              </a:rPr>
              <a:t>performance obligation</a:t>
            </a:r>
            <a:r>
              <a:rPr lang="en-US" dirty="0">
                <a:solidFill>
                  <a:srgbClr val="0070C0"/>
                </a:solidFill>
              </a:rPr>
              <a:t> is a promise to transfer a distinct good/service to a customer</a:t>
            </a:r>
          </a:p>
          <a:p>
            <a:pPr marL="0" indent="0">
              <a:buNone/>
              <a:defRPr/>
            </a:pPr>
            <a:endParaRPr lang="en-US" sz="900" i="1" dirty="0">
              <a:solidFill>
                <a:srgbClr val="0070C0"/>
              </a:solidFill>
            </a:endParaRPr>
          </a:p>
          <a:p>
            <a:pPr>
              <a:spcAft>
                <a:spcPts val="600"/>
              </a:spcAft>
              <a:buChar char=" "/>
              <a:defRPr/>
            </a:pPr>
            <a:r>
              <a:rPr lang="en-US"/>
              <a:t>                                          </a:t>
            </a:r>
            <a:endParaRPr lang="en-US" dirty="0"/>
          </a:p>
          <a:p>
            <a:pPr>
              <a:spcAft>
                <a:spcPts val="600"/>
              </a:spcAft>
              <a:buChar char=" "/>
              <a:defRPr/>
            </a:pPr>
            <a:r>
              <a:rPr lang="en-US"/>
              <a:t>                               </a:t>
            </a:r>
            <a:endParaRPr lang="en-US" dirty="0"/>
          </a:p>
          <a:p>
            <a:pPr lvl="1">
              <a:spcAft>
                <a:spcPts val="600"/>
              </a:spcAft>
              <a:buChar char=" "/>
              <a:defRPr/>
            </a:pPr>
            <a:r>
              <a:rPr lang="en-US" b="1"/>
              <a:t>                                      </a:t>
            </a:r>
            <a:r>
              <a:rPr lang="en-US"/>
              <a:t>          </a:t>
            </a:r>
            <a:br>
              <a:rPr lang="en-US"/>
            </a:br>
            <a:r>
              <a:rPr lang="en-US"/>
              <a:t>                    </a:t>
            </a:r>
            <a:r>
              <a:rPr lang="en-US" i="1"/>
              <a:t>                  </a:t>
            </a:r>
            <a:r>
              <a:rPr lang="en-US"/>
              <a:t>                 </a:t>
            </a:r>
            <a:br>
              <a:rPr lang="en-US"/>
            </a:br>
            <a:r>
              <a:rPr lang="en-US"/>
              <a:t>        </a:t>
            </a:r>
            <a:endParaRPr lang="en-US" dirty="0"/>
          </a:p>
          <a:p>
            <a:pPr lvl="1">
              <a:spcAft>
                <a:spcPts val="600"/>
              </a:spcAft>
              <a:buChar char=" "/>
              <a:defRPr/>
            </a:pPr>
            <a:r>
              <a:rPr lang="en-US"/>
              <a:t>                </a:t>
            </a:r>
            <a:r>
              <a:rPr lang="en-US" b="1"/>
              <a:t>                        </a:t>
            </a:r>
            <a:r>
              <a:rPr lang="en-US"/>
              <a:t>           </a:t>
            </a:r>
            <a:br>
              <a:rPr lang="en-US"/>
            </a:br>
            <a:r>
              <a:rPr lang="en-US"/>
              <a:t>                        </a:t>
            </a:r>
            <a:endParaRPr lang="en-US" dirty="0"/>
          </a:p>
        </p:txBody>
      </p:sp>
      <p:sp>
        <p:nvSpPr>
          <p:cNvPr id="41988" name="Slide Number Placeholder 3" descr=" 41988"/>
          <p:cNvSpPr>
            <a:spLocks noGrp="1"/>
          </p:cNvSpPr>
          <p:nvPr>
            <p:ph type="sldNum" sz="quarter" idx="4294967295"/>
          </p:nvPr>
        </p:nvSpPr>
        <p:spPr bwMode="auto">
          <a:xfrm>
            <a:off x="8763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latin typeface="Times New Roman" panose="02020603050405020304" pitchFamily="18" charset="0"/>
              </a:rPr>
              <a:t>8</a:t>
            </a:r>
          </a:p>
        </p:txBody>
      </p:sp>
    </p:spTree>
    <p:extLst>
      <p:ext uri="{BB962C8B-B14F-4D97-AF65-F5344CB8AC3E}">
        <p14:creationId xmlns:p14="http://schemas.microsoft.com/office/powerpoint/2010/main" val="27764322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descr=" 41986"/>
          <p:cNvSpPr>
            <a:spLocks noGrp="1"/>
          </p:cNvSpPr>
          <p:nvPr>
            <p:ph type="title"/>
          </p:nvPr>
        </p:nvSpPr>
        <p:spPr>
          <a:xfrm>
            <a:off x="750772" y="289009"/>
            <a:ext cx="10934298" cy="1143000"/>
          </a:xfrm>
        </p:spPr>
        <p:txBody>
          <a:bodyPr/>
          <a:lstStyle/>
          <a:p>
            <a:r>
              <a:rPr lang="en-US" altLang="en-US" sz="3600" dirty="0"/>
              <a:t>Step 2: Identify performance obligations</a:t>
            </a:r>
          </a:p>
        </p:txBody>
      </p:sp>
      <p:sp>
        <p:nvSpPr>
          <p:cNvPr id="2" name="Content Placeholder 1" descr=" 2"/>
          <p:cNvSpPr>
            <a:spLocks noGrp="1"/>
          </p:cNvSpPr>
          <p:nvPr>
            <p:ph idx="1"/>
          </p:nvPr>
        </p:nvSpPr>
        <p:spPr>
          <a:xfrm>
            <a:off x="750773" y="1582739"/>
            <a:ext cx="8723428" cy="5424453"/>
          </a:xfrm>
        </p:spPr>
        <p:txBody>
          <a:bodyPr>
            <a:normAutofit/>
          </a:bodyPr>
          <a:lstStyle/>
          <a:p>
            <a:pPr marL="0" indent="0">
              <a:buNone/>
              <a:defRPr/>
            </a:pPr>
            <a:r>
              <a:rPr lang="en-US" dirty="0">
                <a:solidFill>
                  <a:srgbClr val="0070C0"/>
                </a:solidFill>
              </a:rPr>
              <a:t>A </a:t>
            </a:r>
            <a:r>
              <a:rPr lang="en-US" u="sng" dirty="0">
                <a:solidFill>
                  <a:srgbClr val="0070C0"/>
                </a:solidFill>
              </a:rPr>
              <a:t>performance obligation</a:t>
            </a:r>
            <a:r>
              <a:rPr lang="en-US" dirty="0">
                <a:solidFill>
                  <a:srgbClr val="0070C0"/>
                </a:solidFill>
              </a:rPr>
              <a:t> is a promise to transfer a distinct good/service to a customer</a:t>
            </a:r>
          </a:p>
          <a:p>
            <a:pPr marL="0" indent="0">
              <a:buNone/>
              <a:defRPr/>
            </a:pPr>
            <a:endParaRPr lang="en-US" sz="900" i="1" dirty="0">
              <a:solidFill>
                <a:srgbClr val="0070C0"/>
              </a:solidFill>
            </a:endParaRPr>
          </a:p>
          <a:p>
            <a:pPr>
              <a:spcAft>
                <a:spcPts val="600"/>
              </a:spcAft>
              <a:defRPr/>
            </a:pPr>
            <a:r>
              <a:rPr lang="en-US">
                <a:solidFill>
                  <a:schemeClr val="tx1">
                    <a:lumMod val="100000"/>
                  </a:schemeClr>
                </a:solidFill>
                <a:latin typeface="Arial" panose="020B0604020202020204" pitchFamily="34" charset="0"/>
              </a:rPr>
              <a:t>Identify goods or services in the contract</a:t>
            </a:r>
          </a:p>
          <a:p>
            <a:pPr>
              <a:spcAft>
                <a:spcPts val="600"/>
              </a:spcAft>
              <a:buChar char=" "/>
              <a:defRPr/>
            </a:pPr>
            <a:r>
              <a:rPr lang="en-US"/>
              <a:t>                               </a:t>
            </a:r>
            <a:endParaRPr lang="en-US" dirty="0"/>
          </a:p>
          <a:p>
            <a:pPr lvl="1">
              <a:spcAft>
                <a:spcPts val="600"/>
              </a:spcAft>
              <a:buChar char=" "/>
              <a:defRPr/>
            </a:pPr>
            <a:r>
              <a:rPr lang="en-US" b="1"/>
              <a:t>                                      </a:t>
            </a:r>
            <a:r>
              <a:rPr lang="en-US"/>
              <a:t>          </a:t>
            </a:r>
            <a:br>
              <a:rPr lang="en-US"/>
            </a:br>
            <a:r>
              <a:rPr lang="en-US"/>
              <a:t>                    </a:t>
            </a:r>
            <a:r>
              <a:rPr lang="en-US" i="1"/>
              <a:t>                  </a:t>
            </a:r>
            <a:r>
              <a:rPr lang="en-US"/>
              <a:t>                 </a:t>
            </a:r>
            <a:br>
              <a:rPr lang="en-US"/>
            </a:br>
            <a:r>
              <a:rPr lang="en-US"/>
              <a:t>        </a:t>
            </a:r>
            <a:endParaRPr lang="en-US" dirty="0"/>
          </a:p>
          <a:p>
            <a:pPr lvl="1">
              <a:spcAft>
                <a:spcPts val="600"/>
              </a:spcAft>
              <a:buChar char=" "/>
              <a:defRPr/>
            </a:pPr>
            <a:r>
              <a:rPr lang="en-US"/>
              <a:t>                </a:t>
            </a:r>
            <a:r>
              <a:rPr lang="en-US" b="1"/>
              <a:t>                        </a:t>
            </a:r>
            <a:r>
              <a:rPr lang="en-US"/>
              <a:t>           </a:t>
            </a:r>
            <a:br>
              <a:rPr lang="en-US"/>
            </a:br>
            <a:r>
              <a:rPr lang="en-US"/>
              <a:t>                        </a:t>
            </a:r>
            <a:endParaRPr lang="en-US" dirty="0"/>
          </a:p>
        </p:txBody>
      </p:sp>
      <p:sp>
        <p:nvSpPr>
          <p:cNvPr id="41988" name="Slide Number Placeholder 3" descr=" 41988"/>
          <p:cNvSpPr>
            <a:spLocks noGrp="1"/>
          </p:cNvSpPr>
          <p:nvPr>
            <p:ph type="sldNum" sz="quarter" idx="4294967295"/>
          </p:nvPr>
        </p:nvSpPr>
        <p:spPr bwMode="auto">
          <a:xfrm>
            <a:off x="8763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latin typeface="Times New Roman" panose="02020603050405020304" pitchFamily="18" charset="0"/>
              </a:rPr>
              <a:t>8</a:t>
            </a:r>
          </a:p>
        </p:txBody>
      </p:sp>
    </p:spTree>
    <p:extLst>
      <p:ext uri="{BB962C8B-B14F-4D97-AF65-F5344CB8AC3E}">
        <p14:creationId xmlns:p14="http://schemas.microsoft.com/office/powerpoint/2010/main" val="49090602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descr=" 41986"/>
          <p:cNvSpPr>
            <a:spLocks noGrp="1"/>
          </p:cNvSpPr>
          <p:nvPr>
            <p:ph type="title"/>
          </p:nvPr>
        </p:nvSpPr>
        <p:spPr>
          <a:xfrm>
            <a:off x="750772" y="289009"/>
            <a:ext cx="10934298" cy="1143000"/>
          </a:xfrm>
        </p:spPr>
        <p:txBody>
          <a:bodyPr/>
          <a:lstStyle/>
          <a:p>
            <a:r>
              <a:rPr lang="en-US" altLang="en-US" sz="3600" dirty="0"/>
              <a:t>Step 2: Identify performance obligations</a:t>
            </a:r>
          </a:p>
        </p:txBody>
      </p:sp>
      <p:sp>
        <p:nvSpPr>
          <p:cNvPr id="2" name="Content Placeholder 1" descr=" 2"/>
          <p:cNvSpPr>
            <a:spLocks noGrp="1"/>
          </p:cNvSpPr>
          <p:nvPr>
            <p:ph idx="1"/>
          </p:nvPr>
        </p:nvSpPr>
        <p:spPr>
          <a:xfrm>
            <a:off x="750773" y="1582739"/>
            <a:ext cx="8723428" cy="5424453"/>
          </a:xfrm>
        </p:spPr>
        <p:txBody>
          <a:bodyPr>
            <a:normAutofit/>
          </a:bodyPr>
          <a:lstStyle/>
          <a:p>
            <a:pPr marL="0" indent="0">
              <a:buNone/>
              <a:defRPr/>
            </a:pPr>
            <a:r>
              <a:rPr lang="en-US" dirty="0">
                <a:solidFill>
                  <a:srgbClr val="0070C0"/>
                </a:solidFill>
              </a:rPr>
              <a:t>A </a:t>
            </a:r>
            <a:r>
              <a:rPr lang="en-US" u="sng" dirty="0">
                <a:solidFill>
                  <a:srgbClr val="0070C0"/>
                </a:solidFill>
              </a:rPr>
              <a:t>performance obligation</a:t>
            </a:r>
            <a:r>
              <a:rPr lang="en-US" dirty="0">
                <a:solidFill>
                  <a:srgbClr val="0070C0"/>
                </a:solidFill>
              </a:rPr>
              <a:t> is a promise to transfer a distinct good/service to a customer</a:t>
            </a:r>
          </a:p>
          <a:p>
            <a:pPr marL="0" indent="0">
              <a:buNone/>
              <a:defRPr/>
            </a:pPr>
            <a:endParaRPr lang="en-US" sz="900" i="1" dirty="0">
              <a:solidFill>
                <a:srgbClr val="0070C0"/>
              </a:solidFill>
            </a:endParaRPr>
          </a:p>
          <a:p>
            <a:pPr>
              <a:spcAft>
                <a:spcPts val="600"/>
              </a:spcAft>
              <a:defRPr/>
            </a:pPr>
            <a:r>
              <a:rPr lang="en-US">
                <a:solidFill>
                  <a:schemeClr val="tx1">
                    <a:lumMod val="100000"/>
                  </a:schemeClr>
                </a:solidFill>
                <a:latin typeface="Arial" panose="020B0604020202020204" pitchFamily="34" charset="0"/>
              </a:rPr>
              <a:t>Identify goods or services in the contract</a:t>
            </a:r>
          </a:p>
          <a:p>
            <a:pPr>
              <a:spcAft>
                <a:spcPts val="600"/>
              </a:spcAft>
              <a:defRPr/>
            </a:pPr>
            <a:r>
              <a:rPr lang="en-US">
                <a:solidFill>
                  <a:schemeClr val="tx1">
                    <a:lumMod val="100000"/>
                  </a:schemeClr>
                </a:solidFill>
                <a:latin typeface="Arial" panose="020B0604020202020204" pitchFamily="34" charset="0"/>
              </a:rPr>
              <a:t>Determine which are “distinct.”</a:t>
            </a:r>
          </a:p>
          <a:p>
            <a:pPr lvl="1">
              <a:spcAft>
                <a:spcPts val="600"/>
              </a:spcAft>
              <a:buChar char=" "/>
              <a:defRPr/>
            </a:pPr>
            <a:r>
              <a:rPr lang="en-US" b="1"/>
              <a:t>                                      </a:t>
            </a:r>
            <a:r>
              <a:rPr lang="en-US"/>
              <a:t>          </a:t>
            </a:r>
            <a:br>
              <a:rPr lang="en-US"/>
            </a:br>
            <a:r>
              <a:rPr lang="en-US"/>
              <a:t>                    </a:t>
            </a:r>
            <a:r>
              <a:rPr lang="en-US" i="1"/>
              <a:t>                  </a:t>
            </a:r>
            <a:r>
              <a:rPr lang="en-US"/>
              <a:t>                 </a:t>
            </a:r>
            <a:br>
              <a:rPr lang="en-US"/>
            </a:br>
            <a:r>
              <a:rPr lang="en-US"/>
              <a:t>        </a:t>
            </a:r>
            <a:endParaRPr lang="en-US" dirty="0"/>
          </a:p>
          <a:p>
            <a:pPr lvl="1">
              <a:spcAft>
                <a:spcPts val="600"/>
              </a:spcAft>
              <a:buChar char=" "/>
              <a:defRPr/>
            </a:pPr>
            <a:r>
              <a:rPr lang="en-US"/>
              <a:t>                </a:t>
            </a:r>
            <a:r>
              <a:rPr lang="en-US" b="1"/>
              <a:t>                        </a:t>
            </a:r>
            <a:r>
              <a:rPr lang="en-US"/>
              <a:t>           </a:t>
            </a:r>
            <a:br>
              <a:rPr lang="en-US"/>
            </a:br>
            <a:r>
              <a:rPr lang="en-US"/>
              <a:t>                        </a:t>
            </a:r>
            <a:endParaRPr lang="en-US" dirty="0"/>
          </a:p>
        </p:txBody>
      </p:sp>
      <p:sp>
        <p:nvSpPr>
          <p:cNvPr id="41988" name="Slide Number Placeholder 3" descr=" 41988"/>
          <p:cNvSpPr>
            <a:spLocks noGrp="1"/>
          </p:cNvSpPr>
          <p:nvPr>
            <p:ph type="sldNum" sz="quarter" idx="4294967295"/>
          </p:nvPr>
        </p:nvSpPr>
        <p:spPr bwMode="auto">
          <a:xfrm>
            <a:off x="8763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latin typeface="Times New Roman" panose="02020603050405020304" pitchFamily="18" charset="0"/>
              </a:rPr>
              <a:t>8</a:t>
            </a:r>
          </a:p>
        </p:txBody>
      </p:sp>
    </p:spTree>
    <p:extLst>
      <p:ext uri="{BB962C8B-B14F-4D97-AF65-F5344CB8AC3E}">
        <p14:creationId xmlns:p14="http://schemas.microsoft.com/office/powerpoint/2010/main" val="17067147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descr=" 41986"/>
          <p:cNvSpPr>
            <a:spLocks noGrp="1"/>
          </p:cNvSpPr>
          <p:nvPr>
            <p:ph type="title"/>
          </p:nvPr>
        </p:nvSpPr>
        <p:spPr>
          <a:xfrm>
            <a:off x="750772" y="289009"/>
            <a:ext cx="10934298" cy="1143000"/>
          </a:xfrm>
        </p:spPr>
        <p:txBody>
          <a:bodyPr/>
          <a:lstStyle/>
          <a:p>
            <a:r>
              <a:rPr lang="en-US" altLang="en-US" sz="3600" dirty="0"/>
              <a:t>Step 2: Identify performance obligations</a:t>
            </a:r>
          </a:p>
        </p:txBody>
      </p:sp>
      <p:sp>
        <p:nvSpPr>
          <p:cNvPr id="2" name="Content Placeholder 1" descr=" 2"/>
          <p:cNvSpPr>
            <a:spLocks noGrp="1"/>
          </p:cNvSpPr>
          <p:nvPr>
            <p:ph idx="1"/>
          </p:nvPr>
        </p:nvSpPr>
        <p:spPr>
          <a:xfrm>
            <a:off x="750773" y="1582739"/>
            <a:ext cx="8723428" cy="5424453"/>
          </a:xfrm>
        </p:spPr>
        <p:txBody>
          <a:bodyPr>
            <a:normAutofit/>
          </a:bodyPr>
          <a:lstStyle/>
          <a:p>
            <a:pPr marL="0" indent="0">
              <a:buNone/>
              <a:defRPr/>
            </a:pPr>
            <a:r>
              <a:rPr lang="en-US" dirty="0">
                <a:solidFill>
                  <a:srgbClr val="0070C0"/>
                </a:solidFill>
              </a:rPr>
              <a:t>A </a:t>
            </a:r>
            <a:r>
              <a:rPr lang="en-US" u="sng" dirty="0">
                <a:solidFill>
                  <a:srgbClr val="0070C0"/>
                </a:solidFill>
              </a:rPr>
              <a:t>performance obligation</a:t>
            </a:r>
            <a:r>
              <a:rPr lang="en-US" dirty="0">
                <a:solidFill>
                  <a:srgbClr val="0070C0"/>
                </a:solidFill>
              </a:rPr>
              <a:t> is a promise to transfer a distinct good/service to a customer</a:t>
            </a:r>
          </a:p>
          <a:p>
            <a:pPr marL="0" indent="0">
              <a:buNone/>
              <a:defRPr/>
            </a:pPr>
            <a:endParaRPr lang="en-US" sz="900" i="1" dirty="0">
              <a:solidFill>
                <a:srgbClr val="0070C0"/>
              </a:solidFill>
            </a:endParaRPr>
          </a:p>
          <a:p>
            <a:pPr>
              <a:spcAft>
                <a:spcPts val="600"/>
              </a:spcAft>
              <a:defRPr/>
            </a:pPr>
            <a:r>
              <a:rPr lang="en-US">
                <a:solidFill>
                  <a:schemeClr val="tx1">
                    <a:lumMod val="100000"/>
                  </a:schemeClr>
                </a:solidFill>
                <a:latin typeface="Arial" panose="020B0604020202020204" pitchFamily="34" charset="0"/>
              </a:rPr>
              <a:t>Identify goods or services in the contract</a:t>
            </a:r>
          </a:p>
          <a:p>
            <a:pPr>
              <a:spcAft>
                <a:spcPts val="600"/>
              </a:spcAft>
              <a:defRPr/>
            </a:pPr>
            <a:r>
              <a:rPr lang="en-US">
                <a:solidFill>
                  <a:schemeClr val="tx1">
                    <a:lumMod val="100000"/>
                  </a:schemeClr>
                </a:solidFill>
                <a:latin typeface="Arial" panose="020B0604020202020204" pitchFamily="34" charset="0"/>
              </a:rPr>
              <a:t>Determine which are “distinct.”</a:t>
            </a:r>
          </a:p>
          <a:p>
            <a:pPr lvl="1">
              <a:spcAft>
                <a:spcPts val="600"/>
              </a:spcAft>
              <a:defRPr/>
            </a:pPr>
            <a:r>
              <a:rPr lang="en-US" b="1">
                <a:solidFill>
                  <a:schemeClr val="tx1">
                    <a:lumMod val="100000"/>
                  </a:schemeClr>
                </a:solidFill>
                <a:latin typeface="Arial" panose="020B0604020202020204" pitchFamily="34" charset="0"/>
              </a:rPr>
              <a:t>Customer can benefit from good/service</a:t>
            </a:r>
            <a:r>
              <a:rPr lang="en-US">
                <a:solidFill>
                  <a:schemeClr val="tx1">
                    <a:lumMod val="100000"/>
                  </a:schemeClr>
                </a:solidFill>
                <a:latin typeface="Arial" panose="020B0604020202020204" pitchFamily="34" charset="0"/>
              </a:rPr>
              <a:t> alone or together with other </a:t>
            </a:r>
            <a:r>
              <a:rPr lang="en-US" i="1">
                <a:solidFill>
                  <a:schemeClr val="tx1">
                    <a:lumMod val="100000"/>
                  </a:schemeClr>
                </a:solidFill>
                <a:latin typeface="Arial" panose="020B0604020202020204" pitchFamily="34" charset="0"/>
              </a:rPr>
              <a:t>readily available </a:t>
            </a:r>
            <a:r>
              <a:rPr lang="en-US">
                <a:solidFill>
                  <a:schemeClr val="tx1">
                    <a:lumMod val="100000"/>
                  </a:schemeClr>
                </a:solidFill>
                <a:latin typeface="Arial" panose="020B0604020202020204" pitchFamily="34" charset="0"/>
              </a:rPr>
              <a:t>resources to the customer</a:t>
            </a:r>
          </a:p>
          <a:p>
            <a:pPr lvl="1">
              <a:spcAft>
                <a:spcPts val="600"/>
              </a:spcAft>
              <a:buChar char=" "/>
              <a:defRPr/>
            </a:pPr>
            <a:r>
              <a:rPr lang="en-US"/>
              <a:t>                </a:t>
            </a:r>
            <a:r>
              <a:rPr lang="en-US" b="1"/>
              <a:t>                        </a:t>
            </a:r>
            <a:r>
              <a:rPr lang="en-US"/>
              <a:t>           </a:t>
            </a:r>
            <a:br>
              <a:rPr lang="en-US"/>
            </a:br>
            <a:r>
              <a:rPr lang="en-US"/>
              <a:t>                        </a:t>
            </a:r>
            <a:endParaRPr lang="en-US" dirty="0"/>
          </a:p>
        </p:txBody>
      </p:sp>
      <p:sp>
        <p:nvSpPr>
          <p:cNvPr id="41988" name="Slide Number Placeholder 3" descr=" 41988"/>
          <p:cNvSpPr>
            <a:spLocks noGrp="1"/>
          </p:cNvSpPr>
          <p:nvPr>
            <p:ph type="sldNum" sz="quarter" idx="4294967295"/>
          </p:nvPr>
        </p:nvSpPr>
        <p:spPr bwMode="auto">
          <a:xfrm>
            <a:off x="8763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latin typeface="Times New Roman" panose="02020603050405020304" pitchFamily="18" charset="0"/>
              </a:rPr>
              <a:t>8</a:t>
            </a:r>
          </a:p>
        </p:txBody>
      </p:sp>
    </p:spTree>
    <p:extLst>
      <p:ext uri="{BB962C8B-B14F-4D97-AF65-F5344CB8AC3E}">
        <p14:creationId xmlns:p14="http://schemas.microsoft.com/office/powerpoint/2010/main" val="26365102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descr=" 41986"/>
          <p:cNvSpPr>
            <a:spLocks noGrp="1"/>
          </p:cNvSpPr>
          <p:nvPr>
            <p:ph type="title"/>
          </p:nvPr>
        </p:nvSpPr>
        <p:spPr>
          <a:xfrm>
            <a:off x="750772" y="289009"/>
            <a:ext cx="10934298" cy="1143000"/>
          </a:xfrm>
        </p:spPr>
        <p:txBody>
          <a:bodyPr/>
          <a:lstStyle/>
          <a:p>
            <a:r>
              <a:rPr lang="en-US" altLang="en-US" sz="3600" dirty="0"/>
              <a:t>Step 2: Identify performance obligations</a:t>
            </a:r>
          </a:p>
        </p:txBody>
      </p:sp>
      <p:sp>
        <p:nvSpPr>
          <p:cNvPr id="2" name="Content Placeholder 1" descr=" 2"/>
          <p:cNvSpPr>
            <a:spLocks noGrp="1"/>
          </p:cNvSpPr>
          <p:nvPr>
            <p:ph idx="1"/>
          </p:nvPr>
        </p:nvSpPr>
        <p:spPr>
          <a:xfrm>
            <a:off x="750773" y="1582739"/>
            <a:ext cx="8723428" cy="5424453"/>
          </a:xfrm>
        </p:spPr>
        <p:txBody>
          <a:bodyPr>
            <a:normAutofit/>
          </a:bodyPr>
          <a:lstStyle/>
          <a:p>
            <a:pPr marL="0" indent="0">
              <a:buNone/>
              <a:defRPr/>
            </a:pPr>
            <a:r>
              <a:rPr lang="en-US" dirty="0">
                <a:solidFill>
                  <a:srgbClr val="0070C0"/>
                </a:solidFill>
              </a:rPr>
              <a:t>A </a:t>
            </a:r>
            <a:r>
              <a:rPr lang="en-US" u="sng" dirty="0">
                <a:solidFill>
                  <a:srgbClr val="0070C0"/>
                </a:solidFill>
              </a:rPr>
              <a:t>performance obligation</a:t>
            </a:r>
            <a:r>
              <a:rPr lang="en-US" dirty="0">
                <a:solidFill>
                  <a:srgbClr val="0070C0"/>
                </a:solidFill>
              </a:rPr>
              <a:t> is a promise to transfer a distinct good/service to a customer</a:t>
            </a:r>
          </a:p>
          <a:p>
            <a:pPr marL="0" indent="0">
              <a:buNone/>
              <a:defRPr/>
            </a:pPr>
            <a:endParaRPr lang="en-US" sz="900" i="1" dirty="0">
              <a:solidFill>
                <a:srgbClr val="0070C0"/>
              </a:solidFill>
            </a:endParaRPr>
          </a:p>
          <a:p>
            <a:pPr>
              <a:spcAft>
                <a:spcPts val="600"/>
              </a:spcAft>
              <a:defRPr/>
            </a:pPr>
            <a:r>
              <a:rPr lang="en-US">
                <a:solidFill>
                  <a:schemeClr val="tx1">
                    <a:lumMod val="100000"/>
                  </a:schemeClr>
                </a:solidFill>
                <a:latin typeface="Arial" panose="020B0604020202020204" pitchFamily="34" charset="0"/>
              </a:rPr>
              <a:t>Identify goods or services in the contract</a:t>
            </a:r>
          </a:p>
          <a:p>
            <a:pPr>
              <a:spcAft>
                <a:spcPts val="600"/>
              </a:spcAft>
              <a:defRPr/>
            </a:pPr>
            <a:r>
              <a:rPr lang="en-US">
                <a:solidFill>
                  <a:schemeClr val="tx1">
                    <a:lumMod val="100000"/>
                  </a:schemeClr>
                </a:solidFill>
                <a:latin typeface="Arial" panose="020B0604020202020204" pitchFamily="34" charset="0"/>
              </a:rPr>
              <a:t>Determine which are “distinct.”</a:t>
            </a:r>
          </a:p>
          <a:p>
            <a:pPr lvl="1">
              <a:spcAft>
                <a:spcPts val="600"/>
              </a:spcAft>
              <a:defRPr/>
            </a:pPr>
            <a:r>
              <a:rPr lang="en-US" b="1">
                <a:solidFill>
                  <a:schemeClr val="tx1">
                    <a:lumMod val="100000"/>
                  </a:schemeClr>
                </a:solidFill>
                <a:latin typeface="Arial" panose="020B0604020202020204" pitchFamily="34" charset="0"/>
              </a:rPr>
              <a:t>Customer can benefit from good/service</a:t>
            </a:r>
            <a:r>
              <a:rPr lang="en-US">
                <a:solidFill>
                  <a:schemeClr val="tx1">
                    <a:lumMod val="100000"/>
                  </a:schemeClr>
                </a:solidFill>
                <a:latin typeface="Arial" panose="020B0604020202020204" pitchFamily="34" charset="0"/>
              </a:rPr>
              <a:t> alone or together with other </a:t>
            </a:r>
            <a:r>
              <a:rPr lang="en-US" i="1">
                <a:solidFill>
                  <a:schemeClr val="tx1">
                    <a:lumMod val="100000"/>
                  </a:schemeClr>
                </a:solidFill>
                <a:latin typeface="Arial" panose="020B0604020202020204" pitchFamily="34" charset="0"/>
              </a:rPr>
              <a:t>readily available </a:t>
            </a:r>
            <a:r>
              <a:rPr lang="en-US">
                <a:solidFill>
                  <a:schemeClr val="tx1">
                    <a:lumMod val="100000"/>
                  </a:schemeClr>
                </a:solidFill>
                <a:latin typeface="Arial" panose="020B0604020202020204" pitchFamily="34" charset="0"/>
              </a:rPr>
              <a:t>resources to the customer</a:t>
            </a:r>
          </a:p>
          <a:p>
            <a:pPr lvl="1">
              <a:spcAft>
                <a:spcPts val="600"/>
              </a:spcAft>
              <a:defRPr/>
            </a:pPr>
            <a:r>
              <a:rPr lang="en-US">
                <a:solidFill>
                  <a:schemeClr val="tx1">
                    <a:lumMod val="100000"/>
                  </a:schemeClr>
                </a:solidFill>
                <a:latin typeface="Arial" panose="020B0604020202020204" pitchFamily="34" charset="0"/>
              </a:rPr>
              <a:t>Good/service is </a:t>
            </a:r>
            <a:r>
              <a:rPr lang="en-US" b="1">
                <a:solidFill>
                  <a:schemeClr val="tx1">
                    <a:lumMod val="100000"/>
                  </a:schemeClr>
                </a:solidFill>
                <a:latin typeface="Arial" panose="020B0604020202020204" pitchFamily="34" charset="0"/>
              </a:rPr>
              <a:t>separately identifiable </a:t>
            </a:r>
            <a:r>
              <a:rPr lang="en-US">
                <a:solidFill>
                  <a:schemeClr val="tx1">
                    <a:lumMod val="100000"/>
                  </a:schemeClr>
                </a:solidFill>
                <a:latin typeface="Arial" panose="020B0604020202020204" pitchFamily="34" charset="0"/>
              </a:rPr>
              <a:t>from other promises in the contract</a:t>
            </a:r>
            <a:endParaRPr lang="en-US" dirty="0"/>
          </a:p>
        </p:txBody>
      </p:sp>
      <p:sp>
        <p:nvSpPr>
          <p:cNvPr id="41988" name="Slide Number Placeholder 3" descr=" 41988"/>
          <p:cNvSpPr>
            <a:spLocks noGrp="1"/>
          </p:cNvSpPr>
          <p:nvPr>
            <p:ph type="sldNum" sz="quarter" idx="4294967295"/>
          </p:nvPr>
        </p:nvSpPr>
        <p:spPr bwMode="auto">
          <a:xfrm>
            <a:off x="8763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HelveticaNeue MediumCond"/>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a:latin typeface="Times New Roman" panose="02020603050405020304" pitchFamily="18" charset="0"/>
              </a:rPr>
              <a:t>8</a:t>
            </a:r>
          </a:p>
        </p:txBody>
      </p:sp>
    </p:spTree>
    <p:extLst>
      <p:ext uri="{BB962C8B-B14F-4D97-AF65-F5344CB8AC3E}">
        <p14:creationId xmlns:p14="http://schemas.microsoft.com/office/powerpoint/2010/main" val="32714696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descr=" 44034"/>
          <p:cNvSpPr>
            <a:spLocks noGrp="1"/>
          </p:cNvSpPr>
          <p:nvPr>
            <p:ph type="title"/>
          </p:nvPr>
        </p:nvSpPr>
        <p:spPr/>
        <p:txBody>
          <a:bodyPr/>
          <a:lstStyle/>
          <a:p>
            <a:r>
              <a:rPr lang="en-US" altLang="en-US" sz="3200"/>
              <a:t>Example: Separate Performance Obligations</a:t>
            </a:r>
          </a:p>
        </p:txBody>
      </p:sp>
      <p:pic>
        <p:nvPicPr>
          <p:cNvPr id="44035" name="Picture 3" descr=" 4403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95254" y="1886552"/>
            <a:ext cx="9344922" cy="1231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036" name="Straight Connector 6" descr=" 44036"/>
          <p:cNvCxnSpPr>
            <a:cxnSpLocks noChangeShapeType="1"/>
          </p:cNvCxnSpPr>
          <p:nvPr/>
        </p:nvCxnSpPr>
        <p:spPr bwMode="auto">
          <a:xfrm>
            <a:off x="972257" y="2798763"/>
            <a:ext cx="4956906" cy="0"/>
          </a:xfrm>
          <a:prstGeom prst="line">
            <a:avLst/>
          </a:prstGeom>
          <a:noFill/>
          <a:ln w="19050" algn="ctr">
            <a:solidFill>
              <a:srgbClr val="C00000"/>
            </a:solidFill>
            <a:round/>
            <a:headEnd/>
            <a:tailEnd/>
          </a:ln>
          <a:extLst>
            <a:ext uri="{909E8E84-426E-40DD-AFC4-6F175D3DCCD1}">
              <a14:hiddenFill xmlns:a14="http://schemas.microsoft.com/office/drawing/2010/main">
                <a:noFill/>
              </a14:hiddenFill>
            </a:ext>
          </a:extLst>
        </p:spPr>
      </p:cxnSp>
      <p:sp>
        <p:nvSpPr>
          <p:cNvPr id="9" name="TextBox 8" descr=" 9"/>
          <p:cNvSpPr txBox="1"/>
          <p:nvPr/>
        </p:nvSpPr>
        <p:spPr>
          <a:xfrm>
            <a:off x="1322037" y="3693228"/>
            <a:ext cx="7669563" cy="2308324"/>
          </a:xfrm>
          <a:prstGeom prst="rect">
            <a:avLst/>
          </a:prstGeom>
          <a:noFill/>
        </p:spPr>
        <p:txBody>
          <a:bodyPr wrap="square">
            <a:spAutoFit/>
          </a:bodyPr>
          <a:lstStyle/>
          <a:p>
            <a:pPr marL="457200" indent="-457200">
              <a:buFont typeface="+mj-lt"/>
              <a:buAutoNum type="arabicPeriod"/>
              <a:defRPr/>
            </a:pPr>
            <a:r>
              <a:rPr lang="en-US" sz="2400" dirty="0"/>
              <a:t>Can customer benefit from software alone or in conjunction with other readily available assets?</a:t>
            </a:r>
          </a:p>
          <a:p>
            <a:pPr marL="457200" indent="-457200">
              <a:buFont typeface="+mj-lt"/>
              <a:buAutoNum type="arabicPeriod"/>
              <a:defRPr/>
            </a:pPr>
            <a:endParaRPr lang="en-US" sz="2400" dirty="0"/>
          </a:p>
          <a:p>
            <a:pPr marL="457200" indent="-457200">
              <a:buFont typeface="+mj-lt"/>
              <a:buAutoNum type="arabicPeriod"/>
              <a:defRPr/>
            </a:pPr>
            <a:endParaRPr lang="en-US" sz="2400" dirty="0"/>
          </a:p>
          <a:p>
            <a:pPr marL="457200" indent="-457200">
              <a:buFont typeface="+mj-lt"/>
              <a:buAutoNum type="arabicPeriod"/>
              <a:defRPr/>
            </a:pPr>
            <a:r>
              <a:rPr lang="en-US" sz="2400" dirty="0"/>
              <a:t>Are the software and installation separately identifiable?</a:t>
            </a:r>
          </a:p>
        </p:txBody>
      </p:sp>
    </p:spTree>
    <p:extLst>
      <p:ext uri="{BB962C8B-B14F-4D97-AF65-F5344CB8AC3E}">
        <p14:creationId xmlns:p14="http://schemas.microsoft.com/office/powerpoint/2010/main" val="385042163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descr=" 44034"/>
          <p:cNvSpPr>
            <a:spLocks noGrp="1"/>
          </p:cNvSpPr>
          <p:nvPr>
            <p:ph type="title"/>
          </p:nvPr>
        </p:nvSpPr>
        <p:spPr/>
        <p:txBody>
          <a:bodyPr/>
          <a:lstStyle/>
          <a:p>
            <a:r>
              <a:rPr lang="en-US" altLang="en-US" sz="3200"/>
              <a:t>Example: Separate Performance Obligations</a:t>
            </a:r>
          </a:p>
        </p:txBody>
      </p:sp>
      <p:pic>
        <p:nvPicPr>
          <p:cNvPr id="44035" name="Picture 3" descr=" 4403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95254" y="1886552"/>
            <a:ext cx="9344922" cy="1231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036" name="Straight Connector 6" descr=" 44036"/>
          <p:cNvCxnSpPr>
            <a:cxnSpLocks noChangeShapeType="1"/>
          </p:cNvCxnSpPr>
          <p:nvPr/>
        </p:nvCxnSpPr>
        <p:spPr bwMode="auto">
          <a:xfrm>
            <a:off x="972257" y="2798763"/>
            <a:ext cx="4956906" cy="0"/>
          </a:xfrm>
          <a:prstGeom prst="line">
            <a:avLst/>
          </a:prstGeom>
          <a:noFill/>
          <a:ln w="19050" algn="ctr">
            <a:solidFill>
              <a:srgbClr val="C00000"/>
            </a:solidFill>
            <a:round/>
            <a:headEnd/>
            <a:tailEnd/>
          </a:ln>
          <a:extLst>
            <a:ext uri="{909E8E84-426E-40DD-AFC4-6F175D3DCCD1}">
              <a14:hiddenFill xmlns:a14="http://schemas.microsoft.com/office/drawing/2010/main">
                <a:noFill/>
              </a14:hiddenFill>
            </a:ext>
          </a:extLst>
        </p:spPr>
      </p:cxnSp>
      <p:sp>
        <p:nvSpPr>
          <p:cNvPr id="9" name="TextBox 8" descr=" 9"/>
          <p:cNvSpPr txBox="1"/>
          <p:nvPr/>
        </p:nvSpPr>
        <p:spPr>
          <a:xfrm>
            <a:off x="1322037" y="3693228"/>
            <a:ext cx="7669563" cy="2308324"/>
          </a:xfrm>
          <a:prstGeom prst="rect">
            <a:avLst/>
          </a:prstGeom>
          <a:noFill/>
        </p:spPr>
        <p:txBody>
          <a:bodyPr wrap="square">
            <a:spAutoFit/>
          </a:bodyPr>
          <a:lstStyle/>
          <a:p>
            <a:pPr marL="457200" indent="-457200">
              <a:buFont typeface="+mj-lt"/>
              <a:buAutoNum type="arabicPeriod"/>
              <a:defRPr/>
            </a:pPr>
            <a:r>
              <a:rPr lang="en-US" sz="2400" dirty="0"/>
              <a:t>Can customer benefit from software alone or in conjunction with other readily available assets?</a:t>
            </a:r>
          </a:p>
          <a:p>
            <a:pPr marL="457200" indent="-457200">
              <a:buFont typeface="+mj-lt"/>
              <a:buAutoNum type="arabicPeriod"/>
              <a:defRPr/>
            </a:pPr>
            <a:endParaRPr lang="en-US" sz="2400" dirty="0"/>
          </a:p>
          <a:p>
            <a:pPr marL="457200" indent="-457200">
              <a:buFont typeface="+mj-lt"/>
              <a:buAutoNum type="arabicPeriod"/>
              <a:defRPr/>
            </a:pPr>
            <a:endParaRPr lang="en-US" sz="2400" dirty="0"/>
          </a:p>
          <a:p>
            <a:pPr marL="457200" indent="-457200">
              <a:buFont typeface="+mj-lt"/>
              <a:buAutoNum type="arabicPeriod"/>
              <a:defRPr/>
            </a:pPr>
            <a:r>
              <a:rPr lang="en-US" sz="2400" dirty="0"/>
              <a:t>Are the software and installation separately identifiable?</a:t>
            </a:r>
          </a:p>
        </p:txBody>
      </p:sp>
      <p:sp>
        <p:nvSpPr>
          <p:cNvPr id="6" name="TextBox 5" descr=" 2">
            <a:extLst>
              <a:ext uri="{FF2B5EF4-FFF2-40B4-BE49-F238E27FC236}">
                <a16:creationId xmlns:a16="http://schemas.microsoft.com/office/drawing/2014/main" id="{6BFBE4A2-2DDE-49DC-93CE-8269133A6AA8}"/>
              </a:ext>
            </a:extLst>
          </p:cNvPr>
          <p:cNvSpPr txBox="1"/>
          <p:nvPr/>
        </p:nvSpPr>
        <p:spPr>
          <a:xfrm>
            <a:off x="4887763" y="4523816"/>
            <a:ext cx="1041400" cy="461665"/>
          </a:xfrm>
          <a:prstGeom prst="rect">
            <a:avLst/>
          </a:prstGeom>
          <a:noFill/>
        </p:spPr>
        <p:txBody>
          <a:bodyPr wrap="square" rtlCol="0">
            <a:spAutoFit/>
          </a:bodyPr>
          <a:lstStyle/>
          <a:p>
            <a:r>
              <a:rPr lang="en-US" sz="2400" b="1" dirty="0">
                <a:solidFill>
                  <a:srgbClr val="FF0000"/>
                </a:solidFill>
              </a:rPr>
              <a:t>Yes</a:t>
            </a:r>
          </a:p>
        </p:txBody>
      </p:sp>
    </p:spTree>
    <p:extLst>
      <p:ext uri="{BB962C8B-B14F-4D97-AF65-F5344CB8AC3E}">
        <p14:creationId xmlns:p14="http://schemas.microsoft.com/office/powerpoint/2010/main" val="42783570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descr=" 44034"/>
          <p:cNvSpPr>
            <a:spLocks noGrp="1"/>
          </p:cNvSpPr>
          <p:nvPr>
            <p:ph type="title"/>
          </p:nvPr>
        </p:nvSpPr>
        <p:spPr/>
        <p:txBody>
          <a:bodyPr/>
          <a:lstStyle/>
          <a:p>
            <a:r>
              <a:rPr lang="en-US" altLang="en-US" sz="3200"/>
              <a:t>Example: Separate Performance Obligations</a:t>
            </a:r>
          </a:p>
        </p:txBody>
      </p:sp>
      <p:pic>
        <p:nvPicPr>
          <p:cNvPr id="44035" name="Picture 3" descr=" 4403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95254" y="1886552"/>
            <a:ext cx="9344922" cy="1231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036" name="Straight Connector 6" descr=" 44036"/>
          <p:cNvCxnSpPr>
            <a:cxnSpLocks noChangeShapeType="1"/>
          </p:cNvCxnSpPr>
          <p:nvPr/>
        </p:nvCxnSpPr>
        <p:spPr bwMode="auto">
          <a:xfrm>
            <a:off x="972257" y="2798763"/>
            <a:ext cx="4956906" cy="0"/>
          </a:xfrm>
          <a:prstGeom prst="line">
            <a:avLst/>
          </a:prstGeom>
          <a:noFill/>
          <a:ln w="19050" algn="ctr">
            <a:solidFill>
              <a:srgbClr val="C00000"/>
            </a:solidFill>
            <a:round/>
            <a:headEnd/>
            <a:tailEnd/>
          </a:ln>
          <a:extLst>
            <a:ext uri="{909E8E84-426E-40DD-AFC4-6F175D3DCCD1}">
              <a14:hiddenFill xmlns:a14="http://schemas.microsoft.com/office/drawing/2010/main">
                <a:noFill/>
              </a14:hiddenFill>
            </a:ext>
          </a:extLst>
        </p:spPr>
      </p:cxnSp>
      <p:sp>
        <p:nvSpPr>
          <p:cNvPr id="9" name="TextBox 8" descr=" 9"/>
          <p:cNvSpPr txBox="1"/>
          <p:nvPr/>
        </p:nvSpPr>
        <p:spPr>
          <a:xfrm>
            <a:off x="1322037" y="3693228"/>
            <a:ext cx="7669563" cy="2308324"/>
          </a:xfrm>
          <a:prstGeom prst="rect">
            <a:avLst/>
          </a:prstGeom>
          <a:noFill/>
        </p:spPr>
        <p:txBody>
          <a:bodyPr wrap="square">
            <a:spAutoFit/>
          </a:bodyPr>
          <a:lstStyle/>
          <a:p>
            <a:pPr marL="457200" indent="-457200">
              <a:buFont typeface="+mj-lt"/>
              <a:buAutoNum type="arabicPeriod"/>
              <a:defRPr/>
            </a:pPr>
            <a:r>
              <a:rPr lang="en-US" sz="2400" dirty="0"/>
              <a:t>Can customer benefit from software alone or in conjunction with other readily available assets?</a:t>
            </a:r>
          </a:p>
          <a:p>
            <a:pPr marL="457200" indent="-457200">
              <a:buFont typeface="+mj-lt"/>
              <a:buAutoNum type="arabicPeriod"/>
              <a:defRPr/>
            </a:pPr>
            <a:endParaRPr lang="en-US" sz="2400" dirty="0"/>
          </a:p>
          <a:p>
            <a:pPr marL="457200" indent="-457200">
              <a:buFont typeface="+mj-lt"/>
              <a:buAutoNum type="arabicPeriod"/>
              <a:defRPr/>
            </a:pPr>
            <a:endParaRPr lang="en-US" sz="2400" dirty="0"/>
          </a:p>
          <a:p>
            <a:pPr marL="457200" indent="-457200">
              <a:buFont typeface="+mj-lt"/>
              <a:buAutoNum type="arabicPeriod"/>
              <a:defRPr/>
            </a:pPr>
            <a:r>
              <a:rPr lang="en-US" sz="2400" dirty="0"/>
              <a:t>Are the software and installation separately identifiable?</a:t>
            </a:r>
          </a:p>
        </p:txBody>
      </p:sp>
      <p:sp>
        <p:nvSpPr>
          <p:cNvPr id="6" name="TextBox 5" descr=" 2">
            <a:extLst>
              <a:ext uri="{FF2B5EF4-FFF2-40B4-BE49-F238E27FC236}">
                <a16:creationId xmlns:a16="http://schemas.microsoft.com/office/drawing/2014/main" id="{6BFBE4A2-2DDE-49DC-93CE-8269133A6AA8}"/>
              </a:ext>
            </a:extLst>
          </p:cNvPr>
          <p:cNvSpPr txBox="1"/>
          <p:nvPr/>
        </p:nvSpPr>
        <p:spPr>
          <a:xfrm>
            <a:off x="4887763" y="4523816"/>
            <a:ext cx="1041400" cy="461665"/>
          </a:xfrm>
          <a:prstGeom prst="rect">
            <a:avLst/>
          </a:prstGeom>
          <a:noFill/>
        </p:spPr>
        <p:txBody>
          <a:bodyPr wrap="square" rtlCol="0">
            <a:spAutoFit/>
          </a:bodyPr>
          <a:lstStyle/>
          <a:p>
            <a:r>
              <a:rPr lang="en-US" sz="2400" b="1" dirty="0">
                <a:solidFill>
                  <a:srgbClr val="FF0000"/>
                </a:solidFill>
              </a:rPr>
              <a:t>Yes</a:t>
            </a:r>
          </a:p>
        </p:txBody>
      </p:sp>
      <p:sp>
        <p:nvSpPr>
          <p:cNvPr id="7" name="TextBox 6" descr=" 7">
            <a:extLst>
              <a:ext uri="{FF2B5EF4-FFF2-40B4-BE49-F238E27FC236}">
                <a16:creationId xmlns:a16="http://schemas.microsoft.com/office/drawing/2014/main" id="{C654515C-6E56-4F7E-A889-1AE206F9BD7C}"/>
              </a:ext>
            </a:extLst>
          </p:cNvPr>
          <p:cNvSpPr txBox="1"/>
          <p:nvPr/>
        </p:nvSpPr>
        <p:spPr>
          <a:xfrm>
            <a:off x="4936826" y="5727614"/>
            <a:ext cx="1041400" cy="461665"/>
          </a:xfrm>
          <a:prstGeom prst="rect">
            <a:avLst/>
          </a:prstGeom>
          <a:noFill/>
        </p:spPr>
        <p:txBody>
          <a:bodyPr wrap="square" rtlCol="0">
            <a:spAutoFit/>
          </a:bodyPr>
          <a:lstStyle/>
          <a:p>
            <a:r>
              <a:rPr lang="en-US" sz="2400" b="1" dirty="0">
                <a:solidFill>
                  <a:srgbClr val="FF0000"/>
                </a:solidFill>
              </a:rPr>
              <a:t>Yes</a:t>
            </a:r>
          </a:p>
        </p:txBody>
      </p:sp>
    </p:spTree>
    <p:extLst>
      <p:ext uri="{BB962C8B-B14F-4D97-AF65-F5344CB8AC3E}">
        <p14:creationId xmlns:p14="http://schemas.microsoft.com/office/powerpoint/2010/main" val="4088382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descr=" 46082"/>
          <p:cNvSpPr>
            <a:spLocks noGrp="1"/>
          </p:cNvSpPr>
          <p:nvPr>
            <p:ph type="title"/>
          </p:nvPr>
        </p:nvSpPr>
        <p:spPr/>
        <p:txBody>
          <a:bodyPr/>
          <a:lstStyle/>
          <a:p>
            <a:r>
              <a:rPr lang="en-US" altLang="en-US" sz="3200"/>
              <a:t>Example: Separate Performance Obligations</a:t>
            </a:r>
          </a:p>
        </p:txBody>
      </p:sp>
      <p:pic>
        <p:nvPicPr>
          <p:cNvPr id="46083" name="Picture 4" descr=" 4608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67913" y="1790299"/>
            <a:ext cx="9457200" cy="1248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6084" name="Straight Connector 6" descr=" 46084"/>
          <p:cNvCxnSpPr>
            <a:cxnSpLocks noChangeShapeType="1"/>
          </p:cNvCxnSpPr>
          <p:nvPr/>
        </p:nvCxnSpPr>
        <p:spPr bwMode="auto">
          <a:xfrm>
            <a:off x="1033280" y="2657976"/>
            <a:ext cx="3750476" cy="0"/>
          </a:xfrm>
          <a:prstGeom prst="line">
            <a:avLst/>
          </a:prstGeom>
          <a:noFill/>
          <a:ln w="19050" algn="ctr">
            <a:solidFill>
              <a:srgbClr val="C00000"/>
            </a:solidFill>
            <a:round/>
            <a:headEnd/>
            <a:tailEnd/>
          </a:ln>
          <a:extLst>
            <a:ext uri="{909E8E84-426E-40DD-AFC4-6F175D3DCCD1}">
              <a14:hiddenFill xmlns:a14="http://schemas.microsoft.com/office/drawing/2010/main">
                <a:noFill/>
              </a14:hiddenFill>
            </a:ext>
          </a:extLst>
        </p:spPr>
      </p:cxnSp>
      <p:sp>
        <p:nvSpPr>
          <p:cNvPr id="8" name="TextBox 7" descr=" 8"/>
          <p:cNvSpPr txBox="1"/>
          <p:nvPr/>
        </p:nvSpPr>
        <p:spPr>
          <a:xfrm>
            <a:off x="1476041" y="3527901"/>
            <a:ext cx="7058359" cy="2308324"/>
          </a:xfrm>
          <a:prstGeom prst="rect">
            <a:avLst/>
          </a:prstGeom>
          <a:noFill/>
        </p:spPr>
        <p:txBody>
          <a:bodyPr wrap="square">
            <a:spAutoFit/>
          </a:bodyPr>
          <a:lstStyle/>
          <a:p>
            <a:pPr marL="457200" indent="-457200">
              <a:buFont typeface="+mj-lt"/>
              <a:buAutoNum type="arabicPeriod"/>
              <a:defRPr/>
            </a:pPr>
            <a:r>
              <a:rPr lang="en-US" sz="2400" dirty="0"/>
              <a:t>Can customer benefit from software alone or in conjunction with other readily available assets?</a:t>
            </a:r>
          </a:p>
          <a:p>
            <a:pPr marL="457200" indent="-457200">
              <a:buFont typeface="+mj-lt"/>
              <a:buAutoNum type="arabicPeriod"/>
              <a:defRPr/>
            </a:pPr>
            <a:endParaRPr lang="en-US" sz="2400" dirty="0"/>
          </a:p>
          <a:p>
            <a:pPr>
              <a:defRPr/>
            </a:pPr>
            <a:endParaRPr lang="en-US" sz="2400" dirty="0"/>
          </a:p>
          <a:p>
            <a:pPr marL="457200" indent="-457200">
              <a:buFont typeface="+mj-lt"/>
              <a:buAutoNum type="arabicPeriod"/>
              <a:defRPr/>
            </a:pPr>
            <a:r>
              <a:rPr lang="en-US" sz="2400" dirty="0"/>
              <a:t>Are the software and installation separately identifiable?</a:t>
            </a:r>
          </a:p>
        </p:txBody>
      </p:sp>
    </p:spTree>
    <p:extLst>
      <p:ext uri="{BB962C8B-B14F-4D97-AF65-F5344CB8AC3E}">
        <p14:creationId xmlns:p14="http://schemas.microsoft.com/office/powerpoint/2010/main" val="28932918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descr=" 46082"/>
          <p:cNvSpPr>
            <a:spLocks noGrp="1"/>
          </p:cNvSpPr>
          <p:nvPr>
            <p:ph type="title"/>
          </p:nvPr>
        </p:nvSpPr>
        <p:spPr/>
        <p:txBody>
          <a:bodyPr/>
          <a:lstStyle/>
          <a:p>
            <a:r>
              <a:rPr lang="en-US" altLang="en-US" sz="3200"/>
              <a:t>Example: Separate Performance Obligations</a:t>
            </a:r>
          </a:p>
        </p:txBody>
      </p:sp>
      <p:pic>
        <p:nvPicPr>
          <p:cNvPr id="46083" name="Picture 4" descr=" 4608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67913" y="1790299"/>
            <a:ext cx="9457200" cy="1248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6084" name="Straight Connector 6" descr=" 46084"/>
          <p:cNvCxnSpPr>
            <a:cxnSpLocks noChangeShapeType="1"/>
          </p:cNvCxnSpPr>
          <p:nvPr/>
        </p:nvCxnSpPr>
        <p:spPr bwMode="auto">
          <a:xfrm>
            <a:off x="1033280" y="2657976"/>
            <a:ext cx="3750476" cy="0"/>
          </a:xfrm>
          <a:prstGeom prst="line">
            <a:avLst/>
          </a:prstGeom>
          <a:noFill/>
          <a:ln w="19050" algn="ctr">
            <a:solidFill>
              <a:srgbClr val="C00000"/>
            </a:solidFill>
            <a:round/>
            <a:headEnd/>
            <a:tailEnd/>
          </a:ln>
          <a:extLst>
            <a:ext uri="{909E8E84-426E-40DD-AFC4-6F175D3DCCD1}">
              <a14:hiddenFill xmlns:a14="http://schemas.microsoft.com/office/drawing/2010/main">
                <a:noFill/>
              </a14:hiddenFill>
            </a:ext>
          </a:extLst>
        </p:spPr>
      </p:cxnSp>
      <p:sp>
        <p:nvSpPr>
          <p:cNvPr id="8" name="TextBox 7" descr=" 8"/>
          <p:cNvSpPr txBox="1"/>
          <p:nvPr/>
        </p:nvSpPr>
        <p:spPr>
          <a:xfrm>
            <a:off x="1476041" y="3527901"/>
            <a:ext cx="7058359" cy="2308324"/>
          </a:xfrm>
          <a:prstGeom prst="rect">
            <a:avLst/>
          </a:prstGeom>
          <a:noFill/>
        </p:spPr>
        <p:txBody>
          <a:bodyPr wrap="square">
            <a:spAutoFit/>
          </a:bodyPr>
          <a:lstStyle/>
          <a:p>
            <a:pPr marL="457200" indent="-457200">
              <a:buFont typeface="+mj-lt"/>
              <a:buAutoNum type="arabicPeriod"/>
              <a:defRPr/>
            </a:pPr>
            <a:r>
              <a:rPr lang="en-US" sz="2400" dirty="0"/>
              <a:t>Can customer benefit from software alone or in conjunction with other readily available assets?</a:t>
            </a:r>
          </a:p>
          <a:p>
            <a:pPr marL="457200" indent="-457200">
              <a:buFont typeface="+mj-lt"/>
              <a:buAutoNum type="arabicPeriod"/>
              <a:defRPr/>
            </a:pPr>
            <a:endParaRPr lang="en-US" sz="2400" dirty="0"/>
          </a:p>
          <a:p>
            <a:pPr>
              <a:defRPr/>
            </a:pPr>
            <a:endParaRPr lang="en-US" sz="2400" dirty="0"/>
          </a:p>
          <a:p>
            <a:pPr marL="457200" indent="-457200">
              <a:buFont typeface="+mj-lt"/>
              <a:buAutoNum type="arabicPeriod"/>
              <a:defRPr/>
            </a:pPr>
            <a:r>
              <a:rPr lang="en-US" sz="2400" dirty="0"/>
              <a:t>Are the software and installation separately identifiable?</a:t>
            </a:r>
          </a:p>
        </p:txBody>
      </p:sp>
      <p:sp>
        <p:nvSpPr>
          <p:cNvPr id="6" name="TextBox 5" descr=" 6">
            <a:extLst>
              <a:ext uri="{FF2B5EF4-FFF2-40B4-BE49-F238E27FC236}">
                <a16:creationId xmlns:a16="http://schemas.microsoft.com/office/drawing/2014/main" id="{1AE7357D-1165-48D7-A0EA-A57DFD2055EE}"/>
              </a:ext>
            </a:extLst>
          </p:cNvPr>
          <p:cNvSpPr txBox="1"/>
          <p:nvPr/>
        </p:nvSpPr>
        <p:spPr>
          <a:xfrm>
            <a:off x="5054600" y="4396816"/>
            <a:ext cx="1041400" cy="461665"/>
          </a:xfrm>
          <a:prstGeom prst="rect">
            <a:avLst/>
          </a:prstGeom>
          <a:noFill/>
        </p:spPr>
        <p:txBody>
          <a:bodyPr wrap="square" rtlCol="0">
            <a:spAutoFit/>
          </a:bodyPr>
          <a:lstStyle/>
          <a:p>
            <a:r>
              <a:rPr lang="en-US" sz="2400" b="1" dirty="0">
                <a:solidFill>
                  <a:srgbClr val="FF0000"/>
                </a:solidFill>
              </a:rPr>
              <a:t>No</a:t>
            </a:r>
          </a:p>
        </p:txBody>
      </p:sp>
    </p:spTree>
    <p:extLst>
      <p:ext uri="{BB962C8B-B14F-4D97-AF65-F5344CB8AC3E}">
        <p14:creationId xmlns:p14="http://schemas.microsoft.com/office/powerpoint/2010/main" val="16311653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descr=" 46082"/>
          <p:cNvSpPr>
            <a:spLocks noGrp="1"/>
          </p:cNvSpPr>
          <p:nvPr>
            <p:ph type="title"/>
          </p:nvPr>
        </p:nvSpPr>
        <p:spPr/>
        <p:txBody>
          <a:bodyPr/>
          <a:lstStyle/>
          <a:p>
            <a:r>
              <a:rPr lang="en-US" altLang="en-US" sz="3200"/>
              <a:t>Example: Separate Performance Obligations</a:t>
            </a:r>
          </a:p>
        </p:txBody>
      </p:sp>
      <p:pic>
        <p:nvPicPr>
          <p:cNvPr id="46083" name="Picture 4" descr=" 4608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67913" y="1790299"/>
            <a:ext cx="9457200" cy="1248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6084" name="Straight Connector 6" descr=" 46084"/>
          <p:cNvCxnSpPr>
            <a:cxnSpLocks noChangeShapeType="1"/>
          </p:cNvCxnSpPr>
          <p:nvPr/>
        </p:nvCxnSpPr>
        <p:spPr bwMode="auto">
          <a:xfrm>
            <a:off x="1033280" y="2657976"/>
            <a:ext cx="3750476" cy="0"/>
          </a:xfrm>
          <a:prstGeom prst="line">
            <a:avLst/>
          </a:prstGeom>
          <a:noFill/>
          <a:ln w="19050" algn="ctr">
            <a:solidFill>
              <a:srgbClr val="C00000"/>
            </a:solidFill>
            <a:round/>
            <a:headEnd/>
            <a:tailEnd/>
          </a:ln>
          <a:extLst>
            <a:ext uri="{909E8E84-426E-40DD-AFC4-6F175D3DCCD1}">
              <a14:hiddenFill xmlns:a14="http://schemas.microsoft.com/office/drawing/2010/main">
                <a:noFill/>
              </a14:hiddenFill>
            </a:ext>
          </a:extLst>
        </p:spPr>
      </p:cxnSp>
      <p:sp>
        <p:nvSpPr>
          <p:cNvPr id="8" name="TextBox 7" descr=" 8"/>
          <p:cNvSpPr txBox="1"/>
          <p:nvPr/>
        </p:nvSpPr>
        <p:spPr>
          <a:xfrm>
            <a:off x="1476041" y="3527901"/>
            <a:ext cx="7058359" cy="2308324"/>
          </a:xfrm>
          <a:prstGeom prst="rect">
            <a:avLst/>
          </a:prstGeom>
          <a:noFill/>
        </p:spPr>
        <p:txBody>
          <a:bodyPr wrap="square">
            <a:spAutoFit/>
          </a:bodyPr>
          <a:lstStyle/>
          <a:p>
            <a:pPr marL="457200" indent="-457200">
              <a:buFont typeface="+mj-lt"/>
              <a:buAutoNum type="arabicPeriod"/>
              <a:defRPr/>
            </a:pPr>
            <a:r>
              <a:rPr lang="en-US" sz="2400" dirty="0"/>
              <a:t>Can customer benefit from software alone or in conjunction with other readily available assets?</a:t>
            </a:r>
          </a:p>
          <a:p>
            <a:pPr marL="457200" indent="-457200">
              <a:buFont typeface="+mj-lt"/>
              <a:buAutoNum type="arabicPeriod"/>
              <a:defRPr/>
            </a:pPr>
            <a:endParaRPr lang="en-US" sz="2400" dirty="0"/>
          </a:p>
          <a:p>
            <a:pPr>
              <a:defRPr/>
            </a:pPr>
            <a:endParaRPr lang="en-US" sz="2400" dirty="0"/>
          </a:p>
          <a:p>
            <a:pPr marL="457200" indent="-457200">
              <a:buFont typeface="+mj-lt"/>
              <a:buAutoNum type="arabicPeriod"/>
              <a:defRPr/>
            </a:pPr>
            <a:r>
              <a:rPr lang="en-US" sz="2400" dirty="0"/>
              <a:t>Are the software and installation separately identifiable?</a:t>
            </a:r>
          </a:p>
        </p:txBody>
      </p:sp>
      <p:sp>
        <p:nvSpPr>
          <p:cNvPr id="6" name="TextBox 5" descr=" 6">
            <a:extLst>
              <a:ext uri="{FF2B5EF4-FFF2-40B4-BE49-F238E27FC236}">
                <a16:creationId xmlns:a16="http://schemas.microsoft.com/office/drawing/2014/main" id="{1AE7357D-1165-48D7-A0EA-A57DFD2055EE}"/>
              </a:ext>
            </a:extLst>
          </p:cNvPr>
          <p:cNvSpPr txBox="1"/>
          <p:nvPr/>
        </p:nvSpPr>
        <p:spPr>
          <a:xfrm>
            <a:off x="5054600" y="4396816"/>
            <a:ext cx="1041400" cy="461665"/>
          </a:xfrm>
          <a:prstGeom prst="rect">
            <a:avLst/>
          </a:prstGeom>
          <a:noFill/>
        </p:spPr>
        <p:txBody>
          <a:bodyPr wrap="square" rtlCol="0">
            <a:spAutoFit/>
          </a:bodyPr>
          <a:lstStyle/>
          <a:p>
            <a:r>
              <a:rPr lang="en-US" sz="2400" b="1" dirty="0">
                <a:solidFill>
                  <a:srgbClr val="FF0000"/>
                </a:solidFill>
              </a:rPr>
              <a:t>No</a:t>
            </a:r>
          </a:p>
        </p:txBody>
      </p:sp>
      <p:sp>
        <p:nvSpPr>
          <p:cNvPr id="7" name="TextBox 6" descr=" 7">
            <a:extLst>
              <a:ext uri="{FF2B5EF4-FFF2-40B4-BE49-F238E27FC236}">
                <a16:creationId xmlns:a16="http://schemas.microsoft.com/office/drawing/2014/main" id="{05E3FA3D-3559-4689-BE67-A1CA3F360071}"/>
              </a:ext>
            </a:extLst>
          </p:cNvPr>
          <p:cNvSpPr txBox="1"/>
          <p:nvPr/>
        </p:nvSpPr>
        <p:spPr>
          <a:xfrm>
            <a:off x="5054600" y="5489035"/>
            <a:ext cx="1041400" cy="461665"/>
          </a:xfrm>
          <a:prstGeom prst="rect">
            <a:avLst/>
          </a:prstGeom>
          <a:noFill/>
        </p:spPr>
        <p:txBody>
          <a:bodyPr wrap="square" rtlCol="0">
            <a:spAutoFit/>
          </a:bodyPr>
          <a:lstStyle/>
          <a:p>
            <a:r>
              <a:rPr lang="en-US" sz="2400" b="1" dirty="0">
                <a:solidFill>
                  <a:srgbClr val="FF0000"/>
                </a:solidFill>
              </a:rPr>
              <a:t>No</a:t>
            </a:r>
          </a:p>
        </p:txBody>
      </p:sp>
    </p:spTree>
    <p:extLst>
      <p:ext uri="{BB962C8B-B14F-4D97-AF65-F5344CB8AC3E}">
        <p14:creationId xmlns:p14="http://schemas.microsoft.com/office/powerpoint/2010/main" val="164840262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F16D-6FBD-45AB-8153-3508D48A9010}"/>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8129FFB3-C41B-4F9D-948C-28F157F74BC1}"/>
              </a:ext>
            </a:extLst>
          </p:cNvPr>
          <p:cNvSpPr>
            <a:spLocks noGrp="1"/>
          </p:cNvSpPr>
          <p:nvPr>
            <p:ph idx="1"/>
          </p:nvPr>
        </p:nvSpPr>
        <p:spPr/>
        <p:txBody>
          <a:bodyPr/>
          <a:lstStyle/>
          <a:p>
            <a:r>
              <a:rPr lang="en-US" dirty="0"/>
              <a:t>Goal: Recognize revenue when you provide the good or service</a:t>
            </a:r>
          </a:p>
          <a:p>
            <a:endParaRPr lang="en-US" dirty="0"/>
          </a:p>
          <a:p>
            <a:r>
              <a:rPr lang="en-US" dirty="0"/>
              <a:t>First two steps of revenue recognition</a:t>
            </a:r>
          </a:p>
          <a:p>
            <a:pPr lvl="1"/>
            <a:r>
              <a:rPr lang="en-US" dirty="0"/>
              <a:t>#1 Contract</a:t>
            </a:r>
          </a:p>
          <a:p>
            <a:pPr lvl="1"/>
            <a:r>
              <a:rPr lang="en-US" dirty="0"/>
              <a:t>#2 Performance obligations (everything you provide to the customer)</a:t>
            </a:r>
          </a:p>
        </p:txBody>
      </p:sp>
    </p:spTree>
    <p:extLst>
      <p:ext uri="{BB962C8B-B14F-4D97-AF65-F5344CB8AC3E}">
        <p14:creationId xmlns:p14="http://schemas.microsoft.com/office/powerpoint/2010/main" val="5583631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864091" cy="6530027"/>
          </a:xfrm>
          <a:prstGeom prst="rect">
            <a:avLst/>
          </a:prstGeom>
        </p:spPr>
      </p:pic>
      <p:sp>
        <p:nvSpPr>
          <p:cNvPr id="5" name="Rectangle 3"/>
          <p:cNvSpPr>
            <a:spLocks noChangeArrowheads="1"/>
          </p:cNvSpPr>
          <p:nvPr/>
        </p:nvSpPr>
        <p:spPr bwMode="auto">
          <a:xfrm>
            <a:off x="-2" y="5303520"/>
            <a:ext cx="9864091" cy="1554480"/>
          </a:xfrm>
          <a:prstGeom prst="rect">
            <a:avLst/>
          </a:prstGeom>
          <a:solidFill>
            <a:schemeClr val="accent6">
              <a:lumMod val="50000"/>
            </a:schemeClr>
          </a:solidFill>
          <a:ln w="9525">
            <a:noFill/>
            <a:miter lim="800000"/>
            <a:headEnd/>
            <a:tailEnd/>
          </a:ln>
        </p:spPr>
        <p:txBody>
          <a:bodyPr wrap="none" anchor="ctr"/>
          <a:lstStyle/>
          <a:p>
            <a:pPr>
              <a:defRPr/>
            </a:pPr>
            <a:r>
              <a:rPr lang="en-US" altLang="en-US" sz="3200" b="1" i="1" dirty="0">
                <a:solidFill>
                  <a:schemeClr val="bg1"/>
                </a:solidFill>
              </a:rPr>
              <a:t>Revenue Recognition Part 1 - Video</a:t>
            </a:r>
          </a:p>
        </p:txBody>
      </p:sp>
    </p:spTree>
    <p:extLst>
      <p:ext uri="{BB962C8B-B14F-4D97-AF65-F5344CB8AC3E}">
        <p14:creationId xmlns:p14="http://schemas.microsoft.com/office/powerpoint/2010/main" val="2762027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3045</TotalTime>
  <Words>1960</Words>
  <Application>Microsoft Office PowerPoint</Application>
  <PresentationFormat>Widescreen</PresentationFormat>
  <Paragraphs>250</Paragraphs>
  <Slides>34</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Arial Black</vt:lpstr>
      <vt:lpstr>Calibri</vt:lpstr>
      <vt:lpstr>Times New Roman</vt:lpstr>
      <vt:lpstr>Wingdings</vt:lpstr>
      <vt:lpstr>Office Theme</vt:lpstr>
      <vt:lpstr>PowerPoint Presentation</vt:lpstr>
      <vt:lpstr>In This Video</vt:lpstr>
      <vt:lpstr>Why revenue recognition?</vt:lpstr>
      <vt:lpstr>In a nutshell</vt:lpstr>
      <vt:lpstr>Dollar Tree</vt:lpstr>
      <vt:lpstr>Dollar Tree</vt:lpstr>
      <vt:lpstr>Apple Inc.</vt:lpstr>
      <vt:lpstr>Apple Inc. Multiple Deliverables (2007)</vt:lpstr>
      <vt:lpstr>Apple Inc. Multiple Deliverables (2019)</vt:lpstr>
      <vt:lpstr>Apple Inc. Multiple Deliverables (2019)</vt:lpstr>
      <vt:lpstr>ASC 606: Five Steps to Recognition</vt:lpstr>
      <vt:lpstr>ASC 606: Five Steps to Recognition</vt:lpstr>
      <vt:lpstr>ASC 606: Five Steps to Recognition</vt:lpstr>
      <vt:lpstr>ASC 606: Five Steps to Recognition</vt:lpstr>
      <vt:lpstr>Five Steps for Dollar Tree</vt:lpstr>
      <vt:lpstr>Step 1: Identify the contract</vt:lpstr>
      <vt:lpstr>Step 1: Identify the contract</vt:lpstr>
      <vt:lpstr>Step 1: Identify the contract</vt:lpstr>
      <vt:lpstr>Step 1: Identify the contract</vt:lpstr>
      <vt:lpstr>Step 1: Identify the contract</vt:lpstr>
      <vt:lpstr>Five Steps to Recognition</vt:lpstr>
      <vt:lpstr>Step 2: Identify performance obligations</vt:lpstr>
      <vt:lpstr>Step 2: Identify performance obligations</vt:lpstr>
      <vt:lpstr>Step 2: Identify performance obligations</vt:lpstr>
      <vt:lpstr>Step 2: Identify performance obligations</vt:lpstr>
      <vt:lpstr>Step 2: Identify performance obligations</vt:lpstr>
      <vt:lpstr>Example: Separate Performance Obligations</vt:lpstr>
      <vt:lpstr>Example: Separate Performance Obligations</vt:lpstr>
      <vt:lpstr>Example: Separate Performance Obligations</vt:lpstr>
      <vt:lpstr>Example: Separate Performance Obligations</vt:lpstr>
      <vt:lpstr>Example: Separate Performance Obligations</vt:lpstr>
      <vt:lpstr>Example: Separate Performance Obligations</vt:lpstr>
      <vt:lpstr>Recap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 Kubie</dc:creator>
  <cp:lastModifiedBy>Jeremiah Contreras</cp:lastModifiedBy>
  <cp:revision>109</cp:revision>
  <dcterms:created xsi:type="dcterms:W3CDTF">2016-01-26T18:12:20Z</dcterms:created>
  <dcterms:modified xsi:type="dcterms:W3CDTF">2022-09-04T17:45:34Z</dcterms:modified>
</cp:coreProperties>
</file>