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  <p:sldMasterId id="2147484326" r:id="rId2"/>
    <p:sldMasterId id="2147484312" r:id="rId3"/>
    <p:sldMasterId id="2147484295" r:id="rId4"/>
  </p:sldMasterIdLst>
  <p:notesMasterIdLst>
    <p:notesMasterId r:id="rId91"/>
  </p:notesMasterIdLst>
  <p:handoutMasterIdLst>
    <p:handoutMasterId r:id="rId92"/>
  </p:handoutMasterIdLst>
  <p:sldIdLst>
    <p:sldId id="344" r:id="rId5"/>
    <p:sldId id="345" r:id="rId6"/>
    <p:sldId id="351" r:id="rId7"/>
    <p:sldId id="332" r:id="rId8"/>
    <p:sldId id="357" r:id="rId9"/>
    <p:sldId id="356" r:id="rId10"/>
    <p:sldId id="352" r:id="rId11"/>
    <p:sldId id="301" r:id="rId12"/>
    <p:sldId id="333" r:id="rId13"/>
    <p:sldId id="299" r:id="rId14"/>
    <p:sldId id="335" r:id="rId15"/>
    <p:sldId id="300" r:id="rId16"/>
    <p:sldId id="371" r:id="rId17"/>
    <p:sldId id="358" r:id="rId18"/>
    <p:sldId id="359" r:id="rId19"/>
    <p:sldId id="336" r:id="rId20"/>
    <p:sldId id="337" r:id="rId21"/>
    <p:sldId id="372" r:id="rId22"/>
    <p:sldId id="338" r:id="rId23"/>
    <p:sldId id="264" r:id="rId24"/>
    <p:sldId id="395" r:id="rId25"/>
    <p:sldId id="373" r:id="rId26"/>
    <p:sldId id="314" r:id="rId27"/>
    <p:sldId id="315" r:id="rId28"/>
    <p:sldId id="365" r:id="rId29"/>
    <p:sldId id="366" r:id="rId30"/>
    <p:sldId id="350" r:id="rId31"/>
    <p:sldId id="360" r:id="rId32"/>
    <p:sldId id="361" r:id="rId33"/>
    <p:sldId id="363" r:id="rId34"/>
    <p:sldId id="364" r:id="rId35"/>
    <p:sldId id="267" r:id="rId36"/>
    <p:sldId id="297" r:id="rId37"/>
    <p:sldId id="298" r:id="rId38"/>
    <p:sldId id="265" r:id="rId39"/>
    <p:sldId id="339" r:id="rId40"/>
    <p:sldId id="270" r:id="rId41"/>
    <p:sldId id="346" r:id="rId42"/>
    <p:sldId id="394" r:id="rId43"/>
    <p:sldId id="396" r:id="rId44"/>
    <p:sldId id="316" r:id="rId45"/>
    <p:sldId id="317" r:id="rId46"/>
    <p:sldId id="313" r:id="rId47"/>
    <p:sldId id="367" r:id="rId48"/>
    <p:sldId id="368" r:id="rId49"/>
    <p:sldId id="340" r:id="rId50"/>
    <p:sldId id="341" r:id="rId51"/>
    <p:sldId id="319" r:id="rId52"/>
    <p:sldId id="369" r:id="rId53"/>
    <p:sldId id="321" r:id="rId54"/>
    <p:sldId id="324" r:id="rId55"/>
    <p:sldId id="391" r:id="rId56"/>
    <p:sldId id="390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74" r:id="rId65"/>
    <p:sldId id="375" r:id="rId66"/>
    <p:sldId id="376" r:id="rId67"/>
    <p:sldId id="377" r:id="rId68"/>
    <p:sldId id="378" r:id="rId69"/>
    <p:sldId id="318" r:id="rId70"/>
    <p:sldId id="320" r:id="rId71"/>
    <p:sldId id="379" r:id="rId72"/>
    <p:sldId id="322" r:id="rId73"/>
    <p:sldId id="389" r:id="rId74"/>
    <p:sldId id="323" r:id="rId75"/>
    <p:sldId id="380" r:id="rId76"/>
    <p:sldId id="381" r:id="rId77"/>
    <p:sldId id="326" r:id="rId78"/>
    <p:sldId id="327" r:id="rId79"/>
    <p:sldId id="382" r:id="rId80"/>
    <p:sldId id="383" r:id="rId81"/>
    <p:sldId id="384" r:id="rId82"/>
    <p:sldId id="370" r:id="rId83"/>
    <p:sldId id="294" r:id="rId84"/>
    <p:sldId id="295" r:id="rId85"/>
    <p:sldId id="296" r:id="rId86"/>
    <p:sldId id="385" r:id="rId87"/>
    <p:sldId id="386" r:id="rId88"/>
    <p:sldId id="387" r:id="rId89"/>
    <p:sldId id="388" r:id="rId90"/>
  </p:sldIdLst>
  <p:sldSz cx="9144000" cy="6858000" type="screen4x3"/>
  <p:notesSz cx="6954838" cy="93091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96323" autoAdjust="0"/>
  </p:normalViewPr>
  <p:slideViewPr>
    <p:cSldViewPr>
      <p:cViewPr varScale="1">
        <p:scale>
          <a:sx n="109" d="100"/>
          <a:sy n="109" d="100"/>
        </p:scale>
        <p:origin x="1362" y="96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21188"/>
            <a:ext cx="5095875" cy="418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704850"/>
            <a:ext cx="4637088" cy="3476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54550" cy="3490913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21188"/>
            <a:ext cx="5619750" cy="418941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Figure 2-1 in FM13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9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4000"/>
              </a:lnSpc>
              <a:defRPr baseline="30000"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main</a:t>
            </a:r>
          </a:p>
          <a:p>
            <a:pPr lvl="0"/>
            <a:r>
              <a:rPr lang="en-US" dirty="0"/>
              <a:t>3rd main</a:t>
            </a:r>
          </a:p>
          <a:p>
            <a:pPr lvl="0"/>
            <a:r>
              <a:rPr lang="en-US" dirty="0"/>
              <a:t>4th main</a:t>
            </a:r>
          </a:p>
          <a:p>
            <a:pPr lvl="0"/>
            <a:r>
              <a:rPr lang="en-US" dirty="0"/>
              <a:t>5th main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8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2E43-0FE9-4625-BD40-E53E3012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F8E02-5962-06EA-8945-EB2493AC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8AB3E-26AA-65CA-84DC-09336A69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D1B2A-9FE9-4E42-CCFC-24DE5DA6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6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0187-8909-A5A4-E1CD-CC6612B1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CDAFC-F5BF-D3AC-E3D4-885126A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6172-7A8F-E1E4-B4A8-2D1FB5CE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859BE-C121-1FF6-8B97-F703A5A6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C8896-49B9-4F9C-B6B0-C795BA92E8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97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3246"/>
            <a:ext cx="8431436" cy="121744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idx="1" hasCustomPrompt="1"/>
          </p:nvPr>
        </p:nvSpPr>
        <p:spPr>
          <a:xfrm>
            <a:off x="357632" y="1825625"/>
            <a:ext cx="4155948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1D053A87-5C61-47AE-94E1-5F24FE227D6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33121" y="1825625"/>
            <a:ext cx="4155948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4623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3246"/>
            <a:ext cx="8431436" cy="121744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57633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51D41C-52EA-4F3C-BC8E-A9309F4EB62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98431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CD2ACDE-E8DF-4B19-9DBB-017510EECF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57633" y="4128059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5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18F8C24-8F67-4A0C-8E2F-54E8026EAD0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98431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7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950DDEC-E898-4F6D-A7F2-930A23B3C11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28032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7548D5A-3DFF-4FF5-A587-74246B76C1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68829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24E382A-7ED1-49CB-8053-85276CAEB9B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28032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6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C6187B3-59CD-4356-83E5-962B5ACC4AE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868829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4437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8AA5-740F-579B-3E10-99532427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BA4F0-00B8-3537-82B6-874DA85B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18D47-9AAE-DEB2-61A6-DB561494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C365F-0223-46F1-C21A-5FC21302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31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C646-AC50-9E3B-BF56-B12ACF101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C1A5-8E09-27A8-F5D3-F69695B78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A64DC-B0D4-D37B-9A98-8739E633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F34C9-9C0E-3C02-753D-AFCD52F8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2797D-8488-C9D6-0AFA-50B9B37C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81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CD9F-8593-9845-9348-6320D58B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C399-B24F-0447-002A-85C90DB17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AF4CD-8232-D6A0-40E7-72AE77FC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9DA5A-BFBB-2193-697B-D1BB1498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D6F1-ABEB-A652-6E3B-6D983CA5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091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420E-BAB1-47FC-5D06-8980D559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2ADAB-EDD6-DBB8-C98A-59970F22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4049-7769-1D0F-4A4B-09BBA2D6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8CFFB-BD8D-3ED2-364D-A45EE871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3C7A-4598-FBD4-E33F-DDBDD003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95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E009-E9BA-41A0-995B-2D42CD66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03654-2199-F0B9-742D-8D8251158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D2D3E-849E-36FA-B3CA-C234ADC49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E95DF-EEA2-2149-F315-5AFDF62C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4A9DF-5E61-CBCD-08FB-89ADB284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CED6A-320C-6ADA-D0E8-14E8E1E2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12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4A2E-6FCA-F400-1113-34585118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E0916-51CE-4278-2DE3-9C3C6C2C3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BDEEE-6117-3368-C97D-2977DED7C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6E1DD-8CBD-32FD-7382-301B0C827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13F61-5C73-9DEF-5C35-2995279ED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5510E-E721-F704-0B05-0D420F9F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5F5505-BF2E-F189-73D4-77885893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C6B43-5FAC-AAD4-9C56-062C939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89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F7EB-CF78-84BA-07CC-4058DF94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A42C3-759C-ADB4-B389-562E0B77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F40B2-63D2-2AA6-2CF9-1F89F10D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68B24-DF61-238D-B0ED-E53F94D8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86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8A0EF-4551-CF16-8439-66F25798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868BE-1CAA-8A03-531B-D97B99DA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3F794-B283-9DD0-BEBA-EC35984D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667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B1DA-6DA1-BD15-5218-362292BB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267C-9E53-BCF1-A4CF-445EE7F4E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ABA44-D191-ACF0-6E13-79628C5AC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09C4B-CF4E-242A-F8C0-618359E1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6F329-989D-E7E2-64E6-1B4615C7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B6FC5-7786-B7EF-FF10-D88C2AD5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8029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CCB1-165D-4C6E-D645-06222BCB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A79D6-5D4E-A088-87E1-215F85243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8897E-E57D-6BE3-2303-FBAA05AC7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A4DA0-CE99-DC36-166C-B82A3248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4CB0A-1537-749C-3C7A-A7E36B9D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F7206-3AD7-9ED4-4373-C5FEBE68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44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AF42-F22D-412B-2A9D-2E741C6A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50D7C-6420-4969-8AA3-143701870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0604A-EB1C-26CA-EA4D-C9AB5BED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207-8C26-C9A7-E781-0A11CA31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1EBED-F84D-A796-EA46-1CE3C479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1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E604E-670C-EF59-82F8-4C0169C86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C8459-F9ED-ECD2-AA2F-A7FA91F5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C9406-BC39-5FEA-9CDE-B49691E3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AFDA3-EEA4-C161-9B4D-BB16E05B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E3197-3F66-F4C2-C745-F08AAD9B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388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B53E-1360-02E9-CD9A-F3B98334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BCB-45F3-4FFE-EBD6-91E9823BA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608AF-3E9F-32D5-89C9-FCFCC6F0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B5B0A-8B15-58CB-7263-3FFF98B2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4DC1-B073-4BE3-7042-18D32F05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7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D1F9-C7AF-4295-F418-C72B1710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BB33-042A-E66B-2338-25C19EFF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6E98-5917-E7F2-47FF-A078A4D8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DA68-BF95-E6FF-6591-8DB4C622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9843-B114-5054-5330-64245785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004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D2E1-E0E0-7284-03AC-F0437CC6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4FA09-30CD-E8EC-F022-527F3376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40CF5-CDAB-59D4-C292-5F84DA28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9DFC-0629-4C94-8A34-0170A19C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3AE1A-7163-F315-CAF2-C8593D92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2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890E-C9E6-321A-3E67-F4528EEA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96F7-5922-5F9E-A897-0E856DAD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0645E-BEC0-9EB7-69EB-F657A2137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9951-F024-8A4D-B5EB-58579284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5B73D-4C73-BEAC-064B-FABFE46E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82818-5624-DA61-D93A-55D88D27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240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DACE-8182-C246-65DD-D3190D89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F6C41-52A0-8C14-9022-99404EA5C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72B8B-8BF7-1F2E-F1A7-79CAA8F35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86D0D-8F84-FE44-F4E7-87FA91B51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97DB3-1E94-4EDA-9F99-87280D821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3AEC8-AF78-1BD3-11B6-4A3A4CB8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1D07-B3AE-6A8C-C371-2606DBC6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3F64E-FC6B-9F91-5799-33B13329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501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82F2-F220-0FB8-52DD-5BD675C3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6394A-2F9E-ADF8-D032-EC85826E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2E821-7252-8F89-52C5-435DC666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C0EBF-A63B-F4C2-E798-4AFD73A2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592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35DAB-C016-9245-5B0B-51BE82D5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28A6FC-A4AF-BCD9-5D5A-6192533E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4C057-5E53-6009-93D6-2DA5A041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615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5188-9694-8799-5341-FB8A8F12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7B6D0-3E29-0331-49E2-9EB2FB58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97ACF-A7D9-B2CB-B5C7-140DA05D2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787FA-455D-E8BE-2A5E-A715135D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8895C-D747-2BCC-FDC8-F65C5379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E3CFC-6FEF-6004-D172-2B97C87F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186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60F7-5D0E-2321-C4F4-80C39403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2F2E4-022F-D190-2E73-0708FA57A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49B53-6C94-1296-3EFF-52BBD868C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82FB2-5828-0495-159D-D39CCF49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4B0AC-0333-A8BF-804D-6D7FD994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0FF49-6026-9512-D502-D0FD8118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997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2068-9F9C-8A1B-4A9E-4D712AFC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4E6D2-3BB1-742F-BDAC-E714DD327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D7CE7-ED3B-EBB2-C598-F03A2375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62CD2-F2A8-BD5D-88C3-75B3F8AB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193CE-DBE7-DBD9-0AFF-F9457D13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099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83A1B-8C7C-42FE-0E48-E80799B87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F3CE0-19F2-529A-8C36-6C860E66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3BA5-3EF7-CE0D-B355-E8157C02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7F1BC-6F25-F041-3174-FCD9F7E1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7701-CC5C-9990-F668-6BBB3A05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6863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Firs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D23111E-2710-4C1A-A7DB-CE3FE7C03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14068"/>
            <a:ext cx="9144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34815" y="1168663"/>
            <a:ext cx="4578227" cy="2387600"/>
          </a:xfrm>
        </p:spPr>
        <p:txBody>
          <a:bodyPr anchor="b"/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#e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815" y="3809720"/>
            <a:ext cx="4578227" cy="1424930"/>
          </a:xfrm>
          <a:noFill/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Chapter #: Chapter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F6BBBC-452C-48FA-A1E1-E851567E53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6438" y="808038"/>
            <a:ext cx="3534966" cy="5241925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326DFF-C872-4426-8563-39BC58624663}"/>
              </a:ext>
            </a:extLst>
          </p:cNvPr>
          <p:cNvSpPr txBox="1">
            <a:spLocks/>
          </p:cNvSpPr>
          <p:nvPr userDrawn="1"/>
        </p:nvSpPr>
        <p:spPr>
          <a:xfrm>
            <a:off x="8311642" y="6449054"/>
            <a:ext cx="550718" cy="3657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825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825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DE6C580-026E-426D-A0EE-BDE15B891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7316" y="6223886"/>
            <a:ext cx="1365211" cy="610675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EE27F2D-8D06-4D0B-B28E-6A4C40F9E4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340" y="6314136"/>
            <a:ext cx="6720840" cy="457200"/>
          </a:xfrm>
        </p:spPr>
        <p:txBody>
          <a:bodyPr/>
          <a:lstStyle>
            <a:lvl1pPr marL="0" indent="0">
              <a:buNone/>
              <a:defRPr sz="825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 dirty="0"/>
              <a:t>[Author Name], [Book Title], [#] Edition. © [Insert Year] Cengage Learning, Inc. All Rights Reserved. May not be scanned, copied or duplicated, or posted to a publicly accessible website, in whole or in part.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5547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344969-1137-4EAF-AB8A-FDA4F62A6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685800" y="1153123"/>
            <a:ext cx="7818120" cy="2387600"/>
          </a:xfrm>
        </p:spPr>
        <p:txBody>
          <a:bodyPr anchor="b"/>
          <a:lstStyle>
            <a:lvl1pPr algn="ctr">
              <a:defRPr sz="40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Unit XX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09720"/>
            <a:ext cx="7818120" cy="1424930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27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Add Unit’s Title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F0C6CA-9F2E-439D-8A9B-5B8BD35A9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7316" y="6223886"/>
            <a:ext cx="1365211" cy="61067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6FEA2F-362B-4EAB-BFA4-233A863C0DE7}"/>
              </a:ext>
            </a:extLst>
          </p:cNvPr>
          <p:cNvSpPr txBox="1">
            <a:spLocks/>
          </p:cNvSpPr>
          <p:nvPr userDrawn="1"/>
        </p:nvSpPr>
        <p:spPr>
          <a:xfrm>
            <a:off x="8311642" y="6449054"/>
            <a:ext cx="550718" cy="3657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825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825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09216FC3-84E9-4B73-9DA8-CF77104377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577340" y="6314137"/>
            <a:ext cx="672084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kern="1200" dirty="0">
                <a:solidFill>
                  <a:schemeClr val="bg1"/>
                </a:solidFill>
                <a:latin typeface="Work Sans" pitchFamily="2" charset="0"/>
                <a:ea typeface="+mn-ea"/>
                <a:cs typeface="+mn-cs"/>
              </a:rPr>
              <a:t>Brigham &amp; Ehrhardt, Financial Management: Theory &amp; Practice, 17th Edition. © 2024 Cengage Learning, Inc. All Rights Reserved. May not be scanned, copied or duplicated, or posted to a publicly accessible website, in whole or in part.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11441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06080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3246"/>
            <a:ext cx="8431436" cy="121744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idx="1" hasCustomPrompt="1"/>
          </p:nvPr>
        </p:nvSpPr>
        <p:spPr>
          <a:xfrm>
            <a:off x="357632" y="1825625"/>
            <a:ext cx="4155948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1D053A87-5C61-47AE-94E1-5F24FE227D6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33121" y="1825625"/>
            <a:ext cx="4155948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6801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3246"/>
            <a:ext cx="8431436" cy="121744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idx="1" hasCustomPrompt="1"/>
          </p:nvPr>
        </p:nvSpPr>
        <p:spPr>
          <a:xfrm>
            <a:off x="357632" y="1825625"/>
            <a:ext cx="2606040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1D053A87-5C61-47AE-94E1-5F24FE227D6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70330" y="1825625"/>
            <a:ext cx="2606040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5" name="Content Placeholder Right">
            <a:extLst>
              <a:ext uri="{FF2B5EF4-FFF2-40B4-BE49-F238E27FC236}">
                <a16:creationId xmlns:a16="http://schemas.microsoft.com/office/drawing/2014/main" id="{53EA52FE-05C1-45AF-ADB6-8FC4F5FF41C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83029" y="1825625"/>
            <a:ext cx="2606040" cy="429768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3564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357633" y="1887675"/>
            <a:ext cx="8431436" cy="691143"/>
          </a:xfrm>
        </p:spPr>
        <p:txBody>
          <a:bodyPr/>
          <a:lstStyle>
            <a:lvl1pPr marL="0" indent="0">
              <a:buNone/>
              <a:defRPr sz="2100" b="1"/>
            </a:lvl1pPr>
            <a:lvl2pPr>
              <a:defRPr sz="2100" b="0"/>
            </a:lvl2pPr>
            <a:lvl3pPr>
              <a:defRPr sz="18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357633" y="2677888"/>
            <a:ext cx="8431436" cy="2621900"/>
          </a:xfrm>
        </p:spPr>
        <p:txBody>
          <a:bodyPr/>
          <a:lstStyle>
            <a:lvl1pPr>
              <a:spcAft>
                <a:spcPts val="600"/>
              </a:spcAft>
              <a:defRPr sz="1800" b="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0" name="Content Placeholder Bottom"/>
          <p:cNvSpPr>
            <a:spLocks noGrp="1"/>
          </p:cNvSpPr>
          <p:nvPr>
            <p:ph type="body" sz="quarter" idx="13" hasCustomPrompt="1"/>
          </p:nvPr>
        </p:nvSpPr>
        <p:spPr>
          <a:xfrm>
            <a:off x="357633" y="5395327"/>
            <a:ext cx="8431436" cy="731520"/>
          </a:xfrm>
        </p:spPr>
        <p:txBody>
          <a:bodyPr/>
          <a:lstStyle>
            <a:lvl1pPr marL="84535" indent="-84535">
              <a:spcBef>
                <a:spcPts val="0"/>
              </a:spcBef>
              <a:defRPr sz="675" b="0"/>
            </a:lvl1pPr>
            <a:lvl2pPr marL="252413" indent="-84535">
              <a:spcBef>
                <a:spcPts val="0"/>
              </a:spcBef>
              <a:defRPr sz="675" b="0"/>
            </a:lvl2pPr>
            <a:lvl3pPr marL="514350" indent="-126206">
              <a:spcBef>
                <a:spcPts val="0"/>
              </a:spcBef>
              <a:defRPr sz="675" b="0"/>
            </a:lvl3pPr>
            <a:lvl4pPr>
              <a:defRPr sz="675" b="0"/>
            </a:lvl4pPr>
            <a:lvl5pPr>
              <a:defRPr sz="675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2325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5487"/>
            <a:ext cx="8431436" cy="12161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Subtitle"/>
          <p:cNvSpPr>
            <a:spLocks noGrp="1"/>
          </p:cNvSpPr>
          <p:nvPr>
            <p:ph sz="half" idx="1" hasCustomPrompt="1"/>
          </p:nvPr>
        </p:nvSpPr>
        <p:spPr>
          <a:xfrm>
            <a:off x="357633" y="1887675"/>
            <a:ext cx="8431436" cy="691143"/>
          </a:xfrm>
        </p:spPr>
        <p:txBody>
          <a:bodyPr/>
          <a:lstStyle>
            <a:lvl1pPr marL="0" indent="0">
              <a:buNone/>
              <a:defRPr sz="2100" b="1"/>
            </a:lvl1pPr>
            <a:lvl2pPr>
              <a:defRPr sz="2100" b="0"/>
            </a:lvl2pPr>
            <a:lvl3pPr>
              <a:defRPr sz="1800" b="0"/>
            </a:lvl3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"/>
          <p:cNvSpPr>
            <a:spLocks noGrp="1"/>
          </p:cNvSpPr>
          <p:nvPr>
            <p:ph sz="half" idx="2" hasCustomPrompt="1"/>
          </p:nvPr>
        </p:nvSpPr>
        <p:spPr>
          <a:xfrm>
            <a:off x="357633" y="2677888"/>
            <a:ext cx="8431436" cy="1505492"/>
          </a:xfrm>
        </p:spPr>
        <p:txBody>
          <a:bodyPr/>
          <a:lstStyle>
            <a:lvl1pPr>
              <a:spcAft>
                <a:spcPts val="600"/>
              </a:spcAft>
              <a:defRPr sz="1800" b="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7E0CC24-A3CA-45F3-BF2B-B8EB0900056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57633" y="4310385"/>
            <a:ext cx="192243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65DFA3-2F0A-45C7-8124-3D672EB9205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536866" y="4310385"/>
            <a:ext cx="192243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AAA4B2-2F70-4899-9014-89954C200D5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11422" y="4319291"/>
            <a:ext cx="192243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38B1A98-C967-4B94-B1F7-E158393317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863937" y="4319291"/>
            <a:ext cx="1922430" cy="20244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2338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7633" y="473246"/>
            <a:ext cx="8431436" cy="121744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57633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51D41C-52EA-4F3C-BC8E-A9309F4EB62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98431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3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CD2ACDE-E8DF-4B19-9DBB-017510EECF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57633" y="4128059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5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18F8C24-8F67-4A0C-8E2F-54E8026EAD0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698431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7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950DDEC-E898-4F6D-A7F2-930A23B3C11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28032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2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7548D5A-3DFF-4FF5-A587-74246B76C1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68829" y="194437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4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A24E382A-7ED1-49CB-8053-85276CAEB9B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28032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6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C6187B3-59CD-4356-83E5-962B5ACC4AE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868829" y="4136965"/>
            <a:ext cx="1920240" cy="201168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here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02263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357633" y="1825628"/>
            <a:ext cx="2156968" cy="2045728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7" name="Image Placeholder 2">
            <a:extLst>
              <a:ext uri="{FF2B5EF4-FFF2-40B4-BE49-F238E27FC236}">
                <a16:creationId xmlns:a16="http://schemas.microsoft.com/office/drawing/2014/main" id="{9100EECD-9921-43E0-9472-84C089BD629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7633" y="4132558"/>
            <a:ext cx="2156968" cy="2011680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82699925-C28D-42A4-9435-B913838DB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718150" y="1825625"/>
            <a:ext cx="6068218" cy="4297680"/>
          </a:xfrm>
        </p:spPr>
        <p:txBody>
          <a:bodyPr/>
          <a:lstStyle>
            <a:lvl1pPr>
              <a:spcAft>
                <a:spcPts val="600"/>
              </a:spcAft>
              <a:defRPr sz="1800" b="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6743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357633" y="1825628"/>
            <a:ext cx="2156968" cy="2045728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6" name="Content Placeholder Top">
            <a:extLst>
              <a:ext uri="{FF2B5EF4-FFF2-40B4-BE49-F238E27FC236}">
                <a16:creationId xmlns:a16="http://schemas.microsoft.com/office/drawing/2014/main" id="{82699925-C28D-42A4-9435-B913838DB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718150" y="1825625"/>
            <a:ext cx="6068218" cy="2048256"/>
          </a:xfrm>
        </p:spPr>
        <p:txBody>
          <a:bodyPr/>
          <a:lstStyle>
            <a:lvl1pPr>
              <a:spcAft>
                <a:spcPts val="600"/>
              </a:spcAft>
              <a:defRPr sz="1800" b="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0" name="Image Placeholder 2">
            <a:extLst>
              <a:ext uri="{FF2B5EF4-FFF2-40B4-BE49-F238E27FC236}">
                <a16:creationId xmlns:a16="http://schemas.microsoft.com/office/drawing/2014/main" id="{598D0D2B-D47C-4F3F-A261-5DF2B6A0EA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57633" y="4098510"/>
            <a:ext cx="2156968" cy="2045728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1" name="Content Placeholder Bottom">
            <a:extLst>
              <a:ext uri="{FF2B5EF4-FFF2-40B4-BE49-F238E27FC236}">
                <a16:creationId xmlns:a16="http://schemas.microsoft.com/office/drawing/2014/main" id="{408DF721-132F-4261-B8B6-D77B769FFCC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2718150" y="4095982"/>
            <a:ext cx="6068218" cy="2048256"/>
          </a:xfrm>
        </p:spPr>
        <p:txBody>
          <a:bodyPr/>
          <a:lstStyle>
            <a:lvl1pPr>
              <a:spcAft>
                <a:spcPts val="600"/>
              </a:spcAft>
              <a:defRPr sz="1800" b="0"/>
            </a:lvl1pPr>
            <a:lvl2pPr>
              <a:spcAft>
                <a:spcPts val="600"/>
              </a:spcAft>
              <a:defRPr sz="1800" b="0"/>
            </a:lvl2pPr>
            <a:lvl3pPr>
              <a:spcAft>
                <a:spcPts val="600"/>
              </a:spcAft>
              <a:defRPr sz="180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285875" marR="0" lvl="3" indent="-25717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877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357633" y="1825628"/>
            <a:ext cx="2156968" cy="121615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6" name="Content Placeholder Top">
            <a:extLst>
              <a:ext uri="{FF2B5EF4-FFF2-40B4-BE49-F238E27FC236}">
                <a16:creationId xmlns:a16="http://schemas.microsoft.com/office/drawing/2014/main" id="{82699925-C28D-42A4-9435-B913838DB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718150" y="1825625"/>
            <a:ext cx="6068218" cy="121615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Image Placeholder 2">
            <a:extLst>
              <a:ext uri="{FF2B5EF4-FFF2-40B4-BE49-F238E27FC236}">
                <a16:creationId xmlns:a16="http://schemas.microsoft.com/office/drawing/2014/main" id="{598D0D2B-D47C-4F3F-A261-5DF2B6A0EA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57633" y="3376857"/>
            <a:ext cx="2156968" cy="121615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1" name="Content Placeholder Middle">
            <a:extLst>
              <a:ext uri="{FF2B5EF4-FFF2-40B4-BE49-F238E27FC236}">
                <a16:creationId xmlns:a16="http://schemas.microsoft.com/office/drawing/2014/main" id="{408DF721-132F-4261-B8B6-D77B769FFCC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2718150" y="3376856"/>
            <a:ext cx="6068218" cy="121615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Image Placeholder 3">
            <a:extLst>
              <a:ext uri="{FF2B5EF4-FFF2-40B4-BE49-F238E27FC236}">
                <a16:creationId xmlns:a16="http://schemas.microsoft.com/office/drawing/2014/main" id="{8DA1EBC1-AABD-4A3C-B85E-D25FBFB9274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57633" y="4928086"/>
            <a:ext cx="2156968" cy="121615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2" name="Content Placeholder Bottom">
            <a:extLst>
              <a:ext uri="{FF2B5EF4-FFF2-40B4-BE49-F238E27FC236}">
                <a16:creationId xmlns:a16="http://schemas.microsoft.com/office/drawing/2014/main" id="{D60A47C8-706A-4FBB-9B14-84BE0D7C2DE0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18150" y="4928086"/>
            <a:ext cx="6068218" cy="121615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8240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Image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Image Placeholder 1"/>
          <p:cNvSpPr>
            <a:spLocks noGrp="1"/>
          </p:cNvSpPr>
          <p:nvPr>
            <p:ph sz="half" idx="13" hasCustomPrompt="1"/>
          </p:nvPr>
        </p:nvSpPr>
        <p:spPr>
          <a:xfrm>
            <a:off x="357633" y="1825628"/>
            <a:ext cx="2156968" cy="89611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1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82699925-C28D-42A4-9435-B913838DB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718150" y="1825625"/>
            <a:ext cx="6068218" cy="89611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Image Placeholder 2">
            <a:extLst>
              <a:ext uri="{FF2B5EF4-FFF2-40B4-BE49-F238E27FC236}">
                <a16:creationId xmlns:a16="http://schemas.microsoft.com/office/drawing/2014/main" id="{598D0D2B-D47C-4F3F-A261-5DF2B6A0EA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57633" y="2966461"/>
            <a:ext cx="2156968" cy="89611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08DF721-132F-4261-B8B6-D77B769FFCC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2718150" y="2966459"/>
            <a:ext cx="6068218" cy="89611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Image Placeholder 2">
            <a:extLst>
              <a:ext uri="{FF2B5EF4-FFF2-40B4-BE49-F238E27FC236}">
                <a16:creationId xmlns:a16="http://schemas.microsoft.com/office/drawing/2014/main" id="{8DA1EBC1-AABD-4A3C-B85E-D25FBFB9274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57633" y="4107294"/>
            <a:ext cx="2156968" cy="89611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0A47C8-706A-4FBB-9B14-84BE0D7C2DE0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18150" y="4107293"/>
            <a:ext cx="6068218" cy="89611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Image Placeholder 2">
            <a:extLst>
              <a:ext uri="{FF2B5EF4-FFF2-40B4-BE49-F238E27FC236}">
                <a16:creationId xmlns:a16="http://schemas.microsoft.com/office/drawing/2014/main" id="{F5206ACB-D236-4F32-AABC-1654BEC0266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57633" y="5248126"/>
            <a:ext cx="2156968" cy="896112"/>
          </a:xfrm>
        </p:spPr>
        <p:txBody>
          <a:bodyPr/>
          <a:lstStyle>
            <a:lvl1pPr marL="0" indent="0" algn="l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Image 3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70D58FEC-373C-4D8F-A6D3-F7AFE40BCBC7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2718150" y="5248126"/>
            <a:ext cx="6068218" cy="896112"/>
          </a:xfrm>
        </p:spPr>
        <p:txBody>
          <a:bodyPr/>
          <a:lstStyle>
            <a:lvl1pPr>
              <a:spcAft>
                <a:spcPts val="600"/>
              </a:spcAft>
              <a:defRPr sz="1350" b="0"/>
            </a:lvl1pPr>
            <a:lvl2pPr>
              <a:spcAft>
                <a:spcPts val="600"/>
              </a:spcAft>
              <a:defRPr sz="1350" b="0"/>
            </a:lvl2pPr>
            <a:lvl3pPr>
              <a:spcAft>
                <a:spcPts val="600"/>
              </a:spcAft>
              <a:defRPr sz="1350" b="0"/>
            </a:lvl3pPr>
            <a:lvl4pPr marL="1028700" marR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sz="1350"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6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325" r:id="rId3"/>
    <p:sldLayoutId id="2147484324" r:id="rId4"/>
    <p:sldLayoutId id="2147484310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  <p:sldLayoutId id="2147484291" r:id="rId12"/>
    <p:sldLayoutId id="2147484292" r:id="rId13"/>
    <p:sldLayoutId id="2147484293" r:id="rId14"/>
    <p:sldLayoutId id="2147484294" r:id="rId15"/>
    <p:sldLayoutId id="2147484308" r:id="rId16"/>
    <p:sldLayoutId id="2147484309" r:id="rId17"/>
    <p:sldLayoutId id="2147484311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EFC71-C8A9-B81A-43CB-75D11103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F5D6B-F134-1047-FB0E-180952CF3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3DC80-2BE9-FDC3-7D47-BE10C9E19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D4390-1509-4695-ACFC-127630D1387C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669F1-C42A-ECEE-5C8A-4C0FF65DF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FB17-D353-FB10-1CB2-732D9E921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3788-822E-423E-B878-6B9A28671C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47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30" r:id="rId4"/>
    <p:sldLayoutId id="2147484331" r:id="rId5"/>
    <p:sldLayoutId id="2147484332" r:id="rId6"/>
    <p:sldLayoutId id="2147484333" r:id="rId7"/>
    <p:sldLayoutId id="2147484334" r:id="rId8"/>
    <p:sldLayoutId id="2147484335" r:id="rId9"/>
    <p:sldLayoutId id="2147484336" r:id="rId10"/>
    <p:sldLayoutId id="21474843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6B8859-1B0C-C182-79E4-F8E97656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BD3AC-3679-C6B6-7241-0E2C85713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97FCF-D5AE-C8CB-73EF-1B2F35122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E285D-EB1B-4FF0-AD02-ECE675BD5D3A}" type="datetimeFigureOut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43694-C662-AE74-B796-CF321FB23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B7A0-76F4-89A5-B1C8-CA51111EB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C4DFF-B2E1-4C7C-8DC0-599B5AD25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8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14" r:id="rId2"/>
    <p:sldLayoutId id="2147484315" r:id="rId3"/>
    <p:sldLayoutId id="2147484316" r:id="rId4"/>
    <p:sldLayoutId id="2147484317" r:id="rId5"/>
    <p:sldLayoutId id="2147484318" r:id="rId6"/>
    <p:sldLayoutId id="2147484319" r:id="rId7"/>
    <p:sldLayoutId id="2147484320" r:id="rId8"/>
    <p:sldLayoutId id="2147484321" r:id="rId9"/>
    <p:sldLayoutId id="2147484322" r:id="rId10"/>
    <p:sldLayoutId id="21474843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4EF16C-F8E9-4C74-8268-011BE1836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6963"/>
            <a:ext cx="9144000" cy="6810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357633" y="473246"/>
            <a:ext cx="8431436" cy="12174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7633" y="1825625"/>
            <a:ext cx="8431436" cy="4297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0E6636BF-D3CC-4DFC-A057-41CF1871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577340" y="6314137"/>
            <a:ext cx="672084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chemeClr val="bg1"/>
                </a:solidFill>
                <a:latin typeface="Work Sans" pitchFamily="2" charset="0"/>
              </a:rPr>
              <a:t>Brigham &amp; Ehrhardt, Financial Management: Theory &amp; Practice, 17th Edition. © 2024 Cengage Learning, Inc. All Rights Reserved. May not be scanned, copied or duplicated, or posted to a publicly accessible website, in whole or in part.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C5765A-7DA4-4F63-BBF6-FDB000C6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37316" y="6223886"/>
            <a:ext cx="1365211" cy="610675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3CEB08-7511-4ACD-A0D7-6D08EF1B42A9}"/>
              </a:ext>
            </a:extLst>
          </p:cNvPr>
          <p:cNvSpPr txBox="1">
            <a:spLocks/>
          </p:cNvSpPr>
          <p:nvPr userDrawn="1"/>
        </p:nvSpPr>
        <p:spPr>
          <a:xfrm>
            <a:off x="8311642" y="6449054"/>
            <a:ext cx="550718" cy="3657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Calibri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fld id="{963FCBED-9BC8-44C8-B578-C394BC67F972}" type="slidenum">
              <a:rPr lang="en-US" sz="825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825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33120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6" r:id="rId1"/>
    <p:sldLayoutId id="2147484297" r:id="rId2"/>
    <p:sldLayoutId id="2147484298" r:id="rId3"/>
    <p:sldLayoutId id="2147484299" r:id="rId4"/>
    <p:sldLayoutId id="2147484300" r:id="rId5"/>
    <p:sldLayoutId id="2147484301" r:id="rId6"/>
    <p:sldLayoutId id="2147484302" r:id="rId7"/>
    <p:sldLayoutId id="2147484303" r:id="rId8"/>
    <p:sldLayoutId id="2147484304" r:id="rId9"/>
    <p:sldLayoutId id="2147484305" r:id="rId10"/>
    <p:sldLayoutId id="2147484306" r:id="rId11"/>
    <p:sldLayoutId id="2147484307" r:id="rId12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indent="-257175" algn="l" defTabSz="685800" rtl="0" eaLnBrk="1" latinLnBrk="0" hangingPunct="1">
        <a:lnSpc>
          <a:spcPct val="90000"/>
        </a:lnSpc>
        <a:spcBef>
          <a:spcPts val="375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2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Financial Statements, Cash Flow, &amp; Taxes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3ED93-F804-BC02-A047-FF2E3A14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Topics in Chapter</a:t>
            </a:r>
          </a:p>
        </p:txBody>
      </p:sp>
      <p:sp>
        <p:nvSpPr>
          <p:cNvPr id="5126" name="Rectangle 10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Income statement</a:t>
            </a:r>
          </a:p>
          <a:p>
            <a:r>
              <a:rPr lang="en-US" altLang="en-US" dirty="0"/>
              <a:t>Balance sheet</a:t>
            </a:r>
          </a:p>
          <a:p>
            <a:r>
              <a:rPr lang="en-US" altLang="en-US" dirty="0"/>
              <a:t>Statement of cash flows</a:t>
            </a:r>
          </a:p>
          <a:p>
            <a:r>
              <a:rPr lang="en-US" altLang="en-US" dirty="0"/>
              <a:t>Free cash flow</a:t>
            </a:r>
          </a:p>
          <a:p>
            <a:r>
              <a:rPr lang="en-US" altLang="en-US" dirty="0"/>
              <a:t>MVA &amp; EVA</a:t>
            </a:r>
          </a:p>
          <a:p>
            <a:r>
              <a:rPr lang="en-US" altLang="en-US" dirty="0"/>
              <a:t>Corporate taxes </a:t>
            </a:r>
          </a:p>
          <a:p>
            <a:r>
              <a:rPr lang="en-US" altLang="en-US" dirty="0"/>
              <a:t>Personal taxes</a:t>
            </a:r>
          </a:p>
          <a:p>
            <a:endParaRPr lang="en-US" altLang="en-US" dirty="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4B07D-1190-AE61-285C-AB9616BB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How can Financial Statements be used to increase value or make $ in Business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4908551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Use to evaluate investment opportunities</a:t>
            </a:r>
          </a:p>
          <a:p>
            <a:pPr marL="514350" indent="-514350">
              <a:buAutoNum type="arabicPeriod"/>
            </a:pPr>
            <a:r>
              <a:rPr lang="en-US" altLang="en-US" dirty="0"/>
              <a:t>Internal  - From within company</a:t>
            </a:r>
          </a:p>
          <a:p>
            <a:pPr marL="0" indent="0">
              <a:buNone/>
            </a:pPr>
            <a:r>
              <a:rPr lang="en-US" altLang="en-US" dirty="0"/>
              <a:t>    *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2. External:</a:t>
            </a:r>
          </a:p>
          <a:p>
            <a:pPr marL="342900" lvl="1" indent="0">
              <a:buNone/>
            </a:pPr>
            <a:r>
              <a:rPr lang="en-US" altLang="en-US" dirty="0"/>
              <a:t>*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59453-6832-5E03-E67E-EFEB1CC8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Income Statement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344478"/>
              </p:ext>
            </p:extLst>
          </p:nvPr>
        </p:nvGraphicFramePr>
        <p:xfrm>
          <a:off x="381000" y="1515529"/>
          <a:ext cx="8029893" cy="4968877"/>
        </p:xfrm>
        <a:graphic>
          <a:graphicData uri="http://schemas.openxmlformats.org/drawingml/2006/table">
            <a:tbl>
              <a:tblPr/>
              <a:tblGrid>
                <a:gridCol w="228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Revenue (Sales)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-Costs (COGS)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-Operating exp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</a:t>
                      </a: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 exp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3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=EBIT   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Earnings b/4 interest &amp; Taxes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 Income b/4 taxes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-Int. expense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=EBT              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Earnings b/4 taxes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Taxable Income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-Taxes             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 Expense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Net Income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 / #shs c. stk </a:t>
                      </a:r>
                    </a:p>
                  </a:txBody>
                  <a:tcPr marT="45708" marB="45708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=EPS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Earning per share</a:t>
                      </a:r>
                    </a:p>
                  </a:txBody>
                  <a:tcPr marT="45708" marB="45708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EABE5-2938-B98A-6280-5477CD93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Statement of Retained Earnings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734099"/>
              </p:ext>
            </p:extLst>
          </p:nvPr>
        </p:nvGraphicFramePr>
        <p:xfrm>
          <a:off x="2324100" y="2286000"/>
          <a:ext cx="4495800" cy="2986964"/>
        </p:xfrm>
        <a:graphic>
          <a:graphicData uri="http://schemas.openxmlformats.org/drawingml/2006/table">
            <a:tbl>
              <a:tblPr/>
              <a:tblGrid>
                <a:gridCol w="3124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Beginning RE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 NI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-Divids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Ending RE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Divids / #shs c. stk 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=DPS</a:t>
                      </a:r>
                    </a:p>
                  </a:txBody>
                  <a:tcPr marT="45719" marB="4571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9A080-4D51-A97C-1D2E-21E78C4D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Balance Sheet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078926"/>
              </p:ext>
            </p:extLst>
          </p:nvPr>
        </p:nvGraphicFramePr>
        <p:xfrm>
          <a:off x="381000" y="1447800"/>
          <a:ext cx="8382000" cy="5058852"/>
        </p:xfrm>
        <a:graphic>
          <a:graphicData uri="http://schemas.openxmlformats.org/drawingml/2006/table">
            <a:tbl>
              <a:tblPr/>
              <a:tblGrid>
                <a:gridCol w="2397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</a:t>
                      </a: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ASSETS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LIABILITIES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3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OWNERS EQUITY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Current Assets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Current Liabilities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Cash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Accounts Receivable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Accounts Payable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Common Stock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Inventory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Accruals (other s/t payables)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Addt’l Paid-in-Cap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Prepaids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S/T Notes Payable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Prfd. Stock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Marketable Securities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Retained Earnings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5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Non-Current Assets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Non-Current Liabilities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Property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N/P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Plant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Mortgage Payable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Equipment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Bonds Payable</a:t>
                      </a: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8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-Accum Deprec</a:t>
                      </a:r>
                    </a:p>
                  </a:txBody>
                  <a:tcPr marT="45730" marB="4573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585434-C024-5F16-FAD4-C2A1A096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Income Statement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757168"/>
              </p:ext>
            </p:extLst>
          </p:nvPr>
        </p:nvGraphicFramePr>
        <p:xfrm>
          <a:off x="628650" y="1676400"/>
          <a:ext cx="7886699" cy="4694239"/>
        </p:xfrm>
        <a:graphic>
          <a:graphicData uri="http://schemas.openxmlformats.org/drawingml/2006/table">
            <a:tbl>
              <a:tblPr/>
              <a:tblGrid>
                <a:gridCol w="2877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20x0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20x1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Sales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$3,432,000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$5,834,400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COGS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2,864,000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4,980,000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Other expenses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(SGA)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340,000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720,000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18,900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116,960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Tot. op. costs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3,222,900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5,816,960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EBIT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209,100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17,440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Int. expense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62,500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176,000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EBT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146,600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(158,560)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Taxes (40%)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58,640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(63,424)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income</a:t>
                      </a:r>
                    </a:p>
                  </a:txBody>
                  <a:tcPr marT="45723" marB="45723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  87,960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($   95,136)</a:t>
                      </a:r>
                    </a:p>
                  </a:txBody>
                  <a:tcPr marT="45723" marB="4572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F0795-0007-EC76-BA1B-1BA48F91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05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What happened to sales &amp; net income?</a:t>
            </a:r>
          </a:p>
        </p:txBody>
      </p:sp>
      <p:sp>
        <p:nvSpPr>
          <p:cNvPr id="14340" name="Rectangle 2053"/>
          <p:cNvSpPr>
            <a:spLocks noGrp="1" noChangeArrowheads="1"/>
          </p:cNvSpPr>
          <p:nvPr>
            <p:ph idx="1"/>
          </p:nvPr>
        </p:nvSpPr>
        <p:spPr>
          <a:xfrm>
            <a:off x="228600" y="1397217"/>
            <a:ext cx="8610600" cy="515598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Sales:</a:t>
            </a:r>
          </a:p>
          <a:p>
            <a:pPr lvl="1"/>
            <a:r>
              <a:rPr lang="en-US" altLang="en-US" dirty="0"/>
              <a:t>Increased by over $2.4 million or 70% YOY</a:t>
            </a:r>
          </a:p>
          <a:p>
            <a:r>
              <a:rPr lang="en-US" altLang="en-US" dirty="0"/>
              <a:t>Product Costs:</a:t>
            </a:r>
          </a:p>
          <a:p>
            <a:pPr lvl="1"/>
            <a:r>
              <a:rPr lang="en-US" altLang="en-US" dirty="0"/>
              <a:t> shot up 73.88%, which is &gt; sales growth.</a:t>
            </a:r>
          </a:p>
          <a:p>
            <a:pPr lvl="1"/>
            <a:r>
              <a:rPr lang="en-US" altLang="en-US" dirty="0"/>
              <a:t>Implications?</a:t>
            </a:r>
          </a:p>
          <a:p>
            <a:r>
              <a:rPr lang="en-US" altLang="en-US" dirty="0"/>
              <a:t>SGA:</a:t>
            </a:r>
          </a:p>
          <a:p>
            <a:pPr lvl="1"/>
            <a:r>
              <a:rPr lang="en-US" altLang="en-US" dirty="0"/>
              <a:t>more than doubled, growing by 111.76%</a:t>
            </a:r>
          </a:p>
          <a:p>
            <a:r>
              <a:rPr lang="en-US" altLang="en-US" dirty="0"/>
              <a:t>Net income:</a:t>
            </a:r>
          </a:p>
          <a:p>
            <a:pPr lvl="1"/>
            <a:r>
              <a:rPr lang="en-US" altLang="en-US" dirty="0"/>
              <a:t> was negative.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5E607-2E27-3B73-2EBD-CD86C026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5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Balance Sheet: Assets</a:t>
            </a:r>
          </a:p>
        </p:txBody>
      </p:sp>
      <p:graphicFrame>
        <p:nvGraphicFramePr>
          <p:cNvPr id="213153" name="Group 16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666511"/>
              </p:ext>
            </p:extLst>
          </p:nvPr>
        </p:nvGraphicFramePr>
        <p:xfrm>
          <a:off x="628650" y="1752600"/>
          <a:ext cx="7886700" cy="4572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Cash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      9,000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     7,282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S-T invest.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48,600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351,200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632,160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Inventories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715,200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1,287,360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Total CA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1,124,000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1,946,802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Gross FA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491,000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1,202,950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Less: Depr.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146,200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263,160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Net FA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344,800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939,790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assets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$1,468,800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$2,886,592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EF7AD9-CC2D-7E3F-95AE-9C9FE39F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05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Effect of Expansion on Assets</a:t>
            </a:r>
          </a:p>
        </p:txBody>
      </p:sp>
      <p:sp>
        <p:nvSpPr>
          <p:cNvPr id="16388" name="Rectangle 205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Net fixed assets:</a:t>
            </a:r>
          </a:p>
          <a:p>
            <a:pPr lvl="1"/>
            <a:r>
              <a:rPr lang="en-US" altLang="en-US" dirty="0"/>
              <a:t>grew 172.56%.  Why?</a:t>
            </a:r>
          </a:p>
          <a:p>
            <a:r>
              <a:rPr lang="en-US" altLang="en-US" dirty="0"/>
              <a:t>AR &amp; inventory:</a:t>
            </a:r>
          </a:p>
          <a:p>
            <a:pPr lvl="1"/>
            <a:r>
              <a:rPr lang="en-US" altLang="en-US" dirty="0"/>
              <a:t> almost doubled.  Implications?</a:t>
            </a:r>
          </a:p>
          <a:p>
            <a:r>
              <a:rPr lang="en-US" altLang="en-US" dirty="0"/>
              <a:t>Cash &amp; short-term investments:</a:t>
            </a:r>
          </a:p>
          <a:p>
            <a:pPr lvl="1"/>
            <a:r>
              <a:rPr lang="en-US" altLang="en-US" dirty="0"/>
              <a:t> fell &amp; were cut by more than half.  Due to?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AA88A9-4D92-7FF8-C41E-134BDEAA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Balance Sheet: Liabilities &amp; Equity</a:t>
            </a:r>
          </a:p>
        </p:txBody>
      </p:sp>
      <p:graphicFrame>
        <p:nvGraphicFramePr>
          <p:cNvPr id="236681" name="Group 13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047230"/>
              </p:ext>
            </p:extLst>
          </p:nvPr>
        </p:nvGraphicFramePr>
        <p:xfrm>
          <a:off x="628650" y="1752600"/>
          <a:ext cx="7886700" cy="4572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Accts. payable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 145,600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 324,000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Notes payable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720,000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Accruals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136,000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284,960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Total CL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481,600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1,328,960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Long-term debt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323,432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1,000,000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Common stock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460,000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460,000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Ret. earnings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203,768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97,632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Total equity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663,768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557,632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L&amp;E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$1,468,800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$2,886,592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0BBC47-3657-7499-E498-829FCA63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What effect did expansion have on liabilities &amp; equity?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397216"/>
            <a:ext cx="8382000" cy="5324259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Current Liabs:</a:t>
            </a:r>
          </a:p>
          <a:p>
            <a:pPr lvl="1"/>
            <a:r>
              <a:rPr lang="en-US" altLang="en-US" dirty="0"/>
              <a:t> A/P &amp; Accruals both more than doubled. Why?</a:t>
            </a:r>
          </a:p>
          <a:p>
            <a:pPr marL="342900" lvl="1" indent="0">
              <a:buNone/>
            </a:pPr>
            <a:r>
              <a:rPr lang="en-US" altLang="en-US" dirty="0"/>
              <a:t>*</a:t>
            </a:r>
          </a:p>
          <a:p>
            <a:r>
              <a:rPr lang="en-US" altLang="en-US" dirty="0"/>
              <a:t>Long-term debt:</a:t>
            </a:r>
          </a:p>
          <a:p>
            <a:pPr lvl="1"/>
            <a:r>
              <a:rPr lang="en-US" altLang="en-US" dirty="0"/>
              <a:t>More than tripled.  Why?</a:t>
            </a:r>
          </a:p>
          <a:p>
            <a:pPr marL="342900" lvl="1" indent="0">
              <a:buNone/>
            </a:pPr>
            <a:r>
              <a:rPr lang="en-US" altLang="en-US" dirty="0"/>
              <a:t>*</a:t>
            </a:r>
          </a:p>
          <a:p>
            <a:r>
              <a:rPr lang="en-US" altLang="en-US" dirty="0"/>
              <a:t>Company didn’t issue any stock.</a:t>
            </a:r>
          </a:p>
          <a:p>
            <a:r>
              <a:rPr lang="en-US" altLang="en-US" dirty="0"/>
              <a:t>Retained earnings:</a:t>
            </a:r>
          </a:p>
          <a:p>
            <a:pPr lvl="1"/>
            <a:r>
              <a:rPr lang="en-US" altLang="en-US" dirty="0"/>
              <a:t> fell by $156k. Due to?</a:t>
            </a:r>
          </a:p>
          <a:p>
            <a:pPr marL="342900" lvl="1" indent="0">
              <a:buNone/>
            </a:pPr>
            <a:r>
              <a:rPr lang="en-US" altLang="en-US" dirty="0"/>
              <a:t>*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482A7-889C-0545-9718-B9E05D5C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Stock Price &amp; Other Data</a:t>
            </a:r>
          </a:p>
        </p:txBody>
      </p:sp>
      <p:graphicFrame>
        <p:nvGraphicFramePr>
          <p:cNvPr id="284738" name="Group 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692654"/>
              </p:ext>
            </p:extLst>
          </p:nvPr>
        </p:nvGraphicFramePr>
        <p:xfrm>
          <a:off x="628650" y="1825625"/>
          <a:ext cx="7886698" cy="4876801"/>
        </p:xfrm>
        <a:graphic>
          <a:graphicData uri="http://schemas.openxmlformats.org/drawingml/2006/table">
            <a:tbl>
              <a:tblPr/>
              <a:tblGrid>
                <a:gridCol w="388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 price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$8.50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$6.00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# of shares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EPS=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 / (# shs o/s)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$0.88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-$0.95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50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DPS=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Divs / (# shs o/s)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$0.22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$0.11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D2BFA-184B-6347-30F9-6C28E588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I/S: Accrual vs. Cash Basis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791990"/>
              </p:ext>
            </p:extLst>
          </p:nvPr>
        </p:nvGraphicFramePr>
        <p:xfrm>
          <a:off x="628650" y="1825625"/>
          <a:ext cx="7886700" cy="4633918"/>
        </p:xfrm>
        <a:graphic>
          <a:graphicData uri="http://schemas.openxmlformats.org/drawingml/2006/table">
            <a:tbl>
              <a:tblPr/>
              <a:tblGrid>
                <a:gridCol w="22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Accrual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Cash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Revenue (Sales)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$100                (Credit sales)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$ 0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-Operating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-20                   (cash exp)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-20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-10          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(non-cash exp)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=NI   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$70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&lt;$20&gt; cash basis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1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Revenue (Sales)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$100               (Cash sales)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$100 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-Operating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-20                   (cash exp)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-20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-10           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(non-cash exp)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=NI   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$70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$80 Net Cash flow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5B9D5-8D79-83F0-A26B-885A4F03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OR: for 2</a:t>
            </a:r>
            <a:r>
              <a:rPr lang="en-US" altLang="en-US" baseline="30000" dirty="0"/>
              <a:t>nd</a:t>
            </a:r>
            <a:r>
              <a:rPr lang="en-US" altLang="en-US" dirty="0"/>
              <a:t> case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261520"/>
              </p:ext>
            </p:extLst>
          </p:nvPr>
        </p:nvGraphicFramePr>
        <p:xfrm>
          <a:off x="628650" y="1825625"/>
          <a:ext cx="7886700" cy="4633918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Revenue (Sales)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-Operating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</a:t>
                      </a:r>
                      <a:r>
                        <a:rPr kumimoji="0" lang="en-US" sz="2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 exp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   10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=NI   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70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18">
                <a:tc>
                  <a:txBody>
                    <a:bodyPr/>
                    <a:lstStyle/>
                    <a:p>
                      <a:r>
                        <a:rPr lang="en-US" sz="1800" u="sng" dirty="0"/>
                        <a:t>+Deprec</a:t>
                      </a:r>
                      <a:r>
                        <a:rPr lang="en-US" sz="1800" u="sng" baseline="0" dirty="0"/>
                        <a:t> Exp (noncash)</a:t>
                      </a:r>
                      <a:endParaRPr lang="en-US" sz="1800" u="sng" dirty="0"/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sng" dirty="0"/>
                        <a:t>+  10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=Net Cash Flow</a:t>
                      </a: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$80               </a:t>
                      </a: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9" marB="4572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4198D0-668E-DD98-0074-B2C11090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9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Statement of Cash Flows: 20x1</a:t>
            </a:r>
          </a:p>
        </p:txBody>
      </p:sp>
      <p:graphicFrame>
        <p:nvGraphicFramePr>
          <p:cNvPr id="253031" name="Group 10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734492"/>
              </p:ext>
            </p:extLst>
          </p:nvPr>
        </p:nvGraphicFramePr>
        <p:xfrm>
          <a:off x="628650" y="1676400"/>
          <a:ext cx="7886699" cy="4664079"/>
        </p:xfrm>
        <a:graphic>
          <a:graphicData uri="http://schemas.openxmlformats.org/drawingml/2006/table">
            <a:tbl>
              <a:tblPr/>
              <a:tblGrid>
                <a:gridCol w="575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Operating Activities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Income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($   95,136)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Adjustments: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Depreciation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116,960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AR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(280,960)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inventories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(572,160)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AP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178,400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accruals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148,960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provided (used) by ops.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($503,936)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A0F0CD-B9F4-845C-6863-F06658B5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Stmt of CFs – Investing Activities</a:t>
            </a:r>
          </a:p>
        </p:txBody>
      </p:sp>
      <p:graphicFrame>
        <p:nvGraphicFramePr>
          <p:cNvPr id="255095" name="Group 1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976588"/>
              </p:ext>
            </p:extLst>
          </p:nvPr>
        </p:nvGraphicFramePr>
        <p:xfrm>
          <a:off x="628650" y="1825625"/>
          <a:ext cx="7886699" cy="2073276"/>
        </p:xfrm>
        <a:graphic>
          <a:graphicData uri="http://schemas.openxmlformats.org/drawingml/2006/table">
            <a:tbl>
              <a:tblPr/>
              <a:tblGrid>
                <a:gridCol w="5885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Investing Activities </a:t>
                      </a:r>
                    </a:p>
                  </a:txBody>
                  <a:tcPr marT="45734" marB="4573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4" marB="4573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Cash used to acquire FA</a:t>
                      </a:r>
                    </a:p>
                  </a:txBody>
                  <a:tcPr marT="45734" marB="4573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($711,950)</a:t>
                      </a:r>
                    </a:p>
                  </a:txBody>
                  <a:tcPr marT="45734" marB="4573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S-T invest.</a:t>
                      </a:r>
                    </a:p>
                  </a:txBody>
                  <a:tcPr marT="45734" marB="4573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28,600  </a:t>
                      </a:r>
                    </a:p>
                  </a:txBody>
                  <a:tcPr marT="45734" marB="4573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prov. (used) by inv. act.</a:t>
                      </a:r>
                    </a:p>
                  </a:txBody>
                  <a:tcPr marT="45734" marB="4573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($683,350)</a:t>
                      </a:r>
                    </a:p>
                  </a:txBody>
                  <a:tcPr marT="45734" marB="4573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7A3643-6B57-B697-FEC1-CABB249B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Stmt of CFs – Financing Activities</a:t>
            </a:r>
          </a:p>
        </p:txBody>
      </p:sp>
      <p:graphicFrame>
        <p:nvGraphicFramePr>
          <p:cNvPr id="328748" name="Group 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169391"/>
              </p:ext>
            </p:extLst>
          </p:nvPr>
        </p:nvGraphicFramePr>
        <p:xfrm>
          <a:off x="628650" y="1825625"/>
          <a:ext cx="7886699" cy="2590800"/>
        </p:xfrm>
        <a:graphic>
          <a:graphicData uri="http://schemas.openxmlformats.org/drawingml/2006/table">
            <a:tbl>
              <a:tblPr/>
              <a:tblGrid>
                <a:gridCol w="590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Financing Activities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notes payable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   520,000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Change in long-term debt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676,568    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Payment of cash dividends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(11,000)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provided (used) by fin. act.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$1,185,568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050C39-7F48-884C-5949-EF7194D9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Statement of CF</a:t>
            </a:r>
          </a:p>
        </p:txBody>
      </p:sp>
      <p:graphicFrame>
        <p:nvGraphicFramePr>
          <p:cNvPr id="262213" name="Group 6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932114"/>
              </p:ext>
            </p:extLst>
          </p:nvPr>
        </p:nvGraphicFramePr>
        <p:xfrm>
          <a:off x="628650" y="1825625"/>
          <a:ext cx="7886699" cy="4114800"/>
        </p:xfrm>
        <a:graphic>
          <a:graphicData uri="http://schemas.openxmlformats.org/drawingml/2006/table">
            <a:tbl>
              <a:tblPr/>
              <a:tblGrid>
                <a:gridCol w="575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provided (used) by ops.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($  503,936)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to acquire FA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(683,350)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cash prov. (used) by fin. act.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1,185,568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 change in cash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(1,718)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Cash at beginning of year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Cash at end of year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     7,282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589F1-8D11-51AD-4256-3CA1E7C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Conclusions from statement of cash flows?</a:t>
            </a:r>
          </a:p>
        </p:txBody>
      </p:sp>
      <p:sp>
        <p:nvSpPr>
          <p:cNvPr id="26630" name="Rectangle 1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Net CF from operations = -$503,936, because of negative net income &amp; increases in working capital.</a:t>
            </a:r>
          </a:p>
          <a:p>
            <a:r>
              <a:rPr lang="en-US" altLang="en-US" dirty="0"/>
              <a:t>Firm spent $711,950 on FA. </a:t>
            </a:r>
          </a:p>
          <a:p>
            <a:r>
              <a:rPr lang="en-US" altLang="en-US" dirty="0"/>
              <a:t>Firm borrowed heavily &amp; sold some short-term investments to meet its cash requirements.</a:t>
            </a:r>
          </a:p>
          <a:p>
            <a:r>
              <a:rPr lang="en-US" altLang="en-US" dirty="0"/>
              <a:t>Even after borrowing, cash account fell by $1,718.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7F098-4E6E-CF54-43AD-44858A02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CF Statement</a:t>
            </a:r>
          </a:p>
        </p:txBody>
      </p:sp>
      <p:sp>
        <p:nvSpPr>
          <p:cNvPr id="26630" name="Rectangle 12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5029200"/>
          </a:xfrm>
        </p:spPr>
        <p:txBody>
          <a:bodyPr>
            <a:noAutofit/>
          </a:bodyPr>
          <a:lstStyle/>
          <a:p>
            <a:r>
              <a:rPr lang="en-US" altLang="en-US" dirty="0"/>
              <a:t>Operating Activity Accounts:</a:t>
            </a:r>
          </a:p>
          <a:p>
            <a:pPr lvl="1"/>
            <a:r>
              <a:rPr lang="en-US" altLang="en-US" sz="2600" dirty="0"/>
              <a:t>NI north of EBIT</a:t>
            </a:r>
          </a:p>
          <a:p>
            <a:pPr lvl="1"/>
            <a:r>
              <a:rPr lang="en-US" altLang="en-US" sz="2600" dirty="0"/>
              <a:t>CA &amp; CL accts used to operate business</a:t>
            </a:r>
          </a:p>
          <a:p>
            <a:r>
              <a:rPr lang="en-US" altLang="en-US" dirty="0"/>
              <a:t>Investing Activity Accounts:</a:t>
            </a:r>
          </a:p>
          <a:p>
            <a:pPr lvl="1"/>
            <a:r>
              <a:rPr lang="en-US" altLang="en-US" dirty="0"/>
              <a:t>Invest in PPE, </a:t>
            </a:r>
          </a:p>
          <a:p>
            <a:pPr lvl="1"/>
            <a:r>
              <a:rPr lang="en-US" altLang="en-US" dirty="0"/>
              <a:t>S/T &amp; L/T financial investments</a:t>
            </a:r>
          </a:p>
          <a:p>
            <a:pPr lvl="2"/>
            <a:r>
              <a:rPr lang="en-US" altLang="en-US" dirty="0"/>
              <a:t>Including investments into other co’s stocks &amp; bonds. </a:t>
            </a:r>
          </a:p>
          <a:p>
            <a:r>
              <a:rPr lang="en-US" altLang="en-US" dirty="0"/>
              <a:t>Financing Activity /Accounts:</a:t>
            </a:r>
          </a:p>
          <a:p>
            <a:pPr lvl="1"/>
            <a:r>
              <a:rPr lang="en-US" altLang="en-US" dirty="0"/>
              <a:t>Own equity (including RE) &amp; interest-bearing debt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B0315C-4C7F-E560-5B7F-933B57B0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65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CF Activity</a:t>
            </a:r>
          </a:p>
        </p:txBody>
      </p:sp>
      <p:sp>
        <p:nvSpPr>
          <p:cNvPr id="26630" name="Rectangle 12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458200" cy="4500563"/>
          </a:xfrm>
        </p:spPr>
        <p:txBody>
          <a:bodyPr>
            <a:noAutofit/>
          </a:bodyPr>
          <a:lstStyle/>
          <a:p>
            <a:r>
              <a:rPr lang="en-US" altLang="en-US" dirty="0"/>
              <a:t>Asset accounts increase</a:t>
            </a:r>
          </a:p>
          <a:p>
            <a:pPr lvl="1"/>
            <a:r>
              <a:rPr lang="en-US" altLang="en-US" dirty="0"/>
              <a:t>Buy Assets, so cash goes </a:t>
            </a:r>
            <a:r>
              <a:rPr lang="en-US" altLang="en-US" b="1" dirty="0"/>
              <a:t>down</a:t>
            </a:r>
            <a:r>
              <a:rPr lang="en-US" altLang="en-US" dirty="0"/>
              <a:t>  </a:t>
            </a:r>
          </a:p>
          <a:p>
            <a:r>
              <a:rPr lang="en-US" altLang="en-US" dirty="0"/>
              <a:t>Liability accts increase</a:t>
            </a:r>
          </a:p>
          <a:p>
            <a:pPr lvl="1"/>
            <a:r>
              <a:rPr lang="en-US" altLang="en-US" dirty="0"/>
              <a:t>Take on more debt, so borrow more money</a:t>
            </a:r>
          </a:p>
          <a:p>
            <a:pPr lvl="2"/>
            <a:r>
              <a:rPr lang="en-US" altLang="en-US" sz="2400" dirty="0"/>
              <a:t>So $$ come in &amp; cash goes </a:t>
            </a:r>
            <a:r>
              <a:rPr lang="en-US" altLang="en-US" sz="2400" b="1" dirty="0"/>
              <a:t>UP</a:t>
            </a:r>
          </a:p>
          <a:p>
            <a:r>
              <a:rPr lang="en-US" altLang="en-US" dirty="0"/>
              <a:t>Owners Equity accts, since same side of B/S, behave same way as Liabilities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B0315C-4C7F-E560-5B7F-933B57B0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8805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05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What is free cash flow (FCF)? </a:t>
            </a:r>
            <a:br>
              <a:rPr lang="en-US" altLang="en-US" dirty="0"/>
            </a:br>
            <a:r>
              <a:rPr lang="en-US" altLang="en-US" dirty="0"/>
              <a:t>Why is it important?</a:t>
            </a:r>
          </a:p>
        </p:txBody>
      </p:sp>
      <p:sp>
        <p:nvSpPr>
          <p:cNvPr id="27652" name="Rectangle 2053"/>
          <p:cNvSpPr>
            <a:spLocks noGrp="1" noChangeArrowheads="1"/>
          </p:cNvSpPr>
          <p:nvPr>
            <p:ph idx="1"/>
          </p:nvPr>
        </p:nvSpPr>
        <p:spPr>
          <a:xfrm>
            <a:off x="228600" y="1825625"/>
            <a:ext cx="8286750" cy="4351338"/>
          </a:xfrm>
        </p:spPr>
        <p:txBody>
          <a:bodyPr/>
          <a:lstStyle/>
          <a:p>
            <a:r>
              <a:rPr lang="en-US" altLang="en-US" dirty="0"/>
              <a:t>FCF is amount of cash available from operations for distribution to all investors (including stockholders &amp; debtholders) after making necessary investments to support operations.</a:t>
            </a:r>
          </a:p>
          <a:p>
            <a:r>
              <a:rPr lang="en-US" altLang="en-US" dirty="0"/>
              <a:t>A company’s value depends on amount of FCF it can generate.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366E7-08AB-9A75-8698-5222C154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are five uses of FCF?</a:t>
            </a:r>
          </a:p>
        </p:txBody>
      </p:sp>
      <p:sp>
        <p:nvSpPr>
          <p:cNvPr id="28676" name="Rectangle 1029"/>
          <p:cNvSpPr>
            <a:spLocks noGrp="1" noChangeArrowheads="1"/>
          </p:cNvSpPr>
          <p:nvPr>
            <p:ph idx="1"/>
          </p:nvPr>
        </p:nvSpPr>
        <p:spPr>
          <a:xfrm>
            <a:off x="228600" y="1523999"/>
            <a:ext cx="8458200" cy="4832351"/>
          </a:xfrm>
        </p:spPr>
        <p:txBody>
          <a:bodyPr>
            <a:normAutofit fontScale="85000" lnSpcReduction="20000"/>
          </a:bodyPr>
          <a:lstStyle/>
          <a:p>
            <a:pPr marL="514350" indent="-51435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Pay</a:t>
            </a:r>
          </a:p>
          <a:p>
            <a:pPr marL="342900" lvl="1" indent="0">
              <a:buNone/>
            </a:pPr>
            <a:r>
              <a:rPr lang="en-US" altLang="en-US" dirty="0"/>
              <a:t>* 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2. Pay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*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3. Pay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*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4. Buy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*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5. Buy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*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E709F-D6F1-86DC-B005-BD53AAD8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05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928687"/>
          </a:xfrm>
        </p:spPr>
        <p:txBody>
          <a:bodyPr/>
          <a:lstStyle/>
          <a:p>
            <a:pPr eaLnBrk="1" hangingPunct="1"/>
            <a:r>
              <a:rPr lang="en-US" altLang="en-US" dirty="0"/>
              <a:t>Free cash flows (FCFs) </a:t>
            </a:r>
          </a:p>
        </p:txBody>
      </p:sp>
      <p:sp>
        <p:nvSpPr>
          <p:cNvPr id="29700" name="Rectangle 205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FCF= cash available for distribution to investors.  Greater FCF, more attractive that company is to investors.  Therefore, value of firm is primarily dependent on its </a:t>
            </a:r>
            <a:r>
              <a:rPr lang="en-US" altLang="en-US" b="1" u="sng" dirty="0"/>
              <a:t>expected future free cash flows</a:t>
            </a:r>
            <a:r>
              <a:rPr lang="en-US" altLang="en-US" dirty="0"/>
              <a:t>!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F0FDA3-0DCD-B34B-8CA3-B337816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One More IMPORTANT Step</a:t>
            </a:r>
          </a:p>
        </p:txBody>
      </p:sp>
      <p:sp>
        <p:nvSpPr>
          <p:cNvPr id="30724" name="Rectangle 205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Value of any business asset, financial or real depends on usable, after-tax cash flows asset is expected to produce.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EAC8D-9576-B1BD-3755-400E9972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7268-6FAD-1F80-0964-069DB106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Calculating Free Cash Flow in 5 Easy Steps</a:t>
            </a:r>
            <a:endParaRPr lang="en-US" dirty="0"/>
          </a:p>
        </p:txBody>
      </p:sp>
      <p:pic>
        <p:nvPicPr>
          <p:cNvPr id="7" name="Content Placeholder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9EBF1E9-8850-F531-E762-2CB463C77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26" y="1600200"/>
            <a:ext cx="6866948" cy="479276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7603FD-EC2A-DF98-9D65-75FCB997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FREE CASH FLOWS (FCF)</a:t>
            </a:r>
          </a:p>
        </p:txBody>
      </p:sp>
      <p:sp>
        <p:nvSpPr>
          <p:cNvPr id="33796" name="Rectangle 102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FCF = Net Operating Profit A/Tax – Change in Outlay for Operating Capital from prior year to current year.</a:t>
            </a:r>
          </a:p>
          <a:p>
            <a:pPr marL="0" indent="0">
              <a:buNone/>
            </a:pPr>
            <a:r>
              <a:rPr lang="en-US" altLang="en-US" dirty="0"/>
              <a:t>OR:</a:t>
            </a:r>
          </a:p>
          <a:p>
            <a:pPr marL="0" indent="0">
              <a:buNone/>
            </a:pPr>
            <a:r>
              <a:rPr lang="en-US" altLang="en-US" dirty="0"/>
              <a:t>FCF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0492EA-4418-9352-2E64-A554E140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Net Operating Profit After Taxes (NOPAT)</a:t>
            </a:r>
          </a:p>
        </p:txBody>
      </p:sp>
      <p:graphicFrame>
        <p:nvGraphicFramePr>
          <p:cNvPr id="137539" name="Group 3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029491"/>
              </p:ext>
            </p:extLst>
          </p:nvPr>
        </p:nvGraphicFramePr>
        <p:xfrm>
          <a:off x="381000" y="1825624"/>
          <a:ext cx="8134350" cy="3660776"/>
        </p:xfrm>
        <a:graphic>
          <a:graphicData uri="http://schemas.openxmlformats.org/drawingml/2006/table">
            <a:tbl>
              <a:tblPr/>
              <a:tblGrid>
                <a:gridCol w="248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Revenue (Sales)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-Op exp incl CGS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=EBIT   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Earnings b/4 interest &amp; taxes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 Income b/4 taxes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-Taxes             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 Expense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=NOPAT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latin typeface="+mn-lt"/>
                        </a:rPr>
                        <a:t>OR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96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NOPAT=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EBIT(1-tax rate)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AAAC7-FE4F-AA12-E685-49479413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0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Net Operating Working Capital (NOWC)</a:t>
            </a:r>
          </a:p>
        </p:txBody>
      </p:sp>
      <p:sp>
        <p:nvSpPr>
          <p:cNvPr id="35844" name="Rectangle 1029"/>
          <p:cNvSpPr>
            <a:spLocks noGrp="1" noChangeArrowheads="1"/>
          </p:cNvSpPr>
          <p:nvPr>
            <p:ph idx="1"/>
          </p:nvPr>
        </p:nvSpPr>
        <p:spPr>
          <a:xfrm>
            <a:off x="304800" y="1825625"/>
            <a:ext cx="84582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Difference  in C/A &amp; C/L used to operate business.</a:t>
            </a:r>
          </a:p>
          <a:p>
            <a:pPr marL="0" indent="0">
              <a:buNone/>
            </a:pPr>
            <a:r>
              <a:rPr lang="en-US" altLang="en-US" dirty="0"/>
              <a:t>NOWC   = CA            -            CL</a:t>
            </a:r>
          </a:p>
          <a:p>
            <a:pPr marL="0" indent="0">
              <a:buNone/>
            </a:pPr>
            <a:r>
              <a:rPr lang="en-US" altLang="en-US" dirty="0"/>
              <a:t>NOWC= (cash+A/R+Inv)  -  (A/P + Accruals)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All non-interest bearing CA &amp; CL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8D467-A250-25B4-B228-578F6709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Total Operating Capital =</a:t>
            </a:r>
          </a:p>
        </p:txBody>
      </p:sp>
      <p:sp>
        <p:nvSpPr>
          <p:cNvPr id="36868" name="Rectangle 1029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=     NOWC     +  Net Plant &amp; Equip.</a:t>
            </a:r>
          </a:p>
          <a:p>
            <a:pPr marL="0" indent="0">
              <a:buNone/>
            </a:pPr>
            <a:r>
              <a:rPr lang="en-US" altLang="en-US" dirty="0"/>
              <a:t>= S/T Op Cap  +   L/T Op Cap</a:t>
            </a:r>
          </a:p>
          <a:p>
            <a:pPr marL="0" indent="0">
              <a:buNone/>
            </a:pPr>
            <a:r>
              <a:rPr lang="en-US" altLang="en-US" dirty="0"/>
              <a:t>					=  </a:t>
            </a:r>
          </a:p>
          <a:p>
            <a:pPr marL="0" indent="0">
              <a:buNone/>
            </a:pPr>
            <a:r>
              <a:rPr lang="en-US" altLang="en-US" dirty="0"/>
              <a:t>					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6B58EF-8CFA-E7B3-C775-EEE10080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Net Operating Profit after Taxes (NOPAT)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r>
              <a:rPr lang="en-US" altLang="en-US" sz="2800" dirty="0"/>
              <a:t>   </a:t>
            </a:r>
            <a:r>
              <a:rPr lang="en-US" altLang="en-US" dirty="0"/>
              <a:t>NOPAT = EBIT(1 - Tax rate)</a:t>
            </a:r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endParaRPr lang="en-US" altLang="en-US" dirty="0"/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r>
              <a:rPr lang="en-US" altLang="en-US" dirty="0"/>
              <a:t>NOPAT</a:t>
            </a:r>
            <a:r>
              <a:rPr lang="en-US" altLang="en-US" baseline="-25000" dirty="0"/>
              <a:t>20x1	</a:t>
            </a:r>
            <a:r>
              <a:rPr lang="en-US" altLang="en-US" dirty="0"/>
              <a:t>= $17,440(1 - 0.4)</a:t>
            </a:r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r>
              <a:rPr lang="en-US" altLang="en-US" dirty="0"/>
              <a:t>	= $10,464.</a:t>
            </a:r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endParaRPr lang="en-US" altLang="en-US" dirty="0"/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885950" algn="l"/>
              </a:tabLst>
            </a:pPr>
            <a:r>
              <a:rPr lang="en-US" altLang="en-US" dirty="0"/>
              <a:t>NOPAT</a:t>
            </a:r>
            <a:r>
              <a:rPr lang="en-US" altLang="en-US" baseline="-25000" dirty="0"/>
              <a:t>20x0	</a:t>
            </a:r>
            <a:r>
              <a:rPr lang="en-US" altLang="en-US" dirty="0"/>
              <a:t>= $125,460.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B0619-B52F-76A9-959F-0FCD556E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are operating current assets?</a:t>
            </a:r>
          </a:p>
        </p:txBody>
      </p:sp>
      <p:sp>
        <p:nvSpPr>
          <p:cNvPr id="38916" name="Rectangle 1029"/>
          <p:cNvSpPr>
            <a:spLocks noGrp="1" noChangeArrowheads="1"/>
          </p:cNvSpPr>
          <p:nvPr>
            <p:ph idx="1"/>
          </p:nvPr>
        </p:nvSpPr>
        <p:spPr>
          <a:xfrm>
            <a:off x="228600" y="1825625"/>
            <a:ext cx="8686800" cy="4530726"/>
          </a:xfrm>
        </p:spPr>
        <p:txBody>
          <a:bodyPr/>
          <a:lstStyle/>
          <a:p>
            <a:r>
              <a:rPr lang="en-US" altLang="en-US" sz="3600" dirty="0"/>
              <a:t>Operating current assets: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3200" dirty="0"/>
              <a:t>CA needed to support operations.</a:t>
            </a:r>
          </a:p>
          <a:p>
            <a:pPr lvl="2"/>
            <a:r>
              <a:rPr lang="en-US" altLang="en-US" sz="2800" dirty="0"/>
              <a:t>Op CA include: </a:t>
            </a:r>
          </a:p>
          <a:p>
            <a:pPr marL="1028700" lvl="3" indent="0">
              <a:buNone/>
            </a:pPr>
            <a:r>
              <a:rPr lang="en-US" altLang="en-US" sz="2400" dirty="0"/>
              <a:t>*</a:t>
            </a:r>
          </a:p>
          <a:p>
            <a:pPr lvl="2"/>
            <a:r>
              <a:rPr lang="en-US" altLang="en-US" sz="2800" dirty="0"/>
              <a:t>Op CA exclude:</a:t>
            </a:r>
          </a:p>
          <a:p>
            <a:pPr lvl="3"/>
            <a:r>
              <a:rPr lang="en-US" altLang="en-US" sz="2200" dirty="0"/>
              <a:t> 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E7E07F-720D-0072-6110-F7F4A82C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are operating current liabilities?</a:t>
            </a:r>
          </a:p>
        </p:txBody>
      </p:sp>
      <p:sp>
        <p:nvSpPr>
          <p:cNvPr id="39940" name="Rectangle 1029"/>
          <p:cNvSpPr>
            <a:spLocks noGrp="1" noChangeArrowheads="1"/>
          </p:cNvSpPr>
          <p:nvPr>
            <p:ph idx="1"/>
          </p:nvPr>
        </p:nvSpPr>
        <p:spPr>
          <a:xfrm>
            <a:off x="304800" y="1825625"/>
            <a:ext cx="8534400" cy="4351338"/>
          </a:xfrm>
        </p:spPr>
        <p:txBody>
          <a:bodyPr/>
          <a:lstStyle/>
          <a:p>
            <a:r>
              <a:rPr lang="en-US" altLang="en-US" dirty="0"/>
              <a:t>Operating current liabilities are  CL used in normal operations.</a:t>
            </a:r>
          </a:p>
          <a:p>
            <a:pPr lvl="1"/>
            <a:r>
              <a:rPr lang="en-US" altLang="en-US" dirty="0"/>
              <a:t>Op CL include: </a:t>
            </a:r>
          </a:p>
          <a:p>
            <a:pPr lvl="2"/>
            <a:r>
              <a:rPr lang="en-US" altLang="en-US" sz="2400" dirty="0"/>
              <a:t> </a:t>
            </a:r>
            <a:endParaRPr lang="en-US" altLang="en-US" dirty="0"/>
          </a:p>
          <a:p>
            <a:pPr lvl="1"/>
            <a:r>
              <a:rPr lang="en-US" altLang="en-US" dirty="0"/>
              <a:t>Op CL exclude: </a:t>
            </a:r>
          </a:p>
          <a:p>
            <a:pPr lvl="2"/>
            <a:r>
              <a:rPr lang="en-US" altLang="en-US" sz="2300" dirty="0"/>
              <a:t> 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79EC60-CAF2-7BE0-967D-92A040FC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3600" dirty="0">
                <a:latin typeface="+mn-lt"/>
              </a:rPr>
              <a:t>Net Operating Working Capital (NOWC)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8650" y="3200400"/>
            <a:ext cx="7623175" cy="2835275"/>
          </a:xfrm>
        </p:spPr>
        <p:txBody>
          <a:bodyPr lIns="90488" tIns="44450" rIns="90488" bIns="44450"/>
          <a:lstStyle/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706563" algn="l"/>
                <a:tab pos="7481888" algn="r"/>
              </a:tabLst>
            </a:pPr>
            <a:r>
              <a:rPr lang="en-US" altLang="en-US" sz="2400" dirty="0"/>
              <a:t>NOWC</a:t>
            </a:r>
            <a:r>
              <a:rPr lang="en-US" altLang="en-US" sz="2400" baseline="-25000" dirty="0"/>
              <a:t>20x1</a:t>
            </a:r>
            <a:r>
              <a:rPr lang="en-US" altLang="en-US" sz="2400" dirty="0"/>
              <a:t> 	=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706563" algn="l"/>
                <a:tab pos="7481888" algn="r"/>
              </a:tabLst>
            </a:pPr>
            <a:endParaRPr lang="en-US" altLang="en-US" sz="2400" dirty="0"/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706563" algn="l"/>
                <a:tab pos="7481888" algn="r"/>
              </a:tabLst>
            </a:pPr>
            <a:r>
              <a:rPr lang="en-US" altLang="en-US" sz="2400" dirty="0"/>
              <a:t>	= $1,317,842.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706563" algn="l"/>
                <a:tab pos="7481888" algn="r"/>
              </a:tabLst>
            </a:pPr>
            <a:r>
              <a:rPr lang="en-US" altLang="en-US" sz="2400" dirty="0"/>
              <a:t>NOWC</a:t>
            </a:r>
            <a:r>
              <a:rPr lang="en-US" altLang="en-US" sz="2400" baseline="-25000" dirty="0"/>
              <a:t>20x0</a:t>
            </a:r>
            <a:r>
              <a:rPr lang="en-US" altLang="en-US" sz="2400" dirty="0"/>
              <a:t> 	= $793,800.</a:t>
            </a:r>
          </a:p>
        </p:txBody>
      </p:sp>
      <p:grpSp>
        <p:nvGrpSpPr>
          <p:cNvPr id="40965" name="Group 12"/>
          <p:cNvGrpSpPr>
            <a:grpSpLocks/>
          </p:cNvGrpSpPr>
          <p:nvPr/>
        </p:nvGrpSpPr>
        <p:grpSpPr bwMode="auto">
          <a:xfrm>
            <a:off x="838200" y="2125662"/>
            <a:ext cx="7315200" cy="968375"/>
            <a:chOff x="384" y="1502"/>
            <a:chExt cx="4608" cy="610"/>
          </a:xfrm>
        </p:grpSpPr>
        <p:sp>
          <p:nvSpPr>
            <p:cNvPr id="40966" name="Text Box 6"/>
            <p:cNvSpPr txBox="1">
              <a:spLocks noChangeArrowheads="1"/>
            </p:cNvSpPr>
            <p:nvPr/>
          </p:nvSpPr>
          <p:spPr bwMode="auto">
            <a:xfrm>
              <a:off x="1382" y="1619"/>
              <a:ext cx="23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=                        -</a:t>
              </a:r>
            </a:p>
          </p:txBody>
        </p:sp>
        <p:sp>
          <p:nvSpPr>
            <p:cNvPr id="40967" name="Text Box 8"/>
            <p:cNvSpPr txBox="1">
              <a:spLocks noChangeArrowheads="1"/>
            </p:cNvSpPr>
            <p:nvPr/>
          </p:nvSpPr>
          <p:spPr bwMode="auto">
            <a:xfrm>
              <a:off x="1632" y="1502"/>
              <a:ext cx="163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Operating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CA</a:t>
              </a:r>
            </a:p>
          </p:txBody>
        </p:sp>
        <p:sp>
          <p:nvSpPr>
            <p:cNvPr id="40968" name="Text Box 9"/>
            <p:cNvSpPr txBox="1">
              <a:spLocks noChangeArrowheads="1"/>
            </p:cNvSpPr>
            <p:nvPr/>
          </p:nvSpPr>
          <p:spPr bwMode="auto">
            <a:xfrm>
              <a:off x="3360" y="1502"/>
              <a:ext cx="163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Operating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CL</a:t>
              </a:r>
            </a:p>
          </p:txBody>
        </p:sp>
        <p:sp>
          <p:nvSpPr>
            <p:cNvPr id="40969" name="Text Box 11"/>
            <p:cNvSpPr txBox="1">
              <a:spLocks noChangeArrowheads="1"/>
            </p:cNvSpPr>
            <p:nvPr/>
          </p:nvSpPr>
          <p:spPr bwMode="auto">
            <a:xfrm>
              <a:off x="384" y="1598"/>
              <a:ext cx="10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NOWC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C5E2D-49B0-BEBE-590B-FA8435BE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Total net operating capital (also called operating capital)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286750" cy="4652963"/>
          </a:xfrm>
        </p:spPr>
        <p:txBody>
          <a:bodyPr/>
          <a:lstStyle/>
          <a:p>
            <a:r>
              <a:rPr lang="en-US" altLang="en-US" dirty="0"/>
              <a:t>Operating Capital= NOWC + Net fixed assets.</a:t>
            </a:r>
          </a:p>
          <a:p>
            <a:r>
              <a:rPr lang="en-US" altLang="en-US" dirty="0"/>
              <a:t>Operating Capital 20x1 </a:t>
            </a:r>
            <a:br>
              <a:rPr lang="en-US" altLang="en-US" dirty="0"/>
            </a:br>
            <a:r>
              <a:rPr lang="en-US" altLang="en-US" dirty="0"/>
              <a:t>=  </a:t>
            </a:r>
            <a:br>
              <a:rPr lang="en-US" altLang="en-US" dirty="0"/>
            </a:br>
            <a:r>
              <a:rPr lang="en-US" altLang="en-US" dirty="0"/>
              <a:t>= $2,257,632.</a:t>
            </a:r>
          </a:p>
          <a:p>
            <a:r>
              <a:rPr lang="en-US" altLang="en-US" dirty="0"/>
              <a:t>Operating Capital 20x0 = $1,138,600.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0A8D2-01C4-C83C-5D3B-FF7929A8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Free Cash Flow (FCF) for 20x1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/>
              <a:t>FCF = NOPAT - Net investment in</a:t>
            </a:r>
          </a:p>
          <a:p>
            <a:pPr marL="0" indent="0">
              <a:buNone/>
            </a:pPr>
            <a:r>
              <a:rPr lang="en-US" altLang="en-US" dirty="0"/>
              <a:t>                        operating capital</a:t>
            </a:r>
          </a:p>
          <a:p>
            <a:pPr marL="0" indent="0">
              <a:buNone/>
            </a:pPr>
            <a:r>
              <a:rPr lang="en-US" altLang="en-US" dirty="0"/>
              <a:t>        = $10,464 – (                   -                     )</a:t>
            </a:r>
          </a:p>
          <a:p>
            <a:pPr marL="0" indent="0">
              <a:buNone/>
            </a:pPr>
            <a:r>
              <a:rPr lang="en-US" altLang="en-US" dirty="0"/>
              <a:t>        = $10,464 - $1,119,032</a:t>
            </a:r>
          </a:p>
          <a:p>
            <a:pPr marL="0" indent="0">
              <a:buNone/>
            </a:pPr>
            <a:r>
              <a:rPr lang="en-US" altLang="en-US" dirty="0"/>
              <a:t>        = -$1,108,568.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How do you suppose investors reacted?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85527-617A-02BD-E0B2-6B24077C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7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Uses of FCF</a:t>
            </a:r>
          </a:p>
        </p:txBody>
      </p:sp>
      <p:graphicFrame>
        <p:nvGraphicFramePr>
          <p:cNvPr id="340083" name="Group 1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027332"/>
              </p:ext>
            </p:extLst>
          </p:nvPr>
        </p:nvGraphicFramePr>
        <p:xfrm>
          <a:off x="304800" y="1825625"/>
          <a:ext cx="8534400" cy="3911601"/>
        </p:xfrm>
        <a:graphic>
          <a:graphicData uri="http://schemas.openxmlformats.org/drawingml/2006/table">
            <a:tbl>
              <a:tblPr/>
              <a:tblGrid>
                <a:gridCol w="600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After-tax interest payment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$105,600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Reduction (increase) in debt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−$1,196,568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Payment of dividends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$11,000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Repurchase (Issue) stock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Purch. (Sale) of ST investments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−$28,600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uses of FCF =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−$1,108,568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C0066C-7D13-1B6B-52DA-F99BFDA0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Profitability Ratio</a:t>
            </a:r>
            <a:endParaRPr lang="en-US" altLang="en-US" dirty="0"/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210550" cy="4576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Operating profitability (OP):	</a:t>
            </a:r>
          </a:p>
          <a:p>
            <a:pPr marL="0" indent="0">
              <a:buNone/>
            </a:pPr>
            <a:r>
              <a:rPr lang="en-US" dirty="0"/>
              <a:t>	= (amount of op. profit generated per $ of sales)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	OP ratio = NOPAT / Sales</a:t>
            </a:r>
          </a:p>
          <a:p>
            <a:pPr marL="0" indent="0">
              <a:buNone/>
            </a:pPr>
            <a:r>
              <a:rPr lang="en-US" altLang="en-US" dirty="0"/>
              <a:t>	OP</a:t>
            </a:r>
            <a:r>
              <a:rPr lang="en-US" altLang="en-US" sz="1700" dirty="0"/>
              <a:t>x1 </a:t>
            </a:r>
            <a:r>
              <a:rPr lang="en-US" altLang="en-US" sz="3100" dirty="0"/>
              <a:t>= $10, 464 / $5,834,400  = 0.18%</a:t>
            </a:r>
          </a:p>
          <a:p>
            <a:pPr marL="0" indent="0">
              <a:buNone/>
            </a:pPr>
            <a:r>
              <a:rPr lang="en-US" altLang="en-US" sz="3100" dirty="0"/>
              <a:t>	</a:t>
            </a:r>
            <a:r>
              <a:rPr lang="en-US" altLang="en-US" sz="2800" dirty="0"/>
              <a:t> OP</a:t>
            </a:r>
            <a:r>
              <a:rPr lang="en-US" altLang="en-US" sz="1700" dirty="0"/>
              <a:t>x0 </a:t>
            </a:r>
            <a:r>
              <a:rPr lang="en-US" altLang="en-US" sz="3100" dirty="0"/>
              <a:t>= $125,460 / $3,432,000  = 3.66%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</a:p>
          <a:p>
            <a:pPr marL="0" indent="0">
              <a:buNone/>
            </a:pPr>
            <a:r>
              <a:rPr lang="en-US" altLang="en-US" dirty="0"/>
              <a:t>                        </a:t>
            </a:r>
          </a:p>
          <a:p>
            <a:pPr marL="0" indent="0">
              <a:buNone/>
            </a:pPr>
            <a:r>
              <a:rPr lang="en-US" altLang="en-US" dirty="0"/>
              <a:t>        </a:t>
            </a:r>
          </a:p>
          <a:p>
            <a:pPr marL="0" indent="0">
              <a:buNone/>
            </a:pPr>
            <a:r>
              <a:rPr lang="en-US" altLang="en-US" dirty="0"/>
              <a:t>How do you suppose investors reacted?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09ECC-4007-D7F1-035C-EB261EC6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5263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Capital Requirement Ratio</a:t>
            </a:r>
            <a:endParaRPr lang="en-US" altLang="en-US" dirty="0"/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47561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Capital requirement (CR):</a:t>
            </a:r>
          </a:p>
          <a:p>
            <a:pPr marL="0" indent="0">
              <a:buNone/>
            </a:pPr>
            <a:r>
              <a:rPr lang="en-US" dirty="0"/>
              <a:t>   =(amount of operating capital needed to generate a $ of sales)	</a:t>
            </a:r>
          </a:p>
          <a:p>
            <a:pPr marL="0" indent="0">
              <a:buNone/>
            </a:pPr>
            <a:r>
              <a:rPr lang="en-US" dirty="0"/>
              <a:t>	CR</a:t>
            </a:r>
            <a:r>
              <a:rPr lang="en-US" altLang="en-US" dirty="0"/>
              <a:t> ratio= Total Op. Capital / Sales</a:t>
            </a:r>
          </a:p>
          <a:p>
            <a:pPr marL="0" indent="0">
              <a:buNone/>
            </a:pPr>
            <a:r>
              <a:rPr lang="en-US" altLang="en-US" dirty="0"/>
              <a:t>	CR</a:t>
            </a:r>
            <a:r>
              <a:rPr lang="en-US" altLang="en-US" sz="1700" dirty="0"/>
              <a:t>x1 </a:t>
            </a:r>
            <a:r>
              <a:rPr lang="en-US" altLang="en-US" sz="3100" dirty="0"/>
              <a:t>= $2,257,632 / $5,834,400  = 38.70%</a:t>
            </a:r>
          </a:p>
          <a:p>
            <a:pPr marL="0" indent="0">
              <a:buNone/>
            </a:pPr>
            <a:r>
              <a:rPr lang="en-US" altLang="en-US" sz="3100" dirty="0"/>
              <a:t>	</a:t>
            </a:r>
            <a:r>
              <a:rPr lang="en-US" altLang="en-US" sz="2800" dirty="0"/>
              <a:t>CR</a:t>
            </a:r>
            <a:r>
              <a:rPr lang="en-US" altLang="en-US" sz="1700" dirty="0"/>
              <a:t>x0 </a:t>
            </a:r>
            <a:r>
              <a:rPr lang="en-US" altLang="en-US" sz="3100" dirty="0"/>
              <a:t>= $1,138,600 / $3,432,000  = 33.18%</a:t>
            </a:r>
          </a:p>
          <a:p>
            <a:r>
              <a:rPr lang="en-US" dirty="0"/>
              <a:t>Went up, which means capital utilization worsened.</a:t>
            </a:r>
          </a:p>
          <a:p>
            <a:pPr marL="0" indent="0">
              <a:buNone/>
            </a:pPr>
            <a:r>
              <a:rPr lang="en-US" altLang="en-US" dirty="0"/>
              <a:t>	(More Capital needed to generate a $ in sales)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09ECC-4007-D7F1-035C-EB261EC6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4660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Return on Invested Capital (ROIC)</a:t>
            </a:r>
          </a:p>
        </p:txBody>
      </p:sp>
      <p:sp>
        <p:nvSpPr>
          <p:cNvPr id="45060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ROIC = NOPAT / operating capital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ROIC</a:t>
            </a:r>
            <a:r>
              <a:rPr lang="en-US" altLang="en-US" baseline="-25000" dirty="0"/>
              <a:t>20x1</a:t>
            </a:r>
            <a:r>
              <a:rPr lang="en-US" altLang="en-US" dirty="0"/>
              <a:t> = $10,464 / $2,257,632 = 0.5%.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 sz="3000" dirty="0"/>
              <a:t>ROIC</a:t>
            </a:r>
            <a:r>
              <a:rPr lang="en-US" altLang="en-US" sz="3000" baseline="-25000" dirty="0"/>
              <a:t>20x0</a:t>
            </a:r>
            <a:r>
              <a:rPr lang="en-US" altLang="en-US" sz="3000" dirty="0"/>
              <a:t> = $125,460 / $1,138,600 =11.0%.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FB490-4E84-200D-4AE6-18CFC31C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100647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Firm’s cost of capital = 10%.  </a:t>
            </a:r>
            <a:br>
              <a:rPr lang="en-US" altLang="en-US" dirty="0"/>
            </a:br>
            <a:r>
              <a:rPr lang="en-US" altLang="en-US" dirty="0"/>
              <a:t>Did growth add value?</a:t>
            </a:r>
          </a:p>
        </p:txBody>
      </p:sp>
      <p:sp>
        <p:nvSpPr>
          <p:cNvPr id="46084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24400"/>
          </a:xfrm>
        </p:spPr>
        <p:txBody>
          <a:bodyPr/>
          <a:lstStyle/>
          <a:p>
            <a:r>
              <a:rPr lang="en-US" altLang="en-US" dirty="0"/>
              <a:t>No.  </a:t>
            </a:r>
          </a:p>
          <a:p>
            <a:pPr lvl="1"/>
            <a:r>
              <a:rPr lang="en-US" altLang="en-US" dirty="0"/>
              <a:t>ROIC                    vs.                    WACC.  </a:t>
            </a:r>
          </a:p>
          <a:p>
            <a:pPr lvl="1"/>
            <a:r>
              <a:rPr lang="en-US" altLang="en-US" dirty="0"/>
              <a:t>Investors did not get return required.</a:t>
            </a:r>
          </a:p>
          <a:p>
            <a:r>
              <a:rPr lang="en-US" altLang="en-US" dirty="0"/>
              <a:t>Note: High growth usually causes negative FCF (due to investment in capital)</a:t>
            </a:r>
          </a:p>
          <a:p>
            <a:pPr lvl="1"/>
            <a:r>
              <a:rPr lang="en-US" altLang="en-US" dirty="0"/>
              <a:t> ok if ROIC &gt; WACC.  </a:t>
            </a:r>
          </a:p>
          <a:p>
            <a:pPr lvl="1"/>
            <a:r>
              <a:rPr lang="en-US" altLang="en-US" dirty="0"/>
              <a:t>i.e.: Qualcomm had high growth, negative FCF, but a high ROIC.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A93E5-B543-BE17-5A18-36806E69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Economic Value Added (EVA)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idx="1"/>
          </p:nvPr>
        </p:nvSpPr>
        <p:spPr>
          <a:xfrm>
            <a:off x="304800" y="1676399"/>
            <a:ext cx="8534400" cy="46799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dirty="0"/>
              <a:t>=Estimate of business’s true economic profit for yr. which differs from acctg income.</a:t>
            </a:r>
          </a:p>
          <a:p>
            <a:r>
              <a:rPr lang="en-US" altLang="en-US" dirty="0"/>
              <a:t>EVA = residual income that remains after cost of all capital (incl. equity capital) deducted from Net Operating Profit After-Tax (NOPAT), </a:t>
            </a:r>
          </a:p>
          <a:p>
            <a:r>
              <a:rPr lang="en-US" altLang="en-US" dirty="0"/>
              <a:t>whereas, </a:t>
            </a:r>
          </a:p>
          <a:p>
            <a:pPr lvl="1"/>
            <a:r>
              <a:rPr lang="en-US" altLang="en-US" dirty="0"/>
              <a:t>Acctg Income does not consider cost of equity capital, only debt.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75258A-DBFB-9BBC-8227-75CAD143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Economic Value Added (EVA) =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= NOPAT- (After-tax Cost of Capital)</a:t>
            </a:r>
          </a:p>
          <a:p>
            <a:pPr marL="0" indent="0">
              <a:buNone/>
            </a:pPr>
            <a:r>
              <a:rPr lang="en-US" dirty="0"/>
              <a:t>= NOPAT- ($ Total Op. Cap)(% Cost of Captl)</a:t>
            </a:r>
          </a:p>
          <a:p>
            <a:pPr marL="0" indent="0">
              <a:buNone/>
            </a:pPr>
            <a:r>
              <a:rPr lang="en-US" dirty="0"/>
              <a:t>= NOPAT – ($ Op. Cap)(WACC)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WACC is wtd. ave. cost of capital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EA1ADA-4D09-9B61-AD4E-D257088A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Economic Value Added (EVA)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EVA = NOPAT- (After-tax Cost of Capital)</a:t>
            </a:r>
          </a:p>
          <a:p>
            <a:pPr marL="0" indent="0">
              <a:buNone/>
            </a:pPr>
            <a:r>
              <a:rPr lang="en-US" altLang="en-US" dirty="0"/>
              <a:t>EVA = NOPAT- (Total Capital)(WACC)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Where WACC is wtd. ave. cost of capital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42CE4-946D-386F-E420-E051E815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Economic Value Added (WACC = 10% for both years)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EVA 	= NOPAT- (WACC)($ Op.Capital)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EVA</a:t>
            </a:r>
            <a:r>
              <a:rPr lang="en-US" altLang="en-US" sz="2800" baseline="-25000" dirty="0"/>
              <a:t>20x1</a:t>
            </a:r>
            <a:r>
              <a:rPr lang="en-US" altLang="en-US" sz="2800" dirty="0"/>
              <a:t> 	= $10,464 - (0.1)($2,257,632)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	= $10,464 - $225,763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	= -$215,299.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EVA</a:t>
            </a:r>
            <a:r>
              <a:rPr lang="en-US" altLang="en-US" sz="2800" baseline="-25000" dirty="0"/>
              <a:t>20x0</a:t>
            </a:r>
            <a:r>
              <a:rPr lang="en-US" altLang="en-US" sz="2800" dirty="0"/>
              <a:t>	= $125,460 - (0.10)($1,138,600)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	= $125,460 - $113,860</a:t>
            </a:r>
          </a:p>
          <a:p>
            <a:pPr marL="0" indent="0" eaLnBrk="1" hangingPunct="1">
              <a:lnSpc>
                <a:spcPct val="110000"/>
              </a:lnSpc>
              <a:buClrTx/>
              <a:buSzTx/>
              <a:buFontTx/>
              <a:buNone/>
              <a:tabLst>
                <a:tab pos="1322388" algn="l"/>
              </a:tabLst>
            </a:pPr>
            <a:r>
              <a:rPr lang="en-US" altLang="en-US" sz="2800" dirty="0"/>
              <a:t>	= $11,600.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0A82D-14D2-66CD-2FB9-F4BAF046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Stock Price &amp; Other Data</a:t>
            </a:r>
          </a:p>
        </p:txBody>
      </p:sp>
      <p:graphicFrame>
        <p:nvGraphicFramePr>
          <p:cNvPr id="284738" name="Group 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369277"/>
              </p:ext>
            </p:extLst>
          </p:nvPr>
        </p:nvGraphicFramePr>
        <p:xfrm>
          <a:off x="628650" y="1825625"/>
          <a:ext cx="7886698" cy="4876801"/>
        </p:xfrm>
        <a:graphic>
          <a:graphicData uri="http://schemas.openxmlformats.org/drawingml/2006/table">
            <a:tbl>
              <a:tblPr/>
              <a:tblGrid>
                <a:gridCol w="388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20x1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 price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$8.50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$6.00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# of shares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EPS=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 / (# shs o/s)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$0.88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-$0.95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50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DPS=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Divs / (# shs o/s)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$0.22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$0.11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D68A2C-C71C-4AF9-365B-2927ADF6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Market Value Added (MVA)</a:t>
            </a:r>
          </a:p>
        </p:txBody>
      </p:sp>
      <p:sp>
        <p:nvSpPr>
          <p:cNvPr id="52228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MVA = Market Value of Firm - Book Value of Firm</a:t>
            </a:r>
          </a:p>
          <a:p>
            <a:r>
              <a:rPr lang="en-US" altLang="en-US" dirty="0"/>
              <a:t>Market Value = (# shares of stock)(price per share) + Value of debt</a:t>
            </a:r>
          </a:p>
          <a:p>
            <a:r>
              <a:rPr lang="en-US" altLang="en-US" dirty="0"/>
              <a:t>Book Value = Total common equity + Value of debt</a:t>
            </a:r>
          </a:p>
          <a:p>
            <a:r>
              <a:rPr lang="en-US" altLang="en-US" dirty="0"/>
              <a:t>Debt offsets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C9196-B6BB-E4B3-62FE-EEC539BD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Market Value Added (MVA)</a:t>
            </a:r>
          </a:p>
        </p:txBody>
      </p:sp>
      <p:sp>
        <p:nvSpPr>
          <p:cNvPr id="53252" name="Rectangle 1030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574088" cy="4611688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/>
              <a:t>MVA =Difference between market value of a firm’s stock &amp; amount of Equity capital supplied by Shareholders.</a:t>
            </a:r>
          </a:p>
          <a:p>
            <a:pPr eaLnBrk="1" hangingPunct="1"/>
            <a:r>
              <a:rPr lang="en-US" altLang="en-US" dirty="0"/>
              <a:t> Greater MVA, greater value generated for stockholders. </a:t>
            </a:r>
          </a:p>
          <a:p>
            <a:pPr eaLnBrk="1" hangingPunct="1"/>
            <a:r>
              <a:rPr lang="en-US" altLang="en-US" dirty="0"/>
              <a:t>MVA=Market Value of Equity - Book Value of Equity</a:t>
            </a:r>
          </a:p>
          <a:p>
            <a:pPr eaLnBrk="1" hangingPunct="1"/>
            <a:r>
              <a:rPr lang="en-US" altLang="en-US" dirty="0"/>
              <a:t>MV reflects:</a:t>
            </a:r>
          </a:p>
          <a:p>
            <a:pPr lvl="1"/>
            <a:r>
              <a:rPr lang="en-US" altLang="en-US" dirty="0"/>
              <a:t> while BV represents: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7B57F-FB5D-7A0E-CF86-8B68A6E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MVA (Continued)</a:t>
            </a:r>
          </a:p>
        </p:txBody>
      </p:sp>
      <p:sp>
        <p:nvSpPr>
          <p:cNvPr id="54276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If market value of debt is close to book value of debt, then MVA is: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MVA = </a:t>
            </a:r>
          </a:p>
          <a:p>
            <a:pPr marL="342900" lvl="1" indent="0">
              <a:buNone/>
            </a:pPr>
            <a:r>
              <a:rPr lang="en-US" altLang="en-US" dirty="0"/>
              <a:t>*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17ACF-D134-662B-ED91-E6A0B1D4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102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20x1 MVA  (Assume market value of debt = book value of debt.)</a:t>
            </a:r>
          </a:p>
        </p:txBody>
      </p:sp>
      <p:sp>
        <p:nvSpPr>
          <p:cNvPr id="55300" name="Rectangle 10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Market Value of Equity 20x1:</a:t>
            </a:r>
          </a:p>
          <a:p>
            <a:pPr lvl="1"/>
            <a:r>
              <a:rPr lang="en-US" altLang="en-US" dirty="0"/>
              <a:t>(100,000)($6.00) = $600,000.</a:t>
            </a:r>
          </a:p>
          <a:p>
            <a:r>
              <a:rPr lang="en-US" altLang="en-US" dirty="0"/>
              <a:t>Book Value of Equity 20x1:</a:t>
            </a:r>
          </a:p>
          <a:p>
            <a:pPr lvl="1"/>
            <a:r>
              <a:rPr lang="en-US" altLang="en-US" dirty="0"/>
              <a:t>$557,632.</a:t>
            </a:r>
          </a:p>
          <a:p>
            <a:r>
              <a:rPr lang="en-US" altLang="en-US" dirty="0"/>
              <a:t>MVA20x1 = $600,000 - $557,632 = $42,368.</a:t>
            </a:r>
          </a:p>
          <a:p>
            <a:r>
              <a:rPr lang="en-US" altLang="en-US" dirty="0"/>
              <a:t>MVA20x0 = $850,000 - $663,768 = $186,232.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32409C-960E-0D91-8095-5F0734E9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FC2D-702A-44AD-3153-856D513B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TAXES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7004-5F30-FF8C-6CF5-A220BAE3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/>
              <a:t>Key Features of</a:t>
            </a:r>
          </a:p>
          <a:p>
            <a:pPr algn="ctr"/>
            <a:r>
              <a:rPr lang="en-US" sz="5400" u="sng" dirty="0"/>
              <a:t>Corporate </a:t>
            </a:r>
          </a:p>
          <a:p>
            <a:pPr algn="ctr"/>
            <a:r>
              <a:rPr lang="en-US" sz="5400" u="sng" dirty="0"/>
              <a:t>Individual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B6D56-5547-6B7B-A7C0-D75E2532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5136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FC2D-702A-44AD-3153-856D513B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TAXES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7004-5F30-FF8C-6CF5-A220BAE3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/>
              <a:t>Corporate Taxes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B6D56-5547-6B7B-A7C0-D75E2532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562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Interest vs. Dividend Payments Paid by  Corporation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corporation </a:t>
            </a:r>
            <a:r>
              <a:rPr lang="en-US" dirty="0">
                <a:solidFill>
                  <a:srgbClr val="EB0000"/>
                </a:solidFill>
              </a:rPr>
              <a:t>can deduct interest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payments to its creditors, subject to 30% limitation.</a:t>
            </a:r>
          </a:p>
          <a:p>
            <a:pPr lvl="0"/>
            <a:r>
              <a:rPr lang="en-US" dirty="0"/>
              <a:t>A corporation </a:t>
            </a:r>
            <a:r>
              <a:rPr lang="en-US" dirty="0">
                <a:solidFill>
                  <a:srgbClr val="EB0000"/>
                </a:solidFill>
              </a:rPr>
              <a:t>cannot deduct dividend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payments to its shareholders.</a:t>
            </a:r>
          </a:p>
          <a:p>
            <a:pPr lvl="0"/>
            <a:r>
              <a:rPr lang="en-US" dirty="0"/>
              <a:t>Because of tax treatments, companies have incentives to finance with debt instead of equity.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DF2A2-48DC-801E-4E16-E717E68C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15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Corporate Taxes on Investments in Financial Securities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Many Corps. earn investment income from: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Interest payments received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Capital gains from sales of financial securities.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Dividends received from stock ownership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B1676-2999-22EA-C080-18D083D1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932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282F7C"/>
                </a:solidFill>
              </a:rPr>
              <a:t>Tax on Interest Income </a:t>
            </a:r>
            <a:r>
              <a:rPr lang="en-US" dirty="0">
                <a:solidFill>
                  <a:srgbClr val="EB0000"/>
                </a:solidFill>
              </a:rPr>
              <a:t>Received</a:t>
            </a:r>
            <a:r>
              <a:rPr lang="en-US" dirty="0">
                <a:solidFill>
                  <a:srgbClr val="282F7C"/>
                </a:solidFill>
              </a:rPr>
              <a:t> by a Corporation 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interest income earned by a corporation is taxed at 21%.</a:t>
            </a:r>
          </a:p>
          <a:p>
            <a:r>
              <a:rPr lang="en-US" dirty="0"/>
              <a:t>Interest income can be earned from:</a:t>
            </a:r>
          </a:p>
          <a:p>
            <a:pPr lvl="1"/>
            <a:r>
              <a:rPr lang="en-US" dirty="0"/>
              <a:t>Deposits at banks.</a:t>
            </a:r>
          </a:p>
          <a:p>
            <a:pPr lvl="1"/>
            <a:r>
              <a:rPr lang="en-US" dirty="0"/>
              <a:t>Deposits at Savings &amp; Loans.</a:t>
            </a:r>
          </a:p>
          <a:p>
            <a:pPr lvl="1"/>
            <a:r>
              <a:rPr lang="en-US" dirty="0"/>
              <a:t>Money market accounts.</a:t>
            </a:r>
          </a:p>
          <a:p>
            <a:pPr lvl="1"/>
            <a:r>
              <a:rPr lang="en-US" dirty="0"/>
              <a:t>Ownership of another corporation’s bonds.</a:t>
            </a:r>
          </a:p>
          <a:p>
            <a:pPr lvl="1"/>
            <a:r>
              <a:rPr lang="en-US" dirty="0"/>
              <a:t>U.S. Treasury bonds.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C7E99-E963-31A1-13B6-33563988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493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Tax on Corporation’s Capital Gains from Selling Financial Securities It Owns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Capital gain on financial investments: 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gain or loss = Purchase price − sales price.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Tax is based on sum of all net gains or losses from all investments that are sold.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21% tax on short-term gain ( owned &lt; 1 year) or long-term gain.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21% tax on long-term gain ( owned ≧ 1 year) or long-term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20315-4E80-DB7F-86A0-70D38B98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003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282F7C"/>
                </a:solidFill>
              </a:rPr>
              <a:t>Corporate Tax on Dividends </a:t>
            </a:r>
            <a:r>
              <a:rPr lang="en-US" dirty="0">
                <a:solidFill>
                  <a:srgbClr val="EB0000"/>
                </a:solidFill>
              </a:rPr>
              <a:t>Received</a:t>
            </a:r>
            <a:r>
              <a:rPr lang="en-US" dirty="0">
                <a:solidFill>
                  <a:srgbClr val="282F7C"/>
                </a:solidFill>
              </a:rPr>
              <a:t> from Another Company (1 of 4)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a company owns shares of stock in another company that pays dividends.</a:t>
            </a:r>
          </a:p>
          <a:p>
            <a:r>
              <a:rPr lang="en-US" dirty="0"/>
              <a:t>original company pays taxes on its income &amp; then pays a dividend from its after-tax income.</a:t>
            </a:r>
          </a:p>
          <a:p>
            <a:r>
              <a:rPr lang="en-US" dirty="0"/>
              <a:t>second company adds dividend it receives to its taxable income &amp; then pays taxes.</a:t>
            </a:r>
          </a:p>
          <a:p>
            <a:pPr marL="0" indent="0" algn="r">
              <a:spcBef>
                <a:spcPts val="2250"/>
              </a:spcBef>
              <a:buNone/>
            </a:pPr>
            <a:endParaRPr lang="en-US" b="1" dirty="0">
              <a:latin typeface="Times New Roman" pitchFamily="18" charset="0"/>
            </a:endParaRPr>
          </a:p>
          <a:p>
            <a:pPr marL="0" indent="0" algn="r">
              <a:spcBef>
                <a:spcPts val="1350"/>
              </a:spcBef>
              <a:buNone/>
            </a:pPr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(More . 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63F1-1A05-36F3-5C85-BD8FBD12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738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543800" cy="913085"/>
          </a:xfrm>
        </p:spPr>
        <p:txBody>
          <a:bodyPr>
            <a:normAutofit fontScale="90000"/>
          </a:bodyPr>
          <a:lstStyle/>
          <a:p>
            <a:r>
              <a:rPr lang="en-US" dirty="0"/>
              <a:t>Corporate Tax on Dividends Received </a:t>
            </a:r>
            <a:r>
              <a:rPr lang="en-US" dirty="0">
                <a:solidFill>
                  <a:srgbClr val="282F7C"/>
                </a:solidFill>
              </a:rPr>
              <a:t>(2 of 4)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second time that a portion of original company’s dividend is taxed.</a:t>
            </a:r>
          </a:p>
          <a:p>
            <a:pPr lvl="1"/>
            <a:r>
              <a:rPr lang="en-US" dirty="0"/>
              <a:t>Taxed as part of original company’s income</a:t>
            </a:r>
          </a:p>
          <a:p>
            <a:pPr lvl="1"/>
            <a:r>
              <a:rPr lang="en-US" dirty="0"/>
              <a:t>Taxed as part of second company’s income</a:t>
            </a:r>
          </a:p>
          <a:p>
            <a:r>
              <a:rPr lang="en-US" dirty="0"/>
              <a:t>Suppose second company pays a dividend to its shareholders.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E214E-03D9-5F5A-BCAB-96E41CEB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931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52400"/>
            <a:ext cx="7543800" cy="913085"/>
          </a:xfrm>
        </p:spPr>
        <p:txBody>
          <a:bodyPr>
            <a:normAutofit fontScale="90000"/>
          </a:bodyPr>
          <a:lstStyle/>
          <a:p>
            <a:r>
              <a:rPr lang="en-US" dirty="0"/>
              <a:t>Corporate Tax on Dividends Received </a:t>
            </a:r>
            <a:r>
              <a:rPr lang="en-US" dirty="0">
                <a:solidFill>
                  <a:srgbClr val="282F7C"/>
                </a:solidFill>
              </a:rPr>
              <a:t>(3 of 4)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second company’s shareholders receive dividend &amp; then pay taxes on it.</a:t>
            </a:r>
          </a:p>
          <a:p>
            <a:r>
              <a:rPr lang="en-US" dirty="0"/>
              <a:t>This is third time that a portion of original company’s dividend is taxed.</a:t>
            </a:r>
          </a:p>
          <a:p>
            <a:pPr lvl="1"/>
            <a:r>
              <a:rPr lang="en-US" dirty="0"/>
              <a:t>Taxed as part of original company’s income</a:t>
            </a:r>
          </a:p>
          <a:p>
            <a:pPr lvl="1"/>
            <a:r>
              <a:rPr lang="en-US" dirty="0"/>
              <a:t>Taxed as part of second company’s income</a:t>
            </a:r>
          </a:p>
          <a:p>
            <a:pPr lvl="1"/>
            <a:r>
              <a:rPr lang="en-US" dirty="0"/>
              <a:t>Taxed as part of second company’s shareholders’ taxable income.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D7986-B0CF-DFB8-9AC8-9DB97E65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289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04800"/>
            <a:ext cx="7810500" cy="913085"/>
          </a:xfrm>
        </p:spPr>
        <p:txBody>
          <a:bodyPr>
            <a:normAutofit fontScale="90000"/>
          </a:bodyPr>
          <a:lstStyle/>
          <a:p>
            <a:r>
              <a:rPr lang="en-US" dirty="0"/>
              <a:t>Corporate Tax on Dividends Received </a:t>
            </a:r>
            <a:br>
              <a:rPr lang="en-US" dirty="0"/>
            </a:br>
            <a:r>
              <a:rPr lang="en-US" dirty="0">
                <a:solidFill>
                  <a:srgbClr val="282F7C"/>
                </a:solidFill>
              </a:rPr>
              <a:t>(4 of 4)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mitigate </a:t>
            </a:r>
            <a:r>
              <a:rPr lang="en-US" dirty="0">
                <a:solidFill>
                  <a:srgbClr val="EB0000"/>
                </a:solidFill>
              </a:rPr>
              <a:t>triple taxation of dividends</a:t>
            </a:r>
            <a:r>
              <a:rPr lang="en-US" dirty="0"/>
              <a:t>, second company can exclude:</a:t>
            </a:r>
          </a:p>
          <a:p>
            <a:pPr lvl="1"/>
            <a:r>
              <a:rPr lang="en-US" dirty="0"/>
              <a:t>50% of dividends it receives when calculating its own taxable income.</a:t>
            </a:r>
          </a:p>
          <a:p>
            <a:pPr lvl="1"/>
            <a:r>
              <a:rPr lang="en-US" dirty="0"/>
              <a:t>Remainder is taxed at 21%.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381D2-F7BF-D72B-79ED-4FF24B9B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62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After-Tax Dividends vs. After-Tax Interest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Amount to invest: $40 million.</a:t>
            </a:r>
          </a:p>
          <a:p>
            <a:r>
              <a:rPr lang="en-US" dirty="0"/>
              <a:t>Alternatives:</a:t>
            </a:r>
          </a:p>
          <a:p>
            <a:pPr lvl="1"/>
            <a:r>
              <a:rPr lang="en-US" dirty="0"/>
              <a:t>Bond paying 5.4% interest rate</a:t>
            </a:r>
          </a:p>
          <a:p>
            <a:pPr lvl="1"/>
            <a:r>
              <a:rPr lang="en-US" dirty="0"/>
              <a:t>Preferred stock paying 5% dividend rate. </a:t>
            </a:r>
          </a:p>
          <a:p>
            <a:r>
              <a:rPr lang="en-US" dirty="0"/>
              <a:t>corporate tax rate is 25%.</a:t>
            </a:r>
          </a:p>
          <a:p>
            <a:r>
              <a:rPr lang="en-US" dirty="0"/>
              <a:t>Which investment has higher after-tax return?</a:t>
            </a:r>
          </a:p>
          <a:p>
            <a:pPr marL="0" indent="0" algn="r">
              <a:spcBef>
                <a:spcPts val="450"/>
              </a:spcBef>
              <a:buNone/>
            </a:pPr>
            <a:endParaRPr lang="en-US" sz="15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>
              <a:spcBef>
                <a:spcPts val="450"/>
              </a:spcBef>
              <a:buNone/>
            </a:pPr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(More . 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1717B-D821-261C-F10B-566C9C34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559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After-Tax Interest (Continued)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After-tax </a:t>
            </a:r>
            <a:r>
              <a:rPr lang="en-US" dirty="0">
                <a:solidFill>
                  <a:srgbClr val="EB0000"/>
                </a:solidFill>
              </a:rPr>
              <a:t>interest</a:t>
            </a:r>
            <a:r>
              <a:rPr lang="en-US" dirty="0"/>
              <a:t> from bond:</a:t>
            </a:r>
          </a:p>
          <a:p>
            <a:pPr lvl="1"/>
            <a:r>
              <a:rPr lang="en-US" dirty="0"/>
              <a:t>Pre-tax interest = 5.4%($40)</a:t>
            </a:r>
          </a:p>
          <a:p>
            <a:pPr marL="2125980" lvl="1" indent="-2125980">
              <a:buNone/>
            </a:pPr>
            <a:r>
              <a:rPr lang="en-US" dirty="0"/>
              <a:t>	= $2.16 million</a:t>
            </a:r>
          </a:p>
          <a:p>
            <a:pPr lvl="1"/>
            <a:r>
              <a:rPr lang="en-US" dirty="0"/>
              <a:t>Tax on interest = $2.16(0.25) = $0.54 million</a:t>
            </a:r>
          </a:p>
          <a:p>
            <a:pPr lvl="1"/>
            <a:r>
              <a:rPr lang="en-US" dirty="0"/>
              <a:t>After-tax interest = $2.16 − $0.54</a:t>
            </a:r>
          </a:p>
          <a:p>
            <a:pPr marL="2297430" lvl="1" indent="-2297430">
              <a:buNone/>
            </a:pPr>
            <a:r>
              <a:rPr lang="en-US" dirty="0"/>
              <a:t>	= $1.62 million</a:t>
            </a:r>
          </a:p>
          <a:p>
            <a:pPr marL="2297430" lvl="1" indent="-2297430" algn="r">
              <a:spcBef>
                <a:spcPts val="1500"/>
              </a:spcBef>
              <a:buNone/>
            </a:pPr>
            <a:endParaRPr lang="en-US" sz="15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97430" lvl="1" indent="-2297430" algn="r">
              <a:spcBef>
                <a:spcPts val="450"/>
              </a:spcBef>
              <a:buNone/>
            </a:pPr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(More . 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F6096-206E-EA09-AD10-5722EB1B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5603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After-Tax Dividends (Continued)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After-tax dividend from stock:</a:t>
            </a:r>
          </a:p>
          <a:p>
            <a:pPr lvl="1"/>
            <a:r>
              <a:rPr lang="en-US" dirty="0"/>
              <a:t>Pre-tax dividend = 5.0%($40)</a:t>
            </a:r>
          </a:p>
          <a:p>
            <a:pPr marL="2228850" lvl="1" indent="-2228850">
              <a:buNone/>
            </a:pPr>
            <a:r>
              <a:rPr lang="en-US" dirty="0"/>
              <a:t>	= $2.0 million</a:t>
            </a:r>
          </a:p>
          <a:p>
            <a:pPr lvl="1"/>
            <a:r>
              <a:rPr lang="en-US" dirty="0"/>
              <a:t>Tax on dividend = $2.0(1 − 0.5)(0.25)</a:t>
            </a:r>
          </a:p>
          <a:p>
            <a:pPr marL="2160270" lvl="1" indent="-2160270">
              <a:buNone/>
            </a:pPr>
            <a:r>
              <a:rPr lang="en-US" dirty="0"/>
              <a:t>	= $0.25 million</a:t>
            </a:r>
          </a:p>
          <a:p>
            <a:pPr lvl="1"/>
            <a:r>
              <a:rPr lang="en-US" dirty="0"/>
              <a:t>After-tax dividend = $2.0 − $0.25</a:t>
            </a:r>
          </a:p>
          <a:p>
            <a:pPr marL="2366010" lvl="1" indent="-2366010">
              <a:buNone/>
            </a:pPr>
            <a:r>
              <a:rPr lang="en-US" dirty="0"/>
              <a:t>	= $1.75 million</a:t>
            </a:r>
          </a:p>
          <a:p>
            <a:pPr marL="2366010" lvl="1" indent="-2366010" algn="r">
              <a:spcBef>
                <a:spcPts val="1050"/>
              </a:spcBef>
              <a:buNone/>
            </a:pPr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(More . 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D59F-A40E-4D7B-6838-A73A8760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833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E1FD-29C8-4138-B6A7-F7B1775D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Pre-Tax Payments vs. After-Tax Payments (Continued)</a:t>
            </a:r>
            <a:endParaRPr lang="en-IN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4C2B8334-3815-419C-A8F4-EC35526E5C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7187" y="2226469"/>
          <a:ext cx="8431435" cy="10287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0837">
                  <a:extLst>
                    <a:ext uri="{9D8B030D-6E8A-4147-A177-3AD203B41FA5}">
                      <a16:colId xmlns:a16="http://schemas.microsoft.com/office/drawing/2014/main" val="1645480283"/>
                    </a:ext>
                  </a:extLst>
                </a:gridCol>
                <a:gridCol w="3261215">
                  <a:extLst>
                    <a:ext uri="{9D8B030D-6E8A-4147-A177-3AD203B41FA5}">
                      <a16:colId xmlns:a16="http://schemas.microsoft.com/office/drawing/2014/main" val="926813634"/>
                    </a:ext>
                  </a:extLst>
                </a:gridCol>
                <a:gridCol w="3579383">
                  <a:extLst>
                    <a:ext uri="{9D8B030D-6E8A-4147-A177-3AD203B41FA5}">
                      <a16:colId xmlns:a16="http://schemas.microsoft.com/office/drawing/2014/main" val="28281217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/>
                        <a:t>Pre-tax Pmt.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/>
                        <a:t>After-tax Pmt.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4969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Bond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$2.16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$1.62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62795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Stock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$2.00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   $1.75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579682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1A968-5746-4013-9640-65B1A4122F7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5377" y="3429001"/>
            <a:ext cx="8433692" cy="2020728"/>
          </a:xfrm>
        </p:spPr>
        <p:txBody>
          <a:bodyPr/>
          <a:lstStyle/>
          <a:p>
            <a:r>
              <a:rPr lang="en-US" dirty="0"/>
              <a:t>preferred stock has a lower pre-tax payment than bond.</a:t>
            </a:r>
          </a:p>
          <a:p>
            <a:r>
              <a:rPr lang="en-US" dirty="0"/>
              <a:t>But dividend exclusion provision makes stock’s after-tax payment greater than bond’s after-tax payment.</a:t>
            </a:r>
          </a:p>
        </p:txBody>
      </p:sp>
    </p:spTree>
    <p:extLst>
      <p:ext uri="{BB962C8B-B14F-4D97-AF65-F5344CB8AC3E}">
        <p14:creationId xmlns:p14="http://schemas.microsoft.com/office/powerpoint/2010/main" val="1730101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B712-A374-49CD-AC5C-7DC10F00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Corporate Tax on Interest &amp; Dividends: Comprehensive Application (1 of 2)</a:t>
            </a:r>
            <a:endParaRPr lang="en-IN" dirty="0">
              <a:solidFill>
                <a:srgbClr val="282F7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3FD05-559C-4272-9D44-192BAE02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corporation has:</a:t>
            </a:r>
          </a:p>
          <a:p>
            <a:pPr lvl="1"/>
            <a:r>
              <a:rPr lang="en-US" dirty="0"/>
              <a:t>$166 million of taxable income from operations</a:t>
            </a:r>
          </a:p>
          <a:p>
            <a:pPr lvl="1"/>
            <a:r>
              <a:rPr lang="en-US" dirty="0"/>
              <a:t>$20 million of interest expense</a:t>
            </a:r>
          </a:p>
          <a:p>
            <a:pPr lvl="1"/>
            <a:r>
              <a:rPr lang="en-US" dirty="0"/>
              <a:t>$28 million of dividend income</a:t>
            </a:r>
          </a:p>
          <a:p>
            <a:pPr lvl="1"/>
            <a:r>
              <a:rPr lang="en-US" dirty="0"/>
              <a:t>21% tax rate</a:t>
            </a:r>
          </a:p>
          <a:p>
            <a:pPr lvl="1"/>
            <a:r>
              <a:rPr lang="en-US" dirty="0"/>
              <a:t>50% dividend exclusion rate</a:t>
            </a:r>
          </a:p>
          <a:p>
            <a:r>
              <a:rPr lang="en-US" dirty="0"/>
              <a:t>How much Federal tax does it owe?</a:t>
            </a:r>
          </a:p>
          <a:p>
            <a:pPr marL="0" indent="0" algn="r">
              <a:buNone/>
            </a:pPr>
            <a:r>
              <a:rPr lang="en-US" sz="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(More . 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BE5A-371D-AB63-8197-0E90574B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138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E3DD-7FCB-40DB-8C58-14001780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Corporate Tax on Interest &amp; Dividends (2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FB58-3C10-4332-BE68-7A1F6D6AC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633" y="2315531"/>
            <a:ext cx="8431436" cy="342900"/>
          </a:xfrm>
        </p:spPr>
        <p:txBody>
          <a:bodyPr>
            <a:normAutofit fontScale="70000" lnSpcReduction="20000"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Taxable dividends received</a:t>
            </a:r>
            <a:endParaRPr lang="en-IN" dirty="0"/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C9C8A222-8B75-4363-B380-F61E79B50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 noChangeAspect="1"/>
          </p:cNvGraphicFramePr>
          <p:nvPr>
            <p:ph idx="10"/>
            <p:extLst>
              <p:ext uri="{D42A27DB-BD31-4B8C-83A1-F6EECF244321}">
                <p14:modId xmlns:p14="http://schemas.microsoft.com/office/powerpoint/2010/main" val="1739938971"/>
              </p:ext>
            </p:extLst>
          </p:nvPr>
        </p:nvGraphicFramePr>
        <p:xfrm>
          <a:off x="3810000" y="2334581"/>
          <a:ext cx="1047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406080" progId="Equation.DSMT4">
                  <p:embed/>
                </p:oleObj>
              </mc:Choice>
              <mc:Fallback>
                <p:oleObj name="Equation" r:id="rId2" imgW="1396800" imgH="4060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C9C8A222-8B75-4363-B380-F61E79B50823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0" y="2334581"/>
                        <a:ext cx="104775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BD9C08A-1555-497A-BBAE-67E770A1A75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917" y="2742935"/>
            <a:ext cx="342900" cy="342900"/>
          </a:xfrm>
        </p:spPr>
        <p:txBody>
          <a:bodyPr/>
          <a:lstStyle/>
          <a:p>
            <a:pPr algn="l"/>
            <a:r>
              <a:rPr lang="en-IN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710058D-0C82-463D-96F1-24A978A62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 noChangeAspect="1"/>
          </p:cNvGraphicFramePr>
          <p:nvPr>
            <p:ph idx="12"/>
          </p:nvPr>
        </p:nvGraphicFramePr>
        <p:xfrm>
          <a:off x="1022042" y="2758069"/>
          <a:ext cx="3467070" cy="70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22760" imgH="939600" progId="Equation.DSMT4">
                  <p:embed/>
                </p:oleObj>
              </mc:Choice>
              <mc:Fallback>
                <p:oleObj name="Equation" r:id="rId4" imgW="4622760" imgH="9396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710058D-0C82-463D-96F1-24A978A623FB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042" y="2758069"/>
                        <a:ext cx="3467070" cy="70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B856A6C-D8BB-47C0-8399-BF896A0BD3D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6283" y="3539921"/>
            <a:ext cx="8431435" cy="342900"/>
          </a:xfrm>
        </p:spPr>
        <p:txBody>
          <a:bodyPr>
            <a:normAutofit fontScale="70000" lnSpcReduction="20000"/>
          </a:bodyPr>
          <a:lstStyle/>
          <a:p>
            <a:pPr marL="257175" indent="-257175" algn="l">
              <a:buFont typeface="Arial" panose="020B0604020202020204" pitchFamily="34" charset="0"/>
              <a:buChar char="•"/>
            </a:pPr>
            <a:r>
              <a:rPr lang="en-US" dirty="0"/>
              <a:t>Taxable income</a:t>
            </a:r>
            <a:endParaRPr lang="en-IN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55FFBF8-5BF7-4FC9-9F4D-E505ECF3BE4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6917" y="3959974"/>
            <a:ext cx="342900" cy="342900"/>
          </a:xfrm>
        </p:spPr>
        <p:txBody>
          <a:bodyPr/>
          <a:lstStyle/>
          <a:p>
            <a:pPr algn="l"/>
            <a:r>
              <a:rPr lang="en-IN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D4DC699F-B2BC-44F1-B56D-E83B6C2A7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 noChangeAspect="1"/>
          </p:cNvGraphicFramePr>
          <p:nvPr>
            <p:ph idx="15"/>
          </p:nvPr>
        </p:nvGraphicFramePr>
        <p:xfrm>
          <a:off x="1022042" y="3967325"/>
          <a:ext cx="4257630" cy="628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76840" imgH="838080" progId="Equation.DSMT4">
                  <p:embed/>
                </p:oleObj>
              </mc:Choice>
              <mc:Fallback>
                <p:oleObj name="Equation" r:id="rId6" imgW="5676840" imgH="83808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D4DC699F-B2BC-44F1-B56D-E83B6C2A78E5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2042" y="3967325"/>
                        <a:ext cx="4257630" cy="628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5249FDB-544E-49B5-893B-49FDF3DA8F2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56283" y="4877421"/>
            <a:ext cx="8432786" cy="342900"/>
          </a:xfrm>
        </p:spPr>
        <p:txBody>
          <a:bodyPr>
            <a:normAutofit fontScale="70000" lnSpcReduction="20000"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Total tax = 21%($200) = $42</a:t>
            </a:r>
          </a:p>
        </p:txBody>
      </p:sp>
    </p:spTree>
    <p:extLst>
      <p:ext uri="{BB962C8B-B14F-4D97-AF65-F5344CB8AC3E}">
        <p14:creationId xmlns:p14="http://schemas.microsoft.com/office/powerpoint/2010/main" val="35495270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1078-7A66-4DD4-93F1-5A2D52AC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7886700" cy="913085"/>
          </a:xfrm>
        </p:spPr>
        <p:txBody>
          <a:bodyPr>
            <a:normAutofit fontScale="90000"/>
          </a:bodyPr>
          <a:lstStyle/>
          <a:p>
            <a:r>
              <a:rPr lang="en-US" dirty="0"/>
              <a:t>Tax on a U.S Company’s Foreign Profits (1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662C-7A4F-43F3-A542-CD7B6506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Foreign profits are: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Earned by subsidiary of U.S. company that is located overseas.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Taxed at subsidiary’s legal residence (e.g., Ireland because it has favorable tax laws)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C2920-B8B2-772C-6EB1-ABC64C06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0008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1078-7A66-4DD4-93F1-5A2D52AC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7886700" cy="913085"/>
          </a:xfrm>
        </p:spPr>
        <p:txBody>
          <a:bodyPr>
            <a:normAutofit fontScale="90000"/>
          </a:bodyPr>
          <a:lstStyle/>
          <a:p>
            <a:r>
              <a:rPr lang="en-US" dirty="0"/>
              <a:t>Tax on a U.S Company’s Foreign Profits (2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662C-7A4F-43F3-A542-CD7B6506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Foreign profits earned before 2018: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15.5% due on profits held in cash &amp; cash equivalents; 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8% due on profits invested elsewhere.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Payments to be spread out between 2018 &amp; 2025.</a:t>
            </a:r>
          </a:p>
          <a:p>
            <a:r>
              <a:rPr lang="en-US" dirty="0"/>
              <a:t>Foreign profits earned 2018 &amp; later:</a:t>
            </a:r>
          </a:p>
          <a:p>
            <a:pPr lvl="1">
              <a:spcBef>
                <a:spcPts val="750"/>
              </a:spcBef>
            </a:pPr>
            <a:r>
              <a:rPr lang="en-US" dirty="0"/>
              <a:t> No U.S. tax.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EAA7F-8F51-AF05-D3E9-C02ECA83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353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FC2D-702A-44AD-3153-856D513B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TAXES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7004-5F30-FF8C-6CF5-A220BAE3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u="sng" dirty="0"/>
              <a:t>Personal Taxes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B6D56-5547-6B7B-A7C0-D75E2532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761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Taxes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2017 Tax Cuts &amp; Jobs Act made changes to personal taxes for 2018-2025.</a:t>
            </a:r>
          </a:p>
          <a:p>
            <a:r>
              <a:rPr lang="en-US" dirty="0"/>
              <a:t>Unless Congress acts, these changes will expire &amp; personal tax code revert to its pre-TCJA form.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4C921-AA52-CF70-8CF2-BF66A505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420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Taxes: Terminology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Tax bracket:</a:t>
            </a:r>
          </a:p>
          <a:p>
            <a:pPr lvl="1"/>
            <a:r>
              <a:rPr lang="en-US" dirty="0"/>
              <a:t>Range of incomes taxed at same rate</a:t>
            </a:r>
          </a:p>
          <a:p>
            <a:r>
              <a:rPr lang="en-US" dirty="0"/>
              <a:t>Marginal tax rate:</a:t>
            </a:r>
          </a:p>
          <a:p>
            <a:pPr lvl="1"/>
            <a:r>
              <a:rPr lang="en-US" dirty="0"/>
              <a:t>Tax rate on additional dollar of a taxable income </a:t>
            </a:r>
          </a:p>
          <a:p>
            <a:r>
              <a:rPr lang="en-US" dirty="0"/>
              <a:t>Average tax rate:</a:t>
            </a:r>
          </a:p>
          <a:p>
            <a:pPr lvl="1"/>
            <a:r>
              <a:rPr lang="en-US" dirty="0"/>
              <a:t>Average tax rate = Tax </a:t>
            </a:r>
            <a:r>
              <a:rPr lang="en-US" dirty="0">
                <a:sym typeface="Symbol" panose="05050102010706020507" pitchFamily="18" charset="2"/>
              </a:rPr>
              <a:t></a:t>
            </a:r>
            <a:r>
              <a:rPr lang="en-US" dirty="0"/>
              <a:t> Taxable Income</a:t>
            </a:r>
          </a:p>
          <a:p>
            <a:r>
              <a:rPr lang="en-US" dirty="0"/>
              <a:t>Progressive tax rates:</a:t>
            </a:r>
          </a:p>
          <a:p>
            <a:pPr lvl="1"/>
            <a:r>
              <a:rPr lang="en-US" dirty="0"/>
              <a:t>Average tax rate goes up as income goes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F2388-F632-C7D9-B855-143EDCD8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496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Progressive Taxes with Seven Tax Brackets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of first bracket for 2022 is $10,275. Income below this is taxed at 10%. </a:t>
            </a:r>
          </a:p>
          <a:p>
            <a:r>
              <a:rPr lang="en-US" dirty="0"/>
              <a:t>bottom of last bracket is $539,900.        Income over this is taxed at a rate of 37%.</a:t>
            </a:r>
          </a:p>
          <a:p>
            <a:r>
              <a:rPr lang="en-US" dirty="0"/>
              <a:t>Income within other brackets is taxed at a rate between 12% &amp; 35%.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F6ACA-826C-2129-8EB9-372C9D20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660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Ordinary Income &amp; Short-Term Capital Gains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Ordinary income</a:t>
            </a:r>
          </a:p>
          <a:p>
            <a:pPr lvl="1"/>
            <a:r>
              <a:rPr lang="en-US" dirty="0"/>
              <a:t>Wages &amp; salary</a:t>
            </a:r>
          </a:p>
          <a:p>
            <a:pPr lvl="1"/>
            <a:r>
              <a:rPr lang="en-US" dirty="0"/>
              <a:t>Taxed using brackets</a:t>
            </a:r>
          </a:p>
          <a:p>
            <a:r>
              <a:rPr lang="en-US" dirty="0"/>
              <a:t>Short-term capital gain</a:t>
            </a:r>
          </a:p>
          <a:p>
            <a:pPr lvl="1"/>
            <a:r>
              <a:rPr lang="en-US" dirty="0"/>
              <a:t>Asset is held for less than 1 year.</a:t>
            </a:r>
          </a:p>
          <a:p>
            <a:pPr lvl="1"/>
            <a:r>
              <a:rPr lang="en-US" dirty="0"/>
              <a:t>Taxed as ordinary income.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4A274-2A0B-2848-BA57-E5FFB03F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316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Capital Gains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Long-term capital gain</a:t>
            </a:r>
          </a:p>
          <a:p>
            <a:pPr lvl="1"/>
            <a:r>
              <a:rPr lang="en-US" dirty="0"/>
              <a:t>investment (like stock) owned &gt; year</a:t>
            </a:r>
          </a:p>
          <a:p>
            <a:pPr lvl="1"/>
            <a:r>
              <a:rPr lang="en-US" dirty="0"/>
              <a:t>Sales price is higher than purchase price</a:t>
            </a:r>
          </a:p>
          <a:p>
            <a:r>
              <a:rPr lang="en-US" dirty="0"/>
              <a:t>Tax on long-term gains</a:t>
            </a:r>
          </a:p>
          <a:p>
            <a:pPr lvl="1"/>
            <a:r>
              <a:rPr lang="en-US" dirty="0"/>
              <a:t>Ordinary tax rate applied to gain &lt; $41,675</a:t>
            </a:r>
          </a:p>
          <a:p>
            <a:pPr lvl="1"/>
            <a:r>
              <a:rPr lang="en-US" dirty="0"/>
              <a:t>15% tax: $41,675 &lt; Gain &lt; $459,750</a:t>
            </a:r>
          </a:p>
          <a:p>
            <a:pPr lvl="1"/>
            <a:r>
              <a:rPr lang="en-US" dirty="0"/>
              <a:t>20% tax: Gain &gt; $459,750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51123-E342-70CF-1EB3-29A947BB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674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Tax on Dividend Income: Qualified vs. Ordinary (1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qualified dividend “qualifies” to be taxed as a capital gain.</a:t>
            </a:r>
          </a:p>
          <a:p>
            <a:r>
              <a:rPr lang="en-US" dirty="0"/>
              <a:t>To be qualified, investor must own stock for at least 60 days before dividend payment &amp; 60 days after payment.</a:t>
            </a:r>
          </a:p>
          <a:p>
            <a:r>
              <a:rPr lang="en-US" dirty="0"/>
              <a:t>There are exceptions to this rule. Consult a professional tax advisor.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79FF-879F-020D-26F4-0BD01B41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4037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Tax on Dividend Income: Qualified vs. Ordinary (2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ordinary dividend is a dividend that is not a qualified dividend.</a:t>
            </a:r>
          </a:p>
          <a:p>
            <a:r>
              <a:rPr lang="en-US" dirty="0"/>
              <a:t>An ordinary dividend is taxed as ordinary income.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13E6-5E75-E19B-0880-A9F128F7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604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Municipal Bond Payments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Municipal bonds (often called “Munis”) are those that are issued by a municipality, including:</a:t>
            </a:r>
          </a:p>
          <a:p>
            <a:pPr lvl="1"/>
            <a:r>
              <a:rPr lang="en-US" dirty="0"/>
              <a:t>States</a:t>
            </a:r>
          </a:p>
          <a:p>
            <a:pPr lvl="1"/>
            <a:r>
              <a:rPr lang="en-US" dirty="0"/>
              <a:t>Cities</a:t>
            </a:r>
          </a:p>
          <a:p>
            <a:pPr lvl="1"/>
            <a:r>
              <a:rPr lang="en-US" dirty="0"/>
              <a:t>Other qualifying organizations</a:t>
            </a:r>
          </a:p>
          <a:p>
            <a:r>
              <a:rPr lang="en-US" dirty="0"/>
              <a:t>Interest payments are usually not taxable at Federal level.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098E5-358A-BF54-781A-C40D3022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5464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Corporate vs. Municipal Bonds for Individual taxpayer </a:t>
            </a:r>
            <a:r>
              <a:rPr lang="en-US" altLang="en-US" sz="2700" dirty="0"/>
              <a:t>(Example 1)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534400" cy="487680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10% ExxonMobil bonds vs. 7% Calif. Muni bonds</a:t>
            </a:r>
          </a:p>
          <a:p>
            <a:r>
              <a:rPr lang="en-US" altLang="en-US" dirty="0"/>
              <a:t>T = Individual Tax rate = 25.0%.</a:t>
            </a:r>
          </a:p>
          <a:p>
            <a:r>
              <a:rPr lang="en-US" altLang="en-US" dirty="0"/>
              <a:t>After-tax interest rate (%) =?</a:t>
            </a:r>
          </a:p>
          <a:p>
            <a:r>
              <a:rPr lang="en-US" altLang="en-US" dirty="0"/>
              <a:t>ExxonMobil = 10%(1-.25) = 7.5% </a:t>
            </a:r>
          </a:p>
          <a:p>
            <a:r>
              <a:rPr lang="en-US" altLang="en-US" dirty="0"/>
              <a:t>CAL = 7%(1 - 0) = 7%</a:t>
            </a:r>
          </a:p>
          <a:p>
            <a:endParaRPr lang="en-US" altLang="en-US" dirty="0"/>
          </a:p>
          <a:p>
            <a:r>
              <a:rPr lang="en-US" altLang="en-US" dirty="0"/>
              <a:t>Better off investing where?</a:t>
            </a:r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AA0518-6A2C-FC11-CBD7-16667617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901519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ExxonMobil bonds at 10% versus California Muni bonds at 7% (on $ basis)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 = Tax rate = 25.0%.</a:t>
            </a:r>
          </a:p>
          <a:p>
            <a:r>
              <a:rPr lang="en-US" altLang="en-US" dirty="0"/>
              <a:t>After-tax interest income ($ basis):</a:t>
            </a:r>
          </a:p>
          <a:p>
            <a:r>
              <a:rPr lang="en-US" altLang="en-US" dirty="0"/>
              <a:t>ExxonMobil = 0.10($5,000) - 0.10($5,000)(0.25) </a:t>
            </a:r>
          </a:p>
          <a:p>
            <a:r>
              <a:rPr lang="en-US" altLang="en-US" dirty="0"/>
              <a:t>ExxonMobil = 0.10($5,000)(0.75) = $375.</a:t>
            </a:r>
          </a:p>
          <a:p>
            <a:r>
              <a:rPr lang="en-US" altLang="en-US" dirty="0"/>
              <a:t>CAL = 0.07($5,000) - 0 = $350.</a:t>
            </a:r>
          </a:p>
        </p:txBody>
      </p:sp>
      <p:sp>
        <p:nvSpPr>
          <p:cNvPr id="6758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592CA-0E5C-7A14-119E-D036FEC5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20522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Breakeven Tax Rate</a:t>
            </a:r>
          </a:p>
        </p:txBody>
      </p:sp>
      <p:sp>
        <p:nvSpPr>
          <p:cNvPr id="68614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At what tax rate would one be indifferent between Muni &amp;  corporate bonds?</a:t>
            </a:r>
          </a:p>
          <a:p>
            <a:r>
              <a:rPr lang="en-US" altLang="en-US" dirty="0"/>
              <a:t>Solve for T in this equation:</a:t>
            </a:r>
          </a:p>
          <a:p>
            <a:pPr marL="0" indent="0" algn="ctr">
              <a:buNone/>
            </a:pPr>
            <a:r>
              <a:rPr lang="en-US" altLang="en-US" dirty="0"/>
              <a:t>Muni yield = Corp Yield(1-T)</a:t>
            </a:r>
          </a:p>
          <a:p>
            <a:pPr marL="0" indent="0" algn="ctr">
              <a:buNone/>
            </a:pPr>
            <a:r>
              <a:rPr lang="en-US" altLang="en-US" dirty="0"/>
              <a:t>7.00% = 10.0%(1-T)</a:t>
            </a:r>
          </a:p>
          <a:p>
            <a:pPr marL="0" indent="0" algn="ctr">
              <a:buNone/>
            </a:pPr>
            <a:r>
              <a:rPr lang="en-US" altLang="en-US" dirty="0"/>
              <a:t>T = 30.0%.</a:t>
            </a:r>
          </a:p>
        </p:txBody>
      </p:sp>
      <p:sp>
        <p:nvSpPr>
          <p:cNvPr id="6861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861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FC32F-BC8B-528B-9C0F-EA1CE9FB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24047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410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Implications</a:t>
            </a:r>
          </a:p>
        </p:txBody>
      </p:sp>
      <p:sp>
        <p:nvSpPr>
          <p:cNvPr id="69638" name="Rectangle 410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T &gt; 30%, buy tax exempt Munis.</a:t>
            </a:r>
          </a:p>
          <a:p>
            <a:r>
              <a:rPr lang="en-US" altLang="en-US" dirty="0"/>
              <a:t>If T &lt; 30%, buy corporate bonds.</a:t>
            </a:r>
          </a:p>
          <a:p>
            <a:r>
              <a:rPr lang="en-US" altLang="en-US" dirty="0"/>
              <a:t>Only high income, &amp; hence high tax bracket, individuals should buy Munis.</a:t>
            </a:r>
          </a:p>
        </p:txBody>
      </p:sp>
      <p:sp>
        <p:nvSpPr>
          <p:cNvPr id="69635" name="Rectangle 409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69636" name="Rectangle 409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94E59-91A3-318E-EBD0-1E1B6920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05091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 Tax on muni versus corporate bond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Data: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Individual tax rate 24.0%.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6.4% interest rate on corporate bond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5.0% interest rate on muni</a:t>
            </a:r>
          </a:p>
          <a:p>
            <a:pPr>
              <a:spcBef>
                <a:spcPts val="600"/>
              </a:spcBef>
            </a:pPr>
            <a:r>
              <a:rPr lang="en-US" dirty="0"/>
              <a:t>After-tax corporate bond interest rate: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0.064(1 − 0.24) = 0.0486 = 4.86%.</a:t>
            </a:r>
          </a:p>
          <a:p>
            <a:pPr>
              <a:spcBef>
                <a:spcPts val="600"/>
              </a:spcBef>
            </a:pPr>
            <a:r>
              <a:rPr lang="en-US" dirty="0"/>
              <a:t>Interest on muni not taxed, so muni rate of 5.0% is higher than after-tax corporate rate of 4.86%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A0141-E2AB-8764-106D-FA131514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1023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Breakeven Tax Rate (1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what tax rate would you be indifferent between Muni &amp; corporate bonds?</a:t>
            </a:r>
          </a:p>
          <a:p>
            <a:r>
              <a:rPr lang="en-US" dirty="0"/>
              <a:t>Solve for T in this equation:</a:t>
            </a:r>
          </a:p>
          <a:p>
            <a:pPr marL="685800" indent="-685800">
              <a:buNone/>
            </a:pPr>
            <a:r>
              <a:rPr lang="en-US" dirty="0"/>
              <a:t>	Muni yield = (Corp rate)(1−T)</a:t>
            </a:r>
          </a:p>
          <a:p>
            <a:pPr marL="685800" indent="-685800">
              <a:buNone/>
            </a:pPr>
            <a:r>
              <a:rPr lang="en-US" dirty="0"/>
              <a:t>	(Muni rate / Corp rate) = 1−T</a:t>
            </a:r>
          </a:p>
          <a:p>
            <a:pPr marL="685800" indent="-685800">
              <a:buNone/>
            </a:pPr>
            <a:r>
              <a:rPr lang="en-US" dirty="0"/>
              <a:t>	T = 1− (Muni rate / Corp rate)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45B9-2599-D9D6-C591-A9CC7677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730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209-C632-4822-AE02-92D9B8B0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Breakeven Tax Rate (2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CC7B1-0E25-47E7-BC1B-FC949C6E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Solve for T in this equation:</a:t>
            </a:r>
          </a:p>
          <a:p>
            <a:pPr marL="0" indent="0">
              <a:buNone/>
            </a:pPr>
            <a:r>
              <a:rPr lang="en-US" dirty="0"/>
              <a:t>     T = 1− (Muni rate / Corp rate)</a:t>
            </a:r>
          </a:p>
          <a:p>
            <a:pPr marL="548640" indent="-548640">
              <a:buNone/>
            </a:pPr>
            <a:r>
              <a:rPr lang="en-US" dirty="0"/>
              <a:t>	= 1− (5%/6.4%)</a:t>
            </a:r>
          </a:p>
          <a:p>
            <a:pPr marL="548640" indent="-548640">
              <a:buNone/>
            </a:pPr>
            <a:r>
              <a:rPr lang="en-US" dirty="0"/>
              <a:t>	= 1− 0.7813 = 0.2188</a:t>
            </a:r>
          </a:p>
          <a:p>
            <a:pPr marL="548640" indent="-548640">
              <a:buNone/>
            </a:pPr>
            <a:r>
              <a:rPr lang="en-US" dirty="0"/>
              <a:t>	= 21.88%</a:t>
            </a:r>
          </a:p>
          <a:p>
            <a:r>
              <a:rPr lang="en-US" dirty="0"/>
              <a:t>investor should buy Muni if investor’s tax rate is 21.88% of higher.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F2CA6-62BA-AFEA-9510-374E092A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131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0714-DDFE-A5C1-1CBA-572783A1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B7014-96A5-3618-E0BE-44B68CC4E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C014A-1C30-5860-27E8-BEFAD1D6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586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  1 - Class - Overview of Fin Mgmt - Master 15ed" id="{B5BAB255-5FBD-6A42-B681-671B4D1566AF}" vid="{EA6B737B-7190-AE47-A40D-D6EA26D2DCE3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ptimized Template Master">
  <a:themeElements>
    <a:clrScheme name="Cengage New">
      <a:dk1>
        <a:srgbClr val="282F7C"/>
      </a:dk1>
      <a:lt1>
        <a:srgbClr val="FFFFFF"/>
      </a:lt1>
      <a:dk2>
        <a:srgbClr val="3841B0"/>
      </a:dk2>
      <a:lt2>
        <a:srgbClr val="F5F5F5"/>
      </a:lt2>
      <a:accent1>
        <a:srgbClr val="282F7C"/>
      </a:accent1>
      <a:accent2>
        <a:srgbClr val="FEE349"/>
      </a:accent2>
      <a:accent3>
        <a:srgbClr val="CDDEFF"/>
      </a:accent3>
      <a:accent4>
        <a:srgbClr val="F5F5F5"/>
      </a:accent4>
      <a:accent5>
        <a:srgbClr val="A3A1A3"/>
      </a:accent5>
      <a:accent6>
        <a:srgbClr val="454545"/>
      </a:accent6>
      <a:hlink>
        <a:srgbClr val="3841B0"/>
      </a:hlink>
      <a:folHlink>
        <a:srgbClr val="6900B0"/>
      </a:folHlink>
    </a:clrScheme>
    <a:fontScheme name="Brigham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11y_PPT_Template_Cengage_020221.pptx" id="{62A8FB47-AEAE-448A-A9EC-2B57E950A883}" vid="{DA52BCA4-C454-45F1-8147-C38687C75014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1334</TotalTime>
  <Pages>24</Pages>
  <Words>4036</Words>
  <Application>Microsoft Office PowerPoint</Application>
  <PresentationFormat>On-screen Show (4:3)</PresentationFormat>
  <Paragraphs>801</Paragraphs>
  <Slides>86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8" baseType="lpstr">
      <vt:lpstr>Arial</vt:lpstr>
      <vt:lpstr>Calibri</vt:lpstr>
      <vt:lpstr>Calibri Light</vt:lpstr>
      <vt:lpstr>Tahoma</vt:lpstr>
      <vt:lpstr>Times New Roman</vt:lpstr>
      <vt:lpstr>Wingdings</vt:lpstr>
      <vt:lpstr>Work Sans</vt:lpstr>
      <vt:lpstr>Office Theme</vt:lpstr>
      <vt:lpstr>1_Custom Design</vt:lpstr>
      <vt:lpstr>Custom Design</vt:lpstr>
      <vt:lpstr>Optimized Template Master</vt:lpstr>
      <vt:lpstr>Equation</vt:lpstr>
      <vt:lpstr>Chapter 2</vt:lpstr>
      <vt:lpstr>Topics in Chapter</vt:lpstr>
      <vt:lpstr>How can Financial Statements be used to increase value or make $ in Business</vt:lpstr>
      <vt:lpstr>Income Statement</vt:lpstr>
      <vt:lpstr>Statement of Retained Earnings</vt:lpstr>
      <vt:lpstr>Balance Sheet</vt:lpstr>
      <vt:lpstr>Income Statement</vt:lpstr>
      <vt:lpstr>What happened to sales &amp; net income?</vt:lpstr>
      <vt:lpstr>Balance Sheet: Assets</vt:lpstr>
      <vt:lpstr>Effect of Expansion on Assets</vt:lpstr>
      <vt:lpstr>Balance Sheet: Liabilities &amp; Equity</vt:lpstr>
      <vt:lpstr>What effect did expansion have on liabilities &amp; equity?</vt:lpstr>
      <vt:lpstr>Stock Price &amp; Other Data</vt:lpstr>
      <vt:lpstr>I/S: Accrual vs. Cash Basis</vt:lpstr>
      <vt:lpstr>OR: for 2nd case</vt:lpstr>
      <vt:lpstr>Statement of Cash Flows: 20x1</vt:lpstr>
      <vt:lpstr>Stmt of CFs – Investing Activities</vt:lpstr>
      <vt:lpstr>Stmt of CFs – Financing Activities</vt:lpstr>
      <vt:lpstr>Summary of Statement of CF</vt:lpstr>
      <vt:lpstr>Conclusions from statement of cash flows?</vt:lpstr>
      <vt:lpstr>Summary of CF Statement</vt:lpstr>
      <vt:lpstr>Summary of CF Activity</vt:lpstr>
      <vt:lpstr>What is free cash flow (FCF)?  Why is it important?</vt:lpstr>
      <vt:lpstr>What are five uses of FCF?</vt:lpstr>
      <vt:lpstr>Free cash flows (FCFs) </vt:lpstr>
      <vt:lpstr>One More IMPORTANT Step</vt:lpstr>
      <vt:lpstr>Calculating Free Cash Flow in 5 Easy Steps</vt:lpstr>
      <vt:lpstr>FREE CASH FLOWS (FCF)</vt:lpstr>
      <vt:lpstr>Net Operating Profit After Taxes (NOPAT)</vt:lpstr>
      <vt:lpstr>Net Operating Working Capital (NOWC)</vt:lpstr>
      <vt:lpstr>Total Operating Capital =</vt:lpstr>
      <vt:lpstr>Net Operating Profit after Taxes (NOPAT)</vt:lpstr>
      <vt:lpstr>What are operating current assets?</vt:lpstr>
      <vt:lpstr>What are operating current liabilities?</vt:lpstr>
      <vt:lpstr>Net Operating Working Capital (NOWC)</vt:lpstr>
      <vt:lpstr>Total net operating capital (also called operating capital)</vt:lpstr>
      <vt:lpstr>Free Cash Flow (FCF) for 20x1</vt:lpstr>
      <vt:lpstr>Uses of FCF</vt:lpstr>
      <vt:lpstr>Operating Profitability Ratio</vt:lpstr>
      <vt:lpstr>Capital Requirement Ratio</vt:lpstr>
      <vt:lpstr>Return on Invested Capital (ROIC)</vt:lpstr>
      <vt:lpstr>Firm’s cost of capital = 10%.   Did growth add value?</vt:lpstr>
      <vt:lpstr>Economic Value Added (EVA)</vt:lpstr>
      <vt:lpstr>Economic Value Added (EVA) =</vt:lpstr>
      <vt:lpstr>Economic Value Added (EVA)</vt:lpstr>
      <vt:lpstr>Economic Value Added (WACC = 10% for both years)</vt:lpstr>
      <vt:lpstr>Stock Price &amp; Other Data</vt:lpstr>
      <vt:lpstr>Market Value Added (MVA)</vt:lpstr>
      <vt:lpstr>Market Value Added (MVA)</vt:lpstr>
      <vt:lpstr>MVA (Continued)</vt:lpstr>
      <vt:lpstr>20x1 MVA  (Assume market value of debt = book value of debt.)</vt:lpstr>
      <vt:lpstr>TAXES</vt:lpstr>
      <vt:lpstr>TAXES</vt:lpstr>
      <vt:lpstr>Interest vs. Dividend Payments Paid by  Corporation</vt:lpstr>
      <vt:lpstr>Corporate Taxes on Investments in Financial Securities</vt:lpstr>
      <vt:lpstr>Tax on Interest Income Received by a Corporation </vt:lpstr>
      <vt:lpstr>Tax on Corporation’s Capital Gains from Selling Financial Securities It Owns</vt:lpstr>
      <vt:lpstr>Corporate Tax on Dividends Received from Another Company (1 of 4)</vt:lpstr>
      <vt:lpstr>Corporate Tax on Dividends Received (2 of 4)</vt:lpstr>
      <vt:lpstr>Corporate Tax on Dividends Received (3 of 4)</vt:lpstr>
      <vt:lpstr>Corporate Tax on Dividends Received  (4 of 4)</vt:lpstr>
      <vt:lpstr>After-Tax Dividends vs. After-Tax Interest</vt:lpstr>
      <vt:lpstr>After-Tax Interest (Continued)</vt:lpstr>
      <vt:lpstr>After-Tax Dividends (Continued)</vt:lpstr>
      <vt:lpstr>Pre-Tax Payments vs. After-Tax Payments (Continued)</vt:lpstr>
      <vt:lpstr>Corporate Tax on Interest &amp; Dividends: Comprehensive Application (1 of 2)</vt:lpstr>
      <vt:lpstr>Corporate Tax on Interest &amp; Dividends (2 of 2)</vt:lpstr>
      <vt:lpstr>Tax on a U.S Company’s Foreign Profits (1 of 2)</vt:lpstr>
      <vt:lpstr>Tax on a U.S Company’s Foreign Profits (2 of 2)</vt:lpstr>
      <vt:lpstr>TAXES</vt:lpstr>
      <vt:lpstr>Personal Taxes</vt:lpstr>
      <vt:lpstr>Personal Taxes: Terminology</vt:lpstr>
      <vt:lpstr>Progressive Taxes with Seven Tax Brackets</vt:lpstr>
      <vt:lpstr>Ordinary Income &amp; Short-Term Capital Gains</vt:lpstr>
      <vt:lpstr>Long-Term Capital Gains</vt:lpstr>
      <vt:lpstr>Tax on Dividend Income: Qualified vs. Ordinary (1 of 2)</vt:lpstr>
      <vt:lpstr>Tax on Dividend Income: Qualified vs. Ordinary (2 of 2)</vt:lpstr>
      <vt:lpstr>Municipal Bond Payments</vt:lpstr>
      <vt:lpstr>Corporate vs. Municipal Bonds for Individual taxpayer (Example 1)</vt:lpstr>
      <vt:lpstr>ExxonMobil bonds at 10% versus California Muni bonds at 7% (on $ basis)</vt:lpstr>
      <vt:lpstr>Breakeven Tax Rate</vt:lpstr>
      <vt:lpstr>Implications</vt:lpstr>
      <vt:lpstr>Example 2: Tax on muni versus corporate bond</vt:lpstr>
      <vt:lpstr>Breakeven Tax Rate (1 of 2)</vt:lpstr>
      <vt:lpstr>Breakeven Tax Rate (2 of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Powerpoint show</dc:subject>
  <dc:creator>Diana Montealegre Beltran</dc:creator>
  <cp:lastModifiedBy>Robert M Donchez</cp:lastModifiedBy>
  <cp:revision>46</cp:revision>
  <cp:lastPrinted>2014-01-14T00:25:44Z</cp:lastPrinted>
  <dcterms:created xsi:type="dcterms:W3CDTF">2022-07-05T20:10:42Z</dcterms:created>
  <dcterms:modified xsi:type="dcterms:W3CDTF">2024-01-17T23:56:22Z</dcterms:modified>
</cp:coreProperties>
</file>