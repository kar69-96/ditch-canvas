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4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5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94" autoAdjust="0"/>
  </p:normalViewPr>
  <p:slideViewPr>
    <p:cSldViewPr>
      <p:cViewPr varScale="1">
        <p:scale>
          <a:sx n="105" d="100"/>
          <a:sy n="105" d="100"/>
        </p:scale>
        <p:origin x="1770" y="96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08" y="4415156"/>
            <a:ext cx="5136586" cy="4183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29150" cy="3471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359EA98-41BB-4EBF-8F32-47723188AFFA}" type="slidenum">
              <a:rPr lang="en-US" altLang="en-US" sz="1000" smtClean="0"/>
              <a:pPr>
                <a:spcBef>
                  <a:spcPct val="0"/>
                </a:spcBef>
              </a:pPr>
              <a:t>17</a:t>
            </a:fld>
            <a:endParaRPr lang="en-US" altLang="en-US" sz="10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88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992A-2EFA-463F-2A80-04066946B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14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41191-30AB-56B1-9FD2-033FD5045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Distributions to Shareholders: Dividends &amp; Repurchases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5A367-5DE3-1B8F-A139-050E40E3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2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F42C-4221-9D4A-328C-D2A4E48D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Topics in Chapter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4FAD-9B04-7BA9-FB6F-3329C180C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Theories of investor preferences</a:t>
            </a:r>
          </a:p>
          <a:p>
            <a:pPr eaLnBrk="1" hangingPunct="1"/>
            <a:r>
              <a:rPr lang="en-US" altLang="en-US" dirty="0"/>
              <a:t>Signaling effects</a:t>
            </a:r>
          </a:p>
          <a:p>
            <a:pPr eaLnBrk="1" hangingPunct="1"/>
            <a:r>
              <a:rPr lang="en-US" altLang="en-US" dirty="0"/>
              <a:t>Residual model</a:t>
            </a:r>
          </a:p>
          <a:p>
            <a:pPr eaLnBrk="1" hangingPunct="1"/>
            <a:r>
              <a:rPr lang="en-US" altLang="en-US" dirty="0"/>
              <a:t>Stock repurchases</a:t>
            </a:r>
          </a:p>
          <a:p>
            <a:pPr eaLnBrk="1" hangingPunct="1"/>
            <a:r>
              <a:rPr lang="en-US" altLang="en-US" dirty="0"/>
              <a:t>Stock dividends &amp; stock splits</a:t>
            </a:r>
          </a:p>
          <a:p>
            <a:pPr eaLnBrk="1" hangingPunct="1"/>
            <a:r>
              <a:rPr lang="en-US" altLang="en-US" dirty="0"/>
              <a:t>Dividend reinvestment plans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4B8DB-03F5-0B09-A4F3-86B2015C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06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09D9-6E2C-E320-55C0-93DDC90A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solidFill>
                  <a:schemeClr val="tx2"/>
                </a:solidFill>
              </a:rPr>
              <a:t>Free Cash Flow: Distributions to Shareholders</a:t>
            </a:r>
            <a:br>
              <a:rPr lang="en-US" altLang="en-US" sz="4000" b="1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3A96E-6A89-4097-041A-DFEB6B49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F9FCE1-C358-1ED6-BC03-A64FF95623CF}"/>
              </a:ext>
            </a:extLst>
          </p:cNvPr>
          <p:cNvSpPr txBox="1">
            <a:spLocks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7936F6-BAE0-4946-B0A0-CC3AC140ACB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46F4A365-571F-F767-2D1D-F15F22875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409950"/>
            <a:ext cx="2505075" cy="930275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 w="28575">
            <a:solidFill>
              <a:schemeClr val="tx2"/>
            </a:solidFill>
            <a:round/>
            <a:headEnd/>
            <a:tailEnd/>
          </a:ln>
          <a:effectLst>
            <a:prstShdw prst="shdw13" dist="7184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</a:rPr>
              <a:t>Free cash flow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</a:rPr>
              <a:t>(FCF)</a:t>
            </a:r>
          </a:p>
        </p:txBody>
      </p:sp>
      <p:sp>
        <p:nvSpPr>
          <p:cNvPr id="9" name="AutoShape 16">
            <a:extLst>
              <a:ext uri="{FF2B5EF4-FFF2-40B4-BE49-F238E27FC236}">
                <a16:creationId xmlns:a16="http://schemas.microsoft.com/office/drawing/2014/main" id="{8605178E-CB99-57F8-8517-E50B78DA1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562600"/>
            <a:ext cx="1204913" cy="93345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Interest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payments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(after tax)</a:t>
            </a:r>
          </a:p>
        </p:txBody>
      </p:sp>
      <p:sp>
        <p:nvSpPr>
          <p:cNvPr id="10" name="AutoShape 17">
            <a:extLst>
              <a:ext uri="{FF2B5EF4-FFF2-40B4-BE49-F238E27FC236}">
                <a16:creationId xmlns:a16="http://schemas.microsoft.com/office/drawing/2014/main" id="{8A3EE8EE-3864-B55B-93E8-E4CB6A7D4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630863"/>
            <a:ext cx="1830388" cy="79692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tx2"/>
            </a:solidFill>
            <a:round/>
            <a:headEnd/>
            <a:tailEnd/>
          </a:ln>
          <a:effectLst>
            <a:outerShdw dist="107763" dir="135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</a:rPr>
              <a:t>Stock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</a:rPr>
              <a:t>repurchases</a:t>
            </a:r>
          </a:p>
        </p:txBody>
      </p:sp>
      <p:sp>
        <p:nvSpPr>
          <p:cNvPr id="11" name="AutoShape 18">
            <a:extLst>
              <a:ext uri="{FF2B5EF4-FFF2-40B4-BE49-F238E27FC236}">
                <a16:creationId xmlns:a16="http://schemas.microsoft.com/office/drawing/2014/main" id="{5C1221A5-725D-F201-CEDA-262B1ACBD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699125"/>
            <a:ext cx="1314450" cy="661988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Principal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repayments</a:t>
            </a:r>
          </a:p>
        </p:txBody>
      </p:sp>
      <p:sp>
        <p:nvSpPr>
          <p:cNvPr id="12" name="AutoShape 19">
            <a:extLst>
              <a:ext uri="{FF2B5EF4-FFF2-40B4-BE49-F238E27FC236}">
                <a16:creationId xmlns:a16="http://schemas.microsoft.com/office/drawing/2014/main" id="{047648FF-9A36-1020-4415-30E8E9479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5800725"/>
            <a:ext cx="1501775" cy="458788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>
            <a:outerShdw dist="107763" dir="135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</a:rPr>
              <a:t>Dividends</a:t>
            </a:r>
          </a:p>
        </p:txBody>
      </p:sp>
      <p:sp>
        <p:nvSpPr>
          <p:cNvPr id="13" name="AutoShape 27">
            <a:extLst>
              <a:ext uri="{FF2B5EF4-FFF2-40B4-BE49-F238E27FC236}">
                <a16:creationId xmlns:a16="http://schemas.microsoft.com/office/drawing/2014/main" id="{CBD0554D-590A-EF55-7C9E-CF79A5E41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12887"/>
            <a:ext cx="1574800" cy="392113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/>
              <a:t>Sales revenues</a:t>
            </a:r>
          </a:p>
        </p:txBody>
      </p:sp>
      <p:sp>
        <p:nvSpPr>
          <p:cNvPr id="14" name="AutoShape 28">
            <a:extLst>
              <a:ext uri="{FF2B5EF4-FFF2-40B4-BE49-F238E27FC236}">
                <a16:creationId xmlns:a16="http://schemas.microsoft.com/office/drawing/2014/main" id="{74C52FEE-EA8E-958C-4904-85342B8A3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38350"/>
            <a:ext cx="2357257" cy="374571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/>
              <a:t>Operating costs &amp; taxes</a:t>
            </a:r>
          </a:p>
        </p:txBody>
      </p:sp>
      <p:sp>
        <p:nvSpPr>
          <p:cNvPr id="15" name="AutoShape 29">
            <a:extLst>
              <a:ext uri="{FF2B5EF4-FFF2-40B4-BE49-F238E27FC236}">
                <a16:creationId xmlns:a16="http://schemas.microsoft.com/office/drawing/2014/main" id="{8CB9C866-F383-2AB8-661F-C226589B4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571750"/>
            <a:ext cx="3951288" cy="392113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/>
              <a:t>Required investments in operating capital</a:t>
            </a:r>
          </a:p>
        </p:txBody>
      </p:sp>
      <p:sp>
        <p:nvSpPr>
          <p:cNvPr id="16" name="Text Box 30">
            <a:extLst>
              <a:ext uri="{FF2B5EF4-FFF2-40B4-BE49-F238E27FC236}">
                <a16:creationId xmlns:a16="http://schemas.microsoft.com/office/drawing/2014/main" id="{ABDFD0B5-E1AB-5ADA-3353-93F72BA1F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038350"/>
            <a:ext cx="350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cs typeface="Tahoma" panose="020B0604030504040204" pitchFamily="34" charset="0"/>
              </a:rPr>
              <a:t>−</a:t>
            </a:r>
          </a:p>
        </p:txBody>
      </p:sp>
      <p:sp>
        <p:nvSpPr>
          <p:cNvPr id="17" name="Text Box 31">
            <a:extLst>
              <a:ext uri="{FF2B5EF4-FFF2-40B4-BE49-F238E27FC236}">
                <a16:creationId xmlns:a16="http://schemas.microsoft.com/office/drawing/2014/main" id="{0BC0219B-3169-559C-3870-679C4EEE4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647950"/>
            <a:ext cx="350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cs typeface="Tahoma" panose="020B0604030504040204" pitchFamily="34" charset="0"/>
              </a:rPr>
              <a:t>−</a:t>
            </a: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6F66F614-5673-C4B2-E6E8-CE1A28ABF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638550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cs typeface="Tahoma" panose="020B0604030504040204" pitchFamily="34" charset="0"/>
              </a:rPr>
              <a:t>=</a:t>
            </a:r>
          </a:p>
        </p:txBody>
      </p:sp>
      <p:cxnSp>
        <p:nvCxnSpPr>
          <p:cNvPr id="19" name="AutoShape 34">
            <a:extLst>
              <a:ext uri="{FF2B5EF4-FFF2-40B4-BE49-F238E27FC236}">
                <a16:creationId xmlns:a16="http://schemas.microsoft.com/office/drawing/2014/main" id="{91C486D6-5AC3-746B-D2F7-9BB8C18448C6}"/>
              </a:ext>
            </a:extLst>
          </p:cNvPr>
          <p:cNvCxnSpPr>
            <a:cxnSpLocks noChangeShapeType="1"/>
            <a:stCxn id="8" idx="2"/>
          </p:cNvCxnSpPr>
          <p:nvPr/>
        </p:nvCxnSpPr>
        <p:spPr bwMode="auto">
          <a:xfrm>
            <a:off x="4148138" y="4340225"/>
            <a:ext cx="0" cy="2317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35">
            <a:extLst>
              <a:ext uri="{FF2B5EF4-FFF2-40B4-BE49-F238E27FC236}">
                <a16:creationId xmlns:a16="http://schemas.microsoft.com/office/drawing/2014/main" id="{6013A5CA-2779-0642-B9F1-48A668C4615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198563" y="1804989"/>
            <a:ext cx="295275" cy="508000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36">
            <a:extLst>
              <a:ext uri="{FF2B5EF4-FFF2-40B4-BE49-F238E27FC236}">
                <a16:creationId xmlns:a16="http://schemas.microsoft.com/office/drawing/2014/main" id="{A2D63B3A-B199-5685-ED80-5AFD5159A419}"/>
              </a:ext>
            </a:extLst>
          </p:cNvPr>
          <p:cNvCxnSpPr>
            <a:cxnSpLocks noChangeShapeType="1"/>
            <a:stCxn id="14" idx="2"/>
            <a:endCxn id="17" idx="1"/>
          </p:cNvCxnSpPr>
          <p:nvPr/>
        </p:nvCxnSpPr>
        <p:spPr bwMode="auto">
          <a:xfrm rot="16200000" flipH="1">
            <a:off x="3245162" y="2403787"/>
            <a:ext cx="403304" cy="421571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37">
            <a:extLst>
              <a:ext uri="{FF2B5EF4-FFF2-40B4-BE49-F238E27FC236}">
                <a16:creationId xmlns:a16="http://schemas.microsoft.com/office/drawing/2014/main" id="{94273911-2C1A-343D-5F49-1EE0E2FFC72B}"/>
              </a:ext>
            </a:extLst>
          </p:cNvPr>
          <p:cNvCxnSpPr>
            <a:cxnSpLocks noChangeShapeType="1"/>
            <a:stCxn id="15" idx="3"/>
            <a:endCxn id="26" idx="3"/>
          </p:cNvCxnSpPr>
          <p:nvPr/>
        </p:nvCxnSpPr>
        <p:spPr bwMode="auto">
          <a:xfrm flipH="1">
            <a:off x="6897688" y="2768600"/>
            <a:ext cx="1106487" cy="1066800"/>
          </a:xfrm>
          <a:prstGeom prst="bentConnector3">
            <a:avLst>
              <a:gd name="adj1" fmla="val -19227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AutoShape 38">
            <a:extLst>
              <a:ext uri="{FF2B5EF4-FFF2-40B4-BE49-F238E27FC236}">
                <a16:creationId xmlns:a16="http://schemas.microsoft.com/office/drawing/2014/main" id="{54EC9591-BB46-CD4A-A9CA-21182E9D5F8D}"/>
              </a:ext>
            </a:extLst>
          </p:cNvPr>
          <p:cNvSpPr>
            <a:spLocks noChangeArrowheads="1"/>
          </p:cNvSpPr>
          <p:nvPr/>
        </p:nvSpPr>
        <p:spPr bwMode="auto">
          <a:xfrm rot="-8638900">
            <a:off x="6476259" y="6455599"/>
            <a:ext cx="704648" cy="215852"/>
          </a:xfrm>
          <a:prstGeom prst="notchedRightArrow">
            <a:avLst>
              <a:gd name="adj1" fmla="val 50000"/>
              <a:gd name="adj2" fmla="val 91667"/>
            </a:avLst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5" name="AutoShape 40">
            <a:extLst>
              <a:ext uri="{FF2B5EF4-FFF2-40B4-BE49-F238E27FC236}">
                <a16:creationId xmlns:a16="http://schemas.microsoft.com/office/drawing/2014/main" id="{ED0E9055-1064-8BCF-BB1A-5ED1557B0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562600"/>
            <a:ext cx="1366838" cy="93345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Purchase of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short-term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investments</a:t>
            </a:r>
          </a:p>
        </p:txBody>
      </p:sp>
      <p:sp>
        <p:nvSpPr>
          <p:cNvPr id="26" name="AutoShape 41">
            <a:extLst>
              <a:ext uri="{FF2B5EF4-FFF2-40B4-BE49-F238E27FC236}">
                <a16:creationId xmlns:a16="http://schemas.microsoft.com/office/drawing/2014/main" id="{21E16B32-30D1-F996-27D7-F03B49A3F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638550"/>
            <a:ext cx="939800" cy="392113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/>
              <a:t>Sources</a:t>
            </a:r>
          </a:p>
        </p:txBody>
      </p:sp>
      <p:sp>
        <p:nvSpPr>
          <p:cNvPr id="27" name="AutoShape 42">
            <a:extLst>
              <a:ext uri="{FF2B5EF4-FFF2-40B4-BE49-F238E27FC236}">
                <a16:creationId xmlns:a16="http://schemas.microsoft.com/office/drawing/2014/main" id="{A47973B2-E0F2-025B-678D-34FD6F3D7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539" y="4562474"/>
            <a:ext cx="660400" cy="392113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Uses</a:t>
            </a:r>
          </a:p>
        </p:txBody>
      </p:sp>
      <p:cxnSp>
        <p:nvCxnSpPr>
          <p:cNvPr id="28" name="AutoShape 45">
            <a:extLst>
              <a:ext uri="{FF2B5EF4-FFF2-40B4-BE49-F238E27FC236}">
                <a16:creationId xmlns:a16="http://schemas.microsoft.com/office/drawing/2014/main" id="{46A61780-32F3-6AA1-CF86-C2D230F2B9D0}"/>
              </a:ext>
            </a:extLst>
          </p:cNvPr>
          <p:cNvCxnSpPr>
            <a:cxnSpLocks noChangeShapeType="1"/>
            <a:stCxn id="27" idx="2"/>
            <a:endCxn id="9" idx="0"/>
          </p:cNvCxnSpPr>
          <p:nvPr/>
        </p:nvCxnSpPr>
        <p:spPr bwMode="auto">
          <a:xfrm flipH="1">
            <a:off x="907257" y="4954587"/>
            <a:ext cx="3225482" cy="6080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46">
            <a:extLst>
              <a:ext uri="{FF2B5EF4-FFF2-40B4-BE49-F238E27FC236}">
                <a16:creationId xmlns:a16="http://schemas.microsoft.com/office/drawing/2014/main" id="{E8295E47-F926-294A-72AF-2ED536A00D55}"/>
              </a:ext>
            </a:extLst>
          </p:cNvPr>
          <p:cNvCxnSpPr>
            <a:cxnSpLocks noChangeShapeType="1"/>
            <a:stCxn id="27" idx="2"/>
            <a:endCxn id="11" idx="0"/>
          </p:cNvCxnSpPr>
          <p:nvPr/>
        </p:nvCxnSpPr>
        <p:spPr bwMode="auto">
          <a:xfrm flipH="1">
            <a:off x="2409825" y="4954587"/>
            <a:ext cx="1722914" cy="7445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47">
            <a:extLst>
              <a:ext uri="{FF2B5EF4-FFF2-40B4-BE49-F238E27FC236}">
                <a16:creationId xmlns:a16="http://schemas.microsoft.com/office/drawing/2014/main" id="{F1674749-4A75-6686-59DE-368855C4EE7E}"/>
              </a:ext>
            </a:extLst>
          </p:cNvPr>
          <p:cNvCxnSpPr>
            <a:cxnSpLocks noChangeShapeType="1"/>
            <a:stCxn id="27" idx="2"/>
            <a:endCxn id="12" idx="0"/>
          </p:cNvCxnSpPr>
          <p:nvPr/>
        </p:nvCxnSpPr>
        <p:spPr bwMode="auto">
          <a:xfrm>
            <a:off x="4132739" y="4954587"/>
            <a:ext cx="15399" cy="8461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48">
            <a:extLst>
              <a:ext uri="{FF2B5EF4-FFF2-40B4-BE49-F238E27FC236}">
                <a16:creationId xmlns:a16="http://schemas.microsoft.com/office/drawing/2014/main" id="{CA5E25EE-D254-6E5E-C6DB-84C27598EC55}"/>
              </a:ext>
            </a:extLst>
          </p:cNvPr>
          <p:cNvCxnSpPr>
            <a:cxnSpLocks noChangeShapeType="1"/>
            <a:stCxn id="27" idx="2"/>
            <a:endCxn id="10" idx="0"/>
          </p:cNvCxnSpPr>
          <p:nvPr/>
        </p:nvCxnSpPr>
        <p:spPr bwMode="auto">
          <a:xfrm>
            <a:off x="4132739" y="4954587"/>
            <a:ext cx="1964055" cy="67627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49">
            <a:extLst>
              <a:ext uri="{FF2B5EF4-FFF2-40B4-BE49-F238E27FC236}">
                <a16:creationId xmlns:a16="http://schemas.microsoft.com/office/drawing/2014/main" id="{525E57C4-2931-D36F-20F9-B7CCCAF0F439}"/>
              </a:ext>
            </a:extLst>
          </p:cNvPr>
          <p:cNvCxnSpPr>
            <a:cxnSpLocks noChangeShapeType="1"/>
            <a:stCxn id="27" idx="2"/>
            <a:endCxn id="25" idx="0"/>
          </p:cNvCxnSpPr>
          <p:nvPr/>
        </p:nvCxnSpPr>
        <p:spPr bwMode="auto">
          <a:xfrm>
            <a:off x="4132739" y="4954587"/>
            <a:ext cx="3865880" cy="6080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AutoShape 51">
            <a:extLst>
              <a:ext uri="{FF2B5EF4-FFF2-40B4-BE49-F238E27FC236}">
                <a16:creationId xmlns:a16="http://schemas.microsoft.com/office/drawing/2014/main" id="{2BE68E11-3B56-2854-AA3F-5FB4D72E0EEE}"/>
              </a:ext>
            </a:extLst>
          </p:cNvPr>
          <p:cNvSpPr>
            <a:spLocks noChangeArrowheads="1"/>
          </p:cNvSpPr>
          <p:nvPr/>
        </p:nvSpPr>
        <p:spPr bwMode="auto">
          <a:xfrm rot="-2828153">
            <a:off x="2848146" y="6418098"/>
            <a:ext cx="771682" cy="260680"/>
          </a:xfrm>
          <a:prstGeom prst="notchedRightArrow">
            <a:avLst>
              <a:gd name="adj1" fmla="val 50000"/>
              <a:gd name="adj2" fmla="val 91667"/>
            </a:avLst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06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2DFD-5554-3CC7-D478-A8F017AB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What’s “distribution policy”?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919CC-C295-EC27-4434-58B17EFC2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Distribution policy defines:</a:t>
            </a:r>
          </a:p>
          <a:p>
            <a:pPr lvl="1" eaLnBrk="1" hangingPunct="1"/>
            <a:r>
              <a:rPr lang="en-US" altLang="en-US" dirty="0"/>
              <a:t>Level of cash </a:t>
            </a:r>
            <a:r>
              <a:rPr lang="en-US" altLang="en-US" dirty="0" err="1"/>
              <a:t>distribs</a:t>
            </a:r>
            <a:r>
              <a:rPr lang="en-US" altLang="en-US" dirty="0"/>
              <a:t> to shareholders</a:t>
            </a:r>
          </a:p>
          <a:p>
            <a:pPr lvl="1" eaLnBrk="1" hangingPunct="1"/>
            <a:r>
              <a:rPr lang="en-US" altLang="en-US" dirty="0"/>
              <a:t>Form of </a:t>
            </a:r>
            <a:r>
              <a:rPr lang="en-US" altLang="en-US" dirty="0" err="1"/>
              <a:t>distrib</a:t>
            </a:r>
            <a:r>
              <a:rPr lang="en-US" altLang="en-US" dirty="0"/>
              <a:t>. (dividend vs. stock repurchase)</a:t>
            </a:r>
          </a:p>
          <a:p>
            <a:pPr lvl="1" eaLnBrk="1" hangingPunct="1"/>
            <a:r>
              <a:rPr lang="en-US" altLang="en-US" dirty="0"/>
              <a:t>Stability of </a:t>
            </a:r>
            <a:r>
              <a:rPr lang="en-US" altLang="en-US" dirty="0" err="1"/>
              <a:t>distrib</a:t>
            </a:r>
            <a:r>
              <a:rPr lang="en-US" alt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0418E-F068-0DCA-CF86-FD0BA808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36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FB7-6A34-9C06-0E7C-559448A0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What’s “dividend policy”?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2C94E-E96C-1F12-74DB-31F965F50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6406"/>
            <a:ext cx="8915400" cy="4500558"/>
          </a:xfrm>
        </p:spPr>
        <p:txBody>
          <a:bodyPr/>
          <a:lstStyle/>
          <a:p>
            <a:pPr eaLnBrk="1" hangingPunct="1"/>
            <a:r>
              <a:rPr lang="en-US" altLang="en-US" dirty="0"/>
              <a:t>Decision to payout earnings vs. retain &amp; re-invest</a:t>
            </a:r>
          </a:p>
          <a:p>
            <a:pPr eaLnBrk="1" hangingPunct="1"/>
            <a:r>
              <a:rPr lang="en-US" altLang="en-US" dirty="0"/>
              <a:t>  Includes these elements:</a:t>
            </a:r>
          </a:p>
          <a:p>
            <a:pPr lvl="1" eaLnBrk="1" hangingPunct="1"/>
            <a:r>
              <a:rPr lang="en-US" altLang="en-US" dirty="0"/>
              <a:t>High or low payout? </a:t>
            </a:r>
          </a:p>
          <a:p>
            <a:pPr lvl="1" eaLnBrk="1" hangingPunct="1"/>
            <a:r>
              <a:rPr lang="en-US" altLang="en-US" dirty="0"/>
              <a:t>Stable or irregular dividends? </a:t>
            </a:r>
          </a:p>
          <a:p>
            <a:pPr lvl="1" eaLnBrk="1" hangingPunct="1"/>
            <a:r>
              <a:rPr lang="en-US" altLang="en-US" dirty="0"/>
              <a:t>How frequent?</a:t>
            </a:r>
          </a:p>
          <a:p>
            <a:pPr lvl="1" eaLnBrk="1" hangingPunct="1"/>
            <a:r>
              <a:rPr lang="en-US" altLang="en-US" dirty="0"/>
              <a:t>Is policy announced?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6F591-B259-CDBF-16AE-B0946675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00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F175-7626-92B8-4272-368A61EE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Distributions Patterns Over 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5077-3705-8B45-451C-C42EC663F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686800" cy="46529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Total payouts as % of net income has been stable @ around 26%-28%.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Div. payout rates falling, stock repurchases increasing.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Repurchases now total more $$ in </a:t>
            </a:r>
            <a:r>
              <a:rPr lang="en-US" altLang="en-US" sz="2400" dirty="0" err="1"/>
              <a:t>distribs</a:t>
            </a:r>
            <a:r>
              <a:rPr lang="en-US" altLang="en-US" sz="2400" dirty="0"/>
              <a:t> than </a:t>
            </a:r>
            <a:r>
              <a:rPr lang="en-US" altLang="en-US" sz="2400" dirty="0" err="1"/>
              <a:t>divs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Smaller % of co.’s now pay </a:t>
            </a:r>
            <a:r>
              <a:rPr lang="en-US" altLang="en-US" sz="2400" dirty="0" err="1"/>
              <a:t>divs</a:t>
            </a:r>
            <a:r>
              <a:rPr lang="en-US" altLang="en-US" sz="2400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When young co.’s start </a:t>
            </a:r>
            <a:r>
              <a:rPr lang="en-US" altLang="en-US" sz="2400" dirty="0" err="1"/>
              <a:t>distribs</a:t>
            </a:r>
            <a:r>
              <a:rPr lang="en-US" altLang="en-US" sz="2400" dirty="0"/>
              <a:t>, usually as repurchases</a:t>
            </a:r>
            <a:r>
              <a:rPr lang="en-US" altLang="en-US" sz="20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err="1"/>
              <a:t>Div</a:t>
            </a:r>
            <a:r>
              <a:rPr lang="en-US" altLang="en-US" sz="2400" dirty="0"/>
              <a:t> payouts: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now more concentrated in a smaller # of large, mature firms.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911EC-08EB-13B3-39C5-7F081D2B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4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04B2-A243-BA2A-3A4C-D3632132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Dividend Yields for Selected Industries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17B2C-7EBF-8924-5821-02887DFC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" name="Group 164">
            <a:extLst>
              <a:ext uri="{FF2B5EF4-FFF2-40B4-BE49-F238E27FC236}">
                <a16:creationId xmlns:a16="http://schemas.microsoft.com/office/drawing/2014/main" id="{AC5D0045-09CA-09D1-00C3-8E4B729C340D}"/>
              </a:ext>
            </a:extLst>
          </p:cNvPr>
          <p:cNvGraphicFramePr>
            <a:graphicFrameLocks/>
          </p:cNvGraphicFramePr>
          <p:nvPr/>
        </p:nvGraphicFramePr>
        <p:xfrm>
          <a:off x="1182688" y="2017713"/>
          <a:ext cx="6818312" cy="45720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Industry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Div. Yield 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Recreational Products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Forest Products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0.91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Software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Household Products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0.62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Food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0.04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Electric Utilities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Banks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Tobacco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Source: Yahoo Industry Data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27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DBA4-6D0D-3A16-BCD1-684EE0D3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dirty="0"/>
              <a:t>Investors prefer high or low payouts?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B5AB-D0DE-8F42-9FD5-B8FBD345F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Three dividend theories:</a:t>
            </a:r>
          </a:p>
          <a:p>
            <a:pPr lvl="1" eaLnBrk="1" hangingPunct="1"/>
            <a:r>
              <a:rPr lang="en-US" altLang="en-US" dirty="0"/>
              <a:t>Dividends are irrelevant: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sz="2400" dirty="0"/>
              <a:t>Investors don’t care about payout.</a:t>
            </a:r>
          </a:p>
          <a:p>
            <a:pPr lvl="1" eaLnBrk="1" hangingPunct="1"/>
            <a:r>
              <a:rPr lang="en-US" altLang="en-US" dirty="0"/>
              <a:t>Dividend preference, or bird-in-the-hand</a:t>
            </a:r>
          </a:p>
          <a:p>
            <a:pPr lvl="2"/>
            <a:r>
              <a:rPr lang="en-US" altLang="en-US" sz="2400" dirty="0"/>
              <a:t>Investors prefer a high payout.</a:t>
            </a:r>
          </a:p>
          <a:p>
            <a:pPr lvl="1" eaLnBrk="1" hangingPunct="1"/>
            <a:r>
              <a:rPr lang="en-US" altLang="en-US" dirty="0"/>
              <a:t>Tax effect: </a:t>
            </a:r>
          </a:p>
          <a:p>
            <a:pPr lvl="2"/>
            <a:r>
              <a:rPr lang="en-US" altLang="en-US" sz="2400" dirty="0"/>
              <a:t>Investors prefer a low payout.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2472A-15CB-697C-75C9-DBC32ED1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99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FEA8-F7CA-4BAC-0021-99978722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Dividend Irrelevance 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5981-21FE-927B-6868-771120AB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686800" cy="465296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Investors indifferent between </a:t>
            </a:r>
            <a:r>
              <a:rPr lang="en-US" altLang="en-US" sz="3200" dirty="0" err="1"/>
              <a:t>divs</a:t>
            </a:r>
            <a:r>
              <a:rPr lang="en-US" altLang="en-US" sz="3200" dirty="0"/>
              <a:t> &amp; retention-generated cap gains. 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If want cash, they can sell stock.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If don’t want cash, can use </a:t>
            </a:r>
            <a:r>
              <a:rPr lang="en-US" altLang="en-US" dirty="0" err="1"/>
              <a:t>divs</a:t>
            </a:r>
            <a:r>
              <a:rPr lang="en-US" altLang="en-US" dirty="0"/>
              <a:t> to buy stock.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Implies payout policy has no effect on stock’s value or </a:t>
            </a:r>
            <a:r>
              <a:rPr lang="en-US" altLang="en-US" sz="3200" dirty="0" err="1"/>
              <a:t>req’d</a:t>
            </a:r>
            <a:r>
              <a:rPr lang="en-US" altLang="en-US" sz="3200" dirty="0"/>
              <a:t> return.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B</a:t>
            </a:r>
            <a:r>
              <a:rPr lang="en-US" altLang="en-US" sz="3200" dirty="0"/>
              <a:t>ased on unrealistic assumptions: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(no taxes or brokerage costs).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2E22-01AD-24B7-4E25-2976F857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3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77C8-E21B-F25F-2C38-45524D68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Dividend Preference </a:t>
            </a:r>
            <a:br>
              <a:rPr lang="en-US" altLang="en-US" dirty="0"/>
            </a:br>
            <a:r>
              <a:rPr lang="en-US" altLang="en-US" dirty="0"/>
              <a:t>(Bird-in-the-Hand) 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AF8-4C01-D0C1-90C5-B4A5EB34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65296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Investors think </a:t>
            </a:r>
            <a:r>
              <a:rPr lang="en-US" altLang="en-US" sz="3200" dirty="0" err="1"/>
              <a:t>divs</a:t>
            </a:r>
            <a:r>
              <a:rPr lang="en-US" altLang="en-US" sz="3200" dirty="0"/>
              <a:t> (</a:t>
            </a:r>
            <a:r>
              <a:rPr lang="en-US" altLang="en-US" sz="2800" dirty="0"/>
              <a:t>i.e., </a:t>
            </a:r>
            <a:r>
              <a:rPr lang="en-US" altLang="en-US" sz="3200" dirty="0"/>
              <a:t>bird-in-the-hand) less risky than potential future cap gains.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Also, high payouts help reduce agency costs by: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depriving </a:t>
            </a:r>
            <a:r>
              <a:rPr lang="en-US" altLang="en-US" dirty="0" err="1"/>
              <a:t>mgrs</a:t>
            </a:r>
            <a:r>
              <a:rPr lang="en-US" altLang="en-US" dirty="0"/>
              <a:t> of cash to waste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creating  more scrutiny by forcing use of external cap markets more often.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T/4, investor value high payout firms more highly &amp;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require lower return to induce them to buy its stock.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EACE-2822-FFB1-FD1B-B8E30947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6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0527-D15A-4E98-74F7-4F3FD4D1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Tax Effect 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05C1-917A-6FC7-2BD3-52576EA6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97217"/>
            <a:ext cx="8610600" cy="477974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Low payouts mean higher cap gains.</a:t>
            </a:r>
          </a:p>
          <a:p>
            <a:pPr lvl="1"/>
            <a:r>
              <a:rPr lang="en-US" altLang="en-US" dirty="0"/>
              <a:t>Cap gains taxes deferred until realized,</a:t>
            </a:r>
          </a:p>
          <a:p>
            <a:pPr lvl="1"/>
            <a:r>
              <a:rPr lang="en-US" altLang="en-US" dirty="0"/>
              <a:t>so  are taxed @ a lower effective rate than </a:t>
            </a:r>
            <a:r>
              <a:rPr lang="en-US" altLang="en-US" dirty="0" err="1"/>
              <a:t>divs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Causes investors to require higher pre-tax return to induce them to buy a high payout stock,</a:t>
            </a:r>
          </a:p>
          <a:p>
            <a:pPr lvl="1"/>
            <a:r>
              <a:rPr lang="en-US" altLang="en-US" dirty="0"/>
              <a:t>Resulting in lower stock price.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7B86D-927D-7AA6-5F4E-38A6161E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2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E0DC-F7F8-8D39-4D98-437092AA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Which theory is most correct?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95FA-F97F-D1FB-D579-A3478423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65296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Some research suggests high payout co.'s have higher </a:t>
            </a:r>
            <a:r>
              <a:rPr lang="en-US" altLang="en-US" sz="3200" dirty="0" err="1"/>
              <a:t>req’d</a:t>
            </a:r>
            <a:r>
              <a:rPr lang="en-US" altLang="en-US" sz="3200" dirty="0"/>
              <a:t> returns on stock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Supports tax effect hypothesis.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</a:t>
            </a:r>
            <a:r>
              <a:rPr lang="en-US" altLang="en-US" sz="3200" dirty="0"/>
              <a:t>ther research using an international sample shows in countries w/ poor investor protection (where agency costs are most severe),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high payout co.'s valued more highly than low payout.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Empirical testing produces mixed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6C1E7-77A9-9863-EA50-A5373690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6158-94F0-1C6B-D9C9-F87FA393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What’s “clientele effect”?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A185F-5E98-5FEA-AD6F-9CD55BB85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97217"/>
            <a:ext cx="8686800" cy="477974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Different groups of investors, or clienteles, prefer different div. policies.</a:t>
            </a:r>
          </a:p>
          <a:p>
            <a:pPr eaLnBrk="1" hangingPunct="1"/>
            <a:r>
              <a:rPr lang="en-US" altLang="en-US" sz="3200" dirty="0"/>
              <a:t>Firm’s past dividend policy determines its current clientele of investors.</a:t>
            </a:r>
          </a:p>
          <a:p>
            <a:pPr eaLnBrk="1" hangingPunct="1"/>
            <a:r>
              <a:rPr lang="en-US" altLang="en-US" sz="3200" dirty="0"/>
              <a:t>Clientele effects impede changing dividend policy.  Taxes &amp; brokerage costs hurt investors who have to switch co.'s due to a change in payout policy.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5799F-85B4-7E64-50E8-79DD9CC6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19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7ABD-3281-2FF9-F2B6-1DB54802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3600" dirty="0"/>
              <a:t>What’s “information content,” </a:t>
            </a:r>
            <a:br>
              <a:rPr lang="en-US" altLang="en-US" sz="3600" dirty="0"/>
            </a:br>
            <a:r>
              <a:rPr lang="en-US" altLang="en-US" sz="3600" dirty="0"/>
              <a:t>or “signaling,” hypothesis?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2DF87-48FF-9168-470D-83646AE4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6529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Investors view div. changes as signals of </a:t>
            </a:r>
            <a:r>
              <a:rPr lang="en-US" altLang="en-US" dirty="0" err="1"/>
              <a:t>mgmt’s</a:t>
            </a:r>
            <a:r>
              <a:rPr lang="en-US" altLang="en-US" dirty="0"/>
              <a:t> view of future.</a:t>
            </a:r>
          </a:p>
          <a:p>
            <a:pPr lvl="1"/>
            <a:r>
              <a:rPr lang="en-US" altLang="en-US" dirty="0" err="1"/>
              <a:t>Mgrs</a:t>
            </a:r>
            <a:r>
              <a:rPr lang="en-US" altLang="en-US" dirty="0"/>
              <a:t> hate to cut </a:t>
            </a:r>
            <a:r>
              <a:rPr lang="en-US" altLang="en-US" dirty="0" err="1"/>
              <a:t>divs</a:t>
            </a:r>
            <a:r>
              <a:rPr lang="en-US" altLang="en-US" dirty="0"/>
              <a:t>, so won’t raise </a:t>
            </a:r>
            <a:r>
              <a:rPr lang="en-US" altLang="en-US" dirty="0" err="1"/>
              <a:t>divs</a:t>
            </a:r>
            <a:r>
              <a:rPr lang="en-US" altLang="en-US" dirty="0"/>
              <a:t> unless think raise sustainable.</a:t>
            </a:r>
          </a:p>
          <a:p>
            <a:pPr eaLnBrk="1" hangingPunct="1"/>
            <a:r>
              <a:rPr lang="en-US" altLang="en-US" dirty="0"/>
              <a:t>T/4,  stock price increase @ time of a div increase could reflect higher expectations for future EPS, not desire for </a:t>
            </a:r>
            <a:r>
              <a:rPr lang="en-US" altLang="en-US" dirty="0" err="1"/>
              <a:t>divs</a:t>
            </a:r>
            <a:r>
              <a:rPr lang="en-US" alt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78DEF-A9A0-A86B-75E9-F1A6AB94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2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F165-2815-DF60-4081-D41BA73E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What’s “residual distribution model”?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AF010-1B78-5A8C-1768-916250298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76406"/>
            <a:ext cx="8915400" cy="4500558"/>
          </a:xfrm>
        </p:spPr>
        <p:txBody>
          <a:bodyPr/>
          <a:lstStyle/>
          <a:p>
            <a:pPr eaLnBrk="1" hangingPunct="1"/>
            <a:r>
              <a:rPr lang="en-US" altLang="en-US" dirty="0"/>
              <a:t>Find reinvested earnings needed for cap budget.</a:t>
            </a:r>
          </a:p>
          <a:p>
            <a:pPr eaLnBrk="1" hangingPunct="1"/>
            <a:r>
              <a:rPr lang="en-US" altLang="en-US" dirty="0"/>
              <a:t>Pay out any leftover earnings (residual) as either </a:t>
            </a:r>
            <a:r>
              <a:rPr lang="en-US" altLang="en-US" dirty="0" err="1"/>
              <a:t>divs</a:t>
            </a:r>
            <a:r>
              <a:rPr lang="en-US" altLang="en-US" dirty="0"/>
              <a:t> or stock </a:t>
            </a:r>
            <a:r>
              <a:rPr lang="en-US" altLang="en-US" dirty="0" err="1"/>
              <a:t>repurch</a:t>
            </a:r>
            <a:r>
              <a:rPr lang="en-US" altLang="en-US" dirty="0"/>
              <a:t>..</a:t>
            </a:r>
          </a:p>
          <a:p>
            <a:pPr eaLnBrk="1" hangingPunct="1"/>
            <a:r>
              <a:rPr lang="en-US" altLang="en-US" dirty="0"/>
              <a:t>Minimizes flotation &amp; equity signaling costs, &amp; also WACC.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6F256-0512-141E-B3BC-CE9A3A9E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56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63BB-4FED-DDD8-2A27-E5B1C95D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Using Residual Model</a:t>
            </a:r>
            <a:br>
              <a:rPr lang="en-US" altLang="en-US" dirty="0"/>
            </a:br>
            <a:r>
              <a:rPr lang="en-US" altLang="en-US" dirty="0"/>
              <a:t> to Calculate Distributions Paid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4756-106E-E0AE-3307-8842C119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21D674A9-631E-AC2C-2AD4-313B7F447C5D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2667000"/>
            <a:ext cx="7953375" cy="2209800"/>
            <a:chOff x="336" y="1488"/>
            <a:chExt cx="5010" cy="2016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1FFB200D-07AC-A255-8282-4CE939056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863"/>
              <a:ext cx="496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/>
                <a:t>Distr. =              –                                      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29B0E59-121E-1C43-2C98-2C7393FA2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1747"/>
              <a:ext cx="120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/>
                <a:t>Net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/>
                <a:t>income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3E80D1D3-1DD2-99A8-B18A-F79D37DFA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1661"/>
              <a:ext cx="1200" cy="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/>
                <a:t>Target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/>
                <a:t>equity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/>
                <a:t>ratio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EF2F9BA6-0440-1669-E000-40B3F3E6E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4" y="1659"/>
              <a:ext cx="1200" cy="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/>
                <a:t>Total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/>
                <a:t>capital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/>
                <a:t>budget</a:t>
              </a:r>
            </a:p>
          </p:txBody>
        </p:sp>
        <p:sp>
          <p:nvSpPr>
            <p:cNvPr id="10" name="AutoShape 20">
              <a:extLst>
                <a:ext uri="{FF2B5EF4-FFF2-40B4-BE49-F238E27FC236}">
                  <a16:creationId xmlns:a16="http://schemas.microsoft.com/office/drawing/2014/main" id="{AC339DBC-CD4E-1466-BA5D-A5E958BDB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1618"/>
              <a:ext cx="1008" cy="972"/>
            </a:xfrm>
            <a:prstGeom prst="bracketPair">
              <a:avLst>
                <a:gd name="adj" fmla="val 16667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1" name="AutoShape 21">
              <a:extLst>
                <a:ext uri="{FF2B5EF4-FFF2-40B4-BE49-F238E27FC236}">
                  <a16:creationId xmlns:a16="http://schemas.microsoft.com/office/drawing/2014/main" id="{1D8BA765-D04D-0BDC-A5A8-76ED28297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" y="1618"/>
              <a:ext cx="1104" cy="972"/>
            </a:xfrm>
            <a:prstGeom prst="bracketPair">
              <a:avLst>
                <a:gd name="adj" fmla="val 16667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" name="AutoShape 22">
              <a:extLst>
                <a:ext uri="{FF2B5EF4-FFF2-40B4-BE49-F238E27FC236}">
                  <a16:creationId xmlns:a16="http://schemas.microsoft.com/office/drawing/2014/main" id="{FC517DE8-BCBC-9FFC-893C-0CDC74E26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1488"/>
              <a:ext cx="2736" cy="1296"/>
            </a:xfrm>
            <a:prstGeom prst="bracketPair">
              <a:avLst>
                <a:gd name="adj" fmla="val 16667"/>
              </a:avLst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500E8970-B2AA-3C06-0078-4E71F8A5C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014"/>
              <a:ext cx="392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/>
                <a:t>Distr. =              –  Required equity</a:t>
              </a: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0D19D05E-D825-6570-DB67-C73211B60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2928"/>
              <a:ext cx="120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/>
                <a:t>Net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/>
                <a:t>income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594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CF4DA4-D4E9-4EE3-8F3F-A96CB41EA0E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3795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365127"/>
            <a:ext cx="845820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Application of Residual Distribution Approach:</a:t>
            </a:r>
          </a:p>
        </p:txBody>
      </p:sp>
      <p:sp>
        <p:nvSpPr>
          <p:cNvPr id="3379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2017712"/>
            <a:ext cx="8726488" cy="4683125"/>
          </a:xfrm>
        </p:spPr>
        <p:txBody>
          <a:bodyPr/>
          <a:lstStyle/>
          <a:p>
            <a:pPr eaLnBrk="1" hangingPunct="1"/>
            <a:r>
              <a:rPr lang="en-US" altLang="en-US" dirty="0"/>
              <a:t>Capital budget:  $112.5 million.</a:t>
            </a:r>
          </a:p>
          <a:p>
            <a:pPr eaLnBrk="1" hangingPunct="1"/>
            <a:r>
              <a:rPr lang="en-US" altLang="en-US" dirty="0"/>
              <a:t>Target cap structure: 20% debt, 80% equity. </a:t>
            </a:r>
          </a:p>
          <a:p>
            <a:pPr eaLnBrk="1" hangingPunct="1"/>
            <a:r>
              <a:rPr lang="en-US" altLang="en-US" dirty="0"/>
              <a:t>Forecasted net income:  $140 million.</a:t>
            </a:r>
          </a:p>
          <a:p>
            <a:pPr eaLnBrk="1" hangingPunct="1"/>
            <a:r>
              <a:rPr lang="en-US" altLang="en-US" dirty="0"/>
              <a:t># shares: 100 million.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9BC9-1747-46AE-A112-2013CBF4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Application of the Residual Distribution Approach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ED04F-DD62-CAE9-AA59-A1273F2A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7" name="Group 75">
            <a:extLst>
              <a:ext uri="{FF2B5EF4-FFF2-40B4-BE49-F238E27FC236}">
                <a16:creationId xmlns:a16="http://schemas.microsoft.com/office/drawing/2014/main" id="{A46C8C76-22DB-A9BA-85CF-34F0C1190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4579495"/>
              </p:ext>
            </p:extLst>
          </p:nvPr>
        </p:nvGraphicFramePr>
        <p:xfrm>
          <a:off x="457200" y="2133600"/>
          <a:ext cx="8269288" cy="41148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Number of shares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Equity ratio (w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Capital budget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$112.5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$112.5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$112.5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Net income                          </a:t>
                      </a:r>
                      <a:r>
                        <a:rPr kumimoji="0" lang="en-US" sz="24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 MT Bold" panose="03040602040607080904" pitchFamily="66" charset="0"/>
                        </a:rPr>
                        <a:t>if: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$140.0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$90.0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$160.0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Req. equ.: (w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X Cap. Bgt.)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$90.0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$90.0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$90.0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Dist. paid: (NI – Req. equity)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$70.0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Payout ratio (Dividend/NI)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35.7%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43.8%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Dividend per share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$0.50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$0.70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794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D2AD-68A7-5A9B-8B5C-50595CC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Investment Opportunities </a:t>
            </a:r>
            <a:br>
              <a:rPr lang="en-US" altLang="en-US" dirty="0"/>
            </a:br>
            <a:r>
              <a:rPr lang="en-US" altLang="en-US" dirty="0"/>
              <a:t>&amp; Residual Dividends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239F8-9DEE-D00C-0C70-811B76C4B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8686800" cy="4500558"/>
          </a:xfrm>
        </p:spPr>
        <p:txBody>
          <a:bodyPr/>
          <a:lstStyle/>
          <a:p>
            <a:pPr eaLnBrk="1" hangingPunct="1"/>
            <a:r>
              <a:rPr lang="en-US" altLang="en-US" dirty="0"/>
              <a:t>Fewer good investments = smaller cap budget, </a:t>
            </a:r>
          </a:p>
          <a:p>
            <a:pPr lvl="1"/>
            <a:r>
              <a:rPr lang="en-US" altLang="en-US" dirty="0"/>
              <a:t>so higher div payout.</a:t>
            </a:r>
          </a:p>
          <a:p>
            <a:pPr eaLnBrk="1" hangingPunct="1"/>
            <a:r>
              <a:rPr lang="en-US" altLang="en-US" dirty="0"/>
              <a:t>More good investments leads to lower div payout.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E82E8-CFE5-DD4A-64AC-5111474D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66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50DB-C844-A0B5-C4B1-D709AD08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6524"/>
            <a:ext cx="7981950" cy="1260693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Res. Div. Policy:</a:t>
            </a:r>
            <a:br>
              <a:rPr lang="en-US" altLang="en-US" sz="3600" dirty="0"/>
            </a:br>
            <a:r>
              <a:rPr lang="en-US" altLang="en-US" sz="3600" dirty="0"/>
              <a:t>Advantages &amp; Disadvantages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73A6-118F-CCC4-970E-7EF92105C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4729164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Advantages:  </a:t>
            </a:r>
          </a:p>
          <a:p>
            <a:pPr lvl="1"/>
            <a:r>
              <a:rPr lang="en-US" altLang="en-US" dirty="0"/>
              <a:t>Minimizes new stock issues &amp; flotation costs.</a:t>
            </a:r>
          </a:p>
          <a:p>
            <a:pPr eaLnBrk="1" hangingPunct="1"/>
            <a:r>
              <a:rPr lang="en-US" altLang="en-US" dirty="0"/>
              <a:t>Disadvantages:</a:t>
            </a:r>
          </a:p>
          <a:p>
            <a:pPr lvl="1"/>
            <a:r>
              <a:rPr lang="en-US" altLang="en-US" dirty="0"/>
              <a:t>Results in variable dividends, </a:t>
            </a:r>
          </a:p>
          <a:p>
            <a:pPr lvl="1"/>
            <a:r>
              <a:rPr lang="en-US" altLang="en-US" dirty="0"/>
              <a:t>Sends conflicting signals</a:t>
            </a:r>
          </a:p>
          <a:p>
            <a:pPr lvl="1"/>
            <a:r>
              <a:rPr lang="en-US" altLang="en-US" dirty="0"/>
              <a:t>Increases risk</a:t>
            </a:r>
          </a:p>
          <a:p>
            <a:pPr lvl="1"/>
            <a:r>
              <a:rPr lang="en-US" altLang="en-US" dirty="0"/>
              <a:t>Doesn’t appeal to any specific clientele.</a:t>
            </a:r>
          </a:p>
          <a:p>
            <a:pPr eaLnBrk="1" hangingPunct="1"/>
            <a:r>
              <a:rPr lang="en-US" altLang="en-US" dirty="0"/>
              <a:t>Conclusion:  Consider residual policy when setting target payout, but don’t follow it rigidly.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FE81-F732-6494-8A54-4DE95528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71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5D04-6E4D-3D93-EC5E-4E3D8347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dirty="0"/>
              <a:t>Setting Dividend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3087-E5AE-A507-CB5F-9B8DF558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97217"/>
            <a:ext cx="8763000" cy="477974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Forecast cap needs over planning horizon,  ~5 yrs</a:t>
            </a:r>
          </a:p>
          <a:p>
            <a:pPr eaLnBrk="1" hangingPunct="1"/>
            <a:r>
              <a:rPr lang="en-US" altLang="en-US" dirty="0"/>
              <a:t>Set target cap structure</a:t>
            </a:r>
          </a:p>
          <a:p>
            <a:pPr eaLnBrk="1" hangingPunct="1"/>
            <a:r>
              <a:rPr lang="en-US" altLang="en-US" dirty="0"/>
              <a:t>Estimate annual equity needs</a:t>
            </a:r>
          </a:p>
          <a:p>
            <a:pPr eaLnBrk="1" hangingPunct="1"/>
            <a:r>
              <a:rPr lang="en-US" altLang="en-US" dirty="0"/>
              <a:t>Set target payout based on residual model</a:t>
            </a:r>
          </a:p>
          <a:p>
            <a:pPr eaLnBrk="1" hangingPunct="1"/>
            <a:r>
              <a:rPr lang="en-US" altLang="en-US" dirty="0"/>
              <a:t>Generally, some div g% emerges.</a:t>
            </a:r>
          </a:p>
          <a:p>
            <a:pPr lvl="1"/>
            <a:r>
              <a:rPr lang="en-US" altLang="en-US" dirty="0"/>
              <a:t>Maintain target g% if possible, varying cap structure somewhat if necessary.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B1BD2-5753-A108-9374-7EFB60A7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40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A9BE8-A3F2-CC74-A687-41FFEFC6D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Process of Dividend Payment: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44534-1BFF-4440-569C-A32A0182B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November 11:</a:t>
            </a:r>
            <a:r>
              <a:rPr lang="en-US" altLang="en-US" dirty="0"/>
              <a:t> Board declares a quarterly dividend of $0.50 per share to holders of record as of December 10.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December 7:</a:t>
            </a:r>
            <a:r>
              <a:rPr lang="en-US" altLang="en-US" dirty="0"/>
              <a:t> Dividend goes </a:t>
            </a:r>
            <a:r>
              <a:rPr lang="en-US" altLang="en-US" i="1" dirty="0"/>
              <a:t>with</a:t>
            </a:r>
            <a:r>
              <a:rPr lang="en-US" altLang="en-US" dirty="0"/>
              <a:t> stock.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December 8:</a:t>
            </a:r>
            <a:r>
              <a:rPr lang="en-US" altLang="en-US" dirty="0"/>
              <a:t> Ex-dividend date.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December 10:</a:t>
            </a:r>
            <a:r>
              <a:rPr lang="en-US" altLang="en-US" dirty="0"/>
              <a:t> Holder of record date.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December 31:</a:t>
            </a:r>
            <a:r>
              <a:rPr lang="en-US" altLang="en-US" dirty="0"/>
              <a:t> Payment date to holders of record.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40CD2-B015-552C-2CE3-9DF914A1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88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8846-F8C1-E642-3F8E-8BAEFC29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Stock Repurchases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7FDF-7202-3790-BD17-81AC1E86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Co. buys its own stock back from stockholders.</a:t>
            </a:r>
          </a:p>
          <a:p>
            <a:pPr eaLnBrk="1" hangingPunct="1"/>
            <a:r>
              <a:rPr lang="en-US" altLang="en-US" dirty="0"/>
              <a:t>Reasons for repurchases:</a:t>
            </a:r>
          </a:p>
          <a:p>
            <a:pPr lvl="1" eaLnBrk="1" hangingPunct="1"/>
            <a:r>
              <a:rPr lang="en-US" altLang="en-US" sz="2400" dirty="0"/>
              <a:t>As alternative to distributing cash as </a:t>
            </a:r>
            <a:r>
              <a:rPr lang="en-US" altLang="en-US" sz="2400" dirty="0" err="1"/>
              <a:t>divs</a:t>
            </a:r>
            <a:r>
              <a:rPr lang="en-US" altLang="en-US" sz="2400" dirty="0"/>
              <a:t>.</a:t>
            </a:r>
          </a:p>
          <a:p>
            <a:pPr lvl="1" eaLnBrk="1" hangingPunct="1"/>
            <a:r>
              <a:rPr lang="en-US" altLang="en-US" sz="2400" dirty="0"/>
              <a:t>To dispose of one-time cash from asset sale.</a:t>
            </a:r>
          </a:p>
          <a:p>
            <a:pPr lvl="1" eaLnBrk="1" hangingPunct="1"/>
            <a:r>
              <a:rPr lang="en-US" altLang="en-US" sz="2400" dirty="0"/>
              <a:t>To make a large cap structure change.</a:t>
            </a:r>
          </a:p>
          <a:p>
            <a:pPr lvl="1" eaLnBrk="1" hangingPunct="1"/>
            <a:r>
              <a:rPr lang="en-US" altLang="en-US" sz="2400" dirty="0"/>
              <a:t>To use when employees exercise stock options.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8FAD2-939B-9D47-D4CA-FD7DCEDA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30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7D3E-8E99-974F-FE2D-E867DB0B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Procedures of a Repurchase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1EFE-CA8D-2689-F3EF-096FBEDD2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652964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Firm announces intent to buyback its stock.</a:t>
            </a:r>
          </a:p>
          <a:p>
            <a:pPr eaLnBrk="1" hangingPunct="1"/>
            <a:r>
              <a:rPr lang="en-US" altLang="en-US" sz="2800" dirty="0"/>
              <a:t>Three ways to repurchase:</a:t>
            </a:r>
          </a:p>
          <a:p>
            <a:pPr lvl="1" eaLnBrk="1" hangingPunct="1"/>
            <a:r>
              <a:rPr lang="en-US" altLang="en-US" sz="2400" dirty="0"/>
              <a:t>Have broker/trustee purchase on open market over some  period.</a:t>
            </a:r>
          </a:p>
          <a:p>
            <a:pPr lvl="1" eaLnBrk="1" hangingPunct="1"/>
            <a:r>
              <a:rPr lang="en-US" altLang="en-US" sz="2400" dirty="0"/>
              <a:t>Make a tender offer to shareholders.</a:t>
            </a:r>
          </a:p>
          <a:p>
            <a:pPr lvl="1" eaLnBrk="1" hangingPunct="1"/>
            <a:r>
              <a:rPr lang="en-US" altLang="en-US" sz="2400" dirty="0"/>
              <a:t>Make a block (targeted) repurchase.</a:t>
            </a:r>
          </a:p>
          <a:p>
            <a:pPr eaLnBrk="1" hangingPunct="1"/>
            <a:r>
              <a:rPr lang="en-US" altLang="en-US" sz="2800" dirty="0"/>
              <a:t>Firm doesn’t have to complete its intended repurchase.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6FA5B-356B-9F56-A132-3268005A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67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BF6F-984B-E9C8-82CA-20291ED0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Repurchase has no effect on stock price!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BAC1-BBE6-4AE2-8333-D47C372E0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Announcement of an intended repurchase might send signal affecting stock price,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&amp; previous events that led to cash available for a distribution affect stock price, but the </a:t>
            </a:r>
            <a:r>
              <a:rPr lang="en-US" altLang="en-US" sz="2000" i="1" dirty="0"/>
              <a:t>actual</a:t>
            </a:r>
            <a:r>
              <a:rPr lang="en-US" altLang="en-US" sz="2000" dirty="0"/>
              <a:t> repurchase has no impact on stock price because: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investors thought repurchase would increase stock price, they would all purchase stock the day before, which would drive up its price.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investors thought repurchase would decrease stock price, they would all sell short the stock the day before, which would drive down its price.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05169-B279-C6C6-4BBD-37028A68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99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0605-602F-2FA7-5F35-4A68F630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Repurchases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4909-A973-7462-9D5B-6A77BFF4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362950" cy="46529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S-holders choose to sell or not.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Helps avoid setting high dividend that can’t be maintained.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Income received is cap gains rather than higher-taxed dividends.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S-holders may take as positive signal--management thinks stock is undervalued.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154DB-0174-98B4-AD60-3C8B899A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38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5404-0863-CC31-A71D-423038EE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Disadvantages of Repurchases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47DFB-D8E5-7616-4293-DEE431AD5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May be viewed as a negative signal (firm has poor investment opportunities).</a:t>
            </a:r>
          </a:p>
          <a:p>
            <a:pPr eaLnBrk="1" hangingPunct="1"/>
            <a:r>
              <a:rPr lang="en-US" altLang="en-US" dirty="0"/>
              <a:t>IRS could impose penalties if repurchases were primarily to avoid taxes on dividends.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86A5D-1D0C-3CA9-71FC-663C083C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21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1A34-CAF6-BAE0-0D30-5DD4A3D5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Stock Dividends vs. Stock Splits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43FAE-F8EB-FBB1-4DCB-65733A465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Stock dividend: </a:t>
            </a:r>
          </a:p>
          <a:p>
            <a:pPr lvl="1"/>
            <a:r>
              <a:rPr lang="en-US" altLang="en-US" dirty="0"/>
              <a:t>Firm issues new shares in lieu of paying a cash dividend.  </a:t>
            </a:r>
          </a:p>
          <a:p>
            <a:pPr lvl="1"/>
            <a:r>
              <a:rPr lang="en-US" altLang="en-US" dirty="0"/>
              <a:t>If 10%, get 10 shares for each 100 shares owned.</a:t>
            </a:r>
          </a:p>
          <a:p>
            <a:pPr eaLnBrk="1" hangingPunct="1"/>
            <a:r>
              <a:rPr lang="en-US" altLang="en-US" dirty="0"/>
              <a:t>Stock split: </a:t>
            </a:r>
          </a:p>
          <a:p>
            <a:pPr lvl="1"/>
            <a:r>
              <a:rPr lang="en-US" altLang="en-US" dirty="0"/>
              <a:t>Firm increases # of shares outstanding, say 2:1.  Sends S-holders more shares.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C537B-E2BA-E7F2-3A75-2074A253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43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8C94-6BA8-D038-FC4A-8872F6A4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Stock Dividends vs. Stock Splits (</a:t>
            </a:r>
            <a:r>
              <a:rPr lang="en-US" altLang="en-US" dirty="0" err="1"/>
              <a:t>con’t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222E-05B2-AED3-5D9E-E88F4EF8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97217"/>
            <a:ext cx="8134350" cy="477974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Both stock dividends &amp; stock splits increase number of shares outstanding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 “pie is divided into smaller pieces.”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Unless stock dividend or split conveys information, or is accompanied by another event like higher dividends: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stock price falls so as to keep each investor’s wealth unchanged.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But splits/stock dividends may get stock to an “optimal price range.”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69F17-B9C6-0A62-E45E-C247D83F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77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9490-8613-EF43-2235-E71197C4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When should a firm consider stock split?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AB87-CDB5-783A-FD07-77CEAEF74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76764"/>
          </a:xfrm>
        </p:spPr>
        <p:txBody>
          <a:bodyPr/>
          <a:lstStyle/>
          <a:p>
            <a:pPr eaLnBrk="1" hangingPunct="1"/>
            <a:r>
              <a:rPr lang="en-US" altLang="en-US" dirty="0"/>
              <a:t>Widespread belief that optimal price range for stocks is $20 to $80.</a:t>
            </a:r>
          </a:p>
          <a:p>
            <a:pPr eaLnBrk="1" hangingPunct="1"/>
            <a:r>
              <a:rPr lang="en-US" altLang="en-US" dirty="0"/>
              <a:t>Stock splits can be used to keep price in  optimal range.</a:t>
            </a:r>
          </a:p>
          <a:p>
            <a:pPr eaLnBrk="1" hangingPunct="1"/>
            <a:r>
              <a:rPr lang="en-US" altLang="en-US" dirty="0"/>
              <a:t>Stock splits generally occur when </a:t>
            </a:r>
            <a:r>
              <a:rPr lang="en-US" altLang="en-US" dirty="0" err="1"/>
              <a:t>mgmt</a:t>
            </a:r>
            <a:r>
              <a:rPr lang="en-US" altLang="en-US" dirty="0"/>
              <a:t> is confident, so interpreted as positive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6A590-F941-57A9-CBF3-0ABBC488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5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BACC-0E1B-6157-AC86-C147BE81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Summary of Factors Influencing Dividend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FDDC2-EC9E-7677-A6D2-D8F2540BE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1. Constraints on Dividend Payments</a:t>
            </a:r>
          </a:p>
          <a:p>
            <a:pPr lvl="1" eaLnBrk="1" hangingPunct="1"/>
            <a:r>
              <a:rPr lang="en-US" altLang="en-US" dirty="0"/>
              <a:t>Bond Indentures</a:t>
            </a:r>
          </a:p>
          <a:p>
            <a:pPr lvl="1" eaLnBrk="1" hangingPunct="1"/>
            <a:r>
              <a:rPr lang="en-US" altLang="en-US" dirty="0"/>
              <a:t>Preferred stock restrictions</a:t>
            </a:r>
          </a:p>
          <a:p>
            <a:pPr lvl="1" eaLnBrk="1" hangingPunct="1"/>
            <a:r>
              <a:rPr lang="en-US" altLang="en-US" dirty="0"/>
              <a:t>Impairment of cap rule</a:t>
            </a:r>
          </a:p>
          <a:p>
            <a:pPr lvl="1" eaLnBrk="1" hangingPunct="1"/>
            <a:r>
              <a:rPr lang="en-US" altLang="en-US" dirty="0"/>
              <a:t>Availability of Cash</a:t>
            </a:r>
          </a:p>
          <a:p>
            <a:pPr lvl="1" eaLnBrk="1" hangingPunct="1"/>
            <a:r>
              <a:rPr lang="en-US" altLang="en-US" dirty="0"/>
              <a:t>Penalty tax on improperly accumulated earnings.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59437-455E-A896-72C1-1601F93F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9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52BC-F47F-ACE6-ACD7-E7C7DB44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Summary of Factors Influencing Dividend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A2A4-5104-E9E7-3D44-F4A4B354B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en-US" dirty="0"/>
              <a:t>2. Investment Opportunities</a:t>
            </a:r>
          </a:p>
          <a:p>
            <a:pPr lvl="1">
              <a:defRPr/>
            </a:pPr>
            <a:r>
              <a:rPr lang="en-US" altLang="en-US" dirty="0"/>
              <a:t>Number of profitable investment opportunities</a:t>
            </a:r>
          </a:p>
          <a:p>
            <a:pPr lvl="1">
              <a:defRPr/>
            </a:pPr>
            <a:r>
              <a:rPr lang="en-US" altLang="en-US" dirty="0"/>
              <a:t>Possibility of accelerating or delaying projects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642A9-5C4F-F192-81AD-C93761E8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20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F464-F86D-6A99-F968-0253ABE1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Summary of Factors Influencing Dividend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BFF2-07E5-9614-5900-0E3683162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3. Alternative sources of Capital</a:t>
            </a:r>
          </a:p>
          <a:p>
            <a:pPr lvl="1" eaLnBrk="1" hangingPunct="1"/>
            <a:r>
              <a:rPr lang="en-US" altLang="en-US" dirty="0"/>
              <a:t>Cost of selling new stock</a:t>
            </a:r>
          </a:p>
          <a:p>
            <a:pPr lvl="1" eaLnBrk="1" hangingPunct="1"/>
            <a:r>
              <a:rPr lang="en-US" altLang="en-US" dirty="0"/>
              <a:t>Capital structure flexibility</a:t>
            </a:r>
          </a:p>
          <a:p>
            <a:pPr lvl="1" eaLnBrk="1" hangingPunct="1"/>
            <a:r>
              <a:rPr lang="en-US" altLang="en-US" dirty="0"/>
              <a:t>Control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9071B-09D3-4E7B-93C1-B353FF5D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01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291C-80ED-E703-1AB0-D91C7AFA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Summary of Factors Influencing Dividend Policy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E882B-BE40-A2CD-3995-0E3A08244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en-US" dirty="0"/>
              <a:t>4. Effects of Dividend Policy on Cost of Equity (R</a:t>
            </a:r>
            <a:r>
              <a:rPr lang="en-US" altLang="en-US" sz="2000" dirty="0"/>
              <a:t>s</a:t>
            </a:r>
            <a:r>
              <a:rPr lang="en-US" altLang="en-US" dirty="0"/>
              <a:t>)</a:t>
            </a:r>
          </a:p>
          <a:p>
            <a:pPr lvl="1" eaLnBrk="1" hangingPunct="1">
              <a:defRPr/>
            </a:pPr>
            <a:r>
              <a:rPr lang="en-US" altLang="en-US" dirty="0"/>
              <a:t>S-holders desire for current versus future income</a:t>
            </a:r>
          </a:p>
          <a:p>
            <a:pPr lvl="1" eaLnBrk="1" hangingPunct="1">
              <a:defRPr/>
            </a:pPr>
            <a:r>
              <a:rPr lang="en-US" altLang="en-US" dirty="0"/>
              <a:t>Perceived risks of dividends vs. cap gains</a:t>
            </a:r>
          </a:p>
          <a:p>
            <a:pPr lvl="1" eaLnBrk="1" hangingPunct="1">
              <a:defRPr/>
            </a:pPr>
            <a:r>
              <a:rPr lang="en-US" altLang="en-US" dirty="0"/>
              <a:t>Tax advantage of cap gains over dividends</a:t>
            </a:r>
          </a:p>
          <a:p>
            <a:pPr lvl="1" eaLnBrk="1" hangingPunct="1">
              <a:defRPr/>
            </a:pPr>
            <a:r>
              <a:rPr lang="en-US" altLang="en-US" dirty="0"/>
              <a:t>Information content of dividends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61C00-E83F-438F-FFC4-64BCD8E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81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9306-0B6F-BE15-1CF4-6E40B4CC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/>
              <a:t>What’s a “dividend reinvestment</a:t>
            </a:r>
            <a:br>
              <a:rPr lang="en-US" altLang="en-US" sz="3600" dirty="0"/>
            </a:br>
            <a:r>
              <a:rPr lang="en-US" altLang="en-US" sz="3600" dirty="0"/>
              <a:t>plan (DRIP)”?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22E1E-A375-C31A-48DE-E498A8C2A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S-holders can automatically reinvest their dividends in shares of the company’s common stock.  Get more stock than cash.</a:t>
            </a:r>
          </a:p>
          <a:p>
            <a:pPr eaLnBrk="1" hangingPunct="1"/>
            <a:r>
              <a:rPr lang="en-US" altLang="en-US" dirty="0"/>
              <a:t>There are two types of plans:</a:t>
            </a:r>
          </a:p>
          <a:p>
            <a:pPr lvl="1" eaLnBrk="1" hangingPunct="1"/>
            <a:r>
              <a:rPr lang="en-US" altLang="en-US" dirty="0"/>
              <a:t>Open market</a:t>
            </a:r>
          </a:p>
          <a:p>
            <a:pPr lvl="1" eaLnBrk="1" hangingPunct="1"/>
            <a:r>
              <a:rPr lang="en-US" altLang="en-US" dirty="0"/>
              <a:t>New stock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6987B-7397-500F-BAA8-3E76153A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14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E029-5033-000F-1383-32E00902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Open Market Purchase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4BAA-9817-5387-3389-BAC10C0DD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Dollars to be reinvested are turned over to trustee, who buys shares on the open market.</a:t>
            </a:r>
          </a:p>
          <a:p>
            <a:pPr eaLnBrk="1" hangingPunct="1"/>
            <a:r>
              <a:rPr lang="en-US" altLang="en-US" dirty="0"/>
              <a:t>Brokerage costs are reduced by volume purchases.</a:t>
            </a:r>
          </a:p>
          <a:p>
            <a:pPr eaLnBrk="1" hangingPunct="1"/>
            <a:r>
              <a:rPr lang="en-US" altLang="en-US" dirty="0"/>
              <a:t>Convenient, easy way to invest, thus useful for investors.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442FC-CD18-63DD-18F0-E467E9DF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1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C516-7CC6-D19C-DD52-FE1A8A8EF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New Stock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E856D-F29F-2C5B-860E-709FF7F6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Firm issues new stock to DRIP enrollees, keeps money &amp; uses it to buy assets.</a:t>
            </a:r>
          </a:p>
          <a:p>
            <a:pPr eaLnBrk="1" hangingPunct="1"/>
            <a:r>
              <a:rPr lang="en-US" altLang="en-US" dirty="0"/>
              <a:t>No fees are charged, plus sells stock @ discount of 5% from market price, which is about equal to flotation costs of underwritten stock offering.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117C4-5FBC-6DC1-57C0-ADBC706B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15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3943-37DA-FCEF-DE1C-36C1AE5F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Stock Plan (</a:t>
            </a:r>
            <a:r>
              <a:rPr lang="en-US" dirty="0" err="1"/>
              <a:t>con’t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BD91F-9C13-989D-FC50-01403D44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Optional investments sometimes possible, up to $150,000 or so.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Firms that need new equity cap use new stock plans.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Firms with no need for new equity capital use open market purchase plans.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Most NYSE listed co.'s have a DRIP.  Useful for investors.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8A6E3-CBE9-C0C8-67B4-C06B19B8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5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756</TotalTime>
  <Pages>24</Pages>
  <Words>1866</Words>
  <Application>Microsoft Office PowerPoint</Application>
  <PresentationFormat>On-screen Show (4:3)</PresentationFormat>
  <Paragraphs>316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Script MT Bold</vt:lpstr>
      <vt:lpstr>Tahoma</vt:lpstr>
      <vt:lpstr>Times New Roman</vt:lpstr>
      <vt:lpstr>Wingdings</vt:lpstr>
      <vt:lpstr>Office Theme</vt:lpstr>
      <vt:lpstr>CHAPTER 14</vt:lpstr>
      <vt:lpstr>Topics in Chapter</vt:lpstr>
      <vt:lpstr>Free Cash Flow: Distributions to Shareholders </vt:lpstr>
      <vt:lpstr>What’s “distribution policy”?</vt:lpstr>
      <vt:lpstr>What’s “dividend policy”?</vt:lpstr>
      <vt:lpstr>Distributions Patterns Over Time</vt:lpstr>
      <vt:lpstr>Dividend Yields for Selected Industries</vt:lpstr>
      <vt:lpstr>Investors prefer high or low payouts?</vt:lpstr>
      <vt:lpstr>Dividend Irrelevance Theory</vt:lpstr>
      <vt:lpstr>Dividend Preference  (Bird-in-the-Hand) Theory</vt:lpstr>
      <vt:lpstr>Tax Effect Theory</vt:lpstr>
      <vt:lpstr>Which theory is most correct?</vt:lpstr>
      <vt:lpstr>What’s “clientele effect”?</vt:lpstr>
      <vt:lpstr>What’s “information content,”  or “signaling,” hypothesis?</vt:lpstr>
      <vt:lpstr>What’s “residual distribution model”?</vt:lpstr>
      <vt:lpstr>Using Residual Model  to Calculate Distributions Paid</vt:lpstr>
      <vt:lpstr>Application of Residual Distribution Approach:</vt:lpstr>
      <vt:lpstr>Application of the Residual Distribution Approach</vt:lpstr>
      <vt:lpstr>Investment Opportunities  &amp; Residual Dividends</vt:lpstr>
      <vt:lpstr>Res. Div. Policy: Advantages &amp; Disadvantages </vt:lpstr>
      <vt:lpstr>Setting Dividend Policy</vt:lpstr>
      <vt:lpstr>Process of Dividend Payment:</vt:lpstr>
      <vt:lpstr>Stock Repurchases</vt:lpstr>
      <vt:lpstr>Procedures of a Repurchase</vt:lpstr>
      <vt:lpstr>Repurchase has no effect on stock price!</vt:lpstr>
      <vt:lpstr>Advantages of Repurchases</vt:lpstr>
      <vt:lpstr>Disadvantages of Repurchases</vt:lpstr>
      <vt:lpstr>Stock Dividends vs. Stock Splits</vt:lpstr>
      <vt:lpstr>Stock Dividends vs. Stock Splits (con’t)</vt:lpstr>
      <vt:lpstr>When should a firm consider stock split?</vt:lpstr>
      <vt:lpstr>Summary of Factors Influencing Dividend Policy</vt:lpstr>
      <vt:lpstr>Summary of Factors Influencing Dividend Policy</vt:lpstr>
      <vt:lpstr>Summary of Factors Influencing Dividend Policy</vt:lpstr>
      <vt:lpstr>Summary of Factors Influencing Dividend Policy</vt:lpstr>
      <vt:lpstr>What’s a “dividend reinvestment plan (DRIP)”?</vt:lpstr>
      <vt:lpstr>Open Market Purchase Plan</vt:lpstr>
      <vt:lpstr>New Stock Plan</vt:lpstr>
      <vt:lpstr>New Stock Plan (con’t)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subject>Powerpoint show</dc:subject>
  <dc:creator>Donna Hall</dc:creator>
  <cp:lastModifiedBy>Robert M Donchez</cp:lastModifiedBy>
  <cp:revision>21</cp:revision>
  <cp:lastPrinted>2025-11-20T03:43:01Z</cp:lastPrinted>
  <dcterms:created xsi:type="dcterms:W3CDTF">2022-07-21T20:36:46Z</dcterms:created>
  <dcterms:modified xsi:type="dcterms:W3CDTF">2025-11-20T05:48:28Z</dcterms:modified>
</cp:coreProperties>
</file>