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99"/>
  </p:notesMasterIdLst>
  <p:handoutMasterIdLst>
    <p:handoutMasterId r:id="rId100"/>
  </p:handoutMasterIdLst>
  <p:sldIdLst>
    <p:sldId id="341" r:id="rId2"/>
    <p:sldId id="319" r:id="rId3"/>
    <p:sldId id="369" r:id="rId4"/>
    <p:sldId id="364" r:id="rId5"/>
    <p:sldId id="370" r:id="rId6"/>
    <p:sldId id="371" r:id="rId7"/>
    <p:sldId id="372" r:id="rId8"/>
    <p:sldId id="373" r:id="rId9"/>
    <p:sldId id="257" r:id="rId10"/>
    <p:sldId id="320" r:id="rId11"/>
    <p:sldId id="354" r:id="rId12"/>
    <p:sldId id="297" r:id="rId13"/>
    <p:sldId id="367" r:id="rId14"/>
    <p:sldId id="368" r:id="rId15"/>
    <p:sldId id="353" r:id="rId16"/>
    <p:sldId id="380" r:id="rId17"/>
    <p:sldId id="375" r:id="rId18"/>
    <p:sldId id="417" r:id="rId19"/>
    <p:sldId id="377" r:id="rId20"/>
    <p:sldId id="378" r:id="rId21"/>
    <p:sldId id="406" r:id="rId22"/>
    <p:sldId id="419" r:id="rId23"/>
    <p:sldId id="407" r:id="rId24"/>
    <p:sldId id="342" r:id="rId25"/>
    <p:sldId id="268" r:id="rId26"/>
    <p:sldId id="409" r:id="rId27"/>
    <p:sldId id="403" r:id="rId28"/>
    <p:sldId id="270" r:id="rId29"/>
    <p:sldId id="271" r:id="rId30"/>
    <p:sldId id="272" r:id="rId31"/>
    <p:sldId id="412" r:id="rId32"/>
    <p:sldId id="411" r:id="rId33"/>
    <p:sldId id="274" r:id="rId34"/>
    <p:sldId id="410" r:id="rId35"/>
    <p:sldId id="275" r:id="rId36"/>
    <p:sldId id="404" r:id="rId37"/>
    <p:sldId id="277" r:id="rId38"/>
    <p:sldId id="279" r:id="rId39"/>
    <p:sldId id="413" r:id="rId40"/>
    <p:sldId id="323" r:id="rId41"/>
    <p:sldId id="385" r:id="rId42"/>
    <p:sldId id="386" r:id="rId43"/>
    <p:sldId id="365" r:id="rId44"/>
    <p:sldId id="387" r:id="rId45"/>
    <p:sldId id="283" r:id="rId46"/>
    <p:sldId id="366" r:id="rId47"/>
    <p:sldId id="285" r:id="rId48"/>
    <p:sldId id="286" r:id="rId49"/>
    <p:sldId id="414" r:id="rId50"/>
    <p:sldId id="287" r:id="rId51"/>
    <p:sldId id="425" r:id="rId52"/>
    <p:sldId id="426" r:id="rId53"/>
    <p:sldId id="332" r:id="rId54"/>
    <p:sldId id="333" r:id="rId55"/>
    <p:sldId id="335" r:id="rId56"/>
    <p:sldId id="334" r:id="rId57"/>
    <p:sldId id="405" r:id="rId58"/>
    <p:sldId id="395" r:id="rId59"/>
    <p:sldId id="415" r:id="rId60"/>
    <p:sldId id="290" r:id="rId61"/>
    <p:sldId id="356" r:id="rId62"/>
    <p:sldId id="416" r:id="rId63"/>
    <p:sldId id="357" r:id="rId64"/>
    <p:sldId id="427" r:id="rId65"/>
    <p:sldId id="430" r:id="rId66"/>
    <p:sldId id="358" r:id="rId67"/>
    <p:sldId id="390" r:id="rId68"/>
    <p:sldId id="389" r:id="rId69"/>
    <p:sldId id="321" r:id="rId70"/>
    <p:sldId id="324" r:id="rId71"/>
    <p:sldId id="291" r:id="rId72"/>
    <p:sldId id="292" r:id="rId73"/>
    <p:sldId id="293" r:id="rId74"/>
    <p:sldId id="336" r:id="rId75"/>
    <p:sldId id="294" r:id="rId76"/>
    <p:sldId id="295" r:id="rId77"/>
    <p:sldId id="296" r:id="rId78"/>
    <p:sldId id="391" r:id="rId79"/>
    <p:sldId id="392" r:id="rId80"/>
    <p:sldId id="298" r:id="rId81"/>
    <p:sldId id="393" r:id="rId82"/>
    <p:sldId id="325" r:id="rId83"/>
    <p:sldId id="302" r:id="rId84"/>
    <p:sldId id="306" r:id="rId85"/>
    <p:sldId id="397" r:id="rId86"/>
    <p:sldId id="326" r:id="rId87"/>
    <p:sldId id="340" r:id="rId88"/>
    <p:sldId id="327" r:id="rId89"/>
    <p:sldId id="310" r:id="rId90"/>
    <p:sldId id="311" r:id="rId91"/>
    <p:sldId id="312" r:id="rId92"/>
    <p:sldId id="313" r:id="rId93"/>
    <p:sldId id="314" r:id="rId94"/>
    <p:sldId id="315" r:id="rId95"/>
    <p:sldId id="316" r:id="rId96"/>
    <p:sldId id="317" r:id="rId97"/>
    <p:sldId id="318" r:id="rId98"/>
  </p:sldIdLst>
  <p:sldSz cx="9144000" cy="6858000" type="screen4x3"/>
  <p:notesSz cx="7102475" cy="93884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FAFD00"/>
    <a:srgbClr val="DCCCA3"/>
    <a:srgbClr val="8CF4EA"/>
    <a:srgbClr val="00B7A5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94" autoAdjust="0"/>
  </p:normalViewPr>
  <p:slideViewPr>
    <p:cSldViewPr>
      <p:cViewPr varScale="1">
        <p:scale>
          <a:sx n="107" d="100"/>
          <a:sy n="107" d="100"/>
        </p:scale>
        <p:origin x="1482" y="10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7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403" y="4458886"/>
            <a:ext cx="5204050" cy="4225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578" tIns="49108" rIns="96578" bIns="491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711200"/>
            <a:ext cx="46736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28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714375"/>
            <a:ext cx="4746625" cy="3560763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358" y="4511719"/>
            <a:ext cx="5602865" cy="4273166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For value box in Ch 4 time value FM13.</a:t>
            </a:r>
          </a:p>
        </p:txBody>
      </p:sp>
    </p:spTree>
    <p:extLst>
      <p:ext uri="{BB962C8B-B14F-4D97-AF65-F5344CB8AC3E}">
        <p14:creationId xmlns:p14="http://schemas.microsoft.com/office/powerpoint/2010/main" val="139309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5DC6A0-A3F9-40CB-8F6E-BCB920462743}" type="slidenum">
              <a:rPr lang="en-US" altLang="en-US">
                <a:solidFill>
                  <a:schemeClr val="bg2"/>
                </a:solidFill>
              </a:rPr>
              <a:pPr eaLnBrk="1" hangingPunct="1"/>
              <a:t>1</a:t>
            </a:fld>
            <a:endParaRPr lang="en-US" altLang="en-US">
              <a:solidFill>
                <a:schemeClr val="bg2"/>
              </a:solidFill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Chapter 10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>
                <a:latin typeface="Tahoma" panose="020B0604030504040204" pitchFamily="34" charset="0"/>
              </a:rPr>
              <a:t>Capital Budgeting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Topics</a:t>
            </a:r>
          </a:p>
        </p:txBody>
      </p:sp>
      <p:sp>
        <p:nvSpPr>
          <p:cNvPr id="5124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Overview &amp; “language”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NPV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IRR, MIRR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Profitability Index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Payback, discounted payback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Unequal lives: Replacement Chain, EAA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Economic life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Optimal capital budget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AC2555-AAB0-432D-AF28-C22F58CAB95B}" type="slidenum">
              <a:rPr lang="en-US" altLang="en-US"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CAPITAL BUDGETING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2"/>
          </p:nvPr>
        </p:nvSpPr>
        <p:spPr>
          <a:xfrm>
            <a:off x="146050" y="1600200"/>
            <a:ext cx="4351338" cy="504031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en-US" b="1" u="sng" dirty="0"/>
              <a:t>Why?</a:t>
            </a:r>
          </a:p>
          <a:p>
            <a:r>
              <a:rPr lang="en-US" altLang="en-US" dirty="0"/>
              <a:t>Perhaps most </a:t>
            </a:r>
            <a:r>
              <a:rPr lang="en-US" altLang="en-US" dirty="0" err="1"/>
              <a:t>impt</a:t>
            </a:r>
            <a:r>
              <a:rPr lang="en-US" altLang="en-US" dirty="0"/>
              <a:t>. function financial managers must perform</a:t>
            </a:r>
          </a:p>
          <a:p>
            <a:pPr lvl="1"/>
            <a:r>
              <a:rPr lang="en-US" altLang="en-US" dirty="0"/>
              <a:t>Results of Cap Budgeting decisions continue for many future years, so firm loses some flexibility</a:t>
            </a:r>
          </a:p>
          <a:p>
            <a:pPr lvl="1"/>
            <a:r>
              <a:rPr lang="en-US" altLang="en-US" dirty="0"/>
              <a:t>Cap Budgeting decisions define firm’s strategic direction.</a:t>
            </a:r>
          </a:p>
          <a:p>
            <a:pPr lvl="1"/>
            <a:r>
              <a:rPr lang="en-US" altLang="en-US" dirty="0"/>
              <a:t>Timing key since Cap Assets must be put in place when needed </a:t>
            </a:r>
          </a:p>
        </p:txBody>
      </p:sp>
      <p:sp>
        <p:nvSpPr>
          <p:cNvPr id="17414" name="Content Placeholder 6"/>
          <p:cNvSpPr>
            <a:spLocks noGrp="1"/>
          </p:cNvSpPr>
          <p:nvPr>
            <p:ph sz="quarter" idx="4"/>
          </p:nvPr>
        </p:nvSpPr>
        <p:spPr>
          <a:xfrm>
            <a:off x="4629150" y="1600200"/>
            <a:ext cx="3887391" cy="45894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en-US" b="1" u="sng" dirty="0"/>
              <a:t>Business Application</a:t>
            </a:r>
          </a:p>
          <a:p>
            <a:r>
              <a:rPr lang="en-US" altLang="en-US" dirty="0"/>
              <a:t>Valuing projects that affect firm’s strategic direction</a:t>
            </a:r>
          </a:p>
          <a:p>
            <a:r>
              <a:rPr lang="en-US" altLang="en-US" dirty="0"/>
              <a:t>Methods of valuation used in business</a:t>
            </a:r>
          </a:p>
          <a:p>
            <a:r>
              <a:rPr lang="en-US" altLang="en-US" dirty="0"/>
              <a:t>Parallels to valuing financial assets (securities) </a:t>
            </a:r>
          </a:p>
        </p:txBody>
      </p:sp>
      <p:sp>
        <p:nvSpPr>
          <p:cNvPr id="615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F471D9-52EB-4CDE-BB8C-85A2D7CDCB74}" type="slidenum"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  <p:bldP spid="1741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537A3BF-BED1-913A-7594-171E35CB4075}"/>
              </a:ext>
            </a:extLst>
          </p:cNvPr>
          <p:cNvGrpSpPr/>
          <p:nvPr/>
        </p:nvGrpSpPr>
        <p:grpSpPr>
          <a:xfrm>
            <a:off x="823912" y="1676400"/>
            <a:ext cx="7666038" cy="4557712"/>
            <a:chOff x="533400" y="1325563"/>
            <a:chExt cx="7666038" cy="4557712"/>
          </a:xfrm>
        </p:grpSpPr>
        <p:sp>
          <p:nvSpPr>
            <p:cNvPr id="7171" name="AutoShape 15"/>
            <p:cNvSpPr>
              <a:spLocks noChangeArrowheads="1"/>
            </p:cNvSpPr>
            <p:nvPr/>
          </p:nvSpPr>
          <p:spPr bwMode="auto">
            <a:xfrm>
              <a:off x="2935288" y="1404938"/>
              <a:ext cx="2746375" cy="66198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600" b="1" dirty="0">
                  <a:latin typeface="Tahoma" panose="020B0604030504040204" pitchFamily="34" charset="0"/>
                </a:rPr>
                <a:t>Project’s Cash Flows (</a:t>
              </a:r>
              <a:r>
                <a:rPr lang="en-US" altLang="en-US" sz="1600" b="1" dirty="0" err="1">
                  <a:latin typeface="Tahoma" panose="020B0604030504040204" pitchFamily="34" charset="0"/>
                </a:rPr>
                <a:t>CF</a:t>
              </a:r>
              <a:r>
                <a:rPr lang="en-US" altLang="en-US" sz="1600" b="1" baseline="-25000" dirty="0" err="1">
                  <a:latin typeface="Tahoma" panose="020B0604030504040204" pitchFamily="34" charset="0"/>
                </a:rPr>
                <a:t>t</a:t>
              </a:r>
              <a:r>
                <a:rPr lang="en-US" altLang="en-US" sz="1600" b="1" dirty="0">
                  <a:latin typeface="Tahoma" panose="020B0604030504040204" pitchFamily="34" charset="0"/>
                </a:rPr>
                <a:t>)</a:t>
              </a:r>
            </a:p>
          </p:txBody>
        </p:sp>
        <p:cxnSp>
          <p:nvCxnSpPr>
            <p:cNvPr id="7172" name="AutoShape 16"/>
            <p:cNvCxnSpPr>
              <a:cxnSpLocks noChangeShapeType="1"/>
              <a:stCxn id="7177" idx="0"/>
              <a:endCxn id="7186" idx="2"/>
            </p:cNvCxnSpPr>
            <p:nvPr/>
          </p:nvCxnSpPr>
          <p:spPr bwMode="auto">
            <a:xfrm flipV="1">
              <a:off x="4305300" y="3706813"/>
              <a:ext cx="0" cy="81597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3" name="AutoShape 17"/>
            <p:cNvSpPr>
              <a:spLocks noChangeArrowheads="1"/>
            </p:cNvSpPr>
            <p:nvPr/>
          </p:nvSpPr>
          <p:spPr bwMode="auto">
            <a:xfrm>
              <a:off x="585788" y="4241800"/>
              <a:ext cx="1444625" cy="6619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Market</a:t>
              </a:r>
            </a:p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interest rates</a:t>
              </a:r>
            </a:p>
          </p:txBody>
        </p:sp>
        <p:sp>
          <p:nvSpPr>
            <p:cNvPr id="7174" name="AutoShape 18"/>
            <p:cNvSpPr>
              <a:spLocks noChangeArrowheads="1"/>
            </p:cNvSpPr>
            <p:nvPr/>
          </p:nvSpPr>
          <p:spPr bwMode="auto">
            <a:xfrm>
              <a:off x="6216650" y="5162550"/>
              <a:ext cx="1465263" cy="6619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Project’s</a:t>
              </a:r>
            </a:p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 business risk</a:t>
              </a:r>
            </a:p>
          </p:txBody>
        </p:sp>
        <p:sp>
          <p:nvSpPr>
            <p:cNvPr id="7175" name="AutoShape 19"/>
            <p:cNvSpPr>
              <a:spLocks noChangeArrowheads="1"/>
            </p:cNvSpPr>
            <p:nvPr/>
          </p:nvSpPr>
          <p:spPr bwMode="auto">
            <a:xfrm>
              <a:off x="593725" y="5221288"/>
              <a:ext cx="1387475" cy="66198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Market</a:t>
              </a:r>
            </a:p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risk aversion</a:t>
              </a:r>
            </a:p>
          </p:txBody>
        </p:sp>
        <p:sp>
          <p:nvSpPr>
            <p:cNvPr id="7176" name="AutoShape 20"/>
            <p:cNvSpPr>
              <a:spLocks noChangeArrowheads="1"/>
            </p:cNvSpPr>
            <p:nvPr/>
          </p:nvSpPr>
          <p:spPr bwMode="auto">
            <a:xfrm>
              <a:off x="6116638" y="4197350"/>
              <a:ext cx="2082800" cy="6619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Project’s</a:t>
              </a:r>
            </a:p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debt/equity capacity</a:t>
              </a:r>
            </a:p>
          </p:txBody>
        </p:sp>
        <p:sp>
          <p:nvSpPr>
            <p:cNvPr id="7177" name="AutoShape 21"/>
            <p:cNvSpPr>
              <a:spLocks noChangeArrowheads="1"/>
            </p:cNvSpPr>
            <p:nvPr/>
          </p:nvSpPr>
          <p:spPr bwMode="auto">
            <a:xfrm>
              <a:off x="3003550" y="4537075"/>
              <a:ext cx="2603500" cy="9334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600" b="1">
                  <a:latin typeface="Tahoma" panose="020B0604030504040204" pitchFamily="34" charset="0"/>
                </a:rPr>
                <a:t>Project’s risk-adjusted</a:t>
              </a:r>
            </a:p>
            <a:p>
              <a:pPr algn="ctr"/>
              <a:r>
                <a:rPr lang="en-US" altLang="en-US" sz="1600" b="1">
                  <a:latin typeface="Tahoma" panose="020B0604030504040204" pitchFamily="34" charset="0"/>
                </a:rPr>
                <a:t>cost of capital</a:t>
              </a:r>
            </a:p>
            <a:p>
              <a:pPr algn="ctr"/>
              <a:r>
                <a:rPr lang="en-US" altLang="en-US" sz="1600" b="1">
                  <a:latin typeface="Tahoma" panose="020B0604030504040204" pitchFamily="34" charset="0"/>
                </a:rPr>
                <a:t> (r)</a:t>
              </a:r>
            </a:p>
          </p:txBody>
        </p:sp>
        <p:cxnSp>
          <p:nvCxnSpPr>
            <p:cNvPr id="7178" name="AutoShape 22"/>
            <p:cNvCxnSpPr>
              <a:cxnSpLocks noChangeShapeType="1"/>
              <a:stCxn id="7176" idx="1"/>
              <a:endCxn id="7177" idx="3"/>
            </p:cNvCxnSpPr>
            <p:nvPr/>
          </p:nvCxnSpPr>
          <p:spPr bwMode="auto">
            <a:xfrm flipH="1">
              <a:off x="5621338" y="4529138"/>
              <a:ext cx="481012" cy="4746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9" name="AutoShape 23"/>
            <p:cNvCxnSpPr>
              <a:cxnSpLocks noChangeShapeType="1"/>
              <a:stCxn id="7174" idx="1"/>
              <a:endCxn id="7177" idx="3"/>
            </p:cNvCxnSpPr>
            <p:nvPr/>
          </p:nvCxnSpPr>
          <p:spPr bwMode="auto">
            <a:xfrm flipH="1" flipV="1">
              <a:off x="5621338" y="5003800"/>
              <a:ext cx="581025" cy="49053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0" name="AutoShape 24"/>
            <p:cNvCxnSpPr>
              <a:cxnSpLocks noChangeShapeType="1"/>
              <a:stCxn id="7173" idx="3"/>
              <a:endCxn id="7177" idx="1"/>
            </p:cNvCxnSpPr>
            <p:nvPr/>
          </p:nvCxnSpPr>
          <p:spPr bwMode="auto">
            <a:xfrm>
              <a:off x="2044700" y="4573588"/>
              <a:ext cx="944563" cy="43021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1" name="AutoShape 25"/>
            <p:cNvCxnSpPr>
              <a:cxnSpLocks noChangeShapeType="1"/>
              <a:stCxn id="7175" idx="3"/>
              <a:endCxn id="7177" idx="1"/>
            </p:cNvCxnSpPr>
            <p:nvPr/>
          </p:nvCxnSpPr>
          <p:spPr bwMode="auto">
            <a:xfrm flipV="1">
              <a:off x="1995488" y="5003800"/>
              <a:ext cx="993775" cy="54927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2" name="AutoShape 27"/>
            <p:cNvCxnSpPr>
              <a:cxnSpLocks noChangeShapeType="1"/>
              <a:stCxn id="7171" idx="2"/>
              <a:endCxn id="7186" idx="0"/>
            </p:cNvCxnSpPr>
            <p:nvPr/>
          </p:nvCxnSpPr>
          <p:spPr bwMode="auto">
            <a:xfrm flipH="1">
              <a:off x="4305300" y="2081213"/>
              <a:ext cx="3175" cy="682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4" name="AutoShape 31"/>
            <p:cNvSpPr>
              <a:spLocks noChangeArrowheads="1"/>
            </p:cNvSpPr>
            <p:nvPr/>
          </p:nvSpPr>
          <p:spPr bwMode="auto">
            <a:xfrm rot="3720851">
              <a:off x="93663" y="1892300"/>
              <a:ext cx="1379537" cy="246063"/>
            </a:xfrm>
            <a:prstGeom prst="notchedRightArrow">
              <a:avLst>
                <a:gd name="adj1" fmla="val 50000"/>
                <a:gd name="adj2" fmla="val 140161"/>
              </a:avLst>
            </a:prstGeom>
            <a:solidFill>
              <a:schemeClr val="tx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7185" name="Group 36"/>
            <p:cNvGrpSpPr>
              <a:grpSpLocks/>
            </p:cNvGrpSpPr>
            <p:nvPr/>
          </p:nvGrpSpPr>
          <p:grpSpPr bwMode="auto">
            <a:xfrm>
              <a:off x="533400" y="2778125"/>
              <a:ext cx="7621588" cy="914400"/>
              <a:chOff x="410" y="1986"/>
              <a:chExt cx="4801" cy="576"/>
            </a:xfrm>
          </p:grpSpPr>
          <p:sp>
            <p:nvSpPr>
              <p:cNvPr id="7186" name="AutoShape 4"/>
              <p:cNvSpPr>
                <a:spLocks noChangeArrowheads="1"/>
              </p:cNvSpPr>
              <p:nvPr/>
            </p:nvSpPr>
            <p:spPr bwMode="auto">
              <a:xfrm>
                <a:off x="410" y="1986"/>
                <a:ext cx="4752" cy="576"/>
              </a:xfrm>
              <a:prstGeom prst="roundRect">
                <a:avLst>
                  <a:gd name="adj" fmla="val 16667"/>
                </a:avLst>
              </a:prstGeom>
              <a:solidFill>
                <a:srgbClr val="A3D5D9"/>
              </a:solidFill>
              <a:ln w="28575">
                <a:solidFill>
                  <a:schemeClr val="tx2"/>
                </a:solidFill>
                <a:round/>
                <a:headEnd/>
                <a:tailEnd/>
              </a:ln>
              <a:effectLst>
                <a:prstShdw prst="shdw13" dist="53882" dir="13500000">
                  <a:schemeClr val="bg2">
                    <a:alpha val="50000"/>
                  </a:schemeClr>
                </a:prstShdw>
              </a:effec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2400"/>
              </a:p>
            </p:txBody>
          </p:sp>
          <p:grpSp>
            <p:nvGrpSpPr>
              <p:cNvPr id="7187" name="Group 35"/>
              <p:cNvGrpSpPr>
                <a:grpSpLocks/>
              </p:cNvGrpSpPr>
              <p:nvPr/>
            </p:nvGrpSpPr>
            <p:grpSpPr bwMode="auto">
              <a:xfrm>
                <a:off x="430" y="2018"/>
                <a:ext cx="4781" cy="503"/>
                <a:chOff x="430" y="2018"/>
                <a:chExt cx="4781" cy="503"/>
              </a:xfrm>
            </p:grpSpPr>
            <p:sp>
              <p:nvSpPr>
                <p:cNvPr id="7188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430" y="2142"/>
                  <a:ext cx="4781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 dirty="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NPV =                  +                + </a:t>
                  </a:r>
                  <a:r>
                    <a:rPr lang="en-US" altLang="en-US" sz="2000" b="1" dirty="0">
                      <a:solidFill>
                        <a:schemeClr val="tx2"/>
                      </a:solidFill>
                      <a:latin typeface="MS Reference Sans Serif" panose="020B0604030504040204" pitchFamily="34" charset="0"/>
                    </a:rPr>
                    <a:t>···</a:t>
                  </a:r>
                  <a:r>
                    <a:rPr lang="en-US" altLang="en-US" sz="2000" b="1" dirty="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 +                  </a:t>
                  </a:r>
                  <a:r>
                    <a:rPr lang="en-US" altLang="en-US" sz="2000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−</a:t>
                  </a:r>
                  <a:r>
                    <a:rPr lang="en-US" altLang="en-US" sz="2000" b="1" dirty="0">
                      <a:solidFill>
                        <a:schemeClr val="tx2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 Initial cost</a:t>
                  </a:r>
                </a:p>
              </p:txBody>
            </p:sp>
            <p:sp>
              <p:nvSpPr>
                <p:cNvPr id="718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296" y="2025"/>
                  <a:ext cx="396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CF</a:t>
                  </a:r>
                  <a:r>
                    <a:rPr lang="en-US" altLang="en-US" sz="2000" b="1" baseline="-2500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1</a:t>
                  </a:r>
                </a:p>
              </p:txBody>
            </p:sp>
            <p:sp>
              <p:nvSpPr>
                <p:cNvPr id="719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201" y="2018"/>
                  <a:ext cx="404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CF</a:t>
                  </a:r>
                  <a:r>
                    <a:rPr lang="en-US" altLang="en-US" sz="2000" b="1" baseline="-2500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2</a:t>
                  </a:r>
                </a:p>
              </p:txBody>
            </p:sp>
            <p:sp>
              <p:nvSpPr>
                <p:cNvPr id="719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429" y="2038"/>
                  <a:ext cx="431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CF</a:t>
                  </a:r>
                  <a:r>
                    <a:rPr lang="en-US" altLang="en-US" sz="2000" b="1" baseline="-2500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N</a:t>
                  </a:r>
                </a:p>
              </p:txBody>
            </p:sp>
            <p:sp>
              <p:nvSpPr>
                <p:cNvPr id="719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092" y="2253"/>
                  <a:ext cx="900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(1 + r )</a:t>
                  </a:r>
                  <a:r>
                    <a:rPr lang="en-US" altLang="en-US" sz="2000" b="1" baseline="3000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1</a:t>
                  </a:r>
                </a:p>
              </p:txBody>
            </p:sp>
            <p:sp>
              <p:nvSpPr>
                <p:cNvPr id="719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257" y="2273"/>
                  <a:ext cx="922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(1 + r)</a:t>
                  </a:r>
                  <a:r>
                    <a:rPr lang="en-US" altLang="en-US" sz="2000" b="1" baseline="3000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N</a:t>
                  </a:r>
                </a:p>
              </p:txBody>
            </p:sp>
            <p:sp>
              <p:nvSpPr>
                <p:cNvPr id="719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86" y="2260"/>
                  <a:ext cx="853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(1 + r)</a:t>
                  </a:r>
                  <a:r>
                    <a:rPr lang="en-US" altLang="en-US" sz="2000" b="1" baseline="30000">
                      <a:solidFill>
                        <a:schemeClr val="tx2"/>
                      </a:solidFill>
                      <a:latin typeface="Tahoma" panose="020B0604030504040204" pitchFamily="34" charset="0"/>
                    </a:rPr>
                    <a:t>2</a:t>
                  </a:r>
                </a:p>
              </p:txBody>
            </p:sp>
            <p:sp>
              <p:nvSpPr>
                <p:cNvPr id="7195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141" y="2277"/>
                  <a:ext cx="666" cy="4"/>
                </a:xfrm>
                <a:prstGeom prst="line">
                  <a:avLst/>
                </a:prstGeom>
                <a:noFill/>
                <a:ln w="317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488" tIns="44450" rIns="90488" bIns="44450"/>
                <a:lstStyle/>
                <a:p>
                  <a:endParaRPr lang="en-US"/>
                </a:p>
              </p:txBody>
            </p:sp>
            <p:sp>
              <p:nvSpPr>
                <p:cNvPr id="7196" name="Line 13"/>
                <p:cNvSpPr>
                  <a:spLocks noChangeShapeType="1"/>
                </p:cNvSpPr>
                <p:nvPr/>
              </p:nvSpPr>
              <p:spPr bwMode="auto">
                <a:xfrm>
                  <a:off x="2068" y="2281"/>
                  <a:ext cx="609" cy="9"/>
                </a:xfrm>
                <a:prstGeom prst="line">
                  <a:avLst/>
                </a:prstGeom>
                <a:noFill/>
                <a:ln w="317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488" tIns="44450" rIns="90488" bIns="44450"/>
                <a:lstStyle/>
                <a:p>
                  <a:endParaRPr lang="en-US"/>
                </a:p>
              </p:txBody>
            </p:sp>
            <p:sp>
              <p:nvSpPr>
                <p:cNvPr id="7197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332" y="2289"/>
                  <a:ext cx="589" cy="5"/>
                </a:xfrm>
                <a:prstGeom prst="line">
                  <a:avLst/>
                </a:prstGeom>
                <a:noFill/>
                <a:ln w="317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488" tIns="44450" rIns="90488" bIns="44450"/>
                <a:lstStyle/>
                <a:p>
                  <a:endParaRPr lang="en-US"/>
                </a:p>
              </p:txBody>
            </p:sp>
            <p:sp>
              <p:nvSpPr>
                <p:cNvPr id="7198" name="AutoShape 33"/>
                <p:cNvSpPr>
                  <a:spLocks/>
                </p:cNvSpPr>
                <p:nvPr/>
              </p:nvSpPr>
              <p:spPr bwMode="auto">
                <a:xfrm>
                  <a:off x="1075" y="2053"/>
                  <a:ext cx="56" cy="436"/>
                </a:xfrm>
                <a:prstGeom prst="leftBracket">
                  <a:avLst>
                    <a:gd name="adj" fmla="val 64881"/>
                  </a:avLst>
                </a:prstGeom>
                <a:noFill/>
                <a:ln w="3492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199" name="AutoShape 34"/>
                <p:cNvSpPr>
                  <a:spLocks/>
                </p:cNvSpPr>
                <p:nvPr/>
              </p:nvSpPr>
              <p:spPr bwMode="auto">
                <a:xfrm>
                  <a:off x="3941" y="2075"/>
                  <a:ext cx="59" cy="414"/>
                </a:xfrm>
                <a:prstGeom prst="rightBracket">
                  <a:avLst>
                    <a:gd name="adj" fmla="val 58475"/>
                  </a:avLst>
                </a:prstGeom>
                <a:noFill/>
                <a:ln w="3492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F18BECB-2F62-0C68-118F-E52887EA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ct val="50000"/>
              </a:spcBef>
            </a:pPr>
            <a:r>
              <a:rPr lang="en-US" altLang="en-US" sz="3600" b="1" dirty="0">
                <a:latin typeface="Tahoma" panose="020B0604030504040204" pitchFamily="34" charset="0"/>
              </a:rPr>
              <a:t>The Big Picture:</a:t>
            </a:r>
            <a:br>
              <a:rPr lang="en-US" altLang="en-US" sz="3600" b="1" dirty="0">
                <a:latin typeface="Tahoma" panose="020B0604030504040204" pitchFamily="34" charset="0"/>
              </a:rPr>
            </a:br>
            <a:r>
              <a:rPr lang="en-US" altLang="en-US" sz="3600" b="1" dirty="0">
                <a:latin typeface="Tahoma" panose="020B0604030504040204" pitchFamily="34" charset="0"/>
              </a:rPr>
              <a:t>The Net Present Value of a Project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82662"/>
          </a:xfrm>
        </p:spPr>
        <p:txBody>
          <a:bodyPr/>
          <a:lstStyle/>
          <a:p>
            <a:pPr algn="ctr"/>
            <a:r>
              <a:rPr lang="en-US" altLang="en-US" dirty="0"/>
              <a:t>VALUE of ASSET TODAY</a:t>
            </a:r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sz="4800" dirty="0"/>
              <a:t>=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7811C4B-4FFD-4906-A079-7C4102BB695A}" type="slidenum">
              <a:rPr lang="en-US" altLang="en-US">
                <a:latin typeface="Tahoma" panose="020B0604030504040204" pitchFamily="34" charset="0"/>
              </a:rPr>
              <a:pPr eaLnBrk="1" hangingPunct="1"/>
              <a:t>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68350"/>
          </a:xfrm>
        </p:spPr>
        <p:txBody>
          <a:bodyPr/>
          <a:lstStyle/>
          <a:p>
            <a:pPr algn="ctr"/>
            <a:r>
              <a:rPr lang="en-US" altLang="en-US" u="sng" dirty="0"/>
              <a:t>Capital Budgeting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52399" y="1524000"/>
            <a:ext cx="8915401" cy="4652964"/>
          </a:xfrm>
        </p:spPr>
        <p:txBody>
          <a:bodyPr/>
          <a:lstStyle/>
          <a:p>
            <a:r>
              <a:rPr lang="en-US" altLang="en-US" sz="3000" dirty="0"/>
              <a:t>Is to Co. what buying stocks or bonds is to individuals: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E2931A-C542-410B-88DA-F6A3FB17057C}" type="slidenum">
              <a:rPr lang="en-US" altLang="en-US">
                <a:latin typeface="Tahoma" panose="020B0604030504040204" pitchFamily="34" charset="0"/>
              </a:rPr>
              <a:pPr eaLnBrk="1" hangingPunct="1"/>
              <a:t>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u="sng"/>
              <a:t>Cap. Budgeting &amp; CFs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2"/>
          </p:nvPr>
        </p:nvSpPr>
        <p:spPr>
          <a:xfrm>
            <a:off x="152400" y="1905000"/>
            <a:ext cx="4344988" cy="473551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600" b="1" u="sng" dirty="0"/>
              <a:t>COMPANY</a:t>
            </a:r>
          </a:p>
          <a:p>
            <a:pPr marL="0" indent="0" algn="ctr">
              <a:buNone/>
            </a:pPr>
            <a:r>
              <a:rPr lang="en-US" altLang="en-US" b="1" u="sng" dirty="0"/>
              <a:t>CFs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17414" name="Content Placeholder 6"/>
          <p:cNvSpPr>
            <a:spLocks noGrp="1"/>
          </p:cNvSpPr>
          <p:nvPr>
            <p:ph sz="quarter" idx="4"/>
          </p:nvPr>
        </p:nvSpPr>
        <p:spPr>
          <a:xfrm>
            <a:off x="4572000" y="1905000"/>
            <a:ext cx="3943351" cy="39544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600" b="1" u="sng" dirty="0"/>
              <a:t>INDIVIDUAL</a:t>
            </a:r>
          </a:p>
          <a:p>
            <a:pPr marL="0" indent="0" algn="ctr">
              <a:buNone/>
            </a:pPr>
            <a:r>
              <a:rPr lang="en-US" altLang="en-US" b="1" u="sng" dirty="0"/>
              <a:t>CFs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1024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F40053-B7D2-4F91-9E73-6433E58A9C2D}" type="slidenum"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  <p:bldP spid="174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Cap Budgeting</a:t>
            </a:r>
            <a:br>
              <a:rPr lang="en-US" altLang="en-US" dirty="0"/>
            </a:br>
            <a:r>
              <a:rPr lang="en-US" altLang="en-US" dirty="0"/>
              <a:t>Evaluation Methods</a:t>
            </a:r>
          </a:p>
        </p:txBody>
      </p:sp>
      <p:sp>
        <p:nvSpPr>
          <p:cNvPr id="11267" name="Content Placeholder 8"/>
          <p:cNvSpPr>
            <a:spLocks noGrp="1"/>
          </p:cNvSpPr>
          <p:nvPr>
            <p:ph idx="1"/>
          </p:nvPr>
        </p:nvSpPr>
        <p:spPr>
          <a:xfrm>
            <a:off x="457200" y="1562101"/>
            <a:ext cx="8477250" cy="47942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  </a:t>
            </a:r>
          </a:p>
          <a:p>
            <a:r>
              <a:rPr lang="en-US" altLang="en-US" dirty="0"/>
              <a:t> </a:t>
            </a:r>
          </a:p>
          <a:p>
            <a:r>
              <a:rPr lang="en-US" altLang="en-US" dirty="0"/>
              <a:t> </a:t>
            </a:r>
          </a:p>
          <a:p>
            <a:r>
              <a:rPr lang="en-US" altLang="en-US" dirty="0"/>
              <a:t> </a:t>
            </a:r>
          </a:p>
          <a:p>
            <a:r>
              <a:rPr lang="en-US" altLang="en-US" dirty="0"/>
              <a:t> 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9B211A-1D7A-43EF-8318-D6A533C65E5A}" type="slidenum">
              <a:rPr lang="en-US" altLang="en-US">
                <a:latin typeface="Tahoma" panose="020B0604030504040204" pitchFamily="34" charset="0"/>
              </a:rPr>
              <a:pPr eaLnBrk="1" hangingPunct="1"/>
              <a:t>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What is capital budgeting?</a:t>
            </a:r>
          </a:p>
        </p:txBody>
      </p:sp>
      <p:sp>
        <p:nvSpPr>
          <p:cNvPr id="12292" name="Rectangle 14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10600" cy="45767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5730C2-3BB9-48B0-A717-4DF503DAA2D1}" type="slidenum">
              <a:rPr lang="en-US" altLang="en-US">
                <a:latin typeface="Tahoma" panose="020B0604030504040204" pitchFamily="34" charset="0"/>
              </a:rPr>
              <a:pPr eaLnBrk="1" hangingPunct="1"/>
              <a:t>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Steps in Capital Budgeting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7630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1)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2)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3)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4)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a)</a:t>
            </a:r>
            <a:endParaRPr lang="en-US" altLang="en-US" sz="32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5)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CE1817-27E4-44CA-8232-133DB7D54A3B}" type="slidenum">
              <a:rPr lang="en-US" altLang="en-US">
                <a:latin typeface="Tahoma" panose="020B0604030504040204" pitchFamily="34" charset="0"/>
              </a:rPr>
              <a:pPr eaLnBrk="1" hangingPunct="1"/>
              <a:t>10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Capital Budgeting Project Categories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Replacement to continue profitable operations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Replacement to reduce costs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Expansion of existing products or markets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Expansion into new products/markets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Contraction decisions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Safety and/or environmental projects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95000"/>
              <a:buFont typeface="Tahoma" panose="020B0604030504040204" pitchFamily="34" charset="0"/>
              <a:buAutoNum type="arabicPeriod"/>
            </a:pPr>
            <a:r>
              <a:rPr lang="en-US" altLang="en-US" sz="3000" dirty="0"/>
              <a:t>Mergers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EE6E82-D87C-4407-9CE1-628B54ADA3B9}" type="slidenum">
              <a:rPr lang="en-US" altLang="en-US">
                <a:latin typeface="Tahoma" panose="020B0604030504040204" pitchFamily="34" charset="0"/>
              </a:rPr>
              <a:pPr eaLnBrk="1" hangingPunct="1"/>
              <a:t>11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056"/>
          <p:cNvSpPr>
            <a:spLocks noGrp="1" noChangeArrowheads="1"/>
          </p:cNvSpPr>
          <p:nvPr>
            <p:ph type="title"/>
          </p:nvPr>
        </p:nvSpPr>
        <p:spPr>
          <a:xfrm>
            <a:off x="304800" y="136524"/>
            <a:ext cx="8210550" cy="126069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Independent versus </a:t>
            </a:r>
            <a:br>
              <a:rPr lang="en-US" altLang="en-US" dirty="0"/>
            </a:br>
            <a:r>
              <a:rPr lang="en-US" altLang="en-US" dirty="0"/>
              <a:t>Mutually Exclusive Projects</a:t>
            </a:r>
          </a:p>
        </p:txBody>
      </p:sp>
      <p:sp>
        <p:nvSpPr>
          <p:cNvPr id="88073" name="Rectangle 2057"/>
          <p:cNvSpPr>
            <a:spLocks noGrp="1" noChangeArrowheads="1"/>
          </p:cNvSpPr>
          <p:nvPr>
            <p:ph idx="1"/>
          </p:nvPr>
        </p:nvSpPr>
        <p:spPr>
          <a:xfrm>
            <a:off x="152400" y="1397217"/>
            <a:ext cx="8763000" cy="477974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Projects are: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independent, 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  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mutually exclusive, 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  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12F0E1-67E5-4A0A-B016-58879D37B8A6}" type="slidenum">
              <a:rPr lang="en-US" altLang="en-US">
                <a:latin typeface="Tahoma" panose="020B0604030504040204" pitchFamily="34" charset="0"/>
              </a:rPr>
              <a:pPr eaLnBrk="1" hangingPunct="1"/>
              <a:t>12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5365" name="Rectangle 2052"/>
          <p:cNvSpPr>
            <a:spLocks noChangeArrowheads="1"/>
          </p:cNvSpPr>
          <p:nvPr/>
        </p:nvSpPr>
        <p:spPr bwMode="auto">
          <a:xfrm>
            <a:off x="8382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br>
              <a:rPr lang="en-US" altLang="en-US" sz="3200" b="1">
                <a:solidFill>
                  <a:schemeClr val="tx2"/>
                </a:solidFill>
              </a:rPr>
            </a:br>
            <a:br>
              <a:rPr lang="en-US" altLang="en-US" sz="3200" b="1">
                <a:solidFill>
                  <a:schemeClr val="tx2"/>
                </a:solidFill>
              </a:rPr>
            </a:br>
            <a:br>
              <a:rPr lang="en-US" altLang="en-US" sz="3200" b="1">
                <a:solidFill>
                  <a:schemeClr val="tx2"/>
                </a:solidFill>
              </a:rPr>
            </a:br>
            <a:endParaRPr lang="en-US" altLang="en-US" sz="32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Normal vs. Nonnormal CFs</a:t>
            </a:r>
          </a:p>
        </p:txBody>
      </p:sp>
      <p:sp>
        <p:nvSpPr>
          <p:cNvPr id="16388" name="Rectangle 12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7630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Normal CF Project: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Nonnormal CF Project: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497342-C4E7-4ADE-8F3C-34965C200389}" type="slidenum">
              <a:rPr lang="en-US" altLang="en-US">
                <a:latin typeface="Tahoma" panose="020B0604030504040204" pitchFamily="34" charset="0"/>
              </a:rPr>
              <a:pPr eaLnBrk="1" hangingPunct="1"/>
              <a:t>13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Inflow (+) or Outflow (-) in Year</a:t>
            </a:r>
          </a:p>
        </p:txBody>
      </p:sp>
      <p:graphicFrame>
        <p:nvGraphicFramePr>
          <p:cNvPr id="255171" name="Group 19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680940"/>
              </p:ext>
            </p:extLst>
          </p:nvPr>
        </p:nvGraphicFramePr>
        <p:xfrm>
          <a:off x="628650" y="1676400"/>
          <a:ext cx="7886694" cy="4114800"/>
        </p:xfrm>
        <a:graphic>
          <a:graphicData uri="http://schemas.openxmlformats.org/drawingml/2006/table">
            <a:tbl>
              <a:tblPr/>
              <a:tblGrid>
                <a:gridCol w="953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3928796-AE6C-4EC4-80F9-1CBD7BC1AF53}" type="slidenum">
              <a:rPr lang="en-US" altLang="en-US">
                <a:latin typeface="Tahoma" panose="020B0604030504040204" pitchFamily="34" charset="0"/>
              </a:rPr>
              <a:pPr eaLnBrk="1" hangingPunct="1"/>
              <a:t>14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Cash Flows for Firms L &amp; S</a:t>
            </a:r>
          </a:p>
        </p:txBody>
      </p:sp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0C996B-D7A8-4E48-8905-C57BF3E7CF23}" type="slidenum">
              <a:rPr lang="en-US" altLang="en-US">
                <a:latin typeface="Tahoma" panose="020B0604030504040204" pitchFamily="34" charset="0"/>
              </a:rPr>
              <a:pPr eaLnBrk="1" hangingPunct="1"/>
              <a:t>15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18436" name="Group 50"/>
          <p:cNvGrpSpPr>
            <a:grpSpLocks/>
          </p:cNvGrpSpPr>
          <p:nvPr/>
        </p:nvGrpSpPr>
        <p:grpSpPr bwMode="auto">
          <a:xfrm>
            <a:off x="762000" y="2286000"/>
            <a:ext cx="7908925" cy="3460750"/>
            <a:chOff x="480" y="1440"/>
            <a:chExt cx="4982" cy="2180"/>
          </a:xfrm>
        </p:grpSpPr>
        <p:grpSp>
          <p:nvGrpSpPr>
            <p:cNvPr id="18437" name="Group 32"/>
            <p:cNvGrpSpPr>
              <a:grpSpLocks/>
            </p:cNvGrpSpPr>
            <p:nvPr/>
          </p:nvGrpSpPr>
          <p:grpSpPr bwMode="auto">
            <a:xfrm>
              <a:off x="480" y="1440"/>
              <a:ext cx="4982" cy="1028"/>
              <a:chOff x="480" y="1440"/>
              <a:chExt cx="4982" cy="1028"/>
            </a:xfrm>
          </p:grpSpPr>
          <p:sp>
            <p:nvSpPr>
              <p:cNvPr id="18455" name="Rectangle 4"/>
              <p:cNvSpPr>
                <a:spLocks noChangeArrowheads="1"/>
              </p:cNvSpPr>
              <p:nvPr/>
            </p:nvSpPr>
            <p:spPr bwMode="auto">
              <a:xfrm>
                <a:off x="2618" y="2143"/>
                <a:ext cx="36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10</a:t>
                </a:r>
              </a:p>
            </p:txBody>
          </p:sp>
          <p:sp>
            <p:nvSpPr>
              <p:cNvPr id="18456" name="Rectangle 5"/>
              <p:cNvSpPr>
                <a:spLocks noChangeArrowheads="1"/>
              </p:cNvSpPr>
              <p:nvPr/>
            </p:nvSpPr>
            <p:spPr bwMode="auto">
              <a:xfrm>
                <a:off x="5098" y="2143"/>
                <a:ext cx="36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80</a:t>
                </a:r>
              </a:p>
            </p:txBody>
          </p:sp>
          <p:grpSp>
            <p:nvGrpSpPr>
              <p:cNvPr id="18457" name="Group 6"/>
              <p:cNvGrpSpPr>
                <a:grpSpLocks/>
              </p:cNvGrpSpPr>
              <p:nvPr/>
            </p:nvGrpSpPr>
            <p:grpSpPr bwMode="auto">
              <a:xfrm>
                <a:off x="1568" y="1733"/>
                <a:ext cx="3764" cy="393"/>
                <a:chOff x="1442" y="1715"/>
                <a:chExt cx="3764" cy="393"/>
              </a:xfrm>
            </p:grpSpPr>
            <p:sp>
              <p:nvSpPr>
                <p:cNvPr id="18466" name="Line 7"/>
                <p:cNvSpPr>
                  <a:spLocks noChangeShapeType="1"/>
                </p:cNvSpPr>
                <p:nvPr/>
              </p:nvSpPr>
              <p:spPr bwMode="auto">
                <a:xfrm>
                  <a:off x="1442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7" name="Line 8"/>
                <p:cNvSpPr>
                  <a:spLocks noChangeShapeType="1"/>
                </p:cNvSpPr>
                <p:nvPr/>
              </p:nvSpPr>
              <p:spPr bwMode="auto">
                <a:xfrm>
                  <a:off x="2726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8" name="Line 9"/>
                <p:cNvSpPr>
                  <a:spLocks noChangeShapeType="1"/>
                </p:cNvSpPr>
                <p:nvPr/>
              </p:nvSpPr>
              <p:spPr bwMode="auto">
                <a:xfrm>
                  <a:off x="3877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9" name="Line 10"/>
                <p:cNvSpPr>
                  <a:spLocks noChangeShapeType="1"/>
                </p:cNvSpPr>
                <p:nvPr/>
              </p:nvSpPr>
              <p:spPr bwMode="auto">
                <a:xfrm>
                  <a:off x="5206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70" name="Line 11"/>
                <p:cNvSpPr>
                  <a:spLocks noChangeShapeType="1"/>
                </p:cNvSpPr>
                <p:nvPr/>
              </p:nvSpPr>
              <p:spPr bwMode="auto">
                <a:xfrm>
                  <a:off x="1450" y="1912"/>
                  <a:ext cx="3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458" name="Rectangle 12"/>
              <p:cNvSpPr>
                <a:spLocks noChangeArrowheads="1"/>
              </p:cNvSpPr>
              <p:nvPr/>
            </p:nvSpPr>
            <p:spPr bwMode="auto">
              <a:xfrm>
                <a:off x="3769" y="2143"/>
                <a:ext cx="36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60</a:t>
                </a:r>
              </a:p>
            </p:txBody>
          </p:sp>
          <p:sp>
            <p:nvSpPr>
              <p:cNvPr id="18459" name="Rectangle 13"/>
              <p:cNvSpPr>
                <a:spLocks noChangeArrowheads="1"/>
              </p:cNvSpPr>
              <p:nvPr/>
            </p:nvSpPr>
            <p:spPr bwMode="auto">
              <a:xfrm>
                <a:off x="1445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0</a:t>
                </a:r>
              </a:p>
            </p:txBody>
          </p:sp>
          <p:sp>
            <p:nvSpPr>
              <p:cNvPr id="18460" name="Rectangle 14"/>
              <p:cNvSpPr>
                <a:spLocks noChangeArrowheads="1"/>
              </p:cNvSpPr>
              <p:nvPr/>
            </p:nvSpPr>
            <p:spPr bwMode="auto">
              <a:xfrm>
                <a:off x="2729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1</a:t>
                </a:r>
              </a:p>
            </p:txBody>
          </p:sp>
          <p:sp>
            <p:nvSpPr>
              <p:cNvPr id="18461" name="Rectangle 15"/>
              <p:cNvSpPr>
                <a:spLocks noChangeArrowheads="1"/>
              </p:cNvSpPr>
              <p:nvPr/>
            </p:nvSpPr>
            <p:spPr bwMode="auto">
              <a:xfrm>
                <a:off x="3880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2</a:t>
                </a:r>
              </a:p>
            </p:txBody>
          </p:sp>
          <p:sp>
            <p:nvSpPr>
              <p:cNvPr id="18462" name="Rectangle 16"/>
              <p:cNvSpPr>
                <a:spLocks noChangeArrowheads="1"/>
              </p:cNvSpPr>
              <p:nvPr/>
            </p:nvSpPr>
            <p:spPr bwMode="auto">
              <a:xfrm>
                <a:off x="5209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3</a:t>
                </a:r>
              </a:p>
            </p:txBody>
          </p:sp>
          <p:sp>
            <p:nvSpPr>
              <p:cNvPr id="18463" name="Rectangle 17"/>
              <p:cNvSpPr>
                <a:spLocks noChangeArrowheads="1"/>
              </p:cNvSpPr>
              <p:nvPr/>
            </p:nvSpPr>
            <p:spPr bwMode="auto">
              <a:xfrm>
                <a:off x="1909" y="1646"/>
                <a:ext cx="563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10%</a:t>
                </a:r>
              </a:p>
            </p:txBody>
          </p:sp>
          <p:sp>
            <p:nvSpPr>
              <p:cNvPr id="18464" name="Rectangle 18"/>
              <p:cNvSpPr>
                <a:spLocks noChangeArrowheads="1"/>
              </p:cNvSpPr>
              <p:nvPr/>
            </p:nvSpPr>
            <p:spPr bwMode="auto">
              <a:xfrm>
                <a:off x="480" y="1757"/>
                <a:ext cx="99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L’s CFs:</a:t>
                </a:r>
              </a:p>
            </p:txBody>
          </p:sp>
          <p:sp>
            <p:nvSpPr>
              <p:cNvPr id="18465" name="Rectangle 23"/>
              <p:cNvSpPr>
                <a:spLocks noChangeArrowheads="1"/>
              </p:cNvSpPr>
              <p:nvPr/>
            </p:nvSpPr>
            <p:spPr bwMode="auto">
              <a:xfrm>
                <a:off x="1124" y="2143"/>
                <a:ext cx="87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-100.00</a:t>
                </a:r>
              </a:p>
            </p:txBody>
          </p:sp>
        </p:grpSp>
        <p:grpSp>
          <p:nvGrpSpPr>
            <p:cNvPr id="18438" name="Group 33"/>
            <p:cNvGrpSpPr>
              <a:grpSpLocks/>
            </p:cNvGrpSpPr>
            <p:nvPr/>
          </p:nvGrpSpPr>
          <p:grpSpPr bwMode="auto">
            <a:xfrm>
              <a:off x="480" y="2592"/>
              <a:ext cx="4982" cy="1028"/>
              <a:chOff x="480" y="1440"/>
              <a:chExt cx="4982" cy="1028"/>
            </a:xfrm>
          </p:grpSpPr>
          <p:sp>
            <p:nvSpPr>
              <p:cNvPr id="18439" name="Rectangle 34"/>
              <p:cNvSpPr>
                <a:spLocks noChangeArrowheads="1"/>
              </p:cNvSpPr>
              <p:nvPr/>
            </p:nvSpPr>
            <p:spPr bwMode="auto">
              <a:xfrm>
                <a:off x="2618" y="2143"/>
                <a:ext cx="36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70</a:t>
                </a:r>
              </a:p>
            </p:txBody>
          </p:sp>
          <p:sp>
            <p:nvSpPr>
              <p:cNvPr id="18440" name="Rectangle 35"/>
              <p:cNvSpPr>
                <a:spLocks noChangeArrowheads="1"/>
              </p:cNvSpPr>
              <p:nvPr/>
            </p:nvSpPr>
            <p:spPr bwMode="auto">
              <a:xfrm>
                <a:off x="5098" y="2143"/>
                <a:ext cx="36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20</a:t>
                </a:r>
              </a:p>
            </p:txBody>
          </p:sp>
          <p:grpSp>
            <p:nvGrpSpPr>
              <p:cNvPr id="18441" name="Group 36"/>
              <p:cNvGrpSpPr>
                <a:grpSpLocks/>
              </p:cNvGrpSpPr>
              <p:nvPr/>
            </p:nvGrpSpPr>
            <p:grpSpPr bwMode="auto">
              <a:xfrm>
                <a:off x="1568" y="1733"/>
                <a:ext cx="3764" cy="393"/>
                <a:chOff x="1442" y="1715"/>
                <a:chExt cx="3764" cy="393"/>
              </a:xfrm>
            </p:grpSpPr>
            <p:sp>
              <p:nvSpPr>
                <p:cNvPr id="18450" name="Line 37"/>
                <p:cNvSpPr>
                  <a:spLocks noChangeShapeType="1"/>
                </p:cNvSpPr>
                <p:nvPr/>
              </p:nvSpPr>
              <p:spPr bwMode="auto">
                <a:xfrm>
                  <a:off x="1442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1" name="Line 38"/>
                <p:cNvSpPr>
                  <a:spLocks noChangeShapeType="1"/>
                </p:cNvSpPr>
                <p:nvPr/>
              </p:nvSpPr>
              <p:spPr bwMode="auto">
                <a:xfrm>
                  <a:off x="2726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2" name="Line 39"/>
                <p:cNvSpPr>
                  <a:spLocks noChangeShapeType="1"/>
                </p:cNvSpPr>
                <p:nvPr/>
              </p:nvSpPr>
              <p:spPr bwMode="auto">
                <a:xfrm>
                  <a:off x="3877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3" name="Line 40"/>
                <p:cNvSpPr>
                  <a:spLocks noChangeShapeType="1"/>
                </p:cNvSpPr>
                <p:nvPr/>
              </p:nvSpPr>
              <p:spPr bwMode="auto">
                <a:xfrm>
                  <a:off x="5206" y="1715"/>
                  <a:ext cx="0" cy="3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4" name="Line 41"/>
                <p:cNvSpPr>
                  <a:spLocks noChangeShapeType="1"/>
                </p:cNvSpPr>
                <p:nvPr/>
              </p:nvSpPr>
              <p:spPr bwMode="auto">
                <a:xfrm>
                  <a:off x="1450" y="1912"/>
                  <a:ext cx="3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442" name="Rectangle 42"/>
              <p:cNvSpPr>
                <a:spLocks noChangeArrowheads="1"/>
              </p:cNvSpPr>
              <p:nvPr/>
            </p:nvSpPr>
            <p:spPr bwMode="auto">
              <a:xfrm>
                <a:off x="3769" y="2143"/>
                <a:ext cx="36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50</a:t>
                </a:r>
              </a:p>
            </p:txBody>
          </p:sp>
          <p:sp>
            <p:nvSpPr>
              <p:cNvPr id="18443" name="Rectangle 43"/>
              <p:cNvSpPr>
                <a:spLocks noChangeArrowheads="1"/>
              </p:cNvSpPr>
              <p:nvPr/>
            </p:nvSpPr>
            <p:spPr bwMode="auto">
              <a:xfrm>
                <a:off x="1445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0</a:t>
                </a:r>
              </a:p>
            </p:txBody>
          </p:sp>
          <p:sp>
            <p:nvSpPr>
              <p:cNvPr id="18444" name="Rectangle 44"/>
              <p:cNvSpPr>
                <a:spLocks noChangeArrowheads="1"/>
              </p:cNvSpPr>
              <p:nvPr/>
            </p:nvSpPr>
            <p:spPr bwMode="auto">
              <a:xfrm>
                <a:off x="2729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1</a:t>
                </a:r>
              </a:p>
            </p:txBody>
          </p:sp>
          <p:sp>
            <p:nvSpPr>
              <p:cNvPr id="18445" name="Rectangle 45"/>
              <p:cNvSpPr>
                <a:spLocks noChangeArrowheads="1"/>
              </p:cNvSpPr>
              <p:nvPr/>
            </p:nvSpPr>
            <p:spPr bwMode="auto">
              <a:xfrm>
                <a:off x="3880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2</a:t>
                </a:r>
              </a:p>
            </p:txBody>
          </p:sp>
          <p:sp>
            <p:nvSpPr>
              <p:cNvPr id="18446" name="Rectangle 46"/>
              <p:cNvSpPr>
                <a:spLocks noChangeArrowheads="1"/>
              </p:cNvSpPr>
              <p:nvPr/>
            </p:nvSpPr>
            <p:spPr bwMode="auto">
              <a:xfrm>
                <a:off x="5209" y="1440"/>
                <a:ext cx="2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3</a:t>
                </a:r>
              </a:p>
            </p:txBody>
          </p:sp>
          <p:sp>
            <p:nvSpPr>
              <p:cNvPr id="18447" name="Rectangle 47"/>
              <p:cNvSpPr>
                <a:spLocks noChangeArrowheads="1"/>
              </p:cNvSpPr>
              <p:nvPr/>
            </p:nvSpPr>
            <p:spPr bwMode="auto">
              <a:xfrm>
                <a:off x="1909" y="1646"/>
                <a:ext cx="563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10%</a:t>
                </a:r>
              </a:p>
            </p:txBody>
          </p:sp>
          <p:sp>
            <p:nvSpPr>
              <p:cNvPr id="18448" name="Rectangle 48"/>
              <p:cNvSpPr>
                <a:spLocks noChangeArrowheads="1"/>
              </p:cNvSpPr>
              <p:nvPr/>
            </p:nvSpPr>
            <p:spPr bwMode="auto">
              <a:xfrm>
                <a:off x="480" y="1757"/>
                <a:ext cx="1011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S’s CFs:</a:t>
                </a:r>
              </a:p>
            </p:txBody>
          </p:sp>
          <p:sp>
            <p:nvSpPr>
              <p:cNvPr id="18449" name="Rectangle 49"/>
              <p:cNvSpPr>
                <a:spLocks noChangeArrowheads="1"/>
              </p:cNvSpPr>
              <p:nvPr/>
            </p:nvSpPr>
            <p:spPr bwMode="auto">
              <a:xfrm>
                <a:off x="1124" y="2143"/>
                <a:ext cx="87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b="1"/>
                  <a:t>-100.00</a:t>
                </a:r>
              </a:p>
            </p:txBody>
          </p:sp>
        </p:grp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Expected Net CFs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&lt;$100&gt;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70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50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16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13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What is payback period?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83920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# of yrs. required to recover project’s cost,</a:t>
            </a:r>
          </a:p>
          <a:p>
            <a:pPr eaLnBrk="1" hangingPunct="1"/>
            <a:r>
              <a:rPr lang="en-US" altLang="en-US" dirty="0"/>
              <a:t> or,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0081D9-9251-4354-BE63-C6DDB2692965}" type="slidenum">
              <a:rPr lang="en-US" altLang="en-US">
                <a:latin typeface="Tahoma" panose="020B0604030504040204" pitchFamily="34" charset="0"/>
              </a:rPr>
              <a:pPr eaLnBrk="1" hangingPunct="1"/>
              <a:t>17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Payback for Firm L</a:t>
            </a:r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0EE822-D521-4EA0-93D9-0D164F8BFBC4}" type="slidenum">
              <a:rPr lang="en-US" altLang="en-US">
                <a:latin typeface="Tahoma" panose="020B0604030504040204" pitchFamily="34" charset="0"/>
              </a:rPr>
              <a:pPr eaLnBrk="1" hangingPunct="1"/>
              <a:t>18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21508" name="Group 37"/>
          <p:cNvGrpSpPr>
            <a:grpSpLocks/>
          </p:cNvGrpSpPr>
          <p:nvPr/>
        </p:nvGrpSpPr>
        <p:grpSpPr bwMode="auto">
          <a:xfrm>
            <a:off x="533400" y="1981200"/>
            <a:ext cx="7807325" cy="3809999"/>
            <a:chOff x="470" y="1427"/>
            <a:chExt cx="4784" cy="1978"/>
          </a:xfrm>
        </p:grpSpPr>
        <p:grpSp>
          <p:nvGrpSpPr>
            <p:cNvPr id="21509" name="Group 35"/>
            <p:cNvGrpSpPr>
              <a:grpSpLocks/>
            </p:cNvGrpSpPr>
            <p:nvPr/>
          </p:nvGrpSpPr>
          <p:grpSpPr bwMode="auto">
            <a:xfrm>
              <a:off x="470" y="1427"/>
              <a:ext cx="4784" cy="1978"/>
              <a:chOff x="470" y="1427"/>
              <a:chExt cx="4784" cy="1978"/>
            </a:xfrm>
          </p:grpSpPr>
          <p:sp>
            <p:nvSpPr>
              <p:cNvPr id="21511" name="Rectangle 4"/>
              <p:cNvSpPr>
                <a:spLocks noChangeArrowheads="1"/>
              </p:cNvSpPr>
              <p:nvPr/>
            </p:nvSpPr>
            <p:spPr bwMode="auto">
              <a:xfrm>
                <a:off x="2958" y="2106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10</a:t>
                </a:r>
              </a:p>
            </p:txBody>
          </p:sp>
          <p:sp>
            <p:nvSpPr>
              <p:cNvPr id="21512" name="Rectangle 5"/>
              <p:cNvSpPr>
                <a:spLocks noChangeArrowheads="1"/>
              </p:cNvSpPr>
              <p:nvPr/>
            </p:nvSpPr>
            <p:spPr bwMode="auto">
              <a:xfrm>
                <a:off x="4896" y="2112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80</a:t>
                </a:r>
              </a:p>
            </p:txBody>
          </p:sp>
          <p:sp>
            <p:nvSpPr>
              <p:cNvPr id="21513" name="Line 6"/>
              <p:cNvSpPr>
                <a:spLocks noChangeShapeType="1"/>
              </p:cNvSpPr>
              <p:nvPr/>
            </p:nvSpPr>
            <p:spPr bwMode="auto">
              <a:xfrm>
                <a:off x="2128" y="1936"/>
                <a:ext cx="29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4" name="Rectangle 7"/>
              <p:cNvSpPr>
                <a:spLocks noChangeArrowheads="1"/>
              </p:cNvSpPr>
              <p:nvPr/>
            </p:nvSpPr>
            <p:spPr bwMode="auto">
              <a:xfrm>
                <a:off x="3852" y="2106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60</a:t>
                </a:r>
              </a:p>
            </p:txBody>
          </p:sp>
          <p:sp>
            <p:nvSpPr>
              <p:cNvPr id="21515" name="Rectangle 8"/>
              <p:cNvSpPr>
                <a:spLocks noChangeArrowheads="1"/>
              </p:cNvSpPr>
              <p:nvPr/>
            </p:nvSpPr>
            <p:spPr bwMode="auto">
              <a:xfrm>
                <a:off x="2007" y="1446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21516" name="Rectangle 9"/>
              <p:cNvSpPr>
                <a:spLocks noChangeArrowheads="1"/>
              </p:cNvSpPr>
              <p:nvPr/>
            </p:nvSpPr>
            <p:spPr bwMode="auto">
              <a:xfrm>
                <a:off x="3007" y="1446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21517" name="Rectangle 10"/>
              <p:cNvSpPr>
                <a:spLocks noChangeArrowheads="1"/>
              </p:cNvSpPr>
              <p:nvPr/>
            </p:nvSpPr>
            <p:spPr bwMode="auto">
              <a:xfrm>
                <a:off x="3903" y="1446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21518" name="Rectangle 11"/>
              <p:cNvSpPr>
                <a:spLocks noChangeArrowheads="1"/>
              </p:cNvSpPr>
              <p:nvPr/>
            </p:nvSpPr>
            <p:spPr bwMode="auto">
              <a:xfrm>
                <a:off x="4938" y="1446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21519" name="Rectangle 12"/>
              <p:cNvSpPr>
                <a:spLocks noChangeArrowheads="1"/>
              </p:cNvSpPr>
              <p:nvPr/>
            </p:nvSpPr>
            <p:spPr bwMode="auto">
              <a:xfrm>
                <a:off x="2373" y="1589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20" name="Rectangle 13"/>
              <p:cNvSpPr>
                <a:spLocks noChangeArrowheads="1"/>
              </p:cNvSpPr>
              <p:nvPr/>
            </p:nvSpPr>
            <p:spPr bwMode="auto">
              <a:xfrm>
                <a:off x="1814" y="2106"/>
                <a:ext cx="561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-100</a:t>
                </a:r>
              </a:p>
            </p:txBody>
          </p:sp>
          <p:sp>
            <p:nvSpPr>
              <p:cNvPr id="21521" name="Rectangle 14"/>
              <p:cNvSpPr>
                <a:spLocks noChangeArrowheads="1"/>
              </p:cNvSpPr>
              <p:nvPr/>
            </p:nvSpPr>
            <p:spPr bwMode="auto">
              <a:xfrm>
                <a:off x="1759" y="3080"/>
                <a:ext cx="277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=</a:t>
                </a:r>
              </a:p>
            </p:txBody>
          </p:sp>
          <p:sp>
            <p:nvSpPr>
              <p:cNvPr id="21522" name="Rectangle 15"/>
              <p:cNvSpPr>
                <a:spLocks noChangeArrowheads="1"/>
              </p:cNvSpPr>
              <p:nvPr/>
            </p:nvSpPr>
            <p:spPr bwMode="auto">
              <a:xfrm>
                <a:off x="470" y="2106"/>
                <a:ext cx="417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 dirty="0" err="1">
                    <a:latin typeface="Tahoma" panose="020B0604030504040204" pitchFamily="34" charset="0"/>
                  </a:rPr>
                  <a:t>CF</a:t>
                </a:r>
                <a:r>
                  <a:rPr lang="en-US" altLang="en-US" sz="2800" baseline="-25000" dirty="0" err="1">
                    <a:latin typeface="Tahoma" panose="020B0604030504040204" pitchFamily="34" charset="0"/>
                  </a:rPr>
                  <a:t>t</a:t>
                </a:r>
                <a:endParaRPr lang="en-US" altLang="en-US" sz="2800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23" name="Rectangle 16"/>
              <p:cNvSpPr>
                <a:spLocks noChangeArrowheads="1"/>
              </p:cNvSpPr>
              <p:nvPr/>
            </p:nvSpPr>
            <p:spPr bwMode="auto">
              <a:xfrm>
                <a:off x="470" y="2415"/>
                <a:ext cx="1212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Cumulative</a:t>
                </a:r>
              </a:p>
            </p:txBody>
          </p:sp>
          <p:sp>
            <p:nvSpPr>
              <p:cNvPr id="21524" name="Rectangle 17"/>
              <p:cNvSpPr>
                <a:spLocks noChangeArrowheads="1"/>
              </p:cNvSpPr>
              <p:nvPr/>
            </p:nvSpPr>
            <p:spPr bwMode="auto">
              <a:xfrm>
                <a:off x="1814" y="2415"/>
                <a:ext cx="11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endParaRPr>
              </a:p>
            </p:txBody>
          </p:sp>
          <p:sp>
            <p:nvSpPr>
              <p:cNvPr id="21525" name="Rectangle 18"/>
              <p:cNvSpPr>
                <a:spLocks noChangeArrowheads="1"/>
              </p:cNvSpPr>
              <p:nvPr/>
            </p:nvSpPr>
            <p:spPr bwMode="auto">
              <a:xfrm>
                <a:off x="2883" y="2415"/>
                <a:ext cx="11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endParaRPr>
              </a:p>
            </p:txBody>
          </p:sp>
          <p:sp>
            <p:nvSpPr>
              <p:cNvPr id="21526" name="Rectangle 19"/>
              <p:cNvSpPr>
                <a:spLocks noChangeArrowheads="1"/>
              </p:cNvSpPr>
              <p:nvPr/>
            </p:nvSpPr>
            <p:spPr bwMode="auto">
              <a:xfrm>
                <a:off x="3792" y="2400"/>
                <a:ext cx="11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endParaRPr>
              </a:p>
            </p:txBody>
          </p:sp>
          <p:sp>
            <p:nvSpPr>
              <p:cNvPr id="21527" name="Rectangle 20"/>
              <p:cNvSpPr>
                <a:spLocks noChangeArrowheads="1"/>
              </p:cNvSpPr>
              <p:nvPr/>
            </p:nvSpPr>
            <p:spPr bwMode="auto">
              <a:xfrm>
                <a:off x="4882" y="2415"/>
                <a:ext cx="11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28" name="Rectangle 21"/>
              <p:cNvSpPr>
                <a:spLocks noChangeArrowheads="1"/>
              </p:cNvSpPr>
              <p:nvPr/>
            </p:nvSpPr>
            <p:spPr bwMode="auto">
              <a:xfrm>
                <a:off x="470" y="3080"/>
                <a:ext cx="1000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Payback</a:t>
                </a:r>
                <a:r>
                  <a:rPr lang="en-US" altLang="en-US" sz="2800" baseline="-25000">
                    <a:latin typeface="Tahoma" panose="020B0604030504040204" pitchFamily="34" charset="0"/>
                  </a:rPr>
                  <a:t>L</a:t>
                </a:r>
              </a:p>
            </p:txBody>
          </p:sp>
          <p:sp>
            <p:nvSpPr>
              <p:cNvPr id="21529" name="Rectangle 22"/>
              <p:cNvSpPr>
                <a:spLocks noChangeArrowheads="1"/>
              </p:cNvSpPr>
              <p:nvPr/>
            </p:nvSpPr>
            <p:spPr bwMode="auto">
              <a:xfrm>
                <a:off x="2142" y="3070"/>
                <a:ext cx="11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30" name="Rectangle 23"/>
              <p:cNvSpPr>
                <a:spLocks noChangeArrowheads="1"/>
              </p:cNvSpPr>
              <p:nvPr/>
            </p:nvSpPr>
            <p:spPr bwMode="auto">
              <a:xfrm>
                <a:off x="4368" y="2415"/>
                <a:ext cx="11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endParaRPr>
              </a:p>
            </p:txBody>
          </p:sp>
          <p:sp>
            <p:nvSpPr>
              <p:cNvPr id="21531" name="Rectangle 24"/>
              <p:cNvSpPr>
                <a:spLocks noChangeArrowheads="1"/>
              </p:cNvSpPr>
              <p:nvPr/>
            </p:nvSpPr>
            <p:spPr bwMode="auto">
              <a:xfrm>
                <a:off x="4214" y="2106"/>
                <a:ext cx="11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800">
                  <a:latin typeface="Tahoma" panose="020B0604030504040204" pitchFamily="34" charset="0"/>
                </a:endParaRPr>
              </a:p>
            </p:txBody>
          </p:sp>
          <p:grpSp>
            <p:nvGrpSpPr>
              <p:cNvPr id="21532" name="Group 25"/>
              <p:cNvGrpSpPr>
                <a:grpSpLocks/>
              </p:cNvGrpSpPr>
              <p:nvPr/>
            </p:nvGrpSpPr>
            <p:grpSpPr bwMode="auto">
              <a:xfrm>
                <a:off x="2120" y="1767"/>
                <a:ext cx="2931" cy="369"/>
                <a:chOff x="1985" y="1815"/>
                <a:chExt cx="2931" cy="369"/>
              </a:xfrm>
            </p:grpSpPr>
            <p:sp>
              <p:nvSpPr>
                <p:cNvPr id="21534" name="Line 26"/>
                <p:cNvSpPr>
                  <a:spLocks noChangeShapeType="1"/>
                </p:cNvSpPr>
                <p:nvPr/>
              </p:nvSpPr>
              <p:spPr bwMode="auto">
                <a:xfrm>
                  <a:off x="1985" y="1815"/>
                  <a:ext cx="0" cy="36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35" name="Line 27"/>
                <p:cNvSpPr>
                  <a:spLocks noChangeShapeType="1"/>
                </p:cNvSpPr>
                <p:nvPr/>
              </p:nvSpPr>
              <p:spPr bwMode="auto">
                <a:xfrm>
                  <a:off x="2985" y="1815"/>
                  <a:ext cx="0" cy="36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36" name="Line 28"/>
                <p:cNvSpPr>
                  <a:spLocks noChangeShapeType="1"/>
                </p:cNvSpPr>
                <p:nvPr/>
              </p:nvSpPr>
              <p:spPr bwMode="auto">
                <a:xfrm>
                  <a:off x="3882" y="1815"/>
                  <a:ext cx="0" cy="36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37" name="Line 29"/>
                <p:cNvSpPr>
                  <a:spLocks noChangeShapeType="1"/>
                </p:cNvSpPr>
                <p:nvPr/>
              </p:nvSpPr>
              <p:spPr bwMode="auto">
                <a:xfrm>
                  <a:off x="4916" y="1815"/>
                  <a:ext cx="0" cy="36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38" name="Line 30"/>
                <p:cNvSpPr>
                  <a:spLocks noChangeShapeType="1"/>
                </p:cNvSpPr>
                <p:nvPr/>
              </p:nvSpPr>
              <p:spPr bwMode="auto">
                <a:xfrm>
                  <a:off x="4320" y="1815"/>
                  <a:ext cx="0" cy="3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1533" name="Rectangle 32"/>
              <p:cNvSpPr>
                <a:spLocks noChangeArrowheads="1"/>
              </p:cNvSpPr>
              <p:nvPr/>
            </p:nvSpPr>
            <p:spPr bwMode="auto">
              <a:xfrm>
                <a:off x="4258" y="1427"/>
                <a:ext cx="11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3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1510" name="Line 34"/>
            <p:cNvSpPr>
              <a:spLocks noChangeShapeType="1"/>
            </p:cNvSpPr>
            <p:nvPr/>
          </p:nvSpPr>
          <p:spPr bwMode="auto">
            <a:xfrm flipH="1">
              <a:off x="4026" y="2688"/>
              <a:ext cx="390" cy="3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50610"/>
            <a:ext cx="7886700" cy="1032090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Payback for Firm S</a:t>
            </a:r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9DCF0D-C371-447D-906B-59D738FD240A}" type="slidenum">
              <a:rPr lang="en-US" altLang="en-US">
                <a:latin typeface="Tahoma" panose="020B0604030504040204" pitchFamily="34" charset="0"/>
              </a:rPr>
              <a:pPr eaLnBrk="1" hangingPunct="1"/>
              <a:t>19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22532" name="Group 37"/>
          <p:cNvGrpSpPr>
            <a:grpSpLocks/>
          </p:cNvGrpSpPr>
          <p:nvPr/>
        </p:nvGrpSpPr>
        <p:grpSpPr bwMode="auto">
          <a:xfrm>
            <a:off x="762000" y="2590800"/>
            <a:ext cx="7573963" cy="3482975"/>
            <a:chOff x="468" y="1643"/>
            <a:chExt cx="4771" cy="2194"/>
          </a:xfrm>
        </p:grpSpPr>
        <p:grpSp>
          <p:nvGrpSpPr>
            <p:cNvPr id="22533" name="Group 36"/>
            <p:cNvGrpSpPr>
              <a:grpSpLocks/>
            </p:cNvGrpSpPr>
            <p:nvPr/>
          </p:nvGrpSpPr>
          <p:grpSpPr bwMode="auto">
            <a:xfrm>
              <a:off x="468" y="1643"/>
              <a:ext cx="4771" cy="2194"/>
              <a:chOff x="468" y="1643"/>
              <a:chExt cx="4771" cy="2194"/>
            </a:xfrm>
          </p:grpSpPr>
          <p:sp>
            <p:nvSpPr>
              <p:cNvPr id="22535" name="Oval 4"/>
              <p:cNvSpPr>
                <a:spLocks noChangeArrowheads="1"/>
              </p:cNvSpPr>
              <p:nvPr/>
            </p:nvSpPr>
            <p:spPr bwMode="auto">
              <a:xfrm>
                <a:off x="3809" y="2366"/>
                <a:ext cx="336" cy="24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2536" name="Rectangle 5"/>
              <p:cNvSpPr>
                <a:spLocks noChangeArrowheads="1"/>
              </p:cNvSpPr>
              <p:nvPr/>
            </p:nvSpPr>
            <p:spPr bwMode="auto">
              <a:xfrm>
                <a:off x="2887" y="2338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70</a:t>
                </a:r>
              </a:p>
            </p:txBody>
          </p:sp>
          <p:sp>
            <p:nvSpPr>
              <p:cNvPr id="22537" name="Rectangle 6"/>
              <p:cNvSpPr>
                <a:spLocks noChangeArrowheads="1"/>
              </p:cNvSpPr>
              <p:nvPr/>
            </p:nvSpPr>
            <p:spPr bwMode="auto">
              <a:xfrm>
                <a:off x="4881" y="2338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20</a:t>
                </a:r>
              </a:p>
            </p:txBody>
          </p:sp>
          <p:grpSp>
            <p:nvGrpSpPr>
              <p:cNvPr id="22538" name="Group 7"/>
              <p:cNvGrpSpPr>
                <a:grpSpLocks/>
              </p:cNvGrpSpPr>
              <p:nvPr/>
            </p:nvGrpSpPr>
            <p:grpSpPr bwMode="auto">
              <a:xfrm>
                <a:off x="2046" y="1946"/>
                <a:ext cx="3019" cy="312"/>
                <a:chOff x="1902" y="1514"/>
                <a:chExt cx="3019" cy="312"/>
              </a:xfrm>
            </p:grpSpPr>
            <p:sp>
              <p:nvSpPr>
                <p:cNvPr id="22558" name="Line 8"/>
                <p:cNvSpPr>
                  <a:spLocks noChangeShapeType="1"/>
                </p:cNvSpPr>
                <p:nvPr/>
              </p:nvSpPr>
              <p:spPr bwMode="auto">
                <a:xfrm>
                  <a:off x="1902" y="1514"/>
                  <a:ext cx="0" cy="31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9" name="Line 9"/>
                <p:cNvSpPr>
                  <a:spLocks noChangeShapeType="1"/>
                </p:cNvSpPr>
                <p:nvPr/>
              </p:nvSpPr>
              <p:spPr bwMode="auto">
                <a:xfrm>
                  <a:off x="2932" y="1514"/>
                  <a:ext cx="0" cy="31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0" name="Line 10"/>
                <p:cNvSpPr>
                  <a:spLocks noChangeShapeType="1"/>
                </p:cNvSpPr>
                <p:nvPr/>
              </p:nvSpPr>
              <p:spPr bwMode="auto">
                <a:xfrm>
                  <a:off x="3856" y="1514"/>
                  <a:ext cx="0" cy="31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1" name="Line 11"/>
                <p:cNvSpPr>
                  <a:spLocks noChangeShapeType="1"/>
                </p:cNvSpPr>
                <p:nvPr/>
              </p:nvSpPr>
              <p:spPr bwMode="auto">
                <a:xfrm>
                  <a:off x="4921" y="1514"/>
                  <a:ext cx="0" cy="31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2" name="Line 12"/>
                <p:cNvSpPr>
                  <a:spLocks noChangeShapeType="1"/>
                </p:cNvSpPr>
                <p:nvPr/>
              </p:nvSpPr>
              <p:spPr bwMode="auto">
                <a:xfrm>
                  <a:off x="1910" y="1671"/>
                  <a:ext cx="3003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2539" name="Rectangle 13"/>
              <p:cNvSpPr>
                <a:spLocks noChangeArrowheads="1"/>
              </p:cNvSpPr>
              <p:nvPr/>
            </p:nvSpPr>
            <p:spPr bwMode="auto">
              <a:xfrm>
                <a:off x="3814" y="2338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50</a:t>
                </a:r>
              </a:p>
            </p:txBody>
          </p:sp>
          <p:sp>
            <p:nvSpPr>
              <p:cNvPr id="22540" name="Rectangle 14"/>
              <p:cNvSpPr>
                <a:spLocks noChangeArrowheads="1"/>
              </p:cNvSpPr>
              <p:nvPr/>
            </p:nvSpPr>
            <p:spPr bwMode="auto">
              <a:xfrm>
                <a:off x="1921" y="1662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22541" name="Rectangle 15"/>
              <p:cNvSpPr>
                <a:spLocks noChangeArrowheads="1"/>
              </p:cNvSpPr>
              <p:nvPr/>
            </p:nvSpPr>
            <p:spPr bwMode="auto">
              <a:xfrm>
                <a:off x="2951" y="1662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22542" name="Rectangle 16"/>
              <p:cNvSpPr>
                <a:spLocks noChangeArrowheads="1"/>
              </p:cNvSpPr>
              <p:nvPr/>
            </p:nvSpPr>
            <p:spPr bwMode="auto">
              <a:xfrm>
                <a:off x="3874" y="1662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22543" name="Rectangle 17"/>
              <p:cNvSpPr>
                <a:spLocks noChangeArrowheads="1"/>
              </p:cNvSpPr>
              <p:nvPr/>
            </p:nvSpPr>
            <p:spPr bwMode="auto">
              <a:xfrm>
                <a:off x="4940" y="1662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22544" name="Rectangle 18"/>
              <p:cNvSpPr>
                <a:spLocks noChangeArrowheads="1"/>
              </p:cNvSpPr>
              <p:nvPr/>
            </p:nvSpPr>
            <p:spPr bwMode="auto">
              <a:xfrm>
                <a:off x="2308" y="1802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545" name="Rectangle 19"/>
              <p:cNvSpPr>
                <a:spLocks noChangeArrowheads="1"/>
              </p:cNvSpPr>
              <p:nvPr/>
            </p:nvSpPr>
            <p:spPr bwMode="auto">
              <a:xfrm>
                <a:off x="1738" y="2338"/>
                <a:ext cx="561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-100</a:t>
                </a:r>
              </a:p>
            </p:txBody>
          </p:sp>
          <p:sp>
            <p:nvSpPr>
              <p:cNvPr id="22546" name="Rectangle 20"/>
              <p:cNvSpPr>
                <a:spLocks noChangeArrowheads="1"/>
              </p:cNvSpPr>
              <p:nvPr/>
            </p:nvSpPr>
            <p:spPr bwMode="auto">
              <a:xfrm>
                <a:off x="468" y="2338"/>
                <a:ext cx="417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CF</a:t>
                </a:r>
                <a:r>
                  <a:rPr lang="en-US" altLang="en-US" sz="2800" baseline="-25000">
                    <a:latin typeface="Tahoma" panose="020B0604030504040204" pitchFamily="34" charset="0"/>
                  </a:rPr>
                  <a:t>t</a:t>
                </a:r>
              </a:p>
            </p:txBody>
          </p:sp>
          <p:sp>
            <p:nvSpPr>
              <p:cNvPr id="22547" name="Rectangle 21"/>
              <p:cNvSpPr>
                <a:spLocks noChangeArrowheads="1"/>
              </p:cNvSpPr>
              <p:nvPr/>
            </p:nvSpPr>
            <p:spPr bwMode="auto">
              <a:xfrm>
                <a:off x="468" y="2866"/>
                <a:ext cx="1212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Cumulative</a:t>
                </a:r>
              </a:p>
            </p:txBody>
          </p:sp>
          <p:sp>
            <p:nvSpPr>
              <p:cNvPr id="22548" name="Rectangle 22"/>
              <p:cNvSpPr>
                <a:spLocks noChangeArrowheads="1"/>
              </p:cNvSpPr>
              <p:nvPr/>
            </p:nvSpPr>
            <p:spPr bwMode="auto">
              <a:xfrm>
                <a:off x="1738" y="2866"/>
                <a:ext cx="561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-100</a:t>
                </a:r>
              </a:p>
            </p:txBody>
          </p:sp>
          <p:sp>
            <p:nvSpPr>
              <p:cNvPr id="22549" name="Rectangle 23"/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43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-30</a:t>
                </a:r>
              </a:p>
            </p:txBody>
          </p:sp>
          <p:sp>
            <p:nvSpPr>
              <p:cNvPr id="22550" name="Rectangle 24"/>
              <p:cNvSpPr>
                <a:spLocks noChangeArrowheads="1"/>
              </p:cNvSpPr>
              <p:nvPr/>
            </p:nvSpPr>
            <p:spPr bwMode="auto">
              <a:xfrm>
                <a:off x="3814" y="2866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20</a:t>
                </a:r>
              </a:p>
            </p:txBody>
          </p:sp>
          <p:sp>
            <p:nvSpPr>
              <p:cNvPr id="22551" name="Rectangle 25"/>
              <p:cNvSpPr>
                <a:spLocks noChangeArrowheads="1"/>
              </p:cNvSpPr>
              <p:nvPr/>
            </p:nvSpPr>
            <p:spPr bwMode="auto">
              <a:xfrm>
                <a:off x="4881" y="2866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40</a:t>
                </a:r>
              </a:p>
            </p:txBody>
          </p:sp>
          <p:sp>
            <p:nvSpPr>
              <p:cNvPr id="22552" name="Rectangle 26"/>
              <p:cNvSpPr>
                <a:spLocks noChangeArrowheads="1"/>
              </p:cNvSpPr>
              <p:nvPr/>
            </p:nvSpPr>
            <p:spPr bwMode="auto">
              <a:xfrm>
                <a:off x="468" y="3512"/>
                <a:ext cx="1009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Payback</a:t>
                </a:r>
                <a:r>
                  <a:rPr lang="en-US" altLang="en-US" sz="2800" baseline="-25000">
                    <a:latin typeface="Tahoma" panose="020B0604030504040204" pitchFamily="34" charset="0"/>
                  </a:rPr>
                  <a:t>S</a:t>
                </a:r>
              </a:p>
            </p:txBody>
          </p:sp>
          <p:sp>
            <p:nvSpPr>
              <p:cNvPr id="22553" name="Rectangle 27"/>
              <p:cNvSpPr>
                <a:spLocks noChangeArrowheads="1"/>
              </p:cNvSpPr>
              <p:nvPr/>
            </p:nvSpPr>
            <p:spPr bwMode="auto">
              <a:xfrm>
                <a:off x="2112" y="3506"/>
                <a:ext cx="2948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1  +  $30/$50  =   1.6 years</a:t>
                </a:r>
              </a:p>
            </p:txBody>
          </p:sp>
          <p:sp>
            <p:nvSpPr>
              <p:cNvPr id="22554" name="Rectangle 29"/>
              <p:cNvSpPr>
                <a:spLocks noChangeArrowheads="1"/>
              </p:cNvSpPr>
              <p:nvPr/>
            </p:nvSpPr>
            <p:spPr bwMode="auto">
              <a:xfrm>
                <a:off x="3456" y="2880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22555" name="Line 30"/>
              <p:cNvSpPr>
                <a:spLocks noChangeShapeType="1"/>
              </p:cNvSpPr>
              <p:nvPr/>
            </p:nvSpPr>
            <p:spPr bwMode="auto">
              <a:xfrm>
                <a:off x="3552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6" name="Rectangle 31"/>
              <p:cNvSpPr>
                <a:spLocks noChangeArrowheads="1"/>
              </p:cNvSpPr>
              <p:nvPr/>
            </p:nvSpPr>
            <p:spPr bwMode="auto">
              <a:xfrm>
                <a:off x="3322" y="1643"/>
                <a:ext cx="47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3200">
                    <a:latin typeface="Tahoma" panose="020B0604030504040204" pitchFamily="34" charset="0"/>
                  </a:rPr>
                  <a:t>1.6</a:t>
                </a:r>
              </a:p>
            </p:txBody>
          </p:sp>
          <p:sp>
            <p:nvSpPr>
              <p:cNvPr id="22557" name="Rectangle 34"/>
              <p:cNvSpPr>
                <a:spLocks noChangeArrowheads="1"/>
              </p:cNvSpPr>
              <p:nvPr/>
            </p:nvSpPr>
            <p:spPr bwMode="auto">
              <a:xfrm>
                <a:off x="1767" y="3512"/>
                <a:ext cx="277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=</a:t>
                </a:r>
              </a:p>
            </p:txBody>
          </p:sp>
        </p:grpSp>
        <p:sp>
          <p:nvSpPr>
            <p:cNvPr id="22534" name="Line 35"/>
            <p:cNvSpPr>
              <a:spLocks noChangeShapeType="1"/>
            </p:cNvSpPr>
            <p:nvPr/>
          </p:nvSpPr>
          <p:spPr bwMode="auto">
            <a:xfrm>
              <a:off x="3648" y="3168"/>
              <a:ext cx="467" cy="3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Strengths  &amp; Weaknesses of Payback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86800" cy="46529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Strengths: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  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Weaknesses: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altLang="en-US" dirty="0"/>
              <a:t> 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A7EFFC-9053-4A82-9800-50CAE7C80E79}" type="slidenum">
              <a:rPr lang="en-US" altLang="en-US">
                <a:latin typeface="Tahoma" panose="020B0604030504040204" pitchFamily="34" charset="0"/>
              </a:rPr>
              <a:pPr eaLnBrk="1" hangingPunct="1"/>
              <a:t>20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Expected Net CFs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  <a:p>
            <a:endParaRPr lang="en-US" altLang="en-US" dirty="0"/>
          </a:p>
          <a:p>
            <a:r>
              <a:rPr lang="en-US" altLang="en-US" i="1" dirty="0" err="1"/>
              <a:t>i</a:t>
            </a:r>
            <a:r>
              <a:rPr lang="en-US" altLang="en-US" dirty="0"/>
              <a:t> = 10%</a:t>
            </a:r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&lt;$100&gt;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70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50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21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160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6"/>
          <p:cNvSpPr>
            <a:spLocks noGrp="1" noChangeArrowheads="1"/>
          </p:cNvSpPr>
          <p:nvPr>
            <p:ph type="title"/>
          </p:nvPr>
        </p:nvSpPr>
        <p:spPr>
          <a:xfrm>
            <a:off x="628649" y="365127"/>
            <a:ext cx="8201819" cy="103209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Discounted Payback: Uses Discounted CFs</a:t>
            </a:r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B15B73-8C40-4E69-8B60-9F332DACBAA5}" type="slidenum">
              <a:rPr lang="en-US" altLang="en-US">
                <a:latin typeface="Tahoma" panose="020B0604030504040204" pitchFamily="34" charset="0"/>
              </a:rPr>
              <a:pPr eaLnBrk="1" hangingPunct="1"/>
              <a:t>22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24579" name="Group 2"/>
          <p:cNvGrpSpPr>
            <a:grpSpLocks/>
          </p:cNvGrpSpPr>
          <p:nvPr/>
        </p:nvGrpSpPr>
        <p:grpSpPr bwMode="auto">
          <a:xfrm>
            <a:off x="286544" y="1752600"/>
            <a:ext cx="8048625" cy="4479925"/>
            <a:chOff x="215" y="1358"/>
            <a:chExt cx="5070" cy="2822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2900" y="2014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24582" name="Rectangle 4"/>
            <p:cNvSpPr>
              <a:spLocks noChangeArrowheads="1"/>
            </p:cNvSpPr>
            <p:nvPr/>
          </p:nvSpPr>
          <p:spPr bwMode="auto">
            <a:xfrm>
              <a:off x="4927" y="2014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80</a:t>
              </a:r>
            </a:p>
          </p:txBody>
        </p:sp>
        <p:grpSp>
          <p:nvGrpSpPr>
            <p:cNvPr id="24583" name="Group 5"/>
            <p:cNvGrpSpPr>
              <a:grpSpLocks/>
            </p:cNvGrpSpPr>
            <p:nvPr/>
          </p:nvGrpSpPr>
          <p:grpSpPr bwMode="auto">
            <a:xfrm>
              <a:off x="2063" y="1632"/>
              <a:ext cx="3037" cy="397"/>
              <a:chOff x="1871" y="1323"/>
              <a:chExt cx="3037" cy="397"/>
            </a:xfrm>
          </p:grpSpPr>
          <p:sp>
            <p:nvSpPr>
              <p:cNvPr id="24609" name="Line 6"/>
              <p:cNvSpPr>
                <a:spLocks noChangeShapeType="1"/>
              </p:cNvSpPr>
              <p:nvPr/>
            </p:nvSpPr>
            <p:spPr bwMode="auto">
              <a:xfrm>
                <a:off x="1871" y="1323"/>
                <a:ext cx="0" cy="3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Line 7"/>
              <p:cNvSpPr>
                <a:spLocks noChangeShapeType="1"/>
              </p:cNvSpPr>
              <p:nvPr/>
            </p:nvSpPr>
            <p:spPr bwMode="auto">
              <a:xfrm>
                <a:off x="2907" y="1323"/>
                <a:ext cx="0" cy="3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1" name="Line 8"/>
              <p:cNvSpPr>
                <a:spLocks noChangeShapeType="1"/>
              </p:cNvSpPr>
              <p:nvPr/>
            </p:nvSpPr>
            <p:spPr bwMode="auto">
              <a:xfrm>
                <a:off x="3837" y="1323"/>
                <a:ext cx="0" cy="3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2" name="Line 9"/>
              <p:cNvSpPr>
                <a:spLocks noChangeShapeType="1"/>
              </p:cNvSpPr>
              <p:nvPr/>
            </p:nvSpPr>
            <p:spPr bwMode="auto">
              <a:xfrm>
                <a:off x="4908" y="1323"/>
                <a:ext cx="0" cy="3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3" name="Line 10"/>
              <p:cNvSpPr>
                <a:spLocks noChangeShapeType="1"/>
              </p:cNvSpPr>
              <p:nvPr/>
            </p:nvSpPr>
            <p:spPr bwMode="auto">
              <a:xfrm>
                <a:off x="1879" y="1522"/>
                <a:ext cx="30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584" name="Rectangle 11"/>
            <p:cNvSpPr>
              <a:spLocks noChangeArrowheads="1"/>
            </p:cNvSpPr>
            <p:nvPr/>
          </p:nvSpPr>
          <p:spPr bwMode="auto">
            <a:xfrm>
              <a:off x="3849" y="2014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24585" name="Rectangle 12"/>
            <p:cNvSpPr>
              <a:spLocks noChangeArrowheads="1"/>
            </p:cNvSpPr>
            <p:nvPr/>
          </p:nvSpPr>
          <p:spPr bwMode="auto">
            <a:xfrm>
              <a:off x="1948" y="1358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24586" name="Rectangle 13"/>
            <p:cNvSpPr>
              <a:spLocks noChangeArrowheads="1"/>
            </p:cNvSpPr>
            <p:nvPr/>
          </p:nvSpPr>
          <p:spPr bwMode="auto">
            <a:xfrm>
              <a:off x="2973" y="1358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4587" name="Rectangle 14"/>
            <p:cNvSpPr>
              <a:spLocks noChangeArrowheads="1"/>
            </p:cNvSpPr>
            <p:nvPr/>
          </p:nvSpPr>
          <p:spPr bwMode="auto">
            <a:xfrm>
              <a:off x="3913" y="1358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4588" name="Rectangle 15"/>
            <p:cNvSpPr>
              <a:spLocks noChangeArrowheads="1"/>
            </p:cNvSpPr>
            <p:nvPr/>
          </p:nvSpPr>
          <p:spPr bwMode="auto">
            <a:xfrm>
              <a:off x="4986" y="1358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4589" name="Rectangle 16"/>
            <p:cNvSpPr>
              <a:spLocks noChangeArrowheads="1"/>
            </p:cNvSpPr>
            <p:nvPr/>
          </p:nvSpPr>
          <p:spPr bwMode="auto">
            <a:xfrm>
              <a:off x="2326" y="1461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590" name="Rectangle 17"/>
            <p:cNvSpPr>
              <a:spLocks noChangeArrowheads="1"/>
            </p:cNvSpPr>
            <p:nvPr/>
          </p:nvSpPr>
          <p:spPr bwMode="auto">
            <a:xfrm>
              <a:off x="505" y="2014"/>
              <a:ext cx="41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CF</a:t>
              </a:r>
              <a:r>
                <a:rPr lang="en-US" altLang="en-US" sz="2800" baseline="-250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4591" name="Rectangle 18"/>
            <p:cNvSpPr>
              <a:spLocks noChangeArrowheads="1"/>
            </p:cNvSpPr>
            <p:nvPr/>
          </p:nvSpPr>
          <p:spPr bwMode="auto">
            <a:xfrm>
              <a:off x="505" y="2863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592" name="Rectangle 19"/>
            <p:cNvSpPr>
              <a:spLocks noChangeArrowheads="1"/>
            </p:cNvSpPr>
            <p:nvPr/>
          </p:nvSpPr>
          <p:spPr bwMode="auto">
            <a:xfrm>
              <a:off x="1793" y="2863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593" name="Rectangle 20"/>
            <p:cNvSpPr>
              <a:spLocks noChangeArrowheads="1"/>
            </p:cNvSpPr>
            <p:nvPr/>
          </p:nvSpPr>
          <p:spPr bwMode="auto">
            <a:xfrm>
              <a:off x="2833" y="2863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594" name="Rectangle 21"/>
            <p:cNvSpPr>
              <a:spLocks noChangeArrowheads="1"/>
            </p:cNvSpPr>
            <p:nvPr/>
          </p:nvSpPr>
          <p:spPr bwMode="auto">
            <a:xfrm>
              <a:off x="3792" y="2853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595" name="Rectangle 22"/>
            <p:cNvSpPr>
              <a:spLocks noChangeArrowheads="1"/>
            </p:cNvSpPr>
            <p:nvPr/>
          </p:nvSpPr>
          <p:spPr bwMode="auto">
            <a:xfrm>
              <a:off x="4927" y="2863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596" name="Rectangle 23"/>
            <p:cNvSpPr>
              <a:spLocks noChangeArrowheads="1"/>
            </p:cNvSpPr>
            <p:nvPr/>
          </p:nvSpPr>
          <p:spPr bwMode="auto">
            <a:xfrm>
              <a:off x="430" y="3460"/>
              <a:ext cx="1236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800" dirty="0">
                  <a:latin typeface="Tahoma" panose="020B0604030504040204" pitchFamily="34" charset="0"/>
                </a:rPr>
                <a:t>Discounted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800" dirty="0">
                  <a:latin typeface="Tahoma" panose="020B0604030504040204" pitchFamily="34" charset="0"/>
                </a:rPr>
                <a:t>payback</a:t>
              </a:r>
            </a:p>
          </p:txBody>
        </p:sp>
        <p:sp>
          <p:nvSpPr>
            <p:cNvPr id="24597" name="Rectangle 24"/>
            <p:cNvSpPr>
              <a:spLocks noChangeArrowheads="1"/>
            </p:cNvSpPr>
            <p:nvPr/>
          </p:nvSpPr>
          <p:spPr bwMode="auto">
            <a:xfrm>
              <a:off x="2112" y="3333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598" name="Rectangle 25"/>
            <p:cNvSpPr>
              <a:spLocks noChangeArrowheads="1"/>
            </p:cNvSpPr>
            <p:nvPr/>
          </p:nvSpPr>
          <p:spPr bwMode="auto">
            <a:xfrm>
              <a:off x="505" y="2431"/>
              <a:ext cx="47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PVs</a:t>
              </a:r>
              <a:endParaRPr lang="en-US" altLang="en-US" sz="2800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4599" name="Rectangle 26"/>
            <p:cNvSpPr>
              <a:spLocks noChangeArrowheads="1"/>
            </p:cNvSpPr>
            <p:nvPr/>
          </p:nvSpPr>
          <p:spPr bwMode="auto">
            <a:xfrm>
              <a:off x="1793" y="2431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600" name="Rectangle 27"/>
            <p:cNvSpPr>
              <a:spLocks noChangeArrowheads="1"/>
            </p:cNvSpPr>
            <p:nvPr/>
          </p:nvSpPr>
          <p:spPr bwMode="auto">
            <a:xfrm>
              <a:off x="1793" y="2014"/>
              <a:ext cx="561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-100</a:t>
              </a:r>
            </a:p>
          </p:txBody>
        </p:sp>
        <p:sp>
          <p:nvSpPr>
            <p:cNvPr id="24601" name="Rectangle 28"/>
            <p:cNvSpPr>
              <a:spLocks noChangeArrowheads="1"/>
            </p:cNvSpPr>
            <p:nvPr/>
          </p:nvSpPr>
          <p:spPr bwMode="auto">
            <a:xfrm>
              <a:off x="2343" y="1543"/>
              <a:ext cx="51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24602" name="Rectangle 29"/>
            <p:cNvSpPr>
              <a:spLocks noChangeArrowheads="1"/>
            </p:cNvSpPr>
            <p:nvPr/>
          </p:nvSpPr>
          <p:spPr bwMode="auto">
            <a:xfrm>
              <a:off x="3032" y="2431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603" name="Rectangle 30"/>
            <p:cNvSpPr>
              <a:spLocks noChangeArrowheads="1"/>
            </p:cNvSpPr>
            <p:nvPr/>
          </p:nvSpPr>
          <p:spPr bwMode="auto">
            <a:xfrm>
              <a:off x="3845" y="2431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604" name="Rectangle 31"/>
            <p:cNvSpPr>
              <a:spLocks noChangeArrowheads="1"/>
            </p:cNvSpPr>
            <p:nvPr/>
          </p:nvSpPr>
          <p:spPr bwMode="auto">
            <a:xfrm>
              <a:off x="4944" y="2421"/>
              <a:ext cx="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4605" name="Rectangle 32"/>
            <p:cNvSpPr>
              <a:spLocks noChangeArrowheads="1"/>
            </p:cNvSpPr>
            <p:nvPr/>
          </p:nvSpPr>
          <p:spPr bwMode="auto">
            <a:xfrm>
              <a:off x="1766" y="3614"/>
              <a:ext cx="289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=</a:t>
              </a:r>
            </a:p>
          </p:txBody>
        </p:sp>
        <p:sp>
          <p:nvSpPr>
            <p:cNvPr id="24606" name="Rectangle 33"/>
            <p:cNvSpPr>
              <a:spLocks noChangeArrowheads="1"/>
            </p:cNvSpPr>
            <p:nvPr/>
          </p:nvSpPr>
          <p:spPr bwMode="auto">
            <a:xfrm>
              <a:off x="215" y="3813"/>
              <a:ext cx="11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3200" dirty="0">
                <a:latin typeface="Tahoma" panose="020B0604030504040204" pitchFamily="34" charset="0"/>
              </a:endParaRPr>
            </a:p>
          </p:txBody>
        </p:sp>
        <p:sp>
          <p:nvSpPr>
            <p:cNvPr id="24607" name="Line 34"/>
            <p:cNvSpPr>
              <a:spLocks noChangeShapeType="1"/>
            </p:cNvSpPr>
            <p:nvPr/>
          </p:nvSpPr>
          <p:spPr bwMode="auto">
            <a:xfrm>
              <a:off x="4704" y="16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8" name="Line 35"/>
            <p:cNvSpPr>
              <a:spLocks noChangeShapeType="1"/>
            </p:cNvSpPr>
            <p:nvPr/>
          </p:nvSpPr>
          <p:spPr bwMode="auto">
            <a:xfrm flipV="1">
              <a:off x="4704" y="2045"/>
              <a:ext cx="0" cy="118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619510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Expected Net CFs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  <a:p>
            <a:endParaRPr lang="en-US" altLang="en-US" dirty="0"/>
          </a:p>
          <a:p>
            <a:r>
              <a:rPr lang="en-US" altLang="en-US" i="1" dirty="0" err="1"/>
              <a:t>i</a:t>
            </a:r>
            <a:r>
              <a:rPr lang="en-US" altLang="en-US" dirty="0"/>
              <a:t> = 10%</a:t>
            </a:r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&lt;$100&gt;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70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50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23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825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NPV: Sum of PVs of All CFs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D0C9CBF-BC77-4F43-8D9D-8A8C0EC03BAC}" type="slidenum">
              <a:rPr lang="en-US" altLang="en-US">
                <a:latin typeface="Tahoma" panose="020B0604030504040204" pitchFamily="34" charset="0"/>
              </a:rPr>
              <a:pPr eaLnBrk="1" hangingPunct="1"/>
              <a:t>24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25604" name="Group 23"/>
          <p:cNvGrpSpPr>
            <a:grpSpLocks/>
          </p:cNvGrpSpPr>
          <p:nvPr/>
        </p:nvGrpSpPr>
        <p:grpSpPr bwMode="auto">
          <a:xfrm>
            <a:off x="1524000" y="2057400"/>
            <a:ext cx="5786438" cy="4252913"/>
            <a:chOff x="960" y="1296"/>
            <a:chExt cx="3645" cy="2679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960" y="2544"/>
              <a:ext cx="364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latin typeface="Tahoma" panose="020B0604030504040204" pitchFamily="34" charset="0"/>
                </a:rPr>
                <a:t>Cost often is CF</a:t>
              </a:r>
              <a:r>
                <a:rPr lang="en-US" altLang="en-US" sz="3200" baseline="-25000" dirty="0">
                  <a:latin typeface="Tahoma" panose="020B0604030504040204" pitchFamily="34" charset="0"/>
                </a:rPr>
                <a:t>0</a:t>
              </a:r>
              <a:r>
                <a:rPr lang="en-US" altLang="en-US" sz="3200" dirty="0">
                  <a:latin typeface="Tahoma" panose="020B0604030504040204" pitchFamily="34" charset="0"/>
                </a:rPr>
                <a:t> &amp; is negative.</a:t>
              </a:r>
            </a:p>
          </p:txBody>
        </p:sp>
        <p:sp>
          <p:nvSpPr>
            <p:cNvPr id="25606" name="Text Box 5"/>
            <p:cNvSpPr txBox="1">
              <a:spLocks noChangeArrowheads="1"/>
            </p:cNvSpPr>
            <p:nvPr/>
          </p:nvSpPr>
          <p:spPr bwMode="auto">
            <a:xfrm>
              <a:off x="1056" y="1584"/>
              <a:ext cx="11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NPV =</a:t>
              </a:r>
              <a:r>
                <a:rPr lang="en-US" altLang="en-US"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25607" name="Text Box 6"/>
            <p:cNvSpPr txBox="1">
              <a:spLocks noChangeArrowheads="1"/>
            </p:cNvSpPr>
            <p:nvPr/>
          </p:nvSpPr>
          <p:spPr bwMode="auto">
            <a:xfrm>
              <a:off x="1824" y="1488"/>
              <a:ext cx="57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l-GR" altLang="en-US" sz="4800">
                  <a:latin typeface="Tahoma" panose="020B0604030504040204" pitchFamily="34" charset="0"/>
                </a:rPr>
                <a:t>Σ</a:t>
              </a:r>
            </a:p>
          </p:txBody>
        </p:sp>
        <p:sp>
          <p:nvSpPr>
            <p:cNvPr id="25608" name="Text Box 7"/>
            <p:cNvSpPr txBox="1">
              <a:spLocks noChangeArrowheads="1"/>
            </p:cNvSpPr>
            <p:nvPr/>
          </p:nvSpPr>
          <p:spPr bwMode="auto">
            <a:xfrm>
              <a:off x="1872" y="129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25609" name="Text Box 8"/>
            <p:cNvSpPr txBox="1">
              <a:spLocks noChangeArrowheads="1"/>
            </p:cNvSpPr>
            <p:nvPr/>
          </p:nvSpPr>
          <p:spPr bwMode="auto">
            <a:xfrm>
              <a:off x="1728" y="1920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t = 0</a:t>
              </a:r>
            </a:p>
          </p:txBody>
        </p:sp>
        <p:sp>
          <p:nvSpPr>
            <p:cNvPr id="25610" name="Text Box 9"/>
            <p:cNvSpPr txBox="1">
              <a:spLocks noChangeArrowheads="1"/>
            </p:cNvSpPr>
            <p:nvPr/>
          </p:nvSpPr>
          <p:spPr bwMode="auto">
            <a:xfrm>
              <a:off x="2400" y="1344"/>
              <a:ext cx="5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CF</a:t>
              </a:r>
              <a:r>
                <a:rPr lang="en-US" altLang="en-US" sz="3200" baseline="-250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5611" name="Text Box 10"/>
            <p:cNvSpPr txBox="1">
              <a:spLocks noChangeArrowheads="1"/>
            </p:cNvSpPr>
            <p:nvPr/>
          </p:nvSpPr>
          <p:spPr bwMode="auto">
            <a:xfrm>
              <a:off x="2256" y="1728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(1 + r)</a:t>
              </a:r>
              <a:r>
                <a:rPr lang="en-US" altLang="en-US" sz="3200" baseline="300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5612" name="Line 11"/>
            <p:cNvSpPr>
              <a:spLocks noChangeShapeType="1"/>
            </p:cNvSpPr>
            <p:nvPr/>
          </p:nvSpPr>
          <p:spPr bwMode="auto">
            <a:xfrm>
              <a:off x="2352" y="1728"/>
              <a:ext cx="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3" name="Text Box 14"/>
            <p:cNvSpPr txBox="1">
              <a:spLocks noChangeArrowheads="1"/>
            </p:cNvSpPr>
            <p:nvPr/>
          </p:nvSpPr>
          <p:spPr bwMode="auto">
            <a:xfrm>
              <a:off x="1152" y="3312"/>
              <a:ext cx="11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NPV =</a:t>
              </a:r>
              <a:r>
                <a:rPr lang="en-US" altLang="en-US"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25614" name="Text Box 15"/>
            <p:cNvSpPr txBox="1">
              <a:spLocks noChangeArrowheads="1"/>
            </p:cNvSpPr>
            <p:nvPr/>
          </p:nvSpPr>
          <p:spPr bwMode="auto">
            <a:xfrm>
              <a:off x="1920" y="3216"/>
              <a:ext cx="57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l-GR" altLang="en-US" sz="4800">
                  <a:latin typeface="Tahoma" panose="020B0604030504040204" pitchFamily="34" charset="0"/>
                </a:rPr>
                <a:t>Σ</a:t>
              </a:r>
              <a:endParaRPr lang="en-US" altLang="en-US" sz="4800">
                <a:latin typeface="Tahoma" panose="020B0604030504040204" pitchFamily="34" charset="0"/>
              </a:endParaRPr>
            </a:p>
          </p:txBody>
        </p:sp>
        <p:sp>
          <p:nvSpPr>
            <p:cNvPr id="25615" name="Text Box 16"/>
            <p:cNvSpPr txBox="1">
              <a:spLocks noChangeArrowheads="1"/>
            </p:cNvSpPr>
            <p:nvPr/>
          </p:nvSpPr>
          <p:spPr bwMode="auto">
            <a:xfrm>
              <a:off x="1968" y="302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25616" name="Text Box 17"/>
            <p:cNvSpPr txBox="1">
              <a:spLocks noChangeArrowheads="1"/>
            </p:cNvSpPr>
            <p:nvPr/>
          </p:nvSpPr>
          <p:spPr bwMode="auto">
            <a:xfrm>
              <a:off x="1824" y="3648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t = 1</a:t>
              </a:r>
            </a:p>
          </p:txBody>
        </p:sp>
        <p:sp>
          <p:nvSpPr>
            <p:cNvPr id="25617" name="Text Box 18"/>
            <p:cNvSpPr txBox="1">
              <a:spLocks noChangeArrowheads="1"/>
            </p:cNvSpPr>
            <p:nvPr/>
          </p:nvSpPr>
          <p:spPr bwMode="auto">
            <a:xfrm>
              <a:off x="2592" y="3072"/>
              <a:ext cx="5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CF</a:t>
              </a:r>
              <a:r>
                <a:rPr lang="en-US" altLang="en-US" sz="3200" baseline="-250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5618" name="Text Box 19"/>
            <p:cNvSpPr txBox="1">
              <a:spLocks noChangeArrowheads="1"/>
            </p:cNvSpPr>
            <p:nvPr/>
          </p:nvSpPr>
          <p:spPr bwMode="auto">
            <a:xfrm>
              <a:off x="2352" y="3456"/>
              <a:ext cx="14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(1 + r)</a:t>
              </a:r>
              <a:r>
                <a:rPr lang="en-US" altLang="en-US" sz="3200" baseline="300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5619" name="Line 20"/>
            <p:cNvSpPr>
              <a:spLocks noChangeShapeType="1"/>
            </p:cNvSpPr>
            <p:nvPr/>
          </p:nvSpPr>
          <p:spPr bwMode="auto">
            <a:xfrm>
              <a:off x="2448" y="3456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0" name="Text Box 22"/>
            <p:cNvSpPr txBox="1">
              <a:spLocks noChangeArrowheads="1"/>
            </p:cNvSpPr>
            <p:nvPr/>
          </p:nvSpPr>
          <p:spPr bwMode="auto">
            <a:xfrm>
              <a:off x="3456" y="3264"/>
              <a:ext cx="9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latin typeface="Tahoma" panose="020B0604030504040204" pitchFamily="34" charset="0"/>
                </a:rPr>
                <a:t>– CF</a:t>
              </a:r>
              <a:r>
                <a:rPr lang="en-US" altLang="en-US" sz="3200" baseline="-25000">
                  <a:latin typeface="Tahoma" panose="020B0604030504040204" pitchFamily="34" charset="0"/>
                </a:rPr>
                <a:t>0</a:t>
              </a:r>
              <a:endParaRPr lang="en-US" altLang="en-US" sz="32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What’s Firm L’s  NPV?</a:t>
            </a:r>
          </a:p>
        </p:txBody>
      </p:sp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E5DE8A-DE16-4360-9ABB-AF740824132C}" type="slidenum">
              <a:rPr lang="en-US" altLang="en-US">
                <a:latin typeface="Tahoma" panose="020B0604030504040204" pitchFamily="34" charset="0"/>
              </a:rPr>
              <a:pPr eaLnBrk="1" hangingPunct="1"/>
              <a:t>25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26628" name="Group 37"/>
          <p:cNvGrpSpPr>
            <a:grpSpLocks/>
          </p:cNvGrpSpPr>
          <p:nvPr/>
        </p:nvGrpSpPr>
        <p:grpSpPr bwMode="auto">
          <a:xfrm>
            <a:off x="762000" y="2286000"/>
            <a:ext cx="7908925" cy="3897313"/>
            <a:chOff x="480" y="1651"/>
            <a:chExt cx="4982" cy="2455"/>
          </a:xfrm>
        </p:grpSpPr>
        <p:sp>
          <p:nvSpPr>
            <p:cNvPr id="26629" name="Rectangle 6"/>
            <p:cNvSpPr>
              <a:spLocks noChangeArrowheads="1"/>
            </p:cNvSpPr>
            <p:nvPr/>
          </p:nvSpPr>
          <p:spPr bwMode="auto">
            <a:xfrm>
              <a:off x="2618" y="2354"/>
              <a:ext cx="3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10</a:t>
              </a:r>
            </a:p>
          </p:txBody>
        </p:sp>
        <p:sp>
          <p:nvSpPr>
            <p:cNvPr id="26630" name="Rectangle 7"/>
            <p:cNvSpPr>
              <a:spLocks noChangeArrowheads="1"/>
            </p:cNvSpPr>
            <p:nvPr/>
          </p:nvSpPr>
          <p:spPr bwMode="auto">
            <a:xfrm>
              <a:off x="5098" y="2354"/>
              <a:ext cx="3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80</a:t>
              </a:r>
            </a:p>
          </p:txBody>
        </p:sp>
        <p:grpSp>
          <p:nvGrpSpPr>
            <p:cNvPr id="26631" name="Group 13"/>
            <p:cNvGrpSpPr>
              <a:grpSpLocks/>
            </p:cNvGrpSpPr>
            <p:nvPr/>
          </p:nvGrpSpPr>
          <p:grpSpPr bwMode="auto">
            <a:xfrm>
              <a:off x="1568" y="1944"/>
              <a:ext cx="3764" cy="393"/>
              <a:chOff x="1442" y="1715"/>
              <a:chExt cx="3764" cy="393"/>
            </a:xfrm>
          </p:grpSpPr>
          <p:sp>
            <p:nvSpPr>
              <p:cNvPr id="26652" name="Line 8"/>
              <p:cNvSpPr>
                <a:spLocks noChangeShapeType="1"/>
              </p:cNvSpPr>
              <p:nvPr/>
            </p:nvSpPr>
            <p:spPr bwMode="auto">
              <a:xfrm>
                <a:off x="1442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3" name="Line 9"/>
              <p:cNvSpPr>
                <a:spLocks noChangeShapeType="1"/>
              </p:cNvSpPr>
              <p:nvPr/>
            </p:nvSpPr>
            <p:spPr bwMode="auto">
              <a:xfrm>
                <a:off x="2726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4" name="Line 10"/>
              <p:cNvSpPr>
                <a:spLocks noChangeShapeType="1"/>
              </p:cNvSpPr>
              <p:nvPr/>
            </p:nvSpPr>
            <p:spPr bwMode="auto">
              <a:xfrm>
                <a:off x="3877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5" name="Line 11"/>
              <p:cNvSpPr>
                <a:spLocks noChangeShapeType="1"/>
              </p:cNvSpPr>
              <p:nvPr/>
            </p:nvSpPr>
            <p:spPr bwMode="auto">
              <a:xfrm>
                <a:off x="5206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6" name="Line 12"/>
              <p:cNvSpPr>
                <a:spLocks noChangeShapeType="1"/>
              </p:cNvSpPr>
              <p:nvPr/>
            </p:nvSpPr>
            <p:spPr bwMode="auto">
              <a:xfrm>
                <a:off x="1450" y="1912"/>
                <a:ext cx="3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32" name="Rectangle 14"/>
            <p:cNvSpPr>
              <a:spLocks noChangeArrowheads="1"/>
            </p:cNvSpPr>
            <p:nvPr/>
          </p:nvSpPr>
          <p:spPr bwMode="auto">
            <a:xfrm>
              <a:off x="3769" y="2354"/>
              <a:ext cx="3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60</a:t>
              </a:r>
            </a:p>
          </p:txBody>
        </p:sp>
        <p:sp>
          <p:nvSpPr>
            <p:cNvPr id="26633" name="Rectangle 15"/>
            <p:cNvSpPr>
              <a:spLocks noChangeArrowheads="1"/>
            </p:cNvSpPr>
            <p:nvPr/>
          </p:nvSpPr>
          <p:spPr bwMode="auto">
            <a:xfrm>
              <a:off x="1445" y="1651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0</a:t>
              </a:r>
            </a:p>
          </p:txBody>
        </p:sp>
        <p:sp>
          <p:nvSpPr>
            <p:cNvPr id="26634" name="Rectangle 16"/>
            <p:cNvSpPr>
              <a:spLocks noChangeArrowheads="1"/>
            </p:cNvSpPr>
            <p:nvPr/>
          </p:nvSpPr>
          <p:spPr bwMode="auto">
            <a:xfrm>
              <a:off x="2729" y="1651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</a:t>
              </a:r>
            </a:p>
          </p:txBody>
        </p:sp>
        <p:sp>
          <p:nvSpPr>
            <p:cNvPr id="26635" name="Rectangle 17"/>
            <p:cNvSpPr>
              <a:spLocks noChangeArrowheads="1"/>
            </p:cNvSpPr>
            <p:nvPr/>
          </p:nvSpPr>
          <p:spPr bwMode="auto">
            <a:xfrm>
              <a:off x="3880" y="1651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2</a:t>
              </a:r>
            </a:p>
          </p:txBody>
        </p:sp>
        <p:sp>
          <p:nvSpPr>
            <p:cNvPr id="26636" name="Rectangle 18"/>
            <p:cNvSpPr>
              <a:spLocks noChangeArrowheads="1"/>
            </p:cNvSpPr>
            <p:nvPr/>
          </p:nvSpPr>
          <p:spPr bwMode="auto">
            <a:xfrm>
              <a:off x="5209" y="1651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3</a:t>
              </a:r>
            </a:p>
          </p:txBody>
        </p:sp>
        <p:sp>
          <p:nvSpPr>
            <p:cNvPr id="26637" name="Rectangle 19"/>
            <p:cNvSpPr>
              <a:spLocks noChangeArrowheads="1"/>
            </p:cNvSpPr>
            <p:nvPr/>
          </p:nvSpPr>
          <p:spPr bwMode="auto">
            <a:xfrm>
              <a:off x="1909" y="1857"/>
              <a:ext cx="56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10%</a:t>
              </a:r>
            </a:p>
          </p:txBody>
        </p:sp>
        <p:sp>
          <p:nvSpPr>
            <p:cNvPr id="26638" name="Rectangle 20"/>
            <p:cNvSpPr>
              <a:spLocks noChangeArrowheads="1"/>
            </p:cNvSpPr>
            <p:nvPr/>
          </p:nvSpPr>
          <p:spPr bwMode="auto">
            <a:xfrm>
              <a:off x="480" y="1968"/>
              <a:ext cx="99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L’s CFs:</a:t>
              </a:r>
            </a:p>
          </p:txBody>
        </p:sp>
        <p:sp>
          <p:nvSpPr>
            <p:cNvPr id="26639" name="Line 21"/>
            <p:cNvSpPr>
              <a:spLocks noChangeShapeType="1"/>
            </p:cNvSpPr>
            <p:nvPr/>
          </p:nvSpPr>
          <p:spPr bwMode="auto">
            <a:xfrm>
              <a:off x="5358" y="2685"/>
              <a:ext cx="0" cy="9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Line 22"/>
            <p:cNvSpPr>
              <a:spLocks noChangeShapeType="1"/>
            </p:cNvSpPr>
            <p:nvPr/>
          </p:nvSpPr>
          <p:spPr bwMode="auto">
            <a:xfrm flipH="1">
              <a:off x="2068" y="3349"/>
              <a:ext cx="19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Line 23"/>
            <p:cNvSpPr>
              <a:spLocks noChangeShapeType="1"/>
            </p:cNvSpPr>
            <p:nvPr/>
          </p:nvSpPr>
          <p:spPr bwMode="auto">
            <a:xfrm flipH="1">
              <a:off x="2068" y="3630"/>
              <a:ext cx="32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2" name="Line 24"/>
            <p:cNvSpPr>
              <a:spLocks noChangeShapeType="1"/>
            </p:cNvSpPr>
            <p:nvPr/>
          </p:nvSpPr>
          <p:spPr bwMode="auto">
            <a:xfrm flipH="1">
              <a:off x="2068" y="2965"/>
              <a:ext cx="7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Rectangle 25"/>
            <p:cNvSpPr>
              <a:spLocks noChangeArrowheads="1"/>
            </p:cNvSpPr>
            <p:nvPr/>
          </p:nvSpPr>
          <p:spPr bwMode="auto">
            <a:xfrm>
              <a:off x="1124" y="2354"/>
              <a:ext cx="8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-100.00</a:t>
              </a:r>
            </a:p>
          </p:txBody>
        </p:sp>
        <p:sp>
          <p:nvSpPr>
            <p:cNvPr id="26644" name="Rectangle 26"/>
            <p:cNvSpPr>
              <a:spLocks noChangeArrowheads="1"/>
            </p:cNvSpPr>
            <p:nvPr/>
          </p:nvSpPr>
          <p:spPr bwMode="auto">
            <a:xfrm>
              <a:off x="1459" y="2831"/>
              <a:ext cx="551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9.09</a:t>
              </a:r>
            </a:p>
          </p:txBody>
        </p:sp>
        <p:sp>
          <p:nvSpPr>
            <p:cNvPr id="26645" name="Rectangle 27"/>
            <p:cNvSpPr>
              <a:spLocks noChangeArrowheads="1"/>
            </p:cNvSpPr>
            <p:nvPr/>
          </p:nvSpPr>
          <p:spPr bwMode="auto">
            <a:xfrm>
              <a:off x="1323" y="3167"/>
              <a:ext cx="6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49.59</a:t>
              </a:r>
            </a:p>
          </p:txBody>
        </p:sp>
        <p:sp>
          <p:nvSpPr>
            <p:cNvPr id="26646" name="Rectangle 28"/>
            <p:cNvSpPr>
              <a:spLocks noChangeArrowheads="1"/>
            </p:cNvSpPr>
            <p:nvPr/>
          </p:nvSpPr>
          <p:spPr bwMode="auto">
            <a:xfrm>
              <a:off x="1323" y="3503"/>
              <a:ext cx="6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u="sng"/>
                <a:t>60.11</a:t>
              </a:r>
            </a:p>
          </p:txBody>
        </p:sp>
        <p:sp>
          <p:nvSpPr>
            <p:cNvPr id="26647" name="Rectangle 29"/>
            <p:cNvSpPr>
              <a:spLocks noChangeArrowheads="1"/>
            </p:cNvSpPr>
            <p:nvPr/>
          </p:nvSpPr>
          <p:spPr bwMode="auto">
            <a:xfrm>
              <a:off x="1296" y="3781"/>
              <a:ext cx="154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/>
                <a:t>18.79  = NPV</a:t>
              </a:r>
              <a:r>
                <a:rPr lang="en-US" altLang="en-US" sz="2800" b="1" baseline="-25000" dirty="0"/>
                <a:t>L</a:t>
              </a:r>
            </a:p>
          </p:txBody>
        </p:sp>
        <p:sp>
          <p:nvSpPr>
            <p:cNvPr id="26648" name="Line 30"/>
            <p:cNvSpPr>
              <a:spLocks noChangeShapeType="1"/>
            </p:cNvSpPr>
            <p:nvPr/>
          </p:nvSpPr>
          <p:spPr bwMode="auto">
            <a:xfrm>
              <a:off x="1355" y="4063"/>
              <a:ext cx="559" cy="0"/>
            </a:xfrm>
            <a:prstGeom prst="line">
              <a:avLst/>
            </a:prstGeom>
            <a:noFill/>
            <a:ln w="762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31"/>
            <p:cNvSpPr>
              <a:spLocks noChangeShapeType="1"/>
            </p:cNvSpPr>
            <p:nvPr/>
          </p:nvSpPr>
          <p:spPr bwMode="auto">
            <a:xfrm>
              <a:off x="4014" y="2685"/>
              <a:ext cx="0" cy="6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0" name="Rectangle 32"/>
            <p:cNvSpPr>
              <a:spLocks noChangeArrowheads="1"/>
            </p:cNvSpPr>
            <p:nvPr/>
          </p:nvSpPr>
          <p:spPr bwMode="auto">
            <a:xfrm>
              <a:off x="3582" y="3781"/>
              <a:ext cx="167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NPV</a:t>
              </a:r>
              <a:r>
                <a:rPr lang="en-US" altLang="en-US" sz="2800" b="1" baseline="-25000"/>
                <a:t>S</a:t>
              </a:r>
              <a:r>
                <a:rPr lang="en-US" altLang="en-US" sz="2800" b="1"/>
                <a:t> = $19.98.</a:t>
              </a:r>
            </a:p>
          </p:txBody>
        </p:sp>
        <p:sp>
          <p:nvSpPr>
            <p:cNvPr id="26651" name="Line 33"/>
            <p:cNvSpPr>
              <a:spLocks noChangeShapeType="1"/>
            </p:cNvSpPr>
            <p:nvPr/>
          </p:nvSpPr>
          <p:spPr bwMode="auto">
            <a:xfrm>
              <a:off x="2826" y="2685"/>
              <a:ext cx="0" cy="2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Solving Using CFs</a:t>
            </a:r>
          </a:p>
        </p:txBody>
      </p:sp>
      <p:sp>
        <p:nvSpPr>
          <p:cNvPr id="48132" name="Content Placeholder 4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4435472"/>
          </a:xfrm>
        </p:spPr>
        <p:txBody>
          <a:bodyPr/>
          <a:lstStyle/>
          <a:p>
            <a:r>
              <a:rPr lang="en-US" altLang="en-US" b="1" u="sng" dirty="0"/>
              <a:t>Project L</a:t>
            </a:r>
          </a:p>
          <a:p>
            <a:pPr>
              <a:lnSpc>
                <a:spcPct val="100000"/>
              </a:lnSpc>
            </a:pPr>
            <a:r>
              <a:rPr lang="en-US" altLang="en-US" dirty="0" err="1"/>
              <a:t>CF</a:t>
            </a:r>
            <a:r>
              <a:rPr lang="en-US" altLang="en-US" baseline="-25000" dirty="0" err="1"/>
              <a:t>o</a:t>
            </a:r>
            <a:r>
              <a:rPr lang="en-US" altLang="en-US" dirty="0"/>
              <a:t>   = &lt;100&gt;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CF</a:t>
            </a:r>
            <a:r>
              <a:rPr lang="en-US" altLang="en-US" baseline="-25000" dirty="0"/>
              <a:t>1</a:t>
            </a:r>
            <a:r>
              <a:rPr lang="en-US" altLang="en-US" dirty="0"/>
              <a:t>   =  10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CF</a:t>
            </a:r>
            <a:r>
              <a:rPr lang="en-US" altLang="en-US" baseline="-25000" dirty="0"/>
              <a:t>2</a:t>
            </a:r>
            <a:r>
              <a:rPr lang="en-US" altLang="en-US" dirty="0"/>
              <a:t>   =  60</a:t>
            </a:r>
            <a:r>
              <a:rPr lang="en-US" altLang="en-US" baseline="-25000" dirty="0"/>
              <a:t> </a:t>
            </a:r>
            <a:endParaRPr lang="en-US" altLang="en-US" dirty="0"/>
          </a:p>
          <a:p>
            <a:pPr>
              <a:lnSpc>
                <a:spcPct val="100000"/>
              </a:lnSpc>
            </a:pPr>
            <a:r>
              <a:rPr lang="en-US" altLang="en-US" dirty="0"/>
              <a:t>CF</a:t>
            </a:r>
            <a:r>
              <a:rPr lang="en-US" altLang="en-US" baseline="-25000" dirty="0"/>
              <a:t>3</a:t>
            </a:r>
            <a:r>
              <a:rPr lang="en-US" altLang="en-US" dirty="0"/>
              <a:t>   =  80</a:t>
            </a:r>
            <a:r>
              <a:rPr lang="en-US" altLang="en-US" baseline="-25000" dirty="0"/>
              <a:t> </a:t>
            </a:r>
            <a:endParaRPr lang="en-US" altLang="en-US" dirty="0"/>
          </a:p>
          <a:p>
            <a:pPr>
              <a:lnSpc>
                <a:spcPct val="100000"/>
              </a:lnSpc>
            </a:pPr>
            <a:r>
              <a:rPr lang="en-US" altLang="en-US" dirty="0" err="1"/>
              <a:t>i</a:t>
            </a:r>
            <a:r>
              <a:rPr lang="en-US" altLang="en-US" dirty="0"/>
              <a:t> %   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NPV</a:t>
            </a:r>
            <a:r>
              <a:rPr kumimoji="0" lang="en-US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</a:t>
            </a:r>
            <a:r>
              <a:rPr lang="en-US" altLang="en-US" dirty="0"/>
              <a:t>= </a:t>
            </a:r>
            <a:r>
              <a:rPr lang="en-US" altLang="en-US" b="1" i="1" dirty="0">
                <a:highlight>
                  <a:srgbClr val="FFFF00"/>
                </a:highlight>
              </a:rPr>
              <a:t>?</a:t>
            </a:r>
            <a:r>
              <a:rPr lang="en-US" altLang="en-US" dirty="0"/>
              <a:t> = </a:t>
            </a:r>
            <a:endParaRPr kumimoji="0" lang="en-US" altLang="en-US" sz="2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813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898F69-C520-40BB-91F2-8ECF6471911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8134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4648200" y="2133600"/>
            <a:ext cx="3879342" cy="4359272"/>
          </a:xfrm>
        </p:spPr>
        <p:txBody>
          <a:bodyPr>
            <a:normAutofit lnSpcReduction="10000"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S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&lt;100&gt;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70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50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20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%    = 10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NPV</a:t>
            </a:r>
            <a:r>
              <a:rPr lang="en-US" altLang="en-US" b="1" baseline="-25000" dirty="0">
                <a:solidFill>
                  <a:prstClr val="black"/>
                </a:solidFill>
                <a:latin typeface="Calibri" panose="020F0502020204030204"/>
              </a:rPr>
              <a:t>s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kumimoji="0" lang="en-US" alt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</a:t>
            </a:r>
            <a:endParaRPr kumimoji="0" lang="en-US" altLang="en-US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CBB8-4287-EFE8-CF9D-AF5D3222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&amp; Excel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E1B83F-EA2A-B91D-AB59-84D07A0F0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4601" y="2264337"/>
            <a:ext cx="5534797" cy="33246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77B18-A6F9-C133-8153-20476EDC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55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Rationale for NPV Method</a:t>
            </a:r>
          </a:p>
        </p:txBody>
      </p:sp>
      <p:sp>
        <p:nvSpPr>
          <p:cNvPr id="28676" name="Rectangle 18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763000" cy="480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NPV =  PV inflows – Cost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is net gain in wealth, 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  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For mutually exclusive projects choose based on: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Risk Adjustment: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B20C8B-524C-4770-B37C-5C32C92E74F4}" type="slidenum">
              <a:rPr lang="en-US" altLang="en-US">
                <a:latin typeface="Tahoma" panose="020B0604030504040204" pitchFamily="34" charset="0"/>
              </a:rPr>
              <a:pPr eaLnBrk="1" hangingPunct="1"/>
              <a:t>28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2"/>
          <p:cNvSpPr>
            <a:spLocks noGrp="1" noChangeArrowheads="1"/>
          </p:cNvSpPr>
          <p:nvPr>
            <p:ph type="title"/>
          </p:nvPr>
        </p:nvSpPr>
        <p:spPr>
          <a:xfrm>
            <a:off x="381000" y="365127"/>
            <a:ext cx="8534400" cy="103209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/>
              <a:t>Using NPV which firm(s) should be accepted?</a:t>
            </a:r>
          </a:p>
        </p:txBody>
      </p:sp>
      <p:sp>
        <p:nvSpPr>
          <p:cNvPr id="29700" name="Rectangle 13"/>
          <p:cNvSpPr>
            <a:spLocks noGrp="1" noChangeArrowheads="1"/>
          </p:cNvSpPr>
          <p:nvPr>
            <p:ph idx="1"/>
          </p:nvPr>
        </p:nvSpPr>
        <p:spPr>
          <a:xfrm>
            <a:off x="152400" y="1397217"/>
            <a:ext cx="8915400" cy="4779747"/>
          </a:xfrm>
        </p:spPr>
        <p:txBody>
          <a:bodyPr/>
          <a:lstStyle/>
          <a:p>
            <a:pPr eaLnBrk="1" hangingPunct="1"/>
            <a:r>
              <a:rPr lang="en-US" altLang="en-US" dirty="0"/>
              <a:t>If Firms S &amp; L are mutually exclusive accept: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sz="3200" dirty="0"/>
              <a:t>  </a:t>
            </a:r>
            <a:endParaRPr lang="en-US" altLang="en-US" dirty="0"/>
          </a:p>
          <a:p>
            <a:pPr eaLnBrk="1" hangingPunct="1"/>
            <a:r>
              <a:rPr lang="en-US" altLang="en-US" dirty="0"/>
              <a:t>If S &amp; L are independent accept: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sz="3200" dirty="0"/>
              <a:t>  </a:t>
            </a:r>
          </a:p>
          <a:p>
            <a:pPr eaLnBrk="1" hangingPunct="1"/>
            <a:r>
              <a:rPr lang="en-US" altLang="en-US" dirty="0"/>
              <a:t>NPV depends on cost of capital.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B5EEB2-DEF7-433E-B28F-E7AC59DDBAC3}" type="slidenum">
              <a:rPr lang="en-US" altLang="en-US">
                <a:latin typeface="Tahoma" panose="020B0604030504040204" pitchFamily="34" charset="0"/>
              </a:rPr>
              <a:pPr eaLnBrk="1" hangingPunct="1"/>
              <a:t>29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Internal Rate of Return:  IRR</a:t>
            </a:r>
          </a:p>
        </p:txBody>
      </p:sp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FBD549-8ACA-4FB8-9508-A30313CF1ADE}" type="slidenum">
              <a:rPr lang="en-US" altLang="en-US">
                <a:latin typeface="Tahoma" panose="020B0604030504040204" pitchFamily="34" charset="0"/>
              </a:rPr>
              <a:pPr eaLnBrk="1" hangingPunct="1"/>
              <a:t>30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30724" name="Group 33"/>
          <p:cNvGrpSpPr>
            <a:grpSpLocks/>
          </p:cNvGrpSpPr>
          <p:nvPr/>
        </p:nvGrpSpPr>
        <p:grpSpPr bwMode="auto">
          <a:xfrm>
            <a:off x="628650" y="1752600"/>
            <a:ext cx="7758114" cy="2223369"/>
            <a:chOff x="624" y="1537"/>
            <a:chExt cx="4659" cy="1147"/>
          </a:xfrm>
        </p:grpSpPr>
        <p:sp>
          <p:nvSpPr>
            <p:cNvPr id="30726" name="Rectangle 6"/>
            <p:cNvSpPr>
              <a:spLocks noChangeArrowheads="1"/>
            </p:cNvSpPr>
            <p:nvPr/>
          </p:nvSpPr>
          <p:spPr bwMode="auto">
            <a:xfrm>
              <a:off x="2063" y="2103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27" name="Rectangle 7"/>
            <p:cNvSpPr>
              <a:spLocks noChangeArrowheads="1"/>
            </p:cNvSpPr>
            <p:nvPr/>
          </p:nvSpPr>
          <p:spPr bwMode="auto">
            <a:xfrm>
              <a:off x="4847" y="2103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30728" name="Group 13"/>
            <p:cNvGrpSpPr>
              <a:grpSpLocks/>
            </p:cNvGrpSpPr>
            <p:nvPr/>
          </p:nvGrpSpPr>
          <p:grpSpPr bwMode="auto">
            <a:xfrm>
              <a:off x="921" y="1822"/>
              <a:ext cx="4080" cy="176"/>
              <a:chOff x="933" y="1657"/>
              <a:chExt cx="4080" cy="176"/>
            </a:xfrm>
          </p:grpSpPr>
          <p:sp>
            <p:nvSpPr>
              <p:cNvPr id="30743" name="Line 8"/>
              <p:cNvSpPr>
                <a:spLocks noChangeShapeType="1"/>
              </p:cNvSpPr>
              <p:nvPr/>
            </p:nvSpPr>
            <p:spPr bwMode="auto">
              <a:xfrm>
                <a:off x="933" y="1657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4" name="Line 9"/>
              <p:cNvSpPr>
                <a:spLocks noChangeShapeType="1"/>
              </p:cNvSpPr>
              <p:nvPr/>
            </p:nvSpPr>
            <p:spPr bwMode="auto">
              <a:xfrm>
                <a:off x="2325" y="1657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5" name="Line 10"/>
              <p:cNvSpPr>
                <a:spLocks noChangeShapeType="1"/>
              </p:cNvSpPr>
              <p:nvPr/>
            </p:nvSpPr>
            <p:spPr bwMode="auto">
              <a:xfrm>
                <a:off x="3573" y="1657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6" name="Line 11"/>
              <p:cNvSpPr>
                <a:spLocks noChangeShapeType="1"/>
              </p:cNvSpPr>
              <p:nvPr/>
            </p:nvSpPr>
            <p:spPr bwMode="auto">
              <a:xfrm>
                <a:off x="5013" y="1657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7" name="Line 12"/>
              <p:cNvSpPr>
                <a:spLocks noChangeShapeType="1"/>
              </p:cNvSpPr>
              <p:nvPr/>
            </p:nvSpPr>
            <p:spPr bwMode="auto">
              <a:xfrm>
                <a:off x="941" y="1745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729" name="Rectangle 14"/>
            <p:cNvSpPr>
              <a:spLocks noChangeArrowheads="1"/>
            </p:cNvSpPr>
            <p:nvPr/>
          </p:nvSpPr>
          <p:spPr bwMode="auto">
            <a:xfrm>
              <a:off x="3311" y="2103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30" name="Rectangle 15"/>
            <p:cNvSpPr>
              <a:spLocks noChangeArrowheads="1"/>
            </p:cNvSpPr>
            <p:nvPr/>
          </p:nvSpPr>
          <p:spPr bwMode="auto">
            <a:xfrm>
              <a:off x="816" y="1537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0</a:t>
              </a:r>
            </a:p>
          </p:txBody>
        </p:sp>
        <p:sp>
          <p:nvSpPr>
            <p:cNvPr id="30731" name="Rectangle 16"/>
            <p:cNvSpPr>
              <a:spLocks noChangeArrowheads="1"/>
            </p:cNvSpPr>
            <p:nvPr/>
          </p:nvSpPr>
          <p:spPr bwMode="auto">
            <a:xfrm>
              <a:off x="2197" y="1537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</a:t>
              </a:r>
            </a:p>
          </p:txBody>
        </p:sp>
        <p:sp>
          <p:nvSpPr>
            <p:cNvPr id="30732" name="Rectangle 17"/>
            <p:cNvSpPr>
              <a:spLocks noChangeArrowheads="1"/>
            </p:cNvSpPr>
            <p:nvPr/>
          </p:nvSpPr>
          <p:spPr bwMode="auto">
            <a:xfrm>
              <a:off x="3456" y="1537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2</a:t>
              </a:r>
            </a:p>
          </p:txBody>
        </p:sp>
        <p:sp>
          <p:nvSpPr>
            <p:cNvPr id="30733" name="Rectangle 18"/>
            <p:cNvSpPr>
              <a:spLocks noChangeArrowheads="1"/>
            </p:cNvSpPr>
            <p:nvPr/>
          </p:nvSpPr>
          <p:spPr bwMode="auto">
            <a:xfrm>
              <a:off x="4896" y="1537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3</a:t>
              </a:r>
            </a:p>
          </p:txBody>
        </p:sp>
        <p:sp>
          <p:nvSpPr>
            <p:cNvPr id="30734" name="Rectangle 19"/>
            <p:cNvSpPr>
              <a:spLocks noChangeArrowheads="1"/>
            </p:cNvSpPr>
            <p:nvPr/>
          </p:nvSpPr>
          <p:spPr bwMode="auto">
            <a:xfrm>
              <a:off x="1295" y="1675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35" name="Rectangle 21"/>
            <p:cNvSpPr>
              <a:spLocks noChangeArrowheads="1"/>
            </p:cNvSpPr>
            <p:nvPr/>
          </p:nvSpPr>
          <p:spPr bwMode="auto">
            <a:xfrm>
              <a:off x="672" y="2065"/>
              <a:ext cx="49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CF</a:t>
              </a:r>
              <a:r>
                <a:rPr lang="en-US" altLang="en-US" sz="2800" b="1" baseline="-25000"/>
                <a:t>0</a:t>
              </a:r>
            </a:p>
          </p:txBody>
        </p:sp>
        <p:sp>
          <p:nvSpPr>
            <p:cNvPr id="30736" name="Rectangle 23"/>
            <p:cNvSpPr>
              <a:spLocks noChangeArrowheads="1"/>
            </p:cNvSpPr>
            <p:nvPr/>
          </p:nvSpPr>
          <p:spPr bwMode="auto">
            <a:xfrm>
              <a:off x="2064" y="2065"/>
              <a:ext cx="49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CF</a:t>
              </a:r>
              <a:r>
                <a:rPr lang="en-US" altLang="en-US" sz="2800" b="1" baseline="-25000"/>
                <a:t>1</a:t>
              </a:r>
            </a:p>
          </p:txBody>
        </p:sp>
        <p:sp>
          <p:nvSpPr>
            <p:cNvPr id="30737" name="Rectangle 24"/>
            <p:cNvSpPr>
              <a:spLocks noChangeArrowheads="1"/>
            </p:cNvSpPr>
            <p:nvPr/>
          </p:nvSpPr>
          <p:spPr bwMode="auto">
            <a:xfrm>
              <a:off x="3312" y="2065"/>
              <a:ext cx="49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CF</a:t>
              </a:r>
              <a:r>
                <a:rPr lang="en-US" altLang="en-US" sz="2800" b="1" baseline="-25000"/>
                <a:t>2</a:t>
              </a:r>
            </a:p>
          </p:txBody>
        </p:sp>
        <p:sp>
          <p:nvSpPr>
            <p:cNvPr id="30738" name="Rectangle 25"/>
            <p:cNvSpPr>
              <a:spLocks noChangeArrowheads="1"/>
            </p:cNvSpPr>
            <p:nvPr/>
          </p:nvSpPr>
          <p:spPr bwMode="auto">
            <a:xfrm>
              <a:off x="4704" y="2065"/>
              <a:ext cx="49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CF</a:t>
              </a:r>
              <a:r>
                <a:rPr lang="en-US" altLang="en-US" sz="2800" b="1" baseline="-25000"/>
                <a:t>3</a:t>
              </a:r>
            </a:p>
          </p:txBody>
        </p:sp>
        <p:sp>
          <p:nvSpPr>
            <p:cNvPr id="30739" name="Rectangle 26"/>
            <p:cNvSpPr>
              <a:spLocks noChangeArrowheads="1"/>
            </p:cNvSpPr>
            <p:nvPr/>
          </p:nvSpPr>
          <p:spPr bwMode="auto">
            <a:xfrm>
              <a:off x="624" y="2352"/>
              <a:ext cx="1585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/>
                <a:t>Cost     </a:t>
              </a:r>
              <a:r>
                <a:rPr lang="en-US" altLang="en-US" sz="3600" i="1" dirty="0" err="1">
                  <a:solidFill>
                    <a:srgbClr val="0070C0"/>
                  </a:solidFill>
                  <a:highlight>
                    <a:srgbClr val="FFFF00"/>
                  </a:highlight>
                  <a:latin typeface="Dreaming Outloud Script Pro" panose="03050502040304050704" pitchFamily="66" charset="0"/>
                  <a:cs typeface="Dreaming Outloud Script Pro" panose="03050502040304050704" pitchFamily="66" charset="0"/>
                </a:rPr>
                <a:t>i</a:t>
              </a:r>
              <a:r>
                <a:rPr lang="en-US" altLang="en-US" sz="3600" i="1" dirty="0">
                  <a:solidFill>
                    <a:srgbClr val="0070C0"/>
                  </a:solidFill>
                  <a:highlight>
                    <a:srgbClr val="FFFF00"/>
                  </a:highlight>
                  <a:latin typeface="Dreaming Outloud Script Pro" panose="03050502040304050704" pitchFamily="66" charset="0"/>
                  <a:cs typeface="Dreaming Outloud Script Pro" panose="03050502040304050704" pitchFamily="66" charset="0"/>
                </a:rPr>
                <a:t> %</a:t>
              </a:r>
            </a:p>
          </p:txBody>
        </p:sp>
        <p:sp>
          <p:nvSpPr>
            <p:cNvPr id="30740" name="Rectangle 27"/>
            <p:cNvSpPr>
              <a:spLocks noChangeArrowheads="1"/>
            </p:cNvSpPr>
            <p:nvPr/>
          </p:nvSpPr>
          <p:spPr bwMode="auto">
            <a:xfrm>
              <a:off x="3072" y="2352"/>
              <a:ext cx="88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/>
                <a:t>Inflows</a:t>
              </a:r>
            </a:p>
          </p:txBody>
        </p:sp>
        <p:sp>
          <p:nvSpPr>
            <p:cNvPr id="30741" name="Line 28"/>
            <p:cNvSpPr>
              <a:spLocks noChangeShapeType="1"/>
            </p:cNvSpPr>
            <p:nvPr/>
          </p:nvSpPr>
          <p:spPr bwMode="auto">
            <a:xfrm>
              <a:off x="3949" y="2514"/>
              <a:ext cx="9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2" name="Line 29"/>
            <p:cNvSpPr>
              <a:spLocks noChangeShapeType="1"/>
            </p:cNvSpPr>
            <p:nvPr/>
          </p:nvSpPr>
          <p:spPr bwMode="auto">
            <a:xfrm flipH="1">
              <a:off x="2357" y="2514"/>
              <a:ext cx="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25" name="Rectangle 30"/>
          <p:cNvSpPr>
            <a:spLocks noChangeArrowheads="1"/>
          </p:cNvSpPr>
          <p:nvPr/>
        </p:nvSpPr>
        <p:spPr bwMode="auto">
          <a:xfrm>
            <a:off x="708580" y="4317783"/>
            <a:ext cx="7886700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dirty="0">
                <a:latin typeface="Tahoma" panose="020B0604030504040204" pitchFamily="34" charset="0"/>
              </a:rPr>
              <a:t>IRR is discount rate (</a:t>
            </a:r>
            <a:r>
              <a:rPr lang="en-US" altLang="en-US" sz="3200" dirty="0" err="1">
                <a:solidFill>
                  <a:srgbClr val="0070C0"/>
                </a:solidFill>
                <a:highlight>
                  <a:srgbClr val="FFFF00"/>
                </a:highlight>
                <a:latin typeface="Dreaming Outloud Script Pro" panose="020B0604020202020204" pitchFamily="66" charset="0"/>
                <a:cs typeface="Dreaming Outloud Script Pro" panose="020B0604020202020204" pitchFamily="66" charset="0"/>
              </a:rPr>
              <a:t>i</a:t>
            </a:r>
            <a:r>
              <a:rPr lang="en-US" altLang="en-US" sz="3200" dirty="0">
                <a:solidFill>
                  <a:srgbClr val="0070C0"/>
                </a:solidFill>
                <a:highlight>
                  <a:srgbClr val="FFFF00"/>
                </a:highlight>
                <a:latin typeface="Dreaming Outloud Script Pro" panose="020B0604020202020204" pitchFamily="66" charset="0"/>
                <a:cs typeface="Dreaming Outloud Script Pro" panose="020B0604020202020204" pitchFamily="66" charset="0"/>
              </a:rPr>
              <a:t> %</a:t>
            </a:r>
            <a:r>
              <a:rPr lang="en-US" altLang="en-US" sz="3200" dirty="0">
                <a:latin typeface="Tahoma" panose="020B0604030504040204" pitchFamily="34" charset="0"/>
              </a:rPr>
              <a:t>) that forces</a:t>
            </a:r>
          </a:p>
          <a:p>
            <a:r>
              <a:rPr lang="en-US" altLang="en-US" sz="3200" dirty="0">
                <a:latin typeface="Tahoma" panose="020B0604030504040204" pitchFamily="34" charset="0"/>
              </a:rPr>
              <a:t>	PV inflows = PV costs.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2"/>
          <p:cNvSpPr>
            <a:spLocks noGrp="1" noChangeArrowheads="1"/>
          </p:cNvSpPr>
          <p:nvPr>
            <p:ph type="title"/>
          </p:nvPr>
        </p:nvSpPr>
        <p:spPr>
          <a:xfrm>
            <a:off x="381000" y="365127"/>
            <a:ext cx="8534400" cy="103209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600" dirty="0"/>
              <a:t>Internal Rate of Return:  IRR</a:t>
            </a:r>
          </a:p>
        </p:txBody>
      </p:sp>
      <p:sp>
        <p:nvSpPr>
          <p:cNvPr id="29700" name="Rectangle 13"/>
          <p:cNvSpPr>
            <a:spLocks noGrp="1" noChangeArrowheads="1"/>
          </p:cNvSpPr>
          <p:nvPr>
            <p:ph idx="1"/>
          </p:nvPr>
        </p:nvSpPr>
        <p:spPr>
          <a:xfrm>
            <a:off x="152400" y="1397217"/>
            <a:ext cx="8915400" cy="4779747"/>
          </a:xfrm>
        </p:spPr>
        <p:txBody>
          <a:bodyPr>
            <a:normAutofit fontScale="92500"/>
          </a:bodyPr>
          <a:lstStyle/>
          <a:p>
            <a:r>
              <a:rPr lang="en-US" altLang="en-US" sz="3200" dirty="0">
                <a:latin typeface="Tahoma" panose="020B0604030504040204" pitchFamily="34" charset="0"/>
              </a:rPr>
              <a:t>IRR is discount rate that forces</a:t>
            </a:r>
          </a:p>
          <a:p>
            <a:pPr lvl="1"/>
            <a:r>
              <a:rPr lang="en-US" altLang="en-US" sz="3200" dirty="0">
                <a:latin typeface="Tahoma" panose="020B0604030504040204" pitchFamily="34" charset="0"/>
              </a:rPr>
              <a:t>  </a:t>
            </a:r>
          </a:p>
          <a:p>
            <a:r>
              <a:rPr lang="en-US" altLang="en-US" sz="3200" dirty="0">
                <a:latin typeface="Tahoma" panose="020B0604030504040204" pitchFamily="34" charset="0"/>
              </a:rPr>
              <a:t>Same as </a:t>
            </a:r>
            <a:r>
              <a:rPr lang="en-US" altLang="en-US" sz="3200" dirty="0" err="1">
                <a:latin typeface="Tahoma" panose="020B0604030504040204" pitchFamily="34" charset="0"/>
              </a:rPr>
              <a:t>i</a:t>
            </a:r>
            <a:r>
              <a:rPr lang="en-US" altLang="en-US" sz="3200" dirty="0">
                <a:latin typeface="Tahoma" panose="020B0604030504040204" pitchFamily="34" charset="0"/>
              </a:rPr>
              <a:t>% that creates NPV= 0. </a:t>
            </a:r>
          </a:p>
          <a:p>
            <a:pPr lvl="1"/>
            <a:r>
              <a:rPr lang="en-US" altLang="en-US" dirty="0">
                <a:latin typeface="Tahoma" panose="020B0604030504040204" pitchFamily="34" charset="0"/>
              </a:rPr>
              <a:t>  </a:t>
            </a:r>
          </a:p>
          <a:p>
            <a:r>
              <a:rPr lang="en-US" altLang="en-US" dirty="0">
                <a:latin typeface="Tahoma" panose="020B0604030504040204" pitchFamily="34" charset="0"/>
              </a:rPr>
              <a:t>E</a:t>
            </a:r>
            <a:r>
              <a:rPr lang="en-US" altLang="en-US" sz="3200" dirty="0">
                <a:latin typeface="Tahoma" panose="020B0604030504040204" pitchFamily="34" charset="0"/>
              </a:rPr>
              <a:t>stimate of project’s rate of return,</a:t>
            </a:r>
          </a:p>
          <a:p>
            <a:pPr lvl="1"/>
            <a:r>
              <a:rPr lang="en-US" altLang="en-US" dirty="0">
                <a:latin typeface="Tahoma" panose="020B0604030504040204" pitchFamily="34" charset="0"/>
              </a:rPr>
              <a:t>  </a:t>
            </a:r>
            <a:endParaRPr lang="en-US" altLang="en-US" sz="3200" dirty="0">
              <a:latin typeface="Tahoma" panose="020B0604030504040204" pitchFamily="34" charset="0"/>
            </a:endParaRPr>
          </a:p>
          <a:p>
            <a:r>
              <a:rPr lang="en-US" altLang="en-US" dirty="0">
                <a:latin typeface="Tahoma" panose="020B0604030504040204" pitchFamily="34" charset="0"/>
              </a:rPr>
              <a:t>Since solving for </a:t>
            </a:r>
            <a:r>
              <a:rPr lang="en-US" altLang="en-US" dirty="0" err="1">
                <a:latin typeface="Tahoma" panose="020B0604030504040204" pitchFamily="34" charset="0"/>
              </a:rPr>
              <a:t>i</a:t>
            </a:r>
            <a:r>
              <a:rPr lang="en-US" altLang="en-US" dirty="0">
                <a:latin typeface="Tahoma" panose="020B0604030504040204" pitchFamily="34" charset="0"/>
              </a:rPr>
              <a:t>%, no int. rate used to calc IRR</a:t>
            </a:r>
          </a:p>
          <a:p>
            <a:pPr lvl="1"/>
            <a:r>
              <a:rPr lang="en-US" altLang="en-US" dirty="0">
                <a:latin typeface="Tahoma" panose="020B0604030504040204" pitchFamily="34" charset="0"/>
              </a:rPr>
              <a:t>  </a:t>
            </a:r>
          </a:p>
          <a:p>
            <a:pPr marL="342900" lvl="1" indent="0"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B5EEB2-DEF7-433E-B28F-E7AC59DDBAC3}" type="slidenum">
              <a:rPr lang="en-US" altLang="en-US">
                <a:latin typeface="Tahoma" panose="020B0604030504040204" pitchFamily="34" charset="0"/>
              </a:rPr>
              <a:pPr eaLnBrk="1" hangingPunct="1"/>
              <a:t>31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67130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Expected Net CFs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  <a:p>
            <a:endParaRPr lang="en-US" altLang="en-US" dirty="0"/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&lt;$100&gt;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70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50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32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13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What’s Firm L’s IRR?</a:t>
            </a:r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04E38B-12FB-431A-AD52-FEA88B711EF5}" type="slidenum">
              <a:rPr lang="en-US" altLang="en-US">
                <a:latin typeface="Tahoma" panose="020B0604030504040204" pitchFamily="34" charset="0"/>
              </a:rPr>
              <a:pPr eaLnBrk="1" hangingPunct="1"/>
              <a:t>33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33796" name="Group 40"/>
          <p:cNvGrpSpPr>
            <a:grpSpLocks/>
          </p:cNvGrpSpPr>
          <p:nvPr/>
        </p:nvGrpSpPr>
        <p:grpSpPr bwMode="auto">
          <a:xfrm>
            <a:off x="898525" y="2222500"/>
            <a:ext cx="7350125" cy="3333750"/>
            <a:chOff x="566" y="1400"/>
            <a:chExt cx="4630" cy="2100"/>
          </a:xfrm>
        </p:grpSpPr>
        <p:sp>
          <p:nvSpPr>
            <p:cNvPr id="33797" name="Rectangle 6"/>
            <p:cNvSpPr>
              <a:spLocks noChangeArrowheads="1"/>
            </p:cNvSpPr>
            <p:nvPr/>
          </p:nvSpPr>
          <p:spPr bwMode="auto">
            <a:xfrm>
              <a:off x="2103" y="1929"/>
              <a:ext cx="3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10</a:t>
              </a:r>
            </a:p>
          </p:txBody>
        </p:sp>
        <p:sp>
          <p:nvSpPr>
            <p:cNvPr id="33798" name="Rectangle 7"/>
            <p:cNvSpPr>
              <a:spLocks noChangeArrowheads="1"/>
            </p:cNvSpPr>
            <p:nvPr/>
          </p:nvSpPr>
          <p:spPr bwMode="auto">
            <a:xfrm>
              <a:off x="4791" y="1929"/>
              <a:ext cx="3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80</a:t>
              </a:r>
            </a:p>
          </p:txBody>
        </p:sp>
        <p:grpSp>
          <p:nvGrpSpPr>
            <p:cNvPr id="33799" name="Group 13"/>
            <p:cNvGrpSpPr>
              <a:grpSpLocks/>
            </p:cNvGrpSpPr>
            <p:nvPr/>
          </p:nvGrpSpPr>
          <p:grpSpPr bwMode="auto">
            <a:xfrm>
              <a:off x="912" y="1672"/>
              <a:ext cx="4080" cy="291"/>
              <a:chOff x="768" y="1336"/>
              <a:chExt cx="4080" cy="291"/>
            </a:xfrm>
          </p:grpSpPr>
          <p:sp>
            <p:nvSpPr>
              <p:cNvPr id="33821" name="Line 8"/>
              <p:cNvSpPr>
                <a:spLocks noChangeShapeType="1"/>
              </p:cNvSpPr>
              <p:nvPr/>
            </p:nvSpPr>
            <p:spPr bwMode="auto">
              <a:xfrm>
                <a:off x="768" y="1336"/>
                <a:ext cx="0" cy="2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Line 9"/>
              <p:cNvSpPr>
                <a:spLocks noChangeShapeType="1"/>
              </p:cNvSpPr>
              <p:nvPr/>
            </p:nvSpPr>
            <p:spPr bwMode="auto">
              <a:xfrm>
                <a:off x="2160" y="1336"/>
                <a:ext cx="0" cy="2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3" name="Line 10"/>
              <p:cNvSpPr>
                <a:spLocks noChangeShapeType="1"/>
              </p:cNvSpPr>
              <p:nvPr/>
            </p:nvSpPr>
            <p:spPr bwMode="auto">
              <a:xfrm>
                <a:off x="3408" y="1336"/>
                <a:ext cx="0" cy="2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4" name="Line 11"/>
              <p:cNvSpPr>
                <a:spLocks noChangeShapeType="1"/>
              </p:cNvSpPr>
              <p:nvPr/>
            </p:nvSpPr>
            <p:spPr bwMode="auto">
              <a:xfrm>
                <a:off x="4848" y="1336"/>
                <a:ext cx="0" cy="2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5" name="Line 12"/>
              <p:cNvSpPr>
                <a:spLocks noChangeShapeType="1"/>
              </p:cNvSpPr>
              <p:nvPr/>
            </p:nvSpPr>
            <p:spPr bwMode="auto">
              <a:xfrm>
                <a:off x="776" y="1483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00" name="Rectangle 14"/>
            <p:cNvSpPr>
              <a:spLocks noChangeArrowheads="1"/>
            </p:cNvSpPr>
            <p:nvPr/>
          </p:nvSpPr>
          <p:spPr bwMode="auto">
            <a:xfrm>
              <a:off x="3351" y="1929"/>
              <a:ext cx="3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60</a:t>
              </a:r>
            </a:p>
          </p:txBody>
        </p:sp>
        <p:sp>
          <p:nvSpPr>
            <p:cNvPr id="33801" name="Rectangle 15"/>
            <p:cNvSpPr>
              <a:spLocks noChangeArrowheads="1"/>
            </p:cNvSpPr>
            <p:nvPr/>
          </p:nvSpPr>
          <p:spPr bwMode="auto">
            <a:xfrm>
              <a:off x="807" y="1400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0</a:t>
              </a:r>
            </a:p>
          </p:txBody>
        </p:sp>
        <p:sp>
          <p:nvSpPr>
            <p:cNvPr id="33802" name="Rectangle 16"/>
            <p:cNvSpPr>
              <a:spLocks noChangeArrowheads="1"/>
            </p:cNvSpPr>
            <p:nvPr/>
          </p:nvSpPr>
          <p:spPr bwMode="auto">
            <a:xfrm>
              <a:off x="2199" y="1400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</a:t>
              </a:r>
            </a:p>
          </p:txBody>
        </p:sp>
        <p:sp>
          <p:nvSpPr>
            <p:cNvPr id="33803" name="Rectangle 17"/>
            <p:cNvSpPr>
              <a:spLocks noChangeArrowheads="1"/>
            </p:cNvSpPr>
            <p:nvPr/>
          </p:nvSpPr>
          <p:spPr bwMode="auto">
            <a:xfrm>
              <a:off x="3447" y="1400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2</a:t>
              </a:r>
            </a:p>
          </p:txBody>
        </p:sp>
        <p:sp>
          <p:nvSpPr>
            <p:cNvPr id="33804" name="Rectangle 18"/>
            <p:cNvSpPr>
              <a:spLocks noChangeArrowheads="1"/>
            </p:cNvSpPr>
            <p:nvPr/>
          </p:nvSpPr>
          <p:spPr bwMode="auto">
            <a:xfrm>
              <a:off x="4887" y="1400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3</a:t>
              </a:r>
            </a:p>
          </p:txBody>
        </p:sp>
        <p:sp>
          <p:nvSpPr>
            <p:cNvPr id="33805" name="Rectangle 19"/>
            <p:cNvSpPr>
              <a:spLocks noChangeArrowheads="1"/>
            </p:cNvSpPr>
            <p:nvPr/>
          </p:nvSpPr>
          <p:spPr bwMode="auto">
            <a:xfrm>
              <a:off x="1287" y="1571"/>
              <a:ext cx="78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 dirty="0">
                  <a:highlight>
                    <a:srgbClr val="FFFF00"/>
                  </a:highlight>
                </a:rPr>
                <a:t>IRR = ?</a:t>
              </a:r>
            </a:p>
          </p:txBody>
        </p:sp>
        <p:sp>
          <p:nvSpPr>
            <p:cNvPr id="33806" name="Line 20"/>
            <p:cNvSpPr>
              <a:spLocks noChangeShapeType="1"/>
            </p:cNvSpPr>
            <p:nvPr/>
          </p:nvSpPr>
          <p:spPr bwMode="auto">
            <a:xfrm>
              <a:off x="2304" y="2196"/>
              <a:ext cx="0" cy="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7" name="Line 21"/>
            <p:cNvSpPr>
              <a:spLocks noChangeShapeType="1"/>
            </p:cNvSpPr>
            <p:nvPr/>
          </p:nvSpPr>
          <p:spPr bwMode="auto">
            <a:xfrm flipH="1">
              <a:off x="1192" y="2379"/>
              <a:ext cx="11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8" name="Line 22"/>
            <p:cNvSpPr>
              <a:spLocks noChangeShapeType="1"/>
            </p:cNvSpPr>
            <p:nvPr/>
          </p:nvSpPr>
          <p:spPr bwMode="auto">
            <a:xfrm>
              <a:off x="3552" y="2196"/>
              <a:ext cx="0" cy="4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9" name="Line 23"/>
            <p:cNvSpPr>
              <a:spLocks noChangeShapeType="1"/>
            </p:cNvSpPr>
            <p:nvPr/>
          </p:nvSpPr>
          <p:spPr bwMode="auto">
            <a:xfrm flipH="1">
              <a:off x="1192" y="2685"/>
              <a:ext cx="2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0" name="Line 24"/>
            <p:cNvSpPr>
              <a:spLocks noChangeShapeType="1"/>
            </p:cNvSpPr>
            <p:nvPr/>
          </p:nvSpPr>
          <p:spPr bwMode="auto">
            <a:xfrm>
              <a:off x="4992" y="2273"/>
              <a:ext cx="0" cy="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25"/>
            <p:cNvSpPr>
              <a:spLocks noChangeShapeType="1"/>
            </p:cNvSpPr>
            <p:nvPr/>
          </p:nvSpPr>
          <p:spPr bwMode="auto">
            <a:xfrm flipH="1">
              <a:off x="1192" y="2991"/>
              <a:ext cx="38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Rectangle 26"/>
            <p:cNvSpPr>
              <a:spLocks noChangeArrowheads="1"/>
            </p:cNvSpPr>
            <p:nvPr/>
          </p:nvSpPr>
          <p:spPr bwMode="auto">
            <a:xfrm>
              <a:off x="566" y="2190"/>
              <a:ext cx="6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13" name="Rectangle 27"/>
            <p:cNvSpPr>
              <a:spLocks noChangeArrowheads="1"/>
            </p:cNvSpPr>
            <p:nvPr/>
          </p:nvSpPr>
          <p:spPr bwMode="auto">
            <a:xfrm>
              <a:off x="567" y="1929"/>
              <a:ext cx="8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-100.00</a:t>
              </a:r>
            </a:p>
          </p:txBody>
        </p:sp>
        <p:sp>
          <p:nvSpPr>
            <p:cNvPr id="33814" name="Rectangle 28"/>
            <p:cNvSpPr>
              <a:spLocks noChangeArrowheads="1"/>
            </p:cNvSpPr>
            <p:nvPr/>
          </p:nvSpPr>
          <p:spPr bwMode="auto">
            <a:xfrm>
              <a:off x="711" y="2839"/>
              <a:ext cx="49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PV</a:t>
              </a:r>
              <a:r>
                <a:rPr lang="en-US" altLang="en-US" sz="2800" b="1" baseline="-25000"/>
                <a:t>3</a:t>
              </a:r>
            </a:p>
          </p:txBody>
        </p:sp>
        <p:sp>
          <p:nvSpPr>
            <p:cNvPr id="33815" name="Rectangle 29"/>
            <p:cNvSpPr>
              <a:spLocks noChangeArrowheads="1"/>
            </p:cNvSpPr>
            <p:nvPr/>
          </p:nvSpPr>
          <p:spPr bwMode="auto">
            <a:xfrm>
              <a:off x="711" y="2503"/>
              <a:ext cx="49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PV</a:t>
              </a:r>
              <a:r>
                <a:rPr lang="en-US" altLang="en-US" sz="2800" b="1" baseline="-25000"/>
                <a:t>2</a:t>
              </a:r>
            </a:p>
          </p:txBody>
        </p:sp>
        <p:sp>
          <p:nvSpPr>
            <p:cNvPr id="33816" name="Rectangle 30"/>
            <p:cNvSpPr>
              <a:spLocks noChangeArrowheads="1"/>
            </p:cNvSpPr>
            <p:nvPr/>
          </p:nvSpPr>
          <p:spPr bwMode="auto">
            <a:xfrm>
              <a:off x="711" y="2167"/>
              <a:ext cx="49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PV</a:t>
              </a:r>
              <a:r>
                <a:rPr lang="en-US" altLang="en-US" sz="2800" b="1" baseline="-25000"/>
                <a:t>1</a:t>
              </a:r>
            </a:p>
          </p:txBody>
        </p:sp>
        <p:sp>
          <p:nvSpPr>
            <p:cNvPr id="33817" name="Line 31"/>
            <p:cNvSpPr>
              <a:spLocks noChangeShapeType="1"/>
            </p:cNvSpPr>
            <p:nvPr/>
          </p:nvSpPr>
          <p:spPr bwMode="auto">
            <a:xfrm>
              <a:off x="676" y="3154"/>
              <a:ext cx="8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8" name="Rectangle 32"/>
            <p:cNvSpPr>
              <a:spLocks noChangeArrowheads="1"/>
            </p:cNvSpPr>
            <p:nvPr/>
          </p:nvSpPr>
          <p:spPr bwMode="auto">
            <a:xfrm>
              <a:off x="615" y="3175"/>
              <a:ext cx="95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0 = NPV</a:t>
              </a:r>
            </a:p>
          </p:txBody>
        </p:sp>
        <p:sp>
          <p:nvSpPr>
            <p:cNvPr id="33819" name="Rectangle 33"/>
            <p:cNvSpPr>
              <a:spLocks noChangeArrowheads="1"/>
            </p:cNvSpPr>
            <p:nvPr/>
          </p:nvSpPr>
          <p:spPr bwMode="auto">
            <a:xfrm>
              <a:off x="1644" y="3120"/>
              <a:ext cx="3552" cy="36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latin typeface="Tahoma" panose="020B0604030504040204" pitchFamily="34" charset="0"/>
                </a:rPr>
                <a:t>Solve for IRR (breakeven </a:t>
              </a:r>
              <a:r>
                <a:rPr lang="en-US" altLang="en-US" sz="3200" dirty="0" err="1">
                  <a:latin typeface="Tahoma" panose="020B0604030504040204" pitchFamily="34" charset="0"/>
                </a:rPr>
                <a:t>i</a:t>
              </a:r>
              <a:r>
                <a:rPr lang="en-US" altLang="en-US" sz="3200" dirty="0">
                  <a:latin typeface="Tahoma" panose="020B0604030504040204" pitchFamily="34" charset="0"/>
                </a:rPr>
                <a:t>%)</a:t>
              </a:r>
            </a:p>
          </p:txBody>
        </p:sp>
        <p:sp>
          <p:nvSpPr>
            <p:cNvPr id="33820" name="Line 37"/>
            <p:cNvSpPr>
              <a:spLocks noChangeShapeType="1"/>
            </p:cNvSpPr>
            <p:nvPr/>
          </p:nvSpPr>
          <p:spPr bwMode="auto">
            <a:xfrm>
              <a:off x="664" y="3460"/>
              <a:ext cx="834" cy="0"/>
            </a:xfrm>
            <a:prstGeom prst="line">
              <a:avLst/>
            </a:prstGeom>
            <a:noFill/>
            <a:ln w="762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IRR: Solving Using CFs</a:t>
            </a:r>
          </a:p>
        </p:txBody>
      </p:sp>
      <p:sp>
        <p:nvSpPr>
          <p:cNvPr id="48132" name="Content Placeholder 4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4435472"/>
          </a:xfrm>
        </p:spPr>
        <p:txBody>
          <a:bodyPr/>
          <a:lstStyle/>
          <a:p>
            <a:r>
              <a:rPr lang="en-US" altLang="en-US" b="1" u="sng" dirty="0"/>
              <a:t>Project L</a:t>
            </a:r>
          </a:p>
          <a:p>
            <a:pPr>
              <a:lnSpc>
                <a:spcPct val="100000"/>
              </a:lnSpc>
            </a:pPr>
            <a:r>
              <a:rPr lang="en-US" altLang="en-US" dirty="0" err="1"/>
              <a:t>CF</a:t>
            </a:r>
            <a:r>
              <a:rPr lang="en-US" altLang="en-US" baseline="-25000" dirty="0" err="1"/>
              <a:t>o</a:t>
            </a:r>
            <a:r>
              <a:rPr lang="en-US" altLang="en-US" dirty="0"/>
              <a:t>   = &lt;100&gt;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CF</a:t>
            </a:r>
            <a:r>
              <a:rPr lang="en-US" altLang="en-US" baseline="-25000" dirty="0"/>
              <a:t>1</a:t>
            </a:r>
            <a:r>
              <a:rPr lang="en-US" altLang="en-US" dirty="0"/>
              <a:t>   =  10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CF</a:t>
            </a:r>
            <a:r>
              <a:rPr lang="en-US" altLang="en-US" baseline="-25000" dirty="0"/>
              <a:t>2</a:t>
            </a:r>
            <a:r>
              <a:rPr lang="en-US" altLang="en-US" dirty="0"/>
              <a:t>   =  60</a:t>
            </a:r>
            <a:r>
              <a:rPr lang="en-US" altLang="en-US" baseline="-25000" dirty="0"/>
              <a:t> </a:t>
            </a:r>
            <a:endParaRPr lang="en-US" altLang="en-US" dirty="0"/>
          </a:p>
          <a:p>
            <a:pPr>
              <a:lnSpc>
                <a:spcPct val="100000"/>
              </a:lnSpc>
            </a:pPr>
            <a:r>
              <a:rPr lang="en-US" altLang="en-US" dirty="0"/>
              <a:t>CF</a:t>
            </a:r>
            <a:r>
              <a:rPr lang="en-US" altLang="en-US" baseline="-25000" dirty="0"/>
              <a:t>3</a:t>
            </a:r>
            <a:r>
              <a:rPr lang="en-US" altLang="en-US" dirty="0"/>
              <a:t>   =  80</a:t>
            </a:r>
            <a:r>
              <a:rPr lang="en-US" altLang="en-US" baseline="-25000" dirty="0"/>
              <a:t> </a:t>
            </a:r>
            <a:endParaRPr lang="en-US" altLang="en-US" dirty="0"/>
          </a:p>
          <a:p>
            <a:pPr>
              <a:lnSpc>
                <a:spcPct val="100000"/>
              </a:lnSpc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IRR</a:t>
            </a:r>
            <a:r>
              <a:rPr kumimoji="0" lang="en-US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</a:t>
            </a:r>
            <a:r>
              <a:rPr lang="en-US" altLang="en-US" dirty="0"/>
              <a:t>= </a:t>
            </a:r>
            <a:r>
              <a:rPr lang="en-US" altLang="en-US" b="1" i="1" dirty="0">
                <a:solidFill>
                  <a:srgbClr val="454135"/>
                </a:solidFill>
                <a:highlight>
                  <a:srgbClr val="FFFF00"/>
                </a:highlight>
              </a:rPr>
              <a:t>?</a:t>
            </a:r>
            <a:r>
              <a:rPr lang="en-US" altLang="en-US" dirty="0"/>
              <a:t> =</a:t>
            </a:r>
            <a:endParaRPr kumimoji="0" lang="en-US" altLang="en-US" sz="2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813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898F69-C520-40BB-91F2-8ECF6471911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48134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4648200" y="1981200"/>
            <a:ext cx="3879342" cy="4511672"/>
          </a:xfrm>
        </p:spPr>
        <p:txBody>
          <a:bodyPr>
            <a:norm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S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&lt;100&gt;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70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50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20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IRR</a:t>
            </a:r>
            <a:r>
              <a:rPr lang="en-US" altLang="en-US" b="1" baseline="-25000" dirty="0">
                <a:solidFill>
                  <a:prstClr val="black"/>
                </a:solidFill>
                <a:latin typeface="Calibri" panose="020F0502020204030204"/>
              </a:rPr>
              <a:t>s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kumimoji="0" lang="en-US" alt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</a:t>
            </a:r>
            <a:endParaRPr kumimoji="0" lang="en-US" altLang="en-US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8711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Find IRR if CFs are Constant</a:t>
            </a:r>
          </a:p>
        </p:txBody>
      </p:sp>
      <p:sp>
        <p:nvSpPr>
          <p:cNvPr id="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FE9D2F-6E9B-4154-927D-A51807A8090D}" type="slidenum">
              <a:rPr lang="en-US" altLang="en-US">
                <a:latin typeface="Tahoma" panose="020B0604030504040204" pitchFamily="34" charset="0"/>
              </a:rPr>
              <a:pPr eaLnBrk="1" hangingPunct="1"/>
              <a:t>35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34819" name="Group 47"/>
          <p:cNvGrpSpPr>
            <a:grpSpLocks/>
          </p:cNvGrpSpPr>
          <p:nvPr/>
        </p:nvGrpSpPr>
        <p:grpSpPr bwMode="auto">
          <a:xfrm>
            <a:off x="990600" y="2209800"/>
            <a:ext cx="7832725" cy="4198938"/>
            <a:chOff x="624" y="1392"/>
            <a:chExt cx="4934" cy="2645"/>
          </a:xfrm>
        </p:grpSpPr>
        <p:sp>
          <p:nvSpPr>
            <p:cNvPr id="34821" name="AutoShape 43"/>
            <p:cNvSpPr>
              <a:spLocks noChangeArrowheads="1"/>
            </p:cNvSpPr>
            <p:nvPr/>
          </p:nvSpPr>
          <p:spPr bwMode="auto">
            <a:xfrm>
              <a:off x="2544" y="2736"/>
              <a:ext cx="467" cy="22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822" name="AutoShape 42"/>
            <p:cNvSpPr>
              <a:spLocks noChangeArrowheads="1"/>
            </p:cNvSpPr>
            <p:nvPr/>
          </p:nvSpPr>
          <p:spPr bwMode="auto">
            <a:xfrm>
              <a:off x="3264" y="2736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823" name="AutoShape 44"/>
            <p:cNvSpPr>
              <a:spLocks noChangeArrowheads="1"/>
            </p:cNvSpPr>
            <p:nvPr/>
          </p:nvSpPr>
          <p:spPr bwMode="auto">
            <a:xfrm>
              <a:off x="1872" y="2736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34824" name="Group 41"/>
            <p:cNvGrpSpPr>
              <a:grpSpLocks/>
            </p:cNvGrpSpPr>
            <p:nvPr/>
          </p:nvGrpSpPr>
          <p:grpSpPr bwMode="auto">
            <a:xfrm>
              <a:off x="624" y="1392"/>
              <a:ext cx="4582" cy="982"/>
              <a:chOff x="597" y="1071"/>
              <a:chExt cx="4582" cy="982"/>
            </a:xfrm>
          </p:grpSpPr>
          <p:sp>
            <p:nvSpPr>
              <p:cNvPr id="34836" name="Rectangle 4"/>
              <p:cNvSpPr>
                <a:spLocks noChangeArrowheads="1"/>
              </p:cNvSpPr>
              <p:nvPr/>
            </p:nvSpPr>
            <p:spPr bwMode="auto">
              <a:xfrm>
                <a:off x="2037" y="1728"/>
                <a:ext cx="42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solidFill>
                      <a:schemeClr val="tx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800">
                    <a:latin typeface="Tahoma" panose="020B0604030504040204" pitchFamily="34" charset="0"/>
                  </a:rPr>
                  <a:t>40</a:t>
                </a:r>
              </a:p>
            </p:txBody>
          </p:sp>
          <p:sp>
            <p:nvSpPr>
              <p:cNvPr id="34837" name="Rectangle 5"/>
              <p:cNvSpPr>
                <a:spLocks noChangeArrowheads="1"/>
              </p:cNvSpPr>
              <p:nvPr/>
            </p:nvSpPr>
            <p:spPr bwMode="auto">
              <a:xfrm>
                <a:off x="4821" y="1728"/>
                <a:ext cx="35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40</a:t>
                </a:r>
              </a:p>
            </p:txBody>
          </p:sp>
          <p:grpSp>
            <p:nvGrpSpPr>
              <p:cNvPr id="34838" name="Group 11"/>
              <p:cNvGrpSpPr>
                <a:grpSpLocks/>
              </p:cNvGrpSpPr>
              <p:nvPr/>
            </p:nvGrpSpPr>
            <p:grpSpPr bwMode="auto">
              <a:xfrm>
                <a:off x="894" y="1365"/>
                <a:ext cx="4080" cy="396"/>
                <a:chOff x="768" y="1189"/>
                <a:chExt cx="4080" cy="396"/>
              </a:xfrm>
            </p:grpSpPr>
            <p:sp>
              <p:nvSpPr>
                <p:cNvPr id="34845" name="Line 6"/>
                <p:cNvSpPr>
                  <a:spLocks noChangeShapeType="1"/>
                </p:cNvSpPr>
                <p:nvPr/>
              </p:nvSpPr>
              <p:spPr bwMode="auto">
                <a:xfrm>
                  <a:off x="768" y="1189"/>
                  <a:ext cx="0" cy="3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6" name="Line 7"/>
                <p:cNvSpPr>
                  <a:spLocks noChangeShapeType="1"/>
                </p:cNvSpPr>
                <p:nvPr/>
              </p:nvSpPr>
              <p:spPr bwMode="auto">
                <a:xfrm>
                  <a:off x="2160" y="1189"/>
                  <a:ext cx="0" cy="3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7" name="Line 8"/>
                <p:cNvSpPr>
                  <a:spLocks noChangeShapeType="1"/>
                </p:cNvSpPr>
                <p:nvPr/>
              </p:nvSpPr>
              <p:spPr bwMode="auto">
                <a:xfrm>
                  <a:off x="3408" y="1189"/>
                  <a:ext cx="0" cy="3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8" name="Line 9"/>
                <p:cNvSpPr>
                  <a:spLocks noChangeShapeType="1"/>
                </p:cNvSpPr>
                <p:nvPr/>
              </p:nvSpPr>
              <p:spPr bwMode="auto">
                <a:xfrm>
                  <a:off x="4848" y="1189"/>
                  <a:ext cx="0" cy="3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9" name="Line 10"/>
                <p:cNvSpPr>
                  <a:spLocks noChangeShapeType="1"/>
                </p:cNvSpPr>
                <p:nvPr/>
              </p:nvSpPr>
              <p:spPr bwMode="auto">
                <a:xfrm>
                  <a:off x="776" y="1388"/>
                  <a:ext cx="406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4839" name="Rectangle 12"/>
              <p:cNvSpPr>
                <a:spLocks noChangeArrowheads="1"/>
              </p:cNvSpPr>
              <p:nvPr/>
            </p:nvSpPr>
            <p:spPr bwMode="auto">
              <a:xfrm>
                <a:off x="3285" y="1728"/>
                <a:ext cx="42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solidFill>
                      <a:schemeClr val="tx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800">
                    <a:latin typeface="Tahoma" panose="020B0604030504040204" pitchFamily="34" charset="0"/>
                  </a:rPr>
                  <a:t>40</a:t>
                </a:r>
              </a:p>
            </p:txBody>
          </p:sp>
          <p:sp>
            <p:nvSpPr>
              <p:cNvPr id="34840" name="Rectangle 13"/>
              <p:cNvSpPr>
                <a:spLocks noChangeArrowheads="1"/>
              </p:cNvSpPr>
              <p:nvPr/>
            </p:nvSpPr>
            <p:spPr bwMode="auto">
              <a:xfrm>
                <a:off x="789" y="1071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34841" name="Rectangle 14"/>
              <p:cNvSpPr>
                <a:spLocks noChangeArrowheads="1"/>
              </p:cNvSpPr>
              <p:nvPr/>
            </p:nvSpPr>
            <p:spPr bwMode="auto">
              <a:xfrm>
                <a:off x="2181" y="1071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34842" name="Rectangle 15"/>
              <p:cNvSpPr>
                <a:spLocks noChangeArrowheads="1"/>
              </p:cNvSpPr>
              <p:nvPr/>
            </p:nvSpPr>
            <p:spPr bwMode="auto">
              <a:xfrm>
                <a:off x="3429" y="1071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34843" name="Rectangle 16"/>
              <p:cNvSpPr>
                <a:spLocks noChangeArrowheads="1"/>
              </p:cNvSpPr>
              <p:nvPr/>
            </p:nvSpPr>
            <p:spPr bwMode="auto">
              <a:xfrm>
                <a:off x="4869" y="1071"/>
                <a:ext cx="23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34844" name="Rectangle 20"/>
              <p:cNvSpPr>
                <a:spLocks noChangeArrowheads="1"/>
              </p:cNvSpPr>
              <p:nvPr/>
            </p:nvSpPr>
            <p:spPr bwMode="auto">
              <a:xfrm>
                <a:off x="597" y="1728"/>
                <a:ext cx="561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800">
                    <a:latin typeface="Tahoma" panose="020B0604030504040204" pitchFamily="34" charset="0"/>
                  </a:rPr>
                  <a:t>-100</a:t>
                </a:r>
              </a:p>
            </p:txBody>
          </p:sp>
        </p:grpSp>
        <p:sp>
          <p:nvSpPr>
            <p:cNvPr id="34825" name="Rectangle 21"/>
            <p:cNvSpPr>
              <a:spLocks noChangeArrowheads="1"/>
            </p:cNvSpPr>
            <p:nvPr/>
          </p:nvSpPr>
          <p:spPr bwMode="auto">
            <a:xfrm>
              <a:off x="672" y="3360"/>
              <a:ext cx="2446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latin typeface="Tahoma" panose="020B0604030504040204" pitchFamily="34" charset="0"/>
                </a:rPr>
                <a:t>Or, enter CFs &amp; find </a:t>
              </a:r>
            </a:p>
            <a:p>
              <a:r>
                <a:rPr lang="en-US" altLang="en-US" sz="3200" dirty="0">
                  <a:latin typeface="Tahoma" panose="020B0604030504040204" pitchFamily="34" charset="0"/>
                </a:rPr>
                <a:t>IRR =</a:t>
              </a:r>
            </a:p>
          </p:txBody>
        </p:sp>
        <p:sp>
          <p:nvSpPr>
            <p:cNvPr id="34826" name="Rectangle 23"/>
            <p:cNvSpPr>
              <a:spLocks noChangeArrowheads="1"/>
            </p:cNvSpPr>
            <p:nvPr/>
          </p:nvSpPr>
          <p:spPr bwMode="auto">
            <a:xfrm>
              <a:off x="798" y="2480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600" dirty="0">
                  <a:latin typeface="Tahoma" panose="020B0604030504040204" pitchFamily="34" charset="0"/>
                </a:rPr>
                <a:t>				 	         </a:t>
              </a:r>
            </a:p>
            <a:p>
              <a:r>
                <a:rPr lang="en-US" altLang="en-US" sz="2600" dirty="0">
                  <a:latin typeface="Tahoma" panose="020B0604030504040204" pitchFamily="34" charset="0"/>
                </a:rPr>
                <a:t>			</a:t>
              </a:r>
            </a:p>
            <a:p>
              <a:r>
                <a:rPr lang="en-US" altLang="en-US" sz="2600" dirty="0">
                  <a:latin typeface="Tahoma" panose="020B0604030504040204" pitchFamily="34" charset="0"/>
                </a:rPr>
                <a:t>			</a:t>
              </a:r>
              <a:r>
                <a:rPr lang="en-US" altLang="en-US" sz="2600" dirty="0">
                  <a:highlight>
                    <a:srgbClr val="FFFF00"/>
                  </a:highlight>
                  <a:latin typeface="Tahoma" panose="020B0604030504040204" pitchFamily="34" charset="0"/>
                </a:rPr>
                <a:t>=?</a:t>
              </a:r>
            </a:p>
          </p:txBody>
        </p:sp>
        <p:sp>
          <p:nvSpPr>
            <p:cNvPr id="34827" name="AutoShape 28"/>
            <p:cNvSpPr>
              <a:spLocks noChangeArrowheads="1"/>
            </p:cNvSpPr>
            <p:nvPr/>
          </p:nvSpPr>
          <p:spPr bwMode="auto">
            <a:xfrm>
              <a:off x="3840" y="2736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828" name="AutoShape 29"/>
            <p:cNvSpPr>
              <a:spLocks noChangeArrowheads="1"/>
            </p:cNvSpPr>
            <p:nvPr/>
          </p:nvSpPr>
          <p:spPr bwMode="auto">
            <a:xfrm>
              <a:off x="4480" y="2737"/>
              <a:ext cx="464" cy="22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829" name="Rectangle 30"/>
            <p:cNvSpPr>
              <a:spLocks noChangeArrowheads="1"/>
            </p:cNvSpPr>
            <p:nvPr/>
          </p:nvSpPr>
          <p:spPr bwMode="auto">
            <a:xfrm>
              <a:off x="1967" y="2720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34830" name="Rectangle 31"/>
            <p:cNvSpPr>
              <a:spLocks noChangeArrowheads="1"/>
            </p:cNvSpPr>
            <p:nvPr/>
          </p:nvSpPr>
          <p:spPr bwMode="auto">
            <a:xfrm>
              <a:off x="2543" y="2720"/>
              <a:ext cx="48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I/YR</a:t>
              </a:r>
            </a:p>
          </p:txBody>
        </p:sp>
        <p:sp>
          <p:nvSpPr>
            <p:cNvPr id="34831" name="Rectangle 32"/>
            <p:cNvSpPr>
              <a:spLocks noChangeArrowheads="1"/>
            </p:cNvSpPr>
            <p:nvPr/>
          </p:nvSpPr>
          <p:spPr bwMode="auto">
            <a:xfrm>
              <a:off x="3311" y="2720"/>
              <a:ext cx="3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PV</a:t>
              </a:r>
            </a:p>
          </p:txBody>
        </p:sp>
        <p:sp>
          <p:nvSpPr>
            <p:cNvPr id="34832" name="Rectangle 33"/>
            <p:cNvSpPr>
              <a:spLocks noChangeArrowheads="1"/>
            </p:cNvSpPr>
            <p:nvPr/>
          </p:nvSpPr>
          <p:spPr bwMode="auto">
            <a:xfrm>
              <a:off x="3809" y="2720"/>
              <a:ext cx="48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PMT</a:t>
              </a:r>
            </a:p>
          </p:txBody>
        </p:sp>
        <p:sp>
          <p:nvSpPr>
            <p:cNvPr id="34833" name="Rectangle 34"/>
            <p:cNvSpPr>
              <a:spLocks noChangeArrowheads="1"/>
            </p:cNvSpPr>
            <p:nvPr/>
          </p:nvSpPr>
          <p:spPr bwMode="auto">
            <a:xfrm>
              <a:off x="4559" y="2720"/>
              <a:ext cx="32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FV</a:t>
              </a:r>
            </a:p>
          </p:txBody>
        </p:sp>
        <p:sp>
          <p:nvSpPr>
            <p:cNvPr id="34834" name="AutoShape 36"/>
            <p:cNvSpPr>
              <a:spLocks noChangeArrowheads="1"/>
            </p:cNvSpPr>
            <p:nvPr/>
          </p:nvSpPr>
          <p:spPr bwMode="auto">
            <a:xfrm>
              <a:off x="693" y="238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600">
                  <a:latin typeface="Tahoma" panose="020B0604030504040204" pitchFamily="34" charset="0"/>
                </a:rPr>
                <a:t>INPUTS</a:t>
              </a:r>
            </a:p>
          </p:txBody>
        </p:sp>
        <p:sp>
          <p:nvSpPr>
            <p:cNvPr id="34835" name="AutoShape 37"/>
            <p:cNvSpPr>
              <a:spLocks noChangeArrowheads="1"/>
            </p:cNvSpPr>
            <p:nvPr/>
          </p:nvSpPr>
          <p:spPr bwMode="auto">
            <a:xfrm>
              <a:off x="687" y="2935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600">
                  <a:latin typeface="Tahoma" panose="020B060403050404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E1A5D-C007-27C8-C4B5-1DA71F8F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 &amp; Excel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FFC2C8-4CEA-22A5-F9C5-A9E5FD44F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891" y="2640627"/>
            <a:ext cx="5506218" cy="25721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67D77-7E9E-3EB6-5745-83BAF803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276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10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Rationale for IRR Method</a:t>
            </a:r>
          </a:p>
        </p:txBody>
      </p:sp>
      <p:sp>
        <p:nvSpPr>
          <p:cNvPr id="35844" name="Rectangle 1034"/>
          <p:cNvSpPr>
            <a:spLocks noGrp="1" noChangeArrowheads="1"/>
          </p:cNvSpPr>
          <p:nvPr>
            <p:ph idx="1"/>
          </p:nvPr>
        </p:nvSpPr>
        <p:spPr>
          <a:xfrm>
            <a:off x="152400" y="1523999"/>
            <a:ext cx="8763000" cy="4832351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Always want Return &gt; Costs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If IRR &gt; WACC: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 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i.e.: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IRR = 18.13%  &amp;  WACC = 10%,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E86573-30D1-42AF-9BEE-E1F608A0948C}" type="slidenum">
              <a:rPr lang="en-US" altLang="en-US">
                <a:latin typeface="Tahoma" panose="020B0604030504040204" pitchFamily="34" charset="0"/>
              </a:rPr>
              <a:pPr eaLnBrk="1" hangingPunct="1"/>
              <a:t>37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IRR Decisions on Firms S and L</a:t>
            </a:r>
          </a:p>
        </p:txBody>
      </p:sp>
      <p:sp>
        <p:nvSpPr>
          <p:cNvPr id="36868" name="Rectangle 10"/>
          <p:cNvSpPr>
            <a:spLocks noGrp="1" noChangeArrowheads="1"/>
          </p:cNvSpPr>
          <p:nvPr>
            <p:ph idx="1"/>
          </p:nvPr>
        </p:nvSpPr>
        <p:spPr>
          <a:xfrm>
            <a:off x="76200" y="1523999"/>
            <a:ext cx="8763000" cy="496887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If S &amp; L independent:</a:t>
            </a:r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Accept both since:</a:t>
            </a:r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  </a:t>
            </a:r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 IRR</a:t>
            </a:r>
            <a:r>
              <a:rPr lang="en-US" altLang="en-US" baseline="-25000" dirty="0"/>
              <a:t>S</a:t>
            </a:r>
            <a:r>
              <a:rPr lang="en-US" altLang="en-US" dirty="0"/>
              <a:t> of 23.56% &gt; r of 10%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 IRR</a:t>
            </a:r>
            <a:r>
              <a:rPr lang="en-US" altLang="en-US" baseline="-25000" dirty="0"/>
              <a:t> L</a:t>
            </a:r>
            <a:r>
              <a:rPr lang="en-US" altLang="en-US" dirty="0"/>
              <a:t> of 18.13% &gt; r of 10%.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If S &amp; L are mutually exclusive accept:	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  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IRR is </a:t>
            </a:r>
            <a:r>
              <a:rPr lang="en-US" altLang="en-US" b="1" u="sng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dependent on cost of capital used.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0C0929-4C73-44B4-9D8E-39B379E62A10}" type="slidenum">
              <a:rPr lang="en-US" altLang="en-US">
                <a:latin typeface="Tahoma" panose="020B0604030504040204" pitchFamily="34" charset="0"/>
              </a:rPr>
              <a:pPr eaLnBrk="1" hangingPunct="1"/>
              <a:t>38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Solving Using CFs: NPV &amp; IRR</a:t>
            </a:r>
          </a:p>
        </p:txBody>
      </p:sp>
      <p:sp>
        <p:nvSpPr>
          <p:cNvPr id="48132" name="Content Placeholder 4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4435472"/>
          </a:xfrm>
        </p:spPr>
        <p:txBody>
          <a:bodyPr>
            <a:normAutofit/>
          </a:bodyPr>
          <a:lstStyle/>
          <a:p>
            <a:r>
              <a:rPr lang="en-US" altLang="en-US" b="1" u="sng" dirty="0"/>
              <a:t>Project L</a:t>
            </a:r>
          </a:p>
          <a:p>
            <a:pPr>
              <a:lnSpc>
                <a:spcPct val="100000"/>
              </a:lnSpc>
            </a:pPr>
            <a:r>
              <a:rPr lang="en-US" altLang="en-US" sz="3000" dirty="0" err="1"/>
              <a:t>CF</a:t>
            </a:r>
            <a:r>
              <a:rPr lang="en-US" altLang="en-US" sz="3000" baseline="-25000" dirty="0" err="1"/>
              <a:t>o</a:t>
            </a:r>
            <a:r>
              <a:rPr lang="en-US" altLang="en-US" sz="3000" dirty="0"/>
              <a:t>   = &lt;100&gt;</a:t>
            </a:r>
          </a:p>
          <a:p>
            <a:pPr>
              <a:lnSpc>
                <a:spcPct val="100000"/>
              </a:lnSpc>
            </a:pPr>
            <a:r>
              <a:rPr lang="en-US" altLang="en-US" sz="3000" dirty="0"/>
              <a:t>CF</a:t>
            </a:r>
            <a:r>
              <a:rPr lang="en-US" altLang="en-US" sz="3000" baseline="-25000" dirty="0"/>
              <a:t>1</a:t>
            </a:r>
            <a:r>
              <a:rPr lang="en-US" altLang="en-US" sz="3000" dirty="0"/>
              <a:t>   =  10</a:t>
            </a:r>
          </a:p>
          <a:p>
            <a:pPr>
              <a:lnSpc>
                <a:spcPct val="100000"/>
              </a:lnSpc>
            </a:pPr>
            <a:r>
              <a:rPr lang="en-US" altLang="en-US" sz="3000" dirty="0"/>
              <a:t>CF</a:t>
            </a:r>
            <a:r>
              <a:rPr lang="en-US" altLang="en-US" sz="3000" baseline="-25000" dirty="0"/>
              <a:t>2</a:t>
            </a:r>
            <a:r>
              <a:rPr lang="en-US" altLang="en-US" sz="3000" dirty="0"/>
              <a:t>   =  60</a:t>
            </a:r>
            <a:r>
              <a:rPr lang="en-US" altLang="en-US" sz="3000" baseline="-25000" dirty="0"/>
              <a:t> </a:t>
            </a:r>
            <a:endParaRPr lang="en-US" altLang="en-US" sz="3000" dirty="0"/>
          </a:p>
          <a:p>
            <a:pPr>
              <a:lnSpc>
                <a:spcPct val="100000"/>
              </a:lnSpc>
            </a:pPr>
            <a:r>
              <a:rPr lang="en-US" altLang="en-US" sz="3000" dirty="0"/>
              <a:t>CF</a:t>
            </a:r>
            <a:r>
              <a:rPr lang="en-US" altLang="en-US" sz="3000" baseline="-25000" dirty="0"/>
              <a:t>3</a:t>
            </a:r>
            <a:r>
              <a:rPr lang="en-US" altLang="en-US" sz="3000" dirty="0"/>
              <a:t>   =  80</a:t>
            </a:r>
            <a:r>
              <a:rPr lang="en-US" altLang="en-US" sz="3000" baseline="-25000" dirty="0"/>
              <a:t> </a:t>
            </a:r>
            <a:endParaRPr lang="en-US" altLang="en-US" sz="3000" dirty="0"/>
          </a:p>
          <a:p>
            <a:pPr>
              <a:lnSpc>
                <a:spcPct val="100000"/>
              </a:lnSpc>
            </a:pPr>
            <a:r>
              <a:rPr lang="en-US" altLang="en-US" sz="3000" dirty="0" err="1"/>
              <a:t>i</a:t>
            </a:r>
            <a:r>
              <a:rPr lang="en-US" altLang="en-US" sz="3000" dirty="0"/>
              <a:t> %   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NPV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 </a:t>
            </a:r>
            <a:r>
              <a:rPr lang="en-US" altLang="en-US" sz="3000" dirty="0"/>
              <a:t>= $</a:t>
            </a:r>
            <a:r>
              <a:rPr kumimoji="0" lang="en-US" altLang="en-US" sz="3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18.79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IRR</a:t>
            </a:r>
            <a:r>
              <a:rPr kumimoji="0" lang="en-US" altLang="en-US" sz="3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 </a:t>
            </a:r>
            <a:r>
              <a:rPr lang="en-US" altLang="en-US" sz="3000" dirty="0"/>
              <a:t>= 18.13%</a:t>
            </a:r>
            <a:endParaRPr kumimoji="0" lang="en-US" altLang="en-US" sz="30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813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898F69-C520-40BB-91F2-8ECF6471911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48134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4648200" y="2133600"/>
            <a:ext cx="3879342" cy="4359272"/>
          </a:xfrm>
        </p:spPr>
        <p:txBody>
          <a:bodyPr>
            <a:normAutofit fontScale="92500" lnSpcReduction="10000"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S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&lt;100&gt;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70</a:t>
            </a: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50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=  20</a:t>
            </a:r>
            <a:r>
              <a:rPr kumimoji="0" lang="en-US" altLang="en-US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%    = 10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NPV</a:t>
            </a:r>
            <a:r>
              <a:rPr lang="en-US" altLang="en-US" b="1" baseline="-25000" dirty="0">
                <a:solidFill>
                  <a:prstClr val="black"/>
                </a:solidFill>
                <a:latin typeface="Calibri" panose="020F0502020204030204"/>
              </a:rPr>
              <a:t>s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$</a:t>
            </a:r>
            <a:r>
              <a:rPr kumimoji="0" lang="en-US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19.98</a:t>
            </a:r>
          </a:p>
          <a:p>
            <a:pPr marL="0" indent="0" defTabSz="91440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IRRs</a:t>
            </a:r>
            <a:r>
              <a:rPr kumimoji="0" lang="en-US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altLang="en-US" sz="3200" dirty="0"/>
              <a:t>= 23.56%</a:t>
            </a:r>
            <a:endParaRPr kumimoji="0" lang="en-US" altLang="en-US" sz="32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25434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Result Conflicts:</a:t>
            </a:r>
            <a:br>
              <a:rPr lang="en-US" altLang="en-US" dirty="0"/>
            </a:br>
            <a:r>
              <a:rPr lang="en-US" altLang="en-US" dirty="0"/>
              <a:t>Construct NPV Profiles</a:t>
            </a:r>
          </a:p>
        </p:txBody>
      </p:sp>
      <p:sp>
        <p:nvSpPr>
          <p:cNvPr id="37892" name="Rectangle 107"/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8763000" cy="5029200"/>
          </a:xfrm>
        </p:spPr>
        <p:txBody>
          <a:bodyPr/>
          <a:lstStyle/>
          <a:p>
            <a:pPr eaLnBrk="1" hangingPunct="1"/>
            <a:r>
              <a:rPr lang="en-US" altLang="en-US" dirty="0"/>
              <a:t>Enter CFs to find NPV</a:t>
            </a:r>
            <a:r>
              <a:rPr lang="en-US" altLang="en-US" baseline="-25000" dirty="0"/>
              <a:t>L</a:t>
            </a:r>
            <a:r>
              <a:rPr lang="en-US" altLang="en-US" dirty="0"/>
              <a:t> &amp; NPV</a:t>
            </a:r>
            <a:r>
              <a:rPr lang="en-US" altLang="en-US" baseline="-25000" dirty="0"/>
              <a:t>S</a:t>
            </a:r>
            <a:r>
              <a:rPr lang="en-US" altLang="en-US" dirty="0"/>
              <a:t> @ different </a:t>
            </a:r>
            <a:r>
              <a:rPr lang="en-US" altLang="en-US" dirty="0" err="1"/>
              <a:t>req’d</a:t>
            </a:r>
            <a:r>
              <a:rPr lang="en-US" altLang="en-US" dirty="0"/>
              <a:t> returns (discount rates): 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E235F2-7053-412A-A64C-FFFE605F7282}" type="slidenum">
              <a:rPr lang="en-US" altLang="en-US">
                <a:latin typeface="Tahoma" panose="020B0604030504040204" pitchFamily="34" charset="0"/>
              </a:rPr>
              <a:pPr eaLnBrk="1" hangingPunct="1"/>
              <a:t>40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2460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25150"/>
              </p:ext>
            </p:extLst>
          </p:nvPr>
        </p:nvGraphicFramePr>
        <p:xfrm>
          <a:off x="2133600" y="2857133"/>
          <a:ext cx="4876800" cy="3655717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NPV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NPV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0 %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5%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50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20%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Crossover Rate</a:t>
            </a:r>
          </a:p>
        </p:txBody>
      </p:sp>
      <p:sp>
        <p:nvSpPr>
          <p:cNvPr id="37892" name="Rectangle 10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Difference of Projects CFs then IRR of it : 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marL="0" indent="0" algn="r" eaLnBrk="1" hangingPunct="1">
              <a:buNone/>
            </a:pPr>
            <a:r>
              <a:rPr lang="en-US" altLang="en-US" dirty="0"/>
              <a:t>                                               </a:t>
            </a:r>
            <a:r>
              <a:rPr lang="en-US" altLang="en-US" sz="3000" dirty="0"/>
              <a:t>@ IRR=  </a:t>
            </a:r>
          </a:p>
          <a:p>
            <a:pPr marL="0" indent="0" algn="r" eaLnBrk="1" hangingPunct="1">
              <a:buNone/>
            </a:pPr>
            <a:r>
              <a:rPr lang="en-US" altLang="en-US" sz="3000" dirty="0"/>
              <a:t>                                                              = NPV                         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E235F2-7053-412A-A64C-FFFE605F7282}" type="slidenum">
              <a:rPr lang="en-US" altLang="en-US">
                <a:latin typeface="Tahoma" panose="020B0604030504040204" pitchFamily="34" charset="0"/>
              </a:rPr>
              <a:pPr eaLnBrk="1" hangingPunct="1"/>
              <a:t>41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2460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48003"/>
              </p:ext>
            </p:extLst>
          </p:nvPr>
        </p:nvGraphicFramePr>
        <p:xfrm>
          <a:off x="2438400" y="2338113"/>
          <a:ext cx="4876800" cy="3864977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Difference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$(100)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$(100)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80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3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IRR%=?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545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To Find Crossover Rate</a:t>
            </a:r>
          </a:p>
        </p:txBody>
      </p:sp>
      <p:sp>
        <p:nvSpPr>
          <p:cNvPr id="41988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Find CF differences between projects.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Enter these differences in CFs, then solve IRR.  Crossover rate = 8.679955% ~ 8.68%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Can subtract S from L or vice versa &amp; consistently, but easier to have 1st CF negative.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If profiles don’t cross, one project dominates other.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FC0BF5-E8BF-4C7F-A1AF-BBC08EF313B1}" type="slidenum">
              <a:rPr lang="en-US" altLang="en-US">
                <a:latin typeface="Tahoma" panose="020B0604030504040204" pitchFamily="34" charset="0"/>
              </a:rPr>
              <a:pPr eaLnBrk="1" hangingPunct="1"/>
              <a:t>42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1086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NPV Profile</a:t>
            </a:r>
          </a:p>
        </p:txBody>
      </p:sp>
      <p:grpSp>
        <p:nvGrpSpPr>
          <p:cNvPr id="38915" name="Group 3"/>
          <p:cNvGrpSpPr>
            <a:grpSpLocks/>
          </p:cNvGrpSpPr>
          <p:nvPr/>
        </p:nvGrpSpPr>
        <p:grpSpPr bwMode="auto">
          <a:xfrm>
            <a:off x="1550126" y="1772194"/>
            <a:ext cx="6699251" cy="4445726"/>
            <a:chOff x="960" y="1488"/>
            <a:chExt cx="4220" cy="2920"/>
          </a:xfrm>
        </p:grpSpPr>
        <p:graphicFrame>
          <p:nvGraphicFramePr>
            <p:cNvPr id="38916" name="Object 4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960" y="1488"/>
            <a:ext cx="3340" cy="2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7346268" imgH="6441213" progId="MSGraph.Chart.8">
                    <p:embed followColorScheme="full"/>
                  </p:oleObj>
                </mc:Choice>
                <mc:Fallback>
                  <p:oleObj name="Chart" r:id="rId2" imgW="7346268" imgH="6441213" progId="MSGraph.Chart.8">
                    <p:embed followColorScheme="full"/>
                    <p:pic>
                      <p:nvPicPr>
                        <p:cNvPr id="38916" name="Object 4">
                          <a:hlinkClick r:id="" action="ppaction://ole?verb=0"/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488"/>
                          <a:ext cx="3340" cy="29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7" name="Rectangle 5"/>
            <p:cNvSpPr>
              <a:spLocks noChangeArrowheads="1"/>
            </p:cNvSpPr>
            <p:nvPr/>
          </p:nvSpPr>
          <p:spPr bwMode="auto">
            <a:xfrm>
              <a:off x="3120" y="3888"/>
              <a:ext cx="1188" cy="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IRR</a:t>
              </a:r>
              <a:r>
                <a:rPr lang="en-US" altLang="en-US" sz="2000" b="1" baseline="-25000" dirty="0"/>
                <a:t>L</a:t>
              </a:r>
              <a:r>
                <a:rPr lang="en-US" altLang="en-US" sz="2000" b="1" dirty="0"/>
                <a:t> = 18.13%</a:t>
              </a:r>
            </a:p>
          </p:txBody>
        </p:sp>
        <p:sp>
          <p:nvSpPr>
            <p:cNvPr id="38918" name="Rectangle 6"/>
            <p:cNvSpPr>
              <a:spLocks noChangeArrowheads="1"/>
            </p:cNvSpPr>
            <p:nvPr/>
          </p:nvSpPr>
          <p:spPr bwMode="auto">
            <a:xfrm>
              <a:off x="3984" y="3024"/>
              <a:ext cx="1196" cy="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IRR</a:t>
              </a:r>
              <a:r>
                <a:rPr lang="en-US" altLang="en-US" sz="2000" b="1" baseline="-25000" dirty="0"/>
                <a:t>S</a:t>
              </a:r>
              <a:r>
                <a:rPr lang="en-US" altLang="en-US" sz="2000" b="1" dirty="0"/>
                <a:t> = 23.56%</a:t>
              </a:r>
            </a:p>
          </p:txBody>
        </p:sp>
        <p:sp>
          <p:nvSpPr>
            <p:cNvPr id="38919" name="Rectangle 7"/>
            <p:cNvSpPr>
              <a:spLocks noChangeArrowheads="1"/>
            </p:cNvSpPr>
            <p:nvPr/>
          </p:nvSpPr>
          <p:spPr bwMode="auto">
            <a:xfrm>
              <a:off x="2448" y="1968"/>
              <a:ext cx="1248" cy="4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/>
                <a:t>Crossover </a:t>
              </a:r>
            </a:p>
            <a:p>
              <a:r>
                <a:rPr lang="en-US" altLang="en-US" sz="2000" b="1"/>
                <a:t>Point  =  8.68%</a:t>
              </a:r>
            </a:p>
          </p:txBody>
        </p:sp>
        <p:sp>
          <p:nvSpPr>
            <p:cNvPr id="38920" name="Rectangle 8"/>
            <p:cNvSpPr>
              <a:spLocks noChangeArrowheads="1"/>
            </p:cNvSpPr>
            <p:nvPr/>
          </p:nvSpPr>
          <p:spPr bwMode="auto">
            <a:xfrm>
              <a:off x="3360" y="2640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S</a:t>
              </a:r>
            </a:p>
          </p:txBody>
        </p:sp>
        <p:sp>
          <p:nvSpPr>
            <p:cNvPr id="38921" name="Rectangle 9"/>
            <p:cNvSpPr>
              <a:spLocks noChangeArrowheads="1"/>
            </p:cNvSpPr>
            <p:nvPr/>
          </p:nvSpPr>
          <p:spPr bwMode="auto">
            <a:xfrm>
              <a:off x="1920" y="1536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L</a:t>
              </a:r>
            </a:p>
          </p:txBody>
        </p:sp>
        <p:sp>
          <p:nvSpPr>
            <p:cNvPr id="38922" name="Line 10"/>
            <p:cNvSpPr>
              <a:spLocks noChangeShapeType="1"/>
            </p:cNvSpPr>
            <p:nvPr/>
          </p:nvSpPr>
          <p:spPr bwMode="auto">
            <a:xfrm flipH="1">
              <a:off x="1920" y="1776"/>
              <a:ext cx="9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3" name="Line 11"/>
            <p:cNvSpPr>
              <a:spLocks noChangeShapeType="1"/>
            </p:cNvSpPr>
            <p:nvPr/>
          </p:nvSpPr>
          <p:spPr bwMode="auto">
            <a:xfrm flipH="1">
              <a:off x="3264" y="2880"/>
              <a:ext cx="14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4" name="Line 12"/>
            <p:cNvSpPr>
              <a:spLocks noChangeShapeType="1"/>
            </p:cNvSpPr>
            <p:nvPr/>
          </p:nvSpPr>
          <p:spPr bwMode="auto">
            <a:xfrm flipH="1">
              <a:off x="2496" y="2448"/>
              <a:ext cx="19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 flipH="1">
              <a:off x="4080" y="326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6" name="Line 14"/>
            <p:cNvSpPr>
              <a:spLocks noChangeShapeType="1"/>
            </p:cNvSpPr>
            <p:nvPr/>
          </p:nvSpPr>
          <p:spPr bwMode="auto">
            <a:xfrm flipV="1">
              <a:off x="3264" y="364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7" name="Line 15"/>
            <p:cNvSpPr>
              <a:spLocks noChangeShapeType="1"/>
            </p:cNvSpPr>
            <p:nvPr/>
          </p:nvSpPr>
          <p:spPr bwMode="auto">
            <a:xfrm>
              <a:off x="2448" y="2784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03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NPV Profile &amp; Relevant Acceptance Range</a:t>
            </a:r>
          </a:p>
        </p:txBody>
      </p:sp>
      <p:sp>
        <p:nvSpPr>
          <p:cNvPr id="43012" name="Rectangle 103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Accept Project L when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% &gt;</a:t>
            </a:r>
          </a:p>
          <a:p>
            <a:pPr eaLnBrk="1" hangingPunct="1"/>
            <a:r>
              <a:rPr lang="en-US" altLang="en-US" sz="2800" dirty="0"/>
              <a:t>Accept Project S when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% &gt;</a:t>
            </a:r>
          </a:p>
          <a:p>
            <a:pPr eaLnBrk="1" hangingPunct="1"/>
            <a:r>
              <a:rPr lang="en-US" altLang="en-US" sz="2800" dirty="0"/>
              <a:t>Why?</a:t>
            </a:r>
          </a:p>
          <a:p>
            <a:pPr eaLnBrk="1" hangingPunct="1"/>
            <a:endParaRPr lang="en-US" altLang="en-US" sz="28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2BA2E8-CEFD-42EE-AC36-E245716AEF33}" type="slidenum">
              <a:rPr lang="en-US" altLang="en-US">
                <a:latin typeface="Tahoma" panose="020B0604030504040204" pitchFamily="34" charset="0"/>
              </a:rPr>
              <a:pPr eaLnBrk="1" hangingPunct="1"/>
              <a:t>44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14484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10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Mutually Exclusive Projects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8704BD-9211-41D1-8D40-2E7730D7321D}" type="slidenum">
              <a:rPr lang="en-US" altLang="en-US">
                <a:latin typeface="Tahoma" panose="020B0604030504040204" pitchFamily="34" charset="0"/>
              </a:rPr>
              <a:pPr eaLnBrk="1" hangingPunct="1"/>
              <a:t>45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40964" name="Group 102"/>
          <p:cNvGrpSpPr>
            <a:grpSpLocks/>
          </p:cNvGrpSpPr>
          <p:nvPr/>
        </p:nvGrpSpPr>
        <p:grpSpPr bwMode="auto">
          <a:xfrm>
            <a:off x="531813" y="2209800"/>
            <a:ext cx="8570912" cy="4376738"/>
            <a:chOff x="335" y="1392"/>
            <a:chExt cx="5399" cy="2757"/>
          </a:xfrm>
        </p:grpSpPr>
        <p:sp>
          <p:nvSpPr>
            <p:cNvPr id="40965" name="Line 10"/>
            <p:cNvSpPr>
              <a:spLocks noChangeShapeType="1"/>
            </p:cNvSpPr>
            <p:nvPr/>
          </p:nvSpPr>
          <p:spPr bwMode="auto">
            <a:xfrm>
              <a:off x="1833" y="2878"/>
              <a:ext cx="0" cy="8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6" name="Rectangle 12"/>
            <p:cNvSpPr>
              <a:spLocks noChangeArrowheads="1"/>
            </p:cNvSpPr>
            <p:nvPr/>
          </p:nvSpPr>
          <p:spPr bwMode="auto">
            <a:xfrm>
              <a:off x="1296" y="3725"/>
              <a:ext cx="108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       8.68    </a:t>
              </a:r>
            </a:p>
          </p:txBody>
        </p:sp>
        <p:sp>
          <p:nvSpPr>
            <p:cNvPr id="40967" name="Rectangle 13"/>
            <p:cNvSpPr>
              <a:spLocks noChangeArrowheads="1"/>
            </p:cNvSpPr>
            <p:nvPr/>
          </p:nvSpPr>
          <p:spPr bwMode="auto">
            <a:xfrm>
              <a:off x="335" y="1392"/>
              <a:ext cx="92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NPV ($)</a:t>
              </a:r>
            </a:p>
          </p:txBody>
        </p:sp>
        <p:sp>
          <p:nvSpPr>
            <p:cNvPr id="40968" name="Rectangle 14"/>
            <p:cNvSpPr>
              <a:spLocks noChangeArrowheads="1"/>
            </p:cNvSpPr>
            <p:nvPr/>
          </p:nvSpPr>
          <p:spPr bwMode="auto">
            <a:xfrm>
              <a:off x="3410" y="3803"/>
              <a:ext cx="618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r (%)</a:t>
              </a:r>
            </a:p>
          </p:txBody>
        </p:sp>
        <p:sp>
          <p:nvSpPr>
            <p:cNvPr id="40969" name="Rectangle 15"/>
            <p:cNvSpPr>
              <a:spLocks noChangeArrowheads="1"/>
            </p:cNvSpPr>
            <p:nvPr/>
          </p:nvSpPr>
          <p:spPr bwMode="auto">
            <a:xfrm>
              <a:off x="3456" y="3041"/>
              <a:ext cx="53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IRR</a:t>
              </a:r>
              <a:r>
                <a:rPr lang="en-US" altLang="en-US" sz="2400" b="1" baseline="-25000"/>
                <a:t>S</a:t>
              </a:r>
            </a:p>
          </p:txBody>
        </p:sp>
        <p:sp>
          <p:nvSpPr>
            <p:cNvPr id="40970" name="Rectangle 16"/>
            <p:cNvSpPr>
              <a:spLocks noChangeArrowheads="1"/>
            </p:cNvSpPr>
            <p:nvPr/>
          </p:nvSpPr>
          <p:spPr bwMode="auto">
            <a:xfrm>
              <a:off x="2338" y="3863"/>
              <a:ext cx="52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IRR</a:t>
              </a:r>
              <a:r>
                <a:rPr lang="en-US" altLang="en-US" sz="2400" b="1" baseline="-25000"/>
                <a:t>L</a:t>
              </a:r>
            </a:p>
          </p:txBody>
        </p:sp>
        <p:sp>
          <p:nvSpPr>
            <p:cNvPr id="40971" name="Line 19"/>
            <p:cNvSpPr>
              <a:spLocks noChangeShapeType="1"/>
            </p:cNvSpPr>
            <p:nvPr/>
          </p:nvSpPr>
          <p:spPr bwMode="auto">
            <a:xfrm flipH="1">
              <a:off x="3696" y="3287"/>
              <a:ext cx="9" cy="40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2" name="Line 20"/>
            <p:cNvSpPr>
              <a:spLocks noChangeShapeType="1"/>
            </p:cNvSpPr>
            <p:nvPr/>
          </p:nvSpPr>
          <p:spPr bwMode="auto">
            <a:xfrm flipV="1">
              <a:off x="2659" y="3714"/>
              <a:ext cx="180" cy="2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3" name="Rectangle 21"/>
            <p:cNvSpPr>
              <a:spLocks noChangeArrowheads="1"/>
            </p:cNvSpPr>
            <p:nvPr/>
          </p:nvSpPr>
          <p:spPr bwMode="auto">
            <a:xfrm>
              <a:off x="1152" y="1853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L</a:t>
              </a:r>
            </a:p>
          </p:txBody>
        </p:sp>
        <p:sp>
          <p:nvSpPr>
            <p:cNvPr id="40974" name="Rectangle 22"/>
            <p:cNvSpPr>
              <a:spLocks noChangeArrowheads="1"/>
            </p:cNvSpPr>
            <p:nvPr/>
          </p:nvSpPr>
          <p:spPr bwMode="auto">
            <a:xfrm>
              <a:off x="2736" y="3053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S</a:t>
              </a:r>
            </a:p>
          </p:txBody>
        </p:sp>
        <p:sp>
          <p:nvSpPr>
            <p:cNvPr id="40975" name="Rectangle 23"/>
            <p:cNvSpPr>
              <a:spLocks noChangeArrowheads="1"/>
            </p:cNvSpPr>
            <p:nvPr/>
          </p:nvSpPr>
          <p:spPr bwMode="auto">
            <a:xfrm>
              <a:off x="1675" y="1440"/>
              <a:ext cx="4059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 b="1" dirty="0"/>
                <a:t>r &lt; 8.68%: NPV</a:t>
              </a:r>
              <a:r>
                <a:rPr lang="en-US" altLang="en-US" sz="2800" b="1" baseline="-25000" dirty="0"/>
                <a:t>L</a:t>
              </a:r>
              <a:r>
                <a:rPr lang="en-US" altLang="en-US" sz="2800" b="1" dirty="0"/>
                <a:t>&gt; NPV</a:t>
              </a:r>
              <a:r>
                <a:rPr lang="en-US" altLang="en-US" sz="2800" b="1" baseline="-25000" dirty="0"/>
                <a:t>S </a:t>
              </a:r>
              <a:r>
                <a:rPr lang="en-US" altLang="en-US" sz="2800" b="1" dirty="0"/>
                <a:t>, IRR</a:t>
              </a:r>
              <a:r>
                <a:rPr lang="en-US" altLang="en-US" sz="2800" b="1" baseline="-25000" dirty="0"/>
                <a:t>S </a:t>
              </a:r>
              <a:r>
                <a:rPr lang="en-US" altLang="en-US" sz="2800" b="1" dirty="0"/>
                <a:t>&gt; IRR</a:t>
              </a:r>
              <a:r>
                <a:rPr lang="en-US" altLang="en-US" sz="2800" b="1" baseline="-25000" dirty="0"/>
                <a:t>L</a:t>
              </a:r>
              <a:endParaRPr lang="en-US" altLang="en-US" sz="2800" b="1" dirty="0"/>
            </a:p>
            <a:p>
              <a:pPr algn="ctr"/>
              <a:r>
                <a:rPr lang="en-US" altLang="en-US" sz="2800" b="1" dirty="0"/>
                <a:t>CONFLICT </a:t>
              </a:r>
            </a:p>
          </p:txBody>
        </p:sp>
        <p:sp>
          <p:nvSpPr>
            <p:cNvPr id="40976" name="Rectangle 24"/>
            <p:cNvSpPr>
              <a:spLocks noChangeArrowheads="1"/>
            </p:cNvSpPr>
            <p:nvPr/>
          </p:nvSpPr>
          <p:spPr bwMode="auto">
            <a:xfrm>
              <a:off x="1675" y="2160"/>
              <a:ext cx="4057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 b="1"/>
                <a:t>r &gt; 8.68%: NPV</a:t>
              </a:r>
              <a:r>
                <a:rPr lang="en-US" altLang="en-US" sz="2800" b="1" baseline="-25000"/>
                <a:t>S</a:t>
              </a:r>
              <a:r>
                <a:rPr lang="en-US" altLang="en-US" sz="2800" b="1"/>
                <a:t>&gt; NPV</a:t>
              </a:r>
              <a:r>
                <a:rPr lang="en-US" altLang="en-US" sz="2800" b="1" baseline="-25000"/>
                <a:t>L </a:t>
              </a:r>
              <a:r>
                <a:rPr lang="en-US" altLang="en-US" sz="2800" b="1"/>
                <a:t>, IRR</a:t>
              </a:r>
              <a:r>
                <a:rPr lang="en-US" altLang="en-US" sz="2800" b="1" baseline="-25000"/>
                <a:t>S </a:t>
              </a:r>
              <a:r>
                <a:rPr lang="en-US" altLang="en-US" sz="2800" b="1"/>
                <a:t>&gt; IRR</a:t>
              </a:r>
              <a:r>
                <a:rPr lang="en-US" altLang="en-US" sz="2800" b="1" baseline="-25000"/>
                <a:t>L</a:t>
              </a:r>
              <a:endParaRPr lang="en-US" altLang="en-US" sz="2800" b="1"/>
            </a:p>
            <a:p>
              <a:pPr algn="ctr"/>
              <a:r>
                <a:rPr lang="en-US" altLang="en-US" sz="2800" b="1"/>
                <a:t>NO CONFLICT </a:t>
              </a:r>
            </a:p>
          </p:txBody>
        </p:sp>
        <p:sp>
          <p:nvSpPr>
            <p:cNvPr id="40977" name="Line 29"/>
            <p:cNvSpPr>
              <a:spLocks noChangeShapeType="1"/>
            </p:cNvSpPr>
            <p:nvPr/>
          </p:nvSpPr>
          <p:spPr bwMode="auto">
            <a:xfrm>
              <a:off x="790" y="1682"/>
              <a:ext cx="1" cy="2403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30"/>
            <p:cNvSpPr>
              <a:spLocks noChangeShapeType="1"/>
            </p:cNvSpPr>
            <p:nvPr/>
          </p:nvSpPr>
          <p:spPr bwMode="auto">
            <a:xfrm>
              <a:off x="790" y="3740"/>
              <a:ext cx="2899" cy="1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Freeform 31"/>
            <p:cNvSpPr>
              <a:spLocks/>
            </p:cNvSpPr>
            <p:nvPr/>
          </p:nvSpPr>
          <p:spPr bwMode="auto">
            <a:xfrm>
              <a:off x="790" y="2027"/>
              <a:ext cx="2317" cy="1851"/>
            </a:xfrm>
            <a:custGeom>
              <a:avLst/>
              <a:gdLst>
                <a:gd name="T0" fmla="*/ 0 w 450"/>
                <a:gd name="T1" fmla="*/ 0 h 386"/>
                <a:gd name="T2" fmla="*/ 2106385 w 450"/>
                <a:gd name="T3" fmla="*/ 1470572 h 386"/>
                <a:gd name="T4" fmla="*/ 4194578 w 450"/>
                <a:gd name="T5" fmla="*/ 2687825 h 386"/>
                <a:gd name="T6" fmla="*/ 6296720 w 450"/>
                <a:gd name="T7" fmla="*/ 3732637 h 386"/>
                <a:gd name="T8" fmla="*/ 8384811 w 450"/>
                <a:gd name="T9" fmla="*/ 4693421 h 3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0"/>
                <a:gd name="T16" fmla="*/ 0 h 386"/>
                <a:gd name="T17" fmla="*/ 450 w 450"/>
                <a:gd name="T18" fmla="*/ 386 h 3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0" h="386">
                  <a:moveTo>
                    <a:pt x="0" y="0"/>
                  </a:moveTo>
                  <a:lnTo>
                    <a:pt x="113" y="121"/>
                  </a:lnTo>
                  <a:lnTo>
                    <a:pt x="225" y="221"/>
                  </a:lnTo>
                  <a:lnTo>
                    <a:pt x="338" y="307"/>
                  </a:lnTo>
                  <a:lnTo>
                    <a:pt x="450" y="386"/>
                  </a:lnTo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Freeform 32"/>
            <p:cNvSpPr>
              <a:spLocks/>
            </p:cNvSpPr>
            <p:nvPr/>
          </p:nvSpPr>
          <p:spPr bwMode="auto">
            <a:xfrm>
              <a:off x="790" y="2368"/>
              <a:ext cx="2899" cy="1372"/>
            </a:xfrm>
            <a:custGeom>
              <a:avLst/>
              <a:gdLst>
                <a:gd name="T0" fmla="*/ 0 w 563"/>
                <a:gd name="T1" fmla="*/ 0 h 286"/>
                <a:gd name="T2" fmla="*/ 2106878 w 563"/>
                <a:gd name="T3" fmla="*/ 962779 h 286"/>
                <a:gd name="T4" fmla="*/ 4195486 w 563"/>
                <a:gd name="T5" fmla="*/ 1742972 h 286"/>
                <a:gd name="T6" fmla="*/ 6298966 w 563"/>
                <a:gd name="T7" fmla="*/ 2449428 h 286"/>
                <a:gd name="T8" fmla="*/ 8387548 w 563"/>
                <a:gd name="T9" fmla="*/ 3059047 h 286"/>
                <a:gd name="T10" fmla="*/ 10494452 w 563"/>
                <a:gd name="T11" fmla="*/ 3485849 h 2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63"/>
                <a:gd name="T19" fmla="*/ 0 h 286"/>
                <a:gd name="T20" fmla="*/ 563 w 563"/>
                <a:gd name="T21" fmla="*/ 286 h 2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63" h="286">
                  <a:moveTo>
                    <a:pt x="0" y="0"/>
                  </a:moveTo>
                  <a:lnTo>
                    <a:pt x="113" y="79"/>
                  </a:lnTo>
                  <a:lnTo>
                    <a:pt x="225" y="143"/>
                  </a:lnTo>
                  <a:lnTo>
                    <a:pt x="338" y="201"/>
                  </a:lnTo>
                  <a:lnTo>
                    <a:pt x="450" y="251"/>
                  </a:lnTo>
                  <a:lnTo>
                    <a:pt x="563" y="286"/>
                  </a:lnTo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Rectangle 33"/>
            <p:cNvSpPr>
              <a:spLocks noChangeArrowheads="1"/>
            </p:cNvSpPr>
            <p:nvPr/>
          </p:nvSpPr>
          <p:spPr bwMode="auto">
            <a:xfrm>
              <a:off x="769" y="2008"/>
              <a:ext cx="46" cy="4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82" name="Line 34"/>
            <p:cNvSpPr>
              <a:spLocks noChangeShapeType="1"/>
            </p:cNvSpPr>
            <p:nvPr/>
          </p:nvSpPr>
          <p:spPr bwMode="auto">
            <a:xfrm flipH="1" flipV="1">
              <a:off x="769" y="2008"/>
              <a:ext cx="2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35"/>
            <p:cNvSpPr>
              <a:spLocks noChangeShapeType="1"/>
            </p:cNvSpPr>
            <p:nvPr/>
          </p:nvSpPr>
          <p:spPr bwMode="auto">
            <a:xfrm>
              <a:off x="790" y="2027"/>
              <a:ext cx="20" cy="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36"/>
            <p:cNvSpPr>
              <a:spLocks noChangeShapeType="1"/>
            </p:cNvSpPr>
            <p:nvPr/>
          </p:nvSpPr>
          <p:spPr bwMode="auto">
            <a:xfrm flipH="1">
              <a:off x="769" y="2027"/>
              <a:ext cx="21" cy="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Line 37"/>
            <p:cNvSpPr>
              <a:spLocks noChangeShapeType="1"/>
            </p:cNvSpPr>
            <p:nvPr/>
          </p:nvSpPr>
          <p:spPr bwMode="auto">
            <a:xfrm flipV="1">
              <a:off x="790" y="2008"/>
              <a:ext cx="20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Line 40"/>
            <p:cNvSpPr>
              <a:spLocks noChangeShapeType="1"/>
            </p:cNvSpPr>
            <p:nvPr/>
          </p:nvSpPr>
          <p:spPr bwMode="auto">
            <a:xfrm>
              <a:off x="1372" y="2608"/>
              <a:ext cx="20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Rectangle 53"/>
            <p:cNvSpPr>
              <a:spLocks noChangeArrowheads="1"/>
            </p:cNvSpPr>
            <p:nvPr/>
          </p:nvSpPr>
          <p:spPr bwMode="auto">
            <a:xfrm>
              <a:off x="3087" y="3859"/>
              <a:ext cx="46" cy="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88" name="Line 54"/>
            <p:cNvSpPr>
              <a:spLocks noChangeShapeType="1"/>
            </p:cNvSpPr>
            <p:nvPr/>
          </p:nvSpPr>
          <p:spPr bwMode="auto">
            <a:xfrm flipH="1" flipV="1">
              <a:off x="3087" y="3859"/>
              <a:ext cx="20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Line 55"/>
            <p:cNvSpPr>
              <a:spLocks noChangeShapeType="1"/>
            </p:cNvSpPr>
            <p:nvPr/>
          </p:nvSpPr>
          <p:spPr bwMode="auto">
            <a:xfrm>
              <a:off x="3107" y="3878"/>
              <a:ext cx="21" cy="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Line 56"/>
            <p:cNvSpPr>
              <a:spLocks noChangeShapeType="1"/>
            </p:cNvSpPr>
            <p:nvPr/>
          </p:nvSpPr>
          <p:spPr bwMode="auto">
            <a:xfrm flipH="1">
              <a:off x="3087" y="3878"/>
              <a:ext cx="20" cy="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Line 57"/>
            <p:cNvSpPr>
              <a:spLocks noChangeShapeType="1"/>
            </p:cNvSpPr>
            <p:nvPr/>
          </p:nvSpPr>
          <p:spPr bwMode="auto">
            <a:xfrm flipV="1">
              <a:off x="3107" y="3859"/>
              <a:ext cx="2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2" name="Rectangle 58"/>
            <p:cNvSpPr>
              <a:spLocks noChangeArrowheads="1"/>
            </p:cNvSpPr>
            <p:nvPr/>
          </p:nvSpPr>
          <p:spPr bwMode="auto">
            <a:xfrm>
              <a:off x="769" y="2349"/>
              <a:ext cx="46" cy="4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93" name="Line 59"/>
            <p:cNvSpPr>
              <a:spLocks noChangeShapeType="1"/>
            </p:cNvSpPr>
            <p:nvPr/>
          </p:nvSpPr>
          <p:spPr bwMode="auto">
            <a:xfrm flipH="1" flipV="1">
              <a:off x="769" y="2349"/>
              <a:ext cx="2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4" name="Line 60"/>
            <p:cNvSpPr>
              <a:spLocks noChangeShapeType="1"/>
            </p:cNvSpPr>
            <p:nvPr/>
          </p:nvSpPr>
          <p:spPr bwMode="auto">
            <a:xfrm>
              <a:off x="790" y="2368"/>
              <a:ext cx="20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Line 61"/>
            <p:cNvSpPr>
              <a:spLocks noChangeShapeType="1"/>
            </p:cNvSpPr>
            <p:nvPr/>
          </p:nvSpPr>
          <p:spPr bwMode="auto">
            <a:xfrm flipH="1">
              <a:off x="769" y="2368"/>
              <a:ext cx="2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Line 62"/>
            <p:cNvSpPr>
              <a:spLocks noChangeShapeType="1"/>
            </p:cNvSpPr>
            <p:nvPr/>
          </p:nvSpPr>
          <p:spPr bwMode="auto">
            <a:xfrm flipV="1">
              <a:off x="790" y="2349"/>
              <a:ext cx="20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Line 63"/>
            <p:cNvSpPr>
              <a:spLocks noChangeShapeType="1"/>
            </p:cNvSpPr>
            <p:nvPr/>
          </p:nvSpPr>
          <p:spPr bwMode="auto">
            <a:xfrm flipV="1">
              <a:off x="790" y="2349"/>
              <a:ext cx="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64"/>
            <p:cNvSpPr>
              <a:spLocks noChangeShapeType="1"/>
            </p:cNvSpPr>
            <p:nvPr/>
          </p:nvSpPr>
          <p:spPr bwMode="auto">
            <a:xfrm>
              <a:off x="790" y="2368"/>
              <a:ext cx="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Line 81"/>
            <p:cNvSpPr>
              <a:spLocks noChangeShapeType="1"/>
            </p:cNvSpPr>
            <p:nvPr/>
          </p:nvSpPr>
          <p:spPr bwMode="auto">
            <a:xfrm>
              <a:off x="2530" y="3332"/>
              <a:ext cx="21" cy="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685800" y="2362200"/>
            <a:ext cx="7978775" cy="4119563"/>
            <a:chOff x="432" y="1488"/>
            <a:chExt cx="5026" cy="2595"/>
          </a:xfrm>
        </p:grpSpPr>
        <p:graphicFrame>
          <p:nvGraphicFramePr>
            <p:cNvPr id="39940" name="Object 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98" y="1635"/>
            <a:ext cx="4658" cy="2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8608186" imgH="5214938" progId="MSGraph.Chart.8">
                    <p:embed followColorScheme="full"/>
                  </p:oleObj>
                </mc:Choice>
                <mc:Fallback>
                  <p:oleObj name="Chart" r:id="rId2" imgW="8608186" imgH="5214938" progId="MSGraph.Chart.8">
                    <p:embed followColorScheme="full"/>
                    <p:pic>
                      <p:nvPicPr>
                        <p:cNvPr id="39940" name="Object 3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" y="1635"/>
                          <a:ext cx="4658" cy="2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1" name="Line 4"/>
            <p:cNvSpPr>
              <a:spLocks noChangeShapeType="1"/>
            </p:cNvSpPr>
            <p:nvPr/>
          </p:nvSpPr>
          <p:spPr bwMode="auto">
            <a:xfrm>
              <a:off x="4089" y="1891"/>
              <a:ext cx="0" cy="2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2" name="Rectangle 5"/>
            <p:cNvSpPr>
              <a:spLocks noChangeArrowheads="1"/>
            </p:cNvSpPr>
            <p:nvPr/>
          </p:nvSpPr>
          <p:spPr bwMode="auto">
            <a:xfrm>
              <a:off x="4177" y="1970"/>
              <a:ext cx="1281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/>
                <a:t>r &gt; IRR</a:t>
              </a:r>
            </a:p>
            <a:p>
              <a:pPr algn="ctr"/>
              <a:r>
                <a:rPr lang="en-US" altLang="en-US" sz="2400" b="1"/>
                <a:t>and NPV &lt; 0.</a:t>
              </a:r>
            </a:p>
            <a:p>
              <a:pPr algn="ctr"/>
              <a:r>
                <a:rPr lang="en-US" altLang="en-US" sz="2400" b="1"/>
                <a:t>Reject.</a:t>
              </a:r>
            </a:p>
          </p:txBody>
        </p:sp>
        <p:sp>
          <p:nvSpPr>
            <p:cNvPr id="39943" name="Rectangle 6"/>
            <p:cNvSpPr>
              <a:spLocks noChangeArrowheads="1"/>
            </p:cNvSpPr>
            <p:nvPr/>
          </p:nvSpPr>
          <p:spPr bwMode="auto">
            <a:xfrm>
              <a:off x="432" y="1488"/>
              <a:ext cx="79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NPV ($)</a:t>
              </a:r>
            </a:p>
          </p:txBody>
        </p:sp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4896" y="3696"/>
              <a:ext cx="54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r (%)</a:t>
              </a:r>
            </a:p>
          </p:txBody>
        </p:sp>
        <p:sp>
          <p:nvSpPr>
            <p:cNvPr id="39945" name="Rectangle 8"/>
            <p:cNvSpPr>
              <a:spLocks noChangeArrowheads="1"/>
            </p:cNvSpPr>
            <p:nvPr/>
          </p:nvSpPr>
          <p:spPr bwMode="auto">
            <a:xfrm>
              <a:off x="3264" y="3792"/>
              <a:ext cx="44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/>
                <a:t>IRR</a:t>
              </a:r>
            </a:p>
          </p:txBody>
        </p:sp>
        <p:sp>
          <p:nvSpPr>
            <p:cNvPr id="39946" name="Line 9"/>
            <p:cNvSpPr>
              <a:spLocks noChangeShapeType="1"/>
            </p:cNvSpPr>
            <p:nvPr/>
          </p:nvSpPr>
          <p:spPr bwMode="auto">
            <a:xfrm flipV="1">
              <a:off x="3792" y="3696"/>
              <a:ext cx="272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Rectangle 10"/>
            <p:cNvSpPr>
              <a:spLocks noChangeArrowheads="1"/>
            </p:cNvSpPr>
            <p:nvPr/>
          </p:nvSpPr>
          <p:spPr bwMode="auto">
            <a:xfrm>
              <a:off x="2016" y="1970"/>
              <a:ext cx="1228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/>
                <a:t>IRR &gt; r</a:t>
              </a:r>
            </a:p>
            <a:p>
              <a:pPr algn="ctr"/>
              <a:r>
                <a:rPr lang="en-US" altLang="en-US" sz="2400" b="1"/>
                <a:t>and NPV &gt; 0</a:t>
              </a:r>
            </a:p>
            <a:p>
              <a:pPr algn="ctr"/>
              <a:r>
                <a:rPr lang="en-US" altLang="en-US" sz="2400" b="1"/>
                <a:t>Accept.</a:t>
              </a:r>
            </a:p>
          </p:txBody>
        </p:sp>
      </p:grpSp>
      <p:sp>
        <p:nvSpPr>
          <p:cNvPr id="39939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NPV &amp; IRR: No conflict for independent projects.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0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Reasons NPV Profiles Cross</a:t>
            </a:r>
          </a:p>
        </p:txBody>
      </p:sp>
      <p:sp>
        <p:nvSpPr>
          <p:cNvPr id="43012" name="Rectangle 1037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534400" cy="5105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Size (scale) differences.  </a:t>
            </a:r>
          </a:p>
          <a:p>
            <a:pPr lvl="1"/>
            <a:r>
              <a:rPr lang="en-US" altLang="en-US" sz="2400" dirty="0"/>
              <a:t>Smaller project frees up funds @ t = 0 for investment.</a:t>
            </a:r>
          </a:p>
          <a:p>
            <a:pPr lvl="1"/>
            <a:r>
              <a:rPr lang="en-US" altLang="en-US" sz="2400" dirty="0"/>
              <a:t>Higher opportunity cost, more valuable these funds, </a:t>
            </a:r>
          </a:p>
          <a:p>
            <a:pPr lvl="1"/>
            <a:r>
              <a:rPr lang="en-US" altLang="en-US" sz="2400" dirty="0"/>
              <a:t>so high r favors small projects.</a:t>
            </a:r>
          </a:p>
          <a:p>
            <a:pPr eaLnBrk="1" hangingPunct="1"/>
            <a:r>
              <a:rPr lang="en-US" altLang="en-US" sz="2800" dirty="0"/>
              <a:t>Timing differences.</a:t>
            </a:r>
          </a:p>
          <a:p>
            <a:pPr lvl="1"/>
            <a:r>
              <a:rPr lang="en-US" altLang="en-US" sz="2400" dirty="0"/>
              <a:t>Project w/ faster payback provides more CF in early years for reinvestment.  </a:t>
            </a:r>
          </a:p>
          <a:p>
            <a:pPr lvl="1"/>
            <a:r>
              <a:rPr lang="en-US" altLang="en-US" sz="2400" dirty="0"/>
              <a:t>If r is high, early CF especially good, NPV</a:t>
            </a:r>
            <a:r>
              <a:rPr lang="en-US" altLang="en-US" sz="2400" baseline="-25000" dirty="0"/>
              <a:t>S</a:t>
            </a:r>
            <a:r>
              <a:rPr lang="en-US" altLang="en-US" sz="2400" dirty="0"/>
              <a:t> &gt; NPV</a:t>
            </a:r>
            <a:r>
              <a:rPr lang="en-US" altLang="en-US" sz="2400" baseline="-25000" dirty="0"/>
              <a:t>L</a:t>
            </a:r>
            <a:r>
              <a:rPr lang="en-US" altLang="en-US" sz="24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2BA2E8-CEFD-42EE-AC36-E245716AEF33}" type="slidenum">
              <a:rPr lang="en-US" altLang="en-US">
                <a:latin typeface="Tahoma" panose="020B0604030504040204" pitchFamily="34" charset="0"/>
              </a:rPr>
              <a:pPr eaLnBrk="1" hangingPunct="1"/>
              <a:t>47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Reinvestment Rate Assumptions</a:t>
            </a:r>
          </a:p>
        </p:txBody>
      </p:sp>
      <p:sp>
        <p:nvSpPr>
          <p:cNvPr id="44036" name="Rectangle 1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767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NPV assumes reinvest @ r (opp. cost of capital).</a:t>
            </a:r>
          </a:p>
          <a:p>
            <a:pPr eaLnBrk="1" hangingPunct="1"/>
            <a:r>
              <a:rPr lang="en-US" altLang="en-US" dirty="0"/>
              <a:t>IRR assumes reinvest @ IRR.</a:t>
            </a:r>
          </a:p>
          <a:p>
            <a:pPr eaLnBrk="1" hangingPunct="1"/>
            <a:r>
              <a:rPr lang="en-US" altLang="en-US" dirty="0"/>
              <a:t>Reinvest @ opportunity cost, r, more realistic, </a:t>
            </a:r>
          </a:p>
          <a:p>
            <a:pPr lvl="1"/>
            <a:r>
              <a:rPr lang="en-US" altLang="en-US" dirty="0"/>
              <a:t>so NPV method best.  </a:t>
            </a:r>
          </a:p>
          <a:p>
            <a:pPr eaLnBrk="1" hangingPunct="1"/>
            <a:r>
              <a:rPr lang="en-US" altLang="en-US" dirty="0"/>
              <a:t>W/ mutually exclusive projects, use NPV.</a:t>
            </a:r>
          </a:p>
          <a:p>
            <a:pPr eaLnBrk="1" hangingPunct="1"/>
            <a:r>
              <a:rPr lang="en-US" altLang="en-US" dirty="0"/>
              <a:t>NPV always gives correct result @ specific </a:t>
            </a:r>
            <a:r>
              <a:rPr lang="en-US" altLang="en-US" dirty="0" err="1"/>
              <a:t>i</a:t>
            </a:r>
            <a:r>
              <a:rPr lang="en-US" altLang="en-US" dirty="0"/>
              <a:t>% when comparing 2 projects of same lifespan.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F0E689-5FE7-4688-B7C7-22EA4691A3CC}" type="slidenum">
              <a:rPr lang="en-US" altLang="en-US">
                <a:latin typeface="Tahoma" panose="020B0604030504040204" pitchFamily="34" charset="0"/>
              </a:rPr>
              <a:pPr eaLnBrk="1" hangingPunct="1"/>
              <a:t>48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Expected Net CFs &amp; MIRR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  <a:p>
            <a:endParaRPr lang="en-US" altLang="en-US" dirty="0"/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&lt;$100&gt;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70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50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49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0016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103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Modified Internal Rate of Return (MIRR)</a:t>
            </a:r>
          </a:p>
        </p:txBody>
      </p:sp>
      <p:sp>
        <p:nvSpPr>
          <p:cNvPr id="45060" name="Rectangle 1038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76300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MIRR is discount rate (</a:t>
            </a:r>
            <a:r>
              <a:rPr lang="en-US" altLang="en-US" dirty="0" err="1"/>
              <a:t>i</a:t>
            </a:r>
            <a:r>
              <a:rPr lang="en-US" altLang="en-US" dirty="0"/>
              <a:t>%) causing PV of project’s terminal value (TV) in Future to equal PV of costs.</a:t>
            </a:r>
          </a:p>
          <a:p>
            <a:pPr eaLnBrk="1" hangingPunct="1"/>
            <a:r>
              <a:rPr lang="en-US" altLang="en-US" dirty="0"/>
              <a:t>TV found by:</a:t>
            </a:r>
          </a:p>
          <a:p>
            <a:pPr eaLnBrk="1" hangingPunct="1"/>
            <a:r>
              <a:rPr lang="en-US" altLang="en-US" dirty="0"/>
              <a:t>compounding inflows @ WACC to get FV of inflows</a:t>
            </a:r>
          </a:p>
          <a:p>
            <a:pPr eaLnBrk="1" hangingPunct="1"/>
            <a:r>
              <a:rPr lang="en-US" altLang="en-US" dirty="0"/>
              <a:t>Thus, MIRR assumes cash inflows are reinvested @ WACC.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928488-EE53-45E1-A61B-331CCE0C00ED}" type="slidenum">
              <a:rPr lang="en-US" altLang="en-US">
                <a:latin typeface="Tahoma" panose="020B0604030504040204" pitchFamily="34" charset="0"/>
              </a:rPr>
              <a:pPr eaLnBrk="1" hangingPunct="1"/>
              <a:t>50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73025"/>
            <a:ext cx="8058150" cy="132419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u="sng" dirty="0"/>
              <a:t>MIRR for Firm L with r=10%</a:t>
            </a:r>
            <a:br>
              <a:rPr lang="en-US" altLang="en-US" sz="4000" u="sng" dirty="0"/>
            </a:br>
            <a:r>
              <a:rPr lang="en-US" altLang="en-US" dirty="0"/>
              <a:t>First, Find PV (</a:t>
            </a:r>
            <a:r>
              <a:rPr lang="en-US" altLang="en-US" b="0" dirty="0"/>
              <a:t>outs</a:t>
            </a:r>
            <a:r>
              <a:rPr lang="en-US" altLang="en-US" dirty="0"/>
              <a:t>) &amp; FV (</a:t>
            </a:r>
            <a:r>
              <a:rPr lang="en-US" altLang="en-US" b="0" dirty="0"/>
              <a:t>ins</a:t>
            </a:r>
            <a:r>
              <a:rPr lang="en-US" altLang="en-US" dirty="0"/>
              <a:t>)</a:t>
            </a:r>
          </a:p>
        </p:txBody>
      </p:sp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1583AD-5040-4A2E-A47F-FCCACBA7E231}" type="slidenum">
              <a:rPr lang="en-US" altLang="en-US">
                <a:latin typeface="Tahoma" panose="020B0604030504040204" pitchFamily="34" charset="0"/>
              </a:rPr>
              <a:pPr eaLnBrk="1" hangingPunct="1"/>
              <a:t>51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46083" name="Group 49"/>
          <p:cNvGrpSpPr>
            <a:grpSpLocks/>
          </p:cNvGrpSpPr>
          <p:nvPr/>
        </p:nvGrpSpPr>
        <p:grpSpPr bwMode="auto">
          <a:xfrm>
            <a:off x="833438" y="2532063"/>
            <a:ext cx="7705726" cy="3800475"/>
            <a:chOff x="525" y="1595"/>
            <a:chExt cx="4854" cy="2394"/>
          </a:xfrm>
        </p:grpSpPr>
        <p:sp>
          <p:nvSpPr>
            <p:cNvPr id="46085" name="Rectangle 6"/>
            <p:cNvSpPr>
              <a:spLocks noChangeArrowheads="1"/>
            </p:cNvSpPr>
            <p:nvPr/>
          </p:nvSpPr>
          <p:spPr bwMode="auto">
            <a:xfrm>
              <a:off x="2111" y="2253"/>
              <a:ext cx="54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10.0</a:t>
              </a:r>
            </a:p>
          </p:txBody>
        </p:sp>
        <p:sp>
          <p:nvSpPr>
            <p:cNvPr id="46086" name="Rectangle 7"/>
            <p:cNvSpPr>
              <a:spLocks noChangeArrowheads="1"/>
            </p:cNvSpPr>
            <p:nvPr/>
          </p:nvSpPr>
          <p:spPr bwMode="auto">
            <a:xfrm>
              <a:off x="4807" y="2253"/>
              <a:ext cx="54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80.0</a:t>
              </a:r>
            </a:p>
          </p:txBody>
        </p:sp>
        <p:grpSp>
          <p:nvGrpSpPr>
            <p:cNvPr id="46087" name="Group 13"/>
            <p:cNvGrpSpPr>
              <a:grpSpLocks/>
            </p:cNvGrpSpPr>
            <p:nvPr/>
          </p:nvGrpSpPr>
          <p:grpSpPr bwMode="auto">
            <a:xfrm>
              <a:off x="990" y="1870"/>
              <a:ext cx="4080" cy="385"/>
              <a:chOff x="768" y="1273"/>
              <a:chExt cx="4080" cy="385"/>
            </a:xfrm>
          </p:grpSpPr>
          <p:sp>
            <p:nvSpPr>
              <p:cNvPr id="46107" name="Line 8"/>
              <p:cNvSpPr>
                <a:spLocks noChangeShapeType="1"/>
              </p:cNvSpPr>
              <p:nvPr/>
            </p:nvSpPr>
            <p:spPr bwMode="auto">
              <a:xfrm>
                <a:off x="768" y="1273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8" name="Line 9"/>
              <p:cNvSpPr>
                <a:spLocks noChangeShapeType="1"/>
              </p:cNvSpPr>
              <p:nvPr/>
            </p:nvSpPr>
            <p:spPr bwMode="auto">
              <a:xfrm>
                <a:off x="2160" y="1273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09" name="Line 10"/>
              <p:cNvSpPr>
                <a:spLocks noChangeShapeType="1"/>
              </p:cNvSpPr>
              <p:nvPr/>
            </p:nvSpPr>
            <p:spPr bwMode="auto">
              <a:xfrm>
                <a:off x="3408" y="1273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0" name="Line 11"/>
              <p:cNvSpPr>
                <a:spLocks noChangeShapeType="1"/>
              </p:cNvSpPr>
              <p:nvPr/>
            </p:nvSpPr>
            <p:spPr bwMode="auto">
              <a:xfrm>
                <a:off x="4848" y="1273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1" name="Line 12"/>
              <p:cNvSpPr>
                <a:spLocks noChangeShapeType="1"/>
              </p:cNvSpPr>
              <p:nvPr/>
            </p:nvSpPr>
            <p:spPr bwMode="auto">
              <a:xfrm>
                <a:off x="776" y="1467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088" name="Rectangle 14"/>
            <p:cNvSpPr>
              <a:spLocks noChangeArrowheads="1"/>
            </p:cNvSpPr>
            <p:nvPr/>
          </p:nvSpPr>
          <p:spPr bwMode="auto">
            <a:xfrm>
              <a:off x="3359" y="2253"/>
              <a:ext cx="54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60.0</a:t>
              </a:r>
            </a:p>
          </p:txBody>
        </p:sp>
        <p:sp>
          <p:nvSpPr>
            <p:cNvPr id="46089" name="Rectangle 15"/>
            <p:cNvSpPr>
              <a:spLocks noChangeArrowheads="1"/>
            </p:cNvSpPr>
            <p:nvPr/>
          </p:nvSpPr>
          <p:spPr bwMode="auto">
            <a:xfrm>
              <a:off x="885" y="1595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6090" name="Rectangle 16"/>
            <p:cNvSpPr>
              <a:spLocks noChangeArrowheads="1"/>
            </p:cNvSpPr>
            <p:nvPr/>
          </p:nvSpPr>
          <p:spPr bwMode="auto">
            <a:xfrm>
              <a:off x="2277" y="1595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6091" name="Rectangle 17"/>
            <p:cNvSpPr>
              <a:spLocks noChangeArrowheads="1"/>
            </p:cNvSpPr>
            <p:nvPr/>
          </p:nvSpPr>
          <p:spPr bwMode="auto">
            <a:xfrm>
              <a:off x="3525" y="1595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6092" name="Rectangle 18"/>
            <p:cNvSpPr>
              <a:spLocks noChangeArrowheads="1"/>
            </p:cNvSpPr>
            <p:nvPr/>
          </p:nvSpPr>
          <p:spPr bwMode="auto">
            <a:xfrm>
              <a:off x="4965" y="1595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6093" name="Rectangle 19"/>
            <p:cNvSpPr>
              <a:spLocks noChangeArrowheads="1"/>
            </p:cNvSpPr>
            <p:nvPr/>
          </p:nvSpPr>
          <p:spPr bwMode="auto">
            <a:xfrm>
              <a:off x="1365" y="1813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46094" name="Line 20"/>
            <p:cNvSpPr>
              <a:spLocks noChangeShapeType="1"/>
            </p:cNvSpPr>
            <p:nvPr/>
          </p:nvSpPr>
          <p:spPr bwMode="auto">
            <a:xfrm>
              <a:off x="2382" y="2563"/>
              <a:ext cx="0" cy="4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Line 21"/>
            <p:cNvSpPr>
              <a:spLocks noChangeShapeType="1"/>
            </p:cNvSpPr>
            <p:nvPr/>
          </p:nvSpPr>
          <p:spPr bwMode="auto">
            <a:xfrm>
              <a:off x="2390" y="3060"/>
              <a:ext cx="2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Line 22"/>
            <p:cNvSpPr>
              <a:spLocks noChangeShapeType="1"/>
            </p:cNvSpPr>
            <p:nvPr/>
          </p:nvSpPr>
          <p:spPr bwMode="auto">
            <a:xfrm>
              <a:off x="3630" y="256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Line 23"/>
            <p:cNvSpPr>
              <a:spLocks noChangeShapeType="1"/>
            </p:cNvSpPr>
            <p:nvPr/>
          </p:nvSpPr>
          <p:spPr bwMode="auto">
            <a:xfrm>
              <a:off x="3638" y="2795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8" name="Rectangle 24"/>
            <p:cNvSpPr>
              <a:spLocks noChangeArrowheads="1"/>
            </p:cNvSpPr>
            <p:nvPr/>
          </p:nvSpPr>
          <p:spPr bwMode="auto">
            <a:xfrm>
              <a:off x="4675" y="2629"/>
              <a:ext cx="704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rPr>
                <a:t>=  </a:t>
              </a:r>
            </a:p>
            <a:p>
              <a:r>
                <a:rPr lang="en-US" altLang="en-US" sz="2800" u="sng" dirty="0">
                  <a:highlight>
                    <a:srgbClr val="FFFF00"/>
                  </a:highlight>
                  <a:latin typeface="Tahoma" panose="020B0604030504040204" pitchFamily="34" charset="0"/>
                </a:rPr>
                <a:t>= </a:t>
              </a:r>
              <a:r>
                <a:rPr lang="en-US" altLang="en-US" sz="2800" u="sng" dirty="0">
                  <a:latin typeface="Tahoma" panose="020B0604030504040204" pitchFamily="34" charset="0"/>
                </a:rPr>
                <a:t>     </a:t>
              </a:r>
            </a:p>
          </p:txBody>
        </p:sp>
        <p:sp>
          <p:nvSpPr>
            <p:cNvPr id="46099" name="Rectangle 25"/>
            <p:cNvSpPr>
              <a:spLocks noChangeArrowheads="1"/>
            </p:cNvSpPr>
            <p:nvPr/>
          </p:nvSpPr>
          <p:spPr bwMode="auto">
            <a:xfrm>
              <a:off x="4656" y="3245"/>
              <a:ext cx="54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rPr>
                <a:t>=</a:t>
              </a:r>
            </a:p>
          </p:txBody>
        </p:sp>
        <p:sp>
          <p:nvSpPr>
            <p:cNvPr id="46100" name="Rectangle 28"/>
            <p:cNvSpPr>
              <a:spLocks noChangeArrowheads="1"/>
            </p:cNvSpPr>
            <p:nvPr/>
          </p:nvSpPr>
          <p:spPr bwMode="auto">
            <a:xfrm>
              <a:off x="525" y="2253"/>
              <a:ext cx="751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-100.0</a:t>
              </a:r>
            </a:p>
          </p:txBody>
        </p:sp>
        <p:sp>
          <p:nvSpPr>
            <p:cNvPr id="46101" name="Rectangle 29"/>
            <p:cNvSpPr>
              <a:spLocks noChangeArrowheads="1"/>
            </p:cNvSpPr>
            <p:nvPr/>
          </p:nvSpPr>
          <p:spPr bwMode="auto">
            <a:xfrm>
              <a:off x="3765" y="2548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46102" name="Rectangle 30"/>
            <p:cNvSpPr>
              <a:spLocks noChangeArrowheads="1"/>
            </p:cNvSpPr>
            <p:nvPr/>
          </p:nvSpPr>
          <p:spPr bwMode="auto">
            <a:xfrm>
              <a:off x="2757" y="2830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46103" name="Rectangle 31"/>
            <p:cNvSpPr>
              <a:spLocks noChangeArrowheads="1"/>
            </p:cNvSpPr>
            <p:nvPr/>
          </p:nvSpPr>
          <p:spPr bwMode="auto">
            <a:xfrm>
              <a:off x="4224" y="3600"/>
              <a:ext cx="1132" cy="3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FV inflows</a:t>
              </a:r>
            </a:p>
          </p:txBody>
        </p:sp>
        <p:sp>
          <p:nvSpPr>
            <p:cNvPr id="46104" name="Line 32"/>
            <p:cNvSpPr>
              <a:spLocks noChangeShapeType="1"/>
            </p:cNvSpPr>
            <p:nvPr/>
          </p:nvSpPr>
          <p:spPr bwMode="auto">
            <a:xfrm>
              <a:off x="672" y="3168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5" name="Rectangle 33"/>
            <p:cNvSpPr>
              <a:spLocks noChangeArrowheads="1"/>
            </p:cNvSpPr>
            <p:nvPr/>
          </p:nvSpPr>
          <p:spPr bwMode="auto">
            <a:xfrm>
              <a:off x="528" y="3264"/>
              <a:ext cx="80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rPr>
                <a:t>=</a:t>
              </a:r>
            </a:p>
          </p:txBody>
        </p:sp>
        <p:sp>
          <p:nvSpPr>
            <p:cNvPr id="46106" name="Rectangle 35"/>
            <p:cNvSpPr>
              <a:spLocks noChangeArrowheads="1"/>
            </p:cNvSpPr>
            <p:nvPr/>
          </p:nvSpPr>
          <p:spPr bwMode="auto">
            <a:xfrm>
              <a:off x="576" y="3648"/>
              <a:ext cx="1289" cy="34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PV outflows</a:t>
              </a:r>
            </a:p>
          </p:txBody>
        </p:sp>
      </p:grp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0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8210550" cy="103209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u="sng" dirty="0"/>
              <a:t>Second,</a:t>
            </a:r>
            <a:br>
              <a:rPr lang="en-US" altLang="en-US" dirty="0"/>
            </a:br>
            <a:r>
              <a:rPr lang="en-US" altLang="en-US" dirty="0"/>
              <a:t>Find Discount Rate that Equates NPV &amp; NFV</a:t>
            </a:r>
          </a:p>
        </p:txBody>
      </p:sp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9E7C06-A697-4E9F-A05C-CC31DC4012E1}" type="slidenum">
              <a:rPr lang="en-US" altLang="en-US">
                <a:latin typeface="Tahoma" panose="020B0604030504040204" pitchFamily="34" charset="0"/>
              </a:rPr>
              <a:pPr eaLnBrk="1" hangingPunct="1"/>
              <a:t>52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47107" name="Group 55"/>
          <p:cNvGrpSpPr>
            <a:grpSpLocks/>
          </p:cNvGrpSpPr>
          <p:nvPr/>
        </p:nvGrpSpPr>
        <p:grpSpPr bwMode="auto">
          <a:xfrm>
            <a:off x="190500" y="1714376"/>
            <a:ext cx="8763000" cy="4376917"/>
            <a:chOff x="429" y="1547"/>
            <a:chExt cx="4975" cy="2603"/>
          </a:xfrm>
        </p:grpSpPr>
        <p:sp>
          <p:nvSpPr>
            <p:cNvPr id="47109" name="Rectangle 2"/>
            <p:cNvSpPr>
              <a:spLocks noChangeArrowheads="1"/>
            </p:cNvSpPr>
            <p:nvPr/>
          </p:nvSpPr>
          <p:spPr bwMode="auto">
            <a:xfrm>
              <a:off x="2256" y="2160"/>
              <a:ext cx="136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>
                  <a:highlight>
                    <a:srgbClr val="FFFF00"/>
                  </a:highlight>
                  <a:latin typeface="Tahoma" panose="020B0604030504040204" pitchFamily="34" charset="0"/>
                </a:rPr>
                <a:t>MIRR = ??</a:t>
              </a:r>
            </a:p>
          </p:txBody>
        </p:sp>
        <p:sp>
          <p:nvSpPr>
            <p:cNvPr id="47110" name="Rectangle 3"/>
            <p:cNvSpPr>
              <a:spLocks noChangeArrowheads="1"/>
            </p:cNvSpPr>
            <p:nvPr/>
          </p:nvSpPr>
          <p:spPr bwMode="auto">
            <a:xfrm>
              <a:off x="4632" y="2205"/>
              <a:ext cx="7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rPr>
                <a:t>NFV=</a:t>
              </a:r>
            </a:p>
          </p:txBody>
        </p:sp>
        <p:sp>
          <p:nvSpPr>
            <p:cNvPr id="47111" name="Line 5"/>
            <p:cNvSpPr>
              <a:spLocks noChangeShapeType="1"/>
            </p:cNvSpPr>
            <p:nvPr/>
          </p:nvSpPr>
          <p:spPr bwMode="auto">
            <a:xfrm>
              <a:off x="894" y="1822"/>
              <a:ext cx="0" cy="3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2" name="Line 6"/>
            <p:cNvSpPr>
              <a:spLocks noChangeShapeType="1"/>
            </p:cNvSpPr>
            <p:nvPr/>
          </p:nvSpPr>
          <p:spPr bwMode="auto">
            <a:xfrm>
              <a:off x="2286" y="1822"/>
              <a:ext cx="0" cy="3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3" name="Line 7"/>
            <p:cNvSpPr>
              <a:spLocks noChangeShapeType="1"/>
            </p:cNvSpPr>
            <p:nvPr/>
          </p:nvSpPr>
          <p:spPr bwMode="auto">
            <a:xfrm>
              <a:off x="3534" y="1822"/>
              <a:ext cx="0" cy="3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4" name="Line 8"/>
            <p:cNvSpPr>
              <a:spLocks noChangeShapeType="1"/>
            </p:cNvSpPr>
            <p:nvPr/>
          </p:nvSpPr>
          <p:spPr bwMode="auto">
            <a:xfrm>
              <a:off x="4974" y="1822"/>
              <a:ext cx="0" cy="3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5" name="Line 9"/>
            <p:cNvSpPr>
              <a:spLocks noChangeShapeType="1"/>
            </p:cNvSpPr>
            <p:nvPr/>
          </p:nvSpPr>
          <p:spPr bwMode="auto">
            <a:xfrm>
              <a:off x="902" y="2016"/>
              <a:ext cx="40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6" name="Rectangle 10"/>
            <p:cNvSpPr>
              <a:spLocks noChangeArrowheads="1"/>
            </p:cNvSpPr>
            <p:nvPr/>
          </p:nvSpPr>
          <p:spPr bwMode="auto">
            <a:xfrm>
              <a:off x="789" y="154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7117" name="Rectangle 11"/>
            <p:cNvSpPr>
              <a:spLocks noChangeArrowheads="1"/>
            </p:cNvSpPr>
            <p:nvPr/>
          </p:nvSpPr>
          <p:spPr bwMode="auto">
            <a:xfrm>
              <a:off x="2181" y="154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7118" name="Rectangle 12"/>
            <p:cNvSpPr>
              <a:spLocks noChangeArrowheads="1"/>
            </p:cNvSpPr>
            <p:nvPr/>
          </p:nvSpPr>
          <p:spPr bwMode="auto">
            <a:xfrm>
              <a:off x="3429" y="154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7119" name="Rectangle 13"/>
            <p:cNvSpPr>
              <a:spLocks noChangeArrowheads="1"/>
            </p:cNvSpPr>
            <p:nvPr/>
          </p:nvSpPr>
          <p:spPr bwMode="auto">
            <a:xfrm>
              <a:off x="4869" y="1547"/>
              <a:ext cx="21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7120" name="Rectangle 15"/>
            <p:cNvSpPr>
              <a:spLocks noChangeArrowheads="1"/>
            </p:cNvSpPr>
            <p:nvPr/>
          </p:nvSpPr>
          <p:spPr bwMode="auto">
            <a:xfrm>
              <a:off x="429" y="2205"/>
              <a:ext cx="68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highlight>
                    <a:srgbClr val="FFFF00"/>
                  </a:highlight>
                  <a:latin typeface="Tahoma" panose="020B0604030504040204" pitchFamily="34" charset="0"/>
                </a:rPr>
                <a:t>NPV =</a:t>
              </a:r>
            </a:p>
          </p:txBody>
        </p:sp>
        <p:sp>
          <p:nvSpPr>
            <p:cNvPr id="47121" name="Rectangle 16"/>
            <p:cNvSpPr>
              <a:spLocks noChangeArrowheads="1"/>
            </p:cNvSpPr>
            <p:nvPr/>
          </p:nvSpPr>
          <p:spPr bwMode="auto">
            <a:xfrm>
              <a:off x="4272" y="2736"/>
              <a:ext cx="1132" cy="3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FV inflows</a:t>
              </a:r>
            </a:p>
          </p:txBody>
        </p:sp>
        <p:sp>
          <p:nvSpPr>
            <p:cNvPr id="47122" name="Rectangle 17"/>
            <p:cNvSpPr>
              <a:spLocks noChangeArrowheads="1"/>
            </p:cNvSpPr>
            <p:nvPr/>
          </p:nvSpPr>
          <p:spPr bwMode="auto">
            <a:xfrm>
              <a:off x="480" y="2688"/>
              <a:ext cx="1289" cy="34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PV outflows</a:t>
              </a:r>
            </a:p>
          </p:txBody>
        </p:sp>
        <p:sp>
          <p:nvSpPr>
            <p:cNvPr id="47123" name="Rectangle 18"/>
            <p:cNvSpPr>
              <a:spLocks noChangeArrowheads="1"/>
            </p:cNvSpPr>
            <p:nvPr/>
          </p:nvSpPr>
          <p:spPr bwMode="auto">
            <a:xfrm>
              <a:off x="1872" y="3840"/>
              <a:ext cx="168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MIRR</a:t>
              </a:r>
              <a:r>
                <a:rPr lang="en-US" altLang="en-US" sz="2800" baseline="-25000" dirty="0">
                  <a:latin typeface="Tahoma" panose="020B0604030504040204" pitchFamily="34" charset="0"/>
                </a:rPr>
                <a:t>L</a:t>
              </a:r>
              <a:r>
                <a:rPr lang="en-US" altLang="en-US" sz="2800" dirty="0">
                  <a:latin typeface="Tahoma" panose="020B0604030504040204" pitchFamily="34" charset="0"/>
                </a:rPr>
                <a:t> =</a:t>
              </a:r>
            </a:p>
          </p:txBody>
        </p:sp>
        <p:sp>
          <p:nvSpPr>
            <p:cNvPr id="47124" name="Rectangle 23"/>
            <p:cNvSpPr>
              <a:spLocks noChangeArrowheads="1"/>
            </p:cNvSpPr>
            <p:nvPr/>
          </p:nvSpPr>
          <p:spPr bwMode="auto">
            <a:xfrm>
              <a:off x="1776" y="3216"/>
              <a:ext cx="108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  </a:t>
              </a:r>
            </a:p>
          </p:txBody>
        </p:sp>
        <p:sp>
          <p:nvSpPr>
            <p:cNvPr id="47125" name="Line 25"/>
            <p:cNvSpPr>
              <a:spLocks noChangeShapeType="1"/>
            </p:cNvSpPr>
            <p:nvPr/>
          </p:nvSpPr>
          <p:spPr bwMode="auto">
            <a:xfrm>
              <a:off x="4085" y="3396"/>
              <a:ext cx="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6" name="Rectangle 26"/>
            <p:cNvSpPr>
              <a:spLocks noChangeArrowheads="1"/>
            </p:cNvSpPr>
            <p:nvPr/>
          </p:nvSpPr>
          <p:spPr bwMode="auto">
            <a:xfrm>
              <a:off x="3416" y="3120"/>
              <a:ext cx="10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2800" baseline="30000" dirty="0">
                <a:latin typeface="Tahoma" panose="020B0604030504040204" pitchFamily="34" charset="0"/>
              </a:endParaRPr>
            </a:p>
          </p:txBody>
        </p:sp>
        <p:sp>
          <p:nvSpPr>
            <p:cNvPr id="47127" name="Line 28"/>
            <p:cNvSpPr>
              <a:spLocks noChangeShapeType="1"/>
            </p:cNvSpPr>
            <p:nvPr/>
          </p:nvSpPr>
          <p:spPr bwMode="auto">
            <a:xfrm flipH="1">
              <a:off x="1248" y="2400"/>
              <a:ext cx="3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To find FV with 12B: Step 1, Find PV of Inflows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First, enter cash inflows in CFLO register: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CF</a:t>
            </a:r>
            <a:r>
              <a:rPr lang="en-US" altLang="en-US" sz="2800" baseline="-25000"/>
              <a:t>0</a:t>
            </a:r>
            <a:r>
              <a:rPr lang="en-US" altLang="en-US" sz="2800"/>
              <a:t> = 0, CF</a:t>
            </a:r>
            <a:r>
              <a:rPr lang="en-US" altLang="en-US" sz="2800" baseline="-25000"/>
              <a:t>1</a:t>
            </a:r>
            <a:r>
              <a:rPr lang="en-US" altLang="en-US" sz="2800"/>
              <a:t> = 10, CF</a:t>
            </a:r>
            <a:r>
              <a:rPr lang="en-US" altLang="en-US" sz="2800" baseline="-25000"/>
              <a:t>2</a:t>
            </a:r>
            <a:r>
              <a:rPr lang="en-US" altLang="en-US" sz="2800"/>
              <a:t> = 60, CF</a:t>
            </a:r>
            <a:r>
              <a:rPr lang="en-US" altLang="en-US" sz="2800" baseline="-25000"/>
              <a:t>3</a:t>
            </a:r>
            <a:r>
              <a:rPr lang="en-US" altLang="en-US" sz="2800"/>
              <a:t> = 80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Second, enter I/YR = 10.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Third, find PV of inflows: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Press NPV = 118.78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E4D342-FDF5-44A4-AA49-8E9FB82B2E80}" type="slidenum">
              <a:rPr lang="en-US" altLang="en-US">
                <a:latin typeface="Tahoma" panose="020B0604030504040204" pitchFamily="34" charset="0"/>
              </a:rPr>
              <a:pPr eaLnBrk="1" hangingPunct="1"/>
              <a:t>53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Step 2, Find FV of Inflows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Enter PV = -118.78, N = 3, I/YR = 10, PMT = 0.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Press FV = 158.10 = FV of inflows.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130DD9-23A6-44D6-B0DB-F913CFC527C0}" type="slidenum">
              <a:rPr lang="en-US" altLang="en-US">
                <a:latin typeface="Tahoma" panose="020B0604030504040204" pitchFamily="34" charset="0"/>
              </a:rPr>
              <a:pPr eaLnBrk="1" hangingPunct="1"/>
              <a:t>54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3, Find PV of Outflows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For this problem, there is only one outflow, CF</a:t>
            </a:r>
            <a:r>
              <a:rPr lang="en-US" altLang="en-US" baseline="-25000" dirty="0"/>
              <a:t>0</a:t>
            </a:r>
            <a:r>
              <a:rPr lang="en-US" altLang="en-US" dirty="0"/>
              <a:t> = -100, so PV of outflows is -100.</a:t>
            </a:r>
          </a:p>
          <a:p>
            <a:pPr eaLnBrk="1" hangingPunct="1"/>
            <a:r>
              <a:rPr lang="en-US" altLang="en-US" dirty="0"/>
              <a:t>For other problems there may be negative CFs for several years, &amp; must find NPV of all negative CFs.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466016-8EF9-49CF-91F9-4AD5B3FEA046}" type="slidenum">
              <a:rPr lang="en-US" altLang="en-US">
                <a:latin typeface="Tahoma" panose="020B0604030504040204" pitchFamily="34" charset="0"/>
              </a:rPr>
              <a:pPr eaLnBrk="1" hangingPunct="1"/>
              <a:t>55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Step 4, Find “</a:t>
            </a:r>
            <a:r>
              <a:rPr lang="en-US" altLang="en-US" sz="3600" dirty="0" err="1"/>
              <a:t>i</a:t>
            </a:r>
            <a:r>
              <a:rPr lang="en-US" altLang="en-US" sz="3600" dirty="0"/>
              <a:t>% or IRR” of FV of Inflows &amp; PV of Outflows to get MIRR</a:t>
            </a:r>
          </a:p>
        </p:txBody>
      </p:sp>
      <p:sp>
        <p:nvSpPr>
          <p:cNvPr id="51204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Enter FV = 158.10, PV = -100, PMT = 0, N = 3.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Press I/YR = 16.50% = MIRR.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86B54A-6ED7-4397-AF46-947AE2151097}" type="slidenum">
              <a:rPr lang="en-US" altLang="en-US">
                <a:latin typeface="Tahoma" panose="020B0604030504040204" pitchFamily="34" charset="0"/>
              </a:rPr>
              <a:pPr eaLnBrk="1" hangingPunct="1"/>
              <a:t>56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A4D2-D71B-DE87-14D0-FA61D5FC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MIRR in Excel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97C594-0EA1-8159-8D26-864949443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6496" y="2450100"/>
            <a:ext cx="5611008" cy="29531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1F88C-6141-3179-D9E7-34AF4FC6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10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Expected Net CFs &amp; MIRR: Non-normal CFs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      </a:t>
            </a:r>
            <a:r>
              <a:rPr lang="en-US" altLang="en-US" u="sng" dirty="0" err="1"/>
              <a:t>Proj</a:t>
            </a:r>
            <a:r>
              <a:rPr lang="en-US" altLang="en-US" u="sng" dirty="0"/>
              <a:t>. </a:t>
            </a:r>
            <a:r>
              <a:rPr lang="en-US" altLang="en-US" b="0" u="sng" dirty="0"/>
              <a:t>Not Normal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50</a:t>
            </a:r>
          </a:p>
          <a:p>
            <a:r>
              <a:rPr lang="en-US" altLang="en-US" dirty="0"/>
              <a:t>2		      80</a:t>
            </a:r>
          </a:p>
          <a:p>
            <a:r>
              <a:rPr lang="en-US" altLang="en-US" dirty="0"/>
              <a:t>3		   &lt;40&gt;</a:t>
            </a:r>
          </a:p>
          <a:p>
            <a:r>
              <a:rPr lang="en-US" altLang="en-US" dirty="0"/>
              <a:t>4		      80</a:t>
            </a:r>
          </a:p>
          <a:p>
            <a:endParaRPr lang="en-US" altLang="en-US" dirty="0"/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831850"/>
          </a:xfrm>
        </p:spPr>
        <p:txBody>
          <a:bodyPr/>
          <a:lstStyle/>
          <a:p>
            <a:r>
              <a:rPr lang="en-US" altLang="en-US" dirty="0"/>
              <a:t>		</a:t>
            </a:r>
            <a:endParaRPr lang="en-US" altLang="en-US" u="sng" dirty="0"/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/>
          <a:lstStyle/>
          <a:p>
            <a:pPr marL="1828800" lvl="4" indent="0">
              <a:buNone/>
            </a:pPr>
            <a:r>
              <a:rPr lang="en-US" altLang="en-US" sz="2400" dirty="0"/>
              <a:t>PV of Outflows vs FV Inflow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58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8416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Expected Net CFs &amp; MIRR:</a:t>
            </a:r>
            <a:br>
              <a:rPr lang="en-US" altLang="en-US" sz="4000" dirty="0"/>
            </a:br>
            <a:r>
              <a:rPr lang="en-US" altLang="en-US" sz="4000" dirty="0"/>
              <a:t>Non-normal CFs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627459" y="1372326"/>
            <a:ext cx="3943748" cy="712243"/>
          </a:xfrm>
        </p:spPr>
        <p:txBody>
          <a:bodyPr>
            <a:normAutofit/>
          </a:bodyPr>
          <a:lstStyle/>
          <a:p>
            <a:r>
              <a:rPr lang="en-US" altLang="en-US" sz="2400" u="sng" dirty="0"/>
              <a:t>Year</a:t>
            </a:r>
            <a:r>
              <a:rPr lang="en-US" altLang="en-US" sz="2400" dirty="0"/>
              <a:t>  		</a:t>
            </a:r>
            <a:r>
              <a:rPr lang="en-US" altLang="en-US" sz="2400" u="sng" dirty="0"/>
              <a:t>Inflows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1" y="2209392"/>
            <a:ext cx="4114006" cy="433387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0		      ?</a:t>
            </a:r>
          </a:p>
          <a:p>
            <a:r>
              <a:rPr lang="en-US" altLang="en-US" dirty="0"/>
              <a:t>1		      ?</a:t>
            </a:r>
          </a:p>
          <a:p>
            <a:r>
              <a:rPr lang="en-US" altLang="en-US" dirty="0"/>
              <a:t>2		      ?</a:t>
            </a:r>
          </a:p>
          <a:p>
            <a:r>
              <a:rPr lang="en-US" altLang="en-US" dirty="0"/>
              <a:t>3		      ?</a:t>
            </a:r>
          </a:p>
          <a:p>
            <a:r>
              <a:rPr lang="en-US" altLang="en-US" dirty="0"/>
              <a:t>4		      ?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% = 10    </a:t>
            </a:r>
            <a:r>
              <a:rPr lang="en-US" altLang="en-US" dirty="0" err="1"/>
              <a:t>NPV</a:t>
            </a:r>
            <a:r>
              <a:rPr lang="en-US" alt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</a:t>
            </a:r>
            <a:r>
              <a:rPr lang="en-US" altLang="en-US" dirty="0"/>
              <a:t> </a:t>
            </a:r>
            <a:r>
              <a:rPr lang="en-US" altLang="en-US" dirty="0">
                <a:highlight>
                  <a:srgbClr val="FFFF00"/>
                </a:highlight>
              </a:rPr>
              <a:t>=?</a:t>
            </a:r>
          </a:p>
          <a:p>
            <a:r>
              <a:rPr lang="en-US" altLang="en-US" sz="3000" dirty="0"/>
              <a:t>Then convert to NFV </a:t>
            </a:r>
            <a:r>
              <a:rPr lang="en-US" altLang="en-US" sz="2100" dirty="0"/>
              <a:t>@</a:t>
            </a:r>
            <a:r>
              <a:rPr lang="en-US" altLang="en-US" sz="3000" dirty="0"/>
              <a:t> </a:t>
            </a:r>
            <a:r>
              <a:rPr lang="en-US" altLang="en-US" sz="3000" dirty="0" err="1"/>
              <a:t>yr</a:t>
            </a:r>
            <a:r>
              <a:rPr lang="en-US" altLang="en-US" sz="3000" dirty="0"/>
              <a:t> 4, so </a:t>
            </a:r>
            <a:r>
              <a:rPr lang="en-US" altLang="en-US" sz="3000" dirty="0" err="1"/>
              <a:t>NFV</a:t>
            </a:r>
            <a:r>
              <a:rPr lang="en-US" altLang="en-US" sz="1300" dirty="0" err="1"/>
              <a:t>infl</a:t>
            </a:r>
            <a:r>
              <a:rPr lang="en-US" altLang="en-US" sz="3000" dirty="0"/>
              <a:t> = </a:t>
            </a:r>
            <a:r>
              <a:rPr lang="en-US" altLang="en-US" sz="3000" dirty="0">
                <a:highlight>
                  <a:srgbClr val="FFFF00"/>
                </a:highlight>
              </a:rPr>
              <a:t>$?</a:t>
            </a:r>
          </a:p>
          <a:p>
            <a:pPr marL="1828800" lvl="4" indent="0">
              <a:buClr>
                <a:srgbClr val="00E4A8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1828800" lvl="4" indent="0">
              <a:buClr>
                <a:srgbClr val="00E4A8"/>
              </a:buClr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          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FFFF00"/>
                </a:highlight>
              </a:rPr>
              <a:t>So MIRR = ?=&gt;&gt;</a:t>
            </a:r>
          </a:p>
          <a:p>
            <a:pPr lvl="3"/>
            <a:endParaRPr lang="en-US" altLang="en-US" dirty="0"/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571207" y="1421357"/>
            <a:ext cx="4260055" cy="712243"/>
          </a:xfrm>
        </p:spPr>
        <p:txBody>
          <a:bodyPr/>
          <a:lstStyle/>
          <a:p>
            <a:r>
              <a:rPr lang="en-US" altLang="en-US" sz="2400" u="sng" dirty="0"/>
              <a:t>Yr.</a:t>
            </a:r>
            <a:r>
              <a:rPr lang="en-US" altLang="en-US" dirty="0"/>
              <a:t>	        </a:t>
            </a:r>
            <a:r>
              <a:rPr lang="en-US" altLang="en-US" sz="2400" u="sng" dirty="0"/>
              <a:t>Outflows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571207" y="2258423"/>
            <a:ext cx="4260055" cy="4476500"/>
          </a:xfrm>
        </p:spPr>
        <p:txBody>
          <a:bodyPr>
            <a:normAutofit fontScale="85000" lnSpcReduction="20000"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	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          ?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		 ?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		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?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		 ?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		 ?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= 10   </a:t>
            </a:r>
            <a:r>
              <a:rPr kumimoji="0" lang="en-US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NPV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outf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= ?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PV = &lt;out&gt;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FV = inflows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N=4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% =MIRR= ?%</a:t>
            </a:r>
            <a:endParaRPr lang="en-US" altLang="en-US" sz="2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615584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Why use MIRR versus IRR?</a:t>
            </a:r>
          </a:p>
        </p:txBody>
      </p:sp>
      <p:sp>
        <p:nvSpPr>
          <p:cNvPr id="52228" name="Rectangle 9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61060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MIRR correctly assumes reinvestment @ opportunity cost = WACC.  </a:t>
            </a:r>
          </a:p>
          <a:p>
            <a:pPr eaLnBrk="1" hangingPunct="1"/>
            <a:r>
              <a:rPr lang="en-US" altLang="en-US" dirty="0"/>
              <a:t>MIRR also avoids problem of multiple IRRs.</a:t>
            </a:r>
          </a:p>
          <a:p>
            <a:pPr eaLnBrk="1" hangingPunct="1"/>
            <a:r>
              <a:rPr lang="en-US" altLang="en-US" dirty="0"/>
              <a:t>Managers like rate of return comparisons,</a:t>
            </a:r>
          </a:p>
          <a:p>
            <a:pPr lvl="1"/>
            <a:r>
              <a:rPr lang="en-US" altLang="en-US" dirty="0"/>
              <a:t> &amp; MIRR is better for this than IRR.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A043A4-5A5D-4903-A9E0-67446A469A8C}" type="slidenum">
              <a:rPr lang="en-US" altLang="en-US">
                <a:latin typeface="Tahoma" panose="020B0604030504040204" pitchFamily="34" charset="0"/>
              </a:rPr>
              <a:pPr eaLnBrk="1" hangingPunct="1"/>
              <a:t>60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Profitability Index</a:t>
            </a:r>
          </a:p>
        </p:txBody>
      </p:sp>
      <p:sp>
        <p:nvSpPr>
          <p:cNvPr id="53252" name="Rectangle 5"/>
          <p:cNvSpPr>
            <a:spLocks noGrp="1" noChangeArrowheads="1"/>
          </p:cNvSpPr>
          <p:nvPr>
            <p:ph idx="1"/>
          </p:nvPr>
        </p:nvSpPr>
        <p:spPr>
          <a:xfrm>
            <a:off x="628650" y="1676406"/>
            <a:ext cx="8210550" cy="450055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PI is present value of future CFs divided by initial cost (for normal CF projects).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It measures “bang for buck.”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PV of Benefits / PV of Costs    or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PV of Inflows / PV of Outflows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P.I.  &gt;  1.0  :: Accept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CD7062-E3A3-4040-888E-F3AAE9766CBA}" type="slidenum">
              <a:rPr lang="en-US" altLang="en-US">
                <a:latin typeface="Tahoma" panose="020B0604030504040204" pitchFamily="34" charset="0"/>
              </a:rPr>
              <a:pPr eaLnBrk="1" hangingPunct="1"/>
              <a:t>61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7941" cy="103209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400" dirty="0"/>
              <a:t>Expected Net CFs &amp; Profitability Index </a:t>
            </a:r>
            <a:endParaRPr lang="en-US" altLang="en-US" dirty="0"/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  <a:p>
            <a:endParaRPr lang="en-US" altLang="en-US" dirty="0"/>
          </a:p>
          <a:p>
            <a:r>
              <a:rPr lang="en-US" altLang="en-US" i="1" dirty="0" err="1"/>
              <a:t>i</a:t>
            </a:r>
            <a:r>
              <a:rPr lang="en-US" altLang="en-US" dirty="0"/>
              <a:t> = 10%</a:t>
            </a:r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&lt;$100&gt;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70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50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62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3853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Firm L’s PV of Future CFs</a:t>
            </a: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D4611E-41F0-4E52-A998-70F2A8215E49}" type="slidenum">
              <a:rPr lang="en-US" altLang="en-US">
                <a:latin typeface="Tahoma" panose="020B0604030504040204" pitchFamily="34" charset="0"/>
              </a:rPr>
              <a:pPr eaLnBrk="1" hangingPunct="1"/>
              <a:t>63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54276" name="Group 32"/>
          <p:cNvGrpSpPr>
            <a:grpSpLocks/>
          </p:cNvGrpSpPr>
          <p:nvPr/>
        </p:nvGrpSpPr>
        <p:grpSpPr bwMode="auto">
          <a:xfrm>
            <a:off x="685800" y="2362200"/>
            <a:ext cx="7740650" cy="4265613"/>
            <a:chOff x="432" y="1488"/>
            <a:chExt cx="4876" cy="2687"/>
          </a:xfrm>
        </p:grpSpPr>
        <p:sp>
          <p:nvSpPr>
            <p:cNvPr id="54279" name="Rectangle 6"/>
            <p:cNvSpPr>
              <a:spLocks noChangeArrowheads="1"/>
            </p:cNvSpPr>
            <p:nvPr/>
          </p:nvSpPr>
          <p:spPr bwMode="auto">
            <a:xfrm>
              <a:off x="2470" y="2420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54280" name="Rectangle 7"/>
            <p:cNvSpPr>
              <a:spLocks noChangeArrowheads="1"/>
            </p:cNvSpPr>
            <p:nvPr/>
          </p:nvSpPr>
          <p:spPr bwMode="auto">
            <a:xfrm>
              <a:off x="4950" y="2420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80</a:t>
              </a:r>
            </a:p>
          </p:txBody>
        </p:sp>
        <p:grpSp>
          <p:nvGrpSpPr>
            <p:cNvPr id="54281" name="Group 8"/>
            <p:cNvGrpSpPr>
              <a:grpSpLocks/>
            </p:cNvGrpSpPr>
            <p:nvPr/>
          </p:nvGrpSpPr>
          <p:grpSpPr bwMode="auto">
            <a:xfrm>
              <a:off x="1420" y="2010"/>
              <a:ext cx="3764" cy="393"/>
              <a:chOff x="1442" y="1715"/>
              <a:chExt cx="3764" cy="393"/>
            </a:xfrm>
          </p:grpSpPr>
          <p:sp>
            <p:nvSpPr>
              <p:cNvPr id="54299" name="Line 9"/>
              <p:cNvSpPr>
                <a:spLocks noChangeShapeType="1"/>
              </p:cNvSpPr>
              <p:nvPr/>
            </p:nvSpPr>
            <p:spPr bwMode="auto">
              <a:xfrm>
                <a:off x="1442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0" name="Line 10"/>
              <p:cNvSpPr>
                <a:spLocks noChangeShapeType="1"/>
              </p:cNvSpPr>
              <p:nvPr/>
            </p:nvSpPr>
            <p:spPr bwMode="auto">
              <a:xfrm>
                <a:off x="2726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1" name="Line 11"/>
              <p:cNvSpPr>
                <a:spLocks noChangeShapeType="1"/>
              </p:cNvSpPr>
              <p:nvPr/>
            </p:nvSpPr>
            <p:spPr bwMode="auto">
              <a:xfrm>
                <a:off x="3877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2" name="Line 12"/>
              <p:cNvSpPr>
                <a:spLocks noChangeShapeType="1"/>
              </p:cNvSpPr>
              <p:nvPr/>
            </p:nvSpPr>
            <p:spPr bwMode="auto">
              <a:xfrm>
                <a:off x="5206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3" name="Line 13"/>
              <p:cNvSpPr>
                <a:spLocks noChangeShapeType="1"/>
              </p:cNvSpPr>
              <p:nvPr/>
            </p:nvSpPr>
            <p:spPr bwMode="auto">
              <a:xfrm>
                <a:off x="1450" y="1912"/>
                <a:ext cx="3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282" name="Rectangle 14"/>
            <p:cNvSpPr>
              <a:spLocks noChangeArrowheads="1"/>
            </p:cNvSpPr>
            <p:nvPr/>
          </p:nvSpPr>
          <p:spPr bwMode="auto">
            <a:xfrm>
              <a:off x="3621" y="2420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54283" name="Rectangle 15"/>
            <p:cNvSpPr>
              <a:spLocks noChangeArrowheads="1"/>
            </p:cNvSpPr>
            <p:nvPr/>
          </p:nvSpPr>
          <p:spPr bwMode="auto">
            <a:xfrm>
              <a:off x="1297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54284" name="Rectangle 16"/>
            <p:cNvSpPr>
              <a:spLocks noChangeArrowheads="1"/>
            </p:cNvSpPr>
            <p:nvPr/>
          </p:nvSpPr>
          <p:spPr bwMode="auto">
            <a:xfrm>
              <a:off x="2581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54285" name="Rectangle 17"/>
            <p:cNvSpPr>
              <a:spLocks noChangeArrowheads="1"/>
            </p:cNvSpPr>
            <p:nvPr/>
          </p:nvSpPr>
          <p:spPr bwMode="auto">
            <a:xfrm>
              <a:off x="3732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54286" name="Rectangle 18"/>
            <p:cNvSpPr>
              <a:spLocks noChangeArrowheads="1"/>
            </p:cNvSpPr>
            <p:nvPr/>
          </p:nvSpPr>
          <p:spPr bwMode="auto">
            <a:xfrm>
              <a:off x="5061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54287" name="Rectangle 19"/>
            <p:cNvSpPr>
              <a:spLocks noChangeArrowheads="1"/>
            </p:cNvSpPr>
            <p:nvPr/>
          </p:nvSpPr>
          <p:spPr bwMode="auto">
            <a:xfrm>
              <a:off x="1761" y="1923"/>
              <a:ext cx="57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54288" name="Rectangle 20"/>
            <p:cNvSpPr>
              <a:spLocks noChangeArrowheads="1"/>
            </p:cNvSpPr>
            <p:nvPr/>
          </p:nvSpPr>
          <p:spPr bwMode="auto">
            <a:xfrm>
              <a:off x="432" y="1488"/>
              <a:ext cx="105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Project L:</a:t>
              </a:r>
            </a:p>
          </p:txBody>
        </p:sp>
        <p:sp>
          <p:nvSpPr>
            <p:cNvPr id="54289" name="Line 21"/>
            <p:cNvSpPr>
              <a:spLocks noChangeShapeType="1"/>
            </p:cNvSpPr>
            <p:nvPr/>
          </p:nvSpPr>
          <p:spPr bwMode="auto">
            <a:xfrm>
              <a:off x="5210" y="2751"/>
              <a:ext cx="0" cy="9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0" name="Line 22"/>
            <p:cNvSpPr>
              <a:spLocks noChangeShapeType="1"/>
            </p:cNvSpPr>
            <p:nvPr/>
          </p:nvSpPr>
          <p:spPr bwMode="auto">
            <a:xfrm flipH="1">
              <a:off x="1920" y="3415"/>
              <a:ext cx="19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1" name="Line 23"/>
            <p:cNvSpPr>
              <a:spLocks noChangeShapeType="1"/>
            </p:cNvSpPr>
            <p:nvPr/>
          </p:nvSpPr>
          <p:spPr bwMode="auto">
            <a:xfrm flipH="1">
              <a:off x="1920" y="3696"/>
              <a:ext cx="32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2" name="Line 24"/>
            <p:cNvSpPr>
              <a:spLocks noChangeShapeType="1"/>
            </p:cNvSpPr>
            <p:nvPr/>
          </p:nvSpPr>
          <p:spPr bwMode="auto">
            <a:xfrm flipH="1">
              <a:off x="1920" y="3031"/>
              <a:ext cx="7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Rectangle 25"/>
            <p:cNvSpPr>
              <a:spLocks noChangeArrowheads="1"/>
            </p:cNvSpPr>
            <p:nvPr/>
          </p:nvSpPr>
          <p:spPr bwMode="auto">
            <a:xfrm>
              <a:off x="1175" y="2884"/>
              <a:ext cx="782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PV=?</a:t>
              </a:r>
            </a:p>
          </p:txBody>
        </p:sp>
        <p:sp>
          <p:nvSpPr>
            <p:cNvPr id="54294" name="Rectangle 26"/>
            <p:cNvSpPr>
              <a:spLocks noChangeArrowheads="1"/>
            </p:cNvSpPr>
            <p:nvPr/>
          </p:nvSpPr>
          <p:spPr bwMode="auto">
            <a:xfrm>
              <a:off x="1175" y="3233"/>
              <a:ext cx="64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PV=?</a:t>
              </a:r>
            </a:p>
          </p:txBody>
        </p:sp>
        <p:sp>
          <p:nvSpPr>
            <p:cNvPr id="54295" name="Rectangle 27"/>
            <p:cNvSpPr>
              <a:spLocks noChangeArrowheads="1"/>
            </p:cNvSpPr>
            <p:nvPr/>
          </p:nvSpPr>
          <p:spPr bwMode="auto">
            <a:xfrm>
              <a:off x="1175" y="3569"/>
              <a:ext cx="64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PV=?</a:t>
              </a:r>
            </a:p>
          </p:txBody>
        </p:sp>
        <p:sp>
          <p:nvSpPr>
            <p:cNvPr id="54296" name="Rectangle 28"/>
            <p:cNvSpPr>
              <a:spLocks noChangeArrowheads="1"/>
            </p:cNvSpPr>
            <p:nvPr/>
          </p:nvSpPr>
          <p:spPr bwMode="auto">
            <a:xfrm>
              <a:off x="1034" y="3847"/>
              <a:ext cx="164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?= </a:t>
              </a:r>
              <a:r>
                <a:rPr lang="en-US" altLang="en-US" sz="2800" dirty="0" err="1">
                  <a:latin typeface="Tahoma" panose="020B0604030504040204" pitchFamily="34" charset="0"/>
                </a:rPr>
                <a:t>NPV</a:t>
              </a:r>
              <a:r>
                <a:rPr lang="en-US" altLang="en-US" sz="1400" dirty="0" err="1">
                  <a:latin typeface="Tahoma" panose="020B0604030504040204" pitchFamily="34" charset="0"/>
                </a:rPr>
                <a:t>infl</a:t>
              </a:r>
              <a:endParaRPr lang="en-US" altLang="en-US" sz="1400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54297" name="Line 29"/>
            <p:cNvSpPr>
              <a:spLocks noChangeShapeType="1"/>
            </p:cNvSpPr>
            <p:nvPr/>
          </p:nvSpPr>
          <p:spPr bwMode="auto">
            <a:xfrm>
              <a:off x="3866" y="2751"/>
              <a:ext cx="0" cy="6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8" name="Line 30"/>
            <p:cNvSpPr>
              <a:spLocks noChangeShapeType="1"/>
            </p:cNvSpPr>
            <p:nvPr/>
          </p:nvSpPr>
          <p:spPr bwMode="auto">
            <a:xfrm>
              <a:off x="2678" y="2751"/>
              <a:ext cx="0" cy="2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54277" name="Straight Connector 31"/>
          <p:cNvCxnSpPr>
            <a:cxnSpLocks noChangeShapeType="1"/>
          </p:cNvCxnSpPr>
          <p:nvPr/>
        </p:nvCxnSpPr>
        <p:spPr bwMode="auto">
          <a:xfrm>
            <a:off x="1728788" y="6561138"/>
            <a:ext cx="1096962" cy="1587"/>
          </a:xfrm>
          <a:prstGeom prst="line">
            <a:avLst/>
          </a:prstGeom>
          <a:noFill/>
          <a:ln w="762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78" name="Straight Connector 32"/>
          <p:cNvCxnSpPr>
            <a:cxnSpLocks noChangeShapeType="1"/>
          </p:cNvCxnSpPr>
          <p:nvPr/>
        </p:nvCxnSpPr>
        <p:spPr bwMode="auto">
          <a:xfrm>
            <a:off x="1728788" y="6100763"/>
            <a:ext cx="1096962" cy="1587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Firm L’s PV of Future CFs</a:t>
            </a: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D4611E-41F0-4E52-A998-70F2A8215E49}" type="slidenum">
              <a:rPr lang="en-US" altLang="en-US">
                <a:latin typeface="Tahoma" panose="020B0604030504040204" pitchFamily="34" charset="0"/>
              </a:rPr>
              <a:pPr eaLnBrk="1" hangingPunct="1"/>
              <a:t>64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54276" name="Group 32"/>
          <p:cNvGrpSpPr>
            <a:grpSpLocks/>
          </p:cNvGrpSpPr>
          <p:nvPr/>
        </p:nvGrpSpPr>
        <p:grpSpPr bwMode="auto">
          <a:xfrm>
            <a:off x="685800" y="2362200"/>
            <a:ext cx="7740650" cy="4265613"/>
            <a:chOff x="432" y="1488"/>
            <a:chExt cx="4876" cy="2687"/>
          </a:xfrm>
        </p:grpSpPr>
        <p:sp>
          <p:nvSpPr>
            <p:cNvPr id="54279" name="Rectangle 6"/>
            <p:cNvSpPr>
              <a:spLocks noChangeArrowheads="1"/>
            </p:cNvSpPr>
            <p:nvPr/>
          </p:nvSpPr>
          <p:spPr bwMode="auto">
            <a:xfrm>
              <a:off x="2470" y="2420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54280" name="Rectangle 7"/>
            <p:cNvSpPr>
              <a:spLocks noChangeArrowheads="1"/>
            </p:cNvSpPr>
            <p:nvPr/>
          </p:nvSpPr>
          <p:spPr bwMode="auto">
            <a:xfrm>
              <a:off x="4950" y="2420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80</a:t>
              </a:r>
            </a:p>
          </p:txBody>
        </p:sp>
        <p:grpSp>
          <p:nvGrpSpPr>
            <p:cNvPr id="54281" name="Group 8"/>
            <p:cNvGrpSpPr>
              <a:grpSpLocks/>
            </p:cNvGrpSpPr>
            <p:nvPr/>
          </p:nvGrpSpPr>
          <p:grpSpPr bwMode="auto">
            <a:xfrm>
              <a:off x="1420" y="2010"/>
              <a:ext cx="3764" cy="393"/>
              <a:chOff x="1442" y="1715"/>
              <a:chExt cx="3764" cy="393"/>
            </a:xfrm>
          </p:grpSpPr>
          <p:sp>
            <p:nvSpPr>
              <p:cNvPr id="54299" name="Line 9"/>
              <p:cNvSpPr>
                <a:spLocks noChangeShapeType="1"/>
              </p:cNvSpPr>
              <p:nvPr/>
            </p:nvSpPr>
            <p:spPr bwMode="auto">
              <a:xfrm>
                <a:off x="1442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0" name="Line 10"/>
              <p:cNvSpPr>
                <a:spLocks noChangeShapeType="1"/>
              </p:cNvSpPr>
              <p:nvPr/>
            </p:nvSpPr>
            <p:spPr bwMode="auto">
              <a:xfrm>
                <a:off x="2726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1" name="Line 11"/>
              <p:cNvSpPr>
                <a:spLocks noChangeShapeType="1"/>
              </p:cNvSpPr>
              <p:nvPr/>
            </p:nvSpPr>
            <p:spPr bwMode="auto">
              <a:xfrm>
                <a:off x="3877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2" name="Line 12"/>
              <p:cNvSpPr>
                <a:spLocks noChangeShapeType="1"/>
              </p:cNvSpPr>
              <p:nvPr/>
            </p:nvSpPr>
            <p:spPr bwMode="auto">
              <a:xfrm>
                <a:off x="5206" y="1715"/>
                <a:ext cx="0" cy="3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3" name="Line 13"/>
              <p:cNvSpPr>
                <a:spLocks noChangeShapeType="1"/>
              </p:cNvSpPr>
              <p:nvPr/>
            </p:nvSpPr>
            <p:spPr bwMode="auto">
              <a:xfrm>
                <a:off x="1450" y="1912"/>
                <a:ext cx="3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282" name="Rectangle 14"/>
            <p:cNvSpPr>
              <a:spLocks noChangeArrowheads="1"/>
            </p:cNvSpPr>
            <p:nvPr/>
          </p:nvSpPr>
          <p:spPr bwMode="auto">
            <a:xfrm>
              <a:off x="3621" y="2420"/>
              <a:ext cx="35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54283" name="Rectangle 15"/>
            <p:cNvSpPr>
              <a:spLocks noChangeArrowheads="1"/>
            </p:cNvSpPr>
            <p:nvPr/>
          </p:nvSpPr>
          <p:spPr bwMode="auto">
            <a:xfrm>
              <a:off x="1297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54284" name="Rectangle 16"/>
            <p:cNvSpPr>
              <a:spLocks noChangeArrowheads="1"/>
            </p:cNvSpPr>
            <p:nvPr/>
          </p:nvSpPr>
          <p:spPr bwMode="auto">
            <a:xfrm>
              <a:off x="2581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54285" name="Rectangle 17"/>
            <p:cNvSpPr>
              <a:spLocks noChangeArrowheads="1"/>
            </p:cNvSpPr>
            <p:nvPr/>
          </p:nvSpPr>
          <p:spPr bwMode="auto">
            <a:xfrm>
              <a:off x="3732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54286" name="Rectangle 18"/>
            <p:cNvSpPr>
              <a:spLocks noChangeArrowheads="1"/>
            </p:cNvSpPr>
            <p:nvPr/>
          </p:nvSpPr>
          <p:spPr bwMode="auto">
            <a:xfrm>
              <a:off x="5061" y="1717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54287" name="Rectangle 19"/>
            <p:cNvSpPr>
              <a:spLocks noChangeArrowheads="1"/>
            </p:cNvSpPr>
            <p:nvPr/>
          </p:nvSpPr>
          <p:spPr bwMode="auto">
            <a:xfrm>
              <a:off x="1761" y="1923"/>
              <a:ext cx="57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54288" name="Rectangle 20"/>
            <p:cNvSpPr>
              <a:spLocks noChangeArrowheads="1"/>
            </p:cNvSpPr>
            <p:nvPr/>
          </p:nvSpPr>
          <p:spPr bwMode="auto">
            <a:xfrm>
              <a:off x="432" y="1488"/>
              <a:ext cx="105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Project L:</a:t>
              </a:r>
            </a:p>
          </p:txBody>
        </p:sp>
        <p:sp>
          <p:nvSpPr>
            <p:cNvPr id="54289" name="Line 21"/>
            <p:cNvSpPr>
              <a:spLocks noChangeShapeType="1"/>
            </p:cNvSpPr>
            <p:nvPr/>
          </p:nvSpPr>
          <p:spPr bwMode="auto">
            <a:xfrm>
              <a:off x="5210" y="2751"/>
              <a:ext cx="0" cy="9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0" name="Line 22"/>
            <p:cNvSpPr>
              <a:spLocks noChangeShapeType="1"/>
            </p:cNvSpPr>
            <p:nvPr/>
          </p:nvSpPr>
          <p:spPr bwMode="auto">
            <a:xfrm flipH="1">
              <a:off x="1920" y="3415"/>
              <a:ext cx="19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1" name="Line 23"/>
            <p:cNvSpPr>
              <a:spLocks noChangeShapeType="1"/>
            </p:cNvSpPr>
            <p:nvPr/>
          </p:nvSpPr>
          <p:spPr bwMode="auto">
            <a:xfrm flipH="1">
              <a:off x="1920" y="3696"/>
              <a:ext cx="32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2" name="Line 24"/>
            <p:cNvSpPr>
              <a:spLocks noChangeShapeType="1"/>
            </p:cNvSpPr>
            <p:nvPr/>
          </p:nvSpPr>
          <p:spPr bwMode="auto">
            <a:xfrm flipH="1">
              <a:off x="1920" y="3031"/>
              <a:ext cx="7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Rectangle 25"/>
            <p:cNvSpPr>
              <a:spLocks noChangeArrowheads="1"/>
            </p:cNvSpPr>
            <p:nvPr/>
          </p:nvSpPr>
          <p:spPr bwMode="auto">
            <a:xfrm>
              <a:off x="1311" y="2897"/>
              <a:ext cx="54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9.09</a:t>
              </a:r>
            </a:p>
          </p:txBody>
        </p:sp>
        <p:sp>
          <p:nvSpPr>
            <p:cNvPr id="54294" name="Rectangle 26"/>
            <p:cNvSpPr>
              <a:spLocks noChangeArrowheads="1"/>
            </p:cNvSpPr>
            <p:nvPr/>
          </p:nvSpPr>
          <p:spPr bwMode="auto">
            <a:xfrm>
              <a:off x="1175" y="3233"/>
              <a:ext cx="67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49.59</a:t>
              </a:r>
            </a:p>
          </p:txBody>
        </p:sp>
        <p:sp>
          <p:nvSpPr>
            <p:cNvPr id="54295" name="Rectangle 27"/>
            <p:cNvSpPr>
              <a:spLocks noChangeArrowheads="1"/>
            </p:cNvSpPr>
            <p:nvPr/>
          </p:nvSpPr>
          <p:spPr bwMode="auto">
            <a:xfrm>
              <a:off x="1175" y="3569"/>
              <a:ext cx="677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60.11</a:t>
              </a:r>
            </a:p>
          </p:txBody>
        </p:sp>
        <p:sp>
          <p:nvSpPr>
            <p:cNvPr id="54296" name="Rectangle 28"/>
            <p:cNvSpPr>
              <a:spLocks noChangeArrowheads="1"/>
            </p:cNvSpPr>
            <p:nvPr/>
          </p:nvSpPr>
          <p:spPr bwMode="auto">
            <a:xfrm>
              <a:off x="1034" y="3847"/>
              <a:ext cx="164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latin typeface="Tahoma" panose="020B0604030504040204" pitchFamily="34" charset="0"/>
                </a:rPr>
                <a:t>118.79= </a:t>
              </a:r>
              <a:r>
                <a:rPr lang="en-US" altLang="en-US" sz="2800" dirty="0" err="1">
                  <a:latin typeface="Tahoma" panose="020B0604030504040204" pitchFamily="34" charset="0"/>
                </a:rPr>
                <a:t>NPV</a:t>
              </a:r>
              <a:r>
                <a:rPr lang="en-US" altLang="en-US" sz="1400" dirty="0" err="1">
                  <a:latin typeface="Tahoma" panose="020B0604030504040204" pitchFamily="34" charset="0"/>
                </a:rPr>
                <a:t>infl</a:t>
              </a:r>
              <a:endParaRPr lang="en-US" altLang="en-US" sz="1400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54297" name="Line 29"/>
            <p:cNvSpPr>
              <a:spLocks noChangeShapeType="1"/>
            </p:cNvSpPr>
            <p:nvPr/>
          </p:nvSpPr>
          <p:spPr bwMode="auto">
            <a:xfrm>
              <a:off x="3866" y="2751"/>
              <a:ext cx="0" cy="6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8" name="Line 30"/>
            <p:cNvSpPr>
              <a:spLocks noChangeShapeType="1"/>
            </p:cNvSpPr>
            <p:nvPr/>
          </p:nvSpPr>
          <p:spPr bwMode="auto">
            <a:xfrm>
              <a:off x="2678" y="2751"/>
              <a:ext cx="0" cy="2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54277" name="Straight Connector 31"/>
          <p:cNvCxnSpPr>
            <a:cxnSpLocks noChangeShapeType="1"/>
          </p:cNvCxnSpPr>
          <p:nvPr/>
        </p:nvCxnSpPr>
        <p:spPr bwMode="auto">
          <a:xfrm>
            <a:off x="1728788" y="6561138"/>
            <a:ext cx="1096962" cy="1587"/>
          </a:xfrm>
          <a:prstGeom prst="line">
            <a:avLst/>
          </a:prstGeom>
          <a:noFill/>
          <a:ln w="762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78" name="Straight Connector 32"/>
          <p:cNvCxnSpPr>
            <a:cxnSpLocks noChangeShapeType="1"/>
          </p:cNvCxnSpPr>
          <p:nvPr/>
        </p:nvCxnSpPr>
        <p:spPr bwMode="auto">
          <a:xfrm>
            <a:off x="1728788" y="6100763"/>
            <a:ext cx="1096962" cy="1587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7941" cy="103209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400" dirty="0"/>
              <a:t>Expected Net CFs &amp; Profitability Index </a:t>
            </a:r>
            <a:endParaRPr lang="en-US" altLang="en-US" dirty="0"/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Project L - Inflows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US" altLang="en-US" dirty="0"/>
              <a:t>0		      0 </a:t>
            </a:r>
          </a:p>
          <a:p>
            <a:r>
              <a:rPr lang="en-US" altLang="en-US" dirty="0"/>
              <a:t>1		      10</a:t>
            </a:r>
          </a:p>
          <a:p>
            <a:r>
              <a:rPr lang="en-US" altLang="en-US" dirty="0"/>
              <a:t>2		      60</a:t>
            </a:r>
          </a:p>
          <a:p>
            <a:r>
              <a:rPr lang="en-US" altLang="en-US" dirty="0"/>
              <a:t>3		      80</a:t>
            </a:r>
          </a:p>
          <a:p>
            <a:endParaRPr lang="en-US" altLang="en-US" dirty="0"/>
          </a:p>
          <a:p>
            <a:r>
              <a:rPr lang="en-US" altLang="en-US" i="1" dirty="0" err="1"/>
              <a:t>i</a:t>
            </a:r>
            <a:r>
              <a:rPr lang="en-US" altLang="en-US" dirty="0"/>
              <a:t> = 10%</a:t>
            </a:r>
          </a:p>
          <a:p>
            <a:r>
              <a:rPr lang="en-US" altLang="en-US" sz="3200" dirty="0">
                <a:latin typeface="Tahoma" panose="020B0604030504040204" pitchFamily="34" charset="0"/>
              </a:rPr>
              <a:t>$118.79= </a:t>
            </a:r>
            <a:r>
              <a:rPr lang="en-US" altLang="en-US" sz="3200" dirty="0" err="1">
                <a:latin typeface="Tahoma" panose="020B0604030504040204" pitchFamily="34" charset="0"/>
              </a:rPr>
              <a:t>NPV</a:t>
            </a:r>
            <a:r>
              <a:rPr lang="en-US" altLang="en-US" sz="1600" dirty="0" err="1">
                <a:latin typeface="Tahoma" panose="020B0604030504040204" pitchFamily="34" charset="0"/>
              </a:rPr>
              <a:t>infl</a:t>
            </a:r>
            <a:endParaRPr lang="en-US" altLang="en-US" sz="1600" baseline="-25000" dirty="0">
              <a:latin typeface="Tahoma" panose="020B0604030504040204" pitchFamily="34" charset="0"/>
            </a:endParaRPr>
          </a:p>
          <a:p>
            <a:r>
              <a:rPr lang="en-US" altLang="en-US" dirty="0"/>
              <a:t> </a:t>
            </a:r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82649"/>
          </a:xfrm>
        </p:spPr>
        <p:txBody>
          <a:bodyPr/>
          <a:lstStyle/>
          <a:p>
            <a:r>
              <a:rPr lang="en-US" altLang="en-US" dirty="0"/>
              <a:t>	</a:t>
            </a:r>
            <a:r>
              <a:rPr lang="en-US" altLang="en-US" sz="2400" u="sng" dirty="0"/>
              <a:t> Project L - Outflows 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194175" cy="3792538"/>
          </a:xfrm>
        </p:spPr>
        <p:txBody>
          <a:bodyPr>
            <a:normAutofit fontScale="85000" lnSpcReduction="20000"/>
          </a:bodyPr>
          <a:lstStyle/>
          <a:p>
            <a:pPr lvl="4">
              <a:lnSpc>
                <a:spcPct val="100000"/>
              </a:lnSpc>
            </a:pPr>
            <a:r>
              <a:rPr lang="en-US" altLang="en-US" sz="3200" dirty="0"/>
              <a:t>$100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  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</a:t>
            </a:r>
          </a:p>
          <a:p>
            <a:pPr lvl="4">
              <a:lnSpc>
                <a:spcPct val="100000"/>
              </a:lnSpc>
            </a:pPr>
            <a:r>
              <a:rPr lang="en-US" altLang="en-US" sz="3200" dirty="0"/>
              <a:t>    </a:t>
            </a:r>
          </a:p>
          <a:p>
            <a:pPr lvl="4">
              <a:lnSpc>
                <a:spcPct val="100000"/>
              </a:lnSpc>
            </a:pPr>
            <a:endParaRPr lang="en-US" altLang="en-US" sz="3200" dirty="0"/>
          </a:p>
          <a:p>
            <a:pPr lvl="4">
              <a:lnSpc>
                <a:spcPct val="100000"/>
              </a:lnSpc>
            </a:pPr>
            <a:endParaRPr lang="en-US" altLang="en-US" sz="3200" dirty="0"/>
          </a:p>
          <a:p>
            <a:pPr marL="1371600" lvl="4" indent="0">
              <a:lnSpc>
                <a:spcPct val="100000"/>
              </a:lnSpc>
              <a:buNone/>
            </a:pPr>
            <a:endParaRPr lang="en-US" altLang="en-US" sz="3200" dirty="0">
              <a:latin typeface="Tahoma" panose="020B0604030504040204" pitchFamily="34" charset="0"/>
            </a:endParaRPr>
          </a:p>
          <a:p>
            <a:pPr marL="1371600" lvl="4" indent="0">
              <a:lnSpc>
                <a:spcPct val="100000"/>
              </a:lnSpc>
              <a:buNone/>
            </a:pPr>
            <a:r>
              <a:rPr lang="en-US" altLang="en-US" sz="3200" dirty="0">
                <a:latin typeface="Tahoma" panose="020B0604030504040204" pitchFamily="34" charset="0"/>
              </a:rPr>
              <a:t>100= </a:t>
            </a:r>
            <a:r>
              <a:rPr lang="en-US" altLang="en-US" sz="3200" dirty="0" err="1">
                <a:latin typeface="Tahoma" panose="020B0604030504040204" pitchFamily="34" charset="0"/>
              </a:rPr>
              <a:t>NPV</a:t>
            </a:r>
            <a:r>
              <a:rPr lang="en-US" altLang="en-US" sz="1600" dirty="0" err="1">
                <a:latin typeface="Tahoma" panose="020B0604030504040204" pitchFamily="34" charset="0"/>
              </a:rPr>
              <a:t>out</a:t>
            </a:r>
            <a:endParaRPr lang="en-US" altLang="en-US" sz="1600" baseline="-25000" dirty="0">
              <a:latin typeface="Tahoma" panose="020B0604030504040204" pitchFamily="34" charset="0"/>
            </a:endParaRPr>
          </a:p>
          <a:p>
            <a:pPr marL="1371600" lvl="4" indent="0">
              <a:lnSpc>
                <a:spcPct val="100000"/>
              </a:lnSpc>
              <a:buNone/>
            </a:pPr>
            <a:r>
              <a:rPr lang="en-US" altLang="en-US" sz="3200" dirty="0"/>
              <a:t>absolute terms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65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3803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Firm L’s Profitability Index</a:t>
            </a:r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B95E4-8E18-497E-B311-75A4763AD89D}" type="slidenum">
              <a:rPr lang="en-US" altLang="en-US">
                <a:latin typeface="Tahoma" panose="020B0604030504040204" pitchFamily="34" charset="0"/>
              </a:rPr>
              <a:pPr eaLnBrk="1" hangingPunct="1"/>
              <a:t>66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55300" name="Group 13"/>
          <p:cNvGrpSpPr>
            <a:grpSpLocks/>
          </p:cNvGrpSpPr>
          <p:nvPr/>
        </p:nvGrpSpPr>
        <p:grpSpPr bwMode="auto">
          <a:xfrm>
            <a:off x="1828800" y="2667000"/>
            <a:ext cx="5867400" cy="3338513"/>
            <a:chOff x="1152" y="1680"/>
            <a:chExt cx="3696" cy="2103"/>
          </a:xfrm>
        </p:grpSpPr>
        <p:sp>
          <p:nvSpPr>
            <p:cNvPr id="55301" name="Text Box 3"/>
            <p:cNvSpPr txBox="1">
              <a:spLocks noChangeArrowheads="1"/>
            </p:cNvSpPr>
            <p:nvPr/>
          </p:nvSpPr>
          <p:spPr bwMode="auto">
            <a:xfrm>
              <a:off x="1152" y="1824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PI</a:t>
              </a:r>
              <a:r>
                <a:rPr lang="en-US" altLang="en-US" sz="2800" baseline="-25000">
                  <a:latin typeface="Tahoma" panose="020B0604030504040204" pitchFamily="34" charset="0"/>
                </a:rPr>
                <a:t>L</a:t>
              </a:r>
              <a:r>
                <a:rPr lang="en-US" altLang="en-US" sz="2800">
                  <a:latin typeface="Tahoma" panose="020B0604030504040204" pitchFamily="34" charset="0"/>
                </a:rPr>
                <a:t> =</a:t>
              </a:r>
            </a:p>
          </p:txBody>
        </p:sp>
        <p:sp>
          <p:nvSpPr>
            <p:cNvPr id="55302" name="Text Box 4"/>
            <p:cNvSpPr txBox="1">
              <a:spLocks noChangeArrowheads="1"/>
            </p:cNvSpPr>
            <p:nvPr/>
          </p:nvSpPr>
          <p:spPr bwMode="auto">
            <a:xfrm>
              <a:off x="1824" y="1680"/>
              <a:ext cx="15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PV future CF</a:t>
              </a:r>
            </a:p>
          </p:txBody>
        </p:sp>
        <p:sp>
          <p:nvSpPr>
            <p:cNvPr id="55303" name="Text Box 5"/>
            <p:cNvSpPr txBox="1">
              <a:spLocks noChangeArrowheads="1"/>
            </p:cNvSpPr>
            <p:nvPr/>
          </p:nvSpPr>
          <p:spPr bwMode="auto">
            <a:xfrm>
              <a:off x="1920" y="2064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Initial cost</a:t>
              </a:r>
            </a:p>
          </p:txBody>
        </p:sp>
        <p:sp>
          <p:nvSpPr>
            <p:cNvPr id="55304" name="Text Box 6"/>
            <p:cNvSpPr txBox="1">
              <a:spLocks noChangeArrowheads="1"/>
            </p:cNvSpPr>
            <p:nvPr/>
          </p:nvSpPr>
          <p:spPr bwMode="auto">
            <a:xfrm>
              <a:off x="3696" y="1680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$118.79</a:t>
              </a:r>
            </a:p>
          </p:txBody>
        </p:sp>
        <p:sp>
          <p:nvSpPr>
            <p:cNvPr id="55305" name="Line 7"/>
            <p:cNvSpPr>
              <a:spLocks noChangeShapeType="1"/>
            </p:cNvSpPr>
            <p:nvPr/>
          </p:nvSpPr>
          <p:spPr bwMode="auto">
            <a:xfrm>
              <a:off x="1872" y="2016"/>
              <a:ext cx="1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06" name="Text Box 8"/>
            <p:cNvSpPr txBox="1">
              <a:spLocks noChangeArrowheads="1"/>
            </p:cNvSpPr>
            <p:nvPr/>
          </p:nvSpPr>
          <p:spPr bwMode="auto">
            <a:xfrm>
              <a:off x="3408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=</a:t>
              </a:r>
            </a:p>
          </p:txBody>
        </p:sp>
        <p:sp>
          <p:nvSpPr>
            <p:cNvPr id="55307" name="Line 9"/>
            <p:cNvSpPr>
              <a:spLocks noChangeShapeType="1"/>
            </p:cNvSpPr>
            <p:nvPr/>
          </p:nvSpPr>
          <p:spPr bwMode="auto">
            <a:xfrm>
              <a:off x="3792" y="2016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08" name="Text Box 10"/>
            <p:cNvSpPr txBox="1">
              <a:spLocks noChangeArrowheads="1"/>
            </p:cNvSpPr>
            <p:nvPr/>
          </p:nvSpPr>
          <p:spPr bwMode="auto">
            <a:xfrm>
              <a:off x="1152" y="2832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 dirty="0">
                  <a:latin typeface="Tahoma" panose="020B0604030504040204" pitchFamily="34" charset="0"/>
                </a:rPr>
                <a:t>PI</a:t>
              </a:r>
              <a:r>
                <a:rPr lang="en-US" altLang="en-US" sz="2800" baseline="-25000" dirty="0">
                  <a:latin typeface="Tahoma" panose="020B0604030504040204" pitchFamily="34" charset="0"/>
                </a:rPr>
                <a:t>L</a:t>
              </a:r>
              <a:r>
                <a:rPr lang="en-US" altLang="en-US" sz="2800" dirty="0">
                  <a:latin typeface="Tahoma" panose="020B0604030504040204" pitchFamily="34" charset="0"/>
                </a:rPr>
                <a:t> = 1.1879</a:t>
              </a:r>
            </a:p>
          </p:txBody>
        </p:sp>
        <p:sp>
          <p:nvSpPr>
            <p:cNvPr id="55309" name="Text Box 11"/>
            <p:cNvSpPr txBox="1">
              <a:spLocks noChangeArrowheads="1"/>
            </p:cNvSpPr>
            <p:nvPr/>
          </p:nvSpPr>
          <p:spPr bwMode="auto">
            <a:xfrm>
              <a:off x="3888" y="2064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$100</a:t>
              </a:r>
            </a:p>
          </p:txBody>
        </p:sp>
        <p:sp>
          <p:nvSpPr>
            <p:cNvPr id="55310" name="Text Box 12"/>
            <p:cNvSpPr txBox="1">
              <a:spLocks noChangeArrowheads="1"/>
            </p:cNvSpPr>
            <p:nvPr/>
          </p:nvSpPr>
          <p:spPr bwMode="auto">
            <a:xfrm>
              <a:off x="1200" y="3456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ahoma" panose="020B0604030504040204" pitchFamily="34" charset="0"/>
                </a:rPr>
                <a:t>PI</a:t>
              </a:r>
              <a:r>
                <a:rPr lang="en-US" altLang="en-US" sz="2800" baseline="-25000">
                  <a:latin typeface="Tahoma" panose="020B0604030504040204" pitchFamily="34" charset="0"/>
                </a:rPr>
                <a:t>S</a:t>
              </a:r>
              <a:r>
                <a:rPr lang="en-US" altLang="en-US" sz="2800">
                  <a:latin typeface="Tahoma" panose="020B0604030504040204" pitchFamily="34" charset="0"/>
                </a:rPr>
                <a:t> = 1.1998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Expected Net CFs &amp; </a:t>
            </a:r>
            <a:r>
              <a:rPr lang="en-US" altLang="en-US" sz="4000" dirty="0" err="1"/>
              <a:t>Profitabilty</a:t>
            </a:r>
            <a:r>
              <a:rPr lang="en-US" altLang="en-US" sz="4000" dirty="0"/>
              <a:t> Index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u="sng" dirty="0"/>
              <a:t>Project S </a:t>
            </a:r>
            <a:r>
              <a:rPr lang="en-US" altLang="en-US" sz="1800" u="sng" dirty="0"/>
              <a:t>new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/>
          <a:lstStyle/>
          <a:p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  70</a:t>
            </a:r>
          </a:p>
          <a:p>
            <a:r>
              <a:rPr lang="en-US" altLang="en-US" dirty="0"/>
              <a:t>2		      50</a:t>
            </a:r>
          </a:p>
          <a:p>
            <a:r>
              <a:rPr lang="en-US" altLang="en-US" dirty="0"/>
              <a:t>3		    &lt;20&gt;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% = 10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67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606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Expected Net CFs &amp; </a:t>
            </a:r>
            <a:r>
              <a:rPr lang="en-US" altLang="en-US" sz="4000" dirty="0" err="1"/>
              <a:t>Profitabilty</a:t>
            </a:r>
            <a:r>
              <a:rPr lang="en-US" altLang="en-US" sz="4000" dirty="0"/>
              <a:t> Index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 dirty="0"/>
              <a:t>Year</a:t>
            </a:r>
            <a:r>
              <a:rPr lang="en-US" altLang="en-US" dirty="0"/>
              <a:t>  		</a:t>
            </a:r>
            <a:r>
              <a:rPr lang="en-US" altLang="en-US" sz="2400" u="sng" dirty="0"/>
              <a:t>Inflows S new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37592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0		      0</a:t>
            </a:r>
          </a:p>
          <a:p>
            <a:r>
              <a:rPr lang="en-US" altLang="en-US" dirty="0"/>
              <a:t>1		      70</a:t>
            </a:r>
          </a:p>
          <a:p>
            <a:r>
              <a:rPr lang="en-US" altLang="en-US" dirty="0"/>
              <a:t>2		      50</a:t>
            </a:r>
          </a:p>
          <a:p>
            <a:r>
              <a:rPr lang="en-US" altLang="en-US" dirty="0"/>
              <a:t>3		      0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% = 10    </a:t>
            </a:r>
            <a:r>
              <a:rPr lang="en-US" altLang="en-US" dirty="0" err="1"/>
              <a:t>NPV</a:t>
            </a:r>
            <a:r>
              <a:rPr lang="en-US" alt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</a:t>
            </a:r>
            <a:r>
              <a:rPr lang="en-US" altLang="en-US" dirty="0"/>
              <a:t> =104.96</a:t>
            </a:r>
          </a:p>
          <a:p>
            <a:endParaRPr lang="en-US" altLang="en-US" dirty="0"/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831850"/>
          </a:xfrm>
        </p:spPr>
        <p:txBody>
          <a:bodyPr/>
          <a:lstStyle/>
          <a:p>
            <a:r>
              <a:rPr lang="en-US" altLang="en-US" dirty="0"/>
              <a:t>		</a:t>
            </a:r>
            <a:r>
              <a:rPr lang="en-US" altLang="en-US" sz="2400" u="sng" dirty="0"/>
              <a:t>Outflows S new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 fontScale="92500"/>
          </a:bodyPr>
          <a:lstStyle/>
          <a:p>
            <a:pPr lvl="4"/>
            <a:r>
              <a:rPr lang="en-US" altLang="en-US" sz="2400" dirty="0"/>
              <a:t>  </a:t>
            </a:r>
            <a:r>
              <a:rPr lang="en-US" altLang="en-US" sz="3200" dirty="0"/>
              <a:t>$100</a:t>
            </a:r>
          </a:p>
          <a:p>
            <a:pPr lvl="4"/>
            <a:r>
              <a:rPr lang="en-US" altLang="en-US" sz="3200" dirty="0"/>
              <a:t>     0</a:t>
            </a:r>
          </a:p>
          <a:p>
            <a:pPr lvl="4"/>
            <a:r>
              <a:rPr lang="en-US" altLang="en-US" sz="3200" dirty="0"/>
              <a:t>     0</a:t>
            </a:r>
          </a:p>
          <a:p>
            <a:pPr lvl="4"/>
            <a:r>
              <a:rPr lang="en-US" altLang="en-US" sz="3200" dirty="0"/>
              <a:t>     20</a:t>
            </a:r>
          </a:p>
          <a:p>
            <a:pPr lvl="4"/>
            <a:r>
              <a:rPr lang="en-US" altLang="en-US" sz="3200" dirty="0" err="1"/>
              <a:t>NPV</a:t>
            </a:r>
            <a:r>
              <a:rPr lang="en-US" altLang="en-US" sz="1100" dirty="0" err="1"/>
              <a:t>out</a:t>
            </a:r>
            <a:r>
              <a:rPr lang="en-US" altLang="en-US" sz="3200" dirty="0"/>
              <a:t>=115.03</a:t>
            </a:r>
          </a:p>
          <a:p>
            <a:pPr lvl="4"/>
            <a:endParaRPr lang="en-US" altLang="en-US" sz="2000" dirty="0"/>
          </a:p>
          <a:p>
            <a:pPr lvl="0">
              <a:buClr>
                <a:srgbClr val="3333CC"/>
              </a:buClr>
            </a:pPr>
            <a:r>
              <a:rPr lang="en-US" altLang="en-US" dirty="0">
                <a:solidFill>
                  <a:srgbClr val="000000"/>
                </a:solidFill>
              </a:rPr>
              <a:t>P. I. = 104.96 / 115.03 =</a:t>
            </a:r>
          </a:p>
          <a:p>
            <a:pPr lvl="1">
              <a:buClr>
                <a:srgbClr val="FF0000"/>
              </a:buClr>
            </a:pPr>
            <a:r>
              <a:rPr lang="en-US" altLang="en-US" dirty="0">
                <a:solidFill>
                  <a:srgbClr val="000000"/>
                </a:solidFill>
              </a:rPr>
              <a:t>.912 so reject</a:t>
            </a:r>
          </a:p>
          <a:p>
            <a:pPr lvl="4"/>
            <a:endParaRPr lang="en-US" altLang="en-US" sz="2000" dirty="0"/>
          </a:p>
          <a:p>
            <a:pPr lvl="4"/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68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938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Normal vs. Nonnormal CFs</a:t>
            </a:r>
          </a:p>
        </p:txBody>
      </p:sp>
      <p:sp>
        <p:nvSpPr>
          <p:cNvPr id="56324" name="Rectangle 1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Normal CF Project: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Cost (negative CF) followed by a series of positive cash inflows.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One change of signs.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Nonnormal CF Project: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Two or more changes of signs.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Most common:  Cost (negative CF), then string of positive CFs, then cost to close project.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/>
              <a:t>For example, nuclear power plant or strip mine.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1D0CB75-56A8-43B1-8815-9A8EAEC90279}" type="slidenum">
              <a:rPr lang="en-US" altLang="en-US">
                <a:latin typeface="Tahoma" panose="020B0604030504040204" pitchFamily="34" charset="0"/>
              </a:rPr>
              <a:pPr eaLnBrk="1" hangingPunct="1"/>
              <a:t>69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Inflow (+) or Outflow (-) in Year</a:t>
            </a:r>
          </a:p>
        </p:txBody>
      </p:sp>
      <p:graphicFrame>
        <p:nvGraphicFramePr>
          <p:cNvPr id="255171" name="Group 19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783717"/>
              </p:ext>
            </p:extLst>
          </p:nvPr>
        </p:nvGraphicFramePr>
        <p:xfrm>
          <a:off x="457200" y="1676400"/>
          <a:ext cx="8058145" cy="4751832"/>
        </p:xfrm>
        <a:graphic>
          <a:graphicData uri="http://schemas.openxmlformats.org/drawingml/2006/table">
            <a:tbl>
              <a:tblPr/>
              <a:tblGrid>
                <a:gridCol w="97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2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2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22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9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(800)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+ -N 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61272F-C39F-47E9-8053-256C3547872F}" type="slidenum">
              <a:rPr lang="en-US" altLang="en-US">
                <a:latin typeface="Tahoma" panose="020B0604030504040204" pitchFamily="34" charset="0"/>
              </a:rPr>
              <a:pPr eaLnBrk="1" hangingPunct="1"/>
              <a:t>70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Pavilion Project: NPV &amp; IRR?</a:t>
            </a:r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B51F50-E151-42C1-B301-889ABB3518A4}" type="slidenum">
              <a:rPr lang="en-US" altLang="en-US">
                <a:latin typeface="Tahoma" panose="020B0604030504040204" pitchFamily="34" charset="0"/>
              </a:rPr>
              <a:pPr eaLnBrk="1" hangingPunct="1"/>
              <a:t>71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58372" name="Group 22"/>
          <p:cNvGrpSpPr>
            <a:grpSpLocks/>
          </p:cNvGrpSpPr>
          <p:nvPr/>
        </p:nvGrpSpPr>
        <p:grpSpPr bwMode="auto">
          <a:xfrm>
            <a:off x="552450" y="2238375"/>
            <a:ext cx="8210550" cy="3875088"/>
            <a:chOff x="348" y="1410"/>
            <a:chExt cx="5172" cy="2441"/>
          </a:xfrm>
        </p:grpSpPr>
        <p:sp>
          <p:nvSpPr>
            <p:cNvPr id="58373" name="Rectangle 6"/>
            <p:cNvSpPr>
              <a:spLocks noChangeArrowheads="1"/>
            </p:cNvSpPr>
            <p:nvPr/>
          </p:nvSpPr>
          <p:spPr bwMode="auto">
            <a:xfrm>
              <a:off x="2303" y="2061"/>
              <a:ext cx="11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5,000,000</a:t>
              </a:r>
            </a:p>
          </p:txBody>
        </p:sp>
        <p:sp>
          <p:nvSpPr>
            <p:cNvPr id="58374" name="Rectangle 7"/>
            <p:cNvSpPr>
              <a:spLocks noChangeArrowheads="1"/>
            </p:cNvSpPr>
            <p:nvPr/>
          </p:nvSpPr>
          <p:spPr bwMode="auto">
            <a:xfrm>
              <a:off x="4690" y="2089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375" name="Line 8"/>
            <p:cNvSpPr>
              <a:spLocks noChangeShapeType="1"/>
            </p:cNvSpPr>
            <p:nvPr/>
          </p:nvSpPr>
          <p:spPr bwMode="auto">
            <a:xfrm>
              <a:off x="841" y="1693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6" name="Line 9"/>
            <p:cNvSpPr>
              <a:spLocks noChangeShapeType="1"/>
            </p:cNvSpPr>
            <p:nvPr/>
          </p:nvSpPr>
          <p:spPr bwMode="auto">
            <a:xfrm>
              <a:off x="2857" y="1693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7" name="Line 10"/>
            <p:cNvSpPr>
              <a:spLocks noChangeShapeType="1"/>
            </p:cNvSpPr>
            <p:nvPr/>
          </p:nvSpPr>
          <p:spPr bwMode="auto">
            <a:xfrm>
              <a:off x="4921" y="1693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8" name="Line 11"/>
            <p:cNvSpPr>
              <a:spLocks noChangeShapeType="1"/>
            </p:cNvSpPr>
            <p:nvPr/>
          </p:nvSpPr>
          <p:spPr bwMode="auto">
            <a:xfrm>
              <a:off x="864" y="1872"/>
              <a:ext cx="40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9" name="Rectangle 12"/>
            <p:cNvSpPr>
              <a:spLocks noChangeArrowheads="1"/>
            </p:cNvSpPr>
            <p:nvPr/>
          </p:nvSpPr>
          <p:spPr bwMode="auto">
            <a:xfrm>
              <a:off x="4323" y="2061"/>
              <a:ext cx="1197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-5,000,000</a:t>
              </a:r>
            </a:p>
          </p:txBody>
        </p:sp>
        <p:sp>
          <p:nvSpPr>
            <p:cNvPr id="58380" name="Rectangle 13"/>
            <p:cNvSpPr>
              <a:spLocks noChangeArrowheads="1"/>
            </p:cNvSpPr>
            <p:nvPr/>
          </p:nvSpPr>
          <p:spPr bwMode="auto">
            <a:xfrm>
              <a:off x="725" y="1410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58381" name="Rectangle 14"/>
            <p:cNvSpPr>
              <a:spLocks noChangeArrowheads="1"/>
            </p:cNvSpPr>
            <p:nvPr/>
          </p:nvSpPr>
          <p:spPr bwMode="auto">
            <a:xfrm>
              <a:off x="2737" y="1410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58382" name="Rectangle 15"/>
            <p:cNvSpPr>
              <a:spLocks noChangeArrowheads="1"/>
            </p:cNvSpPr>
            <p:nvPr/>
          </p:nvSpPr>
          <p:spPr bwMode="auto">
            <a:xfrm>
              <a:off x="4801" y="1410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58383" name="Rectangle 16"/>
            <p:cNvSpPr>
              <a:spLocks noChangeArrowheads="1"/>
            </p:cNvSpPr>
            <p:nvPr/>
          </p:nvSpPr>
          <p:spPr bwMode="auto">
            <a:xfrm>
              <a:off x="1216" y="1621"/>
              <a:ext cx="84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ahoma" panose="020B0604030504040204" pitchFamily="34" charset="0"/>
                </a:rPr>
                <a:t>r = 10%</a:t>
              </a:r>
            </a:p>
          </p:txBody>
        </p:sp>
        <p:sp>
          <p:nvSpPr>
            <p:cNvPr id="58384" name="Rectangle 17"/>
            <p:cNvSpPr>
              <a:spLocks noChangeArrowheads="1"/>
            </p:cNvSpPr>
            <p:nvPr/>
          </p:nvSpPr>
          <p:spPr bwMode="auto">
            <a:xfrm>
              <a:off x="348" y="2061"/>
              <a:ext cx="100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-800,000</a:t>
              </a:r>
            </a:p>
          </p:txBody>
        </p:sp>
        <p:sp>
          <p:nvSpPr>
            <p:cNvPr id="58385" name="Rectangle 18"/>
            <p:cNvSpPr>
              <a:spLocks noChangeArrowheads="1"/>
            </p:cNvSpPr>
            <p:nvPr/>
          </p:nvSpPr>
          <p:spPr bwMode="auto">
            <a:xfrm>
              <a:off x="759" y="2720"/>
              <a:ext cx="3262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latin typeface="Tahoma" panose="020B0604030504040204" pitchFamily="34" charset="0"/>
                </a:rPr>
                <a:t>Enter CFs, enter I/YR = 10.</a:t>
              </a:r>
            </a:p>
          </p:txBody>
        </p:sp>
        <p:sp>
          <p:nvSpPr>
            <p:cNvPr id="58386" name="Rectangle 19"/>
            <p:cNvSpPr>
              <a:spLocks noChangeArrowheads="1"/>
            </p:cNvSpPr>
            <p:nvPr/>
          </p:nvSpPr>
          <p:spPr bwMode="auto">
            <a:xfrm>
              <a:off x="759" y="3104"/>
              <a:ext cx="1949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NPV = -386,777</a:t>
              </a:r>
            </a:p>
          </p:txBody>
        </p:sp>
        <p:sp>
          <p:nvSpPr>
            <p:cNvPr id="58387" name="Rectangle 20"/>
            <p:cNvSpPr>
              <a:spLocks noChangeArrowheads="1"/>
            </p:cNvSpPr>
            <p:nvPr/>
          </p:nvSpPr>
          <p:spPr bwMode="auto">
            <a:xfrm>
              <a:off x="759" y="3488"/>
              <a:ext cx="253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IRR = ERROR.  Why?</a:t>
              </a:r>
            </a:p>
          </p:txBody>
        </p:sp>
      </p:grp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Nonnormal CFs—Two Sign Changes, Two IRRs</a:t>
            </a:r>
          </a:p>
        </p:txBody>
      </p:sp>
      <p:sp>
        <p:nvSpPr>
          <p:cNvPr id="2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E2A73D-413F-415D-89DE-5EDEEDCDE4C5}" type="slidenum">
              <a:rPr lang="en-US" altLang="en-US">
                <a:latin typeface="Tahoma" panose="020B0604030504040204" pitchFamily="34" charset="0"/>
              </a:rPr>
              <a:pPr eaLnBrk="1" hangingPunct="1"/>
              <a:t>72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59395" name="Group 31"/>
          <p:cNvGrpSpPr>
            <a:grpSpLocks/>
          </p:cNvGrpSpPr>
          <p:nvPr/>
        </p:nvGrpSpPr>
        <p:grpSpPr bwMode="auto">
          <a:xfrm>
            <a:off x="1085850" y="2438400"/>
            <a:ext cx="6972300" cy="3951288"/>
            <a:chOff x="684" y="1536"/>
            <a:chExt cx="4392" cy="2489"/>
          </a:xfrm>
        </p:grpSpPr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2592" y="1536"/>
              <a:ext cx="150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="1"/>
                <a:t>NPV Profile</a:t>
              </a:r>
            </a:p>
          </p:txBody>
        </p:sp>
        <p:sp>
          <p:nvSpPr>
            <p:cNvPr id="59398" name="Line 6"/>
            <p:cNvSpPr>
              <a:spLocks noChangeShapeType="1"/>
            </p:cNvSpPr>
            <p:nvPr/>
          </p:nvSpPr>
          <p:spPr bwMode="auto">
            <a:xfrm>
              <a:off x="1250" y="1970"/>
              <a:ext cx="0" cy="19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399" name="Line 7"/>
            <p:cNvSpPr>
              <a:spLocks noChangeShapeType="1"/>
            </p:cNvSpPr>
            <p:nvPr/>
          </p:nvSpPr>
          <p:spPr bwMode="auto">
            <a:xfrm>
              <a:off x="1258" y="3114"/>
              <a:ext cx="3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0" name="Line 8"/>
            <p:cNvSpPr>
              <a:spLocks noChangeShapeType="1"/>
            </p:cNvSpPr>
            <p:nvPr/>
          </p:nvSpPr>
          <p:spPr bwMode="auto">
            <a:xfrm>
              <a:off x="1258" y="3882"/>
              <a:ext cx="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>
              <a:off x="1258" y="2682"/>
              <a:ext cx="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2" name="Line 10"/>
            <p:cNvSpPr>
              <a:spLocks noChangeShapeType="1"/>
            </p:cNvSpPr>
            <p:nvPr/>
          </p:nvSpPr>
          <p:spPr bwMode="auto">
            <a:xfrm>
              <a:off x="1826" y="297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>
              <a:off x="2306" y="297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>
              <a:off x="3362" y="297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>
              <a:off x="2834" y="297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6" name="Oval 14"/>
            <p:cNvSpPr>
              <a:spLocks noChangeArrowheads="1"/>
            </p:cNvSpPr>
            <p:nvPr/>
          </p:nvSpPr>
          <p:spPr bwMode="auto">
            <a:xfrm>
              <a:off x="1350" y="3070"/>
              <a:ext cx="88" cy="8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407" name="Line 15"/>
            <p:cNvSpPr>
              <a:spLocks noChangeShapeType="1"/>
            </p:cNvSpPr>
            <p:nvPr/>
          </p:nvSpPr>
          <p:spPr bwMode="auto">
            <a:xfrm>
              <a:off x="1738" y="2690"/>
              <a:ext cx="2646" cy="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8" name="Arc 16"/>
            <p:cNvSpPr>
              <a:spLocks/>
            </p:cNvSpPr>
            <p:nvPr/>
          </p:nvSpPr>
          <p:spPr bwMode="auto">
            <a:xfrm>
              <a:off x="1307" y="2691"/>
              <a:ext cx="424" cy="1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0"/>
                    <a:pt x="9639" y="28"/>
                    <a:pt x="2154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0"/>
                    <a:pt x="9639" y="28"/>
                    <a:pt x="2154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9" name="Rectangle 17"/>
            <p:cNvSpPr>
              <a:spLocks noChangeArrowheads="1"/>
            </p:cNvSpPr>
            <p:nvPr/>
          </p:nvSpPr>
          <p:spPr bwMode="auto">
            <a:xfrm>
              <a:off x="758" y="2518"/>
              <a:ext cx="48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450</a:t>
              </a:r>
            </a:p>
          </p:txBody>
        </p:sp>
        <p:sp>
          <p:nvSpPr>
            <p:cNvPr id="59410" name="Rectangle 18"/>
            <p:cNvSpPr>
              <a:spLocks noChangeArrowheads="1"/>
            </p:cNvSpPr>
            <p:nvPr/>
          </p:nvSpPr>
          <p:spPr bwMode="auto">
            <a:xfrm>
              <a:off x="684" y="3700"/>
              <a:ext cx="5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-800</a:t>
              </a:r>
            </a:p>
          </p:txBody>
        </p:sp>
        <p:sp>
          <p:nvSpPr>
            <p:cNvPr id="59411" name="Rectangle 19"/>
            <p:cNvSpPr>
              <a:spLocks noChangeArrowheads="1"/>
            </p:cNvSpPr>
            <p:nvPr/>
          </p:nvSpPr>
          <p:spPr bwMode="auto">
            <a:xfrm>
              <a:off x="1007" y="2932"/>
              <a:ext cx="23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0</a:t>
              </a:r>
            </a:p>
          </p:txBody>
        </p:sp>
        <p:sp>
          <p:nvSpPr>
            <p:cNvPr id="59412" name="Rectangle 20"/>
            <p:cNvSpPr>
              <a:spLocks noChangeArrowheads="1"/>
            </p:cNvSpPr>
            <p:nvPr/>
          </p:nvSpPr>
          <p:spPr bwMode="auto">
            <a:xfrm>
              <a:off x="3128" y="3109"/>
              <a:ext cx="48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400</a:t>
              </a:r>
            </a:p>
          </p:txBody>
        </p:sp>
        <p:sp>
          <p:nvSpPr>
            <p:cNvPr id="59413" name="Rectangle 21"/>
            <p:cNvSpPr>
              <a:spLocks noChangeArrowheads="1"/>
            </p:cNvSpPr>
            <p:nvPr/>
          </p:nvSpPr>
          <p:spPr bwMode="auto">
            <a:xfrm>
              <a:off x="1592" y="3109"/>
              <a:ext cx="48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100</a:t>
              </a:r>
            </a:p>
          </p:txBody>
        </p:sp>
        <p:sp>
          <p:nvSpPr>
            <p:cNvPr id="59414" name="Rectangle 22"/>
            <p:cNvSpPr>
              <a:spLocks noChangeArrowheads="1"/>
            </p:cNvSpPr>
            <p:nvPr/>
          </p:nvSpPr>
          <p:spPr bwMode="auto">
            <a:xfrm>
              <a:off x="2832" y="2208"/>
              <a:ext cx="141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IRR</a:t>
              </a:r>
              <a:r>
                <a:rPr lang="en-US" altLang="en-US" sz="2800" b="1" baseline="-25000"/>
                <a:t>2</a:t>
              </a:r>
              <a:r>
                <a:rPr lang="en-US" altLang="en-US" sz="2800" b="1"/>
                <a:t> = 400%</a:t>
              </a:r>
            </a:p>
          </p:txBody>
        </p:sp>
        <p:sp>
          <p:nvSpPr>
            <p:cNvPr id="59415" name="Rectangle 23"/>
            <p:cNvSpPr>
              <a:spLocks noChangeArrowheads="1"/>
            </p:cNvSpPr>
            <p:nvPr/>
          </p:nvSpPr>
          <p:spPr bwMode="auto">
            <a:xfrm>
              <a:off x="1481" y="3556"/>
              <a:ext cx="128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IRR</a:t>
              </a:r>
              <a:r>
                <a:rPr lang="en-US" altLang="en-US" sz="2800" b="1" baseline="-25000"/>
                <a:t>1</a:t>
              </a:r>
              <a:r>
                <a:rPr lang="en-US" altLang="en-US" sz="2800" b="1"/>
                <a:t> = 25%</a:t>
              </a:r>
            </a:p>
          </p:txBody>
        </p:sp>
        <p:sp>
          <p:nvSpPr>
            <p:cNvPr id="59416" name="Line 24"/>
            <p:cNvSpPr>
              <a:spLocks noChangeShapeType="1"/>
            </p:cNvSpPr>
            <p:nvPr/>
          </p:nvSpPr>
          <p:spPr bwMode="auto">
            <a:xfrm>
              <a:off x="3130" y="2498"/>
              <a:ext cx="176" cy="464"/>
            </a:xfrm>
            <a:prstGeom prst="line">
              <a:avLst/>
            </a:prstGeom>
            <a:noFill/>
            <a:ln w="25400">
              <a:solidFill>
                <a:srgbClr val="00AE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7" name="Line 25"/>
            <p:cNvSpPr>
              <a:spLocks noChangeShapeType="1"/>
            </p:cNvSpPr>
            <p:nvPr/>
          </p:nvSpPr>
          <p:spPr bwMode="auto">
            <a:xfrm flipH="1" flipV="1">
              <a:off x="1482" y="3250"/>
              <a:ext cx="208" cy="35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8" name="Rectangle 26"/>
            <p:cNvSpPr>
              <a:spLocks noChangeArrowheads="1"/>
            </p:cNvSpPr>
            <p:nvPr/>
          </p:nvSpPr>
          <p:spPr bwMode="auto">
            <a:xfrm>
              <a:off x="4458" y="3124"/>
              <a:ext cx="618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r (%)</a:t>
              </a:r>
            </a:p>
          </p:txBody>
        </p:sp>
        <p:sp>
          <p:nvSpPr>
            <p:cNvPr id="59419" name="Rectangle 27"/>
            <p:cNvSpPr>
              <a:spLocks noChangeArrowheads="1"/>
            </p:cNvSpPr>
            <p:nvPr/>
          </p:nvSpPr>
          <p:spPr bwMode="auto">
            <a:xfrm>
              <a:off x="788" y="1588"/>
              <a:ext cx="92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/>
                <a:t>NPV ($)</a:t>
              </a:r>
            </a:p>
          </p:txBody>
        </p:sp>
        <p:sp>
          <p:nvSpPr>
            <p:cNvPr id="59420" name="Oval 28"/>
            <p:cNvSpPr>
              <a:spLocks noChangeArrowheads="1"/>
            </p:cNvSpPr>
            <p:nvPr/>
          </p:nvSpPr>
          <p:spPr bwMode="auto">
            <a:xfrm>
              <a:off x="3316" y="3067"/>
              <a:ext cx="88" cy="8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06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Logic of Multiple IRRs</a:t>
            </a:r>
          </a:p>
        </p:txBody>
      </p:sp>
      <p:sp>
        <p:nvSpPr>
          <p:cNvPr id="60420" name="Rectangle 206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At very low discount rates, PV of CF</a:t>
            </a:r>
            <a:r>
              <a:rPr lang="en-US" altLang="en-US" baseline="-25000" dirty="0"/>
              <a:t>2</a:t>
            </a:r>
            <a:r>
              <a:rPr lang="en-US" altLang="en-US" dirty="0"/>
              <a:t> is large &amp; negative, so NPV &lt; 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At very high discount rates, PV of both CF</a:t>
            </a:r>
            <a:r>
              <a:rPr lang="en-US" altLang="en-US" baseline="-25000" dirty="0"/>
              <a:t>1</a:t>
            </a:r>
            <a:r>
              <a:rPr lang="en-US" altLang="en-US" dirty="0"/>
              <a:t> &amp; CF</a:t>
            </a:r>
            <a:r>
              <a:rPr lang="en-US" altLang="en-US" baseline="-25000" dirty="0"/>
              <a:t>2</a:t>
            </a:r>
            <a:r>
              <a:rPr lang="en-US" altLang="en-US" dirty="0"/>
              <a:t> are low, so CF</a:t>
            </a:r>
            <a:r>
              <a:rPr lang="en-US" altLang="en-US" baseline="-25000" dirty="0"/>
              <a:t>0</a:t>
            </a:r>
            <a:r>
              <a:rPr lang="en-US" altLang="en-US" dirty="0"/>
              <a:t> dominates &amp; again NPV &lt; 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 between, discount rate hits CF</a:t>
            </a:r>
            <a:r>
              <a:rPr lang="en-US" altLang="en-US" baseline="-25000" dirty="0"/>
              <a:t>2</a:t>
            </a:r>
            <a:r>
              <a:rPr lang="en-US" altLang="en-US" dirty="0"/>
              <a:t> harder than CF</a:t>
            </a:r>
            <a:r>
              <a:rPr lang="en-US" altLang="en-US" baseline="-25000" dirty="0"/>
              <a:t>1</a:t>
            </a:r>
            <a:r>
              <a:rPr lang="en-US" altLang="en-US" dirty="0"/>
              <a:t>, so NPV &gt; 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Result:  2 IRRs.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EADD04-98AB-466A-8864-AD8D938F936E}" type="slidenum">
              <a:rPr lang="en-US" altLang="en-US">
                <a:latin typeface="Tahoma" panose="020B0604030504040204" pitchFamily="34" charset="0"/>
              </a:rPr>
              <a:pPr eaLnBrk="1" hangingPunct="1"/>
              <a:t>73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Multiple IRRs with Calculator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872C51-A486-467E-89C4-11C4A9E342CB}" type="slidenum">
              <a:rPr lang="en-US" altLang="en-US">
                <a:latin typeface="Tahoma" panose="020B0604030504040204" pitchFamily="34" charset="0"/>
              </a:rPr>
              <a:pPr eaLnBrk="1" hangingPunct="1"/>
              <a:t>74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1443" name="Rectangle 2"/>
          <p:cNvSpPr>
            <a:spLocks noChangeArrowheads="1"/>
          </p:cNvSpPr>
          <p:nvPr/>
        </p:nvSpPr>
        <p:spPr bwMode="auto">
          <a:xfrm>
            <a:off x="914400" y="2286000"/>
            <a:ext cx="7677150" cy="38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571500" indent="-5715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20000"/>
              </a:lnSpc>
            </a:pPr>
            <a:endParaRPr lang="en-US" altLang="en-US" sz="3200" dirty="0">
              <a:latin typeface="Tahoma" panose="020B0604030504040204" pitchFamily="34" charset="0"/>
            </a:endParaRPr>
          </a:p>
          <a:p>
            <a:pPr>
              <a:spcBef>
                <a:spcPct val="30000"/>
              </a:spcBef>
              <a:buFont typeface="+mj-lt"/>
              <a:buAutoNum type="arabicPeriod"/>
            </a:pPr>
            <a:r>
              <a:rPr lang="en-US" altLang="en-US" sz="3200" dirty="0">
                <a:latin typeface="Tahoma" panose="020B0604030504040204" pitchFamily="34" charset="0"/>
              </a:rPr>
              <a:t>Enter CFs as before.</a:t>
            </a:r>
          </a:p>
          <a:p>
            <a:pPr>
              <a:spcBef>
                <a:spcPct val="30000"/>
              </a:spcBef>
              <a:buFont typeface="+mj-lt"/>
              <a:buAutoNum type="arabicPeriod"/>
            </a:pPr>
            <a:r>
              <a:rPr lang="en-US" altLang="en-US" sz="3200" dirty="0">
                <a:latin typeface="Tahoma" panose="020B0604030504040204" pitchFamily="34" charset="0"/>
              </a:rPr>
              <a:t>Enter a “guess” as to IRR by storing guess.  Try 10%:</a:t>
            </a:r>
          </a:p>
          <a:p>
            <a:pPr>
              <a:spcBef>
                <a:spcPct val="30000"/>
              </a:spcBef>
            </a:pPr>
            <a:r>
              <a:rPr lang="en-US" altLang="en-US" sz="3200" dirty="0">
                <a:latin typeface="Tahoma" panose="020B0604030504040204" pitchFamily="34" charset="0"/>
              </a:rPr>
              <a:t>	10		STO</a:t>
            </a:r>
          </a:p>
          <a:p>
            <a:pPr>
              <a:spcBef>
                <a:spcPct val="30000"/>
              </a:spcBef>
            </a:pPr>
            <a:r>
              <a:rPr lang="en-US" altLang="en-US" sz="3200" dirty="0">
                <a:latin typeface="Tahoma" panose="020B0604030504040204" pitchFamily="34" charset="0"/>
              </a:rPr>
              <a:t>		    IRR = 25% = lower IRR</a:t>
            </a:r>
          </a:p>
          <a:p>
            <a:pPr>
              <a:spcBef>
                <a:spcPct val="30000"/>
              </a:spcBef>
            </a:pPr>
            <a:r>
              <a:rPr lang="en-US" altLang="en-US" sz="3200" dirty="0">
                <a:latin typeface="Tahoma" panose="020B0604030504040204" pitchFamily="34" charset="0"/>
              </a:rPr>
              <a:t>	(See next slide for upper IRR)</a:t>
            </a: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2590800" y="4421188"/>
            <a:ext cx="596900" cy="2921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Rectangle 10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Upper IRR with Calculator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E0FBD8-3646-45A8-BB4E-64F22680C26E}" type="slidenum">
              <a:rPr lang="en-US" altLang="en-US">
                <a:latin typeface="Tahoma" panose="020B0604030504040204" pitchFamily="34" charset="0"/>
              </a:rPr>
              <a:pPr eaLnBrk="1" hangingPunct="1"/>
              <a:t>75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2467" name="Rectangle 1032"/>
          <p:cNvSpPr>
            <a:spLocks noChangeArrowheads="1"/>
          </p:cNvSpPr>
          <p:nvPr/>
        </p:nvSpPr>
        <p:spPr bwMode="auto">
          <a:xfrm>
            <a:off x="762000" y="2438400"/>
            <a:ext cx="767715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571500" indent="-5715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20000"/>
              </a:lnSpc>
            </a:pPr>
            <a:endParaRPr lang="en-US" altLang="en-US" sz="3200">
              <a:latin typeface="Tahoma" panose="020B060403050404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en-US" sz="3200">
                <a:latin typeface="Tahoma" panose="020B0604030504040204" pitchFamily="34" charset="0"/>
              </a:rPr>
              <a:t>	Now guess large IRR, say, 200:</a:t>
            </a:r>
          </a:p>
          <a:p>
            <a:pPr>
              <a:spcBef>
                <a:spcPct val="30000"/>
              </a:spcBef>
            </a:pPr>
            <a:r>
              <a:rPr lang="en-US" altLang="en-US" sz="3200">
                <a:latin typeface="Tahoma" panose="020B0604030504040204" pitchFamily="34" charset="0"/>
              </a:rPr>
              <a:t>	200		STO</a:t>
            </a:r>
          </a:p>
          <a:p>
            <a:pPr>
              <a:spcBef>
                <a:spcPct val="30000"/>
              </a:spcBef>
            </a:pPr>
            <a:r>
              <a:rPr lang="en-US" altLang="en-US" sz="3200">
                <a:latin typeface="Tahoma" panose="020B0604030504040204" pitchFamily="34" charset="0"/>
              </a:rPr>
              <a:t>		    IRR = 400% = upper IRR</a:t>
            </a:r>
            <a:r>
              <a:rPr lang="en-US" altLang="en-US" sz="28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2468" name="Rectangle 1033"/>
          <p:cNvSpPr>
            <a:spLocks noChangeArrowheads="1"/>
          </p:cNvSpPr>
          <p:nvPr/>
        </p:nvSpPr>
        <p:spPr bwMode="auto">
          <a:xfrm>
            <a:off x="2514600" y="3468688"/>
            <a:ext cx="596900" cy="2921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When There are Nonnormal CFs &amp; More than One IRR, Use MIRR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1C48B5-0DA7-4D14-A8B6-C16B33D3B1F0}" type="slidenum">
              <a:rPr lang="en-US" altLang="en-US">
                <a:latin typeface="Tahoma" panose="020B0604030504040204" pitchFamily="34" charset="0"/>
              </a:rPr>
              <a:pPr eaLnBrk="1" hangingPunct="1"/>
              <a:t>76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63491" name="Group 21"/>
          <p:cNvGrpSpPr>
            <a:grpSpLocks/>
          </p:cNvGrpSpPr>
          <p:nvPr/>
        </p:nvGrpSpPr>
        <p:grpSpPr bwMode="auto">
          <a:xfrm>
            <a:off x="365125" y="2303463"/>
            <a:ext cx="8202613" cy="3832225"/>
            <a:chOff x="230" y="1451"/>
            <a:chExt cx="5167" cy="2414"/>
          </a:xfrm>
        </p:grpSpPr>
        <p:sp>
          <p:nvSpPr>
            <p:cNvPr id="63493" name="Rectangle 5"/>
            <p:cNvSpPr>
              <a:spLocks noChangeArrowheads="1"/>
            </p:cNvSpPr>
            <p:nvPr/>
          </p:nvSpPr>
          <p:spPr bwMode="auto">
            <a:xfrm>
              <a:off x="4646" y="2125"/>
              <a:ext cx="43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494" name="Line 6"/>
            <p:cNvSpPr>
              <a:spLocks noChangeShapeType="1"/>
            </p:cNvSpPr>
            <p:nvPr/>
          </p:nvSpPr>
          <p:spPr bwMode="auto">
            <a:xfrm>
              <a:off x="720" y="1777"/>
              <a:ext cx="0" cy="3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495" name="Line 7"/>
            <p:cNvSpPr>
              <a:spLocks noChangeShapeType="1"/>
            </p:cNvSpPr>
            <p:nvPr/>
          </p:nvSpPr>
          <p:spPr bwMode="auto">
            <a:xfrm>
              <a:off x="2688" y="1777"/>
              <a:ext cx="0" cy="3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496" name="Line 8"/>
            <p:cNvSpPr>
              <a:spLocks noChangeShapeType="1"/>
            </p:cNvSpPr>
            <p:nvPr/>
          </p:nvSpPr>
          <p:spPr bwMode="auto">
            <a:xfrm>
              <a:off x="4800" y="1777"/>
              <a:ext cx="0" cy="3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728" y="1929"/>
              <a:ext cx="40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498" name="Rectangle 10"/>
            <p:cNvSpPr>
              <a:spLocks noChangeArrowheads="1"/>
            </p:cNvSpPr>
            <p:nvPr/>
          </p:nvSpPr>
          <p:spPr bwMode="auto">
            <a:xfrm>
              <a:off x="616" y="1451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2584" y="1451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3500" name="Rectangle 12"/>
            <p:cNvSpPr>
              <a:spLocks noChangeArrowheads="1"/>
            </p:cNvSpPr>
            <p:nvPr/>
          </p:nvSpPr>
          <p:spPr bwMode="auto">
            <a:xfrm>
              <a:off x="4695" y="1451"/>
              <a:ext cx="2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63501" name="Rectangle 13"/>
            <p:cNvSpPr>
              <a:spLocks noChangeArrowheads="1"/>
            </p:cNvSpPr>
            <p:nvPr/>
          </p:nvSpPr>
          <p:spPr bwMode="auto">
            <a:xfrm>
              <a:off x="230" y="2074"/>
              <a:ext cx="995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-800,000</a:t>
              </a:r>
            </a:p>
          </p:txBody>
        </p:sp>
        <p:sp>
          <p:nvSpPr>
            <p:cNvPr id="63502" name="Rectangle 14"/>
            <p:cNvSpPr>
              <a:spLocks noChangeArrowheads="1"/>
            </p:cNvSpPr>
            <p:nvPr/>
          </p:nvSpPr>
          <p:spPr bwMode="auto">
            <a:xfrm>
              <a:off x="2147" y="2074"/>
              <a:ext cx="110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5,000,000</a:t>
              </a:r>
            </a:p>
          </p:txBody>
        </p:sp>
        <p:sp>
          <p:nvSpPr>
            <p:cNvPr id="63503" name="Rectangle 15"/>
            <p:cNvSpPr>
              <a:spLocks noChangeArrowheads="1"/>
            </p:cNvSpPr>
            <p:nvPr/>
          </p:nvSpPr>
          <p:spPr bwMode="auto">
            <a:xfrm>
              <a:off x="4212" y="2074"/>
              <a:ext cx="1185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-5,000,000</a:t>
              </a:r>
            </a:p>
          </p:txBody>
        </p:sp>
        <p:sp>
          <p:nvSpPr>
            <p:cNvPr id="63504" name="Rectangle 16"/>
            <p:cNvSpPr>
              <a:spLocks noChangeArrowheads="1"/>
            </p:cNvSpPr>
            <p:nvPr/>
          </p:nvSpPr>
          <p:spPr bwMode="auto">
            <a:xfrm>
              <a:off x="570" y="2756"/>
              <a:ext cx="437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PV outflows @ 10% = -4,932,231.40.</a:t>
              </a:r>
            </a:p>
          </p:txBody>
        </p:sp>
        <p:sp>
          <p:nvSpPr>
            <p:cNvPr id="63505" name="Rectangle 17"/>
            <p:cNvSpPr>
              <a:spLocks noChangeArrowheads="1"/>
            </p:cNvSpPr>
            <p:nvPr/>
          </p:nvSpPr>
          <p:spPr bwMode="auto">
            <a:xfrm>
              <a:off x="570" y="3129"/>
              <a:ext cx="412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TV inflows @ 10% = 5,500,000.00.</a:t>
              </a:r>
            </a:p>
          </p:txBody>
        </p:sp>
        <p:sp>
          <p:nvSpPr>
            <p:cNvPr id="63506" name="Rectangle 18"/>
            <p:cNvSpPr>
              <a:spLocks noChangeArrowheads="1"/>
            </p:cNvSpPr>
            <p:nvPr/>
          </p:nvSpPr>
          <p:spPr bwMode="auto">
            <a:xfrm>
              <a:off x="570" y="3502"/>
              <a:ext cx="167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MIRR = 5.6%</a:t>
              </a:r>
            </a:p>
          </p:txBody>
        </p:sp>
      </p:grp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Accept Project P?</a:t>
            </a:r>
          </a:p>
        </p:txBody>
      </p:sp>
      <p:sp>
        <p:nvSpPr>
          <p:cNvPr id="64516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NO.  Reject because </a:t>
            </a:r>
            <a:br>
              <a:rPr lang="en-US" altLang="en-US"/>
            </a:br>
            <a:r>
              <a:rPr lang="en-US" altLang="en-US"/>
              <a:t>MIRR = 5.6% &lt; r = 10%.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Also, if MIRR &lt; r, NPV will be negative:  NPV = -$386,777.</a:t>
            </a:r>
          </a:p>
          <a:p>
            <a:pPr eaLnBrk="1" hangingPunct="1"/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4CADD4-58BF-43CC-B527-A41B407A732E}" type="slidenum">
              <a:rPr lang="en-US" altLang="en-US">
                <a:latin typeface="Tahoma" panose="020B0604030504040204" pitchFamily="34" charset="0"/>
              </a:rPr>
              <a:pPr eaLnBrk="1" hangingPunct="1"/>
              <a:t>77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Expected Net CFs &amp; Different Project Lengths</a:t>
            </a:r>
          </a:p>
        </p:txBody>
      </p:sp>
      <p:sp>
        <p:nvSpPr>
          <p:cNvPr id="19459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82650"/>
          </a:xfrm>
        </p:spPr>
        <p:txBody>
          <a:bodyPr/>
          <a:lstStyle/>
          <a:p>
            <a:r>
              <a:rPr lang="en-US" altLang="en-US" u="sng"/>
              <a:t>Year</a:t>
            </a:r>
            <a:r>
              <a:rPr lang="en-US" altLang="en-US"/>
              <a:t>  		</a:t>
            </a:r>
            <a:r>
              <a:rPr lang="en-US" altLang="en-US" u="sng"/>
              <a:t>Project L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66963"/>
            <a:ext cx="4040188" cy="4086088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0		&lt;$100&gt;</a:t>
            </a:r>
          </a:p>
          <a:p>
            <a:r>
              <a:rPr lang="en-US" altLang="en-US" dirty="0"/>
              <a:t>1		    33.5</a:t>
            </a:r>
          </a:p>
          <a:p>
            <a:r>
              <a:rPr lang="en-US" altLang="en-US" dirty="0"/>
              <a:t>2		    33.5</a:t>
            </a:r>
          </a:p>
          <a:p>
            <a:r>
              <a:rPr lang="en-US" altLang="en-US" dirty="0"/>
              <a:t>3		    33.5</a:t>
            </a:r>
          </a:p>
          <a:p>
            <a:r>
              <a:rPr lang="en-US" altLang="en-US" dirty="0"/>
              <a:t>4		    33.5</a:t>
            </a:r>
          </a:p>
          <a:p>
            <a:endParaRPr lang="en-US" altLang="en-US" dirty="0"/>
          </a:p>
          <a:p>
            <a:r>
              <a:rPr lang="en-US" altLang="en-US" dirty="0" err="1"/>
              <a:t>i</a:t>
            </a:r>
            <a:r>
              <a:rPr lang="en-US" altLang="en-US" dirty="0"/>
              <a:t>% = 10</a:t>
            </a:r>
          </a:p>
          <a:p>
            <a:r>
              <a:rPr lang="en-US" altLang="en-US" dirty="0"/>
              <a:t>NPV</a:t>
            </a:r>
            <a:r>
              <a:rPr lang="en-US" altLang="en-US" sz="1200" dirty="0"/>
              <a:t>L</a:t>
            </a:r>
            <a:r>
              <a:rPr lang="en-US" altLang="en-US" dirty="0"/>
              <a:t> =	$6,190</a:t>
            </a:r>
          </a:p>
          <a:p>
            <a:endParaRPr lang="en-US" altLang="en-US" dirty="0"/>
          </a:p>
        </p:txBody>
      </p:sp>
      <p:sp>
        <p:nvSpPr>
          <p:cNvPr id="19461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831850"/>
          </a:xfrm>
        </p:spPr>
        <p:txBody>
          <a:bodyPr/>
          <a:lstStyle/>
          <a:p>
            <a:r>
              <a:rPr lang="en-US" altLang="en-US"/>
              <a:t>		</a:t>
            </a:r>
            <a:r>
              <a:rPr lang="en-US" altLang="en-US" u="sng"/>
              <a:t>Project S</a:t>
            </a:r>
          </a:p>
        </p:txBody>
      </p:sp>
      <p:sp>
        <p:nvSpPr>
          <p:cNvPr id="19462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333625"/>
            <a:ext cx="4041775" cy="3792538"/>
          </a:xfrm>
        </p:spPr>
        <p:txBody>
          <a:bodyPr>
            <a:normAutofit lnSpcReduction="10000"/>
          </a:bodyPr>
          <a:lstStyle/>
          <a:p>
            <a:pPr lvl="4"/>
            <a:r>
              <a:rPr lang="en-US" altLang="en-US" sz="2400" dirty="0"/>
              <a:t>&lt;$100&gt;</a:t>
            </a:r>
          </a:p>
          <a:p>
            <a:pPr lvl="4"/>
            <a:r>
              <a:rPr lang="en-US" altLang="en-US" sz="2400" dirty="0"/>
              <a:t>      60</a:t>
            </a:r>
          </a:p>
          <a:p>
            <a:pPr lvl="4"/>
            <a:r>
              <a:rPr lang="en-US" altLang="en-US" sz="2400" dirty="0"/>
              <a:t>      60</a:t>
            </a:r>
          </a:p>
          <a:p>
            <a:pPr lvl="4"/>
            <a:r>
              <a:rPr lang="en-US" altLang="en-US" sz="2400" dirty="0"/>
              <a:t>      </a:t>
            </a:r>
          </a:p>
          <a:p>
            <a:pPr lvl="4"/>
            <a:endParaRPr lang="en-US" altLang="en-US" sz="2400" dirty="0"/>
          </a:p>
          <a:p>
            <a:pPr lvl="4"/>
            <a:endParaRPr lang="en-US" altLang="en-US" sz="2400" dirty="0"/>
          </a:p>
          <a:p>
            <a:pPr lvl="4"/>
            <a:endParaRPr lang="en-US" altLang="en-US" sz="2400" dirty="0"/>
          </a:p>
          <a:p>
            <a:pPr lvl="4"/>
            <a:r>
              <a:rPr lang="en-US" altLang="en-US" sz="2400" dirty="0"/>
              <a:t>NPV</a:t>
            </a:r>
            <a:r>
              <a:rPr lang="en-US" altLang="en-US" sz="1200" dirty="0"/>
              <a:t>s</a:t>
            </a:r>
            <a:r>
              <a:rPr lang="en-US" altLang="en-US" sz="2400" dirty="0"/>
              <a:t> =	$4,132</a:t>
            </a:r>
          </a:p>
          <a:p>
            <a:pPr lvl="4"/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F16B7F-DED6-45C1-9024-7B34FDF1103D}" type="slidenum">
              <a:rPr lang="en-US" altLang="en-US">
                <a:latin typeface="Tahoma" panose="020B0604030504040204" pitchFamily="34" charset="0"/>
              </a:rPr>
              <a:pPr eaLnBrk="1" hangingPunct="1"/>
              <a:t>78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3848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Put Projects on Common Basis</a:t>
            </a:r>
          </a:p>
        </p:txBody>
      </p:sp>
      <p:sp>
        <p:nvSpPr>
          <p:cNvPr id="686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Note that Firm S could be repeated after 2 years to generate additional profits.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Use replacement chain to put on common life.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Note: equivalent annual annuity analysis is alternative method.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72D487-D1D9-42E3-B129-0A38B39A608D}" type="slidenum">
              <a:rPr lang="en-US" altLang="en-US">
                <a:latin typeface="Tahoma" panose="020B0604030504040204" pitchFamily="34" charset="0"/>
              </a:rPr>
              <a:pPr eaLnBrk="1" hangingPunct="1"/>
              <a:t>79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560772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S &amp; L are Mutually Exclusive &amp; Will Be Repeated, r = 10%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395387-FD68-403B-94ED-E222E10706A0}" type="slidenum">
              <a:rPr lang="en-US" altLang="en-US">
                <a:latin typeface="Tahoma" panose="020B0604030504040204" pitchFamily="34" charset="0"/>
              </a:rPr>
              <a:pPr eaLnBrk="1" hangingPunct="1"/>
              <a:t>80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65540" name="Group 24"/>
          <p:cNvGrpSpPr>
            <a:grpSpLocks/>
          </p:cNvGrpSpPr>
          <p:nvPr/>
        </p:nvGrpSpPr>
        <p:grpSpPr bwMode="auto">
          <a:xfrm>
            <a:off x="173038" y="2717800"/>
            <a:ext cx="8605837" cy="3746500"/>
            <a:chOff x="109" y="1712"/>
            <a:chExt cx="5421" cy="2360"/>
          </a:xfrm>
        </p:grpSpPr>
        <p:grpSp>
          <p:nvGrpSpPr>
            <p:cNvPr id="65541" name="Group 22"/>
            <p:cNvGrpSpPr>
              <a:grpSpLocks/>
            </p:cNvGrpSpPr>
            <p:nvPr/>
          </p:nvGrpSpPr>
          <p:grpSpPr bwMode="auto">
            <a:xfrm>
              <a:off x="109" y="1712"/>
              <a:ext cx="5421" cy="1954"/>
              <a:chOff x="109" y="1712"/>
              <a:chExt cx="5421" cy="1954"/>
            </a:xfrm>
          </p:grpSpPr>
          <p:sp>
            <p:nvSpPr>
              <p:cNvPr id="65543" name="Rectangle 4"/>
              <p:cNvSpPr>
                <a:spLocks noChangeArrowheads="1"/>
              </p:cNvSpPr>
              <p:nvPr/>
            </p:nvSpPr>
            <p:spPr bwMode="auto">
              <a:xfrm>
                <a:off x="551" y="1712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65544" name="Rectangle 5"/>
              <p:cNvSpPr>
                <a:spLocks noChangeArrowheads="1"/>
              </p:cNvSpPr>
              <p:nvPr/>
            </p:nvSpPr>
            <p:spPr bwMode="auto">
              <a:xfrm>
                <a:off x="1672" y="1712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65545" name="Rectangle 6"/>
              <p:cNvSpPr>
                <a:spLocks noChangeArrowheads="1"/>
              </p:cNvSpPr>
              <p:nvPr/>
            </p:nvSpPr>
            <p:spPr bwMode="auto">
              <a:xfrm>
                <a:off x="2809" y="1712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65546" name="Rectangle 7"/>
              <p:cNvSpPr>
                <a:spLocks noChangeArrowheads="1"/>
              </p:cNvSpPr>
              <p:nvPr/>
            </p:nvSpPr>
            <p:spPr bwMode="auto">
              <a:xfrm>
                <a:off x="3951" y="1712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65547" name="Rectangle 8"/>
              <p:cNvSpPr>
                <a:spLocks noChangeArrowheads="1"/>
              </p:cNvSpPr>
              <p:nvPr/>
            </p:nvSpPr>
            <p:spPr bwMode="auto">
              <a:xfrm>
                <a:off x="5096" y="1712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4</a:t>
                </a:r>
              </a:p>
            </p:txBody>
          </p:sp>
          <p:sp>
            <p:nvSpPr>
              <p:cNvPr id="65548" name="Rectangle 9"/>
              <p:cNvSpPr>
                <a:spLocks noChangeArrowheads="1"/>
              </p:cNvSpPr>
              <p:nvPr/>
            </p:nvSpPr>
            <p:spPr bwMode="auto">
              <a:xfrm>
                <a:off x="109" y="2630"/>
                <a:ext cx="1031" cy="10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3200">
                    <a:latin typeface="Tahoma" panose="020B0604030504040204" pitchFamily="34" charset="0"/>
                  </a:rPr>
                  <a:t>S:  -100</a:t>
                </a:r>
              </a:p>
              <a:p>
                <a:pPr>
                  <a:spcBef>
                    <a:spcPts val="600"/>
                  </a:spcBef>
                </a:pPr>
                <a:endParaRPr lang="en-US" altLang="en-US" sz="3200">
                  <a:latin typeface="Tahoma" panose="020B0604030504040204" pitchFamily="34" charset="0"/>
                </a:endParaRPr>
              </a:p>
              <a:p>
                <a:r>
                  <a:rPr lang="en-US" altLang="en-US" sz="3200">
                    <a:latin typeface="Tahoma" panose="020B0604030504040204" pitchFamily="34" charset="0"/>
                  </a:rPr>
                  <a:t>L:  -100</a:t>
                </a:r>
              </a:p>
            </p:txBody>
          </p:sp>
          <p:sp>
            <p:nvSpPr>
              <p:cNvPr id="65549" name="Rectangle 10"/>
              <p:cNvSpPr>
                <a:spLocks noChangeArrowheads="1"/>
              </p:cNvSpPr>
              <p:nvPr/>
            </p:nvSpPr>
            <p:spPr bwMode="auto">
              <a:xfrm>
                <a:off x="1514" y="2320"/>
                <a:ext cx="618" cy="1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3200">
                  <a:latin typeface="Tahoma" panose="020B0604030504040204" pitchFamily="34" charset="0"/>
                </a:endParaRPr>
              </a:p>
              <a:p>
                <a:r>
                  <a:rPr lang="en-US" altLang="en-US" sz="3200">
                    <a:latin typeface="Tahoma" panose="020B0604030504040204" pitchFamily="34" charset="0"/>
                  </a:rPr>
                  <a:t>60</a:t>
                </a:r>
              </a:p>
              <a:p>
                <a:pPr>
                  <a:spcAft>
                    <a:spcPts val="600"/>
                  </a:spcAft>
                </a:pPr>
                <a:endParaRPr lang="en-US" altLang="en-US" sz="3200">
                  <a:latin typeface="Tahoma" panose="020B0604030504040204" pitchFamily="34" charset="0"/>
                </a:endParaRPr>
              </a:p>
              <a:p>
                <a:r>
                  <a:rPr lang="en-US" altLang="en-US" sz="3200">
                    <a:latin typeface="Tahoma" panose="020B0604030504040204" pitchFamily="34" charset="0"/>
                  </a:rPr>
                  <a:t>33.5</a:t>
                </a:r>
              </a:p>
            </p:txBody>
          </p:sp>
          <p:sp>
            <p:nvSpPr>
              <p:cNvPr id="65550" name="Rectangle 11"/>
              <p:cNvSpPr>
                <a:spLocks noChangeArrowheads="1"/>
              </p:cNvSpPr>
              <p:nvPr/>
            </p:nvSpPr>
            <p:spPr bwMode="auto">
              <a:xfrm>
                <a:off x="2636" y="2290"/>
                <a:ext cx="612" cy="1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3200">
                  <a:latin typeface="Tahoma" panose="020B0604030504040204" pitchFamily="34" charset="0"/>
                </a:endParaRPr>
              </a:p>
              <a:p>
                <a:pPr>
                  <a:spcAft>
                    <a:spcPct val="30000"/>
                  </a:spcAft>
                </a:pPr>
                <a:r>
                  <a:rPr lang="en-US" altLang="en-US" sz="3200">
                    <a:latin typeface="Tahoma" panose="020B0604030504040204" pitchFamily="34" charset="0"/>
                  </a:rPr>
                  <a:t>60</a:t>
                </a:r>
              </a:p>
              <a:p>
                <a:endParaRPr lang="en-US" altLang="en-US" sz="3200">
                  <a:latin typeface="Tahoma" panose="020B0604030504040204" pitchFamily="34" charset="0"/>
                </a:endParaRPr>
              </a:p>
              <a:p>
                <a:r>
                  <a:rPr lang="en-US" altLang="en-US" sz="3200">
                    <a:latin typeface="Tahoma" panose="020B0604030504040204" pitchFamily="34" charset="0"/>
                  </a:rPr>
                  <a:t>33.5</a:t>
                </a:r>
              </a:p>
            </p:txBody>
          </p:sp>
          <p:sp>
            <p:nvSpPr>
              <p:cNvPr id="65551" name="Rectangle 12"/>
              <p:cNvSpPr>
                <a:spLocks noChangeArrowheads="1"/>
              </p:cNvSpPr>
              <p:nvPr/>
            </p:nvSpPr>
            <p:spPr bwMode="auto">
              <a:xfrm>
                <a:off x="3773" y="2290"/>
                <a:ext cx="612" cy="1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3200">
                  <a:latin typeface="Tahoma" panose="020B0604030504040204" pitchFamily="34" charset="0"/>
                </a:endParaRPr>
              </a:p>
              <a:p>
                <a:pPr algn="ctr">
                  <a:spcAft>
                    <a:spcPct val="30000"/>
                  </a:spcAft>
                </a:pPr>
                <a:endParaRPr lang="en-US" altLang="en-US" sz="3200">
                  <a:latin typeface="Tahoma" panose="020B0604030504040204" pitchFamily="34" charset="0"/>
                </a:endParaRPr>
              </a:p>
              <a:p>
                <a:pPr algn="ctr"/>
                <a:endParaRPr lang="en-US" altLang="en-US" sz="3200">
                  <a:latin typeface="Tahoma" panose="020B0604030504040204" pitchFamily="34" charset="0"/>
                </a:endParaRPr>
              </a:p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33.5</a:t>
                </a:r>
              </a:p>
            </p:txBody>
          </p:sp>
          <p:sp>
            <p:nvSpPr>
              <p:cNvPr id="65552" name="Rectangle 13"/>
              <p:cNvSpPr>
                <a:spLocks noChangeArrowheads="1"/>
              </p:cNvSpPr>
              <p:nvPr/>
            </p:nvSpPr>
            <p:spPr bwMode="auto">
              <a:xfrm>
                <a:off x="4918" y="2290"/>
                <a:ext cx="612" cy="1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3200">
                  <a:latin typeface="Tahoma" panose="020B0604030504040204" pitchFamily="34" charset="0"/>
                </a:endParaRPr>
              </a:p>
              <a:p>
                <a:pPr algn="ctr">
                  <a:spcAft>
                    <a:spcPct val="30000"/>
                  </a:spcAft>
                </a:pPr>
                <a:endParaRPr lang="en-US" altLang="en-US" sz="3200">
                  <a:latin typeface="Tahoma" panose="020B0604030504040204" pitchFamily="34" charset="0"/>
                </a:endParaRPr>
              </a:p>
              <a:p>
                <a:pPr algn="ctr"/>
                <a:endParaRPr lang="en-US" altLang="en-US" sz="3200">
                  <a:latin typeface="Tahoma" panose="020B0604030504040204" pitchFamily="34" charset="0"/>
                </a:endParaRPr>
              </a:p>
              <a:p>
                <a:pPr algn="ctr"/>
                <a:r>
                  <a:rPr lang="en-US" altLang="en-US" sz="3200">
                    <a:latin typeface="Tahoma" panose="020B0604030504040204" pitchFamily="34" charset="0"/>
                  </a:rPr>
                  <a:t>33.5</a:t>
                </a:r>
              </a:p>
            </p:txBody>
          </p:sp>
          <p:sp>
            <p:nvSpPr>
              <p:cNvPr id="65553" name="Line 14"/>
              <p:cNvSpPr>
                <a:spLocks noChangeShapeType="1"/>
              </p:cNvSpPr>
              <p:nvPr/>
            </p:nvSpPr>
            <p:spPr bwMode="auto">
              <a:xfrm>
                <a:off x="688" y="2177"/>
                <a:ext cx="4544" cy="1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54" name="Line 15"/>
              <p:cNvSpPr>
                <a:spLocks noChangeShapeType="1"/>
              </p:cNvSpPr>
              <p:nvPr/>
            </p:nvSpPr>
            <p:spPr bwMode="auto">
              <a:xfrm>
                <a:off x="688" y="2062"/>
                <a:ext cx="0" cy="24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>
                <a:outerShdw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55" name="Line 16"/>
              <p:cNvSpPr>
                <a:spLocks noChangeShapeType="1"/>
              </p:cNvSpPr>
              <p:nvPr/>
            </p:nvSpPr>
            <p:spPr bwMode="auto">
              <a:xfrm>
                <a:off x="1824" y="2062"/>
                <a:ext cx="0" cy="24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>
                <a:outerShdw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56" name="Line 17"/>
              <p:cNvSpPr>
                <a:spLocks noChangeShapeType="1"/>
              </p:cNvSpPr>
              <p:nvPr/>
            </p:nvSpPr>
            <p:spPr bwMode="auto">
              <a:xfrm>
                <a:off x="2928" y="2062"/>
                <a:ext cx="0" cy="24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>
                <a:outerShdw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57" name="Line 18"/>
              <p:cNvSpPr>
                <a:spLocks noChangeShapeType="1"/>
              </p:cNvSpPr>
              <p:nvPr/>
            </p:nvSpPr>
            <p:spPr bwMode="auto">
              <a:xfrm>
                <a:off x="4080" y="2062"/>
                <a:ext cx="0" cy="24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>
                <a:outerShdw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58" name="Line 19"/>
              <p:cNvSpPr>
                <a:spLocks noChangeShapeType="1"/>
              </p:cNvSpPr>
              <p:nvPr/>
            </p:nvSpPr>
            <p:spPr bwMode="auto">
              <a:xfrm>
                <a:off x="5232" y="2062"/>
                <a:ext cx="0" cy="24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>
                <a:outerShdw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542" name="Text Box 23"/>
            <p:cNvSpPr txBox="1">
              <a:spLocks noChangeArrowheads="1"/>
            </p:cNvSpPr>
            <p:nvPr/>
          </p:nvSpPr>
          <p:spPr bwMode="auto">
            <a:xfrm>
              <a:off x="231" y="3820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0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105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Replacement Chain Approach (000s)</a:t>
            </a:r>
            <a:br>
              <a:rPr lang="en-US" altLang="en-US" sz="3600" dirty="0"/>
            </a:br>
            <a:r>
              <a:rPr lang="en-US" altLang="en-US" sz="3600" dirty="0"/>
              <a:t>Firm S with Replication</a:t>
            </a:r>
          </a:p>
        </p:txBody>
      </p:sp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E14948-FDF0-4711-AE47-EA7D4BC4F215}" type="slidenum">
              <a:rPr lang="en-US" altLang="en-US">
                <a:latin typeface="Tahoma" panose="020B0604030504040204" pitchFamily="34" charset="0"/>
              </a:rPr>
              <a:pPr eaLnBrk="1" hangingPunct="1"/>
              <a:t>81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69636" name="Group 1054"/>
          <p:cNvGrpSpPr>
            <a:grpSpLocks/>
          </p:cNvGrpSpPr>
          <p:nvPr/>
        </p:nvGrpSpPr>
        <p:grpSpPr bwMode="auto">
          <a:xfrm>
            <a:off x="263525" y="2527300"/>
            <a:ext cx="8340725" cy="3846513"/>
            <a:chOff x="166" y="1592"/>
            <a:chExt cx="5254" cy="2423"/>
          </a:xfrm>
        </p:grpSpPr>
        <p:sp>
          <p:nvSpPr>
            <p:cNvPr id="69637" name="Rectangle 1028"/>
            <p:cNvSpPr>
              <a:spLocks noChangeArrowheads="1"/>
            </p:cNvSpPr>
            <p:nvPr/>
          </p:nvSpPr>
          <p:spPr bwMode="auto">
            <a:xfrm>
              <a:off x="672" y="3648"/>
              <a:ext cx="1761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NPV = $7.547.</a:t>
              </a:r>
            </a:p>
          </p:txBody>
        </p:sp>
        <p:sp>
          <p:nvSpPr>
            <p:cNvPr id="69638" name="Rectangle 1030"/>
            <p:cNvSpPr>
              <a:spLocks noChangeArrowheads="1"/>
            </p:cNvSpPr>
            <p:nvPr/>
          </p:nvSpPr>
          <p:spPr bwMode="auto">
            <a:xfrm>
              <a:off x="550" y="159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69639" name="Rectangle 1031"/>
            <p:cNvSpPr>
              <a:spLocks noChangeArrowheads="1"/>
            </p:cNvSpPr>
            <p:nvPr/>
          </p:nvSpPr>
          <p:spPr bwMode="auto">
            <a:xfrm>
              <a:off x="1697" y="159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9640" name="Rectangle 1032"/>
            <p:cNvSpPr>
              <a:spLocks noChangeArrowheads="1"/>
            </p:cNvSpPr>
            <p:nvPr/>
          </p:nvSpPr>
          <p:spPr bwMode="auto">
            <a:xfrm>
              <a:off x="2808" y="159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69641" name="Rectangle 1033"/>
            <p:cNvSpPr>
              <a:spLocks noChangeArrowheads="1"/>
            </p:cNvSpPr>
            <p:nvPr/>
          </p:nvSpPr>
          <p:spPr bwMode="auto">
            <a:xfrm>
              <a:off x="3950" y="159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69642" name="Rectangle 1034"/>
            <p:cNvSpPr>
              <a:spLocks noChangeArrowheads="1"/>
            </p:cNvSpPr>
            <p:nvPr/>
          </p:nvSpPr>
          <p:spPr bwMode="auto">
            <a:xfrm>
              <a:off x="5095" y="159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9643" name="Rectangle 1036"/>
            <p:cNvSpPr>
              <a:spLocks noChangeArrowheads="1"/>
            </p:cNvSpPr>
            <p:nvPr/>
          </p:nvSpPr>
          <p:spPr bwMode="auto">
            <a:xfrm>
              <a:off x="166" y="2195"/>
              <a:ext cx="1879" cy="1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S:  -100       60</a:t>
              </a:r>
            </a:p>
            <a:p>
              <a:r>
                <a:rPr lang="en-US" altLang="en-US" sz="3200">
                  <a:latin typeface="Tahoma" panose="020B0604030504040204" pitchFamily="34" charset="0"/>
                </a:rPr>
                <a:t>     </a:t>
              </a:r>
              <a:r>
                <a:rPr lang="en-US" altLang="en-US" sz="3200" u="sng">
                  <a:latin typeface="Tahoma" panose="020B0604030504040204" pitchFamily="34" charset="0"/>
                </a:rPr>
                <a:t>      </a:t>
              </a:r>
              <a:r>
                <a:rPr lang="en-US" altLang="en-US" sz="3200">
                  <a:latin typeface="Tahoma" panose="020B0604030504040204" pitchFamily="34" charset="0"/>
                </a:rPr>
                <a:t>       </a:t>
              </a:r>
              <a:r>
                <a:rPr lang="en-US" altLang="en-US" sz="3200" u="sng">
                  <a:latin typeface="Tahoma" panose="020B0604030504040204" pitchFamily="34" charset="0"/>
                </a:rPr>
                <a:t>    </a:t>
              </a:r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     -100       60</a:t>
              </a:r>
            </a:p>
          </p:txBody>
        </p:sp>
        <p:sp>
          <p:nvSpPr>
            <p:cNvPr id="69644" name="Rectangle 1037"/>
            <p:cNvSpPr>
              <a:spLocks noChangeArrowheads="1"/>
            </p:cNvSpPr>
            <p:nvPr/>
          </p:nvSpPr>
          <p:spPr bwMode="auto">
            <a:xfrm>
              <a:off x="2572" y="2195"/>
              <a:ext cx="658" cy="1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   60</a:t>
              </a:r>
            </a:p>
            <a:p>
              <a:r>
                <a:rPr lang="en-US" altLang="en-US" sz="3200">
                  <a:latin typeface="Tahoma" panose="020B0604030504040204" pitchFamily="34" charset="0"/>
                </a:rPr>
                <a:t>-</a:t>
              </a:r>
              <a:r>
                <a:rPr lang="en-US" altLang="en-US" sz="3200" u="sng">
                  <a:latin typeface="Tahoma" panose="020B0604030504040204" pitchFamily="34" charset="0"/>
                </a:rPr>
                <a:t>100</a:t>
              </a:r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  -40</a:t>
              </a:r>
            </a:p>
          </p:txBody>
        </p:sp>
        <p:sp>
          <p:nvSpPr>
            <p:cNvPr id="69645" name="Rectangle 1038"/>
            <p:cNvSpPr>
              <a:spLocks noChangeArrowheads="1"/>
            </p:cNvSpPr>
            <p:nvPr/>
          </p:nvSpPr>
          <p:spPr bwMode="auto">
            <a:xfrm>
              <a:off x="3881" y="2208"/>
              <a:ext cx="394" cy="1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r>
                <a:rPr lang="en-US" altLang="en-US" sz="3200" u="sng">
                  <a:latin typeface="Tahoma" panose="020B0604030504040204" pitchFamily="34" charset="0"/>
                </a:rPr>
                <a:t>60</a:t>
              </a:r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69646" name="Rectangle 1039"/>
            <p:cNvSpPr>
              <a:spLocks noChangeArrowheads="1"/>
            </p:cNvSpPr>
            <p:nvPr/>
          </p:nvSpPr>
          <p:spPr bwMode="auto">
            <a:xfrm>
              <a:off x="5026" y="2208"/>
              <a:ext cx="394" cy="1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r>
                <a:rPr lang="en-US" altLang="en-US" sz="3200" u="sng">
                  <a:latin typeface="Tahoma" panose="020B0604030504040204" pitchFamily="34" charset="0"/>
                </a:rPr>
                <a:t>60</a:t>
              </a:r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69647" name="Line 1045"/>
            <p:cNvSpPr>
              <a:spLocks noChangeShapeType="1"/>
            </p:cNvSpPr>
            <p:nvPr/>
          </p:nvSpPr>
          <p:spPr bwMode="auto">
            <a:xfrm>
              <a:off x="688" y="2081"/>
              <a:ext cx="4544" cy="1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8" name="Line 1046"/>
            <p:cNvSpPr>
              <a:spLocks noChangeShapeType="1"/>
            </p:cNvSpPr>
            <p:nvPr/>
          </p:nvSpPr>
          <p:spPr bwMode="auto">
            <a:xfrm>
              <a:off x="688" y="1966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9" name="Line 1047"/>
            <p:cNvSpPr>
              <a:spLocks noChangeShapeType="1"/>
            </p:cNvSpPr>
            <p:nvPr/>
          </p:nvSpPr>
          <p:spPr bwMode="auto">
            <a:xfrm>
              <a:off x="1824" y="1966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0" name="Line 1048"/>
            <p:cNvSpPr>
              <a:spLocks noChangeShapeType="1"/>
            </p:cNvSpPr>
            <p:nvPr/>
          </p:nvSpPr>
          <p:spPr bwMode="auto">
            <a:xfrm>
              <a:off x="2928" y="1966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1" name="Line 1049"/>
            <p:cNvSpPr>
              <a:spLocks noChangeShapeType="1"/>
            </p:cNvSpPr>
            <p:nvPr/>
          </p:nvSpPr>
          <p:spPr bwMode="auto">
            <a:xfrm>
              <a:off x="4080" y="1966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52" name="Line 1050"/>
            <p:cNvSpPr>
              <a:spLocks noChangeShapeType="1"/>
            </p:cNvSpPr>
            <p:nvPr/>
          </p:nvSpPr>
          <p:spPr bwMode="auto">
            <a:xfrm>
              <a:off x="5232" y="1966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580149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9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NPV</a:t>
            </a:r>
            <a:r>
              <a:rPr lang="en-US" altLang="en-US" baseline="-25000"/>
              <a:t>L</a:t>
            </a:r>
            <a:r>
              <a:rPr lang="en-US" altLang="en-US"/>
              <a:t> &gt; NPV</a:t>
            </a:r>
            <a:r>
              <a:rPr lang="en-US" altLang="en-US" baseline="-25000"/>
              <a:t>S</a:t>
            </a:r>
            <a:r>
              <a:rPr lang="en-US" altLang="en-US"/>
              <a:t>, but is L better? </a:t>
            </a:r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3DEF27-EEF4-4645-99F1-B3FF99E4D7F3}" type="slidenum">
              <a:rPr lang="en-US" altLang="en-US">
                <a:latin typeface="Tahoma" panose="020B0604030504040204" pitchFamily="34" charset="0"/>
              </a:rPr>
              <a:pPr eaLnBrk="1" hangingPunct="1"/>
              <a:t>82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56349" name="Group 29"/>
          <p:cNvGraphicFramePr>
            <a:graphicFrameLocks noGrp="1"/>
          </p:cNvGraphicFramePr>
          <p:nvPr/>
        </p:nvGraphicFramePr>
        <p:xfrm>
          <a:off x="681038" y="2178050"/>
          <a:ext cx="7772400" cy="3732213"/>
        </p:xfrm>
        <a:graphic>
          <a:graphicData uri="http://schemas.openxmlformats.org/drawingml/2006/table">
            <a:tbl>
              <a:tblPr/>
              <a:tblGrid>
                <a:gridCol w="204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0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  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    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33.5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I/YR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NPV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4.132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6.190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10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Or, Use NPVs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589782-2EAE-4F92-87DA-583E96021897}" type="slidenum">
              <a:rPr lang="en-US" altLang="en-US">
                <a:latin typeface="Tahoma" panose="020B0604030504040204" pitchFamily="34" charset="0"/>
              </a:rPr>
              <a:pPr eaLnBrk="1" hangingPunct="1"/>
              <a:t>83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70659" name="Group 1048"/>
          <p:cNvGrpSpPr>
            <a:grpSpLocks/>
          </p:cNvGrpSpPr>
          <p:nvPr/>
        </p:nvGrpSpPr>
        <p:grpSpPr bwMode="auto">
          <a:xfrm>
            <a:off x="693738" y="2511425"/>
            <a:ext cx="8202612" cy="3452813"/>
            <a:chOff x="437" y="1582"/>
            <a:chExt cx="5167" cy="2175"/>
          </a:xfrm>
        </p:grpSpPr>
        <p:sp>
          <p:nvSpPr>
            <p:cNvPr id="70661" name="Rectangle 1026"/>
            <p:cNvSpPr>
              <a:spLocks noChangeArrowheads="1"/>
            </p:cNvSpPr>
            <p:nvPr/>
          </p:nvSpPr>
          <p:spPr bwMode="auto">
            <a:xfrm>
              <a:off x="437" y="3390"/>
              <a:ext cx="4769" cy="367"/>
            </a:xfrm>
            <a:prstGeom prst="rect">
              <a:avLst/>
            </a:prstGeom>
            <a:noFill/>
            <a:ln>
              <a:noFill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latin typeface="Tahoma" panose="020B0604030504040204" pitchFamily="34" charset="0"/>
                </a:rPr>
                <a:t>Compare to Firm L NPV = $6.190.</a:t>
              </a:r>
            </a:p>
          </p:txBody>
        </p:sp>
        <p:sp>
          <p:nvSpPr>
            <p:cNvPr id="70662" name="Rectangle 1028"/>
            <p:cNvSpPr>
              <a:spLocks noChangeArrowheads="1"/>
            </p:cNvSpPr>
            <p:nvPr/>
          </p:nvSpPr>
          <p:spPr bwMode="auto">
            <a:xfrm>
              <a:off x="805" y="158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70663" name="Rectangle 1029"/>
            <p:cNvSpPr>
              <a:spLocks noChangeArrowheads="1"/>
            </p:cNvSpPr>
            <p:nvPr/>
          </p:nvSpPr>
          <p:spPr bwMode="auto">
            <a:xfrm>
              <a:off x="1927" y="158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70664" name="Rectangle 1030"/>
            <p:cNvSpPr>
              <a:spLocks noChangeArrowheads="1"/>
            </p:cNvSpPr>
            <p:nvPr/>
          </p:nvSpPr>
          <p:spPr bwMode="auto">
            <a:xfrm>
              <a:off x="3063" y="158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70665" name="Rectangle 1031"/>
            <p:cNvSpPr>
              <a:spLocks noChangeArrowheads="1"/>
            </p:cNvSpPr>
            <p:nvPr/>
          </p:nvSpPr>
          <p:spPr bwMode="auto">
            <a:xfrm>
              <a:off x="4205" y="158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70666" name="Rectangle 1032"/>
            <p:cNvSpPr>
              <a:spLocks noChangeArrowheads="1"/>
            </p:cNvSpPr>
            <p:nvPr/>
          </p:nvSpPr>
          <p:spPr bwMode="auto">
            <a:xfrm>
              <a:off x="5350" y="158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70667" name="Rectangle 1033"/>
            <p:cNvSpPr>
              <a:spLocks noChangeArrowheads="1"/>
            </p:cNvSpPr>
            <p:nvPr/>
          </p:nvSpPr>
          <p:spPr bwMode="auto">
            <a:xfrm>
              <a:off x="527" y="2160"/>
              <a:ext cx="759" cy="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4.132</a:t>
              </a:r>
            </a:p>
            <a:p>
              <a:r>
                <a:rPr lang="en-US" altLang="en-US" sz="3200" u="sng">
                  <a:latin typeface="Tahoma" panose="020B0604030504040204" pitchFamily="34" charset="0"/>
                </a:rPr>
                <a:t>3.415</a:t>
              </a:r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7.547</a:t>
              </a:r>
            </a:p>
          </p:txBody>
        </p:sp>
        <p:sp>
          <p:nvSpPr>
            <p:cNvPr id="70668" name="Rectangle 1034"/>
            <p:cNvSpPr>
              <a:spLocks noChangeArrowheads="1"/>
            </p:cNvSpPr>
            <p:nvPr/>
          </p:nvSpPr>
          <p:spPr bwMode="auto">
            <a:xfrm>
              <a:off x="2736" y="2160"/>
              <a:ext cx="83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 4.132</a:t>
              </a:r>
            </a:p>
          </p:txBody>
        </p:sp>
        <p:sp>
          <p:nvSpPr>
            <p:cNvPr id="70669" name="Line 1035"/>
            <p:cNvSpPr>
              <a:spLocks noChangeShapeType="1"/>
            </p:cNvSpPr>
            <p:nvPr/>
          </p:nvSpPr>
          <p:spPr bwMode="auto">
            <a:xfrm>
              <a:off x="577" y="3100"/>
              <a:ext cx="634" cy="0"/>
            </a:xfrm>
            <a:prstGeom prst="line">
              <a:avLst/>
            </a:prstGeom>
            <a:noFill/>
            <a:ln w="762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0" name="Line 1036"/>
            <p:cNvSpPr>
              <a:spLocks noChangeShapeType="1"/>
            </p:cNvSpPr>
            <p:nvPr/>
          </p:nvSpPr>
          <p:spPr bwMode="auto">
            <a:xfrm>
              <a:off x="1406" y="2670"/>
              <a:ext cx="17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1" name="Line 1037"/>
            <p:cNvSpPr>
              <a:spLocks noChangeShapeType="1"/>
            </p:cNvSpPr>
            <p:nvPr/>
          </p:nvSpPr>
          <p:spPr bwMode="auto">
            <a:xfrm flipV="1">
              <a:off x="3169" y="2464"/>
              <a:ext cx="0" cy="2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2" name="Rectangle 1038"/>
            <p:cNvSpPr>
              <a:spLocks noChangeArrowheads="1"/>
            </p:cNvSpPr>
            <p:nvPr/>
          </p:nvSpPr>
          <p:spPr bwMode="auto">
            <a:xfrm>
              <a:off x="1936" y="2367"/>
              <a:ext cx="58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10%</a:t>
              </a:r>
            </a:p>
          </p:txBody>
        </p:sp>
        <p:sp>
          <p:nvSpPr>
            <p:cNvPr id="70673" name="Line 1039"/>
            <p:cNvSpPr>
              <a:spLocks noChangeShapeType="1"/>
            </p:cNvSpPr>
            <p:nvPr/>
          </p:nvSpPr>
          <p:spPr bwMode="auto">
            <a:xfrm>
              <a:off x="942" y="2053"/>
              <a:ext cx="4544" cy="1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4" name="Line 1040"/>
            <p:cNvSpPr>
              <a:spLocks noChangeShapeType="1"/>
            </p:cNvSpPr>
            <p:nvPr/>
          </p:nvSpPr>
          <p:spPr bwMode="auto">
            <a:xfrm>
              <a:off x="942" y="1938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5" name="Line 1041"/>
            <p:cNvSpPr>
              <a:spLocks noChangeShapeType="1"/>
            </p:cNvSpPr>
            <p:nvPr/>
          </p:nvSpPr>
          <p:spPr bwMode="auto">
            <a:xfrm>
              <a:off x="2078" y="1938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6" name="Line 1042"/>
            <p:cNvSpPr>
              <a:spLocks noChangeShapeType="1"/>
            </p:cNvSpPr>
            <p:nvPr/>
          </p:nvSpPr>
          <p:spPr bwMode="auto">
            <a:xfrm>
              <a:off x="3182" y="1938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7" name="Line 1043"/>
            <p:cNvSpPr>
              <a:spLocks noChangeShapeType="1"/>
            </p:cNvSpPr>
            <p:nvPr/>
          </p:nvSpPr>
          <p:spPr bwMode="auto">
            <a:xfrm>
              <a:off x="4334" y="1938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78" name="Line 1044"/>
            <p:cNvSpPr>
              <a:spLocks noChangeShapeType="1"/>
            </p:cNvSpPr>
            <p:nvPr/>
          </p:nvSpPr>
          <p:spPr bwMode="auto">
            <a:xfrm>
              <a:off x="5486" y="1938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104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Suppose Cost to Repeat S in Two Years Rises to $105,000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50A456-E801-4AA3-84E0-B54C41306855}" type="slidenum">
              <a:rPr lang="en-US" altLang="en-US">
                <a:latin typeface="Tahoma" panose="020B0604030504040204" pitchFamily="34" charset="0"/>
              </a:rPr>
              <a:pPr eaLnBrk="1" hangingPunct="1"/>
              <a:t>84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71684" name="Group 1050"/>
          <p:cNvGrpSpPr>
            <a:grpSpLocks/>
          </p:cNvGrpSpPr>
          <p:nvPr/>
        </p:nvGrpSpPr>
        <p:grpSpPr bwMode="auto">
          <a:xfrm>
            <a:off x="246063" y="2411413"/>
            <a:ext cx="8623300" cy="4203700"/>
            <a:chOff x="155" y="1519"/>
            <a:chExt cx="5432" cy="2648"/>
          </a:xfrm>
        </p:grpSpPr>
        <p:sp>
          <p:nvSpPr>
            <p:cNvPr id="71686" name="Rectangle 1028"/>
            <p:cNvSpPr>
              <a:spLocks noChangeArrowheads="1"/>
            </p:cNvSpPr>
            <p:nvPr/>
          </p:nvSpPr>
          <p:spPr bwMode="auto">
            <a:xfrm>
              <a:off x="720" y="3552"/>
              <a:ext cx="4492" cy="615"/>
            </a:xfrm>
            <a:prstGeom prst="rect">
              <a:avLst/>
            </a:prstGeom>
            <a:noFill/>
            <a:ln>
              <a:noFill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NPV</a:t>
              </a:r>
              <a:r>
                <a:rPr lang="en-US" altLang="en-US" sz="3200" baseline="-25000">
                  <a:latin typeface="Tahoma" panose="020B0604030504040204" pitchFamily="34" charset="0"/>
                </a:rPr>
                <a:t>S</a:t>
              </a:r>
              <a:r>
                <a:rPr lang="en-US" altLang="en-US" sz="3200">
                  <a:latin typeface="Tahoma" panose="020B0604030504040204" pitchFamily="34" charset="0"/>
                </a:rPr>
                <a:t> = $3.415 &lt; NPV</a:t>
              </a:r>
              <a:r>
                <a:rPr lang="en-US" altLang="en-US" sz="3200" baseline="-25000">
                  <a:latin typeface="Tahoma" panose="020B0604030504040204" pitchFamily="34" charset="0"/>
                </a:rPr>
                <a:t>L</a:t>
              </a:r>
              <a:r>
                <a:rPr lang="en-US" altLang="en-US" sz="3200">
                  <a:latin typeface="Tahoma" panose="020B0604030504040204" pitchFamily="34" charset="0"/>
                </a:rPr>
                <a:t> = $6.190.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Now choose L.</a:t>
              </a:r>
            </a:p>
          </p:txBody>
        </p:sp>
        <p:sp>
          <p:nvSpPr>
            <p:cNvPr id="71687" name="Rectangle 1029"/>
            <p:cNvSpPr>
              <a:spLocks noChangeArrowheads="1"/>
            </p:cNvSpPr>
            <p:nvPr/>
          </p:nvSpPr>
          <p:spPr bwMode="auto">
            <a:xfrm>
              <a:off x="718" y="151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71688" name="Rectangle 1030"/>
            <p:cNvSpPr>
              <a:spLocks noChangeArrowheads="1"/>
            </p:cNvSpPr>
            <p:nvPr/>
          </p:nvSpPr>
          <p:spPr bwMode="auto">
            <a:xfrm>
              <a:off x="1840" y="151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71689" name="Rectangle 1031"/>
            <p:cNvSpPr>
              <a:spLocks noChangeArrowheads="1"/>
            </p:cNvSpPr>
            <p:nvPr/>
          </p:nvSpPr>
          <p:spPr bwMode="auto">
            <a:xfrm>
              <a:off x="2976" y="151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71690" name="Rectangle 1032"/>
            <p:cNvSpPr>
              <a:spLocks noChangeArrowheads="1"/>
            </p:cNvSpPr>
            <p:nvPr/>
          </p:nvSpPr>
          <p:spPr bwMode="auto">
            <a:xfrm>
              <a:off x="4118" y="151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71691" name="Rectangle 1033"/>
            <p:cNvSpPr>
              <a:spLocks noChangeArrowheads="1"/>
            </p:cNvSpPr>
            <p:nvPr/>
          </p:nvSpPr>
          <p:spPr bwMode="auto">
            <a:xfrm>
              <a:off x="5263" y="151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71692" name="Rectangle 1034"/>
            <p:cNvSpPr>
              <a:spLocks noChangeArrowheads="1"/>
            </p:cNvSpPr>
            <p:nvPr/>
          </p:nvSpPr>
          <p:spPr bwMode="auto">
            <a:xfrm>
              <a:off x="155" y="2104"/>
              <a:ext cx="1031" cy="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S:  -100</a:t>
              </a:r>
            </a:p>
            <a:p>
              <a:r>
                <a:rPr lang="en-US" altLang="en-US" sz="3200"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71693" name="Rectangle 1035"/>
            <p:cNvSpPr>
              <a:spLocks noChangeArrowheads="1"/>
            </p:cNvSpPr>
            <p:nvPr/>
          </p:nvSpPr>
          <p:spPr bwMode="auto">
            <a:xfrm>
              <a:off x="1768" y="2104"/>
              <a:ext cx="394" cy="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60</a:t>
              </a:r>
            </a:p>
            <a:p>
              <a:pPr eaLnBrk="1"/>
              <a:endParaRPr lang="en-US" altLang="en-US" sz="3200">
                <a:latin typeface="Tahoma" panose="020B0604030504040204" pitchFamily="34" charset="0"/>
              </a:endParaRPr>
            </a:p>
          </p:txBody>
        </p:sp>
        <p:sp>
          <p:nvSpPr>
            <p:cNvPr id="71694" name="Rectangle 1036"/>
            <p:cNvSpPr>
              <a:spLocks noChangeArrowheads="1"/>
            </p:cNvSpPr>
            <p:nvPr/>
          </p:nvSpPr>
          <p:spPr bwMode="auto">
            <a:xfrm>
              <a:off x="2739" y="2104"/>
              <a:ext cx="653" cy="1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   60</a:t>
              </a:r>
            </a:p>
            <a:p>
              <a:r>
                <a:rPr lang="en-US" altLang="en-US" sz="3200">
                  <a:latin typeface="Tahoma" panose="020B0604030504040204" pitchFamily="34" charset="0"/>
                </a:rPr>
                <a:t>-</a:t>
              </a:r>
              <a:r>
                <a:rPr lang="en-US" altLang="en-US" sz="3200" u="sng">
                  <a:latin typeface="Tahoma" panose="020B0604030504040204" pitchFamily="34" charset="0"/>
                </a:rPr>
                <a:t>105</a:t>
              </a:r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  -45</a:t>
              </a:r>
            </a:p>
          </p:txBody>
        </p:sp>
        <p:sp>
          <p:nvSpPr>
            <p:cNvPr id="71695" name="Rectangle 1038"/>
            <p:cNvSpPr>
              <a:spLocks noChangeArrowheads="1"/>
            </p:cNvSpPr>
            <p:nvPr/>
          </p:nvSpPr>
          <p:spPr bwMode="auto">
            <a:xfrm>
              <a:off x="4048" y="2104"/>
              <a:ext cx="394" cy="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71696" name="Rectangle 1039"/>
            <p:cNvSpPr>
              <a:spLocks noChangeArrowheads="1"/>
            </p:cNvSpPr>
            <p:nvPr/>
          </p:nvSpPr>
          <p:spPr bwMode="auto">
            <a:xfrm>
              <a:off x="5193" y="2104"/>
              <a:ext cx="394" cy="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endParaRPr lang="en-US" altLang="en-US" sz="3200">
                <a:latin typeface="Tahoma" panose="020B0604030504040204" pitchFamily="34" charset="0"/>
              </a:endParaRPr>
            </a:p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71697" name="Line 1040"/>
            <p:cNvSpPr>
              <a:spLocks noChangeShapeType="1"/>
            </p:cNvSpPr>
            <p:nvPr/>
          </p:nvSpPr>
          <p:spPr bwMode="auto">
            <a:xfrm>
              <a:off x="839" y="1960"/>
              <a:ext cx="4544" cy="1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8" name="Line 1041"/>
            <p:cNvSpPr>
              <a:spLocks noChangeShapeType="1"/>
            </p:cNvSpPr>
            <p:nvPr/>
          </p:nvSpPr>
          <p:spPr bwMode="auto">
            <a:xfrm>
              <a:off x="839" y="1845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9" name="Line 1042"/>
            <p:cNvSpPr>
              <a:spLocks noChangeShapeType="1"/>
            </p:cNvSpPr>
            <p:nvPr/>
          </p:nvSpPr>
          <p:spPr bwMode="auto">
            <a:xfrm>
              <a:off x="1975" y="1845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0" name="Line 1043"/>
            <p:cNvSpPr>
              <a:spLocks noChangeShapeType="1"/>
            </p:cNvSpPr>
            <p:nvPr/>
          </p:nvSpPr>
          <p:spPr bwMode="auto">
            <a:xfrm>
              <a:off x="3079" y="1845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1" name="Line 1044"/>
            <p:cNvSpPr>
              <a:spLocks noChangeShapeType="1"/>
            </p:cNvSpPr>
            <p:nvPr/>
          </p:nvSpPr>
          <p:spPr bwMode="auto">
            <a:xfrm>
              <a:off x="4231" y="1845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2" name="Line 1045"/>
            <p:cNvSpPr>
              <a:spLocks noChangeShapeType="1"/>
            </p:cNvSpPr>
            <p:nvPr/>
          </p:nvSpPr>
          <p:spPr bwMode="auto">
            <a:xfrm>
              <a:off x="5383" y="1845"/>
              <a:ext cx="0" cy="24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3" name="Line 1049"/>
            <p:cNvSpPr>
              <a:spLocks noChangeShapeType="1"/>
            </p:cNvSpPr>
            <p:nvPr/>
          </p:nvSpPr>
          <p:spPr bwMode="auto">
            <a:xfrm>
              <a:off x="2880" y="3351"/>
              <a:ext cx="432" cy="0"/>
            </a:xfrm>
            <a:prstGeom prst="line">
              <a:avLst/>
            </a:prstGeom>
            <a:noFill/>
            <a:ln w="762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685" name="Rectangle 24"/>
          <p:cNvSpPr>
            <a:spLocks noChangeArrowheads="1"/>
          </p:cNvSpPr>
          <p:nvPr/>
        </p:nvSpPr>
        <p:spPr bwMode="auto">
          <a:xfrm>
            <a:off x="1749425" y="2722563"/>
            <a:ext cx="801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/>
              <a:t>10%</a:t>
            </a: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Equivalent Annual Annuity Approach (EAA)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Convert PV into a stream of annuity payments with same PV.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S: N=2, I/YR=10, PV=-4.132, FV = 0. Solve for PMT = EAA</a:t>
            </a:r>
            <a:r>
              <a:rPr lang="en-US" altLang="en-US" baseline="-25000" dirty="0"/>
              <a:t>S</a:t>
            </a:r>
            <a:r>
              <a:rPr lang="en-US" altLang="en-US" dirty="0"/>
              <a:t> = $2.38.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L: N=4, I/YR=10, PV=-6.190, FV = 0. Solve for PMT = EAA</a:t>
            </a:r>
            <a:r>
              <a:rPr lang="en-US" altLang="en-US" baseline="-25000" dirty="0"/>
              <a:t>L</a:t>
            </a:r>
            <a:r>
              <a:rPr lang="en-US" altLang="en-US" dirty="0"/>
              <a:t> = $1.95.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S has higher EAA, so it is a better project.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FE302D-48B2-43A0-9528-9AAD816BD96F}" type="slidenum">
              <a:rPr lang="en-US" altLang="en-US">
                <a:latin typeface="Tahoma" panose="020B0604030504040204" pitchFamily="34" charset="0"/>
              </a:rPr>
              <a:pPr eaLnBrk="1" hangingPunct="1"/>
              <a:t>85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93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7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Economic Life versus Physical Life</a:t>
            </a:r>
          </a:p>
        </p:txBody>
      </p:sp>
      <p:sp>
        <p:nvSpPr>
          <p:cNvPr id="72708" name="Rectangle 7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Consider another project with a 3-year life.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If terminated prior to Year 3, machinery will have positive salvage value.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Should you always operate for full physical life?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See next slide for CFs.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EC0C56-96A3-40C2-B8A4-BB6EFD9B5AC9}" type="slidenum">
              <a:rPr lang="en-US" altLang="en-US">
                <a:latin typeface="Tahoma" panose="020B0604030504040204" pitchFamily="34" charset="0"/>
              </a:rPr>
              <a:pPr eaLnBrk="1" hangingPunct="1"/>
              <a:t>86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Economic Life versus Physical Life (Continued)</a:t>
            </a:r>
          </a:p>
        </p:txBody>
      </p:sp>
      <p:graphicFrame>
        <p:nvGraphicFramePr>
          <p:cNvPr id="347139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427553"/>
              </p:ext>
            </p:extLst>
          </p:nvPr>
        </p:nvGraphicFramePr>
        <p:xfrm>
          <a:off x="628650" y="1676400"/>
          <a:ext cx="7886699" cy="4114801"/>
        </p:xfrm>
        <a:graphic>
          <a:graphicData uri="http://schemas.openxmlformats.org/drawingml/2006/table">
            <a:tbl>
              <a:tblPr/>
              <a:tblGrid>
                <a:gridCol w="2388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Salvage Value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-$5,000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2,100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3,100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2,000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2,000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1,750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B676BD-0769-4B41-8A88-BB1DDC00B4AD}" type="slidenum">
              <a:rPr lang="en-US" altLang="en-US">
                <a:latin typeface="Tahoma" panose="020B0604030504040204" pitchFamily="34" charset="0"/>
              </a:rPr>
              <a:pPr eaLnBrk="1" hangingPunct="1"/>
              <a:t>87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9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CFs Under Each Alternative (000s)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B182A65-979B-4DC2-A34F-88171542318E}" type="slidenum">
              <a:rPr lang="en-US" altLang="en-US">
                <a:latin typeface="Tahoma" panose="020B0604030504040204" pitchFamily="34" charset="0"/>
              </a:rPr>
              <a:pPr eaLnBrk="1" hangingPunct="1"/>
              <a:t>88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64540" name="Group 28"/>
          <p:cNvGraphicFramePr>
            <a:graphicFrameLocks noGrp="1"/>
          </p:cNvGraphicFramePr>
          <p:nvPr/>
        </p:nvGraphicFramePr>
        <p:xfrm>
          <a:off x="1182688" y="2017713"/>
          <a:ext cx="7772400" cy="3643320"/>
        </p:xfrm>
        <a:graphic>
          <a:graphicData uri="http://schemas.openxmlformats.org/drawingml/2006/table">
            <a:tbl>
              <a:tblPr/>
              <a:tblGrid>
                <a:gridCol w="434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5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Years:  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1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 No termination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2.1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1.75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 Terminate 2 years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2.1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3. Terminate 1 year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5.2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NPVs under Alternative Lives (Cost of Capital = 10%)</a:t>
            </a:r>
          </a:p>
        </p:txBody>
      </p:sp>
      <p:sp>
        <p:nvSpPr>
          <p:cNvPr id="75780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NPV(3 years)	=  -$123.</a:t>
            </a:r>
          </a:p>
          <a:p>
            <a:pPr eaLnBrk="1" hangingPunct="1"/>
            <a:r>
              <a:rPr lang="en-US" altLang="en-US"/>
              <a:t>NPV(2 years)	=   $215.</a:t>
            </a:r>
          </a:p>
          <a:p>
            <a:pPr eaLnBrk="1" hangingPunct="1"/>
            <a:r>
              <a:rPr lang="en-US" altLang="en-US"/>
              <a:t>NPV(1 year)	=  -$273.</a:t>
            </a:r>
          </a:p>
          <a:p>
            <a:pPr eaLnBrk="1" hangingPunct="1"/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6C3625-D5CD-499B-B4BB-BE87319BAAB8}" type="slidenum">
              <a:rPr lang="en-US" altLang="en-US">
                <a:latin typeface="Tahoma" panose="020B0604030504040204" pitchFamily="34" charset="0"/>
              </a:rPr>
              <a:pPr eaLnBrk="1" hangingPunct="1"/>
              <a:t>89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10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Conclusions</a:t>
            </a:r>
          </a:p>
        </p:txBody>
      </p:sp>
      <p:sp>
        <p:nvSpPr>
          <p:cNvPr id="76804" name="Rectangle 103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project is acceptable only if operated for 2 years.</a:t>
            </a:r>
          </a:p>
          <a:p>
            <a:pPr eaLnBrk="1" hangingPunct="1"/>
            <a:r>
              <a:rPr lang="en-US" altLang="en-US"/>
              <a:t>A project’s engineering life does not always equal its economic life.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4C669F-D77C-45AF-8F63-FF5843986E21}" type="slidenum">
              <a:rPr lang="en-US" altLang="en-US">
                <a:latin typeface="Tahoma" panose="020B0604030504040204" pitchFamily="34" charset="0"/>
              </a:rPr>
              <a:pPr eaLnBrk="1" hangingPunct="1"/>
              <a:t>90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Choosing Optimal Capital Budget</a:t>
            </a:r>
          </a:p>
        </p:txBody>
      </p:sp>
      <p:sp>
        <p:nvSpPr>
          <p:cNvPr id="77828" name="Rectangle 10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Finance theory says to accept all positive NPV projects.</a:t>
            </a:r>
          </a:p>
          <a:p>
            <a:pPr eaLnBrk="1" hangingPunct="1"/>
            <a:r>
              <a:rPr lang="en-US" altLang="en-US"/>
              <a:t>Two problems can occur when there is not enough internally generated cash to fund all positive NPV projects:</a:t>
            </a:r>
          </a:p>
          <a:p>
            <a:pPr lvl="1" eaLnBrk="1" hangingPunct="1"/>
            <a:r>
              <a:rPr lang="en-US" altLang="en-US"/>
              <a:t>An increasing marginal cost of capital.</a:t>
            </a:r>
          </a:p>
          <a:p>
            <a:pPr lvl="1" eaLnBrk="1" hangingPunct="1"/>
            <a:r>
              <a:rPr lang="en-US" altLang="en-US"/>
              <a:t>Capital rationing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1DB4F7-1B12-446D-B0D2-CD7EEE25D484}" type="slidenum">
              <a:rPr lang="en-US" altLang="en-US">
                <a:latin typeface="Tahoma" panose="020B0604030504040204" pitchFamily="34" charset="0"/>
              </a:rPr>
              <a:pPr eaLnBrk="1" hangingPunct="1"/>
              <a:t>91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Increasing Marginal Cost of Capital</a:t>
            </a:r>
          </a:p>
        </p:txBody>
      </p:sp>
      <p:sp>
        <p:nvSpPr>
          <p:cNvPr id="78852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Externally raised capital can have large flotation costs, which increase cost of capital.</a:t>
            </a:r>
          </a:p>
          <a:p>
            <a:pPr eaLnBrk="1" hangingPunct="1"/>
            <a:r>
              <a:rPr lang="en-US" altLang="en-US" dirty="0"/>
              <a:t>Investors often perceive large capital budgets as being risky, which drives up cost of capital.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87FAEA2-EC9A-4A97-A359-AE1867C9E8E0}" type="slidenum">
              <a:rPr lang="en-US" altLang="en-US">
                <a:latin typeface="Tahoma" panose="020B0604030504040204" pitchFamily="34" charset="0"/>
              </a:rPr>
              <a:pPr eaLnBrk="1" hangingPunct="1"/>
              <a:t>92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8853" name="Rectangle 1028"/>
          <p:cNvSpPr>
            <a:spLocks noChangeArrowheads="1"/>
          </p:cNvSpPr>
          <p:nvPr/>
        </p:nvSpPr>
        <p:spPr bwMode="auto">
          <a:xfrm>
            <a:off x="7553325" y="5854700"/>
            <a:ext cx="1438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/>
              <a:t>(More...)</a:t>
            </a: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C081-6779-F956-9494-768C9271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Increasing Marginal Cost of Capital (Continued)</a:t>
            </a:r>
            <a:endParaRPr lang="en-US" dirty="0"/>
          </a:p>
        </p:txBody>
      </p:sp>
      <p:sp>
        <p:nvSpPr>
          <p:cNvPr id="7987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If external funds will be raised, then NPV of all projects should be estimated using this higher marginal cost of capital.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E12DDA-B3EE-4F4D-AF79-C9CDCC20AD11}" type="slidenum">
              <a:rPr lang="en-US" altLang="en-US">
                <a:latin typeface="Tahoma" panose="020B0604030504040204" pitchFamily="34" charset="0"/>
              </a:rPr>
              <a:pPr eaLnBrk="1" hangingPunct="1"/>
              <a:t>93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Capital Rationing</a:t>
            </a:r>
          </a:p>
        </p:txBody>
      </p:sp>
      <p:sp>
        <p:nvSpPr>
          <p:cNvPr id="8090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en-US" dirty="0"/>
              <a:t>Capital rationing occurs when a company chooses not to fund all positive NPV projects.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en-US" dirty="0"/>
              <a:t>The company typically sets an upper limit on total amount of capital expenditures that it will make in upcoming year.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569099-FA0D-4BA5-94A1-9BBBE48C88EA}" type="slidenum">
              <a:rPr lang="en-US" altLang="en-US">
                <a:latin typeface="Tahoma" panose="020B0604030504040204" pitchFamily="34" charset="0"/>
              </a:rPr>
              <a:pPr eaLnBrk="1" hangingPunct="1"/>
              <a:t>94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7553325" y="5791200"/>
            <a:ext cx="1438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/>
              <a:t>(More...)</a:t>
            </a: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DF14-AF1D-0806-262C-4C931D3B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Capital Rationing (Continued)</a:t>
            </a:r>
            <a:endParaRPr lang="en-US" dirty="0"/>
          </a:p>
        </p:txBody>
      </p:sp>
      <p:sp>
        <p:nvSpPr>
          <p:cNvPr id="8192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en-US" dirty="0"/>
              <a:t>Reason:  Companies want to avoid direct costs (i.e., flotation costs) &amp; indirect costs of issuing new capital.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en-US" dirty="0"/>
              <a:t>Solution:  Increase cost of capital by enough to reflect all of these costs, &amp; then accept all projects that still have a positive NPV with higher cost of capital.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1BF24C-2B5F-4499-A12D-F53176CCE73D}" type="slidenum">
              <a:rPr lang="en-US" altLang="en-US">
                <a:latin typeface="Tahoma" panose="020B0604030504040204" pitchFamily="34" charset="0"/>
              </a:rPr>
              <a:pPr eaLnBrk="1" hangingPunct="1"/>
              <a:t>95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1924" name="Rectangle 3"/>
          <p:cNvSpPr>
            <a:spLocks noChangeArrowheads="1"/>
          </p:cNvSpPr>
          <p:nvPr/>
        </p:nvSpPr>
        <p:spPr bwMode="auto">
          <a:xfrm>
            <a:off x="7477125" y="5854700"/>
            <a:ext cx="1438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/>
              <a:t>(More...)</a:t>
            </a: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EA3F-95CA-B000-B975-24BF59ED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Capital Rationing (Continued)</a:t>
            </a:r>
            <a:endParaRPr lang="en-US" dirty="0"/>
          </a:p>
        </p:txBody>
      </p:sp>
      <p:sp>
        <p:nvSpPr>
          <p:cNvPr id="8294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en-US" dirty="0"/>
              <a:t>Reason:  Companies don’t have enough managerial, marketing, or engineering staff to implement all positive NPV projects.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en-US" dirty="0"/>
              <a:t>Solution:  Use linear programming to maximize NPV subject to not exceeding constraints on staffing.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ED0C09-58C2-4AE6-9DA1-BFB8DAE993F7}" type="slidenum">
              <a:rPr lang="en-US" altLang="en-US">
                <a:latin typeface="Tahoma" panose="020B0604030504040204" pitchFamily="34" charset="0"/>
              </a:rPr>
              <a:pPr eaLnBrk="1" hangingPunct="1"/>
              <a:t>96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7553325" y="5854700"/>
            <a:ext cx="1438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/>
              <a:t>(More...)</a:t>
            </a: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D458-38CE-EE4A-9865-987A8458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Capital Rationing (Continued)</a:t>
            </a:r>
            <a:endParaRPr lang="en-US" dirty="0"/>
          </a:p>
        </p:txBody>
      </p:sp>
      <p:sp>
        <p:nvSpPr>
          <p:cNvPr id="8397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en-US" dirty="0"/>
              <a:t>Reason:  Companies believe that project’s managers forecast unreasonably high CF estimates, so companies “filter” out worst projects by limiting total amount of projects that can be accepted.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Solution:  Implement a post-audit process &amp; tie managers’ compensation to subsequent performance of project.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EE0B7A-DBA1-4FAF-98E5-EB141D146F4A}" type="slidenum">
              <a:rPr lang="en-US" altLang="en-US">
                <a:latin typeface="Tahoma" panose="020B0604030504040204" pitchFamily="34" charset="0"/>
              </a:rPr>
              <a:pPr eaLnBrk="1" hangingPunct="1"/>
              <a:t>97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418</TotalTime>
  <Pages>24</Pages>
  <Words>3932</Words>
  <Application>Microsoft Office PowerPoint</Application>
  <PresentationFormat>On-screen Show (4:3)</PresentationFormat>
  <Paragraphs>1141</Paragraphs>
  <Slides>97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7" baseType="lpstr">
      <vt:lpstr>Arial</vt:lpstr>
      <vt:lpstr>Calibri</vt:lpstr>
      <vt:lpstr>Calibri Light</vt:lpstr>
      <vt:lpstr>Dreaming Outloud Script Pro</vt:lpstr>
      <vt:lpstr>MS Reference Sans Serif</vt:lpstr>
      <vt:lpstr>Tahoma</vt:lpstr>
      <vt:lpstr>Times New Roman</vt:lpstr>
      <vt:lpstr>Wingdings</vt:lpstr>
      <vt:lpstr>Office Theme</vt:lpstr>
      <vt:lpstr>Chart</vt:lpstr>
      <vt:lpstr>Chapter 10</vt:lpstr>
      <vt:lpstr>Topics</vt:lpstr>
      <vt:lpstr>CAPITAL BUDGETING</vt:lpstr>
      <vt:lpstr>The Big Picture: The Net Present Value of a Project</vt:lpstr>
      <vt:lpstr>VALUE of ASSET TODAY</vt:lpstr>
      <vt:lpstr>Capital Budgeting</vt:lpstr>
      <vt:lpstr>Cap. Budgeting &amp; CFs</vt:lpstr>
      <vt:lpstr>Cap Budgeting Evaluation Methods</vt:lpstr>
      <vt:lpstr>What is capital budgeting?</vt:lpstr>
      <vt:lpstr>Steps in Capital Budgeting</vt:lpstr>
      <vt:lpstr>Capital Budgeting Project Categories</vt:lpstr>
      <vt:lpstr>Independent versus  Mutually Exclusive Projects</vt:lpstr>
      <vt:lpstr>Normal vs. Nonnormal CFs</vt:lpstr>
      <vt:lpstr>Inflow (+) or Outflow (-) in Year</vt:lpstr>
      <vt:lpstr>Cash Flows for Firms L &amp; S</vt:lpstr>
      <vt:lpstr>Expected Net CFs</vt:lpstr>
      <vt:lpstr>What is payback period?</vt:lpstr>
      <vt:lpstr>Payback for Firm L</vt:lpstr>
      <vt:lpstr>Payback for Firm S</vt:lpstr>
      <vt:lpstr>Strengths  &amp; Weaknesses of Payback</vt:lpstr>
      <vt:lpstr>Expected Net CFs</vt:lpstr>
      <vt:lpstr>Discounted Payback: Uses Discounted CFs</vt:lpstr>
      <vt:lpstr>Expected Net CFs</vt:lpstr>
      <vt:lpstr>NPV: Sum of PVs of All CFs</vt:lpstr>
      <vt:lpstr>What’s Firm L’s  NPV?</vt:lpstr>
      <vt:lpstr>Solving Using CFs</vt:lpstr>
      <vt:lpstr>NPV &amp; Excel</vt:lpstr>
      <vt:lpstr>Rationale for NPV Method</vt:lpstr>
      <vt:lpstr>Using NPV which firm(s) should be accepted?</vt:lpstr>
      <vt:lpstr>Internal Rate of Return:  IRR</vt:lpstr>
      <vt:lpstr>Internal Rate of Return:  IRR</vt:lpstr>
      <vt:lpstr>Expected Net CFs</vt:lpstr>
      <vt:lpstr>What’s Firm L’s IRR?</vt:lpstr>
      <vt:lpstr>IRR: Solving Using CFs</vt:lpstr>
      <vt:lpstr>Find IRR if CFs are Constant</vt:lpstr>
      <vt:lpstr>IRR &amp; Excel</vt:lpstr>
      <vt:lpstr>Rationale for IRR Method</vt:lpstr>
      <vt:lpstr>IRR Decisions on Firms S and L</vt:lpstr>
      <vt:lpstr>Solving Using CFs: NPV &amp; IRR</vt:lpstr>
      <vt:lpstr>Result Conflicts: Construct NPV Profiles</vt:lpstr>
      <vt:lpstr>Crossover Rate</vt:lpstr>
      <vt:lpstr>To Find Crossover Rate</vt:lpstr>
      <vt:lpstr>NPV Profile</vt:lpstr>
      <vt:lpstr>NPV Profile &amp; Relevant Acceptance Range</vt:lpstr>
      <vt:lpstr>Mutually Exclusive Projects</vt:lpstr>
      <vt:lpstr>NPV &amp; IRR: No conflict for independent projects.</vt:lpstr>
      <vt:lpstr>Two Reasons NPV Profiles Cross</vt:lpstr>
      <vt:lpstr>Reinvestment Rate Assumptions</vt:lpstr>
      <vt:lpstr>Expected Net CFs &amp; MIRR</vt:lpstr>
      <vt:lpstr>Modified Internal Rate of Return (MIRR)</vt:lpstr>
      <vt:lpstr>MIRR for Firm L with r=10% First, Find PV (outs) &amp; FV (ins)</vt:lpstr>
      <vt:lpstr>Second, Find Discount Rate that Equates NPV &amp; NFV</vt:lpstr>
      <vt:lpstr>To find FV with 12B: Step 1, Find PV of Inflows</vt:lpstr>
      <vt:lpstr>Step 2, Find FV of Inflows</vt:lpstr>
      <vt:lpstr>Step 3, Find PV of Outflows</vt:lpstr>
      <vt:lpstr>Step 4, Find “i% or IRR” of FV of Inflows &amp; PV of Outflows to get MIRR</vt:lpstr>
      <vt:lpstr>MIRR in Excel</vt:lpstr>
      <vt:lpstr>Expected Net CFs &amp; MIRR: Non-normal CFs</vt:lpstr>
      <vt:lpstr>Expected Net CFs &amp; MIRR: Non-normal CFs</vt:lpstr>
      <vt:lpstr>Why use MIRR versus IRR?</vt:lpstr>
      <vt:lpstr>Profitability Index</vt:lpstr>
      <vt:lpstr>Expected Net CFs &amp; Profitability Index </vt:lpstr>
      <vt:lpstr>Firm L’s PV of Future CFs</vt:lpstr>
      <vt:lpstr>Firm L’s PV of Future CFs</vt:lpstr>
      <vt:lpstr>Expected Net CFs &amp; Profitability Index </vt:lpstr>
      <vt:lpstr>Firm L’s Profitability Index</vt:lpstr>
      <vt:lpstr>Expected Net CFs &amp; Profitabilty Index</vt:lpstr>
      <vt:lpstr>Expected Net CFs &amp; Profitabilty Index</vt:lpstr>
      <vt:lpstr>Normal vs. Nonnormal CFs</vt:lpstr>
      <vt:lpstr>Inflow (+) or Outflow (-) in Year</vt:lpstr>
      <vt:lpstr>Pavilion Project: NPV &amp; IRR?</vt:lpstr>
      <vt:lpstr>Nonnormal CFs—Two Sign Changes, Two IRRs</vt:lpstr>
      <vt:lpstr>Logic of Multiple IRRs</vt:lpstr>
      <vt:lpstr>Finding Multiple IRRs with Calculator</vt:lpstr>
      <vt:lpstr>Finding Upper IRR with Calculator</vt:lpstr>
      <vt:lpstr>When There are Nonnormal CFs &amp; More than One IRR, Use MIRR</vt:lpstr>
      <vt:lpstr>Accept Project P?</vt:lpstr>
      <vt:lpstr>Expected Net CFs &amp; Different Project Lengths</vt:lpstr>
      <vt:lpstr>Put Projects on Common Basis</vt:lpstr>
      <vt:lpstr>S &amp; L are Mutually Exclusive &amp; Will Be Repeated, r = 10%</vt:lpstr>
      <vt:lpstr>Replacement Chain Approach (000s) Firm S with Replication</vt:lpstr>
      <vt:lpstr>NPVL &gt; NPVS, but is L better? </vt:lpstr>
      <vt:lpstr>Or, Use NPVs</vt:lpstr>
      <vt:lpstr>Suppose Cost to Repeat S in Two Years Rises to $105,000</vt:lpstr>
      <vt:lpstr>Equivalent Annual Annuity Approach (EAA)</vt:lpstr>
      <vt:lpstr>Economic Life versus Physical Life</vt:lpstr>
      <vt:lpstr>Economic Life versus Physical Life (Continued)</vt:lpstr>
      <vt:lpstr>CFs Under Each Alternative (000s)</vt:lpstr>
      <vt:lpstr>NPVs under Alternative Lives (Cost of Capital = 10%)</vt:lpstr>
      <vt:lpstr>Conclusions</vt:lpstr>
      <vt:lpstr>Choosing Optimal Capital Budget</vt:lpstr>
      <vt:lpstr>Increasing Marginal Cost of Capital</vt:lpstr>
      <vt:lpstr>Increasing Marginal Cost of Capital (Continued)</vt:lpstr>
      <vt:lpstr>Capital Rationing</vt:lpstr>
      <vt:lpstr>Capital Rationing (Continued)</vt:lpstr>
      <vt:lpstr>Capital Rationing (Continued)</vt:lpstr>
      <vt:lpstr>Capital Rationing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</dc:title>
  <dc:subject>Powerpoint show</dc:subject>
  <dc:creator>Donna Hall</dc:creator>
  <cp:lastModifiedBy>Robert M Donchez</cp:lastModifiedBy>
  <cp:revision>56</cp:revision>
  <cp:lastPrinted>2022-10-20T01:58:08Z</cp:lastPrinted>
  <dcterms:created xsi:type="dcterms:W3CDTF">2022-07-22T20:49:10Z</dcterms:created>
  <dcterms:modified xsi:type="dcterms:W3CDTF">2024-04-01T03:53:38Z</dcterms:modified>
</cp:coreProperties>
</file>