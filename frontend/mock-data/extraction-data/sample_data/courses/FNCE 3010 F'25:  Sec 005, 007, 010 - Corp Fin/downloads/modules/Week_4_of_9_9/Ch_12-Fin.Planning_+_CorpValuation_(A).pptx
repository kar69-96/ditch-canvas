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70"/>
  </p:notesMasterIdLst>
  <p:handoutMasterIdLst>
    <p:handoutMasterId r:id="rId71"/>
  </p:handoutMasterIdLst>
  <p:sldIdLst>
    <p:sldId id="328" r:id="rId2"/>
    <p:sldId id="329" r:id="rId3"/>
    <p:sldId id="345" r:id="rId4"/>
    <p:sldId id="257" r:id="rId5"/>
    <p:sldId id="407" r:id="rId6"/>
    <p:sldId id="408" r:id="rId7"/>
    <p:sldId id="410" r:id="rId8"/>
    <p:sldId id="409" r:id="rId9"/>
    <p:sldId id="376" r:id="rId10"/>
    <p:sldId id="377" r:id="rId11"/>
    <p:sldId id="378" r:id="rId12"/>
    <p:sldId id="379" r:id="rId13"/>
    <p:sldId id="385" r:id="rId14"/>
    <p:sldId id="366" r:id="rId15"/>
    <p:sldId id="367" r:id="rId16"/>
    <p:sldId id="368" r:id="rId17"/>
    <p:sldId id="374" r:id="rId18"/>
    <p:sldId id="382" r:id="rId19"/>
    <p:sldId id="380" r:id="rId20"/>
    <p:sldId id="381" r:id="rId21"/>
    <p:sldId id="383" r:id="rId22"/>
    <p:sldId id="403" r:id="rId23"/>
    <p:sldId id="404" r:id="rId24"/>
    <p:sldId id="405" r:id="rId25"/>
    <p:sldId id="402" r:id="rId26"/>
    <p:sldId id="401" r:id="rId27"/>
    <p:sldId id="411" r:id="rId28"/>
    <p:sldId id="386" r:id="rId29"/>
    <p:sldId id="387" r:id="rId30"/>
    <p:sldId id="388" r:id="rId31"/>
    <p:sldId id="389" r:id="rId32"/>
    <p:sldId id="390" r:id="rId33"/>
    <p:sldId id="394" r:id="rId34"/>
    <p:sldId id="395" r:id="rId35"/>
    <p:sldId id="396" r:id="rId36"/>
    <p:sldId id="397" r:id="rId37"/>
    <p:sldId id="391" r:id="rId38"/>
    <p:sldId id="392" r:id="rId39"/>
    <p:sldId id="393" r:id="rId40"/>
    <p:sldId id="406" r:id="rId41"/>
    <p:sldId id="369" r:id="rId42"/>
    <p:sldId id="370" r:id="rId43"/>
    <p:sldId id="371" r:id="rId44"/>
    <p:sldId id="372" r:id="rId45"/>
    <p:sldId id="373" r:id="rId46"/>
    <p:sldId id="353" r:id="rId47"/>
    <p:sldId id="354" r:id="rId48"/>
    <p:sldId id="259" r:id="rId49"/>
    <p:sldId id="260" r:id="rId50"/>
    <p:sldId id="264" r:id="rId51"/>
    <p:sldId id="346" r:id="rId52"/>
    <p:sldId id="352" r:id="rId53"/>
    <p:sldId id="333" r:id="rId54"/>
    <p:sldId id="334" r:id="rId55"/>
    <p:sldId id="357" r:id="rId56"/>
    <p:sldId id="358" r:id="rId57"/>
    <p:sldId id="336" r:id="rId58"/>
    <p:sldId id="335" r:id="rId59"/>
    <p:sldId id="267" r:id="rId60"/>
    <p:sldId id="337" r:id="rId61"/>
    <p:sldId id="338" r:id="rId62"/>
    <p:sldId id="360" r:id="rId63"/>
    <p:sldId id="361" r:id="rId64"/>
    <p:sldId id="342" r:id="rId65"/>
    <p:sldId id="344" r:id="rId66"/>
    <p:sldId id="343" r:id="rId67"/>
    <p:sldId id="362" r:id="rId68"/>
    <p:sldId id="363" r:id="rId69"/>
  </p:sldIdLst>
  <p:sldSz cx="9144000" cy="6858000" type="screen4x3"/>
  <p:notesSz cx="6954838" cy="93091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6" autoAdjust="0"/>
    <p:restoredTop sz="94694" autoAdjust="0"/>
  </p:normalViewPr>
  <p:slideViewPr>
    <p:cSldViewPr>
      <p:cViewPr varScale="1">
        <p:scale>
          <a:sx n="107" d="100"/>
          <a:sy n="107" d="100"/>
        </p:scale>
        <p:origin x="154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21188"/>
            <a:ext cx="5095875" cy="418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704850"/>
            <a:ext cx="4637088" cy="3476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700088"/>
            <a:ext cx="4651375" cy="3489325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84" y="4420869"/>
            <a:ext cx="5563870" cy="418877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For value box in Ch 4 time value FM13.</a:t>
            </a:r>
          </a:p>
        </p:txBody>
      </p:sp>
    </p:spTree>
    <p:extLst>
      <p:ext uri="{BB962C8B-B14F-4D97-AF65-F5344CB8AC3E}">
        <p14:creationId xmlns:p14="http://schemas.microsoft.com/office/powerpoint/2010/main" val="242879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65EDD5-6773-4CA3-88B0-C8A4F1F860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19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177776-B90A-4E6A-846D-A6504A705842}" type="slidenum">
              <a:rPr lang="en-US" altLang="en-US">
                <a:solidFill>
                  <a:schemeClr val="bg2"/>
                </a:solidFill>
                <a:latin typeface="Tahoma" panose="020B0604030504040204" pitchFamily="34" charset="0"/>
              </a:rPr>
              <a:pPr eaLnBrk="1" hangingPunct="1"/>
              <a:t>1</a:t>
            </a:fld>
            <a:endParaRPr lang="en-US" altLang="en-US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12</a:t>
            </a:r>
          </a:p>
        </p:txBody>
      </p:sp>
      <p:sp>
        <p:nvSpPr>
          <p:cNvPr id="3076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Financial Planning &amp; Forecasting  Financial Statements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6A6440-D9B8-4564-A1DD-E236E5B90110}" type="slidenum">
              <a:rPr lang="en-US" altLang="en-US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0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 in Chapter</a:t>
            </a:r>
          </a:p>
        </p:txBody>
      </p:sp>
      <p:sp>
        <p:nvSpPr>
          <p:cNvPr id="410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961312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Financial planning</a:t>
            </a:r>
          </a:p>
          <a:p>
            <a:pPr eaLnBrk="1" hangingPunct="1"/>
            <a:r>
              <a:rPr lang="en-US" altLang="en-US"/>
              <a:t>Additional funds needed (AFN) equation</a:t>
            </a:r>
          </a:p>
          <a:p>
            <a:pPr eaLnBrk="1" hangingPunct="1"/>
            <a:r>
              <a:rPr lang="en-US" altLang="en-US"/>
              <a:t>Forecasted financial statements</a:t>
            </a:r>
          </a:p>
          <a:p>
            <a:pPr lvl="1" eaLnBrk="1" hangingPunct="1"/>
            <a:r>
              <a:rPr lang="en-US" altLang="en-US"/>
              <a:t>Sales forecasts</a:t>
            </a:r>
          </a:p>
          <a:p>
            <a:pPr lvl="1" eaLnBrk="1" hangingPunct="1"/>
            <a:r>
              <a:rPr lang="en-US" altLang="en-US"/>
              <a:t>Operating input data</a:t>
            </a:r>
          </a:p>
          <a:p>
            <a:pPr lvl="1" eaLnBrk="1" hangingPunct="1"/>
            <a:r>
              <a:rPr lang="en-US" altLang="en-US"/>
              <a:t>Financial policy issues</a:t>
            </a:r>
          </a:p>
          <a:p>
            <a:pPr eaLnBrk="1" hangingPunct="1"/>
            <a:r>
              <a:rPr lang="en-US" altLang="en-US"/>
              <a:t>Changing ratios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34"/>
          <p:cNvGrpSpPr>
            <a:grpSpLocks/>
          </p:cNvGrpSpPr>
          <p:nvPr/>
        </p:nvGrpSpPr>
        <p:grpSpPr bwMode="auto">
          <a:xfrm>
            <a:off x="0" y="1130180"/>
            <a:ext cx="9144000" cy="5727820"/>
            <a:chOff x="0" y="0"/>
            <a:chExt cx="5760" cy="4320"/>
          </a:xfrm>
        </p:grpSpPr>
        <p:sp>
          <p:nvSpPr>
            <p:cNvPr id="5123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/>
            </a:p>
          </p:txBody>
        </p:sp>
        <p:sp>
          <p:nvSpPr>
            <p:cNvPr id="5124" name="AutoShape 4"/>
            <p:cNvSpPr>
              <a:spLocks noChangeArrowheads="1"/>
            </p:cNvSpPr>
            <p:nvPr/>
          </p:nvSpPr>
          <p:spPr bwMode="auto">
            <a:xfrm>
              <a:off x="456" y="3552"/>
              <a:ext cx="4752" cy="576"/>
            </a:xfrm>
            <a:prstGeom prst="roundRect">
              <a:avLst>
                <a:gd name="adj" fmla="val 16667"/>
              </a:avLst>
            </a:prstGeom>
            <a:solidFill>
              <a:srgbClr val="A3D5D9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>
              <a:prstShdw prst="shdw13" dist="53882" dir="13500000">
                <a:schemeClr val="bg2">
                  <a:alpha val="50000"/>
                </a:schemeClr>
              </a:prstShdw>
            </a:effec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432" y="3696"/>
              <a:ext cx="371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solidFill>
                    <a:schemeClr val="tx2"/>
                  </a:solidFill>
                </a:rPr>
                <a:t>Value =                        +                         + </a:t>
              </a:r>
              <a:r>
                <a:rPr lang="en-US" altLang="en-US" sz="2000" b="1" dirty="0">
                  <a:solidFill>
                    <a:schemeClr val="tx2"/>
                  </a:solidFill>
                  <a:latin typeface="MS Reference Sans Serif" panose="020B0604030504040204" pitchFamily="34" charset="0"/>
                </a:rPr>
                <a:t>··· </a:t>
              </a:r>
              <a:r>
                <a:rPr lang="en-US" altLang="en-US" sz="2000" b="1" dirty="0">
                  <a:solidFill>
                    <a:schemeClr val="tx2"/>
                  </a:solidFill>
                </a:rPr>
                <a:t>+</a:t>
              </a: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1392" y="3552"/>
              <a:ext cx="6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FCF</a:t>
              </a:r>
              <a:r>
                <a:rPr lang="en-US" altLang="en-US" sz="2000" b="1" baseline="-25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2736" y="3552"/>
              <a:ext cx="6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FCF</a:t>
              </a:r>
              <a:r>
                <a:rPr lang="en-US" altLang="en-US" sz="2000" b="1" baseline="-250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4320" y="3552"/>
              <a:ext cx="6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FCF</a:t>
              </a:r>
              <a:r>
                <a:rPr lang="en-US" altLang="en-US" sz="2000" b="1" baseline="-25000">
                  <a:solidFill>
                    <a:schemeClr val="tx2"/>
                  </a:solidFill>
                </a:rPr>
                <a:t>∞</a:t>
              </a:r>
            </a:p>
          </p:txBody>
        </p:sp>
        <p:sp>
          <p:nvSpPr>
            <p:cNvPr id="5129" name="Text Box 9"/>
            <p:cNvSpPr txBox="1">
              <a:spLocks noChangeArrowheads="1"/>
            </p:cNvSpPr>
            <p:nvPr/>
          </p:nvSpPr>
          <p:spPr bwMode="auto">
            <a:xfrm>
              <a:off x="1104" y="3803"/>
              <a:ext cx="129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(1 + WACC)</a:t>
              </a:r>
              <a:r>
                <a:rPr lang="en-US" altLang="en-US" sz="2000" b="1" baseline="30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4032" y="3792"/>
              <a:ext cx="120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(1 + WACC)</a:t>
              </a:r>
              <a:r>
                <a:rPr lang="en-US" altLang="en-US" sz="2000" b="1" baseline="30000">
                  <a:solidFill>
                    <a:schemeClr val="tx2"/>
                  </a:solidFill>
                </a:rPr>
                <a:t>∞</a:t>
              </a:r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2448" y="3803"/>
              <a:ext cx="124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tx2"/>
                  </a:solidFill>
                </a:rPr>
                <a:t>(1 + WACC)</a:t>
              </a:r>
              <a:r>
                <a:rPr lang="en-US" altLang="en-US" sz="2000" b="1" baseline="300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>
              <a:off x="1200" y="3840"/>
              <a:ext cx="96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2496" y="3840"/>
              <a:ext cx="1008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5134" name="Line 14"/>
            <p:cNvSpPr>
              <a:spLocks noChangeShapeType="1"/>
            </p:cNvSpPr>
            <p:nvPr/>
          </p:nvSpPr>
          <p:spPr bwMode="auto">
            <a:xfrm>
              <a:off x="4128" y="3840"/>
              <a:ext cx="96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5135" name="AutoShape 15"/>
            <p:cNvSpPr>
              <a:spLocks noChangeArrowheads="1"/>
            </p:cNvSpPr>
            <p:nvPr/>
          </p:nvSpPr>
          <p:spPr bwMode="auto">
            <a:xfrm>
              <a:off x="1345" y="2678"/>
              <a:ext cx="1099" cy="41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Free cash flow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(FCF)</a:t>
              </a:r>
            </a:p>
          </p:txBody>
        </p:sp>
        <p:sp>
          <p:nvSpPr>
            <p:cNvPr id="5136" name="AutoShape 16"/>
            <p:cNvSpPr>
              <a:spLocks noChangeArrowheads="1"/>
            </p:cNvSpPr>
            <p:nvPr/>
          </p:nvSpPr>
          <p:spPr bwMode="auto">
            <a:xfrm>
              <a:off x="3552" y="2453"/>
              <a:ext cx="1358" cy="693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Weighted average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cost of capital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(WACC</a:t>
              </a:r>
              <a:r>
                <a:rPr lang="en-US" altLang="en-US" sz="1400" b="1" dirty="0"/>
                <a:t>)</a:t>
              </a:r>
            </a:p>
          </p:txBody>
        </p:sp>
        <p:sp>
          <p:nvSpPr>
            <p:cNvPr id="5137" name="AutoShape 17"/>
            <p:cNvSpPr>
              <a:spLocks noChangeArrowheads="1"/>
            </p:cNvSpPr>
            <p:nvPr/>
          </p:nvSpPr>
          <p:spPr bwMode="auto">
            <a:xfrm>
              <a:off x="295" y="1536"/>
              <a:ext cx="926" cy="66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Projected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income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statements</a:t>
              </a:r>
            </a:p>
          </p:txBody>
        </p:sp>
        <p:sp>
          <p:nvSpPr>
            <p:cNvPr id="5138" name="AutoShape 18"/>
            <p:cNvSpPr>
              <a:spLocks noChangeArrowheads="1"/>
            </p:cNvSpPr>
            <p:nvPr/>
          </p:nvSpPr>
          <p:spPr bwMode="auto">
            <a:xfrm>
              <a:off x="2640" y="1632"/>
              <a:ext cx="800" cy="56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Projected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balance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/>
                <a:t>sheets</a:t>
              </a:r>
            </a:p>
          </p:txBody>
        </p:sp>
        <p:sp>
          <p:nvSpPr>
            <p:cNvPr id="5139" name="AutoShape 19"/>
            <p:cNvSpPr>
              <a:spLocks noChangeArrowheads="1"/>
            </p:cNvSpPr>
            <p:nvPr/>
          </p:nvSpPr>
          <p:spPr bwMode="auto">
            <a:xfrm>
              <a:off x="288" y="768"/>
              <a:ext cx="914" cy="151"/>
            </a:xfrm>
            <a:prstGeom prst="notchedRightArrow">
              <a:avLst>
                <a:gd name="adj1" fmla="val 50000"/>
                <a:gd name="adj2" fmla="val 151325"/>
              </a:avLst>
            </a:prstGeom>
            <a:solidFill>
              <a:schemeClr val="tx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140" name="Text Box 20"/>
            <p:cNvSpPr txBox="1">
              <a:spLocks noChangeArrowheads="1"/>
            </p:cNvSpPr>
            <p:nvPr/>
          </p:nvSpPr>
          <p:spPr bwMode="auto">
            <a:xfrm>
              <a:off x="384" y="140"/>
              <a:ext cx="48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5141" name="AutoShape 21"/>
            <p:cNvSpPr>
              <a:spLocks noChangeArrowheads="1"/>
            </p:cNvSpPr>
            <p:nvPr/>
          </p:nvSpPr>
          <p:spPr bwMode="auto">
            <a:xfrm>
              <a:off x="1352" y="1497"/>
              <a:ext cx="1142" cy="858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Projected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additional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financing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needed (AFN)</a:t>
              </a:r>
            </a:p>
          </p:txBody>
        </p:sp>
        <p:sp>
          <p:nvSpPr>
            <p:cNvPr id="5142" name="AutoShape 22"/>
            <p:cNvSpPr>
              <a:spLocks noChangeArrowheads="1"/>
            </p:cNvSpPr>
            <p:nvPr/>
          </p:nvSpPr>
          <p:spPr bwMode="auto">
            <a:xfrm>
              <a:off x="1355" y="476"/>
              <a:ext cx="1089" cy="68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Forecasting: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Operating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assumptions</a:t>
              </a:r>
            </a:p>
          </p:txBody>
        </p:sp>
        <p:sp>
          <p:nvSpPr>
            <p:cNvPr id="5143" name="AutoShape 23"/>
            <p:cNvSpPr>
              <a:spLocks noChangeArrowheads="1"/>
            </p:cNvSpPr>
            <p:nvPr/>
          </p:nvSpPr>
          <p:spPr bwMode="auto">
            <a:xfrm>
              <a:off x="3642" y="481"/>
              <a:ext cx="1162" cy="882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>
                  <a:solidFill>
                    <a:schemeClr val="tx2"/>
                  </a:solidFill>
                </a:rPr>
                <a:t>Forecasting: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Financial policy</a:t>
              </a:r>
            </a:p>
            <a:p>
              <a:pPr algn="ctr">
                <a:lnSpc>
                  <a:spcPct val="9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 assumptions</a:t>
              </a:r>
            </a:p>
          </p:txBody>
        </p:sp>
        <p:sp>
          <p:nvSpPr>
            <p:cNvPr id="5144" name="AutoShape 24"/>
            <p:cNvSpPr>
              <a:spLocks noChangeArrowheads="1"/>
            </p:cNvSpPr>
            <p:nvPr/>
          </p:nvSpPr>
          <p:spPr bwMode="auto">
            <a:xfrm>
              <a:off x="144" y="1392"/>
              <a:ext cx="3504" cy="1008"/>
            </a:xfrm>
            <a:prstGeom prst="octagon">
              <a:avLst>
                <a:gd name="adj" fmla="val 29287"/>
              </a:avLst>
            </a:prstGeom>
            <a:noFill/>
            <a:ln w="889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cxnSp>
          <p:nvCxnSpPr>
            <p:cNvPr id="5145" name="AutoShape 25"/>
            <p:cNvCxnSpPr>
              <a:cxnSpLocks noChangeShapeType="1"/>
              <a:stCxn id="5143" idx="2"/>
              <a:endCxn id="5136" idx="0"/>
            </p:cNvCxnSpPr>
            <p:nvPr/>
          </p:nvCxnSpPr>
          <p:spPr bwMode="auto">
            <a:xfrm>
              <a:off x="4223" y="1363"/>
              <a:ext cx="8" cy="109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6" name="AutoShape 26"/>
            <p:cNvCxnSpPr>
              <a:cxnSpLocks noChangeShapeType="1"/>
              <a:stCxn id="5142" idx="2"/>
            </p:cNvCxnSpPr>
            <p:nvPr/>
          </p:nvCxnSpPr>
          <p:spPr bwMode="auto">
            <a:xfrm>
              <a:off x="1900" y="1163"/>
              <a:ext cx="8" cy="144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7" name="AutoShape 27"/>
            <p:cNvCxnSpPr>
              <a:cxnSpLocks noChangeShapeType="1"/>
              <a:stCxn id="5144" idx="2"/>
              <a:endCxn id="5135" idx="0"/>
            </p:cNvCxnSpPr>
            <p:nvPr/>
          </p:nvCxnSpPr>
          <p:spPr bwMode="auto">
            <a:xfrm flipH="1">
              <a:off x="1895" y="2428"/>
              <a:ext cx="1" cy="24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48" name="AutoShape 28"/>
            <p:cNvSpPr>
              <a:spLocks noChangeArrowheads="1"/>
            </p:cNvSpPr>
            <p:nvPr/>
          </p:nvSpPr>
          <p:spPr bwMode="auto">
            <a:xfrm rot="-8615017">
              <a:off x="4752" y="1344"/>
              <a:ext cx="914" cy="151"/>
            </a:xfrm>
            <a:prstGeom prst="notchedRightArrow">
              <a:avLst>
                <a:gd name="adj1" fmla="val 50000"/>
                <a:gd name="adj2" fmla="val 151325"/>
              </a:avLst>
            </a:prstGeom>
            <a:solidFill>
              <a:schemeClr val="tx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149" name="Line 29"/>
            <p:cNvSpPr>
              <a:spLocks noChangeShapeType="1"/>
            </p:cNvSpPr>
            <p:nvPr/>
          </p:nvSpPr>
          <p:spPr bwMode="auto">
            <a:xfrm>
              <a:off x="2928" y="96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150" name="AutoShape 30"/>
            <p:cNvCxnSpPr>
              <a:cxnSpLocks noChangeShapeType="1"/>
              <a:stCxn id="5143" idx="1"/>
              <a:endCxn id="5149" idx="0"/>
            </p:cNvCxnSpPr>
            <p:nvPr/>
          </p:nvCxnSpPr>
          <p:spPr bwMode="auto">
            <a:xfrm flipH="1">
              <a:off x="2928" y="922"/>
              <a:ext cx="714" cy="3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51" name="Line 31"/>
            <p:cNvSpPr>
              <a:spLocks noChangeShapeType="1"/>
            </p:cNvSpPr>
            <p:nvPr/>
          </p:nvSpPr>
          <p:spPr bwMode="auto">
            <a:xfrm>
              <a:off x="4224" y="3168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Line 32"/>
            <p:cNvSpPr>
              <a:spLocks noChangeShapeType="1"/>
            </p:cNvSpPr>
            <p:nvPr/>
          </p:nvSpPr>
          <p:spPr bwMode="auto">
            <a:xfrm>
              <a:off x="1872" y="3120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319435-76AE-34D9-FB42-2A8A5C81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/>
              <a:t>Intrinsic Value: Financial Forecasting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Elements of Strategic Plans</a:t>
            </a:r>
          </a:p>
        </p:txBody>
      </p:sp>
      <p:sp>
        <p:nvSpPr>
          <p:cNvPr id="6148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Mission statement</a:t>
            </a:r>
          </a:p>
          <a:p>
            <a:pPr eaLnBrk="1" hangingPunct="1"/>
            <a:r>
              <a:rPr lang="en-US" altLang="en-US"/>
              <a:t>Corporate scope</a:t>
            </a:r>
          </a:p>
          <a:p>
            <a:pPr eaLnBrk="1" hangingPunct="1"/>
            <a:r>
              <a:rPr lang="en-US" altLang="en-US"/>
              <a:t>Statement of corporate objectives</a:t>
            </a:r>
          </a:p>
          <a:p>
            <a:pPr eaLnBrk="1" hangingPunct="1"/>
            <a:r>
              <a:rPr lang="en-US" altLang="en-US"/>
              <a:t>Corporate strategies</a:t>
            </a:r>
          </a:p>
          <a:p>
            <a:pPr eaLnBrk="1" hangingPunct="1"/>
            <a:r>
              <a:rPr lang="en-US" altLang="en-US"/>
              <a:t>Operating plan</a:t>
            </a:r>
          </a:p>
          <a:p>
            <a:pPr eaLnBrk="1" hangingPunct="1"/>
            <a:r>
              <a:rPr lang="en-US" altLang="en-US"/>
              <a:t>Financial plan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4A6A48-4A50-49B0-B697-EC411032D5B5}" type="slidenum">
              <a:rPr lang="en-US" altLang="en-US">
                <a:latin typeface="Tahoma" panose="020B0604030504040204" pitchFamily="34" charset="0"/>
              </a:rPr>
              <a:pPr eaLnBrk="1" hangingPunct="1"/>
              <a:t>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2DB36CB-1880-4FC8-BD8B-2A020C1BCE5F}" type="slidenum">
              <a:rPr lang="en-US" altLang="en-US">
                <a:latin typeface="Tahoma" panose="020B0604030504040204" pitchFamily="34" charset="0"/>
              </a:rPr>
              <a:pPr eaLnBrk="1" hangingPunct="1"/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Planning Process</a:t>
            </a:r>
          </a:p>
        </p:txBody>
      </p:sp>
      <p:sp>
        <p:nvSpPr>
          <p:cNvPr id="717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210550" cy="46529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Forecast:</a:t>
            </a:r>
          </a:p>
          <a:p>
            <a:pPr lvl="1"/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Determine:</a:t>
            </a:r>
          </a:p>
          <a:p>
            <a:pPr lvl="1"/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Forecast:</a:t>
            </a:r>
          </a:p>
          <a:p>
            <a:pPr lvl="1"/>
            <a:r>
              <a:rPr lang="en-US" altLang="en-US" dirty="0"/>
              <a:t>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007D8A-A02F-49D7-B7FB-906F0C896901}" type="slidenum">
              <a:rPr lang="en-US" altLang="en-US">
                <a:latin typeface="Tahoma" panose="020B0604030504040204" pitchFamily="34" charset="0"/>
              </a:rPr>
              <a:pPr eaLnBrk="1" hangingPunct="1"/>
              <a:t>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Financial Planning Process </a:t>
            </a:r>
            <a:r>
              <a:rPr lang="en-US" altLang="en-US" sz="3200"/>
              <a:t>(Continued)</a:t>
            </a:r>
          </a:p>
        </p:txBody>
      </p:sp>
      <p:sp>
        <p:nvSpPr>
          <p:cNvPr id="819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Establish:</a:t>
            </a:r>
          </a:p>
          <a:p>
            <a:pPr lvl="1"/>
            <a:r>
              <a:rPr lang="en-US" altLang="en-US" dirty="0"/>
              <a:t> a performance-based management compensation system rewarding employees for creating shareholder wealth.</a:t>
            </a:r>
          </a:p>
          <a:p>
            <a:pPr eaLnBrk="1" hangingPunct="1"/>
            <a:r>
              <a:rPr lang="en-US" altLang="en-US" dirty="0"/>
              <a:t>Monitor:</a:t>
            </a:r>
          </a:p>
          <a:p>
            <a:pPr lvl="1"/>
            <a:r>
              <a:rPr lang="en-US" altLang="en-US" dirty="0"/>
              <a:t> operations after implementing plan to spot any deviations &amp; take corrective actions.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A6FB9-49F1-B627-4EDC-F0A8E8D4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 Forma Financial Statements</a:t>
            </a: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idx="1"/>
          </p:nvPr>
        </p:nvSpPr>
        <p:spPr>
          <a:xfrm>
            <a:off x="152400" y="1676406"/>
            <a:ext cx="8686800" cy="4500558"/>
          </a:xfrm>
          <a:noFill/>
        </p:spPr>
        <p:txBody>
          <a:bodyPr/>
          <a:lstStyle/>
          <a:p>
            <a:pPr>
              <a:spcBef>
                <a:spcPct val="15000"/>
              </a:spcBef>
            </a:pPr>
            <a:r>
              <a:rPr lang="en-US" altLang="en-US" dirty="0"/>
              <a:t>Three important uses:</a:t>
            </a:r>
          </a:p>
          <a:p>
            <a:pPr lvl="1"/>
            <a:r>
              <a:rPr lang="en-US" altLang="en-US" dirty="0"/>
              <a:t>Forecast:</a:t>
            </a:r>
          </a:p>
          <a:p>
            <a:pPr lvl="2"/>
            <a:r>
              <a:rPr lang="en-US" altLang="en-US" sz="2400" dirty="0"/>
              <a:t> </a:t>
            </a:r>
          </a:p>
          <a:p>
            <a:pPr lvl="1"/>
            <a:r>
              <a:rPr lang="en-US" altLang="en-US" dirty="0"/>
              <a:t>Evaluate:</a:t>
            </a:r>
          </a:p>
          <a:p>
            <a:pPr lvl="2"/>
            <a:r>
              <a:rPr lang="en-US" altLang="en-US" dirty="0"/>
              <a:t>  </a:t>
            </a:r>
            <a:endParaRPr lang="en-US" altLang="en-US" sz="2400" dirty="0"/>
          </a:p>
          <a:p>
            <a:pPr lvl="1"/>
            <a:r>
              <a:rPr lang="en-US" altLang="en-US" dirty="0"/>
              <a:t>Set:</a:t>
            </a:r>
          </a:p>
          <a:p>
            <a:pPr lvl="2"/>
            <a:r>
              <a:rPr lang="en-US" altLang="en-US" dirty="0"/>
              <a:t> </a:t>
            </a:r>
            <a:endParaRPr lang="en-US" altLang="en-US" sz="2400" dirty="0"/>
          </a:p>
          <a:p>
            <a:pPr marL="685800" lvl="2" indent="0">
              <a:buNone/>
            </a:pPr>
            <a:endParaRPr lang="en-US" altLang="en-US" sz="24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6D330-4F7C-2966-BED8-B16D1BE5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Steps in Financial Forecasting</a:t>
            </a:r>
            <a:endParaRPr lang="en-US" dirty="0"/>
          </a:p>
        </p:txBody>
      </p:sp>
      <p:sp>
        <p:nvSpPr>
          <p:cNvPr id="10246" name="Rectangle 6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4576764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Forecast: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Project:</a:t>
            </a:r>
          </a:p>
          <a:p>
            <a:pPr lvl="1"/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  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Decide: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See effects of plan on ratios &amp; stock price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95496"/>
            <a:ext cx="8288383" cy="5005342"/>
          </a:xfrm>
        </p:spPr>
        <p:txBody>
          <a:bodyPr/>
          <a:lstStyle/>
          <a:p>
            <a:r>
              <a:rPr lang="en-US" dirty="0"/>
              <a:t>@ New level of business in upcoming year, $5 million is needed to support new level of assets in upcoming yr.</a:t>
            </a:r>
          </a:p>
          <a:p>
            <a:r>
              <a:rPr lang="en-US" dirty="0"/>
              <a:t>@ New Sales level, $1 million is generated in NI which goes to RE</a:t>
            </a:r>
          </a:p>
          <a:p>
            <a:r>
              <a:rPr lang="en-US" dirty="0"/>
              <a:t>Need			$5</a:t>
            </a:r>
          </a:p>
          <a:p>
            <a:r>
              <a:rPr lang="en-US" dirty="0"/>
              <a:t>-Have			</a:t>
            </a:r>
            <a:r>
              <a:rPr lang="en-US" u="sng" dirty="0"/>
              <a:t>$1</a:t>
            </a:r>
          </a:p>
          <a:p>
            <a:r>
              <a:rPr lang="en-US" dirty="0"/>
              <a:t>=Ext fin. </a:t>
            </a:r>
            <a:r>
              <a:rPr lang="en-US" dirty="0" err="1"/>
              <a:t>Req’d</a:t>
            </a:r>
            <a:r>
              <a:rPr lang="en-US" dirty="0"/>
              <a:t>	$4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33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4313"/>
            <a:ext cx="8258175" cy="1462087"/>
          </a:xfrm>
        </p:spPr>
        <p:txBody>
          <a:bodyPr/>
          <a:lstStyle/>
          <a:p>
            <a:r>
              <a:rPr lang="en-US" dirty="0"/>
              <a:t>Additional Funds Needed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534400" cy="4567238"/>
          </a:xfrm>
        </p:spPr>
        <p:txBody>
          <a:bodyPr/>
          <a:lstStyle/>
          <a:p>
            <a:r>
              <a:rPr lang="en-US" dirty="0"/>
              <a:t>Determine $ needed during given period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determining how much $ firm generates internally during same period</a:t>
            </a:r>
          </a:p>
          <a:p>
            <a:pPr lvl="1"/>
            <a:r>
              <a:rPr lang="en-US" dirty="0"/>
              <a:t>Then subtracting funds generated from funds needed to determine external financing requirements </a:t>
            </a:r>
          </a:p>
          <a:p>
            <a:r>
              <a:rPr lang="en-US" dirty="0"/>
              <a:t>Enough funds to support projected level of business??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94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Additional Funds Needed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250" y="1524000"/>
            <a:ext cx="8616950" cy="479821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Sales Forecast  =&gt; Income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Forecast Balance Sheet</a:t>
            </a:r>
          </a:p>
          <a:p>
            <a:pPr lvl="1"/>
            <a:r>
              <a:rPr lang="en-US" dirty="0"/>
              <a:t>  A          =   L  +  OE</a:t>
            </a:r>
          </a:p>
          <a:p>
            <a:pPr lvl="1"/>
            <a:r>
              <a:rPr lang="en-US" dirty="0"/>
              <a:t>  </a:t>
            </a:r>
          </a:p>
          <a:p>
            <a:pPr lvl="1"/>
            <a:r>
              <a:rPr lang="en-US" i="1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Funding or Financing Mix</a:t>
            </a:r>
          </a:p>
          <a:p>
            <a:pPr lvl="1"/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Look @ effects of raising </a:t>
            </a:r>
            <a:r>
              <a:rPr lang="en-US" dirty="0" err="1"/>
              <a:t>addt’l</a:t>
            </a:r>
            <a:r>
              <a:rPr lang="en-US" dirty="0"/>
              <a:t> $ in #3.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29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Income Statement</a:t>
            </a:r>
            <a:br>
              <a:rPr lang="en-US" altLang="en-US" dirty="0"/>
            </a:br>
            <a:r>
              <a:rPr lang="en-US" altLang="en-US" dirty="0"/>
              <a:t>Additional Funds Needed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648200"/>
          </a:xfrm>
        </p:spPr>
        <p:txBody>
          <a:bodyPr/>
          <a:lstStyle/>
          <a:p>
            <a:r>
              <a:rPr lang="en-US" altLang="en-US" dirty="0"/>
              <a:t>Sales  		+</a:t>
            </a:r>
          </a:p>
          <a:p>
            <a:r>
              <a:rPr lang="en-US" altLang="en-US" u="heavy" dirty="0"/>
              <a:t>-Op Costs	+</a:t>
            </a:r>
          </a:p>
          <a:p>
            <a:r>
              <a:rPr lang="en-US" altLang="en-US" dirty="0"/>
              <a:t>=NI		+		=&gt; RE +	=&gt; OE +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291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Balance Sheet</a:t>
            </a:r>
            <a:br>
              <a:rPr lang="en-US" altLang="en-US" dirty="0"/>
            </a:br>
            <a:r>
              <a:rPr lang="en-US" altLang="en-US" dirty="0"/>
              <a:t>Additional Funds Needed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528637"/>
          </a:xfrm>
        </p:spPr>
        <p:txBody>
          <a:bodyPr>
            <a:normAutofit fontScale="92500"/>
          </a:bodyPr>
          <a:lstStyle/>
          <a:p>
            <a:r>
              <a:rPr lang="en-US" dirty="0"/>
              <a:t>           </a:t>
            </a:r>
            <a:r>
              <a:rPr lang="en-US" sz="2800" b="0" u="sng" dirty="0"/>
              <a:t>ASSETS</a:t>
            </a:r>
            <a:endParaRPr lang="en-US" b="0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Cash			Y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A/R			Y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Inventory		Y</a:t>
            </a:r>
          </a:p>
          <a:p>
            <a:pPr lvl="0">
              <a:buClr>
                <a:srgbClr val="3333CC"/>
              </a:buClr>
            </a:pPr>
            <a:r>
              <a:rPr lang="en-US" sz="2800" u="sng" dirty="0">
                <a:solidFill>
                  <a:srgbClr val="000000"/>
                </a:solidFill>
              </a:rPr>
              <a:t>S/T Invests</a:t>
            </a:r>
            <a:r>
              <a:rPr lang="en-US" sz="2800" dirty="0">
                <a:solidFill>
                  <a:srgbClr val="000000"/>
                </a:solidFill>
              </a:rPr>
              <a:t>		</a:t>
            </a:r>
            <a:r>
              <a:rPr lang="en-US" sz="2800" u="sng" dirty="0">
                <a:solidFill>
                  <a:srgbClr val="000000"/>
                </a:solidFill>
              </a:rPr>
              <a:t>N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=C/Assets		Sum</a:t>
            </a:r>
          </a:p>
          <a:p>
            <a:pPr lvl="0">
              <a:buClr>
                <a:srgbClr val="3333CC"/>
              </a:buClr>
            </a:pPr>
            <a:r>
              <a:rPr lang="en-US" sz="2800" u="sng" dirty="0">
                <a:solidFill>
                  <a:srgbClr val="000000"/>
                </a:solidFill>
              </a:rPr>
              <a:t>Fixed Assets   </a:t>
            </a:r>
            <a:r>
              <a:rPr lang="en-US" u="sng" dirty="0">
                <a:solidFill>
                  <a:srgbClr val="000000"/>
                </a:solidFill>
              </a:rPr>
              <a:t>Depends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=Total Assets</a:t>
            </a:r>
            <a:r>
              <a:rPr lang="en-US" sz="2800">
                <a:solidFill>
                  <a:srgbClr val="000000"/>
                </a:solidFill>
              </a:rPr>
              <a:t>		Sum</a:t>
            </a:r>
            <a:endParaRPr lang="en-US" sz="28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528637"/>
          </a:xfrm>
        </p:spPr>
        <p:txBody>
          <a:bodyPr>
            <a:normAutofit fontScale="92500"/>
          </a:bodyPr>
          <a:lstStyle/>
          <a:p>
            <a:r>
              <a:rPr lang="en-US" sz="2800" b="0" u="sng" dirty="0"/>
              <a:t>LIABS + Stockholders Equity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820" y="2505075"/>
            <a:ext cx="4302125" cy="4068763"/>
          </a:xfrm>
        </p:spPr>
        <p:txBody>
          <a:bodyPr/>
          <a:lstStyle/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A/P			Y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Accruals		Y</a:t>
            </a:r>
          </a:p>
          <a:p>
            <a:pPr lvl="0">
              <a:buClr>
                <a:srgbClr val="3333CC"/>
              </a:buClr>
            </a:pPr>
            <a:r>
              <a:rPr lang="en-US" sz="2800" u="sng" dirty="0">
                <a:solidFill>
                  <a:srgbClr val="000000"/>
                </a:solidFill>
              </a:rPr>
              <a:t>S/T Debt</a:t>
            </a:r>
            <a:r>
              <a:rPr lang="en-US" sz="2800" dirty="0">
                <a:solidFill>
                  <a:srgbClr val="000000"/>
                </a:solidFill>
              </a:rPr>
              <a:t>		</a:t>
            </a:r>
            <a:r>
              <a:rPr lang="en-US" sz="2800" u="sng" dirty="0">
                <a:solidFill>
                  <a:srgbClr val="000000"/>
                </a:solidFill>
              </a:rPr>
              <a:t>N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C/</a:t>
            </a:r>
            <a:r>
              <a:rPr lang="en-US" sz="2800" dirty="0" err="1">
                <a:solidFill>
                  <a:srgbClr val="000000"/>
                </a:solidFill>
              </a:rPr>
              <a:t>Liabs</a:t>
            </a:r>
            <a:r>
              <a:rPr lang="en-US" sz="2800" dirty="0">
                <a:solidFill>
                  <a:srgbClr val="000000"/>
                </a:solidFill>
              </a:rPr>
              <a:t>		    sum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L/T Debt		N	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C. Stock		        N</a:t>
            </a:r>
          </a:p>
          <a:p>
            <a:pPr lvl="0">
              <a:buClr>
                <a:srgbClr val="3333CC"/>
              </a:buClr>
            </a:pPr>
            <a:r>
              <a:rPr lang="en-US" sz="2800" u="sng" dirty="0">
                <a:solidFill>
                  <a:srgbClr val="000000"/>
                </a:solidFill>
              </a:rPr>
              <a:t>R/E		       from I/S</a:t>
            </a:r>
          </a:p>
          <a:p>
            <a:pPr lvl="0">
              <a:buClr>
                <a:srgbClr val="3333CC"/>
              </a:buClr>
            </a:pPr>
            <a:r>
              <a:rPr lang="en-US" sz="2800" dirty="0">
                <a:solidFill>
                  <a:srgbClr val="000000"/>
                </a:solidFill>
              </a:rPr>
              <a:t>Total L &amp; OE 	     sum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C763-9032-49AA-A258-67B11A333B9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40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AFN - Problem 1 AP&amp;P Co.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In current year, sales for American Pulp &amp; Paper were $60 million.  Forecasting next year, management believes sales will increase by 20%, with a continued profit margin expected of 5% &amp; dividend payout ratio of 40%.  No excess capacity exists.  Given following balance sheet (in millions), what is additional funding needed in next year’s forecast?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866" y="1828800"/>
            <a:ext cx="8534400" cy="4114800"/>
          </a:xfrm>
        </p:spPr>
        <p:txBody>
          <a:bodyPr/>
          <a:lstStyle/>
          <a:p>
            <a:r>
              <a:rPr lang="en-US" altLang="en-US" dirty="0"/>
              <a:t>Cash				$	3.0</a:t>
            </a:r>
          </a:p>
          <a:p>
            <a:r>
              <a:rPr lang="en-US" altLang="en-US" dirty="0"/>
              <a:t>A/R					3.0</a:t>
            </a:r>
          </a:p>
          <a:p>
            <a:r>
              <a:rPr lang="en-US" altLang="en-US" dirty="0"/>
              <a:t>Inventory				</a:t>
            </a:r>
            <a:r>
              <a:rPr lang="en-US" altLang="en-US" u="sng" dirty="0"/>
              <a:t>5.0</a:t>
            </a:r>
          </a:p>
          <a:p>
            <a:r>
              <a:rPr lang="en-US" altLang="en-US" dirty="0"/>
              <a:t>C/Assets			$    11.0</a:t>
            </a:r>
          </a:p>
          <a:p>
            <a:r>
              <a:rPr lang="en-US" altLang="en-US" u="sng" dirty="0"/>
              <a:t>Fixed Assets</a:t>
            </a:r>
            <a:r>
              <a:rPr lang="en-US" altLang="en-US" dirty="0"/>
              <a:t>			</a:t>
            </a:r>
            <a:r>
              <a:rPr lang="en-US" altLang="en-US" u="sng" dirty="0"/>
              <a:t>3.0</a:t>
            </a:r>
          </a:p>
          <a:p>
            <a:r>
              <a:rPr lang="en-US" altLang="en-US" dirty="0"/>
              <a:t>Total Assets		$    14.0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r>
              <a:rPr lang="en-US" altLang="en-US" dirty="0"/>
              <a:t>A/P				$	2.0</a:t>
            </a:r>
          </a:p>
          <a:p>
            <a:r>
              <a:rPr lang="en-US" altLang="en-US" dirty="0"/>
              <a:t>Notes Payable			</a:t>
            </a:r>
            <a:r>
              <a:rPr lang="en-US" altLang="en-US" u="sng" dirty="0"/>
              <a:t>1.5</a:t>
            </a:r>
          </a:p>
          <a:p>
            <a:r>
              <a:rPr lang="en-US" altLang="en-US" dirty="0"/>
              <a:t>C/</a:t>
            </a:r>
            <a:r>
              <a:rPr lang="en-US" altLang="en-US" dirty="0" err="1"/>
              <a:t>Liabs</a:t>
            </a:r>
            <a:r>
              <a:rPr lang="en-US" altLang="en-US" dirty="0"/>
              <a:t>			$	3.5</a:t>
            </a:r>
          </a:p>
          <a:p>
            <a:r>
              <a:rPr lang="en-US" altLang="en-US" dirty="0"/>
              <a:t>L/T Debt				3.0</a:t>
            </a:r>
          </a:p>
          <a:p>
            <a:r>
              <a:rPr lang="en-US" altLang="en-US" u="sng" dirty="0"/>
              <a:t>Common Equity		7.5</a:t>
            </a:r>
          </a:p>
          <a:p>
            <a:r>
              <a:rPr lang="en-US" altLang="en-US" sz="2800" dirty="0"/>
              <a:t>Total </a:t>
            </a:r>
            <a:r>
              <a:rPr lang="en-US" altLang="en-US" sz="2800" dirty="0" err="1"/>
              <a:t>Liabs</a:t>
            </a:r>
            <a:r>
              <a:rPr lang="en-US" altLang="en-US" sz="2800" dirty="0"/>
              <a:t> &amp; </a:t>
            </a:r>
            <a:r>
              <a:rPr lang="en-US" altLang="en-US" sz="2800" dirty="0" err="1"/>
              <a:t>Cmn</a:t>
            </a:r>
            <a:r>
              <a:rPr lang="en-US" altLang="en-US" sz="2800" dirty="0"/>
              <a:t> Equity$   14.0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r>
              <a:rPr lang="en-US" altLang="en-US" dirty="0"/>
              <a:t>Sales				$	60.0</a:t>
            </a:r>
          </a:p>
          <a:p>
            <a:r>
              <a:rPr lang="en-US" altLang="en-US" dirty="0"/>
              <a:t>X profit margin ratio	</a:t>
            </a:r>
            <a:r>
              <a:rPr lang="en-US" altLang="en-US" u="sng" dirty="0"/>
              <a:t>x.05</a:t>
            </a:r>
          </a:p>
          <a:p>
            <a:r>
              <a:rPr lang="en-US" altLang="en-US" dirty="0"/>
              <a:t>Profit (NI)			$	=3.0</a:t>
            </a:r>
          </a:p>
          <a:p>
            <a:r>
              <a:rPr lang="en-US" altLang="en-US" dirty="0"/>
              <a:t>-</a:t>
            </a:r>
            <a:r>
              <a:rPr lang="en-US" altLang="en-US" dirty="0" err="1"/>
              <a:t>Div</a:t>
            </a:r>
            <a:r>
              <a:rPr lang="en-US" altLang="en-US" dirty="0"/>
              <a:t> Payout(40%)		</a:t>
            </a:r>
            <a:r>
              <a:rPr lang="en-US" altLang="en-US" u="sng" dirty="0"/>
              <a:t>- 1.2</a:t>
            </a:r>
          </a:p>
          <a:p>
            <a:r>
              <a:rPr lang="en-US" altLang="en-US" dirty="0"/>
              <a:t>=</a:t>
            </a:r>
            <a:r>
              <a:rPr lang="en-US" altLang="en-US" dirty="0" err="1"/>
              <a:t>Addts</a:t>
            </a:r>
            <a:r>
              <a:rPr lang="en-US" altLang="en-US" dirty="0"/>
              <a:t> to RE			=1.8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 &amp; Projected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799" y="1828800"/>
            <a:ext cx="8258175" cy="4267200"/>
          </a:xfrm>
        </p:spPr>
        <p:txBody>
          <a:bodyPr/>
          <a:lstStyle/>
          <a:p>
            <a:r>
              <a:rPr lang="en-US" altLang="en-US" u="sng" dirty="0"/>
              <a:t>I/S					       </a:t>
            </a:r>
            <a:r>
              <a:rPr lang="en-US" altLang="en-US" u="sng" dirty="0" err="1"/>
              <a:t>Orig</a:t>
            </a:r>
            <a:r>
              <a:rPr lang="en-US" altLang="en-US" u="sng" dirty="0"/>
              <a:t>(1+g)  = </a:t>
            </a:r>
            <a:r>
              <a:rPr lang="en-US" altLang="en-US" u="sng" dirty="0" err="1"/>
              <a:t>Proj</a:t>
            </a:r>
            <a:endParaRPr lang="en-US" altLang="en-US" u="sng" dirty="0"/>
          </a:p>
          <a:p>
            <a:r>
              <a:rPr lang="en-US" altLang="en-US" dirty="0"/>
              <a:t>Sales				$	 60.0</a:t>
            </a:r>
          </a:p>
          <a:p>
            <a:r>
              <a:rPr lang="en-US" altLang="en-US" dirty="0"/>
              <a:t>X profit margin ratios	</a:t>
            </a:r>
            <a:r>
              <a:rPr lang="en-US" altLang="en-US" u="sng" dirty="0"/>
              <a:t>x.05	      </a:t>
            </a:r>
          </a:p>
          <a:p>
            <a:r>
              <a:rPr lang="en-US" altLang="en-US" dirty="0"/>
              <a:t>Profit (NI)			$	=3.0	     </a:t>
            </a:r>
          </a:p>
          <a:p>
            <a:r>
              <a:rPr lang="en-US" altLang="en-US" dirty="0"/>
              <a:t>-</a:t>
            </a:r>
            <a:r>
              <a:rPr lang="en-US" altLang="en-US" dirty="0" err="1"/>
              <a:t>Div</a:t>
            </a:r>
            <a:r>
              <a:rPr lang="en-US" altLang="en-US" dirty="0"/>
              <a:t> Payout(40%)		</a:t>
            </a:r>
            <a:r>
              <a:rPr lang="en-US" altLang="en-US" u="sng" dirty="0"/>
              <a:t>- 1.2	     </a:t>
            </a:r>
          </a:p>
          <a:p>
            <a:r>
              <a:rPr lang="en-US" altLang="en-US" dirty="0"/>
              <a:t>=</a:t>
            </a:r>
            <a:r>
              <a:rPr lang="en-US" altLang="en-US" dirty="0" err="1"/>
              <a:t>Addts</a:t>
            </a:r>
            <a:r>
              <a:rPr lang="en-US" altLang="en-US" dirty="0"/>
              <a:t> to RE			=1.8	    =2.16</a:t>
            </a:r>
          </a:p>
        </p:txBody>
      </p:sp>
    </p:spTree>
    <p:extLst>
      <p:ext uri="{BB962C8B-B14F-4D97-AF65-F5344CB8AC3E}">
        <p14:creationId xmlns:p14="http://schemas.microsoft.com/office/powerpoint/2010/main" val="3288418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 &amp; Projected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866" y="1828800"/>
            <a:ext cx="8743134" cy="48006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u="sng" dirty="0"/>
              <a:t>B/S				       </a:t>
            </a:r>
            <a:r>
              <a:rPr lang="en-US" altLang="en-US" u="sng" dirty="0" err="1"/>
              <a:t>Orig</a:t>
            </a:r>
            <a:r>
              <a:rPr lang="en-US" altLang="en-US" u="sng" dirty="0"/>
              <a:t>(1+g)=</a:t>
            </a:r>
            <a:r>
              <a:rPr lang="en-US" altLang="en-US" u="sng" dirty="0" err="1"/>
              <a:t>Proj</a:t>
            </a:r>
            <a:endParaRPr lang="en-US" altLang="en-US" u="sng" dirty="0"/>
          </a:p>
          <a:p>
            <a:r>
              <a:rPr lang="en-US" altLang="en-US" dirty="0"/>
              <a:t>Cash				$	3.0 (1.2)  = </a:t>
            </a:r>
          </a:p>
          <a:p>
            <a:r>
              <a:rPr lang="en-US" altLang="en-US" dirty="0"/>
              <a:t>A/R					3.0</a:t>
            </a:r>
          </a:p>
          <a:p>
            <a:r>
              <a:rPr lang="en-US" altLang="en-US" dirty="0"/>
              <a:t>Inventory				</a:t>
            </a:r>
            <a:r>
              <a:rPr lang="en-US" altLang="en-US" u="sng" dirty="0"/>
              <a:t>5.0</a:t>
            </a:r>
          </a:p>
          <a:p>
            <a:r>
              <a:rPr lang="en-US" altLang="en-US" dirty="0"/>
              <a:t>C/Assets			$    11.0	</a:t>
            </a:r>
          </a:p>
          <a:p>
            <a:r>
              <a:rPr lang="en-US" altLang="en-US" u="sng" dirty="0"/>
              <a:t>Fixed Assets</a:t>
            </a:r>
            <a:r>
              <a:rPr lang="en-US" altLang="en-US" dirty="0"/>
              <a:t>				</a:t>
            </a:r>
            <a:r>
              <a:rPr lang="en-US" altLang="en-US" u="sng" dirty="0"/>
              <a:t>3.0</a:t>
            </a:r>
          </a:p>
          <a:p>
            <a:r>
              <a:rPr lang="en-US" altLang="en-US" dirty="0"/>
              <a:t>Total Assets			$    14.0		=</a:t>
            </a:r>
            <a:r>
              <a:rPr lang="en-US" altLang="en-US" b="1" i="1" dirty="0"/>
              <a:t>16.8</a:t>
            </a:r>
          </a:p>
          <a:p>
            <a:r>
              <a:rPr lang="en-US" altLang="en-US" dirty="0"/>
              <a:t>Need $</a:t>
            </a:r>
            <a:r>
              <a:rPr lang="en-US" altLang="en-US" b="1" i="1" dirty="0"/>
              <a:t>16.8 </a:t>
            </a:r>
            <a:r>
              <a:rPr lang="en-US" altLang="en-US" dirty="0"/>
              <a:t>of assets to be financed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438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Co. Actual &amp; Projected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1" y="1828800"/>
            <a:ext cx="8639174" cy="4724400"/>
          </a:xfrm>
        </p:spPr>
        <p:txBody>
          <a:bodyPr>
            <a:normAutofit lnSpcReduction="10000"/>
          </a:bodyPr>
          <a:lstStyle/>
          <a:p>
            <a:r>
              <a:rPr lang="en-US" altLang="en-US" u="sng" dirty="0"/>
              <a:t>B/S				       </a:t>
            </a:r>
            <a:r>
              <a:rPr lang="en-US" altLang="en-US" u="sng" dirty="0" err="1"/>
              <a:t>Orig</a:t>
            </a:r>
            <a:r>
              <a:rPr lang="en-US" altLang="en-US" u="sng" dirty="0"/>
              <a:t>(1+g)=</a:t>
            </a:r>
            <a:r>
              <a:rPr lang="en-US" altLang="en-US" u="sng" dirty="0" err="1"/>
              <a:t>Proj</a:t>
            </a:r>
            <a:endParaRPr lang="en-US" altLang="en-US" u="sng" dirty="0"/>
          </a:p>
          <a:p>
            <a:r>
              <a:rPr lang="en-US" altLang="en-US" dirty="0"/>
              <a:t>A/P				$	2.0</a:t>
            </a:r>
          </a:p>
          <a:p>
            <a:r>
              <a:rPr lang="en-US" altLang="en-US" dirty="0"/>
              <a:t>Notes Payable			</a:t>
            </a:r>
            <a:r>
              <a:rPr lang="en-US" altLang="en-US" u="sng" dirty="0"/>
              <a:t>1.5		</a:t>
            </a:r>
          </a:p>
          <a:p>
            <a:r>
              <a:rPr lang="en-US" altLang="en-US" dirty="0"/>
              <a:t>C/Liabs				$3.5	</a:t>
            </a:r>
          </a:p>
          <a:p>
            <a:r>
              <a:rPr lang="en-US" altLang="en-US" dirty="0"/>
              <a:t>L/T Debt				3.0	</a:t>
            </a:r>
          </a:p>
          <a:p>
            <a:r>
              <a:rPr lang="en-US" altLang="en-US" u="sng" dirty="0"/>
              <a:t>Common Equity		7.5+</a:t>
            </a:r>
          </a:p>
          <a:p>
            <a:r>
              <a:rPr lang="en-US" altLang="en-US" sz="2800" dirty="0"/>
              <a:t>Total Liabs &amp; </a:t>
            </a:r>
            <a:r>
              <a:rPr lang="en-US" altLang="en-US" sz="2800" dirty="0" err="1"/>
              <a:t>Cmn</a:t>
            </a:r>
            <a:r>
              <a:rPr lang="en-US" altLang="en-US" sz="2800" dirty="0"/>
              <a:t> Equity $   14.0	   </a:t>
            </a:r>
            <a:r>
              <a:rPr lang="en-US" altLang="en-US" sz="2800" b="1" i="1" dirty="0"/>
              <a:t>=</a:t>
            </a:r>
          </a:p>
          <a:p>
            <a:r>
              <a:rPr lang="en-US" altLang="en-US" sz="2800" dirty="0"/>
              <a:t>Have Funds of </a:t>
            </a:r>
            <a:r>
              <a:rPr lang="en-US" altLang="en-US" sz="2800" b="1" i="1" dirty="0"/>
              <a:t>$16.56</a:t>
            </a:r>
          </a:p>
        </p:txBody>
      </p:sp>
    </p:spTree>
    <p:extLst>
      <p:ext uri="{BB962C8B-B14F-4D97-AF65-F5344CB8AC3E}">
        <p14:creationId xmlns:p14="http://schemas.microsoft.com/office/powerpoint/2010/main" val="30662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AFN - Problem 1 </a:t>
            </a:r>
            <a:br>
              <a:rPr lang="en-US" altLang="en-US" dirty="0"/>
            </a:br>
            <a:r>
              <a:rPr lang="en-US" altLang="en-US" dirty="0"/>
              <a:t>AP&amp;P Co: AFN from Projected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			Have Funds</a:t>
            </a:r>
          </a:p>
          <a:p>
            <a:r>
              <a:rPr lang="en-US" u="sng" dirty="0"/>
              <a:t>$			</a:t>
            </a:r>
          </a:p>
          <a:p>
            <a:pPr lvl="3"/>
            <a:r>
              <a:rPr lang="en-US" sz="4000" b="1" i="1" dirty="0"/>
              <a:t>= AFN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813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216372"/>
            <a:ext cx="8282203" cy="1462087"/>
          </a:xfrm>
        </p:spPr>
        <p:txBody>
          <a:bodyPr/>
          <a:lstStyle/>
          <a:p>
            <a:pPr eaLnBrk="1" hangingPunct="1"/>
            <a:r>
              <a:rPr lang="en-US" altLang="en-US" dirty="0"/>
              <a:t>Financing Feedbacks – 2</a:t>
            </a:r>
            <a:r>
              <a:rPr lang="en-US" altLang="en-US" baseline="30000" dirty="0"/>
              <a:t>nd</a:t>
            </a:r>
            <a:r>
              <a:rPr lang="en-US" altLang="en-US" dirty="0"/>
              <a:t> pass</a:t>
            </a:r>
          </a:p>
        </p:txBody>
      </p:sp>
      <p:sp>
        <p:nvSpPr>
          <p:cNvPr id="45059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Financing feedbacks occur when additional financing costs of new external capital are included in analysis. </a:t>
            </a:r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398FBF4-80B4-4975-BC03-E233043EF421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22</a:t>
            </a:fld>
            <a:endParaRPr lang="en-US" altLang="en-US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52224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Financing Feedbacks-Circularity</a:t>
            </a:r>
          </a:p>
        </p:txBody>
      </p:sp>
      <p:sp>
        <p:nvSpPr>
          <p:cNvPr id="46083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When financing costs (additional interest expenses) are included: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NI falls, reducing addition to RE.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RE on balance sheet fall.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Balance sheet no longer balances.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More financing is needed.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Process repeats.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E7B468-9792-470B-B98A-5CEFFAEC5774}" type="slidenum">
              <a:rPr lang="en-US" altLang="en-US">
                <a:latin typeface="Tahoma" panose="020B0604030504040204" pitchFamily="34" charset="0"/>
              </a:rPr>
              <a:pPr eaLnBrk="1" hangingPunct="1"/>
              <a:t>23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8064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Financing Feedbacks-Solutions</a:t>
            </a:r>
          </a:p>
        </p:txBody>
      </p:sp>
      <p:sp>
        <p:nvSpPr>
          <p:cNvPr id="4710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Repeat process, iterate until balance sheet balances.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Manually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Using </a:t>
            </a:r>
            <a:r>
              <a:rPr lang="en-US" altLang="en-US" sz="2400" i="1" dirty="0"/>
              <a:t>Excel</a:t>
            </a:r>
            <a:r>
              <a:rPr lang="en-US" altLang="en-US" sz="2400" dirty="0"/>
              <a:t>’ Iteration feature.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Use </a:t>
            </a:r>
            <a:r>
              <a:rPr lang="en-US" altLang="en-US" sz="2800" i="1" dirty="0"/>
              <a:t>Excel</a:t>
            </a:r>
            <a:r>
              <a:rPr lang="en-US" altLang="en-US" sz="2800" dirty="0"/>
              <a:t> Goal Seek to find right amount of AFN.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1C6423-E060-465C-ACC1-285EBFCCECD6}" type="slidenum">
              <a:rPr lang="en-US" altLang="en-US">
                <a:latin typeface="Tahoma" panose="020B0604030504040204" pitchFamily="34" charset="0"/>
              </a:rPr>
              <a:pPr eaLnBrk="1" hangingPunct="1"/>
              <a:t>24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12433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35000" y="684213"/>
            <a:ext cx="787400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309687"/>
          </a:xfrm>
        </p:spPr>
        <p:txBody>
          <a:bodyPr/>
          <a:lstStyle/>
          <a:p>
            <a:pPr algn="ctr"/>
            <a:r>
              <a:rPr lang="en-US" altLang="en-US" sz="5400" dirty="0"/>
              <a:t>AFN Equation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5000" y="2017713"/>
            <a:ext cx="8320088" cy="4114800"/>
          </a:xfrm>
        </p:spPr>
        <p:txBody>
          <a:bodyPr/>
          <a:lstStyle/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 dirty="0"/>
              <a:t>AFN =(A</a:t>
            </a:r>
            <a:r>
              <a:rPr lang="en-US" altLang="en-US" baseline="-25000" dirty="0"/>
              <a:t>0</a:t>
            </a:r>
            <a:r>
              <a:rPr lang="en-US" altLang="en-US" baseline="30000" dirty="0"/>
              <a:t>*</a:t>
            </a:r>
            <a:r>
              <a:rPr lang="en-US" altLang="en-US" dirty="0"/>
              <a:t>/S</a:t>
            </a:r>
            <a:r>
              <a:rPr lang="en-US" altLang="en-US" baseline="-25000" dirty="0"/>
              <a:t>0</a:t>
            </a:r>
            <a:r>
              <a:rPr lang="en-US" altLang="en-US" dirty="0"/>
              <a:t>)∆S</a:t>
            </a:r>
            <a:r>
              <a:rPr lang="en-US" altLang="en-US" sz="2400" dirty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−</a:t>
            </a:r>
            <a:r>
              <a:rPr lang="en-US" altLang="en-US" dirty="0"/>
              <a:t>(L</a:t>
            </a:r>
            <a:r>
              <a:rPr lang="en-US" altLang="en-US" baseline="-25000" dirty="0"/>
              <a:t>0</a:t>
            </a:r>
            <a:r>
              <a:rPr lang="en-US" altLang="en-US" baseline="30000" dirty="0"/>
              <a:t>*</a:t>
            </a:r>
            <a:r>
              <a:rPr lang="en-US" altLang="en-US" dirty="0"/>
              <a:t>/S</a:t>
            </a:r>
            <a:r>
              <a:rPr lang="en-US" altLang="en-US" baseline="-25000" dirty="0"/>
              <a:t>0</a:t>
            </a:r>
            <a:r>
              <a:rPr lang="en-US" altLang="en-US" dirty="0"/>
              <a:t>)∆S</a:t>
            </a:r>
            <a:r>
              <a:rPr lang="en-US" altLang="en-US" sz="2400" dirty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−</a:t>
            </a:r>
            <a:r>
              <a:rPr lang="en-US" altLang="en-US" dirty="0"/>
              <a:t>M(S</a:t>
            </a:r>
            <a:r>
              <a:rPr lang="en-US" altLang="en-US" baseline="-25000" dirty="0"/>
              <a:t>1</a:t>
            </a:r>
            <a:r>
              <a:rPr lang="en-US" altLang="en-US" dirty="0"/>
              <a:t>)(1</a:t>
            </a:r>
            <a:r>
              <a:rPr lang="en-US" altLang="en-US" dirty="0">
                <a:cs typeface="Times New Roman" panose="02020603050405020304" pitchFamily="18" charset="0"/>
              </a:rPr>
              <a:t>−DPOR</a:t>
            </a:r>
            <a:r>
              <a:rPr lang="en-US" altLang="en-US" dirty="0"/>
              <a:t>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02690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928A64-C5BF-4D29-9C5D-5A1C5E914D69}" type="slidenum">
              <a:rPr lang="en-US" altLang="en-US">
                <a:latin typeface="Tahoma" panose="020B0604030504040204" pitchFamily="34" charset="0"/>
              </a:rPr>
              <a:pPr eaLnBrk="1" hangingPunct="1"/>
              <a:t>26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635000" y="684213"/>
            <a:ext cx="787400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Definitions of Variables in AFN</a:t>
            </a:r>
          </a:p>
        </p:txBody>
      </p:sp>
      <p:sp>
        <p:nvSpPr>
          <p:cNvPr id="24581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</a:t>
            </a:r>
            <a:r>
              <a:rPr lang="en-US" altLang="en-US" baseline="-25000" dirty="0"/>
              <a:t>0</a:t>
            </a:r>
            <a:r>
              <a:rPr lang="en-US" altLang="en-US" dirty="0"/>
              <a:t>*/S</a:t>
            </a:r>
            <a:r>
              <a:rPr lang="en-US" altLang="en-US" baseline="-25000" dirty="0"/>
              <a:t>0</a:t>
            </a:r>
            <a:r>
              <a:rPr lang="en-US" altLang="en-US" dirty="0"/>
              <a:t>:  Assets required to support sales: called capital intensity ratio.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S:  Increase in sales.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L</a:t>
            </a:r>
            <a:r>
              <a:rPr lang="en-US" altLang="en-US" baseline="-25000" dirty="0"/>
              <a:t>0</a:t>
            </a:r>
            <a:r>
              <a:rPr lang="en-US" altLang="en-US" dirty="0">
                <a:sym typeface="Symbol" panose="05050102010706020507" pitchFamily="18" charset="2"/>
              </a:rPr>
              <a:t>*/S</a:t>
            </a:r>
            <a:r>
              <a:rPr lang="en-US" altLang="en-US" baseline="-25000" dirty="0"/>
              <a:t>0</a:t>
            </a:r>
            <a:r>
              <a:rPr lang="en-US" altLang="en-US" dirty="0">
                <a:sym typeface="Symbol" panose="05050102010706020507" pitchFamily="18" charset="2"/>
              </a:rPr>
              <a:t>:  Spontaneous liabilities ratio.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M:  Profit margin (Net income/Sales)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DPOR:  </a:t>
            </a:r>
            <a:r>
              <a:rPr lang="en-US" altLang="en-US" dirty="0" err="1">
                <a:sym typeface="Symbol" panose="05050102010706020507" pitchFamily="18" charset="2"/>
              </a:rPr>
              <a:t>Div</a:t>
            </a:r>
            <a:r>
              <a:rPr lang="en-US" altLang="en-US" dirty="0">
                <a:sym typeface="Symbol" panose="05050102010706020507" pitchFamily="18" charset="2"/>
              </a:rPr>
              <a:t> Payout ratio (Dividends/Net income)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3605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635000" y="684213"/>
            <a:ext cx="787400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14313"/>
            <a:ext cx="8410575" cy="130968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5400" dirty="0"/>
              <a:t>AFN Equation </a:t>
            </a:r>
            <a:br>
              <a:rPr lang="en-US" altLang="en-US" sz="5400" dirty="0"/>
            </a:br>
            <a:r>
              <a:rPr lang="en-US" altLang="en-US" sz="5400" dirty="0"/>
              <a:t>&amp; Prob 1 AP&amp;P Co.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839200" cy="4876800"/>
          </a:xfrm>
        </p:spPr>
        <p:txBody>
          <a:bodyPr/>
          <a:lstStyle/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 dirty="0"/>
              <a:t>AFN =(A</a:t>
            </a:r>
            <a:r>
              <a:rPr lang="en-US" altLang="en-US" baseline="-25000" dirty="0"/>
              <a:t>0</a:t>
            </a:r>
            <a:r>
              <a:rPr lang="en-US" altLang="en-US" baseline="30000" dirty="0"/>
              <a:t>*</a:t>
            </a:r>
            <a:r>
              <a:rPr lang="en-US" altLang="en-US" dirty="0"/>
              <a:t>/S</a:t>
            </a:r>
            <a:r>
              <a:rPr lang="en-US" altLang="en-US" baseline="-25000" dirty="0"/>
              <a:t>0</a:t>
            </a:r>
            <a:r>
              <a:rPr lang="en-US" altLang="en-US" dirty="0"/>
              <a:t>)∆S</a:t>
            </a:r>
            <a:r>
              <a:rPr lang="en-US" altLang="en-US" sz="2400" dirty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−</a:t>
            </a:r>
            <a:r>
              <a:rPr lang="en-US" altLang="en-US" dirty="0"/>
              <a:t>(L</a:t>
            </a:r>
            <a:r>
              <a:rPr lang="en-US" altLang="en-US" baseline="-25000" dirty="0"/>
              <a:t>0</a:t>
            </a:r>
            <a:r>
              <a:rPr lang="en-US" altLang="en-US" baseline="30000" dirty="0"/>
              <a:t>*</a:t>
            </a:r>
            <a:r>
              <a:rPr lang="en-US" altLang="en-US" dirty="0"/>
              <a:t>/S</a:t>
            </a:r>
            <a:r>
              <a:rPr lang="en-US" altLang="en-US" baseline="-25000" dirty="0"/>
              <a:t>0</a:t>
            </a:r>
            <a:r>
              <a:rPr lang="en-US" altLang="en-US" dirty="0"/>
              <a:t>)∆S</a:t>
            </a:r>
            <a:r>
              <a:rPr lang="en-US" altLang="en-US" sz="2400" dirty="0"/>
              <a:t> </a:t>
            </a:r>
            <a:r>
              <a:rPr lang="en-US" altLang="en-US" dirty="0">
                <a:cs typeface="Times New Roman" panose="02020603050405020304" pitchFamily="18" charset="0"/>
              </a:rPr>
              <a:t>−</a:t>
            </a:r>
            <a:r>
              <a:rPr lang="en-US" altLang="en-US" dirty="0"/>
              <a:t>M(S</a:t>
            </a:r>
            <a:r>
              <a:rPr lang="en-US" altLang="en-US" baseline="-25000" dirty="0"/>
              <a:t>1</a:t>
            </a:r>
            <a:r>
              <a:rPr lang="en-US" altLang="en-US" dirty="0"/>
              <a:t>)(1</a:t>
            </a:r>
            <a:r>
              <a:rPr lang="en-US" altLang="en-US" dirty="0">
                <a:cs typeface="Times New Roman" panose="02020603050405020304" pitchFamily="18" charset="0"/>
              </a:rPr>
              <a:t>−DPOR</a:t>
            </a:r>
            <a:r>
              <a:rPr lang="en-US" altLang="en-US" dirty="0"/>
              <a:t>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17233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D6867A0-D948-437C-AC50-267DFB10E63B}" type="slidenum">
              <a:rPr lang="en-US" altLang="en-US">
                <a:latin typeface="Tahoma" panose="020B0604030504040204" pitchFamily="34" charset="0"/>
              </a:rPr>
              <a:pPr eaLnBrk="1" hangingPunct="1"/>
              <a:t>28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Key Factors in AFN </a:t>
            </a:r>
          </a:p>
        </p:txBody>
      </p:sp>
      <p:sp>
        <p:nvSpPr>
          <p:cNvPr id="27652" name="Content Placeholder 5"/>
          <p:cNvSpPr>
            <a:spLocks noGrp="1"/>
          </p:cNvSpPr>
          <p:nvPr>
            <p:ph idx="1"/>
          </p:nvPr>
        </p:nvSpPr>
        <p:spPr>
          <a:xfrm>
            <a:off x="685800" y="1828800"/>
            <a:ext cx="8258175" cy="4872038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Sales growth (g):  higher g: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Capital intensity ratio (A</a:t>
            </a:r>
            <a:r>
              <a:rPr lang="en-US" altLang="en-US" baseline="-25000" dirty="0"/>
              <a:t>0</a:t>
            </a:r>
            <a:r>
              <a:rPr lang="en-US" altLang="en-US" dirty="0"/>
              <a:t>*/S</a:t>
            </a:r>
            <a:r>
              <a:rPr lang="en-US" altLang="en-US" baseline="-25000" dirty="0"/>
              <a:t>0</a:t>
            </a:r>
            <a:r>
              <a:rPr lang="en-US" altLang="en-US" dirty="0"/>
              <a:t>):  higher capital intensity ratio 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(more capital intensive):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Spontaneous-liabilities-to-sales ratio (L</a:t>
            </a:r>
            <a:r>
              <a:rPr lang="en-US" altLang="en-US" baseline="-25000" dirty="0"/>
              <a:t>0</a:t>
            </a:r>
            <a:r>
              <a:rPr lang="en-US" altLang="en-US" dirty="0"/>
              <a:t>*/S</a:t>
            </a:r>
            <a:r>
              <a:rPr lang="en-US" altLang="en-US" baseline="-25000" dirty="0"/>
              <a:t>0</a:t>
            </a:r>
            <a:r>
              <a:rPr lang="en-US" altLang="en-US" dirty="0"/>
              <a:t>):  higher firm’s spontaneous liabilities: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35418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9881F3-F5B7-4A35-87DA-556F07AE4B7E}" type="slidenum">
              <a:rPr lang="en-US" altLang="en-US">
                <a:latin typeface="Tahoma" panose="020B0604030504040204" pitchFamily="34" charset="0"/>
              </a:rPr>
              <a:pPr eaLnBrk="1" hangingPunct="1"/>
              <a:t>29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AFN Key Factors </a:t>
            </a:r>
            <a:r>
              <a:rPr lang="en-US" altLang="en-US" sz="3200"/>
              <a:t>(Continued)</a:t>
            </a:r>
          </a:p>
        </p:txBody>
      </p:sp>
      <p:sp>
        <p:nvSpPr>
          <p:cNvPr id="28676" name="Content Placeholder 5"/>
          <p:cNvSpPr>
            <a:spLocks noGrp="1"/>
          </p:cNvSpPr>
          <p:nvPr>
            <p:ph idx="1"/>
          </p:nvPr>
        </p:nvSpPr>
        <p:spPr>
          <a:xfrm>
            <a:off x="838200" y="1828800"/>
            <a:ext cx="8105775" cy="4343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Profit margin (Net income/Sales): 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higher profit margin: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Payout ratio (DPS/EPS): 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lower payout ratio: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 </a:t>
            </a:r>
            <a:r>
              <a:rPr lang="en-US" altLang="en-US" dirty="0"/>
              <a:t>  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1017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AFN</a:t>
            </a:r>
            <a:br>
              <a:rPr lang="en-US" dirty="0"/>
            </a:br>
            <a:r>
              <a:rPr lang="en-US" dirty="0"/>
              <a:t>Some Preliminary Assumptions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increase at same rate of sales</a:t>
            </a:r>
          </a:p>
          <a:p>
            <a:r>
              <a:rPr lang="en-US" dirty="0"/>
              <a:t>Assets increase   “        “     “    “</a:t>
            </a:r>
          </a:p>
          <a:p>
            <a:r>
              <a:rPr lang="en-US" dirty="0"/>
              <a:t>Spontaneously generated funds increase at same rate of sales</a:t>
            </a:r>
          </a:p>
          <a:p>
            <a:r>
              <a:rPr lang="en-US" dirty="0"/>
              <a:t>Dividend Payout Ratio Constant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276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u="sng" dirty="0"/>
              <a:t>AFN</a:t>
            </a:r>
            <a:br>
              <a:rPr lang="en-US" dirty="0"/>
            </a:br>
            <a:r>
              <a:rPr lang="en-US" dirty="0"/>
              <a:t>% Sales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Most B/S accounts tied directly to sales.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Current level of total assets optimal for current sales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9483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u="sng" dirty="0"/>
              <a:t>AFN</a:t>
            </a:r>
            <a:br>
              <a:rPr lang="en-US" dirty="0"/>
            </a:br>
            <a:r>
              <a:rPr lang="en-US" i="1" dirty="0"/>
              <a:t>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Excess Capacity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Base-stock of inventory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Economies of Scale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Lumpy Assets.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Negative AFN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813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Possible Ratio Relationships: Constant A*/S Ratios</a:t>
            </a:r>
          </a:p>
        </p:txBody>
      </p:sp>
      <p:grpSp>
        <p:nvGrpSpPr>
          <p:cNvPr id="29699" name="Group 27"/>
          <p:cNvGrpSpPr>
            <a:grpSpLocks/>
          </p:cNvGrpSpPr>
          <p:nvPr/>
        </p:nvGrpSpPr>
        <p:grpSpPr bwMode="auto">
          <a:xfrm>
            <a:off x="682625" y="2133600"/>
            <a:ext cx="7850188" cy="4060825"/>
            <a:chOff x="430" y="1344"/>
            <a:chExt cx="4945" cy="2558"/>
          </a:xfrm>
        </p:grpSpPr>
        <p:sp>
          <p:nvSpPr>
            <p:cNvPr id="29700" name="Line 3"/>
            <p:cNvSpPr>
              <a:spLocks noChangeShapeType="1"/>
            </p:cNvSpPr>
            <p:nvPr/>
          </p:nvSpPr>
          <p:spPr bwMode="auto">
            <a:xfrm>
              <a:off x="865" y="1592"/>
              <a:ext cx="0" cy="2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1" name="Line 4"/>
            <p:cNvSpPr>
              <a:spLocks noChangeShapeType="1"/>
            </p:cNvSpPr>
            <p:nvPr/>
          </p:nvSpPr>
          <p:spPr bwMode="auto">
            <a:xfrm>
              <a:off x="873" y="3616"/>
              <a:ext cx="3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Line 5"/>
            <p:cNvSpPr>
              <a:spLocks noChangeShapeType="1"/>
            </p:cNvSpPr>
            <p:nvPr/>
          </p:nvSpPr>
          <p:spPr bwMode="auto">
            <a:xfrm flipV="1">
              <a:off x="873" y="1872"/>
              <a:ext cx="4023" cy="170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Rectangle 6"/>
            <p:cNvSpPr>
              <a:spLocks noChangeArrowheads="1"/>
            </p:cNvSpPr>
            <p:nvPr/>
          </p:nvSpPr>
          <p:spPr bwMode="auto">
            <a:xfrm>
              <a:off x="523" y="1344"/>
              <a:ext cx="96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Inventories</a:t>
              </a:r>
            </a:p>
          </p:txBody>
        </p:sp>
        <p:sp>
          <p:nvSpPr>
            <p:cNvPr id="29704" name="Rectangle 7"/>
            <p:cNvSpPr>
              <a:spLocks noChangeArrowheads="1"/>
            </p:cNvSpPr>
            <p:nvPr/>
          </p:nvSpPr>
          <p:spPr bwMode="auto">
            <a:xfrm>
              <a:off x="4759" y="3432"/>
              <a:ext cx="61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Sales</a:t>
              </a:r>
            </a:p>
          </p:txBody>
        </p:sp>
        <p:sp>
          <p:nvSpPr>
            <p:cNvPr id="29705" name="Rectangle 8"/>
            <p:cNvSpPr>
              <a:spLocks noChangeArrowheads="1"/>
            </p:cNvSpPr>
            <p:nvPr/>
          </p:nvSpPr>
          <p:spPr bwMode="auto">
            <a:xfrm>
              <a:off x="712" y="3607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9706" name="Rectangle 9"/>
            <p:cNvSpPr>
              <a:spLocks noChangeArrowheads="1"/>
            </p:cNvSpPr>
            <p:nvPr/>
          </p:nvSpPr>
          <p:spPr bwMode="auto">
            <a:xfrm>
              <a:off x="430" y="287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29707" name="Rectangle 10"/>
            <p:cNvSpPr>
              <a:spLocks noChangeArrowheads="1"/>
            </p:cNvSpPr>
            <p:nvPr/>
          </p:nvSpPr>
          <p:spPr bwMode="auto">
            <a:xfrm>
              <a:off x="1917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29708" name="Line 11"/>
            <p:cNvSpPr>
              <a:spLocks noChangeShapeType="1"/>
            </p:cNvSpPr>
            <p:nvPr/>
          </p:nvSpPr>
          <p:spPr bwMode="auto">
            <a:xfrm>
              <a:off x="865" y="3024"/>
              <a:ext cx="1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12"/>
            <p:cNvSpPr>
              <a:spLocks noChangeShapeType="1"/>
            </p:cNvSpPr>
            <p:nvPr/>
          </p:nvSpPr>
          <p:spPr bwMode="auto">
            <a:xfrm>
              <a:off x="2135" y="3024"/>
              <a:ext cx="2" cy="5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Rectangle 13"/>
            <p:cNvSpPr>
              <a:spLocks noChangeArrowheads="1"/>
            </p:cNvSpPr>
            <p:nvPr/>
          </p:nvSpPr>
          <p:spPr bwMode="auto">
            <a:xfrm>
              <a:off x="430" y="241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29711" name="Rectangle 14"/>
            <p:cNvSpPr>
              <a:spLocks noChangeArrowheads="1"/>
            </p:cNvSpPr>
            <p:nvPr/>
          </p:nvSpPr>
          <p:spPr bwMode="auto">
            <a:xfrm>
              <a:off x="2983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29712" name="Line 15"/>
            <p:cNvSpPr>
              <a:spLocks noChangeShapeType="1"/>
            </p:cNvSpPr>
            <p:nvPr/>
          </p:nvSpPr>
          <p:spPr bwMode="auto">
            <a:xfrm>
              <a:off x="865" y="2592"/>
              <a:ext cx="23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3" name="Line 16"/>
            <p:cNvSpPr>
              <a:spLocks noChangeShapeType="1"/>
            </p:cNvSpPr>
            <p:nvPr/>
          </p:nvSpPr>
          <p:spPr bwMode="auto">
            <a:xfrm>
              <a:off x="3201" y="2592"/>
              <a:ext cx="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2352" y="3001"/>
              <a:ext cx="829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A*/S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100/200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50%</a:t>
              </a:r>
            </a:p>
          </p:txBody>
        </p:sp>
        <p:sp>
          <p:nvSpPr>
            <p:cNvPr id="29715" name="Rectangle 22"/>
            <p:cNvSpPr>
              <a:spLocks noChangeArrowheads="1"/>
            </p:cNvSpPr>
            <p:nvPr/>
          </p:nvSpPr>
          <p:spPr bwMode="auto">
            <a:xfrm>
              <a:off x="430" y="200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300</a:t>
              </a:r>
            </a:p>
          </p:txBody>
        </p:sp>
        <p:sp>
          <p:nvSpPr>
            <p:cNvPr id="29716" name="Rectangle 23"/>
            <p:cNvSpPr>
              <a:spLocks noChangeArrowheads="1"/>
            </p:cNvSpPr>
            <p:nvPr/>
          </p:nvSpPr>
          <p:spPr bwMode="auto">
            <a:xfrm>
              <a:off x="430" y="158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29717" name="Line 24"/>
            <p:cNvSpPr>
              <a:spLocks noChangeShapeType="1"/>
            </p:cNvSpPr>
            <p:nvPr/>
          </p:nvSpPr>
          <p:spPr bwMode="auto">
            <a:xfrm flipH="1" flipV="1">
              <a:off x="2208" y="3093"/>
              <a:ext cx="144" cy="13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Rectangle 25"/>
            <p:cNvSpPr>
              <a:spLocks noChangeArrowheads="1"/>
            </p:cNvSpPr>
            <p:nvPr/>
          </p:nvSpPr>
          <p:spPr bwMode="auto">
            <a:xfrm>
              <a:off x="3504" y="2736"/>
              <a:ext cx="829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A*/S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200/400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50%</a:t>
              </a:r>
            </a:p>
          </p:txBody>
        </p:sp>
        <p:sp>
          <p:nvSpPr>
            <p:cNvPr id="29719" name="Line 26"/>
            <p:cNvSpPr>
              <a:spLocks noChangeShapeType="1"/>
            </p:cNvSpPr>
            <p:nvPr/>
          </p:nvSpPr>
          <p:spPr bwMode="auto">
            <a:xfrm flipH="1" flipV="1">
              <a:off x="3274" y="2667"/>
              <a:ext cx="144" cy="13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78445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Economies of Scale in A*/S Ratios</a:t>
            </a:r>
          </a:p>
        </p:txBody>
      </p:sp>
      <p:grpSp>
        <p:nvGrpSpPr>
          <p:cNvPr id="30723" name="Group 25"/>
          <p:cNvGrpSpPr>
            <a:grpSpLocks/>
          </p:cNvGrpSpPr>
          <p:nvPr/>
        </p:nvGrpSpPr>
        <p:grpSpPr bwMode="auto">
          <a:xfrm>
            <a:off x="682625" y="2133600"/>
            <a:ext cx="7850188" cy="4060825"/>
            <a:chOff x="430" y="1344"/>
            <a:chExt cx="4945" cy="2558"/>
          </a:xfrm>
        </p:grpSpPr>
        <p:sp>
          <p:nvSpPr>
            <p:cNvPr id="30724" name="Line 2"/>
            <p:cNvSpPr>
              <a:spLocks noChangeShapeType="1"/>
            </p:cNvSpPr>
            <p:nvPr/>
          </p:nvSpPr>
          <p:spPr bwMode="auto">
            <a:xfrm>
              <a:off x="865" y="1592"/>
              <a:ext cx="0" cy="2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5" name="Line 3"/>
            <p:cNvSpPr>
              <a:spLocks noChangeShapeType="1"/>
            </p:cNvSpPr>
            <p:nvPr/>
          </p:nvSpPr>
          <p:spPr bwMode="auto">
            <a:xfrm>
              <a:off x="873" y="3616"/>
              <a:ext cx="3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6" name="Line 4"/>
            <p:cNvSpPr>
              <a:spLocks noChangeShapeType="1"/>
            </p:cNvSpPr>
            <p:nvPr/>
          </p:nvSpPr>
          <p:spPr bwMode="auto">
            <a:xfrm flipV="1">
              <a:off x="865" y="1680"/>
              <a:ext cx="2553" cy="1056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7" name="Rectangle 5"/>
            <p:cNvSpPr>
              <a:spLocks noChangeArrowheads="1"/>
            </p:cNvSpPr>
            <p:nvPr/>
          </p:nvSpPr>
          <p:spPr bwMode="auto">
            <a:xfrm>
              <a:off x="523" y="1344"/>
              <a:ext cx="96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Inventories</a:t>
              </a:r>
            </a:p>
          </p:txBody>
        </p:sp>
        <p:sp>
          <p:nvSpPr>
            <p:cNvPr id="30728" name="Rectangle 6"/>
            <p:cNvSpPr>
              <a:spLocks noChangeArrowheads="1"/>
            </p:cNvSpPr>
            <p:nvPr/>
          </p:nvSpPr>
          <p:spPr bwMode="auto">
            <a:xfrm>
              <a:off x="4759" y="3432"/>
              <a:ext cx="61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Sales</a:t>
              </a:r>
            </a:p>
          </p:txBody>
        </p:sp>
        <p:sp>
          <p:nvSpPr>
            <p:cNvPr id="30729" name="Rectangle 7"/>
            <p:cNvSpPr>
              <a:spLocks noChangeArrowheads="1"/>
            </p:cNvSpPr>
            <p:nvPr/>
          </p:nvSpPr>
          <p:spPr bwMode="auto">
            <a:xfrm>
              <a:off x="712" y="3607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30" name="Rectangle 9"/>
            <p:cNvSpPr>
              <a:spLocks noChangeArrowheads="1"/>
            </p:cNvSpPr>
            <p:nvPr/>
          </p:nvSpPr>
          <p:spPr bwMode="auto">
            <a:xfrm>
              <a:off x="1917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30731" name="Line 10"/>
            <p:cNvSpPr>
              <a:spLocks noChangeShapeType="1"/>
            </p:cNvSpPr>
            <p:nvPr/>
          </p:nvSpPr>
          <p:spPr bwMode="auto">
            <a:xfrm>
              <a:off x="873" y="2160"/>
              <a:ext cx="1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Line 11"/>
            <p:cNvSpPr>
              <a:spLocks noChangeShapeType="1"/>
            </p:cNvSpPr>
            <p:nvPr/>
          </p:nvSpPr>
          <p:spPr bwMode="auto">
            <a:xfrm>
              <a:off x="2135" y="2160"/>
              <a:ext cx="2" cy="14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Rectangle 13"/>
            <p:cNvSpPr>
              <a:spLocks noChangeArrowheads="1"/>
            </p:cNvSpPr>
            <p:nvPr/>
          </p:nvSpPr>
          <p:spPr bwMode="auto">
            <a:xfrm>
              <a:off x="2983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30734" name="Line 14"/>
            <p:cNvSpPr>
              <a:spLocks noChangeShapeType="1"/>
            </p:cNvSpPr>
            <p:nvPr/>
          </p:nvSpPr>
          <p:spPr bwMode="auto">
            <a:xfrm>
              <a:off x="865" y="1728"/>
              <a:ext cx="23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15"/>
            <p:cNvSpPr>
              <a:spLocks noChangeShapeType="1"/>
            </p:cNvSpPr>
            <p:nvPr/>
          </p:nvSpPr>
          <p:spPr bwMode="auto">
            <a:xfrm>
              <a:off x="3181" y="1728"/>
              <a:ext cx="20" cy="18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Rectangle 16"/>
            <p:cNvSpPr>
              <a:spLocks noChangeArrowheads="1"/>
            </p:cNvSpPr>
            <p:nvPr/>
          </p:nvSpPr>
          <p:spPr bwMode="auto">
            <a:xfrm>
              <a:off x="2352" y="2448"/>
              <a:ext cx="829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A*/S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300/200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150%</a:t>
              </a:r>
            </a:p>
          </p:txBody>
        </p:sp>
        <p:sp>
          <p:nvSpPr>
            <p:cNvPr id="30737" name="Rectangle 18"/>
            <p:cNvSpPr>
              <a:spLocks noChangeArrowheads="1"/>
            </p:cNvSpPr>
            <p:nvPr/>
          </p:nvSpPr>
          <p:spPr bwMode="auto">
            <a:xfrm>
              <a:off x="430" y="200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300</a:t>
              </a:r>
            </a:p>
          </p:txBody>
        </p:sp>
        <p:sp>
          <p:nvSpPr>
            <p:cNvPr id="30738" name="Rectangle 19"/>
            <p:cNvSpPr>
              <a:spLocks noChangeArrowheads="1"/>
            </p:cNvSpPr>
            <p:nvPr/>
          </p:nvSpPr>
          <p:spPr bwMode="auto">
            <a:xfrm>
              <a:off x="430" y="158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30739" name="Line 20"/>
            <p:cNvSpPr>
              <a:spLocks noChangeShapeType="1"/>
            </p:cNvSpPr>
            <p:nvPr/>
          </p:nvSpPr>
          <p:spPr bwMode="auto">
            <a:xfrm flipH="1" flipV="1">
              <a:off x="2208" y="2291"/>
              <a:ext cx="144" cy="13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Rectangle 21"/>
            <p:cNvSpPr>
              <a:spLocks noChangeArrowheads="1"/>
            </p:cNvSpPr>
            <p:nvPr/>
          </p:nvSpPr>
          <p:spPr bwMode="auto">
            <a:xfrm>
              <a:off x="3418" y="2005"/>
              <a:ext cx="829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A*/S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400/400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= 100%</a:t>
              </a:r>
            </a:p>
          </p:txBody>
        </p:sp>
        <p:sp>
          <p:nvSpPr>
            <p:cNvPr id="30741" name="Line 22"/>
            <p:cNvSpPr>
              <a:spLocks noChangeShapeType="1"/>
            </p:cNvSpPr>
            <p:nvPr/>
          </p:nvSpPr>
          <p:spPr bwMode="auto">
            <a:xfrm flipH="1" flipV="1">
              <a:off x="3274" y="1867"/>
              <a:ext cx="144" cy="13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Rectangle 23"/>
            <p:cNvSpPr>
              <a:spLocks noChangeArrowheads="1"/>
            </p:cNvSpPr>
            <p:nvPr/>
          </p:nvSpPr>
          <p:spPr bwMode="auto">
            <a:xfrm>
              <a:off x="1075" y="2831"/>
              <a:ext cx="550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Base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Stock</a:t>
              </a:r>
            </a:p>
          </p:txBody>
        </p:sp>
        <p:sp>
          <p:nvSpPr>
            <p:cNvPr id="30743" name="Line 24"/>
            <p:cNvSpPr>
              <a:spLocks noChangeShapeType="1"/>
            </p:cNvSpPr>
            <p:nvPr/>
          </p:nvSpPr>
          <p:spPr bwMode="auto">
            <a:xfrm flipH="1" flipV="1">
              <a:off x="931" y="2831"/>
              <a:ext cx="144" cy="13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59881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Nonlinear A*/S Ratios</a:t>
            </a:r>
          </a:p>
        </p:txBody>
      </p:sp>
      <p:grpSp>
        <p:nvGrpSpPr>
          <p:cNvPr id="31747" name="Group 24"/>
          <p:cNvGrpSpPr>
            <a:grpSpLocks/>
          </p:cNvGrpSpPr>
          <p:nvPr/>
        </p:nvGrpSpPr>
        <p:grpSpPr bwMode="auto">
          <a:xfrm>
            <a:off x="682625" y="1739900"/>
            <a:ext cx="7850188" cy="4454525"/>
            <a:chOff x="430" y="1096"/>
            <a:chExt cx="4945" cy="2806"/>
          </a:xfrm>
        </p:grpSpPr>
        <p:sp>
          <p:nvSpPr>
            <p:cNvPr id="31748" name="Line 2"/>
            <p:cNvSpPr>
              <a:spLocks noChangeShapeType="1"/>
            </p:cNvSpPr>
            <p:nvPr/>
          </p:nvSpPr>
          <p:spPr bwMode="auto">
            <a:xfrm>
              <a:off x="865" y="1344"/>
              <a:ext cx="0" cy="22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9" name="Line 3"/>
            <p:cNvSpPr>
              <a:spLocks noChangeShapeType="1"/>
            </p:cNvSpPr>
            <p:nvPr/>
          </p:nvSpPr>
          <p:spPr bwMode="auto">
            <a:xfrm>
              <a:off x="873" y="3616"/>
              <a:ext cx="3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0" name="Rectangle 5"/>
            <p:cNvSpPr>
              <a:spLocks noChangeArrowheads="1"/>
            </p:cNvSpPr>
            <p:nvPr/>
          </p:nvSpPr>
          <p:spPr bwMode="auto">
            <a:xfrm>
              <a:off x="725" y="1096"/>
              <a:ext cx="96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Inventories</a:t>
              </a:r>
            </a:p>
          </p:txBody>
        </p:sp>
        <p:sp>
          <p:nvSpPr>
            <p:cNvPr id="31751" name="Rectangle 6"/>
            <p:cNvSpPr>
              <a:spLocks noChangeArrowheads="1"/>
            </p:cNvSpPr>
            <p:nvPr/>
          </p:nvSpPr>
          <p:spPr bwMode="auto">
            <a:xfrm>
              <a:off x="4759" y="3432"/>
              <a:ext cx="616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Sales</a:t>
              </a:r>
            </a:p>
          </p:txBody>
        </p:sp>
        <p:sp>
          <p:nvSpPr>
            <p:cNvPr id="31752" name="Rectangle 7"/>
            <p:cNvSpPr>
              <a:spLocks noChangeArrowheads="1"/>
            </p:cNvSpPr>
            <p:nvPr/>
          </p:nvSpPr>
          <p:spPr bwMode="auto">
            <a:xfrm>
              <a:off x="712" y="3607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1753" name="Rectangle 8"/>
            <p:cNvSpPr>
              <a:spLocks noChangeArrowheads="1"/>
            </p:cNvSpPr>
            <p:nvPr/>
          </p:nvSpPr>
          <p:spPr bwMode="auto">
            <a:xfrm>
              <a:off x="1917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200</a:t>
              </a:r>
            </a:p>
          </p:txBody>
        </p:sp>
        <p:sp>
          <p:nvSpPr>
            <p:cNvPr id="31754" name="Line 9"/>
            <p:cNvSpPr>
              <a:spLocks noChangeShapeType="1"/>
            </p:cNvSpPr>
            <p:nvPr/>
          </p:nvSpPr>
          <p:spPr bwMode="auto">
            <a:xfrm>
              <a:off x="873" y="2160"/>
              <a:ext cx="1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5" name="Line 10"/>
            <p:cNvSpPr>
              <a:spLocks noChangeShapeType="1"/>
            </p:cNvSpPr>
            <p:nvPr/>
          </p:nvSpPr>
          <p:spPr bwMode="auto">
            <a:xfrm>
              <a:off x="2135" y="2160"/>
              <a:ext cx="2" cy="14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6" name="Rectangle 11"/>
            <p:cNvSpPr>
              <a:spLocks noChangeArrowheads="1"/>
            </p:cNvSpPr>
            <p:nvPr/>
          </p:nvSpPr>
          <p:spPr bwMode="auto">
            <a:xfrm>
              <a:off x="2983" y="3616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400</a:t>
              </a:r>
            </a:p>
          </p:txBody>
        </p:sp>
        <p:sp>
          <p:nvSpPr>
            <p:cNvPr id="31757" name="Line 12"/>
            <p:cNvSpPr>
              <a:spLocks noChangeShapeType="1"/>
            </p:cNvSpPr>
            <p:nvPr/>
          </p:nvSpPr>
          <p:spPr bwMode="auto">
            <a:xfrm>
              <a:off x="865" y="1586"/>
              <a:ext cx="23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Line 13"/>
            <p:cNvSpPr>
              <a:spLocks noChangeShapeType="1"/>
            </p:cNvSpPr>
            <p:nvPr/>
          </p:nvSpPr>
          <p:spPr bwMode="auto">
            <a:xfrm>
              <a:off x="3181" y="1586"/>
              <a:ext cx="20" cy="20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Rectangle 16"/>
            <p:cNvSpPr>
              <a:spLocks noChangeArrowheads="1"/>
            </p:cNvSpPr>
            <p:nvPr/>
          </p:nvSpPr>
          <p:spPr bwMode="auto">
            <a:xfrm>
              <a:off x="430" y="200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300</a:t>
              </a:r>
            </a:p>
          </p:txBody>
        </p:sp>
        <p:sp>
          <p:nvSpPr>
            <p:cNvPr id="31760" name="Rectangle 17"/>
            <p:cNvSpPr>
              <a:spLocks noChangeArrowheads="1"/>
            </p:cNvSpPr>
            <p:nvPr/>
          </p:nvSpPr>
          <p:spPr bwMode="auto">
            <a:xfrm>
              <a:off x="430" y="1443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424</a:t>
              </a:r>
            </a:p>
          </p:txBody>
        </p:sp>
        <p:sp>
          <p:nvSpPr>
            <p:cNvPr id="31761" name="Arc 23"/>
            <p:cNvSpPr>
              <a:spLocks/>
            </p:cNvSpPr>
            <p:nvPr/>
          </p:nvSpPr>
          <p:spPr bwMode="auto">
            <a:xfrm rot="13661992" flipV="1">
              <a:off x="1909" y="1296"/>
              <a:ext cx="1219" cy="2638"/>
            </a:xfrm>
            <a:custGeom>
              <a:avLst/>
              <a:gdLst>
                <a:gd name="T0" fmla="*/ 0 w 21600"/>
                <a:gd name="T1" fmla="*/ 0 h 26175"/>
                <a:gd name="T2" fmla="*/ 0 w 21600"/>
                <a:gd name="T3" fmla="*/ 3 h 26175"/>
                <a:gd name="T4" fmla="*/ 0 w 21600"/>
                <a:gd name="T5" fmla="*/ 2 h 261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175"/>
                <a:gd name="T11" fmla="*/ 21600 w 21600"/>
                <a:gd name="T12" fmla="*/ 26175 h 26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175" fill="none" extrusionOk="0">
                  <a:moveTo>
                    <a:pt x="14438" y="-1"/>
                  </a:moveTo>
                  <a:cubicBezTo>
                    <a:pt x="18996" y="4096"/>
                    <a:pt x="21600" y="9936"/>
                    <a:pt x="21600" y="16065"/>
                  </a:cubicBezTo>
                  <a:cubicBezTo>
                    <a:pt x="21600" y="19589"/>
                    <a:pt x="20737" y="23060"/>
                    <a:pt x="19087" y="26174"/>
                  </a:cubicBezTo>
                </a:path>
                <a:path w="21600" h="26175" stroke="0" extrusionOk="0">
                  <a:moveTo>
                    <a:pt x="14438" y="-1"/>
                  </a:moveTo>
                  <a:cubicBezTo>
                    <a:pt x="18996" y="4096"/>
                    <a:pt x="21600" y="9936"/>
                    <a:pt x="21600" y="16065"/>
                  </a:cubicBezTo>
                  <a:cubicBezTo>
                    <a:pt x="21600" y="19589"/>
                    <a:pt x="20737" y="23060"/>
                    <a:pt x="19087" y="26174"/>
                  </a:cubicBezTo>
                  <a:lnTo>
                    <a:pt x="0" y="16065"/>
                  </a:lnTo>
                  <a:lnTo>
                    <a:pt x="14438" y="-1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992867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Possible Ratio Relationships: Lumpy Increments</a:t>
            </a:r>
          </a:p>
        </p:txBody>
      </p:sp>
      <p:sp>
        <p:nvSpPr>
          <p:cNvPr id="32771" name="Line 4"/>
          <p:cNvSpPr>
            <a:spLocks noChangeShapeType="1"/>
          </p:cNvSpPr>
          <p:nvPr/>
        </p:nvSpPr>
        <p:spPr bwMode="auto">
          <a:xfrm>
            <a:off x="1373188" y="25273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5"/>
          <p:cNvSpPr>
            <a:spLocks noChangeShapeType="1"/>
          </p:cNvSpPr>
          <p:nvPr/>
        </p:nvSpPr>
        <p:spPr bwMode="auto">
          <a:xfrm>
            <a:off x="1385888" y="5740400"/>
            <a:ext cx="44815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Rectangle 7"/>
          <p:cNvSpPr>
            <a:spLocks noChangeArrowheads="1"/>
          </p:cNvSpPr>
          <p:nvPr/>
        </p:nvSpPr>
        <p:spPr bwMode="auto">
          <a:xfrm>
            <a:off x="830263" y="2133600"/>
            <a:ext cx="12668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Net plant</a:t>
            </a:r>
          </a:p>
        </p:txBody>
      </p:sp>
      <p:sp>
        <p:nvSpPr>
          <p:cNvPr id="32774" name="Rectangle 8"/>
          <p:cNvSpPr>
            <a:spLocks noChangeArrowheads="1"/>
          </p:cNvSpPr>
          <p:nvPr/>
        </p:nvSpPr>
        <p:spPr bwMode="auto">
          <a:xfrm>
            <a:off x="5426075" y="5740400"/>
            <a:ext cx="9779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Sales</a:t>
            </a:r>
          </a:p>
        </p:txBody>
      </p:sp>
      <p:sp>
        <p:nvSpPr>
          <p:cNvPr id="32775" name="Rectangle 9"/>
          <p:cNvSpPr>
            <a:spLocks noChangeArrowheads="1"/>
          </p:cNvSpPr>
          <p:nvPr/>
        </p:nvSpPr>
        <p:spPr bwMode="auto">
          <a:xfrm>
            <a:off x="1130300" y="5726113"/>
            <a:ext cx="3508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2776" name="Rectangle 22"/>
          <p:cNvSpPr>
            <a:spLocks noChangeArrowheads="1"/>
          </p:cNvSpPr>
          <p:nvPr/>
        </p:nvSpPr>
        <p:spPr bwMode="auto">
          <a:xfrm>
            <a:off x="3962400" y="3848100"/>
            <a:ext cx="21859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Excess Capacity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(Temporary)</a:t>
            </a:r>
          </a:p>
        </p:txBody>
      </p:sp>
      <p:sp>
        <p:nvSpPr>
          <p:cNvPr id="32777" name="Line 23"/>
          <p:cNvSpPr>
            <a:spLocks noChangeShapeType="1"/>
          </p:cNvSpPr>
          <p:nvPr/>
        </p:nvSpPr>
        <p:spPr bwMode="auto">
          <a:xfrm flipH="1" flipV="1">
            <a:off x="3429000" y="3276600"/>
            <a:ext cx="533400" cy="5715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AutoShape 24"/>
          <p:cNvSpPr>
            <a:spLocks noChangeArrowheads="1"/>
          </p:cNvSpPr>
          <p:nvPr/>
        </p:nvSpPr>
        <p:spPr bwMode="auto">
          <a:xfrm rot="5400000">
            <a:off x="1385888" y="4762500"/>
            <a:ext cx="914400" cy="914400"/>
          </a:xfrm>
          <a:prstGeom prst="rtTriangle">
            <a:avLst/>
          </a:prstGeom>
          <a:solidFill>
            <a:schemeClr val="accent1">
              <a:alpha val="25882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79" name="AutoShape 25"/>
          <p:cNvSpPr>
            <a:spLocks noChangeArrowheads="1"/>
          </p:cNvSpPr>
          <p:nvPr/>
        </p:nvSpPr>
        <p:spPr bwMode="auto">
          <a:xfrm rot="5400000">
            <a:off x="2300288" y="3848100"/>
            <a:ext cx="914400" cy="914400"/>
          </a:xfrm>
          <a:prstGeom prst="rtTriangle">
            <a:avLst/>
          </a:prstGeom>
          <a:solidFill>
            <a:schemeClr val="accent1">
              <a:alpha val="25882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80" name="AutoShape 26"/>
          <p:cNvSpPr>
            <a:spLocks noChangeArrowheads="1"/>
          </p:cNvSpPr>
          <p:nvPr/>
        </p:nvSpPr>
        <p:spPr bwMode="auto">
          <a:xfrm rot="5400000">
            <a:off x="3214688" y="2933700"/>
            <a:ext cx="914400" cy="914400"/>
          </a:xfrm>
          <a:prstGeom prst="rtTriangle">
            <a:avLst/>
          </a:prstGeom>
          <a:solidFill>
            <a:schemeClr val="accent1">
              <a:alpha val="25882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81" name="Line 27"/>
          <p:cNvSpPr>
            <a:spLocks noChangeShapeType="1"/>
          </p:cNvSpPr>
          <p:nvPr/>
        </p:nvSpPr>
        <p:spPr bwMode="auto">
          <a:xfrm flipV="1">
            <a:off x="1385888" y="2362200"/>
            <a:ext cx="3262312" cy="336391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Rectangle 28"/>
          <p:cNvSpPr>
            <a:spLocks noChangeArrowheads="1"/>
          </p:cNvSpPr>
          <p:nvPr/>
        </p:nvSpPr>
        <p:spPr bwMode="auto">
          <a:xfrm>
            <a:off x="1679575" y="2751138"/>
            <a:ext cx="123983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Capacity</a:t>
            </a:r>
          </a:p>
        </p:txBody>
      </p:sp>
      <p:sp>
        <p:nvSpPr>
          <p:cNvPr id="32783" name="Line 29"/>
          <p:cNvSpPr>
            <a:spLocks noChangeShapeType="1"/>
          </p:cNvSpPr>
          <p:nvPr/>
        </p:nvSpPr>
        <p:spPr bwMode="auto">
          <a:xfrm>
            <a:off x="2300288" y="3114675"/>
            <a:ext cx="214312" cy="733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8259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u="sng" dirty="0"/>
              <a:t>AFN</a:t>
            </a:r>
            <a:br>
              <a:rPr lang="en-US" dirty="0"/>
            </a:br>
            <a:r>
              <a:rPr lang="en-US" i="1" dirty="0"/>
              <a:t>&amp; Capacity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153400" cy="50688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PP&amp;E @ 75% capacity,</a:t>
            </a:r>
          </a:p>
          <a:p>
            <a:pPr lvl="1"/>
            <a:r>
              <a:rPr lang="en-US" dirty="0"/>
              <a:t> &amp; actual sales = $2,000</a:t>
            </a:r>
          </a:p>
          <a:p>
            <a:r>
              <a:rPr lang="en-US" dirty="0"/>
              <a:t>What’s sales level when @ full capacity?</a:t>
            </a:r>
          </a:p>
          <a:p>
            <a:r>
              <a:rPr lang="en-US" sz="2800" dirty="0"/>
              <a:t>(Full capacity sales)(% of capacity operating at) =</a:t>
            </a:r>
          </a:p>
          <a:p>
            <a:pPr marL="342900" lvl="1" indent="0">
              <a:buNone/>
            </a:pPr>
            <a:r>
              <a:rPr lang="en-US" sz="2400" dirty="0"/>
              <a:t>Actual Sales Level </a:t>
            </a:r>
          </a:p>
          <a:p>
            <a:r>
              <a:rPr lang="en-US" dirty="0"/>
              <a:t> so:</a:t>
            </a:r>
          </a:p>
          <a:p>
            <a:r>
              <a:rPr lang="en-US" dirty="0"/>
              <a:t> </a:t>
            </a:r>
          </a:p>
          <a:p>
            <a:pPr lvl="1"/>
            <a:r>
              <a:rPr lang="en-US" dirty="0"/>
              <a:t>And</a:t>
            </a:r>
          </a:p>
          <a:p>
            <a:r>
              <a:rPr lang="en-US" dirty="0"/>
              <a:t>Full capacity sales = $2,667.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0144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FORECASTING &amp; PLANNING affected by: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855874"/>
            <a:ext cx="8650288" cy="477352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Economic activity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Market Share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Past data / trends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New business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Production Capabilities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Competitors Market Share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New products by both competitors &amp; self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860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FORECASTING &amp; PLANNING affected by: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855874"/>
            <a:ext cx="8650288" cy="4773525"/>
          </a:xfrm>
        </p:spPr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/>
              <a:t>Plant Capacities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Inflation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Advertising &amp; Marketing</a:t>
            </a:r>
          </a:p>
          <a:p>
            <a:pPr lvl="1"/>
            <a:r>
              <a:rPr lang="en-US" dirty="0"/>
              <a:t>Promotions</a:t>
            </a:r>
          </a:p>
          <a:p>
            <a:pPr lvl="1"/>
            <a:r>
              <a:rPr lang="en-US" dirty="0"/>
              <a:t>Discounts</a:t>
            </a:r>
          </a:p>
          <a:p>
            <a:pPr lvl="1"/>
            <a:r>
              <a:rPr lang="en-US" dirty="0"/>
              <a:t>Sales &amp; credit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6D08-B89F-4CDA-A4D9-B4BF7DC41CC6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82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60F5-771B-10FA-0974-5A977CD5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 Follows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A85A-8DD3-CDB3-3409-5EC810536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2EE7-8DBE-BB8C-A41D-85E34CF3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66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Prob #2</a:t>
            </a:r>
            <a:br>
              <a:rPr lang="en-US" altLang="en-US" dirty="0"/>
            </a:br>
            <a:r>
              <a:rPr lang="en-US" altLang="en-US" dirty="0"/>
              <a:t>Current Year Balance Sheet</a:t>
            </a:r>
          </a:p>
        </p:txBody>
      </p:sp>
      <p:graphicFrame>
        <p:nvGraphicFramePr>
          <p:cNvPr id="10438" name="Group 198"/>
          <p:cNvGraphicFramePr>
            <a:graphicFrameLocks noGrp="1"/>
          </p:cNvGraphicFramePr>
          <p:nvPr/>
        </p:nvGraphicFramePr>
        <p:xfrm>
          <a:off x="609600" y="1900238"/>
          <a:ext cx="7924800" cy="427989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Cash &amp; sec.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Accts. pay. &amp;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accruals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Accounts rec.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Notes payable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Inventories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Total CL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Total CA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L-T debt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Common stk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Net fixed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Retained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Assets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Earnings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5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Total assets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Total claims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$1000</a:t>
                      </a:r>
                    </a:p>
                  </a:txBody>
                  <a:tcPr marT="45725" marB="45725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2406" name="Group 118"/>
          <p:cNvGraphicFramePr>
            <a:graphicFrameLocks noGrp="1"/>
          </p:cNvGraphicFramePr>
          <p:nvPr/>
        </p:nvGraphicFramePr>
        <p:xfrm>
          <a:off x="1219200" y="1900238"/>
          <a:ext cx="6477000" cy="4538665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Less: COGS (60%)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1,200.00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SGA costs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700.00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EBIT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$100.00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Interest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EBT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$84.00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Taxes (40%)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33.60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Net income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$50.40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6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Dividends (30%)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$15.12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Add’n to RE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35.28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EB6293-B362-BC3F-3218-9CE74A6F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Prob #2 Current </a:t>
            </a:r>
            <a:r>
              <a:rPr lang="en-US" altLang="en-US" dirty="0" err="1"/>
              <a:t>Yr</a:t>
            </a:r>
            <a:br>
              <a:rPr lang="en-US" altLang="en-US" dirty="0"/>
            </a:br>
            <a:r>
              <a:rPr lang="en-US" altLang="en-US" dirty="0"/>
              <a:t> Income Statement</a:t>
            </a:r>
            <a:endParaRPr lang="en-US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4587" name="Group 251"/>
          <p:cNvGraphicFramePr>
            <a:graphicFrameLocks noGrp="1"/>
          </p:cNvGraphicFramePr>
          <p:nvPr/>
        </p:nvGraphicFramePr>
        <p:xfrm>
          <a:off x="685800" y="1657350"/>
          <a:ext cx="7772400" cy="46085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NWC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Industry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Condition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BEP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Profit Margin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2.52%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ROE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7.20%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15.60%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DSO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43.20 days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32.00 days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Inv. turnover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8.33x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11.00x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F.A. turnover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4.00x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T.A. turnover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2.00x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Debt/assets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Good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TIE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6.25x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9.40x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Current ratio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3.00x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Payout ratio</a:t>
                      </a:r>
                    </a:p>
                  </a:txBody>
                  <a:tcPr marT="45719" marB="45719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30.00%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O.K.</a:t>
                      </a:r>
                    </a:p>
                  </a:txBody>
                  <a:tcPr marT="45719" marB="45719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1D28AF8-A94E-511D-2544-9D4A4EFC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Arial" panose="020B0604020202020204" pitchFamily="34" charset="0"/>
              </a:rPr>
              <a:t>Key Ratios</a:t>
            </a:r>
            <a:endParaRPr lang="en-US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29" name="Group 145"/>
          <p:cNvGraphicFramePr>
            <a:graphicFrameLocks noGrp="1"/>
          </p:cNvGraphicFramePr>
          <p:nvPr/>
        </p:nvGraphicFramePr>
        <p:xfrm>
          <a:off x="304800" y="1603375"/>
          <a:ext cx="8534400" cy="426243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1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NWC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Ind.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Cond.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Net oper. prof. margin after taxes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3.00%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5.00%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9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(NOPAT/Sales)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Oper. capital requirement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45.00%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35.00%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(Net oper. capital/Sales)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8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on invested capital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6.67%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14.00%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Poor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57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(NOPAT/Net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capital)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BEAEB32-6ED3-32E0-B120-FB02EEA9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Key Ratios </a:t>
            </a:r>
            <a:r>
              <a:rPr lang="en-US" altLang="en-US" sz="2400" dirty="0"/>
              <a:t>(Continued)</a:t>
            </a:r>
            <a:endParaRPr lang="en-US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383CFE-A1C3-057C-A668-157EF7BF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AFN (Additional Funds Needed):</a:t>
            </a:r>
            <a:br>
              <a:rPr lang="en-US" altLang="en-US" sz="4000" dirty="0"/>
            </a:br>
            <a:r>
              <a:rPr lang="en-US" altLang="en-US" sz="4000" dirty="0"/>
              <a:t>Key Assumptions</a:t>
            </a:r>
            <a:endParaRPr lang="en-US" dirty="0"/>
          </a:p>
        </p:txBody>
      </p:sp>
      <p:sp>
        <p:nvSpPr>
          <p:cNvPr id="19462" name="Rectangle 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fontScale="92500"/>
          </a:bodyPr>
          <a:lstStyle/>
          <a:p>
            <a:r>
              <a:rPr lang="en-US" altLang="en-US" sz="3000" dirty="0"/>
              <a:t>Operating at </a:t>
            </a:r>
            <a:r>
              <a:rPr lang="en-US" altLang="en-US" sz="3000" dirty="0">
                <a:solidFill>
                  <a:srgbClr val="FF0000"/>
                </a:solidFill>
              </a:rPr>
              <a:t>full capacity </a:t>
            </a:r>
            <a:r>
              <a:rPr lang="en-US" altLang="en-US" sz="3000" dirty="0"/>
              <a:t>in Current Yr.</a:t>
            </a:r>
          </a:p>
          <a:p>
            <a:r>
              <a:rPr lang="en-US" altLang="en-US" sz="3000" dirty="0"/>
              <a:t>Each type of asset grows </a:t>
            </a:r>
            <a:r>
              <a:rPr lang="en-US" altLang="en-US" sz="3000" dirty="0">
                <a:solidFill>
                  <a:srgbClr val="FF0000"/>
                </a:solidFill>
              </a:rPr>
              <a:t>proportionally</a:t>
            </a:r>
            <a:r>
              <a:rPr lang="en-US" altLang="en-US" sz="3000" dirty="0"/>
              <a:t> with sales.</a:t>
            </a:r>
          </a:p>
          <a:p>
            <a:r>
              <a:rPr lang="en-US" altLang="en-US" sz="3000" dirty="0"/>
              <a:t>Payables &amp; accruals grow </a:t>
            </a:r>
            <a:r>
              <a:rPr lang="en-US" altLang="en-US" sz="3000" dirty="0">
                <a:solidFill>
                  <a:srgbClr val="FF0000"/>
                </a:solidFill>
              </a:rPr>
              <a:t>proportionally</a:t>
            </a:r>
            <a:r>
              <a:rPr lang="en-US" altLang="en-US" sz="3000" dirty="0">
                <a:solidFill>
                  <a:schemeClr val="hlink"/>
                </a:solidFill>
              </a:rPr>
              <a:t> </a:t>
            </a:r>
            <a:r>
              <a:rPr lang="en-US" altLang="en-US" sz="3000" dirty="0"/>
              <a:t>with sales.</a:t>
            </a:r>
          </a:p>
          <a:p>
            <a:r>
              <a:rPr lang="en-US" altLang="en-US" sz="3000" dirty="0"/>
              <a:t>Current Yr. profit margin (2.52%) &amp; payout (30%) </a:t>
            </a:r>
            <a:r>
              <a:rPr lang="en-US" altLang="en-US" sz="3000" dirty="0">
                <a:solidFill>
                  <a:srgbClr val="FF0000"/>
                </a:solidFill>
              </a:rPr>
              <a:t>will be maintained</a:t>
            </a:r>
            <a:r>
              <a:rPr lang="en-US" altLang="en-US" sz="3000" dirty="0"/>
              <a:t>.</a:t>
            </a:r>
          </a:p>
          <a:p>
            <a:r>
              <a:rPr lang="en-US" altLang="en-US" sz="3000" dirty="0"/>
              <a:t>Sales are expected to increase by $500 million.  </a:t>
            </a:r>
            <a:r>
              <a:rPr lang="en-US" altLang="en-US" sz="3000" dirty="0">
                <a:solidFill>
                  <a:srgbClr val="FF0000"/>
                </a:solidFill>
              </a:rPr>
              <a:t>(%</a:t>
            </a:r>
            <a:r>
              <a:rPr lang="en-US" altLang="en-US" sz="3000" dirty="0">
                <a:solidFill>
                  <a:srgbClr val="FF0000"/>
                </a:solidFill>
                <a:latin typeface="Symbol" panose="05050102010706020507" pitchFamily="18" charset="2"/>
              </a:rPr>
              <a:t></a:t>
            </a:r>
            <a:r>
              <a:rPr lang="en-US" altLang="en-US" sz="3000" dirty="0">
                <a:solidFill>
                  <a:srgbClr val="FF0000"/>
                </a:solidFill>
              </a:rPr>
              <a:t>S = 25%)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2A791D9-D947-44F0-A3E5-8197F12784ED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46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pic>
        <p:nvPicPr>
          <p:cNvPr id="2048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057400"/>
            <a:ext cx="3546475" cy="4343400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24E8B5-919E-0F2D-9ED1-B010E405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Prob # 3</a:t>
            </a:r>
            <a:br>
              <a:rPr lang="en-US" altLang="en-US" sz="4000" dirty="0"/>
            </a:br>
            <a:r>
              <a:rPr lang="en-US" altLang="en-US" sz="4000" dirty="0"/>
              <a:t>Balance Sheet, Hatfield, Current Yr.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034F-AE95-215D-452E-784244227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E33581A6-484B-4B7A-B3C6-0E90C53AF271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47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21507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Income Statement, Hatfield, Current Year</a:t>
            </a:r>
          </a:p>
        </p:txBody>
      </p:sp>
      <p:pic>
        <p:nvPicPr>
          <p:cNvPr id="2150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2500"/>
            <a:ext cx="5092578" cy="5106900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1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8153400" cy="1462087"/>
          </a:xfrm>
        </p:spPr>
        <p:txBody>
          <a:bodyPr/>
          <a:lstStyle/>
          <a:p>
            <a:pPr eaLnBrk="1" hangingPunct="1"/>
            <a:r>
              <a:rPr lang="en-US" altLang="en-US"/>
              <a:t>Comparison of Hatfield to Industry Using DuPont Equation</a:t>
            </a:r>
          </a:p>
        </p:txBody>
      </p:sp>
      <p:sp>
        <p:nvSpPr>
          <p:cNvPr id="22531" name="Content Placeholder 38"/>
          <p:cNvSpPr>
            <a:spLocks noGrp="1"/>
          </p:cNvSpPr>
          <p:nvPr>
            <p:ph idx="1"/>
          </p:nvPr>
        </p:nvSpPr>
        <p:spPr>
          <a:xfrm>
            <a:off x="1182688" y="2017713"/>
            <a:ext cx="7961312" cy="4114800"/>
          </a:xfrm>
        </p:spPr>
        <p:txBody>
          <a:bodyPr>
            <a:normAutofit fontScale="92500" lnSpcReduction="10000"/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en-US"/>
              <a:t>ROE	= NI/S </a:t>
            </a:r>
            <a:r>
              <a:rPr lang="en-US" altLang="en-US">
                <a:cs typeface="Times New Roman" panose="02020603050405020304" pitchFamily="18" charset="0"/>
              </a:rPr>
              <a:t>× S/TA</a:t>
            </a:r>
            <a:r>
              <a:rPr lang="en-US" altLang="en-US"/>
              <a:t> </a:t>
            </a:r>
            <a:r>
              <a:rPr lang="en-US" altLang="en-US">
                <a:cs typeface="Times New Roman" panose="02020603050405020304" pitchFamily="18" charset="0"/>
              </a:rPr>
              <a:t>× TA/E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NI/S = $24/$2,000 = 1.2%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S/TA = $2,000/$1,200 = 1.67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TA/E = $1,200/$500 = 2.4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ROE</a:t>
            </a:r>
            <a:r>
              <a:rPr lang="en-US" altLang="en-US" baseline="-25000">
                <a:solidFill>
                  <a:schemeClr val="tx2"/>
                </a:solidFill>
                <a:cs typeface="Times New Roman" panose="02020603050405020304" pitchFamily="18" charset="0"/>
              </a:rPr>
              <a:t>Hatfield</a:t>
            </a:r>
            <a:r>
              <a:rPr lang="en-US" altLang="en-US">
                <a:solidFill>
                  <a:schemeClr val="tx2"/>
                </a:solidFill>
                <a:cs typeface="Times New Roman" panose="02020603050405020304" pitchFamily="18" charset="0"/>
              </a:rPr>
              <a:t>	= 1.2% × 1.67 × 2.4 = 4.8%.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ROE</a:t>
            </a:r>
            <a:r>
              <a:rPr lang="en-US" altLang="en-US" baseline="-25000">
                <a:cs typeface="Times New Roman" panose="02020603050405020304" pitchFamily="18" charset="0"/>
              </a:rPr>
              <a:t>Industry</a:t>
            </a:r>
            <a:r>
              <a:rPr lang="en-US" altLang="en-US">
                <a:cs typeface="Times New Roman" panose="02020603050405020304" pitchFamily="18" charset="0"/>
              </a:rPr>
              <a:t>	= 2.74% × 2.0 × 2.13 = 11.6%.</a:t>
            </a:r>
            <a:endParaRPr lang="en-US" altLang="en-US"/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5BA0D0-275B-42E3-92C1-D3101C119C3C}" type="slidenum">
              <a:rPr lang="en-US" altLang="en-US">
                <a:latin typeface="Tahoma" panose="020B0604030504040204" pitchFamily="34" charset="0"/>
              </a:rPr>
              <a:pPr eaLnBrk="1" hangingPunct="1"/>
              <a:t>48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Comparison </a:t>
            </a:r>
            <a:r>
              <a:rPr lang="en-US" altLang="en-US" sz="3200"/>
              <a:t>(Continued)</a:t>
            </a:r>
          </a:p>
        </p:txBody>
      </p:sp>
      <p:sp>
        <p:nvSpPr>
          <p:cNvPr id="23555" name="Content Placeholder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Profitability ratios lower because of higher interest expense.</a:t>
            </a:r>
          </a:p>
          <a:p>
            <a:r>
              <a:rPr lang="en-US" altLang="en-US" dirty="0"/>
              <a:t>Lower asset management ratios due to high levels of receivables &amp; inventory.</a:t>
            </a:r>
          </a:p>
          <a:p>
            <a:r>
              <a:rPr lang="en-US" altLang="en-US" dirty="0"/>
              <a:t>Higher leverage than industry.</a:t>
            </a:r>
          </a:p>
        </p:txBody>
      </p:sp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99A744-E31B-4D63-9DBA-A9D49F6BFDC2}" type="slidenum">
              <a:rPr lang="en-US" altLang="en-US">
                <a:latin typeface="Tahoma" panose="020B0604030504040204" pitchFamily="34" charset="0"/>
              </a:rPr>
              <a:pPr eaLnBrk="1" hangingPunct="1"/>
              <a:t>49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AFN (Additional Funds Needed) Equation: Key Assumptions</a:t>
            </a:r>
          </a:p>
        </p:txBody>
      </p:sp>
      <p:sp>
        <p:nvSpPr>
          <p:cNvPr id="24579" name="Content Placeholder 2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Operating at full capacity in Current Yr.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Sales are expected to increase by 15% ($300 million).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Asset-to-sales ratios remain same.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Spontaneous-liabilities-to-sales ratio remains same.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Current </a:t>
            </a:r>
            <a:r>
              <a:rPr lang="en-US" altLang="en-US" dirty="0" err="1"/>
              <a:t>Yr</a:t>
            </a:r>
            <a:r>
              <a:rPr lang="en-US" altLang="en-US" dirty="0"/>
              <a:t> profit margin ($24/$2,000 = 1.2%) &amp; payout ratio (35%) will be maintained.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003435-666B-4F4A-9B07-14FFBC707F91}" type="slidenum">
              <a:rPr lang="en-US" altLang="en-US">
                <a:latin typeface="Tahoma" panose="020B0604030504040204" pitchFamily="34" charset="0"/>
              </a:rPr>
              <a:pPr eaLnBrk="1" hangingPunct="1"/>
              <a:t>50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635000" y="684213"/>
            <a:ext cx="787400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Hatfield’s AFN Using AFN Equation</a:t>
            </a: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5000" y="2017713"/>
            <a:ext cx="8320088" cy="4114800"/>
          </a:xfrm>
        </p:spPr>
        <p:txBody>
          <a:bodyPr/>
          <a:lstStyle/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/>
              <a:t>AFN = (A</a:t>
            </a:r>
            <a:r>
              <a:rPr lang="en-US" altLang="en-US" baseline="-25000"/>
              <a:t>0</a:t>
            </a:r>
            <a:r>
              <a:rPr lang="en-US" altLang="en-US" baseline="30000"/>
              <a:t>*</a:t>
            </a:r>
            <a:r>
              <a:rPr lang="en-US" altLang="en-US"/>
              <a:t>/S</a:t>
            </a:r>
            <a:r>
              <a:rPr lang="en-US" altLang="en-US" baseline="-25000"/>
              <a:t>0</a:t>
            </a:r>
            <a:r>
              <a:rPr lang="en-US" altLang="en-US"/>
              <a:t>)∆S</a:t>
            </a:r>
            <a:r>
              <a:rPr lang="en-US" altLang="en-US" sz="2400"/>
              <a:t> </a:t>
            </a:r>
            <a:r>
              <a:rPr lang="en-US" altLang="en-US">
                <a:cs typeface="Times New Roman" panose="02020603050405020304" pitchFamily="18" charset="0"/>
              </a:rPr>
              <a:t>−</a:t>
            </a:r>
            <a:r>
              <a:rPr lang="en-US" altLang="en-US"/>
              <a:t>(L</a:t>
            </a:r>
            <a:r>
              <a:rPr lang="en-US" altLang="en-US" baseline="-25000"/>
              <a:t>0</a:t>
            </a:r>
            <a:r>
              <a:rPr lang="en-US" altLang="en-US" baseline="30000"/>
              <a:t>*</a:t>
            </a:r>
            <a:r>
              <a:rPr lang="en-US" altLang="en-US"/>
              <a:t>/S</a:t>
            </a:r>
            <a:r>
              <a:rPr lang="en-US" altLang="en-US" baseline="-25000"/>
              <a:t>0</a:t>
            </a:r>
            <a:r>
              <a:rPr lang="en-US" altLang="en-US"/>
              <a:t>)∆S</a:t>
            </a:r>
            <a:r>
              <a:rPr lang="en-US" altLang="en-US" sz="2400"/>
              <a:t> </a:t>
            </a:r>
            <a:r>
              <a:rPr lang="en-US" altLang="en-US">
                <a:cs typeface="Times New Roman" panose="02020603050405020304" pitchFamily="18" charset="0"/>
              </a:rPr>
              <a:t>−</a:t>
            </a:r>
            <a:r>
              <a:rPr lang="en-US" altLang="en-US"/>
              <a:t>M(S</a:t>
            </a:r>
            <a:r>
              <a:rPr lang="en-US" altLang="en-US" baseline="-25000"/>
              <a:t>1</a:t>
            </a:r>
            <a:r>
              <a:rPr lang="en-US" altLang="en-US"/>
              <a:t>)(1</a:t>
            </a:r>
            <a:r>
              <a:rPr lang="en-US" altLang="en-US">
                <a:cs typeface="Times New Roman" panose="02020603050405020304" pitchFamily="18" charset="0"/>
              </a:rPr>
              <a:t>−POR</a:t>
            </a:r>
            <a:r>
              <a:rPr lang="en-US" altLang="en-US"/>
              <a:t>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/>
              <a:t>AFN = ($1,200/$2,000)($300)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>
                <a:cs typeface="Times New Roman" panose="02020603050405020304" pitchFamily="18" charset="0"/>
              </a:rPr>
              <a:t>−</a:t>
            </a:r>
            <a:r>
              <a:rPr lang="en-US" altLang="en-US"/>
              <a:t> ($100/$2,000)($300)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>
                <a:cs typeface="Times New Roman" panose="02020603050405020304" pitchFamily="18" charset="0"/>
              </a:rPr>
              <a:t>−</a:t>
            </a:r>
            <a:r>
              <a:rPr lang="en-US" altLang="en-US"/>
              <a:t> 0.012($2,300)(1 - 0.375)</a:t>
            </a:r>
          </a:p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/>
              <a:t>AFN =  $180 </a:t>
            </a:r>
            <a:r>
              <a:rPr lang="en-US" altLang="en-US">
                <a:cs typeface="Times New Roman" panose="02020603050405020304" pitchFamily="18" charset="0"/>
              </a:rPr>
              <a:t>− $15 − $17.25</a:t>
            </a:r>
          </a:p>
          <a:p>
            <a:pPr marL="1316038" indent="-1316038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tx2"/>
                </a:solidFill>
              </a:rPr>
              <a:t>AFN =  $147.75 million.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Self-Supporting Growth Rate</a:t>
            </a:r>
          </a:p>
        </p:txBody>
      </p:sp>
      <p:sp>
        <p:nvSpPr>
          <p:cNvPr id="3379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800" dirty="0"/>
              <a:t>Self-Supporting growth rate is maximum growth rate firm could achieve if it had no access to external capital.</a:t>
            </a:r>
          </a:p>
        </p:txBody>
      </p:sp>
      <p:sp>
        <p:nvSpPr>
          <p:cNvPr id="2" name="Slide Number Placeholder 1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00AF50F-6591-4A8F-B41D-3A45B12B6127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52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33797" name="Text Box 8"/>
          <p:cNvSpPr txBox="1">
            <a:spLocks noChangeArrowheads="1"/>
          </p:cNvSpPr>
          <p:nvPr/>
        </p:nvSpPr>
        <p:spPr bwMode="auto">
          <a:xfrm>
            <a:off x="655638" y="33147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Self-supporting g = </a:t>
            </a:r>
            <a:r>
              <a:rPr lang="en-US" altLang="en-US" sz="2400" b="1" baseline="30000"/>
              <a:t>______________________________</a:t>
            </a:r>
            <a:endParaRPr lang="en-US" altLang="en-US" sz="2400" b="1" baseline="30000">
              <a:cs typeface="Times New Roman" panose="02020603050405020304" pitchFamily="18" charset="0"/>
            </a:endParaRPr>
          </a:p>
        </p:txBody>
      </p:sp>
      <p:sp>
        <p:nvSpPr>
          <p:cNvPr id="33798" name="Text Box 9"/>
          <p:cNvSpPr txBox="1">
            <a:spLocks noChangeArrowheads="1"/>
          </p:cNvSpPr>
          <p:nvPr/>
        </p:nvSpPr>
        <p:spPr bwMode="auto">
          <a:xfrm>
            <a:off x="3932238" y="3068638"/>
            <a:ext cx="4191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       </a:t>
            </a:r>
            <a:r>
              <a:rPr lang="en-US" altLang="en-US" sz="2400"/>
              <a:t>M(1 </a:t>
            </a:r>
            <a:r>
              <a:rPr lang="en-US" altLang="en-US" sz="2400">
                <a:cs typeface="Times New Roman" panose="02020603050405020304" pitchFamily="18" charset="0"/>
              </a:rPr>
              <a:t>− POR)S</a:t>
            </a:r>
            <a:r>
              <a:rPr lang="en-US" altLang="en-US" sz="2400" baseline="-25000">
                <a:cs typeface="Times New Roman" panose="02020603050405020304" pitchFamily="18" charset="0"/>
              </a:rPr>
              <a:t>0</a:t>
            </a:r>
            <a:endParaRPr lang="en-US" altLang="en-US" sz="2400"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A</a:t>
            </a:r>
            <a:r>
              <a:rPr lang="en-US" altLang="en-US" sz="2400" baseline="-25000">
                <a:cs typeface="Times New Roman" panose="02020603050405020304" pitchFamily="18" charset="0"/>
              </a:rPr>
              <a:t>0</a:t>
            </a:r>
            <a:r>
              <a:rPr lang="en-US" altLang="en-US" sz="2400" baseline="30000">
                <a:cs typeface="Times New Roman" panose="02020603050405020304" pitchFamily="18" charset="0"/>
              </a:rPr>
              <a:t>*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/>
              <a:t>− L</a:t>
            </a:r>
            <a:r>
              <a:rPr lang="en-US" altLang="en-US" sz="2400" baseline="-25000">
                <a:cs typeface="Times New Roman" panose="02020603050405020304" pitchFamily="18" charset="0"/>
              </a:rPr>
              <a:t>0</a:t>
            </a:r>
            <a:r>
              <a:rPr lang="en-US" altLang="en-US" sz="2400" baseline="30000">
                <a:cs typeface="Times New Roman" panose="02020603050405020304" pitchFamily="18" charset="0"/>
              </a:rPr>
              <a:t>*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/>
              <a:t>− M(1 </a:t>
            </a:r>
            <a:r>
              <a:rPr lang="en-US" altLang="en-US" sz="1800"/>
              <a:t>− </a:t>
            </a:r>
            <a:r>
              <a:rPr lang="en-US" altLang="en-US" sz="2400"/>
              <a:t>POR)S</a:t>
            </a:r>
            <a:r>
              <a:rPr lang="en-US" altLang="en-US" sz="2400" baseline="-25000"/>
              <a:t>0</a:t>
            </a:r>
          </a:p>
        </p:txBody>
      </p:sp>
      <p:grpSp>
        <p:nvGrpSpPr>
          <p:cNvPr id="33799" name="Group 17"/>
          <p:cNvGrpSpPr>
            <a:grpSpLocks/>
          </p:cNvGrpSpPr>
          <p:nvPr/>
        </p:nvGrpSpPr>
        <p:grpSpPr bwMode="auto">
          <a:xfrm>
            <a:off x="655638" y="4252913"/>
            <a:ext cx="7726362" cy="1004887"/>
            <a:chOff x="413" y="2941"/>
            <a:chExt cx="4867" cy="633"/>
          </a:xfrm>
        </p:grpSpPr>
        <p:sp>
          <p:nvSpPr>
            <p:cNvPr id="33802" name="Text Box 12"/>
            <p:cNvSpPr txBox="1">
              <a:spLocks noChangeArrowheads="1"/>
            </p:cNvSpPr>
            <p:nvPr/>
          </p:nvSpPr>
          <p:spPr bwMode="auto">
            <a:xfrm>
              <a:off x="413" y="3096"/>
              <a:ext cx="48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/>
                <a:t>g = </a:t>
              </a:r>
              <a:r>
                <a:rPr lang="en-US" altLang="en-US" sz="2400" b="1" baseline="30000"/>
                <a:t>______________________________________________</a:t>
              </a:r>
              <a:endParaRPr lang="en-US" altLang="en-US" sz="2400" b="1" baseline="30000">
                <a:cs typeface="Times New Roman" panose="02020603050405020304" pitchFamily="18" charset="0"/>
              </a:endParaRPr>
            </a:p>
          </p:txBody>
        </p:sp>
        <p:sp>
          <p:nvSpPr>
            <p:cNvPr id="33803" name="Text Box 13"/>
            <p:cNvSpPr txBox="1">
              <a:spLocks noChangeArrowheads="1"/>
            </p:cNvSpPr>
            <p:nvPr/>
          </p:nvSpPr>
          <p:spPr bwMode="auto">
            <a:xfrm>
              <a:off x="912" y="2941"/>
              <a:ext cx="4368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/>
                <a:t>          (0.012)(1</a:t>
              </a:r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lang="en-US" altLang="en-US" sz="2400">
                  <a:cs typeface="Times New Roman" panose="02020603050405020304" pitchFamily="18" charset="0"/>
                </a:rPr>
                <a:t>0.35)($2,000)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cs typeface="Times New Roman" panose="02020603050405020304" pitchFamily="18" charset="0"/>
                </a:rPr>
                <a:t>$1,200 </a:t>
              </a:r>
              <a:r>
                <a:rPr lang="en-US" altLang="en-US" sz="2400"/>
                <a:t>− $100</a:t>
              </a:r>
              <a:r>
                <a:rPr lang="en-US" altLang="en-US" sz="2400">
                  <a:cs typeface="Times New Roman" panose="02020603050405020304" pitchFamily="18" charset="0"/>
                </a:rPr>
                <a:t> </a:t>
              </a:r>
              <a:r>
                <a:rPr lang="en-US" altLang="en-US" sz="2400"/>
                <a:t>− (.012)(1</a:t>
              </a:r>
              <a:r>
                <a:rPr lang="en-US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lang="en-US" altLang="en-US" sz="2400">
                  <a:cs typeface="Times New Roman" panose="02020603050405020304" pitchFamily="18" charset="0"/>
                </a:rPr>
                <a:t>0.35)($2,000)</a:t>
              </a:r>
            </a:p>
          </p:txBody>
        </p:sp>
      </p:grpSp>
      <p:sp>
        <p:nvSpPr>
          <p:cNvPr id="33800" name="Text Box 19"/>
          <p:cNvSpPr txBox="1">
            <a:spLocks noChangeArrowheads="1"/>
          </p:cNvSpPr>
          <p:nvPr/>
        </p:nvSpPr>
        <p:spPr bwMode="auto">
          <a:xfrm>
            <a:off x="685800" y="5656263"/>
            <a:ext cx="7726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g = </a:t>
            </a:r>
            <a:r>
              <a:rPr lang="en-US" altLang="en-US" sz="2400" b="1" baseline="30000"/>
              <a:t>____________</a:t>
            </a:r>
            <a:r>
              <a:rPr lang="en-US" altLang="en-US" sz="2400"/>
              <a:t>  = 1.44%</a:t>
            </a:r>
            <a:endParaRPr lang="en-US" altLang="en-US" sz="2400" b="1" baseline="30000">
              <a:cs typeface="Times New Roman" panose="02020603050405020304" pitchFamily="18" charset="0"/>
            </a:endParaRPr>
          </a:p>
        </p:txBody>
      </p:sp>
      <p:sp>
        <p:nvSpPr>
          <p:cNvPr id="33801" name="Text Box 20"/>
          <p:cNvSpPr txBox="1">
            <a:spLocks noChangeArrowheads="1"/>
          </p:cNvSpPr>
          <p:nvPr/>
        </p:nvSpPr>
        <p:spPr bwMode="auto">
          <a:xfrm>
            <a:off x="1477963" y="5410200"/>
            <a:ext cx="6934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 $15.60</a:t>
            </a:r>
            <a:endParaRPr lang="en-US" altLang="en-US" sz="2400"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$1,084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Self-Supporting Growth Rate</a:t>
            </a:r>
          </a:p>
        </p:txBody>
      </p:sp>
      <p:sp>
        <p:nvSpPr>
          <p:cNvPr id="34819" name="Content Placeholder 3"/>
          <p:cNvSpPr>
            <a:spLocks noGrp="1"/>
          </p:cNvSpPr>
          <p:nvPr>
            <p:ph idx="1"/>
          </p:nvPr>
        </p:nvSpPr>
        <p:spPr>
          <a:xfrm>
            <a:off x="914400" y="2017713"/>
            <a:ext cx="8040688" cy="4114800"/>
          </a:xfrm>
        </p:spPr>
        <p:txBody>
          <a:bodyPr/>
          <a:lstStyle/>
          <a:p>
            <a:pPr marL="347663" indent="-347663"/>
            <a:r>
              <a:rPr lang="en-US" altLang="en-US" dirty="0"/>
              <a:t>If Hatfield’s sales grow less than 1.44%, firm will not need any external capital.  </a:t>
            </a:r>
          </a:p>
          <a:p>
            <a:pPr marL="347663" indent="-347663"/>
            <a:r>
              <a:rPr lang="en-US" altLang="en-US" dirty="0"/>
              <a:t>firm’s self-supporting growth rate is influenced by firm’s capital intensity ratio.  more assets firm requires to achieve a certain sales level, lower its sustainable growth rate will be.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099B24-DCE5-4CC8-AB5F-3274FB44895F}" type="slidenum">
              <a:rPr lang="en-US" altLang="en-US">
                <a:latin typeface="Tahoma" panose="020B0604030504040204" pitchFamily="34" charset="0"/>
              </a:rPr>
              <a:pPr eaLnBrk="1" hangingPunct="1"/>
              <a:t>53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Forecasted Financial Statements: Initial Assumptions for “Steady” Scenario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Operating ratios remain unchanged.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No additional notes payable, LT bonds, or common stock will be issued.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interest rate on all debt is 10%.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If additional financing is needed, then it will be raised through a line of credit. line of credit will be tapped on last day of year, so there will be no additional interest expenses due to line of credit.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Interest expenses for notes payable &amp; LT bonds are based on average balances during year.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If surplus funds are available, surplus will be paid out as a special dividend payment.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Regular dividends will grow by 15%.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Sales will grow by 15%.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A01021-ACED-456B-B33E-CCECF6EAE636}" type="slidenum">
              <a:rPr lang="en-US" altLang="en-US">
                <a:latin typeface="Tahoma" panose="020B0604030504040204" pitchFamily="34" charset="0"/>
              </a:rPr>
              <a:pPr eaLnBrk="1" hangingPunct="1"/>
              <a:t>54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Inputs for Steady Scenario &amp; Target Scenario</a:t>
            </a:r>
          </a:p>
        </p:txBody>
      </p:sp>
      <p:sp>
        <p:nvSpPr>
          <p:cNvPr id="2" name="Slide Number Placeholder 1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BDD4FFEC-D116-4875-BB54-751785C8E349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55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pic>
        <p:nvPicPr>
          <p:cNvPr id="3686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62200"/>
            <a:ext cx="7894638" cy="3429000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/>
              <a:t>Forecasted Financial Statements: Balance Sheets for Steady Scenario</a:t>
            </a:r>
          </a:p>
        </p:txBody>
      </p:sp>
      <p:sp>
        <p:nvSpPr>
          <p:cNvPr id="2" name="Slide Number Placeholder 1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32CFB018-49C8-487B-A096-F7395DD19A7F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56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pic>
        <p:nvPicPr>
          <p:cNvPr id="3789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1905000"/>
            <a:ext cx="6873875" cy="4575175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Forecasted Financial Statements: Income Statement for Steady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722BCB-F492-4494-AD61-1B7D2E6AC08B}" type="slidenum">
              <a:rPr lang="en-US" altLang="en-US">
                <a:latin typeface="Tahoma" panose="020B0604030504040204" pitchFamily="34" charset="0"/>
              </a:rPr>
              <a:pPr eaLnBrk="1" hangingPunct="1"/>
              <a:t>57</a:t>
            </a:fld>
            <a:endParaRPr lang="en-US" altLang="en-US">
              <a:latin typeface="Tahoma" panose="020B0604030504040204" pitchFamily="34" charset="0"/>
            </a:endParaRPr>
          </a:p>
        </p:txBody>
      </p:sp>
      <p:pic>
        <p:nvPicPr>
          <p:cNvPr id="389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90800"/>
            <a:ext cx="7467600" cy="2890838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AFN = $142.4.  </a:t>
            </a:r>
          </a:p>
          <a:p>
            <a:r>
              <a:rPr lang="en-US" altLang="en-US" dirty="0"/>
              <a:t>This AFN amount </a:t>
            </a:r>
            <a:r>
              <a:rPr lang="en-US" altLang="en-US" dirty="0">
                <a:sym typeface="Symbol" panose="05050102010706020507" pitchFamily="18" charset="2"/>
              </a:rPr>
              <a:t> AFN equation amount.  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difference results because profit margin doesn’t remain constant.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1EAD94-B88C-499F-86DE-C1A16D3A8EF2}" type="slidenum">
              <a:rPr lang="en-US" altLang="en-US">
                <a:latin typeface="Tahoma" panose="020B0604030504040204" pitchFamily="34" charset="0"/>
              </a:rPr>
              <a:pPr eaLnBrk="1" hangingPunct="1"/>
              <a:t>58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994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Additional Financing Needed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15B386-F2E4-4D62-AD8B-EF7D070867C7}" type="slidenum">
              <a:rPr lang="en-US" altLang="en-US">
                <a:latin typeface="Tahoma" panose="020B0604030504040204" pitchFamily="34" charset="0"/>
              </a:rPr>
              <a:pPr eaLnBrk="1" hangingPunct="1"/>
              <a:t>59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096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Forecasted Financial Statements, Target Ratios</a:t>
            </a:r>
          </a:p>
        </p:txBody>
      </p:sp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057400"/>
            <a:ext cx="6553200" cy="4386263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A0B0D5A-C9BB-455C-9953-00FE373EBDCF}" type="slidenum">
              <a:rPr lang="en-US" altLang="en-US">
                <a:latin typeface="Tahoma" panose="020B0604030504040204" pitchFamily="34" charset="0"/>
              </a:rPr>
              <a:pPr eaLnBrk="1" hangingPunct="1"/>
              <a:t>60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Forecasted Financial Statements, Target Ratios</a:t>
            </a:r>
          </a:p>
        </p:txBody>
      </p:sp>
      <p:pic>
        <p:nvPicPr>
          <p:cNvPr id="4198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2238375"/>
            <a:ext cx="7207250" cy="2814638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Measures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D31A6E-E91A-498C-A706-E3E9422FDA9A}" type="slidenum">
              <a:rPr lang="en-US" altLang="en-US">
                <a:latin typeface="Tahoma" panose="020B0604030504040204" pitchFamily="34" charset="0"/>
              </a:rPr>
              <a:pPr eaLnBrk="1" hangingPunct="1"/>
              <a:t>61</a:t>
            </a:fld>
            <a:endParaRPr lang="en-US" altLang="en-US">
              <a:latin typeface="Tahoma" panose="020B0604030504040204" pitchFamily="34" charset="0"/>
            </a:endParaRPr>
          </a:p>
        </p:txBody>
      </p:sp>
      <p:pic>
        <p:nvPicPr>
          <p:cNvPr id="4301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209800"/>
            <a:ext cx="6164262" cy="3900488"/>
          </a:xfrm>
          <a:prstGeom prst="rect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Compensation &amp; Forecasting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Forecasting models can be used to set targets for compensation plans.</a:t>
            </a:r>
          </a:p>
          <a:p>
            <a:r>
              <a:rPr lang="en-US" altLang="en-US" dirty="0"/>
              <a:t>key is to rewards employees for creating shareholder intrinsic shareholder value.</a:t>
            </a:r>
          </a:p>
          <a:p>
            <a:r>
              <a:rPr lang="en-US" altLang="en-US" dirty="0"/>
              <a:t>emphasis should be on long run rather than short-run performance.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Financing Feedbacks</a:t>
            </a:r>
          </a:p>
        </p:txBody>
      </p:sp>
      <p:sp>
        <p:nvSpPr>
          <p:cNvPr id="45059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Forecast does not include additional interest from line of credit because we assumed that line was tapped only on last day of year.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It would be more realistic to assume that line is drawn upon throughout year.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Financing feedbacks occur when additional financing costs of new external capital are included in analysis. </a:t>
            </a:r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F398FBF4-80B4-4975-BC03-E233043EF421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63</a:t>
            </a:fld>
            <a:endParaRPr lang="en-US" altLang="en-U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Financing Feedbacks-Circularity</a:t>
            </a:r>
          </a:p>
        </p:txBody>
      </p:sp>
      <p:sp>
        <p:nvSpPr>
          <p:cNvPr id="46083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When financing costs are included, NI falls, reducing addition to RE.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RE on balance sheet fall.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Balance sheet no longer balances.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More financing is needed.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Process repeats.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E7B468-9792-470B-B98A-5CEFFAEC5774}" type="slidenum">
              <a:rPr lang="en-US" altLang="en-US">
                <a:latin typeface="Tahoma" panose="020B0604030504040204" pitchFamily="34" charset="0"/>
              </a:rPr>
              <a:pPr eaLnBrk="1" hangingPunct="1"/>
              <a:t>64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Financing Feedbacks-Solutions</a:t>
            </a:r>
          </a:p>
        </p:txBody>
      </p:sp>
      <p:sp>
        <p:nvSpPr>
          <p:cNvPr id="47107" name="Rectangle 7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Repeat process, iterate until balance sheet balances.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Manually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Using </a:t>
            </a:r>
            <a:r>
              <a:rPr lang="en-US" altLang="en-US" sz="2400" i="1" dirty="0"/>
              <a:t>Excel</a:t>
            </a:r>
            <a:r>
              <a:rPr lang="en-US" altLang="en-US" sz="2400" dirty="0"/>
              <a:t>’ Iteration feature.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Use </a:t>
            </a:r>
            <a:r>
              <a:rPr lang="en-US" altLang="en-US" sz="2800" i="1" dirty="0"/>
              <a:t>Excel</a:t>
            </a:r>
            <a:r>
              <a:rPr lang="en-US" altLang="en-US" sz="2800" dirty="0"/>
              <a:t> Goal Seek to find right amount of AFN.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Use simple formula to adjust AFN so that adjusted amount of financing incorporates financing feedback; see Tab 2 in </a:t>
            </a:r>
            <a:r>
              <a:rPr lang="en-US" altLang="en-US" sz="2800" b="1" i="1" dirty="0"/>
              <a:t>Ch12 Mini Case.xls.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1C6423-E060-465C-ACC1-285EBFCCECD6}" type="slidenum">
              <a:rPr lang="en-US" altLang="en-US">
                <a:latin typeface="Tahoma" panose="020B0604030504040204" pitchFamily="34" charset="0"/>
              </a:rPr>
              <a:pPr eaLnBrk="1" hangingPunct="1"/>
              <a:t>65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8153400" cy="1462087"/>
          </a:xfrm>
        </p:spPr>
        <p:txBody>
          <a:bodyPr/>
          <a:lstStyle/>
          <a:p>
            <a:pPr eaLnBrk="1" hangingPunct="1"/>
            <a:r>
              <a:rPr lang="en-US" altLang="en-US"/>
              <a:t>Multi-Year Forecasts: Buildup in Line of Credit</a:t>
            </a:r>
          </a:p>
        </p:txBody>
      </p:sp>
      <p:sp>
        <p:nvSpPr>
          <p:cNvPr id="48131" name="Content Placeholder 3"/>
          <p:cNvSpPr>
            <a:spLocks noGrp="1"/>
          </p:cNvSpPr>
          <p:nvPr>
            <p:ph idx="1"/>
          </p:nvPr>
        </p:nvSpPr>
        <p:spPr>
          <a:xfrm>
            <a:off x="1182688" y="2017713"/>
            <a:ext cx="7580312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If annual projections show continuing increase in LOC’s balance, board of directors would have to step in &amp; make decisions regarding capital structure or dividend policy: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Issue LT Debt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Issue Equity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Cut dividends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1F920E-BD60-4C10-942E-99D03073FA4E}" type="slidenum">
              <a:rPr lang="en-US" altLang="en-US">
                <a:latin typeface="Tahoma" panose="020B0604030504040204" pitchFamily="34" charset="0"/>
              </a:rPr>
              <a:pPr eaLnBrk="1" hangingPunct="1"/>
              <a:t>66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Multi-Year Forecasts: Special Dividends</a:t>
            </a:r>
          </a:p>
        </p:txBody>
      </p:sp>
      <p:sp>
        <p:nvSpPr>
          <p:cNvPr id="491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board of directors might decide to do something else with surplus instead of pay special dividends.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Buy back shares of stock.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Purchase short-term securities.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Pay down debt.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Make an acquisition.</a:t>
            </a:r>
          </a:p>
        </p:txBody>
      </p:sp>
      <p:sp>
        <p:nvSpPr>
          <p:cNvPr id="5" name="Slide Number Placeholder 5"/>
          <p:cNvSpPr txBox="1">
            <a:spLocks noGrp="1"/>
          </p:cNvSpPr>
          <p:nvPr/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AA204183-9D2A-480A-81BC-E228D0384F50}" type="slidenum">
              <a:rPr lang="en-US" altLang="en-US" sz="1400">
                <a:latin typeface="Tahoma" panose="020B0604030504040204" pitchFamily="34" charset="0"/>
              </a:rPr>
              <a:pPr algn="r" eaLnBrk="1" hangingPunct="1"/>
              <a:t>67</a:t>
            </a:fld>
            <a:endParaRPr lang="en-US" altLang="en-U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Modifying Forecasting Model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maintain target capital structure each year by modifying model to issue/retire LT debt or issue/repurchase shares of stock.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674</TotalTime>
  <Pages>24</Pages>
  <Words>2850</Words>
  <Application>Microsoft Office PowerPoint</Application>
  <PresentationFormat>On-screen Show (4:3)</PresentationFormat>
  <Paragraphs>558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Calibri</vt:lpstr>
      <vt:lpstr>Calibri Light</vt:lpstr>
      <vt:lpstr>MS Reference Sans Serif</vt:lpstr>
      <vt:lpstr>Symbol</vt:lpstr>
      <vt:lpstr>Tahoma</vt:lpstr>
      <vt:lpstr>Times New Roman</vt:lpstr>
      <vt:lpstr>Wingdings</vt:lpstr>
      <vt:lpstr>Office Theme</vt:lpstr>
      <vt:lpstr>CHAPTER 12</vt:lpstr>
      <vt:lpstr>Topics in Chapter</vt:lpstr>
      <vt:lpstr>Intrinsic Value: Financial Forecasting</vt:lpstr>
      <vt:lpstr>Elements of Strategic Plans</vt:lpstr>
      <vt:lpstr>Financial Planning Process</vt:lpstr>
      <vt:lpstr>Financial Planning Process (Continued)</vt:lpstr>
      <vt:lpstr>Pro Forma Financial Statements</vt:lpstr>
      <vt:lpstr>Steps in Financial Forecasting</vt:lpstr>
      <vt:lpstr>Suppose:</vt:lpstr>
      <vt:lpstr>Additional Funds Needed Process</vt:lpstr>
      <vt:lpstr>Additional Funds Needed Steps</vt:lpstr>
      <vt:lpstr>Income Statement Additional Funds Needed</vt:lpstr>
      <vt:lpstr>Balance Sheet Additional Funds Needed</vt:lpstr>
      <vt:lpstr>AFN - Problem 1 AP&amp;P Co.</vt:lpstr>
      <vt:lpstr>AFN - Problem 1  AP&amp;P Co. Actual</vt:lpstr>
      <vt:lpstr>AFN - Problem 1  AP&amp;P Co. Actual</vt:lpstr>
      <vt:lpstr>AFN - Problem 1  AP&amp;P Co. Actual</vt:lpstr>
      <vt:lpstr>AFN - Problem 1  AP&amp;P Co. Actual &amp; Projected</vt:lpstr>
      <vt:lpstr>AFN - Problem 1  AP&amp;P Co. Actual &amp; Projected</vt:lpstr>
      <vt:lpstr>AFN - Problem 1  AP&amp;P Co. Actual &amp; Projected</vt:lpstr>
      <vt:lpstr>AFN - Problem 1  AP&amp;P Co: AFN from Projected</vt:lpstr>
      <vt:lpstr>Financing Feedbacks – 2nd pass</vt:lpstr>
      <vt:lpstr>Financing Feedbacks-Circularity</vt:lpstr>
      <vt:lpstr>Financing Feedbacks-Solutions</vt:lpstr>
      <vt:lpstr>AFN Equation</vt:lpstr>
      <vt:lpstr>Definitions of Variables in AFN</vt:lpstr>
      <vt:lpstr>AFN Equation  &amp; Prob 1 AP&amp;P Co.</vt:lpstr>
      <vt:lpstr>Key Factors in AFN </vt:lpstr>
      <vt:lpstr>AFN Key Factors (Continued)</vt:lpstr>
      <vt:lpstr>AFN Some Preliminary Assumptions </vt:lpstr>
      <vt:lpstr>AFN % Sales Method</vt:lpstr>
      <vt:lpstr>AFN ISSUES</vt:lpstr>
      <vt:lpstr>Possible Ratio Relationships: Constant A*/S Ratios</vt:lpstr>
      <vt:lpstr>Economies of Scale in A*/S Ratios</vt:lpstr>
      <vt:lpstr>Nonlinear A*/S Ratios</vt:lpstr>
      <vt:lpstr>Possible Ratio Relationships: Lumpy Increments</vt:lpstr>
      <vt:lpstr>AFN &amp; Capacity Issues</vt:lpstr>
      <vt:lpstr>FINANCIAL FORECASTING &amp; PLANNING affected by:</vt:lpstr>
      <vt:lpstr>FINANCIAL FORECASTING &amp; PLANNING affected by:</vt:lpstr>
      <vt:lpstr>Another Example Follows</vt:lpstr>
      <vt:lpstr>Prob #2 Current Year Balance Sheet</vt:lpstr>
      <vt:lpstr>Prob #2 Current Yr  Income Statement</vt:lpstr>
      <vt:lpstr>Key Ratios</vt:lpstr>
      <vt:lpstr>Key Ratios (Continued)</vt:lpstr>
      <vt:lpstr>AFN (Additional Funds Needed): Key Assumptions</vt:lpstr>
      <vt:lpstr>Prob # 3 Balance Sheet, Hatfield, Current Yr.</vt:lpstr>
      <vt:lpstr>Income Statement, Hatfield, Current Year</vt:lpstr>
      <vt:lpstr>Comparison of Hatfield to Industry Using DuPont Equation</vt:lpstr>
      <vt:lpstr>Comparison (Continued)</vt:lpstr>
      <vt:lpstr>AFN (Additional Funds Needed) Equation: Key Assumptions</vt:lpstr>
      <vt:lpstr>Hatfield’s AFN Using AFN Equation</vt:lpstr>
      <vt:lpstr>Self-Supporting Growth Rate</vt:lpstr>
      <vt:lpstr>Self-Supporting Growth Rate</vt:lpstr>
      <vt:lpstr>Forecasted Financial Statements: Initial Assumptions for “Steady” Scenario</vt:lpstr>
      <vt:lpstr>Inputs for Steady Scenario &amp; Target Scenario</vt:lpstr>
      <vt:lpstr>Forecasted Financial Statements: Balance Sheets for Steady Scenario</vt:lpstr>
      <vt:lpstr>Forecasted Financial Statements: Income Statement for Steady Scenario</vt:lpstr>
      <vt:lpstr>Additional Financing Needed</vt:lpstr>
      <vt:lpstr>Forecasted Financial Statements, Target Ratios</vt:lpstr>
      <vt:lpstr>Forecasted Financial Statements, Target Ratios</vt:lpstr>
      <vt:lpstr>Performance Measures</vt:lpstr>
      <vt:lpstr>Compensation &amp; Forecasting</vt:lpstr>
      <vt:lpstr>Financing Feedbacks</vt:lpstr>
      <vt:lpstr>Financing Feedbacks-Circularity</vt:lpstr>
      <vt:lpstr>Financing Feedbacks-Solutions</vt:lpstr>
      <vt:lpstr>Multi-Year Forecasts: Buildup in Line of Credit</vt:lpstr>
      <vt:lpstr>Multi-Year Forecasts: Special Dividends</vt:lpstr>
      <vt:lpstr>Modifying Forecasting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</dc:title>
  <dc:subject>Powerpoint show</dc:subject>
  <dc:creator>Donna Hall</dc:creator>
  <cp:lastModifiedBy>Robert M Donchez</cp:lastModifiedBy>
  <cp:revision>23</cp:revision>
  <cp:lastPrinted>2014-01-14T00:25:44Z</cp:lastPrinted>
  <dcterms:created xsi:type="dcterms:W3CDTF">2022-07-26T15:48:18Z</dcterms:created>
  <dcterms:modified xsi:type="dcterms:W3CDTF">2024-02-01T02:33:27Z</dcterms:modified>
</cp:coreProperties>
</file>