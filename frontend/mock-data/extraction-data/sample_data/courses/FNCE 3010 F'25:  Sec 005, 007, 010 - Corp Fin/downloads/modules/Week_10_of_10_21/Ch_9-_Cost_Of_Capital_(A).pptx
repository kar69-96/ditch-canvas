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4282" r:id="rId1"/>
  </p:sldMasterIdLst>
  <p:notesMasterIdLst>
    <p:notesMasterId r:id="rId62"/>
  </p:notesMasterIdLst>
  <p:handoutMasterIdLst>
    <p:handoutMasterId r:id="rId63"/>
  </p:handoutMasterIdLst>
  <p:sldIdLst>
    <p:sldId id="344" r:id="rId2"/>
    <p:sldId id="345" r:id="rId3"/>
    <p:sldId id="361" r:id="rId4"/>
    <p:sldId id="363" r:id="rId5"/>
    <p:sldId id="342" r:id="rId6"/>
    <p:sldId id="362" r:id="rId7"/>
    <p:sldId id="353" r:id="rId8"/>
    <p:sldId id="365" r:id="rId9"/>
    <p:sldId id="343" r:id="rId10"/>
    <p:sldId id="259" r:id="rId11"/>
    <p:sldId id="351" r:id="rId12"/>
    <p:sldId id="354" r:id="rId13"/>
    <p:sldId id="352" r:id="rId14"/>
    <p:sldId id="355" r:id="rId15"/>
    <p:sldId id="318" r:id="rId16"/>
    <p:sldId id="360" r:id="rId17"/>
    <p:sldId id="260" r:id="rId18"/>
    <p:sldId id="261" r:id="rId19"/>
    <p:sldId id="346" r:id="rId20"/>
    <p:sldId id="347" r:id="rId21"/>
    <p:sldId id="264" r:id="rId22"/>
    <p:sldId id="265" r:id="rId23"/>
    <p:sldId id="268" r:id="rId24"/>
    <p:sldId id="270" r:id="rId25"/>
    <p:sldId id="271" r:id="rId26"/>
    <p:sldId id="272" r:id="rId27"/>
    <p:sldId id="358" r:id="rId28"/>
    <p:sldId id="273" r:id="rId29"/>
    <p:sldId id="319" r:id="rId30"/>
    <p:sldId id="320" r:id="rId31"/>
    <p:sldId id="348" r:id="rId32"/>
    <p:sldId id="321" r:id="rId33"/>
    <p:sldId id="279" r:id="rId34"/>
    <p:sldId id="280" r:id="rId35"/>
    <p:sldId id="281" r:id="rId36"/>
    <p:sldId id="335" r:id="rId37"/>
    <p:sldId id="336" r:id="rId38"/>
    <p:sldId id="326" r:id="rId39"/>
    <p:sldId id="322" r:id="rId40"/>
    <p:sldId id="324" r:id="rId41"/>
    <p:sldId id="325" r:id="rId42"/>
    <p:sldId id="364" r:id="rId43"/>
    <p:sldId id="284" r:id="rId44"/>
    <p:sldId id="299" r:id="rId45"/>
    <p:sldId id="300" r:id="rId46"/>
    <p:sldId id="334" r:id="rId47"/>
    <p:sldId id="328" r:id="rId48"/>
    <p:sldId id="329" r:id="rId49"/>
    <p:sldId id="330" r:id="rId50"/>
    <p:sldId id="303" r:id="rId51"/>
    <p:sldId id="304" r:id="rId52"/>
    <p:sldId id="311" r:id="rId53"/>
    <p:sldId id="349" r:id="rId54"/>
    <p:sldId id="316" r:id="rId55"/>
    <p:sldId id="314" r:id="rId56"/>
    <p:sldId id="339" r:id="rId57"/>
    <p:sldId id="340" r:id="rId58"/>
    <p:sldId id="298" r:id="rId59"/>
    <p:sldId id="295" r:id="rId60"/>
    <p:sldId id="297" r:id="rId61"/>
  </p:sldIdLst>
  <p:sldSz cx="9144000" cy="6858000" type="screen4x3"/>
  <p:notesSz cx="7102475" cy="9388475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 userDrawn="1">
          <p15:clr>
            <a:srgbClr val="A4A3A4"/>
          </p15:clr>
        </p15:guide>
        <p15:guide id="2" pos="53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83FD65"/>
    <a:srgbClr val="454135"/>
    <a:srgbClr val="DCCCA3"/>
    <a:srgbClr val="8CF4EA"/>
    <a:srgbClr val="00B7A5"/>
    <a:srgbClr val="FAFD00"/>
    <a:srgbClr val="D49FFF"/>
    <a:srgbClr val="C0FEF9"/>
    <a:srgbClr val="60C9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86" autoAdjust="0"/>
    <p:restoredTop sz="94694" autoAdjust="0"/>
  </p:normalViewPr>
  <p:slideViewPr>
    <p:cSldViewPr>
      <p:cViewPr varScale="1">
        <p:scale>
          <a:sx n="107" d="100"/>
          <a:sy n="107" d="100"/>
        </p:scale>
        <p:origin x="1542" y="102"/>
      </p:cViewPr>
      <p:guideLst>
        <p:guide orient="horz" pos="1200"/>
        <p:guide pos="53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473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8403" y="4458886"/>
            <a:ext cx="5204050" cy="42251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6578" tIns="49108" rIns="96578" bIns="4910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5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14438" y="711200"/>
            <a:ext cx="4673600" cy="3505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66725"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35038"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401763"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70075"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4009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709613"/>
            <a:ext cx="4678363" cy="3508375"/>
          </a:xfrm>
          <a:ln cap="flat"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781" y="4462088"/>
            <a:ext cx="5208914" cy="4223533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416" tIns="47500" rIns="93416" bIns="47500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30416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709613"/>
            <a:ext cx="4678363" cy="3508375"/>
          </a:xfrm>
          <a:ln cap="flat"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781" y="4462088"/>
            <a:ext cx="5208914" cy="4223533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416" tIns="47500" rIns="93416" bIns="47500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27976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709613"/>
            <a:ext cx="4678363" cy="3508375"/>
          </a:xfrm>
          <a:ln cap="flat"/>
        </p:spPr>
      </p:sp>
      <p:sp>
        <p:nvSpPr>
          <p:cNvPr id="6758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46781" y="4462088"/>
            <a:ext cx="5208914" cy="4223533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416" tIns="47500" rIns="93416" bIns="47500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36156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709613"/>
            <a:ext cx="4678363" cy="3508375"/>
          </a:xfrm>
          <a:ln cap="flat"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781" y="4462088"/>
            <a:ext cx="5208914" cy="4223533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416" tIns="47500" rIns="93416" bIns="47500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2579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014E9-4CF8-07FB-9587-8A8FC54126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431335"/>
            <a:ext cx="9144000" cy="1078628"/>
          </a:xfrm>
          <a:solidFill>
            <a:schemeClr val="tx1">
              <a:lumMod val="85000"/>
              <a:lumOff val="15000"/>
            </a:schemeClr>
          </a:solidFill>
        </p:spPr>
        <p:txBody>
          <a:bodyPr anchor="ctr"/>
          <a:lstStyle>
            <a:lvl1pPr algn="ctr">
              <a:defRPr sz="45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0F6E03-983C-D44F-DA9D-1354DADB8A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9144000" cy="436562"/>
          </a:xfrm>
          <a:solidFill>
            <a:srgbClr val="DCCCA3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2400" b="1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A6BF2-B943-A54D-B9A8-CF71ACA0B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8B4A3-64D2-13EB-DE0B-BC80A02CC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469EF-71B6-E831-47CC-0D7140430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B4D19F-489A-4E5E-A28E-C8AF833E0C3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999885-8DB5-73C1-4C0B-00DC205D9C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766898-15F1-35E0-5CB0-1BC6BB5972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880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AA0EE-229A-6333-06FD-DD9530C98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32090"/>
          </a:xfrm>
        </p:spPr>
        <p:txBody>
          <a:bodyPr>
            <a:normAutofit/>
          </a:bodyPr>
          <a:lstStyle>
            <a:lvl1pPr>
              <a:defRPr sz="3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367E3-A85C-9D7A-BC7C-7BC6C9421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76406"/>
            <a:ext cx="7886700" cy="4500558"/>
          </a:xfrm>
        </p:spPr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  <a:lvl5pPr>
              <a:lnSpc>
                <a:spcPct val="114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C7FB8-4C99-DB2A-2E94-1AF399EAC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6EB23-DCAF-18E5-B86B-7C57E842F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DA49B-BAEF-4CF4-E95B-F92FCE036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7F03BE6-C66C-A63D-AFD3-085571F6AB96}"/>
              </a:ext>
            </a:extLst>
          </p:cNvPr>
          <p:cNvCxnSpPr>
            <a:cxnSpLocks/>
          </p:cNvCxnSpPr>
          <p:nvPr userDrawn="1"/>
        </p:nvCxnSpPr>
        <p:spPr>
          <a:xfrm>
            <a:off x="620024" y="1397216"/>
            <a:ext cx="7926350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8DBFC926-6392-BC3C-9958-2E95361AEF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835B65-3D1B-CF3F-DDBC-1870EEEFDE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937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B3E85-51D8-AE74-539A-FA2331AE5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7BA40-A8B4-3390-F8D7-B3CC2E950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C3E0A-65D1-AA13-F404-FD6AD175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4D3F9-FE86-E7C6-4D32-4A2F870DF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145DE-0E4A-5D4B-42DD-7F9E1DCDF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80A472-0AF4-42C7-A200-0A6A2E2BD3D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989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9A4B8-8EB9-ADA8-B992-4DE07200E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3209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87E3C-A3CD-17E8-7754-25845549A4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676400"/>
            <a:ext cx="3886200" cy="4500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9330FB-37F6-5873-AC3B-AE844B790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676400"/>
            <a:ext cx="3886200" cy="4500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19E815-91F2-7FDF-4F5A-19B68DB7B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AE1DE1-4D56-5B12-0049-ACF8B28B5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4AB26D-42A5-E718-7319-F0BEBED4B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E42859-4ED0-468F-B18C-A6B9CED75A4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996539-A9D9-998A-6B11-3374F65F2B00}"/>
              </a:ext>
            </a:extLst>
          </p:cNvPr>
          <p:cNvCxnSpPr>
            <a:cxnSpLocks/>
          </p:cNvCxnSpPr>
          <p:nvPr userDrawn="1"/>
        </p:nvCxnSpPr>
        <p:spPr>
          <a:xfrm>
            <a:off x="620024" y="1397216"/>
            <a:ext cx="7926350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2571B1B-E129-07C2-727C-293C455814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0B83F84-A694-AA66-FEF8-DCCEB0D205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026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19E86-7648-BB49-1733-92B5F9F59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7"/>
            <a:ext cx="7886700" cy="103209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6EB00-6ABE-7A6D-4CA0-EAD4EFCFB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C70D9E-CA37-C8C7-DC2B-731032F14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23050D-DE6B-E0A8-F0B8-0AE790475D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FE72F3-A6A2-AB09-729B-69278FFB8F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80C7EF-7255-7C61-2C82-0145E38EC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8CB185-80EF-03E9-CBFC-F8963D7E4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5512AA-D14C-B443-8EE2-0CFC1CCE8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682E86-14DC-4CD1-BEF2-22E95F737AC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12A899-0B6B-EBC2-D17E-8D64DB468093}"/>
              </a:ext>
            </a:extLst>
          </p:cNvPr>
          <p:cNvCxnSpPr>
            <a:cxnSpLocks/>
          </p:cNvCxnSpPr>
          <p:nvPr userDrawn="1"/>
        </p:nvCxnSpPr>
        <p:spPr>
          <a:xfrm>
            <a:off x="620024" y="1397216"/>
            <a:ext cx="7926350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E2063627-6A15-220A-FB7F-17C240F5E8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82EE7F4-F3CE-1634-AAFD-DD10F58F34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516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CA751-5504-0470-1970-6C57BFCFA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3209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160FB8-C4A4-11B8-B383-C8C158383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C0EE03-C8A0-558C-2769-881F665E9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A45A1-9999-C0F7-FBAB-F2DC906BD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9C1AAF-33A1-44EA-A195-86E2A66B03D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59D71D0-9CA4-B490-73EC-2604A4054774}"/>
              </a:ext>
            </a:extLst>
          </p:cNvPr>
          <p:cNvCxnSpPr>
            <a:cxnSpLocks/>
          </p:cNvCxnSpPr>
          <p:nvPr userDrawn="1"/>
        </p:nvCxnSpPr>
        <p:spPr>
          <a:xfrm>
            <a:off x="620024" y="1397216"/>
            <a:ext cx="7926350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FCD53B29-9219-878E-F04F-2EB2F2C272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CC1ED5-C7B5-DB15-758C-683F52F864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294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E5BEDA-B42B-CBDC-EE22-5361B0C51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86E627-021F-327B-3506-1F6E6D44B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9A4491-C6AE-6ABC-DB34-B3D228DE1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10AC00-8FA5-4069-A69B-F4154002465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DE18CA-952C-2AF7-8B61-D26E464796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5A0004-4FC3-ADFC-3DF7-ADC43833C2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021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F6255-62A2-B440-5027-CBA5C6D9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419D4-4F45-AAB6-ED8E-D5E20E487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7E7CFE-962D-1B5D-987D-2F179E5D2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7263E8-2C47-A0B5-D2CA-F293FE400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D047C8-402A-1FE2-9A0C-D9BAF9FD6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AF110B-4EA4-E74D-2355-7E656B0AC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54B417-AD3D-4312-8126-F4C81687F55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8FB06CA-1FD5-DC8E-B91A-90CEE0FECD0D}"/>
              </a:ext>
            </a:extLst>
          </p:cNvPr>
          <p:cNvCxnSpPr>
            <a:cxnSpLocks/>
          </p:cNvCxnSpPr>
          <p:nvPr userDrawn="1"/>
        </p:nvCxnSpPr>
        <p:spPr>
          <a:xfrm>
            <a:off x="628650" y="2042532"/>
            <a:ext cx="2950369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64443C2-962A-E917-338B-27A0591035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6BE6B0-2E3F-0A01-AD8B-505CC068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562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F43B4-B08B-27D2-D357-ABAF2BD54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42FAE3-8C66-0FA9-27B7-4BDA89A45E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15D049-A6C0-8217-A2C4-2F96F4280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A99A43-8B92-6F1B-7BF8-2C8CA5FE2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2EAB75-81DA-0B91-382E-2C1FA1B8B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012E8B-5EDD-3F3F-6975-09C820BF2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4BF9C9-EAF8-49DE-BC51-5E7E543F474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9FB33BF-3560-E1B7-2D0E-C2AFD1DF1FCD}"/>
              </a:ext>
            </a:extLst>
          </p:cNvPr>
          <p:cNvCxnSpPr>
            <a:cxnSpLocks/>
          </p:cNvCxnSpPr>
          <p:nvPr userDrawn="1"/>
        </p:nvCxnSpPr>
        <p:spPr>
          <a:xfrm>
            <a:off x="589000" y="2057400"/>
            <a:ext cx="2990019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562D918-D1F2-7B26-F11C-961FE6DD95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958B8FB-180A-1947-53B2-583230C32F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302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3BC81-929E-25E6-EFE7-8F6648640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803A99-6E17-1F15-5212-8E311907DF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823B4-B2A6-761F-A4DF-461C0216B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76C6F-D82C-3651-380C-5B5764130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0EADA-5F48-42B8-5105-BC7C3E8C2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0D4170-A35D-4B92-878B-2D63BE5474F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147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ADB19E-376C-BB5F-09DF-15E63C68C3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380A13-5547-E36A-1691-36291608A2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4A03D-2F3D-BF64-7868-03B01B6B3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839FA-DCDB-A07F-86DC-1648446FA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9D4C4-D028-25AB-7AE6-AF71C3581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F767CC-98F8-4699-B32C-1545759A837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3651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0BCE27-593F-409E-BF1F-5DC757CFC7A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915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355009-70F6-345A-132A-58DF295E9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563C62-7BC6-EEDF-9BEC-4B0D3A92A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56E4D-6B68-39D6-7EE4-9FCCA81924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FCE08-42CA-FCFC-ACF9-65D65B7ED1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9E486-CEE8-489E-5A48-89157A2E83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9B0167D-6490-4BBB-BA2A-81BDB0B85D3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829447-14B4-5F88-BA07-CEF391FEC2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89" r="84626" b="20897"/>
          <a:stretch/>
        </p:blipFill>
        <p:spPr>
          <a:xfrm>
            <a:off x="-108639" y="6255244"/>
            <a:ext cx="625474" cy="58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361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83" r:id="rId1"/>
    <p:sldLayoutId id="2147484284" r:id="rId2"/>
    <p:sldLayoutId id="2147484285" r:id="rId3"/>
    <p:sldLayoutId id="2147484286" r:id="rId4"/>
    <p:sldLayoutId id="2147484287" r:id="rId5"/>
    <p:sldLayoutId id="2147484288" r:id="rId6"/>
    <p:sldLayoutId id="2147484289" r:id="rId7"/>
    <p:sldLayoutId id="2147484290" r:id="rId8"/>
    <p:sldLayoutId id="2147484291" r:id="rId9"/>
    <p:sldLayoutId id="2147484292" r:id="rId10"/>
    <p:sldLayoutId id="2147484293" r:id="rId11"/>
    <p:sldLayoutId id="2147484294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8DAEAB3-5EC0-4986-ACAC-8B46A527429D}" type="slidenum">
              <a:rPr lang="en-US" altLang="en-US" sz="1400" smtClean="0">
                <a:solidFill>
                  <a:schemeClr val="bg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400">
              <a:solidFill>
                <a:schemeClr val="bg2"/>
              </a:solidFill>
            </a:endParaRPr>
          </a:p>
        </p:txBody>
      </p:sp>
      <p:sp>
        <p:nvSpPr>
          <p:cNvPr id="4099" name="Rectangle 8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CHAPTER  9</a:t>
            </a:r>
          </a:p>
        </p:txBody>
      </p:sp>
      <p:sp>
        <p:nvSpPr>
          <p:cNvPr id="4100" name="Rectangle 9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Cost of Capital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1EC664B-822C-4BAF-A3BF-0B05328D4F3A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/>
          </a:p>
        </p:txBody>
      </p:sp>
      <p:sp>
        <p:nvSpPr>
          <p:cNvPr id="6147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Topics in Chapter</a:t>
            </a:r>
          </a:p>
        </p:txBody>
      </p:sp>
      <p:sp>
        <p:nvSpPr>
          <p:cNvPr id="16388" name="Rectangle 10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Cost of capital components</a:t>
            </a:r>
          </a:p>
          <a:p>
            <a:pPr lvl="1" eaLnBrk="1" hangingPunct="1"/>
            <a:r>
              <a:rPr lang="en-US" altLang="en-US"/>
              <a:t>Debt</a:t>
            </a:r>
          </a:p>
          <a:p>
            <a:pPr lvl="1" eaLnBrk="1" hangingPunct="1"/>
            <a:r>
              <a:rPr lang="en-US" altLang="en-US"/>
              <a:t>Preferred stock</a:t>
            </a:r>
          </a:p>
          <a:p>
            <a:pPr lvl="1" eaLnBrk="1" hangingPunct="1"/>
            <a:r>
              <a:rPr lang="en-US" altLang="en-US"/>
              <a:t>Common equity</a:t>
            </a:r>
          </a:p>
          <a:p>
            <a:pPr eaLnBrk="1" hangingPunct="1"/>
            <a:r>
              <a:rPr lang="en-US" altLang="en-US"/>
              <a:t>WACC</a:t>
            </a:r>
          </a:p>
          <a:p>
            <a:pPr eaLnBrk="1" hangingPunct="1"/>
            <a:r>
              <a:rPr lang="en-US" altLang="en-US"/>
              <a:t>Factors that affect WACC</a:t>
            </a:r>
          </a:p>
          <a:p>
            <a:pPr eaLnBrk="1" hangingPunct="1"/>
            <a:r>
              <a:rPr lang="en-US" altLang="en-US"/>
              <a:t>Adjusting cost of capital for risk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8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/>
              <a:t>COST OF CAPITAL</a:t>
            </a:r>
          </a:p>
        </p:txBody>
      </p:sp>
      <p:sp>
        <p:nvSpPr>
          <p:cNvPr id="7171" name="Text Placeholder 3"/>
          <p:cNvSpPr>
            <a:spLocks noGrp="1"/>
          </p:cNvSpPr>
          <p:nvPr>
            <p:ph type="body" idx="1"/>
          </p:nvPr>
        </p:nvSpPr>
        <p:spPr>
          <a:xfrm>
            <a:off x="739775" y="1681163"/>
            <a:ext cx="4040188" cy="639762"/>
          </a:xfrm>
        </p:spPr>
        <p:txBody>
          <a:bodyPr>
            <a:normAutofit/>
          </a:bodyPr>
          <a:lstStyle/>
          <a:p>
            <a:pPr algn="ctr"/>
            <a:r>
              <a:rPr lang="en-US" altLang="en-US" sz="2800" u="sng" dirty="0"/>
              <a:t>Why?</a:t>
            </a:r>
          </a:p>
        </p:txBody>
      </p:sp>
      <p:sp>
        <p:nvSpPr>
          <p:cNvPr id="17412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en-US" dirty="0"/>
              <a:t>Key to understanding cost of raising $</a:t>
            </a:r>
          </a:p>
          <a:p>
            <a:pPr lvl="1"/>
            <a:r>
              <a:rPr lang="en-US" altLang="en-US" dirty="0"/>
              <a:t>Risk</a:t>
            </a:r>
          </a:p>
          <a:p>
            <a:pPr lvl="1"/>
            <a:r>
              <a:rPr lang="en-US" altLang="en-US" dirty="0"/>
              <a:t>Financing costs</a:t>
            </a:r>
          </a:p>
          <a:p>
            <a:pPr lvl="1"/>
            <a:r>
              <a:rPr lang="en-US" altLang="en-US" dirty="0"/>
              <a:t> Discount Rate </a:t>
            </a:r>
          </a:p>
        </p:txBody>
      </p:sp>
      <p:sp>
        <p:nvSpPr>
          <p:cNvPr id="7173" name="Text Placeholder 5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2800" u="sng" dirty="0"/>
              <a:t>Business Application</a:t>
            </a:r>
          </a:p>
        </p:txBody>
      </p:sp>
      <p:sp>
        <p:nvSpPr>
          <p:cNvPr id="17414" name="Content Placeholder 6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en-US" dirty="0"/>
              <a:t>Min </a:t>
            </a:r>
            <a:r>
              <a:rPr lang="en-US" altLang="en-US" dirty="0" err="1"/>
              <a:t>Req’d</a:t>
            </a:r>
            <a:r>
              <a:rPr lang="en-US" altLang="en-US" dirty="0"/>
              <a:t> return needed on Project </a:t>
            </a:r>
          </a:p>
          <a:p>
            <a:r>
              <a:rPr lang="en-US" altLang="en-US" dirty="0"/>
              <a:t>Reflects blended costs of raising capital</a:t>
            </a:r>
          </a:p>
          <a:p>
            <a:r>
              <a:rPr lang="en-US" altLang="en-US" dirty="0"/>
              <a:t>Relevant “</a:t>
            </a:r>
            <a:r>
              <a:rPr lang="en-US" altLang="en-US" i="1" dirty="0" err="1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”</a:t>
            </a:r>
          </a:p>
          <a:p>
            <a:r>
              <a:rPr lang="en-US" altLang="en-US" dirty="0"/>
              <a:t>Discount rate used to determine Project’s NPV or to </a:t>
            </a:r>
            <a:r>
              <a:rPr lang="en-US" altLang="en-US" dirty="0" err="1"/>
              <a:t>disct</a:t>
            </a:r>
            <a:r>
              <a:rPr lang="en-US" altLang="en-US" dirty="0"/>
              <a:t> FCFs by</a:t>
            </a:r>
          </a:p>
          <a:p>
            <a:r>
              <a:rPr lang="en-US" altLang="en-US" dirty="0"/>
              <a:t>Hurdle rate</a:t>
            </a:r>
          </a:p>
          <a:p>
            <a:endParaRPr lang="en-US" altLang="en-US" dirty="0"/>
          </a:p>
        </p:txBody>
      </p:sp>
      <p:sp>
        <p:nvSpPr>
          <p:cNvPr id="7175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035B073-5B90-4B50-AFD1-24DDFF18C28C}" type="slidenum">
              <a:rPr lang="en-US" altLang="en-US" sz="1400" smtClean="0">
                <a:solidFill>
                  <a:srgbClr val="000000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40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 build="p"/>
      <p:bldP spid="1741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/>
              <a:t>EQUITIES</a:t>
            </a:r>
          </a:p>
        </p:txBody>
      </p:sp>
      <p:sp>
        <p:nvSpPr>
          <p:cNvPr id="16387" name="Text Placeholder 3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2800" u="sng" dirty="0"/>
              <a:t>Why?</a:t>
            </a:r>
          </a:p>
        </p:txBody>
      </p:sp>
      <p:sp>
        <p:nvSpPr>
          <p:cNvPr id="16388" name="Content Placeholder 4"/>
          <p:cNvSpPr>
            <a:spLocks noGrp="1"/>
          </p:cNvSpPr>
          <p:nvPr>
            <p:ph sz="half" idx="2"/>
          </p:nvPr>
        </p:nvSpPr>
        <p:spPr>
          <a:xfrm>
            <a:off x="304800" y="2505075"/>
            <a:ext cx="4193382" cy="3684588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Key to understanding valuations</a:t>
            </a:r>
          </a:p>
          <a:p>
            <a:pPr lvl="1"/>
            <a:r>
              <a:rPr lang="en-US" altLang="en-US" dirty="0"/>
              <a:t>What is investment worth today?</a:t>
            </a:r>
          </a:p>
          <a:p>
            <a:pPr lvl="1"/>
            <a:r>
              <a:rPr lang="en-US" altLang="en-US" dirty="0"/>
              <a:t>Value of:</a:t>
            </a:r>
          </a:p>
          <a:p>
            <a:pPr lvl="2"/>
            <a:r>
              <a:rPr lang="en-US" altLang="en-US" dirty="0"/>
              <a:t>Enterprise</a:t>
            </a:r>
          </a:p>
          <a:p>
            <a:pPr lvl="2"/>
            <a:r>
              <a:rPr lang="en-US" altLang="en-US" dirty="0"/>
              <a:t>Entity</a:t>
            </a:r>
          </a:p>
          <a:p>
            <a:pPr lvl="2"/>
            <a:r>
              <a:rPr lang="en-US" altLang="en-US" dirty="0"/>
              <a:t>Company/Firm</a:t>
            </a:r>
          </a:p>
        </p:txBody>
      </p:sp>
      <p:sp>
        <p:nvSpPr>
          <p:cNvPr id="16389" name="Text Placeholder 5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2800" u="sng" dirty="0"/>
              <a:t>Business Application</a:t>
            </a:r>
          </a:p>
        </p:txBody>
      </p:sp>
      <p:sp>
        <p:nvSpPr>
          <p:cNvPr id="16390" name="Content Placeholder 6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4193382" cy="3684588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i="1" dirty="0"/>
              <a:t>For Investor:</a:t>
            </a:r>
          </a:p>
          <a:p>
            <a:pPr lvl="1"/>
            <a:r>
              <a:rPr lang="en-US" altLang="en-US" dirty="0"/>
              <a:t>Determine value of asset/business/company</a:t>
            </a:r>
          </a:p>
          <a:p>
            <a:pPr lvl="1"/>
            <a:endParaRPr lang="en-US" altLang="en-US" i="1" dirty="0"/>
          </a:p>
          <a:p>
            <a:r>
              <a:rPr lang="en-US" altLang="en-US" i="1" dirty="0">
                <a:highlight>
                  <a:srgbClr val="FFFF00"/>
                </a:highlight>
              </a:rPr>
              <a:t>For Firm:</a:t>
            </a:r>
          </a:p>
          <a:p>
            <a:pPr lvl="1"/>
            <a:r>
              <a:rPr lang="en-US" altLang="en-US" dirty="0">
                <a:highlight>
                  <a:srgbClr val="FFFF00"/>
                </a:highlight>
              </a:rPr>
              <a:t>Determine cost of attracting investors &amp; raising equity capital</a:t>
            </a:r>
          </a:p>
          <a:p>
            <a:pPr lvl="1"/>
            <a:r>
              <a:rPr lang="en-US" altLang="en-US" dirty="0"/>
              <a:t>Selling ownership stake to raise $</a:t>
            </a:r>
          </a:p>
        </p:txBody>
      </p:sp>
      <p:sp>
        <p:nvSpPr>
          <p:cNvPr id="16391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C957C55-C4E2-4E85-9329-D0F89560062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425981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4095F6C-B4B4-40A6-AD59-5DE95763F0EC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400"/>
          </a:p>
        </p:txBody>
      </p:sp>
      <p:sp>
        <p:nvSpPr>
          <p:cNvPr id="10243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What types of long-term capital do firms use?</a:t>
            </a:r>
          </a:p>
        </p:txBody>
      </p:sp>
      <p:sp>
        <p:nvSpPr>
          <p:cNvPr id="6148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Long-term debt</a:t>
            </a:r>
          </a:p>
          <a:p>
            <a:pPr eaLnBrk="1" hangingPunct="1"/>
            <a:r>
              <a:rPr lang="en-US" altLang="en-US"/>
              <a:t>Preferred stock</a:t>
            </a:r>
          </a:p>
          <a:p>
            <a:pPr eaLnBrk="1" hangingPunct="1"/>
            <a:r>
              <a:rPr lang="en-US" altLang="en-US"/>
              <a:t>Common equity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4"/>
          <p:cNvSpPr>
            <a:spLocks noGrp="1"/>
          </p:cNvSpPr>
          <p:nvPr>
            <p:ph type="title"/>
          </p:nvPr>
        </p:nvSpPr>
        <p:spPr>
          <a:xfrm>
            <a:off x="457200" y="119063"/>
            <a:ext cx="8229600" cy="1298575"/>
          </a:xfrm>
        </p:spPr>
        <p:txBody>
          <a:bodyPr/>
          <a:lstStyle/>
          <a:p>
            <a:pPr algn="ctr"/>
            <a:r>
              <a:rPr lang="en-US" altLang="en-US" u="sng"/>
              <a:t>COST of CAPITAL</a:t>
            </a:r>
            <a:br>
              <a:rPr lang="en-US" altLang="en-US"/>
            </a:br>
            <a:r>
              <a:rPr lang="en-US" altLang="en-US" sz="4000"/>
              <a:t>Raising $ &amp; its Costs</a:t>
            </a:r>
          </a:p>
        </p:txBody>
      </p:sp>
      <p:sp>
        <p:nvSpPr>
          <p:cNvPr id="14339" name="Text Placeholder 5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2951558" cy="823912"/>
          </a:xfrm>
        </p:spPr>
        <p:txBody>
          <a:bodyPr>
            <a:normAutofit/>
          </a:bodyPr>
          <a:lstStyle/>
          <a:p>
            <a:pPr algn="ctr"/>
            <a:r>
              <a:rPr lang="en-US" altLang="en-US" sz="4000" u="sng" dirty="0">
                <a:solidFill>
                  <a:srgbClr val="00B050"/>
                </a:solidFill>
                <a:latin typeface="Baguet Script" panose="00000500000000000000" pitchFamily="2" charset="0"/>
              </a:rPr>
              <a:t>Debt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en-US" dirty="0"/>
              <a:t>S/T &amp; L/T</a:t>
            </a:r>
          </a:p>
          <a:p>
            <a:r>
              <a:rPr lang="en-US" altLang="en-US" dirty="0"/>
              <a:t>Interest bearing</a:t>
            </a:r>
          </a:p>
          <a:p>
            <a:pPr lvl="1"/>
            <a:r>
              <a:rPr lang="en-US" altLang="en-US" dirty="0"/>
              <a:t>Cost of Borrowing</a:t>
            </a:r>
          </a:p>
          <a:p>
            <a:pPr lvl="1"/>
            <a:r>
              <a:rPr lang="en-US" altLang="en-US" dirty="0"/>
              <a:t>Interest Rate</a:t>
            </a:r>
          </a:p>
        </p:txBody>
      </p:sp>
      <p:sp>
        <p:nvSpPr>
          <p:cNvPr id="14341" name="Text Placeholder 7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2686050" cy="823912"/>
          </a:xfrm>
        </p:spPr>
        <p:txBody>
          <a:bodyPr>
            <a:normAutofit/>
          </a:bodyPr>
          <a:lstStyle/>
          <a:p>
            <a:pPr algn="ctr"/>
            <a:r>
              <a:rPr lang="en-US" altLang="en-US" sz="4000" u="sng" dirty="0">
                <a:solidFill>
                  <a:srgbClr val="00B050"/>
                </a:solidFill>
                <a:latin typeface="Baguet Script" panose="00000500000000000000" pitchFamily="2" charset="0"/>
              </a:rPr>
              <a:t>Equity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Internal</a:t>
            </a:r>
          </a:p>
          <a:p>
            <a:pPr lvl="1">
              <a:defRPr/>
            </a:pPr>
            <a:r>
              <a:rPr lang="en-US" dirty="0"/>
              <a:t>RE</a:t>
            </a:r>
          </a:p>
          <a:p>
            <a:pPr marL="457200" lvl="1" indent="0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External</a:t>
            </a:r>
          </a:p>
          <a:p>
            <a:pPr lvl="1">
              <a:defRPr/>
            </a:pPr>
            <a:r>
              <a:rPr lang="en-US" dirty="0"/>
              <a:t>Common Stock</a:t>
            </a:r>
          </a:p>
          <a:p>
            <a:pPr lvl="1">
              <a:defRPr/>
            </a:pPr>
            <a:r>
              <a:rPr lang="en-US" dirty="0" err="1"/>
              <a:t>Prfd</a:t>
            </a:r>
            <a:r>
              <a:rPr lang="en-US" dirty="0"/>
              <a:t> Stock</a:t>
            </a:r>
          </a:p>
          <a:p>
            <a:pPr lvl="1">
              <a:defRPr/>
            </a:pPr>
            <a:endParaRPr lang="en-US" dirty="0"/>
          </a:p>
          <a:p>
            <a:pPr marL="457200" lvl="1" indent="0">
              <a:buFont typeface="Wingdings" panose="05000000000000000000" pitchFamily="2" charset="2"/>
              <a:buNone/>
              <a:defRPr/>
            </a:pPr>
            <a:endParaRPr lang="en-US" dirty="0"/>
          </a:p>
        </p:txBody>
      </p:sp>
      <p:sp>
        <p:nvSpPr>
          <p:cNvPr id="1434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E4CFC2C-E27D-4B85-BD23-1A337305DE20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en-US" u="sng"/>
              <a:t>Cost of Capital</a:t>
            </a:r>
            <a:br>
              <a:rPr lang="en-US" altLang="en-US"/>
            </a:br>
            <a:r>
              <a:rPr lang="en-US" altLang="en-US"/>
              <a:t>Raising $ &amp; its Costs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Thru:    </a:t>
            </a:r>
            <a:r>
              <a:rPr lang="en-US" altLang="en-US" u="sng" dirty="0">
                <a:solidFill>
                  <a:srgbClr val="00B050"/>
                </a:solidFill>
                <a:latin typeface="Baguet Script" panose="00000500000000000000" pitchFamily="2" charset="0"/>
              </a:rPr>
              <a:t>Debt</a:t>
            </a:r>
            <a:r>
              <a:rPr lang="en-US" altLang="en-US" dirty="0"/>
              <a:t>  	&amp;           	</a:t>
            </a:r>
            <a:r>
              <a:rPr lang="en-US" altLang="en-US" u="sng" dirty="0">
                <a:solidFill>
                  <a:srgbClr val="00B050"/>
                </a:solidFill>
                <a:latin typeface="Baguet Script" panose="00000500000000000000" pitchFamily="2" charset="0"/>
              </a:rPr>
              <a:t>Equity</a:t>
            </a:r>
            <a:endParaRPr lang="en-US" altLang="en-US" dirty="0"/>
          </a:p>
          <a:p>
            <a:endParaRPr lang="en-US" altLang="en-US" dirty="0"/>
          </a:p>
          <a:p>
            <a:pPr>
              <a:tabLst>
                <a:tab pos="3429000" algn="l"/>
              </a:tabLst>
            </a:pPr>
            <a:r>
              <a:rPr lang="en-US" altLang="en-US" u="sng" dirty="0"/>
              <a:t>Cost</a:t>
            </a:r>
            <a:r>
              <a:rPr lang="en-US" altLang="en-US" dirty="0"/>
              <a:t>		</a:t>
            </a:r>
            <a:r>
              <a:rPr lang="en-US" altLang="en-US" u="sng" dirty="0"/>
              <a:t>Return</a:t>
            </a:r>
          </a:p>
          <a:p>
            <a:pPr lvl="1">
              <a:tabLst>
                <a:tab pos="3657600" algn="l"/>
              </a:tabLst>
            </a:pPr>
            <a:r>
              <a:rPr lang="en-US" altLang="en-US" dirty="0"/>
              <a:t>Int. pd.          </a:t>
            </a:r>
            <a:r>
              <a:rPr lang="en-US" altLang="en-US" dirty="0">
                <a:solidFill>
                  <a:srgbClr val="00B050"/>
                </a:solidFill>
                <a:latin typeface="Baguet Script" panose="020B0604020202020204" pitchFamily="2" charset="0"/>
              </a:rPr>
              <a:t>DEBT</a:t>
            </a:r>
            <a:r>
              <a:rPr lang="en-US" altLang="en-US" dirty="0"/>
              <a:t>		Int. rec’d.</a:t>
            </a:r>
          </a:p>
          <a:p>
            <a:pPr lvl="1">
              <a:tabLst>
                <a:tab pos="3657600" algn="l"/>
              </a:tabLst>
            </a:pPr>
            <a:r>
              <a:rPr lang="en-US" altLang="en-US" dirty="0"/>
              <a:t>Divids pd.     </a:t>
            </a:r>
            <a:r>
              <a:rPr lang="en-US" altLang="en-US" dirty="0">
                <a:solidFill>
                  <a:srgbClr val="00B050"/>
                </a:solidFill>
                <a:latin typeface="Baguet Script" panose="00000500000000000000" pitchFamily="2" charset="0"/>
              </a:rPr>
              <a:t>EQUITY</a:t>
            </a:r>
            <a:r>
              <a:rPr lang="en-US" altLang="en-US" dirty="0"/>
              <a:t>		Divids rec’d</a:t>
            </a:r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D3A14AB-DA39-4A35-A9D1-33086B3D1B21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400"/>
          </a:p>
        </p:txBody>
      </p:sp>
      <p:sp>
        <p:nvSpPr>
          <p:cNvPr id="15365" name="Left-Right Arrow 1"/>
          <p:cNvSpPr>
            <a:spLocks noChangeArrowheads="1"/>
          </p:cNvSpPr>
          <p:nvPr/>
        </p:nvSpPr>
        <p:spPr bwMode="auto">
          <a:xfrm>
            <a:off x="3349625" y="3871913"/>
            <a:ext cx="46038" cy="44450"/>
          </a:xfrm>
          <a:prstGeom prst="leftRightArrow">
            <a:avLst>
              <a:gd name="adj1" fmla="val 50000"/>
              <a:gd name="adj2" fmla="val 51786"/>
            </a:avLst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5366" name="Left-Right Arrow 2"/>
          <p:cNvSpPr>
            <a:spLocks noChangeArrowheads="1"/>
          </p:cNvSpPr>
          <p:nvPr/>
        </p:nvSpPr>
        <p:spPr bwMode="auto">
          <a:xfrm>
            <a:off x="2349500" y="3145049"/>
            <a:ext cx="2000250" cy="447675"/>
          </a:xfrm>
          <a:prstGeom prst="leftRightArrow">
            <a:avLst>
              <a:gd name="adj1" fmla="val 50000"/>
              <a:gd name="adj2" fmla="val 49956"/>
            </a:avLst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83A208B-C2F3-49F9-9131-78C49298B983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400"/>
          </a:p>
        </p:txBody>
      </p:sp>
      <p:sp>
        <p:nvSpPr>
          <p:cNvPr id="11267" name="Rectangle 10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Capital Components:</a:t>
            </a:r>
          </a:p>
        </p:txBody>
      </p:sp>
      <p:sp>
        <p:nvSpPr>
          <p:cNvPr id="7172" name="Rectangle 1031"/>
          <p:cNvSpPr>
            <a:spLocks noGrp="1" noChangeArrowheads="1"/>
          </p:cNvSpPr>
          <p:nvPr>
            <p:ph type="body" idx="1"/>
          </p:nvPr>
        </p:nvSpPr>
        <p:spPr>
          <a:xfrm>
            <a:off x="152400" y="1676406"/>
            <a:ext cx="8763000" cy="4500558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Are sources of funding from investors.</a:t>
            </a:r>
          </a:p>
          <a:p>
            <a:pPr eaLnBrk="1" hangingPunct="1"/>
            <a:r>
              <a:rPr lang="en-US" altLang="en-US" sz="2800" dirty="0"/>
              <a:t>Following are not funding sources from investors</a:t>
            </a:r>
          </a:p>
          <a:p>
            <a:pPr lvl="1"/>
            <a:r>
              <a:rPr lang="en-US" altLang="en-US" sz="2400" dirty="0"/>
              <a:t>  </a:t>
            </a:r>
          </a:p>
          <a:p>
            <a:pPr lvl="1"/>
            <a:r>
              <a:rPr lang="en-US" altLang="en-US" sz="2600" dirty="0"/>
              <a:t>  </a:t>
            </a:r>
          </a:p>
          <a:p>
            <a:pPr lvl="1"/>
            <a:r>
              <a:rPr lang="en-US" altLang="en-US" sz="2400" dirty="0"/>
              <a:t>  </a:t>
            </a:r>
          </a:p>
          <a:p>
            <a:pPr eaLnBrk="1" hangingPunct="1"/>
            <a:endParaRPr lang="en-US" altLang="en-US" sz="2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BC28E94-B47E-46A5-A2AA-2E5BA1993F3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400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Before-tax vs. After-tax Capital Costs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676406"/>
            <a:ext cx="8915400" cy="450055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Financing tax effects captured in either: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 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Most firms capture tax effects in cost of capital.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BD4E094-DC0C-44F7-81AA-84C17BE91BAA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400"/>
          </a:p>
        </p:txBody>
      </p:sp>
      <p:sp>
        <p:nvSpPr>
          <p:cNvPr id="13315" name="Rectangle 1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dirty="0"/>
              <a:t>Historical (Embedded) Costs </a:t>
            </a:r>
            <a:br>
              <a:rPr lang="en-US" altLang="en-US" dirty="0"/>
            </a:br>
            <a:r>
              <a:rPr lang="en-US" altLang="en-US" dirty="0"/>
              <a:t>vs. New (Marginal) Costs</a:t>
            </a:r>
          </a:p>
        </p:txBody>
      </p:sp>
      <p:sp>
        <p:nvSpPr>
          <p:cNvPr id="13316" name="Rectangle 13"/>
          <p:cNvSpPr>
            <a:spLocks noGrp="1" noChangeArrowheads="1"/>
          </p:cNvSpPr>
          <p:nvPr>
            <p:ph type="body" idx="1"/>
          </p:nvPr>
        </p:nvSpPr>
        <p:spPr>
          <a:xfrm>
            <a:off x="152400" y="1676406"/>
            <a:ext cx="8686800" cy="4500558"/>
          </a:xfrm>
        </p:spPr>
        <p:txBody>
          <a:bodyPr/>
          <a:lstStyle/>
          <a:p>
            <a:pPr eaLnBrk="1" hangingPunct="1"/>
            <a:r>
              <a:rPr lang="en-US" altLang="en-US" dirty="0"/>
              <a:t>Cost of capital used primarily:</a:t>
            </a:r>
          </a:p>
          <a:p>
            <a:pPr lvl="1"/>
            <a:r>
              <a:rPr lang="en-US" altLang="en-US" dirty="0"/>
              <a:t> </a:t>
            </a:r>
          </a:p>
          <a:p>
            <a:pPr lvl="1"/>
            <a:endParaRPr lang="en-US" altLang="en-US" dirty="0"/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Weighted Average Cost of Capital (WACC)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152400" y="1676406"/>
            <a:ext cx="8915400" cy="4500558"/>
          </a:xfrm>
        </p:spPr>
        <p:txBody>
          <a:bodyPr/>
          <a:lstStyle/>
          <a:p>
            <a:r>
              <a:rPr lang="en-US" altLang="en-US" dirty="0"/>
              <a:t>Blended cost of raising capital in debt &amp; equity mix</a:t>
            </a:r>
          </a:p>
          <a:p>
            <a:r>
              <a:rPr lang="en-US" altLang="en-US" dirty="0"/>
              <a:t>WACC = </a:t>
            </a:r>
          </a:p>
          <a:p>
            <a:r>
              <a:rPr lang="en-US" altLang="en-US" dirty="0"/>
              <a:t>(</a:t>
            </a:r>
            <a:r>
              <a:rPr lang="en-US" altLang="en-US" sz="3100" dirty="0" err="1"/>
              <a:t>Wt</a:t>
            </a:r>
            <a:r>
              <a:rPr lang="en-US" altLang="en-US" sz="3100" dirty="0"/>
              <a:t> Debt)(After-tax cost Debt) + (</a:t>
            </a:r>
            <a:r>
              <a:rPr lang="en-US" altLang="en-US" sz="3100" dirty="0" err="1"/>
              <a:t>Wt</a:t>
            </a:r>
            <a:r>
              <a:rPr lang="en-US" altLang="en-US" sz="3100" dirty="0"/>
              <a:t> </a:t>
            </a:r>
            <a:r>
              <a:rPr lang="en-US" altLang="en-US" sz="3100" dirty="0" err="1"/>
              <a:t>Eqty</a:t>
            </a:r>
            <a:r>
              <a:rPr lang="en-US" altLang="en-US" sz="3100" dirty="0"/>
              <a:t>)(Cost </a:t>
            </a:r>
            <a:r>
              <a:rPr lang="en-US" altLang="en-US" sz="3100" dirty="0" err="1"/>
              <a:t>Eqty</a:t>
            </a:r>
            <a:r>
              <a:rPr lang="en-US" altLang="en-US" sz="3100" dirty="0"/>
              <a:t>) + (</a:t>
            </a:r>
            <a:r>
              <a:rPr lang="en-US" altLang="en-US" sz="3100" dirty="0" err="1"/>
              <a:t>Wt</a:t>
            </a:r>
            <a:r>
              <a:rPr lang="en-US" altLang="en-US" sz="3100" dirty="0"/>
              <a:t> Prfd)(Cost Prfd</a:t>
            </a:r>
            <a:r>
              <a:rPr lang="en-US" altLang="en-US" dirty="0"/>
              <a:t>)</a:t>
            </a:r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4E9F04B-0906-416B-988A-FEA1153C74C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Cost of Equity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228600" y="1524000"/>
            <a:ext cx="8686800" cy="4652964"/>
          </a:xfrm>
        </p:spPr>
        <p:txBody>
          <a:bodyPr>
            <a:normAutofit/>
          </a:bodyPr>
          <a:lstStyle/>
          <a:p>
            <a:r>
              <a:rPr lang="en-US" altLang="en-US" dirty="0"/>
              <a:t>Cost of External Equity: </a:t>
            </a:r>
          </a:p>
          <a:p>
            <a:pPr lvl="1"/>
            <a:r>
              <a:rPr lang="en-US" altLang="en-US" dirty="0"/>
              <a:t>Function of:</a:t>
            </a:r>
          </a:p>
          <a:p>
            <a:pPr lvl="2"/>
            <a:r>
              <a:rPr lang="en-US" altLang="en-US" sz="2800" dirty="0"/>
              <a:t>   </a:t>
            </a:r>
          </a:p>
          <a:p>
            <a:endParaRPr lang="en-US" altLang="en-US" dirty="0"/>
          </a:p>
          <a:p>
            <a:r>
              <a:rPr lang="en-US" altLang="en-US" dirty="0"/>
              <a:t>Cost of Internal Equity:</a:t>
            </a:r>
          </a:p>
          <a:p>
            <a:pPr lvl="1"/>
            <a:r>
              <a:rPr lang="en-US" altLang="en-US" dirty="0"/>
              <a:t>Function of:</a:t>
            </a:r>
          </a:p>
          <a:p>
            <a:pPr lvl="2"/>
            <a:r>
              <a:rPr lang="en-US" altLang="en-US" sz="2800" dirty="0"/>
              <a:t>  </a:t>
            </a:r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023E92F-7927-41A3-89AC-8D784DC980DE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Cost of Equity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Know: = P</a:t>
            </a:r>
            <a:r>
              <a:rPr lang="en-US" altLang="en-US" baseline="-25000" dirty="0"/>
              <a:t>0 </a:t>
            </a:r>
            <a:r>
              <a:rPr lang="en-US" altLang="en-US" dirty="0"/>
              <a:t> = D</a:t>
            </a:r>
            <a:r>
              <a:rPr lang="en-US" altLang="en-US" baseline="-25000" dirty="0"/>
              <a:t>1</a:t>
            </a:r>
            <a:r>
              <a:rPr lang="en-US" altLang="en-US" dirty="0"/>
              <a:t>/ (</a:t>
            </a:r>
            <a:r>
              <a:rPr lang="en-US" altLang="en-US" dirty="0" err="1"/>
              <a:t>r</a:t>
            </a:r>
            <a:r>
              <a:rPr lang="en-US" altLang="en-US" baseline="-25000" dirty="0" err="1"/>
              <a:t>s</a:t>
            </a:r>
            <a:r>
              <a:rPr lang="en-US" altLang="en-US" baseline="-25000" dirty="0"/>
              <a:t> </a:t>
            </a:r>
            <a:r>
              <a:rPr lang="en-US" altLang="en-US" dirty="0"/>
              <a:t>–g)</a:t>
            </a:r>
          </a:p>
          <a:p>
            <a:endParaRPr lang="en-US" altLang="en-US" dirty="0"/>
          </a:p>
          <a:p>
            <a:pPr lvl="2"/>
            <a:r>
              <a:rPr lang="en-US" altLang="en-US" sz="3200" dirty="0"/>
              <a:t>So then:  </a:t>
            </a:r>
            <a:r>
              <a:rPr lang="en-US" altLang="en-US" sz="3200" dirty="0" err="1"/>
              <a:t>r</a:t>
            </a:r>
            <a:r>
              <a:rPr lang="en-US" altLang="en-US" sz="3200" baseline="-25000" dirty="0" err="1"/>
              <a:t>s</a:t>
            </a:r>
            <a:r>
              <a:rPr lang="en-US" altLang="en-US" sz="3200" dirty="0"/>
              <a:t> = (D</a:t>
            </a:r>
            <a:r>
              <a:rPr lang="en-US" altLang="en-US" sz="3200" baseline="-25000" dirty="0"/>
              <a:t>1</a:t>
            </a:r>
            <a:r>
              <a:rPr lang="en-US" altLang="en-US" sz="3200" dirty="0"/>
              <a:t>/P</a:t>
            </a:r>
            <a:r>
              <a:rPr lang="en-US" altLang="en-US" sz="3200" baseline="-25000" dirty="0"/>
              <a:t>0</a:t>
            </a:r>
            <a:r>
              <a:rPr lang="en-US" altLang="en-US" sz="3200" dirty="0"/>
              <a:t>) + g</a:t>
            </a:r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BB50114-96CE-4E52-9675-3C4D8856DA30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Cost of Preferred Stock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152400" y="1524000"/>
            <a:ext cx="8763000" cy="4652964"/>
          </a:xfrm>
        </p:spPr>
        <p:txBody>
          <a:bodyPr/>
          <a:lstStyle/>
          <a:p>
            <a:r>
              <a:rPr lang="en-US" altLang="en-US" dirty="0"/>
              <a:t>r = (D</a:t>
            </a:r>
            <a:r>
              <a:rPr lang="en-US" altLang="en-US" baseline="-25000" dirty="0"/>
              <a:t>1</a:t>
            </a:r>
            <a:r>
              <a:rPr lang="en-US" altLang="en-US" dirty="0"/>
              <a:t>/P</a:t>
            </a:r>
            <a:r>
              <a:rPr lang="en-US" altLang="en-US" baseline="-25000" dirty="0"/>
              <a:t>0</a:t>
            </a:r>
            <a:r>
              <a:rPr lang="en-US" altLang="en-US" dirty="0"/>
              <a:t>) + g</a:t>
            </a:r>
          </a:p>
          <a:p>
            <a:r>
              <a:rPr lang="en-US" altLang="en-US" dirty="0"/>
              <a:t>g= 0,</a:t>
            </a:r>
          </a:p>
          <a:p>
            <a:pPr lvl="1"/>
            <a:r>
              <a:rPr lang="en-US" altLang="en-US" dirty="0"/>
              <a:t>so </a:t>
            </a:r>
            <a:r>
              <a:rPr lang="en-US" altLang="en-US" dirty="0" err="1"/>
              <a:t>prfd</a:t>
            </a:r>
            <a:r>
              <a:rPr lang="en-US" altLang="en-US" dirty="0"/>
              <a:t>. cost = function of </a:t>
            </a:r>
            <a:r>
              <a:rPr lang="en-US" altLang="en-US" dirty="0" err="1"/>
              <a:t>divids</a:t>
            </a:r>
            <a:r>
              <a:rPr lang="en-US" altLang="en-US" dirty="0"/>
              <a:t> pd. &amp; </a:t>
            </a:r>
            <a:r>
              <a:rPr lang="en-US" altLang="en-US" dirty="0" err="1"/>
              <a:t>flot</a:t>
            </a:r>
            <a:r>
              <a:rPr lang="en-US" altLang="en-US" dirty="0"/>
              <a:t> cost to issue</a:t>
            </a:r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E856C18-BA20-4E70-8691-8939146513B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2EDB410-22BC-4F5E-8FD9-AD0F91E486B2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400"/>
          </a:p>
        </p:txBody>
      </p:sp>
      <p:sp>
        <p:nvSpPr>
          <p:cNvPr id="21507" name="Rectangle 1028"/>
          <p:cNvSpPr>
            <a:spLocks noGrp="1" noChangeArrowheads="1"/>
          </p:cNvSpPr>
          <p:nvPr>
            <p:ph type="title"/>
          </p:nvPr>
        </p:nvSpPr>
        <p:spPr>
          <a:xfrm>
            <a:off x="457200" y="136524"/>
            <a:ext cx="8486775" cy="1111251"/>
          </a:xfrm>
        </p:spPr>
        <p:txBody>
          <a:bodyPr/>
          <a:lstStyle/>
          <a:p>
            <a:pPr algn="ctr" eaLnBrk="1" hangingPunct="1"/>
            <a:r>
              <a:rPr lang="en-US" altLang="en-US" dirty="0"/>
              <a:t>Determining Cost of Debt: Methods</a:t>
            </a:r>
          </a:p>
        </p:txBody>
      </p:sp>
      <p:sp>
        <p:nvSpPr>
          <p:cNvPr id="15364" name="Rectangle 1029"/>
          <p:cNvSpPr>
            <a:spLocks noGrp="1" noChangeArrowheads="1"/>
          </p:cNvSpPr>
          <p:nvPr>
            <p:ph type="body" idx="1"/>
          </p:nvPr>
        </p:nvSpPr>
        <p:spPr>
          <a:xfrm>
            <a:off x="228599" y="1524000"/>
            <a:ext cx="8715375" cy="4652964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(1)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(2)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dirty="0"/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(3)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E121426-05B8-4B6D-A611-1813FF3138AA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400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Current vs. Historical Cost of Debt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509930"/>
            <a:ext cx="8763000" cy="4667034"/>
          </a:xfrm>
        </p:spPr>
        <p:txBody>
          <a:bodyPr/>
          <a:lstStyle/>
          <a:p>
            <a:pPr eaLnBrk="1" hangingPunct="1"/>
            <a:r>
              <a:rPr lang="en-US" altLang="en-US" dirty="0"/>
              <a:t>Cost of debt:</a:t>
            </a:r>
          </a:p>
          <a:p>
            <a:pPr lvl="1"/>
            <a:r>
              <a:rPr lang="en-US" altLang="en-US" dirty="0"/>
              <a:t>  </a:t>
            </a:r>
          </a:p>
          <a:p>
            <a:pPr lvl="1"/>
            <a:r>
              <a:rPr lang="en-US" altLang="en-US" dirty="0"/>
              <a:t>    </a:t>
            </a:r>
          </a:p>
          <a:p>
            <a:pPr lvl="1"/>
            <a:r>
              <a:rPr lang="en-US" altLang="en-US" dirty="0"/>
              <a:t>  </a:t>
            </a:r>
          </a:p>
        </p:txBody>
      </p:sp>
      <p:sp>
        <p:nvSpPr>
          <p:cNvPr id="22533" name="Rectangle 23"/>
          <p:cNvSpPr>
            <a:spLocks noChangeArrowheads="1"/>
          </p:cNvSpPr>
          <p:nvPr/>
        </p:nvSpPr>
        <p:spPr bwMode="auto">
          <a:xfrm>
            <a:off x="7626350" y="5846763"/>
            <a:ext cx="11445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(More…)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8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467EAD4-C19B-432C-99B7-AF55C8D6FD6E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400"/>
          </a:p>
        </p:txBody>
      </p:sp>
      <p:sp>
        <p:nvSpPr>
          <p:cNvPr id="23555" name="Rectangle 37"/>
          <p:cNvSpPr>
            <a:spLocks noGrp="1" noChangeArrowheads="1"/>
          </p:cNvSpPr>
          <p:nvPr>
            <p:ph type="title"/>
          </p:nvPr>
        </p:nvSpPr>
        <p:spPr>
          <a:xfrm>
            <a:off x="457200" y="136525"/>
            <a:ext cx="8486775" cy="1704976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15-yr, 13.25% semiannual bond sells @ $1,250. Tax = 40%. 60,000 Bonds o/s.  What’s </a:t>
            </a:r>
            <a:r>
              <a:rPr lang="en-US" altLang="en-US" sz="3200" dirty="0" err="1"/>
              <a:t>r</a:t>
            </a:r>
            <a:r>
              <a:rPr lang="en-US" altLang="en-US" sz="3200" baseline="-25000" dirty="0" err="1"/>
              <a:t>d</a:t>
            </a:r>
            <a:r>
              <a:rPr lang="en-US" altLang="en-US" sz="3200" dirty="0"/>
              <a:t>?</a:t>
            </a:r>
            <a:r>
              <a:rPr lang="en-US" altLang="en-US" dirty="0"/>
              <a:t>  </a:t>
            </a:r>
          </a:p>
        </p:txBody>
      </p:sp>
      <p:grpSp>
        <p:nvGrpSpPr>
          <p:cNvPr id="23556" name="Group 40"/>
          <p:cNvGrpSpPr>
            <a:grpSpLocks/>
          </p:cNvGrpSpPr>
          <p:nvPr/>
        </p:nvGrpSpPr>
        <p:grpSpPr bwMode="auto">
          <a:xfrm>
            <a:off x="596900" y="2370138"/>
            <a:ext cx="8347075" cy="3656012"/>
            <a:chOff x="376" y="1493"/>
            <a:chExt cx="5258" cy="2303"/>
          </a:xfrm>
        </p:grpSpPr>
        <p:sp>
          <p:nvSpPr>
            <p:cNvPr id="23557" name="Rectangle 6"/>
            <p:cNvSpPr>
              <a:spLocks noChangeArrowheads="1"/>
            </p:cNvSpPr>
            <p:nvPr/>
          </p:nvSpPr>
          <p:spPr bwMode="auto">
            <a:xfrm>
              <a:off x="1536" y="2199"/>
              <a:ext cx="732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dirty="0"/>
                <a:t>&lt;</a:t>
              </a:r>
              <a:r>
                <a:rPr lang="en-US" altLang="en-US" sz="2400" dirty="0" err="1"/>
                <a:t>Pmt</a:t>
              </a:r>
              <a:r>
                <a:rPr lang="en-US" altLang="en-US" sz="2400" dirty="0"/>
                <a:t>&gt;</a:t>
              </a:r>
            </a:p>
          </p:txBody>
        </p:sp>
        <p:sp>
          <p:nvSpPr>
            <p:cNvPr id="23558" name="Rectangle 7"/>
            <p:cNvSpPr>
              <a:spLocks noChangeArrowheads="1"/>
            </p:cNvSpPr>
            <p:nvPr/>
          </p:nvSpPr>
          <p:spPr bwMode="auto">
            <a:xfrm>
              <a:off x="4073" y="2199"/>
              <a:ext cx="1561" cy="5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dirty="0"/>
                <a:t>      &lt;</a:t>
              </a:r>
              <a:r>
                <a:rPr lang="en-US" altLang="en-US" sz="2400" dirty="0" err="1"/>
                <a:t>Pmt</a:t>
              </a:r>
              <a:r>
                <a:rPr lang="en-US" altLang="en-US" sz="2400" dirty="0"/>
                <a:t>&gt;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dirty="0"/>
                <a:t>       &lt;FV&gt;</a:t>
              </a:r>
            </a:p>
          </p:txBody>
        </p:sp>
        <p:sp>
          <p:nvSpPr>
            <p:cNvPr id="23559" name="Line 8"/>
            <p:cNvSpPr>
              <a:spLocks noChangeShapeType="1"/>
            </p:cNvSpPr>
            <p:nvPr/>
          </p:nvSpPr>
          <p:spPr bwMode="auto">
            <a:xfrm>
              <a:off x="768" y="1760"/>
              <a:ext cx="0" cy="4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0" name="Line 9"/>
            <p:cNvSpPr>
              <a:spLocks noChangeShapeType="1"/>
            </p:cNvSpPr>
            <p:nvPr/>
          </p:nvSpPr>
          <p:spPr bwMode="auto">
            <a:xfrm>
              <a:off x="1701" y="1760"/>
              <a:ext cx="0" cy="4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1" name="Line 10"/>
            <p:cNvSpPr>
              <a:spLocks noChangeShapeType="1"/>
            </p:cNvSpPr>
            <p:nvPr/>
          </p:nvSpPr>
          <p:spPr bwMode="auto">
            <a:xfrm>
              <a:off x="2634" y="1760"/>
              <a:ext cx="0" cy="4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2" name="Line 11"/>
            <p:cNvSpPr>
              <a:spLocks noChangeShapeType="1"/>
            </p:cNvSpPr>
            <p:nvPr/>
          </p:nvSpPr>
          <p:spPr bwMode="auto">
            <a:xfrm>
              <a:off x="4848" y="1760"/>
              <a:ext cx="0" cy="4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3" name="Line 12"/>
            <p:cNvSpPr>
              <a:spLocks noChangeShapeType="1"/>
            </p:cNvSpPr>
            <p:nvPr/>
          </p:nvSpPr>
          <p:spPr bwMode="auto">
            <a:xfrm>
              <a:off x="776" y="1979"/>
              <a:ext cx="278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4" name="Rectangle 13"/>
            <p:cNvSpPr>
              <a:spLocks noChangeArrowheads="1"/>
            </p:cNvSpPr>
            <p:nvPr/>
          </p:nvSpPr>
          <p:spPr bwMode="auto">
            <a:xfrm>
              <a:off x="2496" y="2199"/>
              <a:ext cx="732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dirty="0"/>
                <a:t>&lt;</a:t>
              </a:r>
              <a:r>
                <a:rPr lang="en-US" altLang="en-US" sz="2400" dirty="0" err="1"/>
                <a:t>Pmt</a:t>
              </a:r>
              <a:r>
                <a:rPr lang="en-US" altLang="en-US" sz="2400" dirty="0"/>
                <a:t>&gt;</a:t>
              </a:r>
            </a:p>
          </p:txBody>
        </p:sp>
        <p:sp>
          <p:nvSpPr>
            <p:cNvPr id="23565" name="Rectangle 14"/>
            <p:cNvSpPr>
              <a:spLocks noChangeArrowheads="1"/>
            </p:cNvSpPr>
            <p:nvPr/>
          </p:nvSpPr>
          <p:spPr bwMode="auto">
            <a:xfrm>
              <a:off x="663" y="1493"/>
              <a:ext cx="219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0</a:t>
              </a:r>
            </a:p>
          </p:txBody>
        </p:sp>
        <p:sp>
          <p:nvSpPr>
            <p:cNvPr id="23566" name="Rectangle 15"/>
            <p:cNvSpPr>
              <a:spLocks noChangeArrowheads="1"/>
            </p:cNvSpPr>
            <p:nvPr/>
          </p:nvSpPr>
          <p:spPr bwMode="auto">
            <a:xfrm>
              <a:off x="1584" y="1493"/>
              <a:ext cx="219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1</a:t>
              </a:r>
            </a:p>
          </p:txBody>
        </p:sp>
        <p:sp>
          <p:nvSpPr>
            <p:cNvPr id="23567" name="Rectangle 16"/>
            <p:cNvSpPr>
              <a:spLocks noChangeArrowheads="1"/>
            </p:cNvSpPr>
            <p:nvPr/>
          </p:nvSpPr>
          <p:spPr bwMode="auto">
            <a:xfrm>
              <a:off x="2544" y="1493"/>
              <a:ext cx="219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2</a:t>
              </a:r>
            </a:p>
          </p:txBody>
        </p:sp>
        <p:sp>
          <p:nvSpPr>
            <p:cNvPr id="23568" name="Rectangle 17"/>
            <p:cNvSpPr>
              <a:spLocks noChangeArrowheads="1"/>
            </p:cNvSpPr>
            <p:nvPr/>
          </p:nvSpPr>
          <p:spPr bwMode="auto">
            <a:xfrm>
              <a:off x="4695" y="1493"/>
              <a:ext cx="324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30</a:t>
              </a:r>
            </a:p>
          </p:txBody>
        </p:sp>
        <p:sp>
          <p:nvSpPr>
            <p:cNvPr id="23569" name="Rectangle 18"/>
            <p:cNvSpPr>
              <a:spLocks noChangeArrowheads="1"/>
            </p:cNvSpPr>
            <p:nvPr/>
          </p:nvSpPr>
          <p:spPr bwMode="auto">
            <a:xfrm>
              <a:off x="912" y="1679"/>
              <a:ext cx="610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r</a:t>
              </a:r>
              <a:r>
                <a:rPr lang="en-US" altLang="en-US" sz="2400" baseline="-25000"/>
                <a:t>d</a:t>
              </a:r>
              <a:r>
                <a:rPr lang="en-US" altLang="en-US" sz="2400"/>
                <a:t> = ?</a:t>
              </a:r>
            </a:p>
          </p:txBody>
        </p:sp>
        <p:sp>
          <p:nvSpPr>
            <p:cNvPr id="23570" name="Rectangle 32"/>
            <p:cNvSpPr>
              <a:spLocks noChangeArrowheads="1"/>
            </p:cNvSpPr>
            <p:nvPr/>
          </p:nvSpPr>
          <p:spPr bwMode="auto">
            <a:xfrm>
              <a:off x="376" y="2199"/>
              <a:ext cx="540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dirty="0"/>
                <a:t> PV=</a:t>
              </a:r>
            </a:p>
          </p:txBody>
        </p:sp>
        <p:sp>
          <p:nvSpPr>
            <p:cNvPr id="23571" name="Rectangle 33"/>
            <p:cNvSpPr>
              <a:spLocks noChangeArrowheads="1"/>
            </p:cNvSpPr>
            <p:nvPr/>
          </p:nvSpPr>
          <p:spPr bwMode="auto">
            <a:xfrm>
              <a:off x="3567" y="1739"/>
              <a:ext cx="348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...</a:t>
              </a:r>
            </a:p>
          </p:txBody>
        </p:sp>
        <p:sp>
          <p:nvSpPr>
            <p:cNvPr id="23572" name="Line 34"/>
            <p:cNvSpPr>
              <a:spLocks noChangeShapeType="1"/>
            </p:cNvSpPr>
            <p:nvPr/>
          </p:nvSpPr>
          <p:spPr bwMode="auto">
            <a:xfrm>
              <a:off x="3870" y="1976"/>
              <a:ext cx="96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3" name="Rectangle 20"/>
            <p:cNvSpPr>
              <a:spLocks noChangeArrowheads="1"/>
            </p:cNvSpPr>
            <p:nvPr/>
          </p:nvSpPr>
          <p:spPr bwMode="auto">
            <a:xfrm>
              <a:off x="480" y="2784"/>
              <a:ext cx="4760" cy="1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tabLst>
                  <a:tab pos="1771650" algn="l"/>
                </a:tabLst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tabLst>
                  <a:tab pos="1771650" algn="l"/>
                </a:tabLs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tabLst>
                  <a:tab pos="1771650" algn="l"/>
                </a:tabLs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tabLst>
                  <a:tab pos="1771650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1771650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1771650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1771650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1771650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1771650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dirty="0"/>
                <a:t>	</a:t>
              </a:r>
            </a:p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dirty="0"/>
                <a:t>			</a:t>
              </a:r>
            </a:p>
            <a:p>
              <a:pPr>
                <a:lnSpc>
                  <a:spcPct val="120000"/>
                </a:lnSpc>
                <a:spcBef>
                  <a:spcPts val="600"/>
                </a:spcBef>
                <a:buClrTx/>
                <a:buSzTx/>
                <a:buFontTx/>
                <a:buNone/>
              </a:pPr>
              <a:r>
                <a:rPr lang="en-US" altLang="en-US" sz="2600" dirty="0"/>
                <a:t>		     	   </a:t>
              </a:r>
            </a:p>
          </p:txBody>
        </p:sp>
        <p:sp>
          <p:nvSpPr>
            <p:cNvPr id="23574" name="AutoShape 21"/>
            <p:cNvSpPr>
              <a:spLocks noChangeArrowheads="1"/>
            </p:cNvSpPr>
            <p:nvPr/>
          </p:nvSpPr>
          <p:spPr bwMode="auto">
            <a:xfrm>
              <a:off x="2816" y="3150"/>
              <a:ext cx="464" cy="306"/>
            </a:xfrm>
            <a:prstGeom prst="roundRect">
              <a:avLst>
                <a:gd name="adj" fmla="val 12495"/>
              </a:avLst>
            </a:prstGeom>
            <a:solidFill>
              <a:srgbClr val="83FD65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3575" name="AutoShape 22"/>
            <p:cNvSpPr>
              <a:spLocks noChangeArrowheads="1"/>
            </p:cNvSpPr>
            <p:nvPr/>
          </p:nvSpPr>
          <p:spPr bwMode="auto">
            <a:xfrm>
              <a:off x="2132" y="3150"/>
              <a:ext cx="512" cy="306"/>
            </a:xfrm>
            <a:prstGeom prst="roundRect">
              <a:avLst>
                <a:gd name="adj" fmla="val 12495"/>
              </a:avLst>
            </a:prstGeom>
            <a:solidFill>
              <a:schemeClr val="accent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3576" name="AutoShape 23"/>
            <p:cNvSpPr>
              <a:spLocks noChangeArrowheads="1"/>
            </p:cNvSpPr>
            <p:nvPr/>
          </p:nvSpPr>
          <p:spPr bwMode="auto">
            <a:xfrm>
              <a:off x="1544" y="3150"/>
              <a:ext cx="416" cy="306"/>
            </a:xfrm>
            <a:prstGeom prst="roundRect">
              <a:avLst>
                <a:gd name="adj" fmla="val 12495"/>
              </a:avLst>
            </a:prstGeom>
            <a:solidFill>
              <a:srgbClr val="83FD65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3577" name="AutoShape 24"/>
            <p:cNvSpPr>
              <a:spLocks noChangeArrowheads="1"/>
            </p:cNvSpPr>
            <p:nvPr/>
          </p:nvSpPr>
          <p:spPr bwMode="auto">
            <a:xfrm>
              <a:off x="4136" y="3150"/>
              <a:ext cx="464" cy="306"/>
            </a:xfrm>
            <a:prstGeom prst="roundRect">
              <a:avLst>
                <a:gd name="adj" fmla="val 12495"/>
              </a:avLst>
            </a:prstGeom>
            <a:solidFill>
              <a:srgbClr val="83FD65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3578" name="Rectangle 25"/>
            <p:cNvSpPr>
              <a:spLocks noChangeArrowheads="1"/>
            </p:cNvSpPr>
            <p:nvPr/>
          </p:nvSpPr>
          <p:spPr bwMode="auto">
            <a:xfrm>
              <a:off x="1624" y="3170"/>
              <a:ext cx="24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dirty="0"/>
                <a:t>N</a:t>
              </a:r>
            </a:p>
          </p:txBody>
        </p:sp>
        <p:sp>
          <p:nvSpPr>
            <p:cNvPr id="23579" name="Rectangle 26"/>
            <p:cNvSpPr>
              <a:spLocks noChangeArrowheads="1"/>
            </p:cNvSpPr>
            <p:nvPr/>
          </p:nvSpPr>
          <p:spPr bwMode="auto">
            <a:xfrm>
              <a:off x="2153" y="3170"/>
              <a:ext cx="489" cy="286"/>
            </a:xfrm>
            <a:prstGeom prst="rect">
              <a:avLst/>
            </a:prstGeom>
            <a:solidFill>
              <a:srgbClr val="83FD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dirty="0"/>
                <a:t>I/YR</a:t>
              </a:r>
            </a:p>
          </p:txBody>
        </p:sp>
        <p:sp>
          <p:nvSpPr>
            <p:cNvPr id="23580" name="Rectangle 27"/>
            <p:cNvSpPr>
              <a:spLocks noChangeArrowheads="1"/>
            </p:cNvSpPr>
            <p:nvPr/>
          </p:nvSpPr>
          <p:spPr bwMode="auto">
            <a:xfrm>
              <a:off x="2880" y="3170"/>
              <a:ext cx="335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PV</a:t>
              </a:r>
            </a:p>
          </p:txBody>
        </p:sp>
        <p:sp>
          <p:nvSpPr>
            <p:cNvPr id="23581" name="Rectangle 28"/>
            <p:cNvSpPr>
              <a:spLocks noChangeArrowheads="1"/>
            </p:cNvSpPr>
            <p:nvPr/>
          </p:nvSpPr>
          <p:spPr bwMode="auto">
            <a:xfrm>
              <a:off x="4176" y="3170"/>
              <a:ext cx="329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dirty="0"/>
                <a:t>FV</a:t>
              </a:r>
            </a:p>
          </p:txBody>
        </p:sp>
        <p:sp>
          <p:nvSpPr>
            <p:cNvPr id="23582" name="AutoShape 29"/>
            <p:cNvSpPr>
              <a:spLocks noChangeArrowheads="1"/>
            </p:cNvSpPr>
            <p:nvPr/>
          </p:nvSpPr>
          <p:spPr bwMode="auto">
            <a:xfrm>
              <a:off x="3452" y="3150"/>
              <a:ext cx="512" cy="306"/>
            </a:xfrm>
            <a:prstGeom prst="roundRect">
              <a:avLst>
                <a:gd name="adj" fmla="val 12495"/>
              </a:avLst>
            </a:prstGeom>
            <a:solidFill>
              <a:srgbClr val="83FD65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3583" name="Rectangle 31"/>
            <p:cNvSpPr>
              <a:spLocks noChangeArrowheads="1"/>
            </p:cNvSpPr>
            <p:nvPr/>
          </p:nvSpPr>
          <p:spPr bwMode="auto">
            <a:xfrm>
              <a:off x="3456" y="3170"/>
              <a:ext cx="480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PMT</a:t>
              </a:r>
            </a:p>
          </p:txBody>
        </p:sp>
        <p:sp>
          <p:nvSpPr>
            <p:cNvPr id="23584" name="AutoShape 35"/>
            <p:cNvSpPr>
              <a:spLocks noChangeArrowheads="1"/>
            </p:cNvSpPr>
            <p:nvPr/>
          </p:nvSpPr>
          <p:spPr bwMode="auto">
            <a:xfrm>
              <a:off x="567" y="2835"/>
              <a:ext cx="864" cy="357"/>
            </a:xfrm>
            <a:prstGeom prst="roundRect">
              <a:avLst>
                <a:gd name="adj" fmla="val 12495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488" tIns="44450" rIns="90488" bIns="4445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/>
                <a:t>INPUTS</a:t>
              </a:r>
            </a:p>
          </p:txBody>
        </p:sp>
        <p:sp>
          <p:nvSpPr>
            <p:cNvPr id="23585" name="AutoShape 36"/>
            <p:cNvSpPr>
              <a:spLocks noChangeArrowheads="1"/>
            </p:cNvSpPr>
            <p:nvPr/>
          </p:nvSpPr>
          <p:spPr bwMode="auto">
            <a:xfrm>
              <a:off x="561" y="3408"/>
              <a:ext cx="864" cy="357"/>
            </a:xfrm>
            <a:prstGeom prst="roundRect">
              <a:avLst>
                <a:gd name="adj" fmla="val 12495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488" tIns="44450" rIns="90488" bIns="4445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/>
                <a:t>OUTPUT</a:t>
              </a:r>
            </a:p>
          </p:txBody>
        </p:sp>
      </p:grp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B69E018-396D-48F2-8A6B-6EEF7C84B9BB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400"/>
          </a:p>
        </p:txBody>
      </p:sp>
      <p:sp>
        <p:nvSpPr>
          <p:cNvPr id="24579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Component Cost of Debt</a:t>
            </a:r>
          </a:p>
        </p:txBody>
      </p:sp>
      <p:sp>
        <p:nvSpPr>
          <p:cNvPr id="18436" name="Rectangle 12"/>
          <p:cNvSpPr>
            <a:spLocks noGrp="1" noChangeArrowheads="1"/>
          </p:cNvSpPr>
          <p:nvPr>
            <p:ph type="body" idx="1"/>
          </p:nvPr>
        </p:nvSpPr>
        <p:spPr>
          <a:xfrm>
            <a:off x="76200" y="1447800"/>
            <a:ext cx="8915400" cy="4729164"/>
          </a:xfrm>
        </p:spPr>
        <p:txBody>
          <a:bodyPr/>
          <a:lstStyle/>
          <a:p>
            <a:pPr eaLnBrk="1" hangingPunct="1"/>
            <a:r>
              <a:rPr lang="en-US" altLang="en-US" sz="3100" dirty="0"/>
              <a:t>Interest is deductible, so after-tax (AT) cost of debt:</a:t>
            </a:r>
          </a:p>
          <a:p>
            <a:pPr lvl="1"/>
            <a:r>
              <a:rPr lang="en-US" altLang="en-US" dirty="0" err="1"/>
              <a:t>r</a:t>
            </a:r>
            <a:r>
              <a:rPr lang="en-US" altLang="en-US" baseline="-25000" dirty="0" err="1"/>
              <a:t>d</a:t>
            </a:r>
            <a:r>
              <a:rPr lang="en-US" altLang="en-US" baseline="-25000" dirty="0"/>
              <a:t> </a:t>
            </a:r>
            <a:r>
              <a:rPr lang="en-US" altLang="en-US" dirty="0"/>
              <a:t>AT = </a:t>
            </a:r>
            <a:r>
              <a:rPr lang="en-US" altLang="en-US" dirty="0" err="1"/>
              <a:t>r</a:t>
            </a:r>
            <a:r>
              <a:rPr lang="en-US" altLang="en-US" baseline="-25000" dirty="0" err="1"/>
              <a:t>d</a:t>
            </a:r>
            <a:r>
              <a:rPr lang="en-US" altLang="en-US" dirty="0"/>
              <a:t> BT(1 – T)</a:t>
            </a:r>
          </a:p>
          <a:p>
            <a:pPr lvl="1"/>
            <a:r>
              <a:rPr lang="en-US" altLang="en-US" dirty="0" err="1"/>
              <a:t>r</a:t>
            </a:r>
            <a:r>
              <a:rPr lang="en-US" altLang="en-US" baseline="-25000" dirty="0" err="1"/>
              <a:t>d</a:t>
            </a:r>
            <a:r>
              <a:rPr lang="en-US" altLang="en-US" baseline="-25000" dirty="0"/>
              <a:t> </a:t>
            </a:r>
            <a:r>
              <a:rPr lang="en-US" altLang="en-US" dirty="0"/>
              <a:t>AT = 10%(1 – 0.4) = 6%.</a:t>
            </a:r>
          </a:p>
          <a:p>
            <a:pPr eaLnBrk="1" hangingPunct="1"/>
            <a:r>
              <a:rPr lang="en-US" altLang="en-US" dirty="0"/>
              <a:t>Use nominal %.</a:t>
            </a:r>
          </a:p>
          <a:p>
            <a:pPr eaLnBrk="1" hangingPunct="1"/>
            <a:r>
              <a:rPr lang="en-US" altLang="en-US" dirty="0"/>
              <a:t>Flotation costs small, so ignore.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6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AFC19E2-1DA8-44D1-8876-8DD372F8E26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400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"/>
            <a:ext cx="8686800" cy="1401760"/>
          </a:xfrm>
        </p:spPr>
        <p:txBody>
          <a:bodyPr/>
          <a:lstStyle/>
          <a:p>
            <a:pPr algn="ctr" eaLnBrk="1" hangingPunct="1"/>
            <a:r>
              <a:rPr lang="en-US" altLang="en-US" sz="3200" dirty="0"/>
              <a:t>Cost of preferred stock = ?:</a:t>
            </a:r>
            <a:br>
              <a:rPr lang="en-US" altLang="en-US" sz="3200" dirty="0"/>
            </a:br>
            <a:r>
              <a:rPr lang="en-US" altLang="en-US" sz="3200" dirty="0"/>
              <a:t> </a:t>
            </a:r>
            <a:r>
              <a:rPr lang="en-US" altLang="en-US" sz="3200" dirty="0" err="1"/>
              <a:t>P</a:t>
            </a:r>
            <a:r>
              <a:rPr lang="en-US" altLang="en-US" sz="3200" baseline="-25000" dirty="0" err="1"/>
              <a:t>ps</a:t>
            </a:r>
            <a:r>
              <a:rPr lang="en-US" altLang="en-US" sz="3200" dirty="0"/>
              <a:t> = $125; 10.26% </a:t>
            </a:r>
            <a:r>
              <a:rPr lang="en-US" altLang="en-US" sz="3200" dirty="0" err="1"/>
              <a:t>Div</a:t>
            </a:r>
            <a:r>
              <a:rPr lang="en-US" altLang="en-US" sz="3200" dirty="0"/>
              <a:t>;  Par = $100; F = 8.8%</a:t>
            </a:r>
          </a:p>
        </p:txBody>
      </p:sp>
      <p:grpSp>
        <p:nvGrpSpPr>
          <p:cNvPr id="25604" name="Group 22"/>
          <p:cNvGrpSpPr>
            <a:grpSpLocks/>
          </p:cNvGrpSpPr>
          <p:nvPr/>
        </p:nvGrpSpPr>
        <p:grpSpPr bwMode="auto">
          <a:xfrm>
            <a:off x="730250" y="2362200"/>
            <a:ext cx="8108950" cy="3479800"/>
            <a:chOff x="460" y="1488"/>
            <a:chExt cx="5108" cy="2192"/>
          </a:xfrm>
        </p:grpSpPr>
        <p:sp>
          <p:nvSpPr>
            <p:cNvPr id="25605" name="Rectangle 3"/>
            <p:cNvSpPr>
              <a:spLocks noChangeArrowheads="1"/>
            </p:cNvSpPr>
            <p:nvPr/>
          </p:nvSpPr>
          <p:spPr bwMode="auto">
            <a:xfrm>
              <a:off x="460" y="1488"/>
              <a:ext cx="709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Use :</a:t>
              </a:r>
            </a:p>
          </p:txBody>
        </p:sp>
        <p:sp>
          <p:nvSpPr>
            <p:cNvPr id="25606" name="Text Box 6"/>
            <p:cNvSpPr txBox="1">
              <a:spLocks noChangeArrowheads="1"/>
            </p:cNvSpPr>
            <p:nvPr/>
          </p:nvSpPr>
          <p:spPr bwMode="auto">
            <a:xfrm>
              <a:off x="528" y="2227"/>
              <a:ext cx="86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>
                  <a:latin typeface="Arial" panose="020B0604020202020204" pitchFamily="34" charset="0"/>
                </a:rPr>
                <a:t>r</a:t>
              </a:r>
              <a:r>
                <a:rPr lang="en-US" altLang="en-US" baseline="-25000">
                  <a:latin typeface="Arial" panose="020B0604020202020204" pitchFamily="34" charset="0"/>
                </a:rPr>
                <a:t>ps </a:t>
              </a:r>
              <a:r>
                <a:rPr lang="en-US" altLang="en-US">
                  <a:latin typeface="Arial" panose="020B0604020202020204" pitchFamily="34" charset="0"/>
                </a:rPr>
                <a:t>=</a:t>
              </a:r>
            </a:p>
          </p:txBody>
        </p:sp>
        <p:sp>
          <p:nvSpPr>
            <p:cNvPr id="25607" name="Text Box 7"/>
            <p:cNvSpPr txBox="1">
              <a:spLocks noChangeArrowheads="1"/>
            </p:cNvSpPr>
            <p:nvPr/>
          </p:nvSpPr>
          <p:spPr bwMode="auto">
            <a:xfrm>
              <a:off x="1248" y="1968"/>
              <a:ext cx="76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dirty="0" err="1">
                  <a:latin typeface="Arial" panose="020B0604020202020204" pitchFamily="34" charset="0"/>
                </a:rPr>
                <a:t>D</a:t>
              </a:r>
              <a:r>
                <a:rPr lang="en-US" altLang="en-US" baseline="-25000" dirty="0" err="1">
                  <a:latin typeface="Arial" panose="020B0604020202020204" pitchFamily="34" charset="0"/>
                </a:rPr>
                <a:t>ps</a:t>
              </a:r>
              <a:endParaRPr lang="en-US" altLang="en-US" baseline="-25000" dirty="0">
                <a:latin typeface="Arial" panose="020B0604020202020204" pitchFamily="34" charset="0"/>
              </a:endParaRPr>
            </a:p>
          </p:txBody>
        </p:sp>
        <p:sp>
          <p:nvSpPr>
            <p:cNvPr id="25608" name="Text Box 8"/>
            <p:cNvSpPr txBox="1">
              <a:spLocks noChangeArrowheads="1"/>
            </p:cNvSpPr>
            <p:nvPr/>
          </p:nvSpPr>
          <p:spPr bwMode="auto">
            <a:xfrm>
              <a:off x="1056" y="2416"/>
              <a:ext cx="1344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>
                  <a:latin typeface="Arial" panose="020B0604020202020204" pitchFamily="34" charset="0"/>
                </a:rPr>
                <a:t>P</a:t>
              </a:r>
              <a:r>
                <a:rPr lang="en-US" altLang="en-US" baseline="-25000">
                  <a:latin typeface="Arial" panose="020B0604020202020204" pitchFamily="34" charset="0"/>
                </a:rPr>
                <a:t>ps </a:t>
              </a:r>
              <a:r>
                <a:rPr lang="en-US" altLang="en-US">
                  <a:latin typeface="Arial" panose="020B0604020202020204" pitchFamily="34" charset="0"/>
                </a:rPr>
                <a:t>(1 – F)</a:t>
              </a:r>
            </a:p>
          </p:txBody>
        </p:sp>
        <p:sp>
          <p:nvSpPr>
            <p:cNvPr id="25609" name="Line 9"/>
            <p:cNvSpPr>
              <a:spLocks noChangeShapeType="1"/>
            </p:cNvSpPr>
            <p:nvPr/>
          </p:nvSpPr>
          <p:spPr bwMode="auto">
            <a:xfrm>
              <a:off x="1152" y="2400"/>
              <a:ext cx="10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0" name="Text Box 11"/>
            <p:cNvSpPr txBox="1">
              <a:spLocks noChangeArrowheads="1"/>
            </p:cNvSpPr>
            <p:nvPr/>
          </p:nvSpPr>
          <p:spPr bwMode="auto">
            <a:xfrm>
              <a:off x="2256" y="2227"/>
              <a:ext cx="48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>
                  <a:latin typeface="Arial" panose="020B0604020202020204" pitchFamily="34" charset="0"/>
                </a:rPr>
                <a:t>=</a:t>
              </a:r>
            </a:p>
          </p:txBody>
        </p:sp>
        <p:sp>
          <p:nvSpPr>
            <p:cNvPr id="25611" name="Text Box 12"/>
            <p:cNvSpPr txBox="1">
              <a:spLocks noChangeArrowheads="1"/>
            </p:cNvSpPr>
            <p:nvPr/>
          </p:nvSpPr>
          <p:spPr bwMode="auto">
            <a:xfrm>
              <a:off x="3072" y="1987"/>
              <a:ext cx="182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dirty="0">
                  <a:latin typeface="Arial" panose="020B0604020202020204" pitchFamily="34" charset="0"/>
                </a:rPr>
                <a:t>.1026($100)</a:t>
              </a:r>
            </a:p>
          </p:txBody>
        </p:sp>
        <p:sp>
          <p:nvSpPr>
            <p:cNvPr id="25612" name="Text Box 13"/>
            <p:cNvSpPr txBox="1">
              <a:spLocks noChangeArrowheads="1"/>
            </p:cNvSpPr>
            <p:nvPr/>
          </p:nvSpPr>
          <p:spPr bwMode="auto">
            <a:xfrm>
              <a:off x="2592" y="2400"/>
              <a:ext cx="2592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>
                  <a:latin typeface="Arial" panose="020B0604020202020204" pitchFamily="34" charset="0"/>
                </a:rPr>
                <a:t>$125.00(1 – 0.088)</a:t>
              </a:r>
            </a:p>
          </p:txBody>
        </p:sp>
        <p:sp>
          <p:nvSpPr>
            <p:cNvPr id="25613" name="Line 14"/>
            <p:cNvSpPr>
              <a:spLocks noChangeShapeType="1"/>
            </p:cNvSpPr>
            <p:nvPr/>
          </p:nvSpPr>
          <p:spPr bwMode="auto">
            <a:xfrm>
              <a:off x="2640" y="2400"/>
              <a:ext cx="201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4" name="Text Box 15"/>
            <p:cNvSpPr txBox="1">
              <a:spLocks noChangeArrowheads="1"/>
            </p:cNvSpPr>
            <p:nvPr/>
          </p:nvSpPr>
          <p:spPr bwMode="auto">
            <a:xfrm>
              <a:off x="2239" y="3072"/>
              <a:ext cx="257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>
                  <a:latin typeface="Arial" panose="020B0604020202020204" pitchFamily="34" charset="0"/>
                </a:rPr>
                <a:t>=</a:t>
              </a:r>
            </a:p>
          </p:txBody>
        </p:sp>
        <p:sp>
          <p:nvSpPr>
            <p:cNvPr id="25615" name="Text Box 16"/>
            <p:cNvSpPr txBox="1">
              <a:spLocks noChangeArrowheads="1"/>
            </p:cNvSpPr>
            <p:nvPr/>
          </p:nvSpPr>
          <p:spPr bwMode="auto">
            <a:xfrm>
              <a:off x="2672" y="2899"/>
              <a:ext cx="97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>
                  <a:latin typeface="Arial" panose="020B0604020202020204" pitchFamily="34" charset="0"/>
                </a:rPr>
                <a:t>$10.26</a:t>
              </a:r>
            </a:p>
          </p:txBody>
        </p:sp>
        <p:sp>
          <p:nvSpPr>
            <p:cNvPr id="25616" name="Text Box 17"/>
            <p:cNvSpPr txBox="1">
              <a:spLocks noChangeArrowheads="1"/>
            </p:cNvSpPr>
            <p:nvPr/>
          </p:nvSpPr>
          <p:spPr bwMode="auto">
            <a:xfrm>
              <a:off x="2544" y="3312"/>
              <a:ext cx="1104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>
                  <a:latin typeface="Arial" panose="020B0604020202020204" pitchFamily="34" charset="0"/>
                </a:rPr>
                <a:t>$114.</a:t>
              </a:r>
            </a:p>
          </p:txBody>
        </p:sp>
        <p:sp>
          <p:nvSpPr>
            <p:cNvPr id="25617" name="Line 18"/>
            <p:cNvSpPr>
              <a:spLocks noChangeShapeType="1"/>
            </p:cNvSpPr>
            <p:nvPr/>
          </p:nvSpPr>
          <p:spPr bwMode="auto">
            <a:xfrm>
              <a:off x="2592" y="3264"/>
              <a:ext cx="1002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8" name="Text Box 19"/>
            <p:cNvSpPr txBox="1">
              <a:spLocks noChangeArrowheads="1"/>
            </p:cNvSpPr>
            <p:nvPr/>
          </p:nvSpPr>
          <p:spPr bwMode="auto">
            <a:xfrm>
              <a:off x="3648" y="3072"/>
              <a:ext cx="48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>
                  <a:latin typeface="Arial" panose="020B0604020202020204" pitchFamily="34" charset="0"/>
                </a:rPr>
                <a:t>=</a:t>
              </a:r>
            </a:p>
          </p:txBody>
        </p:sp>
        <p:sp>
          <p:nvSpPr>
            <p:cNvPr id="25619" name="Text Box 20"/>
            <p:cNvSpPr txBox="1">
              <a:spLocks noChangeArrowheads="1"/>
            </p:cNvSpPr>
            <p:nvPr/>
          </p:nvSpPr>
          <p:spPr bwMode="auto">
            <a:xfrm>
              <a:off x="3936" y="3072"/>
              <a:ext cx="163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>
                  <a:latin typeface="Arial" panose="020B0604020202020204" pitchFamily="34" charset="0"/>
                </a:rPr>
                <a:t>0.090 = 9.0%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4A2E1BC-1403-4DF3-80F3-5DE27F2D0A9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400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Time Line of Preferred</a:t>
            </a:r>
          </a:p>
        </p:txBody>
      </p:sp>
      <p:grpSp>
        <p:nvGrpSpPr>
          <p:cNvPr id="26628" name="Group 34"/>
          <p:cNvGrpSpPr>
            <a:grpSpLocks/>
          </p:cNvGrpSpPr>
          <p:nvPr/>
        </p:nvGrpSpPr>
        <p:grpSpPr bwMode="auto">
          <a:xfrm>
            <a:off x="533400" y="2286000"/>
            <a:ext cx="8382000" cy="3886200"/>
            <a:chOff x="336" y="1440"/>
            <a:chExt cx="5280" cy="2448"/>
          </a:xfrm>
        </p:grpSpPr>
        <p:grpSp>
          <p:nvGrpSpPr>
            <p:cNvPr id="26629" name="Group 3"/>
            <p:cNvGrpSpPr>
              <a:grpSpLocks/>
            </p:cNvGrpSpPr>
            <p:nvPr/>
          </p:nvGrpSpPr>
          <p:grpSpPr bwMode="auto">
            <a:xfrm>
              <a:off x="384" y="1440"/>
              <a:ext cx="4911" cy="1043"/>
              <a:chOff x="384" y="1440"/>
              <a:chExt cx="4911" cy="1043"/>
            </a:xfrm>
          </p:grpSpPr>
          <p:sp>
            <p:nvSpPr>
              <p:cNvPr id="26643" name="Rectangle 4"/>
              <p:cNvSpPr>
                <a:spLocks noChangeArrowheads="1"/>
              </p:cNvSpPr>
              <p:nvPr/>
            </p:nvSpPr>
            <p:spPr bwMode="auto">
              <a:xfrm>
                <a:off x="1536" y="2145"/>
                <a:ext cx="598" cy="2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/>
                  <a:t>10.26</a:t>
                </a:r>
              </a:p>
            </p:txBody>
          </p:sp>
          <p:sp>
            <p:nvSpPr>
              <p:cNvPr id="26644" name="Rectangle 5"/>
              <p:cNvSpPr>
                <a:spLocks noChangeArrowheads="1"/>
              </p:cNvSpPr>
              <p:nvPr/>
            </p:nvSpPr>
            <p:spPr bwMode="auto">
              <a:xfrm>
                <a:off x="4697" y="2160"/>
                <a:ext cx="598" cy="2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/>
                  <a:t>10.26</a:t>
                </a:r>
              </a:p>
            </p:txBody>
          </p:sp>
          <p:sp>
            <p:nvSpPr>
              <p:cNvPr id="26645" name="Line 6"/>
              <p:cNvSpPr>
                <a:spLocks noChangeShapeType="1"/>
              </p:cNvSpPr>
              <p:nvPr/>
            </p:nvSpPr>
            <p:spPr bwMode="auto">
              <a:xfrm>
                <a:off x="776" y="1755"/>
                <a:ext cx="0" cy="43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46" name="Line 7"/>
              <p:cNvSpPr>
                <a:spLocks noChangeShapeType="1"/>
              </p:cNvSpPr>
              <p:nvPr/>
            </p:nvSpPr>
            <p:spPr bwMode="auto">
              <a:xfrm>
                <a:off x="1709" y="1755"/>
                <a:ext cx="0" cy="43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47" name="Line 8"/>
              <p:cNvSpPr>
                <a:spLocks noChangeShapeType="1"/>
              </p:cNvSpPr>
              <p:nvPr/>
            </p:nvSpPr>
            <p:spPr bwMode="auto">
              <a:xfrm>
                <a:off x="2642" y="1755"/>
                <a:ext cx="0" cy="43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48" name="Line 9"/>
              <p:cNvSpPr>
                <a:spLocks noChangeShapeType="1"/>
              </p:cNvSpPr>
              <p:nvPr/>
            </p:nvSpPr>
            <p:spPr bwMode="auto">
              <a:xfrm>
                <a:off x="4856" y="1755"/>
                <a:ext cx="0" cy="43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49" name="Line 10"/>
              <p:cNvSpPr>
                <a:spLocks noChangeShapeType="1"/>
              </p:cNvSpPr>
              <p:nvPr/>
            </p:nvSpPr>
            <p:spPr bwMode="auto">
              <a:xfrm>
                <a:off x="784" y="1974"/>
                <a:ext cx="278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50" name="Rectangle 11"/>
              <p:cNvSpPr>
                <a:spLocks noChangeArrowheads="1"/>
              </p:cNvSpPr>
              <p:nvPr/>
            </p:nvSpPr>
            <p:spPr bwMode="auto">
              <a:xfrm>
                <a:off x="2448" y="2145"/>
                <a:ext cx="598" cy="2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/>
                  <a:t>10.26</a:t>
                </a:r>
              </a:p>
            </p:txBody>
          </p:sp>
          <p:sp>
            <p:nvSpPr>
              <p:cNvPr id="26651" name="Rectangle 12"/>
              <p:cNvSpPr>
                <a:spLocks noChangeArrowheads="1"/>
              </p:cNvSpPr>
              <p:nvPr/>
            </p:nvSpPr>
            <p:spPr bwMode="auto">
              <a:xfrm>
                <a:off x="671" y="1488"/>
                <a:ext cx="219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/>
                  <a:t>0</a:t>
                </a:r>
              </a:p>
            </p:txBody>
          </p:sp>
          <p:sp>
            <p:nvSpPr>
              <p:cNvPr id="26652" name="Rectangle 13"/>
              <p:cNvSpPr>
                <a:spLocks noChangeArrowheads="1"/>
              </p:cNvSpPr>
              <p:nvPr/>
            </p:nvSpPr>
            <p:spPr bwMode="auto">
              <a:xfrm>
                <a:off x="1605" y="1488"/>
                <a:ext cx="219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/>
                  <a:t>1</a:t>
                </a:r>
              </a:p>
            </p:txBody>
          </p:sp>
          <p:sp>
            <p:nvSpPr>
              <p:cNvPr id="26653" name="Rectangle 14"/>
              <p:cNvSpPr>
                <a:spLocks noChangeArrowheads="1"/>
              </p:cNvSpPr>
              <p:nvPr/>
            </p:nvSpPr>
            <p:spPr bwMode="auto">
              <a:xfrm>
                <a:off x="2544" y="1488"/>
                <a:ext cx="219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/>
                  <a:t>2</a:t>
                </a:r>
              </a:p>
            </p:txBody>
          </p:sp>
          <p:sp>
            <p:nvSpPr>
              <p:cNvPr id="13342" name="Rectangle 15"/>
              <p:cNvSpPr>
                <a:spLocks noChangeArrowheads="1"/>
              </p:cNvSpPr>
              <p:nvPr/>
            </p:nvSpPr>
            <p:spPr bwMode="auto">
              <a:xfrm>
                <a:off x="4704" y="1440"/>
                <a:ext cx="321" cy="32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defRPr/>
                </a:pPr>
                <a:r>
                  <a:rPr lang="en-US" sz="2800" dirty="0">
                    <a:latin typeface="+mn-lt"/>
                    <a:cs typeface="Arial" charset="0"/>
                  </a:rPr>
                  <a:t>∞</a:t>
                </a:r>
              </a:p>
            </p:txBody>
          </p:sp>
          <p:sp>
            <p:nvSpPr>
              <p:cNvPr id="26655" name="Rectangle 16"/>
              <p:cNvSpPr>
                <a:spLocks noChangeArrowheads="1"/>
              </p:cNvSpPr>
              <p:nvPr/>
            </p:nvSpPr>
            <p:spPr bwMode="auto">
              <a:xfrm>
                <a:off x="912" y="1679"/>
                <a:ext cx="668" cy="2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/>
                  <a:t>r</a:t>
                </a:r>
                <a:r>
                  <a:rPr lang="en-US" altLang="en-US" sz="2400" baseline="-25000"/>
                  <a:t>ps</a:t>
                </a:r>
                <a:r>
                  <a:rPr lang="en-US" altLang="en-US" sz="2400"/>
                  <a:t> = ?</a:t>
                </a:r>
              </a:p>
            </p:txBody>
          </p:sp>
          <p:sp>
            <p:nvSpPr>
              <p:cNvPr id="26656" name="Rectangle 17"/>
              <p:cNvSpPr>
                <a:spLocks noChangeArrowheads="1"/>
              </p:cNvSpPr>
              <p:nvPr/>
            </p:nvSpPr>
            <p:spPr bwMode="auto">
              <a:xfrm>
                <a:off x="384" y="2194"/>
                <a:ext cx="561" cy="2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/>
                  <a:t>-114.</a:t>
                </a:r>
              </a:p>
            </p:txBody>
          </p:sp>
          <p:sp>
            <p:nvSpPr>
              <p:cNvPr id="26657" name="Rectangle 18"/>
              <p:cNvSpPr>
                <a:spLocks noChangeArrowheads="1"/>
              </p:cNvSpPr>
              <p:nvPr/>
            </p:nvSpPr>
            <p:spPr bwMode="auto">
              <a:xfrm>
                <a:off x="3575" y="1734"/>
                <a:ext cx="348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/>
                  <a:t>...</a:t>
                </a:r>
              </a:p>
            </p:txBody>
          </p:sp>
          <p:sp>
            <p:nvSpPr>
              <p:cNvPr id="26658" name="Line 19"/>
              <p:cNvSpPr>
                <a:spLocks noChangeShapeType="1"/>
              </p:cNvSpPr>
              <p:nvPr/>
            </p:nvSpPr>
            <p:spPr bwMode="auto">
              <a:xfrm>
                <a:off x="3926" y="1971"/>
                <a:ext cx="92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6630" name="Text Box 21"/>
            <p:cNvSpPr txBox="1">
              <a:spLocks noChangeArrowheads="1"/>
            </p:cNvSpPr>
            <p:nvPr/>
          </p:nvSpPr>
          <p:spPr bwMode="auto">
            <a:xfrm>
              <a:off x="960" y="2736"/>
              <a:ext cx="148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800"/>
                <a:t>$114.00 =</a:t>
              </a:r>
            </a:p>
          </p:txBody>
        </p:sp>
        <p:sp>
          <p:nvSpPr>
            <p:cNvPr id="26631" name="Text Box 22"/>
            <p:cNvSpPr txBox="1">
              <a:spLocks noChangeArrowheads="1"/>
            </p:cNvSpPr>
            <p:nvPr/>
          </p:nvSpPr>
          <p:spPr bwMode="auto">
            <a:xfrm>
              <a:off x="2160" y="2550"/>
              <a:ext cx="48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800"/>
                <a:t>D</a:t>
              </a:r>
              <a:r>
                <a:rPr lang="en-US" altLang="en-US" sz="2800" baseline="-25000"/>
                <a:t>Q</a:t>
              </a:r>
            </a:p>
          </p:txBody>
        </p:sp>
        <p:sp>
          <p:nvSpPr>
            <p:cNvPr id="26632" name="Text Box 23"/>
            <p:cNvSpPr txBox="1">
              <a:spLocks noChangeArrowheads="1"/>
            </p:cNvSpPr>
            <p:nvPr/>
          </p:nvSpPr>
          <p:spPr bwMode="auto">
            <a:xfrm>
              <a:off x="2160" y="2880"/>
              <a:ext cx="67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800"/>
                <a:t>r</a:t>
              </a:r>
              <a:r>
                <a:rPr lang="en-US" altLang="en-US" sz="2800" baseline="-25000"/>
                <a:t>Per</a:t>
              </a:r>
            </a:p>
          </p:txBody>
        </p:sp>
        <p:sp>
          <p:nvSpPr>
            <p:cNvPr id="26633" name="Line 24"/>
            <p:cNvSpPr>
              <a:spLocks noChangeShapeType="1"/>
            </p:cNvSpPr>
            <p:nvPr/>
          </p:nvSpPr>
          <p:spPr bwMode="auto">
            <a:xfrm>
              <a:off x="2112" y="2928"/>
              <a:ext cx="4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4" name="Text Box 25"/>
            <p:cNvSpPr txBox="1">
              <a:spLocks noChangeArrowheads="1"/>
            </p:cNvSpPr>
            <p:nvPr/>
          </p:nvSpPr>
          <p:spPr bwMode="auto">
            <a:xfrm>
              <a:off x="2640" y="2742"/>
              <a:ext cx="38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800"/>
                <a:t>=</a:t>
              </a:r>
            </a:p>
          </p:txBody>
        </p:sp>
        <p:sp>
          <p:nvSpPr>
            <p:cNvPr id="26635" name="Text Box 26"/>
            <p:cNvSpPr txBox="1">
              <a:spLocks noChangeArrowheads="1"/>
            </p:cNvSpPr>
            <p:nvPr/>
          </p:nvSpPr>
          <p:spPr bwMode="auto">
            <a:xfrm>
              <a:off x="2928" y="2592"/>
              <a:ext cx="81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800"/>
                <a:t>$10.26</a:t>
              </a:r>
              <a:endParaRPr lang="en-US" altLang="en-US" sz="2800" baseline="-25000"/>
            </a:p>
          </p:txBody>
        </p:sp>
        <p:sp>
          <p:nvSpPr>
            <p:cNvPr id="26636" name="Text Box 27"/>
            <p:cNvSpPr txBox="1">
              <a:spLocks noChangeArrowheads="1"/>
            </p:cNvSpPr>
            <p:nvPr/>
          </p:nvSpPr>
          <p:spPr bwMode="auto">
            <a:xfrm>
              <a:off x="3024" y="2880"/>
              <a:ext cx="67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800"/>
                <a:t>r</a:t>
              </a:r>
              <a:r>
                <a:rPr lang="en-US" altLang="en-US" sz="2800" baseline="-25000"/>
                <a:t>Per</a:t>
              </a:r>
            </a:p>
          </p:txBody>
        </p:sp>
        <p:sp>
          <p:nvSpPr>
            <p:cNvPr id="26637" name="Line 28"/>
            <p:cNvSpPr>
              <a:spLocks noChangeShapeType="1"/>
            </p:cNvSpPr>
            <p:nvPr/>
          </p:nvSpPr>
          <p:spPr bwMode="auto">
            <a:xfrm>
              <a:off x="2976" y="2928"/>
              <a:ext cx="5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8" name="Text Box 29"/>
            <p:cNvSpPr txBox="1">
              <a:spLocks noChangeArrowheads="1"/>
            </p:cNvSpPr>
            <p:nvPr/>
          </p:nvSpPr>
          <p:spPr bwMode="auto">
            <a:xfrm>
              <a:off x="336" y="3414"/>
              <a:ext cx="76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800"/>
                <a:t>r</a:t>
              </a:r>
              <a:r>
                <a:rPr lang="en-US" altLang="en-US" sz="2800" baseline="-25000"/>
                <a:t>Per </a:t>
              </a:r>
              <a:r>
                <a:rPr lang="en-US" altLang="en-US" sz="2800"/>
                <a:t>=</a:t>
              </a:r>
              <a:endParaRPr lang="en-US" altLang="en-US" sz="2800" baseline="-25000"/>
            </a:p>
          </p:txBody>
        </p:sp>
        <p:sp>
          <p:nvSpPr>
            <p:cNvPr id="26639" name="Text Box 30"/>
            <p:cNvSpPr txBox="1">
              <a:spLocks noChangeArrowheads="1"/>
            </p:cNvSpPr>
            <p:nvPr/>
          </p:nvSpPr>
          <p:spPr bwMode="auto">
            <a:xfrm>
              <a:off x="1056" y="3270"/>
              <a:ext cx="81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800"/>
                <a:t>$10.26</a:t>
              </a:r>
              <a:endParaRPr lang="en-US" altLang="en-US" sz="2800" baseline="-25000"/>
            </a:p>
          </p:txBody>
        </p:sp>
        <p:sp>
          <p:nvSpPr>
            <p:cNvPr id="26640" name="Line 31"/>
            <p:cNvSpPr>
              <a:spLocks noChangeShapeType="1"/>
            </p:cNvSpPr>
            <p:nvPr/>
          </p:nvSpPr>
          <p:spPr bwMode="auto">
            <a:xfrm>
              <a:off x="960" y="3600"/>
              <a:ext cx="8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1" name="Text Box 32"/>
            <p:cNvSpPr txBox="1">
              <a:spLocks noChangeArrowheads="1"/>
            </p:cNvSpPr>
            <p:nvPr/>
          </p:nvSpPr>
          <p:spPr bwMode="auto">
            <a:xfrm>
              <a:off x="912" y="3558"/>
              <a:ext cx="110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800"/>
                <a:t>$114.00</a:t>
              </a:r>
            </a:p>
          </p:txBody>
        </p:sp>
        <p:sp>
          <p:nvSpPr>
            <p:cNvPr id="26642" name="Text Box 33"/>
            <p:cNvSpPr txBox="1">
              <a:spLocks noChangeArrowheads="1"/>
            </p:cNvSpPr>
            <p:nvPr/>
          </p:nvSpPr>
          <p:spPr bwMode="auto">
            <a:xfrm>
              <a:off x="1872" y="3414"/>
              <a:ext cx="374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800"/>
                <a:t>= 9%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224DE92-3872-4EB3-8973-350866F2C17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400"/>
          </a:p>
        </p:txBody>
      </p:sp>
      <p:sp>
        <p:nvSpPr>
          <p:cNvPr id="27651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Prfd notes</a:t>
            </a:r>
          </a:p>
        </p:txBody>
      </p:sp>
      <p:sp>
        <p:nvSpPr>
          <p:cNvPr id="21508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52400" y="1447800"/>
            <a:ext cx="8839200" cy="4729164"/>
          </a:xfrm>
        </p:spPr>
        <p:txBody>
          <a:bodyPr/>
          <a:lstStyle/>
          <a:p>
            <a:pPr eaLnBrk="1" hangingPunct="1"/>
            <a:r>
              <a:rPr lang="en-US" altLang="en-US" sz="3100" dirty="0"/>
              <a:t>Flotation costs for preferred significant, so captured</a:t>
            </a:r>
          </a:p>
          <a:p>
            <a:pPr lvl="1"/>
            <a:r>
              <a:rPr lang="en-US" altLang="en-US" dirty="0"/>
              <a:t>   </a:t>
            </a:r>
          </a:p>
          <a:p>
            <a:pPr eaLnBrk="1" hangingPunct="1"/>
            <a:r>
              <a:rPr lang="en-US" altLang="en-US" dirty="0"/>
              <a:t>Preferred dividends are not deductible,</a:t>
            </a:r>
          </a:p>
          <a:p>
            <a:pPr lvl="1"/>
            <a:r>
              <a:rPr lang="en-US" altLang="en-US" dirty="0"/>
              <a:t>   </a:t>
            </a:r>
          </a:p>
          <a:p>
            <a:pPr eaLnBrk="1" hangingPunct="1"/>
            <a:r>
              <a:rPr lang="en-US" altLang="en-US" dirty="0"/>
              <a:t>Use Nominal </a:t>
            </a:r>
            <a:r>
              <a:rPr lang="en-US" altLang="en-US" dirty="0" err="1"/>
              <a:t>r</a:t>
            </a:r>
            <a:r>
              <a:rPr lang="en-US" altLang="en-US" baseline="-25000" dirty="0" err="1"/>
              <a:t>ps</a:t>
            </a:r>
            <a:endParaRPr lang="en-US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223C5C2-ACF9-44C6-AD45-EB9268D2D72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400"/>
          </a:p>
        </p:txBody>
      </p:sp>
      <p:sp>
        <p:nvSpPr>
          <p:cNvPr id="28675" name="Rectangle 9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dirty="0"/>
              <a:t>Is preferred stock more or less risky</a:t>
            </a:r>
            <a:br>
              <a:rPr lang="en-US" altLang="en-US" dirty="0"/>
            </a:br>
            <a:r>
              <a:rPr lang="en-US" altLang="en-US" dirty="0"/>
              <a:t> to investors than debt?</a:t>
            </a:r>
          </a:p>
        </p:txBody>
      </p:sp>
      <p:sp>
        <p:nvSpPr>
          <p:cNvPr id="22532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228600" y="1397217"/>
            <a:ext cx="8286750" cy="4959134"/>
          </a:xfrm>
        </p:spPr>
        <p:txBody>
          <a:bodyPr/>
          <a:lstStyle/>
          <a:p>
            <a:pPr eaLnBrk="1" hangingPunct="1"/>
            <a:r>
              <a:rPr lang="en-US" altLang="en-US" dirty="0"/>
              <a:t>More risky:</a:t>
            </a:r>
          </a:p>
          <a:p>
            <a:pPr lvl="1"/>
            <a:r>
              <a:rPr lang="en-US" altLang="en-US" dirty="0"/>
              <a:t>    </a:t>
            </a:r>
          </a:p>
          <a:p>
            <a:pPr eaLnBrk="1" hangingPunct="1"/>
            <a:r>
              <a:rPr lang="en-US" altLang="en-US" dirty="0"/>
              <a:t>However, firms want to pay preferred dividend.</a:t>
            </a:r>
          </a:p>
          <a:p>
            <a:pPr lvl="1"/>
            <a:r>
              <a:rPr lang="en-US" altLang="en-US" dirty="0"/>
              <a:t>Otherwise,</a:t>
            </a:r>
          </a:p>
          <a:p>
            <a:pPr lvl="1"/>
            <a:r>
              <a:rPr lang="en-US" altLang="en-US" dirty="0"/>
              <a:t> (1)</a:t>
            </a:r>
          </a:p>
          <a:p>
            <a:pPr lvl="1"/>
            <a:r>
              <a:rPr lang="en-US" altLang="en-US" dirty="0"/>
              <a:t> (2)</a:t>
            </a:r>
          </a:p>
          <a:p>
            <a:pPr lvl="1"/>
            <a:r>
              <a:rPr lang="en-US" altLang="en-US" dirty="0"/>
              <a:t> (3)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3F3F02D-E396-4700-A23D-9E60652B7C6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400"/>
          </a:p>
        </p:txBody>
      </p:sp>
      <p:sp>
        <p:nvSpPr>
          <p:cNvPr id="31747" name="Rectangle 7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600" dirty="0"/>
              <a:t>Two ways Co.’s raise common equity?</a:t>
            </a:r>
          </a:p>
        </p:txBody>
      </p:sp>
      <p:sp>
        <p:nvSpPr>
          <p:cNvPr id="25604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228600" y="1524000"/>
            <a:ext cx="8286750" cy="4652964"/>
          </a:xfrm>
        </p:spPr>
        <p:txBody>
          <a:bodyPr/>
          <a:lstStyle/>
          <a:p>
            <a:pPr eaLnBrk="1" hangingPunct="1"/>
            <a:r>
              <a:rPr lang="en-US" altLang="en-US" dirty="0"/>
              <a:t>Directly:</a:t>
            </a:r>
          </a:p>
          <a:p>
            <a:pPr lvl="1"/>
            <a:r>
              <a:rPr lang="en-US" altLang="en-US" dirty="0"/>
              <a:t>   </a:t>
            </a:r>
          </a:p>
          <a:p>
            <a:pPr eaLnBrk="1" hangingPunct="1"/>
            <a:r>
              <a:rPr lang="en-US" altLang="en-US" dirty="0"/>
              <a:t>Indirectly:</a:t>
            </a:r>
          </a:p>
          <a:p>
            <a:pPr lvl="1"/>
            <a:r>
              <a:rPr lang="en-US" altLang="en-US" dirty="0"/>
              <a:t> 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33F373C-4440-4786-A2D8-CEF094E454F2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400"/>
          </a:p>
        </p:txBody>
      </p:sp>
      <p:sp>
        <p:nvSpPr>
          <p:cNvPr id="32771" name="Rectangle 103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Why a cost for reinvested earnings?</a:t>
            </a:r>
          </a:p>
        </p:txBody>
      </p:sp>
      <p:sp>
        <p:nvSpPr>
          <p:cNvPr id="26628" name="Rectangle 1033"/>
          <p:cNvSpPr>
            <a:spLocks noGrp="1" noChangeArrowheads="1"/>
          </p:cNvSpPr>
          <p:nvPr>
            <p:ph type="body" idx="1"/>
          </p:nvPr>
        </p:nvSpPr>
        <p:spPr>
          <a:xfrm>
            <a:off x="152400" y="1447800"/>
            <a:ext cx="8763000" cy="4729164"/>
          </a:xfrm>
        </p:spPr>
        <p:txBody>
          <a:bodyPr/>
          <a:lstStyle/>
          <a:p>
            <a:pPr eaLnBrk="1" hangingPunct="1"/>
            <a:r>
              <a:rPr lang="en-US" altLang="en-US" dirty="0"/>
              <a:t>Earnings can be reinvested or paid out as dividends.</a:t>
            </a:r>
          </a:p>
          <a:p>
            <a:pPr eaLnBrk="1" hangingPunct="1"/>
            <a:r>
              <a:rPr lang="en-US" altLang="en-US" dirty="0"/>
              <a:t>Investors could buy other securities, earning a return.</a:t>
            </a:r>
          </a:p>
          <a:p>
            <a:pPr eaLnBrk="1" hangingPunct="1"/>
            <a:r>
              <a:rPr lang="en-US" altLang="en-US" dirty="0"/>
              <a:t>Thus, there is an opportunity cost if earnings are reinvested.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8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D7595DC-3242-4E80-B964-D55D5C98609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400"/>
          </a:p>
        </p:txBody>
      </p:sp>
      <p:sp>
        <p:nvSpPr>
          <p:cNvPr id="33795" name="Rectangle 9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Cost for Reinvested Earnings (Continued)</a:t>
            </a:r>
          </a:p>
        </p:txBody>
      </p:sp>
      <p:sp>
        <p:nvSpPr>
          <p:cNvPr id="27652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152400" y="1397217"/>
            <a:ext cx="8763000" cy="4779747"/>
          </a:xfrm>
        </p:spPr>
        <p:txBody>
          <a:bodyPr/>
          <a:lstStyle/>
          <a:p>
            <a:pPr eaLnBrk="1" hangingPunct="1"/>
            <a:r>
              <a:rPr lang="en-US" altLang="en-US" dirty="0"/>
              <a:t>Opportunity cost: </a:t>
            </a:r>
          </a:p>
          <a:p>
            <a:pPr lvl="1"/>
            <a:r>
              <a:rPr lang="en-US" altLang="en-US" dirty="0"/>
              <a:t>return stockholders could earn on alternative investments of equal risk.</a:t>
            </a:r>
          </a:p>
          <a:p>
            <a:pPr eaLnBrk="1" hangingPunct="1"/>
            <a:r>
              <a:rPr lang="en-US" altLang="en-US" dirty="0"/>
              <a:t>Could buy similar stocks &amp; earn </a:t>
            </a:r>
            <a:r>
              <a:rPr lang="en-US" altLang="en-US" dirty="0" err="1"/>
              <a:t>r</a:t>
            </a:r>
            <a:r>
              <a:rPr lang="en-US" altLang="en-US" baseline="-25000" dirty="0" err="1"/>
              <a:t>s</a:t>
            </a:r>
            <a:r>
              <a:rPr lang="en-US" altLang="en-US" dirty="0"/>
              <a:t>, or Co. could repurchase its own stock &amp; earn </a:t>
            </a:r>
            <a:r>
              <a:rPr lang="en-US" altLang="en-US" dirty="0" err="1"/>
              <a:t>r</a:t>
            </a:r>
            <a:r>
              <a:rPr lang="en-US" altLang="en-US" baseline="-25000" dirty="0" err="1"/>
              <a:t>s</a:t>
            </a:r>
            <a:r>
              <a:rPr lang="en-US" altLang="en-US" dirty="0"/>
              <a:t>.  </a:t>
            </a:r>
          </a:p>
          <a:p>
            <a:pPr eaLnBrk="1" hangingPunct="1"/>
            <a:r>
              <a:rPr lang="en-US" altLang="en-US" dirty="0"/>
              <a:t>So, </a:t>
            </a:r>
            <a:r>
              <a:rPr lang="en-US" altLang="en-US" dirty="0" err="1"/>
              <a:t>r</a:t>
            </a:r>
            <a:r>
              <a:rPr lang="en-US" altLang="en-US" baseline="-25000" dirty="0" err="1"/>
              <a:t>s</a:t>
            </a:r>
            <a:r>
              <a:rPr lang="en-US" altLang="en-US" dirty="0"/>
              <a:t>, = cost of reinvested earnings &amp; cost of C.E.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2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590E8C8-B439-4C02-8532-16FFDBCF2DBD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400"/>
          </a:p>
        </p:txBody>
      </p:sp>
      <p:sp>
        <p:nvSpPr>
          <p:cNvPr id="34819" name="Rectangle 7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dirty="0"/>
              <a:t>Three ways to determine </a:t>
            </a:r>
            <a:br>
              <a:rPr lang="en-US" altLang="en-US" dirty="0"/>
            </a:br>
            <a:r>
              <a:rPr lang="en-US" altLang="en-US" dirty="0"/>
              <a:t>cost of equity, </a:t>
            </a:r>
            <a:r>
              <a:rPr lang="en-US" altLang="en-US" dirty="0" err="1"/>
              <a:t>r</a:t>
            </a:r>
            <a:r>
              <a:rPr lang="en-US" altLang="en-US" baseline="-25000" dirty="0" err="1"/>
              <a:t>s</a:t>
            </a:r>
            <a:r>
              <a:rPr lang="en-US" altLang="en-US" dirty="0"/>
              <a:t>: </a:t>
            </a:r>
          </a:p>
        </p:txBody>
      </p:sp>
      <p:sp>
        <p:nvSpPr>
          <p:cNvPr id="21508" name="Rectangle 6"/>
          <p:cNvSpPr>
            <a:spLocks noChangeArrowheads="1"/>
          </p:cNvSpPr>
          <p:nvPr/>
        </p:nvSpPr>
        <p:spPr bwMode="auto">
          <a:xfrm>
            <a:off x="76200" y="1600200"/>
            <a:ext cx="8915400" cy="329064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90488" tIns="44450" rIns="90488" bIns="44450">
            <a:spAutoFit/>
          </a:bodyPr>
          <a:lstStyle/>
          <a:p>
            <a:pPr>
              <a:lnSpc>
                <a:spcPct val="140000"/>
              </a:lnSpc>
              <a:spcBef>
                <a:spcPct val="30000"/>
              </a:spcBef>
              <a:tabLst>
                <a:tab pos="519113" algn="l"/>
              </a:tabLst>
              <a:defRPr/>
            </a:pPr>
            <a:r>
              <a:rPr lang="en-US" sz="3200" dirty="0">
                <a:latin typeface="Tahoma" pitchFamily="34" charset="0"/>
              </a:rPr>
              <a:t>1.	CAPM:  r</a:t>
            </a:r>
            <a:r>
              <a:rPr lang="en-US" sz="3200" baseline="-25000" dirty="0">
                <a:latin typeface="Tahoma" pitchFamily="34" charset="0"/>
              </a:rPr>
              <a:t>s</a:t>
            </a:r>
            <a:r>
              <a:rPr lang="en-US" sz="3200" dirty="0">
                <a:latin typeface="Tahoma" pitchFamily="34" charset="0"/>
              </a:rPr>
              <a:t> = r</a:t>
            </a:r>
            <a:r>
              <a:rPr lang="en-US" sz="3200" baseline="-25000" dirty="0">
                <a:latin typeface="Tahoma" pitchFamily="34" charset="0"/>
              </a:rPr>
              <a:t>RF</a:t>
            </a:r>
            <a:r>
              <a:rPr lang="en-US" sz="3200" dirty="0">
                <a:latin typeface="Tahoma" pitchFamily="34" charset="0"/>
              </a:rPr>
              <a:t> + (r</a:t>
            </a:r>
            <a:r>
              <a:rPr lang="en-US" sz="3200" baseline="-25000" dirty="0">
                <a:latin typeface="Tahoma" pitchFamily="34" charset="0"/>
              </a:rPr>
              <a:t>M</a:t>
            </a:r>
            <a:r>
              <a:rPr lang="en-US" sz="3200" dirty="0">
                <a:latin typeface="Tahoma" pitchFamily="34" charset="0"/>
              </a:rPr>
              <a:t> </a:t>
            </a:r>
            <a:r>
              <a:rPr lang="en-US" sz="3200" dirty="0">
                <a:latin typeface="Arial" charset="0"/>
              </a:rPr>
              <a:t>–</a:t>
            </a:r>
            <a:r>
              <a:rPr lang="en-US" sz="3200" dirty="0">
                <a:latin typeface="Tahoma" pitchFamily="34" charset="0"/>
              </a:rPr>
              <a:t> r</a:t>
            </a:r>
            <a:r>
              <a:rPr lang="en-US" sz="3200" baseline="-25000" dirty="0">
                <a:latin typeface="Tahoma" pitchFamily="34" charset="0"/>
              </a:rPr>
              <a:t>RF</a:t>
            </a:r>
            <a:r>
              <a:rPr lang="en-US" sz="3200" dirty="0">
                <a:latin typeface="Tahoma" pitchFamily="34" charset="0"/>
              </a:rPr>
              <a:t>)b</a:t>
            </a:r>
          </a:p>
          <a:p>
            <a:pPr>
              <a:spcBef>
                <a:spcPct val="10000"/>
              </a:spcBef>
              <a:tabLst>
                <a:tab pos="519113" algn="l"/>
              </a:tabLst>
              <a:defRPr/>
            </a:pPr>
            <a:r>
              <a:rPr lang="en-US" sz="3200" dirty="0">
                <a:latin typeface="Tahoma" pitchFamily="34" charset="0"/>
              </a:rPr>
              <a:t>			    = r</a:t>
            </a:r>
            <a:r>
              <a:rPr lang="en-US" sz="3200" baseline="-25000" dirty="0">
                <a:latin typeface="Tahoma" pitchFamily="34" charset="0"/>
              </a:rPr>
              <a:t>RF</a:t>
            </a:r>
            <a:r>
              <a:rPr lang="en-US" sz="3200" dirty="0">
                <a:latin typeface="Tahoma" pitchFamily="34" charset="0"/>
              </a:rPr>
              <a:t> + (RP</a:t>
            </a:r>
            <a:r>
              <a:rPr lang="en-US" sz="3200" baseline="-25000" dirty="0">
                <a:latin typeface="Tahoma" pitchFamily="34" charset="0"/>
              </a:rPr>
              <a:t>M</a:t>
            </a:r>
            <a:r>
              <a:rPr lang="en-US" sz="3200" dirty="0">
                <a:latin typeface="Tahoma" pitchFamily="34" charset="0"/>
              </a:rPr>
              <a:t>)b.</a:t>
            </a:r>
          </a:p>
          <a:p>
            <a:pPr>
              <a:lnSpc>
                <a:spcPct val="140000"/>
              </a:lnSpc>
              <a:spcBef>
                <a:spcPct val="30000"/>
              </a:spcBef>
              <a:tabLst>
                <a:tab pos="519113" algn="l"/>
              </a:tabLst>
              <a:defRPr/>
            </a:pPr>
            <a:r>
              <a:rPr lang="en-US" sz="3200" dirty="0">
                <a:latin typeface="Tahoma" pitchFamily="34" charset="0"/>
              </a:rPr>
              <a:t>2.	DCF:  r</a:t>
            </a:r>
            <a:r>
              <a:rPr lang="en-US" sz="3200" baseline="-25000" dirty="0">
                <a:latin typeface="Tahoma" pitchFamily="34" charset="0"/>
              </a:rPr>
              <a:t>s</a:t>
            </a:r>
            <a:r>
              <a:rPr lang="en-US" sz="3200" dirty="0">
                <a:latin typeface="Tahoma" pitchFamily="34" charset="0"/>
              </a:rPr>
              <a:t> = (D</a:t>
            </a:r>
            <a:r>
              <a:rPr lang="en-US" sz="3200" baseline="-25000" dirty="0">
                <a:latin typeface="Tahoma" pitchFamily="34" charset="0"/>
              </a:rPr>
              <a:t>1</a:t>
            </a:r>
            <a:r>
              <a:rPr lang="en-US" sz="3200" dirty="0">
                <a:latin typeface="Tahoma" pitchFamily="34" charset="0"/>
              </a:rPr>
              <a:t>/P</a:t>
            </a:r>
            <a:r>
              <a:rPr lang="en-US" sz="3200" baseline="-25000" dirty="0">
                <a:latin typeface="Tahoma" pitchFamily="34" charset="0"/>
              </a:rPr>
              <a:t>0</a:t>
            </a:r>
            <a:r>
              <a:rPr lang="en-US" sz="3200" dirty="0">
                <a:latin typeface="Tahoma" pitchFamily="34" charset="0"/>
              </a:rPr>
              <a:t>) + g.</a:t>
            </a:r>
          </a:p>
          <a:p>
            <a:pPr marL="519113" indent="-519113">
              <a:spcBef>
                <a:spcPct val="30000"/>
              </a:spcBef>
              <a:tabLst>
                <a:tab pos="519113" algn="l"/>
              </a:tabLst>
              <a:defRPr/>
            </a:pPr>
            <a:r>
              <a:rPr lang="en-US" sz="3200" dirty="0">
                <a:latin typeface="Tahoma" pitchFamily="34" charset="0"/>
              </a:rPr>
              <a:t>3. </a:t>
            </a:r>
            <a:r>
              <a:rPr lang="en-US" sz="3100" dirty="0">
                <a:latin typeface="Tahoma" pitchFamily="34" charset="0"/>
              </a:rPr>
              <a:t>Own-Bond-Yield + Judgmental-Risk Premium:  </a:t>
            </a:r>
            <a:r>
              <a:rPr lang="en-US" sz="3200" dirty="0">
                <a:latin typeface="Tahoma" pitchFamily="34" charset="0"/>
              </a:rPr>
              <a:t>r</a:t>
            </a:r>
            <a:r>
              <a:rPr lang="en-US" sz="3200" baseline="-25000" dirty="0">
                <a:latin typeface="Tahoma" pitchFamily="34" charset="0"/>
              </a:rPr>
              <a:t>s</a:t>
            </a:r>
            <a:r>
              <a:rPr lang="en-US" sz="3200" dirty="0">
                <a:latin typeface="Tahoma" pitchFamily="34" charset="0"/>
              </a:rPr>
              <a:t> = r</a:t>
            </a:r>
            <a:r>
              <a:rPr lang="en-US" sz="3200" baseline="-25000" dirty="0">
                <a:latin typeface="Tahoma" pitchFamily="34" charset="0"/>
              </a:rPr>
              <a:t>d</a:t>
            </a:r>
            <a:r>
              <a:rPr lang="en-US" sz="3200" dirty="0">
                <a:latin typeface="Tahoma" pitchFamily="34" charset="0"/>
              </a:rPr>
              <a:t> + Bond RP.</a:t>
            </a: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209675"/>
          </a:xfrm>
        </p:spPr>
        <p:txBody>
          <a:bodyPr/>
          <a:lstStyle/>
          <a:p>
            <a:r>
              <a:rPr lang="en-US" altLang="en-US" dirty="0"/>
              <a:t>Equity Cost Components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1052513" y="1717675"/>
            <a:ext cx="7764462" cy="4878388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sz="2800" dirty="0"/>
              <a:t>Risk free = 5.6%</a:t>
            </a:r>
          </a:p>
          <a:p>
            <a:r>
              <a:rPr lang="en-US" altLang="en-US" sz="2800" dirty="0" err="1"/>
              <a:t>Mrkt</a:t>
            </a:r>
            <a:r>
              <a:rPr lang="en-US" altLang="en-US" sz="2800" dirty="0"/>
              <a:t> Risk Prem = 6%</a:t>
            </a:r>
          </a:p>
          <a:p>
            <a:r>
              <a:rPr lang="en-US" altLang="en-US" sz="2800" dirty="0"/>
              <a:t>Beta = 1.2</a:t>
            </a:r>
          </a:p>
          <a:p>
            <a:r>
              <a:rPr lang="en-US" altLang="en-US" sz="2800" dirty="0" err="1"/>
              <a:t>Div</a:t>
            </a:r>
            <a:r>
              <a:rPr lang="en-US" altLang="en-US" sz="2800" dirty="0"/>
              <a:t> today = $3.12</a:t>
            </a:r>
          </a:p>
          <a:p>
            <a:r>
              <a:rPr lang="en-US" altLang="en-US" sz="2800" dirty="0"/>
              <a:t>Price today = $50</a:t>
            </a:r>
          </a:p>
          <a:p>
            <a:r>
              <a:rPr lang="en-US" altLang="en-US" sz="2800" dirty="0"/>
              <a:t>Growth = 5.8%</a:t>
            </a:r>
          </a:p>
          <a:p>
            <a:r>
              <a:rPr lang="en-US" altLang="en-US" sz="2800" dirty="0"/>
              <a:t>Cost of Debt = 10%</a:t>
            </a:r>
          </a:p>
          <a:p>
            <a:r>
              <a:rPr lang="en-US" altLang="en-US" sz="2800" dirty="0"/>
              <a:t>Risk prem (atop bond) = 3.2%</a:t>
            </a:r>
          </a:p>
          <a:p>
            <a:r>
              <a:rPr lang="en-US" altLang="en-US" sz="2800" dirty="0"/>
              <a:t>3,000,000 </a:t>
            </a:r>
            <a:r>
              <a:rPr lang="en-US" altLang="en-US" sz="2800" dirty="0" err="1"/>
              <a:t>shs</a:t>
            </a:r>
            <a:r>
              <a:rPr lang="en-US" altLang="en-US" sz="2800" dirty="0"/>
              <a:t> outstanding</a:t>
            </a:r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658EAD9-9330-43B0-B3A9-3D761E01482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383651A-2414-4AE4-9F7D-CB72E4EAA21F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400"/>
          </a:p>
        </p:txBody>
      </p:sp>
      <p:sp>
        <p:nvSpPr>
          <p:cNvPr id="36867" name="Rectangle 1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3600" dirty="0"/>
              <a:t>CAPM Cost of Equity =? </a:t>
            </a:r>
            <a:br>
              <a:rPr lang="en-US" altLang="en-US" sz="3600" dirty="0"/>
            </a:br>
            <a:r>
              <a:rPr lang="en-US" altLang="en-US" sz="3600" dirty="0"/>
              <a:t> </a:t>
            </a:r>
            <a:r>
              <a:rPr lang="en-US" altLang="en-US" sz="3600" dirty="0" err="1"/>
              <a:t>r</a:t>
            </a:r>
            <a:r>
              <a:rPr lang="en-US" altLang="en-US" sz="3600" baseline="-25000" dirty="0" err="1"/>
              <a:t>RF</a:t>
            </a:r>
            <a:r>
              <a:rPr lang="en-US" altLang="en-US" sz="3600" dirty="0"/>
              <a:t> = 5.6%, RP</a:t>
            </a:r>
            <a:r>
              <a:rPr lang="en-US" altLang="en-US" sz="3600" baseline="-25000" dirty="0"/>
              <a:t>M</a:t>
            </a:r>
            <a:r>
              <a:rPr lang="en-US" altLang="en-US" sz="3600" dirty="0"/>
              <a:t> = 6%, b = 1.2</a:t>
            </a:r>
          </a:p>
        </p:txBody>
      </p:sp>
      <p:grpSp>
        <p:nvGrpSpPr>
          <p:cNvPr id="36868" name="Group 19"/>
          <p:cNvGrpSpPr>
            <a:grpSpLocks/>
          </p:cNvGrpSpPr>
          <p:nvPr/>
        </p:nvGrpSpPr>
        <p:grpSpPr bwMode="auto">
          <a:xfrm>
            <a:off x="1752600" y="2590800"/>
            <a:ext cx="6235700" cy="1655763"/>
            <a:chOff x="1104" y="1632"/>
            <a:chExt cx="3928" cy="1043"/>
          </a:xfrm>
        </p:grpSpPr>
        <p:sp>
          <p:nvSpPr>
            <p:cNvPr id="36869" name="Rectangle 10"/>
            <p:cNvSpPr>
              <a:spLocks noChangeArrowheads="1"/>
            </p:cNvSpPr>
            <p:nvPr/>
          </p:nvSpPr>
          <p:spPr bwMode="auto">
            <a:xfrm>
              <a:off x="1104" y="1632"/>
              <a:ext cx="2155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r</a:t>
              </a:r>
              <a:r>
                <a:rPr lang="en-US" altLang="en-US" baseline="-25000"/>
                <a:t>s</a:t>
              </a:r>
              <a:r>
                <a:rPr lang="en-US" altLang="en-US"/>
                <a:t> = r</a:t>
              </a:r>
              <a:r>
                <a:rPr lang="en-US" altLang="en-US" baseline="-25000"/>
                <a:t>RF</a:t>
              </a:r>
              <a:r>
                <a:rPr lang="en-US" altLang="en-US"/>
                <a:t> + (RP</a:t>
              </a:r>
              <a:r>
                <a:rPr lang="en-US" altLang="en-US" baseline="-25000"/>
                <a:t>M </a:t>
              </a:r>
              <a:r>
                <a:rPr lang="en-US" altLang="en-US"/>
                <a:t>)b</a:t>
              </a:r>
            </a:p>
          </p:txBody>
        </p:sp>
        <p:sp>
          <p:nvSpPr>
            <p:cNvPr id="36870" name="Rectangle 14"/>
            <p:cNvSpPr>
              <a:spLocks noChangeArrowheads="1"/>
            </p:cNvSpPr>
            <p:nvPr/>
          </p:nvSpPr>
          <p:spPr bwMode="auto">
            <a:xfrm>
              <a:off x="1364" y="2312"/>
              <a:ext cx="3668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= 5.6% + (6.0%)1.2 = 12.8%.</a:t>
              </a:r>
            </a:p>
          </p:txBody>
        </p:sp>
      </p:grp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3202833-686E-480B-9B1F-5753F40380CD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en-US" sz="1400"/>
          </a:p>
        </p:txBody>
      </p:sp>
      <p:sp>
        <p:nvSpPr>
          <p:cNvPr id="3789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Issues in Using CAPM</a:t>
            </a:r>
          </a:p>
        </p:txBody>
      </p:sp>
      <p:sp>
        <p:nvSpPr>
          <p:cNvPr id="31748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373062" y="1676400"/>
            <a:ext cx="8618538" cy="4456113"/>
          </a:xfrm>
        </p:spPr>
        <p:txBody>
          <a:bodyPr/>
          <a:lstStyle/>
          <a:p>
            <a:pPr eaLnBrk="1" hangingPunct="1"/>
            <a:r>
              <a:rPr lang="en-US" altLang="en-US" dirty="0"/>
              <a:t>Most analysts use rate on a long-term (10-20 </a:t>
            </a:r>
            <a:r>
              <a:rPr lang="en-US" altLang="en-US" dirty="0" err="1"/>
              <a:t>yr</a:t>
            </a:r>
            <a:r>
              <a:rPr lang="en-US" altLang="en-US" dirty="0"/>
              <a:t>) US Treasury bond as an estimate of </a:t>
            </a:r>
            <a:r>
              <a:rPr lang="en-US" altLang="en-US" dirty="0" err="1"/>
              <a:t>r</a:t>
            </a:r>
            <a:r>
              <a:rPr lang="en-US" altLang="en-US" baseline="-25000" dirty="0" err="1"/>
              <a:t>RF</a:t>
            </a:r>
            <a:r>
              <a:rPr lang="en-US" altLang="en-US" dirty="0"/>
              <a:t>.  </a:t>
            </a:r>
          </a:p>
          <a:p>
            <a:pPr eaLnBrk="1" hangingPunct="1"/>
            <a:r>
              <a:rPr lang="en-US" altLang="en-US" dirty="0"/>
              <a:t>I.e. use Bloomberg.com for US Treasury Quotes</a:t>
            </a:r>
          </a:p>
        </p:txBody>
      </p:sp>
      <p:sp>
        <p:nvSpPr>
          <p:cNvPr id="37893" name="Rectangle 23"/>
          <p:cNvSpPr>
            <a:spLocks noChangeArrowheads="1"/>
          </p:cNvSpPr>
          <p:nvPr/>
        </p:nvSpPr>
        <p:spPr bwMode="auto">
          <a:xfrm>
            <a:off x="7626350" y="5846763"/>
            <a:ext cx="11445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(More…)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8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A45BB6A-6E13-48A5-A9C1-D1A03C4B0BD7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400"/>
          </a:p>
        </p:txBody>
      </p:sp>
      <p:sp>
        <p:nvSpPr>
          <p:cNvPr id="3891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Issues in Using CAPM (Continued)</a:t>
            </a:r>
          </a:p>
        </p:txBody>
      </p:sp>
      <p:sp>
        <p:nvSpPr>
          <p:cNvPr id="32772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04800" y="1524000"/>
            <a:ext cx="8610600" cy="4608513"/>
          </a:xfrm>
        </p:spPr>
        <p:txBody>
          <a:bodyPr/>
          <a:lstStyle/>
          <a:p>
            <a:pPr eaLnBrk="1" hangingPunct="1"/>
            <a:r>
              <a:rPr lang="en-US" altLang="en-US" dirty="0"/>
              <a:t>Most analysts use a rate of 3.5% to 6% for market risk premium (RP</a:t>
            </a:r>
            <a:r>
              <a:rPr lang="en-US" altLang="en-US" baseline="-25000" dirty="0"/>
              <a:t>M</a:t>
            </a:r>
            <a:r>
              <a:rPr lang="en-US" altLang="en-US" dirty="0"/>
              <a:t>)</a:t>
            </a:r>
          </a:p>
          <a:p>
            <a:pPr eaLnBrk="1" hangingPunct="1"/>
            <a:r>
              <a:rPr lang="en-US" altLang="en-US" dirty="0"/>
              <a:t>Estimates of beta vary, &amp; estimates are “noisy”</a:t>
            </a:r>
          </a:p>
          <a:p>
            <a:pPr lvl="1"/>
            <a:r>
              <a:rPr lang="en-US" altLang="en-US" dirty="0"/>
              <a:t> (have a wide confidence interval). 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2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3F68F1C-A33B-46F6-8076-06D5DDEFBEBA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en-US" sz="1400"/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4000" dirty="0"/>
              <a:t>DCF Cost of Equity, </a:t>
            </a:r>
            <a:r>
              <a:rPr lang="en-US" altLang="en-US" sz="4000" dirty="0" err="1"/>
              <a:t>r</a:t>
            </a:r>
            <a:r>
              <a:rPr lang="en-US" altLang="en-US" sz="4000" baseline="-25000" dirty="0" err="1"/>
              <a:t>s</a:t>
            </a:r>
            <a:r>
              <a:rPr lang="en-US" altLang="en-US" sz="4000" baseline="-25000" dirty="0"/>
              <a:t> </a:t>
            </a:r>
            <a:r>
              <a:rPr lang="en-US" altLang="en-US" sz="4000" dirty="0"/>
              <a:t>=?: </a:t>
            </a:r>
            <a:br>
              <a:rPr lang="en-US" altLang="en-US" sz="4000" dirty="0"/>
            </a:br>
            <a:r>
              <a:rPr lang="en-US" altLang="en-US" sz="4000" dirty="0"/>
              <a:t>D</a:t>
            </a:r>
            <a:r>
              <a:rPr lang="en-US" altLang="en-US" sz="4000" baseline="-25000" dirty="0"/>
              <a:t>0</a:t>
            </a:r>
            <a:r>
              <a:rPr lang="en-US" altLang="en-US" sz="4000" dirty="0"/>
              <a:t> = $3.12; P</a:t>
            </a:r>
            <a:r>
              <a:rPr lang="en-US" altLang="en-US" sz="4000" baseline="-25000" dirty="0"/>
              <a:t>0</a:t>
            </a:r>
            <a:r>
              <a:rPr lang="en-US" altLang="en-US" sz="4000" dirty="0"/>
              <a:t> = $50; g = 5.8%</a:t>
            </a:r>
          </a:p>
        </p:txBody>
      </p:sp>
      <p:grpSp>
        <p:nvGrpSpPr>
          <p:cNvPr id="39940" name="Group 24"/>
          <p:cNvGrpSpPr>
            <a:grpSpLocks/>
          </p:cNvGrpSpPr>
          <p:nvPr/>
        </p:nvGrpSpPr>
        <p:grpSpPr bwMode="auto">
          <a:xfrm>
            <a:off x="1219200" y="2362200"/>
            <a:ext cx="6629400" cy="4027488"/>
            <a:chOff x="768" y="1488"/>
            <a:chExt cx="4176" cy="2537"/>
          </a:xfrm>
        </p:grpSpPr>
        <p:sp>
          <p:nvSpPr>
            <p:cNvPr id="39941" name="Text Box 4"/>
            <p:cNvSpPr txBox="1">
              <a:spLocks noChangeArrowheads="1"/>
            </p:cNvSpPr>
            <p:nvPr/>
          </p:nvSpPr>
          <p:spPr bwMode="auto">
            <a:xfrm>
              <a:off x="768" y="1700"/>
              <a:ext cx="57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r</a:t>
              </a:r>
              <a:r>
                <a:rPr lang="en-US" altLang="en-US" baseline="-25000"/>
                <a:t>s</a:t>
              </a:r>
              <a:r>
                <a:rPr lang="en-US" altLang="en-US"/>
                <a:t> = </a:t>
              </a:r>
            </a:p>
          </p:txBody>
        </p:sp>
        <p:sp>
          <p:nvSpPr>
            <p:cNvPr id="39942" name="Text Box 5"/>
            <p:cNvSpPr txBox="1">
              <a:spLocks noChangeArrowheads="1"/>
            </p:cNvSpPr>
            <p:nvPr/>
          </p:nvSpPr>
          <p:spPr bwMode="auto">
            <a:xfrm>
              <a:off x="1394" y="1488"/>
              <a:ext cx="57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D</a:t>
              </a:r>
              <a:r>
                <a:rPr lang="en-US" altLang="en-US" baseline="-25000"/>
                <a:t>1</a:t>
              </a:r>
            </a:p>
          </p:txBody>
        </p:sp>
        <p:sp>
          <p:nvSpPr>
            <p:cNvPr id="39943" name="Text Box 6"/>
            <p:cNvSpPr txBox="1">
              <a:spLocks noChangeArrowheads="1"/>
            </p:cNvSpPr>
            <p:nvPr/>
          </p:nvSpPr>
          <p:spPr bwMode="auto">
            <a:xfrm>
              <a:off x="1394" y="1912"/>
              <a:ext cx="83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P</a:t>
              </a:r>
              <a:r>
                <a:rPr lang="en-US" altLang="en-US" baseline="-25000"/>
                <a:t>0</a:t>
              </a:r>
            </a:p>
          </p:txBody>
        </p:sp>
        <p:sp>
          <p:nvSpPr>
            <p:cNvPr id="39944" name="Line 7"/>
            <p:cNvSpPr>
              <a:spLocks noChangeShapeType="1"/>
            </p:cNvSpPr>
            <p:nvPr/>
          </p:nvSpPr>
          <p:spPr bwMode="auto">
            <a:xfrm>
              <a:off x="1342" y="1912"/>
              <a:ext cx="52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45" name="Text Box 8"/>
            <p:cNvSpPr txBox="1">
              <a:spLocks noChangeArrowheads="1"/>
            </p:cNvSpPr>
            <p:nvPr/>
          </p:nvSpPr>
          <p:spPr bwMode="auto">
            <a:xfrm>
              <a:off x="1969" y="1700"/>
              <a:ext cx="125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+ g =</a:t>
              </a:r>
            </a:p>
          </p:txBody>
        </p:sp>
        <p:sp>
          <p:nvSpPr>
            <p:cNvPr id="39946" name="Text Box 9"/>
            <p:cNvSpPr txBox="1">
              <a:spLocks noChangeArrowheads="1"/>
            </p:cNvSpPr>
            <p:nvPr/>
          </p:nvSpPr>
          <p:spPr bwMode="auto">
            <a:xfrm>
              <a:off x="2689" y="1488"/>
              <a:ext cx="1513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D</a:t>
              </a:r>
              <a:r>
                <a:rPr lang="en-US" altLang="en-US" baseline="-25000"/>
                <a:t>0</a:t>
              </a:r>
              <a:r>
                <a:rPr lang="en-US" altLang="en-US"/>
                <a:t>(1 + g)</a:t>
              </a:r>
            </a:p>
          </p:txBody>
        </p:sp>
        <p:sp>
          <p:nvSpPr>
            <p:cNvPr id="39947" name="Text Box 10"/>
            <p:cNvSpPr txBox="1">
              <a:spLocks noChangeArrowheads="1"/>
            </p:cNvSpPr>
            <p:nvPr/>
          </p:nvSpPr>
          <p:spPr bwMode="auto">
            <a:xfrm>
              <a:off x="2960" y="1912"/>
              <a:ext cx="88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P</a:t>
              </a:r>
              <a:r>
                <a:rPr lang="en-US" altLang="en-US" baseline="-25000"/>
                <a:t>0</a:t>
              </a:r>
            </a:p>
          </p:txBody>
        </p:sp>
        <p:sp>
          <p:nvSpPr>
            <p:cNvPr id="39948" name="Line 11"/>
            <p:cNvSpPr>
              <a:spLocks noChangeShapeType="1"/>
            </p:cNvSpPr>
            <p:nvPr/>
          </p:nvSpPr>
          <p:spPr bwMode="auto">
            <a:xfrm>
              <a:off x="2752" y="1912"/>
              <a:ext cx="99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49" name="Text Box 12"/>
            <p:cNvSpPr txBox="1">
              <a:spLocks noChangeArrowheads="1"/>
            </p:cNvSpPr>
            <p:nvPr/>
          </p:nvSpPr>
          <p:spPr bwMode="auto">
            <a:xfrm>
              <a:off x="3900" y="1700"/>
              <a:ext cx="10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+ g</a:t>
              </a:r>
            </a:p>
          </p:txBody>
        </p:sp>
        <p:sp>
          <p:nvSpPr>
            <p:cNvPr id="39950" name="Text Box 13"/>
            <p:cNvSpPr txBox="1">
              <a:spLocks noChangeArrowheads="1"/>
            </p:cNvSpPr>
            <p:nvPr/>
          </p:nvSpPr>
          <p:spPr bwMode="auto">
            <a:xfrm>
              <a:off x="977" y="2494"/>
              <a:ext cx="313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=</a:t>
              </a:r>
            </a:p>
          </p:txBody>
        </p:sp>
        <p:sp>
          <p:nvSpPr>
            <p:cNvPr id="39951" name="Text Box 14"/>
            <p:cNvSpPr txBox="1">
              <a:spLocks noChangeArrowheads="1"/>
            </p:cNvSpPr>
            <p:nvPr/>
          </p:nvSpPr>
          <p:spPr bwMode="auto">
            <a:xfrm>
              <a:off x="1342" y="2388"/>
              <a:ext cx="177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$3.12(1.058)</a:t>
              </a:r>
            </a:p>
          </p:txBody>
        </p:sp>
        <p:sp>
          <p:nvSpPr>
            <p:cNvPr id="39952" name="Text Box 15"/>
            <p:cNvSpPr txBox="1">
              <a:spLocks noChangeArrowheads="1"/>
            </p:cNvSpPr>
            <p:nvPr/>
          </p:nvSpPr>
          <p:spPr bwMode="auto">
            <a:xfrm>
              <a:off x="1603" y="2812"/>
              <a:ext cx="83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$50</a:t>
              </a:r>
            </a:p>
          </p:txBody>
        </p:sp>
        <p:sp>
          <p:nvSpPr>
            <p:cNvPr id="39953" name="Line 16"/>
            <p:cNvSpPr>
              <a:spLocks noChangeShapeType="1"/>
            </p:cNvSpPr>
            <p:nvPr/>
          </p:nvSpPr>
          <p:spPr bwMode="auto">
            <a:xfrm flipV="1">
              <a:off x="1394" y="2752"/>
              <a:ext cx="1454" cy="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54" name="Text Box 17"/>
            <p:cNvSpPr txBox="1">
              <a:spLocks noChangeArrowheads="1"/>
            </p:cNvSpPr>
            <p:nvPr/>
          </p:nvSpPr>
          <p:spPr bwMode="auto">
            <a:xfrm>
              <a:off x="2871" y="2494"/>
              <a:ext cx="1879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+ 0.058</a:t>
              </a:r>
            </a:p>
          </p:txBody>
        </p:sp>
        <p:sp>
          <p:nvSpPr>
            <p:cNvPr id="39955" name="Text Box 18"/>
            <p:cNvSpPr txBox="1">
              <a:spLocks noChangeArrowheads="1"/>
            </p:cNvSpPr>
            <p:nvPr/>
          </p:nvSpPr>
          <p:spPr bwMode="auto">
            <a:xfrm>
              <a:off x="977" y="3236"/>
              <a:ext cx="313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=</a:t>
              </a:r>
            </a:p>
          </p:txBody>
        </p:sp>
        <p:sp>
          <p:nvSpPr>
            <p:cNvPr id="39956" name="Text Box 19"/>
            <p:cNvSpPr txBox="1">
              <a:spLocks noChangeArrowheads="1"/>
            </p:cNvSpPr>
            <p:nvPr/>
          </p:nvSpPr>
          <p:spPr bwMode="auto">
            <a:xfrm>
              <a:off x="1342" y="3236"/>
              <a:ext cx="2033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6.6% + 5.8%</a:t>
              </a:r>
            </a:p>
          </p:txBody>
        </p:sp>
        <p:sp>
          <p:nvSpPr>
            <p:cNvPr id="39957" name="Text Box 20"/>
            <p:cNvSpPr txBox="1">
              <a:spLocks noChangeArrowheads="1"/>
            </p:cNvSpPr>
            <p:nvPr/>
          </p:nvSpPr>
          <p:spPr bwMode="auto">
            <a:xfrm>
              <a:off x="977" y="3660"/>
              <a:ext cx="1983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=  12.4% 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672E747-0A7B-4CEF-A8A0-478DBD8409EB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en-US" sz="1400"/>
          </a:p>
        </p:txBody>
      </p:sp>
      <p:sp>
        <p:nvSpPr>
          <p:cNvPr id="4096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Estimating Growth Rate</a:t>
            </a:r>
          </a:p>
        </p:txBody>
      </p:sp>
      <p:sp>
        <p:nvSpPr>
          <p:cNvPr id="34820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76200" y="1397217"/>
            <a:ext cx="8915400" cy="4779747"/>
          </a:xfrm>
        </p:spPr>
        <p:txBody>
          <a:bodyPr/>
          <a:lstStyle/>
          <a:p>
            <a:pPr eaLnBrk="1" hangingPunct="1"/>
            <a:r>
              <a:rPr lang="en-US" altLang="en-US" dirty="0"/>
              <a:t>1)</a:t>
            </a:r>
          </a:p>
          <a:p>
            <a:pPr eaLnBrk="1" hangingPunct="1"/>
            <a:r>
              <a:rPr lang="en-US" altLang="en-US" dirty="0"/>
              <a:t>2)</a:t>
            </a:r>
          </a:p>
          <a:p>
            <a:pPr lvl="1"/>
            <a:r>
              <a:rPr lang="en-US" altLang="en-US" dirty="0"/>
              <a:t>   </a:t>
            </a:r>
          </a:p>
          <a:p>
            <a:pPr lvl="1"/>
            <a:r>
              <a:rPr lang="en-US" altLang="en-US" dirty="0"/>
              <a:t>   </a:t>
            </a:r>
          </a:p>
          <a:p>
            <a:pPr lvl="1"/>
            <a:r>
              <a:rPr lang="en-US" altLang="en-US" dirty="0"/>
              <a:t>   </a:t>
            </a:r>
          </a:p>
          <a:p>
            <a:pPr eaLnBrk="1" hangingPunct="1"/>
            <a:r>
              <a:rPr lang="en-US" altLang="en-US" dirty="0"/>
              <a:t>3)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0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95B9BE7-0880-4456-8FC9-FE2FC8A0234A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en-US" sz="1400"/>
          </a:p>
        </p:txBody>
      </p:sp>
      <p:sp>
        <p:nvSpPr>
          <p:cNvPr id="41987" name="Rectangle 1026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1988" name="Rectangle 1027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1989" name="Rectangle 103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Earnings Retention Model</a:t>
            </a:r>
          </a:p>
        </p:txBody>
      </p:sp>
      <p:sp>
        <p:nvSpPr>
          <p:cNvPr id="35846" name="Rectangle 1035"/>
          <p:cNvSpPr>
            <a:spLocks noGrp="1" noChangeArrowheads="1"/>
          </p:cNvSpPr>
          <p:nvPr>
            <p:ph type="body" idx="1"/>
          </p:nvPr>
        </p:nvSpPr>
        <p:spPr>
          <a:xfrm>
            <a:off x="228600" y="1397217"/>
            <a:ext cx="8305800" cy="4735296"/>
          </a:xfrm>
        </p:spPr>
        <p:txBody>
          <a:bodyPr/>
          <a:lstStyle/>
          <a:p>
            <a:pPr eaLnBrk="1" hangingPunct="1"/>
            <a:r>
              <a:rPr lang="en-US" altLang="en-US" dirty="0"/>
              <a:t>Suppose company has been earning 15% on equity (ROE = 15%) &amp; been paying out 62% of its earnings.</a:t>
            </a:r>
          </a:p>
          <a:p>
            <a:pPr eaLnBrk="1" hangingPunct="1"/>
            <a:r>
              <a:rPr lang="en-US" altLang="en-US" dirty="0"/>
              <a:t>If expected to continue as is, what’s expected future g?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6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91CBF15-24D7-42A0-A905-2B0E6D714A81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en-US" sz="1400"/>
          </a:p>
        </p:txBody>
      </p:sp>
      <p:sp>
        <p:nvSpPr>
          <p:cNvPr id="43011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3012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3013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Earnings Retention Model (Continued)</a:t>
            </a:r>
          </a:p>
        </p:txBody>
      </p:sp>
      <p:sp>
        <p:nvSpPr>
          <p:cNvPr id="3687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152400" y="1447800"/>
            <a:ext cx="8763000" cy="4729164"/>
          </a:xfrm>
        </p:spPr>
        <p:txBody>
          <a:bodyPr/>
          <a:lstStyle/>
          <a:p>
            <a:pPr eaLnBrk="1" hangingPunct="1"/>
            <a:r>
              <a:rPr lang="en-US" altLang="en-US" dirty="0"/>
              <a:t>Growth from earnings retention model:</a:t>
            </a:r>
          </a:p>
          <a:p>
            <a:pPr eaLnBrk="1" hangingPunct="1"/>
            <a:r>
              <a:rPr lang="en-US" altLang="en-US" dirty="0"/>
              <a:t>g =</a:t>
            </a:r>
          </a:p>
          <a:p>
            <a:pPr eaLnBrk="1" hangingPunct="1"/>
            <a:r>
              <a:rPr lang="en-US" altLang="en-US" dirty="0"/>
              <a:t>g =  </a:t>
            </a:r>
          </a:p>
          <a:p>
            <a:pPr eaLnBrk="1" hangingPunct="1"/>
            <a:r>
              <a:rPr lang="en-US" altLang="en-US" dirty="0"/>
              <a:t>	g =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/>
              <a:t>Close to g = 5.8% given earlier.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0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1270086-BB94-496A-9F7B-C6C72FBEAC0E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en-US" sz="1400"/>
          </a:p>
        </p:txBody>
      </p:sp>
      <p:sp>
        <p:nvSpPr>
          <p:cNvPr id="44035" name="Rectangle 205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dirty="0"/>
              <a:t>Could DCF methodology be applied if </a:t>
            </a:r>
            <a:br>
              <a:rPr lang="en-US" altLang="en-US" dirty="0"/>
            </a:br>
            <a:r>
              <a:rPr lang="en-US" altLang="en-US" dirty="0"/>
              <a:t>growth is not constant?</a:t>
            </a:r>
          </a:p>
        </p:txBody>
      </p:sp>
      <p:sp>
        <p:nvSpPr>
          <p:cNvPr id="37892" name="Rectangle 2056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382000" cy="4456113"/>
          </a:xfrm>
        </p:spPr>
        <p:txBody>
          <a:bodyPr/>
          <a:lstStyle/>
          <a:p>
            <a:pPr eaLnBrk="1" hangingPunct="1"/>
            <a:r>
              <a:rPr lang="en-US" altLang="en-US" dirty="0"/>
              <a:t>YES, nonconstant g stocks are expected to have constant g at some point, generally in 5-10 yrs.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F64C6B8-CE31-42AA-9020-A8C2DC31E43F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en-US" sz="1400"/>
          </a:p>
        </p:txBody>
      </p:sp>
      <p:sp>
        <p:nvSpPr>
          <p:cNvPr id="45059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365127"/>
            <a:ext cx="8534400" cy="1032090"/>
          </a:xfrm>
        </p:spPr>
        <p:txBody>
          <a:bodyPr/>
          <a:lstStyle/>
          <a:p>
            <a:pPr algn="ctr" eaLnBrk="1" hangingPunct="1"/>
            <a:r>
              <a:rPr lang="en-US" altLang="en-US" sz="2800" dirty="0"/>
              <a:t>Own-Bond-Yield + Judgmental-Risk-Premium Method: </a:t>
            </a:r>
            <a:br>
              <a:rPr lang="en-US" altLang="en-US" sz="2800" dirty="0"/>
            </a:br>
            <a:r>
              <a:rPr lang="en-US" altLang="en-US" sz="2800" dirty="0" err="1"/>
              <a:t>r</a:t>
            </a:r>
            <a:r>
              <a:rPr lang="en-US" altLang="en-US" sz="2800" baseline="-25000" dirty="0" err="1"/>
              <a:t>d</a:t>
            </a:r>
            <a:r>
              <a:rPr lang="en-US" altLang="en-US" sz="2800" dirty="0"/>
              <a:t> = 10%, RP = 3.2%</a:t>
            </a:r>
          </a:p>
        </p:txBody>
      </p:sp>
      <p:sp>
        <p:nvSpPr>
          <p:cNvPr id="38916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04800" y="1524000"/>
            <a:ext cx="8534400" cy="460851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 err="1"/>
              <a:t>r</a:t>
            </a:r>
            <a:r>
              <a:rPr lang="en-US" altLang="en-US" baseline="-25000" dirty="0" err="1"/>
              <a:t>s</a:t>
            </a:r>
            <a:r>
              <a:rPr lang="en-US" altLang="en-US" dirty="0"/>
              <a:t>	= </a:t>
            </a:r>
            <a:r>
              <a:rPr lang="en-US" altLang="en-US" dirty="0" err="1"/>
              <a:t>r</a:t>
            </a:r>
            <a:r>
              <a:rPr lang="en-US" altLang="en-US" baseline="-25000" dirty="0" err="1"/>
              <a:t>d</a:t>
            </a:r>
            <a:r>
              <a:rPr lang="en-US" altLang="en-US" dirty="0"/>
              <a:t> + Judgmental risk premium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 </a:t>
            </a:r>
            <a:r>
              <a:rPr lang="en-US" altLang="en-US" dirty="0" err="1"/>
              <a:t>r</a:t>
            </a:r>
            <a:r>
              <a:rPr lang="en-US" altLang="en-US" baseline="-25000" dirty="0" err="1"/>
              <a:t>s</a:t>
            </a:r>
            <a:r>
              <a:rPr lang="en-US" altLang="en-US" dirty="0"/>
              <a:t>	= 10.0% + 3.2% = 13.2%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Reflects </a:t>
            </a:r>
            <a:r>
              <a:rPr lang="en-US" altLang="en-US" dirty="0" err="1"/>
              <a:t>addt’l</a:t>
            </a:r>
            <a:r>
              <a:rPr lang="en-US" altLang="en-US" dirty="0"/>
              <a:t> risk factor for Co.’s equity in excess of risk on Co.’s debt.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This over-own-bond-judgmental-risk premium </a:t>
            </a:r>
            <a:r>
              <a:rPr lang="en-US" altLang="en-US" sz="3600" dirty="0">
                <a:solidFill>
                  <a:schemeClr val="tx2"/>
                </a:solidFill>
                <a:sym typeface="Symbol" panose="05050102010706020507" pitchFamily="18" charset="2"/>
              </a:rPr>
              <a:t></a:t>
            </a:r>
            <a:r>
              <a:rPr lang="en-US" altLang="en-US" dirty="0"/>
              <a:t> CAPM equity risk premium, RP</a:t>
            </a:r>
            <a:r>
              <a:rPr lang="en-US" altLang="en-US" baseline="-25000" dirty="0"/>
              <a:t>M</a:t>
            </a:r>
            <a:r>
              <a:rPr lang="en-US" altLang="en-US" dirty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Produces ballpark estimate of </a:t>
            </a:r>
            <a:r>
              <a:rPr lang="en-US" altLang="en-US" dirty="0" err="1"/>
              <a:t>r</a:t>
            </a:r>
            <a:r>
              <a:rPr lang="en-US" altLang="en-US" baseline="-25000" dirty="0" err="1"/>
              <a:t>s</a:t>
            </a:r>
            <a:r>
              <a:rPr lang="en-US" altLang="en-US" dirty="0"/>
              <a:t>.  Useful check.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6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0221B29-B287-49B2-BB01-EFC6F7D0A70E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US" altLang="en-US" sz="1400"/>
          </a:p>
        </p:txBody>
      </p:sp>
      <p:sp>
        <p:nvSpPr>
          <p:cNvPr id="46083" name="Rectangle 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Final estimate of r</a:t>
            </a:r>
            <a:r>
              <a:rPr lang="en-US" altLang="en-US" baseline="-25000"/>
              <a:t>s</a:t>
            </a:r>
            <a:r>
              <a:rPr lang="en-US" altLang="en-US"/>
              <a:t>?</a:t>
            </a:r>
          </a:p>
        </p:txBody>
      </p:sp>
      <p:graphicFrame>
        <p:nvGraphicFramePr>
          <p:cNvPr id="31762" name="Group 18"/>
          <p:cNvGraphicFramePr>
            <a:graphicFrameLocks noGrp="1"/>
          </p:cNvGraphicFramePr>
          <p:nvPr/>
        </p:nvGraphicFramePr>
        <p:xfrm>
          <a:off x="1771650" y="2133600"/>
          <a:ext cx="5619750" cy="3313114"/>
        </p:xfrm>
        <a:graphic>
          <a:graphicData uri="http://schemas.openxmlformats.org/drawingml/2006/table">
            <a:tbl>
              <a:tblPr/>
              <a:tblGrid>
                <a:gridCol w="3084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1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Method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Estimate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3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CAPM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12.8%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1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DCF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12.4%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3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Bond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Yld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+ risk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prem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13.2%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1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Average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12.8%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46096" name="Straight Connector 10"/>
          <p:cNvCxnSpPr>
            <a:cxnSpLocks noChangeShapeType="1"/>
          </p:cNvCxnSpPr>
          <p:nvPr/>
        </p:nvCxnSpPr>
        <p:spPr bwMode="auto">
          <a:xfrm>
            <a:off x="4949825" y="5292725"/>
            <a:ext cx="1006475" cy="1588"/>
          </a:xfrm>
          <a:prstGeom prst="line">
            <a:avLst/>
          </a:prstGeom>
          <a:noFill/>
          <a:ln w="762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E12A01E-79A7-493A-BB93-A0C76A5A082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US" altLang="en-US" sz="1400"/>
          </a:p>
        </p:txBody>
      </p:sp>
      <p:sp>
        <p:nvSpPr>
          <p:cNvPr id="47107" name="Rectangle 4"/>
          <p:cNvSpPr>
            <a:spLocks noGrp="1" noChangeArrowheads="1"/>
          </p:cNvSpPr>
          <p:nvPr>
            <p:ph type="title"/>
          </p:nvPr>
        </p:nvSpPr>
        <p:spPr>
          <a:xfrm>
            <a:off x="1150938" y="214313"/>
            <a:ext cx="7793037" cy="804862"/>
          </a:xfrm>
        </p:spPr>
        <p:txBody>
          <a:bodyPr/>
          <a:lstStyle/>
          <a:p>
            <a:pPr eaLnBrk="1" hangingPunct="1"/>
            <a:r>
              <a:rPr lang="en-US" altLang="en-US" sz="4000"/>
              <a:t>Determining Weights for WACC</a:t>
            </a:r>
          </a:p>
        </p:txBody>
      </p:sp>
      <p:sp>
        <p:nvSpPr>
          <p:cNvPr id="40964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32313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Wts</a:t>
            </a:r>
            <a:r>
              <a:rPr lang="en-US" altLang="en-US" dirty="0"/>
              <a:t> are % of firm’s capital to financed by each component.</a:t>
            </a:r>
          </a:p>
          <a:p>
            <a:pPr eaLnBrk="1" hangingPunct="1"/>
            <a:r>
              <a:rPr lang="en-US" altLang="en-US" dirty="0"/>
              <a:t>If possible, always use target </a:t>
            </a:r>
            <a:r>
              <a:rPr lang="en-US" altLang="en-US" dirty="0" err="1"/>
              <a:t>wts</a:t>
            </a:r>
            <a:r>
              <a:rPr lang="en-US" altLang="en-US" dirty="0"/>
              <a:t> for % financed by each type of capital.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4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09B4408-500A-4E3A-83C3-394627C09EED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US" altLang="en-US" sz="1400"/>
          </a:p>
        </p:txBody>
      </p:sp>
      <p:sp>
        <p:nvSpPr>
          <p:cNvPr id="48131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Estimating Weights for Capital Structure</a:t>
            </a:r>
          </a:p>
        </p:txBody>
      </p:sp>
      <p:sp>
        <p:nvSpPr>
          <p:cNvPr id="41988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152400" y="1489293"/>
            <a:ext cx="8618538" cy="4687671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u="sng" dirty="0"/>
              <a:t>Best option:</a:t>
            </a:r>
          </a:p>
          <a:p>
            <a:pPr eaLnBrk="1" hangingPunct="1"/>
            <a:r>
              <a:rPr lang="en-US" altLang="en-US" dirty="0"/>
              <a:t>1)</a:t>
            </a:r>
          </a:p>
          <a:p>
            <a:pPr eaLnBrk="1" hangingPunct="1"/>
            <a:r>
              <a:rPr lang="en-US" altLang="en-US" dirty="0"/>
              <a:t>2) </a:t>
            </a:r>
          </a:p>
          <a:p>
            <a:pPr eaLnBrk="1" hangingPunct="1"/>
            <a:r>
              <a:rPr lang="en-US" altLang="en-US" dirty="0"/>
              <a:t>3)   </a:t>
            </a:r>
          </a:p>
          <a:p>
            <a:pPr lvl="1"/>
            <a:r>
              <a:rPr lang="en-US" altLang="en-US" dirty="0"/>
              <a:t>  </a:t>
            </a:r>
          </a:p>
        </p:txBody>
      </p:sp>
      <p:sp>
        <p:nvSpPr>
          <p:cNvPr id="48133" name="Rectangle 23"/>
          <p:cNvSpPr>
            <a:spLocks noChangeArrowheads="1"/>
          </p:cNvSpPr>
          <p:nvPr/>
        </p:nvSpPr>
        <p:spPr bwMode="auto">
          <a:xfrm>
            <a:off x="7626350" y="5867400"/>
            <a:ext cx="11445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(More…)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8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090EC79-D52F-4609-BE84-58FD6460FBF2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en-US" altLang="en-US" sz="1400"/>
          </a:p>
        </p:txBody>
      </p:sp>
      <p:sp>
        <p:nvSpPr>
          <p:cNvPr id="49155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Estimating Weights (Continued)</a:t>
            </a:r>
          </a:p>
        </p:txBody>
      </p:sp>
      <p:sp>
        <p:nvSpPr>
          <p:cNvPr id="49156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228600" y="1509930"/>
            <a:ext cx="8286750" cy="4667034"/>
          </a:xfrm>
        </p:spPr>
        <p:txBody>
          <a:bodyPr/>
          <a:lstStyle/>
          <a:p>
            <a:pPr eaLnBrk="1" hangingPunct="1"/>
            <a:r>
              <a:rPr lang="en-US" altLang="en-US" dirty="0"/>
              <a:t>Suppose </a:t>
            </a:r>
            <a:r>
              <a:rPr lang="en-US" altLang="en-US" dirty="0" err="1"/>
              <a:t>cmn</a:t>
            </a:r>
            <a:r>
              <a:rPr lang="en-US" altLang="en-US" dirty="0"/>
              <a:t>. stock price is $50 with 3 mill. shares outstanding; </a:t>
            </a:r>
          </a:p>
          <a:p>
            <a:pPr eaLnBrk="1" hangingPunct="1"/>
            <a:r>
              <a:rPr lang="en-US" altLang="en-US" dirty="0"/>
              <a:t>firm has 200,000 shs of </a:t>
            </a:r>
            <a:r>
              <a:rPr lang="en-US" altLang="en-US" dirty="0" err="1"/>
              <a:t>prfd</a:t>
            </a:r>
            <a:r>
              <a:rPr lang="en-US" altLang="en-US" dirty="0"/>
              <a:t> stock trading at $125; </a:t>
            </a:r>
          </a:p>
          <a:p>
            <a:pPr eaLnBrk="1" hangingPunct="1"/>
            <a:r>
              <a:rPr lang="en-US" altLang="en-US" dirty="0"/>
              <a:t>60,000 bonds outstanding trading at quoted price of 125% of par.</a:t>
            </a:r>
          </a:p>
        </p:txBody>
      </p:sp>
      <p:sp>
        <p:nvSpPr>
          <p:cNvPr id="49157" name="Rectangle 23"/>
          <p:cNvSpPr>
            <a:spLocks noChangeArrowheads="1"/>
          </p:cNvSpPr>
          <p:nvPr/>
        </p:nvSpPr>
        <p:spPr bwMode="auto">
          <a:xfrm>
            <a:off x="7626350" y="5846763"/>
            <a:ext cx="11445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(More…)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D985AE7-2F17-4B7A-A161-62D87706EB3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lang="en-US" altLang="en-US" sz="1400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Estimating Weights (Continued)</a:t>
            </a:r>
          </a:p>
        </p:txBody>
      </p:sp>
      <p:sp>
        <p:nvSpPr>
          <p:cNvPr id="4403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351712" cy="4114800"/>
          </a:xfrm>
        </p:spPr>
        <p:txBody>
          <a:bodyPr/>
          <a:lstStyle/>
          <a:p>
            <a:pPr eaLnBrk="1" hangingPunct="1"/>
            <a:r>
              <a:rPr lang="en-US" altLang="en-US"/>
              <a:t>V</a:t>
            </a:r>
            <a:r>
              <a:rPr lang="en-US" altLang="en-US" baseline="-25000"/>
              <a:t>s</a:t>
            </a:r>
            <a:r>
              <a:rPr lang="en-US" altLang="en-US"/>
              <a:t> = $50(3 million) = $150 million.</a:t>
            </a:r>
          </a:p>
          <a:p>
            <a:pPr eaLnBrk="1" hangingPunct="1"/>
            <a:r>
              <a:rPr lang="en-US" altLang="en-US"/>
              <a:t>V</a:t>
            </a:r>
            <a:r>
              <a:rPr lang="en-US" altLang="en-US" baseline="-25000"/>
              <a:t>ps</a:t>
            </a:r>
            <a:r>
              <a:rPr lang="en-US" altLang="en-US"/>
              <a:t> = $25 million.</a:t>
            </a:r>
          </a:p>
          <a:p>
            <a:pPr eaLnBrk="1" hangingPunct="1"/>
            <a:r>
              <a:rPr lang="en-US" altLang="en-US"/>
              <a:t>V</a:t>
            </a:r>
            <a:r>
              <a:rPr lang="en-US" altLang="en-US" baseline="-25000"/>
              <a:t>d </a:t>
            </a:r>
            <a:r>
              <a:rPr lang="en-US" altLang="en-US"/>
              <a:t>= $75 million.</a:t>
            </a:r>
          </a:p>
          <a:p>
            <a:pPr eaLnBrk="1" hangingPunct="1"/>
            <a:r>
              <a:rPr lang="en-US" altLang="en-US"/>
              <a:t>Total value = $150 + $25 + $75 </a:t>
            </a:r>
            <a:br>
              <a:rPr lang="en-US" altLang="en-US"/>
            </a:br>
            <a:r>
              <a:rPr lang="en-US" altLang="en-US"/>
              <a:t>= $250 million.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6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55F25C6-C4B1-4836-87E1-4651DB3E0D1A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lang="en-US" altLang="en-US" sz="1400"/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Estimating Weights (Continued)</a:t>
            </a:r>
          </a:p>
        </p:txBody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76406"/>
            <a:ext cx="8210550" cy="4500558"/>
          </a:xfrm>
        </p:spPr>
        <p:txBody>
          <a:bodyPr/>
          <a:lstStyle/>
          <a:p>
            <a:pPr eaLnBrk="1" hangingPunct="1">
              <a:tabLst>
                <a:tab pos="1147763" algn="l"/>
                <a:tab pos="3827463" algn="l"/>
              </a:tabLst>
            </a:pPr>
            <a:r>
              <a:rPr lang="en-US" altLang="en-US" sz="2800" dirty="0" err="1"/>
              <a:t>w</a:t>
            </a:r>
            <a:r>
              <a:rPr lang="en-US" altLang="en-US" sz="2800" baseline="-25000" dirty="0" err="1"/>
              <a:t>s</a:t>
            </a:r>
            <a:r>
              <a:rPr lang="en-US" altLang="en-US" sz="2800" baseline="-25000" dirty="0"/>
              <a:t>	</a:t>
            </a:r>
            <a:r>
              <a:rPr lang="en-US" altLang="en-US" sz="2800" dirty="0"/>
              <a:t>= 		</a:t>
            </a:r>
          </a:p>
          <a:p>
            <a:pPr eaLnBrk="1" hangingPunct="1">
              <a:tabLst>
                <a:tab pos="1147763" algn="l"/>
                <a:tab pos="3827463" algn="l"/>
              </a:tabLst>
            </a:pPr>
            <a:r>
              <a:rPr lang="en-US" altLang="en-US" sz="2800" dirty="0" err="1"/>
              <a:t>w</a:t>
            </a:r>
            <a:r>
              <a:rPr lang="en-US" altLang="en-US" sz="2800" baseline="-25000" dirty="0" err="1"/>
              <a:t>ps</a:t>
            </a:r>
            <a:r>
              <a:rPr lang="en-US" altLang="en-US" sz="2800" baseline="-25000" dirty="0"/>
              <a:t>	</a:t>
            </a:r>
            <a:r>
              <a:rPr lang="en-US" altLang="en-US" sz="2800" dirty="0"/>
              <a:t>=</a:t>
            </a:r>
          </a:p>
          <a:p>
            <a:pPr eaLnBrk="1" hangingPunct="1">
              <a:tabLst>
                <a:tab pos="1147763" algn="l"/>
                <a:tab pos="3827463" algn="l"/>
              </a:tabLst>
            </a:pPr>
            <a:r>
              <a:rPr lang="en-US" altLang="en-US" sz="2800" dirty="0"/>
              <a:t>w</a:t>
            </a:r>
            <a:r>
              <a:rPr lang="en-US" altLang="en-US" sz="2800" baseline="-25000" dirty="0"/>
              <a:t>d	</a:t>
            </a:r>
            <a:r>
              <a:rPr lang="en-US" altLang="en-US" sz="2800" dirty="0"/>
              <a:t>=</a:t>
            </a:r>
          </a:p>
          <a:p>
            <a:pPr eaLnBrk="1" hangingPunct="1">
              <a:tabLst>
                <a:tab pos="1147763" algn="l"/>
                <a:tab pos="3827463" algn="l"/>
              </a:tabLst>
            </a:pPr>
            <a:endParaRPr lang="en-US" altLang="en-US" sz="2800" dirty="0"/>
          </a:p>
          <a:p>
            <a:pPr eaLnBrk="1" hangingPunct="1">
              <a:tabLst>
                <a:tab pos="1147763" algn="l"/>
                <a:tab pos="3827463" algn="l"/>
              </a:tabLst>
            </a:pPr>
            <a:r>
              <a:rPr lang="en-US" altLang="en-US" sz="2800" dirty="0"/>
              <a:t>Target </a:t>
            </a:r>
            <a:r>
              <a:rPr lang="en-US" altLang="en-US" sz="2800" dirty="0" err="1"/>
              <a:t>wts</a:t>
            </a:r>
            <a:r>
              <a:rPr lang="en-US" altLang="en-US" sz="2800" dirty="0"/>
              <a:t> for this co. are same as MV </a:t>
            </a:r>
            <a:r>
              <a:rPr lang="en-US" altLang="en-US" sz="2800" dirty="0" err="1"/>
              <a:t>wts</a:t>
            </a:r>
            <a:r>
              <a:rPr lang="en-US" altLang="en-US" sz="2800" dirty="0"/>
              <a:t> above;</a:t>
            </a:r>
          </a:p>
          <a:p>
            <a:pPr eaLnBrk="1" hangingPunct="1">
              <a:tabLst>
                <a:tab pos="1147763" algn="l"/>
                <a:tab pos="3827463" algn="l"/>
              </a:tabLst>
            </a:pPr>
            <a:r>
              <a:rPr lang="en-US" altLang="en-US" sz="2800" dirty="0"/>
              <a:t>but often MV </a:t>
            </a:r>
            <a:r>
              <a:rPr lang="en-US" altLang="en-US" sz="2800" dirty="0" err="1"/>
              <a:t>wts</a:t>
            </a:r>
            <a:r>
              <a:rPr lang="en-US" altLang="en-US" sz="2800" dirty="0"/>
              <a:t> temporarily deviate from targets</a:t>
            </a:r>
          </a:p>
          <a:p>
            <a:pPr lvl="1">
              <a:tabLst>
                <a:tab pos="1147763" algn="l"/>
                <a:tab pos="3827463" algn="l"/>
              </a:tabLst>
            </a:pPr>
            <a:r>
              <a:rPr lang="en-US" altLang="en-US" sz="2400" dirty="0"/>
              <a:t> </a:t>
            </a:r>
            <a:r>
              <a:rPr lang="en-US" altLang="en-US" dirty="0"/>
              <a:t>due to fluctuating stock prices in market.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0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8624FF6-BA30-4668-A7C0-3B8D704F2223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lang="en-US" altLang="en-US" sz="1400"/>
          </a:p>
        </p:txBody>
      </p:sp>
      <p:sp>
        <p:nvSpPr>
          <p:cNvPr id="52227" name="Rectangle 2050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2228" name="Rectangle 2051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2229" name="Rectangle 2057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altLang="en-US" dirty="0"/>
              <a:t>WACC using target weights = ?</a:t>
            </a:r>
          </a:p>
        </p:txBody>
      </p:sp>
      <p:sp>
        <p:nvSpPr>
          <p:cNvPr id="46086" name="Rectangle 2058"/>
          <p:cNvSpPr>
            <a:spLocks noGrp="1" noChangeArrowheads="1"/>
          </p:cNvSpPr>
          <p:nvPr>
            <p:ph type="body" idx="1"/>
          </p:nvPr>
        </p:nvSpPr>
        <p:spPr>
          <a:xfrm>
            <a:off x="304800" y="2286000"/>
            <a:ext cx="8610600" cy="4114800"/>
          </a:xfrm>
        </p:spPr>
        <p:txBody>
          <a:bodyPr/>
          <a:lstStyle/>
          <a:p>
            <a:pPr marL="1658938" indent="-1658938" eaLnBrk="1" hangingPunct="1">
              <a:buFont typeface="Wingdings" panose="05000000000000000000" pitchFamily="2" charset="2"/>
              <a:buNone/>
              <a:tabLst>
                <a:tab pos="1254125" algn="l"/>
              </a:tabLst>
            </a:pPr>
            <a:r>
              <a:rPr lang="en-US" altLang="en-US" sz="3000" dirty="0"/>
              <a:t>WACC	= </a:t>
            </a:r>
            <a:r>
              <a:rPr lang="en-US" altLang="en-US" sz="3000" dirty="0" err="1"/>
              <a:t>w</a:t>
            </a:r>
            <a:r>
              <a:rPr lang="en-US" altLang="en-US" sz="3000" baseline="-25000" dirty="0" err="1"/>
              <a:t>d</a:t>
            </a:r>
            <a:r>
              <a:rPr lang="en-US" altLang="en-US" sz="3000" dirty="0" err="1"/>
              <a:t>r</a:t>
            </a:r>
            <a:r>
              <a:rPr lang="en-US" altLang="en-US" sz="3000" baseline="-25000" dirty="0" err="1"/>
              <a:t>d</a:t>
            </a:r>
            <a:r>
              <a:rPr lang="en-US" altLang="en-US" sz="3000" dirty="0"/>
              <a:t>(1 – T) + </a:t>
            </a:r>
            <a:r>
              <a:rPr lang="en-US" altLang="en-US" sz="3000" dirty="0" err="1"/>
              <a:t>w</a:t>
            </a:r>
            <a:r>
              <a:rPr lang="en-US" altLang="en-US" sz="3000" baseline="-25000" dirty="0" err="1"/>
              <a:t>ps</a:t>
            </a:r>
            <a:r>
              <a:rPr lang="en-US" altLang="en-US" sz="3000" dirty="0" err="1"/>
              <a:t>r</a:t>
            </a:r>
            <a:r>
              <a:rPr lang="en-US" altLang="en-US" sz="3000" baseline="-25000" dirty="0" err="1"/>
              <a:t>ps</a:t>
            </a:r>
            <a:r>
              <a:rPr lang="en-US" altLang="en-US" sz="3000" dirty="0"/>
              <a:t> + </a:t>
            </a:r>
            <a:r>
              <a:rPr lang="en-US" altLang="en-US" sz="3000" dirty="0" err="1"/>
              <a:t>w</a:t>
            </a:r>
            <a:r>
              <a:rPr lang="en-US" altLang="en-US" sz="3000" baseline="-25000" dirty="0" err="1"/>
              <a:t>s</a:t>
            </a:r>
            <a:r>
              <a:rPr lang="en-US" altLang="en-US" sz="3000" dirty="0" err="1"/>
              <a:t>r</a:t>
            </a:r>
            <a:r>
              <a:rPr lang="en-US" altLang="en-US" sz="3000" baseline="-25000" dirty="0" err="1"/>
              <a:t>s</a:t>
            </a:r>
            <a:endParaRPr lang="en-US" altLang="en-US" sz="3000" baseline="-25000" dirty="0"/>
          </a:p>
          <a:p>
            <a:pPr marL="1658938" indent="-1658938" eaLnBrk="1" hangingPunct="1">
              <a:buFont typeface="Wingdings" panose="05000000000000000000" pitchFamily="2" charset="2"/>
              <a:buNone/>
              <a:tabLst>
                <a:tab pos="1254125" algn="l"/>
              </a:tabLst>
            </a:pPr>
            <a:endParaRPr lang="en-US" altLang="en-US" sz="3000" baseline="-25000" dirty="0"/>
          </a:p>
          <a:p>
            <a:pPr marL="1658938" indent="-1658938" eaLnBrk="1" hangingPunct="1">
              <a:buFont typeface="Wingdings" panose="05000000000000000000" pitchFamily="2" charset="2"/>
              <a:buNone/>
              <a:tabLst>
                <a:tab pos="1254125" algn="l"/>
              </a:tabLst>
            </a:pPr>
            <a:r>
              <a:rPr lang="en-US" altLang="en-US" sz="3000" dirty="0"/>
              <a:t>WACC	= 0.3(10%)(1 </a:t>
            </a:r>
            <a:r>
              <a:rPr lang="en-US" altLang="en-US" sz="3000" dirty="0">
                <a:cs typeface="Tahoma" panose="020B0604030504040204" pitchFamily="34" charset="0"/>
              </a:rPr>
              <a:t>− </a:t>
            </a:r>
            <a:r>
              <a:rPr lang="en-US" altLang="en-US" sz="3000" dirty="0"/>
              <a:t>0.4) + 0.1(9%)  + 0.6(12.8%)</a:t>
            </a:r>
          </a:p>
          <a:p>
            <a:pPr marL="1658938" indent="-1658938" eaLnBrk="1" hangingPunct="1">
              <a:buFont typeface="Wingdings" panose="05000000000000000000" pitchFamily="2" charset="2"/>
              <a:buNone/>
              <a:tabLst>
                <a:tab pos="1254125" algn="l"/>
              </a:tabLst>
            </a:pPr>
            <a:endParaRPr lang="en-US" altLang="en-US" sz="3000" dirty="0"/>
          </a:p>
          <a:p>
            <a:pPr marL="1658938" indent="-1658938" eaLnBrk="1" hangingPunct="1">
              <a:buFont typeface="Wingdings" panose="05000000000000000000" pitchFamily="2" charset="2"/>
              <a:buNone/>
              <a:tabLst>
                <a:tab pos="1254125" algn="l"/>
              </a:tabLst>
            </a:pPr>
            <a:r>
              <a:rPr lang="en-US" altLang="en-US" sz="3000" dirty="0"/>
              <a:t>WACC	= 10.38% 	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6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7C5F80F-774A-414A-8B7C-E5CF06BA0FE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lang="en-US" altLang="en-US" sz="1400"/>
          </a:p>
        </p:txBody>
      </p:sp>
      <p:sp>
        <p:nvSpPr>
          <p:cNvPr id="53251" name="Rectangle 2053"/>
          <p:cNvSpPr>
            <a:spLocks noGrp="1" noChangeArrowheads="1"/>
          </p:cNvSpPr>
          <p:nvPr>
            <p:ph type="title"/>
          </p:nvPr>
        </p:nvSpPr>
        <p:spPr>
          <a:xfrm>
            <a:off x="457200" y="365127"/>
            <a:ext cx="8058150" cy="103209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What factors influence a company’s WACC?</a:t>
            </a:r>
          </a:p>
        </p:txBody>
      </p:sp>
      <p:sp>
        <p:nvSpPr>
          <p:cNvPr id="47108" name="Rectangle 2054"/>
          <p:cNvSpPr>
            <a:spLocks noGrp="1" noChangeArrowheads="1"/>
          </p:cNvSpPr>
          <p:nvPr>
            <p:ph type="body" idx="1"/>
          </p:nvPr>
        </p:nvSpPr>
        <p:spPr>
          <a:xfrm>
            <a:off x="304800" y="1447799"/>
            <a:ext cx="8610600" cy="4908551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Uncontrollable factors:</a:t>
            </a:r>
          </a:p>
          <a:p>
            <a:pPr lvl="1" eaLnBrk="1" hangingPunct="1"/>
            <a:r>
              <a:rPr lang="en-US" altLang="en-US" sz="2400" dirty="0"/>
              <a:t> </a:t>
            </a:r>
          </a:p>
          <a:p>
            <a:pPr lvl="1" eaLnBrk="1" hangingPunct="1"/>
            <a:r>
              <a:rPr lang="en-US" altLang="en-US" sz="2400" dirty="0"/>
              <a:t> </a:t>
            </a:r>
          </a:p>
          <a:p>
            <a:pPr lvl="1" eaLnBrk="1" hangingPunct="1"/>
            <a:r>
              <a:rPr lang="en-US" altLang="en-US" sz="2400" dirty="0"/>
              <a:t>   </a:t>
            </a:r>
          </a:p>
          <a:p>
            <a:pPr eaLnBrk="1" hangingPunct="1"/>
            <a:r>
              <a:rPr lang="en-US" altLang="en-US" sz="2800" dirty="0"/>
              <a:t>Controllable factors:</a:t>
            </a:r>
          </a:p>
          <a:p>
            <a:pPr lvl="1" eaLnBrk="1" hangingPunct="1"/>
            <a:r>
              <a:rPr lang="en-US" altLang="en-US" sz="2400" dirty="0"/>
              <a:t>   </a:t>
            </a:r>
          </a:p>
          <a:p>
            <a:pPr lvl="1" eaLnBrk="1" hangingPunct="1"/>
            <a:r>
              <a:rPr lang="en-US" altLang="en-US" sz="2400" dirty="0"/>
              <a:t>   </a:t>
            </a:r>
          </a:p>
          <a:p>
            <a:pPr lvl="1" eaLnBrk="1" hangingPunct="1"/>
            <a:r>
              <a:rPr lang="en-US" altLang="en-US" sz="2400" dirty="0"/>
              <a:t>     </a:t>
            </a:r>
          </a:p>
          <a:p>
            <a:pPr lvl="1" eaLnBrk="1" hangingPunct="1"/>
            <a:r>
              <a:rPr lang="en-US" altLang="en-US" sz="2400" dirty="0"/>
              <a:t>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8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CDC5F77-440A-4EC2-82F9-27695A6AA0C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lang="en-US" altLang="en-US" sz="1400"/>
          </a:p>
        </p:txBody>
      </p:sp>
      <p:sp>
        <p:nvSpPr>
          <p:cNvPr id="54275" name="Rectangle 7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dirty="0"/>
              <a:t>Should firm-wide WACC be used</a:t>
            </a:r>
            <a:br>
              <a:rPr lang="en-US" altLang="en-US" dirty="0"/>
            </a:br>
            <a:r>
              <a:rPr lang="en-US" altLang="en-US" dirty="0"/>
              <a:t> for each of its divisions?</a:t>
            </a:r>
          </a:p>
        </p:txBody>
      </p:sp>
      <p:sp>
        <p:nvSpPr>
          <p:cNvPr id="48132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152400" y="1524000"/>
            <a:ext cx="8839200" cy="4652964"/>
          </a:xfrm>
        </p:spPr>
        <p:txBody>
          <a:bodyPr/>
          <a:lstStyle/>
          <a:p>
            <a:pPr eaLnBrk="1" hangingPunct="1"/>
            <a:r>
              <a:rPr lang="en-US" altLang="en-US" dirty="0"/>
              <a:t>     </a:t>
            </a:r>
          </a:p>
          <a:p>
            <a:pPr eaLnBrk="1" hangingPunct="1"/>
            <a:r>
              <a:rPr lang="en-US" altLang="en-US" dirty="0"/>
              <a:t>   </a:t>
            </a:r>
          </a:p>
          <a:p>
            <a:pPr eaLnBrk="1" hangingPunct="1"/>
            <a:r>
              <a:rPr lang="en-US" altLang="en-US" dirty="0"/>
              <a:t>   </a:t>
            </a:r>
          </a:p>
          <a:p>
            <a:pPr lvl="1"/>
            <a:r>
              <a:rPr lang="en-US" altLang="en-US" dirty="0"/>
              <a:t>  </a:t>
            </a:r>
          </a:p>
          <a:p>
            <a:pPr lvl="1"/>
            <a:r>
              <a:rPr lang="en-US" altLang="en-US" dirty="0"/>
              <a:t>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2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4000" dirty="0"/>
              <a:t>A Project-Specific, </a:t>
            </a:r>
            <a:br>
              <a:rPr lang="en-US" altLang="en-US" sz="4000" dirty="0"/>
            </a:br>
            <a:r>
              <a:rPr lang="en-US" altLang="en-US" sz="4000" dirty="0"/>
              <a:t>Risk-Adjusted Cost of Capital</a:t>
            </a:r>
          </a:p>
        </p:txBody>
      </p:sp>
      <p:sp>
        <p:nvSpPr>
          <p:cNvPr id="70659" name="Rectangle 5"/>
          <p:cNvSpPr>
            <a:spLocks noGrp="1" noChangeArrowheads="1"/>
          </p:cNvSpPr>
          <p:nvPr>
            <p:ph idx="1"/>
          </p:nvPr>
        </p:nvSpPr>
        <p:spPr>
          <a:xfrm>
            <a:off x="304800" y="1524000"/>
            <a:ext cx="8210550" cy="4652964"/>
          </a:xfrm>
        </p:spPr>
        <p:txBody>
          <a:bodyPr/>
          <a:lstStyle/>
          <a:p>
            <a:pPr eaLnBrk="1" hangingPunct="1"/>
            <a:r>
              <a:rPr lang="en-US" altLang="en-US" dirty="0"/>
              <a:t>Start by calculating a divisional cost of capital.</a:t>
            </a:r>
          </a:p>
          <a:p>
            <a:pPr eaLnBrk="1" hangingPunct="1"/>
            <a:r>
              <a:rPr lang="en-US" altLang="en-US" dirty="0"/>
              <a:t>Use judgment to scale up or down cost of capital for individual project relative to divisional cost of capital.</a:t>
            </a:r>
          </a:p>
        </p:txBody>
      </p:sp>
      <p:sp>
        <p:nvSpPr>
          <p:cNvPr id="7066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6DAB99A-0B86-4275-B765-EED62E6721CA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396910240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5F3BC4C-E9FC-4E03-9D36-164869DAB21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47</a:t>
            </a:fld>
            <a:endParaRPr lang="en-US" altLang="en-US" sz="1400"/>
          </a:p>
        </p:txBody>
      </p:sp>
      <p:sp>
        <p:nvSpPr>
          <p:cNvPr id="55299" name="Rectangle 7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Risk-Adjusted Divisional Cost of Capital</a:t>
            </a:r>
          </a:p>
        </p:txBody>
      </p:sp>
      <p:sp>
        <p:nvSpPr>
          <p:cNvPr id="49156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228600" y="1524000"/>
            <a:ext cx="8763000" cy="4608513"/>
          </a:xfrm>
        </p:spPr>
        <p:txBody>
          <a:bodyPr/>
          <a:lstStyle/>
          <a:p>
            <a:pPr eaLnBrk="1" hangingPunct="1"/>
            <a:r>
              <a:rPr lang="en-US" altLang="en-US" dirty="0"/>
              <a:t>Estimate cost of capital division would have if it were a stand-alone firm.  </a:t>
            </a:r>
          </a:p>
          <a:p>
            <a:pPr eaLnBrk="1" hangingPunct="1"/>
            <a:r>
              <a:rPr lang="en-US" altLang="en-US" dirty="0"/>
              <a:t>This requires estimating division’s beta, cost of debt, &amp; capital structure.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6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42DDD83-E973-45D3-81BA-961CE9180D9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48</a:t>
            </a:fld>
            <a:endParaRPr lang="en-US" altLang="en-US" sz="1400"/>
          </a:p>
        </p:txBody>
      </p:sp>
      <p:sp>
        <p:nvSpPr>
          <p:cNvPr id="56323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4000" dirty="0"/>
              <a:t>Pure Play Method for Estimating Beta for Division or Project</a:t>
            </a:r>
          </a:p>
        </p:txBody>
      </p:sp>
      <p:sp>
        <p:nvSpPr>
          <p:cNvPr id="50180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Find several publicly traded companies exclusively in project’s business.</a:t>
            </a:r>
          </a:p>
          <a:p>
            <a:pPr eaLnBrk="1" hangingPunct="1"/>
            <a:r>
              <a:rPr lang="en-US" altLang="en-US"/>
              <a:t>Use average of their betas as proxy for project’s beta.</a:t>
            </a:r>
          </a:p>
          <a:p>
            <a:pPr eaLnBrk="1" hangingPunct="1"/>
            <a:r>
              <a:rPr lang="en-US" altLang="en-US"/>
              <a:t>Hard to find such companies.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0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E52149A-64CC-4406-90DA-AF8818575E6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49</a:t>
            </a:fld>
            <a:endParaRPr lang="en-US" altLang="en-US" sz="1400"/>
          </a:p>
        </p:txBody>
      </p:sp>
      <p:sp>
        <p:nvSpPr>
          <p:cNvPr id="58371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dirty="0"/>
              <a:t>Accounting Beta Method</a:t>
            </a:r>
            <a:br>
              <a:rPr lang="en-US" altLang="en-US" dirty="0"/>
            </a:br>
            <a:r>
              <a:rPr lang="en-US" altLang="en-US" dirty="0"/>
              <a:t> for Estimating Beta</a:t>
            </a:r>
          </a:p>
        </p:txBody>
      </p:sp>
      <p:sp>
        <p:nvSpPr>
          <p:cNvPr id="51204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6970712" cy="41148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dirty="0"/>
              <a:t>Run regression between project’s ROA &amp; S&amp;P Index ROA.</a:t>
            </a:r>
          </a:p>
          <a:p>
            <a:pPr eaLnBrk="1" hangingPunct="1"/>
            <a:r>
              <a:rPr lang="en-US" altLang="en-US" dirty="0"/>
              <a:t>Accounting betas correlated (0.5 – 0.6) with market betas.</a:t>
            </a:r>
          </a:p>
          <a:p>
            <a:pPr eaLnBrk="1" hangingPunct="1"/>
            <a:r>
              <a:rPr lang="en-US" altLang="en-US" dirty="0"/>
              <a:t>But normally can’t get data on new projects’ ROAs before capital budgeting decision made.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4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1885E48-610B-4DEA-AB6E-D6B69D16912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50</a:t>
            </a:fld>
            <a:endParaRPr lang="en-US" altLang="en-US" sz="1400"/>
          </a:p>
        </p:txBody>
      </p:sp>
      <p:sp>
        <p:nvSpPr>
          <p:cNvPr id="66563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What are three types of project risk?</a:t>
            </a:r>
          </a:p>
        </p:txBody>
      </p:sp>
      <p:sp>
        <p:nvSpPr>
          <p:cNvPr id="66564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  </a:t>
            </a:r>
          </a:p>
          <a:p>
            <a:pPr eaLnBrk="1" hangingPunct="1"/>
            <a:r>
              <a:rPr lang="en-US" altLang="en-US" dirty="0"/>
              <a:t>  </a:t>
            </a:r>
          </a:p>
          <a:p>
            <a:pPr eaLnBrk="1" hangingPunct="1"/>
            <a:r>
              <a:rPr lang="en-US" altLang="en-US" dirty="0"/>
              <a:t>  </a:t>
            </a:r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8F7BED8-B958-4849-B2E7-FE9F9051827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51</a:t>
            </a:fld>
            <a:endParaRPr lang="en-US" altLang="en-US" sz="1400"/>
          </a:p>
        </p:txBody>
      </p:sp>
      <p:sp>
        <p:nvSpPr>
          <p:cNvPr id="68611" name="Rectangle 10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How is each type of risk used?</a:t>
            </a:r>
          </a:p>
        </p:txBody>
      </p:sp>
      <p:sp>
        <p:nvSpPr>
          <p:cNvPr id="68612" name="Rectangle 102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Stand-alone risk easiest to calculate.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Market risk theoretically best in most situations.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However, creditors, customers, suppliers, &amp; employees are more affected by corporate risk.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Therefore, corporate risk is also relevant.</a:t>
            </a:r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Costs of Issuing New Common Stock</a:t>
            </a:r>
          </a:p>
        </p:txBody>
      </p:sp>
      <p:sp>
        <p:nvSpPr>
          <p:cNvPr id="71683" name="Rectangle 1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When a company issues new common stock they also have to pay flotation costs to underwriter.</a:t>
            </a:r>
          </a:p>
          <a:p>
            <a:pPr eaLnBrk="1" hangingPunct="1"/>
            <a:r>
              <a:rPr lang="en-US" altLang="en-US" dirty="0"/>
              <a:t>Issuing new common stock may send a negative signal to capital markets, which may depress stock price.</a:t>
            </a:r>
          </a:p>
        </p:txBody>
      </p:sp>
      <p:sp>
        <p:nvSpPr>
          <p:cNvPr id="7168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3699673-19CE-4F3F-A2F9-B08B86E63631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52</a:t>
            </a:fld>
            <a:endParaRPr lang="en-US" altLang="en-US" sz="1400"/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7AD255E-71B7-47A7-B16C-AC7C86C0A172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53</a:t>
            </a:fld>
            <a:endParaRPr lang="en-US" altLang="en-US" sz="1400"/>
          </a:p>
        </p:txBody>
      </p:sp>
      <p:sp>
        <p:nvSpPr>
          <p:cNvPr id="727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Cost of New Common Equity: P</a:t>
            </a:r>
            <a:r>
              <a:rPr lang="en-US" altLang="en-US" sz="3200" baseline="-25000" dirty="0"/>
              <a:t>0</a:t>
            </a:r>
            <a:r>
              <a:rPr lang="en-US" altLang="en-US" sz="3200" dirty="0"/>
              <a:t> = $50, D</a:t>
            </a:r>
            <a:r>
              <a:rPr lang="en-US" altLang="en-US" sz="3200" baseline="-25000" dirty="0"/>
              <a:t>0</a:t>
            </a:r>
            <a:r>
              <a:rPr lang="en-US" altLang="en-US" sz="3200" dirty="0"/>
              <a:t> = $3.12, g = 5.8%, &amp; F = 15%</a:t>
            </a:r>
          </a:p>
        </p:txBody>
      </p:sp>
      <p:grpSp>
        <p:nvGrpSpPr>
          <p:cNvPr id="72708" name="Group 3"/>
          <p:cNvGrpSpPr>
            <a:grpSpLocks/>
          </p:cNvGrpSpPr>
          <p:nvPr/>
        </p:nvGrpSpPr>
        <p:grpSpPr bwMode="auto">
          <a:xfrm>
            <a:off x="1371600" y="2362200"/>
            <a:ext cx="6324600" cy="4008438"/>
            <a:chOff x="864" y="1488"/>
            <a:chExt cx="3984" cy="2525"/>
          </a:xfrm>
        </p:grpSpPr>
        <p:sp>
          <p:nvSpPr>
            <p:cNvPr id="72709" name="Text Box 4"/>
            <p:cNvSpPr txBox="1">
              <a:spLocks noChangeArrowheads="1"/>
            </p:cNvSpPr>
            <p:nvPr/>
          </p:nvSpPr>
          <p:spPr bwMode="auto">
            <a:xfrm>
              <a:off x="864" y="1680"/>
              <a:ext cx="96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r</a:t>
              </a:r>
              <a:r>
                <a:rPr lang="en-US" altLang="en-US" baseline="-25000"/>
                <a:t>e</a:t>
              </a:r>
              <a:r>
                <a:rPr lang="en-US" altLang="en-US"/>
                <a:t> =</a:t>
              </a:r>
              <a:endParaRPr lang="en-US" altLang="en-US" baseline="-25000"/>
            </a:p>
          </p:txBody>
        </p:sp>
        <p:sp>
          <p:nvSpPr>
            <p:cNvPr id="72710" name="Text Box 5"/>
            <p:cNvSpPr txBox="1">
              <a:spLocks noChangeArrowheads="1"/>
            </p:cNvSpPr>
            <p:nvPr/>
          </p:nvSpPr>
          <p:spPr bwMode="auto">
            <a:xfrm>
              <a:off x="1584" y="1488"/>
              <a:ext cx="168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D</a:t>
              </a:r>
              <a:r>
                <a:rPr lang="en-US" altLang="en-US" baseline="-25000"/>
                <a:t>0</a:t>
              </a:r>
              <a:r>
                <a:rPr lang="en-US" altLang="en-US"/>
                <a:t>(1 + g)</a:t>
              </a:r>
            </a:p>
          </p:txBody>
        </p:sp>
        <p:sp>
          <p:nvSpPr>
            <p:cNvPr id="72711" name="Text Box 6"/>
            <p:cNvSpPr txBox="1">
              <a:spLocks noChangeArrowheads="1"/>
            </p:cNvSpPr>
            <p:nvPr/>
          </p:nvSpPr>
          <p:spPr bwMode="auto">
            <a:xfrm>
              <a:off x="1632" y="1920"/>
              <a:ext cx="168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P</a:t>
              </a:r>
              <a:r>
                <a:rPr lang="en-US" altLang="en-US" baseline="-25000"/>
                <a:t>0</a:t>
              </a:r>
              <a:r>
                <a:rPr lang="en-US" altLang="en-US"/>
                <a:t>(1 – F)</a:t>
              </a:r>
            </a:p>
          </p:txBody>
        </p:sp>
        <p:sp>
          <p:nvSpPr>
            <p:cNvPr id="72712" name="Line 7"/>
            <p:cNvSpPr>
              <a:spLocks noChangeShapeType="1"/>
            </p:cNvSpPr>
            <p:nvPr/>
          </p:nvSpPr>
          <p:spPr bwMode="auto">
            <a:xfrm>
              <a:off x="1488" y="1872"/>
              <a:ext cx="124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713" name="Text Box 8"/>
            <p:cNvSpPr txBox="1">
              <a:spLocks noChangeArrowheads="1"/>
            </p:cNvSpPr>
            <p:nvPr/>
          </p:nvSpPr>
          <p:spPr bwMode="auto">
            <a:xfrm>
              <a:off x="2832" y="1680"/>
              <a:ext cx="120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+ g</a:t>
              </a:r>
            </a:p>
          </p:txBody>
        </p:sp>
        <p:sp>
          <p:nvSpPr>
            <p:cNvPr id="72714" name="Text Box 9"/>
            <p:cNvSpPr txBox="1">
              <a:spLocks noChangeArrowheads="1"/>
            </p:cNvSpPr>
            <p:nvPr/>
          </p:nvSpPr>
          <p:spPr bwMode="auto">
            <a:xfrm>
              <a:off x="1104" y="2496"/>
              <a:ext cx="33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=</a:t>
              </a:r>
            </a:p>
          </p:txBody>
        </p:sp>
        <p:sp>
          <p:nvSpPr>
            <p:cNvPr id="72715" name="Text Box 10"/>
            <p:cNvSpPr txBox="1">
              <a:spLocks noChangeArrowheads="1"/>
            </p:cNvSpPr>
            <p:nvPr/>
          </p:nvSpPr>
          <p:spPr bwMode="auto">
            <a:xfrm>
              <a:off x="1488" y="2352"/>
              <a:ext cx="168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$3.12(1.058)</a:t>
              </a:r>
            </a:p>
          </p:txBody>
        </p:sp>
        <p:sp>
          <p:nvSpPr>
            <p:cNvPr id="72716" name="Text Box 11"/>
            <p:cNvSpPr txBox="1">
              <a:spLocks noChangeArrowheads="1"/>
            </p:cNvSpPr>
            <p:nvPr/>
          </p:nvSpPr>
          <p:spPr bwMode="auto">
            <a:xfrm>
              <a:off x="1440" y="2784"/>
              <a:ext cx="168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$50(1 – 0.15)</a:t>
              </a:r>
            </a:p>
          </p:txBody>
        </p:sp>
        <p:sp>
          <p:nvSpPr>
            <p:cNvPr id="72717" name="Line 12"/>
            <p:cNvSpPr>
              <a:spLocks noChangeShapeType="1"/>
            </p:cNvSpPr>
            <p:nvPr/>
          </p:nvSpPr>
          <p:spPr bwMode="auto">
            <a:xfrm>
              <a:off x="1632" y="2736"/>
              <a:ext cx="124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718" name="Text Box 13"/>
            <p:cNvSpPr txBox="1">
              <a:spLocks noChangeArrowheads="1"/>
            </p:cNvSpPr>
            <p:nvPr/>
          </p:nvSpPr>
          <p:spPr bwMode="auto">
            <a:xfrm>
              <a:off x="3072" y="2448"/>
              <a:ext cx="120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+ 5.8%</a:t>
              </a:r>
            </a:p>
          </p:txBody>
        </p:sp>
        <p:sp>
          <p:nvSpPr>
            <p:cNvPr id="72719" name="Text Box 14"/>
            <p:cNvSpPr txBox="1">
              <a:spLocks noChangeArrowheads="1"/>
            </p:cNvSpPr>
            <p:nvPr/>
          </p:nvSpPr>
          <p:spPr bwMode="auto">
            <a:xfrm>
              <a:off x="1104" y="3360"/>
              <a:ext cx="33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=</a:t>
              </a:r>
            </a:p>
          </p:txBody>
        </p:sp>
        <p:sp>
          <p:nvSpPr>
            <p:cNvPr id="72720" name="Text Box 15"/>
            <p:cNvSpPr txBox="1">
              <a:spLocks noChangeArrowheads="1"/>
            </p:cNvSpPr>
            <p:nvPr/>
          </p:nvSpPr>
          <p:spPr bwMode="auto">
            <a:xfrm>
              <a:off x="1536" y="3264"/>
              <a:ext cx="105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$3.30</a:t>
              </a:r>
            </a:p>
          </p:txBody>
        </p:sp>
        <p:sp>
          <p:nvSpPr>
            <p:cNvPr id="72721" name="Text Box 16"/>
            <p:cNvSpPr txBox="1">
              <a:spLocks noChangeArrowheads="1"/>
            </p:cNvSpPr>
            <p:nvPr/>
          </p:nvSpPr>
          <p:spPr bwMode="auto">
            <a:xfrm>
              <a:off x="1488" y="3648"/>
              <a:ext cx="105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$42.50</a:t>
              </a:r>
            </a:p>
          </p:txBody>
        </p:sp>
        <p:sp>
          <p:nvSpPr>
            <p:cNvPr id="72722" name="Line 17"/>
            <p:cNvSpPr>
              <a:spLocks noChangeShapeType="1"/>
            </p:cNvSpPr>
            <p:nvPr/>
          </p:nvSpPr>
          <p:spPr bwMode="auto">
            <a:xfrm>
              <a:off x="1536" y="3600"/>
              <a:ext cx="81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723" name="Text Box 18"/>
            <p:cNvSpPr txBox="1">
              <a:spLocks noChangeArrowheads="1"/>
            </p:cNvSpPr>
            <p:nvPr/>
          </p:nvSpPr>
          <p:spPr bwMode="auto">
            <a:xfrm>
              <a:off x="2448" y="3360"/>
              <a:ext cx="240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+ 5.8% = 13.6%</a:t>
              </a:r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B78A8EE-B40D-49FA-93D3-A94E19734EE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54</a:t>
            </a:fld>
            <a:endParaRPr lang="en-US" altLang="en-US" sz="1400"/>
          </a:p>
        </p:txBody>
      </p:sp>
      <p:sp>
        <p:nvSpPr>
          <p:cNvPr id="73731" name="Rectangle 4"/>
          <p:cNvSpPr>
            <a:spLocks noGrp="1" noChangeArrowheads="1"/>
          </p:cNvSpPr>
          <p:nvPr>
            <p:ph type="title"/>
          </p:nvPr>
        </p:nvSpPr>
        <p:spPr>
          <a:xfrm>
            <a:off x="1150938" y="214313"/>
            <a:ext cx="7993062" cy="146208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Cost of New 30-Year Debt: Par = $1,000, Coupon = 10% paid annually, &amp; F = 2%</a:t>
            </a:r>
          </a:p>
        </p:txBody>
      </p:sp>
      <p:sp>
        <p:nvSpPr>
          <p:cNvPr id="73732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Using a financial calculator:</a:t>
            </a:r>
          </a:p>
          <a:p>
            <a:pPr lvl="1" eaLnBrk="1" hangingPunct="1"/>
            <a:r>
              <a:rPr lang="en-US" altLang="en-US"/>
              <a:t>N = 30</a:t>
            </a:r>
          </a:p>
          <a:p>
            <a:pPr lvl="1" eaLnBrk="1" hangingPunct="1"/>
            <a:r>
              <a:rPr lang="en-US" altLang="en-US"/>
              <a:t>PV = 1,000(1 – 0.02) = 980</a:t>
            </a:r>
          </a:p>
          <a:p>
            <a:pPr lvl="1" eaLnBrk="1" hangingPunct="1"/>
            <a:r>
              <a:rPr lang="en-US" altLang="en-US"/>
              <a:t>PMT = -(0.10)(1,000)=-100</a:t>
            </a:r>
          </a:p>
          <a:p>
            <a:pPr lvl="1" eaLnBrk="1" hangingPunct="1"/>
            <a:r>
              <a:rPr lang="en-US" altLang="en-US"/>
              <a:t>FV = -1,000</a:t>
            </a:r>
          </a:p>
          <a:p>
            <a:pPr eaLnBrk="1" hangingPunct="1"/>
            <a:r>
              <a:rPr lang="en-US" altLang="en-US"/>
              <a:t>Solving for I/YR: 10.216%</a:t>
            </a:r>
          </a:p>
          <a:p>
            <a:pPr eaLnBrk="1" hangingPunct="1"/>
            <a:r>
              <a:rPr lang="en-US" altLang="en-US"/>
              <a:t>&amp; After-tax: 10.216(1-.4) = 6.13%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682CA6E-EA95-489A-83ED-F6D707060C8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55</a:t>
            </a:fld>
            <a:endParaRPr lang="en-US" altLang="en-US" sz="1400"/>
          </a:p>
        </p:txBody>
      </p:sp>
      <p:sp>
        <p:nvSpPr>
          <p:cNvPr id="7475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Comments about flotation costs:</a:t>
            </a:r>
          </a:p>
        </p:txBody>
      </p:sp>
      <p:sp>
        <p:nvSpPr>
          <p:cNvPr id="74756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 err="1"/>
              <a:t>Flot</a:t>
            </a:r>
            <a:r>
              <a:rPr lang="en-US" altLang="en-US" sz="2800" dirty="0"/>
              <a:t> costs depend on risk of firm &amp; type of capital being raised.</a:t>
            </a:r>
          </a:p>
          <a:p>
            <a:pPr eaLnBrk="1" hangingPunct="1"/>
            <a:r>
              <a:rPr lang="en-US" altLang="en-US" sz="2800" dirty="0" err="1"/>
              <a:t>Flot</a:t>
            </a:r>
            <a:r>
              <a:rPr lang="en-US" altLang="en-US" sz="2800" dirty="0"/>
              <a:t> costs highest for common equity.  However, most firms issue equity </a:t>
            </a:r>
            <a:r>
              <a:rPr lang="en-US" altLang="en-US" sz="2800" dirty="0" err="1"/>
              <a:t>infrequently,per</a:t>
            </a:r>
            <a:r>
              <a:rPr lang="en-US" altLang="en-US" sz="2800" dirty="0"/>
              <a:t>-project cost is fairly small.</a:t>
            </a:r>
          </a:p>
          <a:p>
            <a:pPr eaLnBrk="1" hangingPunct="1"/>
            <a:r>
              <a:rPr lang="en-US" altLang="en-US" sz="2800" dirty="0"/>
              <a:t>We will frequently ignore flotation costs when </a:t>
            </a:r>
            <a:r>
              <a:rPr lang="en-US" altLang="en-US" sz="2800" dirty="0" err="1"/>
              <a:t>calculatingWACC</a:t>
            </a:r>
            <a:r>
              <a:rPr lang="en-US" altLang="en-US" sz="2800" dirty="0"/>
              <a:t>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FBFC1D0-7CA2-495E-ADA2-F02C820EFA8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56</a:t>
            </a:fld>
            <a:endParaRPr lang="en-US" altLang="en-US" sz="1400"/>
          </a:p>
        </p:txBody>
      </p:sp>
      <p:sp>
        <p:nvSpPr>
          <p:cNvPr id="7577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Four Mistakes in Determining WACC</a:t>
            </a:r>
          </a:p>
        </p:txBody>
      </p:sp>
      <p:sp>
        <p:nvSpPr>
          <p:cNvPr id="75780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Current vs. historical cost of debt</a:t>
            </a:r>
          </a:p>
          <a:p>
            <a:pPr eaLnBrk="1" hangingPunct="1"/>
            <a:r>
              <a:rPr lang="en-US" altLang="en-US" dirty="0"/>
              <a:t>Mixing current &amp; historical measures to estimate </a:t>
            </a:r>
            <a:r>
              <a:rPr lang="en-US" altLang="en-US" dirty="0" err="1"/>
              <a:t>mrkt</a:t>
            </a:r>
            <a:r>
              <a:rPr lang="en-US" altLang="en-US" dirty="0"/>
              <a:t> risk prem.</a:t>
            </a:r>
          </a:p>
          <a:p>
            <a:pPr eaLnBrk="1" hangingPunct="1"/>
            <a:r>
              <a:rPr lang="en-US" altLang="en-US" dirty="0"/>
              <a:t>Incorrect cost of capital components</a:t>
            </a:r>
          </a:p>
          <a:p>
            <a:r>
              <a:rPr lang="en-US" altLang="en-US" dirty="0"/>
              <a:t>Book vs. Market </a:t>
            </a:r>
            <a:r>
              <a:rPr lang="en-US" altLang="en-US" dirty="0" err="1"/>
              <a:t>Wts</a:t>
            </a:r>
            <a:r>
              <a:rPr lang="en-US" altLang="en-US" dirty="0"/>
              <a:t>.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</p:txBody>
      </p:sp>
      <p:sp>
        <p:nvSpPr>
          <p:cNvPr id="75781" name="Rectangle 23"/>
          <p:cNvSpPr>
            <a:spLocks noChangeArrowheads="1"/>
          </p:cNvSpPr>
          <p:nvPr/>
        </p:nvSpPr>
        <p:spPr bwMode="auto">
          <a:xfrm>
            <a:off x="7626350" y="5846763"/>
            <a:ext cx="11445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(More…)</a:t>
            </a:r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1AB26C2-D887-4282-B4F2-BE61D6667913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57</a:t>
            </a:fld>
            <a:endParaRPr lang="en-US" altLang="en-US" sz="1400"/>
          </a:p>
        </p:txBody>
      </p:sp>
      <p:sp>
        <p:nvSpPr>
          <p:cNvPr id="768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Current vs. Historical Cost of Debt</a:t>
            </a:r>
          </a:p>
        </p:txBody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When estimating cost of debt, don’t use coupon rate on existing debt, which represents cost of past debt.  </a:t>
            </a:r>
          </a:p>
          <a:p>
            <a:pPr eaLnBrk="1" hangingPunct="1"/>
            <a:r>
              <a:rPr lang="en-US" altLang="en-US" dirty="0"/>
              <a:t>Use current interest rate on new debt.</a:t>
            </a:r>
          </a:p>
        </p:txBody>
      </p:sp>
      <p:sp>
        <p:nvSpPr>
          <p:cNvPr id="76805" name="Rectangle 23"/>
          <p:cNvSpPr>
            <a:spLocks noChangeArrowheads="1"/>
          </p:cNvSpPr>
          <p:nvPr/>
        </p:nvSpPr>
        <p:spPr bwMode="auto">
          <a:xfrm>
            <a:off x="7626350" y="5846763"/>
            <a:ext cx="11445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(More…)</a:t>
            </a:r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B4D53FC-327F-491E-9B5F-6AF603D67561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58</a:t>
            </a:fld>
            <a:endParaRPr lang="en-US" altLang="en-US" sz="1400"/>
          </a:p>
        </p:txBody>
      </p:sp>
      <p:sp>
        <p:nvSpPr>
          <p:cNvPr id="79875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3600" dirty="0"/>
              <a:t>Capital components are sources of funding from investors, not operations.</a:t>
            </a:r>
          </a:p>
        </p:txBody>
      </p:sp>
      <p:sp>
        <p:nvSpPr>
          <p:cNvPr id="79876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304800" y="1524000"/>
            <a:ext cx="8210550" cy="4652964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Accounts payable, accruals, &amp; deferred taxes not sources of funding from investors,</a:t>
            </a:r>
          </a:p>
          <a:p>
            <a:pPr lvl="1"/>
            <a:r>
              <a:rPr lang="en-US" altLang="en-US" sz="2400" dirty="0"/>
              <a:t> </a:t>
            </a:r>
            <a:r>
              <a:rPr lang="en-US" altLang="en-US" sz="2600" dirty="0"/>
              <a:t>so not included in calculation of WACC</a:t>
            </a:r>
            <a:r>
              <a:rPr lang="en-US" altLang="en-US" sz="2400" dirty="0"/>
              <a:t>.</a:t>
            </a:r>
          </a:p>
          <a:p>
            <a:pPr eaLnBrk="1" hangingPunct="1"/>
            <a:r>
              <a:rPr lang="en-US" altLang="en-US" sz="2800" dirty="0"/>
              <a:t>Adjust for these items when calculating project CFs,</a:t>
            </a:r>
          </a:p>
          <a:p>
            <a:pPr lvl="1"/>
            <a:r>
              <a:rPr lang="en-US" altLang="en-US" sz="2600" dirty="0"/>
              <a:t>not when </a:t>
            </a:r>
            <a:r>
              <a:rPr lang="en-US" altLang="en-US" sz="2600" dirty="0" err="1"/>
              <a:t>calc’ing</a:t>
            </a:r>
            <a:r>
              <a:rPr lang="en-US" altLang="en-US" sz="2600" dirty="0"/>
              <a:t> WACC.</a:t>
            </a:r>
          </a:p>
        </p:txBody>
      </p:sp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5DD499A-3558-4B45-A80F-CD912FF5897A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59</a:t>
            </a:fld>
            <a:endParaRPr lang="en-US" altLang="en-US" sz="1400"/>
          </a:p>
        </p:txBody>
      </p:sp>
      <p:sp>
        <p:nvSpPr>
          <p:cNvPr id="77827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Estimating Market Risk Premium</a:t>
            </a:r>
          </a:p>
        </p:txBody>
      </p:sp>
      <p:sp>
        <p:nvSpPr>
          <p:cNvPr id="77828" name="Rectangle 1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When estimating risk premium </a:t>
            </a:r>
            <a:r>
              <a:rPr lang="en-US" altLang="en-US" sz="2800" dirty="0" err="1"/>
              <a:t>forCAPM</a:t>
            </a:r>
            <a:r>
              <a:rPr lang="en-US" altLang="en-US" sz="2800" dirty="0"/>
              <a:t> approach, don’t subtract current long-term T-bond rate from historical ave. return on </a:t>
            </a:r>
            <a:r>
              <a:rPr lang="en-US" altLang="en-US" sz="2800" dirty="0" err="1"/>
              <a:t>cmn</a:t>
            </a:r>
            <a:r>
              <a:rPr lang="en-US" altLang="en-US" sz="2800" dirty="0"/>
              <a:t>. stocks.</a:t>
            </a:r>
          </a:p>
          <a:p>
            <a:pPr eaLnBrk="1" hangingPunct="1"/>
            <a:r>
              <a:rPr lang="en-US" altLang="en-US" sz="2800" dirty="0"/>
              <a:t>I.e.:</a:t>
            </a:r>
          </a:p>
          <a:p>
            <a:pPr eaLnBrk="1" hangingPunct="1"/>
            <a:r>
              <a:rPr lang="en-US" altLang="en-US" sz="2800" dirty="0"/>
              <a:t>If historical </a:t>
            </a:r>
            <a:r>
              <a:rPr lang="en-US" altLang="en-US" sz="2800" dirty="0" err="1"/>
              <a:t>r</a:t>
            </a:r>
            <a:r>
              <a:rPr lang="en-US" altLang="en-US" sz="2800" baseline="-25000" dirty="0" err="1"/>
              <a:t>M</a:t>
            </a:r>
            <a:r>
              <a:rPr lang="en-US" altLang="en-US" sz="2800" baseline="-25000" dirty="0"/>
              <a:t> </a:t>
            </a:r>
            <a:r>
              <a:rPr lang="en-US" altLang="en-US" sz="2800" dirty="0"/>
              <a:t>has been about 12.2% &amp; inflation drives current </a:t>
            </a:r>
            <a:r>
              <a:rPr lang="en-US" altLang="en-US" sz="2800" dirty="0" err="1"/>
              <a:t>r</a:t>
            </a:r>
            <a:r>
              <a:rPr lang="en-US" altLang="en-US" sz="2800" baseline="-25000" dirty="0" err="1"/>
              <a:t>RF</a:t>
            </a:r>
            <a:r>
              <a:rPr lang="en-US" altLang="en-US" sz="2800" dirty="0"/>
              <a:t> up to 10%,</a:t>
            </a:r>
          </a:p>
          <a:p>
            <a:pPr lvl="1"/>
            <a:r>
              <a:rPr lang="en-US" altLang="en-US" sz="2400" dirty="0"/>
              <a:t>current market risk premium is not 12.2% – 10% = 2.2%!</a:t>
            </a:r>
          </a:p>
        </p:txBody>
      </p:sp>
      <p:sp>
        <p:nvSpPr>
          <p:cNvPr id="77829" name="Rectangle 23"/>
          <p:cNvSpPr>
            <a:spLocks noChangeArrowheads="1"/>
          </p:cNvSpPr>
          <p:nvPr/>
        </p:nvSpPr>
        <p:spPr bwMode="auto">
          <a:xfrm>
            <a:off x="7626350" y="5846763"/>
            <a:ext cx="11445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(More…)</a:t>
            </a:r>
          </a:p>
        </p:txBody>
      </p:sp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1B53777-7CD9-4691-8E9A-856B3E336C0A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60</a:t>
            </a:fld>
            <a:endParaRPr lang="en-US" altLang="en-US" sz="1400"/>
          </a:p>
        </p:txBody>
      </p:sp>
      <p:sp>
        <p:nvSpPr>
          <p:cNvPr id="78851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Estimating Weights</a:t>
            </a:r>
          </a:p>
        </p:txBody>
      </p:sp>
      <p:sp>
        <p:nvSpPr>
          <p:cNvPr id="78852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3697287"/>
          </a:xfrm>
        </p:spPr>
        <p:txBody>
          <a:bodyPr/>
          <a:lstStyle/>
          <a:p>
            <a:pPr eaLnBrk="1" hangingPunct="1"/>
            <a:r>
              <a:rPr lang="en-US" altLang="en-US" sz="2800"/>
              <a:t>Use target cap structure to determine wts.</a:t>
            </a:r>
          </a:p>
          <a:p>
            <a:pPr eaLnBrk="1" hangingPunct="1"/>
            <a:r>
              <a:rPr lang="en-US" altLang="en-US" sz="2800"/>
              <a:t>If don’t know target wts, use MV of equity. </a:t>
            </a:r>
          </a:p>
          <a:p>
            <a:pPr eaLnBrk="1" hangingPunct="1"/>
            <a:r>
              <a:rPr lang="en-US" altLang="en-US" sz="2800"/>
              <a:t>If don’t know MV of debt, then use BV of debt.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/>
          </a:p>
        </p:txBody>
      </p:sp>
      <p:sp>
        <p:nvSpPr>
          <p:cNvPr id="78853" name="Rectangle 23"/>
          <p:cNvSpPr>
            <a:spLocks noChangeArrowheads="1"/>
          </p:cNvSpPr>
          <p:nvPr/>
        </p:nvSpPr>
        <p:spPr bwMode="auto">
          <a:xfrm>
            <a:off x="7626350" y="5846763"/>
            <a:ext cx="11445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(More…)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nances Template.potx  -  Read-Only" id="{9D7ED064-E300-4594-8398-6985A24AACAF}" vid="{43AE9C98-686E-491F-9B4B-0535FA3B6992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Finances Template</Template>
  <TotalTime>296</TotalTime>
  <Pages>24</Pages>
  <Words>2310</Words>
  <Application>Microsoft Office PowerPoint</Application>
  <PresentationFormat>On-screen Show (4:3)</PresentationFormat>
  <Paragraphs>461</Paragraphs>
  <Slides>60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8" baseType="lpstr">
      <vt:lpstr>Arial</vt:lpstr>
      <vt:lpstr>Baguet Script</vt:lpstr>
      <vt:lpstr>Calibri</vt:lpstr>
      <vt:lpstr>Calibri Light</vt:lpstr>
      <vt:lpstr>Tahoma</vt:lpstr>
      <vt:lpstr>Times New Roman</vt:lpstr>
      <vt:lpstr>Wingdings</vt:lpstr>
      <vt:lpstr>Office Theme</vt:lpstr>
      <vt:lpstr>CHAPTER  9</vt:lpstr>
      <vt:lpstr>Topics in Chapter</vt:lpstr>
      <vt:lpstr>COST OF CAPITAL</vt:lpstr>
      <vt:lpstr>EQUITIES</vt:lpstr>
      <vt:lpstr>What types of long-term capital do firms use?</vt:lpstr>
      <vt:lpstr>COST of CAPITAL Raising $ &amp; its Costs</vt:lpstr>
      <vt:lpstr>Cost of Capital Raising $ &amp; its Costs</vt:lpstr>
      <vt:lpstr>Capital Components:</vt:lpstr>
      <vt:lpstr>Before-tax vs. After-tax Capital Costs</vt:lpstr>
      <vt:lpstr>Historical (Embedded) Costs  vs. New (Marginal) Costs</vt:lpstr>
      <vt:lpstr>Weighted Average Cost of Capital (WACC)</vt:lpstr>
      <vt:lpstr>Cost of Equity</vt:lpstr>
      <vt:lpstr>Cost of Equity</vt:lpstr>
      <vt:lpstr>Cost of Preferred Stock</vt:lpstr>
      <vt:lpstr>Determining Cost of Debt: Methods</vt:lpstr>
      <vt:lpstr>Current vs. Historical Cost of Debt</vt:lpstr>
      <vt:lpstr>15-yr, 13.25% semiannual bond sells @ $1,250. Tax = 40%. 60,000 Bonds o/s.  What’s rd?  </vt:lpstr>
      <vt:lpstr>Component Cost of Debt</vt:lpstr>
      <vt:lpstr>Cost of preferred stock = ?:  Pps = $125; 10.26% Div;  Par = $100; F = 8.8%</vt:lpstr>
      <vt:lpstr>Time Line of Preferred</vt:lpstr>
      <vt:lpstr>Prfd notes</vt:lpstr>
      <vt:lpstr>Is preferred stock more or less risky  to investors than debt?</vt:lpstr>
      <vt:lpstr>Two ways Co.’s raise common equity?</vt:lpstr>
      <vt:lpstr>Why a cost for reinvested earnings?</vt:lpstr>
      <vt:lpstr>Cost for Reinvested Earnings (Continued)</vt:lpstr>
      <vt:lpstr>Three ways to determine  cost of equity, rs: </vt:lpstr>
      <vt:lpstr>Equity Cost Components</vt:lpstr>
      <vt:lpstr>CAPM Cost of Equity =?   rRF = 5.6%, RPM = 6%, b = 1.2</vt:lpstr>
      <vt:lpstr>Issues in Using CAPM</vt:lpstr>
      <vt:lpstr>Issues in Using CAPM (Continued)</vt:lpstr>
      <vt:lpstr>DCF Cost of Equity, rs =?:  D0 = $3.12; P0 = $50; g = 5.8%</vt:lpstr>
      <vt:lpstr>Estimating Growth Rate</vt:lpstr>
      <vt:lpstr>Earnings Retention Model</vt:lpstr>
      <vt:lpstr>Earnings Retention Model (Continued)</vt:lpstr>
      <vt:lpstr>Could DCF methodology be applied if  growth is not constant?</vt:lpstr>
      <vt:lpstr>Own-Bond-Yield + Judgmental-Risk-Premium Method:  rd = 10%, RP = 3.2%</vt:lpstr>
      <vt:lpstr>Final estimate of rs?</vt:lpstr>
      <vt:lpstr>Determining Weights for WACC</vt:lpstr>
      <vt:lpstr>Estimating Weights for Capital Structure</vt:lpstr>
      <vt:lpstr>Estimating Weights (Continued)</vt:lpstr>
      <vt:lpstr>Estimating Weights (Continued)</vt:lpstr>
      <vt:lpstr>Estimating Weights (Continued)</vt:lpstr>
      <vt:lpstr>WACC using target weights = ?</vt:lpstr>
      <vt:lpstr>What factors influence a company’s WACC?</vt:lpstr>
      <vt:lpstr>Should firm-wide WACC be used  for each of its divisions?</vt:lpstr>
      <vt:lpstr>A Project-Specific,  Risk-Adjusted Cost of Capital</vt:lpstr>
      <vt:lpstr>Risk-Adjusted Divisional Cost of Capital</vt:lpstr>
      <vt:lpstr>Pure Play Method for Estimating Beta for Division or Project</vt:lpstr>
      <vt:lpstr>Accounting Beta Method  for Estimating Beta</vt:lpstr>
      <vt:lpstr>What are three types of project risk?</vt:lpstr>
      <vt:lpstr>How is each type of risk used?</vt:lpstr>
      <vt:lpstr>Costs of Issuing New Common Stock</vt:lpstr>
      <vt:lpstr>Cost of New Common Equity: P0 = $50, D0 = $3.12, g = 5.8%, &amp; F = 15%</vt:lpstr>
      <vt:lpstr>Cost of New 30-Year Debt: Par = $1,000, Coupon = 10% paid annually, &amp; F = 2%</vt:lpstr>
      <vt:lpstr>Comments about flotation costs:</vt:lpstr>
      <vt:lpstr>Four Mistakes in Determining WACC</vt:lpstr>
      <vt:lpstr>Current vs. Historical Cost of Debt</vt:lpstr>
      <vt:lpstr>Capital components are sources of funding from investors, not operations.</vt:lpstr>
      <vt:lpstr>Estimating Market Risk Premium</vt:lpstr>
      <vt:lpstr>Estimating Weights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 9</dc:title>
  <dc:subject>Powerpoint show</dc:subject>
  <dc:creator>Donna Hall</dc:creator>
  <cp:lastModifiedBy>Robert M Donchez</cp:lastModifiedBy>
  <cp:revision>34</cp:revision>
  <cp:lastPrinted>2022-10-13T01:15:09Z</cp:lastPrinted>
  <dcterms:created xsi:type="dcterms:W3CDTF">2022-07-25T18:56:05Z</dcterms:created>
  <dcterms:modified xsi:type="dcterms:W3CDTF">2024-03-07T05:43:04Z</dcterms:modified>
</cp:coreProperties>
</file>