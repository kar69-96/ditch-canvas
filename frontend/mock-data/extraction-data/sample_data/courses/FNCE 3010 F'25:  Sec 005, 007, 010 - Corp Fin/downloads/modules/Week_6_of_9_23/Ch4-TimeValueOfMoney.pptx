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ink/ink1.xml" ContentType="application/inkml+xml"/>
  <Override PartName="/ppt/notesSlides/notesSlide102.xml" ContentType="application/vnd.openxmlformats-officedocument.presentationml.notesSlide+xml"/>
  <Override PartName="/ppt/charts/chart1.xml" ContentType="application/vnd.openxmlformats-officedocument.drawingml.chart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115"/>
  </p:notesMasterIdLst>
  <p:handoutMasterIdLst>
    <p:handoutMasterId r:id="rId116"/>
  </p:handoutMasterIdLst>
  <p:sldIdLst>
    <p:sldId id="427" r:id="rId2"/>
    <p:sldId id="428" r:id="rId3"/>
    <p:sldId id="438" r:id="rId4"/>
    <p:sldId id="437" r:id="rId5"/>
    <p:sldId id="257" r:id="rId6"/>
    <p:sldId id="258" r:id="rId7"/>
    <p:sldId id="259" r:id="rId8"/>
    <p:sldId id="260" r:id="rId9"/>
    <p:sldId id="477" r:id="rId10"/>
    <p:sldId id="478" r:id="rId11"/>
    <p:sldId id="261" r:id="rId12"/>
    <p:sldId id="397" r:id="rId13"/>
    <p:sldId id="398" r:id="rId14"/>
    <p:sldId id="399" r:id="rId15"/>
    <p:sldId id="264" r:id="rId16"/>
    <p:sldId id="391" r:id="rId17"/>
    <p:sldId id="392" r:id="rId18"/>
    <p:sldId id="393" r:id="rId19"/>
    <p:sldId id="330" r:id="rId20"/>
    <p:sldId id="266" r:id="rId21"/>
    <p:sldId id="440" r:id="rId22"/>
    <p:sldId id="441" r:id="rId23"/>
    <p:sldId id="334" r:id="rId24"/>
    <p:sldId id="442" r:id="rId25"/>
    <p:sldId id="267" r:id="rId26"/>
    <p:sldId id="444" r:id="rId27"/>
    <p:sldId id="445" r:id="rId28"/>
    <p:sldId id="443" r:id="rId29"/>
    <p:sldId id="479" r:id="rId30"/>
    <p:sldId id="269" r:id="rId31"/>
    <p:sldId id="335" r:id="rId32"/>
    <p:sldId id="475" r:id="rId33"/>
    <p:sldId id="446" r:id="rId34"/>
    <p:sldId id="480" r:id="rId35"/>
    <p:sldId id="314" r:id="rId36"/>
    <p:sldId id="400" r:id="rId37"/>
    <p:sldId id="315" r:id="rId38"/>
    <p:sldId id="336" r:id="rId39"/>
    <p:sldId id="337" r:id="rId40"/>
    <p:sldId id="482" r:id="rId41"/>
    <p:sldId id="338" r:id="rId42"/>
    <p:sldId id="339" r:id="rId43"/>
    <p:sldId id="448" r:id="rId44"/>
    <p:sldId id="272" r:id="rId45"/>
    <p:sldId id="273" r:id="rId46"/>
    <p:sldId id="429" r:id="rId47"/>
    <p:sldId id="430" r:id="rId48"/>
    <p:sldId id="274" r:id="rId49"/>
    <p:sldId id="341" r:id="rId50"/>
    <p:sldId id="275" r:id="rId51"/>
    <p:sldId id="432" r:id="rId52"/>
    <p:sldId id="276" r:id="rId53"/>
    <p:sldId id="343" r:id="rId54"/>
    <p:sldId id="280" r:id="rId55"/>
    <p:sldId id="344" r:id="rId56"/>
    <p:sldId id="281" r:id="rId57"/>
    <p:sldId id="403" r:id="rId58"/>
    <p:sldId id="404" r:id="rId59"/>
    <p:sldId id="449" r:id="rId60"/>
    <p:sldId id="450" r:id="rId61"/>
    <p:sldId id="282" r:id="rId62"/>
    <p:sldId id="394" r:id="rId63"/>
    <p:sldId id="395" r:id="rId64"/>
    <p:sldId id="283" r:id="rId65"/>
    <p:sldId id="433" r:id="rId66"/>
    <p:sldId id="354" r:id="rId67"/>
    <p:sldId id="355" r:id="rId68"/>
    <p:sldId id="357" r:id="rId69"/>
    <p:sldId id="407" r:id="rId70"/>
    <p:sldId id="356" r:id="rId71"/>
    <p:sldId id="409" r:id="rId72"/>
    <p:sldId id="426" r:id="rId73"/>
    <p:sldId id="452" r:id="rId74"/>
    <p:sldId id="359" r:id="rId75"/>
    <p:sldId id="411" r:id="rId76"/>
    <p:sldId id="360" r:id="rId77"/>
    <p:sldId id="434" r:id="rId78"/>
    <p:sldId id="396" r:id="rId79"/>
    <p:sldId id="363" r:id="rId80"/>
    <p:sldId id="364" r:id="rId81"/>
    <p:sldId id="365" r:id="rId82"/>
    <p:sldId id="366" r:id="rId83"/>
    <p:sldId id="412" r:id="rId84"/>
    <p:sldId id="454" r:id="rId85"/>
    <p:sldId id="455" r:id="rId86"/>
    <p:sldId id="456" r:id="rId87"/>
    <p:sldId id="457" r:id="rId88"/>
    <p:sldId id="458" r:id="rId89"/>
    <p:sldId id="459" r:id="rId90"/>
    <p:sldId id="481" r:id="rId91"/>
    <p:sldId id="460" r:id="rId92"/>
    <p:sldId id="461" r:id="rId93"/>
    <p:sldId id="462" r:id="rId94"/>
    <p:sldId id="463" r:id="rId95"/>
    <p:sldId id="464" r:id="rId96"/>
    <p:sldId id="465" r:id="rId97"/>
    <p:sldId id="466" r:id="rId98"/>
    <p:sldId id="467" r:id="rId99"/>
    <p:sldId id="492" r:id="rId100"/>
    <p:sldId id="493" r:id="rId101"/>
    <p:sldId id="494" r:id="rId102"/>
    <p:sldId id="470" r:id="rId103"/>
    <p:sldId id="489" r:id="rId104"/>
    <p:sldId id="490" r:id="rId105"/>
    <p:sldId id="491" r:id="rId106"/>
    <p:sldId id="346" r:id="rId107"/>
    <p:sldId id="347" r:id="rId108"/>
    <p:sldId id="348" r:id="rId109"/>
    <p:sldId id="414" r:id="rId110"/>
    <p:sldId id="349" r:id="rId111"/>
    <p:sldId id="415" r:id="rId112"/>
    <p:sldId id="416" r:id="rId113"/>
    <p:sldId id="352" r:id="rId114"/>
  </p:sldIdLst>
  <p:sldSz cx="9144000" cy="6858000" type="screen4x3"/>
  <p:notesSz cx="6954838" cy="93091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2" autoAdjust="0"/>
    <p:restoredTop sz="94694" autoAdjust="0"/>
  </p:normalViewPr>
  <p:slideViewPr>
    <p:cSldViewPr>
      <p:cViewPr varScale="1">
        <p:scale>
          <a:sx n="103" d="100"/>
          <a:sy n="103" d="100"/>
        </p:scale>
        <p:origin x="1872" y="96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04761904761904"/>
          <c:y val="8.3989501312335957E-2"/>
          <c:w val="0.69047619047619047"/>
          <c:h val="0.737532808398950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Principal</c:v>
                </c:pt>
              </c:strCache>
            </c:strRef>
          </c:tx>
          <c:spPr>
            <a:solidFill>
              <a:schemeClr val="accent1"/>
            </a:solidFill>
            <a:ln w="11357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Sheet1!$B$1:$D$1</c:f>
              <c:strCache>
                <c:ptCount val="3"/>
                <c:pt idx="0">
                  <c:v>PMT 1</c:v>
                </c:pt>
                <c:pt idx="1">
                  <c:v>PMT 2</c:v>
                </c:pt>
                <c:pt idx="2">
                  <c:v>PMT 3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 formatCode="&quot;$&quot;#,##0_);[Red]\(&quot;$&quot;#,##0\)">
                  <c:v>302</c:v>
                </c:pt>
                <c:pt idx="1">
                  <c:v>332</c:v>
                </c:pt>
                <c:pt idx="2">
                  <c:v>365.5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CD-479E-B442-1EA74C6A602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Interest</c:v>
                </c:pt>
              </c:strCache>
            </c:strRef>
          </c:tx>
          <c:spPr>
            <a:solidFill>
              <a:schemeClr val="accent2"/>
            </a:solidFill>
            <a:ln w="11357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Sheet1!$B$1:$D$1</c:f>
              <c:strCache>
                <c:ptCount val="3"/>
                <c:pt idx="0">
                  <c:v>PMT 1</c:v>
                </c:pt>
                <c:pt idx="1">
                  <c:v>PMT 2</c:v>
                </c:pt>
                <c:pt idx="2">
                  <c:v>PMT 3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36.5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CD-479E-B442-1EA74C6A6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0833872"/>
        <c:axId val="1"/>
      </c:barChart>
      <c:catAx>
        <c:axId val="1230833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83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610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2839">
              <a:solidFill>
                <a:schemeClr val="tx1"/>
              </a:solidFill>
              <a:prstDash val="solid"/>
            </a:ln>
          </c:spPr>
        </c:majorGridlines>
        <c:numFmt formatCode="&quot;$&quot;#,##0_);[Red]\(&quot;$&quot;#,##0\)" sourceLinked="1"/>
        <c:majorTickMark val="out"/>
        <c:minorTickMark val="none"/>
        <c:tickLblPos val="nextTo"/>
        <c:spPr>
          <a:ln w="283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610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230833872"/>
        <c:crosses val="autoZero"/>
        <c:crossBetween val="between"/>
      </c:valAx>
      <c:spPr>
        <a:noFill/>
        <a:ln w="11357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82205513784461148"/>
          <c:y val="0.35695538057742782"/>
          <c:w val="0.17293233082706766"/>
          <c:h val="0.18635170603674542"/>
        </c:manualLayout>
      </c:layout>
      <c:overlay val="0"/>
      <c:spPr>
        <a:noFill/>
        <a:ln w="2839">
          <a:solidFill>
            <a:schemeClr val="tx1"/>
          </a:solidFill>
          <a:prstDash val="solid"/>
        </a:ln>
      </c:spPr>
      <c:txPr>
        <a:bodyPr/>
        <a:lstStyle/>
        <a:p>
          <a:pPr>
            <a:defRPr sz="1480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610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28.31858" units="1/cm"/>
          <inkml:channelProperty channel="Y" name="resolution" value="28.36879" units="1/cm"/>
          <inkml:channelProperty channel="T" name="resolution" value="1" units="1/dev"/>
        </inkml:channelProperties>
      </inkml:inkSource>
      <inkml:timestamp xml:id="ts0" timeString="2015-02-06T04:04:49.2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0,'35'0'141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21188"/>
            <a:ext cx="5095875" cy="418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704850"/>
            <a:ext cx="4637088" cy="3476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789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54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0944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8500"/>
            <a:ext cx="4652962" cy="3490913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325" y="4422775"/>
            <a:ext cx="5564188" cy="41878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For value box in Ch 4 time value FM13.</a:t>
            </a:r>
          </a:p>
        </p:txBody>
      </p:sp>
    </p:spTree>
    <p:extLst>
      <p:ext uri="{BB962C8B-B14F-4D97-AF65-F5344CB8AC3E}">
        <p14:creationId xmlns:p14="http://schemas.microsoft.com/office/powerpoint/2010/main" val="2817023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78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964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0594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486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669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0248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706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7778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7199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5950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4252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611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2531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1687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148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130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808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756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651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7256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3956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19215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3211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023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7256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4084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8767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9964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5789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9DCEE-43CD-FFDA-31DC-46D68AF1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8700CF24-94F8-3216-3136-B2B1437AF2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FC6F7FBB-8766-61E6-7D8A-FBAFFC227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9588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0780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28020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89104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173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6979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5962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03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6424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3603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0050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0199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2314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4355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6668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3970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48525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572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7839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8434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2761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354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85191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487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8250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7640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29754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90373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85418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9703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33199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131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13880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84987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7266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95054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60617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8408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31723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66217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09594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70453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59630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79340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18854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38344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61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40669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90253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02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69058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2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32764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71792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72546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28320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04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525420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25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5167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27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96495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47970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27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51133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86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69951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17057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8159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66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82216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88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84865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63249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3643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2883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70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359887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52718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22708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496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B37FC1-6377-4643-A8D7-B7A4C79D470C}" type="slidenum">
              <a:rPr lang="en-US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4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Value of Money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Time Value Topics</a:t>
            </a:r>
          </a:p>
        </p:txBody>
      </p:sp>
      <p:sp>
        <p:nvSpPr>
          <p:cNvPr id="7174" name="Rectangle 1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Future value</a:t>
            </a:r>
          </a:p>
          <a:p>
            <a:pPr eaLnBrk="1" hangingPunct="1"/>
            <a:r>
              <a:rPr lang="en-US" altLang="en-US"/>
              <a:t>Present value</a:t>
            </a:r>
          </a:p>
          <a:p>
            <a:pPr eaLnBrk="1" hangingPunct="1"/>
            <a:r>
              <a:rPr lang="en-US" altLang="en-US"/>
              <a:t>Rates of return</a:t>
            </a:r>
          </a:p>
          <a:p>
            <a:pPr eaLnBrk="1" hangingPunct="1"/>
            <a:r>
              <a:rPr lang="en-US" altLang="en-US"/>
              <a:t>Amortization</a:t>
            </a:r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118ADD-1E59-461E-9E3C-6995DBFE4A8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Time Value Basic Concepts</a:t>
            </a:r>
          </a:p>
        </p:txBody>
      </p:sp>
      <p:sp>
        <p:nvSpPr>
          <p:cNvPr id="5126" name="Rectangle 1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dirty="0"/>
              <a:t>  Time lines</a:t>
            </a:r>
          </a:p>
          <a:p>
            <a:pPr eaLnBrk="1" hangingPunct="1"/>
            <a:r>
              <a:rPr lang="en-US" altLang="en-US" dirty="0"/>
              <a:t>Future value / Present value of lump sum</a:t>
            </a:r>
          </a:p>
          <a:p>
            <a:pPr eaLnBrk="1" hangingPunct="1"/>
            <a:r>
              <a:rPr lang="en-US" altLang="en-US" dirty="0"/>
              <a:t>FV / PV of annuity</a:t>
            </a:r>
          </a:p>
          <a:p>
            <a:pPr eaLnBrk="1" hangingPunct="1"/>
            <a:r>
              <a:rPr lang="en-US" altLang="en-US" dirty="0"/>
              <a:t>Perpetuities</a:t>
            </a:r>
          </a:p>
          <a:p>
            <a:pPr eaLnBrk="1" hangingPunct="1"/>
            <a:r>
              <a:rPr lang="en-US" altLang="en-US" dirty="0"/>
              <a:t>Uneven CF stream</a:t>
            </a:r>
          </a:p>
          <a:p>
            <a:pPr eaLnBrk="1" hangingPunct="1"/>
            <a:r>
              <a:rPr lang="en-US" altLang="en-US" dirty="0"/>
              <a:t>Compounding periods</a:t>
            </a:r>
          </a:p>
          <a:p>
            <a:pPr eaLnBrk="1" hangingPunct="1"/>
            <a:r>
              <a:rPr lang="en-US" altLang="en-US" dirty="0"/>
              <a:t>Nominal / Effective / Periodic rates</a:t>
            </a:r>
          </a:p>
          <a:p>
            <a:pPr eaLnBrk="1" hangingPunct="1"/>
            <a:r>
              <a:rPr lang="en-US" altLang="en-US"/>
              <a:t>Rates of return</a:t>
            </a:r>
          </a:p>
          <a:p>
            <a:pPr eaLnBrk="1" hangingPunct="1"/>
            <a:r>
              <a:rPr lang="en-US" altLang="en-US"/>
              <a:t>Amortization</a:t>
            </a:r>
            <a:endParaRPr lang="en-US" altLang="en-US" dirty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3C21BD-D787-4F56-A5FA-D9D0B09E41E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67" name="AutoShape 3"/>
          <p:cNvSpPr>
            <a:spLocks noChangeArrowheads="1"/>
          </p:cNvSpPr>
          <p:nvPr/>
        </p:nvSpPr>
        <p:spPr bwMode="auto">
          <a:xfrm>
            <a:off x="990600" y="3124200"/>
            <a:ext cx="6934200" cy="914400"/>
          </a:xfrm>
          <a:prstGeom prst="roundRect">
            <a:avLst>
              <a:gd name="adj" fmla="val 16667"/>
            </a:avLst>
          </a:prstGeom>
          <a:solidFill>
            <a:srgbClr val="A3D5D9"/>
          </a:solidFill>
          <a:ln w="28575">
            <a:solidFill>
              <a:schemeClr val="tx2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990600" y="3349625"/>
            <a:ext cx="53721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Value =                         +                         +      +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438400" y="3200400"/>
            <a:ext cx="10668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FCF</a:t>
            </a:r>
            <a:r>
              <a:rPr lang="en-US" altLang="en-US" sz="1800" b="1" baseline="-25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343400" y="3200400"/>
            <a:ext cx="10668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FCF</a:t>
            </a:r>
            <a:r>
              <a:rPr lang="en-US" altLang="en-US" sz="1800" b="1" baseline="-25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629400" y="3200400"/>
            <a:ext cx="10668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FCF</a:t>
            </a:r>
            <a:r>
              <a:rPr lang="en-US" altLang="en-US" sz="1800" b="1" baseline="-25000">
                <a:solidFill>
                  <a:schemeClr val="tx2"/>
                </a:solidFill>
              </a:rPr>
              <a:t>∞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1981200" y="3522663"/>
            <a:ext cx="20574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(1 + WACC)</a:t>
            </a:r>
            <a:r>
              <a:rPr lang="en-US" altLang="en-US" sz="1800" b="1" baseline="30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6172200" y="3522663"/>
            <a:ext cx="17526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(1 + WACC)</a:t>
            </a:r>
            <a:r>
              <a:rPr lang="en-US" altLang="en-US" sz="1800" b="1" baseline="30000">
                <a:solidFill>
                  <a:schemeClr val="tx2"/>
                </a:solidFill>
              </a:rPr>
              <a:t>∞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3810000" y="3522663"/>
            <a:ext cx="19812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(1 + WACC)</a:t>
            </a:r>
            <a:r>
              <a:rPr lang="en-US" altLang="en-US" sz="1800" b="1" baseline="30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2133600" y="3581400"/>
            <a:ext cx="1371600" cy="31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3962400" y="3581400"/>
            <a:ext cx="1371600" cy="31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6324600" y="3581400"/>
            <a:ext cx="1371600" cy="31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1278" name="AutoShape 14"/>
          <p:cNvSpPr>
            <a:spLocks noChangeArrowheads="1"/>
          </p:cNvSpPr>
          <p:nvPr/>
        </p:nvSpPr>
        <p:spPr bwMode="auto">
          <a:xfrm>
            <a:off x="3586163" y="2208213"/>
            <a:ext cx="1744662" cy="66198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Free cash flow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(FCF)</a:t>
            </a:r>
          </a:p>
        </p:txBody>
      </p:sp>
      <p:cxnSp>
        <p:nvCxnSpPr>
          <p:cNvPr id="11279" name="AutoShape 15"/>
          <p:cNvCxnSpPr>
            <a:cxnSpLocks noChangeShapeType="1"/>
            <a:stCxn id="11284" idx="0"/>
            <a:endCxn id="11285" idx="2"/>
          </p:cNvCxnSpPr>
          <p:nvPr/>
        </p:nvCxnSpPr>
        <p:spPr bwMode="auto">
          <a:xfrm flipV="1">
            <a:off x="4457700" y="5291138"/>
            <a:ext cx="0" cy="1809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0" name="AutoShape 16"/>
          <p:cNvSpPr>
            <a:spLocks noChangeArrowheads="1"/>
          </p:cNvSpPr>
          <p:nvPr/>
        </p:nvSpPr>
        <p:spPr bwMode="auto">
          <a:xfrm>
            <a:off x="627063" y="5408613"/>
            <a:ext cx="2095500" cy="3921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Market interest rates</a:t>
            </a:r>
          </a:p>
        </p:txBody>
      </p:sp>
      <p:sp>
        <p:nvSpPr>
          <p:cNvPr id="11281" name="AutoShape 17"/>
          <p:cNvSpPr>
            <a:spLocks noChangeArrowheads="1"/>
          </p:cNvSpPr>
          <p:nvPr/>
        </p:nvSpPr>
        <p:spPr bwMode="auto">
          <a:xfrm>
            <a:off x="5791200" y="5942013"/>
            <a:ext cx="1970088" cy="3921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Firm’s business risk</a:t>
            </a:r>
          </a:p>
        </p:txBody>
      </p:sp>
      <p:sp>
        <p:nvSpPr>
          <p:cNvPr id="11282" name="AutoShape 18"/>
          <p:cNvSpPr>
            <a:spLocks noChangeArrowheads="1"/>
          </p:cNvSpPr>
          <p:nvPr/>
        </p:nvSpPr>
        <p:spPr bwMode="auto">
          <a:xfrm>
            <a:off x="684213" y="5942013"/>
            <a:ext cx="2038350" cy="3921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Market risk aversion</a:t>
            </a:r>
          </a:p>
        </p:txBody>
      </p:sp>
      <p:sp>
        <p:nvSpPr>
          <p:cNvPr id="11283" name="AutoShape 19"/>
          <p:cNvSpPr>
            <a:spLocks noChangeArrowheads="1"/>
          </p:cNvSpPr>
          <p:nvPr/>
        </p:nvSpPr>
        <p:spPr bwMode="auto">
          <a:xfrm>
            <a:off x="5791200" y="5408613"/>
            <a:ext cx="2239963" cy="3921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Firm’s debt/equity mix</a:t>
            </a:r>
          </a:p>
        </p:txBody>
      </p:sp>
      <p:sp>
        <p:nvSpPr>
          <p:cNvPr id="11284" name="AutoShape 20"/>
          <p:cNvSpPr>
            <a:spLocks noChangeArrowheads="1"/>
          </p:cNvSpPr>
          <p:nvPr/>
        </p:nvSpPr>
        <p:spPr bwMode="auto">
          <a:xfrm>
            <a:off x="3695700" y="5486400"/>
            <a:ext cx="1522413" cy="798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Cost of debt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Cost of equity</a:t>
            </a:r>
          </a:p>
        </p:txBody>
      </p:sp>
      <p:sp>
        <p:nvSpPr>
          <p:cNvPr id="11285" name="AutoShape 21"/>
          <p:cNvSpPr>
            <a:spLocks noChangeArrowheads="1"/>
          </p:cNvSpPr>
          <p:nvPr/>
        </p:nvSpPr>
        <p:spPr bwMode="auto">
          <a:xfrm>
            <a:off x="3378200" y="4343400"/>
            <a:ext cx="2157413" cy="9334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Weighted average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cost of capital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(WACC)</a:t>
            </a:r>
          </a:p>
        </p:txBody>
      </p:sp>
      <p:cxnSp>
        <p:nvCxnSpPr>
          <p:cNvPr id="11286" name="AutoShape 22"/>
          <p:cNvCxnSpPr>
            <a:cxnSpLocks noChangeShapeType="1"/>
            <a:stCxn id="11283" idx="1"/>
            <a:endCxn id="11284" idx="3"/>
          </p:cNvCxnSpPr>
          <p:nvPr/>
        </p:nvCxnSpPr>
        <p:spPr bwMode="auto">
          <a:xfrm flipH="1">
            <a:off x="5232400" y="5605463"/>
            <a:ext cx="544513" cy="2809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7" name="AutoShape 23"/>
          <p:cNvCxnSpPr>
            <a:cxnSpLocks noChangeShapeType="1"/>
            <a:stCxn id="11281" idx="1"/>
            <a:endCxn id="11284" idx="3"/>
          </p:cNvCxnSpPr>
          <p:nvPr/>
        </p:nvCxnSpPr>
        <p:spPr bwMode="auto">
          <a:xfrm flipH="1" flipV="1">
            <a:off x="5232400" y="5886450"/>
            <a:ext cx="544513" cy="2524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8" name="AutoShape 24"/>
          <p:cNvCxnSpPr>
            <a:cxnSpLocks noChangeShapeType="1"/>
            <a:stCxn id="11280" idx="3"/>
            <a:endCxn id="11284" idx="1"/>
          </p:cNvCxnSpPr>
          <p:nvPr/>
        </p:nvCxnSpPr>
        <p:spPr bwMode="auto">
          <a:xfrm>
            <a:off x="2736850" y="5605463"/>
            <a:ext cx="944563" cy="2809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9" name="AutoShape 25"/>
          <p:cNvCxnSpPr>
            <a:cxnSpLocks noChangeShapeType="1"/>
            <a:stCxn id="11282" idx="3"/>
            <a:endCxn id="11284" idx="1"/>
          </p:cNvCxnSpPr>
          <p:nvPr/>
        </p:nvCxnSpPr>
        <p:spPr bwMode="auto">
          <a:xfrm flipV="1">
            <a:off x="2736850" y="5886450"/>
            <a:ext cx="944563" cy="25241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0" name="AutoShape 26"/>
          <p:cNvCxnSpPr>
            <a:cxnSpLocks noChangeShapeType="1"/>
            <a:stCxn id="11283" idx="0"/>
            <a:endCxn id="11285" idx="3"/>
          </p:cNvCxnSpPr>
          <p:nvPr/>
        </p:nvCxnSpPr>
        <p:spPr bwMode="auto">
          <a:xfrm rot="5400000" flipH="1">
            <a:off x="5938838" y="4421187"/>
            <a:ext cx="584200" cy="1362075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91" name="AutoShape 27"/>
          <p:cNvSpPr>
            <a:spLocks noChangeArrowheads="1"/>
          </p:cNvSpPr>
          <p:nvPr/>
        </p:nvSpPr>
        <p:spPr bwMode="auto">
          <a:xfrm>
            <a:off x="1522413" y="1484313"/>
            <a:ext cx="1757362" cy="635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Net operating</a:t>
            </a:r>
          </a:p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profit after taxes</a:t>
            </a:r>
          </a:p>
        </p:txBody>
      </p:sp>
      <p:sp>
        <p:nvSpPr>
          <p:cNvPr id="11292" name="AutoShape 28"/>
          <p:cNvSpPr>
            <a:spLocks noChangeArrowheads="1"/>
          </p:cNvSpPr>
          <p:nvPr/>
        </p:nvSpPr>
        <p:spPr bwMode="auto">
          <a:xfrm>
            <a:off x="5484813" y="1484313"/>
            <a:ext cx="2197100" cy="635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Required investments</a:t>
            </a:r>
          </a:p>
          <a:p>
            <a:pPr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in operating capital</a:t>
            </a:r>
          </a:p>
        </p:txBody>
      </p: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5105400" y="1625600"/>
            <a:ext cx="350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cs typeface="Tahoma" panose="020B0604030504040204" pitchFamily="34" charset="0"/>
              </a:rPr>
              <a:t>−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5334000" y="2362200"/>
            <a:ext cx="350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cs typeface="Tahoma" panose="020B0604030504040204" pitchFamily="34" charset="0"/>
              </a:rPr>
              <a:t>=</a:t>
            </a:r>
          </a:p>
        </p:txBody>
      </p:sp>
      <p:cxnSp>
        <p:nvCxnSpPr>
          <p:cNvPr id="11295" name="AutoShape 31"/>
          <p:cNvCxnSpPr>
            <a:cxnSpLocks noChangeShapeType="1"/>
            <a:stCxn id="11285" idx="0"/>
            <a:endCxn id="11267" idx="2"/>
          </p:cNvCxnSpPr>
          <p:nvPr/>
        </p:nvCxnSpPr>
        <p:spPr bwMode="auto">
          <a:xfrm flipV="1">
            <a:off x="4457700" y="4052888"/>
            <a:ext cx="0" cy="2762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6" name="AutoShape 32"/>
          <p:cNvCxnSpPr>
            <a:cxnSpLocks noChangeShapeType="1"/>
            <a:stCxn id="11278" idx="2"/>
            <a:endCxn id="11267" idx="0"/>
          </p:cNvCxnSpPr>
          <p:nvPr/>
        </p:nvCxnSpPr>
        <p:spPr bwMode="auto">
          <a:xfrm flipH="1">
            <a:off x="4457700" y="2884488"/>
            <a:ext cx="1588" cy="225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7" name="AutoShape 33"/>
          <p:cNvCxnSpPr>
            <a:cxnSpLocks noChangeShapeType="1"/>
            <a:stCxn id="11292" idx="2"/>
            <a:endCxn id="11294" idx="3"/>
          </p:cNvCxnSpPr>
          <p:nvPr/>
        </p:nvCxnSpPr>
        <p:spPr bwMode="auto">
          <a:xfrm rot="5400000">
            <a:off x="5935663" y="1882775"/>
            <a:ext cx="396875" cy="898525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8" name="AutoShape 34"/>
          <p:cNvCxnSpPr>
            <a:cxnSpLocks noChangeShapeType="1"/>
            <a:stCxn id="11291" idx="3"/>
            <a:endCxn id="11293" idx="1"/>
          </p:cNvCxnSpPr>
          <p:nvPr/>
        </p:nvCxnSpPr>
        <p:spPr bwMode="auto">
          <a:xfrm flipV="1">
            <a:off x="3294063" y="1793875"/>
            <a:ext cx="1811337" cy="7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99" name="AutoShape 35"/>
          <p:cNvSpPr>
            <a:spLocks noChangeArrowheads="1"/>
          </p:cNvSpPr>
          <p:nvPr/>
        </p:nvSpPr>
        <p:spPr bwMode="auto">
          <a:xfrm>
            <a:off x="76200" y="3352800"/>
            <a:ext cx="762000" cy="3048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5715000" y="3276600"/>
            <a:ext cx="4572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</a:rPr>
              <a:t>...</a:t>
            </a:r>
            <a:endParaRPr lang="en-US" altLang="en-US" sz="1800" b="1" baseline="-25000">
              <a:solidFill>
                <a:schemeClr val="folHlink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EA986-B898-699A-4CB9-A3BDFAE9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en-US" sz="4000" b="1" dirty="0"/>
              <a:t>Determinants of Intrinsic Value:</a:t>
            </a:r>
            <a:br>
              <a:rPr lang="en-US" altLang="en-US" sz="4000" b="1" dirty="0"/>
            </a:br>
            <a:r>
              <a:rPr lang="en-US" altLang="en-US" sz="4000" b="1" dirty="0"/>
              <a:t>The Present Value Equation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lines show timing of cash flows.</a:t>
            </a:r>
          </a:p>
        </p:txBody>
      </p:sp>
      <p:sp>
        <p:nvSpPr>
          <p:cNvPr id="133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4AD818-A90E-41E8-9F17-534A8C276A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grpSp>
        <p:nvGrpSpPr>
          <p:cNvPr id="13316" name="Group 2077"/>
          <p:cNvGrpSpPr>
            <a:grpSpLocks/>
          </p:cNvGrpSpPr>
          <p:nvPr/>
        </p:nvGrpSpPr>
        <p:grpSpPr bwMode="auto">
          <a:xfrm>
            <a:off x="694436" y="2514600"/>
            <a:ext cx="7842250" cy="3341687"/>
            <a:chOff x="693" y="1903"/>
            <a:chExt cx="4940" cy="2105"/>
          </a:xfrm>
        </p:grpSpPr>
        <p:sp>
          <p:nvSpPr>
            <p:cNvPr id="13317" name="Rectangle 6"/>
            <p:cNvSpPr>
              <a:spLocks noChangeArrowheads="1"/>
            </p:cNvSpPr>
            <p:nvPr/>
          </p:nvSpPr>
          <p:spPr bwMode="auto">
            <a:xfrm>
              <a:off x="693" y="2665"/>
              <a:ext cx="49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CF</a:t>
              </a:r>
              <a:r>
                <a:rPr lang="en-US" altLang="en-US" baseline="-25000"/>
                <a:t>0</a:t>
              </a:r>
            </a:p>
          </p:txBody>
        </p:sp>
        <p:sp>
          <p:nvSpPr>
            <p:cNvPr id="13318" name="Rectangle 7"/>
            <p:cNvSpPr>
              <a:spLocks noChangeArrowheads="1"/>
            </p:cNvSpPr>
            <p:nvPr/>
          </p:nvSpPr>
          <p:spPr bwMode="auto">
            <a:xfrm>
              <a:off x="2079" y="2665"/>
              <a:ext cx="49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CF</a:t>
              </a:r>
              <a:r>
                <a:rPr lang="en-US" altLang="en-US" baseline="-25000"/>
                <a:t>1</a:t>
              </a:r>
            </a:p>
          </p:txBody>
        </p:sp>
        <p:sp>
          <p:nvSpPr>
            <p:cNvPr id="13319" name="Rectangle 8"/>
            <p:cNvSpPr>
              <a:spLocks noChangeArrowheads="1"/>
            </p:cNvSpPr>
            <p:nvPr/>
          </p:nvSpPr>
          <p:spPr bwMode="auto">
            <a:xfrm>
              <a:off x="4765" y="2665"/>
              <a:ext cx="49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CF</a:t>
              </a:r>
              <a:r>
                <a:rPr lang="en-US" altLang="en-US" baseline="-25000"/>
                <a:t>3</a:t>
              </a:r>
            </a:p>
          </p:txBody>
        </p:sp>
        <p:sp>
          <p:nvSpPr>
            <p:cNvPr id="13320" name="Line 9"/>
            <p:cNvSpPr>
              <a:spLocks noChangeShapeType="1"/>
            </p:cNvSpPr>
            <p:nvPr/>
          </p:nvSpPr>
          <p:spPr bwMode="auto">
            <a:xfrm>
              <a:off x="894" y="2304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1" name="Line 10"/>
            <p:cNvSpPr>
              <a:spLocks noChangeShapeType="1"/>
            </p:cNvSpPr>
            <p:nvPr/>
          </p:nvSpPr>
          <p:spPr bwMode="auto">
            <a:xfrm>
              <a:off x="2286" y="2312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2" name="Line 11"/>
            <p:cNvSpPr>
              <a:spLocks noChangeShapeType="1"/>
            </p:cNvSpPr>
            <p:nvPr/>
          </p:nvSpPr>
          <p:spPr bwMode="auto">
            <a:xfrm>
              <a:off x="3534" y="2312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3" name="Line 12"/>
            <p:cNvSpPr>
              <a:spLocks noChangeShapeType="1"/>
            </p:cNvSpPr>
            <p:nvPr/>
          </p:nvSpPr>
          <p:spPr bwMode="auto">
            <a:xfrm>
              <a:off x="4974" y="2312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4" name="Line 13"/>
            <p:cNvSpPr>
              <a:spLocks noChangeShapeType="1"/>
            </p:cNvSpPr>
            <p:nvPr/>
          </p:nvSpPr>
          <p:spPr bwMode="auto">
            <a:xfrm>
              <a:off x="902" y="2496"/>
              <a:ext cx="40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5" name="Rectangle 14"/>
            <p:cNvSpPr>
              <a:spLocks noChangeArrowheads="1"/>
            </p:cNvSpPr>
            <p:nvPr/>
          </p:nvSpPr>
          <p:spPr bwMode="auto">
            <a:xfrm>
              <a:off x="3327" y="2665"/>
              <a:ext cx="49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CF</a:t>
              </a:r>
              <a:r>
                <a:rPr lang="en-US" altLang="en-US" baseline="-25000"/>
                <a:t>2</a:t>
              </a:r>
            </a:p>
          </p:txBody>
        </p:sp>
        <p:sp>
          <p:nvSpPr>
            <p:cNvPr id="13326" name="Rectangle 15"/>
            <p:cNvSpPr>
              <a:spLocks noChangeArrowheads="1"/>
            </p:cNvSpPr>
            <p:nvPr/>
          </p:nvSpPr>
          <p:spPr bwMode="auto">
            <a:xfrm>
              <a:off x="790" y="190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13327" name="Rectangle 16"/>
            <p:cNvSpPr>
              <a:spLocks noChangeArrowheads="1"/>
            </p:cNvSpPr>
            <p:nvPr/>
          </p:nvSpPr>
          <p:spPr bwMode="auto">
            <a:xfrm>
              <a:off x="2182" y="190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13328" name="Rectangle 17"/>
            <p:cNvSpPr>
              <a:spLocks noChangeArrowheads="1"/>
            </p:cNvSpPr>
            <p:nvPr/>
          </p:nvSpPr>
          <p:spPr bwMode="auto">
            <a:xfrm>
              <a:off x="3429" y="190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3329" name="Rectangle 18"/>
            <p:cNvSpPr>
              <a:spLocks noChangeArrowheads="1"/>
            </p:cNvSpPr>
            <p:nvPr/>
          </p:nvSpPr>
          <p:spPr bwMode="auto">
            <a:xfrm>
              <a:off x="4869" y="190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13330" name="Rectangle 19"/>
            <p:cNvSpPr>
              <a:spLocks noChangeArrowheads="1"/>
            </p:cNvSpPr>
            <p:nvPr/>
          </p:nvSpPr>
          <p:spPr bwMode="auto">
            <a:xfrm>
              <a:off x="1269" y="2255"/>
              <a:ext cx="37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I%</a:t>
              </a:r>
            </a:p>
          </p:txBody>
        </p:sp>
        <p:sp>
          <p:nvSpPr>
            <p:cNvPr id="13331" name="Rectangle 20"/>
            <p:cNvSpPr>
              <a:spLocks noChangeArrowheads="1"/>
            </p:cNvSpPr>
            <p:nvPr/>
          </p:nvSpPr>
          <p:spPr bwMode="auto">
            <a:xfrm>
              <a:off x="750" y="3168"/>
              <a:ext cx="4883" cy="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u="sng"/>
                <a:t>Tick marks</a:t>
              </a:r>
              <a:r>
                <a:rPr lang="en-US" altLang="en-US"/>
                <a:t> at ends of periods, so Time 0 is today; Time 1 is the end of Period 1; or the beginning of Period 2.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Time line for a $100 lump sum due at the end of Year 2.</a:t>
            </a:r>
          </a:p>
        </p:txBody>
      </p:sp>
      <p:sp>
        <p:nvSpPr>
          <p:cNvPr id="153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ACF5E1-7E2B-475F-BBEF-ED482177EEB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grpSp>
        <p:nvGrpSpPr>
          <p:cNvPr id="15364" name="Group 3083"/>
          <p:cNvGrpSpPr>
            <a:grpSpLocks/>
          </p:cNvGrpSpPr>
          <p:nvPr/>
        </p:nvGrpSpPr>
        <p:grpSpPr bwMode="auto">
          <a:xfrm>
            <a:off x="1698625" y="3336925"/>
            <a:ext cx="6416675" cy="1758950"/>
            <a:chOff x="1070" y="2102"/>
            <a:chExt cx="4042" cy="1108"/>
          </a:xfrm>
        </p:grpSpPr>
        <p:sp>
          <p:nvSpPr>
            <p:cNvPr id="15365" name="Rectangle 6"/>
            <p:cNvSpPr>
              <a:spLocks noChangeArrowheads="1"/>
            </p:cNvSpPr>
            <p:nvPr/>
          </p:nvSpPr>
          <p:spPr bwMode="auto">
            <a:xfrm>
              <a:off x="3969" y="2847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5366" name="Rectangle 7"/>
            <p:cNvSpPr>
              <a:spLocks noChangeArrowheads="1"/>
            </p:cNvSpPr>
            <p:nvPr/>
          </p:nvSpPr>
          <p:spPr bwMode="auto">
            <a:xfrm>
              <a:off x="1070" y="210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15367" name="Rectangle 8"/>
            <p:cNvSpPr>
              <a:spLocks noChangeArrowheads="1"/>
            </p:cNvSpPr>
            <p:nvPr/>
          </p:nvSpPr>
          <p:spPr bwMode="auto">
            <a:xfrm>
              <a:off x="2573" y="210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15368" name="Rectangle 9"/>
            <p:cNvSpPr>
              <a:spLocks noChangeArrowheads="1"/>
            </p:cNvSpPr>
            <p:nvPr/>
          </p:nvSpPr>
          <p:spPr bwMode="auto">
            <a:xfrm>
              <a:off x="4109" y="2102"/>
              <a:ext cx="1003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   Year</a:t>
              </a:r>
            </a:p>
          </p:txBody>
        </p:sp>
        <p:sp>
          <p:nvSpPr>
            <p:cNvPr id="15369" name="Rectangle 11"/>
            <p:cNvSpPr>
              <a:spLocks noChangeArrowheads="1"/>
            </p:cNvSpPr>
            <p:nvPr/>
          </p:nvSpPr>
          <p:spPr bwMode="auto">
            <a:xfrm>
              <a:off x="1680" y="2352"/>
              <a:ext cx="37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I%</a:t>
              </a:r>
            </a:p>
          </p:txBody>
        </p:sp>
        <p:sp>
          <p:nvSpPr>
            <p:cNvPr id="15370" name="Line 12"/>
            <p:cNvSpPr>
              <a:spLocks noChangeShapeType="1"/>
            </p:cNvSpPr>
            <p:nvPr/>
          </p:nvSpPr>
          <p:spPr bwMode="auto">
            <a:xfrm>
              <a:off x="1184" y="2428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1" name="Line 13"/>
            <p:cNvSpPr>
              <a:spLocks noChangeShapeType="1"/>
            </p:cNvSpPr>
            <p:nvPr/>
          </p:nvSpPr>
          <p:spPr bwMode="auto">
            <a:xfrm>
              <a:off x="4226" y="2428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2" name="Line 14"/>
            <p:cNvSpPr>
              <a:spLocks noChangeShapeType="1"/>
            </p:cNvSpPr>
            <p:nvPr/>
          </p:nvSpPr>
          <p:spPr bwMode="auto">
            <a:xfrm>
              <a:off x="2707" y="2428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3" name="Line 16"/>
            <p:cNvSpPr>
              <a:spLocks noChangeShapeType="1"/>
            </p:cNvSpPr>
            <p:nvPr/>
          </p:nvSpPr>
          <p:spPr bwMode="auto">
            <a:xfrm>
              <a:off x="1200" y="2592"/>
              <a:ext cx="302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Time line for an ordinary annuity of $100 for 3 years</a:t>
            </a:r>
          </a:p>
        </p:txBody>
      </p:sp>
      <p:sp>
        <p:nvSpPr>
          <p:cNvPr id="174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C6D11F-19E6-43F6-B4D3-2C19AA4D30F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grpSp>
        <p:nvGrpSpPr>
          <p:cNvPr id="17412" name="Group 2069"/>
          <p:cNvGrpSpPr>
            <a:grpSpLocks/>
          </p:cNvGrpSpPr>
          <p:nvPr/>
        </p:nvGrpSpPr>
        <p:grpSpPr bwMode="auto">
          <a:xfrm>
            <a:off x="1193800" y="3368675"/>
            <a:ext cx="7069138" cy="1689100"/>
            <a:chOff x="752" y="2122"/>
            <a:chExt cx="4453" cy="1064"/>
          </a:xfrm>
        </p:grpSpPr>
        <p:sp>
          <p:nvSpPr>
            <p:cNvPr id="17413" name="Rectangle 7"/>
            <p:cNvSpPr>
              <a:spLocks noChangeArrowheads="1"/>
            </p:cNvSpPr>
            <p:nvPr/>
          </p:nvSpPr>
          <p:spPr bwMode="auto">
            <a:xfrm>
              <a:off x="1985" y="2823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7414" name="Rectangle 8"/>
            <p:cNvSpPr>
              <a:spLocks noChangeArrowheads="1"/>
            </p:cNvSpPr>
            <p:nvPr/>
          </p:nvSpPr>
          <p:spPr bwMode="auto">
            <a:xfrm>
              <a:off x="4671" y="2823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7415" name="Line 9"/>
            <p:cNvSpPr>
              <a:spLocks noChangeShapeType="1"/>
            </p:cNvSpPr>
            <p:nvPr/>
          </p:nvSpPr>
          <p:spPr bwMode="auto">
            <a:xfrm>
              <a:off x="856" y="2441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6" name="Line 10"/>
            <p:cNvSpPr>
              <a:spLocks noChangeShapeType="1"/>
            </p:cNvSpPr>
            <p:nvPr/>
          </p:nvSpPr>
          <p:spPr bwMode="auto">
            <a:xfrm>
              <a:off x="2248" y="2441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Line 11"/>
            <p:cNvSpPr>
              <a:spLocks noChangeShapeType="1"/>
            </p:cNvSpPr>
            <p:nvPr/>
          </p:nvSpPr>
          <p:spPr bwMode="auto">
            <a:xfrm>
              <a:off x="3496" y="2441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Line 12"/>
            <p:cNvSpPr>
              <a:spLocks noChangeShapeType="1"/>
            </p:cNvSpPr>
            <p:nvPr/>
          </p:nvSpPr>
          <p:spPr bwMode="auto">
            <a:xfrm>
              <a:off x="4936" y="2441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13"/>
            <p:cNvSpPr>
              <a:spLocks noChangeShapeType="1"/>
            </p:cNvSpPr>
            <p:nvPr/>
          </p:nvSpPr>
          <p:spPr bwMode="auto">
            <a:xfrm>
              <a:off x="864" y="2640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Rectangle 15"/>
            <p:cNvSpPr>
              <a:spLocks noChangeArrowheads="1"/>
            </p:cNvSpPr>
            <p:nvPr/>
          </p:nvSpPr>
          <p:spPr bwMode="auto">
            <a:xfrm>
              <a:off x="3233" y="2823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7421" name="Rectangle 16"/>
            <p:cNvSpPr>
              <a:spLocks noChangeArrowheads="1"/>
            </p:cNvSpPr>
            <p:nvPr/>
          </p:nvSpPr>
          <p:spPr bwMode="auto">
            <a:xfrm>
              <a:off x="752" y="212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17422" name="Rectangle 17"/>
            <p:cNvSpPr>
              <a:spLocks noChangeArrowheads="1"/>
            </p:cNvSpPr>
            <p:nvPr/>
          </p:nvSpPr>
          <p:spPr bwMode="auto">
            <a:xfrm>
              <a:off x="2144" y="212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17423" name="Rectangle 18"/>
            <p:cNvSpPr>
              <a:spLocks noChangeArrowheads="1"/>
            </p:cNvSpPr>
            <p:nvPr/>
          </p:nvSpPr>
          <p:spPr bwMode="auto">
            <a:xfrm>
              <a:off x="3391" y="212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7424" name="Rectangle 19"/>
            <p:cNvSpPr>
              <a:spLocks noChangeArrowheads="1"/>
            </p:cNvSpPr>
            <p:nvPr/>
          </p:nvSpPr>
          <p:spPr bwMode="auto">
            <a:xfrm>
              <a:off x="4831" y="212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17425" name="Rectangle 20"/>
            <p:cNvSpPr>
              <a:spLocks noChangeArrowheads="1"/>
            </p:cNvSpPr>
            <p:nvPr/>
          </p:nvSpPr>
          <p:spPr bwMode="auto">
            <a:xfrm>
              <a:off x="1232" y="2384"/>
              <a:ext cx="37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I%</a:t>
              </a: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line for uneven CFs</a:t>
            </a:r>
          </a:p>
        </p:txBody>
      </p:sp>
      <p:sp>
        <p:nvSpPr>
          <p:cNvPr id="194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F30866-AA3E-435D-9527-BE8A48D10D7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grpSp>
        <p:nvGrpSpPr>
          <p:cNvPr id="19460" name="Group 2060"/>
          <p:cNvGrpSpPr>
            <a:grpSpLocks/>
          </p:cNvGrpSpPr>
          <p:nvPr/>
        </p:nvGrpSpPr>
        <p:grpSpPr bwMode="auto">
          <a:xfrm>
            <a:off x="1363663" y="3336925"/>
            <a:ext cx="7277100" cy="1800225"/>
            <a:chOff x="859" y="2102"/>
            <a:chExt cx="4584" cy="1134"/>
          </a:xfrm>
        </p:grpSpPr>
        <p:sp>
          <p:nvSpPr>
            <p:cNvPr id="19461" name="Rectangle 6"/>
            <p:cNvSpPr>
              <a:spLocks noChangeArrowheads="1"/>
            </p:cNvSpPr>
            <p:nvPr/>
          </p:nvSpPr>
          <p:spPr bwMode="auto">
            <a:xfrm>
              <a:off x="2225" y="2873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9462" name="Rectangle 7"/>
            <p:cNvSpPr>
              <a:spLocks noChangeArrowheads="1"/>
            </p:cNvSpPr>
            <p:nvPr/>
          </p:nvSpPr>
          <p:spPr bwMode="auto">
            <a:xfrm>
              <a:off x="4969" y="2873"/>
              <a:ext cx="47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50</a:t>
              </a:r>
            </a:p>
          </p:txBody>
        </p:sp>
        <p:sp>
          <p:nvSpPr>
            <p:cNvPr id="19463" name="Line 8"/>
            <p:cNvSpPr>
              <a:spLocks noChangeShapeType="1"/>
            </p:cNvSpPr>
            <p:nvPr/>
          </p:nvSpPr>
          <p:spPr bwMode="auto">
            <a:xfrm>
              <a:off x="1096" y="2435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4" name="Line 9"/>
            <p:cNvSpPr>
              <a:spLocks noChangeShapeType="1"/>
            </p:cNvSpPr>
            <p:nvPr/>
          </p:nvSpPr>
          <p:spPr bwMode="auto">
            <a:xfrm>
              <a:off x="2488" y="2435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Line 10"/>
            <p:cNvSpPr>
              <a:spLocks noChangeShapeType="1"/>
            </p:cNvSpPr>
            <p:nvPr/>
          </p:nvSpPr>
          <p:spPr bwMode="auto">
            <a:xfrm>
              <a:off x="3736" y="2435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Line 11"/>
            <p:cNvSpPr>
              <a:spLocks noChangeShapeType="1"/>
            </p:cNvSpPr>
            <p:nvPr/>
          </p:nvSpPr>
          <p:spPr bwMode="auto">
            <a:xfrm>
              <a:off x="5176" y="2435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Rectangle 14"/>
            <p:cNvSpPr>
              <a:spLocks noChangeArrowheads="1"/>
            </p:cNvSpPr>
            <p:nvPr/>
          </p:nvSpPr>
          <p:spPr bwMode="auto">
            <a:xfrm>
              <a:off x="3515" y="2873"/>
              <a:ext cx="47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75</a:t>
              </a:r>
            </a:p>
          </p:txBody>
        </p:sp>
        <p:sp>
          <p:nvSpPr>
            <p:cNvPr id="19468" name="Rectangle 15"/>
            <p:cNvSpPr>
              <a:spLocks noChangeArrowheads="1"/>
            </p:cNvSpPr>
            <p:nvPr/>
          </p:nvSpPr>
          <p:spPr bwMode="auto">
            <a:xfrm>
              <a:off x="992" y="210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19469" name="Rectangle 16"/>
            <p:cNvSpPr>
              <a:spLocks noChangeArrowheads="1"/>
            </p:cNvSpPr>
            <p:nvPr/>
          </p:nvSpPr>
          <p:spPr bwMode="auto">
            <a:xfrm>
              <a:off x="2384" y="210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19470" name="Rectangle 17"/>
            <p:cNvSpPr>
              <a:spLocks noChangeArrowheads="1"/>
            </p:cNvSpPr>
            <p:nvPr/>
          </p:nvSpPr>
          <p:spPr bwMode="auto">
            <a:xfrm>
              <a:off x="3631" y="210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9471" name="Rectangle 18"/>
            <p:cNvSpPr>
              <a:spLocks noChangeArrowheads="1"/>
            </p:cNvSpPr>
            <p:nvPr/>
          </p:nvSpPr>
          <p:spPr bwMode="auto">
            <a:xfrm>
              <a:off x="5071" y="210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19472" name="Rectangle 19"/>
            <p:cNvSpPr>
              <a:spLocks noChangeArrowheads="1"/>
            </p:cNvSpPr>
            <p:nvPr/>
          </p:nvSpPr>
          <p:spPr bwMode="auto">
            <a:xfrm>
              <a:off x="1471" y="2406"/>
              <a:ext cx="37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I%</a:t>
              </a:r>
            </a:p>
          </p:txBody>
        </p:sp>
        <p:sp>
          <p:nvSpPr>
            <p:cNvPr id="19473" name="Rectangle 20"/>
            <p:cNvSpPr>
              <a:spLocks noChangeArrowheads="1"/>
            </p:cNvSpPr>
            <p:nvPr/>
          </p:nvSpPr>
          <p:spPr bwMode="auto">
            <a:xfrm>
              <a:off x="859" y="2873"/>
              <a:ext cx="48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-50</a:t>
              </a:r>
            </a:p>
          </p:txBody>
        </p:sp>
        <p:sp>
          <p:nvSpPr>
            <p:cNvPr id="19474" name="Line 21"/>
            <p:cNvSpPr>
              <a:spLocks noChangeShapeType="1"/>
            </p:cNvSpPr>
            <p:nvPr/>
          </p:nvSpPr>
          <p:spPr bwMode="auto">
            <a:xfrm>
              <a:off x="1104" y="2640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Simple vs Compound Interest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Simple Interest:</a:t>
            </a:r>
          </a:p>
          <a:p>
            <a:pPr lvl="1"/>
            <a:r>
              <a:rPr lang="en-US" altLang="en-US"/>
              <a:t>I = P x R x T</a:t>
            </a:r>
          </a:p>
          <a:p>
            <a:pPr lvl="1"/>
            <a:r>
              <a:rPr lang="en-US" altLang="en-US"/>
              <a:t>Interest $ amount </a:t>
            </a:r>
            <a:r>
              <a:rPr lang="en-US" altLang="en-US" sz="2400"/>
              <a:t>= Principal x Interest Rate x Time</a:t>
            </a:r>
          </a:p>
          <a:p>
            <a:pPr lvl="1"/>
            <a:r>
              <a:rPr lang="en-US" altLang="en-US" sz="2400"/>
              <a:t>NO accumulation of interest earning interest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Compounding $$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Growing Money to accumulate value in future</a:t>
            </a:r>
          </a:p>
          <a:p>
            <a:r>
              <a:rPr lang="en-US" altLang="en-US"/>
              <a:t>Solve for Future Value (FV)</a:t>
            </a:r>
          </a:p>
          <a:p>
            <a:r>
              <a:rPr lang="en-US" altLang="en-US"/>
              <a:t>Mathematical process (multiply)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FV of an initial $100 after</a:t>
            </a:r>
            <a:br>
              <a:rPr lang="en-US" altLang="en-US"/>
            </a:br>
            <a:r>
              <a:rPr lang="en-US" altLang="en-US"/>
              <a:t>3 years (I = 10%)</a:t>
            </a:r>
          </a:p>
        </p:txBody>
      </p:sp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DB71FE-9E7D-4A7D-9E2C-3F104DB7D0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grpSp>
        <p:nvGrpSpPr>
          <p:cNvPr id="12292" name="Group 1035"/>
          <p:cNvGrpSpPr>
            <a:grpSpLocks/>
          </p:cNvGrpSpPr>
          <p:nvPr/>
        </p:nvGrpSpPr>
        <p:grpSpPr bwMode="auto">
          <a:xfrm>
            <a:off x="768350" y="2516188"/>
            <a:ext cx="7550150" cy="2967037"/>
            <a:chOff x="480" y="1585"/>
            <a:chExt cx="4756" cy="1869"/>
          </a:xfrm>
        </p:grpSpPr>
        <p:sp>
          <p:nvSpPr>
            <p:cNvPr id="23557" name="Rectangle 7"/>
            <p:cNvSpPr>
              <a:spLocks noChangeArrowheads="1"/>
            </p:cNvSpPr>
            <p:nvPr/>
          </p:nvSpPr>
          <p:spPr bwMode="auto">
            <a:xfrm>
              <a:off x="4368" y="2352"/>
              <a:ext cx="86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FV = ?</a:t>
              </a:r>
            </a:p>
          </p:txBody>
        </p:sp>
        <p:sp>
          <p:nvSpPr>
            <p:cNvPr id="23558" name="Line 8"/>
            <p:cNvSpPr>
              <a:spLocks noChangeShapeType="1"/>
            </p:cNvSpPr>
            <p:nvPr/>
          </p:nvSpPr>
          <p:spPr bwMode="auto">
            <a:xfrm>
              <a:off x="754" y="2017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9" name="Line 9"/>
            <p:cNvSpPr>
              <a:spLocks noChangeShapeType="1"/>
            </p:cNvSpPr>
            <p:nvPr/>
          </p:nvSpPr>
          <p:spPr bwMode="auto">
            <a:xfrm>
              <a:off x="2146" y="2017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0" name="Line 10"/>
            <p:cNvSpPr>
              <a:spLocks noChangeShapeType="1"/>
            </p:cNvSpPr>
            <p:nvPr/>
          </p:nvSpPr>
          <p:spPr bwMode="auto">
            <a:xfrm>
              <a:off x="3394" y="2017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1" name="Line 11"/>
            <p:cNvSpPr>
              <a:spLocks noChangeShapeType="1"/>
            </p:cNvSpPr>
            <p:nvPr/>
          </p:nvSpPr>
          <p:spPr bwMode="auto">
            <a:xfrm>
              <a:off x="4834" y="2017"/>
              <a:ext cx="0" cy="3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2" name="Rectangle 15"/>
            <p:cNvSpPr>
              <a:spLocks noChangeArrowheads="1"/>
            </p:cNvSpPr>
            <p:nvPr/>
          </p:nvSpPr>
          <p:spPr bwMode="auto">
            <a:xfrm>
              <a:off x="649" y="1585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23563" name="Rectangle 16"/>
            <p:cNvSpPr>
              <a:spLocks noChangeArrowheads="1"/>
            </p:cNvSpPr>
            <p:nvPr/>
          </p:nvSpPr>
          <p:spPr bwMode="auto">
            <a:xfrm>
              <a:off x="2041" y="1585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3564" name="Rectangle 17"/>
            <p:cNvSpPr>
              <a:spLocks noChangeArrowheads="1"/>
            </p:cNvSpPr>
            <p:nvPr/>
          </p:nvSpPr>
          <p:spPr bwMode="auto">
            <a:xfrm>
              <a:off x="3289" y="1585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3565" name="Rectangle 18"/>
            <p:cNvSpPr>
              <a:spLocks noChangeArrowheads="1"/>
            </p:cNvSpPr>
            <p:nvPr/>
          </p:nvSpPr>
          <p:spPr bwMode="auto">
            <a:xfrm>
              <a:off x="4729" y="1585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3566" name="Rectangle 19"/>
            <p:cNvSpPr>
              <a:spLocks noChangeArrowheads="1"/>
            </p:cNvSpPr>
            <p:nvPr/>
          </p:nvSpPr>
          <p:spPr bwMode="auto">
            <a:xfrm>
              <a:off x="1129" y="1974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10%</a:t>
              </a:r>
            </a:p>
          </p:txBody>
        </p:sp>
        <p:sp>
          <p:nvSpPr>
            <p:cNvPr id="23567" name="Rectangle 22"/>
            <p:cNvSpPr>
              <a:spLocks noChangeArrowheads="1"/>
            </p:cNvSpPr>
            <p:nvPr/>
          </p:nvSpPr>
          <p:spPr bwMode="auto">
            <a:xfrm>
              <a:off x="561" y="2784"/>
              <a:ext cx="4422" cy="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Finding FVs (moving to the right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on a time line) is called compounding.</a:t>
              </a:r>
            </a:p>
          </p:txBody>
        </p:sp>
        <p:sp>
          <p:nvSpPr>
            <p:cNvPr id="23568" name="Line 23"/>
            <p:cNvSpPr>
              <a:spLocks noChangeShapeType="1"/>
            </p:cNvSpPr>
            <p:nvPr/>
          </p:nvSpPr>
          <p:spPr bwMode="auto">
            <a:xfrm>
              <a:off x="1200" y="2544"/>
              <a:ext cx="30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Rectangle 24"/>
            <p:cNvSpPr>
              <a:spLocks noChangeArrowheads="1"/>
            </p:cNvSpPr>
            <p:nvPr/>
          </p:nvSpPr>
          <p:spPr bwMode="auto">
            <a:xfrm>
              <a:off x="480" y="2352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23570" name="Line 25"/>
            <p:cNvSpPr>
              <a:spLocks noChangeShapeType="1"/>
            </p:cNvSpPr>
            <p:nvPr/>
          </p:nvSpPr>
          <p:spPr bwMode="auto">
            <a:xfrm>
              <a:off x="752" y="2208"/>
              <a:ext cx="40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After 1 year</a:t>
            </a:r>
          </a:p>
        </p:txBody>
      </p:sp>
      <p:sp>
        <p:nvSpPr>
          <p:cNvPr id="256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862EA0-3771-4334-B1B7-DF01C92E173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1676400" y="3048000"/>
            <a:ext cx="592137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FV</a:t>
            </a:r>
            <a:r>
              <a:rPr lang="en-US" altLang="en-US" baseline="-25000"/>
              <a:t>1</a:t>
            </a:r>
            <a:r>
              <a:rPr lang="en-US" altLang="en-US"/>
              <a:t>	= PV + INT</a:t>
            </a:r>
            <a:r>
              <a:rPr lang="en-US" altLang="en-US" baseline="-25000"/>
              <a:t>1 </a:t>
            </a:r>
            <a:r>
              <a:rPr lang="en-US" altLang="en-US"/>
              <a:t>= PV + PV (I)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PV(1 + 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$100(1.10)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$110.00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After 2 years</a:t>
            </a:r>
          </a:p>
        </p:txBody>
      </p:sp>
      <p:sp>
        <p:nvSpPr>
          <p:cNvPr id="276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208B0A-13B5-43B1-84A5-5C75777B690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600200" y="3124200"/>
            <a:ext cx="6332538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FV</a:t>
            </a:r>
            <a:r>
              <a:rPr lang="en-US" altLang="en-US" baseline="-25000"/>
              <a:t>2</a:t>
            </a:r>
            <a:r>
              <a:rPr lang="en-US" altLang="en-US"/>
              <a:t>	= FV</a:t>
            </a:r>
            <a:r>
              <a:rPr lang="en-US" altLang="en-US" baseline="-25000"/>
              <a:t>1</a:t>
            </a:r>
            <a:r>
              <a:rPr lang="en-US" altLang="en-US"/>
              <a:t>(1+I) = PV(1 + I)(1+I)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PV(1+I)</a:t>
            </a:r>
            <a:r>
              <a:rPr lang="en-US" altLang="en-US" baseline="30000"/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$100(1.10)</a:t>
            </a:r>
            <a:r>
              <a:rPr lang="en-US" altLang="en-US" baseline="30000"/>
              <a:t>2</a:t>
            </a: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$121.00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After 3 years</a:t>
            </a:r>
          </a:p>
        </p:txBody>
      </p:sp>
      <p:sp>
        <p:nvSpPr>
          <p:cNvPr id="296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0180ED-EEF9-4542-81FD-226309E30CF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1752600" y="2590800"/>
            <a:ext cx="6224588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FV</a:t>
            </a:r>
            <a:r>
              <a:rPr lang="en-US" altLang="en-US" baseline="-25000"/>
              <a:t>3</a:t>
            </a:r>
            <a:r>
              <a:rPr lang="en-US" altLang="en-US"/>
              <a:t>	= FV</a:t>
            </a:r>
            <a:r>
              <a:rPr lang="en-US" altLang="en-US" baseline="-25000"/>
              <a:t>2</a:t>
            </a:r>
            <a:r>
              <a:rPr lang="en-US" altLang="en-US"/>
              <a:t>(1+I)=PV(1 + I)</a:t>
            </a:r>
            <a:r>
              <a:rPr lang="en-US" altLang="en-US" baseline="30000"/>
              <a:t>2</a:t>
            </a:r>
            <a:r>
              <a:rPr lang="en-US" altLang="en-US"/>
              <a:t>(1+I)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PV(1+I)</a:t>
            </a:r>
            <a:r>
              <a:rPr lang="en-US" altLang="en-US" baseline="30000"/>
              <a:t>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$100(1.10)</a:t>
            </a:r>
            <a:r>
              <a:rPr lang="en-US" altLang="en-US" baseline="30000"/>
              <a:t>3</a:t>
            </a: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$133.10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In general,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FV</a:t>
            </a:r>
            <a:r>
              <a:rPr lang="en-US" altLang="en-US" baseline="-25000"/>
              <a:t>N</a:t>
            </a:r>
            <a:r>
              <a:rPr lang="en-US" altLang="en-US"/>
              <a:t>	= PV(1 + I)</a:t>
            </a:r>
            <a:r>
              <a:rPr lang="en-US" altLang="en-US" baseline="30000"/>
              <a:t>N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Four Ways to Find FVs</a:t>
            </a:r>
          </a:p>
        </p:txBody>
      </p:sp>
      <p:sp>
        <p:nvSpPr>
          <p:cNvPr id="16390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Step-by-step approach using time line (as shown in Slides 11-14).</a:t>
            </a:r>
          </a:p>
          <a:p>
            <a:pPr eaLnBrk="1" hangingPunct="1"/>
            <a:r>
              <a:rPr lang="en-US" altLang="en-US"/>
              <a:t>Solve the equation with a regular calculator (formula approach).</a:t>
            </a:r>
          </a:p>
          <a:p>
            <a:pPr eaLnBrk="1" hangingPunct="1"/>
            <a:r>
              <a:rPr lang="en-US" altLang="en-US"/>
              <a:t>Use a financial calculator.</a:t>
            </a:r>
          </a:p>
          <a:p>
            <a:pPr eaLnBrk="1" hangingPunct="1"/>
            <a:r>
              <a:rPr lang="en-US" altLang="en-US"/>
              <a:t>Use a spreadsheet.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FE7058-896D-4738-ABA4-67E15AA0989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calculator: HP10BII</a:t>
            </a:r>
          </a:p>
        </p:txBody>
      </p:sp>
      <p:sp>
        <p:nvSpPr>
          <p:cNvPr id="1741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Adjust display brightness: hold down ON and push + or –.</a:t>
            </a:r>
          </a:p>
          <a:p>
            <a:pPr eaLnBrk="1" hangingPunct="1"/>
            <a:r>
              <a:rPr lang="en-US" altLang="en-US"/>
              <a:t>Set number of decimal places to display: Orange Shift key, then DISP key (in orange), then desired decimal places (e.g., 3).</a:t>
            </a:r>
          </a:p>
          <a:p>
            <a:pPr eaLnBrk="1" hangingPunct="1"/>
            <a:r>
              <a:rPr lang="en-US" altLang="en-US"/>
              <a:t>To temporarily show all digits, hit Orange Shift key, then DISP, then =.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F6B563-AC8F-4CBD-9F12-C4A915E9EC8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HP10BII (Continued)</a:t>
            </a:r>
          </a:p>
        </p:txBody>
      </p:sp>
      <p:sp>
        <p:nvSpPr>
          <p:cNvPr id="18438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permanently show all digits, hit ORANGE shift, then DISP, then . (period key).</a:t>
            </a:r>
          </a:p>
          <a:p>
            <a:pPr eaLnBrk="1" hangingPunct="1"/>
            <a:r>
              <a:rPr lang="en-US" altLang="en-US"/>
              <a:t>Set decimal mode: Hit ORANGE shift, then ./, key.  Note: many non-US countries reverse the US use of decimals and commas when writing a number.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2E7A19-3A2F-4376-94CF-AA5B5278761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HP10BII: Set Time Value Parameters</a:t>
            </a:r>
          </a:p>
        </p:txBody>
      </p:sp>
      <p:sp>
        <p:nvSpPr>
          <p:cNvPr id="19462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set END (for cash flows occurring at the end of the year), hit ORANGE shift key, then BEG/END.</a:t>
            </a:r>
          </a:p>
          <a:p>
            <a:pPr eaLnBrk="1" hangingPunct="1"/>
            <a:r>
              <a:rPr lang="en-US" altLang="en-US"/>
              <a:t>To set 1 payment per period, hit 1, then ORANGE shift key, then P/YR.</a:t>
            </a:r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E72197-FD21-4D56-B7A4-293F20B9BE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2" name="Rectangle 308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 Solution</a:t>
            </a:r>
          </a:p>
        </p:txBody>
      </p:sp>
      <p:sp>
        <p:nvSpPr>
          <p:cNvPr id="399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D30931-5CCC-429E-AADF-B65C8DB8DF3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9939" name="Rectangle 307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40" name="Rectangle 307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85" name="Rectangle 3077"/>
          <p:cNvSpPr>
            <a:spLocks noChangeArrowheads="1"/>
          </p:cNvSpPr>
          <p:nvPr/>
        </p:nvSpPr>
        <p:spPr bwMode="auto">
          <a:xfrm>
            <a:off x="1752600" y="2743200"/>
            <a:ext cx="6764338" cy="363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Financial calculators solve this equation: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PV (1+I)</a:t>
            </a:r>
            <a:r>
              <a:rPr lang="en-US" altLang="en-US" baseline="30000"/>
              <a:t>N</a:t>
            </a:r>
            <a:r>
              <a:rPr lang="en-US" altLang="en-US"/>
              <a:t> = FV</a:t>
            </a:r>
            <a:r>
              <a:rPr lang="en-US" altLang="en-US" baseline="-25000"/>
              <a:t>N </a:t>
            </a:r>
            <a:endParaRPr lang="en-US" altLang="en-US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There are 4 variables (PV, I, N, FV).  If 3 are known, calculator solves for 4th.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16"/>
          <p:cNvGrpSpPr>
            <a:grpSpLocks/>
          </p:cNvGrpSpPr>
          <p:nvPr/>
        </p:nvGrpSpPr>
        <p:grpSpPr bwMode="auto">
          <a:xfrm>
            <a:off x="711201" y="2370138"/>
            <a:ext cx="7556500" cy="1441450"/>
            <a:chOff x="448" y="1493"/>
            <a:chExt cx="4760" cy="908"/>
          </a:xfrm>
        </p:grpSpPr>
        <p:sp>
          <p:nvSpPr>
            <p:cNvPr id="41990" name="AutoShape 5"/>
            <p:cNvSpPr>
              <a:spLocks noChangeArrowheads="1"/>
            </p:cNvSpPr>
            <p:nvPr/>
          </p:nvSpPr>
          <p:spPr bwMode="auto">
            <a:xfrm>
              <a:off x="2142" y="1820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991" name="AutoShape 6"/>
            <p:cNvSpPr>
              <a:spLocks noChangeArrowheads="1"/>
            </p:cNvSpPr>
            <p:nvPr/>
          </p:nvSpPr>
          <p:spPr bwMode="auto">
            <a:xfrm>
              <a:off x="1546" y="1834"/>
              <a:ext cx="320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992" name="AutoShape 7"/>
            <p:cNvSpPr>
              <a:spLocks noChangeArrowheads="1"/>
            </p:cNvSpPr>
            <p:nvPr/>
          </p:nvSpPr>
          <p:spPr bwMode="auto">
            <a:xfrm>
              <a:off x="2862" y="1820"/>
              <a:ext cx="416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993" name="AutoShape 8"/>
            <p:cNvSpPr>
              <a:spLocks noChangeArrowheads="1"/>
            </p:cNvSpPr>
            <p:nvPr/>
          </p:nvSpPr>
          <p:spPr bwMode="auto">
            <a:xfrm>
              <a:off x="3486" y="1820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994" name="AutoShape 9"/>
            <p:cNvSpPr>
              <a:spLocks noChangeArrowheads="1"/>
            </p:cNvSpPr>
            <p:nvPr/>
          </p:nvSpPr>
          <p:spPr bwMode="auto">
            <a:xfrm>
              <a:off x="4350" y="1820"/>
              <a:ext cx="557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995" name="Rectangle 10"/>
            <p:cNvSpPr>
              <a:spLocks noChangeArrowheads="1"/>
            </p:cNvSpPr>
            <p:nvPr/>
          </p:nvSpPr>
          <p:spPr bwMode="auto">
            <a:xfrm>
              <a:off x="448" y="1552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	 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PV	  PMT	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		      </a:t>
              </a:r>
            </a:p>
          </p:txBody>
        </p:sp>
        <p:sp>
          <p:nvSpPr>
            <p:cNvPr id="41996" name="AutoShape 14"/>
            <p:cNvSpPr>
              <a:spLocks noChangeArrowheads="1"/>
            </p:cNvSpPr>
            <p:nvPr/>
          </p:nvSpPr>
          <p:spPr bwMode="auto">
            <a:xfrm>
              <a:off x="567" y="1493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41997" name="AutoShape 15"/>
            <p:cNvSpPr>
              <a:spLocks noChangeArrowheads="1"/>
            </p:cNvSpPr>
            <p:nvPr/>
          </p:nvSpPr>
          <p:spPr bwMode="auto">
            <a:xfrm>
              <a:off x="561" y="2044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41989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Here’s the setup to find FV</a:t>
            </a: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487D18-7108-4DE3-B461-E21F033863A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21508" name="Rectangle 12"/>
          <p:cNvSpPr>
            <a:spLocks noChangeArrowheads="1"/>
          </p:cNvSpPr>
          <p:nvPr/>
        </p:nvSpPr>
        <p:spPr bwMode="auto">
          <a:xfrm>
            <a:off x="735013" y="4343400"/>
            <a:ext cx="7993062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Clearing automatically (shift Clear-All) sets everything to 0, but for safety enter PMT = 0.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After 4 years</a:t>
            </a:r>
          </a:p>
        </p:txBody>
      </p:sp>
      <p:sp>
        <p:nvSpPr>
          <p:cNvPr id="2253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PV = </a:t>
            </a:r>
          </a:p>
          <a:p>
            <a:r>
              <a:rPr lang="en-US" altLang="en-US"/>
              <a:t>N = </a:t>
            </a:r>
          </a:p>
          <a:p>
            <a:r>
              <a:rPr lang="en-US" altLang="en-US"/>
              <a:t>i = </a:t>
            </a:r>
          </a:p>
          <a:p>
            <a:r>
              <a:rPr lang="en-US" altLang="en-US"/>
              <a:t>FV = ? = </a:t>
            </a:r>
          </a:p>
        </p:txBody>
      </p:sp>
      <p:sp>
        <p:nvSpPr>
          <p:cNvPr id="440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808684-3F56-4ABC-82B1-2768F2254A0F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After 4 years, but different compounding per year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604837"/>
          </a:xfrm>
        </p:spPr>
        <p:txBody>
          <a:bodyPr/>
          <a:lstStyle/>
          <a:p>
            <a:r>
              <a:rPr lang="en-US" altLang="en-US" dirty="0"/>
              <a:t>	</a:t>
            </a:r>
            <a:r>
              <a:rPr lang="en-US" altLang="en-US" sz="2800" dirty="0"/>
              <a:t>Semi-annual</a:t>
            </a:r>
            <a:endParaRPr lang="en-US" altLang="en-US" dirty="0"/>
          </a:p>
        </p:txBody>
      </p:sp>
      <p:sp>
        <p:nvSpPr>
          <p:cNvPr id="23556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PV = $100</a:t>
            </a:r>
          </a:p>
          <a:p>
            <a:r>
              <a:rPr lang="en-US" altLang="en-US"/>
              <a:t>N = 4 yrs </a:t>
            </a:r>
          </a:p>
          <a:p>
            <a:r>
              <a:rPr lang="en-US" altLang="en-US" sz="2000"/>
              <a:t>i = 10% </a:t>
            </a:r>
          </a:p>
          <a:p>
            <a:r>
              <a:rPr lang="en-US" altLang="en-US"/>
              <a:t>FV = ? =</a:t>
            </a:r>
          </a:p>
        </p:txBody>
      </p:sp>
      <p:sp>
        <p:nvSpPr>
          <p:cNvPr id="46085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60483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 	Quarterly</a:t>
            </a:r>
          </a:p>
        </p:txBody>
      </p:sp>
      <p:sp>
        <p:nvSpPr>
          <p:cNvPr id="23558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/>
              <a:t>PV = $100</a:t>
            </a:r>
          </a:p>
          <a:p>
            <a:r>
              <a:rPr lang="en-US" altLang="en-US" sz="2200"/>
              <a:t>N = 			periods</a:t>
            </a:r>
          </a:p>
          <a:p>
            <a:r>
              <a:rPr lang="en-US" altLang="en-US" sz="2000"/>
              <a:t>i = 		         per period</a:t>
            </a:r>
          </a:p>
          <a:p>
            <a:r>
              <a:rPr lang="en-US" altLang="en-US"/>
              <a:t>FV = ? =</a:t>
            </a:r>
          </a:p>
          <a:p>
            <a:endParaRPr lang="en-US" altLang="en-US"/>
          </a:p>
        </p:txBody>
      </p:sp>
      <p:sp>
        <p:nvSpPr>
          <p:cNvPr id="460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002695-38D2-4453-AB66-B41540B22423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uild="p"/>
      <p:bldP spid="2355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Spreadsheet Solution</a:t>
            </a:r>
          </a:p>
        </p:txBody>
      </p:sp>
      <p:sp>
        <p:nvSpPr>
          <p:cNvPr id="24582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FV function: see spreadsheet in </a:t>
            </a:r>
            <a:r>
              <a:rPr lang="en-US" altLang="en-US" i="1"/>
              <a:t>Ch04 Mini Case.xls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= FV(I, N, PMT, PV)</a:t>
            </a:r>
          </a:p>
          <a:p>
            <a:pPr eaLnBrk="1" hangingPunct="1"/>
            <a:r>
              <a:rPr lang="en-US" altLang="en-US"/>
              <a:t> = FV(0.10, 3, 0, -100) =</a:t>
            </a:r>
          </a:p>
        </p:txBody>
      </p:sp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F984A7-0C69-4013-A202-B247FFD8AB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Discounting $$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Money needed today to accumulate x$ value in future</a:t>
            </a:r>
          </a:p>
          <a:p>
            <a:r>
              <a:rPr lang="en-US" altLang="en-US"/>
              <a:t>Solve for Present Value (PV)</a:t>
            </a:r>
          </a:p>
          <a:p>
            <a:r>
              <a:rPr lang="en-US" altLang="en-US"/>
              <a:t>Mathematical process (divide)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What’s the PV of $110 due in 1 year if I/YR = 10%?</a:t>
            </a:r>
          </a:p>
        </p:txBody>
      </p:sp>
      <p:sp>
        <p:nvSpPr>
          <p:cNvPr id="512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AAF40C-FDF5-4397-80C5-74529336D6D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grpSp>
        <p:nvGrpSpPr>
          <p:cNvPr id="26628" name="Group 2"/>
          <p:cNvGrpSpPr>
            <a:grpSpLocks/>
          </p:cNvGrpSpPr>
          <p:nvPr/>
        </p:nvGrpSpPr>
        <p:grpSpPr bwMode="auto">
          <a:xfrm>
            <a:off x="857250" y="3035300"/>
            <a:ext cx="8191500" cy="3186113"/>
            <a:chOff x="540" y="1912"/>
            <a:chExt cx="5160" cy="2007"/>
          </a:xfrm>
        </p:grpSpPr>
        <p:sp>
          <p:nvSpPr>
            <p:cNvPr id="51205" name="Rectangle 4"/>
            <p:cNvSpPr>
              <a:spLocks noChangeArrowheads="1"/>
            </p:cNvSpPr>
            <p:nvPr/>
          </p:nvSpPr>
          <p:spPr bwMode="auto">
            <a:xfrm>
              <a:off x="1434" y="3036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10%</a:t>
              </a:r>
            </a:p>
          </p:txBody>
        </p:sp>
        <p:sp>
          <p:nvSpPr>
            <p:cNvPr id="51206" name="Rectangle 9"/>
            <p:cNvSpPr>
              <a:spLocks noChangeArrowheads="1"/>
            </p:cNvSpPr>
            <p:nvPr/>
          </p:nvSpPr>
          <p:spPr bwMode="auto">
            <a:xfrm>
              <a:off x="880" y="1912"/>
              <a:ext cx="4820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Finding PVs is discounting, it’s reverse of compounding.</a:t>
              </a:r>
            </a:p>
          </p:txBody>
        </p:sp>
        <p:sp>
          <p:nvSpPr>
            <p:cNvPr id="51207" name="Rectangle 11"/>
            <p:cNvSpPr>
              <a:spLocks noChangeArrowheads="1"/>
            </p:cNvSpPr>
            <p:nvPr/>
          </p:nvSpPr>
          <p:spPr bwMode="auto">
            <a:xfrm>
              <a:off x="2206" y="3546"/>
              <a:ext cx="539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110</a:t>
              </a:r>
            </a:p>
          </p:txBody>
        </p:sp>
        <p:sp>
          <p:nvSpPr>
            <p:cNvPr id="51208" name="Line 12"/>
            <p:cNvSpPr>
              <a:spLocks noChangeShapeType="1"/>
            </p:cNvSpPr>
            <p:nvPr/>
          </p:nvSpPr>
          <p:spPr bwMode="auto">
            <a:xfrm>
              <a:off x="1080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09" name="Line 13"/>
            <p:cNvSpPr>
              <a:spLocks noChangeShapeType="1"/>
            </p:cNvSpPr>
            <p:nvPr/>
          </p:nvSpPr>
          <p:spPr bwMode="auto">
            <a:xfrm>
              <a:off x="2472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10" name="Line 14"/>
            <p:cNvSpPr>
              <a:spLocks noChangeShapeType="1"/>
            </p:cNvSpPr>
            <p:nvPr/>
          </p:nvSpPr>
          <p:spPr bwMode="auto">
            <a:xfrm>
              <a:off x="3720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11" name="Line 15"/>
            <p:cNvSpPr>
              <a:spLocks noChangeShapeType="1"/>
            </p:cNvSpPr>
            <p:nvPr/>
          </p:nvSpPr>
          <p:spPr bwMode="auto">
            <a:xfrm>
              <a:off x="5160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12" name="Rectangle 19"/>
            <p:cNvSpPr>
              <a:spLocks noChangeArrowheads="1"/>
            </p:cNvSpPr>
            <p:nvPr/>
          </p:nvSpPr>
          <p:spPr bwMode="auto">
            <a:xfrm>
              <a:off x="954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51213" name="Rectangle 20"/>
            <p:cNvSpPr>
              <a:spLocks noChangeArrowheads="1"/>
            </p:cNvSpPr>
            <p:nvPr/>
          </p:nvSpPr>
          <p:spPr bwMode="auto">
            <a:xfrm>
              <a:off x="2346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51214" name="Rectangle 21"/>
            <p:cNvSpPr>
              <a:spLocks noChangeArrowheads="1"/>
            </p:cNvSpPr>
            <p:nvPr/>
          </p:nvSpPr>
          <p:spPr bwMode="auto">
            <a:xfrm>
              <a:off x="3593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51215" name="Rectangle 22"/>
            <p:cNvSpPr>
              <a:spLocks noChangeArrowheads="1"/>
            </p:cNvSpPr>
            <p:nvPr/>
          </p:nvSpPr>
          <p:spPr bwMode="auto">
            <a:xfrm>
              <a:off x="5033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51216" name="Rectangle 23"/>
            <p:cNvSpPr>
              <a:spLocks noChangeArrowheads="1"/>
            </p:cNvSpPr>
            <p:nvPr/>
          </p:nvSpPr>
          <p:spPr bwMode="auto">
            <a:xfrm>
              <a:off x="540" y="3556"/>
              <a:ext cx="87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PV = ?</a:t>
              </a:r>
            </a:p>
          </p:txBody>
        </p:sp>
        <p:sp>
          <p:nvSpPr>
            <p:cNvPr id="51217" name="Line 26"/>
            <p:cNvSpPr>
              <a:spLocks noChangeShapeType="1"/>
            </p:cNvSpPr>
            <p:nvPr/>
          </p:nvSpPr>
          <p:spPr bwMode="auto">
            <a:xfrm>
              <a:off x="1090" y="3305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Solve FV</a:t>
            </a:r>
            <a:r>
              <a:rPr lang="en-US" altLang="en-US" baseline="-25000"/>
              <a:t>N</a:t>
            </a:r>
            <a:r>
              <a:rPr lang="en-US" altLang="en-US"/>
              <a:t> = PV(1 + I )</a:t>
            </a:r>
            <a:r>
              <a:rPr lang="en-US" altLang="en-US" baseline="30000"/>
              <a:t>N</a:t>
            </a:r>
            <a:r>
              <a:rPr lang="en-US" altLang="en-US"/>
              <a:t> for PV</a:t>
            </a:r>
          </a:p>
        </p:txBody>
      </p:sp>
      <p:sp>
        <p:nvSpPr>
          <p:cNvPr id="532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33701A-4C69-4241-8C7C-9B5EB3F80BE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3251" name="Rectangle 23"/>
          <p:cNvSpPr>
            <a:spLocks noChangeArrowheads="1"/>
          </p:cNvSpPr>
          <p:nvPr/>
        </p:nvSpPr>
        <p:spPr bwMode="auto">
          <a:xfrm>
            <a:off x="3379788" y="4911725"/>
            <a:ext cx="9715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1.10</a:t>
            </a:r>
          </a:p>
        </p:txBody>
      </p:sp>
      <p:sp>
        <p:nvSpPr>
          <p:cNvPr id="53253" name="Text Box 4"/>
          <p:cNvSpPr txBox="1">
            <a:spLocks noChangeArrowheads="1"/>
          </p:cNvSpPr>
          <p:nvPr/>
        </p:nvSpPr>
        <p:spPr bwMode="auto">
          <a:xfrm>
            <a:off x="1066800" y="2667000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PV =</a:t>
            </a:r>
          </a:p>
        </p:txBody>
      </p:sp>
      <p:sp>
        <p:nvSpPr>
          <p:cNvPr id="53254" name="Text Box 5"/>
          <p:cNvSpPr txBox="1">
            <a:spLocks noChangeArrowheads="1"/>
          </p:cNvSpPr>
          <p:nvPr/>
        </p:nvSpPr>
        <p:spPr bwMode="auto">
          <a:xfrm>
            <a:off x="2438400" y="2286000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FV</a:t>
            </a:r>
            <a:r>
              <a:rPr lang="en-US" altLang="en-US" baseline="-25000"/>
              <a:t>N</a:t>
            </a:r>
          </a:p>
        </p:txBody>
      </p:sp>
      <p:sp>
        <p:nvSpPr>
          <p:cNvPr id="53255" name="Text Box 6"/>
          <p:cNvSpPr txBox="1">
            <a:spLocks noChangeArrowheads="1"/>
          </p:cNvSpPr>
          <p:nvPr/>
        </p:nvSpPr>
        <p:spPr bwMode="auto">
          <a:xfrm>
            <a:off x="2209800" y="30480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(1+I)</a:t>
            </a:r>
            <a:r>
              <a:rPr lang="en-US" altLang="en-US" baseline="30000"/>
              <a:t>N</a:t>
            </a:r>
          </a:p>
        </p:txBody>
      </p:sp>
      <p:sp>
        <p:nvSpPr>
          <p:cNvPr id="53256" name="Text Box 7"/>
          <p:cNvSpPr txBox="1">
            <a:spLocks noChangeArrowheads="1"/>
          </p:cNvSpPr>
          <p:nvPr/>
        </p:nvSpPr>
        <p:spPr bwMode="auto">
          <a:xfrm>
            <a:off x="3810000" y="26670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= FV</a:t>
            </a:r>
            <a:r>
              <a:rPr lang="en-US" altLang="en-US" baseline="-25000"/>
              <a:t>N</a:t>
            </a:r>
          </a:p>
        </p:txBody>
      </p:sp>
      <p:sp>
        <p:nvSpPr>
          <p:cNvPr id="53257" name="Text Box 10"/>
          <p:cNvSpPr txBox="1">
            <a:spLocks noChangeArrowheads="1"/>
          </p:cNvSpPr>
          <p:nvPr/>
        </p:nvSpPr>
        <p:spPr bwMode="auto">
          <a:xfrm>
            <a:off x="5867400" y="24384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1</a:t>
            </a:r>
          </a:p>
        </p:txBody>
      </p:sp>
      <p:sp>
        <p:nvSpPr>
          <p:cNvPr id="53258" name="Line 11"/>
          <p:cNvSpPr>
            <a:spLocks noChangeShapeType="1"/>
          </p:cNvSpPr>
          <p:nvPr/>
        </p:nvSpPr>
        <p:spPr bwMode="auto">
          <a:xfrm>
            <a:off x="5486400" y="297180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Text Box 12"/>
          <p:cNvSpPr txBox="1">
            <a:spLocks noChangeArrowheads="1"/>
          </p:cNvSpPr>
          <p:nvPr/>
        </p:nvSpPr>
        <p:spPr bwMode="auto">
          <a:xfrm>
            <a:off x="5562600" y="3048000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1 + I</a:t>
            </a:r>
          </a:p>
        </p:txBody>
      </p:sp>
      <p:sp>
        <p:nvSpPr>
          <p:cNvPr id="53260" name="Text Box 13"/>
          <p:cNvSpPr txBox="1">
            <a:spLocks noChangeArrowheads="1"/>
          </p:cNvSpPr>
          <p:nvPr/>
        </p:nvSpPr>
        <p:spPr bwMode="auto">
          <a:xfrm>
            <a:off x="7086600" y="22098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N</a:t>
            </a:r>
          </a:p>
        </p:txBody>
      </p:sp>
      <p:sp>
        <p:nvSpPr>
          <p:cNvPr id="53261" name="Line 14"/>
          <p:cNvSpPr>
            <a:spLocks noChangeShapeType="1"/>
          </p:cNvSpPr>
          <p:nvPr/>
        </p:nvSpPr>
        <p:spPr bwMode="auto">
          <a:xfrm>
            <a:off x="2209800" y="29718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2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3263" name="Line 16"/>
          <p:cNvSpPr>
            <a:spLocks noChangeShapeType="1"/>
          </p:cNvSpPr>
          <p:nvPr/>
        </p:nvSpPr>
        <p:spPr bwMode="auto">
          <a:xfrm>
            <a:off x="3505200" y="4906963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Rectangle 19"/>
          <p:cNvSpPr>
            <a:spLocks noChangeArrowheads="1"/>
          </p:cNvSpPr>
          <p:nvPr/>
        </p:nvSpPr>
        <p:spPr bwMode="auto">
          <a:xfrm>
            <a:off x="1027113" y="4603750"/>
            <a:ext cx="7667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PV</a:t>
            </a:r>
            <a:r>
              <a:rPr lang="en-US" altLang="en-US" b="1"/>
              <a:t> </a:t>
            </a:r>
          </a:p>
        </p:txBody>
      </p:sp>
      <p:sp>
        <p:nvSpPr>
          <p:cNvPr id="53265" name="Rectangle 20"/>
          <p:cNvSpPr>
            <a:spLocks noChangeArrowheads="1"/>
          </p:cNvSpPr>
          <p:nvPr/>
        </p:nvSpPr>
        <p:spPr bwMode="auto">
          <a:xfrm>
            <a:off x="1798638" y="4603750"/>
            <a:ext cx="4762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</a:t>
            </a:r>
          </a:p>
        </p:txBody>
      </p:sp>
      <p:sp>
        <p:nvSpPr>
          <p:cNvPr id="53266" name="Rectangle 21"/>
          <p:cNvSpPr>
            <a:spLocks noChangeArrowheads="1"/>
          </p:cNvSpPr>
          <p:nvPr/>
        </p:nvSpPr>
        <p:spPr bwMode="auto">
          <a:xfrm>
            <a:off x="2151063" y="4603750"/>
            <a:ext cx="29686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  <a:endParaRPr lang="en-US" altLang="en-US"/>
          </a:p>
        </p:txBody>
      </p:sp>
      <p:sp>
        <p:nvSpPr>
          <p:cNvPr id="53267" name="Rectangle 22"/>
          <p:cNvSpPr>
            <a:spLocks noChangeArrowheads="1"/>
          </p:cNvSpPr>
          <p:nvPr/>
        </p:nvSpPr>
        <p:spPr bwMode="auto">
          <a:xfrm>
            <a:off x="3505200" y="4313238"/>
            <a:ext cx="855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110</a:t>
            </a:r>
          </a:p>
        </p:txBody>
      </p:sp>
      <p:sp>
        <p:nvSpPr>
          <p:cNvPr id="53268" name="Rectangle 24"/>
          <p:cNvSpPr>
            <a:spLocks noChangeArrowheads="1"/>
          </p:cNvSpPr>
          <p:nvPr/>
        </p:nvSpPr>
        <p:spPr bwMode="auto">
          <a:xfrm>
            <a:off x="4597400" y="4603750"/>
            <a:ext cx="2936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3269" name="Rectangle 25"/>
          <p:cNvSpPr>
            <a:spLocks noChangeArrowheads="1"/>
          </p:cNvSpPr>
          <p:nvPr/>
        </p:nvSpPr>
        <p:spPr bwMode="auto">
          <a:xfrm>
            <a:off x="1084263" y="5286375"/>
            <a:ext cx="8572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     </a:t>
            </a:r>
          </a:p>
        </p:txBody>
      </p:sp>
      <p:sp>
        <p:nvSpPr>
          <p:cNvPr id="53270" name="Rectangle 26"/>
          <p:cNvSpPr>
            <a:spLocks noChangeArrowheads="1"/>
          </p:cNvSpPr>
          <p:nvPr/>
        </p:nvSpPr>
        <p:spPr bwMode="auto">
          <a:xfrm>
            <a:off x="1828800" y="5562600"/>
            <a:ext cx="1978025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PV= $100</a:t>
            </a:r>
          </a:p>
        </p:txBody>
      </p:sp>
      <p:sp>
        <p:nvSpPr>
          <p:cNvPr id="53271" name="Rectangle 38"/>
          <p:cNvSpPr>
            <a:spLocks noChangeArrowheads="1"/>
          </p:cNvSpPr>
          <p:nvPr/>
        </p:nvSpPr>
        <p:spPr bwMode="auto">
          <a:xfrm>
            <a:off x="4402138" y="42830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3272" name="AutoShape 39"/>
          <p:cNvSpPr>
            <a:spLocks/>
          </p:cNvSpPr>
          <p:nvPr/>
        </p:nvSpPr>
        <p:spPr bwMode="auto">
          <a:xfrm>
            <a:off x="5334000" y="2514600"/>
            <a:ext cx="76200" cy="990600"/>
          </a:xfrm>
          <a:prstGeom prst="leftBracket">
            <a:avLst>
              <a:gd name="adj" fmla="val 10833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3273" name="AutoShape 40"/>
          <p:cNvSpPr>
            <a:spLocks/>
          </p:cNvSpPr>
          <p:nvPr/>
        </p:nvSpPr>
        <p:spPr bwMode="auto">
          <a:xfrm>
            <a:off x="6934200" y="2438400"/>
            <a:ext cx="76200" cy="1066800"/>
          </a:xfrm>
          <a:prstGeom prst="rightBracket">
            <a:avLst>
              <a:gd name="adj" fmla="val 11666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3274" name="AutoShape 41"/>
          <p:cNvSpPr>
            <a:spLocks/>
          </p:cNvSpPr>
          <p:nvPr/>
        </p:nvSpPr>
        <p:spPr bwMode="auto">
          <a:xfrm>
            <a:off x="3352800" y="4572000"/>
            <a:ext cx="76200" cy="762000"/>
          </a:xfrm>
          <a:prstGeom prst="leftBracket">
            <a:avLst>
              <a:gd name="adj" fmla="val 8333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3275" name="AutoShape 42"/>
          <p:cNvSpPr>
            <a:spLocks/>
          </p:cNvSpPr>
          <p:nvPr/>
        </p:nvSpPr>
        <p:spPr bwMode="auto">
          <a:xfrm>
            <a:off x="4267200" y="4495800"/>
            <a:ext cx="76200" cy="838200"/>
          </a:xfrm>
          <a:prstGeom prst="rightBracket">
            <a:avLst>
              <a:gd name="adj" fmla="val 9166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What’s the PV of $110 due in 1 year if I/YR = 10%?</a:t>
            </a:r>
          </a:p>
        </p:txBody>
      </p:sp>
      <p:sp>
        <p:nvSpPr>
          <p:cNvPr id="55299" name="Text Placeholder 2"/>
          <p:cNvSpPr>
            <a:spLocks noGrp="1"/>
          </p:cNvSpPr>
          <p:nvPr>
            <p:ph type="body" idx="1"/>
          </p:nvPr>
        </p:nvSpPr>
        <p:spPr>
          <a:xfrm>
            <a:off x="773312" y="1681163"/>
            <a:ext cx="3581400" cy="823912"/>
          </a:xfrm>
        </p:spPr>
        <p:txBody>
          <a:bodyPr>
            <a:normAutofit/>
          </a:bodyPr>
          <a:lstStyle/>
          <a:p>
            <a:r>
              <a:rPr lang="en-US" altLang="en-US" sz="2800" u="sng" dirty="0"/>
              <a:t>Annual Compounding</a:t>
            </a:r>
            <a:endParaRPr lang="en-US" altLang="en-US" sz="2000" u="sng" dirty="0"/>
          </a:p>
        </p:txBody>
      </p:sp>
      <p:sp>
        <p:nvSpPr>
          <p:cNvPr id="28676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FV = $</a:t>
            </a:r>
          </a:p>
          <a:p>
            <a:r>
              <a:rPr lang="en-US" altLang="en-US"/>
              <a:t>N = </a:t>
            </a:r>
          </a:p>
          <a:p>
            <a:r>
              <a:rPr lang="en-US" altLang="en-US" sz="2000"/>
              <a:t>i =</a:t>
            </a:r>
          </a:p>
          <a:p>
            <a:r>
              <a:rPr lang="en-US" altLang="en-US"/>
              <a:t>PV = ? =</a:t>
            </a:r>
          </a:p>
        </p:txBody>
      </p:sp>
      <p:sp>
        <p:nvSpPr>
          <p:cNvPr id="55301" name="Text Placeholder 3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 	</a:t>
            </a:r>
            <a:r>
              <a:rPr lang="en-US" altLang="en-US" sz="2800" u="sng" dirty="0"/>
              <a:t>Semi-annually</a:t>
            </a:r>
            <a:endParaRPr lang="en-US" altLang="en-US" u="sng" dirty="0"/>
          </a:p>
        </p:txBody>
      </p:sp>
      <p:sp>
        <p:nvSpPr>
          <p:cNvPr id="28678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/>
              <a:t>FV = $</a:t>
            </a:r>
          </a:p>
          <a:p>
            <a:r>
              <a:rPr lang="en-US" altLang="en-US" sz="2200"/>
              <a:t>N = 			periods</a:t>
            </a:r>
          </a:p>
          <a:p>
            <a:r>
              <a:rPr lang="en-US" altLang="en-US" sz="2000"/>
              <a:t>i = 		       per period</a:t>
            </a:r>
          </a:p>
          <a:p>
            <a:r>
              <a:rPr lang="en-US" altLang="en-US"/>
              <a:t>PV = ? =</a:t>
            </a:r>
          </a:p>
          <a:p>
            <a:endParaRPr lang="en-US" altLang="en-US"/>
          </a:p>
        </p:txBody>
      </p:sp>
      <p:sp>
        <p:nvSpPr>
          <p:cNvPr id="5530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05FC88-038F-49BC-A1C6-8D0A2DA11CB1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/>
      <p:bldP spid="2867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What’s the PV of $100 due in 3 years if I/YR = 10%?</a:t>
            </a:r>
          </a:p>
        </p:txBody>
      </p:sp>
      <p:sp>
        <p:nvSpPr>
          <p:cNvPr id="573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F3CE2E-8734-491D-B5DC-F360A7859BC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grpSp>
        <p:nvGrpSpPr>
          <p:cNvPr id="57348" name="Group 2"/>
          <p:cNvGrpSpPr>
            <a:grpSpLocks/>
          </p:cNvGrpSpPr>
          <p:nvPr/>
        </p:nvGrpSpPr>
        <p:grpSpPr bwMode="auto">
          <a:xfrm>
            <a:off x="857250" y="3035300"/>
            <a:ext cx="8191500" cy="3186113"/>
            <a:chOff x="540" y="1912"/>
            <a:chExt cx="5160" cy="2007"/>
          </a:xfrm>
        </p:grpSpPr>
        <p:sp>
          <p:nvSpPr>
            <p:cNvPr id="57349" name="Rectangle 4"/>
            <p:cNvSpPr>
              <a:spLocks noChangeArrowheads="1"/>
            </p:cNvSpPr>
            <p:nvPr/>
          </p:nvSpPr>
          <p:spPr bwMode="auto">
            <a:xfrm>
              <a:off x="1434" y="3036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10%</a:t>
              </a:r>
            </a:p>
          </p:txBody>
        </p:sp>
        <p:sp>
          <p:nvSpPr>
            <p:cNvPr id="57350" name="Rectangle 9"/>
            <p:cNvSpPr>
              <a:spLocks noChangeArrowheads="1"/>
            </p:cNvSpPr>
            <p:nvPr/>
          </p:nvSpPr>
          <p:spPr bwMode="auto">
            <a:xfrm>
              <a:off x="880" y="1912"/>
              <a:ext cx="4820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Finding PVs is discounting, and it’s the reverse of compounding.</a:t>
              </a:r>
            </a:p>
          </p:txBody>
        </p:sp>
        <p:sp>
          <p:nvSpPr>
            <p:cNvPr id="57351" name="Rectangle 11"/>
            <p:cNvSpPr>
              <a:spLocks noChangeArrowheads="1"/>
            </p:cNvSpPr>
            <p:nvPr/>
          </p:nvSpPr>
          <p:spPr bwMode="auto">
            <a:xfrm>
              <a:off x="4886" y="3552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57352" name="Line 12"/>
            <p:cNvSpPr>
              <a:spLocks noChangeShapeType="1"/>
            </p:cNvSpPr>
            <p:nvPr/>
          </p:nvSpPr>
          <p:spPr bwMode="auto">
            <a:xfrm>
              <a:off x="1080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3" name="Line 13"/>
            <p:cNvSpPr>
              <a:spLocks noChangeShapeType="1"/>
            </p:cNvSpPr>
            <p:nvPr/>
          </p:nvSpPr>
          <p:spPr bwMode="auto">
            <a:xfrm>
              <a:off x="2472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4" name="Line 14"/>
            <p:cNvSpPr>
              <a:spLocks noChangeShapeType="1"/>
            </p:cNvSpPr>
            <p:nvPr/>
          </p:nvSpPr>
          <p:spPr bwMode="auto">
            <a:xfrm>
              <a:off x="3720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5" name="Line 15"/>
            <p:cNvSpPr>
              <a:spLocks noChangeShapeType="1"/>
            </p:cNvSpPr>
            <p:nvPr/>
          </p:nvSpPr>
          <p:spPr bwMode="auto">
            <a:xfrm>
              <a:off x="5160" y="3087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6" name="Rectangle 19"/>
            <p:cNvSpPr>
              <a:spLocks noChangeArrowheads="1"/>
            </p:cNvSpPr>
            <p:nvPr/>
          </p:nvSpPr>
          <p:spPr bwMode="auto">
            <a:xfrm>
              <a:off x="954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57357" name="Rectangle 20"/>
            <p:cNvSpPr>
              <a:spLocks noChangeArrowheads="1"/>
            </p:cNvSpPr>
            <p:nvPr/>
          </p:nvSpPr>
          <p:spPr bwMode="auto">
            <a:xfrm>
              <a:off x="2346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57358" name="Rectangle 21"/>
            <p:cNvSpPr>
              <a:spLocks noChangeArrowheads="1"/>
            </p:cNvSpPr>
            <p:nvPr/>
          </p:nvSpPr>
          <p:spPr bwMode="auto">
            <a:xfrm>
              <a:off x="3593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57359" name="Rectangle 22"/>
            <p:cNvSpPr>
              <a:spLocks noChangeArrowheads="1"/>
            </p:cNvSpPr>
            <p:nvPr/>
          </p:nvSpPr>
          <p:spPr bwMode="auto">
            <a:xfrm>
              <a:off x="5033" y="2750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57360" name="Rectangle 23"/>
            <p:cNvSpPr>
              <a:spLocks noChangeArrowheads="1"/>
            </p:cNvSpPr>
            <p:nvPr/>
          </p:nvSpPr>
          <p:spPr bwMode="auto">
            <a:xfrm>
              <a:off x="540" y="3556"/>
              <a:ext cx="87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PV = ?</a:t>
              </a:r>
            </a:p>
          </p:txBody>
        </p:sp>
        <p:sp>
          <p:nvSpPr>
            <p:cNvPr id="57361" name="Line 24"/>
            <p:cNvSpPr>
              <a:spLocks noChangeShapeType="1"/>
            </p:cNvSpPr>
            <p:nvPr/>
          </p:nvSpPr>
          <p:spPr bwMode="auto">
            <a:xfrm flipH="1">
              <a:off x="1482" y="3766"/>
              <a:ext cx="3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2" name="Line 26"/>
            <p:cNvSpPr>
              <a:spLocks noChangeShapeType="1"/>
            </p:cNvSpPr>
            <p:nvPr/>
          </p:nvSpPr>
          <p:spPr bwMode="auto">
            <a:xfrm>
              <a:off x="1090" y="3305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Solve FV</a:t>
            </a:r>
            <a:r>
              <a:rPr lang="en-US" altLang="en-US" baseline="-25000"/>
              <a:t>N</a:t>
            </a:r>
            <a:r>
              <a:rPr lang="en-US" altLang="en-US"/>
              <a:t> = PV(1 + I )</a:t>
            </a:r>
            <a:r>
              <a:rPr lang="en-US" altLang="en-US" baseline="30000"/>
              <a:t>N</a:t>
            </a:r>
            <a:r>
              <a:rPr lang="en-US" altLang="en-US"/>
              <a:t> for PV</a:t>
            </a:r>
          </a:p>
        </p:txBody>
      </p:sp>
      <p:sp>
        <p:nvSpPr>
          <p:cNvPr id="593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E32FB9-6172-4F57-A59D-52A849632E6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59395" name="Rectangle 23"/>
          <p:cNvSpPr>
            <a:spLocks noChangeArrowheads="1"/>
          </p:cNvSpPr>
          <p:nvPr/>
        </p:nvSpPr>
        <p:spPr bwMode="auto">
          <a:xfrm>
            <a:off x="3379788" y="4911725"/>
            <a:ext cx="9715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1.10</a:t>
            </a: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1066800" y="2667000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PV =</a:t>
            </a:r>
          </a:p>
        </p:txBody>
      </p:sp>
      <p:sp>
        <p:nvSpPr>
          <p:cNvPr id="59398" name="Text Box 5"/>
          <p:cNvSpPr txBox="1">
            <a:spLocks noChangeArrowheads="1"/>
          </p:cNvSpPr>
          <p:nvPr/>
        </p:nvSpPr>
        <p:spPr bwMode="auto">
          <a:xfrm>
            <a:off x="2438400" y="2286000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FV</a:t>
            </a:r>
            <a:r>
              <a:rPr lang="en-US" altLang="en-US" baseline="-25000"/>
              <a:t>N</a:t>
            </a:r>
          </a:p>
        </p:txBody>
      </p:sp>
      <p:sp>
        <p:nvSpPr>
          <p:cNvPr id="59399" name="Text Box 6"/>
          <p:cNvSpPr txBox="1">
            <a:spLocks noChangeArrowheads="1"/>
          </p:cNvSpPr>
          <p:nvPr/>
        </p:nvSpPr>
        <p:spPr bwMode="auto">
          <a:xfrm>
            <a:off x="2209800" y="30480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(1+I)</a:t>
            </a:r>
            <a:r>
              <a:rPr lang="en-US" altLang="en-US" baseline="30000"/>
              <a:t>N</a:t>
            </a:r>
          </a:p>
        </p:txBody>
      </p:sp>
      <p:sp>
        <p:nvSpPr>
          <p:cNvPr id="59400" name="Text Box 7"/>
          <p:cNvSpPr txBox="1">
            <a:spLocks noChangeArrowheads="1"/>
          </p:cNvSpPr>
          <p:nvPr/>
        </p:nvSpPr>
        <p:spPr bwMode="auto">
          <a:xfrm>
            <a:off x="3810000" y="26670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= FV</a:t>
            </a:r>
            <a:r>
              <a:rPr lang="en-US" altLang="en-US" baseline="-25000"/>
              <a:t>N</a:t>
            </a:r>
          </a:p>
        </p:txBody>
      </p:sp>
      <p:sp>
        <p:nvSpPr>
          <p:cNvPr id="59401" name="Text Box 10"/>
          <p:cNvSpPr txBox="1">
            <a:spLocks noChangeArrowheads="1"/>
          </p:cNvSpPr>
          <p:nvPr/>
        </p:nvSpPr>
        <p:spPr bwMode="auto">
          <a:xfrm>
            <a:off x="5867400" y="24384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1</a:t>
            </a:r>
          </a:p>
        </p:txBody>
      </p:sp>
      <p:sp>
        <p:nvSpPr>
          <p:cNvPr id="59402" name="Line 11"/>
          <p:cNvSpPr>
            <a:spLocks noChangeShapeType="1"/>
          </p:cNvSpPr>
          <p:nvPr/>
        </p:nvSpPr>
        <p:spPr bwMode="auto">
          <a:xfrm>
            <a:off x="5486400" y="297180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Text Box 12"/>
          <p:cNvSpPr txBox="1">
            <a:spLocks noChangeArrowheads="1"/>
          </p:cNvSpPr>
          <p:nvPr/>
        </p:nvSpPr>
        <p:spPr bwMode="auto">
          <a:xfrm>
            <a:off x="5562600" y="3048000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1 + I</a:t>
            </a:r>
          </a:p>
        </p:txBody>
      </p:sp>
      <p:sp>
        <p:nvSpPr>
          <p:cNvPr id="59404" name="Text Box 13"/>
          <p:cNvSpPr txBox="1">
            <a:spLocks noChangeArrowheads="1"/>
          </p:cNvSpPr>
          <p:nvPr/>
        </p:nvSpPr>
        <p:spPr bwMode="auto">
          <a:xfrm>
            <a:off x="7086600" y="22098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N</a:t>
            </a:r>
          </a:p>
        </p:txBody>
      </p:sp>
      <p:sp>
        <p:nvSpPr>
          <p:cNvPr id="59405" name="Line 14"/>
          <p:cNvSpPr>
            <a:spLocks noChangeShapeType="1"/>
          </p:cNvSpPr>
          <p:nvPr/>
        </p:nvSpPr>
        <p:spPr bwMode="auto">
          <a:xfrm>
            <a:off x="2209800" y="29718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407" name="Line 16"/>
          <p:cNvSpPr>
            <a:spLocks noChangeShapeType="1"/>
          </p:cNvSpPr>
          <p:nvPr/>
        </p:nvSpPr>
        <p:spPr bwMode="auto">
          <a:xfrm>
            <a:off x="3505200" y="4906963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8" name="Rectangle 19"/>
          <p:cNvSpPr>
            <a:spLocks noChangeArrowheads="1"/>
          </p:cNvSpPr>
          <p:nvPr/>
        </p:nvSpPr>
        <p:spPr bwMode="auto">
          <a:xfrm>
            <a:off x="1027113" y="4603750"/>
            <a:ext cx="7667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PV</a:t>
            </a:r>
            <a:r>
              <a:rPr lang="en-US" altLang="en-US" b="1"/>
              <a:t> </a:t>
            </a:r>
          </a:p>
        </p:txBody>
      </p:sp>
      <p:sp>
        <p:nvSpPr>
          <p:cNvPr id="59409" name="Rectangle 20"/>
          <p:cNvSpPr>
            <a:spLocks noChangeArrowheads="1"/>
          </p:cNvSpPr>
          <p:nvPr/>
        </p:nvSpPr>
        <p:spPr bwMode="auto">
          <a:xfrm>
            <a:off x="1798638" y="4603750"/>
            <a:ext cx="4762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</a:t>
            </a:r>
          </a:p>
        </p:txBody>
      </p:sp>
      <p:sp>
        <p:nvSpPr>
          <p:cNvPr id="59410" name="Rectangle 21"/>
          <p:cNvSpPr>
            <a:spLocks noChangeArrowheads="1"/>
          </p:cNvSpPr>
          <p:nvPr/>
        </p:nvSpPr>
        <p:spPr bwMode="auto">
          <a:xfrm>
            <a:off x="2151063" y="4603750"/>
            <a:ext cx="118268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/>
              <a:t>$100</a:t>
            </a:r>
          </a:p>
        </p:txBody>
      </p:sp>
      <p:sp>
        <p:nvSpPr>
          <p:cNvPr id="59411" name="Rectangle 22"/>
          <p:cNvSpPr>
            <a:spLocks noChangeArrowheads="1"/>
          </p:cNvSpPr>
          <p:nvPr/>
        </p:nvSpPr>
        <p:spPr bwMode="auto">
          <a:xfrm>
            <a:off x="3692525" y="4348163"/>
            <a:ext cx="4032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</a:t>
            </a:r>
          </a:p>
        </p:txBody>
      </p:sp>
      <p:sp>
        <p:nvSpPr>
          <p:cNvPr id="59412" name="Rectangle 24"/>
          <p:cNvSpPr>
            <a:spLocks noChangeArrowheads="1"/>
          </p:cNvSpPr>
          <p:nvPr/>
        </p:nvSpPr>
        <p:spPr bwMode="auto">
          <a:xfrm>
            <a:off x="4597400" y="4603750"/>
            <a:ext cx="2936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9413" name="Rectangle 25"/>
          <p:cNvSpPr>
            <a:spLocks noChangeArrowheads="1"/>
          </p:cNvSpPr>
          <p:nvPr/>
        </p:nvSpPr>
        <p:spPr bwMode="auto">
          <a:xfrm>
            <a:off x="1084263" y="5286375"/>
            <a:ext cx="8572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     </a:t>
            </a:r>
          </a:p>
        </p:txBody>
      </p:sp>
      <p:sp>
        <p:nvSpPr>
          <p:cNvPr id="59414" name="Rectangle 26"/>
          <p:cNvSpPr>
            <a:spLocks noChangeArrowheads="1"/>
          </p:cNvSpPr>
          <p:nvPr/>
        </p:nvSpPr>
        <p:spPr bwMode="auto">
          <a:xfrm>
            <a:off x="1828800" y="5562600"/>
            <a:ext cx="48228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 $100(0.7513) = $75.13</a:t>
            </a:r>
          </a:p>
        </p:txBody>
      </p:sp>
      <p:sp>
        <p:nvSpPr>
          <p:cNvPr id="59415" name="Rectangle 38"/>
          <p:cNvSpPr>
            <a:spLocks noChangeArrowheads="1"/>
          </p:cNvSpPr>
          <p:nvPr/>
        </p:nvSpPr>
        <p:spPr bwMode="auto">
          <a:xfrm>
            <a:off x="4402138" y="4283075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9416" name="AutoShape 39"/>
          <p:cNvSpPr>
            <a:spLocks/>
          </p:cNvSpPr>
          <p:nvPr/>
        </p:nvSpPr>
        <p:spPr bwMode="auto">
          <a:xfrm>
            <a:off x="5334000" y="2514600"/>
            <a:ext cx="76200" cy="990600"/>
          </a:xfrm>
          <a:prstGeom prst="leftBracket">
            <a:avLst>
              <a:gd name="adj" fmla="val 10833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417" name="AutoShape 40"/>
          <p:cNvSpPr>
            <a:spLocks/>
          </p:cNvSpPr>
          <p:nvPr/>
        </p:nvSpPr>
        <p:spPr bwMode="auto">
          <a:xfrm>
            <a:off x="6934200" y="2438400"/>
            <a:ext cx="76200" cy="1066800"/>
          </a:xfrm>
          <a:prstGeom prst="rightBracket">
            <a:avLst>
              <a:gd name="adj" fmla="val 11666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418" name="AutoShape 41"/>
          <p:cNvSpPr>
            <a:spLocks/>
          </p:cNvSpPr>
          <p:nvPr/>
        </p:nvSpPr>
        <p:spPr bwMode="auto">
          <a:xfrm>
            <a:off x="3352800" y="4572000"/>
            <a:ext cx="76200" cy="762000"/>
          </a:xfrm>
          <a:prstGeom prst="leftBracket">
            <a:avLst>
              <a:gd name="adj" fmla="val 8333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419" name="AutoShape 42"/>
          <p:cNvSpPr>
            <a:spLocks/>
          </p:cNvSpPr>
          <p:nvPr/>
        </p:nvSpPr>
        <p:spPr bwMode="auto">
          <a:xfrm>
            <a:off x="4267200" y="4495800"/>
            <a:ext cx="76200" cy="838200"/>
          </a:xfrm>
          <a:prstGeom prst="rightBracket">
            <a:avLst>
              <a:gd name="adj" fmla="val 9166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 Solution</a:t>
            </a:r>
          </a:p>
        </p:txBody>
      </p:sp>
      <p:sp>
        <p:nvSpPr>
          <p:cNvPr id="614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BE99BA-7A6E-4BF5-8E30-7BDB3F1D51F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31747" name="Rectangle 18"/>
          <p:cNvSpPr>
            <a:spLocks noChangeArrowheads="1"/>
          </p:cNvSpPr>
          <p:nvPr/>
        </p:nvSpPr>
        <p:spPr bwMode="auto">
          <a:xfrm>
            <a:off x="838200" y="4800600"/>
            <a:ext cx="7402513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Either PV or FV must be negative.  Here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PV = -75.13.  Put in $75.13 today, take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out $100 after 3 years.</a:t>
            </a:r>
          </a:p>
        </p:txBody>
      </p:sp>
      <p:grpSp>
        <p:nvGrpSpPr>
          <p:cNvPr id="61444" name="Group 14"/>
          <p:cNvGrpSpPr>
            <a:grpSpLocks/>
          </p:cNvGrpSpPr>
          <p:nvPr/>
        </p:nvGrpSpPr>
        <p:grpSpPr bwMode="auto">
          <a:xfrm>
            <a:off x="914400" y="2879726"/>
            <a:ext cx="7829550" cy="1463676"/>
            <a:chOff x="576" y="1814"/>
            <a:chExt cx="4932" cy="922"/>
          </a:xfrm>
        </p:grpSpPr>
        <p:sp>
          <p:nvSpPr>
            <p:cNvPr id="61446" name="AutoShape 7"/>
            <p:cNvSpPr>
              <a:spLocks noChangeArrowheads="1"/>
            </p:cNvSpPr>
            <p:nvPr/>
          </p:nvSpPr>
          <p:spPr bwMode="auto">
            <a:xfrm>
              <a:off x="1661" y="2140"/>
              <a:ext cx="416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1447" name="AutoShape 8"/>
            <p:cNvSpPr>
              <a:spLocks noChangeArrowheads="1"/>
            </p:cNvSpPr>
            <p:nvPr/>
          </p:nvSpPr>
          <p:spPr bwMode="auto">
            <a:xfrm>
              <a:off x="2341" y="2140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1448" name="AutoShape 9"/>
            <p:cNvSpPr>
              <a:spLocks noChangeArrowheads="1"/>
            </p:cNvSpPr>
            <p:nvPr/>
          </p:nvSpPr>
          <p:spPr bwMode="auto">
            <a:xfrm>
              <a:off x="3117" y="2140"/>
              <a:ext cx="416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b="1">
                <a:latin typeface="Arial" panose="020B0604020202020204" pitchFamily="34" charset="0"/>
              </a:endParaRPr>
            </a:p>
          </p:txBody>
        </p:sp>
        <p:sp>
          <p:nvSpPr>
            <p:cNvPr id="61449" name="AutoShape 10"/>
            <p:cNvSpPr>
              <a:spLocks noChangeArrowheads="1"/>
            </p:cNvSpPr>
            <p:nvPr/>
          </p:nvSpPr>
          <p:spPr bwMode="auto">
            <a:xfrm>
              <a:off x="3797" y="2140"/>
              <a:ext cx="528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1450" name="AutoShape 11"/>
            <p:cNvSpPr>
              <a:spLocks noChangeArrowheads="1"/>
            </p:cNvSpPr>
            <p:nvPr/>
          </p:nvSpPr>
          <p:spPr bwMode="auto">
            <a:xfrm>
              <a:off x="4589" y="2140"/>
              <a:ext cx="464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1451" name="Rectangle 15"/>
            <p:cNvSpPr>
              <a:spLocks noChangeArrowheads="1"/>
            </p:cNvSpPr>
            <p:nvPr/>
          </p:nvSpPr>
          <p:spPr bwMode="auto">
            <a:xfrm>
              <a:off x="576" y="1855"/>
              <a:ext cx="4932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 		        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 I/YR	    PV	     </a:t>
              </a:r>
              <a:r>
                <a:rPr lang="en-US" altLang="en-US" sz="2600" b="1" baseline="-25000" dirty="0">
                  <a:latin typeface="Arial" panose="020B0604020202020204" pitchFamily="34" charset="0"/>
                </a:rPr>
                <a:t> </a:t>
              </a:r>
              <a:r>
                <a:rPr lang="en-US" altLang="en-US" sz="2600" b="1" dirty="0">
                  <a:latin typeface="Arial" panose="020B0604020202020204" pitchFamily="34" charset="0"/>
                </a:rPr>
                <a:t>PMT	FV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	 </a:t>
              </a:r>
            </a:p>
          </p:txBody>
        </p:sp>
        <p:sp>
          <p:nvSpPr>
            <p:cNvPr id="61452" name="AutoShape 19"/>
            <p:cNvSpPr>
              <a:spLocks noChangeArrowheads="1"/>
            </p:cNvSpPr>
            <p:nvPr/>
          </p:nvSpPr>
          <p:spPr bwMode="auto">
            <a:xfrm>
              <a:off x="711" y="1814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61453" name="AutoShape 20"/>
            <p:cNvSpPr>
              <a:spLocks noChangeArrowheads="1"/>
            </p:cNvSpPr>
            <p:nvPr/>
          </p:nvSpPr>
          <p:spPr bwMode="auto">
            <a:xfrm>
              <a:off x="705" y="2365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Spreadsheet Solution</a:t>
            </a:r>
          </a:p>
        </p:txBody>
      </p:sp>
      <p:sp>
        <p:nvSpPr>
          <p:cNvPr id="3277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PV function: see spreadsheet in </a:t>
            </a:r>
            <a:r>
              <a:rPr lang="en-US" altLang="en-US" i="1"/>
              <a:t>Ch04 Mini Case.xls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= PV(I, N, PMT, FV)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= PV(0.10, 3, 0, 100) = -75.13</a:t>
            </a:r>
          </a:p>
        </p:txBody>
      </p:sp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944C51-82C5-4F96-87A9-3404753F6D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6349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altLang="en-US"/>
              <a:t>Cash Flow signs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  </a:t>
            </a:r>
            <a:r>
              <a:rPr lang="en-US" altLang="en-US" sz="2800" u="sng" dirty="0"/>
              <a:t>Investing $ today</a:t>
            </a:r>
            <a:endParaRPr lang="en-US" altLang="en-US" u="sng" dirty="0"/>
          </a:p>
        </p:txBody>
      </p:sp>
      <p:sp>
        <p:nvSpPr>
          <p:cNvPr id="33796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/>
              <a:t>Outlay (invest) $ today in present to earn greater return in the future.</a:t>
            </a:r>
          </a:p>
          <a:p>
            <a:r>
              <a:rPr lang="en-US" altLang="en-US"/>
              <a:t>Earn  interest (revenue), plus principal</a:t>
            </a:r>
          </a:p>
          <a:p>
            <a:r>
              <a:rPr lang="en-US" altLang="en-US"/>
              <a:t>PV = &lt;-&gt;</a:t>
            </a:r>
          </a:p>
          <a:p>
            <a:r>
              <a:rPr lang="en-US" altLang="en-US"/>
              <a:t>FV = +</a:t>
            </a:r>
          </a:p>
        </p:txBody>
      </p:sp>
      <p:sp>
        <p:nvSpPr>
          <p:cNvPr id="65541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en-US" dirty="0"/>
              <a:t>  </a:t>
            </a:r>
            <a:r>
              <a:rPr lang="en-US" altLang="en-US" sz="2800" u="sng" dirty="0"/>
              <a:t>Borrowing $ today</a:t>
            </a:r>
            <a:endParaRPr lang="en-US" altLang="en-US" u="sng" dirty="0"/>
          </a:p>
        </p:txBody>
      </p:sp>
      <p:sp>
        <p:nvSpPr>
          <p:cNvPr id="33798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/>
              <a:t>Take in (borrow) $ today in present to use now, then repay with interest in the future.</a:t>
            </a:r>
          </a:p>
          <a:p>
            <a:r>
              <a:rPr lang="en-US" altLang="en-US"/>
              <a:t>Pay interest (expense), plus principal</a:t>
            </a:r>
          </a:p>
          <a:p>
            <a:r>
              <a:rPr lang="en-US" altLang="en-US"/>
              <a:t>PV = +</a:t>
            </a:r>
          </a:p>
          <a:p>
            <a:r>
              <a:rPr lang="en-US" altLang="en-US"/>
              <a:t>FV = &lt;-&gt;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  <p:bldP spid="33798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Periods or Interest Rate unknown</a:t>
            </a:r>
          </a:p>
        </p:txBody>
      </p:sp>
      <p:sp>
        <p:nvSpPr>
          <p:cNvPr id="34820" name="Content Placeholder 3"/>
          <p:cNvSpPr>
            <a:spLocks noGrp="1"/>
          </p:cNvSpPr>
          <p:nvPr>
            <p:ph idx="1"/>
          </p:nvPr>
        </p:nvSpPr>
        <p:spPr>
          <a:xfrm>
            <a:off x="628650" y="2362200"/>
            <a:ext cx="4019550" cy="3814764"/>
          </a:xfrm>
        </p:spPr>
        <p:txBody>
          <a:bodyPr/>
          <a:lstStyle/>
          <a:p>
            <a:r>
              <a:rPr lang="en-US" altLang="en-US" dirty="0"/>
              <a:t>Invest $100 today earning 10% &amp; need $146.41.  How long will it take</a:t>
            </a:r>
          </a:p>
        </p:txBody>
      </p:sp>
      <p:sp>
        <p:nvSpPr>
          <p:cNvPr id="66563" name="Text Placeholder 2"/>
          <p:cNvSpPr>
            <a:spLocks noGrp="1"/>
          </p:cNvSpPr>
          <p:nvPr>
            <p:ph type="body" idx="4294967295"/>
          </p:nvPr>
        </p:nvSpPr>
        <p:spPr>
          <a:xfrm>
            <a:off x="990600" y="1600200"/>
            <a:ext cx="2057400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b="1" u="sng" dirty="0"/>
              <a:t>Solve for N</a:t>
            </a:r>
          </a:p>
        </p:txBody>
      </p:sp>
      <p:sp>
        <p:nvSpPr>
          <p:cNvPr id="6656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486400" y="1600200"/>
            <a:ext cx="2211387" cy="8239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b="1" u="sng" dirty="0"/>
              <a:t>Solve for </a:t>
            </a:r>
            <a:r>
              <a:rPr lang="en-US" altLang="en-US" sz="2800" b="1" i="1" u="sng" dirty="0" err="1"/>
              <a:t>i</a:t>
            </a:r>
            <a:endParaRPr lang="en-US" altLang="en-US" b="1" i="1" u="sng" dirty="0"/>
          </a:p>
        </p:txBody>
      </p:sp>
      <p:sp>
        <p:nvSpPr>
          <p:cNvPr id="34822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5256213" y="2505075"/>
            <a:ext cx="3887787" cy="3684588"/>
          </a:xfrm>
        </p:spPr>
        <p:txBody>
          <a:bodyPr/>
          <a:lstStyle/>
          <a:p>
            <a:r>
              <a:rPr lang="en-US" altLang="en-US"/>
              <a:t>Deposit $100 today.  You need $148.45 in 4 years.  What’s the annual interest rate if the money is compounded quarterly?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uild="p"/>
      <p:bldP spid="3482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Periods or Interest Rate unknown</a:t>
            </a:r>
          </a:p>
        </p:txBody>
      </p:sp>
      <p:sp>
        <p:nvSpPr>
          <p:cNvPr id="35844" name="Content Placeholder 3"/>
          <p:cNvSpPr>
            <a:spLocks noGrp="1"/>
          </p:cNvSpPr>
          <p:nvPr>
            <p:ph idx="1"/>
          </p:nvPr>
        </p:nvSpPr>
        <p:spPr>
          <a:xfrm>
            <a:off x="628650" y="2362200"/>
            <a:ext cx="4095750" cy="3814764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Invest $100 today earning 10% &amp; need $146.41.  How long will it take?</a:t>
            </a:r>
          </a:p>
          <a:p>
            <a:endParaRPr lang="en-US" altLang="en-US" dirty="0"/>
          </a:p>
          <a:p>
            <a:r>
              <a:rPr lang="en-US" altLang="en-US" sz="2000" dirty="0"/>
              <a:t>NPER(</a:t>
            </a:r>
            <a:r>
              <a:rPr lang="en-US" altLang="en-US" sz="2000" dirty="0" err="1"/>
              <a:t>rate,pmt,pv,fv,type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=NPER(0.1,0,-100,146.41)=4</a:t>
            </a:r>
          </a:p>
        </p:txBody>
      </p:sp>
      <p:sp>
        <p:nvSpPr>
          <p:cNvPr id="67587" name="Text Placeholder 2"/>
          <p:cNvSpPr>
            <a:spLocks noGrp="1"/>
          </p:cNvSpPr>
          <p:nvPr>
            <p:ph type="body" idx="4294967295"/>
          </p:nvPr>
        </p:nvSpPr>
        <p:spPr>
          <a:xfrm>
            <a:off x="0" y="1681163"/>
            <a:ext cx="3868738" cy="8239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      </a:t>
            </a:r>
            <a:r>
              <a:rPr lang="en-US" altLang="en-US" b="1" u="sng" dirty="0"/>
              <a:t>Solve for N</a:t>
            </a:r>
          </a:p>
        </p:txBody>
      </p:sp>
      <p:sp>
        <p:nvSpPr>
          <p:cNvPr id="67589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256213" y="1681163"/>
            <a:ext cx="3887787" cy="8239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/>
              <a:t>     </a:t>
            </a:r>
            <a:r>
              <a:rPr lang="en-US" altLang="en-US" b="1" u="sng" dirty="0"/>
              <a:t>Solve for </a:t>
            </a:r>
            <a:r>
              <a:rPr lang="en-US" altLang="en-US" b="1" i="1" u="sng" dirty="0" err="1"/>
              <a:t>i</a:t>
            </a:r>
            <a:endParaRPr lang="en-US" altLang="en-US" b="1" i="1" u="sng" dirty="0"/>
          </a:p>
        </p:txBody>
      </p:sp>
      <p:sp>
        <p:nvSpPr>
          <p:cNvPr id="3584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5256213" y="2505075"/>
            <a:ext cx="3887787" cy="36845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Deposit $100 today.  You need $148.45 in 4 years.  What’s the annual interest rate if the money is compounded quarterly?</a:t>
            </a:r>
          </a:p>
          <a:p>
            <a:pPr>
              <a:buClr>
                <a:srgbClr val="3333CC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RATE(</a:t>
            </a:r>
            <a:r>
              <a:rPr lang="en-US" altLang="en-US" sz="2000" dirty="0" err="1">
                <a:solidFill>
                  <a:srgbClr val="000000"/>
                </a:solidFill>
              </a:rPr>
              <a:t>Nper,Pmt,pv,fv,type</a:t>
            </a:r>
            <a:r>
              <a:rPr lang="en-US" altLang="en-US" sz="2000" dirty="0">
                <a:solidFill>
                  <a:srgbClr val="000000"/>
                </a:solidFill>
              </a:rPr>
              <a:t>)</a:t>
            </a:r>
          </a:p>
          <a:p>
            <a:pPr>
              <a:buClr>
                <a:srgbClr val="3333CC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=RATE(4*4,0,-100,148.45)*4</a:t>
            </a:r>
          </a:p>
          <a:p>
            <a:pPr>
              <a:buClr>
                <a:srgbClr val="3333CC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=(2.5%)*4 = 10%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build="p"/>
      <p:bldP spid="3584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the Time to Double</a:t>
            </a:r>
          </a:p>
        </p:txBody>
      </p:sp>
      <p:sp>
        <p:nvSpPr>
          <p:cNvPr id="686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1FE720-6437-4AE3-B574-60717EE0DEB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grpSp>
        <p:nvGrpSpPr>
          <p:cNvPr id="68611" name="Group 15"/>
          <p:cNvGrpSpPr>
            <a:grpSpLocks/>
          </p:cNvGrpSpPr>
          <p:nvPr/>
        </p:nvGrpSpPr>
        <p:grpSpPr bwMode="auto">
          <a:xfrm>
            <a:off x="1725613" y="2590800"/>
            <a:ext cx="7145338" cy="3298825"/>
            <a:chOff x="1087" y="1632"/>
            <a:chExt cx="4501" cy="2078"/>
          </a:xfrm>
        </p:grpSpPr>
        <p:sp>
          <p:nvSpPr>
            <p:cNvPr id="68613" name="Rectangle 4"/>
            <p:cNvSpPr>
              <a:spLocks noChangeArrowheads="1"/>
            </p:cNvSpPr>
            <p:nvPr/>
          </p:nvSpPr>
          <p:spPr bwMode="auto">
            <a:xfrm>
              <a:off x="1591" y="1918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20%</a:t>
              </a:r>
            </a:p>
          </p:txBody>
        </p:sp>
        <p:sp>
          <p:nvSpPr>
            <p:cNvPr id="68614" name="Rectangle 5"/>
            <p:cNvSpPr>
              <a:spLocks noChangeArrowheads="1"/>
            </p:cNvSpPr>
            <p:nvPr/>
          </p:nvSpPr>
          <p:spPr bwMode="auto">
            <a:xfrm>
              <a:off x="2357" y="2545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8615" name="Rectangle 6"/>
            <p:cNvSpPr>
              <a:spLocks noChangeArrowheads="1"/>
            </p:cNvSpPr>
            <p:nvPr/>
          </p:nvSpPr>
          <p:spPr bwMode="auto">
            <a:xfrm>
              <a:off x="5183" y="2434"/>
              <a:ext cx="40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FV</a:t>
              </a:r>
            </a:p>
          </p:txBody>
        </p:sp>
        <p:sp>
          <p:nvSpPr>
            <p:cNvPr id="68616" name="Line 7"/>
            <p:cNvSpPr>
              <a:spLocks noChangeShapeType="1"/>
            </p:cNvSpPr>
            <p:nvPr/>
          </p:nvSpPr>
          <p:spPr bwMode="auto">
            <a:xfrm>
              <a:off x="1237" y="1969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7" name="Line 8"/>
            <p:cNvSpPr>
              <a:spLocks noChangeShapeType="1"/>
            </p:cNvSpPr>
            <p:nvPr/>
          </p:nvSpPr>
          <p:spPr bwMode="auto">
            <a:xfrm>
              <a:off x="2629" y="1969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8" name="Line 9"/>
            <p:cNvSpPr>
              <a:spLocks noChangeShapeType="1"/>
            </p:cNvSpPr>
            <p:nvPr/>
          </p:nvSpPr>
          <p:spPr bwMode="auto">
            <a:xfrm>
              <a:off x="3877" y="1969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9" name="Line 10"/>
            <p:cNvSpPr>
              <a:spLocks noChangeShapeType="1"/>
            </p:cNvSpPr>
            <p:nvPr/>
          </p:nvSpPr>
          <p:spPr bwMode="auto">
            <a:xfrm>
              <a:off x="5317" y="1969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20" name="Rectangle 11"/>
            <p:cNvSpPr>
              <a:spLocks noChangeArrowheads="1"/>
            </p:cNvSpPr>
            <p:nvPr/>
          </p:nvSpPr>
          <p:spPr bwMode="auto">
            <a:xfrm>
              <a:off x="3605" y="2545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8621" name="Rectangle 12"/>
            <p:cNvSpPr>
              <a:spLocks noChangeArrowheads="1"/>
            </p:cNvSpPr>
            <p:nvPr/>
          </p:nvSpPr>
          <p:spPr bwMode="auto">
            <a:xfrm>
              <a:off x="1111" y="163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68622" name="Rectangle 13"/>
            <p:cNvSpPr>
              <a:spLocks noChangeArrowheads="1"/>
            </p:cNvSpPr>
            <p:nvPr/>
          </p:nvSpPr>
          <p:spPr bwMode="auto">
            <a:xfrm>
              <a:off x="2503" y="163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68623" name="Rectangle 14"/>
            <p:cNvSpPr>
              <a:spLocks noChangeArrowheads="1"/>
            </p:cNvSpPr>
            <p:nvPr/>
          </p:nvSpPr>
          <p:spPr bwMode="auto">
            <a:xfrm>
              <a:off x="3750" y="163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68624" name="Rectangle 15"/>
            <p:cNvSpPr>
              <a:spLocks noChangeArrowheads="1"/>
            </p:cNvSpPr>
            <p:nvPr/>
          </p:nvSpPr>
          <p:spPr bwMode="auto">
            <a:xfrm>
              <a:off x="5190" y="1632"/>
              <a:ext cx="23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?</a:t>
              </a:r>
            </a:p>
          </p:txBody>
        </p:sp>
        <p:sp>
          <p:nvSpPr>
            <p:cNvPr id="68625" name="Rectangle 16"/>
            <p:cNvSpPr>
              <a:spLocks noChangeArrowheads="1"/>
            </p:cNvSpPr>
            <p:nvPr/>
          </p:nvSpPr>
          <p:spPr bwMode="auto">
            <a:xfrm>
              <a:off x="1087" y="2438"/>
              <a:ext cx="506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-PV</a:t>
              </a:r>
            </a:p>
          </p:txBody>
        </p:sp>
        <p:sp>
          <p:nvSpPr>
            <p:cNvPr id="68626" name="Line 18"/>
            <p:cNvSpPr>
              <a:spLocks noChangeShapeType="1"/>
            </p:cNvSpPr>
            <p:nvPr/>
          </p:nvSpPr>
          <p:spPr bwMode="auto">
            <a:xfrm>
              <a:off x="1247" y="2187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27" name="Text Box 19"/>
            <p:cNvSpPr txBox="1">
              <a:spLocks noChangeArrowheads="1"/>
            </p:cNvSpPr>
            <p:nvPr/>
          </p:nvSpPr>
          <p:spPr bwMode="auto">
            <a:xfrm>
              <a:off x="1440" y="2731"/>
              <a:ext cx="2782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145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  FV	= PV(1 + I)</a:t>
              </a:r>
              <a:r>
                <a:rPr lang="en-US" altLang="en-US" baseline="30000"/>
                <a:t>N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   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Continued on next slide</a:t>
              </a: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to Double (Continued)</a:t>
            </a:r>
          </a:p>
        </p:txBody>
      </p:sp>
      <p:sp>
        <p:nvSpPr>
          <p:cNvPr id="706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60CE67-6E56-4ABF-A628-E494FE095A8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70660" name="Text Box 20"/>
          <p:cNvSpPr txBox="1">
            <a:spLocks noChangeArrowheads="1"/>
          </p:cNvSpPr>
          <p:nvPr/>
        </p:nvSpPr>
        <p:spPr bwMode="auto">
          <a:xfrm>
            <a:off x="1905000" y="2963863"/>
            <a:ext cx="5959475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205422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205422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205422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20542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0542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0542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0542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0542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20542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           </a:t>
            </a:r>
            <a:r>
              <a:rPr lang="en-US" altLang="en-US"/>
              <a:t>$2	= $1(1 + 0.20)</a:t>
            </a:r>
            <a:r>
              <a:rPr lang="en-US" altLang="en-US" baseline="30000"/>
              <a:t>N</a:t>
            </a: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     (1.2)</a:t>
            </a:r>
            <a:r>
              <a:rPr lang="en-US" altLang="en-US" baseline="30000"/>
              <a:t>N</a:t>
            </a:r>
            <a:r>
              <a:rPr lang="en-US" altLang="en-US"/>
              <a:t>	= $2/$1 =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N LN(1.2)	= LN(2)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           N	= LN(2)/LN(1.2)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           N	= 0.693/0.182 = 3.8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 Solution</a:t>
            </a:r>
          </a:p>
        </p:txBody>
      </p:sp>
      <p:sp>
        <p:nvSpPr>
          <p:cNvPr id="727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69DAFD-12C9-4743-8941-30E54F62BDC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grpSp>
        <p:nvGrpSpPr>
          <p:cNvPr id="72707" name="Group 13"/>
          <p:cNvGrpSpPr>
            <a:grpSpLocks/>
          </p:cNvGrpSpPr>
          <p:nvPr/>
        </p:nvGrpSpPr>
        <p:grpSpPr bwMode="auto">
          <a:xfrm>
            <a:off x="1400175" y="3341688"/>
            <a:ext cx="7556500" cy="1441450"/>
            <a:chOff x="882" y="2105"/>
            <a:chExt cx="4760" cy="908"/>
          </a:xfrm>
        </p:grpSpPr>
        <p:sp>
          <p:nvSpPr>
            <p:cNvPr id="72709" name="AutoShape 3"/>
            <p:cNvSpPr>
              <a:spLocks noChangeArrowheads="1"/>
            </p:cNvSpPr>
            <p:nvPr/>
          </p:nvSpPr>
          <p:spPr bwMode="auto">
            <a:xfrm>
              <a:off x="2595" y="2432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2710" name="AutoShape 4"/>
            <p:cNvSpPr>
              <a:spLocks noChangeArrowheads="1"/>
            </p:cNvSpPr>
            <p:nvPr/>
          </p:nvSpPr>
          <p:spPr bwMode="auto">
            <a:xfrm>
              <a:off x="2003" y="2432"/>
              <a:ext cx="320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2711" name="AutoShape 5"/>
            <p:cNvSpPr>
              <a:spLocks noChangeArrowheads="1"/>
            </p:cNvSpPr>
            <p:nvPr/>
          </p:nvSpPr>
          <p:spPr bwMode="auto">
            <a:xfrm>
              <a:off x="3380" y="2432"/>
              <a:ext cx="416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2712" name="AutoShape 6"/>
            <p:cNvSpPr>
              <a:spLocks noChangeArrowheads="1"/>
            </p:cNvSpPr>
            <p:nvPr/>
          </p:nvSpPr>
          <p:spPr bwMode="auto">
            <a:xfrm>
              <a:off x="4068" y="2432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2713" name="AutoShape 7"/>
            <p:cNvSpPr>
              <a:spLocks noChangeArrowheads="1"/>
            </p:cNvSpPr>
            <p:nvPr/>
          </p:nvSpPr>
          <p:spPr bwMode="auto">
            <a:xfrm>
              <a:off x="4853" y="2432"/>
              <a:ext cx="491" cy="29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2714" name="Rectangle 8"/>
            <p:cNvSpPr>
              <a:spLocks noChangeArrowheads="1"/>
            </p:cNvSpPr>
            <p:nvPr/>
          </p:nvSpPr>
          <p:spPr bwMode="auto">
            <a:xfrm>
              <a:off x="882" y="2160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		    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PV	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</a:t>
              </a:r>
            </a:p>
          </p:txBody>
        </p:sp>
        <p:sp>
          <p:nvSpPr>
            <p:cNvPr id="72715" name="AutoShape 9"/>
            <p:cNvSpPr>
              <a:spLocks noChangeArrowheads="1"/>
            </p:cNvSpPr>
            <p:nvPr/>
          </p:nvSpPr>
          <p:spPr bwMode="auto">
            <a:xfrm>
              <a:off x="1004" y="2105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72716" name="AutoShape 10"/>
            <p:cNvSpPr>
              <a:spLocks noChangeArrowheads="1"/>
            </p:cNvSpPr>
            <p:nvPr/>
          </p:nvSpPr>
          <p:spPr bwMode="auto">
            <a:xfrm>
              <a:off x="998" y="2656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Spreadsheet Solution</a:t>
            </a:r>
          </a:p>
        </p:txBody>
      </p:sp>
      <p:sp>
        <p:nvSpPr>
          <p:cNvPr id="39942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Use NPER function: see spreadsheet in </a:t>
            </a:r>
            <a:r>
              <a:rPr lang="en-US" altLang="en-US" i="1" dirty="0"/>
              <a:t>Ch04 Mini Case.xls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= NPER(I, PMT, PV, FV)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 = NPER(0.20, 0, -1, 2) = 3.8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F20DF3-0202-45E1-A6F2-66C2B60C41A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7475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475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Solve for Interest Rate for $ to Double</a:t>
            </a:r>
          </a:p>
        </p:txBody>
      </p:sp>
      <p:sp>
        <p:nvSpPr>
          <p:cNvPr id="768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8F1225-0A5A-42B1-AE12-24E2BA183CD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grpSp>
        <p:nvGrpSpPr>
          <p:cNvPr id="76803" name="Group 4"/>
          <p:cNvGrpSpPr>
            <a:grpSpLocks/>
          </p:cNvGrpSpPr>
          <p:nvPr/>
        </p:nvGrpSpPr>
        <p:grpSpPr bwMode="auto">
          <a:xfrm>
            <a:off x="1600200" y="2438401"/>
            <a:ext cx="7145338" cy="2100263"/>
            <a:chOff x="1008" y="1536"/>
            <a:chExt cx="4501" cy="1323"/>
          </a:xfrm>
        </p:grpSpPr>
        <p:sp>
          <p:nvSpPr>
            <p:cNvPr id="76805" name="Rectangle 4"/>
            <p:cNvSpPr>
              <a:spLocks noChangeArrowheads="1"/>
            </p:cNvSpPr>
            <p:nvPr/>
          </p:nvSpPr>
          <p:spPr bwMode="auto">
            <a:xfrm>
              <a:off x="1512" y="1822"/>
              <a:ext cx="39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?%</a:t>
              </a:r>
            </a:p>
          </p:txBody>
        </p:sp>
        <p:sp>
          <p:nvSpPr>
            <p:cNvPr id="76806" name="Rectangle 6"/>
            <p:cNvSpPr>
              <a:spLocks noChangeArrowheads="1"/>
            </p:cNvSpPr>
            <p:nvPr/>
          </p:nvSpPr>
          <p:spPr bwMode="auto">
            <a:xfrm>
              <a:off x="5104" y="2338"/>
              <a:ext cx="40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FV</a:t>
              </a:r>
            </a:p>
          </p:txBody>
        </p:sp>
        <p:sp>
          <p:nvSpPr>
            <p:cNvPr id="76807" name="Line 7"/>
            <p:cNvSpPr>
              <a:spLocks noChangeShapeType="1"/>
            </p:cNvSpPr>
            <p:nvPr/>
          </p:nvSpPr>
          <p:spPr bwMode="auto">
            <a:xfrm>
              <a:off x="1158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8" name="Line 8"/>
            <p:cNvSpPr>
              <a:spLocks noChangeShapeType="1"/>
            </p:cNvSpPr>
            <p:nvPr/>
          </p:nvSpPr>
          <p:spPr bwMode="auto">
            <a:xfrm>
              <a:off x="2550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9" name="Line 9"/>
            <p:cNvSpPr>
              <a:spLocks noChangeShapeType="1"/>
            </p:cNvSpPr>
            <p:nvPr/>
          </p:nvSpPr>
          <p:spPr bwMode="auto">
            <a:xfrm>
              <a:off x="3798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0" name="Line 10"/>
            <p:cNvSpPr>
              <a:spLocks noChangeShapeType="1"/>
            </p:cNvSpPr>
            <p:nvPr/>
          </p:nvSpPr>
          <p:spPr bwMode="auto">
            <a:xfrm>
              <a:off x="5238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1" name="Rectangle 12"/>
            <p:cNvSpPr>
              <a:spLocks noChangeArrowheads="1"/>
            </p:cNvSpPr>
            <p:nvPr/>
          </p:nvSpPr>
          <p:spPr bwMode="auto">
            <a:xfrm>
              <a:off x="1032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76812" name="Rectangle 13"/>
            <p:cNvSpPr>
              <a:spLocks noChangeArrowheads="1"/>
            </p:cNvSpPr>
            <p:nvPr/>
          </p:nvSpPr>
          <p:spPr bwMode="auto">
            <a:xfrm>
              <a:off x="2424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76813" name="Rectangle 14"/>
            <p:cNvSpPr>
              <a:spLocks noChangeArrowheads="1"/>
            </p:cNvSpPr>
            <p:nvPr/>
          </p:nvSpPr>
          <p:spPr bwMode="auto">
            <a:xfrm>
              <a:off x="3671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76814" name="Rectangle 15"/>
            <p:cNvSpPr>
              <a:spLocks noChangeArrowheads="1"/>
            </p:cNvSpPr>
            <p:nvPr/>
          </p:nvSpPr>
          <p:spPr bwMode="auto">
            <a:xfrm>
              <a:off x="5111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76815" name="Rectangle 16"/>
            <p:cNvSpPr>
              <a:spLocks noChangeArrowheads="1"/>
            </p:cNvSpPr>
            <p:nvPr/>
          </p:nvSpPr>
          <p:spPr bwMode="auto">
            <a:xfrm>
              <a:off x="1008" y="2342"/>
              <a:ext cx="506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-PV</a:t>
              </a:r>
            </a:p>
          </p:txBody>
        </p:sp>
        <p:sp>
          <p:nvSpPr>
            <p:cNvPr id="76816" name="Text Box 18"/>
            <p:cNvSpPr txBox="1">
              <a:spLocks noChangeArrowheads="1"/>
            </p:cNvSpPr>
            <p:nvPr/>
          </p:nvSpPr>
          <p:spPr bwMode="auto">
            <a:xfrm>
              <a:off x="1488" y="2491"/>
              <a:ext cx="11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</p:txBody>
        </p:sp>
        <p:sp>
          <p:nvSpPr>
            <p:cNvPr id="76817" name="Line 17"/>
            <p:cNvSpPr>
              <a:spLocks noChangeShapeType="1"/>
            </p:cNvSpPr>
            <p:nvPr/>
          </p:nvSpPr>
          <p:spPr bwMode="auto">
            <a:xfrm>
              <a:off x="1168" y="2091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5242-17BD-173B-B08C-F4F5526F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3">
            <a:extLst>
              <a:ext uri="{FF2B5EF4-FFF2-40B4-BE49-F238E27FC236}">
                <a16:creationId xmlns:a16="http://schemas.microsoft.com/office/drawing/2014/main" id="{E8BA543F-A1D1-81A7-FBF0-22FE7FD3F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Solve for Interest Rate for $ to Double</a:t>
            </a:r>
          </a:p>
        </p:txBody>
      </p:sp>
      <p:sp>
        <p:nvSpPr>
          <p:cNvPr id="76802" name="Slide Number Placeholder 4">
            <a:extLst>
              <a:ext uri="{FF2B5EF4-FFF2-40B4-BE49-F238E27FC236}">
                <a16:creationId xmlns:a16="http://schemas.microsoft.com/office/drawing/2014/main" id="{F554F0EA-25A2-04C0-6C29-A8CAB357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8F1225-0A5A-42B1-AE12-24E2BA183CD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/>
          </a:p>
        </p:txBody>
      </p:sp>
      <p:grpSp>
        <p:nvGrpSpPr>
          <p:cNvPr id="76803" name="Group 4">
            <a:extLst>
              <a:ext uri="{FF2B5EF4-FFF2-40B4-BE49-F238E27FC236}">
                <a16:creationId xmlns:a16="http://schemas.microsoft.com/office/drawing/2014/main" id="{7C0F90DB-DC67-FFCA-8F83-9B2FBE89DD85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438400"/>
            <a:ext cx="6916738" cy="4044950"/>
            <a:chOff x="1008" y="1536"/>
            <a:chExt cx="4357" cy="2548"/>
          </a:xfrm>
        </p:grpSpPr>
        <p:sp>
          <p:nvSpPr>
            <p:cNvPr id="76805" name="Rectangle 4">
              <a:extLst>
                <a:ext uri="{FF2B5EF4-FFF2-40B4-BE49-F238E27FC236}">
                  <a16:creationId xmlns:a16="http://schemas.microsoft.com/office/drawing/2014/main" id="{64DED913-3F62-8103-432A-E25D018DE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822"/>
              <a:ext cx="39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?%</a:t>
              </a:r>
            </a:p>
          </p:txBody>
        </p:sp>
        <p:sp>
          <p:nvSpPr>
            <p:cNvPr id="76806" name="Rectangle 6">
              <a:extLst>
                <a:ext uri="{FF2B5EF4-FFF2-40B4-BE49-F238E27FC236}">
                  <a16:creationId xmlns:a16="http://schemas.microsoft.com/office/drawing/2014/main" id="{9616E0E7-3F72-CA08-E5BC-5BBC13AE7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2338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76807" name="Line 7">
              <a:extLst>
                <a:ext uri="{FF2B5EF4-FFF2-40B4-BE49-F238E27FC236}">
                  <a16:creationId xmlns:a16="http://schemas.microsoft.com/office/drawing/2014/main" id="{C9C2AA27-2E37-47AC-1989-03A1B28F1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8" name="Line 8">
              <a:extLst>
                <a:ext uri="{FF2B5EF4-FFF2-40B4-BE49-F238E27FC236}">
                  <a16:creationId xmlns:a16="http://schemas.microsoft.com/office/drawing/2014/main" id="{D61C6D85-CD34-8B67-9500-66F3AF8DA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9" name="Line 9">
              <a:extLst>
                <a:ext uri="{FF2B5EF4-FFF2-40B4-BE49-F238E27FC236}">
                  <a16:creationId xmlns:a16="http://schemas.microsoft.com/office/drawing/2014/main" id="{7D13ABAD-59E4-7941-AE45-6E8100017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0" name="Line 10">
              <a:extLst>
                <a:ext uri="{FF2B5EF4-FFF2-40B4-BE49-F238E27FC236}">
                  <a16:creationId xmlns:a16="http://schemas.microsoft.com/office/drawing/2014/main" id="{3E88F0F3-455C-C081-CCFF-9836C95DB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8" y="1873"/>
              <a:ext cx="0" cy="4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1" name="Rectangle 12">
              <a:extLst>
                <a:ext uri="{FF2B5EF4-FFF2-40B4-BE49-F238E27FC236}">
                  <a16:creationId xmlns:a16="http://schemas.microsoft.com/office/drawing/2014/main" id="{CB7CE650-C921-37ED-39B7-5BF0D4EDC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76812" name="Rectangle 13">
              <a:extLst>
                <a:ext uri="{FF2B5EF4-FFF2-40B4-BE49-F238E27FC236}">
                  <a16:creationId xmlns:a16="http://schemas.microsoft.com/office/drawing/2014/main" id="{A6E9AB65-A815-C4C5-D2BF-C6DEF9979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76813" name="Rectangle 14">
              <a:extLst>
                <a:ext uri="{FF2B5EF4-FFF2-40B4-BE49-F238E27FC236}">
                  <a16:creationId xmlns:a16="http://schemas.microsoft.com/office/drawing/2014/main" id="{41BF5A78-41A4-DBC9-14A5-7C3080110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1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76814" name="Rectangle 15">
              <a:extLst>
                <a:ext uri="{FF2B5EF4-FFF2-40B4-BE49-F238E27FC236}">
                  <a16:creationId xmlns:a16="http://schemas.microsoft.com/office/drawing/2014/main" id="{A5C1EC2D-79DC-FDE9-13BA-3E87BD93C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153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76815" name="Rectangle 16">
              <a:extLst>
                <a:ext uri="{FF2B5EF4-FFF2-40B4-BE49-F238E27FC236}">
                  <a16:creationId xmlns:a16="http://schemas.microsoft.com/office/drawing/2014/main" id="{587EB4BA-D75C-BE34-0673-D045B641F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342"/>
              <a:ext cx="34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-1</a:t>
              </a:r>
            </a:p>
          </p:txBody>
        </p:sp>
        <p:sp>
          <p:nvSpPr>
            <p:cNvPr id="76816" name="Text Box 18">
              <a:extLst>
                <a:ext uri="{FF2B5EF4-FFF2-40B4-BE49-F238E27FC236}">
                  <a16:creationId xmlns:a16="http://schemas.microsoft.com/office/drawing/2014/main" id="{778D16A3-5544-92E6-B08B-12F2D49E2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91"/>
              <a:ext cx="3546" cy="1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82880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  FV	= PV(1 + I)</a:t>
              </a:r>
              <a:r>
                <a:rPr lang="en-US" altLang="en-US" baseline="30000"/>
                <a:t>N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  $2	= $1(1 + I)</a:t>
              </a:r>
              <a:r>
                <a:rPr lang="en-US" altLang="en-US" baseline="30000"/>
                <a:t>3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(2)</a:t>
              </a:r>
              <a:r>
                <a:rPr lang="en-US" altLang="en-US" baseline="30000"/>
                <a:t>(1/3)</a:t>
              </a:r>
              <a:r>
                <a:rPr lang="en-US" altLang="en-US"/>
                <a:t>	= (1 + I)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1.2599	= (1 + I)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    I	= 0.2599 = 25.99%</a:t>
              </a:r>
            </a:p>
          </p:txBody>
        </p:sp>
        <p:sp>
          <p:nvSpPr>
            <p:cNvPr id="76817" name="Line 17">
              <a:extLst>
                <a:ext uri="{FF2B5EF4-FFF2-40B4-BE49-F238E27FC236}">
                  <a16:creationId xmlns:a16="http://schemas.microsoft.com/office/drawing/2014/main" id="{A70C1418-2C4E-0162-F45D-408575092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" y="2091"/>
              <a:ext cx="4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338009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10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</a:t>
            </a:r>
          </a:p>
        </p:txBody>
      </p:sp>
      <p:sp>
        <p:nvSpPr>
          <p:cNvPr id="788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C8A16B-D6BD-4450-BCC7-B49EA14F790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/>
          </a:p>
        </p:txBody>
      </p:sp>
      <p:grpSp>
        <p:nvGrpSpPr>
          <p:cNvPr id="78851" name="Group 13"/>
          <p:cNvGrpSpPr>
            <a:grpSpLocks/>
          </p:cNvGrpSpPr>
          <p:nvPr/>
        </p:nvGrpSpPr>
        <p:grpSpPr bwMode="auto">
          <a:xfrm>
            <a:off x="1143000" y="3646488"/>
            <a:ext cx="7556500" cy="1441450"/>
            <a:chOff x="720" y="2297"/>
            <a:chExt cx="4760" cy="908"/>
          </a:xfrm>
        </p:grpSpPr>
        <p:sp>
          <p:nvSpPr>
            <p:cNvPr id="78853" name="AutoShape 1027"/>
            <p:cNvSpPr>
              <a:spLocks noChangeArrowheads="1"/>
            </p:cNvSpPr>
            <p:nvPr/>
          </p:nvSpPr>
          <p:spPr bwMode="auto">
            <a:xfrm>
              <a:off x="2433" y="2624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8854" name="AutoShape 1028"/>
            <p:cNvSpPr>
              <a:spLocks noChangeArrowheads="1"/>
            </p:cNvSpPr>
            <p:nvPr/>
          </p:nvSpPr>
          <p:spPr bwMode="auto">
            <a:xfrm>
              <a:off x="1841" y="2624"/>
              <a:ext cx="320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8855" name="AutoShape 1029"/>
            <p:cNvSpPr>
              <a:spLocks noChangeArrowheads="1"/>
            </p:cNvSpPr>
            <p:nvPr/>
          </p:nvSpPr>
          <p:spPr bwMode="auto">
            <a:xfrm>
              <a:off x="3218" y="2624"/>
              <a:ext cx="416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8856" name="AutoShape 1030"/>
            <p:cNvSpPr>
              <a:spLocks noChangeArrowheads="1"/>
            </p:cNvSpPr>
            <p:nvPr/>
          </p:nvSpPr>
          <p:spPr bwMode="auto">
            <a:xfrm>
              <a:off x="3906" y="2624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8857" name="AutoShape 1031"/>
            <p:cNvSpPr>
              <a:spLocks noChangeArrowheads="1"/>
            </p:cNvSpPr>
            <p:nvPr/>
          </p:nvSpPr>
          <p:spPr bwMode="auto">
            <a:xfrm>
              <a:off x="4691" y="2624"/>
              <a:ext cx="491" cy="29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8858" name="Rectangle 1032"/>
            <p:cNvSpPr>
              <a:spLocks noChangeArrowheads="1"/>
            </p:cNvSpPr>
            <p:nvPr/>
          </p:nvSpPr>
          <p:spPr bwMode="auto">
            <a:xfrm>
              <a:off x="720" y="2352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	    	   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PV	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</a:p>
          </p:txBody>
        </p:sp>
        <p:sp>
          <p:nvSpPr>
            <p:cNvPr id="78859" name="AutoShape 1033"/>
            <p:cNvSpPr>
              <a:spLocks noChangeArrowheads="1"/>
            </p:cNvSpPr>
            <p:nvPr/>
          </p:nvSpPr>
          <p:spPr bwMode="auto">
            <a:xfrm>
              <a:off x="842" y="2297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78860" name="AutoShape 1034"/>
            <p:cNvSpPr>
              <a:spLocks noChangeArrowheads="1"/>
            </p:cNvSpPr>
            <p:nvPr/>
          </p:nvSpPr>
          <p:spPr bwMode="auto">
            <a:xfrm>
              <a:off x="836" y="2848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Spreadsheet Solution</a:t>
            </a:r>
          </a:p>
        </p:txBody>
      </p:sp>
      <p:sp>
        <p:nvSpPr>
          <p:cNvPr id="43014" name="Rectangle 1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 RATE function: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= RATE(N, PMT, PV, FV)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= RATE(3, 0, -1, 2) = 0.2599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808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B66FFF-FC2A-4574-A9D3-A0D880CC271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8089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Ordinary Annuity vs. Annuity Due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Series of equal payments made at fixed intervals for specified number of periods.</a:t>
            </a:r>
          </a:p>
          <a:p>
            <a:r>
              <a:rPr lang="en-US" altLang="en-US"/>
              <a:t>Ordinary Annuity @ end</a:t>
            </a:r>
          </a:p>
          <a:p>
            <a:r>
              <a:rPr lang="en-US" altLang="en-US"/>
              <a:t>Annuity Due @ beg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107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Ordinary Annuity vs. Annuity Due</a:t>
            </a:r>
          </a:p>
        </p:txBody>
      </p:sp>
      <p:sp>
        <p:nvSpPr>
          <p:cNvPr id="839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977B88-7C1A-40CF-BF65-FD6684CF8C3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/>
          </a:p>
        </p:txBody>
      </p:sp>
      <p:grpSp>
        <p:nvGrpSpPr>
          <p:cNvPr id="83971" name="Group 1071"/>
          <p:cNvGrpSpPr>
            <a:grpSpLocks/>
          </p:cNvGrpSpPr>
          <p:nvPr/>
        </p:nvGrpSpPr>
        <p:grpSpPr bwMode="auto">
          <a:xfrm>
            <a:off x="1304925" y="2436813"/>
            <a:ext cx="7515225" cy="4105275"/>
            <a:chOff x="822" y="1535"/>
            <a:chExt cx="4734" cy="2586"/>
          </a:xfrm>
        </p:grpSpPr>
        <p:sp>
          <p:nvSpPr>
            <p:cNvPr id="83973" name="Rectangle 1029"/>
            <p:cNvSpPr>
              <a:spLocks noChangeArrowheads="1"/>
            </p:cNvSpPr>
            <p:nvPr/>
          </p:nvSpPr>
          <p:spPr bwMode="auto">
            <a:xfrm>
              <a:off x="823" y="1535"/>
              <a:ext cx="1781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Ordinary Annuity</a:t>
              </a:r>
            </a:p>
          </p:txBody>
        </p:sp>
        <p:sp>
          <p:nvSpPr>
            <p:cNvPr id="83974" name="Rectangle 1030"/>
            <p:cNvSpPr>
              <a:spLocks noChangeArrowheads="1"/>
            </p:cNvSpPr>
            <p:nvPr/>
          </p:nvSpPr>
          <p:spPr bwMode="auto">
            <a:xfrm>
              <a:off x="2200" y="2515"/>
              <a:ext cx="1050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$100=PMT</a:t>
              </a:r>
            </a:p>
          </p:txBody>
        </p:sp>
        <p:sp>
          <p:nvSpPr>
            <p:cNvPr id="83975" name="Rectangle 1031"/>
            <p:cNvSpPr>
              <a:spLocks noChangeArrowheads="1"/>
            </p:cNvSpPr>
            <p:nvPr/>
          </p:nvSpPr>
          <p:spPr bwMode="auto">
            <a:xfrm>
              <a:off x="5017" y="2515"/>
              <a:ext cx="53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$100</a:t>
              </a:r>
            </a:p>
          </p:txBody>
        </p:sp>
        <p:grpSp>
          <p:nvGrpSpPr>
            <p:cNvPr id="83976" name="Group 1037"/>
            <p:cNvGrpSpPr>
              <a:grpSpLocks/>
            </p:cNvGrpSpPr>
            <p:nvPr/>
          </p:nvGrpSpPr>
          <p:grpSpPr bwMode="auto">
            <a:xfrm>
              <a:off x="1200" y="2206"/>
              <a:ext cx="4080" cy="312"/>
              <a:chOff x="779" y="2027"/>
              <a:chExt cx="4080" cy="312"/>
            </a:xfrm>
          </p:grpSpPr>
          <p:sp>
            <p:nvSpPr>
              <p:cNvPr id="84001" name="Line 1032"/>
              <p:cNvSpPr>
                <a:spLocks noChangeShapeType="1"/>
              </p:cNvSpPr>
              <p:nvPr/>
            </p:nvSpPr>
            <p:spPr bwMode="auto">
              <a:xfrm>
                <a:off x="779" y="2027"/>
                <a:ext cx="0" cy="3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002" name="Line 1033"/>
              <p:cNvSpPr>
                <a:spLocks noChangeShapeType="1"/>
              </p:cNvSpPr>
              <p:nvPr/>
            </p:nvSpPr>
            <p:spPr bwMode="auto">
              <a:xfrm>
                <a:off x="2171" y="2027"/>
                <a:ext cx="0" cy="3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003" name="Line 1034"/>
              <p:cNvSpPr>
                <a:spLocks noChangeShapeType="1"/>
              </p:cNvSpPr>
              <p:nvPr/>
            </p:nvSpPr>
            <p:spPr bwMode="auto">
              <a:xfrm>
                <a:off x="3419" y="2027"/>
                <a:ext cx="0" cy="3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004" name="Line 1035"/>
              <p:cNvSpPr>
                <a:spLocks noChangeShapeType="1"/>
              </p:cNvSpPr>
              <p:nvPr/>
            </p:nvSpPr>
            <p:spPr bwMode="auto">
              <a:xfrm>
                <a:off x="4859" y="2027"/>
                <a:ext cx="0" cy="3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005" name="Line 1036"/>
              <p:cNvSpPr>
                <a:spLocks noChangeShapeType="1"/>
              </p:cNvSpPr>
              <p:nvPr/>
            </p:nvSpPr>
            <p:spPr bwMode="auto">
              <a:xfrm>
                <a:off x="787" y="2184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3977" name="Rectangle 1038"/>
            <p:cNvSpPr>
              <a:spLocks noChangeArrowheads="1"/>
            </p:cNvSpPr>
            <p:nvPr/>
          </p:nvSpPr>
          <p:spPr bwMode="auto">
            <a:xfrm>
              <a:off x="3591" y="2515"/>
              <a:ext cx="53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$100</a:t>
              </a:r>
            </a:p>
          </p:txBody>
        </p:sp>
        <p:sp>
          <p:nvSpPr>
            <p:cNvPr id="83978" name="Rectangle 1039"/>
            <p:cNvSpPr>
              <a:spLocks noChangeArrowheads="1"/>
            </p:cNvSpPr>
            <p:nvPr/>
          </p:nvSpPr>
          <p:spPr bwMode="auto">
            <a:xfrm>
              <a:off x="1095" y="1899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83979" name="Rectangle 1040"/>
            <p:cNvSpPr>
              <a:spLocks noChangeArrowheads="1"/>
            </p:cNvSpPr>
            <p:nvPr/>
          </p:nvSpPr>
          <p:spPr bwMode="auto">
            <a:xfrm>
              <a:off x="2487" y="1899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</a:t>
              </a:r>
            </a:p>
          </p:txBody>
        </p:sp>
        <p:sp>
          <p:nvSpPr>
            <p:cNvPr id="83980" name="Rectangle 1041"/>
            <p:cNvSpPr>
              <a:spLocks noChangeArrowheads="1"/>
            </p:cNvSpPr>
            <p:nvPr/>
          </p:nvSpPr>
          <p:spPr bwMode="auto">
            <a:xfrm>
              <a:off x="3735" y="1899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2</a:t>
              </a:r>
            </a:p>
          </p:txBody>
        </p:sp>
        <p:sp>
          <p:nvSpPr>
            <p:cNvPr id="83981" name="Rectangle 1042"/>
            <p:cNvSpPr>
              <a:spLocks noChangeArrowheads="1"/>
            </p:cNvSpPr>
            <p:nvPr/>
          </p:nvSpPr>
          <p:spPr bwMode="auto">
            <a:xfrm>
              <a:off x="5175" y="1899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3</a:t>
              </a:r>
            </a:p>
          </p:txBody>
        </p:sp>
        <p:sp>
          <p:nvSpPr>
            <p:cNvPr id="83982" name="Rectangle 1043"/>
            <p:cNvSpPr>
              <a:spLocks noChangeArrowheads="1"/>
            </p:cNvSpPr>
            <p:nvPr/>
          </p:nvSpPr>
          <p:spPr bwMode="auto">
            <a:xfrm>
              <a:off x="1575" y="2074"/>
              <a:ext cx="37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I%</a:t>
              </a:r>
            </a:p>
          </p:txBody>
        </p:sp>
        <p:sp>
          <p:nvSpPr>
            <p:cNvPr id="83983" name="Rectangle 1045"/>
            <p:cNvSpPr>
              <a:spLocks noChangeArrowheads="1"/>
            </p:cNvSpPr>
            <p:nvPr/>
          </p:nvSpPr>
          <p:spPr bwMode="auto">
            <a:xfrm>
              <a:off x="2343" y="3832"/>
              <a:ext cx="53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$100</a:t>
              </a:r>
            </a:p>
          </p:txBody>
        </p:sp>
        <p:grpSp>
          <p:nvGrpSpPr>
            <p:cNvPr id="83984" name="Group 1052"/>
            <p:cNvGrpSpPr>
              <a:grpSpLocks/>
            </p:cNvGrpSpPr>
            <p:nvPr/>
          </p:nvGrpSpPr>
          <p:grpSpPr bwMode="auto">
            <a:xfrm>
              <a:off x="1200" y="3360"/>
              <a:ext cx="4080" cy="459"/>
              <a:chOff x="779" y="3181"/>
              <a:chExt cx="4080" cy="459"/>
            </a:xfrm>
          </p:grpSpPr>
          <p:sp>
            <p:nvSpPr>
              <p:cNvPr id="83996" name="Line 1047"/>
              <p:cNvSpPr>
                <a:spLocks noChangeShapeType="1"/>
              </p:cNvSpPr>
              <p:nvPr/>
            </p:nvSpPr>
            <p:spPr bwMode="auto">
              <a:xfrm>
                <a:off x="779" y="3181"/>
                <a:ext cx="0" cy="45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997" name="Line 1048"/>
              <p:cNvSpPr>
                <a:spLocks noChangeShapeType="1"/>
              </p:cNvSpPr>
              <p:nvPr/>
            </p:nvSpPr>
            <p:spPr bwMode="auto">
              <a:xfrm>
                <a:off x="2171" y="3181"/>
                <a:ext cx="0" cy="45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998" name="Line 1049"/>
              <p:cNvSpPr>
                <a:spLocks noChangeShapeType="1"/>
              </p:cNvSpPr>
              <p:nvPr/>
            </p:nvSpPr>
            <p:spPr bwMode="auto">
              <a:xfrm>
                <a:off x="3419" y="3181"/>
                <a:ext cx="0" cy="45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999" name="Line 1050"/>
              <p:cNvSpPr>
                <a:spLocks noChangeShapeType="1"/>
              </p:cNvSpPr>
              <p:nvPr/>
            </p:nvSpPr>
            <p:spPr bwMode="auto">
              <a:xfrm>
                <a:off x="4859" y="3181"/>
                <a:ext cx="0" cy="45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000" name="Line 1051"/>
              <p:cNvSpPr>
                <a:spLocks noChangeShapeType="1"/>
              </p:cNvSpPr>
              <p:nvPr/>
            </p:nvSpPr>
            <p:spPr bwMode="auto">
              <a:xfrm>
                <a:off x="787" y="3412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3985" name="Rectangle 1053"/>
            <p:cNvSpPr>
              <a:spLocks noChangeArrowheads="1"/>
            </p:cNvSpPr>
            <p:nvPr/>
          </p:nvSpPr>
          <p:spPr bwMode="auto">
            <a:xfrm>
              <a:off x="3591" y="3832"/>
              <a:ext cx="53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$100</a:t>
              </a:r>
            </a:p>
          </p:txBody>
        </p:sp>
        <p:sp>
          <p:nvSpPr>
            <p:cNvPr id="83986" name="Rectangle 1054"/>
            <p:cNvSpPr>
              <a:spLocks noChangeArrowheads="1"/>
            </p:cNvSpPr>
            <p:nvPr/>
          </p:nvSpPr>
          <p:spPr bwMode="auto">
            <a:xfrm>
              <a:off x="1095" y="3086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83987" name="Rectangle 1055"/>
            <p:cNvSpPr>
              <a:spLocks noChangeArrowheads="1"/>
            </p:cNvSpPr>
            <p:nvPr/>
          </p:nvSpPr>
          <p:spPr bwMode="auto">
            <a:xfrm>
              <a:off x="2487" y="3086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</a:t>
              </a:r>
            </a:p>
          </p:txBody>
        </p:sp>
        <p:sp>
          <p:nvSpPr>
            <p:cNvPr id="83988" name="Rectangle 1056"/>
            <p:cNvSpPr>
              <a:spLocks noChangeArrowheads="1"/>
            </p:cNvSpPr>
            <p:nvPr/>
          </p:nvSpPr>
          <p:spPr bwMode="auto">
            <a:xfrm>
              <a:off x="3735" y="3086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2</a:t>
              </a:r>
            </a:p>
          </p:txBody>
        </p:sp>
        <p:sp>
          <p:nvSpPr>
            <p:cNvPr id="83989" name="Rectangle 1057"/>
            <p:cNvSpPr>
              <a:spLocks noChangeArrowheads="1"/>
            </p:cNvSpPr>
            <p:nvPr/>
          </p:nvSpPr>
          <p:spPr bwMode="auto">
            <a:xfrm>
              <a:off x="5175" y="3086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3</a:t>
              </a:r>
            </a:p>
          </p:txBody>
        </p:sp>
        <p:sp>
          <p:nvSpPr>
            <p:cNvPr id="83990" name="Rectangle 1058"/>
            <p:cNvSpPr>
              <a:spLocks noChangeArrowheads="1"/>
            </p:cNvSpPr>
            <p:nvPr/>
          </p:nvSpPr>
          <p:spPr bwMode="auto">
            <a:xfrm>
              <a:off x="1575" y="3301"/>
              <a:ext cx="37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I%</a:t>
              </a:r>
            </a:p>
          </p:txBody>
        </p:sp>
        <p:sp>
          <p:nvSpPr>
            <p:cNvPr id="83991" name="Rectangle 1059"/>
            <p:cNvSpPr>
              <a:spLocks noChangeArrowheads="1"/>
            </p:cNvSpPr>
            <p:nvPr/>
          </p:nvSpPr>
          <p:spPr bwMode="auto">
            <a:xfrm>
              <a:off x="822" y="3832"/>
              <a:ext cx="1050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$100=PMT</a:t>
              </a:r>
            </a:p>
          </p:txBody>
        </p:sp>
        <p:sp>
          <p:nvSpPr>
            <p:cNvPr id="83992" name="Line 1060"/>
            <p:cNvSpPr>
              <a:spLocks noChangeShapeType="1"/>
            </p:cNvSpPr>
            <p:nvPr/>
          </p:nvSpPr>
          <p:spPr bwMode="auto">
            <a:xfrm flipH="1">
              <a:off x="1209" y="2772"/>
              <a:ext cx="1402" cy="7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993" name="Line 1061"/>
            <p:cNvSpPr>
              <a:spLocks noChangeShapeType="1"/>
            </p:cNvSpPr>
            <p:nvPr/>
          </p:nvSpPr>
          <p:spPr bwMode="auto">
            <a:xfrm flipH="1">
              <a:off x="2628" y="2772"/>
              <a:ext cx="1216" cy="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994" name="Line 1062"/>
            <p:cNvSpPr>
              <a:spLocks noChangeShapeType="1"/>
            </p:cNvSpPr>
            <p:nvPr/>
          </p:nvSpPr>
          <p:spPr bwMode="auto">
            <a:xfrm flipH="1">
              <a:off x="3871" y="2772"/>
              <a:ext cx="1402" cy="7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995" name="Rectangle 1063"/>
            <p:cNvSpPr>
              <a:spLocks noChangeArrowheads="1"/>
            </p:cNvSpPr>
            <p:nvPr/>
          </p:nvSpPr>
          <p:spPr bwMode="auto">
            <a:xfrm>
              <a:off x="822" y="2777"/>
              <a:ext cx="132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Annuity Due</a:t>
              </a:r>
            </a:p>
          </p:txBody>
        </p:sp>
      </p:grp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What’s the FV of a 3-year ordinary annuity of $100 at 10%?</a:t>
            </a:r>
          </a:p>
        </p:txBody>
      </p:sp>
      <p:sp>
        <p:nvSpPr>
          <p:cNvPr id="860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26A48A-DCF5-4FBA-AADD-F2F60043083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/>
          </a:p>
        </p:txBody>
      </p:sp>
      <p:grpSp>
        <p:nvGrpSpPr>
          <p:cNvPr id="86020" name="Group 25"/>
          <p:cNvGrpSpPr>
            <a:grpSpLocks/>
          </p:cNvGrpSpPr>
          <p:nvPr/>
        </p:nvGrpSpPr>
        <p:grpSpPr bwMode="auto">
          <a:xfrm>
            <a:off x="1371600" y="3200400"/>
            <a:ext cx="7440613" cy="3190875"/>
            <a:chOff x="1371600" y="3200400"/>
            <a:chExt cx="7440614" cy="3190875"/>
          </a:xfrm>
        </p:grpSpPr>
        <p:grpSp>
          <p:nvGrpSpPr>
            <p:cNvPr id="86021" name="Group 3"/>
            <p:cNvGrpSpPr>
              <a:grpSpLocks/>
            </p:cNvGrpSpPr>
            <p:nvPr/>
          </p:nvGrpSpPr>
          <p:grpSpPr bwMode="auto">
            <a:xfrm>
              <a:off x="1371600" y="3200400"/>
              <a:ext cx="7440614" cy="3190875"/>
              <a:chOff x="864" y="2016"/>
              <a:chExt cx="4687" cy="2010"/>
            </a:xfrm>
          </p:grpSpPr>
          <p:sp>
            <p:nvSpPr>
              <p:cNvPr id="86023" name="Rectangle 6"/>
              <p:cNvSpPr>
                <a:spLocks noChangeArrowheads="1"/>
              </p:cNvSpPr>
              <p:nvPr/>
            </p:nvSpPr>
            <p:spPr bwMode="auto">
              <a:xfrm>
                <a:off x="2112" y="2692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86024" name="Rectangle 7"/>
              <p:cNvSpPr>
                <a:spLocks noChangeArrowheads="1"/>
              </p:cNvSpPr>
              <p:nvPr/>
            </p:nvSpPr>
            <p:spPr bwMode="auto">
              <a:xfrm>
                <a:off x="4797" y="2692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86025" name="Line 8"/>
              <p:cNvSpPr>
                <a:spLocks noChangeShapeType="1"/>
              </p:cNvSpPr>
              <p:nvPr/>
            </p:nvSpPr>
            <p:spPr bwMode="auto">
              <a:xfrm>
                <a:off x="991" y="2341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26" name="Line 9"/>
              <p:cNvSpPr>
                <a:spLocks noChangeShapeType="1"/>
              </p:cNvSpPr>
              <p:nvPr/>
            </p:nvSpPr>
            <p:spPr bwMode="auto">
              <a:xfrm>
                <a:off x="2383" y="2341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27" name="Line 10"/>
              <p:cNvSpPr>
                <a:spLocks noChangeShapeType="1"/>
              </p:cNvSpPr>
              <p:nvPr/>
            </p:nvSpPr>
            <p:spPr bwMode="auto">
              <a:xfrm>
                <a:off x="3631" y="2341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28" name="Line 11"/>
              <p:cNvSpPr>
                <a:spLocks noChangeShapeType="1"/>
              </p:cNvSpPr>
              <p:nvPr/>
            </p:nvSpPr>
            <p:spPr bwMode="auto">
              <a:xfrm>
                <a:off x="5071" y="2341"/>
                <a:ext cx="0" cy="3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29" name="Rectangle 14"/>
              <p:cNvSpPr>
                <a:spLocks noChangeArrowheads="1"/>
              </p:cNvSpPr>
              <p:nvPr/>
            </p:nvSpPr>
            <p:spPr bwMode="auto">
              <a:xfrm>
                <a:off x="3360" y="2692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86030" name="Rectangle 15"/>
              <p:cNvSpPr>
                <a:spLocks noChangeArrowheads="1"/>
              </p:cNvSpPr>
              <p:nvPr/>
            </p:nvSpPr>
            <p:spPr bwMode="auto">
              <a:xfrm>
                <a:off x="864" y="201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0</a:t>
                </a:r>
              </a:p>
            </p:txBody>
          </p:sp>
          <p:sp>
            <p:nvSpPr>
              <p:cNvPr id="86031" name="Rectangle 16"/>
              <p:cNvSpPr>
                <a:spLocks noChangeArrowheads="1"/>
              </p:cNvSpPr>
              <p:nvPr/>
            </p:nvSpPr>
            <p:spPr bwMode="auto">
              <a:xfrm>
                <a:off x="2256" y="201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86032" name="Rectangle 17"/>
              <p:cNvSpPr>
                <a:spLocks noChangeArrowheads="1"/>
              </p:cNvSpPr>
              <p:nvPr/>
            </p:nvSpPr>
            <p:spPr bwMode="auto">
              <a:xfrm>
                <a:off x="3504" y="201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86033" name="Rectangle 18"/>
              <p:cNvSpPr>
                <a:spLocks noChangeArrowheads="1"/>
              </p:cNvSpPr>
              <p:nvPr/>
            </p:nvSpPr>
            <p:spPr bwMode="auto">
              <a:xfrm>
                <a:off x="4944" y="201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86034" name="Rectangle 19"/>
              <p:cNvSpPr>
                <a:spLocks noChangeArrowheads="1"/>
              </p:cNvSpPr>
              <p:nvPr/>
            </p:nvSpPr>
            <p:spPr bwMode="auto">
              <a:xfrm>
                <a:off x="1366" y="2285"/>
                <a:ext cx="51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10%</a:t>
                </a:r>
              </a:p>
            </p:txBody>
          </p:sp>
          <p:sp>
            <p:nvSpPr>
              <p:cNvPr id="86035" name="Line 20"/>
              <p:cNvSpPr>
                <a:spLocks noChangeShapeType="1"/>
              </p:cNvSpPr>
              <p:nvPr/>
            </p:nvSpPr>
            <p:spPr bwMode="auto">
              <a:xfrm>
                <a:off x="2383" y="3033"/>
                <a:ext cx="0" cy="4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36" name="Line 21"/>
              <p:cNvSpPr>
                <a:spLocks noChangeShapeType="1"/>
              </p:cNvSpPr>
              <p:nvPr/>
            </p:nvSpPr>
            <p:spPr bwMode="auto">
              <a:xfrm>
                <a:off x="2402" y="3507"/>
                <a:ext cx="2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37" name="Line 22"/>
              <p:cNvSpPr>
                <a:spLocks noChangeShapeType="1"/>
              </p:cNvSpPr>
              <p:nvPr/>
            </p:nvSpPr>
            <p:spPr bwMode="auto">
              <a:xfrm>
                <a:off x="3631" y="3033"/>
                <a:ext cx="0" cy="1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38" name="Line 23"/>
              <p:cNvSpPr>
                <a:spLocks noChangeShapeType="1"/>
              </p:cNvSpPr>
              <p:nvPr/>
            </p:nvSpPr>
            <p:spPr bwMode="auto">
              <a:xfrm>
                <a:off x="3650" y="3178"/>
                <a:ext cx="10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39" name="Rectangle 24"/>
              <p:cNvSpPr>
                <a:spLocks noChangeArrowheads="1"/>
              </p:cNvSpPr>
              <p:nvPr/>
            </p:nvSpPr>
            <p:spPr bwMode="auto">
              <a:xfrm>
                <a:off x="3936" y="3039"/>
                <a:ext cx="1615" cy="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           ???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           ???</a:t>
                </a:r>
                <a:endParaRPr lang="en-US" altLang="en-US" u="sng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FV	</a:t>
                </a:r>
                <a:r>
                  <a:rPr lang="en-US" altLang="en-US" sz="1600"/>
                  <a:t> </a:t>
                </a:r>
                <a:r>
                  <a:rPr lang="en-US" altLang="en-US"/>
                  <a:t>= ???   </a:t>
                </a:r>
              </a:p>
            </p:txBody>
          </p:sp>
          <p:sp>
            <p:nvSpPr>
              <p:cNvPr id="86040" name="Line 26"/>
              <p:cNvSpPr>
                <a:spLocks noChangeShapeType="1"/>
              </p:cNvSpPr>
              <p:nvPr/>
            </p:nvSpPr>
            <p:spPr bwMode="auto">
              <a:xfrm>
                <a:off x="1001" y="2513"/>
                <a:ext cx="40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86022" name="Straight Connector 24"/>
            <p:cNvCxnSpPr>
              <a:cxnSpLocks noChangeShapeType="1"/>
            </p:cNvCxnSpPr>
            <p:nvPr/>
          </p:nvCxnSpPr>
          <p:spPr bwMode="auto">
            <a:xfrm>
              <a:off x="7732208" y="6304504"/>
              <a:ext cx="640080" cy="1588"/>
            </a:xfrm>
            <a:prstGeom prst="line">
              <a:avLst/>
            </a:prstGeom>
            <a:noFill/>
            <a:ln w="76200" cmpd="dbl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FV Annuity Formula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future value of an annuity with N periods and an interest rate of I can be found with the following formula: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880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027B9E-F3A2-4505-9355-E483804D83C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/>
          </a:p>
        </p:txBody>
      </p:sp>
      <p:grpSp>
        <p:nvGrpSpPr>
          <p:cNvPr id="88069" name="Group 4"/>
          <p:cNvGrpSpPr>
            <a:grpSpLocks/>
          </p:cNvGrpSpPr>
          <p:nvPr/>
        </p:nvGrpSpPr>
        <p:grpSpPr bwMode="auto">
          <a:xfrm>
            <a:off x="2514600" y="3810000"/>
            <a:ext cx="4899025" cy="2500313"/>
            <a:chOff x="1584" y="2400"/>
            <a:chExt cx="3086" cy="1575"/>
          </a:xfrm>
        </p:grpSpPr>
        <p:sp>
          <p:nvSpPr>
            <p:cNvPr id="88070" name="Text Box 5"/>
            <p:cNvSpPr txBox="1">
              <a:spLocks noChangeArrowheads="1"/>
            </p:cNvSpPr>
            <p:nvPr/>
          </p:nvSpPr>
          <p:spPr bwMode="auto">
            <a:xfrm>
              <a:off x="1632" y="254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 PMT</a:t>
              </a:r>
            </a:p>
          </p:txBody>
        </p:sp>
        <p:sp>
          <p:nvSpPr>
            <p:cNvPr id="88071" name="Text Box 6"/>
            <p:cNvSpPr txBox="1">
              <a:spLocks noChangeArrowheads="1"/>
            </p:cNvSpPr>
            <p:nvPr/>
          </p:nvSpPr>
          <p:spPr bwMode="auto">
            <a:xfrm>
              <a:off x="2352" y="2400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(1+I)</a:t>
              </a:r>
              <a:r>
                <a:rPr lang="en-US" altLang="en-US" sz="2800" baseline="30000"/>
                <a:t>N</a:t>
              </a:r>
              <a:r>
                <a:rPr lang="en-US" altLang="en-US" sz="2800"/>
                <a:t>-1</a:t>
              </a:r>
            </a:p>
          </p:txBody>
        </p:sp>
        <p:sp>
          <p:nvSpPr>
            <p:cNvPr id="88072" name="Text Box 7"/>
            <p:cNvSpPr txBox="1">
              <a:spLocks noChangeArrowheads="1"/>
            </p:cNvSpPr>
            <p:nvPr/>
          </p:nvSpPr>
          <p:spPr bwMode="auto">
            <a:xfrm>
              <a:off x="2736" y="28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I</a:t>
              </a:r>
            </a:p>
          </p:txBody>
        </p:sp>
        <p:sp>
          <p:nvSpPr>
            <p:cNvPr id="88073" name="Line 8"/>
            <p:cNvSpPr>
              <a:spLocks noChangeShapeType="1"/>
            </p:cNvSpPr>
            <p:nvPr/>
          </p:nvSpPr>
          <p:spPr bwMode="auto">
            <a:xfrm>
              <a:off x="2352" y="2784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74" name="Text Box 9"/>
            <p:cNvSpPr txBox="1">
              <a:spLocks noChangeArrowheads="1"/>
            </p:cNvSpPr>
            <p:nvPr/>
          </p:nvSpPr>
          <p:spPr bwMode="auto">
            <a:xfrm>
              <a:off x="1584" y="3456"/>
              <a:ext cx="8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 $100</a:t>
              </a:r>
            </a:p>
          </p:txBody>
        </p:sp>
        <p:sp>
          <p:nvSpPr>
            <p:cNvPr id="88075" name="Text Box 10"/>
            <p:cNvSpPr txBox="1">
              <a:spLocks noChangeArrowheads="1"/>
            </p:cNvSpPr>
            <p:nvPr/>
          </p:nvSpPr>
          <p:spPr bwMode="auto">
            <a:xfrm>
              <a:off x="2352" y="3216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(1+0.10)</a:t>
              </a:r>
              <a:r>
                <a:rPr lang="en-US" altLang="en-US" sz="2800" baseline="30000"/>
                <a:t>3</a:t>
              </a:r>
              <a:r>
                <a:rPr lang="en-US" altLang="en-US" sz="2800"/>
                <a:t>-1</a:t>
              </a:r>
            </a:p>
          </p:txBody>
        </p:sp>
        <p:sp>
          <p:nvSpPr>
            <p:cNvPr id="88076" name="Line 11"/>
            <p:cNvSpPr>
              <a:spLocks noChangeShapeType="1"/>
            </p:cNvSpPr>
            <p:nvPr/>
          </p:nvSpPr>
          <p:spPr bwMode="auto">
            <a:xfrm>
              <a:off x="2400" y="3552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77" name="Text Box 12"/>
            <p:cNvSpPr txBox="1">
              <a:spLocks noChangeArrowheads="1"/>
            </p:cNvSpPr>
            <p:nvPr/>
          </p:nvSpPr>
          <p:spPr bwMode="auto">
            <a:xfrm>
              <a:off x="2640" y="3648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0.10</a:t>
              </a:r>
            </a:p>
          </p:txBody>
        </p:sp>
        <p:sp>
          <p:nvSpPr>
            <p:cNvPr id="88078" name="Text Box 13"/>
            <p:cNvSpPr txBox="1">
              <a:spLocks noChangeArrowheads="1"/>
            </p:cNvSpPr>
            <p:nvPr/>
          </p:nvSpPr>
          <p:spPr bwMode="auto">
            <a:xfrm>
              <a:off x="3792" y="3408"/>
              <a:ext cx="8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 $331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Financial Calculator Formula </a:t>
            </a:r>
            <a:br>
              <a:rPr lang="en-US" altLang="en-US"/>
            </a:br>
            <a:r>
              <a:rPr lang="en-US" altLang="en-US"/>
              <a:t>for Annuities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calculators solve this equation:</a:t>
            </a:r>
          </a:p>
          <a:p>
            <a:pPr eaLnBrk="1" hangingPunct="1"/>
            <a:endParaRPr lang="en-US" altLang="en-US"/>
          </a:p>
        </p:txBody>
      </p:sp>
      <p:sp>
        <p:nvSpPr>
          <p:cNvPr id="901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0DB12F-D374-416D-BAF1-99A61309F54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/>
          </a:p>
        </p:txBody>
      </p:sp>
      <p:grpSp>
        <p:nvGrpSpPr>
          <p:cNvPr id="90117" name="Group 4"/>
          <p:cNvGrpSpPr>
            <a:grpSpLocks/>
          </p:cNvGrpSpPr>
          <p:nvPr/>
        </p:nvGrpSpPr>
        <p:grpSpPr bwMode="auto">
          <a:xfrm>
            <a:off x="685800" y="3048000"/>
            <a:ext cx="7848600" cy="1128713"/>
            <a:chOff x="432" y="1920"/>
            <a:chExt cx="4944" cy="711"/>
          </a:xfrm>
        </p:grpSpPr>
        <p:sp>
          <p:nvSpPr>
            <p:cNvPr id="90119" name="Text Box 5"/>
            <p:cNvSpPr txBox="1">
              <a:spLocks noChangeArrowheads="1"/>
            </p:cNvSpPr>
            <p:nvPr/>
          </p:nvSpPr>
          <p:spPr bwMode="auto">
            <a:xfrm>
              <a:off x="432" y="2064"/>
              <a:ext cx="28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FV</a:t>
              </a:r>
              <a:r>
                <a:rPr lang="en-US" altLang="en-US" baseline="-25000"/>
                <a:t>N</a:t>
              </a:r>
              <a:r>
                <a:rPr lang="en-US" altLang="en-US"/>
                <a:t> + PV(1+I)</a:t>
              </a:r>
              <a:r>
                <a:rPr lang="en-US" altLang="en-US" baseline="30000"/>
                <a:t>N</a:t>
              </a:r>
              <a:r>
                <a:rPr lang="en-US" altLang="en-US"/>
                <a:t> + PMT</a:t>
              </a:r>
            </a:p>
          </p:txBody>
        </p:sp>
        <p:sp>
          <p:nvSpPr>
            <p:cNvPr id="90120" name="Text Box 6"/>
            <p:cNvSpPr txBox="1">
              <a:spLocks noChangeArrowheads="1"/>
            </p:cNvSpPr>
            <p:nvPr/>
          </p:nvSpPr>
          <p:spPr bwMode="auto">
            <a:xfrm>
              <a:off x="3264" y="1920"/>
              <a:ext cx="16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(1+I)</a:t>
              </a:r>
              <a:r>
                <a:rPr lang="en-US" altLang="en-US" sz="2800" baseline="30000"/>
                <a:t>N</a:t>
              </a:r>
              <a:r>
                <a:rPr lang="en-US" altLang="en-US" sz="2800"/>
                <a:t>-1</a:t>
              </a:r>
            </a:p>
          </p:txBody>
        </p:sp>
        <p:sp>
          <p:nvSpPr>
            <p:cNvPr id="90121" name="Line 7"/>
            <p:cNvSpPr>
              <a:spLocks noChangeShapeType="1"/>
            </p:cNvSpPr>
            <p:nvPr/>
          </p:nvSpPr>
          <p:spPr bwMode="auto">
            <a:xfrm>
              <a:off x="3216" y="2256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22" name="Text Box 8"/>
            <p:cNvSpPr txBox="1">
              <a:spLocks noChangeArrowheads="1"/>
            </p:cNvSpPr>
            <p:nvPr/>
          </p:nvSpPr>
          <p:spPr bwMode="auto">
            <a:xfrm>
              <a:off x="3552" y="2304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I</a:t>
              </a:r>
            </a:p>
          </p:txBody>
        </p:sp>
        <p:sp>
          <p:nvSpPr>
            <p:cNvPr id="90123" name="Text Box 9"/>
            <p:cNvSpPr txBox="1">
              <a:spLocks noChangeArrowheads="1"/>
            </p:cNvSpPr>
            <p:nvPr/>
          </p:nvSpPr>
          <p:spPr bwMode="auto">
            <a:xfrm>
              <a:off x="4416" y="2064"/>
              <a:ext cx="9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 0</a:t>
              </a:r>
            </a:p>
          </p:txBody>
        </p:sp>
      </p:grpSp>
      <p:sp>
        <p:nvSpPr>
          <p:cNvPr id="90118" name="Text Box 10"/>
          <p:cNvSpPr txBox="1">
            <a:spLocks noChangeArrowheads="1"/>
          </p:cNvSpPr>
          <p:nvPr/>
        </p:nvSpPr>
        <p:spPr bwMode="auto">
          <a:xfrm>
            <a:off x="990600" y="4243388"/>
            <a:ext cx="7239000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There are 5 variables (PV, PMT, N, I, FV.  If 4 are known, calculator solves for 5th.  Pay attention to inflows &amp; outflows (signs).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5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 Solution</a:t>
            </a:r>
          </a:p>
        </p:txBody>
      </p:sp>
      <p:sp>
        <p:nvSpPr>
          <p:cNvPr id="921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296F84-80D7-444B-97EA-B5BCBEA2C55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/>
          </a:p>
        </p:txBody>
      </p:sp>
      <p:sp>
        <p:nvSpPr>
          <p:cNvPr id="92163" name="Rectangle 19"/>
          <p:cNvSpPr>
            <a:spLocks noChangeArrowheads="1"/>
          </p:cNvSpPr>
          <p:nvPr/>
        </p:nvSpPr>
        <p:spPr bwMode="auto">
          <a:xfrm>
            <a:off x="1219200" y="5105400"/>
            <a:ext cx="7496175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Have payments but no lump sum PV, so enter 0 for present value.</a:t>
            </a:r>
          </a:p>
        </p:txBody>
      </p:sp>
      <p:grpSp>
        <p:nvGrpSpPr>
          <p:cNvPr id="92164" name="Group 19"/>
          <p:cNvGrpSpPr>
            <a:grpSpLocks/>
          </p:cNvGrpSpPr>
          <p:nvPr/>
        </p:nvGrpSpPr>
        <p:grpSpPr bwMode="auto">
          <a:xfrm>
            <a:off x="1071817" y="2828228"/>
            <a:ext cx="7637462" cy="1441451"/>
            <a:chOff x="657" y="2033"/>
            <a:chExt cx="4811" cy="908"/>
          </a:xfrm>
        </p:grpSpPr>
        <p:sp>
          <p:nvSpPr>
            <p:cNvPr id="92166" name="Rectangle 5"/>
            <p:cNvSpPr>
              <a:spLocks noChangeArrowheads="1"/>
            </p:cNvSpPr>
            <p:nvPr/>
          </p:nvSpPr>
          <p:spPr bwMode="auto">
            <a:xfrm>
              <a:off x="708" y="2079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 	   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			</a:t>
              </a:r>
            </a:p>
          </p:txBody>
        </p:sp>
        <p:sp>
          <p:nvSpPr>
            <p:cNvPr id="92167" name="AutoShape 6"/>
            <p:cNvSpPr>
              <a:spLocks noChangeArrowheads="1"/>
            </p:cNvSpPr>
            <p:nvPr/>
          </p:nvSpPr>
          <p:spPr bwMode="auto">
            <a:xfrm>
              <a:off x="2381" y="2349"/>
              <a:ext cx="512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92168" name="AutoShape 7"/>
            <p:cNvSpPr>
              <a:spLocks noChangeArrowheads="1"/>
            </p:cNvSpPr>
            <p:nvPr/>
          </p:nvSpPr>
          <p:spPr bwMode="auto">
            <a:xfrm>
              <a:off x="3077" y="2349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2169" name="AutoShape 8"/>
            <p:cNvSpPr>
              <a:spLocks noChangeArrowheads="1"/>
            </p:cNvSpPr>
            <p:nvPr/>
          </p:nvSpPr>
          <p:spPr bwMode="auto">
            <a:xfrm>
              <a:off x="3677" y="2349"/>
              <a:ext cx="512" cy="22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2170" name="AutoShape 9"/>
            <p:cNvSpPr>
              <a:spLocks noChangeArrowheads="1"/>
            </p:cNvSpPr>
            <p:nvPr/>
          </p:nvSpPr>
          <p:spPr bwMode="auto">
            <a:xfrm>
              <a:off x="1781" y="2349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2171" name="Rectangle 11"/>
            <p:cNvSpPr>
              <a:spLocks noChangeArrowheads="1"/>
            </p:cNvSpPr>
            <p:nvPr/>
          </p:nvSpPr>
          <p:spPr bwMode="auto">
            <a:xfrm>
              <a:off x="1860" y="2332"/>
              <a:ext cx="25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92173" name="Rectangle 14"/>
            <p:cNvSpPr>
              <a:spLocks noChangeArrowheads="1"/>
            </p:cNvSpPr>
            <p:nvPr/>
          </p:nvSpPr>
          <p:spPr bwMode="auto">
            <a:xfrm>
              <a:off x="3664" y="2325"/>
              <a:ext cx="519" cy="2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92174" name="AutoShape 10"/>
            <p:cNvSpPr>
              <a:spLocks noChangeArrowheads="1"/>
            </p:cNvSpPr>
            <p:nvPr/>
          </p:nvSpPr>
          <p:spPr bwMode="auto">
            <a:xfrm>
              <a:off x="4373" y="2349"/>
              <a:ext cx="464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92176" name="Rectangle 13"/>
            <p:cNvSpPr>
              <a:spLocks noChangeArrowheads="1"/>
            </p:cNvSpPr>
            <p:nvPr/>
          </p:nvSpPr>
          <p:spPr bwMode="auto">
            <a:xfrm>
              <a:off x="3099" y="2332"/>
              <a:ext cx="37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92177" name="AutoShape 20"/>
            <p:cNvSpPr>
              <a:spLocks noChangeArrowheads="1"/>
            </p:cNvSpPr>
            <p:nvPr/>
          </p:nvSpPr>
          <p:spPr bwMode="auto">
            <a:xfrm>
              <a:off x="663" y="2033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92178" name="AutoShape 21"/>
            <p:cNvSpPr>
              <a:spLocks noChangeArrowheads="1"/>
            </p:cNvSpPr>
            <p:nvPr/>
          </p:nvSpPr>
          <p:spPr bwMode="auto">
            <a:xfrm>
              <a:off x="657" y="2584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Spreadsheet Solution</a:t>
            </a:r>
          </a:p>
        </p:txBody>
      </p:sp>
      <p:sp>
        <p:nvSpPr>
          <p:cNvPr id="50182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FV function: see spreadsheet.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= FV(I, N, PMT, PV)</a:t>
            </a:r>
          </a:p>
          <a:p>
            <a:pPr eaLnBrk="1" hangingPunct="1"/>
            <a:r>
              <a:rPr lang="en-US" altLang="en-US"/>
              <a:t> = FV(0.10, 3, -100, 0) = 331.00</a:t>
            </a:r>
          </a:p>
        </p:txBody>
      </p:sp>
      <p:sp>
        <p:nvSpPr>
          <p:cNvPr id="942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EC710C-7E3D-4012-855C-F950368620A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/>
          </a:p>
        </p:txBody>
      </p:sp>
      <p:sp>
        <p:nvSpPr>
          <p:cNvPr id="9421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What’s the PV of this ordinary annuity?</a:t>
            </a:r>
          </a:p>
        </p:txBody>
      </p:sp>
      <p:sp>
        <p:nvSpPr>
          <p:cNvPr id="962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9C1E05-EF97-415A-B754-D19E3377109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/>
          </a:p>
        </p:txBody>
      </p:sp>
      <p:grpSp>
        <p:nvGrpSpPr>
          <p:cNvPr id="51204" name="Group 32"/>
          <p:cNvGrpSpPr>
            <a:grpSpLocks/>
          </p:cNvGrpSpPr>
          <p:nvPr/>
        </p:nvGrpSpPr>
        <p:grpSpPr bwMode="auto">
          <a:xfrm>
            <a:off x="1060450" y="2462213"/>
            <a:ext cx="7664450" cy="4092575"/>
            <a:chOff x="1060450" y="2462213"/>
            <a:chExt cx="7664450" cy="4092575"/>
          </a:xfrm>
        </p:grpSpPr>
        <p:grpSp>
          <p:nvGrpSpPr>
            <p:cNvPr id="96261" name="Group 34"/>
            <p:cNvGrpSpPr>
              <a:grpSpLocks/>
            </p:cNvGrpSpPr>
            <p:nvPr/>
          </p:nvGrpSpPr>
          <p:grpSpPr bwMode="auto">
            <a:xfrm>
              <a:off x="1060450" y="2462213"/>
              <a:ext cx="7664450" cy="4092575"/>
              <a:chOff x="668" y="1551"/>
              <a:chExt cx="4828" cy="2578"/>
            </a:xfrm>
          </p:grpSpPr>
          <p:sp>
            <p:nvSpPr>
              <p:cNvPr id="96263" name="Rectangle 6"/>
              <p:cNvSpPr>
                <a:spLocks noChangeArrowheads="1"/>
              </p:cNvSpPr>
              <p:nvPr/>
            </p:nvSpPr>
            <p:spPr bwMode="auto">
              <a:xfrm>
                <a:off x="2299" y="233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96264" name="Rectangle 7"/>
              <p:cNvSpPr>
                <a:spLocks noChangeArrowheads="1"/>
              </p:cNvSpPr>
              <p:nvPr/>
            </p:nvSpPr>
            <p:spPr bwMode="auto">
              <a:xfrm>
                <a:off x="4962" y="233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96265" name="Line 8"/>
              <p:cNvSpPr>
                <a:spLocks noChangeShapeType="1"/>
              </p:cNvSpPr>
              <p:nvPr/>
            </p:nvSpPr>
            <p:spPr bwMode="auto">
              <a:xfrm>
                <a:off x="1156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66" name="Line 9"/>
              <p:cNvSpPr>
                <a:spLocks noChangeShapeType="1"/>
              </p:cNvSpPr>
              <p:nvPr/>
            </p:nvSpPr>
            <p:spPr bwMode="auto">
              <a:xfrm>
                <a:off x="2548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67" name="Line 10"/>
              <p:cNvSpPr>
                <a:spLocks noChangeShapeType="1"/>
              </p:cNvSpPr>
              <p:nvPr/>
            </p:nvSpPr>
            <p:spPr bwMode="auto">
              <a:xfrm>
                <a:off x="3796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68" name="Line 11"/>
              <p:cNvSpPr>
                <a:spLocks noChangeShapeType="1"/>
              </p:cNvSpPr>
              <p:nvPr/>
            </p:nvSpPr>
            <p:spPr bwMode="auto">
              <a:xfrm>
                <a:off x="5236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69" name="Rectangle 14"/>
              <p:cNvSpPr>
                <a:spLocks noChangeArrowheads="1"/>
              </p:cNvSpPr>
              <p:nvPr/>
            </p:nvSpPr>
            <p:spPr bwMode="auto">
              <a:xfrm>
                <a:off x="3525" y="233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96270" name="Rectangle 15"/>
              <p:cNvSpPr>
                <a:spLocks noChangeArrowheads="1"/>
              </p:cNvSpPr>
              <p:nvPr/>
            </p:nvSpPr>
            <p:spPr bwMode="auto">
              <a:xfrm>
                <a:off x="1051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0</a:t>
                </a:r>
              </a:p>
            </p:txBody>
          </p:sp>
          <p:sp>
            <p:nvSpPr>
              <p:cNvPr id="96271" name="Rectangle 16"/>
              <p:cNvSpPr>
                <a:spLocks noChangeArrowheads="1"/>
              </p:cNvSpPr>
              <p:nvPr/>
            </p:nvSpPr>
            <p:spPr bwMode="auto">
              <a:xfrm>
                <a:off x="2443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96272" name="Rectangle 17"/>
              <p:cNvSpPr>
                <a:spLocks noChangeArrowheads="1"/>
              </p:cNvSpPr>
              <p:nvPr/>
            </p:nvSpPr>
            <p:spPr bwMode="auto">
              <a:xfrm>
                <a:off x="3691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96273" name="Rectangle 18"/>
              <p:cNvSpPr>
                <a:spLocks noChangeArrowheads="1"/>
              </p:cNvSpPr>
              <p:nvPr/>
            </p:nvSpPr>
            <p:spPr bwMode="auto">
              <a:xfrm>
                <a:off x="5131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96274" name="Rectangle 19"/>
              <p:cNvSpPr>
                <a:spLocks noChangeArrowheads="1"/>
              </p:cNvSpPr>
              <p:nvPr/>
            </p:nvSpPr>
            <p:spPr bwMode="auto">
              <a:xfrm>
                <a:off x="1531" y="1866"/>
                <a:ext cx="51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10%</a:t>
                </a:r>
              </a:p>
            </p:txBody>
          </p:sp>
          <p:sp>
            <p:nvSpPr>
              <p:cNvPr id="96275" name="Line 20"/>
              <p:cNvSpPr>
                <a:spLocks noChangeShapeType="1"/>
              </p:cNvSpPr>
              <p:nvPr/>
            </p:nvSpPr>
            <p:spPr bwMode="auto">
              <a:xfrm>
                <a:off x="2548" y="2684"/>
                <a:ext cx="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76" name="Line 21"/>
              <p:cNvSpPr>
                <a:spLocks noChangeShapeType="1"/>
              </p:cNvSpPr>
              <p:nvPr/>
            </p:nvSpPr>
            <p:spPr bwMode="auto">
              <a:xfrm flipH="1">
                <a:off x="1536" y="2818"/>
                <a:ext cx="100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77" name="Line 22"/>
              <p:cNvSpPr>
                <a:spLocks noChangeShapeType="1"/>
              </p:cNvSpPr>
              <p:nvPr/>
            </p:nvSpPr>
            <p:spPr bwMode="auto">
              <a:xfrm>
                <a:off x="3796" y="2684"/>
                <a:ext cx="0" cy="4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78" name="Line 23"/>
              <p:cNvSpPr>
                <a:spLocks noChangeShapeType="1"/>
              </p:cNvSpPr>
              <p:nvPr/>
            </p:nvSpPr>
            <p:spPr bwMode="auto">
              <a:xfrm flipH="1">
                <a:off x="1536" y="3169"/>
                <a:ext cx="22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79" name="Line 24"/>
              <p:cNvSpPr>
                <a:spLocks noChangeShapeType="1"/>
              </p:cNvSpPr>
              <p:nvPr/>
            </p:nvSpPr>
            <p:spPr bwMode="auto">
              <a:xfrm>
                <a:off x="5236" y="2780"/>
                <a:ext cx="0" cy="7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80" name="Line 25"/>
              <p:cNvSpPr>
                <a:spLocks noChangeShapeType="1"/>
              </p:cNvSpPr>
              <p:nvPr/>
            </p:nvSpPr>
            <p:spPr bwMode="auto">
              <a:xfrm flipH="1">
                <a:off x="1536" y="3552"/>
                <a:ext cx="37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281" name="Rectangle 26"/>
              <p:cNvSpPr>
                <a:spLocks noChangeArrowheads="1"/>
              </p:cNvSpPr>
              <p:nvPr/>
            </p:nvSpPr>
            <p:spPr bwMode="auto">
              <a:xfrm>
                <a:off x="811" y="2658"/>
                <a:ext cx="482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???</a:t>
                </a:r>
              </a:p>
            </p:txBody>
          </p:sp>
          <p:sp>
            <p:nvSpPr>
              <p:cNvPr id="96282" name="Rectangle 27"/>
              <p:cNvSpPr>
                <a:spLocks noChangeArrowheads="1"/>
              </p:cNvSpPr>
              <p:nvPr/>
            </p:nvSpPr>
            <p:spPr bwMode="auto">
              <a:xfrm>
                <a:off x="811" y="3042"/>
                <a:ext cx="482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???</a:t>
                </a:r>
              </a:p>
            </p:txBody>
          </p:sp>
          <p:sp>
            <p:nvSpPr>
              <p:cNvPr id="96283" name="Rectangle 28"/>
              <p:cNvSpPr>
                <a:spLocks noChangeArrowheads="1"/>
              </p:cNvSpPr>
              <p:nvPr/>
            </p:nvSpPr>
            <p:spPr bwMode="auto">
              <a:xfrm>
                <a:off x="668" y="3426"/>
                <a:ext cx="643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u="sng"/>
                  <a:t>  ???</a:t>
                </a:r>
              </a:p>
            </p:txBody>
          </p:sp>
          <p:sp>
            <p:nvSpPr>
              <p:cNvPr id="96284" name="Rectangle 29"/>
              <p:cNvSpPr>
                <a:spLocks noChangeArrowheads="1"/>
              </p:cNvSpPr>
              <p:nvPr/>
            </p:nvSpPr>
            <p:spPr bwMode="auto">
              <a:xfrm>
                <a:off x="671" y="3762"/>
                <a:ext cx="1534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?????  =  PV</a:t>
                </a:r>
              </a:p>
            </p:txBody>
          </p:sp>
          <p:sp>
            <p:nvSpPr>
              <p:cNvPr id="96285" name="Line 31"/>
              <p:cNvSpPr>
                <a:spLocks noChangeShapeType="1"/>
              </p:cNvSpPr>
              <p:nvPr/>
            </p:nvSpPr>
            <p:spPr bwMode="auto">
              <a:xfrm>
                <a:off x="1164" y="2112"/>
                <a:ext cx="40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96262" name="Straight Connector 29"/>
            <p:cNvCxnSpPr>
              <a:cxnSpLocks noChangeShapeType="1"/>
            </p:cNvCxnSpPr>
            <p:nvPr/>
          </p:nvCxnSpPr>
          <p:spPr bwMode="auto">
            <a:xfrm>
              <a:off x="1154113" y="6465888"/>
              <a:ext cx="1189037" cy="1587"/>
            </a:xfrm>
            <a:prstGeom prst="line">
              <a:avLst/>
            </a:prstGeom>
            <a:noFill/>
            <a:ln w="50800" cmpd="dbl" algn="ctr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PV Annuity Formula</a:t>
            </a:r>
          </a:p>
        </p:txBody>
      </p:sp>
      <p:sp>
        <p:nvSpPr>
          <p:cNvPr id="983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present value of an annuity with N periods and an interest rate of I can be found with the following formula: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983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9098A8-0C0E-4271-98E3-97EAA240871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/>
          </a:p>
        </p:txBody>
      </p:sp>
      <p:grpSp>
        <p:nvGrpSpPr>
          <p:cNvPr id="98309" name="Group 64"/>
          <p:cNvGrpSpPr>
            <a:grpSpLocks/>
          </p:cNvGrpSpPr>
          <p:nvPr/>
        </p:nvGrpSpPr>
        <p:grpSpPr bwMode="auto">
          <a:xfrm>
            <a:off x="1143000" y="3733800"/>
            <a:ext cx="6804025" cy="2424113"/>
            <a:chOff x="1200" y="2400"/>
            <a:chExt cx="4138" cy="1527"/>
          </a:xfrm>
        </p:grpSpPr>
        <p:sp>
          <p:nvSpPr>
            <p:cNvPr id="98310" name="Line 24"/>
            <p:cNvSpPr>
              <a:spLocks noChangeShapeType="1"/>
            </p:cNvSpPr>
            <p:nvPr/>
          </p:nvSpPr>
          <p:spPr bwMode="auto">
            <a:xfrm>
              <a:off x="2064" y="2784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8311" name="Group 63"/>
            <p:cNvGrpSpPr>
              <a:grpSpLocks/>
            </p:cNvGrpSpPr>
            <p:nvPr/>
          </p:nvGrpSpPr>
          <p:grpSpPr bwMode="auto">
            <a:xfrm>
              <a:off x="1200" y="2400"/>
              <a:ext cx="4138" cy="1527"/>
              <a:chOff x="1632" y="2400"/>
              <a:chExt cx="4138" cy="1527"/>
            </a:xfrm>
          </p:grpSpPr>
          <p:grpSp>
            <p:nvGrpSpPr>
              <p:cNvPr id="98312" name="Group 50"/>
              <p:cNvGrpSpPr>
                <a:grpSpLocks/>
              </p:cNvGrpSpPr>
              <p:nvPr/>
            </p:nvGrpSpPr>
            <p:grpSpPr bwMode="auto">
              <a:xfrm>
                <a:off x="1632" y="2400"/>
                <a:ext cx="2736" cy="759"/>
                <a:chOff x="1632" y="2400"/>
                <a:chExt cx="2736" cy="759"/>
              </a:xfrm>
            </p:grpSpPr>
            <p:sp>
              <p:nvSpPr>
                <p:cNvPr id="9832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632" y="2544"/>
                  <a:ext cx="81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800"/>
                    <a:t>= PMT</a:t>
                  </a:r>
                </a:p>
              </p:txBody>
            </p:sp>
            <p:sp>
              <p:nvSpPr>
                <p:cNvPr id="9832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544" y="2448"/>
                  <a:ext cx="24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800"/>
                    <a:t>1</a:t>
                  </a:r>
                </a:p>
              </p:txBody>
            </p:sp>
            <p:sp>
              <p:nvSpPr>
                <p:cNvPr id="9832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496" y="2784"/>
                  <a:ext cx="33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800"/>
                    <a:t> I  </a:t>
                  </a:r>
                </a:p>
              </p:txBody>
            </p:sp>
            <p:sp>
              <p:nvSpPr>
                <p:cNvPr id="98327" name="AutoShape 30"/>
                <p:cNvSpPr>
                  <a:spLocks/>
                </p:cNvSpPr>
                <p:nvPr/>
              </p:nvSpPr>
              <p:spPr bwMode="auto">
                <a:xfrm>
                  <a:off x="2400" y="2448"/>
                  <a:ext cx="48" cy="672"/>
                </a:xfrm>
                <a:prstGeom prst="leftBracket">
                  <a:avLst>
                    <a:gd name="adj" fmla="val 116667"/>
                  </a:avLst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32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648" y="2400"/>
                  <a:ext cx="24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800"/>
                    <a:t>1</a:t>
                  </a:r>
                </a:p>
              </p:txBody>
            </p:sp>
            <p:sp>
              <p:nvSpPr>
                <p:cNvPr id="9832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800"/>
                    <a:t>−</a:t>
                  </a:r>
                </a:p>
              </p:txBody>
            </p:sp>
            <p:sp>
              <p:nvSpPr>
                <p:cNvPr id="98330" name="Line 34"/>
                <p:cNvSpPr>
                  <a:spLocks noChangeShapeType="1"/>
                </p:cNvSpPr>
                <p:nvPr/>
              </p:nvSpPr>
              <p:spPr bwMode="auto">
                <a:xfrm>
                  <a:off x="3264" y="2784"/>
                  <a:ext cx="10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3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216" y="2832"/>
                  <a:ext cx="105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800"/>
                    <a:t>  I (1+I)</a:t>
                  </a:r>
                  <a:r>
                    <a:rPr lang="en-US" altLang="en-US" sz="2800" baseline="30000"/>
                    <a:t>N</a:t>
                  </a:r>
                </a:p>
              </p:txBody>
            </p:sp>
            <p:sp>
              <p:nvSpPr>
                <p:cNvPr id="98332" name="AutoShape 37"/>
                <p:cNvSpPr>
                  <a:spLocks/>
                </p:cNvSpPr>
                <p:nvPr/>
              </p:nvSpPr>
              <p:spPr bwMode="auto">
                <a:xfrm>
                  <a:off x="4320" y="2448"/>
                  <a:ext cx="48" cy="672"/>
                </a:xfrm>
                <a:prstGeom prst="rightBracket">
                  <a:avLst>
                    <a:gd name="adj" fmla="val 116667"/>
                  </a:avLst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313" name="Text Box 52"/>
              <p:cNvSpPr txBox="1">
                <a:spLocks noChangeArrowheads="1"/>
              </p:cNvSpPr>
              <p:nvPr/>
            </p:nvSpPr>
            <p:spPr bwMode="auto">
              <a:xfrm>
                <a:off x="1632" y="3312"/>
                <a:ext cx="953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= $100</a:t>
                </a:r>
              </a:p>
            </p:txBody>
          </p:sp>
          <p:sp>
            <p:nvSpPr>
              <p:cNvPr id="98314" name="Text Box 53"/>
              <p:cNvSpPr txBox="1">
                <a:spLocks noChangeArrowheads="1"/>
              </p:cNvSpPr>
              <p:nvPr/>
            </p:nvSpPr>
            <p:spPr bwMode="auto">
              <a:xfrm>
                <a:off x="2544" y="3216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1</a:t>
                </a:r>
              </a:p>
            </p:txBody>
          </p:sp>
          <p:sp>
            <p:nvSpPr>
              <p:cNvPr id="98315" name="Text Box 54"/>
              <p:cNvSpPr txBox="1">
                <a:spLocks noChangeArrowheads="1"/>
              </p:cNvSpPr>
              <p:nvPr/>
            </p:nvSpPr>
            <p:spPr bwMode="auto">
              <a:xfrm>
                <a:off x="2448" y="3552"/>
                <a:ext cx="5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0.1</a:t>
                </a:r>
              </a:p>
            </p:txBody>
          </p:sp>
          <p:sp>
            <p:nvSpPr>
              <p:cNvPr id="98316" name="AutoShape 55"/>
              <p:cNvSpPr>
                <a:spLocks/>
              </p:cNvSpPr>
              <p:nvPr/>
            </p:nvSpPr>
            <p:spPr bwMode="auto">
              <a:xfrm>
                <a:off x="2400" y="3216"/>
                <a:ext cx="48" cy="672"/>
              </a:xfrm>
              <a:prstGeom prst="leftBracket">
                <a:avLst>
                  <a:gd name="adj" fmla="val 11666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17" name="Text Box 56"/>
              <p:cNvSpPr txBox="1">
                <a:spLocks noChangeArrowheads="1"/>
              </p:cNvSpPr>
              <p:nvPr/>
            </p:nvSpPr>
            <p:spPr bwMode="auto">
              <a:xfrm>
                <a:off x="3648" y="3168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1</a:t>
                </a:r>
              </a:p>
            </p:txBody>
          </p:sp>
          <p:sp>
            <p:nvSpPr>
              <p:cNvPr id="98318" name="Text Box 57"/>
              <p:cNvSpPr txBox="1">
                <a:spLocks noChangeArrowheads="1"/>
              </p:cNvSpPr>
              <p:nvPr/>
            </p:nvSpPr>
            <p:spPr bwMode="auto">
              <a:xfrm>
                <a:off x="2832" y="3360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−</a:t>
                </a:r>
              </a:p>
            </p:txBody>
          </p:sp>
          <p:sp>
            <p:nvSpPr>
              <p:cNvPr id="98319" name="Line 58"/>
              <p:cNvSpPr>
                <a:spLocks noChangeShapeType="1"/>
              </p:cNvSpPr>
              <p:nvPr/>
            </p:nvSpPr>
            <p:spPr bwMode="auto">
              <a:xfrm>
                <a:off x="3264" y="3552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20" name="Text Box 59"/>
              <p:cNvSpPr txBox="1">
                <a:spLocks noChangeArrowheads="1"/>
              </p:cNvSpPr>
              <p:nvPr/>
            </p:nvSpPr>
            <p:spPr bwMode="auto">
              <a:xfrm>
                <a:off x="3168" y="3600"/>
                <a:ext cx="139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0.1(1+0.1)</a:t>
                </a:r>
                <a:r>
                  <a:rPr lang="en-US" altLang="en-US" sz="2800" baseline="30000"/>
                  <a:t>3</a:t>
                </a:r>
              </a:p>
            </p:txBody>
          </p:sp>
          <p:sp>
            <p:nvSpPr>
              <p:cNvPr id="98321" name="AutoShape 60"/>
              <p:cNvSpPr>
                <a:spLocks/>
              </p:cNvSpPr>
              <p:nvPr/>
            </p:nvSpPr>
            <p:spPr bwMode="auto">
              <a:xfrm>
                <a:off x="4464" y="3216"/>
                <a:ext cx="48" cy="672"/>
              </a:xfrm>
              <a:prstGeom prst="rightBracket">
                <a:avLst>
                  <a:gd name="adj" fmla="val 11666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322" name="Line 61"/>
              <p:cNvSpPr>
                <a:spLocks noChangeShapeType="1"/>
              </p:cNvSpPr>
              <p:nvPr/>
            </p:nvSpPr>
            <p:spPr bwMode="auto">
              <a:xfrm>
                <a:off x="2496" y="35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23" name="Text Box 62"/>
              <p:cNvSpPr txBox="1">
                <a:spLocks noChangeArrowheads="1"/>
              </p:cNvSpPr>
              <p:nvPr/>
            </p:nvSpPr>
            <p:spPr bwMode="auto">
              <a:xfrm>
                <a:off x="4608" y="3408"/>
                <a:ext cx="116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800"/>
                  <a:t>= $248.69</a:t>
                </a:r>
              </a:p>
            </p:txBody>
          </p:sp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70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 Solution</a:t>
            </a:r>
          </a:p>
        </p:txBody>
      </p:sp>
      <p:sp>
        <p:nvSpPr>
          <p:cNvPr id="1003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800B9F-F0A5-4B27-8FFB-5B9F633C97F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100355" name="Rectangle 4"/>
          <p:cNvSpPr>
            <a:spLocks noChangeArrowheads="1"/>
          </p:cNvSpPr>
          <p:nvPr/>
        </p:nvSpPr>
        <p:spPr bwMode="auto">
          <a:xfrm>
            <a:off x="1295400" y="5181600"/>
            <a:ext cx="753110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Have payments but no lump sum FV, so enter 0 for future value.</a:t>
            </a:r>
          </a:p>
        </p:txBody>
      </p:sp>
      <p:sp>
        <p:nvSpPr>
          <p:cNvPr id="100356" name="Rectangle 6"/>
          <p:cNvSpPr>
            <a:spLocks noChangeArrowheads="1"/>
          </p:cNvSpPr>
          <p:nvPr/>
        </p:nvSpPr>
        <p:spPr bwMode="auto">
          <a:xfrm>
            <a:off x="1106488" y="3346450"/>
            <a:ext cx="75565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1" dirty="0">
                <a:latin typeface="Arial" panose="020B0604020202020204" pitchFamily="34" charset="0"/>
              </a:rPr>
              <a:t>			 	            	</a:t>
            </a:r>
          </a:p>
        </p:txBody>
      </p:sp>
      <p:sp>
        <p:nvSpPr>
          <p:cNvPr id="100357" name="AutoShape 7"/>
          <p:cNvSpPr>
            <a:spLocks noChangeArrowheads="1"/>
          </p:cNvSpPr>
          <p:nvPr/>
        </p:nvSpPr>
        <p:spPr bwMode="auto">
          <a:xfrm>
            <a:off x="3762375" y="3775075"/>
            <a:ext cx="812800" cy="3556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I/YR</a:t>
            </a:r>
          </a:p>
        </p:txBody>
      </p:sp>
      <p:sp>
        <p:nvSpPr>
          <p:cNvPr id="100358" name="AutoShape 8"/>
          <p:cNvSpPr>
            <a:spLocks noChangeArrowheads="1"/>
          </p:cNvSpPr>
          <p:nvPr/>
        </p:nvSpPr>
        <p:spPr bwMode="auto">
          <a:xfrm>
            <a:off x="4867275" y="3775075"/>
            <a:ext cx="660400" cy="3556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PV</a:t>
            </a:r>
          </a:p>
        </p:txBody>
      </p:sp>
      <p:sp>
        <p:nvSpPr>
          <p:cNvPr id="100359" name="AutoShape 9"/>
          <p:cNvSpPr>
            <a:spLocks noChangeArrowheads="1"/>
          </p:cNvSpPr>
          <p:nvPr/>
        </p:nvSpPr>
        <p:spPr bwMode="auto">
          <a:xfrm>
            <a:off x="5819775" y="3775075"/>
            <a:ext cx="812800" cy="3556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PMT</a:t>
            </a:r>
          </a:p>
        </p:txBody>
      </p:sp>
      <p:sp>
        <p:nvSpPr>
          <p:cNvPr id="100360" name="AutoShape 10"/>
          <p:cNvSpPr>
            <a:spLocks noChangeArrowheads="1"/>
          </p:cNvSpPr>
          <p:nvPr/>
        </p:nvSpPr>
        <p:spPr bwMode="auto">
          <a:xfrm>
            <a:off x="2809875" y="3775075"/>
            <a:ext cx="660400" cy="3556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0361" name="AutoShape 11"/>
          <p:cNvSpPr>
            <a:spLocks noChangeArrowheads="1"/>
          </p:cNvSpPr>
          <p:nvPr/>
        </p:nvSpPr>
        <p:spPr bwMode="auto">
          <a:xfrm>
            <a:off x="6924675" y="3775075"/>
            <a:ext cx="736600" cy="3556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FV</a:t>
            </a:r>
          </a:p>
        </p:txBody>
      </p:sp>
      <p:sp>
        <p:nvSpPr>
          <p:cNvPr id="100362" name="Rectangle 12"/>
          <p:cNvSpPr>
            <a:spLocks noChangeArrowheads="1"/>
          </p:cNvSpPr>
          <p:nvPr/>
        </p:nvSpPr>
        <p:spPr bwMode="auto">
          <a:xfrm>
            <a:off x="2935288" y="3727450"/>
            <a:ext cx="4016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00367" name="Rectangle 18"/>
          <p:cNvSpPr>
            <a:spLocks noChangeArrowheads="1"/>
          </p:cNvSpPr>
          <p:nvPr/>
        </p:nvSpPr>
        <p:spPr bwMode="auto">
          <a:xfrm>
            <a:off x="4632325" y="4216400"/>
            <a:ext cx="293688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1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00368" name="AutoShape 19"/>
          <p:cNvSpPr>
            <a:spLocks noChangeArrowheads="1"/>
          </p:cNvSpPr>
          <p:nvPr/>
        </p:nvSpPr>
        <p:spPr bwMode="auto">
          <a:xfrm>
            <a:off x="1258888" y="3268663"/>
            <a:ext cx="1371600" cy="566737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1">
                <a:latin typeface="Arial" panose="020B0604020202020204" pitchFamily="34" charset="0"/>
              </a:rPr>
              <a:t>INPUTS</a:t>
            </a:r>
          </a:p>
        </p:txBody>
      </p:sp>
      <p:sp>
        <p:nvSpPr>
          <p:cNvPr id="100369" name="AutoShape 20"/>
          <p:cNvSpPr>
            <a:spLocks noChangeArrowheads="1"/>
          </p:cNvSpPr>
          <p:nvPr/>
        </p:nvSpPr>
        <p:spPr bwMode="auto">
          <a:xfrm>
            <a:off x="1249363" y="4143375"/>
            <a:ext cx="1371600" cy="566738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1">
                <a:latin typeface="Arial" panose="020B0604020202020204" pitchFamily="34" charset="0"/>
              </a:rPr>
              <a:t>OUTPUT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Spreadsheet Solution</a:t>
            </a:r>
          </a:p>
        </p:txBody>
      </p:sp>
      <p:sp>
        <p:nvSpPr>
          <p:cNvPr id="102406" name="Rectangle 1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PV function: see spreadsheet.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= PV(I, N, PMT, FV)</a:t>
            </a:r>
          </a:p>
          <a:p>
            <a:pPr eaLnBrk="1" hangingPunct="1"/>
            <a:r>
              <a:rPr lang="en-US" altLang="en-US"/>
              <a:t> = PV(0.10, 3, 100, 0) = -248.69</a:t>
            </a:r>
          </a:p>
        </p:txBody>
      </p:sp>
      <p:sp>
        <p:nvSpPr>
          <p:cNvPr id="1024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A145AE-E274-4E7A-A890-4FBE3290A4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10240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Find the FV and PV if the</a:t>
            </a:r>
            <a:br>
              <a:rPr lang="en-US" altLang="en-US"/>
            </a:br>
            <a:r>
              <a:rPr lang="en-US" altLang="en-US"/>
              <a:t>annuity were an annuity due.</a:t>
            </a:r>
          </a:p>
        </p:txBody>
      </p:sp>
      <p:sp>
        <p:nvSpPr>
          <p:cNvPr id="1044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6CAE17-5464-49B0-998F-295EB77DE28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/>
          </a:p>
        </p:txBody>
      </p:sp>
      <p:grpSp>
        <p:nvGrpSpPr>
          <p:cNvPr id="104452" name="Group 1039"/>
          <p:cNvGrpSpPr>
            <a:grpSpLocks/>
          </p:cNvGrpSpPr>
          <p:nvPr/>
        </p:nvGrpSpPr>
        <p:grpSpPr bwMode="auto">
          <a:xfrm>
            <a:off x="1371600" y="2895600"/>
            <a:ext cx="7151688" cy="2089150"/>
            <a:chOff x="912" y="2502"/>
            <a:chExt cx="4505" cy="1316"/>
          </a:xfrm>
        </p:grpSpPr>
        <p:sp>
          <p:nvSpPr>
            <p:cNvPr id="104453" name="Rectangle 6"/>
            <p:cNvSpPr>
              <a:spLocks noChangeArrowheads="1"/>
            </p:cNvSpPr>
            <p:nvPr/>
          </p:nvSpPr>
          <p:spPr bwMode="auto">
            <a:xfrm>
              <a:off x="2307" y="3455"/>
              <a:ext cx="54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04454" name="Line 8"/>
            <p:cNvSpPr>
              <a:spLocks noChangeShapeType="1"/>
            </p:cNvSpPr>
            <p:nvPr/>
          </p:nvSpPr>
          <p:spPr bwMode="auto">
            <a:xfrm>
              <a:off x="1186" y="2923"/>
              <a:ext cx="0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5" name="Line 9"/>
            <p:cNvSpPr>
              <a:spLocks noChangeShapeType="1"/>
            </p:cNvSpPr>
            <p:nvPr/>
          </p:nvSpPr>
          <p:spPr bwMode="auto">
            <a:xfrm>
              <a:off x="2578" y="2923"/>
              <a:ext cx="0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6" name="Line 10"/>
            <p:cNvSpPr>
              <a:spLocks noChangeShapeType="1"/>
            </p:cNvSpPr>
            <p:nvPr/>
          </p:nvSpPr>
          <p:spPr bwMode="auto">
            <a:xfrm>
              <a:off x="3826" y="2923"/>
              <a:ext cx="0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7" name="Line 11"/>
            <p:cNvSpPr>
              <a:spLocks noChangeShapeType="1"/>
            </p:cNvSpPr>
            <p:nvPr/>
          </p:nvSpPr>
          <p:spPr bwMode="auto">
            <a:xfrm>
              <a:off x="5266" y="2923"/>
              <a:ext cx="0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8" name="Line 12"/>
            <p:cNvSpPr>
              <a:spLocks noChangeShapeType="1"/>
            </p:cNvSpPr>
            <p:nvPr/>
          </p:nvSpPr>
          <p:spPr bwMode="auto">
            <a:xfrm>
              <a:off x="1200" y="3168"/>
              <a:ext cx="40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9" name="Rectangle 14"/>
            <p:cNvSpPr>
              <a:spLocks noChangeArrowheads="1"/>
            </p:cNvSpPr>
            <p:nvPr/>
          </p:nvSpPr>
          <p:spPr bwMode="auto">
            <a:xfrm>
              <a:off x="3555" y="3455"/>
              <a:ext cx="54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04460" name="Rectangle 15"/>
            <p:cNvSpPr>
              <a:spLocks noChangeArrowheads="1"/>
            </p:cNvSpPr>
            <p:nvPr/>
          </p:nvSpPr>
          <p:spPr bwMode="auto">
            <a:xfrm>
              <a:off x="1081" y="250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104461" name="Rectangle 16"/>
            <p:cNvSpPr>
              <a:spLocks noChangeArrowheads="1"/>
            </p:cNvSpPr>
            <p:nvPr/>
          </p:nvSpPr>
          <p:spPr bwMode="auto">
            <a:xfrm>
              <a:off x="2473" y="250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104462" name="Rectangle 17"/>
            <p:cNvSpPr>
              <a:spLocks noChangeArrowheads="1"/>
            </p:cNvSpPr>
            <p:nvPr/>
          </p:nvSpPr>
          <p:spPr bwMode="auto">
            <a:xfrm>
              <a:off x="3721" y="250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04463" name="Rectangle 18"/>
            <p:cNvSpPr>
              <a:spLocks noChangeArrowheads="1"/>
            </p:cNvSpPr>
            <p:nvPr/>
          </p:nvSpPr>
          <p:spPr bwMode="auto">
            <a:xfrm>
              <a:off x="5161" y="2502"/>
              <a:ext cx="2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104464" name="Rectangle 19"/>
            <p:cNvSpPr>
              <a:spLocks noChangeArrowheads="1"/>
            </p:cNvSpPr>
            <p:nvPr/>
          </p:nvSpPr>
          <p:spPr bwMode="auto">
            <a:xfrm>
              <a:off x="1561" y="2935"/>
              <a:ext cx="6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10%</a:t>
              </a:r>
            </a:p>
          </p:txBody>
        </p:sp>
        <p:sp>
          <p:nvSpPr>
            <p:cNvPr id="104465" name="Rectangle 20"/>
            <p:cNvSpPr>
              <a:spLocks noChangeArrowheads="1"/>
            </p:cNvSpPr>
            <p:nvPr/>
          </p:nvSpPr>
          <p:spPr bwMode="auto">
            <a:xfrm>
              <a:off x="912" y="3455"/>
              <a:ext cx="54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</p:grp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1" name="Rectangle 1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PV and FV of Annuity Due </a:t>
            </a:r>
            <a:br>
              <a:rPr lang="en-US" altLang="en-US"/>
            </a:br>
            <a:r>
              <a:rPr lang="en-US" altLang="en-US"/>
              <a:t>vs. Ordinary Annuity</a:t>
            </a:r>
          </a:p>
        </p:txBody>
      </p:sp>
      <p:sp>
        <p:nvSpPr>
          <p:cNvPr id="56326" name="Rectangle 1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PV of annuity due:</a:t>
            </a:r>
          </a:p>
          <a:p>
            <a:pPr eaLnBrk="1" hangingPunct="1"/>
            <a:r>
              <a:rPr lang="en-US" altLang="en-US"/>
              <a:t> = (PV of ordinary annuity) (1+I) </a:t>
            </a:r>
          </a:p>
          <a:p>
            <a:pPr eaLnBrk="1" hangingPunct="1"/>
            <a:r>
              <a:rPr lang="en-US" altLang="en-US"/>
              <a:t>= ($248.69) (1+ 0.10) = $273.56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FV of annuity due:</a:t>
            </a:r>
          </a:p>
          <a:p>
            <a:pPr eaLnBrk="1" hangingPunct="1"/>
            <a:r>
              <a:rPr lang="en-US" altLang="en-US"/>
              <a:t>= (FV of ordinary annuity) (1+I)</a:t>
            </a:r>
          </a:p>
          <a:p>
            <a:pPr eaLnBrk="1" hangingPunct="1"/>
            <a:r>
              <a:rPr lang="en-US" altLang="en-US"/>
              <a:t>= ($331.00) (1+ 0.10) = $364.10</a:t>
            </a:r>
          </a:p>
        </p:txBody>
      </p:sp>
      <p:sp>
        <p:nvSpPr>
          <p:cNvPr id="1064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E356D4-2470-4712-B727-DFEBF057A35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10649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PV of Annuity Due: Switch from “End” to “Begin”</a:t>
            </a:r>
          </a:p>
        </p:txBody>
      </p:sp>
      <p:sp>
        <p:nvSpPr>
          <p:cNvPr id="1085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988D39-6919-499B-9382-246C1135DD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/>
          </a:p>
        </p:txBody>
      </p:sp>
      <p:grpSp>
        <p:nvGrpSpPr>
          <p:cNvPr id="108548" name="Group 25"/>
          <p:cNvGrpSpPr>
            <a:grpSpLocks/>
          </p:cNvGrpSpPr>
          <p:nvPr/>
        </p:nvGrpSpPr>
        <p:grpSpPr bwMode="auto">
          <a:xfrm>
            <a:off x="958850" y="2950985"/>
            <a:ext cx="7556500" cy="1827213"/>
            <a:chOff x="651" y="2030"/>
            <a:chExt cx="4760" cy="1151"/>
          </a:xfrm>
        </p:grpSpPr>
        <p:sp>
          <p:nvSpPr>
            <p:cNvPr id="108549" name="Rectangle 6"/>
            <p:cNvSpPr>
              <a:spLocks noChangeArrowheads="1"/>
            </p:cNvSpPr>
            <p:nvPr/>
          </p:nvSpPr>
          <p:spPr bwMode="auto">
            <a:xfrm>
              <a:off x="651" y="2084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	  	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         		   </a:t>
              </a:r>
            </a:p>
          </p:txBody>
        </p:sp>
        <p:sp>
          <p:nvSpPr>
            <p:cNvPr id="108550" name="AutoShape 7"/>
            <p:cNvSpPr>
              <a:spLocks noChangeArrowheads="1"/>
            </p:cNvSpPr>
            <p:nvPr/>
          </p:nvSpPr>
          <p:spPr bwMode="auto">
            <a:xfrm>
              <a:off x="3053" y="2354"/>
              <a:ext cx="464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8551" name="AutoShape 8"/>
            <p:cNvSpPr>
              <a:spLocks noChangeArrowheads="1"/>
            </p:cNvSpPr>
            <p:nvPr/>
          </p:nvSpPr>
          <p:spPr bwMode="auto">
            <a:xfrm>
              <a:off x="2381" y="2354"/>
              <a:ext cx="512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108552" name="AutoShape 9"/>
            <p:cNvSpPr>
              <a:spLocks noChangeArrowheads="1"/>
            </p:cNvSpPr>
            <p:nvPr/>
          </p:nvSpPr>
          <p:spPr bwMode="auto">
            <a:xfrm>
              <a:off x="1757" y="2354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08553" name="AutoShape 10"/>
            <p:cNvSpPr>
              <a:spLocks noChangeArrowheads="1"/>
            </p:cNvSpPr>
            <p:nvPr/>
          </p:nvSpPr>
          <p:spPr bwMode="auto">
            <a:xfrm>
              <a:off x="4349" y="2354"/>
              <a:ext cx="464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108554" name="AutoShape 14"/>
            <p:cNvSpPr>
              <a:spLocks noChangeArrowheads="1"/>
            </p:cNvSpPr>
            <p:nvPr/>
          </p:nvSpPr>
          <p:spPr bwMode="auto">
            <a:xfrm>
              <a:off x="3677" y="2354"/>
              <a:ext cx="560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108557" name="Rectangle 13"/>
            <p:cNvSpPr>
              <a:spLocks noChangeArrowheads="1"/>
            </p:cNvSpPr>
            <p:nvPr/>
          </p:nvSpPr>
          <p:spPr bwMode="auto">
            <a:xfrm>
              <a:off x="3132" y="2337"/>
              <a:ext cx="37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108560" name="AutoShape 19"/>
            <p:cNvSpPr>
              <a:spLocks noChangeArrowheads="1"/>
            </p:cNvSpPr>
            <p:nvPr/>
          </p:nvSpPr>
          <p:spPr bwMode="auto">
            <a:xfrm>
              <a:off x="742" y="2030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108561" name="AutoShape 20"/>
            <p:cNvSpPr>
              <a:spLocks noChangeArrowheads="1"/>
            </p:cNvSpPr>
            <p:nvPr/>
          </p:nvSpPr>
          <p:spPr bwMode="auto">
            <a:xfrm>
              <a:off x="736" y="2581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108562" name="TextBox 18"/>
            <p:cNvSpPr txBox="1">
              <a:spLocks noChangeArrowheads="1"/>
            </p:cNvSpPr>
            <p:nvPr/>
          </p:nvSpPr>
          <p:spPr bwMode="auto">
            <a:xfrm>
              <a:off x="742" y="2890"/>
              <a:ext cx="13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BEGIN Mode</a:t>
              </a:r>
            </a:p>
          </p:txBody>
        </p:sp>
      </p:grp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1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FV of Annuity Due: Switch from “End” to “Begin”</a:t>
            </a:r>
          </a:p>
        </p:txBody>
      </p:sp>
      <p:sp>
        <p:nvSpPr>
          <p:cNvPr id="1105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BF9F9C-5E67-4610-83AF-8796B32F0B3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/>
          </a:p>
        </p:txBody>
      </p:sp>
      <p:grpSp>
        <p:nvGrpSpPr>
          <p:cNvPr id="110596" name="Group 20"/>
          <p:cNvGrpSpPr>
            <a:grpSpLocks/>
          </p:cNvGrpSpPr>
          <p:nvPr/>
        </p:nvGrpSpPr>
        <p:grpSpPr bwMode="auto">
          <a:xfrm>
            <a:off x="1033463" y="2514600"/>
            <a:ext cx="7556500" cy="2149475"/>
            <a:chOff x="651" y="1584"/>
            <a:chExt cx="4760" cy="1354"/>
          </a:xfrm>
        </p:grpSpPr>
        <p:sp>
          <p:nvSpPr>
            <p:cNvPr id="110597" name="AutoShape 2"/>
            <p:cNvSpPr>
              <a:spLocks noChangeArrowheads="1"/>
            </p:cNvSpPr>
            <p:nvPr/>
          </p:nvSpPr>
          <p:spPr bwMode="auto">
            <a:xfrm>
              <a:off x="3677" y="2354"/>
              <a:ext cx="512" cy="224"/>
            </a:xfrm>
            <a:prstGeom prst="roundRect">
              <a:avLst>
                <a:gd name="adj" fmla="val 12495"/>
              </a:avLst>
            </a:prstGeom>
            <a:solidFill>
              <a:srgbClr val="8CF4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10598" name="Rectangle 3"/>
            <p:cNvSpPr>
              <a:spLocks noChangeArrowheads="1"/>
            </p:cNvSpPr>
            <p:nvPr/>
          </p:nvSpPr>
          <p:spPr bwMode="auto">
            <a:xfrm>
              <a:off x="651" y="2084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	 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			         			      ?</a:t>
              </a:r>
            </a:p>
          </p:txBody>
        </p:sp>
        <p:sp>
          <p:nvSpPr>
            <p:cNvPr id="110599" name="AutoShape 4"/>
            <p:cNvSpPr>
              <a:spLocks noChangeArrowheads="1"/>
            </p:cNvSpPr>
            <p:nvPr/>
          </p:nvSpPr>
          <p:spPr bwMode="auto">
            <a:xfrm>
              <a:off x="3053" y="2354"/>
              <a:ext cx="464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110600" name="AutoShape 5"/>
            <p:cNvSpPr>
              <a:spLocks noChangeArrowheads="1"/>
            </p:cNvSpPr>
            <p:nvPr/>
          </p:nvSpPr>
          <p:spPr bwMode="auto">
            <a:xfrm>
              <a:off x="2381" y="2354"/>
              <a:ext cx="512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110601" name="AutoShape 6"/>
            <p:cNvSpPr>
              <a:spLocks noChangeArrowheads="1"/>
            </p:cNvSpPr>
            <p:nvPr/>
          </p:nvSpPr>
          <p:spPr bwMode="auto">
            <a:xfrm>
              <a:off x="1757" y="2354"/>
              <a:ext cx="416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10602" name="AutoShape 7"/>
            <p:cNvSpPr>
              <a:spLocks noChangeArrowheads="1"/>
            </p:cNvSpPr>
            <p:nvPr/>
          </p:nvSpPr>
          <p:spPr bwMode="auto">
            <a:xfrm>
              <a:off x="4349" y="2354"/>
              <a:ext cx="464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110606" name="AutoShape 11"/>
            <p:cNvSpPr>
              <a:spLocks noChangeArrowheads="1"/>
            </p:cNvSpPr>
            <p:nvPr/>
          </p:nvSpPr>
          <p:spPr bwMode="auto">
            <a:xfrm>
              <a:off x="3677" y="2354"/>
              <a:ext cx="560" cy="22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110609" name="AutoShape 14"/>
            <p:cNvSpPr>
              <a:spLocks noChangeArrowheads="1"/>
            </p:cNvSpPr>
            <p:nvPr/>
          </p:nvSpPr>
          <p:spPr bwMode="auto">
            <a:xfrm>
              <a:off x="742" y="2030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110610" name="AutoShape 15"/>
            <p:cNvSpPr>
              <a:spLocks noChangeArrowheads="1"/>
            </p:cNvSpPr>
            <p:nvPr/>
          </p:nvSpPr>
          <p:spPr bwMode="auto">
            <a:xfrm>
              <a:off x="736" y="2581"/>
              <a:ext cx="864" cy="357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110611" name="TextBox 18"/>
            <p:cNvSpPr txBox="1">
              <a:spLocks noChangeArrowheads="1"/>
            </p:cNvSpPr>
            <p:nvPr/>
          </p:nvSpPr>
          <p:spPr bwMode="auto">
            <a:xfrm>
              <a:off x="720" y="1584"/>
              <a:ext cx="13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BEGIN Mode</a:t>
              </a:r>
            </a:p>
          </p:txBody>
        </p:sp>
      </p:grp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Excel Function for Annuities Due</a:t>
            </a:r>
          </a:p>
        </p:txBody>
      </p:sp>
      <p:sp>
        <p:nvSpPr>
          <p:cNvPr id="59396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Change the formula to: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=PV(0.10,3,-100,0,1)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/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The fourth term, 0, tells the function there are no other cash flows.  The fifth term tells the function that it is an annuity due.  A similar function gives the future value of an annuity due: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/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=FV(0.10,3,-100,0,1)</a:t>
            </a:r>
          </a:p>
        </p:txBody>
      </p:sp>
      <p:sp>
        <p:nvSpPr>
          <p:cNvPr id="1126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02D09B-D047-4D05-A1DF-E873B75EBEC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Retirement problem for you</a:t>
            </a:r>
          </a:p>
        </p:txBody>
      </p:sp>
      <p:sp>
        <p:nvSpPr>
          <p:cNvPr id="60420" name="Content Placeholder 3"/>
          <p:cNvSpPr>
            <a:spLocks noGrp="1"/>
          </p:cNvSpPr>
          <p:nvPr>
            <p:ph idx="1"/>
          </p:nvPr>
        </p:nvSpPr>
        <p:spPr>
          <a:xfrm>
            <a:off x="628650" y="2362200"/>
            <a:ext cx="3868738" cy="3814764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Want to retire in 35 years</a:t>
            </a:r>
          </a:p>
          <a:p>
            <a:r>
              <a:rPr lang="en-US" altLang="en-US" dirty="0"/>
              <a:t>Deposit (invest) $2500 year into an S&amp;P 500 Index fund (which returns 12.1% annually)</a:t>
            </a:r>
          </a:p>
          <a:p>
            <a:r>
              <a:rPr lang="en-US" altLang="en-US" dirty="0"/>
              <a:t>How much will you have to retire on in 35 years?</a:t>
            </a:r>
          </a:p>
          <a:p>
            <a:r>
              <a:rPr lang="en-US" altLang="en-US" dirty="0"/>
              <a:t>How much cash did you have to outlay in total to accumulate that much?</a:t>
            </a:r>
          </a:p>
        </p:txBody>
      </p:sp>
      <p:sp>
        <p:nvSpPr>
          <p:cNvPr id="114691" name="Text Placeholder 2"/>
          <p:cNvSpPr>
            <a:spLocks noGrp="1"/>
          </p:cNvSpPr>
          <p:nvPr>
            <p:ph type="body" idx="4294967295"/>
          </p:nvPr>
        </p:nvSpPr>
        <p:spPr>
          <a:xfrm>
            <a:off x="685800" y="1681163"/>
            <a:ext cx="3182938" cy="8239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u="sng" dirty="0"/>
              <a:t>Scenario</a:t>
            </a:r>
          </a:p>
        </p:txBody>
      </p:sp>
      <p:sp>
        <p:nvSpPr>
          <p:cNvPr id="114693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410200" y="1681163"/>
            <a:ext cx="3182938" cy="8239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u="sng" dirty="0"/>
              <a:t>Solution</a:t>
            </a:r>
          </a:p>
        </p:txBody>
      </p:sp>
      <p:sp>
        <p:nvSpPr>
          <p:cNvPr id="60422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4646614" y="2361819"/>
            <a:ext cx="4497386" cy="3684588"/>
          </a:xfrm>
        </p:spPr>
        <p:txBody>
          <a:bodyPr>
            <a:normAutofit/>
          </a:bodyPr>
          <a:lstStyle/>
          <a:p>
            <a:r>
              <a:rPr lang="en-US" altLang="en-US" sz="2400" dirty="0" err="1"/>
              <a:t>Pmt</a:t>
            </a:r>
            <a:r>
              <a:rPr lang="en-US" altLang="en-US" sz="2400" dirty="0"/>
              <a:t> = $2500</a:t>
            </a:r>
          </a:p>
          <a:p>
            <a:r>
              <a:rPr lang="en-US" altLang="en-US" sz="2400" dirty="0"/>
              <a:t>N= 35</a:t>
            </a:r>
          </a:p>
          <a:p>
            <a:r>
              <a:rPr lang="en-US" altLang="en-US" sz="2400" i="1" dirty="0" err="1"/>
              <a:t>i</a:t>
            </a:r>
            <a:r>
              <a:rPr lang="en-US" altLang="en-US" sz="2400" dirty="0"/>
              <a:t> = 12.1%</a:t>
            </a:r>
          </a:p>
          <a:p>
            <a:r>
              <a:rPr lang="en-US" altLang="en-US" sz="2400" dirty="0"/>
              <a:t>FV = ? = $1,104,853</a:t>
            </a:r>
          </a:p>
          <a:p>
            <a:endParaRPr lang="en-US" altLang="en-US" sz="2400" dirty="0"/>
          </a:p>
          <a:p>
            <a:r>
              <a:rPr lang="en-US" altLang="en-US" sz="2400" dirty="0"/>
              <a:t>$2500/</a:t>
            </a:r>
            <a:r>
              <a:rPr lang="en-US" altLang="en-US" sz="2400" dirty="0" err="1"/>
              <a:t>yr</a:t>
            </a:r>
            <a:r>
              <a:rPr lang="en-US" altLang="en-US" sz="2400" dirty="0"/>
              <a:t> x 35 </a:t>
            </a:r>
            <a:r>
              <a:rPr lang="en-US" altLang="en-US" sz="2400" dirty="0" err="1"/>
              <a:t>yrs</a:t>
            </a:r>
            <a:r>
              <a:rPr lang="en-US" altLang="en-US" sz="2400" dirty="0"/>
              <a:t> = $87,500 total cash outlay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/>
      <p:bldP spid="6042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Retirement problem for your friend the slacker</a:t>
            </a:r>
          </a:p>
        </p:txBody>
      </p:sp>
      <p:sp>
        <p:nvSpPr>
          <p:cNvPr id="1157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en-US" sz="2800" u="sng" dirty="0"/>
              <a:t>Scenario</a:t>
            </a:r>
            <a:endParaRPr lang="en-US" altLang="en-US" u="sng" dirty="0"/>
          </a:p>
        </p:txBody>
      </p:sp>
      <p:sp>
        <p:nvSpPr>
          <p:cNvPr id="614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38438"/>
            <a:ext cx="4040188" cy="3890962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200" dirty="0"/>
              <a:t>Want to retire with you in 35 years, but is ski bum &amp; fails to save his 1</a:t>
            </a:r>
            <a:r>
              <a:rPr lang="en-US" altLang="en-US" sz="2200" baseline="30000" dirty="0"/>
              <a:t>st</a:t>
            </a:r>
            <a:r>
              <a:rPr lang="en-US" altLang="en-US" sz="2200" dirty="0"/>
              <a:t> 15 years</a:t>
            </a:r>
          </a:p>
          <a:p>
            <a:r>
              <a:rPr lang="en-US" altLang="en-US" sz="2200" dirty="0"/>
              <a:t>Deposit (invest) $2500 year into an S&amp;P 500 Index fund (which returns 12.1% annually)</a:t>
            </a:r>
          </a:p>
          <a:p>
            <a:r>
              <a:rPr lang="en-US" altLang="en-US" sz="2200" dirty="0"/>
              <a:t>How much will you have to retire on in 35 years?</a:t>
            </a:r>
          </a:p>
          <a:p>
            <a:r>
              <a:rPr lang="en-US" altLang="en-US" sz="2200" dirty="0"/>
              <a:t>How much cash did you have to outlay in total to accumulate that much?</a:t>
            </a:r>
          </a:p>
        </p:txBody>
      </p:sp>
      <p:sp>
        <p:nvSpPr>
          <p:cNvPr id="115717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en-US" sz="2800" u="sng" dirty="0"/>
              <a:t>Solution</a:t>
            </a:r>
            <a:endParaRPr lang="en-US" altLang="en-US" u="sng" dirty="0"/>
          </a:p>
        </p:txBody>
      </p:sp>
      <p:sp>
        <p:nvSpPr>
          <p:cNvPr id="6144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/>
              <a:t>Pmt = $</a:t>
            </a:r>
          </a:p>
          <a:p>
            <a:r>
              <a:rPr lang="en-US" altLang="en-US"/>
              <a:t>N= </a:t>
            </a:r>
          </a:p>
          <a:p>
            <a:r>
              <a:rPr lang="en-US" altLang="en-US" i="1"/>
              <a:t>i</a:t>
            </a:r>
            <a:r>
              <a:rPr lang="en-US" altLang="en-US"/>
              <a:t> = 	     %</a:t>
            </a:r>
          </a:p>
          <a:p>
            <a:r>
              <a:rPr lang="en-US" altLang="en-US"/>
              <a:t>FV = ? = $</a:t>
            </a:r>
          </a:p>
          <a:p>
            <a:endParaRPr lang="en-US" altLang="en-US"/>
          </a:p>
          <a:p>
            <a:r>
              <a:rPr lang="en-US" altLang="en-US"/>
              <a:t>$2500/yr x ?  yrs = $50,000 total cash outlay</a:t>
            </a:r>
          </a:p>
          <a:p>
            <a:endParaRPr lang="en-US" altLang="en-US"/>
          </a:p>
          <a:p>
            <a:r>
              <a:rPr lang="en-US" altLang="en-US"/>
              <a:t>$1,104,853 vs.  $182,231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build="p"/>
      <p:bldP spid="6144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is the PV of this </a:t>
            </a:r>
            <a:br>
              <a:rPr lang="en-US" altLang="en-US"/>
            </a:br>
            <a:r>
              <a:rPr lang="en-US" altLang="en-US"/>
              <a:t>uneven cash flow stream?</a:t>
            </a:r>
          </a:p>
        </p:txBody>
      </p:sp>
      <p:sp>
        <p:nvSpPr>
          <p:cNvPr id="1167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71AC6B-7F89-4599-B172-E1B3F6777B8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/>
          </a:p>
        </p:txBody>
      </p:sp>
      <p:grpSp>
        <p:nvGrpSpPr>
          <p:cNvPr id="116740" name="Group 35"/>
          <p:cNvGrpSpPr>
            <a:grpSpLocks/>
          </p:cNvGrpSpPr>
          <p:nvPr/>
        </p:nvGrpSpPr>
        <p:grpSpPr bwMode="auto">
          <a:xfrm>
            <a:off x="1017588" y="2509838"/>
            <a:ext cx="7807325" cy="4164012"/>
            <a:chOff x="1017588" y="2509838"/>
            <a:chExt cx="7807325" cy="4164012"/>
          </a:xfrm>
        </p:grpSpPr>
        <p:grpSp>
          <p:nvGrpSpPr>
            <p:cNvPr id="116741" name="Group 7"/>
            <p:cNvGrpSpPr>
              <a:grpSpLocks/>
            </p:cNvGrpSpPr>
            <p:nvPr/>
          </p:nvGrpSpPr>
          <p:grpSpPr bwMode="auto">
            <a:xfrm>
              <a:off x="1017588" y="2509838"/>
              <a:ext cx="7807325" cy="4164012"/>
              <a:chOff x="641" y="1581"/>
              <a:chExt cx="4918" cy="2623"/>
            </a:xfrm>
          </p:grpSpPr>
          <p:sp>
            <p:nvSpPr>
              <p:cNvPr id="116743" name="Line 6"/>
              <p:cNvSpPr>
                <a:spLocks noChangeShapeType="1"/>
              </p:cNvSpPr>
              <p:nvPr/>
            </p:nvSpPr>
            <p:spPr bwMode="auto">
              <a:xfrm>
                <a:off x="1226" y="1907"/>
                <a:ext cx="0" cy="2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44" name="Line 7"/>
              <p:cNvSpPr>
                <a:spLocks noChangeShapeType="1"/>
              </p:cNvSpPr>
              <p:nvPr/>
            </p:nvSpPr>
            <p:spPr bwMode="auto">
              <a:xfrm>
                <a:off x="1234" y="2032"/>
                <a:ext cx="40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45" name="Rectangle 8"/>
              <p:cNvSpPr>
                <a:spLocks noChangeArrowheads="1"/>
              </p:cNvSpPr>
              <p:nvPr/>
            </p:nvSpPr>
            <p:spPr bwMode="auto">
              <a:xfrm>
                <a:off x="1121" y="159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0</a:t>
                </a:r>
              </a:p>
            </p:txBody>
          </p:sp>
          <p:sp>
            <p:nvSpPr>
              <p:cNvPr id="116746" name="Rectangle 9"/>
              <p:cNvSpPr>
                <a:spLocks noChangeArrowheads="1"/>
              </p:cNvSpPr>
              <p:nvPr/>
            </p:nvSpPr>
            <p:spPr bwMode="auto">
              <a:xfrm>
                <a:off x="1928" y="2156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116747" name="Line 10"/>
              <p:cNvSpPr>
                <a:spLocks noChangeShapeType="1"/>
              </p:cNvSpPr>
              <p:nvPr/>
            </p:nvSpPr>
            <p:spPr bwMode="auto">
              <a:xfrm>
                <a:off x="2202" y="1907"/>
                <a:ext cx="0" cy="2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48" name="Rectangle 11"/>
              <p:cNvSpPr>
                <a:spLocks noChangeArrowheads="1"/>
              </p:cNvSpPr>
              <p:nvPr/>
            </p:nvSpPr>
            <p:spPr bwMode="auto">
              <a:xfrm>
                <a:off x="2101" y="159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116749" name="Line 12"/>
              <p:cNvSpPr>
                <a:spLocks noChangeShapeType="1"/>
              </p:cNvSpPr>
              <p:nvPr/>
            </p:nvSpPr>
            <p:spPr bwMode="auto">
              <a:xfrm>
                <a:off x="3179" y="1907"/>
                <a:ext cx="0" cy="2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50" name="Rectangle 13"/>
              <p:cNvSpPr>
                <a:spLocks noChangeArrowheads="1"/>
              </p:cNvSpPr>
              <p:nvPr/>
            </p:nvSpPr>
            <p:spPr bwMode="auto">
              <a:xfrm>
                <a:off x="2910" y="2156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300</a:t>
                </a:r>
              </a:p>
            </p:txBody>
          </p:sp>
          <p:sp>
            <p:nvSpPr>
              <p:cNvPr id="116751" name="Rectangle 14"/>
              <p:cNvSpPr>
                <a:spLocks noChangeArrowheads="1"/>
              </p:cNvSpPr>
              <p:nvPr/>
            </p:nvSpPr>
            <p:spPr bwMode="auto">
              <a:xfrm>
                <a:off x="3083" y="159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116752" name="Rectangle 15"/>
              <p:cNvSpPr>
                <a:spLocks noChangeArrowheads="1"/>
              </p:cNvSpPr>
              <p:nvPr/>
            </p:nvSpPr>
            <p:spPr bwMode="auto">
              <a:xfrm>
                <a:off x="3996" y="2156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300</a:t>
                </a:r>
              </a:p>
            </p:txBody>
          </p:sp>
          <p:sp>
            <p:nvSpPr>
              <p:cNvPr id="116753" name="Line 16"/>
              <p:cNvSpPr>
                <a:spLocks noChangeShapeType="1"/>
              </p:cNvSpPr>
              <p:nvPr/>
            </p:nvSpPr>
            <p:spPr bwMode="auto">
              <a:xfrm>
                <a:off x="4262" y="1907"/>
                <a:ext cx="0" cy="2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54" name="Rectangle 17"/>
              <p:cNvSpPr>
                <a:spLocks noChangeArrowheads="1"/>
              </p:cNvSpPr>
              <p:nvPr/>
            </p:nvSpPr>
            <p:spPr bwMode="auto">
              <a:xfrm>
                <a:off x="4128" y="1596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116755" name="Rectangle 18"/>
              <p:cNvSpPr>
                <a:spLocks noChangeArrowheads="1"/>
              </p:cNvSpPr>
              <p:nvPr/>
            </p:nvSpPr>
            <p:spPr bwMode="auto">
              <a:xfrm>
                <a:off x="1601" y="1785"/>
                <a:ext cx="51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10%</a:t>
                </a:r>
              </a:p>
            </p:txBody>
          </p:sp>
          <p:sp>
            <p:nvSpPr>
              <p:cNvPr id="116756" name="Line 19"/>
              <p:cNvSpPr>
                <a:spLocks noChangeShapeType="1"/>
              </p:cNvSpPr>
              <p:nvPr/>
            </p:nvSpPr>
            <p:spPr bwMode="auto">
              <a:xfrm>
                <a:off x="5306" y="1894"/>
                <a:ext cx="0" cy="320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57" name="Rectangle 20"/>
              <p:cNvSpPr>
                <a:spLocks noChangeArrowheads="1"/>
              </p:cNvSpPr>
              <p:nvPr/>
            </p:nvSpPr>
            <p:spPr bwMode="auto">
              <a:xfrm>
                <a:off x="5072" y="2156"/>
                <a:ext cx="487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-50</a:t>
                </a:r>
              </a:p>
            </p:txBody>
          </p:sp>
          <p:sp>
            <p:nvSpPr>
              <p:cNvPr id="116758" name="Rectangle 21"/>
              <p:cNvSpPr>
                <a:spLocks noChangeArrowheads="1"/>
              </p:cNvSpPr>
              <p:nvPr/>
            </p:nvSpPr>
            <p:spPr bwMode="auto">
              <a:xfrm>
                <a:off x="5201" y="158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116759" name="Line 22"/>
              <p:cNvSpPr>
                <a:spLocks noChangeShapeType="1"/>
              </p:cNvSpPr>
              <p:nvPr/>
            </p:nvSpPr>
            <p:spPr bwMode="auto">
              <a:xfrm>
                <a:off x="2186" y="2477"/>
                <a:ext cx="0" cy="12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0" name="Line 23"/>
              <p:cNvSpPr>
                <a:spLocks noChangeShapeType="1"/>
              </p:cNvSpPr>
              <p:nvPr/>
            </p:nvSpPr>
            <p:spPr bwMode="auto">
              <a:xfrm>
                <a:off x="3194" y="2477"/>
                <a:ext cx="0" cy="4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1" name="Line 24"/>
              <p:cNvSpPr>
                <a:spLocks noChangeShapeType="1"/>
              </p:cNvSpPr>
              <p:nvPr/>
            </p:nvSpPr>
            <p:spPr bwMode="auto">
              <a:xfrm>
                <a:off x="4250" y="2477"/>
                <a:ext cx="0" cy="7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2" name="Line 25"/>
              <p:cNvSpPr>
                <a:spLocks noChangeShapeType="1"/>
              </p:cNvSpPr>
              <p:nvPr/>
            </p:nvSpPr>
            <p:spPr bwMode="auto">
              <a:xfrm>
                <a:off x="5306" y="2477"/>
                <a:ext cx="0" cy="11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3" name="Line 26"/>
              <p:cNvSpPr>
                <a:spLocks noChangeShapeType="1"/>
              </p:cNvSpPr>
              <p:nvPr/>
            </p:nvSpPr>
            <p:spPr bwMode="auto">
              <a:xfrm flipH="1">
                <a:off x="1539" y="2603"/>
                <a:ext cx="6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4" name="Line 27"/>
              <p:cNvSpPr>
                <a:spLocks noChangeShapeType="1"/>
              </p:cNvSpPr>
              <p:nvPr/>
            </p:nvSpPr>
            <p:spPr bwMode="auto">
              <a:xfrm flipH="1">
                <a:off x="1539" y="2928"/>
                <a:ext cx="165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5" name="Line 28"/>
              <p:cNvSpPr>
                <a:spLocks noChangeShapeType="1"/>
              </p:cNvSpPr>
              <p:nvPr/>
            </p:nvSpPr>
            <p:spPr bwMode="auto">
              <a:xfrm flipH="1">
                <a:off x="1539" y="3264"/>
                <a:ext cx="27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6" name="Line 29"/>
              <p:cNvSpPr>
                <a:spLocks noChangeShapeType="1"/>
              </p:cNvSpPr>
              <p:nvPr/>
            </p:nvSpPr>
            <p:spPr bwMode="auto">
              <a:xfrm flipH="1">
                <a:off x="1539" y="3600"/>
                <a:ext cx="37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67" name="Rectangle 30"/>
              <p:cNvSpPr>
                <a:spLocks noChangeArrowheads="1"/>
              </p:cNvSpPr>
              <p:nvPr/>
            </p:nvSpPr>
            <p:spPr bwMode="auto">
              <a:xfrm>
                <a:off x="641" y="2444"/>
                <a:ext cx="91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  90.91</a:t>
                </a:r>
              </a:p>
            </p:txBody>
          </p:sp>
          <p:sp>
            <p:nvSpPr>
              <p:cNvPr id="116768" name="Rectangle 31"/>
              <p:cNvSpPr>
                <a:spLocks noChangeArrowheads="1"/>
              </p:cNvSpPr>
              <p:nvPr/>
            </p:nvSpPr>
            <p:spPr bwMode="auto">
              <a:xfrm>
                <a:off x="641" y="2780"/>
                <a:ext cx="89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247.93</a:t>
                </a:r>
              </a:p>
            </p:txBody>
          </p:sp>
          <p:sp>
            <p:nvSpPr>
              <p:cNvPr id="116769" name="Rectangle 32"/>
              <p:cNvSpPr>
                <a:spLocks noChangeArrowheads="1"/>
              </p:cNvSpPr>
              <p:nvPr/>
            </p:nvSpPr>
            <p:spPr bwMode="auto">
              <a:xfrm>
                <a:off x="641" y="3116"/>
                <a:ext cx="89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225.39</a:t>
                </a:r>
              </a:p>
            </p:txBody>
          </p:sp>
          <p:sp>
            <p:nvSpPr>
              <p:cNvPr id="116770" name="Rectangle 33"/>
              <p:cNvSpPr>
                <a:spLocks noChangeArrowheads="1"/>
              </p:cNvSpPr>
              <p:nvPr/>
            </p:nvSpPr>
            <p:spPr bwMode="auto">
              <a:xfrm>
                <a:off x="641" y="3452"/>
                <a:ext cx="845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u="sng"/>
                  <a:t>-34.15</a:t>
                </a:r>
              </a:p>
            </p:txBody>
          </p:sp>
          <p:sp>
            <p:nvSpPr>
              <p:cNvPr id="116771" name="Rectangle 34"/>
              <p:cNvSpPr>
                <a:spLocks noChangeArrowheads="1"/>
              </p:cNvSpPr>
              <p:nvPr/>
            </p:nvSpPr>
            <p:spPr bwMode="auto">
              <a:xfrm>
                <a:off x="641" y="3837"/>
                <a:ext cx="1628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530.08  = PV</a:t>
                </a:r>
              </a:p>
            </p:txBody>
          </p:sp>
        </p:grpSp>
        <p:cxnSp>
          <p:nvCxnSpPr>
            <p:cNvPr id="116742" name="Straight Connector 34"/>
            <p:cNvCxnSpPr>
              <a:cxnSpLocks noChangeShapeType="1"/>
            </p:cNvCxnSpPr>
            <p:nvPr/>
          </p:nvCxnSpPr>
          <p:spPr bwMode="auto">
            <a:xfrm>
              <a:off x="1120775" y="6586538"/>
              <a:ext cx="1189038" cy="1587"/>
            </a:xfrm>
            <a:prstGeom prst="line">
              <a:avLst/>
            </a:prstGeom>
            <a:noFill/>
            <a:ln w="50800" cmpd="dbl" algn="ctr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calculator: HP10BII</a:t>
            </a:r>
          </a:p>
        </p:txBody>
      </p:sp>
      <p:sp>
        <p:nvSpPr>
          <p:cNvPr id="6349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Clear all: Orange Shift key, then C All key (in orange).</a:t>
            </a:r>
          </a:p>
          <a:p>
            <a:pPr eaLnBrk="1" hangingPunct="1"/>
            <a:r>
              <a:rPr lang="en-US" altLang="en-US"/>
              <a:t>Enter number, then hit the CFj key.</a:t>
            </a:r>
          </a:p>
          <a:p>
            <a:pPr eaLnBrk="1" hangingPunct="1"/>
            <a:r>
              <a:rPr lang="en-US" altLang="en-US"/>
              <a:t>Repeat for all cash flows, in order.</a:t>
            </a:r>
          </a:p>
          <a:p>
            <a:pPr eaLnBrk="1" hangingPunct="1"/>
            <a:r>
              <a:rPr lang="en-US" altLang="en-US"/>
              <a:t>To find NPV: Enter interest rate (I/YR). Then Orange Shift key, then NPV key (in orange).</a:t>
            </a:r>
          </a:p>
        </p:txBody>
      </p:sp>
      <p:sp>
        <p:nvSpPr>
          <p:cNvPr id="1187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DA5B13-2FBE-4A24-8E18-DCE33A76051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/>
          </a:p>
        </p:txBody>
      </p:sp>
      <p:sp>
        <p:nvSpPr>
          <p:cNvPr id="11878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878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calculator: HP10BII (more)</a:t>
            </a:r>
          </a:p>
        </p:txBody>
      </p:sp>
      <p:sp>
        <p:nvSpPr>
          <p:cNvPr id="64518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see current cash flow in list, hit RCL CFj CFj</a:t>
            </a:r>
          </a:p>
          <a:p>
            <a:pPr eaLnBrk="1" hangingPunct="1"/>
            <a:r>
              <a:rPr lang="en-US" altLang="en-US"/>
              <a:t>To see previous CF, hit RCL CFj –</a:t>
            </a:r>
          </a:p>
          <a:p>
            <a:pPr eaLnBrk="1" hangingPunct="1"/>
            <a:r>
              <a:rPr lang="en-US" altLang="en-US"/>
              <a:t>To see subsequent CF, hit RCL CFj +</a:t>
            </a:r>
          </a:p>
          <a:p>
            <a:pPr eaLnBrk="1" hangingPunct="1"/>
            <a:r>
              <a:rPr lang="en-US" altLang="en-US"/>
              <a:t>To see CF 0-9, hit RCL CFj 1 (to see CF 1). To see CF 10-14, hit RCL CFj . (period) 1 (to see CF 11).</a:t>
            </a:r>
          </a:p>
        </p:txBody>
      </p:sp>
      <p:sp>
        <p:nvSpPr>
          <p:cNvPr id="1208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50D343-277D-4204-933B-FEE76D2F049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12083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083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CF &amp; HP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Input in “CFLO” register:</a:t>
            </a:r>
          </a:p>
          <a:p>
            <a:pPr lvl="1" eaLnBrk="1" hangingPunct="1"/>
            <a:r>
              <a:rPr lang="en-US" altLang="en-US"/>
              <a:t>CF0  =</a:t>
            </a:r>
          </a:p>
          <a:p>
            <a:pPr lvl="1" eaLnBrk="1" hangingPunct="1"/>
            <a:r>
              <a:rPr lang="en-US" altLang="en-US"/>
              <a:t>CF1  = </a:t>
            </a:r>
          </a:p>
          <a:p>
            <a:pPr lvl="1" eaLnBrk="1" hangingPunct="1"/>
            <a:r>
              <a:rPr lang="en-US" altLang="en-US"/>
              <a:t>CF2  = </a:t>
            </a:r>
          </a:p>
          <a:p>
            <a:pPr lvl="1" eaLnBrk="1" hangingPunct="1"/>
            <a:r>
              <a:rPr lang="en-US" altLang="en-US"/>
              <a:t>CF3  = </a:t>
            </a:r>
          </a:p>
          <a:p>
            <a:pPr lvl="1" eaLnBrk="1" hangingPunct="1"/>
            <a:r>
              <a:rPr lang="en-US" altLang="en-US"/>
              <a:t>CF4  =  </a:t>
            </a:r>
          </a:p>
          <a:p>
            <a:pPr lvl="1" eaLnBrk="1" hangingPunct="1"/>
            <a:r>
              <a:rPr lang="en-US" altLang="en-US"/>
              <a:t>Enter I/YR =   , then press NPV button to get NPV = ?              (Here NPV = PV.)</a:t>
            </a:r>
          </a:p>
        </p:txBody>
      </p:sp>
      <p:sp>
        <p:nvSpPr>
          <p:cNvPr id="1228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2AD7D0-FEFC-4C0D-A0AF-4797847B991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12288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88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Excel Formula in cell A3:      =NPV(10%,B2:E2)</a:t>
            </a:r>
          </a:p>
        </p:txBody>
      </p:sp>
      <p:sp>
        <p:nvSpPr>
          <p:cNvPr id="1249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E17E9B-CB67-4703-B552-05C45DA1210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/>
          </a:p>
        </p:txBody>
      </p:sp>
      <p:pic>
        <p:nvPicPr>
          <p:cNvPr id="124932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433638"/>
            <a:ext cx="66484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Nominal rate (I</a:t>
            </a:r>
            <a:r>
              <a:rPr lang="en-US" altLang="en-US" baseline="-25000"/>
              <a:t>NOM</a:t>
            </a:r>
            <a:r>
              <a:rPr lang="en-US" altLang="en-US"/>
              <a:t>)</a:t>
            </a:r>
          </a:p>
        </p:txBody>
      </p:sp>
      <p:sp>
        <p:nvSpPr>
          <p:cNvPr id="68614" name="Rectangle 9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/>
              <a:t>Stated in contracts, and  quoted by banks and brokers.</a:t>
            </a:r>
          </a:p>
          <a:p>
            <a:pPr eaLnBrk="1" hangingPunct="1"/>
            <a:r>
              <a:rPr lang="en-US" altLang="en-US"/>
              <a:t>Not necessarily used in calculations or shown on time lines if other than annual compounding</a:t>
            </a:r>
          </a:p>
          <a:p>
            <a:pPr eaLnBrk="1" hangingPunct="1"/>
            <a:r>
              <a:rPr lang="en-US" altLang="en-US"/>
              <a:t>Periods per year (M) must be given.</a:t>
            </a:r>
          </a:p>
          <a:p>
            <a:pPr eaLnBrk="1" hangingPunct="1"/>
            <a:r>
              <a:rPr lang="en-US" altLang="en-US"/>
              <a:t>Examples:</a:t>
            </a:r>
          </a:p>
          <a:p>
            <a:pPr lvl="1" eaLnBrk="1" hangingPunct="1"/>
            <a:r>
              <a:rPr lang="en-US" altLang="en-US"/>
              <a:t>8%; Quarterly</a:t>
            </a:r>
          </a:p>
          <a:p>
            <a:pPr lvl="1" eaLnBrk="1" hangingPunct="1"/>
            <a:r>
              <a:rPr lang="en-US" altLang="en-US"/>
              <a:t>8%, Daily interest (365 days)</a:t>
            </a:r>
          </a:p>
        </p:txBody>
      </p:sp>
      <p:sp>
        <p:nvSpPr>
          <p:cNvPr id="1269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F98489-E2B1-4C17-9B0E-183FA4DD44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/>
          </a:p>
        </p:txBody>
      </p:sp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Periodic rate (I</a:t>
            </a:r>
            <a:r>
              <a:rPr lang="en-US" altLang="en-US" baseline="-25000"/>
              <a:t>PER</a:t>
            </a:r>
            <a:r>
              <a:rPr lang="en-US" altLang="en-US"/>
              <a:t> )</a:t>
            </a:r>
          </a:p>
        </p:txBody>
      </p:sp>
      <p:sp>
        <p:nvSpPr>
          <p:cNvPr id="69638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5000"/>
              </a:lnSpc>
              <a:spcBef>
                <a:spcPct val="25000"/>
              </a:spcBef>
            </a:pPr>
            <a:r>
              <a:rPr lang="en-US" altLang="en-US" sz="2400"/>
              <a:t>I</a:t>
            </a:r>
            <a:r>
              <a:rPr lang="en-US" altLang="en-US" baseline="-25000"/>
              <a:t>PER</a:t>
            </a:r>
            <a:r>
              <a:rPr lang="en-US" altLang="en-US" sz="2400"/>
              <a:t> = I</a:t>
            </a:r>
            <a:r>
              <a:rPr lang="en-US" altLang="en-US" baseline="-25000"/>
              <a:t>NOM</a:t>
            </a:r>
            <a:r>
              <a:rPr lang="en-US" altLang="en-US" sz="2400"/>
              <a:t>/M, where M is number of compounding periods per year. M = 4 for quarterly, 12 for monthly, and 360 or 365 for daily compounding.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en-US" sz="2400"/>
              <a:t>Used in calculations, shown on time lines.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en-US" sz="2400"/>
              <a:t>Examples:</a:t>
            </a:r>
          </a:p>
          <a:p>
            <a:pPr lvl="1" eaLnBrk="1" hangingPunct="1">
              <a:lnSpc>
                <a:spcPct val="135000"/>
              </a:lnSpc>
            </a:pPr>
            <a:r>
              <a:rPr lang="en-US" altLang="en-US" sz="2000"/>
              <a:t>8% quarterly: I</a:t>
            </a:r>
            <a:r>
              <a:rPr lang="en-US" altLang="en-US" sz="2000" baseline="-25000"/>
              <a:t>PER</a:t>
            </a:r>
            <a:r>
              <a:rPr lang="en-US" altLang="en-US" sz="2000"/>
              <a:t> = 8%/4 = 2%.</a:t>
            </a:r>
          </a:p>
          <a:p>
            <a:pPr lvl="1" eaLnBrk="1" hangingPunct="1">
              <a:lnSpc>
                <a:spcPct val="135000"/>
              </a:lnSpc>
            </a:pPr>
            <a:r>
              <a:rPr lang="en-US" altLang="en-US" sz="2000"/>
              <a:t>8% daily (365): I</a:t>
            </a:r>
            <a:r>
              <a:rPr lang="en-US" altLang="en-US" sz="2000" baseline="-25000"/>
              <a:t>PER</a:t>
            </a:r>
            <a:r>
              <a:rPr lang="en-US" altLang="en-US" sz="2000"/>
              <a:t> = 8%/365 = 0.021918%.</a:t>
            </a:r>
          </a:p>
        </p:txBody>
      </p:sp>
      <p:sp>
        <p:nvSpPr>
          <p:cNvPr id="1290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86B10C-4565-4780-A040-AC010D9101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400"/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7" name="Rectangle 10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Impact of Compounding</a:t>
            </a:r>
          </a:p>
        </p:txBody>
      </p:sp>
      <p:sp>
        <p:nvSpPr>
          <p:cNvPr id="70662" name="Rectangle 10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Will the FV of a lump sum be larger or smaller if we compound more often, holding the stated I% constant?</a:t>
            </a:r>
          </a:p>
          <a:p>
            <a:pPr eaLnBrk="1" hangingPunct="1"/>
            <a:r>
              <a:rPr lang="en-US" altLang="en-US"/>
              <a:t>Why?</a:t>
            </a:r>
          </a:p>
        </p:txBody>
      </p:sp>
      <p:sp>
        <p:nvSpPr>
          <p:cNvPr id="131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7408B9-C915-4FD3-B47C-869ACFE45AF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/>
          </a:p>
        </p:txBody>
      </p:sp>
      <p:sp>
        <p:nvSpPr>
          <p:cNvPr id="131075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6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Impact of Compounding (Answer)</a:t>
            </a:r>
          </a:p>
        </p:txBody>
      </p:sp>
      <p:sp>
        <p:nvSpPr>
          <p:cNvPr id="71686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LARGER!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If compounding is more frequent than once a year--for example, semiannually, quarterly, or daily--interest is earned on interest more often.</a:t>
            </a:r>
          </a:p>
          <a:p>
            <a:pPr eaLnBrk="1" hangingPunct="1"/>
            <a:endParaRPr lang="en-US" altLang="en-US"/>
          </a:p>
        </p:txBody>
      </p:sp>
      <p:sp>
        <p:nvSpPr>
          <p:cNvPr id="133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3B615A-C096-4A18-A01F-EC372822C45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400"/>
          </a:p>
        </p:txBody>
      </p:sp>
      <p:sp>
        <p:nvSpPr>
          <p:cNvPr id="13312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12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5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FV Formula with Different Compounding Periods</a:t>
            </a:r>
          </a:p>
        </p:txBody>
      </p:sp>
      <p:sp>
        <p:nvSpPr>
          <p:cNvPr id="1351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5F5CB4-365E-4010-BE5B-1C16BC61D40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400"/>
          </a:p>
        </p:txBody>
      </p:sp>
      <p:sp>
        <p:nvSpPr>
          <p:cNvPr id="135172" name="Rectangle 16"/>
          <p:cNvSpPr>
            <a:spLocks noChangeArrowheads="1"/>
          </p:cNvSpPr>
          <p:nvPr/>
        </p:nvSpPr>
        <p:spPr bwMode="auto">
          <a:xfrm>
            <a:off x="2597150" y="3810000"/>
            <a:ext cx="2936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35173" name="Group 6"/>
          <p:cNvGrpSpPr>
            <a:grpSpLocks/>
          </p:cNvGrpSpPr>
          <p:nvPr/>
        </p:nvGrpSpPr>
        <p:grpSpPr bwMode="auto">
          <a:xfrm>
            <a:off x="1752600" y="3478213"/>
            <a:ext cx="4856163" cy="1262062"/>
            <a:chOff x="1104" y="2191"/>
            <a:chExt cx="3059" cy="795"/>
          </a:xfrm>
        </p:grpSpPr>
        <p:sp>
          <p:nvSpPr>
            <p:cNvPr id="135174" name="Rectangle 22"/>
            <p:cNvSpPr>
              <a:spLocks noChangeArrowheads="1"/>
            </p:cNvSpPr>
            <p:nvPr/>
          </p:nvSpPr>
          <p:spPr bwMode="auto">
            <a:xfrm>
              <a:off x="3128" y="2239"/>
              <a:ext cx="57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I</a:t>
              </a:r>
              <a:r>
                <a:rPr lang="en-US" altLang="en-US" baseline="-25000"/>
                <a:t>NOM</a:t>
              </a:r>
              <a:endParaRPr lang="en-US" altLang="en-US"/>
            </a:p>
          </p:txBody>
        </p:sp>
        <p:sp>
          <p:nvSpPr>
            <p:cNvPr id="135175" name="Line 14"/>
            <p:cNvSpPr>
              <a:spLocks noChangeShapeType="1"/>
            </p:cNvSpPr>
            <p:nvPr/>
          </p:nvSpPr>
          <p:spPr bwMode="auto">
            <a:xfrm>
              <a:off x="3168" y="26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76" name="Rectangle 15"/>
            <p:cNvSpPr>
              <a:spLocks noChangeArrowheads="1"/>
            </p:cNvSpPr>
            <p:nvPr/>
          </p:nvSpPr>
          <p:spPr bwMode="auto">
            <a:xfrm>
              <a:off x="1104" y="2400"/>
              <a:ext cx="196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FV</a:t>
              </a:r>
              <a:r>
                <a:rPr lang="en-US" altLang="en-US" baseline="-25000"/>
                <a:t>N</a:t>
              </a:r>
              <a:r>
                <a:rPr lang="en-US" altLang="en-US"/>
                <a:t> = PV   1   +</a:t>
              </a:r>
            </a:p>
          </p:txBody>
        </p:sp>
        <p:sp>
          <p:nvSpPr>
            <p:cNvPr id="135177" name="Rectangle 23"/>
            <p:cNvSpPr>
              <a:spLocks noChangeArrowheads="1"/>
            </p:cNvSpPr>
            <p:nvPr/>
          </p:nvSpPr>
          <p:spPr bwMode="auto">
            <a:xfrm>
              <a:off x="3241" y="2623"/>
              <a:ext cx="31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M</a:t>
              </a:r>
            </a:p>
          </p:txBody>
        </p:sp>
        <p:sp>
          <p:nvSpPr>
            <p:cNvPr id="135178" name="Rectangle 26"/>
            <p:cNvSpPr>
              <a:spLocks noChangeArrowheads="1"/>
            </p:cNvSpPr>
            <p:nvPr/>
          </p:nvSpPr>
          <p:spPr bwMode="auto">
            <a:xfrm>
              <a:off x="3769" y="2191"/>
              <a:ext cx="39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M N</a:t>
              </a:r>
            </a:p>
          </p:txBody>
        </p:sp>
        <p:sp>
          <p:nvSpPr>
            <p:cNvPr id="135179" name="AutoShape 4"/>
            <p:cNvSpPr>
              <a:spLocks/>
            </p:cNvSpPr>
            <p:nvPr/>
          </p:nvSpPr>
          <p:spPr bwMode="auto">
            <a:xfrm>
              <a:off x="3744" y="2256"/>
              <a:ext cx="48" cy="672"/>
            </a:xfrm>
            <a:prstGeom prst="rightBracket">
              <a:avLst>
                <a:gd name="adj" fmla="val 1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5180" name="AutoShape 5"/>
            <p:cNvSpPr>
              <a:spLocks/>
            </p:cNvSpPr>
            <p:nvPr/>
          </p:nvSpPr>
          <p:spPr bwMode="auto">
            <a:xfrm>
              <a:off x="2400" y="2256"/>
              <a:ext cx="48" cy="720"/>
            </a:xfrm>
            <a:prstGeom prst="leftBracket">
              <a:avLst>
                <a:gd name="adj" fmla="val 125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Rectangle 4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$100 at a 12% nominal rate with semiannual compounding for 5 years</a:t>
            </a:r>
            <a:r>
              <a:rPr lang="en-US" altLang="en-US" sz="4000"/>
              <a:t> </a:t>
            </a:r>
          </a:p>
        </p:txBody>
      </p:sp>
      <p:sp>
        <p:nvSpPr>
          <p:cNvPr id="1372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5CC027-EF0E-410D-B0AF-0A7071C4A2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400"/>
          </a:p>
        </p:txBody>
      </p:sp>
      <p:sp>
        <p:nvSpPr>
          <p:cNvPr id="137220" name="Rectangle 3"/>
          <p:cNvSpPr>
            <a:spLocks noChangeArrowheads="1"/>
          </p:cNvSpPr>
          <p:nvPr/>
        </p:nvSpPr>
        <p:spPr bwMode="auto">
          <a:xfrm>
            <a:off x="2600325" y="5105400"/>
            <a:ext cx="5400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  $100(1.06)</a:t>
            </a:r>
            <a:r>
              <a:rPr lang="en-US" altLang="en-US" baseline="30000"/>
              <a:t>10</a:t>
            </a:r>
            <a:r>
              <a:rPr lang="en-US" altLang="en-US"/>
              <a:t>    = $179.08</a:t>
            </a:r>
          </a:p>
        </p:txBody>
      </p:sp>
      <p:sp>
        <p:nvSpPr>
          <p:cNvPr id="137221" name="Rectangle 6"/>
          <p:cNvSpPr>
            <a:spLocks noChangeArrowheads="1"/>
          </p:cNvSpPr>
          <p:nvPr/>
        </p:nvSpPr>
        <p:spPr bwMode="auto">
          <a:xfrm>
            <a:off x="2566988" y="3179763"/>
            <a:ext cx="2936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7222" name="Rectangle 11"/>
          <p:cNvSpPr>
            <a:spLocks noChangeArrowheads="1"/>
          </p:cNvSpPr>
          <p:nvPr/>
        </p:nvSpPr>
        <p:spPr bwMode="auto">
          <a:xfrm>
            <a:off x="4749800" y="3179763"/>
            <a:ext cx="2936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7223" name="Rectangle 25"/>
          <p:cNvSpPr>
            <a:spLocks noChangeArrowheads="1"/>
          </p:cNvSpPr>
          <p:nvPr/>
        </p:nvSpPr>
        <p:spPr bwMode="auto">
          <a:xfrm>
            <a:off x="2544763" y="4681538"/>
            <a:ext cx="2936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7224" name="Rectangle 30"/>
          <p:cNvSpPr>
            <a:spLocks noChangeArrowheads="1"/>
          </p:cNvSpPr>
          <p:nvPr/>
        </p:nvSpPr>
        <p:spPr bwMode="auto">
          <a:xfrm>
            <a:off x="5084763" y="4681538"/>
            <a:ext cx="2936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37225" name="Group 42"/>
          <p:cNvGrpSpPr>
            <a:grpSpLocks/>
          </p:cNvGrpSpPr>
          <p:nvPr/>
        </p:nvGrpSpPr>
        <p:grpSpPr bwMode="auto">
          <a:xfrm>
            <a:off x="1849438" y="2209800"/>
            <a:ext cx="4856162" cy="1262063"/>
            <a:chOff x="1104" y="2191"/>
            <a:chExt cx="3059" cy="795"/>
          </a:xfrm>
        </p:grpSpPr>
        <p:sp>
          <p:nvSpPr>
            <p:cNvPr id="137234" name="Rectangle 43"/>
            <p:cNvSpPr>
              <a:spLocks noChangeArrowheads="1"/>
            </p:cNvSpPr>
            <p:nvPr/>
          </p:nvSpPr>
          <p:spPr bwMode="auto">
            <a:xfrm>
              <a:off x="3128" y="2239"/>
              <a:ext cx="57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I</a:t>
              </a:r>
              <a:r>
                <a:rPr lang="en-US" altLang="en-US" baseline="-25000"/>
                <a:t>NOM</a:t>
              </a:r>
              <a:endParaRPr lang="en-US" altLang="en-US"/>
            </a:p>
          </p:txBody>
        </p:sp>
        <p:sp>
          <p:nvSpPr>
            <p:cNvPr id="137235" name="Line 44"/>
            <p:cNvSpPr>
              <a:spLocks noChangeShapeType="1"/>
            </p:cNvSpPr>
            <p:nvPr/>
          </p:nvSpPr>
          <p:spPr bwMode="auto">
            <a:xfrm>
              <a:off x="3168" y="26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36" name="Rectangle 45"/>
            <p:cNvSpPr>
              <a:spLocks noChangeArrowheads="1"/>
            </p:cNvSpPr>
            <p:nvPr/>
          </p:nvSpPr>
          <p:spPr bwMode="auto">
            <a:xfrm>
              <a:off x="1104" y="2400"/>
              <a:ext cx="196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FV</a:t>
              </a:r>
              <a:r>
                <a:rPr lang="en-US" altLang="en-US" baseline="-25000"/>
                <a:t>N</a:t>
              </a:r>
              <a:r>
                <a:rPr lang="en-US" altLang="en-US"/>
                <a:t> = PV   1   +</a:t>
              </a:r>
            </a:p>
          </p:txBody>
        </p:sp>
        <p:sp>
          <p:nvSpPr>
            <p:cNvPr id="137237" name="Rectangle 46"/>
            <p:cNvSpPr>
              <a:spLocks noChangeArrowheads="1"/>
            </p:cNvSpPr>
            <p:nvPr/>
          </p:nvSpPr>
          <p:spPr bwMode="auto">
            <a:xfrm>
              <a:off x="3241" y="2623"/>
              <a:ext cx="31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M</a:t>
              </a:r>
            </a:p>
          </p:txBody>
        </p:sp>
        <p:sp>
          <p:nvSpPr>
            <p:cNvPr id="137238" name="Rectangle 47"/>
            <p:cNvSpPr>
              <a:spLocks noChangeArrowheads="1"/>
            </p:cNvSpPr>
            <p:nvPr/>
          </p:nvSpPr>
          <p:spPr bwMode="auto">
            <a:xfrm>
              <a:off x="3769" y="2191"/>
              <a:ext cx="39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M N</a:t>
              </a:r>
            </a:p>
          </p:txBody>
        </p:sp>
        <p:sp>
          <p:nvSpPr>
            <p:cNvPr id="137239" name="AutoShape 48"/>
            <p:cNvSpPr>
              <a:spLocks/>
            </p:cNvSpPr>
            <p:nvPr/>
          </p:nvSpPr>
          <p:spPr bwMode="auto">
            <a:xfrm>
              <a:off x="3744" y="2256"/>
              <a:ext cx="48" cy="672"/>
            </a:xfrm>
            <a:prstGeom prst="rightBracket">
              <a:avLst>
                <a:gd name="adj" fmla="val 1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7240" name="AutoShape 49"/>
            <p:cNvSpPr>
              <a:spLocks/>
            </p:cNvSpPr>
            <p:nvPr/>
          </p:nvSpPr>
          <p:spPr bwMode="auto">
            <a:xfrm>
              <a:off x="2400" y="2256"/>
              <a:ext cx="48" cy="720"/>
            </a:xfrm>
            <a:prstGeom prst="leftBracket">
              <a:avLst>
                <a:gd name="adj" fmla="val 125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37226" name="Group 59"/>
          <p:cNvGrpSpPr>
            <a:grpSpLocks/>
          </p:cNvGrpSpPr>
          <p:nvPr/>
        </p:nvGrpSpPr>
        <p:grpSpPr bwMode="auto">
          <a:xfrm>
            <a:off x="1752600" y="3657600"/>
            <a:ext cx="4986338" cy="1262063"/>
            <a:chOff x="1056" y="2160"/>
            <a:chExt cx="3141" cy="795"/>
          </a:xfrm>
        </p:grpSpPr>
        <p:sp>
          <p:nvSpPr>
            <p:cNvPr id="137227" name="Rectangle 51"/>
            <p:cNvSpPr>
              <a:spLocks noChangeArrowheads="1"/>
            </p:cNvSpPr>
            <p:nvPr/>
          </p:nvSpPr>
          <p:spPr bwMode="auto">
            <a:xfrm>
              <a:off x="3189" y="2208"/>
              <a:ext cx="61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0.12</a:t>
              </a:r>
            </a:p>
          </p:txBody>
        </p:sp>
        <p:sp>
          <p:nvSpPr>
            <p:cNvPr id="137228" name="Line 52"/>
            <p:cNvSpPr>
              <a:spLocks noChangeShapeType="1"/>
            </p:cNvSpPr>
            <p:nvPr/>
          </p:nvSpPr>
          <p:spPr bwMode="auto">
            <a:xfrm>
              <a:off x="3229" y="2609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9" name="Rectangle 53"/>
            <p:cNvSpPr>
              <a:spLocks noChangeArrowheads="1"/>
            </p:cNvSpPr>
            <p:nvPr/>
          </p:nvSpPr>
          <p:spPr bwMode="auto">
            <a:xfrm>
              <a:off x="1056" y="2369"/>
              <a:ext cx="219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FV</a:t>
              </a:r>
              <a:r>
                <a:rPr lang="en-US" altLang="en-US" baseline="-25000"/>
                <a:t>5S</a:t>
              </a:r>
              <a:r>
                <a:rPr lang="en-US" altLang="en-US"/>
                <a:t> = $100   1 +</a:t>
              </a:r>
            </a:p>
          </p:txBody>
        </p:sp>
        <p:sp>
          <p:nvSpPr>
            <p:cNvPr id="137230" name="Rectangle 54"/>
            <p:cNvSpPr>
              <a:spLocks noChangeArrowheads="1"/>
            </p:cNvSpPr>
            <p:nvPr/>
          </p:nvSpPr>
          <p:spPr bwMode="auto">
            <a:xfrm>
              <a:off x="3346" y="2592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37231" name="Rectangle 55"/>
            <p:cNvSpPr>
              <a:spLocks noChangeArrowheads="1"/>
            </p:cNvSpPr>
            <p:nvPr/>
          </p:nvSpPr>
          <p:spPr bwMode="auto">
            <a:xfrm>
              <a:off x="3830" y="2160"/>
              <a:ext cx="36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2x5</a:t>
              </a:r>
            </a:p>
          </p:txBody>
        </p:sp>
        <p:sp>
          <p:nvSpPr>
            <p:cNvPr id="137232" name="AutoShape 56"/>
            <p:cNvSpPr>
              <a:spLocks/>
            </p:cNvSpPr>
            <p:nvPr/>
          </p:nvSpPr>
          <p:spPr bwMode="auto">
            <a:xfrm>
              <a:off x="3805" y="2225"/>
              <a:ext cx="48" cy="672"/>
            </a:xfrm>
            <a:prstGeom prst="rightBracket">
              <a:avLst>
                <a:gd name="adj" fmla="val 1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7233" name="AutoShape 57"/>
            <p:cNvSpPr>
              <a:spLocks/>
            </p:cNvSpPr>
            <p:nvPr/>
          </p:nvSpPr>
          <p:spPr bwMode="auto">
            <a:xfrm>
              <a:off x="2640" y="2225"/>
              <a:ext cx="48" cy="720"/>
            </a:xfrm>
            <a:prstGeom prst="leftBracket">
              <a:avLst>
                <a:gd name="adj" fmla="val 125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FV of $100 at a 12% nominal rate for 5 years with different compounding</a:t>
            </a:r>
          </a:p>
        </p:txBody>
      </p:sp>
      <p:sp>
        <p:nvSpPr>
          <p:cNvPr id="1392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297DB7-B844-4EB2-9C11-60684DA9D2D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400"/>
          </a:p>
        </p:txBody>
      </p:sp>
      <p:sp>
        <p:nvSpPr>
          <p:cNvPr id="139268" name="Rectangle 37"/>
          <p:cNvSpPr>
            <a:spLocks noChangeArrowheads="1"/>
          </p:cNvSpPr>
          <p:nvPr/>
        </p:nvSpPr>
        <p:spPr bwMode="auto">
          <a:xfrm>
            <a:off x="0" y="2741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59414" name="Group 22"/>
          <p:cNvGraphicFramePr>
            <a:graphicFrameLocks noGrp="1"/>
          </p:cNvGraphicFramePr>
          <p:nvPr/>
        </p:nvGraphicFramePr>
        <p:xfrm>
          <a:off x="457200" y="2514600"/>
          <a:ext cx="8382000" cy="3017839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497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FV(Ann.)</a:t>
                      </a:r>
                      <a:endParaRPr kumimoji="0" lang="en-U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FV=100;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=12%; n=5 $100(1.12)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US" sz="4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</a:t>
                      </a:r>
                      <a:endParaRPr kumimoji="0" lang="en-U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FV(Semi.)</a:t>
                      </a:r>
                      <a:endParaRPr kumimoji="0" 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FV=  ? ;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    , n=5%</a:t>
                      </a:r>
                      <a:endParaRPr kumimoji="0" lang="en-US" sz="4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</a:t>
                      </a:r>
                      <a:endParaRPr kumimoji="0" lang="en-U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FV(Quar.)</a:t>
                      </a:r>
                      <a:endParaRPr kumimoji="0" 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$100(1.03)</a:t>
                      </a:r>
                      <a:r>
                        <a:rPr kumimoji="0" lang="en-US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</a:t>
                      </a:r>
                      <a:endParaRPr kumimoji="0" lang="en-US" sz="4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</a:t>
                      </a:r>
                      <a:endParaRPr kumimoji="0" lang="en-U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FV(Mon.)</a:t>
                      </a:r>
                      <a:endParaRPr kumimoji="0" 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$100(1.01)</a:t>
                      </a:r>
                      <a:r>
                        <a:rPr kumimoji="0" lang="en-US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60</a:t>
                      </a:r>
                      <a:endParaRPr kumimoji="0" lang="en-US" sz="4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</a:t>
                      </a:r>
                      <a:endParaRPr kumimoji="0" lang="en-U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FV(Daily)</a:t>
                      </a:r>
                      <a:endParaRPr kumimoji="0" 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$100(1+(0.12/365))</a:t>
                      </a:r>
                      <a:r>
                        <a:rPr kumimoji="0" lang="en-US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(5x365)</a:t>
                      </a:r>
                      <a:endParaRPr kumimoji="0" lang="en-US" sz="4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= $</a:t>
                      </a:r>
                      <a:endParaRPr kumimoji="0" lang="en-U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Nominal vs. Effective Rates</a:t>
            </a:r>
            <a:br>
              <a:rPr lang="en-US" altLang="en-US"/>
            </a:br>
            <a:r>
              <a:rPr lang="en-US" altLang="en-US"/>
              <a:t> (APR vs.  EAR or Eff)</a:t>
            </a:r>
          </a:p>
        </p:txBody>
      </p:sp>
      <p:sp>
        <p:nvSpPr>
          <p:cNvPr id="141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$100 today, 10% nominal rate compounded annually vs. semi-annually.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Effective Annual Rate (EAR = EFF%)</a:t>
            </a:r>
          </a:p>
        </p:txBody>
      </p:sp>
      <p:sp>
        <p:nvSpPr>
          <p:cNvPr id="142342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EAR is the annual rate that causes PV to grow to the same FV as under multi-period compounding.</a:t>
            </a:r>
          </a:p>
        </p:txBody>
      </p:sp>
      <p:sp>
        <p:nvSpPr>
          <p:cNvPr id="142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ED8FB2-2366-4C38-8427-E4CE7BC03FC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400"/>
          </a:p>
        </p:txBody>
      </p:sp>
      <p:sp>
        <p:nvSpPr>
          <p:cNvPr id="14233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4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Effective Annual Rate Example</a:t>
            </a:r>
          </a:p>
        </p:txBody>
      </p:sp>
      <p:sp>
        <p:nvSpPr>
          <p:cNvPr id="77830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800"/>
              <a:t>Example:  Invest $1 for one year at 12%, semiannual:</a:t>
            </a:r>
          </a:p>
          <a:p>
            <a:pPr eaLnBrk="1" hangingPunct="1">
              <a:spcBef>
                <a:spcPct val="25000"/>
              </a:spcBef>
              <a:spcAft>
                <a:spcPct val="5000"/>
              </a:spcAft>
              <a:buFont typeface="Wingdings" panose="05000000000000000000" pitchFamily="2" charset="2"/>
              <a:buNone/>
            </a:pPr>
            <a:r>
              <a:rPr lang="en-US" altLang="en-US" sz="2800"/>
              <a:t> 		</a:t>
            </a:r>
            <a:r>
              <a:rPr lang="en-US" altLang="en-US" sz="2000"/>
              <a:t>FV = PV(1 + I</a:t>
            </a:r>
            <a:r>
              <a:rPr lang="en-US" altLang="en-US" sz="2000" baseline="-25000"/>
              <a:t>NOM</a:t>
            </a:r>
            <a:r>
              <a:rPr lang="en-US" altLang="en-US" sz="2000"/>
              <a:t>/M)</a:t>
            </a:r>
            <a:r>
              <a:rPr lang="en-US" altLang="en-US" sz="2000" baseline="30000"/>
              <a:t>M</a:t>
            </a:r>
            <a:r>
              <a:rPr lang="en-US" altLang="en-US" sz="20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		FV = $1 (1.06)</a:t>
            </a:r>
            <a:r>
              <a:rPr lang="en-US" altLang="en-US" sz="2000" baseline="30000"/>
              <a:t>2</a:t>
            </a:r>
            <a:r>
              <a:rPr lang="en-US" altLang="en-US" sz="2000"/>
              <a:t>  = $1.1236.</a:t>
            </a:r>
          </a:p>
          <a:p>
            <a:pPr eaLnBrk="1" hangingPunct="1"/>
            <a:r>
              <a:rPr lang="en-US" altLang="en-US" sz="2800"/>
              <a:t>EFF% = 12.36%, because $1 invested for one year at 12% semiannual compounding would grow to the same value as $1 invested for one year at 12.36% annual compounding.</a:t>
            </a:r>
          </a:p>
          <a:p>
            <a:pPr lvl="1" eaLnBrk="1" hangingPunct="1"/>
            <a:r>
              <a:rPr lang="en-US" altLang="en-US" sz="2400"/>
              <a:t>Nom=12%; p/yr=2; Eff%= 12.36%</a:t>
            </a:r>
          </a:p>
          <a:p>
            <a:pPr lvl="1" eaLnBrk="1" hangingPunct="1"/>
            <a:r>
              <a:rPr lang="en-US" altLang="en-US" sz="2400"/>
              <a:t>In Excel: EFFECT(NomRate, Npery)</a:t>
            </a:r>
          </a:p>
          <a:p>
            <a:pPr lvl="1" eaLnBrk="1" hangingPunct="1"/>
            <a:r>
              <a:rPr lang="en-US" altLang="en-US" sz="2400"/>
              <a:t>=EFFECT(0.12,2) = 12.36%</a:t>
            </a:r>
          </a:p>
          <a:p>
            <a:pPr eaLnBrk="1" hangingPunct="1"/>
            <a:endParaRPr lang="en-US" altLang="en-US" sz="2800"/>
          </a:p>
        </p:txBody>
      </p:sp>
      <p:sp>
        <p:nvSpPr>
          <p:cNvPr id="144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7778B9-E546-4AB4-A231-BF9A1E3AD63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400"/>
          </a:p>
        </p:txBody>
      </p:sp>
      <p:sp>
        <p:nvSpPr>
          <p:cNvPr id="14438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438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0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Comparing Rates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investment with monthly payments is different from one with quarterly payments.  Must put on EFF% basis to compare rates of return.  Use EFF% only for comparisons.</a:t>
            </a:r>
          </a:p>
          <a:p>
            <a:pPr eaLnBrk="1" hangingPunct="1"/>
            <a:r>
              <a:rPr lang="en-US" altLang="en-US"/>
              <a:t>Banks say “interest paid daily.”  Same as compounded daily.</a:t>
            </a:r>
          </a:p>
        </p:txBody>
      </p:sp>
      <p:sp>
        <p:nvSpPr>
          <p:cNvPr id="146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5EEBDB-5B6F-438E-A0D0-E295DC782D1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400"/>
          </a:p>
        </p:txBody>
      </p:sp>
      <p:sp>
        <p:nvSpPr>
          <p:cNvPr id="14643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643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EFF% for a nominal rate of 12%, compounded semiannually</a:t>
            </a:r>
          </a:p>
        </p:txBody>
      </p:sp>
      <p:sp>
        <p:nvSpPr>
          <p:cNvPr id="14848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D31B47-A649-4826-9231-21F9A66C971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400"/>
          </a:p>
        </p:txBody>
      </p:sp>
      <p:grpSp>
        <p:nvGrpSpPr>
          <p:cNvPr id="148483" name="Group 36"/>
          <p:cNvGrpSpPr>
            <a:grpSpLocks/>
          </p:cNvGrpSpPr>
          <p:nvPr/>
        </p:nvGrpSpPr>
        <p:grpSpPr bwMode="auto">
          <a:xfrm>
            <a:off x="1925638" y="2209800"/>
            <a:ext cx="5618162" cy="1262063"/>
            <a:chOff x="1213" y="1392"/>
            <a:chExt cx="3539" cy="795"/>
          </a:xfrm>
        </p:grpSpPr>
        <p:sp>
          <p:nvSpPr>
            <p:cNvPr id="148498" name="Rectangle 12"/>
            <p:cNvSpPr>
              <a:spLocks noChangeArrowheads="1"/>
            </p:cNvSpPr>
            <p:nvPr/>
          </p:nvSpPr>
          <p:spPr bwMode="auto">
            <a:xfrm>
              <a:off x="1213" y="1601"/>
              <a:ext cx="353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EFF% =     1  +              − 1</a:t>
              </a:r>
            </a:p>
          </p:txBody>
        </p:sp>
        <p:sp>
          <p:nvSpPr>
            <p:cNvPr id="148499" name="Rectangle 10"/>
            <p:cNvSpPr>
              <a:spLocks noChangeArrowheads="1"/>
            </p:cNvSpPr>
            <p:nvPr/>
          </p:nvSpPr>
          <p:spPr bwMode="auto">
            <a:xfrm>
              <a:off x="3237" y="1440"/>
              <a:ext cx="57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I</a:t>
              </a:r>
              <a:r>
                <a:rPr lang="en-US" altLang="en-US" baseline="-25000"/>
                <a:t>NOM</a:t>
              </a:r>
              <a:endParaRPr lang="en-US" altLang="en-US"/>
            </a:p>
          </p:txBody>
        </p:sp>
        <p:sp>
          <p:nvSpPr>
            <p:cNvPr id="148500" name="Line 11"/>
            <p:cNvSpPr>
              <a:spLocks noChangeShapeType="1"/>
            </p:cNvSpPr>
            <p:nvPr/>
          </p:nvSpPr>
          <p:spPr bwMode="auto">
            <a:xfrm>
              <a:off x="3277" y="1841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501" name="Rectangle 13"/>
            <p:cNvSpPr>
              <a:spLocks noChangeArrowheads="1"/>
            </p:cNvSpPr>
            <p:nvPr/>
          </p:nvSpPr>
          <p:spPr bwMode="auto">
            <a:xfrm>
              <a:off x="3350" y="1824"/>
              <a:ext cx="311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M</a:t>
              </a:r>
            </a:p>
          </p:txBody>
        </p:sp>
        <p:sp>
          <p:nvSpPr>
            <p:cNvPr id="148502" name="Rectangle 14"/>
            <p:cNvSpPr>
              <a:spLocks noChangeArrowheads="1"/>
            </p:cNvSpPr>
            <p:nvPr/>
          </p:nvSpPr>
          <p:spPr bwMode="auto">
            <a:xfrm>
              <a:off x="3878" y="1392"/>
              <a:ext cx="28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M </a:t>
              </a:r>
            </a:p>
          </p:txBody>
        </p:sp>
        <p:sp>
          <p:nvSpPr>
            <p:cNvPr id="148503" name="AutoShape 15"/>
            <p:cNvSpPr>
              <a:spLocks/>
            </p:cNvSpPr>
            <p:nvPr/>
          </p:nvSpPr>
          <p:spPr bwMode="auto">
            <a:xfrm>
              <a:off x="3853" y="1457"/>
              <a:ext cx="48" cy="672"/>
            </a:xfrm>
            <a:prstGeom prst="rightBracket">
              <a:avLst>
                <a:gd name="adj" fmla="val 1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8504" name="AutoShape 16"/>
            <p:cNvSpPr>
              <a:spLocks/>
            </p:cNvSpPr>
            <p:nvPr/>
          </p:nvSpPr>
          <p:spPr bwMode="auto">
            <a:xfrm>
              <a:off x="2509" y="1457"/>
              <a:ext cx="48" cy="720"/>
            </a:xfrm>
            <a:prstGeom prst="leftBracket">
              <a:avLst>
                <a:gd name="adj" fmla="val 125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48485" name="Rectangle 4"/>
          <p:cNvSpPr>
            <a:spLocks noChangeArrowheads="1"/>
          </p:cNvSpPr>
          <p:nvPr/>
        </p:nvSpPr>
        <p:spPr bwMode="auto">
          <a:xfrm>
            <a:off x="2566988" y="3179763"/>
            <a:ext cx="2936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8486" name="Rectangle 5"/>
          <p:cNvSpPr>
            <a:spLocks noChangeArrowheads="1"/>
          </p:cNvSpPr>
          <p:nvPr/>
        </p:nvSpPr>
        <p:spPr bwMode="auto">
          <a:xfrm>
            <a:off x="4749800" y="3179763"/>
            <a:ext cx="2936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8487" name="Rectangle 6"/>
          <p:cNvSpPr>
            <a:spLocks noChangeArrowheads="1"/>
          </p:cNvSpPr>
          <p:nvPr/>
        </p:nvSpPr>
        <p:spPr bwMode="auto">
          <a:xfrm>
            <a:off x="2544763" y="4681538"/>
            <a:ext cx="2936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8488" name="Rectangle 7"/>
          <p:cNvSpPr>
            <a:spLocks noChangeArrowheads="1"/>
          </p:cNvSpPr>
          <p:nvPr/>
        </p:nvSpPr>
        <p:spPr bwMode="auto">
          <a:xfrm>
            <a:off x="5084763" y="4681538"/>
            <a:ext cx="2936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48489" name="Group 37"/>
          <p:cNvGrpSpPr>
            <a:grpSpLocks/>
          </p:cNvGrpSpPr>
          <p:nvPr/>
        </p:nvGrpSpPr>
        <p:grpSpPr bwMode="auto">
          <a:xfrm>
            <a:off x="2057400" y="3462338"/>
            <a:ext cx="5618163" cy="1262062"/>
            <a:chOff x="1296" y="2181"/>
            <a:chExt cx="3539" cy="795"/>
          </a:xfrm>
        </p:grpSpPr>
        <p:sp>
          <p:nvSpPr>
            <p:cNvPr id="148491" name="Rectangle 29"/>
            <p:cNvSpPr>
              <a:spLocks noChangeArrowheads="1"/>
            </p:cNvSpPr>
            <p:nvPr/>
          </p:nvSpPr>
          <p:spPr bwMode="auto">
            <a:xfrm>
              <a:off x="1296" y="2390"/>
              <a:ext cx="353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=     1   +              − 1</a:t>
              </a:r>
            </a:p>
          </p:txBody>
        </p:sp>
        <p:sp>
          <p:nvSpPr>
            <p:cNvPr id="148492" name="Rectangle 27"/>
            <p:cNvSpPr>
              <a:spLocks noChangeArrowheads="1"/>
            </p:cNvSpPr>
            <p:nvPr/>
          </p:nvSpPr>
          <p:spPr bwMode="auto">
            <a:xfrm>
              <a:off x="3320" y="2229"/>
              <a:ext cx="61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0.12</a:t>
              </a:r>
            </a:p>
          </p:txBody>
        </p:sp>
        <p:sp>
          <p:nvSpPr>
            <p:cNvPr id="148493" name="Line 28"/>
            <p:cNvSpPr>
              <a:spLocks noChangeShapeType="1"/>
            </p:cNvSpPr>
            <p:nvPr/>
          </p:nvSpPr>
          <p:spPr bwMode="auto">
            <a:xfrm>
              <a:off x="3360" y="263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494" name="Rectangle 30"/>
            <p:cNvSpPr>
              <a:spLocks noChangeArrowheads="1"/>
            </p:cNvSpPr>
            <p:nvPr/>
          </p:nvSpPr>
          <p:spPr bwMode="auto">
            <a:xfrm>
              <a:off x="3433" y="261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48495" name="Rectangle 31"/>
            <p:cNvSpPr>
              <a:spLocks noChangeArrowheads="1"/>
            </p:cNvSpPr>
            <p:nvPr/>
          </p:nvSpPr>
          <p:spPr bwMode="auto">
            <a:xfrm>
              <a:off x="3961" y="2181"/>
              <a:ext cx="25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2 </a:t>
              </a:r>
            </a:p>
          </p:txBody>
        </p:sp>
        <p:sp>
          <p:nvSpPr>
            <p:cNvPr id="148496" name="AutoShape 32"/>
            <p:cNvSpPr>
              <a:spLocks/>
            </p:cNvSpPr>
            <p:nvPr/>
          </p:nvSpPr>
          <p:spPr bwMode="auto">
            <a:xfrm>
              <a:off x="3936" y="2246"/>
              <a:ext cx="48" cy="672"/>
            </a:xfrm>
            <a:prstGeom prst="rightBracket">
              <a:avLst>
                <a:gd name="adj" fmla="val 1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8497" name="AutoShape 33"/>
            <p:cNvSpPr>
              <a:spLocks/>
            </p:cNvSpPr>
            <p:nvPr/>
          </p:nvSpPr>
          <p:spPr bwMode="auto">
            <a:xfrm>
              <a:off x="2544" y="2246"/>
              <a:ext cx="48" cy="720"/>
            </a:xfrm>
            <a:prstGeom prst="leftBracket">
              <a:avLst>
                <a:gd name="adj" fmla="val 125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48490" name="Text Box 35"/>
          <p:cNvSpPr txBox="1">
            <a:spLocks noChangeArrowheads="1"/>
          </p:cNvSpPr>
          <p:nvPr/>
        </p:nvSpPr>
        <p:spPr bwMode="auto">
          <a:xfrm>
            <a:off x="3124200" y="5067300"/>
            <a:ext cx="4114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 (1.06)</a:t>
            </a:r>
            <a:r>
              <a:rPr lang="en-US" altLang="en-US" baseline="30000"/>
              <a:t>2</a:t>
            </a:r>
            <a:r>
              <a:rPr lang="en-US" altLang="en-US"/>
              <a:t> - 1.0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 0.1236 = 12.36%.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EFF with HP10BII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in nominal rate, then Orange Shift key, then NOM% key (in orange). </a:t>
            </a:r>
          </a:p>
          <a:p>
            <a:pPr eaLnBrk="1" hangingPunct="1"/>
            <a:r>
              <a:rPr lang="en-US" altLang="en-US"/>
              <a:t>Type in number of periods, then Orange Shift key, then P/YR key (in orange).</a:t>
            </a:r>
          </a:p>
          <a:p>
            <a:pPr eaLnBrk="1" hangingPunct="1"/>
            <a:r>
              <a:rPr lang="en-US" altLang="en-US"/>
              <a:t>To find effective rate, hit  Orange Shift key, then EFF% key (in orange).</a:t>
            </a:r>
          </a:p>
        </p:txBody>
      </p:sp>
      <p:sp>
        <p:nvSpPr>
          <p:cNvPr id="150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1E5457-C062-4B6D-8B93-3A13FFE7D2D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EAR (or EFF%) for a Nominal Rate of  12% (APR)</a:t>
            </a:r>
          </a:p>
        </p:txBody>
      </p:sp>
      <p:sp>
        <p:nvSpPr>
          <p:cNvPr id="152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3E6DA5-E995-4658-9240-8A33BACBE15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400"/>
          </a:p>
        </p:txBody>
      </p:sp>
      <p:sp>
        <p:nvSpPr>
          <p:cNvPr id="15257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258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785813" y="2414588"/>
            <a:ext cx="7572375" cy="310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1812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812925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812925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8129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812925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8129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8129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8129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8129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65300" algn="l"/>
                <a:tab pos="2160588" algn="l"/>
                <a:tab pos="5435600" algn="l"/>
                <a:tab pos="57610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 err="1"/>
              <a:t>EAR</a:t>
            </a:r>
            <a:r>
              <a:rPr lang="en-US" altLang="en-US" sz="2800" baseline="-25000" dirty="0" err="1"/>
              <a:t>Annual</a:t>
            </a:r>
            <a:r>
              <a:rPr lang="en-US" altLang="en-US" sz="2800" dirty="0"/>
              <a:t>			=	 12%.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EAR</a:t>
            </a:r>
            <a:r>
              <a:rPr lang="en-US" altLang="en-US" sz="2800" baseline="-25000" dirty="0"/>
              <a:t>Q</a:t>
            </a:r>
            <a:r>
              <a:rPr lang="en-US" altLang="en-US" sz="2800" dirty="0"/>
              <a:t>	=	4 p/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	=	 12.55%.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EAR</a:t>
            </a:r>
            <a:r>
              <a:rPr lang="en-US" altLang="en-US" sz="2800" baseline="-25000" dirty="0"/>
              <a:t>M</a:t>
            </a:r>
            <a:r>
              <a:rPr lang="en-US" altLang="en-US" sz="2800" dirty="0"/>
              <a:t>	=	12 p/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	=	 12.68%.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EAR</a:t>
            </a:r>
            <a:r>
              <a:rPr lang="en-US" altLang="en-US" sz="2800" baseline="-25000" dirty="0"/>
              <a:t>D(365)</a:t>
            </a:r>
            <a:r>
              <a:rPr lang="en-US" altLang="en-US" sz="2800" dirty="0"/>
              <a:t>	=	365 p/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	=	 12.75%.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9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Can effective rate ever be equal to nominal?</a:t>
            </a:r>
          </a:p>
        </p:txBody>
      </p:sp>
      <p:sp>
        <p:nvSpPr>
          <p:cNvPr id="82950" name="Rectangle 1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Yes, but only if annual compounding is used, i.e., if p/yr = 1.</a:t>
            </a:r>
          </a:p>
          <a:p>
            <a:pPr eaLnBrk="1" hangingPunct="1"/>
            <a:r>
              <a:rPr lang="en-US" altLang="en-US"/>
              <a:t>If p/yr &gt; 1, EFF% will always be greater than nominal.</a:t>
            </a:r>
          </a:p>
        </p:txBody>
      </p:sp>
      <p:sp>
        <p:nvSpPr>
          <p:cNvPr id="154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D7B070-9BCA-404B-9832-D3D515C23E9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en-US" sz="1400"/>
          </a:p>
        </p:txBody>
      </p:sp>
      <p:sp>
        <p:nvSpPr>
          <p:cNvPr id="15462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462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0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is each rate used?</a:t>
            </a:r>
          </a:p>
        </p:txBody>
      </p:sp>
      <p:sp>
        <p:nvSpPr>
          <p:cNvPr id="1566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7883BF-53D8-4D82-BA46-9F2F64B52D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400"/>
          </a:p>
        </p:txBody>
      </p:sp>
      <p:grpSp>
        <p:nvGrpSpPr>
          <p:cNvPr id="156676" name="Group 0"/>
          <p:cNvGrpSpPr>
            <a:grpSpLocks/>
          </p:cNvGrpSpPr>
          <p:nvPr/>
        </p:nvGrpSpPr>
        <p:grpSpPr bwMode="auto">
          <a:xfrm>
            <a:off x="1143000" y="2362200"/>
            <a:ext cx="7467600" cy="2552700"/>
            <a:chOff x="745" y="2160"/>
            <a:chExt cx="4704" cy="1608"/>
          </a:xfrm>
        </p:grpSpPr>
        <p:sp>
          <p:nvSpPr>
            <p:cNvPr id="156677" name="Rectangle 6"/>
            <p:cNvSpPr>
              <a:spLocks noChangeArrowheads="1"/>
            </p:cNvSpPr>
            <p:nvPr/>
          </p:nvSpPr>
          <p:spPr bwMode="auto">
            <a:xfrm>
              <a:off x="745" y="2160"/>
              <a:ext cx="816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I</a:t>
              </a:r>
              <a:r>
                <a:rPr lang="en-US" altLang="en-US" baseline="-25000"/>
                <a:t>NOM</a:t>
              </a:r>
              <a:r>
                <a:rPr lang="en-US" altLang="en-US"/>
                <a:t>:</a:t>
              </a:r>
            </a:p>
          </p:txBody>
        </p:sp>
        <p:sp>
          <p:nvSpPr>
            <p:cNvPr id="156678" name="Rectangle 7"/>
            <p:cNvSpPr>
              <a:spLocks noChangeArrowheads="1"/>
            </p:cNvSpPr>
            <p:nvPr/>
          </p:nvSpPr>
          <p:spPr bwMode="auto">
            <a:xfrm>
              <a:off x="1605" y="2160"/>
              <a:ext cx="3844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Written into contracts, quoted by banks and brokers.  </a:t>
              </a:r>
              <a:r>
                <a:rPr lang="en-US" altLang="en-US" u="sng"/>
                <a:t>Not</a:t>
              </a:r>
              <a:r>
                <a:rPr lang="en-US" altLang="en-US"/>
                <a:t> used in calculations or shown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on time lines, unless annual compounding.</a:t>
              </a:r>
            </a:p>
          </p:txBody>
        </p:sp>
      </p:grp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Rectangle 205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is each rate used? (Continued)</a:t>
            </a:r>
          </a:p>
        </p:txBody>
      </p:sp>
      <p:sp>
        <p:nvSpPr>
          <p:cNvPr id="1587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E871F0-041B-44F4-BF5A-1D3987A11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400"/>
          </a:p>
        </p:txBody>
      </p:sp>
      <p:grpSp>
        <p:nvGrpSpPr>
          <p:cNvPr id="158723" name="Group 1035"/>
          <p:cNvGrpSpPr>
            <a:grpSpLocks/>
          </p:cNvGrpSpPr>
          <p:nvPr/>
        </p:nvGrpSpPr>
        <p:grpSpPr bwMode="auto">
          <a:xfrm>
            <a:off x="1371600" y="2438400"/>
            <a:ext cx="7394575" cy="3468688"/>
            <a:chOff x="864" y="2112"/>
            <a:chExt cx="4658" cy="1591"/>
          </a:xfrm>
        </p:grpSpPr>
        <p:sp>
          <p:nvSpPr>
            <p:cNvPr id="158725" name="Rectangle 2052"/>
            <p:cNvSpPr>
              <a:spLocks noChangeArrowheads="1"/>
            </p:cNvSpPr>
            <p:nvPr/>
          </p:nvSpPr>
          <p:spPr bwMode="auto">
            <a:xfrm>
              <a:off x="864" y="2112"/>
              <a:ext cx="61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I</a:t>
              </a:r>
              <a:r>
                <a:rPr lang="en-US" altLang="en-US" baseline="-25000"/>
                <a:t>PER</a:t>
              </a:r>
              <a:r>
                <a:rPr lang="en-US" altLang="en-US"/>
                <a:t>:</a:t>
              </a:r>
            </a:p>
          </p:txBody>
        </p:sp>
        <p:sp>
          <p:nvSpPr>
            <p:cNvPr id="158726" name="Rectangle 2053"/>
            <p:cNvSpPr>
              <a:spLocks noChangeArrowheads="1"/>
            </p:cNvSpPr>
            <p:nvPr/>
          </p:nvSpPr>
          <p:spPr bwMode="auto">
            <a:xfrm>
              <a:off x="1488" y="2112"/>
              <a:ext cx="4034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Used in calculations, shown on time lines.</a:t>
              </a:r>
            </a:p>
          </p:txBody>
        </p:sp>
        <p:sp>
          <p:nvSpPr>
            <p:cNvPr id="158727" name="Rectangle 2054"/>
            <p:cNvSpPr>
              <a:spLocks noChangeArrowheads="1"/>
            </p:cNvSpPr>
            <p:nvPr/>
          </p:nvSpPr>
          <p:spPr bwMode="auto">
            <a:xfrm>
              <a:off x="1076" y="2984"/>
              <a:ext cx="4040" cy="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If I</a:t>
              </a:r>
              <a:r>
                <a:rPr lang="en-US" altLang="en-US" baseline="-25000"/>
                <a:t>NOM</a:t>
              </a:r>
              <a:r>
                <a:rPr lang="en-US" altLang="en-US"/>
                <a:t> has semi-annual compounding, then periodic rate is I</a:t>
              </a:r>
              <a:r>
                <a:rPr lang="en-US" altLang="en-US" baseline="-25000"/>
                <a:t>PER</a:t>
              </a:r>
              <a:r>
                <a:rPr lang="en-US" altLang="en-US"/>
                <a:t>  =  I</a:t>
              </a:r>
              <a:r>
                <a:rPr lang="en-US" altLang="en-US" baseline="-25000"/>
                <a:t>NOM</a:t>
              </a:r>
              <a:r>
                <a:rPr lang="en-US" altLang="en-US"/>
                <a:t>/2</a:t>
              </a:r>
            </a:p>
          </p:txBody>
        </p:sp>
      </p:grp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is each rate used? (Continued)</a:t>
            </a:r>
          </a:p>
        </p:txBody>
      </p:sp>
      <p:sp>
        <p:nvSpPr>
          <p:cNvPr id="86020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EAR (or EFF%): Used to compare returns on investments with different payments per year.</a:t>
            </a:r>
          </a:p>
          <a:p>
            <a:pPr eaLnBrk="1" hangingPunct="1"/>
            <a:r>
              <a:rPr lang="en-US" altLang="en-US"/>
              <a:t>Used for calculations if and only if dealing with annuities where payments don’t match interest compounding periods.</a:t>
            </a:r>
          </a:p>
        </p:txBody>
      </p:sp>
      <p:sp>
        <p:nvSpPr>
          <p:cNvPr id="160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A25AB0-43E8-40D8-A3F6-226DD0459BD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Fractional Time Periods</a:t>
            </a:r>
          </a:p>
        </p:txBody>
      </p:sp>
      <p:sp>
        <p:nvSpPr>
          <p:cNvPr id="87044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On January 1 you deposit $100 in an account that pays a nominal interest rate of 11.33463%, with daily compounding (365 days).</a:t>
            </a:r>
          </a:p>
          <a:p>
            <a:pPr eaLnBrk="1" hangingPunct="1"/>
            <a:r>
              <a:rPr lang="en-US" altLang="en-US"/>
              <a:t>How much will you have on October 1, or after 9 months (273 days)?  (Days given.)</a:t>
            </a:r>
          </a:p>
          <a:p>
            <a:pPr eaLnBrk="1" hangingPunct="1"/>
            <a:endParaRPr lang="en-US" altLang="en-US"/>
          </a:p>
        </p:txBody>
      </p:sp>
      <p:sp>
        <p:nvSpPr>
          <p:cNvPr id="162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21B884-5CFA-4EF0-B9C2-1B025640A04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83" name="Rectangle 106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Convert interest to daily rate</a:t>
            </a:r>
          </a:p>
        </p:txBody>
      </p:sp>
      <p:sp>
        <p:nvSpPr>
          <p:cNvPr id="1648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173C34-6E8D-43CA-BDC8-1C104022430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400"/>
          </a:p>
        </p:txBody>
      </p:sp>
      <p:sp>
        <p:nvSpPr>
          <p:cNvPr id="164867" name="Rectangle 1026"/>
          <p:cNvSpPr>
            <a:spLocks noChangeArrowheads="1"/>
          </p:cNvSpPr>
          <p:nvPr/>
        </p:nvSpPr>
        <p:spPr bwMode="auto">
          <a:xfrm>
            <a:off x="1584325" y="3054350"/>
            <a:ext cx="4860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696913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696913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69691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6969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969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969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969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969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969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I</a:t>
            </a:r>
            <a:r>
              <a:rPr lang="en-US" altLang="en-US" baseline="-25000"/>
              <a:t>PER</a:t>
            </a:r>
            <a:r>
              <a:rPr lang="en-US" altLang="en-US"/>
              <a:t>	= 11.33463%/365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0.031054% per day</a:t>
            </a:r>
          </a:p>
        </p:txBody>
      </p:sp>
      <p:sp>
        <p:nvSpPr>
          <p:cNvPr id="164868" name="Rectangle 1027"/>
          <p:cNvSpPr>
            <a:spLocks noChangeArrowheads="1"/>
          </p:cNvSpPr>
          <p:nvPr/>
        </p:nvSpPr>
        <p:spPr bwMode="auto">
          <a:xfrm>
            <a:off x="7680325" y="5556250"/>
            <a:ext cx="938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FV=?</a:t>
            </a:r>
          </a:p>
        </p:txBody>
      </p:sp>
      <p:grpSp>
        <p:nvGrpSpPr>
          <p:cNvPr id="164869" name="Group 1028"/>
          <p:cNvGrpSpPr>
            <a:grpSpLocks/>
          </p:cNvGrpSpPr>
          <p:nvPr/>
        </p:nvGrpSpPr>
        <p:grpSpPr bwMode="auto">
          <a:xfrm>
            <a:off x="1600200" y="4953000"/>
            <a:ext cx="6477000" cy="617538"/>
            <a:chOff x="768" y="1653"/>
            <a:chExt cx="4080" cy="389"/>
          </a:xfrm>
        </p:grpSpPr>
        <p:sp>
          <p:nvSpPr>
            <p:cNvPr id="164884" name="Line 1029"/>
            <p:cNvSpPr>
              <a:spLocks noChangeShapeType="1"/>
            </p:cNvSpPr>
            <p:nvPr/>
          </p:nvSpPr>
          <p:spPr bwMode="auto">
            <a:xfrm>
              <a:off x="768" y="1653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85" name="Line 1030"/>
            <p:cNvSpPr>
              <a:spLocks noChangeShapeType="1"/>
            </p:cNvSpPr>
            <p:nvPr/>
          </p:nvSpPr>
          <p:spPr bwMode="auto">
            <a:xfrm>
              <a:off x="2160" y="1653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86" name="Line 1031"/>
            <p:cNvSpPr>
              <a:spLocks noChangeShapeType="1"/>
            </p:cNvSpPr>
            <p:nvPr/>
          </p:nvSpPr>
          <p:spPr bwMode="auto">
            <a:xfrm>
              <a:off x="3408" y="1653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87" name="Line 1032"/>
            <p:cNvSpPr>
              <a:spLocks noChangeShapeType="1"/>
            </p:cNvSpPr>
            <p:nvPr/>
          </p:nvSpPr>
          <p:spPr bwMode="auto">
            <a:xfrm>
              <a:off x="4848" y="1653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88" name="Line 1033"/>
            <p:cNvSpPr>
              <a:spLocks noChangeShapeType="1"/>
            </p:cNvSpPr>
            <p:nvPr/>
          </p:nvSpPr>
          <p:spPr bwMode="auto">
            <a:xfrm>
              <a:off x="768" y="1848"/>
              <a:ext cx="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870" name="Rectangle 1034"/>
          <p:cNvSpPr>
            <a:spLocks noChangeArrowheads="1"/>
          </p:cNvSpPr>
          <p:nvPr/>
        </p:nvSpPr>
        <p:spPr bwMode="auto">
          <a:xfrm>
            <a:off x="1431925" y="43973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4871" name="Rectangle 1035"/>
          <p:cNvSpPr>
            <a:spLocks noChangeArrowheads="1"/>
          </p:cNvSpPr>
          <p:nvPr/>
        </p:nvSpPr>
        <p:spPr bwMode="auto">
          <a:xfrm>
            <a:off x="3641725" y="43973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872" name="Rectangle 1036"/>
          <p:cNvSpPr>
            <a:spLocks noChangeArrowheads="1"/>
          </p:cNvSpPr>
          <p:nvPr/>
        </p:nvSpPr>
        <p:spPr bwMode="auto">
          <a:xfrm>
            <a:off x="5622925" y="43973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873" name="Rectangle 1037"/>
          <p:cNvSpPr>
            <a:spLocks noChangeArrowheads="1"/>
          </p:cNvSpPr>
          <p:nvPr/>
        </p:nvSpPr>
        <p:spPr bwMode="auto">
          <a:xfrm>
            <a:off x="7756525" y="4397375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273</a:t>
            </a:r>
          </a:p>
        </p:txBody>
      </p:sp>
      <p:sp>
        <p:nvSpPr>
          <p:cNvPr id="164874" name="Rectangle 1038"/>
          <p:cNvSpPr>
            <a:spLocks noChangeArrowheads="1"/>
          </p:cNvSpPr>
          <p:nvPr/>
        </p:nvSpPr>
        <p:spPr bwMode="auto">
          <a:xfrm>
            <a:off x="1836738" y="4868863"/>
            <a:ext cx="1728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0.031054%</a:t>
            </a:r>
          </a:p>
        </p:txBody>
      </p:sp>
      <p:sp>
        <p:nvSpPr>
          <p:cNvPr id="164875" name="Rectangle 1039"/>
          <p:cNvSpPr>
            <a:spLocks noChangeArrowheads="1"/>
          </p:cNvSpPr>
          <p:nvPr/>
        </p:nvSpPr>
        <p:spPr bwMode="auto">
          <a:xfrm>
            <a:off x="1279525" y="558958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-100</a:t>
            </a:r>
          </a:p>
        </p:txBody>
      </p:sp>
      <p:sp>
        <p:nvSpPr>
          <p:cNvPr id="164876" name="Arc 1040"/>
          <p:cNvSpPr>
            <a:spLocks/>
          </p:cNvSpPr>
          <p:nvPr/>
        </p:nvSpPr>
        <p:spPr bwMode="auto">
          <a:xfrm>
            <a:off x="3925888" y="5362575"/>
            <a:ext cx="1724025" cy="420688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7" name="Arc 1041"/>
          <p:cNvSpPr>
            <a:spLocks/>
          </p:cNvSpPr>
          <p:nvPr/>
        </p:nvSpPr>
        <p:spPr bwMode="auto">
          <a:xfrm>
            <a:off x="2089150" y="5362575"/>
            <a:ext cx="1585913" cy="420688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8" name="Arc 1042"/>
          <p:cNvSpPr>
            <a:spLocks/>
          </p:cNvSpPr>
          <p:nvPr/>
        </p:nvSpPr>
        <p:spPr bwMode="auto">
          <a:xfrm>
            <a:off x="5929313" y="5386388"/>
            <a:ext cx="2020887" cy="37465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9" name="Line 1043"/>
          <p:cNvSpPr>
            <a:spLocks noChangeShapeType="1"/>
          </p:cNvSpPr>
          <p:nvPr/>
        </p:nvSpPr>
        <p:spPr bwMode="auto">
          <a:xfrm>
            <a:off x="6629400" y="5072063"/>
            <a:ext cx="304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80" name="Line 1044"/>
          <p:cNvSpPr>
            <a:spLocks noChangeShapeType="1"/>
          </p:cNvSpPr>
          <p:nvPr/>
        </p:nvSpPr>
        <p:spPr bwMode="auto">
          <a:xfrm flipH="1">
            <a:off x="6934200" y="4919663"/>
            <a:ext cx="762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81" name="Line 1045"/>
          <p:cNvSpPr>
            <a:spLocks noChangeShapeType="1"/>
          </p:cNvSpPr>
          <p:nvPr/>
        </p:nvSpPr>
        <p:spPr bwMode="auto">
          <a:xfrm>
            <a:off x="7010400" y="4919663"/>
            <a:ext cx="3048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82" name="Line 1050"/>
          <p:cNvSpPr>
            <a:spLocks noChangeShapeType="1"/>
          </p:cNvSpPr>
          <p:nvPr/>
        </p:nvSpPr>
        <p:spPr bwMode="auto">
          <a:xfrm flipH="1">
            <a:off x="2722563" y="4062413"/>
            <a:ext cx="976312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7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 FV</a:t>
            </a:r>
          </a:p>
        </p:txBody>
      </p:sp>
      <p:sp>
        <p:nvSpPr>
          <p:cNvPr id="1669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8BEECF-45E8-4590-B264-496C3B67676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400"/>
          </a:p>
        </p:txBody>
      </p:sp>
      <p:sp>
        <p:nvSpPr>
          <p:cNvPr id="166915" name="Rectangle 28"/>
          <p:cNvSpPr>
            <a:spLocks noChangeArrowheads="1"/>
          </p:cNvSpPr>
          <p:nvPr/>
        </p:nvSpPr>
        <p:spPr bwMode="auto">
          <a:xfrm>
            <a:off x="1524000" y="2667000"/>
            <a:ext cx="64008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FV</a:t>
            </a:r>
            <a:r>
              <a:rPr lang="en-US" altLang="en-US" baseline="-25000"/>
              <a:t>273	</a:t>
            </a:r>
            <a:r>
              <a:rPr lang="en-US" altLang="en-US"/>
              <a:t>= $100 (1.00031054)</a:t>
            </a:r>
            <a:r>
              <a:rPr lang="en-US" altLang="en-US" baseline="30000"/>
              <a:t>273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$100 (1.08846) = $108.85</a:t>
            </a:r>
          </a:p>
        </p:txBody>
      </p:sp>
      <p:sp>
        <p:nvSpPr>
          <p:cNvPr id="166916" name="Rectangle 29"/>
          <p:cNvSpPr>
            <a:spLocks noChangeArrowheads="1"/>
          </p:cNvSpPr>
          <p:nvPr/>
        </p:nvSpPr>
        <p:spPr bwMode="auto">
          <a:xfrm>
            <a:off x="2679700" y="3657600"/>
            <a:ext cx="296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4" name="Rectangle 10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Calculator Solution</a:t>
            </a:r>
          </a:p>
        </p:txBody>
      </p:sp>
      <p:sp>
        <p:nvSpPr>
          <p:cNvPr id="1689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F1B8E7-E72D-4319-BB2C-71A0AF81619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400"/>
          </a:p>
        </p:txBody>
      </p:sp>
      <p:grpSp>
        <p:nvGrpSpPr>
          <p:cNvPr id="168963" name="Group 20"/>
          <p:cNvGrpSpPr>
            <a:grpSpLocks/>
          </p:cNvGrpSpPr>
          <p:nvPr/>
        </p:nvGrpSpPr>
        <p:grpSpPr bwMode="auto">
          <a:xfrm>
            <a:off x="1295400" y="2911476"/>
            <a:ext cx="7620000" cy="3444875"/>
            <a:chOff x="826" y="1815"/>
            <a:chExt cx="4800" cy="2170"/>
          </a:xfrm>
        </p:grpSpPr>
        <p:sp>
          <p:nvSpPr>
            <p:cNvPr id="168965" name="Rectangle 1027"/>
            <p:cNvSpPr>
              <a:spLocks noChangeArrowheads="1"/>
            </p:cNvSpPr>
            <p:nvPr/>
          </p:nvSpPr>
          <p:spPr bwMode="auto">
            <a:xfrm>
              <a:off x="864" y="3120"/>
              <a:ext cx="4762" cy="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</a:t>
              </a:r>
            </a:p>
          </p:txBody>
        </p:sp>
        <p:sp>
          <p:nvSpPr>
            <p:cNvPr id="168966" name="AutoShape 1028"/>
            <p:cNvSpPr>
              <a:spLocks noChangeArrowheads="1"/>
            </p:cNvSpPr>
            <p:nvPr/>
          </p:nvSpPr>
          <p:spPr bwMode="auto">
            <a:xfrm>
              <a:off x="826" y="3068"/>
              <a:ext cx="864" cy="344"/>
            </a:xfrm>
            <a:prstGeom prst="roundRect">
              <a:avLst>
                <a:gd name="adj" fmla="val 124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168967" name="AutoShape 1029"/>
            <p:cNvSpPr>
              <a:spLocks noChangeArrowheads="1"/>
            </p:cNvSpPr>
            <p:nvPr/>
          </p:nvSpPr>
          <p:spPr bwMode="auto">
            <a:xfrm>
              <a:off x="826" y="3641"/>
              <a:ext cx="864" cy="344"/>
            </a:xfrm>
            <a:prstGeom prst="roundRect">
              <a:avLst>
                <a:gd name="adj" fmla="val 124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168968" name="AutoShape 1030"/>
            <p:cNvSpPr>
              <a:spLocks noChangeArrowheads="1"/>
            </p:cNvSpPr>
            <p:nvPr/>
          </p:nvSpPr>
          <p:spPr bwMode="auto">
            <a:xfrm>
              <a:off x="3240" y="3381"/>
              <a:ext cx="464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 anchorCtr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168969" name="AutoShape 1031"/>
            <p:cNvSpPr>
              <a:spLocks noChangeArrowheads="1"/>
            </p:cNvSpPr>
            <p:nvPr/>
          </p:nvSpPr>
          <p:spPr bwMode="auto">
            <a:xfrm>
              <a:off x="2562" y="3381"/>
              <a:ext cx="512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 anchorCtr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168970" name="AutoShape 1032"/>
            <p:cNvSpPr>
              <a:spLocks noChangeArrowheads="1"/>
            </p:cNvSpPr>
            <p:nvPr/>
          </p:nvSpPr>
          <p:spPr bwMode="auto">
            <a:xfrm>
              <a:off x="2018" y="3381"/>
              <a:ext cx="383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 anchorCtr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68971" name="AutoShape 1033"/>
            <p:cNvSpPr>
              <a:spLocks noChangeArrowheads="1"/>
            </p:cNvSpPr>
            <p:nvPr/>
          </p:nvSpPr>
          <p:spPr bwMode="auto">
            <a:xfrm>
              <a:off x="4530" y="3381"/>
              <a:ext cx="464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 anchorCtr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168976" name="AutoShape 1038"/>
            <p:cNvSpPr>
              <a:spLocks noChangeArrowheads="1"/>
            </p:cNvSpPr>
            <p:nvPr/>
          </p:nvSpPr>
          <p:spPr bwMode="auto">
            <a:xfrm>
              <a:off x="3906" y="3381"/>
              <a:ext cx="512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 anchorCtr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168978" name="Rectangle 1040"/>
            <p:cNvSpPr>
              <a:spLocks noChangeArrowheads="1"/>
            </p:cNvSpPr>
            <p:nvPr/>
          </p:nvSpPr>
          <p:spPr bwMode="auto">
            <a:xfrm>
              <a:off x="1056" y="1815"/>
              <a:ext cx="2906" cy="1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696913" algn="l"/>
                  <a:tab pos="113823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3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I</a:t>
              </a:r>
              <a:r>
                <a:rPr lang="en-US" altLang="en-US" baseline="-25000" dirty="0"/>
                <a:t>PER</a:t>
              </a:r>
              <a:r>
                <a:rPr lang="en-US" altLang="en-US" dirty="0"/>
                <a:t>	=	I</a:t>
              </a:r>
              <a:r>
                <a:rPr lang="en-US" altLang="en-US" baseline="-25000" dirty="0"/>
                <a:t>NOM</a:t>
              </a:r>
              <a:r>
                <a:rPr lang="en-US" altLang="en-US" dirty="0"/>
                <a:t>/M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=	11.33463/365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=	0.031054 per day.</a:t>
              </a:r>
            </a:p>
          </p:txBody>
        </p:sp>
        <p:sp>
          <p:nvSpPr>
            <p:cNvPr id="168979" name="Line 1041"/>
            <p:cNvSpPr>
              <a:spLocks noChangeShapeType="1"/>
            </p:cNvSpPr>
            <p:nvPr/>
          </p:nvSpPr>
          <p:spPr bwMode="auto">
            <a:xfrm>
              <a:off x="2736" y="2880"/>
              <a:ext cx="10" cy="4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Non-matching rates and periods</a:t>
            </a:r>
          </a:p>
        </p:txBody>
      </p:sp>
      <p:sp>
        <p:nvSpPr>
          <p:cNvPr id="171012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What’s value at end of Year 3 of  following CF stream if quoted interest rate is 10%, compounded annually,  semiannually?</a:t>
            </a:r>
          </a:p>
        </p:txBody>
      </p:sp>
      <p:sp>
        <p:nvSpPr>
          <p:cNvPr id="171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BDA2BD-EDB8-46DD-AADD-22F1324D6EF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en-US" sz="14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Rectangle 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Time line for non-matching rates and periods</a:t>
            </a:r>
          </a:p>
        </p:txBody>
      </p:sp>
      <p:sp>
        <p:nvSpPr>
          <p:cNvPr id="1730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208E58-424B-4C86-95D6-D008E2827A0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en-US" sz="1400"/>
          </a:p>
        </p:txBody>
      </p:sp>
      <p:grpSp>
        <p:nvGrpSpPr>
          <p:cNvPr id="173060" name="Group 29"/>
          <p:cNvGrpSpPr>
            <a:grpSpLocks/>
          </p:cNvGrpSpPr>
          <p:nvPr/>
        </p:nvGrpSpPr>
        <p:grpSpPr bwMode="auto">
          <a:xfrm>
            <a:off x="762000" y="3048000"/>
            <a:ext cx="8110538" cy="1806575"/>
            <a:chOff x="609" y="2459"/>
            <a:chExt cx="5109" cy="1138"/>
          </a:xfrm>
        </p:grpSpPr>
        <p:sp>
          <p:nvSpPr>
            <p:cNvPr id="173061" name="Line 6"/>
            <p:cNvSpPr>
              <a:spLocks noChangeShapeType="1"/>
            </p:cNvSpPr>
            <p:nvPr/>
          </p:nvSpPr>
          <p:spPr bwMode="auto">
            <a:xfrm>
              <a:off x="721" y="2830"/>
              <a:ext cx="0" cy="3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62" name="Line 7"/>
            <p:cNvSpPr>
              <a:spLocks noChangeShapeType="1"/>
            </p:cNvSpPr>
            <p:nvPr/>
          </p:nvSpPr>
          <p:spPr bwMode="auto">
            <a:xfrm>
              <a:off x="721" y="3024"/>
              <a:ext cx="41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63" name="Rectangle 8"/>
            <p:cNvSpPr>
              <a:spLocks noChangeArrowheads="1"/>
            </p:cNvSpPr>
            <p:nvPr/>
          </p:nvSpPr>
          <p:spPr bwMode="auto">
            <a:xfrm>
              <a:off x="609" y="246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173064" name="Line 10"/>
            <p:cNvSpPr>
              <a:spLocks noChangeShapeType="1"/>
            </p:cNvSpPr>
            <p:nvPr/>
          </p:nvSpPr>
          <p:spPr bwMode="auto">
            <a:xfrm>
              <a:off x="1481" y="2825"/>
              <a:ext cx="0" cy="3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65" name="Rectangle 11"/>
            <p:cNvSpPr>
              <a:spLocks noChangeArrowheads="1"/>
            </p:cNvSpPr>
            <p:nvPr/>
          </p:nvSpPr>
          <p:spPr bwMode="auto">
            <a:xfrm>
              <a:off x="1377" y="246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173066" name="Line 12"/>
            <p:cNvSpPr>
              <a:spLocks noChangeShapeType="1"/>
            </p:cNvSpPr>
            <p:nvPr/>
          </p:nvSpPr>
          <p:spPr bwMode="auto">
            <a:xfrm>
              <a:off x="2249" y="2825"/>
              <a:ext cx="0" cy="3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67" name="Rectangle 13"/>
            <p:cNvSpPr>
              <a:spLocks noChangeArrowheads="1"/>
            </p:cNvSpPr>
            <p:nvPr/>
          </p:nvSpPr>
          <p:spPr bwMode="auto">
            <a:xfrm>
              <a:off x="1986" y="3234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73068" name="Rectangle 14"/>
            <p:cNvSpPr>
              <a:spLocks noChangeArrowheads="1"/>
            </p:cNvSpPr>
            <p:nvPr/>
          </p:nvSpPr>
          <p:spPr bwMode="auto">
            <a:xfrm>
              <a:off x="2145" y="246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173069" name="Line 16"/>
            <p:cNvSpPr>
              <a:spLocks noChangeShapeType="1"/>
            </p:cNvSpPr>
            <p:nvPr/>
          </p:nvSpPr>
          <p:spPr bwMode="auto">
            <a:xfrm>
              <a:off x="2873" y="2825"/>
              <a:ext cx="0" cy="3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70" name="Rectangle 17"/>
            <p:cNvSpPr>
              <a:spLocks noChangeArrowheads="1"/>
            </p:cNvSpPr>
            <p:nvPr/>
          </p:nvSpPr>
          <p:spPr bwMode="auto">
            <a:xfrm>
              <a:off x="2769" y="2466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173071" name="Rectangle 18"/>
            <p:cNvSpPr>
              <a:spLocks noChangeArrowheads="1"/>
            </p:cNvSpPr>
            <p:nvPr/>
          </p:nvSpPr>
          <p:spPr bwMode="auto">
            <a:xfrm>
              <a:off x="900" y="2795"/>
              <a:ext cx="40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5%</a:t>
              </a:r>
            </a:p>
          </p:txBody>
        </p:sp>
        <p:sp>
          <p:nvSpPr>
            <p:cNvPr id="173072" name="Rectangle 19"/>
            <p:cNvSpPr>
              <a:spLocks noChangeArrowheads="1"/>
            </p:cNvSpPr>
            <p:nvPr/>
          </p:nvSpPr>
          <p:spPr bwMode="auto">
            <a:xfrm>
              <a:off x="3440" y="245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4</a:t>
              </a:r>
            </a:p>
          </p:txBody>
        </p:sp>
        <p:sp>
          <p:nvSpPr>
            <p:cNvPr id="173073" name="Rectangle 20"/>
            <p:cNvSpPr>
              <a:spLocks noChangeArrowheads="1"/>
            </p:cNvSpPr>
            <p:nvPr/>
          </p:nvSpPr>
          <p:spPr bwMode="auto">
            <a:xfrm>
              <a:off x="4016" y="245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173074" name="Rectangle 21"/>
            <p:cNvSpPr>
              <a:spLocks noChangeArrowheads="1"/>
            </p:cNvSpPr>
            <p:nvPr/>
          </p:nvSpPr>
          <p:spPr bwMode="auto">
            <a:xfrm>
              <a:off x="4688" y="2482"/>
              <a:ext cx="1030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6  </a:t>
              </a:r>
              <a:r>
                <a:rPr lang="en-US" altLang="en-US" sz="2400"/>
                <a:t>6-mos.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    periods </a:t>
              </a:r>
            </a:p>
          </p:txBody>
        </p:sp>
        <p:sp>
          <p:nvSpPr>
            <p:cNvPr id="173075" name="Line 22"/>
            <p:cNvSpPr>
              <a:spLocks noChangeShapeType="1"/>
            </p:cNvSpPr>
            <p:nvPr/>
          </p:nvSpPr>
          <p:spPr bwMode="auto">
            <a:xfrm>
              <a:off x="3545" y="2828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76" name="Line 23"/>
            <p:cNvSpPr>
              <a:spLocks noChangeShapeType="1"/>
            </p:cNvSpPr>
            <p:nvPr/>
          </p:nvSpPr>
          <p:spPr bwMode="auto">
            <a:xfrm>
              <a:off x="4121" y="2828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77" name="Line 24"/>
            <p:cNvSpPr>
              <a:spLocks noChangeShapeType="1"/>
            </p:cNvSpPr>
            <p:nvPr/>
          </p:nvSpPr>
          <p:spPr bwMode="auto">
            <a:xfrm>
              <a:off x="4808" y="2828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078" name="Rectangle 25"/>
            <p:cNvSpPr>
              <a:spLocks noChangeArrowheads="1"/>
            </p:cNvSpPr>
            <p:nvPr/>
          </p:nvSpPr>
          <p:spPr bwMode="auto">
            <a:xfrm>
              <a:off x="3269" y="3234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73079" name="Rectangle 26"/>
            <p:cNvSpPr>
              <a:spLocks noChangeArrowheads="1"/>
            </p:cNvSpPr>
            <p:nvPr/>
          </p:nvSpPr>
          <p:spPr bwMode="auto">
            <a:xfrm>
              <a:off x="4517" y="3234"/>
              <a:ext cx="53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100</a:t>
              </a:r>
            </a:p>
          </p:txBody>
        </p:sp>
        <p:sp>
          <p:nvSpPr>
            <p:cNvPr id="173080" name="Rectangle 27"/>
            <p:cNvSpPr>
              <a:spLocks noChangeArrowheads="1"/>
            </p:cNvSpPr>
            <p:nvPr/>
          </p:nvSpPr>
          <p:spPr bwMode="auto">
            <a:xfrm>
              <a:off x="2863" y="2503"/>
              <a:ext cx="16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What’s PV of this 3-yr, $100 per yr CF Stream, 10%=I, semi-annual compounding?</a:t>
            </a:r>
          </a:p>
        </p:txBody>
      </p:sp>
      <p:sp>
        <p:nvSpPr>
          <p:cNvPr id="1751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1731E5-84DE-4A45-86C6-2126EDBB4C65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grpSp>
        <p:nvGrpSpPr>
          <p:cNvPr id="67588" name="Group 32"/>
          <p:cNvGrpSpPr>
            <a:grpSpLocks/>
          </p:cNvGrpSpPr>
          <p:nvPr/>
        </p:nvGrpSpPr>
        <p:grpSpPr bwMode="auto">
          <a:xfrm>
            <a:off x="898525" y="2219325"/>
            <a:ext cx="7810500" cy="4319588"/>
            <a:chOff x="1060450" y="2235201"/>
            <a:chExt cx="7664450" cy="4319588"/>
          </a:xfrm>
        </p:grpSpPr>
        <p:grpSp>
          <p:nvGrpSpPr>
            <p:cNvPr id="175109" name="Group 34"/>
            <p:cNvGrpSpPr>
              <a:grpSpLocks/>
            </p:cNvGrpSpPr>
            <p:nvPr/>
          </p:nvGrpSpPr>
          <p:grpSpPr bwMode="auto">
            <a:xfrm>
              <a:off x="1060450" y="2235201"/>
              <a:ext cx="7664450" cy="4319588"/>
              <a:chOff x="668" y="1408"/>
              <a:chExt cx="4828" cy="2721"/>
            </a:xfrm>
          </p:grpSpPr>
          <p:sp>
            <p:nvSpPr>
              <p:cNvPr id="175111" name="Rectangle 6"/>
              <p:cNvSpPr>
                <a:spLocks noChangeArrowheads="1"/>
              </p:cNvSpPr>
              <p:nvPr/>
            </p:nvSpPr>
            <p:spPr bwMode="auto">
              <a:xfrm>
                <a:off x="2299" y="233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100</a:t>
                </a:r>
              </a:p>
            </p:txBody>
          </p:sp>
          <p:sp>
            <p:nvSpPr>
              <p:cNvPr id="175112" name="Rectangle 7"/>
              <p:cNvSpPr>
                <a:spLocks noChangeArrowheads="1"/>
              </p:cNvSpPr>
              <p:nvPr/>
            </p:nvSpPr>
            <p:spPr bwMode="auto">
              <a:xfrm>
                <a:off x="4962" y="233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100</a:t>
                </a:r>
              </a:p>
            </p:txBody>
          </p:sp>
          <p:sp>
            <p:nvSpPr>
              <p:cNvPr id="175113" name="Line 8"/>
              <p:cNvSpPr>
                <a:spLocks noChangeShapeType="1"/>
              </p:cNvSpPr>
              <p:nvPr/>
            </p:nvSpPr>
            <p:spPr bwMode="auto">
              <a:xfrm>
                <a:off x="1846" y="1927"/>
                <a:ext cx="0" cy="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14" name="Line 9"/>
              <p:cNvSpPr>
                <a:spLocks noChangeShapeType="1"/>
              </p:cNvSpPr>
              <p:nvPr/>
            </p:nvSpPr>
            <p:spPr bwMode="auto">
              <a:xfrm>
                <a:off x="2548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15" name="Line 10"/>
              <p:cNvSpPr>
                <a:spLocks noChangeShapeType="1"/>
              </p:cNvSpPr>
              <p:nvPr/>
            </p:nvSpPr>
            <p:spPr bwMode="auto">
              <a:xfrm>
                <a:off x="4483" y="1969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16" name="Line 11"/>
              <p:cNvSpPr>
                <a:spLocks noChangeShapeType="1"/>
              </p:cNvSpPr>
              <p:nvPr/>
            </p:nvSpPr>
            <p:spPr bwMode="auto">
              <a:xfrm>
                <a:off x="5236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17" name="Rectangle 14"/>
              <p:cNvSpPr>
                <a:spLocks noChangeArrowheads="1"/>
              </p:cNvSpPr>
              <p:nvPr/>
            </p:nvSpPr>
            <p:spPr bwMode="auto">
              <a:xfrm>
                <a:off x="3525" y="233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100</a:t>
                </a:r>
              </a:p>
            </p:txBody>
          </p:sp>
          <p:sp>
            <p:nvSpPr>
              <p:cNvPr id="175118" name="Rectangle 15"/>
              <p:cNvSpPr>
                <a:spLocks noChangeArrowheads="1"/>
              </p:cNvSpPr>
              <p:nvPr/>
            </p:nvSpPr>
            <p:spPr bwMode="auto">
              <a:xfrm>
                <a:off x="1051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175119" name="Rectangle 16"/>
              <p:cNvSpPr>
                <a:spLocks noChangeArrowheads="1"/>
              </p:cNvSpPr>
              <p:nvPr/>
            </p:nvSpPr>
            <p:spPr bwMode="auto">
              <a:xfrm>
                <a:off x="2443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75120" name="Rectangle 17"/>
              <p:cNvSpPr>
                <a:spLocks noChangeArrowheads="1"/>
              </p:cNvSpPr>
              <p:nvPr/>
            </p:nvSpPr>
            <p:spPr bwMode="auto">
              <a:xfrm>
                <a:off x="3691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175121" name="Rectangle 18"/>
              <p:cNvSpPr>
                <a:spLocks noChangeArrowheads="1"/>
              </p:cNvSpPr>
              <p:nvPr/>
            </p:nvSpPr>
            <p:spPr bwMode="auto">
              <a:xfrm>
                <a:off x="5131" y="155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175122" name="Rectangle 19"/>
              <p:cNvSpPr>
                <a:spLocks noChangeArrowheads="1"/>
              </p:cNvSpPr>
              <p:nvPr/>
            </p:nvSpPr>
            <p:spPr bwMode="auto">
              <a:xfrm>
                <a:off x="1517" y="1408"/>
                <a:ext cx="51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</a:rPr>
                  <a:t>10%</a:t>
                </a:r>
              </a:p>
            </p:txBody>
          </p:sp>
          <p:sp>
            <p:nvSpPr>
              <p:cNvPr id="175123" name="Line 20"/>
              <p:cNvSpPr>
                <a:spLocks noChangeShapeType="1"/>
              </p:cNvSpPr>
              <p:nvPr/>
            </p:nvSpPr>
            <p:spPr bwMode="auto">
              <a:xfrm>
                <a:off x="2548" y="2684"/>
                <a:ext cx="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24" name="Line 21"/>
              <p:cNvSpPr>
                <a:spLocks noChangeShapeType="1"/>
              </p:cNvSpPr>
              <p:nvPr/>
            </p:nvSpPr>
            <p:spPr bwMode="auto">
              <a:xfrm flipH="1">
                <a:off x="1536" y="2818"/>
                <a:ext cx="100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25" name="Line 22"/>
              <p:cNvSpPr>
                <a:spLocks noChangeShapeType="1"/>
              </p:cNvSpPr>
              <p:nvPr/>
            </p:nvSpPr>
            <p:spPr bwMode="auto">
              <a:xfrm>
                <a:off x="3796" y="2684"/>
                <a:ext cx="0" cy="4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26" name="Line 23"/>
              <p:cNvSpPr>
                <a:spLocks noChangeShapeType="1"/>
              </p:cNvSpPr>
              <p:nvPr/>
            </p:nvSpPr>
            <p:spPr bwMode="auto">
              <a:xfrm flipH="1">
                <a:off x="1536" y="3169"/>
                <a:ext cx="22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27" name="Line 24"/>
              <p:cNvSpPr>
                <a:spLocks noChangeShapeType="1"/>
              </p:cNvSpPr>
              <p:nvPr/>
            </p:nvSpPr>
            <p:spPr bwMode="auto">
              <a:xfrm>
                <a:off x="5236" y="2780"/>
                <a:ext cx="0" cy="7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28" name="Line 25"/>
              <p:cNvSpPr>
                <a:spLocks noChangeShapeType="1"/>
              </p:cNvSpPr>
              <p:nvPr/>
            </p:nvSpPr>
            <p:spPr bwMode="auto">
              <a:xfrm flipH="1">
                <a:off x="1536" y="3552"/>
                <a:ext cx="37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29" name="Rectangle 26"/>
              <p:cNvSpPr>
                <a:spLocks noChangeArrowheads="1"/>
              </p:cNvSpPr>
              <p:nvPr/>
            </p:nvSpPr>
            <p:spPr bwMode="auto">
              <a:xfrm>
                <a:off x="811" y="2658"/>
                <a:ext cx="113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5130" name="Rectangle 27"/>
              <p:cNvSpPr>
                <a:spLocks noChangeArrowheads="1"/>
              </p:cNvSpPr>
              <p:nvPr/>
            </p:nvSpPr>
            <p:spPr bwMode="auto">
              <a:xfrm>
                <a:off x="811" y="3042"/>
                <a:ext cx="113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5131" name="Rectangle 28"/>
              <p:cNvSpPr>
                <a:spLocks noChangeArrowheads="1"/>
              </p:cNvSpPr>
              <p:nvPr/>
            </p:nvSpPr>
            <p:spPr bwMode="auto">
              <a:xfrm>
                <a:off x="668" y="3426"/>
                <a:ext cx="113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u="sng">
                  <a:solidFill>
                    <a:srgbClr val="000000"/>
                  </a:solidFill>
                </a:endParaRPr>
              </a:p>
            </p:txBody>
          </p:sp>
          <p:sp>
            <p:nvSpPr>
              <p:cNvPr id="175132" name="Rectangle 29"/>
              <p:cNvSpPr>
                <a:spLocks noChangeArrowheads="1"/>
              </p:cNvSpPr>
              <p:nvPr/>
            </p:nvSpPr>
            <p:spPr bwMode="auto">
              <a:xfrm>
                <a:off x="671" y="3762"/>
                <a:ext cx="747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</a:rPr>
                  <a:t>=  PV</a:t>
                </a:r>
              </a:p>
            </p:txBody>
          </p:sp>
          <p:sp>
            <p:nvSpPr>
              <p:cNvPr id="175133" name="Line 31"/>
              <p:cNvSpPr>
                <a:spLocks noChangeShapeType="1"/>
              </p:cNvSpPr>
              <p:nvPr/>
            </p:nvSpPr>
            <p:spPr bwMode="auto">
              <a:xfrm>
                <a:off x="1164" y="2112"/>
                <a:ext cx="40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34" name="Line 9"/>
              <p:cNvSpPr>
                <a:spLocks noChangeShapeType="1"/>
              </p:cNvSpPr>
              <p:nvPr/>
            </p:nvSpPr>
            <p:spPr bwMode="auto">
              <a:xfrm>
                <a:off x="3195" y="1960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35" name="Line 10"/>
              <p:cNvSpPr>
                <a:spLocks noChangeShapeType="1"/>
              </p:cNvSpPr>
              <p:nvPr/>
            </p:nvSpPr>
            <p:spPr bwMode="auto">
              <a:xfrm>
                <a:off x="3822" y="1927"/>
                <a:ext cx="0" cy="3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36" name="Line 8"/>
              <p:cNvSpPr>
                <a:spLocks noChangeShapeType="1"/>
              </p:cNvSpPr>
              <p:nvPr/>
            </p:nvSpPr>
            <p:spPr bwMode="auto">
              <a:xfrm>
                <a:off x="1178" y="1927"/>
                <a:ext cx="0" cy="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75110" name="Straight Connector 29"/>
            <p:cNvCxnSpPr>
              <a:cxnSpLocks noChangeShapeType="1"/>
            </p:cNvCxnSpPr>
            <p:nvPr/>
          </p:nvCxnSpPr>
          <p:spPr bwMode="auto">
            <a:xfrm>
              <a:off x="1154113" y="6465888"/>
              <a:ext cx="1189037" cy="1587"/>
            </a:xfrm>
            <a:prstGeom prst="line">
              <a:avLst/>
            </a:prstGeom>
            <a:noFill/>
            <a:ln w="50800" cmpd="dbl" algn="ctr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Non-matching rates and periods</a:t>
            </a:r>
          </a:p>
        </p:txBody>
      </p:sp>
      <p:sp>
        <p:nvSpPr>
          <p:cNvPr id="9319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Payments occur annually, but compounding occurs each 6 months.</a:t>
            </a:r>
          </a:p>
          <a:p>
            <a:pPr eaLnBrk="1" hangingPunct="1"/>
            <a:r>
              <a:rPr lang="en-US" altLang="en-US"/>
              <a:t>So can’t use normal annuity valuation techniques.</a:t>
            </a:r>
          </a:p>
        </p:txBody>
      </p:sp>
      <p:sp>
        <p:nvSpPr>
          <p:cNvPr id="177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F5B2BF-1E39-45BA-97F5-C12B6B9C391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en-US" sz="1400"/>
          </a:p>
        </p:txBody>
      </p:sp>
      <p:sp>
        <p:nvSpPr>
          <p:cNvPr id="17715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715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1st Method:  Compound Each CF</a:t>
            </a:r>
          </a:p>
        </p:txBody>
      </p:sp>
      <p:sp>
        <p:nvSpPr>
          <p:cNvPr id="1792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610DB1-76DD-4E0B-A174-DFF9811B730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US" altLang="en-US" sz="1400"/>
          </a:p>
        </p:txBody>
      </p:sp>
      <p:grpSp>
        <p:nvGrpSpPr>
          <p:cNvPr id="179204" name="Group 35"/>
          <p:cNvGrpSpPr>
            <a:grpSpLocks/>
          </p:cNvGrpSpPr>
          <p:nvPr/>
        </p:nvGrpSpPr>
        <p:grpSpPr bwMode="auto">
          <a:xfrm>
            <a:off x="457200" y="2335213"/>
            <a:ext cx="8353425" cy="4138612"/>
            <a:chOff x="457200" y="2335213"/>
            <a:chExt cx="8353426" cy="4138612"/>
          </a:xfrm>
        </p:grpSpPr>
        <p:grpSp>
          <p:nvGrpSpPr>
            <p:cNvPr id="179205" name="Group 38"/>
            <p:cNvGrpSpPr>
              <a:grpSpLocks/>
            </p:cNvGrpSpPr>
            <p:nvPr/>
          </p:nvGrpSpPr>
          <p:grpSpPr bwMode="auto">
            <a:xfrm>
              <a:off x="457200" y="2335213"/>
              <a:ext cx="8353426" cy="4138612"/>
              <a:chOff x="288" y="1471"/>
              <a:chExt cx="5262" cy="2607"/>
            </a:xfrm>
          </p:grpSpPr>
          <p:sp>
            <p:nvSpPr>
              <p:cNvPr id="179207" name="Line 4"/>
              <p:cNvSpPr>
                <a:spLocks noChangeShapeType="1"/>
              </p:cNvSpPr>
              <p:nvPr/>
            </p:nvSpPr>
            <p:spPr bwMode="auto">
              <a:xfrm>
                <a:off x="872" y="1969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08" name="Rectangle 5"/>
              <p:cNvSpPr>
                <a:spLocks noChangeArrowheads="1"/>
              </p:cNvSpPr>
              <p:nvPr/>
            </p:nvSpPr>
            <p:spPr bwMode="auto">
              <a:xfrm>
                <a:off x="736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0</a:t>
                </a:r>
              </a:p>
            </p:txBody>
          </p:sp>
          <p:sp>
            <p:nvSpPr>
              <p:cNvPr id="179209" name="Line 6"/>
              <p:cNvSpPr>
                <a:spLocks noChangeShapeType="1"/>
              </p:cNvSpPr>
              <p:nvPr/>
            </p:nvSpPr>
            <p:spPr bwMode="auto">
              <a:xfrm>
                <a:off x="1632" y="1809"/>
                <a:ext cx="0" cy="3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10" name="Rectangle 7"/>
              <p:cNvSpPr>
                <a:spLocks noChangeArrowheads="1"/>
              </p:cNvSpPr>
              <p:nvPr/>
            </p:nvSpPr>
            <p:spPr bwMode="auto">
              <a:xfrm>
                <a:off x="1512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179211" name="Line 8"/>
              <p:cNvSpPr>
                <a:spLocks noChangeShapeType="1"/>
              </p:cNvSpPr>
              <p:nvPr/>
            </p:nvSpPr>
            <p:spPr bwMode="auto">
              <a:xfrm>
                <a:off x="2400" y="1809"/>
                <a:ext cx="0" cy="3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12" name="Rectangle 9"/>
              <p:cNvSpPr>
                <a:spLocks noChangeArrowheads="1"/>
              </p:cNvSpPr>
              <p:nvPr/>
            </p:nvSpPr>
            <p:spPr bwMode="auto">
              <a:xfrm>
                <a:off x="2136" y="2134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179213" name="Rectangle 10"/>
              <p:cNvSpPr>
                <a:spLocks noChangeArrowheads="1"/>
              </p:cNvSpPr>
              <p:nvPr/>
            </p:nvSpPr>
            <p:spPr bwMode="auto">
              <a:xfrm>
                <a:off x="2280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179214" name="Rectangle 11"/>
              <p:cNvSpPr>
                <a:spLocks noChangeArrowheads="1"/>
              </p:cNvSpPr>
              <p:nvPr/>
            </p:nvSpPr>
            <p:spPr bwMode="auto">
              <a:xfrm>
                <a:off x="2870" y="2144"/>
                <a:ext cx="436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9215" name="Line 12"/>
              <p:cNvSpPr>
                <a:spLocks noChangeShapeType="1"/>
              </p:cNvSpPr>
              <p:nvPr/>
            </p:nvSpPr>
            <p:spPr bwMode="auto">
              <a:xfrm>
                <a:off x="3024" y="1809"/>
                <a:ext cx="0" cy="3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16" name="Rectangle 13"/>
              <p:cNvSpPr>
                <a:spLocks noChangeArrowheads="1"/>
              </p:cNvSpPr>
              <p:nvPr/>
            </p:nvSpPr>
            <p:spPr bwMode="auto">
              <a:xfrm>
                <a:off x="2895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179217" name="Rectangle 14"/>
              <p:cNvSpPr>
                <a:spLocks noChangeArrowheads="1"/>
              </p:cNvSpPr>
              <p:nvPr/>
            </p:nvSpPr>
            <p:spPr bwMode="auto">
              <a:xfrm>
                <a:off x="1067" y="1723"/>
                <a:ext cx="407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5%</a:t>
                </a:r>
              </a:p>
            </p:txBody>
          </p:sp>
          <p:sp>
            <p:nvSpPr>
              <p:cNvPr id="179218" name="Rectangle 15"/>
              <p:cNvSpPr>
                <a:spLocks noChangeArrowheads="1"/>
              </p:cNvSpPr>
              <p:nvPr/>
            </p:nvSpPr>
            <p:spPr bwMode="auto">
              <a:xfrm>
                <a:off x="3567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179219" name="Rectangle 16"/>
              <p:cNvSpPr>
                <a:spLocks noChangeArrowheads="1"/>
              </p:cNvSpPr>
              <p:nvPr/>
            </p:nvSpPr>
            <p:spPr bwMode="auto">
              <a:xfrm>
                <a:off x="4143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5</a:t>
                </a:r>
              </a:p>
            </p:txBody>
          </p:sp>
          <p:sp>
            <p:nvSpPr>
              <p:cNvPr id="179220" name="Rectangle 17"/>
              <p:cNvSpPr>
                <a:spLocks noChangeArrowheads="1"/>
              </p:cNvSpPr>
              <p:nvPr/>
            </p:nvSpPr>
            <p:spPr bwMode="auto">
              <a:xfrm>
                <a:off x="4815" y="147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6</a:t>
                </a:r>
              </a:p>
            </p:txBody>
          </p:sp>
          <p:sp>
            <p:nvSpPr>
              <p:cNvPr id="179221" name="Line 18"/>
              <p:cNvSpPr>
                <a:spLocks noChangeShapeType="1"/>
              </p:cNvSpPr>
              <p:nvPr/>
            </p:nvSpPr>
            <p:spPr bwMode="auto">
              <a:xfrm>
                <a:off x="3696" y="1810"/>
                <a:ext cx="0" cy="3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22" name="Line 19"/>
              <p:cNvSpPr>
                <a:spLocks noChangeShapeType="1"/>
              </p:cNvSpPr>
              <p:nvPr/>
            </p:nvSpPr>
            <p:spPr bwMode="auto">
              <a:xfrm>
                <a:off x="4272" y="1810"/>
                <a:ext cx="0" cy="3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23" name="Line 20"/>
              <p:cNvSpPr>
                <a:spLocks noChangeShapeType="1"/>
              </p:cNvSpPr>
              <p:nvPr/>
            </p:nvSpPr>
            <p:spPr bwMode="auto">
              <a:xfrm>
                <a:off x="4944" y="1810"/>
                <a:ext cx="0" cy="3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24" name="Rectangle 21"/>
              <p:cNvSpPr>
                <a:spLocks noChangeArrowheads="1"/>
              </p:cNvSpPr>
              <p:nvPr/>
            </p:nvSpPr>
            <p:spPr bwMode="auto">
              <a:xfrm>
                <a:off x="3423" y="2124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179225" name="Rectangle 22"/>
              <p:cNvSpPr>
                <a:spLocks noChangeArrowheads="1"/>
              </p:cNvSpPr>
              <p:nvPr/>
            </p:nvSpPr>
            <p:spPr bwMode="auto">
              <a:xfrm>
                <a:off x="4647" y="2124"/>
                <a:ext cx="89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100.00</a:t>
                </a:r>
              </a:p>
            </p:txBody>
          </p:sp>
          <p:sp>
            <p:nvSpPr>
              <p:cNvPr id="179226" name="Line 23"/>
              <p:cNvSpPr>
                <a:spLocks noChangeShapeType="1"/>
              </p:cNvSpPr>
              <p:nvPr/>
            </p:nvSpPr>
            <p:spPr bwMode="auto">
              <a:xfrm>
                <a:off x="864" y="1808"/>
                <a:ext cx="0" cy="3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27" name="Line 24"/>
              <p:cNvSpPr>
                <a:spLocks noChangeShapeType="1"/>
              </p:cNvSpPr>
              <p:nvPr/>
            </p:nvSpPr>
            <p:spPr bwMode="auto">
              <a:xfrm>
                <a:off x="2400" y="2456"/>
                <a:ext cx="0" cy="4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28" name="Line 25"/>
              <p:cNvSpPr>
                <a:spLocks noChangeShapeType="1"/>
              </p:cNvSpPr>
              <p:nvPr/>
            </p:nvSpPr>
            <p:spPr bwMode="auto">
              <a:xfrm>
                <a:off x="2408" y="2880"/>
                <a:ext cx="22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29" name="Line 26"/>
              <p:cNvSpPr>
                <a:spLocks noChangeShapeType="1"/>
              </p:cNvSpPr>
              <p:nvPr/>
            </p:nvSpPr>
            <p:spPr bwMode="auto">
              <a:xfrm>
                <a:off x="3696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30" name="Line 27"/>
              <p:cNvSpPr>
                <a:spLocks noChangeShapeType="1"/>
              </p:cNvSpPr>
              <p:nvPr/>
            </p:nvSpPr>
            <p:spPr bwMode="auto">
              <a:xfrm>
                <a:off x="3704" y="2592"/>
                <a:ext cx="9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231" name="Rectangle 28"/>
              <p:cNvSpPr>
                <a:spLocks noChangeArrowheads="1"/>
              </p:cNvSpPr>
              <p:nvPr/>
            </p:nvSpPr>
            <p:spPr bwMode="auto">
              <a:xfrm>
                <a:off x="4647" y="2382"/>
                <a:ext cx="89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110.25</a:t>
                </a:r>
              </a:p>
            </p:txBody>
          </p:sp>
          <p:sp>
            <p:nvSpPr>
              <p:cNvPr id="179232" name="Rectangle 29"/>
              <p:cNvSpPr>
                <a:spLocks noChangeArrowheads="1"/>
              </p:cNvSpPr>
              <p:nvPr/>
            </p:nvSpPr>
            <p:spPr bwMode="auto">
              <a:xfrm>
                <a:off x="4647" y="2670"/>
                <a:ext cx="89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u="sng"/>
                  <a:t>121.55</a:t>
                </a:r>
              </a:p>
            </p:txBody>
          </p:sp>
          <p:sp>
            <p:nvSpPr>
              <p:cNvPr id="179233" name="Rectangle 31"/>
              <p:cNvSpPr>
                <a:spLocks noChangeArrowheads="1"/>
              </p:cNvSpPr>
              <p:nvPr/>
            </p:nvSpPr>
            <p:spPr bwMode="auto">
              <a:xfrm>
                <a:off x="4649" y="2928"/>
                <a:ext cx="901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331.80</a:t>
                </a:r>
              </a:p>
            </p:txBody>
          </p:sp>
          <p:sp>
            <p:nvSpPr>
              <p:cNvPr id="179234" name="Rectangle 34"/>
              <p:cNvSpPr>
                <a:spLocks noChangeArrowheads="1"/>
              </p:cNvSpPr>
              <p:nvPr/>
            </p:nvSpPr>
            <p:spPr bwMode="auto">
              <a:xfrm>
                <a:off x="288" y="3408"/>
                <a:ext cx="5012" cy="6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10922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defTabSz="10922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defTabSz="10922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defTabSz="10922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defTabSz="10922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defTabSz="10922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defTabSz="10922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defTabSz="10922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defTabSz="10922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FVA</a:t>
                </a:r>
                <a:r>
                  <a:rPr lang="en-US" altLang="en-US" baseline="-25000"/>
                  <a:t>3</a:t>
                </a:r>
                <a:r>
                  <a:rPr lang="en-US" altLang="en-US"/>
                  <a:t>	= $100(1.05)</a:t>
                </a:r>
                <a:r>
                  <a:rPr lang="en-US" altLang="en-US" baseline="30000"/>
                  <a:t>4</a:t>
                </a:r>
                <a:r>
                  <a:rPr lang="en-US" altLang="en-US"/>
                  <a:t> + $100(1.05)</a:t>
                </a:r>
                <a:r>
                  <a:rPr lang="en-US" altLang="en-US" baseline="30000"/>
                  <a:t>2</a:t>
                </a:r>
                <a:r>
                  <a:rPr lang="en-US" altLang="en-US"/>
                  <a:t> + $100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	= $331.80</a:t>
                </a:r>
              </a:p>
            </p:txBody>
          </p:sp>
        </p:grpSp>
        <p:cxnSp>
          <p:nvCxnSpPr>
            <p:cNvPr id="179206" name="Straight Connector 34"/>
            <p:cNvCxnSpPr>
              <a:cxnSpLocks noChangeShapeType="1"/>
            </p:cNvCxnSpPr>
            <p:nvPr/>
          </p:nvCxnSpPr>
          <p:spPr bwMode="auto">
            <a:xfrm>
              <a:off x="7478714" y="5138738"/>
              <a:ext cx="1189037" cy="1587"/>
            </a:xfrm>
            <a:prstGeom prst="line">
              <a:avLst/>
            </a:prstGeom>
            <a:noFill/>
            <a:ln w="50800" cmpd="dbl" algn="ctr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1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2nd Method:  Treat as an annuity, use financial calculator</a:t>
            </a:r>
          </a:p>
        </p:txBody>
      </p:sp>
      <p:sp>
        <p:nvSpPr>
          <p:cNvPr id="1812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931B29-C2EC-45F1-A8F4-BA72616DC02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US" altLang="en-US" sz="1400"/>
          </a:p>
        </p:txBody>
      </p:sp>
      <p:sp>
        <p:nvSpPr>
          <p:cNvPr id="95236" name="Rectangle 6"/>
          <p:cNvSpPr>
            <a:spLocks noChangeArrowheads="1"/>
          </p:cNvSpPr>
          <p:nvPr/>
        </p:nvSpPr>
        <p:spPr bwMode="auto">
          <a:xfrm>
            <a:off x="838200" y="2362200"/>
            <a:ext cx="77851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/>
              <a:t>Find the EFF% (EAR) for the quoted rate:</a:t>
            </a:r>
          </a:p>
        </p:txBody>
      </p:sp>
      <p:grpSp>
        <p:nvGrpSpPr>
          <p:cNvPr id="95237" name="Group 23"/>
          <p:cNvGrpSpPr>
            <a:grpSpLocks/>
          </p:cNvGrpSpPr>
          <p:nvPr/>
        </p:nvGrpSpPr>
        <p:grpSpPr bwMode="auto">
          <a:xfrm>
            <a:off x="762000" y="3657600"/>
            <a:ext cx="7620000" cy="1268413"/>
            <a:chOff x="528" y="1296"/>
            <a:chExt cx="4800" cy="799"/>
          </a:xfrm>
        </p:grpSpPr>
        <p:sp>
          <p:nvSpPr>
            <p:cNvPr id="181254" name="Rectangle 15"/>
            <p:cNvSpPr>
              <a:spLocks noChangeArrowheads="1"/>
            </p:cNvSpPr>
            <p:nvPr/>
          </p:nvSpPr>
          <p:spPr bwMode="auto">
            <a:xfrm>
              <a:off x="528" y="1505"/>
              <a:ext cx="480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10 shift Nom; 2 sift p/yr; EFF% =   ? </a:t>
              </a:r>
            </a:p>
          </p:txBody>
        </p:sp>
        <p:sp>
          <p:nvSpPr>
            <p:cNvPr id="181255" name="Rectangle 16"/>
            <p:cNvSpPr>
              <a:spLocks noChangeArrowheads="1"/>
            </p:cNvSpPr>
            <p:nvPr/>
          </p:nvSpPr>
          <p:spPr bwMode="auto">
            <a:xfrm>
              <a:off x="2552" y="1344"/>
              <a:ext cx="11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181256" name="Rectangle 18"/>
            <p:cNvSpPr>
              <a:spLocks noChangeArrowheads="1"/>
            </p:cNvSpPr>
            <p:nvPr/>
          </p:nvSpPr>
          <p:spPr bwMode="auto">
            <a:xfrm>
              <a:off x="2665" y="1728"/>
              <a:ext cx="11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181257" name="Rectangle 19"/>
            <p:cNvSpPr>
              <a:spLocks noChangeArrowheads="1"/>
            </p:cNvSpPr>
            <p:nvPr/>
          </p:nvSpPr>
          <p:spPr bwMode="auto">
            <a:xfrm>
              <a:off x="3193" y="1296"/>
              <a:ext cx="1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AutoShape 8"/>
          <p:cNvSpPr>
            <a:spLocks noChangeArrowheads="1"/>
          </p:cNvSpPr>
          <p:nvPr/>
        </p:nvSpPr>
        <p:spPr bwMode="auto">
          <a:xfrm>
            <a:off x="4724400" y="4114800"/>
            <a:ext cx="736600" cy="4572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PV</a:t>
            </a:r>
          </a:p>
        </p:txBody>
      </p:sp>
      <p:sp>
        <p:nvSpPr>
          <p:cNvPr id="183299" name="AutoShape 9"/>
          <p:cNvSpPr>
            <a:spLocks noChangeArrowheads="1"/>
          </p:cNvSpPr>
          <p:nvPr/>
        </p:nvSpPr>
        <p:spPr bwMode="auto">
          <a:xfrm>
            <a:off x="3581400" y="4114800"/>
            <a:ext cx="812800" cy="4572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I/YR</a:t>
            </a:r>
          </a:p>
        </p:txBody>
      </p:sp>
      <p:sp>
        <p:nvSpPr>
          <p:cNvPr id="183300" name="AutoShape 10"/>
          <p:cNvSpPr>
            <a:spLocks noChangeArrowheads="1"/>
          </p:cNvSpPr>
          <p:nvPr/>
        </p:nvSpPr>
        <p:spPr bwMode="auto">
          <a:xfrm>
            <a:off x="2667000" y="4114800"/>
            <a:ext cx="660400" cy="4572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83301" name="AutoShape 11"/>
          <p:cNvSpPr>
            <a:spLocks noChangeArrowheads="1"/>
          </p:cNvSpPr>
          <p:nvPr/>
        </p:nvSpPr>
        <p:spPr bwMode="auto">
          <a:xfrm>
            <a:off x="6934200" y="4114800"/>
            <a:ext cx="736600" cy="4572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FV</a:t>
            </a:r>
          </a:p>
        </p:txBody>
      </p:sp>
      <p:sp>
        <p:nvSpPr>
          <p:cNvPr id="183302" name="AutoShape 16"/>
          <p:cNvSpPr>
            <a:spLocks noChangeArrowheads="1"/>
          </p:cNvSpPr>
          <p:nvPr/>
        </p:nvSpPr>
        <p:spPr bwMode="auto">
          <a:xfrm>
            <a:off x="5791200" y="4114800"/>
            <a:ext cx="812800" cy="457200"/>
          </a:xfrm>
          <a:prstGeom prst="roundRect">
            <a:avLst>
              <a:gd name="adj" fmla="val 12495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PMT</a:t>
            </a:r>
          </a:p>
        </p:txBody>
      </p:sp>
      <p:sp>
        <p:nvSpPr>
          <p:cNvPr id="183316" name="Rectangle 2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Use EAR = 10.25% as the annual rate in calculator.</a:t>
            </a:r>
          </a:p>
        </p:txBody>
      </p:sp>
      <p:sp>
        <p:nvSpPr>
          <p:cNvPr id="18330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5E4364-FF72-4286-8CF0-19BAC351822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en-US" sz="1400"/>
          </a:p>
        </p:txBody>
      </p:sp>
      <p:sp>
        <p:nvSpPr>
          <p:cNvPr id="18330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330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3307" name="AutoShape 6"/>
          <p:cNvSpPr>
            <a:spLocks noChangeArrowheads="1"/>
          </p:cNvSpPr>
          <p:nvPr/>
        </p:nvSpPr>
        <p:spPr bwMode="auto">
          <a:xfrm>
            <a:off x="990600" y="3581400"/>
            <a:ext cx="1371600" cy="523875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1">
                <a:latin typeface="Arial" panose="020B0604020202020204" pitchFamily="34" charset="0"/>
              </a:rPr>
              <a:t>INPUTS</a:t>
            </a:r>
          </a:p>
        </p:txBody>
      </p:sp>
      <p:sp>
        <p:nvSpPr>
          <p:cNvPr id="183308" name="AutoShape 7"/>
          <p:cNvSpPr>
            <a:spLocks noChangeArrowheads="1"/>
          </p:cNvSpPr>
          <p:nvPr/>
        </p:nvSpPr>
        <p:spPr bwMode="auto">
          <a:xfrm>
            <a:off x="990600" y="4495800"/>
            <a:ext cx="1371600" cy="523875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1">
                <a:latin typeface="Arial" panose="020B0604020202020204" pitchFamily="34" charset="0"/>
              </a:rPr>
              <a:t> OUTPUT </a:t>
            </a:r>
          </a:p>
        </p:txBody>
      </p:sp>
      <p:sp>
        <p:nvSpPr>
          <p:cNvPr id="183314" name="Rectangle 19"/>
          <p:cNvSpPr>
            <a:spLocks noChangeArrowheads="1"/>
          </p:cNvSpPr>
          <p:nvPr/>
        </p:nvSpPr>
        <p:spPr bwMode="auto">
          <a:xfrm>
            <a:off x="6781800" y="4800600"/>
            <a:ext cx="11144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331.80</a:t>
            </a:r>
          </a:p>
        </p:txBody>
      </p:sp>
      <p:sp>
        <p:nvSpPr>
          <p:cNvPr id="242708" name="Rectangle 20"/>
          <p:cNvSpPr>
            <a:spLocks noChangeArrowheads="1"/>
          </p:cNvSpPr>
          <p:nvPr/>
        </p:nvSpPr>
        <p:spPr bwMode="auto">
          <a:xfrm>
            <a:off x="765175" y="3621088"/>
            <a:ext cx="523875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cs typeface="+mn-cs"/>
            </a:endParaRP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What’s the PV of this stream?</a:t>
            </a:r>
          </a:p>
        </p:txBody>
      </p:sp>
      <p:sp>
        <p:nvSpPr>
          <p:cNvPr id="1853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15DDCD-E372-4F86-B36B-18E5201F59D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US" altLang="en-US" sz="1400"/>
          </a:p>
        </p:txBody>
      </p:sp>
      <p:grpSp>
        <p:nvGrpSpPr>
          <p:cNvPr id="185348" name="Group 32"/>
          <p:cNvGrpSpPr>
            <a:grpSpLocks/>
          </p:cNvGrpSpPr>
          <p:nvPr/>
        </p:nvGrpSpPr>
        <p:grpSpPr bwMode="auto">
          <a:xfrm>
            <a:off x="1011238" y="2636838"/>
            <a:ext cx="7556500" cy="3992562"/>
            <a:chOff x="1011238" y="2636838"/>
            <a:chExt cx="7556500" cy="3992563"/>
          </a:xfrm>
        </p:grpSpPr>
        <p:grpSp>
          <p:nvGrpSpPr>
            <p:cNvPr id="185349" name="Group 30"/>
            <p:cNvGrpSpPr>
              <a:grpSpLocks/>
            </p:cNvGrpSpPr>
            <p:nvPr/>
          </p:nvGrpSpPr>
          <p:grpSpPr bwMode="auto">
            <a:xfrm>
              <a:off x="1011238" y="2636838"/>
              <a:ext cx="7556500" cy="3992563"/>
              <a:chOff x="637" y="1661"/>
              <a:chExt cx="4760" cy="2515"/>
            </a:xfrm>
          </p:grpSpPr>
          <p:sp>
            <p:nvSpPr>
              <p:cNvPr id="185351" name="Line 3"/>
              <p:cNvSpPr>
                <a:spLocks noChangeShapeType="1"/>
              </p:cNvSpPr>
              <p:nvPr/>
            </p:nvSpPr>
            <p:spPr bwMode="auto">
              <a:xfrm>
                <a:off x="1064" y="2160"/>
                <a:ext cx="40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52" name="Rectangle 4"/>
              <p:cNvSpPr>
                <a:spLocks noChangeArrowheads="1"/>
              </p:cNvSpPr>
              <p:nvPr/>
            </p:nvSpPr>
            <p:spPr bwMode="auto">
              <a:xfrm>
                <a:off x="928" y="166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0</a:t>
                </a:r>
              </a:p>
            </p:txBody>
          </p:sp>
          <p:sp>
            <p:nvSpPr>
              <p:cNvPr id="185353" name="Line 5"/>
              <p:cNvSpPr>
                <a:spLocks noChangeShapeType="1"/>
              </p:cNvSpPr>
              <p:nvPr/>
            </p:nvSpPr>
            <p:spPr bwMode="auto">
              <a:xfrm>
                <a:off x="1824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54" name="Rectangle 6"/>
              <p:cNvSpPr>
                <a:spLocks noChangeArrowheads="1"/>
              </p:cNvSpPr>
              <p:nvPr/>
            </p:nvSpPr>
            <p:spPr bwMode="auto">
              <a:xfrm>
                <a:off x="1702" y="1719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5355" name="Line 7"/>
              <p:cNvSpPr>
                <a:spLocks noChangeShapeType="1"/>
              </p:cNvSpPr>
              <p:nvPr/>
            </p:nvSpPr>
            <p:spPr bwMode="auto">
              <a:xfrm>
                <a:off x="2592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56" name="Rectangle 8"/>
              <p:cNvSpPr>
                <a:spLocks noChangeArrowheads="1"/>
              </p:cNvSpPr>
              <p:nvPr/>
            </p:nvSpPr>
            <p:spPr bwMode="auto">
              <a:xfrm>
                <a:off x="2320" y="232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185357" name="Rectangle 9"/>
              <p:cNvSpPr>
                <a:spLocks noChangeArrowheads="1"/>
              </p:cNvSpPr>
              <p:nvPr/>
            </p:nvSpPr>
            <p:spPr bwMode="auto">
              <a:xfrm>
                <a:off x="2464" y="166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185358" name="Line 10"/>
              <p:cNvSpPr>
                <a:spLocks noChangeShapeType="1"/>
              </p:cNvSpPr>
              <p:nvPr/>
            </p:nvSpPr>
            <p:spPr bwMode="auto">
              <a:xfrm>
                <a:off x="3216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59" name="Rectangle 11"/>
              <p:cNvSpPr>
                <a:spLocks noChangeArrowheads="1"/>
              </p:cNvSpPr>
              <p:nvPr/>
            </p:nvSpPr>
            <p:spPr bwMode="auto">
              <a:xfrm>
                <a:off x="3094" y="1719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5360" name="Rectangle 12"/>
              <p:cNvSpPr>
                <a:spLocks noChangeArrowheads="1"/>
              </p:cNvSpPr>
              <p:nvPr/>
            </p:nvSpPr>
            <p:spPr bwMode="auto">
              <a:xfrm>
                <a:off x="1259" y="1930"/>
                <a:ext cx="407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5%</a:t>
                </a:r>
              </a:p>
            </p:txBody>
          </p:sp>
          <p:sp>
            <p:nvSpPr>
              <p:cNvPr id="185361" name="Rectangle 13"/>
              <p:cNvSpPr>
                <a:spLocks noChangeArrowheads="1"/>
              </p:cNvSpPr>
              <p:nvPr/>
            </p:nvSpPr>
            <p:spPr bwMode="auto">
              <a:xfrm>
                <a:off x="3759" y="166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185362" name="Rectangle 14"/>
              <p:cNvSpPr>
                <a:spLocks noChangeArrowheads="1"/>
              </p:cNvSpPr>
              <p:nvPr/>
            </p:nvSpPr>
            <p:spPr bwMode="auto">
              <a:xfrm>
                <a:off x="4342" y="171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5363" name="Rectangle 15"/>
              <p:cNvSpPr>
                <a:spLocks noChangeArrowheads="1"/>
              </p:cNvSpPr>
              <p:nvPr/>
            </p:nvSpPr>
            <p:spPr bwMode="auto">
              <a:xfrm>
                <a:off x="5007" y="1661"/>
                <a:ext cx="25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185364" name="Line 16"/>
              <p:cNvSpPr>
                <a:spLocks noChangeShapeType="1"/>
              </p:cNvSpPr>
              <p:nvPr/>
            </p:nvSpPr>
            <p:spPr bwMode="auto">
              <a:xfrm>
                <a:off x="3888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65" name="Line 17"/>
              <p:cNvSpPr>
                <a:spLocks noChangeShapeType="1"/>
              </p:cNvSpPr>
              <p:nvPr/>
            </p:nvSpPr>
            <p:spPr bwMode="auto">
              <a:xfrm>
                <a:off x="4464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66" name="Line 18"/>
              <p:cNvSpPr>
                <a:spLocks noChangeShapeType="1"/>
              </p:cNvSpPr>
              <p:nvPr/>
            </p:nvSpPr>
            <p:spPr bwMode="auto">
              <a:xfrm>
                <a:off x="5136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67" name="Rectangle 19"/>
              <p:cNvSpPr>
                <a:spLocks noChangeArrowheads="1"/>
              </p:cNvSpPr>
              <p:nvPr/>
            </p:nvSpPr>
            <p:spPr bwMode="auto">
              <a:xfrm>
                <a:off x="3615" y="232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185368" name="Rectangle 20"/>
              <p:cNvSpPr>
                <a:spLocks noChangeArrowheads="1"/>
              </p:cNvSpPr>
              <p:nvPr/>
            </p:nvSpPr>
            <p:spPr bwMode="auto">
              <a:xfrm>
                <a:off x="4863" y="2328"/>
                <a:ext cx="5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100</a:t>
                </a:r>
              </a:p>
            </p:txBody>
          </p:sp>
          <p:sp>
            <p:nvSpPr>
              <p:cNvPr id="185369" name="Line 21"/>
              <p:cNvSpPr>
                <a:spLocks noChangeShapeType="1"/>
              </p:cNvSpPr>
              <p:nvPr/>
            </p:nvSpPr>
            <p:spPr bwMode="auto">
              <a:xfrm>
                <a:off x="1056" y="2010"/>
                <a:ext cx="0" cy="3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0" name="Line 22"/>
              <p:cNvSpPr>
                <a:spLocks noChangeShapeType="1"/>
              </p:cNvSpPr>
              <p:nvPr/>
            </p:nvSpPr>
            <p:spPr bwMode="auto">
              <a:xfrm>
                <a:off x="2592" y="2647"/>
                <a:ext cx="0" cy="4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1" name="Line 23"/>
              <p:cNvSpPr>
                <a:spLocks noChangeShapeType="1"/>
              </p:cNvSpPr>
              <p:nvPr/>
            </p:nvSpPr>
            <p:spPr bwMode="auto">
              <a:xfrm flipH="1">
                <a:off x="1563" y="3122"/>
                <a:ext cx="10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2" name="Line 24"/>
              <p:cNvSpPr>
                <a:spLocks noChangeShapeType="1"/>
              </p:cNvSpPr>
              <p:nvPr/>
            </p:nvSpPr>
            <p:spPr bwMode="auto">
              <a:xfrm>
                <a:off x="3888" y="2648"/>
                <a:ext cx="0" cy="7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3" name="Line 25"/>
              <p:cNvSpPr>
                <a:spLocks noChangeShapeType="1"/>
              </p:cNvSpPr>
              <p:nvPr/>
            </p:nvSpPr>
            <p:spPr bwMode="auto">
              <a:xfrm flipH="1">
                <a:off x="1563" y="3439"/>
                <a:ext cx="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4" name="Line 26"/>
              <p:cNvSpPr>
                <a:spLocks noChangeShapeType="1"/>
              </p:cNvSpPr>
              <p:nvPr/>
            </p:nvSpPr>
            <p:spPr bwMode="auto">
              <a:xfrm>
                <a:off x="5136" y="2647"/>
                <a:ext cx="0" cy="10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5" name="Line 27"/>
              <p:cNvSpPr>
                <a:spLocks noChangeShapeType="1"/>
              </p:cNvSpPr>
              <p:nvPr/>
            </p:nvSpPr>
            <p:spPr bwMode="auto">
              <a:xfrm flipH="1">
                <a:off x="1563" y="3746"/>
                <a:ext cx="356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76" name="Rectangle 28"/>
              <p:cNvSpPr>
                <a:spLocks noChangeArrowheads="1"/>
              </p:cNvSpPr>
              <p:nvPr/>
            </p:nvSpPr>
            <p:spPr bwMode="auto">
              <a:xfrm>
                <a:off x="637" y="2879"/>
                <a:ext cx="882" cy="1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90.70</a:t>
                </a:r>
              </a:p>
              <a:p>
                <a:pPr algn="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82.27</a:t>
                </a:r>
              </a:p>
              <a:p>
                <a:pPr algn="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u="sng"/>
                  <a:t>74.62</a:t>
                </a:r>
              </a:p>
              <a:p>
                <a:pPr algn="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247.59</a:t>
                </a:r>
              </a:p>
            </p:txBody>
          </p:sp>
        </p:grpSp>
        <p:cxnSp>
          <p:nvCxnSpPr>
            <p:cNvPr id="185350" name="Straight Connector 31"/>
            <p:cNvCxnSpPr>
              <a:cxnSpLocks noChangeShapeType="1"/>
            </p:cNvCxnSpPr>
            <p:nvPr/>
          </p:nvCxnSpPr>
          <p:spPr bwMode="auto">
            <a:xfrm>
              <a:off x="1131888" y="6530976"/>
              <a:ext cx="1189037" cy="1588"/>
            </a:xfrm>
            <a:prstGeom prst="line">
              <a:avLst/>
            </a:prstGeom>
            <a:noFill/>
            <a:ln w="50800" cmpd="dbl" algn="ctr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Comparing Investments</a:t>
            </a:r>
          </a:p>
        </p:txBody>
      </p:sp>
      <p:sp>
        <p:nvSpPr>
          <p:cNvPr id="187396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You are offered a note that pays $1,000 in 15 months (or 456 days) for $850.  You have $850 in a bank that pays a 6.76649% nominal rate, with 365 daily compounding. You plan to leave the money in the bank if you don’t buy the note.  The note is riskless.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Should you buy it?</a:t>
            </a:r>
          </a:p>
        </p:txBody>
      </p:sp>
      <p:sp>
        <p:nvSpPr>
          <p:cNvPr id="187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63FDFA-7E03-4FBA-8D66-1AAFCA0837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US" altLang="en-US" sz="14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70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Daily time line</a:t>
            </a:r>
          </a:p>
        </p:txBody>
      </p:sp>
      <p:sp>
        <p:nvSpPr>
          <p:cNvPr id="1894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3F9BA9-A838-4823-BE03-5FC812A0ED1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US" altLang="en-US" sz="1400"/>
          </a:p>
        </p:txBody>
      </p:sp>
      <p:sp>
        <p:nvSpPr>
          <p:cNvPr id="189443" name="Rectangle 3"/>
          <p:cNvSpPr>
            <a:spLocks noChangeArrowheads="1"/>
          </p:cNvSpPr>
          <p:nvPr/>
        </p:nvSpPr>
        <p:spPr bwMode="auto">
          <a:xfrm>
            <a:off x="1308100" y="2819400"/>
            <a:ext cx="5694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I</a:t>
            </a:r>
            <a:r>
              <a:rPr lang="en-US" altLang="en-US" baseline="-25000" dirty="0"/>
              <a:t>PER</a:t>
            </a:r>
            <a:r>
              <a:rPr lang="en-US" altLang="en-US" dirty="0"/>
              <a:t> =	0.018538% per day.</a:t>
            </a:r>
          </a:p>
        </p:txBody>
      </p:sp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7473950" y="5135563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1,000</a:t>
            </a:r>
          </a:p>
        </p:txBody>
      </p:sp>
      <p:sp>
        <p:nvSpPr>
          <p:cNvPr id="189445" name="Line 5"/>
          <p:cNvSpPr>
            <a:spLocks noChangeShapeType="1"/>
          </p:cNvSpPr>
          <p:nvPr/>
        </p:nvSpPr>
        <p:spPr bwMode="auto">
          <a:xfrm>
            <a:off x="1490663" y="4457700"/>
            <a:ext cx="0" cy="682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46" name="Line 6"/>
          <p:cNvSpPr>
            <a:spLocks noChangeShapeType="1"/>
          </p:cNvSpPr>
          <p:nvPr/>
        </p:nvSpPr>
        <p:spPr bwMode="auto">
          <a:xfrm>
            <a:off x="4767263" y="4457700"/>
            <a:ext cx="0" cy="682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47" name="Line 7"/>
          <p:cNvSpPr>
            <a:spLocks noChangeShapeType="1"/>
          </p:cNvSpPr>
          <p:nvPr/>
        </p:nvSpPr>
        <p:spPr bwMode="auto">
          <a:xfrm>
            <a:off x="8001000" y="4457700"/>
            <a:ext cx="0" cy="682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48" name="Line 8"/>
          <p:cNvSpPr>
            <a:spLocks noChangeShapeType="1"/>
          </p:cNvSpPr>
          <p:nvPr/>
        </p:nvSpPr>
        <p:spPr bwMode="auto">
          <a:xfrm>
            <a:off x="1490663" y="4800600"/>
            <a:ext cx="14049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49" name="Rectangle 9"/>
          <p:cNvSpPr>
            <a:spLocks noChangeArrowheads="1"/>
          </p:cNvSpPr>
          <p:nvPr/>
        </p:nvSpPr>
        <p:spPr bwMode="auto">
          <a:xfrm>
            <a:off x="1300163" y="40640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9450" name="Rectangle 10"/>
          <p:cNvSpPr>
            <a:spLocks noChangeArrowheads="1"/>
          </p:cNvSpPr>
          <p:nvPr/>
        </p:nvSpPr>
        <p:spPr bwMode="auto">
          <a:xfrm>
            <a:off x="4459288" y="4064000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365</a:t>
            </a:r>
          </a:p>
        </p:txBody>
      </p:sp>
      <p:sp>
        <p:nvSpPr>
          <p:cNvPr id="189451" name="Rectangle 11"/>
          <p:cNvSpPr>
            <a:spLocks noChangeArrowheads="1"/>
          </p:cNvSpPr>
          <p:nvPr/>
        </p:nvSpPr>
        <p:spPr bwMode="auto">
          <a:xfrm>
            <a:off x="7672388" y="4064000"/>
            <a:ext cx="1471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456 days</a:t>
            </a:r>
          </a:p>
        </p:txBody>
      </p:sp>
      <p:sp>
        <p:nvSpPr>
          <p:cNvPr id="189452" name="Rectangle 12"/>
          <p:cNvSpPr>
            <a:spLocks noChangeArrowheads="1"/>
          </p:cNvSpPr>
          <p:nvPr/>
        </p:nvSpPr>
        <p:spPr bwMode="auto">
          <a:xfrm>
            <a:off x="1100138" y="513556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-850</a:t>
            </a:r>
          </a:p>
        </p:txBody>
      </p:sp>
      <p:sp>
        <p:nvSpPr>
          <p:cNvPr id="189453" name="Line 13"/>
          <p:cNvSpPr>
            <a:spLocks noChangeShapeType="1"/>
          </p:cNvSpPr>
          <p:nvPr/>
        </p:nvSpPr>
        <p:spPr bwMode="auto">
          <a:xfrm flipH="1">
            <a:off x="1557338" y="3306763"/>
            <a:ext cx="1671637" cy="1462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4" name="Line 14"/>
          <p:cNvSpPr>
            <a:spLocks noChangeShapeType="1"/>
          </p:cNvSpPr>
          <p:nvPr/>
        </p:nvSpPr>
        <p:spPr bwMode="auto">
          <a:xfrm>
            <a:off x="18716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5" name="Line 15"/>
          <p:cNvSpPr>
            <a:spLocks noChangeShapeType="1"/>
          </p:cNvSpPr>
          <p:nvPr/>
        </p:nvSpPr>
        <p:spPr bwMode="auto">
          <a:xfrm>
            <a:off x="21764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6" name="Line 16"/>
          <p:cNvSpPr>
            <a:spLocks noChangeShapeType="1"/>
          </p:cNvSpPr>
          <p:nvPr/>
        </p:nvSpPr>
        <p:spPr bwMode="auto">
          <a:xfrm>
            <a:off x="24050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7" name="Line 17"/>
          <p:cNvSpPr>
            <a:spLocks noChangeShapeType="1"/>
          </p:cNvSpPr>
          <p:nvPr/>
        </p:nvSpPr>
        <p:spPr bwMode="auto">
          <a:xfrm>
            <a:off x="51482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8" name="Line 18"/>
          <p:cNvSpPr>
            <a:spLocks noChangeShapeType="1"/>
          </p:cNvSpPr>
          <p:nvPr/>
        </p:nvSpPr>
        <p:spPr bwMode="auto">
          <a:xfrm>
            <a:off x="53768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59" name="Line 19"/>
          <p:cNvSpPr>
            <a:spLocks noChangeShapeType="1"/>
          </p:cNvSpPr>
          <p:nvPr/>
        </p:nvSpPr>
        <p:spPr bwMode="auto">
          <a:xfrm>
            <a:off x="49196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0" name="Line 20"/>
          <p:cNvSpPr>
            <a:spLocks noChangeShapeType="1"/>
          </p:cNvSpPr>
          <p:nvPr/>
        </p:nvSpPr>
        <p:spPr bwMode="auto">
          <a:xfrm>
            <a:off x="26336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1" name="Line 21"/>
          <p:cNvSpPr>
            <a:spLocks noChangeShapeType="1"/>
          </p:cNvSpPr>
          <p:nvPr/>
        </p:nvSpPr>
        <p:spPr bwMode="auto">
          <a:xfrm>
            <a:off x="37766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2" name="Line 22"/>
          <p:cNvSpPr>
            <a:spLocks noChangeShapeType="1"/>
          </p:cNvSpPr>
          <p:nvPr/>
        </p:nvSpPr>
        <p:spPr bwMode="auto">
          <a:xfrm>
            <a:off x="40052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3" name="Line 23"/>
          <p:cNvSpPr>
            <a:spLocks noChangeShapeType="1"/>
          </p:cNvSpPr>
          <p:nvPr/>
        </p:nvSpPr>
        <p:spPr bwMode="auto">
          <a:xfrm>
            <a:off x="42338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4" name="Line 24"/>
          <p:cNvSpPr>
            <a:spLocks noChangeShapeType="1"/>
          </p:cNvSpPr>
          <p:nvPr/>
        </p:nvSpPr>
        <p:spPr bwMode="auto">
          <a:xfrm>
            <a:off x="44624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5" name="Line 25"/>
          <p:cNvSpPr>
            <a:spLocks noChangeShapeType="1"/>
          </p:cNvSpPr>
          <p:nvPr/>
        </p:nvSpPr>
        <p:spPr bwMode="auto">
          <a:xfrm>
            <a:off x="76628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6" name="Line 26"/>
          <p:cNvSpPr>
            <a:spLocks noChangeShapeType="1"/>
          </p:cNvSpPr>
          <p:nvPr/>
        </p:nvSpPr>
        <p:spPr bwMode="auto">
          <a:xfrm>
            <a:off x="56054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7" name="Line 27"/>
          <p:cNvSpPr>
            <a:spLocks noChangeShapeType="1"/>
          </p:cNvSpPr>
          <p:nvPr/>
        </p:nvSpPr>
        <p:spPr bwMode="auto">
          <a:xfrm>
            <a:off x="74342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8" name="Line 28"/>
          <p:cNvSpPr>
            <a:spLocks noChangeShapeType="1"/>
          </p:cNvSpPr>
          <p:nvPr/>
        </p:nvSpPr>
        <p:spPr bwMode="auto">
          <a:xfrm>
            <a:off x="72056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69" name="Line 29"/>
          <p:cNvSpPr>
            <a:spLocks noChangeShapeType="1"/>
          </p:cNvSpPr>
          <p:nvPr/>
        </p:nvSpPr>
        <p:spPr bwMode="auto">
          <a:xfrm>
            <a:off x="6900863" y="4678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71" name="Line 39"/>
          <p:cNvSpPr>
            <a:spLocks noChangeShapeType="1"/>
          </p:cNvSpPr>
          <p:nvPr/>
        </p:nvSpPr>
        <p:spPr bwMode="auto">
          <a:xfrm>
            <a:off x="3581400" y="4800600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9472" name="Line 40"/>
          <p:cNvSpPr>
            <a:spLocks noChangeShapeType="1"/>
          </p:cNvSpPr>
          <p:nvPr/>
        </p:nvSpPr>
        <p:spPr bwMode="auto">
          <a:xfrm flipH="1">
            <a:off x="6781800" y="48006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9473" name="Text Box 41"/>
          <p:cNvSpPr txBox="1">
            <a:spLocks noChangeArrowheads="1"/>
          </p:cNvSpPr>
          <p:nvPr/>
        </p:nvSpPr>
        <p:spPr bwMode="auto">
          <a:xfrm>
            <a:off x="2971800" y="4419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/>
              <a:t>…</a:t>
            </a:r>
          </a:p>
        </p:txBody>
      </p:sp>
      <p:sp>
        <p:nvSpPr>
          <p:cNvPr id="189474" name="Text Box 42"/>
          <p:cNvSpPr txBox="1">
            <a:spLocks noChangeArrowheads="1"/>
          </p:cNvSpPr>
          <p:nvPr/>
        </p:nvSpPr>
        <p:spPr bwMode="auto">
          <a:xfrm>
            <a:off x="6019800" y="4419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/>
              <a:t>…</a:t>
            </a: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Three solution methods</a:t>
            </a:r>
          </a:p>
        </p:txBody>
      </p:sp>
      <p:sp>
        <p:nvSpPr>
          <p:cNvPr id="191492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Highest rate of return: EFF%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Greatest wealth today: PV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/>
              <a:t>Greatest future wealth: FV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FB763A-B31A-49BF-AA84-F97779E28C0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US" altLang="en-US" sz="14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10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1a.  Rate of Return</a:t>
            </a:r>
          </a:p>
        </p:txBody>
      </p:sp>
      <p:sp>
        <p:nvSpPr>
          <p:cNvPr id="2017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59D62C-5A4B-4CA7-A74B-7249643FCE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US" altLang="en-US" sz="1400"/>
          </a:p>
        </p:txBody>
      </p:sp>
      <p:sp>
        <p:nvSpPr>
          <p:cNvPr id="201731" name="Rectangle 1026"/>
          <p:cNvSpPr>
            <a:spLocks noChangeArrowheads="1"/>
          </p:cNvSpPr>
          <p:nvPr/>
        </p:nvSpPr>
        <p:spPr bwMode="auto">
          <a:xfrm>
            <a:off x="228600" y="1676400"/>
            <a:ext cx="8686800" cy="4032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Find the EFF% on note &amp; compare with 7.0% bank pays, which is opportunity cost of capital:  Solve for I first.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N=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PV =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FV =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I = ?</a:t>
            </a: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0" name="Rectangle 104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1b. Solve for Effective rate</a:t>
            </a:r>
          </a:p>
        </p:txBody>
      </p:sp>
      <p:sp>
        <p:nvSpPr>
          <p:cNvPr id="2037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B5415F-010D-4AAA-8F73-03B0BE55909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US" altLang="en-US" sz="1400"/>
          </a:p>
        </p:txBody>
      </p:sp>
      <p:grpSp>
        <p:nvGrpSpPr>
          <p:cNvPr id="203779" name="Group 24"/>
          <p:cNvGrpSpPr>
            <a:grpSpLocks/>
          </p:cNvGrpSpPr>
          <p:nvPr/>
        </p:nvGrpSpPr>
        <p:grpSpPr bwMode="auto">
          <a:xfrm>
            <a:off x="76200" y="1606831"/>
            <a:ext cx="8991211" cy="2355570"/>
            <a:chOff x="494" y="1618"/>
            <a:chExt cx="5201" cy="1221"/>
          </a:xfrm>
        </p:grpSpPr>
        <p:sp>
          <p:nvSpPr>
            <p:cNvPr id="203781" name="Rectangle 1027"/>
            <p:cNvSpPr>
              <a:spLocks noChangeArrowheads="1"/>
            </p:cNvSpPr>
            <p:nvPr/>
          </p:nvSpPr>
          <p:spPr bwMode="auto">
            <a:xfrm>
              <a:off x="934" y="1653"/>
              <a:ext cx="4551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 456	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??</a:t>
              </a:r>
              <a:r>
                <a:rPr lang="en-US" altLang="en-US" sz="2600" b="1" dirty="0">
                  <a:latin typeface="Arial" panose="020B0604020202020204" pitchFamily="34" charset="0"/>
                </a:rPr>
                <a:t>	-850	     0      1000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		      </a:t>
              </a:r>
              <a:r>
                <a:rPr lang="en-US" altLang="en-US" sz="24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0.035646%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                             </a:t>
              </a:r>
              <a:r>
                <a:rPr lang="en-US" altLang="en-US" sz="24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per day</a:t>
              </a:r>
              <a:r>
                <a:rPr lang="en-US" altLang="en-US" sz="2600" b="1" dirty="0">
                  <a:latin typeface="Arial" panose="020B0604020202020204" pitchFamily="34" charset="0"/>
                </a:rPr>
                <a:t>	   </a:t>
              </a:r>
            </a:p>
          </p:txBody>
        </p:sp>
        <p:sp>
          <p:nvSpPr>
            <p:cNvPr id="203782" name="AutoShape 1028"/>
            <p:cNvSpPr>
              <a:spLocks noChangeArrowheads="1"/>
            </p:cNvSpPr>
            <p:nvPr/>
          </p:nvSpPr>
          <p:spPr bwMode="auto">
            <a:xfrm>
              <a:off x="709" y="1618"/>
              <a:ext cx="864" cy="357"/>
            </a:xfrm>
            <a:prstGeom prst="roundRect">
              <a:avLst>
                <a:gd name="adj" fmla="val 1904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203783" name="AutoShape 1029"/>
            <p:cNvSpPr>
              <a:spLocks noChangeArrowheads="1"/>
            </p:cNvSpPr>
            <p:nvPr/>
          </p:nvSpPr>
          <p:spPr bwMode="auto">
            <a:xfrm>
              <a:off x="699" y="2053"/>
              <a:ext cx="864" cy="357"/>
            </a:xfrm>
            <a:prstGeom prst="roundRect">
              <a:avLst>
                <a:gd name="adj" fmla="val 1189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203784" name="AutoShape 1030"/>
            <p:cNvSpPr>
              <a:spLocks noChangeArrowheads="1"/>
            </p:cNvSpPr>
            <p:nvPr/>
          </p:nvSpPr>
          <p:spPr bwMode="auto">
            <a:xfrm>
              <a:off x="3093" y="1841"/>
              <a:ext cx="464" cy="26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203785" name="AutoShape 1031"/>
            <p:cNvSpPr>
              <a:spLocks noChangeArrowheads="1"/>
            </p:cNvSpPr>
            <p:nvPr/>
          </p:nvSpPr>
          <p:spPr bwMode="auto">
            <a:xfrm>
              <a:off x="2421" y="1841"/>
              <a:ext cx="512" cy="26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203786" name="AutoShape 1032"/>
            <p:cNvSpPr>
              <a:spLocks noChangeArrowheads="1"/>
            </p:cNvSpPr>
            <p:nvPr/>
          </p:nvSpPr>
          <p:spPr bwMode="auto">
            <a:xfrm>
              <a:off x="1797" y="1841"/>
              <a:ext cx="416" cy="26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03787" name="AutoShape 1033"/>
            <p:cNvSpPr>
              <a:spLocks noChangeArrowheads="1"/>
            </p:cNvSpPr>
            <p:nvPr/>
          </p:nvSpPr>
          <p:spPr bwMode="auto">
            <a:xfrm>
              <a:off x="4389" y="1841"/>
              <a:ext cx="464" cy="26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203792" name="AutoShape 1038"/>
            <p:cNvSpPr>
              <a:spLocks noChangeArrowheads="1"/>
            </p:cNvSpPr>
            <p:nvPr/>
          </p:nvSpPr>
          <p:spPr bwMode="auto">
            <a:xfrm>
              <a:off x="3765" y="1837"/>
              <a:ext cx="512" cy="272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203794" name="Rectangle 1040"/>
            <p:cNvSpPr>
              <a:spLocks noChangeArrowheads="1"/>
            </p:cNvSpPr>
            <p:nvPr/>
          </p:nvSpPr>
          <p:spPr bwMode="auto">
            <a:xfrm>
              <a:off x="494" y="2542"/>
              <a:ext cx="5201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E4509E6-0C96-8098-0522-1CBE6645D05A}"/>
              </a:ext>
            </a:extLst>
          </p:cNvPr>
          <p:cNvSpPr txBox="1"/>
          <p:nvPr/>
        </p:nvSpPr>
        <p:spPr>
          <a:xfrm>
            <a:off x="228600" y="3584275"/>
            <a:ext cx="85344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Days in year	=	365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NOM%	=	0.035646(365)	= 13.01%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P/YR		=	365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EFF%		=	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13.89%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13.89% &gt; 7.0% opportunity cost, buy note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2719396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10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1c. Rate of Return: Math Solution</a:t>
            </a:r>
          </a:p>
        </p:txBody>
      </p:sp>
      <p:sp>
        <p:nvSpPr>
          <p:cNvPr id="2017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59D62C-5A4B-4CA7-A74B-7249643FCE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US" altLang="en-US" sz="1400"/>
          </a:p>
        </p:txBody>
      </p:sp>
      <p:sp>
        <p:nvSpPr>
          <p:cNvPr id="201731" name="Rectangle 1026"/>
          <p:cNvSpPr>
            <a:spLocks noChangeArrowheads="1"/>
          </p:cNvSpPr>
          <p:nvPr/>
        </p:nvSpPr>
        <p:spPr bwMode="auto">
          <a:xfrm>
            <a:off x="228600" y="1447800"/>
            <a:ext cx="8763000" cy="557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Find the EFF% on note &amp; compare with 7.0% bank pays, which is opportunity cost of capital: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	</a:t>
            </a:r>
            <a:r>
              <a:rPr lang="en-US" altLang="en-US" sz="2800" dirty="0"/>
              <a:t>FV</a:t>
            </a:r>
            <a:r>
              <a:rPr lang="en-US" altLang="en-US" sz="2800" baseline="-25000" dirty="0"/>
              <a:t>N</a:t>
            </a:r>
            <a:r>
              <a:rPr lang="en-US" altLang="en-US" sz="2800" dirty="0"/>
              <a:t>	= PV(1 + I)</a:t>
            </a:r>
            <a:r>
              <a:rPr lang="en-US" altLang="en-US" sz="2800" baseline="30000" dirty="0"/>
              <a:t>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	   $1,000	= $850(1 + I)</a:t>
            </a:r>
            <a:r>
              <a:rPr lang="en-US" altLang="en-US" sz="2800" baseline="30000" dirty="0"/>
              <a:t>456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			Solve for I.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So:    </a:t>
            </a:r>
            <a:r>
              <a:rPr lang="en-US" altLang="en-US" sz="2800" dirty="0"/>
              <a:t>I= 0.035646%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Convert % to decimal: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Decimal = 0.035646/100 = 0.00035646.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EAR = EFF%	= (1.00035646)</a:t>
            </a:r>
            <a:r>
              <a:rPr lang="en-US" altLang="en-US" sz="2800" baseline="30000" dirty="0"/>
              <a:t>365</a:t>
            </a:r>
            <a:r>
              <a:rPr lang="en-US" altLang="en-US" sz="2800" dirty="0"/>
              <a:t> - 1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                  	= 13.89%.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8494979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10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2a.  Greatest Present Wealth</a:t>
            </a:r>
          </a:p>
        </p:txBody>
      </p:sp>
      <p:sp>
        <p:nvSpPr>
          <p:cNvPr id="19763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8D280F-A04B-434F-8427-8B57D39E7B8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US" altLang="en-US" sz="1400"/>
          </a:p>
        </p:txBody>
      </p:sp>
      <p:sp>
        <p:nvSpPr>
          <p:cNvPr id="197635" name="Rectangle 1028"/>
          <p:cNvSpPr>
            <a:spLocks noChangeArrowheads="1"/>
          </p:cNvSpPr>
          <p:nvPr/>
        </p:nvSpPr>
        <p:spPr bwMode="auto">
          <a:xfrm>
            <a:off x="1371600" y="2503488"/>
            <a:ext cx="6219825" cy="350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Find PV of note, and compare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with its $850 cost: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PV	=	$1,000/(1.00018538)</a:t>
            </a:r>
            <a:r>
              <a:rPr lang="en-US" altLang="en-US" baseline="30000">
                <a:latin typeface="Arial" panose="020B0604020202020204" pitchFamily="34" charset="0"/>
              </a:rPr>
              <a:t>456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	=	$918.95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Buy the note:  $918.95 &gt; $850</a:t>
            </a: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Rectangle 10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2b. Financial Calculator Solution</a:t>
            </a:r>
          </a:p>
        </p:txBody>
      </p:sp>
      <p:sp>
        <p:nvSpPr>
          <p:cNvPr id="19968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29F4E7-1435-423A-BAD5-528B0D4DB14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US" altLang="en-US" sz="1400"/>
          </a:p>
        </p:txBody>
      </p:sp>
      <p:grpSp>
        <p:nvGrpSpPr>
          <p:cNvPr id="199683" name="Group 20"/>
          <p:cNvGrpSpPr>
            <a:grpSpLocks/>
          </p:cNvGrpSpPr>
          <p:nvPr/>
        </p:nvGrpSpPr>
        <p:grpSpPr bwMode="auto">
          <a:xfrm>
            <a:off x="1143000" y="2362200"/>
            <a:ext cx="7643812" cy="3827463"/>
            <a:chOff x="709" y="1592"/>
            <a:chExt cx="4815" cy="2411"/>
          </a:xfrm>
        </p:grpSpPr>
        <p:sp>
          <p:nvSpPr>
            <p:cNvPr id="199685" name="Rectangle 1027"/>
            <p:cNvSpPr>
              <a:spLocks noChangeArrowheads="1"/>
            </p:cNvSpPr>
            <p:nvPr/>
          </p:nvSpPr>
          <p:spPr bwMode="auto">
            <a:xfrm>
              <a:off x="762" y="1867"/>
              <a:ext cx="4762" cy="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 456  .018538	               0     1000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  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                                       -918.95</a:t>
              </a:r>
            </a:p>
          </p:txBody>
        </p:sp>
        <p:sp>
          <p:nvSpPr>
            <p:cNvPr id="199686" name="AutoShape 1028"/>
            <p:cNvSpPr>
              <a:spLocks noChangeArrowheads="1"/>
            </p:cNvSpPr>
            <p:nvPr/>
          </p:nvSpPr>
          <p:spPr bwMode="auto">
            <a:xfrm>
              <a:off x="734" y="1747"/>
              <a:ext cx="864" cy="440"/>
            </a:xfrm>
            <a:prstGeom prst="roundRect">
              <a:avLst>
                <a:gd name="adj" fmla="val 124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199687" name="AutoShape 1029"/>
            <p:cNvSpPr>
              <a:spLocks noChangeArrowheads="1"/>
            </p:cNvSpPr>
            <p:nvPr/>
          </p:nvSpPr>
          <p:spPr bwMode="auto">
            <a:xfrm>
              <a:off x="709" y="2420"/>
              <a:ext cx="864" cy="440"/>
            </a:xfrm>
            <a:prstGeom prst="roundRect">
              <a:avLst>
                <a:gd name="adj" fmla="val 124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199688" name="AutoShape 1030"/>
            <p:cNvSpPr>
              <a:spLocks noChangeArrowheads="1"/>
            </p:cNvSpPr>
            <p:nvPr/>
          </p:nvSpPr>
          <p:spPr bwMode="auto">
            <a:xfrm>
              <a:off x="3117" y="2107"/>
              <a:ext cx="464" cy="333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199689" name="AutoShape 1031"/>
            <p:cNvSpPr>
              <a:spLocks noChangeArrowheads="1"/>
            </p:cNvSpPr>
            <p:nvPr/>
          </p:nvSpPr>
          <p:spPr bwMode="auto">
            <a:xfrm>
              <a:off x="2404" y="2129"/>
              <a:ext cx="512" cy="333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199690" name="AutoShape 1032"/>
            <p:cNvSpPr>
              <a:spLocks noChangeArrowheads="1"/>
            </p:cNvSpPr>
            <p:nvPr/>
          </p:nvSpPr>
          <p:spPr bwMode="auto">
            <a:xfrm>
              <a:off x="1824" y="2112"/>
              <a:ext cx="416" cy="333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99691" name="AutoShape 1033"/>
            <p:cNvSpPr>
              <a:spLocks noChangeArrowheads="1"/>
            </p:cNvSpPr>
            <p:nvPr/>
          </p:nvSpPr>
          <p:spPr bwMode="auto">
            <a:xfrm>
              <a:off x="4413" y="2107"/>
              <a:ext cx="464" cy="333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199696" name="AutoShape 1038"/>
            <p:cNvSpPr>
              <a:spLocks noChangeArrowheads="1"/>
            </p:cNvSpPr>
            <p:nvPr/>
          </p:nvSpPr>
          <p:spPr bwMode="auto">
            <a:xfrm>
              <a:off x="3789" y="2124"/>
              <a:ext cx="512" cy="30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199698" name="Rectangle 1040"/>
            <p:cNvSpPr>
              <a:spLocks noChangeArrowheads="1"/>
            </p:cNvSpPr>
            <p:nvPr/>
          </p:nvSpPr>
          <p:spPr bwMode="auto">
            <a:xfrm>
              <a:off x="1947" y="1592"/>
              <a:ext cx="145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6.76649/365 =</a:t>
              </a:r>
            </a:p>
          </p:txBody>
        </p:sp>
        <p:sp>
          <p:nvSpPr>
            <p:cNvPr id="199699" name="Rectangle 1041"/>
            <p:cNvSpPr>
              <a:spLocks noChangeArrowheads="1"/>
            </p:cNvSpPr>
            <p:nvPr/>
          </p:nvSpPr>
          <p:spPr bwMode="auto">
            <a:xfrm>
              <a:off x="816" y="3024"/>
              <a:ext cx="4566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PV of note is greater than its $850 cost, so buy the note.  Raises your wealth.</a:t>
              </a:r>
            </a:p>
          </p:txBody>
        </p:sp>
      </p:grp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3a.  Greatest Future Wealth</a:t>
            </a:r>
          </a:p>
        </p:txBody>
      </p:sp>
      <p:sp>
        <p:nvSpPr>
          <p:cNvPr id="1935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E0AC84-6649-448F-9DE7-914FA69FB32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US" altLang="en-US" sz="1400"/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1295400" y="2286000"/>
            <a:ext cx="6683375" cy="423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Find FV of $850 left in bank for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15 months and compare with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note’s FV = $1,000.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FV</a:t>
            </a:r>
            <a:r>
              <a:rPr lang="en-US" altLang="en-US" baseline="-25000">
                <a:latin typeface="Arial" panose="020B0604020202020204" pitchFamily="34" charset="0"/>
              </a:rPr>
              <a:t>Bank</a:t>
            </a:r>
            <a:r>
              <a:rPr lang="en-US" altLang="en-US">
                <a:latin typeface="Arial" panose="020B0604020202020204" pitchFamily="34" charset="0"/>
              </a:rPr>
              <a:t>	=	$850(1.00018538)</a:t>
            </a:r>
            <a:r>
              <a:rPr lang="en-US" altLang="en-US" baseline="30000">
                <a:latin typeface="Arial" panose="020B0604020202020204" pitchFamily="34" charset="0"/>
              </a:rPr>
              <a:t>456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		=	$924.97 in bank.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Buy the note:  $1,000 &gt; $924.97.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3b. Calculator Solution to FV</a:t>
            </a:r>
          </a:p>
        </p:txBody>
      </p:sp>
      <p:sp>
        <p:nvSpPr>
          <p:cNvPr id="1955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A7734F-813B-4D07-AE17-24D13DEBD72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en-US" altLang="en-US" sz="1400"/>
          </a:p>
        </p:txBody>
      </p:sp>
      <p:grpSp>
        <p:nvGrpSpPr>
          <p:cNvPr id="195588" name="Group 25"/>
          <p:cNvGrpSpPr>
            <a:grpSpLocks/>
          </p:cNvGrpSpPr>
          <p:nvPr/>
        </p:nvGrpSpPr>
        <p:grpSpPr bwMode="auto">
          <a:xfrm>
            <a:off x="1158875" y="2703513"/>
            <a:ext cx="7602538" cy="3500437"/>
            <a:chOff x="730" y="1703"/>
            <a:chExt cx="4789" cy="2205"/>
          </a:xfrm>
        </p:grpSpPr>
        <p:sp>
          <p:nvSpPr>
            <p:cNvPr id="195589" name="AutoShape 14"/>
            <p:cNvSpPr>
              <a:spLocks noChangeArrowheads="1"/>
            </p:cNvSpPr>
            <p:nvPr/>
          </p:nvSpPr>
          <p:spPr bwMode="auto">
            <a:xfrm>
              <a:off x="3810" y="3317"/>
              <a:ext cx="512" cy="23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195590" name="AutoShape 6"/>
            <p:cNvSpPr>
              <a:spLocks noChangeArrowheads="1"/>
            </p:cNvSpPr>
            <p:nvPr/>
          </p:nvSpPr>
          <p:spPr bwMode="auto">
            <a:xfrm>
              <a:off x="3138" y="3316"/>
              <a:ext cx="464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195591" name="AutoShape 7"/>
            <p:cNvSpPr>
              <a:spLocks noChangeArrowheads="1"/>
            </p:cNvSpPr>
            <p:nvPr/>
          </p:nvSpPr>
          <p:spPr bwMode="auto">
            <a:xfrm>
              <a:off x="2466" y="3316"/>
              <a:ext cx="512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195592" name="AutoShape 8"/>
            <p:cNvSpPr>
              <a:spLocks noChangeArrowheads="1"/>
            </p:cNvSpPr>
            <p:nvPr/>
          </p:nvSpPr>
          <p:spPr bwMode="auto">
            <a:xfrm>
              <a:off x="1932" y="3322"/>
              <a:ext cx="416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95593" name="AutoShape 9"/>
            <p:cNvSpPr>
              <a:spLocks noChangeArrowheads="1"/>
            </p:cNvSpPr>
            <p:nvPr/>
          </p:nvSpPr>
          <p:spPr bwMode="auto">
            <a:xfrm>
              <a:off x="4434" y="3316"/>
              <a:ext cx="464" cy="257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195594" name="Rectangle 3"/>
            <p:cNvSpPr>
              <a:spLocks noChangeArrowheads="1"/>
            </p:cNvSpPr>
            <p:nvPr/>
          </p:nvSpPr>
          <p:spPr bwMode="auto">
            <a:xfrm>
              <a:off x="757" y="3035"/>
              <a:ext cx="4762" cy="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456		-850	     0   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                      924.97</a:t>
              </a:r>
            </a:p>
          </p:txBody>
        </p:sp>
        <p:sp>
          <p:nvSpPr>
            <p:cNvPr id="195595" name="AutoShape 4"/>
            <p:cNvSpPr>
              <a:spLocks noChangeArrowheads="1"/>
            </p:cNvSpPr>
            <p:nvPr/>
          </p:nvSpPr>
          <p:spPr bwMode="auto">
            <a:xfrm>
              <a:off x="730" y="3010"/>
              <a:ext cx="864" cy="345"/>
            </a:xfrm>
            <a:prstGeom prst="roundRect">
              <a:avLst>
                <a:gd name="adj" fmla="val 124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195596" name="AutoShape 5"/>
            <p:cNvSpPr>
              <a:spLocks noChangeArrowheads="1"/>
            </p:cNvSpPr>
            <p:nvPr/>
          </p:nvSpPr>
          <p:spPr bwMode="auto">
            <a:xfrm>
              <a:off x="730" y="3563"/>
              <a:ext cx="864" cy="345"/>
            </a:xfrm>
            <a:prstGeom prst="roundRect">
              <a:avLst>
                <a:gd name="adj" fmla="val 1249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195601" name="Rectangle 17"/>
            <p:cNvSpPr>
              <a:spLocks noChangeArrowheads="1"/>
            </p:cNvSpPr>
            <p:nvPr/>
          </p:nvSpPr>
          <p:spPr bwMode="auto">
            <a:xfrm>
              <a:off x="957" y="1703"/>
              <a:ext cx="2950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742950" algn="l"/>
                  <a:tab pos="1208088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I</a:t>
              </a:r>
              <a:r>
                <a:rPr lang="en-US" altLang="en-US" baseline="-25000" dirty="0"/>
                <a:t>PER </a:t>
              </a:r>
              <a:r>
                <a:rPr lang="en-US" altLang="en-US" dirty="0"/>
                <a:t>=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=	6.76649/365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=	0.018538 per day.</a:t>
              </a:r>
            </a:p>
          </p:txBody>
        </p:sp>
        <p:sp>
          <p:nvSpPr>
            <p:cNvPr id="195602" name="Line 18"/>
            <p:cNvSpPr>
              <a:spLocks noChangeShapeType="1"/>
            </p:cNvSpPr>
            <p:nvPr/>
          </p:nvSpPr>
          <p:spPr bwMode="auto">
            <a:xfrm>
              <a:off x="2636" y="2639"/>
              <a:ext cx="0" cy="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7" name="Rectangle 10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Amortization</a:t>
            </a:r>
          </a:p>
        </p:txBody>
      </p:sp>
      <p:sp>
        <p:nvSpPr>
          <p:cNvPr id="207878" name="Rectangle 10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 an amortization schedule for a $1,000, 10% annual rate loan with 3 equal payments.</a:t>
            </a:r>
          </a:p>
        </p:txBody>
      </p:sp>
      <p:sp>
        <p:nvSpPr>
          <p:cNvPr id="2078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E16DFB-0E97-484B-8946-C49EC847DF1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en-US" altLang="en-US" sz="1400"/>
          </a:p>
        </p:txBody>
      </p:sp>
      <p:sp>
        <p:nvSpPr>
          <p:cNvPr id="207875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7876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922" name="Group 35"/>
          <p:cNvGrpSpPr>
            <a:grpSpLocks/>
          </p:cNvGrpSpPr>
          <p:nvPr/>
        </p:nvGrpSpPr>
        <p:grpSpPr bwMode="auto">
          <a:xfrm>
            <a:off x="873125" y="2713038"/>
            <a:ext cx="7826375" cy="3711575"/>
            <a:chOff x="550" y="1709"/>
            <a:chExt cx="4930" cy="2338"/>
          </a:xfrm>
        </p:grpSpPr>
        <p:sp>
          <p:nvSpPr>
            <p:cNvPr id="209925" name="Rectangle 6"/>
            <p:cNvSpPr>
              <a:spLocks noChangeArrowheads="1"/>
            </p:cNvSpPr>
            <p:nvPr/>
          </p:nvSpPr>
          <p:spPr bwMode="auto">
            <a:xfrm>
              <a:off x="2028" y="2436"/>
              <a:ext cx="60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PMT</a:t>
              </a:r>
            </a:p>
          </p:txBody>
        </p:sp>
        <p:sp>
          <p:nvSpPr>
            <p:cNvPr id="209926" name="Rectangle 7"/>
            <p:cNvSpPr>
              <a:spLocks noChangeArrowheads="1"/>
            </p:cNvSpPr>
            <p:nvPr/>
          </p:nvSpPr>
          <p:spPr bwMode="auto">
            <a:xfrm>
              <a:off x="4710" y="2436"/>
              <a:ext cx="60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PMT</a:t>
              </a:r>
            </a:p>
          </p:txBody>
        </p:sp>
        <p:grpSp>
          <p:nvGrpSpPr>
            <p:cNvPr id="209927" name="Group 8"/>
            <p:cNvGrpSpPr>
              <a:grpSpLocks/>
            </p:cNvGrpSpPr>
            <p:nvPr/>
          </p:nvGrpSpPr>
          <p:grpSpPr bwMode="auto">
            <a:xfrm>
              <a:off x="961" y="2062"/>
              <a:ext cx="4080" cy="373"/>
              <a:chOff x="713" y="1661"/>
              <a:chExt cx="4080" cy="373"/>
            </a:xfrm>
          </p:grpSpPr>
          <p:sp>
            <p:nvSpPr>
              <p:cNvPr id="209949" name="Line 9"/>
              <p:cNvSpPr>
                <a:spLocks noChangeShapeType="1"/>
              </p:cNvSpPr>
              <p:nvPr/>
            </p:nvSpPr>
            <p:spPr bwMode="auto">
              <a:xfrm>
                <a:off x="713" y="1661"/>
                <a:ext cx="0" cy="3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50" name="Line 10"/>
              <p:cNvSpPr>
                <a:spLocks noChangeShapeType="1"/>
              </p:cNvSpPr>
              <p:nvPr/>
            </p:nvSpPr>
            <p:spPr bwMode="auto">
              <a:xfrm>
                <a:off x="2105" y="1661"/>
                <a:ext cx="0" cy="3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51" name="Line 11"/>
              <p:cNvSpPr>
                <a:spLocks noChangeShapeType="1"/>
              </p:cNvSpPr>
              <p:nvPr/>
            </p:nvSpPr>
            <p:spPr bwMode="auto">
              <a:xfrm>
                <a:off x="3353" y="1661"/>
                <a:ext cx="0" cy="3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52" name="Line 12"/>
              <p:cNvSpPr>
                <a:spLocks noChangeShapeType="1"/>
              </p:cNvSpPr>
              <p:nvPr/>
            </p:nvSpPr>
            <p:spPr bwMode="auto">
              <a:xfrm>
                <a:off x="4793" y="1661"/>
                <a:ext cx="0" cy="3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953" name="Line 13"/>
              <p:cNvSpPr>
                <a:spLocks noChangeShapeType="1"/>
              </p:cNvSpPr>
              <p:nvPr/>
            </p:nvSpPr>
            <p:spPr bwMode="auto">
              <a:xfrm>
                <a:off x="721" y="1848"/>
                <a:ext cx="40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9928" name="Rectangle 14"/>
            <p:cNvSpPr>
              <a:spLocks noChangeArrowheads="1"/>
            </p:cNvSpPr>
            <p:nvPr/>
          </p:nvSpPr>
          <p:spPr bwMode="auto">
            <a:xfrm>
              <a:off x="3272" y="2436"/>
              <a:ext cx="60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PMT</a:t>
              </a:r>
            </a:p>
          </p:txBody>
        </p:sp>
        <p:sp>
          <p:nvSpPr>
            <p:cNvPr id="209929" name="Rectangle 15"/>
            <p:cNvSpPr>
              <a:spLocks noChangeArrowheads="1"/>
            </p:cNvSpPr>
            <p:nvPr/>
          </p:nvSpPr>
          <p:spPr bwMode="auto">
            <a:xfrm>
              <a:off x="833" y="170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0</a:t>
              </a:r>
            </a:p>
          </p:txBody>
        </p:sp>
        <p:sp>
          <p:nvSpPr>
            <p:cNvPr id="209930" name="Rectangle 16"/>
            <p:cNvSpPr>
              <a:spLocks noChangeArrowheads="1"/>
            </p:cNvSpPr>
            <p:nvPr/>
          </p:nvSpPr>
          <p:spPr bwMode="auto">
            <a:xfrm>
              <a:off x="2233" y="170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09931" name="Rectangle 17"/>
            <p:cNvSpPr>
              <a:spLocks noChangeArrowheads="1"/>
            </p:cNvSpPr>
            <p:nvPr/>
          </p:nvSpPr>
          <p:spPr bwMode="auto">
            <a:xfrm>
              <a:off x="3472" y="170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09932" name="Rectangle 18"/>
            <p:cNvSpPr>
              <a:spLocks noChangeArrowheads="1"/>
            </p:cNvSpPr>
            <p:nvPr/>
          </p:nvSpPr>
          <p:spPr bwMode="auto">
            <a:xfrm>
              <a:off x="4910" y="1709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09933" name="Rectangle 19"/>
            <p:cNvSpPr>
              <a:spLocks noChangeArrowheads="1"/>
            </p:cNvSpPr>
            <p:nvPr/>
          </p:nvSpPr>
          <p:spPr bwMode="auto">
            <a:xfrm>
              <a:off x="1336" y="2010"/>
              <a:ext cx="51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10%</a:t>
              </a:r>
            </a:p>
          </p:txBody>
        </p:sp>
        <p:sp>
          <p:nvSpPr>
            <p:cNvPr id="209934" name="Rectangle 20"/>
            <p:cNvSpPr>
              <a:spLocks noChangeArrowheads="1"/>
            </p:cNvSpPr>
            <p:nvPr/>
          </p:nvSpPr>
          <p:spPr bwMode="auto">
            <a:xfrm>
              <a:off x="550" y="2436"/>
              <a:ext cx="84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-1,000</a:t>
              </a:r>
            </a:p>
          </p:txBody>
        </p:sp>
        <p:sp>
          <p:nvSpPr>
            <p:cNvPr id="209935" name="Rectangle 22"/>
            <p:cNvSpPr>
              <a:spLocks noChangeArrowheads="1"/>
            </p:cNvSpPr>
            <p:nvPr/>
          </p:nvSpPr>
          <p:spPr bwMode="auto">
            <a:xfrm>
              <a:off x="720" y="3120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dirty="0"/>
                <a:t>		3         10     -1000          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dirty="0"/>
                <a:t>		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dirty="0"/>
                <a:t>				   </a:t>
              </a:r>
            </a:p>
          </p:txBody>
        </p:sp>
        <p:sp>
          <p:nvSpPr>
            <p:cNvPr id="209936" name="AutoShape 23"/>
            <p:cNvSpPr>
              <a:spLocks noChangeArrowheads="1"/>
            </p:cNvSpPr>
            <p:nvPr/>
          </p:nvSpPr>
          <p:spPr bwMode="auto">
            <a:xfrm>
              <a:off x="680" y="3170"/>
              <a:ext cx="864" cy="343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/>
                <a:t>INPUTS</a:t>
              </a:r>
            </a:p>
          </p:txBody>
        </p:sp>
        <p:sp>
          <p:nvSpPr>
            <p:cNvPr id="209937" name="AutoShape 24"/>
            <p:cNvSpPr>
              <a:spLocks noChangeArrowheads="1"/>
            </p:cNvSpPr>
            <p:nvPr/>
          </p:nvSpPr>
          <p:spPr bwMode="auto">
            <a:xfrm>
              <a:off x="674" y="3661"/>
              <a:ext cx="864" cy="344"/>
            </a:xfrm>
            <a:prstGeom prst="roundRect">
              <a:avLst>
                <a:gd name="adj" fmla="val 1249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/>
                <a:t> OUTPUT </a:t>
              </a:r>
            </a:p>
          </p:txBody>
        </p:sp>
        <p:sp>
          <p:nvSpPr>
            <p:cNvPr id="209938" name="AutoShape 25"/>
            <p:cNvSpPr>
              <a:spLocks noChangeArrowheads="1"/>
            </p:cNvSpPr>
            <p:nvPr/>
          </p:nvSpPr>
          <p:spPr bwMode="auto">
            <a:xfrm>
              <a:off x="3088" y="3390"/>
              <a:ext cx="524" cy="256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PV</a:t>
              </a:r>
            </a:p>
          </p:txBody>
        </p:sp>
        <p:sp>
          <p:nvSpPr>
            <p:cNvPr id="209939" name="AutoShape 26"/>
            <p:cNvSpPr>
              <a:spLocks noChangeArrowheads="1"/>
            </p:cNvSpPr>
            <p:nvPr/>
          </p:nvSpPr>
          <p:spPr bwMode="auto">
            <a:xfrm>
              <a:off x="2416" y="3390"/>
              <a:ext cx="512" cy="256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I/YR</a:t>
              </a:r>
            </a:p>
          </p:txBody>
        </p:sp>
        <p:sp>
          <p:nvSpPr>
            <p:cNvPr id="209940" name="AutoShape 27"/>
            <p:cNvSpPr>
              <a:spLocks noChangeArrowheads="1"/>
            </p:cNvSpPr>
            <p:nvPr/>
          </p:nvSpPr>
          <p:spPr bwMode="auto">
            <a:xfrm>
              <a:off x="1792" y="3390"/>
              <a:ext cx="416" cy="256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09941" name="AutoShape 28"/>
            <p:cNvSpPr>
              <a:spLocks noChangeArrowheads="1"/>
            </p:cNvSpPr>
            <p:nvPr/>
          </p:nvSpPr>
          <p:spPr bwMode="auto">
            <a:xfrm>
              <a:off x="4384" y="3390"/>
              <a:ext cx="464" cy="256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209946" name="AutoShape 33"/>
            <p:cNvSpPr>
              <a:spLocks noChangeArrowheads="1"/>
            </p:cNvSpPr>
            <p:nvPr/>
          </p:nvSpPr>
          <p:spPr bwMode="auto">
            <a:xfrm>
              <a:off x="3760" y="3391"/>
              <a:ext cx="512" cy="246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PMT</a:t>
              </a:r>
            </a:p>
          </p:txBody>
        </p:sp>
        <p:sp>
          <p:nvSpPr>
            <p:cNvPr id="209948" name="Rectangle 36"/>
            <p:cNvSpPr>
              <a:spLocks noChangeArrowheads="1"/>
            </p:cNvSpPr>
            <p:nvPr/>
          </p:nvSpPr>
          <p:spPr bwMode="auto">
            <a:xfrm>
              <a:off x="3704" y="3761"/>
              <a:ext cx="69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402.11</a:t>
              </a:r>
            </a:p>
          </p:txBody>
        </p:sp>
      </p:grpSp>
      <p:sp>
        <p:nvSpPr>
          <p:cNvPr id="209924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1:  Find the required payments.</a:t>
            </a:r>
          </a:p>
        </p:txBody>
      </p:sp>
      <p:sp>
        <p:nvSpPr>
          <p:cNvPr id="2099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7B8B60-0B60-4A4A-8A18-69575E7D440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2:  Find interest charge for Year 1.</a:t>
            </a:r>
          </a:p>
        </p:txBody>
      </p:sp>
      <p:sp>
        <p:nvSpPr>
          <p:cNvPr id="2119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0CF535-43A3-4019-9A11-09EFA19275B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US" altLang="en-US" sz="1400"/>
          </a:p>
        </p:txBody>
      </p:sp>
      <p:sp>
        <p:nvSpPr>
          <p:cNvPr id="211972" name="Rectangle 7"/>
          <p:cNvSpPr>
            <a:spLocks noChangeArrowheads="1"/>
          </p:cNvSpPr>
          <p:nvPr/>
        </p:nvSpPr>
        <p:spPr bwMode="auto">
          <a:xfrm>
            <a:off x="1371600" y="2209800"/>
            <a:ext cx="5292725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INT</a:t>
            </a:r>
            <a:r>
              <a:rPr lang="en-US" altLang="en-US" baseline="-25000"/>
              <a:t>t</a:t>
            </a:r>
            <a:r>
              <a:rPr lang="en-US" altLang="en-US"/>
              <a:t>	= Beg bal</a:t>
            </a:r>
            <a:r>
              <a:rPr lang="en-US" altLang="en-US" baseline="-25000"/>
              <a:t>t</a:t>
            </a:r>
            <a:r>
              <a:rPr lang="en-US" altLang="en-US"/>
              <a:t> (I)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INT</a:t>
            </a:r>
            <a:r>
              <a:rPr lang="en-US" altLang="en-US" baseline="-25000"/>
              <a:t>1</a:t>
            </a:r>
            <a:r>
              <a:rPr lang="en-US" altLang="en-US"/>
              <a:t>	= $1,000(0.10) = $100</a:t>
            </a:r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0" name="Rectangle 9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821055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Step 3:  Find repayment of principal in Year 1</a:t>
            </a:r>
          </a:p>
        </p:txBody>
      </p:sp>
      <p:sp>
        <p:nvSpPr>
          <p:cNvPr id="2140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6720C8-DA2F-4015-8760-C81B9762944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lang="en-US" altLang="en-US" sz="1400"/>
          </a:p>
        </p:txBody>
      </p:sp>
      <p:sp>
        <p:nvSpPr>
          <p:cNvPr id="214019" name="Rectangle 6"/>
          <p:cNvSpPr>
            <a:spLocks noChangeArrowheads="1"/>
          </p:cNvSpPr>
          <p:nvPr/>
        </p:nvSpPr>
        <p:spPr bwMode="auto">
          <a:xfrm>
            <a:off x="1676400" y="2286000"/>
            <a:ext cx="4646613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Repmt = PMT - INT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   = $402.11 - $100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   = $302.11</a:t>
            </a:r>
          </a:p>
        </p:txBody>
      </p: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9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Step 4:  Find ending balance after Year 1</a:t>
            </a:r>
          </a:p>
        </p:txBody>
      </p:sp>
      <p:sp>
        <p:nvSpPr>
          <p:cNvPr id="2160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7BE0FE-F12E-4D88-9B33-C4E304C4449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US" altLang="en-US" sz="1400"/>
          </a:p>
        </p:txBody>
      </p:sp>
      <p:sp>
        <p:nvSpPr>
          <p:cNvPr id="21606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606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6070" name="Rectangle 6"/>
          <p:cNvSpPr>
            <a:spLocks noChangeArrowheads="1"/>
          </p:cNvSpPr>
          <p:nvPr/>
        </p:nvSpPr>
        <p:spPr bwMode="auto">
          <a:xfrm>
            <a:off x="914400" y="2514600"/>
            <a:ext cx="742315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719263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719263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7192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719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19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19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19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19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7192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End bal	= Beg bal - Repmt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$1,000 - $302.11 = $697.89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216071" name="Rectangle 7"/>
          <p:cNvSpPr>
            <a:spLocks noChangeArrowheads="1"/>
          </p:cNvSpPr>
          <p:nvPr/>
        </p:nvSpPr>
        <p:spPr bwMode="auto">
          <a:xfrm>
            <a:off x="1066800" y="4724400"/>
            <a:ext cx="683260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Repeat these steps for Years 2 and 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to complete the amortization table.</a:t>
            </a:r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5" name="Rectangle 26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Amortization Table</a:t>
            </a:r>
          </a:p>
        </p:txBody>
      </p:sp>
      <p:graphicFrame>
        <p:nvGraphicFramePr>
          <p:cNvPr id="527626" name="Group 2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287011"/>
              </p:ext>
            </p:extLst>
          </p:nvPr>
        </p:nvGraphicFramePr>
        <p:xfrm>
          <a:off x="628650" y="1676400"/>
          <a:ext cx="7886697" cy="3981451"/>
        </p:xfrm>
        <a:graphic>
          <a:graphicData uri="http://schemas.openxmlformats.org/drawingml/2006/table">
            <a:tbl>
              <a:tblPr/>
              <a:tblGrid>
                <a:gridCol w="135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7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40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BEG BAL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PMT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PRIN PMT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END BAL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$698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1,206.34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206.34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81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869160-8746-41B9-AB9C-E4563019A74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US" alt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4717" name="Ink 114716"/>
              <p14:cNvContentPartPr/>
              <p14:nvPr/>
            </p14:nvContentPartPr>
            <p14:xfrm>
              <a:off x="3365580" y="3962340"/>
              <a:ext cx="12960" cy="360"/>
            </p14:xfrm>
          </p:contentPart>
        </mc:Choice>
        <mc:Fallback xmlns="">
          <p:pic>
            <p:nvPicPr>
              <p:cNvPr id="114717" name="Ink 11471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3700" y="3950460"/>
                <a:ext cx="36720" cy="2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Interest declines because outstanding balance declines.</a:t>
            </a:r>
          </a:p>
        </p:txBody>
      </p:sp>
      <p:graphicFrame>
        <p:nvGraphicFramePr>
          <p:cNvPr id="2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432227"/>
              </p:ext>
            </p:extLst>
          </p:nvPr>
        </p:nvGraphicFramePr>
        <p:xfrm>
          <a:off x="321142" y="1842705"/>
          <a:ext cx="8501715" cy="4068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01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199591-14C3-41D6-93C4-BB90764072E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lang="en-US" altLang="en-US" sz="14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B9BBBD-CE38-42DD-94FA-6EFC529B705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lang="en-US" altLang="en-US" sz="1400"/>
          </a:p>
        </p:txBody>
      </p:sp>
      <p:sp>
        <p:nvSpPr>
          <p:cNvPr id="22221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2221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22213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482725" y="2025650"/>
            <a:ext cx="6948488" cy="34798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Amortization tables are widely used--for home mortgages, auto loans, business loans, retirement plans, and more.  They are very important!</a:t>
            </a:r>
          </a:p>
          <a:p>
            <a:pPr eaLnBrk="1" hangingPunct="1"/>
            <a:r>
              <a:rPr lang="en-US" altLang="en-US"/>
              <a:t>Financial calculators (and spreadsheets) are great for setting up amortization tables.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488</TotalTime>
  <Pages>24</Pages>
  <Words>4968</Words>
  <Application>Microsoft Office PowerPoint</Application>
  <PresentationFormat>On-screen Show (4:3)</PresentationFormat>
  <Paragraphs>1041</Paragraphs>
  <Slides>113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0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Chapter 4</vt:lpstr>
      <vt:lpstr>Time Value Topics</vt:lpstr>
      <vt:lpstr>Time Value Basic Concepts</vt:lpstr>
      <vt:lpstr>Determinants of Intrinsic Value: The Present Value Equation</vt:lpstr>
      <vt:lpstr>Time lines show timing of cash flows.</vt:lpstr>
      <vt:lpstr>Time line for a $100 lump sum due at the end of Year 2.</vt:lpstr>
      <vt:lpstr>Time line for an ordinary annuity of $100 for 3 years</vt:lpstr>
      <vt:lpstr>Time line for uneven CFs</vt:lpstr>
      <vt:lpstr> Simple vs Compound Interest</vt:lpstr>
      <vt:lpstr>Compounding $$</vt:lpstr>
      <vt:lpstr>FV of an initial $100 after 3 years (I = 10%)</vt:lpstr>
      <vt:lpstr>After 1 year</vt:lpstr>
      <vt:lpstr>After 2 years</vt:lpstr>
      <vt:lpstr>After 3 years</vt:lpstr>
      <vt:lpstr>Four Ways to Find FVs</vt:lpstr>
      <vt:lpstr>Financial calculator: HP10BII</vt:lpstr>
      <vt:lpstr>HP10BII (Continued)</vt:lpstr>
      <vt:lpstr>HP10BII: Set Time Value Parameters</vt:lpstr>
      <vt:lpstr>Financial Calculator Solution</vt:lpstr>
      <vt:lpstr>Here’s the setup to find FV</vt:lpstr>
      <vt:lpstr>After 4 years</vt:lpstr>
      <vt:lpstr>After 4 years, but different compounding per year</vt:lpstr>
      <vt:lpstr>Spreadsheet Solution</vt:lpstr>
      <vt:lpstr>Discounting $$</vt:lpstr>
      <vt:lpstr>What’s the PV of $110 due in 1 year if I/YR = 10%?</vt:lpstr>
      <vt:lpstr>Solve FVN = PV(1 + I )N for PV</vt:lpstr>
      <vt:lpstr>What’s the PV of $110 due in 1 year if I/YR = 10%?</vt:lpstr>
      <vt:lpstr>What’s the PV of $100 due in 3 years if I/YR = 10%?</vt:lpstr>
      <vt:lpstr>Solve FVN = PV(1 + I )N for PV</vt:lpstr>
      <vt:lpstr>Financial Calculator Solution</vt:lpstr>
      <vt:lpstr>Spreadsheet Solution</vt:lpstr>
      <vt:lpstr>Cash Flow signs</vt:lpstr>
      <vt:lpstr>Periods or Interest Rate unknown</vt:lpstr>
      <vt:lpstr>Periods or Interest Rate unknown</vt:lpstr>
      <vt:lpstr>Finding the Time to Double</vt:lpstr>
      <vt:lpstr>Time to Double (Continued)</vt:lpstr>
      <vt:lpstr>Financial Calculator Solution</vt:lpstr>
      <vt:lpstr>Spreadsheet Solution</vt:lpstr>
      <vt:lpstr>Solve for Interest Rate for $ to Double</vt:lpstr>
      <vt:lpstr>Solve for Interest Rate for $ to Double</vt:lpstr>
      <vt:lpstr>Financial Calculator</vt:lpstr>
      <vt:lpstr>Spreadsheet Solution</vt:lpstr>
      <vt:lpstr>Ordinary Annuity vs. Annuity Due</vt:lpstr>
      <vt:lpstr>Ordinary Annuity vs. Annuity Due</vt:lpstr>
      <vt:lpstr>What’s the FV of a 3-year ordinary annuity of $100 at 10%?</vt:lpstr>
      <vt:lpstr>FV Annuity Formula</vt:lpstr>
      <vt:lpstr>Financial Calculator Formula  for Annuities</vt:lpstr>
      <vt:lpstr>Financial Calculator Solution</vt:lpstr>
      <vt:lpstr>Spreadsheet Solution</vt:lpstr>
      <vt:lpstr>What’s the PV of this ordinary annuity?</vt:lpstr>
      <vt:lpstr>PV Annuity Formula</vt:lpstr>
      <vt:lpstr>Financial Calculator Solution</vt:lpstr>
      <vt:lpstr>Spreadsheet Solution</vt:lpstr>
      <vt:lpstr>Find the FV and PV if the annuity were an annuity due.</vt:lpstr>
      <vt:lpstr>PV and FV of Annuity Due  vs. Ordinary Annuity</vt:lpstr>
      <vt:lpstr>PV of Annuity Due: Switch from “End” to “Begin”</vt:lpstr>
      <vt:lpstr>FV of Annuity Due: Switch from “End” to “Begin”</vt:lpstr>
      <vt:lpstr>Excel Function for Annuities Due</vt:lpstr>
      <vt:lpstr>Retirement problem for you</vt:lpstr>
      <vt:lpstr>Retirement problem for your friend the slacker</vt:lpstr>
      <vt:lpstr>What is the PV of this  uneven cash flow stream?</vt:lpstr>
      <vt:lpstr>Financial calculator: HP10BII</vt:lpstr>
      <vt:lpstr>Financial calculator: HP10BII (more)</vt:lpstr>
      <vt:lpstr>CF &amp; HP</vt:lpstr>
      <vt:lpstr>Excel Formula in cell A3:      =NPV(10%,B2:E2)</vt:lpstr>
      <vt:lpstr>Nominal rate (INOM)</vt:lpstr>
      <vt:lpstr>Periodic rate (IPER )</vt:lpstr>
      <vt:lpstr>The Impact of Compounding</vt:lpstr>
      <vt:lpstr>The Impact of Compounding (Answer)</vt:lpstr>
      <vt:lpstr>FV Formula with Different Compounding Periods</vt:lpstr>
      <vt:lpstr>$100 at a 12% nominal rate with semiannual compounding for 5 years </vt:lpstr>
      <vt:lpstr>FV of $100 at a 12% nominal rate for 5 years with different compounding</vt:lpstr>
      <vt:lpstr>Nominal vs. Effective Rates  (APR vs.  EAR or Eff)</vt:lpstr>
      <vt:lpstr>Effective Annual Rate (EAR = EFF%)</vt:lpstr>
      <vt:lpstr>Effective Annual Rate Example</vt:lpstr>
      <vt:lpstr>Comparing Rates</vt:lpstr>
      <vt:lpstr>EFF% for a nominal rate of 12%, compounded semiannually</vt:lpstr>
      <vt:lpstr>Finding EFF with HP10BII</vt:lpstr>
      <vt:lpstr>EAR (or EFF%) for a Nominal Rate of  12% (APR)</vt:lpstr>
      <vt:lpstr>Can effective rate ever be equal to nominal?</vt:lpstr>
      <vt:lpstr>When is each rate used?</vt:lpstr>
      <vt:lpstr>When is each rate used? (Continued)</vt:lpstr>
      <vt:lpstr>When is each rate used? (Continued)</vt:lpstr>
      <vt:lpstr>Fractional Time Periods</vt:lpstr>
      <vt:lpstr>Convert interest to daily rate</vt:lpstr>
      <vt:lpstr>Find FV</vt:lpstr>
      <vt:lpstr>Calculator Solution</vt:lpstr>
      <vt:lpstr>Non-matching rates and periods</vt:lpstr>
      <vt:lpstr>Time line for non-matching rates and periods</vt:lpstr>
      <vt:lpstr>What’s PV of this 3-yr, $100 per yr CF Stream, 10%=I, semi-annual compounding?</vt:lpstr>
      <vt:lpstr>Non-matching rates and periods</vt:lpstr>
      <vt:lpstr>1st Method:  Compound Each CF</vt:lpstr>
      <vt:lpstr>2nd Method:  Treat as an annuity, use financial calculator</vt:lpstr>
      <vt:lpstr>Use EAR = 10.25% as the annual rate in calculator.</vt:lpstr>
      <vt:lpstr>What’s the PV of this stream?</vt:lpstr>
      <vt:lpstr>Comparing Investments</vt:lpstr>
      <vt:lpstr>Daily time line</vt:lpstr>
      <vt:lpstr>Three solution methods</vt:lpstr>
      <vt:lpstr>1a.  Rate of Return</vt:lpstr>
      <vt:lpstr>1b. Solve for Effective rate</vt:lpstr>
      <vt:lpstr>1c. Rate of Return: Math Solution</vt:lpstr>
      <vt:lpstr>2a.  Greatest Present Wealth</vt:lpstr>
      <vt:lpstr>2b. Financial Calculator Solution</vt:lpstr>
      <vt:lpstr>3a.  Greatest Future Wealth</vt:lpstr>
      <vt:lpstr>3b. Calculator Solution to FV</vt:lpstr>
      <vt:lpstr>Amortization</vt:lpstr>
      <vt:lpstr>Step 1:  Find the required payments.</vt:lpstr>
      <vt:lpstr>Step 2:  Find interest charge for Year 1.</vt:lpstr>
      <vt:lpstr>Step 3:  Find repayment of principal in Year 1</vt:lpstr>
      <vt:lpstr>Step 4:  Find ending balance after Year 1</vt:lpstr>
      <vt:lpstr>Amortization Table</vt:lpstr>
      <vt:lpstr>Interest declines because outstanding balance declines.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subject>Powerpoint show</dc:subject>
  <dc:creator>Donna Hall</dc:creator>
  <cp:lastModifiedBy>Robert M Donchez</cp:lastModifiedBy>
  <cp:revision>12</cp:revision>
  <cp:lastPrinted>2014-01-14T00:25:44Z</cp:lastPrinted>
  <dcterms:created xsi:type="dcterms:W3CDTF">2022-07-25T21:35:02Z</dcterms:created>
  <dcterms:modified xsi:type="dcterms:W3CDTF">2024-02-22T22:28:24Z</dcterms:modified>
</cp:coreProperties>
</file>