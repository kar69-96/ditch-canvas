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4282" r:id="rId1"/>
  </p:sldMasterIdLst>
  <p:notesMasterIdLst>
    <p:notesMasterId r:id="rId77"/>
  </p:notesMasterIdLst>
  <p:handoutMasterIdLst>
    <p:handoutMasterId r:id="rId78"/>
  </p:handoutMasterIdLst>
  <p:sldIdLst>
    <p:sldId id="357" r:id="rId2"/>
    <p:sldId id="256" r:id="rId3"/>
    <p:sldId id="314" r:id="rId4"/>
    <p:sldId id="414" r:id="rId5"/>
    <p:sldId id="415" r:id="rId6"/>
    <p:sldId id="416" r:id="rId7"/>
    <p:sldId id="417" r:id="rId8"/>
    <p:sldId id="418" r:id="rId9"/>
    <p:sldId id="300" r:id="rId10"/>
    <p:sldId id="301" r:id="rId11"/>
    <p:sldId id="302" r:id="rId12"/>
    <p:sldId id="421" r:id="rId13"/>
    <p:sldId id="338" r:id="rId14"/>
    <p:sldId id="303" r:id="rId15"/>
    <p:sldId id="339" r:id="rId16"/>
    <p:sldId id="389" r:id="rId17"/>
    <p:sldId id="420" r:id="rId18"/>
    <p:sldId id="304" r:id="rId19"/>
    <p:sldId id="305" r:id="rId20"/>
    <p:sldId id="306" r:id="rId21"/>
    <p:sldId id="307" r:id="rId22"/>
    <p:sldId id="340" r:id="rId23"/>
    <p:sldId id="342" r:id="rId24"/>
    <p:sldId id="411" r:id="rId25"/>
    <p:sldId id="391" r:id="rId26"/>
    <p:sldId id="278" r:id="rId27"/>
    <p:sldId id="392" r:id="rId28"/>
    <p:sldId id="397" r:id="rId29"/>
    <p:sldId id="393" r:id="rId30"/>
    <p:sldId id="394" r:id="rId31"/>
    <p:sldId id="396" r:id="rId32"/>
    <p:sldId id="395" r:id="rId33"/>
    <p:sldId id="296" r:id="rId34"/>
    <p:sldId id="297" r:id="rId35"/>
    <p:sldId id="390" r:id="rId36"/>
    <p:sldId id="283" r:id="rId37"/>
    <p:sldId id="320" r:id="rId38"/>
    <p:sldId id="321" r:id="rId39"/>
    <p:sldId id="359" r:id="rId40"/>
    <p:sldId id="286" r:id="rId41"/>
    <p:sldId id="287" r:id="rId42"/>
    <p:sldId id="288" r:id="rId43"/>
    <p:sldId id="322" r:id="rId44"/>
    <p:sldId id="323" r:id="rId45"/>
    <p:sldId id="399" r:id="rId46"/>
    <p:sldId id="324" r:id="rId47"/>
    <p:sldId id="325" r:id="rId48"/>
    <p:sldId id="293" r:id="rId49"/>
    <p:sldId id="298" r:id="rId50"/>
    <p:sldId id="299" r:id="rId51"/>
    <p:sldId id="422" r:id="rId52"/>
    <p:sldId id="327" r:id="rId53"/>
    <p:sldId id="398" r:id="rId54"/>
    <p:sldId id="290" r:id="rId55"/>
    <p:sldId id="291" r:id="rId56"/>
    <p:sldId id="292" r:id="rId57"/>
    <p:sldId id="423" r:id="rId58"/>
    <p:sldId id="424" r:id="rId59"/>
    <p:sldId id="425" r:id="rId60"/>
    <p:sldId id="426" r:id="rId61"/>
    <p:sldId id="427" r:id="rId62"/>
    <p:sldId id="428" r:id="rId63"/>
    <p:sldId id="429" r:id="rId64"/>
    <p:sldId id="430" r:id="rId65"/>
    <p:sldId id="400" r:id="rId66"/>
    <p:sldId id="401" r:id="rId67"/>
    <p:sldId id="402" r:id="rId68"/>
    <p:sldId id="403" r:id="rId69"/>
    <p:sldId id="404" r:id="rId70"/>
    <p:sldId id="405" r:id="rId71"/>
    <p:sldId id="406" r:id="rId72"/>
    <p:sldId id="407" r:id="rId73"/>
    <p:sldId id="410" r:id="rId74"/>
    <p:sldId id="408" r:id="rId75"/>
    <p:sldId id="409" r:id="rId76"/>
  </p:sldIdLst>
  <p:sldSz cx="9144000" cy="6858000" type="screen4x3"/>
  <p:notesSz cx="6954838" cy="9309100"/>
  <p:kinsoku lang="ja-JP" invalStChars="、。，．・：；？！゛゜ヽヾゝゞ々ー’”）〕］｝〉》」』】°‰′″℃￠％ぁぃぅぇぉっゃゅょゎァィゥェォッャュョヮヵヶ!%),.:;?]}｡｣､･ｧｨｩｪｫｬｭｮｯｰﾞﾟ" invalEndChars="‘“（〔［｛〈《「『【￥＄$([\{｢￡"/>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200" userDrawn="1">
          <p15:clr>
            <a:srgbClr val="A4A3A4"/>
          </p15:clr>
        </p15:guide>
        <p15:guide id="2" pos="537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454135"/>
    <a:srgbClr val="DCCCA3"/>
    <a:srgbClr val="8CF4EA"/>
    <a:srgbClr val="00B7A5"/>
    <a:srgbClr val="FAFD00"/>
    <a:srgbClr val="D49FFF"/>
    <a:srgbClr val="83FD65"/>
    <a:srgbClr val="C0FEF9"/>
    <a:srgbClr val="60C900"/>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43722" autoAdjust="0"/>
    <p:restoredTop sz="94694" autoAdjust="0"/>
  </p:normalViewPr>
  <p:slideViewPr>
    <p:cSldViewPr>
      <p:cViewPr varScale="1">
        <p:scale>
          <a:sx n="107" d="100"/>
          <a:sy n="107" d="100"/>
        </p:scale>
        <p:origin x="1332" y="102"/>
      </p:cViewPr>
      <p:guideLst>
        <p:guide orient="horz" pos="1200"/>
        <p:guide pos="537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4734"/>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handoutMaster" Target="handoutMasters/handoutMaster1.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928688" y="4421188"/>
            <a:ext cx="5095875" cy="4189412"/>
          </a:xfrm>
          <a:prstGeom prst="rect">
            <a:avLst/>
          </a:prstGeom>
          <a:noFill/>
          <a:ln w="12700">
            <a:noFill/>
            <a:miter lim="800000"/>
            <a:headEnd/>
            <a:tailEnd/>
          </a:ln>
          <a:effectLst/>
        </p:spPr>
        <p:txBody>
          <a:bodyPr vert="horz" wrap="square" lIns="95254" tIns="48435" rIns="95254" bIns="48435"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5" name="Rectangle 3"/>
          <p:cNvSpPr>
            <a:spLocks noGrp="1" noRot="1" noChangeAspect="1" noChangeArrowheads="1" noTextEdit="1"/>
          </p:cNvSpPr>
          <p:nvPr>
            <p:ph type="sldImg" idx="2"/>
          </p:nvPr>
        </p:nvSpPr>
        <p:spPr bwMode="auto">
          <a:xfrm>
            <a:off x="1158875" y="704850"/>
            <a:ext cx="4637088" cy="347662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sp>
    </p:spTree>
  </p:cSld>
  <p:clrMap bg1="lt1" tx1="dk1" bg2="lt2" tx2="dk2" accent1="accent1" accent2="accent2" accent3="accent3" accent4="accent4" accent5="accent5" accent6="accent6" hlink="hlink" folHlink="folHlink"/>
  <p:notesStyle>
    <a:lvl1pPr algn="l" defTabSz="955675"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66725" algn="l" defTabSz="955675"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35038" algn="l" defTabSz="955675"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401763" algn="l" defTabSz="955675"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70075" algn="l" defTabSz="955675"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4294967295"/>
          </p:nvPr>
        </p:nvSpPr>
        <p:spPr bwMode="auto">
          <a:xfrm>
            <a:off x="3940175" y="8842375"/>
            <a:ext cx="3013075" cy="4651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fld id="{45D995EE-6881-4477-8D3E-F193332A2752}" type="slidenum">
              <a:rPr lang="en-US" altLang="en-US" sz="1800">
                <a:latin typeface="Tahoma" panose="020B0604030504040204" pitchFamily="34" charset="0"/>
              </a:rPr>
              <a:pPr eaLnBrk="1" hangingPunct="1">
                <a:spcBef>
                  <a:spcPct val="0"/>
                </a:spcBef>
              </a:pPr>
              <a:t>12</a:t>
            </a:fld>
            <a:endParaRPr lang="en-US" altLang="en-US" sz="1800">
              <a:latin typeface="Tahoma" panose="020B0604030504040204" pitchFamily="34" charset="0"/>
            </a:endParaRPr>
          </a:p>
        </p:txBody>
      </p:sp>
      <p:sp>
        <p:nvSpPr>
          <p:cNvPr id="16387" name="Rectangle 2"/>
          <p:cNvSpPr>
            <a:spLocks noGrp="1" noRot="1" noChangeAspect="1" noChangeArrowheads="1" noTextEdit="1"/>
          </p:cNvSpPr>
          <p:nvPr>
            <p:ph type="sldImg"/>
          </p:nvPr>
        </p:nvSpPr>
        <p:spPr>
          <a:xfrm>
            <a:off x="1158875" y="704850"/>
            <a:ext cx="4637088" cy="3476625"/>
          </a:xfrm>
          <a:ln/>
        </p:spPr>
      </p:sp>
      <p:sp>
        <p:nvSpPr>
          <p:cNvPr id="16388"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a:xfrm>
            <a:off x="1158875" y="704850"/>
            <a:ext cx="4637088" cy="3476625"/>
          </a:xfrm>
          <a:ln/>
        </p:spPr>
      </p:sp>
      <p:sp>
        <p:nvSpPr>
          <p:cNvPr id="20483" name="Notes Placeholder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a:p>
        </p:txBody>
      </p:sp>
      <p:sp>
        <p:nvSpPr>
          <p:cNvPr id="20484" name="Slide Number Placeholder 3"/>
          <p:cNvSpPr>
            <a:spLocks noGrp="1"/>
          </p:cNvSpPr>
          <p:nvPr>
            <p:ph type="sldNum" sz="quarter" idx="4294967295"/>
          </p:nvPr>
        </p:nvSpPr>
        <p:spPr bwMode="auto">
          <a:xfrm>
            <a:off x="3940175" y="8842375"/>
            <a:ext cx="3013075" cy="4651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fld id="{7746E050-38F6-4D9F-8B5A-B9682F1B8F05}" type="slidenum">
              <a:rPr lang="en-US" altLang="en-US" sz="1800">
                <a:latin typeface="Tahoma" panose="020B0604030504040204" pitchFamily="34" charset="0"/>
              </a:rPr>
              <a:pPr eaLnBrk="1" hangingPunct="1">
                <a:spcBef>
                  <a:spcPct val="0"/>
                </a:spcBef>
              </a:pPr>
              <a:t>17</a:t>
            </a:fld>
            <a:endParaRPr lang="en-US" altLang="en-US" sz="1800">
              <a:latin typeface="Tahoma" panose="020B0604030504040204" pitchFamily="34" charset="0"/>
            </a:endParaRPr>
          </a:p>
        </p:txBody>
      </p:sp>
    </p:spTree>
    <p:extLst>
      <p:ext uri="{BB962C8B-B14F-4D97-AF65-F5344CB8AC3E}">
        <p14:creationId xmlns:p14="http://schemas.microsoft.com/office/powerpoint/2010/main" val="8790556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014E9-4CF8-07FB-9587-8A8FC5412605}"/>
              </a:ext>
            </a:extLst>
          </p:cNvPr>
          <p:cNvSpPr>
            <a:spLocks noGrp="1"/>
          </p:cNvSpPr>
          <p:nvPr>
            <p:ph type="ctrTitle"/>
          </p:nvPr>
        </p:nvSpPr>
        <p:spPr>
          <a:xfrm>
            <a:off x="0" y="2431335"/>
            <a:ext cx="9144000" cy="1078628"/>
          </a:xfrm>
          <a:solidFill>
            <a:schemeClr val="tx1">
              <a:lumMod val="85000"/>
              <a:lumOff val="15000"/>
            </a:schemeClr>
          </a:solidFill>
        </p:spPr>
        <p:txBody>
          <a:bodyPr anchor="ctr"/>
          <a:lstStyle>
            <a:lvl1pPr algn="ctr">
              <a:defRPr sz="4500" b="1">
                <a:solidFill>
                  <a:schemeClr val="bg1"/>
                </a:solidFill>
              </a:defRPr>
            </a:lvl1pPr>
          </a:lstStyle>
          <a:p>
            <a:r>
              <a:rPr lang="en-US" dirty="0"/>
              <a:t>Click to edit Master title style</a:t>
            </a:r>
          </a:p>
        </p:txBody>
      </p:sp>
      <p:sp>
        <p:nvSpPr>
          <p:cNvPr id="3" name="Subtitle 2">
            <a:extLst>
              <a:ext uri="{FF2B5EF4-FFF2-40B4-BE49-F238E27FC236}">
                <a16:creationId xmlns:a16="http://schemas.microsoft.com/office/drawing/2014/main" id="{560F6E03-983C-D44F-DA9D-1354DADB8AAB}"/>
              </a:ext>
            </a:extLst>
          </p:cNvPr>
          <p:cNvSpPr>
            <a:spLocks noGrp="1"/>
          </p:cNvSpPr>
          <p:nvPr>
            <p:ph type="subTitle" idx="1"/>
          </p:nvPr>
        </p:nvSpPr>
        <p:spPr>
          <a:xfrm>
            <a:off x="0" y="3602038"/>
            <a:ext cx="9144000" cy="436562"/>
          </a:xfrm>
          <a:solidFill>
            <a:srgbClr val="DCCCA3"/>
          </a:solidFill>
          <a:ln>
            <a:noFill/>
          </a:ln>
        </p:spPr>
        <p:txBody>
          <a:bodyPr anchor="ctr">
            <a:normAutofit/>
          </a:bodyPr>
          <a:lstStyle>
            <a:lvl1pPr marL="0" indent="0" algn="ctr">
              <a:buNone/>
              <a:defRPr sz="24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3ECA6BF2-B943-A54D-B9A8-CF71ACA0BD83}"/>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74D8B4A3-64D2-13EB-DE0B-BC80A02CCE43}"/>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980469EF-71B6-E831-47CC-0D7140430584}"/>
              </a:ext>
            </a:extLst>
          </p:cNvPr>
          <p:cNvSpPr>
            <a:spLocks noGrp="1"/>
          </p:cNvSpPr>
          <p:nvPr>
            <p:ph type="sldNum" sz="quarter" idx="12"/>
          </p:nvPr>
        </p:nvSpPr>
        <p:spPr/>
        <p:txBody>
          <a:bodyPr/>
          <a:lstStyle/>
          <a:p>
            <a:pPr>
              <a:defRPr/>
            </a:pPr>
            <a:fld id="{A5B4D19F-489A-4E5E-A28E-C8AF833E0C3C}" type="slidenum">
              <a:rPr lang="en-US" smtClean="0"/>
              <a:pPr>
                <a:defRPr/>
              </a:pPr>
              <a:t>‹#›</a:t>
            </a:fld>
            <a:endParaRPr lang="en-US"/>
          </a:p>
        </p:txBody>
      </p:sp>
      <p:pic>
        <p:nvPicPr>
          <p:cNvPr id="7" name="Picture 6">
            <a:extLst>
              <a:ext uri="{FF2B5EF4-FFF2-40B4-BE49-F238E27FC236}">
                <a16:creationId xmlns:a16="http://schemas.microsoft.com/office/drawing/2014/main" id="{F3999885-8DB5-73C1-4C0B-00DC205D9C8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5379" t="27117" b="37353"/>
          <a:stretch/>
        </p:blipFill>
        <p:spPr>
          <a:xfrm>
            <a:off x="-1" y="0"/>
            <a:ext cx="1970057" cy="1466492"/>
          </a:xfrm>
          <a:prstGeom prst="rect">
            <a:avLst/>
          </a:prstGeom>
        </p:spPr>
      </p:pic>
      <p:pic>
        <p:nvPicPr>
          <p:cNvPr id="8" name="Picture 7">
            <a:extLst>
              <a:ext uri="{FF2B5EF4-FFF2-40B4-BE49-F238E27FC236}">
                <a16:creationId xmlns:a16="http://schemas.microsoft.com/office/drawing/2014/main" id="{45766898-15F1-35E0-5CB0-1BC6BB5972D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5379" t="27117" b="37353"/>
          <a:stretch/>
        </p:blipFill>
        <p:spPr>
          <a:xfrm rot="10800000">
            <a:off x="7173943" y="5391508"/>
            <a:ext cx="1970057" cy="1466492"/>
          </a:xfrm>
          <a:prstGeom prst="rect">
            <a:avLst/>
          </a:prstGeom>
        </p:spPr>
      </p:pic>
    </p:spTree>
    <p:extLst>
      <p:ext uri="{BB962C8B-B14F-4D97-AF65-F5344CB8AC3E}">
        <p14:creationId xmlns:p14="http://schemas.microsoft.com/office/powerpoint/2010/main" val="3339880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AA0EE-229A-6333-06FD-DD9530C98B90}"/>
              </a:ext>
            </a:extLst>
          </p:cNvPr>
          <p:cNvSpPr>
            <a:spLocks noGrp="1"/>
          </p:cNvSpPr>
          <p:nvPr>
            <p:ph type="title"/>
          </p:nvPr>
        </p:nvSpPr>
        <p:spPr>
          <a:xfrm>
            <a:off x="628650" y="365127"/>
            <a:ext cx="7886700" cy="1032090"/>
          </a:xfrm>
        </p:spPr>
        <p:txBody>
          <a:bodyPr>
            <a:normAutofit/>
          </a:bodyPr>
          <a:lstStyle>
            <a:lvl1pPr>
              <a:defRPr sz="3800" b="1"/>
            </a:lvl1pPr>
          </a:lstStyle>
          <a:p>
            <a:r>
              <a:rPr lang="en-US" dirty="0"/>
              <a:t>Click to edit Master title style</a:t>
            </a:r>
          </a:p>
        </p:txBody>
      </p:sp>
      <p:sp>
        <p:nvSpPr>
          <p:cNvPr id="3" name="Content Placeholder 2">
            <a:extLst>
              <a:ext uri="{FF2B5EF4-FFF2-40B4-BE49-F238E27FC236}">
                <a16:creationId xmlns:a16="http://schemas.microsoft.com/office/drawing/2014/main" id="{792367E3-A85C-9D7A-BC7C-7BC6C9421B62}"/>
              </a:ext>
            </a:extLst>
          </p:cNvPr>
          <p:cNvSpPr>
            <a:spLocks noGrp="1"/>
          </p:cNvSpPr>
          <p:nvPr>
            <p:ph idx="1"/>
          </p:nvPr>
        </p:nvSpPr>
        <p:spPr/>
        <p:txBody>
          <a:bodyPr/>
          <a:lstStyle>
            <a:lvl1pPr>
              <a:lnSpc>
                <a:spcPct val="114000"/>
              </a:lnSpc>
              <a:defRPr/>
            </a:lvl1pPr>
            <a:lvl2pPr>
              <a:lnSpc>
                <a:spcPct val="114000"/>
              </a:lnSpc>
              <a:defRPr/>
            </a:lvl2pPr>
            <a:lvl3pPr>
              <a:lnSpc>
                <a:spcPct val="114000"/>
              </a:lnSpc>
              <a:defRPr/>
            </a:lvl3pPr>
            <a:lvl4pPr>
              <a:lnSpc>
                <a:spcPct val="114000"/>
              </a:lnSpc>
              <a:defRPr/>
            </a:lvl4pPr>
            <a:lvl5pPr>
              <a:lnSpc>
                <a:spcPct val="114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4C7FB8-4C99-DB2A-2E94-1AF399EAC037}"/>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C5A6EB23-DCAF-18E5-B86B-7C57E842FE05}"/>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006DA49B-BAEF-4CF4-E95B-F92FCE0367AE}"/>
              </a:ext>
            </a:extLst>
          </p:cNvPr>
          <p:cNvSpPr>
            <a:spLocks noGrp="1"/>
          </p:cNvSpPr>
          <p:nvPr>
            <p:ph type="sldNum" sz="quarter" idx="12"/>
          </p:nvPr>
        </p:nvSpPr>
        <p:spPr/>
        <p:txBody>
          <a:bodyPr/>
          <a:lstStyle/>
          <a:p>
            <a:pPr>
              <a:defRPr/>
            </a:pPr>
            <a:fld id="{4E499BF4-6C8D-417D-B206-0AF20A1CAAC7}" type="slidenum">
              <a:rPr lang="en-US" smtClean="0"/>
              <a:pPr>
                <a:defRPr/>
              </a:pPr>
              <a:t>‹#›</a:t>
            </a:fld>
            <a:endParaRPr lang="en-US"/>
          </a:p>
        </p:txBody>
      </p:sp>
      <p:cxnSp>
        <p:nvCxnSpPr>
          <p:cNvPr id="7" name="Straight Connector 6">
            <a:extLst>
              <a:ext uri="{FF2B5EF4-FFF2-40B4-BE49-F238E27FC236}">
                <a16:creationId xmlns:a16="http://schemas.microsoft.com/office/drawing/2014/main" id="{97F03BE6-C66C-A63D-AFD3-085571F6AB96}"/>
              </a:ext>
            </a:extLst>
          </p:cNvPr>
          <p:cNvCxnSpPr>
            <a:cxnSpLocks/>
          </p:cNvCxnSpPr>
          <p:nvPr userDrawn="1"/>
        </p:nvCxnSpPr>
        <p:spPr>
          <a:xfrm>
            <a:off x="620024" y="1397216"/>
            <a:ext cx="7926350" cy="0"/>
          </a:xfrm>
          <a:prstGeom prst="line">
            <a:avLst/>
          </a:prstGeom>
          <a:ln w="38100">
            <a:solidFill>
              <a:srgbClr val="CFB87C"/>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8DBFC926-6392-BC3C-9958-2E95361AEF8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5379" t="27117" b="37353"/>
          <a:stretch/>
        </p:blipFill>
        <p:spPr>
          <a:xfrm>
            <a:off x="-1" y="0"/>
            <a:ext cx="1970057" cy="1466492"/>
          </a:xfrm>
          <a:prstGeom prst="rect">
            <a:avLst/>
          </a:prstGeom>
        </p:spPr>
      </p:pic>
      <p:pic>
        <p:nvPicPr>
          <p:cNvPr id="9" name="Picture 8">
            <a:extLst>
              <a:ext uri="{FF2B5EF4-FFF2-40B4-BE49-F238E27FC236}">
                <a16:creationId xmlns:a16="http://schemas.microsoft.com/office/drawing/2014/main" id="{68835B65-3D1B-CF3F-DDBC-1870EEEFDEF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5379" t="27117" b="37353"/>
          <a:stretch/>
        </p:blipFill>
        <p:spPr>
          <a:xfrm rot="10800000">
            <a:off x="7173943" y="5391508"/>
            <a:ext cx="1970057" cy="1466492"/>
          </a:xfrm>
          <a:prstGeom prst="rect">
            <a:avLst/>
          </a:prstGeom>
        </p:spPr>
      </p:pic>
    </p:spTree>
    <p:extLst>
      <p:ext uri="{BB962C8B-B14F-4D97-AF65-F5344CB8AC3E}">
        <p14:creationId xmlns:p14="http://schemas.microsoft.com/office/powerpoint/2010/main" val="1637937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B3E85-51D8-AE74-539A-FA2331AE5869}"/>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9D47BA40-A8B4-3390-F8D7-B3CC2E950FC8}"/>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D4C3E0A-65D1-AA13-F404-FD6AD1753AD6}"/>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7EC4D3F9-FE86-E7C6-4D32-4A2F870DF75F}"/>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D85145DE-0E4A-5D4B-42DD-7F9E1DCDF763}"/>
              </a:ext>
            </a:extLst>
          </p:cNvPr>
          <p:cNvSpPr>
            <a:spLocks noGrp="1"/>
          </p:cNvSpPr>
          <p:nvPr>
            <p:ph type="sldNum" sz="quarter" idx="12"/>
          </p:nvPr>
        </p:nvSpPr>
        <p:spPr/>
        <p:txBody>
          <a:bodyPr/>
          <a:lstStyle/>
          <a:p>
            <a:pPr>
              <a:defRPr/>
            </a:pPr>
            <a:fld id="{D380A472-0AF4-42C7-A200-0A6A2E2BD3D4}" type="slidenum">
              <a:rPr lang="en-US" smtClean="0"/>
              <a:pPr>
                <a:defRPr/>
              </a:pPr>
              <a:t>‹#›</a:t>
            </a:fld>
            <a:endParaRPr lang="en-US"/>
          </a:p>
        </p:txBody>
      </p:sp>
    </p:spTree>
    <p:extLst>
      <p:ext uri="{BB962C8B-B14F-4D97-AF65-F5344CB8AC3E}">
        <p14:creationId xmlns:p14="http://schemas.microsoft.com/office/powerpoint/2010/main" val="14749899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9A4B8-8EB9-ADA8-B992-4DE07200E783}"/>
              </a:ext>
            </a:extLst>
          </p:cNvPr>
          <p:cNvSpPr>
            <a:spLocks noGrp="1"/>
          </p:cNvSpPr>
          <p:nvPr>
            <p:ph type="title"/>
          </p:nvPr>
        </p:nvSpPr>
        <p:spPr>
          <a:xfrm>
            <a:off x="628650" y="365127"/>
            <a:ext cx="7886700" cy="1032090"/>
          </a:xfrm>
        </p:spPr>
        <p:txBody>
          <a:bodyPr/>
          <a:lstStyle>
            <a:lvl1pPr>
              <a:defRPr b="1"/>
            </a:lvl1pPr>
          </a:lstStyle>
          <a:p>
            <a:r>
              <a:rPr lang="en-US"/>
              <a:t>Click to edit Master title style</a:t>
            </a:r>
          </a:p>
        </p:txBody>
      </p:sp>
      <p:sp>
        <p:nvSpPr>
          <p:cNvPr id="3" name="Content Placeholder 2">
            <a:extLst>
              <a:ext uri="{FF2B5EF4-FFF2-40B4-BE49-F238E27FC236}">
                <a16:creationId xmlns:a16="http://schemas.microsoft.com/office/drawing/2014/main" id="{16987E3C-A3CD-17E8-7754-25845549A4C9}"/>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89330FB-37F6-5873-AC3B-AE844B790990}"/>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019E815-91F2-7FDF-4F5A-19B68DB7B7AD}"/>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65AE1DE1-4D56-5B12-0049-ACF8B28B5103}"/>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494AB26D-42A5-E718-7319-F0BEBED4B787}"/>
              </a:ext>
            </a:extLst>
          </p:cNvPr>
          <p:cNvSpPr>
            <a:spLocks noGrp="1"/>
          </p:cNvSpPr>
          <p:nvPr>
            <p:ph type="sldNum" sz="quarter" idx="12"/>
          </p:nvPr>
        </p:nvSpPr>
        <p:spPr/>
        <p:txBody>
          <a:bodyPr/>
          <a:lstStyle/>
          <a:p>
            <a:pPr>
              <a:defRPr/>
            </a:pPr>
            <a:fld id="{04E42859-4ED0-468F-B18C-A6B9CED75A4F}" type="slidenum">
              <a:rPr lang="en-US" smtClean="0"/>
              <a:pPr>
                <a:defRPr/>
              </a:pPr>
              <a:t>‹#›</a:t>
            </a:fld>
            <a:endParaRPr lang="en-US"/>
          </a:p>
        </p:txBody>
      </p:sp>
      <p:cxnSp>
        <p:nvCxnSpPr>
          <p:cNvPr id="8" name="Straight Connector 7">
            <a:extLst>
              <a:ext uri="{FF2B5EF4-FFF2-40B4-BE49-F238E27FC236}">
                <a16:creationId xmlns:a16="http://schemas.microsoft.com/office/drawing/2014/main" id="{CE996539-A9D9-998A-6B11-3374F65F2B00}"/>
              </a:ext>
            </a:extLst>
          </p:cNvPr>
          <p:cNvCxnSpPr>
            <a:cxnSpLocks/>
          </p:cNvCxnSpPr>
          <p:nvPr userDrawn="1"/>
        </p:nvCxnSpPr>
        <p:spPr>
          <a:xfrm>
            <a:off x="620024" y="1397216"/>
            <a:ext cx="7926350" cy="0"/>
          </a:xfrm>
          <a:prstGeom prst="line">
            <a:avLst/>
          </a:prstGeom>
          <a:ln w="38100">
            <a:solidFill>
              <a:srgbClr val="CFB87C"/>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A2571B1B-E129-07C2-727C-293C4558144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5379" t="27117" b="37353"/>
          <a:stretch/>
        </p:blipFill>
        <p:spPr>
          <a:xfrm>
            <a:off x="-1" y="0"/>
            <a:ext cx="1970057" cy="1466492"/>
          </a:xfrm>
          <a:prstGeom prst="rect">
            <a:avLst/>
          </a:prstGeom>
        </p:spPr>
      </p:pic>
      <p:pic>
        <p:nvPicPr>
          <p:cNvPr id="10" name="Picture 9">
            <a:extLst>
              <a:ext uri="{FF2B5EF4-FFF2-40B4-BE49-F238E27FC236}">
                <a16:creationId xmlns:a16="http://schemas.microsoft.com/office/drawing/2014/main" id="{00B83F84-A694-AA66-FEF8-DCCEB0D2054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5379" t="27117" b="37353"/>
          <a:stretch/>
        </p:blipFill>
        <p:spPr>
          <a:xfrm rot="10800000">
            <a:off x="7173943" y="5391508"/>
            <a:ext cx="1970057" cy="1466492"/>
          </a:xfrm>
          <a:prstGeom prst="rect">
            <a:avLst/>
          </a:prstGeom>
        </p:spPr>
      </p:pic>
    </p:spTree>
    <p:extLst>
      <p:ext uri="{BB962C8B-B14F-4D97-AF65-F5344CB8AC3E}">
        <p14:creationId xmlns:p14="http://schemas.microsoft.com/office/powerpoint/2010/main" val="767026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19E86-7648-BB49-1733-92B5F9F59382}"/>
              </a:ext>
            </a:extLst>
          </p:cNvPr>
          <p:cNvSpPr>
            <a:spLocks noGrp="1"/>
          </p:cNvSpPr>
          <p:nvPr>
            <p:ph type="title"/>
          </p:nvPr>
        </p:nvSpPr>
        <p:spPr>
          <a:xfrm>
            <a:off x="629841" y="365127"/>
            <a:ext cx="7886700" cy="1032090"/>
          </a:xfrm>
        </p:spPr>
        <p:txBody>
          <a:bodyPr/>
          <a:lstStyle>
            <a:lvl1pPr>
              <a:defRPr b="1"/>
            </a:lvl1pPr>
          </a:lstStyle>
          <a:p>
            <a:r>
              <a:rPr lang="en-US" dirty="0"/>
              <a:t>Click to edit Master title style</a:t>
            </a:r>
          </a:p>
        </p:txBody>
      </p:sp>
      <p:sp>
        <p:nvSpPr>
          <p:cNvPr id="3" name="Text Placeholder 2">
            <a:extLst>
              <a:ext uri="{FF2B5EF4-FFF2-40B4-BE49-F238E27FC236}">
                <a16:creationId xmlns:a16="http://schemas.microsoft.com/office/drawing/2014/main" id="{CD76EB00-6ABE-7A6D-4CA0-EAD4EFCFB59C}"/>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54C70D9E-CA37-C8C7-DC2B-731032F14E2B}"/>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E23050D-DE6B-E0A8-F0B8-0AE790475D92}"/>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2EFE72F3-A6A2-AB09-729B-69278FFB8F8A}"/>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280C7EF-7255-7C61-2C82-0145E38EC731}"/>
              </a:ext>
            </a:extLst>
          </p:cNvPr>
          <p:cNvSpPr>
            <a:spLocks noGrp="1"/>
          </p:cNvSpPr>
          <p:nvPr>
            <p:ph type="dt" sz="half" idx="10"/>
          </p:nvPr>
        </p:nvSpPr>
        <p:spPr/>
        <p:txBody>
          <a:bodyPr/>
          <a:lstStyle/>
          <a:p>
            <a:pPr>
              <a:defRPr/>
            </a:pPr>
            <a:endParaRPr lang="en-US"/>
          </a:p>
        </p:txBody>
      </p:sp>
      <p:sp>
        <p:nvSpPr>
          <p:cNvPr id="8" name="Footer Placeholder 7">
            <a:extLst>
              <a:ext uri="{FF2B5EF4-FFF2-40B4-BE49-F238E27FC236}">
                <a16:creationId xmlns:a16="http://schemas.microsoft.com/office/drawing/2014/main" id="{048CB185-80EF-03E9-CBFC-F8963D7E4BA1}"/>
              </a:ext>
            </a:extLst>
          </p:cNvPr>
          <p:cNvSpPr>
            <a:spLocks noGrp="1"/>
          </p:cNvSpPr>
          <p:nvPr>
            <p:ph type="ftr" sz="quarter" idx="11"/>
          </p:nvPr>
        </p:nvSpPr>
        <p:spPr/>
        <p:txBody>
          <a:bodyPr/>
          <a:lstStyle/>
          <a:p>
            <a:pPr>
              <a:defRPr/>
            </a:pPr>
            <a:endParaRPr lang="en-US"/>
          </a:p>
        </p:txBody>
      </p:sp>
      <p:sp>
        <p:nvSpPr>
          <p:cNvPr id="9" name="Slide Number Placeholder 8">
            <a:extLst>
              <a:ext uri="{FF2B5EF4-FFF2-40B4-BE49-F238E27FC236}">
                <a16:creationId xmlns:a16="http://schemas.microsoft.com/office/drawing/2014/main" id="{315512AA-D14C-B443-8EE2-0CFC1CCE80A5}"/>
              </a:ext>
            </a:extLst>
          </p:cNvPr>
          <p:cNvSpPr>
            <a:spLocks noGrp="1"/>
          </p:cNvSpPr>
          <p:nvPr>
            <p:ph type="sldNum" sz="quarter" idx="12"/>
          </p:nvPr>
        </p:nvSpPr>
        <p:spPr/>
        <p:txBody>
          <a:bodyPr/>
          <a:lstStyle/>
          <a:p>
            <a:pPr>
              <a:defRPr/>
            </a:pPr>
            <a:fld id="{E3682E86-14DC-4CD1-BEF2-22E95F737AC1}" type="slidenum">
              <a:rPr lang="en-US" smtClean="0"/>
              <a:pPr>
                <a:defRPr/>
              </a:pPr>
              <a:t>‹#›</a:t>
            </a:fld>
            <a:endParaRPr lang="en-US"/>
          </a:p>
        </p:txBody>
      </p:sp>
      <p:cxnSp>
        <p:nvCxnSpPr>
          <p:cNvPr id="10" name="Straight Connector 9">
            <a:extLst>
              <a:ext uri="{FF2B5EF4-FFF2-40B4-BE49-F238E27FC236}">
                <a16:creationId xmlns:a16="http://schemas.microsoft.com/office/drawing/2014/main" id="{7D12A899-0B6B-EBC2-D17E-8D64DB468093}"/>
              </a:ext>
            </a:extLst>
          </p:cNvPr>
          <p:cNvCxnSpPr>
            <a:cxnSpLocks/>
          </p:cNvCxnSpPr>
          <p:nvPr userDrawn="1"/>
        </p:nvCxnSpPr>
        <p:spPr>
          <a:xfrm>
            <a:off x="620024" y="1397216"/>
            <a:ext cx="7926350" cy="0"/>
          </a:xfrm>
          <a:prstGeom prst="line">
            <a:avLst/>
          </a:prstGeom>
          <a:ln w="38100">
            <a:solidFill>
              <a:srgbClr val="CFB87C"/>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E2063627-6A15-220A-FB7F-17C240F5E88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5379" t="27117" b="37353"/>
          <a:stretch/>
        </p:blipFill>
        <p:spPr>
          <a:xfrm>
            <a:off x="-1" y="0"/>
            <a:ext cx="1970057" cy="1466492"/>
          </a:xfrm>
          <a:prstGeom prst="rect">
            <a:avLst/>
          </a:prstGeom>
        </p:spPr>
      </p:pic>
      <p:pic>
        <p:nvPicPr>
          <p:cNvPr id="12" name="Picture 11">
            <a:extLst>
              <a:ext uri="{FF2B5EF4-FFF2-40B4-BE49-F238E27FC236}">
                <a16:creationId xmlns:a16="http://schemas.microsoft.com/office/drawing/2014/main" id="{D82EE7F4-F3CE-1634-AAFD-DD10F58F341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5379" t="27117" b="37353"/>
          <a:stretch/>
        </p:blipFill>
        <p:spPr>
          <a:xfrm rot="10800000">
            <a:off x="7173943" y="5391508"/>
            <a:ext cx="1970057" cy="1466492"/>
          </a:xfrm>
          <a:prstGeom prst="rect">
            <a:avLst/>
          </a:prstGeom>
        </p:spPr>
      </p:pic>
    </p:spTree>
    <p:extLst>
      <p:ext uri="{BB962C8B-B14F-4D97-AF65-F5344CB8AC3E}">
        <p14:creationId xmlns:p14="http://schemas.microsoft.com/office/powerpoint/2010/main" val="16835160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CA751-5504-0470-1970-6C57BFCFA74F}"/>
              </a:ext>
            </a:extLst>
          </p:cNvPr>
          <p:cNvSpPr>
            <a:spLocks noGrp="1"/>
          </p:cNvSpPr>
          <p:nvPr>
            <p:ph type="title"/>
          </p:nvPr>
        </p:nvSpPr>
        <p:spPr>
          <a:xfrm>
            <a:off x="628650" y="365127"/>
            <a:ext cx="7886700" cy="1032090"/>
          </a:xfrm>
        </p:spPr>
        <p:txBody>
          <a:bodyPr/>
          <a:lstStyle>
            <a:lvl1pPr>
              <a:defRPr b="1"/>
            </a:lvl1pPr>
          </a:lstStyle>
          <a:p>
            <a:r>
              <a:rPr lang="en-US"/>
              <a:t>Click to edit Master title style</a:t>
            </a:r>
          </a:p>
        </p:txBody>
      </p:sp>
      <p:sp>
        <p:nvSpPr>
          <p:cNvPr id="3" name="Date Placeholder 2">
            <a:extLst>
              <a:ext uri="{FF2B5EF4-FFF2-40B4-BE49-F238E27FC236}">
                <a16:creationId xmlns:a16="http://schemas.microsoft.com/office/drawing/2014/main" id="{C6160FB8-C4A4-11B8-B383-C8C158383A12}"/>
              </a:ext>
            </a:extLst>
          </p:cNvPr>
          <p:cNvSpPr>
            <a:spLocks noGrp="1"/>
          </p:cNvSpPr>
          <p:nvPr>
            <p:ph type="dt" sz="half" idx="10"/>
          </p:nvPr>
        </p:nvSpPr>
        <p:spPr/>
        <p:txBody>
          <a:bodyPr/>
          <a:lstStyle/>
          <a:p>
            <a:pPr>
              <a:defRPr/>
            </a:pPr>
            <a:endParaRPr lang="en-US"/>
          </a:p>
        </p:txBody>
      </p:sp>
      <p:sp>
        <p:nvSpPr>
          <p:cNvPr id="4" name="Footer Placeholder 3">
            <a:extLst>
              <a:ext uri="{FF2B5EF4-FFF2-40B4-BE49-F238E27FC236}">
                <a16:creationId xmlns:a16="http://schemas.microsoft.com/office/drawing/2014/main" id="{B5C0EE03-C8A0-558C-2769-881F665E9403}"/>
              </a:ext>
            </a:extLst>
          </p:cNvPr>
          <p:cNvSpPr>
            <a:spLocks noGrp="1"/>
          </p:cNvSpPr>
          <p:nvPr>
            <p:ph type="ftr" sz="quarter" idx="11"/>
          </p:nvPr>
        </p:nvSpPr>
        <p:spPr/>
        <p:txBody>
          <a:bodyPr/>
          <a:lstStyle/>
          <a:p>
            <a:pPr>
              <a:defRPr/>
            </a:pPr>
            <a:endParaRPr lang="en-US"/>
          </a:p>
        </p:txBody>
      </p:sp>
      <p:sp>
        <p:nvSpPr>
          <p:cNvPr id="5" name="Slide Number Placeholder 4">
            <a:extLst>
              <a:ext uri="{FF2B5EF4-FFF2-40B4-BE49-F238E27FC236}">
                <a16:creationId xmlns:a16="http://schemas.microsoft.com/office/drawing/2014/main" id="{216A45A1-9999-C0F7-FBAB-F2DC906BD6C2}"/>
              </a:ext>
            </a:extLst>
          </p:cNvPr>
          <p:cNvSpPr>
            <a:spLocks noGrp="1"/>
          </p:cNvSpPr>
          <p:nvPr>
            <p:ph type="sldNum" sz="quarter" idx="12"/>
          </p:nvPr>
        </p:nvSpPr>
        <p:spPr/>
        <p:txBody>
          <a:bodyPr/>
          <a:lstStyle/>
          <a:p>
            <a:pPr>
              <a:defRPr/>
            </a:pPr>
            <a:fld id="{5E9C1AAF-33A1-44EA-A195-86E2A66B03D7}" type="slidenum">
              <a:rPr lang="en-US" smtClean="0"/>
              <a:pPr>
                <a:defRPr/>
              </a:pPr>
              <a:t>‹#›</a:t>
            </a:fld>
            <a:endParaRPr lang="en-US"/>
          </a:p>
        </p:txBody>
      </p:sp>
      <p:cxnSp>
        <p:nvCxnSpPr>
          <p:cNvPr id="6" name="Straight Connector 5">
            <a:extLst>
              <a:ext uri="{FF2B5EF4-FFF2-40B4-BE49-F238E27FC236}">
                <a16:creationId xmlns:a16="http://schemas.microsoft.com/office/drawing/2014/main" id="{C59D71D0-9CA4-B490-73EC-2604A4054774}"/>
              </a:ext>
            </a:extLst>
          </p:cNvPr>
          <p:cNvCxnSpPr>
            <a:cxnSpLocks/>
          </p:cNvCxnSpPr>
          <p:nvPr userDrawn="1"/>
        </p:nvCxnSpPr>
        <p:spPr>
          <a:xfrm>
            <a:off x="620024" y="1397216"/>
            <a:ext cx="7926350" cy="0"/>
          </a:xfrm>
          <a:prstGeom prst="line">
            <a:avLst/>
          </a:prstGeom>
          <a:ln w="38100">
            <a:solidFill>
              <a:srgbClr val="CFB87C"/>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FCD53B29-9219-878E-F04F-2EB2F2C2721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5379" t="27117" b="37353"/>
          <a:stretch/>
        </p:blipFill>
        <p:spPr>
          <a:xfrm>
            <a:off x="-1" y="0"/>
            <a:ext cx="1970057" cy="1466492"/>
          </a:xfrm>
          <a:prstGeom prst="rect">
            <a:avLst/>
          </a:prstGeom>
        </p:spPr>
      </p:pic>
      <p:pic>
        <p:nvPicPr>
          <p:cNvPr id="8" name="Picture 7">
            <a:extLst>
              <a:ext uri="{FF2B5EF4-FFF2-40B4-BE49-F238E27FC236}">
                <a16:creationId xmlns:a16="http://schemas.microsoft.com/office/drawing/2014/main" id="{B4CC1ED5-C7B5-DB15-758C-683F52F8641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5379" t="27117" b="37353"/>
          <a:stretch/>
        </p:blipFill>
        <p:spPr>
          <a:xfrm rot="10800000">
            <a:off x="7173943" y="5391508"/>
            <a:ext cx="1970057" cy="1466492"/>
          </a:xfrm>
          <a:prstGeom prst="rect">
            <a:avLst/>
          </a:prstGeom>
        </p:spPr>
      </p:pic>
    </p:spTree>
    <p:extLst>
      <p:ext uri="{BB962C8B-B14F-4D97-AF65-F5344CB8AC3E}">
        <p14:creationId xmlns:p14="http://schemas.microsoft.com/office/powerpoint/2010/main" val="36952948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AE5BEDA-B42B-CBDC-EE22-5361B0C517B9}"/>
              </a:ext>
            </a:extLst>
          </p:cNvPr>
          <p:cNvSpPr>
            <a:spLocks noGrp="1"/>
          </p:cNvSpPr>
          <p:nvPr>
            <p:ph type="dt" sz="half" idx="10"/>
          </p:nvPr>
        </p:nvSpPr>
        <p:spPr/>
        <p:txBody>
          <a:bodyPr/>
          <a:lstStyle/>
          <a:p>
            <a:pPr>
              <a:defRPr/>
            </a:pPr>
            <a:endParaRPr lang="en-US"/>
          </a:p>
        </p:txBody>
      </p:sp>
      <p:sp>
        <p:nvSpPr>
          <p:cNvPr id="3" name="Footer Placeholder 2">
            <a:extLst>
              <a:ext uri="{FF2B5EF4-FFF2-40B4-BE49-F238E27FC236}">
                <a16:creationId xmlns:a16="http://schemas.microsoft.com/office/drawing/2014/main" id="{5F86E627-021F-327B-3506-1F6E6D44BB3E}"/>
              </a:ext>
            </a:extLst>
          </p:cNvPr>
          <p:cNvSpPr>
            <a:spLocks noGrp="1"/>
          </p:cNvSpPr>
          <p:nvPr>
            <p:ph type="ftr" sz="quarter" idx="11"/>
          </p:nvPr>
        </p:nvSpPr>
        <p:spPr/>
        <p:txBody>
          <a:bodyPr/>
          <a:lstStyle/>
          <a:p>
            <a:pPr>
              <a:defRPr/>
            </a:pPr>
            <a:endParaRPr lang="en-US"/>
          </a:p>
        </p:txBody>
      </p:sp>
      <p:sp>
        <p:nvSpPr>
          <p:cNvPr id="4" name="Slide Number Placeholder 3">
            <a:extLst>
              <a:ext uri="{FF2B5EF4-FFF2-40B4-BE49-F238E27FC236}">
                <a16:creationId xmlns:a16="http://schemas.microsoft.com/office/drawing/2014/main" id="{A79A4491-C6AE-6ABC-DB34-B3D228DE1126}"/>
              </a:ext>
            </a:extLst>
          </p:cNvPr>
          <p:cNvSpPr>
            <a:spLocks noGrp="1"/>
          </p:cNvSpPr>
          <p:nvPr>
            <p:ph type="sldNum" sz="quarter" idx="12"/>
          </p:nvPr>
        </p:nvSpPr>
        <p:spPr/>
        <p:txBody>
          <a:bodyPr/>
          <a:lstStyle/>
          <a:p>
            <a:pPr>
              <a:defRPr/>
            </a:pPr>
            <a:fld id="{1910AC00-8FA5-4069-A69B-F41540024657}" type="slidenum">
              <a:rPr lang="en-US" smtClean="0"/>
              <a:pPr>
                <a:defRPr/>
              </a:pPr>
              <a:t>‹#›</a:t>
            </a:fld>
            <a:endParaRPr lang="en-US"/>
          </a:p>
        </p:txBody>
      </p:sp>
      <p:pic>
        <p:nvPicPr>
          <p:cNvPr id="6" name="Picture 5">
            <a:extLst>
              <a:ext uri="{FF2B5EF4-FFF2-40B4-BE49-F238E27FC236}">
                <a16:creationId xmlns:a16="http://schemas.microsoft.com/office/drawing/2014/main" id="{88DE18CA-952C-2AF7-8B61-D26E4647965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5379" t="27117" b="37353"/>
          <a:stretch/>
        </p:blipFill>
        <p:spPr>
          <a:xfrm>
            <a:off x="-1" y="0"/>
            <a:ext cx="1970057" cy="1466492"/>
          </a:xfrm>
          <a:prstGeom prst="rect">
            <a:avLst/>
          </a:prstGeom>
        </p:spPr>
      </p:pic>
      <p:pic>
        <p:nvPicPr>
          <p:cNvPr id="7" name="Picture 6">
            <a:extLst>
              <a:ext uri="{FF2B5EF4-FFF2-40B4-BE49-F238E27FC236}">
                <a16:creationId xmlns:a16="http://schemas.microsoft.com/office/drawing/2014/main" id="{C15A0004-4FC3-ADFC-3DF7-ADC43833C21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5379" t="27117" b="37353"/>
          <a:stretch/>
        </p:blipFill>
        <p:spPr>
          <a:xfrm rot="10800000">
            <a:off x="7173943" y="5391508"/>
            <a:ext cx="1970057" cy="1466492"/>
          </a:xfrm>
          <a:prstGeom prst="rect">
            <a:avLst/>
          </a:prstGeom>
        </p:spPr>
      </p:pic>
    </p:spTree>
    <p:extLst>
      <p:ext uri="{BB962C8B-B14F-4D97-AF65-F5344CB8AC3E}">
        <p14:creationId xmlns:p14="http://schemas.microsoft.com/office/powerpoint/2010/main" val="41460214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CF6255-62A2-B440-5027-CBA5C6D98DA5}"/>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01F419D4-4F45-AAB6-ED8E-D5E20E487E65}"/>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47E7CFE-962D-1B5D-987D-2F179E5D2C2A}"/>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C67263E8-2C47-A0B5-D2CA-F293FE400A0A}"/>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C8D047C8-402A-1FE2-9A0C-D9BAF9FD6953}"/>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36AF110B-4EA4-E74D-2355-7E656B0AC74A}"/>
              </a:ext>
            </a:extLst>
          </p:cNvPr>
          <p:cNvSpPr>
            <a:spLocks noGrp="1"/>
          </p:cNvSpPr>
          <p:nvPr>
            <p:ph type="sldNum" sz="quarter" idx="12"/>
          </p:nvPr>
        </p:nvSpPr>
        <p:spPr/>
        <p:txBody>
          <a:bodyPr/>
          <a:lstStyle/>
          <a:p>
            <a:pPr>
              <a:defRPr/>
            </a:pPr>
            <a:fld id="{5B54B417-AD3D-4312-8126-F4C81687F557}" type="slidenum">
              <a:rPr lang="en-US" smtClean="0"/>
              <a:pPr>
                <a:defRPr/>
              </a:pPr>
              <a:t>‹#›</a:t>
            </a:fld>
            <a:endParaRPr lang="en-US"/>
          </a:p>
        </p:txBody>
      </p:sp>
      <p:cxnSp>
        <p:nvCxnSpPr>
          <p:cNvPr id="8" name="Straight Connector 7">
            <a:extLst>
              <a:ext uri="{FF2B5EF4-FFF2-40B4-BE49-F238E27FC236}">
                <a16:creationId xmlns:a16="http://schemas.microsoft.com/office/drawing/2014/main" id="{E8FB06CA-1FD5-DC8E-B91A-90CEE0FECD0D}"/>
              </a:ext>
            </a:extLst>
          </p:cNvPr>
          <p:cNvCxnSpPr>
            <a:cxnSpLocks/>
          </p:cNvCxnSpPr>
          <p:nvPr userDrawn="1"/>
        </p:nvCxnSpPr>
        <p:spPr>
          <a:xfrm>
            <a:off x="628650" y="2042532"/>
            <a:ext cx="2950369" cy="0"/>
          </a:xfrm>
          <a:prstGeom prst="line">
            <a:avLst/>
          </a:prstGeom>
          <a:ln w="38100">
            <a:solidFill>
              <a:srgbClr val="CFB87C"/>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864443C2-962A-E917-338B-27A05910355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5379" t="27117" b="37353"/>
          <a:stretch/>
        </p:blipFill>
        <p:spPr>
          <a:xfrm>
            <a:off x="-1" y="0"/>
            <a:ext cx="1970057" cy="1466492"/>
          </a:xfrm>
          <a:prstGeom prst="rect">
            <a:avLst/>
          </a:prstGeom>
        </p:spPr>
      </p:pic>
      <p:pic>
        <p:nvPicPr>
          <p:cNvPr id="10" name="Picture 9">
            <a:extLst>
              <a:ext uri="{FF2B5EF4-FFF2-40B4-BE49-F238E27FC236}">
                <a16:creationId xmlns:a16="http://schemas.microsoft.com/office/drawing/2014/main" id="{FC6BE6B0-2E3F-0A01-AD8B-505CC0683DA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5379" t="27117" b="37353"/>
          <a:stretch/>
        </p:blipFill>
        <p:spPr>
          <a:xfrm rot="10800000">
            <a:off x="7173943" y="5391508"/>
            <a:ext cx="1970057" cy="1466492"/>
          </a:xfrm>
          <a:prstGeom prst="rect">
            <a:avLst/>
          </a:prstGeom>
        </p:spPr>
      </p:pic>
    </p:spTree>
    <p:extLst>
      <p:ext uri="{BB962C8B-B14F-4D97-AF65-F5344CB8AC3E}">
        <p14:creationId xmlns:p14="http://schemas.microsoft.com/office/powerpoint/2010/main" val="3561562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F43B4-B08B-27D2-D357-ABAF2BD54AC4}"/>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7E42FAE3-8C66-0FA9-27B7-4BDA89A45E06}"/>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AF15D049-A6C0-8217-A2C4-2F96F4280C74}"/>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8AA99A43-8B92-6F1B-7BF8-2C8CA5FE2418}"/>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B92EAB75-81DA-0B91-382E-2C1FA1B8B663}"/>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D2012E8B-5EDD-3F3F-6975-09C820BF2F64}"/>
              </a:ext>
            </a:extLst>
          </p:cNvPr>
          <p:cNvSpPr>
            <a:spLocks noGrp="1"/>
          </p:cNvSpPr>
          <p:nvPr>
            <p:ph type="sldNum" sz="quarter" idx="12"/>
          </p:nvPr>
        </p:nvSpPr>
        <p:spPr/>
        <p:txBody>
          <a:bodyPr/>
          <a:lstStyle/>
          <a:p>
            <a:pPr>
              <a:defRPr/>
            </a:pPr>
            <a:fld id="{A04BF9C9-EAF8-49DE-BC51-5E7E543F474A}" type="slidenum">
              <a:rPr lang="en-US" smtClean="0"/>
              <a:pPr>
                <a:defRPr/>
              </a:pPr>
              <a:t>‹#›</a:t>
            </a:fld>
            <a:endParaRPr lang="en-US"/>
          </a:p>
        </p:txBody>
      </p:sp>
      <p:cxnSp>
        <p:nvCxnSpPr>
          <p:cNvPr id="8" name="Straight Connector 7">
            <a:extLst>
              <a:ext uri="{FF2B5EF4-FFF2-40B4-BE49-F238E27FC236}">
                <a16:creationId xmlns:a16="http://schemas.microsoft.com/office/drawing/2014/main" id="{09FB33BF-3560-E1B7-2D0E-C2AFD1DF1FCD}"/>
              </a:ext>
            </a:extLst>
          </p:cNvPr>
          <p:cNvCxnSpPr>
            <a:cxnSpLocks/>
          </p:cNvCxnSpPr>
          <p:nvPr userDrawn="1"/>
        </p:nvCxnSpPr>
        <p:spPr>
          <a:xfrm>
            <a:off x="589000" y="2057400"/>
            <a:ext cx="2990019" cy="0"/>
          </a:xfrm>
          <a:prstGeom prst="line">
            <a:avLst/>
          </a:prstGeom>
          <a:ln w="38100">
            <a:solidFill>
              <a:srgbClr val="CFB87C"/>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E562D918-D1F2-7B26-F11C-961FE6DD95B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5379" t="27117" b="37353"/>
          <a:stretch/>
        </p:blipFill>
        <p:spPr>
          <a:xfrm>
            <a:off x="-1" y="0"/>
            <a:ext cx="1970057" cy="1466492"/>
          </a:xfrm>
          <a:prstGeom prst="rect">
            <a:avLst/>
          </a:prstGeom>
        </p:spPr>
      </p:pic>
      <p:pic>
        <p:nvPicPr>
          <p:cNvPr id="10" name="Picture 9">
            <a:extLst>
              <a:ext uri="{FF2B5EF4-FFF2-40B4-BE49-F238E27FC236}">
                <a16:creationId xmlns:a16="http://schemas.microsoft.com/office/drawing/2014/main" id="{6958B8FB-180A-1947-53B2-583230C32F3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5379" t="27117" b="37353"/>
          <a:stretch/>
        </p:blipFill>
        <p:spPr>
          <a:xfrm rot="10800000">
            <a:off x="7173943" y="5391508"/>
            <a:ext cx="1970057" cy="1466492"/>
          </a:xfrm>
          <a:prstGeom prst="rect">
            <a:avLst/>
          </a:prstGeom>
        </p:spPr>
      </p:pic>
    </p:spTree>
    <p:extLst>
      <p:ext uri="{BB962C8B-B14F-4D97-AF65-F5344CB8AC3E}">
        <p14:creationId xmlns:p14="http://schemas.microsoft.com/office/powerpoint/2010/main" val="13543029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3BC81-929E-25E6-EFE7-8F664864063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4803A99-6E17-1F15-5212-8E311907DFA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3E823B4-B2A6-761F-A4DF-461C0216B4EE}"/>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F1476C6F-D82C-3651-380C-5B57641309D6}"/>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8C70EADA-5F48-42B8-5105-BC7C3E8C2E2E}"/>
              </a:ext>
            </a:extLst>
          </p:cNvPr>
          <p:cNvSpPr>
            <a:spLocks noGrp="1"/>
          </p:cNvSpPr>
          <p:nvPr>
            <p:ph type="sldNum" sz="quarter" idx="12"/>
          </p:nvPr>
        </p:nvSpPr>
        <p:spPr/>
        <p:txBody>
          <a:bodyPr/>
          <a:lstStyle/>
          <a:p>
            <a:pPr>
              <a:defRPr/>
            </a:pPr>
            <a:fld id="{980D4170-A35D-4B92-878B-2D63BE5474F8}" type="slidenum">
              <a:rPr lang="en-US" smtClean="0"/>
              <a:pPr>
                <a:defRPr/>
              </a:pPr>
              <a:t>‹#›</a:t>
            </a:fld>
            <a:endParaRPr lang="en-US"/>
          </a:p>
        </p:txBody>
      </p:sp>
    </p:spTree>
    <p:extLst>
      <p:ext uri="{BB962C8B-B14F-4D97-AF65-F5344CB8AC3E}">
        <p14:creationId xmlns:p14="http://schemas.microsoft.com/office/powerpoint/2010/main" val="844147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BADB19E-376C-BB5F-09DF-15E63C68C310}"/>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2380A13-5547-E36A-1691-36291608A2BA}"/>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734A03D-2F3D-BF64-7868-03B01B6B39EA}"/>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889839FA-DCDB-A07F-86DC-1648446FA313}"/>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50C9D4C4-D028-25AB-7AE6-AF71C3581DA8}"/>
              </a:ext>
            </a:extLst>
          </p:cNvPr>
          <p:cNvSpPr>
            <a:spLocks noGrp="1"/>
          </p:cNvSpPr>
          <p:nvPr>
            <p:ph type="sldNum" sz="quarter" idx="12"/>
          </p:nvPr>
        </p:nvSpPr>
        <p:spPr/>
        <p:txBody>
          <a:bodyPr/>
          <a:lstStyle/>
          <a:p>
            <a:pPr>
              <a:defRPr/>
            </a:pPr>
            <a:fld id="{13F767CC-98F8-4699-B32C-1545759A837D}" type="slidenum">
              <a:rPr lang="en-US" smtClean="0"/>
              <a:pPr>
                <a:defRPr/>
              </a:pPr>
              <a:t>‹#›</a:t>
            </a:fld>
            <a:endParaRPr lang="en-US"/>
          </a:p>
        </p:txBody>
      </p:sp>
    </p:spTree>
    <p:extLst>
      <p:ext uri="{BB962C8B-B14F-4D97-AF65-F5344CB8AC3E}">
        <p14:creationId xmlns:p14="http://schemas.microsoft.com/office/powerpoint/2010/main" val="25113651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9355009-70F6-345A-132A-58DF295E9C2D}"/>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7A563C62-7BC6-EEDF-9BEC-4B0D3A92ADCC}"/>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3956E4D-6B68-39D6-7EE4-9FCCA819246E}"/>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endParaRPr lang="en-US"/>
          </a:p>
        </p:txBody>
      </p:sp>
      <p:sp>
        <p:nvSpPr>
          <p:cNvPr id="5" name="Footer Placeholder 4">
            <a:extLst>
              <a:ext uri="{FF2B5EF4-FFF2-40B4-BE49-F238E27FC236}">
                <a16:creationId xmlns:a16="http://schemas.microsoft.com/office/drawing/2014/main" id="{426FCE08-42CA-FCFC-ACF9-65D65B7ED16D}"/>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endParaRPr lang="en-US"/>
          </a:p>
        </p:txBody>
      </p:sp>
      <p:sp>
        <p:nvSpPr>
          <p:cNvPr id="6" name="Slide Number Placeholder 5">
            <a:extLst>
              <a:ext uri="{FF2B5EF4-FFF2-40B4-BE49-F238E27FC236}">
                <a16:creationId xmlns:a16="http://schemas.microsoft.com/office/drawing/2014/main" id="{DE09E486-CEE8-489E-5A48-89157A2E83F7}"/>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79B0167D-6490-4BBB-BA2A-81BDB0B85D3F}" type="slidenum">
              <a:rPr lang="en-US" smtClean="0"/>
              <a:pPr>
                <a:defRPr/>
              </a:pPr>
              <a:t>‹#›</a:t>
            </a:fld>
            <a:endParaRPr lang="en-US"/>
          </a:p>
        </p:txBody>
      </p:sp>
      <p:pic>
        <p:nvPicPr>
          <p:cNvPr id="7" name="Picture 6">
            <a:extLst>
              <a:ext uri="{FF2B5EF4-FFF2-40B4-BE49-F238E27FC236}">
                <a16:creationId xmlns:a16="http://schemas.microsoft.com/office/drawing/2014/main" id="{93829447-14B4-5F88-BA07-CEF391FEC28C}"/>
              </a:ext>
            </a:extLst>
          </p:cNvPr>
          <p:cNvPicPr>
            <a:picLocks noChangeAspect="1"/>
          </p:cNvPicPr>
          <p:nvPr userDrawn="1"/>
        </p:nvPicPr>
        <p:blipFill rotWithShape="1">
          <a:blip r:embed="rId13">
            <a:extLst>
              <a:ext uri="{28A0092B-C50C-407E-A947-70E740481C1C}">
                <a14:useLocalDpi xmlns:a14="http://schemas.microsoft.com/office/drawing/2010/main" val="0"/>
              </a:ext>
            </a:extLst>
          </a:blip>
          <a:srcRect t="20689" r="84626" b="20897"/>
          <a:stretch/>
        </p:blipFill>
        <p:spPr>
          <a:xfrm>
            <a:off x="-108639" y="6255244"/>
            <a:ext cx="625474" cy="582091"/>
          </a:xfrm>
          <a:prstGeom prst="rect">
            <a:avLst/>
          </a:prstGeom>
        </p:spPr>
      </p:pic>
    </p:spTree>
    <p:extLst>
      <p:ext uri="{BB962C8B-B14F-4D97-AF65-F5344CB8AC3E}">
        <p14:creationId xmlns:p14="http://schemas.microsoft.com/office/powerpoint/2010/main" val="3198361821"/>
      </p:ext>
    </p:extLst>
  </p:cSld>
  <p:clrMap bg1="lt1" tx1="dk1" bg2="lt2" tx2="dk2" accent1="accent1" accent2="accent2" accent3="accent3" accent4="accent4" accent5="accent5" accent6="accent6" hlink="hlink" folHlink="folHlink"/>
  <p:sldLayoutIdLst>
    <p:sldLayoutId id="2147484283" r:id="rId1"/>
    <p:sldLayoutId id="2147484284" r:id="rId2"/>
    <p:sldLayoutId id="2147484285" r:id="rId3"/>
    <p:sldLayoutId id="2147484286" r:id="rId4"/>
    <p:sldLayoutId id="2147484287" r:id="rId5"/>
    <p:sldLayoutId id="2147484288" r:id="rId6"/>
    <p:sldLayoutId id="2147484289" r:id="rId7"/>
    <p:sldLayoutId id="2147484290" r:id="rId8"/>
    <p:sldLayoutId id="2147484291" r:id="rId9"/>
    <p:sldLayoutId id="2147484292" r:id="rId10"/>
    <p:sldLayoutId id="2147484293" r:id="rId11"/>
  </p:sldLayoutIdLst>
  <p:hf hdr="0" ftr="0" dt="0"/>
  <p:txStyles>
    <p:titleStyle>
      <a:lvl1pPr algn="l" defTabSz="6858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32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6"/>
          <p:cNvSpPr>
            <a:spLocks noGrp="1" noChangeArrowheads="1"/>
          </p:cNvSpPr>
          <p:nvPr>
            <p:ph type="ctrTitle"/>
          </p:nvPr>
        </p:nvSpPr>
        <p:spPr/>
        <p:txBody>
          <a:bodyPr>
            <a:normAutofit/>
          </a:bodyPr>
          <a:lstStyle/>
          <a:p>
            <a:pPr eaLnBrk="1" hangingPunct="1"/>
            <a:r>
              <a:rPr lang="en-US" altLang="en-US" dirty="0"/>
              <a:t>CHAPTER 1</a:t>
            </a:r>
          </a:p>
        </p:txBody>
      </p:sp>
      <p:sp>
        <p:nvSpPr>
          <p:cNvPr id="4100" name="Rectangle 7"/>
          <p:cNvSpPr>
            <a:spLocks noGrp="1" noChangeArrowheads="1"/>
          </p:cNvSpPr>
          <p:nvPr>
            <p:ph type="subTitle" idx="1"/>
          </p:nvPr>
        </p:nvSpPr>
        <p:spPr/>
        <p:txBody>
          <a:bodyPr>
            <a:normAutofit/>
          </a:bodyPr>
          <a:lstStyle/>
          <a:p>
            <a:pPr eaLnBrk="1" hangingPunct="1"/>
            <a:r>
              <a:rPr lang="en-US" altLang="en-US" dirty="0"/>
              <a:t>Overview of Financial Management &amp; Financial Environment</a:t>
            </a:r>
          </a:p>
        </p:txBody>
      </p:sp>
      <p:sp>
        <p:nvSpPr>
          <p:cNvPr id="2" name="Slide Number Placeholder 1">
            <a:extLst>
              <a:ext uri="{FF2B5EF4-FFF2-40B4-BE49-F238E27FC236}">
                <a16:creationId xmlns:a16="http://schemas.microsoft.com/office/drawing/2014/main" id="{DBE00AE7-8469-5A1A-3F43-A0490C985495}"/>
              </a:ext>
            </a:extLst>
          </p:cNvPr>
          <p:cNvSpPr>
            <a:spLocks noGrp="1"/>
          </p:cNvSpPr>
          <p:nvPr>
            <p:ph type="sldNum" sz="quarter" idx="12"/>
          </p:nvPr>
        </p:nvSpPr>
        <p:spPr/>
        <p:txBody>
          <a:bodyPr/>
          <a:lstStyle/>
          <a:p>
            <a:pPr>
              <a:defRPr/>
            </a:pPr>
            <a:fld id="{A5B4D19F-489A-4E5E-A28E-C8AF833E0C3C}" type="slidenum">
              <a:rPr lang="en-US" smtClean="0"/>
              <a:pPr>
                <a:defRPr/>
              </a:p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5" name="Rectangle 9"/>
          <p:cNvSpPr>
            <a:spLocks noGrp="1" noChangeArrowheads="1"/>
          </p:cNvSpPr>
          <p:nvPr>
            <p:ph type="title"/>
          </p:nvPr>
        </p:nvSpPr>
        <p:spPr/>
        <p:txBody>
          <a:bodyPr/>
          <a:lstStyle/>
          <a:p>
            <a:r>
              <a:rPr lang="en-US" altLang="en-US" dirty="0"/>
              <a:t>Topics in Chapter</a:t>
            </a:r>
          </a:p>
        </p:txBody>
      </p:sp>
      <p:sp>
        <p:nvSpPr>
          <p:cNvPr id="5126" name="Rectangle 10"/>
          <p:cNvSpPr>
            <a:spLocks noGrp="1" noChangeArrowheads="1"/>
          </p:cNvSpPr>
          <p:nvPr>
            <p:ph idx="1"/>
          </p:nvPr>
        </p:nvSpPr>
        <p:spPr/>
        <p:txBody>
          <a:bodyPr/>
          <a:lstStyle/>
          <a:p>
            <a:r>
              <a:rPr lang="en-US" altLang="en-US" dirty="0"/>
              <a:t>Forms of business organization</a:t>
            </a:r>
          </a:p>
          <a:p>
            <a:r>
              <a:rPr lang="en-US" altLang="en-US" dirty="0"/>
              <a:t>Objective of firm: Maximize wealth</a:t>
            </a:r>
          </a:p>
          <a:p>
            <a:r>
              <a:rPr lang="en-US" altLang="en-US" dirty="0"/>
              <a:t>Determinants of fundamental value</a:t>
            </a:r>
          </a:p>
          <a:p>
            <a:r>
              <a:rPr lang="en-US" altLang="en-US" dirty="0"/>
              <a:t>Financial securities, markets &amp; institutions</a:t>
            </a:r>
          </a:p>
          <a:p>
            <a:endParaRPr lang="en-US" altLang="en-US" dirty="0"/>
          </a:p>
        </p:txBody>
      </p:sp>
      <p:sp>
        <p:nvSpPr>
          <p:cNvPr id="2" name="Slide Number Placeholder 1">
            <a:extLst>
              <a:ext uri="{FF2B5EF4-FFF2-40B4-BE49-F238E27FC236}">
                <a16:creationId xmlns:a16="http://schemas.microsoft.com/office/drawing/2014/main" id="{77E26BD0-0BE6-04C2-9AFF-F430FB32F190}"/>
              </a:ext>
            </a:extLst>
          </p:cNvPr>
          <p:cNvSpPr>
            <a:spLocks noGrp="1"/>
          </p:cNvSpPr>
          <p:nvPr>
            <p:ph type="sldNum" sz="quarter" idx="12"/>
          </p:nvPr>
        </p:nvSpPr>
        <p:spPr/>
        <p:txBody>
          <a:bodyPr/>
          <a:lstStyle/>
          <a:p>
            <a:pPr>
              <a:defRPr/>
            </a:pPr>
            <a:fld id="{4E499BF4-6C8D-417D-B206-0AF20A1CAAC7}" type="slidenum">
              <a:rPr lang="en-US" smtClean="0"/>
              <a:pPr>
                <a:defRPr/>
              </a:pPr>
              <a:t>2</a:t>
            </a:fld>
            <a:endParaRPr lang="en-US"/>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6"/>
          <p:cNvSpPr>
            <a:spLocks noGrp="1" noChangeArrowheads="1"/>
          </p:cNvSpPr>
          <p:nvPr>
            <p:ph type="title"/>
          </p:nvPr>
        </p:nvSpPr>
        <p:spPr/>
        <p:txBody>
          <a:bodyPr>
            <a:normAutofit fontScale="90000"/>
          </a:bodyPr>
          <a:lstStyle/>
          <a:p>
            <a:r>
              <a:rPr lang="en-US" altLang="en-US" dirty="0"/>
              <a:t>Why is corporate finance important to all managers?</a:t>
            </a:r>
          </a:p>
        </p:txBody>
      </p:sp>
      <p:sp>
        <p:nvSpPr>
          <p:cNvPr id="6148" name="Rectangle 7"/>
          <p:cNvSpPr>
            <a:spLocks noGrp="1" noChangeArrowheads="1"/>
          </p:cNvSpPr>
          <p:nvPr>
            <p:ph idx="1"/>
          </p:nvPr>
        </p:nvSpPr>
        <p:spPr>
          <a:xfrm>
            <a:off x="457200" y="1825625"/>
            <a:ext cx="8058150" cy="4351338"/>
          </a:xfrm>
        </p:spPr>
        <p:txBody>
          <a:bodyPr/>
          <a:lstStyle/>
          <a:p>
            <a:r>
              <a:rPr lang="en-US" altLang="en-US" dirty="0"/>
              <a:t>Corporate finance provides skills managers need to:</a:t>
            </a:r>
          </a:p>
          <a:p>
            <a:pPr lvl="1"/>
            <a:r>
              <a:rPr lang="en-US" altLang="en-US" dirty="0"/>
              <a:t>Identify &amp; select corporate strategies &amp; projects that add value to their firm.</a:t>
            </a:r>
          </a:p>
          <a:p>
            <a:pPr lvl="1"/>
            <a:r>
              <a:rPr lang="en-US" altLang="en-US" dirty="0"/>
              <a:t>Forecast funding requirements of their company, &amp; devise strategies for acquiring those funds.</a:t>
            </a:r>
          </a:p>
        </p:txBody>
      </p:sp>
      <p:sp>
        <p:nvSpPr>
          <p:cNvPr id="2" name="Slide Number Placeholder 1">
            <a:extLst>
              <a:ext uri="{FF2B5EF4-FFF2-40B4-BE49-F238E27FC236}">
                <a16:creationId xmlns:a16="http://schemas.microsoft.com/office/drawing/2014/main" id="{70341D1E-C5F3-860C-921F-459157003F87}"/>
              </a:ext>
            </a:extLst>
          </p:cNvPr>
          <p:cNvSpPr>
            <a:spLocks noGrp="1"/>
          </p:cNvSpPr>
          <p:nvPr>
            <p:ph type="sldNum" sz="quarter" idx="12"/>
          </p:nvPr>
        </p:nvSpPr>
        <p:spPr/>
        <p:txBody>
          <a:bodyPr/>
          <a:lstStyle/>
          <a:p>
            <a:pPr>
              <a:defRPr/>
            </a:pPr>
            <a:fld id="{4E499BF4-6C8D-417D-B206-0AF20A1CAAC7}" type="slidenum">
              <a:rPr lang="en-US" smtClean="0"/>
              <a:pPr>
                <a:defRPr/>
              </a:pPr>
              <a:t>3</a:t>
            </a:fld>
            <a:endParaRPr lang="en-US"/>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normAutofit fontScale="90000"/>
          </a:bodyPr>
          <a:lstStyle/>
          <a:p>
            <a:r>
              <a:rPr lang="en-US" altLang="en-US"/>
              <a:t>What 3 Questions Does Fin. Mgmt Seek to Answer?</a:t>
            </a:r>
          </a:p>
        </p:txBody>
      </p:sp>
      <p:sp>
        <p:nvSpPr>
          <p:cNvPr id="7171" name="Content Placeholder 2"/>
          <p:cNvSpPr>
            <a:spLocks noGrp="1"/>
          </p:cNvSpPr>
          <p:nvPr>
            <p:ph idx="1"/>
          </p:nvPr>
        </p:nvSpPr>
        <p:spPr>
          <a:xfrm>
            <a:off x="628650" y="1600200"/>
            <a:ext cx="7886700" cy="5029200"/>
          </a:xfrm>
        </p:spPr>
        <p:txBody>
          <a:bodyPr>
            <a:normAutofit fontScale="92500" lnSpcReduction="10000"/>
          </a:bodyPr>
          <a:lstStyle/>
          <a:p>
            <a:pPr marL="514350" indent="-514350">
              <a:buFont typeface="+mj-lt"/>
              <a:buAutoNum type="arabicPeriod"/>
            </a:pPr>
            <a:r>
              <a:rPr lang="en-US" altLang="en-US" dirty="0"/>
              <a:t>What causes company to have particular stock value?</a:t>
            </a:r>
          </a:p>
          <a:p>
            <a:pPr marL="514350" indent="-514350">
              <a:buFont typeface="+mj-lt"/>
              <a:buAutoNum type="arabicPeriod"/>
            </a:pPr>
            <a:r>
              <a:rPr lang="en-US" altLang="en-US" dirty="0"/>
              <a:t>How can managers make choices that add value to their companies?</a:t>
            </a:r>
          </a:p>
          <a:p>
            <a:pPr marL="514350" indent="-514350">
              <a:buFont typeface="+mj-lt"/>
              <a:buAutoNum type="arabicPeriod"/>
            </a:pPr>
            <a:r>
              <a:rPr lang="en-US" altLang="en-US" dirty="0"/>
              <a:t>How can managers ensure their companies don’t run out of cash while executing their plans?</a:t>
            </a:r>
          </a:p>
          <a:p>
            <a:r>
              <a:rPr lang="en-US" altLang="en-US" b="1" dirty="0"/>
              <a:t>DUTY of co.’s Financial staff</a:t>
            </a:r>
            <a:r>
              <a:rPr lang="en-US" altLang="en-US" dirty="0"/>
              <a:t>: </a:t>
            </a:r>
          </a:p>
          <a:p>
            <a:pPr lvl="1"/>
            <a:r>
              <a:rPr lang="en-US" altLang="en-US" dirty="0"/>
              <a:t>To acquire &amp; use fund$ to Max value of Co.</a:t>
            </a:r>
          </a:p>
          <a:p>
            <a:pPr marL="514350" indent="-514350">
              <a:buFont typeface="+mj-lt"/>
              <a:buAutoNum type="arabicPeriod"/>
            </a:pPr>
            <a:endParaRPr lang="en-US" altLang="en-US" dirty="0"/>
          </a:p>
        </p:txBody>
      </p:sp>
      <p:sp>
        <p:nvSpPr>
          <p:cNvPr id="2" name="Slide Number Placeholder 1">
            <a:extLst>
              <a:ext uri="{FF2B5EF4-FFF2-40B4-BE49-F238E27FC236}">
                <a16:creationId xmlns:a16="http://schemas.microsoft.com/office/drawing/2014/main" id="{EDA5A7BB-992A-B43F-936A-EBF6BC168DD5}"/>
              </a:ext>
            </a:extLst>
          </p:cNvPr>
          <p:cNvSpPr>
            <a:spLocks noGrp="1"/>
          </p:cNvSpPr>
          <p:nvPr>
            <p:ph type="sldNum" sz="quarter" idx="12"/>
          </p:nvPr>
        </p:nvSpPr>
        <p:spPr/>
        <p:txBody>
          <a:bodyPr/>
          <a:lstStyle/>
          <a:p>
            <a:pPr>
              <a:defRPr/>
            </a:pPr>
            <a:fld id="{4E499BF4-6C8D-417D-B206-0AF20A1CAAC7}" type="slidenum">
              <a:rPr lang="en-US" smtClean="0"/>
              <a:pPr>
                <a:defRPr/>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a:xfrm>
            <a:off x="1143003" y="214316"/>
            <a:ext cx="7800975" cy="1309687"/>
          </a:xfrm>
        </p:spPr>
        <p:txBody>
          <a:bodyPr/>
          <a:lstStyle/>
          <a:p>
            <a:r>
              <a:rPr lang="en-US" altLang="en-US"/>
              <a:t>Value of a business likely to be maximized when:</a:t>
            </a:r>
          </a:p>
        </p:txBody>
      </p:sp>
      <p:sp>
        <p:nvSpPr>
          <p:cNvPr id="8195" name="Content Placeholder 2"/>
          <p:cNvSpPr>
            <a:spLocks noGrp="1"/>
          </p:cNvSpPr>
          <p:nvPr>
            <p:ph idx="1"/>
          </p:nvPr>
        </p:nvSpPr>
        <p:spPr>
          <a:xfrm>
            <a:off x="914400" y="1752600"/>
            <a:ext cx="8040688" cy="4800600"/>
          </a:xfrm>
        </p:spPr>
        <p:txBody>
          <a:bodyPr/>
          <a:lstStyle/>
          <a:p>
            <a:pPr marL="514350" indent="-514350">
              <a:buFont typeface="+mj-lt"/>
              <a:buAutoNum type="arabicPeriod"/>
            </a:pPr>
            <a:r>
              <a:rPr lang="en-US" altLang="en-US" sz="3000" dirty="0"/>
              <a:t>Firm lowers risk, thus increasing its value.</a:t>
            </a:r>
          </a:p>
          <a:p>
            <a:pPr marL="514350" indent="-514350">
              <a:buFont typeface="+mj-lt"/>
              <a:buAutoNum type="arabicPeriod"/>
            </a:pPr>
            <a:r>
              <a:rPr lang="en-US" altLang="en-US" sz="3000" dirty="0"/>
              <a:t>It optimizes growth opportunities, which depends on firm’s ability to attract capital.</a:t>
            </a:r>
          </a:p>
          <a:p>
            <a:pPr marL="514350" indent="-514350">
              <a:buFont typeface="+mj-lt"/>
              <a:buAutoNum type="arabicPeriod"/>
            </a:pPr>
            <a:r>
              <a:rPr lang="en-US" altLang="en-US" sz="3000" dirty="0"/>
              <a:t>Its stock is easily converted to cash (highly liquid)</a:t>
            </a:r>
          </a:p>
          <a:p>
            <a:r>
              <a:rPr lang="en-US" altLang="en-US" sz="3000" dirty="0"/>
              <a:t>All 3 of above are strongest under  corporate structure of business org</a:t>
            </a:r>
            <a:r>
              <a:rPr lang="en-US" altLang="en-US" dirty="0"/>
              <a:t>anization</a:t>
            </a:r>
          </a:p>
        </p:txBody>
      </p:sp>
      <p:sp>
        <p:nvSpPr>
          <p:cNvPr id="2" name="Slide Number Placeholder 1">
            <a:extLst>
              <a:ext uri="{FF2B5EF4-FFF2-40B4-BE49-F238E27FC236}">
                <a16:creationId xmlns:a16="http://schemas.microsoft.com/office/drawing/2014/main" id="{C2F563EF-B156-86ED-BBB7-1667F5AFE0FE}"/>
              </a:ext>
            </a:extLst>
          </p:cNvPr>
          <p:cNvSpPr>
            <a:spLocks noGrp="1"/>
          </p:cNvSpPr>
          <p:nvPr>
            <p:ph type="sldNum" sz="quarter" idx="12"/>
          </p:nvPr>
        </p:nvSpPr>
        <p:spPr/>
        <p:txBody>
          <a:bodyPr/>
          <a:lstStyle/>
          <a:p>
            <a:pPr>
              <a:defRPr/>
            </a:pPr>
            <a:fld id="{4E499BF4-6C8D-417D-B206-0AF20A1CAAC7}" type="slidenum">
              <a:rPr lang="en-US" smtClean="0"/>
              <a:pPr>
                <a:defRPr/>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r>
              <a:rPr lang="en-US" altLang="en-US"/>
              <a:t>Factors affecting stock price:</a:t>
            </a:r>
          </a:p>
        </p:txBody>
      </p:sp>
      <p:sp>
        <p:nvSpPr>
          <p:cNvPr id="9219" name="Content Placeholder 2"/>
          <p:cNvSpPr>
            <a:spLocks noGrp="1"/>
          </p:cNvSpPr>
          <p:nvPr>
            <p:ph idx="1"/>
          </p:nvPr>
        </p:nvSpPr>
        <p:spPr/>
        <p:txBody>
          <a:bodyPr/>
          <a:lstStyle/>
          <a:p>
            <a:pPr marL="514350" indent="-514350">
              <a:buFont typeface="+mj-lt"/>
              <a:buAutoNum type="arabicPeriod"/>
            </a:pPr>
            <a:r>
              <a:rPr lang="en-US" altLang="en-US" dirty="0"/>
              <a:t>Projected cash flows to shareholders.</a:t>
            </a:r>
          </a:p>
          <a:p>
            <a:pPr marL="514350" indent="-514350">
              <a:buFont typeface="+mj-lt"/>
              <a:buAutoNum type="arabicPeriod"/>
            </a:pPr>
            <a:r>
              <a:rPr lang="en-US" altLang="en-US" dirty="0"/>
              <a:t>Timing of CF stream.</a:t>
            </a:r>
          </a:p>
          <a:p>
            <a:pPr marL="514350" indent="-514350">
              <a:buFont typeface="+mj-lt"/>
              <a:buAutoNum type="arabicPeriod"/>
            </a:pPr>
            <a:r>
              <a:rPr lang="en-US" altLang="en-US" dirty="0"/>
              <a:t>Riskiness of CFs.</a:t>
            </a:r>
          </a:p>
          <a:p>
            <a:r>
              <a:rPr lang="en-US" altLang="en-US" dirty="0"/>
              <a:t>All Corp. decisions should be analyzed in term of their effects on these factors.</a:t>
            </a:r>
          </a:p>
        </p:txBody>
      </p:sp>
      <p:sp>
        <p:nvSpPr>
          <p:cNvPr id="2" name="Slide Number Placeholder 1">
            <a:extLst>
              <a:ext uri="{FF2B5EF4-FFF2-40B4-BE49-F238E27FC236}">
                <a16:creationId xmlns:a16="http://schemas.microsoft.com/office/drawing/2014/main" id="{19F5CE09-0650-ACAC-B36C-6A656146DA2C}"/>
              </a:ext>
            </a:extLst>
          </p:cNvPr>
          <p:cNvSpPr>
            <a:spLocks noGrp="1"/>
          </p:cNvSpPr>
          <p:nvPr>
            <p:ph type="sldNum" sz="quarter" idx="12"/>
          </p:nvPr>
        </p:nvSpPr>
        <p:spPr/>
        <p:txBody>
          <a:bodyPr/>
          <a:lstStyle/>
          <a:p>
            <a:pPr>
              <a:defRPr/>
            </a:pPr>
            <a:fld id="{4E499BF4-6C8D-417D-B206-0AF20A1CAAC7}" type="slidenum">
              <a:rPr lang="en-US" smtClean="0"/>
              <a:pPr>
                <a:defRPr/>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1066803" y="0"/>
            <a:ext cx="7877175" cy="1524000"/>
          </a:xfrm>
        </p:spPr>
        <p:txBody>
          <a:bodyPr/>
          <a:lstStyle/>
          <a:p>
            <a:r>
              <a:rPr lang="en-US" altLang="en-US" dirty="0"/>
              <a:t>Factors that affect level &amp; riskiness of CFs</a:t>
            </a:r>
          </a:p>
        </p:txBody>
      </p:sp>
      <p:sp>
        <p:nvSpPr>
          <p:cNvPr id="10243" name="Content Placeholder 2"/>
          <p:cNvSpPr>
            <a:spLocks noGrp="1"/>
          </p:cNvSpPr>
          <p:nvPr>
            <p:ph idx="1"/>
          </p:nvPr>
        </p:nvSpPr>
        <p:spPr>
          <a:xfrm>
            <a:off x="914400" y="1676400"/>
            <a:ext cx="8040688" cy="4800600"/>
          </a:xfrm>
        </p:spPr>
        <p:txBody>
          <a:bodyPr>
            <a:normAutofit fontScale="92500" lnSpcReduction="10000"/>
          </a:bodyPr>
          <a:lstStyle/>
          <a:p>
            <a:r>
              <a:rPr lang="en-US" altLang="en-US" sz="3000" dirty="0"/>
              <a:t>INTERNAL:</a:t>
            </a:r>
          </a:p>
          <a:p>
            <a:r>
              <a:rPr lang="en-US" altLang="en-US" sz="3000" dirty="0"/>
              <a:t>Decisions made by Financial Mgrs.</a:t>
            </a:r>
          </a:p>
          <a:p>
            <a:pPr marL="514350" indent="-514350">
              <a:buFont typeface="+mj-lt"/>
              <a:buAutoNum type="arabicPeriod"/>
            </a:pPr>
            <a:r>
              <a:rPr lang="en-US" altLang="en-US" sz="2700" dirty="0"/>
              <a:t>Investment decisions</a:t>
            </a:r>
          </a:p>
          <a:p>
            <a:pPr marL="514350" indent="-514350">
              <a:buFont typeface="+mj-lt"/>
              <a:buAutoNum type="arabicPeriod"/>
            </a:pPr>
            <a:r>
              <a:rPr lang="en-US" altLang="en-US" sz="2700" dirty="0"/>
              <a:t>Financing decisions</a:t>
            </a:r>
          </a:p>
          <a:p>
            <a:pPr marL="514350" indent="-514350">
              <a:buFont typeface="+mj-lt"/>
              <a:buAutoNum type="arabicPeriod"/>
            </a:pPr>
            <a:r>
              <a:rPr lang="en-US" altLang="en-US" sz="2700" dirty="0"/>
              <a:t>Dividend Policy decisions</a:t>
            </a:r>
          </a:p>
          <a:p>
            <a:pPr marL="514350" indent="-514350">
              <a:buFont typeface="+mj-lt"/>
              <a:buAutoNum type="arabicPeriod"/>
            </a:pPr>
            <a:r>
              <a:rPr lang="en-US" altLang="en-US" sz="2700" dirty="0"/>
              <a:t>Operating Decisions</a:t>
            </a:r>
          </a:p>
          <a:p>
            <a:pPr lvl="1"/>
            <a:r>
              <a:rPr lang="en-US" altLang="en-US" sz="2300" dirty="0"/>
              <a:t>Operating determinants of CFs:</a:t>
            </a:r>
          </a:p>
          <a:p>
            <a:pPr marL="923925" lvl="1" indent="-334963">
              <a:buFont typeface="+mj-lt"/>
              <a:buAutoNum type="alphaLcPeriod"/>
            </a:pPr>
            <a:r>
              <a:rPr lang="en-US" altLang="en-US" sz="2300" dirty="0"/>
              <a:t>Sales: current vs. S/T vs. L/T</a:t>
            </a:r>
          </a:p>
          <a:p>
            <a:pPr marL="923925" lvl="1" indent="-334963">
              <a:buFont typeface="+mj-lt"/>
              <a:buAutoNum type="alphaLcPeriod"/>
            </a:pPr>
            <a:r>
              <a:rPr lang="en-US" altLang="en-US" sz="2300" dirty="0"/>
              <a:t>Operating vs. Capital Expenses</a:t>
            </a:r>
          </a:p>
          <a:p>
            <a:pPr lvl="1"/>
            <a:r>
              <a:rPr lang="en-US" altLang="en-US" sz="2300" dirty="0"/>
              <a:t>Think Profit Margin Perspective</a:t>
            </a:r>
          </a:p>
        </p:txBody>
      </p:sp>
      <p:sp>
        <p:nvSpPr>
          <p:cNvPr id="2" name="Slide Number Placeholder 1">
            <a:extLst>
              <a:ext uri="{FF2B5EF4-FFF2-40B4-BE49-F238E27FC236}">
                <a16:creationId xmlns:a16="http://schemas.microsoft.com/office/drawing/2014/main" id="{F9096814-D5B8-EEB7-E4D7-B117117F2B12}"/>
              </a:ext>
            </a:extLst>
          </p:cNvPr>
          <p:cNvSpPr>
            <a:spLocks noGrp="1"/>
          </p:cNvSpPr>
          <p:nvPr>
            <p:ph type="sldNum" sz="quarter" idx="12"/>
          </p:nvPr>
        </p:nvSpPr>
        <p:spPr/>
        <p:txBody>
          <a:bodyPr/>
          <a:lstStyle/>
          <a:p>
            <a:pPr>
              <a:defRPr/>
            </a:pPr>
            <a:fld id="{4E499BF4-6C8D-417D-B206-0AF20A1CAAC7}" type="slidenum">
              <a:rPr lang="en-US" smtClean="0"/>
              <a:pPr>
                <a:defRPr/>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normAutofit fontScale="90000"/>
          </a:bodyPr>
          <a:lstStyle/>
          <a:p>
            <a:r>
              <a:rPr lang="en-US" altLang="en-US" dirty="0"/>
              <a:t>Factors that affect level and riskiness of CFs</a:t>
            </a:r>
          </a:p>
        </p:txBody>
      </p:sp>
      <p:sp>
        <p:nvSpPr>
          <p:cNvPr id="11267" name="Content Placeholder 2"/>
          <p:cNvSpPr>
            <a:spLocks noGrp="1"/>
          </p:cNvSpPr>
          <p:nvPr>
            <p:ph idx="1"/>
          </p:nvPr>
        </p:nvSpPr>
        <p:spPr>
          <a:xfrm>
            <a:off x="533400" y="1524000"/>
            <a:ext cx="7886700" cy="4876800"/>
          </a:xfrm>
        </p:spPr>
        <p:txBody>
          <a:bodyPr>
            <a:normAutofit fontScale="85000" lnSpcReduction="20000"/>
          </a:bodyPr>
          <a:lstStyle/>
          <a:p>
            <a:r>
              <a:rPr lang="en-US" altLang="en-US" sz="3000" dirty="0"/>
              <a:t>EXTERNAL:</a:t>
            </a:r>
          </a:p>
          <a:p>
            <a:pPr marL="514350" indent="-514350">
              <a:buFont typeface="+mj-lt"/>
              <a:buAutoNum type="arabicPeriod"/>
            </a:pPr>
            <a:r>
              <a:rPr lang="en-US" altLang="en-US" sz="2800" dirty="0"/>
              <a:t>Level of economic activity</a:t>
            </a:r>
          </a:p>
          <a:p>
            <a:pPr marL="514350" indent="-514350">
              <a:buFont typeface="+mj-lt"/>
              <a:buAutoNum type="arabicPeriod"/>
            </a:pPr>
            <a:r>
              <a:rPr lang="en-US" altLang="en-US" sz="2800" dirty="0"/>
              <a:t>tax laws</a:t>
            </a:r>
          </a:p>
          <a:p>
            <a:pPr marL="514350" indent="-514350">
              <a:buFont typeface="+mj-lt"/>
              <a:buAutoNum type="arabicPeriod"/>
            </a:pPr>
            <a:r>
              <a:rPr lang="en-US" altLang="en-US" sz="2800" dirty="0"/>
              <a:t>legal considerations</a:t>
            </a:r>
          </a:p>
          <a:p>
            <a:pPr marL="514350" indent="-514350">
              <a:buFont typeface="+mj-lt"/>
              <a:buAutoNum type="arabicPeriod"/>
            </a:pPr>
            <a:r>
              <a:rPr lang="en-US" altLang="en-US" sz="2800" dirty="0"/>
              <a:t>interest rates	</a:t>
            </a:r>
          </a:p>
          <a:p>
            <a:pPr lvl="2"/>
            <a:r>
              <a:rPr lang="en-US" sz="2200" dirty="0"/>
              <a:t>Federal Reserve policies</a:t>
            </a:r>
          </a:p>
          <a:p>
            <a:pPr lvl="2"/>
            <a:r>
              <a:rPr lang="en-US" sz="2200" dirty="0"/>
              <a:t>Budget deficits/surpluses</a:t>
            </a:r>
          </a:p>
          <a:p>
            <a:pPr lvl="2"/>
            <a:r>
              <a:rPr lang="en-US" sz="2200" dirty="0"/>
              <a:t>Level of business activity (recession or boom)</a:t>
            </a:r>
          </a:p>
          <a:p>
            <a:pPr lvl="2"/>
            <a:r>
              <a:rPr lang="en-US" sz="2200" dirty="0"/>
              <a:t>Foreign trade deficits/surpluses</a:t>
            </a:r>
          </a:p>
          <a:p>
            <a:pPr marL="514350" indent="-514350">
              <a:buFont typeface="+mj-lt"/>
              <a:buAutoNum type="arabicPeriod"/>
            </a:pPr>
            <a:r>
              <a:rPr lang="en-US" altLang="en-US" sz="2800" dirty="0"/>
              <a:t>international trade</a:t>
            </a:r>
          </a:p>
          <a:p>
            <a:pPr marL="514350" indent="-514350">
              <a:buFont typeface="+mj-lt"/>
              <a:buAutoNum type="arabicPeriod"/>
            </a:pPr>
            <a:r>
              <a:rPr lang="en-US" altLang="en-US" sz="2800" dirty="0"/>
              <a:t>Market conditions</a:t>
            </a:r>
          </a:p>
          <a:p>
            <a:pPr lvl="2"/>
            <a:r>
              <a:rPr lang="en-US" altLang="en-US" dirty="0"/>
              <a:t>Competitive &amp; financial</a:t>
            </a:r>
          </a:p>
          <a:p>
            <a:pPr lvl="1">
              <a:buFont typeface="Wingdings" panose="05000000000000000000" pitchFamily="2" charset="2"/>
              <a:buNone/>
            </a:pPr>
            <a:endParaRPr lang="en-US" altLang="en-US" dirty="0"/>
          </a:p>
        </p:txBody>
      </p:sp>
      <p:sp>
        <p:nvSpPr>
          <p:cNvPr id="2" name="Slide Number Placeholder 1">
            <a:extLst>
              <a:ext uri="{FF2B5EF4-FFF2-40B4-BE49-F238E27FC236}">
                <a16:creationId xmlns:a16="http://schemas.microsoft.com/office/drawing/2014/main" id="{F8915AF3-78C6-5749-0A01-1400D660AA66}"/>
              </a:ext>
            </a:extLst>
          </p:cNvPr>
          <p:cNvSpPr>
            <a:spLocks noGrp="1"/>
          </p:cNvSpPr>
          <p:nvPr>
            <p:ph type="sldNum" sz="quarter" idx="12"/>
          </p:nvPr>
        </p:nvSpPr>
        <p:spPr/>
        <p:txBody>
          <a:bodyPr/>
          <a:lstStyle/>
          <a:p>
            <a:pPr>
              <a:defRPr/>
            </a:pPr>
            <a:fld id="{4E499BF4-6C8D-417D-B206-0AF20A1CAAC7}" type="slidenum">
              <a:rPr lang="en-US" smtClean="0"/>
              <a:pPr>
                <a:defRPr/>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3" name="Rectangle 11"/>
          <p:cNvSpPr>
            <a:spLocks noGrp="1" noChangeArrowheads="1"/>
          </p:cNvSpPr>
          <p:nvPr>
            <p:ph type="title"/>
          </p:nvPr>
        </p:nvSpPr>
        <p:spPr/>
        <p:txBody>
          <a:bodyPr>
            <a:normAutofit fontScale="90000"/>
          </a:bodyPr>
          <a:lstStyle/>
          <a:p>
            <a:r>
              <a:rPr lang="en-US" altLang="en-US" dirty="0"/>
              <a:t>Business Organization from Start-up to a Major Corporation</a:t>
            </a:r>
          </a:p>
        </p:txBody>
      </p:sp>
      <p:sp>
        <p:nvSpPr>
          <p:cNvPr id="12294" name="Rectangle 12"/>
          <p:cNvSpPr>
            <a:spLocks noGrp="1" noChangeArrowheads="1"/>
          </p:cNvSpPr>
          <p:nvPr>
            <p:ph idx="1"/>
          </p:nvPr>
        </p:nvSpPr>
        <p:spPr/>
        <p:txBody>
          <a:bodyPr/>
          <a:lstStyle/>
          <a:p>
            <a:r>
              <a:rPr lang="en-US" altLang="en-US"/>
              <a:t>Sole proprietorship</a:t>
            </a:r>
          </a:p>
          <a:p>
            <a:r>
              <a:rPr lang="en-US" altLang="en-US"/>
              <a:t>Partnership</a:t>
            </a:r>
          </a:p>
          <a:p>
            <a:r>
              <a:rPr lang="en-US" altLang="en-US"/>
              <a:t>Corporation</a:t>
            </a:r>
          </a:p>
        </p:txBody>
      </p:sp>
      <p:sp>
        <p:nvSpPr>
          <p:cNvPr id="12291"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2292"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2" name="Slide Number Placeholder 1">
            <a:extLst>
              <a:ext uri="{FF2B5EF4-FFF2-40B4-BE49-F238E27FC236}">
                <a16:creationId xmlns:a16="http://schemas.microsoft.com/office/drawing/2014/main" id="{C341A2D0-2FE0-1B8E-9F01-8A5C5B926C47}"/>
              </a:ext>
            </a:extLst>
          </p:cNvPr>
          <p:cNvSpPr>
            <a:spLocks noGrp="1"/>
          </p:cNvSpPr>
          <p:nvPr>
            <p:ph type="sldNum" sz="quarter" idx="12"/>
          </p:nvPr>
        </p:nvSpPr>
        <p:spPr/>
        <p:txBody>
          <a:bodyPr/>
          <a:lstStyle/>
          <a:p>
            <a:pPr>
              <a:defRPr/>
            </a:pPr>
            <a:fld id="{4E499BF4-6C8D-417D-B206-0AF20A1CAAC7}" type="slidenum">
              <a:rPr lang="en-US" smtClean="0"/>
              <a:pPr>
                <a:defRPr/>
              </a:pPr>
              <a:t>9</a:t>
            </a:fld>
            <a:endParaRPr lang="en-US"/>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7" name="Rectangle 9"/>
          <p:cNvSpPr>
            <a:spLocks noGrp="1" noChangeArrowheads="1"/>
          </p:cNvSpPr>
          <p:nvPr>
            <p:ph type="title"/>
          </p:nvPr>
        </p:nvSpPr>
        <p:spPr/>
        <p:txBody>
          <a:bodyPr/>
          <a:lstStyle/>
          <a:p>
            <a:r>
              <a:rPr lang="en-US" altLang="en-US"/>
              <a:t>Starting as a Proprietorship</a:t>
            </a:r>
          </a:p>
        </p:txBody>
      </p:sp>
      <p:sp>
        <p:nvSpPr>
          <p:cNvPr id="13318" name="Rectangle 10"/>
          <p:cNvSpPr>
            <a:spLocks noGrp="1" noChangeArrowheads="1"/>
          </p:cNvSpPr>
          <p:nvPr>
            <p:ph idx="1"/>
          </p:nvPr>
        </p:nvSpPr>
        <p:spPr/>
        <p:txBody>
          <a:bodyPr>
            <a:normAutofit lnSpcReduction="10000"/>
          </a:bodyPr>
          <a:lstStyle/>
          <a:p>
            <a:r>
              <a:rPr lang="en-US" altLang="en-US"/>
              <a:t>Advantages:</a:t>
            </a:r>
          </a:p>
          <a:p>
            <a:pPr lvl="1"/>
            <a:r>
              <a:rPr lang="en-US" altLang="en-US"/>
              <a:t>Ease of formation</a:t>
            </a:r>
          </a:p>
          <a:p>
            <a:pPr lvl="1"/>
            <a:r>
              <a:rPr lang="en-US" altLang="en-US"/>
              <a:t>Subject to few regulations</a:t>
            </a:r>
          </a:p>
          <a:p>
            <a:pPr lvl="1"/>
            <a:r>
              <a:rPr lang="en-US" altLang="en-US"/>
              <a:t>No corporate income taxes</a:t>
            </a:r>
          </a:p>
          <a:p>
            <a:r>
              <a:rPr lang="en-US" altLang="en-US"/>
              <a:t>Disadvantages:</a:t>
            </a:r>
          </a:p>
          <a:p>
            <a:pPr lvl="1"/>
            <a:r>
              <a:rPr lang="en-US" altLang="en-US"/>
              <a:t>Limited life</a:t>
            </a:r>
          </a:p>
          <a:p>
            <a:pPr lvl="1"/>
            <a:r>
              <a:rPr lang="en-US" altLang="en-US"/>
              <a:t>Unlimited liability</a:t>
            </a:r>
          </a:p>
          <a:p>
            <a:pPr lvl="1"/>
            <a:r>
              <a:rPr lang="en-US" altLang="en-US"/>
              <a:t>Difficult to raise capital to support growth</a:t>
            </a:r>
          </a:p>
        </p:txBody>
      </p:sp>
      <p:sp>
        <p:nvSpPr>
          <p:cNvPr id="13315"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3316"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2" name="Slide Number Placeholder 1">
            <a:extLst>
              <a:ext uri="{FF2B5EF4-FFF2-40B4-BE49-F238E27FC236}">
                <a16:creationId xmlns:a16="http://schemas.microsoft.com/office/drawing/2014/main" id="{A6570E27-E995-2266-4389-8BC891D42EDD}"/>
              </a:ext>
            </a:extLst>
          </p:cNvPr>
          <p:cNvSpPr>
            <a:spLocks noGrp="1"/>
          </p:cNvSpPr>
          <p:nvPr>
            <p:ph type="sldNum" sz="quarter" idx="12"/>
          </p:nvPr>
        </p:nvSpPr>
        <p:spPr/>
        <p:txBody>
          <a:bodyPr/>
          <a:lstStyle/>
          <a:p>
            <a:pPr>
              <a:defRPr/>
            </a:pPr>
            <a:fld id="{4E499BF4-6C8D-417D-B206-0AF20A1CAAC7}" type="slidenum">
              <a:rPr lang="en-US" smtClean="0"/>
              <a:pPr>
                <a:defRPr/>
              </a:pPr>
              <a:t>10</a:t>
            </a:fld>
            <a:endParaRPr lang="en-US"/>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1" name="Rectangle 9"/>
          <p:cNvSpPr>
            <a:spLocks noGrp="1" noChangeArrowheads="1"/>
          </p:cNvSpPr>
          <p:nvPr>
            <p:ph type="title"/>
          </p:nvPr>
        </p:nvSpPr>
        <p:spPr/>
        <p:txBody>
          <a:bodyPr>
            <a:normAutofit/>
          </a:bodyPr>
          <a:lstStyle/>
          <a:p>
            <a:r>
              <a:rPr lang="en-US" altLang="en-US"/>
              <a:t>Starting as or Growing into a Partnership</a:t>
            </a:r>
          </a:p>
        </p:txBody>
      </p:sp>
      <p:sp>
        <p:nvSpPr>
          <p:cNvPr id="14342" name="Rectangle 10"/>
          <p:cNvSpPr>
            <a:spLocks noGrp="1" noChangeArrowheads="1"/>
          </p:cNvSpPr>
          <p:nvPr>
            <p:ph idx="1"/>
          </p:nvPr>
        </p:nvSpPr>
        <p:spPr/>
        <p:txBody>
          <a:bodyPr/>
          <a:lstStyle/>
          <a:p>
            <a:r>
              <a:rPr lang="en-US" dirty="0"/>
              <a:t>Partners have agreement specifying how profits shared.</a:t>
            </a:r>
          </a:p>
          <a:p>
            <a:endParaRPr lang="en-US" altLang="en-US" dirty="0"/>
          </a:p>
          <a:p>
            <a:r>
              <a:rPr lang="en-US" altLang="en-US" dirty="0"/>
              <a:t>A partnership has roughly same advantages &amp; disadvantages as a sole proprietorship.</a:t>
            </a:r>
          </a:p>
        </p:txBody>
      </p:sp>
      <p:sp>
        <p:nvSpPr>
          <p:cNvPr id="14339"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4340"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2" name="Slide Number Placeholder 1">
            <a:extLst>
              <a:ext uri="{FF2B5EF4-FFF2-40B4-BE49-F238E27FC236}">
                <a16:creationId xmlns:a16="http://schemas.microsoft.com/office/drawing/2014/main" id="{0E5699E3-AA3D-5FC0-D001-4DE7BCC41DD1}"/>
              </a:ext>
            </a:extLst>
          </p:cNvPr>
          <p:cNvSpPr>
            <a:spLocks noGrp="1"/>
          </p:cNvSpPr>
          <p:nvPr>
            <p:ph type="sldNum" sz="quarter" idx="12"/>
          </p:nvPr>
        </p:nvSpPr>
        <p:spPr/>
        <p:txBody>
          <a:bodyPr/>
          <a:lstStyle/>
          <a:p>
            <a:pPr>
              <a:defRPr/>
            </a:pPr>
            <a:fld id="{4E499BF4-6C8D-417D-B206-0AF20A1CAAC7}" type="slidenum">
              <a:rPr lang="en-US" smtClean="0"/>
              <a:pPr>
                <a:defRPr/>
              </a:pPr>
              <a:t>11</a:t>
            </a:fld>
            <a:endParaRPr lang="en-US"/>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US" altLang="en-US"/>
              <a:t>Corporation vs. Partnership</a:t>
            </a:r>
          </a:p>
        </p:txBody>
      </p:sp>
      <p:grpSp>
        <p:nvGrpSpPr>
          <p:cNvPr id="15363" name="Group 110"/>
          <p:cNvGrpSpPr>
            <a:grpSpLocks/>
          </p:cNvGrpSpPr>
          <p:nvPr/>
        </p:nvGrpSpPr>
        <p:grpSpPr bwMode="auto">
          <a:xfrm>
            <a:off x="628650" y="1676399"/>
            <a:ext cx="7886700" cy="4648201"/>
            <a:chOff x="-3" y="-3"/>
            <a:chExt cx="3807" cy="4948"/>
          </a:xfrm>
        </p:grpSpPr>
        <p:grpSp>
          <p:nvGrpSpPr>
            <p:cNvPr id="15364" name="Group 108"/>
            <p:cNvGrpSpPr>
              <a:grpSpLocks/>
            </p:cNvGrpSpPr>
            <p:nvPr/>
          </p:nvGrpSpPr>
          <p:grpSpPr bwMode="auto">
            <a:xfrm>
              <a:off x="0" y="0"/>
              <a:ext cx="3801" cy="4942"/>
              <a:chOff x="0" y="0"/>
              <a:chExt cx="3801" cy="4942"/>
            </a:xfrm>
          </p:grpSpPr>
          <p:grpSp>
            <p:nvGrpSpPr>
              <p:cNvPr id="15366" name="Group 27"/>
              <p:cNvGrpSpPr>
                <a:grpSpLocks/>
              </p:cNvGrpSpPr>
              <p:nvPr/>
            </p:nvGrpSpPr>
            <p:grpSpPr bwMode="auto">
              <a:xfrm>
                <a:off x="0" y="0"/>
                <a:ext cx="1267" cy="442"/>
                <a:chOff x="0" y="0"/>
                <a:chExt cx="1267" cy="442"/>
              </a:xfrm>
            </p:grpSpPr>
            <p:sp>
              <p:nvSpPr>
                <p:cNvPr id="15467" name="Rectangle 26"/>
                <p:cNvSpPr>
                  <a:spLocks noChangeArrowheads="1"/>
                </p:cNvSpPr>
                <p:nvPr/>
              </p:nvSpPr>
              <p:spPr bwMode="auto">
                <a:xfrm>
                  <a:off x="0" y="0"/>
                  <a:ext cx="1267" cy="442"/>
                </a:xfrm>
                <a:prstGeom prst="rect">
                  <a:avLst/>
                </a:prstGeom>
                <a:solidFill>
                  <a:srgbClr val="800000"/>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1800"/>
                </a:p>
              </p:txBody>
            </p:sp>
            <p:grpSp>
              <p:nvGrpSpPr>
                <p:cNvPr id="15468" name="Group 25"/>
                <p:cNvGrpSpPr>
                  <a:grpSpLocks/>
                </p:cNvGrpSpPr>
                <p:nvPr/>
              </p:nvGrpSpPr>
              <p:grpSpPr bwMode="auto">
                <a:xfrm>
                  <a:off x="0" y="0"/>
                  <a:ext cx="1267" cy="442"/>
                  <a:chOff x="0" y="0"/>
                  <a:chExt cx="1267" cy="442"/>
                </a:xfrm>
              </p:grpSpPr>
              <p:sp>
                <p:nvSpPr>
                  <p:cNvPr id="15469" name="Rectangle 3"/>
                  <p:cNvSpPr>
                    <a:spLocks noChangeArrowheads="1"/>
                  </p:cNvSpPr>
                  <p:nvPr/>
                </p:nvSpPr>
                <p:spPr bwMode="auto">
                  <a:xfrm>
                    <a:off x="43" y="38"/>
                    <a:ext cx="1181" cy="366"/>
                  </a:xfrm>
                  <a:prstGeom prst="rect">
                    <a:avLst/>
                  </a:prstGeom>
                  <a:solidFill>
                    <a:srgbClr val="800000"/>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n-US" sz="1200">
                        <a:solidFill>
                          <a:srgbClr val="000000"/>
                        </a:solidFill>
                        <a:cs typeface="Times New Roman" panose="02020603050405020304" pitchFamily="18" charset="0"/>
                      </a:rPr>
                      <a:t> </a:t>
                    </a:r>
                  </a:p>
                  <a:p>
                    <a:pPr eaLnBrk="1" hangingPunct="1">
                      <a:spcBef>
                        <a:spcPct val="0"/>
                      </a:spcBef>
                      <a:buClrTx/>
                      <a:buSzTx/>
                      <a:buFontTx/>
                      <a:buNone/>
                    </a:pPr>
                    <a:endParaRPr lang="en-US" altLang="en-US" sz="2400">
                      <a:solidFill>
                        <a:srgbClr val="000000"/>
                      </a:solidFill>
                    </a:endParaRPr>
                  </a:p>
                </p:txBody>
              </p:sp>
              <p:sp>
                <p:nvSpPr>
                  <p:cNvPr id="15470" name="Rectangle 24"/>
                  <p:cNvSpPr>
                    <a:spLocks noChangeArrowheads="1"/>
                  </p:cNvSpPr>
                  <p:nvPr/>
                </p:nvSpPr>
                <p:spPr bwMode="auto">
                  <a:xfrm>
                    <a:off x="0" y="0"/>
                    <a:ext cx="1267" cy="442"/>
                  </a:xfrm>
                  <a:prstGeom prst="rect">
                    <a:avLst/>
                  </a:prstGeom>
                  <a:noFill/>
                  <a:ln w="7" cap="sq">
                    <a:solidFill>
                      <a:srgbClr val="A0A0A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1800"/>
                  </a:p>
                </p:txBody>
              </p:sp>
            </p:grpSp>
          </p:grpSp>
          <p:grpSp>
            <p:nvGrpSpPr>
              <p:cNvPr id="15367" name="Group 31"/>
              <p:cNvGrpSpPr>
                <a:grpSpLocks/>
              </p:cNvGrpSpPr>
              <p:nvPr/>
            </p:nvGrpSpPr>
            <p:grpSpPr bwMode="auto">
              <a:xfrm>
                <a:off x="1267" y="0"/>
                <a:ext cx="1267" cy="442"/>
                <a:chOff x="1267" y="0"/>
                <a:chExt cx="1267" cy="442"/>
              </a:xfrm>
            </p:grpSpPr>
            <p:sp>
              <p:nvSpPr>
                <p:cNvPr id="15463" name="Rectangle 30"/>
                <p:cNvSpPr>
                  <a:spLocks noChangeArrowheads="1"/>
                </p:cNvSpPr>
                <p:nvPr/>
              </p:nvSpPr>
              <p:spPr bwMode="auto">
                <a:xfrm>
                  <a:off x="1267" y="0"/>
                  <a:ext cx="1267" cy="442"/>
                </a:xfrm>
                <a:prstGeom prst="rect">
                  <a:avLst/>
                </a:prstGeom>
                <a:solidFill>
                  <a:srgbClr val="800000"/>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1800"/>
                </a:p>
              </p:txBody>
            </p:sp>
            <p:grpSp>
              <p:nvGrpSpPr>
                <p:cNvPr id="15464" name="Group 29"/>
                <p:cNvGrpSpPr>
                  <a:grpSpLocks/>
                </p:cNvGrpSpPr>
                <p:nvPr/>
              </p:nvGrpSpPr>
              <p:grpSpPr bwMode="auto">
                <a:xfrm>
                  <a:off x="1267" y="0"/>
                  <a:ext cx="1267" cy="442"/>
                  <a:chOff x="1267" y="0"/>
                  <a:chExt cx="1267" cy="442"/>
                </a:xfrm>
              </p:grpSpPr>
              <p:sp>
                <p:nvSpPr>
                  <p:cNvPr id="15465" name="Rectangle 4"/>
                  <p:cNvSpPr>
                    <a:spLocks noChangeArrowheads="1"/>
                  </p:cNvSpPr>
                  <p:nvPr/>
                </p:nvSpPr>
                <p:spPr bwMode="auto">
                  <a:xfrm>
                    <a:off x="1310" y="0"/>
                    <a:ext cx="1181" cy="442"/>
                  </a:xfrm>
                  <a:prstGeom prst="rect">
                    <a:avLst/>
                  </a:prstGeom>
                  <a:solidFill>
                    <a:srgbClr val="800000"/>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n-US" sz="1600" b="1" dirty="0">
                        <a:solidFill>
                          <a:schemeClr val="bg1"/>
                        </a:solidFill>
                        <a:cs typeface="Times New Roman" panose="02020603050405020304" pitchFamily="18" charset="0"/>
                      </a:rPr>
                      <a:t>Corporation</a:t>
                    </a:r>
                  </a:p>
                  <a:p>
                    <a:pPr eaLnBrk="1" hangingPunct="1">
                      <a:spcBef>
                        <a:spcPct val="0"/>
                      </a:spcBef>
                      <a:buClrTx/>
                      <a:buSzTx/>
                      <a:buFontTx/>
                      <a:buNone/>
                    </a:pPr>
                    <a:endParaRPr lang="en-US" altLang="en-US" sz="2400" dirty="0"/>
                  </a:p>
                </p:txBody>
              </p:sp>
              <p:sp>
                <p:nvSpPr>
                  <p:cNvPr id="15466" name="Rectangle 28"/>
                  <p:cNvSpPr>
                    <a:spLocks noChangeArrowheads="1"/>
                  </p:cNvSpPr>
                  <p:nvPr/>
                </p:nvSpPr>
                <p:spPr bwMode="auto">
                  <a:xfrm>
                    <a:off x="1267" y="0"/>
                    <a:ext cx="1267" cy="442"/>
                  </a:xfrm>
                  <a:prstGeom prst="rect">
                    <a:avLst/>
                  </a:prstGeom>
                  <a:noFill/>
                  <a:ln w="7" cap="sq">
                    <a:solidFill>
                      <a:srgbClr val="A0A0A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1800"/>
                  </a:p>
                </p:txBody>
              </p:sp>
            </p:grpSp>
          </p:grpSp>
          <p:grpSp>
            <p:nvGrpSpPr>
              <p:cNvPr id="15368" name="Group 35"/>
              <p:cNvGrpSpPr>
                <a:grpSpLocks/>
              </p:cNvGrpSpPr>
              <p:nvPr/>
            </p:nvGrpSpPr>
            <p:grpSpPr bwMode="auto">
              <a:xfrm>
                <a:off x="2534" y="0"/>
                <a:ext cx="1267" cy="442"/>
                <a:chOff x="2534" y="0"/>
                <a:chExt cx="1267" cy="442"/>
              </a:xfrm>
            </p:grpSpPr>
            <p:sp>
              <p:nvSpPr>
                <p:cNvPr id="15459" name="Rectangle 34"/>
                <p:cNvSpPr>
                  <a:spLocks noChangeArrowheads="1"/>
                </p:cNvSpPr>
                <p:nvPr/>
              </p:nvSpPr>
              <p:spPr bwMode="auto">
                <a:xfrm>
                  <a:off x="2534" y="0"/>
                  <a:ext cx="1267" cy="442"/>
                </a:xfrm>
                <a:prstGeom prst="rect">
                  <a:avLst/>
                </a:prstGeom>
                <a:solidFill>
                  <a:srgbClr val="800000"/>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1800"/>
                </a:p>
              </p:txBody>
            </p:sp>
            <p:grpSp>
              <p:nvGrpSpPr>
                <p:cNvPr id="15460" name="Group 33"/>
                <p:cNvGrpSpPr>
                  <a:grpSpLocks/>
                </p:cNvGrpSpPr>
                <p:nvPr/>
              </p:nvGrpSpPr>
              <p:grpSpPr bwMode="auto">
                <a:xfrm>
                  <a:off x="2534" y="0"/>
                  <a:ext cx="1267" cy="442"/>
                  <a:chOff x="2534" y="0"/>
                  <a:chExt cx="1267" cy="442"/>
                </a:xfrm>
              </p:grpSpPr>
              <p:sp>
                <p:nvSpPr>
                  <p:cNvPr id="15461" name="Rectangle 5"/>
                  <p:cNvSpPr>
                    <a:spLocks noChangeArrowheads="1"/>
                  </p:cNvSpPr>
                  <p:nvPr/>
                </p:nvSpPr>
                <p:spPr bwMode="auto">
                  <a:xfrm>
                    <a:off x="2577" y="0"/>
                    <a:ext cx="1181" cy="442"/>
                  </a:xfrm>
                  <a:prstGeom prst="rect">
                    <a:avLst/>
                  </a:prstGeom>
                  <a:solidFill>
                    <a:srgbClr val="800000"/>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n-US" sz="1600" b="1">
                        <a:solidFill>
                          <a:schemeClr val="bg1"/>
                        </a:solidFill>
                        <a:cs typeface="Times New Roman" panose="02020603050405020304" pitchFamily="18" charset="0"/>
                      </a:rPr>
                      <a:t>Partnership</a:t>
                    </a:r>
                    <a:endParaRPr lang="en-US" altLang="en-US" sz="1200">
                      <a:solidFill>
                        <a:schemeClr val="bg1"/>
                      </a:solidFill>
                      <a:cs typeface="Times New Roman" panose="02020603050405020304" pitchFamily="18" charset="0"/>
                    </a:endParaRPr>
                  </a:p>
                  <a:p>
                    <a:pPr eaLnBrk="1" hangingPunct="1">
                      <a:spcBef>
                        <a:spcPct val="0"/>
                      </a:spcBef>
                      <a:buClrTx/>
                      <a:buSzTx/>
                      <a:buFontTx/>
                      <a:buNone/>
                    </a:pPr>
                    <a:endParaRPr lang="en-US" altLang="en-US" sz="2400">
                      <a:solidFill>
                        <a:schemeClr val="bg1"/>
                      </a:solidFill>
                    </a:endParaRPr>
                  </a:p>
                </p:txBody>
              </p:sp>
              <p:sp>
                <p:nvSpPr>
                  <p:cNvPr id="15462" name="Rectangle 32"/>
                  <p:cNvSpPr>
                    <a:spLocks noChangeArrowheads="1"/>
                  </p:cNvSpPr>
                  <p:nvPr/>
                </p:nvSpPr>
                <p:spPr bwMode="auto">
                  <a:xfrm>
                    <a:off x="2534" y="0"/>
                    <a:ext cx="1267" cy="442"/>
                  </a:xfrm>
                  <a:prstGeom prst="rect">
                    <a:avLst/>
                  </a:prstGeom>
                  <a:noFill/>
                  <a:ln w="7" cap="sq">
                    <a:solidFill>
                      <a:srgbClr val="A0A0A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1800"/>
                  </a:p>
                </p:txBody>
              </p:sp>
            </p:grpSp>
          </p:grpSp>
          <p:grpSp>
            <p:nvGrpSpPr>
              <p:cNvPr id="15369" name="Group 39"/>
              <p:cNvGrpSpPr>
                <a:grpSpLocks/>
              </p:cNvGrpSpPr>
              <p:nvPr/>
            </p:nvGrpSpPr>
            <p:grpSpPr bwMode="auto">
              <a:xfrm>
                <a:off x="0" y="442"/>
                <a:ext cx="1267" cy="750"/>
                <a:chOff x="0" y="442"/>
                <a:chExt cx="1267" cy="750"/>
              </a:xfrm>
            </p:grpSpPr>
            <p:sp>
              <p:nvSpPr>
                <p:cNvPr id="15455" name="Rectangle 38"/>
                <p:cNvSpPr>
                  <a:spLocks noChangeArrowheads="1"/>
                </p:cNvSpPr>
                <p:nvPr/>
              </p:nvSpPr>
              <p:spPr bwMode="auto">
                <a:xfrm>
                  <a:off x="0" y="442"/>
                  <a:ext cx="1267" cy="750"/>
                </a:xfrm>
                <a:prstGeom prst="rect">
                  <a:avLst/>
                </a:prstGeom>
                <a:solidFill>
                  <a:srgbClr val="FFFFEF"/>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1800"/>
                </a:p>
              </p:txBody>
            </p:sp>
            <p:grpSp>
              <p:nvGrpSpPr>
                <p:cNvPr id="15456" name="Group 37"/>
                <p:cNvGrpSpPr>
                  <a:grpSpLocks/>
                </p:cNvGrpSpPr>
                <p:nvPr/>
              </p:nvGrpSpPr>
              <p:grpSpPr bwMode="auto">
                <a:xfrm>
                  <a:off x="0" y="442"/>
                  <a:ext cx="1267" cy="750"/>
                  <a:chOff x="0" y="442"/>
                  <a:chExt cx="1267" cy="750"/>
                </a:xfrm>
              </p:grpSpPr>
              <p:sp>
                <p:nvSpPr>
                  <p:cNvPr id="15457" name="Rectangle 6"/>
                  <p:cNvSpPr>
                    <a:spLocks noChangeArrowheads="1"/>
                  </p:cNvSpPr>
                  <p:nvPr/>
                </p:nvSpPr>
                <p:spPr bwMode="auto">
                  <a:xfrm>
                    <a:off x="43" y="442"/>
                    <a:ext cx="1181" cy="750"/>
                  </a:xfrm>
                  <a:prstGeom prst="rect">
                    <a:avLst/>
                  </a:prstGeom>
                  <a:solidFill>
                    <a:srgbClr val="FFFFEF"/>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n-US" sz="1600" b="1">
                        <a:solidFill>
                          <a:srgbClr val="000000"/>
                        </a:solidFill>
                        <a:cs typeface="Times New Roman" panose="02020603050405020304" pitchFamily="18" charset="0"/>
                      </a:rPr>
                      <a:t>Liquidity</a:t>
                    </a:r>
                    <a:endParaRPr lang="en-US" altLang="en-US" sz="1200">
                      <a:solidFill>
                        <a:srgbClr val="000000"/>
                      </a:solidFill>
                      <a:cs typeface="Times New Roman" panose="02020603050405020304" pitchFamily="18" charset="0"/>
                    </a:endParaRPr>
                  </a:p>
                  <a:p>
                    <a:pPr eaLnBrk="1" hangingPunct="1">
                      <a:spcBef>
                        <a:spcPct val="0"/>
                      </a:spcBef>
                      <a:buClrTx/>
                      <a:buSzTx/>
                      <a:buFontTx/>
                      <a:buNone/>
                    </a:pPr>
                    <a:endParaRPr lang="en-US" altLang="en-US" sz="2400">
                      <a:solidFill>
                        <a:srgbClr val="000000"/>
                      </a:solidFill>
                    </a:endParaRPr>
                  </a:p>
                </p:txBody>
              </p:sp>
              <p:sp>
                <p:nvSpPr>
                  <p:cNvPr id="15458" name="Rectangle 36"/>
                  <p:cNvSpPr>
                    <a:spLocks noChangeArrowheads="1"/>
                  </p:cNvSpPr>
                  <p:nvPr/>
                </p:nvSpPr>
                <p:spPr bwMode="auto">
                  <a:xfrm>
                    <a:off x="0" y="442"/>
                    <a:ext cx="1267" cy="750"/>
                  </a:xfrm>
                  <a:prstGeom prst="rect">
                    <a:avLst/>
                  </a:prstGeom>
                  <a:noFill/>
                  <a:ln w="7" cap="sq">
                    <a:solidFill>
                      <a:srgbClr val="A0A0A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1800"/>
                  </a:p>
                </p:txBody>
              </p:sp>
            </p:grpSp>
          </p:grpSp>
          <p:grpSp>
            <p:nvGrpSpPr>
              <p:cNvPr id="15370" name="Group 43"/>
              <p:cNvGrpSpPr>
                <a:grpSpLocks/>
              </p:cNvGrpSpPr>
              <p:nvPr/>
            </p:nvGrpSpPr>
            <p:grpSpPr bwMode="auto">
              <a:xfrm>
                <a:off x="1267" y="442"/>
                <a:ext cx="1267" cy="750"/>
                <a:chOff x="1267" y="442"/>
                <a:chExt cx="1267" cy="750"/>
              </a:xfrm>
            </p:grpSpPr>
            <p:sp>
              <p:nvSpPr>
                <p:cNvPr id="15451" name="Rectangle 42"/>
                <p:cNvSpPr>
                  <a:spLocks noChangeArrowheads="1"/>
                </p:cNvSpPr>
                <p:nvPr/>
              </p:nvSpPr>
              <p:spPr bwMode="auto">
                <a:xfrm>
                  <a:off x="1267" y="442"/>
                  <a:ext cx="1267" cy="750"/>
                </a:xfrm>
                <a:prstGeom prst="rect">
                  <a:avLst/>
                </a:prstGeom>
                <a:solidFill>
                  <a:srgbClr val="FFFFEF"/>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1800"/>
                </a:p>
              </p:txBody>
            </p:sp>
            <p:grpSp>
              <p:nvGrpSpPr>
                <p:cNvPr id="15452" name="Group 41"/>
                <p:cNvGrpSpPr>
                  <a:grpSpLocks/>
                </p:cNvGrpSpPr>
                <p:nvPr/>
              </p:nvGrpSpPr>
              <p:grpSpPr bwMode="auto">
                <a:xfrm>
                  <a:off x="1267" y="442"/>
                  <a:ext cx="1267" cy="750"/>
                  <a:chOff x="1267" y="442"/>
                  <a:chExt cx="1267" cy="750"/>
                </a:xfrm>
              </p:grpSpPr>
              <p:sp>
                <p:nvSpPr>
                  <p:cNvPr id="15453" name="Rectangle 7"/>
                  <p:cNvSpPr>
                    <a:spLocks noChangeArrowheads="1"/>
                  </p:cNvSpPr>
                  <p:nvPr/>
                </p:nvSpPr>
                <p:spPr bwMode="auto">
                  <a:xfrm>
                    <a:off x="1310" y="442"/>
                    <a:ext cx="1181" cy="750"/>
                  </a:xfrm>
                  <a:prstGeom prst="rect">
                    <a:avLst/>
                  </a:prstGeom>
                  <a:solidFill>
                    <a:srgbClr val="FFFFEF"/>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n-US" sz="1600" dirty="0">
                        <a:solidFill>
                          <a:srgbClr val="000000"/>
                        </a:solidFill>
                        <a:cs typeface="Times New Roman" panose="02020603050405020304" pitchFamily="18" charset="0"/>
                      </a:rPr>
                      <a:t>Shares can be easily exchanged</a:t>
                    </a:r>
                    <a:endParaRPr lang="en-US" altLang="en-US" sz="1200" dirty="0">
                      <a:solidFill>
                        <a:srgbClr val="000000"/>
                      </a:solidFill>
                      <a:cs typeface="Times New Roman" panose="02020603050405020304" pitchFamily="18" charset="0"/>
                    </a:endParaRPr>
                  </a:p>
                  <a:p>
                    <a:pPr eaLnBrk="1" hangingPunct="1">
                      <a:spcBef>
                        <a:spcPct val="0"/>
                      </a:spcBef>
                      <a:buClrTx/>
                      <a:buSzTx/>
                      <a:buFontTx/>
                      <a:buNone/>
                    </a:pPr>
                    <a:endParaRPr lang="en-US" altLang="en-US" sz="2400" dirty="0">
                      <a:solidFill>
                        <a:srgbClr val="000000"/>
                      </a:solidFill>
                    </a:endParaRPr>
                  </a:p>
                </p:txBody>
              </p:sp>
              <p:sp>
                <p:nvSpPr>
                  <p:cNvPr id="15454" name="Rectangle 40"/>
                  <p:cNvSpPr>
                    <a:spLocks noChangeArrowheads="1"/>
                  </p:cNvSpPr>
                  <p:nvPr/>
                </p:nvSpPr>
                <p:spPr bwMode="auto">
                  <a:xfrm>
                    <a:off x="1267" y="442"/>
                    <a:ext cx="1267" cy="750"/>
                  </a:xfrm>
                  <a:prstGeom prst="rect">
                    <a:avLst/>
                  </a:prstGeom>
                  <a:noFill/>
                  <a:ln w="7" cap="sq">
                    <a:solidFill>
                      <a:srgbClr val="A0A0A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1800"/>
                  </a:p>
                </p:txBody>
              </p:sp>
            </p:grpSp>
          </p:grpSp>
          <p:grpSp>
            <p:nvGrpSpPr>
              <p:cNvPr id="15371" name="Group 47"/>
              <p:cNvGrpSpPr>
                <a:grpSpLocks/>
              </p:cNvGrpSpPr>
              <p:nvPr/>
            </p:nvGrpSpPr>
            <p:grpSpPr bwMode="auto">
              <a:xfrm>
                <a:off x="2534" y="442"/>
                <a:ext cx="1267" cy="750"/>
                <a:chOff x="2534" y="442"/>
                <a:chExt cx="1267" cy="750"/>
              </a:xfrm>
            </p:grpSpPr>
            <p:sp>
              <p:nvSpPr>
                <p:cNvPr id="15447" name="Rectangle 46"/>
                <p:cNvSpPr>
                  <a:spLocks noChangeArrowheads="1"/>
                </p:cNvSpPr>
                <p:nvPr/>
              </p:nvSpPr>
              <p:spPr bwMode="auto">
                <a:xfrm>
                  <a:off x="2534" y="442"/>
                  <a:ext cx="1267" cy="750"/>
                </a:xfrm>
                <a:prstGeom prst="rect">
                  <a:avLst/>
                </a:prstGeom>
                <a:solidFill>
                  <a:srgbClr val="FFFFEF"/>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1800"/>
                </a:p>
              </p:txBody>
            </p:sp>
            <p:grpSp>
              <p:nvGrpSpPr>
                <p:cNvPr id="15448" name="Group 45"/>
                <p:cNvGrpSpPr>
                  <a:grpSpLocks/>
                </p:cNvGrpSpPr>
                <p:nvPr/>
              </p:nvGrpSpPr>
              <p:grpSpPr bwMode="auto">
                <a:xfrm>
                  <a:off x="2534" y="442"/>
                  <a:ext cx="1267" cy="750"/>
                  <a:chOff x="2534" y="442"/>
                  <a:chExt cx="1267" cy="750"/>
                </a:xfrm>
              </p:grpSpPr>
              <p:sp>
                <p:nvSpPr>
                  <p:cNvPr id="15449" name="Rectangle 8"/>
                  <p:cNvSpPr>
                    <a:spLocks noChangeArrowheads="1"/>
                  </p:cNvSpPr>
                  <p:nvPr/>
                </p:nvSpPr>
                <p:spPr bwMode="auto">
                  <a:xfrm>
                    <a:off x="2577" y="442"/>
                    <a:ext cx="1181" cy="750"/>
                  </a:xfrm>
                  <a:prstGeom prst="rect">
                    <a:avLst/>
                  </a:prstGeom>
                  <a:solidFill>
                    <a:srgbClr val="FFFFEF"/>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n-US" sz="1600">
                        <a:solidFill>
                          <a:srgbClr val="000000"/>
                        </a:solidFill>
                        <a:cs typeface="Times New Roman" panose="02020603050405020304" pitchFamily="18" charset="0"/>
                      </a:rPr>
                      <a:t>Subject to substantial restrictions</a:t>
                    </a:r>
                    <a:endParaRPr lang="en-US" altLang="en-US" sz="1200">
                      <a:solidFill>
                        <a:srgbClr val="000000"/>
                      </a:solidFill>
                      <a:cs typeface="Times New Roman" panose="02020603050405020304" pitchFamily="18" charset="0"/>
                    </a:endParaRPr>
                  </a:p>
                  <a:p>
                    <a:pPr eaLnBrk="1" hangingPunct="1">
                      <a:spcBef>
                        <a:spcPct val="0"/>
                      </a:spcBef>
                      <a:buClrTx/>
                      <a:buSzTx/>
                      <a:buFontTx/>
                      <a:buNone/>
                    </a:pPr>
                    <a:endParaRPr lang="en-US" altLang="en-US" sz="2400">
                      <a:solidFill>
                        <a:srgbClr val="000000"/>
                      </a:solidFill>
                    </a:endParaRPr>
                  </a:p>
                </p:txBody>
              </p:sp>
              <p:sp>
                <p:nvSpPr>
                  <p:cNvPr id="15450" name="Rectangle 44"/>
                  <p:cNvSpPr>
                    <a:spLocks noChangeArrowheads="1"/>
                  </p:cNvSpPr>
                  <p:nvPr/>
                </p:nvSpPr>
                <p:spPr bwMode="auto">
                  <a:xfrm>
                    <a:off x="2534" y="442"/>
                    <a:ext cx="1267" cy="750"/>
                  </a:xfrm>
                  <a:prstGeom prst="rect">
                    <a:avLst/>
                  </a:prstGeom>
                  <a:noFill/>
                  <a:ln w="7" cap="sq">
                    <a:solidFill>
                      <a:srgbClr val="A0A0A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1800"/>
                  </a:p>
                </p:txBody>
              </p:sp>
            </p:grpSp>
          </p:grpSp>
          <p:grpSp>
            <p:nvGrpSpPr>
              <p:cNvPr id="15372" name="Group 51"/>
              <p:cNvGrpSpPr>
                <a:grpSpLocks/>
              </p:cNvGrpSpPr>
              <p:nvPr/>
            </p:nvGrpSpPr>
            <p:grpSpPr bwMode="auto">
              <a:xfrm>
                <a:off x="0" y="1192"/>
                <a:ext cx="1267" cy="904"/>
                <a:chOff x="0" y="1192"/>
                <a:chExt cx="1267" cy="904"/>
              </a:xfrm>
            </p:grpSpPr>
            <p:sp>
              <p:nvSpPr>
                <p:cNvPr id="15443" name="Rectangle 50"/>
                <p:cNvSpPr>
                  <a:spLocks noChangeArrowheads="1"/>
                </p:cNvSpPr>
                <p:nvPr/>
              </p:nvSpPr>
              <p:spPr bwMode="auto">
                <a:xfrm>
                  <a:off x="0" y="1192"/>
                  <a:ext cx="1267" cy="904"/>
                </a:xfrm>
                <a:prstGeom prst="rect">
                  <a:avLst/>
                </a:prstGeom>
                <a:solidFill>
                  <a:srgbClr val="FFFFEF"/>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1800"/>
                </a:p>
              </p:txBody>
            </p:sp>
            <p:grpSp>
              <p:nvGrpSpPr>
                <p:cNvPr id="15444" name="Group 49"/>
                <p:cNvGrpSpPr>
                  <a:grpSpLocks/>
                </p:cNvGrpSpPr>
                <p:nvPr/>
              </p:nvGrpSpPr>
              <p:grpSpPr bwMode="auto">
                <a:xfrm>
                  <a:off x="0" y="1192"/>
                  <a:ext cx="1267" cy="904"/>
                  <a:chOff x="0" y="1192"/>
                  <a:chExt cx="1267" cy="904"/>
                </a:xfrm>
              </p:grpSpPr>
              <p:sp>
                <p:nvSpPr>
                  <p:cNvPr id="15445" name="Rectangle 9"/>
                  <p:cNvSpPr>
                    <a:spLocks noChangeArrowheads="1"/>
                  </p:cNvSpPr>
                  <p:nvPr/>
                </p:nvSpPr>
                <p:spPr bwMode="auto">
                  <a:xfrm>
                    <a:off x="43" y="1192"/>
                    <a:ext cx="1181" cy="904"/>
                  </a:xfrm>
                  <a:prstGeom prst="rect">
                    <a:avLst/>
                  </a:prstGeom>
                  <a:solidFill>
                    <a:srgbClr val="FFFFEF"/>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n-US" sz="1600" b="1">
                        <a:solidFill>
                          <a:srgbClr val="000000"/>
                        </a:solidFill>
                        <a:cs typeface="Times New Roman" panose="02020603050405020304" pitchFamily="18" charset="0"/>
                      </a:rPr>
                      <a:t>Voting Rights</a:t>
                    </a:r>
                    <a:endParaRPr lang="en-US" altLang="en-US" sz="1200">
                      <a:solidFill>
                        <a:srgbClr val="000000"/>
                      </a:solidFill>
                      <a:cs typeface="Times New Roman" panose="02020603050405020304" pitchFamily="18" charset="0"/>
                    </a:endParaRPr>
                  </a:p>
                  <a:p>
                    <a:pPr eaLnBrk="1" hangingPunct="1">
                      <a:spcBef>
                        <a:spcPct val="0"/>
                      </a:spcBef>
                      <a:buClrTx/>
                      <a:buSzTx/>
                      <a:buFontTx/>
                      <a:buNone/>
                    </a:pPr>
                    <a:endParaRPr lang="en-US" altLang="en-US" sz="2400">
                      <a:solidFill>
                        <a:srgbClr val="000000"/>
                      </a:solidFill>
                    </a:endParaRPr>
                  </a:p>
                </p:txBody>
              </p:sp>
              <p:sp>
                <p:nvSpPr>
                  <p:cNvPr id="15446" name="Rectangle 48"/>
                  <p:cNvSpPr>
                    <a:spLocks noChangeArrowheads="1"/>
                  </p:cNvSpPr>
                  <p:nvPr/>
                </p:nvSpPr>
                <p:spPr bwMode="auto">
                  <a:xfrm>
                    <a:off x="0" y="1192"/>
                    <a:ext cx="1267" cy="904"/>
                  </a:xfrm>
                  <a:prstGeom prst="rect">
                    <a:avLst/>
                  </a:prstGeom>
                  <a:noFill/>
                  <a:ln w="7" cap="sq">
                    <a:solidFill>
                      <a:srgbClr val="A0A0A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1800"/>
                  </a:p>
                </p:txBody>
              </p:sp>
            </p:grpSp>
          </p:grpSp>
          <p:grpSp>
            <p:nvGrpSpPr>
              <p:cNvPr id="15373" name="Group 55"/>
              <p:cNvGrpSpPr>
                <a:grpSpLocks/>
              </p:cNvGrpSpPr>
              <p:nvPr/>
            </p:nvGrpSpPr>
            <p:grpSpPr bwMode="auto">
              <a:xfrm>
                <a:off x="1267" y="1192"/>
                <a:ext cx="1267" cy="904"/>
                <a:chOff x="1267" y="1192"/>
                <a:chExt cx="1267" cy="904"/>
              </a:xfrm>
            </p:grpSpPr>
            <p:sp>
              <p:nvSpPr>
                <p:cNvPr id="15439" name="Rectangle 54"/>
                <p:cNvSpPr>
                  <a:spLocks noChangeArrowheads="1"/>
                </p:cNvSpPr>
                <p:nvPr/>
              </p:nvSpPr>
              <p:spPr bwMode="auto">
                <a:xfrm>
                  <a:off x="1267" y="1192"/>
                  <a:ext cx="1267" cy="904"/>
                </a:xfrm>
                <a:prstGeom prst="rect">
                  <a:avLst/>
                </a:prstGeom>
                <a:solidFill>
                  <a:srgbClr val="FFFFEF"/>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1800"/>
                </a:p>
              </p:txBody>
            </p:sp>
            <p:grpSp>
              <p:nvGrpSpPr>
                <p:cNvPr id="15440" name="Group 53"/>
                <p:cNvGrpSpPr>
                  <a:grpSpLocks/>
                </p:cNvGrpSpPr>
                <p:nvPr/>
              </p:nvGrpSpPr>
              <p:grpSpPr bwMode="auto">
                <a:xfrm>
                  <a:off x="1267" y="1192"/>
                  <a:ext cx="1267" cy="904"/>
                  <a:chOff x="1267" y="1192"/>
                  <a:chExt cx="1267" cy="904"/>
                </a:xfrm>
              </p:grpSpPr>
              <p:sp>
                <p:nvSpPr>
                  <p:cNvPr id="15441" name="Rectangle 10"/>
                  <p:cNvSpPr>
                    <a:spLocks noChangeArrowheads="1"/>
                  </p:cNvSpPr>
                  <p:nvPr/>
                </p:nvSpPr>
                <p:spPr bwMode="auto">
                  <a:xfrm>
                    <a:off x="1310" y="1192"/>
                    <a:ext cx="1181" cy="904"/>
                  </a:xfrm>
                  <a:prstGeom prst="rect">
                    <a:avLst/>
                  </a:prstGeom>
                  <a:solidFill>
                    <a:srgbClr val="FFFFEF"/>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n-US" sz="1600">
                        <a:solidFill>
                          <a:srgbClr val="000000"/>
                        </a:solidFill>
                        <a:cs typeface="Times New Roman" panose="02020603050405020304" pitchFamily="18" charset="0"/>
                      </a:rPr>
                      <a:t>Usually each share gets one vote</a:t>
                    </a:r>
                    <a:endParaRPr lang="en-US" altLang="en-US" sz="1200">
                      <a:solidFill>
                        <a:srgbClr val="000000"/>
                      </a:solidFill>
                      <a:cs typeface="Times New Roman" panose="02020603050405020304" pitchFamily="18" charset="0"/>
                    </a:endParaRPr>
                  </a:p>
                  <a:p>
                    <a:pPr eaLnBrk="1" hangingPunct="1">
                      <a:spcBef>
                        <a:spcPct val="0"/>
                      </a:spcBef>
                      <a:buClrTx/>
                      <a:buSzTx/>
                      <a:buFontTx/>
                      <a:buNone/>
                    </a:pPr>
                    <a:endParaRPr lang="en-US" altLang="en-US" sz="2400">
                      <a:solidFill>
                        <a:srgbClr val="000000"/>
                      </a:solidFill>
                    </a:endParaRPr>
                  </a:p>
                </p:txBody>
              </p:sp>
              <p:sp>
                <p:nvSpPr>
                  <p:cNvPr id="15442" name="Rectangle 52"/>
                  <p:cNvSpPr>
                    <a:spLocks noChangeArrowheads="1"/>
                  </p:cNvSpPr>
                  <p:nvPr/>
                </p:nvSpPr>
                <p:spPr bwMode="auto">
                  <a:xfrm>
                    <a:off x="1267" y="1192"/>
                    <a:ext cx="1267" cy="904"/>
                  </a:xfrm>
                  <a:prstGeom prst="rect">
                    <a:avLst/>
                  </a:prstGeom>
                  <a:noFill/>
                  <a:ln w="7" cap="sq">
                    <a:solidFill>
                      <a:srgbClr val="A0A0A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1800"/>
                  </a:p>
                </p:txBody>
              </p:sp>
            </p:grpSp>
          </p:grpSp>
          <p:grpSp>
            <p:nvGrpSpPr>
              <p:cNvPr id="15374" name="Group 59"/>
              <p:cNvGrpSpPr>
                <a:grpSpLocks/>
              </p:cNvGrpSpPr>
              <p:nvPr/>
            </p:nvGrpSpPr>
            <p:grpSpPr bwMode="auto">
              <a:xfrm>
                <a:off x="2534" y="1192"/>
                <a:ext cx="1267" cy="904"/>
                <a:chOff x="2534" y="1192"/>
                <a:chExt cx="1267" cy="904"/>
              </a:xfrm>
            </p:grpSpPr>
            <p:sp>
              <p:nvSpPr>
                <p:cNvPr id="15435" name="Rectangle 58"/>
                <p:cNvSpPr>
                  <a:spLocks noChangeArrowheads="1"/>
                </p:cNvSpPr>
                <p:nvPr/>
              </p:nvSpPr>
              <p:spPr bwMode="auto">
                <a:xfrm>
                  <a:off x="2534" y="1192"/>
                  <a:ext cx="1267" cy="904"/>
                </a:xfrm>
                <a:prstGeom prst="rect">
                  <a:avLst/>
                </a:prstGeom>
                <a:solidFill>
                  <a:srgbClr val="FFFFEF"/>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1800"/>
                </a:p>
              </p:txBody>
            </p:sp>
            <p:grpSp>
              <p:nvGrpSpPr>
                <p:cNvPr id="15436" name="Group 57"/>
                <p:cNvGrpSpPr>
                  <a:grpSpLocks/>
                </p:cNvGrpSpPr>
                <p:nvPr/>
              </p:nvGrpSpPr>
              <p:grpSpPr bwMode="auto">
                <a:xfrm>
                  <a:off x="2534" y="1192"/>
                  <a:ext cx="1267" cy="904"/>
                  <a:chOff x="2534" y="1192"/>
                  <a:chExt cx="1267" cy="904"/>
                </a:xfrm>
              </p:grpSpPr>
              <p:sp>
                <p:nvSpPr>
                  <p:cNvPr id="15437" name="Rectangle 11"/>
                  <p:cNvSpPr>
                    <a:spLocks noChangeArrowheads="1"/>
                  </p:cNvSpPr>
                  <p:nvPr/>
                </p:nvSpPr>
                <p:spPr bwMode="auto">
                  <a:xfrm>
                    <a:off x="2577" y="1192"/>
                    <a:ext cx="1181" cy="904"/>
                  </a:xfrm>
                  <a:prstGeom prst="rect">
                    <a:avLst/>
                  </a:prstGeom>
                  <a:solidFill>
                    <a:srgbClr val="FFFFEF"/>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n-US" sz="1600">
                        <a:solidFill>
                          <a:srgbClr val="000000"/>
                        </a:solidFill>
                        <a:cs typeface="Times New Roman" panose="02020603050405020304" pitchFamily="18" charset="0"/>
                      </a:rPr>
                      <a:t>General Partner is in charge; limited partners may have some voting rights</a:t>
                    </a:r>
                    <a:endParaRPr lang="en-US" altLang="en-US" sz="1200">
                      <a:solidFill>
                        <a:srgbClr val="000000"/>
                      </a:solidFill>
                      <a:cs typeface="Times New Roman" panose="02020603050405020304" pitchFamily="18" charset="0"/>
                    </a:endParaRPr>
                  </a:p>
                  <a:p>
                    <a:pPr eaLnBrk="1" hangingPunct="1">
                      <a:spcBef>
                        <a:spcPct val="0"/>
                      </a:spcBef>
                      <a:buClrTx/>
                      <a:buSzTx/>
                      <a:buFontTx/>
                      <a:buNone/>
                    </a:pPr>
                    <a:endParaRPr lang="en-US" altLang="en-US" sz="2400">
                      <a:solidFill>
                        <a:srgbClr val="000000"/>
                      </a:solidFill>
                    </a:endParaRPr>
                  </a:p>
                </p:txBody>
              </p:sp>
              <p:sp>
                <p:nvSpPr>
                  <p:cNvPr id="15438" name="Rectangle 56"/>
                  <p:cNvSpPr>
                    <a:spLocks noChangeArrowheads="1"/>
                  </p:cNvSpPr>
                  <p:nvPr/>
                </p:nvSpPr>
                <p:spPr bwMode="auto">
                  <a:xfrm>
                    <a:off x="2534" y="1192"/>
                    <a:ext cx="1267" cy="904"/>
                  </a:xfrm>
                  <a:prstGeom prst="rect">
                    <a:avLst/>
                  </a:prstGeom>
                  <a:noFill/>
                  <a:ln w="7" cap="sq">
                    <a:solidFill>
                      <a:srgbClr val="A0A0A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1800"/>
                  </a:p>
                </p:txBody>
              </p:sp>
            </p:grpSp>
          </p:grpSp>
          <p:grpSp>
            <p:nvGrpSpPr>
              <p:cNvPr id="15375" name="Group 63"/>
              <p:cNvGrpSpPr>
                <a:grpSpLocks/>
              </p:cNvGrpSpPr>
              <p:nvPr/>
            </p:nvGrpSpPr>
            <p:grpSpPr bwMode="auto">
              <a:xfrm>
                <a:off x="0" y="2096"/>
                <a:ext cx="1267" cy="596"/>
                <a:chOff x="0" y="2096"/>
                <a:chExt cx="1267" cy="596"/>
              </a:xfrm>
            </p:grpSpPr>
            <p:sp>
              <p:nvSpPr>
                <p:cNvPr id="15431" name="Rectangle 62"/>
                <p:cNvSpPr>
                  <a:spLocks noChangeArrowheads="1"/>
                </p:cNvSpPr>
                <p:nvPr/>
              </p:nvSpPr>
              <p:spPr bwMode="auto">
                <a:xfrm>
                  <a:off x="0" y="2096"/>
                  <a:ext cx="1267" cy="596"/>
                </a:xfrm>
                <a:prstGeom prst="rect">
                  <a:avLst/>
                </a:prstGeom>
                <a:solidFill>
                  <a:srgbClr val="FFFFEF"/>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1800"/>
                </a:p>
              </p:txBody>
            </p:sp>
            <p:grpSp>
              <p:nvGrpSpPr>
                <p:cNvPr id="15432" name="Group 61"/>
                <p:cNvGrpSpPr>
                  <a:grpSpLocks/>
                </p:cNvGrpSpPr>
                <p:nvPr/>
              </p:nvGrpSpPr>
              <p:grpSpPr bwMode="auto">
                <a:xfrm>
                  <a:off x="0" y="2096"/>
                  <a:ext cx="1267" cy="596"/>
                  <a:chOff x="0" y="2096"/>
                  <a:chExt cx="1267" cy="596"/>
                </a:xfrm>
              </p:grpSpPr>
              <p:sp>
                <p:nvSpPr>
                  <p:cNvPr id="15433" name="Rectangle 12"/>
                  <p:cNvSpPr>
                    <a:spLocks noChangeArrowheads="1"/>
                  </p:cNvSpPr>
                  <p:nvPr/>
                </p:nvSpPr>
                <p:spPr bwMode="auto">
                  <a:xfrm>
                    <a:off x="43" y="2096"/>
                    <a:ext cx="1181" cy="596"/>
                  </a:xfrm>
                  <a:prstGeom prst="rect">
                    <a:avLst/>
                  </a:prstGeom>
                  <a:solidFill>
                    <a:srgbClr val="FFFFEF"/>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n-US" sz="1600" b="1">
                        <a:solidFill>
                          <a:srgbClr val="000000"/>
                        </a:solidFill>
                        <a:cs typeface="Times New Roman" panose="02020603050405020304" pitchFamily="18" charset="0"/>
                      </a:rPr>
                      <a:t>Taxation</a:t>
                    </a:r>
                    <a:endParaRPr lang="en-US" altLang="en-US" sz="1200">
                      <a:solidFill>
                        <a:srgbClr val="000000"/>
                      </a:solidFill>
                      <a:cs typeface="Times New Roman" panose="02020603050405020304" pitchFamily="18" charset="0"/>
                    </a:endParaRPr>
                  </a:p>
                  <a:p>
                    <a:pPr eaLnBrk="1" hangingPunct="1">
                      <a:spcBef>
                        <a:spcPct val="0"/>
                      </a:spcBef>
                      <a:buClrTx/>
                      <a:buSzTx/>
                      <a:buFontTx/>
                      <a:buNone/>
                    </a:pPr>
                    <a:endParaRPr lang="en-US" altLang="en-US" sz="2400">
                      <a:solidFill>
                        <a:srgbClr val="000000"/>
                      </a:solidFill>
                    </a:endParaRPr>
                  </a:p>
                </p:txBody>
              </p:sp>
              <p:sp>
                <p:nvSpPr>
                  <p:cNvPr id="15434" name="Rectangle 60"/>
                  <p:cNvSpPr>
                    <a:spLocks noChangeArrowheads="1"/>
                  </p:cNvSpPr>
                  <p:nvPr/>
                </p:nvSpPr>
                <p:spPr bwMode="auto">
                  <a:xfrm>
                    <a:off x="0" y="2096"/>
                    <a:ext cx="1267" cy="596"/>
                  </a:xfrm>
                  <a:prstGeom prst="rect">
                    <a:avLst/>
                  </a:prstGeom>
                  <a:noFill/>
                  <a:ln w="7" cap="sq">
                    <a:solidFill>
                      <a:srgbClr val="A0A0A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1800"/>
                  </a:p>
                </p:txBody>
              </p:sp>
            </p:grpSp>
          </p:grpSp>
          <p:grpSp>
            <p:nvGrpSpPr>
              <p:cNvPr id="15376" name="Group 67"/>
              <p:cNvGrpSpPr>
                <a:grpSpLocks/>
              </p:cNvGrpSpPr>
              <p:nvPr/>
            </p:nvGrpSpPr>
            <p:grpSpPr bwMode="auto">
              <a:xfrm>
                <a:off x="1267" y="2096"/>
                <a:ext cx="1267" cy="596"/>
                <a:chOff x="1267" y="2096"/>
                <a:chExt cx="1267" cy="596"/>
              </a:xfrm>
            </p:grpSpPr>
            <p:sp>
              <p:nvSpPr>
                <p:cNvPr id="15427" name="Rectangle 66"/>
                <p:cNvSpPr>
                  <a:spLocks noChangeArrowheads="1"/>
                </p:cNvSpPr>
                <p:nvPr/>
              </p:nvSpPr>
              <p:spPr bwMode="auto">
                <a:xfrm>
                  <a:off x="1267" y="2096"/>
                  <a:ext cx="1267" cy="596"/>
                </a:xfrm>
                <a:prstGeom prst="rect">
                  <a:avLst/>
                </a:prstGeom>
                <a:solidFill>
                  <a:srgbClr val="FFFFEF"/>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1800"/>
                </a:p>
              </p:txBody>
            </p:sp>
            <p:grpSp>
              <p:nvGrpSpPr>
                <p:cNvPr id="15428" name="Group 65"/>
                <p:cNvGrpSpPr>
                  <a:grpSpLocks/>
                </p:cNvGrpSpPr>
                <p:nvPr/>
              </p:nvGrpSpPr>
              <p:grpSpPr bwMode="auto">
                <a:xfrm>
                  <a:off x="1267" y="2096"/>
                  <a:ext cx="1267" cy="596"/>
                  <a:chOff x="1267" y="2096"/>
                  <a:chExt cx="1267" cy="596"/>
                </a:xfrm>
              </p:grpSpPr>
              <p:sp>
                <p:nvSpPr>
                  <p:cNvPr id="15429" name="Rectangle 13"/>
                  <p:cNvSpPr>
                    <a:spLocks noChangeArrowheads="1"/>
                  </p:cNvSpPr>
                  <p:nvPr/>
                </p:nvSpPr>
                <p:spPr bwMode="auto">
                  <a:xfrm>
                    <a:off x="1310" y="2096"/>
                    <a:ext cx="1181" cy="596"/>
                  </a:xfrm>
                  <a:prstGeom prst="rect">
                    <a:avLst/>
                  </a:prstGeom>
                  <a:solidFill>
                    <a:srgbClr val="FFFFEF"/>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n-US" sz="1600">
                        <a:solidFill>
                          <a:srgbClr val="000000"/>
                        </a:solidFill>
                        <a:cs typeface="Times New Roman" panose="02020603050405020304" pitchFamily="18" charset="0"/>
                      </a:rPr>
                      <a:t>Double</a:t>
                    </a:r>
                    <a:endParaRPr lang="en-US" altLang="en-US" sz="1200">
                      <a:solidFill>
                        <a:srgbClr val="000000"/>
                      </a:solidFill>
                      <a:cs typeface="Times New Roman" panose="02020603050405020304" pitchFamily="18" charset="0"/>
                    </a:endParaRPr>
                  </a:p>
                  <a:p>
                    <a:pPr eaLnBrk="1" hangingPunct="1">
                      <a:spcBef>
                        <a:spcPct val="0"/>
                      </a:spcBef>
                      <a:buClrTx/>
                      <a:buSzTx/>
                      <a:buFontTx/>
                      <a:buNone/>
                    </a:pPr>
                    <a:endParaRPr lang="en-US" altLang="en-US" sz="2400">
                      <a:solidFill>
                        <a:srgbClr val="000000"/>
                      </a:solidFill>
                    </a:endParaRPr>
                  </a:p>
                </p:txBody>
              </p:sp>
              <p:sp>
                <p:nvSpPr>
                  <p:cNvPr id="15430" name="Rectangle 64"/>
                  <p:cNvSpPr>
                    <a:spLocks noChangeArrowheads="1"/>
                  </p:cNvSpPr>
                  <p:nvPr/>
                </p:nvSpPr>
                <p:spPr bwMode="auto">
                  <a:xfrm>
                    <a:off x="1267" y="2096"/>
                    <a:ext cx="1267" cy="596"/>
                  </a:xfrm>
                  <a:prstGeom prst="rect">
                    <a:avLst/>
                  </a:prstGeom>
                  <a:noFill/>
                  <a:ln w="7" cap="sq">
                    <a:solidFill>
                      <a:srgbClr val="A0A0A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1800"/>
                  </a:p>
                </p:txBody>
              </p:sp>
            </p:grpSp>
          </p:grpSp>
          <p:grpSp>
            <p:nvGrpSpPr>
              <p:cNvPr id="15377" name="Group 71"/>
              <p:cNvGrpSpPr>
                <a:grpSpLocks/>
              </p:cNvGrpSpPr>
              <p:nvPr/>
            </p:nvGrpSpPr>
            <p:grpSpPr bwMode="auto">
              <a:xfrm>
                <a:off x="2534" y="2096"/>
                <a:ext cx="1267" cy="596"/>
                <a:chOff x="2534" y="2096"/>
                <a:chExt cx="1267" cy="596"/>
              </a:xfrm>
            </p:grpSpPr>
            <p:sp>
              <p:nvSpPr>
                <p:cNvPr id="15423" name="Rectangle 70"/>
                <p:cNvSpPr>
                  <a:spLocks noChangeArrowheads="1"/>
                </p:cNvSpPr>
                <p:nvPr/>
              </p:nvSpPr>
              <p:spPr bwMode="auto">
                <a:xfrm>
                  <a:off x="2534" y="2096"/>
                  <a:ext cx="1267" cy="596"/>
                </a:xfrm>
                <a:prstGeom prst="rect">
                  <a:avLst/>
                </a:prstGeom>
                <a:solidFill>
                  <a:srgbClr val="FFFFEF"/>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1800"/>
                </a:p>
              </p:txBody>
            </p:sp>
            <p:grpSp>
              <p:nvGrpSpPr>
                <p:cNvPr id="15424" name="Group 69"/>
                <p:cNvGrpSpPr>
                  <a:grpSpLocks/>
                </p:cNvGrpSpPr>
                <p:nvPr/>
              </p:nvGrpSpPr>
              <p:grpSpPr bwMode="auto">
                <a:xfrm>
                  <a:off x="2534" y="2096"/>
                  <a:ext cx="1267" cy="596"/>
                  <a:chOff x="2534" y="2096"/>
                  <a:chExt cx="1267" cy="596"/>
                </a:xfrm>
              </p:grpSpPr>
              <p:sp>
                <p:nvSpPr>
                  <p:cNvPr id="15425" name="Rectangle 14"/>
                  <p:cNvSpPr>
                    <a:spLocks noChangeArrowheads="1"/>
                  </p:cNvSpPr>
                  <p:nvPr/>
                </p:nvSpPr>
                <p:spPr bwMode="auto">
                  <a:xfrm>
                    <a:off x="2577" y="2096"/>
                    <a:ext cx="1181" cy="596"/>
                  </a:xfrm>
                  <a:prstGeom prst="rect">
                    <a:avLst/>
                  </a:prstGeom>
                  <a:solidFill>
                    <a:srgbClr val="FFFFEF"/>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n-US" sz="1600">
                        <a:solidFill>
                          <a:srgbClr val="000000"/>
                        </a:solidFill>
                        <a:cs typeface="Times New Roman" panose="02020603050405020304" pitchFamily="18" charset="0"/>
                      </a:rPr>
                      <a:t>Partners pay taxes on distributions</a:t>
                    </a:r>
                    <a:endParaRPr lang="en-US" altLang="en-US" sz="1200">
                      <a:solidFill>
                        <a:srgbClr val="000000"/>
                      </a:solidFill>
                      <a:cs typeface="Times New Roman" panose="02020603050405020304" pitchFamily="18" charset="0"/>
                    </a:endParaRPr>
                  </a:p>
                  <a:p>
                    <a:pPr eaLnBrk="1" hangingPunct="1">
                      <a:spcBef>
                        <a:spcPct val="0"/>
                      </a:spcBef>
                      <a:buClrTx/>
                      <a:buSzTx/>
                      <a:buFontTx/>
                      <a:buNone/>
                    </a:pPr>
                    <a:endParaRPr lang="en-US" altLang="en-US" sz="2400">
                      <a:solidFill>
                        <a:srgbClr val="000000"/>
                      </a:solidFill>
                    </a:endParaRPr>
                  </a:p>
                </p:txBody>
              </p:sp>
              <p:sp>
                <p:nvSpPr>
                  <p:cNvPr id="15426" name="Rectangle 68"/>
                  <p:cNvSpPr>
                    <a:spLocks noChangeArrowheads="1"/>
                  </p:cNvSpPr>
                  <p:nvPr/>
                </p:nvSpPr>
                <p:spPr bwMode="auto">
                  <a:xfrm>
                    <a:off x="2534" y="2096"/>
                    <a:ext cx="1267" cy="596"/>
                  </a:xfrm>
                  <a:prstGeom prst="rect">
                    <a:avLst/>
                  </a:prstGeom>
                  <a:noFill/>
                  <a:ln w="7" cap="sq">
                    <a:solidFill>
                      <a:srgbClr val="A0A0A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1800"/>
                  </a:p>
                </p:txBody>
              </p:sp>
            </p:grpSp>
          </p:grpSp>
          <p:grpSp>
            <p:nvGrpSpPr>
              <p:cNvPr id="15378" name="Group 75"/>
              <p:cNvGrpSpPr>
                <a:grpSpLocks/>
              </p:cNvGrpSpPr>
              <p:nvPr/>
            </p:nvGrpSpPr>
            <p:grpSpPr bwMode="auto">
              <a:xfrm>
                <a:off x="0" y="2692"/>
                <a:ext cx="1267" cy="750"/>
                <a:chOff x="0" y="2692"/>
                <a:chExt cx="1267" cy="750"/>
              </a:xfrm>
            </p:grpSpPr>
            <p:sp>
              <p:nvSpPr>
                <p:cNvPr id="15419" name="Rectangle 74"/>
                <p:cNvSpPr>
                  <a:spLocks noChangeArrowheads="1"/>
                </p:cNvSpPr>
                <p:nvPr/>
              </p:nvSpPr>
              <p:spPr bwMode="auto">
                <a:xfrm>
                  <a:off x="0" y="2692"/>
                  <a:ext cx="1267" cy="750"/>
                </a:xfrm>
                <a:prstGeom prst="rect">
                  <a:avLst/>
                </a:prstGeom>
                <a:solidFill>
                  <a:srgbClr val="FFFFEF"/>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1800"/>
                </a:p>
              </p:txBody>
            </p:sp>
            <p:grpSp>
              <p:nvGrpSpPr>
                <p:cNvPr id="15420" name="Group 73"/>
                <p:cNvGrpSpPr>
                  <a:grpSpLocks/>
                </p:cNvGrpSpPr>
                <p:nvPr/>
              </p:nvGrpSpPr>
              <p:grpSpPr bwMode="auto">
                <a:xfrm>
                  <a:off x="0" y="2692"/>
                  <a:ext cx="1267" cy="750"/>
                  <a:chOff x="0" y="2692"/>
                  <a:chExt cx="1267" cy="750"/>
                </a:xfrm>
              </p:grpSpPr>
              <p:sp>
                <p:nvSpPr>
                  <p:cNvPr id="15421" name="Rectangle 15"/>
                  <p:cNvSpPr>
                    <a:spLocks noChangeArrowheads="1"/>
                  </p:cNvSpPr>
                  <p:nvPr/>
                </p:nvSpPr>
                <p:spPr bwMode="auto">
                  <a:xfrm>
                    <a:off x="43" y="2692"/>
                    <a:ext cx="1181" cy="750"/>
                  </a:xfrm>
                  <a:prstGeom prst="rect">
                    <a:avLst/>
                  </a:prstGeom>
                  <a:solidFill>
                    <a:srgbClr val="FFFFEF"/>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n-US" sz="1600" b="1" dirty="0">
                        <a:solidFill>
                          <a:srgbClr val="000000"/>
                        </a:solidFill>
                        <a:cs typeface="Times New Roman" panose="02020603050405020304" pitchFamily="18" charset="0"/>
                      </a:rPr>
                      <a:t>Reinvestment &amp; dividend payout</a:t>
                    </a:r>
                    <a:endParaRPr lang="en-US" altLang="en-US" sz="1200" dirty="0">
                      <a:solidFill>
                        <a:srgbClr val="000000"/>
                      </a:solidFill>
                      <a:cs typeface="Times New Roman" panose="02020603050405020304" pitchFamily="18" charset="0"/>
                    </a:endParaRPr>
                  </a:p>
                  <a:p>
                    <a:pPr eaLnBrk="1" hangingPunct="1">
                      <a:spcBef>
                        <a:spcPct val="0"/>
                      </a:spcBef>
                      <a:buClrTx/>
                      <a:buSzTx/>
                      <a:buFontTx/>
                      <a:buNone/>
                    </a:pPr>
                    <a:endParaRPr lang="en-US" altLang="en-US" sz="2400" dirty="0">
                      <a:solidFill>
                        <a:srgbClr val="000000"/>
                      </a:solidFill>
                    </a:endParaRPr>
                  </a:p>
                </p:txBody>
              </p:sp>
              <p:sp>
                <p:nvSpPr>
                  <p:cNvPr id="15422" name="Rectangle 72"/>
                  <p:cNvSpPr>
                    <a:spLocks noChangeArrowheads="1"/>
                  </p:cNvSpPr>
                  <p:nvPr/>
                </p:nvSpPr>
                <p:spPr bwMode="auto">
                  <a:xfrm>
                    <a:off x="0" y="2692"/>
                    <a:ext cx="1267" cy="750"/>
                  </a:xfrm>
                  <a:prstGeom prst="rect">
                    <a:avLst/>
                  </a:prstGeom>
                  <a:noFill/>
                  <a:ln w="7" cap="sq">
                    <a:solidFill>
                      <a:srgbClr val="A0A0A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1800"/>
                  </a:p>
                </p:txBody>
              </p:sp>
            </p:grpSp>
          </p:grpSp>
          <p:grpSp>
            <p:nvGrpSpPr>
              <p:cNvPr id="15379" name="Group 79"/>
              <p:cNvGrpSpPr>
                <a:grpSpLocks/>
              </p:cNvGrpSpPr>
              <p:nvPr/>
            </p:nvGrpSpPr>
            <p:grpSpPr bwMode="auto">
              <a:xfrm>
                <a:off x="1267" y="2692"/>
                <a:ext cx="1267" cy="750"/>
                <a:chOff x="1267" y="2692"/>
                <a:chExt cx="1267" cy="750"/>
              </a:xfrm>
            </p:grpSpPr>
            <p:sp>
              <p:nvSpPr>
                <p:cNvPr id="15415" name="Rectangle 78"/>
                <p:cNvSpPr>
                  <a:spLocks noChangeArrowheads="1"/>
                </p:cNvSpPr>
                <p:nvPr/>
              </p:nvSpPr>
              <p:spPr bwMode="auto">
                <a:xfrm>
                  <a:off x="1267" y="2692"/>
                  <a:ext cx="1267" cy="750"/>
                </a:xfrm>
                <a:prstGeom prst="rect">
                  <a:avLst/>
                </a:prstGeom>
                <a:solidFill>
                  <a:srgbClr val="FFFFEF"/>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1800"/>
                </a:p>
              </p:txBody>
            </p:sp>
            <p:grpSp>
              <p:nvGrpSpPr>
                <p:cNvPr id="15416" name="Group 77"/>
                <p:cNvGrpSpPr>
                  <a:grpSpLocks/>
                </p:cNvGrpSpPr>
                <p:nvPr/>
              </p:nvGrpSpPr>
              <p:grpSpPr bwMode="auto">
                <a:xfrm>
                  <a:off x="1267" y="2692"/>
                  <a:ext cx="1267" cy="750"/>
                  <a:chOff x="1267" y="2692"/>
                  <a:chExt cx="1267" cy="750"/>
                </a:xfrm>
              </p:grpSpPr>
              <p:sp>
                <p:nvSpPr>
                  <p:cNvPr id="15417" name="Rectangle 16"/>
                  <p:cNvSpPr>
                    <a:spLocks noChangeArrowheads="1"/>
                  </p:cNvSpPr>
                  <p:nvPr/>
                </p:nvSpPr>
                <p:spPr bwMode="auto">
                  <a:xfrm>
                    <a:off x="1310" y="2692"/>
                    <a:ext cx="1181" cy="750"/>
                  </a:xfrm>
                  <a:prstGeom prst="rect">
                    <a:avLst/>
                  </a:prstGeom>
                  <a:solidFill>
                    <a:srgbClr val="FFFFEF"/>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n-US" sz="1600">
                        <a:solidFill>
                          <a:srgbClr val="000000"/>
                        </a:solidFill>
                        <a:cs typeface="Times New Roman" panose="02020603050405020304" pitchFamily="18" charset="0"/>
                      </a:rPr>
                      <a:t>Broad latitude</a:t>
                    </a:r>
                    <a:endParaRPr lang="en-US" altLang="en-US" sz="1200">
                      <a:solidFill>
                        <a:srgbClr val="000000"/>
                      </a:solidFill>
                      <a:cs typeface="Times New Roman" panose="02020603050405020304" pitchFamily="18" charset="0"/>
                    </a:endParaRPr>
                  </a:p>
                  <a:p>
                    <a:pPr eaLnBrk="1" hangingPunct="1">
                      <a:spcBef>
                        <a:spcPct val="0"/>
                      </a:spcBef>
                      <a:buClrTx/>
                      <a:buSzTx/>
                      <a:buFontTx/>
                      <a:buNone/>
                    </a:pPr>
                    <a:endParaRPr lang="en-US" altLang="en-US" sz="2400">
                      <a:solidFill>
                        <a:srgbClr val="000000"/>
                      </a:solidFill>
                    </a:endParaRPr>
                  </a:p>
                </p:txBody>
              </p:sp>
              <p:sp>
                <p:nvSpPr>
                  <p:cNvPr id="15418" name="Rectangle 76"/>
                  <p:cNvSpPr>
                    <a:spLocks noChangeArrowheads="1"/>
                  </p:cNvSpPr>
                  <p:nvPr/>
                </p:nvSpPr>
                <p:spPr bwMode="auto">
                  <a:xfrm>
                    <a:off x="1267" y="2692"/>
                    <a:ext cx="1267" cy="750"/>
                  </a:xfrm>
                  <a:prstGeom prst="rect">
                    <a:avLst/>
                  </a:prstGeom>
                  <a:noFill/>
                  <a:ln w="7" cap="sq">
                    <a:solidFill>
                      <a:srgbClr val="A0A0A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1800"/>
                  </a:p>
                </p:txBody>
              </p:sp>
            </p:grpSp>
          </p:grpSp>
          <p:grpSp>
            <p:nvGrpSpPr>
              <p:cNvPr id="15380" name="Group 83"/>
              <p:cNvGrpSpPr>
                <a:grpSpLocks/>
              </p:cNvGrpSpPr>
              <p:nvPr/>
            </p:nvGrpSpPr>
            <p:grpSpPr bwMode="auto">
              <a:xfrm>
                <a:off x="2534" y="2692"/>
                <a:ext cx="1267" cy="750"/>
                <a:chOff x="2534" y="2692"/>
                <a:chExt cx="1267" cy="750"/>
              </a:xfrm>
            </p:grpSpPr>
            <p:sp>
              <p:nvSpPr>
                <p:cNvPr id="15411" name="Rectangle 82"/>
                <p:cNvSpPr>
                  <a:spLocks noChangeArrowheads="1"/>
                </p:cNvSpPr>
                <p:nvPr/>
              </p:nvSpPr>
              <p:spPr bwMode="auto">
                <a:xfrm>
                  <a:off x="2534" y="2692"/>
                  <a:ext cx="1267" cy="750"/>
                </a:xfrm>
                <a:prstGeom prst="rect">
                  <a:avLst/>
                </a:prstGeom>
                <a:solidFill>
                  <a:srgbClr val="FFFFEF"/>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1800"/>
                </a:p>
              </p:txBody>
            </p:sp>
            <p:grpSp>
              <p:nvGrpSpPr>
                <p:cNvPr id="15412" name="Group 81"/>
                <p:cNvGrpSpPr>
                  <a:grpSpLocks/>
                </p:cNvGrpSpPr>
                <p:nvPr/>
              </p:nvGrpSpPr>
              <p:grpSpPr bwMode="auto">
                <a:xfrm>
                  <a:off x="2534" y="2692"/>
                  <a:ext cx="1267" cy="750"/>
                  <a:chOff x="2534" y="2692"/>
                  <a:chExt cx="1267" cy="750"/>
                </a:xfrm>
              </p:grpSpPr>
              <p:sp>
                <p:nvSpPr>
                  <p:cNvPr id="15413" name="Rectangle 17"/>
                  <p:cNvSpPr>
                    <a:spLocks noChangeArrowheads="1"/>
                  </p:cNvSpPr>
                  <p:nvPr/>
                </p:nvSpPr>
                <p:spPr bwMode="auto">
                  <a:xfrm>
                    <a:off x="2577" y="2692"/>
                    <a:ext cx="1181" cy="750"/>
                  </a:xfrm>
                  <a:prstGeom prst="rect">
                    <a:avLst/>
                  </a:prstGeom>
                  <a:solidFill>
                    <a:srgbClr val="FFFFEF"/>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n-US" sz="1600">
                        <a:solidFill>
                          <a:srgbClr val="000000"/>
                        </a:solidFill>
                        <a:cs typeface="Times New Roman" panose="02020603050405020304" pitchFamily="18" charset="0"/>
                      </a:rPr>
                      <a:t>All net cash flow is distributed to partners</a:t>
                    </a:r>
                    <a:endParaRPr lang="en-US" altLang="en-US" sz="1200">
                      <a:solidFill>
                        <a:srgbClr val="000000"/>
                      </a:solidFill>
                      <a:cs typeface="Times New Roman" panose="02020603050405020304" pitchFamily="18" charset="0"/>
                    </a:endParaRPr>
                  </a:p>
                  <a:p>
                    <a:pPr eaLnBrk="1" hangingPunct="1">
                      <a:spcBef>
                        <a:spcPct val="0"/>
                      </a:spcBef>
                      <a:buClrTx/>
                      <a:buSzTx/>
                      <a:buFontTx/>
                      <a:buNone/>
                    </a:pPr>
                    <a:endParaRPr lang="en-US" altLang="en-US" sz="2400">
                      <a:solidFill>
                        <a:srgbClr val="000000"/>
                      </a:solidFill>
                    </a:endParaRPr>
                  </a:p>
                </p:txBody>
              </p:sp>
              <p:sp>
                <p:nvSpPr>
                  <p:cNvPr id="15414" name="Rectangle 80"/>
                  <p:cNvSpPr>
                    <a:spLocks noChangeArrowheads="1"/>
                  </p:cNvSpPr>
                  <p:nvPr/>
                </p:nvSpPr>
                <p:spPr bwMode="auto">
                  <a:xfrm>
                    <a:off x="2534" y="2692"/>
                    <a:ext cx="1267" cy="750"/>
                  </a:xfrm>
                  <a:prstGeom prst="rect">
                    <a:avLst/>
                  </a:prstGeom>
                  <a:noFill/>
                  <a:ln w="7" cap="sq">
                    <a:solidFill>
                      <a:srgbClr val="A0A0A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1800"/>
                  </a:p>
                </p:txBody>
              </p:sp>
            </p:grpSp>
          </p:grpSp>
          <p:grpSp>
            <p:nvGrpSpPr>
              <p:cNvPr id="15381" name="Group 87"/>
              <p:cNvGrpSpPr>
                <a:grpSpLocks/>
              </p:cNvGrpSpPr>
              <p:nvPr/>
            </p:nvGrpSpPr>
            <p:grpSpPr bwMode="auto">
              <a:xfrm>
                <a:off x="0" y="3442"/>
                <a:ext cx="1267" cy="1058"/>
                <a:chOff x="0" y="3442"/>
                <a:chExt cx="1267" cy="1058"/>
              </a:xfrm>
            </p:grpSpPr>
            <p:sp>
              <p:nvSpPr>
                <p:cNvPr id="15407" name="Rectangle 86"/>
                <p:cNvSpPr>
                  <a:spLocks noChangeArrowheads="1"/>
                </p:cNvSpPr>
                <p:nvPr/>
              </p:nvSpPr>
              <p:spPr bwMode="auto">
                <a:xfrm>
                  <a:off x="0" y="3442"/>
                  <a:ext cx="1267" cy="1058"/>
                </a:xfrm>
                <a:prstGeom prst="rect">
                  <a:avLst/>
                </a:prstGeom>
                <a:solidFill>
                  <a:srgbClr val="FFFFEF"/>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1800"/>
                </a:p>
              </p:txBody>
            </p:sp>
            <p:grpSp>
              <p:nvGrpSpPr>
                <p:cNvPr id="15408" name="Group 85"/>
                <p:cNvGrpSpPr>
                  <a:grpSpLocks/>
                </p:cNvGrpSpPr>
                <p:nvPr/>
              </p:nvGrpSpPr>
              <p:grpSpPr bwMode="auto">
                <a:xfrm>
                  <a:off x="0" y="3442"/>
                  <a:ext cx="1267" cy="1058"/>
                  <a:chOff x="0" y="3442"/>
                  <a:chExt cx="1267" cy="1058"/>
                </a:xfrm>
              </p:grpSpPr>
              <p:sp>
                <p:nvSpPr>
                  <p:cNvPr id="15409" name="Rectangle 18"/>
                  <p:cNvSpPr>
                    <a:spLocks noChangeArrowheads="1"/>
                  </p:cNvSpPr>
                  <p:nvPr/>
                </p:nvSpPr>
                <p:spPr bwMode="auto">
                  <a:xfrm>
                    <a:off x="43" y="3442"/>
                    <a:ext cx="1181" cy="1058"/>
                  </a:xfrm>
                  <a:prstGeom prst="rect">
                    <a:avLst/>
                  </a:prstGeom>
                  <a:solidFill>
                    <a:srgbClr val="FFFFEF"/>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n-US" sz="1600" b="1">
                        <a:solidFill>
                          <a:srgbClr val="000000"/>
                        </a:solidFill>
                        <a:cs typeface="Times New Roman" panose="02020603050405020304" pitchFamily="18" charset="0"/>
                      </a:rPr>
                      <a:t>Liability</a:t>
                    </a:r>
                    <a:endParaRPr lang="en-US" altLang="en-US" sz="1200">
                      <a:solidFill>
                        <a:srgbClr val="000000"/>
                      </a:solidFill>
                      <a:cs typeface="Times New Roman" panose="02020603050405020304" pitchFamily="18" charset="0"/>
                    </a:endParaRPr>
                  </a:p>
                  <a:p>
                    <a:pPr eaLnBrk="1" hangingPunct="1">
                      <a:spcBef>
                        <a:spcPct val="0"/>
                      </a:spcBef>
                      <a:buClrTx/>
                      <a:buSzTx/>
                      <a:buFontTx/>
                      <a:buNone/>
                    </a:pPr>
                    <a:endParaRPr lang="en-US" altLang="en-US" sz="2400">
                      <a:solidFill>
                        <a:srgbClr val="000000"/>
                      </a:solidFill>
                    </a:endParaRPr>
                  </a:p>
                </p:txBody>
              </p:sp>
              <p:sp>
                <p:nvSpPr>
                  <p:cNvPr id="15410" name="Rectangle 84"/>
                  <p:cNvSpPr>
                    <a:spLocks noChangeArrowheads="1"/>
                  </p:cNvSpPr>
                  <p:nvPr/>
                </p:nvSpPr>
                <p:spPr bwMode="auto">
                  <a:xfrm>
                    <a:off x="0" y="3442"/>
                    <a:ext cx="1267" cy="1058"/>
                  </a:xfrm>
                  <a:prstGeom prst="rect">
                    <a:avLst/>
                  </a:prstGeom>
                  <a:noFill/>
                  <a:ln w="7" cap="sq">
                    <a:solidFill>
                      <a:srgbClr val="A0A0A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1800"/>
                  </a:p>
                </p:txBody>
              </p:sp>
            </p:grpSp>
          </p:grpSp>
          <p:grpSp>
            <p:nvGrpSpPr>
              <p:cNvPr id="15382" name="Group 91"/>
              <p:cNvGrpSpPr>
                <a:grpSpLocks/>
              </p:cNvGrpSpPr>
              <p:nvPr/>
            </p:nvGrpSpPr>
            <p:grpSpPr bwMode="auto">
              <a:xfrm>
                <a:off x="1267" y="3442"/>
                <a:ext cx="1267" cy="1058"/>
                <a:chOff x="1267" y="3442"/>
                <a:chExt cx="1267" cy="1058"/>
              </a:xfrm>
            </p:grpSpPr>
            <p:sp>
              <p:nvSpPr>
                <p:cNvPr id="15403" name="Rectangle 90"/>
                <p:cNvSpPr>
                  <a:spLocks noChangeArrowheads="1"/>
                </p:cNvSpPr>
                <p:nvPr/>
              </p:nvSpPr>
              <p:spPr bwMode="auto">
                <a:xfrm>
                  <a:off x="1267" y="3442"/>
                  <a:ext cx="1267" cy="1058"/>
                </a:xfrm>
                <a:prstGeom prst="rect">
                  <a:avLst/>
                </a:prstGeom>
                <a:solidFill>
                  <a:srgbClr val="FFFFEF"/>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1800"/>
                </a:p>
              </p:txBody>
            </p:sp>
            <p:grpSp>
              <p:nvGrpSpPr>
                <p:cNvPr id="15404" name="Group 89"/>
                <p:cNvGrpSpPr>
                  <a:grpSpLocks/>
                </p:cNvGrpSpPr>
                <p:nvPr/>
              </p:nvGrpSpPr>
              <p:grpSpPr bwMode="auto">
                <a:xfrm>
                  <a:off x="1267" y="3442"/>
                  <a:ext cx="1267" cy="1058"/>
                  <a:chOff x="1267" y="3442"/>
                  <a:chExt cx="1267" cy="1058"/>
                </a:xfrm>
              </p:grpSpPr>
              <p:sp>
                <p:nvSpPr>
                  <p:cNvPr id="15405" name="Rectangle 19"/>
                  <p:cNvSpPr>
                    <a:spLocks noChangeArrowheads="1"/>
                  </p:cNvSpPr>
                  <p:nvPr/>
                </p:nvSpPr>
                <p:spPr bwMode="auto">
                  <a:xfrm>
                    <a:off x="1310" y="3442"/>
                    <a:ext cx="1181" cy="1058"/>
                  </a:xfrm>
                  <a:prstGeom prst="rect">
                    <a:avLst/>
                  </a:prstGeom>
                  <a:solidFill>
                    <a:srgbClr val="FFFFEF"/>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n-US" sz="1600">
                        <a:solidFill>
                          <a:srgbClr val="000000"/>
                        </a:solidFill>
                        <a:cs typeface="Times New Roman" panose="02020603050405020304" pitchFamily="18" charset="0"/>
                      </a:rPr>
                      <a:t>Limited liability</a:t>
                    </a:r>
                    <a:endParaRPr lang="en-US" altLang="en-US" sz="1200">
                      <a:solidFill>
                        <a:srgbClr val="000000"/>
                      </a:solidFill>
                      <a:cs typeface="Times New Roman" panose="02020603050405020304" pitchFamily="18" charset="0"/>
                    </a:endParaRPr>
                  </a:p>
                  <a:p>
                    <a:pPr eaLnBrk="1" hangingPunct="1">
                      <a:spcBef>
                        <a:spcPct val="0"/>
                      </a:spcBef>
                      <a:buClrTx/>
                      <a:buSzTx/>
                      <a:buFontTx/>
                      <a:buNone/>
                    </a:pPr>
                    <a:endParaRPr lang="en-US" altLang="en-US" sz="2400">
                      <a:solidFill>
                        <a:srgbClr val="000000"/>
                      </a:solidFill>
                    </a:endParaRPr>
                  </a:p>
                </p:txBody>
              </p:sp>
              <p:sp>
                <p:nvSpPr>
                  <p:cNvPr id="15406" name="Rectangle 88"/>
                  <p:cNvSpPr>
                    <a:spLocks noChangeArrowheads="1"/>
                  </p:cNvSpPr>
                  <p:nvPr/>
                </p:nvSpPr>
                <p:spPr bwMode="auto">
                  <a:xfrm>
                    <a:off x="1267" y="3442"/>
                    <a:ext cx="1267" cy="1058"/>
                  </a:xfrm>
                  <a:prstGeom prst="rect">
                    <a:avLst/>
                  </a:prstGeom>
                  <a:noFill/>
                  <a:ln w="7" cap="sq">
                    <a:solidFill>
                      <a:srgbClr val="A0A0A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1800"/>
                  </a:p>
                </p:txBody>
              </p:sp>
            </p:grpSp>
          </p:grpSp>
          <p:grpSp>
            <p:nvGrpSpPr>
              <p:cNvPr id="15383" name="Group 95"/>
              <p:cNvGrpSpPr>
                <a:grpSpLocks/>
              </p:cNvGrpSpPr>
              <p:nvPr/>
            </p:nvGrpSpPr>
            <p:grpSpPr bwMode="auto">
              <a:xfrm>
                <a:off x="2534" y="3442"/>
                <a:ext cx="1267" cy="1058"/>
                <a:chOff x="2534" y="3442"/>
                <a:chExt cx="1267" cy="1058"/>
              </a:xfrm>
            </p:grpSpPr>
            <p:sp>
              <p:nvSpPr>
                <p:cNvPr id="15399" name="Rectangle 94"/>
                <p:cNvSpPr>
                  <a:spLocks noChangeArrowheads="1"/>
                </p:cNvSpPr>
                <p:nvPr/>
              </p:nvSpPr>
              <p:spPr bwMode="auto">
                <a:xfrm>
                  <a:off x="2534" y="3442"/>
                  <a:ext cx="1267" cy="1058"/>
                </a:xfrm>
                <a:prstGeom prst="rect">
                  <a:avLst/>
                </a:prstGeom>
                <a:solidFill>
                  <a:srgbClr val="FFFFEF"/>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1800"/>
                </a:p>
              </p:txBody>
            </p:sp>
            <p:grpSp>
              <p:nvGrpSpPr>
                <p:cNvPr id="15400" name="Group 93"/>
                <p:cNvGrpSpPr>
                  <a:grpSpLocks/>
                </p:cNvGrpSpPr>
                <p:nvPr/>
              </p:nvGrpSpPr>
              <p:grpSpPr bwMode="auto">
                <a:xfrm>
                  <a:off x="2534" y="3442"/>
                  <a:ext cx="1267" cy="1058"/>
                  <a:chOff x="2534" y="3442"/>
                  <a:chExt cx="1267" cy="1058"/>
                </a:xfrm>
              </p:grpSpPr>
              <p:sp>
                <p:nvSpPr>
                  <p:cNvPr id="15401" name="Rectangle 20"/>
                  <p:cNvSpPr>
                    <a:spLocks noChangeArrowheads="1"/>
                  </p:cNvSpPr>
                  <p:nvPr/>
                </p:nvSpPr>
                <p:spPr bwMode="auto">
                  <a:xfrm>
                    <a:off x="2577" y="3442"/>
                    <a:ext cx="1181" cy="1058"/>
                  </a:xfrm>
                  <a:prstGeom prst="rect">
                    <a:avLst/>
                  </a:prstGeom>
                  <a:solidFill>
                    <a:srgbClr val="FFFFEF"/>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n-US" sz="1600">
                        <a:solidFill>
                          <a:srgbClr val="000000"/>
                        </a:solidFill>
                        <a:cs typeface="Times New Roman" panose="02020603050405020304" pitchFamily="18" charset="0"/>
                      </a:rPr>
                      <a:t>General partners may have unlimited liability; limited partners enjoy limited liability</a:t>
                    </a:r>
                    <a:endParaRPr lang="en-US" altLang="en-US" sz="1200">
                      <a:solidFill>
                        <a:srgbClr val="000000"/>
                      </a:solidFill>
                      <a:cs typeface="Times New Roman" panose="02020603050405020304" pitchFamily="18" charset="0"/>
                    </a:endParaRPr>
                  </a:p>
                  <a:p>
                    <a:pPr eaLnBrk="1" hangingPunct="1">
                      <a:spcBef>
                        <a:spcPct val="0"/>
                      </a:spcBef>
                      <a:buClrTx/>
                      <a:buSzTx/>
                      <a:buFontTx/>
                      <a:buNone/>
                    </a:pPr>
                    <a:endParaRPr lang="en-US" altLang="en-US" sz="2400">
                      <a:solidFill>
                        <a:srgbClr val="000000"/>
                      </a:solidFill>
                    </a:endParaRPr>
                  </a:p>
                </p:txBody>
              </p:sp>
              <p:sp>
                <p:nvSpPr>
                  <p:cNvPr id="15402" name="Rectangle 92"/>
                  <p:cNvSpPr>
                    <a:spLocks noChangeArrowheads="1"/>
                  </p:cNvSpPr>
                  <p:nvPr/>
                </p:nvSpPr>
                <p:spPr bwMode="auto">
                  <a:xfrm>
                    <a:off x="2534" y="3442"/>
                    <a:ext cx="1267" cy="1058"/>
                  </a:xfrm>
                  <a:prstGeom prst="rect">
                    <a:avLst/>
                  </a:prstGeom>
                  <a:noFill/>
                  <a:ln w="7" cap="sq">
                    <a:solidFill>
                      <a:srgbClr val="A0A0A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1800"/>
                  </a:p>
                </p:txBody>
              </p:sp>
            </p:grpSp>
          </p:grpSp>
          <p:grpSp>
            <p:nvGrpSpPr>
              <p:cNvPr id="15384" name="Group 99"/>
              <p:cNvGrpSpPr>
                <a:grpSpLocks/>
              </p:cNvGrpSpPr>
              <p:nvPr/>
            </p:nvGrpSpPr>
            <p:grpSpPr bwMode="auto">
              <a:xfrm>
                <a:off x="0" y="4500"/>
                <a:ext cx="1267" cy="442"/>
                <a:chOff x="0" y="4500"/>
                <a:chExt cx="1267" cy="442"/>
              </a:xfrm>
            </p:grpSpPr>
            <p:sp>
              <p:nvSpPr>
                <p:cNvPr id="15395" name="Rectangle 98"/>
                <p:cNvSpPr>
                  <a:spLocks noChangeArrowheads="1"/>
                </p:cNvSpPr>
                <p:nvPr/>
              </p:nvSpPr>
              <p:spPr bwMode="auto">
                <a:xfrm>
                  <a:off x="0" y="4500"/>
                  <a:ext cx="1267" cy="442"/>
                </a:xfrm>
                <a:prstGeom prst="rect">
                  <a:avLst/>
                </a:prstGeom>
                <a:solidFill>
                  <a:srgbClr val="FFFFEF"/>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1800"/>
                </a:p>
              </p:txBody>
            </p:sp>
            <p:grpSp>
              <p:nvGrpSpPr>
                <p:cNvPr id="15396" name="Group 97"/>
                <p:cNvGrpSpPr>
                  <a:grpSpLocks/>
                </p:cNvGrpSpPr>
                <p:nvPr/>
              </p:nvGrpSpPr>
              <p:grpSpPr bwMode="auto">
                <a:xfrm>
                  <a:off x="0" y="4500"/>
                  <a:ext cx="1267" cy="442"/>
                  <a:chOff x="0" y="4500"/>
                  <a:chExt cx="1267" cy="442"/>
                </a:xfrm>
              </p:grpSpPr>
              <p:sp>
                <p:nvSpPr>
                  <p:cNvPr id="15397" name="Rectangle 21"/>
                  <p:cNvSpPr>
                    <a:spLocks noChangeArrowheads="1"/>
                  </p:cNvSpPr>
                  <p:nvPr/>
                </p:nvSpPr>
                <p:spPr bwMode="auto">
                  <a:xfrm>
                    <a:off x="43" y="4500"/>
                    <a:ext cx="1181" cy="442"/>
                  </a:xfrm>
                  <a:prstGeom prst="rect">
                    <a:avLst/>
                  </a:prstGeom>
                  <a:solidFill>
                    <a:srgbClr val="FFFFEF"/>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n-US" sz="1600" b="1">
                        <a:solidFill>
                          <a:srgbClr val="000000"/>
                        </a:solidFill>
                        <a:cs typeface="Times New Roman" panose="02020603050405020304" pitchFamily="18" charset="0"/>
                      </a:rPr>
                      <a:t>Continuity </a:t>
                    </a:r>
                    <a:endParaRPr lang="en-US" altLang="en-US" sz="1200">
                      <a:solidFill>
                        <a:srgbClr val="000000"/>
                      </a:solidFill>
                      <a:cs typeface="Times New Roman" panose="02020603050405020304" pitchFamily="18" charset="0"/>
                    </a:endParaRPr>
                  </a:p>
                  <a:p>
                    <a:pPr eaLnBrk="1" hangingPunct="1">
                      <a:spcBef>
                        <a:spcPct val="0"/>
                      </a:spcBef>
                      <a:buClrTx/>
                      <a:buSzTx/>
                      <a:buFontTx/>
                      <a:buNone/>
                    </a:pPr>
                    <a:endParaRPr lang="en-US" altLang="en-US" sz="2400">
                      <a:solidFill>
                        <a:srgbClr val="000000"/>
                      </a:solidFill>
                    </a:endParaRPr>
                  </a:p>
                </p:txBody>
              </p:sp>
              <p:sp>
                <p:nvSpPr>
                  <p:cNvPr id="15398" name="Rectangle 96"/>
                  <p:cNvSpPr>
                    <a:spLocks noChangeArrowheads="1"/>
                  </p:cNvSpPr>
                  <p:nvPr/>
                </p:nvSpPr>
                <p:spPr bwMode="auto">
                  <a:xfrm>
                    <a:off x="0" y="4500"/>
                    <a:ext cx="1267" cy="442"/>
                  </a:xfrm>
                  <a:prstGeom prst="rect">
                    <a:avLst/>
                  </a:prstGeom>
                  <a:noFill/>
                  <a:ln w="7" cap="sq">
                    <a:solidFill>
                      <a:srgbClr val="A0A0A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1800"/>
                  </a:p>
                </p:txBody>
              </p:sp>
            </p:grpSp>
          </p:grpSp>
          <p:grpSp>
            <p:nvGrpSpPr>
              <p:cNvPr id="15385" name="Group 103"/>
              <p:cNvGrpSpPr>
                <a:grpSpLocks/>
              </p:cNvGrpSpPr>
              <p:nvPr/>
            </p:nvGrpSpPr>
            <p:grpSpPr bwMode="auto">
              <a:xfrm>
                <a:off x="1267" y="4500"/>
                <a:ext cx="1267" cy="442"/>
                <a:chOff x="1267" y="4500"/>
                <a:chExt cx="1267" cy="442"/>
              </a:xfrm>
            </p:grpSpPr>
            <p:sp>
              <p:nvSpPr>
                <p:cNvPr id="15391" name="Rectangle 102"/>
                <p:cNvSpPr>
                  <a:spLocks noChangeArrowheads="1"/>
                </p:cNvSpPr>
                <p:nvPr/>
              </p:nvSpPr>
              <p:spPr bwMode="auto">
                <a:xfrm>
                  <a:off x="1267" y="4500"/>
                  <a:ext cx="1267" cy="442"/>
                </a:xfrm>
                <a:prstGeom prst="rect">
                  <a:avLst/>
                </a:prstGeom>
                <a:solidFill>
                  <a:srgbClr val="FFFFEF"/>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1800"/>
                </a:p>
              </p:txBody>
            </p:sp>
            <p:grpSp>
              <p:nvGrpSpPr>
                <p:cNvPr id="15392" name="Group 101"/>
                <p:cNvGrpSpPr>
                  <a:grpSpLocks/>
                </p:cNvGrpSpPr>
                <p:nvPr/>
              </p:nvGrpSpPr>
              <p:grpSpPr bwMode="auto">
                <a:xfrm>
                  <a:off x="1267" y="4500"/>
                  <a:ext cx="1267" cy="442"/>
                  <a:chOff x="1267" y="4500"/>
                  <a:chExt cx="1267" cy="442"/>
                </a:xfrm>
              </p:grpSpPr>
              <p:sp>
                <p:nvSpPr>
                  <p:cNvPr id="15393" name="Rectangle 22"/>
                  <p:cNvSpPr>
                    <a:spLocks noChangeArrowheads="1"/>
                  </p:cNvSpPr>
                  <p:nvPr/>
                </p:nvSpPr>
                <p:spPr bwMode="auto">
                  <a:xfrm>
                    <a:off x="1310" y="4500"/>
                    <a:ext cx="1181" cy="442"/>
                  </a:xfrm>
                  <a:prstGeom prst="rect">
                    <a:avLst/>
                  </a:prstGeom>
                  <a:solidFill>
                    <a:srgbClr val="FFFFEF"/>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n-US" sz="1600">
                        <a:solidFill>
                          <a:srgbClr val="000000"/>
                        </a:solidFill>
                        <a:cs typeface="Times New Roman" panose="02020603050405020304" pitchFamily="18" charset="0"/>
                      </a:rPr>
                      <a:t>Perpetual life</a:t>
                    </a:r>
                    <a:endParaRPr lang="en-US" altLang="en-US" sz="1200">
                      <a:solidFill>
                        <a:srgbClr val="000000"/>
                      </a:solidFill>
                      <a:cs typeface="Times New Roman" panose="02020603050405020304" pitchFamily="18" charset="0"/>
                    </a:endParaRPr>
                  </a:p>
                  <a:p>
                    <a:pPr eaLnBrk="1" hangingPunct="1">
                      <a:spcBef>
                        <a:spcPct val="0"/>
                      </a:spcBef>
                      <a:buClrTx/>
                      <a:buSzTx/>
                      <a:buFontTx/>
                      <a:buNone/>
                    </a:pPr>
                    <a:endParaRPr lang="en-US" altLang="en-US" sz="2400">
                      <a:solidFill>
                        <a:srgbClr val="000000"/>
                      </a:solidFill>
                    </a:endParaRPr>
                  </a:p>
                </p:txBody>
              </p:sp>
              <p:sp>
                <p:nvSpPr>
                  <p:cNvPr id="15394" name="Rectangle 100"/>
                  <p:cNvSpPr>
                    <a:spLocks noChangeArrowheads="1"/>
                  </p:cNvSpPr>
                  <p:nvPr/>
                </p:nvSpPr>
                <p:spPr bwMode="auto">
                  <a:xfrm>
                    <a:off x="1267" y="4500"/>
                    <a:ext cx="1267" cy="442"/>
                  </a:xfrm>
                  <a:prstGeom prst="rect">
                    <a:avLst/>
                  </a:prstGeom>
                  <a:noFill/>
                  <a:ln w="7" cap="sq">
                    <a:solidFill>
                      <a:srgbClr val="A0A0A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1800"/>
                  </a:p>
                </p:txBody>
              </p:sp>
            </p:grpSp>
          </p:grpSp>
          <p:grpSp>
            <p:nvGrpSpPr>
              <p:cNvPr id="15386" name="Group 107"/>
              <p:cNvGrpSpPr>
                <a:grpSpLocks/>
              </p:cNvGrpSpPr>
              <p:nvPr/>
            </p:nvGrpSpPr>
            <p:grpSpPr bwMode="auto">
              <a:xfrm>
                <a:off x="2534" y="4500"/>
                <a:ext cx="1267" cy="442"/>
                <a:chOff x="2534" y="4500"/>
                <a:chExt cx="1267" cy="442"/>
              </a:xfrm>
            </p:grpSpPr>
            <p:sp>
              <p:nvSpPr>
                <p:cNvPr id="15387" name="Rectangle 106"/>
                <p:cNvSpPr>
                  <a:spLocks noChangeArrowheads="1"/>
                </p:cNvSpPr>
                <p:nvPr/>
              </p:nvSpPr>
              <p:spPr bwMode="auto">
                <a:xfrm>
                  <a:off x="2534" y="4500"/>
                  <a:ext cx="1267" cy="442"/>
                </a:xfrm>
                <a:prstGeom prst="rect">
                  <a:avLst/>
                </a:prstGeom>
                <a:solidFill>
                  <a:srgbClr val="FFFFEF"/>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1800"/>
                </a:p>
              </p:txBody>
            </p:sp>
            <p:grpSp>
              <p:nvGrpSpPr>
                <p:cNvPr id="15388" name="Group 105"/>
                <p:cNvGrpSpPr>
                  <a:grpSpLocks/>
                </p:cNvGrpSpPr>
                <p:nvPr/>
              </p:nvGrpSpPr>
              <p:grpSpPr bwMode="auto">
                <a:xfrm>
                  <a:off x="2534" y="4500"/>
                  <a:ext cx="1267" cy="442"/>
                  <a:chOff x="2534" y="4500"/>
                  <a:chExt cx="1267" cy="442"/>
                </a:xfrm>
              </p:grpSpPr>
              <p:sp>
                <p:nvSpPr>
                  <p:cNvPr id="15389" name="Rectangle 23"/>
                  <p:cNvSpPr>
                    <a:spLocks noChangeArrowheads="1"/>
                  </p:cNvSpPr>
                  <p:nvPr/>
                </p:nvSpPr>
                <p:spPr bwMode="auto">
                  <a:xfrm>
                    <a:off x="2577" y="4500"/>
                    <a:ext cx="1181" cy="442"/>
                  </a:xfrm>
                  <a:prstGeom prst="rect">
                    <a:avLst/>
                  </a:prstGeom>
                  <a:solidFill>
                    <a:srgbClr val="FFFFEF"/>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n-US" sz="1600">
                        <a:solidFill>
                          <a:srgbClr val="000000"/>
                        </a:solidFill>
                        <a:cs typeface="Times New Roman" panose="02020603050405020304" pitchFamily="18" charset="0"/>
                      </a:rPr>
                      <a:t>Limited life</a:t>
                    </a:r>
                    <a:endParaRPr lang="en-US" altLang="en-US" sz="1200">
                      <a:solidFill>
                        <a:srgbClr val="000000"/>
                      </a:solidFill>
                      <a:cs typeface="Times New Roman" panose="02020603050405020304" pitchFamily="18" charset="0"/>
                    </a:endParaRPr>
                  </a:p>
                  <a:p>
                    <a:pPr eaLnBrk="1" hangingPunct="1">
                      <a:spcBef>
                        <a:spcPct val="0"/>
                      </a:spcBef>
                      <a:buClrTx/>
                      <a:buSzTx/>
                      <a:buFontTx/>
                      <a:buNone/>
                    </a:pPr>
                    <a:endParaRPr lang="en-US" altLang="en-US" sz="2400">
                      <a:solidFill>
                        <a:srgbClr val="000000"/>
                      </a:solidFill>
                    </a:endParaRPr>
                  </a:p>
                </p:txBody>
              </p:sp>
              <p:sp>
                <p:nvSpPr>
                  <p:cNvPr id="15390" name="Rectangle 104"/>
                  <p:cNvSpPr>
                    <a:spLocks noChangeArrowheads="1"/>
                  </p:cNvSpPr>
                  <p:nvPr/>
                </p:nvSpPr>
                <p:spPr bwMode="auto">
                  <a:xfrm>
                    <a:off x="2534" y="4500"/>
                    <a:ext cx="1267" cy="442"/>
                  </a:xfrm>
                  <a:prstGeom prst="rect">
                    <a:avLst/>
                  </a:prstGeom>
                  <a:noFill/>
                  <a:ln w="7" cap="sq">
                    <a:solidFill>
                      <a:srgbClr val="A0A0A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1800"/>
                  </a:p>
                </p:txBody>
              </p:sp>
            </p:grpSp>
          </p:grpSp>
        </p:grpSp>
        <p:sp>
          <p:nvSpPr>
            <p:cNvPr id="15365" name="Rectangle 109"/>
            <p:cNvSpPr>
              <a:spLocks noChangeArrowheads="1"/>
            </p:cNvSpPr>
            <p:nvPr/>
          </p:nvSpPr>
          <p:spPr bwMode="auto">
            <a:xfrm>
              <a:off x="-3" y="-3"/>
              <a:ext cx="3807" cy="4948"/>
            </a:xfrm>
            <a:prstGeom prst="rect">
              <a:avLst/>
            </a:prstGeom>
            <a:noFill/>
            <a:ln w="9525" cap="sq">
              <a:solidFill>
                <a:srgbClr val="A0A0A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1800"/>
            </a:p>
          </p:txBody>
        </p:sp>
      </p:grpSp>
      <p:sp>
        <p:nvSpPr>
          <p:cNvPr id="2" name="Slide Number Placeholder 1">
            <a:extLst>
              <a:ext uri="{FF2B5EF4-FFF2-40B4-BE49-F238E27FC236}">
                <a16:creationId xmlns:a16="http://schemas.microsoft.com/office/drawing/2014/main" id="{24E4EF45-FEDC-33C9-25CF-F586C9F56E73}"/>
              </a:ext>
            </a:extLst>
          </p:cNvPr>
          <p:cNvSpPr>
            <a:spLocks noGrp="1"/>
          </p:cNvSpPr>
          <p:nvPr>
            <p:ph type="sldNum" sz="quarter" idx="12"/>
          </p:nvPr>
        </p:nvSpPr>
        <p:spPr/>
        <p:txBody>
          <a:bodyPr/>
          <a:lstStyle/>
          <a:p>
            <a:pPr>
              <a:defRPr/>
            </a:pPr>
            <a:fld id="{5E9C1AAF-33A1-44EA-A195-86E2A66B03D7}" type="slidenum">
              <a:rPr lang="en-US" smtClean="0"/>
              <a:pPr>
                <a:defRPr/>
              </a:pPr>
              <a:t>12</a:t>
            </a:fld>
            <a:endParaRPr lang="en-US"/>
          </a:p>
        </p:txBody>
      </p: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4"/>
          <p:cNvSpPr>
            <a:spLocks noGrp="1" noChangeArrowheads="1"/>
          </p:cNvSpPr>
          <p:nvPr>
            <p:ph type="title"/>
          </p:nvPr>
        </p:nvSpPr>
        <p:spPr/>
        <p:txBody>
          <a:bodyPr/>
          <a:lstStyle/>
          <a:p>
            <a:r>
              <a:rPr lang="en-US" altLang="en-US"/>
              <a:t>Becoming a Corporation</a:t>
            </a:r>
          </a:p>
        </p:txBody>
      </p:sp>
      <p:sp>
        <p:nvSpPr>
          <p:cNvPr id="17412" name="Rectangle 5"/>
          <p:cNvSpPr>
            <a:spLocks noGrp="1" noChangeArrowheads="1"/>
          </p:cNvSpPr>
          <p:nvPr>
            <p:ph idx="1"/>
          </p:nvPr>
        </p:nvSpPr>
        <p:spPr/>
        <p:txBody>
          <a:bodyPr/>
          <a:lstStyle/>
          <a:p>
            <a:r>
              <a:rPr lang="en-US" altLang="en-US" dirty="0"/>
              <a:t>A corporation is a legal entity separate from its owners &amp; managers.</a:t>
            </a:r>
          </a:p>
          <a:p>
            <a:r>
              <a:rPr lang="en-US" altLang="en-US" dirty="0"/>
              <a:t>File papers of incorporation with state.</a:t>
            </a:r>
          </a:p>
          <a:p>
            <a:pPr lvl="1"/>
            <a:r>
              <a:rPr lang="en-US" altLang="en-US" dirty="0"/>
              <a:t>Charter</a:t>
            </a:r>
          </a:p>
          <a:p>
            <a:pPr lvl="1"/>
            <a:r>
              <a:rPr lang="en-US" altLang="en-US" dirty="0"/>
              <a:t>Bylaws</a:t>
            </a:r>
          </a:p>
        </p:txBody>
      </p:sp>
      <p:sp>
        <p:nvSpPr>
          <p:cNvPr id="2" name="Slide Number Placeholder 1">
            <a:extLst>
              <a:ext uri="{FF2B5EF4-FFF2-40B4-BE49-F238E27FC236}">
                <a16:creationId xmlns:a16="http://schemas.microsoft.com/office/drawing/2014/main" id="{B6D2D4EE-4871-ABC6-1B4B-65B377F37083}"/>
              </a:ext>
            </a:extLst>
          </p:cNvPr>
          <p:cNvSpPr>
            <a:spLocks noGrp="1"/>
          </p:cNvSpPr>
          <p:nvPr>
            <p:ph type="sldNum" sz="quarter" idx="12"/>
          </p:nvPr>
        </p:nvSpPr>
        <p:spPr/>
        <p:txBody>
          <a:bodyPr/>
          <a:lstStyle/>
          <a:p>
            <a:pPr>
              <a:defRPr/>
            </a:pPr>
            <a:fld id="{4E499BF4-6C8D-417D-B206-0AF20A1CAAC7}" type="slidenum">
              <a:rPr lang="en-US" smtClean="0"/>
              <a:pPr>
                <a:defRPr/>
              </a:pPr>
              <a:t>13</a:t>
            </a:fld>
            <a:endParaRPr lang="en-US"/>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7" name="Rectangle 9"/>
          <p:cNvSpPr>
            <a:spLocks noGrp="1" noChangeArrowheads="1"/>
          </p:cNvSpPr>
          <p:nvPr>
            <p:ph type="title"/>
          </p:nvPr>
        </p:nvSpPr>
        <p:spPr/>
        <p:txBody>
          <a:bodyPr>
            <a:normAutofit fontScale="90000"/>
          </a:bodyPr>
          <a:lstStyle/>
          <a:p>
            <a:r>
              <a:rPr lang="en-US" altLang="en-US" dirty="0"/>
              <a:t>Advantages &amp; Disadvantages of a Corporation</a:t>
            </a:r>
          </a:p>
        </p:txBody>
      </p:sp>
      <p:sp>
        <p:nvSpPr>
          <p:cNvPr id="18438" name="Rectangle 10"/>
          <p:cNvSpPr>
            <a:spLocks noGrp="1" noChangeArrowheads="1"/>
          </p:cNvSpPr>
          <p:nvPr>
            <p:ph idx="1"/>
          </p:nvPr>
        </p:nvSpPr>
        <p:spPr/>
        <p:txBody>
          <a:bodyPr>
            <a:normAutofit lnSpcReduction="10000"/>
          </a:bodyPr>
          <a:lstStyle/>
          <a:p>
            <a:r>
              <a:rPr lang="en-US" altLang="en-US" dirty="0"/>
              <a:t>Advantages:</a:t>
            </a:r>
          </a:p>
          <a:p>
            <a:pPr lvl="1"/>
            <a:r>
              <a:rPr lang="en-US" altLang="en-US" dirty="0"/>
              <a:t>Unlimited life</a:t>
            </a:r>
          </a:p>
          <a:p>
            <a:pPr lvl="1"/>
            <a:r>
              <a:rPr lang="en-US" altLang="en-US" dirty="0"/>
              <a:t>Easy transfer of ownership</a:t>
            </a:r>
          </a:p>
          <a:p>
            <a:pPr lvl="1"/>
            <a:r>
              <a:rPr lang="en-US" altLang="en-US" dirty="0"/>
              <a:t>Limited liability</a:t>
            </a:r>
          </a:p>
          <a:p>
            <a:pPr lvl="1"/>
            <a:r>
              <a:rPr lang="en-US" altLang="en-US" dirty="0"/>
              <a:t>Ease of raising capital</a:t>
            </a:r>
          </a:p>
          <a:p>
            <a:r>
              <a:rPr lang="en-US" altLang="en-US" dirty="0"/>
              <a:t>Disadvantages:</a:t>
            </a:r>
          </a:p>
          <a:p>
            <a:pPr lvl="1"/>
            <a:r>
              <a:rPr lang="en-US" altLang="en-US" dirty="0"/>
              <a:t>Double taxation</a:t>
            </a:r>
          </a:p>
          <a:p>
            <a:pPr lvl="1"/>
            <a:r>
              <a:rPr lang="en-US" altLang="en-US" dirty="0"/>
              <a:t>Cost of set-up &amp; report filing</a:t>
            </a:r>
          </a:p>
        </p:txBody>
      </p:sp>
      <p:sp>
        <p:nvSpPr>
          <p:cNvPr id="18435"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8436"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2" name="Slide Number Placeholder 1">
            <a:extLst>
              <a:ext uri="{FF2B5EF4-FFF2-40B4-BE49-F238E27FC236}">
                <a16:creationId xmlns:a16="http://schemas.microsoft.com/office/drawing/2014/main" id="{2E934721-4863-6D2B-6A7D-D944F445D4B7}"/>
              </a:ext>
            </a:extLst>
          </p:cNvPr>
          <p:cNvSpPr>
            <a:spLocks noGrp="1"/>
          </p:cNvSpPr>
          <p:nvPr>
            <p:ph type="sldNum" sz="quarter" idx="12"/>
          </p:nvPr>
        </p:nvSpPr>
        <p:spPr/>
        <p:txBody>
          <a:bodyPr/>
          <a:lstStyle/>
          <a:p>
            <a:pPr>
              <a:defRPr/>
            </a:pPr>
            <a:fld id="{4E499BF4-6C8D-417D-B206-0AF20A1CAAC7}" type="slidenum">
              <a:rPr lang="en-US" smtClean="0"/>
              <a:pPr>
                <a:defRPr/>
              </a:pPr>
              <a:t>14</a:t>
            </a:fld>
            <a:endParaRPr lang="en-US"/>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4"/>
          <p:cNvSpPr>
            <a:spLocks noGrp="1" noChangeArrowheads="1"/>
          </p:cNvSpPr>
          <p:nvPr>
            <p:ph type="title"/>
          </p:nvPr>
        </p:nvSpPr>
        <p:spPr/>
        <p:txBody>
          <a:bodyPr>
            <a:normAutofit fontScale="90000"/>
          </a:bodyPr>
          <a:lstStyle/>
          <a:p>
            <a:r>
              <a:rPr lang="en-US" altLang="en-US" dirty="0"/>
              <a:t>Becoming a Public Corporation &amp; Growing Afterwards</a:t>
            </a:r>
          </a:p>
        </p:txBody>
      </p:sp>
      <p:sp>
        <p:nvSpPr>
          <p:cNvPr id="21508" name="Rectangle 5"/>
          <p:cNvSpPr>
            <a:spLocks noGrp="1" noChangeArrowheads="1"/>
          </p:cNvSpPr>
          <p:nvPr>
            <p:ph idx="1"/>
          </p:nvPr>
        </p:nvSpPr>
        <p:spPr/>
        <p:txBody>
          <a:bodyPr/>
          <a:lstStyle/>
          <a:p>
            <a:r>
              <a:rPr lang="en-US" altLang="en-US" dirty="0"/>
              <a:t>Initial Public Offering (IPO) of Stock</a:t>
            </a:r>
          </a:p>
          <a:p>
            <a:pPr lvl="1"/>
            <a:r>
              <a:rPr lang="en-US" altLang="en-US" dirty="0"/>
              <a:t>Raises cash</a:t>
            </a:r>
          </a:p>
          <a:p>
            <a:pPr lvl="1"/>
            <a:r>
              <a:rPr lang="en-US" altLang="en-US" dirty="0"/>
              <a:t>Allows founders &amp; pre-IPO investors to “harvest” some of their wealth</a:t>
            </a:r>
          </a:p>
          <a:p>
            <a:r>
              <a:rPr lang="en-US" altLang="en-US" dirty="0"/>
              <a:t>Subsequent issues of debt &amp; equity</a:t>
            </a:r>
          </a:p>
          <a:p>
            <a:endParaRPr lang="en-US" altLang="en-US" dirty="0"/>
          </a:p>
        </p:txBody>
      </p:sp>
      <p:sp>
        <p:nvSpPr>
          <p:cNvPr id="2" name="Slide Number Placeholder 1">
            <a:extLst>
              <a:ext uri="{FF2B5EF4-FFF2-40B4-BE49-F238E27FC236}">
                <a16:creationId xmlns:a16="http://schemas.microsoft.com/office/drawing/2014/main" id="{CC410626-6E46-F4F4-0954-5DF9B1E24A01}"/>
              </a:ext>
            </a:extLst>
          </p:cNvPr>
          <p:cNvSpPr>
            <a:spLocks noGrp="1"/>
          </p:cNvSpPr>
          <p:nvPr>
            <p:ph type="sldNum" sz="quarter" idx="12"/>
          </p:nvPr>
        </p:nvSpPr>
        <p:spPr/>
        <p:txBody>
          <a:bodyPr/>
          <a:lstStyle/>
          <a:p>
            <a:pPr>
              <a:defRPr/>
            </a:pPr>
            <a:fld id="{4E499BF4-6C8D-417D-B206-0AF20A1CAAC7}" type="slidenum">
              <a:rPr lang="en-US" smtClean="0"/>
              <a:pPr>
                <a:defRPr/>
              </a:pPr>
              <a:t>15</a:t>
            </a:fld>
            <a:endParaRPr lang="en-US"/>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4"/>
          <p:cNvSpPr>
            <a:spLocks noGrp="1" noChangeArrowheads="1"/>
          </p:cNvSpPr>
          <p:nvPr>
            <p:ph type="title"/>
          </p:nvPr>
        </p:nvSpPr>
        <p:spPr/>
        <p:txBody>
          <a:bodyPr>
            <a:normAutofit fontScale="90000"/>
          </a:bodyPr>
          <a:lstStyle/>
          <a:p>
            <a:r>
              <a:rPr lang="en-US" altLang="en-US" dirty="0"/>
              <a:t>Agency Problems &amp; Corporate Governance</a:t>
            </a:r>
          </a:p>
        </p:txBody>
      </p:sp>
      <p:sp>
        <p:nvSpPr>
          <p:cNvPr id="22532" name="Rectangle 5"/>
          <p:cNvSpPr>
            <a:spLocks noGrp="1" noChangeArrowheads="1"/>
          </p:cNvSpPr>
          <p:nvPr>
            <p:ph idx="1"/>
          </p:nvPr>
        </p:nvSpPr>
        <p:spPr>
          <a:xfrm>
            <a:off x="457200" y="1825625"/>
            <a:ext cx="8458200" cy="4351338"/>
          </a:xfrm>
        </p:spPr>
        <p:txBody>
          <a:bodyPr>
            <a:normAutofit fontScale="92500" lnSpcReduction="10000"/>
          </a:bodyPr>
          <a:lstStyle/>
          <a:p>
            <a:r>
              <a:rPr lang="en-US" altLang="en-US" dirty="0"/>
              <a:t>Agency problem: managers may act in their own interests &amp; not on behalf of owners (stockholders)</a:t>
            </a:r>
          </a:p>
          <a:p>
            <a:r>
              <a:rPr lang="en-US" altLang="en-US" dirty="0"/>
              <a:t>Corporate governance  is set of rules that control a company’s behavior towards its directors, managers, employees, shareholders, creditors, customers, competitors, &amp; community. </a:t>
            </a:r>
          </a:p>
          <a:p>
            <a:r>
              <a:rPr lang="en-US" altLang="en-US" dirty="0"/>
              <a:t>Corporate governance can help control agency problems.</a:t>
            </a:r>
          </a:p>
          <a:p>
            <a:endParaRPr lang="en-US" altLang="en-US" dirty="0"/>
          </a:p>
        </p:txBody>
      </p:sp>
      <p:sp>
        <p:nvSpPr>
          <p:cNvPr id="2" name="Slide Number Placeholder 1">
            <a:extLst>
              <a:ext uri="{FF2B5EF4-FFF2-40B4-BE49-F238E27FC236}">
                <a16:creationId xmlns:a16="http://schemas.microsoft.com/office/drawing/2014/main" id="{74815770-981D-F51D-041E-E17C76ADD206}"/>
              </a:ext>
            </a:extLst>
          </p:cNvPr>
          <p:cNvSpPr>
            <a:spLocks noGrp="1"/>
          </p:cNvSpPr>
          <p:nvPr>
            <p:ph type="sldNum" sz="quarter" idx="12"/>
          </p:nvPr>
        </p:nvSpPr>
        <p:spPr/>
        <p:txBody>
          <a:bodyPr/>
          <a:lstStyle/>
          <a:p>
            <a:pPr>
              <a:defRPr/>
            </a:pPr>
            <a:fld id="{4E499BF4-6C8D-417D-B206-0AF20A1CAAC7}" type="slidenum">
              <a:rPr lang="en-US" smtClean="0"/>
              <a:pPr>
                <a:defRPr/>
              </a:pPr>
              <a:t>16</a:t>
            </a:fld>
            <a:endParaRPr lang="en-US"/>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8286750" cy="1032090"/>
          </a:xfrm>
        </p:spPr>
        <p:txBody>
          <a:bodyPr>
            <a:normAutofit/>
          </a:bodyPr>
          <a:lstStyle/>
          <a:p>
            <a:r>
              <a:rPr lang="en-US" dirty="0"/>
              <a:t>Corporate Organization: Finance Function </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1600200"/>
            <a:ext cx="5429250" cy="5015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Slide Number Placeholder 2">
            <a:extLst>
              <a:ext uri="{FF2B5EF4-FFF2-40B4-BE49-F238E27FC236}">
                <a16:creationId xmlns:a16="http://schemas.microsoft.com/office/drawing/2014/main" id="{2E93C952-F2BA-3B00-73C5-9DF7138F82E8}"/>
              </a:ext>
            </a:extLst>
          </p:cNvPr>
          <p:cNvSpPr>
            <a:spLocks noGrp="1"/>
          </p:cNvSpPr>
          <p:nvPr>
            <p:ph type="sldNum" sz="quarter" idx="12"/>
          </p:nvPr>
        </p:nvSpPr>
        <p:spPr/>
        <p:txBody>
          <a:bodyPr/>
          <a:lstStyle/>
          <a:p>
            <a:pPr>
              <a:defRPr/>
            </a:pPr>
            <a:fld id="{4E499BF4-6C8D-417D-B206-0AF20A1CAAC7}" type="slidenum">
              <a:rPr lang="en-US" smtClean="0"/>
              <a:pPr>
                <a:defRPr/>
              </a:pPr>
              <a:t>17</a:t>
            </a:fld>
            <a:endParaRPr lang="en-US"/>
          </a:p>
        </p:txBody>
      </p:sp>
    </p:spTree>
    <p:extLst>
      <p:ext uri="{BB962C8B-B14F-4D97-AF65-F5344CB8AC3E}">
        <p14:creationId xmlns:p14="http://schemas.microsoft.com/office/powerpoint/2010/main" val="1471992021"/>
      </p:ext>
    </p:extLst>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7" name="Rectangle 9"/>
          <p:cNvSpPr>
            <a:spLocks noGrp="1" noChangeArrowheads="1"/>
          </p:cNvSpPr>
          <p:nvPr>
            <p:ph type="title"/>
          </p:nvPr>
        </p:nvSpPr>
        <p:spPr/>
        <p:txBody>
          <a:bodyPr>
            <a:normAutofit fontScale="90000"/>
          </a:bodyPr>
          <a:lstStyle/>
          <a:p>
            <a:r>
              <a:rPr lang="en-US" altLang="en-US"/>
              <a:t>What should be management’s primary objective?</a:t>
            </a:r>
          </a:p>
        </p:txBody>
      </p:sp>
      <p:sp>
        <p:nvSpPr>
          <p:cNvPr id="23558" name="Rectangle 10"/>
          <p:cNvSpPr>
            <a:spLocks noGrp="1" noChangeArrowheads="1"/>
          </p:cNvSpPr>
          <p:nvPr>
            <p:ph idx="1"/>
          </p:nvPr>
        </p:nvSpPr>
        <p:spPr/>
        <p:txBody>
          <a:bodyPr/>
          <a:lstStyle/>
          <a:p>
            <a:r>
              <a:rPr lang="en-US" altLang="en-US" dirty="0"/>
              <a:t>Primary objective should be shareholder wealth maximization, which translates to maximizing fundamental stock price.</a:t>
            </a:r>
          </a:p>
          <a:p>
            <a:pPr lvl="1"/>
            <a:r>
              <a:rPr lang="en-US" altLang="en-US" dirty="0"/>
              <a:t>Should firms behave ethically?  YES!</a:t>
            </a:r>
          </a:p>
          <a:p>
            <a:pPr lvl="1"/>
            <a:r>
              <a:rPr lang="en-US" altLang="en-US" dirty="0"/>
              <a:t>Do firms have any responsibilities to society at large? YES!  Shareholders are also members of society.</a:t>
            </a:r>
          </a:p>
        </p:txBody>
      </p:sp>
      <p:sp>
        <p:nvSpPr>
          <p:cNvPr id="23555"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23556"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2" name="Slide Number Placeholder 1">
            <a:extLst>
              <a:ext uri="{FF2B5EF4-FFF2-40B4-BE49-F238E27FC236}">
                <a16:creationId xmlns:a16="http://schemas.microsoft.com/office/drawing/2014/main" id="{3722B658-B509-7509-BE4A-B4A892755E49}"/>
              </a:ext>
            </a:extLst>
          </p:cNvPr>
          <p:cNvSpPr>
            <a:spLocks noGrp="1"/>
          </p:cNvSpPr>
          <p:nvPr>
            <p:ph type="sldNum" sz="quarter" idx="12"/>
          </p:nvPr>
        </p:nvSpPr>
        <p:spPr/>
        <p:txBody>
          <a:bodyPr/>
          <a:lstStyle/>
          <a:p>
            <a:pPr>
              <a:defRPr/>
            </a:pPr>
            <a:fld id="{4E499BF4-6C8D-417D-B206-0AF20A1CAAC7}" type="slidenum">
              <a:rPr lang="en-US" smtClean="0"/>
              <a:pPr>
                <a:defRPr/>
              </a:pPr>
              <a:t>18</a:t>
            </a:fld>
            <a:endParaRPr lang="en-US"/>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1" name="Rectangle 10"/>
          <p:cNvSpPr>
            <a:spLocks noGrp="1" noChangeArrowheads="1"/>
          </p:cNvSpPr>
          <p:nvPr>
            <p:ph type="title"/>
          </p:nvPr>
        </p:nvSpPr>
        <p:spPr/>
        <p:txBody>
          <a:bodyPr>
            <a:normAutofit fontScale="90000"/>
          </a:bodyPr>
          <a:lstStyle/>
          <a:p>
            <a:r>
              <a:rPr lang="en-US" altLang="en-US" dirty="0"/>
              <a:t>Is maximizing stock price good for society, employees, &amp; customers?</a:t>
            </a:r>
          </a:p>
        </p:txBody>
      </p:sp>
      <p:sp>
        <p:nvSpPr>
          <p:cNvPr id="24582" name="Rectangle 11"/>
          <p:cNvSpPr>
            <a:spLocks noGrp="1" noChangeArrowheads="1"/>
          </p:cNvSpPr>
          <p:nvPr>
            <p:ph idx="1"/>
          </p:nvPr>
        </p:nvSpPr>
        <p:spPr>
          <a:xfrm>
            <a:off x="304800" y="1825625"/>
            <a:ext cx="8382000" cy="4351338"/>
          </a:xfrm>
        </p:spPr>
        <p:txBody>
          <a:bodyPr/>
          <a:lstStyle/>
          <a:p>
            <a:r>
              <a:rPr lang="en-US" altLang="en-US" dirty="0"/>
              <a:t>Employment growth is higher in firms that try to maximize stock price. On average, employment goes up in: </a:t>
            </a:r>
          </a:p>
          <a:p>
            <a:pPr lvl="1"/>
            <a:r>
              <a:rPr lang="en-US" altLang="en-US" dirty="0"/>
              <a:t>Firms that make managers into owners (such as LBO firms)</a:t>
            </a:r>
          </a:p>
          <a:p>
            <a:pPr lvl="1"/>
            <a:r>
              <a:rPr lang="en-US" altLang="en-US" dirty="0"/>
              <a:t>firms that were owned by government but have been sold to private investors</a:t>
            </a:r>
          </a:p>
        </p:txBody>
      </p:sp>
      <p:sp>
        <p:nvSpPr>
          <p:cNvPr id="24579"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24580"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2" name="Slide Number Placeholder 1">
            <a:extLst>
              <a:ext uri="{FF2B5EF4-FFF2-40B4-BE49-F238E27FC236}">
                <a16:creationId xmlns:a16="http://schemas.microsoft.com/office/drawing/2014/main" id="{98FF4305-BF6F-AF4A-4469-B8C7BEC35EB1}"/>
              </a:ext>
            </a:extLst>
          </p:cNvPr>
          <p:cNvSpPr>
            <a:spLocks noGrp="1"/>
          </p:cNvSpPr>
          <p:nvPr>
            <p:ph type="sldNum" sz="quarter" idx="12"/>
          </p:nvPr>
        </p:nvSpPr>
        <p:spPr/>
        <p:txBody>
          <a:bodyPr/>
          <a:lstStyle/>
          <a:p>
            <a:pPr>
              <a:defRPr/>
            </a:pPr>
            <a:fld id="{4E499BF4-6C8D-417D-B206-0AF20A1CAAC7}" type="slidenum">
              <a:rPr lang="en-US" smtClean="0"/>
              <a:pPr>
                <a:defRPr/>
              </a:pPr>
              <a:t>19</a:t>
            </a:fld>
            <a:endParaRPr lang="en-US"/>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5" name="Rectangle 5"/>
          <p:cNvSpPr>
            <a:spLocks noGrp="1" noChangeArrowheads="1"/>
          </p:cNvSpPr>
          <p:nvPr>
            <p:ph type="title"/>
          </p:nvPr>
        </p:nvSpPr>
        <p:spPr>
          <a:xfrm>
            <a:off x="628650" y="365127"/>
            <a:ext cx="7886700" cy="1032090"/>
          </a:xfrm>
        </p:spPr>
        <p:txBody>
          <a:bodyPr>
            <a:noAutofit/>
          </a:bodyPr>
          <a:lstStyle/>
          <a:p>
            <a:r>
              <a:rPr lang="en-US" altLang="en-US" sz="3600" dirty="0"/>
              <a:t>Is maximizing stock price good? (Cont’d)</a:t>
            </a:r>
          </a:p>
        </p:txBody>
      </p:sp>
      <p:sp>
        <p:nvSpPr>
          <p:cNvPr id="25606" name="Rectangle 4"/>
          <p:cNvSpPr>
            <a:spLocks noGrp="1" noChangeArrowheads="1"/>
          </p:cNvSpPr>
          <p:nvPr>
            <p:ph idx="1"/>
          </p:nvPr>
        </p:nvSpPr>
        <p:spPr>
          <a:xfrm>
            <a:off x="228600" y="1825625"/>
            <a:ext cx="8534400" cy="4351338"/>
          </a:xfrm>
        </p:spPr>
        <p:txBody>
          <a:bodyPr>
            <a:normAutofit/>
          </a:bodyPr>
          <a:lstStyle/>
          <a:p>
            <a:r>
              <a:rPr lang="en-US" altLang="en-US" dirty="0"/>
              <a:t>Consumer welfare is higher in capitalist free market economies than in communist or socialist economies.</a:t>
            </a:r>
          </a:p>
          <a:p>
            <a:r>
              <a:rPr lang="en-US" altLang="en-US" dirty="0"/>
              <a:t>Fortune lists most admired firms.  In addition to high stock returns, these firms have:</a:t>
            </a:r>
          </a:p>
          <a:p>
            <a:pPr lvl="1"/>
            <a:r>
              <a:rPr lang="en-US" altLang="en-US" dirty="0"/>
              <a:t>High quality rating from customers’ view</a:t>
            </a:r>
          </a:p>
          <a:p>
            <a:pPr lvl="1"/>
            <a:r>
              <a:rPr lang="en-US" altLang="en-US" dirty="0"/>
              <a:t>Satisfied employees who like working there</a:t>
            </a:r>
          </a:p>
          <a:p>
            <a:pPr lvl="1"/>
            <a:endParaRPr lang="en-US" altLang="en-US" dirty="0"/>
          </a:p>
        </p:txBody>
      </p:sp>
      <p:sp>
        <p:nvSpPr>
          <p:cNvPr id="25603"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25604"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2" name="Slide Number Placeholder 1">
            <a:extLst>
              <a:ext uri="{FF2B5EF4-FFF2-40B4-BE49-F238E27FC236}">
                <a16:creationId xmlns:a16="http://schemas.microsoft.com/office/drawing/2014/main" id="{CFC1E689-B958-C413-CAAE-8350763C1535}"/>
              </a:ext>
            </a:extLst>
          </p:cNvPr>
          <p:cNvSpPr>
            <a:spLocks noGrp="1"/>
          </p:cNvSpPr>
          <p:nvPr>
            <p:ph type="sldNum" sz="quarter" idx="12"/>
          </p:nvPr>
        </p:nvSpPr>
        <p:spPr/>
        <p:txBody>
          <a:bodyPr/>
          <a:lstStyle/>
          <a:p>
            <a:pPr>
              <a:defRPr/>
            </a:pPr>
            <a:fld id="{4E499BF4-6C8D-417D-B206-0AF20A1CAAC7}" type="slidenum">
              <a:rPr lang="en-US" smtClean="0"/>
              <a:pPr>
                <a:defRPr/>
              </a:pPr>
              <a:t>20</a:t>
            </a:fld>
            <a:endParaRPr lang="en-US"/>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9" name="Rectangle 9"/>
          <p:cNvSpPr>
            <a:spLocks noGrp="1" noChangeArrowheads="1"/>
          </p:cNvSpPr>
          <p:nvPr>
            <p:ph type="title"/>
          </p:nvPr>
        </p:nvSpPr>
        <p:spPr/>
        <p:txBody>
          <a:bodyPr>
            <a:normAutofit fontScale="90000"/>
          </a:bodyPr>
          <a:lstStyle/>
          <a:p>
            <a:r>
              <a:rPr lang="en-US" altLang="en-US"/>
              <a:t>What three aspects of cash flows affect an investment’s value?</a:t>
            </a:r>
          </a:p>
        </p:txBody>
      </p:sp>
      <p:sp>
        <p:nvSpPr>
          <p:cNvPr id="26630" name="Rectangle 10"/>
          <p:cNvSpPr>
            <a:spLocks noGrp="1" noChangeArrowheads="1"/>
          </p:cNvSpPr>
          <p:nvPr>
            <p:ph idx="1"/>
          </p:nvPr>
        </p:nvSpPr>
        <p:spPr/>
        <p:txBody>
          <a:bodyPr/>
          <a:lstStyle/>
          <a:p>
            <a:r>
              <a:rPr lang="en-US" altLang="en-US" dirty="0"/>
              <a:t>Amount of expected cash flows (bigger is better)</a:t>
            </a:r>
          </a:p>
          <a:p>
            <a:r>
              <a:rPr lang="en-US" altLang="en-US" dirty="0"/>
              <a:t>Timing of cash flow stream (sooner is better)</a:t>
            </a:r>
          </a:p>
          <a:p>
            <a:r>
              <a:rPr lang="en-US" altLang="en-US" dirty="0"/>
              <a:t>Risk of cash flows (less risk is better)</a:t>
            </a:r>
          </a:p>
        </p:txBody>
      </p:sp>
      <p:sp>
        <p:nvSpPr>
          <p:cNvPr id="26627"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26628"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2" name="Slide Number Placeholder 1">
            <a:extLst>
              <a:ext uri="{FF2B5EF4-FFF2-40B4-BE49-F238E27FC236}">
                <a16:creationId xmlns:a16="http://schemas.microsoft.com/office/drawing/2014/main" id="{7A6BAC30-86B4-B11A-E65D-A7204CFD2BDB}"/>
              </a:ext>
            </a:extLst>
          </p:cNvPr>
          <p:cNvSpPr>
            <a:spLocks noGrp="1"/>
          </p:cNvSpPr>
          <p:nvPr>
            <p:ph type="sldNum" sz="quarter" idx="12"/>
          </p:nvPr>
        </p:nvSpPr>
        <p:spPr/>
        <p:txBody>
          <a:bodyPr/>
          <a:lstStyle/>
          <a:p>
            <a:pPr>
              <a:defRPr/>
            </a:pPr>
            <a:fld id="{4E499BF4-6C8D-417D-B206-0AF20A1CAAC7}" type="slidenum">
              <a:rPr lang="en-US" smtClean="0"/>
              <a:pPr>
                <a:defRPr/>
              </a:pPr>
              <a:t>21</a:t>
            </a:fld>
            <a:endParaRPr lang="en-US"/>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4"/>
          <p:cNvSpPr>
            <a:spLocks noGrp="1" noChangeArrowheads="1"/>
          </p:cNvSpPr>
          <p:nvPr>
            <p:ph type="title"/>
          </p:nvPr>
        </p:nvSpPr>
        <p:spPr/>
        <p:txBody>
          <a:bodyPr/>
          <a:lstStyle/>
          <a:p>
            <a:r>
              <a:rPr lang="en-US" altLang="en-US"/>
              <a:t>Free Cash Flows (FCF)</a:t>
            </a:r>
          </a:p>
        </p:txBody>
      </p:sp>
      <p:sp>
        <p:nvSpPr>
          <p:cNvPr id="27652" name="Rectangle 5"/>
          <p:cNvSpPr>
            <a:spLocks noGrp="1" noChangeArrowheads="1"/>
          </p:cNvSpPr>
          <p:nvPr>
            <p:ph idx="1"/>
          </p:nvPr>
        </p:nvSpPr>
        <p:spPr>
          <a:xfrm>
            <a:off x="381000" y="1825625"/>
            <a:ext cx="8305800" cy="4351338"/>
          </a:xfrm>
        </p:spPr>
        <p:txBody>
          <a:bodyPr/>
          <a:lstStyle/>
          <a:p>
            <a:r>
              <a:rPr lang="en-US" altLang="en-US" dirty="0"/>
              <a:t>Free cash flows are cash flows that are available (or free) for distribution to all investors (stockholders &amp; creditors).</a:t>
            </a:r>
          </a:p>
          <a:p>
            <a:r>
              <a:rPr lang="en-US" altLang="en-US" dirty="0"/>
              <a:t>FCF = sales revenues - operating costs - operating taxes - required investments in operating capital. </a:t>
            </a:r>
          </a:p>
          <a:p>
            <a:endParaRPr lang="en-US" altLang="en-US" dirty="0"/>
          </a:p>
        </p:txBody>
      </p:sp>
      <p:sp>
        <p:nvSpPr>
          <p:cNvPr id="2" name="Slide Number Placeholder 1">
            <a:extLst>
              <a:ext uri="{FF2B5EF4-FFF2-40B4-BE49-F238E27FC236}">
                <a16:creationId xmlns:a16="http://schemas.microsoft.com/office/drawing/2014/main" id="{08805DC2-A845-1107-9D91-68F5E3D053F1}"/>
              </a:ext>
            </a:extLst>
          </p:cNvPr>
          <p:cNvSpPr>
            <a:spLocks noGrp="1"/>
          </p:cNvSpPr>
          <p:nvPr>
            <p:ph type="sldNum" sz="quarter" idx="12"/>
          </p:nvPr>
        </p:nvSpPr>
        <p:spPr/>
        <p:txBody>
          <a:bodyPr/>
          <a:lstStyle/>
          <a:p>
            <a:pPr>
              <a:defRPr/>
            </a:pPr>
            <a:fld id="{4E499BF4-6C8D-417D-B206-0AF20A1CAAC7}" type="slidenum">
              <a:rPr lang="en-US" smtClean="0"/>
              <a:pPr>
                <a:defRPr/>
              </a:pPr>
              <a:t>22</a:t>
            </a:fld>
            <a:endParaRPr lang="en-US"/>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4"/>
          <p:cNvSpPr>
            <a:spLocks noGrp="1" noChangeArrowheads="1"/>
          </p:cNvSpPr>
          <p:nvPr>
            <p:ph type="title"/>
          </p:nvPr>
        </p:nvSpPr>
        <p:spPr/>
        <p:txBody>
          <a:bodyPr>
            <a:normAutofit fontScale="90000"/>
          </a:bodyPr>
          <a:lstStyle/>
          <a:p>
            <a:r>
              <a:rPr lang="en-US" altLang="en-US" dirty="0"/>
              <a:t>What is weighted average cost of capital (WACC)?  </a:t>
            </a:r>
          </a:p>
        </p:txBody>
      </p:sp>
      <p:sp>
        <p:nvSpPr>
          <p:cNvPr id="28676" name="Rectangle 5"/>
          <p:cNvSpPr>
            <a:spLocks noGrp="1" noChangeArrowheads="1"/>
          </p:cNvSpPr>
          <p:nvPr>
            <p:ph idx="1"/>
          </p:nvPr>
        </p:nvSpPr>
        <p:spPr/>
        <p:txBody>
          <a:bodyPr>
            <a:normAutofit lnSpcReduction="10000"/>
          </a:bodyPr>
          <a:lstStyle/>
          <a:p>
            <a:r>
              <a:rPr lang="en-US" altLang="en-US" dirty="0"/>
              <a:t>WACC is average rate of return required by all of company’s investors.</a:t>
            </a:r>
          </a:p>
          <a:p>
            <a:r>
              <a:rPr lang="en-US" altLang="en-US" dirty="0"/>
              <a:t>WACC is affected by:</a:t>
            </a:r>
          </a:p>
          <a:p>
            <a:pPr lvl="1"/>
            <a:r>
              <a:rPr lang="en-US" altLang="en-US" dirty="0"/>
              <a:t>Capital structure (firm’s relative use of debt &amp; equity as sources of financing)</a:t>
            </a:r>
          </a:p>
          <a:p>
            <a:pPr lvl="1"/>
            <a:r>
              <a:rPr lang="en-US" altLang="en-US" dirty="0"/>
              <a:t>Interest rates</a:t>
            </a:r>
          </a:p>
          <a:p>
            <a:pPr lvl="1"/>
            <a:r>
              <a:rPr lang="en-US" altLang="en-US" dirty="0"/>
              <a:t>Risk of firm</a:t>
            </a:r>
          </a:p>
          <a:p>
            <a:pPr lvl="1"/>
            <a:r>
              <a:rPr lang="en-US" altLang="en-US" dirty="0"/>
              <a:t>Investors’ overall attitude toward risk</a:t>
            </a:r>
          </a:p>
        </p:txBody>
      </p:sp>
      <p:sp>
        <p:nvSpPr>
          <p:cNvPr id="2" name="Slide Number Placeholder 1">
            <a:extLst>
              <a:ext uri="{FF2B5EF4-FFF2-40B4-BE49-F238E27FC236}">
                <a16:creationId xmlns:a16="http://schemas.microsoft.com/office/drawing/2014/main" id="{0746C9F0-9650-94F0-23A9-40539A828A42}"/>
              </a:ext>
            </a:extLst>
          </p:cNvPr>
          <p:cNvSpPr>
            <a:spLocks noGrp="1"/>
          </p:cNvSpPr>
          <p:nvPr>
            <p:ph type="sldNum" sz="quarter" idx="12"/>
          </p:nvPr>
        </p:nvSpPr>
        <p:spPr/>
        <p:txBody>
          <a:bodyPr/>
          <a:lstStyle/>
          <a:p>
            <a:pPr>
              <a:defRPr/>
            </a:pPr>
            <a:fld id="{4E499BF4-6C8D-417D-B206-0AF20A1CAAC7}" type="slidenum">
              <a:rPr lang="en-US" smtClean="0"/>
              <a:pPr>
                <a:defRPr/>
              </a:pPr>
              <a:t>23</a:t>
            </a:fld>
            <a:endParaRPr lang="en-US"/>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noChangeArrowheads="1"/>
          </p:cNvSpPr>
          <p:nvPr>
            <p:ph type="title"/>
          </p:nvPr>
        </p:nvSpPr>
        <p:spPr/>
        <p:txBody>
          <a:bodyPr>
            <a:normAutofit fontScale="90000"/>
          </a:bodyPr>
          <a:lstStyle/>
          <a:p>
            <a:r>
              <a:rPr lang="en-US" altLang="en-US"/>
              <a:t>What determines a firm’s fundamental, or intrinsic, value?</a:t>
            </a:r>
          </a:p>
        </p:txBody>
      </p:sp>
      <p:sp>
        <p:nvSpPr>
          <p:cNvPr id="29700" name="Rectangle 3"/>
          <p:cNvSpPr>
            <a:spLocks noGrp="1" noChangeArrowheads="1"/>
          </p:cNvSpPr>
          <p:nvPr>
            <p:ph idx="1"/>
          </p:nvPr>
        </p:nvSpPr>
        <p:spPr/>
        <p:txBody>
          <a:bodyPr/>
          <a:lstStyle/>
          <a:p>
            <a:r>
              <a:rPr lang="en-US" altLang="en-US" dirty="0"/>
              <a:t>Intrinsic value is sum of all future expected free cash flows when converted into today’s dollars:</a:t>
            </a:r>
          </a:p>
          <a:p>
            <a:pPr lvl="1"/>
            <a:r>
              <a:rPr lang="en-US" altLang="en-US" dirty="0"/>
              <a:t>= NPV of firm’s discounted FCFs</a:t>
            </a:r>
          </a:p>
        </p:txBody>
      </p:sp>
      <p:sp>
        <p:nvSpPr>
          <p:cNvPr id="2" name="Slide Number Placeholder 1">
            <a:extLst>
              <a:ext uri="{FF2B5EF4-FFF2-40B4-BE49-F238E27FC236}">
                <a16:creationId xmlns:a16="http://schemas.microsoft.com/office/drawing/2014/main" id="{ADB095D9-1F6E-DEE1-10B3-210AB989B050}"/>
              </a:ext>
            </a:extLst>
          </p:cNvPr>
          <p:cNvSpPr>
            <a:spLocks noGrp="1"/>
          </p:cNvSpPr>
          <p:nvPr>
            <p:ph type="sldNum" sz="quarter" idx="12"/>
          </p:nvPr>
        </p:nvSpPr>
        <p:spPr/>
        <p:txBody>
          <a:bodyPr/>
          <a:lstStyle/>
          <a:p>
            <a:pPr>
              <a:defRPr/>
            </a:pPr>
            <a:fld id="{4E499BF4-6C8D-417D-B206-0AF20A1CAAC7}" type="slidenum">
              <a:rPr lang="en-US" smtClean="0"/>
              <a:pPr>
                <a:defRPr/>
              </a:pPr>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3" name="Rectangle 4"/>
          <p:cNvSpPr>
            <a:spLocks noGrp="1" noChangeArrowheads="1"/>
          </p:cNvSpPr>
          <p:nvPr>
            <p:ph type="title"/>
          </p:nvPr>
        </p:nvSpPr>
        <p:spPr/>
        <p:txBody>
          <a:bodyPr>
            <a:normAutofit fontScale="90000"/>
          </a:bodyPr>
          <a:lstStyle/>
          <a:p>
            <a:r>
              <a:rPr lang="en-US" altLang="en-US" dirty="0"/>
              <a:t>Who are providers (savers) &amp; users (borrowers) of capital?</a:t>
            </a:r>
          </a:p>
        </p:txBody>
      </p:sp>
      <p:sp>
        <p:nvSpPr>
          <p:cNvPr id="32774" name="Rectangle 5"/>
          <p:cNvSpPr>
            <a:spLocks noGrp="1" noChangeArrowheads="1"/>
          </p:cNvSpPr>
          <p:nvPr>
            <p:ph idx="1"/>
          </p:nvPr>
        </p:nvSpPr>
        <p:spPr/>
        <p:txBody>
          <a:bodyPr>
            <a:normAutofit fontScale="92500" lnSpcReduction="10000"/>
          </a:bodyPr>
          <a:lstStyle/>
          <a:p>
            <a:r>
              <a:rPr lang="en-US" altLang="en-US"/>
              <a:t>Households: Net savers</a:t>
            </a:r>
          </a:p>
          <a:p>
            <a:r>
              <a:rPr lang="en-US" altLang="en-US"/>
              <a:t>Non-financial corporations: Net users (borrowers)</a:t>
            </a:r>
          </a:p>
          <a:p>
            <a:r>
              <a:rPr lang="en-US" altLang="en-US"/>
              <a:t>Governments: U.S. governments are net borrowers, some foreign governments are net savers</a:t>
            </a:r>
          </a:p>
          <a:p>
            <a:r>
              <a:rPr lang="en-US" altLang="en-US"/>
              <a:t>Financial corporations: Slightly net borrowers, but almost breakeven</a:t>
            </a:r>
          </a:p>
        </p:txBody>
      </p:sp>
      <p:sp>
        <p:nvSpPr>
          <p:cNvPr id="32771"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32772"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2" name="Slide Number Placeholder 1">
            <a:extLst>
              <a:ext uri="{FF2B5EF4-FFF2-40B4-BE49-F238E27FC236}">
                <a16:creationId xmlns:a16="http://schemas.microsoft.com/office/drawing/2014/main" id="{0993B33B-BF8D-AA1B-01CA-CA3A4422C26B}"/>
              </a:ext>
            </a:extLst>
          </p:cNvPr>
          <p:cNvSpPr>
            <a:spLocks noGrp="1"/>
          </p:cNvSpPr>
          <p:nvPr>
            <p:ph type="sldNum" sz="quarter" idx="12"/>
          </p:nvPr>
        </p:nvSpPr>
        <p:spPr/>
        <p:txBody>
          <a:bodyPr/>
          <a:lstStyle/>
          <a:p>
            <a:pPr>
              <a:defRPr/>
            </a:pPr>
            <a:fld id="{4E499BF4-6C8D-417D-B206-0AF20A1CAAC7}" type="slidenum">
              <a:rPr lang="en-US" smtClean="0"/>
              <a:pPr>
                <a:defRPr/>
              </a:pPr>
              <a:t>25</a:t>
            </a:fld>
            <a:endParaRPr lang="en-US"/>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0B712-A374-49CD-AC5C-7DC10F0069C6}"/>
              </a:ext>
            </a:extLst>
          </p:cNvPr>
          <p:cNvSpPr>
            <a:spLocks noGrp="1"/>
          </p:cNvSpPr>
          <p:nvPr>
            <p:ph type="title"/>
          </p:nvPr>
        </p:nvSpPr>
        <p:spPr/>
        <p:txBody>
          <a:bodyPr/>
          <a:lstStyle/>
          <a:p>
            <a:r>
              <a:rPr lang="en-US" dirty="0"/>
              <a:t>The Capital Allocation Process</a:t>
            </a:r>
            <a:endParaRPr lang="en-IN" dirty="0"/>
          </a:p>
        </p:txBody>
      </p:sp>
      <p:pic>
        <p:nvPicPr>
          <p:cNvPr id="5" name="Picture 2" descr="A flowchart shows the process of Capital Allocation in three panels. Panel A: Direct Transfer, Panel B: Through Investment Bank, and Panel C: Through Financial Intermediary. In Panel A: Direct Transfer, the providers supply dollars to business, which in return gives business securities to providers. In Panel B: Through Investment Bank, providers supply dollars to an investment bank that supply dollars to business. The business, in return, gives business securities to the investment bank, and the investment bank gives business securities to the providers. In Panel C: Through Financial Intermediary, Providers supply dollars to a financial intermediary, and the financial intermediary supplies dollars to business. The business gives business securities to the financial intermediary, and the intermediary gives securities to the providers.">
            <a:extLst>
              <a:ext uri="{FF2B5EF4-FFF2-40B4-BE49-F238E27FC236}">
                <a16:creationId xmlns:a16="http://schemas.microsoft.com/office/drawing/2014/main" id="{C7352045-A3A0-4B16-B201-4CCCAC0541F8}"/>
              </a:ext>
            </a:extLst>
          </p:cNvPr>
          <p:cNvPicPr>
            <a:picLocks noGrp="1" noChangeAspect="1"/>
          </p:cNvPicPr>
          <p:nvPr>
            <p:ph idx="1"/>
          </p:nvPr>
        </p:nvPicPr>
        <p:blipFill>
          <a:blip r:embed="rId2"/>
          <a:stretch>
            <a:fillRect/>
          </a:stretch>
        </p:blipFill>
        <p:spPr>
          <a:xfrm>
            <a:off x="1348391" y="2141246"/>
            <a:ext cx="6447218" cy="3291840"/>
          </a:xfrm>
        </p:spPr>
      </p:pic>
      <p:sp>
        <p:nvSpPr>
          <p:cNvPr id="3" name="Slide Number Placeholder 2">
            <a:extLst>
              <a:ext uri="{FF2B5EF4-FFF2-40B4-BE49-F238E27FC236}">
                <a16:creationId xmlns:a16="http://schemas.microsoft.com/office/drawing/2014/main" id="{6F0AF95A-F2B9-1946-D71D-404698F288FA}"/>
              </a:ext>
            </a:extLst>
          </p:cNvPr>
          <p:cNvSpPr>
            <a:spLocks noGrp="1"/>
          </p:cNvSpPr>
          <p:nvPr>
            <p:ph type="sldNum" sz="quarter" idx="12"/>
          </p:nvPr>
        </p:nvSpPr>
        <p:spPr/>
        <p:txBody>
          <a:bodyPr/>
          <a:lstStyle/>
          <a:p>
            <a:pPr>
              <a:defRPr/>
            </a:pPr>
            <a:fld id="{4E499BF4-6C8D-417D-B206-0AF20A1CAAC7}" type="slidenum">
              <a:rPr lang="en-US" smtClean="0"/>
              <a:pPr>
                <a:defRPr/>
              </a:pPr>
              <a:t>26</a:t>
            </a:fld>
            <a:endParaRPr lang="en-US"/>
          </a:p>
        </p:txBody>
      </p:sp>
    </p:spTree>
    <p:extLst>
      <p:ext uri="{BB962C8B-B14F-4D97-AF65-F5344CB8AC3E}">
        <p14:creationId xmlns:p14="http://schemas.microsoft.com/office/powerpoint/2010/main" val="24435809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7" name="Rectangle 4"/>
          <p:cNvSpPr>
            <a:spLocks noGrp="1" noChangeArrowheads="1"/>
          </p:cNvSpPr>
          <p:nvPr>
            <p:ph type="title"/>
          </p:nvPr>
        </p:nvSpPr>
        <p:spPr/>
        <p:txBody>
          <a:bodyPr>
            <a:normAutofit fontScale="90000"/>
          </a:bodyPr>
          <a:lstStyle/>
          <a:p>
            <a:r>
              <a:rPr lang="en-US" altLang="en-US"/>
              <a:t>Transfer of Capital from Savers to Borrowers</a:t>
            </a:r>
          </a:p>
        </p:txBody>
      </p:sp>
      <p:sp>
        <p:nvSpPr>
          <p:cNvPr id="33798" name="Rectangle 5"/>
          <p:cNvSpPr>
            <a:spLocks noGrp="1" noChangeArrowheads="1"/>
          </p:cNvSpPr>
          <p:nvPr>
            <p:ph idx="1"/>
          </p:nvPr>
        </p:nvSpPr>
        <p:spPr/>
        <p:txBody>
          <a:bodyPr>
            <a:normAutofit fontScale="77500" lnSpcReduction="20000"/>
          </a:bodyPr>
          <a:lstStyle/>
          <a:p>
            <a:r>
              <a:rPr lang="en-US" altLang="en-US" dirty="0"/>
              <a:t>Direct transfer</a:t>
            </a:r>
          </a:p>
          <a:p>
            <a:pPr lvl="1"/>
            <a:r>
              <a:rPr lang="en-US" altLang="en-US" dirty="0"/>
              <a:t>Example: A corporation issues commercial paper to an insurance company. </a:t>
            </a:r>
          </a:p>
          <a:p>
            <a:r>
              <a:rPr lang="en-US" altLang="en-US" dirty="0"/>
              <a:t>Through an investment banking house</a:t>
            </a:r>
          </a:p>
          <a:p>
            <a:pPr lvl="1"/>
            <a:r>
              <a:rPr lang="en-US" altLang="en-US" dirty="0"/>
              <a:t> Example: In an IPO, seasoned equity offering, or debt placement, company sells security to investment banking house, which then sells security to investor.</a:t>
            </a:r>
          </a:p>
          <a:p>
            <a:r>
              <a:rPr lang="en-US" altLang="en-US" dirty="0"/>
              <a:t>Through a financial intermediary</a:t>
            </a:r>
          </a:p>
          <a:p>
            <a:pPr lvl="1"/>
            <a:r>
              <a:rPr lang="en-US" altLang="en-US" dirty="0"/>
              <a:t>Example: An individual deposits money in bank &amp; gets certificate of deposit, bank makes commercial loan to a company (bank gets note from company).</a:t>
            </a:r>
          </a:p>
        </p:txBody>
      </p:sp>
      <p:sp>
        <p:nvSpPr>
          <p:cNvPr id="33795"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33796"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2" name="Slide Number Placeholder 1">
            <a:extLst>
              <a:ext uri="{FF2B5EF4-FFF2-40B4-BE49-F238E27FC236}">
                <a16:creationId xmlns:a16="http://schemas.microsoft.com/office/drawing/2014/main" id="{06D6A7CD-C87C-40C7-941E-6C08A65E40D7}"/>
              </a:ext>
            </a:extLst>
          </p:cNvPr>
          <p:cNvSpPr>
            <a:spLocks noGrp="1"/>
          </p:cNvSpPr>
          <p:nvPr>
            <p:ph type="sldNum" sz="quarter" idx="12"/>
          </p:nvPr>
        </p:nvSpPr>
        <p:spPr/>
        <p:txBody>
          <a:bodyPr/>
          <a:lstStyle/>
          <a:p>
            <a:pPr>
              <a:defRPr/>
            </a:pPr>
            <a:fld id="{4E499BF4-6C8D-417D-B206-0AF20A1CAAC7}" type="slidenum">
              <a:rPr lang="en-US" smtClean="0"/>
              <a:pPr>
                <a:defRPr/>
              </a:pPr>
              <a:t>27</a:t>
            </a:fld>
            <a:endParaRPr lang="en-US"/>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1" name="Rectangle 4"/>
          <p:cNvSpPr>
            <a:spLocks noGrp="1" noChangeArrowheads="1"/>
          </p:cNvSpPr>
          <p:nvPr>
            <p:ph type="title"/>
          </p:nvPr>
        </p:nvSpPr>
        <p:spPr/>
        <p:txBody>
          <a:bodyPr/>
          <a:lstStyle/>
          <a:p>
            <a:r>
              <a:rPr lang="en-US" altLang="en-US" dirty="0"/>
              <a:t>Cost of Money (or required return)</a:t>
            </a:r>
          </a:p>
        </p:txBody>
      </p:sp>
      <p:sp>
        <p:nvSpPr>
          <p:cNvPr id="34822" name="Rectangle 5"/>
          <p:cNvSpPr>
            <a:spLocks noGrp="1" noChangeArrowheads="1"/>
          </p:cNvSpPr>
          <p:nvPr>
            <p:ph idx="1"/>
          </p:nvPr>
        </p:nvSpPr>
        <p:spPr>
          <a:xfrm>
            <a:off x="304800" y="1524000"/>
            <a:ext cx="8534400" cy="4876800"/>
          </a:xfrm>
        </p:spPr>
        <p:txBody>
          <a:bodyPr/>
          <a:lstStyle/>
          <a:p>
            <a:r>
              <a:rPr lang="en-US" altLang="en-US" dirty="0"/>
              <a:t>What do we call price, or cost, of :</a:t>
            </a:r>
          </a:p>
          <a:p>
            <a:pPr lvl="1"/>
            <a:r>
              <a:rPr lang="en-US" altLang="en-US" dirty="0"/>
              <a:t>Debt capital?</a:t>
            </a:r>
          </a:p>
          <a:p>
            <a:pPr lvl="2"/>
            <a:r>
              <a:rPr lang="en-US" altLang="en-US" dirty="0"/>
              <a:t>= interest rate</a:t>
            </a:r>
          </a:p>
          <a:p>
            <a:pPr lvl="1"/>
            <a:r>
              <a:rPr lang="en-US" altLang="en-US" dirty="0"/>
              <a:t>Equity capital?</a:t>
            </a:r>
          </a:p>
          <a:p>
            <a:pPr lvl="2"/>
            <a:r>
              <a:rPr lang="en-US" altLang="en-US" dirty="0"/>
              <a:t>Cost of equity = Required return on equity= dividend yield + capital gain</a:t>
            </a:r>
          </a:p>
        </p:txBody>
      </p:sp>
      <p:sp>
        <p:nvSpPr>
          <p:cNvPr id="34819"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34820"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2" name="Slide Number Placeholder 1">
            <a:extLst>
              <a:ext uri="{FF2B5EF4-FFF2-40B4-BE49-F238E27FC236}">
                <a16:creationId xmlns:a16="http://schemas.microsoft.com/office/drawing/2014/main" id="{BA439FB4-4FE0-204B-03E5-F8FE82F597CB}"/>
              </a:ext>
            </a:extLst>
          </p:cNvPr>
          <p:cNvSpPr>
            <a:spLocks noGrp="1"/>
          </p:cNvSpPr>
          <p:nvPr>
            <p:ph type="sldNum" sz="quarter" idx="12"/>
          </p:nvPr>
        </p:nvSpPr>
        <p:spPr/>
        <p:txBody>
          <a:bodyPr/>
          <a:lstStyle/>
          <a:p>
            <a:pPr>
              <a:defRPr/>
            </a:pPr>
            <a:fld id="{4E499BF4-6C8D-417D-B206-0AF20A1CAAC7}" type="slidenum">
              <a:rPr lang="en-US" smtClean="0"/>
              <a:pPr>
                <a:defRPr/>
              </a:pPr>
              <a:t>28</a:t>
            </a:fld>
            <a:endParaRPr lang="en-US"/>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5" name="Rectangle 4"/>
          <p:cNvSpPr>
            <a:spLocks noGrp="1" noChangeArrowheads="1"/>
          </p:cNvSpPr>
          <p:nvPr>
            <p:ph type="title"/>
          </p:nvPr>
        </p:nvSpPr>
        <p:spPr/>
        <p:txBody>
          <a:bodyPr>
            <a:normAutofit/>
          </a:bodyPr>
          <a:lstStyle/>
          <a:p>
            <a:r>
              <a:rPr lang="en-US" altLang="en-US" dirty="0"/>
              <a:t>What four factors affect cost of money?</a:t>
            </a:r>
          </a:p>
        </p:txBody>
      </p:sp>
      <p:sp>
        <p:nvSpPr>
          <p:cNvPr id="35846" name="Rectangle 5"/>
          <p:cNvSpPr>
            <a:spLocks noGrp="1" noChangeArrowheads="1"/>
          </p:cNvSpPr>
          <p:nvPr>
            <p:ph idx="1"/>
          </p:nvPr>
        </p:nvSpPr>
        <p:spPr/>
        <p:txBody>
          <a:bodyPr/>
          <a:lstStyle/>
          <a:p>
            <a:r>
              <a:rPr lang="en-US" altLang="en-US"/>
              <a:t>Production opportunities</a:t>
            </a:r>
          </a:p>
          <a:p>
            <a:r>
              <a:rPr lang="en-US" altLang="en-US"/>
              <a:t>Time preferences for consumption</a:t>
            </a:r>
          </a:p>
          <a:p>
            <a:r>
              <a:rPr lang="en-US" altLang="en-US"/>
              <a:t>Risk</a:t>
            </a:r>
          </a:p>
          <a:p>
            <a:r>
              <a:rPr lang="en-US" altLang="en-US"/>
              <a:t>Expected inflation</a:t>
            </a:r>
          </a:p>
        </p:txBody>
      </p:sp>
      <p:sp>
        <p:nvSpPr>
          <p:cNvPr id="35843"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35844"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2" name="Slide Number Placeholder 1">
            <a:extLst>
              <a:ext uri="{FF2B5EF4-FFF2-40B4-BE49-F238E27FC236}">
                <a16:creationId xmlns:a16="http://schemas.microsoft.com/office/drawing/2014/main" id="{05EA291B-0E57-4B7E-5F95-15A75830695D}"/>
              </a:ext>
            </a:extLst>
          </p:cNvPr>
          <p:cNvSpPr>
            <a:spLocks noGrp="1"/>
          </p:cNvSpPr>
          <p:nvPr>
            <p:ph type="sldNum" sz="quarter" idx="12"/>
          </p:nvPr>
        </p:nvSpPr>
        <p:spPr/>
        <p:txBody>
          <a:bodyPr/>
          <a:lstStyle/>
          <a:p>
            <a:pPr>
              <a:defRPr/>
            </a:pPr>
            <a:fld id="{4E499BF4-6C8D-417D-B206-0AF20A1CAAC7}" type="slidenum">
              <a:rPr lang="en-US" smtClean="0"/>
              <a:pPr>
                <a:defRPr/>
              </a:pPr>
              <a:t>29</a:t>
            </a:fld>
            <a:endParaRPr lang="en-US"/>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9" name="Rectangle 4"/>
          <p:cNvSpPr>
            <a:spLocks noGrp="1" noChangeArrowheads="1"/>
          </p:cNvSpPr>
          <p:nvPr>
            <p:ph type="title"/>
          </p:nvPr>
        </p:nvSpPr>
        <p:spPr/>
        <p:txBody>
          <a:bodyPr>
            <a:normAutofit fontScale="90000"/>
          </a:bodyPr>
          <a:lstStyle/>
          <a:p>
            <a:r>
              <a:rPr lang="en-US" altLang="en-US" dirty="0"/>
              <a:t>What economic conditions affect cost of money?</a:t>
            </a:r>
          </a:p>
        </p:txBody>
      </p:sp>
      <p:sp>
        <p:nvSpPr>
          <p:cNvPr id="36870" name="Rectangle 5"/>
          <p:cNvSpPr>
            <a:spLocks noGrp="1" noChangeArrowheads="1"/>
          </p:cNvSpPr>
          <p:nvPr>
            <p:ph idx="1"/>
          </p:nvPr>
        </p:nvSpPr>
        <p:spPr/>
        <p:txBody>
          <a:bodyPr/>
          <a:lstStyle/>
          <a:p>
            <a:r>
              <a:rPr lang="en-US" altLang="en-US"/>
              <a:t>Federal Reserve policies</a:t>
            </a:r>
          </a:p>
          <a:p>
            <a:r>
              <a:rPr lang="en-US" altLang="en-US"/>
              <a:t>Budget deficits/surpluses</a:t>
            </a:r>
          </a:p>
          <a:p>
            <a:r>
              <a:rPr lang="en-US" altLang="en-US"/>
              <a:t>Level of business activity (recession or boom)</a:t>
            </a:r>
          </a:p>
          <a:p>
            <a:r>
              <a:rPr lang="en-US" altLang="en-US"/>
              <a:t>International trade deficits/surpluses</a:t>
            </a:r>
          </a:p>
        </p:txBody>
      </p:sp>
      <p:sp>
        <p:nvSpPr>
          <p:cNvPr id="36867"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36868"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2" name="Slide Number Placeholder 1">
            <a:extLst>
              <a:ext uri="{FF2B5EF4-FFF2-40B4-BE49-F238E27FC236}">
                <a16:creationId xmlns:a16="http://schemas.microsoft.com/office/drawing/2014/main" id="{4356DE25-C406-1315-1CFF-479FB9B034A2}"/>
              </a:ext>
            </a:extLst>
          </p:cNvPr>
          <p:cNvSpPr>
            <a:spLocks noGrp="1"/>
          </p:cNvSpPr>
          <p:nvPr>
            <p:ph type="sldNum" sz="quarter" idx="12"/>
          </p:nvPr>
        </p:nvSpPr>
        <p:spPr/>
        <p:txBody>
          <a:bodyPr/>
          <a:lstStyle/>
          <a:p>
            <a:pPr>
              <a:defRPr/>
            </a:pPr>
            <a:fld id="{4E499BF4-6C8D-417D-B206-0AF20A1CAAC7}" type="slidenum">
              <a:rPr lang="en-US" smtClean="0"/>
              <a:pPr>
                <a:defRPr/>
              </a:pPr>
              <a:t>30</a:t>
            </a:fld>
            <a:endParaRPr lang="en-US"/>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3" name="Rectangle 4"/>
          <p:cNvSpPr>
            <a:spLocks noGrp="1" noChangeArrowheads="1"/>
          </p:cNvSpPr>
          <p:nvPr>
            <p:ph type="title"/>
          </p:nvPr>
        </p:nvSpPr>
        <p:spPr/>
        <p:txBody>
          <a:bodyPr>
            <a:normAutofit fontScale="90000"/>
          </a:bodyPr>
          <a:lstStyle/>
          <a:p>
            <a:r>
              <a:rPr lang="en-US" altLang="en-US" dirty="0"/>
              <a:t>What international conditions affect cost of money?</a:t>
            </a:r>
          </a:p>
        </p:txBody>
      </p:sp>
      <p:sp>
        <p:nvSpPr>
          <p:cNvPr id="37894" name="Rectangle 5"/>
          <p:cNvSpPr>
            <a:spLocks noGrp="1" noChangeArrowheads="1"/>
          </p:cNvSpPr>
          <p:nvPr>
            <p:ph idx="1"/>
          </p:nvPr>
        </p:nvSpPr>
        <p:spPr/>
        <p:txBody>
          <a:bodyPr>
            <a:normAutofit fontScale="92500"/>
          </a:bodyPr>
          <a:lstStyle/>
          <a:p>
            <a:r>
              <a:rPr lang="en-US" altLang="en-US" dirty="0"/>
              <a:t>Country risk. Depends on country’s economic, political, &amp; social environment.</a:t>
            </a:r>
          </a:p>
          <a:p>
            <a:r>
              <a:rPr lang="en-US" altLang="en-US" dirty="0"/>
              <a:t>Exchange rate risk.  Non-dollar denominated investment’s value depends on what happens to exchange rate.  Exchange rates affected by:</a:t>
            </a:r>
          </a:p>
          <a:p>
            <a:pPr lvl="1"/>
            <a:r>
              <a:rPr lang="en-US" altLang="en-US" dirty="0"/>
              <a:t>International trade deficits/surpluses</a:t>
            </a:r>
          </a:p>
          <a:p>
            <a:pPr lvl="1"/>
            <a:r>
              <a:rPr lang="en-US" altLang="en-US" dirty="0"/>
              <a:t>Relative inflation &amp; interest rates</a:t>
            </a:r>
          </a:p>
          <a:p>
            <a:pPr lvl="1"/>
            <a:r>
              <a:rPr lang="en-US" altLang="en-US" dirty="0"/>
              <a:t>Country risk</a:t>
            </a:r>
          </a:p>
          <a:p>
            <a:pPr lvl="1"/>
            <a:endParaRPr lang="en-US" altLang="en-US" dirty="0"/>
          </a:p>
        </p:txBody>
      </p:sp>
      <p:sp>
        <p:nvSpPr>
          <p:cNvPr id="37891"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37892"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2" name="Slide Number Placeholder 1">
            <a:extLst>
              <a:ext uri="{FF2B5EF4-FFF2-40B4-BE49-F238E27FC236}">
                <a16:creationId xmlns:a16="http://schemas.microsoft.com/office/drawing/2014/main" id="{3CF79CB4-BE3F-D862-F764-A83BD6020F40}"/>
              </a:ext>
            </a:extLst>
          </p:cNvPr>
          <p:cNvSpPr>
            <a:spLocks noGrp="1"/>
          </p:cNvSpPr>
          <p:nvPr>
            <p:ph type="sldNum" sz="quarter" idx="12"/>
          </p:nvPr>
        </p:nvSpPr>
        <p:spPr/>
        <p:txBody>
          <a:bodyPr/>
          <a:lstStyle/>
          <a:p>
            <a:pPr>
              <a:defRPr/>
            </a:pPr>
            <a:fld id="{4E499BF4-6C8D-417D-B206-0AF20A1CAAC7}" type="slidenum">
              <a:rPr lang="en-US" smtClean="0"/>
              <a:pPr>
                <a:defRPr/>
              </a:pPr>
              <a:t>31</a:t>
            </a:fld>
            <a:endParaRPr lang="en-US"/>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7" name="Rectangle 4"/>
          <p:cNvSpPr>
            <a:spLocks noGrp="1" noChangeArrowheads="1"/>
          </p:cNvSpPr>
          <p:nvPr>
            <p:ph type="title"/>
          </p:nvPr>
        </p:nvSpPr>
        <p:spPr/>
        <p:txBody>
          <a:bodyPr>
            <a:normAutofit fontScale="90000"/>
          </a:bodyPr>
          <a:lstStyle/>
          <a:p>
            <a:r>
              <a:rPr lang="en-US" altLang="en-US"/>
              <a:t>What two factors lead to exchange</a:t>
            </a:r>
            <a:br>
              <a:rPr lang="en-US" altLang="en-US"/>
            </a:br>
            <a:r>
              <a:rPr lang="en-US" altLang="en-US"/>
              <a:t>rate fluctuations?</a:t>
            </a:r>
          </a:p>
        </p:txBody>
      </p:sp>
      <p:sp>
        <p:nvSpPr>
          <p:cNvPr id="38918" name="Rectangle 5"/>
          <p:cNvSpPr>
            <a:spLocks noGrp="1" noChangeArrowheads="1"/>
          </p:cNvSpPr>
          <p:nvPr>
            <p:ph idx="1"/>
          </p:nvPr>
        </p:nvSpPr>
        <p:spPr/>
        <p:txBody>
          <a:bodyPr/>
          <a:lstStyle/>
          <a:p>
            <a:r>
              <a:rPr lang="en-US" altLang="en-US"/>
              <a:t>Changes in relative inflation will lead to changes in exchange rates.</a:t>
            </a:r>
          </a:p>
          <a:p>
            <a:r>
              <a:rPr lang="en-US" altLang="en-US"/>
              <a:t>An increase in country risk will also cause that country’s currency to fall.</a:t>
            </a:r>
          </a:p>
        </p:txBody>
      </p:sp>
      <p:sp>
        <p:nvSpPr>
          <p:cNvPr id="38915"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38916"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2" name="Slide Number Placeholder 1">
            <a:extLst>
              <a:ext uri="{FF2B5EF4-FFF2-40B4-BE49-F238E27FC236}">
                <a16:creationId xmlns:a16="http://schemas.microsoft.com/office/drawing/2014/main" id="{18897E07-D466-66C2-375C-D674FEAB474A}"/>
              </a:ext>
            </a:extLst>
          </p:cNvPr>
          <p:cNvSpPr>
            <a:spLocks noGrp="1"/>
          </p:cNvSpPr>
          <p:nvPr>
            <p:ph type="sldNum" sz="quarter" idx="12"/>
          </p:nvPr>
        </p:nvSpPr>
        <p:spPr/>
        <p:txBody>
          <a:bodyPr/>
          <a:lstStyle/>
          <a:p>
            <a:pPr>
              <a:defRPr/>
            </a:pPr>
            <a:fld id="{4E499BF4-6C8D-417D-B206-0AF20A1CAAC7}" type="slidenum">
              <a:rPr lang="en-US" smtClean="0"/>
              <a:pPr>
                <a:defRPr/>
              </a:pPr>
              <a:t>32</a:t>
            </a:fld>
            <a:endParaRPr lang="en-US"/>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0B712-A374-49CD-AC5C-7DC10F0069C6}"/>
              </a:ext>
            </a:extLst>
          </p:cNvPr>
          <p:cNvSpPr>
            <a:spLocks noGrp="1"/>
          </p:cNvSpPr>
          <p:nvPr>
            <p:ph type="title"/>
          </p:nvPr>
        </p:nvSpPr>
        <p:spPr/>
        <p:txBody>
          <a:bodyPr/>
          <a:lstStyle/>
          <a:p>
            <a:r>
              <a:rPr lang="en-US" dirty="0"/>
              <a:t>What is a financial instrument?</a:t>
            </a:r>
            <a:endParaRPr lang="en-IN" dirty="0"/>
          </a:p>
        </p:txBody>
      </p:sp>
      <p:sp>
        <p:nvSpPr>
          <p:cNvPr id="3" name="Content Placeholder 2">
            <a:extLst>
              <a:ext uri="{FF2B5EF4-FFF2-40B4-BE49-F238E27FC236}">
                <a16:creationId xmlns:a16="http://schemas.microsoft.com/office/drawing/2014/main" id="{1EA3FD05-559C-4272-9D44-192BAE02A8BC}"/>
              </a:ext>
            </a:extLst>
          </p:cNvPr>
          <p:cNvSpPr>
            <a:spLocks noGrp="1"/>
          </p:cNvSpPr>
          <p:nvPr>
            <p:ph idx="1"/>
          </p:nvPr>
        </p:nvSpPr>
        <p:spPr/>
        <p:txBody>
          <a:bodyPr/>
          <a:lstStyle/>
          <a:p>
            <a:pPr>
              <a:spcBef>
                <a:spcPts val="600"/>
              </a:spcBef>
            </a:pPr>
            <a:r>
              <a:rPr lang="en-US" dirty="0"/>
              <a:t>Contractual obligation providing a claim on some future cash flow or asset.</a:t>
            </a:r>
          </a:p>
          <a:p>
            <a:pPr>
              <a:spcBef>
                <a:spcPts val="600"/>
              </a:spcBef>
            </a:pPr>
            <a:r>
              <a:rPr lang="en-US" dirty="0"/>
              <a:t>Short-term financial instruments that mature within a year:</a:t>
            </a:r>
          </a:p>
          <a:p>
            <a:pPr lvl="1">
              <a:spcBef>
                <a:spcPts val="600"/>
              </a:spcBef>
            </a:pPr>
            <a:r>
              <a:rPr lang="en-US" dirty="0"/>
              <a:t>U.S. Treasury bills</a:t>
            </a:r>
          </a:p>
          <a:p>
            <a:pPr lvl="1">
              <a:spcBef>
                <a:spcPts val="600"/>
              </a:spcBef>
            </a:pPr>
            <a:r>
              <a:rPr lang="en-US" dirty="0"/>
              <a:t>Commercial paper</a:t>
            </a:r>
          </a:p>
          <a:p>
            <a:pPr lvl="1">
              <a:spcBef>
                <a:spcPts val="600"/>
              </a:spcBef>
            </a:pPr>
            <a:r>
              <a:rPr lang="en-US" dirty="0"/>
              <a:t>Certificates of Deposit (CDs)</a:t>
            </a:r>
          </a:p>
        </p:txBody>
      </p:sp>
      <p:sp>
        <p:nvSpPr>
          <p:cNvPr id="4" name="Slide Number Placeholder 3">
            <a:extLst>
              <a:ext uri="{FF2B5EF4-FFF2-40B4-BE49-F238E27FC236}">
                <a16:creationId xmlns:a16="http://schemas.microsoft.com/office/drawing/2014/main" id="{A70AC58A-355E-CD53-8B9F-0EAA7551079C}"/>
              </a:ext>
            </a:extLst>
          </p:cNvPr>
          <p:cNvSpPr>
            <a:spLocks noGrp="1"/>
          </p:cNvSpPr>
          <p:nvPr>
            <p:ph type="sldNum" sz="quarter" idx="12"/>
          </p:nvPr>
        </p:nvSpPr>
        <p:spPr/>
        <p:txBody>
          <a:bodyPr/>
          <a:lstStyle/>
          <a:p>
            <a:pPr>
              <a:defRPr/>
            </a:pPr>
            <a:fld id="{4E499BF4-6C8D-417D-B206-0AF20A1CAAC7}" type="slidenum">
              <a:rPr lang="en-US" smtClean="0"/>
              <a:pPr>
                <a:defRPr/>
              </a:pPr>
              <a:t>33</a:t>
            </a:fld>
            <a:endParaRPr lang="en-US"/>
          </a:p>
        </p:txBody>
      </p:sp>
    </p:spTree>
    <p:extLst>
      <p:ext uri="{BB962C8B-B14F-4D97-AF65-F5344CB8AC3E}">
        <p14:creationId xmlns:p14="http://schemas.microsoft.com/office/powerpoint/2010/main" val="12486283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0B712-A374-49CD-AC5C-7DC10F0069C6}"/>
              </a:ext>
            </a:extLst>
          </p:cNvPr>
          <p:cNvSpPr>
            <a:spLocks noGrp="1"/>
          </p:cNvSpPr>
          <p:nvPr>
            <p:ph type="title"/>
          </p:nvPr>
        </p:nvSpPr>
        <p:spPr/>
        <p:txBody>
          <a:bodyPr>
            <a:normAutofit fontScale="90000"/>
          </a:bodyPr>
          <a:lstStyle/>
          <a:p>
            <a:r>
              <a:rPr lang="en-US" dirty="0"/>
              <a:t>Long-Term Financial Instruments (Payments for more than a year)</a:t>
            </a:r>
            <a:endParaRPr lang="en-IN" dirty="0"/>
          </a:p>
        </p:txBody>
      </p:sp>
      <p:sp>
        <p:nvSpPr>
          <p:cNvPr id="3" name="Content Placeholder 2">
            <a:extLst>
              <a:ext uri="{FF2B5EF4-FFF2-40B4-BE49-F238E27FC236}">
                <a16:creationId xmlns:a16="http://schemas.microsoft.com/office/drawing/2014/main" id="{1EA3FD05-559C-4272-9D44-192BAE02A8BC}"/>
              </a:ext>
            </a:extLst>
          </p:cNvPr>
          <p:cNvSpPr>
            <a:spLocks noGrp="1"/>
          </p:cNvSpPr>
          <p:nvPr>
            <p:ph idx="1"/>
          </p:nvPr>
        </p:nvSpPr>
        <p:spPr/>
        <p:txBody>
          <a:bodyPr>
            <a:normAutofit fontScale="92500" lnSpcReduction="20000"/>
          </a:bodyPr>
          <a:lstStyle/>
          <a:p>
            <a:pPr>
              <a:spcBef>
                <a:spcPts val="450"/>
              </a:spcBef>
              <a:spcAft>
                <a:spcPts val="450"/>
              </a:spcAft>
            </a:pPr>
            <a:r>
              <a:rPr lang="en-US" dirty="0"/>
              <a:t>Commercial loans from banks</a:t>
            </a:r>
          </a:p>
          <a:p>
            <a:pPr>
              <a:spcBef>
                <a:spcPts val="450"/>
              </a:spcBef>
              <a:spcAft>
                <a:spcPts val="450"/>
              </a:spcAft>
            </a:pPr>
            <a:r>
              <a:rPr lang="en-US" dirty="0"/>
              <a:t>U.S. Treasury notes and bonds</a:t>
            </a:r>
          </a:p>
          <a:p>
            <a:pPr>
              <a:spcBef>
                <a:spcPts val="450"/>
              </a:spcBef>
              <a:spcAft>
                <a:spcPts val="450"/>
              </a:spcAft>
            </a:pPr>
            <a:r>
              <a:rPr lang="en-US" dirty="0"/>
              <a:t>Mortgages</a:t>
            </a:r>
          </a:p>
          <a:p>
            <a:pPr>
              <a:spcBef>
                <a:spcPts val="450"/>
              </a:spcBef>
              <a:spcAft>
                <a:spcPts val="450"/>
              </a:spcAft>
            </a:pPr>
            <a:r>
              <a:rPr lang="en-US" dirty="0"/>
              <a:t>Bonds</a:t>
            </a:r>
          </a:p>
          <a:p>
            <a:pPr lvl="1">
              <a:spcBef>
                <a:spcPts val="450"/>
              </a:spcBef>
              <a:spcAft>
                <a:spcPts val="450"/>
              </a:spcAft>
            </a:pPr>
            <a:r>
              <a:rPr lang="en-US" dirty="0"/>
              <a:t>Corporate bonds</a:t>
            </a:r>
          </a:p>
          <a:p>
            <a:pPr lvl="1">
              <a:spcBef>
                <a:spcPts val="450"/>
              </a:spcBef>
              <a:spcAft>
                <a:spcPts val="450"/>
              </a:spcAft>
            </a:pPr>
            <a:r>
              <a:rPr lang="en-US" dirty="0"/>
              <a:t>Municipal bonds (</a:t>
            </a:r>
            <a:r>
              <a:rPr lang="en-US" dirty="0" err="1"/>
              <a:t>munis</a:t>
            </a:r>
            <a:r>
              <a:rPr lang="en-US" dirty="0"/>
              <a:t>)</a:t>
            </a:r>
          </a:p>
          <a:p>
            <a:pPr>
              <a:spcBef>
                <a:spcPts val="450"/>
              </a:spcBef>
              <a:spcAft>
                <a:spcPts val="450"/>
              </a:spcAft>
            </a:pPr>
            <a:r>
              <a:rPr lang="en-US" dirty="0"/>
              <a:t>Preferred stock</a:t>
            </a:r>
          </a:p>
          <a:p>
            <a:pPr>
              <a:spcBef>
                <a:spcPts val="450"/>
              </a:spcBef>
              <a:spcAft>
                <a:spcPts val="450"/>
              </a:spcAft>
            </a:pPr>
            <a:r>
              <a:rPr lang="en-US" dirty="0"/>
              <a:t>Common stock</a:t>
            </a:r>
          </a:p>
        </p:txBody>
      </p:sp>
      <p:sp>
        <p:nvSpPr>
          <p:cNvPr id="4" name="Slide Number Placeholder 3">
            <a:extLst>
              <a:ext uri="{FF2B5EF4-FFF2-40B4-BE49-F238E27FC236}">
                <a16:creationId xmlns:a16="http://schemas.microsoft.com/office/drawing/2014/main" id="{641F6899-F125-FB4F-2C81-CC897B1791E2}"/>
              </a:ext>
            </a:extLst>
          </p:cNvPr>
          <p:cNvSpPr>
            <a:spLocks noGrp="1"/>
          </p:cNvSpPr>
          <p:nvPr>
            <p:ph type="sldNum" sz="quarter" idx="12"/>
          </p:nvPr>
        </p:nvSpPr>
        <p:spPr/>
        <p:txBody>
          <a:bodyPr/>
          <a:lstStyle/>
          <a:p>
            <a:pPr>
              <a:defRPr/>
            </a:pPr>
            <a:fld id="{4E499BF4-6C8D-417D-B206-0AF20A1CAAC7}" type="slidenum">
              <a:rPr lang="en-US" smtClean="0"/>
              <a:pPr>
                <a:defRPr/>
              </a:pPr>
              <a:t>34</a:t>
            </a:fld>
            <a:endParaRPr lang="en-US"/>
          </a:p>
        </p:txBody>
      </p:sp>
    </p:spTree>
    <p:extLst>
      <p:ext uri="{BB962C8B-B14F-4D97-AF65-F5344CB8AC3E}">
        <p14:creationId xmlns:p14="http://schemas.microsoft.com/office/powerpoint/2010/main" val="16283935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2"/>
          <p:cNvSpPr>
            <a:spLocks noGrp="1" noChangeArrowheads="1"/>
          </p:cNvSpPr>
          <p:nvPr>
            <p:ph type="title"/>
          </p:nvPr>
        </p:nvSpPr>
        <p:spPr/>
        <p:txBody>
          <a:bodyPr/>
          <a:lstStyle/>
          <a:p>
            <a:r>
              <a:rPr lang="en-US" altLang="en-US"/>
              <a:t>Financial Securities</a:t>
            </a:r>
          </a:p>
        </p:txBody>
      </p:sp>
      <p:graphicFrame>
        <p:nvGraphicFramePr>
          <p:cNvPr id="967739" name="Group 59"/>
          <p:cNvGraphicFramePr>
            <a:graphicFrameLocks noGrp="1"/>
          </p:cNvGraphicFramePr>
          <p:nvPr>
            <p:ph idx="1"/>
            <p:extLst>
              <p:ext uri="{D42A27DB-BD31-4B8C-83A1-F6EECF244321}">
                <p14:modId xmlns:p14="http://schemas.microsoft.com/office/powerpoint/2010/main" val="4140720969"/>
              </p:ext>
            </p:extLst>
          </p:nvPr>
        </p:nvGraphicFramePr>
        <p:xfrm>
          <a:off x="1048544" y="1752600"/>
          <a:ext cx="7046912" cy="3352800"/>
        </p:xfrm>
        <a:graphic>
          <a:graphicData uri="http://schemas.openxmlformats.org/drawingml/2006/table">
            <a:tbl>
              <a:tblPr/>
              <a:tblGrid>
                <a:gridCol w="1179512">
                  <a:extLst>
                    <a:ext uri="{9D8B030D-6E8A-4147-A177-3AD203B41FA5}">
                      <a16:colId xmlns:a16="http://schemas.microsoft.com/office/drawing/2014/main" val="20000"/>
                    </a:ext>
                  </a:extLst>
                </a:gridCol>
                <a:gridCol w="2209800">
                  <a:extLst>
                    <a:ext uri="{9D8B030D-6E8A-4147-A177-3AD203B41FA5}">
                      <a16:colId xmlns:a16="http://schemas.microsoft.com/office/drawing/2014/main" val="20001"/>
                    </a:ext>
                  </a:extLst>
                </a:gridCol>
                <a:gridCol w="1981200">
                  <a:extLst>
                    <a:ext uri="{9D8B030D-6E8A-4147-A177-3AD203B41FA5}">
                      <a16:colId xmlns:a16="http://schemas.microsoft.com/office/drawing/2014/main" val="20002"/>
                    </a:ext>
                  </a:extLst>
                </a:gridCol>
                <a:gridCol w="1676400">
                  <a:extLst>
                    <a:ext uri="{9D8B030D-6E8A-4147-A177-3AD203B41FA5}">
                      <a16:colId xmlns:a16="http://schemas.microsoft.com/office/drawing/2014/main" val="20003"/>
                    </a:ext>
                  </a:extLst>
                </a:gridCol>
              </a:tblGrid>
              <a:tr h="1117600">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900" b="0" i="0" u="none" strike="noStrike" cap="none" normalizeH="0" baseline="0">
                        <a:ln>
                          <a:noFill/>
                        </a:ln>
                        <a:solidFill>
                          <a:schemeClr val="tx1"/>
                        </a:solidFill>
                        <a:effectLst/>
                        <a:latin typeface="Arial" charset="0"/>
                      </a:endParaRPr>
                    </a:p>
                  </a:txBody>
                  <a:tcPr marL="90488" marR="90488" marT="44451" marB="44451"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a:ln>
                            <a:noFill/>
                          </a:ln>
                          <a:solidFill>
                            <a:schemeClr val="tx1"/>
                          </a:solidFill>
                          <a:effectLst/>
                          <a:latin typeface="Arial" charset="0"/>
                        </a:rPr>
                        <a:t>Debt</a:t>
                      </a:r>
                    </a:p>
                  </a:txBody>
                  <a:tcPr marL="90488" marR="90488" marT="44451" marB="444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a:ln>
                            <a:noFill/>
                          </a:ln>
                          <a:solidFill>
                            <a:schemeClr val="tx1"/>
                          </a:solidFill>
                          <a:effectLst/>
                          <a:latin typeface="Arial" charset="0"/>
                        </a:rPr>
                        <a:t>Equity</a:t>
                      </a:r>
                    </a:p>
                  </a:txBody>
                  <a:tcPr marL="90488" marR="90488" marT="44451" marB="444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a:ln>
                            <a:noFill/>
                          </a:ln>
                          <a:solidFill>
                            <a:schemeClr val="tx1"/>
                          </a:solidFill>
                          <a:effectLst/>
                          <a:latin typeface="Arial" charset="0"/>
                        </a:rPr>
                        <a:t>Derivatives</a:t>
                      </a:r>
                    </a:p>
                  </a:txBody>
                  <a:tcPr marL="90488" marR="90488" marT="44451" marB="44451"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117600">
                <a:tc>
                  <a:txBody>
                    <a:bodyPr/>
                    <a:lstStyle/>
                    <a:p>
                      <a:pPr marL="0" marR="0" lvl="0" indent="0" algn="ctr" defTabSz="914400" rtl="0" eaLnBrk="1" fontAlgn="base" latinLnBrk="0" hangingPunct="1">
                        <a:lnSpc>
                          <a:spcPct val="70000"/>
                        </a:lnSpc>
                        <a:spcBef>
                          <a:spcPct val="0"/>
                        </a:spcBef>
                        <a:spcAft>
                          <a:spcPct val="0"/>
                        </a:spcAft>
                        <a:buClrTx/>
                        <a:buSzTx/>
                        <a:buFontTx/>
                        <a:buNone/>
                        <a:tabLst/>
                      </a:pPr>
                      <a:r>
                        <a:rPr kumimoji="0" lang="en-US" sz="2000" b="1" i="0" u="none" strike="noStrike" cap="none" normalizeH="0" baseline="0" dirty="0">
                          <a:ln>
                            <a:noFill/>
                          </a:ln>
                          <a:solidFill>
                            <a:schemeClr val="tx1"/>
                          </a:solidFill>
                          <a:effectLst/>
                          <a:latin typeface="Arial" charset="0"/>
                        </a:rPr>
                        <a:t>Money</a:t>
                      </a:r>
                    </a:p>
                    <a:p>
                      <a:pPr marL="0" marR="0" lvl="0" indent="0" algn="ctr" defTabSz="914400" rtl="0" eaLnBrk="1" fontAlgn="base" latinLnBrk="0" hangingPunct="1">
                        <a:lnSpc>
                          <a:spcPct val="70000"/>
                        </a:lnSpc>
                        <a:spcBef>
                          <a:spcPct val="0"/>
                        </a:spcBef>
                        <a:spcAft>
                          <a:spcPct val="0"/>
                        </a:spcAft>
                        <a:buClrTx/>
                        <a:buSzTx/>
                        <a:buFontTx/>
                        <a:buNone/>
                        <a:tabLst/>
                      </a:pPr>
                      <a:r>
                        <a:rPr kumimoji="0" lang="en-US" sz="2000" b="1" i="0" u="none" strike="noStrike" cap="none" normalizeH="0" baseline="0" dirty="0">
                          <a:ln>
                            <a:noFill/>
                          </a:ln>
                          <a:solidFill>
                            <a:schemeClr val="tx1"/>
                          </a:solidFill>
                          <a:effectLst/>
                          <a:latin typeface="Arial" charset="0"/>
                        </a:rPr>
                        <a:t>Market</a:t>
                      </a:r>
                    </a:p>
                  </a:txBody>
                  <a:tcPr marL="90488" marR="90488" marT="44451" marB="44451"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70000"/>
                        </a:lnSpc>
                        <a:spcBef>
                          <a:spcPct val="0"/>
                        </a:spcBef>
                        <a:spcAft>
                          <a:spcPct val="0"/>
                        </a:spcAft>
                        <a:buClrTx/>
                        <a:buSzTx/>
                        <a:buFontTx/>
                        <a:buChar char="•"/>
                        <a:tabLst/>
                      </a:pPr>
                      <a:r>
                        <a:rPr kumimoji="0" lang="en-US" sz="1900" b="0" i="0" u="none" strike="noStrike" cap="none" normalizeH="0" baseline="0" dirty="0">
                          <a:ln>
                            <a:noFill/>
                          </a:ln>
                          <a:solidFill>
                            <a:schemeClr val="tx1"/>
                          </a:solidFill>
                          <a:effectLst/>
                          <a:latin typeface="Arial" charset="0"/>
                        </a:rPr>
                        <a:t>T-Bills</a:t>
                      </a:r>
                    </a:p>
                    <a:p>
                      <a:pPr marL="0" marR="0" lvl="0" indent="0" algn="l" defTabSz="914400" rtl="0" eaLnBrk="1" fontAlgn="base" latinLnBrk="0" hangingPunct="1">
                        <a:lnSpc>
                          <a:spcPct val="70000"/>
                        </a:lnSpc>
                        <a:spcBef>
                          <a:spcPct val="0"/>
                        </a:spcBef>
                        <a:spcAft>
                          <a:spcPct val="0"/>
                        </a:spcAft>
                        <a:buClrTx/>
                        <a:buSzTx/>
                        <a:buFontTx/>
                        <a:buChar char="•"/>
                        <a:tabLst/>
                      </a:pPr>
                      <a:r>
                        <a:rPr kumimoji="0" lang="en-US" sz="1900" b="0" i="0" u="none" strike="noStrike" cap="none" normalizeH="0" baseline="0" dirty="0">
                          <a:ln>
                            <a:noFill/>
                          </a:ln>
                          <a:solidFill>
                            <a:schemeClr val="tx1"/>
                          </a:solidFill>
                          <a:effectLst/>
                          <a:latin typeface="Arial" charset="0"/>
                        </a:rPr>
                        <a:t>CD’s</a:t>
                      </a:r>
                    </a:p>
                    <a:p>
                      <a:pPr marL="0" marR="0" lvl="0" indent="0" algn="l" defTabSz="914400" rtl="0" eaLnBrk="1" fontAlgn="base" latinLnBrk="0" hangingPunct="1">
                        <a:lnSpc>
                          <a:spcPct val="70000"/>
                        </a:lnSpc>
                        <a:spcBef>
                          <a:spcPct val="0"/>
                        </a:spcBef>
                        <a:spcAft>
                          <a:spcPct val="0"/>
                        </a:spcAft>
                        <a:buClrTx/>
                        <a:buSzTx/>
                        <a:buFontTx/>
                        <a:buChar char="•"/>
                        <a:tabLst/>
                      </a:pPr>
                      <a:r>
                        <a:rPr kumimoji="0" lang="en-US" sz="1900" b="0" i="0" u="none" strike="noStrike" cap="none" normalizeH="0" baseline="0" dirty="0">
                          <a:ln>
                            <a:noFill/>
                          </a:ln>
                          <a:solidFill>
                            <a:schemeClr val="tx1"/>
                          </a:solidFill>
                          <a:effectLst/>
                          <a:latin typeface="Arial" charset="0"/>
                        </a:rPr>
                        <a:t>Eurodollars</a:t>
                      </a:r>
                    </a:p>
                    <a:p>
                      <a:pPr marL="0" marR="0" lvl="0" indent="0" algn="l" defTabSz="914400" rtl="0" eaLnBrk="1" fontAlgn="base" latinLnBrk="0" hangingPunct="1">
                        <a:lnSpc>
                          <a:spcPct val="70000"/>
                        </a:lnSpc>
                        <a:spcBef>
                          <a:spcPct val="0"/>
                        </a:spcBef>
                        <a:spcAft>
                          <a:spcPct val="0"/>
                        </a:spcAft>
                        <a:buClrTx/>
                        <a:buSzTx/>
                        <a:buFontTx/>
                        <a:buChar char="•"/>
                        <a:tabLst/>
                      </a:pPr>
                      <a:r>
                        <a:rPr kumimoji="0" lang="en-US" sz="1900" b="0" i="0" u="none" strike="noStrike" cap="none" normalizeH="0" baseline="0" dirty="0">
                          <a:ln>
                            <a:noFill/>
                          </a:ln>
                          <a:solidFill>
                            <a:schemeClr val="tx1"/>
                          </a:solidFill>
                          <a:effectLst/>
                          <a:latin typeface="Arial" charset="0"/>
                        </a:rPr>
                        <a:t>Fed Funds</a:t>
                      </a:r>
                    </a:p>
                  </a:txBody>
                  <a:tcPr marL="90488" marR="90488" marT="44451" marB="444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900" b="0" i="0" u="none" strike="noStrike" cap="none" normalizeH="0" baseline="0">
                        <a:ln>
                          <a:noFill/>
                        </a:ln>
                        <a:solidFill>
                          <a:schemeClr val="tx1"/>
                        </a:solidFill>
                        <a:effectLst/>
                        <a:latin typeface="Arial" charset="0"/>
                      </a:endParaRPr>
                    </a:p>
                  </a:txBody>
                  <a:tcPr marL="90488" marR="90488" marT="44451" marB="4445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70000"/>
                        </a:lnSpc>
                        <a:spcBef>
                          <a:spcPct val="0"/>
                        </a:spcBef>
                        <a:spcAft>
                          <a:spcPct val="0"/>
                        </a:spcAft>
                        <a:buClrTx/>
                        <a:buSzTx/>
                        <a:buFontTx/>
                        <a:buChar char="•"/>
                        <a:tabLst/>
                      </a:pPr>
                      <a:r>
                        <a:rPr kumimoji="0" lang="en-US" sz="1900" b="0" i="0" u="none" strike="noStrike" cap="none" normalizeH="0" baseline="0" dirty="0">
                          <a:ln>
                            <a:noFill/>
                          </a:ln>
                          <a:solidFill>
                            <a:schemeClr val="tx1"/>
                          </a:solidFill>
                          <a:effectLst/>
                          <a:latin typeface="Arial" charset="0"/>
                        </a:rPr>
                        <a:t>Options</a:t>
                      </a:r>
                    </a:p>
                    <a:p>
                      <a:pPr marL="0" marR="0" lvl="0" indent="0" algn="l" defTabSz="914400" rtl="0" eaLnBrk="1" fontAlgn="base" latinLnBrk="0" hangingPunct="1">
                        <a:lnSpc>
                          <a:spcPct val="70000"/>
                        </a:lnSpc>
                        <a:spcBef>
                          <a:spcPct val="0"/>
                        </a:spcBef>
                        <a:spcAft>
                          <a:spcPct val="0"/>
                        </a:spcAft>
                        <a:buClrTx/>
                        <a:buSzTx/>
                        <a:buFontTx/>
                        <a:buChar char="•"/>
                        <a:tabLst/>
                      </a:pPr>
                      <a:r>
                        <a:rPr kumimoji="0" lang="en-US" sz="1900" b="0" i="0" u="none" strike="noStrike" cap="none" normalizeH="0" baseline="0" dirty="0">
                          <a:ln>
                            <a:noFill/>
                          </a:ln>
                          <a:solidFill>
                            <a:schemeClr val="tx1"/>
                          </a:solidFill>
                          <a:effectLst/>
                          <a:latin typeface="Arial" charset="0"/>
                        </a:rPr>
                        <a:t>Futures</a:t>
                      </a:r>
                    </a:p>
                    <a:p>
                      <a:pPr marL="0" marR="0" lvl="0" indent="0" algn="l" defTabSz="914400" rtl="0" eaLnBrk="1" fontAlgn="base" latinLnBrk="0" hangingPunct="1">
                        <a:lnSpc>
                          <a:spcPct val="70000"/>
                        </a:lnSpc>
                        <a:spcBef>
                          <a:spcPct val="0"/>
                        </a:spcBef>
                        <a:spcAft>
                          <a:spcPct val="0"/>
                        </a:spcAft>
                        <a:buClrTx/>
                        <a:buSzTx/>
                        <a:buFontTx/>
                        <a:buChar char="•"/>
                        <a:tabLst/>
                      </a:pPr>
                      <a:r>
                        <a:rPr kumimoji="0" lang="en-US" sz="1900" b="0" i="0" u="none" strike="noStrike" cap="none" normalizeH="0" baseline="0" dirty="0">
                          <a:ln>
                            <a:noFill/>
                          </a:ln>
                          <a:solidFill>
                            <a:schemeClr val="tx1"/>
                          </a:solidFill>
                          <a:effectLst/>
                          <a:latin typeface="Arial" charset="0"/>
                        </a:rPr>
                        <a:t>Forward contract</a:t>
                      </a:r>
                    </a:p>
                  </a:txBody>
                  <a:tcPr marL="90488" marR="90488" marT="44451" marB="44451"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117600">
                <a:tc>
                  <a:txBody>
                    <a:bodyPr/>
                    <a:lstStyle/>
                    <a:p>
                      <a:pPr marL="0" marR="0" lvl="0" indent="0" algn="ctr" defTabSz="914400" rtl="0" eaLnBrk="1" fontAlgn="base" latinLnBrk="0" hangingPunct="1">
                        <a:lnSpc>
                          <a:spcPct val="70000"/>
                        </a:lnSpc>
                        <a:spcBef>
                          <a:spcPct val="0"/>
                        </a:spcBef>
                        <a:spcAft>
                          <a:spcPct val="0"/>
                        </a:spcAft>
                        <a:buClrTx/>
                        <a:buSzTx/>
                        <a:buFontTx/>
                        <a:buNone/>
                        <a:tabLst/>
                      </a:pPr>
                      <a:r>
                        <a:rPr kumimoji="0" lang="en-US" sz="2000" b="1" i="0" u="none" strike="noStrike" cap="none" normalizeH="0" baseline="0" dirty="0">
                          <a:ln>
                            <a:noFill/>
                          </a:ln>
                          <a:solidFill>
                            <a:schemeClr val="tx1"/>
                          </a:solidFill>
                          <a:effectLst/>
                          <a:latin typeface="Arial" charset="0"/>
                        </a:rPr>
                        <a:t>Capital</a:t>
                      </a:r>
                    </a:p>
                    <a:p>
                      <a:pPr marL="0" marR="0" lvl="0" indent="0" algn="ctr" defTabSz="914400" rtl="0" eaLnBrk="1" fontAlgn="base" latinLnBrk="0" hangingPunct="1">
                        <a:lnSpc>
                          <a:spcPct val="70000"/>
                        </a:lnSpc>
                        <a:spcBef>
                          <a:spcPct val="0"/>
                        </a:spcBef>
                        <a:spcAft>
                          <a:spcPct val="0"/>
                        </a:spcAft>
                        <a:buClrTx/>
                        <a:buSzTx/>
                        <a:buFontTx/>
                        <a:buNone/>
                        <a:tabLst/>
                      </a:pPr>
                      <a:r>
                        <a:rPr kumimoji="0" lang="en-US" sz="2000" b="1" i="0" u="none" strike="noStrike" cap="none" normalizeH="0" baseline="0" dirty="0">
                          <a:ln>
                            <a:noFill/>
                          </a:ln>
                          <a:solidFill>
                            <a:schemeClr val="tx1"/>
                          </a:solidFill>
                          <a:effectLst/>
                          <a:latin typeface="Arial" charset="0"/>
                        </a:rPr>
                        <a:t>Market</a:t>
                      </a:r>
                    </a:p>
                  </a:txBody>
                  <a:tcPr marL="90488" marR="90488" marT="44451" marB="44451"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70000"/>
                        </a:lnSpc>
                        <a:spcBef>
                          <a:spcPct val="0"/>
                        </a:spcBef>
                        <a:spcAft>
                          <a:spcPct val="0"/>
                        </a:spcAft>
                        <a:buClrTx/>
                        <a:buSzPct val="65000"/>
                        <a:buFontTx/>
                        <a:buChar char="•"/>
                        <a:tabLst/>
                      </a:pPr>
                      <a:r>
                        <a:rPr kumimoji="0" lang="en-US" sz="1900" b="0" i="0" u="none" strike="noStrike" cap="none" normalizeH="0" baseline="0" dirty="0">
                          <a:ln>
                            <a:noFill/>
                          </a:ln>
                          <a:solidFill>
                            <a:schemeClr val="tx1"/>
                          </a:solidFill>
                          <a:effectLst/>
                          <a:latin typeface="Arial" charset="0"/>
                        </a:rPr>
                        <a:t>T-Bonds</a:t>
                      </a:r>
                    </a:p>
                    <a:p>
                      <a:pPr marL="0" marR="0" lvl="0" indent="0" algn="l" defTabSz="914400" rtl="0" eaLnBrk="1" fontAlgn="base" latinLnBrk="0" hangingPunct="1">
                        <a:lnSpc>
                          <a:spcPct val="70000"/>
                        </a:lnSpc>
                        <a:spcBef>
                          <a:spcPct val="0"/>
                        </a:spcBef>
                        <a:spcAft>
                          <a:spcPct val="0"/>
                        </a:spcAft>
                        <a:buClrTx/>
                        <a:buSzPct val="65000"/>
                        <a:buFontTx/>
                        <a:buChar char="•"/>
                        <a:tabLst/>
                      </a:pPr>
                      <a:r>
                        <a:rPr kumimoji="0" lang="en-US" sz="1900" b="0" i="0" u="none" strike="noStrike" cap="none" normalizeH="0" baseline="0" dirty="0">
                          <a:ln>
                            <a:noFill/>
                          </a:ln>
                          <a:solidFill>
                            <a:schemeClr val="tx1"/>
                          </a:solidFill>
                          <a:effectLst/>
                          <a:latin typeface="Arial" charset="0"/>
                        </a:rPr>
                        <a:t>Agency bonds</a:t>
                      </a:r>
                    </a:p>
                    <a:p>
                      <a:pPr marL="0" marR="0" lvl="0" indent="0" algn="l" defTabSz="914400" rtl="0" eaLnBrk="1" fontAlgn="base" latinLnBrk="0" hangingPunct="1">
                        <a:lnSpc>
                          <a:spcPct val="70000"/>
                        </a:lnSpc>
                        <a:spcBef>
                          <a:spcPct val="0"/>
                        </a:spcBef>
                        <a:spcAft>
                          <a:spcPct val="0"/>
                        </a:spcAft>
                        <a:buClrTx/>
                        <a:buSzPct val="65000"/>
                        <a:buFontTx/>
                        <a:buChar char="•"/>
                        <a:tabLst/>
                      </a:pPr>
                      <a:r>
                        <a:rPr kumimoji="0" lang="en-US" sz="1900" b="0" i="0" u="none" strike="noStrike" cap="none" normalizeH="0" baseline="0" dirty="0">
                          <a:ln>
                            <a:noFill/>
                          </a:ln>
                          <a:solidFill>
                            <a:schemeClr val="tx1"/>
                          </a:solidFill>
                          <a:effectLst/>
                          <a:latin typeface="Arial" charset="0"/>
                        </a:rPr>
                        <a:t>Municipals</a:t>
                      </a:r>
                    </a:p>
                    <a:p>
                      <a:pPr marL="0" marR="0" lvl="0" indent="0" algn="l" defTabSz="914400" rtl="0" eaLnBrk="1" fontAlgn="base" latinLnBrk="0" hangingPunct="1">
                        <a:lnSpc>
                          <a:spcPct val="70000"/>
                        </a:lnSpc>
                        <a:spcBef>
                          <a:spcPct val="0"/>
                        </a:spcBef>
                        <a:spcAft>
                          <a:spcPct val="0"/>
                        </a:spcAft>
                        <a:buClrTx/>
                        <a:buSzPct val="65000"/>
                        <a:buFontTx/>
                        <a:buChar char="•"/>
                        <a:tabLst/>
                      </a:pPr>
                      <a:r>
                        <a:rPr kumimoji="0" lang="en-US" sz="1900" b="0" i="0" u="none" strike="noStrike" cap="none" normalizeH="0" baseline="0" dirty="0">
                          <a:ln>
                            <a:noFill/>
                          </a:ln>
                          <a:solidFill>
                            <a:schemeClr val="tx1"/>
                          </a:solidFill>
                          <a:effectLst/>
                          <a:latin typeface="Arial" charset="0"/>
                        </a:rPr>
                        <a:t>Corporate bonds</a:t>
                      </a:r>
                    </a:p>
                  </a:txBody>
                  <a:tcPr marL="90488" marR="90488" marT="44451" marB="444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112713" marR="0" lvl="0" indent="-112713" algn="l" defTabSz="914400" rtl="0" eaLnBrk="1" fontAlgn="base" latinLnBrk="0" hangingPunct="1">
                        <a:lnSpc>
                          <a:spcPct val="80000"/>
                        </a:lnSpc>
                        <a:spcBef>
                          <a:spcPct val="0"/>
                        </a:spcBef>
                        <a:spcAft>
                          <a:spcPct val="0"/>
                        </a:spcAft>
                        <a:buClrTx/>
                        <a:buSzTx/>
                        <a:buFontTx/>
                        <a:buChar char="•"/>
                        <a:tabLst/>
                      </a:pPr>
                      <a:r>
                        <a:rPr kumimoji="0" lang="en-US" sz="1900" b="0" i="0" u="none" strike="noStrike" cap="none" normalizeH="0" baseline="0" dirty="0">
                          <a:ln>
                            <a:noFill/>
                          </a:ln>
                          <a:solidFill>
                            <a:schemeClr val="tx1"/>
                          </a:solidFill>
                          <a:effectLst/>
                          <a:latin typeface="Arial" charset="0"/>
                        </a:rPr>
                        <a:t>Common           stock</a:t>
                      </a:r>
                    </a:p>
                    <a:p>
                      <a:pPr marL="112713" marR="0" lvl="0" indent="-112713" algn="l" defTabSz="914400" rtl="0" eaLnBrk="1" fontAlgn="base" latinLnBrk="0" hangingPunct="1">
                        <a:lnSpc>
                          <a:spcPct val="80000"/>
                        </a:lnSpc>
                        <a:spcBef>
                          <a:spcPct val="0"/>
                        </a:spcBef>
                        <a:spcAft>
                          <a:spcPct val="0"/>
                        </a:spcAft>
                        <a:buClrTx/>
                        <a:buSzTx/>
                        <a:buFontTx/>
                        <a:buChar char="•"/>
                        <a:tabLst/>
                      </a:pPr>
                      <a:r>
                        <a:rPr kumimoji="0" lang="en-US" sz="1900" b="0" i="0" u="none" strike="noStrike" cap="none" normalizeH="0" baseline="0" dirty="0">
                          <a:ln>
                            <a:noFill/>
                          </a:ln>
                          <a:solidFill>
                            <a:schemeClr val="tx1"/>
                          </a:solidFill>
                          <a:effectLst/>
                          <a:latin typeface="Arial" charset="0"/>
                        </a:rPr>
                        <a:t>Preferred stock</a:t>
                      </a:r>
                    </a:p>
                  </a:txBody>
                  <a:tcPr marL="90488" marR="90488" marT="44451" marB="444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Char char="•"/>
                        <a:tabLst/>
                      </a:pPr>
                      <a:r>
                        <a:rPr kumimoji="0" lang="en-US" sz="1900" b="0" i="0" u="none" strike="noStrike" cap="none" normalizeH="0" baseline="0" dirty="0">
                          <a:ln>
                            <a:noFill/>
                          </a:ln>
                          <a:solidFill>
                            <a:schemeClr val="tx1"/>
                          </a:solidFill>
                          <a:effectLst/>
                          <a:latin typeface="Arial" charset="0"/>
                        </a:rPr>
                        <a:t>LEAPS</a:t>
                      </a:r>
                    </a:p>
                    <a:p>
                      <a:pPr marL="0" marR="0" lvl="0" indent="0" algn="l" defTabSz="914400" rtl="0" eaLnBrk="1" fontAlgn="base" latinLnBrk="0" hangingPunct="1">
                        <a:lnSpc>
                          <a:spcPct val="100000"/>
                        </a:lnSpc>
                        <a:spcBef>
                          <a:spcPct val="0"/>
                        </a:spcBef>
                        <a:spcAft>
                          <a:spcPct val="0"/>
                        </a:spcAft>
                        <a:buClrTx/>
                        <a:buSzTx/>
                        <a:buFontTx/>
                        <a:buChar char="•"/>
                        <a:tabLst/>
                      </a:pPr>
                      <a:r>
                        <a:rPr kumimoji="0" lang="en-US" sz="1900" b="0" i="0" u="none" strike="noStrike" cap="none" normalizeH="0" baseline="0" dirty="0">
                          <a:ln>
                            <a:noFill/>
                          </a:ln>
                          <a:solidFill>
                            <a:schemeClr val="tx1"/>
                          </a:solidFill>
                          <a:effectLst/>
                          <a:latin typeface="Arial" charset="0"/>
                        </a:rPr>
                        <a:t>Swaps</a:t>
                      </a:r>
                    </a:p>
                  </a:txBody>
                  <a:tcPr marL="90488" marR="90488" marT="44451" marB="44451"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2" name="Slide Number Placeholder 1">
            <a:extLst>
              <a:ext uri="{FF2B5EF4-FFF2-40B4-BE49-F238E27FC236}">
                <a16:creationId xmlns:a16="http://schemas.microsoft.com/office/drawing/2014/main" id="{0782807F-B172-3FEA-2B72-4816610F3B52}"/>
              </a:ext>
            </a:extLst>
          </p:cNvPr>
          <p:cNvSpPr>
            <a:spLocks noGrp="1"/>
          </p:cNvSpPr>
          <p:nvPr>
            <p:ph type="sldNum" sz="quarter" idx="12"/>
          </p:nvPr>
        </p:nvSpPr>
        <p:spPr/>
        <p:txBody>
          <a:bodyPr/>
          <a:lstStyle/>
          <a:p>
            <a:pPr>
              <a:defRPr/>
            </a:pPr>
            <a:fld id="{4E499BF4-6C8D-417D-B206-0AF20A1CAAC7}" type="slidenum">
              <a:rPr lang="en-US" smtClean="0"/>
              <a:pPr>
                <a:defRPr/>
              </a:pPr>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0B712-A374-49CD-AC5C-7DC10F0069C6}"/>
              </a:ext>
            </a:extLst>
          </p:cNvPr>
          <p:cNvSpPr>
            <a:spLocks noGrp="1"/>
          </p:cNvSpPr>
          <p:nvPr>
            <p:ph type="title"/>
          </p:nvPr>
        </p:nvSpPr>
        <p:spPr/>
        <p:txBody>
          <a:bodyPr/>
          <a:lstStyle/>
          <a:p>
            <a:r>
              <a:rPr lang="en-US" dirty="0"/>
              <a:t>What is a financial institution?</a:t>
            </a:r>
            <a:endParaRPr lang="en-IN" dirty="0"/>
          </a:p>
        </p:txBody>
      </p:sp>
      <p:sp>
        <p:nvSpPr>
          <p:cNvPr id="3" name="Content Placeholder 2">
            <a:extLst>
              <a:ext uri="{FF2B5EF4-FFF2-40B4-BE49-F238E27FC236}">
                <a16:creationId xmlns:a16="http://schemas.microsoft.com/office/drawing/2014/main" id="{1EA3FD05-559C-4272-9D44-192BAE02A8BC}"/>
              </a:ext>
            </a:extLst>
          </p:cNvPr>
          <p:cNvSpPr>
            <a:spLocks noGrp="1"/>
          </p:cNvSpPr>
          <p:nvPr>
            <p:ph idx="1"/>
          </p:nvPr>
        </p:nvSpPr>
        <p:spPr/>
        <p:txBody>
          <a:bodyPr/>
          <a:lstStyle/>
          <a:p>
            <a:r>
              <a:rPr lang="en-US" dirty="0"/>
              <a:t>Company that is intermediary between providers of funds and users of funds</a:t>
            </a:r>
          </a:p>
          <a:p>
            <a:r>
              <a:rPr lang="en-US" dirty="0"/>
              <a:t>Facilitates transfers of capital</a:t>
            </a:r>
          </a:p>
        </p:txBody>
      </p:sp>
      <p:sp>
        <p:nvSpPr>
          <p:cNvPr id="4" name="Slide Number Placeholder 3">
            <a:extLst>
              <a:ext uri="{FF2B5EF4-FFF2-40B4-BE49-F238E27FC236}">
                <a16:creationId xmlns:a16="http://schemas.microsoft.com/office/drawing/2014/main" id="{B6DCE378-DD9C-B61B-AD66-F5B2985ABF7C}"/>
              </a:ext>
            </a:extLst>
          </p:cNvPr>
          <p:cNvSpPr>
            <a:spLocks noGrp="1"/>
          </p:cNvSpPr>
          <p:nvPr>
            <p:ph type="sldNum" sz="quarter" idx="12"/>
          </p:nvPr>
        </p:nvSpPr>
        <p:spPr/>
        <p:txBody>
          <a:bodyPr/>
          <a:lstStyle/>
          <a:p>
            <a:pPr>
              <a:defRPr/>
            </a:pPr>
            <a:fld id="{4E499BF4-6C8D-417D-B206-0AF20A1CAAC7}" type="slidenum">
              <a:rPr lang="en-US" smtClean="0"/>
              <a:pPr>
                <a:defRPr/>
              </a:pPr>
              <a:t>36</a:t>
            </a:fld>
            <a:endParaRPr lang="en-US"/>
          </a:p>
        </p:txBody>
      </p:sp>
    </p:spTree>
    <p:extLst>
      <p:ext uri="{BB962C8B-B14F-4D97-AF65-F5344CB8AC3E}">
        <p14:creationId xmlns:p14="http://schemas.microsoft.com/office/powerpoint/2010/main" val="21996189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5" name="Rectangle 7"/>
          <p:cNvSpPr>
            <a:spLocks noGrp="1" noChangeArrowheads="1"/>
          </p:cNvSpPr>
          <p:nvPr>
            <p:ph type="title"/>
          </p:nvPr>
        </p:nvSpPr>
        <p:spPr/>
        <p:txBody>
          <a:bodyPr/>
          <a:lstStyle/>
          <a:p>
            <a:r>
              <a:rPr lang="en-US" altLang="en-US"/>
              <a:t>What are some financial institutions?</a:t>
            </a:r>
          </a:p>
        </p:txBody>
      </p:sp>
      <p:sp>
        <p:nvSpPr>
          <p:cNvPr id="40966" name="Rectangle 8"/>
          <p:cNvSpPr>
            <a:spLocks noGrp="1" noChangeArrowheads="1"/>
          </p:cNvSpPr>
          <p:nvPr>
            <p:ph idx="1"/>
          </p:nvPr>
        </p:nvSpPr>
        <p:spPr/>
        <p:txBody>
          <a:bodyPr>
            <a:normAutofit fontScale="85000" lnSpcReduction="20000"/>
          </a:bodyPr>
          <a:lstStyle/>
          <a:p>
            <a:r>
              <a:rPr lang="en-US" altLang="en-US" dirty="0"/>
              <a:t>Commercial banks</a:t>
            </a:r>
          </a:p>
          <a:p>
            <a:r>
              <a:rPr lang="en-US" altLang="en-US" dirty="0"/>
              <a:t>Investment banks</a:t>
            </a:r>
          </a:p>
          <a:p>
            <a:r>
              <a:rPr lang="en-US" altLang="en-US" dirty="0"/>
              <a:t>Savings &amp; Loans, mutual savings banks, &amp; credit unions</a:t>
            </a:r>
          </a:p>
          <a:p>
            <a:r>
              <a:rPr lang="en-US" altLang="en-US" dirty="0"/>
              <a:t>Life insurance companies</a:t>
            </a:r>
          </a:p>
          <a:p>
            <a:r>
              <a:rPr lang="en-US" altLang="en-US" dirty="0"/>
              <a:t>Mutual funds</a:t>
            </a:r>
          </a:p>
          <a:p>
            <a:pPr lvl="1"/>
            <a:r>
              <a:rPr lang="en-US" altLang="en-US" dirty="0"/>
              <a:t>Exchanged Traded Funds (ETFs)</a:t>
            </a:r>
          </a:p>
          <a:p>
            <a:r>
              <a:rPr lang="en-US" altLang="en-US" dirty="0"/>
              <a:t>Pension funds</a:t>
            </a:r>
          </a:p>
          <a:p>
            <a:r>
              <a:rPr lang="en-US" altLang="en-US" dirty="0"/>
              <a:t>Hedge funds &amp; private equity funds</a:t>
            </a:r>
          </a:p>
        </p:txBody>
      </p:sp>
      <p:sp>
        <p:nvSpPr>
          <p:cNvPr id="40963"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40964"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2" name="Slide Number Placeholder 1">
            <a:extLst>
              <a:ext uri="{FF2B5EF4-FFF2-40B4-BE49-F238E27FC236}">
                <a16:creationId xmlns:a16="http://schemas.microsoft.com/office/drawing/2014/main" id="{BD9B7E00-F1E4-9B67-3285-9B732DA3551E}"/>
              </a:ext>
            </a:extLst>
          </p:cNvPr>
          <p:cNvSpPr>
            <a:spLocks noGrp="1"/>
          </p:cNvSpPr>
          <p:nvPr>
            <p:ph type="sldNum" sz="quarter" idx="12"/>
          </p:nvPr>
        </p:nvSpPr>
        <p:spPr/>
        <p:txBody>
          <a:bodyPr/>
          <a:lstStyle/>
          <a:p>
            <a:pPr>
              <a:defRPr/>
            </a:pPr>
            <a:fld id="{4E499BF4-6C8D-417D-B206-0AF20A1CAAC7}" type="slidenum">
              <a:rPr lang="en-US" smtClean="0"/>
              <a:pPr>
                <a:defRPr/>
              </a:pPr>
              <a:t>37</a:t>
            </a:fld>
            <a:endParaRPr lang="en-US"/>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9" name="Rectangle 7"/>
          <p:cNvSpPr>
            <a:spLocks noGrp="1" noChangeArrowheads="1"/>
          </p:cNvSpPr>
          <p:nvPr>
            <p:ph type="title"/>
          </p:nvPr>
        </p:nvSpPr>
        <p:spPr/>
        <p:txBody>
          <a:bodyPr/>
          <a:lstStyle/>
          <a:p>
            <a:r>
              <a:rPr lang="en-US" altLang="en-US"/>
              <a:t>What are some types of markets?</a:t>
            </a:r>
          </a:p>
        </p:txBody>
      </p:sp>
      <p:sp>
        <p:nvSpPr>
          <p:cNvPr id="41990" name="Rectangle 8"/>
          <p:cNvSpPr>
            <a:spLocks noGrp="1" noChangeArrowheads="1"/>
          </p:cNvSpPr>
          <p:nvPr>
            <p:ph idx="1"/>
          </p:nvPr>
        </p:nvSpPr>
        <p:spPr>
          <a:xfrm>
            <a:off x="457200" y="1825625"/>
            <a:ext cx="8058150" cy="4351338"/>
          </a:xfrm>
        </p:spPr>
        <p:txBody>
          <a:bodyPr/>
          <a:lstStyle/>
          <a:p>
            <a:r>
              <a:rPr lang="en-US" altLang="en-US" dirty="0"/>
              <a:t>A market is a method of exchanging one asset (usually cash) for another asset.</a:t>
            </a:r>
          </a:p>
          <a:p>
            <a:pPr lvl="1"/>
            <a:r>
              <a:rPr lang="en-US" altLang="en-US" dirty="0"/>
              <a:t>Physical assets vs. financial assets</a:t>
            </a:r>
          </a:p>
          <a:p>
            <a:pPr lvl="1"/>
            <a:r>
              <a:rPr lang="en-US" altLang="en-US" dirty="0"/>
              <a:t>Spot versus future markets</a:t>
            </a:r>
          </a:p>
          <a:p>
            <a:pPr lvl="1"/>
            <a:r>
              <a:rPr lang="en-US" altLang="en-US" dirty="0"/>
              <a:t>Money versus capital markets</a:t>
            </a:r>
          </a:p>
          <a:p>
            <a:pPr lvl="1"/>
            <a:r>
              <a:rPr lang="en-US" altLang="en-US" dirty="0"/>
              <a:t>Primary versus secondary markets</a:t>
            </a:r>
          </a:p>
        </p:txBody>
      </p:sp>
      <p:sp>
        <p:nvSpPr>
          <p:cNvPr id="41987"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41988"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2" name="Slide Number Placeholder 1">
            <a:extLst>
              <a:ext uri="{FF2B5EF4-FFF2-40B4-BE49-F238E27FC236}">
                <a16:creationId xmlns:a16="http://schemas.microsoft.com/office/drawing/2014/main" id="{0715F2B7-AD7B-AABF-1AEA-ABBB6F316F4E}"/>
              </a:ext>
            </a:extLst>
          </p:cNvPr>
          <p:cNvSpPr>
            <a:spLocks noGrp="1"/>
          </p:cNvSpPr>
          <p:nvPr>
            <p:ph type="sldNum" sz="quarter" idx="12"/>
          </p:nvPr>
        </p:nvSpPr>
        <p:spPr/>
        <p:txBody>
          <a:bodyPr/>
          <a:lstStyle/>
          <a:p>
            <a:pPr>
              <a:defRPr/>
            </a:pPr>
            <a:fld id="{4E499BF4-6C8D-417D-B206-0AF20A1CAAC7}" type="slidenum">
              <a:rPr lang="en-US" smtClean="0"/>
              <a:pPr>
                <a:defRPr/>
              </a:pPr>
              <a:t>38</a:t>
            </a:fld>
            <a:endParaRPr lang="en-US"/>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011" name="Rectangle 4"/>
          <p:cNvSpPr>
            <a:spLocks noGrp="1" noChangeArrowheads="1"/>
          </p:cNvSpPr>
          <p:nvPr>
            <p:ph type="title"/>
          </p:nvPr>
        </p:nvSpPr>
        <p:spPr/>
        <p:txBody>
          <a:bodyPr/>
          <a:lstStyle/>
          <a:p>
            <a:r>
              <a:rPr lang="en-US" altLang="en-US"/>
              <a:t>Primary vs. Secondary Security Sales</a:t>
            </a:r>
          </a:p>
        </p:txBody>
      </p:sp>
      <p:sp>
        <p:nvSpPr>
          <p:cNvPr id="43012" name="Rectangle 5"/>
          <p:cNvSpPr>
            <a:spLocks noGrp="1" noChangeArrowheads="1"/>
          </p:cNvSpPr>
          <p:nvPr>
            <p:ph idx="1"/>
          </p:nvPr>
        </p:nvSpPr>
        <p:spPr/>
        <p:txBody>
          <a:bodyPr>
            <a:normAutofit/>
          </a:bodyPr>
          <a:lstStyle/>
          <a:p>
            <a:r>
              <a:rPr lang="en-US" altLang="en-US" dirty="0"/>
              <a:t>Primary</a:t>
            </a:r>
          </a:p>
          <a:p>
            <a:pPr lvl="1"/>
            <a:r>
              <a:rPr lang="en-US" altLang="en-US" dirty="0"/>
              <a:t>New issue (IPO or seasoned)</a:t>
            </a:r>
          </a:p>
          <a:p>
            <a:pPr lvl="1"/>
            <a:r>
              <a:rPr lang="en-US" altLang="en-US" dirty="0"/>
              <a:t>Key factor: issuer receives proceeds from sale.</a:t>
            </a:r>
          </a:p>
          <a:p>
            <a:r>
              <a:rPr lang="en-US" altLang="en-US" dirty="0"/>
              <a:t>Secondary</a:t>
            </a:r>
          </a:p>
          <a:p>
            <a:pPr lvl="1"/>
            <a:r>
              <a:rPr lang="en-US" altLang="en-US" dirty="0"/>
              <a:t>Existing owner sells to another party.</a:t>
            </a:r>
          </a:p>
          <a:p>
            <a:pPr lvl="1"/>
            <a:r>
              <a:rPr lang="en-US" altLang="en-US" dirty="0"/>
              <a:t>Issuing firm doesn’t receive proceeds &amp; is not directly involved.</a:t>
            </a:r>
          </a:p>
        </p:txBody>
      </p:sp>
      <p:sp>
        <p:nvSpPr>
          <p:cNvPr id="2" name="Slide Number Placeholder 1">
            <a:extLst>
              <a:ext uri="{FF2B5EF4-FFF2-40B4-BE49-F238E27FC236}">
                <a16:creationId xmlns:a16="http://schemas.microsoft.com/office/drawing/2014/main" id="{C515E8E5-70B0-1952-B3B9-2672DD0700A3}"/>
              </a:ext>
            </a:extLst>
          </p:cNvPr>
          <p:cNvSpPr>
            <a:spLocks noGrp="1"/>
          </p:cNvSpPr>
          <p:nvPr>
            <p:ph type="sldNum" sz="quarter" idx="12"/>
          </p:nvPr>
        </p:nvSpPr>
        <p:spPr/>
        <p:txBody>
          <a:bodyPr/>
          <a:lstStyle/>
          <a:p>
            <a:pPr>
              <a:defRPr/>
            </a:pPr>
            <a:fld id="{4E499BF4-6C8D-417D-B206-0AF20A1CAAC7}" type="slidenum">
              <a:rPr lang="en-US" smtClean="0"/>
              <a:pPr>
                <a:defRPr/>
              </a:pPr>
              <a:t>39</a:t>
            </a:fld>
            <a:endParaRPr lang="en-US"/>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0B712-A374-49CD-AC5C-7DC10F0069C6}"/>
              </a:ext>
            </a:extLst>
          </p:cNvPr>
          <p:cNvSpPr>
            <a:spLocks noGrp="1"/>
          </p:cNvSpPr>
          <p:nvPr>
            <p:ph type="title"/>
          </p:nvPr>
        </p:nvSpPr>
        <p:spPr/>
        <p:txBody>
          <a:bodyPr/>
          <a:lstStyle/>
          <a:p>
            <a:r>
              <a:rPr lang="en-US" dirty="0"/>
              <a:t>Key Features of Primary Markets</a:t>
            </a:r>
            <a:endParaRPr lang="en-IN" dirty="0"/>
          </a:p>
        </p:txBody>
      </p:sp>
      <p:sp>
        <p:nvSpPr>
          <p:cNvPr id="3" name="Content Placeholder 2">
            <a:extLst>
              <a:ext uri="{FF2B5EF4-FFF2-40B4-BE49-F238E27FC236}">
                <a16:creationId xmlns:a16="http://schemas.microsoft.com/office/drawing/2014/main" id="{1EA3FD05-559C-4272-9D44-192BAE02A8BC}"/>
              </a:ext>
            </a:extLst>
          </p:cNvPr>
          <p:cNvSpPr>
            <a:spLocks noGrp="1"/>
          </p:cNvSpPr>
          <p:nvPr>
            <p:ph idx="1"/>
          </p:nvPr>
        </p:nvSpPr>
        <p:spPr/>
        <p:txBody>
          <a:bodyPr/>
          <a:lstStyle/>
          <a:p>
            <a:r>
              <a:rPr lang="en-US" dirty="0"/>
              <a:t>A new security is created.</a:t>
            </a:r>
          </a:p>
          <a:p>
            <a:r>
              <a:rPr lang="en-US" dirty="0"/>
              <a:t>Issuer receives proceeds from the sale of new security. Examples include:</a:t>
            </a:r>
          </a:p>
          <a:p>
            <a:pPr lvl="1"/>
            <a:r>
              <a:rPr lang="en-US" dirty="0"/>
              <a:t>Stocks sold to public in IPO</a:t>
            </a:r>
          </a:p>
          <a:p>
            <a:pPr lvl="1"/>
            <a:r>
              <a:rPr lang="en-US" dirty="0"/>
              <a:t>Seasoned equity offering after going public</a:t>
            </a:r>
          </a:p>
          <a:p>
            <a:pPr lvl="1"/>
            <a:r>
              <a:rPr lang="en-US" dirty="0"/>
              <a:t>Bonds sold to public by a company or government</a:t>
            </a:r>
          </a:p>
        </p:txBody>
      </p:sp>
      <p:sp>
        <p:nvSpPr>
          <p:cNvPr id="4" name="Slide Number Placeholder 3">
            <a:extLst>
              <a:ext uri="{FF2B5EF4-FFF2-40B4-BE49-F238E27FC236}">
                <a16:creationId xmlns:a16="http://schemas.microsoft.com/office/drawing/2014/main" id="{837BC0AC-EE6A-FA13-2A78-457EAB08666A}"/>
              </a:ext>
            </a:extLst>
          </p:cNvPr>
          <p:cNvSpPr>
            <a:spLocks noGrp="1"/>
          </p:cNvSpPr>
          <p:nvPr>
            <p:ph type="sldNum" sz="quarter" idx="12"/>
          </p:nvPr>
        </p:nvSpPr>
        <p:spPr/>
        <p:txBody>
          <a:bodyPr/>
          <a:lstStyle/>
          <a:p>
            <a:pPr>
              <a:defRPr/>
            </a:pPr>
            <a:fld id="{4E499BF4-6C8D-417D-B206-0AF20A1CAAC7}" type="slidenum">
              <a:rPr lang="en-US" smtClean="0"/>
              <a:pPr>
                <a:defRPr/>
              </a:pPr>
              <a:t>40</a:t>
            </a:fld>
            <a:endParaRPr lang="en-US"/>
          </a:p>
        </p:txBody>
      </p:sp>
    </p:spTree>
    <p:extLst>
      <p:ext uri="{BB962C8B-B14F-4D97-AF65-F5344CB8AC3E}">
        <p14:creationId xmlns:p14="http://schemas.microsoft.com/office/powerpoint/2010/main" val="8029525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0B712-A374-49CD-AC5C-7DC10F0069C6}"/>
              </a:ext>
            </a:extLst>
          </p:cNvPr>
          <p:cNvSpPr>
            <a:spLocks noGrp="1"/>
          </p:cNvSpPr>
          <p:nvPr>
            <p:ph type="title"/>
          </p:nvPr>
        </p:nvSpPr>
        <p:spPr/>
        <p:txBody>
          <a:bodyPr/>
          <a:lstStyle/>
          <a:p>
            <a:r>
              <a:rPr lang="en-US" dirty="0"/>
              <a:t>Secondary Markets</a:t>
            </a:r>
            <a:endParaRPr lang="en-IN" dirty="0"/>
          </a:p>
        </p:txBody>
      </p:sp>
      <p:sp>
        <p:nvSpPr>
          <p:cNvPr id="3" name="Content Placeholder 2">
            <a:extLst>
              <a:ext uri="{FF2B5EF4-FFF2-40B4-BE49-F238E27FC236}">
                <a16:creationId xmlns:a16="http://schemas.microsoft.com/office/drawing/2014/main" id="{1EA3FD05-559C-4272-9D44-192BAE02A8BC}"/>
              </a:ext>
            </a:extLst>
          </p:cNvPr>
          <p:cNvSpPr>
            <a:spLocks noGrp="1"/>
          </p:cNvSpPr>
          <p:nvPr>
            <p:ph idx="1"/>
          </p:nvPr>
        </p:nvSpPr>
        <p:spPr/>
        <p:txBody>
          <a:bodyPr/>
          <a:lstStyle/>
          <a:p>
            <a:pPr>
              <a:spcBef>
                <a:spcPts val="600"/>
              </a:spcBef>
            </a:pPr>
            <a:r>
              <a:rPr lang="en-US" dirty="0"/>
              <a:t>Existing owner of a security sells it to another party.</a:t>
            </a:r>
          </a:p>
          <a:p>
            <a:pPr>
              <a:spcBef>
                <a:spcPts val="600"/>
              </a:spcBef>
            </a:pPr>
            <a:r>
              <a:rPr lang="en-US" dirty="0"/>
              <a:t>Issuing firm is not directly involved.</a:t>
            </a:r>
          </a:p>
          <a:p>
            <a:pPr>
              <a:spcBef>
                <a:spcPts val="600"/>
              </a:spcBef>
            </a:pPr>
            <a:r>
              <a:rPr lang="en-US" dirty="0"/>
              <a:t>There are secondary markets for:</a:t>
            </a:r>
          </a:p>
          <a:p>
            <a:pPr lvl="1">
              <a:spcBef>
                <a:spcPts val="600"/>
              </a:spcBef>
            </a:pPr>
            <a:r>
              <a:rPr lang="en-US" dirty="0"/>
              <a:t>Stocks</a:t>
            </a:r>
          </a:p>
          <a:p>
            <a:pPr lvl="1">
              <a:spcBef>
                <a:spcPts val="600"/>
              </a:spcBef>
            </a:pPr>
            <a:r>
              <a:rPr lang="en-US" dirty="0"/>
              <a:t>Bonds</a:t>
            </a:r>
          </a:p>
          <a:p>
            <a:pPr lvl="1">
              <a:spcBef>
                <a:spcPts val="600"/>
              </a:spcBef>
            </a:pPr>
            <a:r>
              <a:rPr lang="en-US" dirty="0"/>
              <a:t>Options</a:t>
            </a:r>
          </a:p>
        </p:txBody>
      </p:sp>
      <p:sp>
        <p:nvSpPr>
          <p:cNvPr id="4" name="Slide Number Placeholder 3">
            <a:extLst>
              <a:ext uri="{FF2B5EF4-FFF2-40B4-BE49-F238E27FC236}">
                <a16:creationId xmlns:a16="http://schemas.microsoft.com/office/drawing/2014/main" id="{08882060-14F5-DEB6-AA56-4560C280497B}"/>
              </a:ext>
            </a:extLst>
          </p:cNvPr>
          <p:cNvSpPr>
            <a:spLocks noGrp="1"/>
          </p:cNvSpPr>
          <p:nvPr>
            <p:ph type="sldNum" sz="quarter" idx="12"/>
          </p:nvPr>
        </p:nvSpPr>
        <p:spPr/>
        <p:txBody>
          <a:bodyPr/>
          <a:lstStyle/>
          <a:p>
            <a:pPr>
              <a:defRPr/>
            </a:pPr>
            <a:fld id="{4E499BF4-6C8D-417D-B206-0AF20A1CAAC7}" type="slidenum">
              <a:rPr lang="en-US" smtClean="0"/>
              <a:pPr>
                <a:defRPr/>
              </a:pPr>
              <a:t>41</a:t>
            </a:fld>
            <a:endParaRPr lang="en-US"/>
          </a:p>
        </p:txBody>
      </p:sp>
    </p:spTree>
    <p:extLst>
      <p:ext uri="{BB962C8B-B14F-4D97-AF65-F5344CB8AC3E}">
        <p14:creationId xmlns:p14="http://schemas.microsoft.com/office/powerpoint/2010/main" val="297959877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0B712-A374-49CD-AC5C-7DC10F0069C6}"/>
              </a:ext>
            </a:extLst>
          </p:cNvPr>
          <p:cNvSpPr>
            <a:spLocks noGrp="1"/>
          </p:cNvSpPr>
          <p:nvPr>
            <p:ph type="title"/>
          </p:nvPr>
        </p:nvSpPr>
        <p:spPr/>
        <p:txBody>
          <a:bodyPr>
            <a:normAutofit fontScale="90000"/>
          </a:bodyPr>
          <a:lstStyle/>
          <a:p>
            <a:r>
              <a:rPr lang="en-US" dirty="0"/>
              <a:t>Secondary Markets are Important Because They:</a:t>
            </a:r>
            <a:endParaRPr lang="en-IN" dirty="0"/>
          </a:p>
        </p:txBody>
      </p:sp>
      <p:sp>
        <p:nvSpPr>
          <p:cNvPr id="3" name="Content Placeholder 2">
            <a:extLst>
              <a:ext uri="{FF2B5EF4-FFF2-40B4-BE49-F238E27FC236}">
                <a16:creationId xmlns:a16="http://schemas.microsoft.com/office/drawing/2014/main" id="{1EA3FD05-559C-4272-9D44-192BAE02A8BC}"/>
              </a:ext>
            </a:extLst>
          </p:cNvPr>
          <p:cNvSpPr>
            <a:spLocks noGrp="1"/>
          </p:cNvSpPr>
          <p:nvPr>
            <p:ph idx="1"/>
          </p:nvPr>
        </p:nvSpPr>
        <p:spPr/>
        <p:txBody>
          <a:bodyPr>
            <a:normAutofit lnSpcReduction="10000"/>
          </a:bodyPr>
          <a:lstStyle/>
          <a:p>
            <a:pPr>
              <a:spcBef>
                <a:spcPts val="600"/>
              </a:spcBef>
            </a:pPr>
            <a:r>
              <a:rPr lang="en-US" dirty="0"/>
              <a:t>Allow entrepreneurs to reap rewards by selling some of their stock and then:</a:t>
            </a:r>
          </a:p>
          <a:p>
            <a:pPr lvl="1">
              <a:spcBef>
                <a:spcPts val="600"/>
              </a:spcBef>
            </a:pPr>
            <a:r>
              <a:rPr lang="en-US" dirty="0"/>
              <a:t>Make new investments.</a:t>
            </a:r>
          </a:p>
          <a:p>
            <a:pPr lvl="1">
              <a:spcBef>
                <a:spcPts val="600"/>
              </a:spcBef>
            </a:pPr>
            <a:r>
              <a:rPr lang="en-US" dirty="0"/>
              <a:t>Improve their standards of living.</a:t>
            </a:r>
          </a:p>
          <a:p>
            <a:pPr>
              <a:spcBef>
                <a:spcPts val="600"/>
              </a:spcBef>
            </a:pPr>
            <a:r>
              <a:rPr lang="en-US" dirty="0"/>
              <a:t>Provide liquidity for owners of securities.</a:t>
            </a:r>
          </a:p>
          <a:p>
            <a:pPr>
              <a:spcBef>
                <a:spcPts val="600"/>
              </a:spcBef>
            </a:pPr>
            <a:r>
              <a:rPr lang="en-US" dirty="0"/>
              <a:t>Enable buyers/sellers to use prices to compare values of different investment alternatives.</a:t>
            </a:r>
          </a:p>
        </p:txBody>
      </p:sp>
      <p:sp>
        <p:nvSpPr>
          <p:cNvPr id="4" name="Slide Number Placeholder 3">
            <a:extLst>
              <a:ext uri="{FF2B5EF4-FFF2-40B4-BE49-F238E27FC236}">
                <a16:creationId xmlns:a16="http://schemas.microsoft.com/office/drawing/2014/main" id="{8CE80FCD-6EEA-6D44-35DE-338E6F57EC4A}"/>
              </a:ext>
            </a:extLst>
          </p:cNvPr>
          <p:cNvSpPr>
            <a:spLocks noGrp="1"/>
          </p:cNvSpPr>
          <p:nvPr>
            <p:ph type="sldNum" sz="quarter" idx="12"/>
          </p:nvPr>
        </p:nvSpPr>
        <p:spPr/>
        <p:txBody>
          <a:bodyPr/>
          <a:lstStyle/>
          <a:p>
            <a:pPr>
              <a:defRPr/>
            </a:pPr>
            <a:fld id="{4E499BF4-6C8D-417D-B206-0AF20A1CAAC7}" type="slidenum">
              <a:rPr lang="en-US" smtClean="0"/>
              <a:pPr>
                <a:defRPr/>
              </a:pPr>
              <a:t>42</a:t>
            </a:fld>
            <a:endParaRPr lang="en-US"/>
          </a:p>
        </p:txBody>
      </p:sp>
    </p:spTree>
    <p:extLst>
      <p:ext uri="{BB962C8B-B14F-4D97-AF65-F5344CB8AC3E}">
        <p14:creationId xmlns:p14="http://schemas.microsoft.com/office/powerpoint/2010/main" val="109615554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7" name="Rectangle 2055"/>
          <p:cNvSpPr>
            <a:spLocks noGrp="1" noChangeArrowheads="1"/>
          </p:cNvSpPr>
          <p:nvPr>
            <p:ph type="title"/>
          </p:nvPr>
        </p:nvSpPr>
        <p:spPr/>
        <p:txBody>
          <a:bodyPr/>
          <a:lstStyle/>
          <a:p>
            <a:r>
              <a:rPr lang="en-US" altLang="en-US"/>
              <a:t>How are secondary markets organized?</a:t>
            </a:r>
          </a:p>
        </p:txBody>
      </p:sp>
      <p:sp>
        <p:nvSpPr>
          <p:cNvPr id="44038" name="Rectangle 2056"/>
          <p:cNvSpPr>
            <a:spLocks noGrp="1" noChangeArrowheads="1"/>
          </p:cNvSpPr>
          <p:nvPr>
            <p:ph idx="1"/>
          </p:nvPr>
        </p:nvSpPr>
        <p:spPr/>
        <p:txBody>
          <a:bodyPr>
            <a:normAutofit lnSpcReduction="10000"/>
          </a:bodyPr>
          <a:lstStyle/>
          <a:p>
            <a:r>
              <a:rPr lang="en-US" altLang="en-US" dirty="0"/>
              <a:t>By “location”</a:t>
            </a:r>
          </a:p>
          <a:p>
            <a:pPr lvl="1"/>
            <a:r>
              <a:rPr lang="en-US" altLang="en-US" dirty="0"/>
              <a:t>Physical location exchanges</a:t>
            </a:r>
          </a:p>
          <a:p>
            <a:pPr lvl="1"/>
            <a:r>
              <a:rPr lang="en-US" altLang="en-US" dirty="0"/>
              <a:t>Computer/telephone networks</a:t>
            </a:r>
          </a:p>
          <a:p>
            <a:r>
              <a:rPr lang="en-US" altLang="en-US" dirty="0"/>
              <a:t>By way that orders from buyers &amp; sellers are matched</a:t>
            </a:r>
          </a:p>
          <a:p>
            <a:pPr lvl="1"/>
            <a:r>
              <a:rPr lang="en-US" altLang="en-US" dirty="0"/>
              <a:t>Open outcry auction</a:t>
            </a:r>
          </a:p>
          <a:p>
            <a:pPr lvl="1"/>
            <a:r>
              <a:rPr lang="en-US" altLang="en-US" dirty="0"/>
              <a:t>Dealers (i.e., market makers)</a:t>
            </a:r>
          </a:p>
          <a:p>
            <a:pPr lvl="1"/>
            <a:r>
              <a:rPr lang="en-US" altLang="en-US" dirty="0"/>
              <a:t>Electronic communications networks (ECNs) </a:t>
            </a:r>
          </a:p>
        </p:txBody>
      </p:sp>
      <p:sp>
        <p:nvSpPr>
          <p:cNvPr id="44035" name="Rectangle 205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44036" name="Rectangle 205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2" name="Slide Number Placeholder 1">
            <a:extLst>
              <a:ext uri="{FF2B5EF4-FFF2-40B4-BE49-F238E27FC236}">
                <a16:creationId xmlns:a16="http://schemas.microsoft.com/office/drawing/2014/main" id="{70D2B45F-F2B6-7A9C-70D3-9F15E7C45C15}"/>
              </a:ext>
            </a:extLst>
          </p:cNvPr>
          <p:cNvSpPr>
            <a:spLocks noGrp="1"/>
          </p:cNvSpPr>
          <p:nvPr>
            <p:ph type="sldNum" sz="quarter" idx="12"/>
          </p:nvPr>
        </p:nvSpPr>
        <p:spPr/>
        <p:txBody>
          <a:bodyPr/>
          <a:lstStyle/>
          <a:p>
            <a:pPr>
              <a:defRPr/>
            </a:pPr>
            <a:fld id="{4E499BF4-6C8D-417D-B206-0AF20A1CAAC7}" type="slidenum">
              <a:rPr lang="en-US" smtClean="0"/>
              <a:pPr>
                <a:defRPr/>
              </a:pPr>
              <a:t>43</a:t>
            </a:fld>
            <a:endParaRPr lang="en-US"/>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1" name="Rectangle 9"/>
          <p:cNvSpPr>
            <a:spLocks noGrp="1" noChangeArrowheads="1"/>
          </p:cNvSpPr>
          <p:nvPr>
            <p:ph type="title"/>
          </p:nvPr>
        </p:nvSpPr>
        <p:spPr/>
        <p:txBody>
          <a:bodyPr>
            <a:normAutofit fontScale="90000"/>
          </a:bodyPr>
          <a:lstStyle/>
          <a:p>
            <a:r>
              <a:rPr lang="en-US" altLang="en-US"/>
              <a:t>Physical Location vs. Computer/telephone Networks</a:t>
            </a:r>
          </a:p>
        </p:txBody>
      </p:sp>
      <p:sp>
        <p:nvSpPr>
          <p:cNvPr id="45062" name="Rectangle 10"/>
          <p:cNvSpPr>
            <a:spLocks noGrp="1" noChangeArrowheads="1"/>
          </p:cNvSpPr>
          <p:nvPr>
            <p:ph idx="1"/>
          </p:nvPr>
        </p:nvSpPr>
        <p:spPr/>
        <p:txBody>
          <a:bodyPr/>
          <a:lstStyle/>
          <a:p>
            <a:r>
              <a:rPr lang="en-US" altLang="en-US"/>
              <a:t>Physical location exchanges: e.g., NYSE, AMEX, CBOT, Tokyo Stock Exchange</a:t>
            </a:r>
          </a:p>
          <a:p>
            <a:r>
              <a:rPr lang="en-US" altLang="en-US"/>
              <a:t>Computer/telephone: e.g., Nasdaq, government bond markets, foreign exchange markets</a:t>
            </a:r>
          </a:p>
        </p:txBody>
      </p:sp>
      <p:sp>
        <p:nvSpPr>
          <p:cNvPr id="45059"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45060"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2" name="Slide Number Placeholder 1">
            <a:extLst>
              <a:ext uri="{FF2B5EF4-FFF2-40B4-BE49-F238E27FC236}">
                <a16:creationId xmlns:a16="http://schemas.microsoft.com/office/drawing/2014/main" id="{FBBE7900-9F80-EBFA-D552-B05FA3F06AA3}"/>
              </a:ext>
            </a:extLst>
          </p:cNvPr>
          <p:cNvSpPr>
            <a:spLocks noGrp="1"/>
          </p:cNvSpPr>
          <p:nvPr>
            <p:ph type="sldNum" sz="quarter" idx="12"/>
          </p:nvPr>
        </p:nvSpPr>
        <p:spPr/>
        <p:txBody>
          <a:bodyPr/>
          <a:lstStyle/>
          <a:p>
            <a:pPr>
              <a:defRPr/>
            </a:pPr>
            <a:fld id="{4E499BF4-6C8D-417D-B206-0AF20A1CAAC7}" type="slidenum">
              <a:rPr lang="en-US" smtClean="0"/>
              <a:pPr>
                <a:defRPr/>
              </a:pPr>
              <a:t>44</a:t>
            </a:fld>
            <a:endParaRPr lang="en-US"/>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083" name="Rectangle 2"/>
          <p:cNvSpPr>
            <a:spLocks noGrp="1" noChangeArrowheads="1"/>
          </p:cNvSpPr>
          <p:nvPr>
            <p:ph type="title"/>
          </p:nvPr>
        </p:nvSpPr>
        <p:spPr/>
        <p:txBody>
          <a:bodyPr/>
          <a:lstStyle/>
          <a:p>
            <a:r>
              <a:rPr lang="en-US" altLang="en-US"/>
              <a:t>Types of Orders</a:t>
            </a:r>
          </a:p>
        </p:txBody>
      </p:sp>
      <p:sp>
        <p:nvSpPr>
          <p:cNvPr id="46084" name="Rectangle 3"/>
          <p:cNvSpPr>
            <a:spLocks noGrp="1" noChangeArrowheads="1"/>
          </p:cNvSpPr>
          <p:nvPr>
            <p:ph idx="1"/>
          </p:nvPr>
        </p:nvSpPr>
        <p:spPr/>
        <p:txBody>
          <a:bodyPr/>
          <a:lstStyle/>
          <a:p>
            <a:r>
              <a:rPr lang="en-US" altLang="en-US" dirty="0"/>
              <a:t>Instructions on how a transaction is to be completed</a:t>
            </a:r>
          </a:p>
          <a:p>
            <a:pPr lvl="1"/>
            <a:r>
              <a:rPr lang="en-US" altLang="en-US" dirty="0"/>
              <a:t>Market Order– Transact as quickly as possible at current price</a:t>
            </a:r>
          </a:p>
          <a:p>
            <a:pPr lvl="1"/>
            <a:r>
              <a:rPr lang="en-US" altLang="en-US" dirty="0"/>
              <a:t>Limit Order– Transact only if specific situation occurs.  For example, buy if price drops to $50 or below during next two hours.</a:t>
            </a:r>
          </a:p>
        </p:txBody>
      </p:sp>
      <p:sp>
        <p:nvSpPr>
          <p:cNvPr id="2" name="Slide Number Placeholder 1">
            <a:extLst>
              <a:ext uri="{FF2B5EF4-FFF2-40B4-BE49-F238E27FC236}">
                <a16:creationId xmlns:a16="http://schemas.microsoft.com/office/drawing/2014/main" id="{93736B91-7E53-91E1-1E60-ACEF31E6EF23}"/>
              </a:ext>
            </a:extLst>
          </p:cNvPr>
          <p:cNvSpPr>
            <a:spLocks noGrp="1"/>
          </p:cNvSpPr>
          <p:nvPr>
            <p:ph type="sldNum" sz="quarter" idx="12"/>
          </p:nvPr>
        </p:nvSpPr>
        <p:spPr/>
        <p:txBody>
          <a:bodyPr/>
          <a:lstStyle/>
          <a:p>
            <a:pPr>
              <a:defRPr/>
            </a:pPr>
            <a:fld id="{4E499BF4-6C8D-417D-B206-0AF20A1CAAC7}" type="slidenum">
              <a:rPr lang="en-US" smtClean="0"/>
              <a:pPr>
                <a:defRPr/>
              </a:pPr>
              <a:t>45</a:t>
            </a:fld>
            <a:endParaRPr lang="en-US"/>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9" name="Rectangle 10"/>
          <p:cNvSpPr>
            <a:spLocks noGrp="1" noChangeArrowheads="1"/>
          </p:cNvSpPr>
          <p:nvPr>
            <p:ph type="title"/>
          </p:nvPr>
        </p:nvSpPr>
        <p:spPr/>
        <p:txBody>
          <a:bodyPr/>
          <a:lstStyle/>
          <a:p>
            <a:pPr eaLnBrk="1" hangingPunct="1"/>
            <a:r>
              <a:rPr lang="en-US" altLang="en-US"/>
              <a:t>Auction Markets</a:t>
            </a:r>
          </a:p>
        </p:txBody>
      </p:sp>
      <p:sp>
        <p:nvSpPr>
          <p:cNvPr id="47110" name="Rectangle 11"/>
          <p:cNvSpPr>
            <a:spLocks noGrp="1" noChangeArrowheads="1"/>
          </p:cNvSpPr>
          <p:nvPr>
            <p:ph idx="1"/>
          </p:nvPr>
        </p:nvSpPr>
        <p:spPr/>
        <p:txBody>
          <a:bodyPr/>
          <a:lstStyle/>
          <a:p>
            <a:pPr eaLnBrk="1" hangingPunct="1"/>
            <a:r>
              <a:rPr lang="en-US" altLang="en-US" sz="2800" dirty="0"/>
              <a:t>Participants have a seat on exchange, meet face-to-face, &amp; place orders for themselves or for their clients; e.g., CBOT.</a:t>
            </a:r>
          </a:p>
          <a:p>
            <a:pPr eaLnBrk="1" hangingPunct="1"/>
            <a:r>
              <a:rPr lang="en-US" altLang="en-US" sz="2800" dirty="0"/>
              <a:t>NYSE &amp; AMEX are two largest auction markets for stocks. </a:t>
            </a:r>
          </a:p>
          <a:p>
            <a:pPr eaLnBrk="1" hangingPunct="1"/>
            <a:r>
              <a:rPr lang="en-US" altLang="en-US" sz="2800" dirty="0"/>
              <a:t>NYSE is a modified auction, with a “specialist.”</a:t>
            </a:r>
          </a:p>
        </p:txBody>
      </p:sp>
      <p:sp>
        <p:nvSpPr>
          <p:cNvPr id="47107"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47108"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2" name="Slide Number Placeholder 1">
            <a:extLst>
              <a:ext uri="{FF2B5EF4-FFF2-40B4-BE49-F238E27FC236}">
                <a16:creationId xmlns:a16="http://schemas.microsoft.com/office/drawing/2014/main" id="{CEF645F4-06C8-143B-243C-4F11DFAF9E59}"/>
              </a:ext>
            </a:extLst>
          </p:cNvPr>
          <p:cNvSpPr>
            <a:spLocks noGrp="1"/>
          </p:cNvSpPr>
          <p:nvPr>
            <p:ph type="sldNum" sz="quarter" idx="12"/>
          </p:nvPr>
        </p:nvSpPr>
        <p:spPr/>
        <p:txBody>
          <a:bodyPr/>
          <a:lstStyle/>
          <a:p>
            <a:pPr>
              <a:defRPr/>
            </a:pPr>
            <a:fld id="{4E499BF4-6C8D-417D-B206-0AF20A1CAAC7}" type="slidenum">
              <a:rPr lang="en-US" smtClean="0"/>
              <a:pPr>
                <a:defRPr/>
              </a:pPr>
              <a:t>46</a:t>
            </a:fld>
            <a:endParaRPr lang="en-US"/>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3" name="Rectangle 8"/>
          <p:cNvSpPr>
            <a:spLocks noGrp="1" noChangeArrowheads="1"/>
          </p:cNvSpPr>
          <p:nvPr>
            <p:ph type="title"/>
          </p:nvPr>
        </p:nvSpPr>
        <p:spPr/>
        <p:txBody>
          <a:bodyPr/>
          <a:lstStyle/>
          <a:p>
            <a:r>
              <a:rPr lang="en-US" altLang="en-US"/>
              <a:t>Dealer Markets</a:t>
            </a:r>
          </a:p>
        </p:txBody>
      </p:sp>
      <p:sp>
        <p:nvSpPr>
          <p:cNvPr id="48134" name="Rectangle 9"/>
          <p:cNvSpPr>
            <a:spLocks noGrp="1" noChangeArrowheads="1"/>
          </p:cNvSpPr>
          <p:nvPr>
            <p:ph idx="1"/>
          </p:nvPr>
        </p:nvSpPr>
        <p:spPr/>
        <p:txBody>
          <a:bodyPr>
            <a:normAutofit fontScale="85000" lnSpcReduction="20000"/>
          </a:bodyPr>
          <a:lstStyle/>
          <a:p>
            <a:r>
              <a:rPr lang="en-US" altLang="en-US" dirty="0"/>
              <a:t>“Dealers” keep an inventory of stock (or other financial asset) &amp; place bid &amp; ask “advertisements,” which are prices at which they are willing to buy &amp; sell.</a:t>
            </a:r>
          </a:p>
          <a:p>
            <a:r>
              <a:rPr lang="en-US" altLang="en-US" dirty="0"/>
              <a:t>Often many dealers for each stock</a:t>
            </a:r>
          </a:p>
          <a:p>
            <a:r>
              <a:rPr lang="en-US" altLang="en-US" dirty="0"/>
              <a:t>Computerized quotation system keeps track of bid &amp; ask prices, but does not automatically match buyers &amp; sellers.</a:t>
            </a:r>
          </a:p>
          <a:p>
            <a:r>
              <a:rPr lang="en-US" altLang="en-US" dirty="0"/>
              <a:t>Examples: Nasdaq National Market, Nasdaq SmallCap Market, London SEAQ, German </a:t>
            </a:r>
            <a:r>
              <a:rPr lang="en-US" altLang="en-US" dirty="0" err="1"/>
              <a:t>Neuer</a:t>
            </a:r>
            <a:r>
              <a:rPr lang="en-US" altLang="en-US" dirty="0"/>
              <a:t> </a:t>
            </a:r>
            <a:r>
              <a:rPr lang="en-US" altLang="en-US" dirty="0" err="1"/>
              <a:t>Markt</a:t>
            </a:r>
            <a:r>
              <a:rPr lang="en-US" altLang="en-US" dirty="0"/>
              <a:t>.</a:t>
            </a:r>
          </a:p>
        </p:txBody>
      </p:sp>
      <p:sp>
        <p:nvSpPr>
          <p:cNvPr id="48131"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48132"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2" name="Slide Number Placeholder 1">
            <a:extLst>
              <a:ext uri="{FF2B5EF4-FFF2-40B4-BE49-F238E27FC236}">
                <a16:creationId xmlns:a16="http://schemas.microsoft.com/office/drawing/2014/main" id="{BB119AA1-0350-AFA2-C365-FE55E79C4D4B}"/>
              </a:ext>
            </a:extLst>
          </p:cNvPr>
          <p:cNvSpPr>
            <a:spLocks noGrp="1"/>
          </p:cNvSpPr>
          <p:nvPr>
            <p:ph type="sldNum" sz="quarter" idx="12"/>
          </p:nvPr>
        </p:nvSpPr>
        <p:spPr/>
        <p:txBody>
          <a:bodyPr/>
          <a:lstStyle/>
          <a:p>
            <a:pPr>
              <a:defRPr/>
            </a:pPr>
            <a:fld id="{4E499BF4-6C8D-417D-B206-0AF20A1CAAC7}" type="slidenum">
              <a:rPr lang="en-US" smtClean="0"/>
              <a:pPr>
                <a:defRPr/>
              </a:pPr>
              <a:t>47</a:t>
            </a:fld>
            <a:endParaRPr lang="en-US"/>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0B712-A374-49CD-AC5C-7DC10F0069C6}"/>
              </a:ext>
            </a:extLst>
          </p:cNvPr>
          <p:cNvSpPr>
            <a:spLocks noGrp="1"/>
          </p:cNvSpPr>
          <p:nvPr>
            <p:ph type="title"/>
          </p:nvPr>
        </p:nvSpPr>
        <p:spPr/>
        <p:txBody>
          <a:bodyPr/>
          <a:lstStyle/>
          <a:p>
            <a:r>
              <a:rPr lang="en-US" dirty="0"/>
              <a:t>Types of Orders from Clients</a:t>
            </a:r>
            <a:endParaRPr lang="en-IN" dirty="0"/>
          </a:p>
        </p:txBody>
      </p:sp>
      <p:sp>
        <p:nvSpPr>
          <p:cNvPr id="3" name="Content Placeholder 2">
            <a:extLst>
              <a:ext uri="{FF2B5EF4-FFF2-40B4-BE49-F238E27FC236}">
                <a16:creationId xmlns:a16="http://schemas.microsoft.com/office/drawing/2014/main" id="{1EA3FD05-559C-4272-9D44-192BAE02A8BC}"/>
              </a:ext>
            </a:extLst>
          </p:cNvPr>
          <p:cNvSpPr>
            <a:spLocks noGrp="1"/>
          </p:cNvSpPr>
          <p:nvPr>
            <p:ph idx="1"/>
          </p:nvPr>
        </p:nvSpPr>
        <p:spPr/>
        <p:txBody>
          <a:bodyPr/>
          <a:lstStyle/>
          <a:p>
            <a:pPr>
              <a:spcBef>
                <a:spcPts val="600"/>
              </a:spcBef>
            </a:pPr>
            <a:r>
              <a:rPr lang="en-US" dirty="0"/>
              <a:t>Market Order: </a:t>
            </a:r>
          </a:p>
          <a:p>
            <a:pPr lvl="1">
              <a:spcBef>
                <a:spcPts val="600"/>
              </a:spcBef>
            </a:pPr>
            <a:r>
              <a:rPr lang="en-US" dirty="0"/>
              <a:t>Transact as quickly as possible at current prices</a:t>
            </a:r>
          </a:p>
          <a:p>
            <a:pPr lvl="2">
              <a:spcBef>
                <a:spcPts val="600"/>
              </a:spcBef>
            </a:pPr>
            <a:r>
              <a:rPr lang="en-US" dirty="0"/>
              <a:t>Sell at the “bid” price offered by willing buyer.</a:t>
            </a:r>
          </a:p>
          <a:p>
            <a:pPr lvl="2">
              <a:spcBef>
                <a:spcPts val="600"/>
              </a:spcBef>
            </a:pPr>
            <a:r>
              <a:rPr lang="en-US" dirty="0"/>
              <a:t>Buy at the “ask” price offered by willing seller.  </a:t>
            </a:r>
          </a:p>
          <a:p>
            <a:pPr>
              <a:spcBef>
                <a:spcPts val="600"/>
              </a:spcBef>
            </a:pPr>
            <a:r>
              <a:rPr lang="en-US" dirty="0"/>
              <a:t>Limit Order</a:t>
            </a:r>
          </a:p>
          <a:p>
            <a:pPr lvl="1">
              <a:spcBef>
                <a:spcPts val="600"/>
              </a:spcBef>
            </a:pPr>
            <a:r>
              <a:rPr lang="en-US" dirty="0"/>
              <a:t>Transact only if specific situation occurs.</a:t>
            </a:r>
          </a:p>
          <a:p>
            <a:pPr lvl="1">
              <a:spcBef>
                <a:spcPts val="600"/>
              </a:spcBef>
            </a:pPr>
            <a:r>
              <a:rPr lang="en-US" dirty="0"/>
              <a:t>For example, buy if price drops to $50 or below during the next two hours.</a:t>
            </a:r>
          </a:p>
        </p:txBody>
      </p:sp>
      <p:sp>
        <p:nvSpPr>
          <p:cNvPr id="4" name="Slide Number Placeholder 3">
            <a:extLst>
              <a:ext uri="{FF2B5EF4-FFF2-40B4-BE49-F238E27FC236}">
                <a16:creationId xmlns:a16="http://schemas.microsoft.com/office/drawing/2014/main" id="{81E4E3D4-BA2B-A4E2-7CEF-E3B67A604D90}"/>
              </a:ext>
            </a:extLst>
          </p:cNvPr>
          <p:cNvSpPr>
            <a:spLocks noGrp="1"/>
          </p:cNvSpPr>
          <p:nvPr>
            <p:ph type="sldNum" sz="quarter" idx="12"/>
          </p:nvPr>
        </p:nvSpPr>
        <p:spPr/>
        <p:txBody>
          <a:bodyPr/>
          <a:lstStyle/>
          <a:p>
            <a:pPr>
              <a:defRPr/>
            </a:pPr>
            <a:fld id="{4E499BF4-6C8D-417D-B206-0AF20A1CAAC7}" type="slidenum">
              <a:rPr lang="en-US" smtClean="0"/>
              <a:pPr>
                <a:defRPr/>
              </a:pPr>
              <a:t>48</a:t>
            </a:fld>
            <a:endParaRPr lang="en-US"/>
          </a:p>
        </p:txBody>
      </p:sp>
    </p:spTree>
    <p:extLst>
      <p:ext uri="{BB962C8B-B14F-4D97-AF65-F5344CB8AC3E}">
        <p14:creationId xmlns:p14="http://schemas.microsoft.com/office/powerpoint/2010/main" val="397306814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0B712-A374-49CD-AC5C-7DC10F0069C6}"/>
              </a:ext>
            </a:extLst>
          </p:cNvPr>
          <p:cNvSpPr>
            <a:spLocks noGrp="1"/>
          </p:cNvSpPr>
          <p:nvPr>
            <p:ph type="title"/>
          </p:nvPr>
        </p:nvSpPr>
        <p:spPr/>
        <p:txBody>
          <a:bodyPr>
            <a:normAutofit fontScale="90000"/>
          </a:bodyPr>
          <a:lstStyle/>
          <a:p>
            <a:r>
              <a:rPr lang="en-US" dirty="0"/>
              <a:t>How are orders from buyers and sellers matched and executed?</a:t>
            </a:r>
            <a:endParaRPr lang="en-IN" dirty="0"/>
          </a:p>
        </p:txBody>
      </p:sp>
      <p:sp>
        <p:nvSpPr>
          <p:cNvPr id="3" name="Content Placeholder 2">
            <a:extLst>
              <a:ext uri="{FF2B5EF4-FFF2-40B4-BE49-F238E27FC236}">
                <a16:creationId xmlns:a16="http://schemas.microsoft.com/office/drawing/2014/main" id="{1EA3FD05-559C-4272-9D44-192BAE02A8BC}"/>
              </a:ext>
            </a:extLst>
          </p:cNvPr>
          <p:cNvSpPr>
            <a:spLocks noGrp="1"/>
          </p:cNvSpPr>
          <p:nvPr>
            <p:ph idx="1"/>
          </p:nvPr>
        </p:nvSpPr>
        <p:spPr/>
        <p:txBody>
          <a:bodyPr>
            <a:normAutofit fontScale="85000" lnSpcReduction="20000"/>
          </a:bodyPr>
          <a:lstStyle/>
          <a:p>
            <a:r>
              <a:rPr lang="en-US" dirty="0"/>
              <a:t>Traders meet face-to-face at open outcry auctions, such as the exchanges for derivative and option. A small amount of in-person trading take place at the NYSE.</a:t>
            </a:r>
          </a:p>
          <a:p>
            <a:r>
              <a:rPr lang="en-US" dirty="0"/>
              <a:t>Dealers (i.e., market makers) buy from and sell to clients from an inventory of stocks. Orders are usually, but not always, automatically matched by computers.</a:t>
            </a:r>
          </a:p>
          <a:p>
            <a:r>
              <a:rPr lang="en-US" dirty="0"/>
              <a:t>Automated trading platforms (i.e., computer networks) match orders and execute trades automatically. </a:t>
            </a:r>
          </a:p>
        </p:txBody>
      </p:sp>
      <p:sp>
        <p:nvSpPr>
          <p:cNvPr id="4" name="Slide Number Placeholder 3">
            <a:extLst>
              <a:ext uri="{FF2B5EF4-FFF2-40B4-BE49-F238E27FC236}">
                <a16:creationId xmlns:a16="http://schemas.microsoft.com/office/drawing/2014/main" id="{8C213921-5441-9F40-8DE7-44BBF65C066D}"/>
              </a:ext>
            </a:extLst>
          </p:cNvPr>
          <p:cNvSpPr>
            <a:spLocks noGrp="1"/>
          </p:cNvSpPr>
          <p:nvPr>
            <p:ph type="sldNum" sz="quarter" idx="12"/>
          </p:nvPr>
        </p:nvSpPr>
        <p:spPr/>
        <p:txBody>
          <a:bodyPr/>
          <a:lstStyle/>
          <a:p>
            <a:pPr>
              <a:defRPr/>
            </a:pPr>
            <a:fld id="{4E499BF4-6C8D-417D-B206-0AF20A1CAAC7}" type="slidenum">
              <a:rPr lang="en-US" smtClean="0"/>
              <a:pPr>
                <a:defRPr/>
              </a:pPr>
              <a:t>49</a:t>
            </a:fld>
            <a:endParaRPr lang="en-US"/>
          </a:p>
        </p:txBody>
      </p:sp>
    </p:spTree>
    <p:extLst>
      <p:ext uri="{BB962C8B-B14F-4D97-AF65-F5344CB8AC3E}">
        <p14:creationId xmlns:p14="http://schemas.microsoft.com/office/powerpoint/2010/main" val="244598122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0B712-A374-49CD-AC5C-7DC10F0069C6}"/>
              </a:ext>
            </a:extLst>
          </p:cNvPr>
          <p:cNvSpPr>
            <a:spLocks noGrp="1"/>
          </p:cNvSpPr>
          <p:nvPr>
            <p:ph type="title"/>
          </p:nvPr>
        </p:nvSpPr>
        <p:spPr/>
        <p:txBody>
          <a:bodyPr/>
          <a:lstStyle/>
          <a:p>
            <a:r>
              <a:rPr lang="en-US" dirty="0"/>
              <a:t>Broker-Dealer Networks (1 of 2)</a:t>
            </a:r>
            <a:endParaRPr lang="en-IN" dirty="0"/>
          </a:p>
        </p:txBody>
      </p:sp>
      <p:sp>
        <p:nvSpPr>
          <p:cNvPr id="3" name="Content Placeholder 2">
            <a:extLst>
              <a:ext uri="{FF2B5EF4-FFF2-40B4-BE49-F238E27FC236}">
                <a16:creationId xmlns:a16="http://schemas.microsoft.com/office/drawing/2014/main" id="{1EA3FD05-559C-4272-9D44-192BAE02A8BC}"/>
              </a:ext>
            </a:extLst>
          </p:cNvPr>
          <p:cNvSpPr>
            <a:spLocks noGrp="1"/>
          </p:cNvSpPr>
          <p:nvPr>
            <p:ph idx="1"/>
          </p:nvPr>
        </p:nvSpPr>
        <p:spPr/>
        <p:txBody>
          <a:bodyPr>
            <a:normAutofit fontScale="92500" lnSpcReduction="10000"/>
          </a:bodyPr>
          <a:lstStyle/>
          <a:p>
            <a:r>
              <a:rPr lang="en-US" dirty="0"/>
              <a:t>Register with the Securities and Exchange Commission (SEC), but less regulated than registered stock exchanges.</a:t>
            </a:r>
          </a:p>
          <a:p>
            <a:r>
              <a:rPr lang="en-US" dirty="0"/>
              <a:t>Broker-dealer can purchase stock being offered for sale by a client and then immediately sell it to another client who wishes to buy the stock.</a:t>
            </a:r>
          </a:p>
          <a:p>
            <a:r>
              <a:rPr lang="en-US" dirty="0"/>
              <a:t>Because broker-dealer is the counterparty to each of the clients, this is called internalization.</a:t>
            </a:r>
          </a:p>
        </p:txBody>
      </p:sp>
      <p:sp>
        <p:nvSpPr>
          <p:cNvPr id="4" name="Slide Number Placeholder 3">
            <a:extLst>
              <a:ext uri="{FF2B5EF4-FFF2-40B4-BE49-F238E27FC236}">
                <a16:creationId xmlns:a16="http://schemas.microsoft.com/office/drawing/2014/main" id="{CE471F37-2831-1E96-582B-2D1685AF5C3A}"/>
              </a:ext>
            </a:extLst>
          </p:cNvPr>
          <p:cNvSpPr>
            <a:spLocks noGrp="1"/>
          </p:cNvSpPr>
          <p:nvPr>
            <p:ph type="sldNum" sz="quarter" idx="12"/>
          </p:nvPr>
        </p:nvSpPr>
        <p:spPr/>
        <p:txBody>
          <a:bodyPr/>
          <a:lstStyle/>
          <a:p>
            <a:pPr>
              <a:defRPr/>
            </a:pPr>
            <a:fld id="{4E499BF4-6C8D-417D-B206-0AF20A1CAAC7}" type="slidenum">
              <a:rPr lang="en-US" smtClean="0"/>
              <a:pPr>
                <a:defRPr/>
              </a:pPr>
              <a:t>50</a:t>
            </a:fld>
            <a:endParaRPr lang="en-US"/>
          </a:p>
        </p:txBody>
      </p:sp>
    </p:spTree>
    <p:extLst>
      <p:ext uri="{BB962C8B-B14F-4D97-AF65-F5344CB8AC3E}">
        <p14:creationId xmlns:p14="http://schemas.microsoft.com/office/powerpoint/2010/main" val="100108329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0B712-A374-49CD-AC5C-7DC10F0069C6}"/>
              </a:ext>
            </a:extLst>
          </p:cNvPr>
          <p:cNvSpPr>
            <a:spLocks noGrp="1"/>
          </p:cNvSpPr>
          <p:nvPr>
            <p:ph type="title"/>
          </p:nvPr>
        </p:nvSpPr>
        <p:spPr/>
        <p:txBody>
          <a:bodyPr/>
          <a:lstStyle/>
          <a:p>
            <a:r>
              <a:rPr lang="en-US" dirty="0"/>
              <a:t>Broker-Dealer Networks (2 of 2)</a:t>
            </a:r>
            <a:endParaRPr lang="en-IN" dirty="0"/>
          </a:p>
        </p:txBody>
      </p:sp>
      <p:sp>
        <p:nvSpPr>
          <p:cNvPr id="3" name="Content Placeholder 2">
            <a:extLst>
              <a:ext uri="{FF2B5EF4-FFF2-40B4-BE49-F238E27FC236}">
                <a16:creationId xmlns:a16="http://schemas.microsoft.com/office/drawing/2014/main" id="{1EA3FD05-559C-4272-9D44-192BAE02A8BC}"/>
              </a:ext>
            </a:extLst>
          </p:cNvPr>
          <p:cNvSpPr>
            <a:spLocks noGrp="1"/>
          </p:cNvSpPr>
          <p:nvPr>
            <p:ph idx="1"/>
          </p:nvPr>
        </p:nvSpPr>
        <p:spPr/>
        <p:txBody>
          <a:bodyPr>
            <a:normAutofit fontScale="85000" lnSpcReduction="20000"/>
          </a:bodyPr>
          <a:lstStyle/>
          <a:p>
            <a:r>
              <a:rPr lang="en-US" dirty="0"/>
              <a:t>Broker-dealer must report all transactions, but not any information prior to the trade, such as “bid prices” from potential buyers or “ask prices” from potential sellers.</a:t>
            </a:r>
          </a:p>
          <a:p>
            <a:r>
              <a:rPr lang="en-US" dirty="0"/>
              <a:t>Trades in broker-dealer networks are called “off exchange” or over-the-counter (OTC).</a:t>
            </a:r>
          </a:p>
          <a:p>
            <a:r>
              <a:rPr lang="en-US" dirty="0"/>
              <a:t>Trades can be with individuals (called retail trades) or with institutions.</a:t>
            </a:r>
          </a:p>
          <a:p>
            <a:r>
              <a:rPr lang="en-US" dirty="0"/>
              <a:t>Large trades (10,000 shares or more) are called block trades and are sometimes called “upstairs” trades. </a:t>
            </a:r>
          </a:p>
        </p:txBody>
      </p:sp>
      <p:sp>
        <p:nvSpPr>
          <p:cNvPr id="4" name="Slide Number Placeholder 3">
            <a:extLst>
              <a:ext uri="{FF2B5EF4-FFF2-40B4-BE49-F238E27FC236}">
                <a16:creationId xmlns:a16="http://schemas.microsoft.com/office/drawing/2014/main" id="{39FA2EC8-D64F-B74D-B8F3-5323D64FFFA3}"/>
              </a:ext>
            </a:extLst>
          </p:cNvPr>
          <p:cNvSpPr>
            <a:spLocks noGrp="1"/>
          </p:cNvSpPr>
          <p:nvPr>
            <p:ph type="sldNum" sz="quarter" idx="12"/>
          </p:nvPr>
        </p:nvSpPr>
        <p:spPr/>
        <p:txBody>
          <a:bodyPr/>
          <a:lstStyle/>
          <a:p>
            <a:pPr>
              <a:defRPr/>
            </a:pPr>
            <a:fld id="{4E499BF4-6C8D-417D-B206-0AF20A1CAAC7}" type="slidenum">
              <a:rPr lang="en-US" smtClean="0"/>
              <a:pPr>
                <a:defRPr/>
              </a:pPr>
              <a:t>51</a:t>
            </a:fld>
            <a:endParaRPr lang="en-US"/>
          </a:p>
        </p:txBody>
      </p:sp>
    </p:spTree>
    <p:extLst>
      <p:ext uri="{BB962C8B-B14F-4D97-AF65-F5344CB8AC3E}">
        <p14:creationId xmlns:p14="http://schemas.microsoft.com/office/powerpoint/2010/main" val="18196197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7" name="Rectangle 7"/>
          <p:cNvSpPr>
            <a:spLocks noGrp="1" noChangeArrowheads="1"/>
          </p:cNvSpPr>
          <p:nvPr>
            <p:ph type="title"/>
          </p:nvPr>
        </p:nvSpPr>
        <p:spPr/>
        <p:txBody>
          <a:bodyPr>
            <a:normAutofit fontScale="90000"/>
          </a:bodyPr>
          <a:lstStyle/>
          <a:p>
            <a:r>
              <a:rPr lang="en-US" altLang="en-US"/>
              <a:t>Electronic Communications Networks (ECNs)</a:t>
            </a:r>
          </a:p>
        </p:txBody>
      </p:sp>
      <p:sp>
        <p:nvSpPr>
          <p:cNvPr id="49158" name="Rectangle 8"/>
          <p:cNvSpPr>
            <a:spLocks noGrp="1" noChangeArrowheads="1"/>
          </p:cNvSpPr>
          <p:nvPr>
            <p:ph idx="1"/>
          </p:nvPr>
        </p:nvSpPr>
        <p:spPr/>
        <p:txBody>
          <a:bodyPr>
            <a:normAutofit lnSpcReduction="10000"/>
          </a:bodyPr>
          <a:lstStyle/>
          <a:p>
            <a:r>
              <a:rPr lang="en-US" altLang="en-US" dirty="0"/>
              <a:t>ECNs:</a:t>
            </a:r>
          </a:p>
          <a:p>
            <a:pPr lvl="1"/>
            <a:r>
              <a:rPr lang="en-US" altLang="en-US" dirty="0"/>
              <a:t>Computerized system matches orders from buyers &amp; sellers &amp; automatically executes transaction.</a:t>
            </a:r>
          </a:p>
          <a:p>
            <a:pPr lvl="1"/>
            <a:r>
              <a:rPr lang="en-US" altLang="en-US" dirty="0"/>
              <a:t>Low cost to transact</a:t>
            </a:r>
          </a:p>
          <a:p>
            <a:pPr lvl="1"/>
            <a:r>
              <a:rPr lang="en-US" altLang="en-US" dirty="0"/>
              <a:t>Examples: Instinet (US, stocks, owned by Nasdaq); Archipelago (US, stocks, owned by NYSE); </a:t>
            </a:r>
            <a:r>
              <a:rPr lang="en-US" altLang="en-US" dirty="0" err="1"/>
              <a:t>Eurex</a:t>
            </a:r>
            <a:r>
              <a:rPr lang="en-US" altLang="en-US" dirty="0"/>
              <a:t> (Swiss-German, futures contracts); SETS (London, stocks).</a:t>
            </a:r>
          </a:p>
        </p:txBody>
      </p:sp>
      <p:sp>
        <p:nvSpPr>
          <p:cNvPr id="49155"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49156"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2" name="Slide Number Placeholder 1">
            <a:extLst>
              <a:ext uri="{FF2B5EF4-FFF2-40B4-BE49-F238E27FC236}">
                <a16:creationId xmlns:a16="http://schemas.microsoft.com/office/drawing/2014/main" id="{CACC75FD-5876-DF63-75FC-781B82719CEB}"/>
              </a:ext>
            </a:extLst>
          </p:cNvPr>
          <p:cNvSpPr>
            <a:spLocks noGrp="1"/>
          </p:cNvSpPr>
          <p:nvPr>
            <p:ph type="sldNum" sz="quarter" idx="12"/>
          </p:nvPr>
        </p:nvSpPr>
        <p:spPr/>
        <p:txBody>
          <a:bodyPr/>
          <a:lstStyle/>
          <a:p>
            <a:pPr>
              <a:defRPr/>
            </a:pPr>
            <a:fld id="{4E499BF4-6C8D-417D-B206-0AF20A1CAAC7}" type="slidenum">
              <a:rPr lang="en-US" smtClean="0"/>
              <a:pPr>
                <a:defRPr/>
              </a:pPr>
              <a:t>52</a:t>
            </a:fld>
            <a:endParaRPr lang="en-US"/>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1" name="Rectangle 4"/>
          <p:cNvSpPr>
            <a:spLocks noGrp="1" noChangeArrowheads="1"/>
          </p:cNvSpPr>
          <p:nvPr>
            <p:ph type="title"/>
          </p:nvPr>
        </p:nvSpPr>
        <p:spPr/>
        <p:txBody>
          <a:bodyPr/>
          <a:lstStyle/>
          <a:p>
            <a:r>
              <a:rPr lang="en-US" altLang="en-US" dirty="0"/>
              <a:t>Over Counter (OTC) Markets</a:t>
            </a:r>
          </a:p>
        </p:txBody>
      </p:sp>
      <p:sp>
        <p:nvSpPr>
          <p:cNvPr id="50182" name="Rectangle 5"/>
          <p:cNvSpPr>
            <a:spLocks noGrp="1" noChangeArrowheads="1"/>
          </p:cNvSpPr>
          <p:nvPr>
            <p:ph idx="1"/>
          </p:nvPr>
        </p:nvSpPr>
        <p:spPr/>
        <p:txBody>
          <a:bodyPr>
            <a:normAutofit fontScale="92500"/>
          </a:bodyPr>
          <a:lstStyle/>
          <a:p>
            <a:r>
              <a:rPr lang="en-US" altLang="en-US" dirty="0"/>
              <a:t>In old days, securities were kept in a safe behind counter, &amp; passed “over counter” when they were sold.</a:t>
            </a:r>
          </a:p>
          <a:p>
            <a:r>
              <a:rPr lang="en-US" altLang="en-US" dirty="0"/>
              <a:t>Now OTC market is equivalent of a computer bulletin board (e.g., Nasdaq Pink Sheets), which allows potential buyers &amp; sellers to post an offer.</a:t>
            </a:r>
          </a:p>
          <a:p>
            <a:pPr lvl="1"/>
            <a:r>
              <a:rPr lang="en-US" altLang="en-US" dirty="0"/>
              <a:t>No dealers</a:t>
            </a:r>
          </a:p>
          <a:p>
            <a:pPr lvl="1"/>
            <a:r>
              <a:rPr lang="en-US" altLang="en-US" dirty="0"/>
              <a:t>Very poor liquidity</a:t>
            </a:r>
          </a:p>
        </p:txBody>
      </p:sp>
      <p:sp>
        <p:nvSpPr>
          <p:cNvPr id="50179"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50180"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2" name="Slide Number Placeholder 1">
            <a:extLst>
              <a:ext uri="{FF2B5EF4-FFF2-40B4-BE49-F238E27FC236}">
                <a16:creationId xmlns:a16="http://schemas.microsoft.com/office/drawing/2014/main" id="{2E49138E-3393-B8AF-39BE-5278E17993FC}"/>
              </a:ext>
            </a:extLst>
          </p:cNvPr>
          <p:cNvSpPr>
            <a:spLocks noGrp="1"/>
          </p:cNvSpPr>
          <p:nvPr>
            <p:ph type="sldNum" sz="quarter" idx="12"/>
          </p:nvPr>
        </p:nvSpPr>
        <p:spPr/>
        <p:txBody>
          <a:bodyPr/>
          <a:lstStyle/>
          <a:p>
            <a:pPr>
              <a:defRPr/>
            </a:pPr>
            <a:fld id="{4E499BF4-6C8D-417D-B206-0AF20A1CAAC7}" type="slidenum">
              <a:rPr lang="en-US" smtClean="0"/>
              <a:pPr>
                <a:defRPr/>
              </a:pPr>
              <a:t>53</a:t>
            </a:fld>
            <a:endParaRPr lang="en-US"/>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0B712-A374-49CD-AC5C-7DC10F0069C6}"/>
              </a:ext>
            </a:extLst>
          </p:cNvPr>
          <p:cNvSpPr>
            <a:spLocks noGrp="1"/>
          </p:cNvSpPr>
          <p:nvPr>
            <p:ph type="title"/>
          </p:nvPr>
        </p:nvSpPr>
        <p:spPr>
          <a:xfrm>
            <a:off x="628650" y="304800"/>
            <a:ext cx="7917032" cy="1219200"/>
          </a:xfrm>
        </p:spPr>
        <p:txBody>
          <a:bodyPr>
            <a:normAutofit/>
          </a:bodyPr>
          <a:lstStyle/>
          <a:p>
            <a:r>
              <a:rPr lang="en-US" sz="4000" dirty="0"/>
              <a:t>Types of Investments Accounts:</a:t>
            </a:r>
            <a:br>
              <a:rPr lang="en-US" sz="4000" dirty="0"/>
            </a:br>
            <a:r>
              <a:rPr lang="en-US" dirty="0"/>
              <a:t>	</a:t>
            </a:r>
            <a:r>
              <a:rPr lang="en-US" sz="3600" b="0" dirty="0"/>
              <a:t>Full-Service</a:t>
            </a:r>
            <a:r>
              <a:rPr lang="en-US" b="0" dirty="0"/>
              <a:t> Brokerage </a:t>
            </a:r>
            <a:endParaRPr lang="en-IN" b="0" dirty="0"/>
          </a:p>
        </p:txBody>
      </p:sp>
      <p:sp>
        <p:nvSpPr>
          <p:cNvPr id="3" name="Content Placeholder 2">
            <a:extLst>
              <a:ext uri="{FF2B5EF4-FFF2-40B4-BE49-F238E27FC236}">
                <a16:creationId xmlns:a16="http://schemas.microsoft.com/office/drawing/2014/main" id="{1EA3FD05-559C-4272-9D44-192BAE02A8BC}"/>
              </a:ext>
            </a:extLst>
          </p:cNvPr>
          <p:cNvSpPr>
            <a:spLocks noGrp="1"/>
          </p:cNvSpPr>
          <p:nvPr>
            <p:ph idx="1"/>
          </p:nvPr>
        </p:nvSpPr>
        <p:spPr/>
        <p:txBody>
          <a:bodyPr>
            <a:normAutofit lnSpcReduction="10000"/>
          </a:bodyPr>
          <a:lstStyle/>
          <a:p>
            <a:pPr>
              <a:spcBef>
                <a:spcPts val="600"/>
              </a:spcBef>
            </a:pPr>
            <a:r>
              <a:rPr lang="en-US" dirty="0"/>
              <a:t>Client has a human broker and/or advisor.</a:t>
            </a:r>
          </a:p>
          <a:p>
            <a:pPr>
              <a:spcBef>
                <a:spcPts val="600"/>
              </a:spcBef>
            </a:pPr>
            <a:r>
              <a:rPr lang="en-US" dirty="0"/>
              <a:t>Usually requires minimum balance of $50,000 to $100,000.</a:t>
            </a:r>
          </a:p>
          <a:p>
            <a:pPr>
              <a:spcBef>
                <a:spcPts val="600"/>
              </a:spcBef>
            </a:pPr>
            <a:r>
              <a:rPr lang="en-US" dirty="0"/>
              <a:t>Client pays relatively high fees.</a:t>
            </a:r>
          </a:p>
          <a:p>
            <a:pPr lvl="1">
              <a:spcBef>
                <a:spcPts val="600"/>
              </a:spcBef>
            </a:pPr>
            <a:r>
              <a:rPr lang="en-US" dirty="0"/>
              <a:t>Initial fee to open </a:t>
            </a:r>
          </a:p>
          <a:p>
            <a:pPr lvl="1">
              <a:spcBef>
                <a:spcPts val="600"/>
              </a:spcBef>
            </a:pPr>
            <a:r>
              <a:rPr lang="en-US" dirty="0"/>
              <a:t>Annual fees maintain the account</a:t>
            </a:r>
          </a:p>
          <a:p>
            <a:pPr lvl="1">
              <a:spcBef>
                <a:spcPts val="600"/>
              </a:spcBef>
            </a:pPr>
            <a:r>
              <a:rPr lang="en-US" dirty="0"/>
              <a:t>Commissions on trades, often based on size of trade.</a:t>
            </a:r>
          </a:p>
        </p:txBody>
      </p:sp>
      <p:sp>
        <p:nvSpPr>
          <p:cNvPr id="4" name="Slide Number Placeholder 3">
            <a:extLst>
              <a:ext uri="{FF2B5EF4-FFF2-40B4-BE49-F238E27FC236}">
                <a16:creationId xmlns:a16="http://schemas.microsoft.com/office/drawing/2014/main" id="{CE12B496-0ED2-260B-4393-EBBC6F770002}"/>
              </a:ext>
            </a:extLst>
          </p:cNvPr>
          <p:cNvSpPr>
            <a:spLocks noGrp="1"/>
          </p:cNvSpPr>
          <p:nvPr>
            <p:ph type="sldNum" sz="quarter" idx="12"/>
          </p:nvPr>
        </p:nvSpPr>
        <p:spPr/>
        <p:txBody>
          <a:bodyPr/>
          <a:lstStyle/>
          <a:p>
            <a:pPr>
              <a:defRPr/>
            </a:pPr>
            <a:fld id="{4E499BF4-6C8D-417D-B206-0AF20A1CAAC7}" type="slidenum">
              <a:rPr lang="en-US" smtClean="0"/>
              <a:pPr>
                <a:defRPr/>
              </a:pPr>
              <a:t>54</a:t>
            </a:fld>
            <a:endParaRPr lang="en-US"/>
          </a:p>
        </p:txBody>
      </p:sp>
    </p:spTree>
    <p:extLst>
      <p:ext uri="{BB962C8B-B14F-4D97-AF65-F5344CB8AC3E}">
        <p14:creationId xmlns:p14="http://schemas.microsoft.com/office/powerpoint/2010/main" val="219769174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0B712-A374-49CD-AC5C-7DC10F0069C6}"/>
              </a:ext>
            </a:extLst>
          </p:cNvPr>
          <p:cNvSpPr>
            <a:spLocks noGrp="1"/>
          </p:cNvSpPr>
          <p:nvPr>
            <p:ph type="title"/>
          </p:nvPr>
        </p:nvSpPr>
        <p:spPr>
          <a:xfrm>
            <a:off x="628650" y="164992"/>
            <a:ext cx="7886700" cy="1032090"/>
          </a:xfrm>
        </p:spPr>
        <p:txBody>
          <a:bodyPr>
            <a:normAutofit fontScale="90000"/>
          </a:bodyPr>
          <a:lstStyle/>
          <a:p>
            <a:r>
              <a:rPr lang="en-US" sz="4400" dirty="0"/>
              <a:t>Types of Investments Accounts:</a:t>
            </a:r>
            <a:br>
              <a:rPr lang="en-US" sz="4400" dirty="0"/>
            </a:br>
            <a:r>
              <a:rPr lang="en-US" dirty="0"/>
              <a:t>	Online-only </a:t>
            </a:r>
            <a:endParaRPr lang="en-IN" dirty="0"/>
          </a:p>
        </p:txBody>
      </p:sp>
      <p:sp>
        <p:nvSpPr>
          <p:cNvPr id="3" name="Content Placeholder 2">
            <a:extLst>
              <a:ext uri="{FF2B5EF4-FFF2-40B4-BE49-F238E27FC236}">
                <a16:creationId xmlns:a16="http://schemas.microsoft.com/office/drawing/2014/main" id="{1EA3FD05-559C-4272-9D44-192BAE02A8BC}"/>
              </a:ext>
            </a:extLst>
          </p:cNvPr>
          <p:cNvSpPr>
            <a:spLocks noGrp="1"/>
          </p:cNvSpPr>
          <p:nvPr>
            <p:ph idx="1"/>
          </p:nvPr>
        </p:nvSpPr>
        <p:spPr/>
        <p:txBody>
          <a:bodyPr>
            <a:normAutofit lnSpcReduction="10000"/>
          </a:bodyPr>
          <a:lstStyle/>
          <a:p>
            <a:pPr>
              <a:spcBef>
                <a:spcPts val="600"/>
              </a:spcBef>
            </a:pPr>
            <a:r>
              <a:rPr lang="en-US" dirty="0"/>
              <a:t>Online-only brokerage accounts:</a:t>
            </a:r>
          </a:p>
          <a:p>
            <a:pPr lvl="1">
              <a:spcBef>
                <a:spcPts val="600"/>
              </a:spcBef>
            </a:pPr>
            <a:r>
              <a:rPr lang="en-US" dirty="0"/>
              <a:t>Client sends buy/sell orders to brokerage firm’s computer network.</a:t>
            </a:r>
          </a:p>
          <a:p>
            <a:pPr>
              <a:spcBef>
                <a:spcPts val="600"/>
              </a:spcBef>
            </a:pPr>
            <a:r>
              <a:rPr lang="en-US" dirty="0"/>
              <a:t>Comparison to full-service brokerage account</a:t>
            </a:r>
          </a:p>
          <a:p>
            <a:pPr lvl="1">
              <a:spcBef>
                <a:spcPts val="600"/>
              </a:spcBef>
            </a:pPr>
            <a:r>
              <a:rPr lang="en-US" dirty="0"/>
              <a:t>Much less expensive</a:t>
            </a:r>
          </a:p>
          <a:p>
            <a:pPr lvl="1">
              <a:spcBef>
                <a:spcPts val="600"/>
              </a:spcBef>
            </a:pPr>
            <a:r>
              <a:rPr lang="en-US" dirty="0"/>
              <a:t>Much lower required minimum balance</a:t>
            </a:r>
          </a:p>
          <a:p>
            <a:pPr lvl="1">
              <a:spcBef>
                <a:spcPts val="600"/>
              </a:spcBef>
            </a:pPr>
            <a:r>
              <a:rPr lang="en-US" dirty="0"/>
              <a:t>No personal broker and fewer services provided</a:t>
            </a:r>
          </a:p>
          <a:p>
            <a:pPr lvl="1">
              <a:spcBef>
                <a:spcPts val="600"/>
              </a:spcBef>
            </a:pPr>
            <a:r>
              <a:rPr lang="en-US" dirty="0"/>
              <a:t>Does provides access to educational material</a:t>
            </a:r>
          </a:p>
        </p:txBody>
      </p:sp>
      <p:sp>
        <p:nvSpPr>
          <p:cNvPr id="4" name="Slide Number Placeholder 3">
            <a:extLst>
              <a:ext uri="{FF2B5EF4-FFF2-40B4-BE49-F238E27FC236}">
                <a16:creationId xmlns:a16="http://schemas.microsoft.com/office/drawing/2014/main" id="{BB8A491F-3098-310D-9DA9-E196416BAE8E}"/>
              </a:ext>
            </a:extLst>
          </p:cNvPr>
          <p:cNvSpPr>
            <a:spLocks noGrp="1"/>
          </p:cNvSpPr>
          <p:nvPr>
            <p:ph type="sldNum" sz="quarter" idx="12"/>
          </p:nvPr>
        </p:nvSpPr>
        <p:spPr/>
        <p:txBody>
          <a:bodyPr/>
          <a:lstStyle/>
          <a:p>
            <a:pPr>
              <a:defRPr/>
            </a:pPr>
            <a:fld id="{4E499BF4-6C8D-417D-B206-0AF20A1CAAC7}" type="slidenum">
              <a:rPr lang="en-US" smtClean="0"/>
              <a:pPr>
                <a:defRPr/>
              </a:pPr>
              <a:t>55</a:t>
            </a:fld>
            <a:endParaRPr lang="en-US"/>
          </a:p>
        </p:txBody>
      </p:sp>
    </p:spTree>
    <p:extLst>
      <p:ext uri="{BB962C8B-B14F-4D97-AF65-F5344CB8AC3E}">
        <p14:creationId xmlns:p14="http://schemas.microsoft.com/office/powerpoint/2010/main" val="131476334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0B712-A374-49CD-AC5C-7DC10F0069C6}"/>
              </a:ext>
            </a:extLst>
          </p:cNvPr>
          <p:cNvSpPr>
            <a:spLocks noGrp="1"/>
          </p:cNvSpPr>
          <p:nvPr>
            <p:ph type="title"/>
          </p:nvPr>
        </p:nvSpPr>
        <p:spPr>
          <a:xfrm>
            <a:off x="628650" y="76200"/>
            <a:ext cx="7886700" cy="1032090"/>
          </a:xfrm>
        </p:spPr>
        <p:txBody>
          <a:bodyPr>
            <a:normAutofit fontScale="90000"/>
          </a:bodyPr>
          <a:lstStyle/>
          <a:p>
            <a:r>
              <a:rPr lang="en-US" sz="4400" dirty="0"/>
              <a:t>Types of Investments Accounts:</a:t>
            </a:r>
            <a:br>
              <a:rPr lang="en-US" sz="4400" dirty="0"/>
            </a:br>
            <a:r>
              <a:rPr lang="en-US" dirty="0"/>
              <a:t>	Robo-Advisor Account</a:t>
            </a:r>
            <a:endParaRPr lang="en-IN" dirty="0"/>
          </a:p>
        </p:txBody>
      </p:sp>
      <p:sp>
        <p:nvSpPr>
          <p:cNvPr id="3" name="Content Placeholder 2">
            <a:extLst>
              <a:ext uri="{FF2B5EF4-FFF2-40B4-BE49-F238E27FC236}">
                <a16:creationId xmlns:a16="http://schemas.microsoft.com/office/drawing/2014/main" id="{1EA3FD05-559C-4272-9D44-192BAE02A8BC}"/>
              </a:ext>
            </a:extLst>
          </p:cNvPr>
          <p:cNvSpPr>
            <a:spLocks noGrp="1"/>
          </p:cNvSpPr>
          <p:nvPr>
            <p:ph idx="1"/>
          </p:nvPr>
        </p:nvSpPr>
        <p:spPr/>
        <p:txBody>
          <a:bodyPr>
            <a:normAutofit/>
          </a:bodyPr>
          <a:lstStyle/>
          <a:p>
            <a:pPr>
              <a:spcBef>
                <a:spcPts val="600"/>
              </a:spcBef>
            </a:pPr>
            <a:r>
              <a:rPr lang="en-US" dirty="0"/>
              <a:t>A type of online-only brokerage account</a:t>
            </a:r>
          </a:p>
          <a:p>
            <a:pPr>
              <a:spcBef>
                <a:spcPts val="600"/>
              </a:spcBef>
            </a:pPr>
            <a:r>
              <a:rPr lang="en-US" dirty="0"/>
              <a:t>Client answers detailed questionnaire:</a:t>
            </a:r>
          </a:p>
          <a:p>
            <a:pPr lvl="1">
              <a:spcBef>
                <a:spcPts val="600"/>
              </a:spcBef>
            </a:pPr>
            <a:r>
              <a:rPr lang="en-US" dirty="0"/>
              <a:t>Current financial situation</a:t>
            </a:r>
          </a:p>
          <a:p>
            <a:pPr lvl="1">
              <a:spcBef>
                <a:spcPts val="600"/>
              </a:spcBef>
            </a:pPr>
            <a:r>
              <a:rPr lang="en-US" dirty="0"/>
              <a:t>Goals</a:t>
            </a:r>
          </a:p>
          <a:p>
            <a:pPr lvl="1">
              <a:spcBef>
                <a:spcPts val="600"/>
              </a:spcBef>
            </a:pPr>
            <a:r>
              <a:rPr lang="en-US" dirty="0"/>
              <a:t>Degree of risk tolerance</a:t>
            </a:r>
          </a:p>
          <a:p>
            <a:pPr>
              <a:spcBef>
                <a:spcPts val="600"/>
              </a:spcBef>
            </a:pPr>
            <a:r>
              <a:rPr lang="en-US" dirty="0"/>
              <a:t>Computer creates investment strategy.</a:t>
            </a:r>
          </a:p>
          <a:p>
            <a:pPr lvl="1">
              <a:spcBef>
                <a:spcPts val="600"/>
              </a:spcBef>
            </a:pPr>
            <a:r>
              <a:rPr lang="en-US" dirty="0"/>
              <a:t>If client approves, computer executes strategy.</a:t>
            </a:r>
          </a:p>
        </p:txBody>
      </p:sp>
      <p:sp>
        <p:nvSpPr>
          <p:cNvPr id="4" name="Slide Number Placeholder 3">
            <a:extLst>
              <a:ext uri="{FF2B5EF4-FFF2-40B4-BE49-F238E27FC236}">
                <a16:creationId xmlns:a16="http://schemas.microsoft.com/office/drawing/2014/main" id="{B679B1FE-BD1F-C193-60F9-657B22584B3A}"/>
              </a:ext>
            </a:extLst>
          </p:cNvPr>
          <p:cNvSpPr>
            <a:spLocks noGrp="1"/>
          </p:cNvSpPr>
          <p:nvPr>
            <p:ph type="sldNum" sz="quarter" idx="12"/>
          </p:nvPr>
        </p:nvSpPr>
        <p:spPr/>
        <p:txBody>
          <a:bodyPr/>
          <a:lstStyle/>
          <a:p>
            <a:pPr>
              <a:defRPr/>
            </a:pPr>
            <a:fld id="{4E499BF4-6C8D-417D-B206-0AF20A1CAAC7}" type="slidenum">
              <a:rPr lang="en-US" smtClean="0"/>
              <a:pPr>
                <a:defRPr/>
              </a:pPr>
              <a:t>56</a:t>
            </a:fld>
            <a:endParaRPr lang="en-US"/>
          </a:p>
        </p:txBody>
      </p:sp>
    </p:spTree>
    <p:extLst>
      <p:ext uri="{BB962C8B-B14F-4D97-AF65-F5344CB8AC3E}">
        <p14:creationId xmlns:p14="http://schemas.microsoft.com/office/powerpoint/2010/main" val="330509049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0B712-A374-49CD-AC5C-7DC10F0069C6}"/>
              </a:ext>
            </a:extLst>
          </p:cNvPr>
          <p:cNvSpPr>
            <a:spLocks noGrp="1"/>
          </p:cNvSpPr>
          <p:nvPr>
            <p:ph type="title"/>
          </p:nvPr>
        </p:nvSpPr>
        <p:spPr/>
        <p:txBody>
          <a:bodyPr/>
          <a:lstStyle/>
          <a:p>
            <a:r>
              <a:rPr lang="en-US" dirty="0"/>
              <a:t>Types of Orders from Clients</a:t>
            </a:r>
            <a:endParaRPr lang="en-IN" dirty="0"/>
          </a:p>
        </p:txBody>
      </p:sp>
      <p:sp>
        <p:nvSpPr>
          <p:cNvPr id="3" name="Content Placeholder 2">
            <a:extLst>
              <a:ext uri="{FF2B5EF4-FFF2-40B4-BE49-F238E27FC236}">
                <a16:creationId xmlns:a16="http://schemas.microsoft.com/office/drawing/2014/main" id="{1EA3FD05-559C-4272-9D44-192BAE02A8BC}"/>
              </a:ext>
            </a:extLst>
          </p:cNvPr>
          <p:cNvSpPr>
            <a:spLocks noGrp="1"/>
          </p:cNvSpPr>
          <p:nvPr>
            <p:ph idx="1"/>
          </p:nvPr>
        </p:nvSpPr>
        <p:spPr>
          <a:xfrm>
            <a:off x="457200" y="1524000"/>
            <a:ext cx="8229600" cy="4652963"/>
          </a:xfrm>
        </p:spPr>
        <p:txBody>
          <a:bodyPr/>
          <a:lstStyle/>
          <a:p>
            <a:pPr>
              <a:spcBef>
                <a:spcPts val="600"/>
              </a:spcBef>
            </a:pPr>
            <a:r>
              <a:rPr lang="en-US" dirty="0"/>
              <a:t>Market Order: </a:t>
            </a:r>
          </a:p>
          <a:p>
            <a:pPr lvl="1">
              <a:spcBef>
                <a:spcPts val="600"/>
              </a:spcBef>
            </a:pPr>
            <a:r>
              <a:rPr lang="en-US" dirty="0"/>
              <a:t>Transact as quickly as possible at current prices</a:t>
            </a:r>
          </a:p>
          <a:p>
            <a:pPr lvl="2">
              <a:spcBef>
                <a:spcPts val="600"/>
              </a:spcBef>
            </a:pPr>
            <a:r>
              <a:rPr lang="en-US" dirty="0"/>
              <a:t>Sell at the “bid” price offered by willing buyer.</a:t>
            </a:r>
          </a:p>
          <a:p>
            <a:pPr lvl="2">
              <a:spcBef>
                <a:spcPts val="600"/>
              </a:spcBef>
            </a:pPr>
            <a:r>
              <a:rPr lang="en-US" dirty="0"/>
              <a:t>Buy at the “ask” price offered by willing seller.  </a:t>
            </a:r>
          </a:p>
          <a:p>
            <a:pPr>
              <a:spcBef>
                <a:spcPts val="600"/>
              </a:spcBef>
            </a:pPr>
            <a:r>
              <a:rPr lang="en-US" dirty="0"/>
              <a:t>Limit Order</a:t>
            </a:r>
          </a:p>
          <a:p>
            <a:pPr lvl="1">
              <a:spcBef>
                <a:spcPts val="600"/>
              </a:spcBef>
            </a:pPr>
            <a:r>
              <a:rPr lang="en-US" dirty="0"/>
              <a:t>Transact only if specific situation occurs.</a:t>
            </a:r>
          </a:p>
          <a:p>
            <a:pPr lvl="1">
              <a:spcBef>
                <a:spcPts val="600"/>
              </a:spcBef>
            </a:pPr>
            <a:r>
              <a:rPr lang="en-US" dirty="0"/>
              <a:t>For example, buy if price drops to $50 or below during the next two hours.</a:t>
            </a:r>
          </a:p>
        </p:txBody>
      </p:sp>
      <p:sp>
        <p:nvSpPr>
          <p:cNvPr id="4" name="Slide Number Placeholder 3">
            <a:extLst>
              <a:ext uri="{FF2B5EF4-FFF2-40B4-BE49-F238E27FC236}">
                <a16:creationId xmlns:a16="http://schemas.microsoft.com/office/drawing/2014/main" id="{D37A7671-7568-569E-8186-8F5F8E73B302}"/>
              </a:ext>
            </a:extLst>
          </p:cNvPr>
          <p:cNvSpPr>
            <a:spLocks noGrp="1"/>
          </p:cNvSpPr>
          <p:nvPr>
            <p:ph type="sldNum" sz="quarter" idx="12"/>
          </p:nvPr>
        </p:nvSpPr>
        <p:spPr/>
        <p:txBody>
          <a:bodyPr/>
          <a:lstStyle/>
          <a:p>
            <a:pPr>
              <a:defRPr/>
            </a:pPr>
            <a:fld id="{4E499BF4-6C8D-417D-B206-0AF20A1CAAC7}" type="slidenum">
              <a:rPr lang="en-US" smtClean="0"/>
              <a:pPr>
                <a:defRPr/>
              </a:pPr>
              <a:t>57</a:t>
            </a:fld>
            <a:endParaRPr lang="en-US"/>
          </a:p>
        </p:txBody>
      </p:sp>
    </p:spTree>
    <p:extLst>
      <p:ext uri="{BB962C8B-B14F-4D97-AF65-F5344CB8AC3E}">
        <p14:creationId xmlns:p14="http://schemas.microsoft.com/office/powerpoint/2010/main" val="253550795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0B712-A374-49CD-AC5C-7DC10F0069C6}"/>
              </a:ext>
            </a:extLst>
          </p:cNvPr>
          <p:cNvSpPr>
            <a:spLocks noGrp="1"/>
          </p:cNvSpPr>
          <p:nvPr>
            <p:ph type="title"/>
          </p:nvPr>
        </p:nvSpPr>
        <p:spPr/>
        <p:txBody>
          <a:bodyPr>
            <a:normAutofit fontScale="90000"/>
          </a:bodyPr>
          <a:lstStyle/>
          <a:p>
            <a:r>
              <a:rPr lang="en-US" dirty="0"/>
              <a:t>How are orders from buyers and sellers matched and executed?</a:t>
            </a:r>
            <a:endParaRPr lang="en-IN" dirty="0"/>
          </a:p>
        </p:txBody>
      </p:sp>
      <p:sp>
        <p:nvSpPr>
          <p:cNvPr id="3" name="Content Placeholder 2">
            <a:extLst>
              <a:ext uri="{FF2B5EF4-FFF2-40B4-BE49-F238E27FC236}">
                <a16:creationId xmlns:a16="http://schemas.microsoft.com/office/drawing/2014/main" id="{1EA3FD05-559C-4272-9D44-192BAE02A8BC}"/>
              </a:ext>
            </a:extLst>
          </p:cNvPr>
          <p:cNvSpPr>
            <a:spLocks noGrp="1"/>
          </p:cNvSpPr>
          <p:nvPr>
            <p:ph idx="1"/>
          </p:nvPr>
        </p:nvSpPr>
        <p:spPr/>
        <p:txBody>
          <a:bodyPr>
            <a:normAutofit fontScale="85000" lnSpcReduction="20000"/>
          </a:bodyPr>
          <a:lstStyle/>
          <a:p>
            <a:r>
              <a:rPr lang="en-US" dirty="0"/>
              <a:t>Traders meet face-to-face at open outcry auctions, such as the exchanges for derivative and option. A small amount of in-person trading take place at the NYSE.</a:t>
            </a:r>
          </a:p>
          <a:p>
            <a:r>
              <a:rPr lang="en-US" dirty="0"/>
              <a:t>Dealers (i.e., market makers) buy from and sell to clients from an inventory of stocks. Orders are usually, but not always, automatically matched by computers.</a:t>
            </a:r>
          </a:p>
          <a:p>
            <a:r>
              <a:rPr lang="en-US" dirty="0"/>
              <a:t>Automated trading platforms (i.e., computer networks) match orders and execute trades automatically. </a:t>
            </a:r>
          </a:p>
        </p:txBody>
      </p:sp>
      <p:sp>
        <p:nvSpPr>
          <p:cNvPr id="4" name="Slide Number Placeholder 3">
            <a:extLst>
              <a:ext uri="{FF2B5EF4-FFF2-40B4-BE49-F238E27FC236}">
                <a16:creationId xmlns:a16="http://schemas.microsoft.com/office/drawing/2014/main" id="{465DD47D-91DA-C5CE-9D3D-42F61E0EE105}"/>
              </a:ext>
            </a:extLst>
          </p:cNvPr>
          <p:cNvSpPr>
            <a:spLocks noGrp="1"/>
          </p:cNvSpPr>
          <p:nvPr>
            <p:ph type="sldNum" sz="quarter" idx="12"/>
          </p:nvPr>
        </p:nvSpPr>
        <p:spPr/>
        <p:txBody>
          <a:bodyPr/>
          <a:lstStyle/>
          <a:p>
            <a:pPr>
              <a:defRPr/>
            </a:pPr>
            <a:fld id="{4E499BF4-6C8D-417D-B206-0AF20A1CAAC7}" type="slidenum">
              <a:rPr lang="en-US" smtClean="0"/>
              <a:pPr>
                <a:defRPr/>
              </a:pPr>
              <a:t>58</a:t>
            </a:fld>
            <a:endParaRPr lang="en-US"/>
          </a:p>
        </p:txBody>
      </p:sp>
    </p:spTree>
    <p:extLst>
      <p:ext uri="{BB962C8B-B14F-4D97-AF65-F5344CB8AC3E}">
        <p14:creationId xmlns:p14="http://schemas.microsoft.com/office/powerpoint/2010/main" val="40163342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0B712-A374-49CD-AC5C-7DC10F0069C6}"/>
              </a:ext>
            </a:extLst>
          </p:cNvPr>
          <p:cNvSpPr>
            <a:spLocks noGrp="1"/>
          </p:cNvSpPr>
          <p:nvPr>
            <p:ph type="title"/>
          </p:nvPr>
        </p:nvSpPr>
        <p:spPr/>
        <p:txBody>
          <a:bodyPr/>
          <a:lstStyle/>
          <a:p>
            <a:r>
              <a:rPr lang="en-US" dirty="0"/>
              <a:t>Broker-Dealer Networks (1 of 2)</a:t>
            </a:r>
            <a:endParaRPr lang="en-IN" dirty="0"/>
          </a:p>
        </p:txBody>
      </p:sp>
      <p:sp>
        <p:nvSpPr>
          <p:cNvPr id="3" name="Content Placeholder 2">
            <a:extLst>
              <a:ext uri="{FF2B5EF4-FFF2-40B4-BE49-F238E27FC236}">
                <a16:creationId xmlns:a16="http://schemas.microsoft.com/office/drawing/2014/main" id="{1EA3FD05-559C-4272-9D44-192BAE02A8BC}"/>
              </a:ext>
            </a:extLst>
          </p:cNvPr>
          <p:cNvSpPr>
            <a:spLocks noGrp="1"/>
          </p:cNvSpPr>
          <p:nvPr>
            <p:ph idx="1"/>
          </p:nvPr>
        </p:nvSpPr>
        <p:spPr/>
        <p:txBody>
          <a:bodyPr>
            <a:normAutofit fontScale="92500" lnSpcReduction="10000"/>
          </a:bodyPr>
          <a:lstStyle/>
          <a:p>
            <a:r>
              <a:rPr lang="en-US" dirty="0"/>
              <a:t>Register with the Securities and Exchange Commission (SEC), but less regulated than registered stock exchanges.</a:t>
            </a:r>
          </a:p>
          <a:p>
            <a:r>
              <a:rPr lang="en-US" dirty="0"/>
              <a:t>Broker-dealer can purchase stock being offered for sale by a client and then immediately sell it to another client who wishes to buy the stock.</a:t>
            </a:r>
          </a:p>
          <a:p>
            <a:r>
              <a:rPr lang="en-US" dirty="0"/>
              <a:t>Because broker-dealer is the counterparty to each of the clients, this is called internalization.</a:t>
            </a:r>
          </a:p>
        </p:txBody>
      </p:sp>
      <p:sp>
        <p:nvSpPr>
          <p:cNvPr id="4" name="Slide Number Placeholder 3">
            <a:extLst>
              <a:ext uri="{FF2B5EF4-FFF2-40B4-BE49-F238E27FC236}">
                <a16:creationId xmlns:a16="http://schemas.microsoft.com/office/drawing/2014/main" id="{4918D486-7DFA-23B8-012C-210A5D25AC34}"/>
              </a:ext>
            </a:extLst>
          </p:cNvPr>
          <p:cNvSpPr>
            <a:spLocks noGrp="1"/>
          </p:cNvSpPr>
          <p:nvPr>
            <p:ph type="sldNum" sz="quarter" idx="12"/>
          </p:nvPr>
        </p:nvSpPr>
        <p:spPr/>
        <p:txBody>
          <a:bodyPr/>
          <a:lstStyle/>
          <a:p>
            <a:pPr>
              <a:defRPr/>
            </a:pPr>
            <a:fld id="{4E499BF4-6C8D-417D-B206-0AF20A1CAAC7}" type="slidenum">
              <a:rPr lang="en-US" smtClean="0"/>
              <a:pPr>
                <a:defRPr/>
              </a:pPr>
              <a:t>59</a:t>
            </a:fld>
            <a:endParaRPr lang="en-US"/>
          </a:p>
        </p:txBody>
      </p:sp>
    </p:spTree>
    <p:extLst>
      <p:ext uri="{BB962C8B-B14F-4D97-AF65-F5344CB8AC3E}">
        <p14:creationId xmlns:p14="http://schemas.microsoft.com/office/powerpoint/2010/main" val="292272512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0B712-A374-49CD-AC5C-7DC10F0069C6}"/>
              </a:ext>
            </a:extLst>
          </p:cNvPr>
          <p:cNvSpPr>
            <a:spLocks noGrp="1"/>
          </p:cNvSpPr>
          <p:nvPr>
            <p:ph type="title"/>
          </p:nvPr>
        </p:nvSpPr>
        <p:spPr/>
        <p:txBody>
          <a:bodyPr/>
          <a:lstStyle/>
          <a:p>
            <a:r>
              <a:rPr lang="en-US" dirty="0"/>
              <a:t>Broker-Dealer Networks (2 of 2)</a:t>
            </a:r>
            <a:endParaRPr lang="en-IN" dirty="0"/>
          </a:p>
        </p:txBody>
      </p:sp>
      <p:sp>
        <p:nvSpPr>
          <p:cNvPr id="3" name="Content Placeholder 2">
            <a:extLst>
              <a:ext uri="{FF2B5EF4-FFF2-40B4-BE49-F238E27FC236}">
                <a16:creationId xmlns:a16="http://schemas.microsoft.com/office/drawing/2014/main" id="{1EA3FD05-559C-4272-9D44-192BAE02A8BC}"/>
              </a:ext>
            </a:extLst>
          </p:cNvPr>
          <p:cNvSpPr>
            <a:spLocks noGrp="1"/>
          </p:cNvSpPr>
          <p:nvPr>
            <p:ph idx="1"/>
          </p:nvPr>
        </p:nvSpPr>
        <p:spPr/>
        <p:txBody>
          <a:bodyPr>
            <a:normAutofit fontScale="85000" lnSpcReduction="20000"/>
          </a:bodyPr>
          <a:lstStyle/>
          <a:p>
            <a:r>
              <a:rPr lang="en-US" dirty="0"/>
              <a:t>Broker-dealer must report all transactions, but not any information prior to the trade, such as “bid prices” from potential buyers or “ask prices” from potential sellers.</a:t>
            </a:r>
          </a:p>
          <a:p>
            <a:r>
              <a:rPr lang="en-US" dirty="0"/>
              <a:t>Trades in broker-dealer networks are called “off exchange” or over-the-counter (OTC).</a:t>
            </a:r>
          </a:p>
          <a:p>
            <a:r>
              <a:rPr lang="en-US" dirty="0"/>
              <a:t>Trades can be with individuals (called retail trades) or with institutions.</a:t>
            </a:r>
          </a:p>
          <a:p>
            <a:r>
              <a:rPr lang="en-US" dirty="0"/>
              <a:t>Large trades (10,000 shares or more) are called block trades and are sometimes called “upstairs” trades. </a:t>
            </a:r>
          </a:p>
        </p:txBody>
      </p:sp>
      <p:sp>
        <p:nvSpPr>
          <p:cNvPr id="4" name="Slide Number Placeholder 3">
            <a:extLst>
              <a:ext uri="{FF2B5EF4-FFF2-40B4-BE49-F238E27FC236}">
                <a16:creationId xmlns:a16="http://schemas.microsoft.com/office/drawing/2014/main" id="{9C984C07-385D-D451-43FE-0781EC43E169}"/>
              </a:ext>
            </a:extLst>
          </p:cNvPr>
          <p:cNvSpPr>
            <a:spLocks noGrp="1"/>
          </p:cNvSpPr>
          <p:nvPr>
            <p:ph type="sldNum" sz="quarter" idx="12"/>
          </p:nvPr>
        </p:nvSpPr>
        <p:spPr/>
        <p:txBody>
          <a:bodyPr/>
          <a:lstStyle/>
          <a:p>
            <a:pPr>
              <a:defRPr/>
            </a:pPr>
            <a:fld id="{4E499BF4-6C8D-417D-B206-0AF20A1CAAC7}" type="slidenum">
              <a:rPr lang="en-US" smtClean="0"/>
              <a:pPr>
                <a:defRPr/>
              </a:pPr>
              <a:t>60</a:t>
            </a:fld>
            <a:endParaRPr lang="en-US"/>
          </a:p>
        </p:txBody>
      </p:sp>
    </p:spTree>
    <p:extLst>
      <p:ext uri="{BB962C8B-B14F-4D97-AF65-F5344CB8AC3E}">
        <p14:creationId xmlns:p14="http://schemas.microsoft.com/office/powerpoint/2010/main" val="237788777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0B712-A374-49CD-AC5C-7DC10F0069C6}"/>
              </a:ext>
            </a:extLst>
          </p:cNvPr>
          <p:cNvSpPr>
            <a:spLocks noGrp="1"/>
          </p:cNvSpPr>
          <p:nvPr>
            <p:ph type="title"/>
          </p:nvPr>
        </p:nvSpPr>
        <p:spPr/>
        <p:txBody>
          <a:bodyPr/>
          <a:lstStyle/>
          <a:p>
            <a:r>
              <a:rPr lang="en-US" dirty="0"/>
              <a:t>Alternative Trading System (ATS)</a:t>
            </a:r>
            <a:endParaRPr lang="en-IN" dirty="0"/>
          </a:p>
        </p:txBody>
      </p:sp>
      <p:sp>
        <p:nvSpPr>
          <p:cNvPr id="3" name="Content Placeholder 2">
            <a:extLst>
              <a:ext uri="{FF2B5EF4-FFF2-40B4-BE49-F238E27FC236}">
                <a16:creationId xmlns:a16="http://schemas.microsoft.com/office/drawing/2014/main" id="{1EA3FD05-559C-4272-9D44-192BAE02A8BC}"/>
              </a:ext>
            </a:extLst>
          </p:cNvPr>
          <p:cNvSpPr>
            <a:spLocks noGrp="1"/>
          </p:cNvSpPr>
          <p:nvPr>
            <p:ph idx="1"/>
          </p:nvPr>
        </p:nvSpPr>
        <p:spPr/>
        <p:txBody>
          <a:bodyPr>
            <a:normAutofit fontScale="92500" lnSpcReduction="20000"/>
          </a:bodyPr>
          <a:lstStyle/>
          <a:p>
            <a:pPr>
              <a:spcBef>
                <a:spcPts val="600"/>
              </a:spcBef>
            </a:pPr>
            <a:r>
              <a:rPr lang="en-US" dirty="0"/>
              <a:t>A broker-dealer registers with the SEC to be an Alternative Trading System (ATS).</a:t>
            </a:r>
          </a:p>
          <a:p>
            <a:pPr>
              <a:spcBef>
                <a:spcPts val="600"/>
              </a:spcBef>
            </a:pPr>
            <a:r>
              <a:rPr lang="en-US" dirty="0"/>
              <a:t>ATS usually has an automated trading platform to match orders from clients.</a:t>
            </a:r>
          </a:p>
          <a:p>
            <a:pPr lvl="1">
              <a:spcBef>
                <a:spcPts val="600"/>
              </a:spcBef>
            </a:pPr>
            <a:r>
              <a:rPr lang="en-US" dirty="0"/>
              <a:t>Owner of the ATS is not always the counterparty, in contrast to a broker-dealer network. </a:t>
            </a:r>
          </a:p>
          <a:p>
            <a:pPr>
              <a:spcBef>
                <a:spcPts val="600"/>
              </a:spcBef>
            </a:pPr>
            <a:r>
              <a:rPr lang="en-US" dirty="0"/>
              <a:t>The ATS must report trades, but not any pre-trade information.</a:t>
            </a:r>
          </a:p>
          <a:p>
            <a:pPr lvl="1">
              <a:spcBef>
                <a:spcPts val="600"/>
              </a:spcBef>
            </a:pPr>
            <a:r>
              <a:rPr lang="en-US" dirty="0"/>
              <a:t>Therefore, an ATS is often called a dark pool.</a:t>
            </a:r>
          </a:p>
        </p:txBody>
      </p:sp>
      <p:sp>
        <p:nvSpPr>
          <p:cNvPr id="4" name="Slide Number Placeholder 3">
            <a:extLst>
              <a:ext uri="{FF2B5EF4-FFF2-40B4-BE49-F238E27FC236}">
                <a16:creationId xmlns:a16="http://schemas.microsoft.com/office/drawing/2014/main" id="{A0CBC4E0-F611-536B-8A5D-99C4D69A070D}"/>
              </a:ext>
            </a:extLst>
          </p:cNvPr>
          <p:cNvSpPr>
            <a:spLocks noGrp="1"/>
          </p:cNvSpPr>
          <p:nvPr>
            <p:ph type="sldNum" sz="quarter" idx="12"/>
          </p:nvPr>
        </p:nvSpPr>
        <p:spPr/>
        <p:txBody>
          <a:bodyPr/>
          <a:lstStyle/>
          <a:p>
            <a:pPr>
              <a:defRPr/>
            </a:pPr>
            <a:fld id="{4E499BF4-6C8D-417D-B206-0AF20A1CAAC7}" type="slidenum">
              <a:rPr lang="en-US" smtClean="0"/>
              <a:pPr>
                <a:defRPr/>
              </a:pPr>
              <a:t>61</a:t>
            </a:fld>
            <a:endParaRPr lang="en-US"/>
          </a:p>
        </p:txBody>
      </p:sp>
    </p:spTree>
    <p:extLst>
      <p:ext uri="{BB962C8B-B14F-4D97-AF65-F5344CB8AC3E}">
        <p14:creationId xmlns:p14="http://schemas.microsoft.com/office/powerpoint/2010/main" val="211963079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AD156-199D-46D3-9B15-81FF0C7FD585}"/>
              </a:ext>
            </a:extLst>
          </p:cNvPr>
          <p:cNvSpPr>
            <a:spLocks noGrp="1"/>
          </p:cNvSpPr>
          <p:nvPr>
            <p:ph type="title"/>
          </p:nvPr>
        </p:nvSpPr>
        <p:spPr/>
        <p:txBody>
          <a:bodyPr/>
          <a:lstStyle/>
          <a:p>
            <a:r>
              <a:rPr lang="en-US" dirty="0"/>
              <a:t>Trade Reporting Facility (TRF) (1 of 2)</a:t>
            </a:r>
            <a:endParaRPr lang="en-IN" dirty="0"/>
          </a:p>
        </p:txBody>
      </p:sp>
      <p:sp>
        <p:nvSpPr>
          <p:cNvPr id="3" name="Content Placeholder 2">
            <a:extLst>
              <a:ext uri="{FF2B5EF4-FFF2-40B4-BE49-F238E27FC236}">
                <a16:creationId xmlns:a16="http://schemas.microsoft.com/office/drawing/2014/main" id="{6E4EC7F1-B486-40D1-869A-5EFD8A9143A9}"/>
              </a:ext>
            </a:extLst>
          </p:cNvPr>
          <p:cNvSpPr>
            <a:spLocks noGrp="1"/>
          </p:cNvSpPr>
          <p:nvPr>
            <p:ph idx="1"/>
          </p:nvPr>
        </p:nvSpPr>
        <p:spPr/>
        <p:txBody>
          <a:bodyPr/>
          <a:lstStyle/>
          <a:p>
            <a:r>
              <a:rPr lang="en-US" dirty="0"/>
              <a:t>A Trade Reporting Facility (TRF) is an online system set up by a stock exchange to report off-exchange trading of its listed stocks.</a:t>
            </a:r>
          </a:p>
          <a:p>
            <a:r>
              <a:rPr lang="en-US" dirty="0"/>
              <a:t>There are three TRFs, one for each major stock exchange.</a:t>
            </a:r>
          </a:p>
          <a:p>
            <a:r>
              <a:rPr lang="en-US" dirty="0"/>
              <a:t>A TRF applies quality control measures to ensure data’s accuracy.</a:t>
            </a:r>
          </a:p>
        </p:txBody>
      </p:sp>
      <p:sp>
        <p:nvSpPr>
          <p:cNvPr id="4" name="Slide Number Placeholder 3">
            <a:extLst>
              <a:ext uri="{FF2B5EF4-FFF2-40B4-BE49-F238E27FC236}">
                <a16:creationId xmlns:a16="http://schemas.microsoft.com/office/drawing/2014/main" id="{61E6DCC9-FF1A-9646-364E-FACF0C3B6D3B}"/>
              </a:ext>
            </a:extLst>
          </p:cNvPr>
          <p:cNvSpPr>
            <a:spLocks noGrp="1"/>
          </p:cNvSpPr>
          <p:nvPr>
            <p:ph type="sldNum" sz="quarter" idx="12"/>
          </p:nvPr>
        </p:nvSpPr>
        <p:spPr/>
        <p:txBody>
          <a:bodyPr/>
          <a:lstStyle/>
          <a:p>
            <a:pPr>
              <a:defRPr/>
            </a:pPr>
            <a:fld id="{4E499BF4-6C8D-417D-B206-0AF20A1CAAC7}" type="slidenum">
              <a:rPr lang="en-US" smtClean="0"/>
              <a:pPr>
                <a:defRPr/>
              </a:pPr>
              <a:t>62</a:t>
            </a:fld>
            <a:endParaRPr lang="en-US"/>
          </a:p>
        </p:txBody>
      </p:sp>
    </p:spTree>
    <p:extLst>
      <p:ext uri="{BB962C8B-B14F-4D97-AF65-F5344CB8AC3E}">
        <p14:creationId xmlns:p14="http://schemas.microsoft.com/office/powerpoint/2010/main" val="250811127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1EF1D3-1E93-408F-98F7-61FC4FE974E6}"/>
              </a:ext>
            </a:extLst>
          </p:cNvPr>
          <p:cNvSpPr>
            <a:spLocks noGrp="1"/>
          </p:cNvSpPr>
          <p:nvPr>
            <p:ph type="title"/>
          </p:nvPr>
        </p:nvSpPr>
        <p:spPr/>
        <p:txBody>
          <a:bodyPr/>
          <a:lstStyle/>
          <a:p>
            <a:r>
              <a:rPr lang="en-US" dirty="0"/>
              <a:t>Trade Reporting Facility (TRF) (2 of 2)</a:t>
            </a:r>
            <a:endParaRPr lang="en-IN" dirty="0"/>
          </a:p>
        </p:txBody>
      </p:sp>
      <p:sp>
        <p:nvSpPr>
          <p:cNvPr id="3" name="Content Placeholder 2">
            <a:extLst>
              <a:ext uri="{FF2B5EF4-FFF2-40B4-BE49-F238E27FC236}">
                <a16:creationId xmlns:a16="http://schemas.microsoft.com/office/drawing/2014/main" id="{B54BC250-B631-4FE0-BA3B-0CACCBC01C7D}"/>
              </a:ext>
            </a:extLst>
          </p:cNvPr>
          <p:cNvSpPr>
            <a:spLocks noGrp="1"/>
          </p:cNvSpPr>
          <p:nvPr>
            <p:ph idx="1"/>
          </p:nvPr>
        </p:nvSpPr>
        <p:spPr/>
        <p:txBody>
          <a:bodyPr/>
          <a:lstStyle/>
          <a:p>
            <a:pPr>
              <a:spcBef>
                <a:spcPts val="600"/>
              </a:spcBef>
            </a:pPr>
            <a:r>
              <a:rPr lang="en-US" dirty="0"/>
              <a:t>Reports data to the Consolidated Tape Association (CTS)</a:t>
            </a:r>
          </a:p>
          <a:p>
            <a:pPr lvl="1">
              <a:spcBef>
                <a:spcPts val="600"/>
              </a:spcBef>
            </a:pPr>
            <a:r>
              <a:rPr lang="en-US" dirty="0"/>
              <a:t>Gathers stock exchange data</a:t>
            </a:r>
          </a:p>
          <a:p>
            <a:pPr lvl="1">
              <a:spcBef>
                <a:spcPts val="600"/>
              </a:spcBef>
            </a:pPr>
            <a:r>
              <a:rPr lang="en-US" dirty="0"/>
              <a:t>Applies quality control processes to ensure the data’s accuracy</a:t>
            </a:r>
          </a:p>
          <a:p>
            <a:pPr lvl="1">
              <a:spcBef>
                <a:spcPts val="600"/>
              </a:spcBef>
            </a:pPr>
            <a:r>
              <a:rPr lang="en-US" dirty="0"/>
              <a:t>Then releases the data</a:t>
            </a:r>
          </a:p>
        </p:txBody>
      </p:sp>
      <p:sp>
        <p:nvSpPr>
          <p:cNvPr id="4" name="Slide Number Placeholder 3">
            <a:extLst>
              <a:ext uri="{FF2B5EF4-FFF2-40B4-BE49-F238E27FC236}">
                <a16:creationId xmlns:a16="http://schemas.microsoft.com/office/drawing/2014/main" id="{50807C95-4BDF-C2BF-A36A-BB3295900D86}"/>
              </a:ext>
            </a:extLst>
          </p:cNvPr>
          <p:cNvSpPr>
            <a:spLocks noGrp="1"/>
          </p:cNvSpPr>
          <p:nvPr>
            <p:ph type="sldNum" sz="quarter" idx="12"/>
          </p:nvPr>
        </p:nvSpPr>
        <p:spPr/>
        <p:txBody>
          <a:bodyPr/>
          <a:lstStyle/>
          <a:p>
            <a:pPr>
              <a:defRPr/>
            </a:pPr>
            <a:fld id="{4E499BF4-6C8D-417D-B206-0AF20A1CAAC7}" type="slidenum">
              <a:rPr lang="en-US" smtClean="0"/>
              <a:pPr>
                <a:defRPr/>
              </a:pPr>
              <a:t>63</a:t>
            </a:fld>
            <a:endParaRPr lang="en-US"/>
          </a:p>
        </p:txBody>
      </p:sp>
    </p:spTree>
    <p:extLst>
      <p:ext uri="{BB962C8B-B14F-4D97-AF65-F5344CB8AC3E}">
        <p14:creationId xmlns:p14="http://schemas.microsoft.com/office/powerpoint/2010/main" val="300862978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C7E30-3E97-04F8-452E-E67B2CC59D11}"/>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0EC88BE1-382D-9147-3BCD-50831821C780}"/>
              </a:ext>
            </a:extLst>
          </p:cNvPr>
          <p:cNvSpPr>
            <a:spLocks noGrp="1"/>
          </p:cNvSpPr>
          <p:nvPr>
            <p:ph idx="1"/>
          </p:nvPr>
        </p:nvSpPr>
        <p:spPr/>
        <p:txBody>
          <a:bodyPr>
            <a:normAutofit/>
          </a:bodyPr>
          <a:lstStyle/>
          <a:p>
            <a:pPr algn="ctr"/>
            <a:r>
              <a:rPr lang="en-US" sz="7200" dirty="0"/>
              <a:t>Financial Crisis of 2008</a:t>
            </a:r>
          </a:p>
        </p:txBody>
      </p:sp>
      <p:sp>
        <p:nvSpPr>
          <p:cNvPr id="4" name="Slide Number Placeholder 3">
            <a:extLst>
              <a:ext uri="{FF2B5EF4-FFF2-40B4-BE49-F238E27FC236}">
                <a16:creationId xmlns:a16="http://schemas.microsoft.com/office/drawing/2014/main" id="{C42CECA3-5BD3-0392-34D6-B27F19199AA2}"/>
              </a:ext>
            </a:extLst>
          </p:cNvPr>
          <p:cNvSpPr>
            <a:spLocks noGrp="1"/>
          </p:cNvSpPr>
          <p:nvPr>
            <p:ph type="sldNum" sz="quarter" idx="12"/>
          </p:nvPr>
        </p:nvSpPr>
        <p:spPr/>
        <p:txBody>
          <a:bodyPr/>
          <a:lstStyle/>
          <a:p>
            <a:pPr>
              <a:defRPr/>
            </a:pPr>
            <a:fld id="{4E499BF4-6C8D-417D-B206-0AF20A1CAAC7}" type="slidenum">
              <a:rPr lang="en-US" smtClean="0"/>
              <a:pPr>
                <a:defRPr/>
              </a:pPr>
              <a:t>64</a:t>
            </a:fld>
            <a:endParaRPr lang="en-US"/>
          </a:p>
        </p:txBody>
      </p:sp>
    </p:spTree>
    <p:extLst>
      <p:ext uri="{BB962C8B-B14F-4D97-AF65-F5344CB8AC3E}">
        <p14:creationId xmlns:p14="http://schemas.microsoft.com/office/powerpoint/2010/main" val="418430778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2"/>
          <p:cNvSpPr>
            <a:spLocks noGrp="1" noChangeArrowheads="1"/>
          </p:cNvSpPr>
          <p:nvPr>
            <p:ph type="title"/>
          </p:nvPr>
        </p:nvSpPr>
        <p:spPr/>
        <p:txBody>
          <a:bodyPr/>
          <a:lstStyle/>
          <a:p>
            <a:r>
              <a:rPr lang="en-US" altLang="en-US"/>
              <a:t>Home Mortgages Before S&amp;Ls</a:t>
            </a:r>
          </a:p>
        </p:txBody>
      </p:sp>
      <p:sp>
        <p:nvSpPr>
          <p:cNvPr id="51204" name="Rectangle 3"/>
          <p:cNvSpPr>
            <a:spLocks noGrp="1" noChangeArrowheads="1"/>
          </p:cNvSpPr>
          <p:nvPr>
            <p:ph idx="1"/>
          </p:nvPr>
        </p:nvSpPr>
        <p:spPr/>
        <p:txBody>
          <a:bodyPr>
            <a:normAutofit/>
          </a:bodyPr>
          <a:lstStyle/>
          <a:p>
            <a:r>
              <a:rPr lang="en-US" altLang="en-US" dirty="0"/>
              <a:t>problems if an individual investor tried to lend money to an aspiring homeowner:</a:t>
            </a:r>
          </a:p>
          <a:p>
            <a:pPr lvl="1"/>
            <a:r>
              <a:rPr lang="en-US" altLang="en-US" dirty="0"/>
              <a:t>Individual investor might not have enough money to fund an entire home</a:t>
            </a:r>
          </a:p>
          <a:p>
            <a:pPr lvl="1"/>
            <a:r>
              <a:rPr lang="en-US" altLang="en-US" dirty="0"/>
              <a:t>Individual investor might not be in a good position to evaluate risk of potential homeowner</a:t>
            </a:r>
          </a:p>
          <a:p>
            <a:pPr lvl="1"/>
            <a:r>
              <a:rPr lang="en-US" altLang="en-US" dirty="0"/>
              <a:t>Individual investor might have difficulty collecting mortgage payments</a:t>
            </a:r>
          </a:p>
        </p:txBody>
      </p:sp>
      <p:sp>
        <p:nvSpPr>
          <p:cNvPr id="2" name="Slide Number Placeholder 1">
            <a:extLst>
              <a:ext uri="{FF2B5EF4-FFF2-40B4-BE49-F238E27FC236}">
                <a16:creationId xmlns:a16="http://schemas.microsoft.com/office/drawing/2014/main" id="{A987785F-25C0-135E-1A11-C0A6373A8F90}"/>
              </a:ext>
            </a:extLst>
          </p:cNvPr>
          <p:cNvSpPr>
            <a:spLocks noGrp="1"/>
          </p:cNvSpPr>
          <p:nvPr>
            <p:ph type="sldNum" sz="quarter" idx="12"/>
          </p:nvPr>
        </p:nvSpPr>
        <p:spPr/>
        <p:txBody>
          <a:bodyPr/>
          <a:lstStyle/>
          <a:p>
            <a:pPr>
              <a:defRPr/>
            </a:pPr>
            <a:fld id="{4E499BF4-6C8D-417D-B206-0AF20A1CAAC7}" type="slidenum">
              <a:rPr lang="en-US" smtClean="0"/>
              <a:pPr>
                <a:defRPr/>
              </a:pPr>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2"/>
          <p:cNvSpPr>
            <a:spLocks noGrp="1" noChangeArrowheads="1"/>
          </p:cNvSpPr>
          <p:nvPr>
            <p:ph type="title"/>
          </p:nvPr>
        </p:nvSpPr>
        <p:spPr/>
        <p:txBody>
          <a:bodyPr/>
          <a:lstStyle/>
          <a:p>
            <a:r>
              <a:rPr lang="en-US" altLang="en-US"/>
              <a:t>S&amp;Ls Before Securitization</a:t>
            </a:r>
          </a:p>
        </p:txBody>
      </p:sp>
      <p:sp>
        <p:nvSpPr>
          <p:cNvPr id="52228" name="Rectangle 3"/>
          <p:cNvSpPr>
            <a:spLocks noGrp="1" noChangeArrowheads="1"/>
          </p:cNvSpPr>
          <p:nvPr>
            <p:ph idx="1"/>
          </p:nvPr>
        </p:nvSpPr>
        <p:spPr/>
        <p:txBody>
          <a:bodyPr/>
          <a:lstStyle/>
          <a:p>
            <a:r>
              <a:rPr lang="en-US" altLang="en-US" dirty="0"/>
              <a:t>Savings &amp; loan associations (S&amp;Ls) solved problems faced by individual investors</a:t>
            </a:r>
          </a:p>
          <a:p>
            <a:pPr lvl="1"/>
            <a:r>
              <a:rPr lang="en-US" altLang="en-US" dirty="0"/>
              <a:t>S&amp;Ls pooled deposits from many investors</a:t>
            </a:r>
          </a:p>
          <a:p>
            <a:pPr lvl="1"/>
            <a:r>
              <a:rPr lang="en-US" altLang="en-US" dirty="0"/>
              <a:t>S&amp;Ls developed expertise in evaluating risk of borrowers</a:t>
            </a:r>
          </a:p>
          <a:p>
            <a:pPr lvl="1"/>
            <a:r>
              <a:rPr lang="en-US" altLang="en-US" dirty="0"/>
              <a:t>S&amp;Ls had legal resources to collect payments from borrowers</a:t>
            </a:r>
          </a:p>
        </p:txBody>
      </p:sp>
      <p:sp>
        <p:nvSpPr>
          <p:cNvPr id="2" name="Slide Number Placeholder 1">
            <a:extLst>
              <a:ext uri="{FF2B5EF4-FFF2-40B4-BE49-F238E27FC236}">
                <a16:creationId xmlns:a16="http://schemas.microsoft.com/office/drawing/2014/main" id="{25849027-BB93-B223-86AC-EA107F68F9F2}"/>
              </a:ext>
            </a:extLst>
          </p:cNvPr>
          <p:cNvSpPr>
            <a:spLocks noGrp="1"/>
          </p:cNvSpPr>
          <p:nvPr>
            <p:ph type="sldNum" sz="quarter" idx="12"/>
          </p:nvPr>
        </p:nvSpPr>
        <p:spPr/>
        <p:txBody>
          <a:bodyPr/>
          <a:lstStyle/>
          <a:p>
            <a:pPr>
              <a:defRPr/>
            </a:pPr>
            <a:fld id="{4E499BF4-6C8D-417D-B206-0AF20A1CAAC7}" type="slidenum">
              <a:rPr lang="en-US" smtClean="0"/>
              <a:pPr>
                <a:defRPr/>
              </a:pPr>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2"/>
          <p:cNvSpPr>
            <a:spLocks noGrp="1" noChangeArrowheads="1"/>
          </p:cNvSpPr>
          <p:nvPr>
            <p:ph type="title"/>
          </p:nvPr>
        </p:nvSpPr>
        <p:spPr/>
        <p:txBody>
          <a:bodyPr>
            <a:normAutofit fontScale="90000"/>
          </a:bodyPr>
          <a:lstStyle/>
          <a:p>
            <a:r>
              <a:rPr lang="en-US" altLang="en-US"/>
              <a:t>Problems faced by S&amp;Ls Before Securitization</a:t>
            </a:r>
          </a:p>
        </p:txBody>
      </p:sp>
      <p:sp>
        <p:nvSpPr>
          <p:cNvPr id="53252" name="Rectangle 3"/>
          <p:cNvSpPr>
            <a:spLocks noGrp="1" noChangeArrowheads="1"/>
          </p:cNvSpPr>
          <p:nvPr>
            <p:ph idx="1"/>
          </p:nvPr>
        </p:nvSpPr>
        <p:spPr/>
        <p:txBody>
          <a:bodyPr>
            <a:normAutofit fontScale="92500" lnSpcReduction="20000"/>
          </a:bodyPr>
          <a:lstStyle/>
          <a:p>
            <a:r>
              <a:rPr lang="en-US" altLang="en-US" dirty="0"/>
              <a:t>S&amp;Ls were limited in amount of mortgages they could fund by amount of deposits they could raise</a:t>
            </a:r>
          </a:p>
          <a:p>
            <a:r>
              <a:rPr lang="en-US" altLang="en-US" dirty="0"/>
              <a:t>S&amp;Ls were raising money through short-term floating-rate deposits, but making loans in form of long-term fixed-rate mortgages</a:t>
            </a:r>
          </a:p>
          <a:p>
            <a:r>
              <a:rPr lang="en-US" altLang="en-US" dirty="0"/>
              <a:t>When interest rates increased, S&amp;Ls faced crisis because they had to pay more to depositors than they collected from mortgagees</a:t>
            </a:r>
          </a:p>
        </p:txBody>
      </p:sp>
      <p:sp>
        <p:nvSpPr>
          <p:cNvPr id="2" name="Slide Number Placeholder 1">
            <a:extLst>
              <a:ext uri="{FF2B5EF4-FFF2-40B4-BE49-F238E27FC236}">
                <a16:creationId xmlns:a16="http://schemas.microsoft.com/office/drawing/2014/main" id="{FE9623B6-5C5F-790E-346F-71FA1DE1B030}"/>
              </a:ext>
            </a:extLst>
          </p:cNvPr>
          <p:cNvSpPr>
            <a:spLocks noGrp="1"/>
          </p:cNvSpPr>
          <p:nvPr>
            <p:ph type="sldNum" sz="quarter" idx="12"/>
          </p:nvPr>
        </p:nvSpPr>
        <p:spPr/>
        <p:txBody>
          <a:bodyPr/>
          <a:lstStyle/>
          <a:p>
            <a:pPr>
              <a:defRPr/>
            </a:pPr>
            <a:fld id="{4E499BF4-6C8D-417D-B206-0AF20A1CAAC7}" type="slidenum">
              <a:rPr lang="en-US" smtClean="0"/>
              <a:pPr>
                <a:defRPr/>
              </a:pPr>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2"/>
          <p:cNvSpPr>
            <a:spLocks noGrp="1" noChangeArrowheads="1"/>
          </p:cNvSpPr>
          <p:nvPr>
            <p:ph type="title"/>
          </p:nvPr>
        </p:nvSpPr>
        <p:spPr/>
        <p:txBody>
          <a:bodyPr/>
          <a:lstStyle/>
          <a:p>
            <a:r>
              <a:rPr lang="en-US" altLang="en-US" dirty="0"/>
              <a:t>Taxpayers to Rescue</a:t>
            </a:r>
          </a:p>
        </p:txBody>
      </p:sp>
      <p:sp>
        <p:nvSpPr>
          <p:cNvPr id="54276" name="Rectangle 3"/>
          <p:cNvSpPr>
            <a:spLocks noGrp="1" noChangeArrowheads="1"/>
          </p:cNvSpPr>
          <p:nvPr>
            <p:ph idx="1"/>
          </p:nvPr>
        </p:nvSpPr>
        <p:spPr/>
        <p:txBody>
          <a:bodyPr/>
          <a:lstStyle/>
          <a:p>
            <a:r>
              <a:rPr lang="en-US" altLang="en-US" dirty="0"/>
              <a:t>Many S&amp;Ls went bankrupt when interest rates rose in 1980s.</a:t>
            </a:r>
          </a:p>
          <a:p>
            <a:r>
              <a:rPr lang="en-US" altLang="en-US" dirty="0"/>
              <a:t>Because deposits are insured, taxpayers ended up paying hundreds of billions of dollars.</a:t>
            </a:r>
          </a:p>
        </p:txBody>
      </p:sp>
      <p:sp>
        <p:nvSpPr>
          <p:cNvPr id="2" name="Slide Number Placeholder 1">
            <a:extLst>
              <a:ext uri="{FF2B5EF4-FFF2-40B4-BE49-F238E27FC236}">
                <a16:creationId xmlns:a16="http://schemas.microsoft.com/office/drawing/2014/main" id="{E0010A81-30E9-F558-5E55-B639EF4723E7}"/>
              </a:ext>
            </a:extLst>
          </p:cNvPr>
          <p:cNvSpPr>
            <a:spLocks noGrp="1"/>
          </p:cNvSpPr>
          <p:nvPr>
            <p:ph type="sldNum" sz="quarter" idx="12"/>
          </p:nvPr>
        </p:nvSpPr>
        <p:spPr/>
        <p:txBody>
          <a:bodyPr/>
          <a:lstStyle/>
          <a:p>
            <a:pPr>
              <a:defRPr/>
            </a:pPr>
            <a:fld id="{4E499BF4-6C8D-417D-B206-0AF20A1CAAC7}" type="slidenum">
              <a:rPr lang="en-US" smtClean="0"/>
              <a:pPr>
                <a:defRPr/>
              </a:pPr>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2"/>
          <p:cNvSpPr>
            <a:spLocks noGrp="1" noChangeArrowheads="1"/>
          </p:cNvSpPr>
          <p:nvPr>
            <p:ph type="title"/>
          </p:nvPr>
        </p:nvSpPr>
        <p:spPr/>
        <p:txBody>
          <a:bodyPr>
            <a:normAutofit fontScale="90000"/>
          </a:bodyPr>
          <a:lstStyle/>
          <a:p>
            <a:r>
              <a:rPr lang="en-US" altLang="en-US" dirty="0"/>
              <a:t>Securitization in Home Mortgage Industry</a:t>
            </a:r>
          </a:p>
        </p:txBody>
      </p:sp>
      <p:sp>
        <p:nvSpPr>
          <p:cNvPr id="55300" name="Rectangle 3"/>
          <p:cNvSpPr>
            <a:spLocks noGrp="1" noChangeArrowheads="1"/>
          </p:cNvSpPr>
          <p:nvPr>
            <p:ph idx="1"/>
          </p:nvPr>
        </p:nvSpPr>
        <p:spPr/>
        <p:txBody>
          <a:bodyPr/>
          <a:lstStyle/>
          <a:p>
            <a:r>
              <a:rPr lang="en-US" altLang="en-US" dirty="0"/>
              <a:t>After crisis in 1980s, S&amp;Ls now put their mortgages into “pools” &amp; sell pools to other organizations, such as Fannie Mae.  </a:t>
            </a:r>
          </a:p>
          <a:p>
            <a:r>
              <a:rPr lang="en-US" altLang="en-US" dirty="0"/>
              <a:t>After selling a pool, S&amp;Ls have funds to make new home loans</a:t>
            </a:r>
          </a:p>
          <a:p>
            <a:r>
              <a:rPr lang="en-US" altLang="en-US" dirty="0"/>
              <a:t>Risk is shifted to Fannie Mae</a:t>
            </a:r>
          </a:p>
          <a:p>
            <a:pPr lvl="1"/>
            <a:endParaRPr lang="en-US" altLang="en-US" dirty="0"/>
          </a:p>
        </p:txBody>
      </p:sp>
      <p:sp>
        <p:nvSpPr>
          <p:cNvPr id="2" name="Slide Number Placeholder 1">
            <a:extLst>
              <a:ext uri="{FF2B5EF4-FFF2-40B4-BE49-F238E27FC236}">
                <a16:creationId xmlns:a16="http://schemas.microsoft.com/office/drawing/2014/main" id="{085E7D05-A120-8D13-3083-03724B51C4F3}"/>
              </a:ext>
            </a:extLst>
          </p:cNvPr>
          <p:cNvSpPr>
            <a:spLocks noGrp="1"/>
          </p:cNvSpPr>
          <p:nvPr>
            <p:ph type="sldNum" sz="quarter" idx="12"/>
          </p:nvPr>
        </p:nvSpPr>
        <p:spPr/>
        <p:txBody>
          <a:bodyPr/>
          <a:lstStyle/>
          <a:p>
            <a:pPr>
              <a:defRPr/>
            </a:pPr>
            <a:fld id="{4E499BF4-6C8D-417D-B206-0AF20A1CAAC7}" type="slidenum">
              <a:rPr lang="en-US" smtClean="0"/>
              <a:pPr>
                <a:defRPr/>
              </a:pPr>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2"/>
          <p:cNvSpPr>
            <a:spLocks noGrp="1" noChangeArrowheads="1"/>
          </p:cNvSpPr>
          <p:nvPr>
            <p:ph type="title"/>
          </p:nvPr>
        </p:nvSpPr>
        <p:spPr/>
        <p:txBody>
          <a:bodyPr/>
          <a:lstStyle/>
          <a:p>
            <a:r>
              <a:rPr lang="en-US" altLang="en-US"/>
              <a:t>Fannie Mae Shifts Risk to Its Investors</a:t>
            </a:r>
          </a:p>
        </p:txBody>
      </p:sp>
      <p:sp>
        <p:nvSpPr>
          <p:cNvPr id="56324" name="Rectangle 3"/>
          <p:cNvSpPr>
            <a:spLocks noGrp="1" noChangeArrowheads="1"/>
          </p:cNvSpPr>
          <p:nvPr>
            <p:ph idx="1"/>
          </p:nvPr>
        </p:nvSpPr>
        <p:spPr/>
        <p:txBody>
          <a:bodyPr>
            <a:normAutofit fontScale="77500" lnSpcReduction="20000"/>
          </a:bodyPr>
          <a:lstStyle/>
          <a:p>
            <a:r>
              <a:rPr lang="en-US" altLang="en-US" dirty="0"/>
              <a:t>Risk hasn’t disappeared, it has been shifted to Fannie Mae.</a:t>
            </a:r>
          </a:p>
          <a:p>
            <a:r>
              <a:rPr lang="en-US" altLang="en-US" dirty="0"/>
              <a:t>But Fannie Mae doesn’t keep mortgages:</a:t>
            </a:r>
          </a:p>
          <a:p>
            <a:pPr lvl="1"/>
            <a:r>
              <a:rPr lang="en-US" altLang="en-US" dirty="0"/>
              <a:t>Puts mortgages in pools, sells shares of these pools to investors</a:t>
            </a:r>
          </a:p>
          <a:p>
            <a:pPr lvl="1"/>
            <a:r>
              <a:rPr lang="en-US" altLang="en-US" dirty="0"/>
              <a:t>Risk is shifted to investors.</a:t>
            </a:r>
          </a:p>
          <a:p>
            <a:pPr lvl="1"/>
            <a:r>
              <a:rPr lang="en-US" altLang="en-US" dirty="0"/>
              <a:t>But investors get a rate of return close to mortgage rate, which is higher than rate S&amp;Ls pay their depositor.</a:t>
            </a:r>
          </a:p>
          <a:p>
            <a:pPr lvl="1"/>
            <a:r>
              <a:rPr lang="en-US" altLang="en-US" dirty="0"/>
              <a:t>Investors have more risk, but more return</a:t>
            </a:r>
          </a:p>
          <a:p>
            <a:r>
              <a:rPr lang="en-US" altLang="en-US" dirty="0"/>
              <a:t>This is called securitization, since new securities have been created based on original securities (mortgages in this example)</a:t>
            </a:r>
          </a:p>
        </p:txBody>
      </p:sp>
      <p:sp>
        <p:nvSpPr>
          <p:cNvPr id="2" name="Slide Number Placeholder 1">
            <a:extLst>
              <a:ext uri="{FF2B5EF4-FFF2-40B4-BE49-F238E27FC236}">
                <a16:creationId xmlns:a16="http://schemas.microsoft.com/office/drawing/2014/main" id="{5CC59E81-C57F-14CA-DC17-C52F285DA99C}"/>
              </a:ext>
            </a:extLst>
          </p:cNvPr>
          <p:cNvSpPr>
            <a:spLocks noGrp="1"/>
          </p:cNvSpPr>
          <p:nvPr>
            <p:ph type="sldNum" sz="quarter" idx="12"/>
          </p:nvPr>
        </p:nvSpPr>
        <p:spPr/>
        <p:txBody>
          <a:bodyPr/>
          <a:lstStyle/>
          <a:p>
            <a:pPr>
              <a:defRPr/>
            </a:pPr>
            <a:fld id="{4E499BF4-6C8D-417D-B206-0AF20A1CAAC7}" type="slidenum">
              <a:rPr lang="en-US" smtClean="0"/>
              <a:pPr>
                <a:defRPr/>
              </a:pPr>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2"/>
          <p:cNvSpPr>
            <a:spLocks noGrp="1" noChangeArrowheads="1"/>
          </p:cNvSpPr>
          <p:nvPr>
            <p:ph type="title"/>
          </p:nvPr>
        </p:nvSpPr>
        <p:spPr/>
        <p:txBody>
          <a:bodyPr/>
          <a:lstStyle/>
          <a:p>
            <a:r>
              <a:rPr lang="en-US" altLang="en-US"/>
              <a:t>Collateralized Debt Obligations (CDOs)</a:t>
            </a:r>
          </a:p>
        </p:txBody>
      </p:sp>
      <p:sp>
        <p:nvSpPr>
          <p:cNvPr id="57348" name="Rectangle 3"/>
          <p:cNvSpPr>
            <a:spLocks noGrp="1" noChangeArrowheads="1"/>
          </p:cNvSpPr>
          <p:nvPr>
            <p:ph idx="1"/>
          </p:nvPr>
        </p:nvSpPr>
        <p:spPr/>
        <p:txBody>
          <a:bodyPr>
            <a:noAutofit/>
          </a:bodyPr>
          <a:lstStyle/>
          <a:p>
            <a:r>
              <a:rPr lang="en-US" altLang="en-US" sz="2400" dirty="0"/>
              <a:t>Fannie Mae &amp; others, such as investment banks, can also split mortgage pools into “special” securities</a:t>
            </a:r>
          </a:p>
          <a:p>
            <a:pPr lvl="1"/>
            <a:r>
              <a:rPr lang="en-US" altLang="en-US" sz="2000" dirty="0"/>
              <a:t>Some securities might pay investors only mortgage interest, others might pay only mortgage principal.</a:t>
            </a:r>
          </a:p>
          <a:p>
            <a:pPr lvl="1"/>
            <a:r>
              <a:rPr lang="en-US" altLang="en-US" sz="2000" dirty="0"/>
              <a:t>Some securities might mature quickly, others might mature later.</a:t>
            </a:r>
          </a:p>
          <a:p>
            <a:pPr lvl="1"/>
            <a:r>
              <a:rPr lang="en-US" altLang="en-US" sz="2000" dirty="0"/>
              <a:t>Some securities are “senior” &amp; get paid before other securities from pool get paid.</a:t>
            </a:r>
          </a:p>
          <a:p>
            <a:pPr lvl="1"/>
            <a:r>
              <a:rPr lang="en-US" altLang="en-US" sz="2000" dirty="0"/>
              <a:t>Rating agencies give different </a:t>
            </a:r>
          </a:p>
          <a:p>
            <a:r>
              <a:rPr lang="en-US" altLang="en-US" sz="2400" dirty="0"/>
              <a:t>Risk of basic mortgage is parceled out to those investors who want that type of risk (&amp; potential return that goes with it).</a:t>
            </a:r>
          </a:p>
        </p:txBody>
      </p:sp>
      <p:sp>
        <p:nvSpPr>
          <p:cNvPr id="2" name="Slide Number Placeholder 1">
            <a:extLst>
              <a:ext uri="{FF2B5EF4-FFF2-40B4-BE49-F238E27FC236}">
                <a16:creationId xmlns:a16="http://schemas.microsoft.com/office/drawing/2014/main" id="{1B34F68B-8799-B1D3-A627-FA190107D2E8}"/>
              </a:ext>
            </a:extLst>
          </p:cNvPr>
          <p:cNvSpPr>
            <a:spLocks noGrp="1"/>
          </p:cNvSpPr>
          <p:nvPr>
            <p:ph type="sldNum" sz="quarter" idx="12"/>
          </p:nvPr>
        </p:nvSpPr>
        <p:spPr/>
        <p:txBody>
          <a:bodyPr/>
          <a:lstStyle/>
          <a:p>
            <a:pPr>
              <a:defRPr/>
            </a:pPr>
            <a:fld id="{4E499BF4-6C8D-417D-B206-0AF20A1CAAC7}" type="slidenum">
              <a:rPr lang="en-US" smtClean="0"/>
              <a:pPr>
                <a:defRPr/>
              </a:pPr>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2"/>
          <p:cNvSpPr>
            <a:spLocks noGrp="1" noChangeArrowheads="1"/>
          </p:cNvSpPr>
          <p:nvPr>
            <p:ph type="title"/>
          </p:nvPr>
        </p:nvSpPr>
        <p:spPr/>
        <p:txBody>
          <a:bodyPr/>
          <a:lstStyle/>
          <a:p>
            <a:r>
              <a:rPr lang="en-US" altLang="en-US"/>
              <a:t>Other Assets Can be Securitized</a:t>
            </a:r>
          </a:p>
        </p:txBody>
      </p:sp>
      <p:sp>
        <p:nvSpPr>
          <p:cNvPr id="58372" name="Rectangle 3"/>
          <p:cNvSpPr>
            <a:spLocks noGrp="1" noChangeArrowheads="1"/>
          </p:cNvSpPr>
          <p:nvPr>
            <p:ph idx="1"/>
          </p:nvPr>
        </p:nvSpPr>
        <p:spPr/>
        <p:txBody>
          <a:bodyPr/>
          <a:lstStyle/>
          <a:p>
            <a:r>
              <a:rPr lang="en-US" altLang="en-US"/>
              <a:t>Car loans</a:t>
            </a:r>
          </a:p>
          <a:p>
            <a:r>
              <a:rPr lang="en-US" altLang="en-US"/>
              <a:t>Student loans</a:t>
            </a:r>
          </a:p>
          <a:p>
            <a:r>
              <a:rPr lang="en-US" altLang="en-US"/>
              <a:t>Credit card balances</a:t>
            </a:r>
          </a:p>
        </p:txBody>
      </p:sp>
      <p:sp>
        <p:nvSpPr>
          <p:cNvPr id="2" name="Slide Number Placeholder 1">
            <a:extLst>
              <a:ext uri="{FF2B5EF4-FFF2-40B4-BE49-F238E27FC236}">
                <a16:creationId xmlns:a16="http://schemas.microsoft.com/office/drawing/2014/main" id="{6E60E597-B829-20ED-7B77-A56C76EC75C6}"/>
              </a:ext>
            </a:extLst>
          </p:cNvPr>
          <p:cNvSpPr>
            <a:spLocks noGrp="1"/>
          </p:cNvSpPr>
          <p:nvPr>
            <p:ph type="sldNum" sz="quarter" idx="12"/>
          </p:nvPr>
        </p:nvSpPr>
        <p:spPr/>
        <p:txBody>
          <a:bodyPr/>
          <a:lstStyle/>
          <a:p>
            <a:pPr>
              <a:defRPr/>
            </a:pPr>
            <a:fld id="{4E499BF4-6C8D-417D-B206-0AF20A1CAAC7}" type="slidenum">
              <a:rPr lang="en-US" smtClean="0"/>
              <a:pPr>
                <a:defRPr/>
              </a:pPr>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2"/>
          <p:cNvSpPr>
            <a:spLocks noGrp="1" noChangeArrowheads="1"/>
          </p:cNvSpPr>
          <p:nvPr>
            <p:ph type="title"/>
          </p:nvPr>
        </p:nvSpPr>
        <p:spPr/>
        <p:txBody>
          <a:bodyPr/>
          <a:lstStyle/>
          <a:p>
            <a:r>
              <a:rPr lang="en-US" altLang="en-US" dirty="0"/>
              <a:t>Dark Side of Securitization</a:t>
            </a:r>
          </a:p>
        </p:txBody>
      </p:sp>
      <p:sp>
        <p:nvSpPr>
          <p:cNvPr id="59396" name="Rectangle 3"/>
          <p:cNvSpPr>
            <a:spLocks noGrp="1" noChangeArrowheads="1"/>
          </p:cNvSpPr>
          <p:nvPr>
            <p:ph idx="1"/>
          </p:nvPr>
        </p:nvSpPr>
        <p:spPr/>
        <p:txBody>
          <a:bodyPr>
            <a:normAutofit fontScale="77500" lnSpcReduction="20000"/>
          </a:bodyPr>
          <a:lstStyle/>
          <a:p>
            <a:r>
              <a:rPr lang="en-US" altLang="en-US" dirty="0"/>
              <a:t>Homeowners wanted better homes than they could afford.</a:t>
            </a:r>
          </a:p>
          <a:p>
            <a:r>
              <a:rPr lang="en-US" altLang="en-US" dirty="0"/>
              <a:t>Mortgage brokers encouraged homeowners to take mortgages even though they would reset to payments that borrowers might not be able to pay because brokers got a commission for closing deal.</a:t>
            </a:r>
          </a:p>
          <a:p>
            <a:r>
              <a:rPr lang="en-US" altLang="en-US" dirty="0"/>
              <a:t>Appraisers thought real estate boom would continue &amp; over-appraised house values, getting paid at time of appraisal.</a:t>
            </a:r>
          </a:p>
          <a:p>
            <a:r>
              <a:rPr lang="en-US" altLang="en-US" dirty="0"/>
              <a:t>Originating institutions (like Countrywide) quickly sold mortgages to investment banks &amp; other institutions.</a:t>
            </a:r>
          </a:p>
        </p:txBody>
      </p:sp>
      <p:sp>
        <p:nvSpPr>
          <p:cNvPr id="2" name="Slide Number Placeholder 1">
            <a:extLst>
              <a:ext uri="{FF2B5EF4-FFF2-40B4-BE49-F238E27FC236}">
                <a16:creationId xmlns:a16="http://schemas.microsoft.com/office/drawing/2014/main" id="{8E25FAB9-0FF3-F176-AD58-90F70ECFC175}"/>
              </a:ext>
            </a:extLst>
          </p:cNvPr>
          <p:cNvSpPr>
            <a:spLocks noGrp="1"/>
          </p:cNvSpPr>
          <p:nvPr>
            <p:ph type="sldNum" sz="quarter" idx="12"/>
          </p:nvPr>
        </p:nvSpPr>
        <p:spPr/>
        <p:txBody>
          <a:bodyPr/>
          <a:lstStyle/>
          <a:p>
            <a:pPr>
              <a:defRPr/>
            </a:pPr>
            <a:fld id="{4E499BF4-6C8D-417D-B206-0AF20A1CAAC7}" type="slidenum">
              <a:rPr lang="en-US" smtClean="0"/>
              <a:pPr>
                <a:defRPr/>
              </a:pPr>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p:txBody>
          <a:bodyPr/>
          <a:lstStyle/>
          <a:p>
            <a:r>
              <a:rPr lang="en-US" altLang="en-US" dirty="0"/>
              <a:t>Dark Side (Continued)</a:t>
            </a:r>
          </a:p>
        </p:txBody>
      </p:sp>
      <p:sp>
        <p:nvSpPr>
          <p:cNvPr id="60420" name="Rectangle 3"/>
          <p:cNvSpPr>
            <a:spLocks noGrp="1" noChangeArrowheads="1"/>
          </p:cNvSpPr>
          <p:nvPr>
            <p:ph idx="1"/>
          </p:nvPr>
        </p:nvSpPr>
        <p:spPr>
          <a:xfrm>
            <a:off x="628650" y="1676400"/>
            <a:ext cx="7886700" cy="4351338"/>
          </a:xfrm>
        </p:spPr>
        <p:txBody>
          <a:bodyPr>
            <a:noAutofit/>
          </a:bodyPr>
          <a:lstStyle/>
          <a:p>
            <a:r>
              <a:rPr lang="en-US" altLang="en-US" sz="2400" dirty="0"/>
              <a:t>Investment banks created CDOs &amp; got rating agencies to help design &amp; then rate new CDOs, with rating agencies making big profits despite conflicts of interest.</a:t>
            </a:r>
          </a:p>
          <a:p>
            <a:r>
              <a:rPr lang="en-US" altLang="en-US" sz="2400" dirty="0"/>
              <a:t>Financial engineers used unrealistic inputs to generate high values for CDOs.</a:t>
            </a:r>
          </a:p>
          <a:p>
            <a:r>
              <a:rPr lang="en-US" altLang="en-US" sz="2400" dirty="0"/>
              <a:t>Investment banks sold CDOs to investors &amp; made big profits.</a:t>
            </a:r>
          </a:p>
          <a:p>
            <a:r>
              <a:rPr lang="en-US" altLang="en-US" sz="2400" dirty="0"/>
              <a:t>Investors bought CDOs but either didn’t </a:t>
            </a:r>
            <a:r>
              <a:rPr lang="en-US" altLang="en-US" sz="2400" dirty="0" err="1"/>
              <a:t>underst</a:t>
            </a:r>
            <a:r>
              <a:rPr lang="en-US" altLang="en-US" sz="2400" dirty="0"/>
              <a:t>&amp; or care about risk.</a:t>
            </a:r>
          </a:p>
          <a:p>
            <a:r>
              <a:rPr lang="en-US" altLang="en-US" sz="2400" dirty="0"/>
              <a:t>Some investors bought “insurance” via credit default swaps.</a:t>
            </a:r>
          </a:p>
        </p:txBody>
      </p:sp>
      <p:sp>
        <p:nvSpPr>
          <p:cNvPr id="2" name="Slide Number Placeholder 1">
            <a:extLst>
              <a:ext uri="{FF2B5EF4-FFF2-40B4-BE49-F238E27FC236}">
                <a16:creationId xmlns:a16="http://schemas.microsoft.com/office/drawing/2014/main" id="{8CED38F9-FD3A-4AE6-3BE8-E8C7FD901879}"/>
              </a:ext>
            </a:extLst>
          </p:cNvPr>
          <p:cNvSpPr>
            <a:spLocks noGrp="1"/>
          </p:cNvSpPr>
          <p:nvPr>
            <p:ph type="sldNum" sz="quarter" idx="12"/>
          </p:nvPr>
        </p:nvSpPr>
        <p:spPr/>
        <p:txBody>
          <a:bodyPr/>
          <a:lstStyle/>
          <a:p>
            <a:pPr>
              <a:defRPr/>
            </a:pPr>
            <a:fld id="{4E499BF4-6C8D-417D-B206-0AF20A1CAAC7}" type="slidenum">
              <a:rPr lang="en-US" smtClean="0"/>
              <a:pPr>
                <a:defRPr/>
              </a:pPr>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Rectangle 2"/>
          <p:cNvSpPr>
            <a:spLocks noGrp="1" noChangeArrowheads="1"/>
          </p:cNvSpPr>
          <p:nvPr>
            <p:ph type="title"/>
          </p:nvPr>
        </p:nvSpPr>
        <p:spPr/>
        <p:txBody>
          <a:bodyPr/>
          <a:lstStyle/>
          <a:p>
            <a:r>
              <a:rPr lang="en-US" altLang="en-US" dirty="0"/>
              <a:t>Collapse</a:t>
            </a:r>
          </a:p>
        </p:txBody>
      </p:sp>
      <p:sp>
        <p:nvSpPr>
          <p:cNvPr id="61444" name="Rectangle 3"/>
          <p:cNvSpPr>
            <a:spLocks noGrp="1" noChangeArrowheads="1"/>
          </p:cNvSpPr>
          <p:nvPr>
            <p:ph idx="1"/>
          </p:nvPr>
        </p:nvSpPr>
        <p:spPr/>
        <p:txBody>
          <a:bodyPr>
            <a:normAutofit fontScale="77500" lnSpcReduction="20000"/>
          </a:bodyPr>
          <a:lstStyle/>
          <a:p>
            <a:r>
              <a:rPr lang="en-US" altLang="en-US" dirty="0"/>
              <a:t>When mortgages reset &amp; borrowers defaulted, values of CDOs plummeted.</a:t>
            </a:r>
          </a:p>
          <a:p>
            <a:r>
              <a:rPr lang="en-US" altLang="en-US" dirty="0"/>
              <a:t>Many of credit default swaps failed to provide insurance because counterparty failed.</a:t>
            </a:r>
          </a:p>
          <a:p>
            <a:r>
              <a:rPr lang="en-US" altLang="en-US" dirty="0"/>
              <a:t>Many originators &amp; </a:t>
            </a:r>
            <a:r>
              <a:rPr lang="en-US" altLang="en-US" dirty="0" err="1"/>
              <a:t>securitizers</a:t>
            </a:r>
            <a:r>
              <a:rPr lang="en-US" altLang="en-US" dirty="0"/>
              <a:t> still owned sub-prime securities, which led to many bankruptcies, government takeovers, &amp; fire sales, including:</a:t>
            </a:r>
          </a:p>
          <a:p>
            <a:pPr lvl="1"/>
            <a:r>
              <a:rPr lang="en-US" altLang="en-US" dirty="0"/>
              <a:t>New Century, Countrywide, IndyMac, Northern Rock, Fannie Mae, Freddie Mac, Bear Stearns, Lehman Brothers, &amp; Merrill Lynch.</a:t>
            </a:r>
          </a:p>
          <a:p>
            <a:pPr lvl="1"/>
            <a:r>
              <a:rPr lang="en-US" altLang="en-US" dirty="0"/>
              <a:t>More to come.</a:t>
            </a:r>
          </a:p>
        </p:txBody>
      </p:sp>
      <p:sp>
        <p:nvSpPr>
          <p:cNvPr id="2" name="Slide Number Placeholder 1">
            <a:extLst>
              <a:ext uri="{FF2B5EF4-FFF2-40B4-BE49-F238E27FC236}">
                <a16:creationId xmlns:a16="http://schemas.microsoft.com/office/drawing/2014/main" id="{C85F52EA-390E-447C-2B84-0A6BD60D4AFA}"/>
              </a:ext>
            </a:extLst>
          </p:cNvPr>
          <p:cNvSpPr>
            <a:spLocks noGrp="1"/>
          </p:cNvSpPr>
          <p:nvPr>
            <p:ph type="sldNum" sz="quarter" idx="12"/>
          </p:nvPr>
        </p:nvSpPr>
        <p:spPr/>
        <p:txBody>
          <a:bodyPr/>
          <a:lstStyle/>
          <a:p>
            <a:pPr>
              <a:defRPr/>
            </a:pPr>
            <a:fld id="{4E499BF4-6C8D-417D-B206-0AF20A1CAAC7}" type="slidenum">
              <a:rPr lang="en-US" smtClean="0"/>
              <a:pPr>
                <a:defRPr/>
              </a:pPr>
              <a:t>75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575</TotalTime>
  <Pages>24</Pages>
  <Words>3818</Words>
  <Application>Microsoft Office PowerPoint</Application>
  <PresentationFormat>On-screen Show (4:3)</PresentationFormat>
  <Paragraphs>513</Paragraphs>
  <Slides>75</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75</vt:i4>
      </vt:variant>
    </vt:vector>
  </HeadingPairs>
  <TitlesOfParts>
    <vt:vector size="82" baseType="lpstr">
      <vt:lpstr>Arial</vt:lpstr>
      <vt:lpstr>Calibri</vt:lpstr>
      <vt:lpstr>Calibri Light</vt:lpstr>
      <vt:lpstr>Tahoma</vt:lpstr>
      <vt:lpstr>Times New Roman</vt:lpstr>
      <vt:lpstr>Wingdings</vt:lpstr>
      <vt:lpstr>Office Theme</vt:lpstr>
      <vt:lpstr>CHAPTER 1</vt:lpstr>
      <vt:lpstr>Topics in Chapter</vt:lpstr>
      <vt:lpstr>Why is corporate finance important to all managers?</vt:lpstr>
      <vt:lpstr>What 3 Questions Does Fin. Mgmt Seek to Answer?</vt:lpstr>
      <vt:lpstr>Value of a business likely to be maximized when:</vt:lpstr>
      <vt:lpstr>Factors affecting stock price:</vt:lpstr>
      <vt:lpstr>Factors that affect level &amp; riskiness of CFs</vt:lpstr>
      <vt:lpstr>Factors that affect level and riskiness of CFs</vt:lpstr>
      <vt:lpstr>Business Organization from Start-up to a Major Corporation</vt:lpstr>
      <vt:lpstr>Starting as a Proprietorship</vt:lpstr>
      <vt:lpstr>Starting as or Growing into a Partnership</vt:lpstr>
      <vt:lpstr>Corporation vs. Partnership</vt:lpstr>
      <vt:lpstr>Becoming a Corporation</vt:lpstr>
      <vt:lpstr>Advantages &amp; Disadvantages of a Corporation</vt:lpstr>
      <vt:lpstr>Becoming a Public Corporation &amp; Growing Afterwards</vt:lpstr>
      <vt:lpstr>Agency Problems &amp; Corporate Governance</vt:lpstr>
      <vt:lpstr>Corporate Organization: Finance Function </vt:lpstr>
      <vt:lpstr>What should be management’s primary objective?</vt:lpstr>
      <vt:lpstr>Is maximizing stock price good for society, employees, &amp; customers?</vt:lpstr>
      <vt:lpstr>Is maximizing stock price good? (Cont’d)</vt:lpstr>
      <vt:lpstr>What three aspects of cash flows affect an investment’s value?</vt:lpstr>
      <vt:lpstr>Free Cash Flows (FCF)</vt:lpstr>
      <vt:lpstr>What is weighted average cost of capital (WACC)?  </vt:lpstr>
      <vt:lpstr>What determines a firm’s fundamental, or intrinsic, value?</vt:lpstr>
      <vt:lpstr>Who are providers (savers) &amp; users (borrowers) of capital?</vt:lpstr>
      <vt:lpstr>The Capital Allocation Process</vt:lpstr>
      <vt:lpstr>Transfer of Capital from Savers to Borrowers</vt:lpstr>
      <vt:lpstr>Cost of Money (or required return)</vt:lpstr>
      <vt:lpstr>What four factors affect cost of money?</vt:lpstr>
      <vt:lpstr>What economic conditions affect cost of money?</vt:lpstr>
      <vt:lpstr>What international conditions affect cost of money?</vt:lpstr>
      <vt:lpstr>What two factors lead to exchange rate fluctuations?</vt:lpstr>
      <vt:lpstr>What is a financial instrument?</vt:lpstr>
      <vt:lpstr>Long-Term Financial Instruments (Payments for more than a year)</vt:lpstr>
      <vt:lpstr>Financial Securities</vt:lpstr>
      <vt:lpstr>What is a financial institution?</vt:lpstr>
      <vt:lpstr>What are some financial institutions?</vt:lpstr>
      <vt:lpstr>What are some types of markets?</vt:lpstr>
      <vt:lpstr>Primary vs. Secondary Security Sales</vt:lpstr>
      <vt:lpstr>Key Features of Primary Markets</vt:lpstr>
      <vt:lpstr>Secondary Markets</vt:lpstr>
      <vt:lpstr>Secondary Markets are Important Because They:</vt:lpstr>
      <vt:lpstr>How are secondary markets organized?</vt:lpstr>
      <vt:lpstr>Physical Location vs. Computer/telephone Networks</vt:lpstr>
      <vt:lpstr>Types of Orders</vt:lpstr>
      <vt:lpstr>Auction Markets</vt:lpstr>
      <vt:lpstr>Dealer Markets</vt:lpstr>
      <vt:lpstr>Types of Orders from Clients</vt:lpstr>
      <vt:lpstr>How are orders from buyers and sellers matched and executed?</vt:lpstr>
      <vt:lpstr>Broker-Dealer Networks (1 of 2)</vt:lpstr>
      <vt:lpstr>Broker-Dealer Networks (2 of 2)</vt:lpstr>
      <vt:lpstr>Electronic Communications Networks (ECNs)</vt:lpstr>
      <vt:lpstr>Over Counter (OTC) Markets</vt:lpstr>
      <vt:lpstr>Types of Investments Accounts:  Full-Service Brokerage </vt:lpstr>
      <vt:lpstr>Types of Investments Accounts:  Online-only </vt:lpstr>
      <vt:lpstr>Types of Investments Accounts:  Robo-Advisor Account</vt:lpstr>
      <vt:lpstr>Types of Orders from Clients</vt:lpstr>
      <vt:lpstr>How are orders from buyers and sellers matched and executed?</vt:lpstr>
      <vt:lpstr>Broker-Dealer Networks (1 of 2)</vt:lpstr>
      <vt:lpstr>Broker-Dealer Networks (2 of 2)</vt:lpstr>
      <vt:lpstr>Alternative Trading System (ATS)</vt:lpstr>
      <vt:lpstr>Trade Reporting Facility (TRF) (1 of 2)</vt:lpstr>
      <vt:lpstr>Trade Reporting Facility (TRF) (2 of 2)</vt:lpstr>
      <vt:lpstr>PowerPoint Presentation</vt:lpstr>
      <vt:lpstr>Home Mortgages Before S&amp;Ls</vt:lpstr>
      <vt:lpstr>S&amp;Ls Before Securitization</vt:lpstr>
      <vt:lpstr>Problems faced by S&amp;Ls Before Securitization</vt:lpstr>
      <vt:lpstr>Taxpayers to Rescue</vt:lpstr>
      <vt:lpstr>Securitization in Home Mortgage Industry</vt:lpstr>
      <vt:lpstr>Fannie Mae Shifts Risk to Its Investors</vt:lpstr>
      <vt:lpstr>Collateralized Debt Obligations (CDOs)</vt:lpstr>
      <vt:lpstr>Other Assets Can be Securitized</vt:lpstr>
      <vt:lpstr>Dark Side of Securitization</vt:lpstr>
      <vt:lpstr>Dark Side (Continued)</vt:lpstr>
      <vt:lpstr>Collapse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Overview of Fin and Fin Mkts</dc:title>
  <dc:subject>Powerpoint show</dc:subject>
  <dc:creator>Mike Ehrhardt</dc:creator>
  <cp:lastModifiedBy>Robert M Donchez</cp:lastModifiedBy>
  <cp:revision>163</cp:revision>
  <cp:lastPrinted>2014-01-14T00:25:44Z</cp:lastPrinted>
  <dcterms:created xsi:type="dcterms:W3CDTF">1997-09-17T11:48:54Z</dcterms:created>
  <dcterms:modified xsi:type="dcterms:W3CDTF">2024-01-13T07:07:34Z</dcterms:modified>
</cp:coreProperties>
</file>