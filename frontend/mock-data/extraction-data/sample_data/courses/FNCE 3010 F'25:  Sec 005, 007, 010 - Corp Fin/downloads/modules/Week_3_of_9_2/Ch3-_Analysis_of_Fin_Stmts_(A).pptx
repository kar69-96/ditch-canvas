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282" r:id="rId1"/>
    <p:sldMasterId id="2147484326" r:id="rId2"/>
    <p:sldMasterId id="2147484312" r:id="rId3"/>
    <p:sldMasterId id="2147484295" r:id="rId4"/>
  </p:sldMasterIdLst>
  <p:notesMasterIdLst>
    <p:notesMasterId r:id="rId72"/>
  </p:notesMasterIdLst>
  <p:handoutMasterIdLst>
    <p:handoutMasterId r:id="rId73"/>
  </p:handoutMasterIdLst>
  <p:sldIdLst>
    <p:sldId id="347" r:id="rId5"/>
    <p:sldId id="397" r:id="rId6"/>
    <p:sldId id="348" r:id="rId7"/>
    <p:sldId id="398" r:id="rId8"/>
    <p:sldId id="399" r:id="rId9"/>
    <p:sldId id="400" r:id="rId10"/>
    <p:sldId id="325" r:id="rId11"/>
    <p:sldId id="401" r:id="rId12"/>
    <p:sldId id="402" r:id="rId13"/>
    <p:sldId id="403" r:id="rId14"/>
    <p:sldId id="262" r:id="rId15"/>
    <p:sldId id="404" r:id="rId16"/>
    <p:sldId id="405" r:id="rId17"/>
    <p:sldId id="349" r:id="rId18"/>
    <p:sldId id="266" r:id="rId19"/>
    <p:sldId id="406" r:id="rId20"/>
    <p:sldId id="268" r:id="rId21"/>
    <p:sldId id="269" r:id="rId22"/>
    <p:sldId id="407" r:id="rId23"/>
    <p:sldId id="441" r:id="rId24"/>
    <p:sldId id="409" r:id="rId25"/>
    <p:sldId id="410" r:id="rId26"/>
    <p:sldId id="328" r:id="rId27"/>
    <p:sldId id="276" r:id="rId28"/>
    <p:sldId id="442" r:id="rId29"/>
    <p:sldId id="411" r:id="rId30"/>
    <p:sldId id="412" r:id="rId31"/>
    <p:sldId id="413" r:id="rId32"/>
    <p:sldId id="278" r:id="rId33"/>
    <p:sldId id="414" r:id="rId34"/>
    <p:sldId id="415" r:id="rId35"/>
    <p:sldId id="331" r:id="rId36"/>
    <p:sldId id="280" r:id="rId37"/>
    <p:sldId id="416" r:id="rId38"/>
    <p:sldId id="334" r:id="rId39"/>
    <p:sldId id="417" r:id="rId40"/>
    <p:sldId id="282" r:id="rId41"/>
    <p:sldId id="283" r:id="rId42"/>
    <p:sldId id="362" r:id="rId43"/>
    <p:sldId id="418" r:id="rId44"/>
    <p:sldId id="419" r:id="rId45"/>
    <p:sldId id="420" r:id="rId46"/>
    <p:sldId id="421" r:id="rId47"/>
    <p:sldId id="422" r:id="rId48"/>
    <p:sldId id="423" r:id="rId49"/>
    <p:sldId id="284" r:id="rId50"/>
    <p:sldId id="304" r:id="rId51"/>
    <p:sldId id="285" r:id="rId52"/>
    <p:sldId id="424" r:id="rId53"/>
    <p:sldId id="425" r:id="rId54"/>
    <p:sldId id="286" r:id="rId55"/>
    <p:sldId id="426" r:id="rId56"/>
    <p:sldId id="287" r:id="rId57"/>
    <p:sldId id="427" r:id="rId58"/>
    <p:sldId id="428" r:id="rId59"/>
    <p:sldId id="429" r:id="rId60"/>
    <p:sldId id="430" r:id="rId61"/>
    <p:sldId id="431" r:id="rId62"/>
    <p:sldId id="432" r:id="rId63"/>
    <p:sldId id="433" r:id="rId64"/>
    <p:sldId id="434" r:id="rId65"/>
    <p:sldId id="435" r:id="rId66"/>
    <p:sldId id="436" r:id="rId67"/>
    <p:sldId id="437" r:id="rId68"/>
    <p:sldId id="438" r:id="rId69"/>
    <p:sldId id="439" r:id="rId70"/>
    <p:sldId id="440" r:id="rId71"/>
  </p:sldIdLst>
  <p:sldSz cx="9144000" cy="6858000" type="screen4x3"/>
  <p:notesSz cx="6954838" cy="9309100"/>
  <p:kinsoku lang="ja-JP" invalStChars="、。，．・：；？！゛゜ヽヾゝゞ々ー’”）〕］｝〉》」』】°‰′″℃￠％ぁぃぅぇぉっゃゅょゎァィゥェォッャュョヮヵヶ!%),.:;?]}｡｣､･ｧｨｩｪｫｬｭｮｯｰﾞﾟ" invalEndChars="‘“（〔［｛〈《「『【￥＄$([\{｢￡"/>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pos="53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54135"/>
    <a:srgbClr val="DCCCA3"/>
    <a:srgbClr val="8CF4EA"/>
    <a:srgbClr val="00B7A5"/>
    <a:srgbClr val="FAFD00"/>
    <a:srgbClr val="D49FFF"/>
    <a:srgbClr val="83FD65"/>
    <a:srgbClr val="C0FEF9"/>
    <a:srgbClr val="60C9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55" autoAdjust="0"/>
    <p:restoredTop sz="96323" autoAdjust="0"/>
  </p:normalViewPr>
  <p:slideViewPr>
    <p:cSldViewPr>
      <p:cViewPr varScale="1">
        <p:scale>
          <a:sx n="109" d="100"/>
          <a:sy n="109" d="100"/>
        </p:scale>
        <p:origin x="1362" y="96"/>
      </p:cViewPr>
      <p:guideLst>
        <p:guide orient="horz" pos="1200"/>
        <p:guide pos="53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734"/>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8688" y="4421188"/>
            <a:ext cx="5095875" cy="4189412"/>
          </a:xfrm>
          <a:prstGeom prst="rect">
            <a:avLst/>
          </a:prstGeom>
          <a:noFill/>
          <a:ln w="12700">
            <a:noFill/>
            <a:miter lim="800000"/>
            <a:headEnd/>
            <a:tailEnd/>
          </a:ln>
          <a:effectLst/>
        </p:spPr>
        <p:txBody>
          <a:bodyPr vert="horz" wrap="square" lIns="95254" tIns="48435" rIns="95254" bIns="484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5" name="Rectangle 3"/>
          <p:cNvSpPr>
            <a:spLocks noGrp="1" noRot="1" noChangeAspect="1" noChangeArrowheads="1" noTextEdit="1"/>
          </p:cNvSpPr>
          <p:nvPr>
            <p:ph type="sldImg" idx="2"/>
          </p:nvPr>
        </p:nvSpPr>
        <p:spPr bwMode="auto">
          <a:xfrm>
            <a:off x="1158875" y="704850"/>
            <a:ext cx="4637088" cy="347662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6672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35038"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401763"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70075" algn="l" defTabSz="955675"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4294967295"/>
          </p:nvPr>
        </p:nvSpPr>
        <p:spPr bwMode="auto">
          <a:xfrm>
            <a:off x="3978849" y="8842375"/>
            <a:ext cx="3042648"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59" tIns="47328" rIns="94659" bIns="47328"/>
          <a:lstStyle>
            <a:lvl1pPr eaLnBrk="0" hangingPunct="0">
              <a:defRPr>
                <a:solidFill>
                  <a:schemeClr val="tx1"/>
                </a:solidFill>
                <a:latin typeface="Arial" charset="0"/>
              </a:defRPr>
            </a:lvl1pPr>
            <a:lvl2pPr marL="745971" indent="-286912" eaLnBrk="0" hangingPunct="0">
              <a:defRPr>
                <a:solidFill>
                  <a:schemeClr val="tx1"/>
                </a:solidFill>
                <a:latin typeface="Arial" charset="0"/>
              </a:defRPr>
            </a:lvl2pPr>
            <a:lvl3pPr marL="1147647" indent="-229530" eaLnBrk="0" hangingPunct="0">
              <a:defRPr>
                <a:solidFill>
                  <a:schemeClr val="tx1"/>
                </a:solidFill>
                <a:latin typeface="Arial" charset="0"/>
              </a:defRPr>
            </a:lvl3pPr>
            <a:lvl4pPr marL="1606707" indent="-229530" eaLnBrk="0" hangingPunct="0">
              <a:defRPr>
                <a:solidFill>
                  <a:schemeClr val="tx1"/>
                </a:solidFill>
                <a:latin typeface="Arial" charset="0"/>
              </a:defRPr>
            </a:lvl4pPr>
            <a:lvl5pPr marL="2065766" indent="-229530" eaLnBrk="0" hangingPunct="0">
              <a:defRPr>
                <a:solidFill>
                  <a:schemeClr val="tx1"/>
                </a:solidFill>
                <a:latin typeface="Arial" charset="0"/>
              </a:defRPr>
            </a:lvl5pPr>
            <a:lvl6pPr marL="2524825" indent="-229530" eaLnBrk="0" fontAlgn="base" hangingPunct="0">
              <a:spcBef>
                <a:spcPct val="0"/>
              </a:spcBef>
              <a:spcAft>
                <a:spcPct val="0"/>
              </a:spcAft>
              <a:defRPr>
                <a:solidFill>
                  <a:schemeClr val="tx1"/>
                </a:solidFill>
                <a:latin typeface="Arial" charset="0"/>
              </a:defRPr>
            </a:lvl6pPr>
            <a:lvl7pPr marL="2983884" indent="-229530" eaLnBrk="0" fontAlgn="base" hangingPunct="0">
              <a:spcBef>
                <a:spcPct val="0"/>
              </a:spcBef>
              <a:spcAft>
                <a:spcPct val="0"/>
              </a:spcAft>
              <a:defRPr>
                <a:solidFill>
                  <a:schemeClr val="tx1"/>
                </a:solidFill>
                <a:latin typeface="Arial" charset="0"/>
              </a:defRPr>
            </a:lvl7pPr>
            <a:lvl8pPr marL="3442943" indent="-229530" eaLnBrk="0" fontAlgn="base" hangingPunct="0">
              <a:spcBef>
                <a:spcPct val="0"/>
              </a:spcBef>
              <a:spcAft>
                <a:spcPct val="0"/>
              </a:spcAft>
              <a:defRPr>
                <a:solidFill>
                  <a:schemeClr val="tx1"/>
                </a:solidFill>
                <a:latin typeface="Arial" charset="0"/>
              </a:defRPr>
            </a:lvl8pPr>
            <a:lvl9pPr marL="3902003" indent="-229530" eaLnBrk="0" fontAlgn="base" hangingPunct="0">
              <a:spcBef>
                <a:spcPct val="0"/>
              </a:spcBef>
              <a:spcAft>
                <a:spcPct val="0"/>
              </a:spcAft>
              <a:defRPr>
                <a:solidFill>
                  <a:schemeClr val="tx1"/>
                </a:solidFill>
                <a:latin typeface="Arial" charset="0"/>
              </a:defRPr>
            </a:lvl9pPr>
          </a:lstStyle>
          <a:p>
            <a:pPr eaLnBrk="1" hangingPunct="1"/>
            <a:r>
              <a:rPr lang="en-US"/>
              <a:t>2.</a:t>
            </a:r>
            <a:fld id="{1A63FE00-FE8C-4EBE-82C3-B32A684FB6BA}" type="slidenum">
              <a:rPr lang="en-US"/>
              <a:pPr eaLnBrk="1" hangingPunct="1"/>
              <a:t>41</a:t>
            </a:fld>
            <a:endParaRPr lang="en-US"/>
          </a:p>
        </p:txBody>
      </p:sp>
      <p:sp>
        <p:nvSpPr>
          <p:cNvPr id="73731" name="Rectangle 2"/>
          <p:cNvSpPr>
            <a:spLocks noGrp="1" noRot="1" noChangeAspect="1" noChangeArrowheads="1" noTextEdit="1"/>
          </p:cNvSpPr>
          <p:nvPr>
            <p:ph type="sldImg"/>
          </p:nvPr>
        </p:nvSpPr>
        <p:spPr>
          <a:xfrm>
            <a:off x="1192213" y="704850"/>
            <a:ext cx="4638675" cy="3478213"/>
          </a:xfrm>
          <a:ln/>
        </p:spPr>
      </p:sp>
      <p:sp>
        <p:nvSpPr>
          <p:cNvPr id="7373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en-US"/>
              <a:t>This firm could grow assets at 6.71% without raising additional external capital.</a:t>
            </a:r>
          </a:p>
          <a:p>
            <a:pPr eaLnBrk="1" hangingPunct="1"/>
            <a:endParaRPr lang="en-US"/>
          </a:p>
          <a:p>
            <a:pPr eaLnBrk="1" hangingPunct="1"/>
            <a:r>
              <a:rPr lang="en-US"/>
              <a:t>Relying solely on internally generated funds will increase equity (retained earnings are part of equity) and assets without an increase in debt.  Consequently, the firm’s leverage will decrease over time.  If there is an optimal amount of leverage, as we will discuss in chapter 13, then the firm may want to borrow to maintain that optimal level of leverage.  This idea leads us to the sustainable growth rate.</a:t>
            </a:r>
          </a:p>
        </p:txBody>
      </p:sp>
    </p:spTree>
    <p:extLst>
      <p:ext uri="{BB962C8B-B14F-4D97-AF65-F5344CB8AC3E}">
        <p14:creationId xmlns:p14="http://schemas.microsoft.com/office/powerpoint/2010/main" val="3394447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4294967295"/>
          </p:nvPr>
        </p:nvSpPr>
        <p:spPr bwMode="auto">
          <a:xfrm>
            <a:off x="3978849" y="8842375"/>
            <a:ext cx="3042648"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59" tIns="47328" rIns="94659" bIns="47328"/>
          <a:lstStyle>
            <a:lvl1pPr eaLnBrk="0" hangingPunct="0">
              <a:defRPr>
                <a:solidFill>
                  <a:schemeClr val="tx1"/>
                </a:solidFill>
                <a:latin typeface="Arial" charset="0"/>
              </a:defRPr>
            </a:lvl1pPr>
            <a:lvl2pPr marL="745971" indent="-286912" eaLnBrk="0" hangingPunct="0">
              <a:defRPr>
                <a:solidFill>
                  <a:schemeClr val="tx1"/>
                </a:solidFill>
                <a:latin typeface="Arial" charset="0"/>
              </a:defRPr>
            </a:lvl2pPr>
            <a:lvl3pPr marL="1147647" indent="-229530" eaLnBrk="0" hangingPunct="0">
              <a:defRPr>
                <a:solidFill>
                  <a:schemeClr val="tx1"/>
                </a:solidFill>
                <a:latin typeface="Arial" charset="0"/>
              </a:defRPr>
            </a:lvl3pPr>
            <a:lvl4pPr marL="1606707" indent="-229530" eaLnBrk="0" hangingPunct="0">
              <a:defRPr>
                <a:solidFill>
                  <a:schemeClr val="tx1"/>
                </a:solidFill>
                <a:latin typeface="Arial" charset="0"/>
              </a:defRPr>
            </a:lvl4pPr>
            <a:lvl5pPr marL="2065766" indent="-229530" eaLnBrk="0" hangingPunct="0">
              <a:defRPr>
                <a:solidFill>
                  <a:schemeClr val="tx1"/>
                </a:solidFill>
                <a:latin typeface="Arial" charset="0"/>
              </a:defRPr>
            </a:lvl5pPr>
            <a:lvl6pPr marL="2524825" indent="-229530" eaLnBrk="0" fontAlgn="base" hangingPunct="0">
              <a:spcBef>
                <a:spcPct val="0"/>
              </a:spcBef>
              <a:spcAft>
                <a:spcPct val="0"/>
              </a:spcAft>
              <a:defRPr>
                <a:solidFill>
                  <a:schemeClr val="tx1"/>
                </a:solidFill>
                <a:latin typeface="Arial" charset="0"/>
              </a:defRPr>
            </a:lvl6pPr>
            <a:lvl7pPr marL="2983884" indent="-229530" eaLnBrk="0" fontAlgn="base" hangingPunct="0">
              <a:spcBef>
                <a:spcPct val="0"/>
              </a:spcBef>
              <a:spcAft>
                <a:spcPct val="0"/>
              </a:spcAft>
              <a:defRPr>
                <a:solidFill>
                  <a:schemeClr val="tx1"/>
                </a:solidFill>
                <a:latin typeface="Arial" charset="0"/>
              </a:defRPr>
            </a:lvl7pPr>
            <a:lvl8pPr marL="3442943" indent="-229530" eaLnBrk="0" fontAlgn="base" hangingPunct="0">
              <a:spcBef>
                <a:spcPct val="0"/>
              </a:spcBef>
              <a:spcAft>
                <a:spcPct val="0"/>
              </a:spcAft>
              <a:defRPr>
                <a:solidFill>
                  <a:schemeClr val="tx1"/>
                </a:solidFill>
                <a:latin typeface="Arial" charset="0"/>
              </a:defRPr>
            </a:lvl8pPr>
            <a:lvl9pPr marL="3902003" indent="-229530" eaLnBrk="0" fontAlgn="base" hangingPunct="0">
              <a:spcBef>
                <a:spcPct val="0"/>
              </a:spcBef>
              <a:spcAft>
                <a:spcPct val="0"/>
              </a:spcAft>
              <a:defRPr>
                <a:solidFill>
                  <a:schemeClr val="tx1"/>
                </a:solidFill>
                <a:latin typeface="Arial" charset="0"/>
              </a:defRPr>
            </a:lvl9pPr>
          </a:lstStyle>
          <a:p>
            <a:pPr eaLnBrk="1" hangingPunct="1"/>
            <a:r>
              <a:rPr lang="en-US"/>
              <a:t>2.</a:t>
            </a:r>
            <a:fld id="{4A4D0702-DA1C-4AEC-8C44-7A4DDA93F55A}" type="slidenum">
              <a:rPr lang="en-US"/>
              <a:pPr eaLnBrk="1" hangingPunct="1"/>
              <a:t>42</a:t>
            </a:fld>
            <a:endParaRPr lang="en-US"/>
          </a:p>
        </p:txBody>
      </p:sp>
      <p:sp>
        <p:nvSpPr>
          <p:cNvPr id="74755" name="Rectangle 2"/>
          <p:cNvSpPr>
            <a:spLocks noGrp="1" noRot="1" noChangeAspect="1" noChangeArrowheads="1" noTextEdit="1"/>
          </p:cNvSpPr>
          <p:nvPr>
            <p:ph type="sldImg"/>
          </p:nvPr>
        </p:nvSpPr>
        <p:spPr>
          <a:xfrm>
            <a:off x="1192213" y="704850"/>
            <a:ext cx="4638675" cy="3478213"/>
          </a:xfrm>
          <a:ln/>
        </p:spPr>
      </p:sp>
      <p:sp>
        <p:nvSpPr>
          <p:cNvPr id="7475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en-US"/>
              <a:t>Note that no new equity is issued.</a:t>
            </a:r>
          </a:p>
          <a:p>
            <a:pPr eaLnBrk="1" hangingPunct="1"/>
            <a:endParaRPr lang="en-US"/>
          </a:p>
          <a:p>
            <a:pPr eaLnBrk="1" hangingPunct="1"/>
            <a:r>
              <a:rPr lang="en-US"/>
              <a:t>The sustainable growth rate is substantially higher than the internal growth rate.  This is because we are allowing the company to issue debt as well as use internal funds.</a:t>
            </a:r>
          </a:p>
          <a:p>
            <a:pPr eaLnBrk="1" hangingPunct="1"/>
            <a:endParaRPr lang="en-US"/>
          </a:p>
        </p:txBody>
      </p:sp>
    </p:spTree>
    <p:extLst>
      <p:ext uri="{BB962C8B-B14F-4D97-AF65-F5344CB8AC3E}">
        <p14:creationId xmlns:p14="http://schemas.microsoft.com/office/powerpoint/2010/main" val="2317571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Rot="1" noChangeAspect="1" noChangeArrowheads="1" noTextEdit="1"/>
          </p:cNvSpPr>
          <p:nvPr>
            <p:ph type="sldImg"/>
          </p:nvPr>
        </p:nvSpPr>
        <p:spPr>
          <a:xfrm>
            <a:off x="1192213" y="703263"/>
            <a:ext cx="4640262" cy="3479800"/>
          </a:xfrm>
          <a:ln cap="flat"/>
        </p:spPr>
      </p:sp>
      <p:sp>
        <p:nvSpPr>
          <p:cNvPr id="56322" name="Rectangle 3"/>
          <p:cNvSpPr>
            <a:spLocks noGrp="1" noChangeArrowheads="1"/>
          </p:cNvSpPr>
          <p:nvPr>
            <p:ph type="body" idx="1"/>
          </p:nvPr>
        </p:nvSpPr>
        <p:spPr>
          <a:xfrm>
            <a:off x="936414" y="4423439"/>
            <a:ext cx="5150273" cy="418909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3798" tIns="47695" rIns="93798" bIns="47695"/>
          <a:lstStyle/>
          <a:p>
            <a:endParaRPr lang="en-US"/>
          </a:p>
        </p:txBody>
      </p:sp>
    </p:spTree>
    <p:extLst>
      <p:ext uri="{BB962C8B-B14F-4D97-AF65-F5344CB8AC3E}">
        <p14:creationId xmlns:p14="http://schemas.microsoft.com/office/powerpoint/2010/main" val="1809431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4294967295"/>
          </p:nvPr>
        </p:nvSpPr>
        <p:spPr bwMode="auto">
          <a:xfrm>
            <a:off x="3978849" y="8842375"/>
            <a:ext cx="3042648" cy="4651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59" tIns="47328" rIns="94659" bIns="47328"/>
          <a:lstStyle>
            <a:lvl1pPr eaLnBrk="0" hangingPunct="0">
              <a:defRPr>
                <a:solidFill>
                  <a:schemeClr val="tx1"/>
                </a:solidFill>
                <a:latin typeface="Arial" charset="0"/>
              </a:defRPr>
            </a:lvl1pPr>
            <a:lvl2pPr marL="745971" indent="-286912" eaLnBrk="0" hangingPunct="0">
              <a:defRPr>
                <a:solidFill>
                  <a:schemeClr val="tx1"/>
                </a:solidFill>
                <a:latin typeface="Arial" charset="0"/>
              </a:defRPr>
            </a:lvl2pPr>
            <a:lvl3pPr marL="1147647" indent="-229530" eaLnBrk="0" hangingPunct="0">
              <a:defRPr>
                <a:solidFill>
                  <a:schemeClr val="tx1"/>
                </a:solidFill>
                <a:latin typeface="Arial" charset="0"/>
              </a:defRPr>
            </a:lvl3pPr>
            <a:lvl4pPr marL="1606707" indent="-229530" eaLnBrk="0" hangingPunct="0">
              <a:defRPr>
                <a:solidFill>
                  <a:schemeClr val="tx1"/>
                </a:solidFill>
                <a:latin typeface="Arial" charset="0"/>
              </a:defRPr>
            </a:lvl4pPr>
            <a:lvl5pPr marL="2065766" indent="-229530" eaLnBrk="0" hangingPunct="0">
              <a:defRPr>
                <a:solidFill>
                  <a:schemeClr val="tx1"/>
                </a:solidFill>
                <a:latin typeface="Arial" charset="0"/>
              </a:defRPr>
            </a:lvl5pPr>
            <a:lvl6pPr marL="2524825" indent="-229530" eaLnBrk="0" fontAlgn="base" hangingPunct="0">
              <a:spcBef>
                <a:spcPct val="0"/>
              </a:spcBef>
              <a:spcAft>
                <a:spcPct val="0"/>
              </a:spcAft>
              <a:defRPr>
                <a:solidFill>
                  <a:schemeClr val="tx1"/>
                </a:solidFill>
                <a:latin typeface="Arial" charset="0"/>
              </a:defRPr>
            </a:lvl6pPr>
            <a:lvl7pPr marL="2983884" indent="-229530" eaLnBrk="0" fontAlgn="base" hangingPunct="0">
              <a:spcBef>
                <a:spcPct val="0"/>
              </a:spcBef>
              <a:spcAft>
                <a:spcPct val="0"/>
              </a:spcAft>
              <a:defRPr>
                <a:solidFill>
                  <a:schemeClr val="tx1"/>
                </a:solidFill>
                <a:latin typeface="Arial" charset="0"/>
              </a:defRPr>
            </a:lvl7pPr>
            <a:lvl8pPr marL="3442943" indent="-229530" eaLnBrk="0" fontAlgn="base" hangingPunct="0">
              <a:spcBef>
                <a:spcPct val="0"/>
              </a:spcBef>
              <a:spcAft>
                <a:spcPct val="0"/>
              </a:spcAft>
              <a:defRPr>
                <a:solidFill>
                  <a:schemeClr val="tx1"/>
                </a:solidFill>
                <a:latin typeface="Arial" charset="0"/>
              </a:defRPr>
            </a:lvl8pPr>
            <a:lvl9pPr marL="3902003" indent="-229530" eaLnBrk="0" fontAlgn="base" hangingPunct="0">
              <a:spcBef>
                <a:spcPct val="0"/>
              </a:spcBef>
              <a:spcAft>
                <a:spcPct val="0"/>
              </a:spcAft>
              <a:defRPr>
                <a:solidFill>
                  <a:schemeClr val="tx1"/>
                </a:solidFill>
                <a:latin typeface="Arial" charset="0"/>
              </a:defRPr>
            </a:lvl9pPr>
          </a:lstStyle>
          <a:p>
            <a:pPr eaLnBrk="1" hangingPunct="1"/>
            <a:r>
              <a:rPr lang="en-US"/>
              <a:t>2.</a:t>
            </a:r>
            <a:fld id="{E418C0C4-9161-4F3D-ABDC-878DCD05B175}" type="slidenum">
              <a:rPr lang="en-US"/>
              <a:pPr eaLnBrk="1" hangingPunct="1"/>
              <a:t>50</a:t>
            </a:fld>
            <a:endParaRPr lang="en-US"/>
          </a:p>
        </p:txBody>
      </p:sp>
      <p:sp>
        <p:nvSpPr>
          <p:cNvPr id="76803" name="Rectangle 2"/>
          <p:cNvSpPr>
            <a:spLocks noGrp="1" noRot="1" noChangeAspect="1" noChangeArrowheads="1" noTextEdit="1"/>
          </p:cNvSpPr>
          <p:nvPr>
            <p:ph type="sldImg"/>
          </p:nvPr>
        </p:nvSpPr>
        <p:spPr>
          <a:xfrm>
            <a:off x="1192213" y="704850"/>
            <a:ext cx="4638675" cy="3478213"/>
          </a:xfrm>
          <a:ln/>
        </p:spPr>
      </p:sp>
      <p:sp>
        <p:nvSpPr>
          <p:cNvPr id="768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pPr eaLnBrk="1" hangingPunct="1"/>
            <a:r>
              <a:rPr lang="en-US"/>
              <a:t>Be sure and point out that the numbers in the tables are presented in thousands, so the BV of equity has to have the extra three zeros in order for the market-to-book ratio to work.</a:t>
            </a:r>
          </a:p>
        </p:txBody>
      </p:sp>
    </p:spTree>
    <p:extLst>
      <p:ext uri="{BB962C8B-B14F-4D97-AF65-F5344CB8AC3E}">
        <p14:creationId xmlns:p14="http://schemas.microsoft.com/office/powerpoint/2010/main" val="2167789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2.xml"/><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4.xml"/><Relationship Id="rId1" Type="http://schemas.openxmlformats.org/officeDocument/2006/relationships/tags" Target="../tags/tag3.xml"/><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4.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5.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8.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14E9-4CF8-07FB-9587-8A8FC5412605}"/>
              </a:ext>
            </a:extLst>
          </p:cNvPr>
          <p:cNvSpPr>
            <a:spLocks noGrp="1"/>
          </p:cNvSpPr>
          <p:nvPr>
            <p:ph type="ctrTitle"/>
          </p:nvPr>
        </p:nvSpPr>
        <p:spPr>
          <a:xfrm>
            <a:off x="0" y="2431335"/>
            <a:ext cx="9144000" cy="1078628"/>
          </a:xfrm>
          <a:solidFill>
            <a:schemeClr val="tx1">
              <a:lumMod val="85000"/>
              <a:lumOff val="15000"/>
            </a:schemeClr>
          </a:solidFill>
        </p:spPr>
        <p:txBody>
          <a:bodyPr anchor="ctr"/>
          <a:lstStyle>
            <a:lvl1pPr algn="ctr">
              <a:defRPr sz="4500" b="1">
                <a:solidFill>
                  <a:schemeClr val="bg1"/>
                </a:solidFill>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560F6E03-983C-D44F-DA9D-1354DADB8AAB}"/>
              </a:ext>
            </a:extLst>
          </p:cNvPr>
          <p:cNvSpPr>
            <a:spLocks noGrp="1"/>
          </p:cNvSpPr>
          <p:nvPr>
            <p:ph type="subTitle" idx="1"/>
          </p:nvPr>
        </p:nvSpPr>
        <p:spPr>
          <a:xfrm>
            <a:off x="0" y="3602038"/>
            <a:ext cx="9144000" cy="436562"/>
          </a:xfrm>
          <a:solidFill>
            <a:srgbClr val="DCCCA3"/>
          </a:solidFill>
          <a:ln>
            <a:noFill/>
          </a:ln>
        </p:spPr>
        <p:txBody>
          <a:bodyPr anchor="ctr">
            <a:normAutofit/>
          </a:bodyPr>
          <a:lstStyle>
            <a:lvl1pPr marL="0" indent="0" algn="ctr">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3ECA6BF2-B943-A54D-B9A8-CF71ACA0BD83}"/>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74D8B4A3-64D2-13EB-DE0B-BC80A02CCE43}"/>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980469EF-71B6-E831-47CC-0D7140430584}"/>
              </a:ext>
            </a:extLst>
          </p:cNvPr>
          <p:cNvSpPr>
            <a:spLocks noGrp="1"/>
          </p:cNvSpPr>
          <p:nvPr>
            <p:ph type="sldNum" sz="quarter" idx="12"/>
          </p:nvPr>
        </p:nvSpPr>
        <p:spPr/>
        <p:txBody>
          <a:bodyPr/>
          <a:lstStyle/>
          <a:p>
            <a:pPr>
              <a:defRPr/>
            </a:pPr>
            <a:fld id="{A5B4D19F-489A-4E5E-A28E-C8AF833E0C3C}" type="slidenum">
              <a:rPr lang="en-US" smtClean="0"/>
              <a:pPr>
                <a:defRPr/>
              </a:pPr>
              <a:t>‹#›</a:t>
            </a:fld>
            <a:endParaRPr lang="en-US" dirty="0"/>
          </a:p>
        </p:txBody>
      </p:sp>
      <p:pic>
        <p:nvPicPr>
          <p:cNvPr id="7" name="Picture 6">
            <a:extLst>
              <a:ext uri="{FF2B5EF4-FFF2-40B4-BE49-F238E27FC236}">
                <a16:creationId xmlns:a16="http://schemas.microsoft.com/office/drawing/2014/main" id="{F3999885-8DB5-73C1-4C0B-00DC205D9C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8" name="Picture 7">
            <a:extLst>
              <a:ext uri="{FF2B5EF4-FFF2-40B4-BE49-F238E27FC236}">
                <a16:creationId xmlns:a16="http://schemas.microsoft.com/office/drawing/2014/main" id="{45766898-15F1-35E0-5CB0-1BC6BB5972D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339880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A0EE-229A-6333-06FD-DD9530C98B90}"/>
              </a:ext>
            </a:extLst>
          </p:cNvPr>
          <p:cNvSpPr>
            <a:spLocks noGrp="1"/>
          </p:cNvSpPr>
          <p:nvPr>
            <p:ph type="title"/>
          </p:nvPr>
        </p:nvSpPr>
        <p:spPr>
          <a:xfrm>
            <a:off x="628650" y="365127"/>
            <a:ext cx="7886700" cy="1032090"/>
          </a:xfrm>
        </p:spPr>
        <p:txBody>
          <a:bodyPr>
            <a:normAutofit/>
          </a:bodyPr>
          <a:lstStyle>
            <a:lvl1pPr>
              <a:defRPr sz="3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92367E3-A85C-9D7A-BC7C-7BC6C9421B62}"/>
              </a:ext>
            </a:extLst>
          </p:cNvPr>
          <p:cNvSpPr>
            <a:spLocks noGrp="1"/>
          </p:cNvSpPr>
          <p:nvPr>
            <p:ph idx="1"/>
          </p:nvPr>
        </p:nvSpPr>
        <p:spPr/>
        <p:txBody>
          <a:bodyPr/>
          <a:lstStyle>
            <a:lvl1pPr>
              <a:lnSpc>
                <a:spcPct val="114000"/>
              </a:lnSpc>
              <a:defRPr/>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C7FB8-4C99-DB2A-2E94-1AF399EAC037}"/>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C5A6EB23-DCAF-18E5-B86B-7C57E842FE05}"/>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006DA49B-BAEF-4CF4-E95B-F92FCE0367AE}"/>
              </a:ext>
            </a:extLst>
          </p:cNvPr>
          <p:cNvSpPr>
            <a:spLocks noGrp="1"/>
          </p:cNvSpPr>
          <p:nvPr>
            <p:ph type="sldNum" sz="quarter" idx="12"/>
          </p:nvPr>
        </p:nvSpPr>
        <p:spPr/>
        <p:txBody>
          <a:bodyPr/>
          <a:lstStyle/>
          <a:p>
            <a:pPr>
              <a:defRPr/>
            </a:pPr>
            <a:fld id="{4E499BF4-6C8D-417D-B206-0AF20A1CAAC7}" type="slidenum">
              <a:rPr lang="en-US" smtClean="0"/>
              <a:pPr>
                <a:defRPr/>
              </a:pPr>
              <a:t>‹#›</a:t>
            </a:fld>
            <a:endParaRPr lang="en-US" dirty="0"/>
          </a:p>
        </p:txBody>
      </p:sp>
      <p:cxnSp>
        <p:nvCxnSpPr>
          <p:cNvPr id="7" name="Straight Connector 6">
            <a:extLst>
              <a:ext uri="{FF2B5EF4-FFF2-40B4-BE49-F238E27FC236}">
                <a16:creationId xmlns:a16="http://schemas.microsoft.com/office/drawing/2014/main" id="{97F03BE6-C66C-A63D-AFD3-085571F6AB96}"/>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DBFC926-6392-BC3C-9958-2E95361AEF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9" name="Picture 8">
            <a:extLst>
              <a:ext uri="{FF2B5EF4-FFF2-40B4-BE49-F238E27FC236}">
                <a16:creationId xmlns:a16="http://schemas.microsoft.com/office/drawing/2014/main" id="{68835B65-3D1B-CF3F-DDBC-1870EEEFDEF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63793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A0EE-229A-6333-06FD-DD9530C98B90}"/>
              </a:ext>
            </a:extLst>
          </p:cNvPr>
          <p:cNvSpPr>
            <a:spLocks noGrp="1"/>
          </p:cNvSpPr>
          <p:nvPr>
            <p:ph type="title"/>
          </p:nvPr>
        </p:nvSpPr>
        <p:spPr>
          <a:xfrm>
            <a:off x="628650" y="365127"/>
            <a:ext cx="7886700" cy="1032090"/>
          </a:xfrm>
        </p:spPr>
        <p:txBody>
          <a:bodyPr>
            <a:normAutofit/>
          </a:bodyPr>
          <a:lstStyle>
            <a:lvl1pPr>
              <a:defRPr sz="3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92367E3-A85C-9D7A-BC7C-7BC6C9421B62}"/>
              </a:ext>
            </a:extLst>
          </p:cNvPr>
          <p:cNvSpPr>
            <a:spLocks noGrp="1"/>
          </p:cNvSpPr>
          <p:nvPr>
            <p:ph idx="1"/>
          </p:nvPr>
        </p:nvSpPr>
        <p:spPr/>
        <p:txBody>
          <a:bodyPr/>
          <a:lstStyle>
            <a:lvl1pPr>
              <a:lnSpc>
                <a:spcPct val="114000"/>
              </a:lnSpc>
              <a:defRPr baseline="30000"/>
            </a:lvl1pPr>
            <a:lvl2pPr>
              <a:lnSpc>
                <a:spcPct val="114000"/>
              </a:lnSpc>
              <a:defRPr/>
            </a:lvl2pPr>
            <a:lvl3pPr>
              <a:lnSpc>
                <a:spcPct val="114000"/>
              </a:lnSpc>
              <a:defRPr/>
            </a:lvl3pPr>
            <a:lvl4pPr>
              <a:lnSpc>
                <a:spcPct val="114000"/>
              </a:lnSpc>
              <a:defRPr/>
            </a:lvl4pPr>
            <a:lvl5pPr>
              <a:lnSpc>
                <a:spcPct val="114000"/>
              </a:lnSpc>
              <a:defRPr/>
            </a:lvl5pPr>
          </a:lstStyle>
          <a:p>
            <a:pPr lvl="0"/>
            <a:r>
              <a:rPr lang="en-US" dirty="0"/>
              <a:t>Click to edit Master text styles</a:t>
            </a:r>
          </a:p>
          <a:p>
            <a:pPr lvl="0"/>
            <a:r>
              <a:rPr lang="en-US" dirty="0"/>
              <a:t>Second main</a:t>
            </a:r>
          </a:p>
          <a:p>
            <a:pPr lvl="0"/>
            <a:r>
              <a:rPr lang="en-US" dirty="0"/>
              <a:t>3rd main</a:t>
            </a:r>
          </a:p>
          <a:p>
            <a:pPr lvl="0"/>
            <a:r>
              <a:rPr lang="en-US" dirty="0"/>
              <a:t>4th main</a:t>
            </a:r>
          </a:p>
          <a:p>
            <a:pPr lvl="0"/>
            <a:r>
              <a:rPr lang="en-US" dirty="0"/>
              <a:t>5th main</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94C7FB8-4C99-DB2A-2E94-1AF399EAC037}"/>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C5A6EB23-DCAF-18E5-B86B-7C57E842FE05}"/>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006DA49B-BAEF-4CF4-E95B-F92FCE0367AE}"/>
              </a:ext>
            </a:extLst>
          </p:cNvPr>
          <p:cNvSpPr>
            <a:spLocks noGrp="1"/>
          </p:cNvSpPr>
          <p:nvPr>
            <p:ph type="sldNum" sz="quarter" idx="12"/>
          </p:nvPr>
        </p:nvSpPr>
        <p:spPr/>
        <p:txBody>
          <a:bodyPr/>
          <a:lstStyle/>
          <a:p>
            <a:pPr>
              <a:defRPr/>
            </a:pPr>
            <a:fld id="{4E499BF4-6C8D-417D-B206-0AF20A1CAAC7}" type="slidenum">
              <a:rPr lang="en-US" smtClean="0"/>
              <a:pPr>
                <a:defRPr/>
              </a:pPr>
              <a:t>‹#›</a:t>
            </a:fld>
            <a:endParaRPr lang="en-US" dirty="0"/>
          </a:p>
        </p:txBody>
      </p:sp>
      <p:cxnSp>
        <p:nvCxnSpPr>
          <p:cNvPr id="7" name="Straight Connector 6">
            <a:extLst>
              <a:ext uri="{FF2B5EF4-FFF2-40B4-BE49-F238E27FC236}">
                <a16:creationId xmlns:a16="http://schemas.microsoft.com/office/drawing/2014/main" id="{97F03BE6-C66C-A63D-AFD3-085571F6AB96}"/>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DBFC926-6392-BC3C-9958-2E95361AEF8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9" name="Picture 8">
            <a:extLst>
              <a:ext uri="{FF2B5EF4-FFF2-40B4-BE49-F238E27FC236}">
                <a16:creationId xmlns:a16="http://schemas.microsoft.com/office/drawing/2014/main" id="{68835B65-3D1B-CF3F-DDBC-1870EEEFDEF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2062382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32E43-0FE9-4625-BD40-E53E3012B8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2F8E02-5962-06EA-8945-EB2493AC28F1}"/>
              </a:ext>
            </a:extLst>
          </p:cNvPr>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EF28AB3E-26AA-65CA-84DC-09336A6935C6}"/>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6BDD1B2A-9FE9-4E42-CCFC-24DE5DA6D213}"/>
              </a:ext>
            </a:extLst>
          </p:cNvPr>
          <p:cNvSpPr>
            <a:spLocks noGrp="1"/>
          </p:cNvSpPr>
          <p:nvPr>
            <p:ph type="sldNum" sz="quarter" idx="12"/>
          </p:nvPr>
        </p:nvSpPr>
        <p:spPr/>
        <p:txBody>
          <a:bodyPr/>
          <a:lstStyle/>
          <a:p>
            <a:pPr>
              <a:defRPr/>
            </a:pPr>
            <a:fld id="{79B0167D-6490-4BBB-BA2A-81BDB0B85D3F}" type="slidenum">
              <a:rPr lang="en-US" smtClean="0"/>
              <a:pPr>
                <a:defRPr/>
              </a:pPr>
              <a:t>‹#›</a:t>
            </a:fld>
            <a:endParaRPr lang="en-US" dirty="0"/>
          </a:p>
        </p:txBody>
      </p:sp>
    </p:spTree>
    <p:extLst>
      <p:ext uri="{BB962C8B-B14F-4D97-AF65-F5344CB8AC3E}">
        <p14:creationId xmlns:p14="http://schemas.microsoft.com/office/powerpoint/2010/main" val="3835062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0187-8909-A5A4-E1CD-CC6612B153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6CDAFC-F5BF-D3AC-E3D4-885126ACC22A}"/>
              </a:ext>
            </a:extLst>
          </p:cNvPr>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A2AF6172-7A8F-E1E4-B4A8-2D1FB5CE3157}"/>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DA8859BE-C121-1FF6-8B97-F703A5A640C0}"/>
              </a:ext>
            </a:extLst>
          </p:cNvPr>
          <p:cNvSpPr>
            <a:spLocks noGrp="1"/>
          </p:cNvSpPr>
          <p:nvPr>
            <p:ph type="sldNum" sz="quarter" idx="12"/>
          </p:nvPr>
        </p:nvSpPr>
        <p:spPr/>
        <p:txBody>
          <a:bodyPr/>
          <a:lstStyle/>
          <a:p>
            <a:pPr>
              <a:defRPr/>
            </a:pPr>
            <a:fld id="{79B0167D-6490-4BBB-BA2A-81BDB0B85D3F}" type="slidenum">
              <a:rPr lang="en-US" smtClean="0"/>
              <a:pPr>
                <a:defRPr/>
              </a:pPr>
              <a:t>‹#›</a:t>
            </a:fld>
            <a:endParaRPr lang="en-US" dirty="0"/>
          </a:p>
        </p:txBody>
      </p:sp>
    </p:spTree>
    <p:extLst>
      <p:ext uri="{BB962C8B-B14F-4D97-AF65-F5344CB8AC3E}">
        <p14:creationId xmlns:p14="http://schemas.microsoft.com/office/powerpoint/2010/main" val="21562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B3E85-51D8-AE74-539A-FA2331AE586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9D47BA40-A8B4-3390-F8D7-B3CC2E950FC8}"/>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4C3E0A-65D1-AA13-F404-FD6AD1753AD6}"/>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7EC4D3F9-FE86-E7C6-4D32-4A2F870DF75F}"/>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D85145DE-0E4A-5D4B-42DD-7F9E1DCDF763}"/>
              </a:ext>
            </a:extLst>
          </p:cNvPr>
          <p:cNvSpPr>
            <a:spLocks noGrp="1"/>
          </p:cNvSpPr>
          <p:nvPr>
            <p:ph type="sldNum" sz="quarter" idx="12"/>
          </p:nvPr>
        </p:nvSpPr>
        <p:spPr/>
        <p:txBody>
          <a:bodyPr/>
          <a:lstStyle/>
          <a:p>
            <a:pPr>
              <a:defRPr/>
            </a:pPr>
            <a:fld id="{D380A472-0AF4-42C7-A200-0A6A2E2BD3D4}" type="slidenum">
              <a:rPr lang="en-US" smtClean="0"/>
              <a:pPr>
                <a:defRPr/>
              </a:pPr>
              <a:t>‹#›</a:t>
            </a:fld>
            <a:endParaRPr lang="en-US" dirty="0"/>
          </a:p>
        </p:txBody>
      </p:sp>
    </p:spTree>
    <p:extLst>
      <p:ext uri="{BB962C8B-B14F-4D97-AF65-F5344CB8AC3E}">
        <p14:creationId xmlns:p14="http://schemas.microsoft.com/office/powerpoint/2010/main" val="147498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9A4B8-8EB9-ADA8-B992-4DE07200E783}"/>
              </a:ext>
            </a:extLst>
          </p:cNvPr>
          <p:cNvSpPr>
            <a:spLocks noGrp="1"/>
          </p:cNvSpPr>
          <p:nvPr>
            <p:ph type="title"/>
          </p:nvPr>
        </p:nvSpPr>
        <p:spPr>
          <a:xfrm>
            <a:off x="628650" y="365127"/>
            <a:ext cx="7886700" cy="1032090"/>
          </a:xfrm>
        </p:spPr>
        <p:txBody>
          <a:bodyPr/>
          <a:lstStyle>
            <a:lvl1pPr>
              <a:defRPr b="1"/>
            </a:lvl1pPr>
          </a:lstStyle>
          <a:p>
            <a:r>
              <a:rPr lang="en-US"/>
              <a:t>Click to edit Master title style</a:t>
            </a:r>
          </a:p>
        </p:txBody>
      </p:sp>
      <p:sp>
        <p:nvSpPr>
          <p:cNvPr id="3" name="Content Placeholder 2">
            <a:extLst>
              <a:ext uri="{FF2B5EF4-FFF2-40B4-BE49-F238E27FC236}">
                <a16:creationId xmlns:a16="http://schemas.microsoft.com/office/drawing/2014/main" id="{16987E3C-A3CD-17E8-7754-25845549A4C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9330FB-37F6-5873-AC3B-AE844B79099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19E815-91F2-7FDF-4F5A-19B68DB7B7AD}"/>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65AE1DE1-4D56-5B12-0049-ACF8B28B5103}"/>
              </a:ext>
            </a:extLst>
          </p:cNvPr>
          <p:cNvSpPr>
            <a:spLocks noGrp="1"/>
          </p:cNvSpPr>
          <p:nvPr>
            <p:ph type="ftr" sz="quarter" idx="11"/>
          </p:nvPr>
        </p:nvSpPr>
        <p:spPr/>
        <p:txBody>
          <a:bodyPr/>
          <a:lstStyle/>
          <a:p>
            <a:pPr>
              <a:defRPr/>
            </a:pPr>
            <a:endParaRPr lang="en-US" dirty="0"/>
          </a:p>
        </p:txBody>
      </p:sp>
      <p:sp>
        <p:nvSpPr>
          <p:cNvPr id="7" name="Slide Number Placeholder 6">
            <a:extLst>
              <a:ext uri="{FF2B5EF4-FFF2-40B4-BE49-F238E27FC236}">
                <a16:creationId xmlns:a16="http://schemas.microsoft.com/office/drawing/2014/main" id="{494AB26D-42A5-E718-7319-F0BEBED4B787}"/>
              </a:ext>
            </a:extLst>
          </p:cNvPr>
          <p:cNvSpPr>
            <a:spLocks noGrp="1"/>
          </p:cNvSpPr>
          <p:nvPr>
            <p:ph type="sldNum" sz="quarter" idx="12"/>
          </p:nvPr>
        </p:nvSpPr>
        <p:spPr/>
        <p:txBody>
          <a:bodyPr/>
          <a:lstStyle/>
          <a:p>
            <a:pPr>
              <a:defRPr/>
            </a:pPr>
            <a:fld id="{04E42859-4ED0-468F-B18C-A6B9CED75A4F}" type="slidenum">
              <a:rPr lang="en-US" smtClean="0"/>
              <a:pPr>
                <a:defRPr/>
              </a:pPr>
              <a:t>‹#›</a:t>
            </a:fld>
            <a:endParaRPr lang="en-US" dirty="0"/>
          </a:p>
        </p:txBody>
      </p:sp>
      <p:cxnSp>
        <p:nvCxnSpPr>
          <p:cNvPr id="8" name="Straight Connector 7">
            <a:extLst>
              <a:ext uri="{FF2B5EF4-FFF2-40B4-BE49-F238E27FC236}">
                <a16:creationId xmlns:a16="http://schemas.microsoft.com/office/drawing/2014/main" id="{CE996539-A9D9-998A-6B11-3374F65F2B00}"/>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2571B1B-E129-07C2-727C-293C455814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00B83F84-A694-AA66-FEF8-DCCEB0D205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76702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19E86-7648-BB49-1733-92B5F9F59382}"/>
              </a:ext>
            </a:extLst>
          </p:cNvPr>
          <p:cNvSpPr>
            <a:spLocks noGrp="1"/>
          </p:cNvSpPr>
          <p:nvPr>
            <p:ph type="title"/>
          </p:nvPr>
        </p:nvSpPr>
        <p:spPr>
          <a:xfrm>
            <a:off x="629841" y="365127"/>
            <a:ext cx="7886700" cy="1032090"/>
          </a:xfrm>
        </p:spPr>
        <p:txBody>
          <a:bodyPr/>
          <a:lstStyle>
            <a:lvl1pPr>
              <a:defRPr b="1"/>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D76EB00-6ABE-7A6D-4CA0-EAD4EFCFB59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4C70D9E-CA37-C8C7-DC2B-731032F14E2B}"/>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23050D-DE6B-E0A8-F0B8-0AE790475D9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EFE72F3-A6A2-AB09-729B-69278FFB8F8A}"/>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80C7EF-7255-7C61-2C82-0145E38EC731}"/>
              </a:ext>
            </a:extLst>
          </p:cNvPr>
          <p:cNvSpPr>
            <a:spLocks noGrp="1"/>
          </p:cNvSpPr>
          <p:nvPr>
            <p:ph type="dt" sz="half" idx="10"/>
          </p:nvPr>
        </p:nvSpPr>
        <p:spPr/>
        <p:txBody>
          <a:bodyPr/>
          <a:lstStyle/>
          <a:p>
            <a:pPr>
              <a:defRPr/>
            </a:pPr>
            <a:endParaRPr lang="en-US" dirty="0"/>
          </a:p>
        </p:txBody>
      </p:sp>
      <p:sp>
        <p:nvSpPr>
          <p:cNvPr id="8" name="Footer Placeholder 7">
            <a:extLst>
              <a:ext uri="{FF2B5EF4-FFF2-40B4-BE49-F238E27FC236}">
                <a16:creationId xmlns:a16="http://schemas.microsoft.com/office/drawing/2014/main" id="{048CB185-80EF-03E9-CBFC-F8963D7E4BA1}"/>
              </a:ext>
            </a:extLst>
          </p:cNvPr>
          <p:cNvSpPr>
            <a:spLocks noGrp="1"/>
          </p:cNvSpPr>
          <p:nvPr>
            <p:ph type="ftr" sz="quarter" idx="11"/>
          </p:nvPr>
        </p:nvSpPr>
        <p:spPr/>
        <p:txBody>
          <a:bodyPr/>
          <a:lstStyle/>
          <a:p>
            <a:pPr>
              <a:defRPr/>
            </a:pPr>
            <a:endParaRPr lang="en-US" dirty="0"/>
          </a:p>
        </p:txBody>
      </p:sp>
      <p:sp>
        <p:nvSpPr>
          <p:cNvPr id="9" name="Slide Number Placeholder 8">
            <a:extLst>
              <a:ext uri="{FF2B5EF4-FFF2-40B4-BE49-F238E27FC236}">
                <a16:creationId xmlns:a16="http://schemas.microsoft.com/office/drawing/2014/main" id="{315512AA-D14C-B443-8EE2-0CFC1CCE80A5}"/>
              </a:ext>
            </a:extLst>
          </p:cNvPr>
          <p:cNvSpPr>
            <a:spLocks noGrp="1"/>
          </p:cNvSpPr>
          <p:nvPr>
            <p:ph type="sldNum" sz="quarter" idx="12"/>
          </p:nvPr>
        </p:nvSpPr>
        <p:spPr/>
        <p:txBody>
          <a:bodyPr/>
          <a:lstStyle/>
          <a:p>
            <a:pPr>
              <a:defRPr/>
            </a:pPr>
            <a:fld id="{E3682E86-14DC-4CD1-BEF2-22E95F737AC1}" type="slidenum">
              <a:rPr lang="en-US" smtClean="0"/>
              <a:pPr>
                <a:defRPr/>
              </a:pPr>
              <a:t>‹#›</a:t>
            </a:fld>
            <a:endParaRPr lang="en-US" dirty="0"/>
          </a:p>
        </p:txBody>
      </p:sp>
      <p:cxnSp>
        <p:nvCxnSpPr>
          <p:cNvPr id="10" name="Straight Connector 9">
            <a:extLst>
              <a:ext uri="{FF2B5EF4-FFF2-40B4-BE49-F238E27FC236}">
                <a16:creationId xmlns:a16="http://schemas.microsoft.com/office/drawing/2014/main" id="{7D12A899-0B6B-EBC2-D17E-8D64DB468093}"/>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2063627-6A15-220A-FB7F-17C240F5E88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2" name="Picture 11">
            <a:extLst>
              <a:ext uri="{FF2B5EF4-FFF2-40B4-BE49-F238E27FC236}">
                <a16:creationId xmlns:a16="http://schemas.microsoft.com/office/drawing/2014/main" id="{D82EE7F4-F3CE-1634-AAFD-DD10F58F341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683516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CA751-5504-0470-1970-6C57BFCFA74F}"/>
              </a:ext>
            </a:extLst>
          </p:cNvPr>
          <p:cNvSpPr>
            <a:spLocks noGrp="1"/>
          </p:cNvSpPr>
          <p:nvPr>
            <p:ph type="title"/>
          </p:nvPr>
        </p:nvSpPr>
        <p:spPr>
          <a:xfrm>
            <a:off x="628650" y="365127"/>
            <a:ext cx="7886700" cy="1032090"/>
          </a:xfrm>
        </p:spPr>
        <p:txBody>
          <a:bodyPr/>
          <a:lstStyle>
            <a:lvl1pPr>
              <a:defRPr b="1"/>
            </a:lvl1pPr>
          </a:lstStyle>
          <a:p>
            <a:r>
              <a:rPr lang="en-US"/>
              <a:t>Click to edit Master title style</a:t>
            </a:r>
          </a:p>
        </p:txBody>
      </p:sp>
      <p:sp>
        <p:nvSpPr>
          <p:cNvPr id="3" name="Date Placeholder 2">
            <a:extLst>
              <a:ext uri="{FF2B5EF4-FFF2-40B4-BE49-F238E27FC236}">
                <a16:creationId xmlns:a16="http://schemas.microsoft.com/office/drawing/2014/main" id="{C6160FB8-C4A4-11B8-B383-C8C158383A12}"/>
              </a:ext>
            </a:extLst>
          </p:cNvPr>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B5C0EE03-C8A0-558C-2769-881F665E9403}"/>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216A45A1-9999-C0F7-FBAB-F2DC906BD6C2}"/>
              </a:ext>
            </a:extLst>
          </p:cNvPr>
          <p:cNvSpPr>
            <a:spLocks noGrp="1"/>
          </p:cNvSpPr>
          <p:nvPr>
            <p:ph type="sldNum" sz="quarter" idx="12"/>
          </p:nvPr>
        </p:nvSpPr>
        <p:spPr/>
        <p:txBody>
          <a:bodyPr/>
          <a:lstStyle/>
          <a:p>
            <a:pPr>
              <a:defRPr/>
            </a:pPr>
            <a:fld id="{5E9C1AAF-33A1-44EA-A195-86E2A66B03D7}" type="slidenum">
              <a:rPr lang="en-US" smtClean="0"/>
              <a:pPr>
                <a:defRPr/>
              </a:pPr>
              <a:t>‹#›</a:t>
            </a:fld>
            <a:endParaRPr lang="en-US" dirty="0"/>
          </a:p>
        </p:txBody>
      </p:sp>
      <p:cxnSp>
        <p:nvCxnSpPr>
          <p:cNvPr id="6" name="Straight Connector 5">
            <a:extLst>
              <a:ext uri="{FF2B5EF4-FFF2-40B4-BE49-F238E27FC236}">
                <a16:creationId xmlns:a16="http://schemas.microsoft.com/office/drawing/2014/main" id="{C59D71D0-9CA4-B490-73EC-2604A4054774}"/>
              </a:ext>
            </a:extLst>
          </p:cNvPr>
          <p:cNvCxnSpPr>
            <a:cxnSpLocks/>
          </p:cNvCxnSpPr>
          <p:nvPr userDrawn="1"/>
        </p:nvCxnSpPr>
        <p:spPr>
          <a:xfrm>
            <a:off x="620024" y="1397216"/>
            <a:ext cx="7926350"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CD53B29-9219-878E-F04F-2EB2F2C2721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8" name="Picture 7">
            <a:extLst>
              <a:ext uri="{FF2B5EF4-FFF2-40B4-BE49-F238E27FC236}">
                <a16:creationId xmlns:a16="http://schemas.microsoft.com/office/drawing/2014/main" id="{B4CC1ED5-C7B5-DB15-758C-683F52F864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69529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E5BEDA-B42B-CBDC-EE22-5361B0C517B9}"/>
              </a:ext>
            </a:extLst>
          </p:cNvPr>
          <p:cNvSpPr>
            <a:spLocks noGrp="1"/>
          </p:cNvSpPr>
          <p:nvPr>
            <p:ph type="dt" sz="half" idx="10"/>
          </p:nvPr>
        </p:nvSpPr>
        <p:spPr/>
        <p:txBody>
          <a:bodyPr/>
          <a:lstStyle/>
          <a:p>
            <a:pPr>
              <a:defRPr/>
            </a:pPr>
            <a:endParaRPr lang="en-US" dirty="0"/>
          </a:p>
        </p:txBody>
      </p:sp>
      <p:sp>
        <p:nvSpPr>
          <p:cNvPr id="3" name="Footer Placeholder 2">
            <a:extLst>
              <a:ext uri="{FF2B5EF4-FFF2-40B4-BE49-F238E27FC236}">
                <a16:creationId xmlns:a16="http://schemas.microsoft.com/office/drawing/2014/main" id="{5F86E627-021F-327B-3506-1F6E6D44BB3E}"/>
              </a:ext>
            </a:extLst>
          </p:cNvPr>
          <p:cNvSpPr>
            <a:spLocks noGrp="1"/>
          </p:cNvSpPr>
          <p:nvPr>
            <p:ph type="ftr" sz="quarter" idx="11"/>
          </p:nvPr>
        </p:nvSpPr>
        <p:spPr/>
        <p:txBody>
          <a:bodyPr/>
          <a:lstStyle/>
          <a:p>
            <a:pPr>
              <a:defRPr/>
            </a:pPr>
            <a:endParaRPr lang="en-US" dirty="0"/>
          </a:p>
        </p:txBody>
      </p:sp>
      <p:sp>
        <p:nvSpPr>
          <p:cNvPr id="4" name="Slide Number Placeholder 3">
            <a:extLst>
              <a:ext uri="{FF2B5EF4-FFF2-40B4-BE49-F238E27FC236}">
                <a16:creationId xmlns:a16="http://schemas.microsoft.com/office/drawing/2014/main" id="{A79A4491-C6AE-6ABC-DB34-B3D228DE1126}"/>
              </a:ext>
            </a:extLst>
          </p:cNvPr>
          <p:cNvSpPr>
            <a:spLocks noGrp="1"/>
          </p:cNvSpPr>
          <p:nvPr>
            <p:ph type="sldNum" sz="quarter" idx="12"/>
          </p:nvPr>
        </p:nvSpPr>
        <p:spPr/>
        <p:txBody>
          <a:bodyPr/>
          <a:lstStyle/>
          <a:p>
            <a:pPr>
              <a:defRPr/>
            </a:pPr>
            <a:fld id="{1910AC00-8FA5-4069-A69B-F41540024657}" type="slidenum">
              <a:rPr lang="en-US" smtClean="0"/>
              <a:pPr>
                <a:defRPr/>
              </a:pPr>
              <a:t>‹#›</a:t>
            </a:fld>
            <a:endParaRPr lang="en-US" dirty="0"/>
          </a:p>
        </p:txBody>
      </p:sp>
      <p:pic>
        <p:nvPicPr>
          <p:cNvPr id="6" name="Picture 5">
            <a:extLst>
              <a:ext uri="{FF2B5EF4-FFF2-40B4-BE49-F238E27FC236}">
                <a16:creationId xmlns:a16="http://schemas.microsoft.com/office/drawing/2014/main" id="{88DE18CA-952C-2AF7-8B61-D26E46479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7" name="Picture 6">
            <a:extLst>
              <a:ext uri="{FF2B5EF4-FFF2-40B4-BE49-F238E27FC236}">
                <a16:creationId xmlns:a16="http://schemas.microsoft.com/office/drawing/2014/main" id="{C15A0004-4FC3-ADFC-3DF7-ADC43833C21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4146021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F6255-62A2-B440-5027-CBA5C6D98DA5}"/>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01F419D4-4F45-AAB6-ED8E-D5E20E487E6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7E7CFE-962D-1B5D-987D-2F179E5D2C2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67263E8-2C47-A0B5-D2CA-F293FE400A0A}"/>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C8D047C8-402A-1FE2-9A0C-D9BAF9FD6953}"/>
              </a:ext>
            </a:extLst>
          </p:cNvPr>
          <p:cNvSpPr>
            <a:spLocks noGrp="1"/>
          </p:cNvSpPr>
          <p:nvPr>
            <p:ph type="ftr" sz="quarter" idx="11"/>
          </p:nvPr>
        </p:nvSpPr>
        <p:spPr/>
        <p:txBody>
          <a:bodyPr/>
          <a:lstStyle/>
          <a:p>
            <a:pPr>
              <a:defRPr/>
            </a:pPr>
            <a:endParaRPr lang="en-US" dirty="0"/>
          </a:p>
        </p:txBody>
      </p:sp>
      <p:sp>
        <p:nvSpPr>
          <p:cNvPr id="7" name="Slide Number Placeholder 6">
            <a:extLst>
              <a:ext uri="{FF2B5EF4-FFF2-40B4-BE49-F238E27FC236}">
                <a16:creationId xmlns:a16="http://schemas.microsoft.com/office/drawing/2014/main" id="{36AF110B-4EA4-E74D-2355-7E656B0AC74A}"/>
              </a:ext>
            </a:extLst>
          </p:cNvPr>
          <p:cNvSpPr>
            <a:spLocks noGrp="1"/>
          </p:cNvSpPr>
          <p:nvPr>
            <p:ph type="sldNum" sz="quarter" idx="12"/>
          </p:nvPr>
        </p:nvSpPr>
        <p:spPr/>
        <p:txBody>
          <a:bodyPr/>
          <a:lstStyle/>
          <a:p>
            <a:pPr>
              <a:defRPr/>
            </a:pPr>
            <a:fld id="{5B54B417-AD3D-4312-8126-F4C81687F557}" type="slidenum">
              <a:rPr lang="en-US" smtClean="0"/>
              <a:pPr>
                <a:defRPr/>
              </a:pPr>
              <a:t>‹#›</a:t>
            </a:fld>
            <a:endParaRPr lang="en-US" dirty="0"/>
          </a:p>
        </p:txBody>
      </p:sp>
      <p:cxnSp>
        <p:nvCxnSpPr>
          <p:cNvPr id="8" name="Straight Connector 7">
            <a:extLst>
              <a:ext uri="{FF2B5EF4-FFF2-40B4-BE49-F238E27FC236}">
                <a16:creationId xmlns:a16="http://schemas.microsoft.com/office/drawing/2014/main" id="{E8FB06CA-1FD5-DC8E-B91A-90CEE0FECD0D}"/>
              </a:ext>
            </a:extLst>
          </p:cNvPr>
          <p:cNvCxnSpPr>
            <a:cxnSpLocks/>
          </p:cNvCxnSpPr>
          <p:nvPr userDrawn="1"/>
        </p:nvCxnSpPr>
        <p:spPr>
          <a:xfrm>
            <a:off x="628650" y="2042532"/>
            <a:ext cx="2950369"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64443C2-962A-E917-338B-27A05910355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FC6BE6B0-2E3F-0A01-AD8B-505CC0683DA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3561562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F43B4-B08B-27D2-D357-ABAF2BD54AC4}"/>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E42FAE3-8C66-0FA9-27B7-4BDA89A45E0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a:extLst>
              <a:ext uri="{FF2B5EF4-FFF2-40B4-BE49-F238E27FC236}">
                <a16:creationId xmlns:a16="http://schemas.microsoft.com/office/drawing/2014/main" id="{AF15D049-A6C0-8217-A2C4-2F96F4280C7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AA99A43-8B92-6F1B-7BF8-2C8CA5FE2418}"/>
              </a:ext>
            </a:extLst>
          </p:cNvPr>
          <p:cNvSpPr>
            <a:spLocks noGrp="1"/>
          </p:cNvSpPr>
          <p:nvPr>
            <p:ph type="dt" sz="half" idx="10"/>
          </p:nvPr>
        </p:nvSpPr>
        <p:spPr/>
        <p:txBody>
          <a:bodyPr/>
          <a:lstStyle/>
          <a:p>
            <a:pPr>
              <a:defRPr/>
            </a:pPr>
            <a:endParaRPr lang="en-US" dirty="0"/>
          </a:p>
        </p:txBody>
      </p:sp>
      <p:sp>
        <p:nvSpPr>
          <p:cNvPr id="6" name="Footer Placeholder 5">
            <a:extLst>
              <a:ext uri="{FF2B5EF4-FFF2-40B4-BE49-F238E27FC236}">
                <a16:creationId xmlns:a16="http://schemas.microsoft.com/office/drawing/2014/main" id="{B92EAB75-81DA-0B91-382E-2C1FA1B8B663}"/>
              </a:ext>
            </a:extLst>
          </p:cNvPr>
          <p:cNvSpPr>
            <a:spLocks noGrp="1"/>
          </p:cNvSpPr>
          <p:nvPr>
            <p:ph type="ftr" sz="quarter" idx="11"/>
          </p:nvPr>
        </p:nvSpPr>
        <p:spPr/>
        <p:txBody>
          <a:bodyPr/>
          <a:lstStyle/>
          <a:p>
            <a:pPr>
              <a:defRPr/>
            </a:pPr>
            <a:endParaRPr lang="en-US" dirty="0"/>
          </a:p>
        </p:txBody>
      </p:sp>
      <p:sp>
        <p:nvSpPr>
          <p:cNvPr id="7" name="Slide Number Placeholder 6">
            <a:extLst>
              <a:ext uri="{FF2B5EF4-FFF2-40B4-BE49-F238E27FC236}">
                <a16:creationId xmlns:a16="http://schemas.microsoft.com/office/drawing/2014/main" id="{D2012E8B-5EDD-3F3F-6975-09C820BF2F64}"/>
              </a:ext>
            </a:extLst>
          </p:cNvPr>
          <p:cNvSpPr>
            <a:spLocks noGrp="1"/>
          </p:cNvSpPr>
          <p:nvPr>
            <p:ph type="sldNum" sz="quarter" idx="12"/>
          </p:nvPr>
        </p:nvSpPr>
        <p:spPr/>
        <p:txBody>
          <a:bodyPr/>
          <a:lstStyle/>
          <a:p>
            <a:pPr>
              <a:defRPr/>
            </a:pPr>
            <a:fld id="{A04BF9C9-EAF8-49DE-BC51-5E7E543F474A}" type="slidenum">
              <a:rPr lang="en-US" smtClean="0"/>
              <a:pPr>
                <a:defRPr/>
              </a:pPr>
              <a:t>‹#›</a:t>
            </a:fld>
            <a:endParaRPr lang="en-US" dirty="0"/>
          </a:p>
        </p:txBody>
      </p:sp>
      <p:cxnSp>
        <p:nvCxnSpPr>
          <p:cNvPr id="8" name="Straight Connector 7">
            <a:extLst>
              <a:ext uri="{FF2B5EF4-FFF2-40B4-BE49-F238E27FC236}">
                <a16:creationId xmlns:a16="http://schemas.microsoft.com/office/drawing/2014/main" id="{09FB33BF-3560-E1B7-2D0E-C2AFD1DF1FCD}"/>
              </a:ext>
            </a:extLst>
          </p:cNvPr>
          <p:cNvCxnSpPr>
            <a:cxnSpLocks/>
          </p:cNvCxnSpPr>
          <p:nvPr userDrawn="1"/>
        </p:nvCxnSpPr>
        <p:spPr>
          <a:xfrm>
            <a:off x="589000" y="2057400"/>
            <a:ext cx="2990019" cy="0"/>
          </a:xfrm>
          <a:prstGeom prst="line">
            <a:avLst/>
          </a:prstGeom>
          <a:ln w="38100">
            <a:solidFill>
              <a:srgbClr val="CFB87C"/>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562D918-D1F2-7B26-F11C-961FE6DD95B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a:off x="-1" y="0"/>
            <a:ext cx="1970057" cy="1466492"/>
          </a:xfrm>
          <a:prstGeom prst="rect">
            <a:avLst/>
          </a:prstGeom>
        </p:spPr>
      </p:pic>
      <p:pic>
        <p:nvPicPr>
          <p:cNvPr id="10" name="Picture 9">
            <a:extLst>
              <a:ext uri="{FF2B5EF4-FFF2-40B4-BE49-F238E27FC236}">
                <a16:creationId xmlns:a16="http://schemas.microsoft.com/office/drawing/2014/main" id="{6958B8FB-180A-1947-53B2-583230C32F3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5379" t="27117" b="37353"/>
          <a:stretch/>
        </p:blipFill>
        <p:spPr>
          <a:xfrm rot="10800000">
            <a:off x="7173943" y="5391508"/>
            <a:ext cx="1970057" cy="1466492"/>
          </a:xfrm>
          <a:prstGeom prst="rect">
            <a:avLst/>
          </a:prstGeom>
        </p:spPr>
      </p:pic>
    </p:spTree>
    <p:extLst>
      <p:ext uri="{BB962C8B-B14F-4D97-AF65-F5344CB8AC3E}">
        <p14:creationId xmlns:p14="http://schemas.microsoft.com/office/powerpoint/2010/main" val="1354302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3BC81-929E-25E6-EFE7-8F664864063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803A99-6E17-1F15-5212-8E311907DF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E823B4-B2A6-761F-A4DF-461C0216B4EE}"/>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F1476C6F-D82C-3651-380C-5B57641309D6}"/>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8C70EADA-5F48-42B8-5105-BC7C3E8C2E2E}"/>
              </a:ext>
            </a:extLst>
          </p:cNvPr>
          <p:cNvSpPr>
            <a:spLocks noGrp="1"/>
          </p:cNvSpPr>
          <p:nvPr>
            <p:ph type="sldNum" sz="quarter" idx="12"/>
          </p:nvPr>
        </p:nvSpPr>
        <p:spPr/>
        <p:txBody>
          <a:bodyPr/>
          <a:lstStyle/>
          <a:p>
            <a:pPr>
              <a:defRPr/>
            </a:pPr>
            <a:fld id="{980D4170-A35D-4B92-878B-2D63BE5474F8}" type="slidenum">
              <a:rPr lang="en-US" smtClean="0"/>
              <a:pPr>
                <a:defRPr/>
              </a:pPr>
              <a:t>‹#›</a:t>
            </a:fld>
            <a:endParaRPr lang="en-US" dirty="0"/>
          </a:p>
        </p:txBody>
      </p:sp>
    </p:spTree>
    <p:extLst>
      <p:ext uri="{BB962C8B-B14F-4D97-AF65-F5344CB8AC3E}">
        <p14:creationId xmlns:p14="http://schemas.microsoft.com/office/powerpoint/2010/main" val="8441471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ADB19E-376C-BB5F-09DF-15E63C68C31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80A13-5547-E36A-1691-36291608A2B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34A03D-2F3D-BF64-7868-03B01B6B39EA}"/>
              </a:ext>
            </a:extLst>
          </p:cNvPr>
          <p:cNvSpPr>
            <a:spLocks noGrp="1"/>
          </p:cNvSpPr>
          <p:nvPr>
            <p:ph type="dt" sz="half" idx="10"/>
          </p:nvPr>
        </p:nvSpPr>
        <p:spPr/>
        <p:txBody>
          <a:bodyPr/>
          <a:lstStyle/>
          <a:p>
            <a:pPr>
              <a:defRPr/>
            </a:pPr>
            <a:endParaRPr lang="en-US" dirty="0"/>
          </a:p>
        </p:txBody>
      </p:sp>
      <p:sp>
        <p:nvSpPr>
          <p:cNvPr id="5" name="Footer Placeholder 4">
            <a:extLst>
              <a:ext uri="{FF2B5EF4-FFF2-40B4-BE49-F238E27FC236}">
                <a16:creationId xmlns:a16="http://schemas.microsoft.com/office/drawing/2014/main" id="{889839FA-DCDB-A07F-86DC-1648446FA313}"/>
              </a:ext>
            </a:extLst>
          </p:cNvPr>
          <p:cNvSpPr>
            <a:spLocks noGrp="1"/>
          </p:cNvSpPr>
          <p:nvPr>
            <p:ph type="ftr" sz="quarter" idx="11"/>
          </p:nvPr>
        </p:nvSpPr>
        <p:spPr/>
        <p:txBody>
          <a:bodyPr/>
          <a:lstStyle/>
          <a:p>
            <a:pPr>
              <a:defRPr/>
            </a:pPr>
            <a:endParaRPr lang="en-US" dirty="0"/>
          </a:p>
        </p:txBody>
      </p:sp>
      <p:sp>
        <p:nvSpPr>
          <p:cNvPr id="6" name="Slide Number Placeholder 5">
            <a:extLst>
              <a:ext uri="{FF2B5EF4-FFF2-40B4-BE49-F238E27FC236}">
                <a16:creationId xmlns:a16="http://schemas.microsoft.com/office/drawing/2014/main" id="{50C9D4C4-D028-25AB-7AE6-AF71C3581DA8}"/>
              </a:ext>
            </a:extLst>
          </p:cNvPr>
          <p:cNvSpPr>
            <a:spLocks noGrp="1"/>
          </p:cNvSpPr>
          <p:nvPr>
            <p:ph type="sldNum" sz="quarter" idx="12"/>
          </p:nvPr>
        </p:nvSpPr>
        <p:spPr/>
        <p:txBody>
          <a:bodyPr/>
          <a:lstStyle/>
          <a:p>
            <a:pPr>
              <a:defRPr/>
            </a:pPr>
            <a:fld id="{13F767CC-98F8-4699-B32C-1545759A837D}" type="slidenum">
              <a:rPr lang="en-US" smtClean="0"/>
              <a:pPr>
                <a:defRPr/>
              </a:pPr>
              <a:t>‹#›</a:t>
            </a:fld>
            <a:endParaRPr lang="en-US" dirty="0"/>
          </a:p>
        </p:txBody>
      </p:sp>
    </p:spTree>
    <p:extLst>
      <p:ext uri="{BB962C8B-B14F-4D97-AF65-F5344CB8AC3E}">
        <p14:creationId xmlns:p14="http://schemas.microsoft.com/office/powerpoint/2010/main" val="2511365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dirty="0"/>
              <a:t>Click to edit Master title style</a:t>
            </a:r>
          </a:p>
        </p:txBody>
      </p:sp>
      <p:sp>
        <p:nvSpPr>
          <p:cNvPr id="3" name="Table Placeholder 2"/>
          <p:cNvSpPr>
            <a:spLocks noGrp="1"/>
          </p:cNvSpPr>
          <p:nvPr>
            <p:ph type="tbl" idx="1"/>
          </p:nvPr>
        </p:nvSpPr>
        <p:spPr>
          <a:xfrm>
            <a:off x="1182688" y="2017713"/>
            <a:ext cx="7772400" cy="4114800"/>
          </a:xfrm>
        </p:spPr>
        <p:txBody>
          <a:bodyPr/>
          <a:lstStyle/>
          <a:p>
            <a:pPr lvl="0"/>
            <a:endParaRPr lang="en-US" noProof="0" dirty="0"/>
          </a:p>
        </p:txBody>
      </p:sp>
      <p:sp>
        <p:nvSpPr>
          <p:cNvPr id="4" name="Rectangle 1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2"/>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13"/>
          <p:cNvSpPr>
            <a:spLocks noGrp="1" noChangeArrowheads="1"/>
          </p:cNvSpPr>
          <p:nvPr>
            <p:ph type="sldNum" sz="quarter" idx="12"/>
          </p:nvPr>
        </p:nvSpPr>
        <p:spPr>
          <a:ln/>
        </p:spPr>
        <p:txBody>
          <a:bodyPr/>
          <a:lstStyle>
            <a:lvl1pPr>
              <a:defRPr/>
            </a:lvl1pPr>
          </a:lstStyle>
          <a:p>
            <a:pPr>
              <a:defRPr/>
            </a:pPr>
            <a:fld id="{57DC8896-49B9-4F9C-B6B0-C795BA92E898}" type="slidenum">
              <a:rPr lang="en-US"/>
              <a:pPr>
                <a:defRPr/>
              </a:pPr>
              <a:t>‹#›</a:t>
            </a:fld>
            <a:endParaRPr lang="en-US" dirty="0"/>
          </a:p>
        </p:txBody>
      </p:sp>
    </p:spTree>
    <p:extLst>
      <p:ext uri="{BB962C8B-B14F-4D97-AF65-F5344CB8AC3E}">
        <p14:creationId xmlns:p14="http://schemas.microsoft.com/office/powerpoint/2010/main" val="255297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8AA5-740F-579B-3E10-99532427E3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EBA4F0-00B8-3537-82B6-874DA85BBDEA}"/>
              </a:ext>
            </a:extLst>
          </p:cNvPr>
          <p:cNvSpPr>
            <a:spLocks noGrp="1"/>
          </p:cNvSpPr>
          <p:nvPr>
            <p:ph type="dt" sz="half" idx="10"/>
          </p:nvPr>
        </p:nvSpPr>
        <p:spPr/>
        <p:txBody>
          <a:bodyPr/>
          <a:lstStyle/>
          <a:p>
            <a:pPr>
              <a:defRPr/>
            </a:pPr>
            <a:endParaRPr lang="en-US" dirty="0"/>
          </a:p>
        </p:txBody>
      </p:sp>
      <p:sp>
        <p:nvSpPr>
          <p:cNvPr id="4" name="Footer Placeholder 3">
            <a:extLst>
              <a:ext uri="{FF2B5EF4-FFF2-40B4-BE49-F238E27FC236}">
                <a16:creationId xmlns:a16="http://schemas.microsoft.com/office/drawing/2014/main" id="{2C018D47-9AAE-DEB2-61A6-DB5614949AD4}"/>
              </a:ext>
            </a:extLst>
          </p:cNvPr>
          <p:cNvSpPr>
            <a:spLocks noGrp="1"/>
          </p:cNvSpPr>
          <p:nvPr>
            <p:ph type="ftr" sz="quarter" idx="11"/>
          </p:nvPr>
        </p:nvSpPr>
        <p:spPr/>
        <p:txBody>
          <a:bodyPr/>
          <a:lstStyle/>
          <a:p>
            <a:pPr>
              <a:defRPr/>
            </a:pPr>
            <a:endParaRPr lang="en-US" dirty="0"/>
          </a:p>
        </p:txBody>
      </p:sp>
      <p:sp>
        <p:nvSpPr>
          <p:cNvPr id="5" name="Slide Number Placeholder 4">
            <a:extLst>
              <a:ext uri="{FF2B5EF4-FFF2-40B4-BE49-F238E27FC236}">
                <a16:creationId xmlns:a16="http://schemas.microsoft.com/office/drawing/2014/main" id="{942C365F-0223-46F1-C21A-5FC213027595}"/>
              </a:ext>
            </a:extLst>
          </p:cNvPr>
          <p:cNvSpPr>
            <a:spLocks noGrp="1"/>
          </p:cNvSpPr>
          <p:nvPr>
            <p:ph type="sldNum" sz="quarter" idx="12"/>
          </p:nvPr>
        </p:nvSpPr>
        <p:spPr/>
        <p:txBody>
          <a:bodyPr/>
          <a:lstStyle/>
          <a:p>
            <a:pPr>
              <a:defRPr/>
            </a:pPr>
            <a:fld id="{79B0167D-6490-4BBB-BA2A-81BDB0B85D3F}" type="slidenum">
              <a:rPr lang="en-US" smtClean="0"/>
              <a:pPr>
                <a:defRPr/>
              </a:pPr>
              <a:t>‹#›</a:t>
            </a:fld>
            <a:endParaRPr lang="en-US" dirty="0"/>
          </a:p>
        </p:txBody>
      </p:sp>
    </p:spTree>
    <p:extLst>
      <p:ext uri="{BB962C8B-B14F-4D97-AF65-F5344CB8AC3E}">
        <p14:creationId xmlns:p14="http://schemas.microsoft.com/office/powerpoint/2010/main" val="2274331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p>
        </p:txBody>
      </p:sp>
      <p:sp>
        <p:nvSpPr>
          <p:cNvPr id="3" name="Content Placeholder 2"/>
          <p:cNvSpPr>
            <a:spLocks noGrp="1"/>
          </p:cNvSpPr>
          <p:nvPr>
            <p:ph sz="half" idx="1"/>
          </p:nvPr>
        </p:nvSpPr>
        <p:spPr>
          <a:xfrm>
            <a:off x="1182688" y="2017713"/>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82688" y="4151313"/>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BCBFAB75-11F8-46EB-9A7A-6C4295F92385}" type="slidenum">
              <a:rPr lang="en-US"/>
              <a:pPr>
                <a:defRPr/>
              </a:pPr>
              <a:t>‹#›</a:t>
            </a:fld>
            <a:endParaRPr lang="en-US"/>
          </a:p>
        </p:txBody>
      </p:sp>
    </p:spTree>
    <p:extLst>
      <p:ext uri="{BB962C8B-B14F-4D97-AF65-F5344CB8AC3E}">
        <p14:creationId xmlns:p14="http://schemas.microsoft.com/office/powerpoint/2010/main" val="3012533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1462087"/>
          </a:xfrm>
        </p:spPr>
        <p:txBody>
          <a:bodyPr/>
          <a:lstStyle/>
          <a:p>
            <a:r>
              <a:rPr lang="en-US"/>
              <a:t>Click to edit Master title style</a:t>
            </a:r>
          </a:p>
        </p:txBody>
      </p:sp>
      <p:sp>
        <p:nvSpPr>
          <p:cNvPr id="3" name="Text Placeholder 2"/>
          <p:cNvSpPr>
            <a:spLocks noGrp="1"/>
          </p:cNvSpPr>
          <p:nvPr>
            <p:ph type="body" sz="half" idx="1"/>
          </p:nvPr>
        </p:nvSpPr>
        <p:spPr>
          <a:xfrm>
            <a:off x="1182688" y="2017713"/>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82688" y="4151313"/>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B224CF68-1233-452F-8402-4E22E2699155}" type="slidenum">
              <a:rPr lang="en-US"/>
              <a:pPr>
                <a:defRPr/>
              </a:pPr>
              <a:t>‹#›</a:t>
            </a:fld>
            <a:endParaRPr lang="en-US"/>
          </a:p>
        </p:txBody>
      </p:sp>
    </p:spTree>
    <p:extLst>
      <p:ext uri="{BB962C8B-B14F-4D97-AF65-F5344CB8AC3E}">
        <p14:creationId xmlns:p14="http://schemas.microsoft.com/office/powerpoint/2010/main" val="2997470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5C646-AC50-9E3B-BF56-B12ACF10176C}"/>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D7C1A5-8E09-27A8-F5D3-F69695B781B6}"/>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EA64DC-B0D4-D37B-9A98-8739E633394D}"/>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0E9F34C9-9C0E-3C02-753D-AFCD52F8FD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AE2797D-8488-C9D6-0AFA-50B9B37C7FB7}"/>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5914816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9CD9F-8593-9845-9348-6320D58BFD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4BC399-B24F-0447-002A-85C90DB175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AF4CD-8232-D6A0-40E7-72AE77FC1E70}"/>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3BB9DA5A-BFBB-2193-697B-D1BB1498BB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4E5D6F1-ABEB-A652-6E3B-6D983CA5A57A}"/>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17550918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420E-BAB1-47FC-5D06-8980D5598009}"/>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C2ADAB-EDD6-DBB8-C98A-59970F22CE2D}"/>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5E4049-7769-1D0F-4A4B-09BBA2D62971}"/>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4958CFFB-BD8D-3ED2-364D-A45EE871CD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4F3C7A-4598-FBD4-E33F-DDBDD003394F}"/>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7868951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7E009-E9BA-41A0-995B-2D42CD66D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503654-2199-F0B9-742D-8D8251158FDF}"/>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5D2D3E-849E-36FA-B3CA-C234ADC492F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7E95DF-EEA2-2149-F315-5AFDF62C0115}"/>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6" name="Footer Placeholder 5">
            <a:extLst>
              <a:ext uri="{FF2B5EF4-FFF2-40B4-BE49-F238E27FC236}">
                <a16:creationId xmlns:a16="http://schemas.microsoft.com/office/drawing/2014/main" id="{B064A9DF-5E61-CBCD-08FB-89ADB284E23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71CED6A-320C-6ADA-D0E8-14E8E1E2B597}"/>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38846124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4A2E-6FCA-F400-1113-34585118129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5E0916-51CE-4278-2DE3-9C3C6C2C3B7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3BDEEE-6117-3368-C97D-2977DED7CDD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B6E1DD-8CBD-32FD-7382-301B0C8270C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A13F61-5C73-9DEF-5C35-2995279ED55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05510E-E721-F704-0B05-0D420F9F792C}"/>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8" name="Footer Placeholder 7">
            <a:extLst>
              <a:ext uri="{FF2B5EF4-FFF2-40B4-BE49-F238E27FC236}">
                <a16:creationId xmlns:a16="http://schemas.microsoft.com/office/drawing/2014/main" id="{A95F5505-BF2E-F189-73D4-778858933F9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43C6B43-5FAC-AAD4-9C56-062C9391905C}"/>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35488895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F7EB-CF78-84BA-07CC-4058DF9489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5A42C3-759C-ADB4-B389-562E0B774E51}"/>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4" name="Footer Placeholder 3">
            <a:extLst>
              <a:ext uri="{FF2B5EF4-FFF2-40B4-BE49-F238E27FC236}">
                <a16:creationId xmlns:a16="http://schemas.microsoft.com/office/drawing/2014/main" id="{116F40B2-63D2-2AA6-2CF9-1F89F10D6BD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EC68B24-DF61-238D-B0ED-E53F94D8FAC9}"/>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3895886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28A0EF-4551-CF16-8439-66F25798E717}"/>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3" name="Footer Placeholder 2">
            <a:extLst>
              <a:ext uri="{FF2B5EF4-FFF2-40B4-BE49-F238E27FC236}">
                <a16:creationId xmlns:a16="http://schemas.microsoft.com/office/drawing/2014/main" id="{0B5868BE-1CAA-8A03-531B-D97B99DABF0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913F794-B283-9DD0-BEBA-EC35984DE2CB}"/>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7336679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2B1DA-6DA1-BD15-5218-362292BB182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2A267C-9E53-BCF1-A4CF-445EE7F4EA5F}"/>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3ABA44-D191-ACF0-6E13-79628C5AC65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09C4B-CF4E-242A-F8C0-618359E15CE1}"/>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6" name="Footer Placeholder 5">
            <a:extLst>
              <a:ext uri="{FF2B5EF4-FFF2-40B4-BE49-F238E27FC236}">
                <a16:creationId xmlns:a16="http://schemas.microsoft.com/office/drawing/2014/main" id="{76C6F329-989D-E7E2-64E6-1B4615C774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69B6FC5-7786-B7EF-FF10-D88C2AD545BE}"/>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18808029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0CCB1-165D-4C6E-D645-06222BCBCDF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AA79D6-5D4E-A088-87E1-215F85243B48}"/>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068897E-E57D-6BE3-2303-FBAA05AC787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FA4DA0-CE99-DC36-166C-B82A32488526}"/>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6" name="Footer Placeholder 5">
            <a:extLst>
              <a:ext uri="{FF2B5EF4-FFF2-40B4-BE49-F238E27FC236}">
                <a16:creationId xmlns:a16="http://schemas.microsoft.com/office/drawing/2014/main" id="{EED4CB0A-1537-749C-3C7A-A7E36B9D42F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3DF7206-3AD7-9ED4-4373-C5FEBE68E402}"/>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10884440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AF42-F22D-412B-2A9D-2E741C6AC6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D50D7C-6420-4969-8AA3-143701870D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20604A-EB1C-26CA-EA4D-C9AB5BEDEF1B}"/>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FC7BB207-8C26-C9A7-E781-0A11CA3143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221EBED-F84D-A796-EA46-1CE3C4792C77}"/>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2060313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5E604E-670C-EF59-82F8-4C0169C861E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3C8459-F9ED-ECD2-AA2F-A7FA91F56574}"/>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DC9406-BC39-5FEA-9CDE-B49691E3121D}"/>
              </a:ext>
            </a:extLst>
          </p:cNvPr>
          <p:cNvSpPr>
            <a:spLocks noGrp="1"/>
          </p:cNvSpPr>
          <p:nvPr>
            <p:ph type="dt" sz="half" idx="10"/>
          </p:nvPr>
        </p:nvSpPr>
        <p:spPr/>
        <p:txBody>
          <a:body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CF6AFDA3-EEA4-C161-9B4D-BB16E05B330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20E3197-3F66-F4C2-C745-F08AAD9B963A}"/>
              </a:ext>
            </a:extLst>
          </p:cNvPr>
          <p:cNvSpPr>
            <a:spLocks noGrp="1"/>
          </p:cNvSpPr>
          <p:nvPr>
            <p:ph type="sldNum" sz="quarter" idx="12"/>
          </p:nvPr>
        </p:nvSpPr>
        <p:spPr/>
        <p:txBody>
          <a:bodyPr/>
          <a:lstStyle/>
          <a:p>
            <a:fld id="{DA1C3788-822E-423E-B878-6B9A28671C4C}" type="slidenum">
              <a:rPr lang="en-US" smtClean="0"/>
              <a:t>‹#›</a:t>
            </a:fld>
            <a:endParaRPr lang="en-US" dirty="0"/>
          </a:p>
        </p:txBody>
      </p:sp>
    </p:spTree>
    <p:extLst>
      <p:ext uri="{BB962C8B-B14F-4D97-AF65-F5344CB8AC3E}">
        <p14:creationId xmlns:p14="http://schemas.microsoft.com/office/powerpoint/2010/main" val="40453388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B53E-1360-02E9-CD9A-F3B983349283}"/>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FEFBCB-45F3-4FFE-EBD6-91E9823BA16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0608AF-3E9F-32D5-89C9-FCFCC6F08DDF}"/>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89BB5B0A-8B15-58CB-7263-3FFF98B2CB5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974DC1-B073-4BE3-7042-18D32F052243}"/>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252117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D1F9-C7AF-4295-F418-C72B1710DB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98BB33-042A-E66B-2338-25C19EFF42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0D6E98-5917-E7F2-47FF-A078A4D884C5}"/>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B0CFDA68-BF95-E6FF-6591-8DB4C62269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C89843-B114-5054-5330-6424578565A0}"/>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38181004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7D2E1-E0E0-7284-03AC-F0437CC61ED6}"/>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64FA09-30CD-E8EC-F022-527F3376DC7D}"/>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240CF5-CDAB-59D4-C292-5F84DA281027}"/>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DE7A9DFC-0629-4C94-8A34-0170A19C80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223AE1A-7163-F315-CAF2-C8593D929A60}"/>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13279825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B890E-C9E6-321A-3E67-F4528EEAA8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CF96F7-5922-5F9E-A897-0E856DADC7E8}"/>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F0645E-BEC0-9EB7-69EB-F657A213743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F49951-F024-8A4D-B5EB-58579284A176}"/>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6" name="Footer Placeholder 5">
            <a:extLst>
              <a:ext uri="{FF2B5EF4-FFF2-40B4-BE49-F238E27FC236}">
                <a16:creationId xmlns:a16="http://schemas.microsoft.com/office/drawing/2014/main" id="{F2B5B73D-4C73-BEAC-064B-FABFE46E9DD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9682818-5624-DA61-D93A-55D88D271F34}"/>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14202409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1DACE-8182-C246-65DD-D3190D89D28B}"/>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BF6C41-52A0-8C14-9022-99404EA5C12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272B8B-8BF7-1F2E-F1A7-79CAA8F35BE6}"/>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E486D0D-8F84-FE44-F4E7-87FA91B51B0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697DB3-1E94-4EDA-9F99-87280D82145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03AEC8-AF78-1BD3-11B6-4A3A4CB8C880}"/>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8" name="Footer Placeholder 7">
            <a:extLst>
              <a:ext uri="{FF2B5EF4-FFF2-40B4-BE49-F238E27FC236}">
                <a16:creationId xmlns:a16="http://schemas.microsoft.com/office/drawing/2014/main" id="{28C31D07-B3AE-6A8C-C371-2606DBC6195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33F64E-FC6B-9F91-5799-33B133298222}"/>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16559501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B82F2-F220-0FB8-52DD-5BD675C30E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26394A-2F9E-ADF8-D032-EC85826E6FE5}"/>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4" name="Footer Placeholder 3">
            <a:extLst>
              <a:ext uri="{FF2B5EF4-FFF2-40B4-BE49-F238E27FC236}">
                <a16:creationId xmlns:a16="http://schemas.microsoft.com/office/drawing/2014/main" id="{DE72E821-7252-8F89-52C5-435DC66673D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43C0EBF-A63B-F4C2-E798-4AFD73A22268}"/>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42795592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635DAB-C016-9245-5B0B-51BE82D5CB27}"/>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3" name="Footer Placeholder 2">
            <a:extLst>
              <a:ext uri="{FF2B5EF4-FFF2-40B4-BE49-F238E27FC236}">
                <a16:creationId xmlns:a16="http://schemas.microsoft.com/office/drawing/2014/main" id="{E028A6FC-A4AF-BCD9-5D5A-6192533EA6D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544C057-5E53-6009-93D6-2DA5A041D5E1}"/>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5146615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95188-9694-8799-5341-FB8A8F12453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F47B6D0-3E29-0331-49E2-9EB2FB583164}"/>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D97ACF-A7D9-B2CB-B5C7-140DA05D233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2787FA-455D-E8BE-2A5E-A715135DAD40}"/>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6" name="Footer Placeholder 5">
            <a:extLst>
              <a:ext uri="{FF2B5EF4-FFF2-40B4-BE49-F238E27FC236}">
                <a16:creationId xmlns:a16="http://schemas.microsoft.com/office/drawing/2014/main" id="{D108895C-D747-2BCC-FDC8-F65C5379143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57E3CFC-6FEF-6004-D172-2B97C87FC381}"/>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31481186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660F7-5D0E-2321-C4F4-80C394032E1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62F2E4-022F-D190-2E73-0708FA57AD0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D349B53-6C94-1296-3EFF-52BBD868CC0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582FB2-5828-0495-159D-D39CCF49DD1D}"/>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6" name="Footer Placeholder 5">
            <a:extLst>
              <a:ext uri="{FF2B5EF4-FFF2-40B4-BE49-F238E27FC236}">
                <a16:creationId xmlns:a16="http://schemas.microsoft.com/office/drawing/2014/main" id="{96A4B0AC-0333-A8BF-804D-6D7FD994191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8C0FF49-6026-9512-D502-D0FD811888C4}"/>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7559997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2068-9F9C-8A1B-4A9E-4D712AFC40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F64E6D2-3BB1-742F-BDAC-E714DD3272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CD7CE7-ED3B-EBB2-C598-F03A23750C5B}"/>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D0562CD2-F2A8-BD5D-88C3-75B3F8AB43D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8193CE-DBE7-DBD9-0AFF-F9457D137B90}"/>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608109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A83A1B-8C7C-42FE-0E48-E80799B87C5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4F3CE0-19F2-529A-8C36-6C860E66643D}"/>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A63BA5-3EF7-CE0D-B355-E8157C025F3A}"/>
              </a:ext>
            </a:extLst>
          </p:cNvPr>
          <p:cNvSpPr>
            <a:spLocks noGrp="1"/>
          </p:cNvSpPr>
          <p:nvPr>
            <p:ph type="dt" sz="half" idx="10"/>
          </p:nvPr>
        </p:nvSpPr>
        <p:spPr/>
        <p:txBody>
          <a:body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7637F1BC-6F25-F041-3174-FCD9F7E1F1E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5DF7701-CC5C-9990-F668-6BBB3A053E05}"/>
              </a:ext>
            </a:extLst>
          </p:cNvPr>
          <p:cNvSpPr>
            <a:spLocks noGrp="1"/>
          </p:cNvSpPr>
          <p:nvPr>
            <p:ph type="sldNum" sz="quarter" idx="12"/>
          </p:nvPr>
        </p:nvSpPr>
        <p:spPr/>
        <p:txBody>
          <a:bodyPr/>
          <a:lstStyle/>
          <a:p>
            <a:fld id="{DD4C4DFF-B2E1-4C7C-8DC0-599B5AD253F8}" type="slidenum">
              <a:rPr lang="en-US" smtClean="0"/>
              <a:t>‹#›</a:t>
            </a:fld>
            <a:endParaRPr lang="en-US" dirty="0"/>
          </a:p>
        </p:txBody>
      </p:sp>
    </p:spTree>
    <p:extLst>
      <p:ext uri="{BB962C8B-B14F-4D97-AF65-F5344CB8AC3E}">
        <p14:creationId xmlns:p14="http://schemas.microsoft.com/office/powerpoint/2010/main" val="27856863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14068"/>
            <a:ext cx="9144000" cy="6858000"/>
          </a:xfrm>
          <a:prstGeom prst="rect">
            <a:avLst/>
          </a:prstGeom>
        </p:spPr>
      </p:pic>
      <p:sp>
        <p:nvSpPr>
          <p:cNvPr id="2" name="Title"/>
          <p:cNvSpPr>
            <a:spLocks noGrp="1"/>
          </p:cNvSpPr>
          <p:nvPr>
            <p:ph type="ctrTitle" hasCustomPrompt="1"/>
          </p:nvPr>
        </p:nvSpPr>
        <p:spPr>
          <a:xfrm>
            <a:off x="4234815" y="1168663"/>
            <a:ext cx="4578227" cy="2387600"/>
          </a:xfrm>
        </p:spPr>
        <p:txBody>
          <a:bodyPr anchor="b"/>
          <a:lstStyle>
            <a:lvl1pPr algn="l">
              <a:defRPr sz="36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4234815" y="3809720"/>
            <a:ext cx="4578227" cy="1424930"/>
          </a:xfrm>
          <a:noFill/>
        </p:spPr>
        <p:txBody>
          <a:bodyPr anchor="t"/>
          <a:lstStyle>
            <a:lvl1pPr marL="0" indent="0" algn="l">
              <a:lnSpc>
                <a:spcPct val="100000"/>
              </a:lnSpc>
              <a:buNone/>
              <a:defRPr sz="2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356438" y="808038"/>
            <a:ext cx="3534966"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8311642" y="6449054"/>
            <a:ext cx="550718" cy="365760"/>
          </a:xfrm>
          <a:prstGeom prst="rect">
            <a:avLst/>
          </a:prstGeom>
        </p:spPr>
        <p:txBody>
          <a:bodyPr vert="horz" lIns="68580" tIns="34290" rIns="68580" bIns="3429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825" smtClean="0">
                <a:solidFill>
                  <a:schemeClr val="bg1"/>
                </a:solidFill>
                <a:latin typeface="+mn-lt"/>
              </a:rPr>
              <a:pPr/>
              <a:t>‹#›</a:t>
            </a:fld>
            <a:endParaRPr lang="en-US" sz="825"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37316" y="6223886"/>
            <a:ext cx="1365211" cy="610675"/>
          </a:xfrm>
          <a:prstGeom prst="rect">
            <a:avLst/>
          </a:prstGeom>
        </p:spPr>
      </p:pic>
      <p:sp>
        <p:nvSpPr>
          <p:cNvPr id="8" name="Text Placeholder 4">
            <a:extLst>
              <a:ext uri="{FF2B5EF4-FFF2-40B4-BE49-F238E27FC236}">
                <a16:creationId xmlns:a16="http://schemas.microsoft.com/office/drawing/2014/main" id="{1EE27F2D-8D06-4D0B-B28E-6A4C40F9E451}"/>
              </a:ext>
            </a:extLst>
          </p:cNvPr>
          <p:cNvSpPr>
            <a:spLocks noGrp="1"/>
          </p:cNvSpPr>
          <p:nvPr>
            <p:ph type="body" sz="quarter" idx="12" hasCustomPrompt="1"/>
          </p:nvPr>
        </p:nvSpPr>
        <p:spPr>
          <a:xfrm>
            <a:off x="1577340" y="6314136"/>
            <a:ext cx="6720840" cy="457200"/>
          </a:xfrm>
        </p:spPr>
        <p:txBody>
          <a:bodyPr/>
          <a:lstStyle>
            <a:lvl1pPr marL="0" indent="0">
              <a:buNone/>
              <a:defRPr sz="825">
                <a:solidFill>
                  <a:schemeClr val="bg1"/>
                </a:solidFill>
                <a:latin typeface="Work Sans" pitchFamily="2" charset="0"/>
              </a:defRPr>
            </a:lvl1pPr>
          </a:lstStyle>
          <a:p>
            <a:pPr lvl="0"/>
            <a:r>
              <a:rPr lang="en-US" dirty="0"/>
              <a:t>[Author Name], [Book Title], [#] Edition. © [Insert Year] Cengage Learning, Inc.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0015547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9144000" cy="6858000"/>
          </a:xfrm>
          <a:prstGeom prst="rect">
            <a:avLst/>
          </a:prstGeom>
        </p:spPr>
      </p:pic>
      <p:sp>
        <p:nvSpPr>
          <p:cNvPr id="2" name="Title"/>
          <p:cNvSpPr>
            <a:spLocks noGrp="1"/>
          </p:cNvSpPr>
          <p:nvPr>
            <p:ph type="ctrTitle" hasCustomPrompt="1"/>
          </p:nvPr>
        </p:nvSpPr>
        <p:spPr>
          <a:xfrm>
            <a:off x="685800" y="1153123"/>
            <a:ext cx="7818120" cy="2387600"/>
          </a:xfrm>
        </p:spPr>
        <p:txBody>
          <a:bodyPr anchor="b"/>
          <a:lstStyle>
            <a:lvl1pPr algn="ctr">
              <a:defRPr sz="405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685800" y="3809720"/>
            <a:ext cx="7818120" cy="1424930"/>
          </a:xfrm>
          <a:noFill/>
        </p:spPr>
        <p:txBody>
          <a:bodyPr anchor="t"/>
          <a:lstStyle>
            <a:lvl1pPr marL="0" indent="0" algn="ctr">
              <a:lnSpc>
                <a:spcPct val="100000"/>
              </a:lnSpc>
              <a:buNone/>
              <a:defRPr sz="27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Add Unit’s Title Here</a:t>
            </a:r>
          </a:p>
        </p:txBody>
      </p:sp>
      <p:pic>
        <p:nvPicPr>
          <p:cNvPr id="17" name="Picture 16">
            <a:extLst>
              <a:ext uri="{FF2B5EF4-FFF2-40B4-BE49-F238E27FC236}">
                <a16:creationId xmlns:a16="http://schemas.microsoft.com/office/drawing/2014/main" id="{EAF0C6CA-9F2E-439D-8A9B-5B8BD35A9360}"/>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37316" y="6223886"/>
            <a:ext cx="1365211" cy="610675"/>
          </a:xfrm>
          <a:prstGeom prst="rect">
            <a:avLst/>
          </a:prstGeom>
        </p:spPr>
      </p:pic>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8311642" y="6449054"/>
            <a:ext cx="550718" cy="365760"/>
          </a:xfrm>
          <a:prstGeom prst="rect">
            <a:avLst/>
          </a:prstGeom>
        </p:spPr>
        <p:txBody>
          <a:bodyPr vert="horz" lIns="68580" tIns="34290" rIns="68580" bIns="3429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825" smtClean="0">
                <a:solidFill>
                  <a:schemeClr val="bg1"/>
                </a:solidFill>
                <a:latin typeface="+mn-lt"/>
              </a:rPr>
              <a:pPr/>
              <a:t>‹#›</a:t>
            </a:fld>
            <a:endParaRPr lang="en-US" sz="825"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1577340" y="6314137"/>
            <a:ext cx="6720840" cy="346249"/>
          </a:xfrm>
          <a:prstGeom prst="rect">
            <a:avLst/>
          </a:prstGeom>
          <a:noFill/>
        </p:spPr>
        <p:txBody>
          <a:bodyPr wrap="square" rtlCol="0">
            <a:spAutoFit/>
          </a:bodyPr>
          <a:lstStyle/>
          <a:p>
            <a:r>
              <a:rPr lang="en-US" sz="825" kern="1200" dirty="0">
                <a:solidFill>
                  <a:schemeClr val="bg1"/>
                </a:solidFill>
                <a:latin typeface="Work Sans" pitchFamily="2" charset="0"/>
                <a:ea typeface="+mn-ea"/>
                <a:cs typeface="+mn-cs"/>
              </a:rPr>
              <a:t>Brigham &amp; Ehrhardt, Financial Management: Theory &amp; Practice, 17th Edition. © 2024 Cengage Learning, Inc. All Rights Reserved. May not be scanned, copied or duplicated, or posted to a publicly accessible website, in whole or in part.</a:t>
            </a:r>
          </a:p>
        </p:txBody>
      </p:sp>
    </p:spTree>
    <p:custDataLst>
      <p:tags r:id="rId1"/>
    </p:custDataLst>
    <p:extLst>
      <p:ext uri="{BB962C8B-B14F-4D97-AF65-F5344CB8AC3E}">
        <p14:creationId xmlns:p14="http://schemas.microsoft.com/office/powerpoint/2010/main" val="11311441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4806080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1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57633" y="473246"/>
            <a:ext cx="8431436" cy="1217447"/>
          </a:xfrm>
        </p:spPr>
        <p:txBody>
          <a:bodyPr/>
          <a:lstStyle>
            <a:lvl1pPr>
              <a:defRPr/>
            </a:lvl1pPr>
          </a:lstStyle>
          <a:p>
            <a:r>
              <a:rPr lang="en-US" dirty="0"/>
              <a:t>Slide Title</a:t>
            </a:r>
          </a:p>
        </p:txBody>
      </p:sp>
      <p:sp>
        <p:nvSpPr>
          <p:cNvPr id="3" name="Content Placeholder Left"/>
          <p:cNvSpPr>
            <a:spLocks noGrp="1"/>
          </p:cNvSpPr>
          <p:nvPr>
            <p:ph idx="1" hasCustomPrompt="1"/>
          </p:nvPr>
        </p:nvSpPr>
        <p:spPr>
          <a:xfrm>
            <a:off x="357632" y="1825625"/>
            <a:ext cx="4155948" cy="4297680"/>
          </a:xfrm>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FF2B5EF4-FFF2-40B4-BE49-F238E27FC236}">
                <a16:creationId xmlns:a16="http://schemas.microsoft.com/office/drawing/2014/main" id="{1D053A87-5C61-47AE-94E1-5F24FE227D61}"/>
              </a:ext>
            </a:extLst>
          </p:cNvPr>
          <p:cNvSpPr>
            <a:spLocks noGrp="1"/>
          </p:cNvSpPr>
          <p:nvPr>
            <p:ph idx="10" hasCustomPrompt="1"/>
          </p:nvPr>
        </p:nvSpPr>
        <p:spPr>
          <a:xfrm>
            <a:off x="4633121" y="1825625"/>
            <a:ext cx="4155948" cy="4297680"/>
          </a:xfrm>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4926801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2_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57633" y="473246"/>
            <a:ext cx="8431436" cy="1217447"/>
          </a:xfrm>
        </p:spPr>
        <p:txBody>
          <a:bodyPr/>
          <a:lstStyle>
            <a:lvl1pPr>
              <a:defRPr/>
            </a:lvl1pPr>
          </a:lstStyle>
          <a:p>
            <a:r>
              <a:rPr lang="en-US" dirty="0"/>
              <a:t>Slide Title</a:t>
            </a:r>
          </a:p>
        </p:txBody>
      </p:sp>
      <p:sp>
        <p:nvSpPr>
          <p:cNvPr id="3" name="Content Placeholder Left"/>
          <p:cNvSpPr>
            <a:spLocks noGrp="1"/>
          </p:cNvSpPr>
          <p:nvPr>
            <p:ph idx="1" hasCustomPrompt="1"/>
          </p:nvPr>
        </p:nvSpPr>
        <p:spPr>
          <a:xfrm>
            <a:off x="357632" y="1825625"/>
            <a:ext cx="2606040" cy="4297680"/>
          </a:xfrm>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Middle">
            <a:extLst>
              <a:ext uri="{FF2B5EF4-FFF2-40B4-BE49-F238E27FC236}">
                <a16:creationId xmlns:a16="http://schemas.microsoft.com/office/drawing/2014/main" id="{1D053A87-5C61-47AE-94E1-5F24FE227D61}"/>
              </a:ext>
            </a:extLst>
          </p:cNvPr>
          <p:cNvSpPr>
            <a:spLocks noGrp="1"/>
          </p:cNvSpPr>
          <p:nvPr>
            <p:ph idx="10" hasCustomPrompt="1"/>
          </p:nvPr>
        </p:nvSpPr>
        <p:spPr>
          <a:xfrm>
            <a:off x="3270330" y="1825625"/>
            <a:ext cx="2606040" cy="4297680"/>
          </a:xfrm>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Right">
            <a:extLst>
              <a:ext uri="{FF2B5EF4-FFF2-40B4-BE49-F238E27FC236}">
                <a16:creationId xmlns:a16="http://schemas.microsoft.com/office/drawing/2014/main" id="{53EA52FE-05C1-45AF-ADB6-8FC4F5FF41C8}"/>
              </a:ext>
            </a:extLst>
          </p:cNvPr>
          <p:cNvSpPr>
            <a:spLocks noGrp="1"/>
          </p:cNvSpPr>
          <p:nvPr>
            <p:ph idx="11" hasCustomPrompt="1"/>
          </p:nvPr>
        </p:nvSpPr>
        <p:spPr>
          <a:xfrm>
            <a:off x="6183029" y="1825625"/>
            <a:ext cx="2606040" cy="4297680"/>
          </a:xfrm>
        </p:spPr>
        <p:txBody>
          <a:bodyPr/>
          <a:lstStyle>
            <a:lvl1pPr>
              <a:spcAft>
                <a:spcPts val="600"/>
              </a:spcAft>
              <a:defRPr sz="180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13564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357633" y="1887675"/>
            <a:ext cx="8431436" cy="691143"/>
          </a:xfrm>
        </p:spPr>
        <p:txBody>
          <a:bodyPr/>
          <a:lstStyle>
            <a:lvl1pPr marL="0" indent="0">
              <a:buNone/>
              <a:defRPr sz="2100" b="1"/>
            </a:lvl1pPr>
            <a:lvl2pPr>
              <a:defRPr sz="2100" b="0"/>
            </a:lvl2pPr>
            <a:lvl3pPr>
              <a:defRPr sz="1800" b="0"/>
            </a:lvl3pPr>
          </a:lstStyle>
          <a:p>
            <a:pPr lvl="0"/>
            <a:r>
              <a:rPr lang="en-US" dirty="0"/>
              <a:t>Click to add subtitle</a:t>
            </a:r>
          </a:p>
        </p:txBody>
      </p:sp>
      <p:sp>
        <p:nvSpPr>
          <p:cNvPr id="4" name="Content Placeholder"/>
          <p:cNvSpPr>
            <a:spLocks noGrp="1"/>
          </p:cNvSpPr>
          <p:nvPr>
            <p:ph sz="half" idx="2" hasCustomPrompt="1"/>
          </p:nvPr>
        </p:nvSpPr>
        <p:spPr>
          <a:xfrm>
            <a:off x="357633" y="2677888"/>
            <a:ext cx="8431436" cy="2621900"/>
          </a:xfrm>
        </p:spPr>
        <p:txBody>
          <a:bodyPr/>
          <a:lstStyle>
            <a:lvl1pPr>
              <a:spcAft>
                <a:spcPts val="600"/>
              </a:spcAft>
              <a:defRPr sz="1800" b="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357633" y="5395327"/>
            <a:ext cx="8431436" cy="731520"/>
          </a:xfrm>
        </p:spPr>
        <p:txBody>
          <a:bodyPr/>
          <a:lstStyle>
            <a:lvl1pPr marL="84535" indent="-84535">
              <a:spcBef>
                <a:spcPts val="0"/>
              </a:spcBef>
              <a:defRPr sz="675" b="0"/>
            </a:lvl1pPr>
            <a:lvl2pPr marL="252413" indent="-84535">
              <a:spcBef>
                <a:spcPts val="0"/>
              </a:spcBef>
              <a:defRPr sz="675" b="0"/>
            </a:lvl2pPr>
            <a:lvl3pPr marL="514350" indent="-126206">
              <a:spcBef>
                <a:spcPts val="0"/>
              </a:spcBef>
              <a:defRPr sz="675" b="0"/>
            </a:lvl3pPr>
            <a:lvl4pPr>
              <a:defRPr sz="675" b="0"/>
            </a:lvl4pPr>
            <a:lvl5pPr>
              <a:defRPr sz="675"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17923256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357633" y="475487"/>
            <a:ext cx="8431436" cy="1216152"/>
          </a:xfrm>
        </p:spPr>
        <p:txBody>
          <a:bodyPr/>
          <a:lstStyle>
            <a:lvl1pPr>
              <a:defRPr/>
            </a:lvl1pPr>
          </a:lstStyle>
          <a:p>
            <a:r>
              <a:rPr lang="en-US" dirty="0"/>
              <a:t>Slide Title</a:t>
            </a:r>
          </a:p>
        </p:txBody>
      </p:sp>
      <p:sp>
        <p:nvSpPr>
          <p:cNvPr id="3" name="Subtitle"/>
          <p:cNvSpPr>
            <a:spLocks noGrp="1"/>
          </p:cNvSpPr>
          <p:nvPr>
            <p:ph sz="half" idx="1" hasCustomPrompt="1"/>
          </p:nvPr>
        </p:nvSpPr>
        <p:spPr>
          <a:xfrm>
            <a:off x="357633" y="1887675"/>
            <a:ext cx="8431436" cy="691143"/>
          </a:xfrm>
        </p:spPr>
        <p:txBody>
          <a:bodyPr/>
          <a:lstStyle>
            <a:lvl1pPr marL="0" indent="0">
              <a:buNone/>
              <a:defRPr sz="2100" b="1"/>
            </a:lvl1pPr>
            <a:lvl2pPr>
              <a:defRPr sz="2100" b="0"/>
            </a:lvl2pPr>
            <a:lvl3pPr>
              <a:defRPr sz="1800" b="0"/>
            </a:lvl3pPr>
          </a:lstStyle>
          <a:p>
            <a:pPr lvl="0"/>
            <a:r>
              <a:rPr lang="en-US" dirty="0"/>
              <a:t>Click to add subtitle</a:t>
            </a:r>
          </a:p>
        </p:txBody>
      </p:sp>
      <p:sp>
        <p:nvSpPr>
          <p:cNvPr id="4" name="Content Placeholder"/>
          <p:cNvSpPr>
            <a:spLocks noGrp="1"/>
          </p:cNvSpPr>
          <p:nvPr>
            <p:ph sz="half" idx="2" hasCustomPrompt="1"/>
          </p:nvPr>
        </p:nvSpPr>
        <p:spPr>
          <a:xfrm>
            <a:off x="357633" y="2677888"/>
            <a:ext cx="8431436" cy="1505492"/>
          </a:xfrm>
        </p:spPr>
        <p:txBody>
          <a:bodyPr/>
          <a:lstStyle>
            <a:lvl1pPr>
              <a:spcAft>
                <a:spcPts val="600"/>
              </a:spcAft>
              <a:defRPr sz="1800" b="0"/>
            </a:lvl1pPr>
            <a:lvl2pPr>
              <a:spcAft>
                <a:spcPts val="600"/>
              </a:spcAft>
              <a:defRPr sz="1800" b="0"/>
            </a:lvl2pPr>
            <a:lvl3pPr>
              <a:spcAft>
                <a:spcPts val="600"/>
              </a:spcAft>
              <a:defRPr sz="18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357633" y="4310385"/>
            <a:ext cx="192243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2536866" y="4310385"/>
            <a:ext cx="192243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4711422" y="4319291"/>
            <a:ext cx="192243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6863937" y="4319291"/>
            <a:ext cx="192243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17723388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357633" y="473246"/>
            <a:ext cx="8431436" cy="1217447"/>
          </a:xfrm>
        </p:spPr>
        <p:txBody>
          <a:bodyPr/>
          <a:lstStyle>
            <a:lvl1pPr>
              <a:defRPr/>
            </a:lvl1pPr>
          </a:lstStyle>
          <a:p>
            <a:r>
              <a:rPr lang="en-US" dirty="0"/>
              <a:t>Slide Title</a:t>
            </a:r>
          </a:p>
        </p:txBody>
      </p:sp>
      <p:sp>
        <p:nvSpPr>
          <p:cNvPr id="3" name="Content Placeholder 1"/>
          <p:cNvSpPr>
            <a:spLocks noGrp="1"/>
          </p:cNvSpPr>
          <p:nvPr>
            <p:ph idx="1" hasCustomPrompt="1"/>
          </p:nvPr>
        </p:nvSpPr>
        <p:spPr>
          <a:xfrm>
            <a:off x="357633" y="1944375"/>
            <a:ext cx="1920240" cy="20116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4698431" y="1944375"/>
            <a:ext cx="1920240" cy="2011680"/>
          </a:xfrm>
        </p:spPr>
        <p:txBody>
          <a:bodyPr/>
          <a:lstStyle>
            <a:lvl1pPr marL="0" indent="0" algn="ctr">
              <a:buNone/>
              <a:defRPr/>
            </a:lvl1pPr>
          </a:lstStyle>
          <a:p>
            <a:pPr lvl="0"/>
            <a:r>
              <a:rPr lang="en-US" dirty="0"/>
              <a:t>Insert here 3</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357633" y="4128059"/>
            <a:ext cx="1920240" cy="2011680"/>
          </a:xfrm>
        </p:spPr>
        <p:txBody>
          <a:bodyPr/>
          <a:lstStyle>
            <a:lvl1pPr marL="0" indent="0" algn="ctr">
              <a:buNone/>
              <a:defRPr/>
            </a:lvl1pPr>
          </a:lstStyle>
          <a:p>
            <a:pPr lvl="0"/>
            <a:r>
              <a:rPr lang="en-US" dirty="0"/>
              <a:t>Insert here 5</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4698431" y="4136965"/>
            <a:ext cx="1920240" cy="2011680"/>
          </a:xfrm>
        </p:spPr>
        <p:txBody>
          <a:bodyPr/>
          <a:lstStyle>
            <a:lvl1pPr marL="0" indent="0" algn="ctr">
              <a:buNone/>
              <a:defRPr/>
            </a:lvl1pPr>
          </a:lstStyle>
          <a:p>
            <a:pPr lvl="0"/>
            <a:r>
              <a:rPr lang="en-US" dirty="0"/>
              <a:t>Insert here 7</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2528032" y="1944375"/>
            <a:ext cx="1920240" cy="2011680"/>
          </a:xfrm>
        </p:spPr>
        <p:txBody>
          <a:bodyPr/>
          <a:lstStyle>
            <a:lvl1pPr marL="0" indent="0" algn="ctr">
              <a:buNone/>
              <a:defRPr/>
            </a:lvl1pPr>
          </a:lstStyle>
          <a:p>
            <a:pPr lvl="0"/>
            <a:r>
              <a:rPr lang="en-US" dirty="0"/>
              <a:t>Insert here 2</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6868829" y="1944375"/>
            <a:ext cx="1920240" cy="2011680"/>
          </a:xfrm>
        </p:spPr>
        <p:txBody>
          <a:bodyPr/>
          <a:lstStyle>
            <a:lvl1pPr marL="0" indent="0" algn="ctr">
              <a:buNone/>
              <a:defRPr/>
            </a:lvl1pPr>
          </a:lstStyle>
          <a:p>
            <a:pPr lvl="0"/>
            <a:r>
              <a:rPr lang="en-US" dirty="0"/>
              <a:t>Insert here 4</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2528032" y="4136965"/>
            <a:ext cx="1920240" cy="2011680"/>
          </a:xfrm>
        </p:spPr>
        <p:txBody>
          <a:bodyPr/>
          <a:lstStyle>
            <a:lvl1pPr marL="0" indent="0" algn="ctr">
              <a:buNone/>
              <a:defRPr/>
            </a:lvl1pPr>
          </a:lstStyle>
          <a:p>
            <a:pPr lvl="0"/>
            <a:r>
              <a:rPr lang="en-US" dirty="0"/>
              <a:t>Insert here 6</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6868829" y="4136965"/>
            <a:ext cx="1920240" cy="20116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41902263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357633" y="1825628"/>
            <a:ext cx="2156968" cy="2045728"/>
          </a:xfrm>
        </p:spPr>
        <p:txBody>
          <a:bodyPr/>
          <a:lstStyle>
            <a:lvl1pPr marL="0" indent="0" algn="l">
              <a:buNone/>
              <a:defRPr/>
            </a:lvl1pPr>
            <a:lvl2pPr marL="342900" indent="0">
              <a:buNone/>
              <a:defRPr/>
            </a:lvl2pPr>
            <a:lvl3pPr marL="6858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357633" y="4132558"/>
            <a:ext cx="2156968" cy="2011680"/>
          </a:xfrm>
        </p:spPr>
        <p:txBody>
          <a:bodyPr/>
          <a:lstStyle>
            <a:lvl1pPr marL="0" indent="0" algn="l">
              <a:buNone/>
              <a:defRPr/>
            </a:lvl1pPr>
            <a:lvl2pPr marL="342900" indent="0">
              <a:buNone/>
              <a:defRPr/>
            </a:lvl2pPr>
            <a:lvl3pPr marL="685800" indent="0">
              <a:buNone/>
              <a:defRPr/>
            </a:lvl3pPr>
          </a:lstStyle>
          <a:p>
            <a:pPr lvl="0"/>
            <a:r>
              <a:rPr lang="en-US" dirty="0"/>
              <a:t>Image 2</a:t>
            </a:r>
          </a:p>
        </p:txBody>
      </p:sp>
      <p:sp>
        <p:nvSpPr>
          <p:cNvPr id="6" name="Content Placeholder">
            <a:extLst>
              <a:ext uri="{FF2B5EF4-FFF2-40B4-BE49-F238E27FC236}">
                <a16:creationId xmlns:a16="http://schemas.microsoft.com/office/drawing/2014/main" id="{82699925-C28D-42A4-9435-B913838DB715}"/>
              </a:ext>
            </a:extLst>
          </p:cNvPr>
          <p:cNvSpPr>
            <a:spLocks noGrp="1"/>
          </p:cNvSpPr>
          <p:nvPr>
            <p:ph sz="half" idx="15" hasCustomPrompt="1"/>
          </p:nvPr>
        </p:nvSpPr>
        <p:spPr>
          <a:xfrm>
            <a:off x="2718150" y="1825625"/>
            <a:ext cx="6068218" cy="4297680"/>
          </a:xfrm>
        </p:spPr>
        <p:txBody>
          <a:bodyPr/>
          <a:lstStyle>
            <a:lvl1pPr>
              <a:spcAft>
                <a:spcPts val="600"/>
              </a:spcAft>
              <a:defRPr sz="1800" b="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14166743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357633" y="1825628"/>
            <a:ext cx="2156968" cy="2045728"/>
          </a:xfrm>
        </p:spPr>
        <p:txBody>
          <a:bodyPr/>
          <a:lstStyle>
            <a:lvl1pPr marL="0" indent="0" algn="l">
              <a:buNone/>
              <a:defRPr/>
            </a:lvl1pPr>
            <a:lvl2pPr marL="342900" indent="0">
              <a:buNone/>
              <a:defRPr/>
            </a:lvl2pPr>
            <a:lvl3pPr marL="685800" indent="0">
              <a:buNone/>
              <a:defRPr/>
            </a:lvl3pPr>
          </a:lstStyle>
          <a:p>
            <a:pPr lvl="0"/>
            <a:r>
              <a:rPr lang="en-US" dirty="0"/>
              <a:t>Image 1</a:t>
            </a:r>
          </a:p>
        </p:txBody>
      </p:sp>
      <p:sp>
        <p:nvSpPr>
          <p:cNvPr id="6" name="Content Placeholder Top">
            <a:extLst>
              <a:ext uri="{FF2B5EF4-FFF2-40B4-BE49-F238E27FC236}">
                <a16:creationId xmlns:a16="http://schemas.microsoft.com/office/drawing/2014/main" id="{82699925-C28D-42A4-9435-B913838DB715}"/>
              </a:ext>
            </a:extLst>
          </p:cNvPr>
          <p:cNvSpPr>
            <a:spLocks noGrp="1"/>
          </p:cNvSpPr>
          <p:nvPr>
            <p:ph sz="half" idx="15" hasCustomPrompt="1"/>
          </p:nvPr>
        </p:nvSpPr>
        <p:spPr>
          <a:xfrm>
            <a:off x="2718150" y="1825625"/>
            <a:ext cx="6068218" cy="2048256"/>
          </a:xfrm>
        </p:spPr>
        <p:txBody>
          <a:bodyPr/>
          <a:lstStyle>
            <a:lvl1pPr>
              <a:spcAft>
                <a:spcPts val="600"/>
              </a:spcAft>
              <a:defRPr sz="1800" b="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Image Placeholder 2">
            <a:extLst>
              <a:ext uri="{FF2B5EF4-FFF2-40B4-BE49-F238E27FC236}">
                <a16:creationId xmlns:a16="http://schemas.microsoft.com/office/drawing/2014/main" id="{598D0D2B-D47C-4F3F-A261-5DF2B6A0EA37}"/>
              </a:ext>
            </a:extLst>
          </p:cNvPr>
          <p:cNvSpPr>
            <a:spLocks noGrp="1"/>
          </p:cNvSpPr>
          <p:nvPr>
            <p:ph sz="half" idx="16" hasCustomPrompt="1"/>
          </p:nvPr>
        </p:nvSpPr>
        <p:spPr>
          <a:xfrm>
            <a:off x="357633" y="4098510"/>
            <a:ext cx="2156968" cy="2045728"/>
          </a:xfrm>
        </p:spPr>
        <p:txBody>
          <a:bodyPr/>
          <a:lstStyle>
            <a:lvl1pPr marL="0" indent="0" algn="l">
              <a:buNone/>
              <a:defRPr/>
            </a:lvl1pPr>
            <a:lvl2pPr marL="342900" indent="0">
              <a:buNone/>
              <a:defRPr/>
            </a:lvl2pPr>
            <a:lvl3pPr marL="685800" indent="0">
              <a:buNone/>
              <a:defRPr/>
            </a:lvl3pPr>
          </a:lstStyle>
          <a:p>
            <a:pPr lvl="0"/>
            <a:r>
              <a:rPr lang="en-US" dirty="0"/>
              <a:t>Image 2</a:t>
            </a:r>
          </a:p>
        </p:txBody>
      </p:sp>
      <p:sp>
        <p:nvSpPr>
          <p:cNvPr id="11" name="Content Placeholder Bottom">
            <a:extLst>
              <a:ext uri="{FF2B5EF4-FFF2-40B4-BE49-F238E27FC236}">
                <a16:creationId xmlns:a16="http://schemas.microsoft.com/office/drawing/2014/main" id="{408DF721-132F-4261-B8B6-D77B769FFCCB}"/>
              </a:ext>
            </a:extLst>
          </p:cNvPr>
          <p:cNvSpPr>
            <a:spLocks noGrp="1"/>
          </p:cNvSpPr>
          <p:nvPr>
            <p:ph sz="half" idx="17" hasCustomPrompt="1"/>
          </p:nvPr>
        </p:nvSpPr>
        <p:spPr>
          <a:xfrm>
            <a:off x="2718150" y="4095982"/>
            <a:ext cx="6068218" cy="2048256"/>
          </a:xfrm>
        </p:spPr>
        <p:txBody>
          <a:bodyPr/>
          <a:lstStyle>
            <a:lvl1pPr>
              <a:spcAft>
                <a:spcPts val="600"/>
              </a:spcAft>
              <a:defRPr sz="1800" b="0"/>
            </a:lvl1pPr>
            <a:lvl2pPr>
              <a:spcAft>
                <a:spcPts val="600"/>
              </a:spcAft>
              <a:defRPr sz="1800" b="0"/>
            </a:lvl2pPr>
            <a:lvl3pPr>
              <a:spcAft>
                <a:spcPts val="600"/>
              </a:spcAft>
              <a:defRPr sz="180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285875" marR="0" lvl="3" indent="-257175" algn="l" defTabSz="685800" rtl="0" eaLnBrk="1" fontAlgn="auto" latinLnBrk="0" hangingPunct="1">
              <a:lnSpc>
                <a:spcPct val="90000"/>
              </a:lnSpc>
              <a:spcBef>
                <a:spcPts val="375"/>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6758774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357633" y="1825628"/>
            <a:ext cx="2156968" cy="1216152"/>
          </a:xfrm>
        </p:spPr>
        <p:txBody>
          <a:bodyPr/>
          <a:lstStyle>
            <a:lvl1pPr marL="0" indent="0" algn="l">
              <a:buNone/>
              <a:defRPr/>
            </a:lvl1pPr>
            <a:lvl2pPr marL="342900" indent="0">
              <a:buNone/>
              <a:defRPr/>
            </a:lvl2pPr>
            <a:lvl3pPr marL="685800" indent="0">
              <a:buNone/>
              <a:defRPr/>
            </a:lvl3pPr>
          </a:lstStyle>
          <a:p>
            <a:pPr lvl="0"/>
            <a:r>
              <a:rPr lang="en-US" dirty="0"/>
              <a:t>Image 1</a:t>
            </a:r>
          </a:p>
        </p:txBody>
      </p:sp>
      <p:sp>
        <p:nvSpPr>
          <p:cNvPr id="6" name="Content Placeholder Top">
            <a:extLst>
              <a:ext uri="{FF2B5EF4-FFF2-40B4-BE49-F238E27FC236}">
                <a16:creationId xmlns:a16="http://schemas.microsoft.com/office/drawing/2014/main" id="{82699925-C28D-42A4-9435-B913838DB715}"/>
              </a:ext>
            </a:extLst>
          </p:cNvPr>
          <p:cNvSpPr>
            <a:spLocks noGrp="1"/>
          </p:cNvSpPr>
          <p:nvPr>
            <p:ph sz="half" idx="15" hasCustomPrompt="1"/>
          </p:nvPr>
        </p:nvSpPr>
        <p:spPr>
          <a:xfrm>
            <a:off x="2718150" y="1825625"/>
            <a:ext cx="6068218" cy="121615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a:p>
            <a:pPr lvl="2"/>
            <a:r>
              <a:rPr lang="en-US" dirty="0"/>
              <a:t>Third level</a:t>
            </a:r>
          </a:p>
        </p:txBody>
      </p:sp>
      <p:sp>
        <p:nvSpPr>
          <p:cNvPr id="10" name="Image Placeholder 2">
            <a:extLst>
              <a:ext uri="{FF2B5EF4-FFF2-40B4-BE49-F238E27FC236}">
                <a16:creationId xmlns:a16="http://schemas.microsoft.com/office/drawing/2014/main" id="{598D0D2B-D47C-4F3F-A261-5DF2B6A0EA37}"/>
              </a:ext>
            </a:extLst>
          </p:cNvPr>
          <p:cNvSpPr>
            <a:spLocks noGrp="1"/>
          </p:cNvSpPr>
          <p:nvPr>
            <p:ph sz="half" idx="16" hasCustomPrompt="1"/>
          </p:nvPr>
        </p:nvSpPr>
        <p:spPr>
          <a:xfrm>
            <a:off x="357633" y="3376857"/>
            <a:ext cx="2156968" cy="1216152"/>
          </a:xfrm>
        </p:spPr>
        <p:txBody>
          <a:bodyPr/>
          <a:lstStyle>
            <a:lvl1pPr marL="0" indent="0" algn="l">
              <a:buNone/>
              <a:defRPr/>
            </a:lvl1pPr>
            <a:lvl2pPr marL="342900" indent="0">
              <a:buNone/>
              <a:defRPr/>
            </a:lvl2pPr>
            <a:lvl3pPr marL="685800" indent="0">
              <a:buNone/>
              <a:defRPr/>
            </a:lvl3pPr>
          </a:lstStyle>
          <a:p>
            <a:pPr lvl="0"/>
            <a:r>
              <a:rPr lang="en-US" dirty="0"/>
              <a:t>Image 2</a:t>
            </a:r>
          </a:p>
        </p:txBody>
      </p:sp>
      <p:sp>
        <p:nvSpPr>
          <p:cNvPr id="11" name="Content Placeholder Middle">
            <a:extLst>
              <a:ext uri="{FF2B5EF4-FFF2-40B4-BE49-F238E27FC236}">
                <a16:creationId xmlns:a16="http://schemas.microsoft.com/office/drawing/2014/main" id="{408DF721-132F-4261-B8B6-D77B769FFCCB}"/>
              </a:ext>
            </a:extLst>
          </p:cNvPr>
          <p:cNvSpPr>
            <a:spLocks noGrp="1"/>
          </p:cNvSpPr>
          <p:nvPr>
            <p:ph sz="half" idx="17" hasCustomPrompt="1"/>
          </p:nvPr>
        </p:nvSpPr>
        <p:spPr>
          <a:xfrm>
            <a:off x="2718150" y="3376856"/>
            <a:ext cx="6068218" cy="121615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a:p>
            <a:pPr lvl="2"/>
            <a:r>
              <a:rPr lang="en-US" dirty="0"/>
              <a:t>Third level</a:t>
            </a:r>
          </a:p>
        </p:txBody>
      </p:sp>
      <p:sp>
        <p:nvSpPr>
          <p:cNvPr id="9" name="Image Placeholder 3">
            <a:extLst>
              <a:ext uri="{FF2B5EF4-FFF2-40B4-BE49-F238E27FC236}">
                <a16:creationId xmlns:a16="http://schemas.microsoft.com/office/drawing/2014/main" id="{8DA1EBC1-AABD-4A3C-B85E-D25FBFB92747}"/>
              </a:ext>
            </a:extLst>
          </p:cNvPr>
          <p:cNvSpPr>
            <a:spLocks noGrp="1"/>
          </p:cNvSpPr>
          <p:nvPr>
            <p:ph sz="half" idx="18" hasCustomPrompt="1"/>
          </p:nvPr>
        </p:nvSpPr>
        <p:spPr>
          <a:xfrm>
            <a:off x="357633" y="4928086"/>
            <a:ext cx="2156968" cy="1216152"/>
          </a:xfrm>
        </p:spPr>
        <p:txBody>
          <a:bodyPr/>
          <a:lstStyle>
            <a:lvl1pPr marL="0" indent="0" algn="l">
              <a:buNone/>
              <a:defRPr/>
            </a:lvl1pPr>
            <a:lvl2pPr marL="342900" indent="0">
              <a:buNone/>
              <a:defRPr/>
            </a:lvl2pPr>
            <a:lvl3pPr marL="685800" indent="0">
              <a:buNone/>
              <a:defRPr/>
            </a:lvl3pPr>
          </a:lstStyle>
          <a:p>
            <a:pPr lvl="0"/>
            <a:r>
              <a:rPr lang="en-US" dirty="0"/>
              <a:t>Image 3</a:t>
            </a:r>
          </a:p>
        </p:txBody>
      </p:sp>
      <p:sp>
        <p:nvSpPr>
          <p:cNvPr id="12" name="Content Placeholder Bottom">
            <a:extLst>
              <a:ext uri="{FF2B5EF4-FFF2-40B4-BE49-F238E27FC236}">
                <a16:creationId xmlns:a16="http://schemas.microsoft.com/office/drawing/2014/main" id="{D60A47C8-706A-4FBB-9B14-84BE0D7C2DE0}"/>
              </a:ext>
            </a:extLst>
          </p:cNvPr>
          <p:cNvSpPr>
            <a:spLocks noGrp="1"/>
          </p:cNvSpPr>
          <p:nvPr>
            <p:ph sz="half" idx="19" hasCustomPrompt="1"/>
          </p:nvPr>
        </p:nvSpPr>
        <p:spPr>
          <a:xfrm>
            <a:off x="2718150" y="4928086"/>
            <a:ext cx="6068218" cy="121615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17498240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_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357633" y="1825628"/>
            <a:ext cx="2156968" cy="896112"/>
          </a:xfrm>
        </p:spPr>
        <p:txBody>
          <a:bodyPr/>
          <a:lstStyle>
            <a:lvl1pPr marL="0" indent="0" algn="l">
              <a:buNone/>
              <a:defRPr/>
            </a:lvl1pPr>
            <a:lvl2pPr marL="342900" indent="0">
              <a:buNone/>
              <a:defRPr/>
            </a:lvl2pPr>
            <a:lvl3pPr marL="685800" indent="0">
              <a:buNone/>
              <a:defRPr/>
            </a:lvl3pPr>
          </a:lstStyle>
          <a:p>
            <a:pPr lvl="0"/>
            <a:r>
              <a:rPr lang="en-US" dirty="0"/>
              <a:t>Image 1</a:t>
            </a:r>
          </a:p>
        </p:txBody>
      </p:sp>
      <p:sp>
        <p:nvSpPr>
          <p:cNvPr id="6" name="Content Placeholder 1">
            <a:extLst>
              <a:ext uri="{FF2B5EF4-FFF2-40B4-BE49-F238E27FC236}">
                <a16:creationId xmlns:a16="http://schemas.microsoft.com/office/drawing/2014/main" id="{82699925-C28D-42A4-9435-B913838DB715}"/>
              </a:ext>
            </a:extLst>
          </p:cNvPr>
          <p:cNvSpPr>
            <a:spLocks noGrp="1"/>
          </p:cNvSpPr>
          <p:nvPr>
            <p:ph sz="half" idx="15" hasCustomPrompt="1"/>
          </p:nvPr>
        </p:nvSpPr>
        <p:spPr>
          <a:xfrm>
            <a:off x="2718150" y="1825625"/>
            <a:ext cx="6068218" cy="89611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598D0D2B-D47C-4F3F-A261-5DF2B6A0EA37}"/>
              </a:ext>
            </a:extLst>
          </p:cNvPr>
          <p:cNvSpPr>
            <a:spLocks noGrp="1"/>
          </p:cNvSpPr>
          <p:nvPr>
            <p:ph sz="half" idx="16" hasCustomPrompt="1"/>
          </p:nvPr>
        </p:nvSpPr>
        <p:spPr>
          <a:xfrm>
            <a:off x="357633" y="2966461"/>
            <a:ext cx="2156968" cy="896112"/>
          </a:xfrm>
        </p:spPr>
        <p:txBody>
          <a:bodyPr/>
          <a:lstStyle>
            <a:lvl1pPr marL="0" indent="0" algn="l">
              <a:buNone/>
              <a:defRPr/>
            </a:lvl1pPr>
            <a:lvl2pPr marL="342900" indent="0">
              <a:buNone/>
              <a:defRPr/>
            </a:lvl2pPr>
            <a:lvl3pPr marL="6858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408DF721-132F-4261-B8B6-D77B769FFCCB}"/>
              </a:ext>
            </a:extLst>
          </p:cNvPr>
          <p:cNvSpPr>
            <a:spLocks noGrp="1"/>
          </p:cNvSpPr>
          <p:nvPr>
            <p:ph sz="half" idx="17" hasCustomPrompt="1"/>
          </p:nvPr>
        </p:nvSpPr>
        <p:spPr>
          <a:xfrm>
            <a:off x="2718150" y="2966459"/>
            <a:ext cx="6068218" cy="89611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p:txBody>
      </p:sp>
      <p:sp>
        <p:nvSpPr>
          <p:cNvPr id="9" name="Image Placeholder 2">
            <a:extLst>
              <a:ext uri="{FF2B5EF4-FFF2-40B4-BE49-F238E27FC236}">
                <a16:creationId xmlns:a16="http://schemas.microsoft.com/office/drawing/2014/main" id="{8DA1EBC1-AABD-4A3C-B85E-D25FBFB92747}"/>
              </a:ext>
            </a:extLst>
          </p:cNvPr>
          <p:cNvSpPr>
            <a:spLocks noGrp="1"/>
          </p:cNvSpPr>
          <p:nvPr>
            <p:ph sz="half" idx="18" hasCustomPrompt="1"/>
          </p:nvPr>
        </p:nvSpPr>
        <p:spPr>
          <a:xfrm>
            <a:off x="357633" y="4107294"/>
            <a:ext cx="2156968" cy="896112"/>
          </a:xfrm>
        </p:spPr>
        <p:txBody>
          <a:bodyPr/>
          <a:lstStyle>
            <a:lvl1pPr marL="0" indent="0" algn="l">
              <a:buNone/>
              <a:defRPr/>
            </a:lvl1pPr>
            <a:lvl2pPr marL="342900" indent="0">
              <a:buNone/>
              <a:defRPr/>
            </a:lvl2pPr>
            <a:lvl3pPr marL="685800" indent="0">
              <a:buNone/>
              <a:defRPr/>
            </a:lvl3pPr>
          </a:lstStyle>
          <a:p>
            <a:pPr lvl="0"/>
            <a:r>
              <a:rPr lang="en-US" dirty="0"/>
              <a:t>Image 3</a:t>
            </a:r>
          </a:p>
        </p:txBody>
      </p:sp>
      <p:sp>
        <p:nvSpPr>
          <p:cNvPr id="12" name="Content Placeholder 3">
            <a:extLst>
              <a:ext uri="{FF2B5EF4-FFF2-40B4-BE49-F238E27FC236}">
                <a16:creationId xmlns:a16="http://schemas.microsoft.com/office/drawing/2014/main" id="{D60A47C8-706A-4FBB-9B14-84BE0D7C2DE0}"/>
              </a:ext>
            </a:extLst>
          </p:cNvPr>
          <p:cNvSpPr>
            <a:spLocks noGrp="1"/>
          </p:cNvSpPr>
          <p:nvPr>
            <p:ph sz="half" idx="19" hasCustomPrompt="1"/>
          </p:nvPr>
        </p:nvSpPr>
        <p:spPr>
          <a:xfrm>
            <a:off x="2718150" y="4107293"/>
            <a:ext cx="6068218" cy="89611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p:txBody>
      </p:sp>
      <p:sp>
        <p:nvSpPr>
          <p:cNvPr id="13" name="Image Placeholder 2">
            <a:extLst>
              <a:ext uri="{FF2B5EF4-FFF2-40B4-BE49-F238E27FC236}">
                <a16:creationId xmlns:a16="http://schemas.microsoft.com/office/drawing/2014/main" id="{F5206ACB-D236-4F32-AABC-1654BEC02660}"/>
              </a:ext>
            </a:extLst>
          </p:cNvPr>
          <p:cNvSpPr>
            <a:spLocks noGrp="1"/>
          </p:cNvSpPr>
          <p:nvPr>
            <p:ph sz="half" idx="20" hasCustomPrompt="1"/>
          </p:nvPr>
        </p:nvSpPr>
        <p:spPr>
          <a:xfrm>
            <a:off x="357633" y="5248126"/>
            <a:ext cx="2156968" cy="896112"/>
          </a:xfrm>
        </p:spPr>
        <p:txBody>
          <a:bodyPr/>
          <a:lstStyle>
            <a:lvl1pPr marL="0" indent="0" algn="l">
              <a:buNone/>
              <a:defRPr/>
            </a:lvl1pPr>
            <a:lvl2pPr marL="342900" indent="0">
              <a:buNone/>
              <a:defRPr/>
            </a:lvl2pPr>
            <a:lvl3pPr marL="685800" indent="0">
              <a:buNone/>
              <a:defRPr/>
            </a:lvl3pPr>
          </a:lstStyle>
          <a:p>
            <a:pPr lvl="0"/>
            <a:r>
              <a:rPr lang="en-US" dirty="0"/>
              <a:t>Image 3</a:t>
            </a:r>
          </a:p>
        </p:txBody>
      </p:sp>
      <p:sp>
        <p:nvSpPr>
          <p:cNvPr id="14" name="Content Placeholder 4">
            <a:extLst>
              <a:ext uri="{FF2B5EF4-FFF2-40B4-BE49-F238E27FC236}">
                <a16:creationId xmlns:a16="http://schemas.microsoft.com/office/drawing/2014/main" id="{70D58FEC-373C-4D8F-A6D3-F7AFE40BCBC7}"/>
              </a:ext>
            </a:extLst>
          </p:cNvPr>
          <p:cNvSpPr>
            <a:spLocks noGrp="1"/>
          </p:cNvSpPr>
          <p:nvPr>
            <p:ph sz="half" idx="21" hasCustomPrompt="1"/>
          </p:nvPr>
        </p:nvSpPr>
        <p:spPr>
          <a:xfrm>
            <a:off x="2718150" y="5248126"/>
            <a:ext cx="6068218" cy="896112"/>
          </a:xfrm>
        </p:spPr>
        <p:txBody>
          <a:bodyPr/>
          <a:lstStyle>
            <a:lvl1pPr>
              <a:spcAft>
                <a:spcPts val="600"/>
              </a:spcAft>
              <a:defRPr sz="1350" b="0"/>
            </a:lvl1pPr>
            <a:lvl2pPr>
              <a:spcAft>
                <a:spcPts val="600"/>
              </a:spcAft>
              <a:defRPr sz="1350" b="0"/>
            </a:lvl2pPr>
            <a:lvl3pPr>
              <a:spcAft>
                <a:spcPts val="600"/>
              </a:spcAft>
              <a:defRPr sz="1350" b="0"/>
            </a:lvl3pPr>
            <a:lvl4pPr marL="1028700" marR="0" indent="0" algn="l" defTabSz="685800" rtl="0" eaLnBrk="1" fontAlgn="auto" latinLnBrk="0" hangingPunct="1">
              <a:lnSpc>
                <a:spcPct val="90000"/>
              </a:lnSpc>
              <a:spcBef>
                <a:spcPts val="375"/>
              </a:spcBef>
              <a:spcAft>
                <a:spcPts val="0"/>
              </a:spcAft>
              <a:buClrTx/>
              <a:buSzPct val="100000"/>
              <a:buFont typeface="Arial" panose="020B0604020202020204" pitchFamily="34" charset="0"/>
              <a:buNone/>
              <a:tabLst/>
              <a:defRPr sz="1350"/>
            </a:lvl4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1649608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3.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image" Target="../media/image3.png"/><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355009-70F6-345A-132A-58DF295E9C2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A563C62-7BC6-EEDF-9BEC-4B0D3A92ADC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956E4D-6B68-39D6-7EE4-9FCCA819246E}"/>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dirty="0"/>
          </a:p>
        </p:txBody>
      </p:sp>
      <p:sp>
        <p:nvSpPr>
          <p:cNvPr id="5" name="Footer Placeholder 4">
            <a:extLst>
              <a:ext uri="{FF2B5EF4-FFF2-40B4-BE49-F238E27FC236}">
                <a16:creationId xmlns:a16="http://schemas.microsoft.com/office/drawing/2014/main" id="{426FCE08-42CA-FCFC-ACF9-65D65B7ED16D}"/>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dirty="0"/>
          </a:p>
        </p:txBody>
      </p:sp>
      <p:sp>
        <p:nvSpPr>
          <p:cNvPr id="6" name="Slide Number Placeholder 5">
            <a:extLst>
              <a:ext uri="{FF2B5EF4-FFF2-40B4-BE49-F238E27FC236}">
                <a16:creationId xmlns:a16="http://schemas.microsoft.com/office/drawing/2014/main" id="{DE09E486-CEE8-489E-5A48-89157A2E83F7}"/>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79B0167D-6490-4BBB-BA2A-81BDB0B85D3F}" type="slidenum">
              <a:rPr lang="en-US" smtClean="0"/>
              <a:pPr>
                <a:defRPr/>
              </a:pPr>
              <a:t>‹#›</a:t>
            </a:fld>
            <a:endParaRPr lang="en-US" dirty="0"/>
          </a:p>
        </p:txBody>
      </p:sp>
      <p:pic>
        <p:nvPicPr>
          <p:cNvPr id="7" name="Picture 6">
            <a:extLst>
              <a:ext uri="{FF2B5EF4-FFF2-40B4-BE49-F238E27FC236}">
                <a16:creationId xmlns:a16="http://schemas.microsoft.com/office/drawing/2014/main" id="{93829447-14B4-5F88-BA07-CEF391FEC28C}"/>
              </a:ext>
            </a:extLst>
          </p:cNvPr>
          <p:cNvPicPr>
            <a:picLocks noChangeAspect="1"/>
          </p:cNvPicPr>
          <p:nvPr userDrawn="1"/>
        </p:nvPicPr>
        <p:blipFill rotWithShape="1">
          <a:blip r:embed="rId20">
            <a:extLst>
              <a:ext uri="{28A0092B-C50C-407E-A947-70E740481C1C}">
                <a14:useLocalDpi xmlns:a14="http://schemas.microsoft.com/office/drawing/2010/main" val="0"/>
              </a:ext>
            </a:extLst>
          </a:blip>
          <a:srcRect t="20689" r="84626" b="20897"/>
          <a:stretch/>
        </p:blipFill>
        <p:spPr>
          <a:xfrm>
            <a:off x="-108639" y="6255244"/>
            <a:ext cx="625474" cy="582091"/>
          </a:xfrm>
          <a:prstGeom prst="rect">
            <a:avLst/>
          </a:prstGeom>
        </p:spPr>
      </p:pic>
    </p:spTree>
    <p:extLst>
      <p:ext uri="{BB962C8B-B14F-4D97-AF65-F5344CB8AC3E}">
        <p14:creationId xmlns:p14="http://schemas.microsoft.com/office/powerpoint/2010/main" val="3198361821"/>
      </p:ext>
    </p:extLst>
  </p:cSld>
  <p:clrMap bg1="lt1" tx1="dk1" bg2="lt2" tx2="dk2" accent1="accent1" accent2="accent2" accent3="accent3" accent4="accent4" accent5="accent5" accent6="accent6" hlink="hlink" folHlink="folHlink"/>
  <p:sldLayoutIdLst>
    <p:sldLayoutId id="2147484283" r:id="rId1"/>
    <p:sldLayoutId id="2147484284" r:id="rId2"/>
    <p:sldLayoutId id="2147484325" r:id="rId3"/>
    <p:sldLayoutId id="2147484324" r:id="rId4"/>
    <p:sldLayoutId id="2147484310" r:id="rId5"/>
    <p:sldLayoutId id="2147484285" r:id="rId6"/>
    <p:sldLayoutId id="2147484286" r:id="rId7"/>
    <p:sldLayoutId id="2147484287" r:id="rId8"/>
    <p:sldLayoutId id="2147484288" r:id="rId9"/>
    <p:sldLayoutId id="2147484289" r:id="rId10"/>
    <p:sldLayoutId id="2147484290" r:id="rId11"/>
    <p:sldLayoutId id="2147484291" r:id="rId12"/>
    <p:sldLayoutId id="2147484292" r:id="rId13"/>
    <p:sldLayoutId id="2147484293" r:id="rId14"/>
    <p:sldLayoutId id="2147484294" r:id="rId15"/>
    <p:sldLayoutId id="2147484311" r:id="rId16"/>
    <p:sldLayoutId id="2147484338" r:id="rId17"/>
    <p:sldLayoutId id="2147484339" r:id="rId18"/>
  </p:sldLayoutIdLst>
  <p:hf hdr="0" ftr="0" dt="0"/>
  <p:txStyles>
    <p:titleStyle>
      <a:lvl1pPr algn="l" defTabSz="6858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3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CEFC71-C8A9-B81A-43CB-75D11103B30C}"/>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9F5D6B-F134-1047-FB0E-180952CF3C7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93DC80-2BE9-FDC3-7D47-BE10C9E1918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D4390-1509-4695-ACFC-127630D1387C}" type="datetimeFigureOut">
              <a:rPr lang="en-US" smtClean="0"/>
              <a:t>1/22/2024</a:t>
            </a:fld>
            <a:endParaRPr lang="en-US" dirty="0"/>
          </a:p>
        </p:txBody>
      </p:sp>
      <p:sp>
        <p:nvSpPr>
          <p:cNvPr id="5" name="Footer Placeholder 4">
            <a:extLst>
              <a:ext uri="{FF2B5EF4-FFF2-40B4-BE49-F238E27FC236}">
                <a16:creationId xmlns:a16="http://schemas.microsoft.com/office/drawing/2014/main" id="{711669F1-C42A-ECEE-5C8A-4C0FF65DF590}"/>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AF7FB17-D353-FB10-1CB2-732D9E92130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C3788-822E-423E-B878-6B9A28671C4C}" type="slidenum">
              <a:rPr lang="en-US" smtClean="0"/>
              <a:t>‹#›</a:t>
            </a:fld>
            <a:endParaRPr lang="en-US" dirty="0"/>
          </a:p>
        </p:txBody>
      </p:sp>
    </p:spTree>
    <p:extLst>
      <p:ext uri="{BB962C8B-B14F-4D97-AF65-F5344CB8AC3E}">
        <p14:creationId xmlns:p14="http://schemas.microsoft.com/office/powerpoint/2010/main" val="661477558"/>
      </p:ext>
    </p:extLst>
  </p:cSld>
  <p:clrMap bg1="lt1" tx1="dk1" bg2="lt2" tx2="dk2" accent1="accent1" accent2="accent2" accent3="accent3" accent4="accent4" accent5="accent5" accent6="accent6" hlink="hlink" folHlink="folHlink"/>
  <p:sldLayoutIdLst>
    <p:sldLayoutId id="2147484327" r:id="rId1"/>
    <p:sldLayoutId id="2147484328" r:id="rId2"/>
    <p:sldLayoutId id="2147484329" r:id="rId3"/>
    <p:sldLayoutId id="2147484330" r:id="rId4"/>
    <p:sldLayoutId id="2147484331" r:id="rId5"/>
    <p:sldLayoutId id="2147484332" r:id="rId6"/>
    <p:sldLayoutId id="2147484333" r:id="rId7"/>
    <p:sldLayoutId id="2147484334" r:id="rId8"/>
    <p:sldLayoutId id="2147484335" r:id="rId9"/>
    <p:sldLayoutId id="2147484336" r:id="rId10"/>
    <p:sldLayoutId id="21474843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6B8859-1B0C-C182-79E4-F8E97656E21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7BD3AC-3679-C6B6-7241-0E2C85713F1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197FCF-D5AE-C8CB-73EF-1B2F35122C7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BE285D-EB1B-4FF0-AD02-ECE675BD5D3A}" type="datetimeFigureOut">
              <a:rPr lang="en-US" smtClean="0"/>
              <a:t>1/22/2024</a:t>
            </a:fld>
            <a:endParaRPr lang="en-US" dirty="0"/>
          </a:p>
        </p:txBody>
      </p:sp>
      <p:sp>
        <p:nvSpPr>
          <p:cNvPr id="5" name="Footer Placeholder 4">
            <a:extLst>
              <a:ext uri="{FF2B5EF4-FFF2-40B4-BE49-F238E27FC236}">
                <a16:creationId xmlns:a16="http://schemas.microsoft.com/office/drawing/2014/main" id="{32E43694-C662-AE74-B796-CF321FB231C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0C5B7A0-76F4-89A5-B1C8-CA51111EB11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4C4DFF-B2E1-4C7C-8DC0-599B5AD253F8}" type="slidenum">
              <a:rPr lang="en-US" smtClean="0"/>
              <a:t>‹#›</a:t>
            </a:fld>
            <a:endParaRPr lang="en-US" dirty="0"/>
          </a:p>
        </p:txBody>
      </p:sp>
    </p:spTree>
    <p:extLst>
      <p:ext uri="{BB962C8B-B14F-4D97-AF65-F5344CB8AC3E}">
        <p14:creationId xmlns:p14="http://schemas.microsoft.com/office/powerpoint/2010/main" val="1306882493"/>
      </p:ext>
    </p:extLst>
  </p:cSld>
  <p:clrMap bg1="lt1" tx1="dk1" bg2="lt2" tx2="dk2" accent1="accent1" accent2="accent2" accent3="accent3" accent4="accent4" accent5="accent5" accent6="accent6" hlink="hlink" folHlink="folHlink"/>
  <p:sldLayoutIdLst>
    <p:sldLayoutId id="2147484313" r:id="rId1"/>
    <p:sldLayoutId id="2147484314" r:id="rId2"/>
    <p:sldLayoutId id="2147484315" r:id="rId3"/>
    <p:sldLayoutId id="2147484316" r:id="rId4"/>
    <p:sldLayoutId id="2147484317" r:id="rId5"/>
    <p:sldLayoutId id="2147484318" r:id="rId6"/>
    <p:sldLayoutId id="2147484319" r:id="rId7"/>
    <p:sldLayoutId id="2147484320" r:id="rId8"/>
    <p:sldLayoutId id="2147484321" r:id="rId9"/>
    <p:sldLayoutId id="2147484322" r:id="rId10"/>
    <p:sldLayoutId id="214748432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176963"/>
            <a:ext cx="9144000" cy="6810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Placeholder"/>
          <p:cNvSpPr>
            <a:spLocks noGrp="1"/>
          </p:cNvSpPr>
          <p:nvPr>
            <p:ph type="title"/>
          </p:nvPr>
        </p:nvSpPr>
        <p:spPr>
          <a:xfrm>
            <a:off x="357633" y="473246"/>
            <a:ext cx="8431436"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357633" y="1825625"/>
            <a:ext cx="8431436" cy="4297680"/>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1577340" y="6314137"/>
            <a:ext cx="6720840" cy="346249"/>
          </a:xfrm>
          <a:prstGeom prst="rect">
            <a:avLst/>
          </a:prstGeom>
          <a:noFill/>
        </p:spPr>
        <p:txBody>
          <a:bodyPr wrap="square" rtlCol="0">
            <a:spAutoFit/>
          </a:bodyPr>
          <a:lstStyle/>
          <a:p>
            <a:r>
              <a:rPr lang="en-US" sz="825" dirty="0">
                <a:solidFill>
                  <a:schemeClr val="bg1"/>
                </a:solidFill>
                <a:latin typeface="Work Sans" pitchFamily="2" charset="0"/>
              </a:rPr>
              <a:t>Brigham &amp; Ehrhardt, Financial Management: Theory &amp; Practice, 17th Edition. © 2024 Cengage Learning, Inc. All Rights Reserved. May not be scanned, copied or duplicated, or posted to a publicly accessible website, in whole or in part.</a:t>
            </a:r>
          </a:p>
        </p:txBody>
      </p:sp>
      <p:pic>
        <p:nvPicPr>
          <p:cNvPr id="14" name="Picture 13">
            <a:extLst>
              <a:ext uri="{FF2B5EF4-FFF2-40B4-BE49-F238E27FC236}">
                <a16:creationId xmlns:a16="http://schemas.microsoft.com/office/drawing/2014/main" id="{E7C5765A-7DA4-4F63-BBF6-FDB000C6FC14}"/>
              </a:ext>
              <a:ext uri="{C183D7F6-B498-43B3-948B-1728B52AA6E4}">
                <adec:decorative xmlns:adec="http://schemas.microsoft.com/office/drawing/2017/decorative" val="1"/>
              </a:ext>
            </a:extLst>
          </p:cNvPr>
          <p:cNvPicPr>
            <a:picLocks noChangeAspect="1"/>
          </p:cNvPicPr>
          <p:nvPr userDrawn="1"/>
        </p:nvPicPr>
        <p:blipFill>
          <a:blip r:embed="rId15"/>
          <a:stretch>
            <a:fillRect/>
          </a:stretch>
        </p:blipFill>
        <p:spPr>
          <a:xfrm>
            <a:off x="137316" y="6223886"/>
            <a:ext cx="1365211" cy="610675"/>
          </a:xfrm>
          <a:prstGeom prst="rect">
            <a:avLst/>
          </a:prstGeom>
        </p:spPr>
      </p:pic>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8311642" y="6449054"/>
            <a:ext cx="550718" cy="365760"/>
          </a:xfrm>
          <a:prstGeom prst="rect">
            <a:avLst/>
          </a:prstGeom>
        </p:spPr>
        <p:txBody>
          <a:bodyPr vert="horz" lIns="68580" tIns="34290" rIns="68580" bIns="3429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825" smtClean="0">
                <a:solidFill>
                  <a:schemeClr val="bg1"/>
                </a:solidFill>
                <a:latin typeface="+mn-lt"/>
              </a:rPr>
              <a:pPr/>
              <a:t>‹#›</a:t>
            </a:fld>
            <a:endParaRPr lang="en-US" sz="825" dirty="0">
              <a:solidFill>
                <a:schemeClr val="bg1"/>
              </a:solidFill>
              <a:latin typeface="+mn-lt"/>
            </a:endParaRPr>
          </a:p>
        </p:txBody>
      </p:sp>
    </p:spTree>
    <p:custDataLst>
      <p:tags r:id="rId14"/>
    </p:custDataLst>
    <p:extLst>
      <p:ext uri="{BB962C8B-B14F-4D97-AF65-F5344CB8AC3E}">
        <p14:creationId xmlns:p14="http://schemas.microsoft.com/office/powerpoint/2010/main" val="331208463"/>
      </p:ext>
    </p:extLst>
  </p:cSld>
  <p:clrMap bg1="lt1" tx1="dk1" bg2="lt2" tx2="dk2" accent1="accent1" accent2="accent2" accent3="accent3" accent4="accent4" accent5="accent5" accent6="accent6" hlink="hlink" folHlink="folHlink"/>
  <p:sldLayoutIdLst>
    <p:sldLayoutId id="2147484296" r:id="rId1"/>
    <p:sldLayoutId id="2147484297" r:id="rId2"/>
    <p:sldLayoutId id="2147484298" r:id="rId3"/>
    <p:sldLayoutId id="2147484299" r:id="rId4"/>
    <p:sldLayoutId id="2147484300" r:id="rId5"/>
    <p:sldLayoutId id="2147484301" r:id="rId6"/>
    <p:sldLayoutId id="2147484302" r:id="rId7"/>
    <p:sldLayoutId id="2147484303" r:id="rId8"/>
    <p:sldLayoutId id="2147484304" r:id="rId9"/>
    <p:sldLayoutId id="2147484305" r:id="rId10"/>
    <p:sldLayoutId id="2147484306" r:id="rId11"/>
    <p:sldLayoutId id="2147484307" r:id="rId12"/>
  </p:sldLayoutIdLst>
  <p:hf hdr="0" ftr="0" dt="0"/>
  <p:txStyles>
    <p:titleStyle>
      <a:lvl1pPr algn="ctr" defTabSz="6858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171450" indent="-171450" algn="l" defTabSz="685800" rtl="0" eaLnBrk="1" latinLnBrk="0" hangingPunct="1">
        <a:lnSpc>
          <a:spcPct val="100000"/>
        </a:lnSpc>
        <a:spcBef>
          <a:spcPts val="750"/>
        </a:spcBef>
        <a:spcAft>
          <a:spcPts val="600"/>
        </a:spcAft>
        <a:buClr>
          <a:schemeClr val="tx1"/>
        </a:buClr>
        <a:buFont typeface="Arial" panose="020B0604020202020204" pitchFamily="34" charset="0"/>
        <a:buChar char="•"/>
        <a:defRPr sz="1800" b="0" kern="1200">
          <a:solidFill>
            <a:schemeClr val="tx1"/>
          </a:solidFill>
          <a:latin typeface="+mn-lt"/>
          <a:ea typeface="+mn-ea"/>
          <a:cs typeface="+mn-cs"/>
        </a:defRPr>
      </a:lvl1pPr>
      <a:lvl2pPr marL="514350" indent="-171450" algn="l" defTabSz="685800" rtl="0" eaLnBrk="1" latinLnBrk="0" hangingPunct="1">
        <a:lnSpc>
          <a:spcPct val="100000"/>
        </a:lnSpc>
        <a:spcBef>
          <a:spcPts val="375"/>
        </a:spcBef>
        <a:spcAft>
          <a:spcPts val="600"/>
        </a:spcAft>
        <a:buClr>
          <a:schemeClr val="tx1"/>
        </a:buClr>
        <a:buFont typeface="Arial" panose="020B0604020202020204" pitchFamily="34" charset="0"/>
        <a:buChar char="•"/>
        <a:defRPr sz="1800" b="0" kern="1200">
          <a:solidFill>
            <a:schemeClr val="tx1"/>
          </a:solidFill>
          <a:latin typeface="+mn-lt"/>
          <a:ea typeface="+mn-ea"/>
          <a:cs typeface="+mn-cs"/>
        </a:defRPr>
      </a:lvl2pPr>
      <a:lvl3pPr marL="857250" indent="-171450" algn="l" defTabSz="685800" rtl="0" eaLnBrk="1" latinLnBrk="0" hangingPunct="1">
        <a:lnSpc>
          <a:spcPct val="100000"/>
        </a:lnSpc>
        <a:spcBef>
          <a:spcPts val="375"/>
        </a:spcBef>
        <a:spcAft>
          <a:spcPts val="600"/>
        </a:spcAft>
        <a:buClr>
          <a:schemeClr val="tx1"/>
        </a:buClr>
        <a:buSzPct val="80000"/>
        <a:buFont typeface="Arial" panose="020B0604020202020204" pitchFamily="34" charset="0"/>
        <a:buChar char="•"/>
        <a:defRPr sz="1800" b="0" kern="1200">
          <a:solidFill>
            <a:schemeClr val="tx1"/>
          </a:solidFill>
          <a:latin typeface="+mn-lt"/>
          <a:ea typeface="+mn-ea"/>
          <a:cs typeface="+mn-cs"/>
        </a:defRPr>
      </a:lvl3pPr>
      <a:lvl4pPr marL="1285875" indent="-257175" algn="l" defTabSz="685800" rtl="0" eaLnBrk="1" latinLnBrk="0" hangingPunct="1">
        <a:lnSpc>
          <a:spcPct val="90000"/>
        </a:lnSpc>
        <a:spcBef>
          <a:spcPts val="375"/>
        </a:spcBef>
        <a:buClr>
          <a:schemeClr val="tx1"/>
        </a:buClr>
        <a:buSzPct val="100000"/>
        <a:buFont typeface="Arial" panose="020B0604020202020204" pitchFamily="34" charset="0"/>
        <a:buChar char="•"/>
        <a:defRPr sz="1800" b="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2400" b="1"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6"/>
          <p:cNvSpPr>
            <a:spLocks noGrp="1" noChangeArrowheads="1"/>
          </p:cNvSpPr>
          <p:nvPr>
            <p:ph type="sldNum" sz="quarter" idx="12"/>
          </p:nvPr>
        </p:nvSpPr>
        <p:spPr/>
        <p:txBody>
          <a:bodyPr/>
          <a:lstStyle/>
          <a:p>
            <a:pPr>
              <a:defRPr/>
            </a:pPr>
            <a:fld id="{C3068572-9CDA-4EE4-9820-6FAE7FB618BE}" type="slidenum">
              <a:rPr lang="en-US"/>
              <a:pPr>
                <a:defRPr/>
              </a:pPr>
              <a:t>1</a:t>
            </a:fld>
            <a:endParaRPr lang="en-US"/>
          </a:p>
        </p:txBody>
      </p:sp>
      <p:sp>
        <p:nvSpPr>
          <p:cNvPr id="18434" name="Rectangle 6"/>
          <p:cNvSpPr>
            <a:spLocks noGrp="1" noChangeArrowheads="1"/>
          </p:cNvSpPr>
          <p:nvPr>
            <p:ph type="ctrTitle"/>
          </p:nvPr>
        </p:nvSpPr>
        <p:spPr/>
        <p:txBody>
          <a:bodyPr/>
          <a:lstStyle/>
          <a:p>
            <a:pPr eaLnBrk="1" hangingPunct="1"/>
            <a:r>
              <a:rPr lang="en-US"/>
              <a:t>CHAPTER 3</a:t>
            </a:r>
          </a:p>
        </p:txBody>
      </p:sp>
      <p:sp>
        <p:nvSpPr>
          <p:cNvPr id="18435" name="Rectangle 7"/>
          <p:cNvSpPr>
            <a:spLocks noGrp="1" noChangeArrowheads="1"/>
          </p:cNvSpPr>
          <p:nvPr>
            <p:ph type="subTitle" idx="1"/>
          </p:nvPr>
        </p:nvSpPr>
        <p:spPr/>
        <p:txBody>
          <a:bodyPr/>
          <a:lstStyle/>
          <a:p>
            <a:pPr eaLnBrk="1" hangingPunct="1"/>
            <a:r>
              <a:rPr lang="en-US"/>
              <a:t>Analysis of Financial Statements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B35CDAC-821B-4674-B3D8-2F63CDD4C82A}" type="slidenum">
              <a:rPr lang="en-US"/>
              <a:pPr>
                <a:defRPr/>
              </a:pPr>
              <a:t>2</a:t>
            </a:fld>
            <a:endParaRPr lang="en-US"/>
          </a:p>
        </p:txBody>
      </p:sp>
      <p:sp>
        <p:nvSpPr>
          <p:cNvPr id="19458" name="Rectangle 4"/>
          <p:cNvSpPr>
            <a:spLocks noGrp="1" noChangeArrowheads="1"/>
          </p:cNvSpPr>
          <p:nvPr>
            <p:ph type="title"/>
          </p:nvPr>
        </p:nvSpPr>
        <p:spPr/>
        <p:txBody>
          <a:bodyPr/>
          <a:lstStyle/>
          <a:p>
            <a:pPr eaLnBrk="1" hangingPunct="1"/>
            <a:r>
              <a:rPr lang="en-US"/>
              <a:t>Topics in Chapter</a:t>
            </a:r>
          </a:p>
        </p:txBody>
      </p:sp>
      <p:sp>
        <p:nvSpPr>
          <p:cNvPr id="19459" name="Rectangle 5"/>
          <p:cNvSpPr>
            <a:spLocks noGrp="1" noChangeArrowheads="1"/>
          </p:cNvSpPr>
          <p:nvPr>
            <p:ph type="body" idx="1"/>
          </p:nvPr>
        </p:nvSpPr>
        <p:spPr/>
        <p:txBody>
          <a:bodyPr/>
          <a:lstStyle/>
          <a:p>
            <a:pPr eaLnBrk="1" hangingPunct="1"/>
            <a:r>
              <a:rPr lang="en-US"/>
              <a:t>Ratio analysis</a:t>
            </a:r>
          </a:p>
          <a:p>
            <a:pPr eaLnBrk="1" hangingPunct="1"/>
            <a:r>
              <a:rPr lang="en-US"/>
              <a:t>Du Pont system</a:t>
            </a:r>
          </a:p>
          <a:p>
            <a:pPr eaLnBrk="1" hangingPunct="1"/>
            <a:r>
              <a:rPr lang="en-US"/>
              <a:t>Effects of improving ratios</a:t>
            </a:r>
          </a:p>
          <a:p>
            <a:pPr eaLnBrk="1" hangingPunct="1"/>
            <a:r>
              <a:rPr lang="en-US"/>
              <a:t>Limitations of ratio analysis</a:t>
            </a:r>
          </a:p>
          <a:p>
            <a:pPr eaLnBrk="1" hangingPunct="1"/>
            <a:r>
              <a:rPr lang="en-US"/>
              <a:t>Qualitative factors</a:t>
            </a:r>
          </a:p>
          <a:p>
            <a:pPr eaLnBrk="1" hangingPunct="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A0982E3-D862-43DD-B158-36C04C875738}" type="slidenum">
              <a:rPr lang="en-US"/>
              <a:pPr>
                <a:defRPr/>
              </a:pPr>
              <a:t>3</a:t>
            </a:fld>
            <a:endParaRPr lang="en-US"/>
          </a:p>
        </p:txBody>
      </p:sp>
      <p:sp>
        <p:nvSpPr>
          <p:cNvPr id="22530" name="Rectangle 2"/>
          <p:cNvSpPr>
            <a:spLocks noGrp="1" noChangeArrowheads="1"/>
          </p:cNvSpPr>
          <p:nvPr>
            <p:ph type="title"/>
          </p:nvPr>
        </p:nvSpPr>
        <p:spPr/>
        <p:txBody>
          <a:bodyPr/>
          <a:lstStyle/>
          <a:p>
            <a:pPr eaLnBrk="1" hangingPunct="1"/>
            <a:r>
              <a:rPr lang="en-US" dirty="0"/>
              <a:t>Overview</a:t>
            </a:r>
          </a:p>
        </p:txBody>
      </p:sp>
      <p:sp>
        <p:nvSpPr>
          <p:cNvPr id="22531" name="Rectangle 3"/>
          <p:cNvSpPr>
            <a:spLocks noGrp="1" noChangeArrowheads="1"/>
          </p:cNvSpPr>
          <p:nvPr>
            <p:ph type="body" idx="1"/>
          </p:nvPr>
        </p:nvSpPr>
        <p:spPr>
          <a:xfrm>
            <a:off x="228600" y="1524000"/>
            <a:ext cx="8726488" cy="4968873"/>
          </a:xfrm>
        </p:spPr>
        <p:txBody>
          <a:bodyPr>
            <a:normAutofit/>
          </a:bodyPr>
          <a:lstStyle/>
          <a:p>
            <a:pPr eaLnBrk="1" hangingPunct="1"/>
            <a:r>
              <a:rPr lang="en-US" sz="2800" dirty="0"/>
              <a:t>Ratios facilitate comparison of a company:</a:t>
            </a:r>
          </a:p>
          <a:p>
            <a:pPr lvl="1" eaLnBrk="1" hangingPunct="1"/>
            <a:r>
              <a:rPr lang="en-US" sz="2400" dirty="0"/>
              <a:t>over time</a:t>
            </a:r>
          </a:p>
          <a:p>
            <a:pPr lvl="1" eaLnBrk="1" hangingPunct="1"/>
            <a:r>
              <a:rPr lang="en-US" sz="2400" dirty="0"/>
              <a:t>versus other companies</a:t>
            </a:r>
          </a:p>
          <a:p>
            <a:pPr eaLnBrk="1" hangingPunct="1"/>
            <a:r>
              <a:rPr lang="en-US" sz="2800" dirty="0"/>
              <a:t>Ratios are used by:</a:t>
            </a:r>
          </a:p>
          <a:p>
            <a:pPr lvl="1" eaLnBrk="1" hangingPunct="1"/>
            <a:r>
              <a:rPr lang="en-US" sz="2400" dirty="0"/>
              <a:t>Lenders – </a:t>
            </a:r>
          </a:p>
          <a:p>
            <a:pPr lvl="2"/>
            <a:r>
              <a:rPr lang="en-US" sz="1600" dirty="0"/>
              <a:t>  </a:t>
            </a:r>
          </a:p>
          <a:p>
            <a:pPr lvl="1" eaLnBrk="1" hangingPunct="1"/>
            <a:r>
              <a:rPr lang="en-US" sz="2400" dirty="0"/>
              <a:t>Stockholders –</a:t>
            </a:r>
          </a:p>
          <a:p>
            <a:pPr lvl="2"/>
            <a:r>
              <a:rPr lang="en-US" sz="1600" dirty="0"/>
              <a:t> </a:t>
            </a:r>
            <a:endParaRPr lang="en-US" sz="2400" dirty="0"/>
          </a:p>
          <a:p>
            <a:pPr lvl="1" eaLnBrk="1" hangingPunct="1"/>
            <a:r>
              <a:rPr lang="en-US" sz="2400" dirty="0"/>
              <a:t>Managers –</a:t>
            </a:r>
          </a:p>
          <a:p>
            <a:pPr lvl="2"/>
            <a:r>
              <a:rPr lang="en-US" sz="1600" dirty="0"/>
              <a:t> </a:t>
            </a:r>
            <a:endParaRPr 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5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53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531">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531">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531">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531">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531">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Number Placeholder 5"/>
          <p:cNvSpPr>
            <a:spLocks noGrp="1"/>
          </p:cNvSpPr>
          <p:nvPr>
            <p:ph type="sldNum" sz="quarter" idx="12"/>
          </p:nvPr>
        </p:nvSpPr>
        <p:spPr/>
        <p:txBody>
          <a:bodyPr/>
          <a:lstStyle/>
          <a:p>
            <a:pPr>
              <a:defRPr/>
            </a:pPr>
            <a:fld id="{7E964BBF-A36A-4B24-BA9E-B5522B3DF748}" type="slidenum">
              <a:rPr lang="en-US"/>
              <a:pPr>
                <a:defRPr/>
              </a:pPr>
              <a:t>4</a:t>
            </a:fld>
            <a:endParaRPr lang="en-US"/>
          </a:p>
        </p:txBody>
      </p:sp>
      <p:sp>
        <p:nvSpPr>
          <p:cNvPr id="23554" name="Rectangle 206"/>
          <p:cNvSpPr>
            <a:spLocks noGrp="1" noChangeArrowheads="1"/>
          </p:cNvSpPr>
          <p:nvPr>
            <p:ph type="title"/>
          </p:nvPr>
        </p:nvSpPr>
        <p:spPr/>
        <p:txBody>
          <a:bodyPr/>
          <a:lstStyle/>
          <a:p>
            <a:pPr eaLnBrk="1" hangingPunct="1"/>
            <a:r>
              <a:rPr lang="en-US"/>
              <a:t>Income Statement</a:t>
            </a:r>
          </a:p>
        </p:txBody>
      </p:sp>
      <p:graphicFrame>
        <p:nvGraphicFramePr>
          <p:cNvPr id="131282" name="Group 210"/>
          <p:cNvGraphicFramePr>
            <a:graphicFrameLocks noGrp="1"/>
          </p:cNvGraphicFramePr>
          <p:nvPr>
            <p:ph type="tbl" idx="1"/>
          </p:nvPr>
        </p:nvGraphicFramePr>
        <p:xfrm>
          <a:off x="1182688" y="2017713"/>
          <a:ext cx="7772400" cy="4359278"/>
        </p:xfrm>
        <a:graphic>
          <a:graphicData uri="http://schemas.openxmlformats.org/drawingml/2006/table">
            <a:tbl>
              <a:tblPr/>
              <a:tblGrid>
                <a:gridCol w="2590800">
                  <a:extLst>
                    <a:ext uri="{9D8B030D-6E8A-4147-A177-3AD203B41FA5}">
                      <a16:colId xmlns:a16="http://schemas.microsoft.com/office/drawing/2014/main" val="20000"/>
                    </a:ext>
                  </a:extLst>
                </a:gridCol>
                <a:gridCol w="2551112">
                  <a:extLst>
                    <a:ext uri="{9D8B030D-6E8A-4147-A177-3AD203B41FA5}">
                      <a16:colId xmlns:a16="http://schemas.microsoft.com/office/drawing/2014/main" val="20001"/>
                    </a:ext>
                  </a:extLst>
                </a:gridCol>
                <a:gridCol w="2630488">
                  <a:extLst>
                    <a:ext uri="{9D8B030D-6E8A-4147-A177-3AD203B41FA5}">
                      <a16:colId xmlns:a16="http://schemas.microsoft.com/office/drawing/2014/main" val="20002"/>
                    </a:ext>
                  </a:extLst>
                </a:gridCol>
              </a:tblGrid>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000" b="0" i="0" u="none" strike="noStrike" cap="none" normalizeH="0" baseline="0" dirty="0">
                        <a:ln>
                          <a:noFill/>
                        </a:ln>
                        <a:solidFill>
                          <a:schemeClr val="tx1"/>
                        </a:solidFill>
                        <a:effectLst/>
                        <a:latin typeface="Tahoma" pitchFamily="34" charset="0"/>
                      </a:endParaRPr>
                    </a:p>
                  </a:txBody>
                  <a:tcPr marT="45727" marB="45727"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dirty="0">
                          <a:ln>
                            <a:noFill/>
                          </a:ln>
                          <a:solidFill>
                            <a:schemeClr val="tx1"/>
                          </a:solidFill>
                          <a:effectLst/>
                          <a:latin typeface="Tahoma" pitchFamily="34" charset="0"/>
                        </a:rPr>
                        <a:t>20x1</a:t>
                      </a:r>
                    </a:p>
                  </a:txBody>
                  <a:tcPr marT="45727" marB="45727"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dirty="0">
                          <a:ln>
                            <a:noFill/>
                          </a:ln>
                          <a:solidFill>
                            <a:schemeClr val="tx1"/>
                          </a:solidFill>
                          <a:effectLst/>
                          <a:latin typeface="Tahoma" pitchFamily="34" charset="0"/>
                        </a:rPr>
                        <a:t>20x2Est</a:t>
                      </a:r>
                    </a:p>
                  </a:txBody>
                  <a:tcPr marT="45727" marB="45727"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Sales</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$5,834,400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$7,035,600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COGS</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4,980,000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5,800,000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Other expenses</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720,000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612,960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Deprec.</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116,960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120,000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   Tot. op. costs</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5,816,960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6,532,960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   EBIT</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17,440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502,640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Int. expense</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176,000 </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80,000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   EBT</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(158,560)</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422,640</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Taxes (40%)</a:t>
                      </a:r>
                    </a:p>
                  </a:txBody>
                  <a:tcPr marT="45727" marB="45727"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(63,424)</a:t>
                      </a:r>
                    </a:p>
                  </a:txBody>
                  <a:tcPr marT="45727" marB="45727"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169,056</a:t>
                      </a:r>
                    </a:p>
                  </a:txBody>
                  <a:tcPr marT="45727" marB="45727"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9"/>
                  </a:ext>
                </a:extLst>
              </a:tr>
              <a:tr h="396298">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a:ln>
                            <a:noFill/>
                          </a:ln>
                          <a:solidFill>
                            <a:schemeClr val="tx1"/>
                          </a:solidFill>
                          <a:effectLst/>
                          <a:latin typeface="Tahoma" pitchFamily="34" charset="0"/>
                        </a:rPr>
                        <a:t>Net income</a:t>
                      </a:r>
                    </a:p>
                  </a:txBody>
                  <a:tcPr marT="45727" marB="45727"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sng" strike="noStrike" cap="none" normalizeH="0" baseline="0">
                          <a:ln>
                            <a:noFill/>
                          </a:ln>
                          <a:solidFill>
                            <a:schemeClr val="tx1"/>
                          </a:solidFill>
                          <a:effectLst/>
                          <a:latin typeface="Tahoma" pitchFamily="34" charset="0"/>
                        </a:rPr>
                        <a:t>($  95,136)</a:t>
                      </a:r>
                    </a:p>
                  </a:txBody>
                  <a:tcPr marT="45727" marB="45727"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000" b="0" i="0" u="none" strike="noStrike" cap="none" normalizeH="0" baseline="0" dirty="0">
                          <a:ln>
                            <a:noFill/>
                          </a:ln>
                          <a:solidFill>
                            <a:schemeClr val="tx1"/>
                          </a:solidFill>
                          <a:effectLst/>
                          <a:latin typeface="Tahoma" pitchFamily="34" charset="0"/>
                        </a:rPr>
                        <a:t>$ 253,584</a:t>
                      </a:r>
                    </a:p>
                  </a:txBody>
                  <a:tcPr marT="45727" marB="45727"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5"/>
          <p:cNvSpPr>
            <a:spLocks noGrp="1"/>
          </p:cNvSpPr>
          <p:nvPr>
            <p:ph type="sldNum" sz="quarter" idx="12"/>
          </p:nvPr>
        </p:nvSpPr>
        <p:spPr/>
        <p:txBody>
          <a:bodyPr/>
          <a:lstStyle/>
          <a:p>
            <a:pPr>
              <a:defRPr/>
            </a:pPr>
            <a:fld id="{047FDD8C-7C08-42CA-9951-C16F5329C489}" type="slidenum">
              <a:rPr lang="en-US"/>
              <a:pPr>
                <a:defRPr/>
              </a:pPr>
              <a:t>5</a:t>
            </a:fld>
            <a:endParaRPr lang="en-US"/>
          </a:p>
        </p:txBody>
      </p:sp>
      <p:sp>
        <p:nvSpPr>
          <p:cNvPr id="24578" name="Rectangle 160"/>
          <p:cNvSpPr>
            <a:spLocks noGrp="1" noChangeArrowheads="1"/>
          </p:cNvSpPr>
          <p:nvPr>
            <p:ph type="title"/>
          </p:nvPr>
        </p:nvSpPr>
        <p:spPr/>
        <p:txBody>
          <a:bodyPr/>
          <a:lstStyle/>
          <a:p>
            <a:pPr eaLnBrk="1" hangingPunct="1"/>
            <a:r>
              <a:rPr lang="en-US"/>
              <a:t>Balance Sheets: Assets</a:t>
            </a:r>
          </a:p>
        </p:txBody>
      </p:sp>
      <p:graphicFrame>
        <p:nvGraphicFramePr>
          <p:cNvPr id="139427" name="Group 163"/>
          <p:cNvGraphicFramePr>
            <a:graphicFrameLocks noGrp="1"/>
          </p:cNvGraphicFramePr>
          <p:nvPr>
            <p:ph type="tbl" idx="1"/>
          </p:nvPr>
        </p:nvGraphicFramePr>
        <p:xfrm>
          <a:off x="1182688" y="2017713"/>
          <a:ext cx="7772400" cy="4145216"/>
        </p:xfrm>
        <a:graphic>
          <a:graphicData uri="http://schemas.openxmlformats.org/drawingml/2006/table">
            <a:tbl>
              <a:tblPr/>
              <a:tblGrid>
                <a:gridCol w="2590800">
                  <a:extLst>
                    <a:ext uri="{9D8B030D-6E8A-4147-A177-3AD203B41FA5}">
                      <a16:colId xmlns:a16="http://schemas.microsoft.com/office/drawing/2014/main" val="20000"/>
                    </a:ext>
                  </a:extLst>
                </a:gridCol>
                <a:gridCol w="2551112">
                  <a:extLst>
                    <a:ext uri="{9D8B030D-6E8A-4147-A177-3AD203B41FA5}">
                      <a16:colId xmlns:a16="http://schemas.microsoft.com/office/drawing/2014/main" val="20001"/>
                    </a:ext>
                  </a:extLst>
                </a:gridCol>
                <a:gridCol w="2630488">
                  <a:extLst>
                    <a:ext uri="{9D8B030D-6E8A-4147-A177-3AD203B41FA5}">
                      <a16:colId xmlns:a16="http://schemas.microsoft.com/office/drawing/2014/main" val="20002"/>
                    </a:ext>
                  </a:extLst>
                </a:gridCol>
              </a:tblGrid>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marT="45716" marB="45716"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20x2Est</a:t>
                      </a:r>
                    </a:p>
                  </a:txBody>
                  <a:tcPr marT="45716" marB="45716"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Cash</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      7,282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     14,000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S-T invest.</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20,000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71,632</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AR</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632,160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878,000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Inventories</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1,287,360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1,716,480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   Total CA</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1,946,802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2,680,112</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   Net FA</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939,790 </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836,840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assets</a:t>
                      </a:r>
                    </a:p>
                  </a:txBody>
                  <a:tcPr marT="45716" marB="45716"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$2,886,592</a:t>
                      </a:r>
                      <a:r>
                        <a:rPr kumimoji="0" lang="en-US" sz="2800" b="0" i="0" u="none" strike="noStrike" cap="none" normalizeH="0" baseline="0">
                          <a:ln>
                            <a:noFill/>
                          </a:ln>
                          <a:solidFill>
                            <a:schemeClr val="tx1"/>
                          </a:solidFill>
                          <a:effectLst/>
                          <a:latin typeface="Tahoma" pitchFamily="34" charset="0"/>
                        </a:rPr>
                        <a:t> </a:t>
                      </a:r>
                    </a:p>
                  </a:txBody>
                  <a:tcPr marT="45716" marB="45716"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$3,516,952</a:t>
                      </a:r>
                    </a:p>
                  </a:txBody>
                  <a:tcPr marT="45716" marB="45716"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pPr>
              <a:defRPr/>
            </a:pPr>
            <a:fld id="{1B06C4CB-9E7A-4444-980C-AEB2F7C234E9}" type="slidenum">
              <a:rPr lang="en-US"/>
              <a:pPr>
                <a:defRPr/>
              </a:pPr>
              <a:t>6</a:t>
            </a:fld>
            <a:endParaRPr lang="en-US"/>
          </a:p>
        </p:txBody>
      </p:sp>
      <p:sp>
        <p:nvSpPr>
          <p:cNvPr id="25602" name="Rectangle 185"/>
          <p:cNvSpPr>
            <a:spLocks noGrp="1" noChangeArrowheads="1"/>
          </p:cNvSpPr>
          <p:nvPr>
            <p:ph type="title"/>
          </p:nvPr>
        </p:nvSpPr>
        <p:spPr/>
        <p:txBody>
          <a:bodyPr/>
          <a:lstStyle/>
          <a:p>
            <a:pPr eaLnBrk="1" hangingPunct="1"/>
            <a:r>
              <a:rPr lang="en-US"/>
              <a:t>Balance Sheets: Liabilities &amp; Equity</a:t>
            </a:r>
          </a:p>
        </p:txBody>
      </p:sp>
      <p:graphicFrame>
        <p:nvGraphicFramePr>
          <p:cNvPr id="144572" name="Group 188"/>
          <p:cNvGraphicFramePr>
            <a:graphicFrameLocks noGrp="1"/>
          </p:cNvGraphicFramePr>
          <p:nvPr>
            <p:ph type="tbl" idx="1"/>
          </p:nvPr>
        </p:nvGraphicFramePr>
        <p:xfrm>
          <a:off x="1182688" y="2017713"/>
          <a:ext cx="7772400" cy="4572000"/>
        </p:xfrm>
        <a:graphic>
          <a:graphicData uri="http://schemas.openxmlformats.org/drawingml/2006/table">
            <a:tbl>
              <a:tblPr/>
              <a:tblGrid>
                <a:gridCol w="2617787">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630488">
                  <a:extLst>
                    <a:ext uri="{9D8B030D-6E8A-4147-A177-3AD203B41FA5}">
                      <a16:colId xmlns:a16="http://schemas.microsoft.com/office/drawing/2014/main" val="20002"/>
                    </a:ext>
                  </a:extLst>
                </a:gridCol>
              </a:tblGrid>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dirty="0">
                        <a:ln>
                          <a:noFill/>
                        </a:ln>
                        <a:solidFill>
                          <a:schemeClr val="tx1"/>
                        </a:solidFill>
                        <a:effectLst/>
                        <a:latin typeface="Tahoma" pitchFamily="34"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20x1</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20x2Est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Accts. payable</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324,000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359,800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Notes payable</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720,000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300,000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Accruals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284,960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380,000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Total CL</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1,328,960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1,039,800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Long-term debt</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1,000,000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500,000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Common stock</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460,000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1,680,936</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Ret. earnings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97,632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296,216</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Total equity</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557,632 </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1,977,152</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Total L&amp;E</a:t>
                      </a:r>
                    </a:p>
                  </a:txBody>
                  <a:tcPr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$2,886,592</a:t>
                      </a:r>
                      <a:r>
                        <a:rPr kumimoji="0" lang="en-US" sz="2400" b="0" i="0" u="none" strike="noStrike" cap="none" normalizeH="0" baseline="0">
                          <a:ln>
                            <a:noFill/>
                          </a:ln>
                          <a:solidFill>
                            <a:schemeClr val="tx1"/>
                          </a:solidFill>
                          <a:effectLst/>
                          <a:latin typeface="Tahoma" pitchFamily="34" charset="0"/>
                        </a:rPr>
                        <a:t> </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$3,516,952</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5"/>
          <p:cNvSpPr>
            <a:spLocks noGrp="1"/>
          </p:cNvSpPr>
          <p:nvPr>
            <p:ph type="sldNum" sz="quarter" idx="12"/>
          </p:nvPr>
        </p:nvSpPr>
        <p:spPr/>
        <p:txBody>
          <a:bodyPr/>
          <a:lstStyle/>
          <a:p>
            <a:pPr>
              <a:defRPr/>
            </a:pPr>
            <a:fld id="{849F4D97-2B5A-4AA3-B05F-74B86B054E82}" type="slidenum">
              <a:rPr lang="en-US"/>
              <a:pPr>
                <a:defRPr/>
              </a:pPr>
              <a:t>7</a:t>
            </a:fld>
            <a:endParaRPr lang="en-US"/>
          </a:p>
        </p:txBody>
      </p:sp>
      <p:sp>
        <p:nvSpPr>
          <p:cNvPr id="26626" name="Rectangle 169"/>
          <p:cNvSpPr>
            <a:spLocks noGrp="1" noChangeArrowheads="1"/>
          </p:cNvSpPr>
          <p:nvPr>
            <p:ph type="title"/>
          </p:nvPr>
        </p:nvSpPr>
        <p:spPr/>
        <p:txBody>
          <a:bodyPr/>
          <a:lstStyle/>
          <a:p>
            <a:pPr eaLnBrk="1" hangingPunct="1"/>
            <a:r>
              <a:rPr lang="en-US" dirty="0"/>
              <a:t>Other Data</a:t>
            </a:r>
          </a:p>
        </p:txBody>
      </p:sp>
      <p:graphicFrame>
        <p:nvGraphicFramePr>
          <p:cNvPr id="146605" name="Group 173"/>
          <p:cNvGraphicFramePr>
            <a:graphicFrameLocks noGrp="1"/>
          </p:cNvGraphicFramePr>
          <p:nvPr>
            <p:ph type="tbl" idx="1"/>
          </p:nvPr>
        </p:nvGraphicFramePr>
        <p:xfrm>
          <a:off x="1182688" y="2017713"/>
          <a:ext cx="7772400" cy="4145216"/>
        </p:xfrm>
        <a:graphic>
          <a:graphicData uri="http://schemas.openxmlformats.org/drawingml/2006/table">
            <a:tbl>
              <a:tblPr/>
              <a:tblGrid>
                <a:gridCol w="3109912">
                  <a:extLst>
                    <a:ext uri="{9D8B030D-6E8A-4147-A177-3AD203B41FA5}">
                      <a16:colId xmlns:a16="http://schemas.microsoft.com/office/drawing/2014/main" val="20000"/>
                    </a:ext>
                  </a:extLst>
                </a:gridCol>
                <a:gridCol w="2397125">
                  <a:extLst>
                    <a:ext uri="{9D8B030D-6E8A-4147-A177-3AD203B41FA5}">
                      <a16:colId xmlns:a16="http://schemas.microsoft.com/office/drawing/2014/main" val="20001"/>
                    </a:ext>
                  </a:extLst>
                </a:gridCol>
                <a:gridCol w="2265363">
                  <a:extLst>
                    <a:ext uri="{9D8B030D-6E8A-4147-A177-3AD203B41FA5}">
                      <a16:colId xmlns:a16="http://schemas.microsoft.com/office/drawing/2014/main" val="20002"/>
                    </a:ext>
                  </a:extLst>
                </a:gridCol>
              </a:tblGrid>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marT="45716" marB="45716" anchor="b"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45716" marB="45716" anchor="b"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a:t>
                      </a:r>
                    </a:p>
                  </a:txBody>
                  <a:tcPr marT="45716" marB="45716"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Stock price</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$6.00</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$12.17</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 of shares</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100,000 </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250,000</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EPS</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-$0.95</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$1.01</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DPS</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$0.11</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$0.22</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Book val. per sh.</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$5.58</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$7.91</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Lease payments</a:t>
                      </a:r>
                    </a:p>
                  </a:txBody>
                  <a:tcPr marT="45716" marB="45716" anchor="b"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$40,000</a:t>
                      </a:r>
                    </a:p>
                  </a:txBody>
                  <a:tcPr marT="45716" marB="45716" anchor="b"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$40,000</a:t>
                      </a:r>
                    </a:p>
                  </a:txBody>
                  <a:tcPr marT="45716" marB="45716" anchor="b"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Tax rate</a:t>
                      </a:r>
                    </a:p>
                  </a:txBody>
                  <a:tcPr marT="45716" marB="45716" anchor="b"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0.4</a:t>
                      </a:r>
                    </a:p>
                  </a:txBody>
                  <a:tcPr marT="45716" marB="45716" anchor="b"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0.4</a:t>
                      </a:r>
                    </a:p>
                  </a:txBody>
                  <a:tcPr marT="45716" marB="45716" anchor="b"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Five Categories of Fin. Ratios</a:t>
            </a:r>
          </a:p>
        </p:txBody>
      </p:sp>
      <p:sp>
        <p:nvSpPr>
          <p:cNvPr id="11267" name="Content Placeholder 2"/>
          <p:cNvSpPr>
            <a:spLocks noGrp="1"/>
          </p:cNvSpPr>
          <p:nvPr>
            <p:ph idx="1"/>
          </p:nvPr>
        </p:nvSpPr>
        <p:spPr/>
        <p:txBody>
          <a:bodyPr/>
          <a:lstStyle/>
          <a:p>
            <a:r>
              <a:rPr lang="en-US" dirty="0"/>
              <a:t>Liquidity</a:t>
            </a:r>
          </a:p>
          <a:p>
            <a:r>
              <a:rPr lang="en-US" dirty="0"/>
              <a:t>Asset Mgmt</a:t>
            </a:r>
          </a:p>
          <a:p>
            <a:r>
              <a:rPr lang="en-US" dirty="0"/>
              <a:t>Debt Mgmt	</a:t>
            </a:r>
          </a:p>
          <a:p>
            <a:r>
              <a:rPr lang="en-US" dirty="0"/>
              <a:t>Profitability</a:t>
            </a:r>
          </a:p>
          <a:p>
            <a:r>
              <a:rPr lang="en-US" dirty="0"/>
              <a:t>Market Value</a:t>
            </a:r>
          </a:p>
        </p:txBody>
      </p:sp>
      <p:sp>
        <p:nvSpPr>
          <p:cNvPr id="4" name="Slide Number Placeholder 3"/>
          <p:cNvSpPr>
            <a:spLocks noGrp="1"/>
          </p:cNvSpPr>
          <p:nvPr>
            <p:ph type="sldNum" sz="quarter" idx="12"/>
          </p:nvPr>
        </p:nvSpPr>
        <p:spPr/>
        <p:txBody>
          <a:bodyPr/>
          <a:lstStyle/>
          <a:p>
            <a:pPr>
              <a:defRPr/>
            </a:pPr>
            <a:fld id="{4599F6AB-7D92-430C-A2DB-487880EA85C4}" type="slidenum">
              <a:rPr lang="en-US" smtClean="0"/>
              <a:pPr>
                <a:defRPr/>
              </a:pPr>
              <a:t>8</a:t>
            </a:fld>
            <a:endParaRPr lang="en-US"/>
          </a:p>
        </p:txBody>
      </p:sp>
    </p:spTree>
    <p:extLst>
      <p:ext uri="{BB962C8B-B14F-4D97-AF65-F5344CB8AC3E}">
        <p14:creationId xmlns:p14="http://schemas.microsoft.com/office/powerpoint/2010/main" val="313057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Five Categories of Fin. Ratios</a:t>
            </a:r>
          </a:p>
        </p:txBody>
      </p:sp>
      <p:sp>
        <p:nvSpPr>
          <p:cNvPr id="11267" name="Content Placeholder 2"/>
          <p:cNvSpPr>
            <a:spLocks noGrp="1"/>
          </p:cNvSpPr>
          <p:nvPr>
            <p:ph idx="1"/>
          </p:nvPr>
        </p:nvSpPr>
        <p:spPr>
          <a:xfrm>
            <a:off x="152400" y="1397218"/>
            <a:ext cx="8839200" cy="5155982"/>
          </a:xfrm>
        </p:spPr>
        <p:txBody>
          <a:bodyPr>
            <a:normAutofit lnSpcReduction="10000"/>
          </a:bodyPr>
          <a:lstStyle/>
          <a:p>
            <a:r>
              <a:rPr lang="en-US" dirty="0"/>
              <a:t>Liquidity: </a:t>
            </a:r>
          </a:p>
          <a:p>
            <a:pPr lvl="1"/>
            <a:r>
              <a:rPr lang="en-US" dirty="0"/>
              <a:t>Ability to meet current obligations</a:t>
            </a:r>
          </a:p>
          <a:p>
            <a:r>
              <a:rPr lang="en-US" dirty="0"/>
              <a:t>Asset Mgmt:</a:t>
            </a:r>
          </a:p>
          <a:p>
            <a:pPr lvl="1"/>
            <a:r>
              <a:rPr lang="en-US" dirty="0"/>
              <a:t> Proper &amp; effective use of assets</a:t>
            </a:r>
          </a:p>
          <a:p>
            <a:pPr lvl="1"/>
            <a:r>
              <a:rPr lang="en-US" dirty="0"/>
              <a:t> Asset utilization:</a:t>
            </a:r>
          </a:p>
          <a:p>
            <a:pPr lvl="2"/>
            <a:r>
              <a:rPr lang="en-US" dirty="0"/>
              <a:t> </a:t>
            </a:r>
          </a:p>
          <a:p>
            <a:r>
              <a:rPr lang="en-US" dirty="0"/>
              <a:t>Debt Mgmt:</a:t>
            </a:r>
          </a:p>
          <a:p>
            <a:pPr lvl="1"/>
            <a:r>
              <a:rPr lang="en-US" dirty="0"/>
              <a:t> Extent of debt &amp; level of safety afforded creditors</a:t>
            </a:r>
          </a:p>
          <a:p>
            <a:pPr lvl="1"/>
            <a:r>
              <a:rPr lang="en-US" dirty="0"/>
              <a:t> Debt utilization: </a:t>
            </a:r>
          </a:p>
          <a:p>
            <a:pPr lvl="2"/>
            <a:r>
              <a:rPr lang="en-US" dirty="0"/>
              <a:t> 		</a:t>
            </a:r>
          </a:p>
        </p:txBody>
      </p:sp>
      <p:sp>
        <p:nvSpPr>
          <p:cNvPr id="4" name="Slide Number Placeholder 3"/>
          <p:cNvSpPr>
            <a:spLocks noGrp="1"/>
          </p:cNvSpPr>
          <p:nvPr>
            <p:ph type="sldNum" sz="quarter" idx="12"/>
          </p:nvPr>
        </p:nvSpPr>
        <p:spPr/>
        <p:txBody>
          <a:bodyPr/>
          <a:lstStyle/>
          <a:p>
            <a:pPr>
              <a:defRPr/>
            </a:pPr>
            <a:fld id="{4599F6AB-7D92-430C-A2DB-487880EA85C4}" type="slidenum">
              <a:rPr lang="en-US" smtClean="0"/>
              <a:pPr>
                <a:defRPr/>
              </a:pPr>
              <a:t>9</a:t>
            </a:fld>
            <a:endParaRPr lang="en-US"/>
          </a:p>
        </p:txBody>
      </p:sp>
    </p:spTree>
    <p:extLst>
      <p:ext uri="{BB962C8B-B14F-4D97-AF65-F5344CB8AC3E}">
        <p14:creationId xmlns:p14="http://schemas.microsoft.com/office/powerpoint/2010/main" val="1031346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t>Five Categories of Fin. Ratios</a:t>
            </a:r>
          </a:p>
        </p:txBody>
      </p:sp>
      <p:sp>
        <p:nvSpPr>
          <p:cNvPr id="11267" name="Content Placeholder 2"/>
          <p:cNvSpPr>
            <a:spLocks noGrp="1"/>
          </p:cNvSpPr>
          <p:nvPr>
            <p:ph idx="1"/>
          </p:nvPr>
        </p:nvSpPr>
        <p:spPr>
          <a:xfrm>
            <a:off x="76200" y="1600200"/>
            <a:ext cx="8915400" cy="4952999"/>
          </a:xfrm>
        </p:spPr>
        <p:txBody>
          <a:bodyPr/>
          <a:lstStyle/>
          <a:p>
            <a:r>
              <a:rPr lang="en-US" dirty="0"/>
              <a:t>Profitability: </a:t>
            </a:r>
          </a:p>
          <a:p>
            <a:pPr lvl="1"/>
            <a:r>
              <a:rPr lang="en-US" dirty="0"/>
              <a:t> Reflects effects of liquidity, asset </a:t>
            </a:r>
            <a:r>
              <a:rPr lang="en-US" dirty="0" err="1"/>
              <a:t>mgmt</a:t>
            </a:r>
            <a:r>
              <a:rPr lang="en-US" dirty="0"/>
              <a:t>, &amp; debt on operating results</a:t>
            </a:r>
          </a:p>
          <a:p>
            <a:pPr lvl="1"/>
            <a:r>
              <a:rPr lang="en-US" dirty="0"/>
              <a:t>Expense Control: </a:t>
            </a:r>
          </a:p>
          <a:p>
            <a:pPr lvl="2"/>
            <a:r>
              <a:rPr lang="en-US" dirty="0"/>
              <a:t> </a:t>
            </a:r>
          </a:p>
          <a:p>
            <a:r>
              <a:rPr lang="en-US" dirty="0"/>
              <a:t>Market Value: </a:t>
            </a:r>
          </a:p>
          <a:p>
            <a:pPr lvl="1"/>
            <a:r>
              <a:rPr lang="en-US" dirty="0"/>
              <a:t>Indicators of what investors think of firm’s past results &amp; future prospects</a:t>
            </a:r>
          </a:p>
        </p:txBody>
      </p:sp>
      <p:sp>
        <p:nvSpPr>
          <p:cNvPr id="4" name="Slide Number Placeholder 3"/>
          <p:cNvSpPr>
            <a:spLocks noGrp="1"/>
          </p:cNvSpPr>
          <p:nvPr>
            <p:ph type="sldNum" sz="quarter" idx="12"/>
          </p:nvPr>
        </p:nvSpPr>
        <p:spPr/>
        <p:txBody>
          <a:bodyPr/>
          <a:lstStyle/>
          <a:p>
            <a:pPr>
              <a:defRPr/>
            </a:pPr>
            <a:fld id="{4599F6AB-7D92-430C-A2DB-487880EA85C4}" type="slidenum">
              <a:rPr lang="en-US" smtClean="0"/>
              <a:pPr>
                <a:defRPr/>
              </a:pPr>
              <a:t>10</a:t>
            </a:fld>
            <a:endParaRPr lang="en-US"/>
          </a:p>
        </p:txBody>
      </p:sp>
    </p:spTree>
    <p:extLst>
      <p:ext uri="{BB962C8B-B14F-4D97-AF65-F5344CB8AC3E}">
        <p14:creationId xmlns:p14="http://schemas.microsoft.com/office/powerpoint/2010/main" val="62423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647D5FCA-3784-433C-9632-FBFB0377D8DC}" type="slidenum">
              <a:rPr lang="en-US"/>
              <a:pPr>
                <a:defRPr/>
              </a:pPr>
              <a:t>11</a:t>
            </a:fld>
            <a:endParaRPr lang="en-US"/>
          </a:p>
        </p:txBody>
      </p:sp>
      <p:sp>
        <p:nvSpPr>
          <p:cNvPr id="27650" name="Rectangle 8"/>
          <p:cNvSpPr>
            <a:spLocks noGrp="1" noChangeArrowheads="1"/>
          </p:cNvSpPr>
          <p:nvPr>
            <p:ph type="title"/>
          </p:nvPr>
        </p:nvSpPr>
        <p:spPr/>
        <p:txBody>
          <a:bodyPr/>
          <a:lstStyle/>
          <a:p>
            <a:pPr eaLnBrk="1" hangingPunct="1"/>
            <a:r>
              <a:rPr lang="en-US"/>
              <a:t>Liquidity Ratios</a:t>
            </a:r>
          </a:p>
        </p:txBody>
      </p:sp>
      <p:sp>
        <p:nvSpPr>
          <p:cNvPr id="27651" name="Rectangle 9"/>
          <p:cNvSpPr>
            <a:spLocks noGrp="1" noChangeArrowheads="1"/>
          </p:cNvSpPr>
          <p:nvPr>
            <p:ph type="body" idx="1"/>
          </p:nvPr>
        </p:nvSpPr>
        <p:spPr/>
        <p:txBody>
          <a:bodyPr/>
          <a:lstStyle/>
          <a:p>
            <a:pPr eaLnBrk="1" hangingPunct="1"/>
            <a:r>
              <a:rPr lang="en-US" dirty="0"/>
              <a:t>Can company meet its short-term obligations using resources it currently has on hand?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pPr>
              <a:defRPr/>
            </a:pPr>
            <a:fld id="{BE9D4DB6-D8E2-4E42-B9D4-61F07FC9E12F}" type="slidenum">
              <a:rPr lang="en-US"/>
              <a:pPr>
                <a:defRPr/>
              </a:pPr>
              <a:t>12</a:t>
            </a:fld>
            <a:endParaRPr lang="en-US"/>
          </a:p>
        </p:txBody>
      </p:sp>
      <p:sp>
        <p:nvSpPr>
          <p:cNvPr id="28674" name="Rectangle 16"/>
          <p:cNvSpPr>
            <a:spLocks noGrp="1" noChangeArrowheads="1"/>
          </p:cNvSpPr>
          <p:nvPr>
            <p:ph type="title"/>
          </p:nvPr>
        </p:nvSpPr>
        <p:spPr/>
        <p:txBody>
          <a:bodyPr>
            <a:normAutofit fontScale="90000"/>
          </a:bodyPr>
          <a:lstStyle/>
          <a:p>
            <a:pPr eaLnBrk="1" hangingPunct="1"/>
            <a:r>
              <a:rPr lang="en-US" dirty="0"/>
              <a:t>Forecasted Current and Quick Ratios for 20x2.</a:t>
            </a:r>
          </a:p>
        </p:txBody>
      </p:sp>
      <p:sp>
        <p:nvSpPr>
          <p:cNvPr id="28676" name="Rectangle 8"/>
          <p:cNvSpPr>
            <a:spLocks noChangeArrowheads="1"/>
          </p:cNvSpPr>
          <p:nvPr/>
        </p:nvSpPr>
        <p:spPr bwMode="auto">
          <a:xfrm>
            <a:off x="836613" y="2719388"/>
            <a:ext cx="6527429"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CR</a:t>
            </a:r>
            <a:r>
              <a:rPr lang="en-US" sz="3200" baseline="-25000" dirty="0">
                <a:latin typeface="Tahoma" pitchFamily="34" charset="0"/>
              </a:rPr>
              <a:t>x2</a:t>
            </a:r>
            <a:r>
              <a:rPr lang="en-US" sz="3200" dirty="0">
                <a:latin typeface="Tahoma" pitchFamily="34" charset="0"/>
              </a:rPr>
              <a:t> =           =               = 2.58.</a:t>
            </a:r>
          </a:p>
        </p:txBody>
      </p:sp>
      <p:sp>
        <p:nvSpPr>
          <p:cNvPr id="28677" name="Rectangle 9"/>
          <p:cNvSpPr>
            <a:spLocks noChangeArrowheads="1"/>
          </p:cNvSpPr>
          <p:nvPr/>
        </p:nvSpPr>
        <p:spPr bwMode="auto">
          <a:xfrm>
            <a:off x="835025" y="4284663"/>
            <a:ext cx="1439498"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QR</a:t>
            </a:r>
            <a:r>
              <a:rPr lang="en-US" sz="3200" baseline="-25000" dirty="0">
                <a:latin typeface="Tahoma" pitchFamily="34" charset="0"/>
              </a:rPr>
              <a:t>x2</a:t>
            </a:r>
            <a:r>
              <a:rPr lang="en-US" sz="3200" dirty="0">
                <a:latin typeface="Tahoma" pitchFamily="34" charset="0"/>
              </a:rPr>
              <a:t> =</a:t>
            </a:r>
          </a:p>
        </p:txBody>
      </p:sp>
      <p:sp>
        <p:nvSpPr>
          <p:cNvPr id="28678" name="Rectangle 10"/>
          <p:cNvSpPr>
            <a:spLocks noChangeArrowheads="1"/>
          </p:cNvSpPr>
          <p:nvPr/>
        </p:nvSpPr>
        <p:spPr bwMode="auto">
          <a:xfrm>
            <a:off x="1835150" y="5383213"/>
            <a:ext cx="54959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a:latin typeface="Tahoma" pitchFamily="34" charset="0"/>
              </a:rPr>
              <a:t>=                             = 0.93.</a:t>
            </a:r>
          </a:p>
        </p:txBody>
      </p:sp>
      <p:sp>
        <p:nvSpPr>
          <p:cNvPr id="28679" name="Rectangle 11"/>
          <p:cNvSpPr>
            <a:spLocks noChangeArrowheads="1"/>
          </p:cNvSpPr>
          <p:nvPr/>
        </p:nvSpPr>
        <p:spPr bwMode="auto">
          <a:xfrm>
            <a:off x="2232025" y="2563813"/>
            <a:ext cx="66992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r>
              <a:rPr lang="en-US" sz="3200" u="sng" dirty="0">
                <a:latin typeface="Tahoma" pitchFamily="34" charset="0"/>
              </a:rPr>
              <a:t>CA</a:t>
            </a:r>
            <a:endParaRPr lang="en-US" sz="3200" dirty="0">
              <a:latin typeface="Tahoma" pitchFamily="34" charset="0"/>
            </a:endParaRPr>
          </a:p>
          <a:p>
            <a:pPr algn="ctr" eaLnBrk="0" hangingPunct="0">
              <a:lnSpc>
                <a:spcPct val="85000"/>
              </a:lnSpc>
            </a:pPr>
            <a:r>
              <a:rPr lang="en-US" sz="3200" dirty="0">
                <a:latin typeface="Tahoma" pitchFamily="34" charset="0"/>
              </a:rPr>
              <a:t>CL</a:t>
            </a:r>
          </a:p>
        </p:txBody>
      </p:sp>
      <p:sp>
        <p:nvSpPr>
          <p:cNvPr id="28681" name="Rectangle 13"/>
          <p:cNvSpPr>
            <a:spLocks noChangeArrowheads="1"/>
          </p:cNvSpPr>
          <p:nvPr/>
        </p:nvSpPr>
        <p:spPr bwMode="auto">
          <a:xfrm>
            <a:off x="2243138" y="5218113"/>
            <a:ext cx="305276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r>
              <a:rPr lang="en-US" sz="3200" u="sng" dirty="0">
                <a:latin typeface="Tahoma" pitchFamily="34" charset="0"/>
              </a:rPr>
              <a:t>$2,680 - $1,716</a:t>
            </a:r>
            <a:endParaRPr lang="en-US" sz="3200" dirty="0">
              <a:latin typeface="Tahoma" pitchFamily="34" charset="0"/>
            </a:endParaRPr>
          </a:p>
          <a:p>
            <a:pPr algn="ctr" eaLnBrk="0" hangingPunct="0">
              <a:lnSpc>
                <a:spcPct val="85000"/>
              </a:lnSpc>
            </a:pPr>
            <a:r>
              <a:rPr lang="en-US" sz="3200" dirty="0">
                <a:latin typeface="Tahoma" pitchFamily="34" charset="0"/>
              </a:rPr>
              <a:t>$1,040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67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67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67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6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2867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2867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2" nodeType="clickEffect">
                                  <p:stCondLst>
                                    <p:cond delay="0"/>
                                  </p:stCondLst>
                                  <p:childTnLst>
                                    <p:set>
                                      <p:cBhvr>
                                        <p:cTn id="34" dur="1" fill="hold">
                                          <p:stCondLst>
                                            <p:cond delay="0"/>
                                          </p:stCondLst>
                                        </p:cTn>
                                        <p:tgtEl>
                                          <p:spTgt spid="28679">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2" nodeType="clickEffect">
                                  <p:stCondLst>
                                    <p:cond delay="0"/>
                                  </p:stCondLst>
                                  <p:childTnLst>
                                    <p:set>
                                      <p:cBhvr>
                                        <p:cTn id="38" dur="1" fill="hold">
                                          <p:stCondLst>
                                            <p:cond delay="0"/>
                                          </p:stCondLst>
                                        </p:cTn>
                                        <p:tgtEl>
                                          <p:spTgt spid="28679">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68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3" nodeType="clickEffect">
                                  <p:stCondLst>
                                    <p:cond delay="0"/>
                                  </p:stCondLst>
                                  <p:childTnLst>
                                    <p:set>
                                      <p:cBhvr>
                                        <p:cTn id="46" dur="1" fill="hold">
                                          <p:stCondLst>
                                            <p:cond delay="0"/>
                                          </p:stCondLst>
                                        </p:cTn>
                                        <p:tgtEl>
                                          <p:spTgt spid="28679">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3" nodeType="clickEffect">
                                  <p:stCondLst>
                                    <p:cond delay="0"/>
                                  </p:stCondLst>
                                  <p:childTnLst>
                                    <p:set>
                                      <p:cBhvr>
                                        <p:cTn id="50" dur="1" fill="hold">
                                          <p:stCondLst>
                                            <p:cond delay="0"/>
                                          </p:stCondLst>
                                        </p:cTn>
                                        <p:tgtEl>
                                          <p:spTgt spid="2867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7" grpId="0"/>
      <p:bldP spid="28678" grpId="0"/>
      <p:bldP spid="28679" grpId="0" uiExpand="1" build="p"/>
      <p:bldP spid="28679" grpId="1" uiExpand="1" build="p"/>
      <p:bldP spid="28679" grpId="2" uiExpand="1" build="p"/>
      <p:bldP spid="28679" grpId="3" uiExpand="1" build="allAtOnce"/>
      <p:bldP spid="2868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6"/>
          <p:cNvSpPr>
            <a:spLocks noGrp="1"/>
          </p:cNvSpPr>
          <p:nvPr>
            <p:ph type="sldNum" sz="quarter" idx="12"/>
          </p:nvPr>
        </p:nvSpPr>
        <p:spPr/>
        <p:txBody>
          <a:bodyPr/>
          <a:lstStyle/>
          <a:p>
            <a:pPr>
              <a:defRPr/>
            </a:pPr>
            <a:fld id="{74E26209-A866-46E4-B00D-30E257E28971}" type="slidenum">
              <a:rPr lang="en-US"/>
              <a:pPr>
                <a:defRPr/>
              </a:pPr>
              <a:t>13</a:t>
            </a:fld>
            <a:endParaRPr lang="en-US"/>
          </a:p>
        </p:txBody>
      </p:sp>
      <p:sp>
        <p:nvSpPr>
          <p:cNvPr id="29698" name="Rectangle 42"/>
          <p:cNvSpPr>
            <a:spLocks noGrp="1" noChangeArrowheads="1"/>
          </p:cNvSpPr>
          <p:nvPr>
            <p:ph type="title"/>
          </p:nvPr>
        </p:nvSpPr>
        <p:spPr/>
        <p:txBody>
          <a:bodyPr/>
          <a:lstStyle/>
          <a:p>
            <a:pPr eaLnBrk="1" hangingPunct="1"/>
            <a:r>
              <a:rPr lang="en-US"/>
              <a:t>Comments on CR and QR</a:t>
            </a:r>
          </a:p>
        </p:txBody>
      </p:sp>
      <p:graphicFrame>
        <p:nvGraphicFramePr>
          <p:cNvPr id="183340" name="Group 44"/>
          <p:cNvGraphicFramePr>
            <a:graphicFrameLocks noGrp="1"/>
          </p:cNvGraphicFramePr>
          <p:nvPr>
            <p:ph sz="half" idx="1"/>
          </p:nvPr>
        </p:nvGraphicFramePr>
        <p:xfrm>
          <a:off x="1182688" y="2017713"/>
          <a:ext cx="6665912" cy="1981200"/>
        </p:xfrm>
        <a:graphic>
          <a:graphicData uri="http://schemas.openxmlformats.org/drawingml/2006/table">
            <a:tbl>
              <a:tblPr/>
              <a:tblGrid>
                <a:gridCol w="1333500">
                  <a:extLst>
                    <a:ext uri="{9D8B030D-6E8A-4147-A177-3AD203B41FA5}">
                      <a16:colId xmlns:a16="http://schemas.microsoft.com/office/drawing/2014/main" val="20000"/>
                    </a:ext>
                  </a:extLst>
                </a:gridCol>
                <a:gridCol w="1331912">
                  <a:extLst>
                    <a:ext uri="{9D8B030D-6E8A-4147-A177-3AD203B41FA5}">
                      <a16:colId xmlns:a16="http://schemas.microsoft.com/office/drawing/2014/main" val="20001"/>
                    </a:ext>
                  </a:extLst>
                </a:gridCol>
                <a:gridCol w="1335088">
                  <a:extLst>
                    <a:ext uri="{9D8B030D-6E8A-4147-A177-3AD203B41FA5}">
                      <a16:colId xmlns:a16="http://schemas.microsoft.com/office/drawing/2014/main" val="20002"/>
                    </a:ext>
                  </a:extLst>
                </a:gridCol>
                <a:gridCol w="1331912">
                  <a:extLst>
                    <a:ext uri="{9D8B030D-6E8A-4147-A177-3AD203B41FA5}">
                      <a16:colId xmlns:a16="http://schemas.microsoft.com/office/drawing/2014/main" val="20003"/>
                    </a:ext>
                  </a:extLst>
                </a:gridCol>
                <a:gridCol w="1333500">
                  <a:extLst>
                    <a:ext uri="{9D8B030D-6E8A-4147-A177-3AD203B41FA5}">
                      <a16:colId xmlns:a16="http://schemas.microsoft.com/office/drawing/2014/main" val="20004"/>
                    </a:ext>
                  </a:extLst>
                </a:gridCol>
              </a:tblGrid>
              <a:tr h="660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400" b="0" i="0" u="none" strike="noStrike" cap="none" normalizeH="0" baseline="0" dirty="0">
                          <a:ln>
                            <a:noFill/>
                          </a:ln>
                          <a:solidFill>
                            <a:schemeClr val="tx1"/>
                          </a:solidFill>
                          <a:effectLst/>
                          <a:latin typeface="Tahoma" pitchFamily="34" charset="0"/>
                        </a:rPr>
                        <a:t>20x2Est</a:t>
                      </a:r>
                      <a:endParaRPr kumimoji="0" lang="en-US" sz="24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dirty="0">
                          <a:ln>
                            <a:noFill/>
                          </a:ln>
                          <a:solidFill>
                            <a:schemeClr val="tx1"/>
                          </a:solidFill>
                          <a:effectLst/>
                          <a:latin typeface="Tahoma" pitchFamily="34" charset="0"/>
                        </a:rPr>
                        <a:t>20x1</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dirty="0">
                          <a:ln>
                            <a:noFill/>
                          </a:ln>
                          <a:solidFill>
                            <a:schemeClr val="tx1"/>
                          </a:solidFill>
                          <a:effectLst/>
                          <a:latin typeface="Tahoma" pitchFamily="34" charset="0"/>
                        </a:rPr>
                        <a:t>20x0</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dirty="0">
                          <a:ln>
                            <a:noFill/>
                          </a:ln>
                          <a:solidFill>
                            <a:schemeClr val="tx1"/>
                          </a:solidFill>
                          <a:effectLst/>
                          <a:latin typeface="Tahoma" pitchFamily="34" charset="0"/>
                        </a:rPr>
                        <a:t>Ind.</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0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CR</a:t>
                      </a: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2.58</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1.46</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2.3</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2.7</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04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QR</a:t>
                      </a: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0.93</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0.5</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a:ln>
                            <a:noFill/>
                          </a:ln>
                          <a:solidFill>
                            <a:schemeClr val="tx1"/>
                          </a:solidFill>
                          <a:effectLst/>
                          <a:latin typeface="Tahoma" pitchFamily="34" charset="0"/>
                        </a:rPr>
                        <a:t>0.8</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it-IT" sz="2800" b="0" i="0" u="none" strike="noStrike" cap="none" normalizeH="0" baseline="0" dirty="0">
                          <a:ln>
                            <a:noFill/>
                          </a:ln>
                          <a:solidFill>
                            <a:schemeClr val="tx1"/>
                          </a:solidFill>
                          <a:effectLst/>
                          <a:latin typeface="Tahoma" pitchFamily="34" charset="0"/>
                        </a:rPr>
                        <a:t>1.0</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9725" name="Rectangle 45"/>
          <p:cNvSpPr>
            <a:spLocks noGrp="1" noChangeArrowheads="1"/>
          </p:cNvSpPr>
          <p:nvPr>
            <p:ph type="body" sz="half" idx="2"/>
          </p:nvPr>
        </p:nvSpPr>
        <p:spPr>
          <a:xfrm>
            <a:off x="304800" y="4419599"/>
            <a:ext cx="8650288" cy="1712913"/>
          </a:xfrm>
        </p:spPr>
        <p:txBody>
          <a:bodyPr>
            <a:normAutofit lnSpcReduction="10000"/>
          </a:bodyPr>
          <a:lstStyle/>
          <a:p>
            <a:pPr eaLnBrk="1" hangingPunct="1"/>
            <a:r>
              <a:rPr lang="en-US" sz="2800" dirty="0"/>
              <a:t>Expected to improve but:</a:t>
            </a:r>
          </a:p>
          <a:p>
            <a:pPr lvl="1"/>
            <a:r>
              <a:rPr lang="en-US" sz="2400" dirty="0"/>
              <a:t> </a:t>
            </a:r>
          </a:p>
          <a:p>
            <a:pPr eaLnBrk="1" hangingPunct="1"/>
            <a:r>
              <a:rPr lang="en-US" sz="2800" dirty="0"/>
              <a:t>Liquidity:</a:t>
            </a:r>
          </a:p>
          <a:p>
            <a:pPr lvl="1"/>
            <a:r>
              <a:rPr 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2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72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72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7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2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0E25A41D-2568-4308-B5C1-95EA76B52945}" type="slidenum">
              <a:rPr lang="en-US"/>
              <a:pPr>
                <a:defRPr/>
              </a:pPr>
              <a:t>14</a:t>
            </a:fld>
            <a:endParaRPr lang="en-US"/>
          </a:p>
        </p:txBody>
      </p:sp>
      <p:sp>
        <p:nvSpPr>
          <p:cNvPr id="30722" name="Rectangle 2"/>
          <p:cNvSpPr>
            <a:spLocks noGrp="1" noChangeArrowheads="1"/>
          </p:cNvSpPr>
          <p:nvPr>
            <p:ph type="title"/>
          </p:nvPr>
        </p:nvSpPr>
        <p:spPr/>
        <p:txBody>
          <a:bodyPr/>
          <a:lstStyle/>
          <a:p>
            <a:pPr eaLnBrk="1" hangingPunct="1"/>
            <a:r>
              <a:rPr lang="en-US"/>
              <a:t>Asset Management Ratios</a:t>
            </a:r>
          </a:p>
        </p:txBody>
      </p:sp>
      <p:sp>
        <p:nvSpPr>
          <p:cNvPr id="30723" name="Rectangle 3"/>
          <p:cNvSpPr>
            <a:spLocks noGrp="1" noChangeArrowheads="1"/>
          </p:cNvSpPr>
          <p:nvPr>
            <p:ph type="body" idx="1"/>
          </p:nvPr>
        </p:nvSpPr>
        <p:spPr/>
        <p:txBody>
          <a:bodyPr/>
          <a:lstStyle/>
          <a:p>
            <a:pPr eaLnBrk="1" hangingPunct="1"/>
            <a:r>
              <a:rPr lang="en-US" dirty="0"/>
              <a:t>How efficiently does firm use its assets?</a:t>
            </a:r>
          </a:p>
          <a:p>
            <a:pPr eaLnBrk="1" hangingPunct="1"/>
            <a:r>
              <a:rPr lang="en-US" dirty="0"/>
              <a:t>How much does firm have tied up in assets for each dollar of sales?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pPr>
              <a:defRPr/>
            </a:pPr>
            <a:fld id="{CFE02435-8567-478E-A583-A86461507F55}" type="slidenum">
              <a:rPr lang="en-US"/>
              <a:pPr>
                <a:defRPr/>
              </a:pPr>
              <a:t>15</a:t>
            </a:fld>
            <a:endParaRPr lang="en-US"/>
          </a:p>
        </p:txBody>
      </p:sp>
      <p:sp>
        <p:nvSpPr>
          <p:cNvPr id="31746" name="Rectangle 16"/>
          <p:cNvSpPr>
            <a:spLocks noGrp="1" noChangeArrowheads="1"/>
          </p:cNvSpPr>
          <p:nvPr>
            <p:ph type="title"/>
          </p:nvPr>
        </p:nvSpPr>
        <p:spPr/>
        <p:txBody>
          <a:bodyPr>
            <a:normAutofit fontScale="90000"/>
          </a:bodyPr>
          <a:lstStyle/>
          <a:p>
            <a:pPr eaLnBrk="1" hangingPunct="1"/>
            <a:r>
              <a:rPr lang="en-US"/>
              <a:t>Inventory Turnover Ratio vs. Industry Average</a:t>
            </a:r>
          </a:p>
        </p:txBody>
      </p:sp>
      <p:sp>
        <p:nvSpPr>
          <p:cNvPr id="31752" name="Rectangle 6"/>
          <p:cNvSpPr>
            <a:spLocks noChangeArrowheads="1"/>
          </p:cNvSpPr>
          <p:nvPr/>
        </p:nvSpPr>
        <p:spPr bwMode="auto">
          <a:xfrm>
            <a:off x="879475" y="2428876"/>
            <a:ext cx="6715125"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Inv. turnover	=</a:t>
            </a:r>
          </a:p>
          <a:p>
            <a:pPr eaLnBrk="0" hangingPunct="0"/>
            <a:endParaRPr lang="en-US" sz="3200" dirty="0">
              <a:latin typeface="Tahoma" pitchFamily="34" charset="0"/>
            </a:endParaRPr>
          </a:p>
          <a:p>
            <a:pPr eaLnBrk="0" hangingPunct="0"/>
            <a:r>
              <a:rPr lang="en-US" sz="3200" dirty="0">
                <a:latin typeface="Tahoma" pitchFamily="34" charset="0"/>
              </a:rPr>
              <a:t>			=                =  4.10.</a:t>
            </a:r>
          </a:p>
        </p:txBody>
      </p:sp>
      <p:grpSp>
        <p:nvGrpSpPr>
          <p:cNvPr id="31753" name="Group 9"/>
          <p:cNvGrpSpPr>
            <a:grpSpLocks/>
          </p:cNvGrpSpPr>
          <p:nvPr/>
        </p:nvGrpSpPr>
        <p:grpSpPr bwMode="auto">
          <a:xfrm>
            <a:off x="4208463" y="2281238"/>
            <a:ext cx="2225675" cy="508000"/>
            <a:chOff x="2651" y="1437"/>
            <a:chExt cx="1402" cy="320"/>
          </a:xfrm>
        </p:grpSpPr>
        <p:sp>
          <p:nvSpPr>
            <p:cNvPr id="31755" name="Rectangle 7"/>
            <p:cNvSpPr>
              <a:spLocks noChangeArrowheads="1"/>
            </p:cNvSpPr>
            <p:nvPr/>
          </p:nvSpPr>
          <p:spPr bwMode="auto">
            <a:xfrm>
              <a:off x="3320" y="1437"/>
              <a:ext cx="115"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endParaRPr lang="en-US" sz="3200" dirty="0">
                <a:latin typeface="Tahoma" pitchFamily="34" charset="0"/>
              </a:endParaRPr>
            </a:p>
          </p:txBody>
        </p:sp>
        <p:sp>
          <p:nvSpPr>
            <p:cNvPr id="31756" name="Line 8"/>
            <p:cNvSpPr>
              <a:spLocks noChangeShapeType="1"/>
            </p:cNvSpPr>
            <p:nvPr/>
          </p:nvSpPr>
          <p:spPr bwMode="auto">
            <a:xfrm>
              <a:off x="2651" y="1706"/>
              <a:ext cx="140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1748" name="Group 15"/>
          <p:cNvGrpSpPr>
            <a:grpSpLocks/>
          </p:cNvGrpSpPr>
          <p:nvPr/>
        </p:nvGrpSpPr>
        <p:grpSpPr bwMode="auto">
          <a:xfrm>
            <a:off x="879475" y="4824411"/>
            <a:ext cx="7751763" cy="1320799"/>
            <a:chOff x="554" y="3039"/>
            <a:chExt cx="4883" cy="832"/>
          </a:xfrm>
        </p:grpSpPr>
        <p:sp>
          <p:nvSpPr>
            <p:cNvPr id="31749" name="Rectangle 12"/>
            <p:cNvSpPr>
              <a:spLocks noChangeArrowheads="1"/>
            </p:cNvSpPr>
            <p:nvPr/>
          </p:nvSpPr>
          <p:spPr bwMode="auto">
            <a:xfrm>
              <a:off x="554" y="3039"/>
              <a:ext cx="4883" cy="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spcBef>
                  <a:spcPct val="50000"/>
                </a:spcBef>
                <a:tabLst>
                  <a:tab pos="1370013" algn="l"/>
                  <a:tab pos="2973388" algn="l"/>
                  <a:tab pos="4576763" algn="l"/>
                  <a:tab pos="6110288" algn="l"/>
                </a:tabLst>
              </a:pPr>
              <a:r>
                <a:rPr lang="en-US" sz="3200" dirty="0">
                  <a:latin typeface="Tahoma" pitchFamily="34" charset="0"/>
                </a:rPr>
                <a:t>	20x2Est	  20x1	20x0	Ind.</a:t>
              </a:r>
            </a:p>
            <a:p>
              <a:pPr eaLnBrk="0" hangingPunct="0">
                <a:spcBef>
                  <a:spcPct val="50000"/>
                </a:spcBef>
                <a:tabLst>
                  <a:tab pos="1370013" algn="l"/>
                  <a:tab pos="2973388" algn="l"/>
                  <a:tab pos="4576763" algn="l"/>
                  <a:tab pos="6110288" algn="l"/>
                </a:tabLst>
              </a:pPr>
              <a:r>
                <a:rPr lang="en-US" sz="3200" dirty="0">
                  <a:latin typeface="Tahoma" pitchFamily="34" charset="0"/>
                </a:rPr>
                <a:t>Inv. T.	   4.1	   4.5	 4.8	6.1</a:t>
              </a:r>
            </a:p>
          </p:txBody>
        </p:sp>
        <p:sp>
          <p:nvSpPr>
            <p:cNvPr id="31750" name="Line 13"/>
            <p:cNvSpPr>
              <a:spLocks noChangeShapeType="1"/>
            </p:cNvSpPr>
            <p:nvPr/>
          </p:nvSpPr>
          <p:spPr bwMode="auto">
            <a:xfrm>
              <a:off x="1404" y="3409"/>
              <a:ext cx="36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751" name="Line 14"/>
            <p:cNvSpPr>
              <a:spLocks noChangeShapeType="1"/>
            </p:cNvSpPr>
            <p:nvPr/>
          </p:nvSpPr>
          <p:spPr bwMode="auto">
            <a:xfrm>
              <a:off x="1403" y="3421"/>
              <a:ext cx="0" cy="44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0DB749E5-6179-4BD5-8355-79D10D870DE0}" type="slidenum">
              <a:rPr lang="en-US"/>
              <a:pPr>
                <a:defRPr/>
              </a:pPr>
              <a:t>16</a:t>
            </a:fld>
            <a:endParaRPr lang="en-US"/>
          </a:p>
        </p:txBody>
      </p:sp>
      <p:sp>
        <p:nvSpPr>
          <p:cNvPr id="32770" name="Rectangle 7"/>
          <p:cNvSpPr>
            <a:spLocks noGrp="1" noChangeArrowheads="1"/>
          </p:cNvSpPr>
          <p:nvPr>
            <p:ph type="title"/>
          </p:nvPr>
        </p:nvSpPr>
        <p:spPr/>
        <p:txBody>
          <a:bodyPr/>
          <a:lstStyle/>
          <a:p>
            <a:pPr eaLnBrk="1" hangingPunct="1"/>
            <a:r>
              <a:rPr lang="en-US" dirty="0"/>
              <a:t>Comments on Inventory Turnover</a:t>
            </a:r>
          </a:p>
        </p:txBody>
      </p:sp>
      <p:sp>
        <p:nvSpPr>
          <p:cNvPr id="32771" name="Rectangle 8"/>
          <p:cNvSpPr>
            <a:spLocks noGrp="1" noChangeArrowheads="1"/>
          </p:cNvSpPr>
          <p:nvPr>
            <p:ph type="body" idx="1"/>
          </p:nvPr>
        </p:nvSpPr>
        <p:spPr/>
        <p:txBody>
          <a:bodyPr/>
          <a:lstStyle/>
          <a:p>
            <a:pPr eaLnBrk="1" hangingPunct="1"/>
            <a:r>
              <a:rPr lang="en-US" dirty="0"/>
              <a:t>Inventory turnover: </a:t>
            </a:r>
          </a:p>
          <a:p>
            <a:pPr lvl="1"/>
            <a:r>
              <a:rPr lang="en-US" dirty="0"/>
              <a:t> Below Industry ave.</a:t>
            </a:r>
          </a:p>
          <a:p>
            <a:pPr lvl="1"/>
            <a:r>
              <a:rPr lang="en-US" dirty="0"/>
              <a:t>Why?</a:t>
            </a:r>
          </a:p>
          <a:p>
            <a:pPr eaLnBrk="1" hangingPunct="1"/>
            <a:r>
              <a:rPr lang="en-US" dirty="0"/>
              <a:t> </a:t>
            </a:r>
          </a:p>
          <a:p>
            <a:pPr eaLnBrk="1" hangingPunct="1"/>
            <a:r>
              <a:rPr lang="en-US"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7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771">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pPr>
              <a:defRPr/>
            </a:pPr>
            <a:fld id="{329E1621-2492-42DA-B968-B5F5CF88800A}" type="slidenum">
              <a:rPr lang="en-US"/>
              <a:pPr>
                <a:defRPr/>
              </a:pPr>
              <a:t>17</a:t>
            </a:fld>
            <a:endParaRPr lang="en-US"/>
          </a:p>
        </p:txBody>
      </p:sp>
      <p:sp>
        <p:nvSpPr>
          <p:cNvPr id="33796" name="Rectangle 9"/>
          <p:cNvSpPr>
            <a:spLocks noChangeArrowheads="1"/>
          </p:cNvSpPr>
          <p:nvPr/>
        </p:nvSpPr>
        <p:spPr bwMode="auto">
          <a:xfrm>
            <a:off x="990601" y="2438400"/>
            <a:ext cx="7010401"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tabLst>
                <a:tab pos="1022350" algn="l"/>
              </a:tabLst>
            </a:pPr>
            <a:r>
              <a:rPr lang="en-US" sz="3200" dirty="0">
                <a:latin typeface="Tahoma" pitchFamily="34" charset="0"/>
              </a:rPr>
              <a:t>DSO	=</a:t>
            </a:r>
          </a:p>
          <a:p>
            <a:pPr eaLnBrk="0" hangingPunct="0">
              <a:tabLst>
                <a:tab pos="1022350" algn="l"/>
              </a:tabLst>
            </a:pPr>
            <a:endParaRPr lang="en-US" sz="3200" dirty="0">
              <a:latin typeface="Tahoma" pitchFamily="34" charset="0"/>
            </a:endParaRPr>
          </a:p>
          <a:p>
            <a:pPr eaLnBrk="0" hangingPunct="0">
              <a:tabLst>
                <a:tab pos="1022350" algn="l"/>
              </a:tabLst>
            </a:pPr>
            <a:endParaRPr lang="en-US" sz="3200" dirty="0">
              <a:latin typeface="Tahoma" pitchFamily="34" charset="0"/>
            </a:endParaRPr>
          </a:p>
          <a:p>
            <a:pPr eaLnBrk="0" hangingPunct="0">
              <a:tabLst>
                <a:tab pos="1022350" algn="l"/>
              </a:tabLst>
            </a:pPr>
            <a:r>
              <a:rPr lang="en-US" sz="3200" dirty="0">
                <a:latin typeface="Tahoma" pitchFamily="34" charset="0"/>
              </a:rPr>
              <a:t>	=                         =                     </a:t>
            </a:r>
          </a:p>
          <a:p>
            <a:pPr eaLnBrk="0" hangingPunct="0">
              <a:tabLst>
                <a:tab pos="1022350" algn="l"/>
              </a:tabLst>
            </a:pPr>
            <a:endParaRPr lang="en-US" sz="3200" dirty="0">
              <a:latin typeface="Tahoma" pitchFamily="34" charset="0"/>
            </a:endParaRPr>
          </a:p>
          <a:p>
            <a:pPr eaLnBrk="0" hangingPunct="0">
              <a:tabLst>
                <a:tab pos="1022350" algn="l"/>
              </a:tabLst>
            </a:pPr>
            <a:r>
              <a:rPr lang="en-US" sz="3200" dirty="0">
                <a:latin typeface="Tahoma" pitchFamily="34" charset="0"/>
              </a:rPr>
              <a:t>         = 45.5 days. </a:t>
            </a:r>
          </a:p>
        </p:txBody>
      </p:sp>
      <p:sp>
        <p:nvSpPr>
          <p:cNvPr id="33797" name="Rectangle 4"/>
          <p:cNvSpPr>
            <a:spLocks noChangeArrowheads="1"/>
          </p:cNvSpPr>
          <p:nvPr/>
        </p:nvSpPr>
        <p:spPr bwMode="auto">
          <a:xfrm>
            <a:off x="2452689" y="2362200"/>
            <a:ext cx="4132263"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r>
              <a:rPr lang="en-US" sz="3200" dirty="0">
                <a:latin typeface="Tahoma" pitchFamily="34" charset="0"/>
              </a:rPr>
              <a:t>Receivables</a:t>
            </a:r>
          </a:p>
          <a:p>
            <a:pPr algn="ctr" eaLnBrk="0" hangingPunct="0">
              <a:lnSpc>
                <a:spcPct val="85000"/>
              </a:lnSpc>
            </a:pPr>
            <a:r>
              <a:rPr lang="en-US" sz="3200" dirty="0">
                <a:latin typeface="Tahoma" pitchFamily="34" charset="0"/>
              </a:rPr>
              <a:t>Average sales per day</a:t>
            </a:r>
          </a:p>
        </p:txBody>
      </p:sp>
      <p:sp>
        <p:nvSpPr>
          <p:cNvPr id="33798" name="Line 5"/>
          <p:cNvSpPr>
            <a:spLocks noChangeShapeType="1"/>
          </p:cNvSpPr>
          <p:nvPr/>
        </p:nvSpPr>
        <p:spPr bwMode="auto">
          <a:xfrm>
            <a:off x="5791202" y="4191000"/>
            <a:ext cx="19827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799" name="Line 6"/>
          <p:cNvSpPr>
            <a:spLocks noChangeShapeType="1"/>
          </p:cNvSpPr>
          <p:nvPr/>
        </p:nvSpPr>
        <p:spPr bwMode="auto">
          <a:xfrm>
            <a:off x="2362201" y="2819400"/>
            <a:ext cx="42814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800" name="Rectangle 11"/>
          <p:cNvSpPr>
            <a:spLocks noChangeArrowheads="1"/>
          </p:cNvSpPr>
          <p:nvPr/>
        </p:nvSpPr>
        <p:spPr bwMode="auto">
          <a:xfrm>
            <a:off x="5624514" y="3806825"/>
            <a:ext cx="2238375"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r>
              <a:rPr lang="en-US" sz="3200">
                <a:latin typeface="Tahoma" pitchFamily="34" charset="0"/>
              </a:rPr>
              <a:t>$878</a:t>
            </a:r>
          </a:p>
          <a:p>
            <a:pPr algn="ctr" eaLnBrk="0" hangingPunct="0">
              <a:lnSpc>
                <a:spcPct val="85000"/>
              </a:lnSpc>
            </a:pPr>
            <a:r>
              <a:rPr lang="en-US" sz="3200">
                <a:latin typeface="Tahoma" pitchFamily="34" charset="0"/>
              </a:rPr>
              <a:t>$7,036/365</a:t>
            </a:r>
          </a:p>
        </p:txBody>
      </p:sp>
      <p:sp>
        <p:nvSpPr>
          <p:cNvPr id="33801" name="Rectangle 10"/>
          <p:cNvSpPr>
            <a:spLocks noChangeArrowheads="1"/>
          </p:cNvSpPr>
          <p:nvPr/>
        </p:nvSpPr>
        <p:spPr bwMode="auto">
          <a:xfrm>
            <a:off x="2407944" y="3886200"/>
            <a:ext cx="2280241" cy="508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lnSpc>
                <a:spcPct val="85000"/>
              </a:lnSpc>
            </a:pPr>
            <a:r>
              <a:rPr lang="en-US" sz="3200" u="sng" dirty="0">
                <a:latin typeface="Tahoma" pitchFamily="34" charset="0"/>
              </a:rPr>
              <a:t>Receivables</a:t>
            </a:r>
            <a:endParaRPr lang="en-US" sz="3200" dirty="0">
              <a:latin typeface="Tahoma" pitchFamily="34" charset="0"/>
            </a:endParaRPr>
          </a:p>
        </p:txBody>
      </p:sp>
      <p:sp>
        <p:nvSpPr>
          <p:cNvPr id="33795" name="Rectangle 14"/>
          <p:cNvSpPr>
            <a:spLocks noGrp="1" noChangeArrowheads="1"/>
          </p:cNvSpPr>
          <p:nvPr>
            <p:ph type="title"/>
          </p:nvPr>
        </p:nvSpPr>
        <p:spPr/>
        <p:txBody>
          <a:bodyPr>
            <a:normAutofit fontScale="90000"/>
          </a:bodyPr>
          <a:lstStyle/>
          <a:p>
            <a:pPr eaLnBrk="1" hangingPunct="1"/>
            <a:r>
              <a:rPr lang="en-US"/>
              <a:t>DSO: average number of days from sale until cash received.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80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7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7" grpId="0"/>
      <p:bldP spid="33798" grpId="0" animBg="1"/>
      <p:bldP spid="33799" grpId="0" animBg="1"/>
      <p:bldP spid="33800" grpId="0"/>
      <p:bldP spid="3380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12"/>
          </p:nvPr>
        </p:nvSpPr>
        <p:spPr/>
        <p:txBody>
          <a:bodyPr/>
          <a:lstStyle/>
          <a:p>
            <a:pPr>
              <a:defRPr/>
            </a:pPr>
            <a:fld id="{E59DE425-BB3F-49A1-AF3D-89106897D425}" type="slidenum">
              <a:rPr lang="en-US"/>
              <a:pPr>
                <a:defRPr/>
              </a:pPr>
              <a:t>18</a:t>
            </a:fld>
            <a:endParaRPr lang="en-US"/>
          </a:p>
        </p:txBody>
      </p:sp>
      <p:sp>
        <p:nvSpPr>
          <p:cNvPr id="34818" name="Rectangle 11"/>
          <p:cNvSpPr>
            <a:spLocks noGrp="1" noChangeArrowheads="1"/>
          </p:cNvSpPr>
          <p:nvPr>
            <p:ph type="title"/>
          </p:nvPr>
        </p:nvSpPr>
        <p:spPr/>
        <p:txBody>
          <a:bodyPr/>
          <a:lstStyle/>
          <a:p>
            <a:pPr eaLnBrk="1" hangingPunct="1"/>
            <a:r>
              <a:rPr lang="en-US"/>
              <a:t>Appraisal of DSO</a:t>
            </a:r>
          </a:p>
        </p:txBody>
      </p:sp>
      <p:sp>
        <p:nvSpPr>
          <p:cNvPr id="34819" name="Rectangle 12"/>
          <p:cNvSpPr>
            <a:spLocks noGrp="1" noChangeArrowheads="1"/>
          </p:cNvSpPr>
          <p:nvPr>
            <p:ph type="body" idx="1"/>
          </p:nvPr>
        </p:nvSpPr>
        <p:spPr>
          <a:xfrm>
            <a:off x="628650" y="3228975"/>
            <a:ext cx="7886700" cy="2947988"/>
          </a:xfrm>
        </p:spPr>
        <p:txBody>
          <a:bodyPr/>
          <a:lstStyle/>
          <a:p>
            <a:pPr eaLnBrk="1" hangingPunct="1"/>
            <a:r>
              <a:rPr lang="en-US" dirty="0"/>
              <a:t> </a:t>
            </a:r>
          </a:p>
          <a:p>
            <a:pPr eaLnBrk="1" hangingPunct="1"/>
            <a:r>
              <a:rPr lang="en-US" dirty="0"/>
              <a:t> </a:t>
            </a:r>
          </a:p>
          <a:p>
            <a:pPr eaLnBrk="1" hangingPunct="1"/>
            <a:endParaRPr lang="en-US" dirty="0"/>
          </a:p>
          <a:p>
            <a:pPr eaLnBrk="1" hangingPunct="1"/>
            <a:endParaRPr lang="en-US" dirty="0"/>
          </a:p>
          <a:p>
            <a:pPr eaLnBrk="1" hangingPunct="1"/>
            <a:endParaRPr lang="en-US" dirty="0"/>
          </a:p>
          <a:p>
            <a:pPr eaLnBrk="1" hangingPunct="1"/>
            <a:endParaRPr lang="en-US" dirty="0"/>
          </a:p>
        </p:txBody>
      </p:sp>
      <p:grpSp>
        <p:nvGrpSpPr>
          <p:cNvPr id="34820" name="Group 13"/>
          <p:cNvGrpSpPr>
            <a:grpSpLocks/>
          </p:cNvGrpSpPr>
          <p:nvPr/>
        </p:nvGrpSpPr>
        <p:grpSpPr bwMode="auto">
          <a:xfrm>
            <a:off x="628650" y="1524006"/>
            <a:ext cx="7389813" cy="1123118"/>
            <a:chOff x="804" y="3275"/>
            <a:chExt cx="4343" cy="155"/>
          </a:xfrm>
        </p:grpSpPr>
        <p:sp>
          <p:nvSpPr>
            <p:cNvPr id="34821" name="Rectangle 7"/>
            <p:cNvSpPr>
              <a:spLocks noChangeArrowheads="1"/>
            </p:cNvSpPr>
            <p:nvPr/>
          </p:nvSpPr>
          <p:spPr bwMode="auto">
            <a:xfrm>
              <a:off x="804" y="3275"/>
              <a:ext cx="4343"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lnSpc>
                  <a:spcPct val="110000"/>
                </a:lnSpc>
                <a:tabLst>
                  <a:tab pos="1762125" algn="ctr"/>
                  <a:tab pos="3143250" algn="ctr"/>
                  <a:tab pos="4524375" algn="ctr"/>
                  <a:tab pos="5881688" algn="ctr"/>
                </a:tabLst>
              </a:pPr>
              <a:r>
                <a:rPr lang="en-US" sz="3200" dirty="0">
                  <a:latin typeface="Tahoma" pitchFamily="34" charset="0"/>
                </a:rPr>
                <a:t>	</a:t>
              </a:r>
              <a:r>
                <a:rPr lang="en-US" sz="3100" u="sng" dirty="0">
                  <a:latin typeface="Tahoma" pitchFamily="34" charset="0"/>
                </a:rPr>
                <a:t>20x2Est</a:t>
              </a:r>
              <a:r>
                <a:rPr lang="en-US" sz="3100" dirty="0">
                  <a:latin typeface="Tahoma" pitchFamily="34" charset="0"/>
                </a:rPr>
                <a:t>	</a:t>
              </a:r>
              <a:r>
                <a:rPr lang="en-US" sz="3100" u="sng" dirty="0">
                  <a:latin typeface="Tahoma" pitchFamily="34" charset="0"/>
                </a:rPr>
                <a:t>20x1</a:t>
              </a:r>
              <a:r>
                <a:rPr lang="en-US" sz="3100" dirty="0">
                  <a:latin typeface="Tahoma" pitchFamily="34" charset="0"/>
                </a:rPr>
                <a:t>	</a:t>
              </a:r>
              <a:r>
                <a:rPr lang="en-US" sz="3100" u="sng" dirty="0">
                  <a:latin typeface="Tahoma" pitchFamily="34" charset="0"/>
                </a:rPr>
                <a:t>20x0</a:t>
              </a:r>
              <a:r>
                <a:rPr lang="en-US" sz="3100" dirty="0">
                  <a:latin typeface="Tahoma" pitchFamily="34" charset="0"/>
                </a:rPr>
                <a:t>	</a:t>
              </a:r>
              <a:r>
                <a:rPr lang="en-US" sz="3100" u="sng" dirty="0">
                  <a:latin typeface="Tahoma" pitchFamily="34" charset="0"/>
                </a:rPr>
                <a:t>Ind.</a:t>
              </a:r>
            </a:p>
            <a:p>
              <a:pPr eaLnBrk="0" hangingPunct="0">
                <a:lnSpc>
                  <a:spcPct val="110000"/>
                </a:lnSpc>
                <a:tabLst>
                  <a:tab pos="1762125" algn="ctr"/>
                  <a:tab pos="3143250" algn="ctr"/>
                  <a:tab pos="4524375" algn="ctr"/>
                  <a:tab pos="5881688" algn="ctr"/>
                </a:tabLst>
              </a:pPr>
              <a:r>
                <a:rPr lang="en-US" sz="3200" dirty="0">
                  <a:latin typeface="Tahoma" pitchFamily="34" charset="0"/>
                </a:rPr>
                <a:t>DSO	45.5	39.5	37.4	32.0</a:t>
              </a:r>
            </a:p>
          </p:txBody>
        </p:sp>
        <p:sp>
          <p:nvSpPr>
            <p:cNvPr id="34822" name="Line 8"/>
            <p:cNvSpPr>
              <a:spLocks noChangeShapeType="1"/>
            </p:cNvSpPr>
            <p:nvPr/>
          </p:nvSpPr>
          <p:spPr bwMode="auto">
            <a:xfrm>
              <a:off x="1441" y="3276"/>
              <a:ext cx="34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23" name="Line 9"/>
            <p:cNvSpPr>
              <a:spLocks noChangeShapeType="1"/>
            </p:cNvSpPr>
            <p:nvPr/>
          </p:nvSpPr>
          <p:spPr bwMode="auto">
            <a:xfrm>
              <a:off x="1440" y="3277"/>
              <a:ext cx="1" cy="1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4" name="Rectangle 10"/>
          <p:cNvSpPr>
            <a:spLocks noChangeArrowheads="1"/>
          </p:cNvSpPr>
          <p:nvPr/>
        </p:nvSpPr>
        <p:spPr bwMode="auto">
          <a:xfrm>
            <a:off x="4006850" y="2646363"/>
            <a:ext cx="3844925"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a:t>
            </a:r>
          </a:p>
          <a:p>
            <a:pPr eaLnBrk="0" hangingPunct="0"/>
            <a:endParaRPr lang="en-US" sz="3200" dirty="0">
              <a:latin typeface="Tahoma" pitchFamily="34" charset="0"/>
            </a:endParaRPr>
          </a:p>
          <a:p>
            <a:pPr eaLnBrk="0" hangingPunct="0"/>
            <a:r>
              <a:rPr lang="en-US" sz="3200" dirty="0">
                <a:latin typeface="Tahoma" pitchFamily="34" charset="0"/>
              </a:rPr>
              <a:t>=                = 8.41.</a:t>
            </a:r>
          </a:p>
        </p:txBody>
      </p:sp>
      <p:sp>
        <p:nvSpPr>
          <p:cNvPr id="17" name="Slide Number Placeholder 4"/>
          <p:cNvSpPr>
            <a:spLocks noGrp="1"/>
          </p:cNvSpPr>
          <p:nvPr>
            <p:ph type="sldNum" sz="quarter" idx="12"/>
          </p:nvPr>
        </p:nvSpPr>
        <p:spPr/>
        <p:txBody>
          <a:bodyPr/>
          <a:lstStyle/>
          <a:p>
            <a:pPr>
              <a:defRPr/>
            </a:pPr>
            <a:fld id="{C11F05FF-F005-4F65-9198-220B95D3B2A8}" type="slidenum">
              <a:rPr lang="en-US"/>
              <a:pPr>
                <a:defRPr/>
              </a:pPr>
              <a:t>19</a:t>
            </a:fld>
            <a:endParaRPr lang="en-US"/>
          </a:p>
        </p:txBody>
      </p:sp>
      <p:sp>
        <p:nvSpPr>
          <p:cNvPr id="35842" name="Rectangle 13"/>
          <p:cNvSpPr>
            <a:spLocks noChangeArrowheads="1"/>
          </p:cNvSpPr>
          <p:nvPr/>
        </p:nvSpPr>
        <p:spPr bwMode="auto">
          <a:xfrm>
            <a:off x="1398588" y="4502150"/>
            <a:ext cx="23161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dirty="0">
                <a:latin typeface="Tahoma" pitchFamily="34" charset="0"/>
              </a:rPr>
              <a:t>Total assets</a:t>
            </a:r>
          </a:p>
          <a:p>
            <a:pPr algn="ctr" eaLnBrk="0" hangingPunct="0">
              <a:lnSpc>
                <a:spcPct val="85000"/>
              </a:lnSpc>
            </a:pPr>
            <a:r>
              <a:rPr lang="en-US" sz="3200" dirty="0">
                <a:latin typeface="Tahoma" pitchFamily="34" charset="0"/>
              </a:rPr>
              <a:t>turnover</a:t>
            </a:r>
          </a:p>
        </p:txBody>
      </p:sp>
      <p:sp>
        <p:nvSpPr>
          <p:cNvPr id="35843" name="Rectangle 15"/>
          <p:cNvSpPr>
            <a:spLocks noChangeArrowheads="1"/>
          </p:cNvSpPr>
          <p:nvPr/>
        </p:nvSpPr>
        <p:spPr bwMode="auto">
          <a:xfrm>
            <a:off x="3959225" y="4710113"/>
            <a:ext cx="3844925" cy="155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a:latin typeface="Tahoma" pitchFamily="34" charset="0"/>
              </a:rPr>
              <a:t>=</a:t>
            </a:r>
          </a:p>
          <a:p>
            <a:pPr eaLnBrk="0" hangingPunct="0"/>
            <a:endParaRPr lang="en-US" sz="3200">
              <a:latin typeface="Tahoma" pitchFamily="34" charset="0"/>
            </a:endParaRPr>
          </a:p>
          <a:p>
            <a:pPr eaLnBrk="0" hangingPunct="0"/>
            <a:r>
              <a:rPr lang="en-US" sz="3200">
                <a:latin typeface="Tahoma" pitchFamily="34" charset="0"/>
              </a:rPr>
              <a:t>=                = 2.00.</a:t>
            </a:r>
          </a:p>
        </p:txBody>
      </p:sp>
      <p:sp>
        <p:nvSpPr>
          <p:cNvPr id="35844" name="Rectangle 14"/>
          <p:cNvSpPr>
            <a:spLocks noChangeArrowheads="1"/>
          </p:cNvSpPr>
          <p:nvPr/>
        </p:nvSpPr>
        <p:spPr bwMode="auto">
          <a:xfrm>
            <a:off x="4528165" y="4502150"/>
            <a:ext cx="2499083"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   </a:t>
            </a:r>
            <a:r>
              <a:rPr lang="en-US" u="sng" dirty="0">
                <a:latin typeface="Tahoma" pitchFamily="34" charset="0"/>
              </a:rPr>
              <a:t>     </a:t>
            </a:r>
            <a:r>
              <a:rPr lang="en-US" sz="3200" u="sng" dirty="0">
                <a:latin typeface="Tahoma" pitchFamily="34" charset="0"/>
              </a:rPr>
              <a:t>Sales</a:t>
            </a:r>
            <a:r>
              <a:rPr lang="en-US" u="sng" dirty="0">
                <a:latin typeface="Tahoma" pitchFamily="34" charset="0"/>
              </a:rPr>
              <a:t>       </a:t>
            </a:r>
            <a:r>
              <a:rPr lang="en-US" sz="3200" u="sng" dirty="0">
                <a:latin typeface="Tahoma" pitchFamily="34" charset="0"/>
              </a:rPr>
              <a:t> </a:t>
            </a:r>
          </a:p>
        </p:txBody>
      </p:sp>
      <p:sp>
        <p:nvSpPr>
          <p:cNvPr id="35845" name="Rectangle 16"/>
          <p:cNvSpPr>
            <a:spLocks noChangeArrowheads="1"/>
          </p:cNvSpPr>
          <p:nvPr/>
        </p:nvSpPr>
        <p:spPr bwMode="auto">
          <a:xfrm>
            <a:off x="4486275" y="5487988"/>
            <a:ext cx="14160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$7,036</a:t>
            </a:r>
            <a:endParaRPr lang="en-US" sz="3200" dirty="0">
              <a:latin typeface="Tahoma" pitchFamily="34" charset="0"/>
            </a:endParaRPr>
          </a:p>
          <a:p>
            <a:pPr algn="ctr" eaLnBrk="0" hangingPunct="0">
              <a:lnSpc>
                <a:spcPct val="85000"/>
              </a:lnSpc>
            </a:pPr>
            <a:r>
              <a:rPr lang="en-US" sz="3200" dirty="0">
                <a:latin typeface="Tahoma" pitchFamily="34" charset="0"/>
              </a:rPr>
              <a:t>$3,517</a:t>
            </a:r>
          </a:p>
        </p:txBody>
      </p:sp>
      <p:sp>
        <p:nvSpPr>
          <p:cNvPr id="35852" name="Rectangle 8"/>
          <p:cNvSpPr>
            <a:spLocks noChangeArrowheads="1"/>
          </p:cNvSpPr>
          <p:nvPr/>
        </p:nvSpPr>
        <p:spPr bwMode="auto">
          <a:xfrm>
            <a:off x="1420813" y="2438400"/>
            <a:ext cx="2362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dirty="0">
                <a:latin typeface="Tahoma" pitchFamily="34" charset="0"/>
              </a:rPr>
              <a:t>Fixed assets</a:t>
            </a:r>
          </a:p>
          <a:p>
            <a:pPr algn="ctr" eaLnBrk="0" hangingPunct="0">
              <a:lnSpc>
                <a:spcPct val="85000"/>
              </a:lnSpc>
            </a:pPr>
            <a:r>
              <a:rPr lang="en-US" sz="3200" dirty="0">
                <a:latin typeface="Tahoma" pitchFamily="34" charset="0"/>
              </a:rPr>
              <a:t>turnover</a:t>
            </a:r>
          </a:p>
        </p:txBody>
      </p:sp>
      <p:sp>
        <p:nvSpPr>
          <p:cNvPr id="35853" name="Rectangle 9"/>
          <p:cNvSpPr>
            <a:spLocks noChangeArrowheads="1"/>
          </p:cNvSpPr>
          <p:nvPr/>
        </p:nvSpPr>
        <p:spPr bwMode="auto">
          <a:xfrm>
            <a:off x="4643798" y="2438400"/>
            <a:ext cx="3044104"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u="sng" dirty="0">
                <a:latin typeface="Tahoma" pitchFamily="34" charset="0"/>
              </a:rPr>
              <a:t>    </a:t>
            </a:r>
            <a:r>
              <a:rPr lang="en-US" sz="3200" u="sng" dirty="0">
                <a:latin typeface="Tahoma" pitchFamily="34" charset="0"/>
              </a:rPr>
              <a:t>     Sales </a:t>
            </a:r>
            <a:r>
              <a:rPr lang="en-US" u="sng" dirty="0">
                <a:latin typeface="Tahoma" pitchFamily="34" charset="0"/>
              </a:rPr>
              <a:t>            </a:t>
            </a:r>
            <a:endParaRPr lang="en-US" sz="3200" u="sng" dirty="0">
              <a:latin typeface="Tahoma" pitchFamily="34" charset="0"/>
            </a:endParaRPr>
          </a:p>
        </p:txBody>
      </p:sp>
      <p:sp>
        <p:nvSpPr>
          <p:cNvPr id="35855" name="Rectangle 11"/>
          <p:cNvSpPr>
            <a:spLocks noChangeArrowheads="1"/>
          </p:cNvSpPr>
          <p:nvPr/>
        </p:nvSpPr>
        <p:spPr bwMode="auto">
          <a:xfrm>
            <a:off x="4533900" y="3424238"/>
            <a:ext cx="14160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$7,036</a:t>
            </a:r>
            <a:endParaRPr lang="en-US" sz="3200" dirty="0">
              <a:latin typeface="Tahoma" pitchFamily="34" charset="0"/>
            </a:endParaRPr>
          </a:p>
          <a:p>
            <a:pPr algn="ctr" eaLnBrk="0" hangingPunct="0">
              <a:lnSpc>
                <a:spcPct val="85000"/>
              </a:lnSpc>
            </a:pPr>
            <a:r>
              <a:rPr lang="en-US" sz="3200" dirty="0">
                <a:latin typeface="Tahoma" pitchFamily="34" charset="0"/>
              </a:rPr>
              <a:t>$837</a:t>
            </a:r>
          </a:p>
        </p:txBody>
      </p:sp>
      <p:sp>
        <p:nvSpPr>
          <p:cNvPr id="35848" name="Rectangle 23"/>
          <p:cNvSpPr>
            <a:spLocks noGrp="1" noChangeArrowheads="1"/>
          </p:cNvSpPr>
          <p:nvPr>
            <p:ph type="title"/>
          </p:nvPr>
        </p:nvSpPr>
        <p:spPr/>
        <p:txBody>
          <a:bodyPr>
            <a:normAutofit fontScale="90000"/>
          </a:bodyPr>
          <a:lstStyle/>
          <a:p>
            <a:pPr eaLnBrk="1" hangingPunct="1"/>
            <a:r>
              <a:rPr lang="en-US"/>
              <a:t>Fixed Assets and Total Assets</a:t>
            </a:r>
            <a:br>
              <a:rPr lang="en-US"/>
            </a:br>
            <a:r>
              <a:rPr lang="en-US"/>
              <a:t>Turnover Ratios</a:t>
            </a:r>
          </a:p>
        </p:txBody>
      </p:sp>
      <p:sp>
        <p:nvSpPr>
          <p:cNvPr id="35849" name="Rectangle 24"/>
          <p:cNvSpPr>
            <a:spLocks noChangeArrowheads="1"/>
          </p:cNvSpPr>
          <p:nvPr/>
        </p:nvSpPr>
        <p:spPr bwMode="auto">
          <a:xfrm>
            <a:off x="4416425" y="3246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eaLnBrk="0" hangingPunct="0"/>
            <a:r>
              <a:rPr lang="en-US"/>
              <a:t>  </a:t>
            </a:r>
          </a:p>
        </p:txBody>
      </p:sp>
      <p:sp>
        <p:nvSpPr>
          <p:cNvPr id="35850" name="Rectangle 25"/>
          <p:cNvSpPr>
            <a:spLocks noChangeArrowheads="1"/>
          </p:cNvSpPr>
          <p:nvPr/>
        </p:nvSpPr>
        <p:spPr bwMode="auto">
          <a:xfrm>
            <a:off x="4416425" y="3246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eaLnBrk="0" hangingPunct="0"/>
            <a:r>
              <a:rPr lang="en-US"/>
              <a:t>  </a:t>
            </a:r>
          </a:p>
        </p:txBody>
      </p:sp>
      <p:sp>
        <p:nvSpPr>
          <p:cNvPr id="35851" name="Rectangle 26"/>
          <p:cNvSpPr>
            <a:spLocks noChangeArrowheads="1"/>
          </p:cNvSpPr>
          <p:nvPr/>
        </p:nvSpPr>
        <p:spPr bwMode="auto">
          <a:xfrm>
            <a:off x="4416425" y="3246438"/>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p>
            <a:pPr eaLnBrk="0" hangingPunct="0"/>
            <a:r>
              <a:rPr lang="en-US"/>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8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8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58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8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8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p:bldP spid="35842" grpId="0"/>
      <p:bldP spid="35843" grpId="0"/>
      <p:bldP spid="35844" grpId="0"/>
      <p:bldP spid="35845" grpId="0"/>
      <p:bldP spid="35852" grpId="0"/>
      <p:bldP spid="35853" grpId="0"/>
      <p:bldP spid="358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6"/>
          <p:cNvSpPr>
            <a:spLocks noGrp="1"/>
          </p:cNvSpPr>
          <p:nvPr>
            <p:ph type="sldNum" sz="quarter" idx="12"/>
          </p:nvPr>
        </p:nvSpPr>
        <p:spPr/>
        <p:txBody>
          <a:bodyPr/>
          <a:lstStyle/>
          <a:p>
            <a:pPr>
              <a:defRPr/>
            </a:pPr>
            <a:fld id="{E74EBC88-46C8-463A-B560-65DFF519BEC2}" type="slidenum">
              <a:rPr lang="en-US"/>
              <a:pPr>
                <a:defRPr/>
              </a:pPr>
              <a:t>20</a:t>
            </a:fld>
            <a:endParaRPr lang="en-US"/>
          </a:p>
        </p:txBody>
      </p:sp>
      <p:sp>
        <p:nvSpPr>
          <p:cNvPr id="36866" name="Rectangle 4"/>
          <p:cNvSpPr>
            <a:spLocks noGrp="1" noChangeArrowheads="1"/>
          </p:cNvSpPr>
          <p:nvPr>
            <p:ph type="title"/>
          </p:nvPr>
        </p:nvSpPr>
        <p:spPr/>
        <p:txBody>
          <a:bodyPr/>
          <a:lstStyle/>
          <a:p>
            <a:pPr eaLnBrk="1" hangingPunct="1"/>
            <a:r>
              <a:rPr lang="en-US" dirty="0"/>
              <a:t>Fixed Assets and Total Assets</a:t>
            </a:r>
            <a:br>
              <a:rPr lang="en-US" dirty="0"/>
            </a:br>
            <a:r>
              <a:rPr lang="en-US" dirty="0"/>
              <a:t>Turnover Ratios</a:t>
            </a:r>
          </a:p>
        </p:txBody>
      </p:sp>
      <p:sp>
        <p:nvSpPr>
          <p:cNvPr id="36867" name="Rectangle 5"/>
          <p:cNvSpPr>
            <a:spLocks noGrp="1" noChangeArrowheads="1"/>
          </p:cNvSpPr>
          <p:nvPr>
            <p:ph type="body" sz="half" idx="1"/>
          </p:nvPr>
        </p:nvSpPr>
        <p:spPr>
          <a:xfrm>
            <a:off x="457200" y="4092576"/>
            <a:ext cx="8574088" cy="1973262"/>
          </a:xfrm>
        </p:spPr>
        <p:txBody>
          <a:bodyPr>
            <a:normAutofit/>
          </a:bodyPr>
          <a:lstStyle/>
          <a:p>
            <a:pPr eaLnBrk="1" hangingPunct="1"/>
            <a:r>
              <a:rPr lang="en-US" sz="2400" dirty="0"/>
              <a:t>FA turnover:   </a:t>
            </a:r>
          </a:p>
          <a:p>
            <a:pPr lvl="1"/>
            <a:r>
              <a:rPr lang="en-US" sz="2000" dirty="0"/>
              <a:t> </a:t>
            </a:r>
          </a:p>
          <a:p>
            <a:pPr eaLnBrk="1" hangingPunct="1"/>
            <a:r>
              <a:rPr lang="en-US" sz="2400" dirty="0"/>
              <a:t>TA turnover not up to industry average. Implication?</a:t>
            </a:r>
          </a:p>
          <a:p>
            <a:pPr lvl="1"/>
            <a:r>
              <a:rPr lang="en-US" sz="2000" dirty="0"/>
              <a:t> </a:t>
            </a:r>
          </a:p>
        </p:txBody>
      </p:sp>
      <p:graphicFrame>
        <p:nvGraphicFramePr>
          <p:cNvPr id="246816" name="Group 32"/>
          <p:cNvGraphicFramePr>
            <a:graphicFrameLocks noGrp="1"/>
          </p:cNvGraphicFramePr>
          <p:nvPr>
            <p:ph sz="half" idx="2"/>
            <p:extLst>
              <p:ext uri="{D42A27DB-BD31-4B8C-83A1-F6EECF244321}">
                <p14:modId xmlns:p14="http://schemas.microsoft.com/office/powerpoint/2010/main" val="1525777312"/>
              </p:ext>
            </p:extLst>
          </p:nvPr>
        </p:nvGraphicFramePr>
        <p:xfrm>
          <a:off x="685800" y="1828800"/>
          <a:ext cx="7772400" cy="1973263"/>
        </p:xfrm>
        <a:graphic>
          <a:graphicData uri="http://schemas.openxmlformats.org/drawingml/2006/table">
            <a:tbl>
              <a:tblPr/>
              <a:tblGrid>
                <a:gridCol w="1554162">
                  <a:extLst>
                    <a:ext uri="{9D8B030D-6E8A-4147-A177-3AD203B41FA5}">
                      <a16:colId xmlns:a16="http://schemas.microsoft.com/office/drawing/2014/main" val="20000"/>
                    </a:ext>
                  </a:extLst>
                </a:gridCol>
                <a:gridCol w="1554163">
                  <a:extLst>
                    <a:ext uri="{9D8B030D-6E8A-4147-A177-3AD203B41FA5}">
                      <a16:colId xmlns:a16="http://schemas.microsoft.com/office/drawing/2014/main" val="20001"/>
                    </a:ext>
                  </a:extLst>
                </a:gridCol>
                <a:gridCol w="1555750">
                  <a:extLst>
                    <a:ext uri="{9D8B030D-6E8A-4147-A177-3AD203B41FA5}">
                      <a16:colId xmlns:a16="http://schemas.microsoft.com/office/drawing/2014/main" val="20002"/>
                    </a:ext>
                  </a:extLst>
                </a:gridCol>
                <a:gridCol w="1554162">
                  <a:extLst>
                    <a:ext uri="{9D8B030D-6E8A-4147-A177-3AD203B41FA5}">
                      <a16:colId xmlns:a16="http://schemas.microsoft.com/office/drawing/2014/main" val="20003"/>
                    </a:ext>
                  </a:extLst>
                </a:gridCol>
                <a:gridCol w="1554163">
                  <a:extLst>
                    <a:ext uri="{9D8B030D-6E8A-4147-A177-3AD203B41FA5}">
                      <a16:colId xmlns:a16="http://schemas.microsoft.com/office/drawing/2014/main" val="20004"/>
                    </a:ext>
                  </a:extLst>
                </a:gridCol>
              </a:tblGrid>
              <a:tr h="657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20x2Est</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20x1</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20x0</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Ind.</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88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FA TO</a:t>
                      </a:r>
                      <a:endParaRPr kumimoji="0" lang="en-US" sz="2800" b="0" i="0" u="none" strike="noStrike" cap="none" normalizeH="0" baseline="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8.4</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6.2</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10.0</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7.0</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72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TA TO</a:t>
                      </a:r>
                      <a:endParaRPr kumimoji="0" lang="en-US" sz="2800" b="0" i="0" u="none" strike="noStrike" cap="none" normalizeH="0" baseline="0" dirty="0">
                        <a:ln>
                          <a:noFill/>
                        </a:ln>
                        <a:solidFill>
                          <a:schemeClr val="tx1"/>
                        </a:solidFill>
                        <a:effectLst/>
                        <a:latin typeface="Tahom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2.0</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2.0</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a:ln>
                            <a:noFill/>
                          </a:ln>
                          <a:solidFill>
                            <a:schemeClr val="tx1"/>
                          </a:solidFill>
                          <a:effectLst/>
                          <a:latin typeface="Tahoma" pitchFamily="34" charset="0"/>
                        </a:rPr>
                        <a:t>2.3</a:t>
                      </a:r>
                      <a:endParaRPr kumimoji="0" lang="en-US" sz="2800" b="0" i="0" u="none" strike="noStrike" cap="none" normalizeH="0" baseline="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pl-PL" sz="2800" b="0" i="0" u="none" strike="noStrike" cap="none" normalizeH="0" baseline="0" dirty="0">
                          <a:ln>
                            <a:noFill/>
                          </a:ln>
                          <a:solidFill>
                            <a:schemeClr val="tx1"/>
                          </a:solidFill>
                          <a:effectLst/>
                          <a:latin typeface="Tahoma" pitchFamily="34" charset="0"/>
                        </a:rPr>
                        <a:t>2.5</a:t>
                      </a:r>
                      <a:endParaRPr kumimoji="0" lang="en-US" sz="2800" b="0"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043152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68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86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411E560D-665E-4C66-AAB8-2A08D3C3B907}" type="slidenum">
              <a:rPr lang="en-US"/>
              <a:pPr>
                <a:defRPr/>
              </a:pPr>
              <a:t>21</a:t>
            </a:fld>
            <a:endParaRPr lang="en-US"/>
          </a:p>
        </p:txBody>
      </p:sp>
      <p:sp>
        <p:nvSpPr>
          <p:cNvPr id="37890" name="Rectangle 2"/>
          <p:cNvSpPr>
            <a:spLocks noGrp="1" noChangeArrowheads="1"/>
          </p:cNvSpPr>
          <p:nvPr>
            <p:ph type="title"/>
          </p:nvPr>
        </p:nvSpPr>
        <p:spPr/>
        <p:txBody>
          <a:bodyPr/>
          <a:lstStyle/>
          <a:p>
            <a:pPr eaLnBrk="1" hangingPunct="1"/>
            <a:r>
              <a:rPr lang="en-US"/>
              <a:t>Debt Management Ratios</a:t>
            </a:r>
          </a:p>
        </p:txBody>
      </p:sp>
      <p:sp>
        <p:nvSpPr>
          <p:cNvPr id="37891" name="Rectangle 3"/>
          <p:cNvSpPr>
            <a:spLocks noGrp="1" noChangeArrowheads="1"/>
          </p:cNvSpPr>
          <p:nvPr>
            <p:ph type="body" idx="1"/>
          </p:nvPr>
        </p:nvSpPr>
        <p:spPr>
          <a:xfrm>
            <a:off x="228600" y="1752600"/>
            <a:ext cx="8610600" cy="4424363"/>
          </a:xfrm>
        </p:spPr>
        <p:txBody>
          <a:bodyPr/>
          <a:lstStyle/>
          <a:p>
            <a:pPr eaLnBrk="1" hangingPunct="1"/>
            <a:r>
              <a:rPr lang="en-US" dirty="0"/>
              <a:t>Does company have too much debt?</a:t>
            </a:r>
          </a:p>
          <a:p>
            <a:pPr eaLnBrk="1" hangingPunct="1"/>
            <a:r>
              <a:rPr lang="en-US" dirty="0"/>
              <a:t>Can earnings meet its debt servicing requirements?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pPr>
              <a:defRPr/>
            </a:pPr>
            <a:fld id="{D24159E8-AEEF-463B-BD1A-E853C6F3F0B2}" type="slidenum">
              <a:rPr lang="en-US"/>
              <a:pPr>
                <a:defRPr/>
              </a:pPr>
              <a:t>22</a:t>
            </a:fld>
            <a:endParaRPr lang="en-US"/>
          </a:p>
        </p:txBody>
      </p:sp>
      <p:sp>
        <p:nvSpPr>
          <p:cNvPr id="38917" name="Rectangle 6"/>
          <p:cNvSpPr>
            <a:spLocks noChangeArrowheads="1"/>
          </p:cNvSpPr>
          <p:nvPr/>
        </p:nvSpPr>
        <p:spPr bwMode="auto">
          <a:xfrm>
            <a:off x="914400" y="4291013"/>
            <a:ext cx="5762625"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en-US"/>
          </a:p>
        </p:txBody>
      </p:sp>
      <p:sp>
        <p:nvSpPr>
          <p:cNvPr id="38918" name="Rectangle 7"/>
          <p:cNvSpPr>
            <a:spLocks noChangeArrowheads="1"/>
          </p:cNvSpPr>
          <p:nvPr/>
        </p:nvSpPr>
        <p:spPr bwMode="auto">
          <a:xfrm>
            <a:off x="914400" y="2209800"/>
            <a:ext cx="64008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en-US"/>
          </a:p>
        </p:txBody>
      </p:sp>
      <p:sp>
        <p:nvSpPr>
          <p:cNvPr id="38919" name="Rectangle 8"/>
          <p:cNvSpPr>
            <a:spLocks noChangeArrowheads="1"/>
          </p:cNvSpPr>
          <p:nvPr/>
        </p:nvSpPr>
        <p:spPr bwMode="auto">
          <a:xfrm>
            <a:off x="5334001" y="2244725"/>
            <a:ext cx="3740150" cy="100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  Total liabilities  </a:t>
            </a:r>
            <a:endParaRPr lang="en-US" sz="3200" dirty="0">
              <a:latin typeface="Tahoma" pitchFamily="34" charset="0"/>
            </a:endParaRPr>
          </a:p>
          <a:p>
            <a:pPr algn="ctr" eaLnBrk="0" hangingPunct="0">
              <a:lnSpc>
                <a:spcPct val="85000"/>
              </a:lnSpc>
            </a:pPr>
            <a:r>
              <a:rPr lang="en-US" sz="3200" dirty="0">
                <a:latin typeface="Tahoma" pitchFamily="34" charset="0"/>
              </a:rPr>
              <a:t>Total assets</a:t>
            </a:r>
          </a:p>
        </p:txBody>
      </p:sp>
      <p:sp>
        <p:nvSpPr>
          <p:cNvPr id="38920" name="Rectangle 9"/>
          <p:cNvSpPr>
            <a:spLocks noChangeArrowheads="1"/>
          </p:cNvSpPr>
          <p:nvPr/>
        </p:nvSpPr>
        <p:spPr bwMode="auto">
          <a:xfrm>
            <a:off x="228601" y="2473325"/>
            <a:ext cx="8534400" cy="1567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tabLst>
                <a:tab pos="2119313" algn="l"/>
              </a:tabLst>
            </a:pPr>
            <a:r>
              <a:rPr lang="en-US" sz="3200" dirty="0">
                <a:latin typeface="Tahoma" pitchFamily="34" charset="0"/>
              </a:rPr>
              <a:t>Liabilities-to-Assets ratio	=</a:t>
            </a:r>
          </a:p>
          <a:p>
            <a:pPr eaLnBrk="0" hangingPunct="0">
              <a:tabLst>
                <a:tab pos="2119313" algn="l"/>
              </a:tabLst>
            </a:pPr>
            <a:endParaRPr lang="en-US" sz="3200" dirty="0">
              <a:latin typeface="Tahoma" pitchFamily="34" charset="0"/>
            </a:endParaRPr>
          </a:p>
          <a:p>
            <a:pPr eaLnBrk="0" hangingPunct="0">
              <a:tabLst>
                <a:tab pos="2119313" algn="l"/>
              </a:tabLst>
            </a:pPr>
            <a:r>
              <a:rPr lang="en-US" sz="3200" dirty="0">
                <a:latin typeface="Tahoma" pitchFamily="34" charset="0"/>
              </a:rPr>
              <a:t>	=                           = 43.8%.</a:t>
            </a:r>
          </a:p>
        </p:txBody>
      </p:sp>
      <p:sp>
        <p:nvSpPr>
          <p:cNvPr id="38921" name="Rectangle 10"/>
          <p:cNvSpPr>
            <a:spLocks noChangeArrowheads="1"/>
          </p:cNvSpPr>
          <p:nvPr/>
        </p:nvSpPr>
        <p:spPr bwMode="auto">
          <a:xfrm>
            <a:off x="3144837" y="3226229"/>
            <a:ext cx="28543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$1,040 + $500</a:t>
            </a:r>
            <a:endParaRPr lang="en-US" sz="3200" dirty="0">
              <a:latin typeface="Tahoma" pitchFamily="34" charset="0"/>
            </a:endParaRPr>
          </a:p>
          <a:p>
            <a:pPr algn="ctr" eaLnBrk="0" hangingPunct="0">
              <a:lnSpc>
                <a:spcPct val="85000"/>
              </a:lnSpc>
            </a:pPr>
            <a:r>
              <a:rPr lang="en-US" sz="3200" dirty="0">
                <a:latin typeface="Tahoma" pitchFamily="34" charset="0"/>
              </a:rPr>
              <a:t>$3,517</a:t>
            </a:r>
          </a:p>
        </p:txBody>
      </p:sp>
      <p:sp>
        <p:nvSpPr>
          <p:cNvPr id="38922" name="Rectangle 11"/>
          <p:cNvSpPr>
            <a:spLocks noChangeArrowheads="1"/>
          </p:cNvSpPr>
          <p:nvPr/>
        </p:nvSpPr>
        <p:spPr bwMode="auto">
          <a:xfrm>
            <a:off x="3829050" y="4308475"/>
            <a:ext cx="2647950" cy="36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u="sng" dirty="0"/>
              <a:t> </a:t>
            </a:r>
            <a:endParaRPr lang="en-US" sz="3200" dirty="0">
              <a:latin typeface="Tahoma" pitchFamily="34" charset="0"/>
            </a:endParaRPr>
          </a:p>
        </p:txBody>
      </p:sp>
      <p:sp>
        <p:nvSpPr>
          <p:cNvPr id="38923" name="Rectangle 12"/>
          <p:cNvSpPr>
            <a:spLocks noChangeArrowheads="1"/>
          </p:cNvSpPr>
          <p:nvPr/>
        </p:nvSpPr>
        <p:spPr bwMode="auto">
          <a:xfrm>
            <a:off x="1225550" y="4516438"/>
            <a:ext cx="5827713" cy="155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tabLst>
                <a:tab pos="2119313" algn="l"/>
              </a:tabLst>
            </a:pPr>
            <a:r>
              <a:rPr lang="en-US" sz="3200" dirty="0">
                <a:latin typeface="Tahoma" pitchFamily="34" charset="0"/>
              </a:rPr>
              <a:t>           TIE	=</a:t>
            </a:r>
          </a:p>
          <a:p>
            <a:pPr eaLnBrk="0" hangingPunct="0">
              <a:tabLst>
                <a:tab pos="2119313" algn="l"/>
              </a:tabLst>
            </a:pPr>
            <a:endParaRPr lang="en-US" sz="3200" dirty="0">
              <a:latin typeface="Tahoma" pitchFamily="34" charset="0"/>
            </a:endParaRPr>
          </a:p>
          <a:p>
            <a:pPr eaLnBrk="0" hangingPunct="0">
              <a:tabLst>
                <a:tab pos="2119313" algn="l"/>
              </a:tabLst>
            </a:pPr>
            <a:r>
              <a:rPr lang="en-US" sz="3200" dirty="0">
                <a:latin typeface="Tahoma" pitchFamily="34" charset="0"/>
              </a:rPr>
              <a:t>	=               = 6.3.</a:t>
            </a:r>
          </a:p>
        </p:txBody>
      </p:sp>
      <p:sp>
        <p:nvSpPr>
          <p:cNvPr id="38924" name="Rectangle 13"/>
          <p:cNvSpPr>
            <a:spLocks noChangeArrowheads="1"/>
          </p:cNvSpPr>
          <p:nvPr/>
        </p:nvSpPr>
        <p:spPr bwMode="auto">
          <a:xfrm>
            <a:off x="3789363" y="5294313"/>
            <a:ext cx="14160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$502.6</a:t>
            </a:r>
            <a:endParaRPr lang="en-US" sz="3200">
              <a:latin typeface="Tahoma" pitchFamily="34" charset="0"/>
            </a:endParaRPr>
          </a:p>
          <a:p>
            <a:pPr algn="ctr" eaLnBrk="0" hangingPunct="0">
              <a:lnSpc>
                <a:spcPct val="85000"/>
              </a:lnSpc>
            </a:pPr>
            <a:r>
              <a:rPr lang="en-US" sz="3200">
                <a:latin typeface="Tahoma" pitchFamily="34" charset="0"/>
              </a:rPr>
              <a:t>$80</a:t>
            </a:r>
          </a:p>
        </p:txBody>
      </p:sp>
      <p:sp>
        <p:nvSpPr>
          <p:cNvPr id="38915" name="Rectangle 15"/>
          <p:cNvSpPr>
            <a:spLocks noChangeArrowheads="1"/>
          </p:cNvSpPr>
          <p:nvPr/>
        </p:nvSpPr>
        <p:spPr bwMode="auto">
          <a:xfrm>
            <a:off x="7397750" y="5867400"/>
            <a:ext cx="1184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2000"/>
              <a:t>(More…)</a:t>
            </a:r>
          </a:p>
        </p:txBody>
      </p:sp>
      <p:sp>
        <p:nvSpPr>
          <p:cNvPr id="38916" name="Rectangle 18"/>
          <p:cNvSpPr>
            <a:spLocks noGrp="1" noChangeArrowheads="1"/>
          </p:cNvSpPr>
          <p:nvPr>
            <p:ph type="title"/>
          </p:nvPr>
        </p:nvSpPr>
        <p:spPr/>
        <p:txBody>
          <a:bodyPr>
            <a:normAutofit fontScale="90000"/>
          </a:bodyPr>
          <a:lstStyle/>
          <a:p>
            <a:pPr eaLnBrk="1" hangingPunct="1"/>
            <a:r>
              <a:rPr lang="en-US"/>
              <a:t>Calculate the debt, TIE, and EBITDA coverage ratios.</a:t>
            </a:r>
          </a:p>
        </p:txBody>
      </p:sp>
    </p:spTree>
    <p:extLst>
      <p:ext uri="{BB962C8B-B14F-4D97-AF65-F5344CB8AC3E}">
        <p14:creationId xmlns:p14="http://schemas.microsoft.com/office/powerpoint/2010/main" val="11683205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89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89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9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9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9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18" grpId="0"/>
      <p:bldP spid="38919" grpId="0"/>
      <p:bldP spid="38920" grpId="0"/>
      <p:bldP spid="38921" grpId="0"/>
      <p:bldP spid="38922" grpId="0"/>
      <p:bldP spid="38923" grpId="0"/>
      <p:bldP spid="389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B6DCE72D-89A8-4C08-AE7B-FFA0D33C7851}" type="slidenum">
              <a:rPr lang="en-US"/>
              <a:pPr>
                <a:defRPr/>
              </a:pPr>
              <a:t>23</a:t>
            </a:fld>
            <a:endParaRPr lang="en-US"/>
          </a:p>
        </p:txBody>
      </p:sp>
      <p:sp>
        <p:nvSpPr>
          <p:cNvPr id="39940" name="Rectangle 7"/>
          <p:cNvSpPr>
            <a:spLocks noChangeArrowheads="1"/>
          </p:cNvSpPr>
          <p:nvPr/>
        </p:nvSpPr>
        <p:spPr bwMode="auto">
          <a:xfrm>
            <a:off x="914401" y="3276600"/>
            <a:ext cx="6519863" cy="2551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sz="3200" dirty="0">
                <a:latin typeface="Tahoma" pitchFamily="34" charset="0"/>
              </a:rPr>
              <a:t> </a:t>
            </a:r>
          </a:p>
          <a:p>
            <a:pPr eaLnBrk="0" hangingPunct="0"/>
            <a:endParaRPr lang="en-US" sz="3200" dirty="0">
              <a:latin typeface="Tahoma" pitchFamily="34" charset="0"/>
            </a:endParaRPr>
          </a:p>
          <a:p>
            <a:pPr eaLnBrk="0" hangingPunct="0"/>
            <a:endParaRPr lang="en-US" sz="3200" dirty="0">
              <a:latin typeface="Tahoma" pitchFamily="34" charset="0"/>
            </a:endParaRPr>
          </a:p>
          <a:p>
            <a:pPr eaLnBrk="0" hangingPunct="0"/>
            <a:endParaRPr lang="en-US" sz="3200" dirty="0">
              <a:latin typeface="Tahoma" pitchFamily="34" charset="0"/>
            </a:endParaRPr>
          </a:p>
          <a:p>
            <a:pPr eaLnBrk="0" hangingPunct="0"/>
            <a:r>
              <a:rPr lang="en-US" sz="3200" dirty="0">
                <a:latin typeface="Tahoma" pitchFamily="34" charset="0"/>
              </a:rPr>
              <a:t>=                                      = 7.78</a:t>
            </a:r>
          </a:p>
        </p:txBody>
      </p:sp>
      <p:sp>
        <p:nvSpPr>
          <p:cNvPr id="39941" name="Rectangle 8"/>
          <p:cNvSpPr>
            <a:spLocks noChangeArrowheads="1"/>
          </p:cNvSpPr>
          <p:nvPr/>
        </p:nvSpPr>
        <p:spPr bwMode="auto">
          <a:xfrm>
            <a:off x="728663" y="2971800"/>
            <a:ext cx="6357511" cy="1591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lnSpc>
                <a:spcPct val="120000"/>
              </a:lnSpc>
            </a:pPr>
            <a:r>
              <a:rPr lang="en-US" sz="3200" u="sng" dirty="0">
                <a:latin typeface="Tahoma" pitchFamily="34" charset="0"/>
              </a:rPr>
              <a:t>EBIT + </a:t>
            </a:r>
            <a:r>
              <a:rPr lang="en-US" sz="3200" u="sng" dirty="0" err="1">
                <a:latin typeface="Tahoma" pitchFamily="34" charset="0"/>
              </a:rPr>
              <a:t>Depr</a:t>
            </a:r>
            <a:r>
              <a:rPr lang="en-US" sz="3200" u="sng" dirty="0">
                <a:latin typeface="Tahoma" pitchFamily="34" charset="0"/>
              </a:rPr>
              <a:t>. &amp; </a:t>
            </a:r>
            <a:r>
              <a:rPr lang="en-US" sz="3200" u="sng" dirty="0" err="1">
                <a:latin typeface="Tahoma" pitchFamily="34" charset="0"/>
              </a:rPr>
              <a:t>Amort</a:t>
            </a:r>
            <a:r>
              <a:rPr lang="en-US" sz="3200" u="sng" dirty="0">
                <a:latin typeface="Tahoma" pitchFamily="34" charset="0"/>
              </a:rPr>
              <a:t>. </a:t>
            </a:r>
            <a:endParaRPr lang="en-US" sz="3200" dirty="0">
              <a:latin typeface="Tahoma" pitchFamily="34" charset="0"/>
            </a:endParaRPr>
          </a:p>
          <a:p>
            <a:pPr eaLnBrk="0" hangingPunct="0"/>
            <a:r>
              <a:rPr lang="en-US" sz="3200" dirty="0">
                <a:latin typeface="Tahoma" pitchFamily="34" charset="0"/>
              </a:rPr>
              <a:t>     Interest         Loan</a:t>
            </a:r>
          </a:p>
          <a:p>
            <a:pPr eaLnBrk="0" hangingPunct="0">
              <a:lnSpc>
                <a:spcPct val="85000"/>
              </a:lnSpc>
            </a:pPr>
            <a:r>
              <a:rPr lang="en-US" sz="3200" dirty="0">
                <a:latin typeface="Tahoma" pitchFamily="34" charset="0"/>
              </a:rPr>
              <a:t>     expense         pmt.                </a:t>
            </a:r>
          </a:p>
        </p:txBody>
      </p:sp>
      <p:sp>
        <p:nvSpPr>
          <p:cNvPr id="39942" name="Rectangle 9"/>
          <p:cNvSpPr>
            <a:spLocks noChangeArrowheads="1"/>
          </p:cNvSpPr>
          <p:nvPr/>
        </p:nvSpPr>
        <p:spPr bwMode="auto">
          <a:xfrm>
            <a:off x="3319463" y="3810000"/>
            <a:ext cx="5410200" cy="58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sz="3200" dirty="0">
                <a:latin typeface="Tahoma" pitchFamily="34" charset="0"/>
              </a:rPr>
              <a:t>+ </a:t>
            </a:r>
          </a:p>
        </p:txBody>
      </p:sp>
      <p:sp>
        <p:nvSpPr>
          <p:cNvPr id="39943" name="Rectangle 10"/>
          <p:cNvSpPr>
            <a:spLocks noChangeArrowheads="1"/>
          </p:cNvSpPr>
          <p:nvPr/>
        </p:nvSpPr>
        <p:spPr bwMode="auto">
          <a:xfrm>
            <a:off x="2034285" y="5029200"/>
            <a:ext cx="3138681" cy="100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  $502.6 + $120</a:t>
            </a:r>
            <a:endParaRPr lang="en-US" sz="3200" dirty="0">
              <a:latin typeface="Tahoma" pitchFamily="34" charset="0"/>
            </a:endParaRPr>
          </a:p>
          <a:p>
            <a:pPr algn="ctr" eaLnBrk="0" hangingPunct="0">
              <a:lnSpc>
                <a:spcPct val="85000"/>
              </a:lnSpc>
            </a:pPr>
            <a:r>
              <a:rPr lang="en-US" sz="3200" dirty="0">
                <a:latin typeface="Tahoma" pitchFamily="34" charset="0"/>
              </a:rPr>
              <a:t>$80 + + $0</a:t>
            </a:r>
          </a:p>
        </p:txBody>
      </p:sp>
      <p:sp>
        <p:nvSpPr>
          <p:cNvPr id="39939" name="Rectangle 11"/>
          <p:cNvSpPr>
            <a:spLocks noGrp="1" noChangeArrowheads="1"/>
          </p:cNvSpPr>
          <p:nvPr>
            <p:ph type="title"/>
          </p:nvPr>
        </p:nvSpPr>
        <p:spPr/>
        <p:txBody>
          <a:bodyPr/>
          <a:lstStyle/>
          <a:p>
            <a:pPr eaLnBrk="1" hangingPunct="1"/>
            <a:r>
              <a:rPr lang="en-US"/>
              <a:t>EBITDA Coverage (EC)</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P spid="3994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60FAC6AB-3110-474E-9FB8-AC9B71E09FC9}" type="slidenum">
              <a:rPr lang="en-US"/>
              <a:pPr>
                <a:defRPr/>
              </a:pPr>
              <a:t>24</a:t>
            </a:fld>
            <a:endParaRPr lang="en-US"/>
          </a:p>
        </p:txBody>
      </p:sp>
      <p:sp>
        <p:nvSpPr>
          <p:cNvPr id="40962" name="Rectangle 1028"/>
          <p:cNvSpPr>
            <a:spLocks noChangeArrowheads="1"/>
          </p:cNvSpPr>
          <p:nvPr/>
        </p:nvSpPr>
        <p:spPr bwMode="auto">
          <a:xfrm>
            <a:off x="977900" y="5264150"/>
            <a:ext cx="7473950" cy="532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90000"/>
              </a:lnSpc>
            </a:pPr>
            <a:r>
              <a:rPr lang="en-US" sz="3200" dirty="0"/>
              <a:t>* Recapitalization improved situation, </a:t>
            </a:r>
          </a:p>
        </p:txBody>
      </p:sp>
      <p:grpSp>
        <p:nvGrpSpPr>
          <p:cNvPr id="40963" name="Group 1037"/>
          <p:cNvGrpSpPr>
            <a:grpSpLocks/>
          </p:cNvGrpSpPr>
          <p:nvPr/>
        </p:nvGrpSpPr>
        <p:grpSpPr bwMode="auto">
          <a:xfrm>
            <a:off x="909638" y="2495550"/>
            <a:ext cx="7446962" cy="2255838"/>
            <a:chOff x="573" y="1572"/>
            <a:chExt cx="4691" cy="1421"/>
          </a:xfrm>
        </p:grpSpPr>
        <p:sp>
          <p:nvSpPr>
            <p:cNvPr id="40965" name="Rectangle 1031"/>
            <p:cNvSpPr>
              <a:spLocks noChangeArrowheads="1"/>
            </p:cNvSpPr>
            <p:nvPr/>
          </p:nvSpPr>
          <p:spPr bwMode="auto">
            <a:xfrm>
              <a:off x="573" y="1572"/>
              <a:ext cx="4691"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110000"/>
                </a:lnSpc>
                <a:tabLst>
                  <a:tab pos="2047875" algn="dec"/>
                  <a:tab pos="3381375" algn="dec"/>
                  <a:tab pos="4738688" algn="dec"/>
                  <a:tab pos="6119813" algn="dec"/>
                </a:tabLst>
              </a:pPr>
              <a:r>
                <a:rPr lang="en-US" sz="3200" b="1" dirty="0">
                  <a:latin typeface="Tahoma" pitchFamily="34" charset="0"/>
                </a:rPr>
                <a:t>	           </a:t>
              </a:r>
              <a:r>
                <a:rPr lang="en-US" sz="2800" dirty="0">
                  <a:latin typeface="Tahoma" pitchFamily="34" charset="0"/>
                </a:rPr>
                <a:t>20x2Est</a:t>
              </a:r>
              <a:r>
                <a:rPr lang="en-US" sz="3200" dirty="0">
                  <a:latin typeface="Tahoma" pitchFamily="34" charset="0"/>
                </a:rPr>
                <a:t>	  20x1    20x0	      Ind.</a:t>
              </a:r>
            </a:p>
            <a:p>
              <a:pPr eaLnBrk="0" hangingPunct="0">
                <a:lnSpc>
                  <a:spcPct val="110000"/>
                </a:lnSpc>
                <a:tabLst>
                  <a:tab pos="2047875" algn="dec"/>
                  <a:tab pos="3381375" algn="dec"/>
                  <a:tab pos="4738688" algn="dec"/>
                  <a:tab pos="6119813" algn="dec"/>
                </a:tabLst>
              </a:pPr>
              <a:r>
                <a:rPr lang="en-US" sz="3200" dirty="0">
                  <a:latin typeface="Tahoma" pitchFamily="34" charset="0"/>
                </a:rPr>
                <a:t>L/A	43.8%	  80.7%	 54.8%	  50.0%</a:t>
              </a:r>
            </a:p>
            <a:p>
              <a:pPr eaLnBrk="0" hangingPunct="0">
                <a:lnSpc>
                  <a:spcPct val="110000"/>
                </a:lnSpc>
                <a:tabLst>
                  <a:tab pos="2047875" algn="dec"/>
                  <a:tab pos="3381375" algn="dec"/>
                  <a:tab pos="4738688" algn="dec"/>
                  <a:tab pos="6119813" algn="dec"/>
                </a:tabLst>
              </a:pPr>
              <a:r>
                <a:rPr lang="en-US" sz="3200" dirty="0">
                  <a:latin typeface="Tahoma" pitchFamily="34" charset="0"/>
                </a:rPr>
                <a:t>TIE	6.3	0.1	3.3	6.2</a:t>
              </a:r>
            </a:p>
            <a:p>
              <a:pPr eaLnBrk="0" hangingPunct="0">
                <a:lnSpc>
                  <a:spcPct val="110000"/>
                </a:lnSpc>
                <a:tabLst>
                  <a:tab pos="2047875" algn="dec"/>
                  <a:tab pos="3381375" algn="dec"/>
                  <a:tab pos="4738688" algn="dec"/>
                  <a:tab pos="6119813" algn="dec"/>
                </a:tabLst>
              </a:pPr>
              <a:r>
                <a:rPr lang="en-US" sz="3200" dirty="0">
                  <a:latin typeface="Tahoma" pitchFamily="34" charset="0"/>
                </a:rPr>
                <a:t>EC	7.78	0.8	2.6	8.0</a:t>
              </a:r>
            </a:p>
          </p:txBody>
        </p:sp>
        <p:sp>
          <p:nvSpPr>
            <p:cNvPr id="40966" name="Line 1032"/>
            <p:cNvSpPr>
              <a:spLocks noChangeShapeType="1"/>
            </p:cNvSpPr>
            <p:nvPr/>
          </p:nvSpPr>
          <p:spPr bwMode="auto">
            <a:xfrm>
              <a:off x="1534" y="1920"/>
              <a:ext cx="34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967" name="Line 1033"/>
            <p:cNvSpPr>
              <a:spLocks noChangeShapeType="1"/>
            </p:cNvSpPr>
            <p:nvPr/>
          </p:nvSpPr>
          <p:spPr bwMode="auto">
            <a:xfrm>
              <a:off x="1545" y="1921"/>
              <a:ext cx="0" cy="100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0964" name="Rectangle 1036"/>
          <p:cNvSpPr>
            <a:spLocks noGrp="1" noChangeArrowheads="1"/>
          </p:cNvSpPr>
          <p:nvPr>
            <p:ph type="title"/>
          </p:nvPr>
        </p:nvSpPr>
        <p:spPr/>
        <p:txBody>
          <a:bodyPr>
            <a:normAutofit fontScale="90000"/>
          </a:bodyPr>
          <a:lstStyle/>
          <a:p>
            <a:pPr eaLnBrk="1" hangingPunct="1"/>
            <a:r>
              <a:rPr lang="en-US"/>
              <a:t>Debt Management Ratios vs. Industry Averages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411E560D-665E-4C66-AAB8-2A08D3C3B907}" type="slidenum">
              <a:rPr lang="en-US"/>
              <a:pPr>
                <a:defRPr/>
              </a:pPr>
              <a:t>25</a:t>
            </a:fld>
            <a:endParaRPr lang="en-US"/>
          </a:p>
        </p:txBody>
      </p:sp>
      <p:sp>
        <p:nvSpPr>
          <p:cNvPr id="37890" name="Rectangle 2"/>
          <p:cNvSpPr>
            <a:spLocks noGrp="1" noChangeArrowheads="1"/>
          </p:cNvSpPr>
          <p:nvPr>
            <p:ph type="title"/>
          </p:nvPr>
        </p:nvSpPr>
        <p:spPr/>
        <p:txBody>
          <a:bodyPr>
            <a:normAutofit/>
          </a:bodyPr>
          <a:lstStyle/>
          <a:p>
            <a:pPr eaLnBrk="1" hangingPunct="1"/>
            <a:r>
              <a:rPr lang="en-US" dirty="0"/>
              <a:t>Debt/Asset &amp; Debt/Equity Ratios</a:t>
            </a:r>
          </a:p>
        </p:txBody>
      </p:sp>
      <p:sp>
        <p:nvSpPr>
          <p:cNvPr id="37891" name="Rectangle 3"/>
          <p:cNvSpPr>
            <a:spLocks noGrp="1" noChangeArrowheads="1"/>
          </p:cNvSpPr>
          <p:nvPr>
            <p:ph type="body" idx="1"/>
          </p:nvPr>
        </p:nvSpPr>
        <p:spPr/>
        <p:txBody>
          <a:bodyPr/>
          <a:lstStyle/>
          <a:p>
            <a:pPr eaLnBrk="1" hangingPunct="1"/>
            <a:r>
              <a:rPr lang="en-US" sz="3600" dirty="0"/>
              <a:t>Indicators of Capital Structure Financing</a:t>
            </a:r>
          </a:p>
          <a:p>
            <a:pPr eaLnBrk="1" hangingPunct="1"/>
            <a:r>
              <a:rPr lang="en-US" dirty="0"/>
              <a:t>Debt/Asset: </a:t>
            </a:r>
          </a:p>
          <a:p>
            <a:pPr lvl="1"/>
            <a:r>
              <a:rPr lang="en-US" dirty="0"/>
              <a:t> </a:t>
            </a:r>
          </a:p>
          <a:p>
            <a:pPr eaLnBrk="1" hangingPunct="1"/>
            <a:r>
              <a:rPr lang="en-US" dirty="0"/>
              <a:t>Debt/Equity:</a:t>
            </a:r>
          </a:p>
          <a:p>
            <a:pPr lvl="1"/>
            <a:r>
              <a:rPr lang="en-US" dirty="0"/>
              <a:t> </a:t>
            </a:r>
          </a:p>
        </p:txBody>
      </p:sp>
    </p:spTree>
    <p:extLst>
      <p:ext uri="{BB962C8B-B14F-4D97-AF65-F5344CB8AC3E}">
        <p14:creationId xmlns:p14="http://schemas.microsoft.com/office/powerpoint/2010/main" val="14016753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pPr>
              <a:defRPr/>
            </a:pPr>
            <a:fld id="{D24159E8-AEEF-463B-BD1A-E853C6F3F0B2}" type="slidenum">
              <a:rPr lang="en-US"/>
              <a:pPr>
                <a:defRPr/>
              </a:pPr>
              <a:t>26</a:t>
            </a:fld>
            <a:endParaRPr lang="en-US"/>
          </a:p>
        </p:txBody>
      </p:sp>
      <p:sp>
        <p:nvSpPr>
          <p:cNvPr id="38917" name="Rectangle 6"/>
          <p:cNvSpPr>
            <a:spLocks noChangeArrowheads="1"/>
          </p:cNvSpPr>
          <p:nvPr/>
        </p:nvSpPr>
        <p:spPr bwMode="auto">
          <a:xfrm>
            <a:off x="838200" y="3784732"/>
            <a:ext cx="5671038" cy="484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en-US"/>
          </a:p>
        </p:txBody>
      </p:sp>
      <p:sp>
        <p:nvSpPr>
          <p:cNvPr id="38918" name="Rectangle 7"/>
          <p:cNvSpPr>
            <a:spLocks noChangeArrowheads="1"/>
          </p:cNvSpPr>
          <p:nvPr/>
        </p:nvSpPr>
        <p:spPr bwMode="auto">
          <a:xfrm>
            <a:off x="228601" y="1489293"/>
            <a:ext cx="8418516" cy="1748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p>
            <a:pPr eaLnBrk="0" hangingPunct="0"/>
            <a:endParaRPr lang="en-US"/>
          </a:p>
        </p:txBody>
      </p:sp>
      <p:sp>
        <p:nvSpPr>
          <p:cNvPr id="38919" name="Rectangle 8"/>
          <p:cNvSpPr>
            <a:spLocks noChangeArrowheads="1"/>
          </p:cNvSpPr>
          <p:nvPr/>
        </p:nvSpPr>
        <p:spPr bwMode="auto">
          <a:xfrm>
            <a:off x="5065717" y="2244269"/>
            <a:ext cx="2782883" cy="107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Total Debt </a:t>
            </a:r>
          </a:p>
          <a:p>
            <a:pPr algn="ctr" eaLnBrk="0" hangingPunct="0"/>
            <a:r>
              <a:rPr lang="en-US" sz="3200" dirty="0">
                <a:latin typeface="Tahoma" pitchFamily="34" charset="0"/>
              </a:rPr>
              <a:t>Total assets</a:t>
            </a:r>
          </a:p>
        </p:txBody>
      </p:sp>
      <p:sp>
        <p:nvSpPr>
          <p:cNvPr id="38920" name="Rectangle 9"/>
          <p:cNvSpPr>
            <a:spLocks noChangeArrowheads="1"/>
          </p:cNvSpPr>
          <p:nvPr/>
        </p:nvSpPr>
        <p:spPr bwMode="auto">
          <a:xfrm>
            <a:off x="228601" y="2473324"/>
            <a:ext cx="4952999" cy="1574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tabLst>
                <a:tab pos="2119313" algn="l"/>
              </a:tabLst>
            </a:pPr>
            <a:r>
              <a:rPr lang="en-US" sz="3400" dirty="0">
                <a:latin typeface="Tahoma" pitchFamily="34" charset="0"/>
              </a:rPr>
              <a:t>Debt-to-Assets ratio   =	</a:t>
            </a:r>
            <a:r>
              <a:rPr lang="en-US" sz="3200" dirty="0">
                <a:latin typeface="Tahoma" pitchFamily="34" charset="0"/>
              </a:rPr>
              <a:t> </a:t>
            </a:r>
          </a:p>
          <a:p>
            <a:pPr eaLnBrk="0" hangingPunct="0">
              <a:tabLst>
                <a:tab pos="2119313" algn="l"/>
              </a:tabLst>
            </a:pPr>
            <a:r>
              <a:rPr lang="en-US" sz="1050" dirty="0">
                <a:latin typeface="Tahoma" pitchFamily="34" charset="0"/>
              </a:rPr>
              <a:t>   </a:t>
            </a:r>
          </a:p>
          <a:p>
            <a:pPr eaLnBrk="0" hangingPunct="0">
              <a:tabLst>
                <a:tab pos="2119313" algn="l"/>
              </a:tabLst>
            </a:pPr>
            <a:r>
              <a:rPr lang="en-US" sz="2400" u="sng" dirty="0">
                <a:latin typeface="Tahoma" pitchFamily="34" charset="0"/>
              </a:rPr>
              <a:t>720,000+1,000,000</a:t>
            </a:r>
            <a:r>
              <a:rPr lang="en-US" sz="2400" dirty="0">
                <a:latin typeface="Tahoma" pitchFamily="34" charset="0"/>
              </a:rPr>
              <a:t>  = </a:t>
            </a:r>
            <a:r>
              <a:rPr lang="en-US" sz="2800" dirty="0">
                <a:latin typeface="Tahoma" pitchFamily="34" charset="0"/>
              </a:rPr>
              <a:t>59.59%</a:t>
            </a:r>
          </a:p>
          <a:p>
            <a:pPr eaLnBrk="0" hangingPunct="0">
              <a:tabLst>
                <a:tab pos="2119313" algn="l"/>
              </a:tabLst>
            </a:pPr>
            <a:r>
              <a:rPr lang="en-US" sz="2400" dirty="0">
                <a:latin typeface="Tahoma" pitchFamily="34" charset="0"/>
              </a:rPr>
              <a:t>     2,886,592</a:t>
            </a:r>
          </a:p>
        </p:txBody>
      </p:sp>
      <p:sp>
        <p:nvSpPr>
          <p:cNvPr id="38922" name="Rectangle 11"/>
          <p:cNvSpPr>
            <a:spLocks noChangeArrowheads="1"/>
          </p:cNvSpPr>
          <p:nvPr/>
        </p:nvSpPr>
        <p:spPr bwMode="auto">
          <a:xfrm>
            <a:off x="3829050" y="4308475"/>
            <a:ext cx="2647950" cy="100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sz="3200" u="sng" dirty="0">
                <a:latin typeface="Tahoma" pitchFamily="34" charset="0"/>
              </a:rPr>
              <a:t>       </a:t>
            </a:r>
            <a:endParaRPr lang="en-US" sz="3200" dirty="0">
              <a:latin typeface="Tahoma" pitchFamily="34" charset="0"/>
            </a:endParaRPr>
          </a:p>
          <a:p>
            <a:pPr eaLnBrk="0" hangingPunct="0">
              <a:lnSpc>
                <a:spcPct val="85000"/>
              </a:lnSpc>
            </a:pPr>
            <a:endParaRPr lang="en-US" sz="3200" dirty="0">
              <a:latin typeface="Tahoma" pitchFamily="34" charset="0"/>
            </a:endParaRPr>
          </a:p>
        </p:txBody>
      </p:sp>
      <p:sp>
        <p:nvSpPr>
          <p:cNvPr id="38923" name="Rectangle 12"/>
          <p:cNvSpPr>
            <a:spLocks noChangeArrowheads="1"/>
          </p:cNvSpPr>
          <p:nvPr/>
        </p:nvSpPr>
        <p:spPr bwMode="auto">
          <a:xfrm>
            <a:off x="228601" y="4242388"/>
            <a:ext cx="4600574" cy="2459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tabLst>
                <a:tab pos="2119313" algn="l"/>
              </a:tabLst>
            </a:pPr>
            <a:r>
              <a:rPr lang="en-US" sz="3400" dirty="0">
                <a:latin typeface="Tahoma" pitchFamily="34" charset="0"/>
              </a:rPr>
              <a:t>Debt-to-Equity ratio </a:t>
            </a:r>
            <a:r>
              <a:rPr lang="en-US" sz="3200" dirty="0">
                <a:latin typeface="Tahoma" pitchFamily="34" charset="0"/>
              </a:rPr>
              <a:t>=</a:t>
            </a:r>
          </a:p>
          <a:p>
            <a:pPr eaLnBrk="0" hangingPunct="0">
              <a:tabLst>
                <a:tab pos="2119313" algn="l"/>
              </a:tabLst>
            </a:pPr>
            <a:r>
              <a:rPr lang="en-US" sz="3200" dirty="0">
                <a:latin typeface="Tahoma" pitchFamily="34" charset="0"/>
              </a:rPr>
              <a:t> </a:t>
            </a:r>
            <a:r>
              <a:rPr lang="en-US" sz="2400" u="sng" dirty="0">
                <a:latin typeface="Tahoma" pitchFamily="34" charset="0"/>
              </a:rPr>
              <a:t>720,000+1,000,000</a:t>
            </a:r>
            <a:r>
              <a:rPr lang="en-US" sz="2400" dirty="0">
                <a:latin typeface="Tahoma" pitchFamily="34" charset="0"/>
              </a:rPr>
              <a:t>  </a:t>
            </a:r>
            <a:r>
              <a:rPr lang="en-US" sz="2800" dirty="0">
                <a:latin typeface="Tahoma" pitchFamily="34" charset="0"/>
              </a:rPr>
              <a:t>= 3.08x </a:t>
            </a:r>
          </a:p>
          <a:p>
            <a:pPr eaLnBrk="0" hangingPunct="0">
              <a:tabLst>
                <a:tab pos="2119313" algn="l"/>
              </a:tabLst>
            </a:pPr>
            <a:r>
              <a:rPr lang="en-US" sz="2400" dirty="0">
                <a:latin typeface="Tahoma" pitchFamily="34" charset="0"/>
              </a:rPr>
              <a:t>        557,632</a:t>
            </a:r>
          </a:p>
          <a:p>
            <a:pPr eaLnBrk="0" hangingPunct="0">
              <a:tabLst>
                <a:tab pos="2119313" algn="l"/>
              </a:tabLst>
            </a:pPr>
            <a:r>
              <a:rPr lang="en-US" sz="3200" dirty="0">
                <a:latin typeface="Tahoma" pitchFamily="34" charset="0"/>
              </a:rPr>
              <a:t>        </a:t>
            </a:r>
          </a:p>
          <a:p>
            <a:pPr eaLnBrk="0" hangingPunct="0">
              <a:tabLst>
                <a:tab pos="2119313" algn="l"/>
              </a:tabLst>
            </a:pPr>
            <a:r>
              <a:rPr lang="en-US" sz="3200" dirty="0">
                <a:latin typeface="Tahoma" pitchFamily="34" charset="0"/>
              </a:rPr>
              <a:t>	</a:t>
            </a:r>
          </a:p>
        </p:txBody>
      </p:sp>
      <p:sp>
        <p:nvSpPr>
          <p:cNvPr id="38915" name="Rectangle 15"/>
          <p:cNvSpPr>
            <a:spLocks noChangeArrowheads="1"/>
          </p:cNvSpPr>
          <p:nvPr/>
        </p:nvSpPr>
        <p:spPr bwMode="auto">
          <a:xfrm>
            <a:off x="7397750" y="5867400"/>
            <a:ext cx="1184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2000"/>
              <a:t>(More…)</a:t>
            </a:r>
          </a:p>
        </p:txBody>
      </p:sp>
      <p:sp>
        <p:nvSpPr>
          <p:cNvPr id="38916" name="Rectangle 18"/>
          <p:cNvSpPr>
            <a:spLocks noGrp="1" noChangeArrowheads="1"/>
          </p:cNvSpPr>
          <p:nvPr>
            <p:ph type="title"/>
          </p:nvPr>
        </p:nvSpPr>
        <p:spPr/>
        <p:txBody>
          <a:bodyPr>
            <a:normAutofit fontScale="90000"/>
          </a:bodyPr>
          <a:lstStyle/>
          <a:p>
            <a:pPr algn="ctr" eaLnBrk="1" hangingPunct="1"/>
            <a:r>
              <a:rPr lang="en-US" dirty="0"/>
              <a:t>Calculate </a:t>
            </a:r>
            <a:br>
              <a:rPr lang="en-US" dirty="0"/>
            </a:br>
            <a:r>
              <a:rPr lang="en-US" dirty="0"/>
              <a:t>Debt /Asset  &amp;  Debt / Equity Ratios.</a:t>
            </a:r>
          </a:p>
        </p:txBody>
      </p:sp>
      <p:sp>
        <p:nvSpPr>
          <p:cNvPr id="2" name="Rectangle 1"/>
          <p:cNvSpPr/>
          <p:nvPr/>
        </p:nvSpPr>
        <p:spPr>
          <a:xfrm>
            <a:off x="4829175" y="4027317"/>
            <a:ext cx="3095625" cy="1003352"/>
          </a:xfrm>
          <a:prstGeom prst="rect">
            <a:avLst/>
          </a:prstGeom>
        </p:spPr>
        <p:txBody>
          <a:bodyPr wrap="square">
            <a:spAutoFit/>
          </a:bodyPr>
          <a:lstStyle/>
          <a:p>
            <a:pPr lvl="0" algn="ctr" eaLnBrk="0" hangingPunct="0"/>
            <a:r>
              <a:rPr lang="en-US" sz="3200" u="sng" dirty="0">
                <a:solidFill>
                  <a:srgbClr val="000000"/>
                </a:solidFill>
                <a:latin typeface="Tahoma" pitchFamily="34" charset="0"/>
              </a:rPr>
              <a:t> Total Debt   </a:t>
            </a:r>
            <a:endParaRPr lang="en-US" sz="3200" dirty="0">
              <a:solidFill>
                <a:srgbClr val="000000"/>
              </a:solidFill>
              <a:latin typeface="Tahoma" pitchFamily="34" charset="0"/>
            </a:endParaRPr>
          </a:p>
          <a:p>
            <a:pPr lvl="0" algn="ctr" eaLnBrk="0" hangingPunct="0">
              <a:lnSpc>
                <a:spcPct val="85000"/>
              </a:lnSpc>
            </a:pPr>
            <a:r>
              <a:rPr lang="en-US" sz="3200" dirty="0">
                <a:solidFill>
                  <a:srgbClr val="000000"/>
                </a:solidFill>
                <a:latin typeface="Tahoma" pitchFamily="34" charset="0"/>
              </a:rPr>
              <a:t>Total Equity</a:t>
            </a:r>
            <a:endParaRPr lang="en-US" dirty="0"/>
          </a:p>
        </p:txBody>
      </p:sp>
    </p:spTree>
    <p:extLst>
      <p:ext uri="{BB962C8B-B14F-4D97-AF65-F5344CB8AC3E}">
        <p14:creationId xmlns:p14="http://schemas.microsoft.com/office/powerpoint/2010/main" val="14023851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89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389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9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9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9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p:bldP spid="38918" grpId="0"/>
      <p:bldP spid="38919" grpId="0"/>
      <p:bldP spid="38920" grpId="0"/>
      <p:bldP spid="38922" grpId="0"/>
      <p:bldP spid="3892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a:xfrm>
            <a:off x="1143000" y="214313"/>
            <a:ext cx="7800975" cy="1233487"/>
          </a:xfrm>
        </p:spPr>
        <p:txBody>
          <a:bodyPr/>
          <a:lstStyle/>
          <a:p>
            <a:r>
              <a:rPr lang="en-US" sz="4000"/>
              <a:t>Equity Multiplier = </a:t>
            </a:r>
            <a:br>
              <a:rPr lang="en-US" sz="4000"/>
            </a:br>
            <a:r>
              <a:rPr lang="en-US" sz="4000"/>
              <a:t>T. Assets/Cmn Eqty</a:t>
            </a:r>
          </a:p>
        </p:txBody>
      </p:sp>
      <p:sp>
        <p:nvSpPr>
          <p:cNvPr id="51203" name="Content Placeholder 2"/>
          <p:cNvSpPr>
            <a:spLocks noGrp="1"/>
          </p:cNvSpPr>
          <p:nvPr>
            <p:ph idx="1"/>
          </p:nvPr>
        </p:nvSpPr>
        <p:spPr>
          <a:xfrm>
            <a:off x="1143000" y="1828800"/>
            <a:ext cx="7812088" cy="4303713"/>
          </a:xfrm>
        </p:spPr>
        <p:txBody>
          <a:bodyPr/>
          <a:lstStyle/>
          <a:p>
            <a:r>
              <a:rPr lang="en-US" sz="3000" dirty="0"/>
              <a:t>Firms with large </a:t>
            </a:r>
            <a:r>
              <a:rPr lang="en-US" sz="3000" dirty="0" err="1"/>
              <a:t>amts</a:t>
            </a:r>
            <a:r>
              <a:rPr lang="en-US" sz="3000" dirty="0"/>
              <a:t> of debt financing (high leverage) have high </a:t>
            </a:r>
            <a:r>
              <a:rPr lang="en-US" sz="3000" dirty="0" err="1"/>
              <a:t>Eqty</a:t>
            </a:r>
            <a:r>
              <a:rPr lang="en-US" sz="3000" dirty="0"/>
              <a:t> Multiplier</a:t>
            </a:r>
          </a:p>
          <a:p>
            <a:endParaRPr lang="en-US" sz="3000" dirty="0"/>
          </a:p>
          <a:p>
            <a:r>
              <a:rPr lang="en-US" sz="3000" dirty="0"/>
              <a:t>Think: Assets  =  Debt       +        </a:t>
            </a:r>
            <a:r>
              <a:rPr lang="en-US" sz="3000" dirty="0" err="1"/>
              <a:t>Eqty</a:t>
            </a:r>
            <a:endParaRPr lang="en-US" sz="3000" dirty="0"/>
          </a:p>
        </p:txBody>
      </p:sp>
      <p:sp>
        <p:nvSpPr>
          <p:cNvPr id="4" name="Slide Number Placeholder 3"/>
          <p:cNvSpPr>
            <a:spLocks noGrp="1"/>
          </p:cNvSpPr>
          <p:nvPr>
            <p:ph type="sldNum" sz="quarter" idx="12"/>
          </p:nvPr>
        </p:nvSpPr>
        <p:spPr/>
        <p:txBody>
          <a:bodyPr/>
          <a:lstStyle/>
          <a:p>
            <a:pPr>
              <a:defRPr/>
            </a:pPr>
            <a:fld id="{54D5649A-1628-443D-879F-834C88EA24C4}" type="slidenum">
              <a:rPr lang="en-US" smtClean="0"/>
              <a:pPr>
                <a:defRPr/>
              </a:pPr>
              <a:t>27</a:t>
            </a:fld>
            <a:endParaRPr lang="en-US"/>
          </a:p>
        </p:txBody>
      </p:sp>
    </p:spTree>
    <p:extLst>
      <p:ext uri="{BB962C8B-B14F-4D97-AF65-F5344CB8AC3E}">
        <p14:creationId xmlns:p14="http://schemas.microsoft.com/office/powerpoint/2010/main" val="6604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87457A53-D443-44F0-8B0C-00CAB59587DC}" type="slidenum">
              <a:rPr lang="en-US"/>
              <a:pPr>
                <a:defRPr/>
              </a:pPr>
              <a:t>28</a:t>
            </a:fld>
            <a:endParaRPr lang="en-US"/>
          </a:p>
        </p:txBody>
      </p:sp>
      <p:sp>
        <p:nvSpPr>
          <p:cNvPr id="41986" name="Rectangle 2"/>
          <p:cNvSpPr>
            <a:spLocks noGrp="1" noChangeArrowheads="1"/>
          </p:cNvSpPr>
          <p:nvPr>
            <p:ph type="title"/>
          </p:nvPr>
        </p:nvSpPr>
        <p:spPr/>
        <p:txBody>
          <a:bodyPr/>
          <a:lstStyle/>
          <a:p>
            <a:pPr eaLnBrk="1" hangingPunct="1"/>
            <a:r>
              <a:rPr lang="en-US"/>
              <a:t>Profitability Ratios</a:t>
            </a:r>
          </a:p>
        </p:txBody>
      </p:sp>
      <p:sp>
        <p:nvSpPr>
          <p:cNvPr id="41987" name="Rectangle 3"/>
          <p:cNvSpPr>
            <a:spLocks noGrp="1" noChangeArrowheads="1"/>
          </p:cNvSpPr>
          <p:nvPr>
            <p:ph type="body" idx="1"/>
          </p:nvPr>
        </p:nvSpPr>
        <p:spPr/>
        <p:txBody>
          <a:bodyPr/>
          <a:lstStyle/>
          <a:p>
            <a:pPr eaLnBrk="1" hangingPunct="1"/>
            <a:r>
              <a:rPr lang="en-US" dirty="0"/>
              <a:t>What is company’s rate of return on:</a:t>
            </a:r>
          </a:p>
          <a:p>
            <a:pPr lvl="1" eaLnBrk="1" hangingPunct="1"/>
            <a:r>
              <a:rPr lang="en-US" dirty="0"/>
              <a:t>Sales?</a:t>
            </a:r>
          </a:p>
          <a:p>
            <a:pPr lvl="1" eaLnBrk="1" hangingPunct="1"/>
            <a:r>
              <a:rPr lang="en-US" dirty="0"/>
              <a:t>Assets?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a:defRPr/>
            </a:pPr>
            <a:fld id="{CE438921-3D1F-481D-894A-DAE109998B7A}" type="slidenum">
              <a:rPr lang="en-US"/>
              <a:pPr>
                <a:defRPr/>
              </a:pPr>
              <a:t>29</a:t>
            </a:fld>
            <a:endParaRPr lang="en-US"/>
          </a:p>
        </p:txBody>
      </p:sp>
      <p:sp>
        <p:nvSpPr>
          <p:cNvPr id="43010" name="Rectangle 15"/>
          <p:cNvSpPr>
            <a:spLocks noGrp="1" noChangeArrowheads="1"/>
          </p:cNvSpPr>
          <p:nvPr>
            <p:ph type="title"/>
          </p:nvPr>
        </p:nvSpPr>
        <p:spPr/>
        <p:txBody>
          <a:bodyPr/>
          <a:lstStyle/>
          <a:p>
            <a:pPr eaLnBrk="1" hangingPunct="1"/>
            <a:r>
              <a:rPr lang="en-US"/>
              <a:t>Profit Margins</a:t>
            </a:r>
          </a:p>
        </p:txBody>
      </p:sp>
      <p:grpSp>
        <p:nvGrpSpPr>
          <p:cNvPr id="43011" name="Group 10"/>
          <p:cNvGrpSpPr>
            <a:grpSpLocks/>
          </p:cNvGrpSpPr>
          <p:nvPr/>
        </p:nvGrpSpPr>
        <p:grpSpPr bwMode="auto">
          <a:xfrm>
            <a:off x="1143000" y="2133600"/>
            <a:ext cx="7697788" cy="4437063"/>
            <a:chOff x="720" y="1344"/>
            <a:chExt cx="4849" cy="2795"/>
          </a:xfrm>
        </p:grpSpPr>
        <p:grpSp>
          <p:nvGrpSpPr>
            <p:cNvPr id="43012" name="Group 13"/>
            <p:cNvGrpSpPr>
              <a:grpSpLocks/>
            </p:cNvGrpSpPr>
            <p:nvPr/>
          </p:nvGrpSpPr>
          <p:grpSpPr bwMode="auto">
            <a:xfrm>
              <a:off x="720" y="1824"/>
              <a:ext cx="3896" cy="1747"/>
              <a:chOff x="753" y="1118"/>
              <a:chExt cx="3896" cy="1747"/>
            </a:xfrm>
          </p:grpSpPr>
          <p:sp>
            <p:nvSpPr>
              <p:cNvPr id="43020" name="Rectangle 10"/>
              <p:cNvSpPr>
                <a:spLocks noChangeArrowheads="1"/>
              </p:cNvSpPr>
              <p:nvPr/>
            </p:nvSpPr>
            <p:spPr bwMode="auto">
              <a:xfrm>
                <a:off x="753" y="1257"/>
                <a:ext cx="3896" cy="1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 PM  =          =              = 3.6%</a:t>
                </a:r>
              </a:p>
              <a:p>
                <a:pPr eaLnBrk="0" hangingPunct="0"/>
                <a:endParaRPr lang="en-US" sz="3200" dirty="0">
                  <a:latin typeface="Tahoma" pitchFamily="34" charset="0"/>
                </a:endParaRPr>
              </a:p>
              <a:p>
                <a:pPr eaLnBrk="0" hangingPunct="0"/>
                <a:endParaRPr lang="en-US" sz="3200" dirty="0">
                  <a:latin typeface="Tahoma" pitchFamily="34" charset="0"/>
                </a:endParaRPr>
              </a:p>
              <a:p>
                <a:pPr eaLnBrk="0" hangingPunct="0"/>
                <a:endParaRPr lang="en-US" sz="3200" dirty="0">
                  <a:latin typeface="Tahoma" pitchFamily="34" charset="0"/>
                </a:endParaRPr>
              </a:p>
              <a:p>
                <a:pPr eaLnBrk="0" hangingPunct="0"/>
                <a:endParaRPr lang="en-US" sz="3200" dirty="0">
                  <a:latin typeface="Tahoma" pitchFamily="34" charset="0"/>
                </a:endParaRPr>
              </a:p>
            </p:txBody>
          </p:sp>
          <p:sp>
            <p:nvSpPr>
              <p:cNvPr id="43021" name="Rectangle 11"/>
              <p:cNvSpPr>
                <a:spLocks noChangeArrowheads="1"/>
              </p:cNvSpPr>
              <p:nvPr/>
            </p:nvSpPr>
            <p:spPr bwMode="auto">
              <a:xfrm>
                <a:off x="1945" y="1118"/>
                <a:ext cx="11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1031875" eaLnBrk="0" hangingPunct="0"/>
                <a:endParaRPr lang="en-US" sz="3200" dirty="0">
                  <a:latin typeface="Tahoma" pitchFamily="34" charset="0"/>
                </a:endParaRPr>
              </a:p>
            </p:txBody>
          </p:sp>
          <p:sp>
            <p:nvSpPr>
              <p:cNvPr id="43022" name="Rectangle 12"/>
              <p:cNvSpPr>
                <a:spLocks noChangeArrowheads="1"/>
              </p:cNvSpPr>
              <p:nvPr/>
            </p:nvSpPr>
            <p:spPr bwMode="auto">
              <a:xfrm>
                <a:off x="2697" y="1118"/>
                <a:ext cx="892"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$253.6</a:t>
                </a:r>
                <a:endParaRPr lang="en-US" sz="3200" dirty="0">
                  <a:latin typeface="Tahoma" pitchFamily="34" charset="0"/>
                </a:endParaRPr>
              </a:p>
              <a:p>
                <a:pPr algn="ctr" eaLnBrk="0" hangingPunct="0">
                  <a:lnSpc>
                    <a:spcPct val="85000"/>
                  </a:lnSpc>
                </a:pPr>
                <a:r>
                  <a:rPr lang="en-US" sz="3200" dirty="0">
                    <a:latin typeface="Tahoma" pitchFamily="34" charset="0"/>
                  </a:rPr>
                  <a:t>$7,036</a:t>
                </a:r>
              </a:p>
            </p:txBody>
          </p:sp>
        </p:grpSp>
        <p:grpSp>
          <p:nvGrpSpPr>
            <p:cNvPr id="43013" name="Group 2"/>
            <p:cNvGrpSpPr>
              <a:grpSpLocks/>
            </p:cNvGrpSpPr>
            <p:nvPr/>
          </p:nvGrpSpPr>
          <p:grpSpPr bwMode="auto">
            <a:xfrm>
              <a:off x="768" y="2976"/>
              <a:ext cx="3976" cy="624"/>
              <a:chOff x="753" y="1118"/>
              <a:chExt cx="3976" cy="624"/>
            </a:xfrm>
          </p:grpSpPr>
          <p:sp>
            <p:nvSpPr>
              <p:cNvPr id="43017" name="Rectangle 3"/>
              <p:cNvSpPr>
                <a:spLocks noChangeArrowheads="1"/>
              </p:cNvSpPr>
              <p:nvPr/>
            </p:nvSpPr>
            <p:spPr bwMode="auto">
              <a:xfrm>
                <a:off x="753" y="1257"/>
                <a:ext cx="397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 OM  =          =              = 7.1%.</a:t>
                </a:r>
              </a:p>
            </p:txBody>
          </p:sp>
          <p:sp>
            <p:nvSpPr>
              <p:cNvPr id="43018" name="Rectangle 4"/>
              <p:cNvSpPr>
                <a:spLocks noChangeArrowheads="1"/>
              </p:cNvSpPr>
              <p:nvPr/>
            </p:nvSpPr>
            <p:spPr bwMode="auto">
              <a:xfrm>
                <a:off x="1945" y="1118"/>
                <a:ext cx="115"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1031875" eaLnBrk="0" hangingPunct="0"/>
                <a:endParaRPr lang="en-US" sz="3200" dirty="0">
                  <a:latin typeface="Tahoma" pitchFamily="34" charset="0"/>
                </a:endParaRPr>
              </a:p>
            </p:txBody>
          </p:sp>
          <p:sp>
            <p:nvSpPr>
              <p:cNvPr id="43019" name="Rectangle 5"/>
              <p:cNvSpPr>
                <a:spLocks noChangeArrowheads="1"/>
              </p:cNvSpPr>
              <p:nvPr/>
            </p:nvSpPr>
            <p:spPr bwMode="auto">
              <a:xfrm>
                <a:off x="2606" y="1118"/>
                <a:ext cx="1074"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a:latin typeface="Tahoma" pitchFamily="34" charset="0"/>
                  </a:rPr>
                  <a:t> </a:t>
                </a:r>
                <a:r>
                  <a:rPr lang="en-US" sz="3200" u="sng">
                    <a:latin typeface="Tahoma" pitchFamily="34" charset="0"/>
                  </a:rPr>
                  <a:t>  $503 </a:t>
                </a:r>
                <a:r>
                  <a:rPr lang="en-US" sz="3200">
                    <a:latin typeface="Tahoma" pitchFamily="34" charset="0"/>
                  </a:rPr>
                  <a:t> </a:t>
                </a:r>
              </a:p>
              <a:p>
                <a:pPr algn="ctr" eaLnBrk="0" hangingPunct="0">
                  <a:lnSpc>
                    <a:spcPct val="85000"/>
                  </a:lnSpc>
                </a:pPr>
                <a:r>
                  <a:rPr lang="en-US" sz="3200">
                    <a:latin typeface="Tahoma" pitchFamily="34" charset="0"/>
                  </a:rPr>
                  <a:t>$7,036</a:t>
                </a:r>
              </a:p>
            </p:txBody>
          </p:sp>
        </p:grpSp>
        <p:sp>
          <p:nvSpPr>
            <p:cNvPr id="43014" name="Text Box 6"/>
            <p:cNvSpPr txBox="1">
              <a:spLocks noChangeArrowheads="1"/>
            </p:cNvSpPr>
            <p:nvPr/>
          </p:nvSpPr>
          <p:spPr bwMode="auto">
            <a:xfrm>
              <a:off x="816" y="1344"/>
              <a:ext cx="321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3200" dirty="0">
                  <a:latin typeface="Tahoma" pitchFamily="34" charset="0"/>
                </a:rPr>
                <a:t>Net profit margin (PM):</a:t>
              </a:r>
            </a:p>
          </p:txBody>
        </p:sp>
        <p:sp>
          <p:nvSpPr>
            <p:cNvPr id="43015" name="Text Box 7"/>
            <p:cNvSpPr txBox="1">
              <a:spLocks noChangeArrowheads="1"/>
            </p:cNvSpPr>
            <p:nvPr/>
          </p:nvSpPr>
          <p:spPr bwMode="auto">
            <a:xfrm>
              <a:off x="816" y="2544"/>
              <a:ext cx="37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3200" dirty="0">
                  <a:latin typeface="Tahoma" pitchFamily="34" charset="0"/>
                </a:rPr>
                <a:t>Operating profit margin (OM):</a:t>
              </a:r>
            </a:p>
          </p:txBody>
        </p:sp>
        <p:sp>
          <p:nvSpPr>
            <p:cNvPr id="43016" name="Rectangle 8"/>
            <p:cNvSpPr>
              <a:spLocks noChangeArrowheads="1"/>
            </p:cNvSpPr>
            <p:nvPr/>
          </p:nvSpPr>
          <p:spPr bwMode="auto">
            <a:xfrm>
              <a:off x="4705" y="3889"/>
              <a:ext cx="8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eaLnBrk="0" hangingPunct="0"/>
              <a:r>
                <a:rPr lang="en-US" sz="2000" b="1"/>
                <a:t>(More…)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pPr>
              <a:defRPr/>
            </a:pPr>
            <a:fld id="{9B0A220B-957F-4BF7-9CAC-9945493CE5FC}" type="slidenum">
              <a:rPr lang="en-US"/>
              <a:pPr>
                <a:defRPr/>
              </a:pPr>
              <a:t>30</a:t>
            </a:fld>
            <a:endParaRPr lang="en-US"/>
          </a:p>
        </p:txBody>
      </p:sp>
      <p:sp>
        <p:nvSpPr>
          <p:cNvPr id="44035" name="Rectangle 2"/>
          <p:cNvSpPr>
            <a:spLocks noGrp="1" noChangeArrowheads="1"/>
          </p:cNvSpPr>
          <p:nvPr>
            <p:ph type="title"/>
          </p:nvPr>
        </p:nvSpPr>
        <p:spPr/>
        <p:txBody>
          <a:bodyPr/>
          <a:lstStyle/>
          <a:p>
            <a:pPr eaLnBrk="1" hangingPunct="1"/>
            <a:r>
              <a:rPr lang="en-US"/>
              <a:t>Profit Margins </a:t>
            </a:r>
            <a:r>
              <a:rPr lang="en-US" sz="3200"/>
              <a:t>(Continued)</a:t>
            </a:r>
          </a:p>
        </p:txBody>
      </p:sp>
      <p:sp>
        <p:nvSpPr>
          <p:cNvPr id="44036" name="Rectangle 5"/>
          <p:cNvSpPr>
            <a:spLocks noChangeArrowheads="1"/>
          </p:cNvSpPr>
          <p:nvPr/>
        </p:nvSpPr>
        <p:spPr bwMode="auto">
          <a:xfrm>
            <a:off x="685800" y="3116263"/>
            <a:ext cx="49530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r>
              <a:rPr lang="en-US" sz="3200" dirty="0">
                <a:latin typeface="Tahoma" pitchFamily="34" charset="0"/>
              </a:rPr>
              <a:t> GPM =                        =</a:t>
            </a:r>
          </a:p>
        </p:txBody>
      </p:sp>
      <p:sp>
        <p:nvSpPr>
          <p:cNvPr id="44037" name="Rectangle 7"/>
          <p:cNvSpPr>
            <a:spLocks noChangeArrowheads="1"/>
          </p:cNvSpPr>
          <p:nvPr/>
        </p:nvSpPr>
        <p:spPr bwMode="auto">
          <a:xfrm>
            <a:off x="4389438" y="2895600"/>
            <a:ext cx="180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endParaRPr lang="en-US" sz="3200">
              <a:latin typeface="Tahoma" pitchFamily="34" charset="0"/>
            </a:endParaRPr>
          </a:p>
        </p:txBody>
      </p:sp>
      <p:sp>
        <p:nvSpPr>
          <p:cNvPr id="44038" name="Rectangle 9"/>
          <p:cNvSpPr>
            <a:spLocks noChangeArrowheads="1"/>
          </p:cNvSpPr>
          <p:nvPr/>
        </p:nvSpPr>
        <p:spPr bwMode="auto">
          <a:xfrm>
            <a:off x="762000" y="4487863"/>
            <a:ext cx="47958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GPM =             = 17.6%.</a:t>
            </a:r>
          </a:p>
        </p:txBody>
      </p:sp>
      <p:sp>
        <p:nvSpPr>
          <p:cNvPr id="44039" name="Rectangle 11"/>
          <p:cNvSpPr>
            <a:spLocks noChangeArrowheads="1"/>
          </p:cNvSpPr>
          <p:nvPr/>
        </p:nvSpPr>
        <p:spPr bwMode="auto">
          <a:xfrm>
            <a:off x="1947863" y="4267200"/>
            <a:ext cx="192405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a:latin typeface="Tahoma" pitchFamily="34" charset="0"/>
              </a:rPr>
              <a:t> </a:t>
            </a:r>
            <a:r>
              <a:rPr lang="en-US" sz="3200" u="sng">
                <a:latin typeface="Tahoma" pitchFamily="34" charset="0"/>
              </a:rPr>
              <a:t> $1,236 </a:t>
            </a:r>
            <a:r>
              <a:rPr lang="en-US" sz="3200">
                <a:latin typeface="Tahoma" pitchFamily="34" charset="0"/>
              </a:rPr>
              <a:t> </a:t>
            </a:r>
          </a:p>
          <a:p>
            <a:pPr algn="ctr" eaLnBrk="0" hangingPunct="0">
              <a:lnSpc>
                <a:spcPct val="85000"/>
              </a:lnSpc>
            </a:pPr>
            <a:r>
              <a:rPr lang="en-US" sz="3200">
                <a:latin typeface="Tahoma" pitchFamily="34" charset="0"/>
              </a:rPr>
              <a:t>$7,036</a:t>
            </a:r>
          </a:p>
        </p:txBody>
      </p:sp>
      <p:sp>
        <p:nvSpPr>
          <p:cNvPr id="44040" name="Text Box 12"/>
          <p:cNvSpPr txBox="1">
            <a:spLocks noChangeArrowheads="1"/>
          </p:cNvSpPr>
          <p:nvPr/>
        </p:nvSpPr>
        <p:spPr bwMode="auto">
          <a:xfrm>
            <a:off x="838200" y="2133600"/>
            <a:ext cx="5105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r>
              <a:rPr lang="en-US" sz="3200" dirty="0">
                <a:latin typeface="Tahoma" pitchFamily="34" charset="0"/>
              </a:rPr>
              <a:t>Gross profit margin (GPM):</a:t>
            </a:r>
          </a:p>
        </p:txBody>
      </p:sp>
      <p:sp>
        <p:nvSpPr>
          <p:cNvPr id="44041" name="Rectangle 15"/>
          <p:cNvSpPr>
            <a:spLocks noChangeArrowheads="1"/>
          </p:cNvSpPr>
          <p:nvPr/>
        </p:nvSpPr>
        <p:spPr bwMode="auto">
          <a:xfrm>
            <a:off x="5486400" y="2971800"/>
            <a:ext cx="3200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algn="ctr" defTabSz="1031875" eaLnBrk="0" hangingPunct="0"/>
            <a:r>
              <a:rPr lang="en-US" sz="3200" u="sng">
                <a:latin typeface="Tahoma" pitchFamily="34" charset="0"/>
              </a:rPr>
              <a:t>$7,036 </a:t>
            </a:r>
            <a:r>
              <a:rPr lang="en-US" sz="3200" u="sng">
                <a:latin typeface="Tahoma" pitchFamily="34" charset="0"/>
                <a:cs typeface="Tahoma" pitchFamily="34" charset="0"/>
              </a:rPr>
              <a:t>− $5,800</a:t>
            </a:r>
            <a:r>
              <a:rPr lang="en-US" sz="3200" u="sng">
                <a:latin typeface="Tahoma" pitchFamily="34" charset="0"/>
              </a:rPr>
              <a:t> </a:t>
            </a:r>
            <a:endParaRPr lang="en-US" sz="3200">
              <a:latin typeface="Tahoma" pitchFamily="34" charset="0"/>
            </a:endParaRPr>
          </a:p>
          <a:p>
            <a:pPr algn="ctr" defTabSz="1031875" eaLnBrk="0" hangingPunct="0">
              <a:lnSpc>
                <a:spcPct val="85000"/>
              </a:lnSpc>
            </a:pPr>
            <a:r>
              <a:rPr lang="en-US" sz="3200">
                <a:latin typeface="Tahoma" pitchFamily="34" charset="0"/>
              </a:rPr>
              <a:t>$7,036</a:t>
            </a:r>
          </a:p>
        </p:txBody>
      </p:sp>
      <p:pic>
        <p:nvPicPr>
          <p:cNvPr id="3" name="Picture 2">
            <a:extLst>
              <a:ext uri="{FF2B5EF4-FFF2-40B4-BE49-F238E27FC236}">
                <a16:creationId xmlns:a16="http://schemas.microsoft.com/office/drawing/2014/main" id="{9704CAF4-B9F2-17F8-4323-E9FBE229AFB4}"/>
              </a:ext>
            </a:extLst>
          </p:cNvPr>
          <p:cNvPicPr>
            <a:picLocks noChangeAspect="1"/>
          </p:cNvPicPr>
          <p:nvPr/>
        </p:nvPicPr>
        <p:blipFill>
          <a:blip r:embed="rId2"/>
          <a:stretch>
            <a:fillRect/>
          </a:stretch>
        </p:blipFill>
        <p:spPr>
          <a:xfrm>
            <a:off x="2362201" y="3368458"/>
            <a:ext cx="2654846" cy="727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P spid="44038" grpId="0"/>
      <p:bldP spid="4404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C5BA4A4B-A40E-4577-8581-6B98C7C8AB6B}" type="slidenum">
              <a:rPr lang="en-US"/>
              <a:pPr>
                <a:defRPr/>
              </a:pPr>
              <a:t>31</a:t>
            </a:fld>
            <a:endParaRPr lang="en-US"/>
          </a:p>
        </p:txBody>
      </p:sp>
      <p:sp>
        <p:nvSpPr>
          <p:cNvPr id="45058" name="Rectangle 2"/>
          <p:cNvSpPr>
            <a:spLocks noChangeArrowheads="1"/>
          </p:cNvSpPr>
          <p:nvPr/>
        </p:nvSpPr>
        <p:spPr bwMode="auto">
          <a:xfrm>
            <a:off x="990600" y="4953000"/>
            <a:ext cx="7473950" cy="97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90000"/>
              </a:lnSpc>
            </a:pPr>
            <a:r>
              <a:rPr lang="en-US" sz="3200" dirty="0">
                <a:latin typeface="Tahoma" pitchFamily="34" charset="0"/>
              </a:rPr>
              <a:t>Very bad in 20x1, but projected to </a:t>
            </a:r>
          </a:p>
          <a:p>
            <a:pPr eaLnBrk="0" hangingPunct="0">
              <a:lnSpc>
                <a:spcPct val="90000"/>
              </a:lnSpc>
            </a:pPr>
            <a:r>
              <a:rPr lang="en-US" sz="3200" dirty="0">
                <a:latin typeface="Tahoma" pitchFamily="34" charset="0"/>
              </a:rPr>
              <a:t>meet or exceed industry ave. in 20x2.</a:t>
            </a:r>
          </a:p>
        </p:txBody>
      </p:sp>
      <p:grpSp>
        <p:nvGrpSpPr>
          <p:cNvPr id="45059" name="Group 3"/>
          <p:cNvGrpSpPr>
            <a:grpSpLocks/>
          </p:cNvGrpSpPr>
          <p:nvPr/>
        </p:nvGrpSpPr>
        <p:grpSpPr bwMode="auto">
          <a:xfrm>
            <a:off x="848519" y="1934308"/>
            <a:ext cx="7446962" cy="2255838"/>
            <a:chOff x="573" y="1572"/>
            <a:chExt cx="4691" cy="1421"/>
          </a:xfrm>
        </p:grpSpPr>
        <p:sp>
          <p:nvSpPr>
            <p:cNvPr id="45061" name="Rectangle 4"/>
            <p:cNvSpPr>
              <a:spLocks noChangeArrowheads="1"/>
            </p:cNvSpPr>
            <p:nvPr/>
          </p:nvSpPr>
          <p:spPr bwMode="auto">
            <a:xfrm>
              <a:off x="573" y="1572"/>
              <a:ext cx="4691"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110000"/>
                </a:lnSpc>
                <a:tabLst>
                  <a:tab pos="2047875" algn="dec"/>
                  <a:tab pos="3381375" algn="dec"/>
                  <a:tab pos="4738688" algn="dec"/>
                  <a:tab pos="6119813" algn="dec"/>
                </a:tabLst>
              </a:pPr>
              <a:r>
                <a:rPr lang="en-US" sz="3200" b="1" dirty="0">
                  <a:latin typeface="Tahoma" pitchFamily="34" charset="0"/>
                </a:rPr>
                <a:t>	      </a:t>
              </a:r>
              <a:r>
                <a:rPr lang="en-US" sz="2800" dirty="0">
                  <a:latin typeface="Tahoma" pitchFamily="34" charset="0"/>
                </a:rPr>
                <a:t>20x2Est</a:t>
              </a:r>
              <a:r>
                <a:rPr lang="en-US" sz="3200" dirty="0">
                  <a:latin typeface="Tahoma" pitchFamily="34" charset="0"/>
                </a:rPr>
                <a:t>	   20x1   20x0	    Ind.</a:t>
              </a:r>
            </a:p>
            <a:p>
              <a:pPr eaLnBrk="0" hangingPunct="0">
                <a:lnSpc>
                  <a:spcPct val="110000"/>
                </a:lnSpc>
                <a:tabLst>
                  <a:tab pos="2047875" algn="dec"/>
                  <a:tab pos="3381375" algn="dec"/>
                  <a:tab pos="4738688" algn="dec"/>
                  <a:tab pos="6119813" algn="dec"/>
                </a:tabLst>
              </a:pPr>
              <a:r>
                <a:rPr lang="en-US" sz="3200" dirty="0">
                  <a:latin typeface="Tahoma" pitchFamily="34" charset="0"/>
                </a:rPr>
                <a:t>PM         </a:t>
              </a:r>
              <a:r>
                <a:rPr lang="en-US" sz="2800" dirty="0">
                  <a:latin typeface="Tahoma" pitchFamily="34" charset="0"/>
                </a:rPr>
                <a:t>3.6%	  -1.6%	2.6%	  3.6%</a:t>
              </a:r>
            </a:p>
            <a:p>
              <a:pPr eaLnBrk="0" hangingPunct="0">
                <a:lnSpc>
                  <a:spcPct val="110000"/>
                </a:lnSpc>
                <a:tabLst>
                  <a:tab pos="2047875" algn="dec"/>
                  <a:tab pos="3381375" algn="dec"/>
                  <a:tab pos="4738688" algn="dec"/>
                  <a:tab pos="6119813" algn="dec"/>
                </a:tabLst>
              </a:pPr>
              <a:r>
                <a:rPr lang="en-US" sz="3200" dirty="0">
                  <a:latin typeface="Tahoma" pitchFamily="34" charset="0"/>
                </a:rPr>
                <a:t>OPM	</a:t>
              </a:r>
              <a:r>
                <a:rPr lang="en-US" sz="2800" dirty="0">
                  <a:latin typeface="Tahoma" pitchFamily="34" charset="0"/>
                </a:rPr>
                <a:t>7.1	   0.3	    6.1	7.1</a:t>
              </a:r>
            </a:p>
            <a:p>
              <a:pPr eaLnBrk="0" hangingPunct="0">
                <a:lnSpc>
                  <a:spcPct val="110000"/>
                </a:lnSpc>
                <a:tabLst>
                  <a:tab pos="2047875" algn="dec"/>
                  <a:tab pos="3381375" algn="dec"/>
                  <a:tab pos="4738688" algn="dec"/>
                  <a:tab pos="6119813" algn="dec"/>
                </a:tabLst>
              </a:pPr>
              <a:r>
                <a:rPr lang="en-US" sz="3200" dirty="0">
                  <a:latin typeface="Tahoma" pitchFamily="34" charset="0"/>
                </a:rPr>
                <a:t>GPM       	 </a:t>
              </a:r>
              <a:r>
                <a:rPr lang="en-US" sz="2800" dirty="0">
                  <a:latin typeface="Tahoma" pitchFamily="34" charset="0"/>
                </a:rPr>
                <a:t>17.6	    14.6	     16.6	    15.5</a:t>
              </a:r>
            </a:p>
          </p:txBody>
        </p:sp>
        <p:sp>
          <p:nvSpPr>
            <p:cNvPr id="45062" name="Line 5"/>
            <p:cNvSpPr>
              <a:spLocks noChangeShapeType="1"/>
            </p:cNvSpPr>
            <p:nvPr/>
          </p:nvSpPr>
          <p:spPr bwMode="auto">
            <a:xfrm>
              <a:off x="1545" y="1921"/>
              <a:ext cx="347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063" name="Line 6"/>
            <p:cNvSpPr>
              <a:spLocks noChangeShapeType="1"/>
            </p:cNvSpPr>
            <p:nvPr/>
          </p:nvSpPr>
          <p:spPr bwMode="auto">
            <a:xfrm>
              <a:off x="1545" y="1921"/>
              <a:ext cx="0" cy="100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45060" name="Rectangle 7"/>
          <p:cNvSpPr>
            <a:spLocks noGrp="1" noChangeArrowheads="1"/>
          </p:cNvSpPr>
          <p:nvPr>
            <p:ph type="title"/>
          </p:nvPr>
        </p:nvSpPr>
        <p:spPr/>
        <p:txBody>
          <a:bodyPr>
            <a:normAutofit fontScale="90000"/>
          </a:bodyPr>
          <a:lstStyle/>
          <a:p>
            <a:pPr eaLnBrk="1" hangingPunct="1"/>
            <a:r>
              <a:rPr lang="en-US" dirty="0"/>
              <a:t>Profit Margins vs. Industry Averages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6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AE86F9EF-29EB-4C80-B54B-56A8B00DCEE9}" type="slidenum">
              <a:rPr lang="en-US"/>
              <a:pPr>
                <a:defRPr/>
              </a:pPr>
              <a:t>32</a:t>
            </a:fld>
            <a:endParaRPr lang="en-US"/>
          </a:p>
        </p:txBody>
      </p:sp>
      <p:grpSp>
        <p:nvGrpSpPr>
          <p:cNvPr id="46082" name="Group 8"/>
          <p:cNvGrpSpPr>
            <a:grpSpLocks/>
          </p:cNvGrpSpPr>
          <p:nvPr/>
        </p:nvGrpSpPr>
        <p:grpSpPr bwMode="auto">
          <a:xfrm>
            <a:off x="2667000" y="2532063"/>
            <a:ext cx="6096000" cy="3711575"/>
            <a:chOff x="1632" y="1598"/>
            <a:chExt cx="3840" cy="2338"/>
          </a:xfrm>
        </p:grpSpPr>
        <p:sp>
          <p:nvSpPr>
            <p:cNvPr id="46084" name="Rectangle 3"/>
            <p:cNvSpPr>
              <a:spLocks noChangeArrowheads="1"/>
            </p:cNvSpPr>
            <p:nvPr/>
          </p:nvSpPr>
          <p:spPr bwMode="auto">
            <a:xfrm>
              <a:off x="1632" y="1743"/>
              <a:ext cx="3153"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lstStyle/>
            <a:p>
              <a:pPr>
                <a:spcBef>
                  <a:spcPct val="20000"/>
                </a:spcBef>
                <a:buClr>
                  <a:schemeClr val="folHlink"/>
                </a:buClr>
                <a:buSzPct val="60000"/>
                <a:buFont typeface="Wingdings" pitchFamily="2" charset="2"/>
                <a:buNone/>
                <a:tabLst>
                  <a:tab pos="1023938" algn="l"/>
                </a:tabLst>
              </a:pPr>
              <a:r>
                <a:rPr lang="en-US" sz="3200" dirty="0">
                  <a:latin typeface="Tahoma" pitchFamily="34" charset="0"/>
                </a:rPr>
                <a:t>BEP  =</a:t>
              </a:r>
            </a:p>
            <a:p>
              <a:pPr>
                <a:spcBef>
                  <a:spcPct val="20000"/>
                </a:spcBef>
                <a:buClr>
                  <a:schemeClr val="folHlink"/>
                </a:buClr>
                <a:buSzPct val="60000"/>
                <a:buFont typeface="Wingdings" pitchFamily="2" charset="2"/>
                <a:buNone/>
                <a:tabLst>
                  <a:tab pos="1023938" algn="l"/>
                </a:tabLst>
              </a:pPr>
              <a:endParaRPr lang="en-US" sz="3200" dirty="0">
                <a:latin typeface="Tahoma" pitchFamily="34" charset="0"/>
              </a:endParaRPr>
            </a:p>
            <a:p>
              <a:pPr>
                <a:spcBef>
                  <a:spcPct val="20000"/>
                </a:spcBef>
                <a:buClr>
                  <a:schemeClr val="folHlink"/>
                </a:buClr>
                <a:buSzPct val="60000"/>
                <a:buFont typeface="Wingdings" pitchFamily="2" charset="2"/>
                <a:buNone/>
                <a:tabLst>
                  <a:tab pos="1023938" algn="l"/>
                </a:tabLst>
              </a:pPr>
              <a:r>
                <a:rPr lang="en-US" sz="3200" dirty="0">
                  <a:latin typeface="Tahoma" pitchFamily="34" charset="0"/>
                </a:rPr>
                <a:t>	=                = 14.3%.</a:t>
              </a:r>
            </a:p>
          </p:txBody>
        </p:sp>
        <p:sp>
          <p:nvSpPr>
            <p:cNvPr id="46085" name="Rectangle 4"/>
            <p:cNvSpPr>
              <a:spLocks noChangeArrowheads="1"/>
            </p:cNvSpPr>
            <p:nvPr/>
          </p:nvSpPr>
          <p:spPr bwMode="auto">
            <a:xfrm>
              <a:off x="2561" y="1598"/>
              <a:ext cx="1638"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1374775" eaLnBrk="0" hangingPunct="0">
                <a:tabLst>
                  <a:tab pos="2393950" algn="l"/>
                  <a:tab pos="2566988" algn="l"/>
                </a:tabLst>
              </a:pPr>
              <a:r>
                <a:rPr lang="en-US" sz="3200" u="sng" dirty="0">
                  <a:latin typeface="Tahoma" pitchFamily="34" charset="0"/>
                </a:rPr>
                <a:t>      EBIT	</a:t>
              </a:r>
            </a:p>
            <a:p>
              <a:pPr algn="ctr" defTabSz="1374775" eaLnBrk="0" hangingPunct="0">
                <a:tabLst>
                  <a:tab pos="2393950" algn="l"/>
                  <a:tab pos="2566988" algn="l"/>
                </a:tabLst>
              </a:pPr>
              <a:r>
                <a:rPr lang="en-US" sz="3200" dirty="0">
                  <a:latin typeface="Tahoma" pitchFamily="34" charset="0"/>
                </a:rPr>
                <a:t>Total assets</a:t>
              </a:r>
            </a:p>
          </p:txBody>
        </p:sp>
        <p:sp>
          <p:nvSpPr>
            <p:cNvPr id="46086" name="Rectangle 5"/>
            <p:cNvSpPr>
              <a:spLocks noChangeArrowheads="1"/>
            </p:cNvSpPr>
            <p:nvPr/>
          </p:nvSpPr>
          <p:spPr bwMode="auto">
            <a:xfrm>
              <a:off x="2529" y="2363"/>
              <a:ext cx="1052"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 $502.6 </a:t>
              </a:r>
              <a:endParaRPr lang="en-US" sz="3200">
                <a:latin typeface="Tahoma" pitchFamily="34" charset="0"/>
              </a:endParaRPr>
            </a:p>
            <a:p>
              <a:pPr algn="ctr" eaLnBrk="0" hangingPunct="0">
                <a:lnSpc>
                  <a:spcPct val="85000"/>
                </a:lnSpc>
              </a:pPr>
              <a:r>
                <a:rPr lang="en-US" sz="3200">
                  <a:latin typeface="Tahoma" pitchFamily="34" charset="0"/>
                </a:rPr>
                <a:t>$3,517</a:t>
              </a:r>
            </a:p>
          </p:txBody>
        </p:sp>
        <p:sp>
          <p:nvSpPr>
            <p:cNvPr id="46087" name="Rectangle 6"/>
            <p:cNvSpPr>
              <a:spLocks noChangeArrowheads="1"/>
            </p:cNvSpPr>
            <p:nvPr/>
          </p:nvSpPr>
          <p:spPr bwMode="auto">
            <a:xfrm>
              <a:off x="4708" y="3686"/>
              <a:ext cx="7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2000" b="1"/>
                <a:t>(More…)</a:t>
              </a:r>
            </a:p>
          </p:txBody>
        </p:sp>
      </p:grpSp>
      <p:sp>
        <p:nvSpPr>
          <p:cNvPr id="46083" name="Rectangle 9"/>
          <p:cNvSpPr>
            <a:spLocks noGrp="1" noChangeArrowheads="1"/>
          </p:cNvSpPr>
          <p:nvPr>
            <p:ph type="title"/>
          </p:nvPr>
        </p:nvSpPr>
        <p:spPr/>
        <p:txBody>
          <a:bodyPr/>
          <a:lstStyle/>
          <a:p>
            <a:pPr eaLnBrk="1" hangingPunct="1"/>
            <a:r>
              <a:rPr lang="en-US"/>
              <a:t>Basic Earning Power (BEP)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0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6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pPr>
              <a:defRPr/>
            </a:pPr>
            <a:fld id="{0E45B28A-6204-4AEB-ACEE-1D00340195DC}" type="slidenum">
              <a:rPr lang="en-US"/>
              <a:pPr>
                <a:defRPr/>
              </a:pPr>
              <a:t>33</a:t>
            </a:fld>
            <a:endParaRPr lang="en-US"/>
          </a:p>
        </p:txBody>
      </p:sp>
      <p:sp>
        <p:nvSpPr>
          <p:cNvPr id="47106" name="Rectangle 12"/>
          <p:cNvSpPr>
            <a:spLocks noGrp="1" noChangeArrowheads="1"/>
          </p:cNvSpPr>
          <p:nvPr>
            <p:ph type="title"/>
          </p:nvPr>
        </p:nvSpPr>
        <p:spPr/>
        <p:txBody>
          <a:bodyPr>
            <a:normAutofit fontScale="90000"/>
          </a:bodyPr>
          <a:lstStyle/>
          <a:p>
            <a:pPr eaLnBrk="1" hangingPunct="1"/>
            <a:r>
              <a:rPr lang="en-US"/>
              <a:t>Basic Earning Power vs. Industry Average</a:t>
            </a:r>
          </a:p>
        </p:txBody>
      </p:sp>
      <p:sp>
        <p:nvSpPr>
          <p:cNvPr id="47107" name="Rectangle 13"/>
          <p:cNvSpPr>
            <a:spLocks noGrp="1" noChangeArrowheads="1"/>
          </p:cNvSpPr>
          <p:nvPr>
            <p:ph type="body" idx="1"/>
          </p:nvPr>
        </p:nvSpPr>
        <p:spPr>
          <a:xfrm>
            <a:off x="628650" y="2987671"/>
            <a:ext cx="8326438" cy="3505202"/>
          </a:xfrm>
        </p:spPr>
        <p:txBody>
          <a:bodyPr>
            <a:normAutofit lnSpcReduction="10000"/>
          </a:bodyPr>
          <a:lstStyle/>
          <a:p>
            <a:pPr eaLnBrk="1" hangingPunct="1"/>
            <a:r>
              <a:rPr lang="en-US" dirty="0"/>
              <a:t>BEP removes effect of taxes and financial leverage.  </a:t>
            </a:r>
          </a:p>
          <a:p>
            <a:pPr lvl="1" eaLnBrk="1" hangingPunct="1"/>
            <a:r>
              <a:rPr lang="en-US" dirty="0"/>
              <a:t>Useful for comparison.</a:t>
            </a:r>
          </a:p>
          <a:p>
            <a:pPr eaLnBrk="1" hangingPunct="1"/>
            <a:r>
              <a:rPr lang="en-US" dirty="0"/>
              <a:t>Projected to be:</a:t>
            </a:r>
          </a:p>
          <a:p>
            <a:pPr lvl="1"/>
            <a:r>
              <a:rPr lang="en-US" dirty="0"/>
              <a:t>  below average.</a:t>
            </a:r>
          </a:p>
          <a:p>
            <a:pPr eaLnBrk="1" hangingPunct="1"/>
            <a:r>
              <a:rPr lang="en-US" dirty="0"/>
              <a:t>Room for improvement.</a:t>
            </a:r>
          </a:p>
        </p:txBody>
      </p:sp>
      <p:grpSp>
        <p:nvGrpSpPr>
          <p:cNvPr id="47108" name="Group 11"/>
          <p:cNvGrpSpPr>
            <a:grpSpLocks/>
          </p:cNvGrpSpPr>
          <p:nvPr/>
        </p:nvGrpSpPr>
        <p:grpSpPr bwMode="auto">
          <a:xfrm>
            <a:off x="914400" y="1330324"/>
            <a:ext cx="6970713" cy="1162050"/>
            <a:chOff x="672" y="-842"/>
            <a:chExt cx="4391" cy="732"/>
          </a:xfrm>
        </p:grpSpPr>
        <p:sp>
          <p:nvSpPr>
            <p:cNvPr id="47109" name="Rectangle 5"/>
            <p:cNvSpPr>
              <a:spLocks noChangeArrowheads="1"/>
            </p:cNvSpPr>
            <p:nvPr/>
          </p:nvSpPr>
          <p:spPr bwMode="auto">
            <a:xfrm>
              <a:off x="672" y="-842"/>
              <a:ext cx="4391" cy="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110000"/>
                </a:lnSpc>
                <a:tabLst>
                  <a:tab pos="1881188" algn="ctr"/>
                  <a:tab pos="3262313" algn="ctr"/>
                  <a:tab pos="4691063" algn="ctr"/>
                  <a:tab pos="6000750" algn="ctr"/>
                </a:tabLst>
              </a:pPr>
              <a:r>
                <a:rPr lang="en-US" sz="3200" dirty="0">
                  <a:latin typeface="Tahoma" pitchFamily="34" charset="0"/>
                </a:rPr>
                <a:t>	</a:t>
              </a:r>
              <a:r>
                <a:rPr lang="en-US" sz="2800" dirty="0">
                  <a:latin typeface="Tahoma" pitchFamily="34" charset="0"/>
                </a:rPr>
                <a:t>20x2Est	20x1	20x0	Ind.</a:t>
              </a:r>
            </a:p>
            <a:p>
              <a:pPr eaLnBrk="0" hangingPunct="0">
                <a:lnSpc>
                  <a:spcPct val="110000"/>
                </a:lnSpc>
                <a:tabLst>
                  <a:tab pos="1881188" algn="ctr"/>
                  <a:tab pos="3262313" algn="ctr"/>
                  <a:tab pos="4691063" algn="ctr"/>
                  <a:tab pos="6000750" algn="ctr"/>
                </a:tabLst>
              </a:pPr>
              <a:r>
                <a:rPr lang="en-US" sz="3200" dirty="0">
                  <a:latin typeface="Tahoma" pitchFamily="34" charset="0"/>
                </a:rPr>
                <a:t>BEP	14.3%	0.6%	14.2%	17.8%</a:t>
              </a:r>
            </a:p>
          </p:txBody>
        </p:sp>
        <p:grpSp>
          <p:nvGrpSpPr>
            <p:cNvPr id="47110" name="Group 8"/>
            <p:cNvGrpSpPr>
              <a:grpSpLocks/>
            </p:cNvGrpSpPr>
            <p:nvPr/>
          </p:nvGrpSpPr>
          <p:grpSpPr bwMode="auto">
            <a:xfrm>
              <a:off x="1329" y="-487"/>
              <a:ext cx="3568" cy="365"/>
              <a:chOff x="1206" y="-974"/>
              <a:chExt cx="3568" cy="365"/>
            </a:xfrm>
          </p:grpSpPr>
          <p:sp>
            <p:nvSpPr>
              <p:cNvPr id="47111" name="Line 6"/>
              <p:cNvSpPr>
                <a:spLocks noChangeShapeType="1"/>
              </p:cNvSpPr>
              <p:nvPr/>
            </p:nvSpPr>
            <p:spPr bwMode="auto">
              <a:xfrm>
                <a:off x="1206" y="-974"/>
                <a:ext cx="356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112" name="Line 7"/>
              <p:cNvSpPr>
                <a:spLocks noChangeShapeType="1"/>
              </p:cNvSpPr>
              <p:nvPr/>
            </p:nvSpPr>
            <p:spPr bwMode="auto">
              <a:xfrm>
                <a:off x="1206" y="-967"/>
                <a:ext cx="0" cy="35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10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Basic Earning Power &amp;         		    </a:t>
            </a:r>
            <a:r>
              <a:rPr lang="en-US" u="sng" dirty="0"/>
              <a:t>Subway</a:t>
            </a:r>
            <a:r>
              <a:rPr lang="en-US" dirty="0"/>
              <a:t> vs. </a:t>
            </a:r>
            <a:r>
              <a:rPr lang="en-US" u="sng" dirty="0"/>
              <a:t>Smelly Deli</a:t>
            </a:r>
          </a:p>
        </p:txBody>
      </p:sp>
      <p:sp>
        <p:nvSpPr>
          <p:cNvPr id="3" name="Content Placeholder 2"/>
          <p:cNvSpPr>
            <a:spLocks noGrp="1"/>
          </p:cNvSpPr>
          <p:nvPr>
            <p:ph idx="1"/>
          </p:nvPr>
        </p:nvSpPr>
        <p:spPr>
          <a:xfrm>
            <a:off x="304800" y="2017713"/>
            <a:ext cx="8650288" cy="4114800"/>
          </a:xfrm>
        </p:spPr>
        <p:txBody>
          <a:bodyPr/>
          <a:lstStyle/>
          <a:p>
            <a:r>
              <a:rPr lang="en-US" dirty="0"/>
              <a:t>EBIT=		$1000		$200</a:t>
            </a:r>
          </a:p>
          <a:p>
            <a:endParaRPr lang="en-US" dirty="0"/>
          </a:p>
          <a:p>
            <a:r>
              <a:rPr lang="en-US" dirty="0" err="1"/>
              <a:t>T.Assets</a:t>
            </a:r>
            <a:r>
              <a:rPr lang="en-US" dirty="0"/>
              <a:t>=	$1000		  $50</a:t>
            </a:r>
          </a:p>
          <a:p>
            <a:endParaRPr lang="en-US" dirty="0"/>
          </a:p>
          <a:p>
            <a:r>
              <a:rPr lang="en-US" sz="2800" dirty="0"/>
              <a:t>BEP</a:t>
            </a:r>
            <a:r>
              <a:rPr lang="en-US" sz="2800"/>
              <a:t>= EBIT/TA  = 1			    = 4</a:t>
            </a:r>
            <a:endParaRPr lang="en-US" sz="2800" dirty="0"/>
          </a:p>
          <a:p>
            <a:endParaRPr lang="en-US" dirty="0"/>
          </a:p>
        </p:txBody>
      </p:sp>
      <p:sp>
        <p:nvSpPr>
          <p:cNvPr id="4" name="Slide Number Placeholder 3"/>
          <p:cNvSpPr>
            <a:spLocks noGrp="1"/>
          </p:cNvSpPr>
          <p:nvPr>
            <p:ph type="sldNum" sz="quarter" idx="12"/>
          </p:nvPr>
        </p:nvSpPr>
        <p:spPr/>
        <p:txBody>
          <a:bodyPr/>
          <a:lstStyle/>
          <a:p>
            <a:pPr>
              <a:defRPr/>
            </a:pPr>
            <a:fld id="{4DD6E01B-EA04-4AFE-BCD6-D37ECD11A305}" type="slidenum">
              <a:rPr lang="en-US" smtClean="0"/>
              <a:pPr>
                <a:defRPr/>
              </a:pPr>
              <a:t>34</a:t>
            </a:fld>
            <a:endParaRPr lang="en-US"/>
          </a:p>
        </p:txBody>
      </p:sp>
    </p:spTree>
    <p:extLst>
      <p:ext uri="{BB962C8B-B14F-4D97-AF65-F5344CB8AC3E}">
        <p14:creationId xmlns:p14="http://schemas.microsoft.com/office/powerpoint/2010/main" val="2431032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193B0BFC-B17A-4DF7-A5FB-674445C3707A}" type="slidenum">
              <a:rPr lang="en-US"/>
              <a:pPr>
                <a:defRPr/>
              </a:pPr>
              <a:t>35</a:t>
            </a:fld>
            <a:endParaRPr lang="en-US"/>
          </a:p>
        </p:txBody>
      </p:sp>
      <p:grpSp>
        <p:nvGrpSpPr>
          <p:cNvPr id="48130" name="Group 2"/>
          <p:cNvGrpSpPr>
            <a:grpSpLocks/>
          </p:cNvGrpSpPr>
          <p:nvPr/>
        </p:nvGrpSpPr>
        <p:grpSpPr bwMode="auto">
          <a:xfrm>
            <a:off x="2590800" y="2536825"/>
            <a:ext cx="6096000" cy="3711575"/>
            <a:chOff x="1632" y="1598"/>
            <a:chExt cx="3840" cy="2338"/>
          </a:xfrm>
        </p:grpSpPr>
        <p:sp>
          <p:nvSpPr>
            <p:cNvPr id="48132" name="Rectangle 3"/>
            <p:cNvSpPr>
              <a:spLocks noChangeArrowheads="1"/>
            </p:cNvSpPr>
            <p:nvPr/>
          </p:nvSpPr>
          <p:spPr bwMode="auto">
            <a:xfrm>
              <a:off x="1632" y="1743"/>
              <a:ext cx="3153"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lstStyle/>
            <a:p>
              <a:pPr>
                <a:spcBef>
                  <a:spcPct val="20000"/>
                </a:spcBef>
                <a:buClr>
                  <a:schemeClr val="folHlink"/>
                </a:buClr>
                <a:buSzPct val="60000"/>
                <a:buFont typeface="Wingdings" pitchFamily="2" charset="2"/>
                <a:buNone/>
                <a:tabLst>
                  <a:tab pos="1023938" algn="l"/>
                </a:tabLst>
              </a:pPr>
              <a:r>
                <a:rPr lang="en-US" sz="3200">
                  <a:latin typeface="Tahoma" pitchFamily="34" charset="0"/>
                </a:rPr>
                <a:t>ROA  =</a:t>
              </a:r>
            </a:p>
            <a:p>
              <a:pPr>
                <a:spcBef>
                  <a:spcPct val="20000"/>
                </a:spcBef>
                <a:buClr>
                  <a:schemeClr val="folHlink"/>
                </a:buClr>
                <a:buSzPct val="60000"/>
                <a:buFont typeface="Wingdings" pitchFamily="2" charset="2"/>
                <a:buNone/>
                <a:tabLst>
                  <a:tab pos="1023938" algn="l"/>
                </a:tabLst>
              </a:pPr>
              <a:endParaRPr lang="en-US" sz="3200">
                <a:latin typeface="Tahoma" pitchFamily="34" charset="0"/>
              </a:endParaRPr>
            </a:p>
            <a:p>
              <a:pPr>
                <a:spcBef>
                  <a:spcPct val="20000"/>
                </a:spcBef>
                <a:buClr>
                  <a:schemeClr val="folHlink"/>
                </a:buClr>
                <a:buSzPct val="60000"/>
                <a:buFont typeface="Wingdings" pitchFamily="2" charset="2"/>
                <a:buNone/>
                <a:tabLst>
                  <a:tab pos="1023938" algn="l"/>
                </a:tabLst>
              </a:pPr>
              <a:r>
                <a:rPr lang="en-US" sz="3200">
                  <a:latin typeface="Tahoma" pitchFamily="34" charset="0"/>
                </a:rPr>
                <a:t>	=                = 7.2%.</a:t>
              </a:r>
            </a:p>
          </p:txBody>
        </p:sp>
        <p:sp>
          <p:nvSpPr>
            <p:cNvPr id="48133" name="Rectangle 4"/>
            <p:cNvSpPr>
              <a:spLocks noChangeArrowheads="1"/>
            </p:cNvSpPr>
            <p:nvPr/>
          </p:nvSpPr>
          <p:spPr bwMode="auto">
            <a:xfrm>
              <a:off x="2561" y="1598"/>
              <a:ext cx="1638"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1374775" eaLnBrk="0" hangingPunct="0">
                <a:tabLst>
                  <a:tab pos="2393950" algn="l"/>
                  <a:tab pos="2566988" algn="l"/>
                </a:tabLst>
              </a:pPr>
              <a:r>
                <a:rPr lang="en-US" sz="3200" u="sng" dirty="0">
                  <a:latin typeface="Tahoma" pitchFamily="34" charset="0"/>
                </a:rPr>
                <a:t>       	</a:t>
              </a:r>
            </a:p>
            <a:p>
              <a:pPr algn="ctr" defTabSz="1374775" eaLnBrk="0" hangingPunct="0">
                <a:tabLst>
                  <a:tab pos="2393950" algn="l"/>
                  <a:tab pos="2566988" algn="l"/>
                </a:tabLst>
              </a:pPr>
              <a:endParaRPr lang="en-US" sz="3200" dirty="0">
                <a:latin typeface="Tahoma" pitchFamily="34" charset="0"/>
              </a:endParaRPr>
            </a:p>
          </p:txBody>
        </p:sp>
        <p:sp>
          <p:nvSpPr>
            <p:cNvPr id="48134" name="Rectangle 5"/>
            <p:cNvSpPr>
              <a:spLocks noChangeArrowheads="1"/>
            </p:cNvSpPr>
            <p:nvPr/>
          </p:nvSpPr>
          <p:spPr bwMode="auto">
            <a:xfrm>
              <a:off x="2529" y="2363"/>
              <a:ext cx="1052"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 $253.6 </a:t>
              </a:r>
              <a:endParaRPr lang="en-US" sz="3200">
                <a:latin typeface="Tahoma" pitchFamily="34" charset="0"/>
              </a:endParaRPr>
            </a:p>
            <a:p>
              <a:pPr algn="ctr" eaLnBrk="0" hangingPunct="0">
                <a:lnSpc>
                  <a:spcPct val="85000"/>
                </a:lnSpc>
              </a:pPr>
              <a:r>
                <a:rPr lang="en-US" sz="3200">
                  <a:latin typeface="Tahoma" pitchFamily="34" charset="0"/>
                </a:rPr>
                <a:t>$3,517</a:t>
              </a:r>
            </a:p>
          </p:txBody>
        </p:sp>
        <p:sp>
          <p:nvSpPr>
            <p:cNvPr id="48135" name="Rectangle 6"/>
            <p:cNvSpPr>
              <a:spLocks noChangeArrowheads="1"/>
            </p:cNvSpPr>
            <p:nvPr/>
          </p:nvSpPr>
          <p:spPr bwMode="auto">
            <a:xfrm>
              <a:off x="4708" y="3686"/>
              <a:ext cx="7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2000" b="1"/>
                <a:t>(More…)</a:t>
              </a:r>
            </a:p>
          </p:txBody>
        </p:sp>
      </p:grpSp>
      <p:sp>
        <p:nvSpPr>
          <p:cNvPr id="48131" name="Rectangle 7"/>
          <p:cNvSpPr>
            <a:spLocks noGrp="1" noChangeArrowheads="1"/>
          </p:cNvSpPr>
          <p:nvPr>
            <p:ph type="title"/>
          </p:nvPr>
        </p:nvSpPr>
        <p:spPr/>
        <p:txBody>
          <a:bodyPr>
            <a:normAutofit fontScale="90000"/>
          </a:bodyPr>
          <a:lstStyle/>
          <a:p>
            <a:pPr eaLnBrk="1" hangingPunct="1"/>
            <a:r>
              <a:rPr lang="en-US"/>
              <a:t>Return on Assets (ROA)</a:t>
            </a:r>
            <a:br>
              <a:rPr lang="en-US"/>
            </a:br>
            <a:r>
              <a:rPr lang="en-US"/>
              <a:t>and Return on Equity (ROE)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B1B2A3BA-A076-482F-AFE0-256C1F9044D3}" type="slidenum">
              <a:rPr lang="en-US"/>
              <a:pPr>
                <a:defRPr/>
              </a:pPr>
              <a:t>36</a:t>
            </a:fld>
            <a:endParaRPr lang="en-US"/>
          </a:p>
        </p:txBody>
      </p:sp>
      <p:grpSp>
        <p:nvGrpSpPr>
          <p:cNvPr id="49154" name="Group 9"/>
          <p:cNvGrpSpPr>
            <a:grpSpLocks/>
          </p:cNvGrpSpPr>
          <p:nvPr/>
        </p:nvGrpSpPr>
        <p:grpSpPr bwMode="auto">
          <a:xfrm>
            <a:off x="2590800" y="2514600"/>
            <a:ext cx="6197600" cy="3729038"/>
            <a:chOff x="1632" y="1584"/>
            <a:chExt cx="3904" cy="2349"/>
          </a:xfrm>
        </p:grpSpPr>
        <p:sp>
          <p:nvSpPr>
            <p:cNvPr id="49156" name="Rectangle 3"/>
            <p:cNvSpPr>
              <a:spLocks noChangeArrowheads="1"/>
            </p:cNvSpPr>
            <p:nvPr/>
          </p:nvSpPr>
          <p:spPr bwMode="auto">
            <a:xfrm>
              <a:off x="1632" y="1743"/>
              <a:ext cx="3153"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lstStyle/>
            <a:p>
              <a:pPr>
                <a:spcBef>
                  <a:spcPct val="20000"/>
                </a:spcBef>
                <a:buClr>
                  <a:schemeClr val="folHlink"/>
                </a:buClr>
                <a:buSzPct val="60000"/>
                <a:buFont typeface="Wingdings" pitchFamily="2" charset="2"/>
                <a:buNone/>
                <a:tabLst>
                  <a:tab pos="1023938" algn="l"/>
                </a:tabLst>
              </a:pPr>
              <a:r>
                <a:rPr lang="en-US" sz="3200">
                  <a:latin typeface="Tahoma" pitchFamily="34" charset="0"/>
                </a:rPr>
                <a:t>ROE  =</a:t>
              </a:r>
            </a:p>
            <a:p>
              <a:pPr>
                <a:spcBef>
                  <a:spcPct val="20000"/>
                </a:spcBef>
                <a:buClr>
                  <a:schemeClr val="folHlink"/>
                </a:buClr>
                <a:buSzPct val="60000"/>
                <a:buFont typeface="Wingdings" pitchFamily="2" charset="2"/>
                <a:buNone/>
                <a:tabLst>
                  <a:tab pos="1023938" algn="l"/>
                </a:tabLst>
              </a:pPr>
              <a:endParaRPr lang="en-US" sz="3200">
                <a:latin typeface="Tahoma" pitchFamily="34" charset="0"/>
              </a:endParaRPr>
            </a:p>
            <a:p>
              <a:pPr>
                <a:spcBef>
                  <a:spcPct val="20000"/>
                </a:spcBef>
                <a:buClr>
                  <a:schemeClr val="folHlink"/>
                </a:buClr>
                <a:buSzPct val="60000"/>
                <a:buFont typeface="Wingdings" pitchFamily="2" charset="2"/>
                <a:buNone/>
                <a:tabLst>
                  <a:tab pos="1023938" algn="l"/>
                </a:tabLst>
              </a:pPr>
              <a:r>
                <a:rPr lang="en-US" sz="3200">
                  <a:latin typeface="Tahoma" pitchFamily="34" charset="0"/>
                </a:rPr>
                <a:t>	=                = 12.8%.</a:t>
              </a:r>
            </a:p>
          </p:txBody>
        </p:sp>
        <p:sp>
          <p:nvSpPr>
            <p:cNvPr id="49157" name="Rectangle 4"/>
            <p:cNvSpPr>
              <a:spLocks noChangeArrowheads="1"/>
            </p:cNvSpPr>
            <p:nvPr/>
          </p:nvSpPr>
          <p:spPr bwMode="auto">
            <a:xfrm>
              <a:off x="2859" y="1584"/>
              <a:ext cx="1638"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1374775" eaLnBrk="0" hangingPunct="0">
                <a:tabLst>
                  <a:tab pos="2393950" algn="l"/>
                  <a:tab pos="2566988" algn="l"/>
                </a:tabLst>
              </a:pPr>
              <a:r>
                <a:rPr lang="en-US" sz="3200" u="sng" dirty="0">
                  <a:latin typeface="Tahoma" pitchFamily="34" charset="0"/>
                </a:rPr>
                <a:t>	</a:t>
              </a:r>
            </a:p>
          </p:txBody>
        </p:sp>
        <p:sp>
          <p:nvSpPr>
            <p:cNvPr id="49158" name="Rectangle 5"/>
            <p:cNvSpPr>
              <a:spLocks noChangeArrowheads="1"/>
            </p:cNvSpPr>
            <p:nvPr/>
          </p:nvSpPr>
          <p:spPr bwMode="auto">
            <a:xfrm>
              <a:off x="2529" y="2363"/>
              <a:ext cx="1052"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 $253.6 </a:t>
              </a:r>
              <a:endParaRPr lang="en-US" sz="3200">
                <a:latin typeface="Tahoma" pitchFamily="34" charset="0"/>
              </a:endParaRPr>
            </a:p>
            <a:p>
              <a:pPr algn="ctr" eaLnBrk="0" hangingPunct="0">
                <a:lnSpc>
                  <a:spcPct val="85000"/>
                </a:lnSpc>
              </a:pPr>
              <a:r>
                <a:rPr lang="en-US" sz="3200">
                  <a:latin typeface="Tahoma" pitchFamily="34" charset="0"/>
                </a:rPr>
                <a:t>$1,977</a:t>
              </a:r>
            </a:p>
          </p:txBody>
        </p:sp>
        <p:sp>
          <p:nvSpPr>
            <p:cNvPr id="49159" name="Rectangle 6"/>
            <p:cNvSpPr>
              <a:spLocks noChangeArrowheads="1"/>
            </p:cNvSpPr>
            <p:nvPr/>
          </p:nvSpPr>
          <p:spPr bwMode="auto">
            <a:xfrm>
              <a:off x="4708" y="3683"/>
              <a:ext cx="8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2000" b="1">
                  <a:latin typeface="Tahoma" pitchFamily="34" charset="0"/>
                </a:rPr>
                <a:t>(More…)</a:t>
              </a:r>
            </a:p>
          </p:txBody>
        </p:sp>
      </p:grpSp>
      <p:sp>
        <p:nvSpPr>
          <p:cNvPr id="49155" name="Rectangle 10"/>
          <p:cNvSpPr>
            <a:spLocks noGrp="1" noChangeArrowheads="1"/>
          </p:cNvSpPr>
          <p:nvPr>
            <p:ph type="title"/>
          </p:nvPr>
        </p:nvSpPr>
        <p:spPr/>
        <p:txBody>
          <a:bodyPr>
            <a:normAutofit fontScale="90000"/>
          </a:bodyPr>
          <a:lstStyle/>
          <a:p>
            <a:pPr eaLnBrk="1" hangingPunct="1"/>
            <a:r>
              <a:rPr lang="en-US"/>
              <a:t>Return on Assets (ROA)</a:t>
            </a:r>
            <a:br>
              <a:rPr lang="en-US"/>
            </a:br>
            <a:r>
              <a:rPr lang="en-US"/>
              <a:t>and Return on Equity (ROE)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4"/>
          <p:cNvSpPr>
            <a:spLocks noGrp="1"/>
          </p:cNvSpPr>
          <p:nvPr>
            <p:ph type="sldNum" sz="quarter" idx="12"/>
          </p:nvPr>
        </p:nvSpPr>
        <p:spPr/>
        <p:txBody>
          <a:bodyPr/>
          <a:lstStyle/>
          <a:p>
            <a:pPr>
              <a:defRPr/>
            </a:pPr>
            <a:fld id="{8C2DC463-37B8-4954-8EC1-8078301857EA}" type="slidenum">
              <a:rPr lang="en-US"/>
              <a:pPr>
                <a:defRPr/>
              </a:pPr>
              <a:t>37</a:t>
            </a:fld>
            <a:endParaRPr lang="en-US"/>
          </a:p>
        </p:txBody>
      </p:sp>
      <p:grpSp>
        <p:nvGrpSpPr>
          <p:cNvPr id="50178" name="Group 14"/>
          <p:cNvGrpSpPr>
            <a:grpSpLocks/>
          </p:cNvGrpSpPr>
          <p:nvPr/>
        </p:nvGrpSpPr>
        <p:grpSpPr bwMode="auto">
          <a:xfrm>
            <a:off x="1066800" y="2667000"/>
            <a:ext cx="7446963" cy="1714500"/>
            <a:chOff x="720" y="1968"/>
            <a:chExt cx="4691" cy="1080"/>
          </a:xfrm>
        </p:grpSpPr>
        <p:sp>
          <p:nvSpPr>
            <p:cNvPr id="50181" name="Rectangle 9"/>
            <p:cNvSpPr>
              <a:spLocks noChangeArrowheads="1"/>
            </p:cNvSpPr>
            <p:nvPr/>
          </p:nvSpPr>
          <p:spPr bwMode="auto">
            <a:xfrm>
              <a:off x="720" y="1968"/>
              <a:ext cx="4691"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110000"/>
                </a:lnSpc>
                <a:tabLst>
                  <a:tab pos="1833563" algn="dec"/>
                  <a:tab pos="3548063" algn="dec"/>
                  <a:tab pos="4857750" algn="dec"/>
                  <a:tab pos="6286500" algn="dec"/>
                </a:tabLst>
              </a:pPr>
              <a:r>
                <a:rPr lang="en-US" sz="3200" dirty="0">
                  <a:latin typeface="Tahoma" pitchFamily="34" charset="0"/>
                </a:rPr>
                <a:t>	           20x2Est	    20x1    20x0    Ind.</a:t>
              </a:r>
            </a:p>
            <a:p>
              <a:pPr eaLnBrk="0" hangingPunct="0">
                <a:lnSpc>
                  <a:spcPct val="110000"/>
                </a:lnSpc>
                <a:tabLst>
                  <a:tab pos="1833563" algn="dec"/>
                  <a:tab pos="3548063" algn="dec"/>
                  <a:tab pos="4857750" algn="dec"/>
                  <a:tab pos="6286500" algn="dec"/>
                </a:tabLst>
              </a:pPr>
              <a:r>
                <a:rPr lang="en-US" sz="3200" dirty="0">
                  <a:latin typeface="Tahoma" pitchFamily="34" charset="0"/>
                </a:rPr>
                <a:t>ROA	</a:t>
              </a:r>
              <a:r>
                <a:rPr lang="en-US" sz="2800" dirty="0">
                  <a:latin typeface="Tahoma" pitchFamily="34" charset="0"/>
                </a:rPr>
                <a:t>7.2%	-3.3%	6.0%	9.0%</a:t>
              </a:r>
            </a:p>
            <a:p>
              <a:pPr eaLnBrk="0" hangingPunct="0">
                <a:lnSpc>
                  <a:spcPct val="110000"/>
                </a:lnSpc>
                <a:tabLst>
                  <a:tab pos="1833563" algn="dec"/>
                  <a:tab pos="3548063" algn="dec"/>
                  <a:tab pos="4857750" algn="dec"/>
                  <a:tab pos="6286500" algn="dec"/>
                </a:tabLst>
              </a:pPr>
              <a:r>
                <a:rPr lang="en-US" sz="3200" dirty="0">
                  <a:latin typeface="Tahoma" pitchFamily="34" charset="0"/>
                </a:rPr>
                <a:t>ROE	</a:t>
              </a:r>
              <a:r>
                <a:rPr lang="en-US" sz="2800" dirty="0">
                  <a:latin typeface="Tahoma" pitchFamily="34" charset="0"/>
                </a:rPr>
                <a:t>12.8%	-17.1%	13.3%	18.0%</a:t>
              </a:r>
            </a:p>
          </p:txBody>
        </p:sp>
        <p:sp>
          <p:nvSpPr>
            <p:cNvPr id="50182" name="Line 10"/>
            <p:cNvSpPr>
              <a:spLocks noChangeShapeType="1"/>
            </p:cNvSpPr>
            <p:nvPr/>
          </p:nvSpPr>
          <p:spPr bwMode="auto">
            <a:xfrm>
              <a:off x="1513" y="2316"/>
              <a:ext cx="379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183" name="Line 11"/>
            <p:cNvSpPr>
              <a:spLocks noChangeShapeType="1"/>
            </p:cNvSpPr>
            <p:nvPr/>
          </p:nvSpPr>
          <p:spPr bwMode="auto">
            <a:xfrm>
              <a:off x="1512" y="2317"/>
              <a:ext cx="0" cy="67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50179" name="Rectangle 12"/>
          <p:cNvSpPr>
            <a:spLocks noChangeArrowheads="1"/>
          </p:cNvSpPr>
          <p:nvPr/>
        </p:nvSpPr>
        <p:spPr bwMode="auto">
          <a:xfrm>
            <a:off x="1143000" y="5410200"/>
            <a:ext cx="64865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r>
              <a:rPr lang="en-US" sz="3200" dirty="0">
                <a:latin typeface="Tahoma" pitchFamily="34" charset="0"/>
              </a:rPr>
              <a:t>Both below average but improving.</a:t>
            </a:r>
          </a:p>
        </p:txBody>
      </p:sp>
      <p:sp>
        <p:nvSpPr>
          <p:cNvPr id="50180" name="Rectangle 13"/>
          <p:cNvSpPr>
            <a:spLocks noGrp="1" noChangeArrowheads="1"/>
          </p:cNvSpPr>
          <p:nvPr>
            <p:ph type="title"/>
          </p:nvPr>
        </p:nvSpPr>
        <p:spPr/>
        <p:txBody>
          <a:bodyPr/>
          <a:lstStyle/>
          <a:p>
            <a:pPr eaLnBrk="1" hangingPunct="1"/>
            <a:r>
              <a:rPr lang="en-US"/>
              <a:t>ROA and ROE vs. Industry Averages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6919F8A6-5E7E-4D9A-8208-62003277F92B}" type="slidenum">
              <a:rPr lang="en-US"/>
              <a:pPr>
                <a:defRPr/>
              </a:pPr>
              <a:t>38</a:t>
            </a:fld>
            <a:endParaRPr lang="en-US"/>
          </a:p>
        </p:txBody>
      </p:sp>
      <p:sp>
        <p:nvSpPr>
          <p:cNvPr id="51202" name="Rectangle 9"/>
          <p:cNvSpPr>
            <a:spLocks noGrp="1" noChangeArrowheads="1"/>
          </p:cNvSpPr>
          <p:nvPr>
            <p:ph type="title"/>
          </p:nvPr>
        </p:nvSpPr>
        <p:spPr/>
        <p:txBody>
          <a:bodyPr/>
          <a:lstStyle/>
          <a:p>
            <a:pPr eaLnBrk="1" hangingPunct="1"/>
            <a:r>
              <a:rPr lang="en-US"/>
              <a:t>Effects of Debt on ROA and ROE</a:t>
            </a:r>
          </a:p>
        </p:txBody>
      </p:sp>
      <p:sp>
        <p:nvSpPr>
          <p:cNvPr id="51203" name="Rectangle 10"/>
          <p:cNvSpPr>
            <a:spLocks noGrp="1" noChangeArrowheads="1"/>
          </p:cNvSpPr>
          <p:nvPr>
            <p:ph type="body" idx="1"/>
          </p:nvPr>
        </p:nvSpPr>
        <p:spPr/>
        <p:txBody>
          <a:bodyPr/>
          <a:lstStyle/>
          <a:p>
            <a:pPr eaLnBrk="1" hangingPunct="1"/>
            <a:r>
              <a:rPr lang="en-US"/>
              <a:t>ROA is lowered by debt--interest expense lowers net income, which also lowers ROA.</a:t>
            </a:r>
          </a:p>
          <a:p>
            <a:pPr eaLnBrk="1" hangingPunct="1"/>
            <a:r>
              <a:rPr lang="en-US"/>
              <a:t>However, use of debt lowers equity, and if equity is lowered more than net income, ROE increases.</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1150938" y="214313"/>
            <a:ext cx="7793037" cy="776287"/>
          </a:xfrm>
        </p:spPr>
        <p:txBody>
          <a:bodyPr/>
          <a:lstStyle/>
          <a:p>
            <a:r>
              <a:rPr lang="en-US"/>
              <a:t>Effects of Debt on ROA &amp; ROE</a:t>
            </a:r>
          </a:p>
        </p:txBody>
      </p:sp>
      <p:sp>
        <p:nvSpPr>
          <p:cNvPr id="36867" name="Content Placeholder 2"/>
          <p:cNvSpPr>
            <a:spLocks noGrp="1"/>
          </p:cNvSpPr>
          <p:nvPr>
            <p:ph idx="1"/>
          </p:nvPr>
        </p:nvSpPr>
        <p:spPr>
          <a:xfrm>
            <a:off x="1143000" y="1219200"/>
            <a:ext cx="7772400" cy="4876800"/>
          </a:xfrm>
        </p:spPr>
        <p:txBody>
          <a:bodyPr/>
          <a:lstStyle/>
          <a:p>
            <a:pPr>
              <a:buFont typeface="Wingdings" pitchFamily="2" charset="2"/>
              <a:buNone/>
            </a:pPr>
            <a:r>
              <a:rPr lang="en-US"/>
              <a:t>No Debt (unlevered) vs.   Debt (levered)</a:t>
            </a:r>
          </a:p>
        </p:txBody>
      </p:sp>
      <p:sp>
        <p:nvSpPr>
          <p:cNvPr id="4" name="Slide Number Placeholder 3"/>
          <p:cNvSpPr>
            <a:spLocks noGrp="1"/>
          </p:cNvSpPr>
          <p:nvPr>
            <p:ph type="sldNum" sz="quarter" idx="12"/>
          </p:nvPr>
        </p:nvSpPr>
        <p:spPr/>
        <p:txBody>
          <a:bodyPr/>
          <a:lstStyle/>
          <a:p>
            <a:pPr>
              <a:defRPr/>
            </a:pPr>
            <a:fld id="{CA53862F-2519-4897-AF9A-E0FBFAE7E42F}" type="slidenum">
              <a:rPr lang="en-US" smtClean="0"/>
              <a:pPr>
                <a:defRPr/>
              </a:pPr>
              <a:t>39</a:t>
            </a:fld>
            <a:endParaRPr lang="en-US"/>
          </a:p>
        </p:txBody>
      </p:sp>
    </p:spTree>
    <p:extLst>
      <p:ext uri="{BB962C8B-B14F-4D97-AF65-F5344CB8AC3E}">
        <p14:creationId xmlns:p14="http://schemas.microsoft.com/office/powerpoint/2010/main" val="2182360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6919F8A6-5E7E-4D9A-8208-62003277F92B}" type="slidenum">
              <a:rPr lang="en-US"/>
              <a:pPr>
                <a:defRPr/>
              </a:pPr>
              <a:t>40</a:t>
            </a:fld>
            <a:endParaRPr lang="en-US"/>
          </a:p>
        </p:txBody>
      </p:sp>
      <p:sp>
        <p:nvSpPr>
          <p:cNvPr id="51202" name="Rectangle 9"/>
          <p:cNvSpPr>
            <a:spLocks noGrp="1" noChangeArrowheads="1"/>
          </p:cNvSpPr>
          <p:nvPr>
            <p:ph type="title"/>
          </p:nvPr>
        </p:nvSpPr>
        <p:spPr>
          <a:xfrm>
            <a:off x="1150938" y="214313"/>
            <a:ext cx="7793037" cy="1157287"/>
          </a:xfrm>
        </p:spPr>
        <p:txBody>
          <a:bodyPr/>
          <a:lstStyle/>
          <a:p>
            <a:pPr eaLnBrk="1" hangingPunct="1"/>
            <a:r>
              <a:rPr lang="en-US" sz="3600" dirty="0"/>
              <a:t>Important Implications of Debt Financing (Financial Leverage)</a:t>
            </a:r>
          </a:p>
        </p:txBody>
      </p:sp>
      <p:sp>
        <p:nvSpPr>
          <p:cNvPr id="51203" name="Rectangle 10"/>
          <p:cNvSpPr>
            <a:spLocks noGrp="1" noChangeArrowheads="1"/>
          </p:cNvSpPr>
          <p:nvPr>
            <p:ph type="body" idx="1"/>
          </p:nvPr>
        </p:nvSpPr>
        <p:spPr>
          <a:xfrm>
            <a:off x="228600" y="1524000"/>
            <a:ext cx="8662987" cy="5029200"/>
          </a:xfrm>
        </p:spPr>
        <p:txBody>
          <a:bodyPr>
            <a:normAutofit lnSpcReduction="10000"/>
          </a:bodyPr>
          <a:lstStyle/>
          <a:p>
            <a:pPr eaLnBrk="1" hangingPunct="1"/>
            <a:r>
              <a:rPr lang="en-US" dirty="0"/>
              <a:t> By raising $ thru debt:</a:t>
            </a:r>
          </a:p>
          <a:p>
            <a:pPr lvl="1"/>
            <a:r>
              <a:rPr lang="en-US" dirty="0"/>
              <a:t> stockholders can maintain control of firm w/o increasing their investment.</a:t>
            </a:r>
          </a:p>
          <a:p>
            <a:pPr eaLnBrk="1" hangingPunct="1"/>
            <a:r>
              <a:rPr lang="en-US" dirty="0"/>
              <a:t>Greater the equity stake:</a:t>
            </a:r>
          </a:p>
          <a:p>
            <a:pPr lvl="1"/>
            <a:r>
              <a:rPr lang="en-US" dirty="0"/>
              <a:t> less risk faced by lenders (creditors)</a:t>
            </a:r>
          </a:p>
          <a:p>
            <a:pPr eaLnBrk="1" hangingPunct="1"/>
            <a:r>
              <a:rPr lang="en-US" dirty="0"/>
              <a:t>If company earns greater return on investment financed with debt than it pays in interest on borrowed funds, then:</a:t>
            </a:r>
          </a:p>
          <a:p>
            <a:pPr lvl="1"/>
            <a:r>
              <a:rPr lang="en-US" dirty="0"/>
              <a:t> return on owners equity is magnified, or leveraged.</a:t>
            </a:r>
          </a:p>
        </p:txBody>
      </p:sp>
    </p:spTree>
    <p:extLst>
      <p:ext uri="{BB962C8B-B14F-4D97-AF65-F5344CB8AC3E}">
        <p14:creationId xmlns:p14="http://schemas.microsoft.com/office/powerpoint/2010/main" val="46706410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Internal Growth Rate</a:t>
            </a:r>
          </a:p>
        </p:txBody>
      </p:sp>
      <p:sp>
        <p:nvSpPr>
          <p:cNvPr id="76803" name="Rectangle 3"/>
          <p:cNvSpPr>
            <a:spLocks noGrp="1" noChangeArrowheads="1"/>
          </p:cNvSpPr>
          <p:nvPr>
            <p:ph type="body" idx="1"/>
          </p:nvPr>
        </p:nvSpPr>
        <p:spPr/>
        <p:txBody>
          <a:bodyPr/>
          <a:lstStyle/>
          <a:p>
            <a:r>
              <a:rPr lang="en-US" dirty="0"/>
              <a:t>IGR:</a:t>
            </a:r>
          </a:p>
          <a:p>
            <a:pPr lvl="1"/>
            <a:r>
              <a:rPr lang="en-US" dirty="0"/>
              <a:t>How much a firm can grow assets using retained earnings as the only source of financing.</a:t>
            </a:r>
          </a:p>
          <a:p>
            <a:r>
              <a:rPr lang="en-US" sz="3000" dirty="0"/>
              <a:t>IGR =  </a:t>
            </a:r>
            <a:r>
              <a:rPr lang="en-US" sz="3000" u="sng" dirty="0"/>
              <a:t>(ROA  x  Retention %)</a:t>
            </a:r>
          </a:p>
          <a:p>
            <a:pPr>
              <a:buFont typeface="Wingdings" pitchFamily="2" charset="2"/>
              <a:buNone/>
            </a:pPr>
            <a:r>
              <a:rPr lang="en-US" sz="3000" dirty="0"/>
              <a:t>             </a:t>
            </a:r>
            <a:r>
              <a:rPr lang="en-US" sz="2900" dirty="0"/>
              <a:t>1- (ROA x Retention %)</a:t>
            </a:r>
          </a:p>
          <a:p>
            <a:endParaRPr lang="en-US" dirty="0"/>
          </a:p>
        </p:txBody>
      </p:sp>
    </p:spTree>
    <p:extLst>
      <p:ext uri="{BB962C8B-B14F-4D97-AF65-F5344CB8AC3E}">
        <p14:creationId xmlns:p14="http://schemas.microsoft.com/office/powerpoint/2010/main" val="42047817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6803">
                                            <p:txEl>
                                              <p:pRg st="1" end="1"/>
                                            </p:txEl>
                                          </p:spTgt>
                                        </p:tgtEl>
                                        <p:attrNameLst>
                                          <p:attrName>style.visibility</p:attrName>
                                        </p:attrNameLst>
                                      </p:cBhvr>
                                      <p:to>
                                        <p:strVal val="visible"/>
                                      </p:to>
                                    </p:set>
                                    <p:anim calcmode="lin" valueType="num">
                                      <p:cBhvr additive="base">
                                        <p:cTn id="11" dur="500" fill="hold"/>
                                        <p:tgtEl>
                                          <p:spTgt spid="76803">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68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6803">
                                            <p:txEl>
                                              <p:pRg st="2" end="2"/>
                                            </p:txEl>
                                          </p:spTgt>
                                        </p:tgtEl>
                                        <p:attrNameLst>
                                          <p:attrName>style.visibility</p:attrName>
                                        </p:attrNameLst>
                                      </p:cBhvr>
                                      <p:to>
                                        <p:strVal val="visible"/>
                                      </p:to>
                                    </p:set>
                                    <p:anim calcmode="lin" valueType="num">
                                      <p:cBhvr additive="base">
                                        <p:cTn id="17" dur="500" fill="hold"/>
                                        <p:tgtEl>
                                          <p:spTgt spid="76803">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68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6803">
                                            <p:txEl>
                                              <p:pRg st="3" end="3"/>
                                            </p:txEl>
                                          </p:spTgt>
                                        </p:tgtEl>
                                        <p:attrNameLst>
                                          <p:attrName>style.visibility</p:attrName>
                                        </p:attrNameLst>
                                      </p:cBhvr>
                                      <p:to>
                                        <p:strVal val="visible"/>
                                      </p:to>
                                    </p:set>
                                    <p:anim calcmode="lin" valueType="num">
                                      <p:cBhvr additive="base">
                                        <p:cTn id="23" dur="500" fill="hold"/>
                                        <p:tgtEl>
                                          <p:spTgt spid="76803">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680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dirty="0"/>
              <a:t>Sustainable Growth Rate</a:t>
            </a:r>
          </a:p>
        </p:txBody>
      </p:sp>
      <p:sp>
        <p:nvSpPr>
          <p:cNvPr id="78851" name="Rectangle 3"/>
          <p:cNvSpPr>
            <a:spLocks noGrp="1" noChangeArrowheads="1"/>
          </p:cNvSpPr>
          <p:nvPr>
            <p:ph type="body" idx="1"/>
          </p:nvPr>
        </p:nvSpPr>
        <p:spPr/>
        <p:txBody>
          <a:bodyPr/>
          <a:lstStyle/>
          <a:p>
            <a:r>
              <a:rPr lang="en-US" dirty="0"/>
              <a:t>SGR:</a:t>
            </a:r>
          </a:p>
          <a:p>
            <a:pPr lvl="1"/>
            <a:r>
              <a:rPr lang="en-US" dirty="0"/>
              <a:t>How much a firm can grow by using internally generated funds and issuing debt to  maintain a constant debt ratio.</a:t>
            </a:r>
          </a:p>
          <a:p>
            <a:r>
              <a:rPr lang="en-US" sz="3000" dirty="0"/>
              <a:t>SGR =  </a:t>
            </a:r>
            <a:r>
              <a:rPr lang="en-US" sz="3000" u="sng" dirty="0"/>
              <a:t>(ROE  x  Retention %)</a:t>
            </a:r>
          </a:p>
          <a:p>
            <a:pPr>
              <a:buFont typeface="Wingdings" pitchFamily="2" charset="2"/>
              <a:buNone/>
            </a:pPr>
            <a:r>
              <a:rPr lang="en-US" sz="3000" dirty="0"/>
              <a:t>             1- (ROE x Retention %)</a:t>
            </a:r>
          </a:p>
          <a:p>
            <a:endParaRPr lang="en-US" dirty="0"/>
          </a:p>
        </p:txBody>
      </p:sp>
    </p:spTree>
    <p:extLst>
      <p:ext uri="{BB962C8B-B14F-4D97-AF65-F5344CB8AC3E}">
        <p14:creationId xmlns:p14="http://schemas.microsoft.com/office/powerpoint/2010/main" val="29816423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8851">
                                            <p:txEl>
                                              <p:pRg st="0" end="0"/>
                                            </p:txEl>
                                          </p:spTgt>
                                        </p:tgtEl>
                                        <p:attrNameLst>
                                          <p:attrName>style.visibility</p:attrName>
                                        </p:attrNameLst>
                                      </p:cBhvr>
                                      <p:to>
                                        <p:strVal val="visible"/>
                                      </p:to>
                                    </p:set>
                                    <p:anim calcmode="lin" valueType="num">
                                      <p:cBhvr additive="base">
                                        <p:cTn id="7" dur="500" fill="hold"/>
                                        <p:tgtEl>
                                          <p:spTgt spid="788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88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8851">
                                            <p:txEl>
                                              <p:pRg st="1" end="1"/>
                                            </p:txEl>
                                          </p:spTgt>
                                        </p:tgtEl>
                                        <p:attrNameLst>
                                          <p:attrName>style.visibility</p:attrName>
                                        </p:attrNameLst>
                                      </p:cBhvr>
                                      <p:to>
                                        <p:strVal val="visible"/>
                                      </p:to>
                                    </p:set>
                                    <p:anim calcmode="lin" valueType="num">
                                      <p:cBhvr additive="base">
                                        <p:cTn id="11" dur="500" fill="hold"/>
                                        <p:tgtEl>
                                          <p:spTgt spid="7885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88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8851">
                                            <p:txEl>
                                              <p:pRg st="2" end="2"/>
                                            </p:txEl>
                                          </p:spTgt>
                                        </p:tgtEl>
                                        <p:attrNameLst>
                                          <p:attrName>style.visibility</p:attrName>
                                        </p:attrNameLst>
                                      </p:cBhvr>
                                      <p:to>
                                        <p:strVal val="visible"/>
                                      </p:to>
                                    </p:set>
                                    <p:anim calcmode="lin" valueType="num">
                                      <p:cBhvr additive="base">
                                        <p:cTn id="17" dur="500" fill="hold"/>
                                        <p:tgtEl>
                                          <p:spTgt spid="7885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88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8851">
                                            <p:txEl>
                                              <p:pRg st="3" end="3"/>
                                            </p:txEl>
                                          </p:spTgt>
                                        </p:tgtEl>
                                        <p:attrNameLst>
                                          <p:attrName>style.visibility</p:attrName>
                                        </p:attrNameLst>
                                      </p:cBhvr>
                                      <p:to>
                                        <p:strVal val="visible"/>
                                      </p:to>
                                    </p:set>
                                    <p:anim calcmode="lin" valueType="num">
                                      <p:cBhvr additive="base">
                                        <p:cTn id="23" dur="500" fill="hold"/>
                                        <p:tgtEl>
                                          <p:spTgt spid="78851">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7885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ADC84826-2677-4BFB-8A1D-F040F11F633B}" type="slidenum">
              <a:rPr lang="en-US"/>
              <a:pPr>
                <a:defRPr/>
              </a:pPr>
              <a:t>43</a:t>
            </a:fld>
            <a:endParaRPr lang="en-US"/>
          </a:p>
        </p:txBody>
      </p:sp>
      <p:sp>
        <p:nvSpPr>
          <p:cNvPr id="40963" name="Rectangle 2"/>
          <p:cNvSpPr>
            <a:spLocks noGrp="1" noChangeArrowheads="1"/>
          </p:cNvSpPr>
          <p:nvPr>
            <p:ph type="title"/>
          </p:nvPr>
        </p:nvSpPr>
        <p:spPr/>
        <p:txBody>
          <a:bodyPr/>
          <a:lstStyle/>
          <a:p>
            <a:pPr eaLnBrk="1" hangingPunct="1"/>
            <a:r>
              <a:rPr lang="en-US"/>
              <a:t>Market Value Ratios</a:t>
            </a:r>
          </a:p>
        </p:txBody>
      </p:sp>
      <p:sp>
        <p:nvSpPr>
          <p:cNvPr id="40964" name="Rectangle 3"/>
          <p:cNvSpPr>
            <a:spLocks noGrp="1" noChangeArrowheads="1"/>
          </p:cNvSpPr>
          <p:nvPr>
            <p:ph type="body" idx="1"/>
          </p:nvPr>
        </p:nvSpPr>
        <p:spPr/>
        <p:txBody>
          <a:bodyPr/>
          <a:lstStyle/>
          <a:p>
            <a:pPr eaLnBrk="1" hangingPunct="1"/>
            <a:r>
              <a:rPr lang="en-US" dirty="0"/>
              <a:t>MV Ratios: </a:t>
            </a:r>
          </a:p>
          <a:p>
            <a:pPr lvl="1"/>
            <a:r>
              <a:rPr lang="en-US" dirty="0"/>
              <a:t>Gives </a:t>
            </a:r>
            <a:r>
              <a:rPr lang="en-US" dirty="0" err="1"/>
              <a:t>mgmt</a:t>
            </a:r>
            <a:r>
              <a:rPr lang="en-US" dirty="0"/>
              <a:t> indication of what investors think of co.’s past performance &amp; future prospects</a:t>
            </a:r>
          </a:p>
        </p:txBody>
      </p:sp>
    </p:spTree>
    <p:extLst>
      <p:ext uri="{BB962C8B-B14F-4D97-AF65-F5344CB8AC3E}">
        <p14:creationId xmlns:p14="http://schemas.microsoft.com/office/powerpoint/2010/main" val="15772899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C0EE3375-F56D-4773-9744-5EF4FC559E98}" type="slidenum">
              <a:rPr lang="en-US"/>
              <a:pPr>
                <a:defRPr/>
              </a:pPr>
              <a:t>44</a:t>
            </a:fld>
            <a:endParaRPr lang="en-US"/>
          </a:p>
        </p:txBody>
      </p:sp>
      <p:sp>
        <p:nvSpPr>
          <p:cNvPr id="41987" name="Rectangle 2"/>
          <p:cNvSpPr>
            <a:spLocks noGrp="1" noChangeArrowheads="1"/>
          </p:cNvSpPr>
          <p:nvPr>
            <p:ph type="title"/>
          </p:nvPr>
        </p:nvSpPr>
        <p:spPr/>
        <p:txBody>
          <a:bodyPr/>
          <a:lstStyle/>
          <a:p>
            <a:pPr eaLnBrk="1" hangingPunct="1"/>
            <a:r>
              <a:rPr lang="en-US"/>
              <a:t>Market Value Ratios</a:t>
            </a:r>
          </a:p>
        </p:txBody>
      </p:sp>
      <p:sp>
        <p:nvSpPr>
          <p:cNvPr id="41988" name="Rectangle 3"/>
          <p:cNvSpPr>
            <a:spLocks noGrp="1" noChangeArrowheads="1"/>
          </p:cNvSpPr>
          <p:nvPr>
            <p:ph type="body" idx="1"/>
          </p:nvPr>
        </p:nvSpPr>
        <p:spPr>
          <a:xfrm>
            <a:off x="457200" y="1600200"/>
            <a:ext cx="8058150" cy="4576763"/>
          </a:xfrm>
        </p:spPr>
        <p:txBody>
          <a:bodyPr/>
          <a:lstStyle/>
          <a:p>
            <a:pPr eaLnBrk="1" hangingPunct="1"/>
            <a:r>
              <a:rPr lang="en-US" dirty="0"/>
              <a:t>Increase /decrease MV Ratios?</a:t>
            </a:r>
          </a:p>
          <a:p>
            <a:pPr lvl="1" eaLnBrk="1" hangingPunct="1"/>
            <a:r>
              <a:rPr lang="en-US" dirty="0"/>
              <a:t>High current levels of earnings &amp; cash flow?</a:t>
            </a:r>
          </a:p>
          <a:p>
            <a:pPr lvl="2"/>
            <a:r>
              <a:rPr lang="en-US" dirty="0"/>
              <a:t> </a:t>
            </a:r>
          </a:p>
          <a:p>
            <a:pPr lvl="1" eaLnBrk="1" hangingPunct="1"/>
            <a:r>
              <a:rPr lang="en-US" dirty="0"/>
              <a:t>High expected growth in EPS &amp; CF?</a:t>
            </a:r>
          </a:p>
          <a:p>
            <a:pPr lvl="2"/>
            <a:r>
              <a:rPr lang="en-US" dirty="0"/>
              <a:t>	</a:t>
            </a:r>
          </a:p>
          <a:p>
            <a:pPr lvl="1" eaLnBrk="1" hangingPunct="1"/>
            <a:r>
              <a:rPr lang="en-US" dirty="0"/>
              <a:t>High risk of expected growth in EPS &amp; CF?</a:t>
            </a:r>
          </a:p>
          <a:p>
            <a:pPr lvl="2"/>
            <a:r>
              <a:rPr lang="en-US" dirty="0"/>
              <a:t> </a:t>
            </a:r>
          </a:p>
        </p:txBody>
      </p:sp>
    </p:spTree>
    <p:extLst>
      <p:ext uri="{BB962C8B-B14F-4D97-AF65-F5344CB8AC3E}">
        <p14:creationId xmlns:p14="http://schemas.microsoft.com/office/powerpoint/2010/main" val="301264677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DEB7E413-B720-4896-AF5B-0A7503794461}" type="slidenum">
              <a:rPr lang="en-US"/>
              <a:pPr>
                <a:defRPr/>
              </a:pPr>
              <a:t>45</a:t>
            </a:fld>
            <a:endParaRPr lang="en-US"/>
          </a:p>
        </p:txBody>
      </p:sp>
      <p:sp>
        <p:nvSpPr>
          <p:cNvPr id="43011" name="Rectangle 2"/>
          <p:cNvSpPr>
            <a:spLocks noGrp="1" noChangeArrowheads="1"/>
          </p:cNvSpPr>
          <p:nvPr>
            <p:ph type="title"/>
          </p:nvPr>
        </p:nvSpPr>
        <p:spPr>
          <a:xfrm>
            <a:off x="1143000" y="214313"/>
            <a:ext cx="7800975" cy="1004887"/>
          </a:xfrm>
        </p:spPr>
        <p:txBody>
          <a:bodyPr/>
          <a:lstStyle/>
          <a:p>
            <a:pPr eaLnBrk="1" hangingPunct="1"/>
            <a:r>
              <a:rPr lang="en-US"/>
              <a:t>Market Value Ratios</a:t>
            </a:r>
          </a:p>
        </p:txBody>
      </p:sp>
      <p:sp>
        <p:nvSpPr>
          <p:cNvPr id="43012" name="Rectangle 3"/>
          <p:cNvSpPr>
            <a:spLocks noGrp="1" noChangeArrowheads="1"/>
          </p:cNvSpPr>
          <p:nvPr>
            <p:ph type="body" idx="1"/>
          </p:nvPr>
        </p:nvSpPr>
        <p:spPr>
          <a:xfrm>
            <a:off x="381000" y="1447800"/>
            <a:ext cx="8574088" cy="5105400"/>
          </a:xfrm>
        </p:spPr>
        <p:txBody>
          <a:bodyPr>
            <a:normAutofit/>
          </a:bodyPr>
          <a:lstStyle/>
          <a:p>
            <a:pPr eaLnBrk="1" hangingPunct="1"/>
            <a:r>
              <a:rPr lang="en-US" sz="2800" dirty="0"/>
              <a:t>P/E = </a:t>
            </a:r>
            <a:r>
              <a:rPr lang="en-US" sz="2800" dirty="0" err="1"/>
              <a:t>Mrkt</a:t>
            </a:r>
            <a:r>
              <a:rPr lang="en-US" sz="2800" dirty="0"/>
              <a:t> price per share / Earning per share</a:t>
            </a:r>
          </a:p>
          <a:p>
            <a:pPr eaLnBrk="1" hangingPunct="1">
              <a:buFont typeface="Wingdings" pitchFamily="2" charset="2"/>
              <a:buNone/>
            </a:pPr>
            <a:endParaRPr lang="en-US" sz="2800" dirty="0"/>
          </a:p>
          <a:p>
            <a:pPr eaLnBrk="1" hangingPunct="1"/>
            <a:r>
              <a:rPr lang="en-US" sz="2800" dirty="0"/>
              <a:t>PEG ratio= (Price/Earnings) / Growth</a:t>
            </a:r>
          </a:p>
          <a:p>
            <a:pPr lvl="1"/>
            <a:r>
              <a:rPr lang="en-US" sz="2500" dirty="0"/>
              <a:t>PEG &lt;1.0 reflects fairly valued stock</a:t>
            </a:r>
          </a:p>
          <a:p>
            <a:pPr marL="342900" lvl="1" indent="0">
              <a:buNone/>
            </a:pPr>
            <a:endParaRPr lang="en-US" sz="2500" dirty="0"/>
          </a:p>
          <a:p>
            <a:pPr eaLnBrk="1" hangingPunct="1"/>
            <a:r>
              <a:rPr lang="en-US" sz="2800" dirty="0"/>
              <a:t>M/B= </a:t>
            </a:r>
            <a:r>
              <a:rPr lang="en-US" sz="2800" dirty="0" err="1"/>
              <a:t>Mrkt</a:t>
            </a:r>
            <a:r>
              <a:rPr lang="en-US" sz="2800" dirty="0"/>
              <a:t> price p.s. / Book Value p.s.</a:t>
            </a:r>
          </a:p>
          <a:p>
            <a:pPr eaLnBrk="1" hangingPunct="1"/>
            <a:endParaRPr lang="en-US" sz="2800" dirty="0"/>
          </a:p>
          <a:p>
            <a:pPr eaLnBrk="1" hangingPunct="1"/>
            <a:r>
              <a:rPr lang="en-US" sz="2800" dirty="0"/>
              <a:t>P/CF=Price p.s. / CF p.s.</a:t>
            </a:r>
          </a:p>
        </p:txBody>
      </p:sp>
    </p:spTree>
    <p:extLst>
      <p:ext uri="{BB962C8B-B14F-4D97-AF65-F5344CB8AC3E}">
        <p14:creationId xmlns:p14="http://schemas.microsoft.com/office/powerpoint/2010/main" val="2264750043"/>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4"/>
          <p:cNvSpPr>
            <a:spLocks noGrp="1"/>
          </p:cNvSpPr>
          <p:nvPr>
            <p:ph type="sldNum" sz="quarter" idx="12"/>
          </p:nvPr>
        </p:nvSpPr>
        <p:spPr/>
        <p:txBody>
          <a:bodyPr/>
          <a:lstStyle/>
          <a:p>
            <a:pPr>
              <a:defRPr/>
            </a:pPr>
            <a:fld id="{100C4914-6926-478D-9FEA-C59B986EFBED}" type="slidenum">
              <a:rPr lang="en-US"/>
              <a:pPr>
                <a:defRPr/>
              </a:pPr>
              <a:t>46</a:t>
            </a:fld>
            <a:endParaRPr lang="en-US"/>
          </a:p>
        </p:txBody>
      </p:sp>
      <p:grpSp>
        <p:nvGrpSpPr>
          <p:cNvPr id="53250" name="Group 12"/>
          <p:cNvGrpSpPr>
            <a:grpSpLocks/>
          </p:cNvGrpSpPr>
          <p:nvPr/>
        </p:nvGrpSpPr>
        <p:grpSpPr bwMode="auto">
          <a:xfrm>
            <a:off x="457201" y="1600200"/>
            <a:ext cx="8316914" cy="3288037"/>
            <a:chOff x="396" y="1584"/>
            <a:chExt cx="5131" cy="1612"/>
          </a:xfrm>
        </p:grpSpPr>
        <p:sp>
          <p:nvSpPr>
            <p:cNvPr id="53252" name="Rectangle 7"/>
            <p:cNvSpPr>
              <a:spLocks noChangeArrowheads="1"/>
            </p:cNvSpPr>
            <p:nvPr/>
          </p:nvSpPr>
          <p:spPr bwMode="auto">
            <a:xfrm>
              <a:off x="396" y="1584"/>
              <a:ext cx="5131" cy="1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r>
                <a:rPr lang="en-US" sz="3200" dirty="0">
                  <a:latin typeface="Tahoma" pitchFamily="34" charset="0"/>
                </a:rPr>
                <a:t>Price = $12.17</a:t>
              </a:r>
            </a:p>
            <a:p>
              <a:pPr eaLnBrk="0" hangingPunct="0"/>
              <a:endParaRPr lang="en-US" sz="3200" dirty="0">
                <a:latin typeface="Tahoma" pitchFamily="34" charset="0"/>
              </a:endParaRPr>
            </a:p>
            <a:p>
              <a:pPr eaLnBrk="0" hangingPunct="0"/>
              <a:r>
                <a:rPr lang="en-US" sz="3200" dirty="0">
                  <a:latin typeface="Tahoma" pitchFamily="34" charset="0"/>
                </a:rPr>
                <a:t>EPS =                     =                = $1.01</a:t>
              </a:r>
            </a:p>
            <a:p>
              <a:pPr eaLnBrk="0" hangingPunct="0"/>
              <a:endParaRPr lang="en-US" sz="3200" dirty="0">
                <a:latin typeface="Tahoma" pitchFamily="34" charset="0"/>
              </a:endParaRPr>
            </a:p>
            <a:p>
              <a:pPr eaLnBrk="0" hangingPunct="0"/>
              <a:endParaRPr lang="en-US" sz="3200" dirty="0">
                <a:latin typeface="Tahoma" pitchFamily="34" charset="0"/>
              </a:endParaRPr>
            </a:p>
            <a:p>
              <a:pPr eaLnBrk="0" hangingPunct="0"/>
              <a:r>
                <a:rPr lang="en-US" sz="3200" dirty="0">
                  <a:latin typeface="Tahoma" pitchFamily="34" charset="0"/>
                </a:rPr>
                <a:t>P/E =                          =                = 12x</a:t>
              </a:r>
            </a:p>
          </p:txBody>
        </p:sp>
        <p:sp>
          <p:nvSpPr>
            <p:cNvPr id="53253" name="Rectangle 8"/>
            <p:cNvSpPr>
              <a:spLocks noChangeArrowheads="1"/>
            </p:cNvSpPr>
            <p:nvPr/>
          </p:nvSpPr>
          <p:spPr bwMode="auto">
            <a:xfrm>
              <a:off x="1242" y="1979"/>
              <a:ext cx="1599"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tabLst>
                  <a:tab pos="2179638" algn="l"/>
                </a:tabLst>
              </a:pPr>
              <a:r>
                <a:rPr lang="en-US" sz="3200" u="sng" dirty="0">
                  <a:latin typeface="Tahoma" pitchFamily="34" charset="0"/>
                </a:rPr>
                <a:t>      NI	</a:t>
              </a:r>
            </a:p>
            <a:p>
              <a:pPr algn="ctr" eaLnBrk="0" hangingPunct="0">
                <a:lnSpc>
                  <a:spcPct val="85000"/>
                </a:lnSpc>
                <a:tabLst>
                  <a:tab pos="2179638" algn="l"/>
                </a:tabLst>
              </a:pPr>
              <a:r>
                <a:rPr lang="en-US" sz="3200" dirty="0">
                  <a:latin typeface="Tahoma" pitchFamily="34" charset="0"/>
                </a:rPr>
                <a:t>Shares out.</a:t>
              </a:r>
            </a:p>
          </p:txBody>
        </p:sp>
        <p:sp>
          <p:nvSpPr>
            <p:cNvPr id="53254" name="Rectangle 9"/>
            <p:cNvSpPr>
              <a:spLocks noChangeArrowheads="1"/>
            </p:cNvSpPr>
            <p:nvPr/>
          </p:nvSpPr>
          <p:spPr bwMode="auto">
            <a:xfrm>
              <a:off x="3165" y="1979"/>
              <a:ext cx="907"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$253.6</a:t>
              </a:r>
              <a:endParaRPr lang="en-US" sz="3200" dirty="0">
                <a:latin typeface="Tahoma" pitchFamily="34" charset="0"/>
              </a:endParaRPr>
            </a:p>
            <a:p>
              <a:pPr algn="ctr" eaLnBrk="0" hangingPunct="0">
                <a:lnSpc>
                  <a:spcPct val="85000"/>
                </a:lnSpc>
              </a:pPr>
              <a:r>
                <a:rPr lang="en-US" sz="3200" dirty="0">
                  <a:latin typeface="Tahoma" pitchFamily="34" charset="0"/>
                </a:rPr>
                <a:t>250</a:t>
              </a:r>
            </a:p>
          </p:txBody>
        </p:sp>
        <p:sp>
          <p:nvSpPr>
            <p:cNvPr id="53255" name="Rectangle 10"/>
            <p:cNvSpPr>
              <a:spLocks noChangeArrowheads="1"/>
            </p:cNvSpPr>
            <p:nvPr/>
          </p:nvSpPr>
          <p:spPr bwMode="auto">
            <a:xfrm>
              <a:off x="1242" y="2705"/>
              <a:ext cx="1923"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Price per share</a:t>
              </a:r>
              <a:endParaRPr lang="en-US" sz="3200" dirty="0">
                <a:latin typeface="Tahoma" pitchFamily="34" charset="0"/>
              </a:endParaRPr>
            </a:p>
            <a:p>
              <a:pPr algn="ctr" eaLnBrk="0" hangingPunct="0">
                <a:lnSpc>
                  <a:spcPct val="85000"/>
                </a:lnSpc>
              </a:pPr>
              <a:r>
                <a:rPr lang="en-US" sz="3200" dirty="0">
                  <a:latin typeface="Tahoma" pitchFamily="34" charset="0"/>
                </a:rPr>
                <a:t>EPS</a:t>
              </a:r>
            </a:p>
          </p:txBody>
        </p:sp>
        <p:sp>
          <p:nvSpPr>
            <p:cNvPr id="53256" name="Rectangle 11"/>
            <p:cNvSpPr>
              <a:spLocks noChangeArrowheads="1"/>
            </p:cNvSpPr>
            <p:nvPr/>
          </p:nvSpPr>
          <p:spPr bwMode="auto">
            <a:xfrm>
              <a:off x="3405" y="2705"/>
              <a:ext cx="982" cy="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a:latin typeface="Tahoma" pitchFamily="34" charset="0"/>
                </a:rPr>
                <a:t>$12.17</a:t>
              </a:r>
              <a:endParaRPr lang="en-US" sz="3200">
                <a:latin typeface="Tahoma" pitchFamily="34" charset="0"/>
              </a:endParaRPr>
            </a:p>
            <a:p>
              <a:pPr algn="ctr" eaLnBrk="0" hangingPunct="0">
                <a:lnSpc>
                  <a:spcPct val="85000"/>
                </a:lnSpc>
              </a:pPr>
              <a:r>
                <a:rPr lang="en-US" sz="3200">
                  <a:latin typeface="Tahoma" pitchFamily="34" charset="0"/>
                </a:rPr>
                <a:t>$1.01</a:t>
              </a:r>
            </a:p>
          </p:txBody>
        </p:sp>
      </p:grpSp>
      <p:sp>
        <p:nvSpPr>
          <p:cNvPr id="53251" name="Rectangle 16"/>
          <p:cNvSpPr>
            <a:spLocks noGrp="1" noChangeArrowheads="1"/>
          </p:cNvSpPr>
          <p:nvPr>
            <p:ph type="title"/>
          </p:nvPr>
        </p:nvSpPr>
        <p:spPr/>
        <p:txBody>
          <a:bodyPr>
            <a:normAutofit fontScale="90000"/>
          </a:bodyPr>
          <a:lstStyle/>
          <a:p>
            <a:pPr eaLnBrk="1" hangingPunct="1"/>
            <a:r>
              <a:rPr lang="en-US"/>
              <a:t>Calculate and appraise the</a:t>
            </a:r>
            <a:br>
              <a:rPr lang="en-US"/>
            </a:br>
            <a:r>
              <a:rPr lang="en-US"/>
              <a:t>P/E, P/CF, and M/B ratios.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pPr>
              <a:defRPr/>
            </a:pPr>
            <a:fld id="{EA7AE7F4-7286-44FB-BE62-9BF5D5B013AA}" type="slidenum">
              <a:rPr lang="en-US"/>
              <a:pPr>
                <a:defRPr/>
              </a:pPr>
              <a:t>47</a:t>
            </a:fld>
            <a:endParaRPr lang="en-US"/>
          </a:p>
        </p:txBody>
      </p:sp>
      <p:grpSp>
        <p:nvGrpSpPr>
          <p:cNvPr id="55298" name="Group 11"/>
          <p:cNvGrpSpPr>
            <a:grpSpLocks/>
          </p:cNvGrpSpPr>
          <p:nvPr/>
        </p:nvGrpSpPr>
        <p:grpSpPr bwMode="auto">
          <a:xfrm>
            <a:off x="628650" y="1487045"/>
            <a:ext cx="8375650" cy="4696357"/>
            <a:chOff x="528" y="1534"/>
            <a:chExt cx="5144" cy="2405"/>
          </a:xfrm>
        </p:grpSpPr>
        <p:sp>
          <p:nvSpPr>
            <p:cNvPr id="55300" name="Rectangle 4"/>
            <p:cNvSpPr>
              <a:spLocks noChangeArrowheads="1"/>
            </p:cNvSpPr>
            <p:nvPr/>
          </p:nvSpPr>
          <p:spPr bwMode="auto">
            <a:xfrm>
              <a:off x="2622" y="1534"/>
              <a:ext cx="1527"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gn="ctr" eaLnBrk="0" hangingPunct="0"/>
              <a:r>
                <a:rPr lang="en-US" sz="3200" u="sng" dirty="0">
                  <a:latin typeface="Tahoma" pitchFamily="34" charset="0"/>
                </a:rPr>
                <a:t> NI + Depr. </a:t>
              </a:r>
              <a:endParaRPr lang="en-US" sz="3200" dirty="0">
                <a:latin typeface="Tahoma" pitchFamily="34" charset="0"/>
              </a:endParaRPr>
            </a:p>
            <a:p>
              <a:pPr algn="ctr" eaLnBrk="0" hangingPunct="0">
                <a:lnSpc>
                  <a:spcPct val="85000"/>
                </a:lnSpc>
              </a:pPr>
              <a:r>
                <a:rPr lang="en-US" sz="3200" dirty="0">
                  <a:latin typeface="Tahoma" pitchFamily="34" charset="0"/>
                </a:rPr>
                <a:t>Shares out.</a:t>
              </a:r>
            </a:p>
          </p:txBody>
        </p:sp>
        <p:sp>
          <p:nvSpPr>
            <p:cNvPr id="55301" name="Rectangle 5"/>
            <p:cNvSpPr>
              <a:spLocks noChangeArrowheads="1"/>
            </p:cNvSpPr>
            <p:nvPr/>
          </p:nvSpPr>
          <p:spPr bwMode="auto">
            <a:xfrm>
              <a:off x="528" y="1632"/>
              <a:ext cx="5144" cy="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tabLst>
                  <a:tab pos="2571750" algn="l"/>
                  <a:tab pos="7772400" algn="r"/>
                </a:tabLst>
              </a:pPr>
              <a:r>
                <a:rPr lang="en-US" sz="3200" dirty="0">
                  <a:latin typeface="Tahoma" pitchFamily="34" charset="0"/>
                </a:rPr>
                <a:t>CF per share	=</a:t>
              </a:r>
            </a:p>
            <a:p>
              <a:pPr eaLnBrk="0" hangingPunct="0">
                <a:tabLst>
                  <a:tab pos="2571750" algn="l"/>
                  <a:tab pos="7772400" algn="r"/>
                </a:tabLst>
              </a:pPr>
              <a:endParaRPr lang="en-US" sz="3200" dirty="0">
                <a:latin typeface="Tahoma" pitchFamily="34" charset="0"/>
              </a:endParaRPr>
            </a:p>
            <a:p>
              <a:pPr eaLnBrk="0" hangingPunct="0">
                <a:tabLst>
                  <a:tab pos="2571750" algn="l"/>
                  <a:tab pos="7772400" algn="r"/>
                </a:tabLst>
              </a:pPr>
              <a:r>
                <a:rPr lang="en-US" sz="3200" dirty="0">
                  <a:latin typeface="Tahoma" pitchFamily="34" charset="0"/>
                </a:rPr>
                <a:t>	=                            = $1.49.</a:t>
              </a:r>
            </a:p>
          </p:txBody>
        </p:sp>
        <p:sp>
          <p:nvSpPr>
            <p:cNvPr id="55302" name="Rectangle 6"/>
            <p:cNvSpPr>
              <a:spLocks noChangeArrowheads="1"/>
            </p:cNvSpPr>
            <p:nvPr/>
          </p:nvSpPr>
          <p:spPr bwMode="auto">
            <a:xfrm>
              <a:off x="2388" y="2048"/>
              <a:ext cx="200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gn="ctr" eaLnBrk="0" hangingPunct="0"/>
              <a:r>
                <a:rPr lang="en-US" sz="3200" u="sng" dirty="0">
                  <a:latin typeface="Tahoma" pitchFamily="34" charset="0"/>
                </a:rPr>
                <a:t>$253.6 + $120.0</a:t>
              </a:r>
              <a:endParaRPr lang="en-US" sz="3200" dirty="0">
                <a:latin typeface="Tahoma" pitchFamily="34" charset="0"/>
              </a:endParaRPr>
            </a:p>
            <a:p>
              <a:pPr algn="ctr" eaLnBrk="0" hangingPunct="0">
                <a:lnSpc>
                  <a:spcPct val="85000"/>
                </a:lnSpc>
              </a:pPr>
              <a:r>
                <a:rPr lang="en-US" sz="3200" dirty="0">
                  <a:latin typeface="Tahoma" pitchFamily="34" charset="0"/>
                </a:rPr>
                <a:t>250</a:t>
              </a:r>
            </a:p>
          </p:txBody>
        </p:sp>
        <p:sp>
          <p:nvSpPr>
            <p:cNvPr id="55303" name="Rectangle 7"/>
            <p:cNvSpPr>
              <a:spLocks noChangeArrowheads="1"/>
            </p:cNvSpPr>
            <p:nvPr/>
          </p:nvSpPr>
          <p:spPr bwMode="auto">
            <a:xfrm>
              <a:off x="1920" y="2903"/>
              <a:ext cx="2499" cy="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gn="ctr" eaLnBrk="0" hangingPunct="0"/>
              <a:r>
                <a:rPr lang="en-US" sz="3200" u="sng" dirty="0">
                  <a:latin typeface="Tahoma" pitchFamily="34" charset="0"/>
                </a:rPr>
                <a:t> Price per share </a:t>
              </a:r>
              <a:endParaRPr lang="en-US" sz="3200" dirty="0">
                <a:latin typeface="Tahoma" pitchFamily="34" charset="0"/>
              </a:endParaRPr>
            </a:p>
            <a:p>
              <a:pPr algn="ctr" eaLnBrk="0" hangingPunct="0"/>
              <a:r>
                <a:rPr lang="en-US" sz="3200" dirty="0">
                  <a:latin typeface="Tahoma" pitchFamily="34" charset="0"/>
                </a:rPr>
                <a:t>Cash flow per share</a:t>
              </a:r>
            </a:p>
          </p:txBody>
        </p:sp>
        <p:sp>
          <p:nvSpPr>
            <p:cNvPr id="55304" name="Rectangle 8"/>
            <p:cNvSpPr>
              <a:spLocks noChangeArrowheads="1"/>
            </p:cNvSpPr>
            <p:nvPr/>
          </p:nvSpPr>
          <p:spPr bwMode="auto">
            <a:xfrm>
              <a:off x="864" y="2976"/>
              <a:ext cx="3673" cy="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eaLnBrk="0" hangingPunct="0">
                <a:tabLst>
                  <a:tab pos="7772400" algn="r"/>
                </a:tabLst>
              </a:pPr>
              <a:r>
                <a:rPr lang="en-US" sz="3200" dirty="0">
                  <a:latin typeface="Tahoma" pitchFamily="34" charset="0"/>
                </a:rPr>
                <a:t>   P/CF =</a:t>
              </a:r>
            </a:p>
            <a:p>
              <a:pPr eaLnBrk="0" hangingPunct="0">
                <a:tabLst>
                  <a:tab pos="7772400" algn="r"/>
                </a:tabLst>
              </a:pPr>
              <a:endParaRPr lang="en-US" sz="3200" dirty="0">
                <a:latin typeface="Tahoma" pitchFamily="34" charset="0"/>
              </a:endParaRPr>
            </a:p>
            <a:p>
              <a:pPr eaLnBrk="0" hangingPunct="0">
                <a:tabLst>
                  <a:tab pos="7772400" algn="r"/>
                </a:tabLst>
              </a:pPr>
              <a:r>
                <a:rPr lang="en-US" sz="3200" dirty="0">
                  <a:latin typeface="Tahoma" pitchFamily="34" charset="0"/>
                </a:rPr>
                <a:t>          =                 = 8.2x</a:t>
              </a:r>
            </a:p>
          </p:txBody>
        </p:sp>
        <p:sp>
          <p:nvSpPr>
            <p:cNvPr id="55305" name="Rectangle 9"/>
            <p:cNvSpPr>
              <a:spLocks noChangeArrowheads="1"/>
            </p:cNvSpPr>
            <p:nvPr/>
          </p:nvSpPr>
          <p:spPr bwMode="auto">
            <a:xfrm>
              <a:off x="1967" y="3425"/>
              <a:ext cx="896" cy="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p>
              <a:pPr algn="ctr" eaLnBrk="0" hangingPunct="0"/>
              <a:r>
                <a:rPr lang="en-US" sz="3200" u="sng" dirty="0">
                  <a:latin typeface="Tahoma" pitchFamily="34" charset="0"/>
                </a:rPr>
                <a:t>$12.17</a:t>
              </a:r>
              <a:endParaRPr lang="en-US" sz="3200" dirty="0">
                <a:latin typeface="Tahoma" pitchFamily="34" charset="0"/>
              </a:endParaRPr>
            </a:p>
            <a:p>
              <a:pPr algn="ctr" eaLnBrk="0" hangingPunct="0">
                <a:lnSpc>
                  <a:spcPct val="85000"/>
                </a:lnSpc>
              </a:pPr>
              <a:r>
                <a:rPr lang="en-US" sz="3200" dirty="0">
                  <a:latin typeface="Tahoma" pitchFamily="34" charset="0"/>
                </a:rPr>
                <a:t>$1.49</a:t>
              </a:r>
            </a:p>
          </p:txBody>
        </p:sp>
      </p:grpSp>
      <p:sp>
        <p:nvSpPr>
          <p:cNvPr id="55299" name="Rectangle 10"/>
          <p:cNvSpPr>
            <a:spLocks noGrp="1" noChangeArrowheads="1"/>
          </p:cNvSpPr>
          <p:nvPr>
            <p:ph type="title"/>
          </p:nvPr>
        </p:nvSpPr>
        <p:spPr/>
        <p:txBody>
          <a:bodyPr/>
          <a:lstStyle/>
          <a:p>
            <a:pPr eaLnBrk="1" hangingPunct="1"/>
            <a:r>
              <a:rPr lang="en-US"/>
              <a:t>Market Based Ratios</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p:cNvSpPr>
            <a:spLocks noGrp="1"/>
          </p:cNvSpPr>
          <p:nvPr>
            <p:ph type="sldNum" sz="quarter" idx="12"/>
          </p:nvPr>
        </p:nvSpPr>
        <p:spPr/>
        <p:txBody>
          <a:bodyPr/>
          <a:lstStyle/>
          <a:p>
            <a:pPr>
              <a:defRPr/>
            </a:pPr>
            <a:fld id="{A13BC903-D5BE-44B4-AFA6-8A99EC6D8025}" type="slidenum">
              <a:rPr lang="en-US"/>
              <a:pPr>
                <a:defRPr/>
              </a:pPr>
              <a:t>48</a:t>
            </a:fld>
            <a:endParaRPr lang="en-US"/>
          </a:p>
        </p:txBody>
      </p:sp>
      <p:grpSp>
        <p:nvGrpSpPr>
          <p:cNvPr id="57346" name="Group 15"/>
          <p:cNvGrpSpPr>
            <a:grpSpLocks/>
          </p:cNvGrpSpPr>
          <p:nvPr/>
        </p:nvGrpSpPr>
        <p:grpSpPr bwMode="auto">
          <a:xfrm>
            <a:off x="1219200" y="1374897"/>
            <a:ext cx="6213475" cy="4349140"/>
            <a:chOff x="1008" y="1611"/>
            <a:chExt cx="3674" cy="2095"/>
          </a:xfrm>
        </p:grpSpPr>
        <p:sp>
          <p:nvSpPr>
            <p:cNvPr id="57348" name="Rectangle 6"/>
            <p:cNvSpPr>
              <a:spLocks noChangeArrowheads="1"/>
            </p:cNvSpPr>
            <p:nvPr/>
          </p:nvSpPr>
          <p:spPr bwMode="auto">
            <a:xfrm>
              <a:off x="2146" y="1611"/>
              <a:ext cx="173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 Com. equity </a:t>
              </a:r>
              <a:endParaRPr lang="en-US" sz="3200" dirty="0">
                <a:latin typeface="Tahoma" pitchFamily="34" charset="0"/>
              </a:endParaRPr>
            </a:p>
            <a:p>
              <a:pPr algn="ctr" eaLnBrk="0" hangingPunct="0">
                <a:lnSpc>
                  <a:spcPct val="85000"/>
                </a:lnSpc>
              </a:pPr>
              <a:r>
                <a:rPr lang="en-US" sz="3200" dirty="0">
                  <a:latin typeface="Tahoma" pitchFamily="34" charset="0"/>
                </a:rPr>
                <a:t>Shares out.</a:t>
              </a:r>
            </a:p>
          </p:txBody>
        </p:sp>
        <p:sp>
          <p:nvSpPr>
            <p:cNvPr id="57349" name="Rectangle 7"/>
            <p:cNvSpPr>
              <a:spLocks noChangeArrowheads="1"/>
            </p:cNvSpPr>
            <p:nvPr/>
          </p:nvSpPr>
          <p:spPr bwMode="auto">
            <a:xfrm>
              <a:off x="1152" y="1680"/>
              <a:ext cx="3211" cy="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eaLnBrk="0" hangingPunct="0">
                <a:tabLst>
                  <a:tab pos="1262063" algn="l"/>
                </a:tabLst>
              </a:pPr>
              <a:r>
                <a:rPr lang="en-US" sz="3200" dirty="0">
                  <a:latin typeface="Tahoma" pitchFamily="34" charset="0"/>
                </a:rPr>
                <a:t>BVPS	=</a:t>
              </a:r>
            </a:p>
            <a:p>
              <a:pPr eaLnBrk="0" hangingPunct="0">
                <a:tabLst>
                  <a:tab pos="1262063" algn="l"/>
                </a:tabLst>
              </a:pPr>
              <a:endParaRPr lang="en-US" sz="3200" dirty="0">
                <a:latin typeface="Tahoma" pitchFamily="34" charset="0"/>
              </a:endParaRPr>
            </a:p>
            <a:p>
              <a:pPr eaLnBrk="0" hangingPunct="0">
                <a:tabLst>
                  <a:tab pos="1262063" algn="l"/>
                </a:tabLst>
              </a:pPr>
              <a:r>
                <a:rPr lang="en-US" sz="3200" dirty="0">
                  <a:latin typeface="Tahoma" pitchFamily="34" charset="0"/>
                </a:rPr>
                <a:t>	=               = $7.91</a:t>
              </a:r>
            </a:p>
          </p:txBody>
        </p:sp>
        <p:sp>
          <p:nvSpPr>
            <p:cNvPr id="57350" name="Rectangle 8"/>
            <p:cNvSpPr>
              <a:spLocks noChangeArrowheads="1"/>
            </p:cNvSpPr>
            <p:nvPr/>
          </p:nvSpPr>
          <p:spPr bwMode="auto">
            <a:xfrm>
              <a:off x="2179" y="2093"/>
              <a:ext cx="922"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$1,977</a:t>
              </a:r>
              <a:endParaRPr lang="en-US" sz="3200" dirty="0">
                <a:latin typeface="Tahoma" pitchFamily="34" charset="0"/>
              </a:endParaRPr>
            </a:p>
            <a:p>
              <a:pPr algn="ctr" eaLnBrk="0" hangingPunct="0">
                <a:lnSpc>
                  <a:spcPct val="85000"/>
                </a:lnSpc>
              </a:pPr>
              <a:r>
                <a:rPr lang="en-US" sz="3200" dirty="0">
                  <a:latin typeface="Tahoma" pitchFamily="34" charset="0"/>
                </a:rPr>
                <a:t>250</a:t>
              </a:r>
            </a:p>
          </p:txBody>
        </p:sp>
        <p:sp>
          <p:nvSpPr>
            <p:cNvPr id="57351" name="Rectangle 9"/>
            <p:cNvSpPr>
              <a:spLocks noChangeArrowheads="1"/>
            </p:cNvSpPr>
            <p:nvPr/>
          </p:nvSpPr>
          <p:spPr bwMode="auto">
            <a:xfrm>
              <a:off x="2146" y="2784"/>
              <a:ext cx="2536" cy="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 Mkt. price per share </a:t>
              </a:r>
              <a:endParaRPr lang="en-US" sz="3200">
                <a:latin typeface="Tahoma" pitchFamily="34" charset="0"/>
              </a:endParaRPr>
            </a:p>
            <a:p>
              <a:pPr algn="ctr" eaLnBrk="0" hangingPunct="0"/>
              <a:r>
                <a:rPr lang="en-US" sz="3200">
                  <a:latin typeface="Tahoma" pitchFamily="34" charset="0"/>
                </a:rPr>
                <a:t>Book value per share</a:t>
              </a:r>
            </a:p>
          </p:txBody>
        </p:sp>
        <p:sp>
          <p:nvSpPr>
            <p:cNvPr id="57352" name="Rectangle 10"/>
            <p:cNvSpPr>
              <a:spLocks noChangeArrowheads="1"/>
            </p:cNvSpPr>
            <p:nvPr/>
          </p:nvSpPr>
          <p:spPr bwMode="auto">
            <a:xfrm>
              <a:off x="1008" y="2834"/>
              <a:ext cx="3671"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tabLst>
                  <a:tab pos="1262063" algn="l"/>
                </a:tabLst>
              </a:pPr>
              <a:r>
                <a:rPr lang="en-US" sz="3200" dirty="0">
                  <a:latin typeface="Tahoma" pitchFamily="34" charset="0"/>
                </a:rPr>
                <a:t>   M/B	=</a:t>
              </a:r>
            </a:p>
            <a:p>
              <a:pPr eaLnBrk="0" hangingPunct="0">
                <a:tabLst>
                  <a:tab pos="1262063" algn="l"/>
                </a:tabLst>
              </a:pPr>
              <a:endParaRPr lang="en-US" sz="3200" dirty="0">
                <a:latin typeface="Tahoma" pitchFamily="34" charset="0"/>
              </a:endParaRPr>
            </a:p>
            <a:p>
              <a:pPr eaLnBrk="0" hangingPunct="0">
                <a:tabLst>
                  <a:tab pos="1262063" algn="l"/>
                </a:tabLst>
              </a:pPr>
              <a:r>
                <a:rPr lang="en-US" sz="3200" dirty="0">
                  <a:latin typeface="Tahoma" pitchFamily="34" charset="0"/>
                </a:rPr>
                <a:t>	=               = 1.54x</a:t>
              </a:r>
            </a:p>
          </p:txBody>
        </p:sp>
        <p:sp>
          <p:nvSpPr>
            <p:cNvPr id="57353" name="Rectangle 11"/>
            <p:cNvSpPr>
              <a:spLocks noChangeArrowheads="1"/>
            </p:cNvSpPr>
            <p:nvPr/>
          </p:nvSpPr>
          <p:spPr bwMode="auto">
            <a:xfrm>
              <a:off x="2089" y="3224"/>
              <a:ext cx="868"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$12.17</a:t>
              </a:r>
              <a:endParaRPr lang="en-US" sz="3200" dirty="0">
                <a:latin typeface="Tahoma" pitchFamily="34" charset="0"/>
              </a:endParaRPr>
            </a:p>
            <a:p>
              <a:pPr algn="ctr" eaLnBrk="0" hangingPunct="0">
                <a:lnSpc>
                  <a:spcPct val="85000"/>
                </a:lnSpc>
              </a:pPr>
              <a:r>
                <a:rPr lang="en-US" sz="3200" dirty="0">
                  <a:latin typeface="Tahoma" pitchFamily="34" charset="0"/>
                </a:rPr>
                <a:t>$7.91</a:t>
              </a:r>
            </a:p>
          </p:txBody>
        </p:sp>
      </p:grpSp>
      <p:sp>
        <p:nvSpPr>
          <p:cNvPr id="57347" name="Rectangle 14"/>
          <p:cNvSpPr>
            <a:spLocks noGrp="1" noChangeArrowheads="1"/>
          </p:cNvSpPr>
          <p:nvPr>
            <p:ph type="title"/>
          </p:nvPr>
        </p:nvSpPr>
        <p:spPr/>
        <p:txBody>
          <a:bodyPr/>
          <a:lstStyle/>
          <a:p>
            <a:pPr eaLnBrk="1" hangingPunct="1"/>
            <a:r>
              <a:rPr lang="en-US"/>
              <a:t>Market Based Ratios (Continued)</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5FAD100B-77F4-4E1B-915A-ED4992D9D1C6}" type="slidenum">
              <a:rPr lang="en-US"/>
              <a:pPr>
                <a:defRPr/>
              </a:pPr>
              <a:t>49</a:t>
            </a:fld>
            <a:endParaRPr lang="en-US"/>
          </a:p>
        </p:txBody>
      </p:sp>
      <p:sp>
        <p:nvSpPr>
          <p:cNvPr id="58370" name="Rectangle 2"/>
          <p:cNvSpPr>
            <a:spLocks noGrp="1" noChangeArrowheads="1"/>
          </p:cNvSpPr>
          <p:nvPr>
            <p:ph type="title"/>
          </p:nvPr>
        </p:nvSpPr>
        <p:spPr/>
        <p:txBody>
          <a:bodyPr/>
          <a:lstStyle/>
          <a:p>
            <a:pPr eaLnBrk="1" hangingPunct="1"/>
            <a:r>
              <a:rPr lang="en-US" dirty="0"/>
              <a:t>Interpreting Market Based Ratios</a:t>
            </a:r>
          </a:p>
        </p:txBody>
      </p:sp>
      <p:sp>
        <p:nvSpPr>
          <p:cNvPr id="58371" name="Rectangle 3"/>
          <p:cNvSpPr>
            <a:spLocks noGrp="1" noChangeArrowheads="1"/>
          </p:cNvSpPr>
          <p:nvPr>
            <p:ph type="body" idx="1"/>
          </p:nvPr>
        </p:nvSpPr>
        <p:spPr>
          <a:xfrm>
            <a:off x="228600" y="1600200"/>
            <a:ext cx="8286750" cy="4892673"/>
          </a:xfrm>
        </p:spPr>
        <p:txBody>
          <a:bodyPr>
            <a:normAutofit lnSpcReduction="10000"/>
          </a:bodyPr>
          <a:lstStyle/>
          <a:p>
            <a:pPr eaLnBrk="1" hangingPunct="1"/>
            <a:r>
              <a:rPr lang="en-US" dirty="0"/>
              <a:t>P/E: </a:t>
            </a:r>
          </a:p>
          <a:p>
            <a:pPr lvl="1"/>
            <a:r>
              <a:rPr lang="en-US" dirty="0"/>
              <a:t>How much investors will pay for $1 of earnings:  </a:t>
            </a:r>
          </a:p>
          <a:p>
            <a:pPr lvl="2"/>
            <a:r>
              <a:rPr lang="en-US" sz="2400" dirty="0"/>
              <a:t> </a:t>
            </a:r>
          </a:p>
          <a:p>
            <a:pPr eaLnBrk="1" hangingPunct="1"/>
            <a:r>
              <a:rPr lang="en-US" dirty="0"/>
              <a:t>M/B:</a:t>
            </a:r>
          </a:p>
          <a:p>
            <a:pPr lvl="1"/>
            <a:r>
              <a:rPr lang="en-US" dirty="0"/>
              <a:t> How much paid for $1 of book value:</a:t>
            </a:r>
          </a:p>
          <a:p>
            <a:pPr lvl="2"/>
            <a:r>
              <a:rPr lang="en-US" sz="2400" dirty="0"/>
              <a:t> </a:t>
            </a:r>
          </a:p>
          <a:p>
            <a:pPr eaLnBrk="1" hangingPunct="1"/>
            <a:r>
              <a:rPr lang="en-US" dirty="0"/>
              <a:t>P/E and M/B are high if:</a:t>
            </a:r>
          </a:p>
          <a:p>
            <a:pPr lvl="1"/>
            <a:r>
              <a:rPr lang="en-US" dirty="0"/>
              <a:t>  </a:t>
            </a:r>
          </a:p>
          <a:p>
            <a:pPr lvl="1"/>
            <a:r>
              <a:rPr lang="en-US"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Market Value Measures</a:t>
            </a:r>
          </a:p>
        </p:txBody>
      </p:sp>
      <p:sp>
        <p:nvSpPr>
          <p:cNvPr id="87043" name="Rectangle 3"/>
          <p:cNvSpPr>
            <a:spLocks noGrp="1" noChangeArrowheads="1"/>
          </p:cNvSpPr>
          <p:nvPr>
            <p:ph type="body" idx="1"/>
          </p:nvPr>
        </p:nvSpPr>
        <p:spPr>
          <a:xfrm>
            <a:off x="228600" y="1524000"/>
            <a:ext cx="8534400" cy="4876800"/>
          </a:xfrm>
        </p:spPr>
        <p:txBody>
          <a:bodyPr/>
          <a:lstStyle/>
          <a:p>
            <a:pPr>
              <a:lnSpc>
                <a:spcPct val="90000"/>
              </a:lnSpc>
            </a:pPr>
            <a:r>
              <a:rPr lang="en-US" dirty="0"/>
              <a:t>Value Stocks - Firms with :</a:t>
            </a:r>
          </a:p>
          <a:p>
            <a:pPr lvl="1">
              <a:lnSpc>
                <a:spcPct val="90000"/>
              </a:lnSpc>
            </a:pPr>
            <a:r>
              <a:rPr lang="en-US" dirty="0"/>
              <a:t> </a:t>
            </a:r>
          </a:p>
          <a:p>
            <a:pPr>
              <a:lnSpc>
                <a:spcPct val="90000"/>
              </a:lnSpc>
            </a:pPr>
            <a:r>
              <a:rPr lang="en-US" dirty="0"/>
              <a:t>Growth Stocks - Firms with :</a:t>
            </a:r>
          </a:p>
          <a:p>
            <a:pPr lvl="1">
              <a:lnSpc>
                <a:spcPct val="90000"/>
              </a:lnSpc>
            </a:pPr>
            <a:r>
              <a:rPr lang="en-US" dirty="0"/>
              <a:t> </a:t>
            </a:r>
          </a:p>
          <a:p>
            <a:pPr>
              <a:lnSpc>
                <a:spcPct val="90000"/>
              </a:lnSpc>
            </a:pPr>
            <a:r>
              <a:rPr lang="en-US" dirty="0"/>
              <a:t>Market Capitalization:</a:t>
            </a:r>
          </a:p>
          <a:p>
            <a:pPr lvl="1">
              <a:lnSpc>
                <a:spcPct val="90000"/>
              </a:lnSpc>
            </a:pPr>
            <a:r>
              <a:rPr lang="en-US" dirty="0"/>
              <a:t> =</a:t>
            </a:r>
          </a:p>
          <a:p>
            <a:pPr>
              <a:lnSpc>
                <a:spcPct val="90000"/>
              </a:lnSpc>
            </a:pPr>
            <a:r>
              <a:rPr lang="en-US" dirty="0"/>
              <a:t>Enterprise Value:</a:t>
            </a:r>
          </a:p>
          <a:p>
            <a:pPr lvl="1">
              <a:lnSpc>
                <a:spcPct val="90000"/>
              </a:lnSpc>
            </a:pPr>
            <a:r>
              <a:rPr lang="en-US" dirty="0"/>
              <a:t>= MV equity + MV debt – Cash – </a:t>
            </a:r>
            <a:r>
              <a:rPr lang="en-US" dirty="0" err="1"/>
              <a:t>mrktbl</a:t>
            </a:r>
            <a:r>
              <a:rPr lang="en-US" dirty="0"/>
              <a:t> securities.</a:t>
            </a:r>
          </a:p>
          <a:p>
            <a:pPr lvl="1">
              <a:lnSpc>
                <a:spcPct val="90000"/>
              </a:lnSpc>
            </a:pPr>
            <a:r>
              <a:rPr lang="en-US" dirty="0"/>
              <a:t>  Measures value of firm’s underlying business  </a:t>
            </a:r>
          </a:p>
        </p:txBody>
      </p:sp>
    </p:spTree>
    <p:extLst>
      <p:ext uri="{BB962C8B-B14F-4D97-AF65-F5344CB8AC3E}">
        <p14:creationId xmlns:p14="http://schemas.microsoft.com/office/powerpoint/2010/main" val="11128367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anim calcmode="lin" valueType="num">
                                      <p:cBhvr additive="base">
                                        <p:cTn id="7" dur="500" fill="hold"/>
                                        <p:tgtEl>
                                          <p:spTgt spid="870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87043">
                                            <p:txEl>
                                              <p:pRg st="0" end="0"/>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0" end="0"/>
                                            </p:txEl>
                                          </p:spTgt>
                                        </p:tgtEl>
                                        <p:attrNameLst>
                                          <p:attrName>ppt_c</p:attrName>
                                        </p:attrNameLst>
                                      </p:cBhvr>
                                      <p:to>
                                        <a:schemeClr val="tx2"/>
                                      </p:to>
                                    </p:animClr>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7043">
                                            <p:txEl>
                                              <p:pRg st="1" end="1"/>
                                            </p:txEl>
                                          </p:spTgt>
                                        </p:tgtEl>
                                        <p:attrNameLst>
                                          <p:attrName>style.visibility</p:attrName>
                                        </p:attrNameLst>
                                      </p:cBhvr>
                                      <p:to>
                                        <p:strVal val="visible"/>
                                      </p:to>
                                    </p:set>
                                    <p:anim calcmode="lin" valueType="num">
                                      <p:cBhvr additive="base">
                                        <p:cTn id="13" dur="500" fill="hold"/>
                                        <p:tgtEl>
                                          <p:spTgt spid="8704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7043">
                                            <p:txEl>
                                              <p:pRg st="1" end="1"/>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1" end="1"/>
                                            </p:txEl>
                                          </p:spTgt>
                                        </p:tgtEl>
                                        <p:attrNameLst>
                                          <p:attrName>ppt_c</p:attrName>
                                        </p:attrNameLst>
                                      </p:cBhvr>
                                      <p:to>
                                        <a:schemeClr val="tx2"/>
                                      </p:to>
                                    </p:animClr>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7043">
                                            <p:txEl>
                                              <p:pRg st="2" end="2"/>
                                            </p:txEl>
                                          </p:spTgt>
                                        </p:tgtEl>
                                        <p:attrNameLst>
                                          <p:attrName>style.visibility</p:attrName>
                                        </p:attrNameLst>
                                      </p:cBhvr>
                                      <p:to>
                                        <p:strVal val="visible"/>
                                      </p:to>
                                    </p:set>
                                    <p:anim calcmode="lin" valueType="num">
                                      <p:cBhvr additive="base">
                                        <p:cTn id="19" dur="500" fill="hold"/>
                                        <p:tgtEl>
                                          <p:spTgt spid="8704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7043">
                                            <p:txEl>
                                              <p:pRg st="2" end="2"/>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2" end="2"/>
                                            </p:txEl>
                                          </p:spTgt>
                                        </p:tgtEl>
                                        <p:attrNameLst>
                                          <p:attrName>ppt_c</p:attrName>
                                        </p:attrNameLst>
                                      </p:cBhvr>
                                      <p:to>
                                        <a:schemeClr val="tx2"/>
                                      </p:to>
                                    </p:animClr>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7043">
                                            <p:txEl>
                                              <p:pRg st="3" end="3"/>
                                            </p:txEl>
                                          </p:spTgt>
                                        </p:tgtEl>
                                        <p:attrNameLst>
                                          <p:attrName>style.visibility</p:attrName>
                                        </p:attrNameLst>
                                      </p:cBhvr>
                                      <p:to>
                                        <p:strVal val="visible"/>
                                      </p:to>
                                    </p:set>
                                    <p:anim calcmode="lin" valueType="num">
                                      <p:cBhvr additive="base">
                                        <p:cTn id="25" dur="500" fill="hold"/>
                                        <p:tgtEl>
                                          <p:spTgt spid="8704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7043">
                                            <p:txEl>
                                              <p:pRg st="3" end="3"/>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3" end="3"/>
                                            </p:txEl>
                                          </p:spTgt>
                                        </p:tgtEl>
                                        <p:attrNameLst>
                                          <p:attrName>ppt_c</p:attrName>
                                        </p:attrNameLst>
                                      </p:cBhvr>
                                      <p:to>
                                        <a:schemeClr val="tx2"/>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7043">
                                            <p:txEl>
                                              <p:pRg st="4" end="4"/>
                                            </p:txEl>
                                          </p:spTgt>
                                        </p:tgtEl>
                                        <p:attrNameLst>
                                          <p:attrName>style.visibility</p:attrName>
                                        </p:attrNameLst>
                                      </p:cBhvr>
                                      <p:to>
                                        <p:strVal val="visible"/>
                                      </p:to>
                                    </p:set>
                                    <p:anim calcmode="lin" valueType="num">
                                      <p:cBhvr additive="base">
                                        <p:cTn id="31" dur="500" fill="hold"/>
                                        <p:tgtEl>
                                          <p:spTgt spid="8704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7043">
                                            <p:txEl>
                                              <p:pRg st="4" end="4"/>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4" end="4"/>
                                            </p:txEl>
                                          </p:spTgt>
                                        </p:tgtEl>
                                        <p:attrNameLst>
                                          <p:attrName>ppt_c</p:attrName>
                                        </p:attrNameLst>
                                      </p:cBhvr>
                                      <p:to>
                                        <a:schemeClr val="tx2"/>
                                      </p:to>
                                    </p:animClr>
                                  </p:sub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7043">
                                            <p:txEl>
                                              <p:pRg st="5" end="5"/>
                                            </p:txEl>
                                          </p:spTgt>
                                        </p:tgtEl>
                                        <p:attrNameLst>
                                          <p:attrName>style.visibility</p:attrName>
                                        </p:attrNameLst>
                                      </p:cBhvr>
                                      <p:to>
                                        <p:strVal val="visible"/>
                                      </p:to>
                                    </p:set>
                                    <p:anim calcmode="lin" valueType="num">
                                      <p:cBhvr additive="base">
                                        <p:cTn id="37" dur="500" fill="hold"/>
                                        <p:tgtEl>
                                          <p:spTgt spid="8704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87043">
                                            <p:txEl>
                                              <p:pRg st="5" end="5"/>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5" end="5"/>
                                            </p:txEl>
                                          </p:spTgt>
                                        </p:tgtEl>
                                        <p:attrNameLst>
                                          <p:attrName>ppt_c</p:attrName>
                                        </p:attrNameLst>
                                      </p:cBhvr>
                                      <p:to>
                                        <a:schemeClr val="tx2"/>
                                      </p:to>
                                    </p:animClr>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87043">
                                            <p:txEl>
                                              <p:pRg st="6" end="6"/>
                                            </p:txEl>
                                          </p:spTgt>
                                        </p:tgtEl>
                                        <p:attrNameLst>
                                          <p:attrName>style.visibility</p:attrName>
                                        </p:attrNameLst>
                                      </p:cBhvr>
                                      <p:to>
                                        <p:strVal val="visible"/>
                                      </p:to>
                                    </p:set>
                                    <p:anim calcmode="lin" valueType="num">
                                      <p:cBhvr additive="base">
                                        <p:cTn id="43" dur="500" fill="hold"/>
                                        <p:tgtEl>
                                          <p:spTgt spid="8704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87043">
                                            <p:txEl>
                                              <p:pRg st="6" end="6"/>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6" end="6"/>
                                            </p:txEl>
                                          </p:spTgt>
                                        </p:tgtEl>
                                        <p:attrNameLst>
                                          <p:attrName>ppt_c</p:attrName>
                                        </p:attrNameLst>
                                      </p:cBhvr>
                                      <p:to>
                                        <a:schemeClr val="tx2"/>
                                      </p:to>
                                    </p:animClr>
                                  </p:sub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87043">
                                            <p:txEl>
                                              <p:pRg st="7" end="7"/>
                                            </p:txEl>
                                          </p:spTgt>
                                        </p:tgtEl>
                                        <p:attrNameLst>
                                          <p:attrName>style.visibility</p:attrName>
                                        </p:attrNameLst>
                                      </p:cBhvr>
                                      <p:to>
                                        <p:strVal val="visible"/>
                                      </p:to>
                                    </p:set>
                                    <p:anim calcmode="lin" valueType="num">
                                      <p:cBhvr additive="base">
                                        <p:cTn id="49" dur="500" fill="hold"/>
                                        <p:tgtEl>
                                          <p:spTgt spid="8704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87043">
                                            <p:txEl>
                                              <p:pRg st="7" end="7"/>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7" end="7"/>
                                            </p:txEl>
                                          </p:spTgt>
                                        </p:tgtEl>
                                        <p:attrNameLst>
                                          <p:attrName>ppt_c</p:attrName>
                                        </p:attrNameLst>
                                      </p:cBhvr>
                                      <p:to>
                                        <a:schemeClr val="tx2"/>
                                      </p:to>
                                    </p:animClr>
                                  </p:sub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87043">
                                            <p:txEl>
                                              <p:pRg st="8" end="8"/>
                                            </p:txEl>
                                          </p:spTgt>
                                        </p:tgtEl>
                                        <p:attrNameLst>
                                          <p:attrName>style.visibility</p:attrName>
                                        </p:attrNameLst>
                                      </p:cBhvr>
                                      <p:to>
                                        <p:strVal val="visible"/>
                                      </p:to>
                                    </p:set>
                                    <p:anim calcmode="lin" valueType="num">
                                      <p:cBhvr additive="base">
                                        <p:cTn id="55" dur="500" fill="hold"/>
                                        <p:tgtEl>
                                          <p:spTgt spid="87043">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87043">
                                            <p:txEl>
                                              <p:pRg st="8" end="8"/>
                                            </p:txEl>
                                          </p:spTgt>
                                        </p:tgtEl>
                                        <p:attrNameLst>
                                          <p:attrName>ppt_y</p:attrName>
                                        </p:attrNameLst>
                                      </p:cBhvr>
                                      <p:tavLst>
                                        <p:tav tm="0">
                                          <p:val>
                                            <p:strVal val="#ppt_y"/>
                                          </p:val>
                                        </p:tav>
                                        <p:tav tm="100000">
                                          <p:val>
                                            <p:strVal val="#ppt_y"/>
                                          </p:val>
                                        </p:tav>
                                      </p:tavLst>
                                    </p:anim>
                                  </p:childTnLst>
                                  <p:subTnLst>
                                    <p:animClr clrSpc="rgb" dir="cw">
                                      <p:cBhvr override="childStyle">
                                        <p:cTn dur="1" fill="hold" display="0" masterRel="nextClick" afterEffect="1"/>
                                        <p:tgtEl>
                                          <p:spTgt spid="87043">
                                            <p:txEl>
                                              <p:pRg st="8" end="8"/>
                                            </p:txEl>
                                          </p:spTgt>
                                        </p:tgtEl>
                                        <p:attrNameLst>
                                          <p:attrName>ppt_c</p:attrName>
                                        </p:attrNameLst>
                                      </p:cBhvr>
                                      <p:to>
                                        <a:schemeClr val="tx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3" grpId="0" build="p" bldLvl="2"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pPr>
              <a:defRPr/>
            </a:pPr>
            <a:fld id="{1623E747-DB39-492B-A65E-B3D52B4BED7A}" type="slidenum">
              <a:rPr lang="en-US"/>
              <a:pPr>
                <a:defRPr/>
              </a:pPr>
              <a:t>51</a:t>
            </a:fld>
            <a:endParaRPr lang="en-US"/>
          </a:p>
        </p:txBody>
      </p:sp>
      <p:grpSp>
        <p:nvGrpSpPr>
          <p:cNvPr id="59394" name="Group 10"/>
          <p:cNvGrpSpPr>
            <a:grpSpLocks/>
          </p:cNvGrpSpPr>
          <p:nvPr/>
        </p:nvGrpSpPr>
        <p:grpSpPr bwMode="auto">
          <a:xfrm>
            <a:off x="1143000" y="2971801"/>
            <a:ext cx="7446963" cy="2255838"/>
            <a:chOff x="720" y="1872"/>
            <a:chExt cx="4691" cy="1421"/>
          </a:xfrm>
        </p:grpSpPr>
        <p:sp>
          <p:nvSpPr>
            <p:cNvPr id="59396" name="Rectangle 5"/>
            <p:cNvSpPr>
              <a:spLocks noChangeArrowheads="1"/>
            </p:cNvSpPr>
            <p:nvPr/>
          </p:nvSpPr>
          <p:spPr bwMode="auto">
            <a:xfrm>
              <a:off x="720" y="1872"/>
              <a:ext cx="4691"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p>
              <a:pPr eaLnBrk="0" hangingPunct="0">
                <a:lnSpc>
                  <a:spcPct val="110000"/>
                </a:lnSpc>
                <a:tabLst>
                  <a:tab pos="1833563" algn="dec"/>
                  <a:tab pos="3548063" algn="dec"/>
                  <a:tab pos="4857750" algn="dec"/>
                  <a:tab pos="6286500" algn="dec"/>
                </a:tabLst>
              </a:pPr>
              <a:r>
                <a:rPr lang="en-US" sz="3200" dirty="0">
                  <a:latin typeface="Tahoma" pitchFamily="34" charset="0"/>
                </a:rPr>
                <a:t>         20x2Est	    20x1    20x0     Ind.</a:t>
              </a:r>
            </a:p>
            <a:p>
              <a:pPr eaLnBrk="0" hangingPunct="0">
                <a:lnSpc>
                  <a:spcPct val="110000"/>
                </a:lnSpc>
                <a:tabLst>
                  <a:tab pos="1833563" algn="dec"/>
                  <a:tab pos="3548063" algn="dec"/>
                  <a:tab pos="4857750" algn="dec"/>
                  <a:tab pos="6286500" algn="dec"/>
                </a:tabLst>
              </a:pPr>
              <a:r>
                <a:rPr lang="en-US" sz="3200" dirty="0">
                  <a:latin typeface="Tahoma" pitchFamily="34" charset="0"/>
                </a:rPr>
                <a:t>P/E	</a:t>
              </a:r>
              <a:r>
                <a:rPr lang="en-US" sz="2800" dirty="0">
                  <a:latin typeface="Tahoma" pitchFamily="34" charset="0"/>
                </a:rPr>
                <a:t>12.0	-6.3	9.7	14.2</a:t>
              </a:r>
            </a:p>
            <a:p>
              <a:pPr eaLnBrk="0" hangingPunct="0">
                <a:lnSpc>
                  <a:spcPct val="110000"/>
                </a:lnSpc>
                <a:tabLst>
                  <a:tab pos="1833563" algn="dec"/>
                  <a:tab pos="3548063" algn="dec"/>
                  <a:tab pos="4857750" algn="dec"/>
                  <a:tab pos="6286500" algn="dec"/>
                </a:tabLst>
              </a:pPr>
              <a:r>
                <a:rPr lang="en-US" sz="3200" dirty="0">
                  <a:latin typeface="Tahoma" pitchFamily="34" charset="0"/>
                </a:rPr>
                <a:t>P/CF	</a:t>
              </a:r>
              <a:r>
                <a:rPr lang="en-US" sz="2800" dirty="0">
                  <a:latin typeface="Tahoma" pitchFamily="34" charset="0"/>
                </a:rPr>
                <a:t>8.2	27.5	8.0	7.6</a:t>
              </a:r>
            </a:p>
            <a:p>
              <a:pPr eaLnBrk="0" hangingPunct="0">
                <a:lnSpc>
                  <a:spcPct val="110000"/>
                </a:lnSpc>
                <a:tabLst>
                  <a:tab pos="1833563" algn="dec"/>
                  <a:tab pos="3548063" algn="dec"/>
                  <a:tab pos="4857750" algn="dec"/>
                  <a:tab pos="6286500" algn="dec"/>
                </a:tabLst>
              </a:pPr>
              <a:r>
                <a:rPr lang="en-US" sz="3200" dirty="0">
                  <a:latin typeface="Tahoma" pitchFamily="34" charset="0"/>
                </a:rPr>
                <a:t>M/B	</a:t>
              </a:r>
              <a:r>
                <a:rPr lang="en-US" sz="2800" dirty="0">
                  <a:latin typeface="Tahoma" pitchFamily="34" charset="0"/>
                </a:rPr>
                <a:t>1.5	1.1	1.3	2.9</a:t>
              </a:r>
            </a:p>
          </p:txBody>
        </p:sp>
        <p:sp>
          <p:nvSpPr>
            <p:cNvPr id="59397" name="Line 6"/>
            <p:cNvSpPr>
              <a:spLocks noChangeShapeType="1"/>
            </p:cNvSpPr>
            <p:nvPr/>
          </p:nvSpPr>
          <p:spPr bwMode="auto">
            <a:xfrm>
              <a:off x="1427" y="2220"/>
              <a:ext cx="378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398" name="Line 8"/>
            <p:cNvSpPr>
              <a:spLocks noChangeShapeType="1"/>
            </p:cNvSpPr>
            <p:nvPr/>
          </p:nvSpPr>
          <p:spPr bwMode="auto">
            <a:xfrm>
              <a:off x="1415" y="2218"/>
              <a:ext cx="0" cy="9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9395" name="Rectangle 9"/>
          <p:cNvSpPr>
            <a:spLocks noGrp="1" noChangeArrowheads="1"/>
          </p:cNvSpPr>
          <p:nvPr>
            <p:ph type="title"/>
          </p:nvPr>
        </p:nvSpPr>
        <p:spPr/>
        <p:txBody>
          <a:bodyPr>
            <a:normAutofit fontScale="90000"/>
          </a:bodyPr>
          <a:lstStyle/>
          <a:p>
            <a:pPr eaLnBrk="1" hangingPunct="1"/>
            <a:r>
              <a:rPr lang="en-US"/>
              <a:t>Comparison with Industry Averages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1B0F09BB-7968-4DC1-9663-2186DA585B9D}" type="slidenum">
              <a:rPr lang="en-US"/>
              <a:pPr>
                <a:defRPr/>
              </a:pPr>
              <a:t>52</a:t>
            </a:fld>
            <a:endParaRPr lang="en-US"/>
          </a:p>
        </p:txBody>
      </p:sp>
      <p:sp>
        <p:nvSpPr>
          <p:cNvPr id="70658" name="Rectangle 4"/>
          <p:cNvSpPr>
            <a:spLocks noGrp="1" noChangeArrowheads="1"/>
          </p:cNvSpPr>
          <p:nvPr>
            <p:ph type="title"/>
          </p:nvPr>
        </p:nvSpPr>
        <p:spPr/>
        <p:txBody>
          <a:bodyPr/>
          <a:lstStyle/>
          <a:p>
            <a:pPr eaLnBrk="1" hangingPunct="1"/>
            <a:r>
              <a:rPr lang="en-US"/>
              <a:t>Explain the Du Pont System</a:t>
            </a:r>
          </a:p>
        </p:txBody>
      </p:sp>
      <p:sp>
        <p:nvSpPr>
          <p:cNvPr id="70659" name="Rectangle 5"/>
          <p:cNvSpPr>
            <a:spLocks noGrp="1" noChangeArrowheads="1"/>
          </p:cNvSpPr>
          <p:nvPr>
            <p:ph type="body" idx="1"/>
          </p:nvPr>
        </p:nvSpPr>
        <p:spPr>
          <a:xfrm>
            <a:off x="228600" y="1825625"/>
            <a:ext cx="8286750" cy="4351338"/>
          </a:xfrm>
        </p:spPr>
        <p:txBody>
          <a:bodyPr/>
          <a:lstStyle/>
          <a:p>
            <a:pPr eaLnBrk="1" hangingPunct="1"/>
            <a:r>
              <a:rPr lang="en-US" dirty="0"/>
              <a:t>The Du Pont system focuses on:</a:t>
            </a:r>
          </a:p>
          <a:p>
            <a:pPr lvl="1" eaLnBrk="1" hangingPunct="1"/>
            <a:r>
              <a:rPr lang="en-US" dirty="0"/>
              <a:t>Expense control (PM)</a:t>
            </a:r>
          </a:p>
          <a:p>
            <a:pPr lvl="1" eaLnBrk="1" hangingPunct="1"/>
            <a:r>
              <a:rPr lang="en-US" dirty="0"/>
              <a:t>Asset utilization (TATO)</a:t>
            </a:r>
          </a:p>
          <a:p>
            <a:pPr lvl="1" eaLnBrk="1" hangingPunct="1"/>
            <a:r>
              <a:rPr lang="en-US" dirty="0"/>
              <a:t>Debt utilization (EM)</a:t>
            </a:r>
          </a:p>
          <a:p>
            <a:pPr eaLnBrk="1" hangingPunct="1"/>
            <a:r>
              <a:rPr lang="en-US" dirty="0"/>
              <a:t>Shows how these factors combine to drive ROE.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pPr>
              <a:defRPr/>
            </a:pPr>
            <a:fld id="{FF3C1F3C-6705-4D86-8A11-0D1C535191DA}" type="slidenum">
              <a:rPr lang="en-US"/>
              <a:pPr>
                <a:defRPr/>
              </a:pPr>
              <a:t>53</a:t>
            </a:fld>
            <a:endParaRPr lang="en-US"/>
          </a:p>
        </p:txBody>
      </p:sp>
      <p:sp>
        <p:nvSpPr>
          <p:cNvPr id="71682" name="Rectangle 5"/>
          <p:cNvSpPr>
            <a:spLocks noChangeArrowheads="1"/>
          </p:cNvSpPr>
          <p:nvPr/>
        </p:nvSpPr>
        <p:spPr bwMode="auto">
          <a:xfrm>
            <a:off x="714375" y="2971800"/>
            <a:ext cx="8429625"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eaLnBrk="0" hangingPunct="0">
              <a:spcBef>
                <a:spcPct val="20000"/>
              </a:spcBef>
              <a:tabLst>
                <a:tab pos="1023938" algn="l"/>
              </a:tabLst>
            </a:pPr>
            <a:r>
              <a:rPr lang="en-US" sz="6600" dirty="0">
                <a:latin typeface="Tahoma" pitchFamily="34" charset="0"/>
              </a:rPr>
              <a:t>(     )(      )(       )</a:t>
            </a:r>
            <a:r>
              <a:rPr lang="en-US" sz="3200" dirty="0">
                <a:latin typeface="Tahoma" pitchFamily="34" charset="0"/>
              </a:rPr>
              <a:t> = ROE</a:t>
            </a:r>
          </a:p>
          <a:p>
            <a:pPr eaLnBrk="0" hangingPunct="0">
              <a:spcBef>
                <a:spcPct val="20000"/>
              </a:spcBef>
              <a:tabLst>
                <a:tab pos="1023938" algn="l"/>
              </a:tabLst>
            </a:pPr>
            <a:endParaRPr lang="en-US" sz="3200" dirty="0">
              <a:latin typeface="Tahoma" pitchFamily="34" charset="0"/>
            </a:endParaRPr>
          </a:p>
          <a:p>
            <a:pPr eaLnBrk="0" hangingPunct="0">
              <a:spcBef>
                <a:spcPct val="20000"/>
              </a:spcBef>
              <a:tabLst>
                <a:tab pos="1023938" algn="l"/>
              </a:tabLst>
            </a:pPr>
            <a:r>
              <a:rPr lang="en-US" sz="3200" dirty="0">
                <a:latin typeface="Tahoma" pitchFamily="34" charset="0"/>
              </a:rPr>
              <a:t>                                                            </a:t>
            </a:r>
          </a:p>
        </p:txBody>
      </p:sp>
      <p:sp>
        <p:nvSpPr>
          <p:cNvPr id="71683" name="Rectangle 6"/>
          <p:cNvSpPr>
            <a:spLocks noChangeArrowheads="1"/>
          </p:cNvSpPr>
          <p:nvPr/>
        </p:nvSpPr>
        <p:spPr bwMode="auto">
          <a:xfrm>
            <a:off x="1073150" y="3124200"/>
            <a:ext cx="1427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dirty="0">
                <a:latin typeface="Tahoma" pitchFamily="34" charset="0"/>
              </a:rPr>
              <a:t>Profit</a:t>
            </a:r>
          </a:p>
          <a:p>
            <a:pPr algn="ctr" eaLnBrk="0" hangingPunct="0">
              <a:lnSpc>
                <a:spcPct val="85000"/>
              </a:lnSpc>
            </a:pPr>
            <a:r>
              <a:rPr lang="en-US" sz="3200" dirty="0">
                <a:latin typeface="Tahoma" pitchFamily="34" charset="0"/>
              </a:rPr>
              <a:t>margin</a:t>
            </a:r>
          </a:p>
        </p:txBody>
      </p:sp>
      <p:sp>
        <p:nvSpPr>
          <p:cNvPr id="71684" name="Rectangle 7"/>
          <p:cNvSpPr>
            <a:spLocks noChangeArrowheads="1"/>
          </p:cNvSpPr>
          <p:nvPr/>
        </p:nvSpPr>
        <p:spPr bwMode="auto">
          <a:xfrm>
            <a:off x="2971800" y="3124200"/>
            <a:ext cx="1701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a:latin typeface="Tahoma" pitchFamily="34" charset="0"/>
              </a:rPr>
              <a:t>TA</a:t>
            </a:r>
          </a:p>
          <a:p>
            <a:pPr algn="ctr" eaLnBrk="0" hangingPunct="0">
              <a:lnSpc>
                <a:spcPct val="85000"/>
              </a:lnSpc>
            </a:pPr>
            <a:r>
              <a:rPr lang="en-US" sz="3200">
                <a:latin typeface="Tahoma" pitchFamily="34" charset="0"/>
              </a:rPr>
              <a:t>turnover</a:t>
            </a:r>
          </a:p>
        </p:txBody>
      </p:sp>
      <p:sp>
        <p:nvSpPr>
          <p:cNvPr id="71685" name="Rectangle 8"/>
          <p:cNvSpPr>
            <a:spLocks noChangeArrowheads="1"/>
          </p:cNvSpPr>
          <p:nvPr/>
        </p:nvSpPr>
        <p:spPr bwMode="auto">
          <a:xfrm>
            <a:off x="5240338" y="3124200"/>
            <a:ext cx="18462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a:latin typeface="Tahoma" pitchFamily="34" charset="0"/>
              </a:rPr>
              <a:t>Equity</a:t>
            </a:r>
          </a:p>
          <a:p>
            <a:pPr algn="ctr" eaLnBrk="0" hangingPunct="0">
              <a:lnSpc>
                <a:spcPct val="85000"/>
              </a:lnSpc>
            </a:pPr>
            <a:r>
              <a:rPr lang="en-US" sz="3200">
                <a:latin typeface="Tahoma" pitchFamily="34" charset="0"/>
              </a:rPr>
              <a:t>multiplier</a:t>
            </a:r>
          </a:p>
        </p:txBody>
      </p:sp>
      <p:sp>
        <p:nvSpPr>
          <p:cNvPr id="71686" name="Rectangle 9"/>
          <p:cNvSpPr>
            <a:spLocks noChangeArrowheads="1"/>
          </p:cNvSpPr>
          <p:nvPr/>
        </p:nvSpPr>
        <p:spPr bwMode="auto">
          <a:xfrm>
            <a:off x="1120775" y="4191000"/>
            <a:ext cx="1366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   NI   </a:t>
            </a:r>
            <a:endParaRPr lang="en-US" sz="3200" dirty="0">
              <a:latin typeface="Tahoma" pitchFamily="34" charset="0"/>
            </a:endParaRPr>
          </a:p>
          <a:p>
            <a:pPr algn="ctr" eaLnBrk="0" hangingPunct="0">
              <a:lnSpc>
                <a:spcPct val="85000"/>
              </a:lnSpc>
            </a:pPr>
            <a:r>
              <a:rPr lang="en-US" sz="3200" dirty="0">
                <a:latin typeface="Tahoma" pitchFamily="34" charset="0"/>
              </a:rPr>
              <a:t>Sales</a:t>
            </a:r>
          </a:p>
        </p:txBody>
      </p:sp>
      <p:sp>
        <p:nvSpPr>
          <p:cNvPr id="71687" name="Rectangle 10"/>
          <p:cNvSpPr>
            <a:spLocks noChangeArrowheads="1"/>
          </p:cNvSpPr>
          <p:nvPr/>
        </p:nvSpPr>
        <p:spPr bwMode="auto">
          <a:xfrm>
            <a:off x="3294063" y="4191000"/>
            <a:ext cx="11096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Sales</a:t>
            </a:r>
            <a:endParaRPr lang="en-US" sz="3200" dirty="0">
              <a:latin typeface="Tahoma" pitchFamily="34" charset="0"/>
            </a:endParaRPr>
          </a:p>
          <a:p>
            <a:pPr algn="ctr" eaLnBrk="0" hangingPunct="0">
              <a:lnSpc>
                <a:spcPct val="85000"/>
              </a:lnSpc>
            </a:pPr>
            <a:r>
              <a:rPr lang="en-US" sz="3200" dirty="0">
                <a:latin typeface="Tahoma" pitchFamily="34" charset="0"/>
              </a:rPr>
              <a:t>TA</a:t>
            </a:r>
          </a:p>
        </p:txBody>
      </p:sp>
      <p:sp>
        <p:nvSpPr>
          <p:cNvPr id="71688" name="Rectangle 11"/>
          <p:cNvSpPr>
            <a:spLocks noChangeArrowheads="1"/>
          </p:cNvSpPr>
          <p:nvPr/>
        </p:nvSpPr>
        <p:spPr bwMode="auto">
          <a:xfrm>
            <a:off x="5834063" y="4191000"/>
            <a:ext cx="9175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a:latin typeface="Tahoma" pitchFamily="34" charset="0"/>
              </a:rPr>
              <a:t> TA </a:t>
            </a:r>
            <a:endParaRPr lang="en-US" sz="3200">
              <a:latin typeface="Tahoma" pitchFamily="34" charset="0"/>
            </a:endParaRPr>
          </a:p>
          <a:p>
            <a:pPr algn="ctr" eaLnBrk="0" hangingPunct="0">
              <a:lnSpc>
                <a:spcPct val="85000"/>
              </a:lnSpc>
            </a:pPr>
            <a:r>
              <a:rPr lang="en-US" sz="3200">
                <a:latin typeface="Tahoma" pitchFamily="34" charset="0"/>
              </a:rPr>
              <a:t>CE</a:t>
            </a:r>
          </a:p>
        </p:txBody>
      </p:sp>
      <p:sp>
        <p:nvSpPr>
          <p:cNvPr id="71689" name="Rectangle 15"/>
          <p:cNvSpPr>
            <a:spLocks noChangeArrowheads="1"/>
          </p:cNvSpPr>
          <p:nvPr/>
        </p:nvSpPr>
        <p:spPr bwMode="auto">
          <a:xfrm>
            <a:off x="2619375" y="4411663"/>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3200">
                <a:latin typeface="Tahoma" pitchFamily="34" charset="0"/>
              </a:rPr>
              <a:t>x</a:t>
            </a:r>
          </a:p>
        </p:txBody>
      </p:sp>
      <p:sp>
        <p:nvSpPr>
          <p:cNvPr id="71690" name="Rectangle 16"/>
          <p:cNvSpPr>
            <a:spLocks noChangeArrowheads="1"/>
          </p:cNvSpPr>
          <p:nvPr/>
        </p:nvSpPr>
        <p:spPr bwMode="auto">
          <a:xfrm>
            <a:off x="4905375" y="4411663"/>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3200">
                <a:latin typeface="Tahoma" pitchFamily="34" charset="0"/>
              </a:rPr>
              <a:t>x</a:t>
            </a:r>
          </a:p>
        </p:txBody>
      </p:sp>
      <p:sp>
        <p:nvSpPr>
          <p:cNvPr id="71691" name="Rectangle 17"/>
          <p:cNvSpPr>
            <a:spLocks noChangeArrowheads="1"/>
          </p:cNvSpPr>
          <p:nvPr/>
        </p:nvSpPr>
        <p:spPr bwMode="auto">
          <a:xfrm>
            <a:off x="7419975" y="4335463"/>
            <a:ext cx="13747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3200">
                <a:latin typeface="Tahoma" pitchFamily="34" charset="0"/>
              </a:rPr>
              <a:t>= ROE</a:t>
            </a:r>
          </a:p>
        </p:txBody>
      </p:sp>
      <p:sp>
        <p:nvSpPr>
          <p:cNvPr id="71692" name="Rectangle 18"/>
          <p:cNvSpPr>
            <a:spLocks noGrp="1" noChangeArrowheads="1"/>
          </p:cNvSpPr>
          <p:nvPr>
            <p:ph type="title"/>
          </p:nvPr>
        </p:nvSpPr>
        <p:spPr/>
        <p:txBody>
          <a:bodyPr/>
          <a:lstStyle/>
          <a:p>
            <a:pPr eaLnBrk="1" hangingPunct="1"/>
            <a:r>
              <a:rPr lang="en-US"/>
              <a:t>The Du Pont System</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pPr>
              <a:defRPr/>
            </a:pPr>
            <a:fld id="{FF3C1F3C-6705-4D86-8A11-0D1C535191DA}" type="slidenum">
              <a:rPr lang="en-US"/>
              <a:pPr>
                <a:defRPr/>
              </a:pPr>
              <a:t>54</a:t>
            </a:fld>
            <a:endParaRPr lang="en-US"/>
          </a:p>
        </p:txBody>
      </p:sp>
      <p:sp>
        <p:nvSpPr>
          <p:cNvPr id="71682" name="Rectangle 5"/>
          <p:cNvSpPr>
            <a:spLocks noChangeArrowheads="1"/>
          </p:cNvSpPr>
          <p:nvPr/>
        </p:nvSpPr>
        <p:spPr bwMode="auto">
          <a:xfrm>
            <a:off x="609600" y="3124201"/>
            <a:ext cx="8510587" cy="319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eaLnBrk="0" hangingPunct="0">
              <a:spcBef>
                <a:spcPct val="20000"/>
              </a:spcBef>
              <a:tabLst>
                <a:tab pos="1023938" algn="l"/>
              </a:tabLst>
            </a:pPr>
            <a:r>
              <a:rPr lang="en-US" sz="6600" dirty="0">
                <a:latin typeface="Tahoma" pitchFamily="34" charset="0"/>
              </a:rPr>
              <a:t>(     )(      )</a:t>
            </a:r>
            <a:r>
              <a:rPr lang="en-US" sz="3200" dirty="0">
                <a:latin typeface="Tahoma" pitchFamily="34" charset="0"/>
              </a:rPr>
              <a:t> = ROA</a:t>
            </a:r>
          </a:p>
          <a:p>
            <a:pPr eaLnBrk="0" hangingPunct="0">
              <a:spcBef>
                <a:spcPct val="20000"/>
              </a:spcBef>
              <a:tabLst>
                <a:tab pos="1023938" algn="l"/>
              </a:tabLst>
            </a:pPr>
            <a:endParaRPr lang="en-US" sz="3200" dirty="0">
              <a:latin typeface="Tahoma" pitchFamily="34" charset="0"/>
            </a:endParaRPr>
          </a:p>
          <a:p>
            <a:pPr eaLnBrk="0" hangingPunct="0">
              <a:spcBef>
                <a:spcPct val="20000"/>
              </a:spcBef>
              <a:tabLst>
                <a:tab pos="1023938" algn="l"/>
              </a:tabLst>
            </a:pPr>
            <a:r>
              <a:rPr lang="en-US" sz="3200" dirty="0">
                <a:latin typeface="Tahoma" pitchFamily="34" charset="0"/>
              </a:rPr>
              <a:t>                                                            </a:t>
            </a:r>
          </a:p>
        </p:txBody>
      </p:sp>
      <p:sp>
        <p:nvSpPr>
          <p:cNvPr id="71683" name="Rectangle 6"/>
          <p:cNvSpPr>
            <a:spLocks noChangeArrowheads="1"/>
          </p:cNvSpPr>
          <p:nvPr/>
        </p:nvSpPr>
        <p:spPr bwMode="auto">
          <a:xfrm>
            <a:off x="1073150" y="3124200"/>
            <a:ext cx="1427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dirty="0">
                <a:latin typeface="Tahoma" pitchFamily="34" charset="0"/>
              </a:rPr>
              <a:t>Profit</a:t>
            </a:r>
          </a:p>
          <a:p>
            <a:pPr algn="ctr" eaLnBrk="0" hangingPunct="0">
              <a:lnSpc>
                <a:spcPct val="85000"/>
              </a:lnSpc>
            </a:pPr>
            <a:r>
              <a:rPr lang="en-US" sz="3200" dirty="0">
                <a:latin typeface="Tahoma" pitchFamily="34" charset="0"/>
              </a:rPr>
              <a:t>margin</a:t>
            </a:r>
          </a:p>
        </p:txBody>
      </p:sp>
      <p:sp>
        <p:nvSpPr>
          <p:cNvPr id="71684" name="Rectangle 7"/>
          <p:cNvSpPr>
            <a:spLocks noChangeArrowheads="1"/>
          </p:cNvSpPr>
          <p:nvPr/>
        </p:nvSpPr>
        <p:spPr bwMode="auto">
          <a:xfrm>
            <a:off x="2971800" y="3124200"/>
            <a:ext cx="1701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a:latin typeface="Tahoma" pitchFamily="34" charset="0"/>
              </a:rPr>
              <a:t>TA</a:t>
            </a:r>
          </a:p>
          <a:p>
            <a:pPr algn="ctr" eaLnBrk="0" hangingPunct="0">
              <a:lnSpc>
                <a:spcPct val="85000"/>
              </a:lnSpc>
            </a:pPr>
            <a:r>
              <a:rPr lang="en-US" sz="3200">
                <a:latin typeface="Tahoma" pitchFamily="34" charset="0"/>
              </a:rPr>
              <a:t>turnover</a:t>
            </a:r>
          </a:p>
        </p:txBody>
      </p:sp>
      <p:sp>
        <p:nvSpPr>
          <p:cNvPr id="71686" name="Rectangle 9"/>
          <p:cNvSpPr>
            <a:spLocks noChangeArrowheads="1"/>
          </p:cNvSpPr>
          <p:nvPr/>
        </p:nvSpPr>
        <p:spPr bwMode="auto">
          <a:xfrm>
            <a:off x="1120775" y="4191000"/>
            <a:ext cx="1366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   NI   </a:t>
            </a:r>
            <a:endParaRPr lang="en-US" sz="3200" dirty="0">
              <a:latin typeface="Tahoma" pitchFamily="34" charset="0"/>
            </a:endParaRPr>
          </a:p>
          <a:p>
            <a:pPr algn="ctr" eaLnBrk="0" hangingPunct="0">
              <a:lnSpc>
                <a:spcPct val="85000"/>
              </a:lnSpc>
            </a:pPr>
            <a:r>
              <a:rPr lang="en-US" sz="3200" dirty="0">
                <a:latin typeface="Tahoma" pitchFamily="34" charset="0"/>
              </a:rPr>
              <a:t>Sales</a:t>
            </a:r>
          </a:p>
        </p:txBody>
      </p:sp>
      <p:sp>
        <p:nvSpPr>
          <p:cNvPr id="71687" name="Rectangle 10"/>
          <p:cNvSpPr>
            <a:spLocks noChangeArrowheads="1"/>
          </p:cNvSpPr>
          <p:nvPr/>
        </p:nvSpPr>
        <p:spPr bwMode="auto">
          <a:xfrm>
            <a:off x="3294063" y="4191000"/>
            <a:ext cx="110966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eaLnBrk="0" hangingPunct="0"/>
            <a:r>
              <a:rPr lang="en-US" sz="3200" u="sng" dirty="0">
                <a:latin typeface="Tahoma" pitchFamily="34" charset="0"/>
              </a:rPr>
              <a:t>Sales</a:t>
            </a:r>
            <a:endParaRPr lang="en-US" sz="3200" dirty="0">
              <a:latin typeface="Tahoma" pitchFamily="34" charset="0"/>
            </a:endParaRPr>
          </a:p>
          <a:p>
            <a:pPr algn="ctr" eaLnBrk="0" hangingPunct="0">
              <a:lnSpc>
                <a:spcPct val="85000"/>
              </a:lnSpc>
            </a:pPr>
            <a:r>
              <a:rPr lang="en-US" sz="3200" dirty="0">
                <a:latin typeface="Tahoma" pitchFamily="34" charset="0"/>
              </a:rPr>
              <a:t>TA</a:t>
            </a:r>
          </a:p>
        </p:txBody>
      </p:sp>
      <p:sp>
        <p:nvSpPr>
          <p:cNvPr id="71689" name="Rectangle 15"/>
          <p:cNvSpPr>
            <a:spLocks noChangeArrowheads="1"/>
          </p:cNvSpPr>
          <p:nvPr/>
        </p:nvSpPr>
        <p:spPr bwMode="auto">
          <a:xfrm>
            <a:off x="2619375" y="4411663"/>
            <a:ext cx="3857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3200">
                <a:latin typeface="Tahoma" pitchFamily="34" charset="0"/>
              </a:rPr>
              <a:t>x</a:t>
            </a:r>
          </a:p>
        </p:txBody>
      </p:sp>
      <p:sp>
        <p:nvSpPr>
          <p:cNvPr id="71691" name="Rectangle 17"/>
          <p:cNvSpPr>
            <a:spLocks noChangeArrowheads="1"/>
          </p:cNvSpPr>
          <p:nvPr/>
        </p:nvSpPr>
        <p:spPr bwMode="auto">
          <a:xfrm>
            <a:off x="4905375" y="4335463"/>
            <a:ext cx="391754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hangingPunct="0"/>
            <a:r>
              <a:rPr lang="en-US" sz="3200" dirty="0">
                <a:latin typeface="Tahoma" pitchFamily="34" charset="0"/>
              </a:rPr>
              <a:t>= ROA</a:t>
            </a:r>
          </a:p>
        </p:txBody>
      </p:sp>
      <p:sp>
        <p:nvSpPr>
          <p:cNvPr id="71692" name="Rectangle 18"/>
          <p:cNvSpPr>
            <a:spLocks noGrp="1" noChangeArrowheads="1"/>
          </p:cNvSpPr>
          <p:nvPr>
            <p:ph type="title"/>
          </p:nvPr>
        </p:nvSpPr>
        <p:spPr/>
        <p:txBody>
          <a:bodyPr/>
          <a:lstStyle/>
          <a:p>
            <a:pPr eaLnBrk="1" hangingPunct="1"/>
            <a:r>
              <a:rPr lang="en-US" dirty="0"/>
              <a:t>The Du Pont System </a:t>
            </a:r>
            <a:r>
              <a:rPr lang="en-US" sz="3600" dirty="0"/>
              <a:t>(part 2)</a:t>
            </a:r>
          </a:p>
        </p:txBody>
      </p:sp>
    </p:spTree>
    <p:extLst>
      <p:ext uri="{BB962C8B-B14F-4D97-AF65-F5344CB8AC3E}">
        <p14:creationId xmlns:p14="http://schemas.microsoft.com/office/powerpoint/2010/main" val="1669730286"/>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4"/>
          <p:cNvSpPr>
            <a:spLocks noGrp="1"/>
          </p:cNvSpPr>
          <p:nvPr>
            <p:ph type="sldNum" sz="quarter" idx="12"/>
          </p:nvPr>
        </p:nvSpPr>
        <p:spPr/>
        <p:txBody>
          <a:bodyPr/>
          <a:lstStyle/>
          <a:p>
            <a:pPr>
              <a:defRPr/>
            </a:pPr>
            <a:fld id="{129D17C1-8101-4048-9DA8-29D15722070A}" type="slidenum">
              <a:rPr lang="en-US"/>
              <a:pPr>
                <a:defRPr/>
              </a:pPr>
              <a:t>55</a:t>
            </a:fld>
            <a:endParaRPr lang="en-US"/>
          </a:p>
        </p:txBody>
      </p:sp>
      <p:sp>
        <p:nvSpPr>
          <p:cNvPr id="72706" name="Rectangle 11"/>
          <p:cNvSpPr>
            <a:spLocks noChangeArrowheads="1"/>
          </p:cNvSpPr>
          <p:nvPr/>
        </p:nvSpPr>
        <p:spPr bwMode="auto">
          <a:xfrm>
            <a:off x="381000" y="3780357"/>
            <a:ext cx="8030325" cy="1813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eaLnBrk="0" hangingPunct="0">
              <a:tabLst>
                <a:tab pos="1595438" algn="dec"/>
                <a:tab pos="2690813" algn="ctr"/>
                <a:tab pos="3381375" algn="dec"/>
                <a:tab pos="4167188" algn="ctr"/>
                <a:tab pos="4905375" algn="dec"/>
                <a:tab pos="5548313" algn="ctr"/>
                <a:tab pos="6691313" algn="dec"/>
              </a:tabLst>
            </a:pPr>
            <a:r>
              <a:rPr lang="en-US" sz="2800" dirty="0">
                <a:latin typeface="Tahoma" pitchFamily="34" charset="0"/>
              </a:rPr>
              <a:t>20x0:   	   2.6%	 x 	2.3	x	2.2	=	13.2%</a:t>
            </a:r>
          </a:p>
          <a:p>
            <a:pPr eaLnBrk="0" hangingPunct="0">
              <a:tabLst>
                <a:tab pos="1595438" algn="dec"/>
                <a:tab pos="2690813" algn="ctr"/>
                <a:tab pos="3381375" algn="dec"/>
                <a:tab pos="4167188" algn="ctr"/>
                <a:tab pos="4905375" algn="dec"/>
                <a:tab pos="5548313" algn="ctr"/>
                <a:tab pos="6691313" algn="dec"/>
              </a:tabLst>
            </a:pPr>
            <a:r>
              <a:rPr lang="en-US" sz="2800" dirty="0">
                <a:latin typeface="Tahoma" pitchFamily="34" charset="0"/>
              </a:rPr>
              <a:t>20x1:     	-1.6%	x	2.0	x	5.2	=	-16.6%</a:t>
            </a:r>
          </a:p>
          <a:p>
            <a:pPr eaLnBrk="0" hangingPunct="0">
              <a:tabLst>
                <a:tab pos="1595438" algn="dec"/>
                <a:tab pos="2690813" algn="ctr"/>
                <a:tab pos="3381375" algn="dec"/>
                <a:tab pos="4167188" algn="ctr"/>
                <a:tab pos="4905375" algn="dec"/>
                <a:tab pos="5548313" algn="ctr"/>
                <a:tab pos="6691313" algn="dec"/>
              </a:tabLst>
            </a:pPr>
            <a:r>
              <a:rPr lang="en-US" sz="2800" dirty="0">
                <a:latin typeface="Tahoma" pitchFamily="34" charset="0"/>
              </a:rPr>
              <a:t>20x2Est:  	3.6%	x	2.0	x	1.8	=	13.0%</a:t>
            </a:r>
          </a:p>
          <a:p>
            <a:pPr eaLnBrk="0" hangingPunct="0">
              <a:tabLst>
                <a:tab pos="1595438" algn="dec"/>
                <a:tab pos="2690813" algn="ctr"/>
                <a:tab pos="3381375" algn="dec"/>
                <a:tab pos="4167188" algn="ctr"/>
                <a:tab pos="4905375" algn="dec"/>
                <a:tab pos="5548313" algn="ctr"/>
                <a:tab pos="6691313" algn="dec"/>
              </a:tabLst>
            </a:pPr>
            <a:r>
              <a:rPr lang="en-US" sz="2800" dirty="0">
                <a:latin typeface="Tahoma" pitchFamily="34" charset="0"/>
              </a:rPr>
              <a:t>Ind.:	       3.6%	x	2.5	x	2.0	=	18.0%</a:t>
            </a:r>
          </a:p>
        </p:txBody>
      </p:sp>
      <p:grpSp>
        <p:nvGrpSpPr>
          <p:cNvPr id="72707" name="Group 19"/>
          <p:cNvGrpSpPr>
            <a:grpSpLocks/>
          </p:cNvGrpSpPr>
          <p:nvPr/>
        </p:nvGrpSpPr>
        <p:grpSpPr bwMode="auto">
          <a:xfrm>
            <a:off x="1600200" y="2652713"/>
            <a:ext cx="6562725" cy="1000125"/>
            <a:chOff x="1008" y="1671"/>
            <a:chExt cx="4134" cy="630"/>
          </a:xfrm>
        </p:grpSpPr>
        <p:sp>
          <p:nvSpPr>
            <p:cNvPr id="72709" name="Rectangle 8"/>
            <p:cNvSpPr>
              <a:spLocks noChangeArrowheads="1"/>
            </p:cNvSpPr>
            <p:nvPr/>
          </p:nvSpPr>
          <p:spPr bwMode="auto">
            <a:xfrm>
              <a:off x="1008" y="1671"/>
              <a:ext cx="864"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   NI   </a:t>
              </a:r>
              <a:endParaRPr lang="en-US" sz="3200" dirty="0">
                <a:latin typeface="Tahoma" pitchFamily="34" charset="0"/>
              </a:endParaRPr>
            </a:p>
            <a:p>
              <a:pPr algn="ctr" eaLnBrk="0" hangingPunct="0">
                <a:lnSpc>
                  <a:spcPct val="85000"/>
                </a:lnSpc>
              </a:pPr>
              <a:r>
                <a:rPr lang="en-US" sz="3200" dirty="0">
                  <a:latin typeface="Tahoma" pitchFamily="34" charset="0"/>
                </a:rPr>
                <a:t>Sales</a:t>
              </a:r>
            </a:p>
          </p:txBody>
        </p:sp>
        <p:sp>
          <p:nvSpPr>
            <p:cNvPr id="72710" name="Rectangle 9"/>
            <p:cNvSpPr>
              <a:spLocks noChangeArrowheads="1"/>
            </p:cNvSpPr>
            <p:nvPr/>
          </p:nvSpPr>
          <p:spPr bwMode="auto">
            <a:xfrm>
              <a:off x="2112" y="1671"/>
              <a:ext cx="727"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Sales</a:t>
              </a:r>
              <a:endParaRPr lang="en-US" sz="3200" dirty="0">
                <a:latin typeface="Tahoma" pitchFamily="34" charset="0"/>
              </a:endParaRPr>
            </a:p>
            <a:p>
              <a:pPr algn="ctr" eaLnBrk="0" hangingPunct="0">
                <a:lnSpc>
                  <a:spcPct val="85000"/>
                </a:lnSpc>
              </a:pPr>
              <a:r>
                <a:rPr lang="en-US" sz="3200" dirty="0">
                  <a:latin typeface="Tahoma" pitchFamily="34" charset="0"/>
                </a:rPr>
                <a:t>TA</a:t>
              </a:r>
            </a:p>
          </p:txBody>
        </p:sp>
        <p:sp>
          <p:nvSpPr>
            <p:cNvPr id="72711" name="Rectangle 10"/>
            <p:cNvSpPr>
              <a:spLocks noChangeArrowheads="1"/>
            </p:cNvSpPr>
            <p:nvPr/>
          </p:nvSpPr>
          <p:spPr bwMode="auto">
            <a:xfrm>
              <a:off x="3141" y="1671"/>
              <a:ext cx="603" cy="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algn="ctr" eaLnBrk="0" hangingPunct="0"/>
              <a:r>
                <a:rPr lang="en-US" sz="3200" u="sng" dirty="0">
                  <a:latin typeface="Tahoma" pitchFamily="34" charset="0"/>
                </a:rPr>
                <a:t> TA </a:t>
              </a:r>
              <a:endParaRPr lang="en-US" sz="3200" dirty="0">
                <a:latin typeface="Tahoma" pitchFamily="34" charset="0"/>
              </a:endParaRPr>
            </a:p>
            <a:p>
              <a:pPr algn="ctr" eaLnBrk="0" hangingPunct="0">
                <a:lnSpc>
                  <a:spcPct val="85000"/>
                </a:lnSpc>
              </a:pPr>
              <a:r>
                <a:rPr lang="en-US" sz="3200" dirty="0">
                  <a:latin typeface="Tahoma" pitchFamily="34" charset="0"/>
                </a:rPr>
                <a:t>CE</a:t>
              </a:r>
            </a:p>
          </p:txBody>
        </p:sp>
        <p:sp>
          <p:nvSpPr>
            <p:cNvPr id="72712" name="Rectangle 13"/>
            <p:cNvSpPr>
              <a:spLocks noChangeArrowheads="1"/>
            </p:cNvSpPr>
            <p:nvPr/>
          </p:nvSpPr>
          <p:spPr bwMode="auto">
            <a:xfrm>
              <a:off x="1872" y="1810"/>
              <a:ext cx="1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hangingPunct="0"/>
              <a:r>
                <a:rPr lang="en-US" sz="3200" dirty="0">
                  <a:latin typeface="Tahoma" pitchFamily="34" charset="0"/>
                </a:rPr>
                <a:t>x</a:t>
              </a:r>
            </a:p>
          </p:txBody>
        </p:sp>
        <p:sp>
          <p:nvSpPr>
            <p:cNvPr id="72713" name="Rectangle 14"/>
            <p:cNvSpPr>
              <a:spLocks noChangeArrowheads="1"/>
            </p:cNvSpPr>
            <p:nvPr/>
          </p:nvSpPr>
          <p:spPr bwMode="auto">
            <a:xfrm>
              <a:off x="2898" y="1810"/>
              <a:ext cx="24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p>
              <a:pPr eaLnBrk="0" hangingPunct="0"/>
              <a:r>
                <a:rPr lang="en-US" sz="3200">
                  <a:latin typeface="Tahoma" pitchFamily="34" charset="0"/>
                </a:rPr>
                <a:t>x</a:t>
              </a:r>
            </a:p>
          </p:txBody>
        </p:sp>
        <p:sp>
          <p:nvSpPr>
            <p:cNvPr id="72714" name="Rectangle 15"/>
            <p:cNvSpPr>
              <a:spLocks noChangeArrowheads="1"/>
            </p:cNvSpPr>
            <p:nvPr/>
          </p:nvSpPr>
          <p:spPr bwMode="auto">
            <a:xfrm>
              <a:off x="3840" y="1787"/>
              <a:ext cx="130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p>
              <a:pPr eaLnBrk="0" hangingPunct="0"/>
              <a:r>
                <a:rPr lang="en-US" sz="3200" dirty="0">
                  <a:latin typeface="Tahoma" pitchFamily="34" charset="0"/>
                </a:rPr>
                <a:t>= ROE</a:t>
              </a:r>
            </a:p>
          </p:txBody>
        </p:sp>
      </p:grpSp>
      <p:sp>
        <p:nvSpPr>
          <p:cNvPr id="72708" name="Rectangle 18"/>
          <p:cNvSpPr>
            <a:spLocks noGrp="1" noChangeArrowheads="1"/>
          </p:cNvSpPr>
          <p:nvPr>
            <p:ph type="title"/>
          </p:nvPr>
        </p:nvSpPr>
        <p:spPr/>
        <p:txBody>
          <a:bodyPr/>
          <a:lstStyle/>
          <a:p>
            <a:pPr eaLnBrk="1" hangingPunct="1"/>
            <a:r>
              <a:rPr lang="en-US"/>
              <a:t>The Du Pont System</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lide Number Placeholder 5"/>
          <p:cNvSpPr>
            <a:spLocks noGrp="1"/>
          </p:cNvSpPr>
          <p:nvPr>
            <p:ph type="sldNum" sz="quarter" idx="12"/>
          </p:nvPr>
        </p:nvSpPr>
        <p:spPr/>
        <p:txBody>
          <a:bodyPr/>
          <a:lstStyle/>
          <a:p>
            <a:pPr>
              <a:defRPr/>
            </a:pPr>
            <a:fld id="{57A72A3B-060F-4CF1-A6B3-15AB400D2CD7}" type="slidenum">
              <a:rPr lang="en-US"/>
              <a:pPr>
                <a:defRPr/>
              </a:pPr>
              <a:t>56</a:t>
            </a:fld>
            <a:endParaRPr lang="en-US"/>
          </a:p>
        </p:txBody>
      </p:sp>
      <p:sp>
        <p:nvSpPr>
          <p:cNvPr id="60418" name="Rectangle 171"/>
          <p:cNvSpPr>
            <a:spLocks noGrp="1" noChangeArrowheads="1"/>
          </p:cNvSpPr>
          <p:nvPr>
            <p:ph type="title"/>
          </p:nvPr>
        </p:nvSpPr>
        <p:spPr/>
        <p:txBody>
          <a:bodyPr/>
          <a:lstStyle/>
          <a:p>
            <a:pPr eaLnBrk="1" hangingPunct="1"/>
            <a:r>
              <a:rPr lang="en-US" sz="4000"/>
              <a:t>Common Size Balance Sheets:</a:t>
            </a:r>
            <a:br>
              <a:rPr lang="en-US" sz="4000"/>
            </a:br>
            <a:r>
              <a:rPr lang="en-US" sz="4000"/>
              <a:t>Divide all items by Total Assets</a:t>
            </a:r>
          </a:p>
        </p:txBody>
      </p:sp>
      <p:graphicFrame>
        <p:nvGraphicFramePr>
          <p:cNvPr id="409775" name="Group 175"/>
          <p:cNvGraphicFramePr>
            <a:graphicFrameLocks noGrp="1"/>
          </p:cNvGraphicFramePr>
          <p:nvPr>
            <p:ph type="tbl" idx="1"/>
          </p:nvPr>
        </p:nvGraphicFramePr>
        <p:xfrm>
          <a:off x="1182688" y="2017713"/>
          <a:ext cx="7772400" cy="4145024"/>
        </p:xfrm>
        <a:graphic>
          <a:graphicData uri="http://schemas.openxmlformats.org/drawingml/2006/table">
            <a:tbl>
              <a:tblPr/>
              <a:tblGrid>
                <a:gridCol w="1554162">
                  <a:extLst>
                    <a:ext uri="{9D8B030D-6E8A-4147-A177-3AD203B41FA5}">
                      <a16:colId xmlns:a16="http://schemas.microsoft.com/office/drawing/2014/main" val="20000"/>
                    </a:ext>
                  </a:extLst>
                </a:gridCol>
                <a:gridCol w="1530350">
                  <a:extLst>
                    <a:ext uri="{9D8B030D-6E8A-4147-A177-3AD203B41FA5}">
                      <a16:colId xmlns:a16="http://schemas.microsoft.com/office/drawing/2014/main" val="20001"/>
                    </a:ext>
                  </a:extLst>
                </a:gridCol>
                <a:gridCol w="1579563">
                  <a:extLst>
                    <a:ext uri="{9D8B030D-6E8A-4147-A177-3AD203B41FA5}">
                      <a16:colId xmlns:a16="http://schemas.microsoft.com/office/drawing/2014/main" val="20002"/>
                    </a:ext>
                  </a:extLst>
                </a:gridCol>
                <a:gridCol w="1554162">
                  <a:extLst>
                    <a:ext uri="{9D8B030D-6E8A-4147-A177-3AD203B41FA5}">
                      <a16:colId xmlns:a16="http://schemas.microsoft.com/office/drawing/2014/main" val="20003"/>
                    </a:ext>
                  </a:extLst>
                </a:gridCol>
                <a:gridCol w="1554163">
                  <a:extLst>
                    <a:ext uri="{9D8B030D-6E8A-4147-A177-3AD203B41FA5}">
                      <a16:colId xmlns:a16="http://schemas.microsoft.com/office/drawing/2014/main" val="20004"/>
                    </a:ext>
                  </a:extLst>
                </a:gridCol>
              </a:tblGrid>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1" u="sng" strike="noStrike" cap="none" normalizeH="0" baseline="0" dirty="0">
                          <a:ln>
                            <a:noFill/>
                          </a:ln>
                          <a:solidFill>
                            <a:schemeClr val="tx1"/>
                          </a:solidFill>
                          <a:effectLst/>
                          <a:latin typeface="Tahoma" pitchFamily="34" charset="0"/>
                        </a:rPr>
                        <a:t>Assets</a:t>
                      </a:r>
                    </a:p>
                  </a:txBody>
                  <a:tcPr marT="45716" marB="45716"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20x0</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20x2Est</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Ind.</a:t>
                      </a:r>
                    </a:p>
                  </a:txBody>
                  <a:tcPr marT="45716" marB="45716"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Cash</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0.6%</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0.3%</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0.4%</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0.3%</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ST Inv.</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3.3%</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0.7%</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2.0%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0.3%</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AR</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23.9%</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21.9%</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25.0%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22.4%</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Invent.</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sng" strike="noStrike" cap="none" normalizeH="0" baseline="0">
                          <a:ln>
                            <a:noFill/>
                          </a:ln>
                          <a:solidFill>
                            <a:schemeClr val="tx1"/>
                          </a:solidFill>
                          <a:effectLst/>
                          <a:latin typeface="Tahoma" pitchFamily="34" charset="0"/>
                        </a:rPr>
                        <a:t>48.7%</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sng" strike="noStrike" cap="none" normalizeH="0" baseline="0">
                          <a:ln>
                            <a:noFill/>
                          </a:ln>
                          <a:solidFill>
                            <a:schemeClr val="tx1"/>
                          </a:solidFill>
                          <a:effectLst/>
                          <a:latin typeface="Tahoma" pitchFamily="34" charset="0"/>
                        </a:rPr>
                        <a:t>44.6%</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sng" strike="noStrike" cap="none" normalizeH="0" baseline="0">
                          <a:ln>
                            <a:noFill/>
                          </a:ln>
                          <a:solidFill>
                            <a:schemeClr val="tx1"/>
                          </a:solidFill>
                          <a:effectLst/>
                          <a:latin typeface="Tahoma" pitchFamily="34" charset="0"/>
                        </a:rPr>
                        <a:t>48.8%</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sng" strike="noStrike" cap="none" normalizeH="0" baseline="0">
                          <a:ln>
                            <a:noFill/>
                          </a:ln>
                          <a:solidFill>
                            <a:schemeClr val="tx1"/>
                          </a:solidFill>
                          <a:effectLst/>
                          <a:latin typeface="Tahoma" pitchFamily="34" charset="0"/>
                        </a:rPr>
                        <a:t>41.2%</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Total CA</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76.5%</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67.4%</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76.2%</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64.1%</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a:ln>
                            <a:noFill/>
                          </a:ln>
                          <a:solidFill>
                            <a:schemeClr val="tx1"/>
                          </a:solidFill>
                          <a:effectLst/>
                          <a:latin typeface="Tahoma" pitchFamily="34" charset="0"/>
                        </a:rPr>
                        <a:t>Net FA</a:t>
                      </a:r>
                    </a:p>
                  </a:txBody>
                  <a:tcPr marT="45716" marB="45716"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23.5%</a:t>
                      </a:r>
                    </a:p>
                  </a:txBody>
                  <a:tcPr marT="45716" marB="4571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32.6%</a:t>
                      </a:r>
                    </a:p>
                  </a:txBody>
                  <a:tcPr marT="45716" marB="4571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23.8%</a:t>
                      </a:r>
                    </a:p>
                  </a:txBody>
                  <a:tcPr marT="45716" marB="4571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35.9%</a:t>
                      </a:r>
                    </a:p>
                  </a:txBody>
                  <a:tcPr marT="45716" marB="45716"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TA</a:t>
                      </a:r>
                    </a:p>
                  </a:txBody>
                  <a:tcPr marT="45716" marB="45716"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100.0%</a:t>
                      </a:r>
                    </a:p>
                  </a:txBody>
                  <a:tcPr marT="45716" marB="4571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100.0%</a:t>
                      </a:r>
                    </a:p>
                  </a:txBody>
                  <a:tcPr marT="45716" marB="4571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100.0%</a:t>
                      </a:r>
                    </a:p>
                  </a:txBody>
                  <a:tcPr marT="45716" marB="4571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600" b="0" i="0" u="none" strike="noStrike" cap="none" normalizeH="0" baseline="0" dirty="0">
                          <a:ln>
                            <a:noFill/>
                          </a:ln>
                          <a:solidFill>
                            <a:schemeClr val="tx1"/>
                          </a:solidFill>
                          <a:effectLst/>
                          <a:latin typeface="Tahoma" pitchFamily="34" charset="0"/>
                        </a:rPr>
                        <a:t>100.0%</a:t>
                      </a:r>
                    </a:p>
                  </a:txBody>
                  <a:tcPr marT="45716" marB="45716"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241439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lide Number Placeholder 5"/>
          <p:cNvSpPr>
            <a:spLocks noGrp="1"/>
          </p:cNvSpPr>
          <p:nvPr>
            <p:ph type="sldNum" sz="quarter" idx="12"/>
          </p:nvPr>
        </p:nvSpPr>
        <p:spPr/>
        <p:txBody>
          <a:bodyPr/>
          <a:lstStyle/>
          <a:p>
            <a:pPr>
              <a:defRPr/>
            </a:pPr>
            <a:fld id="{BE0B34DA-381C-4F29-BCB5-CFE750A90F7F}" type="slidenum">
              <a:rPr lang="en-US"/>
              <a:pPr>
                <a:defRPr/>
              </a:pPr>
              <a:t>57</a:t>
            </a:fld>
            <a:endParaRPr lang="en-US"/>
          </a:p>
        </p:txBody>
      </p:sp>
      <p:sp>
        <p:nvSpPr>
          <p:cNvPr id="61442" name="Rectangle 99"/>
          <p:cNvSpPr>
            <a:spLocks noGrp="1" noChangeArrowheads="1"/>
          </p:cNvSpPr>
          <p:nvPr>
            <p:ph type="title"/>
          </p:nvPr>
        </p:nvSpPr>
        <p:spPr/>
        <p:txBody>
          <a:bodyPr/>
          <a:lstStyle/>
          <a:p>
            <a:pPr eaLnBrk="1" hangingPunct="1"/>
            <a:r>
              <a:rPr lang="en-US"/>
              <a:t>Divide all items by Total Liabilities &amp; Equity</a:t>
            </a:r>
          </a:p>
        </p:txBody>
      </p:sp>
      <p:graphicFrame>
        <p:nvGraphicFramePr>
          <p:cNvPr id="417894" name="Group 102"/>
          <p:cNvGraphicFramePr>
            <a:graphicFrameLocks noGrp="1"/>
          </p:cNvGraphicFramePr>
          <p:nvPr>
            <p:ph type="tbl" idx="1"/>
          </p:nvPr>
        </p:nvGraphicFramePr>
        <p:xfrm>
          <a:off x="457199" y="2017713"/>
          <a:ext cx="8497889" cy="4572000"/>
        </p:xfrm>
        <a:graphic>
          <a:graphicData uri="http://schemas.openxmlformats.org/drawingml/2006/table">
            <a:tbl>
              <a:tblPr/>
              <a:tblGrid>
                <a:gridCol w="2020331">
                  <a:extLst>
                    <a:ext uri="{9D8B030D-6E8A-4147-A177-3AD203B41FA5}">
                      <a16:colId xmlns:a16="http://schemas.microsoft.com/office/drawing/2014/main" val="20000"/>
                    </a:ext>
                  </a:extLst>
                </a:gridCol>
                <a:gridCol w="1602032">
                  <a:extLst>
                    <a:ext uri="{9D8B030D-6E8A-4147-A177-3AD203B41FA5}">
                      <a16:colId xmlns:a16="http://schemas.microsoft.com/office/drawing/2014/main" val="20001"/>
                    </a:ext>
                  </a:extLst>
                </a:gridCol>
                <a:gridCol w="1582940">
                  <a:extLst>
                    <a:ext uri="{9D8B030D-6E8A-4147-A177-3AD203B41FA5}">
                      <a16:colId xmlns:a16="http://schemas.microsoft.com/office/drawing/2014/main" val="20002"/>
                    </a:ext>
                  </a:extLst>
                </a:gridCol>
                <a:gridCol w="1593355">
                  <a:extLst>
                    <a:ext uri="{9D8B030D-6E8A-4147-A177-3AD203B41FA5}">
                      <a16:colId xmlns:a16="http://schemas.microsoft.com/office/drawing/2014/main" val="20003"/>
                    </a:ext>
                  </a:extLst>
                </a:gridCol>
                <a:gridCol w="1699231">
                  <a:extLst>
                    <a:ext uri="{9D8B030D-6E8A-4147-A177-3AD203B41FA5}">
                      <a16:colId xmlns:a16="http://schemas.microsoft.com/office/drawing/2014/main" val="20004"/>
                    </a:ext>
                  </a:extLst>
                </a:gridCol>
              </a:tblGrid>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1" u="sng" strike="noStrike" cap="none" normalizeH="0" baseline="0" dirty="0">
                          <a:ln>
                            <a:noFill/>
                          </a:ln>
                          <a:solidFill>
                            <a:schemeClr val="tx1"/>
                          </a:solidFill>
                          <a:effectLst/>
                          <a:latin typeface="Tahoma" pitchFamily="34" charset="0"/>
                        </a:rPr>
                        <a:t>Assets</a:t>
                      </a:r>
                    </a:p>
                  </a:txBody>
                  <a:tcPr marT="50426" marB="50426"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20x0</a:t>
                      </a:r>
                    </a:p>
                  </a:txBody>
                  <a:tcPr marT="50426" marB="5042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50426" marB="5042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20x2Est</a:t>
                      </a:r>
                    </a:p>
                  </a:txBody>
                  <a:tcPr marT="50426" marB="5042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Ind.</a:t>
                      </a:r>
                    </a:p>
                  </a:txBody>
                  <a:tcPr marT="50426" marB="50426"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AP</a:t>
                      </a:r>
                    </a:p>
                  </a:txBody>
                  <a:tcPr marT="50426" marB="5042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9.9%</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11.2%</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10.2%</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11.9%</a:t>
                      </a:r>
                    </a:p>
                  </a:txBody>
                  <a:tcPr marT="50426" marB="5042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Notes pay.</a:t>
                      </a:r>
                    </a:p>
                  </a:txBody>
                  <a:tcPr marT="50426" marB="5042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13.6%</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24.9%</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8.5%</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2.4%</a:t>
                      </a:r>
                    </a:p>
                  </a:txBody>
                  <a:tcPr marT="50426" marB="5042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Accruals</a:t>
                      </a:r>
                    </a:p>
                  </a:txBody>
                  <a:tcPr marT="50426" marB="5042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9.3%</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9.9%</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10.8%</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9.5%</a:t>
                      </a:r>
                    </a:p>
                  </a:txBody>
                  <a:tcPr marT="50426" marB="5042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Total CL</a:t>
                      </a:r>
                    </a:p>
                  </a:txBody>
                  <a:tcPr marT="50426" marB="5042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32.8%</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46.0%</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29.6%</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23.7%</a:t>
                      </a:r>
                    </a:p>
                  </a:txBody>
                  <a:tcPr marT="50426" marB="5042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LT Debt</a:t>
                      </a:r>
                    </a:p>
                  </a:txBody>
                  <a:tcPr marT="50426" marB="5042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22.0%</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34.6%</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14.2%</a:t>
                      </a:r>
                    </a:p>
                  </a:txBody>
                  <a:tcPr marT="50426" marB="5042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26.3%</a:t>
                      </a:r>
                    </a:p>
                  </a:txBody>
                  <a:tcPr marT="50426" marB="5042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eq.</a:t>
                      </a:r>
                    </a:p>
                  </a:txBody>
                  <a:tcPr marT="50426" marB="50426"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45.2%</a:t>
                      </a:r>
                    </a:p>
                  </a:txBody>
                  <a:tcPr marT="50426" marB="5042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19.3%</a:t>
                      </a:r>
                    </a:p>
                  </a:txBody>
                  <a:tcPr marT="50426" marB="5042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56.2%</a:t>
                      </a:r>
                    </a:p>
                  </a:txBody>
                  <a:tcPr marT="50426" marB="50426"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50.0%</a:t>
                      </a:r>
                    </a:p>
                  </a:txBody>
                  <a:tcPr marT="50426" marB="50426"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715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L&amp;E</a:t>
                      </a:r>
                    </a:p>
                  </a:txBody>
                  <a:tcPr marT="50426" marB="50426" horzOverflow="overflow">
                    <a:lnL cap="flat">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100.0%</a:t>
                      </a:r>
                    </a:p>
                  </a:txBody>
                  <a:tcPr marT="50426" marB="5042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100.0%</a:t>
                      </a:r>
                    </a:p>
                  </a:txBody>
                  <a:tcPr marT="50426" marB="5042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100.0%</a:t>
                      </a:r>
                    </a:p>
                  </a:txBody>
                  <a:tcPr marT="50426" marB="50426" horzOverflow="overflow">
                    <a:lnL>
                      <a:noFill/>
                    </a:lnL>
                    <a:lnR>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100.0%</a:t>
                      </a:r>
                    </a:p>
                  </a:txBody>
                  <a:tcPr marT="50426" marB="50426" horzOverflow="overflow">
                    <a:lnL>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792546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6753F95-4184-43FA-BCA4-D0E3C6C3E67D}" type="slidenum">
              <a:rPr lang="en-US"/>
              <a:pPr>
                <a:defRPr/>
              </a:pPr>
              <a:t>58</a:t>
            </a:fld>
            <a:endParaRPr lang="en-US"/>
          </a:p>
        </p:txBody>
      </p:sp>
      <p:sp>
        <p:nvSpPr>
          <p:cNvPr id="62466" name="Rectangle 2052"/>
          <p:cNvSpPr>
            <a:spLocks noGrp="1" noChangeArrowheads="1"/>
          </p:cNvSpPr>
          <p:nvPr>
            <p:ph type="title"/>
          </p:nvPr>
        </p:nvSpPr>
        <p:spPr/>
        <p:txBody>
          <a:bodyPr>
            <a:normAutofit fontScale="90000"/>
          </a:bodyPr>
          <a:lstStyle/>
          <a:p>
            <a:pPr eaLnBrk="1" hangingPunct="1"/>
            <a:r>
              <a:rPr lang="en-US"/>
              <a:t>Analysis of Common Size Balance Sheets</a:t>
            </a:r>
          </a:p>
        </p:txBody>
      </p:sp>
      <p:sp>
        <p:nvSpPr>
          <p:cNvPr id="62467" name="Rectangle 2053"/>
          <p:cNvSpPr>
            <a:spLocks noGrp="1" noChangeArrowheads="1"/>
          </p:cNvSpPr>
          <p:nvPr>
            <p:ph type="body" idx="1"/>
          </p:nvPr>
        </p:nvSpPr>
        <p:spPr/>
        <p:txBody>
          <a:bodyPr/>
          <a:lstStyle/>
          <a:p>
            <a:pPr eaLnBrk="1" hangingPunct="1">
              <a:lnSpc>
                <a:spcPct val="90000"/>
              </a:lnSpc>
            </a:pPr>
            <a:r>
              <a:rPr lang="en-US" dirty="0" err="1"/>
              <a:t>Computron</a:t>
            </a:r>
            <a:r>
              <a:rPr lang="en-US" dirty="0"/>
              <a:t> has higher proportion of inventory and current assets than Industry.</a:t>
            </a:r>
          </a:p>
          <a:p>
            <a:pPr eaLnBrk="1" hangingPunct="1">
              <a:lnSpc>
                <a:spcPct val="90000"/>
              </a:lnSpc>
            </a:pPr>
            <a:r>
              <a:rPr lang="en-US" dirty="0" err="1"/>
              <a:t>Computron</a:t>
            </a:r>
            <a:r>
              <a:rPr lang="en-US" dirty="0"/>
              <a:t> now has more equity (which means LESS debt) than Industry.</a:t>
            </a:r>
          </a:p>
          <a:p>
            <a:pPr eaLnBrk="1" hangingPunct="1">
              <a:lnSpc>
                <a:spcPct val="90000"/>
              </a:lnSpc>
            </a:pPr>
            <a:r>
              <a:rPr lang="en-US" dirty="0" err="1"/>
              <a:t>Computron</a:t>
            </a:r>
            <a:r>
              <a:rPr lang="en-US" dirty="0"/>
              <a:t>: more short-term debt, but less long-term debt than industry.</a:t>
            </a:r>
          </a:p>
        </p:txBody>
      </p:sp>
    </p:spTree>
    <p:extLst>
      <p:ext uri="{BB962C8B-B14F-4D97-AF65-F5344CB8AC3E}">
        <p14:creationId xmlns:p14="http://schemas.microsoft.com/office/powerpoint/2010/main" val="8165162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Slide Number Placeholder 5"/>
          <p:cNvSpPr>
            <a:spLocks noGrp="1"/>
          </p:cNvSpPr>
          <p:nvPr>
            <p:ph type="sldNum" sz="quarter" idx="12"/>
          </p:nvPr>
        </p:nvSpPr>
        <p:spPr/>
        <p:txBody>
          <a:bodyPr/>
          <a:lstStyle/>
          <a:p>
            <a:pPr>
              <a:defRPr/>
            </a:pPr>
            <a:fld id="{FB544179-978E-4F32-88AE-BDA9166003F0}" type="slidenum">
              <a:rPr lang="en-US"/>
              <a:pPr>
                <a:defRPr/>
              </a:pPr>
              <a:t>59</a:t>
            </a:fld>
            <a:endParaRPr lang="en-US"/>
          </a:p>
        </p:txBody>
      </p:sp>
      <p:sp>
        <p:nvSpPr>
          <p:cNvPr id="63490" name="Rectangle 189"/>
          <p:cNvSpPr>
            <a:spLocks noGrp="1" noChangeArrowheads="1"/>
          </p:cNvSpPr>
          <p:nvPr>
            <p:ph type="title"/>
          </p:nvPr>
        </p:nvSpPr>
        <p:spPr/>
        <p:txBody>
          <a:bodyPr/>
          <a:lstStyle/>
          <a:p>
            <a:pPr eaLnBrk="1" hangingPunct="1"/>
            <a:r>
              <a:rPr lang="en-US" sz="4000"/>
              <a:t>Common Size Income Statement:</a:t>
            </a:r>
            <a:br>
              <a:rPr lang="en-US" sz="4000"/>
            </a:br>
            <a:r>
              <a:rPr lang="en-US" sz="4000"/>
              <a:t>Divide all items by Sales</a:t>
            </a:r>
          </a:p>
        </p:txBody>
      </p:sp>
      <p:graphicFrame>
        <p:nvGraphicFramePr>
          <p:cNvPr id="419008" name="Group 192"/>
          <p:cNvGraphicFramePr>
            <a:graphicFrameLocks noGrp="1"/>
          </p:cNvGraphicFramePr>
          <p:nvPr>
            <p:ph type="tbl" idx="1"/>
          </p:nvPr>
        </p:nvGraphicFramePr>
        <p:xfrm>
          <a:off x="1182688" y="2017713"/>
          <a:ext cx="7772400" cy="4572000"/>
        </p:xfrm>
        <a:graphic>
          <a:graphicData uri="http://schemas.openxmlformats.org/drawingml/2006/table">
            <a:tbl>
              <a:tblPr/>
              <a:tblGrid>
                <a:gridCol w="1712912">
                  <a:extLst>
                    <a:ext uri="{9D8B030D-6E8A-4147-A177-3AD203B41FA5}">
                      <a16:colId xmlns:a16="http://schemas.microsoft.com/office/drawing/2014/main" val="20000"/>
                    </a:ext>
                  </a:extLst>
                </a:gridCol>
                <a:gridCol w="1395413">
                  <a:extLst>
                    <a:ext uri="{9D8B030D-6E8A-4147-A177-3AD203B41FA5}">
                      <a16:colId xmlns:a16="http://schemas.microsoft.com/office/drawing/2014/main" val="20001"/>
                    </a:ext>
                  </a:extLst>
                </a:gridCol>
                <a:gridCol w="1555750">
                  <a:extLst>
                    <a:ext uri="{9D8B030D-6E8A-4147-A177-3AD203B41FA5}">
                      <a16:colId xmlns:a16="http://schemas.microsoft.com/office/drawing/2014/main" val="20002"/>
                    </a:ext>
                  </a:extLst>
                </a:gridCol>
                <a:gridCol w="1554162">
                  <a:extLst>
                    <a:ext uri="{9D8B030D-6E8A-4147-A177-3AD203B41FA5}">
                      <a16:colId xmlns:a16="http://schemas.microsoft.com/office/drawing/2014/main" val="20003"/>
                    </a:ext>
                  </a:extLst>
                </a:gridCol>
                <a:gridCol w="1554163">
                  <a:extLst>
                    <a:ext uri="{9D8B030D-6E8A-4147-A177-3AD203B41FA5}">
                      <a16:colId xmlns:a16="http://schemas.microsoft.com/office/drawing/2014/main" val="20004"/>
                    </a:ext>
                  </a:extLst>
                </a:gridCol>
              </a:tblGrid>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400" b="0" i="0" u="none" strike="noStrike" cap="none" normalizeH="0" baseline="0" dirty="0">
                        <a:ln>
                          <a:noFill/>
                        </a:ln>
                        <a:solidFill>
                          <a:schemeClr val="tx1"/>
                        </a:solidFill>
                        <a:effectLst/>
                        <a:latin typeface="Tahoma" pitchFamily="34"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20x0</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20x1</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20x2Est</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Ind.</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Sales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100.0%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COGS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83.4%</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85.4%</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82.4%</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84.5%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Other exp.</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9.9%</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12.3%</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8.7%</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4.4%</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Depr.</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0.6%</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1.7%</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4.0%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EBIT</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6.1%</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0.3%</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7.1%</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7.1%</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Int. Exp.</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1.8%</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3.0%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1.1%</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1.1%</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EBT</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4.3%</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-2.7%</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6.0%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5.9%</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Taxes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1.7%</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-1.1%</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2.4%</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2.4%</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NI</a:t>
                      </a:r>
                    </a:p>
                  </a:txBody>
                  <a:tcPr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2.6%</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-1.6%</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3.6%</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3.6%</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859218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BD72CAD9-B900-4CEB-8A2F-1486B67FFC53}" type="slidenum">
              <a:rPr lang="en-US"/>
              <a:pPr>
                <a:defRPr/>
              </a:pPr>
              <a:t>60</a:t>
            </a:fld>
            <a:endParaRPr lang="en-US"/>
          </a:p>
        </p:txBody>
      </p:sp>
      <p:sp>
        <p:nvSpPr>
          <p:cNvPr id="64514" name="Rectangle 4"/>
          <p:cNvSpPr>
            <a:spLocks noGrp="1" noChangeArrowheads="1"/>
          </p:cNvSpPr>
          <p:nvPr>
            <p:ph type="title"/>
          </p:nvPr>
        </p:nvSpPr>
        <p:spPr/>
        <p:txBody>
          <a:bodyPr>
            <a:normAutofit fontScale="90000"/>
          </a:bodyPr>
          <a:lstStyle/>
          <a:p>
            <a:pPr eaLnBrk="1" hangingPunct="1"/>
            <a:r>
              <a:rPr lang="en-US"/>
              <a:t>Analysis of Common Size Income Statements</a:t>
            </a:r>
          </a:p>
        </p:txBody>
      </p:sp>
      <p:sp>
        <p:nvSpPr>
          <p:cNvPr id="64515" name="Rectangle 5"/>
          <p:cNvSpPr>
            <a:spLocks noGrp="1" noChangeArrowheads="1"/>
          </p:cNvSpPr>
          <p:nvPr>
            <p:ph type="body" idx="1"/>
          </p:nvPr>
        </p:nvSpPr>
        <p:spPr/>
        <p:txBody>
          <a:bodyPr/>
          <a:lstStyle/>
          <a:p>
            <a:pPr eaLnBrk="1" hangingPunct="1"/>
            <a:r>
              <a:rPr lang="en-US" dirty="0" err="1"/>
              <a:t>Computron</a:t>
            </a:r>
            <a:r>
              <a:rPr lang="en-US" dirty="0"/>
              <a:t> COGS (86.7) lower than industry (84.5), but higher other expenses.  </a:t>
            </a:r>
          </a:p>
          <a:p>
            <a:pPr eaLnBrk="1" hangingPunct="1"/>
            <a:r>
              <a:rPr lang="en-US" dirty="0"/>
              <a:t>Result: </a:t>
            </a:r>
            <a:r>
              <a:rPr lang="en-US" dirty="0" err="1"/>
              <a:t>Computron</a:t>
            </a:r>
            <a:r>
              <a:rPr lang="en-US" dirty="0"/>
              <a:t> EBIT (7.1) similar to industry.</a:t>
            </a:r>
          </a:p>
        </p:txBody>
      </p:sp>
    </p:spTree>
    <p:extLst>
      <p:ext uri="{BB962C8B-B14F-4D97-AF65-F5344CB8AC3E}">
        <p14:creationId xmlns:p14="http://schemas.microsoft.com/office/powerpoint/2010/main" val="36051943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lide Number Placeholder 5"/>
          <p:cNvSpPr>
            <a:spLocks noGrp="1"/>
          </p:cNvSpPr>
          <p:nvPr>
            <p:ph type="sldNum" sz="quarter" idx="12"/>
          </p:nvPr>
        </p:nvSpPr>
        <p:spPr/>
        <p:txBody>
          <a:bodyPr/>
          <a:lstStyle/>
          <a:p>
            <a:pPr>
              <a:defRPr/>
            </a:pPr>
            <a:fld id="{0D5D401C-411A-46AA-B193-0C916EC68F15}" type="slidenum">
              <a:rPr lang="en-US"/>
              <a:pPr>
                <a:defRPr/>
              </a:pPr>
              <a:t>61</a:t>
            </a:fld>
            <a:endParaRPr lang="en-US"/>
          </a:p>
        </p:txBody>
      </p:sp>
      <p:sp>
        <p:nvSpPr>
          <p:cNvPr id="65538" name="Rectangle 158"/>
          <p:cNvSpPr>
            <a:spLocks noGrp="1" noChangeArrowheads="1"/>
          </p:cNvSpPr>
          <p:nvPr>
            <p:ph type="title"/>
          </p:nvPr>
        </p:nvSpPr>
        <p:spPr/>
        <p:txBody>
          <a:bodyPr/>
          <a:lstStyle/>
          <a:p>
            <a:pPr eaLnBrk="1" hangingPunct="1"/>
            <a:r>
              <a:rPr lang="en-US" sz="4000" dirty="0"/>
              <a:t>Percentage Change Analysis: % Change from First Year (20x0)</a:t>
            </a:r>
          </a:p>
        </p:txBody>
      </p:sp>
      <p:graphicFrame>
        <p:nvGraphicFramePr>
          <p:cNvPr id="421025" name="Group 161"/>
          <p:cNvGraphicFramePr>
            <a:graphicFrameLocks noGrp="1"/>
          </p:cNvGraphicFramePr>
          <p:nvPr>
            <p:ph type="tbl" idx="1"/>
          </p:nvPr>
        </p:nvGraphicFramePr>
        <p:xfrm>
          <a:off x="1182688" y="2017713"/>
          <a:ext cx="7772400" cy="4572000"/>
        </p:xfrm>
        <a:graphic>
          <a:graphicData uri="http://schemas.openxmlformats.org/drawingml/2006/table">
            <a:tbl>
              <a:tblPr/>
              <a:tblGrid>
                <a:gridCol w="1944687">
                  <a:extLst>
                    <a:ext uri="{9D8B030D-6E8A-4147-A177-3AD203B41FA5}">
                      <a16:colId xmlns:a16="http://schemas.microsoft.com/office/drawing/2014/main" val="20000"/>
                    </a:ext>
                  </a:extLst>
                </a:gridCol>
                <a:gridCol w="1941513">
                  <a:extLst>
                    <a:ext uri="{9D8B030D-6E8A-4147-A177-3AD203B41FA5}">
                      <a16:colId xmlns:a16="http://schemas.microsoft.com/office/drawing/2014/main" val="20001"/>
                    </a:ext>
                  </a:extLst>
                </a:gridCol>
                <a:gridCol w="1944687">
                  <a:extLst>
                    <a:ext uri="{9D8B030D-6E8A-4147-A177-3AD203B41FA5}">
                      <a16:colId xmlns:a16="http://schemas.microsoft.com/office/drawing/2014/main" val="20002"/>
                    </a:ext>
                  </a:extLst>
                </a:gridCol>
                <a:gridCol w="1941513">
                  <a:extLst>
                    <a:ext uri="{9D8B030D-6E8A-4147-A177-3AD203B41FA5}">
                      <a16:colId xmlns:a16="http://schemas.microsoft.com/office/drawing/2014/main" val="20003"/>
                    </a:ext>
                  </a:extLst>
                </a:gridCol>
              </a:tblGrid>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1" u="sng" strike="noStrike" cap="none" normalizeH="0" baseline="0" dirty="0">
                          <a:ln>
                            <a:noFill/>
                          </a:ln>
                          <a:solidFill>
                            <a:schemeClr val="tx1"/>
                          </a:solidFill>
                          <a:effectLst/>
                          <a:latin typeface="Tahoma" pitchFamily="34" charset="0"/>
                        </a:rPr>
                        <a:t>Income St.</a:t>
                      </a:r>
                    </a:p>
                  </a:txBody>
                  <a:tcPr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20x0</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20x1</a:t>
                      </a:r>
                    </a:p>
                  </a:txBody>
                  <a:tcPr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dirty="0">
                          <a:ln>
                            <a:noFill/>
                          </a:ln>
                          <a:solidFill>
                            <a:schemeClr val="tx1"/>
                          </a:solidFill>
                          <a:effectLst/>
                          <a:latin typeface="Tahoma" pitchFamily="34" charset="0"/>
                        </a:rPr>
                        <a:t>20x2Est</a:t>
                      </a: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Sales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105.0%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COGS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73.9%</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102.5%</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Other exp.</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111.8%</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80.3%</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Depr.</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518.8%</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534.9%</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EBIT</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-91.7%</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140.4%</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Int. Exp.</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181.6%</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28.0%</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   EBT</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-208.2%</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188.3%</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7"/>
                  </a:ext>
                </a:extLst>
              </a:tr>
              <a:tr h="37147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Taxes</a:t>
                      </a:r>
                    </a:p>
                  </a:txBody>
                  <a:tcPr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0.0%</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-208.2%</a:t>
                      </a:r>
                    </a:p>
                  </a:txBody>
                  <a:tcPr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sng" strike="noStrike" cap="none" normalizeH="0" baseline="0">
                          <a:ln>
                            <a:noFill/>
                          </a:ln>
                          <a:solidFill>
                            <a:schemeClr val="tx1"/>
                          </a:solidFill>
                          <a:effectLst/>
                          <a:latin typeface="Tahoma" pitchFamily="34" charset="0"/>
                        </a:rPr>
                        <a:t>188.3%</a:t>
                      </a:r>
                    </a:p>
                  </a:txBody>
                  <a:tcP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8"/>
                  </a:ext>
                </a:extLst>
              </a:tr>
              <a:tr h="37306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NI</a:t>
                      </a:r>
                    </a:p>
                  </a:txBody>
                  <a:tcPr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0.0%</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-208.2%</a:t>
                      </a:r>
                    </a:p>
                  </a:txBody>
                  <a:tcPr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a:ln>
                            <a:noFill/>
                          </a:ln>
                          <a:solidFill>
                            <a:schemeClr val="tx1"/>
                          </a:solidFill>
                          <a:effectLst/>
                          <a:latin typeface="Tahoma" pitchFamily="34" charset="0"/>
                        </a:rPr>
                        <a:t>188.3%</a:t>
                      </a: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797677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9745EE88-2345-4AB7-8F14-A5CB9AE7AD9D}" type="slidenum">
              <a:rPr lang="en-US"/>
              <a:pPr>
                <a:defRPr/>
              </a:pPr>
              <a:t>62</a:t>
            </a:fld>
            <a:endParaRPr lang="en-US"/>
          </a:p>
        </p:txBody>
      </p:sp>
      <p:sp>
        <p:nvSpPr>
          <p:cNvPr id="66562" name="Rectangle 2052"/>
          <p:cNvSpPr>
            <a:spLocks noGrp="1" noChangeArrowheads="1"/>
          </p:cNvSpPr>
          <p:nvPr>
            <p:ph type="title"/>
          </p:nvPr>
        </p:nvSpPr>
        <p:spPr/>
        <p:txBody>
          <a:bodyPr>
            <a:normAutofit fontScale="90000"/>
          </a:bodyPr>
          <a:lstStyle/>
          <a:p>
            <a:pPr eaLnBrk="1" hangingPunct="1"/>
            <a:r>
              <a:rPr lang="en-US"/>
              <a:t>Analysis of Percent Change Income Statement</a:t>
            </a:r>
          </a:p>
        </p:txBody>
      </p:sp>
      <p:sp>
        <p:nvSpPr>
          <p:cNvPr id="66563" name="Rectangle 2053"/>
          <p:cNvSpPr>
            <a:spLocks noGrp="1" noChangeArrowheads="1"/>
          </p:cNvSpPr>
          <p:nvPr>
            <p:ph type="body" idx="1"/>
          </p:nvPr>
        </p:nvSpPr>
        <p:spPr/>
        <p:txBody>
          <a:bodyPr/>
          <a:lstStyle/>
          <a:p>
            <a:pPr eaLnBrk="1" hangingPunct="1"/>
            <a:r>
              <a:rPr lang="en-US" dirty="0"/>
              <a:t>20x2Est sales grew 105% from 20x1, and NI grew 188% from 20x1.</a:t>
            </a:r>
          </a:p>
          <a:p>
            <a:pPr eaLnBrk="1" hangingPunct="1"/>
            <a:r>
              <a:rPr lang="en-US" dirty="0"/>
              <a:t>So </a:t>
            </a:r>
            <a:r>
              <a:rPr lang="en-US" dirty="0" err="1"/>
              <a:t>Computron</a:t>
            </a:r>
            <a:r>
              <a:rPr lang="en-US" dirty="0"/>
              <a:t> became more profitable.</a:t>
            </a:r>
          </a:p>
        </p:txBody>
      </p:sp>
    </p:spTree>
    <p:extLst>
      <p:ext uri="{BB962C8B-B14F-4D97-AF65-F5344CB8AC3E}">
        <p14:creationId xmlns:p14="http://schemas.microsoft.com/office/powerpoint/2010/main" val="7016823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pPr>
              <a:defRPr/>
            </a:pPr>
            <a:fld id="{3F185885-3197-42A7-8F4F-CA7941F578DB}" type="slidenum">
              <a:rPr lang="en-US"/>
              <a:pPr>
                <a:defRPr/>
              </a:pPr>
              <a:t>63</a:t>
            </a:fld>
            <a:endParaRPr lang="en-US"/>
          </a:p>
        </p:txBody>
      </p:sp>
      <p:sp>
        <p:nvSpPr>
          <p:cNvPr id="67586" name="Rectangle 125"/>
          <p:cNvSpPr>
            <a:spLocks noGrp="1" noChangeArrowheads="1"/>
          </p:cNvSpPr>
          <p:nvPr>
            <p:ph type="title"/>
          </p:nvPr>
        </p:nvSpPr>
        <p:spPr/>
        <p:txBody>
          <a:bodyPr/>
          <a:lstStyle/>
          <a:p>
            <a:pPr eaLnBrk="1" hangingPunct="1"/>
            <a:r>
              <a:rPr lang="en-US"/>
              <a:t>Percentage Change Balance Sheets: Assets</a:t>
            </a:r>
          </a:p>
        </p:txBody>
      </p:sp>
      <p:graphicFrame>
        <p:nvGraphicFramePr>
          <p:cNvPr id="423040" name="Group 128"/>
          <p:cNvGraphicFramePr>
            <a:graphicFrameLocks noGrp="1"/>
          </p:cNvGraphicFramePr>
          <p:nvPr>
            <p:ph type="tbl" idx="1"/>
          </p:nvPr>
        </p:nvGraphicFramePr>
        <p:xfrm>
          <a:off x="1182688" y="2017713"/>
          <a:ext cx="7772400" cy="4145216"/>
        </p:xfrm>
        <a:graphic>
          <a:graphicData uri="http://schemas.openxmlformats.org/drawingml/2006/table">
            <a:tbl>
              <a:tblPr/>
              <a:tblGrid>
                <a:gridCol w="1944687">
                  <a:extLst>
                    <a:ext uri="{9D8B030D-6E8A-4147-A177-3AD203B41FA5}">
                      <a16:colId xmlns:a16="http://schemas.microsoft.com/office/drawing/2014/main" val="20000"/>
                    </a:ext>
                  </a:extLst>
                </a:gridCol>
                <a:gridCol w="1901825">
                  <a:extLst>
                    <a:ext uri="{9D8B030D-6E8A-4147-A177-3AD203B41FA5}">
                      <a16:colId xmlns:a16="http://schemas.microsoft.com/office/drawing/2014/main" val="20001"/>
                    </a:ext>
                  </a:extLst>
                </a:gridCol>
                <a:gridCol w="1984375">
                  <a:extLst>
                    <a:ext uri="{9D8B030D-6E8A-4147-A177-3AD203B41FA5}">
                      <a16:colId xmlns:a16="http://schemas.microsoft.com/office/drawing/2014/main" val="20002"/>
                    </a:ext>
                  </a:extLst>
                </a:gridCol>
                <a:gridCol w="1941513">
                  <a:extLst>
                    <a:ext uri="{9D8B030D-6E8A-4147-A177-3AD203B41FA5}">
                      <a16:colId xmlns:a16="http://schemas.microsoft.com/office/drawing/2014/main" val="20003"/>
                    </a:ext>
                  </a:extLst>
                </a:gridCol>
              </a:tblGrid>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1" u="sng" strike="noStrike" cap="none" normalizeH="0" baseline="0" dirty="0">
                          <a:ln>
                            <a:noFill/>
                          </a:ln>
                          <a:solidFill>
                            <a:schemeClr val="tx1"/>
                          </a:solidFill>
                          <a:effectLst/>
                          <a:latin typeface="Tahoma" pitchFamily="34" charset="0"/>
                        </a:rPr>
                        <a:t>Assets</a:t>
                      </a:r>
                    </a:p>
                  </a:txBody>
                  <a:tcPr marT="45716" marB="45716"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20x0</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45716" marB="45716"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20x2Est</a:t>
                      </a:r>
                    </a:p>
                  </a:txBody>
                  <a:tcPr marT="45716" marB="45716"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Cash</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-19.1%</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55.6%</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ST Invest.</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-58.8%</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47.4%</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AR</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80.0%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150.0%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Invent.</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80.0%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140.0%</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CA</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73.2%</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138.4%</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Net FA</a:t>
                      </a:r>
                    </a:p>
                  </a:txBody>
                  <a:tcPr marT="45716" marB="45716"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172.6%</a:t>
                      </a:r>
                    </a:p>
                  </a:txBody>
                  <a:tcPr marT="45716" marB="45716"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142.7%</a:t>
                      </a:r>
                    </a:p>
                  </a:txBody>
                  <a:tcPr marT="45716" marB="4571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12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TA</a:t>
                      </a:r>
                    </a:p>
                  </a:txBody>
                  <a:tcPr marT="45716" marB="45716"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16" marB="45716"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96.5%</a:t>
                      </a:r>
                    </a:p>
                  </a:txBody>
                  <a:tcPr marT="45716" marB="45716"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139.4%</a:t>
                      </a:r>
                    </a:p>
                  </a:txBody>
                  <a:tcPr marT="45716" marB="45716"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50164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5"/>
          <p:cNvSpPr>
            <a:spLocks noGrp="1"/>
          </p:cNvSpPr>
          <p:nvPr>
            <p:ph type="sldNum" sz="quarter" idx="12"/>
          </p:nvPr>
        </p:nvSpPr>
        <p:spPr/>
        <p:txBody>
          <a:bodyPr/>
          <a:lstStyle/>
          <a:p>
            <a:pPr>
              <a:defRPr/>
            </a:pPr>
            <a:fld id="{6951E575-410B-46D0-9AEC-F9971403E6D9}" type="slidenum">
              <a:rPr lang="en-US"/>
              <a:pPr>
                <a:defRPr/>
              </a:pPr>
              <a:t>64</a:t>
            </a:fld>
            <a:endParaRPr lang="en-US"/>
          </a:p>
        </p:txBody>
      </p:sp>
      <p:sp>
        <p:nvSpPr>
          <p:cNvPr id="68610" name="Rectangle 78"/>
          <p:cNvSpPr>
            <a:spLocks noGrp="1" noChangeArrowheads="1"/>
          </p:cNvSpPr>
          <p:nvPr>
            <p:ph type="title"/>
          </p:nvPr>
        </p:nvSpPr>
        <p:spPr/>
        <p:txBody>
          <a:bodyPr/>
          <a:lstStyle/>
          <a:p>
            <a:pPr eaLnBrk="1" hangingPunct="1"/>
            <a:r>
              <a:rPr lang="en-US"/>
              <a:t>Percentage Change Balance Sheets: Liabilities &amp; Equity</a:t>
            </a:r>
          </a:p>
        </p:txBody>
      </p:sp>
      <p:graphicFrame>
        <p:nvGraphicFramePr>
          <p:cNvPr id="425041" name="Group 81"/>
          <p:cNvGraphicFramePr>
            <a:graphicFrameLocks noGrp="1"/>
          </p:cNvGraphicFramePr>
          <p:nvPr>
            <p:ph type="tbl" idx="1"/>
          </p:nvPr>
        </p:nvGraphicFramePr>
        <p:xfrm>
          <a:off x="1182688" y="2017713"/>
          <a:ext cx="7772400" cy="4478339"/>
        </p:xfrm>
        <a:graphic>
          <a:graphicData uri="http://schemas.openxmlformats.org/drawingml/2006/table">
            <a:tbl>
              <a:tblPr/>
              <a:tblGrid>
                <a:gridCol w="1944687">
                  <a:extLst>
                    <a:ext uri="{9D8B030D-6E8A-4147-A177-3AD203B41FA5}">
                      <a16:colId xmlns:a16="http://schemas.microsoft.com/office/drawing/2014/main" val="20000"/>
                    </a:ext>
                  </a:extLst>
                </a:gridCol>
                <a:gridCol w="1941513">
                  <a:extLst>
                    <a:ext uri="{9D8B030D-6E8A-4147-A177-3AD203B41FA5}">
                      <a16:colId xmlns:a16="http://schemas.microsoft.com/office/drawing/2014/main" val="20001"/>
                    </a:ext>
                  </a:extLst>
                </a:gridCol>
                <a:gridCol w="1944687">
                  <a:extLst>
                    <a:ext uri="{9D8B030D-6E8A-4147-A177-3AD203B41FA5}">
                      <a16:colId xmlns:a16="http://schemas.microsoft.com/office/drawing/2014/main" val="20002"/>
                    </a:ext>
                  </a:extLst>
                </a:gridCol>
                <a:gridCol w="1941513">
                  <a:extLst>
                    <a:ext uri="{9D8B030D-6E8A-4147-A177-3AD203B41FA5}">
                      <a16:colId xmlns:a16="http://schemas.microsoft.com/office/drawing/2014/main" val="20003"/>
                    </a:ext>
                  </a:extLst>
                </a:gridCol>
              </a:tblGrid>
              <a:tr h="8509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1" u="sng" strike="noStrike" cap="none" normalizeH="0" baseline="0" dirty="0" err="1">
                          <a:ln>
                            <a:noFill/>
                          </a:ln>
                          <a:solidFill>
                            <a:schemeClr val="tx1"/>
                          </a:solidFill>
                          <a:effectLst/>
                          <a:latin typeface="Tahoma" pitchFamily="34" charset="0"/>
                        </a:rPr>
                        <a:t>Liab</a:t>
                      </a:r>
                      <a:r>
                        <a:rPr kumimoji="0" lang="en-US" sz="2800" b="0" i="1" u="sng" strike="noStrike" cap="none" normalizeH="0" baseline="0" dirty="0">
                          <a:ln>
                            <a:noFill/>
                          </a:ln>
                          <a:solidFill>
                            <a:schemeClr val="tx1"/>
                          </a:solidFill>
                          <a:effectLst/>
                          <a:latin typeface="Tahoma" pitchFamily="34" charset="0"/>
                        </a:rPr>
                        <a:t>. &amp; Eq.</a:t>
                      </a:r>
                    </a:p>
                  </a:txBody>
                  <a:tcPr marT="45723" marB="45723" horzOverflow="overflow">
                    <a:lnL cap="flat">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20x0</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20x1</a:t>
                      </a:r>
                    </a:p>
                  </a:txBody>
                  <a:tcPr marT="45723" marB="45723" horzOverflow="overflow">
                    <a:lnL>
                      <a:noFill/>
                    </a:lnL>
                    <a:lnR>
                      <a:noFill/>
                    </a:lnR>
                    <a:lnT cap="fla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dirty="0">
                          <a:ln>
                            <a:noFill/>
                          </a:ln>
                          <a:solidFill>
                            <a:schemeClr val="tx1"/>
                          </a:solidFill>
                          <a:effectLst/>
                          <a:latin typeface="Tahoma" pitchFamily="34" charset="0"/>
                        </a:rPr>
                        <a:t>20x2Est</a:t>
                      </a:r>
                    </a:p>
                  </a:txBody>
                  <a:tcPr marT="45723" marB="45723"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AP</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122.5%</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147.1%</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Notes pay.</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260.0%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50.0%</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Accruals</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109.5%</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179.4%</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CL</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175.9%</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115.9%</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LT Debt</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209.2%</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54.6%</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eq.</a:t>
                      </a:r>
                    </a:p>
                  </a:txBody>
                  <a:tcPr marT="45723" marB="45723" horzOverflow="overflow">
                    <a:lnL cap="flat">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-16.0%</a:t>
                      </a:r>
                    </a:p>
                  </a:txBody>
                  <a:tcPr marT="45723" marB="45723" horzOverflow="overflow">
                    <a:lnL>
                      <a:noFill/>
                    </a:lnL>
                    <a:lnR>
                      <a:noFill/>
                    </a:lnR>
                    <a:lnT>
                      <a:noFill/>
                    </a:lnT>
                    <a:lnB>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sng" strike="noStrike" cap="none" normalizeH="0" baseline="0">
                          <a:ln>
                            <a:noFill/>
                          </a:ln>
                          <a:solidFill>
                            <a:schemeClr val="tx1"/>
                          </a:solidFill>
                          <a:effectLst/>
                          <a:latin typeface="Tahoma" pitchFamily="34" charset="0"/>
                        </a:rPr>
                        <a:t>197.9%</a:t>
                      </a:r>
                    </a:p>
                  </a:txBody>
                  <a:tcPr marT="45723" marB="45723"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51819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Total L&amp;E</a:t>
                      </a:r>
                    </a:p>
                  </a:txBody>
                  <a:tcPr marT="45723" marB="45723" horzOverflow="overflow">
                    <a:lnL cap="flat">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0.0%</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96.5%</a:t>
                      </a:r>
                    </a:p>
                  </a:txBody>
                  <a:tcPr marT="45723" marB="45723" horzOverflow="overflow">
                    <a:lnL>
                      <a:noFill/>
                    </a:lnL>
                    <a:lnR>
                      <a:noFill/>
                    </a:lnR>
                    <a:lnT>
                      <a:noFill/>
                    </a:lnT>
                    <a:lnB cap="flat">
                      <a:noFill/>
                    </a:lnB>
                    <a:lnTlToBr>
                      <a:noFill/>
                    </a:lnTlToBr>
                    <a:lnBlToTr>
                      <a:noFill/>
                    </a:lnBlToTr>
                    <a:noFill/>
                  </a:tcPr>
                </a:tc>
                <a:tc>
                  <a:txBody>
                    <a:body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a:ln>
                            <a:noFill/>
                          </a:ln>
                          <a:solidFill>
                            <a:schemeClr val="tx1"/>
                          </a:solidFill>
                          <a:effectLst/>
                          <a:latin typeface="Tahoma" pitchFamily="34" charset="0"/>
                        </a:rPr>
                        <a:t>139.4%</a:t>
                      </a:r>
                    </a:p>
                  </a:txBody>
                  <a:tcPr marT="45723" marB="45723"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525934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8B38FE61-5909-4A1C-892F-C337AAD06165}" type="slidenum">
              <a:rPr lang="en-US"/>
              <a:pPr>
                <a:defRPr/>
              </a:pPr>
              <a:t>65</a:t>
            </a:fld>
            <a:endParaRPr lang="en-US"/>
          </a:p>
        </p:txBody>
      </p:sp>
      <p:sp>
        <p:nvSpPr>
          <p:cNvPr id="69634" name="Rectangle 4"/>
          <p:cNvSpPr>
            <a:spLocks noGrp="1" noChangeArrowheads="1"/>
          </p:cNvSpPr>
          <p:nvPr>
            <p:ph type="title"/>
          </p:nvPr>
        </p:nvSpPr>
        <p:spPr/>
        <p:txBody>
          <a:bodyPr>
            <a:normAutofit fontScale="90000"/>
          </a:bodyPr>
          <a:lstStyle/>
          <a:p>
            <a:pPr eaLnBrk="1" hangingPunct="1"/>
            <a:r>
              <a:rPr lang="en-US"/>
              <a:t>Analysis of Percent Change Balance Sheets</a:t>
            </a:r>
          </a:p>
        </p:txBody>
      </p:sp>
      <p:sp>
        <p:nvSpPr>
          <p:cNvPr id="69635" name="Rectangle 5"/>
          <p:cNvSpPr>
            <a:spLocks noGrp="1" noChangeArrowheads="1"/>
          </p:cNvSpPr>
          <p:nvPr>
            <p:ph type="body" idx="1"/>
          </p:nvPr>
        </p:nvSpPr>
        <p:spPr/>
        <p:txBody>
          <a:bodyPr/>
          <a:lstStyle/>
          <a:p>
            <a:pPr eaLnBrk="1" hangingPunct="1"/>
            <a:r>
              <a:rPr lang="en-US" dirty="0"/>
              <a:t>Total assets grew at rate of 139%, while sales grew at only 105%.  </a:t>
            </a:r>
          </a:p>
          <a:p>
            <a:pPr eaLnBrk="1" hangingPunct="1"/>
            <a:r>
              <a:rPr lang="en-US" dirty="0"/>
              <a:t>Asset utilization remains a problem.</a:t>
            </a:r>
          </a:p>
        </p:txBody>
      </p:sp>
    </p:spTree>
    <p:extLst>
      <p:ext uri="{BB962C8B-B14F-4D97-AF65-F5344CB8AC3E}">
        <p14:creationId xmlns:p14="http://schemas.microsoft.com/office/powerpoint/2010/main" val="17798715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9F2BB8AE-98F5-4017-B5EE-7729723E0E89}" type="slidenum">
              <a:rPr lang="en-US"/>
              <a:pPr>
                <a:defRPr/>
              </a:pPr>
              <a:t>66</a:t>
            </a:fld>
            <a:endParaRPr lang="en-US"/>
          </a:p>
        </p:txBody>
      </p:sp>
      <p:sp>
        <p:nvSpPr>
          <p:cNvPr id="73730" name="Rectangle 1032"/>
          <p:cNvSpPr>
            <a:spLocks noGrp="1" noChangeArrowheads="1"/>
          </p:cNvSpPr>
          <p:nvPr>
            <p:ph type="title"/>
          </p:nvPr>
        </p:nvSpPr>
        <p:spPr/>
        <p:txBody>
          <a:bodyPr>
            <a:normAutofit fontScale="90000"/>
          </a:bodyPr>
          <a:lstStyle/>
          <a:p>
            <a:pPr eaLnBrk="1" hangingPunct="1"/>
            <a:r>
              <a:rPr lang="en-US"/>
              <a:t>Potential Problems and Limitations of Ratio Analysis</a:t>
            </a:r>
          </a:p>
        </p:txBody>
      </p:sp>
      <p:sp>
        <p:nvSpPr>
          <p:cNvPr id="73731" name="Rectangle 1033"/>
          <p:cNvSpPr>
            <a:spLocks noGrp="1" noChangeArrowheads="1"/>
          </p:cNvSpPr>
          <p:nvPr>
            <p:ph type="body" idx="1"/>
          </p:nvPr>
        </p:nvSpPr>
        <p:spPr/>
        <p:txBody>
          <a:bodyPr/>
          <a:lstStyle/>
          <a:p>
            <a:pPr eaLnBrk="1" hangingPunct="1">
              <a:lnSpc>
                <a:spcPct val="90000"/>
              </a:lnSpc>
            </a:pPr>
            <a:r>
              <a:rPr lang="en-US" dirty="0"/>
              <a:t>Comparison with industry averages  difficult if firm operates many different divisions.</a:t>
            </a:r>
          </a:p>
          <a:p>
            <a:pPr eaLnBrk="1" hangingPunct="1">
              <a:lnSpc>
                <a:spcPct val="90000"/>
              </a:lnSpc>
            </a:pPr>
            <a:r>
              <a:rPr lang="en-US" dirty="0"/>
              <a:t>Seasonal factors can distort ratios.</a:t>
            </a:r>
          </a:p>
          <a:p>
            <a:pPr eaLnBrk="1" hangingPunct="1">
              <a:lnSpc>
                <a:spcPct val="90000"/>
              </a:lnSpc>
            </a:pPr>
            <a:r>
              <a:rPr lang="en-US" dirty="0"/>
              <a:t>Window dressing techniques can make statements and ratios look better.</a:t>
            </a:r>
          </a:p>
          <a:p>
            <a:pPr eaLnBrk="1" hangingPunct="1">
              <a:lnSpc>
                <a:spcPct val="90000"/>
              </a:lnSpc>
            </a:pPr>
            <a:r>
              <a:rPr lang="en-US" dirty="0"/>
              <a:t>Different accounting and operating practices can distort comparisons.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fld id="{642F6ACB-43E3-44AE-BDDA-1F5646782BEE}" type="slidenum">
              <a:rPr lang="en-US"/>
              <a:pPr>
                <a:defRPr/>
              </a:pPr>
              <a:t>67</a:t>
            </a:fld>
            <a:endParaRPr lang="en-US"/>
          </a:p>
        </p:txBody>
      </p:sp>
      <p:sp>
        <p:nvSpPr>
          <p:cNvPr id="74754" name="Rectangle 1034"/>
          <p:cNvSpPr>
            <a:spLocks noGrp="1" noChangeArrowheads="1"/>
          </p:cNvSpPr>
          <p:nvPr>
            <p:ph type="title"/>
          </p:nvPr>
        </p:nvSpPr>
        <p:spPr/>
        <p:txBody>
          <a:bodyPr/>
          <a:lstStyle/>
          <a:p>
            <a:pPr eaLnBrk="1" hangingPunct="1"/>
            <a:r>
              <a:rPr lang="en-US"/>
              <a:t>Qualitative Factors</a:t>
            </a:r>
          </a:p>
        </p:txBody>
      </p:sp>
      <p:sp>
        <p:nvSpPr>
          <p:cNvPr id="74755" name="Rectangle 1035"/>
          <p:cNvSpPr>
            <a:spLocks noGrp="1" noChangeArrowheads="1"/>
          </p:cNvSpPr>
          <p:nvPr>
            <p:ph type="body" idx="1"/>
          </p:nvPr>
        </p:nvSpPr>
        <p:spPr>
          <a:xfrm>
            <a:off x="381000" y="1600200"/>
            <a:ext cx="8134350" cy="4576763"/>
          </a:xfrm>
        </p:spPr>
        <p:txBody>
          <a:bodyPr/>
          <a:lstStyle/>
          <a:p>
            <a:pPr eaLnBrk="1" hangingPunct="1">
              <a:lnSpc>
                <a:spcPct val="90000"/>
              </a:lnSpc>
            </a:pPr>
            <a:r>
              <a:rPr lang="en-US" sz="2800"/>
              <a:t>There is greater risk if:</a:t>
            </a:r>
          </a:p>
          <a:p>
            <a:pPr lvl="1" eaLnBrk="1" hangingPunct="1">
              <a:lnSpc>
                <a:spcPct val="90000"/>
              </a:lnSpc>
            </a:pPr>
            <a:r>
              <a:rPr lang="en-US" sz="2400"/>
              <a:t>revenues tied to a single customer</a:t>
            </a:r>
          </a:p>
          <a:p>
            <a:pPr lvl="1" eaLnBrk="1" hangingPunct="1">
              <a:lnSpc>
                <a:spcPct val="90000"/>
              </a:lnSpc>
            </a:pPr>
            <a:r>
              <a:rPr lang="en-US" sz="2400"/>
              <a:t>revenues tied to a single product</a:t>
            </a:r>
          </a:p>
          <a:p>
            <a:pPr lvl="1" eaLnBrk="1" hangingPunct="1">
              <a:lnSpc>
                <a:spcPct val="90000"/>
              </a:lnSpc>
            </a:pPr>
            <a:r>
              <a:rPr lang="en-US" sz="2400"/>
              <a:t>reliance on a single supplier?</a:t>
            </a:r>
          </a:p>
          <a:p>
            <a:pPr lvl="1" eaLnBrk="1" hangingPunct="1">
              <a:lnSpc>
                <a:spcPct val="90000"/>
              </a:lnSpc>
            </a:pPr>
            <a:r>
              <a:rPr lang="en-US" sz="2400"/>
              <a:t>High percentage of business is generated overseas?</a:t>
            </a:r>
          </a:p>
          <a:p>
            <a:pPr eaLnBrk="1" hangingPunct="1">
              <a:lnSpc>
                <a:spcPct val="90000"/>
              </a:lnSpc>
            </a:pPr>
            <a:r>
              <a:rPr lang="en-US" sz="2800"/>
              <a:t>What is competitive situation?</a:t>
            </a:r>
          </a:p>
          <a:p>
            <a:pPr eaLnBrk="1" hangingPunct="1">
              <a:lnSpc>
                <a:spcPct val="90000"/>
              </a:lnSpc>
            </a:pPr>
            <a:r>
              <a:rPr lang="en-US" sz="2800"/>
              <a:t>What products are in pipeline?</a:t>
            </a:r>
          </a:p>
          <a:p>
            <a:pPr eaLnBrk="1" hangingPunct="1">
              <a:lnSpc>
                <a:spcPct val="90000"/>
              </a:lnSpc>
            </a:pPr>
            <a:r>
              <a:rPr lang="en-US" sz="2800"/>
              <a:t>What are legal and regulatory issues?</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  1 - Class - Overview of Fin Mgmt - Master 15ed" id="{B5BAB255-5FBD-6A42-B681-671B4D1566AF}" vid="{EA6B737B-7190-AE47-A40D-D6EA26D2DCE3}"/>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Brigham">
      <a:majorFont>
        <a:latin typeface="Tahoma"/>
        <a:ea typeface=""/>
        <a:cs typeface=""/>
      </a:majorFont>
      <a:minorFont>
        <a:latin typeface="Tahom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1773</TotalTime>
  <Pages>24</Pages>
  <Words>3096</Words>
  <Application>Microsoft Office PowerPoint</Application>
  <PresentationFormat>On-screen Show (4:3)</PresentationFormat>
  <Paragraphs>898</Paragraphs>
  <Slides>67</Slides>
  <Notes>4</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67</vt:i4>
      </vt:variant>
    </vt:vector>
  </HeadingPairs>
  <TitlesOfParts>
    <vt:vector size="78" baseType="lpstr">
      <vt:lpstr>Arial</vt:lpstr>
      <vt:lpstr>Calibri</vt:lpstr>
      <vt:lpstr>Calibri Light</vt:lpstr>
      <vt:lpstr>Tahoma</vt:lpstr>
      <vt:lpstr>Times New Roman</vt:lpstr>
      <vt:lpstr>Wingdings</vt:lpstr>
      <vt:lpstr>Work Sans</vt:lpstr>
      <vt:lpstr>Office Theme</vt:lpstr>
      <vt:lpstr>1_Custom Design</vt:lpstr>
      <vt:lpstr>Custom Design</vt:lpstr>
      <vt:lpstr>Optimized Template Master</vt:lpstr>
      <vt:lpstr>CHAPTER 3</vt:lpstr>
      <vt:lpstr>Topics in Chapter</vt:lpstr>
      <vt:lpstr>Overview</vt:lpstr>
      <vt:lpstr>Income Statement</vt:lpstr>
      <vt:lpstr>Balance Sheets: Assets</vt:lpstr>
      <vt:lpstr>Balance Sheets: Liabilities &amp; Equity</vt:lpstr>
      <vt:lpstr>Other Data</vt:lpstr>
      <vt:lpstr>Five Categories of Fin. Ratios</vt:lpstr>
      <vt:lpstr>Five Categories of Fin. Ratios</vt:lpstr>
      <vt:lpstr>Five Categories of Fin. Ratios</vt:lpstr>
      <vt:lpstr>Liquidity Ratios</vt:lpstr>
      <vt:lpstr>Forecasted Current and Quick Ratios for 20x2.</vt:lpstr>
      <vt:lpstr>Comments on CR and QR</vt:lpstr>
      <vt:lpstr>Asset Management Ratios</vt:lpstr>
      <vt:lpstr>Inventory Turnover Ratio vs. Industry Average</vt:lpstr>
      <vt:lpstr>Comments on Inventory Turnover</vt:lpstr>
      <vt:lpstr>DSO: average number of days from sale until cash received.</vt:lpstr>
      <vt:lpstr>Appraisal of DSO</vt:lpstr>
      <vt:lpstr>Fixed Assets and Total Assets Turnover Ratios</vt:lpstr>
      <vt:lpstr>Fixed Assets and Total Assets Turnover Ratios</vt:lpstr>
      <vt:lpstr>Debt Management Ratios</vt:lpstr>
      <vt:lpstr>Calculate the debt, TIE, and EBITDA coverage ratios.</vt:lpstr>
      <vt:lpstr>EBITDA Coverage (EC)</vt:lpstr>
      <vt:lpstr>Debt Management Ratios vs. Industry Averages</vt:lpstr>
      <vt:lpstr>Debt/Asset &amp; Debt/Equity Ratios</vt:lpstr>
      <vt:lpstr>Calculate  Debt /Asset  &amp;  Debt / Equity Ratios.</vt:lpstr>
      <vt:lpstr>Equity Multiplier =  T. Assets/Cmn Eqty</vt:lpstr>
      <vt:lpstr>Profitability Ratios</vt:lpstr>
      <vt:lpstr>Profit Margins</vt:lpstr>
      <vt:lpstr>Profit Margins (Continued)</vt:lpstr>
      <vt:lpstr>Profit Margins vs. Industry Averages</vt:lpstr>
      <vt:lpstr>Basic Earning Power (BEP)</vt:lpstr>
      <vt:lpstr>Basic Earning Power vs. Industry Average</vt:lpstr>
      <vt:lpstr>Basic Earning Power &amp;               Subway vs. Smelly Deli</vt:lpstr>
      <vt:lpstr>Return on Assets (ROA) and Return on Equity (ROE)</vt:lpstr>
      <vt:lpstr>Return on Assets (ROA) and Return on Equity (ROE)</vt:lpstr>
      <vt:lpstr>ROA and ROE vs. Industry Averages</vt:lpstr>
      <vt:lpstr>Effects of Debt on ROA and ROE</vt:lpstr>
      <vt:lpstr>Effects of Debt on ROA &amp; ROE</vt:lpstr>
      <vt:lpstr>Important Implications of Debt Financing (Financial Leverage)</vt:lpstr>
      <vt:lpstr>Internal Growth Rate</vt:lpstr>
      <vt:lpstr>Sustainable Growth Rate</vt:lpstr>
      <vt:lpstr>Market Value Ratios</vt:lpstr>
      <vt:lpstr>Market Value Ratios</vt:lpstr>
      <vt:lpstr>Market Value Ratios</vt:lpstr>
      <vt:lpstr>Calculate and appraise the P/E, P/CF, and M/B ratios.</vt:lpstr>
      <vt:lpstr>Market Based Ratios</vt:lpstr>
      <vt:lpstr>Market Based Ratios (Continued)</vt:lpstr>
      <vt:lpstr>Interpreting Market Based Ratios</vt:lpstr>
      <vt:lpstr>Market Value Measures</vt:lpstr>
      <vt:lpstr>Comparison with Industry Averages</vt:lpstr>
      <vt:lpstr>Explain the Du Pont System</vt:lpstr>
      <vt:lpstr>The Du Pont System</vt:lpstr>
      <vt:lpstr>The Du Pont System (part 2)</vt:lpstr>
      <vt:lpstr>The Du Pont System</vt:lpstr>
      <vt:lpstr>Common Size Balance Sheets: Divide all items by Total Assets</vt:lpstr>
      <vt:lpstr>Divide all items by Total Liabilities &amp; Equity</vt:lpstr>
      <vt:lpstr>Analysis of Common Size Balance Sheets</vt:lpstr>
      <vt:lpstr>Common Size Income Statement: Divide all items by Sales</vt:lpstr>
      <vt:lpstr>Analysis of Common Size Income Statements</vt:lpstr>
      <vt:lpstr>Percentage Change Analysis: % Change from First Year (20x0)</vt:lpstr>
      <vt:lpstr>Analysis of Percent Change Income Statement</vt:lpstr>
      <vt:lpstr>Percentage Change Balance Sheets: Assets</vt:lpstr>
      <vt:lpstr>Percentage Change Balance Sheets: Liabilities &amp; Equity</vt:lpstr>
      <vt:lpstr>Analysis of Percent Change Balance Sheets</vt:lpstr>
      <vt:lpstr>Potential Problems and Limitations of Ratio Analysis</vt:lpstr>
      <vt:lpstr>Qualitative Factors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Powerpoint show</dc:subject>
  <dc:creator>Diana Montealegre Beltran</dc:creator>
  <cp:lastModifiedBy>Robert M Donchez</cp:lastModifiedBy>
  <cp:revision>79</cp:revision>
  <cp:lastPrinted>2014-01-14T00:25:44Z</cp:lastPrinted>
  <dcterms:created xsi:type="dcterms:W3CDTF">2022-07-05T20:10:42Z</dcterms:created>
  <dcterms:modified xsi:type="dcterms:W3CDTF">2024-01-23T03:00:01Z</dcterms:modified>
</cp:coreProperties>
</file>