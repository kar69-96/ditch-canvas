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4282" r:id="rId1"/>
  </p:sldMasterIdLst>
  <p:notesMasterIdLst>
    <p:notesMasterId r:id="rId108"/>
  </p:notesMasterIdLst>
  <p:handoutMasterIdLst>
    <p:handoutMasterId r:id="rId109"/>
  </p:handoutMasterIdLst>
  <p:sldIdLst>
    <p:sldId id="384" r:id="rId2"/>
    <p:sldId id="309" r:id="rId3"/>
    <p:sldId id="310" r:id="rId4"/>
    <p:sldId id="469" r:id="rId5"/>
    <p:sldId id="470" r:id="rId6"/>
    <p:sldId id="312" r:id="rId7"/>
    <p:sldId id="313" r:id="rId8"/>
    <p:sldId id="314" r:id="rId9"/>
    <p:sldId id="315" r:id="rId10"/>
    <p:sldId id="318" r:id="rId11"/>
    <p:sldId id="319" r:id="rId12"/>
    <p:sldId id="320" r:id="rId13"/>
    <p:sldId id="554" r:id="rId14"/>
    <p:sldId id="322" r:id="rId15"/>
    <p:sldId id="323" r:id="rId16"/>
    <p:sldId id="375" r:id="rId17"/>
    <p:sldId id="326" r:id="rId18"/>
    <p:sldId id="472" r:id="rId19"/>
    <p:sldId id="556" r:id="rId20"/>
    <p:sldId id="557" r:id="rId21"/>
    <p:sldId id="327" r:id="rId22"/>
    <p:sldId id="409" r:id="rId23"/>
    <p:sldId id="410" r:id="rId24"/>
    <p:sldId id="411" r:id="rId25"/>
    <p:sldId id="412" r:id="rId26"/>
    <p:sldId id="467" r:id="rId27"/>
    <p:sldId id="275" r:id="rId28"/>
    <p:sldId id="552" r:id="rId29"/>
    <p:sldId id="510" r:id="rId30"/>
    <p:sldId id="511" r:id="rId31"/>
    <p:sldId id="553" r:id="rId32"/>
    <p:sldId id="513" r:id="rId33"/>
    <p:sldId id="514" r:id="rId34"/>
    <p:sldId id="515" r:id="rId35"/>
    <p:sldId id="516" r:id="rId36"/>
    <p:sldId id="517" r:id="rId37"/>
    <p:sldId id="518" r:id="rId38"/>
    <p:sldId id="519" r:id="rId39"/>
    <p:sldId id="520" r:id="rId40"/>
    <p:sldId id="521" r:id="rId41"/>
    <p:sldId id="522" r:id="rId42"/>
    <p:sldId id="523" r:id="rId43"/>
    <p:sldId id="524" r:id="rId44"/>
    <p:sldId id="504" r:id="rId45"/>
    <p:sldId id="506" r:id="rId46"/>
    <p:sldId id="509" r:id="rId47"/>
    <p:sldId id="508" r:id="rId48"/>
    <p:sldId id="459" r:id="rId49"/>
    <p:sldId id="473" r:id="rId50"/>
    <p:sldId id="474" r:id="rId51"/>
    <p:sldId id="475" r:id="rId52"/>
    <p:sldId id="476" r:id="rId53"/>
    <p:sldId id="477" r:id="rId54"/>
    <p:sldId id="478" r:id="rId55"/>
    <p:sldId id="479" r:id="rId56"/>
    <p:sldId id="480" r:id="rId57"/>
    <p:sldId id="481" r:id="rId58"/>
    <p:sldId id="482" r:id="rId59"/>
    <p:sldId id="483" r:id="rId60"/>
    <p:sldId id="484" r:id="rId61"/>
    <p:sldId id="485" r:id="rId62"/>
    <p:sldId id="486" r:id="rId63"/>
    <p:sldId id="487" r:id="rId64"/>
    <p:sldId id="488" r:id="rId65"/>
    <p:sldId id="489" r:id="rId66"/>
    <p:sldId id="490" r:id="rId67"/>
    <p:sldId id="491" r:id="rId68"/>
    <p:sldId id="492" r:id="rId69"/>
    <p:sldId id="493" r:id="rId70"/>
    <p:sldId id="494" r:id="rId71"/>
    <p:sldId id="495" r:id="rId72"/>
    <p:sldId id="460" r:id="rId73"/>
    <p:sldId id="461" r:id="rId74"/>
    <p:sldId id="462" r:id="rId75"/>
    <p:sldId id="463" r:id="rId76"/>
    <p:sldId id="464" r:id="rId77"/>
    <p:sldId id="465" r:id="rId78"/>
    <p:sldId id="466" r:id="rId79"/>
    <p:sldId id="498" r:id="rId80"/>
    <p:sldId id="525" r:id="rId81"/>
    <p:sldId id="526" r:id="rId82"/>
    <p:sldId id="527" r:id="rId83"/>
    <p:sldId id="528" r:id="rId84"/>
    <p:sldId id="529" r:id="rId85"/>
    <p:sldId id="530" r:id="rId86"/>
    <p:sldId id="531" r:id="rId87"/>
    <p:sldId id="532" r:id="rId88"/>
    <p:sldId id="533" r:id="rId89"/>
    <p:sldId id="534" r:id="rId90"/>
    <p:sldId id="535" r:id="rId91"/>
    <p:sldId id="536" r:id="rId92"/>
    <p:sldId id="537" r:id="rId93"/>
    <p:sldId id="538" r:id="rId94"/>
    <p:sldId id="539" r:id="rId95"/>
    <p:sldId id="540" r:id="rId96"/>
    <p:sldId id="541" r:id="rId97"/>
    <p:sldId id="542" r:id="rId98"/>
    <p:sldId id="543" r:id="rId99"/>
    <p:sldId id="544" r:id="rId100"/>
    <p:sldId id="545" r:id="rId101"/>
    <p:sldId id="546" r:id="rId102"/>
    <p:sldId id="547" r:id="rId103"/>
    <p:sldId id="548" r:id="rId104"/>
    <p:sldId id="549" r:id="rId105"/>
    <p:sldId id="550" r:id="rId106"/>
    <p:sldId id="551" r:id="rId107"/>
  </p:sldIdLst>
  <p:sldSz cx="9144000" cy="6858000" type="screen4x3"/>
  <p:notesSz cx="7010400" cy="9296400"/>
  <p:kinsoku lang="ja-JP" invalStChars="、。，．・：；？！゛゜ヽヾゝゞ々ー’”）〕］｝〉》」』】°‰′″℃￠％ぁぃぅぇぉっゃゅょゎァィゥェォッャュョヮヵヶ!%),.:;?]}｡｣､･ｧｨｩｪｫｬｭｮｯｰﾞﾟ" invalEndChars="‘“（〔［｛〈《「『【￥＄$([\{｢￡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pos="53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454135"/>
    <a:srgbClr val="DCCCA3"/>
    <a:srgbClr val="8CF4EA"/>
    <a:srgbClr val="00B7A5"/>
    <a:srgbClr val="FAFD00"/>
    <a:srgbClr val="D49FFF"/>
    <a:srgbClr val="83FD65"/>
    <a:srgbClr val="C0FEF9"/>
    <a:srgbClr val="60C9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7" autoAdjust="0"/>
    <p:restoredTop sz="90920" autoAdjust="0"/>
  </p:normalViewPr>
  <p:slideViewPr>
    <p:cSldViewPr>
      <p:cViewPr varScale="1">
        <p:scale>
          <a:sx n="100" d="100"/>
          <a:sy n="100" d="100"/>
        </p:scale>
        <p:origin x="1890" y="96"/>
      </p:cViewPr>
      <p:guideLst>
        <p:guide orient="horz" pos="1200"/>
        <p:guide pos="53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473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theme" Target="theme/theme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tableStyles" Target="tableStyles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notesMaster" Target="notesMasters/notesMaster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handoutMaster" Target="handoutMasters/handoutMaster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presProps" Target="pres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08" y="4415156"/>
            <a:ext cx="5136586" cy="418369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5254" tIns="48435" rIns="95254" bIns="48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5" name="Rectangle 3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90625" y="703263"/>
            <a:ext cx="4629150" cy="3471862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6672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35038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401763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70075" algn="l" defTabSz="955675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014E9-4CF8-07FB-9587-8A8FC54126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  <a:solidFill>
            <a:schemeClr val="tx1">
              <a:lumMod val="85000"/>
              <a:lumOff val="15000"/>
            </a:schemeClr>
          </a:solidFill>
        </p:spPr>
        <p:txBody>
          <a:bodyPr anchor="ctr"/>
          <a:lstStyle>
            <a:lvl1pPr algn="ctr">
              <a:defRPr sz="45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0F6E03-983C-D44F-DA9D-1354DADB8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602038"/>
            <a:ext cx="9144000" cy="436562"/>
          </a:xfrm>
          <a:solidFill>
            <a:srgbClr val="DCCCA3"/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None/>
              <a:defRPr sz="2400" b="1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A6BF2-B943-A54D-B9A8-CF71ACA0B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8B4A3-64D2-13EB-DE0B-BC80A02C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0469EF-71B6-E831-47CC-0D7140430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B4D19F-489A-4E5E-A28E-C8AF833E0C3C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999885-8DB5-73C1-4C0B-00DC205D9C8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766898-15F1-35E0-5CB0-1BC6BB5972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80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BAA0EE-229A-6333-06FD-DD9530C98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>
            <a:normAutofit/>
          </a:bodyPr>
          <a:lstStyle>
            <a:lvl1pPr>
              <a:defRPr sz="3800"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2367E3-A85C-9D7A-BC7C-7BC6C9421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500558"/>
          </a:xfrm>
        </p:spPr>
        <p:txBody>
          <a:bodyPr/>
          <a:lstStyle>
            <a:lvl1pPr>
              <a:lnSpc>
                <a:spcPct val="114000"/>
              </a:lnSpc>
              <a:defRPr/>
            </a:lvl1pPr>
            <a:lvl2pPr>
              <a:lnSpc>
                <a:spcPct val="114000"/>
              </a:lnSpc>
              <a:defRPr/>
            </a:lvl2pPr>
            <a:lvl3pPr>
              <a:lnSpc>
                <a:spcPct val="114000"/>
              </a:lnSpc>
              <a:defRPr/>
            </a:lvl3pPr>
            <a:lvl4pPr>
              <a:lnSpc>
                <a:spcPct val="114000"/>
              </a:lnSpc>
              <a:defRPr/>
            </a:lvl4pPr>
            <a:lvl5pPr>
              <a:lnSpc>
                <a:spcPct val="114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C7FB8-4C99-DB2A-2E94-1AF399EAC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6EB23-DCAF-18E5-B86B-7C57E842F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DA49B-BAEF-4CF4-E95B-F92FCE036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F03BE6-C66C-A63D-AFD3-085571F6AB96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8DBFC926-6392-BC3C-9958-2E95361AEF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8835B65-3D1B-CF3F-DDBC-1870EEEFDE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7937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B3E85-51D8-AE74-539A-FA2331AE58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47BA40-A8B4-3390-F8D7-B3CC2E950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C3E0A-65D1-AA13-F404-FD6AD1753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4D3F9-FE86-E7C6-4D32-4A2F870DF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145DE-0E4A-5D4B-42DD-7F9E1DCD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380A472-0AF4-42C7-A200-0A6A2E2BD3D4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9899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89A4B8-8EB9-ADA8-B992-4DE07200E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987E3C-A3CD-17E8-7754-25845549A4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9330FB-37F6-5873-AC3B-AE844B7909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676400"/>
            <a:ext cx="3886200" cy="45005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19E815-91F2-7FDF-4F5A-19B68DB7B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AE1DE1-4D56-5B12-0049-ACF8B28B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4AB26D-42A5-E718-7319-F0BEBED4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4E42859-4ED0-468F-B18C-A6B9CED75A4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996539-A9D9-998A-6B11-3374F65F2B00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A2571B1B-E129-07C2-727C-293C4558144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0B83F84-A694-AA66-FEF8-DCCEB0D205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026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19E86-7648-BB49-1733-92B5F9F59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76EB00-6ABE-7A6D-4CA0-EAD4EFCFB5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70D9E-CA37-C8C7-DC2B-731032F14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23050D-DE6B-E0A8-F0B8-0AE790475D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FE72F3-A6A2-AB09-729B-69278FFB8F8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80C7EF-7255-7C61-2C82-0145E38EC7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8CB185-80EF-03E9-CBFC-F8963D7E4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5512AA-D14C-B443-8EE2-0CFC1CCE8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3682E86-14DC-4CD1-BEF2-22E95F737AC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12A899-0B6B-EBC2-D17E-8D64DB468093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E2063627-6A15-220A-FB7F-17C240F5E88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82EE7F4-F3CE-1634-AAFD-DD10F58F34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516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CA751-5504-0470-1970-6C57BFCFA7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7"/>
            <a:ext cx="7886700" cy="1032090"/>
          </a:xfrm>
        </p:spPr>
        <p:txBody>
          <a:bodyPr/>
          <a:lstStyle>
            <a:lvl1pPr>
              <a:defRPr b="1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160FB8-C4A4-11B8-B383-C8C158383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C0EE03-C8A0-558C-2769-881F665E9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6A45A1-9999-C0F7-FBAB-F2DC906BD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E9C1AAF-33A1-44EA-A195-86E2A66B03D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59D71D0-9CA4-B490-73EC-2604A4054774}"/>
              </a:ext>
            </a:extLst>
          </p:cNvPr>
          <p:cNvCxnSpPr>
            <a:cxnSpLocks/>
          </p:cNvCxnSpPr>
          <p:nvPr userDrawn="1"/>
        </p:nvCxnSpPr>
        <p:spPr>
          <a:xfrm>
            <a:off x="620024" y="1397216"/>
            <a:ext cx="7926350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FCD53B29-9219-878E-F04F-2EB2F2C272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4CC1ED5-C7B5-DB15-758C-683F52F8641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4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E5BEDA-B42B-CBDC-EE22-5361B0C51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86E627-021F-327B-3506-1F6E6D44B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9A4491-C6AE-6ABC-DB34-B3D228DE1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910AC00-8FA5-4069-A69B-F415400246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8DE18CA-952C-2AF7-8B61-D26E4647965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5A0004-4FC3-ADFC-3DF7-ADC43833C21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21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CF6255-62A2-B440-5027-CBA5C6D98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419D4-4F45-AAB6-ED8E-D5E20E487E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7E7CFE-962D-1B5D-987D-2F179E5D2C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7263E8-2C47-A0B5-D2CA-F293FE400A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D047C8-402A-1FE2-9A0C-D9BAF9FD6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AF110B-4EA4-E74D-2355-7E656B0A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B54B417-AD3D-4312-8126-F4C81687F55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8FB06CA-1FD5-DC8E-B91A-90CEE0FECD0D}"/>
              </a:ext>
            </a:extLst>
          </p:cNvPr>
          <p:cNvCxnSpPr>
            <a:cxnSpLocks/>
          </p:cNvCxnSpPr>
          <p:nvPr userDrawn="1"/>
        </p:nvCxnSpPr>
        <p:spPr>
          <a:xfrm>
            <a:off x="628650" y="2042532"/>
            <a:ext cx="295036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864443C2-962A-E917-338B-27A059103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6BE6B0-2E3F-0A01-AD8B-505CC0683DA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562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43B4-B08B-27D2-D357-ABAF2BD54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42FAE3-8C66-0FA9-27B7-4BDA89A45E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15D049-A6C0-8217-A2C4-2F96F4280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A99A43-8B92-6F1B-7BF8-2C8CA5FE2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2EAB75-81DA-0B91-382E-2C1FA1B8B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012E8B-5EDD-3F3F-6975-09C820BF2F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04BF9C9-EAF8-49DE-BC51-5E7E543F474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9FB33BF-3560-E1B7-2D0E-C2AFD1DF1FCD}"/>
              </a:ext>
            </a:extLst>
          </p:cNvPr>
          <p:cNvCxnSpPr>
            <a:cxnSpLocks/>
          </p:cNvCxnSpPr>
          <p:nvPr userDrawn="1"/>
        </p:nvCxnSpPr>
        <p:spPr>
          <a:xfrm>
            <a:off x="589000" y="2057400"/>
            <a:ext cx="2990019" cy="0"/>
          </a:xfrm>
          <a:prstGeom prst="line">
            <a:avLst/>
          </a:prstGeom>
          <a:ln w="38100">
            <a:solidFill>
              <a:srgbClr val="CFB8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id="{E562D918-D1F2-7B26-F11C-961FE6DD95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>
            <a:off x="-1" y="0"/>
            <a:ext cx="1970057" cy="146649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58B8FB-180A-1947-53B2-583230C32F3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79" t="27117" b="37353"/>
          <a:stretch/>
        </p:blipFill>
        <p:spPr>
          <a:xfrm rot="10800000">
            <a:off x="7173943" y="5391508"/>
            <a:ext cx="1970057" cy="14664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302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3BC81-929E-25E6-EFE7-8F6648640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803A99-6E17-1F15-5212-8E311907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823B4-B2A6-761F-A4DF-461C0216B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76C6F-D82C-3651-380C-5B5764130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0EADA-5F48-42B8-5105-BC7C3E8C2E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0D4170-A35D-4B92-878B-2D63BE5474F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147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BADB19E-376C-BB5F-09DF-15E63C68C3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380A13-5547-E36A-1691-36291608A2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34A03D-2F3D-BF64-7868-03B01B6B3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839FA-DCDB-A07F-86DC-1648446FA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9D4C4-D028-25AB-7AE6-AF71C3581D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3F767CC-98F8-4699-B32C-1545759A837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3651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182688" y="2017713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11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12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E00351-E4E8-48F5-9E3F-22CF57B59C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046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>
  <p:cSld name="Title, 2 Content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7772400" cy="8382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981200"/>
            <a:ext cx="3810000" cy="1981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85800" y="4114800"/>
            <a:ext cx="3810000" cy="1981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20408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  <p:bldP spid="5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355009-70F6-345A-132A-58DF295E9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563C62-7BC6-EEDF-9BEC-4B0D3A92AD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956E4D-6B68-39D6-7EE4-9FCCA81924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FCE08-42CA-FCFC-ACF9-65D65B7ED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09E486-CEE8-489E-5A48-89157A2E83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9B0167D-6490-4BBB-BA2A-81BDB0B85D3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829447-14B4-5F88-BA07-CEF391FEC2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689" r="84626" b="20897"/>
          <a:stretch/>
        </p:blipFill>
        <p:spPr>
          <a:xfrm>
            <a:off x="-108639" y="6255244"/>
            <a:ext cx="625474" cy="58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61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83" r:id="rId1"/>
    <p:sldLayoutId id="2147484284" r:id="rId2"/>
    <p:sldLayoutId id="2147484285" r:id="rId3"/>
    <p:sldLayoutId id="2147484286" r:id="rId4"/>
    <p:sldLayoutId id="2147484287" r:id="rId5"/>
    <p:sldLayoutId id="2147484288" r:id="rId6"/>
    <p:sldLayoutId id="2147484289" r:id="rId7"/>
    <p:sldLayoutId id="2147484290" r:id="rId8"/>
    <p:sldLayoutId id="2147484291" r:id="rId9"/>
    <p:sldLayoutId id="2147484292" r:id="rId10"/>
    <p:sldLayoutId id="2147484293" r:id="rId11"/>
    <p:sldLayoutId id="2147484294" r:id="rId12"/>
    <p:sldLayoutId id="2147484295" r:id="rId13"/>
  </p:sldLayoutIdLst>
  <p:hf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wmf"/><Relationship Id="rId4" Type="http://schemas.openxmlformats.org/officeDocument/2006/relationships/oleObject" Target="../embeddings/oleObject2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6"/>
          <p:cNvSpPr>
            <a:spLocks noGrp="1" noChangeArrowheads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D5925E6-F8D5-4009-A224-F37630B5DF98}" type="slidenum">
              <a:rPr lang="en-US" altLang="en-US" sz="1400">
                <a:solidFill>
                  <a:schemeClr val="bg2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400">
              <a:solidFill>
                <a:schemeClr val="bg2"/>
              </a:solidFill>
            </a:endParaRPr>
          </a:p>
        </p:txBody>
      </p:sp>
      <p:sp>
        <p:nvSpPr>
          <p:cNvPr id="5123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Chapter 15</a:t>
            </a:r>
          </a:p>
        </p:txBody>
      </p:sp>
      <p:sp>
        <p:nvSpPr>
          <p:cNvPr id="5124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Capital Structure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EE05E9B-6982-4330-AE3A-8C8E2AEB7C8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400"/>
          </a:p>
        </p:txBody>
      </p:sp>
      <p:sp>
        <p:nvSpPr>
          <p:cNvPr id="6147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Topics in Chapter</a:t>
            </a:r>
          </a:p>
        </p:txBody>
      </p:sp>
      <p:sp>
        <p:nvSpPr>
          <p:cNvPr id="6148" name="Rectangle 8"/>
          <p:cNvSpPr>
            <a:spLocks noGrp="1" noChangeArrowheads="1"/>
          </p:cNvSpPr>
          <p:nvPr>
            <p:ph type="body" idx="1"/>
          </p:nvPr>
        </p:nvSpPr>
        <p:spPr>
          <a:xfrm>
            <a:off x="304800" y="1676400"/>
            <a:ext cx="8382000" cy="450056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Overview &amp; preview of capital structure effects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Business versus financial risk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Impact of debt on returns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Capital structure theory, evidence, &amp; implications for managers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/>
              <a:t>Comprehensive Example: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Determining optimal cap. structure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E2708FA-78ED-4ED0-960A-6B373A0AF86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400"/>
          </a:p>
        </p:txBody>
      </p:sp>
      <p:sp>
        <p:nvSpPr>
          <p:cNvPr id="9219" name="Rectangle 205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Goal of the Firm ?</a:t>
            </a:r>
          </a:p>
        </p:txBody>
      </p:sp>
      <p:sp>
        <p:nvSpPr>
          <p:cNvPr id="9220" name="Rectangle 205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Maximize Firm Value</a:t>
            </a:r>
          </a:p>
          <a:p>
            <a:pPr eaLnBrk="1" hangingPunct="1"/>
            <a:r>
              <a:rPr lang="en-US" altLang="en-US" dirty="0"/>
              <a:t>Maximize Profits</a:t>
            </a:r>
          </a:p>
          <a:p>
            <a:pPr eaLnBrk="1" hangingPunct="1"/>
            <a:r>
              <a:rPr lang="en-US" altLang="en-US" dirty="0"/>
              <a:t>Maximize ROIC</a:t>
            </a:r>
          </a:p>
          <a:p>
            <a:r>
              <a:rPr lang="en-US" altLang="en-US" dirty="0"/>
              <a:t>Minimize WACC</a:t>
            </a:r>
          </a:p>
          <a:p>
            <a:pPr eaLnBrk="1" hangingPunct="1"/>
            <a:r>
              <a:rPr lang="en-US" altLang="en-US" dirty="0"/>
              <a:t>Maximize shareholder Wealth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B554D0D-FF9A-4D3D-9A6B-61095F68229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400"/>
          </a:p>
        </p:txBody>
      </p:sp>
      <p:sp>
        <p:nvSpPr>
          <p:cNvPr id="10243" name="Rectangle 205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Goal of Firm is</a:t>
            </a:r>
          </a:p>
        </p:txBody>
      </p:sp>
      <p:sp>
        <p:nvSpPr>
          <p:cNvPr id="10244" name="Rectangle 2053"/>
          <p:cNvSpPr>
            <a:spLocks noGrp="1" noChangeArrowheads="1"/>
          </p:cNvSpPr>
          <p:nvPr>
            <p:ph type="body" idx="1"/>
          </p:nvPr>
        </p:nvSpPr>
        <p:spPr>
          <a:xfrm>
            <a:off x="304800" y="2017713"/>
            <a:ext cx="8650288" cy="4114800"/>
          </a:xfrm>
        </p:spPr>
        <p:txBody>
          <a:bodyPr/>
          <a:lstStyle/>
          <a:p>
            <a:pPr eaLnBrk="1" hangingPunct="1"/>
            <a:r>
              <a:rPr lang="en-US" altLang="en-US" dirty="0"/>
              <a:t>Maximize Owners’ (Stockholders’)Wealth</a:t>
            </a:r>
          </a:p>
          <a:p>
            <a:pPr eaLnBrk="1" hangingPunct="1"/>
            <a:r>
              <a:rPr lang="en-US" altLang="en-US" dirty="0"/>
              <a:t>Minimize WACC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F6CF01F-D534-42E6-B768-8EE10ED335C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400"/>
          </a:p>
        </p:txBody>
      </p:sp>
      <p:sp>
        <p:nvSpPr>
          <p:cNvPr id="11267" name="Rectangle 205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Factors Affecting Capital Structure:</a:t>
            </a:r>
          </a:p>
        </p:txBody>
      </p:sp>
      <p:sp>
        <p:nvSpPr>
          <p:cNvPr id="11268" name="Rectangle 2053"/>
          <p:cNvSpPr>
            <a:spLocks noGrp="1" noChangeArrowheads="1"/>
          </p:cNvSpPr>
          <p:nvPr>
            <p:ph type="body" idx="1"/>
          </p:nvPr>
        </p:nvSpPr>
        <p:spPr>
          <a:xfrm>
            <a:off x="685800" y="1676400"/>
            <a:ext cx="8269288" cy="5181600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en-US" sz="2600"/>
              <a:t>Business Risk</a:t>
            </a:r>
          </a:p>
          <a:p>
            <a:pPr eaLnBrk="1" hangingPunct="1"/>
            <a:r>
              <a:rPr lang="en-US" altLang="en-US" sz="2600"/>
              <a:t>Debt’s tax deductibility</a:t>
            </a:r>
          </a:p>
          <a:p>
            <a:pPr eaLnBrk="1" hangingPunct="1"/>
            <a:r>
              <a:rPr lang="en-US" altLang="en-US" sz="2600"/>
              <a:t>Ability to raise capital under adverse terms</a:t>
            </a:r>
          </a:p>
          <a:p>
            <a:pPr eaLnBrk="1" hangingPunct="1"/>
            <a:r>
              <a:rPr lang="en-US" altLang="en-US" sz="2600"/>
              <a:t>Managerial decisions:</a:t>
            </a:r>
          </a:p>
          <a:p>
            <a:pPr lvl="1" eaLnBrk="1" hangingPunct="1"/>
            <a:r>
              <a:rPr lang="en-US" altLang="en-US" sz="2400"/>
              <a:t>Conservative vs. Aggressive</a:t>
            </a:r>
          </a:p>
          <a:p>
            <a:pPr lvl="1" eaLnBrk="1" hangingPunct="1"/>
            <a:r>
              <a:rPr lang="en-US" altLang="en-US" sz="2400"/>
              <a:t>Minimize WACC</a:t>
            </a:r>
          </a:p>
          <a:p>
            <a:pPr lvl="1" eaLnBrk="1" hangingPunct="1"/>
            <a:r>
              <a:rPr lang="en-US" altLang="en-US" sz="2400"/>
              <a:t>Thru:</a:t>
            </a:r>
          </a:p>
          <a:p>
            <a:pPr lvl="2" eaLnBrk="1" hangingPunct="1"/>
            <a:r>
              <a:rPr lang="en-US" altLang="en-US" sz="2000"/>
              <a:t>Lowering risk</a:t>
            </a:r>
          </a:p>
          <a:p>
            <a:pPr lvl="2" eaLnBrk="1" hangingPunct="1"/>
            <a:r>
              <a:rPr lang="en-US" altLang="en-US" sz="2000"/>
              <a:t>Increasing CFs</a:t>
            </a:r>
          </a:p>
          <a:p>
            <a:pPr lvl="2" eaLnBrk="1" hangingPunct="1"/>
            <a:r>
              <a:rPr lang="en-US" altLang="en-US" sz="2000"/>
              <a:t>Maximize Op. Profits</a:t>
            </a:r>
          </a:p>
          <a:p>
            <a:pPr lvl="2" eaLnBrk="1" hangingPunct="1"/>
            <a:r>
              <a:rPr lang="en-US" altLang="en-US" sz="2000"/>
              <a:t>Growth Business</a:t>
            </a:r>
          </a:p>
          <a:p>
            <a:pPr lvl="2" eaLnBrk="1" hangingPunct="1"/>
            <a:r>
              <a:rPr lang="en-US" altLang="en-US" sz="2000"/>
              <a:t>Reduce Taxes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9F0212A-1D7B-4CF0-9C0A-0006B6509ED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400"/>
          </a:p>
        </p:txBody>
      </p:sp>
      <p:sp>
        <p:nvSpPr>
          <p:cNvPr id="14339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Preview of Capital Structure Effects</a:t>
            </a:r>
          </a:p>
        </p:txBody>
      </p:sp>
      <p:sp>
        <p:nvSpPr>
          <p:cNvPr id="14340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Impact of capital structure on value depends upon effect of debt on:</a:t>
            </a:r>
          </a:p>
          <a:p>
            <a:pPr lvl="1" eaLnBrk="1" hangingPunct="1"/>
            <a:r>
              <a:rPr lang="en-US" altLang="en-US" dirty="0"/>
              <a:t>WACC</a:t>
            </a:r>
          </a:p>
          <a:p>
            <a:pPr lvl="1" eaLnBrk="1" hangingPunct="1"/>
            <a:r>
              <a:rPr lang="en-US" altLang="en-US" dirty="0"/>
              <a:t>FCF</a:t>
            </a:r>
          </a:p>
        </p:txBody>
      </p:sp>
      <p:sp>
        <p:nvSpPr>
          <p:cNvPr id="14341" name="Text Box 4"/>
          <p:cNvSpPr txBox="1">
            <a:spLocks noChangeArrowheads="1"/>
          </p:cNvSpPr>
          <p:nvPr/>
        </p:nvSpPr>
        <p:spPr bwMode="auto">
          <a:xfrm>
            <a:off x="7010400" y="60960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(Continued…)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E6CDB2C-0BC1-4404-881D-19CBE72C69ED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400"/>
          </a:p>
        </p:txBody>
      </p:sp>
      <p:sp>
        <p:nvSpPr>
          <p:cNvPr id="1536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Effect of Additional Debt on WACC</a:t>
            </a:r>
          </a:p>
        </p:txBody>
      </p:sp>
      <p:sp>
        <p:nvSpPr>
          <p:cNvPr id="1536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Debtholders = 1st claim on CFs over stockholders. </a:t>
            </a:r>
          </a:p>
          <a:p>
            <a:pPr lvl="1" eaLnBrk="1" hangingPunct="1"/>
            <a:r>
              <a:rPr lang="en-US" altLang="en-US" sz="2400" dirty="0"/>
              <a:t>Debtholders’ “fixed” claim increases risk of stockholders’ “residual” claim.</a:t>
            </a:r>
          </a:p>
          <a:p>
            <a:pPr lvl="1" eaLnBrk="1" hangingPunct="1"/>
            <a:r>
              <a:rPr lang="en-US" altLang="en-US" sz="2400" dirty="0"/>
              <a:t>Cost of stock, R</a:t>
            </a:r>
            <a:r>
              <a:rPr lang="en-US" altLang="en-US" sz="2400" baseline="-25000" dirty="0"/>
              <a:t>s</a:t>
            </a:r>
            <a:r>
              <a:rPr lang="en-US" altLang="en-US" sz="2400" dirty="0"/>
              <a:t>, goes up.</a:t>
            </a:r>
          </a:p>
          <a:p>
            <a:pPr eaLnBrk="1" hangingPunct="1"/>
            <a:r>
              <a:rPr lang="en-US" altLang="en-US" sz="2800" dirty="0"/>
              <a:t>Firm’s can deduct interest expenses.</a:t>
            </a:r>
          </a:p>
          <a:p>
            <a:pPr lvl="1" eaLnBrk="1" hangingPunct="1"/>
            <a:r>
              <a:rPr lang="en-US" altLang="en-US" sz="2400" dirty="0"/>
              <a:t>Reduces taxes paid</a:t>
            </a:r>
          </a:p>
          <a:p>
            <a:pPr lvl="1" eaLnBrk="1" hangingPunct="1"/>
            <a:r>
              <a:rPr lang="en-US" altLang="en-US" sz="2400" dirty="0"/>
              <a:t>Frees up more cash for payments to investors</a:t>
            </a:r>
          </a:p>
          <a:p>
            <a:pPr lvl="1" eaLnBrk="1" hangingPunct="1"/>
            <a:r>
              <a:rPr lang="en-US" altLang="en-US" sz="2400" dirty="0"/>
              <a:t>Reduces after-tax cost of debt</a:t>
            </a:r>
          </a:p>
        </p:txBody>
      </p:sp>
      <p:sp>
        <p:nvSpPr>
          <p:cNvPr id="15365" name="Text Box 4"/>
          <p:cNvSpPr txBox="1">
            <a:spLocks noChangeArrowheads="1"/>
          </p:cNvSpPr>
          <p:nvPr/>
        </p:nvSpPr>
        <p:spPr bwMode="auto">
          <a:xfrm>
            <a:off x="7010400" y="60960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(Continued…)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478E02-5A1B-4FDD-AF11-83AF7673690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400"/>
          </a:p>
        </p:txBody>
      </p:sp>
      <p:sp>
        <p:nvSpPr>
          <p:cNvPr id="1638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Effect on WACC (Cont’d)</a:t>
            </a:r>
          </a:p>
        </p:txBody>
      </p:sp>
      <p:sp>
        <p:nvSpPr>
          <p:cNvPr id="1638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Debt increases risk of bankruptcy</a:t>
            </a:r>
          </a:p>
          <a:p>
            <a:pPr lvl="1" eaLnBrk="1" hangingPunct="1"/>
            <a:r>
              <a:rPr lang="en-US" altLang="en-US" dirty="0"/>
              <a:t>Causes pre-tax cost of debt, R</a:t>
            </a:r>
            <a:r>
              <a:rPr lang="en-US" altLang="en-US" baseline="-25000" dirty="0"/>
              <a:t>d</a:t>
            </a:r>
            <a:r>
              <a:rPr lang="en-US" altLang="en-US" dirty="0"/>
              <a:t>, to increase</a:t>
            </a:r>
          </a:p>
          <a:p>
            <a:r>
              <a:rPr lang="en-US" altLang="en-US" dirty="0"/>
              <a:t>Adding debt:</a:t>
            </a:r>
          </a:p>
          <a:p>
            <a:pPr lvl="1"/>
            <a:r>
              <a:rPr lang="en-US" altLang="en-US" dirty="0"/>
              <a:t>increase % (w</a:t>
            </a:r>
            <a:r>
              <a:rPr lang="en-US" altLang="en-US" baseline="-25000" dirty="0"/>
              <a:t>d</a:t>
            </a:r>
            <a:r>
              <a:rPr lang="en-US" altLang="en-US" dirty="0"/>
              <a:t>) of firm financed </a:t>
            </a:r>
            <a:r>
              <a:rPr lang="en-US" altLang="en-US" sz="2000" dirty="0"/>
              <a:t>w</a:t>
            </a:r>
            <a:r>
              <a:rPr lang="en-US" altLang="en-US" dirty="0"/>
              <a:t>/ low-cost debt </a:t>
            </a:r>
          </a:p>
          <a:p>
            <a:pPr lvl="1"/>
            <a:r>
              <a:rPr lang="en-US" altLang="en-US" dirty="0"/>
              <a:t>&amp; decreases % (</a:t>
            </a:r>
            <a:r>
              <a:rPr lang="en-US" altLang="en-US" dirty="0" err="1"/>
              <a:t>w</a:t>
            </a:r>
            <a:r>
              <a:rPr lang="en-US" altLang="en-US" baseline="-25000" dirty="0" err="1"/>
              <a:t>s</a:t>
            </a:r>
            <a:r>
              <a:rPr lang="en-US" altLang="en-US" dirty="0"/>
              <a:t>) financed </a:t>
            </a:r>
            <a:r>
              <a:rPr lang="en-US" altLang="en-US" sz="2400" dirty="0"/>
              <a:t>w</a:t>
            </a:r>
            <a:r>
              <a:rPr lang="en-US" altLang="en-US" dirty="0"/>
              <a:t>/ high-cost equity.</a:t>
            </a:r>
          </a:p>
          <a:p>
            <a:pPr marL="342900" lvl="1" indent="0">
              <a:buNone/>
            </a:pPr>
            <a:endParaRPr lang="en-US" altLang="en-US" dirty="0"/>
          </a:p>
          <a:p>
            <a:pPr marL="342900" lvl="1" indent="0">
              <a:buNone/>
            </a:pPr>
            <a:r>
              <a:rPr lang="en-US" altLang="en-US" dirty="0"/>
              <a:t>= Net effect on WACC uncertain.</a:t>
            </a:r>
          </a:p>
        </p:txBody>
      </p:sp>
      <p:sp>
        <p:nvSpPr>
          <p:cNvPr id="16389" name="Text Box 4"/>
          <p:cNvSpPr txBox="1">
            <a:spLocks noChangeArrowheads="1"/>
          </p:cNvSpPr>
          <p:nvPr/>
        </p:nvSpPr>
        <p:spPr bwMode="auto">
          <a:xfrm>
            <a:off x="7010400" y="60960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(Continued…)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71B2C0B-EBBF-41E5-9FE7-DFEDCA7BED2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400"/>
          </a:p>
        </p:txBody>
      </p:sp>
      <p:sp>
        <p:nvSpPr>
          <p:cNvPr id="17411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Effect of </a:t>
            </a:r>
            <a:r>
              <a:rPr lang="en-US" altLang="en-US" dirty="0" err="1"/>
              <a:t>Addtional</a:t>
            </a:r>
            <a:r>
              <a:rPr lang="en-US" altLang="en-US" dirty="0"/>
              <a:t> Debt on FCF</a:t>
            </a:r>
          </a:p>
        </p:txBody>
      </p:sp>
      <p:sp>
        <p:nvSpPr>
          <p:cNvPr id="17412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04800" y="1600200"/>
            <a:ext cx="8610600" cy="4576764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dirty="0" err="1"/>
              <a:t>Addt’l</a:t>
            </a:r>
            <a:r>
              <a:rPr lang="en-US" altLang="en-US" dirty="0"/>
              <a:t> debt increases probability of bankruptcy.</a:t>
            </a:r>
          </a:p>
          <a:p>
            <a:pPr lvl="1" eaLnBrk="1" hangingPunct="1"/>
            <a:r>
              <a:rPr lang="en-US" altLang="en-US" dirty="0"/>
              <a:t>Direct costs: Legal fees, “fire” sales.</a:t>
            </a:r>
          </a:p>
          <a:p>
            <a:pPr lvl="1" eaLnBrk="1" hangingPunct="1"/>
            <a:r>
              <a:rPr lang="en-US" altLang="en-US" dirty="0"/>
              <a:t>Indirect costs: </a:t>
            </a:r>
          </a:p>
          <a:p>
            <a:pPr lvl="2"/>
            <a:r>
              <a:rPr lang="en-US" altLang="en-US" sz="2400" dirty="0"/>
              <a:t>Lost customers</a:t>
            </a:r>
          </a:p>
          <a:p>
            <a:pPr lvl="2"/>
            <a:r>
              <a:rPr lang="en-US" altLang="en-US" sz="2400" dirty="0"/>
              <a:t>Reduction in productivity of managers &amp; line workers</a:t>
            </a:r>
          </a:p>
          <a:p>
            <a:pPr lvl="2"/>
            <a:r>
              <a:rPr lang="en-US" altLang="en-US" sz="2400" dirty="0"/>
              <a:t>Reduction in credit (i.e., A/P) offered by suppliers </a:t>
            </a:r>
          </a:p>
        </p:txBody>
      </p:sp>
      <p:sp>
        <p:nvSpPr>
          <p:cNvPr id="17413" name="Text Box 4"/>
          <p:cNvSpPr txBox="1">
            <a:spLocks noChangeArrowheads="1"/>
          </p:cNvSpPr>
          <p:nvPr/>
        </p:nvSpPr>
        <p:spPr bwMode="auto">
          <a:xfrm>
            <a:off x="7010400" y="60960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(Continued…)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64961C1-52A4-4E71-9BB4-CCB745EFDFF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400"/>
          </a:p>
        </p:txBody>
      </p:sp>
      <p:sp>
        <p:nvSpPr>
          <p:cNvPr id="18435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en-US" dirty="0"/>
              <a:t>Impact of indirect costs</a:t>
            </a:r>
          </a:p>
        </p:txBody>
      </p:sp>
      <p:sp>
        <p:nvSpPr>
          <p:cNvPr id="18436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228600" y="1676406"/>
            <a:ext cx="8686800" cy="4500558"/>
          </a:xfrm>
        </p:spPr>
        <p:txBody>
          <a:bodyPr/>
          <a:lstStyle/>
          <a:p>
            <a:r>
              <a:rPr lang="en-US" altLang="en-US" dirty="0"/>
              <a:t>NOPAT goes down due to lost customers &amp; drop in productivity</a:t>
            </a:r>
          </a:p>
          <a:p>
            <a:r>
              <a:rPr lang="en-US" altLang="en-US" dirty="0"/>
              <a:t>Investment in capital goes up due to increase in net operating working capital:</a:t>
            </a:r>
          </a:p>
          <a:p>
            <a:pPr lvl="1"/>
            <a:r>
              <a:rPr lang="en-US" altLang="en-US" dirty="0"/>
              <a:t> </a:t>
            </a:r>
            <a:r>
              <a:rPr lang="en-US" altLang="en-US" sz="2600" dirty="0"/>
              <a:t>(accounts payable goes down as suppliers tighten credit).</a:t>
            </a:r>
          </a:p>
        </p:txBody>
      </p:sp>
      <p:sp>
        <p:nvSpPr>
          <p:cNvPr id="18437" name="Text Box 3"/>
          <p:cNvSpPr txBox="1">
            <a:spLocks noChangeArrowheads="1"/>
          </p:cNvSpPr>
          <p:nvPr/>
        </p:nvSpPr>
        <p:spPr bwMode="auto">
          <a:xfrm>
            <a:off x="7010400" y="60960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(Continued…)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8A3F5D5-ABED-4055-BF77-3D2EAB87116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400"/>
          </a:p>
        </p:txBody>
      </p:sp>
      <p:sp>
        <p:nvSpPr>
          <p:cNvPr id="19459" name="Rectangle 4"/>
          <p:cNvSpPr>
            <a:spLocks noGrp="1" noChangeArrowheads="1"/>
          </p:cNvSpPr>
          <p:nvPr>
            <p:ph type="title"/>
          </p:nvPr>
        </p:nvSpPr>
        <p:spPr>
          <a:xfrm>
            <a:off x="381000" y="365127"/>
            <a:ext cx="8382000" cy="1032090"/>
          </a:xfrm>
        </p:spPr>
        <p:txBody>
          <a:bodyPr>
            <a:noAutofit/>
          </a:bodyPr>
          <a:lstStyle/>
          <a:p>
            <a:r>
              <a:rPr lang="en-US" altLang="en-US" sz="3400" dirty="0" err="1"/>
              <a:t>Addt’l</a:t>
            </a:r>
            <a:r>
              <a:rPr lang="en-US" altLang="en-US" sz="3400" dirty="0"/>
              <a:t> debt can affect behavior of managers</a:t>
            </a:r>
          </a:p>
        </p:txBody>
      </p:sp>
      <p:sp>
        <p:nvSpPr>
          <p:cNvPr id="19460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Reductions in agency costs: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Debt </a:t>
            </a:r>
            <a:r>
              <a:rPr lang="en-US" altLang="en-US" dirty="0" err="1"/>
              <a:t>pmt</a:t>
            </a:r>
            <a:r>
              <a:rPr lang="en-US" altLang="en-US" dirty="0"/>
              <a:t> priority: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FCFs used for interest </a:t>
            </a:r>
            <a:r>
              <a:rPr lang="en-US" altLang="en-US" dirty="0" err="1"/>
              <a:t>pmts</a:t>
            </a:r>
            <a:endParaRPr lang="en-US" altLang="en-US" dirty="0"/>
          </a:p>
          <a:p>
            <a:pPr lvl="2">
              <a:lnSpc>
                <a:spcPct val="90000"/>
              </a:lnSpc>
            </a:pPr>
            <a:r>
              <a:rPr lang="en-US" altLang="en-US" dirty="0"/>
              <a:t>Thus, managers less likely to waste FCF on non-value adding acquisitions.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Increases in agency costs: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Debt can make managers too risk-averse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causing “underinvestment” in risky but positive NPV projects. </a:t>
            </a:r>
          </a:p>
        </p:txBody>
      </p:sp>
      <p:sp>
        <p:nvSpPr>
          <p:cNvPr id="19461" name="Text Box 3"/>
          <p:cNvSpPr txBox="1">
            <a:spLocks noChangeArrowheads="1"/>
          </p:cNvSpPr>
          <p:nvPr/>
        </p:nvSpPr>
        <p:spPr bwMode="auto">
          <a:xfrm>
            <a:off x="7010400" y="6096000"/>
            <a:ext cx="16764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1600">
                <a:latin typeface="Arial" panose="020B0604020202020204" pitchFamily="34" charset="0"/>
              </a:rPr>
              <a:t>(Continued…)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D6C923A-FBEE-4C7F-A5E3-4E82DB1CF26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400"/>
          </a:p>
        </p:txBody>
      </p:sp>
      <p:sp>
        <p:nvSpPr>
          <p:cNvPr id="20483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 eaLnBrk="1" hangingPunct="1"/>
            <a:r>
              <a:rPr lang="en-US" altLang="en-US" dirty="0"/>
              <a:t>Asymmetric Info &amp; Signaling</a:t>
            </a:r>
          </a:p>
        </p:txBody>
      </p:sp>
      <p:sp>
        <p:nvSpPr>
          <p:cNvPr id="20484" name="Rectangle 6"/>
          <p:cNvSpPr>
            <a:spLocks noGrp="1" noChangeArrowheads="1"/>
          </p:cNvSpPr>
          <p:nvPr>
            <p:ph type="body" idx="1"/>
          </p:nvPr>
        </p:nvSpPr>
        <p:spPr>
          <a:xfrm>
            <a:off x="381000" y="1676406"/>
            <a:ext cx="8458200" cy="4500558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en-US" sz="2800" dirty="0"/>
              <a:t>Managers know firm’s future prospects better than investors.</a:t>
            </a:r>
          </a:p>
          <a:p>
            <a:pPr eaLnBrk="1" hangingPunct="1"/>
            <a:r>
              <a:rPr lang="en-US" altLang="en-US" sz="2800" dirty="0"/>
              <a:t>Mgrs. would not issue additional equity if  thought current stock price was less than true value of stock (given their inside information).</a:t>
            </a:r>
          </a:p>
          <a:p>
            <a:pPr eaLnBrk="1" hangingPunct="1"/>
            <a:r>
              <a:rPr lang="en-US" altLang="en-US" sz="2800" dirty="0"/>
              <a:t>Hence, investors often perceive an additional issuance of stock as a negative signal, &amp; stock price falls.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D5F1A8-1A79-49AB-8060-433D1FD9B07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400"/>
          </a:p>
        </p:txBody>
      </p:sp>
      <p:sp>
        <p:nvSpPr>
          <p:cNvPr id="2560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Business Risk versus Financial Risk</a:t>
            </a:r>
          </a:p>
        </p:txBody>
      </p:sp>
      <p:sp>
        <p:nvSpPr>
          <p:cNvPr id="25604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Business risk:</a:t>
            </a:r>
          </a:p>
          <a:p>
            <a:pPr lvl="1" eaLnBrk="1" hangingPunct="1"/>
            <a:r>
              <a:rPr lang="en-US" altLang="en-US" sz="2400" dirty="0"/>
              <a:t>Uncertainty in future EBIT, NOPAT, &amp; ROIC.</a:t>
            </a:r>
          </a:p>
          <a:p>
            <a:pPr lvl="1" eaLnBrk="1" hangingPunct="1"/>
            <a:r>
              <a:rPr lang="en-US" altLang="en-US" sz="2400" dirty="0"/>
              <a:t>Depends on business factors such as competition, operating leverage.</a:t>
            </a:r>
          </a:p>
          <a:p>
            <a:pPr eaLnBrk="1" hangingPunct="1"/>
            <a:r>
              <a:rPr lang="en-US" altLang="en-US" sz="2800" dirty="0"/>
              <a:t>Financial risk:</a:t>
            </a:r>
          </a:p>
          <a:p>
            <a:pPr lvl="1" eaLnBrk="1" hangingPunct="1"/>
            <a:r>
              <a:rPr lang="en-US" altLang="en-US" sz="2400" dirty="0"/>
              <a:t>Additional risk concentrated on common stockholders when financial leverage is used.</a:t>
            </a:r>
          </a:p>
          <a:p>
            <a:pPr lvl="1" eaLnBrk="1" hangingPunct="1"/>
            <a:r>
              <a:rPr lang="en-US" altLang="en-US" sz="2400" dirty="0"/>
              <a:t>Depends on amount of debt &amp; preferred stock financing.</a:t>
            </a:r>
          </a:p>
        </p:txBody>
      </p:sp>
    </p:spTree>
    <p:extLst>
      <p:ext uri="{BB962C8B-B14F-4D97-AF65-F5344CB8AC3E}">
        <p14:creationId xmlns:p14="http://schemas.microsoft.com/office/powerpoint/2010/main" val="750307716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F9C3735-A2F6-4B67-8498-23BD8BE7C1D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400"/>
          </a:p>
        </p:txBody>
      </p:sp>
      <p:sp>
        <p:nvSpPr>
          <p:cNvPr id="21507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dirty="0"/>
              <a:t>Business Risk: </a:t>
            </a:r>
            <a:br>
              <a:rPr lang="en-US" altLang="en-US" dirty="0"/>
            </a:br>
            <a:r>
              <a:rPr lang="en-US" altLang="en-US" dirty="0"/>
              <a:t>Uncertainty in EBIT, NOPAT, &amp; ROIC</a:t>
            </a:r>
          </a:p>
        </p:txBody>
      </p:sp>
      <p:sp>
        <p:nvSpPr>
          <p:cNvPr id="2150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Uncertainty about demand (unit sales).</a:t>
            </a:r>
          </a:p>
          <a:p>
            <a:pPr eaLnBrk="1" hangingPunct="1"/>
            <a:r>
              <a:rPr lang="en-US" altLang="en-US" dirty="0"/>
              <a:t>Uncertainty about output prices.</a:t>
            </a:r>
          </a:p>
          <a:p>
            <a:pPr eaLnBrk="1" hangingPunct="1"/>
            <a:r>
              <a:rPr lang="en-US" altLang="en-US" dirty="0"/>
              <a:t>Uncertainty about input costs.</a:t>
            </a:r>
          </a:p>
          <a:p>
            <a:pPr eaLnBrk="1" hangingPunct="1"/>
            <a:r>
              <a:rPr lang="en-US" altLang="en-US" dirty="0"/>
              <a:t>Product &amp; other types of liability.</a:t>
            </a:r>
          </a:p>
          <a:p>
            <a:pPr eaLnBrk="1" hangingPunct="1"/>
            <a:r>
              <a:rPr lang="en-US" altLang="en-US" dirty="0"/>
              <a:t>Degree of operating leverage (DOL).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EAC8E26-03EC-4658-A75E-AADFEB959D5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400"/>
          </a:p>
        </p:txBody>
      </p:sp>
      <p:sp>
        <p:nvSpPr>
          <p:cNvPr id="22531" name="Rectangle 6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3600" dirty="0"/>
              <a:t>Operating leverage, </a:t>
            </a:r>
            <a:br>
              <a:rPr lang="en-US" altLang="en-US" sz="3600" dirty="0"/>
            </a:br>
            <a:r>
              <a:rPr lang="en-US" altLang="en-US" sz="3600" dirty="0"/>
              <a:t>&amp; affect on firm’s business risk?</a:t>
            </a:r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Operating leverage is change in EBIT caused by change in quantity sold.</a:t>
            </a:r>
          </a:p>
          <a:p>
            <a:pPr eaLnBrk="1" hangingPunct="1"/>
            <a:r>
              <a:rPr lang="en-US" altLang="en-US" dirty="0"/>
              <a:t>Higher proportion of fixed costs relative to variable costs, greater operating leverage.</a:t>
            </a: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auto">
          <a:xfrm>
            <a:off x="7239000" y="5791200"/>
            <a:ext cx="136683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(More...)</a:t>
            </a: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17C6BAA-B7B4-44D0-AA7B-3DDC0A07C93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400"/>
          </a:p>
        </p:txBody>
      </p:sp>
      <p:sp>
        <p:nvSpPr>
          <p:cNvPr id="23555" name="Rectangle 59"/>
          <p:cNvSpPr>
            <a:spLocks noGrp="1" noChangeArrowheads="1"/>
          </p:cNvSpPr>
          <p:nvPr>
            <p:ph type="title"/>
          </p:nvPr>
        </p:nvSpPr>
        <p:spPr>
          <a:xfrm>
            <a:off x="628650" y="304800"/>
            <a:ext cx="7886700" cy="103209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en-US" sz="3200" dirty="0"/>
              <a:t>Higher operating leverage leads to more business risk: small sales decline = larger EBIT decline.</a:t>
            </a:r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7445375" y="5854700"/>
            <a:ext cx="11652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(More...)</a:t>
            </a:r>
          </a:p>
        </p:txBody>
      </p:sp>
      <p:graphicFrame>
        <p:nvGraphicFramePr>
          <p:cNvPr id="23557" name="Object 6">
            <a:hlinkClick r:id="" action="ppaction://ole?verb=0"/>
          </p:cNvPr>
          <p:cNvGraphicFramePr>
            <a:graphicFrameLocks/>
          </p:cNvGraphicFramePr>
          <p:nvPr/>
        </p:nvGraphicFramePr>
        <p:xfrm>
          <a:off x="4572000" y="4038600"/>
          <a:ext cx="881063" cy="969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2" imgW="865632" imgH="978408" progId="">
                  <p:embed/>
                </p:oleObj>
              </mc:Choice>
              <mc:Fallback>
                <p:oleObj name="VISIO" r:id="rId2" imgW="865632" imgH="978408" progId="">
                  <p:embed/>
                  <p:pic>
                    <p:nvPicPr>
                      <p:cNvPr id="23557" name="Object 6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4038600"/>
                        <a:ext cx="881063" cy="969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8" name="Object 7">
            <a:hlinkClick r:id="" action="ppaction://ole?verb=0"/>
          </p:cNvPr>
          <p:cNvGraphicFramePr>
            <a:graphicFrameLocks/>
          </p:cNvGraphicFramePr>
          <p:nvPr/>
        </p:nvGraphicFramePr>
        <p:xfrm>
          <a:off x="5499100" y="3071813"/>
          <a:ext cx="1287463" cy="928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VISIO" r:id="rId4" imgW="1298448" imgH="938784" progId="">
                  <p:embed/>
                </p:oleObj>
              </mc:Choice>
              <mc:Fallback>
                <p:oleObj name="VISIO" r:id="rId4" imgW="1298448" imgH="938784" progId="">
                  <p:embed/>
                  <p:pic>
                    <p:nvPicPr>
                      <p:cNvPr id="23558" name="Object 7">
                        <a:hlinkClick r:id="" action="ppaction://ole?verb=0"/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99100" y="3071813"/>
                        <a:ext cx="1287463" cy="928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Rectangle 8"/>
          <p:cNvSpPr>
            <a:spLocks noChangeArrowheads="1"/>
          </p:cNvSpPr>
          <p:nvPr/>
        </p:nvSpPr>
        <p:spPr bwMode="auto">
          <a:xfrm>
            <a:off x="3524250" y="5141913"/>
            <a:ext cx="842963" cy="300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60" name="Rectangle 9"/>
          <p:cNvSpPr>
            <a:spLocks noChangeArrowheads="1"/>
          </p:cNvSpPr>
          <p:nvPr/>
        </p:nvSpPr>
        <p:spPr bwMode="auto">
          <a:xfrm>
            <a:off x="3409950" y="5108575"/>
            <a:ext cx="9779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Sales</a:t>
            </a:r>
          </a:p>
        </p:txBody>
      </p:sp>
      <p:sp>
        <p:nvSpPr>
          <p:cNvPr id="23561" name="Rectangle 10"/>
          <p:cNvSpPr>
            <a:spLocks noChangeArrowheads="1"/>
          </p:cNvSpPr>
          <p:nvPr/>
        </p:nvSpPr>
        <p:spPr bwMode="auto">
          <a:xfrm>
            <a:off x="1516063" y="2798763"/>
            <a:ext cx="350837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$</a:t>
            </a:r>
          </a:p>
        </p:txBody>
      </p:sp>
      <p:sp>
        <p:nvSpPr>
          <p:cNvPr id="23562" name="Rectangle 11"/>
          <p:cNvSpPr>
            <a:spLocks noChangeArrowheads="1"/>
          </p:cNvSpPr>
          <p:nvPr/>
        </p:nvSpPr>
        <p:spPr bwMode="auto">
          <a:xfrm>
            <a:off x="2757488" y="2790825"/>
            <a:ext cx="119697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63" name="Rectangle 12"/>
          <p:cNvSpPr>
            <a:spLocks noChangeArrowheads="1"/>
          </p:cNvSpPr>
          <p:nvPr/>
        </p:nvSpPr>
        <p:spPr bwMode="auto">
          <a:xfrm>
            <a:off x="3121025" y="2714625"/>
            <a:ext cx="8255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Rev.</a:t>
            </a:r>
          </a:p>
        </p:txBody>
      </p:sp>
      <p:sp>
        <p:nvSpPr>
          <p:cNvPr id="23564" name="Rectangle 13"/>
          <p:cNvSpPr>
            <a:spLocks noChangeArrowheads="1"/>
          </p:cNvSpPr>
          <p:nvPr/>
        </p:nvSpPr>
        <p:spPr bwMode="auto">
          <a:xfrm>
            <a:off x="3746500" y="3136900"/>
            <a:ext cx="5873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TC</a:t>
            </a:r>
          </a:p>
        </p:txBody>
      </p:sp>
      <p:sp>
        <p:nvSpPr>
          <p:cNvPr id="23565" name="Rectangle 14"/>
          <p:cNvSpPr>
            <a:spLocks noChangeArrowheads="1"/>
          </p:cNvSpPr>
          <p:nvPr/>
        </p:nvSpPr>
        <p:spPr bwMode="auto">
          <a:xfrm>
            <a:off x="3524250" y="4522788"/>
            <a:ext cx="898525" cy="35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66" name="Rectangle 15"/>
          <p:cNvSpPr>
            <a:spLocks noChangeArrowheads="1"/>
          </p:cNvSpPr>
          <p:nvPr/>
        </p:nvSpPr>
        <p:spPr bwMode="auto">
          <a:xfrm>
            <a:off x="3887788" y="4446588"/>
            <a:ext cx="366712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23567" name="Oval 16"/>
          <p:cNvSpPr>
            <a:spLocks noChangeArrowheads="1"/>
          </p:cNvSpPr>
          <p:nvPr/>
        </p:nvSpPr>
        <p:spPr bwMode="auto">
          <a:xfrm>
            <a:off x="1720850" y="5029200"/>
            <a:ext cx="33338" cy="33338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68" name="Oval 18"/>
          <p:cNvSpPr>
            <a:spLocks noChangeArrowheads="1"/>
          </p:cNvSpPr>
          <p:nvPr/>
        </p:nvSpPr>
        <p:spPr bwMode="auto">
          <a:xfrm>
            <a:off x="1720850" y="4592638"/>
            <a:ext cx="33338" cy="476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69" name="Rectangle 20"/>
          <p:cNvSpPr>
            <a:spLocks noChangeArrowheads="1"/>
          </p:cNvSpPr>
          <p:nvPr/>
        </p:nvSpPr>
        <p:spPr bwMode="auto">
          <a:xfrm>
            <a:off x="2317750" y="5127625"/>
            <a:ext cx="557213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70" name="Rectangle 21"/>
          <p:cNvSpPr>
            <a:spLocks noChangeArrowheads="1"/>
          </p:cNvSpPr>
          <p:nvPr/>
        </p:nvSpPr>
        <p:spPr bwMode="auto">
          <a:xfrm>
            <a:off x="2203450" y="5080000"/>
            <a:ext cx="6985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Q</a:t>
            </a:r>
            <a:r>
              <a:rPr lang="en-US" altLang="en-US" sz="2400" b="1" baseline="-25000">
                <a:latin typeface="Arial" panose="020B0604020202020204" pitchFamily="34" charset="0"/>
              </a:rPr>
              <a:t>BE</a:t>
            </a:r>
          </a:p>
        </p:txBody>
      </p:sp>
      <p:sp>
        <p:nvSpPr>
          <p:cNvPr id="23571" name="Rectangle 22"/>
          <p:cNvSpPr>
            <a:spLocks noChangeArrowheads="1"/>
          </p:cNvSpPr>
          <p:nvPr/>
        </p:nvSpPr>
        <p:spPr bwMode="auto">
          <a:xfrm>
            <a:off x="6435725" y="5127625"/>
            <a:ext cx="841375" cy="30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72" name="Rectangle 23"/>
          <p:cNvSpPr>
            <a:spLocks noChangeArrowheads="1"/>
          </p:cNvSpPr>
          <p:nvPr/>
        </p:nvSpPr>
        <p:spPr bwMode="auto">
          <a:xfrm>
            <a:off x="4064000" y="2860675"/>
            <a:ext cx="614363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73" name="Rectangle 24"/>
          <p:cNvSpPr>
            <a:spLocks noChangeArrowheads="1"/>
          </p:cNvSpPr>
          <p:nvPr/>
        </p:nvSpPr>
        <p:spPr bwMode="auto">
          <a:xfrm>
            <a:off x="5697538" y="2747963"/>
            <a:ext cx="1211262" cy="357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74" name="Rectangle 25"/>
          <p:cNvSpPr>
            <a:spLocks noChangeArrowheads="1"/>
          </p:cNvSpPr>
          <p:nvPr/>
        </p:nvSpPr>
        <p:spPr bwMode="auto">
          <a:xfrm>
            <a:off x="6464300" y="4127500"/>
            <a:ext cx="898525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75" name="Oval 26"/>
          <p:cNvSpPr>
            <a:spLocks noChangeArrowheads="1"/>
          </p:cNvSpPr>
          <p:nvPr/>
        </p:nvSpPr>
        <p:spPr bwMode="auto">
          <a:xfrm>
            <a:off x="4632325" y="5000625"/>
            <a:ext cx="31750" cy="47625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76" name="Oval 28"/>
          <p:cNvSpPr>
            <a:spLocks noChangeArrowheads="1"/>
          </p:cNvSpPr>
          <p:nvPr/>
        </p:nvSpPr>
        <p:spPr bwMode="auto">
          <a:xfrm>
            <a:off x="4632325" y="4240213"/>
            <a:ext cx="31750" cy="33337"/>
          </a:xfrm>
          <a:prstGeom prst="ellipse">
            <a:avLst/>
          </a:pr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77" name="Rectangle 30"/>
          <p:cNvSpPr>
            <a:spLocks noChangeArrowheads="1"/>
          </p:cNvSpPr>
          <p:nvPr/>
        </p:nvSpPr>
        <p:spPr bwMode="auto">
          <a:xfrm>
            <a:off x="5313363" y="5099050"/>
            <a:ext cx="558800" cy="30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78" name="Rectangle 31"/>
          <p:cNvSpPr>
            <a:spLocks noChangeArrowheads="1"/>
          </p:cNvSpPr>
          <p:nvPr/>
        </p:nvSpPr>
        <p:spPr bwMode="auto">
          <a:xfrm>
            <a:off x="6588125" y="3157538"/>
            <a:ext cx="874713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EBIT</a:t>
            </a:r>
          </a:p>
        </p:txBody>
      </p:sp>
      <p:sp>
        <p:nvSpPr>
          <p:cNvPr id="23579" name="Freeform 32"/>
          <p:cNvSpPr>
            <a:spLocks/>
          </p:cNvSpPr>
          <p:nvPr/>
        </p:nvSpPr>
        <p:spPr bwMode="auto">
          <a:xfrm>
            <a:off x="1749425" y="4225925"/>
            <a:ext cx="615950" cy="739775"/>
          </a:xfrm>
          <a:custGeom>
            <a:avLst/>
            <a:gdLst>
              <a:gd name="T0" fmla="*/ 0 w 388"/>
              <a:gd name="T1" fmla="*/ 2147483646 h 466"/>
              <a:gd name="T2" fmla="*/ 0 w 388"/>
              <a:gd name="T3" fmla="*/ 2147483646 h 466"/>
              <a:gd name="T4" fmla="*/ 2147483646 w 388"/>
              <a:gd name="T5" fmla="*/ 0 h 466"/>
              <a:gd name="T6" fmla="*/ 2147483646 w 388"/>
              <a:gd name="T7" fmla="*/ 2147483646 h 466"/>
              <a:gd name="T8" fmla="*/ 2147483646 w 388"/>
              <a:gd name="T9" fmla="*/ 2147483646 h 466"/>
              <a:gd name="T10" fmla="*/ 2147483646 w 388"/>
              <a:gd name="T11" fmla="*/ 2147483646 h 466"/>
              <a:gd name="T12" fmla="*/ 2147483646 w 388"/>
              <a:gd name="T13" fmla="*/ 2147483646 h 466"/>
              <a:gd name="T14" fmla="*/ 2147483646 w 388"/>
              <a:gd name="T15" fmla="*/ 2147483646 h 466"/>
              <a:gd name="T16" fmla="*/ 2147483646 w 388"/>
              <a:gd name="T17" fmla="*/ 2147483646 h 466"/>
              <a:gd name="T18" fmla="*/ 2147483646 w 388"/>
              <a:gd name="T19" fmla="*/ 2147483646 h 466"/>
              <a:gd name="T20" fmla="*/ 2147483646 w 388"/>
              <a:gd name="T21" fmla="*/ 2147483646 h 466"/>
              <a:gd name="T22" fmla="*/ 0 w 388"/>
              <a:gd name="T23" fmla="*/ 2147483646 h 466"/>
              <a:gd name="T24" fmla="*/ 2147483646 w 388"/>
              <a:gd name="T25" fmla="*/ 2147483646 h 466"/>
              <a:gd name="T26" fmla="*/ 2147483646 w 388"/>
              <a:gd name="T27" fmla="*/ 2147483646 h 466"/>
              <a:gd name="T28" fmla="*/ 0 w 388"/>
              <a:gd name="T29" fmla="*/ 2147483646 h 46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w 388"/>
              <a:gd name="T46" fmla="*/ 0 h 466"/>
              <a:gd name="T47" fmla="*/ 388 w 388"/>
              <a:gd name="T48" fmla="*/ 466 h 466"/>
            </a:gdLst>
            <a:ahLst/>
            <a:cxnLst>
              <a:cxn ang="T30">
                <a:pos x="T0" y="T1"/>
              </a:cxn>
              <a:cxn ang="T31">
                <a:pos x="T2" y="T3"/>
              </a:cxn>
              <a:cxn ang="T32">
                <a:pos x="T4" y="T5"/>
              </a:cxn>
              <a:cxn ang="T33">
                <a:pos x="T6" y="T7"/>
              </a:cxn>
              <a:cxn ang="T34">
                <a:pos x="T8" y="T9"/>
              </a:cxn>
              <a:cxn ang="T35">
                <a:pos x="T10" y="T11"/>
              </a:cxn>
              <a:cxn ang="T36">
                <a:pos x="T12" y="T13"/>
              </a:cxn>
              <a:cxn ang="T37">
                <a:pos x="T14" y="T15"/>
              </a:cxn>
              <a:cxn ang="T38">
                <a:pos x="T16" y="T17"/>
              </a:cxn>
              <a:cxn ang="T39">
                <a:pos x="T18" y="T19"/>
              </a:cxn>
              <a:cxn ang="T40">
                <a:pos x="T20" y="T21"/>
              </a:cxn>
              <a:cxn ang="T41">
                <a:pos x="T22" y="T23"/>
              </a:cxn>
              <a:cxn ang="T42">
                <a:pos x="T24" y="T25"/>
              </a:cxn>
              <a:cxn ang="T43">
                <a:pos x="T26" y="T27"/>
              </a:cxn>
              <a:cxn ang="T44">
                <a:pos x="T28" y="T29"/>
              </a:cxn>
            </a:cxnLst>
            <a:rect l="T45" t="T46" r="T47" b="T48"/>
            <a:pathLst>
              <a:path w="388" h="466">
                <a:moveTo>
                  <a:pt x="0" y="465"/>
                </a:moveTo>
                <a:lnTo>
                  <a:pt x="0" y="246"/>
                </a:lnTo>
                <a:lnTo>
                  <a:pt x="387" y="0"/>
                </a:lnTo>
                <a:lnTo>
                  <a:pt x="61" y="359"/>
                </a:lnTo>
                <a:lnTo>
                  <a:pt x="18" y="246"/>
                </a:lnTo>
                <a:lnTo>
                  <a:pt x="18" y="412"/>
                </a:lnTo>
                <a:lnTo>
                  <a:pt x="228" y="123"/>
                </a:lnTo>
                <a:lnTo>
                  <a:pt x="18" y="325"/>
                </a:lnTo>
                <a:lnTo>
                  <a:pt x="176" y="176"/>
                </a:lnTo>
                <a:lnTo>
                  <a:pt x="387" y="18"/>
                </a:lnTo>
                <a:lnTo>
                  <a:pt x="18" y="395"/>
                </a:lnTo>
                <a:lnTo>
                  <a:pt x="0" y="246"/>
                </a:lnTo>
                <a:lnTo>
                  <a:pt x="194" y="194"/>
                </a:lnTo>
                <a:lnTo>
                  <a:pt x="61" y="289"/>
                </a:lnTo>
                <a:lnTo>
                  <a:pt x="0" y="465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0" name="Line 33"/>
          <p:cNvSpPr>
            <a:spLocks noChangeShapeType="1"/>
          </p:cNvSpPr>
          <p:nvPr/>
        </p:nvSpPr>
        <p:spPr bwMode="auto">
          <a:xfrm flipV="1">
            <a:off x="5534025" y="3960813"/>
            <a:ext cx="0" cy="113665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81" name="Line 34"/>
          <p:cNvSpPr>
            <a:spLocks noChangeShapeType="1"/>
          </p:cNvSpPr>
          <p:nvPr/>
        </p:nvSpPr>
        <p:spPr bwMode="auto">
          <a:xfrm flipV="1">
            <a:off x="2543175" y="4075113"/>
            <a:ext cx="0" cy="1003300"/>
          </a:xfrm>
          <a:prstGeom prst="line">
            <a:avLst/>
          </a:prstGeom>
          <a:noFill/>
          <a:ln w="5080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82" name="Text Box 35"/>
          <p:cNvSpPr txBox="1">
            <a:spLocks noChangeArrowheads="1"/>
          </p:cNvSpPr>
          <p:nvPr/>
        </p:nvSpPr>
        <p:spPr bwMode="auto">
          <a:xfrm>
            <a:off x="6324600" y="2943225"/>
            <a:ext cx="387350" cy="82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800">
                <a:latin typeface="Arial" panose="020B0604020202020204" pitchFamily="34" charset="0"/>
              </a:rPr>
              <a:t>}</a:t>
            </a:r>
            <a:endParaRPr lang="en-US" altLang="en-US" b="1">
              <a:latin typeface="Arial" panose="020B0604020202020204" pitchFamily="34" charset="0"/>
            </a:endParaRPr>
          </a:p>
        </p:txBody>
      </p:sp>
      <p:sp>
        <p:nvSpPr>
          <p:cNvPr id="23583" name="Line 37"/>
          <p:cNvSpPr>
            <a:spLocks noChangeShapeType="1"/>
          </p:cNvSpPr>
          <p:nvPr/>
        </p:nvSpPr>
        <p:spPr bwMode="auto">
          <a:xfrm flipV="1">
            <a:off x="4648200" y="3200400"/>
            <a:ext cx="0" cy="182880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84" name="Rectangle 38"/>
          <p:cNvSpPr>
            <a:spLocks noChangeArrowheads="1"/>
          </p:cNvSpPr>
          <p:nvPr/>
        </p:nvSpPr>
        <p:spPr bwMode="auto">
          <a:xfrm>
            <a:off x="4419600" y="2819400"/>
            <a:ext cx="350838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$</a:t>
            </a:r>
          </a:p>
        </p:txBody>
      </p:sp>
      <p:sp>
        <p:nvSpPr>
          <p:cNvPr id="23585" name="Rectangle 39"/>
          <p:cNvSpPr>
            <a:spLocks noChangeArrowheads="1"/>
          </p:cNvSpPr>
          <p:nvPr/>
        </p:nvSpPr>
        <p:spPr bwMode="auto">
          <a:xfrm>
            <a:off x="5791200" y="2590800"/>
            <a:ext cx="8255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Rev.</a:t>
            </a:r>
          </a:p>
        </p:txBody>
      </p:sp>
      <p:sp>
        <p:nvSpPr>
          <p:cNvPr id="23586" name="Rectangle 40"/>
          <p:cNvSpPr>
            <a:spLocks noChangeArrowheads="1"/>
          </p:cNvSpPr>
          <p:nvPr/>
        </p:nvSpPr>
        <p:spPr bwMode="auto">
          <a:xfrm>
            <a:off x="6781800" y="3581400"/>
            <a:ext cx="587375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TC</a:t>
            </a:r>
          </a:p>
        </p:txBody>
      </p:sp>
      <p:sp>
        <p:nvSpPr>
          <p:cNvPr id="23587" name="Rectangle 41"/>
          <p:cNvSpPr>
            <a:spLocks noChangeArrowheads="1"/>
          </p:cNvSpPr>
          <p:nvPr/>
        </p:nvSpPr>
        <p:spPr bwMode="auto">
          <a:xfrm>
            <a:off x="7010400" y="4191000"/>
            <a:ext cx="3810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F</a:t>
            </a:r>
          </a:p>
        </p:txBody>
      </p:sp>
      <p:sp>
        <p:nvSpPr>
          <p:cNvPr id="23588" name="Rectangle 42"/>
          <p:cNvSpPr>
            <a:spLocks noChangeArrowheads="1"/>
          </p:cNvSpPr>
          <p:nvPr/>
        </p:nvSpPr>
        <p:spPr bwMode="auto">
          <a:xfrm>
            <a:off x="5257800" y="5257800"/>
            <a:ext cx="6985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Q</a:t>
            </a:r>
            <a:r>
              <a:rPr lang="en-US" altLang="en-US" sz="2400" b="1" baseline="-25000">
                <a:latin typeface="Arial" panose="020B0604020202020204" pitchFamily="34" charset="0"/>
              </a:rPr>
              <a:t>BE</a:t>
            </a:r>
          </a:p>
        </p:txBody>
      </p:sp>
      <p:sp>
        <p:nvSpPr>
          <p:cNvPr id="23589" name="Rectangle 43"/>
          <p:cNvSpPr>
            <a:spLocks noChangeArrowheads="1"/>
          </p:cNvSpPr>
          <p:nvPr/>
        </p:nvSpPr>
        <p:spPr bwMode="auto">
          <a:xfrm>
            <a:off x="6553200" y="5105400"/>
            <a:ext cx="977900" cy="45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b="1">
                <a:latin typeface="Arial" panose="020B0604020202020204" pitchFamily="34" charset="0"/>
              </a:rPr>
              <a:t>Sales</a:t>
            </a:r>
          </a:p>
        </p:txBody>
      </p:sp>
      <p:sp>
        <p:nvSpPr>
          <p:cNvPr id="23590" name="Line 44"/>
          <p:cNvSpPr>
            <a:spLocks noChangeShapeType="1"/>
          </p:cNvSpPr>
          <p:nvPr/>
        </p:nvSpPr>
        <p:spPr bwMode="auto">
          <a:xfrm>
            <a:off x="1752600" y="5029200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1" name="Line 45"/>
          <p:cNvSpPr>
            <a:spLocks noChangeShapeType="1"/>
          </p:cNvSpPr>
          <p:nvPr/>
        </p:nvSpPr>
        <p:spPr bwMode="auto">
          <a:xfrm>
            <a:off x="1752600" y="4572000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2" name="Line 46"/>
          <p:cNvSpPr>
            <a:spLocks noChangeShapeType="1"/>
          </p:cNvSpPr>
          <p:nvPr/>
        </p:nvSpPr>
        <p:spPr bwMode="auto">
          <a:xfrm>
            <a:off x="4648200" y="5029200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3" name="Line 47"/>
          <p:cNvSpPr>
            <a:spLocks noChangeShapeType="1"/>
          </p:cNvSpPr>
          <p:nvPr/>
        </p:nvSpPr>
        <p:spPr bwMode="auto">
          <a:xfrm>
            <a:off x="4648200" y="4267200"/>
            <a:ext cx="2209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3594" name="Group 49"/>
          <p:cNvGrpSpPr>
            <a:grpSpLocks noChangeAspect="1"/>
          </p:cNvGrpSpPr>
          <p:nvPr/>
        </p:nvGrpSpPr>
        <p:grpSpPr bwMode="auto">
          <a:xfrm>
            <a:off x="2590800" y="3048000"/>
            <a:ext cx="1250950" cy="1001713"/>
            <a:chOff x="1620" y="1941"/>
            <a:chExt cx="788" cy="631"/>
          </a:xfrm>
        </p:grpSpPr>
        <p:sp>
          <p:nvSpPr>
            <p:cNvPr id="23603" name="AutoShape 48"/>
            <p:cNvSpPr>
              <a:spLocks noChangeAspect="1" noChangeArrowheads="1" noTextEdit="1"/>
            </p:cNvSpPr>
            <p:nvPr/>
          </p:nvSpPr>
          <p:spPr bwMode="auto">
            <a:xfrm>
              <a:off x="1620" y="1941"/>
              <a:ext cx="788" cy="6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Freeform 50"/>
            <p:cNvSpPr>
              <a:spLocks/>
            </p:cNvSpPr>
            <p:nvPr/>
          </p:nvSpPr>
          <p:spPr bwMode="auto">
            <a:xfrm>
              <a:off x="1634" y="1954"/>
              <a:ext cx="760" cy="605"/>
            </a:xfrm>
            <a:custGeom>
              <a:avLst/>
              <a:gdLst>
                <a:gd name="T0" fmla="*/ 544 w 760"/>
                <a:gd name="T1" fmla="*/ 0 h 605"/>
                <a:gd name="T2" fmla="*/ 760 w 760"/>
                <a:gd name="T3" fmla="*/ 190 h 605"/>
                <a:gd name="T4" fmla="*/ 0 w 760"/>
                <a:gd name="T5" fmla="*/ 605 h 605"/>
                <a:gd name="T6" fmla="*/ 544 w 760"/>
                <a:gd name="T7" fmla="*/ 0 h 60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60"/>
                <a:gd name="T13" fmla="*/ 0 h 605"/>
                <a:gd name="T14" fmla="*/ 760 w 760"/>
                <a:gd name="T15" fmla="*/ 605 h 60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60" h="605">
                  <a:moveTo>
                    <a:pt x="544" y="0"/>
                  </a:moveTo>
                  <a:lnTo>
                    <a:pt x="760" y="190"/>
                  </a:lnTo>
                  <a:lnTo>
                    <a:pt x="0" y="605"/>
                  </a:lnTo>
                  <a:lnTo>
                    <a:pt x="544" y="0"/>
                  </a:lnTo>
                  <a:close/>
                </a:path>
              </a:pathLst>
            </a:custGeom>
            <a:solidFill>
              <a:srgbClr val="00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3595" name="Group 52"/>
          <p:cNvGrpSpPr>
            <a:grpSpLocks noChangeAspect="1"/>
          </p:cNvGrpSpPr>
          <p:nvPr/>
        </p:nvGrpSpPr>
        <p:grpSpPr bwMode="auto">
          <a:xfrm>
            <a:off x="1695450" y="4138613"/>
            <a:ext cx="798513" cy="911225"/>
            <a:chOff x="1068" y="2607"/>
            <a:chExt cx="503" cy="574"/>
          </a:xfrm>
        </p:grpSpPr>
        <p:sp>
          <p:nvSpPr>
            <p:cNvPr id="23601" name="AutoShape 51"/>
            <p:cNvSpPr>
              <a:spLocks noChangeAspect="1" noChangeArrowheads="1" noTextEdit="1"/>
            </p:cNvSpPr>
            <p:nvPr/>
          </p:nvSpPr>
          <p:spPr bwMode="auto">
            <a:xfrm>
              <a:off x="1068" y="2607"/>
              <a:ext cx="503" cy="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Freeform 53"/>
            <p:cNvSpPr>
              <a:spLocks/>
            </p:cNvSpPr>
            <p:nvPr/>
          </p:nvSpPr>
          <p:spPr bwMode="auto">
            <a:xfrm>
              <a:off x="1089" y="2628"/>
              <a:ext cx="461" cy="532"/>
            </a:xfrm>
            <a:custGeom>
              <a:avLst/>
              <a:gdLst>
                <a:gd name="T0" fmla="*/ 0 w 461"/>
                <a:gd name="T1" fmla="*/ 532 h 532"/>
                <a:gd name="T2" fmla="*/ 0 w 461"/>
                <a:gd name="T3" fmla="*/ 265 h 532"/>
                <a:gd name="T4" fmla="*/ 461 w 461"/>
                <a:gd name="T5" fmla="*/ 0 h 532"/>
                <a:gd name="T6" fmla="*/ 0 w 461"/>
                <a:gd name="T7" fmla="*/ 532 h 532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1"/>
                <a:gd name="T13" fmla="*/ 0 h 532"/>
                <a:gd name="T14" fmla="*/ 461 w 461"/>
                <a:gd name="T15" fmla="*/ 532 h 532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1" h="532">
                  <a:moveTo>
                    <a:pt x="0" y="532"/>
                  </a:moveTo>
                  <a:lnTo>
                    <a:pt x="0" y="265"/>
                  </a:lnTo>
                  <a:lnTo>
                    <a:pt x="461" y="0"/>
                  </a:lnTo>
                  <a:lnTo>
                    <a:pt x="0" y="532"/>
                  </a:lnTo>
                  <a:close/>
                </a:path>
              </a:pathLst>
            </a:custGeom>
            <a:solidFill>
              <a:srgbClr val="FFFF00"/>
            </a:solidFill>
            <a:ln w="9525">
              <a:solidFill>
                <a:srgbClr val="FFFF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596" name="Line 54"/>
          <p:cNvSpPr>
            <a:spLocks noChangeShapeType="1"/>
          </p:cNvSpPr>
          <p:nvPr/>
        </p:nvSpPr>
        <p:spPr bwMode="auto">
          <a:xfrm flipV="1">
            <a:off x="1752600" y="3124200"/>
            <a:ext cx="167640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7" name="Line 55"/>
          <p:cNvSpPr>
            <a:spLocks noChangeShapeType="1"/>
          </p:cNvSpPr>
          <p:nvPr/>
        </p:nvSpPr>
        <p:spPr bwMode="auto">
          <a:xfrm flipV="1">
            <a:off x="1752600" y="3352800"/>
            <a:ext cx="2057400" cy="12192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8" name="Line 56"/>
          <p:cNvSpPr>
            <a:spLocks noChangeShapeType="1"/>
          </p:cNvSpPr>
          <p:nvPr/>
        </p:nvSpPr>
        <p:spPr bwMode="auto">
          <a:xfrm flipV="1">
            <a:off x="4648200" y="3048000"/>
            <a:ext cx="1752600" cy="19050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599" name="Line 57"/>
          <p:cNvSpPr>
            <a:spLocks noChangeShapeType="1"/>
          </p:cNvSpPr>
          <p:nvPr/>
        </p:nvSpPr>
        <p:spPr bwMode="auto">
          <a:xfrm flipV="1">
            <a:off x="4648200" y="3657600"/>
            <a:ext cx="22098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3600" name="Line 36"/>
          <p:cNvSpPr>
            <a:spLocks noChangeShapeType="1"/>
          </p:cNvSpPr>
          <p:nvPr/>
        </p:nvSpPr>
        <p:spPr bwMode="auto">
          <a:xfrm flipV="1">
            <a:off x="1752600" y="3200400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1E63B3-64CC-4EF8-9DF0-2DB6D55AD17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400"/>
          </a:p>
        </p:txBody>
      </p:sp>
      <p:sp>
        <p:nvSpPr>
          <p:cNvPr id="2457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233487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Breakeven</a:t>
            </a:r>
          </a:p>
        </p:txBody>
      </p:sp>
      <p:sp>
        <p:nvSpPr>
          <p:cNvPr id="24580" name="Rectangle 1032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269288" cy="479583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P =price per unit, Q =quantity sold, V =variable cost, FC =fixed cost, TC is total cost (=VC+FC)</a:t>
            </a:r>
          </a:p>
          <a:p>
            <a:pPr eaLnBrk="1" hangingPunct="1"/>
            <a:r>
              <a:rPr lang="en-US" altLang="en-US" sz="2800" dirty="0"/>
              <a:t>Profit = PQ – VQ -FC</a:t>
            </a:r>
            <a:endParaRPr lang="en-US" altLang="en-US" sz="2800" baseline="-25000" dirty="0"/>
          </a:p>
          <a:p>
            <a:pPr eaLnBrk="1" hangingPunct="1"/>
            <a:r>
              <a:rPr lang="en-US" altLang="en-US" sz="2800" dirty="0"/>
              <a:t>Profit = (P-V)Q – FC</a:t>
            </a:r>
          </a:p>
          <a:p>
            <a:pPr eaLnBrk="1" hangingPunct="1"/>
            <a:r>
              <a:rPr lang="en-US" altLang="en-US" sz="2800" dirty="0"/>
              <a:t>If Breakeven, then Profit =0</a:t>
            </a:r>
          </a:p>
          <a:p>
            <a:pPr eaLnBrk="1" hangingPunct="1"/>
            <a:r>
              <a:rPr lang="en-US" altLang="en-US" sz="2800" dirty="0"/>
              <a:t>So: 0 =(P-V)Q – FC   </a:t>
            </a:r>
          </a:p>
          <a:p>
            <a:pPr lvl="1" eaLnBrk="1" hangingPunct="1"/>
            <a:r>
              <a:rPr lang="en-US" altLang="en-US" sz="2400" dirty="0"/>
              <a:t>and solve for Q Breakeven quantity</a:t>
            </a:r>
          </a:p>
        </p:txBody>
      </p:sp>
      <p:sp>
        <p:nvSpPr>
          <p:cNvPr id="24581" name="Rectangle 1028"/>
          <p:cNvSpPr>
            <a:spLocks noChangeArrowheads="1"/>
          </p:cNvSpPr>
          <p:nvPr/>
        </p:nvSpPr>
        <p:spPr bwMode="auto">
          <a:xfrm>
            <a:off x="7315200" y="6096000"/>
            <a:ext cx="136683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(More...)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B1E63B3-64CC-4EF8-9DF0-2DB6D55AD17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400"/>
          </a:p>
        </p:txBody>
      </p:sp>
      <p:sp>
        <p:nvSpPr>
          <p:cNvPr id="24579" name="Rectangle 1031"/>
          <p:cNvSpPr>
            <a:spLocks noGrp="1" noChangeArrowheads="1"/>
          </p:cNvSpPr>
          <p:nvPr>
            <p:ph type="title"/>
          </p:nvPr>
        </p:nvSpPr>
        <p:spPr>
          <a:xfrm>
            <a:off x="1150938" y="214313"/>
            <a:ext cx="7793037" cy="1233487"/>
          </a:xfrm>
        </p:spPr>
        <p:txBody>
          <a:bodyPr/>
          <a:lstStyle/>
          <a:p>
            <a:pPr eaLnBrk="1" hangingPunct="1"/>
            <a:r>
              <a:rPr lang="en-US" altLang="en-US" dirty="0"/>
              <a:t>Operating Breakeven</a:t>
            </a:r>
          </a:p>
        </p:txBody>
      </p:sp>
      <p:sp>
        <p:nvSpPr>
          <p:cNvPr id="24580" name="Rectangle 1032"/>
          <p:cNvSpPr>
            <a:spLocks noGrp="1" noChangeArrowheads="1"/>
          </p:cNvSpPr>
          <p:nvPr>
            <p:ph type="body" idx="1"/>
          </p:nvPr>
        </p:nvSpPr>
        <p:spPr>
          <a:xfrm>
            <a:off x="685800" y="1905000"/>
            <a:ext cx="8269288" cy="479583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Example: P=$15, V=$10, FC=$200</a:t>
            </a:r>
          </a:p>
          <a:p>
            <a:pPr lvl="1" eaLnBrk="1" hangingPunct="1"/>
            <a:r>
              <a:rPr lang="en-US" altLang="en-US" sz="2400" dirty="0"/>
              <a:t>solve for Q Breakeven quantity</a:t>
            </a:r>
          </a:p>
          <a:p>
            <a:pPr eaLnBrk="1" hangingPunct="1"/>
            <a:r>
              <a:rPr lang="en-US" altLang="en-US" sz="2800" dirty="0"/>
              <a:t>0 =(P-V)Q – FC</a:t>
            </a:r>
          </a:p>
          <a:p>
            <a:pPr eaLnBrk="1" hangingPunct="1"/>
            <a:r>
              <a:rPr lang="en-US" altLang="en-US" sz="2800" dirty="0"/>
              <a:t>0 = ($15-$10)Q - $200</a:t>
            </a:r>
          </a:p>
          <a:p>
            <a:pPr lvl="1" eaLnBrk="1" hangingPunct="1"/>
            <a:r>
              <a:rPr lang="en-US" altLang="en-US" sz="2400" dirty="0"/>
              <a:t>$200 = $5Q</a:t>
            </a:r>
          </a:p>
          <a:p>
            <a:pPr lvl="1" eaLnBrk="1" hangingPunct="1"/>
            <a:r>
              <a:rPr lang="en-US" altLang="en-US" sz="2400" dirty="0"/>
              <a:t>Q = 40 Units</a:t>
            </a:r>
          </a:p>
        </p:txBody>
      </p:sp>
      <p:sp>
        <p:nvSpPr>
          <p:cNvPr id="24581" name="Rectangle 1028"/>
          <p:cNvSpPr>
            <a:spLocks noChangeArrowheads="1"/>
          </p:cNvSpPr>
          <p:nvPr/>
        </p:nvSpPr>
        <p:spPr bwMode="auto">
          <a:xfrm>
            <a:off x="7315200" y="6096000"/>
            <a:ext cx="1366838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(More...)</a:t>
            </a:r>
          </a:p>
        </p:txBody>
      </p:sp>
    </p:spTree>
    <p:extLst>
      <p:ext uri="{BB962C8B-B14F-4D97-AF65-F5344CB8AC3E}">
        <p14:creationId xmlns:p14="http://schemas.microsoft.com/office/powerpoint/2010/main" val="1622998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769239-9DB7-7B4D-31E4-4C7B974F8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4A0F2353-3C95-998C-6680-DDE7579A86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3600" dirty="0"/>
              <a:t>Business Risk: </a:t>
            </a:r>
            <a:br>
              <a:rPr lang="en-US" altLang="en-US" sz="3600" dirty="0"/>
            </a:br>
            <a:r>
              <a:rPr lang="en-US" altLang="en-US" sz="3600" dirty="0"/>
              <a:t>No Operating Leverage (No Fixed Costs)</a:t>
            </a:r>
            <a:endParaRPr lang="en-US" altLang="en-US" dirty="0"/>
          </a:p>
        </p:txBody>
      </p:sp>
      <p:graphicFrame>
        <p:nvGraphicFramePr>
          <p:cNvPr id="359427" name="Group 3">
            <a:extLst>
              <a:ext uri="{FF2B5EF4-FFF2-40B4-BE49-F238E27FC236}">
                <a16:creationId xmlns:a16="http://schemas.microsoft.com/office/drawing/2014/main" id="{C35EA35A-11A1-BB5C-FE08-B5FAEFB3B18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86091178"/>
              </p:ext>
            </p:extLst>
          </p:nvPr>
        </p:nvGraphicFramePr>
        <p:xfrm>
          <a:off x="381000" y="1656776"/>
          <a:ext cx="8134350" cy="4462942"/>
        </p:xfrm>
        <a:graphic>
          <a:graphicData uri="http://schemas.openxmlformats.org/drawingml/2006/table">
            <a:tbl>
              <a:tblPr/>
              <a:tblGrid>
                <a:gridCol w="3295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472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 units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9 units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7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Rev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@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 per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	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$90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54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-Vari Cost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@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$5 per</a:t>
                      </a: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 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-50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  -45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-Fixed Cost		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-0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-0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282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=Profit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$50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$45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7742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sng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7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77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Change in Profit= 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=$5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289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%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Change in Profit=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$5/$50      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  =10%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13612057-98E9-AD57-CA21-9F3C5744A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483374-48BF-45A7-9D93-D36AB2A3AA6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400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58F128D2-5467-E2FF-9034-800C3E9FFAAB}"/>
              </a:ext>
            </a:extLst>
          </p:cNvPr>
          <p:cNvSpPr/>
          <p:nvPr/>
        </p:nvSpPr>
        <p:spPr>
          <a:xfrm>
            <a:off x="7002018" y="5470426"/>
            <a:ext cx="484632" cy="6397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7558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BB34B-CB10-08D8-6BE5-2319E0F87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>
            <a:extLst>
              <a:ext uri="{FF2B5EF4-FFF2-40B4-BE49-F238E27FC236}">
                <a16:creationId xmlns:a16="http://schemas.microsoft.com/office/drawing/2014/main" id="{FD2769CB-762D-54D4-43C5-2865DDBCF8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US" altLang="en-US" sz="3600" dirty="0"/>
              <a:t>Business Risk: </a:t>
            </a:r>
            <a:br>
              <a:rPr lang="en-US" altLang="en-US" sz="3600" dirty="0"/>
            </a:br>
            <a:r>
              <a:rPr lang="en-US" altLang="en-US" sz="3600" i="1" u="sng" dirty="0"/>
              <a:t>With</a:t>
            </a:r>
            <a:r>
              <a:rPr lang="en-US" altLang="en-US" sz="3600" dirty="0"/>
              <a:t> Operating Leverage (with Fixed Costs)</a:t>
            </a:r>
            <a:endParaRPr lang="en-US" altLang="en-US" dirty="0"/>
          </a:p>
        </p:txBody>
      </p:sp>
      <p:graphicFrame>
        <p:nvGraphicFramePr>
          <p:cNvPr id="359427" name="Group 3">
            <a:extLst>
              <a:ext uri="{FF2B5EF4-FFF2-40B4-BE49-F238E27FC236}">
                <a16:creationId xmlns:a16="http://schemas.microsoft.com/office/drawing/2014/main" id="{EC8C8249-0E1B-F455-71EE-F61F19C056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13542674"/>
              </p:ext>
            </p:extLst>
          </p:nvPr>
        </p:nvGraphicFramePr>
        <p:xfrm>
          <a:off x="381000" y="1656776"/>
          <a:ext cx="8134350" cy="4724400"/>
        </p:xfrm>
        <a:graphic>
          <a:graphicData uri="http://schemas.openxmlformats.org/drawingml/2006/table">
            <a:tbl>
              <a:tblPr/>
              <a:tblGrid>
                <a:gridCol w="32955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56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31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663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 units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9 units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75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Rev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@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 per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	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$90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7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-Vari Cost </a:t>
                      </a:r>
                      <a:r>
                        <a:rPr kumimoji="0" lang="en-US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@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$2 per</a:t>
                      </a: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 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-20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  -18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151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-Fixed Cost </a:t>
                      </a:r>
                      <a:r>
                        <a:rPr kumimoji="0" lang="en-US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of $40</a:t>
                      </a: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		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-40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-40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075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=Profit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$40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$32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652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sng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7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7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Change in Profit= 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=$8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75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% 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Change in Profit=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$8/$40      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   =20%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650" name="Slide Number Placeholder 5">
            <a:extLst>
              <a:ext uri="{FF2B5EF4-FFF2-40B4-BE49-F238E27FC236}">
                <a16:creationId xmlns:a16="http://schemas.microsoft.com/office/drawing/2014/main" id="{0373DCEB-6CF3-5A71-462E-3AA9FCBF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483374-48BF-45A7-9D93-D36AB2A3AA6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20</a:t>
            </a:fld>
            <a:endParaRPr lang="en-US" altLang="en-US" sz="1400" dirty="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85CDF098-FDDE-210E-6C5F-C0B108AD850F}"/>
              </a:ext>
            </a:extLst>
          </p:cNvPr>
          <p:cNvSpPr/>
          <p:nvPr/>
        </p:nvSpPr>
        <p:spPr>
          <a:xfrm>
            <a:off x="7002018" y="5716584"/>
            <a:ext cx="484632" cy="63976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2891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6D5F1A8-1A79-49AB-8060-433D1FD9B07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21</a:t>
            </a:fld>
            <a:endParaRPr lang="en-US" altLang="en-US" sz="1400"/>
          </a:p>
        </p:txBody>
      </p:sp>
      <p:sp>
        <p:nvSpPr>
          <p:cNvPr id="25603" name="Rectangle 7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Business Risk versus Financial Risk</a:t>
            </a:r>
          </a:p>
        </p:txBody>
      </p:sp>
      <p:sp>
        <p:nvSpPr>
          <p:cNvPr id="25604" name="Rectangle 8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Business risk:</a:t>
            </a:r>
          </a:p>
          <a:p>
            <a:pPr lvl="1" eaLnBrk="1" hangingPunct="1"/>
            <a:r>
              <a:rPr lang="en-US" altLang="en-US" sz="2400" dirty="0"/>
              <a:t>Uncertainty in future EBIT, NOPAT, &amp; ROIC.</a:t>
            </a:r>
          </a:p>
          <a:p>
            <a:pPr lvl="1" eaLnBrk="1" hangingPunct="1"/>
            <a:r>
              <a:rPr lang="en-US" altLang="en-US" sz="2400" dirty="0"/>
              <a:t>Depends on business factors such as competition, operating leverage, etc.</a:t>
            </a:r>
          </a:p>
          <a:p>
            <a:pPr eaLnBrk="1" hangingPunct="1"/>
            <a:r>
              <a:rPr lang="en-US" altLang="en-US" sz="2800" dirty="0"/>
              <a:t>Financial risk:</a:t>
            </a:r>
          </a:p>
          <a:p>
            <a:pPr lvl="1" eaLnBrk="1" hangingPunct="1"/>
            <a:r>
              <a:rPr lang="en-US" altLang="en-US" sz="2400" dirty="0"/>
              <a:t>Additional risk concentrated on common stockholders when financial leverage is used.</a:t>
            </a:r>
          </a:p>
          <a:p>
            <a:pPr lvl="1" eaLnBrk="1" hangingPunct="1"/>
            <a:r>
              <a:rPr lang="en-US" altLang="en-US" sz="2400" dirty="0"/>
              <a:t>Depends on amount of debt &amp; preferred stock financing.</a:t>
            </a:r>
          </a:p>
        </p:txBody>
      </p:sp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 eaLnBrk="1" hangingPunct="1"/>
            <a:r>
              <a:rPr lang="en-US" altLang="en-US" sz="4000" dirty="0"/>
              <a:t>Consider Two Firms Identical</a:t>
            </a:r>
            <a:br>
              <a:rPr lang="en-US" altLang="en-US" sz="4000" dirty="0"/>
            </a:br>
            <a:r>
              <a:rPr lang="en-US" altLang="en-US" sz="4000" dirty="0"/>
              <a:t> Except for Debt</a:t>
            </a:r>
          </a:p>
        </p:txBody>
      </p:sp>
      <p:graphicFrame>
        <p:nvGraphicFramePr>
          <p:cNvPr id="358403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1174177"/>
              </p:ext>
            </p:extLst>
          </p:nvPr>
        </p:nvGraphicFramePr>
        <p:xfrm>
          <a:off x="628650" y="1676400"/>
          <a:ext cx="7886698" cy="3773486"/>
        </p:xfrm>
        <a:graphic>
          <a:graphicData uri="http://schemas.openxmlformats.org/drawingml/2006/table">
            <a:tbl>
              <a:tblPr/>
              <a:tblGrid>
                <a:gridCol w="18929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29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344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11" marB="45711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Firm U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Firm L</a:t>
                      </a:r>
                    </a:p>
                  </a:txBody>
                  <a:tcPr marT="45711" marB="45711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35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Capital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$20,000	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$20,000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55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Debt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$10,000 (12% rate)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98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Equity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$20,000	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$10,000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 rate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40%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40%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EBIT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NOPAT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$1,800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$1,800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11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ROIC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9%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0B3B579-D610-4077-83E2-F4C1D45B6E81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22</a:t>
            </a:fld>
            <a:endParaRPr lang="en-US" altLang="en-US" sz="14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Impact of Leverage on Returns</a:t>
            </a:r>
          </a:p>
        </p:txBody>
      </p:sp>
      <p:graphicFrame>
        <p:nvGraphicFramePr>
          <p:cNvPr id="359427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112775"/>
              </p:ext>
            </p:extLst>
          </p:nvPr>
        </p:nvGraphicFramePr>
        <p:xfrm>
          <a:off x="628650" y="1676400"/>
          <a:ext cx="7886698" cy="4192590"/>
        </p:xfrm>
        <a:graphic>
          <a:graphicData uri="http://schemas.openxmlformats.org/drawingml/2006/table">
            <a:tbl>
              <a:tblPr/>
              <a:tblGrid>
                <a:gridCol w="32815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58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16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Firm U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Firm L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5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EBIT	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Interest	</a:t>
                      </a: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 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 1,200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EBT		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$1,800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Taxes (40%)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1 ,200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720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NI	  	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$1,800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$1,080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7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ROIC </a:t>
                      </a: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(</a:t>
                      </a:r>
                      <a:r>
                        <a:rPr kumimoji="0" lang="en-US" sz="2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NI+Int</a:t>
                      </a: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)/TA]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9.0%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11.4%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ROE (NI/Equity)</a:t>
                      </a:r>
                    </a:p>
                  </a:txBody>
                  <a:tcPr marT="0" marB="0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9.0%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10.8%</a:t>
                      </a:r>
                    </a:p>
                  </a:txBody>
                  <a:tcPr marT="0" marB="0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0483374-48BF-45A7-9D93-D36AB2A3AA6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23</a:t>
            </a:fld>
            <a:endParaRPr lang="en-US" altLang="en-US" sz="1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5B7BAA4-83B2-45A0-A15F-5F79AD2A096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24</a:t>
            </a:fld>
            <a:endParaRPr lang="en-US" altLang="en-US" sz="140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Why does leveraging increase return?</a:t>
            </a:r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More cash goes to investors of Firm L.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Total dollars paid to investors: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U: NI = </a:t>
            </a:r>
            <a:r>
              <a:rPr lang="en-US" altLang="en-US">
                <a:solidFill>
                  <a:schemeClr val="accent1"/>
                </a:solidFill>
              </a:rPr>
              <a:t>$1,800.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L: NI + Int = $1,080 + $1,200 = </a:t>
            </a:r>
            <a:r>
              <a:rPr lang="en-US" altLang="en-US">
                <a:solidFill>
                  <a:schemeClr val="tx2"/>
                </a:solidFill>
              </a:rPr>
              <a:t>$2,280.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Taxes paid: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/>
              <a:t>U:  </a:t>
            </a:r>
            <a:r>
              <a:rPr lang="en-US" altLang="en-US">
                <a:solidFill>
                  <a:schemeClr val="accent1"/>
                </a:solidFill>
              </a:rPr>
              <a:t>$1,200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>
                <a:solidFill>
                  <a:schemeClr val="tx2"/>
                </a:solidFill>
              </a:rPr>
              <a:t>L:     $720.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In Firm L, fewer dollars are tied up in equity.</a:t>
            </a:r>
          </a:p>
        </p:txBody>
      </p:sp>
    </p:spTree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Impact of Leverage on Returns if EBIT Falls</a:t>
            </a:r>
          </a:p>
        </p:txBody>
      </p:sp>
      <p:graphicFrame>
        <p:nvGraphicFramePr>
          <p:cNvPr id="361475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2203770"/>
              </p:ext>
            </p:extLst>
          </p:nvPr>
        </p:nvGraphicFramePr>
        <p:xfrm>
          <a:off x="628650" y="1676400"/>
          <a:ext cx="7886699" cy="4664079"/>
        </p:xfrm>
        <a:graphic>
          <a:graphicData uri="http://schemas.openxmlformats.org/drawingml/2006/table">
            <a:tbl>
              <a:tblPr/>
              <a:tblGrid>
                <a:gridCol w="2665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6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Firm U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Firm L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EBIT	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$2,000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$2,000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Interest	</a:t>
                      </a: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 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 1,200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EBT		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$2,000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$800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Taxes (40%)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320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NI	  	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$1,200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$480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ROIC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8.4%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ROE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4.8% 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31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Leverage magnifies risk &amp; return!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96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A2C536-AACB-4756-AAEE-25CECAC13AA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25</a:t>
            </a:fld>
            <a:endParaRPr lang="en-US" altLang="en-US" sz="14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Impact of Leverage on Returns if EBIT Rises</a:t>
            </a:r>
          </a:p>
        </p:txBody>
      </p:sp>
      <p:graphicFrame>
        <p:nvGraphicFramePr>
          <p:cNvPr id="361475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7189958"/>
              </p:ext>
            </p:extLst>
          </p:nvPr>
        </p:nvGraphicFramePr>
        <p:xfrm>
          <a:off x="628650" y="1676400"/>
          <a:ext cx="7886699" cy="4664079"/>
        </p:xfrm>
        <a:graphic>
          <a:graphicData uri="http://schemas.openxmlformats.org/drawingml/2006/table">
            <a:tbl>
              <a:tblPr/>
              <a:tblGrid>
                <a:gridCol w="26654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6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Firm U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Firm L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EBIT	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$4,000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$4,000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Interest	</a:t>
                      </a: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 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 1,200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EBT		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$4,000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$2,800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Taxes (40%)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1,600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1,120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NI	  	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$2,400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$1,680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ROIC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14.4%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ROE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16.8% 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31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Leverage magnifies risk &amp; return!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1D5C8E2-EF67-42E7-9893-D2C7862E105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26</a:t>
            </a:fld>
            <a:endParaRPr lang="en-US" altLang="en-US"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7EE53D-EF80-4CAF-B3E3-785A1F10AC9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27</a:t>
            </a:fld>
            <a:endParaRPr lang="en-US" altLang="en-US" sz="1400"/>
          </a:p>
        </p:txBody>
      </p:sp>
      <p:sp>
        <p:nvSpPr>
          <p:cNvPr id="3174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Capital Structure Theory</a:t>
            </a:r>
          </a:p>
        </p:txBody>
      </p:sp>
      <p:sp>
        <p:nvSpPr>
          <p:cNvPr id="3174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Modigliani-Miller (MM) theory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Zero taxes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Corporate taxes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Corporate &amp; personal taxes</a:t>
            </a:r>
          </a:p>
        </p:txBody>
      </p:sp>
    </p:spTree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0D2F4-01E1-4A21-7472-A670DD491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Capital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A5316-DFD6-EDA2-BBCF-7175062AD9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6"/>
            <a:ext cx="7886700" cy="4724394"/>
          </a:xfrm>
        </p:spPr>
        <p:txBody>
          <a:bodyPr/>
          <a:lstStyle/>
          <a:p>
            <a:r>
              <a:rPr lang="en-US" dirty="0"/>
              <a:t>Effects of Risk			Use of Leverage</a:t>
            </a:r>
          </a:p>
          <a:p>
            <a:pPr lvl="1"/>
            <a:r>
              <a:rPr lang="en-US" dirty="0"/>
              <a:t>Business Risk				Operating Leverage</a:t>
            </a:r>
          </a:p>
          <a:p>
            <a:pPr lvl="1"/>
            <a:r>
              <a:rPr lang="en-US" dirty="0"/>
              <a:t>Financial Risk				Financial Leverage</a:t>
            </a:r>
          </a:p>
          <a:p>
            <a:pPr marL="342900" lvl="1" indent="0">
              <a:buNone/>
            </a:pPr>
            <a:endParaRPr lang="en-US" dirty="0"/>
          </a:p>
          <a:p>
            <a:r>
              <a:rPr lang="en-US" dirty="0"/>
              <a:t>Recapitalization</a:t>
            </a:r>
          </a:p>
          <a:p>
            <a:pPr lvl="1"/>
            <a:r>
              <a:rPr lang="en-US" dirty="0"/>
              <a:t>Change in Capital Structure</a:t>
            </a:r>
          </a:p>
          <a:p>
            <a:pPr lvl="1"/>
            <a:r>
              <a:rPr lang="en-US" dirty="0"/>
              <a:t>i.e. – Use of debt to buy back stock</a:t>
            </a:r>
          </a:p>
          <a:p>
            <a:pPr lvl="2"/>
            <a:r>
              <a:rPr lang="en-US" dirty="0"/>
              <a:t>To produce highest stock price &amp; lowest WACC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A9130A-EE87-A50F-B548-E8A64275F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265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30205-81B5-815B-8C2A-CC52A0304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Optimal Capital Structure</a:t>
            </a:r>
            <a:endParaRPr lang="en-US" dirty="0"/>
          </a:p>
        </p:txBody>
      </p:sp>
      <p:sp>
        <p:nvSpPr>
          <p:cNvPr id="89092" name="Rectangle 4"/>
          <p:cNvSpPr>
            <a:spLocks noGrp="1" noChangeArrowheads="1"/>
          </p:cNvSpPr>
          <p:nvPr>
            <p:ph idx="1"/>
          </p:nvPr>
        </p:nvSpPr>
        <p:spPr>
          <a:xfrm>
            <a:off x="304800" y="1676406"/>
            <a:ext cx="8458200" cy="4500558"/>
          </a:xfrm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Calculate cost of equity </a:t>
            </a:r>
            <a:r>
              <a:rPr lang="en-US" altLang="en-US" sz="2000" dirty="0"/>
              <a:t>@</a:t>
            </a:r>
            <a:r>
              <a:rPr lang="en-US" altLang="en-US" dirty="0"/>
              <a:t> each debt level.</a:t>
            </a:r>
          </a:p>
          <a:p>
            <a:pPr lvl="1"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Used as </a:t>
            </a:r>
            <a:r>
              <a:rPr lang="en-US" altLang="en-US" i="1" dirty="0" err="1">
                <a:latin typeface="Adobe Devanagari" panose="02040503050201020203" pitchFamily="18" charset="0"/>
                <a:cs typeface="Adobe Devanagari" panose="02040503050201020203" pitchFamily="18" charset="0"/>
              </a:rPr>
              <a:t>i</a:t>
            </a:r>
            <a:r>
              <a:rPr lang="en-US" altLang="en-US" dirty="0"/>
              <a:t>% to </a:t>
            </a:r>
            <a:r>
              <a:rPr lang="en-US" altLang="en-US" dirty="0" err="1"/>
              <a:t>disct</a:t>
            </a:r>
            <a:r>
              <a:rPr lang="en-US" altLang="en-US" dirty="0"/>
              <a:t> NI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Calculate value of equity </a:t>
            </a:r>
            <a:r>
              <a:rPr lang="en-US" altLang="en-US" sz="2000" dirty="0"/>
              <a:t>@</a:t>
            </a:r>
            <a:r>
              <a:rPr lang="en-US" altLang="en-US" dirty="0"/>
              <a:t> each debt level.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Calculate total value of firm (value of equity + value of debt) </a:t>
            </a:r>
            <a:r>
              <a:rPr lang="en-US" altLang="en-US" sz="2000" dirty="0"/>
              <a:t>@</a:t>
            </a:r>
            <a:r>
              <a:rPr lang="en-US" altLang="en-US" dirty="0"/>
              <a:t> each debt level.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Optimal cap structure maximizes Price of Equity.</a:t>
            </a:r>
          </a:p>
        </p:txBody>
      </p:sp>
    </p:spTree>
    <p:extLst>
      <p:ext uri="{BB962C8B-B14F-4D97-AF65-F5344CB8AC3E}">
        <p14:creationId xmlns:p14="http://schemas.microsoft.com/office/powerpoint/2010/main" val="327585051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7673975" y="5854700"/>
            <a:ext cx="11652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ClrTx/>
              <a:buSzTx/>
              <a:buFontTx/>
              <a:buNone/>
            </a:pPr>
            <a:r>
              <a:rPr lang="en-US" altLang="en-US" sz="2000"/>
              <a:t>(More...)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2D94E9-E226-C053-7EFD-A9FDE127A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Sequence of Events in a Recapitalization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E0C66B-FC46-F185-DFAE-A61D74669B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3200" dirty="0"/>
              <a:t>Firm </a:t>
            </a:r>
            <a:r>
              <a:rPr lang="en-US" altLang="en-US" sz="3200" dirty="0">
                <a:solidFill>
                  <a:schemeClr val="tx2"/>
                </a:solidFill>
              </a:rPr>
              <a:t>announces</a:t>
            </a:r>
            <a:r>
              <a:rPr lang="en-US" altLang="en-US" sz="3200" dirty="0"/>
              <a:t> recapitalization.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</a:pPr>
            <a:r>
              <a:rPr lang="en-US" altLang="en-US" sz="3200" dirty="0"/>
              <a:t>Investors (The Market) reassess their views &amp; estimate a new equity value.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</a:pPr>
            <a:r>
              <a:rPr lang="en-US" altLang="en-US" sz="3200" dirty="0"/>
              <a:t>New debt is </a:t>
            </a:r>
            <a:r>
              <a:rPr lang="en-US" altLang="en-US" sz="3200" dirty="0">
                <a:solidFill>
                  <a:schemeClr val="tx2"/>
                </a:solidFill>
              </a:rPr>
              <a:t>issued</a:t>
            </a:r>
            <a:r>
              <a:rPr lang="en-US" altLang="en-US" sz="3200" dirty="0"/>
              <a:t> &amp; proceeds are used to </a:t>
            </a:r>
            <a:r>
              <a:rPr lang="en-US" altLang="en-US" sz="3200" dirty="0">
                <a:solidFill>
                  <a:schemeClr val="tx2"/>
                </a:solidFill>
              </a:rPr>
              <a:t>repurchase</a:t>
            </a:r>
            <a:r>
              <a:rPr lang="en-US" altLang="en-US" sz="3200" dirty="0"/>
              <a:t> stock at </a:t>
            </a:r>
            <a:r>
              <a:rPr lang="en-US" altLang="en-US" sz="3200" dirty="0">
                <a:solidFill>
                  <a:schemeClr val="tx2"/>
                </a:solidFill>
              </a:rPr>
              <a:t>new equilibrium price in marketplace</a:t>
            </a:r>
            <a:r>
              <a:rPr lang="en-US" altLang="en-US" sz="3200" dirty="0"/>
              <a:t>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sz="3200" dirty="0"/>
              <a:t>After recap, firm has more debt but fewer common shares outstanding.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SzTx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835031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4F5F3-8C6A-90BE-12F3-5141C26922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Optimal Cap Structure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06134A-EB7B-1DCA-EA28-FD5F736D6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1676406"/>
            <a:ext cx="8763000" cy="4500558"/>
          </a:xfrm>
        </p:spPr>
        <p:txBody>
          <a:bodyPr>
            <a:normAutofit/>
          </a:bodyPr>
          <a:lstStyle/>
          <a:p>
            <a:r>
              <a:rPr lang="en-US" dirty="0"/>
              <a:t>Know:</a:t>
            </a:r>
          </a:p>
          <a:p>
            <a:r>
              <a:rPr lang="en-US" dirty="0"/>
              <a:t>EBIT = $500,000		*100% Equity, 0 debt</a:t>
            </a:r>
          </a:p>
          <a:p>
            <a:r>
              <a:rPr lang="en-US" dirty="0"/>
              <a:t>NI=EPS=paid in </a:t>
            </a:r>
            <a:r>
              <a:rPr lang="en-US" dirty="0" err="1"/>
              <a:t>Divs</a:t>
            </a:r>
            <a:r>
              <a:rPr lang="en-US" dirty="0"/>
              <a:t>	*So 100% payout &amp; no “g” </a:t>
            </a:r>
          </a:p>
          <a:p>
            <a:r>
              <a:rPr lang="en-US" dirty="0"/>
              <a:t>BV </a:t>
            </a:r>
            <a:r>
              <a:rPr lang="en-US" dirty="0" err="1"/>
              <a:t>Eqty</a:t>
            </a:r>
            <a:r>
              <a:rPr lang="en-US" dirty="0"/>
              <a:t> = MV </a:t>
            </a:r>
            <a:r>
              <a:rPr lang="en-US" dirty="0" err="1"/>
              <a:t>Eqty</a:t>
            </a:r>
            <a:r>
              <a:rPr lang="en-US" dirty="0"/>
              <a:t> 		* 100,000 shares O/S</a:t>
            </a:r>
          </a:p>
          <a:p>
            <a:r>
              <a:rPr lang="en-US" dirty="0"/>
              <a:t>P</a:t>
            </a:r>
            <a:r>
              <a:rPr lang="en-US" sz="1400" dirty="0"/>
              <a:t>o</a:t>
            </a:r>
            <a:r>
              <a:rPr lang="en-US" dirty="0"/>
              <a:t> = $20.00				* tax rate = 40%</a:t>
            </a:r>
          </a:p>
          <a:p>
            <a:r>
              <a:rPr lang="en-US" dirty="0"/>
              <a:t>R</a:t>
            </a:r>
            <a:r>
              <a:rPr lang="en-US" sz="2400" dirty="0"/>
              <a:t>f</a:t>
            </a:r>
            <a:r>
              <a:rPr lang="en-US" dirty="0"/>
              <a:t> = 6%; R</a:t>
            </a:r>
            <a:r>
              <a:rPr lang="en-US" sz="2400" dirty="0"/>
              <a:t>m</a:t>
            </a:r>
            <a:r>
              <a:rPr lang="en-US" dirty="0"/>
              <a:t>-R</a:t>
            </a:r>
            <a:r>
              <a:rPr lang="en-US" sz="2400" dirty="0"/>
              <a:t>f</a:t>
            </a:r>
            <a:r>
              <a:rPr lang="en-US" dirty="0"/>
              <a:t> = 4%; 	*cost of equity (R</a:t>
            </a:r>
            <a:r>
              <a:rPr lang="en-US" sz="2400" dirty="0"/>
              <a:t>s</a:t>
            </a:r>
            <a:r>
              <a:rPr lang="en-US" dirty="0"/>
              <a:t>) = 15%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FD4A5-DE00-6F58-0E24-279C73EE5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499BF4-6C8D-417D-B206-0AF20A1CAAC7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366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EC21801-B5CA-7554-FAC5-C52F4BF95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Cost of Equity (R</a:t>
            </a:r>
            <a:r>
              <a:rPr lang="en-US" altLang="en-US" baseline="-25000" dirty="0"/>
              <a:t>S</a:t>
            </a:r>
            <a:r>
              <a:rPr lang="en-US" altLang="en-US" dirty="0"/>
              <a:t>) </a:t>
            </a:r>
            <a:r>
              <a:rPr lang="en-US" altLang="en-US" sz="2800" dirty="0"/>
              <a:t>@</a:t>
            </a:r>
            <a:r>
              <a:rPr lang="en-US" altLang="en-US" dirty="0"/>
              <a:t> Zero Debt</a:t>
            </a:r>
            <a:endParaRPr lang="en-US" dirty="0"/>
          </a:p>
        </p:txBody>
      </p:sp>
      <p:sp>
        <p:nvSpPr>
          <p:cNvPr id="92164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Since firm has 0 growth, its current value, $2,000,000, is given by</a:t>
            </a:r>
            <a:br>
              <a:rPr lang="en-US" altLang="en-US" dirty="0"/>
            </a:br>
            <a:br>
              <a:rPr lang="en-US" altLang="en-US" dirty="0"/>
            </a:br>
            <a:r>
              <a:rPr lang="en-US" altLang="en-US" dirty="0"/>
              <a:t>Dividends/R</a:t>
            </a:r>
            <a:r>
              <a:rPr lang="en-US" altLang="en-US" baseline="-25000" dirty="0"/>
              <a:t>S</a:t>
            </a:r>
            <a:r>
              <a:rPr lang="en-US" altLang="en-US" dirty="0"/>
              <a:t> = (EBIT)(1-T)/R</a:t>
            </a:r>
            <a:r>
              <a:rPr lang="en-US" altLang="en-US" baseline="-25000" dirty="0"/>
              <a:t>S</a:t>
            </a:r>
            <a:r>
              <a:rPr lang="en-US" altLang="en-US" dirty="0"/>
              <a:t>  </a:t>
            </a:r>
            <a:br>
              <a:rPr lang="en-US" altLang="en-US" dirty="0"/>
            </a:br>
            <a:r>
              <a:rPr lang="en-US" altLang="en-US" dirty="0"/>
              <a:t>                       = 500,000 (1 - 0.40)/R</a:t>
            </a:r>
            <a:r>
              <a:rPr lang="en-US" altLang="en-US" baseline="-25000" dirty="0"/>
              <a:t>S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R</a:t>
            </a:r>
            <a:r>
              <a:rPr lang="en-US" altLang="en-US" baseline="-25000" dirty="0"/>
              <a:t>S</a:t>
            </a:r>
            <a:r>
              <a:rPr lang="en-US" altLang="en-US" dirty="0"/>
              <a:t> = 15.0% = unlevered cost of equity.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endParaRPr lang="en-US" altLang="en-US" dirty="0"/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R</a:t>
            </a:r>
            <a:r>
              <a:rPr lang="en-US" altLang="en-US" baseline="-25000" dirty="0"/>
              <a:t>S</a:t>
            </a:r>
            <a:r>
              <a:rPr lang="en-US" altLang="en-US" dirty="0"/>
              <a:t>   = R</a:t>
            </a:r>
            <a:r>
              <a:rPr lang="en-US" altLang="en-US" baseline="-25000" dirty="0"/>
              <a:t>RF  </a:t>
            </a:r>
            <a:r>
              <a:rPr lang="en-US" altLang="en-US" dirty="0"/>
              <a:t>+ B</a:t>
            </a:r>
            <a:r>
              <a:rPr lang="en-US" altLang="en-US" baseline="-25000" dirty="0"/>
              <a:t>U </a:t>
            </a:r>
            <a:r>
              <a:rPr lang="en-US" altLang="en-US" dirty="0"/>
              <a:t>(R</a:t>
            </a:r>
            <a:r>
              <a:rPr lang="en-US" altLang="en-US" baseline="-25000" dirty="0"/>
              <a:t>M</a:t>
            </a:r>
            <a:r>
              <a:rPr lang="en-US" altLang="en-US" dirty="0"/>
              <a:t> - R</a:t>
            </a:r>
            <a:r>
              <a:rPr lang="en-US" altLang="en-US" baseline="-25000" dirty="0"/>
              <a:t>RF</a:t>
            </a:r>
            <a:r>
              <a:rPr lang="en-US" altLang="en-US" dirty="0"/>
              <a:t>) 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.15 = .06 + B</a:t>
            </a:r>
            <a:r>
              <a:rPr lang="en-US" altLang="en-US" baseline="-25000" dirty="0"/>
              <a:t>U </a:t>
            </a:r>
            <a:r>
              <a:rPr lang="en-US" altLang="en-US" dirty="0"/>
              <a:t>(.04)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B</a:t>
            </a:r>
            <a:r>
              <a:rPr lang="en-US" altLang="en-US" baseline="-25000" dirty="0"/>
              <a:t>U</a:t>
            </a:r>
            <a:r>
              <a:rPr lang="en-US" altLang="en-US" dirty="0"/>
              <a:t>  = 2.25</a:t>
            </a:r>
          </a:p>
        </p:txBody>
      </p:sp>
    </p:spTree>
    <p:extLst>
      <p:ext uri="{BB962C8B-B14F-4D97-AF65-F5344CB8AC3E}">
        <p14:creationId xmlns:p14="http://schemas.microsoft.com/office/powerpoint/2010/main" val="2101315221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75888-D16A-56BA-C497-9F89E502A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Cost of Equity at Each Debt Level</a:t>
            </a:r>
            <a:endParaRPr lang="en-US" dirty="0"/>
          </a:p>
        </p:txBody>
      </p:sp>
      <p:sp>
        <p:nvSpPr>
          <p:cNvPr id="93188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Hamada’s equation says that </a:t>
            </a:r>
            <a:br>
              <a:rPr lang="en-US" altLang="en-US" dirty="0"/>
            </a:br>
            <a:r>
              <a:rPr lang="en-US" altLang="en-US" dirty="0"/>
              <a:t>          B</a:t>
            </a:r>
            <a:r>
              <a:rPr lang="en-US" altLang="en-US" baseline="-25000" dirty="0"/>
              <a:t>L</a:t>
            </a:r>
            <a:r>
              <a:rPr lang="en-US" altLang="en-US" dirty="0"/>
              <a:t> = B</a:t>
            </a:r>
            <a:r>
              <a:rPr lang="en-US" altLang="en-US" baseline="-25000" dirty="0"/>
              <a:t>U</a:t>
            </a:r>
            <a:r>
              <a:rPr lang="en-US" altLang="en-US" dirty="0"/>
              <a:t> (1 + (1-T)(D/E))</a:t>
            </a:r>
          </a:p>
        </p:txBody>
      </p:sp>
      <p:graphicFrame>
        <p:nvGraphicFramePr>
          <p:cNvPr id="59497" name="Group 10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3031233"/>
              </p:ext>
            </p:extLst>
          </p:nvPr>
        </p:nvGraphicFramePr>
        <p:xfrm>
          <a:off x="1066800" y="3067050"/>
          <a:ext cx="6629400" cy="3108576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Debt(000s)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D/E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8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2.25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15.00%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250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0.142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2.44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15.77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500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0.333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2.70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16.80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750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0.600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3.06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18.24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1,000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1.000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3.60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20.40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587764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auto">
          <a:xfrm>
            <a:off x="762001" y="1279524"/>
            <a:ext cx="8077200" cy="2859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581025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581025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581025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581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81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81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81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81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581025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D	= $250, R</a:t>
            </a:r>
            <a:r>
              <a:rPr lang="en-US" altLang="en-US" sz="1800" baseline="-25000" dirty="0"/>
              <a:t>d</a:t>
            </a:r>
            <a:r>
              <a:rPr lang="en-US" altLang="en-US" sz="1800" dirty="0"/>
              <a:t> = 10%, R</a:t>
            </a:r>
            <a:r>
              <a:rPr lang="en-US" altLang="en-US" sz="1800" baseline="-25000" dirty="0"/>
              <a:t>s</a:t>
            </a:r>
            <a:r>
              <a:rPr lang="en-US" altLang="en-US" sz="1800" dirty="0"/>
              <a:t> = 15.77%.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S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	=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=					       = $1,807.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V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	= S</a:t>
            </a:r>
            <a:r>
              <a:rPr lang="en-US" altLang="en-US" sz="1800" baseline="-25000" dirty="0"/>
              <a:t>1 </a:t>
            </a:r>
            <a:r>
              <a:rPr lang="en-US" altLang="en-US" sz="1800" dirty="0"/>
              <a:t> + D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 = $1,807 + $250 = $2,057.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P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	= 	     	= $20.57.</a:t>
            </a: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auto">
          <a:xfrm>
            <a:off x="1600200" y="2438401"/>
            <a:ext cx="4511676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[$500 - 0.1($250)](0.6)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0.1577</a:t>
            </a: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auto">
          <a:xfrm>
            <a:off x="1600200" y="3661348"/>
            <a:ext cx="1143000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 dirty="0"/>
              <a:t>$2,057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  100</a:t>
            </a:r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auto">
          <a:xfrm>
            <a:off x="2509557" y="1951038"/>
            <a:ext cx="2126224" cy="5514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(EBIT - </a:t>
            </a:r>
            <a:r>
              <a:rPr lang="en-US" altLang="en-US" sz="1800" dirty="0" err="1"/>
              <a:t>R</a:t>
            </a:r>
            <a:r>
              <a:rPr lang="en-US" altLang="en-US" sz="1800" baseline="-25000" dirty="0" err="1"/>
              <a:t>d</a:t>
            </a:r>
            <a:r>
              <a:rPr lang="en-US" altLang="en-US" sz="1800" dirty="0" err="1"/>
              <a:t>D</a:t>
            </a:r>
            <a:r>
              <a:rPr lang="en-US" altLang="en-US" sz="1800" dirty="0"/>
              <a:t>)(1 - T)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aseline="-25000" dirty="0"/>
              <a:t>Rs</a:t>
            </a:r>
          </a:p>
        </p:txBody>
      </p:sp>
      <p:sp>
        <p:nvSpPr>
          <p:cNvPr id="94214" name="Line 6"/>
          <p:cNvSpPr>
            <a:spLocks noChangeShapeType="1"/>
          </p:cNvSpPr>
          <p:nvPr/>
        </p:nvSpPr>
        <p:spPr bwMode="auto">
          <a:xfrm>
            <a:off x="1874838" y="2778332"/>
            <a:ext cx="3962400" cy="36226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4215" name="Line 7"/>
          <p:cNvSpPr>
            <a:spLocks noChangeShapeType="1"/>
          </p:cNvSpPr>
          <p:nvPr/>
        </p:nvSpPr>
        <p:spPr bwMode="auto">
          <a:xfrm>
            <a:off x="1905000" y="22860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41249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ChangeArrowheads="1"/>
          </p:cNvSpPr>
          <p:nvPr/>
        </p:nvSpPr>
        <p:spPr bwMode="auto">
          <a:xfrm>
            <a:off x="973138" y="962025"/>
            <a:ext cx="7188200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    Shares 	   </a:t>
            </a:r>
            <a:r>
              <a:rPr lang="en-US" altLang="en-US" sz="1800" u="sng" dirty="0"/>
              <a:t>  $250  	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repurchased	    $20.57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      Shares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   remaining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Check on stock price: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P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 = 	      = 	      = $20.57.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Other debt levels treated similarly.</a:t>
            </a:r>
          </a:p>
        </p:txBody>
      </p:sp>
      <p:sp>
        <p:nvSpPr>
          <p:cNvPr id="95235" name="Rectangle 3"/>
          <p:cNvSpPr>
            <a:spLocks noChangeArrowheads="1"/>
          </p:cNvSpPr>
          <p:nvPr/>
        </p:nvSpPr>
        <p:spPr bwMode="auto">
          <a:xfrm>
            <a:off x="1939925" y="4514850"/>
            <a:ext cx="600075" cy="106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S</a:t>
            </a:r>
            <a:r>
              <a:rPr lang="en-US" altLang="en-US" sz="1800" baseline="-25000" dirty="0"/>
              <a:t>1</a:t>
            </a:r>
            <a:endParaRPr lang="en-US" altLang="en-US" sz="1800" u="sng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n</a:t>
            </a:r>
            <a:r>
              <a:rPr lang="en-US" altLang="en-US" sz="1800" baseline="-25000" dirty="0"/>
              <a:t>1</a:t>
            </a:r>
          </a:p>
        </p:txBody>
      </p:sp>
      <p:sp>
        <p:nvSpPr>
          <p:cNvPr id="95236" name="Rectangle 4"/>
          <p:cNvSpPr>
            <a:spLocks noChangeArrowheads="1"/>
          </p:cNvSpPr>
          <p:nvPr/>
        </p:nvSpPr>
        <p:spPr bwMode="auto">
          <a:xfrm>
            <a:off x="2971800" y="4514851"/>
            <a:ext cx="1425575" cy="6437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u="sng" dirty="0"/>
              <a:t>$1,807</a:t>
            </a:r>
            <a:endParaRPr lang="en-US" altLang="en-US" sz="1800" dirty="0"/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87.85</a:t>
            </a:r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3597275" y="1206500"/>
            <a:ext cx="3075266" cy="11977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                  = 12.15.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= n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 = 100 - 12.15 = 87.85.</a:t>
            </a:r>
          </a:p>
        </p:txBody>
      </p:sp>
      <p:sp>
        <p:nvSpPr>
          <p:cNvPr id="95238" name="Line 6"/>
          <p:cNvSpPr>
            <a:spLocks noChangeShapeType="1"/>
          </p:cNvSpPr>
          <p:nvPr/>
        </p:nvSpPr>
        <p:spPr bwMode="auto">
          <a:xfrm>
            <a:off x="1939925" y="4876800"/>
            <a:ext cx="5397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5239" name="Rectangle 7"/>
          <p:cNvSpPr>
            <a:spLocks noChangeArrowheads="1"/>
          </p:cNvSpPr>
          <p:nvPr/>
        </p:nvSpPr>
        <p:spPr bwMode="auto">
          <a:xfrm>
            <a:off x="838200" y="3568700"/>
            <a:ext cx="4549775" cy="692150"/>
          </a:xfrm>
          <a:prstGeom prst="rect">
            <a:avLst/>
          </a:prstGeom>
          <a:noFill/>
          <a:ln w="508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  <p:extLst>
      <p:ext uri="{BB962C8B-B14F-4D97-AF65-F5344CB8AC3E}">
        <p14:creationId xmlns:p14="http://schemas.microsoft.com/office/powerpoint/2010/main" val="1432789111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BD96-34D1-D4F1-23AB-66B043174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Value of Equity at Each Debt Level</a:t>
            </a:r>
            <a:endParaRPr lang="en-US" dirty="0"/>
          </a:p>
        </p:txBody>
      </p:sp>
      <p:sp>
        <p:nvSpPr>
          <p:cNvPr id="96260" name="Rectangle 6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Equity Value = NI/R</a:t>
            </a:r>
            <a:r>
              <a:rPr lang="en-US" altLang="en-US" baseline="-25000" dirty="0"/>
              <a:t>S</a:t>
            </a:r>
            <a:r>
              <a:rPr lang="en-US" altLang="en-US" dirty="0"/>
              <a:t>; = Dividends/R</a:t>
            </a:r>
            <a:r>
              <a:rPr lang="en-US" altLang="en-US" baseline="-25000" dirty="0"/>
              <a:t>S</a:t>
            </a:r>
            <a:endParaRPr lang="en-US" altLang="en-US" dirty="0"/>
          </a:p>
        </p:txBody>
      </p:sp>
      <p:graphicFrame>
        <p:nvGraphicFramePr>
          <p:cNvPr id="60545" name="Group 1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6713533"/>
              </p:ext>
            </p:extLst>
          </p:nvPr>
        </p:nvGraphicFramePr>
        <p:xfrm>
          <a:off x="990600" y="2525713"/>
          <a:ext cx="7162800" cy="3108576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Debt(000s)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Divs</a:t>
                      </a:r>
                      <a:endParaRPr kumimoji="0" lang="en-US" sz="2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na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300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15.00%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2,000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250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10%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285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15.77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1,807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500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11%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267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16.80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1,589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750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13%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241.5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18.24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1,324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1,000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16%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20.40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1,000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4771347"/>
      </p:ext>
    </p:extLst>
  </p:cSld>
  <p:clrMapOvr>
    <a:masterClrMapping/>
  </p:clrMapOvr>
  <p:transition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4" name="Line 8"/>
          <p:cNvSpPr>
            <a:spLocks noChangeShapeType="1"/>
          </p:cNvSpPr>
          <p:nvPr/>
        </p:nvSpPr>
        <p:spPr bwMode="auto">
          <a:xfrm flipH="1">
            <a:off x="6248400" y="4724400"/>
            <a:ext cx="53340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97285" name="Text Box 9"/>
          <p:cNvSpPr txBox="1">
            <a:spLocks noChangeArrowheads="1"/>
          </p:cNvSpPr>
          <p:nvPr/>
        </p:nvSpPr>
        <p:spPr bwMode="auto">
          <a:xfrm>
            <a:off x="6705600" y="3810000"/>
            <a:ext cx="2438400" cy="20621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b="1" dirty="0">
                <a:latin typeface="Arial" panose="020B0604020202020204" pitchFamily="34" charset="0"/>
              </a:rPr>
              <a:t>Total Value  Maximized w/ 500,000 in debt.</a:t>
            </a:r>
          </a:p>
        </p:txBody>
      </p:sp>
      <p:graphicFrame>
        <p:nvGraphicFramePr>
          <p:cNvPr id="61502" name="Group 62"/>
          <p:cNvGraphicFramePr>
            <a:graphicFrameLocks noGrp="1"/>
          </p:cNvGraphicFramePr>
          <p:nvPr/>
        </p:nvGraphicFramePr>
        <p:xfrm>
          <a:off x="381000" y="2487613"/>
          <a:ext cx="6096000" cy="353550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4481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Debt (000s)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</a:t>
                      </a:r>
                    </a:p>
                  </a:txBody>
                  <a:tcPr marT="45705" marB="45705" anchor="b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 Value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Price per Share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1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2,000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2,000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$20.00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1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1,807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2,057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20.57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1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500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1,589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2,089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20.89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1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750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1,324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2,074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20.74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10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1,000</a:t>
                      </a:r>
                    </a:p>
                  </a:txBody>
                  <a:tcPr marT="45705" marB="4570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1,000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2,000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20.00</a:t>
                      </a:r>
                    </a:p>
                  </a:txBody>
                  <a:tcPr marT="45705" marB="4570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A935B841-6E81-C195-D140-7F5C68D4D5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Total Value of Firm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4384812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2"/>
          <p:cNvSpPr>
            <a:spLocks noChangeArrowheads="1"/>
          </p:cNvSpPr>
          <p:nvPr/>
        </p:nvSpPr>
        <p:spPr bwMode="auto">
          <a:xfrm>
            <a:off x="601663" y="685800"/>
            <a:ext cx="7940675" cy="2133600"/>
          </a:xfrm>
          <a:prstGeom prst="rect">
            <a:avLst/>
          </a:prstGeom>
          <a:noFill/>
          <a:ln w="50800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98308" name="Rectangle 4"/>
          <p:cNvSpPr>
            <a:spLocks noChangeArrowheads="1"/>
          </p:cNvSpPr>
          <p:nvPr/>
        </p:nvSpPr>
        <p:spPr bwMode="auto">
          <a:xfrm>
            <a:off x="914400" y="2733839"/>
            <a:ext cx="7315200" cy="7053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790575" algn="r"/>
                <a:tab pos="2695575" algn="r"/>
                <a:tab pos="4344988" algn="dec"/>
                <a:tab pos="5946775" algn="dec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790575" algn="r"/>
                <a:tab pos="2695575" algn="r"/>
                <a:tab pos="4344988" algn="dec"/>
                <a:tab pos="5946775" algn="dec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790575" algn="r"/>
                <a:tab pos="2695575" algn="r"/>
                <a:tab pos="4344988" algn="dec"/>
                <a:tab pos="5946775" algn="dec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790575" algn="r"/>
                <a:tab pos="2695575" algn="r"/>
                <a:tab pos="4344988" algn="dec"/>
                <a:tab pos="5946775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790575" algn="r"/>
                <a:tab pos="2695575" algn="r"/>
                <a:tab pos="4344988" algn="dec"/>
                <a:tab pos="5946775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790575" algn="r"/>
                <a:tab pos="2695575" algn="r"/>
                <a:tab pos="4344988" algn="dec"/>
                <a:tab pos="5946775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790575" algn="r"/>
                <a:tab pos="2695575" algn="r"/>
                <a:tab pos="4344988" algn="dec"/>
                <a:tab pos="5946775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790575" algn="r"/>
                <a:tab pos="2695575" algn="r"/>
                <a:tab pos="4344988" algn="dec"/>
                <a:tab pos="5946775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790575" algn="r"/>
                <a:tab pos="2695575" algn="r"/>
                <a:tab pos="4344988" algn="dec"/>
                <a:tab pos="5946775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Net income = NI = [EBIT - R</a:t>
            </a:r>
            <a:r>
              <a:rPr lang="en-US" altLang="en-US" sz="2000" baseline="-25000" dirty="0"/>
              <a:t>d</a:t>
            </a:r>
            <a:r>
              <a:rPr lang="en-US" altLang="en-US" sz="2000" dirty="0"/>
              <a:t> D](1 - T).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dirty="0"/>
              <a:t>EPS = NI/n.</a:t>
            </a:r>
          </a:p>
        </p:txBody>
      </p:sp>
      <p:sp>
        <p:nvSpPr>
          <p:cNvPr id="98307" name="Rectangle 3"/>
          <p:cNvSpPr>
            <a:spLocks noGrp="1" noChangeArrowheads="1"/>
          </p:cNvSpPr>
          <p:nvPr>
            <p:ph type="title"/>
          </p:nvPr>
        </p:nvSpPr>
        <p:spPr>
          <a:xfrm>
            <a:off x="601662" y="533400"/>
            <a:ext cx="8054181" cy="1863725"/>
          </a:xfrm>
          <a:solidFill>
            <a:schemeClr val="bg1"/>
          </a:solidFill>
        </p:spPr>
        <p:txBody>
          <a:bodyPr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altLang="en-US" dirty="0"/>
              <a:t>Calculate EPS at debt of $0, $250K, $500K, &amp; $750K, assuming firm begins at zero debt &amp; recapitalizes to each level in  single step.</a:t>
            </a:r>
          </a:p>
        </p:txBody>
      </p:sp>
      <p:graphicFrame>
        <p:nvGraphicFramePr>
          <p:cNvPr id="39067" name="Group 155"/>
          <p:cNvGraphicFramePr>
            <a:graphicFrameLocks noGrp="1"/>
          </p:cNvGraphicFramePr>
          <p:nvPr/>
        </p:nvGraphicFramePr>
        <p:xfrm>
          <a:off x="1600200" y="3962400"/>
          <a:ext cx="6248400" cy="2505206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808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  </a:t>
                      </a:r>
                    </a:p>
                  </a:txBody>
                  <a:tcPr marT="45695" marB="45695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NI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     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EPS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8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  0</a:t>
                      </a:r>
                    </a:p>
                  </a:txBody>
                  <a:tcPr marT="45695" marB="45695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$300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100.00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$3.00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marT="45695" marB="4569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285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87.85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3.24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8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500</a:t>
                      </a:r>
                    </a:p>
                  </a:txBody>
                  <a:tcPr marT="45695" marB="4569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267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76.07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3.51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13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750</a:t>
                      </a:r>
                    </a:p>
                  </a:txBody>
                  <a:tcPr marT="45695" marB="45695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242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63.84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3.78</a:t>
                      </a:r>
                    </a:p>
                  </a:txBody>
                  <a:tcPr marT="45695" marB="45695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4428853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47738" y="1703388"/>
            <a:ext cx="7486650" cy="2487612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/>
              <a:t>EPS continues to increase beyond $500,000 optimal debt level.</a:t>
            </a:r>
          </a:p>
          <a:p>
            <a:pPr>
              <a:lnSpc>
                <a:spcPct val="90000"/>
              </a:lnSpc>
              <a:spcBef>
                <a:spcPct val="30000"/>
              </a:spcBef>
            </a:pPr>
            <a:r>
              <a:rPr lang="en-US" altLang="en-US" dirty="0"/>
              <a:t>Does this mean optimal debt level is $750,000, or even higher?</a:t>
            </a:r>
          </a:p>
        </p:txBody>
      </p:sp>
    </p:spTree>
    <p:extLst>
      <p:ext uri="{BB962C8B-B14F-4D97-AF65-F5344CB8AC3E}">
        <p14:creationId xmlns:p14="http://schemas.microsoft.com/office/powerpoint/2010/main" val="1124243111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5" name="Rectangle 5"/>
          <p:cNvSpPr>
            <a:spLocks noChangeArrowheads="1"/>
          </p:cNvSpPr>
          <p:nvPr/>
        </p:nvSpPr>
        <p:spPr bwMode="auto">
          <a:xfrm>
            <a:off x="609600" y="4648200"/>
            <a:ext cx="7872413" cy="11700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1439863" algn="l"/>
                <a:tab pos="1998663" algn="l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1439863" algn="l"/>
                <a:tab pos="1998663" algn="l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1439863" algn="l"/>
                <a:tab pos="1998663" algn="l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1439863" algn="l"/>
                <a:tab pos="19986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439863" algn="l"/>
                <a:tab pos="19986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439863" algn="l"/>
                <a:tab pos="19986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439863" algn="l"/>
                <a:tab pos="19986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439863" algn="l"/>
                <a:tab pos="19986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1439863" algn="l"/>
                <a:tab pos="1998663" algn="l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e.g.  Debt	= $250:</a:t>
            </a:r>
            <a:br>
              <a:rPr lang="en-US" altLang="en-US" sz="1800" dirty="0"/>
            </a:br>
            <a:r>
              <a:rPr lang="en-US" altLang="en-US" sz="1800" dirty="0"/>
              <a:t>WACC	= ($250/$2,057)(10%)(0.6)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	+ ($1,807/$2,057)(15.77%)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/>
              <a:t>	= 14.6%.</a:t>
            </a:r>
          </a:p>
        </p:txBody>
      </p:sp>
      <p:graphicFrame>
        <p:nvGraphicFramePr>
          <p:cNvPr id="41132" name="Group 17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657290"/>
              </p:ext>
            </p:extLst>
          </p:nvPr>
        </p:nvGraphicFramePr>
        <p:xfrm>
          <a:off x="457200" y="1543050"/>
          <a:ext cx="8229600" cy="3108576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8054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ebt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S   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V  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R</a:t>
                      </a:r>
                      <a:r>
                        <a:rPr kumimoji="0" 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d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</a:t>
                      </a:r>
                      <a:r>
                        <a:rPr kumimoji="0" lang="en-US" sz="28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s</a:t>
                      </a: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WACC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    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$2,000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$2,000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--   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15.00%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15.0%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250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1,807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2,057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10%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15.77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14.6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500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 1,589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  2,089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11.0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16.80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   14.4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750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1,324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2,074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13.0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18.24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14.5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054"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1,000</a:t>
                      </a:r>
                    </a:p>
                  </a:txBody>
                  <a:tcPr marT="45688" marB="4568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1,000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2,000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13.0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20.40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</a:t>
                      </a:r>
                    </a:p>
                  </a:txBody>
                  <a:tcPr marT="45688" marB="4568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E7C1741-0746-685C-1D66-9A8F04E0C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Find WACC </a:t>
            </a:r>
            <a:r>
              <a:rPr lang="en-US" altLang="en-US" sz="2700" dirty="0"/>
              <a:t>@</a:t>
            </a:r>
            <a:r>
              <a:rPr lang="en-US" altLang="en-US" sz="4000" dirty="0"/>
              <a:t> each debt level.</a:t>
            </a:r>
            <a:br>
              <a:rPr lang="en-US" altLang="en-US" sz="4000" dirty="0">
                <a:solidFill>
                  <a:schemeClr val="tx2"/>
                </a:solidFill>
              </a:rPr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6514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AD62D-B2A7-9BA7-F135-122626456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600" dirty="0"/>
              <a:t>Find WACC at each debt level (</a:t>
            </a:r>
            <a:r>
              <a:rPr lang="en-US" altLang="en-US" sz="3600" dirty="0" err="1"/>
              <a:t>con’t</a:t>
            </a:r>
            <a:r>
              <a:rPr lang="en-US" altLang="en-US" sz="3600" dirty="0"/>
              <a:t>)</a:t>
            </a:r>
            <a:endParaRPr lang="en-US" dirty="0"/>
          </a:p>
        </p:txBody>
      </p:sp>
      <p:sp>
        <p:nvSpPr>
          <p:cNvPr id="101378" name="Rectangle 2"/>
          <p:cNvSpPr>
            <a:spLocks noGrp="1" noChangeArrowheads="1"/>
          </p:cNvSpPr>
          <p:nvPr>
            <p:ph idx="1"/>
          </p:nvPr>
        </p:nvSpPr>
        <p:spPr>
          <a:xfrm>
            <a:off x="628650" y="1676406"/>
            <a:ext cx="8210550" cy="4500558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WACC minimized </a:t>
            </a:r>
            <a:r>
              <a:rPr lang="en-US" altLang="en-US" sz="2000" dirty="0"/>
              <a:t>@</a:t>
            </a:r>
            <a:r>
              <a:rPr lang="en-US" altLang="en-US" dirty="0"/>
              <a:t> D = $500,000,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same debt level that maximizes stock price.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Since value of firm is PV of future Op. income,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 lowest discount rate (WACC) = highest value.</a:t>
            </a:r>
          </a:p>
        </p:txBody>
      </p:sp>
    </p:spTree>
    <p:extLst>
      <p:ext uri="{BB962C8B-B14F-4D97-AF65-F5344CB8AC3E}">
        <p14:creationId xmlns:p14="http://schemas.microsoft.com/office/powerpoint/2010/main" val="3180395187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D9BC25-3361-62DE-CAA9-8F4FE483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sz="4000" dirty="0"/>
              <a:t>How would higher or lower business risk affect optimal capital structure?</a:t>
            </a:r>
            <a:endParaRPr lang="en-US" dirty="0"/>
          </a:p>
        </p:txBody>
      </p:sp>
      <p:sp>
        <p:nvSpPr>
          <p:cNvPr id="102402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1676406"/>
            <a:ext cx="8686800" cy="4500558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At any debt level, firm’s probability of financial distress higher. 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Both R</a:t>
            </a:r>
            <a:r>
              <a:rPr lang="en-US" altLang="en-US" baseline="-25000" dirty="0"/>
              <a:t>d</a:t>
            </a:r>
            <a:r>
              <a:rPr lang="en-US" altLang="en-US" dirty="0"/>
              <a:t> &amp; R</a:t>
            </a:r>
            <a:r>
              <a:rPr lang="en-US" altLang="en-US" baseline="-25000" dirty="0"/>
              <a:t>s</a:t>
            </a:r>
            <a:r>
              <a:rPr lang="en-US" altLang="en-US" dirty="0"/>
              <a:t> rise faster than before. 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>
                <a:solidFill>
                  <a:schemeClr val="tx2"/>
                </a:solidFill>
              </a:rPr>
              <a:t>End result: optimal capital structure w/ less debt</a:t>
            </a:r>
            <a:r>
              <a:rPr lang="en-US" altLang="en-US" dirty="0"/>
              <a:t>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Lower business risk has opposite effect.</a:t>
            </a:r>
          </a:p>
        </p:txBody>
      </p:sp>
    </p:spTree>
    <p:extLst>
      <p:ext uri="{BB962C8B-B14F-4D97-AF65-F5344CB8AC3E}">
        <p14:creationId xmlns:p14="http://schemas.microsoft.com/office/powerpoint/2010/main" val="1056301742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E1374-268F-F109-20C2-435E45BE8C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000" dirty="0"/>
              <a:t>Is it possible to do an analysis exactly like one above for most firms?</a:t>
            </a:r>
            <a:endParaRPr lang="en-US" dirty="0"/>
          </a:p>
        </p:txBody>
      </p:sp>
      <p:sp>
        <p:nvSpPr>
          <p:cNvPr id="103426" name="Rectangle 2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>
                <a:solidFill>
                  <a:schemeClr val="tx2"/>
                </a:solidFill>
              </a:rPr>
              <a:t>No. </a:t>
            </a:r>
            <a:r>
              <a:rPr lang="en-US" altLang="en-US" dirty="0"/>
              <a:t>analysis above based on assumption of zero growth, &amp; most firms do not fit this category.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Further, very difficult to estimate changing R</a:t>
            </a:r>
            <a:r>
              <a:rPr lang="en-US" altLang="en-US" baseline="-25000" dirty="0"/>
              <a:t>s</a:t>
            </a:r>
            <a:r>
              <a:rPr lang="en-US" altLang="en-US" dirty="0"/>
              <a:t> w/ confidence.</a:t>
            </a:r>
          </a:p>
        </p:txBody>
      </p:sp>
    </p:spTree>
    <p:extLst>
      <p:ext uri="{BB962C8B-B14F-4D97-AF65-F5344CB8AC3E}">
        <p14:creationId xmlns:p14="http://schemas.microsoft.com/office/powerpoint/2010/main" val="781680428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7512" y="304800"/>
            <a:ext cx="8345488" cy="1032090"/>
          </a:xfrm>
        </p:spPr>
        <p:txBody>
          <a:bodyPr>
            <a:normAutofit fontScale="90000"/>
          </a:bodyPr>
          <a:lstStyle/>
          <a:p>
            <a:pPr lvl="0" eaLnBrk="1" hangingPunct="1"/>
            <a:r>
              <a:rPr lang="en-US" altLang="en-US" sz="3200" kern="1200" dirty="0">
                <a:latin typeface="Tahoma" panose="020B0604030504040204" pitchFamily="34" charset="0"/>
              </a:rPr>
              <a:t>What type of analysis should firms conduct to help find optimal, or target, capital structure?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017713"/>
            <a:ext cx="8345488" cy="4114800"/>
          </a:xfrm>
        </p:spPr>
        <p:txBody>
          <a:bodyPr/>
          <a:lstStyle/>
          <a:p>
            <a:r>
              <a:rPr lang="en-US" altLang="en-US" dirty="0"/>
              <a:t>Financial forecasting models can help show how capital structure changes are likely to affect stock prices, coverage ratios, &amp; performance.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6430F-9620-4BFF-8719-AFA24DD75E6E}" type="slidenum">
              <a:rPr lang="en-US" smtClean="0"/>
              <a:pPr>
                <a:defRPr/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9317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762000" y="1905000"/>
            <a:ext cx="7672388" cy="4437063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Forecasting models can generate results under various scenarios, but financial manager must specify appropriate input values, interpret output, &amp; eventually decide on a target capital structure.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In end, capital structure decision will be based on a combination of analysis &amp; judgment.</a:t>
            </a:r>
          </a:p>
        </p:txBody>
      </p:sp>
    </p:spTree>
    <p:extLst>
      <p:ext uri="{BB962C8B-B14F-4D97-AF65-F5344CB8AC3E}">
        <p14:creationId xmlns:p14="http://schemas.microsoft.com/office/powerpoint/2010/main" val="2011500865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04800"/>
            <a:ext cx="7886700" cy="1032090"/>
          </a:xfrm>
        </p:spPr>
        <p:txBody>
          <a:bodyPr>
            <a:normAutofit fontScale="90000"/>
          </a:bodyPr>
          <a:lstStyle/>
          <a:p>
            <a:r>
              <a:rPr lang="en-US" altLang="en-US" sz="3200" kern="1200" dirty="0">
                <a:latin typeface="Tahoma" panose="020B0604030504040204" pitchFamily="34" charset="0"/>
                <a:ea typeface="+mn-ea"/>
                <a:cs typeface="+mn-cs"/>
              </a:rPr>
              <a:t>What other factors would managers consider when setting target</a:t>
            </a:r>
            <a:br>
              <a:rPr lang="en-US" altLang="en-US" sz="3200" kern="1200" dirty="0">
                <a:latin typeface="Tahoma" panose="020B0604030504040204" pitchFamily="34" charset="0"/>
                <a:ea typeface="+mn-ea"/>
                <a:cs typeface="+mn-cs"/>
              </a:rPr>
            </a:br>
            <a:r>
              <a:rPr lang="en-US" altLang="en-US" sz="3200" kern="1200" dirty="0">
                <a:latin typeface="Tahoma" panose="020B0604030504040204" pitchFamily="34" charset="0"/>
                <a:ea typeface="+mn-ea"/>
                <a:cs typeface="+mn-cs"/>
              </a:rPr>
              <a:t>capital structure?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Debt ratios of other firms in industry.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Pro forma coverage ratios at different capital structures under different economic scenarios.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Lender &amp; rating agency attitudes</a:t>
            </a:r>
            <a:br>
              <a:rPr lang="en-US" altLang="en-US" dirty="0"/>
            </a:br>
            <a:r>
              <a:rPr lang="en-US" altLang="en-US" dirty="0"/>
              <a:t>(impact on bond ratings).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56430F-9620-4BFF-8719-AFA24DD75E6E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4493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23925" y="2057400"/>
            <a:ext cx="7534275" cy="4038600"/>
          </a:xfrm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Reserve borrowing capacity.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Effects on control.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Type of assets:  Are they tangible, &amp; hence suitable as collateral?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Tax rates.</a:t>
            </a:r>
          </a:p>
        </p:txBody>
      </p:sp>
    </p:spTree>
    <p:extLst>
      <p:ext uri="{BB962C8B-B14F-4D97-AF65-F5344CB8AC3E}">
        <p14:creationId xmlns:p14="http://schemas.microsoft.com/office/powerpoint/2010/main" val="2966537703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ctrTitle"/>
          </p:nvPr>
        </p:nvSpPr>
        <p:spPr>
          <a:xfrm>
            <a:off x="0" y="2431335"/>
            <a:ext cx="9144000" cy="1078628"/>
          </a:xfrm>
        </p:spPr>
        <p:txBody>
          <a:bodyPr anchor="ctr">
            <a:normAutofit/>
          </a:bodyPr>
          <a:lstStyle/>
          <a:p>
            <a:r>
              <a:rPr lang="en-US" altLang="en-US"/>
              <a:t>Part B</a:t>
            </a:r>
          </a:p>
        </p:txBody>
      </p:sp>
      <p:sp>
        <p:nvSpPr>
          <p:cNvPr id="80900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norm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</a:pPr>
            <a:fld id="{DEB93FA5-1EFE-4242-89F9-FA040F5F8FD1}" type="slidenum">
              <a:rPr lang="en-US" altLang="en-US" sz="900">
                <a:solidFill>
                  <a:schemeClr val="tx1">
                    <a:tint val="75000"/>
                  </a:schemeClr>
                </a:solidFill>
              </a:rPr>
              <a:pPr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</a:pPr>
              <a:t>48</a:t>
            </a:fld>
            <a:endParaRPr lang="en-US" altLang="en-US" sz="900">
              <a:solidFill>
                <a:schemeClr val="tx1">
                  <a:tint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C7EE53D-EF80-4CAF-B3E3-785A1F10AC95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49</a:t>
            </a:fld>
            <a:endParaRPr lang="en-US" altLang="en-US" sz="1400"/>
          </a:p>
        </p:txBody>
      </p:sp>
      <p:sp>
        <p:nvSpPr>
          <p:cNvPr id="3174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Capital Structure Theory</a:t>
            </a:r>
          </a:p>
        </p:txBody>
      </p:sp>
      <p:sp>
        <p:nvSpPr>
          <p:cNvPr id="31748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Modigliani-Miller (MM) theory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Zero taxes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Corporate taxes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Corporate &amp; personal taxes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Trade-off theory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Signaling theory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Pecking order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Debt financing as a managerial constraint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Windows of opportunity</a:t>
            </a:r>
          </a:p>
        </p:txBody>
      </p:sp>
    </p:spTree>
    <p:extLst>
      <p:ext uri="{BB962C8B-B14F-4D97-AF65-F5344CB8AC3E}">
        <p14:creationId xmlns:p14="http://schemas.microsoft.com/office/powerpoint/2010/main" val="379688931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Modigliani-Miller (MM) Theory:  Zero Taxes</a:t>
            </a:r>
          </a:p>
        </p:txBody>
      </p:sp>
      <p:graphicFrame>
        <p:nvGraphicFramePr>
          <p:cNvPr id="367619" name="Group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27815861"/>
              </p:ext>
            </p:extLst>
          </p:nvPr>
        </p:nvGraphicFramePr>
        <p:xfrm>
          <a:off x="628650" y="1676400"/>
          <a:ext cx="7886698" cy="4384679"/>
        </p:xfrm>
        <a:graphic>
          <a:graphicData uri="http://schemas.openxmlformats.org/drawingml/2006/table">
            <a:tbl>
              <a:tblPr/>
              <a:tblGrid>
                <a:gridCol w="26659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15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91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Firm U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Firm L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19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EBIT	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Interest	</a:t>
                      </a: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 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1,200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NI	  	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$1,800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4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CF to shareholder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$1,800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CF to debtholder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      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$1,200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00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 CF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$3,000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0063">
                <a:tc gridSpan="3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Notice that total CF are identical for both firms.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27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08E0A4-3119-4348-AE25-1BC1DFA1C92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50</a:t>
            </a:fld>
            <a:endParaRPr lang="en-US" altLang="en-US" sz="1400"/>
          </a:p>
        </p:txBody>
      </p:sp>
    </p:spTree>
    <p:extLst>
      <p:ext uri="{BB962C8B-B14F-4D97-AF65-F5344CB8AC3E}">
        <p14:creationId xmlns:p14="http://schemas.microsoft.com/office/powerpoint/2010/main" val="382566113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ED2F63-77B3-4B7C-9248-22BEE7973DA2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51</a:t>
            </a:fld>
            <a:endParaRPr lang="en-US" altLang="en-US" sz="1400"/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MM Results:  Zero Taxes</a:t>
            </a:r>
          </a:p>
        </p:txBody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MM assume: (1) no transactions costs; (2) no restrictions or costs to short sales; and (3) individuals can borrow at the same rate as corporations.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MM prove that if the total CF to investors of Firm U and Firm L are equal, then arbitrage is possible unless the total values of Firm U and Firm L are equal: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000" dirty="0"/>
              <a:t> V</a:t>
            </a:r>
            <a:r>
              <a:rPr lang="en-US" altLang="en-US" sz="2000" baseline="-25000" dirty="0"/>
              <a:t>L</a:t>
            </a:r>
            <a:r>
              <a:rPr lang="en-US" altLang="en-US" sz="2000" dirty="0"/>
              <a:t> = V</a:t>
            </a:r>
            <a:r>
              <a:rPr lang="en-US" altLang="en-US" sz="2000" baseline="-25000" dirty="0"/>
              <a:t>U</a:t>
            </a:r>
            <a:r>
              <a:rPr lang="en-US" altLang="en-US" sz="2000" dirty="0"/>
              <a:t>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Because FCF and values of firms L and U are equal, their WACCs are equal.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Therefore, capital structure is irrelevant.</a:t>
            </a:r>
          </a:p>
        </p:txBody>
      </p:sp>
    </p:spTree>
    <p:extLst>
      <p:ext uri="{BB962C8B-B14F-4D97-AF65-F5344CB8AC3E}">
        <p14:creationId xmlns:p14="http://schemas.microsoft.com/office/powerpoint/2010/main" val="3242332925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C10ADC5-0E95-4F47-8049-E2FF01BD0ACC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52</a:t>
            </a:fld>
            <a:endParaRPr lang="en-US" altLang="en-US" sz="1400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MM Theory:  Corporate Taxes</a:t>
            </a:r>
          </a:p>
        </p:txBody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209800"/>
            <a:ext cx="8040688" cy="4230688"/>
          </a:xfrm>
        </p:spPr>
        <p:txBody>
          <a:bodyPr/>
          <a:lstStyle/>
          <a:p>
            <a:pPr eaLnBrk="1" hangingPunct="1"/>
            <a:r>
              <a:rPr lang="en-US" altLang="en-US"/>
              <a:t>Corporate tax laws allow interest to be deducted, which reduces taxes paid by levered firms.</a:t>
            </a:r>
          </a:p>
          <a:p>
            <a:pPr eaLnBrk="1" hangingPunct="1"/>
            <a:r>
              <a:rPr lang="en-US" altLang="en-US"/>
              <a:t>Therefore, more CF goes to investors and less to taxes when leverage is used.</a:t>
            </a:r>
          </a:p>
          <a:p>
            <a:pPr eaLnBrk="1" hangingPunct="1"/>
            <a:r>
              <a:rPr lang="en-US" altLang="en-US"/>
              <a:t>In other words, the debt “shields” some of the firm’s CF from taxes.</a:t>
            </a:r>
          </a:p>
        </p:txBody>
      </p:sp>
    </p:spTree>
    <p:extLst>
      <p:ext uri="{BB962C8B-B14F-4D97-AF65-F5344CB8AC3E}">
        <p14:creationId xmlns:p14="http://schemas.microsoft.com/office/powerpoint/2010/main" val="54395511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6D5EBB4-AAFD-486D-8CE4-C205BAC2B64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53</a:t>
            </a:fld>
            <a:endParaRPr lang="en-US" altLang="en-US" sz="140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MM Result:  Corporate Taxes</a:t>
            </a:r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209800"/>
            <a:ext cx="8040688" cy="4230688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MM show that the total CF to Firm L’s investors is equal to the total CF to Firm U’s investor plus an additional amount due to interest deductibility: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CF</a:t>
            </a:r>
            <a:r>
              <a:rPr lang="en-US" altLang="en-US" sz="2400" baseline="-25000"/>
              <a:t>L</a:t>
            </a:r>
            <a:r>
              <a:rPr lang="en-US" altLang="en-US" sz="2400"/>
              <a:t> = CF</a:t>
            </a:r>
            <a:r>
              <a:rPr lang="en-US" altLang="en-US" sz="2400" baseline="-25000"/>
              <a:t>U</a:t>
            </a:r>
            <a:r>
              <a:rPr lang="en-US" altLang="en-US" sz="2400"/>
              <a:t> + r</a:t>
            </a:r>
            <a:r>
              <a:rPr lang="en-US" altLang="en-US" sz="2400" baseline="-25000"/>
              <a:t>d</a:t>
            </a:r>
            <a:r>
              <a:rPr lang="en-US" altLang="en-US" sz="2400"/>
              <a:t>DT.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What is value of these cash flows?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Value of CF</a:t>
            </a:r>
            <a:r>
              <a:rPr lang="en-US" altLang="en-US" sz="2400" baseline="-25000"/>
              <a:t>U</a:t>
            </a:r>
            <a:r>
              <a:rPr lang="en-US" altLang="en-US" sz="2400"/>
              <a:t> = V</a:t>
            </a:r>
            <a:r>
              <a:rPr lang="en-US" altLang="en-US" sz="2400" baseline="-25000"/>
              <a:t>U</a:t>
            </a:r>
            <a:r>
              <a:rPr lang="en-US" altLang="en-US" sz="2400"/>
              <a:t> 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MM show that the value of r</a:t>
            </a:r>
            <a:r>
              <a:rPr lang="en-US" altLang="en-US" sz="2400" baseline="-25000"/>
              <a:t>d</a:t>
            </a:r>
            <a:r>
              <a:rPr lang="en-US" altLang="en-US" sz="2400"/>
              <a:t>DT = TD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Therefore, V</a:t>
            </a:r>
            <a:r>
              <a:rPr lang="en-US" altLang="en-US" sz="2400" baseline="-25000"/>
              <a:t>L</a:t>
            </a:r>
            <a:r>
              <a:rPr lang="en-US" altLang="en-US" sz="2400"/>
              <a:t> = V</a:t>
            </a:r>
            <a:r>
              <a:rPr lang="en-US" altLang="en-US" sz="2400" baseline="-25000"/>
              <a:t>U</a:t>
            </a:r>
            <a:r>
              <a:rPr lang="en-US" altLang="en-US" sz="2400"/>
              <a:t> + TD.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If T=40%, then every dollar of debt adds 40 cents of extra value to firm.</a:t>
            </a:r>
          </a:p>
        </p:txBody>
      </p:sp>
    </p:spTree>
    <p:extLst>
      <p:ext uri="{BB962C8B-B14F-4D97-AF65-F5344CB8AC3E}">
        <p14:creationId xmlns:p14="http://schemas.microsoft.com/office/powerpoint/2010/main" val="1826340933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65CE46C-7737-4B9C-A0C3-8EDBC3FA0487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54</a:t>
            </a:fld>
            <a:endParaRPr lang="en-US" altLang="en-US" sz="1400"/>
          </a:p>
        </p:txBody>
      </p:sp>
      <p:grpSp>
        <p:nvGrpSpPr>
          <p:cNvPr id="36867" name="Group 2"/>
          <p:cNvGrpSpPr>
            <a:grpSpLocks/>
          </p:cNvGrpSpPr>
          <p:nvPr/>
        </p:nvGrpSpPr>
        <p:grpSpPr bwMode="auto">
          <a:xfrm>
            <a:off x="228600" y="1981200"/>
            <a:ext cx="8591550" cy="4351338"/>
            <a:chOff x="140" y="1200"/>
            <a:chExt cx="5412" cy="2741"/>
          </a:xfrm>
        </p:grpSpPr>
        <p:sp>
          <p:nvSpPr>
            <p:cNvPr id="36869" name="Line 3"/>
            <p:cNvSpPr>
              <a:spLocks noChangeShapeType="1"/>
            </p:cNvSpPr>
            <p:nvPr/>
          </p:nvSpPr>
          <p:spPr bwMode="auto">
            <a:xfrm>
              <a:off x="832" y="1458"/>
              <a:ext cx="0" cy="1535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0" name="Rectangle 4"/>
            <p:cNvSpPr>
              <a:spLocks noChangeArrowheads="1"/>
            </p:cNvSpPr>
            <p:nvPr/>
          </p:nvSpPr>
          <p:spPr bwMode="auto">
            <a:xfrm>
              <a:off x="140" y="1200"/>
              <a:ext cx="2481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Value of Firm, V</a:t>
              </a:r>
            </a:p>
          </p:txBody>
        </p:sp>
        <p:sp>
          <p:nvSpPr>
            <p:cNvPr id="36871" name="Rectangle 5"/>
            <p:cNvSpPr>
              <a:spLocks noChangeArrowheads="1"/>
            </p:cNvSpPr>
            <p:nvPr/>
          </p:nvSpPr>
          <p:spPr bwMode="auto">
            <a:xfrm>
              <a:off x="741" y="2969"/>
              <a:ext cx="4601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0	</a:t>
              </a:r>
            </a:p>
          </p:txBody>
        </p:sp>
        <p:sp>
          <p:nvSpPr>
            <p:cNvPr id="36872" name="Rectangle 6"/>
            <p:cNvSpPr>
              <a:spLocks noChangeArrowheads="1"/>
            </p:cNvSpPr>
            <p:nvPr/>
          </p:nvSpPr>
          <p:spPr bwMode="auto">
            <a:xfrm>
              <a:off x="3933" y="2784"/>
              <a:ext cx="1619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Debt</a:t>
              </a:r>
              <a:endParaRPr lang="en-US" altLang="en-US" sz="2400" b="1">
                <a:latin typeface="Arial" panose="020B0604020202020204" pitchFamily="34" charset="0"/>
              </a:endParaRPr>
            </a:p>
          </p:txBody>
        </p:sp>
        <p:sp>
          <p:nvSpPr>
            <p:cNvPr id="36873" name="Line 7"/>
            <p:cNvSpPr>
              <a:spLocks noChangeShapeType="1"/>
            </p:cNvSpPr>
            <p:nvPr/>
          </p:nvSpPr>
          <p:spPr bwMode="auto">
            <a:xfrm>
              <a:off x="865" y="2379"/>
              <a:ext cx="2953" cy="0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4" name="Rectangle 8"/>
            <p:cNvSpPr>
              <a:spLocks noChangeArrowheads="1"/>
            </p:cNvSpPr>
            <p:nvPr/>
          </p:nvSpPr>
          <p:spPr bwMode="auto">
            <a:xfrm>
              <a:off x="3932" y="1714"/>
              <a:ext cx="336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V</a:t>
              </a:r>
              <a:r>
                <a:rPr lang="en-US" altLang="en-US" sz="2600" b="1" baseline="-25000">
                  <a:latin typeface="Arial" panose="020B0604020202020204" pitchFamily="34" charset="0"/>
                </a:rPr>
                <a:t>L</a:t>
              </a:r>
              <a:endParaRPr lang="en-US" altLang="en-US" sz="2800" b="1" baseline="-25000">
                <a:latin typeface="Arial" panose="020B0604020202020204" pitchFamily="34" charset="0"/>
              </a:endParaRPr>
            </a:p>
          </p:txBody>
        </p:sp>
        <p:sp>
          <p:nvSpPr>
            <p:cNvPr id="36875" name="Rectangle 9"/>
            <p:cNvSpPr>
              <a:spLocks noChangeArrowheads="1"/>
            </p:cNvSpPr>
            <p:nvPr/>
          </p:nvSpPr>
          <p:spPr bwMode="auto">
            <a:xfrm>
              <a:off x="3946" y="2211"/>
              <a:ext cx="351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V</a:t>
              </a:r>
              <a:r>
                <a:rPr lang="en-US" altLang="en-US" sz="2600" b="1" baseline="-25000">
                  <a:latin typeface="Arial" panose="020B0604020202020204" pitchFamily="34" charset="0"/>
                </a:rPr>
                <a:t>U</a:t>
              </a:r>
              <a:endParaRPr lang="en-US" altLang="en-US" sz="2800" b="1" baseline="-25000">
                <a:latin typeface="Arial" panose="020B0604020202020204" pitchFamily="34" charset="0"/>
              </a:endParaRPr>
            </a:p>
          </p:txBody>
        </p:sp>
        <p:sp>
          <p:nvSpPr>
            <p:cNvPr id="36876" name="Line 10"/>
            <p:cNvSpPr>
              <a:spLocks noChangeShapeType="1"/>
            </p:cNvSpPr>
            <p:nvPr/>
          </p:nvSpPr>
          <p:spPr bwMode="auto">
            <a:xfrm flipV="1">
              <a:off x="848" y="1902"/>
              <a:ext cx="2983" cy="486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77" name="Rectangle 11"/>
            <p:cNvSpPr>
              <a:spLocks noChangeArrowheads="1"/>
            </p:cNvSpPr>
            <p:nvPr/>
          </p:nvSpPr>
          <p:spPr bwMode="auto">
            <a:xfrm>
              <a:off x="304" y="3466"/>
              <a:ext cx="5216" cy="4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400" b="1" dirty="0">
                  <a:latin typeface="Arial" panose="020B0604020202020204" pitchFamily="34" charset="0"/>
                </a:rPr>
                <a:t>Under MM w/ corporate taxes, the firm’s value increases continuously as more and more debt is used.</a:t>
              </a:r>
            </a:p>
          </p:txBody>
        </p:sp>
        <p:sp>
          <p:nvSpPr>
            <p:cNvPr id="36878" name="Rectangle 12"/>
            <p:cNvSpPr>
              <a:spLocks noChangeArrowheads="1"/>
            </p:cNvSpPr>
            <p:nvPr/>
          </p:nvSpPr>
          <p:spPr bwMode="auto">
            <a:xfrm>
              <a:off x="3507" y="1991"/>
              <a:ext cx="391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TD</a:t>
              </a:r>
              <a:endParaRPr lang="en-US" altLang="en-US" sz="2800" b="1">
                <a:latin typeface="Arial" panose="020B0604020202020204" pitchFamily="34" charset="0"/>
              </a:endParaRPr>
            </a:p>
          </p:txBody>
        </p:sp>
        <p:sp>
          <p:nvSpPr>
            <p:cNvPr id="36879" name="Line 13"/>
            <p:cNvSpPr>
              <a:spLocks noChangeShapeType="1"/>
            </p:cNvSpPr>
            <p:nvPr/>
          </p:nvSpPr>
          <p:spPr bwMode="auto">
            <a:xfrm>
              <a:off x="3495" y="2007"/>
              <a:ext cx="0" cy="34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6880" name="Line 14"/>
            <p:cNvSpPr>
              <a:spLocks noChangeShapeType="1"/>
            </p:cNvSpPr>
            <p:nvPr/>
          </p:nvSpPr>
          <p:spPr bwMode="auto">
            <a:xfrm>
              <a:off x="840" y="2976"/>
              <a:ext cx="3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6868" name="Rectangle 1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MM relationship between value and debt when corporate taxes are considered.</a:t>
            </a:r>
          </a:p>
        </p:txBody>
      </p:sp>
    </p:spTree>
    <p:extLst>
      <p:ext uri="{BB962C8B-B14F-4D97-AF65-F5344CB8AC3E}">
        <p14:creationId xmlns:p14="http://schemas.microsoft.com/office/powerpoint/2010/main" val="183746667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F50FD2-E1B2-4282-9927-ECCB93112E36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55</a:t>
            </a:fld>
            <a:endParaRPr lang="en-US" altLang="en-US" sz="1400"/>
          </a:p>
        </p:txBody>
      </p:sp>
      <p:sp>
        <p:nvSpPr>
          <p:cNvPr id="37891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Miller’s Theory: Corporate and Personal Taxes</a:t>
            </a:r>
          </a:p>
        </p:txBody>
      </p:sp>
      <p:sp>
        <p:nvSpPr>
          <p:cNvPr id="37892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Personal taxes lessen the advantage of corporate debt:</a:t>
            </a:r>
          </a:p>
          <a:p>
            <a:pPr lvl="1" eaLnBrk="1" hangingPunct="1"/>
            <a:r>
              <a:rPr lang="en-US" altLang="en-US"/>
              <a:t>Corporate taxes favor debt financing since corporations can deduct interest expenses.</a:t>
            </a:r>
          </a:p>
          <a:p>
            <a:pPr lvl="1" eaLnBrk="1" hangingPunct="1"/>
            <a:r>
              <a:rPr lang="en-US" altLang="en-US"/>
              <a:t>Personal taxes favor equity financing, since no gain is reported until stock is sold, and long-term gains are taxed at a lower rate.</a:t>
            </a:r>
          </a:p>
        </p:txBody>
      </p:sp>
    </p:spTree>
    <p:extLst>
      <p:ext uri="{BB962C8B-B14F-4D97-AF65-F5344CB8AC3E}">
        <p14:creationId xmlns:p14="http://schemas.microsoft.com/office/powerpoint/2010/main" val="1147133852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805E73C-2166-4C59-8D44-BA868CEE726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56</a:t>
            </a:fld>
            <a:endParaRPr lang="en-US" altLang="en-US" sz="1400"/>
          </a:p>
        </p:txBody>
      </p:sp>
      <p:sp>
        <p:nvSpPr>
          <p:cNvPr id="38915" name="Rectangle 9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Miller’s Model with Corporate and Personal Taxes</a:t>
            </a:r>
          </a:p>
        </p:txBody>
      </p:sp>
      <p:grpSp>
        <p:nvGrpSpPr>
          <p:cNvPr id="38916" name="Group 16"/>
          <p:cNvGrpSpPr>
            <a:grpSpLocks/>
          </p:cNvGrpSpPr>
          <p:nvPr/>
        </p:nvGrpSpPr>
        <p:grpSpPr bwMode="auto">
          <a:xfrm>
            <a:off x="990600" y="2286000"/>
            <a:ext cx="7954963" cy="3013075"/>
            <a:chOff x="624" y="1440"/>
            <a:chExt cx="5011" cy="1898"/>
          </a:xfrm>
        </p:grpSpPr>
        <p:sp>
          <p:nvSpPr>
            <p:cNvPr id="38917" name="Rectangle 3"/>
            <p:cNvSpPr>
              <a:spLocks noChangeArrowheads="1"/>
            </p:cNvSpPr>
            <p:nvPr/>
          </p:nvSpPr>
          <p:spPr bwMode="auto">
            <a:xfrm>
              <a:off x="624" y="1440"/>
              <a:ext cx="5011" cy="1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V</a:t>
              </a:r>
              <a:r>
                <a:rPr lang="en-US" altLang="en-US" baseline="-25000"/>
                <a:t>L</a:t>
              </a:r>
              <a:r>
                <a:rPr lang="en-US" altLang="en-US"/>
                <a:t> = V</a:t>
              </a:r>
              <a:r>
                <a:rPr lang="en-US" altLang="en-US" baseline="-25000"/>
                <a:t>U</a:t>
              </a:r>
              <a:r>
                <a:rPr lang="en-US" altLang="en-US"/>
                <a:t> + 1−                         D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T</a:t>
              </a:r>
              <a:r>
                <a:rPr lang="en-US" altLang="en-US" baseline="-25000"/>
                <a:t>c</a:t>
              </a:r>
              <a:r>
                <a:rPr lang="en-US" altLang="en-US"/>
                <a:t> = corporate tax rate.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T</a:t>
              </a:r>
              <a:r>
                <a:rPr lang="en-US" altLang="en-US" baseline="-25000"/>
                <a:t>d</a:t>
              </a:r>
              <a:r>
                <a:rPr lang="en-US" altLang="en-US"/>
                <a:t> = personal tax rate on debt income.</a:t>
              </a:r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T</a:t>
              </a:r>
              <a:r>
                <a:rPr lang="en-US" altLang="en-US" baseline="-25000"/>
                <a:t>s</a:t>
              </a:r>
              <a:r>
                <a:rPr lang="en-US" altLang="en-US"/>
                <a:t> = personal tax rate on stock income.</a:t>
              </a:r>
            </a:p>
          </p:txBody>
        </p:sp>
        <p:grpSp>
          <p:nvGrpSpPr>
            <p:cNvPr id="38918" name="Group 15"/>
            <p:cNvGrpSpPr>
              <a:grpSpLocks/>
            </p:cNvGrpSpPr>
            <p:nvPr/>
          </p:nvGrpSpPr>
          <p:grpSpPr bwMode="auto">
            <a:xfrm>
              <a:off x="1824" y="1584"/>
              <a:ext cx="2319" cy="685"/>
              <a:chOff x="1824" y="1584"/>
              <a:chExt cx="2319" cy="685"/>
            </a:xfrm>
          </p:grpSpPr>
          <p:grpSp>
            <p:nvGrpSpPr>
              <p:cNvPr id="38919" name="Group 13"/>
              <p:cNvGrpSpPr>
                <a:grpSpLocks/>
              </p:cNvGrpSpPr>
              <p:nvPr/>
            </p:nvGrpSpPr>
            <p:grpSpPr bwMode="auto">
              <a:xfrm>
                <a:off x="2352" y="1584"/>
                <a:ext cx="1791" cy="685"/>
                <a:chOff x="2544" y="1490"/>
                <a:chExt cx="1791" cy="685"/>
              </a:xfrm>
            </p:grpSpPr>
            <p:sp>
              <p:nvSpPr>
                <p:cNvPr id="38921" name="Rectangle 4"/>
                <p:cNvSpPr>
                  <a:spLocks noChangeArrowheads="1"/>
                </p:cNvSpPr>
                <p:nvPr/>
              </p:nvSpPr>
              <p:spPr bwMode="auto">
                <a:xfrm>
                  <a:off x="2544" y="1490"/>
                  <a:ext cx="1791" cy="68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lIns="90488" tIns="44450" rIns="90488" bIns="44450">
                  <a:spAutoFit/>
                </a:bodyPr>
                <a:lstStyle>
                  <a:lvl1pPr>
                    <a:spcBef>
                      <a:spcPct val="20000"/>
                    </a:spcBef>
                    <a:buClr>
                      <a:schemeClr val="folHlink"/>
                    </a:buClr>
                    <a:buSzPct val="60000"/>
                    <a:buFont typeface="Wingdings" panose="05000000000000000000" pitchFamily="2" charset="2"/>
                    <a:buChar char="n"/>
                    <a:defRPr sz="32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Clr>
                      <a:schemeClr val="hlink"/>
                    </a:buClr>
                    <a:buSzPct val="55000"/>
                    <a:buFont typeface="Wingdings" panose="05000000000000000000" pitchFamily="2" charset="2"/>
                    <a:buChar char="n"/>
                    <a:defRPr sz="28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Clr>
                      <a:schemeClr val="folHlink"/>
                    </a:buClr>
                    <a:buSzPct val="50000"/>
                    <a:buFont typeface="Wingdings" panose="05000000000000000000" pitchFamily="2" charset="2"/>
                    <a:buChar char="n"/>
                    <a:defRPr sz="24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Clr>
                      <a:schemeClr val="accent2"/>
                    </a:buClr>
                    <a:buSzPct val="55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1"/>
                    </a:buClr>
                    <a:buSzPct val="50000"/>
                    <a:buFont typeface="Wingdings" panose="05000000000000000000" pitchFamily="2" charset="2"/>
                    <a:buChar char="n"/>
                    <a:defRPr sz="2000">
                      <a:solidFill>
                        <a:schemeClr val="tx1"/>
                      </a:solidFill>
                      <a:latin typeface="Tahoma" panose="020B0604030504040204" pitchFamily="34" charset="0"/>
                    </a:defRPr>
                  </a:lvl9pPr>
                </a:lstStyle>
                <a:p>
                  <a:pPr>
                    <a:spcBef>
                      <a:spcPct val="0"/>
                    </a:spcBef>
                    <a:buClrTx/>
                    <a:buSzTx/>
                    <a:buFontTx/>
                    <a:buNone/>
                  </a:pPr>
                  <a:r>
                    <a:rPr lang="en-US" altLang="en-US">
                      <a:latin typeface="Arial" panose="020B0604020202020204" pitchFamily="34" charset="0"/>
                    </a:rPr>
                    <a:t>(1 - T</a:t>
                  </a:r>
                  <a:r>
                    <a:rPr lang="en-US" altLang="en-US" baseline="-25000">
                      <a:latin typeface="Arial" panose="020B0604020202020204" pitchFamily="34" charset="0"/>
                    </a:rPr>
                    <a:t>c</a:t>
                  </a:r>
                  <a:r>
                    <a:rPr lang="en-US" altLang="en-US">
                      <a:latin typeface="Arial" panose="020B0604020202020204" pitchFamily="34" charset="0"/>
                    </a:rPr>
                    <a:t>)(1 - T</a:t>
                  </a:r>
                  <a:r>
                    <a:rPr lang="en-US" altLang="en-US" baseline="-25000">
                      <a:latin typeface="Arial" panose="020B0604020202020204" pitchFamily="34" charset="0"/>
                    </a:rPr>
                    <a:t>s</a:t>
                  </a:r>
                  <a:r>
                    <a:rPr lang="en-US" altLang="en-US">
                      <a:latin typeface="Arial" panose="020B0604020202020204" pitchFamily="34" charset="0"/>
                    </a:rPr>
                    <a:t>)</a:t>
                  </a:r>
                </a:p>
                <a:p>
                  <a:pPr algn="ctr">
                    <a:spcBef>
                      <a:spcPct val="5000"/>
                    </a:spcBef>
                    <a:buClrTx/>
                    <a:buSzTx/>
                    <a:buFontTx/>
                    <a:buNone/>
                  </a:pPr>
                  <a:r>
                    <a:rPr lang="en-US" altLang="en-US">
                      <a:latin typeface="Arial" panose="020B0604020202020204" pitchFamily="34" charset="0"/>
                    </a:rPr>
                    <a:t>(1 - T</a:t>
                  </a:r>
                  <a:r>
                    <a:rPr lang="en-US" altLang="en-US" baseline="-25000">
                      <a:latin typeface="Arial" panose="020B0604020202020204" pitchFamily="34" charset="0"/>
                    </a:rPr>
                    <a:t>d</a:t>
                  </a:r>
                  <a:r>
                    <a:rPr lang="en-US" altLang="en-US">
                      <a:latin typeface="Arial" panose="020B0604020202020204" pitchFamily="34" charset="0"/>
                    </a:rPr>
                    <a:t>)</a:t>
                  </a:r>
                </a:p>
              </p:txBody>
            </p:sp>
            <p:sp>
              <p:nvSpPr>
                <p:cNvPr id="38922" name="Line 5"/>
                <p:cNvSpPr>
                  <a:spLocks noChangeShapeType="1"/>
                </p:cNvSpPr>
                <p:nvPr/>
              </p:nvSpPr>
              <p:spPr bwMode="auto">
                <a:xfrm>
                  <a:off x="2592" y="1872"/>
                  <a:ext cx="1564" cy="0"/>
                </a:xfrm>
                <a:prstGeom prst="line">
                  <a:avLst/>
                </a:prstGeom>
                <a:noFill/>
                <a:ln w="285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38920" name="AutoShape 14"/>
              <p:cNvSpPr>
                <a:spLocks noChangeArrowheads="1"/>
              </p:cNvSpPr>
              <p:nvPr/>
            </p:nvSpPr>
            <p:spPr bwMode="auto">
              <a:xfrm>
                <a:off x="1824" y="1632"/>
                <a:ext cx="2304" cy="624"/>
              </a:xfrm>
              <a:prstGeom prst="bracketPair">
                <a:avLst>
                  <a:gd name="adj" fmla="val 16667"/>
                </a:avLst>
              </a:prstGeom>
              <a:noFill/>
              <a:ln w="254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180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2543648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344D734-7F5F-464C-B4B0-8C21ECD6BEC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57</a:t>
            </a:fld>
            <a:endParaRPr lang="en-US" altLang="en-US" sz="1400"/>
          </a:p>
        </p:txBody>
      </p:sp>
      <p:sp>
        <p:nvSpPr>
          <p:cNvPr id="39939" name="Rectangle 8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dirty="0"/>
              <a:t>T</a:t>
            </a:r>
            <a:r>
              <a:rPr lang="en-US" altLang="en-US" baseline="-25000" dirty="0"/>
              <a:t>c</a:t>
            </a:r>
            <a:r>
              <a:rPr lang="en-US" altLang="en-US" dirty="0"/>
              <a:t> = 40%, T</a:t>
            </a:r>
            <a:r>
              <a:rPr lang="en-US" altLang="en-US" baseline="-25000" dirty="0"/>
              <a:t>d</a:t>
            </a:r>
            <a:r>
              <a:rPr lang="en-US" altLang="en-US" dirty="0"/>
              <a:t> = 30%, and T</a:t>
            </a:r>
            <a:r>
              <a:rPr lang="en-US" altLang="en-US" baseline="-25000" dirty="0"/>
              <a:t>s</a:t>
            </a:r>
            <a:r>
              <a:rPr lang="en-US" altLang="en-US" dirty="0"/>
              <a:t> = 12%</a:t>
            </a:r>
          </a:p>
        </p:txBody>
      </p:sp>
      <p:grpSp>
        <p:nvGrpSpPr>
          <p:cNvPr id="39940" name="Group 6"/>
          <p:cNvGrpSpPr>
            <a:grpSpLocks/>
          </p:cNvGrpSpPr>
          <p:nvPr/>
        </p:nvGrpSpPr>
        <p:grpSpPr bwMode="auto">
          <a:xfrm>
            <a:off x="906463" y="2133600"/>
            <a:ext cx="8228012" cy="3892550"/>
            <a:chOff x="571" y="1344"/>
            <a:chExt cx="5183" cy="2452"/>
          </a:xfrm>
        </p:grpSpPr>
        <p:sp>
          <p:nvSpPr>
            <p:cNvPr id="39941" name="Rectangle 3"/>
            <p:cNvSpPr>
              <a:spLocks noChangeArrowheads="1"/>
            </p:cNvSpPr>
            <p:nvPr/>
          </p:nvSpPr>
          <p:spPr bwMode="auto">
            <a:xfrm>
              <a:off x="571" y="1344"/>
              <a:ext cx="5183" cy="24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tabLst>
                  <a:tab pos="581025" algn="l"/>
                </a:tabLst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tabLst>
                  <a:tab pos="581025" algn="l"/>
                </a:tabLst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tabLst>
                  <a:tab pos="581025" algn="l"/>
                </a:tabLst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tabLst>
                  <a:tab pos="581025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581025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581025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581025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581025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tabLst>
                  <a:tab pos="581025" algn="l"/>
                </a:tabLst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dirty="0"/>
            </a:p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/>
                <a:t>V</a:t>
              </a:r>
              <a:r>
                <a:rPr lang="en-US" altLang="en-US" baseline="-25000" dirty="0"/>
                <a:t>L</a:t>
              </a:r>
              <a:r>
                <a:rPr lang="en-US" altLang="en-US" dirty="0"/>
                <a:t>	= V</a:t>
              </a:r>
              <a:r>
                <a:rPr lang="en-US" altLang="en-US" baseline="-25000" dirty="0"/>
                <a:t>U</a:t>
              </a:r>
              <a:r>
                <a:rPr lang="en-US" altLang="en-US" dirty="0"/>
                <a:t> + 1−                                D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dirty="0"/>
                <a:t>	= V</a:t>
              </a:r>
              <a:r>
                <a:rPr lang="en-US" altLang="en-US" baseline="-25000" dirty="0"/>
                <a:t>U</a:t>
              </a:r>
              <a:r>
                <a:rPr lang="en-US" altLang="en-US" dirty="0"/>
                <a:t> + (1 - 0.75)D</a:t>
              </a:r>
            </a:p>
            <a:p>
              <a:pPr>
                <a:spcBef>
                  <a:spcPct val="50000"/>
                </a:spcBef>
                <a:spcAft>
                  <a:spcPct val="30000"/>
                </a:spcAft>
                <a:buClrTx/>
                <a:buSzTx/>
                <a:buFontTx/>
                <a:buNone/>
              </a:pPr>
              <a:r>
                <a:rPr lang="en-US" altLang="en-US" dirty="0"/>
                <a:t>	= V</a:t>
              </a:r>
              <a:r>
                <a:rPr lang="en-US" altLang="en-US" baseline="-25000" dirty="0"/>
                <a:t>U</a:t>
              </a:r>
              <a:r>
                <a:rPr lang="en-US" altLang="en-US" dirty="0"/>
                <a:t> + 0.25D.</a:t>
              </a:r>
            </a:p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dirty="0"/>
                <a:t>Value rises with debt; each $1 increase in debt raises L’s value by $0.25.</a:t>
              </a:r>
            </a:p>
          </p:txBody>
        </p:sp>
        <p:grpSp>
          <p:nvGrpSpPr>
            <p:cNvPr id="39942" name="Group 4"/>
            <p:cNvGrpSpPr>
              <a:grpSpLocks/>
            </p:cNvGrpSpPr>
            <p:nvPr/>
          </p:nvGrpSpPr>
          <p:grpSpPr bwMode="auto">
            <a:xfrm>
              <a:off x="2352" y="1536"/>
              <a:ext cx="2201" cy="670"/>
              <a:chOff x="2455" y="1488"/>
              <a:chExt cx="2201" cy="670"/>
            </a:xfrm>
          </p:grpSpPr>
          <p:sp>
            <p:nvSpPr>
              <p:cNvPr id="39944" name="Rectangle 4"/>
              <p:cNvSpPr>
                <a:spLocks noChangeArrowheads="1"/>
              </p:cNvSpPr>
              <p:nvPr/>
            </p:nvSpPr>
            <p:spPr bwMode="auto">
              <a:xfrm>
                <a:off x="2455" y="1488"/>
                <a:ext cx="2201" cy="6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0488" tIns="44450" rIns="90488" bIns="44450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folHlink"/>
                  </a:buClr>
                  <a:buSzPct val="60000"/>
                  <a:buFont typeface="Wingdings" panose="05000000000000000000" pitchFamily="2" charset="2"/>
                  <a:buChar char="n"/>
                  <a:defRPr sz="32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hlink"/>
                  </a:buClr>
                  <a:buSzPct val="55000"/>
                  <a:buFont typeface="Wingdings" panose="05000000000000000000" pitchFamily="2" charset="2"/>
                  <a:buChar char="n"/>
                  <a:defRPr sz="28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folHlink"/>
                  </a:buClr>
                  <a:buSzPct val="50000"/>
                  <a:buFont typeface="Wingdings" panose="05000000000000000000" pitchFamily="2" charset="2"/>
                  <a:buChar char="n"/>
                  <a:defRPr sz="24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chemeClr val="accent2"/>
                  </a:buClr>
                  <a:buSzPct val="55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1"/>
                  </a:buClr>
                  <a:buSzPct val="50000"/>
                  <a:buFont typeface="Wingdings" panose="05000000000000000000" pitchFamily="2" charset="2"/>
                  <a:buChar char="n"/>
                  <a:defRPr sz="2000">
                    <a:solidFill>
                      <a:schemeClr val="tx1"/>
                    </a:solidFill>
                    <a:latin typeface="Tahoma" panose="020B060403050404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latin typeface="Arial" panose="020B0604020202020204" pitchFamily="34" charset="0"/>
                  </a:rPr>
                  <a:t>(1 - 0.40)(1 - 0.12)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en-US" altLang="en-US">
                    <a:latin typeface="Arial" panose="020B0604020202020204" pitchFamily="34" charset="0"/>
                  </a:rPr>
                  <a:t>(1 - 0.30)</a:t>
                </a:r>
              </a:p>
            </p:txBody>
          </p:sp>
          <p:sp>
            <p:nvSpPr>
              <p:cNvPr id="39945" name="Line 5"/>
              <p:cNvSpPr>
                <a:spLocks noChangeShapeType="1"/>
              </p:cNvSpPr>
              <p:nvPr/>
            </p:nvSpPr>
            <p:spPr bwMode="auto">
              <a:xfrm>
                <a:off x="2533" y="1824"/>
                <a:ext cx="2075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39943" name="AutoShape 5"/>
            <p:cNvSpPr>
              <a:spLocks noChangeArrowheads="1"/>
            </p:cNvSpPr>
            <p:nvPr/>
          </p:nvSpPr>
          <p:spPr bwMode="auto">
            <a:xfrm>
              <a:off x="1824" y="1536"/>
              <a:ext cx="2832" cy="624"/>
            </a:xfrm>
            <a:prstGeom prst="bracketPair">
              <a:avLst>
                <a:gd name="adj" fmla="val 16667"/>
              </a:avLst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</p:grpSp>
    </p:spTree>
    <p:extLst>
      <p:ext uri="{BB962C8B-B14F-4D97-AF65-F5344CB8AC3E}">
        <p14:creationId xmlns:p14="http://schemas.microsoft.com/office/powerpoint/2010/main" val="1717059027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A13D748-1240-4EA3-A487-ED230C3785C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58</a:t>
            </a:fld>
            <a:endParaRPr lang="en-US" altLang="en-US" sz="1400"/>
          </a:p>
        </p:txBody>
      </p:sp>
      <p:sp>
        <p:nvSpPr>
          <p:cNvPr id="40963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Conclusions with Personal Taxes</a:t>
            </a:r>
          </a:p>
        </p:txBody>
      </p:sp>
      <p:sp>
        <p:nvSpPr>
          <p:cNvPr id="40964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Use of debt financing remains advantageous, but benefits are less than under only corporate taxes.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Firms should still use 100% debt.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Note: However, Miller argued that in equilibrium, the tax rates of marginal investors would adjust until there was no advantage to debt.</a:t>
            </a:r>
          </a:p>
        </p:txBody>
      </p:sp>
    </p:spTree>
    <p:extLst>
      <p:ext uri="{BB962C8B-B14F-4D97-AF65-F5344CB8AC3E}">
        <p14:creationId xmlns:p14="http://schemas.microsoft.com/office/powerpoint/2010/main" val="1365803858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844C782-3DD0-428E-8523-03454CB866A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59</a:t>
            </a:fld>
            <a:endParaRPr lang="en-US" altLang="en-US" sz="1400"/>
          </a:p>
        </p:txBody>
      </p:sp>
      <p:sp>
        <p:nvSpPr>
          <p:cNvPr id="419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Trade-off Theory</a:t>
            </a:r>
          </a:p>
        </p:txBody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MM theory ignores bankruptcy (financial distress) costs, which increase as more leverage is used.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At low leverage levels, tax benefits outweigh bankruptcy costs.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At high levels, bankruptcy costs outweigh tax benefits.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An optimal capital structure exists that balances these costs and benefits.</a:t>
            </a:r>
          </a:p>
        </p:txBody>
      </p:sp>
    </p:spTree>
    <p:extLst>
      <p:ext uri="{BB962C8B-B14F-4D97-AF65-F5344CB8AC3E}">
        <p14:creationId xmlns:p14="http://schemas.microsoft.com/office/powerpoint/2010/main" val="657081080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439638C-0BF3-4D7F-8580-27E429323EA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60</a:t>
            </a:fld>
            <a:endParaRPr lang="en-US" altLang="en-US" sz="1400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/>
              <a:t>Tax Shield vs. Cost of Financial Distress</a:t>
            </a:r>
          </a:p>
        </p:txBody>
      </p:sp>
      <p:grpSp>
        <p:nvGrpSpPr>
          <p:cNvPr id="43012" name="Group 3"/>
          <p:cNvGrpSpPr>
            <a:grpSpLocks/>
          </p:cNvGrpSpPr>
          <p:nvPr/>
        </p:nvGrpSpPr>
        <p:grpSpPr bwMode="auto">
          <a:xfrm>
            <a:off x="228600" y="1828800"/>
            <a:ext cx="8591550" cy="4800600"/>
            <a:chOff x="144" y="1152"/>
            <a:chExt cx="5412" cy="3024"/>
          </a:xfrm>
        </p:grpSpPr>
        <p:sp>
          <p:nvSpPr>
            <p:cNvPr id="43013" name="Line 4"/>
            <p:cNvSpPr>
              <a:spLocks noChangeShapeType="1"/>
            </p:cNvSpPr>
            <p:nvPr/>
          </p:nvSpPr>
          <p:spPr bwMode="auto">
            <a:xfrm flipH="1">
              <a:off x="816" y="1506"/>
              <a:ext cx="20" cy="2526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4" name="Rectangle 5"/>
            <p:cNvSpPr>
              <a:spLocks noChangeArrowheads="1"/>
            </p:cNvSpPr>
            <p:nvPr/>
          </p:nvSpPr>
          <p:spPr bwMode="auto">
            <a:xfrm>
              <a:off x="144" y="1248"/>
              <a:ext cx="2481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Value of Firm, V</a:t>
              </a:r>
            </a:p>
          </p:txBody>
        </p:sp>
        <p:sp>
          <p:nvSpPr>
            <p:cNvPr id="43015" name="Rectangle 6"/>
            <p:cNvSpPr>
              <a:spLocks noChangeArrowheads="1"/>
            </p:cNvSpPr>
            <p:nvPr/>
          </p:nvSpPr>
          <p:spPr bwMode="auto">
            <a:xfrm>
              <a:off x="528" y="2880"/>
              <a:ext cx="240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0</a:t>
              </a:r>
            </a:p>
          </p:txBody>
        </p:sp>
        <p:sp>
          <p:nvSpPr>
            <p:cNvPr id="43016" name="Rectangle 7"/>
            <p:cNvSpPr>
              <a:spLocks noChangeArrowheads="1"/>
            </p:cNvSpPr>
            <p:nvPr/>
          </p:nvSpPr>
          <p:spPr bwMode="auto">
            <a:xfrm>
              <a:off x="3937" y="2832"/>
              <a:ext cx="1619" cy="2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 algn="ctr">
                <a:lnSpc>
                  <a:spcPct val="9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Debt</a:t>
              </a:r>
              <a:endParaRPr lang="en-US" altLang="en-US" sz="2400" b="1">
                <a:latin typeface="Arial" panose="020B0604020202020204" pitchFamily="34" charset="0"/>
              </a:endParaRPr>
            </a:p>
          </p:txBody>
        </p:sp>
        <p:sp>
          <p:nvSpPr>
            <p:cNvPr id="43017" name="Line 8"/>
            <p:cNvSpPr>
              <a:spLocks noChangeShapeType="1"/>
            </p:cNvSpPr>
            <p:nvPr/>
          </p:nvSpPr>
          <p:spPr bwMode="auto">
            <a:xfrm>
              <a:off x="869" y="2427"/>
              <a:ext cx="3403" cy="21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18" name="Rectangle 9"/>
            <p:cNvSpPr>
              <a:spLocks noChangeArrowheads="1"/>
            </p:cNvSpPr>
            <p:nvPr/>
          </p:nvSpPr>
          <p:spPr bwMode="auto">
            <a:xfrm>
              <a:off x="3216" y="1872"/>
              <a:ext cx="336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V</a:t>
              </a:r>
              <a:r>
                <a:rPr lang="en-US" altLang="en-US" sz="2600" b="1" baseline="-25000">
                  <a:latin typeface="Arial" panose="020B0604020202020204" pitchFamily="34" charset="0"/>
                </a:rPr>
                <a:t>L</a:t>
              </a:r>
              <a:endParaRPr lang="en-US" altLang="en-US" sz="2800" b="1" baseline="-25000">
                <a:latin typeface="Arial" panose="020B0604020202020204" pitchFamily="34" charset="0"/>
              </a:endParaRPr>
            </a:p>
          </p:txBody>
        </p:sp>
        <p:sp>
          <p:nvSpPr>
            <p:cNvPr id="43019" name="Rectangle 10"/>
            <p:cNvSpPr>
              <a:spLocks noChangeArrowheads="1"/>
            </p:cNvSpPr>
            <p:nvPr/>
          </p:nvSpPr>
          <p:spPr bwMode="auto">
            <a:xfrm>
              <a:off x="4320" y="2256"/>
              <a:ext cx="351" cy="3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2600" b="1">
                  <a:latin typeface="Arial" panose="020B0604020202020204" pitchFamily="34" charset="0"/>
                </a:rPr>
                <a:t>V</a:t>
              </a:r>
              <a:r>
                <a:rPr lang="en-US" altLang="en-US" sz="2600" b="1" baseline="-25000">
                  <a:latin typeface="Arial" panose="020B0604020202020204" pitchFamily="34" charset="0"/>
                </a:rPr>
                <a:t>U</a:t>
              </a:r>
              <a:endParaRPr lang="en-US" altLang="en-US" sz="2800" b="1" baseline="-25000">
                <a:latin typeface="Arial" panose="020B0604020202020204" pitchFamily="34" charset="0"/>
              </a:endParaRPr>
            </a:p>
          </p:txBody>
        </p:sp>
        <p:sp>
          <p:nvSpPr>
            <p:cNvPr id="43020" name="Line 11"/>
            <p:cNvSpPr>
              <a:spLocks noChangeShapeType="1"/>
            </p:cNvSpPr>
            <p:nvPr/>
          </p:nvSpPr>
          <p:spPr bwMode="auto">
            <a:xfrm flipV="1">
              <a:off x="864" y="1200"/>
              <a:ext cx="2640" cy="1254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1" name="Rectangle 12"/>
            <p:cNvSpPr>
              <a:spLocks noChangeArrowheads="1"/>
            </p:cNvSpPr>
            <p:nvPr/>
          </p:nvSpPr>
          <p:spPr bwMode="auto">
            <a:xfrm>
              <a:off x="3600" y="1152"/>
              <a:ext cx="834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Tax Shield</a:t>
              </a:r>
            </a:p>
          </p:txBody>
        </p:sp>
        <p:sp>
          <p:nvSpPr>
            <p:cNvPr id="43022" name="Line 13"/>
            <p:cNvSpPr>
              <a:spLocks noChangeShapeType="1"/>
            </p:cNvSpPr>
            <p:nvPr/>
          </p:nvSpPr>
          <p:spPr bwMode="auto">
            <a:xfrm>
              <a:off x="844" y="3024"/>
              <a:ext cx="3288" cy="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3" name="Arc 14"/>
            <p:cNvSpPr>
              <a:spLocks/>
            </p:cNvSpPr>
            <p:nvPr/>
          </p:nvSpPr>
          <p:spPr bwMode="auto">
            <a:xfrm>
              <a:off x="816" y="3024"/>
              <a:ext cx="2832" cy="115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3024" name="Freeform 15"/>
            <p:cNvSpPr>
              <a:spLocks/>
            </p:cNvSpPr>
            <p:nvPr/>
          </p:nvSpPr>
          <p:spPr bwMode="auto">
            <a:xfrm>
              <a:off x="912" y="1944"/>
              <a:ext cx="2832" cy="936"/>
            </a:xfrm>
            <a:custGeom>
              <a:avLst/>
              <a:gdLst>
                <a:gd name="T0" fmla="*/ 0 w 2832"/>
                <a:gd name="T1" fmla="*/ 504 h 936"/>
                <a:gd name="T2" fmla="*/ 432 w 2832"/>
                <a:gd name="T3" fmla="*/ 312 h 936"/>
                <a:gd name="T4" fmla="*/ 1392 w 2832"/>
                <a:gd name="T5" fmla="*/ 24 h 936"/>
                <a:gd name="T6" fmla="*/ 2160 w 2832"/>
                <a:gd name="T7" fmla="*/ 168 h 936"/>
                <a:gd name="T8" fmla="*/ 2832 w 2832"/>
                <a:gd name="T9" fmla="*/ 936 h 9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832"/>
                <a:gd name="T16" fmla="*/ 0 h 936"/>
                <a:gd name="T17" fmla="*/ 2832 w 2832"/>
                <a:gd name="T18" fmla="*/ 936 h 9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832" h="936">
                  <a:moveTo>
                    <a:pt x="0" y="504"/>
                  </a:moveTo>
                  <a:cubicBezTo>
                    <a:pt x="100" y="448"/>
                    <a:pt x="200" y="392"/>
                    <a:pt x="432" y="312"/>
                  </a:cubicBezTo>
                  <a:cubicBezTo>
                    <a:pt x="664" y="232"/>
                    <a:pt x="1104" y="48"/>
                    <a:pt x="1392" y="24"/>
                  </a:cubicBezTo>
                  <a:cubicBezTo>
                    <a:pt x="1680" y="0"/>
                    <a:pt x="1920" y="16"/>
                    <a:pt x="2160" y="168"/>
                  </a:cubicBezTo>
                  <a:cubicBezTo>
                    <a:pt x="2400" y="320"/>
                    <a:pt x="2616" y="628"/>
                    <a:pt x="2832" y="936"/>
                  </a:cubicBezTo>
                </a:path>
              </a:pathLst>
            </a:custGeom>
            <a:noFill/>
            <a:ln w="25400" cap="flat" cmpd="sng">
              <a:solidFill>
                <a:schemeClr val="folHlink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025" name="Rectangle 16"/>
            <p:cNvSpPr>
              <a:spLocks noChangeArrowheads="1"/>
            </p:cNvSpPr>
            <p:nvPr/>
          </p:nvSpPr>
          <p:spPr bwMode="auto">
            <a:xfrm>
              <a:off x="3696" y="3744"/>
              <a:ext cx="1122" cy="2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0488" tIns="44450" rIns="90488" bIns="44450">
              <a:spAutoFit/>
            </a:bodyPr>
            <a:lstStyle>
              <a:lvl1pPr>
                <a:spcBef>
                  <a:spcPct val="20000"/>
                </a:spcBef>
                <a:buClr>
                  <a:schemeClr val="folHlink"/>
                </a:buClr>
                <a:buSzPct val="60000"/>
                <a:buFont typeface="Wingdings" panose="05000000000000000000" pitchFamily="2" charset="2"/>
                <a:buChar char="n"/>
                <a:defRPr sz="3200">
                  <a:solidFill>
                    <a:schemeClr val="tx1"/>
                  </a:solidFill>
                  <a:latin typeface="Tahom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hlink"/>
                </a:buClr>
                <a:buSzPct val="55000"/>
                <a:buFont typeface="Wingdings" panose="05000000000000000000" pitchFamily="2" charset="2"/>
                <a:buChar char="n"/>
                <a:defRPr sz="2800">
                  <a:solidFill>
                    <a:schemeClr val="tx1"/>
                  </a:solidFill>
                  <a:latin typeface="Tahom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folHlink"/>
                </a:buClr>
                <a:buSzPct val="50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Tahom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chemeClr val="accent2"/>
                </a:buClr>
                <a:buSzPct val="55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1"/>
                </a:buClr>
                <a:buSzPct val="50000"/>
                <a:buFont typeface="Wingdings" panose="05000000000000000000" pitchFamily="2" charset="2"/>
                <a:buChar char="n"/>
                <a:defRPr sz="2000">
                  <a:solidFill>
                    <a:schemeClr val="tx1"/>
                  </a:solidFill>
                  <a:latin typeface="Tahom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b="1">
                  <a:latin typeface="Arial" panose="020B0604020202020204" pitchFamily="34" charset="0"/>
                </a:rPr>
                <a:t>Distress Costs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8546689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A55125B-0A84-4D76-9080-A334B1F319FF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61</a:t>
            </a:fld>
            <a:endParaRPr lang="en-US" altLang="en-US" sz="140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Signaling Theory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/>
              <a:t>MM assumed that investors and managers have the same information.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But, managers often have better information.  Thus, they would: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Sell stock if stock is overvalued.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/>
              <a:t>Sell bonds if stock is undervalued.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Investors understand this, so view new stock sales as a negative signal.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Implications for managers?</a:t>
            </a:r>
          </a:p>
        </p:txBody>
      </p:sp>
    </p:spTree>
    <p:extLst>
      <p:ext uri="{BB962C8B-B14F-4D97-AF65-F5344CB8AC3E}">
        <p14:creationId xmlns:p14="http://schemas.microsoft.com/office/powerpoint/2010/main" val="1360919916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70941E1-B3A7-4FDD-A090-FAA930665BFE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62</a:t>
            </a:fld>
            <a:endParaRPr lang="en-US" altLang="en-US" sz="1400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Pecking Order Theory</a:t>
            </a:r>
          </a:p>
        </p:txBody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/>
              <a:t>Firms use internally generated funds first, because there are no flotation costs or negative signals.</a:t>
            </a:r>
          </a:p>
          <a:p>
            <a:pPr eaLnBrk="1" hangingPunct="1"/>
            <a:r>
              <a:rPr lang="en-US" altLang="en-US"/>
              <a:t>If more funds are needed, firms then issue debt because it has lower flotation costs than equity and not negative signals.</a:t>
            </a:r>
          </a:p>
          <a:p>
            <a:pPr eaLnBrk="1" hangingPunct="1"/>
            <a:r>
              <a:rPr lang="en-US" altLang="en-US"/>
              <a:t>If more funds are needed, firms then issue equity.</a:t>
            </a:r>
          </a:p>
        </p:txBody>
      </p:sp>
    </p:spTree>
    <p:extLst>
      <p:ext uri="{BB962C8B-B14F-4D97-AF65-F5344CB8AC3E}">
        <p14:creationId xmlns:p14="http://schemas.microsoft.com/office/powerpoint/2010/main" val="114563994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B1CCB9E-D503-42AC-9181-BA90D0A0E9AA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63</a:t>
            </a:fld>
            <a:endParaRPr lang="en-US" altLang="en-US" sz="140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Debt Financing and Agency Costs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One agency problem is that managers can use corporate funds for non-value maximizing purposes.</a:t>
            </a:r>
          </a:p>
          <a:p>
            <a:pPr eaLnBrk="1" hangingPunct="1"/>
            <a:r>
              <a:rPr lang="en-US" altLang="en-US"/>
              <a:t>The use of financial leverage:</a:t>
            </a:r>
          </a:p>
          <a:p>
            <a:pPr lvl="1" eaLnBrk="1" hangingPunct="1"/>
            <a:r>
              <a:rPr lang="en-US" altLang="en-US"/>
              <a:t>Bonds “free cash flow.”</a:t>
            </a:r>
          </a:p>
          <a:p>
            <a:pPr lvl="1" eaLnBrk="1" hangingPunct="1"/>
            <a:r>
              <a:rPr lang="en-US" altLang="en-US"/>
              <a:t>Forces discipline on managers to avoid perks and non-value adding acquisitions.</a:t>
            </a:r>
          </a:p>
        </p:txBody>
      </p:sp>
      <p:sp>
        <p:nvSpPr>
          <p:cNvPr id="46085" name="Rectangle 4"/>
          <p:cNvSpPr>
            <a:spLocks noChangeArrowheads="1"/>
          </p:cNvSpPr>
          <p:nvPr/>
        </p:nvSpPr>
        <p:spPr bwMode="auto">
          <a:xfrm>
            <a:off x="7445375" y="5854700"/>
            <a:ext cx="11652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 b="1">
                <a:latin typeface="Arial" panose="020B0604020202020204" pitchFamily="34" charset="0"/>
              </a:rPr>
              <a:t>(More...)</a:t>
            </a:r>
          </a:p>
        </p:txBody>
      </p:sp>
    </p:spTree>
    <p:extLst>
      <p:ext uri="{BB962C8B-B14F-4D97-AF65-F5344CB8AC3E}">
        <p14:creationId xmlns:p14="http://schemas.microsoft.com/office/powerpoint/2010/main" val="1882303053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2452EBC-CDED-4B0A-BCB1-F40CA194CD2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64</a:t>
            </a:fld>
            <a:endParaRPr lang="en-US" altLang="en-US" sz="1400"/>
          </a:p>
        </p:txBody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second agency problem is the potential for “underinvestment”.</a:t>
            </a:r>
          </a:p>
          <a:p>
            <a:pPr lvl="1" eaLnBrk="1" hangingPunct="1"/>
            <a:r>
              <a:rPr lang="en-US" altLang="en-US"/>
              <a:t>Debt increases risk of financial distress.</a:t>
            </a:r>
          </a:p>
          <a:p>
            <a:pPr lvl="1" eaLnBrk="1" hangingPunct="1"/>
            <a:r>
              <a:rPr lang="en-US" altLang="en-US"/>
              <a:t>Therefore, managers may avoid risky projects even if they have positive NPVs. </a:t>
            </a:r>
          </a:p>
        </p:txBody>
      </p:sp>
    </p:spTree>
    <p:extLst>
      <p:ext uri="{BB962C8B-B14F-4D97-AF65-F5344CB8AC3E}">
        <p14:creationId xmlns:p14="http://schemas.microsoft.com/office/powerpoint/2010/main" val="3925136572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BB75BB4-E501-492E-93CB-A94AE4F7D36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65</a:t>
            </a:fld>
            <a:endParaRPr lang="en-US" altLang="en-US" sz="1400"/>
          </a:p>
        </p:txBody>
      </p:sp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Investment Opportunity Set and Reserve Borrowing Capacity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Firms with many investment opportunities should maintain reserve borrowing capacity, especially if they have problems with asymmetric information (which would cause equity issues to be costly).</a:t>
            </a:r>
          </a:p>
        </p:txBody>
      </p:sp>
    </p:spTree>
    <p:extLst>
      <p:ext uri="{BB962C8B-B14F-4D97-AF65-F5344CB8AC3E}">
        <p14:creationId xmlns:p14="http://schemas.microsoft.com/office/powerpoint/2010/main" val="233867408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36622F1-E794-45BD-954D-A5C36C9D7538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66</a:t>
            </a:fld>
            <a:endParaRPr lang="en-US" altLang="en-US" sz="1400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Windows of Opportunity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/>
            <a:r>
              <a:rPr lang="en-US" altLang="en-US" sz="2800"/>
              <a:t>Managers try to “time the market” when issuing securities.</a:t>
            </a:r>
          </a:p>
          <a:p>
            <a:pPr eaLnBrk="1" hangingPunct="1"/>
            <a:r>
              <a:rPr lang="en-US" altLang="en-US" sz="2800"/>
              <a:t>They issue equity when the market is “high” and after big stock price run ups.</a:t>
            </a:r>
          </a:p>
          <a:p>
            <a:pPr eaLnBrk="1" hangingPunct="1"/>
            <a:r>
              <a:rPr lang="en-US" altLang="en-US" sz="2800"/>
              <a:t>They issue debt when the stock market is “low” and when interest rates are “low.”</a:t>
            </a:r>
          </a:p>
          <a:p>
            <a:pPr eaLnBrk="1" hangingPunct="1"/>
            <a:r>
              <a:rPr lang="en-US" altLang="en-US" sz="2800"/>
              <a:t>The issue short-term debt when the term structure is upward sloping and long-term debt when it is relatively flat.</a:t>
            </a:r>
          </a:p>
        </p:txBody>
      </p:sp>
    </p:spTree>
    <p:extLst>
      <p:ext uri="{BB962C8B-B14F-4D97-AF65-F5344CB8AC3E}">
        <p14:creationId xmlns:p14="http://schemas.microsoft.com/office/powerpoint/2010/main" val="4816561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8FA541ED-F4F2-49F7-962F-CAFCCC27B90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67</a:t>
            </a:fld>
            <a:endParaRPr lang="en-US" altLang="en-US" sz="1400"/>
          </a:p>
        </p:txBody>
      </p:sp>
      <p:sp>
        <p:nvSpPr>
          <p:cNvPr id="501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Empirical Evidence</a:t>
            </a:r>
          </a:p>
        </p:txBody>
      </p:sp>
      <p:sp>
        <p:nvSpPr>
          <p:cNvPr id="501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Tax benefits are important– $1 debt adds about $0.10 to value.</a:t>
            </a:r>
          </a:p>
          <a:p>
            <a:pPr eaLnBrk="1" hangingPunct="1"/>
            <a:r>
              <a:rPr lang="en-US" altLang="en-US"/>
              <a:t>Bankruptcies are costly– costs can be up to 10% to 20% of firm value.</a:t>
            </a:r>
          </a:p>
          <a:p>
            <a:pPr eaLnBrk="1" hangingPunct="1"/>
            <a:r>
              <a:rPr lang="en-US" altLang="en-US"/>
              <a:t>Firms don’t make quick corrections when stock price changes cause their debt ratios to change– doesn’t support trade-off model.</a:t>
            </a:r>
          </a:p>
        </p:txBody>
      </p:sp>
    </p:spTree>
    <p:extLst>
      <p:ext uri="{BB962C8B-B14F-4D97-AF65-F5344CB8AC3E}">
        <p14:creationId xmlns:p14="http://schemas.microsoft.com/office/powerpoint/2010/main" val="24395389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949F9F0C-CFE7-4260-95BE-7474B8B1AB7B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68</a:t>
            </a:fld>
            <a:endParaRPr lang="en-US" altLang="en-US" sz="1400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Empirical Evidence </a:t>
            </a:r>
            <a:r>
              <a:rPr lang="en-US" altLang="en-US" sz="4000"/>
              <a:t>(Continued)</a:t>
            </a:r>
          </a:p>
        </p:txBody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After big stock price run ups, debt ratio falls, but firms tend to issue equity instead of debt.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Inconsistent with trade-off model.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Inconsistent with pecking order.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/>
              <a:t>Consistent with windows of opportunity.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Many firms, especially those with growth options and asymmetric information problems, tend to maintain excess borrowing capacity.</a:t>
            </a:r>
          </a:p>
        </p:txBody>
      </p:sp>
    </p:spTree>
    <p:extLst>
      <p:ext uri="{BB962C8B-B14F-4D97-AF65-F5344CB8AC3E}">
        <p14:creationId xmlns:p14="http://schemas.microsoft.com/office/powerpoint/2010/main" val="311308202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ED1BEAF-3716-43DB-A1CC-9AB2E77C0CD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69</a:t>
            </a:fld>
            <a:endParaRPr lang="en-US" altLang="en-US" sz="1400"/>
          </a:p>
        </p:txBody>
      </p:sp>
      <p:sp>
        <p:nvSpPr>
          <p:cNvPr id="522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Implications for Managers</a:t>
            </a:r>
          </a:p>
        </p:txBody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Take advantage of tax benefits by issuing debt, especially if the firm has:</a:t>
            </a:r>
          </a:p>
          <a:p>
            <a:pPr lvl="1" eaLnBrk="1" hangingPunct="1"/>
            <a:r>
              <a:rPr lang="en-US" altLang="en-US"/>
              <a:t>High tax rate</a:t>
            </a:r>
          </a:p>
          <a:p>
            <a:pPr lvl="1" eaLnBrk="1" hangingPunct="1"/>
            <a:r>
              <a:rPr lang="en-US" altLang="en-US"/>
              <a:t>Stable sales</a:t>
            </a:r>
          </a:p>
          <a:p>
            <a:pPr lvl="1" eaLnBrk="1" hangingPunct="1"/>
            <a:r>
              <a:rPr lang="en-US" altLang="en-US"/>
              <a:t>Low operating leverage</a:t>
            </a:r>
          </a:p>
        </p:txBody>
      </p:sp>
    </p:spTree>
    <p:extLst>
      <p:ext uri="{BB962C8B-B14F-4D97-AF65-F5344CB8AC3E}">
        <p14:creationId xmlns:p14="http://schemas.microsoft.com/office/powerpoint/2010/main" val="40395385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D4C1D92-16CE-4001-8E48-265EAF7EE6B3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70</a:t>
            </a:fld>
            <a:endParaRPr lang="en-US" altLang="en-US" sz="1400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Implications for Managers </a:t>
            </a:r>
            <a:r>
              <a:rPr lang="en-US" altLang="en-US" sz="3600"/>
              <a:t>(Continued)</a:t>
            </a:r>
          </a:p>
        </p:txBody>
      </p:sp>
      <p:sp>
        <p:nvSpPr>
          <p:cNvPr id="532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Avoid financial distress costs by maintaining excess borrowing capacity, especially if the firm has:</a:t>
            </a:r>
          </a:p>
          <a:p>
            <a:pPr lvl="1" eaLnBrk="1" hangingPunct="1"/>
            <a:r>
              <a:rPr lang="en-US" altLang="en-US"/>
              <a:t>Volatile sales</a:t>
            </a:r>
          </a:p>
          <a:p>
            <a:pPr lvl="1" eaLnBrk="1" hangingPunct="1"/>
            <a:r>
              <a:rPr lang="en-US" altLang="en-US"/>
              <a:t>High operating leverage</a:t>
            </a:r>
          </a:p>
          <a:p>
            <a:pPr lvl="1" eaLnBrk="1" hangingPunct="1"/>
            <a:r>
              <a:rPr lang="en-US" altLang="en-US"/>
              <a:t>Many potential investment opportunities</a:t>
            </a:r>
          </a:p>
          <a:p>
            <a:pPr lvl="1" eaLnBrk="1" hangingPunct="1"/>
            <a:r>
              <a:rPr lang="en-US" altLang="en-US"/>
              <a:t>Special purpose assets (instead of general purpose assets that make good collateral)</a:t>
            </a:r>
          </a:p>
        </p:txBody>
      </p:sp>
    </p:spTree>
    <p:extLst>
      <p:ext uri="{BB962C8B-B14F-4D97-AF65-F5344CB8AC3E}">
        <p14:creationId xmlns:p14="http://schemas.microsoft.com/office/powerpoint/2010/main" val="205373164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2F0B11C-EEA6-4974-9C09-EE76098EA239}" type="slidenum">
              <a:rPr lang="en-US" altLang="en-US" sz="1400"/>
              <a:pPr>
                <a:spcBef>
                  <a:spcPct val="0"/>
                </a:spcBef>
                <a:buClrTx/>
                <a:buSzTx/>
                <a:buFontTx/>
                <a:buNone/>
              </a:pPr>
              <a:t>71</a:t>
            </a:fld>
            <a:endParaRPr lang="en-US" altLang="en-US" sz="1400"/>
          </a:p>
        </p:txBody>
      </p:sp>
      <p:sp>
        <p:nvSpPr>
          <p:cNvPr id="5427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4000"/>
              <a:t>Implications for Managers </a:t>
            </a:r>
            <a:r>
              <a:rPr lang="en-US" altLang="en-US" sz="3600"/>
              <a:t>(Continued)</a:t>
            </a:r>
          </a:p>
        </p:txBody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If manager has asymmetric information regarding firm’s future prospects, then avoid issuing equity if actual prospects are better than the market perceives.</a:t>
            </a:r>
          </a:p>
          <a:p>
            <a:pPr eaLnBrk="1" hangingPunct="1"/>
            <a:r>
              <a:rPr lang="en-US" altLang="en-US"/>
              <a:t>Always consider the impact of capital structure choices on lenders’ and rating agencies’ attitudes</a:t>
            </a:r>
          </a:p>
        </p:txBody>
      </p:sp>
    </p:spTree>
    <p:extLst>
      <p:ext uri="{BB962C8B-B14F-4D97-AF65-F5344CB8AC3E}">
        <p14:creationId xmlns:p14="http://schemas.microsoft.com/office/powerpoint/2010/main" val="383077227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472" name="Group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9719834"/>
              </p:ext>
            </p:extLst>
          </p:nvPr>
        </p:nvGraphicFramePr>
        <p:xfrm>
          <a:off x="787400" y="1564640"/>
          <a:ext cx="7823200" cy="4645026"/>
        </p:xfrm>
        <a:graphic>
          <a:graphicData uri="http://schemas.openxmlformats.org/drawingml/2006/table">
            <a:tbl>
              <a:tblPr/>
              <a:tblGrid>
                <a:gridCol w="25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Economy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Bad  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Avg. 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Good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Prob.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EBIT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$3,000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$4,000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Interest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    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EBT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$3,000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$4,000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Taxes (40%)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800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1,200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1,600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NI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$1,200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$1,800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$2,400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83DFDC4-4C21-5E15-D71C-C70446D84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Firm U:  Unleveraged</a:t>
            </a:r>
            <a:endParaRPr lang="en-US" dirty="0"/>
          </a:p>
        </p:txBody>
      </p:sp>
    </p:spTree>
  </p:cSld>
  <p:clrMapOvr>
    <a:masterClrMapping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8" name="Rectangle 4"/>
          <p:cNvSpPr>
            <a:spLocks noChangeArrowheads="1"/>
          </p:cNvSpPr>
          <p:nvPr/>
        </p:nvSpPr>
        <p:spPr bwMode="auto">
          <a:xfrm>
            <a:off x="685800" y="5900738"/>
            <a:ext cx="7686675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3716338" algn="r"/>
                <a:tab pos="5553075" algn="r"/>
                <a:tab pos="7364413" algn="r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3716338" algn="r"/>
                <a:tab pos="5553075" algn="r"/>
                <a:tab pos="7364413" algn="r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3716338" algn="r"/>
                <a:tab pos="5553075" algn="r"/>
                <a:tab pos="7364413" algn="r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3716338" algn="r"/>
                <a:tab pos="5553075" algn="r"/>
                <a:tab pos="7364413" algn="r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716338" algn="r"/>
                <a:tab pos="5553075" algn="r"/>
                <a:tab pos="7364413" algn="r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716338" algn="r"/>
                <a:tab pos="5553075" algn="r"/>
                <a:tab pos="7364413" algn="r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716338" algn="r"/>
                <a:tab pos="5553075" algn="r"/>
                <a:tab pos="7364413" algn="r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716338" algn="r"/>
                <a:tab pos="5553075" algn="r"/>
                <a:tab pos="7364413" algn="r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716338" algn="r"/>
                <a:tab pos="5553075" algn="r"/>
                <a:tab pos="7364413" algn="r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30000"/>
              </a:spcBef>
              <a:buClrTx/>
              <a:buSzTx/>
              <a:buFontTx/>
              <a:buNone/>
            </a:pPr>
            <a:r>
              <a:rPr lang="en-US" altLang="en-US" sz="1800"/>
              <a:t>*Same as for Firm U.</a:t>
            </a:r>
          </a:p>
        </p:txBody>
      </p:sp>
      <p:graphicFrame>
        <p:nvGraphicFramePr>
          <p:cNvPr id="17472" name="Group 64"/>
          <p:cNvGraphicFramePr>
            <a:graphicFrameLocks noGrp="1"/>
          </p:cNvGraphicFramePr>
          <p:nvPr/>
        </p:nvGraphicFramePr>
        <p:xfrm>
          <a:off x="685800" y="1527175"/>
          <a:ext cx="7823200" cy="4494214"/>
        </p:xfrm>
        <a:graphic>
          <a:graphicData uri="http://schemas.openxmlformats.org/drawingml/2006/table">
            <a:tbl>
              <a:tblPr/>
              <a:tblGrid>
                <a:gridCol w="256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59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Economy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5951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12" marB="4571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Bad   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Avg.  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Good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32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Prob.*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0.50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0.25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09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EBIT*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$2,000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$3,000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$4,000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09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Interest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</a:t>
                      </a: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1,200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1,200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1,200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09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EBT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  800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$1,800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$2,800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9327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Taxes (40%)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320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 720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1,120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091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NI</a:t>
                      </a:r>
                    </a:p>
                  </a:txBody>
                  <a:tcPr marT="45712" marB="45712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   480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$1,080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$1,680</a:t>
                      </a:r>
                    </a:p>
                  </a:txBody>
                  <a:tcPr marT="45712" marB="45712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871F6CE-DE32-463C-3408-47F817BFE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000" dirty="0"/>
              <a:t>Firm L:  Leveraged</a:t>
            </a:r>
            <a:endParaRPr lang="en-US" dirty="0"/>
          </a:p>
        </p:txBody>
      </p:sp>
    </p:spTree>
  </p:cSld>
  <p:clrMapOvr>
    <a:masterClrMapping/>
  </p:clrMapOvr>
  <p:transition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5"/>
          <p:cNvSpPr>
            <a:spLocks noChangeArrowheads="1"/>
          </p:cNvSpPr>
          <p:nvPr/>
        </p:nvSpPr>
        <p:spPr bwMode="auto">
          <a:xfrm>
            <a:off x="687388" y="5884863"/>
            <a:ext cx="8151812" cy="515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tabLst>
                <a:tab pos="3136900" algn="dec"/>
                <a:tab pos="4924425" algn="dec"/>
                <a:tab pos="6807200" algn="dec"/>
              </a:tabLst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tabLst>
                <a:tab pos="3136900" algn="dec"/>
                <a:tab pos="4924425" algn="dec"/>
                <a:tab pos="6807200" algn="dec"/>
              </a:tabLs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tabLst>
                <a:tab pos="3136900" algn="dec"/>
                <a:tab pos="4924425" algn="dec"/>
                <a:tab pos="6807200" algn="dec"/>
              </a:tabLst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tabLst>
                <a:tab pos="3136900" algn="dec"/>
                <a:tab pos="4924425" algn="dec"/>
                <a:tab pos="68072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36900" algn="dec"/>
                <a:tab pos="4924425" algn="dec"/>
                <a:tab pos="68072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36900" algn="dec"/>
                <a:tab pos="4924425" algn="dec"/>
                <a:tab pos="68072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36900" algn="dec"/>
                <a:tab pos="4924425" algn="dec"/>
                <a:tab pos="68072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36900" algn="dec"/>
                <a:tab pos="4924425" algn="dec"/>
                <a:tab pos="68072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tabLst>
                <a:tab pos="3136900" algn="dec"/>
                <a:tab pos="4924425" algn="dec"/>
                <a:tab pos="6807200" algn="dec"/>
              </a:tabLst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/>
              <a:t>*ROI = (NI + Interest)/Total financing.</a:t>
            </a:r>
          </a:p>
        </p:txBody>
      </p:sp>
      <p:sp>
        <p:nvSpPr>
          <p:cNvPr id="83971" name="Rectangle 6"/>
          <p:cNvSpPr>
            <a:spLocks noChangeArrowheads="1"/>
          </p:cNvSpPr>
          <p:nvPr/>
        </p:nvSpPr>
        <p:spPr bwMode="auto">
          <a:xfrm rot="-5400000">
            <a:off x="3715544" y="2623344"/>
            <a:ext cx="4064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83972" name="Rectangle 7"/>
          <p:cNvSpPr>
            <a:spLocks noChangeArrowheads="1"/>
          </p:cNvSpPr>
          <p:nvPr/>
        </p:nvSpPr>
        <p:spPr bwMode="auto">
          <a:xfrm rot="-5400000">
            <a:off x="5434807" y="2623343"/>
            <a:ext cx="4064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</a:t>
            </a:r>
          </a:p>
        </p:txBody>
      </p:sp>
      <p:sp>
        <p:nvSpPr>
          <p:cNvPr id="83973" name="Rectangle 8"/>
          <p:cNvSpPr>
            <a:spLocks noChangeArrowheads="1"/>
          </p:cNvSpPr>
          <p:nvPr/>
        </p:nvSpPr>
        <p:spPr bwMode="auto">
          <a:xfrm rot="-5400000">
            <a:off x="7222332" y="2599531"/>
            <a:ext cx="406400" cy="576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</a:t>
            </a:r>
          </a:p>
        </p:txBody>
      </p:sp>
      <p:graphicFrame>
        <p:nvGraphicFramePr>
          <p:cNvPr id="18536" name="Group 10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5854849"/>
              </p:ext>
            </p:extLst>
          </p:nvPr>
        </p:nvGraphicFramePr>
        <p:xfrm>
          <a:off x="534988" y="704850"/>
          <a:ext cx="8151812" cy="5245102"/>
        </p:xfrm>
        <a:graphic>
          <a:graphicData uri="http://schemas.openxmlformats.org/drawingml/2006/table">
            <a:tbl>
              <a:tblPr/>
              <a:tblGrid>
                <a:gridCol w="26731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468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56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62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82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C0128"/>
                          </a:solidFill>
                          <a:effectLst/>
                          <a:latin typeface="Arial" charset="0"/>
                        </a:rPr>
                        <a:t>Firm U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Bad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Avg.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10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Good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2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BEP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2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ROI*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2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ROE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6.0%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12.0%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2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TIE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2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hlink"/>
                          </a:solidFill>
                          <a:effectLst/>
                          <a:latin typeface="Arial" charset="0"/>
                        </a:rPr>
                        <a:t>Firm L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Bad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Avg.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Good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2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BEP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20.0%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2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ROI*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8.4%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11.4%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14.4%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1822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ROE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4.8%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10.8%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16.8%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8109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TIE</a:t>
                      </a:r>
                    </a:p>
                  </a:txBody>
                  <a:tcPr marT="45726" marB="45726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1.7x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2.5x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3.3x</a:t>
                      </a:r>
                    </a:p>
                  </a:txBody>
                  <a:tcPr marT="45726" marB="45726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575" name="Group 1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0526682"/>
              </p:ext>
            </p:extLst>
          </p:nvPr>
        </p:nvGraphicFramePr>
        <p:xfrm>
          <a:off x="1371600" y="914400"/>
          <a:ext cx="7086600" cy="5283201"/>
        </p:xfrm>
        <a:graphic>
          <a:graphicData uri="http://schemas.openxmlformats.org/drawingml/2006/table">
            <a:tbl>
              <a:tblPr/>
              <a:tblGrid>
                <a:gridCol w="370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9120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Profitability Measures: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U   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L    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E(BEP)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15.0%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E(ROI)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9.0%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11.4%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E(ROE)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9.0%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10.8%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Risk Measures: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1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Symbol" pitchFamily="18" charset="2"/>
                        </a:rPr>
                        <a:t></a:t>
                      </a:r>
                      <a:r>
                        <a:rPr kumimoji="0" lang="en-US" sz="32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2.12%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4.24%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CV</a:t>
                      </a:r>
                      <a:r>
                        <a:rPr kumimoji="0" lang="en-US" sz="32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ROE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0.24</a:t>
                      </a: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0.39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81025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E(TIE)</a:t>
                      </a:r>
                    </a:p>
                  </a:txBody>
                  <a:tcPr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8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32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    2.5x</a:t>
                      </a:r>
                    </a:p>
                  </a:txBody>
                  <a:tcPr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CFEB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5022" name="Rectangle 8"/>
          <p:cNvSpPr>
            <a:spLocks noChangeArrowheads="1"/>
          </p:cNvSpPr>
          <p:nvPr/>
        </p:nvSpPr>
        <p:spPr bwMode="auto">
          <a:xfrm rot="-5400000">
            <a:off x="5680869" y="5574507"/>
            <a:ext cx="4064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8</a:t>
            </a:r>
          </a:p>
        </p:txBody>
      </p:sp>
    </p:spTree>
  </p:cSld>
  <p:clrMapOvr>
    <a:masterClrMapping/>
  </p:clrMapOvr>
  <p:transition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4DC945-0692-EB1D-C13A-3FCA853EF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Conclusions</a:t>
            </a:r>
            <a:endParaRPr lang="en-US" dirty="0"/>
          </a:p>
        </p:txBody>
      </p:sp>
      <p:sp>
        <p:nvSpPr>
          <p:cNvPr id="86020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Basic earning power = BEP = EBIT/Total assets is unaffected by financial leverage.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L has higher expected ROI and ROE because of tax savings.</a:t>
            </a:r>
          </a:p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L has much wider ROE (and EPS) swings because of fixed interest charges.  Its higher expected return is accompanied by higher risk.</a:t>
            </a:r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auto">
          <a:xfrm>
            <a:off x="7597775" y="5854700"/>
            <a:ext cx="11652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(More...)</a:t>
            </a:r>
          </a:p>
        </p:txBody>
      </p:sp>
    </p:spTree>
  </p:cSld>
  <p:clrMapOvr>
    <a:masterClrMapping/>
  </p:clrMapOvr>
  <p:transition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688DC-63DC-99F6-5A51-1E32A380C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Conclusions (</a:t>
            </a:r>
            <a:r>
              <a:rPr lang="en-US" altLang="en-US" dirty="0" err="1"/>
              <a:t>con’t</a:t>
            </a:r>
            <a:r>
              <a:rPr lang="en-US" altLang="en-US" dirty="0"/>
              <a:t>)</a:t>
            </a:r>
            <a:endParaRPr lang="en-US" dirty="0"/>
          </a:p>
        </p:txBody>
      </p:sp>
      <p:sp>
        <p:nvSpPr>
          <p:cNvPr id="87042" name="Rectangle 2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In a stand-alone risk sense, Firm L’s stockholders see much more risk than Firm U’s.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U and L:   </a:t>
            </a:r>
            <a:r>
              <a:rPr lang="en-US" altLang="en-US" dirty="0">
                <a:latin typeface="Symbol" panose="05050102010706020507" pitchFamily="18" charset="2"/>
              </a:rPr>
              <a:t></a:t>
            </a:r>
            <a:r>
              <a:rPr lang="en-US" altLang="en-US" baseline="-25000" dirty="0"/>
              <a:t>ROE(U)</a:t>
            </a:r>
            <a:r>
              <a:rPr lang="en-US" altLang="en-US" dirty="0"/>
              <a:t> = 2.12%.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U:  </a:t>
            </a:r>
            <a:r>
              <a:rPr lang="en-US" altLang="en-US" dirty="0">
                <a:latin typeface="Symbol" panose="05050102010706020507" pitchFamily="18" charset="2"/>
              </a:rPr>
              <a:t></a:t>
            </a:r>
            <a:r>
              <a:rPr lang="en-US" altLang="en-US" baseline="-25000" dirty="0"/>
              <a:t>ROE</a:t>
            </a:r>
            <a:r>
              <a:rPr lang="en-US" altLang="en-US" dirty="0"/>
              <a:t> = 2.12%. </a:t>
            </a:r>
          </a:p>
          <a:p>
            <a:pPr lvl="1">
              <a:lnSpc>
                <a:spcPct val="90000"/>
              </a:lnSpc>
              <a:spcBef>
                <a:spcPct val="50000"/>
              </a:spcBef>
            </a:pPr>
            <a:r>
              <a:rPr lang="en-US" altLang="en-US" dirty="0"/>
              <a:t>L:  </a:t>
            </a:r>
            <a:r>
              <a:rPr lang="en-US" altLang="en-US" dirty="0">
                <a:latin typeface="Symbol" panose="05050102010706020507" pitchFamily="18" charset="2"/>
              </a:rPr>
              <a:t></a:t>
            </a:r>
            <a:r>
              <a:rPr lang="en-US" altLang="en-US" baseline="-25000" dirty="0"/>
              <a:t>ROE</a:t>
            </a:r>
            <a:r>
              <a:rPr lang="en-US" altLang="en-US" dirty="0"/>
              <a:t> = 4.24%.</a:t>
            </a:r>
          </a:p>
          <a:p>
            <a:pPr>
              <a:spcBef>
                <a:spcPct val="50000"/>
              </a:spcBef>
            </a:pPr>
            <a:r>
              <a:rPr lang="en-US" altLang="en-US" dirty="0"/>
              <a:t>L’s financial risk is </a:t>
            </a:r>
            <a:r>
              <a:rPr lang="en-US" altLang="en-US" dirty="0">
                <a:latin typeface="Symbol" panose="05050102010706020507" pitchFamily="18" charset="2"/>
              </a:rPr>
              <a:t></a:t>
            </a:r>
            <a:r>
              <a:rPr lang="en-US" altLang="en-US" baseline="-25000" dirty="0"/>
              <a:t>ROE</a:t>
            </a:r>
            <a:r>
              <a:rPr lang="en-US" altLang="en-US" dirty="0"/>
              <a:t> - </a:t>
            </a:r>
            <a:r>
              <a:rPr lang="en-US" altLang="en-US" dirty="0">
                <a:latin typeface="Symbol" panose="05050102010706020507" pitchFamily="18" charset="2"/>
              </a:rPr>
              <a:t></a:t>
            </a:r>
            <a:r>
              <a:rPr lang="en-US" altLang="en-US" baseline="-25000" dirty="0"/>
              <a:t>ROE(U)</a:t>
            </a:r>
            <a:r>
              <a:rPr lang="en-US" altLang="en-US" dirty="0"/>
              <a:t> = 4.24% - 2.12% = 2.12%.  (U’s is zero.)</a:t>
            </a:r>
          </a:p>
        </p:txBody>
      </p:sp>
      <p:sp>
        <p:nvSpPr>
          <p:cNvPr id="87043" name="Rectangle 3"/>
          <p:cNvSpPr>
            <a:spLocks noChangeArrowheads="1"/>
          </p:cNvSpPr>
          <p:nvPr/>
        </p:nvSpPr>
        <p:spPr bwMode="auto">
          <a:xfrm>
            <a:off x="7472363" y="5854700"/>
            <a:ext cx="1366837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(More...)</a:t>
            </a:r>
          </a:p>
        </p:txBody>
      </p:sp>
    </p:spTree>
  </p:cSld>
  <p:clrMapOvr>
    <a:masterClrMapping/>
  </p:clrMapOvr>
  <p:transition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auto">
          <a:xfrm>
            <a:off x="762000" y="1981200"/>
            <a:ext cx="7772400" cy="3675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8" tIns="44450" rIns="90488" bIns="44450"/>
          <a:lstStyle>
            <a:lvl1pPr marL="342900" indent="-342900"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</a:pPr>
            <a:r>
              <a:rPr lang="en-US" altLang="en-US" sz="2000" dirty="0"/>
              <a:t>For leverage to be positive (increase expected ROE), BEP must be &gt; </a:t>
            </a:r>
            <a:r>
              <a:rPr lang="en-US" altLang="en-US" sz="2000" dirty="0" err="1"/>
              <a:t>k</a:t>
            </a:r>
            <a:r>
              <a:rPr lang="en-US" altLang="en-US" sz="2000" baseline="-25000" dirty="0" err="1"/>
              <a:t>d</a:t>
            </a:r>
            <a:r>
              <a:rPr lang="en-US" altLang="en-US" sz="2000" dirty="0"/>
              <a:t>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</a:pPr>
            <a:r>
              <a:rPr lang="en-US" altLang="en-US" sz="2000" dirty="0"/>
              <a:t>If </a:t>
            </a:r>
            <a:r>
              <a:rPr lang="en-US" altLang="en-US" sz="2000" dirty="0" err="1"/>
              <a:t>k</a:t>
            </a:r>
            <a:r>
              <a:rPr lang="en-US" altLang="en-US" sz="2000" baseline="-25000" dirty="0" err="1"/>
              <a:t>d</a:t>
            </a:r>
            <a:r>
              <a:rPr lang="en-US" altLang="en-US" sz="2000" dirty="0"/>
              <a:t> &gt; BEP, the cost of leveraging will be higher than the inherent profitability of the assets, so the use of financial leverage will depress net income and ROE.</a:t>
            </a:r>
          </a:p>
          <a:p>
            <a:pPr eaLnBrk="1" hangingPunct="1">
              <a:lnSpc>
                <a:spcPct val="90000"/>
              </a:lnSpc>
              <a:spcBef>
                <a:spcPct val="50000"/>
              </a:spcBef>
              <a:buClrTx/>
              <a:buSzTx/>
            </a:pPr>
            <a:r>
              <a:rPr lang="en-US" altLang="en-US" sz="2000" dirty="0"/>
              <a:t>In the example, E(BEP) = 15% while interest rate = 12%, so leveraging “works.”</a:t>
            </a:r>
          </a:p>
        </p:txBody>
      </p:sp>
    </p:spTree>
  </p:cSld>
  <p:clrMapOvr>
    <a:masterClrMapping/>
  </p:clrMapOvr>
  <p:transition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14313"/>
            <a:ext cx="8105775" cy="1462087"/>
          </a:xfrm>
        </p:spPr>
        <p:txBody>
          <a:bodyPr/>
          <a:lstStyle/>
          <a:p>
            <a:pPr algn="ctr"/>
            <a:r>
              <a:rPr lang="en-US" dirty="0"/>
              <a:t>Another recapitalization Problem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89AE28A-4BB7-4768-BE9D-FBAA064F66AE}" type="slidenum">
              <a:rPr lang="en-US" smtClean="0"/>
              <a:pPr>
                <a:defRPr/>
              </a:pPr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0258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70C5B17-DF25-5D3C-A410-9F3CEE7A7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The Optimal Capital Structure</a:t>
            </a:r>
            <a:endParaRPr lang="en-US" dirty="0"/>
          </a:p>
        </p:txBody>
      </p:sp>
      <p:sp>
        <p:nvSpPr>
          <p:cNvPr id="89092" name="Rectangle 4"/>
          <p:cNvSpPr>
            <a:spLocks noGrp="1" noChangeArrowheads="1"/>
          </p:cNvSpPr>
          <p:nvPr>
            <p:ph idx="1"/>
          </p:nvPr>
        </p:nvSpPr>
        <p:spPr>
          <a:noFill/>
        </p:spPr>
        <p:txBody>
          <a:bodyPr/>
          <a:lstStyle/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Calculate the cost of equity at each level of debt.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Calculate the value of equity at each level of debt.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Calculate the total value of the firm (value of equity + value of debt) at each level of debt.</a:t>
            </a:r>
          </a:p>
          <a:p>
            <a:pPr>
              <a:lnSpc>
                <a:spcPct val="90000"/>
              </a:lnSpc>
              <a:tabLst>
                <a:tab pos="2571750" algn="l"/>
              </a:tabLst>
            </a:pPr>
            <a:r>
              <a:rPr lang="en-US" altLang="en-US" dirty="0"/>
              <a:t>The optimal capital structure maximizes the total value of the firm.</a:t>
            </a:r>
          </a:p>
        </p:txBody>
      </p:sp>
    </p:spTree>
    <p:extLst>
      <p:ext uri="{BB962C8B-B14F-4D97-AF65-F5344CB8AC3E}">
        <p14:creationId xmlns:p14="http://schemas.microsoft.com/office/powerpoint/2010/main" val="3338374583"/>
      </p:ext>
    </p:extLst>
  </p:cSld>
  <p:clrMapOvr>
    <a:masterClrMapping/>
  </p:clrMapOvr>
  <p:transition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6" name="Rectangle 4"/>
          <p:cNvSpPr>
            <a:spLocks noChangeArrowheads="1"/>
          </p:cNvSpPr>
          <p:nvPr/>
        </p:nvSpPr>
        <p:spPr bwMode="auto">
          <a:xfrm>
            <a:off x="7239000" y="5783264"/>
            <a:ext cx="1165225" cy="393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488" tIns="44450" rIns="90488" bIns="44450"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(More...)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BE8CDF-422F-4CF5-CD6E-6EF8D4596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0" lang="en-US" altLang="en-US" sz="4000" i="0" u="none" strike="noStrike" kern="1200" cap="none" spc="0" normalizeH="0" baseline="0" noProof="0" dirty="0">
                <a:ln>
                  <a:noFill/>
                </a:ln>
                <a:solidFill>
                  <a:srgbClr val="1C1C1C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Sequence of Events When Firm  Recapitalizes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89419B-124E-E30C-F448-DC1224B162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Firm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announces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the recapitalization.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Investors reassess their views and estimate a new equity value.</a:t>
            </a:r>
          </a:p>
          <a:p>
            <a:pPr marL="342900" marR="0" lvl="0" indent="-342900" algn="l" defTabSz="914400" rtl="0" eaLnBrk="1" fontAlgn="base" latinLnBrk="0" hangingPunct="1">
              <a:lnSpc>
                <a:spcPct val="90000"/>
              </a:lnSpc>
              <a:spcBef>
                <a:spcPct val="50000"/>
              </a:spcBef>
              <a:spcAft>
                <a:spcPct val="0"/>
              </a:spcAft>
              <a:buSzTx/>
              <a:buFont typeface="Wingdings" panose="05000000000000000000" pitchFamily="2" charset="2"/>
              <a:buChar char="n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debt is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issued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and proceeds are used to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repurchase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stock at the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new equilibrium price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8099631"/>
      </p:ext>
    </p:extLst>
  </p:cSld>
  <p:clrMapOvr>
    <a:masterClrMapping/>
  </p:clrMapOvr>
  <p:transition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635A150-BAC1-40C8-8FC3-BCF2DADD1D6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5299" name="Rectangle 1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Choosing the Optimal Capital Structure: Example</a:t>
            </a:r>
          </a:p>
        </p:txBody>
      </p:sp>
      <p:sp>
        <p:nvSpPr>
          <p:cNvPr id="55300" name="Rectangle 1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 = 1.0; r</a:t>
            </a:r>
            <a:r>
              <a:rPr lang="en-US" altLang="en-US" baseline="-25000"/>
              <a:t>RF</a:t>
            </a:r>
            <a:r>
              <a:rPr lang="en-US" altLang="en-US"/>
              <a:t> = 6%; RP</a:t>
            </a:r>
            <a:r>
              <a:rPr lang="en-US" altLang="en-US" baseline="-25000"/>
              <a:t>M</a:t>
            </a:r>
            <a:r>
              <a:rPr lang="en-US" altLang="en-US"/>
              <a:t> = 6%.</a:t>
            </a:r>
          </a:p>
          <a:p>
            <a:pPr eaLnBrk="1" hangingPunct="1"/>
            <a:r>
              <a:rPr lang="en-US" altLang="en-US"/>
              <a:t>Cost of equity using CAPM:</a:t>
            </a:r>
          </a:p>
          <a:p>
            <a:pPr lvl="1" eaLnBrk="1" hangingPunct="1"/>
            <a:r>
              <a:rPr lang="en-US" altLang="en-US"/>
              <a:t>r</a:t>
            </a:r>
            <a:r>
              <a:rPr lang="en-US" altLang="en-US" baseline="-25000"/>
              <a:t>s</a:t>
            </a:r>
            <a:r>
              <a:rPr lang="en-US" altLang="en-US"/>
              <a:t> = r</a:t>
            </a:r>
            <a:r>
              <a:rPr lang="en-US" altLang="en-US" baseline="-25000"/>
              <a:t>RF</a:t>
            </a:r>
            <a:r>
              <a:rPr lang="en-US" altLang="en-US"/>
              <a:t> +b (RP</a:t>
            </a:r>
            <a:r>
              <a:rPr lang="en-US" altLang="en-US" baseline="-25000"/>
              <a:t>M</a:t>
            </a:r>
            <a:r>
              <a:rPr lang="en-US" altLang="en-US"/>
              <a:t>)= 6% + 1(6%) = 12%</a:t>
            </a:r>
          </a:p>
          <a:p>
            <a:pPr eaLnBrk="1" hangingPunct="1"/>
            <a:r>
              <a:rPr lang="en-US" altLang="en-US"/>
              <a:t>Currently has no debt: w</a:t>
            </a:r>
            <a:r>
              <a:rPr lang="en-US" altLang="en-US" baseline="-25000"/>
              <a:t>d</a:t>
            </a:r>
            <a:r>
              <a:rPr lang="en-US" altLang="en-US"/>
              <a:t> = 0%.</a:t>
            </a:r>
          </a:p>
          <a:p>
            <a:pPr lvl="1" eaLnBrk="1" hangingPunct="1"/>
            <a:r>
              <a:rPr lang="en-US" altLang="en-US"/>
              <a:t>WACC = r</a:t>
            </a:r>
            <a:r>
              <a:rPr lang="en-US" altLang="en-US" baseline="-25000"/>
              <a:t>s</a:t>
            </a:r>
            <a:r>
              <a:rPr lang="en-US" altLang="en-US"/>
              <a:t> = 12%.</a:t>
            </a:r>
          </a:p>
          <a:p>
            <a:pPr eaLnBrk="1" hangingPunct="1"/>
            <a:r>
              <a:rPr lang="en-US" altLang="en-US"/>
              <a:t>Tax rate is T = 40%.</a:t>
            </a:r>
          </a:p>
          <a:p>
            <a:pPr lvl="1"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125155"/>
      </p:ext>
    </p:extLst>
  </p:cSld>
  <p:clrMapOvr>
    <a:masterClrMapping/>
  </p:clrMapOvr>
  <p:transition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43EAA22-8FB4-473D-B31A-13C7ABD9556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632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Current Value of Operations</a:t>
            </a:r>
          </a:p>
        </p:txBody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Expected FCF = $30 million.</a:t>
            </a:r>
          </a:p>
          <a:p>
            <a:pPr eaLnBrk="1" hangingPunct="1"/>
            <a:r>
              <a:rPr lang="en-US" altLang="en-US"/>
              <a:t>Firm expects zero growth: g = 0.</a:t>
            </a:r>
          </a:p>
          <a:p>
            <a:pPr eaLnBrk="1" hangingPunct="1"/>
            <a:r>
              <a:rPr lang="en-US" altLang="en-US"/>
              <a:t>V</a:t>
            </a:r>
            <a:r>
              <a:rPr lang="en-US" altLang="en-US" baseline="-25000"/>
              <a:t>op</a:t>
            </a:r>
            <a:r>
              <a:rPr lang="en-US" altLang="en-US"/>
              <a:t> = [FCF(1+g)]/(WACC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en-US" altLang="en-US"/>
              <a:t>g)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bg1"/>
                </a:solidFill>
              </a:rPr>
              <a:t>	V</a:t>
            </a:r>
            <a:r>
              <a:rPr lang="en-US" altLang="en-US" baseline="-25000">
                <a:solidFill>
                  <a:schemeClr val="bg1"/>
                </a:solidFill>
              </a:rPr>
              <a:t>op</a:t>
            </a:r>
            <a:r>
              <a:rPr lang="en-US" altLang="en-US">
                <a:solidFill>
                  <a:schemeClr val="bg1"/>
                </a:solidFill>
              </a:rPr>
              <a:t> </a:t>
            </a:r>
            <a:r>
              <a:rPr lang="en-US" altLang="en-US"/>
              <a:t>= [$30(1+0)]/(0.12 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− 0)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bg1"/>
                </a:solidFill>
              </a:rPr>
              <a:t>	V</a:t>
            </a:r>
            <a:r>
              <a:rPr lang="en-US" altLang="en-US" baseline="-25000">
                <a:solidFill>
                  <a:schemeClr val="bg1"/>
                </a:solidFill>
              </a:rPr>
              <a:t>op</a:t>
            </a:r>
            <a:r>
              <a:rPr lang="en-US" altLang="en-US">
                <a:solidFill>
                  <a:schemeClr val="bg1"/>
                </a:solidFill>
              </a:rPr>
              <a:t> </a:t>
            </a:r>
            <a:r>
              <a:rPr lang="en-US" altLang="en-US"/>
              <a:t>= $250 million.</a:t>
            </a:r>
          </a:p>
        </p:txBody>
      </p:sp>
    </p:spTree>
    <p:extLst>
      <p:ext uri="{BB962C8B-B14F-4D97-AF65-F5344CB8AC3E}">
        <p14:creationId xmlns:p14="http://schemas.microsoft.com/office/powerpoint/2010/main" val="1037163784"/>
      </p:ext>
    </p:extLst>
  </p:cSld>
  <p:clrMapOvr>
    <a:masterClrMapping/>
  </p:clrMapOvr>
  <p:transition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5931704-9575-49E8-8D56-9FDA2B93DD7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Other Data for Valuation Analysis</a:t>
            </a:r>
          </a:p>
        </p:txBody>
      </p:sp>
      <p:sp>
        <p:nvSpPr>
          <p:cNvPr id="5734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Company has no ST investments.</a:t>
            </a:r>
          </a:p>
          <a:p>
            <a:pPr eaLnBrk="1" hangingPunct="1"/>
            <a:r>
              <a:rPr lang="en-US" altLang="en-US"/>
              <a:t>Company has no preferred stock.</a:t>
            </a:r>
          </a:p>
          <a:p>
            <a:pPr eaLnBrk="1" hangingPunct="1"/>
            <a:r>
              <a:rPr lang="en-US" altLang="en-US"/>
              <a:t>100,000 shares outstanding</a:t>
            </a:r>
          </a:p>
        </p:txBody>
      </p:sp>
    </p:spTree>
    <p:extLst>
      <p:ext uri="{BB962C8B-B14F-4D97-AF65-F5344CB8AC3E}">
        <p14:creationId xmlns:p14="http://schemas.microsoft.com/office/powerpoint/2010/main" val="1508635920"/>
      </p:ext>
    </p:extLst>
  </p:cSld>
  <p:clrMapOvr>
    <a:masterClrMapping/>
  </p:clrMapOvr>
  <p:transition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Current Valuation Analysis</a:t>
            </a:r>
          </a:p>
        </p:txBody>
      </p:sp>
      <p:graphicFrame>
        <p:nvGraphicFramePr>
          <p:cNvPr id="390199" name="Group 5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5048960"/>
              </p:ext>
            </p:extLst>
          </p:nvPr>
        </p:nvGraphicFramePr>
        <p:xfrm>
          <a:off x="1447800" y="1752600"/>
          <a:ext cx="5924549" cy="3870582"/>
        </p:xfrm>
        <a:graphic>
          <a:graphicData uri="http://schemas.openxmlformats.org/drawingml/2006/table">
            <a:tbl>
              <a:tblPr/>
              <a:tblGrid>
                <a:gridCol w="31961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284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55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V</a:t>
                      </a:r>
                      <a:r>
                        <a:rPr kumimoji="0" lang="en-US" sz="3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op</a:t>
                      </a:r>
                      <a:endParaRPr kumimoji="0" lang="en-US" sz="3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55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+ ST Inv.</a:t>
                      </a:r>
                      <a:endParaRPr kumimoji="0" lang="en-US" sz="3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0</a:t>
                      </a:r>
                      <a:endParaRPr kumimoji="0" lang="en-US" sz="3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55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V</a:t>
                      </a:r>
                      <a:r>
                        <a:rPr kumimoji="0" lang="en-US" sz="30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Total</a:t>
                      </a:r>
                      <a:endParaRPr kumimoji="0" lang="en-US" sz="30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55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− Debt</a:t>
                      </a:r>
                      <a:endParaRPr kumimoji="0" lang="en-US" sz="3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0</a:t>
                      </a:r>
                      <a:endParaRPr kumimoji="0" lang="en-US" sz="3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55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S</a:t>
                      </a:r>
                      <a:endParaRPr kumimoji="0" 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027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÷</a:t>
                      </a:r>
                      <a:r>
                        <a:rPr kumimoji="0" lang="en-US" sz="3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n</a:t>
                      </a:r>
                    </a:p>
                  </a:txBody>
                  <a:tcPr marT="45693" marB="4569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10 </a:t>
                      </a:r>
                      <a:endParaRPr kumimoji="0" lang="en-US" sz="30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550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P</a:t>
                      </a:r>
                      <a:endParaRPr kumimoji="0" lang="en-US" sz="3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3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$25.00 </a:t>
                      </a:r>
                      <a:endParaRPr kumimoji="0" lang="en-US" sz="3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3" marB="4569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837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C2A38A61-0AF8-4433-A5F6-B3AE8257A96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626353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F05E81A-3F11-433C-ADB9-0E03BECE61E8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5939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200"/>
              <a:t>Investment bankers provided estimates of r</a:t>
            </a:r>
            <a:r>
              <a:rPr lang="en-US" altLang="en-US" sz="3200" baseline="-25000"/>
              <a:t>d</a:t>
            </a:r>
            <a:r>
              <a:rPr lang="en-US" altLang="en-US" sz="3200"/>
              <a:t> for different capital structures.</a:t>
            </a:r>
          </a:p>
        </p:txBody>
      </p:sp>
      <p:graphicFrame>
        <p:nvGraphicFramePr>
          <p:cNvPr id="386285" name="Group 237"/>
          <p:cNvGraphicFramePr>
            <a:graphicFrameLocks noGrp="1"/>
          </p:cNvGraphicFramePr>
          <p:nvPr>
            <p:ph idx="1"/>
          </p:nvPr>
        </p:nvGraphicFramePr>
        <p:xfrm>
          <a:off x="609600" y="1981200"/>
          <a:ext cx="7772400" cy="438944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0%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20%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30%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40%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50%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8.0%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8.5%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10.0%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12.0%</a:t>
                      </a: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3019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If company recapitalizes, it will use proceeds from debt issuance to repurchase stock.</a:t>
                      </a:r>
                    </a:p>
                  </a:txBody>
                  <a:tcPr marT="45723" marB="45723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6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23" marB="4572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33102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7D2C687-EB62-43AB-B024-7DEDA5D321B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0419" name="Rectangle 5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sz="3600"/>
              <a:t>The Cost of Equity at Different Levels of Debt: Hamada’s Formula</a:t>
            </a:r>
            <a:r>
              <a:rPr lang="en-US" altLang="en-US" sz="4000"/>
              <a:t> </a:t>
            </a:r>
          </a:p>
        </p:txBody>
      </p:sp>
      <p:sp>
        <p:nvSpPr>
          <p:cNvPr id="60420" name="Rectangle 6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MM theory implies that beta changes with leverage.</a:t>
            </a:r>
          </a:p>
          <a:p>
            <a:pPr eaLnBrk="1" hangingPunct="1"/>
            <a:r>
              <a:rPr lang="en-US" altLang="en-US"/>
              <a:t>b</a:t>
            </a:r>
            <a:r>
              <a:rPr lang="en-US" altLang="en-US" baseline="-25000"/>
              <a:t>U</a:t>
            </a:r>
            <a:r>
              <a:rPr lang="en-US" altLang="en-US"/>
              <a:t> is the beta of a firm when it has no debt (the unlevered beta)</a:t>
            </a:r>
          </a:p>
          <a:p>
            <a:pPr eaLnBrk="1" hangingPunct="1"/>
            <a:r>
              <a:rPr lang="en-US" altLang="en-US"/>
              <a:t>b = b</a:t>
            </a:r>
            <a:r>
              <a:rPr lang="en-US" altLang="en-US" baseline="-25000"/>
              <a:t>U</a:t>
            </a:r>
            <a:r>
              <a:rPr lang="en-US" altLang="en-US"/>
              <a:t> [1 + (1 - T)(w</a:t>
            </a:r>
            <a:r>
              <a:rPr lang="en-US" altLang="en-US" baseline="-25000"/>
              <a:t>d</a:t>
            </a:r>
            <a:r>
              <a:rPr lang="en-US" altLang="en-US"/>
              <a:t>/w</a:t>
            </a:r>
            <a:r>
              <a:rPr lang="en-US" altLang="en-US" baseline="-25000"/>
              <a:t>s</a:t>
            </a:r>
            <a:r>
              <a:rPr lang="en-US" altLang="en-US"/>
              <a:t>)]</a:t>
            </a:r>
          </a:p>
        </p:txBody>
      </p:sp>
    </p:spTree>
    <p:extLst>
      <p:ext uri="{BB962C8B-B14F-4D97-AF65-F5344CB8AC3E}">
        <p14:creationId xmlns:p14="http://schemas.microsoft.com/office/powerpoint/2010/main" val="3308416045"/>
      </p:ext>
    </p:extLst>
  </p:cSld>
  <p:clrMapOvr>
    <a:masterClrMapping/>
  </p:clrMapOvr>
  <p:transition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7DD1529-431A-42FB-8B96-042D0D60DB1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1443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Cost of Equity for w</a:t>
            </a:r>
            <a:r>
              <a:rPr lang="en-US" altLang="en-US" baseline="-25000"/>
              <a:t>d</a:t>
            </a:r>
            <a:r>
              <a:rPr lang="en-US" altLang="en-US"/>
              <a:t> = 20%</a:t>
            </a:r>
          </a:p>
        </p:txBody>
      </p:sp>
      <p:sp>
        <p:nvSpPr>
          <p:cNvPr id="61444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28650" y="1828800"/>
            <a:ext cx="8421687" cy="4840288"/>
          </a:xfrm>
        </p:spPr>
        <p:txBody>
          <a:bodyPr/>
          <a:lstStyle/>
          <a:p>
            <a:pPr eaLnBrk="1" hangingPunct="1"/>
            <a:r>
              <a:rPr lang="en-US" altLang="en-US" dirty="0"/>
              <a:t>Use Hamada’s equation to find beta: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     b</a:t>
            </a:r>
            <a:r>
              <a:rPr lang="en-US" altLang="en-US" baseline="-25000" dirty="0"/>
              <a:t> </a:t>
            </a:r>
            <a:r>
              <a:rPr lang="en-US" altLang="en-US" dirty="0"/>
              <a:t>= </a:t>
            </a:r>
            <a:r>
              <a:rPr lang="en-US" altLang="en-US" dirty="0" err="1"/>
              <a:t>b</a:t>
            </a:r>
            <a:r>
              <a:rPr lang="en-US" altLang="en-US" baseline="-25000" dirty="0" err="1"/>
              <a:t>U</a:t>
            </a:r>
            <a:r>
              <a:rPr lang="en-US" altLang="en-US" dirty="0"/>
              <a:t> [1 + (1 - T)(w</a:t>
            </a:r>
            <a:r>
              <a:rPr lang="en-US" altLang="en-US" baseline="-25000" dirty="0"/>
              <a:t>d</a:t>
            </a:r>
            <a:r>
              <a:rPr lang="en-US" altLang="en-US" dirty="0"/>
              <a:t>/</a:t>
            </a:r>
            <a:r>
              <a:rPr lang="en-US" altLang="en-US" dirty="0" err="1"/>
              <a:t>w</a:t>
            </a:r>
            <a:r>
              <a:rPr lang="en-US" altLang="en-US" baseline="-25000" dirty="0" err="1"/>
              <a:t>s</a:t>
            </a:r>
            <a:r>
              <a:rPr lang="en-US" altLang="en-US" dirty="0"/>
              <a:t>)]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 	     = 1.0 [1 + (1-0.4) (20% / 80%) ]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     = 1.15</a:t>
            </a:r>
          </a:p>
          <a:p>
            <a:pPr eaLnBrk="1" hangingPunct="1"/>
            <a:r>
              <a:rPr lang="en-US" altLang="en-US" dirty="0"/>
              <a:t>Use CAPM to find the cost of equity: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  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s</a:t>
            </a:r>
            <a:r>
              <a:rPr lang="en-US" altLang="en-US" dirty="0"/>
              <a:t>= </a:t>
            </a:r>
            <a:r>
              <a:rPr lang="en-US" altLang="en-US" dirty="0" err="1"/>
              <a:t>r</a:t>
            </a:r>
            <a:r>
              <a:rPr lang="en-US" altLang="en-US" baseline="-25000" dirty="0" err="1"/>
              <a:t>RF</a:t>
            </a:r>
            <a:r>
              <a:rPr lang="en-US" altLang="en-US" dirty="0"/>
              <a:t> + </a:t>
            </a:r>
            <a:r>
              <a:rPr lang="en-US" altLang="en-US" dirty="0" err="1"/>
              <a:t>b</a:t>
            </a:r>
            <a:r>
              <a:rPr lang="en-US" altLang="en-US" baseline="-25000" dirty="0" err="1"/>
              <a:t>L</a:t>
            </a:r>
            <a:r>
              <a:rPr lang="en-US" altLang="en-US" baseline="-25000" dirty="0"/>
              <a:t> </a:t>
            </a:r>
            <a:r>
              <a:rPr lang="en-US" altLang="en-US" dirty="0"/>
              <a:t>(RPM)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		= 6% + 1.15 (6%) = 12.9%</a:t>
            </a:r>
          </a:p>
        </p:txBody>
      </p:sp>
    </p:spTree>
    <p:extLst>
      <p:ext uri="{BB962C8B-B14F-4D97-AF65-F5344CB8AC3E}">
        <p14:creationId xmlns:p14="http://schemas.microsoft.com/office/powerpoint/2010/main" val="1292286869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03E8AA-6515-43FA-8F73-3D3634B92E6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2467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WACC for w</a:t>
            </a:r>
            <a:r>
              <a:rPr lang="en-US" altLang="en-US" baseline="-25000"/>
              <a:t>d</a:t>
            </a:r>
            <a:r>
              <a:rPr lang="en-US" altLang="en-US"/>
              <a:t> = 20%</a:t>
            </a:r>
          </a:p>
        </p:txBody>
      </p:sp>
      <p:sp>
        <p:nvSpPr>
          <p:cNvPr id="6246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WACC = w</a:t>
            </a:r>
            <a:r>
              <a:rPr lang="en-US" altLang="en-US" baseline="-25000"/>
              <a:t>d</a:t>
            </a:r>
            <a:r>
              <a:rPr lang="en-US" altLang="en-US"/>
              <a:t> (1-T) r</a:t>
            </a:r>
            <a:r>
              <a:rPr lang="en-US" altLang="en-US" baseline="-25000"/>
              <a:t>d</a:t>
            </a:r>
            <a:r>
              <a:rPr lang="en-US" altLang="en-US"/>
              <a:t>  +  w</a:t>
            </a:r>
            <a:r>
              <a:rPr lang="en-US" altLang="en-US" baseline="-25000"/>
              <a:t>ce</a:t>
            </a:r>
            <a:r>
              <a:rPr lang="en-US" altLang="en-US"/>
              <a:t> r</a:t>
            </a:r>
            <a:r>
              <a:rPr lang="en-US" altLang="en-US" baseline="-25000"/>
              <a:t>s</a:t>
            </a:r>
          </a:p>
          <a:p>
            <a:pPr eaLnBrk="1" hangingPunct="1"/>
            <a:r>
              <a:rPr lang="en-US" altLang="en-US"/>
              <a:t>WACC = 0.2 (1 – 0.4) (8%) + 0.8 (12.9%)</a:t>
            </a:r>
          </a:p>
          <a:p>
            <a:pPr eaLnBrk="1" hangingPunct="1"/>
            <a:r>
              <a:rPr lang="en-US" altLang="en-US"/>
              <a:t>WACC = 11.28%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Repeat this for all capital structures under consideration.</a:t>
            </a:r>
          </a:p>
        </p:txBody>
      </p:sp>
    </p:spTree>
    <p:extLst>
      <p:ext uri="{BB962C8B-B14F-4D97-AF65-F5344CB8AC3E}">
        <p14:creationId xmlns:p14="http://schemas.microsoft.com/office/powerpoint/2010/main" val="3477148202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29597EA7-FACD-4283-B651-F0C1E14D0216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Beta, r</a:t>
            </a:r>
            <a:r>
              <a:rPr lang="en-US" altLang="en-US" baseline="-25000"/>
              <a:t>s</a:t>
            </a:r>
            <a:r>
              <a:rPr lang="en-US" altLang="en-US"/>
              <a:t>, and WACC</a:t>
            </a:r>
          </a:p>
        </p:txBody>
      </p:sp>
      <p:graphicFrame>
        <p:nvGraphicFramePr>
          <p:cNvPr id="392310" name="Group 118"/>
          <p:cNvGraphicFramePr>
            <a:graphicFrameLocks noGrp="1"/>
          </p:cNvGraphicFramePr>
          <p:nvPr>
            <p:ph idx="1"/>
          </p:nvPr>
        </p:nvGraphicFramePr>
        <p:xfrm>
          <a:off x="609600" y="1981200"/>
          <a:ext cx="7772400" cy="4313299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20%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30%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40%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50%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8.5%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03" marB="45703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1.150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1.257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1.400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1.600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703" marB="45703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12.90%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13.54%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14.40%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15.60%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WACC</a:t>
                      </a:r>
                    </a:p>
                  </a:txBody>
                  <a:tcPr marT="45703" marB="45703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11.28%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11.01%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11.04%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11.40%</a:t>
                      </a:r>
                    </a:p>
                  </a:txBody>
                  <a:tcPr marT="45703" marB="45703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-2500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cap="flat"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47445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The WACC is minimized for 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 = 30%. This is the optimal capital structure.</a:t>
                      </a:r>
                    </a:p>
                  </a:txBody>
                  <a:tcPr marT="45703" marB="45703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1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3" marB="45703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58982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415BD10-FDDD-4A3F-8311-D2C2682744B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451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Corporate Value for w</a:t>
            </a:r>
            <a:r>
              <a:rPr lang="en-US" altLang="en-US" baseline="-25000"/>
              <a:t>d</a:t>
            </a:r>
            <a:r>
              <a:rPr lang="en-US" altLang="en-US"/>
              <a:t> = 20%</a:t>
            </a:r>
          </a:p>
        </p:txBody>
      </p:sp>
      <p:sp>
        <p:nvSpPr>
          <p:cNvPr id="64516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/>
              <a:t>V</a:t>
            </a:r>
            <a:r>
              <a:rPr lang="en-US" altLang="en-US" sz="2800" baseline="-25000"/>
              <a:t>op</a:t>
            </a:r>
            <a:r>
              <a:rPr lang="en-US" altLang="en-US" sz="2800"/>
              <a:t> = [FCF(1+g)]/(WACC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− </a:t>
            </a:r>
            <a:r>
              <a:rPr lang="en-US" altLang="en-US" sz="2800"/>
              <a:t>g)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bg1"/>
                </a:solidFill>
              </a:rPr>
              <a:t>	V</a:t>
            </a:r>
            <a:r>
              <a:rPr lang="en-US" altLang="en-US" sz="2800" baseline="-25000">
                <a:solidFill>
                  <a:schemeClr val="bg1"/>
                </a:solidFill>
              </a:rPr>
              <a:t>op</a:t>
            </a:r>
            <a:r>
              <a:rPr lang="en-US" altLang="en-US" sz="2800">
                <a:solidFill>
                  <a:schemeClr val="bg1"/>
                </a:solidFill>
              </a:rPr>
              <a:t> </a:t>
            </a:r>
            <a:r>
              <a:rPr lang="en-US" altLang="en-US" sz="2800"/>
              <a:t>= [$30(1+0)]/(0.1128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− 0)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bg1"/>
                </a:solidFill>
              </a:rPr>
              <a:t>	V</a:t>
            </a:r>
            <a:r>
              <a:rPr lang="en-US" altLang="en-US" sz="2800" baseline="-25000">
                <a:solidFill>
                  <a:schemeClr val="bg1"/>
                </a:solidFill>
              </a:rPr>
              <a:t>op</a:t>
            </a:r>
            <a:r>
              <a:rPr lang="en-US" altLang="en-US" sz="2800">
                <a:solidFill>
                  <a:schemeClr val="bg1"/>
                </a:solidFill>
              </a:rPr>
              <a:t> </a:t>
            </a:r>
            <a:r>
              <a:rPr lang="en-US" altLang="en-US" sz="2800"/>
              <a:t>= $265.96 million.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2800"/>
              <a:t>Debt = D</a:t>
            </a:r>
            <a:r>
              <a:rPr lang="en-US" altLang="en-US" sz="2800" baseline="-25000"/>
              <a:t>New</a:t>
            </a:r>
            <a:r>
              <a:rPr lang="en-US" altLang="en-US" sz="2800"/>
              <a:t> = w</a:t>
            </a:r>
            <a:r>
              <a:rPr lang="en-US" altLang="en-US" sz="2800" baseline="-25000"/>
              <a:t>d</a:t>
            </a:r>
            <a:r>
              <a:rPr lang="en-US" altLang="en-US" sz="2800"/>
              <a:t> V</a:t>
            </a:r>
            <a:r>
              <a:rPr lang="en-US" altLang="en-US" sz="2800" baseline="-25000"/>
              <a:t>op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bg1"/>
                </a:solidFill>
              </a:rPr>
              <a:t>	Debt </a:t>
            </a:r>
            <a:r>
              <a:rPr lang="en-US" altLang="en-US" sz="2800"/>
              <a:t>= 0.20(265.96) = $53.19 million.</a:t>
            </a:r>
          </a:p>
          <a:p>
            <a:pPr eaLnBrk="1" hangingPunct="1">
              <a:lnSpc>
                <a:spcPct val="115000"/>
              </a:lnSpc>
            </a:pPr>
            <a:r>
              <a:rPr lang="en-US" altLang="en-US" sz="2800"/>
              <a:t>Equity = S = w</a:t>
            </a:r>
            <a:r>
              <a:rPr lang="en-US" altLang="en-US" sz="2800" baseline="-25000"/>
              <a:t>s</a:t>
            </a:r>
            <a:r>
              <a:rPr lang="en-US" altLang="en-US" sz="2800"/>
              <a:t> V</a:t>
            </a:r>
            <a:r>
              <a:rPr lang="en-US" altLang="en-US" sz="2800" baseline="-25000"/>
              <a:t>op</a:t>
            </a:r>
          </a:p>
          <a:p>
            <a:pPr eaLnBrk="1" hangingPunct="1">
              <a:lnSpc>
                <a:spcPct val="115000"/>
              </a:lnSpc>
              <a:buFont typeface="Wingdings" panose="05000000000000000000" pitchFamily="2" charset="2"/>
              <a:buNone/>
            </a:pPr>
            <a:r>
              <a:rPr lang="en-US" altLang="en-US" sz="2800">
                <a:solidFill>
                  <a:schemeClr val="bg1"/>
                </a:solidFill>
              </a:rPr>
              <a:t>	Equity</a:t>
            </a:r>
            <a:r>
              <a:rPr lang="en-US" altLang="en-US" sz="2800"/>
              <a:t> = 0.80(265.96) = $212.77 million.</a:t>
            </a:r>
          </a:p>
        </p:txBody>
      </p:sp>
    </p:spTree>
    <p:extLst>
      <p:ext uri="{BB962C8B-B14F-4D97-AF65-F5344CB8AC3E}">
        <p14:creationId xmlns:p14="http://schemas.microsoft.com/office/powerpoint/2010/main" val="409987124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E4DDF0D-8CDC-4F5D-9E45-A0B5E7A1AC4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Value of Operations, Debt, and Equity</a:t>
            </a:r>
          </a:p>
        </p:txBody>
      </p:sp>
      <p:graphicFrame>
        <p:nvGraphicFramePr>
          <p:cNvPr id="393374" name="Group 158"/>
          <p:cNvGraphicFramePr>
            <a:graphicFrameLocks noGrp="1"/>
          </p:cNvGraphicFramePr>
          <p:nvPr>
            <p:ph idx="1"/>
          </p:nvPr>
        </p:nvGraphicFramePr>
        <p:xfrm>
          <a:off x="609600" y="1981200"/>
          <a:ext cx="7772400" cy="4327720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698" marB="45698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20%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30%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40%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50%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698" marB="45698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8.5%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698" marB="4569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698" marB="4569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1.150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1.257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1.400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1.600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698" marB="4569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12.90%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13.54%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14.40%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15.60%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WACC</a:t>
                      </a:r>
                    </a:p>
                  </a:txBody>
                  <a:tcPr marT="45698" marB="45698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11.28%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11.01%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11.04%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11.40%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op</a:t>
                      </a:r>
                    </a:p>
                  </a:txBody>
                  <a:tcPr marT="45698" marB="45698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$250.00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$265.96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$272.48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$271.74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$263.16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698" marB="45698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$0.00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$53.19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$81.74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$108.70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$131.58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17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698" marB="45698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$250.00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$212.77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$190.74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$163.04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$131.58 </a:t>
                      </a:r>
                    </a:p>
                  </a:txBody>
                  <a:tcPr marT="45698" marB="45698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761917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endParaRPr kumimoji="0" lang="en-US" sz="2000" b="1" i="0" u="none" strike="noStrike" cap="none" normalizeH="0" baseline="0">
                        <a:ln>
                          <a:noFill/>
                        </a:ln>
                        <a:solidFill>
                          <a:schemeClr val="tx2"/>
                        </a:solidFill>
                        <a:effectLst/>
                        <a:latin typeface="Tahoma" pitchFamily="34" charset="0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Value of operations is maximized at 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 = 30%.</a:t>
                      </a:r>
                    </a:p>
                  </a:txBody>
                  <a:tcPr marT="45698" marB="45698" horzOverflow="overflow">
                    <a:lnL cap="flat">
                      <a:noFill/>
                    </a:lnL>
                    <a:lnR cap="flat">
                      <a:noFill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30499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200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Anatomy of a Recap: Before Issuing Debt</a:t>
            </a:r>
          </a:p>
        </p:txBody>
      </p:sp>
      <p:graphicFrame>
        <p:nvGraphicFramePr>
          <p:cNvPr id="310683" name="Group 411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85618838"/>
              </p:ext>
            </p:extLst>
          </p:nvPr>
        </p:nvGraphicFramePr>
        <p:xfrm>
          <a:off x="628650" y="1676400"/>
          <a:ext cx="7886699" cy="4595899"/>
        </p:xfrm>
        <a:graphic>
          <a:graphicData uri="http://schemas.openxmlformats.org/drawingml/2006/table">
            <a:tbl>
              <a:tblPr/>
              <a:tblGrid>
                <a:gridCol w="4451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34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5227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 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Before Debt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7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V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op</a:t>
                      </a:r>
                      <a:endParaRPr kumimoji="0" lang="en-US" sz="2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7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+ ST Inv.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 0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7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</a:t>
                      </a:r>
                      <a:r>
                        <a:rPr kumimoji="0" lang="en-US" sz="22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V</a:t>
                      </a:r>
                      <a:r>
                        <a:rPr kumimoji="0" lang="en-US" sz="2200" b="0" i="0" u="none" strike="noStrike" cap="none" normalizeH="0" baseline="-25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0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7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− Debt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 0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67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S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58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÷</a:t>
                      </a: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n</a:t>
                      </a:r>
                    </a:p>
                  </a:txBody>
                  <a:tcPr marT="45704" marB="4570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10 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67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P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$25.00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67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 shareholder</a:t>
                      </a:r>
                    </a:p>
                  </a:txBody>
                  <a:tcPr marT="45704" marB="45704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67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wealth: S + Cash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704" marB="45704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656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803826A-F070-4F02-9907-E9769D2E0A54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1129748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7A92F5-1EF8-4410-86CE-18F18D33AB75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Issue Debt (w</a:t>
            </a:r>
            <a:r>
              <a:rPr lang="en-US" altLang="en-US" baseline="-25000"/>
              <a:t>d</a:t>
            </a:r>
            <a:r>
              <a:rPr lang="en-US" altLang="en-US"/>
              <a:t> = 20%), But Before Repurchase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WACC decreases to 11.28%.</a:t>
            </a:r>
          </a:p>
          <a:p>
            <a:pPr eaLnBrk="1" hangingPunct="1"/>
            <a:r>
              <a:rPr lang="en-US" altLang="en-US"/>
              <a:t>V</a:t>
            </a:r>
            <a:r>
              <a:rPr lang="en-US" altLang="en-US" baseline="-25000"/>
              <a:t>op</a:t>
            </a:r>
            <a:r>
              <a:rPr lang="en-US" altLang="en-US"/>
              <a:t> increases to $265.9574.</a:t>
            </a:r>
          </a:p>
          <a:p>
            <a:pPr eaLnBrk="1" hangingPunct="1"/>
            <a:r>
              <a:rPr lang="en-US" altLang="en-US"/>
              <a:t>Firm temporarily has short-term investments of $53.1915 (until it uses these funds to repurchase stock).</a:t>
            </a:r>
          </a:p>
          <a:p>
            <a:pPr eaLnBrk="1" hangingPunct="1"/>
            <a:r>
              <a:rPr lang="en-US" altLang="en-US"/>
              <a:t>Debt is now $53.1915.</a:t>
            </a:r>
          </a:p>
        </p:txBody>
      </p:sp>
    </p:spTree>
    <p:extLst>
      <p:ext uri="{BB962C8B-B14F-4D97-AF65-F5344CB8AC3E}">
        <p14:creationId xmlns:p14="http://schemas.microsoft.com/office/powerpoint/2010/main" val="247770666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Anatomy of a Recap: After Debt, but Before Repurchase</a:t>
            </a:r>
          </a:p>
        </p:txBody>
      </p:sp>
      <p:graphicFrame>
        <p:nvGraphicFramePr>
          <p:cNvPr id="332882" name="Group 82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56397752"/>
              </p:ext>
            </p:extLst>
          </p:nvPr>
        </p:nvGraphicFramePr>
        <p:xfrm>
          <a:off x="628650" y="1676400"/>
          <a:ext cx="7886699" cy="4632540"/>
        </p:xfrm>
        <a:graphic>
          <a:graphicData uri="http://schemas.openxmlformats.org/drawingml/2006/table">
            <a:tbl>
              <a:tblPr/>
              <a:tblGrid>
                <a:gridCol w="30852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05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0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1919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 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Before Debt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After Debt, </a:t>
                      </a: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Before Rep.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V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op</a:t>
                      </a:r>
                      <a:endParaRPr kumimoji="0" lang="en-US" sz="2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$265.96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+ ST Inv.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 0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53.19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V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$319.15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− Debt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 0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53.19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S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$265.96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37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÷</a:t>
                      </a: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n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10 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10 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P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$25.00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$26.60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 shareholder</a:t>
                      </a:r>
                    </a:p>
                  </a:txBody>
                  <a:tcPr marT="45699" marB="45699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wealth: S + Cash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$265.96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6861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7BEDA9C-81D4-4F0D-93D8-776D07886DF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3866198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0D3D371-061B-4A5A-B292-A7878D9BE667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After Issuing Debt, Before Repurchasing Stock</a:t>
            </a:r>
          </a:p>
        </p:txBody>
      </p:sp>
      <p:sp>
        <p:nvSpPr>
          <p:cNvPr id="6963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Stock price increases from $25.00 to $26.60.</a:t>
            </a:r>
          </a:p>
          <a:p>
            <a:pPr eaLnBrk="1" hangingPunct="1"/>
            <a:r>
              <a:rPr lang="en-US" altLang="en-US"/>
              <a:t>Wealth of shareholders (due to ownership of equity) increases from </a:t>
            </a:r>
            <a:r>
              <a:rPr lang="en-US" altLang="en-US">
                <a:cs typeface="Times New Roman" panose="02020603050405020304" pitchFamily="18" charset="0"/>
              </a:rPr>
              <a:t>$250 million to $265.96 million.</a:t>
            </a:r>
            <a:r>
              <a:rPr lang="en-US" altLang="en-US" sz="2600"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81982763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The Repurchase: No Effect on Stock Price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announcement of an intended repurchase might send a signal that affects stock price, and the previous change in capital structure affects stock price, but the repurchase itself has no impact on stock price.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If investors thought that the repurchase would increase the stock price, they would all purchase stock the day before, which would drive up its price.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400" dirty="0"/>
              <a:t>If investors thought that the repurchase would decrease the stock price, they would all sell short the stock the day before, which would drive down the stock price.</a:t>
            </a:r>
          </a:p>
        </p:txBody>
      </p:sp>
      <p:sp>
        <p:nvSpPr>
          <p:cNvPr id="7065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340BC378-F6F5-400F-B214-71BAA1CCA7A3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97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0977421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1451627C-1C6D-40B8-B490-DD3A159DCF2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98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Remaining Number of Shares After Repurchase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D</a:t>
            </a:r>
            <a:r>
              <a:rPr lang="en-US" altLang="en-US" sz="2800" baseline="-25000"/>
              <a:t>Old</a:t>
            </a:r>
            <a:r>
              <a:rPr lang="en-US" altLang="en-US" sz="2800"/>
              <a:t> is amount of debt the firm initially has, D</a:t>
            </a:r>
            <a:r>
              <a:rPr lang="en-US" altLang="en-US" sz="2800" baseline="-25000"/>
              <a:t>New</a:t>
            </a:r>
            <a:r>
              <a:rPr lang="en-US" altLang="en-US" sz="2800"/>
              <a:t> is amount after issuing new debt.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If all new debt is used to repurchase shares, then total dollars used equals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 (D</a:t>
            </a:r>
            <a:r>
              <a:rPr lang="en-US" altLang="en-US" sz="2400" baseline="-25000"/>
              <a:t>New</a:t>
            </a:r>
            <a:r>
              <a:rPr lang="en-US" altLang="en-US" sz="2400"/>
              <a:t> – D</a:t>
            </a:r>
            <a:r>
              <a:rPr lang="en-US" altLang="en-US" sz="2400" baseline="-25000"/>
              <a:t>Old</a:t>
            </a:r>
            <a:r>
              <a:rPr lang="en-US" altLang="en-US" sz="2400"/>
              <a:t>) = ($53.19 - $0) = $53.19.</a:t>
            </a:r>
            <a:endParaRPr lang="en-US" altLang="en-US" sz="2400" baseline="-25000"/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n</a:t>
            </a:r>
            <a:r>
              <a:rPr lang="en-US" altLang="en-US" sz="2800" baseline="-25000"/>
              <a:t>Prior</a:t>
            </a:r>
            <a:r>
              <a:rPr lang="en-US" altLang="en-US" sz="2800"/>
              <a:t> is number of shares before repurchase, n</a:t>
            </a:r>
            <a:r>
              <a:rPr lang="en-US" altLang="en-US" sz="2800" baseline="-25000"/>
              <a:t>Post</a:t>
            </a:r>
            <a:r>
              <a:rPr lang="en-US" altLang="en-US" sz="2800"/>
              <a:t> is number after.  Total shares remaining: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/>
              <a:t>n</a:t>
            </a:r>
            <a:r>
              <a:rPr lang="en-US" altLang="en-US" sz="2400" baseline="-25000"/>
              <a:t>Post</a:t>
            </a:r>
            <a:r>
              <a:rPr lang="en-US" altLang="en-US" sz="2400"/>
              <a:t> = n</a:t>
            </a:r>
            <a:r>
              <a:rPr lang="en-US" altLang="en-US" sz="2400" baseline="-25000"/>
              <a:t>Prior</a:t>
            </a:r>
            <a:r>
              <a:rPr lang="en-US" altLang="en-US" sz="2400"/>
              <a:t> – (D</a:t>
            </a:r>
            <a:r>
              <a:rPr lang="en-US" altLang="en-US" sz="2400" baseline="-25000"/>
              <a:t>New</a:t>
            </a:r>
            <a:r>
              <a:rPr lang="en-US" altLang="en-US" sz="2400"/>
              <a:t> – D</a:t>
            </a:r>
            <a:r>
              <a:rPr lang="en-US" altLang="en-US" sz="2400" baseline="-25000"/>
              <a:t>Old</a:t>
            </a:r>
            <a:r>
              <a:rPr lang="en-US" altLang="en-US" sz="2400"/>
              <a:t>)/P 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bg1"/>
                </a:solidFill>
              </a:rPr>
              <a:t>	n</a:t>
            </a:r>
            <a:r>
              <a:rPr lang="en-US" altLang="en-US" sz="2400" baseline="-25000">
                <a:solidFill>
                  <a:schemeClr val="bg1"/>
                </a:solidFill>
              </a:rPr>
              <a:t>Post</a:t>
            </a:r>
            <a:r>
              <a:rPr lang="en-US" altLang="en-US" sz="2400">
                <a:solidFill>
                  <a:schemeClr val="bg1"/>
                </a:solidFill>
              </a:rPr>
              <a:t> </a:t>
            </a:r>
            <a:r>
              <a:rPr lang="en-US" altLang="en-US" sz="2400"/>
              <a:t>= 10 – ($53.19/$26.60)</a:t>
            </a:r>
          </a:p>
          <a:p>
            <a:pPr lvl="1"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solidFill>
                  <a:schemeClr val="bg1"/>
                </a:solidFill>
              </a:rPr>
              <a:t>	n</a:t>
            </a:r>
            <a:r>
              <a:rPr lang="en-US" altLang="en-US" sz="2400" baseline="-25000">
                <a:solidFill>
                  <a:schemeClr val="bg1"/>
                </a:solidFill>
              </a:rPr>
              <a:t>Post</a:t>
            </a:r>
            <a:r>
              <a:rPr lang="en-US" altLang="en-US" sz="2400">
                <a:solidFill>
                  <a:schemeClr val="bg1"/>
                </a:solidFill>
              </a:rPr>
              <a:t> </a:t>
            </a:r>
            <a:r>
              <a:rPr lang="en-US" altLang="en-US" sz="2400"/>
              <a:t>= 8 million.</a:t>
            </a:r>
          </a:p>
        </p:txBody>
      </p:sp>
      <p:sp>
        <p:nvSpPr>
          <p:cNvPr id="71685" name="Text Box 4"/>
          <p:cNvSpPr txBox="1">
            <a:spLocks noChangeArrowheads="1"/>
          </p:cNvSpPr>
          <p:nvPr/>
        </p:nvSpPr>
        <p:spPr bwMode="auto">
          <a:xfrm>
            <a:off x="838200" y="6248400"/>
            <a:ext cx="7543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(Ignore rounding differences; see </a:t>
            </a: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Ch15 Mini Case.xls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for actual calculations).</a:t>
            </a:r>
          </a:p>
        </p:txBody>
      </p:sp>
    </p:spTree>
    <p:extLst>
      <p:ext uri="{BB962C8B-B14F-4D97-AF65-F5344CB8AC3E}">
        <p14:creationId xmlns:p14="http://schemas.microsoft.com/office/powerpoint/2010/main" val="3845126620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Anatomy of a Recap: After Rupurchase</a:t>
            </a:r>
          </a:p>
        </p:txBody>
      </p:sp>
      <p:graphicFrame>
        <p:nvGraphicFramePr>
          <p:cNvPr id="336994" name="Group 9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7811561"/>
              </p:ext>
            </p:extLst>
          </p:nvPr>
        </p:nvGraphicFramePr>
        <p:xfrm>
          <a:off x="628650" y="1676400"/>
          <a:ext cx="7886698" cy="4632540"/>
        </p:xfrm>
        <a:graphic>
          <a:graphicData uri="http://schemas.openxmlformats.org/drawingml/2006/table">
            <a:tbl>
              <a:tblPr/>
              <a:tblGrid>
                <a:gridCol w="23792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5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4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61919">
                <a:tc>
                  <a:txBody>
                    <a:bodyPr/>
                    <a:lstStyle/>
                    <a:p>
                      <a:pPr marL="342900" marR="0" lvl="0" indent="-34290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 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Before Debt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After Debt, </a:t>
                      </a: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Before Rep.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After Rep.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V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op</a:t>
                      </a:r>
                      <a:endParaRPr kumimoji="0" lang="en-US" sz="2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$265.96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$265.96</a:t>
                      </a: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+ ST Inv.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 0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53.19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 0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V</a:t>
                      </a:r>
                      <a:r>
                        <a:rPr kumimoji="0" lang="en-US" sz="22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Total</a:t>
                      </a:r>
                      <a:endParaRPr kumimoji="0" lang="en-US" sz="2200" b="0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$319.15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$265.96</a:t>
                      </a: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− Debt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 0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53.19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53.19</a:t>
                      </a: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S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$265.96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$212.77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137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Arial" charset="0"/>
                        </a:rPr>
                        <a:t>÷</a:t>
                      </a: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n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 10 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  10 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sng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      8 </a:t>
                      </a:r>
                      <a:endParaRPr kumimoji="0" lang="en-US" sz="2200" b="0" i="0" u="sng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   P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$25.00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$26.60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$26.60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Total shareholder</a:t>
                      </a:r>
                    </a:p>
                  </a:txBody>
                  <a:tcPr marT="45699" marB="45699" anchor="b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6659"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wealth: S + Cash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$250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$265.96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cs typeface="Times New Roman" pitchFamily="18" charset="0"/>
                        </a:rPr>
                        <a:t>$265.96 </a:t>
                      </a:r>
                      <a:endParaRPr kumimoji="0" lang="en-US" sz="2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</a:endParaRPr>
                    </a:p>
                  </a:txBody>
                  <a:tcPr marT="45699" marB="45699" anchor="b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270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85DC016-2C45-45DC-B29B-DA47A3DBAB70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99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8349057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D9DF605F-BA9B-4400-BA66-CCF545157ECE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100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Key Points</a:t>
            </a:r>
          </a:p>
        </p:txBody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800"/>
              <a:t>ST investments fall because they are used to repurchase stock.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Stock price is unchanged.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Value of equity falls from </a:t>
            </a:r>
            <a:r>
              <a:rPr lang="en-US" altLang="en-US" sz="2800">
                <a:cs typeface="Times New Roman" panose="02020603050405020304" pitchFamily="18" charset="0"/>
              </a:rPr>
              <a:t>$265.96 to $212.77</a:t>
            </a:r>
            <a:r>
              <a:rPr lang="en-US" altLang="en-US" sz="2800"/>
              <a:t> because firm no longer owns the ST investments.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/>
              <a:t>Wealth of shareholders remains at </a:t>
            </a:r>
            <a:r>
              <a:rPr lang="en-US" altLang="en-US" sz="2800">
                <a:cs typeface="Times New Roman" panose="02020603050405020304" pitchFamily="18" charset="0"/>
              </a:rPr>
              <a:t>$265.96 because shareholders now directly own the funds that were held by firm in ST investments.</a:t>
            </a:r>
            <a:endParaRPr lang="en-US" altLang="en-US" sz="2800"/>
          </a:p>
          <a:p>
            <a:pPr eaLnBrk="1" hangingPunct="1">
              <a:lnSpc>
                <a:spcPct val="80000"/>
              </a:lnSpc>
            </a:pP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287193158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683A402-92BB-4860-8DFB-B43E668B79A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101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Intrinsic Stock Price Maximized at Optimal Capital Structure</a:t>
            </a:r>
          </a:p>
        </p:txBody>
      </p:sp>
      <p:graphicFrame>
        <p:nvGraphicFramePr>
          <p:cNvPr id="395391" name="Group 127"/>
          <p:cNvGraphicFramePr>
            <a:graphicFrameLocks noGrp="1"/>
          </p:cNvGraphicFramePr>
          <p:nvPr>
            <p:ph idx="1"/>
          </p:nvPr>
        </p:nvGraphicFramePr>
        <p:xfrm>
          <a:off x="609600" y="1981200"/>
          <a:ext cx="7772400" cy="4359278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20%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30%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40%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50%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0.0%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8.5%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10.0%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70%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60%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b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1.000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1.150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1.257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1.400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1.600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r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12.90%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13.54%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14.40%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15.60%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WACC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12.00%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11.28%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11.01%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11.04%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11.40%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V</a:t>
                      </a:r>
                      <a:r>
                        <a:rPr kumimoji="0" lang="en-US" sz="20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op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$250.00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$265.96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$272.48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$271.74 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$263.16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D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$0.00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$53.19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$81.74 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$108.70 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$131.58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S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$250.00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$212.77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$190.74 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$163.04 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$131.58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n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10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8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7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6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5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62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P</a:t>
                      </a:r>
                    </a:p>
                  </a:txBody>
                  <a:tcPr marT="45727" marB="45727" horzOverflow="overflow">
                    <a:lnL cap="flat"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$25.00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$26.60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2"/>
                          </a:solidFill>
                          <a:effectLst/>
                          <a:latin typeface="Tahoma" pitchFamily="34" charset="0"/>
                        </a:rPr>
                        <a:t>$27.25</a:t>
                      </a: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 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$27.17 </a:t>
                      </a:r>
                    </a:p>
                  </a:txBody>
                  <a:tcPr marT="45727" marB="45727" horzOverflow="overflow">
                    <a:lnL w="381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</a:rPr>
                        <a:t>$26.32 </a:t>
                      </a:r>
                    </a:p>
                  </a:txBody>
                  <a:tcPr marT="45727" marB="45727" horzOverflow="overflow">
                    <a:lnL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857607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87E0B48-8AA9-4CCE-9EE6-1F60BFE07B3A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102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Shortcuts</a:t>
            </a:r>
          </a:p>
        </p:txBody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corporate valuation approach will always give the correct answer, but there are some shortcuts for finding S, P, and n.</a:t>
            </a:r>
          </a:p>
          <a:p>
            <a:pPr eaLnBrk="1" hangingPunct="1"/>
            <a:r>
              <a:rPr lang="en-US" altLang="en-US"/>
              <a:t>Shortcuts on next slides.</a:t>
            </a:r>
          </a:p>
        </p:txBody>
      </p:sp>
    </p:spTree>
    <p:extLst>
      <p:ext uri="{BB962C8B-B14F-4D97-AF65-F5344CB8AC3E}">
        <p14:creationId xmlns:p14="http://schemas.microsoft.com/office/powerpoint/2010/main" val="220143283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078B232-B462-4B12-A4E8-33446773CC51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103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Calculating S, the Value of Equity after the Recap</a:t>
            </a:r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 = (1 – w</a:t>
            </a:r>
            <a:r>
              <a:rPr lang="en-US" altLang="en-US" baseline="-25000"/>
              <a:t>d</a:t>
            </a:r>
            <a:r>
              <a:rPr lang="en-US" altLang="en-US"/>
              <a:t>) V</a:t>
            </a:r>
            <a:r>
              <a:rPr lang="en-US" altLang="en-US" baseline="-25000"/>
              <a:t>op</a:t>
            </a:r>
            <a:endParaRPr lang="en-US" altLang="en-US"/>
          </a:p>
          <a:p>
            <a:pPr eaLnBrk="1" hangingPunct="1"/>
            <a:r>
              <a:rPr lang="en-US" altLang="en-US"/>
              <a:t>At w</a:t>
            </a:r>
            <a:r>
              <a:rPr lang="en-US" altLang="en-US" baseline="-25000"/>
              <a:t>d</a:t>
            </a:r>
            <a:r>
              <a:rPr lang="en-US" altLang="en-US"/>
              <a:t> = 20%:</a:t>
            </a:r>
          </a:p>
          <a:p>
            <a:pPr eaLnBrk="1" hangingPunct="1"/>
            <a:r>
              <a:rPr lang="en-US" altLang="en-US"/>
              <a:t>S = (1 – 0.20) </a:t>
            </a:r>
            <a:r>
              <a:rPr lang="en-US" altLang="en-US">
                <a:cs typeface="Times New Roman" panose="02020603050405020304" pitchFamily="18" charset="0"/>
              </a:rPr>
              <a:t>$265.96</a:t>
            </a:r>
          </a:p>
          <a:p>
            <a:pPr eaLnBrk="1" hangingPunct="1"/>
            <a:r>
              <a:rPr lang="en-US" altLang="en-US">
                <a:cs typeface="Times New Roman" panose="02020603050405020304" pitchFamily="18" charset="0"/>
              </a:rPr>
              <a:t>S = $212.77.</a:t>
            </a:r>
          </a:p>
        </p:txBody>
      </p:sp>
      <p:sp>
        <p:nvSpPr>
          <p:cNvPr id="76805" name="Text Box 4"/>
          <p:cNvSpPr txBox="1">
            <a:spLocks noChangeArrowheads="1"/>
          </p:cNvSpPr>
          <p:nvPr/>
        </p:nvSpPr>
        <p:spPr bwMode="auto">
          <a:xfrm>
            <a:off x="838200" y="6248400"/>
            <a:ext cx="7543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(Ignore rounding differences; see </a:t>
            </a:r>
            <a:r>
              <a:rPr kumimoji="0" lang="en-US" alt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Ch15 Mini Case.xls</a:t>
            </a: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t> for actual calculations).</a:t>
            </a:r>
          </a:p>
        </p:txBody>
      </p:sp>
    </p:spTree>
    <p:extLst>
      <p:ext uri="{BB962C8B-B14F-4D97-AF65-F5344CB8AC3E}">
        <p14:creationId xmlns:p14="http://schemas.microsoft.com/office/powerpoint/2010/main" val="1142514899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6996086-D58C-41E4-B70C-158213605F2C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104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7827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Number of Shares after a  Repurchase, n</a:t>
            </a:r>
            <a:r>
              <a:rPr lang="en-US" altLang="en-US" baseline="-25000"/>
              <a:t>Post</a:t>
            </a:r>
          </a:p>
        </p:txBody>
      </p:sp>
      <p:sp>
        <p:nvSpPr>
          <p:cNvPr id="77828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At w</a:t>
            </a:r>
            <a:r>
              <a:rPr lang="en-US" altLang="en-US" baseline="-25000"/>
              <a:t>d</a:t>
            </a:r>
            <a:r>
              <a:rPr lang="en-US" altLang="en-US"/>
              <a:t> = 20%:</a:t>
            </a:r>
          </a:p>
          <a:p>
            <a:pPr eaLnBrk="1" hangingPunct="1"/>
            <a:r>
              <a:rPr lang="en-US" altLang="en-US"/>
              <a:t>n</a:t>
            </a:r>
            <a:r>
              <a:rPr lang="en-US" altLang="en-US" baseline="-25000"/>
              <a:t>Post</a:t>
            </a:r>
            <a:r>
              <a:rPr lang="en-US" altLang="en-US"/>
              <a:t> = n</a:t>
            </a:r>
            <a:r>
              <a:rPr lang="en-US" altLang="en-US" baseline="-25000"/>
              <a:t>Prior</a:t>
            </a:r>
            <a:r>
              <a:rPr lang="en-US" altLang="en-US"/>
              <a:t>(V</a:t>
            </a:r>
            <a:r>
              <a:rPr lang="en-US" altLang="en-US" baseline="-25000"/>
              <a:t>opNew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en-US"/>
              <a:t>D</a:t>
            </a:r>
            <a:r>
              <a:rPr lang="en-US" altLang="en-US" baseline="-25000"/>
              <a:t>New</a:t>
            </a:r>
            <a:r>
              <a:rPr lang="en-US" altLang="en-US"/>
              <a:t>)/(V</a:t>
            </a:r>
            <a:r>
              <a:rPr lang="en-US" altLang="en-US" baseline="-25000"/>
              <a:t>opNew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en-US"/>
              <a:t>D</a:t>
            </a:r>
            <a:r>
              <a:rPr lang="en-US" altLang="en-US" baseline="-25000"/>
              <a:t>Old</a:t>
            </a:r>
            <a:r>
              <a:rPr lang="en-US" altLang="en-US"/>
              <a:t>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bg1"/>
                </a:solidFill>
              </a:rPr>
              <a:t>	n</a:t>
            </a:r>
            <a:r>
              <a:rPr lang="en-US" altLang="en-US" baseline="-25000">
                <a:solidFill>
                  <a:schemeClr val="bg1"/>
                </a:solidFill>
              </a:rPr>
              <a:t>Post</a:t>
            </a:r>
            <a:r>
              <a:rPr lang="en-US" altLang="en-US">
                <a:solidFill>
                  <a:schemeClr val="bg1"/>
                </a:solidFill>
              </a:rPr>
              <a:t> </a:t>
            </a:r>
            <a:r>
              <a:rPr lang="en-US" altLang="en-US"/>
              <a:t>= </a:t>
            </a:r>
            <a:r>
              <a:rPr lang="en-US" altLang="en-US" sz="2800"/>
              <a:t>10(</a:t>
            </a:r>
            <a:r>
              <a:rPr lang="en-US" altLang="en-US" sz="2800">
                <a:cs typeface="Times New Roman" panose="02020603050405020304" pitchFamily="18" charset="0"/>
              </a:rPr>
              <a:t>$265.96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en-US" sz="2800">
                <a:cs typeface="Times New Roman" panose="02020603050405020304" pitchFamily="18" charset="0"/>
              </a:rPr>
              <a:t>$53.19)/($265.96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en-US" sz="2800">
                <a:cs typeface="Times New Roman" panose="02020603050405020304" pitchFamily="18" charset="0"/>
              </a:rPr>
              <a:t>$0)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bg1"/>
                </a:solidFill>
              </a:rPr>
              <a:t>	n</a:t>
            </a:r>
            <a:r>
              <a:rPr lang="en-US" altLang="en-US" baseline="-25000">
                <a:solidFill>
                  <a:schemeClr val="bg1"/>
                </a:solidFill>
              </a:rPr>
              <a:t>Post</a:t>
            </a:r>
            <a:r>
              <a:rPr lang="en-US" altLang="en-US">
                <a:solidFill>
                  <a:schemeClr val="bg1"/>
                </a:solidFill>
              </a:rPr>
              <a:t> </a:t>
            </a:r>
            <a:r>
              <a:rPr lang="en-US" altLang="en-US"/>
              <a:t>= 8</a:t>
            </a:r>
          </a:p>
        </p:txBody>
      </p:sp>
    </p:spTree>
    <p:extLst>
      <p:ext uri="{BB962C8B-B14F-4D97-AF65-F5344CB8AC3E}">
        <p14:creationId xmlns:p14="http://schemas.microsoft.com/office/powerpoint/2010/main" val="1961659265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A33D6F13-827E-4C53-AEEB-8549891401AF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105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78851" name="Rectangle 4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/>
              <a:t>Calculating PPost, the Stock Price after a Recap</a:t>
            </a:r>
          </a:p>
        </p:txBody>
      </p:sp>
      <p:sp>
        <p:nvSpPr>
          <p:cNvPr id="78852" name="Rectangle 5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  At w</a:t>
            </a:r>
            <a:r>
              <a:rPr lang="en-US" altLang="en-US" baseline="-25000"/>
              <a:t>d</a:t>
            </a:r>
            <a:r>
              <a:rPr lang="en-US" altLang="en-US"/>
              <a:t> = 20%:</a:t>
            </a:r>
          </a:p>
          <a:p>
            <a:pPr eaLnBrk="1" hangingPunct="1"/>
            <a:r>
              <a:rPr lang="en-US" altLang="en-US"/>
              <a:t>P</a:t>
            </a:r>
            <a:r>
              <a:rPr lang="en-US" altLang="en-US" baseline="-25000"/>
              <a:t>Post</a:t>
            </a:r>
            <a:r>
              <a:rPr lang="en-US" altLang="en-US"/>
              <a:t> = (V</a:t>
            </a:r>
            <a:r>
              <a:rPr lang="en-US" altLang="en-US" baseline="-25000"/>
              <a:t>opNew</a:t>
            </a:r>
            <a:r>
              <a:rPr lang="en-US" altLang="en-US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en-US"/>
              <a:t>D</a:t>
            </a:r>
            <a:r>
              <a:rPr lang="en-US" altLang="en-US" baseline="-25000"/>
              <a:t>Old</a:t>
            </a:r>
            <a:r>
              <a:rPr lang="en-US" altLang="en-US"/>
              <a:t>)/n</a:t>
            </a:r>
            <a:r>
              <a:rPr lang="en-US" altLang="en-US" baseline="-25000"/>
              <a:t>Prior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bg1"/>
                </a:solidFill>
              </a:rPr>
              <a:t>	n</a:t>
            </a:r>
            <a:r>
              <a:rPr lang="en-US" altLang="en-US" baseline="-25000">
                <a:solidFill>
                  <a:schemeClr val="bg1"/>
                </a:solidFill>
              </a:rPr>
              <a:t>Post</a:t>
            </a:r>
            <a:r>
              <a:rPr lang="en-US" altLang="en-US">
                <a:solidFill>
                  <a:schemeClr val="bg1"/>
                </a:solidFill>
              </a:rPr>
              <a:t> </a:t>
            </a:r>
            <a:r>
              <a:rPr lang="en-US" altLang="en-US"/>
              <a:t>= </a:t>
            </a:r>
            <a:r>
              <a:rPr lang="en-US" altLang="en-US" sz="2800">
                <a:cs typeface="Times New Roman" panose="02020603050405020304" pitchFamily="18" charset="0"/>
              </a:rPr>
              <a:t>($265.96 </a:t>
            </a:r>
            <a:r>
              <a:rPr lang="en-US" alt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−</a:t>
            </a:r>
            <a:r>
              <a:rPr lang="en-US" altLang="en-US" sz="2800">
                <a:cs typeface="Times New Roman" panose="02020603050405020304" pitchFamily="18" charset="0"/>
              </a:rPr>
              <a:t>$0)/10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>
                <a:solidFill>
                  <a:schemeClr val="bg1"/>
                </a:solidFill>
              </a:rPr>
              <a:t>	n</a:t>
            </a:r>
            <a:r>
              <a:rPr lang="en-US" altLang="en-US" baseline="-25000">
                <a:solidFill>
                  <a:schemeClr val="bg1"/>
                </a:solidFill>
              </a:rPr>
              <a:t>Post</a:t>
            </a:r>
            <a:r>
              <a:rPr lang="en-US" altLang="en-US">
                <a:solidFill>
                  <a:schemeClr val="bg1"/>
                </a:solidFill>
              </a:rPr>
              <a:t> </a:t>
            </a:r>
            <a:r>
              <a:rPr lang="en-US" altLang="en-US"/>
              <a:t>= $26.60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63638914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5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Optimal Capital Structure</a:t>
            </a:r>
          </a:p>
        </p:txBody>
      </p:sp>
      <p:sp>
        <p:nvSpPr>
          <p:cNvPr id="79876" name="Rectangle 5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w</a:t>
            </a:r>
            <a:r>
              <a:rPr lang="en-US" altLang="en-US" baseline="-25000" dirty="0"/>
              <a:t>d</a:t>
            </a:r>
            <a:r>
              <a:rPr lang="en-US" altLang="en-US" dirty="0"/>
              <a:t> = 30% gives:</a:t>
            </a:r>
          </a:p>
          <a:p>
            <a:pPr lvl="1" eaLnBrk="1" hangingPunct="1"/>
            <a:r>
              <a:rPr lang="en-US" altLang="en-US" dirty="0"/>
              <a:t>Highest corporate value</a:t>
            </a:r>
          </a:p>
          <a:p>
            <a:pPr lvl="1" eaLnBrk="1" hangingPunct="1"/>
            <a:r>
              <a:rPr lang="en-US" altLang="en-US" dirty="0"/>
              <a:t>Lowest WACC</a:t>
            </a:r>
          </a:p>
          <a:p>
            <a:pPr lvl="1" eaLnBrk="1" hangingPunct="1"/>
            <a:r>
              <a:rPr lang="en-US" altLang="en-US" dirty="0"/>
              <a:t>Highest stock price per share</a:t>
            </a:r>
          </a:p>
          <a:p>
            <a:pPr eaLnBrk="1" hangingPunct="1"/>
            <a:r>
              <a:rPr lang="en-US" altLang="en-US" dirty="0"/>
              <a:t>But w</a:t>
            </a:r>
            <a:r>
              <a:rPr lang="en-US" altLang="en-US" baseline="-25000" dirty="0"/>
              <a:t>d</a:t>
            </a:r>
            <a:r>
              <a:rPr lang="en-US" altLang="en-US" dirty="0"/>
              <a:t> = 40% is close.  Optimal range is pretty flat.</a:t>
            </a:r>
          </a:p>
        </p:txBody>
      </p:sp>
      <p:sp>
        <p:nvSpPr>
          <p:cNvPr id="79874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2958DA9-6BAC-4C75-AF97-541C41C8DFAB}" type="slidenum"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106</a:t>
            </a:fld>
            <a:endParaRPr kumimoji="0" lang="en-US" alt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686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nances Template.potx  -  Read-Only" id="{9D7ED064-E300-4594-8398-6985A24AACAF}" vid="{43AE9C98-686E-491F-9B4B-0535FA3B6992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Finances Template</Template>
  <TotalTime>457</TotalTime>
  <Pages>24</Pages>
  <Words>5857</Words>
  <Application>Microsoft Office PowerPoint</Application>
  <PresentationFormat>On-screen Show (4:3)</PresentationFormat>
  <Paragraphs>1284</Paragraphs>
  <Slides>106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106</vt:i4>
      </vt:variant>
    </vt:vector>
  </HeadingPairs>
  <TitlesOfParts>
    <vt:vector size="116" baseType="lpstr">
      <vt:lpstr>Adobe Devanagari</vt:lpstr>
      <vt:lpstr>Arial</vt:lpstr>
      <vt:lpstr>Calibri</vt:lpstr>
      <vt:lpstr>Calibri Light</vt:lpstr>
      <vt:lpstr>Symbol</vt:lpstr>
      <vt:lpstr>Tahoma</vt:lpstr>
      <vt:lpstr>Times New Roman</vt:lpstr>
      <vt:lpstr>Wingdings</vt:lpstr>
      <vt:lpstr>Office Theme</vt:lpstr>
      <vt:lpstr>VISIO</vt:lpstr>
      <vt:lpstr>Chapter 15</vt:lpstr>
      <vt:lpstr>Topics in Chapter</vt:lpstr>
      <vt:lpstr>Goal of the Firm ?</vt:lpstr>
      <vt:lpstr>Goal of Firm is</vt:lpstr>
      <vt:lpstr>Factors Affecting Capital Structure:</vt:lpstr>
      <vt:lpstr>Preview of Capital Structure Effects</vt:lpstr>
      <vt:lpstr>Effect of Additional Debt on WACC</vt:lpstr>
      <vt:lpstr>Effect on WACC (Cont’d)</vt:lpstr>
      <vt:lpstr>Effect of Addtional Debt on FCF</vt:lpstr>
      <vt:lpstr>Impact of indirect costs</vt:lpstr>
      <vt:lpstr>Addt’l debt can affect behavior of managers</vt:lpstr>
      <vt:lpstr>Asymmetric Info &amp; Signaling</vt:lpstr>
      <vt:lpstr>Business Risk versus Financial Risk</vt:lpstr>
      <vt:lpstr>Business Risk:  Uncertainty in EBIT, NOPAT, &amp; ROIC</vt:lpstr>
      <vt:lpstr>Operating leverage,  &amp; affect on firm’s business risk?</vt:lpstr>
      <vt:lpstr>Higher operating leverage leads to more business risk: small sales decline = larger EBIT decline.</vt:lpstr>
      <vt:lpstr>Operating Breakeven</vt:lpstr>
      <vt:lpstr>Operating Breakeven</vt:lpstr>
      <vt:lpstr>Business Risk:  No Operating Leverage (No Fixed Costs)</vt:lpstr>
      <vt:lpstr>Business Risk:  With Operating Leverage (with Fixed Costs)</vt:lpstr>
      <vt:lpstr>Business Risk versus Financial Risk</vt:lpstr>
      <vt:lpstr>Consider Two Firms Identical  Except for Debt</vt:lpstr>
      <vt:lpstr>Impact of Leverage on Returns</vt:lpstr>
      <vt:lpstr>Why does leveraging increase return?</vt:lpstr>
      <vt:lpstr>Impact of Leverage on Returns if EBIT Falls</vt:lpstr>
      <vt:lpstr>Impact of Leverage on Returns if EBIT Rises</vt:lpstr>
      <vt:lpstr>Capital Structure Theory</vt:lpstr>
      <vt:lpstr>Optimal Capital Structure</vt:lpstr>
      <vt:lpstr>Optimal Capital Structure</vt:lpstr>
      <vt:lpstr>Sequence of Events in a Recapitalization</vt:lpstr>
      <vt:lpstr>Optimal Cap Structure Problem</vt:lpstr>
      <vt:lpstr>Cost of Equity (RS) @ Zero Debt</vt:lpstr>
      <vt:lpstr>Cost of Equity at Each Debt Level</vt:lpstr>
      <vt:lpstr>PowerPoint Presentation</vt:lpstr>
      <vt:lpstr>PowerPoint Presentation</vt:lpstr>
      <vt:lpstr>Value of Equity at Each Debt Level</vt:lpstr>
      <vt:lpstr>Total Value of Firm</vt:lpstr>
      <vt:lpstr>Calculate EPS at debt of $0, $250K, $500K, &amp; $750K, assuming firm begins at zero debt &amp; recapitalizes to each level in  single step.</vt:lpstr>
      <vt:lpstr>PowerPoint Presentation</vt:lpstr>
      <vt:lpstr>Find WACC @ each debt level. </vt:lpstr>
      <vt:lpstr>Find WACC at each debt level (con’t)</vt:lpstr>
      <vt:lpstr>How would higher or lower business risk affect optimal capital structure?</vt:lpstr>
      <vt:lpstr>Is it possible to do an analysis exactly like one above for most firms?</vt:lpstr>
      <vt:lpstr>What type of analysis should firms conduct to help find optimal, or target, capital structure?</vt:lpstr>
      <vt:lpstr>PowerPoint Presentation</vt:lpstr>
      <vt:lpstr>What other factors would managers consider when setting target capital structure?</vt:lpstr>
      <vt:lpstr>PowerPoint Presentation</vt:lpstr>
      <vt:lpstr>Part B</vt:lpstr>
      <vt:lpstr>Capital Structure Theory</vt:lpstr>
      <vt:lpstr>Modigliani-Miller (MM) Theory:  Zero Taxes</vt:lpstr>
      <vt:lpstr>MM Results:  Zero Taxes</vt:lpstr>
      <vt:lpstr>MM Theory:  Corporate Taxes</vt:lpstr>
      <vt:lpstr>MM Result:  Corporate Taxes</vt:lpstr>
      <vt:lpstr>MM relationship between value and debt when corporate taxes are considered.</vt:lpstr>
      <vt:lpstr>Miller’s Theory: Corporate and Personal Taxes</vt:lpstr>
      <vt:lpstr>Miller’s Model with Corporate and Personal Taxes</vt:lpstr>
      <vt:lpstr>Tc = 40%, Td = 30%, and Ts = 12%</vt:lpstr>
      <vt:lpstr>Conclusions with Personal Taxes</vt:lpstr>
      <vt:lpstr>Trade-off Theory</vt:lpstr>
      <vt:lpstr>Tax Shield vs. Cost of Financial Distress</vt:lpstr>
      <vt:lpstr>Signaling Theory</vt:lpstr>
      <vt:lpstr>Pecking Order Theory</vt:lpstr>
      <vt:lpstr>Debt Financing and Agency Costs</vt:lpstr>
      <vt:lpstr>PowerPoint Presentation</vt:lpstr>
      <vt:lpstr>Investment Opportunity Set and Reserve Borrowing Capacity</vt:lpstr>
      <vt:lpstr>Windows of Opportunity</vt:lpstr>
      <vt:lpstr>Empirical Evidence</vt:lpstr>
      <vt:lpstr>Empirical Evidence (Continued)</vt:lpstr>
      <vt:lpstr>Implications for Managers</vt:lpstr>
      <vt:lpstr>Implications for Managers (Continued)</vt:lpstr>
      <vt:lpstr>Implications for Managers (Continued)</vt:lpstr>
      <vt:lpstr>Firm U:  Unleveraged</vt:lpstr>
      <vt:lpstr>Firm L:  Leveraged</vt:lpstr>
      <vt:lpstr>PowerPoint Presentation</vt:lpstr>
      <vt:lpstr>PowerPoint Presentation</vt:lpstr>
      <vt:lpstr>Conclusions</vt:lpstr>
      <vt:lpstr>Conclusions (con’t)</vt:lpstr>
      <vt:lpstr>PowerPoint Presentation</vt:lpstr>
      <vt:lpstr>Another recapitalization Problem</vt:lpstr>
      <vt:lpstr>The Optimal Capital Structure</vt:lpstr>
      <vt:lpstr>Sequence of Events When Firm  Recapitalizes</vt:lpstr>
      <vt:lpstr>Choosing the Optimal Capital Structure: Example</vt:lpstr>
      <vt:lpstr>Current Value of Operations</vt:lpstr>
      <vt:lpstr>Other Data for Valuation Analysis</vt:lpstr>
      <vt:lpstr>Current Valuation Analysis</vt:lpstr>
      <vt:lpstr>Investment bankers provided estimates of rd for different capital structures.</vt:lpstr>
      <vt:lpstr>The Cost of Equity at Different Levels of Debt: Hamada’s Formula </vt:lpstr>
      <vt:lpstr>The Cost of Equity for wd = 20%</vt:lpstr>
      <vt:lpstr>The WACC for wd = 20%</vt:lpstr>
      <vt:lpstr>Beta, rs, and WACC</vt:lpstr>
      <vt:lpstr>Corporate Value for wd = 20%</vt:lpstr>
      <vt:lpstr>Value of Operations, Debt, and Equity</vt:lpstr>
      <vt:lpstr>Anatomy of a Recap: Before Issuing Debt</vt:lpstr>
      <vt:lpstr>Issue Debt (wd = 20%), But Before Repurchase</vt:lpstr>
      <vt:lpstr>Anatomy of a Recap: After Debt, but Before Repurchase</vt:lpstr>
      <vt:lpstr>After Issuing Debt, Before Repurchasing Stock</vt:lpstr>
      <vt:lpstr>The Repurchase: No Effect on Stock Price</vt:lpstr>
      <vt:lpstr>Remaining Number of Shares After Repurchase</vt:lpstr>
      <vt:lpstr>Anatomy of a Recap: After Rupurchase</vt:lpstr>
      <vt:lpstr>Key Points</vt:lpstr>
      <vt:lpstr>Intrinsic Stock Price Maximized at Optimal Capital Structure</vt:lpstr>
      <vt:lpstr>Shortcuts</vt:lpstr>
      <vt:lpstr>Calculating S, the Value of Equity after the Recap</vt:lpstr>
      <vt:lpstr>Number of Shares after a  Repurchase, nPost</vt:lpstr>
      <vt:lpstr>Calculating PPost, the Stock Price after a Recap</vt:lpstr>
      <vt:lpstr>Optimal Capital Structure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15</dc:title>
  <dc:subject>Powerpoint show</dc:subject>
  <dc:creator>Donna Hall</dc:creator>
  <cp:lastModifiedBy>Robert M Donchez</cp:lastModifiedBy>
  <cp:revision>39</cp:revision>
  <cp:lastPrinted>2025-11-20T05:28:07Z</cp:lastPrinted>
  <dcterms:created xsi:type="dcterms:W3CDTF">2022-07-21T21:56:52Z</dcterms:created>
  <dcterms:modified xsi:type="dcterms:W3CDTF">2025-11-20T05:40:37Z</dcterms:modified>
</cp:coreProperties>
</file>