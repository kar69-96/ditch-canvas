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90"/>
  </p:notesMasterIdLst>
  <p:handoutMasterIdLst>
    <p:handoutMasterId r:id="rId91"/>
  </p:handoutMasterIdLst>
  <p:sldIdLst>
    <p:sldId id="323" r:id="rId2"/>
    <p:sldId id="324" r:id="rId3"/>
    <p:sldId id="356" r:id="rId4"/>
    <p:sldId id="357" r:id="rId5"/>
    <p:sldId id="310" r:id="rId6"/>
    <p:sldId id="358" r:id="rId7"/>
    <p:sldId id="359" r:id="rId8"/>
    <p:sldId id="300" r:id="rId9"/>
    <p:sldId id="361" r:id="rId10"/>
    <p:sldId id="362" r:id="rId11"/>
    <p:sldId id="395" r:id="rId12"/>
    <p:sldId id="330" r:id="rId13"/>
    <p:sldId id="397" r:id="rId14"/>
    <p:sldId id="302" r:id="rId15"/>
    <p:sldId id="266" r:id="rId16"/>
    <p:sldId id="325" r:id="rId17"/>
    <p:sldId id="399" r:id="rId18"/>
    <p:sldId id="400" r:id="rId19"/>
    <p:sldId id="334" r:id="rId20"/>
    <p:sldId id="269" r:id="rId21"/>
    <p:sldId id="363" r:id="rId22"/>
    <p:sldId id="270" r:id="rId23"/>
    <p:sldId id="335" r:id="rId24"/>
    <p:sldId id="272" r:id="rId25"/>
    <p:sldId id="273" r:id="rId26"/>
    <p:sldId id="274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36" r:id="rId35"/>
    <p:sldId id="282" r:id="rId36"/>
    <p:sldId id="379" r:id="rId37"/>
    <p:sldId id="380" r:id="rId38"/>
    <p:sldId id="381" r:id="rId39"/>
    <p:sldId id="382" r:id="rId40"/>
    <p:sldId id="383" r:id="rId41"/>
    <p:sldId id="394" r:id="rId42"/>
    <p:sldId id="384" r:id="rId43"/>
    <p:sldId id="386" r:id="rId44"/>
    <p:sldId id="385" r:id="rId45"/>
    <p:sldId id="387" r:id="rId46"/>
    <p:sldId id="318" r:id="rId47"/>
    <p:sldId id="390" r:id="rId48"/>
    <p:sldId id="304" r:id="rId49"/>
    <p:sldId id="305" r:id="rId50"/>
    <p:sldId id="306" r:id="rId51"/>
    <p:sldId id="388" r:id="rId52"/>
    <p:sldId id="341" r:id="rId53"/>
    <p:sldId id="342" r:id="rId54"/>
    <p:sldId id="389" r:id="rId55"/>
    <p:sldId id="411" r:id="rId56"/>
    <p:sldId id="413" r:id="rId57"/>
    <p:sldId id="414" r:id="rId58"/>
    <p:sldId id="415" r:id="rId59"/>
    <p:sldId id="337" r:id="rId60"/>
    <p:sldId id="416" r:id="rId61"/>
    <p:sldId id="417" r:id="rId62"/>
    <p:sldId id="418" r:id="rId63"/>
    <p:sldId id="419" r:id="rId64"/>
    <p:sldId id="315" r:id="rId65"/>
    <p:sldId id="319" r:id="rId66"/>
    <p:sldId id="309" r:id="rId67"/>
    <p:sldId id="291" r:id="rId68"/>
    <p:sldId id="343" r:id="rId69"/>
    <p:sldId id="292" r:id="rId70"/>
    <p:sldId id="293" r:id="rId71"/>
    <p:sldId id="294" r:id="rId72"/>
    <p:sldId id="295" r:id="rId73"/>
    <p:sldId id="344" r:id="rId74"/>
    <p:sldId id="345" r:id="rId75"/>
    <p:sldId id="346" r:id="rId76"/>
    <p:sldId id="347" r:id="rId77"/>
    <p:sldId id="348" r:id="rId78"/>
    <p:sldId id="392" r:id="rId79"/>
    <p:sldId id="393" r:id="rId80"/>
    <p:sldId id="410" r:id="rId81"/>
    <p:sldId id="402" r:id="rId82"/>
    <p:sldId id="403" r:id="rId83"/>
    <p:sldId id="404" r:id="rId84"/>
    <p:sldId id="405" r:id="rId85"/>
    <p:sldId id="406" r:id="rId86"/>
    <p:sldId id="407" r:id="rId87"/>
    <p:sldId id="408" r:id="rId88"/>
    <p:sldId id="409" r:id="rId89"/>
  </p:sldIdLst>
  <p:sldSz cx="9144000" cy="6858000" type="screen4x3"/>
  <p:notesSz cx="7102475" cy="93884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3FD65"/>
    <a:srgbClr val="454135"/>
    <a:srgbClr val="DCCCA3"/>
    <a:srgbClr val="8CF4EA"/>
    <a:srgbClr val="00B7A5"/>
    <a:srgbClr val="FAFD00"/>
    <a:srgbClr val="D49FFF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6" autoAdjust="0"/>
    <p:restoredTop sz="94694" autoAdjust="0"/>
  </p:normalViewPr>
  <p:slideViewPr>
    <p:cSldViewPr>
      <p:cViewPr varScale="1">
        <p:scale>
          <a:sx n="107" d="100"/>
          <a:sy n="107" d="100"/>
        </p:scale>
        <p:origin x="154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548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403" y="4458886"/>
            <a:ext cx="5204050" cy="4225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578" tIns="49108" rIns="96578" bIns="491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711200"/>
            <a:ext cx="46736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349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256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11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40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11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07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44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14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48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48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06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14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68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68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675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16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09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478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17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30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8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18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50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098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18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71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71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957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14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01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018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630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20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22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723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24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6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135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18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68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68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450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33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737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25</a:t>
            </a: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983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83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512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25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24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24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0056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26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54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370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28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75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75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041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9571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28</a:t>
            </a: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095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014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29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16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16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59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30</a:t>
            </a: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36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36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635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31</a:t>
            </a:r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57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263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77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6274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98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0674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18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5285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39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4965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59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9396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12800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80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686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17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73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1542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17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73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17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18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93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93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422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14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14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2068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20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34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34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0362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4062726" y="0"/>
            <a:ext cx="310946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4062726" y="8916170"/>
            <a:ext cx="310946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15" tIns="0" rIns="19315" bIns="0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21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8916170"/>
            <a:ext cx="3107840" cy="47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3107840" cy="47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711" tIns="46356" rIns="92711" bIns="46356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15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7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Stocks, Valuation, &amp; Market Equilibrium</a:t>
            </a:r>
          </a:p>
        </p:txBody>
      </p:sp>
      <p:sp>
        <p:nvSpPr>
          <p:cNvPr id="4098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F60B5D-EAFB-4608-9D8C-C6F2FED54C03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br>
              <a:rPr lang="en-US" altLang="en-US"/>
            </a:br>
            <a:r>
              <a:rPr lang="en-US" altLang="en-US"/>
              <a:t>Topics in Chapter</a:t>
            </a:r>
          </a:p>
        </p:txBody>
      </p:sp>
      <p:sp>
        <p:nvSpPr>
          <p:cNvPr id="6148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Features of common stock</a:t>
            </a:r>
          </a:p>
          <a:p>
            <a:pPr eaLnBrk="1" hangingPunct="1"/>
            <a:r>
              <a:rPr lang="en-US" altLang="en-US"/>
              <a:t>Valuing common stock</a:t>
            </a:r>
          </a:p>
          <a:p>
            <a:pPr eaLnBrk="1" hangingPunct="1"/>
            <a:r>
              <a:rPr lang="en-US" altLang="en-US"/>
              <a:t>Preferred stock</a:t>
            </a:r>
          </a:p>
          <a:p>
            <a:pPr eaLnBrk="1" hangingPunct="1"/>
            <a:r>
              <a:rPr lang="en-US" altLang="en-US"/>
              <a:t>Stock market equilibrium</a:t>
            </a:r>
          </a:p>
          <a:p>
            <a:pPr eaLnBrk="1" hangingPunct="1"/>
            <a:r>
              <a:rPr lang="en-US" altLang="en-US"/>
              <a:t>Efficient markets hypothesis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Implications of market efficiency for financial decisions</a:t>
            </a:r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BA5DAA-A54B-490E-AA18-3DC077E0AEB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EQUITIES</a:t>
            </a:r>
          </a:p>
        </p:txBody>
      </p:sp>
      <p:sp>
        <p:nvSpPr>
          <p:cNvPr id="8195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Why?</a:t>
            </a:r>
          </a:p>
        </p:txBody>
      </p:sp>
      <p:sp>
        <p:nvSpPr>
          <p:cNvPr id="8196" name="Content Placeholder 4"/>
          <p:cNvSpPr>
            <a:spLocks noGrp="1"/>
          </p:cNvSpPr>
          <p:nvPr>
            <p:ph sz="half" idx="2"/>
          </p:nvPr>
        </p:nvSpPr>
        <p:spPr>
          <a:xfrm>
            <a:off x="304800" y="2505075"/>
            <a:ext cx="4193382" cy="36845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Key to understanding valuations</a:t>
            </a:r>
          </a:p>
          <a:p>
            <a:pPr lvl="1"/>
            <a:r>
              <a:rPr lang="en-US" altLang="en-US" dirty="0"/>
              <a:t>What is investment worth today?</a:t>
            </a:r>
          </a:p>
          <a:p>
            <a:pPr lvl="1"/>
            <a:r>
              <a:rPr lang="en-US" altLang="en-US" dirty="0"/>
              <a:t>Value of:</a:t>
            </a:r>
          </a:p>
          <a:p>
            <a:pPr lvl="2"/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 </a:t>
            </a:r>
          </a:p>
        </p:txBody>
      </p:sp>
      <p:sp>
        <p:nvSpPr>
          <p:cNvPr id="8197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Business Application</a:t>
            </a:r>
          </a:p>
        </p:txBody>
      </p:sp>
      <p:sp>
        <p:nvSpPr>
          <p:cNvPr id="8198" name="Content Placeholder 6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33850" cy="36845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i="1" dirty="0"/>
              <a:t>For Investor:</a:t>
            </a:r>
          </a:p>
          <a:p>
            <a:pPr lvl="1"/>
            <a:r>
              <a:rPr lang="en-US" altLang="en-US" dirty="0"/>
              <a:t>Determine value of asset/business/company</a:t>
            </a:r>
          </a:p>
          <a:p>
            <a:pPr lvl="1"/>
            <a:endParaRPr lang="en-US" altLang="en-US" i="1" dirty="0"/>
          </a:p>
          <a:p>
            <a:r>
              <a:rPr lang="en-US" altLang="en-US" i="1" dirty="0"/>
              <a:t>For Firm:</a:t>
            </a:r>
          </a:p>
          <a:p>
            <a:pPr lvl="1"/>
            <a:r>
              <a:rPr lang="en-US" altLang="en-US" dirty="0"/>
              <a:t>Determine cost of attracting investors &amp; raising equity capital</a:t>
            </a:r>
          </a:p>
          <a:p>
            <a:pPr lvl="1"/>
            <a:r>
              <a:rPr lang="en-US" altLang="en-US" dirty="0"/>
              <a:t>Selling ownership stake to raise $</a:t>
            </a:r>
          </a:p>
        </p:txBody>
      </p:sp>
      <p:sp>
        <p:nvSpPr>
          <p:cNvPr id="819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D83EC6-53F3-4374-A3DE-C1E772B2663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Equities</a:t>
            </a:r>
          </a:p>
        </p:txBody>
      </p:sp>
      <p:sp>
        <p:nvSpPr>
          <p:cNvPr id="921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Valuing companies that don’t pay dividends</a:t>
            </a:r>
          </a:p>
          <a:p>
            <a:r>
              <a:rPr lang="en-US" altLang="en-US" dirty="0"/>
              <a:t>Alternative valuation methods</a:t>
            </a:r>
          </a:p>
        </p:txBody>
      </p:sp>
      <p:sp>
        <p:nvSpPr>
          <p:cNvPr id="922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FB13B5-F4CF-44A6-863A-F8A60FB826E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Common Stock: </a:t>
            </a:r>
            <a:br>
              <a:rPr lang="en-US" altLang="en-US" dirty="0"/>
            </a:br>
            <a:r>
              <a:rPr lang="en-US" altLang="en-US" dirty="0"/>
              <a:t>Owners, Directors, &amp; Managers</a:t>
            </a:r>
          </a:p>
        </p:txBody>
      </p:sp>
      <p:sp>
        <p:nvSpPr>
          <p:cNvPr id="12292" name="Rectangle 6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210550" cy="4652964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Represents ownership.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4C940D-2928-4991-8A9C-2AEE5BD0E80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0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/>
              <a:t>Bonds    vs.     Stocks</a:t>
            </a:r>
          </a:p>
        </p:txBody>
      </p:sp>
      <p:sp>
        <p:nvSpPr>
          <p:cNvPr id="17411" name="Text Placeholder 3"/>
          <p:cNvSpPr>
            <a:spLocks noGrp="1"/>
          </p:cNvSpPr>
          <p:nvPr>
            <p:ph type="body" idx="1"/>
          </p:nvPr>
        </p:nvSpPr>
        <p:spPr>
          <a:xfrm>
            <a:off x="639763" y="1617663"/>
            <a:ext cx="4040187" cy="2192337"/>
          </a:xfrm>
        </p:spPr>
        <p:txBody>
          <a:bodyPr anchor="t">
            <a:normAutofit lnSpcReduction="10000"/>
          </a:bodyPr>
          <a:lstStyle/>
          <a:p>
            <a:r>
              <a:rPr lang="en-US" altLang="en-US" u="sng" dirty="0"/>
              <a:t>Issuer of Debt: Company</a:t>
            </a:r>
            <a:endParaRPr lang="en-US" altLang="en-US" b="0" dirty="0"/>
          </a:p>
          <a:p>
            <a:r>
              <a:rPr lang="en-US" altLang="en-US" b="0" dirty="0"/>
              <a:t> Cost = </a:t>
            </a:r>
            <a:r>
              <a:rPr lang="en-US" altLang="en-US" sz="2000" b="0" dirty="0"/>
              <a:t>int. paid out (</a:t>
            </a:r>
            <a:r>
              <a:rPr lang="en-US" altLang="en-US" sz="2000" b="0" dirty="0" err="1"/>
              <a:t>i</a:t>
            </a:r>
            <a:r>
              <a:rPr lang="en-US" altLang="en-US" sz="2000" b="0" dirty="0"/>
              <a:t>)</a:t>
            </a:r>
          </a:p>
          <a:p>
            <a:endParaRPr lang="en-US" altLang="en-US" sz="2000" b="0" dirty="0"/>
          </a:p>
          <a:p>
            <a:endParaRPr lang="en-US" altLang="en-US" u="sng" dirty="0"/>
          </a:p>
          <a:p>
            <a:r>
              <a:rPr lang="en-US" altLang="en-US" u="sng" dirty="0"/>
              <a:t>Investor: Bondholder</a:t>
            </a:r>
          </a:p>
          <a:p>
            <a:r>
              <a:rPr lang="en-US" altLang="en-US" sz="2000" b="0" dirty="0"/>
              <a:t>  </a:t>
            </a:r>
            <a:r>
              <a:rPr lang="en-US" altLang="en-US" sz="2000" i="1" dirty="0"/>
              <a:t>Return =	</a:t>
            </a:r>
            <a:r>
              <a:rPr lang="en-US" altLang="en-US" sz="2000" b="0" dirty="0"/>
              <a:t>int. received (</a:t>
            </a:r>
            <a:r>
              <a:rPr lang="en-US" altLang="en-US" sz="2000" b="0" dirty="0" err="1"/>
              <a:t>i</a:t>
            </a:r>
            <a:r>
              <a:rPr lang="en-US" altLang="en-US" sz="2000" b="0" dirty="0"/>
              <a:t>)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>
          <a:xfrm>
            <a:off x="531813" y="4156075"/>
            <a:ext cx="4040187" cy="1970088"/>
          </a:xfrm>
        </p:spPr>
        <p:txBody>
          <a:bodyPr>
            <a:normAutofit/>
          </a:bodyPr>
          <a:lstStyle/>
          <a:p>
            <a:pPr lvl="1"/>
            <a:endParaRPr lang="en-US" altLang="en-US" u="sng" dirty="0"/>
          </a:p>
        </p:txBody>
      </p:sp>
      <p:sp>
        <p:nvSpPr>
          <p:cNvPr id="17413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15726" y="1594453"/>
            <a:ext cx="4176713" cy="2039937"/>
          </a:xfrm>
        </p:spPr>
        <p:txBody>
          <a:bodyPr anchor="t">
            <a:normAutofit lnSpcReduction="1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Issuer of Equity: Company</a:t>
            </a:r>
            <a:r>
              <a:rPr lang="en-US" altLang="en-US" b="0" dirty="0">
                <a:solidFill>
                  <a:prstClr val="black"/>
                </a:solidFill>
                <a:latin typeface="Calibri" panose="020F0502020204030204"/>
              </a:rPr>
              <a:t>                           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1800" b="0" dirty="0"/>
              <a:t>Cost = dividends pd out &amp; Cap Gains</a:t>
            </a:r>
          </a:p>
          <a:p>
            <a:pPr algn="ctr"/>
            <a:endParaRPr lang="en-US" altLang="en-US" sz="1800" b="0" dirty="0"/>
          </a:p>
          <a:p>
            <a:pPr algn="ctr"/>
            <a:endParaRPr lang="en-US" altLang="en-US" sz="1800" b="0" dirty="0"/>
          </a:p>
          <a:p>
            <a:pPr algn="ctr"/>
            <a:r>
              <a:rPr lang="en-US" altLang="en-US" u="sng" dirty="0"/>
              <a:t>Investor: Shareholder</a:t>
            </a:r>
          </a:p>
          <a:p>
            <a:pPr algn="ctr"/>
            <a:r>
              <a:rPr lang="en-US" altLang="en-US" sz="2000" i="1" dirty="0"/>
              <a:t>Return = </a:t>
            </a:r>
            <a:r>
              <a:rPr lang="en-US" altLang="en-US" sz="2000" b="0" dirty="0"/>
              <a:t>Dividends rec’d &amp; Cap Gains</a:t>
            </a:r>
          </a:p>
          <a:p>
            <a:pPr algn="ctr"/>
            <a:endParaRPr lang="en-US" altLang="en-US" sz="2000" b="0" dirty="0"/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>
          <a:xfrm>
            <a:off x="4572000" y="4267200"/>
            <a:ext cx="4041775" cy="2528888"/>
          </a:xfrm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1741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C07EFF-84D9-46AA-8F3B-557D5424E8D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0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/>
              <a:t>Bonds    vs.     Stocks</a:t>
            </a:r>
          </a:p>
        </p:txBody>
      </p:sp>
      <p:sp>
        <p:nvSpPr>
          <p:cNvPr id="18435" name="Text Placeholder 3"/>
          <p:cNvSpPr>
            <a:spLocks noGrp="1"/>
          </p:cNvSpPr>
          <p:nvPr>
            <p:ph type="body" idx="1"/>
          </p:nvPr>
        </p:nvSpPr>
        <p:spPr>
          <a:xfrm>
            <a:off x="514350" y="1524000"/>
            <a:ext cx="4086225" cy="1274321"/>
          </a:xfrm>
        </p:spPr>
        <p:txBody>
          <a:bodyPr anchor="t" anchorCtr="0">
            <a:normAutofit/>
          </a:bodyPr>
          <a:lstStyle/>
          <a:p>
            <a:pPr algn="ctr"/>
            <a:r>
              <a:rPr lang="en-US" altLang="en-US" sz="2800" u="sng" dirty="0"/>
              <a:t>Bond’s Value</a:t>
            </a:r>
          </a:p>
          <a:p>
            <a:pPr algn="ctr"/>
            <a:r>
              <a:rPr lang="en-US" altLang="en-US" sz="2800" u="sng" dirty="0"/>
              <a:t> or  Price Today</a:t>
            </a:r>
            <a:endParaRPr lang="en-US" altLang="en-US" sz="2800" b="0" dirty="0"/>
          </a:p>
        </p:txBody>
      </p:sp>
      <p:sp>
        <p:nvSpPr>
          <p:cNvPr id="18436" name="Content Placeholder 4"/>
          <p:cNvSpPr>
            <a:spLocks noGrp="1"/>
          </p:cNvSpPr>
          <p:nvPr>
            <p:ph sz="half" idx="2"/>
          </p:nvPr>
        </p:nvSpPr>
        <p:spPr>
          <a:xfrm>
            <a:off x="76200" y="2971800"/>
            <a:ext cx="4467226" cy="3608388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= sum PVs of future CFs;</a:t>
            </a:r>
          </a:p>
          <a:p>
            <a:pPr lvl="1"/>
            <a:r>
              <a:rPr lang="en-US" altLang="en-US" dirty="0"/>
              <a:t>Discount CFs (int </a:t>
            </a:r>
            <a:r>
              <a:rPr lang="en-US" altLang="en-US" dirty="0" err="1"/>
              <a:t>Pmts</a:t>
            </a:r>
            <a:r>
              <a:rPr lang="en-US" altLang="en-US" dirty="0"/>
              <a:t> (PMT) &amp; Principal (FV)) </a:t>
            </a:r>
          </a:p>
          <a:p>
            <a:pPr lvl="1"/>
            <a:r>
              <a:rPr lang="en-US" altLang="en-US" dirty="0"/>
              <a:t> </a:t>
            </a:r>
          </a:p>
          <a:p>
            <a:pPr marL="342900" lvl="1" indent="0">
              <a:buNone/>
            </a:pP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 </a:t>
            </a:r>
          </a:p>
          <a:p>
            <a:pPr lvl="1"/>
            <a:endParaRPr lang="en-US" altLang="en-US" u="sng" dirty="0"/>
          </a:p>
        </p:txBody>
      </p:sp>
      <p:sp>
        <p:nvSpPr>
          <p:cNvPr id="18437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724400" y="1524001"/>
            <a:ext cx="3997325" cy="1371600"/>
          </a:xfrm>
        </p:spPr>
        <p:txBody>
          <a:bodyPr anchor="t" anchorCtr="0">
            <a:normAutofit/>
          </a:bodyPr>
          <a:lstStyle/>
          <a:p>
            <a:pPr algn="ctr"/>
            <a:r>
              <a:rPr lang="en-US" altLang="en-US" sz="2600" u="sng" dirty="0"/>
              <a:t>Stock’s Value</a:t>
            </a:r>
          </a:p>
          <a:p>
            <a:pPr algn="ctr"/>
            <a:r>
              <a:rPr lang="en-US" altLang="en-US" sz="2600" u="sng" dirty="0"/>
              <a:t> or  Price Today</a:t>
            </a:r>
            <a:endParaRPr lang="en-US" altLang="en-US" sz="2600" b="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00575" y="2971800"/>
            <a:ext cx="4391025" cy="3429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u="sng" dirty="0"/>
              <a:t>= sum PVs of future CFs;</a:t>
            </a:r>
          </a:p>
          <a:p>
            <a:pPr lvl="1">
              <a:defRPr/>
            </a:pPr>
            <a:r>
              <a:rPr lang="en-US" dirty="0"/>
              <a:t>Discount CFs (</a:t>
            </a:r>
            <a:r>
              <a:rPr lang="en-US" dirty="0" err="1"/>
              <a:t>divids</a:t>
            </a:r>
            <a:r>
              <a:rPr lang="en-US" dirty="0"/>
              <a:t>) </a:t>
            </a:r>
          </a:p>
          <a:p>
            <a:pPr lvl="1">
              <a:defRPr/>
            </a:pPr>
            <a:r>
              <a:rPr lang="en-US" dirty="0"/>
              <a:t>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843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3EB8D3-785C-43E1-A9ED-9EE3FD5E6B3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07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Different Ways to Value Common Stock</a:t>
            </a:r>
          </a:p>
        </p:txBody>
      </p:sp>
      <p:sp>
        <p:nvSpPr>
          <p:cNvPr id="19460" name="Rectangle 3080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286750" cy="4652964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991CC7-D5B3-4AB3-81E0-1865AA06F4F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96937"/>
          </a:xfrm>
        </p:spPr>
        <p:txBody>
          <a:bodyPr/>
          <a:lstStyle/>
          <a:p>
            <a:pPr algn="ctr"/>
            <a:r>
              <a:rPr lang="en-US" altLang="en-US"/>
              <a:t>Why Invest in Stock?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676401"/>
            <a:ext cx="8974138" cy="4972050"/>
          </a:xfrm>
        </p:spPr>
        <p:txBody>
          <a:bodyPr/>
          <a:lstStyle/>
          <a:p>
            <a:pPr>
              <a:defRPr/>
            </a:pPr>
            <a:r>
              <a:rPr lang="en-US" dirty="0"/>
              <a:t>For Growth in Value</a:t>
            </a:r>
          </a:p>
          <a:p>
            <a:pPr lvl="1">
              <a:defRPr/>
            </a:pPr>
            <a:r>
              <a:rPr lang="en-US" dirty="0"/>
              <a:t>From Dividends &amp; Cap Gains</a:t>
            </a:r>
          </a:p>
          <a:p>
            <a:pPr lvl="2">
              <a:defRPr/>
            </a:pPr>
            <a:r>
              <a:rPr lang="en-US" dirty="0"/>
              <a:t>Generating Total Return = R</a:t>
            </a:r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Stock Price        = Growth = g</a:t>
            </a:r>
          </a:p>
          <a:p>
            <a:pPr lvl="2">
              <a:defRPr/>
            </a:pPr>
            <a:r>
              <a:rPr lang="en-US" sz="2000" dirty="0"/>
              <a:t>Dividend Return or Yield = Annual </a:t>
            </a:r>
            <a:r>
              <a:rPr lang="en-US" sz="2000" dirty="0" err="1"/>
              <a:t>divid</a:t>
            </a:r>
            <a:r>
              <a:rPr lang="en-US" sz="2000" dirty="0"/>
              <a:t> / Price of stock= D</a:t>
            </a:r>
            <a:r>
              <a:rPr lang="en-US" sz="2000" baseline="-25000" dirty="0"/>
              <a:t>1</a:t>
            </a:r>
            <a:r>
              <a:rPr lang="en-US" sz="2000" dirty="0"/>
              <a:t> / P</a:t>
            </a:r>
            <a:r>
              <a:rPr lang="en-US" sz="2000" baseline="-25000" dirty="0"/>
              <a:t>o</a:t>
            </a:r>
          </a:p>
          <a:p>
            <a:pPr lvl="2">
              <a:defRPr/>
            </a:pPr>
            <a:r>
              <a:rPr lang="en-US" sz="2000" dirty="0"/>
              <a:t>Return on Stock  = Return on </a:t>
            </a:r>
            <a:r>
              <a:rPr lang="en-US" sz="2000" dirty="0" err="1"/>
              <a:t>Divid</a:t>
            </a:r>
            <a:r>
              <a:rPr lang="en-US" sz="2000" dirty="0"/>
              <a:t>  +  Growth (cap gains)</a:t>
            </a:r>
          </a:p>
          <a:p>
            <a:pPr lvl="3">
              <a:defRPr/>
            </a:pPr>
            <a:r>
              <a:rPr lang="en-US" dirty="0"/>
              <a:t>            R     =            D</a:t>
            </a:r>
            <a:r>
              <a:rPr lang="en-US" baseline="-25000" dirty="0"/>
              <a:t>1</a:t>
            </a:r>
            <a:r>
              <a:rPr lang="en-US" dirty="0"/>
              <a:t> /P</a:t>
            </a:r>
            <a:r>
              <a:rPr lang="en-US" baseline="-25000" dirty="0"/>
              <a:t>o</a:t>
            </a:r>
            <a:r>
              <a:rPr lang="en-US" dirty="0"/>
              <a:t>     +      g        </a:t>
            </a:r>
            <a:r>
              <a:rPr lang="en-US" sz="1600" dirty="0"/>
              <a:t>(but want price today)</a:t>
            </a:r>
          </a:p>
          <a:p>
            <a:pPr marL="685800" lvl="2" indent="0">
              <a:buNone/>
              <a:defRPr/>
            </a:pPr>
            <a:endParaRPr lang="en-US" dirty="0"/>
          </a:p>
        </p:txBody>
      </p:sp>
      <p:sp>
        <p:nvSpPr>
          <p:cNvPr id="2048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50E443-F5FF-4D3F-92E0-8137DD76DB6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5" name="Up Arrow 4"/>
          <p:cNvSpPr>
            <a:spLocks noChangeArrowheads="1"/>
          </p:cNvSpPr>
          <p:nvPr/>
        </p:nvSpPr>
        <p:spPr bwMode="auto">
          <a:xfrm>
            <a:off x="2133600" y="3657600"/>
            <a:ext cx="484187" cy="488950"/>
          </a:xfrm>
          <a:prstGeom prst="upArrow">
            <a:avLst>
              <a:gd name="adj1" fmla="val 25315"/>
              <a:gd name="adj2" fmla="val 50020"/>
            </a:avLst>
          </a:prstGeom>
          <a:solidFill>
            <a:srgbClr val="83FD65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323975"/>
          </a:xfrm>
        </p:spPr>
        <p:txBody>
          <a:bodyPr/>
          <a:lstStyle/>
          <a:p>
            <a:pPr algn="ctr"/>
            <a:r>
              <a:rPr lang="en-US" altLang="en-US"/>
              <a:t>Constant Growth Approach to Equity Valuations 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>
          <a:xfrm>
            <a:off x="152400" y="1447801"/>
            <a:ext cx="8897938" cy="5200650"/>
          </a:xfrm>
        </p:spPr>
        <p:txBody>
          <a:bodyPr>
            <a:normAutofit/>
          </a:bodyPr>
          <a:lstStyle/>
          <a:p>
            <a:pPr marL="0" lvl="3" indent="0">
              <a:buClr>
                <a:schemeClr val="folHlink"/>
              </a:buClr>
              <a:buSzPct val="60000"/>
              <a:buNone/>
            </a:pPr>
            <a:r>
              <a:rPr lang="en-US" altLang="en-US" sz="2800" dirty="0"/>
              <a:t>P</a:t>
            </a:r>
            <a:r>
              <a:rPr lang="en-US" altLang="en-US" sz="2800" baseline="-25000" dirty="0"/>
              <a:t>o</a:t>
            </a:r>
            <a:r>
              <a:rPr lang="en-US" altLang="en-US" sz="2800" dirty="0"/>
              <a:t>   =  D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/  R – g</a:t>
            </a:r>
          </a:p>
          <a:p>
            <a:r>
              <a:rPr lang="en-US" altLang="en-US" sz="2800" dirty="0"/>
              <a:t>Discounting Divids (or CFs) by R-g (return adjusted for constant growth) </a:t>
            </a:r>
          </a:p>
          <a:p>
            <a:r>
              <a:rPr lang="en-US" altLang="en-US" sz="2800" dirty="0"/>
              <a:t>Constant growth model:</a:t>
            </a:r>
          </a:p>
          <a:p>
            <a:pPr lvl="1"/>
            <a:r>
              <a:rPr lang="en-US" altLang="en-US" sz="2400" dirty="0"/>
              <a:t>Works when: </a:t>
            </a:r>
          </a:p>
          <a:p>
            <a:pPr lvl="1"/>
            <a:r>
              <a:rPr lang="en-US" altLang="en-US" sz="2400" dirty="0"/>
              <a:t>If g &gt; R, </a:t>
            </a:r>
          </a:p>
          <a:p>
            <a:pPr lvl="2"/>
            <a:r>
              <a:rPr lang="en-US" altLang="en-US" sz="2400" dirty="0"/>
              <a:t>  </a:t>
            </a:r>
          </a:p>
          <a:p>
            <a:pPr lvl="2"/>
            <a:r>
              <a:rPr lang="en-US" altLang="en-US" sz="2400" dirty="0"/>
              <a:t>  </a:t>
            </a:r>
          </a:p>
          <a:p>
            <a:pPr lvl="1"/>
            <a:r>
              <a:rPr lang="en-US" altLang="en-US" sz="2400" dirty="0"/>
              <a:t>If need R (</a:t>
            </a:r>
            <a:r>
              <a:rPr lang="en-US" altLang="en-US" sz="2400" dirty="0" err="1"/>
              <a:t>req’d</a:t>
            </a:r>
            <a:r>
              <a:rPr lang="en-US" altLang="en-US" sz="2400" dirty="0"/>
              <a:t> return) to use as </a:t>
            </a:r>
            <a:r>
              <a:rPr lang="en-US" altLang="en-US" sz="2400" dirty="0" err="1"/>
              <a:t>disct</a:t>
            </a:r>
            <a:r>
              <a:rPr lang="en-US" altLang="en-US" sz="2400" dirty="0"/>
              <a:t> factor, use SML  from CAPM</a:t>
            </a:r>
          </a:p>
          <a:p>
            <a:pPr lvl="2"/>
            <a:r>
              <a:rPr lang="en-US" altLang="en-US" sz="2400" dirty="0"/>
              <a:t>SML:  R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RF</a:t>
            </a:r>
            <a:r>
              <a:rPr lang="en-US" altLang="en-US" sz="2400" dirty="0"/>
              <a:t> + (R</a:t>
            </a:r>
            <a:r>
              <a:rPr lang="en-US" altLang="en-US" sz="2400" baseline="-25000" dirty="0"/>
              <a:t>M </a:t>
            </a:r>
            <a:r>
              <a:rPr lang="en-US" altLang="en-US" sz="2400" dirty="0"/>
              <a:t>- 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RF</a:t>
            </a:r>
            <a:r>
              <a:rPr lang="en-US" altLang="en-US" sz="2400" dirty="0"/>
              <a:t>)b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</a:t>
            </a:r>
            <a:r>
              <a:rPr lang="en-US" altLang="en-US" sz="2000" dirty="0"/>
              <a:t>.</a:t>
            </a:r>
          </a:p>
          <a:p>
            <a:pPr lvl="2"/>
            <a:endParaRPr lang="en-US" altLang="en-US" sz="2000" dirty="0"/>
          </a:p>
          <a:p>
            <a:pPr lvl="2"/>
            <a:endParaRPr lang="en-US" altLang="en-US" sz="2000" dirty="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AD729C-1404-4B97-B390-610E573CF0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Stock Value = PV of Dividends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>
          <a:xfrm>
            <a:off x="228600" y="1676406"/>
            <a:ext cx="8610600" cy="4500558"/>
          </a:xfrm>
        </p:spPr>
        <p:txBody>
          <a:bodyPr/>
          <a:lstStyle/>
          <a:p>
            <a:pPr lvl="1"/>
            <a:r>
              <a:rPr lang="en-US" altLang="en-US" sz="3200" dirty="0"/>
              <a:t>What is a constant growth stock?</a:t>
            </a:r>
          </a:p>
          <a:p>
            <a:pPr lvl="1"/>
            <a:endParaRPr lang="en-US" altLang="en-US" dirty="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AD729C-1404-4B97-B390-610E573CF0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998540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Stock Value = PV of Dividends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9FB1DB-3447-4194-A850-5B9AD7C48E2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904875" y="3951288"/>
            <a:ext cx="77724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</p:txBody>
      </p:sp>
      <p:grpSp>
        <p:nvGrpSpPr>
          <p:cNvPr id="22534" name="Group 5"/>
          <p:cNvGrpSpPr>
            <a:grpSpLocks/>
          </p:cNvGrpSpPr>
          <p:nvPr/>
        </p:nvGrpSpPr>
        <p:grpSpPr bwMode="auto">
          <a:xfrm>
            <a:off x="642937" y="2198290"/>
            <a:ext cx="8034338" cy="1204913"/>
            <a:chOff x="960" y="1440"/>
            <a:chExt cx="5061" cy="759"/>
          </a:xfrm>
        </p:grpSpPr>
        <p:sp>
          <p:nvSpPr>
            <p:cNvPr id="22535" name="Text Box 6"/>
            <p:cNvSpPr txBox="1">
              <a:spLocks noChangeArrowheads="1"/>
            </p:cNvSpPr>
            <p:nvPr/>
          </p:nvSpPr>
          <p:spPr bwMode="auto">
            <a:xfrm>
              <a:off x="960" y="1584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</a:rPr>
                <a:t>P</a:t>
              </a:r>
              <a:r>
                <a:rPr lang="en-US" altLang="en-US" sz="2800" baseline="-25000" dirty="0">
                  <a:latin typeface="Arial" panose="020B0604020202020204" pitchFamily="34" charset="0"/>
                </a:rPr>
                <a:t>0</a:t>
              </a:r>
              <a:r>
                <a:rPr lang="en-US" altLang="en-US" sz="2800" dirty="0">
                  <a:latin typeface="Arial" panose="020B0604020202020204" pitchFamily="34" charset="0"/>
                </a:rPr>
                <a:t> =</a:t>
              </a:r>
            </a:p>
          </p:txBody>
        </p:sp>
        <p:sp>
          <p:nvSpPr>
            <p:cNvPr id="419847" name="Text Box 7"/>
            <p:cNvSpPr txBox="1">
              <a:spLocks noChangeArrowheads="1"/>
            </p:cNvSpPr>
            <p:nvPr/>
          </p:nvSpPr>
          <p:spPr bwMode="auto">
            <a:xfrm>
              <a:off x="960" y="1488"/>
              <a:ext cx="24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dirty="0">
                  <a:latin typeface="+mn-lt"/>
                  <a:cs typeface="Arial" charset="0"/>
                </a:rPr>
                <a:t>^</a:t>
              </a:r>
            </a:p>
          </p:txBody>
        </p:sp>
        <p:sp>
          <p:nvSpPr>
            <p:cNvPr id="22537" name="Text Box 8"/>
            <p:cNvSpPr txBox="1">
              <a:spLocks noChangeArrowheads="1"/>
            </p:cNvSpPr>
            <p:nvPr/>
          </p:nvSpPr>
          <p:spPr bwMode="auto">
            <a:xfrm>
              <a:off x="1557" y="1872"/>
              <a:ext cx="44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</a:rPr>
                <a:t>(1 + </a:t>
              </a:r>
              <a:r>
                <a:rPr lang="en-US" altLang="en-US" sz="2800" dirty="0" err="1">
                  <a:latin typeface="Arial" panose="020B0604020202020204" pitchFamily="34" charset="0"/>
                </a:rPr>
                <a:t>r</a:t>
              </a:r>
              <a:r>
                <a:rPr lang="en-US" altLang="en-US" sz="2800" baseline="-25000" dirty="0" err="1">
                  <a:latin typeface="Arial" panose="020B0604020202020204" pitchFamily="34" charset="0"/>
                </a:rPr>
                <a:t>s</a:t>
              </a:r>
              <a:r>
                <a:rPr lang="en-US" altLang="en-US" sz="2800" dirty="0">
                  <a:latin typeface="Arial" panose="020B0604020202020204" pitchFamily="34" charset="0"/>
                </a:rPr>
                <a:t>)</a:t>
              </a:r>
              <a:r>
                <a:rPr lang="en-US" altLang="en-US" sz="2800" baseline="30000" dirty="0">
                  <a:latin typeface="Arial" panose="020B0604020202020204" pitchFamily="34" charset="0"/>
                </a:rPr>
                <a:t>1</a:t>
              </a:r>
              <a:r>
                <a:rPr lang="en-US" altLang="en-US" sz="2800" dirty="0">
                  <a:latin typeface="Arial" panose="020B0604020202020204" pitchFamily="34" charset="0"/>
                </a:rPr>
                <a:t>    (1 + </a:t>
              </a:r>
              <a:r>
                <a:rPr lang="en-US" altLang="en-US" sz="2800" dirty="0" err="1">
                  <a:latin typeface="Arial" panose="020B0604020202020204" pitchFamily="34" charset="0"/>
                </a:rPr>
                <a:t>r</a:t>
              </a:r>
              <a:r>
                <a:rPr lang="en-US" altLang="en-US" sz="2800" baseline="-25000" dirty="0" err="1">
                  <a:latin typeface="Arial" panose="020B0604020202020204" pitchFamily="34" charset="0"/>
                </a:rPr>
                <a:t>s</a:t>
              </a:r>
              <a:r>
                <a:rPr lang="en-US" altLang="en-US" sz="2800" dirty="0">
                  <a:latin typeface="Arial" panose="020B0604020202020204" pitchFamily="34" charset="0"/>
                </a:rPr>
                <a:t>)</a:t>
              </a:r>
              <a:r>
                <a:rPr lang="en-US" altLang="en-US" sz="2800" baseline="30000" dirty="0">
                  <a:latin typeface="Arial" panose="020B0604020202020204" pitchFamily="34" charset="0"/>
                </a:rPr>
                <a:t>2</a:t>
              </a:r>
              <a:r>
                <a:rPr lang="en-US" altLang="en-US" sz="2800" dirty="0">
                  <a:latin typeface="Arial" panose="020B0604020202020204" pitchFamily="34" charset="0"/>
                </a:rPr>
                <a:t>    (1 + </a:t>
              </a:r>
              <a:r>
                <a:rPr lang="en-US" altLang="en-US" sz="2800" dirty="0" err="1">
                  <a:latin typeface="Arial" panose="020B0604020202020204" pitchFamily="34" charset="0"/>
                </a:rPr>
                <a:t>r</a:t>
              </a:r>
              <a:r>
                <a:rPr lang="en-US" altLang="en-US" sz="2800" baseline="-25000" dirty="0" err="1">
                  <a:latin typeface="Arial" panose="020B0604020202020204" pitchFamily="34" charset="0"/>
                </a:rPr>
                <a:t>s</a:t>
              </a:r>
              <a:r>
                <a:rPr lang="en-US" altLang="en-US" sz="2800" dirty="0">
                  <a:latin typeface="Arial" panose="020B0604020202020204" pitchFamily="34" charset="0"/>
                </a:rPr>
                <a:t>)</a:t>
              </a:r>
              <a:r>
                <a:rPr lang="en-US" altLang="en-US" sz="2800" baseline="30000" dirty="0">
                  <a:latin typeface="Arial" panose="020B0604020202020204" pitchFamily="34" charset="0"/>
                </a:rPr>
                <a:t>3</a:t>
              </a:r>
              <a:r>
                <a:rPr lang="en-US" altLang="en-US" sz="2800" dirty="0">
                  <a:latin typeface="Arial" panose="020B0604020202020204" pitchFamily="34" charset="0"/>
                </a:rPr>
                <a:t>           (1 + </a:t>
              </a:r>
              <a:r>
                <a:rPr lang="en-US" altLang="en-US" sz="2800" dirty="0" err="1">
                  <a:latin typeface="Arial" panose="020B0604020202020204" pitchFamily="34" charset="0"/>
                </a:rPr>
                <a:t>r</a:t>
              </a:r>
              <a:r>
                <a:rPr lang="en-US" altLang="en-US" sz="2800" baseline="-25000" dirty="0" err="1">
                  <a:latin typeface="Arial" panose="020B0604020202020204" pitchFamily="34" charset="0"/>
                </a:rPr>
                <a:t>s</a:t>
              </a:r>
              <a:r>
                <a:rPr lang="en-US" altLang="en-US" sz="2800" dirty="0">
                  <a:latin typeface="Arial" panose="020B0604020202020204" pitchFamily="34" charset="0"/>
                </a:rPr>
                <a:t>)</a:t>
              </a:r>
              <a:r>
                <a:rPr lang="en-US" altLang="en-US" sz="2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22538" name="Text Box 9"/>
            <p:cNvSpPr txBox="1">
              <a:spLocks noChangeArrowheads="1"/>
            </p:cNvSpPr>
            <p:nvPr/>
          </p:nvSpPr>
          <p:spPr bwMode="auto">
            <a:xfrm>
              <a:off x="1680" y="1440"/>
              <a:ext cx="397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 </a:t>
              </a:r>
              <a:r>
                <a:rPr lang="en-US" altLang="en-US" sz="2800" dirty="0">
                  <a:latin typeface="Arial" panose="020B0604020202020204" pitchFamily="34" charset="0"/>
                </a:rPr>
                <a:t>D</a:t>
              </a:r>
              <a:r>
                <a:rPr lang="en-US" altLang="en-US" sz="2800" baseline="-25000" dirty="0">
                  <a:latin typeface="Arial" panose="020B0604020202020204" pitchFamily="34" charset="0"/>
                </a:rPr>
                <a:t>1</a:t>
              </a:r>
              <a:r>
                <a:rPr lang="en-US" altLang="en-US" sz="2800" dirty="0">
                  <a:latin typeface="Arial" panose="020B0604020202020204" pitchFamily="34" charset="0"/>
                </a:rPr>
                <a:t>             D</a:t>
              </a:r>
              <a:r>
                <a:rPr lang="en-US" altLang="en-US" sz="2800" baseline="-25000" dirty="0">
                  <a:latin typeface="Arial" panose="020B0604020202020204" pitchFamily="34" charset="0"/>
                </a:rPr>
                <a:t>2</a:t>
              </a:r>
              <a:r>
                <a:rPr lang="en-US" altLang="en-US" sz="2800" dirty="0">
                  <a:latin typeface="Arial" panose="020B0604020202020204" pitchFamily="34" charset="0"/>
                </a:rPr>
                <a:t>             D</a:t>
              </a:r>
              <a:r>
                <a:rPr lang="en-US" altLang="en-US" sz="2800" baseline="-25000" dirty="0">
                  <a:latin typeface="Arial" panose="020B0604020202020204" pitchFamily="34" charset="0"/>
                </a:rPr>
                <a:t>3</a:t>
              </a:r>
              <a:r>
                <a:rPr lang="en-US" altLang="en-US" sz="2800" dirty="0">
                  <a:latin typeface="Arial" panose="020B0604020202020204" pitchFamily="34" charset="0"/>
                </a:rPr>
                <a:t>                   D</a:t>
              </a:r>
              <a:r>
                <a:rPr lang="en-US" altLang="en-US" sz="2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22539" name="Line 10"/>
            <p:cNvSpPr>
              <a:spLocks noChangeShapeType="1"/>
            </p:cNvSpPr>
            <p:nvPr/>
          </p:nvSpPr>
          <p:spPr bwMode="auto">
            <a:xfrm>
              <a:off x="1680" y="182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1"/>
            <p:cNvSpPr>
              <a:spLocks noChangeShapeType="1"/>
            </p:cNvSpPr>
            <p:nvPr/>
          </p:nvSpPr>
          <p:spPr bwMode="auto">
            <a:xfrm>
              <a:off x="2736" y="182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2"/>
            <p:cNvSpPr>
              <a:spLocks noChangeShapeType="1"/>
            </p:cNvSpPr>
            <p:nvPr/>
          </p:nvSpPr>
          <p:spPr bwMode="auto">
            <a:xfrm>
              <a:off x="3696" y="182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13"/>
            <p:cNvSpPr>
              <a:spLocks noChangeShapeType="1"/>
            </p:cNvSpPr>
            <p:nvPr/>
          </p:nvSpPr>
          <p:spPr bwMode="auto">
            <a:xfrm>
              <a:off x="5143" y="182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14"/>
            <p:cNvSpPr txBox="1">
              <a:spLocks noChangeArrowheads="1"/>
            </p:cNvSpPr>
            <p:nvPr/>
          </p:nvSpPr>
          <p:spPr bwMode="auto">
            <a:xfrm>
              <a:off x="2352" y="1632"/>
              <a:ext cx="2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</a:t>
              </a: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3360" y="1584"/>
              <a:ext cx="2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4320" y="1584"/>
              <a:ext cx="95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… +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323975"/>
          </a:xfrm>
        </p:spPr>
        <p:txBody>
          <a:bodyPr/>
          <a:lstStyle/>
          <a:p>
            <a:pPr algn="ctr"/>
            <a:r>
              <a:rPr lang="en-US" altLang="en-US" dirty="0"/>
              <a:t>For a constant growth stock: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>
          <a:xfrm>
            <a:off x="76200" y="1524001"/>
            <a:ext cx="8974138" cy="5124450"/>
          </a:xfrm>
        </p:spPr>
        <p:txBody>
          <a:bodyPr/>
          <a:lstStyle/>
          <a:p>
            <a:pPr marL="0" lvl="3" indent="0">
              <a:buClr>
                <a:schemeClr val="folHlink"/>
              </a:buClr>
              <a:buSzPct val="60000"/>
              <a:buNone/>
            </a:pPr>
            <a:r>
              <a:rPr lang="en-US" altLang="en-US" sz="2800" dirty="0"/>
              <a:t> 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D</a:t>
            </a:r>
            <a:r>
              <a:rPr lang="en-US" altLang="en-US" sz="2800" kern="12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 = D</a:t>
            </a:r>
            <a:r>
              <a:rPr lang="en-US" altLang="en-US" sz="2800" kern="12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(1 + g)</a:t>
            </a:r>
            <a:endParaRPr lang="en-US" altLang="en-US" sz="2800" kern="1200" baseline="300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</a:pP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D</a:t>
            </a:r>
            <a:r>
              <a:rPr lang="en-US" altLang="en-US" sz="2800" kern="12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 = D</a:t>
            </a:r>
            <a:r>
              <a:rPr lang="en-US" altLang="en-US" sz="2800" kern="12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(1 + g)</a:t>
            </a:r>
            <a:endParaRPr lang="en-US" altLang="en-US" sz="2800" kern="1200" baseline="300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</a:pP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D</a:t>
            </a:r>
            <a:r>
              <a:rPr lang="en-US" altLang="en-US" sz="28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 = D</a:t>
            </a:r>
            <a:r>
              <a:rPr lang="en-US" altLang="en-US" sz="28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2800" kern="1200" dirty="0">
                <a:solidFill>
                  <a:srgbClr val="000000"/>
                </a:solidFill>
                <a:latin typeface="Tahoma" panose="020B0604030504040204" pitchFamily="34" charset="0"/>
              </a:rPr>
              <a:t>(1 + g)</a:t>
            </a:r>
          </a:p>
          <a:p>
            <a:pPr marL="0" lvl="0" indent="0">
              <a:spcBef>
                <a:spcPct val="50000"/>
              </a:spcBef>
              <a:buClrTx/>
              <a:buSzTx/>
              <a:buNone/>
            </a:pPr>
            <a:endParaRPr lang="en-US" altLang="en-US" sz="2800" kern="1200" baseline="300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If g is constant &amp; less than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, then: 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   D</a:t>
            </a:r>
            <a:r>
              <a:rPr lang="en-US" altLang="en-US" sz="2800" baseline="-25000" dirty="0"/>
              <a:t>o</a:t>
            </a:r>
            <a:r>
              <a:rPr lang="en-US" altLang="en-US" sz="2800" dirty="0"/>
              <a:t>(1+g) / (R-g)  </a:t>
            </a:r>
          </a:p>
          <a:p>
            <a:pPr marL="685800" lvl="4" indent="-342900">
              <a:buClr>
                <a:schemeClr val="folHlink"/>
              </a:buClr>
              <a:buSzPct val="60000"/>
            </a:pPr>
            <a:r>
              <a:rPr lang="en-US" altLang="en-US" sz="2800" i="1" dirty="0"/>
              <a:t>or</a:t>
            </a:r>
            <a:r>
              <a:rPr lang="en-US" altLang="en-US" sz="2800" dirty="0"/>
              <a:t>  D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/ (R – g)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800" dirty="0"/>
          </a:p>
          <a:p>
            <a:pPr lvl="2"/>
            <a:endParaRPr lang="en-US" altLang="en-US" sz="2000" dirty="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AD729C-1404-4B97-B390-610E573CF0F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33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8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905750" cy="1168617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Required rate of return ?</a:t>
            </a:r>
            <a:br>
              <a:rPr lang="en-US" altLang="en-US" sz="4000" dirty="0"/>
            </a:br>
            <a:r>
              <a:rPr lang="en-US" altLang="en-US" sz="3600" dirty="0"/>
              <a:t>Beta = 1.2, </a:t>
            </a:r>
            <a:r>
              <a:rPr lang="en-US" altLang="en-US" sz="3600" dirty="0" err="1"/>
              <a:t>r</a:t>
            </a:r>
            <a:r>
              <a:rPr lang="en-US" altLang="en-US" sz="3600" baseline="-25000" dirty="0" err="1"/>
              <a:t>RF</a:t>
            </a:r>
            <a:r>
              <a:rPr lang="en-US" altLang="en-US" sz="3600" dirty="0"/>
              <a:t> = 7%, &amp; RP</a:t>
            </a:r>
            <a:r>
              <a:rPr lang="en-US" altLang="en-US" sz="3600" baseline="-25000" dirty="0"/>
              <a:t>M</a:t>
            </a:r>
            <a:r>
              <a:rPr lang="en-US" altLang="en-US" sz="3600" dirty="0"/>
              <a:t> = 5%. </a:t>
            </a:r>
          </a:p>
        </p:txBody>
      </p:sp>
      <p:sp>
        <p:nvSpPr>
          <p:cNvPr id="266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BD8C67-8262-4239-9371-A629443F1CE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1905000" y="4038600"/>
            <a:ext cx="4086225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65138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65138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651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	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(RP</a:t>
            </a:r>
            <a:r>
              <a:rPr lang="en-US" altLang="en-US" baseline="-25000" dirty="0"/>
              <a:t>M</a:t>
            </a:r>
            <a:r>
              <a:rPr lang="en-US" altLang="en-US" dirty="0"/>
              <a:t>)</a:t>
            </a:r>
            <a:r>
              <a:rPr lang="en-US" altLang="en-US" dirty="0" err="1"/>
              <a:t>b</a:t>
            </a:r>
            <a:r>
              <a:rPr lang="en-US" altLang="en-US" baseline="-25000" dirty="0" err="1"/>
              <a:t>Firm</a:t>
            </a: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= 7% + (5%)(1.2)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= 13%.</a:t>
            </a:r>
          </a:p>
        </p:txBody>
      </p:sp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1524000" y="2852738"/>
            <a:ext cx="4469173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Use SML to calculate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: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Projected Dividends</a:t>
            </a:r>
          </a:p>
        </p:txBody>
      </p:sp>
      <p:sp>
        <p:nvSpPr>
          <p:cNvPr id="27652" name="Rectangle 104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</a:t>
            </a:r>
            <a:r>
              <a:rPr lang="en-US" altLang="en-US" baseline="-25000" dirty="0"/>
              <a:t>0</a:t>
            </a:r>
            <a:r>
              <a:rPr lang="en-US" altLang="en-US" dirty="0"/>
              <a:t> = $2 &amp; constant g = 6%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</a:t>
            </a:r>
            <a:r>
              <a:rPr lang="en-US" altLang="en-US" baseline="-25000" dirty="0"/>
              <a:t>1</a:t>
            </a:r>
            <a:r>
              <a:rPr lang="en-US" altLang="en-US" dirty="0"/>
              <a:t> = D</a:t>
            </a:r>
            <a:r>
              <a:rPr lang="en-US" altLang="en-US" baseline="-25000" dirty="0"/>
              <a:t>0</a:t>
            </a:r>
            <a:r>
              <a:rPr lang="en-US" altLang="en-US" dirty="0"/>
              <a:t>(1 + g) = $2(1.06) = $2.12</a:t>
            </a:r>
          </a:p>
          <a:p>
            <a:pPr eaLnBrk="1" hangingPunct="1"/>
            <a:r>
              <a:rPr lang="en-US" altLang="en-US" dirty="0"/>
              <a:t>D</a:t>
            </a:r>
            <a:r>
              <a:rPr lang="en-US" altLang="en-US" baseline="-25000" dirty="0"/>
              <a:t>2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(1 + g) = $2.12(1.06) = $2.2472</a:t>
            </a:r>
          </a:p>
          <a:p>
            <a:pPr eaLnBrk="1" hangingPunct="1"/>
            <a:r>
              <a:rPr lang="en-US" altLang="en-US" dirty="0"/>
              <a:t>D</a:t>
            </a:r>
            <a:r>
              <a:rPr lang="en-US" altLang="en-US" baseline="-25000" dirty="0"/>
              <a:t>3</a:t>
            </a:r>
            <a:r>
              <a:rPr lang="en-US" altLang="en-US" dirty="0"/>
              <a:t> = D</a:t>
            </a:r>
            <a:r>
              <a:rPr lang="en-US" altLang="en-US" baseline="-25000" dirty="0"/>
              <a:t>2</a:t>
            </a:r>
            <a:r>
              <a:rPr lang="en-US" altLang="en-US" dirty="0"/>
              <a:t>(1 + g) = $2.2472(1.06) = $2.3820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39064C-33E1-4B23-B0D8-CE2187CC6F6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Expected Dividends &amp; PVs for: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 = 13%, D</a:t>
            </a:r>
            <a:r>
              <a:rPr lang="en-US" altLang="en-US" baseline="-25000" dirty="0"/>
              <a:t>0</a:t>
            </a:r>
            <a:r>
              <a:rPr lang="en-US" altLang="en-US" dirty="0"/>
              <a:t> = $2, g = 6%)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00574E-CB98-4758-AEAE-26D1BF624BB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grpSp>
        <p:nvGrpSpPr>
          <p:cNvPr id="29700" name="Group 32"/>
          <p:cNvGrpSpPr>
            <a:grpSpLocks/>
          </p:cNvGrpSpPr>
          <p:nvPr/>
        </p:nvGrpSpPr>
        <p:grpSpPr bwMode="auto">
          <a:xfrm>
            <a:off x="685800" y="2819400"/>
            <a:ext cx="7785100" cy="3071813"/>
            <a:chOff x="409" y="1780"/>
            <a:chExt cx="4904" cy="1935"/>
          </a:xfrm>
        </p:grpSpPr>
        <p:sp>
          <p:nvSpPr>
            <p:cNvPr id="408579" name="Line 3"/>
            <p:cNvSpPr>
              <a:spLocks noChangeShapeType="1"/>
            </p:cNvSpPr>
            <p:nvPr/>
          </p:nvSpPr>
          <p:spPr bwMode="auto">
            <a:xfrm>
              <a:off x="861" y="2104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80" name="Rectangle 4"/>
            <p:cNvSpPr>
              <a:spLocks noChangeArrowheads="1"/>
            </p:cNvSpPr>
            <p:nvPr/>
          </p:nvSpPr>
          <p:spPr bwMode="auto">
            <a:xfrm>
              <a:off x="754" y="1780"/>
              <a:ext cx="256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0</a:t>
              </a:r>
            </a:p>
          </p:txBody>
        </p:sp>
        <p:sp>
          <p:nvSpPr>
            <p:cNvPr id="408581" name="Line 5"/>
            <p:cNvSpPr>
              <a:spLocks noChangeShapeType="1"/>
            </p:cNvSpPr>
            <p:nvPr/>
          </p:nvSpPr>
          <p:spPr bwMode="auto">
            <a:xfrm>
              <a:off x="1864" y="2104"/>
              <a:ext cx="0" cy="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82" name="Rectangle 6"/>
            <p:cNvSpPr>
              <a:spLocks noChangeArrowheads="1"/>
            </p:cNvSpPr>
            <p:nvPr/>
          </p:nvSpPr>
          <p:spPr bwMode="auto">
            <a:xfrm>
              <a:off x="1762" y="1780"/>
              <a:ext cx="22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1</a:t>
              </a:r>
            </a:p>
          </p:txBody>
        </p:sp>
        <p:sp>
          <p:nvSpPr>
            <p:cNvPr id="408583" name="Line 7"/>
            <p:cNvSpPr>
              <a:spLocks noChangeShapeType="1"/>
            </p:cNvSpPr>
            <p:nvPr/>
          </p:nvSpPr>
          <p:spPr bwMode="auto">
            <a:xfrm>
              <a:off x="2869" y="2104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84" name="Rectangle 8"/>
            <p:cNvSpPr>
              <a:spLocks noChangeArrowheads="1"/>
            </p:cNvSpPr>
            <p:nvPr/>
          </p:nvSpPr>
          <p:spPr bwMode="auto">
            <a:xfrm>
              <a:off x="2606" y="2344"/>
              <a:ext cx="90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2.2472</a:t>
              </a:r>
            </a:p>
          </p:txBody>
        </p:sp>
        <p:sp>
          <p:nvSpPr>
            <p:cNvPr id="408585" name="Rectangle 9"/>
            <p:cNvSpPr>
              <a:spLocks noChangeArrowheads="1"/>
            </p:cNvSpPr>
            <p:nvPr/>
          </p:nvSpPr>
          <p:spPr bwMode="auto">
            <a:xfrm>
              <a:off x="2745" y="1780"/>
              <a:ext cx="256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2</a:t>
              </a:r>
            </a:p>
          </p:txBody>
        </p:sp>
        <p:sp>
          <p:nvSpPr>
            <p:cNvPr id="408586" name="Rectangle 10"/>
            <p:cNvSpPr>
              <a:spLocks noChangeArrowheads="1"/>
            </p:cNvSpPr>
            <p:nvPr/>
          </p:nvSpPr>
          <p:spPr bwMode="auto">
            <a:xfrm>
              <a:off x="3762" y="2344"/>
              <a:ext cx="90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2.3820</a:t>
              </a:r>
            </a:p>
          </p:txBody>
        </p:sp>
        <p:sp>
          <p:nvSpPr>
            <p:cNvPr id="408587" name="Line 11"/>
            <p:cNvSpPr>
              <a:spLocks noChangeShapeType="1"/>
            </p:cNvSpPr>
            <p:nvPr/>
          </p:nvSpPr>
          <p:spPr bwMode="auto">
            <a:xfrm>
              <a:off x="3982" y="2104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88" name="Rectangle 12"/>
            <p:cNvSpPr>
              <a:spLocks noChangeArrowheads="1"/>
            </p:cNvSpPr>
            <p:nvPr/>
          </p:nvSpPr>
          <p:spPr bwMode="auto">
            <a:xfrm>
              <a:off x="3845" y="1780"/>
              <a:ext cx="256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3</a:t>
              </a:r>
            </a:p>
          </p:txBody>
        </p:sp>
        <p:sp>
          <p:nvSpPr>
            <p:cNvPr id="408589" name="Rectangle 13"/>
            <p:cNvSpPr>
              <a:spLocks noChangeArrowheads="1"/>
            </p:cNvSpPr>
            <p:nvPr/>
          </p:nvSpPr>
          <p:spPr bwMode="auto">
            <a:xfrm>
              <a:off x="996" y="1920"/>
              <a:ext cx="781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g = 6%</a:t>
              </a:r>
            </a:p>
          </p:txBody>
        </p:sp>
        <p:sp>
          <p:nvSpPr>
            <p:cNvPr id="408591" name="Rectangle 15"/>
            <p:cNvSpPr>
              <a:spLocks noChangeArrowheads="1"/>
            </p:cNvSpPr>
            <p:nvPr/>
          </p:nvSpPr>
          <p:spPr bwMode="auto">
            <a:xfrm>
              <a:off x="4849" y="2357"/>
              <a:ext cx="394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93" name="Line 17"/>
            <p:cNvSpPr>
              <a:spLocks noChangeShapeType="1"/>
            </p:cNvSpPr>
            <p:nvPr/>
          </p:nvSpPr>
          <p:spPr bwMode="auto">
            <a:xfrm>
              <a:off x="1831" y="2695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94" name="Line 18"/>
            <p:cNvSpPr>
              <a:spLocks noChangeShapeType="1"/>
            </p:cNvSpPr>
            <p:nvPr/>
          </p:nvSpPr>
          <p:spPr bwMode="auto">
            <a:xfrm>
              <a:off x="2883" y="2661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95" name="Line 19"/>
            <p:cNvSpPr>
              <a:spLocks noChangeShapeType="1"/>
            </p:cNvSpPr>
            <p:nvPr/>
          </p:nvSpPr>
          <p:spPr bwMode="auto">
            <a:xfrm>
              <a:off x="3975" y="2661"/>
              <a:ext cx="0" cy="8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96" name="Line 20"/>
            <p:cNvSpPr>
              <a:spLocks noChangeShapeType="1"/>
            </p:cNvSpPr>
            <p:nvPr/>
          </p:nvSpPr>
          <p:spPr bwMode="auto">
            <a:xfrm flipH="1">
              <a:off x="1366" y="3542"/>
              <a:ext cx="26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597" name="Rectangle 21"/>
            <p:cNvSpPr>
              <a:spLocks noChangeArrowheads="1"/>
            </p:cNvSpPr>
            <p:nvPr/>
          </p:nvSpPr>
          <p:spPr bwMode="auto">
            <a:xfrm>
              <a:off x="412" y="2683"/>
              <a:ext cx="90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1.8761</a:t>
              </a:r>
            </a:p>
          </p:txBody>
        </p:sp>
        <p:sp>
          <p:nvSpPr>
            <p:cNvPr id="408598" name="Rectangle 22"/>
            <p:cNvSpPr>
              <a:spLocks noChangeArrowheads="1"/>
            </p:cNvSpPr>
            <p:nvPr/>
          </p:nvSpPr>
          <p:spPr bwMode="auto">
            <a:xfrm>
              <a:off x="409" y="3015"/>
              <a:ext cx="895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1.7599</a:t>
              </a:r>
            </a:p>
          </p:txBody>
        </p:sp>
        <p:sp>
          <p:nvSpPr>
            <p:cNvPr id="408599" name="Rectangle 23"/>
            <p:cNvSpPr>
              <a:spLocks noChangeArrowheads="1"/>
            </p:cNvSpPr>
            <p:nvPr/>
          </p:nvSpPr>
          <p:spPr bwMode="auto">
            <a:xfrm>
              <a:off x="409" y="3348"/>
              <a:ext cx="90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1.6508</a:t>
              </a:r>
            </a:p>
          </p:txBody>
        </p:sp>
        <p:sp>
          <p:nvSpPr>
            <p:cNvPr id="408601" name="Rectangle 25"/>
            <p:cNvSpPr>
              <a:spLocks noChangeArrowheads="1"/>
            </p:cNvSpPr>
            <p:nvPr/>
          </p:nvSpPr>
          <p:spPr bwMode="auto">
            <a:xfrm>
              <a:off x="1367" y="2688"/>
              <a:ext cx="50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13%</a:t>
              </a:r>
            </a:p>
          </p:txBody>
        </p:sp>
        <p:sp>
          <p:nvSpPr>
            <p:cNvPr id="408602" name="Line 26"/>
            <p:cNvSpPr>
              <a:spLocks noChangeShapeType="1"/>
            </p:cNvSpPr>
            <p:nvPr/>
          </p:nvSpPr>
          <p:spPr bwMode="auto">
            <a:xfrm>
              <a:off x="873" y="2233"/>
              <a:ext cx="4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603" name="Line 27"/>
            <p:cNvSpPr>
              <a:spLocks noChangeShapeType="1"/>
            </p:cNvSpPr>
            <p:nvPr/>
          </p:nvSpPr>
          <p:spPr bwMode="auto">
            <a:xfrm flipH="1">
              <a:off x="1366" y="2926"/>
              <a:ext cx="4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8604" name="Rectangle 28"/>
            <p:cNvSpPr>
              <a:spLocks noChangeArrowheads="1"/>
            </p:cNvSpPr>
            <p:nvPr/>
          </p:nvSpPr>
          <p:spPr bwMode="auto">
            <a:xfrm>
              <a:off x="1633" y="2344"/>
              <a:ext cx="815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3200" dirty="0">
                  <a:latin typeface="+mn-lt"/>
                </a:rPr>
                <a:t>2.12</a:t>
              </a:r>
            </a:p>
          </p:txBody>
        </p:sp>
        <p:sp>
          <p:nvSpPr>
            <p:cNvPr id="408605" name="Line 29"/>
            <p:cNvSpPr>
              <a:spLocks noChangeShapeType="1"/>
            </p:cNvSpPr>
            <p:nvPr/>
          </p:nvSpPr>
          <p:spPr bwMode="auto">
            <a:xfrm flipH="1">
              <a:off x="1366" y="3216"/>
              <a:ext cx="15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>
          <a:xfrm>
            <a:off x="457200" y="136524"/>
            <a:ext cx="8058150" cy="1260693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Intrinsic Stock Value: Po =? </a:t>
            </a:r>
            <a:br>
              <a:rPr lang="en-US" altLang="en-US" sz="4000" dirty="0"/>
            </a:br>
            <a:r>
              <a:rPr lang="en-US" altLang="en-US" sz="3600" dirty="0"/>
              <a:t>D</a:t>
            </a:r>
            <a:r>
              <a:rPr lang="en-US" altLang="en-US" sz="3600" baseline="-25000" dirty="0"/>
              <a:t>0</a:t>
            </a:r>
            <a:r>
              <a:rPr lang="en-US" altLang="en-US" sz="3600" dirty="0"/>
              <a:t> = $2.00, </a:t>
            </a:r>
            <a:r>
              <a:rPr lang="en-US" altLang="en-US" sz="3600" dirty="0" err="1"/>
              <a:t>r</a:t>
            </a:r>
            <a:r>
              <a:rPr lang="en-US" altLang="en-US" sz="3600" baseline="-25000" dirty="0" err="1"/>
              <a:t>s</a:t>
            </a:r>
            <a:r>
              <a:rPr lang="en-US" altLang="en-US" sz="3600" dirty="0"/>
              <a:t> = 13%, g = 6%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Constant growth model: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        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    D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/  R – g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800" dirty="0"/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 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$2.00 (1+g) / (r -g) 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 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$2.00 (1+.06) / (.13-.06)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$2.12 / (.07) 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P</a:t>
            </a:r>
            <a:r>
              <a:rPr lang="en-US" altLang="en-US" sz="2800" baseline="-25000" dirty="0"/>
              <a:t>o       </a:t>
            </a:r>
            <a:r>
              <a:rPr lang="en-US" altLang="en-US" sz="2800" dirty="0"/>
              <a:t>= $30.29  = Intrinsic of Fundamental Valued 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800" dirty="0"/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Not Market Price! </a:t>
            </a:r>
            <a:endParaRPr lang="en-US" altLang="en-US" sz="2000" dirty="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AD729C-1404-4B97-B390-610E573CF0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134587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>
          <a:xfrm>
            <a:off x="533400" y="136524"/>
            <a:ext cx="8458200" cy="1276566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Expected value in 1 yr. (P</a:t>
            </a:r>
            <a:r>
              <a:rPr lang="en-US" altLang="en-US" sz="4400" baseline="-25000" dirty="0"/>
              <a:t>1</a:t>
            </a:r>
            <a:r>
              <a:rPr lang="en-US" altLang="en-US" sz="4400" dirty="0"/>
              <a:t>)? </a:t>
            </a:r>
            <a:br>
              <a:rPr lang="en-US" altLang="en-US" sz="3600" dirty="0"/>
            </a:br>
            <a:r>
              <a:rPr lang="en-US" altLang="en-US" sz="3600" dirty="0"/>
              <a:t>D</a:t>
            </a:r>
            <a:r>
              <a:rPr lang="en-US" altLang="en-US" sz="3600" baseline="-25000" dirty="0"/>
              <a:t>0</a:t>
            </a:r>
            <a:r>
              <a:rPr lang="en-US" altLang="en-US" sz="3600" dirty="0"/>
              <a:t> = $2.00, </a:t>
            </a:r>
            <a:r>
              <a:rPr lang="en-US" altLang="en-US" sz="3600" dirty="0" err="1"/>
              <a:t>r</a:t>
            </a:r>
            <a:r>
              <a:rPr lang="en-US" altLang="en-US" sz="3600" baseline="-25000" dirty="0" err="1"/>
              <a:t>s</a:t>
            </a:r>
            <a:r>
              <a:rPr lang="en-US" altLang="en-US" sz="3600" dirty="0"/>
              <a:t> = 13%, g = 6%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Constant growth model: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        P</a:t>
            </a:r>
            <a:r>
              <a:rPr lang="en-US" altLang="en-US" sz="2800" baseline="-25000" dirty="0"/>
              <a:t>1       </a:t>
            </a:r>
            <a:r>
              <a:rPr lang="en-US" altLang="en-US" sz="2800" dirty="0"/>
              <a:t>=     D</a:t>
            </a:r>
            <a:r>
              <a:rPr lang="en-US" altLang="en-US" sz="2800" baseline="-25000" dirty="0"/>
              <a:t>2 </a:t>
            </a:r>
            <a:r>
              <a:rPr lang="en-US" altLang="en-US" sz="2800" dirty="0"/>
              <a:t>/  R – g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800" dirty="0"/>
          </a:p>
          <a:p>
            <a:pPr marL="342900" lvl="3" indent="-342900">
              <a:buClr>
                <a:schemeClr val="folHlink"/>
              </a:buClr>
              <a:buSzPct val="60000"/>
            </a:pPr>
            <a:r>
              <a:rPr lang="en-US" altLang="en-US" sz="2800" dirty="0"/>
              <a:t> P</a:t>
            </a:r>
            <a:r>
              <a:rPr lang="en-US" altLang="en-US" sz="2800" baseline="-25000" dirty="0"/>
              <a:t>1       </a:t>
            </a:r>
            <a:r>
              <a:rPr lang="en-US" altLang="en-US" sz="2800" dirty="0"/>
              <a:t>= $2.12 (1+g) /  (R – g)</a:t>
            </a: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800" dirty="0"/>
          </a:p>
          <a:p>
            <a:pPr marL="342900" lvl="3" indent="-342900">
              <a:buClr>
                <a:srgbClr val="3333CC"/>
              </a:buClr>
              <a:buSzPct val="60000"/>
            </a:pPr>
            <a:r>
              <a:rPr lang="en-US" altLang="en-US" sz="2800" dirty="0">
                <a:solidFill>
                  <a:srgbClr val="000000"/>
                </a:solidFill>
              </a:rPr>
              <a:t> P</a:t>
            </a:r>
            <a:r>
              <a:rPr lang="en-US" altLang="en-US" sz="2800" baseline="-25000" dirty="0">
                <a:solidFill>
                  <a:srgbClr val="000000"/>
                </a:solidFill>
              </a:rPr>
              <a:t>1       </a:t>
            </a:r>
            <a:r>
              <a:rPr lang="en-US" altLang="en-US" sz="2800" dirty="0">
                <a:solidFill>
                  <a:srgbClr val="000000"/>
                </a:solidFill>
              </a:rPr>
              <a:t>= $2.12 (1+.06) /  (.13-.06)</a:t>
            </a:r>
          </a:p>
          <a:p>
            <a:pPr marL="342900" lvl="3" indent="-342900">
              <a:buClr>
                <a:srgbClr val="3333CC"/>
              </a:buClr>
              <a:buSzPct val="60000"/>
            </a:pPr>
            <a:endParaRPr lang="en-US" altLang="en-US" sz="2800" dirty="0">
              <a:solidFill>
                <a:srgbClr val="000000"/>
              </a:solidFill>
            </a:endParaRPr>
          </a:p>
          <a:p>
            <a:pPr marL="342900" lvl="3" indent="-342900">
              <a:buClr>
                <a:srgbClr val="3333CC"/>
              </a:buClr>
              <a:buSzPct val="60000"/>
            </a:pPr>
            <a:r>
              <a:rPr lang="en-US" altLang="en-US" sz="2800" dirty="0">
                <a:solidFill>
                  <a:srgbClr val="000000"/>
                </a:solidFill>
              </a:rPr>
              <a:t>P</a:t>
            </a:r>
            <a:r>
              <a:rPr lang="en-US" altLang="en-US" sz="2800" baseline="-25000" dirty="0">
                <a:solidFill>
                  <a:srgbClr val="000000"/>
                </a:solidFill>
              </a:rPr>
              <a:t>1       </a:t>
            </a:r>
            <a:r>
              <a:rPr lang="en-US" altLang="en-US" sz="2800" dirty="0">
                <a:solidFill>
                  <a:srgbClr val="000000"/>
                </a:solidFill>
              </a:rPr>
              <a:t>= $2.2472  /  (.07)  </a:t>
            </a:r>
          </a:p>
          <a:p>
            <a:pPr marL="342900" lvl="3" indent="-342900">
              <a:buClr>
                <a:srgbClr val="3333CC"/>
              </a:buClr>
              <a:buSzPct val="60000"/>
            </a:pPr>
            <a:r>
              <a:rPr lang="en-US" altLang="en-US" sz="2800" dirty="0">
                <a:solidFill>
                  <a:srgbClr val="000000"/>
                </a:solidFill>
              </a:rPr>
              <a:t>P</a:t>
            </a:r>
            <a:r>
              <a:rPr lang="en-US" altLang="en-US" sz="2800" baseline="-25000" dirty="0">
                <a:solidFill>
                  <a:srgbClr val="000000"/>
                </a:solidFill>
              </a:rPr>
              <a:t>1       </a:t>
            </a:r>
            <a:r>
              <a:rPr lang="en-US" altLang="en-US" sz="2800" dirty="0">
                <a:solidFill>
                  <a:srgbClr val="000000"/>
                </a:solidFill>
              </a:rPr>
              <a:t>= $32.10</a:t>
            </a:r>
            <a:endParaRPr lang="en-US" altLang="en-US" dirty="0">
              <a:solidFill>
                <a:srgbClr val="000000"/>
              </a:solidFill>
            </a:endParaRPr>
          </a:p>
          <a:p>
            <a:pPr marL="342900" lvl="3" indent="-342900">
              <a:buClr>
                <a:srgbClr val="3333CC"/>
              </a:buClr>
              <a:buSzPct val="60000"/>
            </a:pPr>
            <a:endParaRPr lang="en-US" altLang="en-US" dirty="0">
              <a:solidFill>
                <a:srgbClr val="000000"/>
              </a:solidFill>
            </a:endParaRPr>
          </a:p>
          <a:p>
            <a:pPr marL="342900" lvl="3" indent="-342900">
              <a:buClr>
                <a:srgbClr val="3333CC"/>
              </a:buClr>
              <a:buSzPct val="60000"/>
            </a:pPr>
            <a:endParaRPr lang="en-US" altLang="en-US" dirty="0">
              <a:solidFill>
                <a:srgbClr val="000000"/>
              </a:solidFill>
            </a:endParaRPr>
          </a:p>
          <a:p>
            <a:pPr marL="342900" lvl="3" indent="-342900">
              <a:buClr>
                <a:schemeClr val="folHlink"/>
              </a:buClr>
              <a:buSzPct val="60000"/>
            </a:pPr>
            <a:endParaRPr lang="en-US" altLang="en-US" sz="2000" dirty="0"/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AD729C-1404-4B97-B390-610E573CF0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29487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Expected value in 1 </a:t>
            </a:r>
            <a:r>
              <a:rPr lang="en-US" altLang="en-US" dirty="0" err="1"/>
              <a:t>yr</a:t>
            </a:r>
            <a:r>
              <a:rPr lang="en-US" altLang="en-US" dirty="0"/>
              <a:t>: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</a:t>
            </a:r>
            <a:r>
              <a:rPr lang="en-US" altLang="en-US" baseline="-25000" dirty="0"/>
              <a:t>1</a:t>
            </a:r>
            <a:r>
              <a:rPr lang="en-US" altLang="en-US" dirty="0"/>
              <a:t> will have been paid, so expected dividends are D</a:t>
            </a:r>
            <a:r>
              <a:rPr lang="en-US" altLang="en-US" baseline="-25000" dirty="0"/>
              <a:t>2</a:t>
            </a:r>
            <a:r>
              <a:rPr lang="en-US" altLang="en-US" dirty="0"/>
              <a:t>, D</a:t>
            </a:r>
            <a:r>
              <a:rPr lang="en-US" altLang="en-US" baseline="-25000" dirty="0"/>
              <a:t>3</a:t>
            </a:r>
            <a:r>
              <a:rPr lang="en-US" altLang="en-US" dirty="0"/>
              <a:t>, D</a:t>
            </a:r>
            <a:r>
              <a:rPr lang="en-US" altLang="en-US" baseline="-25000" dirty="0"/>
              <a:t>4</a:t>
            </a:r>
            <a:r>
              <a:rPr lang="en-US" altLang="en-US" dirty="0"/>
              <a:t> &amp; so on.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77FC2A-7DB0-4707-935C-F238C2B5F58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grpSp>
        <p:nvGrpSpPr>
          <p:cNvPr id="32772" name="Group 15"/>
          <p:cNvGrpSpPr>
            <a:grpSpLocks/>
          </p:cNvGrpSpPr>
          <p:nvPr/>
        </p:nvGrpSpPr>
        <p:grpSpPr bwMode="auto">
          <a:xfrm>
            <a:off x="1828800" y="3581400"/>
            <a:ext cx="6096000" cy="1204913"/>
            <a:chOff x="1152" y="2256"/>
            <a:chExt cx="3840" cy="759"/>
          </a:xfrm>
        </p:grpSpPr>
        <p:sp>
          <p:nvSpPr>
            <p:cNvPr id="32774" name="Text Box 5"/>
            <p:cNvSpPr txBox="1">
              <a:spLocks noChangeArrowheads="1"/>
            </p:cNvSpPr>
            <p:nvPr/>
          </p:nvSpPr>
          <p:spPr bwMode="auto">
            <a:xfrm>
              <a:off x="1152" y="2448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P</a:t>
              </a:r>
              <a:r>
                <a:rPr lang="en-US" altLang="en-US" sz="2800" baseline="-25000"/>
                <a:t>1</a:t>
              </a:r>
              <a:r>
                <a:rPr lang="en-US" altLang="en-US" sz="2800"/>
                <a:t> =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32775" name="Text Box 6"/>
            <p:cNvSpPr txBox="1">
              <a:spLocks noChangeArrowheads="1"/>
            </p:cNvSpPr>
            <p:nvPr/>
          </p:nvSpPr>
          <p:spPr bwMode="auto">
            <a:xfrm>
              <a:off x="115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32776" name="Text Box 7"/>
            <p:cNvSpPr txBox="1">
              <a:spLocks noChangeArrowheads="1"/>
            </p:cNvSpPr>
            <p:nvPr/>
          </p:nvSpPr>
          <p:spPr bwMode="auto">
            <a:xfrm>
              <a:off x="1776" y="225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2</a:t>
              </a:r>
            </a:p>
          </p:txBody>
        </p:sp>
        <p:sp>
          <p:nvSpPr>
            <p:cNvPr id="32777" name="Text Box 9"/>
            <p:cNvSpPr txBox="1">
              <a:spLocks noChangeArrowheads="1"/>
            </p:cNvSpPr>
            <p:nvPr/>
          </p:nvSpPr>
          <p:spPr bwMode="auto">
            <a:xfrm>
              <a:off x="1680" y="2640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 </a:t>
              </a:r>
              <a:r>
                <a:rPr lang="en-US" altLang="en-US" sz="2800"/>
                <a:t> – g</a:t>
              </a:r>
            </a:p>
          </p:txBody>
        </p:sp>
        <p:sp>
          <p:nvSpPr>
            <p:cNvPr id="32778" name="Line 8"/>
            <p:cNvSpPr>
              <a:spLocks noChangeShapeType="1"/>
            </p:cNvSpPr>
            <p:nvPr/>
          </p:nvSpPr>
          <p:spPr bwMode="auto">
            <a:xfrm>
              <a:off x="1728" y="264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9" name="Text Box 10"/>
            <p:cNvSpPr txBox="1">
              <a:spLocks noChangeArrowheads="1"/>
            </p:cNvSpPr>
            <p:nvPr/>
          </p:nvSpPr>
          <p:spPr bwMode="auto">
            <a:xfrm>
              <a:off x="2400" y="2448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</a:t>
              </a:r>
            </a:p>
          </p:txBody>
        </p:sp>
        <p:sp>
          <p:nvSpPr>
            <p:cNvPr id="32780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$2.2472</a:t>
              </a:r>
            </a:p>
          </p:txBody>
        </p:sp>
        <p:sp>
          <p:nvSpPr>
            <p:cNvPr id="32781" name="Line 12"/>
            <p:cNvSpPr>
              <a:spLocks noChangeShapeType="1"/>
            </p:cNvSpPr>
            <p:nvPr/>
          </p:nvSpPr>
          <p:spPr bwMode="auto">
            <a:xfrm>
              <a:off x="2784" y="2640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Text Box 13"/>
            <p:cNvSpPr txBox="1">
              <a:spLocks noChangeArrowheads="1"/>
            </p:cNvSpPr>
            <p:nvPr/>
          </p:nvSpPr>
          <p:spPr bwMode="auto">
            <a:xfrm>
              <a:off x="2784" y="2688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  0.07</a:t>
              </a:r>
            </a:p>
          </p:txBody>
        </p:sp>
        <p:sp>
          <p:nvSpPr>
            <p:cNvPr id="32783" name="Text Box 14"/>
            <p:cNvSpPr txBox="1">
              <a:spLocks noChangeArrowheads="1"/>
            </p:cNvSpPr>
            <p:nvPr/>
          </p:nvSpPr>
          <p:spPr bwMode="auto">
            <a:xfrm>
              <a:off x="3744" y="2448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 $32.10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Return = </a:t>
            </a:r>
            <a:br>
              <a:rPr lang="en-US" altLang="en-US" dirty="0"/>
            </a:br>
            <a:r>
              <a:rPr lang="en-US" altLang="en-US" dirty="0"/>
              <a:t>Dividend Yield + Capital Gains Yield</a:t>
            </a:r>
          </a:p>
        </p:txBody>
      </p:sp>
      <p:sp>
        <p:nvSpPr>
          <p:cNvPr id="337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69AA70-E289-4674-8EA8-F0A38A254B1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grpSp>
        <p:nvGrpSpPr>
          <p:cNvPr id="33796" name="Group 12"/>
          <p:cNvGrpSpPr>
            <a:grpSpLocks/>
          </p:cNvGrpSpPr>
          <p:nvPr/>
        </p:nvGrpSpPr>
        <p:grpSpPr bwMode="auto">
          <a:xfrm>
            <a:off x="674688" y="2916238"/>
            <a:ext cx="7724775" cy="3463925"/>
            <a:chOff x="528" y="1728"/>
            <a:chExt cx="4821" cy="2231"/>
          </a:xfrm>
        </p:grpSpPr>
        <p:sp>
          <p:nvSpPr>
            <p:cNvPr id="33799" name="Text Box 7"/>
            <p:cNvSpPr txBox="1">
              <a:spLocks noChangeArrowheads="1"/>
            </p:cNvSpPr>
            <p:nvPr/>
          </p:nvSpPr>
          <p:spPr bwMode="auto">
            <a:xfrm>
              <a:off x="528" y="1908"/>
              <a:ext cx="4821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Dividend yield =        </a:t>
              </a:r>
            </a:p>
          </p:txBody>
        </p:sp>
        <p:sp>
          <p:nvSpPr>
            <p:cNvPr id="33800" name="Text Box 8"/>
            <p:cNvSpPr txBox="1">
              <a:spLocks noChangeArrowheads="1"/>
            </p:cNvSpPr>
            <p:nvPr/>
          </p:nvSpPr>
          <p:spPr bwMode="auto">
            <a:xfrm>
              <a:off x="3360" y="1728"/>
              <a:ext cx="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3801" name="Text Box 9"/>
            <p:cNvSpPr txBox="1">
              <a:spLocks noChangeArrowheads="1"/>
            </p:cNvSpPr>
            <p:nvPr/>
          </p:nvSpPr>
          <p:spPr bwMode="auto">
            <a:xfrm>
              <a:off x="3312" y="2093"/>
              <a:ext cx="4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3802" name="Text Box 11"/>
            <p:cNvSpPr txBox="1">
              <a:spLocks noChangeArrowheads="1"/>
            </p:cNvSpPr>
            <p:nvPr/>
          </p:nvSpPr>
          <p:spPr bwMode="auto">
            <a:xfrm>
              <a:off x="2592" y="1728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33803" name="Text Box 12"/>
            <p:cNvSpPr txBox="1">
              <a:spLocks noChangeArrowheads="1"/>
            </p:cNvSpPr>
            <p:nvPr/>
          </p:nvSpPr>
          <p:spPr bwMode="auto">
            <a:xfrm>
              <a:off x="2592" y="209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3804" name="Line 13"/>
            <p:cNvSpPr>
              <a:spLocks noChangeShapeType="1"/>
            </p:cNvSpPr>
            <p:nvPr/>
          </p:nvSpPr>
          <p:spPr bwMode="auto">
            <a:xfrm>
              <a:off x="2592" y="2093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Text Box 14"/>
            <p:cNvSpPr txBox="1">
              <a:spLocks noChangeArrowheads="1"/>
            </p:cNvSpPr>
            <p:nvPr/>
          </p:nvSpPr>
          <p:spPr bwMode="auto">
            <a:xfrm>
              <a:off x="624" y="2957"/>
              <a:ext cx="46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CG Yield =             =</a:t>
              </a:r>
            </a:p>
          </p:txBody>
        </p:sp>
        <p:sp>
          <p:nvSpPr>
            <p:cNvPr id="33806" name="Text Box 15"/>
            <p:cNvSpPr txBox="1">
              <a:spLocks noChangeArrowheads="1"/>
            </p:cNvSpPr>
            <p:nvPr/>
          </p:nvSpPr>
          <p:spPr bwMode="auto">
            <a:xfrm>
              <a:off x="1968" y="2784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1</a:t>
              </a:r>
              <a:r>
                <a:rPr lang="en-US" altLang="en-US"/>
                <a:t> – 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3807" name="Text Box 16"/>
            <p:cNvSpPr txBox="1">
              <a:spLocks noChangeArrowheads="1"/>
            </p:cNvSpPr>
            <p:nvPr/>
          </p:nvSpPr>
          <p:spPr bwMode="auto">
            <a:xfrm>
              <a:off x="1968" y="2640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^</a:t>
              </a:r>
            </a:p>
          </p:txBody>
        </p:sp>
        <p:sp>
          <p:nvSpPr>
            <p:cNvPr id="33808" name="Text Box 17"/>
            <p:cNvSpPr txBox="1">
              <a:spLocks noChangeArrowheads="1"/>
            </p:cNvSpPr>
            <p:nvPr/>
          </p:nvSpPr>
          <p:spPr bwMode="auto">
            <a:xfrm>
              <a:off x="2160" y="314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3809" name="Line 18"/>
            <p:cNvSpPr>
              <a:spLocks noChangeShapeType="1"/>
            </p:cNvSpPr>
            <p:nvPr/>
          </p:nvSpPr>
          <p:spPr bwMode="auto">
            <a:xfrm>
              <a:off x="2016" y="314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Line 19"/>
            <p:cNvSpPr>
              <a:spLocks noChangeShapeType="1"/>
            </p:cNvSpPr>
            <p:nvPr/>
          </p:nvSpPr>
          <p:spPr bwMode="auto">
            <a:xfrm>
              <a:off x="3168" y="3150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Text Box 20"/>
            <p:cNvSpPr txBox="1">
              <a:spLocks noChangeArrowheads="1"/>
            </p:cNvSpPr>
            <p:nvPr/>
          </p:nvSpPr>
          <p:spPr bwMode="auto">
            <a:xfrm>
              <a:off x="3168" y="2263"/>
              <a:ext cx="2016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3812" name="Text Box 21"/>
            <p:cNvSpPr txBox="1">
              <a:spLocks noChangeArrowheads="1"/>
            </p:cNvSpPr>
            <p:nvPr/>
          </p:nvSpPr>
          <p:spPr bwMode="auto">
            <a:xfrm>
              <a:off x="3504" y="3582"/>
              <a:ext cx="912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3813" name="Text Box 22"/>
            <p:cNvSpPr txBox="1">
              <a:spLocks noChangeArrowheads="1"/>
            </p:cNvSpPr>
            <p:nvPr/>
          </p:nvSpPr>
          <p:spPr bwMode="auto">
            <a:xfrm>
              <a:off x="1632" y="3581"/>
              <a:ext cx="1680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</p:grpSp>
      <p:sp>
        <p:nvSpPr>
          <p:cNvPr id="33797" name="TextBox 1"/>
          <p:cNvSpPr txBox="1">
            <a:spLocks noChangeArrowheads="1"/>
          </p:cNvSpPr>
          <p:nvPr/>
        </p:nvSpPr>
        <p:spPr bwMode="auto">
          <a:xfrm>
            <a:off x="5340350" y="4657725"/>
            <a:ext cx="24590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New - Old</a:t>
            </a:r>
          </a:p>
        </p:txBody>
      </p:sp>
      <p:sp>
        <p:nvSpPr>
          <p:cNvPr id="33798" name="TextBox 2"/>
          <p:cNvSpPr txBox="1">
            <a:spLocks noChangeArrowheads="1"/>
          </p:cNvSpPr>
          <p:nvPr/>
        </p:nvSpPr>
        <p:spPr bwMode="auto">
          <a:xfrm>
            <a:off x="6138863" y="5253038"/>
            <a:ext cx="7969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Old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Expected </a:t>
            </a:r>
            <a:r>
              <a:rPr lang="en-US" altLang="en-US" dirty="0" err="1"/>
              <a:t>Yr</a:t>
            </a:r>
            <a:r>
              <a:rPr lang="en-US" altLang="en-US" dirty="0"/>
              <a:t> 1</a:t>
            </a:r>
            <a:br>
              <a:rPr lang="en-US" altLang="en-US" dirty="0"/>
            </a:br>
            <a:r>
              <a:rPr lang="en-US" altLang="en-US" dirty="0"/>
              <a:t>Div. &amp; Cap. Gains Yields</a:t>
            </a:r>
          </a:p>
        </p:txBody>
      </p:sp>
      <p:sp>
        <p:nvSpPr>
          <p:cNvPr id="358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8540EE-72E1-450E-BEEB-707CF79F983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grpSp>
        <p:nvGrpSpPr>
          <p:cNvPr id="35844" name="Group 12"/>
          <p:cNvGrpSpPr>
            <a:grpSpLocks/>
          </p:cNvGrpSpPr>
          <p:nvPr/>
        </p:nvGrpSpPr>
        <p:grpSpPr bwMode="auto">
          <a:xfrm>
            <a:off x="838200" y="2743200"/>
            <a:ext cx="7653338" cy="3521075"/>
            <a:chOff x="528" y="1728"/>
            <a:chExt cx="4821" cy="2218"/>
          </a:xfrm>
        </p:grpSpPr>
        <p:sp>
          <p:nvSpPr>
            <p:cNvPr id="35845" name="Text Box 7"/>
            <p:cNvSpPr txBox="1">
              <a:spLocks noChangeArrowheads="1"/>
            </p:cNvSpPr>
            <p:nvPr/>
          </p:nvSpPr>
          <p:spPr bwMode="auto">
            <a:xfrm>
              <a:off x="528" y="1901"/>
              <a:ext cx="482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          </a:t>
              </a:r>
              <a:r>
                <a:rPr lang="en-US" altLang="en-US" dirty="0" err="1"/>
                <a:t>Div</a:t>
              </a:r>
              <a:r>
                <a:rPr lang="en-US" altLang="en-US" dirty="0"/>
                <a:t> </a:t>
              </a:r>
              <a:r>
                <a:rPr lang="en-US" altLang="en-US" dirty="0" err="1"/>
                <a:t>yld</a:t>
              </a:r>
              <a:r>
                <a:rPr lang="en-US" altLang="en-US" dirty="0"/>
                <a:t> =        =             = 7.0%.</a:t>
              </a:r>
            </a:p>
          </p:txBody>
        </p:sp>
        <p:sp>
          <p:nvSpPr>
            <p:cNvPr id="35846" name="Text Box 8"/>
            <p:cNvSpPr txBox="1">
              <a:spLocks noChangeArrowheads="1"/>
            </p:cNvSpPr>
            <p:nvPr/>
          </p:nvSpPr>
          <p:spPr bwMode="auto">
            <a:xfrm>
              <a:off x="3360" y="1728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$2.12</a:t>
              </a:r>
            </a:p>
          </p:txBody>
        </p:sp>
        <p:sp>
          <p:nvSpPr>
            <p:cNvPr id="35847" name="Text Box 9"/>
            <p:cNvSpPr txBox="1">
              <a:spLocks noChangeArrowheads="1"/>
            </p:cNvSpPr>
            <p:nvPr/>
          </p:nvSpPr>
          <p:spPr bwMode="auto">
            <a:xfrm>
              <a:off x="3312" y="2093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$30.29</a:t>
              </a:r>
            </a:p>
          </p:txBody>
        </p:sp>
        <p:sp>
          <p:nvSpPr>
            <p:cNvPr id="35848" name="Line 10"/>
            <p:cNvSpPr>
              <a:spLocks noChangeShapeType="1"/>
            </p:cNvSpPr>
            <p:nvPr/>
          </p:nvSpPr>
          <p:spPr bwMode="auto">
            <a:xfrm>
              <a:off x="3312" y="2093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Text Box 11"/>
            <p:cNvSpPr txBox="1">
              <a:spLocks noChangeArrowheads="1"/>
            </p:cNvSpPr>
            <p:nvPr/>
          </p:nvSpPr>
          <p:spPr bwMode="auto">
            <a:xfrm>
              <a:off x="2592" y="1728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35850" name="Text Box 12"/>
            <p:cNvSpPr txBox="1">
              <a:spLocks noChangeArrowheads="1"/>
            </p:cNvSpPr>
            <p:nvPr/>
          </p:nvSpPr>
          <p:spPr bwMode="auto">
            <a:xfrm>
              <a:off x="2592" y="209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5851" name="Line 13"/>
            <p:cNvSpPr>
              <a:spLocks noChangeShapeType="1"/>
            </p:cNvSpPr>
            <p:nvPr/>
          </p:nvSpPr>
          <p:spPr bwMode="auto">
            <a:xfrm>
              <a:off x="2592" y="2093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Text Box 14"/>
            <p:cNvSpPr txBox="1">
              <a:spLocks noChangeArrowheads="1"/>
            </p:cNvSpPr>
            <p:nvPr/>
          </p:nvSpPr>
          <p:spPr bwMode="auto">
            <a:xfrm>
              <a:off x="624" y="2957"/>
              <a:ext cx="46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   CG </a:t>
              </a:r>
              <a:r>
                <a:rPr lang="en-US" altLang="en-US" dirty="0" err="1"/>
                <a:t>Yld</a:t>
              </a:r>
              <a:r>
                <a:rPr lang="en-US" altLang="en-US" dirty="0"/>
                <a:t> =             =</a:t>
              </a:r>
            </a:p>
          </p:txBody>
        </p:sp>
        <p:sp>
          <p:nvSpPr>
            <p:cNvPr id="35853" name="Text Box 15"/>
            <p:cNvSpPr txBox="1">
              <a:spLocks noChangeArrowheads="1"/>
            </p:cNvSpPr>
            <p:nvPr/>
          </p:nvSpPr>
          <p:spPr bwMode="auto">
            <a:xfrm>
              <a:off x="1968" y="2784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1</a:t>
              </a:r>
              <a:r>
                <a:rPr lang="en-US" altLang="en-US"/>
                <a:t> – 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5854" name="Text Box 16"/>
            <p:cNvSpPr txBox="1">
              <a:spLocks noChangeArrowheads="1"/>
            </p:cNvSpPr>
            <p:nvPr/>
          </p:nvSpPr>
          <p:spPr bwMode="auto">
            <a:xfrm>
              <a:off x="1968" y="2640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^</a:t>
              </a:r>
            </a:p>
          </p:txBody>
        </p:sp>
        <p:sp>
          <p:nvSpPr>
            <p:cNvPr id="35855" name="Text Box 17"/>
            <p:cNvSpPr txBox="1">
              <a:spLocks noChangeArrowheads="1"/>
            </p:cNvSpPr>
            <p:nvPr/>
          </p:nvSpPr>
          <p:spPr bwMode="auto">
            <a:xfrm>
              <a:off x="2160" y="314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35856" name="Line 18"/>
            <p:cNvSpPr>
              <a:spLocks noChangeShapeType="1"/>
            </p:cNvSpPr>
            <p:nvPr/>
          </p:nvSpPr>
          <p:spPr bwMode="auto">
            <a:xfrm>
              <a:off x="2016" y="314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Line 19"/>
            <p:cNvSpPr>
              <a:spLocks noChangeShapeType="1"/>
            </p:cNvSpPr>
            <p:nvPr/>
          </p:nvSpPr>
          <p:spPr bwMode="auto">
            <a:xfrm>
              <a:off x="3168" y="3149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Text Box 20"/>
            <p:cNvSpPr txBox="1">
              <a:spLocks noChangeArrowheads="1"/>
            </p:cNvSpPr>
            <p:nvPr/>
          </p:nvSpPr>
          <p:spPr bwMode="auto">
            <a:xfrm>
              <a:off x="3120" y="2784"/>
              <a:ext cx="20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$32.10 – $30.29</a:t>
              </a:r>
            </a:p>
          </p:txBody>
        </p:sp>
        <p:sp>
          <p:nvSpPr>
            <p:cNvPr id="35859" name="Text Box 21"/>
            <p:cNvSpPr txBox="1">
              <a:spLocks noChangeArrowheads="1"/>
            </p:cNvSpPr>
            <p:nvPr/>
          </p:nvSpPr>
          <p:spPr bwMode="auto">
            <a:xfrm>
              <a:off x="3552" y="3149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$30.29</a:t>
              </a:r>
            </a:p>
          </p:txBody>
        </p:sp>
        <p:sp>
          <p:nvSpPr>
            <p:cNvPr id="35860" name="Text Box 22"/>
            <p:cNvSpPr txBox="1">
              <a:spLocks noChangeArrowheads="1"/>
            </p:cNvSpPr>
            <p:nvPr/>
          </p:nvSpPr>
          <p:spPr bwMode="auto">
            <a:xfrm>
              <a:off x="1632" y="3581"/>
              <a:ext cx="16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6.0%.</a:t>
              </a: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Total Year 1 Return</a:t>
            </a:r>
          </a:p>
        </p:txBody>
      </p:sp>
      <p:sp>
        <p:nvSpPr>
          <p:cNvPr id="37892" name="Rectangle 1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Total return = </a:t>
            </a:r>
            <a:r>
              <a:rPr lang="en-US" altLang="en-US" dirty="0" err="1"/>
              <a:t>Div</a:t>
            </a:r>
            <a:r>
              <a:rPr lang="en-US" altLang="en-US" dirty="0"/>
              <a:t> yield + Cap gains yield.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Total return =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Total return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. =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For constant growth stock: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 Cap gains </a:t>
            </a:r>
            <a:r>
              <a:rPr lang="en-US" altLang="en-US" dirty="0" err="1"/>
              <a:t>yld</a:t>
            </a:r>
            <a:r>
              <a:rPr lang="en-US" altLang="en-US" dirty="0"/>
              <a:t> =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4FDD59-EB89-4306-B9F9-247BCEA046A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Rearrange model for rate of return: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B7DCD7-EEBB-4357-BFEE-DB436D8AF8A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grpSp>
        <p:nvGrpSpPr>
          <p:cNvPr id="38916" name="Group 22"/>
          <p:cNvGrpSpPr>
            <a:grpSpLocks/>
          </p:cNvGrpSpPr>
          <p:nvPr/>
        </p:nvGrpSpPr>
        <p:grpSpPr bwMode="auto">
          <a:xfrm>
            <a:off x="1219200" y="2362200"/>
            <a:ext cx="6411913" cy="3197225"/>
            <a:chOff x="768" y="1488"/>
            <a:chExt cx="4039" cy="2014"/>
          </a:xfrm>
        </p:grpSpPr>
        <p:grpSp>
          <p:nvGrpSpPr>
            <p:cNvPr id="38917" name="Group 21"/>
            <p:cNvGrpSpPr>
              <a:grpSpLocks/>
            </p:cNvGrpSpPr>
            <p:nvPr/>
          </p:nvGrpSpPr>
          <p:grpSpPr bwMode="auto">
            <a:xfrm>
              <a:off x="768" y="2743"/>
              <a:ext cx="3988" cy="759"/>
              <a:chOff x="768" y="2743"/>
              <a:chExt cx="3988" cy="759"/>
            </a:xfrm>
          </p:grpSpPr>
          <p:sp>
            <p:nvSpPr>
              <p:cNvPr id="38931" name="Rectangle 4"/>
              <p:cNvSpPr>
                <a:spLocks noChangeArrowheads="1"/>
              </p:cNvSpPr>
              <p:nvPr/>
            </p:nvSpPr>
            <p:spPr bwMode="auto">
              <a:xfrm>
                <a:off x="768" y="2832"/>
                <a:ext cx="3988" cy="6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Then, r</a:t>
                </a:r>
                <a:r>
                  <a:rPr lang="en-US" altLang="en-US" baseline="-25000"/>
                  <a:t>s</a:t>
                </a:r>
                <a:r>
                  <a:rPr lang="en-US" altLang="en-US"/>
                  <a:t>	=  $2.12/$30.29 + 0.06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		=   0.07 + 0.06 = 13%.</a:t>
                </a:r>
              </a:p>
            </p:txBody>
          </p:sp>
          <p:sp>
            <p:nvSpPr>
              <p:cNvPr id="38932" name="Text Box 5"/>
              <p:cNvSpPr txBox="1">
                <a:spLocks noChangeArrowheads="1"/>
              </p:cNvSpPr>
              <p:nvPr/>
            </p:nvSpPr>
            <p:spPr bwMode="auto">
              <a:xfrm>
                <a:off x="1454" y="2743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cs typeface="Arial" panose="020B0604020202020204" pitchFamily="34" charset="0"/>
                  </a:rPr>
                  <a:t>^</a:t>
                </a:r>
              </a:p>
            </p:txBody>
          </p:sp>
        </p:grpSp>
        <p:sp>
          <p:nvSpPr>
            <p:cNvPr id="38918" name="Text Box 7"/>
            <p:cNvSpPr txBox="1">
              <a:spLocks noChangeArrowheads="1"/>
            </p:cNvSpPr>
            <p:nvPr/>
          </p:nvSpPr>
          <p:spPr bwMode="auto">
            <a:xfrm>
              <a:off x="1008" y="1680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P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 =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38919" name="Text Box 8"/>
            <p:cNvSpPr txBox="1">
              <a:spLocks noChangeArrowheads="1"/>
            </p:cNvSpPr>
            <p:nvPr/>
          </p:nvSpPr>
          <p:spPr bwMode="auto">
            <a:xfrm>
              <a:off x="987" y="1563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38920" name="Text Box 9"/>
            <p:cNvSpPr txBox="1">
              <a:spLocks noChangeArrowheads="1"/>
            </p:cNvSpPr>
            <p:nvPr/>
          </p:nvSpPr>
          <p:spPr bwMode="auto">
            <a:xfrm>
              <a:off x="1632" y="1488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38921" name="Text Box 11"/>
            <p:cNvSpPr txBox="1">
              <a:spLocks noChangeArrowheads="1"/>
            </p:cNvSpPr>
            <p:nvPr/>
          </p:nvSpPr>
          <p:spPr bwMode="auto">
            <a:xfrm>
              <a:off x="1518" y="1824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 </a:t>
              </a:r>
              <a:r>
                <a:rPr lang="en-US" altLang="en-US" sz="2800"/>
                <a:t> – g</a:t>
              </a:r>
            </a:p>
          </p:txBody>
        </p:sp>
        <p:sp>
          <p:nvSpPr>
            <p:cNvPr id="38922" name="Line 10"/>
            <p:cNvSpPr>
              <a:spLocks noChangeShapeType="1"/>
            </p:cNvSpPr>
            <p:nvPr/>
          </p:nvSpPr>
          <p:spPr bwMode="auto">
            <a:xfrm>
              <a:off x="1584" y="1872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3" name="Text Box 12"/>
            <p:cNvSpPr txBox="1">
              <a:spLocks noChangeArrowheads="1"/>
            </p:cNvSpPr>
            <p:nvPr/>
          </p:nvSpPr>
          <p:spPr bwMode="auto">
            <a:xfrm>
              <a:off x="2256" y="1680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to</a:t>
              </a:r>
            </a:p>
          </p:txBody>
        </p:sp>
        <p:sp>
          <p:nvSpPr>
            <p:cNvPr id="38924" name="Text Box 13"/>
            <p:cNvSpPr txBox="1">
              <a:spLocks noChangeArrowheads="1"/>
            </p:cNvSpPr>
            <p:nvPr/>
          </p:nvSpPr>
          <p:spPr bwMode="auto">
            <a:xfrm>
              <a:off x="3415" y="1536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38925" name="Line 14"/>
            <p:cNvSpPr>
              <a:spLocks noChangeShapeType="1"/>
            </p:cNvSpPr>
            <p:nvPr/>
          </p:nvSpPr>
          <p:spPr bwMode="auto">
            <a:xfrm>
              <a:off x="3360" y="18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Text Box 15"/>
            <p:cNvSpPr txBox="1">
              <a:spLocks noChangeArrowheads="1"/>
            </p:cNvSpPr>
            <p:nvPr/>
          </p:nvSpPr>
          <p:spPr bwMode="auto">
            <a:xfrm>
              <a:off x="3422" y="182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P</a:t>
              </a:r>
              <a:r>
                <a:rPr lang="en-US" altLang="en-US" sz="2800" baseline="-25000"/>
                <a:t>0</a:t>
              </a:r>
            </a:p>
          </p:txBody>
        </p:sp>
        <p:sp>
          <p:nvSpPr>
            <p:cNvPr id="38927" name="Text Box 16"/>
            <p:cNvSpPr txBox="1">
              <a:spLocks noChangeArrowheads="1"/>
            </p:cNvSpPr>
            <p:nvPr/>
          </p:nvSpPr>
          <p:spPr bwMode="auto">
            <a:xfrm>
              <a:off x="2736" y="16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</a:t>
              </a:r>
            </a:p>
          </p:txBody>
        </p:sp>
        <p:sp>
          <p:nvSpPr>
            <p:cNvPr id="38928" name="Text Box 17"/>
            <p:cNvSpPr txBox="1">
              <a:spLocks noChangeArrowheads="1"/>
            </p:cNvSpPr>
            <p:nvPr/>
          </p:nvSpPr>
          <p:spPr bwMode="auto">
            <a:xfrm>
              <a:off x="2695" y="159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38929" name="Text Box 18"/>
            <p:cNvSpPr txBox="1">
              <a:spLocks noChangeArrowheads="1"/>
            </p:cNvSpPr>
            <p:nvPr/>
          </p:nvSpPr>
          <p:spPr bwMode="auto">
            <a:xfrm>
              <a:off x="3072" y="17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</a:t>
              </a:r>
            </a:p>
          </p:txBody>
        </p:sp>
        <p:sp>
          <p:nvSpPr>
            <p:cNvPr id="38930" name="Text Box 19"/>
            <p:cNvSpPr txBox="1">
              <a:spLocks noChangeArrowheads="1"/>
            </p:cNvSpPr>
            <p:nvPr/>
          </p:nvSpPr>
          <p:spPr bwMode="auto">
            <a:xfrm>
              <a:off x="3846" y="1680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+ g.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If g = 0,  div. stream is perpetuity.</a:t>
            </a:r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AE0725-80C6-4400-890E-EA33452A84C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grpSp>
        <p:nvGrpSpPr>
          <p:cNvPr id="39940" name="Group 9"/>
          <p:cNvGrpSpPr>
            <a:grpSpLocks/>
          </p:cNvGrpSpPr>
          <p:nvPr/>
        </p:nvGrpSpPr>
        <p:grpSpPr bwMode="auto">
          <a:xfrm>
            <a:off x="1058863" y="2895600"/>
            <a:ext cx="7566025" cy="3146425"/>
            <a:chOff x="667" y="1824"/>
            <a:chExt cx="4766" cy="1982"/>
          </a:xfrm>
        </p:grpSpPr>
        <p:sp>
          <p:nvSpPr>
            <p:cNvPr id="39941" name="Rectangle 9"/>
            <p:cNvSpPr>
              <a:spLocks noChangeArrowheads="1"/>
            </p:cNvSpPr>
            <p:nvPr/>
          </p:nvSpPr>
          <p:spPr bwMode="auto">
            <a:xfrm>
              <a:off x="1934" y="2471"/>
              <a:ext cx="61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2.00</a:t>
              </a:r>
            </a:p>
          </p:txBody>
        </p:sp>
        <p:sp>
          <p:nvSpPr>
            <p:cNvPr id="39942" name="Rectangle 10"/>
            <p:cNvSpPr>
              <a:spLocks noChangeArrowheads="1"/>
            </p:cNvSpPr>
            <p:nvPr/>
          </p:nvSpPr>
          <p:spPr bwMode="auto">
            <a:xfrm>
              <a:off x="4272" y="2471"/>
              <a:ext cx="61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2.00</a:t>
              </a:r>
            </a:p>
          </p:txBody>
        </p:sp>
        <p:sp>
          <p:nvSpPr>
            <p:cNvPr id="39943" name="Line 11"/>
            <p:cNvSpPr>
              <a:spLocks noChangeShapeType="1"/>
            </p:cNvSpPr>
            <p:nvPr/>
          </p:nvSpPr>
          <p:spPr bwMode="auto">
            <a:xfrm>
              <a:off x="777" y="2145"/>
              <a:ext cx="0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4" name="Line 12"/>
            <p:cNvSpPr>
              <a:spLocks noChangeShapeType="1"/>
            </p:cNvSpPr>
            <p:nvPr/>
          </p:nvSpPr>
          <p:spPr bwMode="auto">
            <a:xfrm>
              <a:off x="2169" y="2145"/>
              <a:ext cx="0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5" name="Line 13"/>
            <p:cNvSpPr>
              <a:spLocks noChangeShapeType="1"/>
            </p:cNvSpPr>
            <p:nvPr/>
          </p:nvSpPr>
          <p:spPr bwMode="auto">
            <a:xfrm>
              <a:off x="3417" y="2145"/>
              <a:ext cx="0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6" name="Line 14"/>
            <p:cNvSpPr>
              <a:spLocks noChangeShapeType="1"/>
            </p:cNvSpPr>
            <p:nvPr/>
          </p:nvSpPr>
          <p:spPr bwMode="auto">
            <a:xfrm>
              <a:off x="4521" y="2145"/>
              <a:ext cx="0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Rectangle 15"/>
            <p:cNvSpPr>
              <a:spLocks noChangeArrowheads="1"/>
            </p:cNvSpPr>
            <p:nvPr/>
          </p:nvSpPr>
          <p:spPr bwMode="auto">
            <a:xfrm>
              <a:off x="3168" y="2471"/>
              <a:ext cx="61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2.00</a:t>
              </a:r>
            </a:p>
          </p:txBody>
        </p:sp>
        <p:sp>
          <p:nvSpPr>
            <p:cNvPr id="39948" name="Rectangle 16"/>
            <p:cNvSpPr>
              <a:spLocks noChangeArrowheads="1"/>
            </p:cNvSpPr>
            <p:nvPr/>
          </p:nvSpPr>
          <p:spPr bwMode="auto">
            <a:xfrm>
              <a:off x="672" y="1824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39949" name="Rectangle 17"/>
            <p:cNvSpPr>
              <a:spLocks noChangeArrowheads="1"/>
            </p:cNvSpPr>
            <p:nvPr/>
          </p:nvSpPr>
          <p:spPr bwMode="auto">
            <a:xfrm>
              <a:off x="2064" y="1824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39950" name="Rectangle 18"/>
            <p:cNvSpPr>
              <a:spLocks noChangeArrowheads="1"/>
            </p:cNvSpPr>
            <p:nvPr/>
          </p:nvSpPr>
          <p:spPr bwMode="auto">
            <a:xfrm>
              <a:off x="3312" y="1824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39951" name="Rectangle 19"/>
            <p:cNvSpPr>
              <a:spLocks noChangeArrowheads="1"/>
            </p:cNvSpPr>
            <p:nvPr/>
          </p:nvSpPr>
          <p:spPr bwMode="auto">
            <a:xfrm>
              <a:off x="4416" y="1824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39952" name="Rectangle 20"/>
            <p:cNvSpPr>
              <a:spLocks noChangeArrowheads="1"/>
            </p:cNvSpPr>
            <p:nvPr/>
          </p:nvSpPr>
          <p:spPr bwMode="auto">
            <a:xfrm>
              <a:off x="953" y="1974"/>
              <a:ext cx="108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 </a:t>
              </a:r>
              <a:r>
                <a:rPr lang="en-US" altLang="en-US" sz="2800"/>
                <a:t> = 13%</a:t>
              </a:r>
            </a:p>
          </p:txBody>
        </p:sp>
        <p:sp>
          <p:nvSpPr>
            <p:cNvPr id="39953" name="Line 21"/>
            <p:cNvSpPr>
              <a:spLocks noChangeShapeType="1"/>
            </p:cNvSpPr>
            <p:nvPr/>
          </p:nvSpPr>
          <p:spPr bwMode="auto">
            <a:xfrm>
              <a:off x="794" y="2316"/>
              <a:ext cx="44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4" name="Text Box 24"/>
            <p:cNvSpPr txBox="1">
              <a:spLocks noChangeArrowheads="1"/>
            </p:cNvSpPr>
            <p:nvPr/>
          </p:nvSpPr>
          <p:spPr bwMode="auto">
            <a:xfrm>
              <a:off x="681" y="3249"/>
              <a:ext cx="47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r>
                <a:rPr lang="en-US" altLang="en-US"/>
                <a:t> =         =             = $15.38.</a:t>
              </a:r>
            </a:p>
          </p:txBody>
        </p:sp>
        <p:sp>
          <p:nvSpPr>
            <p:cNvPr id="39955" name="Text Box 25"/>
            <p:cNvSpPr txBox="1">
              <a:spLocks noChangeArrowheads="1"/>
            </p:cNvSpPr>
            <p:nvPr/>
          </p:nvSpPr>
          <p:spPr bwMode="auto">
            <a:xfrm>
              <a:off x="1257" y="3076"/>
              <a:ext cx="6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PMT</a:t>
              </a:r>
            </a:p>
          </p:txBody>
        </p:sp>
        <p:sp>
          <p:nvSpPr>
            <p:cNvPr id="39956" name="Text Box 26"/>
            <p:cNvSpPr txBox="1">
              <a:spLocks noChangeArrowheads="1"/>
            </p:cNvSpPr>
            <p:nvPr/>
          </p:nvSpPr>
          <p:spPr bwMode="auto">
            <a:xfrm>
              <a:off x="1449" y="3441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</a:p>
          </p:txBody>
        </p:sp>
        <p:sp>
          <p:nvSpPr>
            <p:cNvPr id="39957" name="Line 27"/>
            <p:cNvSpPr>
              <a:spLocks noChangeShapeType="1"/>
            </p:cNvSpPr>
            <p:nvPr/>
          </p:nvSpPr>
          <p:spPr bwMode="auto">
            <a:xfrm>
              <a:off x="1305" y="3441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8" name="Line 28"/>
            <p:cNvSpPr>
              <a:spLocks noChangeShapeType="1"/>
            </p:cNvSpPr>
            <p:nvPr/>
          </p:nvSpPr>
          <p:spPr bwMode="auto">
            <a:xfrm>
              <a:off x="2224" y="3441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Text Box 29"/>
            <p:cNvSpPr txBox="1">
              <a:spLocks noChangeArrowheads="1"/>
            </p:cNvSpPr>
            <p:nvPr/>
          </p:nvSpPr>
          <p:spPr bwMode="auto">
            <a:xfrm>
              <a:off x="2224" y="3076"/>
              <a:ext cx="8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$2.00</a:t>
              </a:r>
            </a:p>
          </p:txBody>
        </p:sp>
        <p:sp>
          <p:nvSpPr>
            <p:cNvPr id="39960" name="Text Box 30"/>
            <p:cNvSpPr txBox="1">
              <a:spLocks noChangeArrowheads="1"/>
            </p:cNvSpPr>
            <p:nvPr/>
          </p:nvSpPr>
          <p:spPr bwMode="auto">
            <a:xfrm>
              <a:off x="2354" y="3441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0.13</a:t>
              </a:r>
            </a:p>
          </p:txBody>
        </p:sp>
        <p:sp>
          <p:nvSpPr>
            <p:cNvPr id="39961" name="Rectangle 31"/>
            <p:cNvSpPr>
              <a:spLocks noChangeArrowheads="1"/>
            </p:cNvSpPr>
            <p:nvPr/>
          </p:nvSpPr>
          <p:spPr bwMode="auto">
            <a:xfrm>
              <a:off x="667" y="3141"/>
              <a:ext cx="2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^</a:t>
              </a:r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Supernormal Growth Stock I</a:t>
            </a:r>
          </a:p>
        </p:txBody>
      </p:sp>
      <p:sp>
        <p:nvSpPr>
          <p:cNvPr id="41988" name="Rectangle 9"/>
          <p:cNvSpPr>
            <a:spLocks noGrp="1" noChangeArrowheads="1"/>
          </p:cNvSpPr>
          <p:nvPr>
            <p:ph idx="1"/>
          </p:nvPr>
        </p:nvSpPr>
        <p:spPr>
          <a:xfrm>
            <a:off x="628650" y="1676406"/>
            <a:ext cx="8362950" cy="450055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Supernormal growth of 30% for first 3 </a:t>
            </a:r>
            <a:r>
              <a:rPr lang="en-US" altLang="en-US" sz="2800" dirty="0" err="1"/>
              <a:t>yrs</a:t>
            </a:r>
            <a:r>
              <a:rPr lang="en-US" altLang="en-US" sz="2800" dirty="0"/>
              <a:t>, then 6% constant g thereafter.  Just paid dividend of $2.00 /</a:t>
            </a:r>
            <a:r>
              <a:rPr lang="en-US" altLang="en-US" sz="2800" dirty="0" err="1"/>
              <a:t>sh</a:t>
            </a:r>
            <a:r>
              <a:rPr lang="en-US" altLang="en-US" sz="2800" dirty="0"/>
              <a:t>, &amp; required return for investments of this risk is 13%.  What’s price today (P</a:t>
            </a:r>
            <a:r>
              <a:rPr lang="en-US" altLang="en-US" sz="2800" baseline="-25000" dirty="0"/>
              <a:t>o</a:t>
            </a:r>
            <a:r>
              <a:rPr lang="en-US" altLang="en-US" sz="2800" dirty="0"/>
              <a:t>)?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Can no longer use constant growth model.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However, growth becomes constant after 3 yrs.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0B9D01-4CD5-45CD-877A-80116A5149B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03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Nonconstant growth followed by constant growth</a:t>
            </a:r>
          </a:p>
        </p:txBody>
      </p:sp>
      <p:sp>
        <p:nvSpPr>
          <p:cNvPr id="440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20E476-C8A8-4893-A141-E853FF36075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V="1">
            <a:off x="1690688" y="2767013"/>
            <a:ext cx="7073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271713" y="2614613"/>
            <a:ext cx="793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747713" y="5915025"/>
            <a:ext cx="2249487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511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0</a:t>
            </a:r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3201988" y="3627438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802188" y="3627438"/>
            <a:ext cx="0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6516688" y="3646488"/>
            <a:ext cx="0" cy="133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2157413" y="4979988"/>
            <a:ext cx="4359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2157413" y="5510213"/>
            <a:ext cx="2416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1287463" y="3752850"/>
            <a:ext cx="3111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?</a:t>
            </a:r>
          </a:p>
        </p:txBody>
      </p:sp>
      <p:sp>
        <p:nvSpPr>
          <p:cNvPr id="44046" name="Rectangle 18"/>
          <p:cNvSpPr>
            <a:spLocks noChangeArrowheads="1"/>
          </p:cNvSpPr>
          <p:nvPr/>
        </p:nvSpPr>
        <p:spPr bwMode="auto">
          <a:xfrm>
            <a:off x="1257300" y="4316413"/>
            <a:ext cx="3286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?</a:t>
            </a:r>
          </a:p>
        </p:txBody>
      </p:sp>
      <p:sp>
        <p:nvSpPr>
          <p:cNvPr id="44047" name="Rectangle 19"/>
          <p:cNvSpPr>
            <a:spLocks noChangeArrowheads="1"/>
          </p:cNvSpPr>
          <p:nvPr/>
        </p:nvSpPr>
        <p:spPr bwMode="auto">
          <a:xfrm>
            <a:off x="1266825" y="4819650"/>
            <a:ext cx="3302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?</a:t>
            </a:r>
          </a:p>
        </p:txBody>
      </p:sp>
      <p:sp>
        <p:nvSpPr>
          <p:cNvPr id="44048" name="Rectangle 20"/>
          <p:cNvSpPr>
            <a:spLocks noChangeArrowheads="1"/>
          </p:cNvSpPr>
          <p:nvPr/>
        </p:nvSpPr>
        <p:spPr bwMode="auto">
          <a:xfrm>
            <a:off x="1285875" y="5365750"/>
            <a:ext cx="3286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?</a:t>
            </a:r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16779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9" name="Rectangle 23"/>
          <p:cNvSpPr>
            <a:spLocks noChangeArrowheads="1"/>
          </p:cNvSpPr>
          <p:nvPr/>
        </p:nvSpPr>
        <p:spPr bwMode="auto">
          <a:xfrm>
            <a:off x="2860675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32273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306705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1</a:t>
            </a:r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4778375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3" name="Rectangle 27"/>
          <p:cNvSpPr>
            <a:spLocks noChangeArrowheads="1"/>
          </p:cNvSpPr>
          <p:nvPr/>
        </p:nvSpPr>
        <p:spPr bwMode="auto">
          <a:xfrm>
            <a:off x="4437063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4625975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6161088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6402388" y="2665413"/>
            <a:ext cx="1587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6351588" y="2166938"/>
            <a:ext cx="3476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3</a:t>
            </a: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8154988" y="2578100"/>
            <a:ext cx="0" cy="506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70" name="Rectangle 34"/>
          <p:cNvSpPr>
            <a:spLocks noChangeArrowheads="1"/>
          </p:cNvSpPr>
          <p:nvPr/>
        </p:nvSpPr>
        <p:spPr bwMode="auto">
          <a:xfrm>
            <a:off x="7988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4</a:t>
            </a:r>
          </a:p>
        </p:txBody>
      </p:sp>
      <p:sp>
        <p:nvSpPr>
          <p:cNvPr id="39971" name="Rectangle 35"/>
          <p:cNvSpPr>
            <a:spLocks noChangeArrowheads="1"/>
          </p:cNvSpPr>
          <p:nvPr/>
        </p:nvSpPr>
        <p:spPr bwMode="auto">
          <a:xfrm>
            <a:off x="1782763" y="2400300"/>
            <a:ext cx="1262062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r</a:t>
            </a:r>
            <a:r>
              <a:rPr lang="en-US" sz="2000" baseline="-25000" dirty="0">
                <a:latin typeface="+mn-lt"/>
              </a:rPr>
              <a:t>s</a:t>
            </a:r>
            <a:r>
              <a:rPr lang="en-US" sz="2000" dirty="0">
                <a:latin typeface="+mn-lt"/>
              </a:rPr>
              <a:t> = ? %</a:t>
            </a:r>
          </a:p>
        </p:txBody>
      </p:sp>
      <p:sp>
        <p:nvSpPr>
          <p:cNvPr id="44062" name="Rectangle 36"/>
          <p:cNvSpPr>
            <a:spLocks noChangeArrowheads="1"/>
          </p:cNvSpPr>
          <p:nvPr/>
        </p:nvSpPr>
        <p:spPr bwMode="auto">
          <a:xfrm>
            <a:off x="815975" y="5886450"/>
            <a:ext cx="1270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??</a:t>
            </a:r>
            <a:r>
              <a:rPr lang="en-US" altLang="en-US" sz="2400"/>
              <a:t> =  P</a:t>
            </a:r>
            <a:r>
              <a:rPr lang="en-US" altLang="en-US" sz="2400" baseline="-25000"/>
              <a:t>0</a:t>
            </a:r>
          </a:p>
        </p:txBody>
      </p:sp>
      <p:sp>
        <p:nvSpPr>
          <p:cNvPr id="39973" name="Rectangle 37"/>
          <p:cNvSpPr>
            <a:spLocks noChangeArrowheads="1"/>
          </p:cNvSpPr>
          <p:nvPr/>
        </p:nvSpPr>
        <p:spPr bwMode="auto">
          <a:xfrm>
            <a:off x="1816100" y="2808288"/>
            <a:ext cx="1030288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g = ? %</a:t>
            </a:r>
          </a:p>
        </p:txBody>
      </p:sp>
      <p:sp>
        <p:nvSpPr>
          <p:cNvPr id="44064" name="Rectangle 38"/>
          <p:cNvSpPr>
            <a:spLocks noChangeArrowheads="1"/>
          </p:cNvSpPr>
          <p:nvPr/>
        </p:nvSpPr>
        <p:spPr bwMode="auto">
          <a:xfrm>
            <a:off x="3416300" y="2808288"/>
            <a:ext cx="10302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 = ? %</a:t>
            </a:r>
          </a:p>
        </p:txBody>
      </p:sp>
      <p:sp>
        <p:nvSpPr>
          <p:cNvPr id="44065" name="Rectangle 39"/>
          <p:cNvSpPr>
            <a:spLocks noChangeArrowheads="1"/>
          </p:cNvSpPr>
          <p:nvPr/>
        </p:nvSpPr>
        <p:spPr bwMode="auto">
          <a:xfrm>
            <a:off x="4940300" y="2808288"/>
            <a:ext cx="10302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 = ? %</a:t>
            </a:r>
          </a:p>
        </p:txBody>
      </p:sp>
      <p:sp>
        <p:nvSpPr>
          <p:cNvPr id="39976" name="Rectangle 40"/>
          <p:cNvSpPr>
            <a:spLocks noChangeArrowheads="1"/>
          </p:cNvSpPr>
          <p:nvPr/>
        </p:nvSpPr>
        <p:spPr bwMode="auto">
          <a:xfrm>
            <a:off x="6707188" y="2808288"/>
            <a:ext cx="1030287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g = ? %</a:t>
            </a:r>
          </a:p>
        </p:txBody>
      </p:sp>
      <p:sp>
        <p:nvSpPr>
          <p:cNvPr id="44067" name="Rectangle 42"/>
          <p:cNvSpPr>
            <a:spLocks noChangeArrowheads="1"/>
          </p:cNvSpPr>
          <p:nvPr/>
        </p:nvSpPr>
        <p:spPr bwMode="auto">
          <a:xfrm>
            <a:off x="530225" y="3135313"/>
            <a:ext cx="83661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D</a:t>
            </a:r>
            <a:r>
              <a:rPr lang="en-US" altLang="en-US" sz="2200" baseline="-25000"/>
              <a:t>o</a:t>
            </a:r>
            <a:r>
              <a:rPr lang="en-US" altLang="en-US" sz="2200"/>
              <a:t>=?(1+g)           D</a:t>
            </a:r>
            <a:r>
              <a:rPr lang="en-US" altLang="en-US" sz="2200" baseline="-25000"/>
              <a:t>1</a:t>
            </a:r>
            <a:r>
              <a:rPr lang="en-US" altLang="en-US" sz="2200"/>
              <a:t>=?         D</a:t>
            </a:r>
            <a:r>
              <a:rPr lang="en-US" altLang="en-US" sz="2200" baseline="-25000"/>
              <a:t>2</a:t>
            </a:r>
            <a:r>
              <a:rPr lang="en-US" altLang="en-US" sz="2200"/>
              <a:t>=?            D</a:t>
            </a:r>
            <a:r>
              <a:rPr lang="en-US" altLang="en-US" sz="2200" baseline="-25000"/>
              <a:t>3</a:t>
            </a:r>
            <a:r>
              <a:rPr lang="en-US" altLang="en-US" sz="2200"/>
              <a:t>=?             D</a:t>
            </a:r>
            <a:r>
              <a:rPr lang="en-US" altLang="en-US" sz="2200" baseline="-25000"/>
              <a:t>4</a:t>
            </a:r>
            <a:r>
              <a:rPr lang="en-US" altLang="en-US" sz="2200"/>
              <a:t>=?</a:t>
            </a: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 flipH="1">
            <a:off x="6664325" y="3563938"/>
            <a:ext cx="1536700" cy="152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906463" y="6319838"/>
            <a:ext cx="1050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4" name="Rectangle 48"/>
          <p:cNvSpPr>
            <a:spLocks noChangeArrowheads="1"/>
          </p:cNvSpPr>
          <p:nvPr/>
        </p:nvSpPr>
        <p:spPr bwMode="auto">
          <a:xfrm>
            <a:off x="1627188" y="574675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H="1">
            <a:off x="2157413" y="3929063"/>
            <a:ext cx="1035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H="1">
            <a:off x="2157413" y="4481513"/>
            <a:ext cx="263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81932" name="Text Box 1036"/>
          <p:cNvSpPr txBox="1">
            <a:spLocks noChangeArrowheads="1"/>
          </p:cNvSpPr>
          <p:nvPr/>
        </p:nvSpPr>
        <p:spPr bwMode="auto">
          <a:xfrm>
            <a:off x="4635500" y="5245100"/>
            <a:ext cx="2514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P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 =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81933" name="Rectangle 1037"/>
          <p:cNvSpPr>
            <a:spLocks noChangeArrowheads="1"/>
          </p:cNvSpPr>
          <p:nvPr/>
        </p:nvSpPr>
        <p:spPr bwMode="auto">
          <a:xfrm>
            <a:off x="4616450" y="509270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44075" name="Text Box 1038"/>
          <p:cNvSpPr txBox="1">
            <a:spLocks noChangeArrowheads="1"/>
          </p:cNvSpPr>
          <p:nvPr/>
        </p:nvSpPr>
        <p:spPr bwMode="auto">
          <a:xfrm>
            <a:off x="5445125" y="502602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D</a:t>
            </a:r>
            <a:r>
              <a:rPr lang="en-US" altLang="en-US" sz="2400" baseline="-25000"/>
              <a:t>4</a:t>
            </a:r>
          </a:p>
        </p:txBody>
      </p:sp>
      <p:sp>
        <p:nvSpPr>
          <p:cNvPr id="81935" name="Text Box 1039"/>
          <p:cNvSpPr txBox="1">
            <a:spLocks noChangeArrowheads="1"/>
          </p:cNvSpPr>
          <p:nvPr/>
        </p:nvSpPr>
        <p:spPr bwMode="auto">
          <a:xfrm>
            <a:off x="5292725" y="5483225"/>
            <a:ext cx="175260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 R - g</a:t>
            </a:r>
          </a:p>
        </p:txBody>
      </p:sp>
      <p:sp>
        <p:nvSpPr>
          <p:cNvPr id="81936" name="Line 1040"/>
          <p:cNvSpPr>
            <a:spLocks noChangeShapeType="1"/>
          </p:cNvSpPr>
          <p:nvPr/>
        </p:nvSpPr>
        <p:spPr bwMode="auto">
          <a:xfrm>
            <a:off x="5426075" y="549275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44078" name="Right Arrow 1"/>
          <p:cNvSpPr>
            <a:spLocks noChangeArrowheads="1"/>
          </p:cNvSpPr>
          <p:nvPr/>
        </p:nvSpPr>
        <p:spPr bwMode="auto">
          <a:xfrm>
            <a:off x="2470150" y="3213100"/>
            <a:ext cx="398463" cy="314325"/>
          </a:xfrm>
          <a:prstGeom prst="right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103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Nonconstant growth</a:t>
            </a:r>
            <a:br>
              <a:rPr lang="en-US" altLang="en-US" dirty="0"/>
            </a:br>
            <a:r>
              <a:rPr lang="en-US" altLang="en-US" dirty="0"/>
              <a:t>Followed by constant growth (D</a:t>
            </a:r>
            <a:r>
              <a:rPr lang="en-US" altLang="en-US" baseline="-25000" dirty="0"/>
              <a:t>0</a:t>
            </a:r>
            <a:r>
              <a:rPr lang="en-US" altLang="en-US" dirty="0"/>
              <a:t> = $2):</a:t>
            </a:r>
          </a:p>
        </p:txBody>
      </p:sp>
      <p:sp>
        <p:nvSpPr>
          <p:cNvPr id="460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AD4795-2071-4E0D-8220-016CCB471A6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V="1">
            <a:off x="1690688" y="2767013"/>
            <a:ext cx="7073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271713" y="2614613"/>
            <a:ext cx="793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747713" y="5915025"/>
            <a:ext cx="2249487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511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0</a:t>
            </a:r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3201988" y="3627438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802188" y="3627438"/>
            <a:ext cx="0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6516688" y="3646488"/>
            <a:ext cx="0" cy="133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2157413" y="4979988"/>
            <a:ext cx="4359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2157413" y="5510213"/>
            <a:ext cx="2416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977900" y="3752850"/>
            <a:ext cx="7810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2.30</a:t>
            </a:r>
          </a:p>
        </p:txBody>
      </p:sp>
      <p:sp>
        <p:nvSpPr>
          <p:cNvPr id="46094" name="Rectangle 18"/>
          <p:cNvSpPr>
            <a:spLocks noChangeArrowheads="1"/>
          </p:cNvSpPr>
          <p:nvPr/>
        </p:nvSpPr>
        <p:spPr bwMode="auto">
          <a:xfrm>
            <a:off x="977900" y="4286250"/>
            <a:ext cx="7810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2.65</a:t>
            </a:r>
          </a:p>
        </p:txBody>
      </p:sp>
      <p:sp>
        <p:nvSpPr>
          <p:cNvPr id="46095" name="Rectangle 19"/>
          <p:cNvSpPr>
            <a:spLocks noChangeArrowheads="1"/>
          </p:cNvSpPr>
          <p:nvPr/>
        </p:nvSpPr>
        <p:spPr bwMode="auto">
          <a:xfrm>
            <a:off x="977900" y="4819650"/>
            <a:ext cx="7810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3.05</a:t>
            </a:r>
          </a:p>
        </p:txBody>
      </p:sp>
      <p:sp>
        <p:nvSpPr>
          <p:cNvPr id="46096" name="Rectangle 20"/>
          <p:cNvSpPr>
            <a:spLocks noChangeArrowheads="1"/>
          </p:cNvSpPr>
          <p:nvPr/>
        </p:nvSpPr>
        <p:spPr bwMode="auto">
          <a:xfrm>
            <a:off x="825500" y="5353050"/>
            <a:ext cx="9493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46.11</a:t>
            </a:r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16779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9" name="Rectangle 23"/>
          <p:cNvSpPr>
            <a:spLocks noChangeArrowheads="1"/>
          </p:cNvSpPr>
          <p:nvPr/>
        </p:nvSpPr>
        <p:spPr bwMode="auto">
          <a:xfrm>
            <a:off x="2860675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32273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306705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1</a:t>
            </a:r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4778375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3" name="Rectangle 27"/>
          <p:cNvSpPr>
            <a:spLocks noChangeArrowheads="1"/>
          </p:cNvSpPr>
          <p:nvPr/>
        </p:nvSpPr>
        <p:spPr bwMode="auto">
          <a:xfrm>
            <a:off x="4437063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4625975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6161088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6402388" y="2665413"/>
            <a:ext cx="1587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6351588" y="2166938"/>
            <a:ext cx="3476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3</a:t>
            </a: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8154988" y="2578100"/>
            <a:ext cx="0" cy="506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70" name="Rectangle 34"/>
          <p:cNvSpPr>
            <a:spLocks noChangeArrowheads="1"/>
          </p:cNvSpPr>
          <p:nvPr/>
        </p:nvSpPr>
        <p:spPr bwMode="auto">
          <a:xfrm>
            <a:off x="7988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4</a:t>
            </a:r>
          </a:p>
        </p:txBody>
      </p:sp>
      <p:sp>
        <p:nvSpPr>
          <p:cNvPr id="39971" name="Rectangle 35"/>
          <p:cNvSpPr>
            <a:spLocks noChangeArrowheads="1"/>
          </p:cNvSpPr>
          <p:nvPr/>
        </p:nvSpPr>
        <p:spPr bwMode="auto">
          <a:xfrm>
            <a:off x="1782763" y="2400300"/>
            <a:ext cx="126206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r</a:t>
            </a:r>
            <a:r>
              <a:rPr lang="en-US" sz="2000" baseline="-25000" dirty="0">
                <a:latin typeface="+mn-lt"/>
              </a:rPr>
              <a:t>s</a:t>
            </a:r>
            <a:r>
              <a:rPr lang="en-US" sz="2000" dirty="0">
                <a:latin typeface="+mn-lt"/>
              </a:rPr>
              <a:t> = 13%</a:t>
            </a:r>
          </a:p>
        </p:txBody>
      </p:sp>
      <p:sp>
        <p:nvSpPr>
          <p:cNvPr id="46110" name="Rectangle 36"/>
          <p:cNvSpPr>
            <a:spLocks noChangeArrowheads="1"/>
          </p:cNvSpPr>
          <p:nvPr/>
        </p:nvSpPr>
        <p:spPr bwMode="auto">
          <a:xfrm>
            <a:off x="815975" y="5886450"/>
            <a:ext cx="17414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54.11</a:t>
            </a:r>
            <a:r>
              <a:rPr lang="en-US" altLang="en-US" sz="2400"/>
              <a:t> =  P</a:t>
            </a:r>
            <a:r>
              <a:rPr lang="en-US" altLang="en-US" sz="2400" baseline="-25000"/>
              <a:t>0</a:t>
            </a:r>
          </a:p>
        </p:txBody>
      </p:sp>
      <p:sp>
        <p:nvSpPr>
          <p:cNvPr id="39973" name="Rectangle 37"/>
          <p:cNvSpPr>
            <a:spLocks noChangeArrowheads="1"/>
          </p:cNvSpPr>
          <p:nvPr/>
        </p:nvSpPr>
        <p:spPr bwMode="auto">
          <a:xfrm>
            <a:off x="1816100" y="2808288"/>
            <a:ext cx="1103313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g = 30%</a:t>
            </a:r>
          </a:p>
        </p:txBody>
      </p:sp>
      <p:sp>
        <p:nvSpPr>
          <p:cNvPr id="46112" name="Rectangle 38"/>
          <p:cNvSpPr>
            <a:spLocks noChangeArrowheads="1"/>
          </p:cNvSpPr>
          <p:nvPr/>
        </p:nvSpPr>
        <p:spPr bwMode="auto">
          <a:xfrm>
            <a:off x="3416300" y="2808288"/>
            <a:ext cx="1103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 = 30%</a:t>
            </a:r>
          </a:p>
        </p:txBody>
      </p:sp>
      <p:sp>
        <p:nvSpPr>
          <p:cNvPr id="46113" name="Rectangle 39"/>
          <p:cNvSpPr>
            <a:spLocks noChangeArrowheads="1"/>
          </p:cNvSpPr>
          <p:nvPr/>
        </p:nvSpPr>
        <p:spPr bwMode="auto">
          <a:xfrm>
            <a:off x="4940300" y="2808288"/>
            <a:ext cx="1103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 = 30%</a:t>
            </a:r>
          </a:p>
        </p:txBody>
      </p:sp>
      <p:sp>
        <p:nvSpPr>
          <p:cNvPr id="39976" name="Rectangle 40"/>
          <p:cNvSpPr>
            <a:spLocks noChangeArrowheads="1"/>
          </p:cNvSpPr>
          <p:nvPr/>
        </p:nvSpPr>
        <p:spPr bwMode="auto">
          <a:xfrm>
            <a:off x="6707188" y="2808288"/>
            <a:ext cx="976312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g = 6%</a:t>
            </a:r>
          </a:p>
        </p:txBody>
      </p:sp>
      <p:sp>
        <p:nvSpPr>
          <p:cNvPr id="46115" name="Rectangle 42"/>
          <p:cNvSpPr>
            <a:spLocks noChangeArrowheads="1"/>
          </p:cNvSpPr>
          <p:nvPr/>
        </p:nvSpPr>
        <p:spPr bwMode="auto">
          <a:xfrm>
            <a:off x="530225" y="3135313"/>
            <a:ext cx="83661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D</a:t>
            </a:r>
            <a:r>
              <a:rPr lang="en-US" altLang="en-US" sz="2200" baseline="-25000"/>
              <a:t>o</a:t>
            </a:r>
            <a:r>
              <a:rPr lang="en-US" altLang="en-US" sz="2200"/>
              <a:t>=2.00(1+g)      D</a:t>
            </a:r>
            <a:r>
              <a:rPr lang="en-US" altLang="en-US" sz="2200" baseline="-25000"/>
              <a:t>1</a:t>
            </a:r>
            <a:r>
              <a:rPr lang="en-US" altLang="en-US" sz="2200"/>
              <a:t>=2.60      D</a:t>
            </a:r>
            <a:r>
              <a:rPr lang="en-US" altLang="en-US" sz="2200" baseline="-25000"/>
              <a:t>2</a:t>
            </a:r>
            <a:r>
              <a:rPr lang="en-US" altLang="en-US" sz="2200"/>
              <a:t>=3.38      D</a:t>
            </a:r>
            <a:r>
              <a:rPr lang="en-US" altLang="en-US" sz="2200" baseline="-25000"/>
              <a:t>3</a:t>
            </a:r>
            <a:r>
              <a:rPr lang="en-US" altLang="en-US" sz="2200"/>
              <a:t>=4.39       D</a:t>
            </a:r>
            <a:r>
              <a:rPr lang="en-US" altLang="en-US" sz="2200" baseline="-25000"/>
              <a:t>4</a:t>
            </a:r>
            <a:r>
              <a:rPr lang="en-US" altLang="en-US" sz="2200"/>
              <a:t>=4.66</a:t>
            </a: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 flipH="1">
            <a:off x="6664325" y="3563938"/>
            <a:ext cx="1536700" cy="152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906463" y="6319838"/>
            <a:ext cx="1050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4" name="Rectangle 48"/>
          <p:cNvSpPr>
            <a:spLocks noChangeArrowheads="1"/>
          </p:cNvSpPr>
          <p:nvPr/>
        </p:nvSpPr>
        <p:spPr bwMode="auto">
          <a:xfrm>
            <a:off x="2370138" y="5730875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H="1">
            <a:off x="2157413" y="3929063"/>
            <a:ext cx="1035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H="1">
            <a:off x="2157413" y="4481513"/>
            <a:ext cx="263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81932" name="Text Box 1036"/>
          <p:cNvSpPr txBox="1">
            <a:spLocks noChangeArrowheads="1"/>
          </p:cNvSpPr>
          <p:nvPr/>
        </p:nvSpPr>
        <p:spPr bwMode="auto">
          <a:xfrm>
            <a:off x="4635500" y="5245100"/>
            <a:ext cx="2514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P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 =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81933" name="Rectangle 1037"/>
          <p:cNvSpPr>
            <a:spLocks noChangeArrowheads="1"/>
          </p:cNvSpPr>
          <p:nvPr/>
        </p:nvSpPr>
        <p:spPr bwMode="auto">
          <a:xfrm>
            <a:off x="4616450" y="509270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46123" name="Text Box 1038"/>
          <p:cNvSpPr txBox="1">
            <a:spLocks noChangeArrowheads="1"/>
          </p:cNvSpPr>
          <p:nvPr/>
        </p:nvSpPr>
        <p:spPr bwMode="auto">
          <a:xfrm>
            <a:off x="5445125" y="502602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$4.66</a:t>
            </a:r>
          </a:p>
        </p:txBody>
      </p:sp>
      <p:sp>
        <p:nvSpPr>
          <p:cNvPr id="81935" name="Text Box 1039"/>
          <p:cNvSpPr txBox="1">
            <a:spLocks noChangeArrowheads="1"/>
          </p:cNvSpPr>
          <p:nvPr/>
        </p:nvSpPr>
        <p:spPr bwMode="auto">
          <a:xfrm>
            <a:off x="5292725" y="5483225"/>
            <a:ext cx="175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0.13 – 0.06</a:t>
            </a:r>
          </a:p>
        </p:txBody>
      </p:sp>
      <p:sp>
        <p:nvSpPr>
          <p:cNvPr id="81936" name="Line 1040"/>
          <p:cNvSpPr>
            <a:spLocks noChangeShapeType="1"/>
          </p:cNvSpPr>
          <p:nvPr/>
        </p:nvSpPr>
        <p:spPr bwMode="auto">
          <a:xfrm>
            <a:off x="5426075" y="549275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46126" name="Text Box 1041"/>
          <p:cNvSpPr txBox="1">
            <a:spLocks noChangeArrowheads="1"/>
          </p:cNvSpPr>
          <p:nvPr/>
        </p:nvSpPr>
        <p:spPr bwMode="auto">
          <a:xfrm>
            <a:off x="6910388" y="5235575"/>
            <a:ext cx="208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= $66.54</a:t>
            </a:r>
          </a:p>
        </p:txBody>
      </p:sp>
      <p:sp>
        <p:nvSpPr>
          <p:cNvPr id="46127" name="Right Arrow 1"/>
          <p:cNvSpPr>
            <a:spLocks noChangeArrowheads="1"/>
          </p:cNvSpPr>
          <p:nvPr/>
        </p:nvSpPr>
        <p:spPr bwMode="auto">
          <a:xfrm>
            <a:off x="2470150" y="3213100"/>
            <a:ext cx="398463" cy="314325"/>
          </a:xfrm>
          <a:prstGeom prst="right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Using Cfs </a:t>
            </a:r>
          </a:p>
        </p:txBody>
      </p:sp>
      <p:sp>
        <p:nvSpPr>
          <p:cNvPr id="48132" name="Content Placeholder 4"/>
          <p:cNvSpPr>
            <a:spLocks noGrp="1"/>
          </p:cNvSpPr>
          <p:nvPr>
            <p:ph idx="1"/>
          </p:nvPr>
        </p:nvSpPr>
        <p:spPr>
          <a:xfrm>
            <a:off x="628650" y="2058988"/>
            <a:ext cx="7886700" cy="4433884"/>
          </a:xfrm>
        </p:spPr>
        <p:txBody>
          <a:bodyPr/>
          <a:lstStyle/>
          <a:p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D</a:t>
            </a:r>
            <a:r>
              <a:rPr lang="en-US" altLang="en-US" baseline="-25000" dirty="0"/>
              <a:t>o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 = D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 = D</a:t>
            </a:r>
            <a:r>
              <a:rPr lang="en-US" altLang="en-US" baseline="-25000" dirty="0"/>
              <a:t>2 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= D</a:t>
            </a:r>
            <a:r>
              <a:rPr lang="en-US" altLang="en-US" baseline="-25000" dirty="0"/>
              <a:t>3  </a:t>
            </a:r>
            <a:r>
              <a:rPr lang="en-US" altLang="en-US" dirty="0"/>
              <a:t> + P</a:t>
            </a:r>
            <a:r>
              <a:rPr lang="en-US" altLang="en-US" baseline="-25000" dirty="0"/>
              <a:t>3 </a:t>
            </a:r>
            <a:endParaRPr lang="en-US" altLang="en-US" dirty="0"/>
          </a:p>
          <a:p>
            <a:r>
              <a:rPr lang="en-US" altLang="en-US" dirty="0" err="1"/>
              <a:t>i</a:t>
            </a:r>
            <a:r>
              <a:rPr lang="en-US" altLang="en-US" dirty="0"/>
              <a:t> = R %</a:t>
            </a:r>
          </a:p>
          <a:p>
            <a:r>
              <a:rPr lang="en-US" altLang="en-US" dirty="0"/>
              <a:t>P</a:t>
            </a:r>
            <a:r>
              <a:rPr lang="en-US" altLang="en-US" baseline="-25000" dirty="0"/>
              <a:t>o</a:t>
            </a:r>
            <a:r>
              <a:rPr lang="en-US" altLang="en-US" dirty="0"/>
              <a:t> = NPV = ? </a:t>
            </a:r>
          </a:p>
        </p:txBody>
      </p:sp>
      <p:sp>
        <p:nvSpPr>
          <p:cNvPr id="4813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898F69-C520-40BB-91F2-8ECF6471911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8131" name="Text Placeholder 3"/>
          <p:cNvSpPr>
            <a:spLocks noGrp="1"/>
          </p:cNvSpPr>
          <p:nvPr>
            <p:ph type="body" idx="4294967295"/>
          </p:nvPr>
        </p:nvSpPr>
        <p:spPr>
          <a:xfrm>
            <a:off x="30480" y="1428465"/>
            <a:ext cx="4040188" cy="639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u="sng" dirty="0"/>
              <a:t>After Determining: </a:t>
            </a:r>
          </a:p>
        </p:txBody>
      </p:sp>
      <p:sp>
        <p:nvSpPr>
          <p:cNvPr id="48133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4664139" y="1556385"/>
            <a:ext cx="3887787" cy="8239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en-US" dirty="0"/>
              <a:t>Future </a:t>
            </a:r>
            <a:r>
              <a:rPr lang="en-US" altLang="en-US" dirty="0" err="1"/>
              <a:t>Divs</a:t>
            </a:r>
            <a:r>
              <a:rPr lang="en-US" altLang="en-US" dirty="0"/>
              <a:t> &amp; </a:t>
            </a:r>
            <a:r>
              <a:rPr lang="en-US" altLang="en-US" dirty="0" err="1"/>
              <a:t>g</a:t>
            </a:r>
            <a:r>
              <a:rPr lang="en-US" altLang="en-US" baseline="-25000" dirty="0" err="1"/>
              <a:t>k</a:t>
            </a:r>
            <a:r>
              <a:rPr lang="en-US" altLang="en-US" dirty="0"/>
              <a:t> </a:t>
            </a:r>
            <a:r>
              <a:rPr lang="en-US" altLang="en-US" u="sng" dirty="0"/>
              <a:t>terminal value (price) </a:t>
            </a:r>
          </a:p>
        </p:txBody>
      </p:sp>
      <p:sp>
        <p:nvSpPr>
          <p:cNvPr id="48134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639755" y="2526030"/>
            <a:ext cx="3887787" cy="3684588"/>
          </a:xfrm>
        </p:spPr>
        <p:txBody>
          <a:bodyPr/>
          <a:lstStyle/>
          <a:p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0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= 2.60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= 3.38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= 4.39 + 66.54 =70.93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= 13 %</a:t>
            </a:r>
          </a:p>
          <a:p>
            <a:r>
              <a:rPr lang="en-US" altLang="en-US" dirty="0"/>
              <a:t>P</a:t>
            </a:r>
            <a:r>
              <a:rPr lang="en-US" altLang="en-US" baseline="-25000" dirty="0"/>
              <a:t>o</a:t>
            </a:r>
            <a:r>
              <a:rPr lang="en-US" altLang="en-US" dirty="0"/>
              <a:t> = NPV = ? = $54.11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Expected </a:t>
            </a:r>
            <a:r>
              <a:rPr lang="en-US" altLang="en-US" dirty="0" err="1"/>
              <a:t>Yr</a:t>
            </a:r>
            <a:r>
              <a:rPr lang="en-US" altLang="en-US" dirty="0"/>
              <a:t> 0</a:t>
            </a:r>
            <a:br>
              <a:rPr lang="en-US" altLang="en-US" dirty="0"/>
            </a:br>
            <a:r>
              <a:rPr lang="en-US" altLang="en-US" dirty="0" err="1"/>
              <a:t>Divid</a:t>
            </a:r>
            <a:r>
              <a:rPr lang="en-US" altLang="en-US" dirty="0"/>
              <a:t>. &amp; Cap Gains Yield</a:t>
            </a:r>
          </a:p>
        </p:txBody>
      </p:sp>
      <p:sp>
        <p:nvSpPr>
          <p:cNvPr id="491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BB0677-4E81-4A40-92EE-8E4292CE600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grpSp>
        <p:nvGrpSpPr>
          <p:cNvPr id="49156" name="Group 27"/>
          <p:cNvGrpSpPr>
            <a:grpSpLocks/>
          </p:cNvGrpSpPr>
          <p:nvPr/>
        </p:nvGrpSpPr>
        <p:grpSpPr bwMode="auto">
          <a:xfrm>
            <a:off x="990600" y="2514600"/>
            <a:ext cx="7783513" cy="3732213"/>
            <a:chOff x="624" y="1584"/>
            <a:chExt cx="4903" cy="2351"/>
          </a:xfrm>
        </p:grpSpPr>
        <p:sp>
          <p:nvSpPr>
            <p:cNvPr id="49157" name="Text Box 13"/>
            <p:cNvSpPr txBox="1">
              <a:spLocks noChangeArrowheads="1"/>
            </p:cNvSpPr>
            <p:nvPr/>
          </p:nvSpPr>
          <p:spPr bwMode="auto">
            <a:xfrm>
              <a:off x="720" y="3072"/>
              <a:ext cx="460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CG Yield = 13.0% – 4.81% = 8.19%.</a:t>
              </a:r>
            </a:p>
          </p:txBody>
        </p:sp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624" y="2016"/>
              <a:ext cx="490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         </a:t>
              </a:r>
              <a:r>
                <a:rPr lang="en-US" altLang="en-US" dirty="0" err="1"/>
                <a:t>Div</a:t>
              </a:r>
              <a:r>
                <a:rPr lang="en-US" altLang="en-US" dirty="0"/>
                <a:t> </a:t>
              </a:r>
              <a:r>
                <a:rPr lang="en-US" altLang="en-US" dirty="0" err="1"/>
                <a:t>yld</a:t>
              </a:r>
              <a:r>
                <a:rPr lang="en-US" altLang="en-US" dirty="0"/>
                <a:t> =        =             = 4.81%</a:t>
              </a:r>
            </a:p>
          </p:txBody>
        </p:sp>
        <p:sp>
          <p:nvSpPr>
            <p:cNvPr id="49159" name="Text Box 7"/>
            <p:cNvSpPr txBox="1">
              <a:spLocks noChangeArrowheads="1"/>
            </p:cNvSpPr>
            <p:nvPr/>
          </p:nvSpPr>
          <p:spPr bwMode="auto">
            <a:xfrm>
              <a:off x="3456" y="1843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$2.60</a:t>
              </a:r>
            </a:p>
          </p:txBody>
        </p:sp>
        <p:sp>
          <p:nvSpPr>
            <p:cNvPr id="49160" name="Text Box 8"/>
            <p:cNvSpPr txBox="1">
              <a:spLocks noChangeArrowheads="1"/>
            </p:cNvSpPr>
            <p:nvPr/>
          </p:nvSpPr>
          <p:spPr bwMode="auto">
            <a:xfrm>
              <a:off x="3408" y="2208"/>
              <a:ext cx="100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$54.11</a:t>
              </a:r>
            </a:p>
          </p:txBody>
        </p:sp>
        <p:sp>
          <p:nvSpPr>
            <p:cNvPr id="49161" name="Line 9"/>
            <p:cNvSpPr>
              <a:spLocks noChangeShapeType="1"/>
            </p:cNvSpPr>
            <p:nvPr/>
          </p:nvSpPr>
          <p:spPr bwMode="auto">
            <a:xfrm>
              <a:off x="3408" y="220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2" name="Text Box 10"/>
            <p:cNvSpPr txBox="1">
              <a:spLocks noChangeArrowheads="1"/>
            </p:cNvSpPr>
            <p:nvPr/>
          </p:nvSpPr>
          <p:spPr bwMode="auto">
            <a:xfrm>
              <a:off x="2688" y="184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49163" name="Text Box 11"/>
            <p:cNvSpPr txBox="1">
              <a:spLocks noChangeArrowheads="1"/>
            </p:cNvSpPr>
            <p:nvPr/>
          </p:nvSpPr>
          <p:spPr bwMode="auto">
            <a:xfrm>
              <a:off x="2688" y="2208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49164" name="Line 12"/>
            <p:cNvSpPr>
              <a:spLocks noChangeShapeType="1"/>
            </p:cNvSpPr>
            <p:nvPr/>
          </p:nvSpPr>
          <p:spPr bwMode="auto">
            <a:xfrm>
              <a:off x="2688" y="220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5" name="Text Box 22"/>
            <p:cNvSpPr txBox="1">
              <a:spLocks noChangeArrowheads="1"/>
            </p:cNvSpPr>
            <p:nvPr/>
          </p:nvSpPr>
          <p:spPr bwMode="auto">
            <a:xfrm>
              <a:off x="672" y="1584"/>
              <a:ext cx="183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Today </a:t>
              </a:r>
              <a:r>
                <a:rPr lang="en-US" altLang="en-US" sz="2800"/>
                <a:t>(@ t =0):</a:t>
              </a:r>
            </a:p>
          </p:txBody>
        </p:sp>
        <p:sp>
          <p:nvSpPr>
            <p:cNvPr id="49166" name="Rectangle 23"/>
            <p:cNvSpPr>
              <a:spLocks noChangeArrowheads="1"/>
            </p:cNvSpPr>
            <p:nvPr/>
          </p:nvSpPr>
          <p:spPr bwMode="auto">
            <a:xfrm>
              <a:off x="4804" y="3683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/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0877E9-E8E4-48F7-8BD8-E66AE9CEE29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Expected </a:t>
            </a:r>
            <a:br>
              <a:rPr lang="en-US" altLang="en-US" sz="4000" dirty="0"/>
            </a:br>
            <a:r>
              <a:rPr lang="en-US" altLang="en-US" sz="4000" dirty="0" err="1"/>
              <a:t>Divd</a:t>
            </a:r>
            <a:r>
              <a:rPr lang="en-US" altLang="en-US" sz="4000" dirty="0"/>
              <a:t> &amp; Cap Gains Yield (after </a:t>
            </a:r>
            <a:r>
              <a:rPr lang="en-US" altLang="en-US" sz="4000" dirty="0" err="1"/>
              <a:t>yr</a:t>
            </a:r>
            <a:r>
              <a:rPr lang="en-US" altLang="en-US" sz="4000" dirty="0"/>
              <a:t> = 3)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During nonconstant growth, div yield &amp; capital gains yield are not constant.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If current growth &gt;  than </a:t>
            </a:r>
            <a:r>
              <a:rPr lang="en-US" altLang="en-US" sz="2800" dirty="0" err="1"/>
              <a:t>g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, current CGY &gt; g.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After year 3, </a:t>
            </a:r>
            <a:r>
              <a:rPr lang="en-US" altLang="en-US" sz="2800" dirty="0" err="1"/>
              <a:t>g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 = constant = 6%, so CGY = 6%.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Because </a:t>
            </a: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s</a:t>
            </a:r>
            <a:r>
              <a:rPr lang="en-US" altLang="en-US" sz="2800" dirty="0"/>
              <a:t> = 13%, after 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 3 div </a:t>
            </a:r>
            <a:r>
              <a:rPr lang="en-US" altLang="en-US" sz="2800" dirty="0" err="1"/>
              <a:t>yld</a:t>
            </a:r>
            <a:r>
              <a:rPr lang="en-US" altLang="en-US" sz="2800" dirty="0"/>
              <a:t> =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13% – 6% = 7%.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Is stock price based on short-term growth?</a:t>
            </a:r>
          </a:p>
        </p:txBody>
      </p:sp>
      <p:sp>
        <p:nvSpPr>
          <p:cNvPr id="53252" name="Rectangle 1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Current stock price is $54.11.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PV of dividends beyond 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 3 is: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87EB49-EEAD-48CD-B858-0A027C85D18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53253" name="Text Box 11"/>
          <p:cNvSpPr txBox="1">
            <a:spLocks noChangeArrowheads="1"/>
          </p:cNvSpPr>
          <p:nvPr/>
        </p:nvSpPr>
        <p:spPr bwMode="auto">
          <a:xfrm>
            <a:off x="990600" y="3314700"/>
            <a:ext cx="368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^</a:t>
            </a:r>
          </a:p>
        </p:txBody>
      </p:sp>
      <p:sp>
        <p:nvSpPr>
          <p:cNvPr id="53254" name="Text Box 12"/>
          <p:cNvSpPr txBox="1">
            <a:spLocks noChangeArrowheads="1"/>
          </p:cNvSpPr>
          <p:nvPr/>
        </p:nvSpPr>
        <p:spPr bwMode="auto">
          <a:xfrm>
            <a:off x="977900" y="3117850"/>
            <a:ext cx="75850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/>
              <a:t>=terminal or horizon value in year 3 (P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)</a:t>
            </a:r>
            <a:r>
              <a:rPr lang="en-US" altLang="en-US" sz="2400" baseline="-25000" dirty="0"/>
              <a:t>       </a:t>
            </a:r>
            <a:r>
              <a:rPr lang="en-US" altLang="en-US" sz="2400" dirty="0"/>
              <a:t>discounted to present by </a:t>
            </a:r>
            <a:r>
              <a:rPr lang="en-US" altLang="en-US" sz="2400" dirty="0" err="1"/>
              <a:t>req’d</a:t>
            </a:r>
            <a:r>
              <a:rPr lang="en-US" altLang="en-US" sz="2400" dirty="0"/>
              <a:t> Return (R=13%)</a:t>
            </a:r>
            <a:r>
              <a:rPr lang="en-US" altLang="en-US" sz="2800" dirty="0"/>
              <a:t> = $46.11 </a:t>
            </a:r>
          </a:p>
        </p:txBody>
      </p:sp>
      <p:grpSp>
        <p:nvGrpSpPr>
          <p:cNvPr id="53255" name="Group 11"/>
          <p:cNvGrpSpPr>
            <a:grpSpLocks/>
          </p:cNvGrpSpPr>
          <p:nvPr/>
        </p:nvGrpSpPr>
        <p:grpSpPr bwMode="auto">
          <a:xfrm>
            <a:off x="2692400" y="5114925"/>
            <a:ext cx="3592513" cy="1087438"/>
            <a:chOff x="2112" y="3283"/>
            <a:chExt cx="2263" cy="685"/>
          </a:xfrm>
        </p:grpSpPr>
        <p:sp>
          <p:nvSpPr>
            <p:cNvPr id="53257" name="Rectangle 6"/>
            <p:cNvSpPr>
              <a:spLocks noChangeArrowheads="1"/>
            </p:cNvSpPr>
            <p:nvPr/>
          </p:nvSpPr>
          <p:spPr bwMode="auto">
            <a:xfrm>
              <a:off x="3031" y="3456"/>
              <a:ext cx="134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85.2%.</a:t>
              </a:r>
            </a:p>
          </p:txBody>
        </p:sp>
        <p:sp>
          <p:nvSpPr>
            <p:cNvPr id="53258" name="Line 8"/>
            <p:cNvSpPr>
              <a:spLocks noChangeShapeType="1"/>
            </p:cNvSpPr>
            <p:nvPr/>
          </p:nvSpPr>
          <p:spPr bwMode="auto">
            <a:xfrm>
              <a:off x="2160" y="3648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Text Box 9"/>
            <p:cNvSpPr txBox="1">
              <a:spLocks noChangeArrowheads="1"/>
            </p:cNvSpPr>
            <p:nvPr/>
          </p:nvSpPr>
          <p:spPr bwMode="auto">
            <a:xfrm>
              <a:off x="2112" y="3283"/>
              <a:ext cx="11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$46.11</a:t>
              </a:r>
            </a:p>
          </p:txBody>
        </p:sp>
        <p:sp>
          <p:nvSpPr>
            <p:cNvPr id="53260" name="Text Box 10"/>
            <p:cNvSpPr txBox="1">
              <a:spLocks noChangeArrowheads="1"/>
            </p:cNvSpPr>
            <p:nvPr/>
          </p:nvSpPr>
          <p:spPr bwMode="auto">
            <a:xfrm>
              <a:off x="2112" y="3600"/>
              <a:ext cx="100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$54.11</a:t>
              </a:r>
            </a:p>
          </p:txBody>
        </p:sp>
      </p:grpSp>
      <p:sp>
        <p:nvSpPr>
          <p:cNvPr id="53256" name="Text Box 18"/>
          <p:cNvSpPr txBox="1">
            <a:spLocks noChangeArrowheads="1"/>
          </p:cNvSpPr>
          <p:nvPr/>
        </p:nvSpPr>
        <p:spPr bwMode="auto">
          <a:xfrm>
            <a:off x="809625" y="4526290"/>
            <a:ext cx="7753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% of stock price due to “long-term” dividends=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103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Intrinsic Stock Value vs. Quarterly Earnings</a:t>
            </a:r>
          </a:p>
        </p:txBody>
      </p:sp>
      <p:sp>
        <p:nvSpPr>
          <p:cNvPr id="54276" name="Rectangle 1035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686800" cy="4652964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3100" dirty="0"/>
              <a:t>If most of stock’s value is due to long-term CFs, why do many managers focus on quarterly earnings?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69A2FD-AA15-489A-92A1-EE9FD9F6AAF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Intrinsic Stock Value vs. </a:t>
            </a:r>
            <a:br>
              <a:rPr lang="en-US" altLang="en-US" sz="4000" dirty="0"/>
            </a:br>
            <a:r>
              <a:rPr lang="en-US" altLang="en-US" sz="4000" dirty="0"/>
              <a:t>Quarterly Earnings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Sometimes changes in quarterly earnings are signal of </a:t>
            </a:r>
          </a:p>
          <a:p>
            <a:pPr lvl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</a:t>
            </a:r>
          </a:p>
        </p:txBody>
      </p:sp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7D28AA-513E-4ED2-B255-95881465785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134350" cy="13716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Suppose negative growth: </a:t>
            </a:r>
            <a:br>
              <a:rPr lang="en-US" altLang="en-US" sz="3600" dirty="0"/>
            </a:br>
            <a:r>
              <a:rPr lang="en-US" altLang="en-US" sz="3600" dirty="0"/>
              <a:t>If g = -6%, would anyone buy stock w/ Div today of $2.00 &amp; r=13%?  If so, price =?</a:t>
            </a:r>
          </a:p>
        </p:txBody>
      </p:sp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0313AA-306B-455B-A9DC-0723EFBE97C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grpSp>
        <p:nvGrpSpPr>
          <p:cNvPr id="69636" name="Group 23"/>
          <p:cNvGrpSpPr>
            <a:grpSpLocks/>
          </p:cNvGrpSpPr>
          <p:nvPr/>
        </p:nvGrpSpPr>
        <p:grpSpPr bwMode="auto">
          <a:xfrm>
            <a:off x="628650" y="1905001"/>
            <a:ext cx="8232775" cy="4477870"/>
            <a:chOff x="550" y="1468"/>
            <a:chExt cx="5032" cy="2497"/>
          </a:xfrm>
        </p:grpSpPr>
        <p:sp>
          <p:nvSpPr>
            <p:cNvPr id="69637" name="Rectangle 3"/>
            <p:cNvSpPr>
              <a:spLocks noChangeArrowheads="1"/>
            </p:cNvSpPr>
            <p:nvPr/>
          </p:nvSpPr>
          <p:spPr bwMode="auto">
            <a:xfrm>
              <a:off x="550" y="1468"/>
              <a:ext cx="4814" cy="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Firm has earnings &amp; still pays dividends,          		so P</a:t>
              </a:r>
              <a:r>
                <a:rPr lang="en-US" altLang="en-US" baseline="-25000" dirty="0"/>
                <a:t>0</a:t>
              </a:r>
              <a:r>
                <a:rPr lang="en-US" altLang="en-US" dirty="0"/>
                <a:t> &gt; 0:</a:t>
              </a:r>
            </a:p>
          </p:txBody>
        </p:sp>
        <p:sp>
          <p:nvSpPr>
            <p:cNvPr id="69638" name="Text Box 5"/>
            <p:cNvSpPr txBox="1">
              <a:spLocks noChangeArrowheads="1"/>
            </p:cNvSpPr>
            <p:nvPr/>
          </p:nvSpPr>
          <p:spPr bwMode="auto">
            <a:xfrm flipH="1">
              <a:off x="2076" y="1737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^</a:t>
              </a:r>
            </a:p>
          </p:txBody>
        </p:sp>
        <p:sp>
          <p:nvSpPr>
            <p:cNvPr id="69639" name="Text Box 6"/>
            <p:cNvSpPr txBox="1">
              <a:spLocks noChangeArrowheads="1"/>
            </p:cNvSpPr>
            <p:nvPr/>
          </p:nvSpPr>
          <p:spPr bwMode="auto">
            <a:xfrm>
              <a:off x="1598" y="3408"/>
              <a:ext cx="39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                   =         = $9.89.</a:t>
              </a:r>
            </a:p>
          </p:txBody>
        </p:sp>
        <p:sp>
          <p:nvSpPr>
            <p:cNvPr id="69640" name="Text Box 7"/>
            <p:cNvSpPr txBox="1">
              <a:spLocks noChangeArrowheads="1"/>
            </p:cNvSpPr>
            <p:nvPr/>
          </p:nvSpPr>
          <p:spPr bwMode="auto">
            <a:xfrm>
              <a:off x="1886" y="3235"/>
              <a:ext cx="158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$2.00(1-.06)</a:t>
              </a:r>
            </a:p>
          </p:txBody>
        </p:sp>
        <p:sp>
          <p:nvSpPr>
            <p:cNvPr id="69641" name="Text Box 8"/>
            <p:cNvSpPr txBox="1">
              <a:spLocks noChangeArrowheads="1"/>
            </p:cNvSpPr>
            <p:nvPr/>
          </p:nvSpPr>
          <p:spPr bwMode="auto">
            <a:xfrm>
              <a:off x="1838" y="3600"/>
              <a:ext cx="20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0.13 – (-0.06)</a:t>
              </a:r>
            </a:p>
          </p:txBody>
        </p:sp>
        <p:sp>
          <p:nvSpPr>
            <p:cNvPr id="69642" name="Line 9"/>
            <p:cNvSpPr>
              <a:spLocks noChangeShapeType="1"/>
            </p:cNvSpPr>
            <p:nvPr/>
          </p:nvSpPr>
          <p:spPr bwMode="auto">
            <a:xfrm>
              <a:off x="1886" y="3600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3" name="Text Box 10"/>
            <p:cNvSpPr txBox="1">
              <a:spLocks noChangeArrowheads="1"/>
            </p:cNvSpPr>
            <p:nvPr/>
          </p:nvSpPr>
          <p:spPr bwMode="auto">
            <a:xfrm>
              <a:off x="3566" y="3235"/>
              <a:ext cx="8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$1.88</a:t>
              </a:r>
            </a:p>
          </p:txBody>
        </p:sp>
        <p:sp>
          <p:nvSpPr>
            <p:cNvPr id="69644" name="Text Box 11"/>
            <p:cNvSpPr txBox="1">
              <a:spLocks noChangeArrowheads="1"/>
            </p:cNvSpPr>
            <p:nvPr/>
          </p:nvSpPr>
          <p:spPr bwMode="auto">
            <a:xfrm>
              <a:off x="3662" y="3600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0.19</a:t>
              </a:r>
            </a:p>
          </p:txBody>
        </p:sp>
        <p:sp>
          <p:nvSpPr>
            <p:cNvPr id="69645" name="Line 12"/>
            <p:cNvSpPr>
              <a:spLocks noChangeShapeType="1"/>
            </p:cNvSpPr>
            <p:nvPr/>
          </p:nvSpPr>
          <p:spPr bwMode="auto">
            <a:xfrm>
              <a:off x="3662" y="360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1296" y="2496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r>
                <a:rPr lang="en-US" altLang="en-US"/>
                <a:t> = </a:t>
              </a:r>
            </a:p>
          </p:txBody>
        </p:sp>
        <p:sp>
          <p:nvSpPr>
            <p:cNvPr id="69647" name="Text Box 15"/>
            <p:cNvSpPr txBox="1">
              <a:spLocks noChangeArrowheads="1"/>
            </p:cNvSpPr>
            <p:nvPr/>
          </p:nvSpPr>
          <p:spPr bwMode="auto">
            <a:xfrm>
              <a:off x="1248" y="2352"/>
              <a:ext cx="2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69648" name="Text Box 16"/>
            <p:cNvSpPr txBox="1">
              <a:spLocks noChangeArrowheads="1"/>
            </p:cNvSpPr>
            <p:nvPr/>
          </p:nvSpPr>
          <p:spPr bwMode="auto">
            <a:xfrm>
              <a:off x="1843" y="2304"/>
              <a:ext cx="124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0</a:t>
              </a:r>
              <a:r>
                <a:rPr lang="en-US" altLang="en-US"/>
                <a:t>(1 + g)</a:t>
              </a:r>
            </a:p>
          </p:txBody>
        </p:sp>
        <p:sp>
          <p:nvSpPr>
            <p:cNvPr id="69649" name="Text Box 17"/>
            <p:cNvSpPr txBox="1">
              <a:spLocks noChangeArrowheads="1"/>
            </p:cNvSpPr>
            <p:nvPr/>
          </p:nvSpPr>
          <p:spPr bwMode="auto">
            <a:xfrm>
              <a:off x="2016" y="2736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s </a:t>
              </a:r>
              <a:r>
                <a:rPr lang="en-US" altLang="en-US"/>
                <a:t> – g</a:t>
              </a:r>
            </a:p>
          </p:txBody>
        </p:sp>
        <p:sp>
          <p:nvSpPr>
            <p:cNvPr id="69650" name="Line 18"/>
            <p:cNvSpPr>
              <a:spLocks noChangeShapeType="1"/>
            </p:cNvSpPr>
            <p:nvPr/>
          </p:nvSpPr>
          <p:spPr bwMode="auto">
            <a:xfrm>
              <a:off x="1920" y="2688"/>
              <a:ext cx="1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Text Box 19"/>
            <p:cNvSpPr txBox="1">
              <a:spLocks noChangeArrowheads="1"/>
            </p:cNvSpPr>
            <p:nvPr/>
          </p:nvSpPr>
          <p:spPr bwMode="auto">
            <a:xfrm>
              <a:off x="3072" y="2496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</a:t>
              </a:r>
            </a:p>
          </p:txBody>
        </p:sp>
        <p:sp>
          <p:nvSpPr>
            <p:cNvPr id="69652" name="Text Box 20"/>
            <p:cNvSpPr txBox="1">
              <a:spLocks noChangeArrowheads="1"/>
            </p:cNvSpPr>
            <p:nvPr/>
          </p:nvSpPr>
          <p:spPr bwMode="auto">
            <a:xfrm>
              <a:off x="3456" y="2304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</a:p>
          </p:txBody>
        </p:sp>
        <p:sp>
          <p:nvSpPr>
            <p:cNvPr id="69653" name="Text Box 22"/>
            <p:cNvSpPr txBox="1">
              <a:spLocks noChangeArrowheads="1"/>
            </p:cNvSpPr>
            <p:nvPr/>
          </p:nvSpPr>
          <p:spPr bwMode="auto">
            <a:xfrm>
              <a:off x="3360" y="2688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s </a:t>
              </a:r>
              <a:r>
                <a:rPr lang="en-US" altLang="en-US"/>
                <a:t>– g</a:t>
              </a:r>
            </a:p>
          </p:txBody>
        </p:sp>
        <p:sp>
          <p:nvSpPr>
            <p:cNvPr id="69654" name="Line 21"/>
            <p:cNvSpPr>
              <a:spLocks noChangeShapeType="1"/>
            </p:cNvSpPr>
            <p:nvPr/>
          </p:nvSpPr>
          <p:spPr bwMode="auto">
            <a:xfrm>
              <a:off x="3408" y="268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Annual Dividend &amp; Capital Gains Yields</a:t>
            </a:r>
          </a:p>
        </p:txBody>
      </p:sp>
      <p:sp>
        <p:nvSpPr>
          <p:cNvPr id="706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13D50-0846-4370-9555-785DD1EAD22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0660" name="Rectangle 6"/>
          <p:cNvSpPr>
            <a:spLocks noChangeArrowheads="1"/>
          </p:cNvSpPr>
          <p:nvPr/>
        </p:nvSpPr>
        <p:spPr bwMode="auto">
          <a:xfrm>
            <a:off x="628650" y="2251075"/>
            <a:ext cx="8372475" cy="304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28575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28575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8575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C.G. </a:t>
            </a:r>
            <a:r>
              <a:rPr lang="en-US" altLang="en-US" dirty="0" err="1"/>
              <a:t>yld</a:t>
            </a:r>
            <a:r>
              <a:rPr lang="en-US" altLang="en-US" dirty="0"/>
              <a:t> = g = -6.0%.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         </a:t>
            </a:r>
            <a:r>
              <a:rPr lang="en-US" altLang="en-US" dirty="0" err="1"/>
              <a:t>Div</a:t>
            </a:r>
            <a:r>
              <a:rPr lang="en-US" altLang="en-US" dirty="0"/>
              <a:t> </a:t>
            </a:r>
            <a:r>
              <a:rPr lang="en-US" altLang="en-US" dirty="0" err="1"/>
              <a:t>yld</a:t>
            </a:r>
            <a:r>
              <a:rPr lang="en-US" altLang="en-US" dirty="0"/>
              <a:t>	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Both yields are constant over time, 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if company pays no dividends?</a:t>
            </a:r>
          </a:p>
        </p:txBody>
      </p:sp>
      <p:sp>
        <p:nvSpPr>
          <p:cNvPr id="727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Discount Free Cash Flows (CFs which can be returned to investors) instead of dividends</a:t>
            </a:r>
          </a:p>
          <a:p>
            <a:r>
              <a:rPr lang="en-US" altLang="en-US"/>
              <a:t>Where FCF = NOPAT – Net Capital Spending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727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E4D08A-595D-442E-B535-F3AC96F1D33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Uses of Free Cash Flows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915400" cy="4500564"/>
          </a:xfrm>
        </p:spPr>
        <p:txBody>
          <a:bodyPr/>
          <a:lstStyle/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endParaRPr lang="en-US" altLang="en-US" dirty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A84108-01FA-4194-A1F2-722D404FDA1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Equity Valuation using FCFs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A young firm just recorded a $&lt;1.0&gt; million FCF.  It expects FCF 1-yr from today to be $&lt;5.0&gt;mill.  In </a:t>
            </a:r>
            <a:r>
              <a:rPr lang="en-US" altLang="en-US" sz="2800" dirty="0" err="1"/>
              <a:t>yrs</a:t>
            </a:r>
            <a:r>
              <a:rPr lang="en-US" altLang="en-US" sz="2800" dirty="0"/>
              <a:t> 2 &amp; 3, expected to become positive @  $10 &amp; $20 mill.  In 4</a:t>
            </a:r>
            <a:r>
              <a:rPr lang="en-US" altLang="en-US" sz="2800" baseline="30000" dirty="0"/>
              <a:t>th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, a constant growth in FCFs expected to kick-in @  6%. Required return given risk levels  is 10%.  Firm has $40 mill. in debt, &amp; 10 mill. shares outstanding.  What’s price per share today?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57A442-71A7-4034-8FAA-9C595DC65B8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Equity Valuation using FCFs</a:t>
            </a:r>
          </a:p>
        </p:txBody>
      </p:sp>
      <p:sp>
        <p:nvSpPr>
          <p:cNvPr id="757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12C4DE-05DF-4567-8B06-6F2FA05CDB0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V="1">
            <a:off x="1690688" y="2767013"/>
            <a:ext cx="7073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271713" y="2614613"/>
            <a:ext cx="793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747713" y="5915025"/>
            <a:ext cx="2249487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511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0</a:t>
            </a:r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3201988" y="3627438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802188" y="3627438"/>
            <a:ext cx="0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6516688" y="3646488"/>
            <a:ext cx="0" cy="133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2157413" y="4979988"/>
            <a:ext cx="4359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2157413" y="5510213"/>
            <a:ext cx="2416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1287463" y="3752850"/>
            <a:ext cx="3111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?</a:t>
            </a:r>
          </a:p>
        </p:txBody>
      </p:sp>
      <p:sp>
        <p:nvSpPr>
          <p:cNvPr id="75790" name="Rectangle 18"/>
          <p:cNvSpPr>
            <a:spLocks noChangeArrowheads="1"/>
          </p:cNvSpPr>
          <p:nvPr/>
        </p:nvSpPr>
        <p:spPr bwMode="auto">
          <a:xfrm>
            <a:off x="1257300" y="4316413"/>
            <a:ext cx="3286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?</a:t>
            </a:r>
          </a:p>
        </p:txBody>
      </p:sp>
      <p:sp>
        <p:nvSpPr>
          <p:cNvPr id="75791" name="Rectangle 19"/>
          <p:cNvSpPr>
            <a:spLocks noChangeArrowheads="1"/>
          </p:cNvSpPr>
          <p:nvPr/>
        </p:nvSpPr>
        <p:spPr bwMode="auto">
          <a:xfrm>
            <a:off x="1266825" y="4819650"/>
            <a:ext cx="3302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?</a:t>
            </a:r>
          </a:p>
        </p:txBody>
      </p:sp>
      <p:sp>
        <p:nvSpPr>
          <p:cNvPr id="75792" name="Rectangle 20"/>
          <p:cNvSpPr>
            <a:spLocks noChangeArrowheads="1"/>
          </p:cNvSpPr>
          <p:nvPr/>
        </p:nvSpPr>
        <p:spPr bwMode="auto">
          <a:xfrm>
            <a:off x="1285875" y="5365750"/>
            <a:ext cx="3286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?</a:t>
            </a:r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16779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9" name="Rectangle 23"/>
          <p:cNvSpPr>
            <a:spLocks noChangeArrowheads="1"/>
          </p:cNvSpPr>
          <p:nvPr/>
        </p:nvSpPr>
        <p:spPr bwMode="auto">
          <a:xfrm>
            <a:off x="2860675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32273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306705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1</a:t>
            </a:r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4778375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3" name="Rectangle 27"/>
          <p:cNvSpPr>
            <a:spLocks noChangeArrowheads="1"/>
          </p:cNvSpPr>
          <p:nvPr/>
        </p:nvSpPr>
        <p:spPr bwMode="auto">
          <a:xfrm>
            <a:off x="4437063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4625975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6161088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6402388" y="2665413"/>
            <a:ext cx="1587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6351588" y="2166938"/>
            <a:ext cx="3476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3</a:t>
            </a: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8154988" y="2578100"/>
            <a:ext cx="0" cy="506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70" name="Rectangle 34"/>
          <p:cNvSpPr>
            <a:spLocks noChangeArrowheads="1"/>
          </p:cNvSpPr>
          <p:nvPr/>
        </p:nvSpPr>
        <p:spPr bwMode="auto">
          <a:xfrm>
            <a:off x="7988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4</a:t>
            </a:r>
          </a:p>
        </p:txBody>
      </p:sp>
      <p:sp>
        <p:nvSpPr>
          <p:cNvPr id="39971" name="Rectangle 35"/>
          <p:cNvSpPr>
            <a:spLocks noChangeArrowheads="1"/>
          </p:cNvSpPr>
          <p:nvPr/>
        </p:nvSpPr>
        <p:spPr bwMode="auto">
          <a:xfrm>
            <a:off x="1782763" y="2400300"/>
            <a:ext cx="1262062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r</a:t>
            </a:r>
            <a:r>
              <a:rPr lang="en-US" sz="2000" baseline="-25000" dirty="0">
                <a:latin typeface="+mn-lt"/>
              </a:rPr>
              <a:t>s</a:t>
            </a:r>
            <a:r>
              <a:rPr lang="en-US" sz="2000" dirty="0">
                <a:latin typeface="+mn-lt"/>
              </a:rPr>
              <a:t> = 10%</a:t>
            </a:r>
          </a:p>
        </p:txBody>
      </p:sp>
      <p:sp>
        <p:nvSpPr>
          <p:cNvPr id="75806" name="Rectangle 36"/>
          <p:cNvSpPr>
            <a:spLocks noChangeArrowheads="1"/>
          </p:cNvSpPr>
          <p:nvPr/>
        </p:nvSpPr>
        <p:spPr bwMode="auto">
          <a:xfrm>
            <a:off x="815975" y="5876925"/>
            <a:ext cx="1270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??</a:t>
            </a:r>
            <a:r>
              <a:rPr lang="en-US" altLang="en-US" sz="2400"/>
              <a:t> =  P</a:t>
            </a:r>
            <a:r>
              <a:rPr lang="en-US" altLang="en-US" sz="2400" baseline="-25000"/>
              <a:t>0</a:t>
            </a:r>
          </a:p>
        </p:txBody>
      </p:sp>
      <p:sp>
        <p:nvSpPr>
          <p:cNvPr id="39976" name="Rectangle 40"/>
          <p:cNvSpPr>
            <a:spLocks noChangeArrowheads="1"/>
          </p:cNvSpPr>
          <p:nvPr/>
        </p:nvSpPr>
        <p:spPr bwMode="auto">
          <a:xfrm>
            <a:off x="6707188" y="2808288"/>
            <a:ext cx="1047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g = 6 %</a:t>
            </a:r>
          </a:p>
        </p:txBody>
      </p:sp>
      <p:sp>
        <p:nvSpPr>
          <p:cNvPr id="75808" name="Rectangle 42"/>
          <p:cNvSpPr>
            <a:spLocks noChangeArrowheads="1"/>
          </p:cNvSpPr>
          <p:nvPr/>
        </p:nvSpPr>
        <p:spPr bwMode="auto">
          <a:xfrm>
            <a:off x="530225" y="3135313"/>
            <a:ext cx="83661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     </a:t>
            </a:r>
            <a:r>
              <a:rPr lang="en-US" altLang="en-US" sz="2000"/>
              <a:t>FCF</a:t>
            </a:r>
            <a:r>
              <a:rPr lang="en-US" altLang="en-US" sz="2000" baseline="-25000"/>
              <a:t>o</a:t>
            </a:r>
            <a:r>
              <a:rPr lang="en-US" altLang="en-US" sz="2000"/>
              <a:t>=&lt;1&gt;     FCF</a:t>
            </a:r>
            <a:r>
              <a:rPr lang="en-US" altLang="en-US" sz="2000" baseline="-25000"/>
              <a:t>1</a:t>
            </a:r>
            <a:r>
              <a:rPr lang="en-US" altLang="en-US" sz="2000"/>
              <a:t>=&lt;5&gt;    FCF</a:t>
            </a:r>
            <a:r>
              <a:rPr lang="en-US" altLang="en-US" sz="2000" baseline="-25000"/>
              <a:t>2</a:t>
            </a:r>
            <a:r>
              <a:rPr lang="en-US" altLang="en-US" sz="2000"/>
              <a:t>=10      FCF</a:t>
            </a:r>
            <a:r>
              <a:rPr lang="en-US" altLang="en-US" sz="2000" baseline="-25000"/>
              <a:t>3</a:t>
            </a:r>
            <a:r>
              <a:rPr lang="en-US" altLang="en-US" sz="2000"/>
              <a:t>=20 *(1+g)     FCF</a:t>
            </a:r>
            <a:r>
              <a:rPr lang="en-US" altLang="en-US" sz="2200" baseline="-25000"/>
              <a:t>4</a:t>
            </a:r>
            <a:r>
              <a:rPr lang="en-US" altLang="en-US" sz="2200"/>
              <a:t>=?</a:t>
            </a: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 flipH="1">
            <a:off x="6664325" y="3563938"/>
            <a:ext cx="1536700" cy="152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906463" y="6319838"/>
            <a:ext cx="1050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4" name="Rectangle 48"/>
          <p:cNvSpPr>
            <a:spLocks noChangeArrowheads="1"/>
          </p:cNvSpPr>
          <p:nvPr/>
        </p:nvSpPr>
        <p:spPr bwMode="auto">
          <a:xfrm>
            <a:off x="1627188" y="574675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H="1">
            <a:off x="2157413" y="3929063"/>
            <a:ext cx="1035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H="1">
            <a:off x="2157413" y="4481513"/>
            <a:ext cx="263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81932" name="Text Box 1036"/>
          <p:cNvSpPr txBox="1">
            <a:spLocks noChangeArrowheads="1"/>
          </p:cNvSpPr>
          <p:nvPr/>
        </p:nvSpPr>
        <p:spPr bwMode="auto">
          <a:xfrm>
            <a:off x="4635500" y="5245100"/>
            <a:ext cx="2514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P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 =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81933" name="Rectangle 1037"/>
          <p:cNvSpPr>
            <a:spLocks noChangeArrowheads="1"/>
          </p:cNvSpPr>
          <p:nvPr/>
        </p:nvSpPr>
        <p:spPr bwMode="auto">
          <a:xfrm>
            <a:off x="4616450" y="509270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75816" name="Text Box 1038"/>
          <p:cNvSpPr txBox="1">
            <a:spLocks noChangeArrowheads="1"/>
          </p:cNvSpPr>
          <p:nvPr/>
        </p:nvSpPr>
        <p:spPr bwMode="auto">
          <a:xfrm>
            <a:off x="5445125" y="502602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FCF</a:t>
            </a:r>
            <a:r>
              <a:rPr lang="en-US" altLang="en-US" sz="2400" baseline="-25000"/>
              <a:t>4</a:t>
            </a:r>
          </a:p>
        </p:txBody>
      </p:sp>
      <p:sp>
        <p:nvSpPr>
          <p:cNvPr id="81935" name="Text Box 1039"/>
          <p:cNvSpPr txBox="1">
            <a:spLocks noChangeArrowheads="1"/>
          </p:cNvSpPr>
          <p:nvPr/>
        </p:nvSpPr>
        <p:spPr bwMode="auto">
          <a:xfrm>
            <a:off x="5292725" y="5483225"/>
            <a:ext cx="175260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 R - g</a:t>
            </a:r>
          </a:p>
        </p:txBody>
      </p:sp>
      <p:sp>
        <p:nvSpPr>
          <p:cNvPr id="81936" name="Line 1040"/>
          <p:cNvSpPr>
            <a:spLocks noChangeShapeType="1"/>
          </p:cNvSpPr>
          <p:nvPr/>
        </p:nvSpPr>
        <p:spPr bwMode="auto">
          <a:xfrm>
            <a:off x="5426075" y="549275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75819" name="Right Arrow 2"/>
          <p:cNvSpPr>
            <a:spLocks noChangeArrowheads="1"/>
          </p:cNvSpPr>
          <p:nvPr/>
        </p:nvSpPr>
        <p:spPr bwMode="auto">
          <a:xfrm>
            <a:off x="7462838" y="3263900"/>
            <a:ext cx="342900" cy="298450"/>
          </a:xfrm>
          <a:prstGeom prst="rightArrow">
            <a:avLst>
              <a:gd name="adj1" fmla="val 50000"/>
              <a:gd name="adj2" fmla="val 4971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2"/>
          <p:cNvSpPr>
            <a:spLocks noGrp="1"/>
          </p:cNvSpPr>
          <p:nvPr>
            <p:ph type="title"/>
          </p:nvPr>
        </p:nvSpPr>
        <p:spPr>
          <a:xfrm>
            <a:off x="449263" y="249238"/>
            <a:ext cx="8229600" cy="844550"/>
          </a:xfrm>
        </p:spPr>
        <p:txBody>
          <a:bodyPr/>
          <a:lstStyle/>
          <a:p>
            <a:pPr algn="ctr"/>
            <a:r>
              <a:rPr lang="en-US" altLang="en-US" sz="3600" dirty="0"/>
              <a:t>Using </a:t>
            </a:r>
            <a:r>
              <a:rPr lang="en-US" altLang="en-US" sz="3600" dirty="0" err="1"/>
              <a:t>Cfs</a:t>
            </a:r>
            <a:r>
              <a:rPr lang="en-US" altLang="en-US" sz="3600" dirty="0"/>
              <a:t> for FCFs Equity Valuation</a:t>
            </a:r>
          </a:p>
        </p:txBody>
      </p:sp>
      <p:sp>
        <p:nvSpPr>
          <p:cNvPr id="77827" name="Text Placeholder 3"/>
          <p:cNvSpPr>
            <a:spLocks noGrp="1"/>
          </p:cNvSpPr>
          <p:nvPr>
            <p:ph type="body" idx="1"/>
          </p:nvPr>
        </p:nvSpPr>
        <p:spPr>
          <a:xfrm>
            <a:off x="500063" y="1252538"/>
            <a:ext cx="3157537" cy="639762"/>
          </a:xfrm>
        </p:spPr>
        <p:txBody>
          <a:bodyPr>
            <a:normAutofit/>
          </a:bodyPr>
          <a:lstStyle/>
          <a:p>
            <a:pPr algn="ctr"/>
            <a:endParaRPr lang="en-US" altLang="en-US" sz="2400" u="sng" dirty="0"/>
          </a:p>
        </p:txBody>
      </p:sp>
      <p:sp>
        <p:nvSpPr>
          <p:cNvPr id="77828" name="Content Placeholder 4"/>
          <p:cNvSpPr>
            <a:spLocks noGrp="1"/>
          </p:cNvSpPr>
          <p:nvPr>
            <p:ph sz="half" idx="2"/>
          </p:nvPr>
        </p:nvSpPr>
        <p:spPr>
          <a:xfrm>
            <a:off x="196850" y="2174875"/>
            <a:ext cx="4300538" cy="395128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</a:t>
            </a:r>
            <a:r>
              <a:rPr lang="en-US" altLang="en-US" dirty="0" err="1"/>
              <a:t>FCF</a:t>
            </a:r>
            <a:r>
              <a:rPr lang="en-US" altLang="en-US" baseline="-25000" dirty="0" err="1"/>
              <a:t>o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 = FCF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 = FCF</a:t>
            </a:r>
            <a:r>
              <a:rPr lang="en-US" altLang="en-US" baseline="-25000" dirty="0"/>
              <a:t>2 </a:t>
            </a:r>
            <a:endParaRPr lang="en-US" altLang="en-US" dirty="0"/>
          </a:p>
          <a:p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= FCF</a:t>
            </a:r>
            <a:r>
              <a:rPr lang="en-US" altLang="en-US" baseline="-25000" dirty="0"/>
              <a:t>3  </a:t>
            </a:r>
            <a:r>
              <a:rPr lang="en-US" altLang="en-US" dirty="0"/>
              <a:t> + P</a:t>
            </a:r>
            <a:r>
              <a:rPr lang="en-US" altLang="en-US" baseline="-25000" dirty="0"/>
              <a:t>3 </a:t>
            </a:r>
            <a:endParaRPr lang="en-US" altLang="en-US" dirty="0"/>
          </a:p>
          <a:p>
            <a:r>
              <a:rPr lang="en-US" altLang="en-US" dirty="0" err="1"/>
              <a:t>i</a:t>
            </a:r>
            <a:r>
              <a:rPr lang="en-US" altLang="en-US" dirty="0"/>
              <a:t> = R %</a:t>
            </a:r>
          </a:p>
          <a:p>
            <a:r>
              <a:rPr lang="en-US" altLang="en-US" dirty="0"/>
              <a:t>P</a:t>
            </a:r>
            <a:r>
              <a:rPr lang="en-US" altLang="en-US" baseline="-25000" dirty="0"/>
              <a:t>o</a:t>
            </a:r>
            <a:r>
              <a:rPr lang="en-US" altLang="en-US" dirty="0"/>
              <a:t> = NPV =?= value of operations</a:t>
            </a:r>
          </a:p>
        </p:txBody>
      </p:sp>
      <p:sp>
        <p:nvSpPr>
          <p:cNvPr id="77829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114800" y="1550448"/>
            <a:ext cx="5029200" cy="639762"/>
          </a:xfrm>
        </p:spPr>
        <p:txBody>
          <a:bodyPr anchor="t">
            <a:normAutofit/>
          </a:bodyPr>
          <a:lstStyle/>
          <a:p>
            <a:endParaRPr lang="en-US" altLang="en-US" sz="2400" u="sng" dirty="0"/>
          </a:p>
        </p:txBody>
      </p:sp>
      <p:sp>
        <p:nvSpPr>
          <p:cNvPr id="77830" name="Content Placeholder 6"/>
          <p:cNvSpPr>
            <a:spLocks noGrp="1"/>
          </p:cNvSpPr>
          <p:nvPr>
            <p:ph sz="quarter" idx="4"/>
          </p:nvPr>
        </p:nvSpPr>
        <p:spPr>
          <a:xfrm>
            <a:off x="4629150" y="2286000"/>
            <a:ext cx="3887391" cy="368458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CF</a:t>
            </a:r>
            <a:r>
              <a:rPr lang="en-US" altLang="en-US" baseline="-25000" dirty="0" err="1"/>
              <a:t>o</a:t>
            </a:r>
            <a:r>
              <a:rPr lang="en-US" altLang="en-US" dirty="0"/>
              <a:t>   = 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1</a:t>
            </a:r>
            <a:r>
              <a:rPr lang="en-US" altLang="en-US" dirty="0"/>
              <a:t>  = 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2</a:t>
            </a:r>
            <a:r>
              <a:rPr lang="en-US" altLang="en-US" dirty="0"/>
              <a:t>  = </a:t>
            </a:r>
          </a:p>
          <a:p>
            <a:r>
              <a:rPr lang="en-US" altLang="en-US" dirty="0"/>
              <a:t>CF</a:t>
            </a:r>
            <a:r>
              <a:rPr lang="en-US" altLang="en-US" baseline="-25000" dirty="0"/>
              <a:t>3</a:t>
            </a:r>
            <a:r>
              <a:rPr lang="en-US" altLang="en-US" dirty="0"/>
              <a:t>  = 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= </a:t>
            </a:r>
          </a:p>
          <a:p>
            <a:r>
              <a:rPr lang="en-US" altLang="en-US" dirty="0"/>
              <a:t>P</a:t>
            </a:r>
            <a:r>
              <a:rPr lang="en-US" altLang="en-US" baseline="-25000" dirty="0"/>
              <a:t>o</a:t>
            </a:r>
            <a:r>
              <a:rPr lang="en-US" altLang="en-US" dirty="0"/>
              <a:t> = NPV = ? = </a:t>
            </a:r>
          </a:p>
          <a:p>
            <a:endParaRPr lang="en-US" altLang="en-US" dirty="0"/>
          </a:p>
        </p:txBody>
      </p:sp>
      <p:sp>
        <p:nvSpPr>
          <p:cNvPr id="7783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EC4A00-FAF5-4CAA-9246-E07DA71392C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</a:t>
            </a:r>
            <a:r>
              <a:rPr lang="en-US" altLang="en-US" dirty="0" err="1"/>
              <a:t>Cfs</a:t>
            </a:r>
            <a:r>
              <a:rPr lang="en-US" altLang="en-US" dirty="0"/>
              <a:t> for FCFs Equity 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97217"/>
            <a:ext cx="8915400" cy="477974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Value from</a:t>
            </a:r>
          </a:p>
          <a:p>
            <a:r>
              <a:rPr lang="en-US" sz="2800" dirty="0"/>
              <a:t>+Value from </a:t>
            </a:r>
          </a:p>
          <a:p>
            <a:r>
              <a:rPr lang="en-US" sz="2800" dirty="0"/>
              <a:t>= Value of </a:t>
            </a:r>
          </a:p>
          <a:p>
            <a:r>
              <a:rPr lang="en-US" sz="2800" dirty="0"/>
              <a:t>- </a:t>
            </a:r>
          </a:p>
          <a:p>
            <a:pPr lvl="1"/>
            <a:endParaRPr lang="en-US" dirty="0"/>
          </a:p>
          <a:p>
            <a:r>
              <a:rPr lang="en-US" sz="2800" dirty="0"/>
              <a:t>= Value of </a:t>
            </a:r>
          </a:p>
          <a:p>
            <a:r>
              <a:rPr lang="en-US" sz="2800" dirty="0"/>
              <a:t> Divided by </a:t>
            </a:r>
          </a:p>
          <a:p>
            <a:r>
              <a:rPr lang="en-US" sz="2800" dirty="0"/>
              <a:t>= </a:t>
            </a:r>
          </a:p>
          <a:p>
            <a:pPr lvl="1"/>
            <a:r>
              <a:rPr lang="en-US" dirty="0"/>
              <a:t>(compare to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16A65-1CB4-4D24-A8D5-39FB1FC9C108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850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Equity Valuation using FCFs</a:t>
            </a:r>
          </a:p>
        </p:txBody>
      </p:sp>
      <p:sp>
        <p:nvSpPr>
          <p:cNvPr id="78851" name="Content Placeholder 8"/>
          <p:cNvSpPr>
            <a:spLocks noGrp="1"/>
          </p:cNvSpPr>
          <p:nvPr>
            <p:ph idx="1"/>
          </p:nvPr>
        </p:nvSpPr>
        <p:spPr>
          <a:xfrm>
            <a:off x="421105" y="2017713"/>
            <a:ext cx="8533983" cy="4114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Value of firm   = $416.94</a:t>
            </a:r>
          </a:p>
          <a:p>
            <a:r>
              <a:rPr lang="en-US" altLang="en-US" dirty="0"/>
              <a:t>- Debt			</a:t>
            </a:r>
            <a:r>
              <a:rPr lang="en-US" altLang="en-US" u="sng" dirty="0"/>
              <a:t>  40.00</a:t>
            </a:r>
          </a:p>
          <a:p>
            <a:r>
              <a:rPr lang="en-US" altLang="en-US" dirty="0"/>
              <a:t>=Value of equity $376.94 / 10 mil </a:t>
            </a:r>
            <a:r>
              <a:rPr lang="en-US" altLang="en-US" dirty="0" err="1"/>
              <a:t>shrs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=price per share of $37.69</a:t>
            </a:r>
          </a:p>
          <a:p>
            <a:r>
              <a:rPr lang="en-US" altLang="en-US" dirty="0"/>
              <a:t>Intrinsic or fundamental price vs. market</a:t>
            </a:r>
          </a:p>
          <a:p>
            <a:pPr lvl="1"/>
            <a:r>
              <a:rPr lang="en-US" altLang="en-US" dirty="0"/>
              <a:t>Market of $40		Market of $20</a:t>
            </a:r>
          </a:p>
          <a:p>
            <a:pPr marL="1828800" lvl="4" indent="0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7885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0FF6D7-F6F7-44A0-AC16-E6999E746F4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Market Cap (Capitalization)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= </a:t>
            </a:r>
          </a:p>
          <a:p>
            <a:r>
              <a:rPr lang="en-US" altLang="en-US" dirty="0"/>
              <a:t>= </a:t>
            </a: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1D9766-B591-4B21-A724-5F66BD029C1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Enterprise Value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= Value of firm’s underlying business, unencumbered by Debt, &amp; separate from cash  &amp; marketable securities</a:t>
            </a:r>
          </a:p>
          <a:p>
            <a:pPr lvl="1"/>
            <a:r>
              <a:rPr lang="en-US" altLang="en-US" dirty="0"/>
              <a:t>Enterprise Value= MV of equity + Debt - cash</a:t>
            </a:r>
          </a:p>
          <a:p>
            <a:r>
              <a:rPr lang="en-US" altLang="en-US" dirty="0"/>
              <a:t>Think:: Enterprise Value = Net cost of acquiring a firm’s equity, taking its cash, &amp; paying off debt.  In essence, it’s equivalent to owning unlevered (debt-free) business.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D24A14-049C-4F8D-9534-7DCC4CA66D1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Cap &amp; Enterprise Value I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H.J. Heinz has a share price of $46.78, its shares outstanding were 319.2 million.  It has a market-to-book ratio of 8.00, a book debt-equity ratio of 2.62, &amp; cash of $352 million.</a:t>
            </a:r>
          </a:p>
          <a:p>
            <a:pPr lvl="1"/>
            <a:r>
              <a:rPr lang="en-US" altLang="en-US" dirty="0"/>
              <a:t>What’s Heinz’s market cap?</a:t>
            </a:r>
          </a:p>
          <a:p>
            <a:pPr lvl="1"/>
            <a:r>
              <a:rPr lang="en-US" altLang="en-US" dirty="0"/>
              <a:t>What’s its enterprise value?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EB9E6-E4E2-487D-9BEC-73E36326D9F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Using Stock Price Multiples</a:t>
            </a:r>
            <a:br>
              <a:rPr lang="en-US" altLang="en-US" dirty="0"/>
            </a:br>
            <a:r>
              <a:rPr lang="en-US" altLang="en-US" dirty="0"/>
              <a:t> to Estimate Stock Price</a:t>
            </a:r>
          </a:p>
        </p:txBody>
      </p:sp>
      <p:sp>
        <p:nvSpPr>
          <p:cNvPr id="8294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Analysts often use P/E multiple ( price per share divided by earnings per share).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Example: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Estimate average P/E ratio of comparable firms. This is  P/E multiple.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Multiply this average P/E ratio by  expected earnings of  company to estimate its stock price.</a:t>
            </a:r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BA5B31-9445-4C6E-B3FA-1ECDCF980BD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   Multiples Approach I</a:t>
            </a:r>
          </a:p>
        </p:txBody>
      </p:sp>
      <p:sp>
        <p:nvSpPr>
          <p:cNvPr id="83971" name="Text Placeholder 3"/>
          <p:cNvSpPr>
            <a:spLocks noGrp="1"/>
          </p:cNvSpPr>
          <p:nvPr>
            <p:ph type="body" idx="1"/>
          </p:nvPr>
        </p:nvSpPr>
        <p:spPr>
          <a:xfrm>
            <a:off x="304800" y="1618819"/>
            <a:ext cx="3868340" cy="823912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Auto Industry</a:t>
            </a:r>
          </a:p>
        </p:txBody>
      </p:sp>
      <p:sp>
        <p:nvSpPr>
          <p:cNvPr id="83972" name="Content Placeholder 4"/>
          <p:cNvSpPr>
            <a:spLocks noGrp="1"/>
          </p:cNvSpPr>
          <p:nvPr>
            <p:ph sz="half" idx="2"/>
          </p:nvPr>
        </p:nvSpPr>
        <p:spPr>
          <a:xfrm>
            <a:off x="103188" y="2666999"/>
            <a:ext cx="4394200" cy="3459163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Industry P/E = 5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If Pinto trading on NYSE = 			                    $9.00</a:t>
            </a:r>
          </a:p>
          <a:p>
            <a:r>
              <a:rPr lang="en-US" altLang="en-US" dirty="0"/>
              <a:t>                                If $4.00</a:t>
            </a:r>
          </a:p>
        </p:txBody>
      </p:sp>
      <p:sp>
        <p:nvSpPr>
          <p:cNvPr id="83973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761568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Pinto Car Co</a:t>
            </a:r>
          </a:p>
        </p:txBody>
      </p:sp>
      <p:sp>
        <p:nvSpPr>
          <p:cNvPr id="83974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590799"/>
            <a:ext cx="4041775" cy="3827463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Pinto EPS = $1.50/</a:t>
            </a:r>
            <a:r>
              <a:rPr lang="en-US" altLang="en-US" dirty="0" err="1"/>
              <a:t>sh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sz="2100" u="sng" dirty="0"/>
              <a:t>Industry</a:t>
            </a:r>
            <a:r>
              <a:rPr lang="en-US" altLang="en-US" sz="1800" dirty="0"/>
              <a:t>             </a:t>
            </a:r>
            <a:r>
              <a:rPr lang="en-US" altLang="en-US" sz="2100" u="sng" dirty="0"/>
              <a:t>Pinto</a:t>
            </a:r>
            <a:endParaRPr lang="en-US" altLang="en-US" sz="1800" u="sng" dirty="0"/>
          </a:p>
          <a:p>
            <a:r>
              <a:rPr lang="en-US" altLang="en-US" dirty="0"/>
              <a:t>  5/1 = P/E = ?/$1.50</a:t>
            </a:r>
          </a:p>
          <a:p>
            <a:r>
              <a:rPr lang="en-US" altLang="en-US" dirty="0"/>
              <a:t>So Pinto relative price per share (P) = $7.50</a:t>
            </a:r>
          </a:p>
          <a:p>
            <a:endParaRPr lang="en-US" altLang="en-US" dirty="0"/>
          </a:p>
          <a:p>
            <a:r>
              <a:rPr lang="en-US" altLang="en-US" sz="2800" dirty="0"/>
              <a:t>=overvalued (sell)</a:t>
            </a:r>
          </a:p>
          <a:p>
            <a:r>
              <a:rPr lang="en-US" altLang="en-US" sz="2800" dirty="0"/>
              <a:t>=undervalued (buy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  <p:sp>
        <p:nvSpPr>
          <p:cNvPr id="8397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95E438-C5A8-43F8-BCAC-17F2E3DAFA8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Using Entity Multiples</a:t>
            </a:r>
          </a:p>
        </p:txBody>
      </p:sp>
      <p:sp>
        <p:nvSpPr>
          <p:cNvPr id="8499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 Entity value (V) is: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 market value of equity (# shares of stock multiplied by  price per share)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plus  value of debt.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Pick a measure, such as EBITDA, Sales, Customers, Eyeballs, etc.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Calculate  average entity ratio for a sample of comparable firms.  For example,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V/EBITDA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V/Customers</a:t>
            </a:r>
          </a:p>
        </p:txBody>
      </p:sp>
      <p:sp>
        <p:nvSpPr>
          <p:cNvPr id="849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825870-523E-478F-AB71-46E1CFAD7F7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Using Entity Multiples (Continued)</a:t>
            </a:r>
          </a:p>
        </p:txBody>
      </p:sp>
      <p:sp>
        <p:nvSpPr>
          <p:cNvPr id="8602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Find  entity value of  firm in question.  For example,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Multiply  firm’s sales by  V/Sales multiple.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400" dirty="0"/>
              <a:t>Multiply  firm’s # of customers by  V/Customers ratio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 result is  firm’s total value.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Subtract  firm’s debt to get  total value of its equity.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en-US" sz="2800" dirty="0"/>
              <a:t>Divide by  number of shares to calculate  price per share.</a:t>
            </a:r>
          </a:p>
        </p:txBody>
      </p:sp>
      <p:sp>
        <p:nvSpPr>
          <p:cNvPr id="860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00F3DE-1571-4550-BB9D-D4129670F37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Problems w/ Market Multiple Methods</a:t>
            </a:r>
          </a:p>
        </p:txBody>
      </p:sp>
      <p:sp>
        <p:nvSpPr>
          <p:cNvPr id="87044" name="Rectangle 6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610600" cy="4729164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It is often hard to find comparable firms.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What are relevant multiples?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New Co.’s often lack earnings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Average ratio for sample of comparable firms often has a wide range.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I.E, </a:t>
            </a:r>
            <a:r>
              <a:rPr lang="en-US" altLang="en-US" sz="2400" dirty="0" err="1"/>
              <a:t>ave</a:t>
            </a:r>
            <a:r>
              <a:rPr lang="en-US" altLang="en-US" sz="2400" dirty="0"/>
              <a:t> P/E ratio might be 20, but range from 10 to 50.  How do you know whether firm should be compared to low, average, or high performers?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Differences between firms in </a:t>
            </a:r>
            <a:r>
              <a:rPr lang="en-US" altLang="en-US" sz="2800" dirty="0" err="1"/>
              <a:t>comparables</a:t>
            </a:r>
            <a:r>
              <a:rPr lang="en-US" altLang="en-US" sz="2800" dirty="0"/>
              <a:t> pool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 err="1"/>
              <a:t>i.e</a:t>
            </a:r>
            <a:r>
              <a:rPr lang="en-US" altLang="en-US" sz="2400" dirty="0"/>
              <a:t>: growth rates, risk, cost of capital</a:t>
            </a:r>
          </a:p>
        </p:txBody>
      </p:sp>
      <p:sp>
        <p:nvSpPr>
          <p:cNvPr id="87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503064-0BFF-4717-B28B-B9958843068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05815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if an equity’s dividend is fixed?  No g !</a:t>
            </a:r>
          </a:p>
        </p:txBody>
      </p:sp>
      <p:sp>
        <p:nvSpPr>
          <p:cNvPr id="8806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3395446"/>
            <a:ext cx="7886700" cy="278151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So, P</a:t>
            </a:r>
            <a:r>
              <a:rPr lang="en-US" altLang="en-US" baseline="-25000" dirty="0"/>
              <a:t>o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 /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endParaRPr lang="en-US" altLang="en-US" baseline="-250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And return =   D</a:t>
            </a:r>
            <a:r>
              <a:rPr lang="en-US" altLang="en-US" baseline="-25000" dirty="0"/>
              <a:t>1</a:t>
            </a:r>
            <a:r>
              <a:rPr lang="en-US" altLang="en-US" dirty="0"/>
              <a:t> / P</a:t>
            </a:r>
            <a:r>
              <a:rPr lang="en-US" altLang="en-US" baseline="-25000" dirty="0"/>
              <a:t>o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baseline="-250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It’s a perpetuity</a:t>
            </a:r>
          </a:p>
        </p:txBody>
      </p:sp>
      <p:sp>
        <p:nvSpPr>
          <p:cNvPr id="880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A25119-58F7-4B31-AADA-625A1B29060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grpSp>
        <p:nvGrpSpPr>
          <p:cNvPr id="88068" name="Group 10"/>
          <p:cNvGrpSpPr>
            <a:grpSpLocks/>
          </p:cNvGrpSpPr>
          <p:nvPr/>
        </p:nvGrpSpPr>
        <p:grpSpPr bwMode="auto">
          <a:xfrm>
            <a:off x="3048000" y="2098675"/>
            <a:ext cx="2286000" cy="1128713"/>
            <a:chOff x="1920" y="1488"/>
            <a:chExt cx="1440" cy="711"/>
          </a:xfrm>
        </p:grpSpPr>
        <p:sp>
          <p:nvSpPr>
            <p:cNvPr id="88070" name="Text Box 5"/>
            <p:cNvSpPr txBox="1">
              <a:spLocks noChangeArrowheads="1"/>
            </p:cNvSpPr>
            <p:nvPr/>
          </p:nvSpPr>
          <p:spPr bwMode="auto">
            <a:xfrm>
              <a:off x="1920" y="1680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P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 =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88071" name="Text Box 6"/>
            <p:cNvSpPr txBox="1">
              <a:spLocks noChangeArrowheads="1"/>
            </p:cNvSpPr>
            <p:nvPr/>
          </p:nvSpPr>
          <p:spPr bwMode="auto">
            <a:xfrm>
              <a:off x="1920" y="153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88072" name="Text Box 7"/>
            <p:cNvSpPr txBox="1">
              <a:spLocks noChangeArrowheads="1"/>
            </p:cNvSpPr>
            <p:nvPr/>
          </p:nvSpPr>
          <p:spPr bwMode="auto">
            <a:xfrm>
              <a:off x="2609" y="1488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88073" name="Text Box 9"/>
            <p:cNvSpPr txBox="1">
              <a:spLocks noChangeArrowheads="1"/>
            </p:cNvSpPr>
            <p:nvPr/>
          </p:nvSpPr>
          <p:spPr bwMode="auto">
            <a:xfrm>
              <a:off x="2448" y="1872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 </a:t>
              </a:r>
              <a:r>
                <a:rPr lang="en-US" altLang="en-US" sz="2800"/>
                <a:t> – g</a:t>
              </a:r>
            </a:p>
          </p:txBody>
        </p:sp>
        <p:sp>
          <p:nvSpPr>
            <p:cNvPr id="88074" name="Line 8"/>
            <p:cNvSpPr>
              <a:spLocks noChangeShapeType="1"/>
            </p:cNvSpPr>
            <p:nvPr/>
          </p:nvSpPr>
          <p:spPr bwMode="auto">
            <a:xfrm>
              <a:off x="2514" y="1872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Preferred Stock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Hybrid security.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Similar to bonds in that preferred stockholders receive a fixed dividend which must be paid before dividends can be paid on common stock.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However, unlike bonds, preferred stock dividends can be omitted without fear of pushing firm into bankruptcy.</a:t>
            </a:r>
          </a:p>
        </p:txBody>
      </p:sp>
      <p:sp>
        <p:nvSpPr>
          <p:cNvPr id="890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955AD1-B0D3-4B4A-A20E-9F67219EFF7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1168617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Expected return =?,</a:t>
            </a:r>
            <a:br>
              <a:rPr lang="en-US" altLang="en-US" sz="4000" dirty="0"/>
            </a:br>
            <a:r>
              <a:rPr lang="en-US" altLang="en-US" sz="3200" dirty="0"/>
              <a:t>Preferred stock trading @ $50 &amp; pays annual div. = $5</a:t>
            </a:r>
          </a:p>
        </p:txBody>
      </p:sp>
      <p:sp>
        <p:nvSpPr>
          <p:cNvPr id="911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2D4DA0-08D2-49B9-8CB9-5FBAA95C4C0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1828800" y="30480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V</a:t>
            </a:r>
            <a:r>
              <a:rPr lang="en-US" altLang="en-US" baseline="-25000"/>
              <a:t>ps</a:t>
            </a: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2590800" y="30480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= $50 =</a:t>
            </a:r>
          </a:p>
        </p:txBody>
      </p:sp>
      <p:sp>
        <p:nvSpPr>
          <p:cNvPr id="91142" name="Text Box 6"/>
          <p:cNvSpPr txBox="1">
            <a:spLocks noChangeArrowheads="1"/>
          </p:cNvSpPr>
          <p:nvPr/>
        </p:nvSpPr>
        <p:spPr bwMode="auto">
          <a:xfrm>
            <a:off x="4343400" y="2849563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$5</a:t>
            </a:r>
          </a:p>
        </p:txBody>
      </p:sp>
      <p:sp>
        <p:nvSpPr>
          <p:cNvPr id="91143" name="Line 7"/>
          <p:cNvSpPr>
            <a:spLocks noChangeShapeType="1"/>
          </p:cNvSpPr>
          <p:nvPr/>
        </p:nvSpPr>
        <p:spPr bwMode="auto">
          <a:xfrm flipV="1">
            <a:off x="4289425" y="3386138"/>
            <a:ext cx="822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4419600" y="33988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r</a:t>
            </a:r>
            <a:r>
              <a:rPr lang="en-US" altLang="en-US" baseline="-25000"/>
              <a:t>ps</a:t>
            </a:r>
          </a:p>
        </p:txBody>
      </p:sp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4343400" y="32766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^</a:t>
            </a:r>
          </a:p>
        </p:txBody>
      </p:sp>
      <p:sp>
        <p:nvSpPr>
          <p:cNvPr id="91146" name="Text Box 11"/>
          <p:cNvSpPr txBox="1">
            <a:spLocks noChangeArrowheads="1"/>
          </p:cNvSpPr>
          <p:nvPr/>
        </p:nvSpPr>
        <p:spPr bwMode="auto">
          <a:xfrm>
            <a:off x="1905000" y="48768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r</a:t>
            </a:r>
            <a:r>
              <a:rPr lang="en-US" altLang="en-US" baseline="-25000"/>
              <a:t>ps</a:t>
            </a:r>
          </a:p>
        </p:txBody>
      </p:sp>
      <p:sp>
        <p:nvSpPr>
          <p:cNvPr id="91147" name="Text Box 12"/>
          <p:cNvSpPr txBox="1">
            <a:spLocks noChangeArrowheads="1"/>
          </p:cNvSpPr>
          <p:nvPr/>
        </p:nvSpPr>
        <p:spPr bwMode="auto">
          <a:xfrm>
            <a:off x="3254375" y="4678363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$5</a:t>
            </a:r>
          </a:p>
        </p:txBody>
      </p:sp>
      <p:sp>
        <p:nvSpPr>
          <p:cNvPr id="91148" name="Text Box 14"/>
          <p:cNvSpPr txBox="1">
            <a:spLocks noChangeArrowheads="1"/>
          </p:cNvSpPr>
          <p:nvPr/>
        </p:nvSpPr>
        <p:spPr bwMode="auto">
          <a:xfrm>
            <a:off x="3124200" y="5257800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$50</a:t>
            </a:r>
            <a:endParaRPr lang="en-US" altLang="en-US" baseline="-25000"/>
          </a:p>
        </p:txBody>
      </p:sp>
      <p:sp>
        <p:nvSpPr>
          <p:cNvPr id="91149" name="Line 13"/>
          <p:cNvSpPr>
            <a:spLocks noChangeShapeType="1"/>
          </p:cNvSpPr>
          <p:nvPr/>
        </p:nvSpPr>
        <p:spPr bwMode="auto">
          <a:xfrm>
            <a:off x="3200400" y="5257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50" name="Text Box 15"/>
          <p:cNvSpPr txBox="1">
            <a:spLocks noChangeArrowheads="1"/>
          </p:cNvSpPr>
          <p:nvPr/>
        </p:nvSpPr>
        <p:spPr bwMode="auto">
          <a:xfrm>
            <a:off x="1828800" y="4754563"/>
            <a:ext cx="30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^</a:t>
            </a:r>
          </a:p>
        </p:txBody>
      </p:sp>
      <p:sp>
        <p:nvSpPr>
          <p:cNvPr id="91151" name="Text Box 16"/>
          <p:cNvSpPr txBox="1">
            <a:spLocks noChangeArrowheads="1"/>
          </p:cNvSpPr>
          <p:nvPr/>
        </p:nvSpPr>
        <p:spPr bwMode="auto">
          <a:xfrm>
            <a:off x="2667000" y="4906963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=</a:t>
            </a:r>
          </a:p>
        </p:txBody>
      </p:sp>
      <p:sp>
        <p:nvSpPr>
          <p:cNvPr id="91152" name="Text Box 17"/>
          <p:cNvSpPr txBox="1">
            <a:spLocks noChangeArrowheads="1"/>
          </p:cNvSpPr>
          <p:nvPr/>
        </p:nvSpPr>
        <p:spPr bwMode="auto">
          <a:xfrm>
            <a:off x="4191000" y="4906963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= 0.10 = 10.0%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Determinant of Growth ?</a:t>
            </a:r>
          </a:p>
        </p:txBody>
      </p:sp>
      <p:sp>
        <p:nvSpPr>
          <p:cNvPr id="92163" name="Content Placeholder 3"/>
          <p:cNvSpPr>
            <a:spLocks noGrp="1"/>
          </p:cNvSpPr>
          <p:nvPr>
            <p:ph idx="1"/>
          </p:nvPr>
        </p:nvSpPr>
        <p:spPr>
          <a:xfrm>
            <a:off x="152400" y="1397217"/>
            <a:ext cx="8763000" cy="4779747"/>
          </a:xfrm>
        </p:spPr>
        <p:txBody>
          <a:bodyPr/>
          <a:lstStyle/>
          <a:p>
            <a:r>
              <a:rPr lang="en-US" altLang="en-US" sz="2800" dirty="0"/>
              <a:t>Relationship between:</a:t>
            </a:r>
          </a:p>
          <a:p>
            <a:pPr lvl="1"/>
            <a:r>
              <a:rPr lang="en-US" altLang="en-US" sz="2400" dirty="0"/>
              <a:t> </a:t>
            </a:r>
            <a:r>
              <a:rPr lang="en-US" altLang="en-US" dirty="0"/>
              <a:t>ROE, Retention Rate, EPS growth, &amp; Dividends</a:t>
            </a:r>
          </a:p>
          <a:p>
            <a:r>
              <a:rPr lang="en-US" altLang="en-US" sz="2800" dirty="0"/>
              <a:t>Firm has ROE of 25% &amp; Retention Rate of 80%.</a:t>
            </a:r>
          </a:p>
          <a:p>
            <a:r>
              <a:rPr lang="en-US" altLang="en-US" sz="2800" dirty="0"/>
              <a:t>Most recent EPS = $3.00, so</a:t>
            </a:r>
            <a:r>
              <a:rPr lang="en-US" altLang="en-US" dirty="0"/>
              <a:t> expected div. </a:t>
            </a:r>
            <a:r>
              <a:rPr lang="en-US" altLang="en-US" sz="2400" dirty="0"/>
              <a:t>@</a:t>
            </a:r>
            <a:r>
              <a:rPr lang="en-US" altLang="en-US" dirty="0"/>
              <a:t> </a:t>
            </a:r>
            <a:r>
              <a:rPr lang="en-US" altLang="en-US" dirty="0" err="1"/>
              <a:t>yr</a:t>
            </a:r>
            <a:r>
              <a:rPr lang="en-US" altLang="en-US" dirty="0"/>
              <a:t>-end?</a:t>
            </a:r>
          </a:p>
        </p:txBody>
      </p:sp>
      <p:sp>
        <p:nvSpPr>
          <p:cNvPr id="9216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484D98-40E5-40AC-AE0B-53B1EBB33B6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What’s market equilibrium?</a:t>
            </a:r>
          </a:p>
        </p:txBody>
      </p:sp>
      <p:sp>
        <p:nvSpPr>
          <p:cNvPr id="97284" name="Rectangle 14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534400" cy="4652964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In equilibrium,  </a:t>
            </a:r>
            <a:r>
              <a:rPr lang="en-US" altLang="en-US" sz="2800" dirty="0" err="1"/>
              <a:t>intrinisic</a:t>
            </a:r>
            <a:r>
              <a:rPr lang="en-US" altLang="en-US" sz="2800" dirty="0"/>
              <a:t> price must = actual price.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If 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Then 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Buy orders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Opposite occurs </a:t>
            </a:r>
          </a:p>
        </p:txBody>
      </p:sp>
      <p:sp>
        <p:nvSpPr>
          <p:cNvPr id="972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D2CA0A-C1C8-42D6-95A1-09D4D42B7E8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7543800" y="6069013"/>
            <a:ext cx="1152525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(More…)</a:t>
            </a:r>
          </a:p>
        </p:txBody>
      </p:sp>
    </p:spTree>
    <p:extLst>
      <p:ext uri="{BB962C8B-B14F-4D97-AF65-F5344CB8AC3E}">
        <p14:creationId xmlns:p14="http://schemas.microsoft.com/office/powerpoint/2010/main" val="247435097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In equilibrium, expected returns must equal required returns:</a:t>
            </a:r>
          </a:p>
        </p:txBody>
      </p:sp>
      <p:sp>
        <p:nvSpPr>
          <p:cNvPr id="1013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A67CAD-3826-4489-910B-0C8A363C54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grpSp>
        <p:nvGrpSpPr>
          <p:cNvPr id="101379" name="Group 6"/>
          <p:cNvGrpSpPr>
            <a:grpSpLocks/>
          </p:cNvGrpSpPr>
          <p:nvPr/>
        </p:nvGrpSpPr>
        <p:grpSpPr bwMode="auto">
          <a:xfrm>
            <a:off x="784225" y="2492375"/>
            <a:ext cx="7870825" cy="1665288"/>
            <a:chOff x="962" y="1570"/>
            <a:chExt cx="4141" cy="1049"/>
          </a:xfrm>
        </p:grpSpPr>
        <p:sp>
          <p:nvSpPr>
            <p:cNvPr id="101381" name="Rectangle 2"/>
            <p:cNvSpPr>
              <a:spLocks noChangeArrowheads="1"/>
            </p:cNvSpPr>
            <p:nvPr/>
          </p:nvSpPr>
          <p:spPr bwMode="auto">
            <a:xfrm>
              <a:off x="988" y="1632"/>
              <a:ext cx="4115" cy="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s</a:t>
              </a:r>
              <a:r>
                <a:rPr lang="en-US" altLang="en-US"/>
                <a:t> = D</a:t>
              </a:r>
              <a:r>
                <a:rPr lang="en-US" altLang="en-US" baseline="-25000"/>
                <a:t>1</a:t>
              </a:r>
              <a:r>
                <a:rPr lang="en-US" altLang="en-US"/>
                <a:t>/P</a:t>
              </a:r>
              <a:r>
                <a:rPr lang="en-US" altLang="en-US" baseline="-25000"/>
                <a:t>0</a:t>
              </a:r>
              <a:r>
                <a:rPr lang="en-US" altLang="en-US"/>
                <a:t> + g = r</a:t>
              </a:r>
              <a:r>
                <a:rPr lang="en-US" altLang="en-US" baseline="-25000"/>
                <a:t>s</a:t>
              </a:r>
              <a:r>
                <a:rPr lang="en-US" altLang="en-US"/>
                <a:t> = r</a:t>
              </a:r>
              <a:r>
                <a:rPr lang="en-US" altLang="en-US" baseline="-25000"/>
                <a:t>RF</a:t>
              </a:r>
              <a:r>
                <a:rPr lang="en-US" altLang="en-US"/>
                <a:t> + (r</a:t>
              </a:r>
              <a:r>
                <a:rPr lang="en-US" altLang="en-US" baseline="-25000"/>
                <a:t>M </a:t>
              </a:r>
              <a:r>
                <a:rPr lang="en-US" altLang="en-US"/>
                <a:t> – r</a:t>
              </a:r>
              <a:r>
                <a:rPr lang="en-US" altLang="en-US" baseline="-25000"/>
                <a:t>RF</a:t>
              </a:r>
              <a:r>
                <a:rPr lang="en-US" altLang="en-US"/>
                <a:t>)b.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101382" name="Rectangle 3"/>
            <p:cNvSpPr>
              <a:spLocks noChangeArrowheads="1"/>
            </p:cNvSpPr>
            <p:nvPr/>
          </p:nvSpPr>
          <p:spPr bwMode="auto">
            <a:xfrm>
              <a:off x="962" y="1570"/>
              <a:ext cx="2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^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094297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Expected Return vs. Required Return</a:t>
            </a:r>
          </a:p>
        </p:txBody>
      </p:sp>
      <p:sp>
        <p:nvSpPr>
          <p:cNvPr id="103428" name="Content Placeholder 4"/>
          <p:cNvSpPr>
            <a:spLocks noGrp="1"/>
          </p:cNvSpPr>
          <p:nvPr>
            <p:ph idx="1"/>
          </p:nvPr>
        </p:nvSpPr>
        <p:spPr>
          <a:xfrm>
            <a:off x="457200" y="1624012"/>
            <a:ext cx="8153400" cy="4776787"/>
          </a:xfrm>
        </p:spPr>
        <p:txBody>
          <a:bodyPr>
            <a:normAutofit/>
          </a:bodyPr>
          <a:lstStyle/>
          <a:p>
            <a:r>
              <a:rPr lang="en-US" altLang="en-US" dirty="0"/>
              <a:t>                         16%  &gt;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                         10%  &lt;</a:t>
            </a:r>
          </a:p>
        </p:txBody>
      </p:sp>
      <p:sp>
        <p:nvSpPr>
          <p:cNvPr id="10343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0E97CF-5BAD-4DE3-9971-1620B63DD2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907756" y="1642301"/>
            <a:ext cx="3887787" cy="3996499"/>
          </a:xfrm>
        </p:spPr>
        <p:txBody>
          <a:bodyPr>
            <a:normAutofit fontScale="92500" lnSpcReduction="1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15% </a:t>
            </a:r>
            <a:r>
              <a:rPr lang="en-US" dirty="0" err="1"/>
              <a:t>reqr’d</a:t>
            </a:r>
            <a:r>
              <a:rPr lang="en-US" dirty="0"/>
              <a:t> to invest</a:t>
            </a:r>
          </a:p>
          <a:p>
            <a:pPr>
              <a:defRPr/>
            </a:pPr>
            <a:r>
              <a:rPr lang="en-US" dirty="0"/>
              <a:t> :: </a:t>
            </a:r>
            <a:r>
              <a:rPr lang="en-US" i="1" dirty="0"/>
              <a:t>undervalued</a:t>
            </a:r>
          </a:p>
          <a:p>
            <a:pPr lvl="1">
              <a:defRPr/>
            </a:pPr>
            <a:r>
              <a:rPr lang="en-US" dirty="0"/>
              <a:t>Stock priced too low so buy b/c bargain</a:t>
            </a:r>
          </a:p>
          <a:p>
            <a:pPr lvl="2">
              <a:defRPr/>
            </a:pPr>
            <a:r>
              <a:rPr lang="en-US" dirty="0"/>
              <a:t>As more people buy it,</a:t>
            </a:r>
            <a:br>
              <a:rPr lang="en-US" dirty="0"/>
            </a:br>
            <a:r>
              <a:rPr lang="en-US" dirty="0"/>
              <a:t>Price        &amp; return  </a:t>
            </a:r>
          </a:p>
          <a:p>
            <a:pPr lvl="3">
              <a:defRPr/>
            </a:pPr>
            <a:r>
              <a:rPr lang="en-US" dirty="0"/>
              <a:t>:: then reach equilibrium level of return </a:t>
            </a:r>
          </a:p>
          <a:p>
            <a:pPr>
              <a:buClr>
                <a:srgbClr val="3333CC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>
              <a:buClr>
                <a:srgbClr val="3333CC"/>
              </a:buClr>
              <a:defRPr/>
            </a:pPr>
            <a:endParaRPr lang="en-US" sz="1700" dirty="0">
              <a:solidFill>
                <a:srgbClr val="000000"/>
              </a:solidFill>
            </a:endParaRPr>
          </a:p>
          <a:p>
            <a:pPr>
              <a:buClr>
                <a:srgbClr val="3333CC"/>
              </a:buClr>
              <a:defRPr/>
            </a:pPr>
            <a:r>
              <a:rPr lang="en-US" dirty="0">
                <a:solidFill>
                  <a:srgbClr val="000000"/>
                </a:solidFill>
              </a:rPr>
              <a:t>:: </a:t>
            </a:r>
            <a:r>
              <a:rPr lang="en-US" i="1" dirty="0">
                <a:solidFill>
                  <a:srgbClr val="000000"/>
                </a:solidFill>
              </a:rPr>
              <a:t>overvalued  -SELL</a:t>
            </a:r>
          </a:p>
          <a:p>
            <a:pPr lvl="3">
              <a:defRPr/>
            </a:pPr>
            <a:endParaRPr lang="en-US" dirty="0"/>
          </a:p>
        </p:txBody>
      </p:sp>
      <p:sp>
        <p:nvSpPr>
          <p:cNvPr id="103432" name="Up Arrow 7"/>
          <p:cNvSpPr>
            <a:spLocks noChangeArrowheads="1"/>
          </p:cNvSpPr>
          <p:nvPr/>
        </p:nvSpPr>
        <p:spPr bwMode="auto">
          <a:xfrm>
            <a:off x="6457951" y="3505200"/>
            <a:ext cx="180594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</a:t>
            </a:r>
          </a:p>
        </p:txBody>
      </p:sp>
      <p:sp>
        <p:nvSpPr>
          <p:cNvPr id="103433" name="Down Arrow 8"/>
          <p:cNvSpPr>
            <a:spLocks noChangeArrowheads="1"/>
          </p:cNvSpPr>
          <p:nvPr/>
        </p:nvSpPr>
        <p:spPr bwMode="auto">
          <a:xfrm>
            <a:off x="7668006" y="3492691"/>
            <a:ext cx="180594" cy="241109"/>
          </a:xfrm>
          <a:prstGeom prst="downArrow">
            <a:avLst>
              <a:gd name="adj1" fmla="val 50000"/>
              <a:gd name="adj2" fmla="val 50044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70661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How is equilibrium established?</a:t>
            </a:r>
          </a:p>
        </p:txBody>
      </p:sp>
      <p:sp>
        <p:nvSpPr>
          <p:cNvPr id="1044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E9A1DC-7637-4CBF-9752-8C13BA0B509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  <p:grpSp>
        <p:nvGrpSpPr>
          <p:cNvPr id="104452" name="Group 19"/>
          <p:cNvGrpSpPr>
            <a:grpSpLocks/>
          </p:cNvGrpSpPr>
          <p:nvPr/>
        </p:nvGrpSpPr>
        <p:grpSpPr bwMode="auto">
          <a:xfrm>
            <a:off x="533400" y="1676400"/>
            <a:ext cx="8380413" cy="4753774"/>
            <a:chOff x="528" y="1400"/>
            <a:chExt cx="5087" cy="2641"/>
          </a:xfrm>
        </p:grpSpPr>
        <p:sp>
          <p:nvSpPr>
            <p:cNvPr id="104453" name="Rectangle 6"/>
            <p:cNvSpPr>
              <a:spLocks noChangeArrowheads="1"/>
            </p:cNvSpPr>
            <p:nvPr/>
          </p:nvSpPr>
          <p:spPr bwMode="auto">
            <a:xfrm>
              <a:off x="528" y="1680"/>
              <a:ext cx="5087" cy="2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If </a:t>
              </a:r>
              <a:r>
                <a:rPr lang="en-US" altLang="en-US" dirty="0" err="1"/>
                <a:t>r</a:t>
              </a:r>
              <a:r>
                <a:rPr lang="en-US" altLang="en-US" baseline="-25000" dirty="0" err="1"/>
                <a:t>s</a:t>
              </a:r>
              <a:r>
                <a:rPr lang="en-US" altLang="en-US" dirty="0"/>
                <a:t> =       + g </a:t>
              </a:r>
              <a:r>
                <a:rPr lang="en-US" altLang="en-US" sz="4400" dirty="0"/>
                <a:t>&gt;</a:t>
              </a:r>
              <a:r>
                <a:rPr lang="en-US" altLang="en-US" dirty="0"/>
                <a:t> </a:t>
              </a:r>
              <a:r>
                <a:rPr lang="en-US" altLang="en-US" dirty="0" err="1"/>
                <a:t>r</a:t>
              </a:r>
              <a:r>
                <a:rPr lang="en-US" altLang="en-US" baseline="-25000" dirty="0" err="1"/>
                <a:t>s</a:t>
              </a:r>
              <a:r>
                <a:rPr lang="en-US" altLang="en-US" dirty="0"/>
                <a:t>, then P</a:t>
              </a:r>
              <a:r>
                <a:rPr lang="en-US" altLang="en-US" baseline="-25000" dirty="0"/>
                <a:t>0</a:t>
              </a:r>
              <a:r>
                <a:rPr lang="en-US" altLang="en-US" dirty="0"/>
                <a:t> is “too low.”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If  price is lower than  fundamental value, then  stock is a “bargain.”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Buy orders will exceed sell orders,  price will be bid up until: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        D</a:t>
              </a:r>
              <a:r>
                <a:rPr lang="en-US" altLang="en-US" baseline="-25000" dirty="0"/>
                <a:t>1</a:t>
              </a:r>
              <a:r>
                <a:rPr lang="en-US" altLang="en-US" dirty="0"/>
                <a:t>/P</a:t>
              </a:r>
              <a:r>
                <a:rPr lang="en-US" altLang="en-US" baseline="-25000" dirty="0"/>
                <a:t>0</a:t>
              </a:r>
              <a:r>
                <a:rPr lang="en-US" altLang="en-US" dirty="0"/>
                <a:t> + g = </a:t>
              </a:r>
              <a:r>
                <a:rPr lang="en-US" altLang="en-US" dirty="0" err="1"/>
                <a:t>r</a:t>
              </a:r>
              <a:r>
                <a:rPr lang="en-US" altLang="en-US" baseline="-25000" dirty="0" err="1"/>
                <a:t>s</a:t>
              </a:r>
              <a:r>
                <a:rPr lang="en-US" altLang="en-US" baseline="-25000" dirty="0"/>
                <a:t> </a:t>
              </a:r>
              <a:r>
                <a:rPr lang="en-US" altLang="en-US" dirty="0"/>
                <a:t> = </a:t>
              </a:r>
              <a:r>
                <a:rPr lang="en-US" altLang="en-US" dirty="0" err="1"/>
                <a:t>r</a:t>
              </a:r>
              <a:r>
                <a:rPr lang="en-US" altLang="en-US" baseline="-25000" dirty="0" err="1"/>
                <a:t>s</a:t>
              </a:r>
              <a:r>
                <a:rPr lang="en-US" altLang="en-US" dirty="0"/>
                <a:t>.</a:t>
              </a:r>
            </a:p>
          </p:txBody>
        </p:sp>
        <p:sp>
          <p:nvSpPr>
            <p:cNvPr id="104454" name="Rectangle 7"/>
            <p:cNvSpPr>
              <a:spLocks noChangeArrowheads="1"/>
            </p:cNvSpPr>
            <p:nvPr/>
          </p:nvSpPr>
          <p:spPr bwMode="auto">
            <a:xfrm>
              <a:off x="1294" y="1400"/>
              <a:ext cx="2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^</a:t>
              </a:r>
            </a:p>
          </p:txBody>
        </p:sp>
        <p:sp>
          <p:nvSpPr>
            <p:cNvPr id="104455" name="Rectangle 10"/>
            <p:cNvSpPr>
              <a:spLocks noChangeArrowheads="1"/>
            </p:cNvSpPr>
            <p:nvPr/>
          </p:nvSpPr>
          <p:spPr bwMode="auto">
            <a:xfrm>
              <a:off x="1300" y="1510"/>
              <a:ext cx="3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104456" name="Rectangle 8"/>
            <p:cNvSpPr>
              <a:spLocks noChangeArrowheads="1"/>
            </p:cNvSpPr>
            <p:nvPr/>
          </p:nvSpPr>
          <p:spPr bwMode="auto">
            <a:xfrm>
              <a:off x="3134" y="3481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^</a:t>
              </a:r>
            </a:p>
          </p:txBody>
        </p:sp>
        <p:sp>
          <p:nvSpPr>
            <p:cNvPr id="104457" name="Line 9"/>
            <p:cNvSpPr>
              <a:spLocks noChangeShapeType="1"/>
            </p:cNvSpPr>
            <p:nvPr/>
          </p:nvSpPr>
          <p:spPr bwMode="auto">
            <a:xfrm>
              <a:off x="1338" y="1894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8" name="Rectangle 13"/>
            <p:cNvSpPr>
              <a:spLocks noChangeArrowheads="1"/>
            </p:cNvSpPr>
            <p:nvPr/>
          </p:nvSpPr>
          <p:spPr bwMode="auto">
            <a:xfrm>
              <a:off x="767" y="1610"/>
              <a:ext cx="27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^</a:t>
              </a:r>
            </a:p>
          </p:txBody>
        </p:sp>
        <p:sp>
          <p:nvSpPr>
            <p:cNvPr id="104459" name="Rectangle 18"/>
            <p:cNvSpPr>
              <a:spLocks noChangeArrowheads="1"/>
            </p:cNvSpPr>
            <p:nvPr/>
          </p:nvSpPr>
          <p:spPr bwMode="auto">
            <a:xfrm>
              <a:off x="1344" y="1846"/>
              <a:ext cx="34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867500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are stock prices volatile?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3227387"/>
            <a:ext cx="7886700" cy="3265485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(RP</a:t>
            </a:r>
            <a:r>
              <a:rPr lang="en-US" altLang="en-US" baseline="-25000" dirty="0"/>
              <a:t>M</a:t>
            </a:r>
            <a:r>
              <a:rPr lang="en-US" altLang="en-US" dirty="0"/>
              <a:t>)b</a:t>
            </a:r>
            <a:r>
              <a:rPr lang="en-US" altLang="en-US" baseline="-25000" dirty="0"/>
              <a:t>i </a:t>
            </a:r>
            <a:r>
              <a:rPr lang="en-US" altLang="en-US" dirty="0"/>
              <a:t> could change.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Inflation expectations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Risk aversion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Company risk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g could change.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931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15652F-EF2B-438A-8DE3-20657ECC5A6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/>
          </a:p>
        </p:txBody>
      </p:sp>
      <p:grpSp>
        <p:nvGrpSpPr>
          <p:cNvPr id="93188" name="Group 10"/>
          <p:cNvGrpSpPr>
            <a:grpSpLocks/>
          </p:cNvGrpSpPr>
          <p:nvPr/>
        </p:nvGrpSpPr>
        <p:grpSpPr bwMode="auto">
          <a:xfrm>
            <a:off x="3048000" y="1752600"/>
            <a:ext cx="2286000" cy="1128713"/>
            <a:chOff x="1920" y="1488"/>
            <a:chExt cx="1440" cy="711"/>
          </a:xfrm>
        </p:grpSpPr>
        <p:sp>
          <p:nvSpPr>
            <p:cNvPr id="93190" name="Text Box 5"/>
            <p:cNvSpPr txBox="1">
              <a:spLocks noChangeArrowheads="1"/>
            </p:cNvSpPr>
            <p:nvPr/>
          </p:nvSpPr>
          <p:spPr bwMode="auto">
            <a:xfrm>
              <a:off x="1920" y="1680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P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 =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93191" name="Text Box 6"/>
            <p:cNvSpPr txBox="1">
              <a:spLocks noChangeArrowheads="1"/>
            </p:cNvSpPr>
            <p:nvPr/>
          </p:nvSpPr>
          <p:spPr bwMode="auto">
            <a:xfrm>
              <a:off x="1920" y="153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>
                  <a:cs typeface="Arial" panose="020B0604020202020204" pitchFamily="34" charset="0"/>
                </a:rPr>
                <a:t>^</a:t>
              </a:r>
            </a:p>
          </p:txBody>
        </p:sp>
        <p:sp>
          <p:nvSpPr>
            <p:cNvPr id="93192" name="Text Box 7"/>
            <p:cNvSpPr txBox="1">
              <a:spLocks noChangeArrowheads="1"/>
            </p:cNvSpPr>
            <p:nvPr/>
          </p:nvSpPr>
          <p:spPr bwMode="auto">
            <a:xfrm>
              <a:off x="2609" y="1488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93193" name="Text Box 9"/>
            <p:cNvSpPr txBox="1">
              <a:spLocks noChangeArrowheads="1"/>
            </p:cNvSpPr>
            <p:nvPr/>
          </p:nvSpPr>
          <p:spPr bwMode="auto">
            <a:xfrm>
              <a:off x="2448" y="1872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s </a:t>
              </a:r>
              <a:r>
                <a:rPr lang="en-US" altLang="en-US" sz="2800"/>
                <a:t> – g</a:t>
              </a:r>
            </a:p>
          </p:txBody>
        </p:sp>
        <p:sp>
          <p:nvSpPr>
            <p:cNvPr id="93194" name="Line 8"/>
            <p:cNvSpPr>
              <a:spLocks noChangeShapeType="1"/>
            </p:cNvSpPr>
            <p:nvPr/>
          </p:nvSpPr>
          <p:spPr bwMode="auto">
            <a:xfrm>
              <a:off x="2514" y="1872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When is a stock sale</a:t>
            </a:r>
            <a:br>
              <a:rPr lang="en-US" altLang="en-US" dirty="0"/>
            </a:br>
            <a:r>
              <a:rPr lang="en-US" altLang="en-US" dirty="0"/>
              <a:t>an initial public offering (IPO)?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100000"/>
            </a:pPr>
            <a:r>
              <a:rPr lang="en-US" altLang="en-US" dirty="0"/>
              <a:t>A firm “goes public” through an IPO when stock is first offered to public.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100000"/>
            </a:pPr>
            <a:r>
              <a:rPr lang="en-US" altLang="en-US" dirty="0"/>
              <a:t>Prior to an IPO, shares are typically owned by firm’s managers, key employees, and, in many situations, venture capital providers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14692B-F510-4C8C-ADFF-3417B371C04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82296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What is a seasoned equity offering (SEO)?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100000"/>
            </a:pPr>
            <a:r>
              <a:rPr lang="en-US" altLang="en-US" dirty="0"/>
              <a:t>A seasoned equity offering occurs when a company with public stock issues additional shares.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100000"/>
            </a:pPr>
            <a:r>
              <a:rPr lang="en-US" altLang="en-US" dirty="0"/>
              <a:t>After an IPO or SEO, stock trades in secondary market, such as NYSE or Nasdaq.</a:t>
            </a:r>
          </a:p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C074CF-BFAC-4898-A89F-569BD65AE22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6884180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Classified Stock</a:t>
            </a:r>
          </a:p>
        </p:txBody>
      </p:sp>
      <p:sp>
        <p:nvSpPr>
          <p:cNvPr id="1536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Classified stock has special provisions.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Could classify existing stock as founders’ shares, with voting rights but dividend restrictions.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New shares might be called “Class A” shares, with voting restrictions but full dividend rights.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0F4CCC-320A-429D-B226-8E2C4627E05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88500563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Tracking Stock</a:t>
            </a:r>
          </a:p>
        </p:txBody>
      </p:sp>
      <p:sp>
        <p:nvSpPr>
          <p:cNvPr id="1638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 Dividends of tracking stock are tied to a particular division, rather than co. as whole.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Investors can separately value divisions.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It’s easier to compensate division managers with tracking stock.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But tracking stock usually has no voting rights, &amp; financial disclosure for division is not as regulated as for co.</a:t>
            </a:r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18809A-5401-4D7B-B530-5F16CAB792D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969679749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1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Consider  following situation.</a:t>
            </a:r>
          </a:p>
        </p:txBody>
      </p:sp>
      <p:sp>
        <p:nvSpPr>
          <p:cNvPr id="942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BE58A9-0D58-45A6-B6D9-7C056EF938C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94212" name="Text Box 156"/>
          <p:cNvSpPr txBox="1">
            <a:spLocks noChangeArrowheads="1"/>
          </p:cNvSpPr>
          <p:nvPr/>
        </p:nvSpPr>
        <p:spPr bwMode="auto">
          <a:xfrm>
            <a:off x="914400" y="2514600"/>
            <a:ext cx="7947025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D</a:t>
            </a:r>
            <a:r>
              <a:rPr lang="en-US" altLang="en-US" baseline="-25000" dirty="0"/>
              <a:t>1 </a:t>
            </a:r>
            <a:r>
              <a:rPr lang="en-US" altLang="en-US" dirty="0"/>
              <a:t>= $2,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 = 10%, &amp; g = 5%: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= D</a:t>
            </a:r>
            <a:r>
              <a:rPr lang="en-US" altLang="en-US" baseline="-25000" dirty="0"/>
              <a:t>1</a:t>
            </a:r>
            <a:r>
              <a:rPr lang="en-US" altLang="en-US" dirty="0"/>
              <a:t>/(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 – g) = $2/(0.10 – 0.05) = $40.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What happens if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 or g changes?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0262AD-1498-447E-8495-6DD44CE8357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95235" name="Rectangle 6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Stock Prices vs. Changes in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 &amp; g</a:t>
            </a:r>
          </a:p>
        </p:txBody>
      </p:sp>
      <p:graphicFrame>
        <p:nvGraphicFramePr>
          <p:cNvPr id="43083" name="Group 75"/>
          <p:cNvGraphicFramePr>
            <a:graphicFrameLocks noGrp="1"/>
          </p:cNvGraphicFramePr>
          <p:nvPr>
            <p:ph idx="1"/>
          </p:nvPr>
        </p:nvGraphicFramePr>
        <p:xfrm>
          <a:off x="1182688" y="2017713"/>
          <a:ext cx="7226300" cy="3098802"/>
        </p:xfrm>
        <a:graphic>
          <a:graphicData uri="http://schemas.openxmlformats.org/drawingml/2006/table">
            <a:tbl>
              <a:tblPr/>
              <a:tblGrid>
                <a:gridCol w="186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6%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$40.00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$50.00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$66.67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$33.33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$40.00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$50.00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$28.57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$33.33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$40.00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261" name="Text Box 43"/>
          <p:cNvSpPr txBox="1">
            <a:spLocks noChangeArrowheads="1"/>
          </p:cNvSpPr>
          <p:nvPr/>
        </p:nvSpPr>
        <p:spPr bwMode="auto">
          <a:xfrm>
            <a:off x="1127125" y="2322513"/>
            <a:ext cx="7331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Are volatile stock prices consistent with rational pricing?</a:t>
            </a:r>
          </a:p>
        </p:txBody>
      </p:sp>
      <p:sp>
        <p:nvSpPr>
          <p:cNvPr id="96260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Small changes in expected g &amp;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 cause large changes in stock prices.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As new information arrives, investors continually update their estimates of g &amp;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If stock prices aren’t volatile, then this means there isn’t a good flow of information.</a:t>
            </a:r>
          </a:p>
        </p:txBody>
      </p:sp>
      <p:sp>
        <p:nvSpPr>
          <p:cNvPr id="962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E23922-9BE0-4B45-A9F7-CE6A986C3F9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What’s  Efficient Market</a:t>
            </a:r>
            <a:br>
              <a:rPr lang="en-US" altLang="en-US" dirty="0"/>
            </a:br>
            <a:r>
              <a:rPr lang="en-US" altLang="en-US" dirty="0"/>
              <a:t>Hypothesis (EMH)?</a:t>
            </a:r>
          </a:p>
        </p:txBody>
      </p:sp>
      <p:sp>
        <p:nvSpPr>
          <p:cNvPr id="106500" name="Rectangle 1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Securities are normally in equilibrium &amp; are “fairly priced.”  One cannot “beat  market” except through good luck or inside information.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EMH does not assume all investors are rational.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EMH assumes that stock market prices track intrinsic values fairly closely.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1064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977446-99E7-4153-ABF6-178304215E5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7278688" y="6057900"/>
            <a:ext cx="1152525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(More…)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EMH (continued)</a:t>
            </a:r>
          </a:p>
        </p:txBody>
      </p:sp>
      <p:sp>
        <p:nvSpPr>
          <p:cNvPr id="108548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If stock prices deviate from intrinsic values, investors will quickly take advantage of mispricing.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Prices will be driven to new equilibrium level based on new information.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It is possible to have irrational investors in a rational market.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/>
          </a:p>
        </p:txBody>
      </p:sp>
      <p:sp>
        <p:nvSpPr>
          <p:cNvPr id="1085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0A2533-4D9B-4980-AB68-4E701742831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10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Weak-form EMH</a:t>
            </a:r>
          </a:p>
        </p:txBody>
      </p:sp>
      <p:sp>
        <p:nvSpPr>
          <p:cNvPr id="110596" name="Rectangle 103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Can’t profit by looking@  past trends.  A recent decline is no reason to think stocks will go up (or down) in  future.  Evidence supports weak-form EMH, but “technical analysis” is still used.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1105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04B716-817B-4BB3-8835-FE831073400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06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Semistrong-form EMH</a:t>
            </a:r>
          </a:p>
        </p:txBody>
      </p:sp>
      <p:sp>
        <p:nvSpPr>
          <p:cNvPr id="112644" name="Rectangle 206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 publicly available information is reflected in stock prices, so it doesn’t pay to pore over annual reports looking for undervalued stocks.  Largely true.</a:t>
            </a:r>
          </a:p>
          <a:p>
            <a:pPr eaLnBrk="1" hangingPunct="1"/>
            <a:endParaRPr lang="en-US" altLang="en-US"/>
          </a:p>
        </p:txBody>
      </p:sp>
      <p:sp>
        <p:nvSpPr>
          <p:cNvPr id="1126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608568-B7E8-4467-8728-E3830016AF0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10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Strong-form EMH</a:t>
            </a:r>
          </a:p>
        </p:txBody>
      </p:sp>
      <p:sp>
        <p:nvSpPr>
          <p:cNvPr id="114692" name="Rectangle 103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All information, even inside information, is embedded in stock prices.  Not true—insiders can gain by trading on  basis of insider information, but that’s illegal.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146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32542D-E999-47C7-BA8E-D70E2356A2E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Markets are generally efficient because: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100,000 or so trained analysts—MBAs, CFAs, &amp; PhDs—work for firms like Fidelity, Morgan, &amp; Prudential.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These analysts have similar access to data &amp; megabucks to invest.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Thus, news is reflected in P</a:t>
            </a:r>
            <a:r>
              <a:rPr lang="en-US" altLang="en-US" baseline="-25000" dirty="0"/>
              <a:t>0</a:t>
            </a:r>
            <a:r>
              <a:rPr lang="en-US" altLang="en-US" dirty="0"/>
              <a:t> almost instantaneously.</a:t>
            </a:r>
          </a:p>
        </p:txBody>
      </p:sp>
      <p:sp>
        <p:nvSpPr>
          <p:cNvPr id="1167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92C0BF-B267-4E75-9315-F1BA9EF8017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Market Efficiency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For most stocks, for most of  time, it is generally safe to assume that  market is reasonably efficient.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However, periodically major shifts can &amp; do occur, causing most stocks to move strongly up or down.</a:t>
            </a:r>
          </a:p>
        </p:txBody>
      </p:sp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813B4E-1BBA-4FEF-909C-D042756D13A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Implications of Market Efficiency for Financial Decisions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Many investors have given up trying to beat  market.  This helps explain  growing popularity of index funds, which try to match overall market returns by buying a basket of stocks that make up a particular index.</a:t>
            </a:r>
          </a:p>
        </p:txBody>
      </p:sp>
      <p:sp>
        <p:nvSpPr>
          <p:cNvPr id="1208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92B682-276C-4039-8088-FCDF2AB9AF4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Implications of Market Efficiency for Financial Decisions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Important implications for stock issues, repurchases, &amp; tender offers.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If  market prices stocks fairly, managerial decisions based on over- &amp; undervaluation might not make sense.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Managers have better information but they cannot use for their own advantage &amp; cannot deliberately defraud investors.</a:t>
            </a:r>
          </a:p>
        </p:txBody>
      </p:sp>
      <p:sp>
        <p:nvSpPr>
          <p:cNvPr id="1228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E6209-E6FC-4D5E-A37F-7C57CAEA460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800" dirty="0"/>
              <a:t>Rational Behavior vs. Animal Spirits, Herding, &amp; Anchoring Bias</a:t>
            </a:r>
          </a:p>
        </p:txBody>
      </p:sp>
      <p:sp>
        <p:nvSpPr>
          <p:cNvPr id="1249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Stock market bubbles of 2000 &amp; 2008 suggest that something other than pure rationality in investing is alive &amp; well.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People anchor too closely on recent events when predicting future events.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When market is performing better than average, they tend to think it will continue to perform better than average.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Other investors emulate them, following like a herd of sheep.</a:t>
            </a:r>
          </a:p>
        </p:txBody>
      </p:sp>
      <p:sp>
        <p:nvSpPr>
          <p:cNvPr id="1249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4F9DD0-070A-4B55-9ECB-1FD96EAB28E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Conclusions</a:t>
            </a:r>
          </a:p>
        </p:txBody>
      </p:sp>
      <p:sp>
        <p:nvSpPr>
          <p:cNvPr id="12698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Markets are rational to a large extent, but@  time they are also subject to irrational behavior.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One must do careful, rational analyses using  tools &amp; techniques covered in  book.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Recognize that actual prices can differ from intrinsic values, sometimes by large amounts &amp; for long periods.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Good news!  Differences between actual prices &amp; intrinsic values provide wonderful opportunities for those able to capitalize on them.</a:t>
            </a:r>
          </a:p>
        </p:txBody>
      </p:sp>
      <p:sp>
        <p:nvSpPr>
          <p:cNvPr id="1269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5D62E-30E5-4EEF-A10D-C12C6DC7A7C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Financing w/ Common Stock has </a:t>
            </a:r>
            <a:r>
              <a:rPr lang="en-US" altLang="en-US" i="1" u="sng"/>
              <a:t>advantages</a:t>
            </a:r>
            <a:r>
              <a:rPr lang="en-US" altLang="en-US"/>
              <a:t> to Corporation</a:t>
            </a:r>
          </a:p>
        </p:txBody>
      </p:sp>
      <p:sp>
        <p:nvSpPr>
          <p:cNvPr id="129027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dirty="0"/>
              <a:t>C.S. does not obligate firm to make fixed </a:t>
            </a:r>
            <a:r>
              <a:rPr lang="en-US" altLang="en-US" sz="2800" dirty="0" err="1"/>
              <a:t>pmts</a:t>
            </a:r>
            <a:r>
              <a:rPr lang="en-US" altLang="en-US" sz="2800" dirty="0"/>
              <a:t> to stockholders</a:t>
            </a:r>
          </a:p>
          <a:p>
            <a:r>
              <a:rPr lang="en-US" altLang="en-US" sz="2800" dirty="0"/>
              <a:t>C.S. carries no fixed maturity date</a:t>
            </a:r>
          </a:p>
          <a:p>
            <a:r>
              <a:rPr lang="en-US" altLang="en-US" sz="2800" dirty="0"/>
              <a:t>C.S. increases creditworthiness of firm, thus increasing future availability of debt@  lower cost</a:t>
            </a:r>
          </a:p>
          <a:p>
            <a:r>
              <a:rPr lang="en-US" altLang="en-US" sz="2800" dirty="0"/>
              <a:t>C.S can often be sold more easily than debt if firm’s prospects look potentially good but risky</a:t>
            </a:r>
          </a:p>
          <a:p>
            <a:r>
              <a:rPr lang="en-US" altLang="en-US" sz="2800" dirty="0"/>
              <a:t>Financing with C.S. serves as a reserve of borrowing capacity</a:t>
            </a:r>
          </a:p>
        </p:txBody>
      </p:sp>
      <p:sp>
        <p:nvSpPr>
          <p:cNvPr id="12902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1E20430-640C-4679-BBD1-F95622EC0639}" type="slidenum">
              <a:rPr lang="en-US" altLang="en-US"/>
              <a:pPr/>
              <a:t>78</a:t>
            </a:fld>
            <a:endParaRPr lang="en-US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Financing w/ Common Stock has </a:t>
            </a:r>
            <a:r>
              <a:rPr lang="en-US" altLang="en-US" i="1" u="sng"/>
              <a:t>disadvantages</a:t>
            </a:r>
            <a:r>
              <a:rPr lang="en-US" altLang="en-US"/>
              <a:t> to Corp.</a:t>
            </a:r>
          </a:p>
        </p:txBody>
      </p:sp>
      <p:sp>
        <p:nvSpPr>
          <p:cNvPr id="13005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Issuing C.S. extends voting rights &amp; even control to new stockholders</a:t>
            </a:r>
          </a:p>
          <a:p>
            <a:r>
              <a:rPr lang="en-US" altLang="en-US" sz="2800"/>
              <a:t>C.S. gives new stockholders right to % of profits rather than a fixed pmt in case of creditors</a:t>
            </a:r>
          </a:p>
          <a:p>
            <a:r>
              <a:rPr lang="en-US" altLang="en-US" sz="2800"/>
              <a:t>Cost of underwriting  &amp; distributing C.S is high </a:t>
            </a:r>
          </a:p>
          <a:p>
            <a:r>
              <a:rPr lang="en-US" altLang="en-US" sz="2800"/>
              <a:t>Divids not tax deductible, interest pmts are</a:t>
            </a:r>
          </a:p>
        </p:txBody>
      </p:sp>
      <p:sp>
        <p:nvSpPr>
          <p:cNvPr id="13005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EE4997-146E-4CFE-BFAE-AE394CB98D72}" type="slidenum">
              <a:rPr lang="en-US" altLang="en-US"/>
              <a:pPr/>
              <a:t>79</a:t>
            </a:fld>
            <a:endParaRPr lang="en-US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Another Problem</a:t>
            </a:r>
            <a:br>
              <a:rPr lang="en-US" altLang="en-US" dirty="0"/>
            </a:br>
            <a:r>
              <a:rPr lang="en-US" altLang="en-US" dirty="0"/>
              <a:t>Supernormal Growth Stock II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7343D7-FE82-414E-A30C-69EA837A183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60832715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Supernormal Growth Stock II</a:t>
            </a:r>
          </a:p>
        </p:txBody>
      </p:sp>
      <p:sp>
        <p:nvSpPr>
          <p:cNvPr id="56324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Supernormal growth of 30% for Year 0 to Year 1, 25% for Year 1 to Year 2, 15% for Year 2 to Year 3, &amp; then long-run constant g = 6%.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Can no longer use constant growth model.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However, growth becomes constant after 3 years.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7343D7-FE82-414E-A30C-69EA837A183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85439973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103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Nonconstant growth followed by constant growth (D</a:t>
            </a:r>
            <a:r>
              <a:rPr lang="en-US" altLang="en-US" baseline="-25000"/>
              <a:t>0</a:t>
            </a:r>
            <a:r>
              <a:rPr lang="en-US" altLang="en-US"/>
              <a:t> = $2):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AD3FF6-E37D-447C-981A-F4C5B7CA503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400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V="1">
            <a:off x="1690688" y="2767013"/>
            <a:ext cx="7073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271713" y="2614613"/>
            <a:ext cx="793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747713" y="5915025"/>
            <a:ext cx="2249487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511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0</a:t>
            </a:r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3201988" y="3627438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802188" y="3627438"/>
            <a:ext cx="0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6516688" y="3646488"/>
            <a:ext cx="0" cy="133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2157413" y="4979988"/>
            <a:ext cx="4359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2157413" y="5510213"/>
            <a:ext cx="2416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977900" y="3752850"/>
            <a:ext cx="11064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2.3009</a:t>
            </a:r>
          </a:p>
        </p:txBody>
      </p:sp>
      <p:sp>
        <p:nvSpPr>
          <p:cNvPr id="58382" name="Rectangle 18"/>
          <p:cNvSpPr>
            <a:spLocks noChangeArrowheads="1"/>
          </p:cNvSpPr>
          <p:nvPr/>
        </p:nvSpPr>
        <p:spPr bwMode="auto">
          <a:xfrm>
            <a:off x="977900" y="4286250"/>
            <a:ext cx="11064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2.5452</a:t>
            </a:r>
          </a:p>
        </p:txBody>
      </p:sp>
      <p:sp>
        <p:nvSpPr>
          <p:cNvPr id="58383" name="Rectangle 19"/>
          <p:cNvSpPr>
            <a:spLocks noChangeArrowheads="1"/>
          </p:cNvSpPr>
          <p:nvPr/>
        </p:nvSpPr>
        <p:spPr bwMode="auto">
          <a:xfrm>
            <a:off x="977900" y="4819650"/>
            <a:ext cx="11064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2.5903</a:t>
            </a:r>
          </a:p>
        </p:txBody>
      </p:sp>
      <p:sp>
        <p:nvSpPr>
          <p:cNvPr id="58384" name="Rectangle 20"/>
          <p:cNvSpPr>
            <a:spLocks noChangeArrowheads="1"/>
          </p:cNvSpPr>
          <p:nvPr/>
        </p:nvSpPr>
        <p:spPr bwMode="auto">
          <a:xfrm>
            <a:off x="825500" y="5353050"/>
            <a:ext cx="12731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39.2246</a:t>
            </a:r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16779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59" name="Rectangle 23"/>
          <p:cNvSpPr>
            <a:spLocks noChangeArrowheads="1"/>
          </p:cNvSpPr>
          <p:nvPr/>
        </p:nvSpPr>
        <p:spPr bwMode="auto">
          <a:xfrm>
            <a:off x="2860675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3227388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306705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1</a:t>
            </a:r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4778375" y="2598738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3" name="Rectangle 27"/>
          <p:cNvSpPr>
            <a:spLocks noChangeArrowheads="1"/>
          </p:cNvSpPr>
          <p:nvPr/>
        </p:nvSpPr>
        <p:spPr bwMode="auto">
          <a:xfrm>
            <a:off x="4437063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4625975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2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6161088" y="2981325"/>
            <a:ext cx="692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6402388" y="2665413"/>
            <a:ext cx="1587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6351588" y="2166938"/>
            <a:ext cx="3476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3</a:t>
            </a: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8154988" y="2578100"/>
            <a:ext cx="0" cy="506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70" name="Rectangle 34"/>
          <p:cNvSpPr>
            <a:spLocks noChangeArrowheads="1"/>
          </p:cNvSpPr>
          <p:nvPr/>
        </p:nvSpPr>
        <p:spPr bwMode="auto">
          <a:xfrm>
            <a:off x="7988300" y="2166938"/>
            <a:ext cx="3476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4</a:t>
            </a:r>
          </a:p>
        </p:txBody>
      </p:sp>
      <p:sp>
        <p:nvSpPr>
          <p:cNvPr id="39971" name="Rectangle 35"/>
          <p:cNvSpPr>
            <a:spLocks noChangeArrowheads="1"/>
          </p:cNvSpPr>
          <p:nvPr/>
        </p:nvSpPr>
        <p:spPr bwMode="auto">
          <a:xfrm>
            <a:off x="1782763" y="2400300"/>
            <a:ext cx="126206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r</a:t>
            </a:r>
            <a:r>
              <a:rPr lang="en-US" sz="2000" baseline="-25000" dirty="0">
                <a:latin typeface="+mn-lt"/>
              </a:rPr>
              <a:t>s</a:t>
            </a:r>
            <a:r>
              <a:rPr lang="en-US" sz="2000" dirty="0">
                <a:latin typeface="+mn-lt"/>
              </a:rPr>
              <a:t> = 13%</a:t>
            </a:r>
          </a:p>
        </p:txBody>
      </p:sp>
      <p:sp>
        <p:nvSpPr>
          <p:cNvPr id="58398" name="Rectangle 36"/>
          <p:cNvSpPr>
            <a:spLocks noChangeArrowheads="1"/>
          </p:cNvSpPr>
          <p:nvPr/>
        </p:nvSpPr>
        <p:spPr bwMode="auto">
          <a:xfrm>
            <a:off x="815975" y="5886450"/>
            <a:ext cx="2060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46.6610</a:t>
            </a:r>
            <a:r>
              <a:rPr lang="en-US" altLang="en-US" sz="2400"/>
              <a:t> =  P</a:t>
            </a:r>
            <a:r>
              <a:rPr lang="en-US" altLang="en-US" sz="2400" baseline="-25000"/>
              <a:t>0</a:t>
            </a:r>
          </a:p>
        </p:txBody>
      </p:sp>
      <p:sp>
        <p:nvSpPr>
          <p:cNvPr id="39973" name="Rectangle 37"/>
          <p:cNvSpPr>
            <a:spLocks noChangeArrowheads="1"/>
          </p:cNvSpPr>
          <p:nvPr/>
        </p:nvSpPr>
        <p:spPr bwMode="auto">
          <a:xfrm>
            <a:off x="1816100" y="2808288"/>
            <a:ext cx="11874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g = 30%</a:t>
            </a:r>
          </a:p>
        </p:txBody>
      </p:sp>
      <p:sp>
        <p:nvSpPr>
          <p:cNvPr id="58400" name="Rectangle 38"/>
          <p:cNvSpPr>
            <a:spLocks noChangeArrowheads="1"/>
          </p:cNvSpPr>
          <p:nvPr/>
        </p:nvSpPr>
        <p:spPr bwMode="auto">
          <a:xfrm>
            <a:off x="3416300" y="2808288"/>
            <a:ext cx="11874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g = 25%</a:t>
            </a:r>
          </a:p>
        </p:txBody>
      </p:sp>
      <p:sp>
        <p:nvSpPr>
          <p:cNvPr id="58401" name="Rectangle 39"/>
          <p:cNvSpPr>
            <a:spLocks noChangeArrowheads="1"/>
          </p:cNvSpPr>
          <p:nvPr/>
        </p:nvSpPr>
        <p:spPr bwMode="auto">
          <a:xfrm>
            <a:off x="4940300" y="2808288"/>
            <a:ext cx="11874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g = 15%</a:t>
            </a:r>
          </a:p>
        </p:txBody>
      </p:sp>
      <p:sp>
        <p:nvSpPr>
          <p:cNvPr id="39976" name="Rectangle 40"/>
          <p:cNvSpPr>
            <a:spLocks noChangeArrowheads="1"/>
          </p:cNvSpPr>
          <p:nvPr/>
        </p:nvSpPr>
        <p:spPr bwMode="auto">
          <a:xfrm>
            <a:off x="6707188" y="2808288"/>
            <a:ext cx="1049337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g = 6%</a:t>
            </a:r>
          </a:p>
        </p:txBody>
      </p:sp>
      <p:sp>
        <p:nvSpPr>
          <p:cNvPr id="58403" name="Rectangle 42"/>
          <p:cNvSpPr>
            <a:spLocks noChangeArrowheads="1"/>
          </p:cNvSpPr>
          <p:nvPr/>
        </p:nvSpPr>
        <p:spPr bwMode="auto">
          <a:xfrm>
            <a:off x="2592388" y="3135313"/>
            <a:ext cx="60737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2.6000      3.2500        3.7375        3.9618</a:t>
            </a: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 flipH="1">
            <a:off x="6664325" y="3563938"/>
            <a:ext cx="1536700" cy="152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906463" y="6319838"/>
            <a:ext cx="1050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4" name="Rectangle 48"/>
          <p:cNvSpPr>
            <a:spLocks noChangeArrowheads="1"/>
          </p:cNvSpPr>
          <p:nvPr/>
        </p:nvSpPr>
        <p:spPr bwMode="auto">
          <a:xfrm>
            <a:off x="2370138" y="5730875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H="1">
            <a:off x="2157413" y="3929063"/>
            <a:ext cx="1035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H="1">
            <a:off x="2157413" y="4481513"/>
            <a:ext cx="263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81932" name="Text Box 1036"/>
          <p:cNvSpPr txBox="1">
            <a:spLocks noChangeArrowheads="1"/>
          </p:cNvSpPr>
          <p:nvPr/>
        </p:nvSpPr>
        <p:spPr bwMode="auto">
          <a:xfrm>
            <a:off x="4635500" y="5245100"/>
            <a:ext cx="2514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P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 =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81933" name="Rectangle 1037"/>
          <p:cNvSpPr>
            <a:spLocks noChangeArrowheads="1"/>
          </p:cNvSpPr>
          <p:nvPr/>
        </p:nvSpPr>
        <p:spPr bwMode="auto">
          <a:xfrm>
            <a:off x="4616450" y="5092700"/>
            <a:ext cx="403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  <p:sp>
        <p:nvSpPr>
          <p:cNvPr id="58411" name="Text Box 1038"/>
          <p:cNvSpPr txBox="1">
            <a:spLocks noChangeArrowheads="1"/>
          </p:cNvSpPr>
          <p:nvPr/>
        </p:nvSpPr>
        <p:spPr bwMode="auto">
          <a:xfrm>
            <a:off x="5445125" y="502602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$3.9618</a:t>
            </a:r>
          </a:p>
        </p:txBody>
      </p:sp>
      <p:sp>
        <p:nvSpPr>
          <p:cNvPr id="81935" name="Text Box 1039"/>
          <p:cNvSpPr txBox="1">
            <a:spLocks noChangeArrowheads="1"/>
          </p:cNvSpPr>
          <p:nvPr/>
        </p:nvSpPr>
        <p:spPr bwMode="auto">
          <a:xfrm>
            <a:off x="5292725" y="5483225"/>
            <a:ext cx="175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+mn-lt"/>
              </a:rPr>
              <a:t>0.13 – 0.06</a:t>
            </a:r>
          </a:p>
        </p:txBody>
      </p:sp>
      <p:sp>
        <p:nvSpPr>
          <p:cNvPr id="81936" name="Line 1040"/>
          <p:cNvSpPr>
            <a:spLocks noChangeShapeType="1"/>
          </p:cNvSpPr>
          <p:nvPr/>
        </p:nvSpPr>
        <p:spPr bwMode="auto">
          <a:xfrm>
            <a:off x="5426075" y="549275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+mn-lt"/>
            </a:endParaRPr>
          </a:p>
        </p:txBody>
      </p:sp>
      <p:sp>
        <p:nvSpPr>
          <p:cNvPr id="58414" name="Text Box 1041"/>
          <p:cNvSpPr txBox="1">
            <a:spLocks noChangeArrowheads="1"/>
          </p:cNvSpPr>
          <p:nvPr/>
        </p:nvSpPr>
        <p:spPr bwMode="auto">
          <a:xfrm>
            <a:off x="6910388" y="5235575"/>
            <a:ext cx="208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= $56.5971</a:t>
            </a:r>
          </a:p>
        </p:txBody>
      </p:sp>
    </p:spTree>
    <p:extLst>
      <p:ext uri="{BB962C8B-B14F-4D97-AF65-F5344CB8AC3E}">
        <p14:creationId xmlns:p14="http://schemas.microsoft.com/office/powerpoint/2010/main" val="1348107875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Expected Dividend Yield &amp; Capital Gains Yield (t = 0)</a:t>
            </a:r>
          </a:p>
        </p:txBody>
      </p:sp>
      <p:sp>
        <p:nvSpPr>
          <p:cNvPr id="604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FC2DB6-173C-4DEA-8661-0096318BCF5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400"/>
          </a:p>
        </p:txBody>
      </p:sp>
      <p:grpSp>
        <p:nvGrpSpPr>
          <p:cNvPr id="60420" name="Group 27"/>
          <p:cNvGrpSpPr>
            <a:grpSpLocks/>
          </p:cNvGrpSpPr>
          <p:nvPr/>
        </p:nvGrpSpPr>
        <p:grpSpPr bwMode="auto">
          <a:xfrm>
            <a:off x="990600" y="2514600"/>
            <a:ext cx="7783513" cy="3729038"/>
            <a:chOff x="624" y="1584"/>
            <a:chExt cx="4903" cy="2349"/>
          </a:xfrm>
        </p:grpSpPr>
        <p:sp>
          <p:nvSpPr>
            <p:cNvPr id="60421" name="Text Box 13"/>
            <p:cNvSpPr txBox="1">
              <a:spLocks noChangeArrowheads="1"/>
            </p:cNvSpPr>
            <p:nvPr/>
          </p:nvSpPr>
          <p:spPr bwMode="auto">
            <a:xfrm>
              <a:off x="720" y="3072"/>
              <a:ext cx="46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CG Yield = 13.0% – 5.6% = 7.4%.</a:t>
              </a:r>
            </a:p>
          </p:txBody>
        </p:sp>
        <p:sp>
          <p:nvSpPr>
            <p:cNvPr id="60422" name="Text Box 6"/>
            <p:cNvSpPr txBox="1">
              <a:spLocks noChangeArrowheads="1"/>
            </p:cNvSpPr>
            <p:nvPr/>
          </p:nvSpPr>
          <p:spPr bwMode="auto">
            <a:xfrm>
              <a:off x="624" y="2016"/>
              <a:ext cx="490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Dividend yield =        =             = 5.6%</a:t>
              </a:r>
            </a:p>
          </p:txBody>
        </p:sp>
        <p:sp>
          <p:nvSpPr>
            <p:cNvPr id="60423" name="Text Box 7"/>
            <p:cNvSpPr txBox="1">
              <a:spLocks noChangeArrowheads="1"/>
            </p:cNvSpPr>
            <p:nvPr/>
          </p:nvSpPr>
          <p:spPr bwMode="auto">
            <a:xfrm>
              <a:off x="3456" y="1843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$2.60</a:t>
              </a:r>
            </a:p>
          </p:txBody>
        </p:sp>
        <p:sp>
          <p:nvSpPr>
            <p:cNvPr id="60424" name="Text Box 8"/>
            <p:cNvSpPr txBox="1">
              <a:spLocks noChangeArrowheads="1"/>
            </p:cNvSpPr>
            <p:nvPr/>
          </p:nvSpPr>
          <p:spPr bwMode="auto">
            <a:xfrm>
              <a:off x="3408" y="2208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$46.66</a:t>
              </a:r>
            </a:p>
          </p:txBody>
        </p:sp>
        <p:sp>
          <p:nvSpPr>
            <p:cNvPr id="60425" name="Line 9"/>
            <p:cNvSpPr>
              <a:spLocks noChangeShapeType="1"/>
            </p:cNvSpPr>
            <p:nvPr/>
          </p:nvSpPr>
          <p:spPr bwMode="auto">
            <a:xfrm>
              <a:off x="3408" y="220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6" name="Text Box 10"/>
            <p:cNvSpPr txBox="1">
              <a:spLocks noChangeArrowheads="1"/>
            </p:cNvSpPr>
            <p:nvPr/>
          </p:nvSpPr>
          <p:spPr bwMode="auto">
            <a:xfrm>
              <a:off x="2688" y="184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60427" name="Text Box 11"/>
            <p:cNvSpPr txBox="1">
              <a:spLocks noChangeArrowheads="1"/>
            </p:cNvSpPr>
            <p:nvPr/>
          </p:nvSpPr>
          <p:spPr bwMode="auto">
            <a:xfrm>
              <a:off x="2688" y="2208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endParaRPr lang="en-US" altLang="en-US"/>
            </a:p>
          </p:txBody>
        </p:sp>
        <p:sp>
          <p:nvSpPr>
            <p:cNvPr id="60428" name="Line 12"/>
            <p:cNvSpPr>
              <a:spLocks noChangeShapeType="1"/>
            </p:cNvSpPr>
            <p:nvPr/>
          </p:nvSpPr>
          <p:spPr bwMode="auto">
            <a:xfrm>
              <a:off x="2688" y="220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9" name="Text Box 22"/>
            <p:cNvSpPr txBox="1">
              <a:spLocks noChangeArrowheads="1"/>
            </p:cNvSpPr>
            <p:nvPr/>
          </p:nvSpPr>
          <p:spPr bwMode="auto">
            <a:xfrm>
              <a:off x="672" y="1584"/>
              <a:ext cx="14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At  t = 0:</a:t>
              </a:r>
            </a:p>
          </p:txBody>
        </p:sp>
        <p:sp>
          <p:nvSpPr>
            <p:cNvPr id="60430" name="Rectangle 23"/>
            <p:cNvSpPr>
              <a:spLocks noChangeArrowheads="1"/>
            </p:cNvSpPr>
            <p:nvPr/>
          </p:nvSpPr>
          <p:spPr bwMode="auto">
            <a:xfrm>
              <a:off x="4804" y="3683"/>
              <a:ext cx="7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(More…)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0527827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Expected Dividend Yield &amp; Capital Gains Yield (after t = 3)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During nonconstant growth, dividend yield &amp; capital gains yield are not constant.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If current growth is greater than g, current capital gains yield is greater than g.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After t = 3, g = constant = 6%, so  </a:t>
            </a:r>
            <a:br>
              <a:rPr lang="en-US" altLang="en-US" sz="2800" dirty="0"/>
            </a:br>
            <a:r>
              <a:rPr lang="en-US" altLang="en-US" sz="2800" dirty="0"/>
              <a:t>capital gains yield = 6%.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Because </a:t>
            </a: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s</a:t>
            </a:r>
            <a:r>
              <a:rPr lang="en-US" altLang="en-US" sz="2800" dirty="0"/>
              <a:t> = 13%, after t = 3 dividend </a:t>
            </a:r>
            <a:br>
              <a:rPr lang="en-US" altLang="en-US" sz="2800" dirty="0"/>
            </a:br>
            <a:r>
              <a:rPr lang="en-US" altLang="en-US" sz="2800" dirty="0"/>
              <a:t>yield = 13% – 6% = 7%.</a:t>
            </a:r>
          </a:p>
        </p:txBody>
      </p:sp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14A407-ED84-455B-B7F8-06310AEAF7D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751765694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26BD24-6FDC-47C6-A725-9B28EC9036A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400"/>
          </a:p>
        </p:txBody>
      </p:sp>
      <p:sp>
        <p:nvSpPr>
          <p:cNvPr id="64515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Is  stock price based on</a:t>
            </a:r>
            <a:br>
              <a:rPr lang="en-US" altLang="en-US" sz="4000" dirty="0"/>
            </a:br>
            <a:r>
              <a:rPr lang="en-US" altLang="en-US" sz="4000" dirty="0"/>
              <a:t>short-term or long-term growth?</a:t>
            </a:r>
          </a:p>
        </p:txBody>
      </p:sp>
      <p:sp>
        <p:nvSpPr>
          <p:cNvPr id="64516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939800" y="2106613"/>
            <a:ext cx="7772400" cy="121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 current stock price is $46.66.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 PV of dividends beyond Year 3 is:</a:t>
            </a:r>
          </a:p>
        </p:txBody>
      </p:sp>
      <p:sp>
        <p:nvSpPr>
          <p:cNvPr id="64517" name="Text Box 11"/>
          <p:cNvSpPr txBox="1">
            <a:spLocks noChangeArrowheads="1"/>
          </p:cNvSpPr>
          <p:nvPr/>
        </p:nvSpPr>
        <p:spPr bwMode="auto">
          <a:xfrm>
            <a:off x="990600" y="3314700"/>
            <a:ext cx="368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^</a:t>
            </a:r>
          </a:p>
        </p:txBody>
      </p:sp>
      <p:sp>
        <p:nvSpPr>
          <p:cNvPr id="64518" name="Text Box 12"/>
          <p:cNvSpPr txBox="1">
            <a:spLocks noChangeArrowheads="1"/>
          </p:cNvSpPr>
          <p:nvPr/>
        </p:nvSpPr>
        <p:spPr bwMode="auto">
          <a:xfrm>
            <a:off x="977900" y="33909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P</a:t>
            </a:r>
            <a:r>
              <a:rPr lang="en-US" altLang="en-US" sz="2800" baseline="-25000"/>
              <a:t>3</a:t>
            </a:r>
            <a:r>
              <a:rPr lang="en-US" altLang="en-US" sz="2800"/>
              <a:t> / (1+r</a:t>
            </a:r>
            <a:r>
              <a:rPr lang="en-US" altLang="en-US" sz="2800" baseline="-25000"/>
              <a:t>s</a:t>
            </a:r>
            <a:r>
              <a:rPr lang="en-US" altLang="en-US" sz="2800"/>
              <a:t>)</a:t>
            </a:r>
            <a:r>
              <a:rPr lang="en-US" altLang="en-US" sz="2800" baseline="30000"/>
              <a:t>3</a:t>
            </a:r>
            <a:r>
              <a:rPr lang="en-US" altLang="en-US" sz="2800"/>
              <a:t> = $39.22 (see slide 22)</a:t>
            </a:r>
          </a:p>
        </p:txBody>
      </p:sp>
      <p:grpSp>
        <p:nvGrpSpPr>
          <p:cNvPr id="64519" name="Group 11"/>
          <p:cNvGrpSpPr>
            <a:grpSpLocks/>
          </p:cNvGrpSpPr>
          <p:nvPr/>
        </p:nvGrpSpPr>
        <p:grpSpPr bwMode="auto">
          <a:xfrm>
            <a:off x="2692400" y="5114925"/>
            <a:ext cx="3592513" cy="1082675"/>
            <a:chOff x="2112" y="3283"/>
            <a:chExt cx="2263" cy="682"/>
          </a:xfrm>
        </p:grpSpPr>
        <p:sp>
          <p:nvSpPr>
            <p:cNvPr id="64521" name="Rectangle 6"/>
            <p:cNvSpPr>
              <a:spLocks noChangeArrowheads="1"/>
            </p:cNvSpPr>
            <p:nvPr/>
          </p:nvSpPr>
          <p:spPr bwMode="auto">
            <a:xfrm>
              <a:off x="3031" y="3456"/>
              <a:ext cx="134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84.1%.</a:t>
              </a:r>
            </a:p>
          </p:txBody>
        </p:sp>
        <p:sp>
          <p:nvSpPr>
            <p:cNvPr id="64522" name="Line 8"/>
            <p:cNvSpPr>
              <a:spLocks noChangeShapeType="1"/>
            </p:cNvSpPr>
            <p:nvPr/>
          </p:nvSpPr>
          <p:spPr bwMode="auto">
            <a:xfrm>
              <a:off x="2160" y="3648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3" name="Text Box 9"/>
            <p:cNvSpPr txBox="1">
              <a:spLocks noChangeArrowheads="1"/>
            </p:cNvSpPr>
            <p:nvPr/>
          </p:nvSpPr>
          <p:spPr bwMode="auto">
            <a:xfrm>
              <a:off x="2112" y="3283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$39.22</a:t>
              </a:r>
            </a:p>
          </p:txBody>
        </p:sp>
        <p:sp>
          <p:nvSpPr>
            <p:cNvPr id="64524" name="Text Box 10"/>
            <p:cNvSpPr txBox="1">
              <a:spLocks noChangeArrowheads="1"/>
            </p:cNvSpPr>
            <p:nvPr/>
          </p:nvSpPr>
          <p:spPr bwMode="auto">
            <a:xfrm>
              <a:off x="2112" y="3600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$46.66</a:t>
              </a:r>
            </a:p>
          </p:txBody>
        </p:sp>
      </p:grpSp>
      <p:sp>
        <p:nvSpPr>
          <p:cNvPr id="64520" name="Text Box 18"/>
          <p:cNvSpPr txBox="1">
            <a:spLocks noChangeArrowheads="1"/>
          </p:cNvSpPr>
          <p:nvPr/>
        </p:nvSpPr>
        <p:spPr bwMode="auto">
          <a:xfrm>
            <a:off x="1066800" y="4189413"/>
            <a:ext cx="5727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 percentage of stock price due to “long-term” dividends is:</a:t>
            </a:r>
          </a:p>
        </p:txBody>
      </p:sp>
    </p:spTree>
    <p:extLst>
      <p:ext uri="{BB962C8B-B14F-4D97-AF65-F5344CB8AC3E}">
        <p14:creationId xmlns:p14="http://schemas.microsoft.com/office/powerpoint/2010/main" val="1518763958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Suppose g = 0 for t = 1 to 3, &amp; then g is a constant 6%.</a:t>
            </a:r>
          </a:p>
        </p:txBody>
      </p:sp>
      <p:sp>
        <p:nvSpPr>
          <p:cNvPr id="655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B93334-C154-435B-9044-7E9AE8E6123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400"/>
          </a:p>
        </p:txBody>
      </p:sp>
      <p:grpSp>
        <p:nvGrpSpPr>
          <p:cNvPr id="65540" name="Group 51"/>
          <p:cNvGrpSpPr>
            <a:grpSpLocks/>
          </p:cNvGrpSpPr>
          <p:nvPr/>
        </p:nvGrpSpPr>
        <p:grpSpPr bwMode="auto">
          <a:xfrm>
            <a:off x="658813" y="2674938"/>
            <a:ext cx="8015287" cy="3487737"/>
            <a:chOff x="415" y="1928"/>
            <a:chExt cx="5049" cy="2197"/>
          </a:xfrm>
        </p:grpSpPr>
        <p:sp>
          <p:nvSpPr>
            <p:cNvPr id="364547" name="Rectangle 3"/>
            <p:cNvSpPr>
              <a:spLocks noChangeArrowheads="1"/>
            </p:cNvSpPr>
            <p:nvPr/>
          </p:nvSpPr>
          <p:spPr bwMode="auto">
            <a:xfrm>
              <a:off x="847" y="1928"/>
              <a:ext cx="223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0</a:t>
              </a:r>
            </a:p>
          </p:txBody>
        </p:sp>
        <p:sp>
          <p:nvSpPr>
            <p:cNvPr id="364548" name="Line 4"/>
            <p:cNvSpPr>
              <a:spLocks noChangeShapeType="1"/>
            </p:cNvSpPr>
            <p:nvPr/>
          </p:nvSpPr>
          <p:spPr bwMode="auto">
            <a:xfrm>
              <a:off x="1900" y="2854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49" name="Line 5"/>
            <p:cNvSpPr>
              <a:spLocks noChangeShapeType="1"/>
            </p:cNvSpPr>
            <p:nvPr/>
          </p:nvSpPr>
          <p:spPr bwMode="auto">
            <a:xfrm>
              <a:off x="2956" y="2854"/>
              <a:ext cx="0" cy="5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0" name="Line 6"/>
            <p:cNvSpPr>
              <a:spLocks noChangeShapeType="1"/>
            </p:cNvSpPr>
            <p:nvPr/>
          </p:nvSpPr>
          <p:spPr bwMode="auto">
            <a:xfrm>
              <a:off x="4053" y="2854"/>
              <a:ext cx="0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1" name="Line 7"/>
            <p:cNvSpPr>
              <a:spLocks noChangeShapeType="1"/>
            </p:cNvSpPr>
            <p:nvPr/>
          </p:nvSpPr>
          <p:spPr bwMode="auto">
            <a:xfrm flipH="1">
              <a:off x="1244" y="3168"/>
              <a:ext cx="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2" name="Line 8"/>
            <p:cNvSpPr>
              <a:spLocks noChangeShapeType="1"/>
            </p:cNvSpPr>
            <p:nvPr/>
          </p:nvSpPr>
          <p:spPr bwMode="auto">
            <a:xfrm flipH="1">
              <a:off x="1244" y="3363"/>
              <a:ext cx="17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3" name="Line 9"/>
            <p:cNvSpPr>
              <a:spLocks noChangeShapeType="1"/>
            </p:cNvSpPr>
            <p:nvPr/>
          </p:nvSpPr>
          <p:spPr bwMode="auto">
            <a:xfrm flipH="1">
              <a:off x="1244" y="3576"/>
              <a:ext cx="2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4" name="Line 10"/>
            <p:cNvSpPr>
              <a:spLocks noChangeShapeType="1"/>
            </p:cNvSpPr>
            <p:nvPr/>
          </p:nvSpPr>
          <p:spPr bwMode="auto">
            <a:xfrm flipH="1">
              <a:off x="1244" y="3759"/>
              <a:ext cx="1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55" name="Rectangle 11"/>
            <p:cNvSpPr>
              <a:spLocks noChangeArrowheads="1"/>
            </p:cNvSpPr>
            <p:nvPr/>
          </p:nvSpPr>
          <p:spPr bwMode="auto">
            <a:xfrm>
              <a:off x="539" y="3035"/>
              <a:ext cx="709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1.7699</a:t>
              </a:r>
            </a:p>
          </p:txBody>
        </p:sp>
        <p:sp>
          <p:nvSpPr>
            <p:cNvPr id="364556" name="Rectangle 12"/>
            <p:cNvSpPr>
              <a:spLocks noChangeArrowheads="1"/>
            </p:cNvSpPr>
            <p:nvPr/>
          </p:nvSpPr>
          <p:spPr bwMode="auto">
            <a:xfrm>
              <a:off x="539" y="3247"/>
              <a:ext cx="709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1.5663</a:t>
              </a:r>
            </a:p>
          </p:txBody>
        </p:sp>
        <p:sp>
          <p:nvSpPr>
            <p:cNvPr id="364557" name="Rectangle 13"/>
            <p:cNvSpPr>
              <a:spLocks noChangeArrowheads="1"/>
            </p:cNvSpPr>
            <p:nvPr/>
          </p:nvSpPr>
          <p:spPr bwMode="auto">
            <a:xfrm>
              <a:off x="539" y="3444"/>
              <a:ext cx="709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1.3861</a:t>
              </a:r>
            </a:p>
          </p:txBody>
        </p:sp>
        <p:sp>
          <p:nvSpPr>
            <p:cNvPr id="364558" name="Rectangle 14"/>
            <p:cNvSpPr>
              <a:spLocks noChangeArrowheads="1"/>
            </p:cNvSpPr>
            <p:nvPr/>
          </p:nvSpPr>
          <p:spPr bwMode="auto">
            <a:xfrm>
              <a:off x="415" y="3641"/>
              <a:ext cx="817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20.9895</a:t>
              </a:r>
            </a:p>
          </p:txBody>
        </p:sp>
        <p:sp>
          <p:nvSpPr>
            <p:cNvPr id="364559" name="Line 15"/>
            <p:cNvSpPr>
              <a:spLocks noChangeShapeType="1"/>
            </p:cNvSpPr>
            <p:nvPr/>
          </p:nvSpPr>
          <p:spPr bwMode="auto">
            <a:xfrm>
              <a:off x="952" y="2232"/>
              <a:ext cx="0" cy="259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0" name="Rectangle 16"/>
            <p:cNvSpPr>
              <a:spLocks noChangeArrowheads="1"/>
            </p:cNvSpPr>
            <p:nvPr/>
          </p:nvSpPr>
          <p:spPr bwMode="auto">
            <a:xfrm>
              <a:off x="1697" y="2442"/>
              <a:ext cx="436" cy="3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1" name="Line 17"/>
            <p:cNvSpPr>
              <a:spLocks noChangeShapeType="1"/>
            </p:cNvSpPr>
            <p:nvPr/>
          </p:nvSpPr>
          <p:spPr bwMode="auto">
            <a:xfrm>
              <a:off x="1928" y="2232"/>
              <a:ext cx="0" cy="2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2" name="Rectangle 18"/>
            <p:cNvSpPr>
              <a:spLocks noChangeArrowheads="1"/>
            </p:cNvSpPr>
            <p:nvPr/>
          </p:nvSpPr>
          <p:spPr bwMode="auto">
            <a:xfrm>
              <a:off x="1827" y="1928"/>
              <a:ext cx="223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1</a:t>
              </a:r>
            </a:p>
          </p:txBody>
        </p:sp>
        <p:sp>
          <p:nvSpPr>
            <p:cNvPr id="364563" name="Line 19"/>
            <p:cNvSpPr>
              <a:spLocks noChangeShapeType="1"/>
            </p:cNvSpPr>
            <p:nvPr/>
          </p:nvSpPr>
          <p:spPr bwMode="auto">
            <a:xfrm>
              <a:off x="2905" y="2232"/>
              <a:ext cx="0" cy="2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4" name="Rectangle 20"/>
            <p:cNvSpPr>
              <a:spLocks noChangeArrowheads="1"/>
            </p:cNvSpPr>
            <p:nvPr/>
          </p:nvSpPr>
          <p:spPr bwMode="auto">
            <a:xfrm>
              <a:off x="2690" y="2539"/>
              <a:ext cx="436" cy="3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5" name="Rectangle 21"/>
            <p:cNvSpPr>
              <a:spLocks noChangeArrowheads="1"/>
            </p:cNvSpPr>
            <p:nvPr/>
          </p:nvSpPr>
          <p:spPr bwMode="auto">
            <a:xfrm>
              <a:off x="2809" y="1928"/>
              <a:ext cx="223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2</a:t>
              </a:r>
            </a:p>
          </p:txBody>
        </p:sp>
        <p:sp>
          <p:nvSpPr>
            <p:cNvPr id="364566" name="Rectangle 22"/>
            <p:cNvSpPr>
              <a:spLocks noChangeArrowheads="1"/>
            </p:cNvSpPr>
            <p:nvPr/>
          </p:nvSpPr>
          <p:spPr bwMode="auto">
            <a:xfrm>
              <a:off x="3776" y="2539"/>
              <a:ext cx="436" cy="3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7" name="Line 23"/>
            <p:cNvSpPr>
              <a:spLocks noChangeShapeType="1"/>
            </p:cNvSpPr>
            <p:nvPr/>
          </p:nvSpPr>
          <p:spPr bwMode="auto">
            <a:xfrm>
              <a:off x="3988" y="2232"/>
              <a:ext cx="0" cy="2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68" name="Rectangle 24"/>
            <p:cNvSpPr>
              <a:spLocks noChangeArrowheads="1"/>
            </p:cNvSpPr>
            <p:nvPr/>
          </p:nvSpPr>
          <p:spPr bwMode="auto">
            <a:xfrm>
              <a:off x="3854" y="1928"/>
              <a:ext cx="223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3</a:t>
              </a:r>
            </a:p>
          </p:txBody>
        </p:sp>
        <p:sp>
          <p:nvSpPr>
            <p:cNvPr id="364569" name="Line 25"/>
            <p:cNvSpPr>
              <a:spLocks noChangeShapeType="1"/>
            </p:cNvSpPr>
            <p:nvPr/>
          </p:nvSpPr>
          <p:spPr bwMode="auto">
            <a:xfrm>
              <a:off x="5032" y="2194"/>
              <a:ext cx="0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70" name="Rectangle 26"/>
            <p:cNvSpPr>
              <a:spLocks noChangeArrowheads="1"/>
            </p:cNvSpPr>
            <p:nvPr/>
          </p:nvSpPr>
          <p:spPr bwMode="auto">
            <a:xfrm>
              <a:off x="4830" y="2457"/>
              <a:ext cx="394" cy="3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71" name="Rectangle 27"/>
            <p:cNvSpPr>
              <a:spLocks noChangeArrowheads="1"/>
            </p:cNvSpPr>
            <p:nvPr/>
          </p:nvSpPr>
          <p:spPr bwMode="auto">
            <a:xfrm>
              <a:off x="4927" y="1928"/>
              <a:ext cx="223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4</a:t>
              </a:r>
            </a:p>
          </p:txBody>
        </p:sp>
        <p:sp>
          <p:nvSpPr>
            <p:cNvPr id="364572" name="Rectangle 28"/>
            <p:cNvSpPr>
              <a:spLocks noChangeArrowheads="1"/>
            </p:cNvSpPr>
            <p:nvPr/>
          </p:nvSpPr>
          <p:spPr bwMode="auto">
            <a:xfrm>
              <a:off x="1040" y="2067"/>
              <a:ext cx="773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r</a:t>
              </a:r>
              <a:r>
                <a:rPr lang="en-US" sz="2000" baseline="-25000" dirty="0">
                  <a:latin typeface="+mn-lt"/>
                </a:rPr>
                <a:t>s</a:t>
              </a:r>
              <a:r>
                <a:rPr lang="en-US" sz="2000" dirty="0">
                  <a:latin typeface="+mn-lt"/>
                </a:rPr>
                <a:t> = 13%</a:t>
              </a:r>
            </a:p>
          </p:txBody>
        </p:sp>
        <p:sp>
          <p:nvSpPr>
            <p:cNvPr id="364573" name="Line 29"/>
            <p:cNvSpPr>
              <a:spLocks noChangeShapeType="1"/>
            </p:cNvSpPr>
            <p:nvPr/>
          </p:nvSpPr>
          <p:spPr bwMode="auto">
            <a:xfrm>
              <a:off x="486" y="3871"/>
              <a:ext cx="6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74" name="Rectangle 30"/>
            <p:cNvSpPr>
              <a:spLocks noChangeArrowheads="1"/>
            </p:cNvSpPr>
            <p:nvPr/>
          </p:nvSpPr>
          <p:spPr bwMode="auto">
            <a:xfrm>
              <a:off x="416" y="3836"/>
              <a:ext cx="806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u="sng" dirty="0">
                  <a:latin typeface="+mn-lt"/>
                </a:rPr>
                <a:t>25.7118</a:t>
              </a:r>
            </a:p>
          </p:txBody>
        </p:sp>
        <p:sp>
          <p:nvSpPr>
            <p:cNvPr id="364575" name="Rectangle 31"/>
            <p:cNvSpPr>
              <a:spLocks noChangeArrowheads="1"/>
            </p:cNvSpPr>
            <p:nvPr/>
          </p:nvSpPr>
          <p:spPr bwMode="auto">
            <a:xfrm>
              <a:off x="1069" y="2329"/>
              <a:ext cx="66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g = 0%</a:t>
              </a:r>
            </a:p>
          </p:txBody>
        </p:sp>
        <p:sp>
          <p:nvSpPr>
            <p:cNvPr id="364576" name="Rectangle 32"/>
            <p:cNvSpPr>
              <a:spLocks noChangeArrowheads="1"/>
            </p:cNvSpPr>
            <p:nvPr/>
          </p:nvSpPr>
          <p:spPr bwMode="auto">
            <a:xfrm>
              <a:off x="2047" y="2329"/>
              <a:ext cx="66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g = 0%</a:t>
              </a:r>
            </a:p>
          </p:txBody>
        </p:sp>
        <p:sp>
          <p:nvSpPr>
            <p:cNvPr id="364577" name="Rectangle 33"/>
            <p:cNvSpPr>
              <a:spLocks noChangeArrowheads="1"/>
            </p:cNvSpPr>
            <p:nvPr/>
          </p:nvSpPr>
          <p:spPr bwMode="auto">
            <a:xfrm>
              <a:off x="3007" y="2329"/>
              <a:ext cx="66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g = 0%</a:t>
              </a:r>
            </a:p>
          </p:txBody>
        </p:sp>
        <p:sp>
          <p:nvSpPr>
            <p:cNvPr id="364578" name="Rectangle 34"/>
            <p:cNvSpPr>
              <a:spLocks noChangeArrowheads="1"/>
            </p:cNvSpPr>
            <p:nvPr/>
          </p:nvSpPr>
          <p:spPr bwMode="auto">
            <a:xfrm>
              <a:off x="4111" y="2329"/>
              <a:ext cx="66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n-lt"/>
                </a:rPr>
                <a:t>g = 6%</a:t>
              </a:r>
            </a:p>
          </p:txBody>
        </p:sp>
        <p:sp>
          <p:nvSpPr>
            <p:cNvPr id="364579" name="Rectangle 35"/>
            <p:cNvSpPr>
              <a:spLocks noChangeArrowheads="1"/>
            </p:cNvSpPr>
            <p:nvPr/>
          </p:nvSpPr>
          <p:spPr bwMode="auto">
            <a:xfrm>
              <a:off x="1719" y="2520"/>
              <a:ext cx="3668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n-lt"/>
                </a:rPr>
                <a:t>2.00	        2.00	       2.00	     2.12</a:t>
              </a:r>
            </a:p>
          </p:txBody>
        </p:sp>
        <p:sp>
          <p:nvSpPr>
            <p:cNvPr id="364580" name="Line 36"/>
            <p:cNvSpPr>
              <a:spLocks noChangeShapeType="1"/>
            </p:cNvSpPr>
            <p:nvPr/>
          </p:nvSpPr>
          <p:spPr bwMode="auto">
            <a:xfrm>
              <a:off x="3642" y="3768"/>
              <a:ext cx="6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81" name="Rectangle 37"/>
            <p:cNvSpPr>
              <a:spLocks noChangeArrowheads="1"/>
            </p:cNvSpPr>
            <p:nvPr/>
          </p:nvSpPr>
          <p:spPr bwMode="auto">
            <a:xfrm>
              <a:off x="3702" y="3454"/>
              <a:ext cx="553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</a:rPr>
                <a:t>2.12</a:t>
              </a:r>
            </a:p>
          </p:txBody>
        </p:sp>
        <p:sp>
          <p:nvSpPr>
            <p:cNvPr id="364583" name="Rectangle 39"/>
            <p:cNvSpPr>
              <a:spLocks noChangeArrowheads="1"/>
            </p:cNvSpPr>
            <p:nvPr/>
          </p:nvSpPr>
          <p:spPr bwMode="auto">
            <a:xfrm>
              <a:off x="3102" y="3619"/>
              <a:ext cx="239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</a:rPr>
                <a:t>P</a:t>
              </a:r>
            </a:p>
          </p:txBody>
        </p:sp>
        <p:sp>
          <p:nvSpPr>
            <p:cNvPr id="364584" name="Rectangle 40"/>
            <p:cNvSpPr>
              <a:spLocks noChangeArrowheads="1"/>
            </p:cNvSpPr>
            <p:nvPr/>
          </p:nvSpPr>
          <p:spPr bwMode="auto">
            <a:xfrm>
              <a:off x="3223" y="3746"/>
              <a:ext cx="201" cy="24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1900" dirty="0">
                  <a:latin typeface="+mn-lt"/>
                </a:rPr>
                <a:t>3</a:t>
              </a:r>
            </a:p>
          </p:txBody>
        </p:sp>
        <p:sp>
          <p:nvSpPr>
            <p:cNvPr id="364585" name="Rectangle 41"/>
            <p:cNvSpPr>
              <a:spLocks noChangeArrowheads="1"/>
            </p:cNvSpPr>
            <p:nvPr/>
          </p:nvSpPr>
          <p:spPr bwMode="auto">
            <a:xfrm>
              <a:off x="3706" y="3739"/>
              <a:ext cx="553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</a:rPr>
                <a:t>0.07</a:t>
              </a:r>
            </a:p>
          </p:txBody>
        </p:sp>
        <p:sp>
          <p:nvSpPr>
            <p:cNvPr id="364586" name="Rectangle 42"/>
            <p:cNvSpPr>
              <a:spLocks noChangeArrowheads="1"/>
            </p:cNvSpPr>
            <p:nvPr/>
          </p:nvSpPr>
          <p:spPr bwMode="auto">
            <a:xfrm>
              <a:off x="4528" y="3619"/>
              <a:ext cx="923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</a:rPr>
                <a:t>30.2857</a:t>
              </a:r>
            </a:p>
          </p:txBody>
        </p:sp>
        <p:sp>
          <p:nvSpPr>
            <p:cNvPr id="364587" name="Rectangle 43"/>
            <p:cNvSpPr>
              <a:spLocks noChangeArrowheads="1"/>
            </p:cNvSpPr>
            <p:nvPr/>
          </p:nvSpPr>
          <p:spPr bwMode="auto">
            <a:xfrm>
              <a:off x="3379" y="3585"/>
              <a:ext cx="280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  <a:ea typeface="Tahoma" pitchFamily="34" charset="0"/>
                  <a:cs typeface="Tahoma" pitchFamily="34" charset="0"/>
                </a:rPr>
                <a:t>=</a:t>
              </a:r>
            </a:p>
          </p:txBody>
        </p:sp>
        <p:sp>
          <p:nvSpPr>
            <p:cNvPr id="364588" name="Rectangle 44"/>
            <p:cNvSpPr>
              <a:spLocks noChangeArrowheads="1"/>
            </p:cNvSpPr>
            <p:nvPr/>
          </p:nvSpPr>
          <p:spPr bwMode="auto">
            <a:xfrm>
              <a:off x="4332" y="3585"/>
              <a:ext cx="280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800" dirty="0">
                  <a:latin typeface="+mn-lt"/>
                  <a:ea typeface="Tahoma" pitchFamily="34" charset="0"/>
                  <a:cs typeface="Tahoma" pitchFamily="34" charset="0"/>
                </a:rPr>
                <a:t>=</a:t>
              </a:r>
            </a:p>
          </p:txBody>
        </p:sp>
        <p:sp>
          <p:nvSpPr>
            <p:cNvPr id="364589" name="Line 45"/>
            <p:cNvSpPr>
              <a:spLocks noChangeShapeType="1"/>
            </p:cNvSpPr>
            <p:nvPr/>
          </p:nvSpPr>
          <p:spPr bwMode="auto">
            <a:xfrm flipH="1">
              <a:off x="4240" y="2848"/>
              <a:ext cx="703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90" name="Line 46"/>
            <p:cNvSpPr>
              <a:spLocks noChangeShapeType="1"/>
            </p:cNvSpPr>
            <p:nvPr/>
          </p:nvSpPr>
          <p:spPr bwMode="auto">
            <a:xfrm flipV="1">
              <a:off x="960" y="2346"/>
              <a:ext cx="45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91" name="Line 47"/>
            <p:cNvSpPr>
              <a:spLocks noChangeShapeType="1"/>
            </p:cNvSpPr>
            <p:nvPr/>
          </p:nvSpPr>
          <p:spPr bwMode="auto">
            <a:xfrm>
              <a:off x="474" y="4104"/>
              <a:ext cx="6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92" name="Line 48"/>
            <p:cNvSpPr>
              <a:spLocks noChangeShapeType="1"/>
            </p:cNvSpPr>
            <p:nvPr/>
          </p:nvSpPr>
          <p:spPr bwMode="auto">
            <a:xfrm flipV="1">
              <a:off x="3376" y="3340"/>
              <a:ext cx="0" cy="2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64593" name="Line 49"/>
            <p:cNvSpPr>
              <a:spLocks noChangeShapeType="1"/>
            </p:cNvSpPr>
            <p:nvPr/>
          </p:nvSpPr>
          <p:spPr bwMode="auto">
            <a:xfrm>
              <a:off x="3384" y="3342"/>
              <a:ext cx="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+mn-lt"/>
              </a:endParaRPr>
            </a:p>
          </p:txBody>
        </p:sp>
      </p:grpSp>
      <p:sp>
        <p:nvSpPr>
          <p:cNvPr id="53" name="Rectangle 48"/>
          <p:cNvSpPr>
            <a:spLocks noChangeArrowheads="1"/>
          </p:cNvSpPr>
          <p:nvPr/>
        </p:nvSpPr>
        <p:spPr bwMode="auto">
          <a:xfrm>
            <a:off x="4914900" y="5208588"/>
            <a:ext cx="406400" cy="458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1160585380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21055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Dividend Yield &amp; Capital Gains Yield (t = 0)</a:t>
            </a:r>
          </a:p>
        </p:txBody>
      </p:sp>
      <p:sp>
        <p:nvSpPr>
          <p:cNvPr id="6758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Dividend Yield = D</a:t>
            </a:r>
            <a:r>
              <a:rPr lang="en-US" altLang="en-US" baseline="-25000"/>
              <a:t>1</a:t>
            </a:r>
            <a:r>
              <a:rPr lang="en-US" altLang="en-US"/>
              <a:t>/P</a:t>
            </a:r>
            <a:r>
              <a:rPr lang="en-US" altLang="en-US" baseline="-25000"/>
              <a:t>0</a:t>
            </a:r>
          </a:p>
          <a:p>
            <a:pPr eaLnBrk="1" hangingPunct="1"/>
            <a:r>
              <a:rPr lang="en-US" altLang="en-US"/>
              <a:t>Dividend Yield = $2.00/$25.72</a:t>
            </a:r>
          </a:p>
          <a:p>
            <a:pPr eaLnBrk="1" hangingPunct="1"/>
            <a:r>
              <a:rPr lang="en-US" altLang="en-US"/>
              <a:t>Dividend Yield = 7.8%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CGY = 13.0% – 7.8% = 5.2%.</a:t>
            </a:r>
          </a:p>
          <a:p>
            <a:pPr eaLnBrk="1" hangingPunct="1"/>
            <a:endParaRPr lang="en-US" altLang="en-US"/>
          </a:p>
        </p:txBody>
      </p:sp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C1F889-A5FA-4E93-B77C-7CF982AF598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5459107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Dividend Yield &amp; Capital Gains Yield (after t = 3)</a:t>
            </a:r>
          </a:p>
        </p:txBody>
      </p:sp>
      <p:sp>
        <p:nvSpPr>
          <p:cNvPr id="68612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have constant growth, so:</a:t>
            </a:r>
          </a:p>
          <a:p>
            <a:pPr eaLnBrk="1" hangingPunct="1"/>
            <a:r>
              <a:rPr lang="en-US" altLang="en-US"/>
              <a:t>Capital gains yield = g = 6%</a:t>
            </a:r>
          </a:p>
          <a:p>
            <a:pPr eaLnBrk="1" hangingPunct="1"/>
            <a:r>
              <a:rPr lang="en-US" altLang="en-US"/>
              <a:t>Dividend yield = r</a:t>
            </a:r>
            <a:r>
              <a:rPr lang="en-US" altLang="en-US" baseline="-25000"/>
              <a:t>s </a:t>
            </a:r>
            <a:r>
              <a:rPr lang="en-US" altLang="en-US"/>
              <a:t> – g </a:t>
            </a:r>
          </a:p>
          <a:p>
            <a:pPr eaLnBrk="1" hangingPunct="1"/>
            <a:r>
              <a:rPr lang="en-US" altLang="en-US"/>
              <a:t>Dividend yield = 13% – 6% = 7%</a:t>
            </a:r>
          </a:p>
        </p:txBody>
      </p:sp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7EA336-65EB-4E0D-AC8D-1E02AD0BAF1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2322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220</TotalTime>
  <Pages>24</Pages>
  <Words>4413</Words>
  <Application>Microsoft Office PowerPoint</Application>
  <PresentationFormat>On-screen Show (4:3)</PresentationFormat>
  <Paragraphs>832</Paragraphs>
  <Slides>88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5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CHAPTER 7</vt:lpstr>
      <vt:lpstr> Topics in Chapter</vt:lpstr>
      <vt:lpstr>EQUITIES</vt:lpstr>
      <vt:lpstr>Equities</vt:lpstr>
      <vt:lpstr>Common Stock:  Owners, Directors, &amp; Managers</vt:lpstr>
      <vt:lpstr>Bonds    vs.     Stocks</vt:lpstr>
      <vt:lpstr>Bonds    vs.     Stocks</vt:lpstr>
      <vt:lpstr>Different Ways to Value Common Stock</vt:lpstr>
      <vt:lpstr>Why Invest in Stock?</vt:lpstr>
      <vt:lpstr>Constant Growth Approach to Equity Valuations </vt:lpstr>
      <vt:lpstr>Stock Value = PV of Dividends</vt:lpstr>
      <vt:lpstr>Stock Value = PV of Dividends</vt:lpstr>
      <vt:lpstr>For a constant growth stock:</vt:lpstr>
      <vt:lpstr>Required rate of return ? Beta = 1.2, rRF = 7%, &amp; RPM = 5%. </vt:lpstr>
      <vt:lpstr>Projected Dividends</vt:lpstr>
      <vt:lpstr>Expected Dividends &amp; PVs for: (rs = 13%, D0 = $2, g = 6%)</vt:lpstr>
      <vt:lpstr>Intrinsic Stock Value: Po =?  D0 = $2.00, rs = 13%, g = 6%</vt:lpstr>
      <vt:lpstr>Expected value in 1 yr. (P1)?  D0 = $2.00, rs = 13%, g = 6%</vt:lpstr>
      <vt:lpstr>Expected value in 1 yr:</vt:lpstr>
      <vt:lpstr>Return =  Dividend Yield + Capital Gains Yield</vt:lpstr>
      <vt:lpstr>Expected Yr 1 Div. &amp; Cap. Gains Yields</vt:lpstr>
      <vt:lpstr>Total Year 1 Return</vt:lpstr>
      <vt:lpstr>Rearrange model for rate of return:</vt:lpstr>
      <vt:lpstr>If g = 0,  div. stream is perpetuity.</vt:lpstr>
      <vt:lpstr>Supernormal Growth Stock I</vt:lpstr>
      <vt:lpstr>Nonconstant growth followed by constant growth</vt:lpstr>
      <vt:lpstr>Nonconstant growth Followed by constant growth (D0 = $2):</vt:lpstr>
      <vt:lpstr>Using Cfs </vt:lpstr>
      <vt:lpstr>Expected Yr 0 Divid. &amp; Cap Gains Yield</vt:lpstr>
      <vt:lpstr>Expected  Divd &amp; Cap Gains Yield (after yr = 3)</vt:lpstr>
      <vt:lpstr>Is stock price based on short-term growth?</vt:lpstr>
      <vt:lpstr>Intrinsic Stock Value vs. Quarterly Earnings</vt:lpstr>
      <vt:lpstr>Intrinsic Stock Value vs.  Quarterly Earnings</vt:lpstr>
      <vt:lpstr>Suppose negative growth:  If g = -6%, would anyone buy stock w/ Div today of $2.00 &amp; r=13%?  If so, price =?</vt:lpstr>
      <vt:lpstr>Annual Dividend &amp; Capital Gains Yields</vt:lpstr>
      <vt:lpstr>What if company pays no dividends?</vt:lpstr>
      <vt:lpstr>Uses of Free Cash Flows</vt:lpstr>
      <vt:lpstr>Equity Valuation using FCFs</vt:lpstr>
      <vt:lpstr>Equity Valuation using FCFs</vt:lpstr>
      <vt:lpstr>Using Cfs for FCFs Equity Valuation</vt:lpstr>
      <vt:lpstr>Using Cfs for FCFs Equity Valuation</vt:lpstr>
      <vt:lpstr>Equity Valuation using FCFs</vt:lpstr>
      <vt:lpstr>Market Cap (Capitalization)</vt:lpstr>
      <vt:lpstr>Enterprise Value</vt:lpstr>
      <vt:lpstr>Market Cap &amp; Enterprise Value I</vt:lpstr>
      <vt:lpstr>Using Stock Price Multiples  to Estimate Stock Price</vt:lpstr>
      <vt:lpstr>   Multiples Approach I</vt:lpstr>
      <vt:lpstr>Using Entity Multiples</vt:lpstr>
      <vt:lpstr>Using Entity Multiples (Continued)</vt:lpstr>
      <vt:lpstr>Problems w/ Market Multiple Methods</vt:lpstr>
      <vt:lpstr>What if an equity’s dividend is fixed?  No g !</vt:lpstr>
      <vt:lpstr>Preferred Stock</vt:lpstr>
      <vt:lpstr>Expected return =?, Preferred stock trading @ $50 &amp; pays annual div. = $5</vt:lpstr>
      <vt:lpstr>Determinant of Growth ?</vt:lpstr>
      <vt:lpstr>What’s market equilibrium?</vt:lpstr>
      <vt:lpstr>In equilibrium, expected returns must equal required returns:</vt:lpstr>
      <vt:lpstr>Expected Return vs. Required Return</vt:lpstr>
      <vt:lpstr>How is equilibrium established?</vt:lpstr>
      <vt:lpstr>Why are stock prices volatile?</vt:lpstr>
      <vt:lpstr>When is a stock sale an initial public offering (IPO)?</vt:lpstr>
      <vt:lpstr>What is a seasoned equity offering (SEO)?</vt:lpstr>
      <vt:lpstr>Classified Stock</vt:lpstr>
      <vt:lpstr>Tracking Stock</vt:lpstr>
      <vt:lpstr>Consider  following situation.</vt:lpstr>
      <vt:lpstr>Stock Prices vs. Changes in rs &amp; g</vt:lpstr>
      <vt:lpstr>Are volatile stock prices consistent with rational pricing?</vt:lpstr>
      <vt:lpstr>What’s  Efficient Market Hypothesis (EMH)?</vt:lpstr>
      <vt:lpstr>EMH (continued)</vt:lpstr>
      <vt:lpstr>Weak-form EMH</vt:lpstr>
      <vt:lpstr>Semistrong-form EMH</vt:lpstr>
      <vt:lpstr>Strong-form EMH</vt:lpstr>
      <vt:lpstr>Markets are generally efficient because:</vt:lpstr>
      <vt:lpstr>Market Efficiency</vt:lpstr>
      <vt:lpstr>Implications of Market Efficiency for Financial Decisions</vt:lpstr>
      <vt:lpstr>Implications of Market Efficiency for Financial Decisions</vt:lpstr>
      <vt:lpstr>Rational Behavior vs. Animal Spirits, Herding, &amp; Anchoring Bias</vt:lpstr>
      <vt:lpstr>Conclusions</vt:lpstr>
      <vt:lpstr>Financing w/ Common Stock has advantages to Corporation</vt:lpstr>
      <vt:lpstr>Financing w/ Common Stock has disadvantages to Corp.</vt:lpstr>
      <vt:lpstr>Another Problem Supernormal Growth Stock II</vt:lpstr>
      <vt:lpstr>Supernormal Growth Stock II</vt:lpstr>
      <vt:lpstr>Nonconstant growth followed by constant growth (D0 = $2):</vt:lpstr>
      <vt:lpstr>Expected Dividend Yield &amp; Capital Gains Yield (t = 0)</vt:lpstr>
      <vt:lpstr>Expected Dividend Yield &amp; Capital Gains Yield (after t = 3)</vt:lpstr>
      <vt:lpstr>Is  stock price based on short-term or long-term growth?</vt:lpstr>
      <vt:lpstr>Suppose g = 0 for t = 1 to 3, &amp; then g is a constant 6%.</vt:lpstr>
      <vt:lpstr>Dividend Yield &amp; Capital Gains Yield (t = 0)</vt:lpstr>
      <vt:lpstr>Dividend Yield &amp; Capital Gains Yield (after t =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subject>Powerpoint show</dc:subject>
  <dc:creator>Donna Hall</dc:creator>
  <cp:lastModifiedBy>Robert M Donchez</cp:lastModifiedBy>
  <cp:revision>23</cp:revision>
  <cp:lastPrinted>2024-02-28T22:45:17Z</cp:lastPrinted>
  <dcterms:created xsi:type="dcterms:W3CDTF">2022-07-25T19:10:43Z</dcterms:created>
  <dcterms:modified xsi:type="dcterms:W3CDTF">2024-02-28T23:35:01Z</dcterms:modified>
</cp:coreProperties>
</file>