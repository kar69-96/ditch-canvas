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84"/>
  </p:notesMasterIdLst>
  <p:handoutMasterIdLst>
    <p:handoutMasterId r:id="rId85"/>
  </p:handoutMasterIdLst>
  <p:sldIdLst>
    <p:sldId id="355" r:id="rId2"/>
    <p:sldId id="366" r:id="rId3"/>
    <p:sldId id="367" r:id="rId4"/>
    <p:sldId id="368" r:id="rId5"/>
    <p:sldId id="369" r:id="rId6"/>
    <p:sldId id="370" r:id="rId7"/>
    <p:sldId id="371" r:id="rId8"/>
    <p:sldId id="327" r:id="rId9"/>
    <p:sldId id="374" r:id="rId10"/>
    <p:sldId id="262" r:id="rId11"/>
    <p:sldId id="263" r:id="rId12"/>
    <p:sldId id="264" r:id="rId13"/>
    <p:sldId id="373" r:id="rId14"/>
    <p:sldId id="375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405" r:id="rId23"/>
    <p:sldId id="384" r:id="rId24"/>
    <p:sldId id="385" r:id="rId25"/>
    <p:sldId id="386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404" r:id="rId44"/>
    <p:sldId id="372" r:id="rId45"/>
    <p:sldId id="266" r:id="rId46"/>
    <p:sldId id="339" r:id="rId47"/>
    <p:sldId id="340" r:id="rId48"/>
    <p:sldId id="362" r:id="rId49"/>
    <p:sldId id="352" r:id="rId50"/>
    <p:sldId id="343" r:id="rId51"/>
    <p:sldId id="344" r:id="rId52"/>
    <p:sldId id="271" r:id="rId53"/>
    <p:sldId id="272" r:id="rId54"/>
    <p:sldId id="361" r:id="rId55"/>
    <p:sldId id="345" r:id="rId56"/>
    <p:sldId id="346" r:id="rId57"/>
    <p:sldId id="273" r:id="rId58"/>
    <p:sldId id="274" r:id="rId59"/>
    <p:sldId id="275" r:id="rId60"/>
    <p:sldId id="276" r:id="rId61"/>
    <p:sldId id="295" r:id="rId62"/>
    <p:sldId id="347" r:id="rId63"/>
    <p:sldId id="297" r:id="rId64"/>
    <p:sldId id="298" r:id="rId65"/>
    <p:sldId id="299" r:id="rId66"/>
    <p:sldId id="300" r:id="rId67"/>
    <p:sldId id="301" r:id="rId68"/>
    <p:sldId id="360" r:id="rId69"/>
    <p:sldId id="310" r:id="rId70"/>
    <p:sldId id="311" r:id="rId71"/>
    <p:sldId id="312" r:id="rId72"/>
    <p:sldId id="326" r:id="rId73"/>
    <p:sldId id="329" r:id="rId74"/>
    <p:sldId id="349" r:id="rId75"/>
    <p:sldId id="330" r:id="rId76"/>
    <p:sldId id="354" r:id="rId77"/>
    <p:sldId id="314" r:id="rId78"/>
    <p:sldId id="315" r:id="rId79"/>
    <p:sldId id="316" r:id="rId80"/>
    <p:sldId id="332" r:id="rId81"/>
    <p:sldId id="337" r:id="rId82"/>
    <p:sldId id="338" r:id="rId83"/>
  </p:sldIdLst>
  <p:sldSz cx="9144000" cy="6858000" type="screen4x3"/>
  <p:notesSz cx="6954838" cy="93091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94" autoAdjust="0"/>
  </p:normalViewPr>
  <p:slideViewPr>
    <p:cSldViewPr>
      <p:cViewPr varScale="1">
        <p:scale>
          <a:sx n="75" d="100"/>
          <a:sy n="75" d="100"/>
        </p:scale>
        <p:origin x="1051" y="6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21188"/>
            <a:ext cx="5095875" cy="418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704850"/>
            <a:ext cx="4637088" cy="3476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01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75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931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627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7583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684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0236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02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65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5057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600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5081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111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26093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013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800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8075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638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802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430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830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671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808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13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9818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68547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1364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1194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5468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5006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8487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8827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9134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08808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43187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2309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2679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6411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93118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95506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8154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6107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9870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4715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1673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3653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1941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567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48367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8558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6301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9880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9672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252887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83176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0015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62716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2448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2759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936425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25876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3856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51215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80915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17691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6158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A05A81-D42B-4143-8B8C-6CF7B715CA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976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5C1AD1-F670-4D46-A264-B75B1CF7D7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61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  <p:sldLayoutId id="2147484294" r:id="rId12"/>
    <p:sldLayoutId id="214748429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B444DB6-C448-42AD-9878-F06E580F799B}" type="slidenum">
              <a:rPr lang="en-US" altLang="en-US">
                <a:solidFill>
                  <a:schemeClr val="bg2"/>
                </a:solidFill>
                <a:latin typeface="Tahoma" panose="020B0604030504040204" pitchFamily="34" charset="0"/>
              </a:rPr>
              <a:pPr eaLnBrk="1" hangingPunct="1"/>
              <a:t>1</a:t>
            </a:fld>
            <a:endParaRPr lang="en-US" altLang="en-US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11</a:t>
            </a:r>
          </a:p>
        </p:txBody>
      </p:sp>
      <p:sp>
        <p:nvSpPr>
          <p:cNvPr id="5124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Cash Flow Estimation and Risk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CASH FLOW ESTIMATION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altLang="en-US" b="1" u="sng" dirty="0"/>
              <a:t>Why?</a:t>
            </a:r>
          </a:p>
          <a:p>
            <a:r>
              <a:rPr lang="en-US" altLang="en-US" dirty="0"/>
              <a:t>Importance in Project Valuation</a:t>
            </a:r>
          </a:p>
          <a:p>
            <a:pPr lvl="1"/>
            <a:r>
              <a:rPr lang="en-US" altLang="en-US" dirty="0"/>
              <a:t>Effects on Firm Valuation</a:t>
            </a:r>
          </a:p>
          <a:p>
            <a:r>
              <a:rPr lang="en-US" altLang="en-US" dirty="0"/>
              <a:t>Relevance of CF over </a:t>
            </a:r>
            <a:r>
              <a:rPr lang="en-US" altLang="en-US" dirty="0" err="1"/>
              <a:t>Acctg</a:t>
            </a:r>
            <a:r>
              <a:rPr lang="en-US" altLang="en-US" dirty="0"/>
              <a:t> Income</a:t>
            </a:r>
          </a:p>
          <a:p>
            <a:r>
              <a:rPr lang="en-US" altLang="en-US" dirty="0"/>
              <a:t>Incremental CF Basis</a:t>
            </a:r>
          </a:p>
        </p:txBody>
      </p:sp>
      <p:sp>
        <p:nvSpPr>
          <p:cNvPr id="17414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  <a:defRPr/>
            </a:pPr>
            <a:r>
              <a:rPr lang="en-US" b="1" u="sng" dirty="0"/>
              <a:t>Business Application</a:t>
            </a:r>
          </a:p>
          <a:p>
            <a:pPr>
              <a:defRPr/>
            </a:pPr>
            <a:r>
              <a:rPr lang="en-US" dirty="0"/>
              <a:t>Determine Value : Based on accurate CF Projections</a:t>
            </a:r>
          </a:p>
          <a:p>
            <a:pPr>
              <a:defRPr/>
            </a:pPr>
            <a:r>
              <a:rPr lang="en-US" dirty="0"/>
              <a:t>New vs. Replacement Projects</a:t>
            </a:r>
          </a:p>
          <a:p>
            <a:pPr>
              <a:defRPr/>
            </a:pPr>
            <a:r>
              <a:rPr lang="en-US" dirty="0"/>
              <a:t>Relevant CFs</a:t>
            </a:r>
          </a:p>
          <a:p>
            <a:pPr>
              <a:defRPr/>
            </a:pPr>
            <a:r>
              <a:rPr lang="en-US" dirty="0"/>
              <a:t>Depreciation &amp; Tax Effects</a:t>
            </a:r>
          </a:p>
          <a:p>
            <a:pPr>
              <a:defRPr/>
            </a:pPr>
            <a:r>
              <a:rPr lang="en-US" dirty="0"/>
              <a:t>Inflation &amp; Risk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</a:t>
            </a:r>
          </a:p>
        </p:txBody>
      </p:sp>
      <p:sp>
        <p:nvSpPr>
          <p:cNvPr id="615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EE266D-FC3F-42B5-A239-F515CF62905D}" type="slidenum"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  <p:bldP spid="174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CASH FLOW ESTIMATION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2"/>
          </p:nvPr>
        </p:nvSpPr>
        <p:spPr>
          <a:xfrm>
            <a:off x="146050" y="2174875"/>
            <a:ext cx="4351338" cy="44656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u="sng" dirty="0"/>
              <a:t>Why?</a:t>
            </a:r>
          </a:p>
        </p:txBody>
      </p:sp>
      <p:sp>
        <p:nvSpPr>
          <p:cNvPr id="17414" name="Content Placeholder 6"/>
          <p:cNvSpPr>
            <a:spLocks noGrp="1"/>
          </p:cNvSpPr>
          <p:nvPr>
            <p:ph sz="quarter" idx="4"/>
          </p:nvPr>
        </p:nvSpPr>
        <p:spPr>
          <a:xfrm>
            <a:off x="4497388" y="2162810"/>
            <a:ext cx="4194175" cy="446659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b="1" u="sng" dirty="0"/>
              <a:t>Business Application</a:t>
            </a:r>
          </a:p>
          <a:p>
            <a:r>
              <a:rPr lang="en-US" altLang="en-US" dirty="0"/>
              <a:t>Techniques to Manage CFs</a:t>
            </a:r>
          </a:p>
          <a:p>
            <a:pPr lvl="1"/>
            <a:r>
              <a:rPr lang="en-US" altLang="en-US" sz="2200" dirty="0"/>
              <a:t>Sensitivity Analysis</a:t>
            </a:r>
          </a:p>
          <a:p>
            <a:pPr lvl="1"/>
            <a:r>
              <a:rPr lang="en-US" altLang="en-US" sz="2200" dirty="0"/>
              <a:t>Scenario Analysis</a:t>
            </a:r>
          </a:p>
          <a:p>
            <a:pPr lvl="1"/>
            <a:r>
              <a:rPr lang="en-US" altLang="en-US" sz="2200" dirty="0"/>
              <a:t>Decision Tree Analysis</a:t>
            </a:r>
          </a:p>
          <a:p>
            <a:pPr lvl="1"/>
            <a:r>
              <a:rPr lang="en-US" altLang="en-US" sz="2200" dirty="0" err="1"/>
              <a:t>MonteCarlo</a:t>
            </a:r>
            <a:r>
              <a:rPr lang="en-US" altLang="en-US" sz="2200" dirty="0"/>
              <a:t> Simulation</a:t>
            </a:r>
          </a:p>
        </p:txBody>
      </p:sp>
      <p:sp>
        <p:nvSpPr>
          <p:cNvPr id="717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BB745E8-76E4-4F3D-BAE3-47306F33F070}" type="slidenum"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  <p:bldP spid="1741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129AD4-17B5-4CCB-9186-0BE268A032B6}" type="slidenum">
              <a:rPr lang="en-US" altLang="en-US">
                <a:latin typeface="Tahoma" panose="020B0604030504040204" pitchFamily="34" charset="0"/>
              </a:rPr>
              <a:pPr eaLnBrk="1" hangingPunct="1"/>
              <a:t>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Topics</a:t>
            </a:r>
          </a:p>
        </p:txBody>
      </p:sp>
      <p:sp>
        <p:nvSpPr>
          <p:cNvPr id="819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Estimating cash flows: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Relevant cash flows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Working capital treatment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Risk analysis: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Sensitivity analysis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/>
              <a:t>Scenario analysis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Simulation analysis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Real options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Capital Budgeting Analysis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What Long-Term projects (Capital Investments) should our company undertake in order to generate additional return (Value (</a:t>
            </a:r>
            <a:r>
              <a:rPr lang="en-US" altLang="en-US">
                <a:solidFill>
                  <a:srgbClr val="00B050"/>
                </a:solidFill>
              </a:rPr>
              <a:t>$$</a:t>
            </a:r>
            <a:r>
              <a:rPr lang="en-US" altLang="en-US"/>
              <a:t>)) to the owners (Stockholders)??</a:t>
            </a:r>
          </a:p>
          <a:p>
            <a:r>
              <a:rPr lang="en-US" altLang="en-US"/>
              <a:t>CFs are KEY, NOT Acctg Income!!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Consider Only Incremental CFs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Compare Outflows to acquire vs. inflows generated by operating project.</a:t>
            </a:r>
          </a:p>
          <a:p>
            <a:r>
              <a:rPr lang="en-US" altLang="en-US"/>
              <a:t>If PV of inflows &gt; PV of outflows, then making $ and adding value.</a:t>
            </a:r>
          </a:p>
          <a:p>
            <a:r>
              <a:rPr lang="en-US" altLang="en-US"/>
              <a:t>Accept if project generates positive NPV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TYPES OF PROJECTS</a:t>
            </a:r>
          </a:p>
        </p:txBody>
      </p:sp>
      <p:sp>
        <p:nvSpPr>
          <p:cNvPr id="17412" name="Content Placeholder 4"/>
          <p:cNvSpPr>
            <a:spLocks noGrp="1"/>
          </p:cNvSpPr>
          <p:nvPr>
            <p:ph sz="half" idx="2"/>
          </p:nvPr>
        </p:nvSpPr>
        <p:spPr>
          <a:xfrm>
            <a:off x="146050" y="2174875"/>
            <a:ext cx="4351338" cy="44656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600" b="1" u="sng" dirty="0"/>
              <a:t>Expansion</a:t>
            </a:r>
          </a:p>
          <a:p>
            <a:r>
              <a:rPr lang="en-US" altLang="en-US" dirty="0"/>
              <a:t>Add New Equipment</a:t>
            </a:r>
          </a:p>
          <a:p>
            <a:r>
              <a:rPr lang="en-US" altLang="en-US" dirty="0"/>
              <a:t>Increase in Op CFs</a:t>
            </a:r>
          </a:p>
        </p:txBody>
      </p:sp>
      <p:sp>
        <p:nvSpPr>
          <p:cNvPr id="17414" name="Content Placeholder 6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6575" cy="395128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600" b="1" u="sng" dirty="0"/>
              <a:t>Replacement</a:t>
            </a:r>
          </a:p>
          <a:p>
            <a:r>
              <a:rPr lang="en-US" altLang="en-US" dirty="0"/>
              <a:t>Swap out equipment</a:t>
            </a:r>
          </a:p>
          <a:p>
            <a:r>
              <a:rPr lang="en-US" altLang="en-US" dirty="0"/>
              <a:t>Decrease in Operating Costs</a:t>
            </a:r>
          </a:p>
        </p:txBody>
      </p:sp>
      <p:sp>
        <p:nvSpPr>
          <p:cNvPr id="1229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67AFAA6-D518-4B54-AE0A-15E8809A5258}" type="slidenum">
              <a:rPr lang="en-US" altLang="en-US">
                <a:solidFill>
                  <a:srgbClr val="000000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  <p:bldP spid="174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8EAB2B-0C6A-46B9-90C2-DAD291CAA9C9}" type="slidenum">
              <a:rPr lang="en-US" altLang="en-US">
                <a:latin typeface="Tahoma" panose="020B0604030504040204" pitchFamily="34" charset="0"/>
              </a:rPr>
              <a:pPr eaLnBrk="1" hangingPunct="1"/>
              <a:t>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Incremental Cash Flow for a Project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Project’s incremental cash flow is: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endParaRPr lang="en-US" altLang="en-US" dirty="0"/>
          </a:p>
          <a:p>
            <a:pPr lvl="1" algn="ctr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dirty="0"/>
              <a:t>Corporate cash flow with the project</a:t>
            </a:r>
          </a:p>
          <a:p>
            <a:pPr lvl="1" algn="ctr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dirty="0"/>
              <a:t>Minus </a:t>
            </a:r>
          </a:p>
          <a:p>
            <a:pPr lvl="1" algn="ctr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dirty="0"/>
              <a:t>Corporate cash flow without the project.</a:t>
            </a:r>
          </a:p>
          <a:p>
            <a:pPr lvl="1" algn="ctr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dirty="0"/>
              <a:t>OR:</a:t>
            </a:r>
          </a:p>
          <a:p>
            <a:pPr lvl="1" algn="ctr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en-US" altLang="en-US" dirty="0"/>
              <a:t>Project CFs on stand-alone basis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04887"/>
          </a:xfrm>
        </p:spPr>
        <p:txBody>
          <a:bodyPr/>
          <a:lstStyle/>
          <a:p>
            <a:r>
              <a:rPr lang="en-US" altLang="en-US"/>
              <a:t>	Type of Costs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/>
              <a:t>Sunk Costs</a:t>
            </a:r>
          </a:p>
          <a:p>
            <a:r>
              <a:rPr lang="en-US" altLang="en-US"/>
              <a:t>Incremental Costs</a:t>
            </a:r>
          </a:p>
          <a:p>
            <a:r>
              <a:rPr lang="en-US" altLang="en-US"/>
              <a:t>Externalities</a:t>
            </a:r>
          </a:p>
          <a:p>
            <a:r>
              <a:rPr lang="en-US" altLang="en-US"/>
              <a:t>Opportunity Costs</a:t>
            </a:r>
          </a:p>
          <a:p>
            <a:r>
              <a:rPr lang="en-US" altLang="en-US"/>
              <a:t>Shipping and installation</a:t>
            </a:r>
          </a:p>
          <a:p>
            <a:r>
              <a:rPr lang="en-US" altLang="en-US"/>
              <a:t>Financing Costs</a:t>
            </a:r>
          </a:p>
          <a:p>
            <a:r>
              <a:rPr lang="en-US" altLang="en-US"/>
              <a:t>Taxes</a:t>
            </a:r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B2BDD5-A70E-4165-94D0-2F7BE6D4B231}" type="slidenum">
              <a:rPr lang="en-US" altLang="en-US">
                <a:latin typeface="Tahoma" panose="020B0604030504040204" pitchFamily="34" charset="0"/>
              </a:rPr>
              <a:pPr eaLnBrk="1" hangingPunct="1"/>
              <a:t>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24B4C6-13D8-4B89-B6F0-77136D053C0C}" type="slidenum">
              <a:rPr lang="en-US" altLang="en-US">
                <a:latin typeface="Tahoma" panose="020B0604030504040204" pitchFamily="34" charset="0"/>
              </a:rPr>
              <a:pPr eaLnBrk="1" hangingPunct="1"/>
              <a:t>10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536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Sunk Costs</a:t>
            </a: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Suppose $100,000 had been spent last year to improve the production line site.  Should this cost be included in the analysis?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NO. This is a sunk cost.  Focus on incremental investment and operating cash flows.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5DD477-C928-4985-8957-C379D389FC47}" type="slidenum">
              <a:rPr lang="en-US" altLang="en-US">
                <a:latin typeface="Tahoma" panose="020B0604030504040204" pitchFamily="34" charset="0"/>
              </a:rPr>
              <a:pPr eaLnBrk="1" hangingPunct="1"/>
              <a:t>11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638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Incremental Costs</a:t>
            </a: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Suppose the plant space could be leased out for $25,000 a year.  Would this affect the analysis?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Yes. Accepting the project means we will not receive the $25,000.  This is an opportunity cost and it should be charged to the project.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A.T. opportunity cost = $25,000 (1 – T) = $15,000 annual cost.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CC81B-EBA2-4071-B573-910430D45B0E}" type="slidenum">
              <a:rPr lang="en-US" altLang="en-US">
                <a:latin typeface="Tahoma" panose="020B0604030504040204" pitchFamily="34" charset="0"/>
              </a:rPr>
              <a:pPr eaLnBrk="1" hangingPunct="1"/>
              <a:t>12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7411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Externalities</a:t>
            </a: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/>
              <a:t>If new product line decreases sales of firm’s other products by $50,000 per year, would this affect the analysis?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/>
              <a:t>Yes. The effects on the other projects’ CFs are “externalities.”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/>
              <a:t>Net CF loss per year on other lines would be a cost to this project::  PIRACY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800"/>
              <a:t>Externalities be positive if new projects are complements to existing assets, negative if substitutes.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312023-CC18-4CE0-8DBB-687452373428}" type="slidenum">
              <a:rPr lang="en-US" altLang="en-US">
                <a:latin typeface="Tahoma" panose="020B0604030504040204" pitchFamily="34" charset="0"/>
              </a:rPr>
              <a:pPr eaLnBrk="1" hangingPunct="1"/>
              <a:t>13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Treatment of Financing Costs</a:t>
            </a: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Should you subtract interest expense or dividends when calculating CF?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NO.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/>
              <a:t>Project CFs discounted by cost of capital that is rate of return required by all investors so should discount total amount of cash flow available to all investors.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400"/>
              <a:t>They are part of the costs of capital.  If subtracted them from cash flows, would be double counting capital costs.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CFs: 3 categories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210" y="2592287"/>
            <a:ext cx="7886700" cy="41724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Initial Outlay (@ time =0 (today))</a:t>
            </a:r>
          </a:p>
          <a:p>
            <a:r>
              <a:rPr lang="en-US" dirty="0"/>
              <a:t>Operating CFs </a:t>
            </a:r>
          </a:p>
          <a:p>
            <a:pPr lvl="1"/>
            <a:r>
              <a:rPr lang="en-US" dirty="0"/>
              <a:t>@ end of each year project is operated</a:t>
            </a:r>
          </a:p>
          <a:p>
            <a:pPr lvl="1"/>
            <a:r>
              <a:rPr lang="en-US" dirty="0"/>
              <a:t>Generated from day-to-day operations of using equipment or asset</a:t>
            </a:r>
          </a:p>
          <a:p>
            <a:r>
              <a:rPr lang="en-US" dirty="0"/>
              <a:t>Terminal </a:t>
            </a:r>
            <a:r>
              <a:rPr lang="en-US" dirty="0" err="1"/>
              <a:t>Yr</a:t>
            </a:r>
            <a:r>
              <a:rPr lang="en-US" dirty="0"/>
              <a:t> CF</a:t>
            </a:r>
          </a:p>
          <a:p>
            <a:pPr lvl="1"/>
            <a:r>
              <a:rPr lang="en-US" dirty="0"/>
              <a:t>@ end of FINAL year project is operated</a:t>
            </a:r>
          </a:p>
          <a:p>
            <a:pPr lvl="1"/>
            <a:r>
              <a:rPr lang="en-US" dirty="0"/>
              <a:t>Related to scrapping or Salvaging Asset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EC1DF9-E1B8-5907-ABE6-ACD407E9002F}"/>
              </a:ext>
            </a:extLst>
          </p:cNvPr>
          <p:cNvGrpSpPr/>
          <p:nvPr/>
        </p:nvGrpSpPr>
        <p:grpSpPr>
          <a:xfrm>
            <a:off x="2133600" y="1503511"/>
            <a:ext cx="5152431" cy="1109096"/>
            <a:chOff x="2196703" y="1253104"/>
            <a:chExt cx="5152431" cy="1109096"/>
          </a:xfrm>
        </p:grpSpPr>
        <p:grpSp>
          <p:nvGrpSpPr>
            <p:cNvPr id="59" name="SMARTInkShape-Group27"/>
            <p:cNvGrpSpPr/>
            <p:nvPr/>
          </p:nvGrpSpPr>
          <p:grpSpPr>
            <a:xfrm>
              <a:off x="6536531" y="2107405"/>
              <a:ext cx="812603" cy="178595"/>
              <a:chOff x="6536531" y="946547"/>
              <a:chExt cx="812603" cy="178595"/>
            </a:xfrm>
          </p:grpSpPr>
          <p:sp>
            <p:nvSpPr>
              <p:cNvPr id="51" name="SMARTInkShape-41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7252161" y="946547"/>
                <a:ext cx="96973" cy="116087"/>
              </a:xfrm>
              <a:custGeom>
                <a:avLst/>
                <a:gdLst/>
                <a:ahLst/>
                <a:cxnLst/>
                <a:rect l="0" t="0" r="0" b="0"/>
                <a:pathLst>
                  <a:path w="96973" h="116087">
                    <a:moveTo>
                      <a:pt x="96972" y="0"/>
                    </a:moveTo>
                    <a:lnTo>
                      <a:pt x="96972" y="4740"/>
                    </a:lnTo>
                    <a:lnTo>
                      <a:pt x="95980" y="6137"/>
                    </a:lnTo>
                    <a:lnTo>
                      <a:pt x="94325" y="7068"/>
                    </a:lnTo>
                    <a:lnTo>
                      <a:pt x="84543" y="8562"/>
                    </a:lnTo>
                    <a:lnTo>
                      <a:pt x="58263" y="8920"/>
                    </a:lnTo>
                    <a:lnTo>
                      <a:pt x="52317" y="6279"/>
                    </a:lnTo>
                    <a:lnTo>
                      <a:pt x="46367" y="2791"/>
                    </a:lnTo>
                    <a:lnTo>
                      <a:pt x="34462" y="551"/>
                    </a:lnTo>
                    <a:lnTo>
                      <a:pt x="7830" y="1"/>
                    </a:lnTo>
                    <a:lnTo>
                      <a:pt x="2980" y="4741"/>
                    </a:lnTo>
                    <a:lnTo>
                      <a:pt x="627" y="12359"/>
                    </a:lnTo>
                    <a:lnTo>
                      <a:pt x="0" y="17169"/>
                    </a:lnTo>
                    <a:lnTo>
                      <a:pt x="1948" y="25159"/>
                    </a:lnTo>
                    <a:lnTo>
                      <a:pt x="5129" y="33010"/>
                    </a:lnTo>
                    <a:lnTo>
                      <a:pt x="7913" y="47594"/>
                    </a:lnTo>
                    <a:lnTo>
                      <a:pt x="14594" y="61914"/>
                    </a:lnTo>
                    <a:lnTo>
                      <a:pt x="17519" y="86297"/>
                    </a:lnTo>
                    <a:lnTo>
                      <a:pt x="24283" y="96459"/>
                    </a:lnTo>
                    <a:lnTo>
                      <a:pt x="25287" y="105006"/>
                    </a:lnTo>
                    <a:lnTo>
                      <a:pt x="25534" y="116086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2" name="SMARTInkShape-42"/>
              <p:cNvSpPr/>
              <p:nvPr>
                <p:custDataLst>
                  <p:tags r:id="rId34"/>
                </p:custDataLst>
              </p:nvPr>
            </p:nvSpPr>
            <p:spPr bwMode="auto">
              <a:xfrm>
                <a:off x="7250906" y="1000125"/>
                <a:ext cx="71439" cy="17860"/>
              </a:xfrm>
              <a:custGeom>
                <a:avLst/>
                <a:gdLst/>
                <a:ahLst/>
                <a:cxnLst/>
                <a:rect l="0" t="0" r="0" b="0"/>
                <a:pathLst>
                  <a:path w="71439" h="17860">
                    <a:moveTo>
                      <a:pt x="0" y="17859"/>
                    </a:moveTo>
                    <a:lnTo>
                      <a:pt x="29812" y="17859"/>
                    </a:lnTo>
                    <a:lnTo>
                      <a:pt x="35739" y="15213"/>
                    </a:lnTo>
                    <a:lnTo>
                      <a:pt x="41681" y="11722"/>
                    </a:lnTo>
                    <a:lnTo>
                      <a:pt x="51816" y="9297"/>
                    </a:lnTo>
                    <a:lnTo>
                      <a:pt x="57796" y="9039"/>
                    </a:lnTo>
                    <a:lnTo>
                      <a:pt x="63059" y="6332"/>
                    </a:lnTo>
                    <a:lnTo>
                      <a:pt x="71438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3" name="SMARTInkShape-43"/>
              <p:cNvSpPr/>
              <p:nvPr>
                <p:custDataLst>
                  <p:tags r:id="rId35"/>
                </p:custDataLst>
              </p:nvPr>
            </p:nvSpPr>
            <p:spPr bwMode="auto">
              <a:xfrm>
                <a:off x="7126013" y="955585"/>
                <a:ext cx="89176" cy="133823"/>
              </a:xfrm>
              <a:custGeom>
                <a:avLst/>
                <a:gdLst/>
                <a:ahLst/>
                <a:cxnLst/>
                <a:rect l="0" t="0" r="0" b="0"/>
                <a:pathLst>
                  <a:path w="89176" h="133823">
                    <a:moveTo>
                      <a:pt x="62385" y="8821"/>
                    </a:moveTo>
                    <a:lnTo>
                      <a:pt x="57645" y="8821"/>
                    </a:lnTo>
                    <a:lnTo>
                      <a:pt x="56249" y="7829"/>
                    </a:lnTo>
                    <a:lnTo>
                      <a:pt x="55318" y="6175"/>
                    </a:lnTo>
                    <a:lnTo>
                      <a:pt x="53565" y="259"/>
                    </a:lnTo>
                    <a:lnTo>
                      <a:pt x="44007" y="0"/>
                    </a:lnTo>
                    <a:lnTo>
                      <a:pt x="36688" y="2586"/>
                    </a:lnTo>
                    <a:lnTo>
                      <a:pt x="30128" y="6050"/>
                    </a:lnTo>
                    <a:lnTo>
                      <a:pt x="20857" y="8992"/>
                    </a:lnTo>
                    <a:lnTo>
                      <a:pt x="14824" y="13197"/>
                    </a:lnTo>
                    <a:lnTo>
                      <a:pt x="11482" y="18373"/>
                    </a:lnTo>
                    <a:lnTo>
                      <a:pt x="9004" y="23980"/>
                    </a:lnTo>
                    <a:lnTo>
                      <a:pt x="4595" y="29780"/>
                    </a:lnTo>
                    <a:lnTo>
                      <a:pt x="1275" y="48104"/>
                    </a:lnTo>
                    <a:lnTo>
                      <a:pt x="0" y="78314"/>
                    </a:lnTo>
                    <a:lnTo>
                      <a:pt x="2578" y="87001"/>
                    </a:lnTo>
                    <a:lnTo>
                      <a:pt x="6038" y="95162"/>
                    </a:lnTo>
                    <a:lnTo>
                      <a:pt x="7576" y="105403"/>
                    </a:lnTo>
                    <a:lnTo>
                      <a:pt x="9972" y="109920"/>
                    </a:lnTo>
                    <a:lnTo>
                      <a:pt x="28817" y="127478"/>
                    </a:lnTo>
                    <a:lnTo>
                      <a:pt x="35229" y="131011"/>
                    </a:lnTo>
                    <a:lnTo>
                      <a:pt x="47430" y="133279"/>
                    </a:lnTo>
                    <a:lnTo>
                      <a:pt x="74290" y="133822"/>
                    </a:lnTo>
                    <a:lnTo>
                      <a:pt x="80243" y="131185"/>
                    </a:lnTo>
                    <a:lnTo>
                      <a:pt x="89175" y="124907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4" name="SMARTInkShape-44"/>
              <p:cNvSpPr/>
              <p:nvPr>
                <p:custDataLst>
                  <p:tags r:id="rId36"/>
                </p:custDataLst>
              </p:nvPr>
            </p:nvSpPr>
            <p:spPr bwMode="auto">
              <a:xfrm>
                <a:off x="6679406" y="1027036"/>
                <a:ext cx="98228" cy="89164"/>
              </a:xfrm>
              <a:custGeom>
                <a:avLst/>
                <a:gdLst/>
                <a:ahLst/>
                <a:cxnLst/>
                <a:rect l="0" t="0" r="0" b="0"/>
                <a:pathLst>
                  <a:path w="98228" h="89164">
                    <a:moveTo>
                      <a:pt x="0" y="62386"/>
                    </a:moveTo>
                    <a:lnTo>
                      <a:pt x="28679" y="62386"/>
                    </a:lnTo>
                    <a:lnTo>
                      <a:pt x="43114" y="57645"/>
                    </a:lnTo>
                    <a:lnTo>
                      <a:pt x="46602" y="55257"/>
                    </a:lnTo>
                    <a:lnTo>
                      <a:pt x="69748" y="28417"/>
                    </a:lnTo>
                    <a:lnTo>
                      <a:pt x="70687" y="24799"/>
                    </a:lnTo>
                    <a:lnTo>
                      <a:pt x="71425" y="4558"/>
                    </a:lnTo>
                    <a:lnTo>
                      <a:pt x="70436" y="2998"/>
                    </a:lnTo>
                    <a:lnTo>
                      <a:pt x="68786" y="1958"/>
                    </a:lnTo>
                    <a:lnTo>
                      <a:pt x="61722" y="494"/>
                    </a:lnTo>
                    <a:lnTo>
                      <a:pt x="55187" y="0"/>
                    </a:lnTo>
                    <a:lnTo>
                      <a:pt x="44574" y="4655"/>
                    </a:lnTo>
                    <a:lnTo>
                      <a:pt x="24121" y="21799"/>
                    </a:lnTo>
                    <a:lnTo>
                      <a:pt x="8690" y="45730"/>
                    </a:lnTo>
                    <a:lnTo>
                      <a:pt x="7778" y="53266"/>
                    </a:lnTo>
                    <a:lnTo>
                      <a:pt x="12056" y="66932"/>
                    </a:lnTo>
                    <a:lnTo>
                      <a:pt x="17926" y="74328"/>
                    </a:lnTo>
                    <a:lnTo>
                      <a:pt x="33959" y="87587"/>
                    </a:lnTo>
                    <a:lnTo>
                      <a:pt x="39938" y="88704"/>
                    </a:lnTo>
                    <a:lnTo>
                      <a:pt x="74079" y="89163"/>
                    </a:lnTo>
                    <a:lnTo>
                      <a:pt x="98227" y="80245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5" name="SMARTInkShape-45"/>
              <p:cNvSpPr/>
              <p:nvPr>
                <p:custDataLst>
                  <p:tags r:id="rId37"/>
                </p:custDataLst>
              </p:nvPr>
            </p:nvSpPr>
            <p:spPr bwMode="auto">
              <a:xfrm>
                <a:off x="6817137" y="1000125"/>
                <a:ext cx="76583" cy="79846"/>
              </a:xfrm>
              <a:custGeom>
                <a:avLst/>
                <a:gdLst/>
                <a:ahLst/>
                <a:cxnLst/>
                <a:rect l="0" t="0" r="0" b="0"/>
                <a:pathLst>
                  <a:path w="76583" h="79846">
                    <a:moveTo>
                      <a:pt x="5144" y="26789"/>
                    </a:moveTo>
                    <a:lnTo>
                      <a:pt x="5144" y="39218"/>
                    </a:lnTo>
                    <a:lnTo>
                      <a:pt x="2499" y="44881"/>
                    </a:lnTo>
                    <a:lnTo>
                      <a:pt x="403" y="47780"/>
                    </a:lnTo>
                    <a:lnTo>
                      <a:pt x="0" y="50705"/>
                    </a:lnTo>
                    <a:lnTo>
                      <a:pt x="2196" y="56601"/>
                    </a:lnTo>
                    <a:lnTo>
                      <a:pt x="10699" y="68470"/>
                    </a:lnTo>
                    <a:lnTo>
                      <a:pt x="13942" y="79845"/>
                    </a:lnTo>
                    <a:lnTo>
                      <a:pt x="14062" y="67892"/>
                    </a:lnTo>
                    <a:lnTo>
                      <a:pt x="16714" y="62255"/>
                    </a:lnTo>
                    <a:lnTo>
                      <a:pt x="20208" y="56442"/>
                    </a:lnTo>
                    <a:lnTo>
                      <a:pt x="22452" y="44626"/>
                    </a:lnTo>
                    <a:lnTo>
                      <a:pt x="22971" y="23811"/>
                    </a:lnTo>
                    <a:lnTo>
                      <a:pt x="25635" y="17859"/>
                    </a:lnTo>
                    <a:lnTo>
                      <a:pt x="30689" y="10693"/>
                    </a:lnTo>
                    <a:lnTo>
                      <a:pt x="34026" y="9714"/>
                    </a:lnTo>
                    <a:lnTo>
                      <a:pt x="36305" y="9452"/>
                    </a:lnTo>
                    <a:lnTo>
                      <a:pt x="37824" y="8286"/>
                    </a:lnTo>
                    <a:lnTo>
                      <a:pt x="39513" y="4344"/>
                    </a:lnTo>
                    <a:lnTo>
                      <a:pt x="40954" y="2896"/>
                    </a:lnTo>
                    <a:lnTo>
                      <a:pt x="48433" y="381"/>
                    </a:lnTo>
                    <a:lnTo>
                      <a:pt x="76582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6" name="SMARTInkShape-46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6536531" y="964406"/>
                <a:ext cx="160736" cy="35720"/>
              </a:xfrm>
              <a:custGeom>
                <a:avLst/>
                <a:gdLst/>
                <a:ahLst/>
                <a:cxnLst/>
                <a:rect l="0" t="0" r="0" b="0"/>
                <a:pathLst>
                  <a:path w="160736" h="35720">
                    <a:moveTo>
                      <a:pt x="0" y="35719"/>
                    </a:moveTo>
                    <a:lnTo>
                      <a:pt x="21250" y="35719"/>
                    </a:lnTo>
                    <a:lnTo>
                      <a:pt x="26974" y="33073"/>
                    </a:lnTo>
                    <a:lnTo>
                      <a:pt x="32825" y="29582"/>
                    </a:lnTo>
                    <a:lnTo>
                      <a:pt x="42688" y="27617"/>
                    </a:lnTo>
                    <a:lnTo>
                      <a:pt x="73772" y="25870"/>
                    </a:lnTo>
                    <a:lnTo>
                      <a:pt x="91229" y="19736"/>
                    </a:lnTo>
                    <a:lnTo>
                      <a:pt x="101070" y="17701"/>
                    </a:lnTo>
                    <a:lnTo>
                      <a:pt x="160735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7" name="SMARTInkShape-47"/>
              <p:cNvSpPr/>
              <p:nvPr>
                <p:custDataLst>
                  <p:tags r:id="rId39"/>
                </p:custDataLst>
              </p:nvPr>
            </p:nvSpPr>
            <p:spPr bwMode="auto">
              <a:xfrm>
                <a:off x="6938367" y="991195"/>
                <a:ext cx="103300" cy="89298"/>
              </a:xfrm>
              <a:custGeom>
                <a:avLst/>
                <a:gdLst/>
                <a:ahLst/>
                <a:cxnLst/>
                <a:rect l="0" t="0" r="0" b="0"/>
                <a:pathLst>
                  <a:path w="103300" h="89298">
                    <a:moveTo>
                      <a:pt x="0" y="0"/>
                    </a:moveTo>
                    <a:lnTo>
                      <a:pt x="0" y="41031"/>
                    </a:lnTo>
                    <a:lnTo>
                      <a:pt x="0" y="70698"/>
                    </a:lnTo>
                    <a:lnTo>
                      <a:pt x="7689" y="63684"/>
                    </a:lnTo>
                    <a:lnTo>
                      <a:pt x="9677" y="49475"/>
                    </a:lnTo>
                    <a:lnTo>
                      <a:pt x="15950" y="36084"/>
                    </a:lnTo>
                    <a:lnTo>
                      <a:pt x="16586" y="32986"/>
                    </a:lnTo>
                    <a:lnTo>
                      <a:pt x="25437" y="19645"/>
                    </a:lnTo>
                    <a:lnTo>
                      <a:pt x="28834" y="18653"/>
                    </a:lnTo>
                    <a:lnTo>
                      <a:pt x="31129" y="18389"/>
                    </a:lnTo>
                    <a:lnTo>
                      <a:pt x="32659" y="19205"/>
                    </a:lnTo>
                    <a:lnTo>
                      <a:pt x="33679" y="20741"/>
                    </a:lnTo>
                    <a:lnTo>
                      <a:pt x="35316" y="25594"/>
                    </a:lnTo>
                    <a:lnTo>
                      <a:pt x="40340" y="31176"/>
                    </a:lnTo>
                    <a:lnTo>
                      <a:pt x="42734" y="38991"/>
                    </a:lnTo>
                    <a:lnTo>
                      <a:pt x="44646" y="62454"/>
                    </a:lnTo>
                    <a:lnTo>
                      <a:pt x="44647" y="57752"/>
                    </a:lnTo>
                    <a:lnTo>
                      <a:pt x="74719" y="14978"/>
                    </a:lnTo>
                    <a:lnTo>
                      <a:pt x="79871" y="9461"/>
                    </a:lnTo>
                    <a:lnTo>
                      <a:pt x="84961" y="9087"/>
                    </a:lnTo>
                    <a:lnTo>
                      <a:pt x="86406" y="10027"/>
                    </a:lnTo>
                    <a:lnTo>
                      <a:pt x="87370" y="11646"/>
                    </a:lnTo>
                    <a:lnTo>
                      <a:pt x="88727" y="18664"/>
                    </a:lnTo>
                    <a:lnTo>
                      <a:pt x="90267" y="49806"/>
                    </a:lnTo>
                    <a:lnTo>
                      <a:pt x="96360" y="62351"/>
                    </a:lnTo>
                    <a:lnTo>
                      <a:pt x="97858" y="74383"/>
                    </a:lnTo>
                    <a:lnTo>
                      <a:pt x="98973" y="76378"/>
                    </a:lnTo>
                    <a:lnTo>
                      <a:pt x="100708" y="77708"/>
                    </a:lnTo>
                    <a:lnTo>
                      <a:pt x="102857" y="78594"/>
                    </a:lnTo>
                    <a:lnTo>
                      <a:pt x="103299" y="80178"/>
                    </a:lnTo>
                    <a:lnTo>
                      <a:pt x="102600" y="82225"/>
                    </a:lnTo>
                    <a:lnTo>
                      <a:pt x="98227" y="89297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8" name="SMARTInkShape-48"/>
              <p:cNvSpPr/>
              <p:nvPr>
                <p:custDataLst>
                  <p:tags r:id="rId40"/>
                </p:custDataLst>
              </p:nvPr>
            </p:nvSpPr>
            <p:spPr bwMode="auto">
              <a:xfrm>
                <a:off x="6634758" y="991195"/>
                <a:ext cx="8920" cy="133947"/>
              </a:xfrm>
              <a:custGeom>
                <a:avLst/>
                <a:gdLst/>
                <a:ahLst/>
                <a:cxnLst/>
                <a:rect l="0" t="0" r="0" b="0"/>
                <a:pathLst>
                  <a:path w="8920" h="133947">
                    <a:moveTo>
                      <a:pt x="0" y="0"/>
                    </a:moveTo>
                    <a:lnTo>
                      <a:pt x="0" y="12429"/>
                    </a:lnTo>
                    <a:lnTo>
                      <a:pt x="8561" y="54960"/>
                    </a:lnTo>
                    <a:lnTo>
                      <a:pt x="8919" y="96605"/>
                    </a:lnTo>
                    <a:lnTo>
                      <a:pt x="0" y="133946"/>
                    </a:lnTo>
                  </a:path>
                </a:pathLst>
              </a:custGeom>
              <a:noFill/>
              <a:ln w="1905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5" name="SMARTInkShape-Group28"/>
            <p:cNvGrpSpPr/>
            <p:nvPr/>
          </p:nvGrpSpPr>
          <p:grpSpPr>
            <a:xfrm>
              <a:off x="6546091" y="1938141"/>
              <a:ext cx="392277" cy="158830"/>
              <a:chOff x="6546091" y="777283"/>
              <a:chExt cx="392277" cy="158830"/>
            </a:xfrm>
          </p:grpSpPr>
          <p:sp>
            <p:nvSpPr>
              <p:cNvPr id="60" name="SMARTInkShape-49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6546091" y="795300"/>
                <a:ext cx="79738" cy="78047"/>
              </a:xfrm>
              <a:custGeom>
                <a:avLst/>
                <a:gdLst/>
                <a:ahLst/>
                <a:cxnLst/>
                <a:rect l="0" t="0" r="0" b="0"/>
                <a:pathLst>
                  <a:path w="79738" h="78047">
                    <a:moveTo>
                      <a:pt x="52948" y="8372"/>
                    </a:moveTo>
                    <a:lnTo>
                      <a:pt x="40519" y="8372"/>
                    </a:lnTo>
                    <a:lnTo>
                      <a:pt x="34857" y="11018"/>
                    </a:lnTo>
                    <a:lnTo>
                      <a:pt x="6551" y="29363"/>
                    </a:lnTo>
                    <a:lnTo>
                      <a:pt x="2562" y="35230"/>
                    </a:lnTo>
                    <a:lnTo>
                      <a:pt x="316" y="44111"/>
                    </a:lnTo>
                    <a:lnTo>
                      <a:pt x="0" y="47081"/>
                    </a:lnTo>
                    <a:lnTo>
                      <a:pt x="2296" y="53026"/>
                    </a:lnTo>
                    <a:lnTo>
                      <a:pt x="20376" y="73857"/>
                    </a:lnTo>
                    <a:lnTo>
                      <a:pt x="26235" y="77164"/>
                    </a:lnTo>
                    <a:lnTo>
                      <a:pt x="29186" y="78046"/>
                    </a:lnTo>
                    <a:lnTo>
                      <a:pt x="37757" y="76380"/>
                    </a:lnTo>
                    <a:lnTo>
                      <a:pt x="61327" y="68717"/>
                    </a:lnTo>
                    <a:lnTo>
                      <a:pt x="64488" y="66461"/>
                    </a:lnTo>
                    <a:lnTo>
                      <a:pt x="66595" y="62973"/>
                    </a:lnTo>
                    <a:lnTo>
                      <a:pt x="72621" y="45763"/>
                    </a:lnTo>
                    <a:lnTo>
                      <a:pt x="74992" y="42229"/>
                    </a:lnTo>
                    <a:lnTo>
                      <a:pt x="78331" y="27774"/>
                    </a:lnTo>
                    <a:lnTo>
                      <a:pt x="79726" y="0"/>
                    </a:lnTo>
                    <a:lnTo>
                      <a:pt x="79737" y="8372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1" name="SMARTInkShape-50"/>
              <p:cNvSpPr/>
              <p:nvPr>
                <p:custDataLst>
                  <p:tags r:id="rId29"/>
                </p:custDataLst>
              </p:nvPr>
            </p:nvSpPr>
            <p:spPr bwMode="auto">
              <a:xfrm>
                <a:off x="6858000" y="839391"/>
                <a:ext cx="35720" cy="17860"/>
              </a:xfrm>
              <a:custGeom>
                <a:avLst/>
                <a:gdLst/>
                <a:ahLst/>
                <a:cxnLst/>
                <a:rect l="0" t="0" r="0" b="0"/>
                <a:pathLst>
                  <a:path w="35720" h="17860">
                    <a:moveTo>
                      <a:pt x="0" y="0"/>
                    </a:moveTo>
                    <a:lnTo>
                      <a:pt x="15231" y="14239"/>
                    </a:lnTo>
                    <a:lnTo>
                      <a:pt x="25071" y="17382"/>
                    </a:lnTo>
                    <a:lnTo>
                      <a:pt x="35719" y="17859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SMARTInkShape-51"/>
              <p:cNvSpPr/>
              <p:nvPr>
                <p:custDataLst>
                  <p:tags r:id="rId30"/>
                </p:custDataLst>
              </p:nvPr>
            </p:nvSpPr>
            <p:spPr bwMode="auto">
              <a:xfrm>
                <a:off x="6653858" y="848369"/>
                <a:ext cx="61081" cy="87744"/>
              </a:xfrm>
              <a:custGeom>
                <a:avLst/>
                <a:gdLst/>
                <a:ahLst/>
                <a:cxnLst/>
                <a:rect l="0" t="0" r="0" b="0"/>
                <a:pathLst>
                  <a:path w="61081" h="87744">
                    <a:moveTo>
                      <a:pt x="7689" y="26740"/>
                    </a:moveTo>
                    <a:lnTo>
                      <a:pt x="7689" y="31481"/>
                    </a:lnTo>
                    <a:lnTo>
                      <a:pt x="5043" y="36454"/>
                    </a:lnTo>
                    <a:lnTo>
                      <a:pt x="2948" y="39169"/>
                    </a:lnTo>
                    <a:lnTo>
                      <a:pt x="2544" y="41972"/>
                    </a:lnTo>
                    <a:lnTo>
                      <a:pt x="7612" y="77317"/>
                    </a:lnTo>
                    <a:lnTo>
                      <a:pt x="7682" y="87743"/>
                    </a:lnTo>
                    <a:lnTo>
                      <a:pt x="7687" y="84062"/>
                    </a:lnTo>
                    <a:lnTo>
                      <a:pt x="0" y="55789"/>
                    </a:lnTo>
                    <a:lnTo>
                      <a:pt x="1957" y="46927"/>
                    </a:lnTo>
                    <a:lnTo>
                      <a:pt x="5142" y="38689"/>
                    </a:lnTo>
                    <a:lnTo>
                      <a:pt x="7926" y="23887"/>
                    </a:lnTo>
                    <a:lnTo>
                      <a:pt x="14608" y="9493"/>
                    </a:lnTo>
                    <a:lnTo>
                      <a:pt x="15278" y="6313"/>
                    </a:lnTo>
                    <a:lnTo>
                      <a:pt x="16717" y="4192"/>
                    </a:lnTo>
                    <a:lnTo>
                      <a:pt x="18668" y="2779"/>
                    </a:lnTo>
                    <a:lnTo>
                      <a:pt x="23482" y="1208"/>
                    </a:lnTo>
                    <a:lnTo>
                      <a:pt x="54108" y="0"/>
                    </a:lnTo>
                    <a:lnTo>
                      <a:pt x="56494" y="976"/>
                    </a:lnTo>
                    <a:lnTo>
                      <a:pt x="58085" y="2619"/>
                    </a:lnTo>
                    <a:lnTo>
                      <a:pt x="59853" y="7090"/>
                    </a:lnTo>
                    <a:lnTo>
                      <a:pt x="61080" y="20943"/>
                    </a:lnTo>
                    <a:lnTo>
                      <a:pt x="60151" y="22876"/>
                    </a:lnTo>
                    <a:lnTo>
                      <a:pt x="58538" y="24164"/>
                    </a:lnTo>
                    <a:lnTo>
                      <a:pt x="29033" y="33582"/>
                    </a:lnTo>
                    <a:lnTo>
                      <a:pt x="16619" y="35670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3" name="SMARTInkShape-52"/>
              <p:cNvSpPr/>
              <p:nvPr>
                <p:custDataLst>
                  <p:tags r:id="rId31"/>
                </p:custDataLst>
              </p:nvPr>
            </p:nvSpPr>
            <p:spPr bwMode="auto">
              <a:xfrm>
                <a:off x="6866931" y="785813"/>
                <a:ext cx="71437" cy="98227"/>
              </a:xfrm>
              <a:custGeom>
                <a:avLst/>
                <a:gdLst/>
                <a:ahLst/>
                <a:cxnLst/>
                <a:rect l="0" t="0" r="0" b="0"/>
                <a:pathLst>
                  <a:path w="71437" h="98227">
                    <a:moveTo>
                      <a:pt x="71436" y="0"/>
                    </a:moveTo>
                    <a:lnTo>
                      <a:pt x="71436" y="4740"/>
                    </a:lnTo>
                    <a:lnTo>
                      <a:pt x="70444" y="6136"/>
                    </a:lnTo>
                    <a:lnTo>
                      <a:pt x="68791" y="7067"/>
                    </a:lnTo>
                    <a:lnTo>
                      <a:pt x="59007" y="8561"/>
                    </a:lnTo>
                    <a:lnTo>
                      <a:pt x="14986" y="8926"/>
                    </a:lnTo>
                    <a:lnTo>
                      <a:pt x="8975" y="6282"/>
                    </a:lnTo>
                    <a:lnTo>
                      <a:pt x="12" y="9"/>
                    </a:lnTo>
                    <a:lnTo>
                      <a:pt x="0" y="12429"/>
                    </a:lnTo>
                    <a:lnTo>
                      <a:pt x="5144" y="30052"/>
                    </a:lnTo>
                    <a:lnTo>
                      <a:pt x="2956" y="41867"/>
                    </a:lnTo>
                    <a:lnTo>
                      <a:pt x="8871" y="86241"/>
                    </a:lnTo>
                    <a:lnTo>
                      <a:pt x="8928" y="98226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4" name="SMARTInkShape-53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6769584" y="777283"/>
                <a:ext cx="70558" cy="106757"/>
              </a:xfrm>
              <a:custGeom>
                <a:avLst/>
                <a:gdLst/>
                <a:ahLst/>
                <a:cxnLst/>
                <a:rect l="0" t="0" r="0" b="0"/>
                <a:pathLst>
                  <a:path w="70558" h="106757">
                    <a:moveTo>
                      <a:pt x="61627" y="17459"/>
                    </a:moveTo>
                    <a:lnTo>
                      <a:pt x="61627" y="12719"/>
                    </a:lnTo>
                    <a:lnTo>
                      <a:pt x="60635" y="11322"/>
                    </a:lnTo>
                    <a:lnTo>
                      <a:pt x="58981" y="10391"/>
                    </a:lnTo>
                    <a:lnTo>
                      <a:pt x="56886" y="9771"/>
                    </a:lnTo>
                    <a:lnTo>
                      <a:pt x="55490" y="8365"/>
                    </a:lnTo>
                    <a:lnTo>
                      <a:pt x="53938" y="4157"/>
                    </a:lnTo>
                    <a:lnTo>
                      <a:pt x="52533" y="2638"/>
                    </a:lnTo>
                    <a:lnTo>
                      <a:pt x="48324" y="950"/>
                    </a:lnTo>
                    <a:lnTo>
                      <a:pt x="40377" y="0"/>
                    </a:lnTo>
                    <a:lnTo>
                      <a:pt x="38531" y="859"/>
                    </a:lnTo>
                    <a:lnTo>
                      <a:pt x="37300" y="2423"/>
                    </a:lnTo>
                    <a:lnTo>
                      <a:pt x="36479" y="4459"/>
                    </a:lnTo>
                    <a:lnTo>
                      <a:pt x="34939" y="5816"/>
                    </a:lnTo>
                    <a:lnTo>
                      <a:pt x="25340" y="10639"/>
                    </a:lnTo>
                    <a:lnTo>
                      <a:pt x="18710" y="17405"/>
                    </a:lnTo>
                    <a:lnTo>
                      <a:pt x="9150" y="30333"/>
                    </a:lnTo>
                    <a:lnTo>
                      <a:pt x="3576" y="46001"/>
                    </a:lnTo>
                    <a:lnTo>
                      <a:pt x="0" y="70832"/>
                    </a:lnTo>
                    <a:lnTo>
                      <a:pt x="2156" y="78553"/>
                    </a:lnTo>
                    <a:lnTo>
                      <a:pt x="5430" y="85292"/>
                    </a:lnTo>
                    <a:lnTo>
                      <a:pt x="8265" y="94664"/>
                    </a:lnTo>
                    <a:lnTo>
                      <a:pt x="15635" y="104968"/>
                    </a:lnTo>
                    <a:lnTo>
                      <a:pt x="19027" y="105961"/>
                    </a:lnTo>
                    <a:lnTo>
                      <a:pt x="61677" y="106755"/>
                    </a:lnTo>
                    <a:lnTo>
                      <a:pt x="70557" y="106756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70" name="SMARTInkShape-Group29"/>
            <p:cNvGrpSpPr/>
            <p:nvPr/>
          </p:nvGrpSpPr>
          <p:grpSpPr>
            <a:xfrm>
              <a:off x="4969882" y="1910952"/>
              <a:ext cx="396861" cy="151240"/>
              <a:chOff x="4969882" y="750094"/>
              <a:chExt cx="396861" cy="151240"/>
            </a:xfrm>
          </p:grpSpPr>
          <p:sp>
            <p:nvSpPr>
              <p:cNvPr id="66" name="SMARTInkShape-54"/>
              <p:cNvSpPr/>
              <p:nvPr>
                <p:custDataLst>
                  <p:tags r:id="rId24"/>
                </p:custDataLst>
              </p:nvPr>
            </p:nvSpPr>
            <p:spPr bwMode="auto">
              <a:xfrm>
                <a:off x="5286752" y="767953"/>
                <a:ext cx="79991" cy="71172"/>
              </a:xfrm>
              <a:custGeom>
                <a:avLst/>
                <a:gdLst/>
                <a:ahLst/>
                <a:cxnLst/>
                <a:rect l="0" t="0" r="0" b="0"/>
                <a:pathLst>
                  <a:path w="79991" h="71172">
                    <a:moveTo>
                      <a:pt x="79990" y="0"/>
                    </a:moveTo>
                    <a:lnTo>
                      <a:pt x="75250" y="0"/>
                    </a:lnTo>
                    <a:lnTo>
                      <a:pt x="44754" y="8378"/>
                    </a:lnTo>
                    <a:lnTo>
                      <a:pt x="41617" y="8562"/>
                    </a:lnTo>
                    <a:lnTo>
                      <a:pt x="35485" y="6120"/>
                    </a:lnTo>
                    <a:lnTo>
                      <a:pt x="28204" y="1209"/>
                    </a:lnTo>
                    <a:lnTo>
                      <a:pt x="16934" y="159"/>
                    </a:lnTo>
                    <a:lnTo>
                      <a:pt x="9043" y="9"/>
                    </a:lnTo>
                    <a:lnTo>
                      <a:pt x="14786" y="7131"/>
                    </a:lnTo>
                    <a:lnTo>
                      <a:pt x="16284" y="12430"/>
                    </a:lnTo>
                    <a:lnTo>
                      <a:pt x="17377" y="37500"/>
                    </a:lnTo>
                    <a:lnTo>
                      <a:pt x="14790" y="44117"/>
                    </a:lnTo>
                    <a:lnTo>
                      <a:pt x="12711" y="47271"/>
                    </a:lnTo>
                    <a:lnTo>
                      <a:pt x="8919" y="68401"/>
                    </a:lnTo>
                    <a:lnTo>
                      <a:pt x="7804" y="69414"/>
                    </a:lnTo>
                    <a:lnTo>
                      <a:pt x="896" y="71171"/>
                    </a:lnTo>
                    <a:lnTo>
                      <a:pt x="473" y="70268"/>
                    </a:lnTo>
                    <a:lnTo>
                      <a:pt x="0" y="66618"/>
                    </a:lnTo>
                    <a:lnTo>
                      <a:pt x="866" y="65248"/>
                    </a:lnTo>
                    <a:lnTo>
                      <a:pt x="2436" y="64335"/>
                    </a:lnTo>
                    <a:lnTo>
                      <a:pt x="4475" y="63726"/>
                    </a:lnTo>
                    <a:lnTo>
                      <a:pt x="17730" y="55600"/>
                    </a:lnTo>
                    <a:lnTo>
                      <a:pt x="20623" y="54926"/>
                    </a:lnTo>
                    <a:lnTo>
                      <a:pt x="35363" y="46688"/>
                    </a:lnTo>
                    <a:lnTo>
                      <a:pt x="38333" y="46008"/>
                    </a:lnTo>
                    <a:lnTo>
                      <a:pt x="40312" y="44563"/>
                    </a:lnTo>
                    <a:lnTo>
                      <a:pt x="41632" y="42607"/>
                    </a:lnTo>
                    <a:lnTo>
                      <a:pt x="44271" y="35719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7" name="SMARTInkShape-55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5089922" y="820465"/>
                <a:ext cx="40859" cy="80869"/>
              </a:xfrm>
              <a:custGeom>
                <a:avLst/>
                <a:gdLst/>
                <a:ahLst/>
                <a:cxnLst/>
                <a:rect l="0" t="0" r="0" b="0"/>
                <a:pathLst>
                  <a:path w="40859" h="80869">
                    <a:moveTo>
                      <a:pt x="0" y="1066"/>
                    </a:moveTo>
                    <a:lnTo>
                      <a:pt x="4740" y="1066"/>
                    </a:lnTo>
                    <a:lnTo>
                      <a:pt x="6137" y="3051"/>
                    </a:lnTo>
                    <a:lnTo>
                      <a:pt x="9094" y="14332"/>
                    </a:lnTo>
                    <a:lnTo>
                      <a:pt x="14821" y="25392"/>
                    </a:lnTo>
                    <a:lnTo>
                      <a:pt x="16509" y="35359"/>
                    </a:lnTo>
                    <a:lnTo>
                      <a:pt x="12448" y="56935"/>
                    </a:lnTo>
                    <a:lnTo>
                      <a:pt x="14823" y="68442"/>
                    </a:lnTo>
                    <a:lnTo>
                      <a:pt x="9218" y="80868"/>
                    </a:lnTo>
                    <a:lnTo>
                      <a:pt x="7954" y="65177"/>
                    </a:lnTo>
                    <a:lnTo>
                      <a:pt x="1243" y="43929"/>
                    </a:lnTo>
                    <a:lnTo>
                      <a:pt x="368" y="29421"/>
                    </a:lnTo>
                    <a:lnTo>
                      <a:pt x="2809" y="20944"/>
                    </a:lnTo>
                    <a:lnTo>
                      <a:pt x="12461" y="2678"/>
                    </a:lnTo>
                    <a:lnTo>
                      <a:pt x="17237" y="156"/>
                    </a:lnTo>
                    <a:lnTo>
                      <a:pt x="30481" y="0"/>
                    </a:lnTo>
                    <a:lnTo>
                      <a:pt x="35204" y="2340"/>
                    </a:lnTo>
                    <a:lnTo>
                      <a:pt x="38352" y="5884"/>
                    </a:lnTo>
                    <a:lnTo>
                      <a:pt x="40450" y="10231"/>
                    </a:lnTo>
                    <a:lnTo>
                      <a:pt x="40858" y="14122"/>
                    </a:lnTo>
                    <a:lnTo>
                      <a:pt x="38664" y="21090"/>
                    </a:lnTo>
                    <a:lnTo>
                      <a:pt x="31736" y="27494"/>
                    </a:lnTo>
                    <a:lnTo>
                      <a:pt x="20600" y="34950"/>
                    </a:lnTo>
                    <a:lnTo>
                      <a:pt x="8930" y="36785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8" name="SMARTInkShape-56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5207071" y="750094"/>
                <a:ext cx="52516" cy="97693"/>
              </a:xfrm>
              <a:custGeom>
                <a:avLst/>
                <a:gdLst/>
                <a:ahLst/>
                <a:cxnLst/>
                <a:rect l="0" t="0" r="0" b="0"/>
                <a:pathLst>
                  <a:path w="52516" h="97693">
                    <a:moveTo>
                      <a:pt x="43584" y="0"/>
                    </a:moveTo>
                    <a:lnTo>
                      <a:pt x="23190" y="15250"/>
                    </a:lnTo>
                    <a:lnTo>
                      <a:pt x="7005" y="35607"/>
                    </a:lnTo>
                    <a:lnTo>
                      <a:pt x="2523" y="44929"/>
                    </a:lnTo>
                    <a:lnTo>
                      <a:pt x="0" y="60496"/>
                    </a:lnTo>
                    <a:lnTo>
                      <a:pt x="2054" y="69220"/>
                    </a:lnTo>
                    <a:lnTo>
                      <a:pt x="11459" y="82906"/>
                    </a:lnTo>
                    <a:lnTo>
                      <a:pt x="19955" y="92143"/>
                    </a:lnTo>
                    <a:lnTo>
                      <a:pt x="25806" y="95523"/>
                    </a:lnTo>
                    <a:lnTo>
                      <a:pt x="37648" y="97692"/>
                    </a:lnTo>
                    <a:lnTo>
                      <a:pt x="52515" y="89297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9" name="SMARTInkShape-57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4969882" y="767953"/>
                <a:ext cx="66464" cy="79845"/>
              </a:xfrm>
              <a:custGeom>
                <a:avLst/>
                <a:gdLst/>
                <a:ahLst/>
                <a:cxnLst/>
                <a:rect l="0" t="0" r="0" b="0"/>
                <a:pathLst>
                  <a:path w="66464" h="79845">
                    <a:moveTo>
                      <a:pt x="66463" y="0"/>
                    </a:moveTo>
                    <a:lnTo>
                      <a:pt x="50212" y="0"/>
                    </a:lnTo>
                    <a:lnTo>
                      <a:pt x="28626" y="7689"/>
                    </a:lnTo>
                    <a:lnTo>
                      <a:pt x="22195" y="13670"/>
                    </a:lnTo>
                    <a:lnTo>
                      <a:pt x="999" y="38450"/>
                    </a:lnTo>
                    <a:lnTo>
                      <a:pt x="0" y="41508"/>
                    </a:lnTo>
                    <a:lnTo>
                      <a:pt x="325" y="44540"/>
                    </a:lnTo>
                    <a:lnTo>
                      <a:pt x="3334" y="50553"/>
                    </a:lnTo>
                    <a:lnTo>
                      <a:pt x="9613" y="59517"/>
                    </a:lnTo>
                    <a:lnTo>
                      <a:pt x="11429" y="65478"/>
                    </a:lnTo>
                    <a:lnTo>
                      <a:pt x="17529" y="71435"/>
                    </a:lnTo>
                    <a:lnTo>
                      <a:pt x="25863" y="76397"/>
                    </a:lnTo>
                    <a:lnTo>
                      <a:pt x="36132" y="79191"/>
                    </a:lnTo>
                    <a:lnTo>
                      <a:pt x="42399" y="79844"/>
                    </a:lnTo>
                    <a:lnTo>
                      <a:pt x="56245" y="75472"/>
                    </a:lnTo>
                    <a:lnTo>
                      <a:pt x="59651" y="73135"/>
                    </a:lnTo>
                    <a:lnTo>
                      <a:pt x="63435" y="67892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75" name="SMARTInkShape-Group30"/>
            <p:cNvGrpSpPr/>
            <p:nvPr/>
          </p:nvGrpSpPr>
          <p:grpSpPr>
            <a:xfrm>
              <a:off x="3715304" y="1928811"/>
              <a:ext cx="463791" cy="186938"/>
              <a:chOff x="3715304" y="767953"/>
              <a:chExt cx="463791" cy="186938"/>
            </a:xfrm>
          </p:grpSpPr>
          <p:sp>
            <p:nvSpPr>
              <p:cNvPr id="71" name="SMARTInkShape-58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3715304" y="785813"/>
                <a:ext cx="88707" cy="89143"/>
              </a:xfrm>
              <a:custGeom>
                <a:avLst/>
                <a:gdLst/>
                <a:ahLst/>
                <a:cxnLst/>
                <a:rect l="0" t="0" r="0" b="0"/>
                <a:pathLst>
                  <a:path w="88707" h="89143">
                    <a:moveTo>
                      <a:pt x="61954" y="8929"/>
                    </a:moveTo>
                    <a:lnTo>
                      <a:pt x="54265" y="8929"/>
                    </a:lnTo>
                    <a:lnTo>
                      <a:pt x="46140" y="15066"/>
                    </a:lnTo>
                    <a:lnTo>
                      <a:pt x="22993" y="24743"/>
                    </a:lnTo>
                    <a:lnTo>
                      <a:pt x="1316" y="42920"/>
                    </a:lnTo>
                    <a:lnTo>
                      <a:pt x="277" y="46526"/>
                    </a:lnTo>
                    <a:lnTo>
                      <a:pt x="0" y="48877"/>
                    </a:lnTo>
                    <a:lnTo>
                      <a:pt x="2338" y="54134"/>
                    </a:lnTo>
                    <a:lnTo>
                      <a:pt x="29262" y="83353"/>
                    </a:lnTo>
                    <a:lnTo>
                      <a:pt x="37833" y="86655"/>
                    </a:lnTo>
                    <a:lnTo>
                      <a:pt x="64564" y="89142"/>
                    </a:lnTo>
                    <a:lnTo>
                      <a:pt x="70721" y="86582"/>
                    </a:lnTo>
                    <a:lnTo>
                      <a:pt x="73752" y="84510"/>
                    </a:lnTo>
                    <a:lnTo>
                      <a:pt x="77119" y="79562"/>
                    </a:lnTo>
                    <a:lnTo>
                      <a:pt x="79608" y="74056"/>
                    </a:lnTo>
                    <a:lnTo>
                      <a:pt x="85595" y="65378"/>
                    </a:lnTo>
                    <a:lnTo>
                      <a:pt x="87810" y="56523"/>
                    </a:lnTo>
                    <a:lnTo>
                      <a:pt x="88706" y="25052"/>
                    </a:lnTo>
                    <a:lnTo>
                      <a:pt x="79813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2" name="SMARTInkShape-59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3991724" y="767953"/>
                <a:ext cx="71285" cy="87790"/>
              </a:xfrm>
              <a:custGeom>
                <a:avLst/>
                <a:gdLst/>
                <a:ahLst/>
                <a:cxnLst/>
                <a:rect l="0" t="0" r="0" b="0"/>
                <a:pathLst>
                  <a:path w="71285" h="87790">
                    <a:moveTo>
                      <a:pt x="44495" y="0"/>
                    </a:moveTo>
                    <a:lnTo>
                      <a:pt x="30834" y="0"/>
                    </a:lnTo>
                    <a:lnTo>
                      <a:pt x="25856" y="2646"/>
                    </a:lnTo>
                    <a:lnTo>
                      <a:pt x="5754" y="20991"/>
                    </a:lnTo>
                    <a:lnTo>
                      <a:pt x="2472" y="29504"/>
                    </a:lnTo>
                    <a:lnTo>
                      <a:pt x="0" y="56191"/>
                    </a:lnTo>
                    <a:lnTo>
                      <a:pt x="5206" y="64992"/>
                    </a:lnTo>
                    <a:lnTo>
                      <a:pt x="13142" y="73534"/>
                    </a:lnTo>
                    <a:lnTo>
                      <a:pt x="41428" y="87789"/>
                    </a:lnTo>
                    <a:lnTo>
                      <a:pt x="71284" y="80367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3" name="SMARTInkShape-60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3849096" y="835523"/>
                <a:ext cx="70374" cy="119368"/>
              </a:xfrm>
              <a:custGeom>
                <a:avLst/>
                <a:gdLst/>
                <a:ahLst/>
                <a:cxnLst/>
                <a:rect l="0" t="0" r="0" b="0"/>
                <a:pathLst>
                  <a:path w="70374" h="119368">
                    <a:moveTo>
                      <a:pt x="17459" y="3868"/>
                    </a:moveTo>
                    <a:lnTo>
                      <a:pt x="17459" y="8608"/>
                    </a:lnTo>
                    <a:lnTo>
                      <a:pt x="14813" y="13581"/>
                    </a:lnTo>
                    <a:lnTo>
                      <a:pt x="12718" y="16296"/>
                    </a:lnTo>
                    <a:lnTo>
                      <a:pt x="12314" y="19099"/>
                    </a:lnTo>
                    <a:lnTo>
                      <a:pt x="14511" y="24858"/>
                    </a:lnTo>
                    <a:lnTo>
                      <a:pt x="13502" y="33371"/>
                    </a:lnTo>
                    <a:lnTo>
                      <a:pt x="11845" y="38420"/>
                    </a:lnTo>
                    <a:lnTo>
                      <a:pt x="16034" y="80749"/>
                    </a:lnTo>
                    <a:lnTo>
                      <a:pt x="17451" y="119367"/>
                    </a:lnTo>
                    <a:lnTo>
                      <a:pt x="12716" y="115039"/>
                    </a:lnTo>
                    <a:lnTo>
                      <a:pt x="10390" y="110163"/>
                    </a:lnTo>
                    <a:lnTo>
                      <a:pt x="0" y="67941"/>
                    </a:lnTo>
                    <a:lnTo>
                      <a:pt x="671" y="45261"/>
                    </a:lnTo>
                    <a:lnTo>
                      <a:pt x="6752" y="28590"/>
                    </a:lnTo>
                    <a:lnTo>
                      <a:pt x="20593" y="10333"/>
                    </a:lnTo>
                    <a:lnTo>
                      <a:pt x="34152" y="1043"/>
                    </a:lnTo>
                    <a:lnTo>
                      <a:pt x="39502" y="0"/>
                    </a:lnTo>
                    <a:lnTo>
                      <a:pt x="50737" y="1487"/>
                    </a:lnTo>
                    <a:lnTo>
                      <a:pt x="63479" y="7903"/>
                    </a:lnTo>
                    <a:lnTo>
                      <a:pt x="67677" y="13268"/>
                    </a:lnTo>
                    <a:lnTo>
                      <a:pt x="70041" y="21866"/>
                    </a:lnTo>
                    <a:lnTo>
                      <a:pt x="70373" y="24796"/>
                    </a:lnTo>
                    <a:lnTo>
                      <a:pt x="68096" y="30698"/>
                    </a:lnTo>
                    <a:lnTo>
                      <a:pt x="66100" y="33661"/>
                    </a:lnTo>
                    <a:lnTo>
                      <a:pt x="63777" y="35636"/>
                    </a:lnTo>
                    <a:lnTo>
                      <a:pt x="50029" y="43807"/>
                    </a:lnTo>
                    <a:lnTo>
                      <a:pt x="47110" y="44384"/>
                    </a:lnTo>
                    <a:lnTo>
                      <a:pt x="44171" y="43777"/>
                    </a:lnTo>
                    <a:lnTo>
                      <a:pt x="38261" y="41449"/>
                    </a:lnTo>
                    <a:lnTo>
                      <a:pt x="17459" y="39586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4" name="SMARTInkShape-61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4111823" y="785813"/>
                <a:ext cx="67272" cy="78720"/>
              </a:xfrm>
              <a:custGeom>
                <a:avLst/>
                <a:gdLst/>
                <a:ahLst/>
                <a:cxnLst/>
                <a:rect l="0" t="0" r="0" b="0"/>
                <a:pathLst>
                  <a:path w="67272" h="78720">
                    <a:moveTo>
                      <a:pt x="67271" y="0"/>
                    </a:moveTo>
                    <a:lnTo>
                      <a:pt x="24464" y="0"/>
                    </a:lnTo>
                    <a:lnTo>
                      <a:pt x="4888" y="0"/>
                    </a:lnTo>
                    <a:lnTo>
                      <a:pt x="3778" y="24325"/>
                    </a:lnTo>
                    <a:lnTo>
                      <a:pt x="26" y="34293"/>
                    </a:lnTo>
                    <a:lnTo>
                      <a:pt x="343" y="47983"/>
                    </a:lnTo>
                    <a:lnTo>
                      <a:pt x="4687" y="78719"/>
                    </a:lnTo>
                    <a:lnTo>
                      <a:pt x="0" y="70397"/>
                    </a:lnTo>
                    <a:lnTo>
                      <a:pt x="595" y="66775"/>
                    </a:lnTo>
                    <a:lnTo>
                      <a:pt x="16316" y="50771"/>
                    </a:lnTo>
                    <a:lnTo>
                      <a:pt x="22465" y="47369"/>
                    </a:lnTo>
                    <a:lnTo>
                      <a:pt x="31348" y="45006"/>
                    </a:lnTo>
                    <a:lnTo>
                      <a:pt x="40482" y="44648"/>
                    </a:lnTo>
                  </a:path>
                </a:pathLst>
              </a:custGeom>
              <a:noFill/>
              <a:ln w="19050" cap="flat" cmpd="sng" algn="ctr">
                <a:solidFill>
                  <a:srgbClr val="009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86" name="SMARTInkShape-Group31"/>
            <p:cNvGrpSpPr/>
            <p:nvPr/>
          </p:nvGrpSpPr>
          <p:grpSpPr>
            <a:xfrm>
              <a:off x="2196703" y="2103238"/>
              <a:ext cx="508993" cy="258962"/>
              <a:chOff x="2196703" y="830461"/>
              <a:chExt cx="508993" cy="258962"/>
            </a:xfrm>
          </p:grpSpPr>
          <p:sp>
            <p:nvSpPr>
              <p:cNvPr id="76" name="SMARTInkShape-62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482453" y="857250"/>
                <a:ext cx="17861" cy="187524"/>
              </a:xfrm>
              <a:custGeom>
                <a:avLst/>
                <a:gdLst/>
                <a:ahLst/>
                <a:cxnLst/>
                <a:rect l="0" t="0" r="0" b="0"/>
                <a:pathLst>
                  <a:path w="17861" h="187524">
                    <a:moveTo>
                      <a:pt x="0" y="0"/>
                    </a:moveTo>
                    <a:lnTo>
                      <a:pt x="7068" y="29141"/>
                    </a:lnTo>
                    <a:lnTo>
                      <a:pt x="14822" y="71747"/>
                    </a:lnTo>
                    <a:lnTo>
                      <a:pt x="15967" y="99311"/>
                    </a:lnTo>
                    <a:lnTo>
                      <a:pt x="10614" y="138385"/>
                    </a:lnTo>
                    <a:lnTo>
                      <a:pt x="9263" y="165801"/>
                    </a:lnTo>
                    <a:lnTo>
                      <a:pt x="11723" y="175554"/>
                    </a:lnTo>
                    <a:lnTo>
                      <a:pt x="17860" y="187523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7" name="SMARTInkShape-63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429243" y="946547"/>
                <a:ext cx="8563" cy="17860"/>
              </a:xfrm>
              <a:custGeom>
                <a:avLst/>
                <a:gdLst/>
                <a:ahLst/>
                <a:cxnLst/>
                <a:rect l="0" t="0" r="0" b="0"/>
                <a:pathLst>
                  <a:path w="8563" h="17860">
                    <a:moveTo>
                      <a:pt x="8562" y="17859"/>
                    </a:moveTo>
                    <a:lnTo>
                      <a:pt x="0" y="9297"/>
                    </a:lnTo>
                    <a:lnTo>
                      <a:pt x="8562" y="0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8" name="SMARTInkShape-64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2571750" y="946547"/>
                <a:ext cx="8931" cy="17860"/>
              </a:xfrm>
              <a:custGeom>
                <a:avLst/>
                <a:gdLst/>
                <a:ahLst/>
                <a:cxnLst/>
                <a:rect l="0" t="0" r="0" b="0"/>
                <a:pathLst>
                  <a:path w="8931" h="17860">
                    <a:moveTo>
                      <a:pt x="0" y="17859"/>
                    </a:moveTo>
                    <a:lnTo>
                      <a:pt x="0" y="1350"/>
                    </a:lnTo>
                    <a:lnTo>
                      <a:pt x="992" y="900"/>
                    </a:lnTo>
                    <a:lnTo>
                      <a:pt x="8930" y="0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9" name="SMARTInkShape-65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2593785" y="973336"/>
                <a:ext cx="49404" cy="58723"/>
              </a:xfrm>
              <a:custGeom>
                <a:avLst/>
                <a:gdLst/>
                <a:ahLst/>
                <a:cxnLst/>
                <a:rect l="0" t="0" r="0" b="0"/>
                <a:pathLst>
                  <a:path w="49404" h="58723">
                    <a:moveTo>
                      <a:pt x="31543" y="0"/>
                    </a:moveTo>
                    <a:lnTo>
                      <a:pt x="7719" y="34848"/>
                    </a:lnTo>
                    <a:lnTo>
                      <a:pt x="6731" y="38114"/>
                    </a:lnTo>
                    <a:lnTo>
                      <a:pt x="5080" y="40292"/>
                    </a:lnTo>
                    <a:lnTo>
                      <a:pt x="599" y="42712"/>
                    </a:lnTo>
                    <a:lnTo>
                      <a:pt x="0" y="44350"/>
                    </a:lnTo>
                    <a:lnTo>
                      <a:pt x="593" y="46434"/>
                    </a:lnTo>
                    <a:lnTo>
                      <a:pt x="4510" y="53160"/>
                    </a:lnTo>
                    <a:lnTo>
                      <a:pt x="18313" y="53575"/>
                    </a:lnTo>
                    <a:lnTo>
                      <a:pt x="19747" y="54568"/>
                    </a:lnTo>
                    <a:lnTo>
                      <a:pt x="20702" y="56222"/>
                    </a:lnTo>
                    <a:lnTo>
                      <a:pt x="21339" y="58318"/>
                    </a:lnTo>
                    <a:lnTo>
                      <a:pt x="23749" y="58722"/>
                    </a:lnTo>
                    <a:lnTo>
                      <a:pt x="31717" y="56526"/>
                    </a:lnTo>
                    <a:lnTo>
                      <a:pt x="49403" y="44648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0" name="SMARTInkShape-66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2554258" y="964406"/>
                <a:ext cx="8563" cy="53579"/>
              </a:xfrm>
              <a:custGeom>
                <a:avLst/>
                <a:gdLst/>
                <a:ahLst/>
                <a:cxnLst/>
                <a:rect l="0" t="0" r="0" b="0"/>
                <a:pathLst>
                  <a:path w="8563" h="53579">
                    <a:moveTo>
                      <a:pt x="8562" y="0"/>
                    </a:moveTo>
                    <a:lnTo>
                      <a:pt x="1495" y="16782"/>
                    </a:lnTo>
                    <a:lnTo>
                      <a:pt x="0" y="34293"/>
                    </a:lnTo>
                    <a:lnTo>
                      <a:pt x="2442" y="42692"/>
                    </a:lnTo>
                    <a:lnTo>
                      <a:pt x="8562" y="53578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1" name="SMARTInkShape-67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2446734" y="964406"/>
                <a:ext cx="89298" cy="35720"/>
              </a:xfrm>
              <a:custGeom>
                <a:avLst/>
                <a:gdLst/>
                <a:ahLst/>
                <a:cxnLst/>
                <a:rect l="0" t="0" r="0" b="0"/>
                <a:pathLst>
                  <a:path w="89298" h="35720">
                    <a:moveTo>
                      <a:pt x="0" y="35719"/>
                    </a:moveTo>
                    <a:lnTo>
                      <a:pt x="0" y="30978"/>
                    </a:lnTo>
                    <a:lnTo>
                      <a:pt x="993" y="29582"/>
                    </a:lnTo>
                    <a:lnTo>
                      <a:pt x="2646" y="28651"/>
                    </a:lnTo>
                    <a:lnTo>
                      <a:pt x="4741" y="28031"/>
                    </a:lnTo>
                    <a:lnTo>
                      <a:pt x="18092" y="19885"/>
                    </a:lnTo>
                    <a:lnTo>
                      <a:pt x="56192" y="17895"/>
                    </a:lnTo>
                    <a:lnTo>
                      <a:pt x="65377" y="17870"/>
                    </a:lnTo>
                    <a:lnTo>
                      <a:pt x="74036" y="12573"/>
                    </a:lnTo>
                    <a:lnTo>
                      <a:pt x="89297" y="0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2" name="SMARTInkShape-68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2411016" y="1000125"/>
                <a:ext cx="1" cy="53579"/>
              </a:xfrm>
              <a:custGeom>
                <a:avLst/>
                <a:gdLst/>
                <a:ahLst/>
                <a:cxnLst/>
                <a:rect l="0" t="0" r="0" b="0"/>
                <a:pathLst>
                  <a:path w="1" h="53579">
                    <a:moveTo>
                      <a:pt x="0" y="0"/>
                    </a:moveTo>
                    <a:lnTo>
                      <a:pt x="0" y="43449"/>
                    </a:lnTo>
                    <a:lnTo>
                      <a:pt x="0" y="53578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3" name="SMARTInkShape-69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2286000" y="982266"/>
                <a:ext cx="71439" cy="107157"/>
              </a:xfrm>
              <a:custGeom>
                <a:avLst/>
                <a:gdLst/>
                <a:ahLst/>
                <a:cxnLst/>
                <a:rect l="0" t="0" r="0" b="0"/>
                <a:pathLst>
                  <a:path w="71439" h="107157">
                    <a:moveTo>
                      <a:pt x="0" y="0"/>
                    </a:moveTo>
                    <a:lnTo>
                      <a:pt x="0" y="41500"/>
                    </a:lnTo>
                    <a:lnTo>
                      <a:pt x="0" y="79693"/>
                    </a:lnTo>
                    <a:lnTo>
                      <a:pt x="4741" y="75427"/>
                    </a:lnTo>
                    <a:lnTo>
                      <a:pt x="7068" y="70564"/>
                    </a:lnTo>
                    <a:lnTo>
                      <a:pt x="7688" y="67879"/>
                    </a:lnTo>
                    <a:lnTo>
                      <a:pt x="15834" y="53501"/>
                    </a:lnTo>
                    <a:lnTo>
                      <a:pt x="16509" y="50550"/>
                    </a:lnTo>
                    <a:lnTo>
                      <a:pt x="25429" y="37478"/>
                    </a:lnTo>
                    <a:lnTo>
                      <a:pt x="34358" y="28184"/>
                    </a:lnTo>
                    <a:lnTo>
                      <a:pt x="35804" y="28711"/>
                    </a:lnTo>
                    <a:lnTo>
                      <a:pt x="42579" y="33201"/>
                    </a:lnTo>
                    <a:lnTo>
                      <a:pt x="48028" y="34600"/>
                    </a:lnTo>
                    <a:lnTo>
                      <a:pt x="49878" y="35965"/>
                    </a:lnTo>
                    <a:lnTo>
                      <a:pt x="51112" y="37867"/>
                    </a:lnTo>
                    <a:lnTo>
                      <a:pt x="52847" y="45285"/>
                    </a:lnTo>
                    <a:lnTo>
                      <a:pt x="53091" y="48049"/>
                    </a:lnTo>
                    <a:lnTo>
                      <a:pt x="56007" y="53766"/>
                    </a:lnTo>
                    <a:lnTo>
                      <a:pt x="58174" y="56680"/>
                    </a:lnTo>
                    <a:lnTo>
                      <a:pt x="60582" y="65209"/>
                    </a:lnTo>
                    <a:lnTo>
                      <a:pt x="62498" y="105360"/>
                    </a:lnTo>
                    <a:lnTo>
                      <a:pt x="63493" y="105959"/>
                    </a:lnTo>
                    <a:lnTo>
                      <a:pt x="71438" y="107156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4" name="SMARTInkShape-70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2196703" y="901898"/>
                <a:ext cx="8931" cy="151806"/>
              </a:xfrm>
              <a:custGeom>
                <a:avLst/>
                <a:gdLst/>
                <a:ahLst/>
                <a:cxnLst/>
                <a:rect l="0" t="0" r="0" b="0"/>
                <a:pathLst>
                  <a:path w="8931" h="151806">
                    <a:moveTo>
                      <a:pt x="8930" y="0"/>
                    </a:moveTo>
                    <a:lnTo>
                      <a:pt x="8930" y="36209"/>
                    </a:lnTo>
                    <a:lnTo>
                      <a:pt x="7938" y="52804"/>
                    </a:lnTo>
                    <a:lnTo>
                      <a:pt x="828" y="91945"/>
                    </a:lnTo>
                    <a:lnTo>
                      <a:pt x="32" y="135146"/>
                    </a:lnTo>
                    <a:lnTo>
                      <a:pt x="0" y="151805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5" name="SMARTInkShape-71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2687836" y="830461"/>
                <a:ext cx="17860" cy="196454"/>
              </a:xfrm>
              <a:custGeom>
                <a:avLst/>
                <a:gdLst/>
                <a:ahLst/>
                <a:cxnLst/>
                <a:rect l="0" t="0" r="0" b="0"/>
                <a:pathLst>
                  <a:path w="17860" h="196454">
                    <a:moveTo>
                      <a:pt x="17859" y="0"/>
                    </a:moveTo>
                    <a:lnTo>
                      <a:pt x="16867" y="38584"/>
                    </a:lnTo>
                    <a:lnTo>
                      <a:pt x="10792" y="81521"/>
                    </a:lnTo>
                    <a:lnTo>
                      <a:pt x="6836" y="116428"/>
                    </a:lnTo>
                    <a:lnTo>
                      <a:pt x="2025" y="151906"/>
                    </a:lnTo>
                    <a:lnTo>
                      <a:pt x="0" y="196453"/>
                    </a:lnTo>
                  </a:path>
                </a:pathLst>
              </a:cu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95" name="SMARTInkShape-Group32"/>
            <p:cNvGrpSpPr/>
            <p:nvPr/>
          </p:nvGrpSpPr>
          <p:grpSpPr>
            <a:xfrm>
              <a:off x="2411016" y="1253104"/>
              <a:ext cx="4284974" cy="714376"/>
              <a:chOff x="2421222" y="53578"/>
              <a:chExt cx="4284974" cy="714376"/>
            </a:xfrm>
          </p:grpSpPr>
          <p:sp>
            <p:nvSpPr>
              <p:cNvPr id="87" name="SMARTInkShape-72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6545493" y="53578"/>
                <a:ext cx="150778" cy="133946"/>
              </a:xfrm>
              <a:custGeom>
                <a:avLst/>
                <a:gdLst/>
                <a:ahLst/>
                <a:cxnLst/>
                <a:rect l="0" t="0" r="0" b="0"/>
                <a:pathLst>
                  <a:path w="150778" h="133946">
                    <a:moveTo>
                      <a:pt x="8898" y="0"/>
                    </a:moveTo>
                    <a:lnTo>
                      <a:pt x="0" y="0"/>
                    </a:lnTo>
                    <a:lnTo>
                      <a:pt x="43181" y="0"/>
                    </a:lnTo>
                    <a:lnTo>
                      <a:pt x="51585" y="2646"/>
                    </a:lnTo>
                    <a:lnTo>
                      <a:pt x="59620" y="6137"/>
                    </a:lnTo>
                    <a:lnTo>
                      <a:pt x="74308" y="9094"/>
                    </a:lnTo>
                    <a:lnTo>
                      <a:pt x="88662" y="15834"/>
                    </a:lnTo>
                    <a:lnTo>
                      <a:pt x="101052" y="17459"/>
                    </a:lnTo>
                    <a:lnTo>
                      <a:pt x="103076" y="18585"/>
                    </a:lnTo>
                    <a:lnTo>
                      <a:pt x="104425" y="20328"/>
                    </a:lnTo>
                    <a:lnTo>
                      <a:pt x="105925" y="24910"/>
                    </a:lnTo>
                    <a:lnTo>
                      <a:pt x="106591" y="30253"/>
                    </a:lnTo>
                    <a:lnTo>
                      <a:pt x="105777" y="32075"/>
                    </a:lnTo>
                    <a:lnTo>
                      <a:pt x="104241" y="33290"/>
                    </a:lnTo>
                    <a:lnTo>
                      <a:pt x="99890" y="35631"/>
                    </a:lnTo>
                    <a:lnTo>
                      <a:pt x="91862" y="41536"/>
                    </a:lnTo>
                    <a:lnTo>
                      <a:pt x="86119" y="43265"/>
                    </a:lnTo>
                    <a:lnTo>
                      <a:pt x="84191" y="44718"/>
                    </a:lnTo>
                    <a:lnTo>
                      <a:pt x="80486" y="50512"/>
                    </a:lnTo>
                    <a:lnTo>
                      <a:pt x="76102" y="52216"/>
                    </a:lnTo>
                    <a:lnTo>
                      <a:pt x="62476" y="53578"/>
                    </a:lnTo>
                    <a:lnTo>
                      <a:pt x="82871" y="54570"/>
                    </a:lnTo>
                    <a:lnTo>
                      <a:pt x="111863" y="62673"/>
                    </a:lnTo>
                    <a:lnTo>
                      <a:pt x="124743" y="69412"/>
                    </a:lnTo>
                    <a:lnTo>
                      <a:pt x="127800" y="70087"/>
                    </a:lnTo>
                    <a:lnTo>
                      <a:pt x="136842" y="75778"/>
                    </a:lnTo>
                    <a:lnTo>
                      <a:pt x="140176" y="80973"/>
                    </a:lnTo>
                    <a:lnTo>
                      <a:pt x="141065" y="83748"/>
                    </a:lnTo>
                    <a:lnTo>
                      <a:pt x="142650" y="85598"/>
                    </a:lnTo>
                    <a:lnTo>
                      <a:pt x="147057" y="87653"/>
                    </a:lnTo>
                    <a:lnTo>
                      <a:pt x="147636" y="89193"/>
                    </a:lnTo>
                    <a:lnTo>
                      <a:pt x="147030" y="91212"/>
                    </a:lnTo>
                    <a:lnTo>
                      <a:pt x="145635" y="93550"/>
                    </a:lnTo>
                    <a:lnTo>
                      <a:pt x="145696" y="96101"/>
                    </a:lnTo>
                    <a:lnTo>
                      <a:pt x="150777" y="110245"/>
                    </a:lnTo>
                    <a:lnTo>
                      <a:pt x="150116" y="112192"/>
                    </a:lnTo>
                    <a:lnTo>
                      <a:pt x="148684" y="113490"/>
                    </a:lnTo>
                    <a:lnTo>
                      <a:pt x="144447" y="115924"/>
                    </a:lnTo>
                    <a:lnTo>
                      <a:pt x="126015" y="128363"/>
                    </a:lnTo>
                    <a:lnTo>
                      <a:pt x="81434" y="133455"/>
                    </a:lnTo>
                    <a:lnTo>
                      <a:pt x="71405" y="133945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8" name="SMARTInkShape-73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5038259" y="133945"/>
                <a:ext cx="140962" cy="124450"/>
              </a:xfrm>
              <a:custGeom>
                <a:avLst/>
                <a:gdLst/>
                <a:ahLst/>
                <a:cxnLst/>
                <a:rect l="0" t="0" r="0" b="0"/>
                <a:pathLst>
                  <a:path w="140962" h="124450">
                    <a:moveTo>
                      <a:pt x="24874" y="0"/>
                    </a:moveTo>
                    <a:lnTo>
                      <a:pt x="45269" y="993"/>
                    </a:lnTo>
                    <a:lnTo>
                      <a:pt x="57420" y="4741"/>
                    </a:lnTo>
                    <a:lnTo>
                      <a:pt x="97292" y="32018"/>
                    </a:lnTo>
                    <a:lnTo>
                      <a:pt x="101708" y="38374"/>
                    </a:lnTo>
                    <a:lnTo>
                      <a:pt x="104194" y="47530"/>
                    </a:lnTo>
                    <a:lnTo>
                      <a:pt x="100190" y="61267"/>
                    </a:lnTo>
                    <a:lnTo>
                      <a:pt x="72214" y="100313"/>
                    </a:lnTo>
                    <a:lnTo>
                      <a:pt x="45280" y="118554"/>
                    </a:lnTo>
                    <a:lnTo>
                      <a:pt x="27723" y="123101"/>
                    </a:lnTo>
                    <a:lnTo>
                      <a:pt x="14694" y="124449"/>
                    </a:lnTo>
                    <a:lnTo>
                      <a:pt x="7782" y="122118"/>
                    </a:lnTo>
                    <a:lnTo>
                      <a:pt x="0" y="117278"/>
                    </a:lnTo>
                    <a:lnTo>
                      <a:pt x="354" y="115888"/>
                    </a:lnTo>
                    <a:lnTo>
                      <a:pt x="10682" y="103762"/>
                    </a:lnTo>
                    <a:lnTo>
                      <a:pt x="21543" y="100687"/>
                    </a:lnTo>
                    <a:lnTo>
                      <a:pt x="41746" y="96310"/>
                    </a:lnTo>
                    <a:lnTo>
                      <a:pt x="60300" y="91375"/>
                    </a:lnTo>
                    <a:lnTo>
                      <a:pt x="101601" y="89571"/>
                    </a:lnTo>
                    <a:lnTo>
                      <a:pt x="124813" y="89333"/>
                    </a:lnTo>
                    <a:lnTo>
                      <a:pt x="131468" y="91959"/>
                    </a:lnTo>
                    <a:lnTo>
                      <a:pt x="140961" y="98227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9" name="SMARTInkShape-7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6656474" y="285750"/>
                <a:ext cx="49722" cy="482204"/>
              </a:xfrm>
              <a:custGeom>
                <a:avLst/>
                <a:gdLst/>
                <a:ahLst/>
                <a:cxnLst/>
                <a:rect l="0" t="0" r="0" b="0"/>
                <a:pathLst>
                  <a:path w="49722" h="482204">
                    <a:moveTo>
                      <a:pt x="14003" y="0"/>
                    </a:moveTo>
                    <a:lnTo>
                      <a:pt x="6314" y="0"/>
                    </a:lnTo>
                    <a:lnTo>
                      <a:pt x="4326" y="13266"/>
                    </a:lnTo>
                    <a:lnTo>
                      <a:pt x="441" y="20117"/>
                    </a:lnTo>
                    <a:lnTo>
                      <a:pt x="0" y="24326"/>
                    </a:lnTo>
                    <a:lnTo>
                      <a:pt x="2157" y="34293"/>
                    </a:lnTo>
                    <a:lnTo>
                      <a:pt x="9642" y="49732"/>
                    </a:lnTo>
                    <a:lnTo>
                      <a:pt x="9111" y="52998"/>
                    </a:lnTo>
                    <a:lnTo>
                      <a:pt x="5875" y="59274"/>
                    </a:lnTo>
                    <a:lnTo>
                      <a:pt x="1130" y="65370"/>
                    </a:lnTo>
                    <a:lnTo>
                      <a:pt x="460" y="68385"/>
                    </a:lnTo>
                    <a:lnTo>
                      <a:pt x="1005" y="71387"/>
                    </a:lnTo>
                    <a:lnTo>
                      <a:pt x="12523" y="99959"/>
                    </a:lnTo>
                    <a:lnTo>
                      <a:pt x="13964" y="123219"/>
                    </a:lnTo>
                    <a:lnTo>
                      <a:pt x="20132" y="131790"/>
                    </a:lnTo>
                    <a:lnTo>
                      <a:pt x="21687" y="137287"/>
                    </a:lnTo>
                    <a:lnTo>
                      <a:pt x="21111" y="140142"/>
                    </a:lnTo>
                    <a:lnTo>
                      <a:pt x="17823" y="145960"/>
                    </a:lnTo>
                    <a:lnTo>
                      <a:pt x="17542" y="148900"/>
                    </a:lnTo>
                    <a:lnTo>
                      <a:pt x="22664" y="172643"/>
                    </a:lnTo>
                    <a:lnTo>
                      <a:pt x="22930" y="208359"/>
                    </a:lnTo>
                    <a:lnTo>
                      <a:pt x="25577" y="214313"/>
                    </a:lnTo>
                    <a:lnTo>
                      <a:pt x="27672" y="217289"/>
                    </a:lnTo>
                    <a:lnTo>
                      <a:pt x="28076" y="220266"/>
                    </a:lnTo>
                    <a:lnTo>
                      <a:pt x="23009" y="248267"/>
                    </a:lnTo>
                    <a:lnTo>
                      <a:pt x="30010" y="259513"/>
                    </a:lnTo>
                    <a:lnTo>
                      <a:pt x="30628" y="262305"/>
                    </a:lnTo>
                    <a:lnTo>
                      <a:pt x="30047" y="265159"/>
                    </a:lnTo>
                    <a:lnTo>
                      <a:pt x="23687" y="276658"/>
                    </a:lnTo>
                    <a:lnTo>
                      <a:pt x="23268" y="281048"/>
                    </a:lnTo>
                    <a:lnTo>
                      <a:pt x="31502" y="315180"/>
                    </a:lnTo>
                    <a:lnTo>
                      <a:pt x="29056" y="321320"/>
                    </a:lnTo>
                    <a:lnTo>
                      <a:pt x="27015" y="324346"/>
                    </a:lnTo>
                    <a:lnTo>
                      <a:pt x="26646" y="326363"/>
                    </a:lnTo>
                    <a:lnTo>
                      <a:pt x="27392" y="327708"/>
                    </a:lnTo>
                    <a:lnTo>
                      <a:pt x="28882" y="328605"/>
                    </a:lnTo>
                    <a:lnTo>
                      <a:pt x="29875" y="330195"/>
                    </a:lnTo>
                    <a:lnTo>
                      <a:pt x="32265" y="337173"/>
                    </a:lnTo>
                    <a:lnTo>
                      <a:pt x="37824" y="345525"/>
                    </a:lnTo>
                    <a:lnTo>
                      <a:pt x="39473" y="351343"/>
                    </a:lnTo>
                    <a:lnTo>
                      <a:pt x="38920" y="354283"/>
                    </a:lnTo>
                    <a:lnTo>
                      <a:pt x="33550" y="366131"/>
                    </a:lnTo>
                    <a:lnTo>
                      <a:pt x="32195" y="378026"/>
                    </a:lnTo>
                    <a:lnTo>
                      <a:pt x="34656" y="383978"/>
                    </a:lnTo>
                    <a:lnTo>
                      <a:pt x="38065" y="389930"/>
                    </a:lnTo>
                    <a:lnTo>
                      <a:pt x="40253" y="401836"/>
                    </a:lnTo>
                    <a:lnTo>
                      <a:pt x="40782" y="439290"/>
                    </a:lnTo>
                    <a:lnTo>
                      <a:pt x="38142" y="445933"/>
                    </a:lnTo>
                    <a:lnTo>
                      <a:pt x="34653" y="452192"/>
                    </a:lnTo>
                    <a:lnTo>
                      <a:pt x="32413" y="464295"/>
                    </a:lnTo>
                    <a:lnTo>
                      <a:pt x="31894" y="477488"/>
                    </a:lnTo>
                    <a:lnTo>
                      <a:pt x="32876" y="479060"/>
                    </a:lnTo>
                    <a:lnTo>
                      <a:pt x="34522" y="480108"/>
                    </a:lnTo>
                    <a:lnTo>
                      <a:pt x="39553" y="481789"/>
                    </a:lnTo>
                    <a:lnTo>
                      <a:pt x="49721" y="482203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0" name="SMARTInkShape-75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2482821" y="535781"/>
                <a:ext cx="4205516" cy="71439"/>
              </a:xfrm>
              <a:custGeom>
                <a:avLst/>
                <a:gdLst/>
                <a:ahLst/>
                <a:cxnLst/>
                <a:rect l="0" t="0" r="0" b="0"/>
                <a:pathLst>
                  <a:path w="4205516" h="71439">
                    <a:moveTo>
                      <a:pt x="8562" y="53578"/>
                    </a:moveTo>
                    <a:lnTo>
                      <a:pt x="0" y="53578"/>
                    </a:lnTo>
                    <a:lnTo>
                      <a:pt x="16219" y="70164"/>
                    </a:lnTo>
                    <a:lnTo>
                      <a:pt x="21855" y="71060"/>
                    </a:lnTo>
                    <a:lnTo>
                      <a:pt x="66130" y="71437"/>
                    </a:lnTo>
                    <a:lnTo>
                      <a:pt x="109796" y="71438"/>
                    </a:lnTo>
                    <a:lnTo>
                      <a:pt x="152221" y="71438"/>
                    </a:lnTo>
                    <a:lnTo>
                      <a:pt x="175169" y="70446"/>
                    </a:lnTo>
                    <a:lnTo>
                      <a:pt x="202420" y="63749"/>
                    </a:lnTo>
                    <a:lnTo>
                      <a:pt x="239583" y="62617"/>
                    </a:lnTo>
                    <a:lnTo>
                      <a:pt x="278163" y="62522"/>
                    </a:lnTo>
                    <a:lnTo>
                      <a:pt x="320334" y="62510"/>
                    </a:lnTo>
                    <a:lnTo>
                      <a:pt x="358090" y="62508"/>
                    </a:lnTo>
                    <a:lnTo>
                      <a:pt x="399919" y="62508"/>
                    </a:lnTo>
                    <a:lnTo>
                      <a:pt x="434633" y="62508"/>
                    </a:lnTo>
                    <a:lnTo>
                      <a:pt x="470054" y="61516"/>
                    </a:lnTo>
                    <a:lnTo>
                      <a:pt x="506677" y="56371"/>
                    </a:lnTo>
                    <a:lnTo>
                      <a:pt x="547514" y="54406"/>
                    </a:lnTo>
                    <a:lnTo>
                      <a:pt x="585191" y="53824"/>
                    </a:lnTo>
                    <a:lnTo>
                      <a:pt x="621490" y="53651"/>
                    </a:lnTo>
                    <a:lnTo>
                      <a:pt x="657380" y="53600"/>
                    </a:lnTo>
                    <a:lnTo>
                      <a:pt x="693150" y="52593"/>
                    </a:lnTo>
                    <a:lnTo>
                      <a:pt x="727892" y="47443"/>
                    </a:lnTo>
                    <a:lnTo>
                      <a:pt x="769446" y="45201"/>
                    </a:lnTo>
                    <a:lnTo>
                      <a:pt x="810838" y="44758"/>
                    </a:lnTo>
                    <a:lnTo>
                      <a:pt x="848669" y="44670"/>
                    </a:lnTo>
                    <a:lnTo>
                      <a:pt x="890684" y="44653"/>
                    </a:lnTo>
                    <a:lnTo>
                      <a:pt x="931852" y="44649"/>
                    </a:lnTo>
                    <a:lnTo>
                      <a:pt x="971608" y="44649"/>
                    </a:lnTo>
                    <a:lnTo>
                      <a:pt x="1008418" y="44649"/>
                    </a:lnTo>
                    <a:lnTo>
                      <a:pt x="1050490" y="44649"/>
                    </a:lnTo>
                    <a:lnTo>
                      <a:pt x="1091138" y="44649"/>
                    </a:lnTo>
                    <a:lnTo>
                      <a:pt x="1125390" y="44649"/>
                    </a:lnTo>
                    <a:lnTo>
                      <a:pt x="1160674" y="44649"/>
                    </a:lnTo>
                    <a:lnTo>
                      <a:pt x="1198910" y="44649"/>
                    </a:lnTo>
                    <a:lnTo>
                      <a:pt x="1241659" y="44649"/>
                    </a:lnTo>
                    <a:lnTo>
                      <a:pt x="1283098" y="42003"/>
                    </a:lnTo>
                    <a:lnTo>
                      <a:pt x="1320512" y="37581"/>
                    </a:lnTo>
                    <a:lnTo>
                      <a:pt x="1356733" y="38916"/>
                    </a:lnTo>
                    <a:lnTo>
                      <a:pt x="1392601" y="42950"/>
                    </a:lnTo>
                    <a:lnTo>
                      <a:pt x="1428364" y="44145"/>
                    </a:lnTo>
                    <a:lnTo>
                      <a:pt x="1471263" y="44549"/>
                    </a:lnTo>
                    <a:lnTo>
                      <a:pt x="1508777" y="44619"/>
                    </a:lnTo>
                    <a:lnTo>
                      <a:pt x="1546571" y="44640"/>
                    </a:lnTo>
                    <a:lnTo>
                      <a:pt x="1588760" y="44647"/>
                    </a:lnTo>
                    <a:lnTo>
                      <a:pt x="1622635" y="44648"/>
                    </a:lnTo>
                    <a:lnTo>
                      <a:pt x="1664345" y="47294"/>
                    </a:lnTo>
                    <a:lnTo>
                      <a:pt x="1697022" y="52337"/>
                    </a:lnTo>
                    <a:lnTo>
                      <a:pt x="1738276" y="48188"/>
                    </a:lnTo>
                    <a:lnTo>
                      <a:pt x="1778763" y="52220"/>
                    </a:lnTo>
                    <a:lnTo>
                      <a:pt x="1819943" y="53310"/>
                    </a:lnTo>
                    <a:lnTo>
                      <a:pt x="1857734" y="53525"/>
                    </a:lnTo>
                    <a:lnTo>
                      <a:pt x="1899741" y="53568"/>
                    </a:lnTo>
                    <a:lnTo>
                      <a:pt x="1936996" y="53576"/>
                    </a:lnTo>
                    <a:lnTo>
                      <a:pt x="1973018" y="53578"/>
                    </a:lnTo>
                    <a:lnTo>
                      <a:pt x="2008797" y="56224"/>
                    </a:lnTo>
                    <a:lnTo>
                      <a:pt x="2027656" y="58723"/>
                    </a:lnTo>
                    <a:lnTo>
                      <a:pt x="2066811" y="54889"/>
                    </a:lnTo>
                    <a:lnTo>
                      <a:pt x="2103722" y="53837"/>
                    </a:lnTo>
                    <a:lnTo>
                      <a:pt x="2148239" y="53629"/>
                    </a:lnTo>
                    <a:lnTo>
                      <a:pt x="2186725" y="53588"/>
                    </a:lnTo>
                    <a:lnTo>
                      <a:pt x="2227730" y="53580"/>
                    </a:lnTo>
                    <a:lnTo>
                      <a:pt x="2267911" y="53579"/>
                    </a:lnTo>
                    <a:lnTo>
                      <a:pt x="2310391" y="50933"/>
                    </a:lnTo>
                    <a:lnTo>
                      <a:pt x="2352480" y="45890"/>
                    </a:lnTo>
                    <a:lnTo>
                      <a:pt x="2391882" y="44894"/>
                    </a:lnTo>
                    <a:lnTo>
                      <a:pt x="2428328" y="44697"/>
                    </a:lnTo>
                    <a:lnTo>
                      <a:pt x="2472140" y="44655"/>
                    </a:lnTo>
                    <a:lnTo>
                      <a:pt x="2510112" y="44650"/>
                    </a:lnTo>
                    <a:lnTo>
                      <a:pt x="2545829" y="38512"/>
                    </a:lnTo>
                    <a:lnTo>
                      <a:pt x="2587428" y="36271"/>
                    </a:lnTo>
                    <a:lnTo>
                      <a:pt x="2629343" y="35828"/>
                    </a:lnTo>
                    <a:lnTo>
                      <a:pt x="2669702" y="34748"/>
                    </a:lnTo>
                    <a:lnTo>
                      <a:pt x="2703261" y="29588"/>
                    </a:lnTo>
                    <a:lnTo>
                      <a:pt x="2739331" y="27619"/>
                    </a:lnTo>
                    <a:lnTo>
                      <a:pt x="2780005" y="27035"/>
                    </a:lnTo>
                    <a:lnTo>
                      <a:pt x="2817633" y="25870"/>
                    </a:lnTo>
                    <a:lnTo>
                      <a:pt x="2852925" y="20674"/>
                    </a:lnTo>
                    <a:lnTo>
                      <a:pt x="2894666" y="18416"/>
                    </a:lnTo>
                    <a:lnTo>
                      <a:pt x="2929108" y="18024"/>
                    </a:lnTo>
                    <a:lnTo>
                      <a:pt x="2971561" y="17892"/>
                    </a:lnTo>
                    <a:lnTo>
                      <a:pt x="3014747" y="17866"/>
                    </a:lnTo>
                    <a:lnTo>
                      <a:pt x="3055615" y="15215"/>
                    </a:lnTo>
                    <a:lnTo>
                      <a:pt x="3096871" y="10171"/>
                    </a:lnTo>
                    <a:lnTo>
                      <a:pt x="3140812" y="9175"/>
                    </a:lnTo>
                    <a:lnTo>
                      <a:pt x="3175893" y="8010"/>
                    </a:lnTo>
                    <a:lnTo>
                      <a:pt x="3212415" y="2815"/>
                    </a:lnTo>
                    <a:lnTo>
                      <a:pt x="3253223" y="834"/>
                    </a:lnTo>
                    <a:lnTo>
                      <a:pt x="3292874" y="247"/>
                    </a:lnTo>
                    <a:lnTo>
                      <a:pt x="3324638" y="110"/>
                    </a:lnTo>
                    <a:lnTo>
                      <a:pt x="3366510" y="33"/>
                    </a:lnTo>
                    <a:lnTo>
                      <a:pt x="3404051" y="10"/>
                    </a:lnTo>
                    <a:lnTo>
                      <a:pt x="3440311" y="3"/>
                    </a:lnTo>
                    <a:lnTo>
                      <a:pt x="3481982" y="1"/>
                    </a:lnTo>
                    <a:lnTo>
                      <a:pt x="3524755" y="0"/>
                    </a:lnTo>
                    <a:lnTo>
                      <a:pt x="3562162" y="0"/>
                    </a:lnTo>
                    <a:lnTo>
                      <a:pt x="3603690" y="0"/>
                    </a:lnTo>
                    <a:lnTo>
                      <a:pt x="3645889" y="8102"/>
                    </a:lnTo>
                    <a:lnTo>
                      <a:pt x="3687774" y="8857"/>
                    </a:lnTo>
                    <a:lnTo>
                      <a:pt x="3732180" y="9916"/>
                    </a:lnTo>
                    <a:lnTo>
                      <a:pt x="3776712" y="17308"/>
                    </a:lnTo>
                    <a:lnTo>
                      <a:pt x="3818551" y="17827"/>
                    </a:lnTo>
                    <a:lnTo>
                      <a:pt x="3860233" y="25960"/>
                    </a:lnTo>
                    <a:lnTo>
                      <a:pt x="3897483" y="26741"/>
                    </a:lnTo>
                    <a:lnTo>
                      <a:pt x="3941256" y="26787"/>
                    </a:lnTo>
                    <a:lnTo>
                      <a:pt x="3984957" y="26789"/>
                    </a:lnTo>
                    <a:lnTo>
                      <a:pt x="4026373" y="26789"/>
                    </a:lnTo>
                    <a:lnTo>
                      <a:pt x="4065237" y="26789"/>
                    </a:lnTo>
                    <a:lnTo>
                      <a:pt x="4080661" y="25797"/>
                    </a:lnTo>
                    <a:lnTo>
                      <a:pt x="4125084" y="18687"/>
                    </a:lnTo>
                    <a:lnTo>
                      <a:pt x="4166972" y="17908"/>
                    </a:lnTo>
                    <a:lnTo>
                      <a:pt x="4194773" y="17860"/>
                    </a:lnTo>
                    <a:lnTo>
                      <a:pt x="4195377" y="16868"/>
                    </a:lnTo>
                    <a:lnTo>
                      <a:pt x="4196538" y="9298"/>
                    </a:lnTo>
                    <a:lnTo>
                      <a:pt x="4187656" y="17860"/>
                    </a:lnTo>
                    <a:lnTo>
                      <a:pt x="4205515" y="0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1" name="SMARTInkShape-76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3812977" y="428625"/>
                <a:ext cx="17860" cy="267892"/>
              </a:xfrm>
              <a:custGeom>
                <a:avLst/>
                <a:gdLst/>
                <a:ahLst/>
                <a:cxnLst/>
                <a:rect l="0" t="0" r="0" b="0"/>
                <a:pathLst>
                  <a:path w="17860" h="267892">
                    <a:moveTo>
                      <a:pt x="0" y="0"/>
                    </a:moveTo>
                    <a:lnTo>
                      <a:pt x="0" y="39902"/>
                    </a:lnTo>
                    <a:lnTo>
                      <a:pt x="2645" y="65392"/>
                    </a:lnTo>
                    <a:lnTo>
                      <a:pt x="8377" y="109271"/>
                    </a:lnTo>
                    <a:lnTo>
                      <a:pt x="8856" y="151091"/>
                    </a:lnTo>
                    <a:lnTo>
                      <a:pt x="8926" y="194574"/>
                    </a:lnTo>
                    <a:lnTo>
                      <a:pt x="9921" y="229076"/>
                    </a:lnTo>
                    <a:lnTo>
                      <a:pt x="17031" y="255059"/>
                    </a:lnTo>
                    <a:lnTo>
                      <a:pt x="17859" y="267891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2" name="SMARTInkShape-77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421222" y="53578"/>
                <a:ext cx="140235" cy="151682"/>
              </a:xfrm>
              <a:custGeom>
                <a:avLst/>
                <a:gdLst/>
                <a:ahLst/>
                <a:cxnLst/>
                <a:rect l="0" t="0" r="0" b="0"/>
                <a:pathLst>
                  <a:path w="140235" h="151682">
                    <a:moveTo>
                      <a:pt x="52301" y="0"/>
                    </a:moveTo>
                    <a:lnTo>
                      <a:pt x="52301" y="16509"/>
                    </a:lnTo>
                    <a:lnTo>
                      <a:pt x="44613" y="25429"/>
                    </a:lnTo>
                    <a:lnTo>
                      <a:pt x="38999" y="26386"/>
                    </a:lnTo>
                    <a:lnTo>
                      <a:pt x="37480" y="27513"/>
                    </a:lnTo>
                    <a:lnTo>
                      <a:pt x="35792" y="31410"/>
                    </a:lnTo>
                    <a:lnTo>
                      <a:pt x="34350" y="32846"/>
                    </a:lnTo>
                    <a:lnTo>
                      <a:pt x="25427" y="36459"/>
                    </a:lnTo>
                    <a:lnTo>
                      <a:pt x="12245" y="49011"/>
                    </a:lnTo>
                    <a:lnTo>
                      <a:pt x="9694" y="54194"/>
                    </a:lnTo>
                    <a:lnTo>
                      <a:pt x="6930" y="68542"/>
                    </a:lnTo>
                    <a:lnTo>
                      <a:pt x="638" y="80383"/>
                    </a:lnTo>
                    <a:lnTo>
                      <a:pt x="0" y="83355"/>
                    </a:lnTo>
                    <a:lnTo>
                      <a:pt x="567" y="86328"/>
                    </a:lnTo>
                    <a:lnTo>
                      <a:pt x="5959" y="98228"/>
                    </a:lnTo>
                    <a:lnTo>
                      <a:pt x="9797" y="109803"/>
                    </a:lnTo>
                    <a:lnTo>
                      <a:pt x="17218" y="123154"/>
                    </a:lnTo>
                    <a:lnTo>
                      <a:pt x="28615" y="136554"/>
                    </a:lnTo>
                    <a:lnTo>
                      <a:pt x="37144" y="140066"/>
                    </a:lnTo>
                    <a:lnTo>
                      <a:pt x="79220" y="150399"/>
                    </a:lnTo>
                    <a:lnTo>
                      <a:pt x="99676" y="151681"/>
                    </a:lnTo>
                    <a:lnTo>
                      <a:pt x="105769" y="149104"/>
                    </a:lnTo>
                    <a:lnTo>
                      <a:pt x="111783" y="145644"/>
                    </a:lnTo>
                    <a:lnTo>
                      <a:pt x="117764" y="144106"/>
                    </a:lnTo>
                    <a:lnTo>
                      <a:pt x="119756" y="142703"/>
                    </a:lnTo>
                    <a:lnTo>
                      <a:pt x="121083" y="140776"/>
                    </a:lnTo>
                    <a:lnTo>
                      <a:pt x="121969" y="138499"/>
                    </a:lnTo>
                    <a:lnTo>
                      <a:pt x="123551" y="136981"/>
                    </a:lnTo>
                    <a:lnTo>
                      <a:pt x="127955" y="135295"/>
                    </a:lnTo>
                    <a:lnTo>
                      <a:pt x="129526" y="133853"/>
                    </a:lnTo>
                    <a:lnTo>
                      <a:pt x="139553" y="115906"/>
                    </a:lnTo>
                    <a:lnTo>
                      <a:pt x="140234" y="112990"/>
                    </a:lnTo>
                    <a:lnTo>
                      <a:pt x="139697" y="110053"/>
                    </a:lnTo>
                    <a:lnTo>
                      <a:pt x="134351" y="98211"/>
                    </a:lnTo>
                    <a:lnTo>
                      <a:pt x="131742" y="74414"/>
                    </a:lnTo>
                    <a:lnTo>
                      <a:pt x="105812" y="36271"/>
                    </a:lnTo>
                    <a:lnTo>
                      <a:pt x="100889" y="30011"/>
                    </a:lnTo>
                    <a:lnTo>
                      <a:pt x="98700" y="23922"/>
                    </a:lnTo>
                    <a:lnTo>
                      <a:pt x="97125" y="21901"/>
                    </a:lnTo>
                    <a:lnTo>
                      <a:pt x="71892" y="1656"/>
                    </a:lnTo>
                    <a:lnTo>
                      <a:pt x="68285" y="736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3" name="SMARTInkShape-78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777258" y="178594"/>
                <a:ext cx="17860" cy="116087"/>
              </a:xfrm>
              <a:custGeom>
                <a:avLst/>
                <a:gdLst/>
                <a:ahLst/>
                <a:cxnLst/>
                <a:rect l="0" t="0" r="0" b="0"/>
                <a:pathLst>
                  <a:path w="17860" h="116087">
                    <a:moveTo>
                      <a:pt x="0" y="0"/>
                    </a:moveTo>
                    <a:lnTo>
                      <a:pt x="0" y="29811"/>
                    </a:lnTo>
                    <a:lnTo>
                      <a:pt x="8684" y="74353"/>
                    </a:lnTo>
                    <a:lnTo>
                      <a:pt x="8920" y="101084"/>
                    </a:lnTo>
                    <a:lnTo>
                      <a:pt x="9915" y="103108"/>
                    </a:lnTo>
                    <a:lnTo>
                      <a:pt x="11571" y="104457"/>
                    </a:lnTo>
                    <a:lnTo>
                      <a:pt x="13667" y="105357"/>
                    </a:lnTo>
                    <a:lnTo>
                      <a:pt x="14072" y="106949"/>
                    </a:lnTo>
                    <a:lnTo>
                      <a:pt x="11877" y="111363"/>
                    </a:lnTo>
                    <a:lnTo>
                      <a:pt x="11887" y="112938"/>
                    </a:lnTo>
                    <a:lnTo>
                      <a:pt x="12885" y="113987"/>
                    </a:lnTo>
                    <a:lnTo>
                      <a:pt x="16877" y="115671"/>
                    </a:lnTo>
                    <a:lnTo>
                      <a:pt x="12520" y="116004"/>
                    </a:lnTo>
                    <a:lnTo>
                      <a:pt x="17859" y="116086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4" name="SMARTInkShape-79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5107780" y="455414"/>
                <a:ext cx="14653" cy="241103"/>
              </a:xfrm>
              <a:custGeom>
                <a:avLst/>
                <a:gdLst/>
                <a:ahLst/>
                <a:cxnLst/>
                <a:rect l="0" t="0" r="0" b="0"/>
                <a:pathLst>
                  <a:path w="14653" h="241103">
                    <a:moveTo>
                      <a:pt x="0" y="0"/>
                    </a:moveTo>
                    <a:lnTo>
                      <a:pt x="0" y="29812"/>
                    </a:lnTo>
                    <a:lnTo>
                      <a:pt x="2647" y="35739"/>
                    </a:lnTo>
                    <a:lnTo>
                      <a:pt x="4742" y="38709"/>
                    </a:lnTo>
                    <a:lnTo>
                      <a:pt x="7690" y="52370"/>
                    </a:lnTo>
                    <a:lnTo>
                      <a:pt x="9678" y="68626"/>
                    </a:lnTo>
                    <a:lnTo>
                      <a:pt x="13562" y="78787"/>
                    </a:lnTo>
                    <a:lnTo>
                      <a:pt x="13304" y="89918"/>
                    </a:lnTo>
                    <a:lnTo>
                      <a:pt x="11847" y="95664"/>
                    </a:lnTo>
                    <a:lnTo>
                      <a:pt x="11867" y="100487"/>
                    </a:lnTo>
                    <a:lnTo>
                      <a:pt x="14652" y="113007"/>
                    </a:lnTo>
                    <a:lnTo>
                      <a:pt x="9056" y="156914"/>
                    </a:lnTo>
                    <a:lnTo>
                      <a:pt x="9979" y="169951"/>
                    </a:lnTo>
                    <a:lnTo>
                      <a:pt x="14092" y="182868"/>
                    </a:lnTo>
                    <a:lnTo>
                      <a:pt x="8932" y="227492"/>
                    </a:lnTo>
                    <a:lnTo>
                      <a:pt x="8931" y="241102"/>
                    </a:ln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sp>
        <p:nvSpPr>
          <p:cNvPr id="96" name="SMARTInkShape-80"/>
          <p:cNvSpPr/>
          <p:nvPr>
            <p:custDataLst>
              <p:tags r:id="rId1"/>
            </p:custDataLst>
          </p:nvPr>
        </p:nvSpPr>
        <p:spPr bwMode="auto">
          <a:xfrm>
            <a:off x="2455664" y="1446608"/>
            <a:ext cx="53579" cy="526842"/>
          </a:xfrm>
          <a:custGeom>
            <a:avLst/>
            <a:gdLst/>
            <a:ahLst/>
            <a:cxnLst/>
            <a:rect l="0" t="0" r="0" b="0"/>
            <a:pathLst>
              <a:path w="53579" h="526842">
                <a:moveTo>
                  <a:pt x="53578" y="0"/>
                </a:moveTo>
                <a:lnTo>
                  <a:pt x="45890" y="7688"/>
                </a:lnTo>
                <a:lnTo>
                  <a:pt x="36568" y="41918"/>
                </a:lnTo>
                <a:lnTo>
                  <a:pt x="35752" y="74017"/>
                </a:lnTo>
                <a:lnTo>
                  <a:pt x="33088" y="80191"/>
                </a:lnTo>
                <a:lnTo>
                  <a:pt x="29589" y="86242"/>
                </a:lnTo>
                <a:lnTo>
                  <a:pt x="27619" y="96219"/>
                </a:lnTo>
                <a:lnTo>
                  <a:pt x="26043" y="110310"/>
                </a:lnTo>
                <a:lnTo>
                  <a:pt x="19133" y="127624"/>
                </a:lnTo>
                <a:lnTo>
                  <a:pt x="17874" y="169496"/>
                </a:lnTo>
                <a:lnTo>
                  <a:pt x="17860" y="211881"/>
                </a:lnTo>
                <a:lnTo>
                  <a:pt x="17859" y="254939"/>
                </a:lnTo>
                <a:lnTo>
                  <a:pt x="17859" y="297832"/>
                </a:lnTo>
                <a:lnTo>
                  <a:pt x="17859" y="342295"/>
                </a:lnTo>
                <a:lnTo>
                  <a:pt x="17859" y="385519"/>
                </a:lnTo>
                <a:lnTo>
                  <a:pt x="17859" y="403353"/>
                </a:lnTo>
                <a:lnTo>
                  <a:pt x="15214" y="410117"/>
                </a:lnTo>
                <a:lnTo>
                  <a:pt x="13119" y="413310"/>
                </a:lnTo>
                <a:lnTo>
                  <a:pt x="10171" y="427284"/>
                </a:lnTo>
                <a:lnTo>
                  <a:pt x="8951" y="469394"/>
                </a:lnTo>
                <a:lnTo>
                  <a:pt x="8939" y="475849"/>
                </a:lnTo>
                <a:lnTo>
                  <a:pt x="11580" y="482025"/>
                </a:lnTo>
                <a:lnTo>
                  <a:pt x="15069" y="488077"/>
                </a:lnTo>
                <a:lnTo>
                  <a:pt x="17614" y="499872"/>
                </a:lnTo>
                <a:lnTo>
                  <a:pt x="17751" y="504277"/>
                </a:lnTo>
                <a:lnTo>
                  <a:pt x="15165" y="509542"/>
                </a:lnTo>
                <a:lnTo>
                  <a:pt x="10161" y="516267"/>
                </a:lnTo>
                <a:lnTo>
                  <a:pt x="10743" y="517811"/>
                </a:lnTo>
                <a:lnTo>
                  <a:pt x="17851" y="526841"/>
                </a:lnTo>
                <a:lnTo>
                  <a:pt x="0" y="508992"/>
                </a:lnTo>
              </a:path>
            </a:pathLst>
          </a:cu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15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CFs: Initial Outlay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 Outlay (upfront @ time =0)</a:t>
            </a:r>
          </a:p>
          <a:p>
            <a:r>
              <a:rPr lang="en-US" dirty="0"/>
              <a:t>Typically negative</a:t>
            </a:r>
          </a:p>
          <a:p>
            <a:r>
              <a:rPr lang="en-US" dirty="0"/>
              <a:t>Cost to Acquire New Asset</a:t>
            </a:r>
          </a:p>
          <a:p>
            <a:r>
              <a:rPr lang="en-US" dirty="0"/>
              <a:t>Get it up &amp; running </a:t>
            </a:r>
          </a:p>
          <a:p>
            <a:pPr lvl="1"/>
            <a:r>
              <a:rPr lang="en-US" dirty="0"/>
              <a:t>Shipping, install, NWC</a:t>
            </a:r>
          </a:p>
          <a:p>
            <a:r>
              <a:rPr lang="en-US" dirty="0"/>
              <a:t>Get rid of old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263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CFs: Op. CFs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Income Statement adjusted for CF’s</a:t>
            </a:r>
          </a:p>
          <a:p>
            <a:r>
              <a:rPr lang="en-US" dirty="0"/>
              <a:t>@ end of each year project is operated</a:t>
            </a:r>
          </a:p>
          <a:p>
            <a:r>
              <a:rPr lang="en-US" dirty="0"/>
              <a:t>Typically positive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7490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81087"/>
          </a:xfrm>
        </p:spPr>
        <p:txBody>
          <a:bodyPr/>
          <a:lstStyle/>
          <a:p>
            <a:r>
              <a:rPr lang="en-US" dirty="0"/>
              <a:t>Relevant CFs: Op. CFs &amp; I/S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80010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Sales Revenues</a:t>
            </a:r>
          </a:p>
          <a:p>
            <a:r>
              <a:rPr lang="en-US" dirty="0"/>
              <a:t>- Costs &amp; Expenses</a:t>
            </a:r>
          </a:p>
          <a:p>
            <a:r>
              <a:rPr lang="en-US" dirty="0"/>
              <a:t>- Depreciation</a:t>
            </a:r>
          </a:p>
          <a:p>
            <a:r>
              <a:rPr lang="en-US" dirty="0"/>
              <a:t>= EBIT</a:t>
            </a:r>
          </a:p>
          <a:p>
            <a:r>
              <a:rPr lang="en-US" dirty="0"/>
              <a:t>-Taxes</a:t>
            </a:r>
          </a:p>
          <a:p>
            <a:r>
              <a:rPr lang="en-US" dirty="0"/>
              <a:t>= Net Income	or	NOPAT</a:t>
            </a:r>
          </a:p>
          <a:p>
            <a:r>
              <a:rPr lang="en-US" dirty="0"/>
              <a:t>+ Depreciation Addback</a:t>
            </a:r>
          </a:p>
          <a:p>
            <a:r>
              <a:rPr lang="en-US" dirty="0"/>
              <a:t>= Operating CF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87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81087"/>
          </a:xfrm>
        </p:spPr>
        <p:txBody>
          <a:bodyPr/>
          <a:lstStyle/>
          <a:p>
            <a:r>
              <a:rPr lang="en-US" dirty="0"/>
              <a:t>Relevant CFs: Terminal Year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Terminal </a:t>
            </a:r>
            <a:r>
              <a:rPr lang="en-US" dirty="0" err="1"/>
              <a:t>Yr</a:t>
            </a:r>
            <a:r>
              <a:rPr lang="en-US" dirty="0"/>
              <a:t> CF</a:t>
            </a:r>
          </a:p>
          <a:p>
            <a:pPr lvl="1"/>
            <a:r>
              <a:rPr lang="en-US" dirty="0"/>
              <a:t>@ end of FINAL year project is operated</a:t>
            </a:r>
          </a:p>
          <a:p>
            <a:pPr lvl="1"/>
            <a:r>
              <a:rPr lang="en-US" dirty="0"/>
              <a:t>Scrap or Salvaging Asset @ end of life</a:t>
            </a:r>
          </a:p>
          <a:p>
            <a:r>
              <a:rPr lang="en-US" dirty="0"/>
              <a:t>Return to original state (NWC addback)</a:t>
            </a:r>
          </a:p>
          <a:p>
            <a:r>
              <a:rPr lang="en-US" dirty="0"/>
              <a:t>On after-tax basis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801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81087"/>
          </a:xfrm>
        </p:spPr>
        <p:txBody>
          <a:bodyPr/>
          <a:lstStyle/>
          <a:p>
            <a:r>
              <a:rPr lang="en-US" dirty="0"/>
              <a:t>Relevant CFs: Terminal Year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574088" cy="4948237"/>
          </a:xfrm>
        </p:spPr>
        <p:txBody>
          <a:bodyPr/>
          <a:lstStyle/>
          <a:p>
            <a:r>
              <a:rPr lang="en-US" sz="2800" dirty="0"/>
              <a:t>Selling price or scrapping (salvage) value of used-up asset at end of life</a:t>
            </a:r>
          </a:p>
          <a:p>
            <a:pPr lvl="1"/>
            <a:r>
              <a:rPr lang="en-US" dirty="0"/>
              <a:t>- BV</a:t>
            </a:r>
          </a:p>
          <a:p>
            <a:pPr lvl="1"/>
            <a:r>
              <a:rPr lang="en-US" dirty="0"/>
              <a:t>= Taxable Gain/Loss</a:t>
            </a:r>
          </a:p>
          <a:p>
            <a:r>
              <a:rPr lang="en-US" sz="2800" dirty="0"/>
              <a:t>-/+ Tax Effect</a:t>
            </a:r>
          </a:p>
          <a:p>
            <a:r>
              <a:rPr lang="en-US" sz="2800" dirty="0"/>
              <a:t>+/- Adjustment for Return to normal (NWC recaptured)</a:t>
            </a:r>
          </a:p>
          <a:p>
            <a:r>
              <a:rPr lang="en-US" sz="2800" dirty="0"/>
              <a:t>= Total term </a:t>
            </a:r>
            <a:r>
              <a:rPr lang="en-US" sz="2800" dirty="0" err="1"/>
              <a:t>yr</a:t>
            </a:r>
            <a:r>
              <a:rPr lang="en-US" sz="2800" dirty="0"/>
              <a:t> CF</a:t>
            </a:r>
          </a:p>
          <a:p>
            <a:r>
              <a:rPr lang="en-US" sz="2800" dirty="0"/>
              <a:t>Then gets added to last Op CF to get net CF for final year.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678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81087"/>
          </a:xfrm>
        </p:spPr>
        <p:txBody>
          <a:bodyPr/>
          <a:lstStyle/>
          <a:p>
            <a:r>
              <a:rPr lang="en-US" dirty="0"/>
              <a:t>	MACRS Depreciation</a:t>
            </a:r>
            <a:br>
              <a:rPr lang="en-US" dirty="0"/>
            </a:br>
            <a:r>
              <a:rPr lang="en-US" sz="2400" dirty="0"/>
              <a:t>Modified Accelerated Cost Recovery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574088" cy="4948237"/>
          </a:xfrm>
        </p:spPr>
        <p:txBody>
          <a:bodyPr/>
          <a:lstStyle/>
          <a:p>
            <a:r>
              <a:rPr lang="en-US" sz="2800" dirty="0"/>
              <a:t>Established by Congress, implemented by IRS</a:t>
            </a:r>
          </a:p>
          <a:p>
            <a:r>
              <a:rPr lang="en-US" sz="2800" dirty="0"/>
              <a:t>Required to be used by IRS on business taxes</a:t>
            </a:r>
          </a:p>
          <a:p>
            <a:r>
              <a:rPr lang="en-US" sz="2800" dirty="0"/>
              <a:t>Creates groups of asset classes for depreciation purpose</a:t>
            </a:r>
          </a:p>
          <a:p>
            <a:r>
              <a:rPr lang="en-US" sz="2800" dirty="0"/>
              <a:t>Six classes based on different asset types</a:t>
            </a:r>
          </a:p>
          <a:p>
            <a:r>
              <a:rPr lang="en-US" sz="2800" dirty="0"/>
              <a:t>Full depreciation to zero value, no residual or salvage value permitted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814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810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	</a:t>
            </a:r>
            <a:r>
              <a:rPr lang="en-US" sz="3600" dirty="0"/>
              <a:t>MACRS Depreciation</a:t>
            </a:r>
            <a:br>
              <a:rPr lang="en-US" sz="3600" dirty="0"/>
            </a:br>
            <a:r>
              <a:rPr lang="en-US" sz="3600" dirty="0"/>
              <a:t>Asset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574088" cy="4948237"/>
          </a:xfrm>
        </p:spPr>
        <p:txBody>
          <a:bodyPr>
            <a:normAutofit/>
          </a:bodyPr>
          <a:lstStyle/>
          <a:p>
            <a:r>
              <a:rPr lang="en-US" sz="2800" dirty="0"/>
              <a:t>3-yr class</a:t>
            </a:r>
          </a:p>
          <a:p>
            <a:pPr lvl="1"/>
            <a:r>
              <a:rPr lang="en-US" dirty="0"/>
              <a:t>Certain special manufacturing tools </a:t>
            </a:r>
          </a:p>
          <a:p>
            <a:r>
              <a:rPr lang="en-US" sz="2800" dirty="0"/>
              <a:t>5- </a:t>
            </a:r>
            <a:r>
              <a:rPr lang="en-US" sz="2800" dirty="0" err="1"/>
              <a:t>yr</a:t>
            </a:r>
            <a:r>
              <a:rPr lang="en-US" sz="2800" dirty="0"/>
              <a:t> </a:t>
            </a:r>
          </a:p>
          <a:p>
            <a:pPr lvl="1"/>
            <a:r>
              <a:rPr lang="en-US" dirty="0"/>
              <a:t>Automobiles, light-duty trucks, computers, and certain special manufacturing equipment</a:t>
            </a:r>
          </a:p>
          <a:p>
            <a:r>
              <a:rPr lang="en-US" sz="2800" dirty="0"/>
              <a:t>7-yr </a:t>
            </a:r>
          </a:p>
          <a:p>
            <a:pPr lvl="1"/>
            <a:r>
              <a:rPr lang="en-US" dirty="0"/>
              <a:t>Most industrial equipment, office furniture, fixtures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663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7002462" cy="10810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	</a:t>
            </a:r>
            <a:r>
              <a:rPr lang="en-US" sz="3600" dirty="0"/>
              <a:t>MACRS Depreciation</a:t>
            </a:r>
            <a:br>
              <a:rPr lang="en-US" sz="3600" dirty="0"/>
            </a:br>
            <a:r>
              <a:rPr lang="en-US" sz="3600" dirty="0"/>
              <a:t>Asset Classes </a:t>
            </a:r>
            <a:r>
              <a:rPr lang="en-US" altLang="en-US" sz="3600" dirty="0"/>
              <a:t>(Continued)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574088" cy="4948237"/>
          </a:xfrm>
        </p:spPr>
        <p:txBody>
          <a:bodyPr>
            <a:normAutofit/>
          </a:bodyPr>
          <a:lstStyle/>
          <a:p>
            <a:r>
              <a:rPr lang="en-US" sz="2800" dirty="0"/>
              <a:t>10-yr</a:t>
            </a:r>
          </a:p>
          <a:p>
            <a:pPr lvl="1"/>
            <a:r>
              <a:rPr lang="en-US" dirty="0"/>
              <a:t>Certain longer-lived types of equipment</a:t>
            </a:r>
          </a:p>
          <a:p>
            <a:r>
              <a:rPr lang="en-US" sz="2800" dirty="0"/>
              <a:t>27.5-yr</a:t>
            </a:r>
          </a:p>
          <a:p>
            <a:pPr lvl="1"/>
            <a:r>
              <a:rPr lang="en-US" dirty="0"/>
              <a:t>Residential rental real property such as apartment buildings</a:t>
            </a:r>
          </a:p>
          <a:p>
            <a:r>
              <a:rPr lang="en-US" sz="2800" dirty="0"/>
              <a:t>39-yr</a:t>
            </a:r>
          </a:p>
          <a:p>
            <a:pPr lvl="1"/>
            <a:r>
              <a:rPr lang="en-US" dirty="0"/>
              <a:t>All nonresidential real property including commercial and industrial buildings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09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081087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r>
              <a:rPr lang="en-US" sz="3600" dirty="0"/>
              <a:t>MACRS Depreciation</a:t>
            </a:r>
            <a:br>
              <a:rPr lang="en-US" sz="3600" dirty="0"/>
            </a:br>
            <a:r>
              <a:rPr lang="en-US" sz="3600" dirty="0"/>
              <a:t>Asset Classes Depreciation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574088" cy="4948237"/>
          </a:xfrm>
        </p:spPr>
        <p:txBody>
          <a:bodyPr/>
          <a:lstStyle/>
          <a:p>
            <a:r>
              <a:rPr lang="en-US" sz="2800" dirty="0"/>
              <a:t>3-yr class</a:t>
            </a:r>
          </a:p>
          <a:p>
            <a:pPr lvl="1"/>
            <a:r>
              <a:rPr lang="en-US" dirty="0"/>
              <a:t>33%, 45% 15%, 7% </a:t>
            </a:r>
          </a:p>
          <a:p>
            <a:r>
              <a:rPr lang="en-US" sz="2800" dirty="0"/>
              <a:t>5- </a:t>
            </a:r>
            <a:r>
              <a:rPr lang="en-US" sz="2800" dirty="0" err="1"/>
              <a:t>yr</a:t>
            </a:r>
            <a:r>
              <a:rPr lang="en-US" sz="2800" dirty="0"/>
              <a:t> </a:t>
            </a:r>
          </a:p>
          <a:p>
            <a:pPr lvl="1"/>
            <a:r>
              <a:rPr lang="en-US" dirty="0"/>
              <a:t>20%, 32%, 19%, 12%, 11%, 6% </a:t>
            </a:r>
          </a:p>
          <a:p>
            <a:r>
              <a:rPr lang="en-US" sz="2800" dirty="0"/>
              <a:t>7-yr </a:t>
            </a:r>
          </a:p>
          <a:p>
            <a:pPr lvl="1"/>
            <a:r>
              <a:rPr lang="en-US" dirty="0"/>
              <a:t>14%, 25%, 17%, 13% 9%, 9%, 9%, 4% </a:t>
            </a:r>
          </a:p>
          <a:p>
            <a:r>
              <a:rPr lang="en-US" sz="2800" dirty="0"/>
              <a:t>Other classes: Consult tax professional or IRS !</a:t>
            </a:r>
          </a:p>
          <a:p>
            <a:r>
              <a:rPr lang="en-US" sz="2800" dirty="0"/>
              <a:t>NOTE: Land cannot be depreciated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C4538-A67B-4969-9EB2-FBFDFD052E5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493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32B24D-58AB-4A04-B80C-9EA2E135C403}" type="slidenum">
              <a:rPr lang="en-US" altLang="en-US">
                <a:latin typeface="Tahoma" panose="020B0604030504040204" pitchFamily="34" charset="0"/>
              </a:rPr>
              <a:pPr eaLnBrk="1" hangingPunct="1"/>
              <a:t>24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does “risk” mean in </a:t>
            </a:r>
            <a:br>
              <a:rPr lang="en-US" altLang="en-US"/>
            </a:br>
            <a:r>
              <a:rPr lang="en-US" altLang="en-US"/>
              <a:t>capital budgeting?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Uncertainty about a project’s future profitability or CFs.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Measured by </a:t>
            </a:r>
            <a:r>
              <a:rPr lang="el-GR" altLang="en-US" dirty="0"/>
              <a:t>σ</a:t>
            </a:r>
            <a:r>
              <a:rPr lang="en-US" altLang="en-US" baseline="-25000" dirty="0"/>
              <a:t>NPV</a:t>
            </a:r>
            <a:r>
              <a:rPr lang="en-US" altLang="en-US" dirty="0"/>
              <a:t>, </a:t>
            </a:r>
            <a:r>
              <a:rPr lang="el-GR" altLang="en-US" dirty="0"/>
              <a:t>σ</a:t>
            </a:r>
            <a:r>
              <a:rPr lang="en-US" altLang="en-US" baseline="-25000" dirty="0"/>
              <a:t>IRR</a:t>
            </a:r>
            <a:r>
              <a:rPr lang="en-US" altLang="en-US" dirty="0"/>
              <a:t>, beta.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Will taking on the project increase the firm’s and stockholders’ risk?</a:t>
            </a:r>
          </a:p>
        </p:txBody>
      </p:sp>
    </p:spTree>
    <p:extLst>
      <p:ext uri="{BB962C8B-B14F-4D97-AF65-F5344CB8AC3E}">
        <p14:creationId xmlns:p14="http://schemas.microsoft.com/office/powerpoint/2010/main" val="394841767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3BF04F4-2908-4933-9213-9487214A9C8B}" type="slidenum">
              <a:rPr lang="en-US" altLang="en-US">
                <a:latin typeface="Tahoma" panose="020B0604030504040204" pitchFamily="34" charset="0"/>
              </a:rPr>
              <a:pPr eaLnBrk="1" hangingPunct="1"/>
              <a:t>25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Is risk analysis based on historical data or subjective judgment?</a:t>
            </a:r>
          </a:p>
        </p:txBody>
      </p:sp>
      <p:sp>
        <p:nvSpPr>
          <p:cNvPr id="409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Can sometimes use historical data, but generally cannot.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So risk analysis in capital budgeting is usually based on subjective judgments.</a:t>
            </a:r>
          </a:p>
        </p:txBody>
      </p:sp>
    </p:spTree>
    <p:extLst>
      <p:ext uri="{BB962C8B-B14F-4D97-AF65-F5344CB8AC3E}">
        <p14:creationId xmlns:p14="http://schemas.microsoft.com/office/powerpoint/2010/main" val="422353089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22DD92-A74D-4586-8588-30B243C26CC2}" type="slidenum">
              <a:rPr lang="en-US" altLang="en-US">
                <a:latin typeface="Tahoma" panose="020B0604030504040204" pitchFamily="34" charset="0"/>
              </a:rPr>
              <a:pPr eaLnBrk="1" hangingPunct="1"/>
              <a:t>26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Risk Issues</a:t>
            </a:r>
          </a:p>
        </p:txBody>
      </p:sp>
      <p:sp>
        <p:nvSpPr>
          <p:cNvPr id="4198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Inflation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Forecast Bias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Real Options</a:t>
            </a:r>
          </a:p>
        </p:txBody>
      </p:sp>
    </p:spTree>
    <p:extLst>
      <p:ext uri="{BB962C8B-B14F-4D97-AF65-F5344CB8AC3E}">
        <p14:creationId xmlns:p14="http://schemas.microsoft.com/office/powerpoint/2010/main" val="142444434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05E28CE-4F7F-459C-BF2F-750409429BC7}" type="slidenum">
              <a:rPr lang="en-US" altLang="en-US">
                <a:latin typeface="Tahoma" panose="020B0604030504040204" pitchFamily="34" charset="0"/>
              </a:rPr>
              <a:pPr eaLnBrk="1" hangingPunct="1"/>
              <a:t>27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4579" name="Rectangle 205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Importance of including inflation when estimating CFs?</a:t>
            </a:r>
          </a:p>
        </p:txBody>
      </p:sp>
      <p:sp>
        <p:nvSpPr>
          <p:cNvPr id="24580" name="Rectangle 2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Nominal r &gt; real r.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Cost of capital, r, includes a premium for inflation.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Nominal CF &gt; real CF. 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Because nominal cash flows incorporate inflation.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If discount real CF with higher nominal r, then NPV estimate is too low. </a:t>
            </a:r>
          </a:p>
        </p:txBody>
      </p:sp>
      <p:sp>
        <p:nvSpPr>
          <p:cNvPr id="17413" name="Text Box 2055"/>
          <p:cNvSpPr txBox="1">
            <a:spLocks noChangeArrowheads="1"/>
          </p:cNvSpPr>
          <p:nvPr/>
        </p:nvSpPr>
        <p:spPr bwMode="auto">
          <a:xfrm>
            <a:off x="6858000" y="6096000"/>
            <a:ext cx="16764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latin typeface="+mn-lt"/>
              </a:rPr>
              <a:t>Continued…</a:t>
            </a:r>
          </a:p>
        </p:txBody>
      </p:sp>
    </p:spTree>
    <p:extLst>
      <p:ext uri="{BB962C8B-B14F-4D97-AF65-F5344CB8AC3E}">
        <p14:creationId xmlns:p14="http://schemas.microsoft.com/office/powerpoint/2010/main" val="95674664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0E8AFD-FA3A-4066-A8D1-848992F2CFF5}" type="slidenum">
              <a:rPr lang="en-US" altLang="en-US">
                <a:latin typeface="Tahoma" panose="020B0604030504040204" pitchFamily="34" charset="0"/>
              </a:rPr>
              <a:pPr eaLnBrk="1" hangingPunct="1"/>
              <a:t>28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5603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Inflation </a:t>
            </a:r>
            <a:r>
              <a:rPr lang="en-US" altLang="en-US" sz="2800" dirty="0"/>
              <a:t>(Continued)</a:t>
            </a:r>
          </a:p>
        </p:txBody>
      </p:sp>
      <p:sp>
        <p:nvSpPr>
          <p:cNvPr id="25604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Discount Nominal CF by nominal r%, and real CF by real r%.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More realistic to find nominal CF (which captures inflation) than to reduce  nominal r to a real r.</a:t>
            </a:r>
          </a:p>
        </p:txBody>
      </p:sp>
    </p:spTree>
    <p:extLst>
      <p:ext uri="{BB962C8B-B14F-4D97-AF65-F5344CB8AC3E}">
        <p14:creationId xmlns:p14="http://schemas.microsoft.com/office/powerpoint/2010/main" val="2680622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0E8AFD-FA3A-4066-A8D1-848992F2CFF5}" type="slidenum">
              <a:rPr lang="en-US" altLang="en-US">
                <a:latin typeface="Tahoma" panose="020B0604030504040204" pitchFamily="34" charset="0"/>
              </a:rPr>
              <a:pPr eaLnBrk="1" hangingPunct="1"/>
              <a:t>29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5603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Inflation &amp; Forecast Bias</a:t>
            </a:r>
            <a:endParaRPr lang="en-US" altLang="en-US" sz="2800" dirty="0"/>
          </a:p>
        </p:txBody>
      </p:sp>
      <p:sp>
        <p:nvSpPr>
          <p:cNvPr id="25604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152400" y="1828800"/>
            <a:ext cx="8802688" cy="48720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‘Glass half full’ or ‘Rose-colored glasses’ effect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Tendency to overstate Revs &amp; understate Costs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= overstatement of Op CFs &amp; overstatement (upward bias) of NPV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Ask ‘What is underlying Cause?’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Inherent advantage to long-run competition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or erosion of above normal profits</a:t>
            </a:r>
          </a:p>
        </p:txBody>
      </p:sp>
    </p:spTree>
    <p:extLst>
      <p:ext uri="{BB962C8B-B14F-4D97-AF65-F5344CB8AC3E}">
        <p14:creationId xmlns:p14="http://schemas.microsoft.com/office/powerpoint/2010/main" val="2467461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0E8AFD-FA3A-4066-A8D1-848992F2CFF5}" type="slidenum">
              <a:rPr lang="en-US" altLang="en-US">
                <a:latin typeface="Tahoma" panose="020B0604030504040204" pitchFamily="34" charset="0"/>
              </a:rPr>
              <a:pPr eaLnBrk="1" hangingPunct="1"/>
              <a:t>30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5603" name="Rectangle 102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Forecast Bias &amp; </a:t>
            </a:r>
            <a:br>
              <a:rPr lang="en-US" altLang="en-US" dirty="0"/>
            </a:br>
            <a:r>
              <a:rPr lang="en-US" altLang="en-US" dirty="0"/>
              <a:t>Additional Options</a:t>
            </a:r>
            <a:endParaRPr lang="en-US" altLang="en-US" sz="2800" dirty="0"/>
          </a:p>
        </p:txBody>
      </p:sp>
      <p:sp>
        <p:nvSpPr>
          <p:cNvPr id="25604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152400" y="1828800"/>
            <a:ext cx="8802688" cy="48720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Failure to recognize project’s </a:t>
            </a:r>
            <a:r>
              <a:rPr lang="en-US" altLang="en-US" dirty="0" err="1"/>
              <a:t>addt’l</a:t>
            </a:r>
            <a:r>
              <a:rPr lang="en-US" altLang="en-US" dirty="0"/>
              <a:t> options can cause projects profitability to be understated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Positive v. Negative Options 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&amp; ability to capture effects in NPV analysis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i.e. Abandon / Discontinue</a:t>
            </a:r>
          </a:p>
        </p:txBody>
      </p:sp>
    </p:spTree>
    <p:extLst>
      <p:ext uri="{BB962C8B-B14F-4D97-AF65-F5344CB8AC3E}">
        <p14:creationId xmlns:p14="http://schemas.microsoft.com/office/powerpoint/2010/main" val="1101661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B93F940-17D6-48F6-9AA4-DCF38DF8AC3B}" type="slidenum">
              <a:rPr lang="en-US" altLang="en-US">
                <a:latin typeface="Tahoma" panose="020B0604030504040204" pitchFamily="34" charset="0"/>
              </a:rPr>
              <a:pPr eaLnBrk="1" hangingPunct="1"/>
              <a:t>31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a real option?  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Real (additional) options exist when managers can influence the size and risk of a project’s cash flows by taking different actions during project’s life in response to changing market conditions.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Alert managers always look for real options in projects.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Smarter managers try to create real options.</a:t>
            </a:r>
          </a:p>
        </p:txBody>
      </p:sp>
    </p:spTree>
    <p:extLst>
      <p:ext uri="{BB962C8B-B14F-4D97-AF65-F5344CB8AC3E}">
        <p14:creationId xmlns:p14="http://schemas.microsoft.com/office/powerpoint/2010/main" val="15084804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578510F-C5BC-4771-8991-F5A9D09B6DFF}" type="slidenum">
              <a:rPr lang="en-US" altLang="en-US">
                <a:latin typeface="Tahoma" panose="020B0604030504040204" pitchFamily="34" charset="0"/>
              </a:rPr>
              <a:pPr eaLnBrk="1" hangingPunct="1"/>
              <a:t>32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are some types of </a:t>
            </a:r>
            <a:br>
              <a:rPr lang="en-US" altLang="en-US"/>
            </a:br>
            <a:r>
              <a:rPr lang="en-US" altLang="en-US"/>
              <a:t>real options?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Investment timing options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Growth options 		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Expansion of existing product line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New products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New geographic markets</a:t>
            </a:r>
          </a:p>
        </p:txBody>
      </p:sp>
    </p:spTree>
    <p:extLst>
      <p:ext uri="{BB962C8B-B14F-4D97-AF65-F5344CB8AC3E}">
        <p14:creationId xmlns:p14="http://schemas.microsoft.com/office/powerpoint/2010/main" val="4178143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EC6FA5B-C8EA-48B0-B8A3-289BF39A9693}" type="slidenum">
              <a:rPr lang="en-US" altLang="en-US">
                <a:latin typeface="Tahoma" panose="020B0604030504040204" pitchFamily="34" charset="0"/>
              </a:rPr>
              <a:pPr eaLnBrk="1" hangingPunct="1"/>
              <a:t>33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Types of real options </a:t>
            </a:r>
            <a:r>
              <a:rPr lang="en-US" altLang="en-US" sz="3200"/>
              <a:t>(Continued)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Abandonment options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Contraction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Temporary suspension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Flexibility options</a:t>
            </a:r>
          </a:p>
        </p:txBody>
      </p:sp>
    </p:spTree>
    <p:extLst>
      <p:ext uri="{BB962C8B-B14F-4D97-AF65-F5344CB8AC3E}">
        <p14:creationId xmlns:p14="http://schemas.microsoft.com/office/powerpoint/2010/main" val="3956807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B93F940-17D6-48F6-9AA4-DCF38DF8AC3B}" type="slidenum">
              <a:rPr lang="en-US" altLang="en-US">
                <a:latin typeface="Tahoma" panose="020B0604030504040204" pitchFamily="34" charset="0"/>
              </a:rPr>
              <a:pPr eaLnBrk="1" hangingPunct="1"/>
              <a:t>34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Real options  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17713"/>
            <a:ext cx="8193088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Real options often improve size of expected cash flow, which is relatively easy to handle in DCF methods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But real options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Usually decrease project risk, meaning lower cost of capital should be used.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But problems arises in quantifying new WACC.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So, many firms either make a qualitative adjustment to WACC or use non-DCF valuation techniques similar to option pricing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751757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22DD92-A74D-4586-8588-30B243C26CC2}" type="slidenum">
              <a:rPr lang="en-US" altLang="en-US">
                <a:latin typeface="Tahoma" panose="020B0604030504040204" pitchFamily="34" charset="0"/>
              </a:rPr>
              <a:pPr eaLnBrk="1" hangingPunct="1"/>
              <a:t>35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3 types of risk relevant in capital budgeting?</a:t>
            </a:r>
          </a:p>
        </p:txBody>
      </p:sp>
      <p:sp>
        <p:nvSpPr>
          <p:cNvPr id="4198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Stand-alone risk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Corporate risk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Market (or beta) risk</a:t>
            </a:r>
          </a:p>
        </p:txBody>
      </p:sp>
    </p:spTree>
    <p:extLst>
      <p:ext uri="{BB962C8B-B14F-4D97-AF65-F5344CB8AC3E}">
        <p14:creationId xmlns:p14="http://schemas.microsoft.com/office/powerpoint/2010/main" val="78536097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0909375-E4D9-4E89-BFBF-D095233A0290}" type="slidenum">
              <a:rPr lang="en-US" altLang="en-US">
                <a:latin typeface="Tahoma" panose="020B0604030504040204" pitchFamily="34" charset="0"/>
              </a:rPr>
              <a:pPr eaLnBrk="1" hangingPunct="1"/>
              <a:t>36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301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Stand-Alone Risk</a:t>
            </a:r>
          </a:p>
        </p:txBody>
      </p:sp>
      <p:sp>
        <p:nvSpPr>
          <p:cNvPr id="4301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The project’s risk if it were the firm’s only asset and there were no shareholders.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Ignores both firm and shareholder diversification.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Measured by the </a:t>
            </a:r>
            <a:r>
              <a:rPr lang="el-GR" altLang="en-US"/>
              <a:t>σ</a:t>
            </a:r>
            <a:r>
              <a:rPr lang="en-US" altLang="en-US"/>
              <a:t> or CV of NPV, IRR, or MIRR.</a:t>
            </a:r>
          </a:p>
        </p:txBody>
      </p:sp>
    </p:spTree>
    <p:extLst>
      <p:ext uri="{BB962C8B-B14F-4D97-AF65-F5344CB8AC3E}">
        <p14:creationId xmlns:p14="http://schemas.microsoft.com/office/powerpoint/2010/main" val="363083496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3E0B28-49AC-4C14-A617-079C2B71599F}" type="slidenum">
              <a:rPr lang="en-US" altLang="en-US">
                <a:latin typeface="Tahoma" panose="020B0604030504040204" pitchFamily="34" charset="0"/>
              </a:rPr>
              <a:pPr eaLnBrk="1" hangingPunct="1"/>
              <a:t>37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44035" name="Group 15"/>
          <p:cNvGrpSpPr>
            <a:grpSpLocks/>
          </p:cNvGrpSpPr>
          <p:nvPr/>
        </p:nvGrpSpPr>
        <p:grpSpPr bwMode="auto">
          <a:xfrm>
            <a:off x="1106488" y="2492375"/>
            <a:ext cx="6959600" cy="3576638"/>
            <a:chOff x="697" y="1570"/>
            <a:chExt cx="4384" cy="2253"/>
          </a:xfrm>
        </p:grpSpPr>
        <p:sp>
          <p:nvSpPr>
            <p:cNvPr id="44037" name="Line 2"/>
            <p:cNvSpPr>
              <a:spLocks noChangeShapeType="1"/>
            </p:cNvSpPr>
            <p:nvPr/>
          </p:nvSpPr>
          <p:spPr bwMode="auto">
            <a:xfrm flipV="1">
              <a:off x="2889" y="2642"/>
              <a:ext cx="0" cy="8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8" name="Line 3"/>
            <p:cNvSpPr>
              <a:spLocks noChangeShapeType="1"/>
            </p:cNvSpPr>
            <p:nvPr/>
          </p:nvSpPr>
          <p:spPr bwMode="auto">
            <a:xfrm>
              <a:off x="1401" y="1570"/>
              <a:ext cx="0" cy="18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9" name="Line 4"/>
            <p:cNvSpPr>
              <a:spLocks noChangeShapeType="1"/>
            </p:cNvSpPr>
            <p:nvPr/>
          </p:nvSpPr>
          <p:spPr bwMode="auto">
            <a:xfrm>
              <a:off x="697" y="3474"/>
              <a:ext cx="4384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3" name="Rectangle 5"/>
            <p:cNvSpPr>
              <a:spLocks noChangeArrowheads="1"/>
            </p:cNvSpPr>
            <p:nvPr/>
          </p:nvSpPr>
          <p:spPr bwMode="auto">
            <a:xfrm>
              <a:off x="1296" y="3456"/>
              <a:ext cx="2091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3200" dirty="0">
                  <a:latin typeface="+mn-lt"/>
                </a:rPr>
                <a:t>0		E(NPV)</a:t>
              </a: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3072" y="1660"/>
              <a:ext cx="2009" cy="9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800" dirty="0">
                  <a:latin typeface="+mn-lt"/>
                </a:rPr>
                <a:t>Flatter distribution,</a:t>
              </a:r>
            </a:p>
            <a:p>
              <a:pPr eaLnBrk="0" hangingPunct="0">
                <a:defRPr/>
              </a:pPr>
              <a:r>
                <a:rPr lang="en-US" sz="2800" dirty="0">
                  <a:latin typeface="+mn-lt"/>
                </a:rPr>
                <a:t>larger </a:t>
              </a:r>
              <a:r>
                <a:rPr lang="en-US" sz="3200" dirty="0">
                  <a:latin typeface="+mn-lt"/>
                  <a:sym typeface="Symbol"/>
                </a:rPr>
                <a:t></a:t>
              </a:r>
              <a:r>
                <a:rPr lang="en-US" sz="2800" dirty="0">
                  <a:latin typeface="+mn-lt"/>
                </a:rPr>
                <a:t>, larger</a:t>
              </a:r>
            </a:p>
            <a:p>
              <a:pPr eaLnBrk="0" hangingPunct="0">
                <a:defRPr/>
              </a:pPr>
              <a:r>
                <a:rPr lang="en-US" sz="2800" dirty="0">
                  <a:latin typeface="+mn-lt"/>
                </a:rPr>
                <a:t>stand-alone risk.</a:t>
              </a:r>
            </a:p>
          </p:txBody>
        </p:sp>
        <p:graphicFrame>
          <p:nvGraphicFramePr>
            <p:cNvPr id="44042" name="Object 102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729" y="2592"/>
            <a:ext cx="4320" cy="6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3795713" imgH="1281113" progId="">
                    <p:embed/>
                  </p:oleObj>
                </mc:Choice>
                <mc:Fallback>
                  <p:oleObj name="VISIO" r:id="rId3" imgW="3795713" imgH="1281113" progId="">
                    <p:embed/>
                    <p:pic>
                      <p:nvPicPr>
                        <p:cNvPr id="44042" name="Object 1024">
                          <a:hlinkClick r:id="" action="ppaction://ole?verb=0"/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" y="2592"/>
                          <a:ext cx="4320" cy="6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3" name="Rectangle 10"/>
            <p:cNvSpPr>
              <a:spLocks noChangeArrowheads="1"/>
            </p:cNvSpPr>
            <p:nvPr/>
          </p:nvSpPr>
          <p:spPr bwMode="auto">
            <a:xfrm>
              <a:off x="4368" y="3447"/>
              <a:ext cx="647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/>
                <a:t>NPV</a:t>
              </a:r>
            </a:p>
          </p:txBody>
        </p:sp>
      </p:grpSp>
      <p:sp>
        <p:nvSpPr>
          <p:cNvPr id="44036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Probability Density</a:t>
            </a:r>
          </a:p>
        </p:txBody>
      </p:sp>
    </p:spTree>
    <p:extLst>
      <p:ext uri="{BB962C8B-B14F-4D97-AF65-F5344CB8AC3E}">
        <p14:creationId xmlns:p14="http://schemas.microsoft.com/office/powerpoint/2010/main" val="389777662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476DEC-89B8-4CAE-8845-5E46B9C2C81A}" type="slidenum">
              <a:rPr lang="en-US" altLang="en-US">
                <a:latin typeface="Tahoma" panose="020B0604030504040204" pitchFamily="34" charset="0"/>
              </a:rPr>
              <a:pPr eaLnBrk="1" hangingPunct="1"/>
              <a:t>38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5059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Corporate Risk</a:t>
            </a:r>
          </a:p>
        </p:txBody>
      </p:sp>
      <p:sp>
        <p:nvSpPr>
          <p:cNvPr id="45060" name="Rectangle 1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Reflects the project’s effect on corporate earnings stability.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Considers firm’s other assets (diversification within firm).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Depends on project’s </a:t>
            </a:r>
            <a:r>
              <a:rPr lang="el-GR" altLang="en-US" sz="2800"/>
              <a:t>σ</a:t>
            </a:r>
            <a:r>
              <a:rPr lang="en-US" altLang="en-US" sz="2800"/>
              <a:t>, and its correlation, </a:t>
            </a:r>
            <a:r>
              <a:rPr lang="el-GR" altLang="en-US" sz="2800"/>
              <a:t>ρ</a:t>
            </a:r>
            <a:r>
              <a:rPr lang="en-US" altLang="en-US" sz="2800"/>
              <a:t>, with returns on firm’s other assets.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Measured by the project’s corporate beta.</a:t>
            </a:r>
          </a:p>
        </p:txBody>
      </p:sp>
    </p:spTree>
    <p:extLst>
      <p:ext uri="{BB962C8B-B14F-4D97-AF65-F5344CB8AC3E}">
        <p14:creationId xmlns:p14="http://schemas.microsoft.com/office/powerpoint/2010/main" val="423008646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A7E360-39EA-4334-9420-6137267EEFCE}" type="slidenum">
              <a:rPr lang="en-US" altLang="en-US">
                <a:latin typeface="Tahoma" panose="020B0604030504040204" pitchFamily="34" charset="0"/>
              </a:rPr>
              <a:pPr eaLnBrk="1" hangingPunct="1"/>
              <a:t>39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6083" name="Freeform 2"/>
          <p:cNvSpPr>
            <a:spLocks/>
          </p:cNvSpPr>
          <p:nvPr/>
        </p:nvSpPr>
        <p:spPr bwMode="auto">
          <a:xfrm>
            <a:off x="1273175" y="2973388"/>
            <a:ext cx="5645150" cy="3006725"/>
          </a:xfrm>
          <a:custGeom>
            <a:avLst/>
            <a:gdLst>
              <a:gd name="T0" fmla="*/ 0 w 3556"/>
              <a:gd name="T1" fmla="*/ 0 h 1894"/>
              <a:gd name="T2" fmla="*/ 0 w 3556"/>
              <a:gd name="T3" fmla="*/ 2147483647 h 1894"/>
              <a:gd name="T4" fmla="*/ 2147483647 w 3556"/>
              <a:gd name="T5" fmla="*/ 2147483647 h 1894"/>
              <a:gd name="T6" fmla="*/ 0 60000 65536"/>
              <a:gd name="T7" fmla="*/ 0 60000 65536"/>
              <a:gd name="T8" fmla="*/ 0 60000 65536"/>
              <a:gd name="T9" fmla="*/ 0 w 3556"/>
              <a:gd name="T10" fmla="*/ 0 h 1894"/>
              <a:gd name="T11" fmla="*/ 3556 w 3556"/>
              <a:gd name="T12" fmla="*/ 1894 h 18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6" h="1894">
                <a:moveTo>
                  <a:pt x="0" y="0"/>
                </a:moveTo>
                <a:lnTo>
                  <a:pt x="0" y="1893"/>
                </a:lnTo>
                <a:lnTo>
                  <a:pt x="3555" y="1893"/>
                </a:lnTo>
              </a:path>
            </a:pathLst>
          </a:custGeom>
          <a:noFill/>
          <a:ln w="508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4" name="Freeform 3"/>
          <p:cNvSpPr>
            <a:spLocks/>
          </p:cNvSpPr>
          <p:nvPr/>
        </p:nvSpPr>
        <p:spPr bwMode="auto">
          <a:xfrm>
            <a:off x="1273175" y="3441700"/>
            <a:ext cx="5224463" cy="2806700"/>
          </a:xfrm>
          <a:custGeom>
            <a:avLst/>
            <a:gdLst>
              <a:gd name="T0" fmla="*/ 0 w 3291"/>
              <a:gd name="T1" fmla="*/ 2147483647 h 1768"/>
              <a:gd name="T2" fmla="*/ 2147483647 w 3291"/>
              <a:gd name="T3" fmla="*/ 2147483647 h 1768"/>
              <a:gd name="T4" fmla="*/ 2147483647 w 3291"/>
              <a:gd name="T5" fmla="*/ 2147483647 h 1768"/>
              <a:gd name="T6" fmla="*/ 2147483647 w 3291"/>
              <a:gd name="T7" fmla="*/ 0 h 1768"/>
              <a:gd name="T8" fmla="*/ 0 60000 65536"/>
              <a:gd name="T9" fmla="*/ 0 60000 65536"/>
              <a:gd name="T10" fmla="*/ 0 60000 65536"/>
              <a:gd name="T11" fmla="*/ 0 60000 65536"/>
              <a:gd name="T12" fmla="*/ 0 w 3291"/>
              <a:gd name="T13" fmla="*/ 0 h 1768"/>
              <a:gd name="T14" fmla="*/ 3291 w 3291"/>
              <a:gd name="T15" fmla="*/ 1768 h 1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91" h="1768">
                <a:moveTo>
                  <a:pt x="0" y="1304"/>
                </a:moveTo>
                <a:lnTo>
                  <a:pt x="902" y="168"/>
                </a:lnTo>
                <a:lnTo>
                  <a:pt x="2282" y="1767"/>
                </a:lnTo>
                <a:lnTo>
                  <a:pt x="3290" y="0"/>
                </a:lnTo>
              </a:path>
            </a:pathLst>
          </a:custGeom>
          <a:noFill/>
          <a:ln w="5080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5" name="Freeform 4"/>
          <p:cNvSpPr>
            <a:spLocks/>
          </p:cNvSpPr>
          <p:nvPr/>
        </p:nvSpPr>
        <p:spPr bwMode="auto">
          <a:xfrm>
            <a:off x="1273175" y="3308350"/>
            <a:ext cx="5308600" cy="1470025"/>
          </a:xfrm>
          <a:custGeom>
            <a:avLst/>
            <a:gdLst>
              <a:gd name="T0" fmla="*/ 0 w 3344"/>
              <a:gd name="T1" fmla="*/ 0 h 926"/>
              <a:gd name="T2" fmla="*/ 2147483647 w 3344"/>
              <a:gd name="T3" fmla="*/ 2147483647 h 926"/>
              <a:gd name="T4" fmla="*/ 2147483647 w 3344"/>
              <a:gd name="T5" fmla="*/ 2147483647 h 926"/>
              <a:gd name="T6" fmla="*/ 2147483647 w 3344"/>
              <a:gd name="T7" fmla="*/ 2147483647 h 926"/>
              <a:gd name="T8" fmla="*/ 0 60000 65536"/>
              <a:gd name="T9" fmla="*/ 0 60000 65536"/>
              <a:gd name="T10" fmla="*/ 0 60000 65536"/>
              <a:gd name="T11" fmla="*/ 0 60000 65536"/>
              <a:gd name="T12" fmla="*/ 0 w 3344"/>
              <a:gd name="T13" fmla="*/ 0 h 926"/>
              <a:gd name="T14" fmla="*/ 3344 w 3344"/>
              <a:gd name="T15" fmla="*/ 926 h 9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344" h="926">
                <a:moveTo>
                  <a:pt x="0" y="0"/>
                </a:moveTo>
                <a:lnTo>
                  <a:pt x="1114" y="925"/>
                </a:lnTo>
                <a:lnTo>
                  <a:pt x="2335" y="336"/>
                </a:lnTo>
                <a:lnTo>
                  <a:pt x="3343" y="883"/>
                </a:lnTo>
              </a:path>
            </a:pathLst>
          </a:custGeom>
          <a:noFill/>
          <a:ln w="5080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86" name="Freeform 5"/>
          <p:cNvSpPr>
            <a:spLocks/>
          </p:cNvSpPr>
          <p:nvPr/>
        </p:nvSpPr>
        <p:spPr bwMode="auto">
          <a:xfrm>
            <a:off x="1357313" y="3841750"/>
            <a:ext cx="5140325" cy="603250"/>
          </a:xfrm>
          <a:custGeom>
            <a:avLst/>
            <a:gdLst>
              <a:gd name="T0" fmla="*/ 0 w 3238"/>
              <a:gd name="T1" fmla="*/ 0 h 380"/>
              <a:gd name="T2" fmla="*/ 2147483647 w 3238"/>
              <a:gd name="T3" fmla="*/ 2147483647 h 380"/>
              <a:gd name="T4" fmla="*/ 2147483647 w 3238"/>
              <a:gd name="T5" fmla="*/ 2147483647 h 380"/>
              <a:gd name="T6" fmla="*/ 2147483647 w 3238"/>
              <a:gd name="T7" fmla="*/ 2147483647 h 380"/>
              <a:gd name="T8" fmla="*/ 0 60000 65536"/>
              <a:gd name="T9" fmla="*/ 0 60000 65536"/>
              <a:gd name="T10" fmla="*/ 0 60000 65536"/>
              <a:gd name="T11" fmla="*/ 0 60000 65536"/>
              <a:gd name="T12" fmla="*/ 0 w 3238"/>
              <a:gd name="T13" fmla="*/ 0 h 380"/>
              <a:gd name="T14" fmla="*/ 3238 w 3238"/>
              <a:gd name="T15" fmla="*/ 380 h 3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38" h="380">
                <a:moveTo>
                  <a:pt x="0" y="0"/>
                </a:moveTo>
                <a:lnTo>
                  <a:pt x="1008" y="379"/>
                </a:lnTo>
                <a:lnTo>
                  <a:pt x="2229" y="211"/>
                </a:lnTo>
                <a:lnTo>
                  <a:pt x="3237" y="337"/>
                </a:lnTo>
              </a:path>
            </a:pathLst>
          </a:custGeom>
          <a:noFill/>
          <a:ln w="7620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Rectangle 6"/>
          <p:cNvSpPr>
            <a:spLocks noChangeArrowheads="1"/>
          </p:cNvSpPr>
          <p:nvPr/>
        </p:nvSpPr>
        <p:spPr bwMode="auto">
          <a:xfrm>
            <a:off x="304800" y="2362200"/>
            <a:ext cx="1951038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latin typeface="+mn-lt"/>
              </a:rPr>
              <a:t>Profitability</a:t>
            </a:r>
          </a:p>
        </p:txBody>
      </p:sp>
      <p:sp>
        <p:nvSpPr>
          <p:cNvPr id="37896" name="Rectangle 7"/>
          <p:cNvSpPr>
            <a:spLocks noChangeArrowheads="1"/>
          </p:cNvSpPr>
          <p:nvPr/>
        </p:nvSpPr>
        <p:spPr bwMode="auto">
          <a:xfrm>
            <a:off x="930275" y="6015038"/>
            <a:ext cx="382588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latin typeface="+mn-lt"/>
              </a:rPr>
              <a:t>0</a:t>
            </a:r>
          </a:p>
        </p:txBody>
      </p:sp>
      <p:sp>
        <p:nvSpPr>
          <p:cNvPr id="37897" name="Rectangle 8"/>
          <p:cNvSpPr>
            <a:spLocks noChangeArrowheads="1"/>
          </p:cNvSpPr>
          <p:nvPr/>
        </p:nvSpPr>
        <p:spPr bwMode="auto">
          <a:xfrm>
            <a:off x="5837238" y="6015038"/>
            <a:ext cx="1036637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latin typeface="+mn-lt"/>
              </a:rPr>
              <a:t>Years</a:t>
            </a:r>
          </a:p>
        </p:txBody>
      </p:sp>
      <p:sp>
        <p:nvSpPr>
          <p:cNvPr id="37898" name="Rectangle 9"/>
          <p:cNvSpPr>
            <a:spLocks noChangeArrowheads="1"/>
          </p:cNvSpPr>
          <p:nvPr/>
        </p:nvSpPr>
        <p:spPr bwMode="auto">
          <a:xfrm>
            <a:off x="6657975" y="3114675"/>
            <a:ext cx="1639888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solidFill>
                  <a:schemeClr val="tx2"/>
                </a:solidFill>
                <a:latin typeface="+mn-lt"/>
              </a:rPr>
              <a:t>Project X</a:t>
            </a:r>
          </a:p>
        </p:txBody>
      </p:sp>
      <p:sp>
        <p:nvSpPr>
          <p:cNvPr id="37899" name="Rectangle 10"/>
          <p:cNvSpPr>
            <a:spLocks noChangeArrowheads="1"/>
          </p:cNvSpPr>
          <p:nvPr/>
        </p:nvSpPr>
        <p:spPr bwMode="auto">
          <a:xfrm>
            <a:off x="6489700" y="4049713"/>
            <a:ext cx="1762125" cy="520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latin typeface="+mn-lt"/>
              </a:rPr>
              <a:t>Total</a:t>
            </a:r>
            <a:r>
              <a:rPr lang="en-US" sz="2800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sz="2800" dirty="0">
                <a:latin typeface="+mn-lt"/>
              </a:rPr>
              <a:t>Firm</a:t>
            </a:r>
          </a:p>
        </p:txBody>
      </p:sp>
      <p:sp>
        <p:nvSpPr>
          <p:cNvPr id="37900" name="Rectangle 11"/>
          <p:cNvSpPr>
            <a:spLocks noChangeArrowheads="1"/>
          </p:cNvSpPr>
          <p:nvPr/>
        </p:nvSpPr>
        <p:spPr bwMode="auto">
          <a:xfrm>
            <a:off x="6057900" y="4637088"/>
            <a:ext cx="2544763" cy="5159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2800" dirty="0">
                <a:latin typeface="+mn-lt"/>
              </a:rPr>
              <a:t>Rest  of Firm</a:t>
            </a:r>
          </a:p>
        </p:txBody>
      </p:sp>
      <p:sp>
        <p:nvSpPr>
          <p:cNvPr id="46093" name="Rectangle 15"/>
          <p:cNvSpPr>
            <a:spLocks noGrp="1" noChangeArrowheads="1"/>
          </p:cNvSpPr>
          <p:nvPr>
            <p:ph type="title"/>
          </p:nvPr>
        </p:nvSpPr>
        <p:spPr>
          <a:xfrm>
            <a:off x="762000" y="214313"/>
            <a:ext cx="8077200" cy="1462087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/>
              <a:t>Project X is negatively correlated to firm’s other assets, so has big diversification benefits  </a:t>
            </a:r>
          </a:p>
        </p:txBody>
      </p:sp>
      <p:sp>
        <p:nvSpPr>
          <p:cNvPr id="37902" name="Text Box 16"/>
          <p:cNvSpPr txBox="1">
            <a:spLocks noChangeArrowheads="1"/>
          </p:cNvSpPr>
          <p:nvPr/>
        </p:nvSpPr>
        <p:spPr bwMode="auto">
          <a:xfrm>
            <a:off x="3505200" y="2362200"/>
            <a:ext cx="3886200" cy="915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dirty="0">
                <a:latin typeface="+mn-lt"/>
              </a:rPr>
              <a:t>If r = 1.0, no diversification benefits. If r &lt; 1.0, some diversification benefits.</a:t>
            </a:r>
          </a:p>
        </p:txBody>
      </p:sp>
    </p:spTree>
    <p:extLst>
      <p:ext uri="{BB962C8B-B14F-4D97-AF65-F5344CB8AC3E}">
        <p14:creationId xmlns:p14="http://schemas.microsoft.com/office/powerpoint/2010/main" val="406122057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DC6C7E-A77A-4D32-BBB0-A6A42B216292}" type="slidenum">
              <a:rPr lang="en-US" altLang="en-US">
                <a:latin typeface="Tahoma" panose="020B0604030504040204" pitchFamily="34" charset="0"/>
              </a:rPr>
              <a:pPr eaLnBrk="1" hangingPunct="1"/>
              <a:t>40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Market Risk</a:t>
            </a:r>
          </a:p>
        </p:txBody>
      </p:sp>
      <p:sp>
        <p:nvSpPr>
          <p:cNvPr id="4710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Reflects the project’s effect on a well-diversified stock portfolio.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Takes account of stockholders’ other assets.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Depends on project’s </a:t>
            </a:r>
            <a:r>
              <a:rPr lang="el-GR" altLang="en-US"/>
              <a:t>σ</a:t>
            </a:r>
            <a:r>
              <a:rPr lang="en-US" altLang="en-US"/>
              <a:t> and correlation with the stock market.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Measured by the project’s market beta.</a:t>
            </a:r>
          </a:p>
        </p:txBody>
      </p:sp>
    </p:spTree>
    <p:extLst>
      <p:ext uri="{BB962C8B-B14F-4D97-AF65-F5344CB8AC3E}">
        <p14:creationId xmlns:p14="http://schemas.microsoft.com/office/powerpoint/2010/main" val="128152359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662277-1EC5-4FC4-9B6E-2902E7CAB256}" type="slidenum">
              <a:rPr lang="en-US" altLang="en-US">
                <a:latin typeface="Tahoma" panose="020B0604030504040204" pitchFamily="34" charset="0"/>
              </a:rPr>
              <a:pPr eaLnBrk="1" hangingPunct="1"/>
              <a:t>41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813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is each type of risk used?</a:t>
            </a:r>
          </a:p>
        </p:txBody>
      </p:sp>
      <p:sp>
        <p:nvSpPr>
          <p:cNvPr id="4813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Market risk is theoretically best in most situations.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However, creditors, customers, suppliers, and employees are more affected by corporate risk.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Therefore, corporate risk is also relevant.</a:t>
            </a:r>
          </a:p>
        </p:txBody>
      </p:sp>
      <p:sp>
        <p:nvSpPr>
          <p:cNvPr id="39941" name="Text Box 4"/>
          <p:cNvSpPr txBox="1">
            <a:spLocks noChangeArrowheads="1"/>
          </p:cNvSpPr>
          <p:nvPr/>
        </p:nvSpPr>
        <p:spPr bwMode="auto">
          <a:xfrm>
            <a:off x="6781800" y="5867400"/>
            <a:ext cx="175260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dirty="0">
                <a:latin typeface="+mn-lt"/>
              </a:rPr>
              <a:t>Continued…</a:t>
            </a:r>
          </a:p>
        </p:txBody>
      </p:sp>
    </p:spTree>
    <p:extLst>
      <p:ext uri="{BB962C8B-B14F-4D97-AF65-F5344CB8AC3E}">
        <p14:creationId xmlns:p14="http://schemas.microsoft.com/office/powerpoint/2010/main" val="410614232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CBF6-7EA3-0B3C-6206-491D2CDC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How is each type of risk used? (Continued)</a:t>
            </a:r>
            <a:endParaRPr lang="en-US" dirty="0"/>
          </a:p>
        </p:txBody>
      </p:sp>
      <p:sp>
        <p:nvSpPr>
          <p:cNvPr id="49155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Stand-alone risk is easiest to measure, more intuitive.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Core projects are highly correlated with other assets, so stand-alone risk generally reflects corporate risk.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If the project is highly correlated with the economy, stand-alone risk also reflects market risk.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BE1407-4772-4FA0-881C-5E86A5FD50BB}" type="slidenum">
              <a:rPr lang="en-US" altLang="en-US">
                <a:latin typeface="Tahoma" panose="020B0604030504040204" pitchFamily="34" charset="0"/>
              </a:rPr>
              <a:pPr eaLnBrk="1" hangingPunct="1"/>
              <a:t>42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28421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288E036-AB33-4479-80DA-829DE415DBFA}" type="slidenum">
              <a:rPr lang="en-US" altLang="en-US">
                <a:latin typeface="Tahoma" panose="020B0604030504040204" pitchFamily="34" charset="0"/>
              </a:rPr>
              <a:pPr eaLnBrk="1" hangingPunct="1"/>
              <a:t>43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Another </a:t>
            </a:r>
            <a:r>
              <a:rPr lang="en-US" altLang="en-US"/>
              <a:t>Problem:</a:t>
            </a:r>
            <a:br>
              <a:rPr lang="en-US" altLang="en-US"/>
            </a:br>
            <a:r>
              <a:rPr lang="en-US" altLang="en-US"/>
              <a:t>Proposed </a:t>
            </a:r>
            <a:r>
              <a:rPr lang="en-US" altLang="en-US" dirty="0"/>
              <a:t>Project Data</a:t>
            </a:r>
          </a:p>
        </p:txBody>
      </p:sp>
      <p:sp>
        <p:nvSpPr>
          <p:cNvPr id="1946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$200,000 cost + $10,000 shipping + $30,000 installation.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Economic life = 4 years.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Salvage value = $25,000.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MACRS 3-year class.</a:t>
            </a:r>
          </a:p>
        </p:txBody>
      </p:sp>
      <p:sp>
        <p:nvSpPr>
          <p:cNvPr id="7173" name="Text Box 9"/>
          <p:cNvSpPr txBox="1">
            <a:spLocks noChangeArrowheads="1"/>
          </p:cNvSpPr>
          <p:nvPr/>
        </p:nvSpPr>
        <p:spPr bwMode="auto">
          <a:xfrm>
            <a:off x="6858000" y="6096000"/>
            <a:ext cx="167640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dirty="0">
                <a:latin typeface="+mn-lt"/>
              </a:rPr>
              <a:t>Continued…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CD5088-E10C-4707-922E-D0001C99FF39}" type="slidenum">
              <a:rPr lang="en-US" altLang="en-US">
                <a:latin typeface="Tahoma" panose="020B0604030504040204" pitchFamily="34" charset="0"/>
              </a:rPr>
              <a:pPr eaLnBrk="1" hangingPunct="1"/>
              <a:t>44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Project Data </a:t>
            </a:r>
            <a:r>
              <a:rPr lang="en-US" altLang="en-US" sz="3200"/>
              <a:t>(Continued)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Annual unit sales = 1,250.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Unit sales price = $200.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Unit costs = $100.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Net working capital: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NWC</a:t>
            </a:r>
            <a:r>
              <a:rPr lang="en-US" altLang="en-US" baseline="-25000"/>
              <a:t>t</a:t>
            </a:r>
            <a:r>
              <a:rPr lang="en-US" altLang="en-US"/>
              <a:t> = 12%(Sales</a:t>
            </a:r>
            <a:r>
              <a:rPr lang="en-US" altLang="en-US" baseline="-25000"/>
              <a:t>t+1</a:t>
            </a:r>
            <a:r>
              <a:rPr lang="en-US" altLang="en-US"/>
              <a:t>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Tax rate = 40%.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Project cost of capital = 10%.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DBCCC7F-91DE-4A76-94C3-98A5AA0F18E5}" type="slidenum">
              <a:rPr lang="en-US" altLang="en-US">
                <a:latin typeface="Tahoma" panose="020B0604030504040204" pitchFamily="34" charset="0"/>
              </a:rPr>
              <a:pPr eaLnBrk="1" hangingPunct="1"/>
              <a:t>45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1507" name="Rectangle 1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is an asset’s depreciable basis?</a:t>
            </a:r>
          </a:p>
        </p:txBody>
      </p:sp>
      <p:sp>
        <p:nvSpPr>
          <p:cNvPr id="14340" name="Text Box 14"/>
          <p:cNvSpPr txBox="1">
            <a:spLocks noChangeArrowheads="1"/>
          </p:cNvSpPr>
          <p:nvPr/>
        </p:nvSpPr>
        <p:spPr bwMode="auto">
          <a:xfrm>
            <a:off x="1905000" y="2743200"/>
            <a:ext cx="4267200" cy="329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  <a:defRPr/>
            </a:pPr>
            <a:r>
              <a:rPr lang="en-US" sz="3200" dirty="0">
                <a:latin typeface="+mn-lt"/>
              </a:rPr>
              <a:t>Basis = Cost         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  <a:defRPr/>
            </a:pPr>
            <a:r>
              <a:rPr lang="en-US" sz="3200" dirty="0">
                <a:latin typeface="+mn-lt"/>
              </a:rPr>
              <a:t>        + Shipping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  <a:defRPr/>
            </a:pPr>
            <a:r>
              <a:rPr lang="en-US" sz="3200" dirty="0">
                <a:latin typeface="+mn-lt"/>
              </a:rPr>
              <a:t>        </a:t>
            </a:r>
            <a:r>
              <a:rPr lang="en-US" sz="3200" u="sng" dirty="0">
                <a:latin typeface="+mn-lt"/>
              </a:rPr>
              <a:t>+ Installation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  <a:defRPr/>
            </a:pPr>
            <a:r>
              <a:rPr lang="en-US" sz="3200" dirty="0">
                <a:latin typeface="+mn-lt"/>
              </a:rPr>
              <a:t>           $240,000</a:t>
            </a:r>
          </a:p>
          <a:p>
            <a:pPr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  <a:defRPr/>
            </a:pPr>
            <a:endParaRPr lang="en-US" sz="2800" dirty="0">
              <a:latin typeface="+mn-lt"/>
            </a:endParaRPr>
          </a:p>
          <a:p>
            <a:pPr eaLnBrk="0" hangingPunct="0">
              <a:spcBef>
                <a:spcPct val="50000"/>
              </a:spcBef>
              <a:defRPr/>
            </a:pPr>
            <a:endParaRPr lang="en-US" dirty="0">
              <a:latin typeface="+mn-lt"/>
            </a:endParaRP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Annual Depreciation Expense (000s)</a:t>
            </a:r>
          </a:p>
        </p:txBody>
      </p:sp>
      <p:graphicFrame>
        <p:nvGraphicFramePr>
          <p:cNvPr id="117881" name="Group 12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299453"/>
              </p:ext>
            </p:extLst>
          </p:nvPr>
        </p:nvGraphicFramePr>
        <p:xfrm>
          <a:off x="628650" y="1676400"/>
          <a:ext cx="7886700" cy="4121162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8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</a:t>
                      </a:r>
                    </a:p>
                  </a:txBody>
                  <a:tcPr marT="45715" marB="4571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%      X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(Initial Basis)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 Deprec.</a:t>
                      </a:r>
                    </a:p>
                  </a:txBody>
                  <a:tcPr marT="45715" marB="45715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2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0.33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$240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$79.2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0.45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108.0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0.15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36.0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6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0.07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5" marB="4571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16.8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7425F8-0A47-4AC3-B81F-AEE92EA6F4E3}" type="slidenum">
              <a:rPr lang="en-US" altLang="en-US">
                <a:latin typeface="Tahoma" panose="020B0604030504040204" pitchFamily="34" charset="0"/>
              </a:rPr>
              <a:pPr eaLnBrk="1" hangingPunct="1"/>
              <a:t>46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6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Annual Sales and Costs</a:t>
            </a:r>
          </a:p>
        </p:txBody>
      </p:sp>
      <p:graphicFrame>
        <p:nvGraphicFramePr>
          <p:cNvPr id="119974" name="Group 1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143532"/>
              </p:ext>
            </p:extLst>
          </p:nvPr>
        </p:nvGraphicFramePr>
        <p:xfrm>
          <a:off x="304800" y="1676400"/>
          <a:ext cx="8534401" cy="3771900"/>
        </p:xfrm>
        <a:graphic>
          <a:graphicData uri="http://schemas.openxmlformats.org/drawingml/2006/table">
            <a:tbl>
              <a:tblPr/>
              <a:tblGrid>
                <a:gridCol w="1872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1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5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51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4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Units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1,250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Unit Price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$206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$212.18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$218.55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Unit Cost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$106.09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$109.27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$257,500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$265,225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$273,188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Costs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$125,000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$128,750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$132,613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$136,588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B280F74-4E42-4395-A60F-3D5F4FC1329F}" type="slidenum">
              <a:rPr lang="en-US" altLang="en-US">
                <a:latin typeface="Tahoma" panose="020B0604030504040204" pitchFamily="34" charset="0"/>
              </a:rPr>
              <a:pPr eaLnBrk="1" hangingPunct="1"/>
              <a:t>47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Operating Cash Flows</a:t>
            </a:r>
            <a:br>
              <a:rPr lang="en-US" altLang="en-US"/>
            </a:br>
            <a:r>
              <a:rPr lang="en-US" altLang="en-US"/>
              <a:t> (Years 1 and 2)</a:t>
            </a:r>
          </a:p>
        </p:txBody>
      </p:sp>
      <p:graphicFrame>
        <p:nvGraphicFramePr>
          <p:cNvPr id="293945" name="Group 5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757058"/>
              </p:ext>
            </p:extLst>
          </p:nvPr>
        </p:nvGraphicFramePr>
        <p:xfrm>
          <a:off x="628650" y="1676400"/>
          <a:ext cx="7886698" cy="4114800"/>
        </p:xfrm>
        <a:graphic>
          <a:graphicData uri="http://schemas.openxmlformats.org/drawingml/2006/table">
            <a:tbl>
              <a:tblPr/>
              <a:tblGrid>
                <a:gridCol w="3010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$257,500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Costs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125,000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128,750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Deprec.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79,200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108,000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45,800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20,750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Taxes (40%)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18,320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8,300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EBIT(1 – T)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27,480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  12,450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+ Deprec.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79,200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108,000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Net Op. CF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$106,680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$120,450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DCFE25-5686-47D4-B457-2FE4D76FCC47}" type="slidenum">
              <a:rPr lang="en-US" altLang="en-US">
                <a:latin typeface="Tahoma" panose="020B0604030504040204" pitchFamily="34" charset="0"/>
              </a:rPr>
              <a:pPr eaLnBrk="1" hangingPunct="1"/>
              <a:t>48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5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Operating Cash Flows</a:t>
            </a:r>
            <a:br>
              <a:rPr lang="en-US" altLang="en-US"/>
            </a:br>
            <a:r>
              <a:rPr lang="en-US" altLang="en-US"/>
              <a:t> (Years 3 and 4)</a:t>
            </a:r>
          </a:p>
        </p:txBody>
      </p:sp>
      <p:graphicFrame>
        <p:nvGraphicFramePr>
          <p:cNvPr id="274492" name="Group 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2827745"/>
              </p:ext>
            </p:extLst>
          </p:nvPr>
        </p:nvGraphicFramePr>
        <p:xfrm>
          <a:off x="628650" y="1676400"/>
          <a:ext cx="7886699" cy="4114800"/>
        </p:xfrm>
        <a:graphic>
          <a:graphicData uri="http://schemas.openxmlformats.org/drawingml/2006/table">
            <a:tbl>
              <a:tblPr/>
              <a:tblGrid>
                <a:gridCol w="2752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3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Year 3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	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Year 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Sales		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$265,225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$273,188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Costs		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132,613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136,588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Deprec.	</a:t>
                      </a:r>
                      <a:endParaRPr kumimoji="0" lang="en-US" sz="2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36,000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16,800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EBIT		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  96,612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$119,800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Taxes (40%)</a:t>
                      </a:r>
                      <a:endParaRPr kumimoji="0" lang="en-US" sz="2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38,645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47,920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EBIT(1 – T)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	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  57,967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  71,880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+ Deprec.	</a:t>
                      </a:r>
                      <a:endParaRPr kumimoji="0" lang="en-US" sz="24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36,000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16,800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Net Op. CF	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  93,967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$  88,680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487A7C-0D77-4D6B-9A29-8E832B60F248}" type="slidenum">
              <a:rPr lang="en-US" altLang="en-US">
                <a:latin typeface="Tahoma" panose="020B0604030504040204" pitchFamily="34" charset="0"/>
              </a:rPr>
              <a:pPr eaLnBrk="1" hangingPunct="1"/>
              <a:t>49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6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Cash Flows Due to Investments in Net Working Capital (NWC)</a:t>
            </a:r>
          </a:p>
        </p:txBody>
      </p:sp>
      <p:graphicFrame>
        <p:nvGraphicFramePr>
          <p:cNvPr id="149773" name="Group 26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190512"/>
              </p:ext>
            </p:extLst>
          </p:nvPr>
        </p:nvGraphicFramePr>
        <p:xfrm>
          <a:off x="628650" y="1676400"/>
          <a:ext cx="7886697" cy="3978275"/>
        </p:xfrm>
        <a:graphic>
          <a:graphicData uri="http://schemas.openxmlformats.org/drawingml/2006/table">
            <a:tbl>
              <a:tblPr/>
              <a:tblGrid>
                <a:gridCol w="1354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1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5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8" marB="45728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2713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>
                          <a:tab pos="1716088" algn="l"/>
                        </a:tabLst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Sales	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NWC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(% of sales)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 Due to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Investment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in NWC</a:t>
                      </a:r>
                    </a:p>
                  </a:txBody>
                  <a:tcPr marT="45728" marB="45728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0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$30,000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-$30,000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1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$250,000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30,900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-900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2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257,500 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31,827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-927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3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265,225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32,783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-956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4</a:t>
                      </a:r>
                    </a:p>
                  </a:txBody>
                  <a:tcPr marT="45728" marB="4572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273,188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32,783</a:t>
                      </a:r>
                    </a:p>
                  </a:txBody>
                  <a:tcPr marT="45728" marB="4572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DAA8DE7-1CAC-4C9F-BA0B-BD28FFA3E42B}" type="slidenum">
              <a:rPr lang="en-US" altLang="en-US">
                <a:latin typeface="Tahoma" panose="020B0604030504040204" pitchFamily="34" charset="0"/>
              </a:rPr>
              <a:pPr eaLnBrk="1" hangingPunct="1"/>
              <a:t>50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Salvage Cash Flow at t = 4 (000s)</a:t>
            </a:r>
          </a:p>
        </p:txBody>
      </p:sp>
      <p:graphicFrame>
        <p:nvGraphicFramePr>
          <p:cNvPr id="157762" name="Group 6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922475"/>
              </p:ext>
            </p:extLst>
          </p:nvPr>
        </p:nvGraphicFramePr>
        <p:xfrm>
          <a:off x="628650" y="1676400"/>
          <a:ext cx="7886699" cy="3354387"/>
        </p:xfrm>
        <a:graphic>
          <a:graphicData uri="http://schemas.openxmlformats.org/drawingml/2006/table">
            <a:tbl>
              <a:tblPr/>
              <a:tblGrid>
                <a:gridCol w="5326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Salvage Value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Book Value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0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Gain or loss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 on SV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10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13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Net Terminal CF</a:t>
                      </a:r>
                    </a:p>
                  </a:txBody>
                  <a:tcPr marT="45729" marB="4572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$15</a:t>
                      </a:r>
                    </a:p>
                  </a:txBody>
                  <a:tcPr marT="45729" marB="4572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F4163D1-1D85-4147-9A41-E8BD4DAC67A5}" type="slidenum">
              <a:rPr lang="en-US" altLang="en-US">
                <a:latin typeface="Tahoma" panose="020B0604030504040204" pitchFamily="34" charset="0"/>
              </a:rPr>
              <a:pPr eaLnBrk="1" hangingPunct="1"/>
              <a:t>51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1482F8-6D74-4917-8E25-AD3D9F2C04AD}" type="slidenum">
              <a:rPr lang="en-US" altLang="en-US">
                <a:latin typeface="Tahoma" panose="020B0604030504040204" pitchFamily="34" charset="0"/>
              </a:rPr>
              <a:pPr eaLnBrk="1" hangingPunct="1"/>
              <a:t>52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0723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What if you terminate a project before the asset is fully depreciated?</a:t>
            </a:r>
          </a:p>
        </p:txBody>
      </p:sp>
      <p:sp>
        <p:nvSpPr>
          <p:cNvPr id="3072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16398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Basis = Original basis – Accum. deprec.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Taxes are based on difference between sales price and tax basis.</a:t>
            </a:r>
          </a:p>
        </p:txBody>
      </p:sp>
      <p:grpSp>
        <p:nvGrpSpPr>
          <p:cNvPr id="30725" name="Group 15"/>
          <p:cNvGrpSpPr>
            <a:grpSpLocks/>
          </p:cNvGrpSpPr>
          <p:nvPr/>
        </p:nvGrpSpPr>
        <p:grpSpPr bwMode="auto">
          <a:xfrm>
            <a:off x="1295400" y="3962400"/>
            <a:ext cx="7010400" cy="990600"/>
            <a:chOff x="1295400" y="3962400"/>
            <a:chExt cx="7010400" cy="990600"/>
          </a:xfrm>
        </p:grpSpPr>
        <p:sp>
          <p:nvSpPr>
            <p:cNvPr id="10" name="Rectangle 10"/>
            <p:cNvSpPr txBox="1">
              <a:spLocks noChangeArrowheads="1"/>
            </p:cNvSpPr>
            <p:nvPr/>
          </p:nvSpPr>
          <p:spPr bwMode="auto">
            <a:xfrm>
              <a:off x="7010400" y="3962400"/>
              <a:ext cx="12954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3200" kern="0" dirty="0">
                  <a:latin typeface="+mn-lt"/>
                </a:rPr>
                <a:t>Taxes</a:t>
              </a:r>
              <a:br>
                <a:rPr lang="en-US" sz="3200" kern="0" dirty="0">
                  <a:latin typeface="+mn-lt"/>
                </a:rPr>
              </a:br>
              <a:r>
                <a:rPr lang="en-US" sz="3200" kern="0" dirty="0">
                  <a:latin typeface="+mn-lt"/>
                </a:rPr>
                <a:t>paid</a:t>
              </a:r>
            </a:p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/>
              </a:pPr>
              <a:endParaRPr lang="en-US" sz="3200" kern="0" dirty="0">
                <a:latin typeface="+mn-lt"/>
              </a:endParaRPr>
            </a:p>
          </p:txBody>
        </p:sp>
        <p:sp>
          <p:nvSpPr>
            <p:cNvPr id="11" name="Rectangle 10"/>
            <p:cNvSpPr txBox="1">
              <a:spLocks noChangeArrowheads="1"/>
            </p:cNvSpPr>
            <p:nvPr/>
          </p:nvSpPr>
          <p:spPr bwMode="auto">
            <a:xfrm>
              <a:off x="6210300" y="4076700"/>
              <a:ext cx="838200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defRPr/>
              </a:pPr>
              <a:r>
                <a:rPr lang="en-US" sz="3200" kern="0" dirty="0">
                  <a:latin typeface="Arial" charset="0"/>
                </a:rPr>
                <a:t>–</a:t>
              </a:r>
              <a:endParaRPr lang="en-US" sz="3200" kern="0" dirty="0">
                <a:latin typeface="+mn-lt"/>
              </a:endParaRPr>
            </a:p>
          </p:txBody>
        </p:sp>
        <p:sp>
          <p:nvSpPr>
            <p:cNvPr id="13" name="Rectangle 10"/>
            <p:cNvSpPr txBox="1">
              <a:spLocks noChangeArrowheads="1"/>
            </p:cNvSpPr>
            <p:nvPr/>
          </p:nvSpPr>
          <p:spPr bwMode="auto">
            <a:xfrm>
              <a:off x="4419600" y="3962400"/>
              <a:ext cx="18288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3200" kern="0" dirty="0">
                  <a:latin typeface="+mn-lt"/>
                </a:rPr>
                <a:t>Sale</a:t>
              </a:r>
              <a:br>
                <a:rPr lang="en-US" sz="3200" kern="0" dirty="0">
                  <a:latin typeface="+mn-lt"/>
                </a:rPr>
              </a:br>
              <a:r>
                <a:rPr lang="en-US" sz="3200" kern="0" dirty="0">
                  <a:latin typeface="+mn-lt"/>
                </a:rPr>
                <a:t>proceeds</a:t>
              </a:r>
            </a:p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/>
              </a:pPr>
              <a:endParaRPr lang="en-US" sz="3200" kern="0" dirty="0">
                <a:latin typeface="+mn-lt"/>
              </a:endParaRPr>
            </a:p>
          </p:txBody>
        </p:sp>
        <p:sp>
          <p:nvSpPr>
            <p:cNvPr id="14" name="Rectangle 10"/>
            <p:cNvSpPr txBox="1">
              <a:spLocks noChangeArrowheads="1"/>
            </p:cNvSpPr>
            <p:nvPr/>
          </p:nvSpPr>
          <p:spPr bwMode="auto">
            <a:xfrm>
              <a:off x="1295400" y="3962400"/>
              <a:ext cx="23622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sz="3200" kern="0" dirty="0">
                  <a:latin typeface="+mn-lt"/>
                </a:rPr>
                <a:t>Cash flow</a:t>
              </a:r>
              <a:br>
                <a:rPr lang="en-US" sz="3200" kern="0" dirty="0">
                  <a:latin typeface="+mn-lt"/>
                </a:rPr>
              </a:br>
              <a:r>
                <a:rPr lang="en-US" sz="3200" kern="0" dirty="0">
                  <a:latin typeface="+mn-lt"/>
                </a:rPr>
                <a:t>from sale</a:t>
              </a:r>
            </a:p>
            <a:p>
              <a:pPr marL="342900" indent="-342900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/>
              </a:pPr>
              <a:endParaRPr lang="en-US" sz="3200" kern="0" dirty="0">
                <a:latin typeface="+mn-lt"/>
              </a:endParaRPr>
            </a:p>
          </p:txBody>
        </p:sp>
        <p:sp>
          <p:nvSpPr>
            <p:cNvPr id="15" name="Rectangle 10"/>
            <p:cNvSpPr txBox="1">
              <a:spLocks noChangeArrowheads="1"/>
            </p:cNvSpPr>
            <p:nvPr/>
          </p:nvSpPr>
          <p:spPr bwMode="auto">
            <a:xfrm>
              <a:off x="3619500" y="4114800"/>
              <a:ext cx="838200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folHlink"/>
                </a:buClr>
                <a:buSzPct val="60000"/>
                <a:defRPr/>
              </a:pPr>
              <a:r>
                <a:rPr lang="en-US" sz="3200" kern="0" dirty="0">
                  <a:latin typeface="Arial" charset="0"/>
                </a:rPr>
                <a:t>=</a:t>
              </a:r>
              <a:endParaRPr lang="en-US" sz="3200" kern="0" dirty="0">
                <a:latin typeface="+mn-lt"/>
              </a:endParaRPr>
            </a:p>
          </p:txBody>
        </p:sp>
      </p:grp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0F886D-BC15-440B-9FE5-FB4255A81F70}" type="slidenum">
              <a:rPr lang="en-US" altLang="en-US">
                <a:latin typeface="Tahoma" panose="020B0604030504040204" pitchFamily="34" charset="0"/>
              </a:rPr>
              <a:pPr eaLnBrk="1" hangingPunct="1"/>
              <a:t>53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1747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Example:  If Sold After 3 Years for $25 ($ thousands)</a:t>
            </a:r>
          </a:p>
        </p:txBody>
      </p:sp>
      <p:sp>
        <p:nvSpPr>
          <p:cNvPr id="31748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6565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Original basis = $240.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After 3 years, basis = $16.8 remaining.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Sales price = $25.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Gain or loss = $25 – $16.8 = $8.2.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Tax on sale = 0.4($8.2) = $3.28.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Cash flow = $25 – $3.28 = $21.72.</a:t>
            </a:r>
          </a:p>
        </p:txBody>
      </p: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875349-2563-4530-AF10-E0104BB44DFD}" type="slidenum">
              <a:rPr lang="en-US" altLang="en-US">
                <a:latin typeface="Tahoma" panose="020B0604030504040204" pitchFamily="34" charset="0"/>
              </a:rPr>
              <a:pPr eaLnBrk="1" hangingPunct="1"/>
              <a:t>54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Example:  If Sold After 3 Years for $10 ($ thousands)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Original basis = $240.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After 3 years, basis = $16.8 remaining.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Sales price = $10.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Gain or loss = $10 – $16.8 = -$6.8.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Tax on sale = 0.4(-$6.8) = -$2.72.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Cash flow = $10 – (-$2.72) = $12.72.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/>
              <a:t>Sale at a loss provides a tax credit, so cash flow is larger than sales price!</a:t>
            </a:r>
          </a:p>
        </p:txBody>
      </p:sp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3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Net Cash Flows for Years 1-2</a:t>
            </a:r>
          </a:p>
        </p:txBody>
      </p:sp>
      <p:graphicFrame>
        <p:nvGraphicFramePr>
          <p:cNvPr id="165005" name="Group 14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581751"/>
              </p:ext>
            </p:extLst>
          </p:nvPr>
        </p:nvGraphicFramePr>
        <p:xfrm>
          <a:off x="628650" y="1676400"/>
          <a:ext cx="7886698" cy="4318002"/>
        </p:xfrm>
        <a:graphic>
          <a:graphicData uri="http://schemas.openxmlformats.org/drawingml/2006/table">
            <a:tbl>
              <a:tblPr/>
              <a:tblGrid>
                <a:gridCol w="2002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0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1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2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Init. Cost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-$240,000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Op. CF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$106,680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$120,450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NWC CF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-$30,000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-$900	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-$927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Salvage CF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Net CF</a:t>
                      </a: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-$270,000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$105,780	</a:t>
                      </a: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$119,523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1" marB="4572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5713B2-E06E-456B-A9CF-86DF0F4A2781}" type="slidenum">
              <a:rPr lang="en-US" altLang="en-US">
                <a:latin typeface="Tahoma" panose="020B0604030504040204" pitchFamily="34" charset="0"/>
              </a:rPr>
              <a:pPr eaLnBrk="1" hangingPunct="1"/>
              <a:t>55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Net Cash Flows for Years 3-4</a:t>
            </a:r>
          </a:p>
        </p:txBody>
      </p:sp>
      <p:graphicFrame>
        <p:nvGraphicFramePr>
          <p:cNvPr id="167002" name="Group 9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854792"/>
              </p:ext>
            </p:extLst>
          </p:nvPr>
        </p:nvGraphicFramePr>
        <p:xfrm>
          <a:off x="628650" y="1676400"/>
          <a:ext cx="7886698" cy="4114800"/>
        </p:xfrm>
        <a:graphic>
          <a:graphicData uri="http://schemas.openxmlformats.org/drawingml/2006/table">
            <a:tbl>
              <a:tblPr/>
              <a:tblGrid>
                <a:gridCol w="278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 4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Init. Cost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Op. CF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$93,967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$88,680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NWC CF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-$956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$32,783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Salvage CF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$15,000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Net CF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$93,011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$136,463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671500-7CA6-4B7E-A3AB-EE7BAEA8DDC7}" type="slidenum">
              <a:rPr lang="en-US" altLang="en-US">
                <a:latin typeface="Tahoma" panose="020B0604030504040204" pitchFamily="34" charset="0"/>
              </a:rPr>
              <a:pPr eaLnBrk="1" hangingPunct="1"/>
              <a:t>56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FBC9560-4EC2-4FEB-AC8E-9B9608C63FA4}" type="slidenum">
              <a:rPr lang="en-US" altLang="en-US">
                <a:latin typeface="Tahoma" panose="020B0604030504040204" pitchFamily="34" charset="0"/>
              </a:rPr>
              <a:pPr eaLnBrk="1" hangingPunct="1"/>
              <a:t>57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35843" name="Group 31"/>
          <p:cNvGrpSpPr>
            <a:grpSpLocks/>
          </p:cNvGrpSpPr>
          <p:nvPr/>
        </p:nvGrpSpPr>
        <p:grpSpPr bwMode="auto">
          <a:xfrm>
            <a:off x="449263" y="2535238"/>
            <a:ext cx="8596312" cy="3455987"/>
            <a:chOff x="283" y="1597"/>
            <a:chExt cx="5415" cy="2177"/>
          </a:xfrm>
        </p:grpSpPr>
        <p:sp>
          <p:nvSpPr>
            <p:cNvPr id="35845" name="Rectangle 9"/>
            <p:cNvSpPr>
              <a:spLocks noChangeArrowheads="1"/>
            </p:cNvSpPr>
            <p:nvPr/>
          </p:nvSpPr>
          <p:spPr bwMode="auto">
            <a:xfrm>
              <a:off x="455" y="2880"/>
              <a:ext cx="4917" cy="8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Enter CFs in CFLO register and I/YR = 10.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	NPV	= $88,030.</a:t>
              </a:r>
            </a:p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	IRR	= 23.9%.</a:t>
              </a:r>
            </a:p>
          </p:txBody>
        </p:sp>
        <p:sp>
          <p:nvSpPr>
            <p:cNvPr id="35846" name="Rectangle 11"/>
            <p:cNvSpPr>
              <a:spLocks noChangeArrowheads="1"/>
            </p:cNvSpPr>
            <p:nvPr/>
          </p:nvSpPr>
          <p:spPr bwMode="auto">
            <a:xfrm>
              <a:off x="569" y="1597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5847" name="Rectangle 12"/>
            <p:cNvSpPr>
              <a:spLocks noChangeArrowheads="1"/>
            </p:cNvSpPr>
            <p:nvPr/>
          </p:nvSpPr>
          <p:spPr bwMode="auto">
            <a:xfrm>
              <a:off x="1690" y="1597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5848" name="Rectangle 13"/>
            <p:cNvSpPr>
              <a:spLocks noChangeArrowheads="1"/>
            </p:cNvSpPr>
            <p:nvPr/>
          </p:nvSpPr>
          <p:spPr bwMode="auto">
            <a:xfrm>
              <a:off x="2827" y="1597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5849" name="Rectangle 14"/>
            <p:cNvSpPr>
              <a:spLocks noChangeArrowheads="1"/>
            </p:cNvSpPr>
            <p:nvPr/>
          </p:nvSpPr>
          <p:spPr bwMode="auto">
            <a:xfrm>
              <a:off x="3969" y="1597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5850" name="Rectangle 15"/>
            <p:cNvSpPr>
              <a:spLocks noChangeArrowheads="1"/>
            </p:cNvSpPr>
            <p:nvPr/>
          </p:nvSpPr>
          <p:spPr bwMode="auto">
            <a:xfrm>
              <a:off x="5114" y="1597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35851" name="Rectangle 16"/>
            <p:cNvSpPr>
              <a:spLocks noChangeArrowheads="1"/>
            </p:cNvSpPr>
            <p:nvPr/>
          </p:nvSpPr>
          <p:spPr bwMode="auto">
            <a:xfrm>
              <a:off x="283" y="2256"/>
              <a:ext cx="108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(270,000)</a:t>
              </a:r>
            </a:p>
          </p:txBody>
        </p:sp>
        <p:sp>
          <p:nvSpPr>
            <p:cNvPr id="35852" name="Rectangle 17"/>
            <p:cNvSpPr>
              <a:spLocks noChangeArrowheads="1"/>
            </p:cNvSpPr>
            <p:nvPr/>
          </p:nvSpPr>
          <p:spPr bwMode="auto">
            <a:xfrm>
              <a:off x="1360" y="2255"/>
              <a:ext cx="91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105,780</a:t>
              </a:r>
            </a:p>
          </p:txBody>
        </p:sp>
        <p:sp>
          <p:nvSpPr>
            <p:cNvPr id="35853" name="Rectangle 18"/>
            <p:cNvSpPr>
              <a:spLocks noChangeArrowheads="1"/>
            </p:cNvSpPr>
            <p:nvPr/>
          </p:nvSpPr>
          <p:spPr bwMode="auto">
            <a:xfrm>
              <a:off x="2497" y="2255"/>
              <a:ext cx="91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119,523</a:t>
              </a:r>
            </a:p>
          </p:txBody>
        </p:sp>
        <p:sp>
          <p:nvSpPr>
            <p:cNvPr id="35854" name="Rectangle 19"/>
            <p:cNvSpPr>
              <a:spLocks noChangeArrowheads="1"/>
            </p:cNvSpPr>
            <p:nvPr/>
          </p:nvSpPr>
          <p:spPr bwMode="auto">
            <a:xfrm>
              <a:off x="3700" y="2255"/>
              <a:ext cx="79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93,011</a:t>
              </a:r>
            </a:p>
          </p:txBody>
        </p:sp>
        <p:sp>
          <p:nvSpPr>
            <p:cNvPr id="35855" name="Rectangle 20"/>
            <p:cNvSpPr>
              <a:spLocks noChangeArrowheads="1"/>
            </p:cNvSpPr>
            <p:nvPr/>
          </p:nvSpPr>
          <p:spPr bwMode="auto">
            <a:xfrm>
              <a:off x="4784" y="2255"/>
              <a:ext cx="91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136,463</a:t>
              </a:r>
            </a:p>
          </p:txBody>
        </p:sp>
        <p:sp>
          <p:nvSpPr>
            <p:cNvPr id="35856" name="Line 21"/>
            <p:cNvSpPr>
              <a:spLocks noChangeShapeType="1"/>
            </p:cNvSpPr>
            <p:nvPr/>
          </p:nvSpPr>
          <p:spPr bwMode="auto">
            <a:xfrm>
              <a:off x="706" y="2109"/>
              <a:ext cx="4544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Line 22"/>
            <p:cNvSpPr>
              <a:spLocks noChangeShapeType="1"/>
            </p:cNvSpPr>
            <p:nvPr/>
          </p:nvSpPr>
          <p:spPr bwMode="auto">
            <a:xfrm>
              <a:off x="706" y="1994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8" name="Line 23"/>
            <p:cNvSpPr>
              <a:spLocks noChangeShapeType="1"/>
            </p:cNvSpPr>
            <p:nvPr/>
          </p:nvSpPr>
          <p:spPr bwMode="auto">
            <a:xfrm>
              <a:off x="1842" y="1994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9" name="Line 24"/>
            <p:cNvSpPr>
              <a:spLocks noChangeShapeType="1"/>
            </p:cNvSpPr>
            <p:nvPr/>
          </p:nvSpPr>
          <p:spPr bwMode="auto">
            <a:xfrm>
              <a:off x="2946" y="1994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0" name="Line 25"/>
            <p:cNvSpPr>
              <a:spLocks noChangeShapeType="1"/>
            </p:cNvSpPr>
            <p:nvPr/>
          </p:nvSpPr>
          <p:spPr bwMode="auto">
            <a:xfrm>
              <a:off x="4098" y="1994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61" name="Line 26"/>
            <p:cNvSpPr>
              <a:spLocks noChangeShapeType="1"/>
            </p:cNvSpPr>
            <p:nvPr/>
          </p:nvSpPr>
          <p:spPr bwMode="auto">
            <a:xfrm>
              <a:off x="5250" y="1994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44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Project Net CFs Time Line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B65094-2B35-4216-A080-089C96EA3D6C}" type="slidenum">
              <a:rPr lang="en-US" altLang="en-US">
                <a:latin typeface="Tahoma" panose="020B0604030504040204" pitchFamily="34" charset="0"/>
              </a:rPr>
              <a:pPr eaLnBrk="1" hangingPunct="1"/>
              <a:t>58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36867" name="Group 40"/>
          <p:cNvGrpSpPr>
            <a:grpSpLocks/>
          </p:cNvGrpSpPr>
          <p:nvPr/>
        </p:nvGrpSpPr>
        <p:grpSpPr bwMode="auto">
          <a:xfrm>
            <a:off x="449263" y="2251075"/>
            <a:ext cx="8694737" cy="4254500"/>
            <a:chOff x="283" y="1418"/>
            <a:chExt cx="5477" cy="2680"/>
          </a:xfrm>
        </p:grpSpPr>
        <p:sp>
          <p:nvSpPr>
            <p:cNvPr id="36870" name="Line 4"/>
            <p:cNvSpPr>
              <a:spLocks noChangeShapeType="1"/>
            </p:cNvSpPr>
            <p:nvPr/>
          </p:nvSpPr>
          <p:spPr bwMode="auto">
            <a:xfrm>
              <a:off x="1804" y="2383"/>
              <a:ext cx="0" cy="9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1" name="Line 5"/>
            <p:cNvSpPr>
              <a:spLocks noChangeShapeType="1"/>
            </p:cNvSpPr>
            <p:nvPr/>
          </p:nvSpPr>
          <p:spPr bwMode="auto">
            <a:xfrm flipV="1">
              <a:off x="2936" y="2351"/>
              <a:ext cx="0" cy="6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2" name="Line 6"/>
            <p:cNvSpPr>
              <a:spLocks noChangeShapeType="1"/>
            </p:cNvSpPr>
            <p:nvPr/>
          </p:nvSpPr>
          <p:spPr bwMode="auto">
            <a:xfrm flipV="1">
              <a:off x="4076" y="2351"/>
              <a:ext cx="0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3" name="Rectangle 7"/>
            <p:cNvSpPr>
              <a:spLocks noChangeArrowheads="1"/>
            </p:cNvSpPr>
            <p:nvPr/>
          </p:nvSpPr>
          <p:spPr bwMode="auto">
            <a:xfrm>
              <a:off x="336" y="3600"/>
              <a:ext cx="108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>
                  <a:latin typeface="Tahoma" panose="020B0604030504040204" pitchFamily="34" charset="0"/>
                </a:rPr>
                <a:t>(270,000)</a:t>
              </a:r>
            </a:p>
          </p:txBody>
        </p:sp>
        <p:sp>
          <p:nvSpPr>
            <p:cNvPr id="36874" name="Line 8"/>
            <p:cNvSpPr>
              <a:spLocks noChangeShapeType="1"/>
            </p:cNvSpPr>
            <p:nvPr/>
          </p:nvSpPr>
          <p:spPr bwMode="auto">
            <a:xfrm>
              <a:off x="1440" y="3735"/>
              <a:ext cx="3160" cy="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5" name="Rectangle 9"/>
            <p:cNvSpPr>
              <a:spLocks noChangeArrowheads="1"/>
            </p:cNvSpPr>
            <p:nvPr/>
          </p:nvSpPr>
          <p:spPr bwMode="auto">
            <a:xfrm>
              <a:off x="2159" y="3735"/>
              <a:ext cx="1192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MIRR = ?</a:t>
              </a:r>
            </a:p>
          </p:txBody>
        </p:sp>
        <p:sp>
          <p:nvSpPr>
            <p:cNvPr id="36876" name="Line 11"/>
            <p:cNvSpPr>
              <a:spLocks noChangeShapeType="1"/>
            </p:cNvSpPr>
            <p:nvPr/>
          </p:nvSpPr>
          <p:spPr bwMode="auto">
            <a:xfrm>
              <a:off x="4092" y="2553"/>
              <a:ext cx="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7" name="Line 12"/>
            <p:cNvSpPr>
              <a:spLocks noChangeShapeType="1"/>
            </p:cNvSpPr>
            <p:nvPr/>
          </p:nvSpPr>
          <p:spPr bwMode="auto">
            <a:xfrm>
              <a:off x="2942" y="2967"/>
              <a:ext cx="17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8" name="Line 13"/>
            <p:cNvSpPr>
              <a:spLocks noChangeShapeType="1"/>
            </p:cNvSpPr>
            <p:nvPr/>
          </p:nvSpPr>
          <p:spPr bwMode="auto">
            <a:xfrm>
              <a:off x="1804" y="3345"/>
              <a:ext cx="290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9" name="Rectangle 19"/>
            <p:cNvSpPr>
              <a:spLocks noChangeArrowheads="1"/>
            </p:cNvSpPr>
            <p:nvPr/>
          </p:nvSpPr>
          <p:spPr bwMode="auto">
            <a:xfrm>
              <a:off x="481" y="1418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6880" name="Rectangle 20"/>
            <p:cNvSpPr>
              <a:spLocks noChangeArrowheads="1"/>
            </p:cNvSpPr>
            <p:nvPr/>
          </p:nvSpPr>
          <p:spPr bwMode="auto">
            <a:xfrm>
              <a:off x="1602" y="1418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6881" name="Rectangle 21"/>
            <p:cNvSpPr>
              <a:spLocks noChangeArrowheads="1"/>
            </p:cNvSpPr>
            <p:nvPr/>
          </p:nvSpPr>
          <p:spPr bwMode="auto">
            <a:xfrm>
              <a:off x="2739" y="1418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6882" name="Rectangle 22"/>
            <p:cNvSpPr>
              <a:spLocks noChangeArrowheads="1"/>
            </p:cNvSpPr>
            <p:nvPr/>
          </p:nvSpPr>
          <p:spPr bwMode="auto">
            <a:xfrm>
              <a:off x="3881" y="1418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6883" name="Rectangle 23"/>
            <p:cNvSpPr>
              <a:spLocks noChangeArrowheads="1"/>
            </p:cNvSpPr>
            <p:nvPr/>
          </p:nvSpPr>
          <p:spPr bwMode="auto">
            <a:xfrm>
              <a:off x="5003" y="1418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36884" name="Rectangle 24"/>
            <p:cNvSpPr>
              <a:spLocks noChangeArrowheads="1"/>
            </p:cNvSpPr>
            <p:nvPr/>
          </p:nvSpPr>
          <p:spPr bwMode="auto">
            <a:xfrm>
              <a:off x="283" y="2016"/>
              <a:ext cx="108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(270,000)</a:t>
              </a:r>
            </a:p>
          </p:txBody>
        </p:sp>
        <p:sp>
          <p:nvSpPr>
            <p:cNvPr id="36885" name="Rectangle 25"/>
            <p:cNvSpPr>
              <a:spLocks noChangeArrowheads="1"/>
            </p:cNvSpPr>
            <p:nvPr/>
          </p:nvSpPr>
          <p:spPr bwMode="auto">
            <a:xfrm>
              <a:off x="1342" y="1996"/>
              <a:ext cx="91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105,780</a:t>
              </a:r>
            </a:p>
          </p:txBody>
        </p:sp>
        <p:sp>
          <p:nvSpPr>
            <p:cNvPr id="36886" name="Rectangle 26"/>
            <p:cNvSpPr>
              <a:spLocks noChangeArrowheads="1"/>
            </p:cNvSpPr>
            <p:nvPr/>
          </p:nvSpPr>
          <p:spPr bwMode="auto">
            <a:xfrm>
              <a:off x="2479" y="1996"/>
              <a:ext cx="91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119,523</a:t>
              </a:r>
            </a:p>
          </p:txBody>
        </p:sp>
        <p:sp>
          <p:nvSpPr>
            <p:cNvPr id="36887" name="Rectangle 27"/>
            <p:cNvSpPr>
              <a:spLocks noChangeArrowheads="1"/>
            </p:cNvSpPr>
            <p:nvPr/>
          </p:nvSpPr>
          <p:spPr bwMode="auto">
            <a:xfrm>
              <a:off x="3682" y="1996"/>
              <a:ext cx="79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93,011</a:t>
              </a:r>
            </a:p>
          </p:txBody>
        </p:sp>
        <p:sp>
          <p:nvSpPr>
            <p:cNvPr id="36888" name="Rectangle 28"/>
            <p:cNvSpPr>
              <a:spLocks noChangeArrowheads="1"/>
            </p:cNvSpPr>
            <p:nvPr/>
          </p:nvSpPr>
          <p:spPr bwMode="auto">
            <a:xfrm>
              <a:off x="4608" y="1968"/>
              <a:ext cx="1152" cy="1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858838" algn="dec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800">
                  <a:latin typeface="Tahoma" panose="020B0604030504040204" pitchFamily="34" charset="0"/>
                </a:rPr>
                <a:t>136,463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sz="3200">
                  <a:solidFill>
                    <a:schemeClr val="bg2"/>
                  </a:solidFill>
                  <a:latin typeface="Tahoma" panose="020B0604030504040204" pitchFamily="34" charset="0"/>
                </a:rPr>
                <a:t>	</a:t>
              </a:r>
              <a:r>
                <a:rPr lang="en-US" altLang="en-US" sz="2800">
                  <a:latin typeface="Tahoma" panose="020B0604030504040204" pitchFamily="34" charset="0"/>
                </a:rPr>
                <a:t>102,312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	</a:t>
              </a:r>
              <a:r>
                <a:rPr lang="en-US" altLang="en-US" sz="2800">
                  <a:latin typeface="Tahoma" panose="020B0604030504040204" pitchFamily="34" charset="0"/>
                </a:rPr>
                <a:t>144,623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	</a:t>
              </a:r>
              <a:r>
                <a:rPr lang="en-US" altLang="en-US" sz="2800" u="sng">
                  <a:latin typeface="Tahoma" panose="020B0604030504040204" pitchFamily="34" charset="0"/>
                </a:rPr>
                <a:t>140,793</a:t>
              </a:r>
              <a:endParaRPr lang="en-US" altLang="en-US" sz="2800">
                <a:latin typeface="Tahoma" panose="020B0604030504040204" pitchFamily="34" charset="0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en-US" sz="3200" u="sng">
                  <a:latin typeface="Tahoma" panose="020B0604030504040204" pitchFamily="34" charset="0"/>
                </a:rPr>
                <a:t>	</a:t>
              </a:r>
              <a:r>
                <a:rPr lang="en-US" altLang="en-US" sz="2800">
                  <a:latin typeface="Tahoma" panose="020B0604030504040204" pitchFamily="34" charset="0"/>
                </a:rPr>
                <a:t>524,191</a:t>
              </a:r>
            </a:p>
          </p:txBody>
        </p:sp>
        <p:sp>
          <p:nvSpPr>
            <p:cNvPr id="36889" name="Line 31"/>
            <p:cNvSpPr>
              <a:spLocks noChangeShapeType="1"/>
            </p:cNvSpPr>
            <p:nvPr/>
          </p:nvSpPr>
          <p:spPr bwMode="auto">
            <a:xfrm>
              <a:off x="618" y="1882"/>
              <a:ext cx="4544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0" name="Line 32"/>
            <p:cNvSpPr>
              <a:spLocks noChangeShapeType="1"/>
            </p:cNvSpPr>
            <p:nvPr/>
          </p:nvSpPr>
          <p:spPr bwMode="auto">
            <a:xfrm>
              <a:off x="618" y="1767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1" name="Line 33"/>
            <p:cNvSpPr>
              <a:spLocks noChangeShapeType="1"/>
            </p:cNvSpPr>
            <p:nvPr/>
          </p:nvSpPr>
          <p:spPr bwMode="auto">
            <a:xfrm>
              <a:off x="1754" y="1767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2" name="Line 34"/>
            <p:cNvSpPr>
              <a:spLocks noChangeShapeType="1"/>
            </p:cNvSpPr>
            <p:nvPr/>
          </p:nvSpPr>
          <p:spPr bwMode="auto">
            <a:xfrm>
              <a:off x="2858" y="1767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3" name="Line 35"/>
            <p:cNvSpPr>
              <a:spLocks noChangeShapeType="1"/>
            </p:cNvSpPr>
            <p:nvPr/>
          </p:nvSpPr>
          <p:spPr bwMode="auto">
            <a:xfrm>
              <a:off x="4010" y="1767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36"/>
            <p:cNvSpPr>
              <a:spLocks noChangeShapeType="1"/>
            </p:cNvSpPr>
            <p:nvPr/>
          </p:nvSpPr>
          <p:spPr bwMode="auto">
            <a:xfrm>
              <a:off x="5162" y="1767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68" name="Rectangle 3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the project’s MIRR?  </a:t>
            </a:r>
          </a:p>
        </p:txBody>
      </p:sp>
      <p:sp>
        <p:nvSpPr>
          <p:cNvPr id="36869" name="Rectangle 19"/>
          <p:cNvSpPr>
            <a:spLocks noChangeArrowheads="1"/>
          </p:cNvSpPr>
          <p:nvPr/>
        </p:nvSpPr>
        <p:spPr bwMode="auto">
          <a:xfrm>
            <a:off x="1389063" y="2514600"/>
            <a:ext cx="820737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>
                <a:latin typeface="Tahoma" panose="020B0604030504040204" pitchFamily="34" charset="0"/>
              </a:rPr>
              <a:t>10%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08CB85-76DF-4596-A6E3-DDA7B6295511}" type="slidenum">
              <a:rPr lang="en-US" altLang="en-US">
                <a:latin typeface="Tahoma" panose="020B0604030504040204" pitchFamily="34" charset="0"/>
              </a:rPr>
              <a:pPr eaLnBrk="1" hangingPunct="1"/>
              <a:t>59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789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Calculator Solution</a:t>
            </a:r>
          </a:p>
        </p:txBody>
      </p:sp>
      <p:sp>
        <p:nvSpPr>
          <p:cNvPr id="37892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5611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Enter positive CFs in CFLO. Enter I/YR = 10. Solve for NPV = $358,029.581.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Now use TVM keys:  PV = -358,029.581, </a:t>
            </a:r>
            <a:br>
              <a:rPr lang="en-US" altLang="en-US" dirty="0"/>
            </a:br>
            <a:r>
              <a:rPr lang="en-US" altLang="en-US" dirty="0"/>
              <a:t>N = 4, I/YR = 10; PMT = 0; Solve for FV = 524,191. (This is TV of inflows)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Use TVM keys:  N = 4; FV = 524,191;   </a:t>
            </a:r>
            <a:br>
              <a:rPr lang="en-US" altLang="en-US" dirty="0"/>
            </a:br>
            <a:r>
              <a:rPr lang="en-US" altLang="en-US" dirty="0"/>
              <a:t>PV = -270,000; PMT= 0; Solve for I/YR = 18.0%.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MIRR = 18.0%.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1E6F47B-5771-45CC-9CAA-FBBF4F1D7116}" type="slidenum">
              <a:rPr lang="en-US" altLang="en-US">
                <a:latin typeface="Tahoma" panose="020B0604030504040204" pitchFamily="34" charset="0"/>
              </a:rPr>
              <a:pPr eaLnBrk="1" hangingPunct="1"/>
              <a:t>60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38915" name="Group 31"/>
          <p:cNvGrpSpPr>
            <a:grpSpLocks/>
          </p:cNvGrpSpPr>
          <p:nvPr/>
        </p:nvGrpSpPr>
        <p:grpSpPr bwMode="auto">
          <a:xfrm>
            <a:off x="685800" y="2370138"/>
            <a:ext cx="8281988" cy="4108450"/>
            <a:chOff x="432" y="1493"/>
            <a:chExt cx="5217" cy="2588"/>
          </a:xfrm>
        </p:grpSpPr>
        <p:sp>
          <p:nvSpPr>
            <p:cNvPr id="38917" name="Rectangle 4"/>
            <p:cNvSpPr>
              <a:spLocks noChangeArrowheads="1"/>
            </p:cNvSpPr>
            <p:nvPr/>
          </p:nvSpPr>
          <p:spPr bwMode="auto">
            <a:xfrm>
              <a:off x="432" y="2784"/>
              <a:ext cx="4306" cy="1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3200">
                  <a:latin typeface="Tahoma" panose="020B0604030504040204" pitchFamily="34" charset="0"/>
                </a:rPr>
                <a:t>Cumulative:</a:t>
              </a:r>
            </a:p>
            <a:p>
              <a:endParaRPr lang="en-US" altLang="en-US" sz="3200">
                <a:latin typeface="Tahoma" panose="020B0604030504040204" pitchFamily="34" charset="0"/>
              </a:endParaRPr>
            </a:p>
            <a:p>
              <a:endParaRPr lang="en-US" altLang="en-US" sz="3200">
                <a:latin typeface="Tahoma" panose="020B0604030504040204" pitchFamily="34" charset="0"/>
              </a:endParaRPr>
            </a:p>
            <a:p>
              <a:r>
                <a:rPr lang="en-US" altLang="en-US" sz="3200">
                  <a:latin typeface="Tahoma" panose="020B0604030504040204" pitchFamily="34" charset="0"/>
                </a:rPr>
                <a:t>Payback = 2 + $44/$93 = 2.5 years.</a:t>
              </a:r>
            </a:p>
          </p:txBody>
        </p:sp>
        <p:sp>
          <p:nvSpPr>
            <p:cNvPr id="38918" name="Rectangle 10"/>
            <p:cNvSpPr>
              <a:spLocks noChangeArrowheads="1"/>
            </p:cNvSpPr>
            <p:nvPr/>
          </p:nvSpPr>
          <p:spPr bwMode="auto">
            <a:xfrm>
              <a:off x="710" y="149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38919" name="Rectangle 11"/>
            <p:cNvSpPr>
              <a:spLocks noChangeArrowheads="1"/>
            </p:cNvSpPr>
            <p:nvPr/>
          </p:nvSpPr>
          <p:spPr bwMode="auto">
            <a:xfrm>
              <a:off x="1831" y="149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38920" name="Rectangle 12"/>
            <p:cNvSpPr>
              <a:spLocks noChangeArrowheads="1"/>
            </p:cNvSpPr>
            <p:nvPr/>
          </p:nvSpPr>
          <p:spPr bwMode="auto">
            <a:xfrm>
              <a:off x="2968" y="149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38921" name="Rectangle 13"/>
            <p:cNvSpPr>
              <a:spLocks noChangeArrowheads="1"/>
            </p:cNvSpPr>
            <p:nvPr/>
          </p:nvSpPr>
          <p:spPr bwMode="auto">
            <a:xfrm>
              <a:off x="4110" y="149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8922" name="Rectangle 14"/>
            <p:cNvSpPr>
              <a:spLocks noChangeArrowheads="1"/>
            </p:cNvSpPr>
            <p:nvPr/>
          </p:nvSpPr>
          <p:spPr bwMode="auto">
            <a:xfrm>
              <a:off x="5255" y="1493"/>
              <a:ext cx="254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32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38923" name="Rectangle 15"/>
            <p:cNvSpPr>
              <a:spLocks noChangeArrowheads="1"/>
            </p:cNvSpPr>
            <p:nvPr/>
          </p:nvSpPr>
          <p:spPr bwMode="auto">
            <a:xfrm>
              <a:off x="501" y="2094"/>
              <a:ext cx="737" cy="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(270)</a:t>
              </a:r>
            </a:p>
            <a:p>
              <a:pPr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(270)</a:t>
              </a:r>
            </a:p>
          </p:txBody>
        </p:sp>
        <p:sp>
          <p:nvSpPr>
            <p:cNvPr id="38924" name="Rectangle 16"/>
            <p:cNvSpPr>
              <a:spLocks noChangeArrowheads="1"/>
            </p:cNvSpPr>
            <p:nvPr/>
          </p:nvSpPr>
          <p:spPr bwMode="auto">
            <a:xfrm>
              <a:off x="1647" y="2094"/>
              <a:ext cx="730" cy="1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106</a:t>
              </a: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(164)</a:t>
              </a:r>
            </a:p>
          </p:txBody>
        </p:sp>
        <p:sp>
          <p:nvSpPr>
            <p:cNvPr id="38925" name="Rectangle 17"/>
            <p:cNvSpPr>
              <a:spLocks noChangeArrowheads="1"/>
            </p:cNvSpPr>
            <p:nvPr/>
          </p:nvSpPr>
          <p:spPr bwMode="auto">
            <a:xfrm>
              <a:off x="2800" y="2094"/>
              <a:ext cx="590" cy="1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120</a:t>
              </a: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(44)</a:t>
              </a:r>
            </a:p>
          </p:txBody>
        </p:sp>
        <p:sp>
          <p:nvSpPr>
            <p:cNvPr id="38926" name="Rectangle 18"/>
            <p:cNvSpPr>
              <a:spLocks noChangeArrowheads="1"/>
            </p:cNvSpPr>
            <p:nvPr/>
          </p:nvSpPr>
          <p:spPr bwMode="auto">
            <a:xfrm>
              <a:off x="4040" y="2094"/>
              <a:ext cx="394" cy="1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93</a:t>
              </a: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49</a:t>
              </a:r>
            </a:p>
          </p:txBody>
        </p:sp>
        <p:sp>
          <p:nvSpPr>
            <p:cNvPr id="38927" name="Rectangle 19"/>
            <p:cNvSpPr>
              <a:spLocks noChangeArrowheads="1"/>
            </p:cNvSpPr>
            <p:nvPr/>
          </p:nvSpPr>
          <p:spPr bwMode="auto">
            <a:xfrm>
              <a:off x="5115" y="2094"/>
              <a:ext cx="534" cy="1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136</a:t>
              </a: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endParaRPr lang="en-US" altLang="en-US" sz="3200">
                <a:latin typeface="Tahoma" panose="020B0604030504040204" pitchFamily="34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en-US" sz="3200">
                  <a:latin typeface="Tahoma" panose="020B0604030504040204" pitchFamily="34" charset="0"/>
                </a:rPr>
                <a:t>185</a:t>
              </a:r>
            </a:p>
          </p:txBody>
        </p:sp>
        <p:sp>
          <p:nvSpPr>
            <p:cNvPr id="38928" name="Line 21"/>
            <p:cNvSpPr>
              <a:spLocks noChangeShapeType="1"/>
            </p:cNvSpPr>
            <p:nvPr/>
          </p:nvSpPr>
          <p:spPr bwMode="auto">
            <a:xfrm>
              <a:off x="847" y="1957"/>
              <a:ext cx="4544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9" name="Line 22"/>
            <p:cNvSpPr>
              <a:spLocks noChangeShapeType="1"/>
            </p:cNvSpPr>
            <p:nvPr/>
          </p:nvSpPr>
          <p:spPr bwMode="auto">
            <a:xfrm>
              <a:off x="847" y="1842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0" name="Line 23"/>
            <p:cNvSpPr>
              <a:spLocks noChangeShapeType="1"/>
            </p:cNvSpPr>
            <p:nvPr/>
          </p:nvSpPr>
          <p:spPr bwMode="auto">
            <a:xfrm>
              <a:off x="1983" y="1842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1" name="Line 24"/>
            <p:cNvSpPr>
              <a:spLocks noChangeShapeType="1"/>
            </p:cNvSpPr>
            <p:nvPr/>
          </p:nvSpPr>
          <p:spPr bwMode="auto">
            <a:xfrm>
              <a:off x="3087" y="1842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2" name="Line 25"/>
            <p:cNvSpPr>
              <a:spLocks noChangeShapeType="1"/>
            </p:cNvSpPr>
            <p:nvPr/>
          </p:nvSpPr>
          <p:spPr bwMode="auto">
            <a:xfrm>
              <a:off x="4239" y="1842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3" name="Line 26"/>
            <p:cNvSpPr>
              <a:spLocks noChangeShapeType="1"/>
            </p:cNvSpPr>
            <p:nvPr/>
          </p:nvSpPr>
          <p:spPr bwMode="auto">
            <a:xfrm>
              <a:off x="5391" y="1842"/>
              <a:ext cx="0" cy="2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916" name="Rectangle 3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is the project’s payback?  ($ thousands)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041D250-0E6F-493B-946D-3F6FF95A79CB}" type="slidenum">
              <a:rPr lang="en-US" altLang="en-US">
                <a:latin typeface="Tahoma" panose="020B0604030504040204" pitchFamily="34" charset="0"/>
              </a:rPr>
              <a:pPr eaLnBrk="1" hangingPunct="1"/>
              <a:t>61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01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sensitivity analysis?</a:t>
            </a:r>
          </a:p>
        </p:txBody>
      </p:sp>
      <p:sp>
        <p:nvSpPr>
          <p:cNvPr id="5018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Shows how changes in a variable such as unit sales affect NPV or IRR.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Each variable is fixed except one. Change this one variable to see the effect on NPV or IRR.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Answers “what if” questions, e.g. “What if sales decline by 30%?”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0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Sensitivity Analysis</a:t>
            </a:r>
          </a:p>
        </p:txBody>
      </p:sp>
      <p:graphicFrame>
        <p:nvGraphicFramePr>
          <p:cNvPr id="229586" name="Group 2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562408"/>
              </p:ext>
            </p:extLst>
          </p:nvPr>
        </p:nvGraphicFramePr>
        <p:xfrm>
          <a:off x="628650" y="1676400"/>
          <a:ext cx="7886698" cy="4092577"/>
        </p:xfrm>
        <a:graphic>
          <a:graphicData uri="http://schemas.openxmlformats.org/drawingml/2006/table">
            <a:tbl>
              <a:tblPr/>
              <a:tblGrid>
                <a:gridCol w="233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89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Change From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Resulting NPV (000s)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Base level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r   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sales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Salvage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-30%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$113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$85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-15%	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$52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$86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0%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$88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$88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15%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$76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$124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$90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30%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$65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$159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$91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2DE00E-A053-49D2-B06D-5E05747DBCF3}" type="slidenum">
              <a:rPr lang="en-US" altLang="en-US">
                <a:latin typeface="Tahoma" panose="020B0604030504040204" pitchFamily="34" charset="0"/>
              </a:rPr>
              <a:pPr eaLnBrk="1" hangingPunct="1"/>
              <a:t>62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2316DA-37C0-4928-9A8A-7E1FCF39C2B0}" type="slidenum">
              <a:rPr lang="en-US" altLang="en-US">
                <a:latin typeface="Tahoma" panose="020B0604030504040204" pitchFamily="34" charset="0"/>
              </a:rPr>
              <a:pPr eaLnBrk="1" hangingPunct="1"/>
              <a:t>63</a:t>
            </a:fld>
            <a:endParaRPr lang="en-US" altLang="en-US">
              <a:latin typeface="Tahoma" panose="020B0604030504040204" pitchFamily="34" charset="0"/>
            </a:endParaRPr>
          </a:p>
        </p:txBody>
      </p:sp>
      <p:grpSp>
        <p:nvGrpSpPr>
          <p:cNvPr id="52227" name="Group 24"/>
          <p:cNvGrpSpPr>
            <a:grpSpLocks/>
          </p:cNvGrpSpPr>
          <p:nvPr/>
        </p:nvGrpSpPr>
        <p:grpSpPr bwMode="auto">
          <a:xfrm>
            <a:off x="1119188" y="1797050"/>
            <a:ext cx="7323137" cy="4681538"/>
            <a:chOff x="705" y="1132"/>
            <a:chExt cx="4613" cy="2949"/>
          </a:xfrm>
        </p:grpSpPr>
        <p:sp>
          <p:nvSpPr>
            <p:cNvPr id="44037" name="Freeform 2"/>
            <p:cNvSpPr>
              <a:spLocks/>
            </p:cNvSpPr>
            <p:nvPr/>
          </p:nvSpPr>
          <p:spPr bwMode="auto">
            <a:xfrm>
              <a:off x="1161" y="1536"/>
              <a:ext cx="3793" cy="2266"/>
            </a:xfrm>
            <a:custGeom>
              <a:avLst/>
              <a:gdLst>
                <a:gd name="T0" fmla="*/ 0 w 3793"/>
                <a:gd name="T1" fmla="*/ 0 h 2401"/>
                <a:gd name="T2" fmla="*/ 0 w 3793"/>
                <a:gd name="T3" fmla="*/ 2400 h 2401"/>
                <a:gd name="T4" fmla="*/ 3792 w 3793"/>
                <a:gd name="T5" fmla="*/ 2400 h 2401"/>
                <a:gd name="T6" fmla="*/ 0 60000 65536"/>
                <a:gd name="T7" fmla="*/ 0 60000 65536"/>
                <a:gd name="T8" fmla="*/ 0 60000 65536"/>
                <a:gd name="T9" fmla="*/ 0 w 3793"/>
                <a:gd name="T10" fmla="*/ 0 h 2401"/>
                <a:gd name="T11" fmla="*/ 3793 w 3793"/>
                <a:gd name="T12" fmla="*/ 2401 h 24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3" h="2401">
                  <a:moveTo>
                    <a:pt x="0" y="0"/>
                  </a:moveTo>
                  <a:lnTo>
                    <a:pt x="0" y="2400"/>
                  </a:lnTo>
                  <a:lnTo>
                    <a:pt x="3792" y="2400"/>
                  </a:lnTo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38" name="Line 3"/>
            <p:cNvSpPr>
              <a:spLocks noChangeShapeType="1"/>
            </p:cNvSpPr>
            <p:nvPr/>
          </p:nvSpPr>
          <p:spPr bwMode="auto">
            <a:xfrm flipV="1">
              <a:off x="1602" y="1769"/>
              <a:ext cx="2903" cy="1712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39" name="Line 4"/>
            <p:cNvSpPr>
              <a:spLocks noChangeShapeType="1"/>
            </p:cNvSpPr>
            <p:nvPr/>
          </p:nvSpPr>
          <p:spPr bwMode="auto">
            <a:xfrm flipV="1">
              <a:off x="1602" y="2489"/>
              <a:ext cx="2857" cy="17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0" name="Line 5"/>
            <p:cNvSpPr>
              <a:spLocks noChangeShapeType="1"/>
            </p:cNvSpPr>
            <p:nvPr/>
          </p:nvSpPr>
          <p:spPr bwMode="auto">
            <a:xfrm>
              <a:off x="1556" y="2341"/>
              <a:ext cx="2784" cy="43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1" name="Rectangle 6"/>
            <p:cNvSpPr>
              <a:spLocks noChangeArrowheads="1"/>
            </p:cNvSpPr>
            <p:nvPr/>
          </p:nvSpPr>
          <p:spPr bwMode="auto">
            <a:xfrm>
              <a:off x="1008" y="3792"/>
              <a:ext cx="4310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dirty="0">
                  <a:latin typeface="+mn-lt"/>
                </a:rPr>
                <a:t>     -30     -20     -10   Base   10     20     30   </a:t>
              </a:r>
              <a:r>
                <a:rPr lang="en-US" dirty="0">
                  <a:latin typeface="+mn-lt"/>
                </a:rPr>
                <a:t>(%)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44042" name="Rectangle 7"/>
            <p:cNvSpPr>
              <a:spLocks noChangeArrowheads="1"/>
            </p:cNvSpPr>
            <p:nvPr/>
          </p:nvSpPr>
          <p:spPr bwMode="auto">
            <a:xfrm>
              <a:off x="705" y="2415"/>
              <a:ext cx="448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dirty="0">
                  <a:latin typeface="+mn-lt"/>
                </a:rPr>
                <a:t>  88</a:t>
              </a:r>
            </a:p>
          </p:txBody>
        </p:sp>
        <p:sp>
          <p:nvSpPr>
            <p:cNvPr id="44043" name="Line 8"/>
            <p:cNvSpPr>
              <a:spLocks noChangeShapeType="1"/>
            </p:cNvSpPr>
            <p:nvPr/>
          </p:nvSpPr>
          <p:spPr bwMode="auto">
            <a:xfrm>
              <a:off x="1593" y="3709"/>
              <a:ext cx="0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4" name="Line 9"/>
            <p:cNvSpPr>
              <a:spLocks noChangeShapeType="1"/>
            </p:cNvSpPr>
            <p:nvPr/>
          </p:nvSpPr>
          <p:spPr bwMode="auto">
            <a:xfrm>
              <a:off x="2121" y="3661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5" name="Line 10"/>
            <p:cNvSpPr>
              <a:spLocks noChangeShapeType="1"/>
            </p:cNvSpPr>
            <p:nvPr/>
          </p:nvSpPr>
          <p:spPr bwMode="auto">
            <a:xfrm>
              <a:off x="2649" y="3661"/>
              <a:ext cx="0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6" name="Line 11"/>
            <p:cNvSpPr>
              <a:spLocks noChangeShapeType="1"/>
            </p:cNvSpPr>
            <p:nvPr/>
          </p:nvSpPr>
          <p:spPr bwMode="auto">
            <a:xfrm>
              <a:off x="3657" y="3661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7" name="Line 12"/>
            <p:cNvSpPr>
              <a:spLocks noChangeShapeType="1"/>
            </p:cNvSpPr>
            <p:nvPr/>
          </p:nvSpPr>
          <p:spPr bwMode="auto">
            <a:xfrm>
              <a:off x="4137" y="3661"/>
              <a:ext cx="0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8" name="Line 13"/>
            <p:cNvSpPr>
              <a:spLocks noChangeShapeType="1"/>
            </p:cNvSpPr>
            <p:nvPr/>
          </p:nvSpPr>
          <p:spPr bwMode="auto">
            <a:xfrm>
              <a:off x="4617" y="3709"/>
              <a:ext cx="0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49" name="Line 14"/>
            <p:cNvSpPr>
              <a:spLocks noChangeShapeType="1"/>
            </p:cNvSpPr>
            <p:nvPr/>
          </p:nvSpPr>
          <p:spPr bwMode="auto">
            <a:xfrm>
              <a:off x="3177" y="2585"/>
              <a:ext cx="0" cy="119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44050" name="Rectangle 15"/>
            <p:cNvSpPr>
              <a:spLocks noChangeArrowheads="1"/>
            </p:cNvSpPr>
            <p:nvPr/>
          </p:nvSpPr>
          <p:spPr bwMode="auto">
            <a:xfrm>
              <a:off x="748" y="1132"/>
              <a:ext cx="836" cy="4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85000"/>
                </a:lnSpc>
                <a:defRPr/>
              </a:pPr>
              <a:r>
                <a:rPr lang="en-US" sz="2400" dirty="0">
                  <a:latin typeface="+mn-lt"/>
                </a:rPr>
                <a:t> NPV</a:t>
              </a:r>
            </a:p>
            <a:p>
              <a:pPr algn="ctr" eaLnBrk="0" hangingPunct="0">
                <a:lnSpc>
                  <a:spcPct val="85000"/>
                </a:lnSpc>
                <a:defRPr/>
              </a:pPr>
              <a:r>
                <a:rPr lang="en-US" sz="2400" dirty="0">
                  <a:latin typeface="+mn-lt"/>
                </a:rPr>
                <a:t>($ 000s)</a:t>
              </a:r>
            </a:p>
          </p:txBody>
        </p:sp>
        <p:sp>
          <p:nvSpPr>
            <p:cNvPr id="44051" name="Rectangle 16"/>
            <p:cNvSpPr>
              <a:spLocks noChangeArrowheads="1"/>
            </p:cNvSpPr>
            <p:nvPr/>
          </p:nvSpPr>
          <p:spPr bwMode="auto">
            <a:xfrm>
              <a:off x="4128" y="1488"/>
              <a:ext cx="96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dirty="0">
                  <a:solidFill>
                    <a:schemeClr val="tx2"/>
                  </a:solidFill>
                  <a:latin typeface="+mn-lt"/>
                </a:rPr>
                <a:t>Unit Sales</a:t>
              </a:r>
            </a:p>
          </p:txBody>
        </p:sp>
        <p:sp>
          <p:nvSpPr>
            <p:cNvPr id="44052" name="Rectangle 17"/>
            <p:cNvSpPr>
              <a:spLocks noChangeArrowheads="1"/>
            </p:cNvSpPr>
            <p:nvPr/>
          </p:nvSpPr>
          <p:spPr bwMode="auto">
            <a:xfrm>
              <a:off x="4512" y="2352"/>
              <a:ext cx="77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dirty="0">
                  <a:latin typeface="+mn-lt"/>
                </a:rPr>
                <a:t>Salvage</a:t>
              </a:r>
            </a:p>
          </p:txBody>
        </p:sp>
        <p:sp>
          <p:nvSpPr>
            <p:cNvPr id="44053" name="Rectangle 18"/>
            <p:cNvSpPr>
              <a:spLocks noChangeArrowheads="1"/>
            </p:cNvSpPr>
            <p:nvPr/>
          </p:nvSpPr>
          <p:spPr bwMode="auto">
            <a:xfrm>
              <a:off x="4272" y="2832"/>
              <a:ext cx="185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defRPr/>
              </a:pPr>
              <a:r>
                <a:rPr lang="en-US" sz="2400" dirty="0">
                  <a:latin typeface="+mn-lt"/>
                </a:rPr>
                <a:t>r</a:t>
              </a:r>
            </a:p>
          </p:txBody>
        </p:sp>
        <p:sp>
          <p:nvSpPr>
            <p:cNvPr id="44054" name="Line 19"/>
            <p:cNvSpPr>
              <a:spLocks noChangeShapeType="1"/>
            </p:cNvSpPr>
            <p:nvPr/>
          </p:nvSpPr>
          <p:spPr bwMode="auto">
            <a:xfrm flipH="1">
              <a:off x="1150" y="2575"/>
              <a:ext cx="204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 dirty="0">
                <a:latin typeface="+mn-lt"/>
              </a:endParaRPr>
            </a:p>
          </p:txBody>
        </p:sp>
      </p:grpSp>
      <p:sp>
        <p:nvSpPr>
          <p:cNvPr id="52228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Sensitivity Graph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357A82-FD15-4BC8-AA85-7B1551485C71}" type="slidenum">
              <a:rPr lang="en-US" altLang="en-US">
                <a:latin typeface="Tahoma" panose="020B0604030504040204" pitchFamily="34" charset="0"/>
              </a:rPr>
              <a:pPr eaLnBrk="1" hangingPunct="1"/>
              <a:t>64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Results of Sensitivity Analysis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Steeper sensitivity lines show greater risk.  Small changes result in large declines in NPV.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Unit sales line is steeper than salvage value or r, so for this project, should worry most about accuracy of sales  forecast.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C6FB342-A083-42DD-AAAA-16CFCECA4F7B}" type="slidenum">
              <a:rPr lang="en-US" altLang="en-US">
                <a:latin typeface="Tahoma" panose="020B0604030504040204" pitchFamily="34" charset="0"/>
              </a:rPr>
              <a:pPr eaLnBrk="1" hangingPunct="1"/>
              <a:t>65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are the weaknesses of</a:t>
            </a:r>
            <a:br>
              <a:rPr lang="en-US" altLang="en-US"/>
            </a:br>
            <a:r>
              <a:rPr lang="en-US" altLang="en-US"/>
              <a:t>sensitivity analysis?</a:t>
            </a:r>
          </a:p>
        </p:txBody>
      </p:sp>
      <p:sp>
        <p:nvSpPr>
          <p:cNvPr id="5427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Does not reflect diversification.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Says nothing about the likelihood of change in a variable, i.e. a steep sales line is not a problem if sales won’t fall.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Ignores relationships among variables.</a:t>
            </a: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5020E1C-D742-47CA-9186-8BE9A2EBF080}" type="slidenum">
              <a:rPr lang="en-US" altLang="en-US">
                <a:latin typeface="Tahoma" panose="020B0604030504040204" pitchFamily="34" charset="0"/>
              </a:rPr>
              <a:pPr eaLnBrk="1" hangingPunct="1"/>
              <a:t>66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52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is sensitivity analysis useful?</a:t>
            </a:r>
          </a:p>
        </p:txBody>
      </p:sp>
      <p:sp>
        <p:nvSpPr>
          <p:cNvPr id="553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Gives some idea of stand-alone risk.</a:t>
            </a:r>
          </a:p>
          <a:p>
            <a:pPr eaLnBrk="1" hangingPunct="1"/>
            <a:r>
              <a:rPr lang="en-US" altLang="en-US"/>
              <a:t>Identifies dangerous variables.</a:t>
            </a:r>
          </a:p>
          <a:p>
            <a:pPr eaLnBrk="1" hangingPunct="1"/>
            <a:r>
              <a:rPr lang="en-US" altLang="en-US"/>
              <a:t>Gives some breakeven information.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90F81DC-86D0-4199-9BB1-F78EF72AAE4B}" type="slidenum">
              <a:rPr lang="en-US" altLang="en-US">
                <a:latin typeface="Tahoma" panose="020B0604030504040204" pitchFamily="34" charset="0"/>
              </a:rPr>
              <a:pPr eaLnBrk="1" hangingPunct="1"/>
              <a:t>67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63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scenario analysis?</a:t>
            </a:r>
          </a:p>
        </p:txBody>
      </p:sp>
      <p:sp>
        <p:nvSpPr>
          <p:cNvPr id="563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Examines several possible situations, usually worst case, most likely case, and best case.</a:t>
            </a:r>
          </a:p>
          <a:p>
            <a:pPr eaLnBrk="1" hangingPunct="1"/>
            <a:r>
              <a:rPr lang="en-US" altLang="en-US"/>
              <a:t>Provides a range of possible outcomes.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D4D1D75-9245-4C20-A0D5-1C7654E55C57}" type="slidenum">
              <a:rPr lang="en-US" altLang="en-US">
                <a:latin typeface="Tahoma" panose="020B0604030504040204" pitchFamily="34" charset="0"/>
              </a:rPr>
              <a:pPr eaLnBrk="1" hangingPunct="1"/>
              <a:t>68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7347" name="Rectangle 60"/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214313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en-US" sz="3600"/>
              <a:t>Best scenario: 1,600 units @ $240</a:t>
            </a:r>
            <a:br>
              <a:rPr lang="en-US" altLang="en-US" sz="3600"/>
            </a:br>
            <a:r>
              <a:rPr lang="en-US" altLang="en-US" sz="3600"/>
              <a:t>Worst scenario: 900 units @ $160</a:t>
            </a:r>
          </a:p>
        </p:txBody>
      </p:sp>
      <p:graphicFrame>
        <p:nvGraphicFramePr>
          <p:cNvPr id="289857" name="Group 65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15978917"/>
              </p:ext>
            </p:extLst>
          </p:nvPr>
        </p:nvGraphicFramePr>
        <p:xfrm>
          <a:off x="1524000" y="1958975"/>
          <a:ext cx="6284912" cy="4114801"/>
        </p:xfrm>
        <a:graphic>
          <a:graphicData uri="http://schemas.openxmlformats.org/drawingml/2006/table">
            <a:tbl>
              <a:tblPr/>
              <a:tblGrid>
                <a:gridCol w="186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Scenario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NPV(000)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Worst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E(NPV) = $101.6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3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σ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(NPV) =  116.6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CV(NPV) = </a:t>
                      </a:r>
                      <a:r>
                        <a:rPr kumimoji="0" lang="el-G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σ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(NPV)/E(NPV) =   1.15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6A5A155-DEB1-4EFE-9255-373DFB616809}" type="slidenum">
              <a:rPr lang="en-US" altLang="en-US">
                <a:latin typeface="Tahoma" panose="020B0604030504040204" pitchFamily="34" charset="0"/>
              </a:rPr>
              <a:pPr eaLnBrk="1" hangingPunct="1"/>
              <a:t>69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8371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Are there any problems with </a:t>
            </a:r>
            <a:br>
              <a:rPr lang="en-US" altLang="en-US"/>
            </a:br>
            <a:r>
              <a:rPr lang="en-US" altLang="en-US"/>
              <a:t>scenario analysis?</a:t>
            </a:r>
          </a:p>
        </p:txBody>
      </p:sp>
      <p:sp>
        <p:nvSpPr>
          <p:cNvPr id="58372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Only considers a few possible out-comes.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Assumes that inputs are perfectly correlated—all “bad” values occur together and all “good” values occur together.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Focuses on stand-alone risk, although subjective adjustments can be made.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F47783-548B-4717-A687-4C9D5328FC9D}" type="slidenum">
              <a:rPr lang="en-US" altLang="en-US">
                <a:latin typeface="Tahoma" panose="020B0604030504040204" pitchFamily="34" charset="0"/>
              </a:rPr>
              <a:pPr eaLnBrk="1" hangingPunct="1"/>
              <a:t>70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939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is a simulation analysis?</a:t>
            </a:r>
          </a:p>
        </p:txBody>
      </p:sp>
      <p:sp>
        <p:nvSpPr>
          <p:cNvPr id="5939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computerized version of scenario analysis that uses continuous probability distributions.</a:t>
            </a:r>
          </a:p>
          <a:p>
            <a:pPr eaLnBrk="1" hangingPunct="1"/>
            <a:r>
              <a:rPr lang="en-US" altLang="en-US"/>
              <a:t>Computer selects values for each variable based on given probability distributions.</a:t>
            </a:r>
            <a:br>
              <a:rPr lang="en-US" altLang="en-US"/>
            </a:br>
            <a:r>
              <a:rPr lang="en-US" altLang="en-US"/>
              <a:t>					</a:t>
            </a: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7599363" y="5854700"/>
            <a:ext cx="11620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2000">
                <a:latin typeface="Tahoma" panose="020B0604030504040204" pitchFamily="34" charset="0"/>
              </a:rPr>
              <a:t>(More...)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C555C6D-726C-4B55-8548-18D1D6BEDBF0}" type="slidenum">
              <a:rPr lang="en-US" altLang="en-US">
                <a:latin typeface="Tahoma" panose="020B0604030504040204" pitchFamily="34" charset="0"/>
              </a:rPr>
              <a:pPr eaLnBrk="1" hangingPunct="1"/>
              <a:t>71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is a simulation analysis? (Continued)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NPV and IRR are calculated.</a:t>
            </a:r>
          </a:p>
          <a:p>
            <a:pPr eaLnBrk="1" hangingPunct="1"/>
            <a:r>
              <a:rPr lang="en-US" altLang="en-US"/>
              <a:t>Process is repeated many times (1,000 or more).</a:t>
            </a:r>
          </a:p>
          <a:p>
            <a:pPr eaLnBrk="1" hangingPunct="1"/>
            <a:r>
              <a:rPr lang="en-US" altLang="en-US"/>
              <a:t>End result:  Probability distribution of NPV and IRR based on sample of simulated values.</a:t>
            </a:r>
          </a:p>
          <a:p>
            <a:pPr eaLnBrk="1" hangingPunct="1"/>
            <a:r>
              <a:rPr lang="en-US" altLang="en-US"/>
              <a:t>Generally shown graphically.</a:t>
            </a: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A87743-58ED-42F7-A39E-A5311EE982A8}" type="slidenum">
              <a:rPr lang="en-US" altLang="en-US">
                <a:latin typeface="Tahoma" panose="020B0604030504040204" pitchFamily="34" charset="0"/>
              </a:rPr>
              <a:pPr eaLnBrk="1" hangingPunct="1"/>
              <a:t>72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1443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Simulation Example Assumptions</a:t>
            </a:r>
          </a:p>
        </p:txBody>
      </p:sp>
      <p:sp>
        <p:nvSpPr>
          <p:cNvPr id="61444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Normal distribution for unit sales: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Mean = 1,250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Standard deviation = 200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Normal distribution for unit price: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Mean = $200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Standard deviation = $30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2110B3F-F436-4C78-A71B-9E56A6D36F7E}" type="slidenum">
              <a:rPr lang="en-US" altLang="en-US">
                <a:latin typeface="Tahoma" panose="020B0604030504040204" pitchFamily="34" charset="0"/>
              </a:rPr>
              <a:pPr eaLnBrk="1" hangingPunct="1"/>
              <a:t>73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24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Simulation Process</a:t>
            </a:r>
          </a:p>
        </p:txBody>
      </p:sp>
      <p:sp>
        <p:nvSpPr>
          <p:cNvPr id="624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Pick a random variable for unit sales and sale price.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Substitute these values in the spreadsheet and calculate NPV.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Repeat the process many times, saving the input variables (units and price) and the output (NPV).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1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Simulation Results (2,000 trials)</a:t>
            </a:r>
            <a:endParaRPr lang="en-US" altLang="en-US" sz="3600"/>
          </a:p>
        </p:txBody>
      </p:sp>
      <p:sp>
        <p:nvSpPr>
          <p:cNvPr id="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C4917D-869B-4147-9F61-1429BDEE3746}" type="slidenum">
              <a:rPr lang="en-US" altLang="en-US">
                <a:latin typeface="Tahoma" panose="020B0604030504040204" pitchFamily="34" charset="0"/>
              </a:rPr>
              <a:pPr eaLnBrk="1" hangingPunct="1"/>
              <a:t>74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55348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971692"/>
              </p:ext>
            </p:extLst>
          </p:nvPr>
        </p:nvGraphicFramePr>
        <p:xfrm>
          <a:off x="628650" y="1600201"/>
          <a:ext cx="7981949" cy="4802188"/>
        </p:xfrm>
        <a:graphic>
          <a:graphicData uri="http://schemas.openxmlformats.org/drawingml/2006/table">
            <a:tbl>
              <a:tblPr/>
              <a:tblGrid>
                <a:gridCol w="26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0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6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Units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Price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NPV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Mean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1,252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$200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$88,808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Std deviation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199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$82,519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3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Maximum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1,927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294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$475,145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1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Minimum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454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94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-$166,208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53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Median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685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$163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$84,551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 NPV &gt; 0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86.9%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CV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0.93 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053A24-9B0B-4BB0-9434-D58E559A8A63}" type="slidenum">
              <a:rPr lang="en-US" altLang="en-US">
                <a:latin typeface="Tahoma" panose="020B0604030504040204" pitchFamily="34" charset="0"/>
              </a:rPr>
              <a:pPr eaLnBrk="1" hangingPunct="1"/>
              <a:t>75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45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Interpreting the Results</a:t>
            </a:r>
          </a:p>
        </p:txBody>
      </p:sp>
      <p:sp>
        <p:nvSpPr>
          <p:cNvPr id="6451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58031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Inputs are consistent with specified distributions.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Units: Mean = 1,252; St. Dev. = 199.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Price: Mean = $200; St. Dev. = $30.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Mean NPV = $ $88,808.  Low probability of negative NPV (100% – 87% = 13%).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87CA3A6-A651-4691-92F0-380FE270D960}" type="slidenum">
              <a:rPr lang="en-US" altLang="en-US">
                <a:latin typeface="Tahoma" panose="020B0604030504040204" pitchFamily="34" charset="0"/>
              </a:rPr>
              <a:pPr eaLnBrk="1" hangingPunct="1"/>
              <a:t>76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553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50963" y="214313"/>
            <a:ext cx="7793037" cy="1462087"/>
          </a:xfrm>
        </p:spPr>
        <p:txBody>
          <a:bodyPr/>
          <a:lstStyle/>
          <a:p>
            <a:pPr eaLnBrk="1" hangingPunct="1"/>
            <a:r>
              <a:rPr lang="en-US" altLang="en-US"/>
              <a:t>Histogram of Results</a:t>
            </a:r>
          </a:p>
        </p:txBody>
      </p:sp>
      <p:graphicFrame>
        <p:nvGraphicFramePr>
          <p:cNvPr id="65540" name="Object 5"/>
          <p:cNvGraphicFramePr>
            <a:graphicFrameLocks noGrp="1"/>
          </p:cNvGraphicFramePr>
          <p:nvPr>
            <p:ph type="chart" idx="4294967295"/>
            <p:extLst>
              <p:ext uri="{D42A27DB-BD31-4B8C-83A1-F6EECF244321}">
                <p14:modId xmlns:p14="http://schemas.microsoft.com/office/powerpoint/2010/main" val="3047303302"/>
              </p:ext>
            </p:extLst>
          </p:nvPr>
        </p:nvGraphicFramePr>
        <p:xfrm>
          <a:off x="628650" y="1901825"/>
          <a:ext cx="7981950" cy="427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10239236" imgH="5691324" progId="MSGraph.Chart.8">
                  <p:embed followColorScheme="full"/>
                </p:oleObj>
              </mc:Choice>
              <mc:Fallback>
                <p:oleObj name="Chart" r:id="rId3" imgW="10239236" imgH="5691324" progId="MSGraph.Chart.8">
                  <p:embed followColorScheme="full"/>
                  <p:pic>
                    <p:nvPicPr>
                      <p:cNvPr id="6554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901825"/>
                        <a:ext cx="7981950" cy="427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EA3ED15-60BC-488F-B354-4E21120B087A}" type="slidenum">
              <a:rPr lang="en-US" altLang="en-US">
                <a:latin typeface="Tahoma" panose="020B0604030504040204" pitchFamily="34" charset="0"/>
              </a:rPr>
              <a:pPr eaLnBrk="1" hangingPunct="1"/>
              <a:t>77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656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What are the advantages of simulation analysis?</a:t>
            </a:r>
          </a:p>
        </p:txBody>
      </p:sp>
      <p:sp>
        <p:nvSpPr>
          <p:cNvPr id="665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Reflects the probability distributions of each input.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Shows range of NPVs, the expected NPV, </a:t>
            </a:r>
            <a:r>
              <a:rPr lang="el-GR" altLang="en-US"/>
              <a:t>σ</a:t>
            </a:r>
            <a:r>
              <a:rPr lang="en-US" altLang="en-US" baseline="-25000"/>
              <a:t>NPV</a:t>
            </a:r>
            <a:r>
              <a:rPr lang="en-US" altLang="en-US"/>
              <a:t>, and CV</a:t>
            </a:r>
            <a:r>
              <a:rPr lang="en-US" altLang="en-US" baseline="-25000"/>
              <a:t>NPV</a:t>
            </a:r>
            <a:r>
              <a:rPr lang="en-US" altLang="en-US"/>
              <a:t>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Gives an intuitive graph of the risk situation.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F466F1-0B30-4863-ACF5-4DDB9AB7B223}" type="slidenum">
              <a:rPr lang="en-US" altLang="en-US">
                <a:latin typeface="Tahoma" panose="020B0604030504040204" pitchFamily="34" charset="0"/>
              </a:rPr>
              <a:pPr eaLnBrk="1" hangingPunct="1"/>
              <a:t>78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7587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What are the disadvantages </a:t>
            </a:r>
            <a:br>
              <a:rPr lang="en-US" altLang="en-US" dirty="0"/>
            </a:br>
            <a:r>
              <a:rPr lang="en-US" altLang="en-US" dirty="0"/>
              <a:t>of simulation?</a:t>
            </a:r>
          </a:p>
        </p:txBody>
      </p:sp>
      <p:sp>
        <p:nvSpPr>
          <p:cNvPr id="6758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Difficult to specify probability distributions and correlations.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If inputs are bad, output will be bad:</a:t>
            </a:r>
            <a:br>
              <a:rPr lang="en-US" altLang="en-US"/>
            </a:br>
            <a:r>
              <a:rPr lang="en-US" altLang="en-US"/>
              <a:t>“Garbage in, garbage out.”				</a:t>
            </a: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7545388" y="5854700"/>
            <a:ext cx="11620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2000">
                <a:latin typeface="Tahoma" panose="020B0604030504040204" pitchFamily="34" charset="0"/>
              </a:rPr>
              <a:t>(More...)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7089-9484-27C3-F05A-13E5EB68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What are the disadvantages </a:t>
            </a:r>
            <a:br>
              <a:rPr lang="en-US" altLang="en-US" dirty="0"/>
            </a:br>
            <a:r>
              <a:rPr lang="en-US" altLang="en-US" dirty="0"/>
              <a:t>of simulation? (Continued)</a:t>
            </a:r>
            <a:endParaRPr lang="en-US" dirty="0"/>
          </a:p>
        </p:txBody>
      </p:sp>
      <p:sp>
        <p:nvSpPr>
          <p:cNvPr id="68611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Sensitivity, scenario, and simulation analyses do not provide a decision rule.  They do not indicate whether a project’s expected return is sufficient to compensate for its risk.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sz="2800" dirty="0"/>
              <a:t>Sensitivity, scenario, and simulation analyses all ignore diversification.  Thus, they measure only stand-alone risk, which may not be the most relevant risk in capital budgeting.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9B7E2A-1ECF-4D19-9231-BAF08BD528CC}" type="slidenum">
              <a:rPr lang="en-US" altLang="en-US">
                <a:latin typeface="Tahoma" panose="020B0604030504040204" pitchFamily="34" charset="0"/>
              </a:rPr>
              <a:pPr eaLnBrk="1" hangingPunct="1"/>
              <a:t>79</a:t>
            </a:fld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B9BC640-4971-49AA-9ECF-5C754F2B40EC}" type="slidenum">
              <a:rPr lang="en-US" altLang="en-US">
                <a:latin typeface="Tahoma" panose="020B0604030504040204" pitchFamily="34" charset="0"/>
              </a:rPr>
              <a:pPr eaLnBrk="1" hangingPunct="1"/>
              <a:t>80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963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If the firm’s average project has a CV of 0.2 to 0.4, is this a high-risk project?  What type of risk is being measured?</a:t>
            </a:r>
          </a:p>
        </p:txBody>
      </p:sp>
      <p:sp>
        <p:nvSpPr>
          <p:cNvPr id="6963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CV from scenarios = 1.15, CV from simulation = 0.93.  Both are &gt; 0.4, this project has high risk.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CV measures a project’s stand-alone risk.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High stand-alone risk usually indicates high corporate and market risks.</a:t>
            </a: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537B29-7F11-41DD-A968-3A453A31E76D}" type="slidenum">
              <a:rPr lang="en-US" altLang="en-US">
                <a:latin typeface="Tahoma" panose="020B0604030504040204" pitchFamily="34" charset="0"/>
              </a:rPr>
              <a:pPr eaLnBrk="1" hangingPunct="1"/>
              <a:t>81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065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With a 3% risk adjustment, should our project be accepted?</a:t>
            </a:r>
          </a:p>
        </p:txBody>
      </p:sp>
      <p:sp>
        <p:nvSpPr>
          <p:cNvPr id="7066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Project r = 10% + 3% = 13%.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That’s 30% above base r.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NPV = $65,371.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/>
              <a:t>Project remains acceptable after accounting for differential (higher) risk.</a:t>
            </a: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97E68EF-7F06-4A0F-8EBD-172A964ECCFD}" type="slidenum">
              <a:rPr lang="en-US" altLang="en-US">
                <a:latin typeface="Tahoma" panose="020B0604030504040204" pitchFamily="34" charset="0"/>
              </a:rPr>
              <a:pPr eaLnBrk="1" hangingPunct="1"/>
              <a:t>82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168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Should subjective risk factors be considered?</a:t>
            </a:r>
          </a:p>
        </p:txBody>
      </p:sp>
      <p:sp>
        <p:nvSpPr>
          <p:cNvPr id="7168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Yes. A numerical analysis may not capture all of the risk factors inherent in the project.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US" altLang="en-US" dirty="0"/>
              <a:t>For example, if the project has the potential for bringing on harmful lawsuits, then it might be riskier than a standard analysis would indicate.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ER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24</TotalTime>
  <Pages>24</Pages>
  <Words>3670</Words>
  <Application>Microsoft Office PowerPoint</Application>
  <PresentationFormat>On-screen Show (4:3)</PresentationFormat>
  <Paragraphs>770</Paragraphs>
  <Slides>82</Slides>
  <Notes>66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91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VISIO</vt:lpstr>
      <vt:lpstr>Chart</vt:lpstr>
      <vt:lpstr>CHAPTER 11</vt:lpstr>
      <vt:lpstr>CASH FLOW ESTIMATION</vt:lpstr>
      <vt:lpstr>CASH FLOW ESTIMATION</vt:lpstr>
      <vt:lpstr>Topics</vt:lpstr>
      <vt:lpstr>Capital Budgeting Analysis</vt:lpstr>
      <vt:lpstr>Consider Only Incremental CFs</vt:lpstr>
      <vt:lpstr>TYPES OF PROJECTS</vt:lpstr>
      <vt:lpstr>Incremental Cash Flow for a Project</vt:lpstr>
      <vt:lpstr> Type of Costs</vt:lpstr>
      <vt:lpstr>Sunk Costs</vt:lpstr>
      <vt:lpstr>Incremental Costs</vt:lpstr>
      <vt:lpstr>Externalities</vt:lpstr>
      <vt:lpstr>Treatment of Financing Costs</vt:lpstr>
      <vt:lpstr>Relevant CFs: 3 categories </vt:lpstr>
      <vt:lpstr>Relevant CFs: Initial Outlay</vt:lpstr>
      <vt:lpstr>Relevant CFs: Op. CFs</vt:lpstr>
      <vt:lpstr>Relevant CFs: Op. CFs &amp; I/S</vt:lpstr>
      <vt:lpstr>Relevant CFs: Terminal Year </vt:lpstr>
      <vt:lpstr>Relevant CFs: Terminal Year </vt:lpstr>
      <vt:lpstr> MACRS Depreciation Modified Accelerated Cost Recovery System</vt:lpstr>
      <vt:lpstr> MACRS Depreciation Asset Classes</vt:lpstr>
      <vt:lpstr> MACRS Depreciation Asset Classes (Continued)</vt:lpstr>
      <vt:lpstr> MACRS Depreciation Asset Classes Depreciation Rates</vt:lpstr>
      <vt:lpstr>What does “risk” mean in  capital budgeting?</vt:lpstr>
      <vt:lpstr>Is risk analysis based on historical data or subjective judgment?</vt:lpstr>
      <vt:lpstr>Risk Issues</vt:lpstr>
      <vt:lpstr>Importance of including inflation when estimating CFs?</vt:lpstr>
      <vt:lpstr>Inflation (Continued)</vt:lpstr>
      <vt:lpstr>Inflation &amp; Forecast Bias</vt:lpstr>
      <vt:lpstr>Forecast Bias &amp;  Additional Options</vt:lpstr>
      <vt:lpstr>What is a real option?  </vt:lpstr>
      <vt:lpstr>What are some types of  real options?</vt:lpstr>
      <vt:lpstr>Types of real options (Continued)</vt:lpstr>
      <vt:lpstr>Real options  </vt:lpstr>
      <vt:lpstr>3 types of risk relevant in capital budgeting?</vt:lpstr>
      <vt:lpstr>Stand-Alone Risk</vt:lpstr>
      <vt:lpstr>Probability Density</vt:lpstr>
      <vt:lpstr>Corporate Risk</vt:lpstr>
      <vt:lpstr>Project X is negatively correlated to firm’s other assets, so has big diversification benefits  </vt:lpstr>
      <vt:lpstr>Market Risk</vt:lpstr>
      <vt:lpstr>How is each type of risk used?</vt:lpstr>
      <vt:lpstr>How is each type of risk used? (Continued)</vt:lpstr>
      <vt:lpstr>Another Problem: Proposed Project Data</vt:lpstr>
      <vt:lpstr>Project Data (Continued)</vt:lpstr>
      <vt:lpstr>What is an asset’s depreciable basis?</vt:lpstr>
      <vt:lpstr>Annual Depreciation Expense (000s)</vt:lpstr>
      <vt:lpstr>Annual Sales and Costs</vt:lpstr>
      <vt:lpstr>Operating Cash Flows  (Years 1 and 2)</vt:lpstr>
      <vt:lpstr>Operating Cash Flows  (Years 3 and 4)</vt:lpstr>
      <vt:lpstr>Cash Flows Due to Investments in Net Working Capital (NWC)</vt:lpstr>
      <vt:lpstr>Salvage Cash Flow at t = 4 (000s)</vt:lpstr>
      <vt:lpstr>What if you terminate a project before the asset is fully depreciated?</vt:lpstr>
      <vt:lpstr>Example:  If Sold After 3 Years for $25 ($ thousands)</vt:lpstr>
      <vt:lpstr>Example:  If Sold After 3 Years for $10 ($ thousands)</vt:lpstr>
      <vt:lpstr>Net Cash Flows for Years 1-2</vt:lpstr>
      <vt:lpstr>Net Cash Flows for Years 3-4</vt:lpstr>
      <vt:lpstr>Project Net CFs Time Line</vt:lpstr>
      <vt:lpstr>What is the project’s MIRR?  </vt:lpstr>
      <vt:lpstr>Calculator Solution</vt:lpstr>
      <vt:lpstr>What is the project’s payback?  ($ thousands)</vt:lpstr>
      <vt:lpstr>What is sensitivity analysis?</vt:lpstr>
      <vt:lpstr>Sensitivity Analysis</vt:lpstr>
      <vt:lpstr>Sensitivity Graph</vt:lpstr>
      <vt:lpstr>Results of Sensitivity Analysis</vt:lpstr>
      <vt:lpstr>What are the weaknesses of sensitivity analysis?</vt:lpstr>
      <vt:lpstr>Why is sensitivity analysis useful?</vt:lpstr>
      <vt:lpstr>What is scenario analysis?</vt:lpstr>
      <vt:lpstr>Best scenario: 1,600 units @ $240 Worst scenario: 900 units @ $160</vt:lpstr>
      <vt:lpstr>Are there any problems with  scenario analysis?</vt:lpstr>
      <vt:lpstr>What is a simulation analysis?</vt:lpstr>
      <vt:lpstr>What is a simulation analysis? (Continued)</vt:lpstr>
      <vt:lpstr>Simulation Example Assumptions</vt:lpstr>
      <vt:lpstr>Simulation Process</vt:lpstr>
      <vt:lpstr>Simulation Results (2,000 trials)</vt:lpstr>
      <vt:lpstr>Interpreting the Results</vt:lpstr>
      <vt:lpstr>Histogram of Results</vt:lpstr>
      <vt:lpstr>What are the advantages of simulation analysis?</vt:lpstr>
      <vt:lpstr>What are the disadvantages  of simulation?</vt:lpstr>
      <vt:lpstr>What are the disadvantages  of simulation? (Continued)</vt:lpstr>
      <vt:lpstr>If the firm’s average project has a CV of 0.2 to 0.4, is this a high-risk project?  What type of risk is being measured?</vt:lpstr>
      <vt:lpstr>With a 3% risk adjustment, should our project be accepted?</vt:lpstr>
      <vt:lpstr>Should subjective risk factors be considered?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</dc:title>
  <dc:subject>Powerpoint show</dc:subject>
  <dc:creator>Donna Hall</dc:creator>
  <cp:lastModifiedBy>Donna Hall</cp:lastModifiedBy>
  <cp:revision>1</cp:revision>
  <cp:lastPrinted>2014-01-14T00:25:44Z</cp:lastPrinted>
  <dcterms:created xsi:type="dcterms:W3CDTF">2022-07-22T20:12:09Z</dcterms:created>
  <dcterms:modified xsi:type="dcterms:W3CDTF">2022-07-22T20:36:26Z</dcterms:modified>
</cp:coreProperties>
</file>