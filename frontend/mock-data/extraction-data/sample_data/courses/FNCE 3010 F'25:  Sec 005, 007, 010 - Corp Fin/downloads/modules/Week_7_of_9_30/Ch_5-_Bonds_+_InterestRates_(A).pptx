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87"/>
  </p:notesMasterIdLst>
  <p:handoutMasterIdLst>
    <p:handoutMasterId r:id="rId88"/>
  </p:handoutMasterIdLst>
  <p:sldIdLst>
    <p:sldId id="313" r:id="rId2"/>
    <p:sldId id="314" r:id="rId3"/>
    <p:sldId id="401" r:id="rId4"/>
    <p:sldId id="394" r:id="rId5"/>
    <p:sldId id="395" r:id="rId6"/>
    <p:sldId id="396" r:id="rId7"/>
    <p:sldId id="361" r:id="rId8"/>
    <p:sldId id="362" r:id="rId9"/>
    <p:sldId id="363" r:id="rId10"/>
    <p:sldId id="364" r:id="rId11"/>
    <p:sldId id="365" r:id="rId12"/>
    <p:sldId id="375" r:id="rId13"/>
    <p:sldId id="366" r:id="rId14"/>
    <p:sldId id="367" r:id="rId15"/>
    <p:sldId id="403" r:id="rId16"/>
    <p:sldId id="409" r:id="rId17"/>
    <p:sldId id="372" r:id="rId18"/>
    <p:sldId id="404" r:id="rId19"/>
    <p:sldId id="405" r:id="rId20"/>
    <p:sldId id="406" r:id="rId21"/>
    <p:sldId id="407" r:id="rId22"/>
    <p:sldId id="408" r:id="rId23"/>
    <p:sldId id="376" r:id="rId24"/>
    <p:sldId id="386" r:id="rId25"/>
    <p:sldId id="387" r:id="rId26"/>
    <p:sldId id="342" r:id="rId27"/>
    <p:sldId id="398" r:id="rId28"/>
    <p:sldId id="357" r:id="rId29"/>
    <p:sldId id="258" r:id="rId30"/>
    <p:sldId id="410" r:id="rId31"/>
    <p:sldId id="308" r:id="rId32"/>
    <p:sldId id="411" r:id="rId33"/>
    <p:sldId id="400" r:id="rId34"/>
    <p:sldId id="266" r:id="rId35"/>
    <p:sldId id="389" r:id="rId36"/>
    <p:sldId id="390" r:id="rId37"/>
    <p:sldId id="391" r:id="rId38"/>
    <p:sldId id="267" r:id="rId39"/>
    <p:sldId id="385" r:id="rId40"/>
    <p:sldId id="380" r:id="rId41"/>
    <p:sldId id="268" r:id="rId42"/>
    <p:sldId id="269" r:id="rId43"/>
    <p:sldId id="270" r:id="rId44"/>
    <p:sldId id="392" r:id="rId45"/>
    <p:sldId id="393" r:id="rId46"/>
    <p:sldId id="271" r:id="rId47"/>
    <p:sldId id="414" r:id="rId48"/>
    <p:sldId id="275" r:id="rId49"/>
    <p:sldId id="413" r:id="rId50"/>
    <p:sldId id="417" r:id="rId51"/>
    <p:sldId id="388" r:id="rId52"/>
    <p:sldId id="274" r:id="rId53"/>
    <p:sldId id="276" r:id="rId54"/>
    <p:sldId id="381" r:id="rId55"/>
    <p:sldId id="277" r:id="rId56"/>
    <p:sldId id="278" r:id="rId57"/>
    <p:sldId id="285" r:id="rId58"/>
    <p:sldId id="286" r:id="rId59"/>
    <p:sldId id="305" r:id="rId60"/>
    <p:sldId id="358" r:id="rId61"/>
    <p:sldId id="418" r:id="rId62"/>
    <p:sldId id="311" r:id="rId63"/>
    <p:sldId id="419" r:id="rId64"/>
    <p:sldId id="293" r:id="rId65"/>
    <p:sldId id="359" r:id="rId66"/>
    <p:sldId id="360" r:id="rId67"/>
    <p:sldId id="399" r:id="rId68"/>
    <p:sldId id="340" r:id="rId69"/>
    <p:sldId id="331" r:id="rId70"/>
    <p:sldId id="306" r:id="rId71"/>
    <p:sldId id="341" r:id="rId72"/>
    <p:sldId id="297" r:id="rId73"/>
    <p:sldId id="298" r:id="rId74"/>
    <p:sldId id="337" r:id="rId75"/>
    <p:sldId id="316" r:id="rId76"/>
    <p:sldId id="317" r:id="rId77"/>
    <p:sldId id="318" r:id="rId78"/>
    <p:sldId id="319" r:id="rId79"/>
    <p:sldId id="382" r:id="rId80"/>
    <p:sldId id="383" r:id="rId81"/>
    <p:sldId id="420" r:id="rId82"/>
    <p:sldId id="301" r:id="rId83"/>
    <p:sldId id="302" r:id="rId84"/>
    <p:sldId id="303" r:id="rId85"/>
    <p:sldId id="304" r:id="rId86"/>
  </p:sldIdLst>
  <p:sldSz cx="9144000" cy="6858000" type="screen4x3"/>
  <p:notesSz cx="7102475" cy="93884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CC"/>
    <a:srgbClr val="FAFD00"/>
    <a:srgbClr val="454135"/>
    <a:srgbClr val="DCCCA3"/>
    <a:srgbClr val="8CF4EA"/>
    <a:srgbClr val="00B7A5"/>
    <a:srgbClr val="D49FFF"/>
    <a:srgbClr val="83FD65"/>
    <a:srgbClr val="C0FEF9"/>
    <a:srgbClr val="60C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6" autoAdjust="0"/>
    <p:restoredTop sz="94694" autoAdjust="0"/>
  </p:normalViewPr>
  <p:slideViewPr>
    <p:cSldViewPr>
      <p:cViewPr varScale="1">
        <p:scale>
          <a:sx n="107" d="100"/>
          <a:sy n="107" d="100"/>
        </p:scale>
        <p:origin x="1542" y="102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8403" y="4458886"/>
            <a:ext cx="5204050" cy="42251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578" tIns="49108" rIns="96578" bIns="491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4438" y="711200"/>
            <a:ext cx="46736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9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27" tIns="48166" rIns="94727" bIns="4816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27" tIns="48166" rIns="94727" bIns="4816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27" tIns="48166" rIns="94727" bIns="4816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27" tIns="48166" rIns="94727" bIns="4816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27" tIns="48166" rIns="94727" bIns="48166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357299-3CAA-4CDE-86A8-E6F1315D1B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7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8932E-DA4A-4B25-A914-C4250F7488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2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  <p:sldLayoutId id="2147484294" r:id="rId12"/>
    <p:sldLayoutId id="214748429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D15E85-51CF-4AB3-AED0-36794D76C5F6}" type="slidenum">
              <a:rPr lang="en-US" altLang="en-US" sz="1400" smtClean="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5</a:t>
            </a:r>
          </a:p>
        </p:txBody>
      </p:sp>
      <p:sp>
        <p:nvSpPr>
          <p:cNvPr id="4100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Bonds, Bond Valuation, &amp; Interest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Topics in Chapter</a:t>
            </a:r>
          </a:p>
        </p:txBody>
      </p:sp>
      <p:sp>
        <p:nvSpPr>
          <p:cNvPr id="5124" name="Rectangle 1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 features of bonds</a:t>
            </a:r>
          </a:p>
          <a:p>
            <a:pPr eaLnBrk="1" hangingPunct="1"/>
            <a:r>
              <a:rPr lang="en-US" altLang="en-US"/>
              <a:t>Bond valuation</a:t>
            </a:r>
          </a:p>
          <a:p>
            <a:pPr eaLnBrk="1" hangingPunct="1"/>
            <a:r>
              <a:rPr lang="en-US" altLang="en-US"/>
              <a:t>Measuring yield</a:t>
            </a:r>
          </a:p>
          <a:p>
            <a:pPr eaLnBrk="1" hangingPunct="1"/>
            <a:r>
              <a:rPr lang="en-US" altLang="en-US"/>
              <a:t>Assessing risk</a:t>
            </a:r>
          </a:p>
        </p:txBody>
      </p:sp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42421F-603D-422F-878D-AC5F43C38F4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Interest Rates &amp; Interest-Bearing Securities</a:t>
            </a:r>
          </a:p>
        </p:txBody>
      </p:sp>
      <p:sp>
        <p:nvSpPr>
          <p:cNvPr id="6147" name="Content Placeholder 3"/>
          <p:cNvSpPr>
            <a:spLocks noGrp="1"/>
          </p:cNvSpPr>
          <p:nvPr>
            <p:ph idx="1"/>
          </p:nvPr>
        </p:nvSpPr>
        <p:spPr>
          <a:xfrm>
            <a:off x="228600" y="1524000"/>
            <a:ext cx="8286750" cy="4652964"/>
          </a:xfrm>
        </p:spPr>
        <p:txBody>
          <a:bodyPr>
            <a:normAutofit/>
          </a:bodyPr>
          <a:lstStyle/>
          <a:p>
            <a:r>
              <a:rPr lang="en-US" altLang="en-US" dirty="0"/>
              <a:t>Interest rates:</a:t>
            </a:r>
          </a:p>
          <a:p>
            <a:pPr lvl="1"/>
            <a:r>
              <a:rPr lang="en-US" altLang="en-US" dirty="0"/>
              <a:t>Based on:</a:t>
            </a:r>
          </a:p>
          <a:p>
            <a:pPr lvl="2"/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Driven by:</a:t>
            </a:r>
          </a:p>
          <a:p>
            <a:pPr lvl="2"/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Role of:</a:t>
            </a:r>
          </a:p>
          <a:p>
            <a:pPr lvl="2"/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Basis Point</a:t>
            </a:r>
          </a:p>
          <a:p>
            <a:pPr lvl="2"/>
            <a:r>
              <a:rPr lang="en-US" altLang="en-US" dirty="0"/>
              <a:t> </a:t>
            </a:r>
          </a:p>
        </p:txBody>
      </p:sp>
      <p:sp>
        <p:nvSpPr>
          <p:cNvPr id="819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91C75D-68CB-4646-8BB5-9FD1E3505B6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  <p:bldP spid="6147" grpId="1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Treasury Sales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2565861"/>
            <a:ext cx="6858000" cy="39111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7A78D-C5BF-44BC-8D58-4621223D88E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6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Ups Sale Amount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200" y="2017712"/>
            <a:ext cx="2590800" cy="46831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7A78D-C5BF-44BC-8D58-4621223D88E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42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Treasury Sales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017712"/>
            <a:ext cx="8001000" cy="461168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7A78D-C5BF-44BC-8D58-4621223D88E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76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365127"/>
            <a:ext cx="8534400" cy="103209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Risk &amp; Term Structure of Interest Rates</a:t>
            </a:r>
          </a:p>
        </p:txBody>
      </p:sp>
      <p:sp>
        <p:nvSpPr>
          <p:cNvPr id="7174" name="Rectangle 5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marL="1550988" indent="-1550988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  <a:tabLst>
                <a:tab pos="1022350" algn="l"/>
                <a:tab pos="1487488" algn="l"/>
              </a:tabLst>
            </a:pPr>
            <a:r>
              <a:rPr lang="en-US" altLang="en-US" sz="2400"/>
              <a:t>r</a:t>
            </a:r>
            <a:r>
              <a:rPr lang="en-US" altLang="en-US" sz="2400" baseline="-25000"/>
              <a:t>d</a:t>
            </a:r>
            <a:r>
              <a:rPr lang="en-US" altLang="en-US" sz="2400"/>
              <a:t> = r* + IP + DRP + LP + MRP</a:t>
            </a:r>
          </a:p>
          <a:p>
            <a:pPr marL="1550988" indent="-1550988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  <a:tabLst>
                <a:tab pos="1022350" algn="l"/>
                <a:tab pos="1487488" algn="l"/>
              </a:tabLst>
            </a:pPr>
            <a:endParaRPr lang="en-US" altLang="en-US" sz="2400"/>
          </a:p>
          <a:p>
            <a:pPr marL="1550988" indent="-1550988" eaLnBrk="1" hangingPunct="1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None/>
              <a:tabLst>
                <a:tab pos="1022350" algn="l"/>
                <a:tab pos="1487488" algn="l"/>
              </a:tabLst>
            </a:pPr>
            <a:r>
              <a:rPr lang="en-US" altLang="en-US" sz="2400"/>
              <a:t>   r</a:t>
            </a:r>
            <a:r>
              <a:rPr lang="en-US" altLang="en-US" sz="2400" baseline="-25000"/>
              <a:t>d</a:t>
            </a:r>
            <a:r>
              <a:rPr lang="en-US" altLang="en-US" sz="2400"/>
              <a:t>	=	Required rate of return on a debt security.</a:t>
            </a:r>
          </a:p>
          <a:p>
            <a:pPr marL="1550988" indent="-1550988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  <a:tabLst>
                <a:tab pos="1022350" algn="l"/>
                <a:tab pos="1487488" algn="l"/>
              </a:tabLst>
            </a:pPr>
            <a:r>
              <a:rPr lang="en-US" altLang="en-US" sz="2400"/>
              <a:t>    r*	= 	Real risk-free rate.</a:t>
            </a:r>
          </a:p>
          <a:p>
            <a:pPr marL="1550988" indent="-1550988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  <a:tabLst>
                <a:tab pos="1022350" algn="l"/>
                <a:tab pos="1487488" algn="l"/>
              </a:tabLst>
            </a:pPr>
            <a:r>
              <a:rPr lang="en-US" altLang="en-US" sz="2400"/>
              <a:t>    IP	= 	Inflation premium.</a:t>
            </a:r>
          </a:p>
          <a:p>
            <a:pPr marL="1550988" indent="-1550988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  <a:tabLst>
                <a:tab pos="1022350" algn="l"/>
                <a:tab pos="1487488" algn="l"/>
              </a:tabLst>
            </a:pPr>
            <a:r>
              <a:rPr lang="en-US" altLang="en-US" sz="2400"/>
              <a:t>DRP	= 	Default risk premium.</a:t>
            </a:r>
          </a:p>
          <a:p>
            <a:pPr marL="1550988" indent="-1550988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  <a:tabLst>
                <a:tab pos="1022350" algn="l"/>
                <a:tab pos="1487488" algn="l"/>
              </a:tabLst>
            </a:pPr>
            <a:r>
              <a:rPr lang="en-US" altLang="en-US" sz="2400"/>
              <a:t>   LP	= 	Liquidity premium.</a:t>
            </a:r>
          </a:p>
          <a:p>
            <a:pPr marL="1550988" indent="-1550988" eaLnBrk="1" hangingPunct="1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  <a:tabLst>
                <a:tab pos="1022350" algn="l"/>
                <a:tab pos="1487488" algn="l"/>
              </a:tabLst>
            </a:pPr>
            <a:r>
              <a:rPr lang="en-US" altLang="en-US" sz="2400"/>
              <a:t>MRP	= 	Maturity risk premium.</a:t>
            </a:r>
          </a:p>
        </p:txBody>
      </p:sp>
      <p:sp>
        <p:nvSpPr>
          <p:cNvPr id="92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544CC7-B33C-4719-B6B8-DF6E66D49D2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Risk &amp; Term Structure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52400" y="1397217"/>
            <a:ext cx="8763000" cy="4779747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/>
              <a:t>r = r* + IP + DRP + LP + MRP</a:t>
            </a:r>
          </a:p>
          <a:p>
            <a:pPr>
              <a:buClr>
                <a:schemeClr val="tx1"/>
              </a:buClr>
            </a:pPr>
            <a:r>
              <a:rPr lang="en-US" altLang="en-US" sz="2400" dirty="0"/>
              <a:t>r = nominal interest rate of a particular security</a:t>
            </a:r>
          </a:p>
          <a:p>
            <a:pPr lvl="1">
              <a:buClr>
                <a:schemeClr val="tx1"/>
              </a:buClr>
            </a:pPr>
            <a:r>
              <a:rPr lang="en-US" altLang="en-US" sz="2000" dirty="0"/>
              <a:t>  </a:t>
            </a:r>
          </a:p>
          <a:p>
            <a:pPr>
              <a:buClr>
                <a:schemeClr val="tx1"/>
              </a:buClr>
            </a:pPr>
            <a:r>
              <a:rPr lang="en-US" altLang="en-US" sz="2400" dirty="0"/>
              <a:t>r* = real risk-free interest rate</a:t>
            </a:r>
          </a:p>
          <a:p>
            <a:pPr lvl="1">
              <a:buClr>
                <a:schemeClr val="tx1"/>
              </a:buClr>
            </a:pPr>
            <a:r>
              <a:rPr lang="en-US" altLang="en-US" sz="2000" dirty="0"/>
              <a:t>  </a:t>
            </a:r>
          </a:p>
          <a:p>
            <a:pPr lvl="1">
              <a:buClr>
                <a:schemeClr val="tx1"/>
              </a:buClr>
            </a:pPr>
            <a:r>
              <a:rPr lang="en-US" altLang="en-US" sz="2000" dirty="0"/>
              <a:t>  </a:t>
            </a:r>
          </a:p>
          <a:p>
            <a:pPr>
              <a:buClr>
                <a:schemeClr val="tx1"/>
              </a:buClr>
            </a:pPr>
            <a:r>
              <a:rPr lang="en-US" altLang="en-US" sz="2400" dirty="0"/>
              <a:t> IP = Inflation premium</a:t>
            </a:r>
          </a:p>
          <a:p>
            <a:pPr lvl="1">
              <a:buClr>
                <a:schemeClr val="tx1"/>
              </a:buClr>
            </a:pPr>
            <a:r>
              <a:rPr lang="en-US" altLang="en-US" sz="2000" dirty="0"/>
              <a:t> </a:t>
            </a:r>
          </a:p>
          <a:p>
            <a:pPr>
              <a:buClr>
                <a:schemeClr val="tx1"/>
              </a:buClr>
            </a:pPr>
            <a:r>
              <a:rPr lang="en-US" altLang="en-US" sz="2400" dirty="0"/>
              <a:t>DRP = Default risk premium</a:t>
            </a:r>
          </a:p>
          <a:p>
            <a:pPr lvl="1">
              <a:buClr>
                <a:schemeClr val="tx1"/>
              </a:buClr>
            </a:pPr>
            <a:r>
              <a:rPr lang="en-US" altLang="en-US" sz="2000" dirty="0"/>
              <a:t>  </a:t>
            </a:r>
          </a:p>
          <a:p>
            <a:pPr lvl="1">
              <a:buClr>
                <a:schemeClr val="tx1"/>
              </a:buClr>
            </a:pPr>
            <a:r>
              <a:rPr lang="en-US" altLang="en-US" sz="2000" dirty="0"/>
              <a:t>  </a:t>
            </a:r>
          </a:p>
          <a:p>
            <a:endParaRPr lang="en-US" alt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C77176-49AC-41AA-A662-E430550DA48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685800" y="136524"/>
            <a:ext cx="7886700" cy="1032090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Risk &amp; Term Structure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52400" y="1523999"/>
            <a:ext cx="8686800" cy="4968873"/>
          </a:xfrm>
        </p:spPr>
        <p:txBody>
          <a:bodyPr/>
          <a:lstStyle/>
          <a:p>
            <a:r>
              <a:rPr lang="en-US" altLang="en-US" sz="2800" dirty="0"/>
              <a:t>r = r* + IP  + DRP + LP + MRP</a:t>
            </a:r>
          </a:p>
          <a:p>
            <a:pPr>
              <a:buClr>
                <a:schemeClr val="tx1"/>
              </a:buClr>
            </a:pPr>
            <a:r>
              <a:rPr lang="en-US" altLang="en-US" sz="2800" dirty="0"/>
              <a:t>LP = Liquidity Premium</a:t>
            </a:r>
          </a:p>
          <a:p>
            <a:pPr lvl="1">
              <a:buClr>
                <a:schemeClr val="tx1"/>
              </a:buClr>
            </a:pPr>
            <a:r>
              <a:rPr lang="en-US" altLang="en-US" sz="2400" dirty="0"/>
              <a:t>  </a:t>
            </a:r>
          </a:p>
          <a:p>
            <a:pPr>
              <a:buClr>
                <a:schemeClr val="tx1"/>
              </a:buClr>
            </a:pPr>
            <a:r>
              <a:rPr lang="en-US" altLang="en-US" sz="2800" dirty="0"/>
              <a:t>MRP = Maturity Risk Premium</a:t>
            </a:r>
          </a:p>
          <a:p>
            <a:pPr lvl="1">
              <a:buClr>
                <a:schemeClr val="tx1"/>
              </a:buClr>
            </a:pPr>
            <a:r>
              <a:rPr lang="en-US" altLang="en-US" sz="2400" dirty="0"/>
              <a:t> </a:t>
            </a:r>
          </a:p>
          <a:p>
            <a:pPr lvl="1">
              <a:buClr>
                <a:schemeClr val="tx1"/>
              </a:buClr>
            </a:pPr>
            <a:r>
              <a:rPr lang="en-US" altLang="en-US" sz="2400" dirty="0"/>
              <a:t> 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D166E1-7805-4BC3-B005-DA120B567A6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10924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Premiums Added to r* (real risk-free rate) for Different Types of Debt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4729164"/>
          </a:xfrm>
        </p:spPr>
        <p:txBody>
          <a:bodyPr/>
          <a:lstStyle/>
          <a:p>
            <a:pPr>
              <a:lnSpc>
                <a:spcPts val="3400"/>
              </a:lnSpc>
            </a:pPr>
            <a:r>
              <a:rPr lang="en-US" altLang="en-US" dirty="0"/>
              <a:t>                                       </a:t>
            </a:r>
            <a:r>
              <a:rPr lang="en-US" altLang="en-US" u="sng" dirty="0"/>
              <a:t>r</a:t>
            </a:r>
            <a:r>
              <a:rPr lang="en-US" altLang="en-US" dirty="0"/>
              <a:t> = </a:t>
            </a:r>
            <a:r>
              <a:rPr lang="en-US" altLang="en-US" u="sng" dirty="0"/>
              <a:t>r*</a:t>
            </a:r>
            <a:r>
              <a:rPr lang="en-US" altLang="en-US" dirty="0"/>
              <a:t> + </a:t>
            </a:r>
            <a:r>
              <a:rPr lang="en-US" altLang="en-US" u="sng" dirty="0"/>
              <a:t>IP</a:t>
            </a:r>
            <a:r>
              <a:rPr lang="en-US" altLang="en-US" dirty="0"/>
              <a:t>  + </a:t>
            </a:r>
            <a:r>
              <a:rPr lang="en-US" altLang="en-US" u="sng" dirty="0"/>
              <a:t>DRP</a:t>
            </a:r>
            <a:r>
              <a:rPr lang="en-US" altLang="en-US" dirty="0"/>
              <a:t> + </a:t>
            </a:r>
            <a:r>
              <a:rPr lang="en-US" altLang="en-US" u="sng" dirty="0"/>
              <a:t>LP</a:t>
            </a:r>
            <a:r>
              <a:rPr lang="en-US" altLang="en-US" dirty="0"/>
              <a:t> + </a:t>
            </a:r>
            <a:r>
              <a:rPr lang="en-US" altLang="en-US" u="sng" dirty="0"/>
              <a:t>MRP</a:t>
            </a:r>
          </a:p>
          <a:p>
            <a:pPr>
              <a:lnSpc>
                <a:spcPts val="3400"/>
              </a:lnSpc>
            </a:pPr>
            <a:r>
              <a:rPr lang="en-US" altLang="en-US" dirty="0">
                <a:solidFill>
                  <a:schemeClr val="tx2"/>
                </a:solidFill>
              </a:rPr>
              <a:t>ST Treasury</a:t>
            </a:r>
            <a:r>
              <a:rPr lang="en-US" altLang="en-US" dirty="0"/>
              <a:t>:  </a:t>
            </a:r>
          </a:p>
          <a:p>
            <a:pPr lvl="1">
              <a:lnSpc>
                <a:spcPts val="3400"/>
              </a:lnSpc>
            </a:pPr>
            <a:r>
              <a:rPr lang="en-US" altLang="en-US" sz="2600" dirty="0"/>
              <a:t> </a:t>
            </a:r>
          </a:p>
          <a:p>
            <a:pPr>
              <a:lnSpc>
                <a:spcPts val="3400"/>
              </a:lnSpc>
            </a:pPr>
            <a:r>
              <a:rPr lang="en-US" altLang="en-US" dirty="0">
                <a:solidFill>
                  <a:schemeClr val="tx2"/>
                </a:solidFill>
              </a:rPr>
              <a:t>LT Treasury</a:t>
            </a:r>
            <a:r>
              <a:rPr lang="en-US" altLang="en-US" dirty="0"/>
              <a:t>: </a:t>
            </a:r>
          </a:p>
          <a:p>
            <a:pPr lvl="1">
              <a:lnSpc>
                <a:spcPts val="3400"/>
              </a:lnSpc>
            </a:pPr>
            <a:r>
              <a:rPr lang="en-US" altLang="en-US" sz="2600" dirty="0"/>
              <a:t>  </a:t>
            </a:r>
          </a:p>
          <a:p>
            <a:pPr>
              <a:lnSpc>
                <a:spcPts val="3400"/>
              </a:lnSpc>
            </a:pPr>
            <a:r>
              <a:rPr lang="en-US" altLang="en-US" dirty="0">
                <a:solidFill>
                  <a:schemeClr val="tx2"/>
                </a:solidFill>
              </a:rPr>
              <a:t>ST corporate</a:t>
            </a:r>
            <a:r>
              <a:rPr lang="en-US" altLang="en-US" dirty="0"/>
              <a:t>:</a:t>
            </a:r>
          </a:p>
          <a:p>
            <a:pPr lvl="1">
              <a:lnSpc>
                <a:spcPts val="3400"/>
              </a:lnSpc>
            </a:pPr>
            <a:r>
              <a:rPr lang="en-US" altLang="en-US" dirty="0"/>
              <a:t>   </a:t>
            </a:r>
          </a:p>
          <a:p>
            <a:pPr>
              <a:lnSpc>
                <a:spcPts val="3400"/>
              </a:lnSpc>
            </a:pPr>
            <a:r>
              <a:rPr lang="en-US" altLang="en-US" dirty="0">
                <a:solidFill>
                  <a:schemeClr val="tx2"/>
                </a:solidFill>
              </a:rPr>
              <a:t>LT corporate</a:t>
            </a:r>
            <a:r>
              <a:rPr lang="en-US" altLang="en-US" dirty="0"/>
              <a:t>:</a:t>
            </a:r>
          </a:p>
          <a:p>
            <a:pPr lvl="1">
              <a:lnSpc>
                <a:spcPts val="3400"/>
              </a:lnSpc>
            </a:pPr>
            <a:r>
              <a:rPr lang="en-US" altLang="en-US" dirty="0"/>
              <a:t>   </a:t>
            </a:r>
          </a:p>
          <a:p>
            <a:endParaRPr lang="en-US" altLang="en-US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0FF96C-E48F-40B2-89A4-F001338964A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0048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800" dirty="0"/>
              <a:t>Inflation &amp; Interest Rates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88912" y="1371600"/>
            <a:ext cx="5145088" cy="527208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  <a:tabLst>
                <a:tab pos="3484563" algn="l"/>
              </a:tabLst>
              <a:defRPr/>
            </a:pPr>
            <a:r>
              <a:rPr lang="en-US" sz="3700" dirty="0"/>
              <a:t>Nominal Interest=	   12%</a:t>
            </a:r>
          </a:p>
          <a:p>
            <a:pPr marL="0" indent="0">
              <a:lnSpc>
                <a:spcPct val="110000"/>
              </a:lnSpc>
              <a:buNone/>
              <a:tabLst>
                <a:tab pos="3429000" algn="l"/>
              </a:tabLst>
              <a:defRPr/>
            </a:pPr>
            <a:r>
              <a:rPr lang="en-US" sz="3700" dirty="0"/>
              <a:t>   - Inflation	   </a:t>
            </a:r>
            <a:r>
              <a:rPr lang="en-US" sz="3700" u="sng" dirty="0"/>
              <a:t>  -1%</a:t>
            </a:r>
          </a:p>
          <a:p>
            <a:pPr marL="0" indent="0">
              <a:lnSpc>
                <a:spcPct val="110000"/>
              </a:lnSpc>
              <a:buNone/>
              <a:tabLst>
                <a:tab pos="3429000" algn="l"/>
              </a:tabLst>
              <a:defRPr/>
            </a:pPr>
            <a:r>
              <a:rPr lang="en-US" sz="3700" dirty="0"/>
              <a:t>   = Real Int. %	   =11%</a:t>
            </a:r>
          </a:p>
          <a:p>
            <a:pPr marL="0" indent="0">
              <a:lnSpc>
                <a:spcPct val="110000"/>
              </a:lnSpc>
              <a:buNone/>
              <a:tabLst>
                <a:tab pos="3429000" algn="l"/>
              </a:tabLst>
              <a:defRPr/>
            </a:pPr>
            <a:endParaRPr lang="en-US" sz="3700" dirty="0"/>
          </a:p>
          <a:p>
            <a:pPr>
              <a:lnSpc>
                <a:spcPct val="110000"/>
              </a:lnSpc>
              <a:tabLst>
                <a:tab pos="3484563" algn="l"/>
              </a:tabLst>
              <a:defRPr/>
            </a:pPr>
            <a:r>
              <a:rPr lang="en-US" sz="3700" dirty="0"/>
              <a:t>Nominal Interest=	</a:t>
            </a:r>
          </a:p>
          <a:p>
            <a:pPr marL="0" indent="0">
              <a:lnSpc>
                <a:spcPct val="110000"/>
              </a:lnSpc>
              <a:buNone/>
              <a:tabLst>
                <a:tab pos="3429000" algn="l"/>
              </a:tabLst>
              <a:defRPr/>
            </a:pPr>
            <a:r>
              <a:rPr lang="en-US" sz="3700" dirty="0"/>
              <a:t>   - Inflation	 </a:t>
            </a:r>
            <a:endParaRPr lang="en-US" sz="3700" u="sng" dirty="0"/>
          </a:p>
          <a:p>
            <a:pPr marL="0" indent="0">
              <a:lnSpc>
                <a:spcPct val="110000"/>
              </a:lnSpc>
              <a:buNone/>
              <a:tabLst>
                <a:tab pos="3429000" algn="l"/>
              </a:tabLst>
              <a:defRPr/>
            </a:pPr>
            <a:r>
              <a:rPr lang="en-US" sz="3700" dirty="0"/>
              <a:t>   = Real Int. %	 </a:t>
            </a:r>
          </a:p>
          <a:p>
            <a:pPr marL="0" indent="0">
              <a:lnSpc>
                <a:spcPct val="110000"/>
              </a:lnSpc>
              <a:buNone/>
              <a:tabLst>
                <a:tab pos="3429000" algn="l"/>
              </a:tabLst>
              <a:defRPr/>
            </a:pPr>
            <a:endParaRPr lang="en-US" sz="3700" dirty="0"/>
          </a:p>
          <a:p>
            <a:pPr>
              <a:lnSpc>
                <a:spcPct val="110000"/>
              </a:lnSpc>
              <a:tabLst>
                <a:tab pos="3484563" algn="l"/>
              </a:tabLst>
              <a:defRPr/>
            </a:pPr>
            <a:r>
              <a:rPr lang="en-US" sz="3700" dirty="0"/>
              <a:t>If inflation =	</a:t>
            </a:r>
          </a:p>
          <a:p>
            <a:pPr marL="0" indent="0">
              <a:lnSpc>
                <a:spcPct val="110000"/>
              </a:lnSpc>
              <a:buNone/>
              <a:tabLst>
                <a:tab pos="3429000" algn="l"/>
              </a:tabLst>
              <a:defRPr/>
            </a:pPr>
            <a:r>
              <a:rPr lang="en-US" sz="3700" dirty="0"/>
              <a:t>  &amp; </a:t>
            </a:r>
            <a:r>
              <a:rPr lang="en-US" sz="3700" dirty="0" err="1"/>
              <a:t>req’d</a:t>
            </a:r>
            <a:r>
              <a:rPr lang="en-US" sz="3700" dirty="0"/>
              <a:t> real return =              </a:t>
            </a:r>
            <a:endParaRPr lang="en-US" sz="3700" u="sng" dirty="0"/>
          </a:p>
          <a:p>
            <a:pPr marL="0" indent="0">
              <a:lnSpc>
                <a:spcPct val="110000"/>
              </a:lnSpc>
              <a:buNone/>
              <a:tabLst>
                <a:tab pos="3429000" algn="l"/>
              </a:tabLst>
              <a:defRPr/>
            </a:pPr>
            <a:r>
              <a:rPr lang="en-US" sz="3700" dirty="0"/>
              <a:t>Then Nominal rate =? =          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tabLst>
                <a:tab pos="3429000" algn="l"/>
              </a:tabLst>
              <a:defRPr/>
            </a:pPr>
            <a:r>
              <a:rPr lang="en-US" dirty="0"/>
              <a:t>	</a:t>
            </a:r>
            <a:endParaRPr lang="en-US" u="sng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105400" y="1912938"/>
            <a:ext cx="3849688" cy="4335462"/>
          </a:xfrm>
        </p:spPr>
        <p:txBody>
          <a:bodyPr>
            <a:normAutofit fontScale="62500" lnSpcReduction="20000"/>
          </a:bodyPr>
          <a:lstStyle/>
          <a:p>
            <a:pPr marL="914400" lvl="2" indent="0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marL="914400" lvl="2" indent="0">
              <a:buFont typeface="Wingdings" panose="05000000000000000000" pitchFamily="2" charset="2"/>
              <a:buNone/>
              <a:defRPr/>
            </a:pPr>
            <a:endParaRPr lang="en-US" sz="2800" dirty="0"/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FE1657-2A29-48CF-AA46-DBBD6BED2D4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3584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Relationship b/w Nominal &amp; Real</a:t>
            </a:r>
            <a:br>
              <a:rPr lang="en-US" altLang="en-US" dirty="0"/>
            </a:br>
            <a:r>
              <a:rPr lang="en-US" altLang="en-US" dirty="0"/>
              <a:t> Interest Rates, &amp; Inflation 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dirty="0"/>
              <a:t>Nom = Real   + Inflation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dirty="0"/>
              <a:t>But, inflation not additive, it grows or compounds, so multiply: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	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  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dirty="0"/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Is better determinant; known as Fisher effect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446216-FA8D-4B93-B1EA-C2BF8087B03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CB943B-2131-445E-B4A1-830654BFB2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14313"/>
            <a:ext cx="8029575" cy="1004887"/>
          </a:xfrm>
        </p:spPr>
        <p:txBody>
          <a:bodyPr/>
          <a:lstStyle/>
          <a:p>
            <a:pPr eaLnBrk="1" hangingPunct="1"/>
            <a:r>
              <a:rPr lang="en-US" altLang="en-US" sz="4000"/>
              <a:t>Estimating Inflation Premium (IP)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10600" cy="4500564"/>
          </a:xfrm>
        </p:spPr>
        <p:txBody>
          <a:bodyPr/>
          <a:lstStyle/>
          <a:p>
            <a:pPr eaLnBrk="1" hangingPunct="1"/>
            <a:r>
              <a:rPr lang="en-US" altLang="en-US" dirty="0"/>
              <a:t>Treasury Inflation-Protected Securities (TIPS) are indexed to inflation.</a:t>
            </a:r>
          </a:p>
          <a:p>
            <a:pPr eaLnBrk="1" hangingPunct="1"/>
            <a:r>
              <a:rPr lang="en-US" altLang="en-US" dirty="0"/>
              <a:t>IP for particular length maturity approximated as:</a:t>
            </a:r>
          </a:p>
          <a:p>
            <a:pPr lvl="1"/>
            <a:r>
              <a:rPr lang="en-US" altLang="en-US" dirty="0"/>
              <a:t>difference between yield on  non-indexed Treasury minus  yield on TIPS @ same maturity.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Bond Spreads,  DRP, &amp;  LP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839200" cy="46529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Bond spread:</a:t>
            </a:r>
          </a:p>
          <a:p>
            <a:pPr lvl="1"/>
            <a:r>
              <a:rPr lang="en-US" altLang="en-US" sz="2400" dirty="0"/>
              <a:t> is difference between corp. bond’s yield &amp; Treasury yield of  same maturity.  Therefore:</a:t>
            </a:r>
          </a:p>
          <a:p>
            <a:pPr lvl="1" eaLnBrk="1" hangingPunct="1"/>
            <a:r>
              <a:rPr lang="en-US" altLang="en-US" sz="2400" dirty="0"/>
              <a:t> </a:t>
            </a:r>
          </a:p>
          <a:p>
            <a:r>
              <a:rPr lang="en-US" altLang="en-US" sz="2800" dirty="0"/>
              <a:t>Bonds of large, strong co.’s often have:</a:t>
            </a:r>
          </a:p>
          <a:p>
            <a:pPr lvl="1"/>
            <a:r>
              <a:rPr lang="en-US" altLang="en-US" sz="2400" dirty="0"/>
              <a:t>  </a:t>
            </a:r>
            <a:endParaRPr lang="en-US" altLang="en-US" dirty="0"/>
          </a:p>
          <a:p>
            <a:r>
              <a:rPr lang="en-US" altLang="en-US" sz="2800" dirty="0"/>
              <a:t>Bonds of small co.’s often have:</a:t>
            </a:r>
          </a:p>
          <a:p>
            <a:pPr lvl="1"/>
            <a:r>
              <a:rPr lang="en-US" altLang="en-US" sz="2400" dirty="0"/>
              <a:t>  </a:t>
            </a:r>
            <a:endParaRPr lang="en-US" altLang="en-US" sz="2800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D70D95-B041-4178-B2CC-77F54F33724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Computing Yields (</a:t>
            </a:r>
            <a:r>
              <a:rPr lang="en-US" altLang="en-US" dirty="0" err="1"/>
              <a:t>i</a:t>
            </a:r>
            <a:r>
              <a:rPr lang="en-US" altLang="en-US" dirty="0"/>
              <a:t>% or debt </a:t>
            </a:r>
            <a:r>
              <a:rPr lang="en-US" altLang="en-US" dirty="0" err="1"/>
              <a:t>req’d</a:t>
            </a:r>
            <a:r>
              <a:rPr lang="en-US" altLang="en-US" dirty="0"/>
              <a:t> return )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762999" cy="4832351"/>
          </a:xfrm>
        </p:spPr>
        <p:txBody>
          <a:bodyPr>
            <a:normAutofit/>
          </a:bodyPr>
          <a:lstStyle/>
          <a:p>
            <a:r>
              <a:rPr lang="en-US" altLang="en-US" dirty="0"/>
              <a:t>Start with base level of return all securities have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Calculate  inflation premium (IP) for each future </a:t>
            </a:r>
            <a:r>
              <a:rPr lang="en-US" altLang="en-US" dirty="0" err="1"/>
              <a:t>yr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=</a:t>
            </a:r>
          </a:p>
          <a:p>
            <a:r>
              <a:rPr lang="en-US" altLang="en-US" dirty="0"/>
              <a:t>Then estimate  (MRP) for each future year.</a:t>
            </a:r>
          </a:p>
          <a:p>
            <a:r>
              <a:rPr lang="en-US" altLang="en-US" dirty="0"/>
              <a:t>Finally, to get interest rate for non-Treasury debt, 	add in DRIP &amp; LP.</a:t>
            </a:r>
          </a:p>
          <a:p>
            <a:endParaRPr lang="en-US" altLang="en-US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A5D91C-BA92-43D4-9460-4AB9EAAEC75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8494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72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Step 1: Find ave. expected inflation rate over years 1 to n: </a:t>
            </a:r>
            <a:endParaRPr lang="en-US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tabLst>
                <a:tab pos="793750" algn="l"/>
              </a:tabLst>
              <a:defRPr/>
            </a:pPr>
            <a:r>
              <a:rPr lang="en-US" sz="2800" dirty="0"/>
              <a:t>IP</a:t>
            </a:r>
            <a:r>
              <a:rPr lang="en-US" sz="2800" baseline="-25000" dirty="0"/>
              <a:t>1</a:t>
            </a:r>
            <a:r>
              <a:rPr lang="en-US" sz="2800" dirty="0"/>
              <a:t>	= 5%/1.0 = </a:t>
            </a:r>
            <a:r>
              <a:rPr lang="en-US" sz="2800" dirty="0">
                <a:solidFill>
                  <a:srgbClr val="FF0000"/>
                </a:solidFill>
              </a:rPr>
              <a:t>5.00%.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tabLst>
                <a:tab pos="793750" algn="l"/>
              </a:tabLst>
              <a:defRPr/>
            </a:pPr>
            <a:r>
              <a:rPr lang="en-US" sz="2800" dirty="0"/>
              <a:t>IP</a:t>
            </a:r>
            <a:r>
              <a:rPr lang="en-US" sz="2800" baseline="-25000" dirty="0"/>
              <a:t>10</a:t>
            </a:r>
            <a:r>
              <a:rPr lang="en-US" sz="2800" dirty="0"/>
              <a:t>	= </a:t>
            </a:r>
            <a:r>
              <a:rPr lang="en-US" sz="2800" b="1" dirty="0"/>
              <a:t>[</a:t>
            </a:r>
            <a:r>
              <a:rPr lang="en-US" sz="2800" dirty="0"/>
              <a:t>5 + 6 + 8(8)</a:t>
            </a:r>
            <a:r>
              <a:rPr lang="en-US" sz="2800" b="1" dirty="0"/>
              <a:t>] </a:t>
            </a:r>
            <a:r>
              <a:rPr lang="en-US" sz="2800" i="1" dirty="0"/>
              <a:t>/</a:t>
            </a:r>
            <a:r>
              <a:rPr lang="en-US" sz="2800" dirty="0"/>
              <a:t>10 = </a:t>
            </a:r>
            <a:r>
              <a:rPr lang="en-US" sz="2800" dirty="0">
                <a:solidFill>
                  <a:srgbClr val="FF0000"/>
                </a:solidFill>
              </a:rPr>
              <a:t>7.5%.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tabLst>
                <a:tab pos="793750" algn="l"/>
              </a:tabLst>
              <a:defRPr/>
            </a:pPr>
            <a:r>
              <a:rPr lang="en-US" sz="2800" dirty="0"/>
              <a:t>IP</a:t>
            </a:r>
            <a:r>
              <a:rPr lang="en-US" sz="2800" baseline="-25000" dirty="0"/>
              <a:t>20</a:t>
            </a:r>
            <a:r>
              <a:rPr lang="en-US" sz="2800" dirty="0"/>
              <a:t>	=</a:t>
            </a:r>
            <a:r>
              <a:rPr lang="en-US" sz="2800" b="1" dirty="0"/>
              <a:t> [</a:t>
            </a:r>
            <a:r>
              <a:rPr lang="en-US" sz="2800" dirty="0"/>
              <a:t>5 + 6 + 8(18)</a:t>
            </a:r>
            <a:r>
              <a:rPr lang="en-US" sz="2800" b="1" dirty="0"/>
              <a:t> ]</a:t>
            </a:r>
            <a:r>
              <a:rPr lang="en-US" sz="2800" i="1" dirty="0"/>
              <a:t>/</a:t>
            </a:r>
            <a:r>
              <a:rPr lang="en-US" sz="2800" dirty="0"/>
              <a:t>20 = </a:t>
            </a:r>
            <a:r>
              <a:rPr lang="en-US" sz="2800" dirty="0">
                <a:solidFill>
                  <a:srgbClr val="FF0000"/>
                </a:solidFill>
              </a:rPr>
              <a:t>7.75%.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793750" algn="l"/>
              </a:tabLst>
              <a:defRPr/>
            </a:pPr>
            <a:r>
              <a:rPr lang="en-US" sz="2800" dirty="0"/>
              <a:t>Must earn these IPs to break even vs. inflation;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793750" algn="l"/>
              </a:tabLst>
              <a:defRPr/>
            </a:pPr>
            <a:r>
              <a:rPr lang="en-US" sz="2800" dirty="0"/>
              <a:t>	that is, these IPs permit you to earn r* (before taxes).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11F9D0-CCCD-47C0-A6CE-0FB5CA0754F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CD42D0-E2E4-B32C-3924-0073DEC3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4"/>
            <a:ext cx="8305800" cy="1279524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nvestors expect inflation of 5% next </a:t>
            </a:r>
            <a:r>
              <a:rPr lang="en-US" alt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yr</a:t>
            </a:r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6% following </a:t>
            </a:r>
            <a:r>
              <a:rPr lang="en-US" alt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yr</a:t>
            </a:r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, &amp; 8% per </a:t>
            </a:r>
            <a:r>
              <a:rPr lang="en-US" altLang="en-US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yr</a:t>
            </a:r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thereafter.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pPr>
              <a:tabLst>
                <a:tab pos="1609725" algn="l"/>
              </a:tabLst>
            </a:pPr>
            <a:r>
              <a:rPr lang="en-US" altLang="en-US" sz="4000" b="1" dirty="0">
                <a:latin typeface="Arial" panose="020B0604020202020204" pitchFamily="34" charset="0"/>
              </a:rPr>
              <a:t>Assume  MRP is zero for Year 1</a:t>
            </a:r>
            <a:br>
              <a:rPr lang="en-US" altLang="en-US" sz="4000" b="1" dirty="0">
                <a:latin typeface="Arial" panose="020B0604020202020204" pitchFamily="34" charset="0"/>
              </a:rPr>
            </a:br>
            <a:r>
              <a:rPr lang="en-US" altLang="en-US" sz="4000" b="1" dirty="0">
                <a:latin typeface="Arial" panose="020B0604020202020204" pitchFamily="34" charset="0"/>
              </a:rPr>
              <a:t> &amp; increases by 0.1% each year.</a:t>
            </a:r>
            <a:endParaRPr lang="en-US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4E81EB-C82A-1A48-884D-CF7B21367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 dirty="0"/>
              <a:t>Step 2:  Find MRP based on this 			equation:</a:t>
            </a:r>
          </a:p>
          <a:p>
            <a:endParaRPr lang="en-US" dirty="0"/>
          </a:p>
        </p:txBody>
      </p:sp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2743200" y="3276600"/>
            <a:ext cx="3665538" cy="5762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 err="1">
                <a:latin typeface="Arial" panose="020B0604020202020204" pitchFamily="34" charset="0"/>
              </a:rPr>
              <a:t>MRP</a:t>
            </a:r>
            <a:r>
              <a:rPr lang="en-US" altLang="en-US" b="1" baseline="-25000" dirty="0" err="1">
                <a:latin typeface="Arial" panose="020B0604020202020204" pitchFamily="34" charset="0"/>
              </a:rPr>
              <a:t>t</a:t>
            </a:r>
            <a:r>
              <a:rPr lang="en-US" altLang="en-US" b="1" dirty="0">
                <a:latin typeface="Arial" panose="020B0604020202020204" pitchFamily="34" charset="0"/>
              </a:rPr>
              <a:t> = 0.1%(t - 1).</a:t>
            </a:r>
          </a:p>
        </p:txBody>
      </p:sp>
      <p:sp>
        <p:nvSpPr>
          <p:cNvPr id="23558" name="Rectangle 7"/>
          <p:cNvSpPr>
            <a:spLocks noChangeArrowheads="1"/>
          </p:cNvSpPr>
          <p:nvPr/>
        </p:nvSpPr>
        <p:spPr bwMode="auto">
          <a:xfrm>
            <a:off x="2249488" y="4019550"/>
            <a:ext cx="6500812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47775" algn="l"/>
                <a:tab pos="3538538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MRP</a:t>
            </a:r>
            <a:r>
              <a:rPr lang="en-US" altLang="en-US" b="1" baseline="-25000" dirty="0">
                <a:latin typeface="Arial" panose="020B0604020202020204" pitchFamily="34" charset="0"/>
              </a:rPr>
              <a:t>1</a:t>
            </a:r>
            <a:r>
              <a:rPr lang="en-US" altLang="en-US" b="1" dirty="0">
                <a:latin typeface="Arial" panose="020B0604020202020204" pitchFamily="34" charset="0"/>
              </a:rPr>
              <a:t>	= 0.1% x 0	=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0.0%.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MRP</a:t>
            </a:r>
            <a:r>
              <a:rPr lang="en-US" altLang="en-US" b="1" baseline="-25000" dirty="0">
                <a:latin typeface="Arial" panose="020B0604020202020204" pitchFamily="34" charset="0"/>
              </a:rPr>
              <a:t>10	</a:t>
            </a:r>
            <a:r>
              <a:rPr lang="en-US" altLang="en-US" b="1" dirty="0">
                <a:latin typeface="Arial" panose="020B0604020202020204" pitchFamily="34" charset="0"/>
              </a:rPr>
              <a:t>= 0.1% x 9	=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0.9%.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MRP</a:t>
            </a:r>
            <a:r>
              <a:rPr lang="en-US" altLang="en-US" b="1" baseline="-25000" dirty="0">
                <a:latin typeface="Arial" panose="020B0604020202020204" pitchFamily="34" charset="0"/>
              </a:rPr>
              <a:t>20</a:t>
            </a:r>
            <a:r>
              <a:rPr lang="en-US" altLang="en-US" b="1" dirty="0">
                <a:latin typeface="Arial" panose="020B0604020202020204" pitchFamily="34" charset="0"/>
              </a:rPr>
              <a:t>	= 0.1% x 19	=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1.9%.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79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81" name="AutoShape 1029"/>
          <p:cNvSpPr>
            <a:spLocks noChangeArrowheads="1"/>
          </p:cNvSpPr>
          <p:nvPr/>
        </p:nvSpPr>
        <p:spPr bwMode="auto">
          <a:xfrm>
            <a:off x="2255838" y="1733550"/>
            <a:ext cx="5105400" cy="814388"/>
          </a:xfrm>
          <a:prstGeom prst="roundRect">
            <a:avLst>
              <a:gd name="adj" fmla="val 12495"/>
            </a:avLst>
          </a:prstGeom>
          <a:solidFill>
            <a:srgbClr val="FAFD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82" name="Rectangle 1030"/>
          <p:cNvSpPr>
            <a:spLocks noChangeArrowheads="1"/>
          </p:cNvSpPr>
          <p:nvPr/>
        </p:nvSpPr>
        <p:spPr bwMode="auto">
          <a:xfrm>
            <a:off x="2362200" y="1733550"/>
            <a:ext cx="496252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 err="1">
                <a:latin typeface="Arial" panose="020B0604020202020204" pitchFamily="34" charset="0"/>
              </a:rPr>
              <a:t>r</a:t>
            </a:r>
            <a:r>
              <a:rPr lang="en-US" altLang="en-US" b="1" baseline="-44000" dirty="0" err="1">
                <a:latin typeface="Arial" panose="020B0604020202020204" pitchFamily="34" charset="0"/>
              </a:rPr>
              <a:t>treas</a:t>
            </a:r>
            <a:r>
              <a:rPr lang="en-US" altLang="en-US" b="1" dirty="0">
                <a:latin typeface="Arial" panose="020B0604020202020204" pitchFamily="34" charset="0"/>
              </a:rPr>
              <a:t> =  r*  +  </a:t>
            </a:r>
            <a:r>
              <a:rPr lang="en-US" altLang="en-US" b="1" dirty="0" err="1">
                <a:latin typeface="Arial" panose="020B0604020202020204" pitchFamily="34" charset="0"/>
              </a:rPr>
              <a:t>IP</a:t>
            </a:r>
            <a:r>
              <a:rPr lang="en-US" altLang="en-US" b="1" baseline="-25000" dirty="0" err="1">
                <a:latin typeface="Arial" panose="020B0604020202020204" pitchFamily="34" charset="0"/>
              </a:rPr>
              <a:t>t</a:t>
            </a:r>
            <a:r>
              <a:rPr lang="en-US" altLang="en-US" b="1" dirty="0">
                <a:latin typeface="Arial" panose="020B0604020202020204" pitchFamily="34" charset="0"/>
              </a:rPr>
              <a:t>  +  </a:t>
            </a:r>
            <a:r>
              <a:rPr lang="en-US" altLang="en-US" b="1" dirty="0" err="1">
                <a:latin typeface="Arial" panose="020B0604020202020204" pitchFamily="34" charset="0"/>
              </a:rPr>
              <a:t>MRP</a:t>
            </a:r>
            <a:r>
              <a:rPr lang="en-US" altLang="en-US" b="1" baseline="-25000" dirty="0" err="1">
                <a:latin typeface="Arial" panose="020B0604020202020204" pitchFamily="34" charset="0"/>
              </a:rPr>
              <a:t>t</a:t>
            </a:r>
            <a:endParaRPr lang="en-US" altLang="en-US" b="1" dirty="0">
              <a:latin typeface="Arial" panose="020B0604020202020204" pitchFamily="34" charset="0"/>
            </a:endParaRPr>
          </a:p>
        </p:txBody>
      </p:sp>
      <p:sp>
        <p:nvSpPr>
          <p:cNvPr id="24583" name="Rectangle 1031"/>
          <p:cNvSpPr>
            <a:spLocks noChangeArrowheads="1"/>
          </p:cNvSpPr>
          <p:nvPr/>
        </p:nvSpPr>
        <p:spPr bwMode="auto">
          <a:xfrm>
            <a:off x="1120884" y="2546479"/>
            <a:ext cx="6803915" cy="1074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81038" algn="l"/>
                <a:tab pos="1089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 err="1">
                <a:latin typeface="Arial" panose="020B0604020202020204" pitchFamily="34" charset="0"/>
              </a:rPr>
              <a:t>R</a:t>
            </a:r>
            <a:r>
              <a:rPr lang="en-US" altLang="en-US" b="1" baseline="-25000" dirty="0" err="1">
                <a:latin typeface="Arial" panose="020B0604020202020204" pitchFamily="34" charset="0"/>
              </a:rPr>
              <a:t>treas</a:t>
            </a:r>
            <a:r>
              <a:rPr lang="en-US" altLang="en-US" b="1" baseline="-25000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= </a:t>
            </a:r>
            <a:r>
              <a:rPr lang="en-US" altLang="en-US" sz="3000" dirty="0">
                <a:latin typeface="Arial" panose="020B0604020202020204" pitchFamily="34" charset="0"/>
              </a:rPr>
              <a:t>Quoted market interest rate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dirty="0">
                <a:latin typeface="Arial" panose="020B0604020202020204" pitchFamily="34" charset="0"/>
              </a:rPr>
              <a:t>		        on treasury securities.</a:t>
            </a:r>
          </a:p>
        </p:txBody>
      </p:sp>
      <p:sp>
        <p:nvSpPr>
          <p:cNvPr id="24584" name="Rectangle 1032"/>
          <p:cNvSpPr>
            <a:spLocks noChangeArrowheads="1"/>
          </p:cNvSpPr>
          <p:nvPr/>
        </p:nvSpPr>
        <p:spPr bwMode="auto">
          <a:xfrm>
            <a:off x="1120884" y="3584258"/>
            <a:ext cx="6764119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       </a:t>
            </a:r>
            <a:r>
              <a:rPr lang="en-US" altLang="en-US" sz="2800" dirty="0">
                <a:latin typeface="Arial" panose="020B0604020202020204" pitchFamily="34" charset="0"/>
              </a:rPr>
              <a:t>Assume r* (real risk-free) = 3%:</a:t>
            </a:r>
          </a:p>
        </p:txBody>
      </p:sp>
      <p:sp>
        <p:nvSpPr>
          <p:cNvPr id="24585" name="Rectangle 1033"/>
          <p:cNvSpPr>
            <a:spLocks noChangeArrowheads="1"/>
          </p:cNvSpPr>
          <p:nvPr/>
        </p:nvSpPr>
        <p:spPr bwMode="auto">
          <a:xfrm>
            <a:off x="152400" y="4724399"/>
            <a:ext cx="8686801" cy="205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201738" algn="r"/>
                <a:tab pos="1428750" algn="l"/>
                <a:tab pos="244951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altLang="en-US" sz="32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 </a:t>
            </a:r>
            <a:r>
              <a:rPr kumimoji="0" lang="en-US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r*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+     </a:t>
            </a:r>
            <a:r>
              <a:rPr kumimoji="0" lang="en-US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+  </a:t>
            </a:r>
            <a:r>
              <a:rPr kumimoji="0" lang="en-US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MRP </a:t>
            </a:r>
            <a:r>
              <a:rPr lang="en-US" altLang="en-US" b="1" dirty="0">
                <a:latin typeface="Arial" panose="020B0604020202020204" pitchFamily="34" charset="0"/>
              </a:rPr>
              <a:t>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b="1" dirty="0" err="1">
                <a:latin typeface="Arial" panose="020B0604020202020204" pitchFamily="34" charset="0"/>
              </a:rPr>
              <a:t>R</a:t>
            </a:r>
            <a:r>
              <a:rPr lang="en-US" altLang="en-US" sz="2400" b="1" baseline="-46000" dirty="0" err="1">
                <a:latin typeface="Arial" panose="020B0604020202020204" pitchFamily="34" charset="0"/>
              </a:rPr>
              <a:t>treas</a:t>
            </a:r>
            <a:r>
              <a:rPr lang="en-US" altLang="en-US" sz="2400" b="1" baseline="-46000" dirty="0">
                <a:latin typeface="Arial" panose="020B0604020202020204" pitchFamily="34" charset="0"/>
              </a:rPr>
              <a:t>  </a:t>
            </a:r>
            <a:r>
              <a:rPr lang="en-US" altLang="en-US" sz="2800" b="1" dirty="0">
                <a:latin typeface="Arial" panose="020B0604020202020204" pitchFamily="34" charset="0"/>
              </a:rPr>
              <a:t>=i</a:t>
            </a:r>
            <a:r>
              <a:rPr lang="en-US" altLang="en-US" sz="2800" dirty="0">
                <a:latin typeface="Arial" panose="020B0604020202020204" pitchFamily="34" charset="0"/>
              </a:rPr>
              <a:t>%</a:t>
            </a:r>
            <a:r>
              <a:rPr lang="en-US" altLang="en-US" sz="2800" b="1" baseline="-25000" dirty="0">
                <a:latin typeface="Arial" panose="020B0604020202020204" pitchFamily="34" charset="0"/>
              </a:rPr>
              <a:t>1           </a:t>
            </a:r>
            <a:r>
              <a:rPr lang="en-US" altLang="en-US" dirty="0">
                <a:latin typeface="Arial" panose="020B0604020202020204" pitchFamily="34" charset="0"/>
              </a:rPr>
              <a:t>= 3% + 5.0% + 0.0% </a:t>
            </a:r>
            <a:r>
              <a:rPr lang="en-US" altLang="en-US" b="1" dirty="0">
                <a:latin typeface="Arial" panose="020B0604020202020204" pitchFamily="34" charset="0"/>
              </a:rPr>
              <a:t>	=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8.0%.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	        </a:t>
            </a:r>
            <a:r>
              <a:rPr lang="en-US" altLang="en-US" sz="2800" b="1" dirty="0">
                <a:latin typeface="Arial" panose="020B0604020202020204" pitchFamily="34" charset="0"/>
              </a:rPr>
              <a:t>=i</a:t>
            </a:r>
            <a:r>
              <a:rPr lang="en-US" altLang="en-US" sz="2800" dirty="0">
                <a:latin typeface="Arial" panose="020B0604020202020204" pitchFamily="34" charset="0"/>
              </a:rPr>
              <a:t>%</a:t>
            </a:r>
            <a:r>
              <a:rPr lang="en-US" altLang="en-US" sz="2800" b="1" baseline="-25000" dirty="0">
                <a:latin typeface="Arial" panose="020B0604020202020204" pitchFamily="34" charset="0"/>
              </a:rPr>
              <a:t>10</a:t>
            </a:r>
            <a:r>
              <a:rPr lang="en-US" altLang="en-US" b="1" dirty="0">
                <a:latin typeface="Arial" panose="020B0604020202020204" pitchFamily="34" charset="0"/>
              </a:rPr>
              <a:t>     </a:t>
            </a:r>
            <a:r>
              <a:rPr lang="en-US" altLang="en-US" dirty="0">
                <a:latin typeface="Arial" panose="020B0604020202020204" pitchFamily="34" charset="0"/>
              </a:rPr>
              <a:t>= 3% + 7.5% + 0.9% </a:t>
            </a:r>
            <a:r>
              <a:rPr lang="en-US" altLang="en-US" b="1" dirty="0">
                <a:latin typeface="Arial" panose="020B0604020202020204" pitchFamily="34" charset="0"/>
              </a:rPr>
              <a:t>	=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11.4%.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	        </a:t>
            </a:r>
            <a:r>
              <a:rPr lang="en-US" altLang="en-US" sz="2800" b="1" dirty="0">
                <a:latin typeface="Arial" panose="020B0604020202020204" pitchFamily="34" charset="0"/>
              </a:rPr>
              <a:t>=i</a:t>
            </a:r>
            <a:r>
              <a:rPr lang="en-US" altLang="en-US" sz="2800" dirty="0">
                <a:latin typeface="Arial" panose="020B0604020202020204" pitchFamily="34" charset="0"/>
              </a:rPr>
              <a:t>%</a:t>
            </a:r>
            <a:r>
              <a:rPr lang="en-US" altLang="en-US" sz="2800" b="1" baseline="-25000" dirty="0">
                <a:latin typeface="Arial" panose="020B0604020202020204" pitchFamily="34" charset="0"/>
              </a:rPr>
              <a:t>20</a:t>
            </a:r>
            <a:r>
              <a:rPr lang="en-US" altLang="en-US" b="1" dirty="0">
                <a:latin typeface="Arial" panose="020B0604020202020204" pitchFamily="34" charset="0"/>
              </a:rPr>
              <a:t>     </a:t>
            </a:r>
            <a:r>
              <a:rPr lang="en-US" altLang="en-US" sz="3000" dirty="0">
                <a:latin typeface="Arial" panose="020B0604020202020204" pitchFamily="34" charset="0"/>
              </a:rPr>
              <a:t>= 3% + 7.75% + 1.9%    </a:t>
            </a:r>
            <a:r>
              <a:rPr lang="en-US" altLang="en-US" b="1" dirty="0">
                <a:latin typeface="Arial" panose="020B0604020202020204" pitchFamily="34" charset="0"/>
              </a:rPr>
              <a:t>=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12.65%.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2903E-2938-5A61-75B0-6D52E46F7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Step 3:  Add  IPs &amp; MRPs to r*: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8A05F3-0761-4A11-A712-28A37547A2E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1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Term Structure Yield Curve</a:t>
            </a:r>
          </a:p>
        </p:txBody>
      </p:sp>
      <p:sp>
        <p:nvSpPr>
          <p:cNvPr id="1536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839200" cy="4729164"/>
          </a:xfrm>
        </p:spPr>
        <p:txBody>
          <a:bodyPr/>
          <a:lstStyle/>
          <a:p>
            <a:pPr eaLnBrk="1" hangingPunct="1"/>
            <a:r>
              <a:rPr lang="en-US" altLang="en-US" dirty="0"/>
              <a:t>Term structure of interest rates: </a:t>
            </a:r>
          </a:p>
          <a:p>
            <a:pPr lvl="1"/>
            <a:r>
              <a:rPr lang="en-US" altLang="en-US" dirty="0"/>
              <a:t>relationship between interest rates (or yields) &amp; maturities.</a:t>
            </a:r>
          </a:p>
          <a:p>
            <a:r>
              <a:rPr lang="en-US" altLang="en-US" dirty="0"/>
              <a:t>Graph of  term structure is a yield curve.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6BC2E4-451A-479B-B456-ABEB5B08D13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Hypothetical Treasury Yield Curve</a:t>
            </a:r>
          </a:p>
        </p:txBody>
      </p:sp>
      <p:graphicFrame>
        <p:nvGraphicFramePr>
          <p:cNvPr id="1843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182688" y="2017713"/>
          <a:ext cx="77724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7772574" imgH="4114800" progId="MSGraph.Chart.8">
                  <p:embed followColorScheme="full"/>
                </p:oleObj>
              </mc:Choice>
              <mc:Fallback>
                <p:oleObj name="Chart" r:id="rId2" imgW="7772574" imgH="4114800" progId="MSGraph.Chart.8">
                  <p:embed followColorScheme="full"/>
                  <p:pic>
                    <p:nvPicPr>
                      <p:cNvPr id="1843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2017713"/>
                        <a:ext cx="77724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4"/>
          <p:cNvSpPr>
            <a:spLocks noGrp="1"/>
          </p:cNvSpPr>
          <p:nvPr>
            <p:ph type="title"/>
          </p:nvPr>
        </p:nvSpPr>
        <p:spPr>
          <a:xfrm>
            <a:off x="628650" y="356162"/>
            <a:ext cx="7886700" cy="103209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What factors can explain shape of this yield curve?</a:t>
            </a:r>
          </a:p>
        </p:txBody>
      </p:sp>
      <p:sp>
        <p:nvSpPr>
          <p:cNvPr id="17411" name="Content Placeholder 5"/>
          <p:cNvSpPr>
            <a:spLocks noGrp="1"/>
          </p:cNvSpPr>
          <p:nvPr>
            <p:ph idx="1"/>
          </p:nvPr>
        </p:nvSpPr>
        <p:spPr>
          <a:xfrm>
            <a:off x="685800" y="2017713"/>
            <a:ext cx="8269288" cy="4114800"/>
          </a:xfrm>
        </p:spPr>
        <p:txBody>
          <a:bodyPr/>
          <a:lstStyle/>
          <a:p>
            <a:r>
              <a:rPr lang="en-US" altLang="en-US"/>
              <a:t>Upward slope due to:</a:t>
            </a:r>
          </a:p>
          <a:p>
            <a:pPr lvl="1"/>
            <a:r>
              <a:rPr lang="en-US" altLang="en-US"/>
              <a:t>Increasing expected inflation</a:t>
            </a:r>
          </a:p>
          <a:p>
            <a:pPr lvl="1"/>
            <a:r>
              <a:rPr lang="en-US" altLang="en-US"/>
              <a:t>Increasing maturity risk premium</a:t>
            </a:r>
          </a:p>
          <a:p>
            <a:pPr lvl="1"/>
            <a:endParaRPr lang="en-US" altLang="en-US"/>
          </a:p>
          <a:p>
            <a:r>
              <a:rPr lang="en-US" altLang="en-US"/>
              <a:t>What about liquidity &amp; default risk?</a:t>
            </a:r>
          </a:p>
          <a:p>
            <a:pPr lvl="1"/>
            <a:endParaRPr lang="en-US" alt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7FDC8E-CB37-47BE-A82A-92E0E3B970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Treasury vs. Corporate Yield Curves relationships</a:t>
            </a:r>
          </a:p>
        </p:txBody>
      </p:sp>
      <p:sp>
        <p:nvSpPr>
          <p:cNvPr id="18435" name="Content Placeholder 5"/>
          <p:cNvSpPr>
            <a:spLocks noGrp="1"/>
          </p:cNvSpPr>
          <p:nvPr>
            <p:ph idx="1"/>
          </p:nvPr>
        </p:nvSpPr>
        <p:spPr>
          <a:xfrm>
            <a:off x="381000" y="2017713"/>
            <a:ext cx="8574088" cy="4114800"/>
          </a:xfrm>
        </p:spPr>
        <p:txBody>
          <a:bodyPr/>
          <a:lstStyle/>
          <a:p>
            <a:r>
              <a:rPr lang="en-US" altLang="en-US" dirty="0"/>
              <a:t>Corp yield curves are higher than Treasuries, but not necessarily parallel.</a:t>
            </a:r>
          </a:p>
          <a:p>
            <a:r>
              <a:rPr lang="en-US" altLang="en-US" dirty="0"/>
              <a:t>Spread b/w  two yield curves widens as corporate bond rating decreases due to:</a:t>
            </a:r>
          </a:p>
          <a:p>
            <a:pPr lvl="1"/>
            <a:r>
              <a:rPr lang="en-US" altLang="en-US" dirty="0"/>
              <a:t>DRP &amp; LP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7686DD-6CDC-4849-905B-9667E20BA36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Upward vs. Downward sloping yield curves due to?</a:t>
            </a:r>
          </a:p>
        </p:txBody>
      </p:sp>
      <p:sp>
        <p:nvSpPr>
          <p:cNvPr id="23555" name="Content Placeholder 3"/>
          <p:cNvSpPr>
            <a:spLocks noGrp="1"/>
          </p:cNvSpPr>
          <p:nvPr>
            <p:ph idx="1"/>
          </p:nvPr>
        </p:nvSpPr>
        <p:spPr>
          <a:xfrm>
            <a:off x="152400" y="1676406"/>
            <a:ext cx="8763000" cy="4500558"/>
          </a:xfrm>
        </p:spPr>
        <p:txBody>
          <a:bodyPr/>
          <a:lstStyle/>
          <a:p>
            <a:r>
              <a:rPr lang="en-US" altLang="en-US" dirty="0"/>
              <a:t>Real risk-free rate = 3%</a:t>
            </a:r>
          </a:p>
          <a:p>
            <a:r>
              <a:rPr lang="en-US" altLang="en-US" dirty="0"/>
              <a:t>Expected inflation for</a:t>
            </a:r>
          </a:p>
          <a:p>
            <a:pPr lvl="1"/>
            <a:r>
              <a:rPr lang="en-US" altLang="en-US" dirty="0"/>
              <a:t>Year 1 =7%, </a:t>
            </a:r>
            <a:r>
              <a:rPr lang="en-US" altLang="en-US" dirty="0" err="1"/>
              <a:t>Yr</a:t>
            </a:r>
            <a:r>
              <a:rPr lang="en-US" altLang="en-US" dirty="0"/>
              <a:t> 2 = 5%; </a:t>
            </a:r>
            <a:r>
              <a:rPr lang="en-US" altLang="en-US" dirty="0" err="1"/>
              <a:t>Yr</a:t>
            </a:r>
            <a:r>
              <a:rPr lang="en-US" altLang="en-US" dirty="0"/>
              <a:t> 3 = 3%</a:t>
            </a:r>
          </a:p>
          <a:p>
            <a:r>
              <a:rPr lang="en-US" altLang="en-US" dirty="0"/>
              <a:t>What are interest rates for 1, 2, &amp; 3 </a:t>
            </a:r>
            <a:r>
              <a:rPr lang="en-US" altLang="en-US" dirty="0" err="1"/>
              <a:t>yr</a:t>
            </a:r>
            <a:r>
              <a:rPr lang="en-US" altLang="en-US" dirty="0"/>
              <a:t> borrowings?</a:t>
            </a:r>
          </a:p>
          <a:p>
            <a:pPr lvl="1"/>
            <a:endParaRPr lang="en-US" altLang="en-US" dirty="0"/>
          </a:p>
        </p:txBody>
      </p:sp>
      <p:sp>
        <p:nvSpPr>
          <p:cNvPr id="2560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8CE6F8-18D9-44D4-B535-E3356979BD2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Interest Rates &amp; MRP Prob.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ea typeface="Times New Roman"/>
              </a:rPr>
              <a:t>Real risk-free rate (r*) is 4% &amp; inflation is expected to be 7% in Year1; 4% in </a:t>
            </a:r>
            <a:r>
              <a:rPr lang="en-US" dirty="0" err="1">
                <a:ea typeface="Times New Roman"/>
              </a:rPr>
              <a:t>yr</a:t>
            </a:r>
            <a:r>
              <a:rPr lang="en-US" dirty="0">
                <a:ea typeface="Times New Roman"/>
              </a:rPr>
              <a:t> 2; &amp; 3% thereafter.  </a:t>
            </a:r>
          </a:p>
          <a:p>
            <a:pPr mar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ea typeface="Times New Roman"/>
              </a:rPr>
              <a:t>All Treasuries are highly liquid &amp; free of default risk.   </a:t>
            </a:r>
          </a:p>
          <a:p>
            <a:pPr mar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ea typeface="Times New Roman"/>
              </a:rPr>
              <a:t>If 2-yr &amp; 5-yr T-Bonds both yield 11%, what is  difference in  maturity risk premiums (MRPs) on  two bonds; that is, what is MRP</a:t>
            </a:r>
            <a:r>
              <a:rPr lang="en-US" baseline="-25000" dirty="0">
                <a:ea typeface="Times New Roman"/>
              </a:rPr>
              <a:t>5</a:t>
            </a:r>
            <a:r>
              <a:rPr lang="en-US" dirty="0">
                <a:ea typeface="Times New Roman"/>
              </a:rPr>
              <a:t> – MRP</a:t>
            </a:r>
            <a:r>
              <a:rPr lang="en-US" baseline="-25000" dirty="0">
                <a:ea typeface="Times New Roman"/>
              </a:rPr>
              <a:t>2</a:t>
            </a:r>
            <a:r>
              <a:rPr lang="en-US" dirty="0">
                <a:ea typeface="Times New Roman"/>
              </a:rPr>
              <a:t>?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FE7A62-5C3F-4454-A033-DC9A23028B9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Interest Rates &amp; Inflation Prob. 2</a:t>
            </a:r>
            <a:br>
              <a:rPr lang="en-US" altLang="en-US" sz="4000" dirty="0"/>
            </a:br>
            <a:endParaRPr lang="en-US" altLang="en-US" sz="4000" dirty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Due to  recession,  rate of inflation expected for  coming year is only 3.5%.  However,  rate of inflation in </a:t>
            </a:r>
            <a:r>
              <a:rPr lang="en-US" altLang="en-US" sz="2800" dirty="0" err="1"/>
              <a:t>Yr</a:t>
            </a:r>
            <a:r>
              <a:rPr lang="en-US" altLang="en-US" sz="2800" dirty="0"/>
              <a:t> 2 &amp; thereafter is expected to be constant at some level above 3.5%.  Assume  real risk-free rate (r*) = 2% for all maturities, &amp; there are no maturity premiums.  If 3-year T-Bonds yield 3% (0.03) more than  1-year T-Bonds, what rate of inflation is expected after year 1?</a:t>
            </a:r>
          </a:p>
          <a:p>
            <a:endParaRPr lang="en-US" altLang="en-US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CBB464-7899-4AF2-8CB4-196CC356F7A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Coupon Bonds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286750" cy="46529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Bond = Debt = Borrowing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Fixed Maturity (Maturity Date) = N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Par Value=Face Value=Maturity Value=$1000=FV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Coupon Rate=Stated Rate (locked in in bond contract)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Coupon payment= Coupon rate x face value=PMT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Market Rate of interest = Yield to Maturity = rate used to discount bond CF’s = </a:t>
            </a:r>
            <a:r>
              <a:rPr lang="en-US" altLang="en-US" sz="2400" i="1" dirty="0">
                <a:latin typeface="Times New Roman" panose="02020603050405020304" pitchFamily="18" charset="0"/>
              </a:rPr>
              <a:t>I</a:t>
            </a:r>
          </a:p>
          <a:p>
            <a:pPr>
              <a:lnSpc>
                <a:spcPct val="90000"/>
              </a:lnSpc>
            </a:pPr>
            <a:endParaRPr lang="en-US" altLang="en-US" sz="2400" i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i="1" u="sng" dirty="0">
                <a:latin typeface="Times New Roman" panose="02020603050405020304" pitchFamily="18" charset="0"/>
              </a:rPr>
              <a:t>**PV cash flow of bonds always opposite sign of PMT &amp; FV!!!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CB3DE9-EF21-4571-9DC0-698838BC682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Certificate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291797" y="1731264"/>
            <a:ext cx="6560406" cy="45005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7A78D-C5BF-44BC-8D58-4621223D88E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9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4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20457"/>
          </a:xfrm>
        </p:spPr>
        <p:txBody>
          <a:bodyPr/>
          <a:lstStyle/>
          <a:p>
            <a:pPr algn="ctr"/>
            <a:r>
              <a:rPr lang="en-US" altLang="en-US" dirty="0"/>
              <a:t>Bond Perspectives</a:t>
            </a:r>
          </a:p>
        </p:txBody>
      </p:sp>
      <p:sp>
        <p:nvSpPr>
          <p:cNvPr id="29699" name="Text Placeholder 5"/>
          <p:cNvSpPr>
            <a:spLocks noGrp="1"/>
          </p:cNvSpPr>
          <p:nvPr>
            <p:ph type="body" idx="1"/>
          </p:nvPr>
        </p:nvSpPr>
        <p:spPr>
          <a:xfrm>
            <a:off x="627459" y="1599407"/>
            <a:ext cx="3868340" cy="493712"/>
          </a:xfrm>
        </p:spPr>
        <p:txBody>
          <a:bodyPr/>
          <a:lstStyle/>
          <a:p>
            <a:pPr algn="ctr"/>
            <a:r>
              <a:rPr lang="en-US" altLang="en-US" sz="2800" u="sng" dirty="0"/>
              <a:t>Debt</a:t>
            </a:r>
            <a:endParaRPr lang="en-US" altLang="en-US" u="sng" dirty="0"/>
          </a:p>
        </p:txBody>
      </p:sp>
      <p:sp>
        <p:nvSpPr>
          <p:cNvPr id="25604" name="Content Placeholder 6"/>
          <p:cNvSpPr>
            <a:spLocks noGrp="1"/>
          </p:cNvSpPr>
          <p:nvPr>
            <p:ph sz="half" idx="2"/>
          </p:nvPr>
        </p:nvSpPr>
        <p:spPr>
          <a:xfrm>
            <a:off x="493776" y="2297431"/>
            <a:ext cx="4040188" cy="445452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Needs $</a:t>
            </a:r>
          </a:p>
          <a:p>
            <a:r>
              <a:rPr lang="en-US" altLang="en-US" i="1" dirty="0"/>
              <a:t>Borrower</a:t>
            </a:r>
          </a:p>
          <a:p>
            <a:r>
              <a:rPr lang="en-US" altLang="en-US" dirty="0"/>
              <a:t>Issuer or seller</a:t>
            </a:r>
          </a:p>
          <a:p>
            <a:r>
              <a:rPr lang="en-US" altLang="en-US" dirty="0"/>
              <a:t>Debtor	</a:t>
            </a:r>
          </a:p>
          <a:p>
            <a:r>
              <a:rPr lang="en-US" altLang="en-US" dirty="0"/>
              <a:t>Cost of borrowing</a:t>
            </a:r>
          </a:p>
          <a:p>
            <a:pPr lvl="1"/>
            <a:r>
              <a:rPr lang="en-US" altLang="en-US" dirty="0"/>
              <a:t>Interest Paid (Expense) – </a:t>
            </a:r>
            <a:r>
              <a:rPr lang="en-US" altLang="en-US" sz="1800" dirty="0"/>
              <a:t>generates tax benefit (</a:t>
            </a:r>
            <a:r>
              <a:rPr lang="en-US" altLang="en-US" sz="1800" dirty="0" err="1"/>
              <a:t>Svgs</a:t>
            </a:r>
            <a:r>
              <a:rPr lang="en-US" altLang="en-US" sz="1800" dirty="0"/>
              <a:t>)</a:t>
            </a:r>
          </a:p>
          <a:p>
            <a:pPr lvl="1"/>
            <a:r>
              <a:rPr lang="en-US" altLang="en-US" dirty="0"/>
              <a:t>Cost of Debt </a:t>
            </a:r>
          </a:p>
          <a:p>
            <a:pPr lvl="2"/>
            <a:r>
              <a:rPr lang="en-US" altLang="en-US" dirty="0"/>
              <a:t>= R</a:t>
            </a:r>
            <a:r>
              <a:rPr lang="en-US" altLang="en-US" baseline="-25000" dirty="0"/>
              <a:t>d</a:t>
            </a:r>
            <a:r>
              <a:rPr lang="en-US" altLang="en-US" dirty="0"/>
              <a:t> or </a:t>
            </a:r>
            <a:r>
              <a:rPr lang="en-US" altLang="en-US" dirty="0" err="1"/>
              <a:t>K</a:t>
            </a:r>
            <a:r>
              <a:rPr lang="en-US" altLang="en-US" baseline="-25000" dirty="0" err="1"/>
              <a:t>d</a:t>
            </a:r>
            <a:r>
              <a:rPr lang="en-US" altLang="en-US" dirty="0"/>
              <a:t>;</a:t>
            </a:r>
          </a:p>
          <a:p>
            <a:pPr lvl="2"/>
            <a:r>
              <a:rPr lang="en-US" altLang="en-US" dirty="0"/>
              <a:t>After-tax cost = R</a:t>
            </a:r>
            <a:r>
              <a:rPr lang="en-US" altLang="en-US" baseline="-25000" dirty="0"/>
              <a:t>d</a:t>
            </a:r>
            <a:r>
              <a:rPr lang="en-US" altLang="en-US" dirty="0"/>
              <a:t> (1-t)</a:t>
            </a:r>
          </a:p>
        </p:txBody>
      </p:sp>
      <p:sp>
        <p:nvSpPr>
          <p:cNvPr id="29701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4627959" y="1599407"/>
            <a:ext cx="3887391" cy="600075"/>
          </a:xfrm>
        </p:spPr>
        <p:txBody>
          <a:bodyPr/>
          <a:lstStyle/>
          <a:p>
            <a:pPr algn="ctr"/>
            <a:r>
              <a:rPr lang="en-US" altLang="en-US" sz="2800" u="sng" dirty="0"/>
              <a:t>Asset</a:t>
            </a:r>
            <a:endParaRPr lang="en-US" altLang="en-US" u="sng" dirty="0"/>
          </a:p>
        </p:txBody>
      </p:sp>
      <p:sp>
        <p:nvSpPr>
          <p:cNvPr id="25606" name="Content Placeholder 8"/>
          <p:cNvSpPr>
            <a:spLocks noGrp="1"/>
          </p:cNvSpPr>
          <p:nvPr>
            <p:ph sz="quarter" idx="4"/>
          </p:nvPr>
        </p:nvSpPr>
        <p:spPr>
          <a:xfrm>
            <a:off x="4550766" y="2297431"/>
            <a:ext cx="4041775" cy="445452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Has $</a:t>
            </a:r>
          </a:p>
          <a:p>
            <a:r>
              <a:rPr lang="en-US" altLang="en-US" dirty="0"/>
              <a:t>Lender</a:t>
            </a:r>
          </a:p>
          <a:p>
            <a:r>
              <a:rPr lang="en-US" altLang="en-US" dirty="0"/>
              <a:t>Buyer or Investor</a:t>
            </a:r>
          </a:p>
          <a:p>
            <a:r>
              <a:rPr lang="en-US" altLang="en-US" dirty="0"/>
              <a:t>Bondholder</a:t>
            </a:r>
          </a:p>
          <a:p>
            <a:r>
              <a:rPr lang="en-US" altLang="en-US" dirty="0"/>
              <a:t>Creditor</a:t>
            </a:r>
          </a:p>
          <a:p>
            <a:r>
              <a:rPr lang="en-US" altLang="en-US" dirty="0"/>
              <a:t>Requires return to invest $ in bonds based on risk</a:t>
            </a:r>
          </a:p>
          <a:p>
            <a:pPr lvl="1"/>
            <a:r>
              <a:rPr lang="en-US" altLang="en-US" dirty="0"/>
              <a:t>Interest Received (earned) (Revenue) - pay tax on it</a:t>
            </a:r>
          </a:p>
          <a:p>
            <a:pPr lvl="1"/>
            <a:r>
              <a:rPr lang="en-US" altLang="en-US" dirty="0"/>
              <a:t>Capital Appreciation</a:t>
            </a:r>
          </a:p>
        </p:txBody>
      </p:sp>
      <p:sp>
        <p:nvSpPr>
          <p:cNvPr id="297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9FFF65-A0C8-4C86-8F1F-84A335143FB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/>
      <p:bldP spid="2560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Key Features of Bond</a:t>
            </a:r>
          </a:p>
        </p:txBody>
      </p:sp>
      <p:sp>
        <p:nvSpPr>
          <p:cNvPr id="27651" name="Rectangle 13"/>
          <p:cNvSpPr>
            <a:spLocks noGrp="1" noChangeArrowheads="1"/>
          </p:cNvSpPr>
          <p:nvPr>
            <p:ph idx="1"/>
          </p:nvPr>
        </p:nvSpPr>
        <p:spPr>
          <a:xfrm>
            <a:off x="152400" y="1397217"/>
            <a:ext cx="8839200" cy="509565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Maturity:</a:t>
            </a:r>
          </a:p>
          <a:p>
            <a:pPr lvl="1"/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/>
              <a:t>Issue date:</a:t>
            </a:r>
          </a:p>
          <a:p>
            <a:pPr lvl="1"/>
            <a:r>
              <a:rPr lang="en-US" altLang="en-US" dirty="0"/>
              <a:t>  </a:t>
            </a:r>
          </a:p>
          <a:p>
            <a:pPr eaLnBrk="1" hangingPunct="1"/>
            <a:r>
              <a:rPr lang="en-US" altLang="en-US" dirty="0"/>
              <a:t>Default risk:</a:t>
            </a:r>
          </a:p>
          <a:p>
            <a:pPr lvl="1"/>
            <a:r>
              <a:rPr lang="en-US" altLang="en-US" dirty="0"/>
              <a:t>  </a:t>
            </a:r>
          </a:p>
          <a:p>
            <a:pPr eaLnBrk="1" hangingPunct="1"/>
            <a:r>
              <a:rPr lang="en-US" altLang="en-US" dirty="0"/>
              <a:t>In marketplace, bond price quoted as % of par:</a:t>
            </a:r>
          </a:p>
          <a:p>
            <a:pPr lvl="1"/>
            <a:r>
              <a:rPr lang="en-US" altLang="en-US" dirty="0"/>
              <a:t>   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39EC6C-DEC9-48BF-8315-DAC17CF9204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800" dirty="0"/>
              <a:t>Value of Financial Security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28600" y="1447799"/>
            <a:ext cx="8610600" cy="504507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Value of any asset based on:</a:t>
            </a:r>
          </a:p>
          <a:p>
            <a:pPr lvl="1"/>
            <a:r>
              <a:rPr lang="en-US" altLang="en-US" dirty="0"/>
              <a:t> NPV of  expected future CFs discounted by an </a:t>
            </a:r>
            <a:r>
              <a:rPr lang="en-US" altLang="en-US" dirty="0" err="1"/>
              <a:t>i</a:t>
            </a:r>
            <a:r>
              <a:rPr lang="en-US" altLang="en-US" dirty="0"/>
              <a:t>% (interest or discount rate) that reflects risk factors</a:t>
            </a:r>
          </a:p>
          <a:p>
            <a:r>
              <a:rPr lang="en-US" altLang="en-US" dirty="0"/>
              <a:t>That </a:t>
            </a:r>
            <a:r>
              <a:rPr lang="en-US" altLang="en-US" dirty="0" err="1"/>
              <a:t>i</a:t>
            </a:r>
            <a:r>
              <a:rPr lang="en-US" altLang="en-US" dirty="0"/>
              <a:t>% depends on:</a:t>
            </a:r>
          </a:p>
          <a:p>
            <a:pPr lvl="1"/>
            <a:r>
              <a:rPr lang="en-US" altLang="en-US" dirty="0"/>
              <a:t>Riskiness of CFs </a:t>
            </a:r>
          </a:p>
          <a:p>
            <a:pPr lvl="2"/>
            <a:r>
              <a:rPr lang="en-US" altLang="en-US" sz="2400" dirty="0"/>
              <a:t> </a:t>
            </a:r>
          </a:p>
          <a:p>
            <a:pPr lvl="1"/>
            <a:r>
              <a:rPr lang="en-US" altLang="en-US" dirty="0"/>
              <a:t>General level of interest rates, which</a:t>
            </a:r>
          </a:p>
          <a:p>
            <a:pPr lvl="2"/>
            <a:r>
              <a:rPr lang="en-US" altLang="en-US" sz="2400" dirty="0"/>
              <a:t>   </a:t>
            </a:r>
          </a:p>
          <a:p>
            <a:pPr lvl="2"/>
            <a:r>
              <a:rPr lang="en-US" altLang="en-US" sz="2400" dirty="0"/>
              <a:t>  </a:t>
            </a:r>
          </a:p>
          <a:p>
            <a:pPr lvl="2"/>
            <a:r>
              <a:rPr lang="en-US" altLang="en-US" sz="2400" dirty="0"/>
              <a:t>  </a:t>
            </a:r>
          </a:p>
          <a:p>
            <a:pPr lvl="2"/>
            <a:r>
              <a:rPr lang="en-US" altLang="en-US" sz="2400" dirty="0"/>
              <a:t>  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D53DC9-4AF5-4C5D-95AF-467360FC712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40A937-BA09-4F3F-8B40-FE98413B11D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33795" name="Rectangle 65"/>
          <p:cNvSpPr>
            <a:spLocks noGrp="1" noChangeArrowheads="1"/>
          </p:cNvSpPr>
          <p:nvPr>
            <p:ph type="title"/>
          </p:nvPr>
        </p:nvSpPr>
        <p:spPr>
          <a:xfrm>
            <a:off x="628650" y="228600"/>
            <a:ext cx="7886700" cy="103209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Value of 10-yr, 10% coupon bond if: </a:t>
            </a:r>
            <a:r>
              <a:rPr lang="en-US" altLang="en-US" dirty="0" err="1"/>
              <a:t>mrkt</a:t>
            </a:r>
            <a:r>
              <a:rPr lang="en-US" altLang="en-US" dirty="0"/>
              <a:t> </a:t>
            </a:r>
            <a:r>
              <a:rPr lang="en-US" altLang="en-US" i="1" dirty="0" err="1"/>
              <a:t>i</a:t>
            </a:r>
            <a:r>
              <a:rPr lang="en-US" altLang="en-US" dirty="0"/>
              <a:t>% = 10%</a:t>
            </a:r>
          </a:p>
        </p:txBody>
      </p:sp>
      <p:sp>
        <p:nvSpPr>
          <p:cNvPr id="33796" name="Line 5"/>
          <p:cNvSpPr>
            <a:spLocks noChangeShapeType="1"/>
          </p:cNvSpPr>
          <p:nvPr/>
        </p:nvSpPr>
        <p:spPr bwMode="auto">
          <a:xfrm>
            <a:off x="1665288" y="4648200"/>
            <a:ext cx="1282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Line 8"/>
          <p:cNvSpPr>
            <a:spLocks noChangeShapeType="1"/>
          </p:cNvSpPr>
          <p:nvPr/>
        </p:nvSpPr>
        <p:spPr bwMode="auto">
          <a:xfrm>
            <a:off x="4572000" y="4648200"/>
            <a:ext cx="14144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Line 11"/>
          <p:cNvSpPr>
            <a:spLocks noChangeShapeType="1"/>
          </p:cNvSpPr>
          <p:nvPr/>
        </p:nvSpPr>
        <p:spPr bwMode="auto">
          <a:xfrm>
            <a:off x="6403975" y="4648200"/>
            <a:ext cx="1441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Rectangle 12"/>
          <p:cNvSpPr>
            <a:spLocks noChangeArrowheads="1"/>
          </p:cNvSpPr>
          <p:nvPr/>
        </p:nvSpPr>
        <p:spPr bwMode="auto">
          <a:xfrm>
            <a:off x="746125" y="4375150"/>
            <a:ext cx="3937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V</a:t>
            </a:r>
          </a:p>
        </p:txBody>
      </p:sp>
      <p:sp>
        <p:nvSpPr>
          <p:cNvPr id="33800" name="Rectangle 14"/>
          <p:cNvSpPr>
            <a:spLocks noChangeArrowheads="1"/>
          </p:cNvSpPr>
          <p:nvPr/>
        </p:nvSpPr>
        <p:spPr bwMode="auto">
          <a:xfrm>
            <a:off x="946150" y="4576763"/>
            <a:ext cx="315913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3801" name="Rectangle 16"/>
          <p:cNvSpPr>
            <a:spLocks noChangeArrowheads="1"/>
          </p:cNvSpPr>
          <p:nvPr/>
        </p:nvSpPr>
        <p:spPr bwMode="auto">
          <a:xfrm>
            <a:off x="1247775" y="4375150"/>
            <a:ext cx="43973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=</a:t>
            </a:r>
          </a:p>
        </p:txBody>
      </p:sp>
      <p:sp>
        <p:nvSpPr>
          <p:cNvPr id="33802" name="Rectangle 17"/>
          <p:cNvSpPr>
            <a:spLocks noChangeArrowheads="1"/>
          </p:cNvSpPr>
          <p:nvPr/>
        </p:nvSpPr>
        <p:spPr bwMode="auto">
          <a:xfrm>
            <a:off x="1752600" y="4114800"/>
            <a:ext cx="95567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$100</a:t>
            </a:r>
          </a:p>
        </p:txBody>
      </p:sp>
      <p:sp>
        <p:nvSpPr>
          <p:cNvPr id="33803" name="Rectangle 18"/>
          <p:cNvSpPr>
            <a:spLocks noChangeArrowheads="1"/>
          </p:cNvSpPr>
          <p:nvPr/>
        </p:nvSpPr>
        <p:spPr bwMode="auto">
          <a:xfrm>
            <a:off x="6523038" y="4114800"/>
            <a:ext cx="1477962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$1,000</a:t>
            </a:r>
          </a:p>
        </p:txBody>
      </p:sp>
      <p:sp>
        <p:nvSpPr>
          <p:cNvPr id="33804" name="Rectangle 25"/>
          <p:cNvSpPr>
            <a:spLocks noChangeArrowheads="1"/>
          </p:cNvSpPr>
          <p:nvPr/>
        </p:nvSpPr>
        <p:spPr bwMode="auto">
          <a:xfrm>
            <a:off x="3270250" y="4375150"/>
            <a:ext cx="4000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 .</a:t>
            </a:r>
          </a:p>
        </p:txBody>
      </p:sp>
      <p:sp>
        <p:nvSpPr>
          <p:cNvPr id="33805" name="Rectangle 26"/>
          <p:cNvSpPr>
            <a:spLocks noChangeArrowheads="1"/>
          </p:cNvSpPr>
          <p:nvPr/>
        </p:nvSpPr>
        <p:spPr bwMode="auto">
          <a:xfrm>
            <a:off x="3513138" y="4375150"/>
            <a:ext cx="4000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 .</a:t>
            </a:r>
          </a:p>
        </p:txBody>
      </p:sp>
      <p:sp>
        <p:nvSpPr>
          <p:cNvPr id="33806" name="Rectangle 27"/>
          <p:cNvSpPr>
            <a:spLocks noChangeArrowheads="1"/>
          </p:cNvSpPr>
          <p:nvPr/>
        </p:nvSpPr>
        <p:spPr bwMode="auto">
          <a:xfrm>
            <a:off x="3757613" y="4375150"/>
            <a:ext cx="4000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 .</a:t>
            </a:r>
          </a:p>
        </p:txBody>
      </p:sp>
      <p:sp>
        <p:nvSpPr>
          <p:cNvPr id="33807" name="Rectangle 28"/>
          <p:cNvSpPr>
            <a:spLocks noChangeArrowheads="1"/>
          </p:cNvSpPr>
          <p:nvPr/>
        </p:nvSpPr>
        <p:spPr bwMode="auto">
          <a:xfrm>
            <a:off x="4000500" y="4375150"/>
            <a:ext cx="2921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 </a:t>
            </a:r>
          </a:p>
        </p:txBody>
      </p:sp>
      <p:sp>
        <p:nvSpPr>
          <p:cNvPr id="33808" name="Rectangle 29"/>
          <p:cNvSpPr>
            <a:spLocks noChangeArrowheads="1"/>
          </p:cNvSpPr>
          <p:nvPr/>
        </p:nvSpPr>
        <p:spPr bwMode="auto">
          <a:xfrm>
            <a:off x="4183063" y="4416425"/>
            <a:ext cx="439737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+</a:t>
            </a:r>
          </a:p>
        </p:txBody>
      </p:sp>
      <p:sp>
        <p:nvSpPr>
          <p:cNvPr id="33809" name="Rectangle 30"/>
          <p:cNvSpPr>
            <a:spLocks noChangeArrowheads="1"/>
          </p:cNvSpPr>
          <p:nvPr/>
        </p:nvSpPr>
        <p:spPr bwMode="auto">
          <a:xfrm>
            <a:off x="4794250" y="4114800"/>
            <a:ext cx="95567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$100</a:t>
            </a:r>
          </a:p>
        </p:txBody>
      </p:sp>
      <p:sp>
        <p:nvSpPr>
          <p:cNvPr id="33810" name="Rectangle 35"/>
          <p:cNvSpPr>
            <a:spLocks noChangeArrowheads="1"/>
          </p:cNvSpPr>
          <p:nvPr/>
        </p:nvSpPr>
        <p:spPr bwMode="auto">
          <a:xfrm>
            <a:off x="3262313" y="3405188"/>
            <a:ext cx="6905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33811" name="Rectangle 36"/>
          <p:cNvSpPr>
            <a:spLocks noChangeArrowheads="1"/>
          </p:cNvSpPr>
          <p:nvPr/>
        </p:nvSpPr>
        <p:spPr bwMode="auto">
          <a:xfrm>
            <a:off x="7680325" y="3359150"/>
            <a:ext cx="827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3812" name="Line 37"/>
          <p:cNvSpPr>
            <a:spLocks noChangeShapeType="1"/>
          </p:cNvSpPr>
          <p:nvPr/>
        </p:nvSpPr>
        <p:spPr bwMode="auto">
          <a:xfrm>
            <a:off x="1447800" y="2822575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3" name="Line 38"/>
          <p:cNvSpPr>
            <a:spLocks noChangeShapeType="1"/>
          </p:cNvSpPr>
          <p:nvPr/>
        </p:nvSpPr>
        <p:spPr bwMode="auto">
          <a:xfrm>
            <a:off x="3657600" y="2822575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4" name="Line 39"/>
          <p:cNvSpPr>
            <a:spLocks noChangeShapeType="1"/>
          </p:cNvSpPr>
          <p:nvPr/>
        </p:nvSpPr>
        <p:spPr bwMode="auto">
          <a:xfrm>
            <a:off x="5638800" y="2822575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5" name="Line 40"/>
          <p:cNvSpPr>
            <a:spLocks noChangeShapeType="1"/>
          </p:cNvSpPr>
          <p:nvPr/>
        </p:nvSpPr>
        <p:spPr bwMode="auto">
          <a:xfrm>
            <a:off x="7924800" y="2822575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Rectangle 41"/>
          <p:cNvSpPr>
            <a:spLocks noChangeArrowheads="1"/>
          </p:cNvSpPr>
          <p:nvPr/>
        </p:nvSpPr>
        <p:spPr bwMode="auto">
          <a:xfrm>
            <a:off x="5243513" y="3405188"/>
            <a:ext cx="6905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100</a:t>
            </a:r>
          </a:p>
        </p:txBody>
      </p:sp>
      <p:grpSp>
        <p:nvGrpSpPr>
          <p:cNvPr id="33817" name="Group 42"/>
          <p:cNvGrpSpPr>
            <a:grpSpLocks/>
          </p:cNvGrpSpPr>
          <p:nvPr/>
        </p:nvGrpSpPr>
        <p:grpSpPr bwMode="auto">
          <a:xfrm>
            <a:off x="1281113" y="2298700"/>
            <a:ext cx="6997700" cy="454025"/>
            <a:chOff x="663" y="1304"/>
            <a:chExt cx="4408" cy="286"/>
          </a:xfrm>
        </p:grpSpPr>
        <p:sp>
          <p:nvSpPr>
            <p:cNvPr id="33830" name="Rectangle 43"/>
            <p:cNvSpPr>
              <a:spLocks noChangeArrowheads="1"/>
            </p:cNvSpPr>
            <p:nvPr/>
          </p:nvSpPr>
          <p:spPr bwMode="auto">
            <a:xfrm>
              <a:off x="663" y="1304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3831" name="Rectangle 44"/>
            <p:cNvSpPr>
              <a:spLocks noChangeArrowheads="1"/>
            </p:cNvSpPr>
            <p:nvPr/>
          </p:nvSpPr>
          <p:spPr bwMode="auto">
            <a:xfrm>
              <a:off x="2055" y="1304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3832" name="Rectangle 45"/>
            <p:cNvSpPr>
              <a:spLocks noChangeArrowheads="1"/>
            </p:cNvSpPr>
            <p:nvPr/>
          </p:nvSpPr>
          <p:spPr bwMode="auto">
            <a:xfrm>
              <a:off x="3303" y="1304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3833" name="Rectangle 46"/>
            <p:cNvSpPr>
              <a:spLocks noChangeArrowheads="1"/>
            </p:cNvSpPr>
            <p:nvPr/>
          </p:nvSpPr>
          <p:spPr bwMode="auto">
            <a:xfrm>
              <a:off x="4743" y="1304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10</a:t>
              </a:r>
            </a:p>
          </p:txBody>
        </p:sp>
      </p:grpSp>
      <p:sp>
        <p:nvSpPr>
          <p:cNvPr id="33818" name="Rectangle 47"/>
          <p:cNvSpPr>
            <a:spLocks noChangeArrowheads="1"/>
          </p:cNvSpPr>
          <p:nvPr/>
        </p:nvSpPr>
        <p:spPr bwMode="auto">
          <a:xfrm>
            <a:off x="2043113" y="2678113"/>
            <a:ext cx="7921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10%</a:t>
            </a:r>
          </a:p>
        </p:txBody>
      </p:sp>
      <p:sp>
        <p:nvSpPr>
          <p:cNvPr id="33819" name="Rectangle 48"/>
          <p:cNvSpPr>
            <a:spLocks noChangeArrowheads="1"/>
          </p:cNvSpPr>
          <p:nvPr/>
        </p:nvSpPr>
        <p:spPr bwMode="auto">
          <a:xfrm>
            <a:off x="6781800" y="3429000"/>
            <a:ext cx="18002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100 + 1,000</a:t>
            </a:r>
          </a:p>
        </p:txBody>
      </p:sp>
      <p:sp>
        <p:nvSpPr>
          <p:cNvPr id="33820" name="Rectangle 49"/>
          <p:cNvSpPr>
            <a:spLocks noChangeArrowheads="1"/>
          </p:cNvSpPr>
          <p:nvPr/>
        </p:nvSpPr>
        <p:spPr bwMode="auto">
          <a:xfrm>
            <a:off x="985838" y="3405188"/>
            <a:ext cx="9159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V = ?</a:t>
            </a:r>
          </a:p>
        </p:txBody>
      </p:sp>
      <p:sp>
        <p:nvSpPr>
          <p:cNvPr id="33821" name="Line 50"/>
          <p:cNvSpPr>
            <a:spLocks noChangeShapeType="1"/>
          </p:cNvSpPr>
          <p:nvPr/>
        </p:nvSpPr>
        <p:spPr bwMode="auto">
          <a:xfrm>
            <a:off x="1460500" y="3062288"/>
            <a:ext cx="462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22" name="Line 51"/>
          <p:cNvSpPr>
            <a:spLocks noChangeShapeType="1"/>
          </p:cNvSpPr>
          <p:nvPr/>
        </p:nvSpPr>
        <p:spPr bwMode="auto">
          <a:xfrm>
            <a:off x="6545263" y="3062288"/>
            <a:ext cx="13668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23" name="Rectangle 52"/>
          <p:cNvSpPr>
            <a:spLocks noChangeArrowheads="1"/>
          </p:cNvSpPr>
          <p:nvPr/>
        </p:nvSpPr>
        <p:spPr bwMode="auto">
          <a:xfrm>
            <a:off x="6065838" y="2687638"/>
            <a:ext cx="51911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...</a:t>
            </a:r>
          </a:p>
        </p:txBody>
      </p:sp>
      <p:sp>
        <p:nvSpPr>
          <p:cNvPr id="33824" name="Rectangle 53"/>
          <p:cNvSpPr>
            <a:spLocks noChangeArrowheads="1"/>
          </p:cNvSpPr>
          <p:nvPr/>
        </p:nvSpPr>
        <p:spPr bwMode="auto">
          <a:xfrm>
            <a:off x="1371600" y="5562600"/>
            <a:ext cx="68516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=  $90.91 +    . . .   + $38.55   + $385.54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=  $1,000.</a:t>
            </a:r>
          </a:p>
        </p:txBody>
      </p:sp>
      <p:sp>
        <p:nvSpPr>
          <p:cNvPr id="33825" name="Rectangle 54"/>
          <p:cNvSpPr>
            <a:spLocks noChangeArrowheads="1"/>
          </p:cNvSpPr>
          <p:nvPr/>
        </p:nvSpPr>
        <p:spPr bwMode="auto">
          <a:xfrm>
            <a:off x="6015038" y="4416425"/>
            <a:ext cx="439737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+</a:t>
            </a:r>
          </a:p>
        </p:txBody>
      </p:sp>
      <p:sp>
        <p:nvSpPr>
          <p:cNvPr id="33826" name="Rectangle 55"/>
          <p:cNvSpPr>
            <a:spLocks noChangeArrowheads="1"/>
          </p:cNvSpPr>
          <p:nvPr/>
        </p:nvSpPr>
        <p:spPr bwMode="auto">
          <a:xfrm>
            <a:off x="2981325" y="4416425"/>
            <a:ext cx="43973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+</a:t>
            </a:r>
          </a:p>
        </p:txBody>
      </p:sp>
      <p:sp>
        <p:nvSpPr>
          <p:cNvPr id="33827" name="Rectangle 68"/>
          <p:cNvSpPr>
            <a:spLocks noChangeArrowheads="1"/>
          </p:cNvSpPr>
          <p:nvPr/>
        </p:nvSpPr>
        <p:spPr bwMode="auto">
          <a:xfrm>
            <a:off x="1600200" y="4648200"/>
            <a:ext cx="1352935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(1 + </a:t>
            </a:r>
            <a:r>
              <a:rPr lang="en-US" altLang="en-US" sz="2800" dirty="0" err="1"/>
              <a:t>i</a:t>
            </a:r>
            <a:r>
              <a:rPr lang="en-US" altLang="en-US" sz="2800" dirty="0"/>
              <a:t>)</a:t>
            </a:r>
            <a:r>
              <a:rPr lang="en-US" altLang="en-US" sz="2800" baseline="30000" dirty="0"/>
              <a:t>1</a:t>
            </a:r>
          </a:p>
        </p:txBody>
      </p:sp>
      <p:sp>
        <p:nvSpPr>
          <p:cNvPr id="33828" name="Rectangle 69"/>
          <p:cNvSpPr>
            <a:spLocks noChangeArrowheads="1"/>
          </p:cNvSpPr>
          <p:nvPr/>
        </p:nvSpPr>
        <p:spPr bwMode="auto">
          <a:xfrm>
            <a:off x="4572000" y="4648200"/>
            <a:ext cx="1381790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(1 + </a:t>
            </a:r>
            <a:r>
              <a:rPr lang="en-US" altLang="en-US" sz="2800" dirty="0" err="1"/>
              <a:t>i</a:t>
            </a:r>
            <a:r>
              <a:rPr lang="en-US" altLang="en-US" sz="2800" dirty="0"/>
              <a:t>)</a:t>
            </a:r>
            <a:r>
              <a:rPr lang="en-US" altLang="en-US" sz="2800" baseline="30000" dirty="0"/>
              <a:t>N</a:t>
            </a:r>
          </a:p>
        </p:txBody>
      </p:sp>
      <p:sp>
        <p:nvSpPr>
          <p:cNvPr id="33829" name="Rectangle 70"/>
          <p:cNvSpPr>
            <a:spLocks noChangeArrowheads="1"/>
          </p:cNvSpPr>
          <p:nvPr/>
        </p:nvSpPr>
        <p:spPr bwMode="auto">
          <a:xfrm>
            <a:off x="6400800" y="4648200"/>
            <a:ext cx="1381790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(1 + </a:t>
            </a:r>
            <a:r>
              <a:rPr lang="en-US" altLang="en-US" sz="2800" dirty="0" err="1"/>
              <a:t>i</a:t>
            </a:r>
            <a:r>
              <a:rPr lang="en-US" altLang="en-US" sz="2800" dirty="0"/>
              <a:t>)</a:t>
            </a:r>
            <a:r>
              <a:rPr lang="en-US" altLang="en-US" sz="2800" baseline="30000" dirty="0"/>
              <a:t>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20D6CC-912D-4CA7-ACD4-5291619FB04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grpSp>
        <p:nvGrpSpPr>
          <p:cNvPr id="34819" name="Group 27"/>
          <p:cNvGrpSpPr>
            <a:grpSpLocks/>
          </p:cNvGrpSpPr>
          <p:nvPr/>
        </p:nvGrpSpPr>
        <p:grpSpPr bwMode="auto">
          <a:xfrm>
            <a:off x="838201" y="2024063"/>
            <a:ext cx="7556500" cy="3886200"/>
            <a:chOff x="514" y="1440"/>
            <a:chExt cx="4760" cy="2358"/>
          </a:xfrm>
        </p:grpSpPr>
        <p:sp>
          <p:nvSpPr>
            <p:cNvPr id="34821" name="AutoShape 5"/>
            <p:cNvSpPr>
              <a:spLocks noChangeArrowheads="1"/>
            </p:cNvSpPr>
            <p:nvPr/>
          </p:nvSpPr>
          <p:spPr bwMode="auto">
            <a:xfrm>
              <a:off x="1594" y="3224"/>
              <a:ext cx="416" cy="28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22" name="AutoShape 6"/>
            <p:cNvSpPr>
              <a:spLocks noChangeArrowheads="1"/>
            </p:cNvSpPr>
            <p:nvPr/>
          </p:nvSpPr>
          <p:spPr bwMode="auto">
            <a:xfrm>
              <a:off x="2254" y="3224"/>
              <a:ext cx="512" cy="28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23" name="AutoShape 7"/>
            <p:cNvSpPr>
              <a:spLocks noChangeArrowheads="1"/>
            </p:cNvSpPr>
            <p:nvPr/>
          </p:nvSpPr>
          <p:spPr bwMode="auto">
            <a:xfrm>
              <a:off x="3010" y="3224"/>
              <a:ext cx="464" cy="28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24" name="AutoShape 8"/>
            <p:cNvSpPr>
              <a:spLocks noChangeArrowheads="1"/>
            </p:cNvSpPr>
            <p:nvPr/>
          </p:nvSpPr>
          <p:spPr bwMode="auto">
            <a:xfrm>
              <a:off x="3718" y="3224"/>
              <a:ext cx="560" cy="28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25" name="AutoShape 9"/>
            <p:cNvSpPr>
              <a:spLocks noChangeArrowheads="1"/>
            </p:cNvSpPr>
            <p:nvPr/>
          </p:nvSpPr>
          <p:spPr bwMode="auto">
            <a:xfrm>
              <a:off x="4522" y="3224"/>
              <a:ext cx="416" cy="28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26" name="Rectangle 11"/>
            <p:cNvSpPr>
              <a:spLocks noChangeArrowheads="1"/>
            </p:cNvSpPr>
            <p:nvPr/>
          </p:nvSpPr>
          <p:spPr bwMode="auto">
            <a:xfrm>
              <a:off x="514" y="2970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10	 10		      100   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 -1,000</a:t>
              </a:r>
            </a:p>
          </p:txBody>
        </p:sp>
        <p:sp>
          <p:nvSpPr>
            <p:cNvPr id="34827" name="Line 16"/>
            <p:cNvSpPr>
              <a:spLocks noChangeShapeType="1"/>
            </p:cNvSpPr>
            <p:nvPr/>
          </p:nvSpPr>
          <p:spPr bwMode="auto">
            <a:xfrm>
              <a:off x="3368" y="2460"/>
              <a:ext cx="11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4828" name="Group 21"/>
            <p:cNvGrpSpPr>
              <a:grpSpLocks/>
            </p:cNvGrpSpPr>
            <p:nvPr/>
          </p:nvGrpSpPr>
          <p:grpSpPr bwMode="auto">
            <a:xfrm>
              <a:off x="768" y="1440"/>
              <a:ext cx="3805" cy="977"/>
              <a:chOff x="755" y="1470"/>
              <a:chExt cx="3805" cy="977"/>
            </a:xfrm>
          </p:grpSpPr>
          <p:grpSp>
            <p:nvGrpSpPr>
              <p:cNvPr id="34831" name="Group 19"/>
              <p:cNvGrpSpPr>
                <a:grpSpLocks/>
              </p:cNvGrpSpPr>
              <p:nvPr/>
            </p:nvGrpSpPr>
            <p:grpSpPr bwMode="auto">
              <a:xfrm>
                <a:off x="755" y="1470"/>
                <a:ext cx="3805" cy="977"/>
                <a:chOff x="755" y="1470"/>
                <a:chExt cx="3805" cy="977"/>
              </a:xfrm>
            </p:grpSpPr>
            <p:sp>
              <p:nvSpPr>
                <p:cNvPr id="34833" name="Rectangle 17"/>
                <p:cNvSpPr>
                  <a:spLocks noChangeArrowheads="1"/>
                </p:cNvSpPr>
                <p:nvPr/>
              </p:nvSpPr>
              <p:spPr bwMode="auto">
                <a:xfrm>
                  <a:off x="1560" y="1470"/>
                  <a:ext cx="3000" cy="9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algn="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>
                      <a:latin typeface="Arial" panose="020B0604020202020204" pitchFamily="34" charset="0"/>
                    </a:rPr>
                    <a:t>		 	</a:t>
                  </a:r>
                  <a:r>
                    <a:rPr lang="en-US" altLang="en-US"/>
                    <a:t>$   614.46</a:t>
                  </a:r>
                </a:p>
                <a:p>
                  <a:pPr algn="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/>
                    <a:t>	</a:t>
                  </a:r>
                  <a:r>
                    <a:rPr lang="en-US" altLang="en-US" u="sng"/>
                    <a:t>     385.54</a:t>
                  </a:r>
                  <a:endParaRPr lang="en-US" altLang="en-US"/>
                </a:p>
                <a:p>
                  <a:pPr algn="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/>
                    <a:t>		   	</a:t>
                  </a:r>
                  <a:r>
                    <a:rPr lang="en-US" altLang="en-US" u="sng"/>
                    <a:t>$1,000.00</a:t>
                  </a:r>
                </a:p>
              </p:txBody>
            </p:sp>
            <p:sp>
              <p:nvSpPr>
                <p:cNvPr id="34834" name="Rectangle 18"/>
                <p:cNvSpPr>
                  <a:spLocks noChangeArrowheads="1"/>
                </p:cNvSpPr>
                <p:nvPr/>
              </p:nvSpPr>
              <p:spPr bwMode="auto">
                <a:xfrm>
                  <a:off x="755" y="1470"/>
                  <a:ext cx="2608" cy="9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/>
                    <a:t>PV annuity            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/>
                    <a:t>PV maturity value 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/>
                    <a:t>Value of bond</a:t>
                  </a:r>
                  <a:r>
                    <a:rPr lang="en-US" altLang="en-US">
                      <a:latin typeface="Arial" panose="020B0604020202020204" pitchFamily="34" charset="0"/>
                    </a:rPr>
                    <a:t>             </a:t>
                  </a:r>
                </a:p>
              </p:txBody>
            </p:sp>
          </p:grpSp>
          <p:sp>
            <p:nvSpPr>
              <p:cNvPr id="34832" name="Rectangle 20"/>
              <p:cNvSpPr>
                <a:spLocks noChangeArrowheads="1"/>
              </p:cNvSpPr>
              <p:nvPr/>
            </p:nvSpPr>
            <p:spPr bwMode="auto">
              <a:xfrm>
                <a:off x="3055" y="1470"/>
                <a:ext cx="264" cy="9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latin typeface="Arial" panose="020B0604020202020204" pitchFamily="34" charset="0"/>
                  </a:rPr>
                  <a:t>=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latin typeface="Arial" panose="020B0604020202020204" pitchFamily="34" charset="0"/>
                  </a:rPr>
                  <a:t>=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latin typeface="Arial" panose="020B0604020202020204" pitchFamily="34" charset="0"/>
                  </a:rPr>
                  <a:t>=</a:t>
                </a:r>
              </a:p>
            </p:txBody>
          </p:sp>
        </p:grpSp>
        <p:sp>
          <p:nvSpPr>
            <p:cNvPr id="34829" name="AutoShape 22"/>
            <p:cNvSpPr>
              <a:spLocks noChangeArrowheads="1"/>
            </p:cNvSpPr>
            <p:nvPr/>
          </p:nvSpPr>
          <p:spPr bwMode="auto">
            <a:xfrm>
              <a:off x="528" y="2832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34830" name="AutoShape 23"/>
            <p:cNvSpPr>
              <a:spLocks noChangeArrowheads="1"/>
            </p:cNvSpPr>
            <p:nvPr/>
          </p:nvSpPr>
          <p:spPr bwMode="auto">
            <a:xfrm>
              <a:off x="561" y="3441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34820" name="Rectangle 102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Bond consists of 10-yr, 10% annuity of $100/</a:t>
            </a:r>
            <a:r>
              <a:rPr lang="en-US" altLang="en-US" sz="3200" dirty="0" err="1"/>
              <a:t>yr</a:t>
            </a:r>
            <a:r>
              <a:rPr lang="en-US" altLang="en-US" sz="3200" dirty="0"/>
              <a:t> plus $1,000 lump sum at t = 10: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Bond Pricing in Excel</a:t>
            </a:r>
          </a:p>
        </p:txBody>
      </p:sp>
      <p:sp>
        <p:nvSpPr>
          <p:cNvPr id="3993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C8A366-0EAB-4E87-B735-BB0D952A4E4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pic>
        <p:nvPicPr>
          <p:cNvPr id="39940" name="Picture 1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3200399"/>
            <a:ext cx="3136900" cy="165197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39941" name="Content Placeholder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2513" y="2438400"/>
            <a:ext cx="4460487" cy="2514600"/>
          </a:xfrm>
          <a:extLs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434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16681B-95FA-4651-928C-67AEFC624CE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33795" name="Rectangle 15"/>
          <p:cNvSpPr>
            <a:spLocks noChangeArrowheads="1"/>
          </p:cNvSpPr>
          <p:nvPr/>
        </p:nvSpPr>
        <p:spPr bwMode="auto">
          <a:xfrm>
            <a:off x="742950" y="4837113"/>
            <a:ext cx="7726363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When market interest rate (</a:t>
            </a:r>
            <a:r>
              <a:rPr lang="en-US" altLang="en-US" dirty="0" err="1"/>
              <a:t>i</a:t>
            </a:r>
            <a:r>
              <a:rPr lang="en-US" altLang="en-US" dirty="0"/>
              <a:t>)rises </a:t>
            </a:r>
            <a:r>
              <a:rPr lang="en-US" altLang="en-US" u="sng" dirty="0"/>
              <a:t>above</a:t>
            </a:r>
            <a:r>
              <a:rPr lang="en-US" altLang="en-US" dirty="0"/>
              <a:t> coupon rate, bond’s value (PV or price) falls </a:t>
            </a:r>
            <a:r>
              <a:rPr lang="en-US" altLang="en-US" u="sng" dirty="0"/>
              <a:t>below</a:t>
            </a:r>
            <a:r>
              <a:rPr lang="en-US" altLang="en-US" dirty="0"/>
              <a:t> par, so sells @ discount.</a:t>
            </a:r>
          </a:p>
        </p:txBody>
      </p:sp>
      <p:grpSp>
        <p:nvGrpSpPr>
          <p:cNvPr id="33796" name="Group 21"/>
          <p:cNvGrpSpPr>
            <a:grpSpLocks/>
          </p:cNvGrpSpPr>
          <p:nvPr/>
        </p:nvGrpSpPr>
        <p:grpSpPr bwMode="auto">
          <a:xfrm>
            <a:off x="793750" y="2590800"/>
            <a:ext cx="7556500" cy="1441450"/>
            <a:chOff x="512" y="1713"/>
            <a:chExt cx="4760" cy="908"/>
          </a:xfrm>
        </p:grpSpPr>
        <p:sp>
          <p:nvSpPr>
            <p:cNvPr id="35846" name="AutoShape 8"/>
            <p:cNvSpPr>
              <a:spLocks noChangeArrowheads="1"/>
            </p:cNvSpPr>
            <p:nvPr/>
          </p:nvSpPr>
          <p:spPr bwMode="auto">
            <a:xfrm>
              <a:off x="1636" y="2050"/>
              <a:ext cx="320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5847" name="AutoShape 9"/>
            <p:cNvSpPr>
              <a:spLocks noChangeArrowheads="1"/>
            </p:cNvSpPr>
            <p:nvPr/>
          </p:nvSpPr>
          <p:spPr bwMode="auto">
            <a:xfrm>
              <a:off x="2224" y="2050"/>
              <a:ext cx="60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5848" name="AutoShape 10"/>
            <p:cNvSpPr>
              <a:spLocks noChangeArrowheads="1"/>
            </p:cNvSpPr>
            <p:nvPr/>
          </p:nvSpPr>
          <p:spPr bwMode="auto">
            <a:xfrm>
              <a:off x="3100" y="2050"/>
              <a:ext cx="36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5849" name="AutoShape 11"/>
            <p:cNvSpPr>
              <a:spLocks noChangeArrowheads="1"/>
            </p:cNvSpPr>
            <p:nvPr/>
          </p:nvSpPr>
          <p:spPr bwMode="auto">
            <a:xfrm>
              <a:off x="3736" y="2050"/>
              <a:ext cx="560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5850" name="AutoShape 12"/>
            <p:cNvSpPr>
              <a:spLocks noChangeArrowheads="1"/>
            </p:cNvSpPr>
            <p:nvPr/>
          </p:nvSpPr>
          <p:spPr bwMode="auto">
            <a:xfrm>
              <a:off x="4564" y="2050"/>
              <a:ext cx="36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5851" name="Rectangle 14"/>
            <p:cNvSpPr>
              <a:spLocks noChangeArrowheads="1"/>
            </p:cNvSpPr>
            <p:nvPr/>
          </p:nvSpPr>
          <p:spPr bwMode="auto">
            <a:xfrm>
              <a:off x="512" y="1774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 ? 	 ?		        ?           ?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             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???</a:t>
              </a:r>
            </a:p>
          </p:txBody>
        </p:sp>
        <p:sp>
          <p:nvSpPr>
            <p:cNvPr id="35852" name="AutoShape 17"/>
            <p:cNvSpPr>
              <a:spLocks noChangeArrowheads="1"/>
            </p:cNvSpPr>
            <p:nvPr/>
          </p:nvSpPr>
          <p:spPr bwMode="auto">
            <a:xfrm>
              <a:off x="567" y="1713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35853" name="AutoShape 18"/>
            <p:cNvSpPr>
              <a:spLocks noChangeArrowheads="1"/>
            </p:cNvSpPr>
            <p:nvPr/>
          </p:nvSpPr>
          <p:spPr bwMode="auto">
            <a:xfrm>
              <a:off x="561" y="226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35845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200" dirty="0"/>
              <a:t>What happens if expected inflation </a:t>
            </a:r>
            <a:br>
              <a:rPr lang="en-US" altLang="en-US" sz="3200" dirty="0"/>
            </a:br>
            <a:r>
              <a:rPr lang="en-US" altLang="en-US" sz="3200" dirty="0"/>
              <a:t>rose by 3%, increasing </a:t>
            </a:r>
            <a:r>
              <a:rPr lang="en-US" altLang="en-US" sz="3200" dirty="0" err="1"/>
              <a:t>mrkt</a:t>
            </a:r>
            <a:r>
              <a:rPr lang="en-US" altLang="en-US" sz="3200" dirty="0"/>
              <a:t> 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= 13%?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8EABA6-CB0F-497C-B288-FBE576B7789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grpSp>
        <p:nvGrpSpPr>
          <p:cNvPr id="33796" name="Group 21"/>
          <p:cNvGrpSpPr>
            <a:grpSpLocks/>
          </p:cNvGrpSpPr>
          <p:nvPr/>
        </p:nvGrpSpPr>
        <p:grpSpPr bwMode="auto">
          <a:xfrm>
            <a:off x="752475" y="2708275"/>
            <a:ext cx="7556500" cy="1441450"/>
            <a:chOff x="522" y="1713"/>
            <a:chExt cx="4760" cy="908"/>
          </a:xfrm>
        </p:grpSpPr>
        <p:sp>
          <p:nvSpPr>
            <p:cNvPr id="36869" name="AutoShape 8"/>
            <p:cNvSpPr>
              <a:spLocks noChangeArrowheads="1"/>
            </p:cNvSpPr>
            <p:nvPr/>
          </p:nvSpPr>
          <p:spPr bwMode="auto">
            <a:xfrm>
              <a:off x="1636" y="2050"/>
              <a:ext cx="320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6870" name="AutoShape 9"/>
            <p:cNvSpPr>
              <a:spLocks noChangeArrowheads="1"/>
            </p:cNvSpPr>
            <p:nvPr/>
          </p:nvSpPr>
          <p:spPr bwMode="auto">
            <a:xfrm>
              <a:off x="2224" y="2050"/>
              <a:ext cx="60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6871" name="AutoShape 10"/>
            <p:cNvSpPr>
              <a:spLocks noChangeArrowheads="1"/>
            </p:cNvSpPr>
            <p:nvPr/>
          </p:nvSpPr>
          <p:spPr bwMode="auto">
            <a:xfrm>
              <a:off x="3100" y="2050"/>
              <a:ext cx="36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6872" name="AutoShape 11"/>
            <p:cNvSpPr>
              <a:spLocks noChangeArrowheads="1"/>
            </p:cNvSpPr>
            <p:nvPr/>
          </p:nvSpPr>
          <p:spPr bwMode="auto">
            <a:xfrm>
              <a:off x="3736" y="2050"/>
              <a:ext cx="560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6873" name="AutoShape 12"/>
            <p:cNvSpPr>
              <a:spLocks noChangeArrowheads="1"/>
            </p:cNvSpPr>
            <p:nvPr/>
          </p:nvSpPr>
          <p:spPr bwMode="auto">
            <a:xfrm>
              <a:off x="4564" y="2050"/>
              <a:ext cx="36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6874" name="Rectangle 14"/>
            <p:cNvSpPr>
              <a:spLocks noChangeArrowheads="1"/>
            </p:cNvSpPr>
            <p:nvPr/>
          </p:nvSpPr>
          <p:spPr bwMode="auto">
            <a:xfrm>
              <a:off x="522" y="1788"/>
              <a:ext cx="4760" cy="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</a:t>
              </a:r>
              <a:r>
                <a:rPr lang="en-US" altLang="en-US" sz="26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N=?  </a:t>
              </a:r>
              <a:r>
                <a:rPr lang="en-US" altLang="en-US" sz="2600" b="1" dirty="0">
                  <a:latin typeface="Arial" panose="020B0604020202020204" pitchFamily="34" charset="0"/>
                </a:rPr>
                <a:t>	 13		      100   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             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???</a:t>
              </a:r>
            </a:p>
          </p:txBody>
        </p:sp>
        <p:sp>
          <p:nvSpPr>
            <p:cNvPr id="36875" name="AutoShape 17"/>
            <p:cNvSpPr>
              <a:spLocks noChangeArrowheads="1"/>
            </p:cNvSpPr>
            <p:nvPr/>
          </p:nvSpPr>
          <p:spPr bwMode="auto">
            <a:xfrm>
              <a:off x="567" y="1713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36876" name="AutoShape 18"/>
            <p:cNvSpPr>
              <a:spLocks noChangeArrowheads="1"/>
            </p:cNvSpPr>
            <p:nvPr/>
          </p:nvSpPr>
          <p:spPr bwMode="auto">
            <a:xfrm>
              <a:off x="561" y="226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36868" name="Rectangle 20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hangingPunct="1"/>
            <a:r>
              <a:rPr lang="en-US" altLang="en-US" sz="4000" dirty="0"/>
              <a:t>What happens if 1-yr passes </a:t>
            </a:r>
            <a:br>
              <a:rPr lang="en-US" altLang="en-US" sz="4000" dirty="0"/>
            </a:br>
            <a:r>
              <a:rPr lang="en-US" altLang="en-US" sz="4000" dirty="0"/>
              <a:t>but  market </a:t>
            </a:r>
            <a:r>
              <a:rPr lang="en-US" altLang="en-US" sz="4000" dirty="0" err="1"/>
              <a:t>i</a:t>
            </a:r>
            <a:r>
              <a:rPr lang="en-US" altLang="en-US" sz="4000" dirty="0"/>
              <a:t> stays at 13%?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C4D912-51B1-42AA-9221-B55726AEF57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grpSp>
        <p:nvGrpSpPr>
          <p:cNvPr id="33796" name="Group 21"/>
          <p:cNvGrpSpPr>
            <a:grpSpLocks/>
          </p:cNvGrpSpPr>
          <p:nvPr/>
        </p:nvGrpSpPr>
        <p:grpSpPr bwMode="auto">
          <a:xfrm>
            <a:off x="825500" y="2719388"/>
            <a:ext cx="7556500" cy="1441450"/>
            <a:chOff x="520" y="1713"/>
            <a:chExt cx="4760" cy="908"/>
          </a:xfrm>
        </p:grpSpPr>
        <p:sp>
          <p:nvSpPr>
            <p:cNvPr id="37893" name="AutoShape 8"/>
            <p:cNvSpPr>
              <a:spLocks noChangeArrowheads="1"/>
            </p:cNvSpPr>
            <p:nvPr/>
          </p:nvSpPr>
          <p:spPr bwMode="auto">
            <a:xfrm>
              <a:off x="1636" y="2050"/>
              <a:ext cx="320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7894" name="AutoShape 9"/>
            <p:cNvSpPr>
              <a:spLocks noChangeArrowheads="1"/>
            </p:cNvSpPr>
            <p:nvPr/>
          </p:nvSpPr>
          <p:spPr bwMode="auto">
            <a:xfrm>
              <a:off x="2224" y="2050"/>
              <a:ext cx="60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7895" name="AutoShape 10"/>
            <p:cNvSpPr>
              <a:spLocks noChangeArrowheads="1"/>
            </p:cNvSpPr>
            <p:nvPr/>
          </p:nvSpPr>
          <p:spPr bwMode="auto">
            <a:xfrm>
              <a:off x="3100" y="2050"/>
              <a:ext cx="36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7896" name="AutoShape 11"/>
            <p:cNvSpPr>
              <a:spLocks noChangeArrowheads="1"/>
            </p:cNvSpPr>
            <p:nvPr/>
          </p:nvSpPr>
          <p:spPr bwMode="auto">
            <a:xfrm>
              <a:off x="3736" y="2050"/>
              <a:ext cx="560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7897" name="AutoShape 12"/>
            <p:cNvSpPr>
              <a:spLocks noChangeArrowheads="1"/>
            </p:cNvSpPr>
            <p:nvPr/>
          </p:nvSpPr>
          <p:spPr bwMode="auto">
            <a:xfrm>
              <a:off x="4564" y="2050"/>
              <a:ext cx="36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7898" name="Rectangle 14"/>
            <p:cNvSpPr>
              <a:spLocks noChangeArrowheads="1"/>
            </p:cNvSpPr>
            <p:nvPr/>
          </p:nvSpPr>
          <p:spPr bwMode="auto">
            <a:xfrm>
              <a:off x="520" y="1776"/>
              <a:ext cx="4760" cy="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</a:t>
              </a:r>
              <a:r>
                <a:rPr lang="en-US" altLang="en-US" sz="26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 N=?</a:t>
              </a:r>
              <a:r>
                <a:rPr lang="en-US" altLang="en-US" sz="2600" b="1" dirty="0">
                  <a:latin typeface="Arial" panose="020B0604020202020204" pitchFamily="34" charset="0"/>
                </a:rPr>
                <a:t>  	 13		      100   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             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???</a:t>
              </a:r>
              <a:endParaRPr lang="en-US" altLang="en-US" sz="2600" b="1" dirty="0">
                <a:latin typeface="Arial" panose="020B0604020202020204" pitchFamily="34" charset="0"/>
              </a:endParaRPr>
            </a:p>
          </p:txBody>
        </p:sp>
        <p:sp>
          <p:nvSpPr>
            <p:cNvPr id="37899" name="AutoShape 17"/>
            <p:cNvSpPr>
              <a:spLocks noChangeArrowheads="1"/>
            </p:cNvSpPr>
            <p:nvPr/>
          </p:nvSpPr>
          <p:spPr bwMode="auto">
            <a:xfrm>
              <a:off x="567" y="1713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37900" name="AutoShape 18"/>
            <p:cNvSpPr>
              <a:spLocks noChangeArrowheads="1"/>
            </p:cNvSpPr>
            <p:nvPr/>
          </p:nvSpPr>
          <p:spPr bwMode="auto">
            <a:xfrm>
              <a:off x="561" y="226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37892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200" dirty="0"/>
              <a:t>What happens if 2</a:t>
            </a:r>
            <a:r>
              <a:rPr lang="en-US" altLang="en-US" sz="3200" baseline="30000" dirty="0"/>
              <a:t>nd</a:t>
            </a:r>
            <a:r>
              <a:rPr lang="en-US" altLang="en-US" sz="3200" dirty="0"/>
              <a:t> </a:t>
            </a:r>
            <a:r>
              <a:rPr lang="en-US" altLang="en-US" sz="3200" dirty="0" err="1"/>
              <a:t>yr</a:t>
            </a:r>
            <a:r>
              <a:rPr lang="en-US" altLang="en-US" sz="3200" dirty="0"/>
              <a:t> passes </a:t>
            </a:r>
            <a:br>
              <a:rPr lang="en-US" altLang="en-US" sz="3200" dirty="0"/>
            </a:br>
            <a:r>
              <a:rPr lang="en-US" altLang="en-US" sz="3200" dirty="0"/>
              <a:t>but  market 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stays at 13%?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29B4BF-7BC6-4AF5-9FE6-6C47A9417A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grpSp>
        <p:nvGrpSpPr>
          <p:cNvPr id="33796" name="Group 21"/>
          <p:cNvGrpSpPr>
            <a:grpSpLocks/>
          </p:cNvGrpSpPr>
          <p:nvPr/>
        </p:nvGrpSpPr>
        <p:grpSpPr bwMode="auto">
          <a:xfrm>
            <a:off x="825500" y="2719388"/>
            <a:ext cx="7556500" cy="1441450"/>
            <a:chOff x="502" y="1713"/>
            <a:chExt cx="4760" cy="908"/>
          </a:xfrm>
        </p:grpSpPr>
        <p:sp>
          <p:nvSpPr>
            <p:cNvPr id="38918" name="AutoShape 8"/>
            <p:cNvSpPr>
              <a:spLocks noChangeArrowheads="1"/>
            </p:cNvSpPr>
            <p:nvPr/>
          </p:nvSpPr>
          <p:spPr bwMode="auto">
            <a:xfrm>
              <a:off x="1636" y="2050"/>
              <a:ext cx="320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8919" name="AutoShape 9"/>
            <p:cNvSpPr>
              <a:spLocks noChangeArrowheads="1"/>
            </p:cNvSpPr>
            <p:nvPr/>
          </p:nvSpPr>
          <p:spPr bwMode="auto">
            <a:xfrm>
              <a:off x="2224" y="2050"/>
              <a:ext cx="60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8920" name="AutoShape 10"/>
            <p:cNvSpPr>
              <a:spLocks noChangeArrowheads="1"/>
            </p:cNvSpPr>
            <p:nvPr/>
          </p:nvSpPr>
          <p:spPr bwMode="auto">
            <a:xfrm>
              <a:off x="3100" y="2050"/>
              <a:ext cx="36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8921" name="AutoShape 11"/>
            <p:cNvSpPr>
              <a:spLocks noChangeArrowheads="1"/>
            </p:cNvSpPr>
            <p:nvPr/>
          </p:nvSpPr>
          <p:spPr bwMode="auto">
            <a:xfrm>
              <a:off x="3736" y="2050"/>
              <a:ext cx="560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8922" name="AutoShape 12"/>
            <p:cNvSpPr>
              <a:spLocks noChangeArrowheads="1"/>
            </p:cNvSpPr>
            <p:nvPr/>
          </p:nvSpPr>
          <p:spPr bwMode="auto">
            <a:xfrm>
              <a:off x="4564" y="2050"/>
              <a:ext cx="368" cy="254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8923" name="Rectangle 14"/>
            <p:cNvSpPr>
              <a:spLocks noChangeArrowheads="1"/>
            </p:cNvSpPr>
            <p:nvPr/>
          </p:nvSpPr>
          <p:spPr bwMode="auto">
            <a:xfrm>
              <a:off x="502" y="1776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</a:t>
              </a:r>
              <a:r>
                <a:rPr lang="en-US" altLang="en-US" sz="26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 N=?</a:t>
              </a:r>
              <a:r>
                <a:rPr lang="en-US" altLang="en-US" sz="2600" b="1" dirty="0">
                  <a:latin typeface="Arial" panose="020B0604020202020204" pitchFamily="34" charset="0"/>
                </a:rPr>
                <a:t> 	 13		      100   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             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???</a:t>
              </a:r>
              <a:endParaRPr lang="en-US" altLang="en-US" sz="2600" b="1" dirty="0">
                <a:latin typeface="Arial" panose="020B0604020202020204" pitchFamily="34" charset="0"/>
              </a:endParaRPr>
            </a:p>
          </p:txBody>
        </p:sp>
        <p:sp>
          <p:nvSpPr>
            <p:cNvPr id="38924" name="AutoShape 17"/>
            <p:cNvSpPr>
              <a:spLocks noChangeArrowheads="1"/>
            </p:cNvSpPr>
            <p:nvPr/>
          </p:nvSpPr>
          <p:spPr bwMode="auto">
            <a:xfrm>
              <a:off x="567" y="1713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38925" name="AutoShape 18"/>
            <p:cNvSpPr>
              <a:spLocks noChangeArrowheads="1"/>
            </p:cNvSpPr>
            <p:nvPr/>
          </p:nvSpPr>
          <p:spPr bwMode="auto">
            <a:xfrm>
              <a:off x="561" y="226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38916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3200" dirty="0"/>
              <a:t>What happens if 9 </a:t>
            </a:r>
            <a:r>
              <a:rPr lang="en-US" altLang="en-US" sz="3200" dirty="0" err="1"/>
              <a:t>yrs</a:t>
            </a:r>
            <a:r>
              <a:rPr lang="en-US" altLang="en-US" sz="3200" dirty="0"/>
              <a:t> pass</a:t>
            </a:r>
            <a:br>
              <a:rPr lang="en-US" altLang="en-US" sz="3200" dirty="0"/>
            </a:br>
            <a:r>
              <a:rPr lang="en-US" altLang="en-US" sz="3200" dirty="0"/>
              <a:t> but  market 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stays at 13%?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295400" y="5029200"/>
            <a:ext cx="716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As a bond approaches maturity, price approaches  face or maturity value of $1000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C8B464-775D-418C-BC4F-295A1C13A40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40963" name="Rectangle 20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8210550" cy="103209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W/ 10-yrs to maturity, what happens if inflation fell, &amp; </a:t>
            </a:r>
            <a:r>
              <a:rPr lang="en-US" altLang="en-US" dirty="0" err="1"/>
              <a:t>i</a:t>
            </a:r>
            <a:r>
              <a:rPr lang="en-US" altLang="en-US" dirty="0"/>
              <a:t>% declined to 8%?</a:t>
            </a:r>
          </a:p>
        </p:txBody>
      </p:sp>
      <p:sp>
        <p:nvSpPr>
          <p:cNvPr id="35844" name="Rectangle 16"/>
          <p:cNvSpPr>
            <a:spLocks noChangeArrowheads="1"/>
          </p:cNvSpPr>
          <p:nvPr/>
        </p:nvSpPr>
        <p:spPr bwMode="auto">
          <a:xfrm>
            <a:off x="76200" y="4648200"/>
            <a:ext cx="8763000" cy="156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If coupon rate &gt; </a:t>
            </a:r>
            <a:r>
              <a:rPr lang="en-US" altLang="en-US" dirty="0" err="1"/>
              <a:t>mrkt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% (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dirty="0"/>
              <a:t>),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price rises above par, &amp; bond sells at premium.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PV = ? =</a:t>
            </a:r>
          </a:p>
        </p:txBody>
      </p:sp>
      <p:grpSp>
        <p:nvGrpSpPr>
          <p:cNvPr id="35845" name="Group 22"/>
          <p:cNvGrpSpPr>
            <a:grpSpLocks/>
          </p:cNvGrpSpPr>
          <p:nvPr/>
        </p:nvGrpSpPr>
        <p:grpSpPr bwMode="auto">
          <a:xfrm>
            <a:off x="890588" y="2806700"/>
            <a:ext cx="7580312" cy="1441450"/>
            <a:chOff x="561" y="1768"/>
            <a:chExt cx="4775" cy="908"/>
          </a:xfrm>
        </p:grpSpPr>
        <p:sp>
          <p:nvSpPr>
            <p:cNvPr id="40966" name="AutoShape 8"/>
            <p:cNvSpPr>
              <a:spLocks noChangeArrowheads="1"/>
            </p:cNvSpPr>
            <p:nvPr/>
          </p:nvSpPr>
          <p:spPr bwMode="auto">
            <a:xfrm>
              <a:off x="1670" y="2092"/>
              <a:ext cx="32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0967" name="AutoShape 9"/>
            <p:cNvSpPr>
              <a:spLocks noChangeArrowheads="1"/>
            </p:cNvSpPr>
            <p:nvPr/>
          </p:nvSpPr>
          <p:spPr bwMode="auto">
            <a:xfrm>
              <a:off x="2258" y="2092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0968" name="AutoShape 10"/>
            <p:cNvSpPr>
              <a:spLocks noChangeArrowheads="1"/>
            </p:cNvSpPr>
            <p:nvPr/>
          </p:nvSpPr>
          <p:spPr bwMode="auto">
            <a:xfrm>
              <a:off x="3086" y="2092"/>
              <a:ext cx="416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0969" name="AutoShape 11"/>
            <p:cNvSpPr>
              <a:spLocks noChangeArrowheads="1"/>
            </p:cNvSpPr>
            <p:nvPr/>
          </p:nvSpPr>
          <p:spPr bwMode="auto">
            <a:xfrm>
              <a:off x="3770" y="2092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0970" name="AutoShape 12"/>
            <p:cNvSpPr>
              <a:spLocks noChangeArrowheads="1"/>
            </p:cNvSpPr>
            <p:nvPr/>
          </p:nvSpPr>
          <p:spPr bwMode="auto">
            <a:xfrm>
              <a:off x="4598" y="2092"/>
              <a:ext cx="368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0971" name="Rectangle 15"/>
            <p:cNvSpPr>
              <a:spLocks noChangeArrowheads="1"/>
            </p:cNvSpPr>
            <p:nvPr/>
          </p:nvSpPr>
          <p:spPr bwMode="auto">
            <a:xfrm>
              <a:off x="576" y="1824"/>
              <a:ext cx="4760" cy="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10	 </a:t>
              </a:r>
              <a:r>
                <a:rPr lang="en-US" altLang="en-US" sz="2600" b="1" dirty="0" err="1">
                  <a:highlight>
                    <a:srgbClr val="FF00FF"/>
                  </a:highlight>
                  <a:latin typeface="Arial" panose="020B0604020202020204" pitchFamily="34" charset="0"/>
                </a:rPr>
                <a:t>i</a:t>
              </a:r>
              <a:r>
                <a:rPr lang="en-US" altLang="en-US" sz="26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=?</a:t>
              </a:r>
              <a:r>
                <a:rPr lang="en-US" altLang="en-US" sz="2600" b="1" dirty="0">
                  <a:latin typeface="Arial" panose="020B0604020202020204" pitchFamily="34" charset="0"/>
                </a:rPr>
                <a:t>		       100     1000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   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 ???</a:t>
              </a:r>
              <a:endParaRPr lang="en-US" altLang="en-US" sz="2600" b="1" dirty="0">
                <a:latin typeface="Arial" panose="020B0604020202020204" pitchFamily="34" charset="0"/>
              </a:endParaRPr>
            </a:p>
          </p:txBody>
        </p:sp>
        <p:sp>
          <p:nvSpPr>
            <p:cNvPr id="40972" name="AutoShape 17"/>
            <p:cNvSpPr>
              <a:spLocks noChangeArrowheads="1"/>
            </p:cNvSpPr>
            <p:nvPr/>
          </p:nvSpPr>
          <p:spPr bwMode="auto">
            <a:xfrm>
              <a:off x="567" y="1768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40973" name="AutoShape 18"/>
            <p:cNvSpPr>
              <a:spLocks noChangeArrowheads="1"/>
            </p:cNvSpPr>
            <p:nvPr/>
          </p:nvSpPr>
          <p:spPr bwMode="auto">
            <a:xfrm>
              <a:off x="561" y="2319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Bond Pricing in Excel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56283688"/>
              </p:ext>
            </p:extLst>
          </p:nvPr>
        </p:nvGraphicFramePr>
        <p:xfrm>
          <a:off x="838200" y="1676400"/>
          <a:ext cx="3352800" cy="3124199"/>
        </p:xfrm>
        <a:graphic>
          <a:graphicData uri="http://schemas.openxmlformats.org/drawingml/2006/table">
            <a:tbl>
              <a:tblPr/>
              <a:tblGrid>
                <a:gridCol w="1847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047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Times New Roman"/>
                        </a:rPr>
                        <a:t>Years to Mat: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47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Times New Roman"/>
                        </a:rPr>
                        <a:t>Coupon rate: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47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Times New Roman"/>
                        </a:rPr>
                        <a:t>Annual </a:t>
                      </a:r>
                      <a:r>
                        <a:rPr lang="en-US" sz="1600" b="1" i="0" u="none" strike="noStrike" dirty="0" err="1">
                          <a:effectLst/>
                          <a:latin typeface="Times New Roman"/>
                        </a:rPr>
                        <a:t>Pmt</a:t>
                      </a:r>
                      <a:r>
                        <a:rPr lang="en-US" sz="1600" b="1" i="0" u="none" strike="noStrike" dirty="0">
                          <a:effectLst/>
                          <a:latin typeface="Times New Roman"/>
                        </a:rPr>
                        <a:t>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$100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47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effectLst/>
                          <a:latin typeface="Times New Roman"/>
                        </a:rPr>
                        <a:t>Par value = FV: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$1,000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Times New Roman"/>
                        </a:rPr>
                        <a:t>Going rate, </a:t>
                      </a:r>
                      <a:r>
                        <a:rPr lang="en-US" sz="1600" b="1" i="0" u="none" strike="noStrike" dirty="0" err="1">
                          <a:effectLst/>
                          <a:latin typeface="Times New Roman"/>
                        </a:rPr>
                        <a:t>i</a:t>
                      </a:r>
                      <a:r>
                        <a:rPr lang="en-US" sz="1600" b="1" i="0" u="none" strike="noStrike" dirty="0">
                          <a:effectLst/>
                          <a:latin typeface="Times New Roman"/>
                        </a:rPr>
                        <a:t>%: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998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5334000"/>
            <a:ext cx="3943350" cy="842963"/>
          </a:xfrm>
        </p:spPr>
        <p:txBody>
          <a:bodyPr>
            <a:normAutofit/>
          </a:bodyPr>
          <a:lstStyle/>
          <a:p>
            <a:r>
              <a:rPr lang="en-US" altLang="en-US" dirty="0"/>
              <a:t>PV = ? =</a:t>
            </a:r>
          </a:p>
        </p:txBody>
      </p:sp>
      <p:sp>
        <p:nvSpPr>
          <p:cNvPr id="4199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3B95ED-45BD-442E-8CF9-C111FB9283C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Summary of Bond </a:t>
            </a:r>
            <a:br>
              <a:rPr lang="en-US" altLang="en-US" dirty="0"/>
            </a:br>
            <a:r>
              <a:rPr lang="en-US" altLang="en-US" dirty="0"/>
              <a:t>price &amp; interest rate relationships</a:t>
            </a:r>
          </a:p>
        </p:txBody>
      </p:sp>
      <p:sp>
        <p:nvSpPr>
          <p:cNvPr id="35843" name="Content Placeholder 4"/>
          <p:cNvSpPr>
            <a:spLocks noGrp="1"/>
          </p:cNvSpPr>
          <p:nvPr>
            <p:ph idx="1"/>
          </p:nvPr>
        </p:nvSpPr>
        <p:spPr>
          <a:xfrm>
            <a:off x="76200" y="1676406"/>
            <a:ext cx="8915400" cy="4500558"/>
          </a:xfrm>
        </p:spPr>
        <p:txBody>
          <a:bodyPr>
            <a:normAutofit/>
          </a:bodyPr>
          <a:lstStyle/>
          <a:p>
            <a:r>
              <a:rPr lang="en-US" altLang="en-US" dirty="0"/>
              <a:t>If market </a:t>
            </a:r>
            <a:r>
              <a:rPr lang="en-US" altLang="en-US" dirty="0" err="1"/>
              <a:t>i</a:t>
            </a:r>
            <a:r>
              <a:rPr lang="en-US" altLang="en-US" dirty="0"/>
              <a:t>% increases above  stated (coupon) rate,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If market </a:t>
            </a:r>
            <a:r>
              <a:rPr lang="en-US" altLang="en-US" dirty="0" err="1"/>
              <a:t>i</a:t>
            </a:r>
            <a:r>
              <a:rPr lang="en-US" altLang="en-US" dirty="0"/>
              <a:t>% drops below stated (coupon) rate,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Market  </a:t>
            </a:r>
            <a:r>
              <a:rPr lang="en-US" altLang="en-US" dirty="0" err="1"/>
              <a:t>i</a:t>
            </a:r>
            <a:r>
              <a:rPr lang="en-US" altLang="en-US" dirty="0"/>
              <a:t>% </a:t>
            </a:r>
            <a:r>
              <a:rPr lang="en-US" altLang="en-US" sz="2800" dirty="0"/>
              <a:t>&amp;</a:t>
            </a:r>
            <a:r>
              <a:rPr lang="en-US" altLang="en-US" dirty="0"/>
              <a:t> Bond PRICE move</a:t>
            </a:r>
          </a:p>
          <a:p>
            <a:pPr lvl="1"/>
            <a:r>
              <a:rPr lang="en-US" altLang="en-US" sz="3600" dirty="0"/>
              <a:t>INVERSELY !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3012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73F9D4-E6E8-4643-BEA8-39EF5B1E5CB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F59056-1495-46E8-99F5-ED0D54DD079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Bond prices &amp; changing interest rates</a:t>
            </a:r>
          </a:p>
        </p:txBody>
      </p:sp>
      <p:sp>
        <p:nvSpPr>
          <p:cNvPr id="4403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Suppose  bond was issued 20 years ago &amp; now has 10 </a:t>
            </a:r>
            <a:r>
              <a:rPr lang="en-US" altLang="en-US" dirty="0" err="1"/>
              <a:t>yrs</a:t>
            </a:r>
            <a:r>
              <a:rPr lang="en-US" altLang="en-US" dirty="0"/>
              <a:t> to maturity.  </a:t>
            </a:r>
          </a:p>
          <a:p>
            <a:pPr eaLnBrk="1" hangingPunct="1"/>
            <a:r>
              <a:rPr lang="en-US" altLang="en-US" dirty="0"/>
              <a:t>What happens to its value over time if required rate of return remained at 10%, or at 13%, or at 7%?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E3353A-2A3D-4F8F-9FC6-C13B998D2CA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45059" name="Line 4"/>
          <p:cNvSpPr>
            <a:spLocks noChangeShapeType="1"/>
          </p:cNvSpPr>
          <p:nvPr/>
        </p:nvSpPr>
        <p:spPr bwMode="auto">
          <a:xfrm>
            <a:off x="2071688" y="2495550"/>
            <a:ext cx="0" cy="3911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0" name="Line 5"/>
          <p:cNvSpPr>
            <a:spLocks noChangeShapeType="1"/>
          </p:cNvSpPr>
          <p:nvPr/>
        </p:nvSpPr>
        <p:spPr bwMode="auto">
          <a:xfrm>
            <a:off x="2097088" y="6432550"/>
            <a:ext cx="6273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Line 6"/>
          <p:cNvSpPr>
            <a:spLocks noChangeShapeType="1"/>
          </p:cNvSpPr>
          <p:nvPr/>
        </p:nvSpPr>
        <p:spPr bwMode="auto">
          <a:xfrm>
            <a:off x="2097088" y="4222750"/>
            <a:ext cx="6375400" cy="63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Arc 7"/>
          <p:cNvSpPr>
            <a:spLocks/>
          </p:cNvSpPr>
          <p:nvPr/>
        </p:nvSpPr>
        <p:spPr bwMode="auto">
          <a:xfrm>
            <a:off x="2071688" y="4181475"/>
            <a:ext cx="6375400" cy="16160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508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3" name="Line 8"/>
          <p:cNvSpPr>
            <a:spLocks noChangeShapeType="1"/>
          </p:cNvSpPr>
          <p:nvPr/>
        </p:nvSpPr>
        <p:spPr bwMode="auto">
          <a:xfrm>
            <a:off x="6338888" y="3105150"/>
            <a:ext cx="0" cy="33020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Line 9"/>
          <p:cNvSpPr>
            <a:spLocks noChangeShapeType="1"/>
          </p:cNvSpPr>
          <p:nvPr/>
        </p:nvSpPr>
        <p:spPr bwMode="auto">
          <a:xfrm flipH="1">
            <a:off x="2046288" y="3079750"/>
            <a:ext cx="4318000" cy="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5" name="Line 10"/>
          <p:cNvSpPr>
            <a:spLocks noChangeShapeType="1"/>
          </p:cNvSpPr>
          <p:nvPr/>
        </p:nvSpPr>
        <p:spPr bwMode="auto">
          <a:xfrm flipH="1">
            <a:off x="2046288" y="5365750"/>
            <a:ext cx="4318000" cy="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6" name="Rectangle 11"/>
          <p:cNvSpPr>
            <a:spLocks noChangeArrowheads="1"/>
          </p:cNvSpPr>
          <p:nvPr/>
        </p:nvSpPr>
        <p:spPr bwMode="auto">
          <a:xfrm>
            <a:off x="8534400" y="3859213"/>
            <a:ext cx="477838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45067" name="Rectangle 14"/>
          <p:cNvSpPr>
            <a:spLocks noChangeArrowheads="1"/>
          </p:cNvSpPr>
          <p:nvPr/>
        </p:nvSpPr>
        <p:spPr bwMode="auto">
          <a:xfrm>
            <a:off x="1143000" y="2381250"/>
            <a:ext cx="94456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1,372</a:t>
            </a:r>
          </a:p>
        </p:txBody>
      </p:sp>
      <p:sp>
        <p:nvSpPr>
          <p:cNvPr id="45068" name="Rectangle 15"/>
          <p:cNvSpPr>
            <a:spLocks noChangeArrowheads="1"/>
          </p:cNvSpPr>
          <p:nvPr/>
        </p:nvSpPr>
        <p:spPr bwMode="auto">
          <a:xfrm>
            <a:off x="1143000" y="2838450"/>
            <a:ext cx="94456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1,211</a:t>
            </a:r>
          </a:p>
        </p:txBody>
      </p:sp>
      <p:sp>
        <p:nvSpPr>
          <p:cNvPr id="45069" name="Rectangle 16"/>
          <p:cNvSpPr>
            <a:spLocks noChangeArrowheads="1"/>
          </p:cNvSpPr>
          <p:nvPr/>
        </p:nvSpPr>
        <p:spPr bwMode="auto">
          <a:xfrm>
            <a:off x="1144588" y="3981450"/>
            <a:ext cx="9445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1,000</a:t>
            </a:r>
          </a:p>
        </p:txBody>
      </p:sp>
      <p:sp>
        <p:nvSpPr>
          <p:cNvPr id="45070" name="Rectangle 17"/>
          <p:cNvSpPr>
            <a:spLocks noChangeArrowheads="1"/>
          </p:cNvSpPr>
          <p:nvPr/>
        </p:nvSpPr>
        <p:spPr bwMode="auto">
          <a:xfrm>
            <a:off x="1354138" y="5048250"/>
            <a:ext cx="6905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837</a:t>
            </a:r>
          </a:p>
        </p:txBody>
      </p:sp>
      <p:sp>
        <p:nvSpPr>
          <p:cNvPr id="45071" name="Rectangle 18"/>
          <p:cNvSpPr>
            <a:spLocks noChangeArrowheads="1"/>
          </p:cNvSpPr>
          <p:nvPr/>
        </p:nvSpPr>
        <p:spPr bwMode="auto">
          <a:xfrm>
            <a:off x="1354138" y="5581650"/>
            <a:ext cx="6905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775</a:t>
            </a:r>
          </a:p>
        </p:txBody>
      </p:sp>
      <p:sp>
        <p:nvSpPr>
          <p:cNvPr id="45072" name="Line 19"/>
          <p:cNvSpPr>
            <a:spLocks noChangeShapeType="1"/>
          </p:cNvSpPr>
          <p:nvPr/>
        </p:nvSpPr>
        <p:spPr bwMode="auto">
          <a:xfrm>
            <a:off x="3062288" y="61404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3" name="Line 20"/>
          <p:cNvSpPr>
            <a:spLocks noChangeShapeType="1"/>
          </p:cNvSpPr>
          <p:nvPr/>
        </p:nvSpPr>
        <p:spPr bwMode="auto">
          <a:xfrm>
            <a:off x="4205288" y="61404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4" name="Line 21"/>
          <p:cNvSpPr>
            <a:spLocks noChangeShapeType="1"/>
          </p:cNvSpPr>
          <p:nvPr/>
        </p:nvSpPr>
        <p:spPr bwMode="auto">
          <a:xfrm>
            <a:off x="5272088" y="61404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5" name="Line 22"/>
          <p:cNvSpPr>
            <a:spLocks noChangeShapeType="1"/>
          </p:cNvSpPr>
          <p:nvPr/>
        </p:nvSpPr>
        <p:spPr bwMode="auto">
          <a:xfrm>
            <a:off x="8167688" y="61404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6" name="Line 23"/>
          <p:cNvSpPr>
            <a:spLocks noChangeShapeType="1"/>
          </p:cNvSpPr>
          <p:nvPr/>
        </p:nvSpPr>
        <p:spPr bwMode="auto">
          <a:xfrm>
            <a:off x="7177088" y="614045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7" name="Rectangle 24"/>
          <p:cNvSpPr>
            <a:spLocks noChangeArrowheads="1"/>
          </p:cNvSpPr>
          <p:nvPr/>
        </p:nvSpPr>
        <p:spPr bwMode="auto">
          <a:xfrm>
            <a:off x="1982788" y="6464300"/>
            <a:ext cx="63674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30	25	   20	     15	       10	       5	        0</a:t>
            </a:r>
          </a:p>
        </p:txBody>
      </p:sp>
      <p:sp>
        <p:nvSpPr>
          <p:cNvPr id="45078" name="Rectangle 25"/>
          <p:cNvSpPr>
            <a:spLocks noChangeArrowheads="1"/>
          </p:cNvSpPr>
          <p:nvPr/>
        </p:nvSpPr>
        <p:spPr bwMode="auto">
          <a:xfrm>
            <a:off x="5730875" y="2371725"/>
            <a:ext cx="14843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latin typeface="Arial" panose="020B0604020202020204" pitchFamily="34" charset="0"/>
              </a:rPr>
              <a:t>r</a:t>
            </a:r>
            <a:r>
              <a:rPr lang="en-US" altLang="en-US" sz="2800" b="1" baseline="-25000">
                <a:latin typeface="Arial" panose="020B0604020202020204" pitchFamily="34" charset="0"/>
              </a:rPr>
              <a:t>d</a:t>
            </a:r>
            <a:r>
              <a:rPr lang="en-US" altLang="en-US" sz="2800" b="1">
                <a:latin typeface="Arial" panose="020B0604020202020204" pitchFamily="34" charset="0"/>
              </a:rPr>
              <a:t> = 7%.</a:t>
            </a:r>
          </a:p>
        </p:txBody>
      </p:sp>
      <p:sp>
        <p:nvSpPr>
          <p:cNvPr id="45079" name="Rectangle 26"/>
          <p:cNvSpPr>
            <a:spLocks noChangeArrowheads="1"/>
          </p:cNvSpPr>
          <p:nvPr/>
        </p:nvSpPr>
        <p:spPr bwMode="auto">
          <a:xfrm>
            <a:off x="7391400" y="5153025"/>
            <a:ext cx="16827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latin typeface="Arial" panose="020B0604020202020204" pitchFamily="34" charset="0"/>
              </a:rPr>
              <a:t>r</a:t>
            </a:r>
            <a:r>
              <a:rPr lang="en-US" altLang="en-US" sz="2800" b="1" baseline="-25000">
                <a:latin typeface="Arial" panose="020B0604020202020204" pitchFamily="34" charset="0"/>
              </a:rPr>
              <a:t>d</a:t>
            </a:r>
            <a:r>
              <a:rPr lang="en-US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>
                <a:latin typeface="Arial" panose="020B0604020202020204" pitchFamily="34" charset="0"/>
              </a:rPr>
              <a:t>= 13%.</a:t>
            </a:r>
          </a:p>
        </p:txBody>
      </p:sp>
      <p:sp>
        <p:nvSpPr>
          <p:cNvPr id="45080" name="Rectangle 27"/>
          <p:cNvSpPr>
            <a:spLocks noChangeArrowheads="1"/>
          </p:cNvSpPr>
          <p:nvPr/>
        </p:nvSpPr>
        <p:spPr bwMode="auto">
          <a:xfrm>
            <a:off x="3276600" y="3686175"/>
            <a:ext cx="16510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latin typeface="Arial" panose="020B0604020202020204" pitchFamily="34" charset="0"/>
              </a:rPr>
              <a:t>r</a:t>
            </a:r>
            <a:r>
              <a:rPr lang="en-US" altLang="en-US" sz="2800" b="1" baseline="-25000">
                <a:latin typeface="Arial" panose="020B0604020202020204" pitchFamily="34" charset="0"/>
              </a:rPr>
              <a:t>d </a:t>
            </a:r>
            <a:r>
              <a:rPr lang="en-US" altLang="en-US" sz="2800" b="1">
                <a:latin typeface="Arial" panose="020B0604020202020204" pitchFamily="34" charset="0"/>
              </a:rPr>
              <a:t>= 10%.</a:t>
            </a:r>
          </a:p>
        </p:txBody>
      </p:sp>
      <p:sp>
        <p:nvSpPr>
          <p:cNvPr id="45081" name="Arc 28"/>
          <p:cNvSpPr>
            <a:spLocks/>
          </p:cNvSpPr>
          <p:nvPr/>
        </p:nvSpPr>
        <p:spPr bwMode="auto">
          <a:xfrm>
            <a:off x="2071688" y="2649538"/>
            <a:ext cx="6392862" cy="15748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08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2" name="Rectangle 3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Bond Value ($) vs Years remaining to Maturity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A38F4C-025E-4BDD-A6F7-4A88CCFCE22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400"/>
          </a:p>
        </p:txBody>
      </p:sp>
      <p:sp>
        <p:nvSpPr>
          <p:cNvPr id="4608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Bond Price Movements over time</a:t>
            </a:r>
          </a:p>
        </p:txBody>
      </p:sp>
      <p:sp>
        <p:nvSpPr>
          <p:cNvPr id="3891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At maturity, value of any bond must equal its par value.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Value of premium bond decreases to $1,000.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Value of discount bond increases to $1,000.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 par bond stays at $1,000 if </a:t>
            </a:r>
            <a:r>
              <a:rPr lang="en-US" altLang="en-US" dirty="0" err="1"/>
              <a:t>mrkt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% (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dirty="0"/>
              <a:t>)remains constant.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BE23BF-17D6-422E-A1F4-B195859D55C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400"/>
          </a:p>
        </p:txBody>
      </p:sp>
      <p:sp>
        <p:nvSpPr>
          <p:cNvPr id="47107" name="Rectangle 2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600" dirty="0"/>
              <a:t>What’s market value of  10-yr, 10% coupon bond when market = 7%?</a:t>
            </a:r>
          </a:p>
        </p:txBody>
      </p:sp>
      <p:sp>
        <p:nvSpPr>
          <p:cNvPr id="35844" name="Rectangle 16"/>
          <p:cNvSpPr>
            <a:spLocks noChangeArrowheads="1"/>
          </p:cNvSpPr>
          <p:nvPr/>
        </p:nvSpPr>
        <p:spPr bwMode="auto">
          <a:xfrm>
            <a:off x="838200" y="4648200"/>
            <a:ext cx="7681913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Bond sells at a premium::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 Price today = </a:t>
            </a:r>
            <a:r>
              <a:rPr lang="en-US" altLang="en-US" b="1" dirty="0">
                <a:highlight>
                  <a:srgbClr val="FFFF00"/>
                </a:highlight>
                <a:latin typeface="Arial" panose="020B0604020202020204" pitchFamily="34" charset="0"/>
              </a:rPr>
              <a:t>???</a:t>
            </a:r>
            <a:endParaRPr lang="en-US" altLang="en-US" dirty="0"/>
          </a:p>
        </p:txBody>
      </p:sp>
      <p:grpSp>
        <p:nvGrpSpPr>
          <p:cNvPr id="35845" name="Group 22"/>
          <p:cNvGrpSpPr>
            <a:grpSpLocks/>
          </p:cNvGrpSpPr>
          <p:nvPr/>
        </p:nvGrpSpPr>
        <p:grpSpPr bwMode="auto">
          <a:xfrm>
            <a:off x="890588" y="2806700"/>
            <a:ext cx="7580312" cy="1441450"/>
            <a:chOff x="561" y="1768"/>
            <a:chExt cx="4775" cy="908"/>
          </a:xfrm>
        </p:grpSpPr>
        <p:sp>
          <p:nvSpPr>
            <p:cNvPr id="47110" name="AutoShape 8"/>
            <p:cNvSpPr>
              <a:spLocks noChangeArrowheads="1"/>
            </p:cNvSpPr>
            <p:nvPr/>
          </p:nvSpPr>
          <p:spPr bwMode="auto">
            <a:xfrm>
              <a:off x="1670" y="2092"/>
              <a:ext cx="32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7111" name="AutoShape 9"/>
            <p:cNvSpPr>
              <a:spLocks noChangeArrowheads="1"/>
            </p:cNvSpPr>
            <p:nvPr/>
          </p:nvSpPr>
          <p:spPr bwMode="auto">
            <a:xfrm>
              <a:off x="2258" y="2092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7112" name="AutoShape 10"/>
            <p:cNvSpPr>
              <a:spLocks noChangeArrowheads="1"/>
            </p:cNvSpPr>
            <p:nvPr/>
          </p:nvSpPr>
          <p:spPr bwMode="auto">
            <a:xfrm>
              <a:off x="3086" y="2092"/>
              <a:ext cx="416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7113" name="AutoShape 11"/>
            <p:cNvSpPr>
              <a:spLocks noChangeArrowheads="1"/>
            </p:cNvSpPr>
            <p:nvPr/>
          </p:nvSpPr>
          <p:spPr bwMode="auto">
            <a:xfrm>
              <a:off x="3770" y="2092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7114" name="AutoShape 12"/>
            <p:cNvSpPr>
              <a:spLocks noChangeArrowheads="1"/>
            </p:cNvSpPr>
            <p:nvPr/>
          </p:nvSpPr>
          <p:spPr bwMode="auto">
            <a:xfrm>
              <a:off x="4598" y="2092"/>
              <a:ext cx="368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7115" name="Rectangle 15"/>
            <p:cNvSpPr>
              <a:spLocks noChangeArrowheads="1"/>
            </p:cNvSpPr>
            <p:nvPr/>
          </p:nvSpPr>
          <p:spPr bwMode="auto">
            <a:xfrm>
              <a:off x="576" y="1824"/>
              <a:ext cx="4760" cy="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</a:t>
              </a:r>
              <a:r>
                <a:rPr lang="en-US" altLang="en-US" sz="26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  </a:t>
              </a:r>
              <a:r>
                <a:rPr lang="en-US" altLang="en-US" sz="2600" b="1" dirty="0">
                  <a:latin typeface="Arial" panose="020B0604020202020204" pitchFamily="34" charset="0"/>
                </a:rPr>
                <a:t>  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    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 	             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    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    </a:t>
              </a:r>
              <a:r>
                <a:rPr lang="en-US" altLang="en-US" sz="22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   =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         </a:t>
              </a:r>
              <a:endParaRPr lang="en-US" altLang="en-US" sz="2400" b="1" dirty="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   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???</a:t>
              </a:r>
              <a:endParaRPr lang="en-US" altLang="en-US" sz="2600" b="1" dirty="0">
                <a:latin typeface="Arial" panose="020B0604020202020204" pitchFamily="34" charset="0"/>
              </a:endParaRPr>
            </a:p>
          </p:txBody>
        </p:sp>
        <p:sp>
          <p:nvSpPr>
            <p:cNvPr id="47116" name="AutoShape 17"/>
            <p:cNvSpPr>
              <a:spLocks noChangeArrowheads="1"/>
            </p:cNvSpPr>
            <p:nvPr/>
          </p:nvSpPr>
          <p:spPr bwMode="auto">
            <a:xfrm>
              <a:off x="567" y="1768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47117" name="AutoShape 18"/>
            <p:cNvSpPr>
              <a:spLocks noChangeArrowheads="1"/>
            </p:cNvSpPr>
            <p:nvPr/>
          </p:nvSpPr>
          <p:spPr bwMode="auto">
            <a:xfrm>
              <a:off x="561" y="2319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0"/>
          <p:cNvSpPr>
            <a:spLocks noGrp="1" noChangeArrowheads="1"/>
          </p:cNvSpPr>
          <p:nvPr>
            <p:ph type="title"/>
          </p:nvPr>
        </p:nvSpPr>
        <p:spPr>
          <a:xfrm>
            <a:off x="457200" y="157162"/>
            <a:ext cx="8058150" cy="1290638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200" dirty="0"/>
              <a:t>If buy 10%, 10-yr bond today for $1,210.71, </a:t>
            </a:r>
            <a:br>
              <a:rPr lang="en-US" altLang="en-US" sz="3200" dirty="0"/>
            </a:br>
            <a:r>
              <a:rPr lang="en-US" altLang="en-US" sz="3200" dirty="0"/>
              <a:t>&amp; hold it to maturity, what’s rate of return? </a:t>
            </a:r>
          </a:p>
        </p:txBody>
      </p:sp>
      <p:sp>
        <p:nvSpPr>
          <p:cNvPr id="481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93D491-C0DF-4CAF-A208-407A289BF98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400"/>
          </a:p>
        </p:txBody>
      </p:sp>
      <p:sp>
        <p:nvSpPr>
          <p:cNvPr id="35844" name="Rectangle 16"/>
          <p:cNvSpPr>
            <a:spLocks noChangeArrowheads="1"/>
          </p:cNvSpPr>
          <p:nvPr/>
        </p:nvSpPr>
        <p:spPr bwMode="auto">
          <a:xfrm>
            <a:off x="228600" y="4648200"/>
            <a:ext cx="8610600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Solve for </a:t>
            </a:r>
            <a:r>
              <a:rPr lang="en-US" altLang="en-US" dirty="0" err="1"/>
              <a:t>i</a:t>
            </a:r>
            <a:r>
              <a:rPr lang="en-US" altLang="en-US" dirty="0"/>
              <a:t>% =</a:t>
            </a:r>
            <a:r>
              <a:rPr lang="en-US" altLang="en-US" b="1" dirty="0">
                <a:highlight>
                  <a:srgbClr val="FFFF00"/>
                </a:highlight>
                <a:latin typeface="Arial" panose="020B0604020202020204" pitchFamily="34" charset="0"/>
              </a:rPr>
              <a:t> ???</a:t>
            </a:r>
            <a:r>
              <a:rPr lang="en-US" altLang="en-US" dirty="0"/>
              <a:t> = Yield to maturity (YTM)</a:t>
            </a:r>
          </a:p>
        </p:txBody>
      </p:sp>
      <p:grpSp>
        <p:nvGrpSpPr>
          <p:cNvPr id="35845" name="Group 22"/>
          <p:cNvGrpSpPr>
            <a:grpSpLocks/>
          </p:cNvGrpSpPr>
          <p:nvPr/>
        </p:nvGrpSpPr>
        <p:grpSpPr bwMode="auto">
          <a:xfrm>
            <a:off x="890588" y="2806700"/>
            <a:ext cx="7580312" cy="1441450"/>
            <a:chOff x="561" y="1768"/>
            <a:chExt cx="4775" cy="908"/>
          </a:xfrm>
        </p:grpSpPr>
        <p:sp>
          <p:nvSpPr>
            <p:cNvPr id="48134" name="AutoShape 8"/>
            <p:cNvSpPr>
              <a:spLocks noChangeArrowheads="1"/>
            </p:cNvSpPr>
            <p:nvPr/>
          </p:nvSpPr>
          <p:spPr bwMode="auto">
            <a:xfrm>
              <a:off x="1670" y="2092"/>
              <a:ext cx="32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8135" name="AutoShape 9"/>
            <p:cNvSpPr>
              <a:spLocks noChangeArrowheads="1"/>
            </p:cNvSpPr>
            <p:nvPr/>
          </p:nvSpPr>
          <p:spPr bwMode="auto">
            <a:xfrm>
              <a:off x="2258" y="2092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8136" name="AutoShape 10"/>
            <p:cNvSpPr>
              <a:spLocks noChangeArrowheads="1"/>
            </p:cNvSpPr>
            <p:nvPr/>
          </p:nvSpPr>
          <p:spPr bwMode="auto">
            <a:xfrm>
              <a:off x="3086" y="2092"/>
              <a:ext cx="416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8137" name="AutoShape 11"/>
            <p:cNvSpPr>
              <a:spLocks noChangeArrowheads="1"/>
            </p:cNvSpPr>
            <p:nvPr/>
          </p:nvSpPr>
          <p:spPr bwMode="auto">
            <a:xfrm>
              <a:off x="3770" y="2092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8138" name="AutoShape 12"/>
            <p:cNvSpPr>
              <a:spLocks noChangeArrowheads="1"/>
            </p:cNvSpPr>
            <p:nvPr/>
          </p:nvSpPr>
          <p:spPr bwMode="auto">
            <a:xfrm>
              <a:off x="4598" y="2092"/>
              <a:ext cx="368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8139" name="Rectangle 15"/>
            <p:cNvSpPr>
              <a:spLocks noChangeArrowheads="1"/>
            </p:cNvSpPr>
            <p:nvPr/>
          </p:nvSpPr>
          <p:spPr bwMode="auto">
            <a:xfrm>
              <a:off x="576" y="1824"/>
              <a:ext cx="4760" cy="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</a:t>
              </a:r>
              <a:r>
                <a:rPr lang="en-US" altLang="en-US" sz="28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</a:t>
              </a:r>
              <a:r>
                <a:rPr lang="en-US" altLang="en-US" sz="2400" b="1" dirty="0">
                  <a:latin typeface="Arial" panose="020B0604020202020204" pitchFamily="34" charset="0"/>
                </a:rPr>
                <a:t>		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  	</a:t>
              </a:r>
              <a:r>
                <a:rPr lang="en-US" altLang="en-US" sz="2400" b="1" dirty="0">
                  <a:latin typeface="Arial" panose="020B0604020202020204" pitchFamily="34" charset="0"/>
                </a:rPr>
                <a:t>  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    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   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             </a:t>
              </a:r>
              <a:endParaRPr lang="en-US" altLang="en-US" sz="2400" b="1" dirty="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 ???</a:t>
              </a:r>
              <a:r>
                <a:rPr lang="en-US" altLang="en-US" sz="2600" b="1" dirty="0">
                  <a:latin typeface="Arial" panose="020B0604020202020204" pitchFamily="34" charset="0"/>
                </a:rPr>
                <a:t> 	    </a:t>
              </a:r>
            </a:p>
          </p:txBody>
        </p:sp>
        <p:sp>
          <p:nvSpPr>
            <p:cNvPr id="48140" name="AutoShape 17"/>
            <p:cNvSpPr>
              <a:spLocks noChangeArrowheads="1"/>
            </p:cNvSpPr>
            <p:nvPr/>
          </p:nvSpPr>
          <p:spPr bwMode="auto">
            <a:xfrm>
              <a:off x="567" y="1768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48141" name="AutoShape 18"/>
            <p:cNvSpPr>
              <a:spLocks noChangeArrowheads="1"/>
            </p:cNvSpPr>
            <p:nvPr/>
          </p:nvSpPr>
          <p:spPr bwMode="auto">
            <a:xfrm>
              <a:off x="561" y="2319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800" dirty="0"/>
              <a:t>What’s “yield to maturity”?</a:t>
            </a:r>
          </a:p>
        </p:txBody>
      </p:sp>
      <p:sp>
        <p:nvSpPr>
          <p:cNvPr id="39940" name="Rectangle 10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839200" cy="4652964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sz="2800" dirty="0"/>
              <a:t>YTM is rate of return earned on bond held to maturity. </a:t>
            </a:r>
          </a:p>
          <a:p>
            <a:pPr lvl="1"/>
            <a:r>
              <a:rPr lang="en-US" altLang="en-US" sz="2400" dirty="0"/>
              <a:t>  </a:t>
            </a:r>
          </a:p>
          <a:p>
            <a:pPr eaLnBrk="1" hangingPunct="1"/>
            <a:r>
              <a:rPr lang="en-US" altLang="en-US" sz="2800" dirty="0"/>
              <a:t>It assumes bond will not default.</a:t>
            </a:r>
          </a:p>
          <a:p>
            <a:pPr eaLnBrk="1" hangingPunct="1"/>
            <a:r>
              <a:rPr lang="en-US" altLang="en-US" sz="2800" dirty="0"/>
              <a:t>Includes both:</a:t>
            </a:r>
          </a:p>
          <a:p>
            <a:pPr lvl="1"/>
            <a:r>
              <a:rPr lang="en-US" altLang="en-US" sz="2600" dirty="0"/>
              <a:t>   </a:t>
            </a:r>
          </a:p>
          <a:p>
            <a:pPr eaLnBrk="1" hangingPunct="1"/>
            <a:r>
              <a:rPr lang="en-US" altLang="en-US" sz="2800" dirty="0"/>
              <a:t>Interest rate equating bond price today to NPV of PMTs &amp; FV. </a:t>
            </a:r>
          </a:p>
          <a:p>
            <a:pPr lvl="1"/>
            <a:r>
              <a:rPr lang="en-US" altLang="en-US" sz="2600" dirty="0"/>
              <a:t>  </a:t>
            </a:r>
          </a:p>
          <a:p>
            <a:pPr eaLnBrk="1" hangingPunct="1"/>
            <a:r>
              <a:rPr lang="en-US" altLang="en-US" sz="2800" dirty="0"/>
              <a:t>Vs. Annualized Return which reflects only 1-yr holding period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C87780-C800-47DD-86A8-3D2838689DF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260C73-14B2-4BF0-B476-1CE825D1E09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400"/>
          </a:p>
        </p:txBody>
      </p:sp>
      <p:sp>
        <p:nvSpPr>
          <p:cNvPr id="50179" name="Rectangle 3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200" dirty="0"/>
              <a:t>On 10-yr. 9% annual coupon, $1,000 par value bond selling for $1,134.20, what’s YTM?</a:t>
            </a:r>
          </a:p>
        </p:txBody>
      </p:sp>
      <p:grpSp>
        <p:nvGrpSpPr>
          <p:cNvPr id="50180" name="Group 38"/>
          <p:cNvGrpSpPr>
            <a:grpSpLocks/>
          </p:cNvGrpSpPr>
          <p:nvPr/>
        </p:nvGrpSpPr>
        <p:grpSpPr bwMode="auto">
          <a:xfrm>
            <a:off x="152400" y="2438401"/>
            <a:ext cx="8388350" cy="3917950"/>
            <a:chOff x="505" y="1542"/>
            <a:chExt cx="4875" cy="2462"/>
          </a:xfrm>
        </p:grpSpPr>
        <p:sp>
          <p:nvSpPr>
            <p:cNvPr id="50181" name="Rectangle 6"/>
            <p:cNvSpPr>
              <a:spLocks noChangeArrowheads="1"/>
            </p:cNvSpPr>
            <p:nvPr/>
          </p:nvSpPr>
          <p:spPr bwMode="auto">
            <a:xfrm>
              <a:off x="1981" y="2174"/>
              <a:ext cx="44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 </a:t>
              </a:r>
              <a:r>
                <a:rPr lang="en-US" altLang="en-US" sz="2000" b="1" dirty="0" err="1">
                  <a:latin typeface="Arial" panose="020B0604020202020204" pitchFamily="34" charset="0"/>
                </a:rPr>
                <a:t>Pmt</a:t>
              </a:r>
              <a:endParaRPr lang="en-US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0182" name="Rectangle 7"/>
            <p:cNvSpPr>
              <a:spLocks noChangeArrowheads="1"/>
            </p:cNvSpPr>
            <p:nvPr/>
          </p:nvSpPr>
          <p:spPr bwMode="auto">
            <a:xfrm>
              <a:off x="4701" y="2174"/>
              <a:ext cx="3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 err="1">
                  <a:latin typeface="Arial" panose="020B0604020202020204" pitchFamily="34" charset="0"/>
                </a:rPr>
                <a:t>Pmt</a:t>
              </a:r>
              <a:endParaRPr lang="en-US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0183" name="Line 8"/>
            <p:cNvSpPr>
              <a:spLocks noChangeShapeType="1"/>
            </p:cNvSpPr>
            <p:nvPr/>
          </p:nvSpPr>
          <p:spPr bwMode="auto">
            <a:xfrm>
              <a:off x="768" y="1801"/>
              <a:ext cx="0" cy="3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4" name="Line 9"/>
            <p:cNvSpPr>
              <a:spLocks noChangeShapeType="1"/>
            </p:cNvSpPr>
            <p:nvPr/>
          </p:nvSpPr>
          <p:spPr bwMode="auto">
            <a:xfrm>
              <a:off x="2160" y="1801"/>
              <a:ext cx="0" cy="3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5" name="Line 10"/>
            <p:cNvSpPr>
              <a:spLocks noChangeShapeType="1"/>
            </p:cNvSpPr>
            <p:nvPr/>
          </p:nvSpPr>
          <p:spPr bwMode="auto">
            <a:xfrm>
              <a:off x="3408" y="1801"/>
              <a:ext cx="0" cy="3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6" name="Line 11"/>
            <p:cNvSpPr>
              <a:spLocks noChangeShapeType="1"/>
            </p:cNvSpPr>
            <p:nvPr/>
          </p:nvSpPr>
          <p:spPr bwMode="auto">
            <a:xfrm>
              <a:off x="4848" y="1801"/>
              <a:ext cx="0" cy="3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7" name="Line 12"/>
            <p:cNvSpPr>
              <a:spLocks noChangeShapeType="1"/>
            </p:cNvSpPr>
            <p:nvPr/>
          </p:nvSpPr>
          <p:spPr bwMode="auto">
            <a:xfrm>
              <a:off x="2688" y="1988"/>
              <a:ext cx="21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8" name="Rectangle 13"/>
            <p:cNvSpPr>
              <a:spLocks noChangeArrowheads="1"/>
            </p:cNvSpPr>
            <p:nvPr/>
          </p:nvSpPr>
          <p:spPr bwMode="auto">
            <a:xfrm>
              <a:off x="3229" y="2174"/>
              <a:ext cx="44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 </a:t>
              </a:r>
              <a:r>
                <a:rPr lang="en-US" altLang="en-US" sz="2000" b="1" dirty="0" err="1">
                  <a:latin typeface="Arial" panose="020B0604020202020204" pitchFamily="34" charset="0"/>
                </a:rPr>
                <a:t>Pmt</a:t>
              </a:r>
              <a:endParaRPr lang="en-US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0189" name="Rectangle 14"/>
            <p:cNvSpPr>
              <a:spLocks noChangeArrowheads="1"/>
            </p:cNvSpPr>
            <p:nvPr/>
          </p:nvSpPr>
          <p:spPr bwMode="auto">
            <a:xfrm>
              <a:off x="663" y="1542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50190" name="Rectangle 15"/>
            <p:cNvSpPr>
              <a:spLocks noChangeArrowheads="1"/>
            </p:cNvSpPr>
            <p:nvPr/>
          </p:nvSpPr>
          <p:spPr bwMode="auto">
            <a:xfrm>
              <a:off x="2055" y="1542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0191" name="Rectangle 16"/>
            <p:cNvSpPr>
              <a:spLocks noChangeArrowheads="1"/>
            </p:cNvSpPr>
            <p:nvPr/>
          </p:nvSpPr>
          <p:spPr bwMode="auto">
            <a:xfrm>
              <a:off x="3303" y="1542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50192" name="Rectangle 17"/>
            <p:cNvSpPr>
              <a:spLocks noChangeArrowheads="1"/>
            </p:cNvSpPr>
            <p:nvPr/>
          </p:nvSpPr>
          <p:spPr bwMode="auto">
            <a:xfrm>
              <a:off x="4701" y="1542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50193" name="Rectangle 18"/>
            <p:cNvSpPr>
              <a:spLocks noChangeArrowheads="1"/>
            </p:cNvSpPr>
            <p:nvPr/>
          </p:nvSpPr>
          <p:spPr bwMode="auto">
            <a:xfrm>
              <a:off x="1143" y="1709"/>
              <a:ext cx="62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 err="1">
                  <a:latin typeface="Arial" panose="020B0604020202020204" pitchFamily="34" charset="0"/>
                </a:rPr>
                <a:t>i</a:t>
              </a:r>
              <a:r>
                <a:rPr lang="en-US" altLang="en-US" sz="2400" b="1" dirty="0">
                  <a:latin typeface="Arial" panose="020B0604020202020204" pitchFamily="34" charset="0"/>
                </a:rPr>
                <a:t>% =?</a:t>
              </a:r>
            </a:p>
          </p:txBody>
        </p:sp>
        <p:sp>
          <p:nvSpPr>
            <p:cNvPr id="50194" name="Rectangle 19"/>
            <p:cNvSpPr>
              <a:spLocks noChangeArrowheads="1"/>
            </p:cNvSpPr>
            <p:nvPr/>
          </p:nvSpPr>
          <p:spPr bwMode="auto">
            <a:xfrm>
              <a:off x="4674" y="2387"/>
              <a:ext cx="355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FV</a:t>
              </a:r>
            </a:p>
          </p:txBody>
        </p:sp>
        <p:sp>
          <p:nvSpPr>
            <p:cNvPr id="50195" name="Rectangle 20"/>
            <p:cNvSpPr>
              <a:spLocks noChangeArrowheads="1"/>
            </p:cNvSpPr>
            <p:nvPr/>
          </p:nvSpPr>
          <p:spPr bwMode="auto">
            <a:xfrm>
              <a:off x="505" y="2399"/>
              <a:ext cx="415" cy="1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Arial" panose="020B0604020202020204" pitchFamily="34" charset="0"/>
                </a:rPr>
                <a:t>PV</a:t>
              </a:r>
              <a:r>
                <a:rPr lang="en-US" altLang="en-US" sz="2000" b="1" baseline="-25000" dirty="0">
                  <a:latin typeface="Arial" panose="020B0604020202020204" pitchFamily="34" charset="0"/>
                </a:rPr>
                <a:t>1</a:t>
              </a:r>
              <a:endParaRPr lang="en-US" altLang="en-US" sz="2000" b="1" dirty="0">
                <a:latin typeface="Arial" panose="020B0604020202020204" pitchFamily="34" charset="0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   .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   .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   .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Arial" panose="020B0604020202020204" pitchFamily="34" charset="0"/>
                </a:rPr>
                <a:t>PV</a:t>
              </a:r>
              <a:r>
                <a:rPr lang="en-US" altLang="en-US" sz="2000" b="1" baseline="-25000" dirty="0">
                  <a:latin typeface="Arial" panose="020B0604020202020204" pitchFamily="34" charset="0"/>
                </a:rPr>
                <a:t>10</a:t>
              </a:r>
              <a:endParaRPr lang="en-US" altLang="en-US" sz="2000" b="1" dirty="0">
                <a:latin typeface="Arial" panose="020B0604020202020204" pitchFamily="34" charset="0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Arial" panose="020B0604020202020204" pitchFamily="34" charset="0"/>
                </a:rPr>
                <a:t>PV</a:t>
              </a:r>
              <a:r>
                <a:rPr lang="en-US" altLang="en-US" sz="2000" b="1" baseline="-25000" dirty="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50196" name="Line 21"/>
            <p:cNvSpPr>
              <a:spLocks noChangeShapeType="1"/>
            </p:cNvSpPr>
            <p:nvPr/>
          </p:nvSpPr>
          <p:spPr bwMode="auto">
            <a:xfrm>
              <a:off x="544" y="3626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7" name="Rectangle 22"/>
            <p:cNvSpPr>
              <a:spLocks noChangeArrowheads="1"/>
            </p:cNvSpPr>
            <p:nvPr/>
          </p:nvSpPr>
          <p:spPr bwMode="auto">
            <a:xfrm>
              <a:off x="505" y="3598"/>
              <a:ext cx="1002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>
                  <a:latin typeface="Arial" panose="020B0604020202020204" pitchFamily="34" charset="0"/>
                </a:rPr>
                <a:t>=Price today</a:t>
              </a:r>
            </a:p>
          </p:txBody>
        </p:sp>
        <p:sp>
          <p:nvSpPr>
            <p:cNvPr id="50198" name="Rectangle 23"/>
            <p:cNvSpPr>
              <a:spLocks noChangeArrowheads="1"/>
            </p:cNvSpPr>
            <p:nvPr/>
          </p:nvSpPr>
          <p:spPr bwMode="auto">
            <a:xfrm>
              <a:off x="2280" y="3575"/>
              <a:ext cx="3100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Find </a:t>
              </a:r>
              <a:r>
                <a:rPr lang="en-US" altLang="en-US" dirty="0" err="1"/>
                <a:t>i</a:t>
              </a:r>
              <a:r>
                <a:rPr lang="en-US" altLang="en-US" dirty="0"/>
                <a:t> % (</a:t>
              </a:r>
              <a:r>
                <a:rPr lang="en-US" altLang="en-US" dirty="0" err="1"/>
                <a:t>r</a:t>
              </a:r>
              <a:r>
                <a:rPr lang="en-US" altLang="en-US" baseline="-25000" dirty="0" err="1"/>
                <a:t>d</a:t>
              </a:r>
              <a:r>
                <a:rPr lang="en-US" altLang="en-US" dirty="0"/>
                <a:t>) that “works”!</a:t>
              </a:r>
            </a:p>
          </p:txBody>
        </p:sp>
        <p:sp>
          <p:nvSpPr>
            <p:cNvPr id="50199" name="Line 24"/>
            <p:cNvSpPr>
              <a:spLocks noChangeShapeType="1"/>
            </p:cNvSpPr>
            <p:nvPr/>
          </p:nvSpPr>
          <p:spPr bwMode="auto">
            <a:xfrm>
              <a:off x="4848" y="2692"/>
              <a:ext cx="0" cy="8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0" name="Line 25"/>
            <p:cNvSpPr>
              <a:spLocks noChangeShapeType="1"/>
            </p:cNvSpPr>
            <p:nvPr/>
          </p:nvSpPr>
          <p:spPr bwMode="auto">
            <a:xfrm flipH="1">
              <a:off x="1192" y="3508"/>
              <a:ext cx="36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1" name="Line 26"/>
            <p:cNvSpPr>
              <a:spLocks noChangeShapeType="1"/>
            </p:cNvSpPr>
            <p:nvPr/>
          </p:nvSpPr>
          <p:spPr bwMode="auto">
            <a:xfrm flipH="1">
              <a:off x="1192" y="3298"/>
              <a:ext cx="29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2" name="Line 27"/>
            <p:cNvSpPr>
              <a:spLocks noChangeShapeType="1"/>
            </p:cNvSpPr>
            <p:nvPr/>
          </p:nvSpPr>
          <p:spPr bwMode="auto">
            <a:xfrm>
              <a:off x="4176" y="2308"/>
              <a:ext cx="0" cy="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3" name="Line 28"/>
            <p:cNvSpPr>
              <a:spLocks noChangeShapeType="1"/>
            </p:cNvSpPr>
            <p:nvPr/>
          </p:nvSpPr>
          <p:spPr bwMode="auto">
            <a:xfrm>
              <a:off x="4184" y="2300"/>
              <a:ext cx="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0204" name="Group 31"/>
            <p:cNvGrpSpPr>
              <a:grpSpLocks/>
            </p:cNvGrpSpPr>
            <p:nvPr/>
          </p:nvGrpSpPr>
          <p:grpSpPr bwMode="auto">
            <a:xfrm>
              <a:off x="1208" y="2410"/>
              <a:ext cx="952" cy="136"/>
              <a:chOff x="1208" y="2410"/>
              <a:chExt cx="952" cy="136"/>
            </a:xfrm>
          </p:grpSpPr>
          <p:sp>
            <p:nvSpPr>
              <p:cNvPr id="50209" name="Line 29"/>
              <p:cNvSpPr>
                <a:spLocks noChangeShapeType="1"/>
              </p:cNvSpPr>
              <p:nvPr/>
            </p:nvSpPr>
            <p:spPr bwMode="auto">
              <a:xfrm>
                <a:off x="2160" y="241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10" name="Line 30"/>
              <p:cNvSpPr>
                <a:spLocks noChangeShapeType="1"/>
              </p:cNvSpPr>
              <p:nvPr/>
            </p:nvSpPr>
            <p:spPr bwMode="auto">
              <a:xfrm>
                <a:off x="1208" y="2546"/>
                <a:ext cx="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205" name="Rectangle 32"/>
            <p:cNvSpPr>
              <a:spLocks noChangeArrowheads="1"/>
            </p:cNvSpPr>
            <p:nvPr/>
          </p:nvSpPr>
          <p:spPr bwMode="auto">
            <a:xfrm>
              <a:off x="2351" y="1745"/>
              <a:ext cx="327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latin typeface="Arial" panose="020B0604020202020204" pitchFamily="34" charset="0"/>
                </a:rPr>
                <a:t>...</a:t>
              </a:r>
            </a:p>
          </p:txBody>
        </p:sp>
        <p:sp>
          <p:nvSpPr>
            <p:cNvPr id="50206" name="Line 33"/>
            <p:cNvSpPr>
              <a:spLocks noChangeShapeType="1"/>
            </p:cNvSpPr>
            <p:nvPr/>
          </p:nvSpPr>
          <p:spPr bwMode="auto">
            <a:xfrm>
              <a:off x="550" y="4004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7" name="Line 34"/>
            <p:cNvSpPr>
              <a:spLocks noChangeShapeType="1"/>
            </p:cNvSpPr>
            <p:nvPr/>
          </p:nvSpPr>
          <p:spPr bwMode="auto">
            <a:xfrm>
              <a:off x="560" y="3969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8" name="Line 35"/>
            <p:cNvSpPr>
              <a:spLocks noChangeShapeType="1"/>
            </p:cNvSpPr>
            <p:nvPr/>
          </p:nvSpPr>
          <p:spPr bwMode="auto">
            <a:xfrm>
              <a:off x="768" y="1992"/>
              <a:ext cx="15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79C068-1FBC-4667-893F-D3DEA4478A5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400"/>
          </a:p>
        </p:txBody>
      </p:sp>
      <p:sp>
        <p:nvSpPr>
          <p:cNvPr id="54275" name="Rectangle 17"/>
          <p:cNvSpPr>
            <a:spLocks noGrp="1" noChangeArrowheads="1"/>
          </p:cNvSpPr>
          <p:nvPr>
            <p:ph type="title"/>
          </p:nvPr>
        </p:nvSpPr>
        <p:spPr>
          <a:xfrm>
            <a:off x="609600" y="136524"/>
            <a:ext cx="7905750" cy="126069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400" dirty="0"/>
              <a:t>On 10-yr. 9% coupon bond selling for</a:t>
            </a:r>
            <a:r>
              <a:rPr lang="en-US" altLang="en-US" dirty="0"/>
              <a:t> $1,134.20. What’s YTM?</a:t>
            </a:r>
          </a:p>
        </p:txBody>
      </p:sp>
      <p:sp>
        <p:nvSpPr>
          <p:cNvPr id="54276" name="Rectangle 14"/>
          <p:cNvSpPr>
            <a:spLocks noChangeArrowheads="1"/>
          </p:cNvSpPr>
          <p:nvPr/>
        </p:nvSpPr>
        <p:spPr bwMode="auto">
          <a:xfrm>
            <a:off x="1676400" y="4114800"/>
            <a:ext cx="5868988" cy="205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Sells </a:t>
            </a:r>
            <a:r>
              <a:rPr lang="en-US" altLang="en-US" sz="2400" dirty="0"/>
              <a:t>@</a:t>
            </a:r>
            <a:r>
              <a:rPr lang="en-US" altLang="en-US" sz="3200" dirty="0"/>
              <a:t> </a:t>
            </a:r>
            <a:r>
              <a:rPr lang="en-US" altLang="en-US" dirty="0"/>
              <a:t>premium.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Because coupon = 9% 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/>
              <a:t>mrkt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% =</a:t>
            </a:r>
            <a:r>
              <a:rPr lang="en-US" altLang="en-US" sz="3200" b="1" dirty="0">
                <a:highlight>
                  <a:srgbClr val="FFFF00"/>
                </a:highlight>
                <a:latin typeface="Arial" panose="020B0604020202020204" pitchFamily="34" charset="0"/>
              </a:rPr>
              <a:t>???</a:t>
            </a:r>
            <a:r>
              <a:rPr lang="en-US" altLang="en-US" dirty="0"/>
              <a:t> %,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	bond’s price (PV) &gt; par.</a:t>
            </a:r>
          </a:p>
        </p:txBody>
      </p:sp>
      <p:grpSp>
        <p:nvGrpSpPr>
          <p:cNvPr id="54277" name="Group 18"/>
          <p:cNvGrpSpPr>
            <a:grpSpLocks/>
          </p:cNvGrpSpPr>
          <p:nvPr/>
        </p:nvGrpSpPr>
        <p:grpSpPr bwMode="auto">
          <a:xfrm>
            <a:off x="666750" y="2386013"/>
            <a:ext cx="7861300" cy="1441450"/>
            <a:chOff x="420" y="1503"/>
            <a:chExt cx="4952" cy="908"/>
          </a:xfrm>
        </p:grpSpPr>
        <p:sp>
          <p:nvSpPr>
            <p:cNvPr id="54278" name="AutoShape 7"/>
            <p:cNvSpPr>
              <a:spLocks noChangeArrowheads="1"/>
            </p:cNvSpPr>
            <p:nvPr/>
          </p:nvSpPr>
          <p:spPr bwMode="auto">
            <a:xfrm>
              <a:off x="1515" y="1847"/>
              <a:ext cx="320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79" name="AutoShape 8"/>
            <p:cNvSpPr>
              <a:spLocks noChangeArrowheads="1"/>
            </p:cNvSpPr>
            <p:nvPr/>
          </p:nvSpPr>
          <p:spPr bwMode="auto">
            <a:xfrm>
              <a:off x="2127" y="1847"/>
              <a:ext cx="512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80" name="AutoShape 9"/>
            <p:cNvSpPr>
              <a:spLocks noChangeArrowheads="1"/>
            </p:cNvSpPr>
            <p:nvPr/>
          </p:nvSpPr>
          <p:spPr bwMode="auto">
            <a:xfrm>
              <a:off x="2931" y="1847"/>
              <a:ext cx="368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81" name="AutoShape 10"/>
            <p:cNvSpPr>
              <a:spLocks noChangeArrowheads="1"/>
            </p:cNvSpPr>
            <p:nvPr/>
          </p:nvSpPr>
          <p:spPr bwMode="auto">
            <a:xfrm>
              <a:off x="3591" y="1847"/>
              <a:ext cx="512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82" name="AutoShape 11"/>
            <p:cNvSpPr>
              <a:spLocks noChangeArrowheads="1"/>
            </p:cNvSpPr>
            <p:nvPr/>
          </p:nvSpPr>
          <p:spPr bwMode="auto">
            <a:xfrm>
              <a:off x="4395" y="1847"/>
              <a:ext cx="464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83" name="Rectangle 13"/>
            <p:cNvSpPr>
              <a:spLocks noChangeArrowheads="1"/>
            </p:cNvSpPr>
            <p:nvPr/>
          </p:nvSpPr>
          <p:spPr bwMode="auto">
            <a:xfrm>
              <a:off x="420" y="1544"/>
              <a:ext cx="4952" cy="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 </a:t>
              </a:r>
              <a:r>
                <a:rPr lang="en-US" altLang="en-US" sz="2400" dirty="0">
                  <a:highlight>
                    <a:srgbClr val="FF00FF"/>
                  </a:highlight>
                </a:rPr>
                <a:t>?=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	           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 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   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    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     </a:t>
              </a:r>
              <a:r>
                <a:rPr lang="en-US" altLang="en-US" sz="2400" b="1" dirty="0">
                  <a:highlight>
                    <a:srgbClr val="FF00FF"/>
                  </a:highlight>
                  <a:latin typeface="Arial" panose="020B0604020202020204" pitchFamily="34" charset="0"/>
                </a:rPr>
                <a:t>?=</a:t>
              </a:r>
              <a:r>
                <a:rPr lang="en-US" altLang="en-US" sz="2400" b="1" dirty="0">
                  <a:solidFill>
                    <a:srgbClr val="CC00CC"/>
                  </a:solidFill>
                  <a:highlight>
                    <a:srgbClr val="FF00FF"/>
                  </a:highlight>
                  <a:latin typeface="Arial" panose="020B0604020202020204" pitchFamily="34" charset="0"/>
                </a:rPr>
                <a:t> </a:t>
              </a:r>
              <a:endParaRPr lang="en-US" altLang="en-US" sz="2400" b="1" dirty="0">
                <a:highlight>
                  <a:srgbClr val="FF00FF"/>
                </a:highlight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</a:t>
              </a:r>
              <a:r>
                <a:rPr lang="en-US" altLang="en-US" sz="2600" b="1" dirty="0">
                  <a:highlight>
                    <a:srgbClr val="FFFF00"/>
                  </a:highlight>
                  <a:latin typeface="Arial" panose="020B0604020202020204" pitchFamily="34" charset="0"/>
                </a:rPr>
                <a:t> ???</a:t>
              </a:r>
              <a:r>
                <a:rPr lang="en-US" altLang="en-US" sz="2600" b="1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54284" name="AutoShape 15"/>
            <p:cNvSpPr>
              <a:spLocks noChangeArrowheads="1"/>
            </p:cNvSpPr>
            <p:nvPr/>
          </p:nvSpPr>
          <p:spPr bwMode="auto">
            <a:xfrm>
              <a:off x="578" y="1503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54285" name="AutoShape 16"/>
            <p:cNvSpPr>
              <a:spLocks noChangeArrowheads="1"/>
            </p:cNvSpPr>
            <p:nvPr/>
          </p:nvSpPr>
          <p:spPr bwMode="auto">
            <a:xfrm>
              <a:off x="572" y="205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260C73-14B2-4BF0-B476-1CE825D1E09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/>
          </a:p>
        </p:txBody>
      </p:sp>
      <p:sp>
        <p:nvSpPr>
          <p:cNvPr id="50179" name="Rectangle 3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200" dirty="0"/>
              <a:t>On 10-yr. 9% annual coupon, $1,000 par value bond selling for $1,134.20, what’s YTM?</a:t>
            </a:r>
          </a:p>
        </p:txBody>
      </p:sp>
      <p:grpSp>
        <p:nvGrpSpPr>
          <p:cNvPr id="50180" name="Group 38"/>
          <p:cNvGrpSpPr>
            <a:grpSpLocks/>
          </p:cNvGrpSpPr>
          <p:nvPr/>
        </p:nvGrpSpPr>
        <p:grpSpPr bwMode="auto">
          <a:xfrm>
            <a:off x="381000" y="2447925"/>
            <a:ext cx="7573922" cy="3810000"/>
            <a:chOff x="505" y="1542"/>
            <a:chExt cx="4525" cy="2400"/>
          </a:xfrm>
        </p:grpSpPr>
        <p:sp>
          <p:nvSpPr>
            <p:cNvPr id="50181" name="Rectangle 6"/>
            <p:cNvSpPr>
              <a:spLocks noChangeArrowheads="1"/>
            </p:cNvSpPr>
            <p:nvPr/>
          </p:nvSpPr>
          <p:spPr bwMode="auto">
            <a:xfrm>
              <a:off x="1981" y="2174"/>
              <a:ext cx="38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 90</a:t>
              </a:r>
            </a:p>
          </p:txBody>
        </p:sp>
        <p:sp>
          <p:nvSpPr>
            <p:cNvPr id="50182" name="Rectangle 7"/>
            <p:cNvSpPr>
              <a:spLocks noChangeArrowheads="1"/>
            </p:cNvSpPr>
            <p:nvPr/>
          </p:nvSpPr>
          <p:spPr bwMode="auto">
            <a:xfrm>
              <a:off x="4701" y="2174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90</a:t>
              </a:r>
            </a:p>
          </p:txBody>
        </p:sp>
        <p:sp>
          <p:nvSpPr>
            <p:cNvPr id="50183" name="Line 8"/>
            <p:cNvSpPr>
              <a:spLocks noChangeShapeType="1"/>
            </p:cNvSpPr>
            <p:nvPr/>
          </p:nvSpPr>
          <p:spPr bwMode="auto">
            <a:xfrm>
              <a:off x="768" y="1801"/>
              <a:ext cx="0" cy="3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4" name="Line 9"/>
            <p:cNvSpPr>
              <a:spLocks noChangeShapeType="1"/>
            </p:cNvSpPr>
            <p:nvPr/>
          </p:nvSpPr>
          <p:spPr bwMode="auto">
            <a:xfrm>
              <a:off x="2160" y="1801"/>
              <a:ext cx="0" cy="3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5" name="Line 10"/>
            <p:cNvSpPr>
              <a:spLocks noChangeShapeType="1"/>
            </p:cNvSpPr>
            <p:nvPr/>
          </p:nvSpPr>
          <p:spPr bwMode="auto">
            <a:xfrm>
              <a:off x="3408" y="1801"/>
              <a:ext cx="0" cy="3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6" name="Line 11"/>
            <p:cNvSpPr>
              <a:spLocks noChangeShapeType="1"/>
            </p:cNvSpPr>
            <p:nvPr/>
          </p:nvSpPr>
          <p:spPr bwMode="auto">
            <a:xfrm>
              <a:off x="4848" y="1801"/>
              <a:ext cx="0" cy="3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7" name="Line 12"/>
            <p:cNvSpPr>
              <a:spLocks noChangeShapeType="1"/>
            </p:cNvSpPr>
            <p:nvPr/>
          </p:nvSpPr>
          <p:spPr bwMode="auto">
            <a:xfrm>
              <a:off x="2688" y="1988"/>
              <a:ext cx="21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8" name="Rectangle 13"/>
            <p:cNvSpPr>
              <a:spLocks noChangeArrowheads="1"/>
            </p:cNvSpPr>
            <p:nvPr/>
          </p:nvSpPr>
          <p:spPr bwMode="auto">
            <a:xfrm>
              <a:off x="3229" y="2174"/>
              <a:ext cx="38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 90</a:t>
              </a:r>
            </a:p>
          </p:txBody>
        </p:sp>
        <p:sp>
          <p:nvSpPr>
            <p:cNvPr id="50189" name="Rectangle 14"/>
            <p:cNvSpPr>
              <a:spLocks noChangeArrowheads="1"/>
            </p:cNvSpPr>
            <p:nvPr/>
          </p:nvSpPr>
          <p:spPr bwMode="auto">
            <a:xfrm>
              <a:off x="663" y="1542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50190" name="Rectangle 15"/>
            <p:cNvSpPr>
              <a:spLocks noChangeArrowheads="1"/>
            </p:cNvSpPr>
            <p:nvPr/>
          </p:nvSpPr>
          <p:spPr bwMode="auto">
            <a:xfrm>
              <a:off x="2055" y="1542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0191" name="Rectangle 16"/>
            <p:cNvSpPr>
              <a:spLocks noChangeArrowheads="1"/>
            </p:cNvSpPr>
            <p:nvPr/>
          </p:nvSpPr>
          <p:spPr bwMode="auto">
            <a:xfrm>
              <a:off x="3303" y="1542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50192" name="Rectangle 17"/>
            <p:cNvSpPr>
              <a:spLocks noChangeArrowheads="1"/>
            </p:cNvSpPr>
            <p:nvPr/>
          </p:nvSpPr>
          <p:spPr bwMode="auto">
            <a:xfrm>
              <a:off x="4701" y="1542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50193" name="Rectangle 18"/>
            <p:cNvSpPr>
              <a:spLocks noChangeArrowheads="1"/>
            </p:cNvSpPr>
            <p:nvPr/>
          </p:nvSpPr>
          <p:spPr bwMode="auto">
            <a:xfrm>
              <a:off x="1143" y="1709"/>
              <a:ext cx="62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 err="1">
                  <a:latin typeface="Arial" panose="020B0604020202020204" pitchFamily="34" charset="0"/>
                </a:rPr>
                <a:t>i</a:t>
              </a:r>
              <a:r>
                <a:rPr lang="en-US" altLang="en-US" sz="2400" b="1" dirty="0">
                  <a:latin typeface="Arial" panose="020B0604020202020204" pitchFamily="34" charset="0"/>
                </a:rPr>
                <a:t>% =?</a:t>
              </a:r>
            </a:p>
          </p:txBody>
        </p:sp>
        <p:sp>
          <p:nvSpPr>
            <p:cNvPr id="50194" name="Rectangle 19"/>
            <p:cNvSpPr>
              <a:spLocks noChangeArrowheads="1"/>
            </p:cNvSpPr>
            <p:nvPr/>
          </p:nvSpPr>
          <p:spPr bwMode="auto">
            <a:xfrm>
              <a:off x="4435" y="2387"/>
              <a:ext cx="59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1,000</a:t>
              </a:r>
            </a:p>
          </p:txBody>
        </p:sp>
        <p:sp>
          <p:nvSpPr>
            <p:cNvPr id="50195" name="Rectangle 20"/>
            <p:cNvSpPr>
              <a:spLocks noChangeArrowheads="1"/>
            </p:cNvSpPr>
            <p:nvPr/>
          </p:nvSpPr>
          <p:spPr bwMode="auto">
            <a:xfrm>
              <a:off x="505" y="2399"/>
              <a:ext cx="512" cy="1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PV</a:t>
              </a:r>
              <a:r>
                <a:rPr lang="en-US" altLang="en-US" sz="2400" b="1" baseline="-25000">
                  <a:latin typeface="Arial" panose="020B0604020202020204" pitchFamily="34" charset="0"/>
                </a:rPr>
                <a:t>1</a:t>
              </a:r>
              <a:endParaRPr lang="en-US" altLang="en-US" sz="2400" b="1">
                <a:latin typeface="Arial" panose="020B0604020202020204" pitchFamily="34" charset="0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   .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   .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   .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PV</a:t>
              </a:r>
              <a:r>
                <a:rPr lang="en-US" altLang="en-US" sz="2400" b="1" baseline="-25000">
                  <a:latin typeface="Arial" panose="020B0604020202020204" pitchFamily="34" charset="0"/>
                </a:rPr>
                <a:t>10</a:t>
              </a:r>
              <a:endParaRPr lang="en-US" altLang="en-US" sz="2400" b="1">
                <a:latin typeface="Arial" panose="020B0604020202020204" pitchFamily="34" charset="0"/>
              </a:endParaRP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PV</a:t>
              </a:r>
              <a:r>
                <a:rPr lang="en-US" altLang="en-US" sz="2400" b="1" baseline="-2500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50196" name="Line 21"/>
            <p:cNvSpPr>
              <a:spLocks noChangeShapeType="1"/>
            </p:cNvSpPr>
            <p:nvPr/>
          </p:nvSpPr>
          <p:spPr bwMode="auto">
            <a:xfrm>
              <a:off x="544" y="3626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7" name="Rectangle 22"/>
            <p:cNvSpPr>
              <a:spLocks noChangeArrowheads="1"/>
            </p:cNvSpPr>
            <p:nvPr/>
          </p:nvSpPr>
          <p:spPr bwMode="auto">
            <a:xfrm>
              <a:off x="505" y="3598"/>
              <a:ext cx="91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1134.20</a:t>
              </a:r>
            </a:p>
          </p:txBody>
        </p:sp>
        <p:sp>
          <p:nvSpPr>
            <p:cNvPr id="50198" name="Rectangle 23"/>
            <p:cNvSpPr>
              <a:spLocks noChangeArrowheads="1"/>
            </p:cNvSpPr>
            <p:nvPr/>
          </p:nvSpPr>
          <p:spPr bwMode="auto">
            <a:xfrm>
              <a:off x="2280" y="3575"/>
              <a:ext cx="2207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So </a:t>
              </a:r>
              <a:r>
                <a:rPr lang="en-US" altLang="en-US" dirty="0" err="1"/>
                <a:t>i</a:t>
              </a:r>
              <a:r>
                <a:rPr lang="en-US" altLang="en-US" dirty="0"/>
                <a:t>% (YTM)  = </a:t>
              </a:r>
              <a:r>
                <a:rPr lang="en-US" altLang="en-US" dirty="0">
                  <a:highlight>
                    <a:srgbClr val="FFFF00"/>
                  </a:highlight>
                </a:rPr>
                <a:t>??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50199" name="Line 24"/>
            <p:cNvSpPr>
              <a:spLocks noChangeShapeType="1"/>
            </p:cNvSpPr>
            <p:nvPr/>
          </p:nvSpPr>
          <p:spPr bwMode="auto">
            <a:xfrm>
              <a:off x="4848" y="2692"/>
              <a:ext cx="0" cy="8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0" name="Line 25"/>
            <p:cNvSpPr>
              <a:spLocks noChangeShapeType="1"/>
            </p:cNvSpPr>
            <p:nvPr/>
          </p:nvSpPr>
          <p:spPr bwMode="auto">
            <a:xfrm flipH="1">
              <a:off x="1192" y="3508"/>
              <a:ext cx="36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1" name="Line 26"/>
            <p:cNvSpPr>
              <a:spLocks noChangeShapeType="1"/>
            </p:cNvSpPr>
            <p:nvPr/>
          </p:nvSpPr>
          <p:spPr bwMode="auto">
            <a:xfrm flipH="1">
              <a:off x="1192" y="3298"/>
              <a:ext cx="29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2" name="Line 27"/>
            <p:cNvSpPr>
              <a:spLocks noChangeShapeType="1"/>
            </p:cNvSpPr>
            <p:nvPr/>
          </p:nvSpPr>
          <p:spPr bwMode="auto">
            <a:xfrm>
              <a:off x="4176" y="2308"/>
              <a:ext cx="0" cy="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3" name="Line 28"/>
            <p:cNvSpPr>
              <a:spLocks noChangeShapeType="1"/>
            </p:cNvSpPr>
            <p:nvPr/>
          </p:nvSpPr>
          <p:spPr bwMode="auto">
            <a:xfrm>
              <a:off x="4184" y="2300"/>
              <a:ext cx="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0204" name="Group 31"/>
            <p:cNvGrpSpPr>
              <a:grpSpLocks/>
            </p:cNvGrpSpPr>
            <p:nvPr/>
          </p:nvGrpSpPr>
          <p:grpSpPr bwMode="auto">
            <a:xfrm>
              <a:off x="1208" y="2410"/>
              <a:ext cx="952" cy="136"/>
              <a:chOff x="1208" y="2410"/>
              <a:chExt cx="952" cy="136"/>
            </a:xfrm>
          </p:grpSpPr>
          <p:sp>
            <p:nvSpPr>
              <p:cNvPr id="50209" name="Line 29"/>
              <p:cNvSpPr>
                <a:spLocks noChangeShapeType="1"/>
              </p:cNvSpPr>
              <p:nvPr/>
            </p:nvSpPr>
            <p:spPr bwMode="auto">
              <a:xfrm>
                <a:off x="2160" y="241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10" name="Line 30"/>
              <p:cNvSpPr>
                <a:spLocks noChangeShapeType="1"/>
              </p:cNvSpPr>
              <p:nvPr/>
            </p:nvSpPr>
            <p:spPr bwMode="auto">
              <a:xfrm>
                <a:off x="1208" y="2546"/>
                <a:ext cx="9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205" name="Rectangle 32"/>
            <p:cNvSpPr>
              <a:spLocks noChangeArrowheads="1"/>
            </p:cNvSpPr>
            <p:nvPr/>
          </p:nvSpPr>
          <p:spPr bwMode="auto">
            <a:xfrm>
              <a:off x="2351" y="1745"/>
              <a:ext cx="327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latin typeface="Arial" panose="020B0604020202020204" pitchFamily="34" charset="0"/>
                </a:rPr>
                <a:t>...</a:t>
              </a:r>
            </a:p>
          </p:txBody>
        </p:sp>
        <p:sp>
          <p:nvSpPr>
            <p:cNvPr id="50206" name="Line 33"/>
            <p:cNvSpPr>
              <a:spLocks noChangeShapeType="1"/>
            </p:cNvSpPr>
            <p:nvPr/>
          </p:nvSpPr>
          <p:spPr bwMode="auto">
            <a:xfrm>
              <a:off x="544" y="3902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7" name="Line 34"/>
            <p:cNvSpPr>
              <a:spLocks noChangeShapeType="1"/>
            </p:cNvSpPr>
            <p:nvPr/>
          </p:nvSpPr>
          <p:spPr bwMode="auto">
            <a:xfrm>
              <a:off x="544" y="3856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8" name="Line 35"/>
            <p:cNvSpPr>
              <a:spLocks noChangeShapeType="1"/>
            </p:cNvSpPr>
            <p:nvPr/>
          </p:nvSpPr>
          <p:spPr bwMode="auto">
            <a:xfrm>
              <a:off x="768" y="1992"/>
              <a:ext cx="15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79C068-1FBC-4667-893F-D3DEA4478A5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/>
          </a:p>
        </p:txBody>
      </p:sp>
      <p:sp>
        <p:nvSpPr>
          <p:cNvPr id="54275" name="Rectangle 17"/>
          <p:cNvSpPr>
            <a:spLocks noGrp="1" noChangeArrowheads="1"/>
          </p:cNvSpPr>
          <p:nvPr>
            <p:ph type="title"/>
          </p:nvPr>
        </p:nvSpPr>
        <p:spPr>
          <a:xfrm>
            <a:off x="609600" y="136524"/>
            <a:ext cx="7905750" cy="126069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000" dirty="0"/>
              <a:t>On 10-yr. 9% coupon bond selling for $887. Find YTM (</a:t>
            </a:r>
            <a:r>
              <a:rPr lang="en-US" altLang="en-US" sz="4000" i="1" dirty="0" err="1"/>
              <a:t>i</a:t>
            </a:r>
            <a:r>
              <a:rPr lang="en-US" altLang="en-US" sz="4000" dirty="0"/>
              <a:t> % or </a:t>
            </a:r>
            <a:r>
              <a:rPr lang="en-US" altLang="en-US" sz="4000" dirty="0" err="1"/>
              <a:t>r</a:t>
            </a:r>
            <a:r>
              <a:rPr lang="en-US" altLang="en-US" sz="4000" baseline="-25000" dirty="0" err="1"/>
              <a:t>d</a:t>
            </a:r>
            <a:r>
              <a:rPr lang="en-US" altLang="en-US" sz="4000" dirty="0"/>
              <a:t>)</a:t>
            </a:r>
          </a:p>
        </p:txBody>
      </p:sp>
      <p:sp>
        <p:nvSpPr>
          <p:cNvPr id="54276" name="Rectangle 14"/>
          <p:cNvSpPr>
            <a:spLocks noChangeArrowheads="1"/>
          </p:cNvSpPr>
          <p:nvPr/>
        </p:nvSpPr>
        <p:spPr bwMode="auto">
          <a:xfrm>
            <a:off x="1676400" y="4114800"/>
            <a:ext cx="5868988" cy="205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Sells </a:t>
            </a:r>
            <a:r>
              <a:rPr lang="en-US" altLang="en-US" sz="2400" dirty="0"/>
              <a:t>@</a:t>
            </a:r>
            <a:r>
              <a:rPr lang="en-US" altLang="en-US" sz="3200" dirty="0"/>
              <a:t> discount</a:t>
            </a:r>
            <a:r>
              <a:rPr lang="en-US" altLang="en-US" dirty="0"/>
              <a:t>.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Because coupon = 9% &lt;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/>
              <a:t>mrkt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% = </a:t>
            </a:r>
            <a:r>
              <a:rPr lang="en-US" altLang="en-US" dirty="0">
                <a:highlight>
                  <a:srgbClr val="FFFF00"/>
                </a:highlight>
              </a:rPr>
              <a:t>??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	bond’s value &lt; par.</a:t>
            </a:r>
          </a:p>
        </p:txBody>
      </p:sp>
      <p:grpSp>
        <p:nvGrpSpPr>
          <p:cNvPr id="54277" name="Group 18"/>
          <p:cNvGrpSpPr>
            <a:grpSpLocks/>
          </p:cNvGrpSpPr>
          <p:nvPr/>
        </p:nvGrpSpPr>
        <p:grpSpPr bwMode="auto">
          <a:xfrm>
            <a:off x="609600" y="2386013"/>
            <a:ext cx="7861300" cy="1441450"/>
            <a:chOff x="384" y="1503"/>
            <a:chExt cx="4952" cy="908"/>
          </a:xfrm>
        </p:grpSpPr>
        <p:sp>
          <p:nvSpPr>
            <p:cNvPr id="54278" name="AutoShape 7"/>
            <p:cNvSpPr>
              <a:spLocks noChangeArrowheads="1"/>
            </p:cNvSpPr>
            <p:nvPr/>
          </p:nvSpPr>
          <p:spPr bwMode="auto">
            <a:xfrm>
              <a:off x="1515" y="1847"/>
              <a:ext cx="320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79" name="AutoShape 8"/>
            <p:cNvSpPr>
              <a:spLocks noChangeArrowheads="1"/>
            </p:cNvSpPr>
            <p:nvPr/>
          </p:nvSpPr>
          <p:spPr bwMode="auto">
            <a:xfrm>
              <a:off x="2127" y="1847"/>
              <a:ext cx="512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80" name="AutoShape 9"/>
            <p:cNvSpPr>
              <a:spLocks noChangeArrowheads="1"/>
            </p:cNvSpPr>
            <p:nvPr/>
          </p:nvSpPr>
          <p:spPr bwMode="auto">
            <a:xfrm>
              <a:off x="2931" y="1847"/>
              <a:ext cx="368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81" name="AutoShape 10"/>
            <p:cNvSpPr>
              <a:spLocks noChangeArrowheads="1"/>
            </p:cNvSpPr>
            <p:nvPr/>
          </p:nvSpPr>
          <p:spPr bwMode="auto">
            <a:xfrm>
              <a:off x="3591" y="1847"/>
              <a:ext cx="512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82" name="AutoShape 11"/>
            <p:cNvSpPr>
              <a:spLocks noChangeArrowheads="1"/>
            </p:cNvSpPr>
            <p:nvPr/>
          </p:nvSpPr>
          <p:spPr bwMode="auto">
            <a:xfrm>
              <a:off x="4395" y="1847"/>
              <a:ext cx="464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4283" name="Rectangle 13"/>
            <p:cNvSpPr>
              <a:spLocks noChangeArrowheads="1"/>
            </p:cNvSpPr>
            <p:nvPr/>
          </p:nvSpPr>
          <p:spPr bwMode="auto">
            <a:xfrm>
              <a:off x="384" y="1584"/>
              <a:ext cx="4952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 </a:t>
              </a:r>
              <a:r>
                <a:rPr lang="en-US" altLang="en-US" sz="2400" b="1" dirty="0">
                  <a:highlight>
                    <a:srgbClr val="CC00CC"/>
                  </a:highlight>
                  <a:latin typeface="Arial" panose="020B0604020202020204" pitchFamily="34" charset="0"/>
                </a:rPr>
                <a:t>?=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	              </a:t>
              </a:r>
              <a:r>
                <a:rPr lang="en-US" altLang="en-US" sz="2400" b="1" dirty="0">
                  <a:highlight>
                    <a:srgbClr val="CC00CC"/>
                  </a:highlight>
                  <a:latin typeface="Arial" panose="020B0604020202020204" pitchFamily="34" charset="0"/>
                </a:rPr>
                <a:t>?= 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      </a:t>
              </a:r>
              <a:r>
                <a:rPr lang="en-US" altLang="en-US" sz="2400" b="1" dirty="0">
                  <a:highlight>
                    <a:srgbClr val="CC00CC"/>
                  </a:highlight>
                  <a:latin typeface="Arial" panose="020B0604020202020204" pitchFamily="34" charset="0"/>
                </a:rPr>
                <a:t>?=   </a:t>
              </a:r>
              <a:r>
                <a:rPr lang="en-US" altLang="en-US" sz="2400" b="1" dirty="0">
                  <a:latin typeface="Arial" panose="020B0604020202020204" pitchFamily="34" charset="0"/>
                </a:rPr>
                <a:t>       </a:t>
              </a:r>
              <a:r>
                <a:rPr lang="en-US" altLang="en-US" sz="2400" b="1" dirty="0">
                  <a:highlight>
                    <a:srgbClr val="CC00CC"/>
                  </a:highlight>
                  <a:latin typeface="Arial" panose="020B0604020202020204" pitchFamily="34" charset="0"/>
                </a:rPr>
                <a:t>?=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 PV	 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         </a:t>
              </a:r>
              <a:r>
                <a:rPr lang="en-US" altLang="en-US" sz="2600" b="1" dirty="0">
                  <a:highlight>
                    <a:srgbClr val="FAFD00"/>
                  </a:highlight>
                  <a:latin typeface="Arial" panose="020B0604020202020204" pitchFamily="34" charset="0"/>
                </a:rPr>
                <a:t>???</a:t>
              </a:r>
            </a:p>
          </p:txBody>
        </p:sp>
        <p:sp>
          <p:nvSpPr>
            <p:cNvPr id="54284" name="AutoShape 15"/>
            <p:cNvSpPr>
              <a:spLocks noChangeArrowheads="1"/>
            </p:cNvSpPr>
            <p:nvPr/>
          </p:nvSpPr>
          <p:spPr bwMode="auto">
            <a:xfrm>
              <a:off x="578" y="1503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54285" name="AutoShape 16"/>
            <p:cNvSpPr>
              <a:spLocks noChangeArrowheads="1"/>
            </p:cNvSpPr>
            <p:nvPr/>
          </p:nvSpPr>
          <p:spPr bwMode="auto">
            <a:xfrm>
              <a:off x="572" y="205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80880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 YTM (</a:t>
            </a:r>
            <a:r>
              <a:rPr lang="en-US" altLang="en-US" i="1" dirty="0" err="1"/>
              <a:t>i</a:t>
            </a:r>
            <a:r>
              <a:rPr lang="en-US" altLang="en-US" dirty="0"/>
              <a:t> % or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dirty="0"/>
              <a:t>)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11027582"/>
              </p:ext>
            </p:extLst>
          </p:nvPr>
        </p:nvGraphicFramePr>
        <p:xfrm>
          <a:off x="628650" y="1905000"/>
          <a:ext cx="3105150" cy="2438400"/>
        </p:xfrm>
        <a:graphic>
          <a:graphicData uri="http://schemas.openxmlformats.org/drawingml/2006/table">
            <a:tbl>
              <a:tblPr/>
              <a:tblGrid>
                <a:gridCol w="1754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effectLst/>
                          <a:latin typeface="Times New Roman"/>
                        </a:rPr>
                        <a:t>Years to Mat: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N = 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effectLst/>
                          <a:latin typeface="Times New Roman"/>
                        </a:rPr>
                        <a:t>Coupon rate: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effectLst/>
                          <a:latin typeface="Times New Roman"/>
                        </a:rPr>
                        <a:t>Annual </a:t>
                      </a:r>
                      <a:r>
                        <a:rPr lang="en-US" sz="1400" b="1" i="0" u="none" strike="noStrike" dirty="0" err="1">
                          <a:effectLst/>
                          <a:latin typeface="Times New Roman"/>
                        </a:rPr>
                        <a:t>Pmt</a:t>
                      </a:r>
                      <a:r>
                        <a:rPr lang="en-US" sz="1400" b="1" i="0" u="none" strike="noStrike" dirty="0">
                          <a:effectLst/>
                          <a:latin typeface="Times New Roman"/>
                        </a:rPr>
                        <a:t>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Pmt</a:t>
                      </a: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 = $90.00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effectLst/>
                          <a:latin typeface="Times New Roman"/>
                        </a:rPr>
                        <a:t>Current price: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PV = &lt;$887.00&gt;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effectLst/>
                          <a:latin typeface="Times New Roman"/>
                        </a:rPr>
                        <a:t>Par value = FV: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/>
                        </a:rPr>
                        <a:t>FV = $1,000.00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238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8212B2-7DD1-4084-93B2-4A9AE398721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/>
          </a:p>
        </p:txBody>
      </p:sp>
      <p:pic>
        <p:nvPicPr>
          <p:cNvPr id="52239" name="Content Placeholder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14298" y="2895600"/>
            <a:ext cx="4484493" cy="2895600"/>
          </a:xfrm>
          <a:extLs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D1D446-776E-4D25-98F5-9C63C7D16A4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/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5300" dirty="0"/>
              <a:t>Bond Prices &amp; Int. Rates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4301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763000" cy="465296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If coupon rate &lt; </a:t>
            </a:r>
            <a:r>
              <a:rPr lang="en-US" altLang="en-US" dirty="0" err="1"/>
              <a:t>mrkt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% (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dirty="0"/>
              <a:t>) bond sells </a:t>
            </a:r>
            <a:r>
              <a:rPr lang="en-US" altLang="en-US" sz="2000" dirty="0"/>
              <a:t>@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If coupon rate = </a:t>
            </a:r>
            <a:r>
              <a:rPr lang="en-US" altLang="en-US" dirty="0" err="1"/>
              <a:t>i</a:t>
            </a:r>
            <a:r>
              <a:rPr lang="en-US" altLang="en-US" dirty="0"/>
              <a:t> %, bond sells @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If coupon rate &gt; </a:t>
            </a:r>
            <a:r>
              <a:rPr lang="en-US" altLang="en-US" dirty="0" err="1"/>
              <a:t>i</a:t>
            </a:r>
            <a:r>
              <a:rPr lang="en-US" altLang="en-US" dirty="0"/>
              <a:t>%, bond sells @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If market </a:t>
            </a:r>
            <a:r>
              <a:rPr lang="en-US" altLang="en-US" dirty="0" err="1"/>
              <a:t>i</a:t>
            </a:r>
            <a:r>
              <a:rPr lang="en-US" altLang="en-US" dirty="0"/>
              <a:t>% rises,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@ maturity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86EF28-3503-49F7-90CB-6A3122B957E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55299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Definitions</a:t>
            </a:r>
          </a:p>
        </p:txBody>
      </p:sp>
      <p:sp>
        <p:nvSpPr>
          <p:cNvPr id="45060" name="Rectangle 6"/>
          <p:cNvSpPr>
            <a:spLocks noChangeArrowheads="1"/>
          </p:cNvSpPr>
          <p:nvPr/>
        </p:nvSpPr>
        <p:spPr bwMode="auto">
          <a:xfrm>
            <a:off x="604838" y="1981200"/>
            <a:ext cx="8075612" cy="353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Current yield = “Interest Yield”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Capital gains yield =Change in value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         =  YTM  =              +</a:t>
            </a:r>
          </a:p>
          <a:p>
            <a:pPr latinLnBrk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45061" name="Rectangle 9"/>
          <p:cNvSpPr>
            <a:spLocks noChangeArrowheads="1"/>
          </p:cNvSpPr>
          <p:nvPr/>
        </p:nvSpPr>
        <p:spPr bwMode="auto">
          <a:xfrm>
            <a:off x="838200" y="4343400"/>
            <a:ext cx="1760538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Exp total</a:t>
            </a:r>
            <a:endParaRPr lang="en-US" altLang="en-US" u="sng"/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return</a:t>
            </a:r>
          </a:p>
        </p:txBody>
      </p:sp>
      <p:sp>
        <p:nvSpPr>
          <p:cNvPr id="55302" name="Rectangle 10"/>
          <p:cNvSpPr>
            <a:spLocks noChangeArrowheads="1"/>
          </p:cNvSpPr>
          <p:nvPr/>
        </p:nvSpPr>
        <p:spPr bwMode="auto">
          <a:xfrm>
            <a:off x="4665663" y="4419600"/>
            <a:ext cx="159385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Exp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Curr yld</a:t>
            </a:r>
          </a:p>
        </p:txBody>
      </p:sp>
      <p:sp>
        <p:nvSpPr>
          <p:cNvPr id="55303" name="Rectangle 11"/>
          <p:cNvSpPr>
            <a:spLocks noChangeArrowheads="1"/>
          </p:cNvSpPr>
          <p:nvPr/>
        </p:nvSpPr>
        <p:spPr bwMode="auto">
          <a:xfrm>
            <a:off x="6781800" y="4343400"/>
            <a:ext cx="1770063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Exp cap</a:t>
            </a:r>
            <a:endParaRPr lang="en-US" altLang="en-US" u="sng"/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gains yld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0F2B38-5F34-40FB-A49F-5A77D09380B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/>
          </a:p>
        </p:txBody>
      </p:sp>
      <p:sp>
        <p:nvSpPr>
          <p:cNvPr id="5632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Definitions</a:t>
            </a:r>
          </a:p>
        </p:txBody>
      </p:sp>
      <p:sp>
        <p:nvSpPr>
          <p:cNvPr id="56324" name="Rectangle 6"/>
          <p:cNvSpPr>
            <a:spLocks noChangeArrowheads="1"/>
          </p:cNvSpPr>
          <p:nvPr/>
        </p:nvSpPr>
        <p:spPr bwMode="auto">
          <a:xfrm>
            <a:off x="609600" y="2438400"/>
            <a:ext cx="6196013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Current yield =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Capital gains yield =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         =  YTM  =              +</a:t>
            </a:r>
          </a:p>
          <a:p>
            <a:pPr latinLnBrk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56325" name="Rectangle 7"/>
          <p:cNvSpPr>
            <a:spLocks noChangeArrowheads="1"/>
          </p:cNvSpPr>
          <p:nvPr/>
        </p:nvSpPr>
        <p:spPr bwMode="auto">
          <a:xfrm>
            <a:off x="3890963" y="2216150"/>
            <a:ext cx="367665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u="sng" dirty="0"/>
              <a:t>Annual coupon </a:t>
            </a:r>
            <a:r>
              <a:rPr lang="en-US" altLang="en-US" u="sng" dirty="0" err="1"/>
              <a:t>pmt</a:t>
            </a:r>
            <a:endParaRPr lang="en-US" altLang="en-US" u="sng" dirty="0"/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Current price</a:t>
            </a:r>
          </a:p>
        </p:txBody>
      </p:sp>
      <p:sp>
        <p:nvSpPr>
          <p:cNvPr id="56326" name="Rectangle 8"/>
          <p:cNvSpPr>
            <a:spLocks noChangeArrowheads="1"/>
          </p:cNvSpPr>
          <p:nvPr/>
        </p:nvSpPr>
        <p:spPr bwMode="auto">
          <a:xfrm>
            <a:off x="4906963" y="3748088"/>
            <a:ext cx="2973387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u="sng"/>
              <a:t>Change in price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Beginning price</a:t>
            </a:r>
          </a:p>
        </p:txBody>
      </p:sp>
      <p:sp>
        <p:nvSpPr>
          <p:cNvPr id="56327" name="Rectangle 9"/>
          <p:cNvSpPr>
            <a:spLocks noChangeArrowheads="1"/>
          </p:cNvSpPr>
          <p:nvPr/>
        </p:nvSpPr>
        <p:spPr bwMode="auto">
          <a:xfrm>
            <a:off x="676275" y="5183188"/>
            <a:ext cx="1760538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Exp total</a:t>
            </a:r>
            <a:endParaRPr lang="en-US" altLang="en-US" u="sng"/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return</a:t>
            </a:r>
          </a:p>
        </p:txBody>
      </p:sp>
      <p:sp>
        <p:nvSpPr>
          <p:cNvPr id="56328" name="Rectangle 10"/>
          <p:cNvSpPr>
            <a:spLocks noChangeArrowheads="1"/>
          </p:cNvSpPr>
          <p:nvPr/>
        </p:nvSpPr>
        <p:spPr bwMode="auto">
          <a:xfrm>
            <a:off x="4651375" y="5183188"/>
            <a:ext cx="159385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Exp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Curr yld</a:t>
            </a:r>
          </a:p>
        </p:txBody>
      </p:sp>
      <p:sp>
        <p:nvSpPr>
          <p:cNvPr id="56329" name="Rectangle 11"/>
          <p:cNvSpPr>
            <a:spLocks noChangeArrowheads="1"/>
          </p:cNvSpPr>
          <p:nvPr/>
        </p:nvSpPr>
        <p:spPr bwMode="auto">
          <a:xfrm>
            <a:off x="6915150" y="5183188"/>
            <a:ext cx="1770063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Exp cap</a:t>
            </a:r>
            <a:endParaRPr lang="en-US" altLang="en-US" u="sng"/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gains yld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9% coupon, 10-year bond, P = $887, &amp; YTM = 10.91% What’s current yield?</a:t>
            </a:r>
          </a:p>
        </p:txBody>
      </p:sp>
      <p:sp>
        <p:nvSpPr>
          <p:cNvPr id="573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99736F-202E-4995-A11B-507C11ECAAB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400"/>
          </a:p>
        </p:txBody>
      </p:sp>
      <p:grpSp>
        <p:nvGrpSpPr>
          <p:cNvPr id="50180" name="Group 12"/>
          <p:cNvGrpSpPr>
            <a:grpSpLocks/>
          </p:cNvGrpSpPr>
          <p:nvPr/>
        </p:nvGrpSpPr>
        <p:grpSpPr bwMode="auto">
          <a:xfrm>
            <a:off x="908050" y="3154363"/>
            <a:ext cx="3868738" cy="1785937"/>
            <a:chOff x="572" y="1987"/>
            <a:chExt cx="2437" cy="1125"/>
          </a:xfrm>
        </p:grpSpPr>
        <p:sp>
          <p:nvSpPr>
            <p:cNvPr id="57349" name="Rectangle 7"/>
            <p:cNvSpPr>
              <a:spLocks noChangeArrowheads="1"/>
            </p:cNvSpPr>
            <p:nvPr/>
          </p:nvSpPr>
          <p:spPr bwMode="auto">
            <a:xfrm>
              <a:off x="572" y="2125"/>
              <a:ext cx="2207" cy="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Current yield	=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dirty="0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			= </a:t>
              </a:r>
            </a:p>
          </p:txBody>
        </p:sp>
        <p:sp>
          <p:nvSpPr>
            <p:cNvPr id="57350" name="Rectangle 8"/>
            <p:cNvSpPr>
              <a:spLocks noChangeArrowheads="1"/>
            </p:cNvSpPr>
            <p:nvPr/>
          </p:nvSpPr>
          <p:spPr bwMode="auto">
            <a:xfrm>
              <a:off x="2894" y="1987"/>
              <a:ext cx="11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D6DF20-1CB6-48FB-812B-2B8BDC6866A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/>
          </a:p>
        </p:txBody>
      </p:sp>
      <p:sp>
        <p:nvSpPr>
          <p:cNvPr id="51203" name="Rectangle 5"/>
          <p:cNvSpPr>
            <a:spLocks noChangeArrowheads="1"/>
          </p:cNvSpPr>
          <p:nvPr/>
        </p:nvSpPr>
        <p:spPr bwMode="auto">
          <a:xfrm>
            <a:off x="985838" y="2286000"/>
            <a:ext cx="7700962" cy="205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Cap gains yield = YTM - Current yield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			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			 </a:t>
            </a:r>
          </a:p>
        </p:txBody>
      </p:sp>
      <p:sp>
        <p:nvSpPr>
          <p:cNvPr id="51204" name="Rectangle 6"/>
          <p:cNvSpPr>
            <a:spLocks noChangeArrowheads="1"/>
          </p:cNvSpPr>
          <p:nvPr/>
        </p:nvSpPr>
        <p:spPr bwMode="auto">
          <a:xfrm>
            <a:off x="990600" y="4648200"/>
            <a:ext cx="7908925" cy="156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Could also find values in Years 1 &amp; 2,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get difference, &amp; divide by value in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Year 1.  Same answer.</a:t>
            </a:r>
          </a:p>
        </p:txBody>
      </p:sp>
      <p:sp>
        <p:nvSpPr>
          <p:cNvPr id="58373" name="Rectangle 8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8362950" cy="1032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YTM = Current yield + Cap gains yield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2760AB-85CA-442B-B94C-7537BF1F05F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59395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Semiannual Bonds</a:t>
            </a:r>
          </a:p>
        </p:txBody>
      </p:sp>
      <p:sp>
        <p:nvSpPr>
          <p:cNvPr id="49156" name="Rectangle 9"/>
          <p:cNvSpPr>
            <a:spLocks noChangeArrowheads="1"/>
          </p:cNvSpPr>
          <p:nvPr/>
        </p:nvSpPr>
        <p:spPr bwMode="auto">
          <a:xfrm>
            <a:off x="152401" y="2514600"/>
            <a:ext cx="8991600" cy="2010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450850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4508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4508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en-US" dirty="0"/>
              <a:t>1.	Multiply years by 2 to get periods = 2N.</a:t>
            </a:r>
          </a:p>
          <a:p>
            <a:pPr>
              <a:lnSpc>
                <a:spcPct val="9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en-US" dirty="0"/>
              <a:t>2.	Divide nominal rate by 2 to get periodic              	rate = </a:t>
            </a:r>
            <a:r>
              <a:rPr lang="en-US" altLang="en-US" dirty="0" err="1"/>
              <a:t>i</a:t>
            </a:r>
            <a:r>
              <a:rPr lang="en-US" altLang="en-US" dirty="0"/>
              <a:t>%/2.</a:t>
            </a:r>
          </a:p>
          <a:p>
            <a:pPr>
              <a:lnSpc>
                <a:spcPct val="9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en-US" dirty="0"/>
              <a:t>3.	Divide annual INT by 2 to get PMT = 	INT/2.</a:t>
            </a:r>
          </a:p>
        </p:txBody>
      </p:sp>
      <p:grpSp>
        <p:nvGrpSpPr>
          <p:cNvPr id="49157" name="Group 24"/>
          <p:cNvGrpSpPr>
            <a:grpSpLocks/>
          </p:cNvGrpSpPr>
          <p:nvPr/>
        </p:nvGrpSpPr>
        <p:grpSpPr bwMode="auto">
          <a:xfrm>
            <a:off x="838200" y="5038727"/>
            <a:ext cx="7556500" cy="1544638"/>
            <a:chOff x="528" y="3174"/>
            <a:chExt cx="4760" cy="973"/>
          </a:xfrm>
        </p:grpSpPr>
        <p:sp>
          <p:nvSpPr>
            <p:cNvPr id="59398" name="AutoShape 11"/>
            <p:cNvSpPr>
              <a:spLocks noChangeArrowheads="1"/>
            </p:cNvSpPr>
            <p:nvPr/>
          </p:nvSpPr>
          <p:spPr bwMode="auto">
            <a:xfrm>
              <a:off x="1630" y="3541"/>
              <a:ext cx="320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9399" name="AutoShape 12"/>
            <p:cNvSpPr>
              <a:spLocks noChangeArrowheads="1"/>
            </p:cNvSpPr>
            <p:nvPr/>
          </p:nvSpPr>
          <p:spPr bwMode="auto">
            <a:xfrm>
              <a:off x="2242" y="3541"/>
              <a:ext cx="512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9400" name="AutoShape 13"/>
            <p:cNvSpPr>
              <a:spLocks noChangeArrowheads="1"/>
            </p:cNvSpPr>
            <p:nvPr/>
          </p:nvSpPr>
          <p:spPr bwMode="auto">
            <a:xfrm>
              <a:off x="3046" y="3541"/>
              <a:ext cx="368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9401" name="AutoShape 14"/>
            <p:cNvSpPr>
              <a:spLocks noChangeArrowheads="1"/>
            </p:cNvSpPr>
            <p:nvPr/>
          </p:nvSpPr>
          <p:spPr bwMode="auto">
            <a:xfrm>
              <a:off x="3706" y="3541"/>
              <a:ext cx="560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9402" name="AutoShape 15"/>
            <p:cNvSpPr>
              <a:spLocks noChangeArrowheads="1"/>
            </p:cNvSpPr>
            <p:nvPr/>
          </p:nvSpPr>
          <p:spPr bwMode="auto">
            <a:xfrm>
              <a:off x="4558" y="3541"/>
              <a:ext cx="368" cy="248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9403" name="Rectangle 19"/>
            <p:cNvSpPr>
              <a:spLocks noChangeArrowheads="1"/>
            </p:cNvSpPr>
            <p:nvPr/>
          </p:nvSpPr>
          <p:spPr bwMode="auto">
            <a:xfrm>
              <a:off x="528" y="3216"/>
              <a:ext cx="476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2N	</a:t>
              </a:r>
              <a:r>
                <a:rPr lang="en-US" altLang="en-US" sz="2800" b="1" dirty="0" err="1">
                  <a:latin typeface="Arial" panose="020B0604020202020204" pitchFamily="34" charset="0"/>
                </a:rPr>
                <a:t>i</a:t>
              </a:r>
              <a:r>
                <a:rPr lang="en-US" altLang="en-US" sz="2800" b="1" dirty="0">
                  <a:latin typeface="Arial" panose="020B0604020202020204" pitchFamily="34" charset="0"/>
                </a:rPr>
                <a:t>%</a:t>
              </a:r>
              <a:r>
                <a:rPr lang="en-US" altLang="en-US" b="1" dirty="0">
                  <a:latin typeface="Arial" panose="020B0604020202020204" pitchFamily="34" charset="0"/>
                </a:rPr>
                <a:t>/</a:t>
              </a:r>
              <a:r>
                <a:rPr lang="en-US" altLang="en-US" sz="2800" b="1" dirty="0">
                  <a:latin typeface="Arial" panose="020B0604020202020204" pitchFamily="34" charset="0"/>
                </a:rPr>
                <a:t>2</a:t>
              </a:r>
              <a:r>
                <a:rPr lang="en-US" altLang="en-US" sz="2600" b="1" dirty="0">
                  <a:latin typeface="Arial" panose="020B0604020202020204" pitchFamily="34" charset="0"/>
                </a:rPr>
                <a:t> 	    OK	     INT</a:t>
              </a:r>
              <a:r>
                <a:rPr lang="en-US" altLang="en-US" b="1" dirty="0">
                  <a:latin typeface="Arial" panose="020B0604020202020204" pitchFamily="34" charset="0"/>
                </a:rPr>
                <a:t>/</a:t>
              </a:r>
              <a:r>
                <a:rPr lang="en-US" altLang="en-US" sz="2600" b="1" dirty="0">
                  <a:latin typeface="Arial" panose="020B0604020202020204" pitchFamily="34" charset="0"/>
                </a:rPr>
                <a:t>2	OK 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       PV       PMT	FV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			</a:t>
              </a:r>
            </a:p>
          </p:txBody>
        </p:sp>
        <p:sp>
          <p:nvSpPr>
            <p:cNvPr id="59404" name="AutoShape 20"/>
            <p:cNvSpPr>
              <a:spLocks noChangeArrowheads="1"/>
            </p:cNvSpPr>
            <p:nvPr/>
          </p:nvSpPr>
          <p:spPr bwMode="auto">
            <a:xfrm>
              <a:off x="567" y="317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59405" name="AutoShape 21"/>
            <p:cNvSpPr>
              <a:spLocks noChangeArrowheads="1"/>
            </p:cNvSpPr>
            <p:nvPr/>
          </p:nvSpPr>
          <p:spPr bwMode="auto">
            <a:xfrm>
              <a:off x="561" y="3725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4C838D-CD45-4798-955D-0E0B883317C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400"/>
          </a:p>
        </p:txBody>
      </p:sp>
      <p:grpSp>
        <p:nvGrpSpPr>
          <p:cNvPr id="60419" name="Group 25"/>
          <p:cNvGrpSpPr>
            <a:grpSpLocks/>
          </p:cNvGrpSpPr>
          <p:nvPr/>
        </p:nvGrpSpPr>
        <p:grpSpPr bwMode="auto">
          <a:xfrm>
            <a:off x="838200" y="3352800"/>
            <a:ext cx="7556500" cy="1733550"/>
            <a:chOff x="528" y="2112"/>
            <a:chExt cx="4760" cy="1092"/>
          </a:xfrm>
        </p:grpSpPr>
        <p:sp>
          <p:nvSpPr>
            <p:cNvPr id="60421" name="AutoShape 6"/>
            <p:cNvSpPr>
              <a:spLocks noChangeArrowheads="1"/>
            </p:cNvSpPr>
            <p:nvPr/>
          </p:nvSpPr>
          <p:spPr bwMode="auto">
            <a:xfrm>
              <a:off x="1645" y="2629"/>
              <a:ext cx="32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0422" name="AutoShape 7"/>
            <p:cNvSpPr>
              <a:spLocks noChangeArrowheads="1"/>
            </p:cNvSpPr>
            <p:nvPr/>
          </p:nvSpPr>
          <p:spPr bwMode="auto">
            <a:xfrm>
              <a:off x="2209" y="2629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0423" name="AutoShape 8"/>
            <p:cNvSpPr>
              <a:spLocks noChangeArrowheads="1"/>
            </p:cNvSpPr>
            <p:nvPr/>
          </p:nvSpPr>
          <p:spPr bwMode="auto">
            <a:xfrm>
              <a:off x="3013" y="2629"/>
              <a:ext cx="416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0424" name="AutoShape 9"/>
            <p:cNvSpPr>
              <a:spLocks noChangeArrowheads="1"/>
            </p:cNvSpPr>
            <p:nvPr/>
          </p:nvSpPr>
          <p:spPr bwMode="auto">
            <a:xfrm>
              <a:off x="3673" y="2629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0425" name="AutoShape 10"/>
            <p:cNvSpPr>
              <a:spLocks noChangeArrowheads="1"/>
            </p:cNvSpPr>
            <p:nvPr/>
          </p:nvSpPr>
          <p:spPr bwMode="auto">
            <a:xfrm>
              <a:off x="4477" y="2629"/>
              <a:ext cx="512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0426" name="Rectangle 15"/>
            <p:cNvSpPr>
              <a:spLocks noChangeArrowheads="1"/>
            </p:cNvSpPr>
            <p:nvPr/>
          </p:nvSpPr>
          <p:spPr bwMode="auto">
            <a:xfrm>
              <a:off x="528" y="2112"/>
              <a:ext cx="4760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</a:t>
              </a:r>
              <a:r>
                <a:rPr lang="en-US" altLang="en-US" sz="2600" b="1" dirty="0">
                  <a:solidFill>
                    <a:srgbClr val="CC00CC"/>
                  </a:solidFill>
                  <a:latin typeface="Arial" panose="020B0604020202020204" pitchFamily="34" charset="0"/>
                </a:rPr>
                <a:t> ?</a:t>
              </a:r>
              <a:r>
                <a:rPr lang="en-US" altLang="en-US" sz="2600" b="1" dirty="0">
                  <a:latin typeface="Arial" panose="020B0604020202020204" pitchFamily="34" charset="0"/>
                </a:rPr>
                <a:t> 	</a:t>
              </a:r>
              <a:r>
                <a:rPr lang="en-US" altLang="en-US" sz="2600" b="1" dirty="0">
                  <a:solidFill>
                    <a:srgbClr val="CC00CC"/>
                  </a:solidFill>
                  <a:latin typeface="Arial" panose="020B0604020202020204" pitchFamily="34" charset="0"/>
                </a:rPr>
                <a:t> ? </a:t>
              </a:r>
              <a:r>
                <a:rPr lang="en-US" altLang="en-US" sz="2600" b="1" dirty="0">
                  <a:latin typeface="Arial" panose="020B0604020202020204" pitchFamily="34" charset="0"/>
                </a:rPr>
                <a:t>	               </a:t>
              </a:r>
              <a:r>
                <a:rPr lang="en-US" altLang="en-US" sz="2600" b="1" dirty="0">
                  <a:solidFill>
                    <a:srgbClr val="CC00CC"/>
                  </a:solidFill>
                  <a:latin typeface="Arial" panose="020B0604020202020204" pitchFamily="34" charset="0"/>
                </a:rPr>
                <a:t>?</a:t>
              </a:r>
              <a:r>
                <a:rPr lang="en-US" altLang="en-US" sz="2600" b="1" dirty="0">
                  <a:latin typeface="Arial" panose="020B0604020202020204" pitchFamily="34" charset="0"/>
                </a:rPr>
                <a:t>           </a:t>
              </a:r>
              <a:r>
                <a:rPr lang="en-US" altLang="en-US" sz="2600" b="1" dirty="0">
                  <a:solidFill>
                    <a:srgbClr val="CC00CC"/>
                  </a:solidFill>
                  <a:latin typeface="Arial" panose="020B0604020202020204" pitchFamily="34" charset="0"/>
                </a:rPr>
                <a:t>?</a:t>
              </a:r>
              <a:endParaRPr lang="en-US" altLang="en-US" sz="2600" b="1" dirty="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N	I/YR	   PV	     PMT	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	            </a:t>
              </a:r>
              <a:r>
                <a:rPr lang="en-US" altLang="en-US" sz="2600" b="1" dirty="0">
                  <a:highlight>
                    <a:srgbClr val="FAFD00"/>
                  </a:highlight>
                  <a:latin typeface="Arial" panose="020B0604020202020204" pitchFamily="34" charset="0"/>
                </a:rPr>
                <a:t>???</a:t>
              </a:r>
              <a:r>
                <a:rPr lang="en-US" altLang="en-US" sz="2600" b="1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60427" name="AutoShape 20"/>
            <p:cNvSpPr>
              <a:spLocks noChangeArrowheads="1"/>
            </p:cNvSpPr>
            <p:nvPr/>
          </p:nvSpPr>
          <p:spPr bwMode="auto">
            <a:xfrm>
              <a:off x="567" y="2296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60428" name="AutoShape 21"/>
            <p:cNvSpPr>
              <a:spLocks noChangeArrowheads="1"/>
            </p:cNvSpPr>
            <p:nvPr/>
          </p:nvSpPr>
          <p:spPr bwMode="auto">
            <a:xfrm>
              <a:off x="561" y="2847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60420" name="Rectangle 2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Value of 10-year, 10% coupon, semiannual bond if </a:t>
            </a:r>
            <a:r>
              <a:rPr lang="en-US" altLang="en-US" sz="4000" dirty="0" err="1"/>
              <a:t>mrkt</a:t>
            </a:r>
            <a:r>
              <a:rPr lang="en-US" altLang="en-US" sz="4000" dirty="0"/>
              <a:t> </a:t>
            </a:r>
            <a:r>
              <a:rPr lang="en-US" altLang="en-US" sz="4000" dirty="0" err="1"/>
              <a:t>i</a:t>
            </a:r>
            <a:r>
              <a:rPr lang="en-US" altLang="en-US" sz="4000" dirty="0"/>
              <a:t>% = 13%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Spreadsheet Functions for Bond Valuation	(w/ actual dates &amp; day-counts)</a:t>
            </a:r>
          </a:p>
        </p:txBody>
      </p:sp>
      <p:sp>
        <p:nvSpPr>
          <p:cNvPr id="61444" name="Rectangle 6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286750" cy="4652964"/>
          </a:xfrm>
        </p:spPr>
        <p:txBody>
          <a:bodyPr lIns="90488" tIns="44450" rIns="90488" bIns="44450"/>
          <a:lstStyle/>
          <a:p>
            <a:pPr lvl="8"/>
            <a:r>
              <a:rPr lang="en-US" altLang="en-US" sz="3200" u="sng" dirty="0"/>
              <a:t>PRICE   &gt;                            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u="sng" dirty="0"/>
              <a:t>YIELD</a:t>
            </a:r>
          </a:p>
          <a:p>
            <a:pPr lvl="1" eaLnBrk="1" hangingPunct="1"/>
            <a:endParaRPr lang="en-US" altLang="en-US" dirty="0"/>
          </a:p>
        </p:txBody>
      </p:sp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62B30A-CB21-4969-AD87-C046A6327CB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8E87AA-44AC-9F6F-F396-060803F19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397217"/>
            <a:ext cx="4017506" cy="29461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2A77F0-F9FF-E2B2-A192-B65183137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22" y="3787852"/>
            <a:ext cx="4153278" cy="247880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103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800" dirty="0"/>
              <a:t>Call Provision</a:t>
            </a:r>
          </a:p>
        </p:txBody>
      </p:sp>
      <p:sp>
        <p:nvSpPr>
          <p:cNvPr id="52228" name="Rectangle 1034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915400" cy="47244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dirty="0"/>
              <a:t>Issuer can refi if rates drop.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T/4, on callable bonds: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   </a:t>
            </a:r>
          </a:p>
          <a:p>
            <a:pPr eaLnBrk="1" hangingPunct="1"/>
            <a:r>
              <a:rPr lang="en-US" altLang="en-US" sz="3100" dirty="0"/>
              <a:t>Most bonds have deferred call &amp; declining call premium</a:t>
            </a:r>
          </a:p>
          <a:p>
            <a:pPr eaLnBrk="1" hangingPunct="1"/>
            <a:r>
              <a:rPr lang="en-US" altLang="en-US" dirty="0"/>
              <a:t>Yield to call: </a:t>
            </a:r>
          </a:p>
          <a:p>
            <a:pPr lvl="1"/>
            <a:r>
              <a:rPr lang="en-US" altLang="en-US" dirty="0"/>
              <a:t>  </a:t>
            </a:r>
          </a:p>
        </p:txBody>
      </p:sp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897723-8FD7-4AA8-8CDF-21801E23FE1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041E8C-B70C-48FC-9F18-89E1AC9BA0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400"/>
          </a:p>
        </p:txBody>
      </p:sp>
      <p:sp>
        <p:nvSpPr>
          <p:cNvPr id="634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Callable Bonds &amp; Yield to Call YTC)</a:t>
            </a:r>
          </a:p>
        </p:txBody>
      </p:sp>
      <p:sp>
        <p:nvSpPr>
          <p:cNvPr id="6349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134350" cy="4576764"/>
          </a:xfrm>
        </p:spPr>
        <p:txBody>
          <a:bodyPr/>
          <a:lstStyle/>
          <a:p>
            <a:pPr eaLnBrk="1" hangingPunct="1"/>
            <a:r>
              <a:rPr lang="en-US" altLang="en-US" dirty="0"/>
              <a:t>A 10-year, 10% semiannual coupon bond is selling for $1,135.90 with an 8% YTM.</a:t>
            </a:r>
          </a:p>
          <a:p>
            <a:pPr lvl="1"/>
            <a:r>
              <a:rPr lang="en-US" altLang="en-US" dirty="0"/>
              <a:t>Can be called after 5 yrs. with a 5% call premium.</a:t>
            </a:r>
          </a:p>
          <a:p>
            <a:pPr lvl="1"/>
            <a:r>
              <a:rPr lang="en-US" altLang="en-US" dirty="0"/>
              <a:t>What’s the YTC?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A10B30-C3F6-4B47-829A-B66E41FB0C5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400"/>
          </a:p>
        </p:txBody>
      </p:sp>
      <p:grpSp>
        <p:nvGrpSpPr>
          <p:cNvPr id="64515" name="Group 17"/>
          <p:cNvGrpSpPr>
            <a:grpSpLocks/>
          </p:cNvGrpSpPr>
          <p:nvPr/>
        </p:nvGrpSpPr>
        <p:grpSpPr bwMode="auto">
          <a:xfrm>
            <a:off x="1219200" y="3213100"/>
            <a:ext cx="7556500" cy="1441450"/>
            <a:chOff x="768" y="2024"/>
            <a:chExt cx="4760" cy="908"/>
          </a:xfrm>
        </p:grpSpPr>
        <p:sp>
          <p:nvSpPr>
            <p:cNvPr id="64517" name="AutoShape 4"/>
            <p:cNvSpPr>
              <a:spLocks noChangeArrowheads="1"/>
            </p:cNvSpPr>
            <p:nvPr/>
          </p:nvSpPr>
          <p:spPr bwMode="auto">
            <a:xfrm>
              <a:off x="1872" y="2371"/>
              <a:ext cx="324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4518" name="AutoShape 5"/>
            <p:cNvSpPr>
              <a:spLocks noChangeArrowheads="1"/>
            </p:cNvSpPr>
            <p:nvPr/>
          </p:nvSpPr>
          <p:spPr bwMode="auto">
            <a:xfrm>
              <a:off x="2363" y="2371"/>
              <a:ext cx="553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4519" name="AutoShape 6"/>
            <p:cNvSpPr>
              <a:spLocks noChangeArrowheads="1"/>
            </p:cNvSpPr>
            <p:nvPr/>
          </p:nvSpPr>
          <p:spPr bwMode="auto">
            <a:xfrm>
              <a:off x="3172" y="2371"/>
              <a:ext cx="368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4520" name="AutoShape 7"/>
            <p:cNvSpPr>
              <a:spLocks noChangeArrowheads="1"/>
            </p:cNvSpPr>
            <p:nvPr/>
          </p:nvSpPr>
          <p:spPr bwMode="auto">
            <a:xfrm>
              <a:off x="3796" y="2371"/>
              <a:ext cx="560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4521" name="AutoShape 8"/>
            <p:cNvSpPr>
              <a:spLocks noChangeArrowheads="1"/>
            </p:cNvSpPr>
            <p:nvPr/>
          </p:nvSpPr>
          <p:spPr bwMode="auto">
            <a:xfrm>
              <a:off x="4564" y="2371"/>
              <a:ext cx="416" cy="260"/>
            </a:xfrm>
            <a:prstGeom prst="roundRect">
              <a:avLst>
                <a:gd name="adj" fmla="val 1249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4522" name="Rectangle 9"/>
            <p:cNvSpPr>
              <a:spLocks noChangeArrowheads="1"/>
            </p:cNvSpPr>
            <p:nvPr/>
          </p:nvSpPr>
          <p:spPr bwMode="auto">
            <a:xfrm>
              <a:off x="768" y="2112"/>
              <a:ext cx="4760" cy="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 </a:t>
              </a:r>
              <a:r>
                <a:rPr lang="en-US" altLang="en-US" sz="2600" b="1" dirty="0">
                  <a:solidFill>
                    <a:srgbClr val="CC00CC"/>
                  </a:solidFill>
                  <a:latin typeface="Arial" panose="020B0604020202020204" pitchFamily="34" charset="0"/>
                </a:rPr>
                <a:t>?                     ?         ?           ?</a:t>
              </a:r>
              <a:endParaRPr lang="en-US" altLang="en-US" sz="2600" b="1" dirty="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         N      I/YR	 PV	  PMT      FV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 dirty="0">
                  <a:latin typeface="Arial" panose="020B0604020202020204" pitchFamily="34" charset="0"/>
                </a:rPr>
                <a:t>		       </a:t>
              </a:r>
              <a:r>
                <a:rPr lang="en-US" altLang="en-US" sz="2600" b="1" dirty="0">
                  <a:highlight>
                    <a:srgbClr val="FAFD00"/>
                  </a:highlight>
                  <a:latin typeface="Arial" panose="020B0604020202020204" pitchFamily="34" charset="0"/>
                </a:rPr>
                <a:t>???</a:t>
              </a:r>
              <a:r>
                <a:rPr lang="en-US" altLang="en-US" sz="2600" b="1" dirty="0">
                  <a:latin typeface="Arial" panose="020B0604020202020204" pitchFamily="34" charset="0"/>
                </a:rPr>
                <a:t>	</a:t>
              </a:r>
            </a:p>
          </p:txBody>
        </p:sp>
        <p:sp>
          <p:nvSpPr>
            <p:cNvPr id="64523" name="AutoShape 10"/>
            <p:cNvSpPr>
              <a:spLocks noChangeArrowheads="1"/>
            </p:cNvSpPr>
            <p:nvPr/>
          </p:nvSpPr>
          <p:spPr bwMode="auto">
            <a:xfrm>
              <a:off x="855" y="2024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INPUTS</a:t>
              </a:r>
            </a:p>
          </p:txBody>
        </p:sp>
        <p:sp>
          <p:nvSpPr>
            <p:cNvPr id="64524" name="AutoShape 11"/>
            <p:cNvSpPr>
              <a:spLocks noChangeArrowheads="1"/>
            </p:cNvSpPr>
            <p:nvPr/>
          </p:nvSpPr>
          <p:spPr bwMode="auto">
            <a:xfrm>
              <a:off x="849" y="2575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64516" name="Rectangle 16"/>
          <p:cNvSpPr>
            <a:spLocks noGrp="1" noChangeArrowheads="1"/>
          </p:cNvSpPr>
          <p:nvPr>
            <p:ph type="title"/>
          </p:nvPr>
        </p:nvSpPr>
        <p:spPr>
          <a:xfrm>
            <a:off x="609601" y="0"/>
            <a:ext cx="8534400" cy="1462088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Nominal Yield to Call (YTC)</a:t>
            </a:r>
            <a:br>
              <a:rPr lang="en-US" altLang="en-US" dirty="0"/>
            </a:br>
            <a:r>
              <a:rPr lang="en-US" altLang="en-US" b="0" dirty="0"/>
              <a:t>(solve for </a:t>
            </a:r>
            <a:r>
              <a:rPr lang="en-US" altLang="en-US" b="0" dirty="0" err="1"/>
              <a:t>i</a:t>
            </a:r>
            <a:r>
              <a:rPr lang="en-US" altLang="en-US" b="0" dirty="0"/>
              <a:t>%)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2BB52B-20CF-4AF1-AA5D-71DE9F67E5F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400"/>
          </a:p>
        </p:txBody>
      </p:sp>
      <p:sp>
        <p:nvSpPr>
          <p:cNvPr id="65539" name="Rectangle 1036"/>
          <p:cNvSpPr>
            <a:spLocks noGrp="1" noChangeArrowheads="1"/>
          </p:cNvSpPr>
          <p:nvPr>
            <p:ph type="title"/>
          </p:nvPr>
        </p:nvSpPr>
        <p:spPr>
          <a:xfrm>
            <a:off x="533400" y="365127"/>
            <a:ext cx="8229600" cy="103209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/>
              <a:t>If bought bonds, </a:t>
            </a:r>
            <a:br>
              <a:rPr lang="en-US" altLang="en-US" sz="4000" dirty="0"/>
            </a:br>
            <a:r>
              <a:rPr lang="en-US" altLang="en-US" sz="4000" dirty="0"/>
              <a:t>more likely to earn YTM or YTC?</a:t>
            </a:r>
          </a:p>
        </p:txBody>
      </p:sp>
      <p:sp>
        <p:nvSpPr>
          <p:cNvPr id="55300" name="Rectangle 1037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839200" cy="46529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Coupon rate = 10% vs. YTC 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dirty="0"/>
              <a:t> = 7.53%.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Could raise $$ by selling new bonds which pay 7.53%.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Could thus replace bonds which pay $100/</a:t>
            </a:r>
            <a:r>
              <a:rPr lang="en-US" altLang="en-US" dirty="0" err="1"/>
              <a:t>yr</a:t>
            </a:r>
            <a:r>
              <a:rPr lang="en-US" altLang="en-US" dirty="0"/>
              <a:t> with bonds paying only $75.30/year.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Investors should expect a call,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hence would earn YTC = 7.53%, not YTM = 8%.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758C29-D276-45CC-AFC5-EB59215F17D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400"/>
          </a:p>
        </p:txBody>
      </p:sp>
      <p:sp>
        <p:nvSpPr>
          <p:cNvPr id="6656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Investor returns on callable bonds</a:t>
            </a:r>
          </a:p>
        </p:txBody>
      </p:sp>
      <p:sp>
        <p:nvSpPr>
          <p:cNvPr id="56324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If bond sells </a:t>
            </a:r>
            <a:r>
              <a:rPr lang="en-US" altLang="en-US" sz="2400" dirty="0"/>
              <a:t>@</a:t>
            </a:r>
            <a:r>
              <a:rPr lang="en-US" altLang="en-US" dirty="0"/>
              <a:t> premium, then:</a:t>
            </a:r>
          </a:p>
          <a:p>
            <a:pPr lvl="1"/>
            <a:r>
              <a:rPr lang="en-US" altLang="en-US" dirty="0"/>
              <a:t>coupon &gt; market rate,</a:t>
            </a:r>
          </a:p>
          <a:p>
            <a:pPr lvl="1"/>
            <a:r>
              <a:rPr lang="en-US" altLang="en-US" dirty="0"/>
              <a:t> so a call is likely.</a:t>
            </a:r>
          </a:p>
          <a:p>
            <a:pPr eaLnBrk="1" hangingPunct="1"/>
            <a:r>
              <a:rPr lang="en-US" altLang="en-US" dirty="0"/>
              <a:t>So, investors expect to earn:</a:t>
            </a:r>
          </a:p>
          <a:p>
            <a:pPr lvl="1" eaLnBrk="1" hangingPunct="1"/>
            <a:r>
              <a:rPr lang="en-US" altLang="en-US" dirty="0"/>
              <a:t>YTC on premium bonds.</a:t>
            </a:r>
          </a:p>
          <a:p>
            <a:pPr lvl="1" eaLnBrk="1" hangingPunct="1"/>
            <a:r>
              <a:rPr lang="en-US" altLang="en-US" dirty="0"/>
              <a:t>YTM on par &amp; discount bonds.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485AB6-D6D3-46AC-8375-7FF964541E4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400"/>
          </a:p>
        </p:txBody>
      </p:sp>
      <p:sp>
        <p:nvSpPr>
          <p:cNvPr id="67587" name="Rectangle 103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/>
              <a:t>What’s sinking fund?</a:t>
            </a:r>
          </a:p>
        </p:txBody>
      </p:sp>
      <p:sp>
        <p:nvSpPr>
          <p:cNvPr id="57348" name="Rectangle 1035"/>
          <p:cNvSpPr>
            <a:spLocks noGrp="1" noChangeArrowheads="1"/>
          </p:cNvSpPr>
          <p:nvPr>
            <p:ph type="body" idx="1"/>
          </p:nvPr>
        </p:nvSpPr>
        <p:spPr>
          <a:xfrm>
            <a:off x="76200" y="1447800"/>
            <a:ext cx="8915400" cy="4729164"/>
          </a:xfrm>
        </p:spPr>
        <p:txBody>
          <a:bodyPr/>
          <a:lstStyle/>
          <a:p>
            <a:pPr eaLnBrk="1" hangingPunct="1"/>
            <a:r>
              <a:rPr lang="en-US" altLang="en-US" dirty="0"/>
              <a:t>Provision to pay off loan over its life rather than all </a:t>
            </a:r>
            <a:r>
              <a:rPr lang="en-US" altLang="en-US" sz="2400" dirty="0"/>
              <a:t>@</a:t>
            </a:r>
            <a:r>
              <a:rPr lang="en-US" altLang="en-US" dirty="0"/>
              <a:t> maturity.</a:t>
            </a:r>
          </a:p>
          <a:p>
            <a:pPr eaLnBrk="1" hangingPunct="1"/>
            <a:r>
              <a:rPr lang="en-US" altLang="en-US" dirty="0"/>
              <a:t>Similar to amortization on a term loan.</a:t>
            </a:r>
          </a:p>
          <a:p>
            <a:pPr eaLnBrk="1" hangingPunct="1"/>
            <a:r>
              <a:rPr lang="en-US" altLang="en-US" dirty="0"/>
              <a:t>Reduces investor risk as shortens </a:t>
            </a:r>
            <a:r>
              <a:rPr lang="en-US" altLang="en-US" dirty="0" err="1"/>
              <a:t>ave</a:t>
            </a:r>
            <a:r>
              <a:rPr lang="en-US" altLang="en-US" dirty="0"/>
              <a:t> maturity.</a:t>
            </a:r>
          </a:p>
          <a:p>
            <a:pPr eaLnBrk="1" hangingPunct="1"/>
            <a:r>
              <a:rPr lang="en-US" altLang="en-US" sz="3100" dirty="0"/>
              <a:t>But not good for investor if rates drop after issuance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E77E39-A931-4632-8DF8-D0AF6CCBF1E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400"/>
          </a:p>
        </p:txBody>
      </p:sp>
      <p:sp>
        <p:nvSpPr>
          <p:cNvPr id="68611" name="Rectangle 2057"/>
          <p:cNvSpPr>
            <a:spLocks noGrp="1" noChangeArrowheads="1"/>
          </p:cNvSpPr>
          <p:nvPr>
            <p:ph type="title"/>
          </p:nvPr>
        </p:nvSpPr>
        <p:spPr>
          <a:xfrm>
            <a:off x="304800" y="365127"/>
            <a:ext cx="8610600" cy="103209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Sinking funds generally handled 2 ways</a:t>
            </a:r>
          </a:p>
        </p:txBody>
      </p:sp>
      <p:sp>
        <p:nvSpPr>
          <p:cNvPr id="58372" name="Rectangle 2058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6"/>
            <a:ext cx="8763000" cy="4500558"/>
          </a:xfrm>
        </p:spPr>
        <p:txBody>
          <a:bodyPr>
            <a:normAutofit/>
          </a:bodyPr>
          <a:lstStyle/>
          <a:p>
            <a:r>
              <a:rPr lang="en-US" altLang="en-US" dirty="0"/>
              <a:t>Call x% </a:t>
            </a:r>
            <a:r>
              <a:rPr lang="en-US" altLang="en-US" sz="2400" dirty="0"/>
              <a:t>@</a:t>
            </a:r>
            <a:r>
              <a:rPr lang="en-US" altLang="en-US" dirty="0"/>
              <a:t> par per </a:t>
            </a:r>
            <a:r>
              <a:rPr lang="en-US" altLang="en-US" dirty="0" err="1"/>
              <a:t>yr</a:t>
            </a:r>
            <a:r>
              <a:rPr lang="en-US" altLang="en-US" dirty="0"/>
              <a:t> for sinking fund purposes.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Buy bonds on open market: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  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233487"/>
          </a:xfrm>
        </p:spPr>
        <p:txBody>
          <a:bodyPr/>
          <a:lstStyle/>
          <a:p>
            <a:pPr algn="ctr"/>
            <a:r>
              <a:rPr lang="en-US" dirty="0"/>
              <a:t>Sinking Fund Redemption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895669"/>
            <a:ext cx="3962399" cy="480516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7A78D-C5BF-44BC-8D58-4621223D88EF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58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9449C5-C07A-4537-A960-37BD036DFA6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400"/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533400" y="381000"/>
            <a:ext cx="7924800" cy="60960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484534" name="Group 18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165679177"/>
              </p:ext>
            </p:extLst>
          </p:nvPr>
        </p:nvGraphicFramePr>
        <p:xfrm>
          <a:off x="609600" y="228600"/>
          <a:ext cx="8001000" cy="5959472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Bond Ratings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% defaulting within: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S&amp;P &amp; Fitch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Moody’s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1 yr.  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5 yrs.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91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Investment grade bonds: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AAA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Aaa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AA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Aa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0.1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0.1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0.6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BBB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Baa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2.9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Junk bonds: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BB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Ba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1.4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8.2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8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1.8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9.2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8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CCC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Caa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22.3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36.9</a:t>
                      </a:r>
                    </a:p>
                  </a:txBody>
                  <a:tcPr marT="45722" marB="4572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9681" name="Text Box 161"/>
          <p:cNvSpPr txBox="1">
            <a:spLocks noChangeArrowheads="1"/>
          </p:cNvSpPr>
          <p:nvPr/>
        </p:nvSpPr>
        <p:spPr bwMode="auto">
          <a:xfrm>
            <a:off x="685800" y="63246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Source: Fitch Ratings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1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Bond Ratings &amp; Bond Spreads</a:t>
            </a:r>
            <a:endParaRPr lang="en-US" altLang="en-US" sz="2400" dirty="0"/>
          </a:p>
        </p:txBody>
      </p:sp>
      <p:graphicFrame>
        <p:nvGraphicFramePr>
          <p:cNvPr id="416959" name="Group 19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064600"/>
              </p:ext>
            </p:extLst>
          </p:nvPr>
        </p:nvGraphicFramePr>
        <p:xfrm>
          <a:off x="628650" y="1676400"/>
          <a:ext cx="7886699" cy="4602210"/>
        </p:xfrm>
        <a:graphic>
          <a:graphicData uri="http://schemas.openxmlformats.org/drawingml/2006/table">
            <a:tbl>
              <a:tblPr/>
              <a:tblGrid>
                <a:gridCol w="3450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6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Long-term Bonds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Yield (%)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Spread (%)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10-Year T-bond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2.68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AAA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5.50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2.82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AA 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5.62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2.94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A 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5.79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3.11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BBB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7.53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4.85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BB 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11.62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8.94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B 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13.70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11.02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25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CCC</a:t>
                      </a:r>
                      <a:endParaRPr kumimoji="0" 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5" marB="4570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26.30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274638" algn="dec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23.62</a:t>
                      </a:r>
                    </a:p>
                  </a:txBody>
                  <a:tcPr marT="45705" marB="4570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5939BA-6B8D-40A6-A0C1-7DC5F760FE5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8"/>
          <p:cNvSpPr>
            <a:spLocks noGrp="1" noChangeArrowheads="1"/>
          </p:cNvSpPr>
          <p:nvPr>
            <p:ph type="title"/>
          </p:nvPr>
        </p:nvSpPr>
        <p:spPr>
          <a:xfrm>
            <a:off x="304800" y="365127"/>
            <a:ext cx="8610600" cy="103209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Factors affecting default risk &amp; bond ratings (1)	</a:t>
            </a:r>
          </a:p>
        </p:txBody>
      </p:sp>
      <p:sp>
        <p:nvSpPr>
          <p:cNvPr id="61444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Financial ratios</a:t>
            </a:r>
          </a:p>
          <a:p>
            <a:pPr lvl="1" eaLnBrk="1" hangingPunct="1"/>
            <a:r>
              <a:rPr lang="en-US" altLang="en-US" dirty="0"/>
              <a:t>  </a:t>
            </a:r>
          </a:p>
          <a:p>
            <a:pPr lvl="1" eaLnBrk="1" hangingPunct="1"/>
            <a:r>
              <a:rPr lang="en-US" altLang="en-US" dirty="0"/>
              <a:t>  </a:t>
            </a:r>
          </a:p>
          <a:p>
            <a:pPr lvl="2"/>
            <a:r>
              <a:rPr lang="en-US" altLang="en-US" dirty="0"/>
              <a:t>   </a:t>
            </a:r>
            <a:endParaRPr lang="en-US" altLang="en-US" sz="2400" dirty="0"/>
          </a:p>
          <a:p>
            <a:pPr lvl="1" eaLnBrk="1" hangingPunct="1"/>
            <a:r>
              <a:rPr lang="en-US" altLang="en-US" dirty="0"/>
              <a:t>  </a:t>
            </a:r>
          </a:p>
          <a:p>
            <a:pPr lvl="1" eaLnBrk="1" hangingPunct="1"/>
            <a:r>
              <a:rPr lang="en-US" altLang="en-US" dirty="0"/>
              <a:t>  </a:t>
            </a:r>
          </a:p>
        </p:txBody>
      </p:sp>
      <p:sp>
        <p:nvSpPr>
          <p:cNvPr id="71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DD012C-4A99-4C07-9198-266DECF0BEA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400"/>
          </a:p>
        </p:txBody>
      </p:sp>
      <p:sp>
        <p:nvSpPr>
          <p:cNvPr id="71685" name="Rectangle 7"/>
          <p:cNvSpPr>
            <a:spLocks noChangeArrowheads="1"/>
          </p:cNvSpPr>
          <p:nvPr/>
        </p:nvSpPr>
        <p:spPr bwMode="auto">
          <a:xfrm>
            <a:off x="7391400" y="5851525"/>
            <a:ext cx="1212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Bond Ratings Median Ratios </a:t>
            </a:r>
            <a:r>
              <a:rPr lang="en-US" altLang="en-US" sz="2400"/>
              <a:t>(S&amp;P)</a:t>
            </a:r>
          </a:p>
        </p:txBody>
      </p:sp>
      <p:graphicFrame>
        <p:nvGraphicFramePr>
          <p:cNvPr id="497857" name="Group 19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539323"/>
              </p:ext>
            </p:extLst>
          </p:nvPr>
        </p:nvGraphicFramePr>
        <p:xfrm>
          <a:off x="628650" y="1676400"/>
          <a:ext cx="7886699" cy="4572000"/>
        </p:xfrm>
        <a:graphic>
          <a:graphicData uri="http://schemas.openxmlformats.org/drawingml/2006/table">
            <a:tbl>
              <a:tblPr/>
              <a:tblGrid>
                <a:gridCol w="1575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1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Interest coverage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Return on capital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Debt to capital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AAA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23.8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27.6%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12.4%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19.5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27.0%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28.3%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17.5%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37.5%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BBB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4.7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13.4%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42.5%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11.3%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53.7%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8.7%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75.9%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CCC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3.2%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113.5%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7DB47C-A7CE-4283-BCE9-C097F496F2E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36EA93-236C-4528-B432-FBC9D05A014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400"/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Other Factors Affecting Bond Ratings (2)</a:t>
            </a:r>
          </a:p>
        </p:txBody>
      </p:sp>
      <p:sp>
        <p:nvSpPr>
          <p:cNvPr id="6349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8600" y="1397217"/>
            <a:ext cx="8286750" cy="4779747"/>
          </a:xfrm>
        </p:spPr>
        <p:txBody>
          <a:bodyPr/>
          <a:lstStyle/>
          <a:p>
            <a:pPr eaLnBrk="1" hangingPunct="1"/>
            <a:r>
              <a:rPr lang="en-US" altLang="en-US" dirty="0"/>
              <a:t>Provisions in  bond contract</a:t>
            </a:r>
          </a:p>
          <a:p>
            <a:pPr lvl="1" eaLnBrk="1" hangingPunct="1"/>
            <a:r>
              <a:rPr lang="en-US" altLang="en-US" dirty="0"/>
              <a:t>  </a:t>
            </a:r>
          </a:p>
          <a:p>
            <a:pPr lvl="1" eaLnBrk="1" hangingPunct="1"/>
            <a:r>
              <a:rPr lang="en-US" altLang="en-US" dirty="0"/>
              <a:t>  </a:t>
            </a:r>
          </a:p>
          <a:p>
            <a:pPr lvl="1" eaLnBrk="1" hangingPunct="1"/>
            <a:r>
              <a:rPr lang="en-US" altLang="en-US" dirty="0"/>
              <a:t>  </a:t>
            </a:r>
          </a:p>
          <a:p>
            <a:pPr lvl="1" eaLnBrk="1" hangingPunct="1"/>
            <a:r>
              <a:rPr lang="en-US" altLang="en-US" dirty="0"/>
              <a:t>  </a:t>
            </a:r>
          </a:p>
          <a:p>
            <a:pPr lvl="1" eaLnBrk="1" hangingPunct="1"/>
            <a:r>
              <a:rPr lang="en-US" altLang="en-US" dirty="0"/>
              <a:t>  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7391400" y="5851525"/>
            <a:ext cx="1212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AAF3EC-8E8D-4515-BF25-ECE29859564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en-US" sz="1400"/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Other Factors Affecting Bond Ratings (3)</a:t>
            </a:r>
          </a:p>
        </p:txBody>
      </p:sp>
      <p:sp>
        <p:nvSpPr>
          <p:cNvPr id="6451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286750" cy="4652964"/>
          </a:xfrm>
        </p:spPr>
        <p:txBody>
          <a:bodyPr/>
          <a:lstStyle/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CD4E25-903E-4D6C-8145-BD27DE1885E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40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65127"/>
            <a:ext cx="8134350" cy="103209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dirty="0"/>
              <a:t>Interest rate (or price) risk</a:t>
            </a:r>
            <a:br>
              <a:rPr lang="en-US" altLang="en-US" sz="4000" dirty="0"/>
            </a:br>
            <a:r>
              <a:rPr lang="en-US" altLang="en-US" sz="4000" dirty="0"/>
              <a:t> for 1-year &amp; 10-year 10% bonds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095375" y="3722688"/>
            <a:ext cx="80645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i %</a:t>
            </a:r>
            <a:endParaRPr lang="en-US" altLang="en-US" baseline="-25000"/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2185988" y="3744913"/>
            <a:ext cx="13271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1-year</a:t>
            </a: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3756025" y="3722688"/>
            <a:ext cx="153193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Change</a:t>
            </a: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5614988" y="3668713"/>
            <a:ext cx="15494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10-year</a:t>
            </a:r>
          </a:p>
        </p:txBody>
      </p: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7072313" y="3722688"/>
            <a:ext cx="153193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Change</a:t>
            </a:r>
          </a:p>
        </p:txBody>
      </p:sp>
      <p:sp>
        <p:nvSpPr>
          <p:cNvPr id="75785" name="Rectangle 9"/>
          <p:cNvSpPr>
            <a:spLocks noChangeArrowheads="1"/>
          </p:cNvSpPr>
          <p:nvPr/>
        </p:nvSpPr>
        <p:spPr bwMode="auto">
          <a:xfrm>
            <a:off x="1082675" y="4395788"/>
            <a:ext cx="8001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5%</a:t>
            </a:r>
          </a:p>
        </p:txBody>
      </p:sp>
      <p:sp>
        <p:nvSpPr>
          <p:cNvPr id="75786" name="Rectangle 10"/>
          <p:cNvSpPr>
            <a:spLocks noChangeArrowheads="1"/>
          </p:cNvSpPr>
          <p:nvPr/>
        </p:nvSpPr>
        <p:spPr bwMode="auto">
          <a:xfrm>
            <a:off x="2100263" y="4395788"/>
            <a:ext cx="14160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$1,048</a:t>
            </a:r>
          </a:p>
        </p:txBody>
      </p:sp>
      <p:sp>
        <p:nvSpPr>
          <p:cNvPr id="75787" name="Rectangle 11"/>
          <p:cNvSpPr>
            <a:spLocks noChangeArrowheads="1"/>
          </p:cNvSpPr>
          <p:nvPr/>
        </p:nvSpPr>
        <p:spPr bwMode="auto">
          <a:xfrm>
            <a:off x="5621338" y="4395788"/>
            <a:ext cx="14160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$1,386</a:t>
            </a:r>
          </a:p>
        </p:txBody>
      </p:sp>
      <p:sp>
        <p:nvSpPr>
          <p:cNvPr id="75788" name="Rectangle 12"/>
          <p:cNvSpPr>
            <a:spLocks noChangeArrowheads="1"/>
          </p:cNvSpPr>
          <p:nvPr/>
        </p:nvSpPr>
        <p:spPr bwMode="auto">
          <a:xfrm>
            <a:off x="857250" y="5070475"/>
            <a:ext cx="10223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10%</a:t>
            </a:r>
          </a:p>
        </p:txBody>
      </p:sp>
      <p:sp>
        <p:nvSpPr>
          <p:cNvPr id="75789" name="Rectangle 13"/>
          <p:cNvSpPr>
            <a:spLocks noChangeArrowheads="1"/>
          </p:cNvSpPr>
          <p:nvPr/>
        </p:nvSpPr>
        <p:spPr bwMode="auto">
          <a:xfrm>
            <a:off x="2325688" y="5070475"/>
            <a:ext cx="1193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1,000</a:t>
            </a:r>
          </a:p>
        </p:txBody>
      </p:sp>
      <p:sp>
        <p:nvSpPr>
          <p:cNvPr id="75790" name="Rectangle 14"/>
          <p:cNvSpPr>
            <a:spLocks noChangeArrowheads="1"/>
          </p:cNvSpPr>
          <p:nvPr/>
        </p:nvSpPr>
        <p:spPr bwMode="auto">
          <a:xfrm>
            <a:off x="4037013" y="4724400"/>
            <a:ext cx="11461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4.8%</a:t>
            </a:r>
          </a:p>
        </p:txBody>
      </p:sp>
      <p:sp>
        <p:nvSpPr>
          <p:cNvPr id="75791" name="Rectangle 15"/>
          <p:cNvSpPr>
            <a:spLocks noChangeArrowheads="1"/>
          </p:cNvSpPr>
          <p:nvPr/>
        </p:nvSpPr>
        <p:spPr bwMode="auto">
          <a:xfrm>
            <a:off x="5846763" y="5070475"/>
            <a:ext cx="1193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1,000</a:t>
            </a:r>
          </a:p>
        </p:txBody>
      </p:sp>
      <p:sp>
        <p:nvSpPr>
          <p:cNvPr id="75792" name="Rectangle 16"/>
          <p:cNvSpPr>
            <a:spLocks noChangeArrowheads="1"/>
          </p:cNvSpPr>
          <p:nvPr/>
        </p:nvSpPr>
        <p:spPr bwMode="auto">
          <a:xfrm>
            <a:off x="7410450" y="4648200"/>
            <a:ext cx="13684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38.6%</a:t>
            </a:r>
          </a:p>
        </p:txBody>
      </p:sp>
      <p:sp>
        <p:nvSpPr>
          <p:cNvPr id="75793" name="Rectangle 17"/>
          <p:cNvSpPr>
            <a:spLocks noChangeArrowheads="1"/>
          </p:cNvSpPr>
          <p:nvPr/>
        </p:nvSpPr>
        <p:spPr bwMode="auto">
          <a:xfrm>
            <a:off x="857250" y="5745163"/>
            <a:ext cx="10223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15%</a:t>
            </a:r>
          </a:p>
        </p:txBody>
      </p:sp>
      <p:sp>
        <p:nvSpPr>
          <p:cNvPr id="75794" name="Rectangle 18"/>
          <p:cNvSpPr>
            <a:spLocks noChangeArrowheads="1"/>
          </p:cNvSpPr>
          <p:nvPr/>
        </p:nvSpPr>
        <p:spPr bwMode="auto">
          <a:xfrm>
            <a:off x="2665413" y="5745163"/>
            <a:ext cx="8477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956</a:t>
            </a:r>
          </a:p>
        </p:txBody>
      </p:sp>
      <p:sp>
        <p:nvSpPr>
          <p:cNvPr id="75795" name="Rectangle 19"/>
          <p:cNvSpPr>
            <a:spLocks noChangeArrowheads="1"/>
          </p:cNvSpPr>
          <p:nvPr/>
        </p:nvSpPr>
        <p:spPr bwMode="auto">
          <a:xfrm>
            <a:off x="4037013" y="5486400"/>
            <a:ext cx="11461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4.4%</a:t>
            </a:r>
          </a:p>
        </p:txBody>
      </p:sp>
      <p:sp>
        <p:nvSpPr>
          <p:cNvPr id="75796" name="Rectangle 20"/>
          <p:cNvSpPr>
            <a:spLocks noChangeArrowheads="1"/>
          </p:cNvSpPr>
          <p:nvPr/>
        </p:nvSpPr>
        <p:spPr bwMode="auto">
          <a:xfrm>
            <a:off x="6186488" y="5745163"/>
            <a:ext cx="8477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749</a:t>
            </a:r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7410450" y="5410200"/>
            <a:ext cx="13684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25.1%</a:t>
            </a:r>
          </a:p>
        </p:txBody>
      </p:sp>
      <p:sp>
        <p:nvSpPr>
          <p:cNvPr id="75798" name="Rectangle 22"/>
          <p:cNvSpPr>
            <a:spLocks noChangeArrowheads="1"/>
          </p:cNvSpPr>
          <p:nvPr/>
        </p:nvSpPr>
        <p:spPr bwMode="auto">
          <a:xfrm>
            <a:off x="1295400" y="2362201"/>
            <a:ext cx="7054850" cy="1074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u="sng" dirty="0"/>
              <a:t>Interest rate risk</a:t>
            </a:r>
            <a:r>
              <a:rPr lang="en-US" altLang="en-US" dirty="0"/>
              <a:t>:  Rising </a:t>
            </a:r>
            <a:r>
              <a:rPr lang="en-US" altLang="en-US" dirty="0" err="1"/>
              <a:t>mrkt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% (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dirty="0"/>
              <a:t>) causes bond’s price to fall.</a:t>
            </a:r>
          </a:p>
        </p:txBody>
      </p:sp>
      <p:sp>
        <p:nvSpPr>
          <p:cNvPr id="75799" name="Line 31"/>
          <p:cNvSpPr>
            <a:spLocks noChangeShapeType="1"/>
          </p:cNvSpPr>
          <p:nvPr/>
        </p:nvSpPr>
        <p:spPr bwMode="auto">
          <a:xfrm>
            <a:off x="920750" y="4287838"/>
            <a:ext cx="9191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0" name="Line 32"/>
          <p:cNvSpPr>
            <a:spLocks noChangeShapeType="1"/>
          </p:cNvSpPr>
          <p:nvPr/>
        </p:nvSpPr>
        <p:spPr bwMode="auto">
          <a:xfrm>
            <a:off x="7178675" y="4287838"/>
            <a:ext cx="1516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1" name="Line 33"/>
          <p:cNvSpPr>
            <a:spLocks noChangeShapeType="1"/>
          </p:cNvSpPr>
          <p:nvPr/>
        </p:nvSpPr>
        <p:spPr bwMode="auto">
          <a:xfrm>
            <a:off x="3868738" y="4287838"/>
            <a:ext cx="1492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2" name="AutoShape 37"/>
          <p:cNvSpPr>
            <a:spLocks/>
          </p:cNvSpPr>
          <p:nvPr/>
        </p:nvSpPr>
        <p:spPr bwMode="auto">
          <a:xfrm>
            <a:off x="3581400" y="4724400"/>
            <a:ext cx="457200" cy="609600"/>
          </a:xfrm>
          <a:prstGeom prst="rightBrace">
            <a:avLst>
              <a:gd name="adj1" fmla="val 1111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803" name="AutoShape 38"/>
          <p:cNvSpPr>
            <a:spLocks/>
          </p:cNvSpPr>
          <p:nvPr/>
        </p:nvSpPr>
        <p:spPr bwMode="auto">
          <a:xfrm>
            <a:off x="3581400" y="5410200"/>
            <a:ext cx="457200" cy="609600"/>
          </a:xfrm>
          <a:prstGeom prst="rightBrace">
            <a:avLst>
              <a:gd name="adj1" fmla="val 1111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804" name="AutoShape 39"/>
          <p:cNvSpPr>
            <a:spLocks/>
          </p:cNvSpPr>
          <p:nvPr/>
        </p:nvSpPr>
        <p:spPr bwMode="auto">
          <a:xfrm>
            <a:off x="7010400" y="4648200"/>
            <a:ext cx="457200" cy="609600"/>
          </a:xfrm>
          <a:prstGeom prst="rightBrace">
            <a:avLst>
              <a:gd name="adj1" fmla="val 1111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805" name="AutoShape 40"/>
          <p:cNvSpPr>
            <a:spLocks/>
          </p:cNvSpPr>
          <p:nvPr/>
        </p:nvSpPr>
        <p:spPr bwMode="auto">
          <a:xfrm>
            <a:off x="7010400" y="5410200"/>
            <a:ext cx="457200" cy="609600"/>
          </a:xfrm>
          <a:prstGeom prst="rightBrace">
            <a:avLst>
              <a:gd name="adj1" fmla="val 1111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E9B21E-CE2F-4208-9286-66B4D1AA670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400"/>
          </a:p>
        </p:txBody>
      </p:sp>
      <p:grpSp>
        <p:nvGrpSpPr>
          <p:cNvPr id="76803" name="Group 2"/>
          <p:cNvGrpSpPr>
            <a:grpSpLocks/>
          </p:cNvGrpSpPr>
          <p:nvPr/>
        </p:nvGrpSpPr>
        <p:grpSpPr bwMode="auto">
          <a:xfrm>
            <a:off x="1352550" y="2438400"/>
            <a:ext cx="6800850" cy="4225925"/>
            <a:chOff x="852" y="1536"/>
            <a:chExt cx="4284" cy="2662"/>
          </a:xfrm>
        </p:grpSpPr>
        <p:sp>
          <p:nvSpPr>
            <p:cNvPr id="76805" name="Line 3"/>
            <p:cNvSpPr>
              <a:spLocks noChangeShapeType="1"/>
            </p:cNvSpPr>
            <p:nvPr/>
          </p:nvSpPr>
          <p:spPr bwMode="auto">
            <a:xfrm>
              <a:off x="1436" y="1581"/>
              <a:ext cx="0" cy="22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06" name="Line 4"/>
            <p:cNvSpPr>
              <a:spLocks noChangeShapeType="1"/>
            </p:cNvSpPr>
            <p:nvPr/>
          </p:nvSpPr>
          <p:spPr bwMode="auto">
            <a:xfrm>
              <a:off x="1444" y="3801"/>
              <a:ext cx="4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07" name="Line 5"/>
            <p:cNvSpPr>
              <a:spLocks noChangeShapeType="1"/>
            </p:cNvSpPr>
            <p:nvPr/>
          </p:nvSpPr>
          <p:spPr bwMode="auto">
            <a:xfrm>
              <a:off x="1444" y="3056"/>
              <a:ext cx="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08" name="Line 6"/>
            <p:cNvSpPr>
              <a:spLocks noChangeShapeType="1"/>
            </p:cNvSpPr>
            <p:nvPr/>
          </p:nvSpPr>
          <p:spPr bwMode="auto">
            <a:xfrm>
              <a:off x="1444" y="2318"/>
              <a:ext cx="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09" name="Line 7"/>
            <p:cNvSpPr>
              <a:spLocks noChangeShapeType="1"/>
            </p:cNvSpPr>
            <p:nvPr/>
          </p:nvSpPr>
          <p:spPr bwMode="auto">
            <a:xfrm>
              <a:off x="1444" y="1573"/>
              <a:ext cx="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0" name="Line 8"/>
            <p:cNvSpPr>
              <a:spLocks noChangeShapeType="1"/>
            </p:cNvSpPr>
            <p:nvPr/>
          </p:nvSpPr>
          <p:spPr bwMode="auto">
            <a:xfrm>
              <a:off x="1444" y="3801"/>
              <a:ext cx="27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1" name="Line 9"/>
            <p:cNvSpPr>
              <a:spLocks noChangeShapeType="1"/>
            </p:cNvSpPr>
            <p:nvPr/>
          </p:nvSpPr>
          <p:spPr bwMode="auto">
            <a:xfrm flipV="1">
              <a:off x="1436" y="3737"/>
              <a:ext cx="0" cy="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2" name="Line 10"/>
            <p:cNvSpPr>
              <a:spLocks noChangeShapeType="1"/>
            </p:cNvSpPr>
            <p:nvPr/>
          </p:nvSpPr>
          <p:spPr bwMode="auto">
            <a:xfrm flipV="1">
              <a:off x="2354" y="3737"/>
              <a:ext cx="0" cy="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3" name="Line 11"/>
            <p:cNvSpPr>
              <a:spLocks noChangeShapeType="1"/>
            </p:cNvSpPr>
            <p:nvPr/>
          </p:nvSpPr>
          <p:spPr bwMode="auto">
            <a:xfrm flipV="1">
              <a:off x="3272" y="3737"/>
              <a:ext cx="0" cy="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4" name="Line 12"/>
            <p:cNvSpPr>
              <a:spLocks noChangeShapeType="1"/>
            </p:cNvSpPr>
            <p:nvPr/>
          </p:nvSpPr>
          <p:spPr bwMode="auto">
            <a:xfrm flipV="1">
              <a:off x="4190" y="3737"/>
              <a:ext cx="0" cy="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5" name="Freeform 13"/>
            <p:cNvSpPr>
              <a:spLocks/>
            </p:cNvSpPr>
            <p:nvPr/>
          </p:nvSpPr>
          <p:spPr bwMode="auto">
            <a:xfrm>
              <a:off x="2354" y="2248"/>
              <a:ext cx="1837" cy="134"/>
            </a:xfrm>
            <a:custGeom>
              <a:avLst/>
              <a:gdLst>
                <a:gd name="T0" fmla="*/ 0 w 1837"/>
                <a:gd name="T1" fmla="*/ 0 h 134"/>
                <a:gd name="T2" fmla="*/ 918 w 1837"/>
                <a:gd name="T3" fmla="*/ 70 h 134"/>
                <a:gd name="T4" fmla="*/ 1836 w 1837"/>
                <a:gd name="T5" fmla="*/ 133 h 134"/>
                <a:gd name="T6" fmla="*/ 0 60000 65536"/>
                <a:gd name="T7" fmla="*/ 0 60000 65536"/>
                <a:gd name="T8" fmla="*/ 0 60000 65536"/>
                <a:gd name="T9" fmla="*/ 0 w 1837"/>
                <a:gd name="T10" fmla="*/ 0 h 134"/>
                <a:gd name="T11" fmla="*/ 1837 w 1837"/>
                <a:gd name="T12" fmla="*/ 134 h 1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7" h="134">
                  <a:moveTo>
                    <a:pt x="0" y="0"/>
                  </a:moveTo>
                  <a:lnTo>
                    <a:pt x="918" y="70"/>
                  </a:lnTo>
                  <a:lnTo>
                    <a:pt x="1836" y="133"/>
                  </a:lnTo>
                </a:path>
              </a:pathLst>
            </a:custGeom>
            <a:solidFill>
              <a:schemeClr val="accent1"/>
            </a:solidFill>
            <a:ln w="381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16" name="Freeform 14"/>
            <p:cNvSpPr>
              <a:spLocks/>
            </p:cNvSpPr>
            <p:nvPr/>
          </p:nvSpPr>
          <p:spPr bwMode="auto">
            <a:xfrm>
              <a:off x="2354" y="1742"/>
              <a:ext cx="1837" cy="949"/>
            </a:xfrm>
            <a:custGeom>
              <a:avLst/>
              <a:gdLst>
                <a:gd name="T0" fmla="*/ 0 w 1837"/>
                <a:gd name="T1" fmla="*/ 0 h 949"/>
                <a:gd name="T2" fmla="*/ 918 w 1837"/>
                <a:gd name="T3" fmla="*/ 576 h 949"/>
                <a:gd name="T4" fmla="*/ 1836 w 1837"/>
                <a:gd name="T5" fmla="*/ 948 h 949"/>
                <a:gd name="T6" fmla="*/ 0 60000 65536"/>
                <a:gd name="T7" fmla="*/ 0 60000 65536"/>
                <a:gd name="T8" fmla="*/ 0 60000 65536"/>
                <a:gd name="T9" fmla="*/ 0 w 1837"/>
                <a:gd name="T10" fmla="*/ 0 h 949"/>
                <a:gd name="T11" fmla="*/ 1837 w 1837"/>
                <a:gd name="T12" fmla="*/ 949 h 9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7" h="949">
                  <a:moveTo>
                    <a:pt x="0" y="0"/>
                  </a:moveTo>
                  <a:lnTo>
                    <a:pt x="918" y="576"/>
                  </a:lnTo>
                  <a:lnTo>
                    <a:pt x="1836" y="948"/>
                  </a:lnTo>
                </a:path>
              </a:pathLst>
            </a:custGeom>
            <a:noFill/>
            <a:ln w="381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17" name="Line 15"/>
            <p:cNvSpPr>
              <a:spLocks noChangeShapeType="1"/>
            </p:cNvSpPr>
            <p:nvPr/>
          </p:nvSpPr>
          <p:spPr bwMode="auto">
            <a:xfrm>
              <a:off x="2354" y="2252"/>
              <a:ext cx="0" cy="13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8" name="Line 16"/>
            <p:cNvSpPr>
              <a:spLocks noChangeShapeType="1"/>
            </p:cNvSpPr>
            <p:nvPr/>
          </p:nvSpPr>
          <p:spPr bwMode="auto">
            <a:xfrm flipH="1">
              <a:off x="2328" y="2248"/>
              <a:ext cx="3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9" name="Line 17"/>
            <p:cNvSpPr>
              <a:spLocks noChangeShapeType="1"/>
            </p:cNvSpPr>
            <p:nvPr/>
          </p:nvSpPr>
          <p:spPr bwMode="auto">
            <a:xfrm flipV="1">
              <a:off x="3272" y="2293"/>
              <a:ext cx="0" cy="29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0" name="Line 18"/>
            <p:cNvSpPr>
              <a:spLocks noChangeShapeType="1"/>
            </p:cNvSpPr>
            <p:nvPr/>
          </p:nvSpPr>
          <p:spPr bwMode="auto">
            <a:xfrm>
              <a:off x="3272" y="2322"/>
              <a:ext cx="0" cy="13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1" name="Line 19"/>
            <p:cNvSpPr>
              <a:spLocks noChangeShapeType="1"/>
            </p:cNvSpPr>
            <p:nvPr/>
          </p:nvSpPr>
          <p:spPr bwMode="auto">
            <a:xfrm flipH="1">
              <a:off x="3246" y="2318"/>
              <a:ext cx="3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2" name="Line 20"/>
            <p:cNvSpPr>
              <a:spLocks noChangeShapeType="1"/>
            </p:cNvSpPr>
            <p:nvPr/>
          </p:nvSpPr>
          <p:spPr bwMode="auto">
            <a:xfrm>
              <a:off x="3276" y="2318"/>
              <a:ext cx="1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3" name="Line 21"/>
            <p:cNvSpPr>
              <a:spLocks noChangeShapeType="1"/>
            </p:cNvSpPr>
            <p:nvPr/>
          </p:nvSpPr>
          <p:spPr bwMode="auto">
            <a:xfrm>
              <a:off x="2358" y="1742"/>
              <a:ext cx="1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4" name="Line 22"/>
            <p:cNvSpPr>
              <a:spLocks noChangeShapeType="1"/>
            </p:cNvSpPr>
            <p:nvPr/>
          </p:nvSpPr>
          <p:spPr bwMode="auto">
            <a:xfrm flipV="1">
              <a:off x="3272" y="2293"/>
              <a:ext cx="0" cy="29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5" name="Line 23"/>
            <p:cNvSpPr>
              <a:spLocks noChangeShapeType="1"/>
            </p:cNvSpPr>
            <p:nvPr/>
          </p:nvSpPr>
          <p:spPr bwMode="auto">
            <a:xfrm>
              <a:off x="3272" y="2322"/>
              <a:ext cx="0" cy="13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6" name="Line 24"/>
            <p:cNvSpPr>
              <a:spLocks noChangeShapeType="1"/>
            </p:cNvSpPr>
            <p:nvPr/>
          </p:nvSpPr>
          <p:spPr bwMode="auto">
            <a:xfrm flipH="1">
              <a:off x="3246" y="2318"/>
              <a:ext cx="3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7" name="Line 25"/>
            <p:cNvSpPr>
              <a:spLocks noChangeShapeType="1"/>
            </p:cNvSpPr>
            <p:nvPr/>
          </p:nvSpPr>
          <p:spPr bwMode="auto">
            <a:xfrm>
              <a:off x="3276" y="2318"/>
              <a:ext cx="1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28" name="Rectangle 26"/>
            <p:cNvSpPr>
              <a:spLocks noChangeArrowheads="1"/>
            </p:cNvSpPr>
            <p:nvPr/>
          </p:nvSpPr>
          <p:spPr bwMode="auto">
            <a:xfrm>
              <a:off x="1163" y="3673"/>
              <a:ext cx="207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76829" name="Rectangle 27"/>
            <p:cNvSpPr>
              <a:spLocks noChangeArrowheads="1"/>
            </p:cNvSpPr>
            <p:nvPr/>
          </p:nvSpPr>
          <p:spPr bwMode="auto">
            <a:xfrm>
              <a:off x="976" y="2928"/>
              <a:ext cx="393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latin typeface="Arial" panose="020B0604020202020204" pitchFamily="34" charset="0"/>
                </a:rPr>
                <a:t>500</a:t>
              </a:r>
            </a:p>
          </p:txBody>
        </p:sp>
        <p:sp>
          <p:nvSpPr>
            <p:cNvPr id="76830" name="Rectangle 28"/>
            <p:cNvSpPr>
              <a:spLocks noChangeArrowheads="1"/>
            </p:cNvSpPr>
            <p:nvPr/>
          </p:nvSpPr>
          <p:spPr bwMode="auto">
            <a:xfrm>
              <a:off x="852" y="2198"/>
              <a:ext cx="533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latin typeface="Arial" panose="020B0604020202020204" pitchFamily="34" charset="0"/>
                </a:rPr>
                <a:t>1,000</a:t>
              </a:r>
            </a:p>
          </p:txBody>
        </p:sp>
        <p:sp>
          <p:nvSpPr>
            <p:cNvPr id="76831" name="Rectangle 29"/>
            <p:cNvSpPr>
              <a:spLocks noChangeArrowheads="1"/>
            </p:cNvSpPr>
            <p:nvPr/>
          </p:nvSpPr>
          <p:spPr bwMode="auto">
            <a:xfrm>
              <a:off x="864" y="1536"/>
              <a:ext cx="533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latin typeface="Arial" panose="020B0604020202020204" pitchFamily="34" charset="0"/>
                </a:rPr>
                <a:t>1,500</a:t>
              </a:r>
            </a:p>
          </p:txBody>
        </p:sp>
        <p:sp>
          <p:nvSpPr>
            <p:cNvPr id="76832" name="Rectangle 30"/>
            <p:cNvSpPr>
              <a:spLocks noChangeArrowheads="1"/>
            </p:cNvSpPr>
            <p:nvPr/>
          </p:nvSpPr>
          <p:spPr bwMode="auto">
            <a:xfrm>
              <a:off x="1270" y="3940"/>
              <a:ext cx="356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latin typeface="Arial" panose="020B0604020202020204" pitchFamily="34" charset="0"/>
                </a:rPr>
                <a:t>0%</a:t>
              </a:r>
            </a:p>
          </p:txBody>
        </p:sp>
        <p:sp>
          <p:nvSpPr>
            <p:cNvPr id="76833" name="Rectangle 31"/>
            <p:cNvSpPr>
              <a:spLocks noChangeArrowheads="1"/>
            </p:cNvSpPr>
            <p:nvPr/>
          </p:nvSpPr>
          <p:spPr bwMode="auto">
            <a:xfrm>
              <a:off x="2188" y="3940"/>
              <a:ext cx="356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latin typeface="Arial" panose="020B0604020202020204" pitchFamily="34" charset="0"/>
                </a:rPr>
                <a:t>5%</a:t>
              </a:r>
            </a:p>
          </p:txBody>
        </p:sp>
        <p:sp>
          <p:nvSpPr>
            <p:cNvPr id="76834" name="Rectangle 32"/>
            <p:cNvSpPr>
              <a:spLocks noChangeArrowheads="1"/>
            </p:cNvSpPr>
            <p:nvPr/>
          </p:nvSpPr>
          <p:spPr bwMode="auto">
            <a:xfrm>
              <a:off x="3054" y="3940"/>
              <a:ext cx="4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latin typeface="Arial" panose="020B0604020202020204" pitchFamily="34" charset="0"/>
                </a:rPr>
                <a:t>10%</a:t>
              </a:r>
            </a:p>
          </p:txBody>
        </p:sp>
        <p:sp>
          <p:nvSpPr>
            <p:cNvPr id="76835" name="Rectangle 33"/>
            <p:cNvSpPr>
              <a:spLocks noChangeArrowheads="1"/>
            </p:cNvSpPr>
            <p:nvPr/>
          </p:nvSpPr>
          <p:spPr bwMode="auto">
            <a:xfrm>
              <a:off x="3972" y="3940"/>
              <a:ext cx="44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latin typeface="Arial" panose="020B0604020202020204" pitchFamily="34" charset="0"/>
                </a:rPr>
                <a:t>15%</a:t>
              </a:r>
            </a:p>
          </p:txBody>
        </p:sp>
        <p:sp>
          <p:nvSpPr>
            <p:cNvPr id="76836" name="Rectangle 34"/>
            <p:cNvSpPr>
              <a:spLocks noChangeArrowheads="1"/>
            </p:cNvSpPr>
            <p:nvPr/>
          </p:nvSpPr>
          <p:spPr bwMode="auto">
            <a:xfrm>
              <a:off x="4360" y="2177"/>
              <a:ext cx="77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1-year</a:t>
              </a:r>
            </a:p>
          </p:txBody>
        </p:sp>
        <p:sp>
          <p:nvSpPr>
            <p:cNvPr id="76837" name="Rectangle 35"/>
            <p:cNvSpPr>
              <a:spLocks noChangeArrowheads="1"/>
            </p:cNvSpPr>
            <p:nvPr/>
          </p:nvSpPr>
          <p:spPr bwMode="auto">
            <a:xfrm>
              <a:off x="2352" y="1536"/>
              <a:ext cx="901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10-year</a:t>
              </a:r>
            </a:p>
          </p:txBody>
        </p:sp>
        <p:sp>
          <p:nvSpPr>
            <p:cNvPr id="76838" name="Line 36"/>
            <p:cNvSpPr>
              <a:spLocks noChangeShapeType="1"/>
            </p:cNvSpPr>
            <p:nvPr/>
          </p:nvSpPr>
          <p:spPr bwMode="auto">
            <a:xfrm>
              <a:off x="3264" y="2304"/>
              <a:ext cx="1" cy="14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39" name="Line 37"/>
            <p:cNvSpPr>
              <a:spLocks noChangeShapeType="1"/>
            </p:cNvSpPr>
            <p:nvPr/>
          </p:nvSpPr>
          <p:spPr bwMode="auto">
            <a:xfrm>
              <a:off x="1541" y="2310"/>
              <a:ext cx="2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40" name="Rectangle 38"/>
            <p:cNvSpPr>
              <a:spLocks noChangeArrowheads="1"/>
            </p:cNvSpPr>
            <p:nvPr/>
          </p:nvSpPr>
          <p:spPr bwMode="auto">
            <a:xfrm>
              <a:off x="4320" y="3552"/>
              <a:ext cx="317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latin typeface="Arial" panose="020B0604020202020204" pitchFamily="34" charset="0"/>
                </a:rPr>
                <a:t>r</a:t>
              </a:r>
              <a:r>
                <a:rPr lang="en-US" altLang="en-US" b="1" baseline="-25000">
                  <a:latin typeface="Arial" panose="020B0604020202020204" pitchFamily="34" charset="0"/>
                </a:rPr>
                <a:t>d</a:t>
              </a:r>
            </a:p>
          </p:txBody>
        </p:sp>
      </p:grpSp>
      <p:sp>
        <p:nvSpPr>
          <p:cNvPr id="76804" name="Rectangle 3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Value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3EB16A-CC96-4EA1-A13E-8FA65944875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en-US" sz="14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What’s reinvestment rate risk?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76300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Risk that CFs have to be reinvested </a:t>
            </a:r>
            <a:r>
              <a:rPr lang="en-US" altLang="en-US" sz="2400" dirty="0"/>
              <a:t>@</a:t>
            </a:r>
            <a:r>
              <a:rPr lang="en-US" altLang="en-US" dirty="0"/>
              <a:t> future lower rates, reducing income.</a:t>
            </a:r>
          </a:p>
          <a:p>
            <a:pPr eaLnBrk="1" hangingPunct="1"/>
            <a:r>
              <a:rPr lang="en-US" altLang="en-US" dirty="0"/>
              <a:t>Illustration: </a:t>
            </a:r>
          </a:p>
          <a:p>
            <a:pPr eaLnBrk="1" hangingPunct="1"/>
            <a:r>
              <a:rPr lang="en-US" altLang="en-US" dirty="0"/>
              <a:t> Suppose just won $500,000 playing  lottery.  </a:t>
            </a:r>
          </a:p>
          <a:p>
            <a:pPr eaLnBrk="1" hangingPunct="1"/>
            <a:r>
              <a:rPr lang="en-US" altLang="en-US" dirty="0"/>
              <a:t>You’ll invest  money &amp; live off interest, so buy 1-year bond with 10% YTM.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51DAD9-B014-4CE5-A7D3-B65790D0BAB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en-US" sz="140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What’s reinvestment rate risk? (</a:t>
            </a:r>
            <a:r>
              <a:rPr lang="en-US" altLang="en-US" dirty="0" err="1"/>
              <a:t>Con’t</a:t>
            </a:r>
            <a:r>
              <a:rPr lang="en-US" altLang="en-US" dirty="0"/>
              <a:t>)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36295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Year 1 income = $50,000. </a:t>
            </a:r>
          </a:p>
          <a:p>
            <a:pPr lvl="1"/>
            <a:r>
              <a:rPr lang="en-US" altLang="en-US" dirty="0"/>
              <a:t>And </a:t>
            </a:r>
            <a:r>
              <a:rPr lang="en-US" altLang="en-US" sz="2400" dirty="0"/>
              <a:t>@</a:t>
            </a:r>
            <a:r>
              <a:rPr lang="en-US" altLang="en-US" dirty="0"/>
              <a:t> year-end get back $500,000 to reinvest.</a:t>
            </a:r>
          </a:p>
          <a:p>
            <a:pPr eaLnBrk="1" hangingPunct="1"/>
            <a:r>
              <a:rPr lang="en-US" altLang="en-US" dirty="0"/>
              <a:t>Now, if rates fall to 3%, income drops from $50,000 to $15,000.  </a:t>
            </a:r>
          </a:p>
          <a:p>
            <a:pPr lvl="1"/>
            <a:r>
              <a:rPr lang="en-US" altLang="en-US" dirty="0"/>
              <a:t>But if  bought 30-yr bonds, income would remain constant </a:t>
            </a:r>
            <a:r>
              <a:rPr lang="en-US" altLang="en-US" sz="2400" dirty="0"/>
              <a:t>@</a:t>
            </a:r>
            <a:r>
              <a:rPr lang="en-US" altLang="en-US" dirty="0"/>
              <a:t> $50k per yr.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377DE9-2B31-47BC-8C95-07977A451BA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40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/>
              <a:t>Maturity Risk Premium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839200" cy="46529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L/T bonds: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S/T bonds: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Nothing is riskless!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Yields on longer term bonds usually are greater than on shorter term bonds,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400" dirty="0"/>
              <a:t>Other types of Bonds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Zero coupon: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Convertible: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Income:</a:t>
            </a:r>
          </a:p>
          <a:p>
            <a:pPr lvl="1"/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  </a:t>
            </a: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C99A68-E67D-4477-9ABF-B17703E0B07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Other types of Bonds</a:t>
            </a:r>
            <a:endParaRPr lang="en-US" altLang="en-US" dirty="0"/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652964"/>
          </a:xfrm>
        </p:spPr>
        <p:txBody>
          <a:bodyPr/>
          <a:lstStyle/>
          <a:p>
            <a:r>
              <a:rPr lang="en-US" altLang="en-US" dirty="0"/>
              <a:t>Revenue:</a:t>
            </a:r>
          </a:p>
          <a:p>
            <a:pPr lvl="1"/>
            <a:r>
              <a:rPr lang="en-US" altLang="en-US" dirty="0"/>
              <a:t>   </a:t>
            </a:r>
          </a:p>
          <a:p>
            <a:r>
              <a:rPr lang="en-US" altLang="en-US" dirty="0"/>
              <a:t>Floating rate:</a:t>
            </a:r>
          </a:p>
          <a:p>
            <a:pPr lvl="1"/>
            <a:r>
              <a:rPr lang="en-US" altLang="en-US" dirty="0"/>
              <a:t>  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24E09B-A84E-4C83-AC16-242B438CAA6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B6BC76-0B3F-49B6-9812-D0366D5C4CA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en-US" sz="1400"/>
          </a:p>
        </p:txBody>
      </p:sp>
      <p:sp>
        <p:nvSpPr>
          <p:cNvPr id="82947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/>
              <a:t>Bankruptcy</a:t>
            </a:r>
          </a:p>
        </p:txBody>
      </p:sp>
      <p:sp>
        <p:nvSpPr>
          <p:cNvPr id="7270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763000" cy="4729164"/>
          </a:xfrm>
        </p:spPr>
        <p:txBody>
          <a:bodyPr/>
          <a:lstStyle/>
          <a:p>
            <a:pPr eaLnBrk="1" hangingPunct="1"/>
            <a:r>
              <a:rPr lang="en-US" altLang="en-US" dirty="0"/>
              <a:t>Two main chapters of Federal Bankruptcy Act:</a:t>
            </a:r>
          </a:p>
          <a:p>
            <a:pPr lvl="1" eaLnBrk="1" hangingPunct="1"/>
            <a:r>
              <a:rPr lang="en-US" altLang="en-US" dirty="0"/>
              <a:t>  </a:t>
            </a:r>
          </a:p>
          <a:p>
            <a:pPr lvl="1" eaLnBrk="1" hangingPunct="1"/>
            <a:r>
              <a:rPr lang="en-US" altLang="en-US" dirty="0"/>
              <a:t>  </a:t>
            </a:r>
          </a:p>
          <a:p>
            <a:pPr eaLnBrk="1" hangingPunct="1"/>
            <a:r>
              <a:rPr lang="en-US" altLang="en-US" dirty="0"/>
              <a:t>Typically, </a:t>
            </a:r>
          </a:p>
          <a:p>
            <a:pPr lvl="1"/>
            <a:r>
              <a:rPr lang="en-US" altLang="en-US" dirty="0"/>
              <a:t>company wants: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creditors may prefer:</a:t>
            </a:r>
          </a:p>
          <a:p>
            <a:pPr lvl="1"/>
            <a:r>
              <a:rPr lang="en-US" altLang="en-US"/>
              <a:t>   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A37935-1E71-47BC-99A5-6B4FEE72040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en-US" sz="140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Bankruptcy (</a:t>
            </a:r>
            <a:r>
              <a:rPr lang="en-US" altLang="en-US" dirty="0" err="1"/>
              <a:t>Con’t</a:t>
            </a:r>
            <a:r>
              <a:rPr lang="en-US" altLang="en-US" dirty="0"/>
              <a:t>)</a:t>
            </a: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If company can’t meet its obligations, it files under Chapter 11.  </a:t>
            </a:r>
          </a:p>
          <a:p>
            <a:pPr eaLnBrk="1" hangingPunct="1"/>
            <a:r>
              <a:rPr lang="en-US" altLang="en-US" sz="2800" dirty="0"/>
              <a:t>Stops creditors from foreclosing, taking assets, &amp; shutting down  business.</a:t>
            </a:r>
          </a:p>
          <a:p>
            <a:pPr eaLnBrk="1" hangingPunct="1"/>
            <a:r>
              <a:rPr lang="en-US" altLang="en-US" sz="2800" dirty="0"/>
              <a:t>Company has 120 days to file a reorganization plan.</a:t>
            </a:r>
          </a:p>
          <a:p>
            <a:pPr lvl="1" eaLnBrk="1" hangingPunct="1"/>
            <a:r>
              <a:rPr lang="en-US" altLang="en-US" sz="2400" dirty="0"/>
              <a:t>Court appoints a “trustee” to supervise reorganization. </a:t>
            </a:r>
          </a:p>
          <a:p>
            <a:pPr lvl="1" eaLnBrk="1" hangingPunct="1"/>
            <a:r>
              <a:rPr lang="en-US" altLang="en-US" sz="2400" dirty="0"/>
              <a:t>Management usually stays in control.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650166-6E0E-4038-947D-B9776604CF3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en-US" sz="140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Bankruptcy (</a:t>
            </a:r>
            <a:r>
              <a:rPr lang="en-US" altLang="en-US" dirty="0" err="1"/>
              <a:t>Con’t</a:t>
            </a:r>
            <a:r>
              <a:rPr lang="en-US" altLang="en-US" dirty="0"/>
              <a:t>)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Company must demonstrate in its reorganization plan that it is “worth more alive than dead.” </a:t>
            </a:r>
          </a:p>
          <a:p>
            <a:pPr eaLnBrk="1" hangingPunct="1"/>
            <a:r>
              <a:rPr lang="en-US" altLang="en-US"/>
              <a:t>Otherwise, judge will order liquidation under Chapter 7.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D2CEF4-99FC-49B2-A2E5-79CF0A62905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en-US" sz="140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If  company is liquidated, here’s  payment priority:</a:t>
            </a: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Past due property taxes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Secured creditors from sales of secured assets.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Trustee’s costs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Expenses incurred after bankruptcy filing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Wages &amp; unpaid benefit contributions, subject to limits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Unsecured customer deposits, subject to limits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Taxes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Unfunded pension liabilities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Unsecured creditors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Preferred stock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Common stock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B3C3-9854-5511-E4BF-86977B19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If  company is liquidated, here’s  payment priority: (</a:t>
            </a:r>
            <a:r>
              <a:rPr lang="en-US" altLang="en-US" dirty="0" err="1"/>
              <a:t>Con’t</a:t>
            </a:r>
            <a:r>
              <a:rPr lang="en-US" altLang="en-US" dirty="0"/>
              <a:t>)</a:t>
            </a:r>
            <a:endParaRPr lang="en-US" dirty="0"/>
          </a:p>
        </p:txBody>
      </p:sp>
      <p:sp>
        <p:nvSpPr>
          <p:cNvPr id="76804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 a liquidation, unsecured creditors generally get zero.  This makes them more willing to participate in reorganization even though their claims are greatly scaled back.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Various groups of creditors vote on  reorganization plan.  If both  majority of  creditors &amp;  judge approve, company “emerges” from bankruptcy with lower debts, reduced interest charges, &amp; a chance for success.</a:t>
            </a:r>
          </a:p>
        </p:txBody>
      </p:sp>
      <p:sp>
        <p:nvSpPr>
          <p:cNvPr id="911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4298D4-C18F-4DB7-862B-39A8C425EF8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924</TotalTime>
  <Pages>24</Pages>
  <Words>3970</Words>
  <Application>Microsoft Office PowerPoint</Application>
  <PresentationFormat>On-screen Show (4:3)</PresentationFormat>
  <Paragraphs>823</Paragraphs>
  <Slides>85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Chart</vt:lpstr>
      <vt:lpstr>Chapter 5</vt:lpstr>
      <vt:lpstr>Topics in Chapter</vt:lpstr>
      <vt:lpstr>Interest Rates &amp; Interest-Bearing Securities</vt:lpstr>
      <vt:lpstr>Several Treasury Sales</vt:lpstr>
      <vt:lpstr>Treasury Ups Sale Amount</vt:lpstr>
      <vt:lpstr>Treasury Sales</vt:lpstr>
      <vt:lpstr>Risk &amp; Term Structure of Interest Rates</vt:lpstr>
      <vt:lpstr>Risk &amp; Term Structure</vt:lpstr>
      <vt:lpstr>Risk &amp; Term Structure</vt:lpstr>
      <vt:lpstr>Premiums Added to r* (real risk-free rate) for Different Types of Debt</vt:lpstr>
      <vt:lpstr>Inflation &amp; Interest Rates</vt:lpstr>
      <vt:lpstr>Relationship b/w Nominal &amp; Real  Interest Rates, &amp; Inflation </vt:lpstr>
      <vt:lpstr>Estimating Inflation Premium (IP)</vt:lpstr>
      <vt:lpstr>Bond Spreads,  DRP, &amp;  LP</vt:lpstr>
      <vt:lpstr>Computing Yields (i% or debt req’d return )</vt:lpstr>
      <vt:lpstr>Investors expect inflation of 5% next yr, 6% following yr, &amp; 8% per yr thereafter.</vt:lpstr>
      <vt:lpstr>Assume  MRP is zero for Year 1  &amp; increases by 0.1% each year.</vt:lpstr>
      <vt:lpstr>Step 3:  Add  IPs &amp; MRPs to r*:</vt:lpstr>
      <vt:lpstr>Term Structure Yield Curve</vt:lpstr>
      <vt:lpstr>Hypothetical Treasury Yield Curve</vt:lpstr>
      <vt:lpstr>What factors can explain shape of this yield curve?</vt:lpstr>
      <vt:lpstr>Treasury vs. Corporate Yield Curves relationships</vt:lpstr>
      <vt:lpstr>Upward vs. Downward sloping yield curves due to?</vt:lpstr>
      <vt:lpstr>Interest Rates &amp; MRP Prob. 1</vt:lpstr>
      <vt:lpstr>Interest Rates &amp; Inflation Prob. 2 </vt:lpstr>
      <vt:lpstr>Coupon Bonds</vt:lpstr>
      <vt:lpstr>Bond Certificate</vt:lpstr>
      <vt:lpstr>Bond Perspectives</vt:lpstr>
      <vt:lpstr>Key Features of Bond</vt:lpstr>
      <vt:lpstr>Value of Financial Security</vt:lpstr>
      <vt:lpstr>Value of 10-yr, 10% coupon bond if: mrkt i% = 10%</vt:lpstr>
      <vt:lpstr>Bond consists of 10-yr, 10% annuity of $100/yr plus $1,000 lump sum at t = 10:</vt:lpstr>
      <vt:lpstr>Bond Pricing in Excel</vt:lpstr>
      <vt:lpstr>What happens if expected inflation  rose by 3%, increasing mrkt i = 13%?</vt:lpstr>
      <vt:lpstr>What happens if 1-yr passes  but  market i stays at 13%?</vt:lpstr>
      <vt:lpstr>What happens if 2nd yr passes  but  market i stays at 13%?</vt:lpstr>
      <vt:lpstr>What happens if 9 yrs pass  but  market i stays at 13%?</vt:lpstr>
      <vt:lpstr>W/ 10-yrs to maturity, what happens if inflation fell, &amp; i% declined to 8%?</vt:lpstr>
      <vt:lpstr>Bond Pricing in Excel</vt:lpstr>
      <vt:lpstr>Summary of Bond  price &amp; interest rate relationships</vt:lpstr>
      <vt:lpstr>Bond prices &amp; changing interest rates</vt:lpstr>
      <vt:lpstr>Bond Value ($) vs Years remaining to Maturity</vt:lpstr>
      <vt:lpstr>Bond Price Movements over time</vt:lpstr>
      <vt:lpstr>What’s market value of  10-yr, 10% coupon bond when market = 7%?</vt:lpstr>
      <vt:lpstr>If buy 10%, 10-yr bond today for $1,210.71,  &amp; hold it to maturity, what’s rate of return? </vt:lpstr>
      <vt:lpstr>What’s “yield to maturity”?</vt:lpstr>
      <vt:lpstr>On 10-yr. 9% annual coupon, $1,000 par value bond selling for $1,134.20, what’s YTM?</vt:lpstr>
      <vt:lpstr>On 10-yr. 9% coupon bond selling for $1,134.20. What’s YTM?</vt:lpstr>
      <vt:lpstr>On 10-yr. 9% annual coupon, $1,000 par value bond selling for $1,134.20, what’s YTM?</vt:lpstr>
      <vt:lpstr>On 10-yr. 9% coupon bond selling for $887. Find YTM (i % or rd)</vt:lpstr>
      <vt:lpstr>Find YTM (i % or rd)</vt:lpstr>
      <vt:lpstr>Bond Prices &amp; Int. Rates </vt:lpstr>
      <vt:lpstr>Definitions</vt:lpstr>
      <vt:lpstr>Definitions</vt:lpstr>
      <vt:lpstr>9% coupon, 10-year bond, P = $887, &amp; YTM = 10.91% What’s current yield?</vt:lpstr>
      <vt:lpstr>YTM = Current yield + Cap gains yield</vt:lpstr>
      <vt:lpstr>Semiannual Bonds</vt:lpstr>
      <vt:lpstr>Value of 10-year, 10% coupon, semiannual bond if mrkt i% = 13%</vt:lpstr>
      <vt:lpstr>Spreadsheet Functions for Bond Valuation (w/ actual dates &amp; day-counts)</vt:lpstr>
      <vt:lpstr>Call Provision</vt:lpstr>
      <vt:lpstr>Callable Bonds &amp; Yield to Call YTC)</vt:lpstr>
      <vt:lpstr>Nominal Yield to Call (YTC) (solve for i%)</vt:lpstr>
      <vt:lpstr>If bought bonds,  more likely to earn YTM or YTC?</vt:lpstr>
      <vt:lpstr>Investor returns on callable bonds</vt:lpstr>
      <vt:lpstr>What’s sinking fund?</vt:lpstr>
      <vt:lpstr>Sinking funds generally handled 2 ways</vt:lpstr>
      <vt:lpstr>Sinking Fund Redemption</vt:lpstr>
      <vt:lpstr>PowerPoint Presentation</vt:lpstr>
      <vt:lpstr>Bond Ratings &amp; Bond Spreads</vt:lpstr>
      <vt:lpstr>Factors affecting default risk &amp; bond ratings (1) </vt:lpstr>
      <vt:lpstr>Bond Ratings Median Ratios (S&amp;P)</vt:lpstr>
      <vt:lpstr>Other Factors Affecting Bond Ratings (2)</vt:lpstr>
      <vt:lpstr>Other Factors Affecting Bond Ratings (3)</vt:lpstr>
      <vt:lpstr>Interest rate (or price) risk  for 1-year &amp; 10-year 10% bonds</vt:lpstr>
      <vt:lpstr>Value</vt:lpstr>
      <vt:lpstr>What’s reinvestment rate risk?</vt:lpstr>
      <vt:lpstr>What’s reinvestment rate risk? (Con’t)</vt:lpstr>
      <vt:lpstr>Maturity Risk Premium</vt:lpstr>
      <vt:lpstr>Other types of Bonds</vt:lpstr>
      <vt:lpstr>Other types of Bonds</vt:lpstr>
      <vt:lpstr>Bankruptcy</vt:lpstr>
      <vt:lpstr>Bankruptcy (Con’t)</vt:lpstr>
      <vt:lpstr>Bankruptcy (Con’t)</vt:lpstr>
      <vt:lpstr>If  company is liquidated, here’s  payment priority:</vt:lpstr>
      <vt:lpstr>If  company is liquidated, here’s  payment priority: (Con’t)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subject>Powerpoint show</dc:subject>
  <dc:creator>Donna Hall</dc:creator>
  <cp:lastModifiedBy>Robert M Donchez</cp:lastModifiedBy>
  <cp:revision>90</cp:revision>
  <cp:lastPrinted>2022-09-27T04:49:55Z</cp:lastPrinted>
  <dcterms:created xsi:type="dcterms:W3CDTF">2022-07-25T20:42:12Z</dcterms:created>
  <dcterms:modified xsi:type="dcterms:W3CDTF">2024-02-20T00:25:08Z</dcterms:modified>
</cp:coreProperties>
</file>