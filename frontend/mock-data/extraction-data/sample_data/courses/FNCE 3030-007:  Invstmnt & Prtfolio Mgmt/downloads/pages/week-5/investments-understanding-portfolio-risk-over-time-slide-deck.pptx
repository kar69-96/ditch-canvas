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5" r:id="rId3"/>
    <p:sldId id="340" r:id="rId4"/>
    <p:sldId id="341" r:id="rId5"/>
    <p:sldId id="342" r:id="rId6"/>
    <p:sldId id="349" r:id="rId7"/>
    <p:sldId id="351" r:id="rId8"/>
    <p:sldId id="343" r:id="rId9"/>
    <p:sldId id="352" r:id="rId10"/>
    <p:sldId id="345" r:id="rId11"/>
    <p:sldId id="353" r:id="rId1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30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4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6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2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6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6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2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4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8BCC4-9B94-4BEF-91A3-495F4E4A73E7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657CA-DE46-4F37-9012-4185F8138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0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rds-www.wharton.upenn.edu/classroom/monthly-stock-return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891530" cy="23876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Understanding Portfolio Risk Over Time</a:t>
            </a:r>
          </a:p>
        </p:txBody>
      </p:sp>
    </p:spTree>
    <p:extLst>
      <p:ext uri="{BB962C8B-B14F-4D97-AF65-F5344CB8AC3E}">
        <p14:creationId xmlns:p14="http://schemas.microsoft.com/office/powerpoint/2010/main" val="371774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1304323"/>
            <a:ext cx="8013074" cy="47101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After completing this assignment, students will:</a:t>
            </a:r>
          </a:p>
          <a:p>
            <a:pPr marL="0" lvl="0" indent="0">
              <a:buNone/>
            </a:pPr>
            <a:endParaRPr lang="en-US" sz="2200" dirty="0"/>
          </a:p>
          <a:p>
            <a:r>
              <a:rPr lang="en-US" sz="2200" dirty="0"/>
              <a:t>Understand measures of risk such as variance and standard deviation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Be able to describe the evolution of stock returns through time and make comparisons to the portfolio returns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Use returns and variance to select stocks to build a portfolio 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Achieve familiarity with handling data in Excel, and learn to present results from raw data in a clean and easy-to-read format</a:t>
            </a:r>
            <a:br>
              <a:rPr lang="en-US" sz="2250" dirty="0"/>
            </a:b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8908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1304323"/>
            <a:ext cx="8013074" cy="4710111"/>
          </a:xfrm>
        </p:spPr>
        <p:txBody>
          <a:bodyPr>
            <a:noAutofit/>
          </a:bodyPr>
          <a:lstStyle/>
          <a:p>
            <a:r>
              <a:rPr lang="en-US" sz="2400" dirty="0"/>
              <a:t>Download data on stock returns for 3 selected companies (Disney, IBM and Southwest Airlines) and a market index (the S&amp;P 500).</a:t>
            </a:r>
          </a:p>
          <a:p>
            <a:r>
              <a:rPr lang="en-US" sz="2400" dirty="0"/>
              <a:t>Using Excel, rearrange the data in a clean and easy-to-work format.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Graph the series of returns for each company and the market index.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Calculate the average return and standard deviation for each stock and the market.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Assuming you invest an equal amount in each company, calculate the return for the overall portfolio.</a:t>
            </a:r>
          </a:p>
          <a:p>
            <a:pPr marL="0" indent="0">
              <a:buNone/>
            </a:pP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65015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Link to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1304323"/>
            <a:ext cx="8013074" cy="47101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de-DE" sz="2400" dirty="0">
                <a:hlinkClick r:id="rId3"/>
              </a:rPr>
              <a:t>https://wrds-www.wharton.upenn.edu/classroom/monthly-stock-returns/</a:t>
            </a: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92806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Query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2244" y="1865846"/>
            <a:ext cx="2861525" cy="794933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/>
              <a:t>Enter the company tickers.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Select 01/2007-01/2015 as the date range.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Click Submit.</a:t>
            </a:r>
            <a:endParaRPr lang="en-US" sz="22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56" y="2157144"/>
            <a:ext cx="4209524" cy="3466667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4572000" y="2881496"/>
            <a:ext cx="1295253" cy="14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858" y="3507025"/>
            <a:ext cx="1414395" cy="2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7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Query Results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94" y="4151586"/>
            <a:ext cx="8865842" cy="1450428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results also include monthly closing returns on the S&amp;P 500 market index, from Jan.  2007 - Jan. 2015. </a:t>
            </a:r>
          </a:p>
          <a:p>
            <a:pPr marL="0" indent="0">
              <a:buNone/>
            </a:pPr>
            <a:endParaRPr lang="en-US" sz="22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8" y="1720385"/>
            <a:ext cx="8660524" cy="30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6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Query Results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793" y="1420233"/>
            <a:ext cx="2861525" cy="794933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/>
              <a:t>Scroll to the bottom of the screen and click Download to download the data to Excel. 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2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04" y="1420233"/>
            <a:ext cx="3731155" cy="409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7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Assignment: Output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7446" y="147478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Once the data is downloaded, produce the following results: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Graph of the returns over time.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the average return and standard deviation for each company and the market index over the entire period.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20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Assignment: Output (cont.)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7446" y="1474781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Assuming you invest an equal amount of wealth in each company, calculate the return of the portfolio. </a:t>
            </a:r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Plot the returns of the portfolio over time.</a:t>
            </a:r>
          </a:p>
          <a:p>
            <a:pPr marL="457200" indent="-457200">
              <a:buFont typeface="+mj-lt"/>
              <a:buAutoNum type="arabicPeriod" startAt="4"/>
            </a:pPr>
            <a:endParaRPr lang="en-US" dirty="0"/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Evaluate the variance/covariance matrix of the selected stocks.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89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Discussion Topics/Questions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7446" y="1474781"/>
            <a:ext cx="7886700" cy="4351338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dirty="0"/>
              <a:t>Which stock has the highest/lowest return and in what month? How does the series of returns of the market look like? Which company performed the best and around what time? Which company the worst?</a:t>
            </a:r>
          </a:p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Which company had the highest volatility? Which one the lowest? Do they also have higher/lower returns than the others? How does the market behave with respect to the other companies?</a:t>
            </a:r>
          </a:p>
        </p:txBody>
      </p:sp>
    </p:spTree>
    <p:extLst>
      <p:ext uri="{BB962C8B-B14F-4D97-AF65-F5344CB8AC3E}">
        <p14:creationId xmlns:p14="http://schemas.microsoft.com/office/powerpoint/2010/main" val="351436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00"/>
            <a:ext cx="9144000" cy="6415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45" y="94670"/>
            <a:ext cx="7886700" cy="1325563"/>
          </a:xfrm>
        </p:spPr>
        <p:txBody>
          <a:bodyPr/>
          <a:lstStyle/>
          <a:p>
            <a:r>
              <a:rPr lang="en-US" b="1" dirty="0"/>
              <a:t>Discussion Topics/Questions (cont.)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7446" y="1474781"/>
            <a:ext cx="7886700" cy="4351338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endParaRPr lang="en-US" dirty="0"/>
          </a:p>
          <a:p>
            <a:pPr marL="514350" lvl="0" indent="-514350">
              <a:buFont typeface="+mj-lt"/>
              <a:buAutoNum type="arabicPeriod" startAt="3"/>
            </a:pPr>
            <a:r>
              <a:rPr lang="en-US" dirty="0"/>
              <a:t>What is the return of the overall portfolio? How does it behave over time? </a:t>
            </a:r>
          </a:p>
          <a:p>
            <a:pPr marL="457200" lvl="0" indent="-457200">
              <a:buFont typeface="+mj-lt"/>
              <a:buAutoNum type="arabicPeriod" startAt="3"/>
            </a:pPr>
            <a:endParaRPr lang="en-US" dirty="0"/>
          </a:p>
          <a:p>
            <a:pPr marL="457200" lvl="0" indent="-457200">
              <a:buFont typeface="+mj-lt"/>
              <a:buAutoNum type="arabicPeriod" startAt="3"/>
            </a:pPr>
            <a:r>
              <a:rPr lang="en-US" dirty="0"/>
              <a:t>How does the portfolio return change by changing the proportion of investment in each stock?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81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15644</TotalTime>
  <Words>456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Understanding Portfolio Risk Over Time</vt:lpstr>
      <vt:lpstr>Learning Objectives</vt:lpstr>
      <vt:lpstr>Assignment</vt:lpstr>
      <vt:lpstr>Link to Query</vt:lpstr>
      <vt:lpstr>Query Parameters</vt:lpstr>
      <vt:lpstr>Query Results </vt:lpstr>
      <vt:lpstr>Query Results </vt:lpstr>
      <vt:lpstr>Assignment: Output</vt:lpstr>
      <vt:lpstr>Assignment: Output (cont.)</vt:lpstr>
      <vt:lpstr>Discussion Topics/Questions</vt:lpstr>
      <vt:lpstr>Discussion Topics/Questions (cont.)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Identifiers</dc:title>
  <dc:creator>Flores, Yadira</dc:creator>
  <cp:lastModifiedBy>Obropta, Mary</cp:lastModifiedBy>
  <cp:revision>459</cp:revision>
  <cp:lastPrinted>2016-06-09T17:23:38Z</cp:lastPrinted>
  <dcterms:created xsi:type="dcterms:W3CDTF">2015-09-17T18:26:36Z</dcterms:created>
  <dcterms:modified xsi:type="dcterms:W3CDTF">2023-01-19T16:56:46Z</dcterms:modified>
</cp:coreProperties>
</file>