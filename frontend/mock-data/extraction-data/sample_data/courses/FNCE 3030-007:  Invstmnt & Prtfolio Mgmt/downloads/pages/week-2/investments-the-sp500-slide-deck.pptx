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8" r:id="rId3"/>
    <p:sldId id="409" r:id="rId4"/>
    <p:sldId id="418" r:id="rId5"/>
    <p:sldId id="423" r:id="rId6"/>
    <p:sldId id="447" r:id="rId7"/>
    <p:sldId id="410" r:id="rId8"/>
    <p:sldId id="419" r:id="rId9"/>
    <p:sldId id="352" r:id="rId10"/>
    <p:sldId id="407" r:id="rId11"/>
    <p:sldId id="427" r:id="rId12"/>
    <p:sldId id="424" r:id="rId13"/>
    <p:sldId id="429" r:id="rId14"/>
    <p:sldId id="431" r:id="rId15"/>
    <p:sldId id="432" r:id="rId16"/>
    <p:sldId id="426" r:id="rId17"/>
    <p:sldId id="430" r:id="rId18"/>
    <p:sldId id="435" r:id="rId19"/>
    <p:sldId id="433" r:id="rId20"/>
    <p:sldId id="434" r:id="rId21"/>
    <p:sldId id="381" r:id="rId22"/>
    <p:sldId id="428" r:id="rId23"/>
    <p:sldId id="444" r:id="rId24"/>
    <p:sldId id="436" r:id="rId25"/>
    <p:sldId id="417" r:id="rId26"/>
    <p:sldId id="440" r:id="rId27"/>
    <p:sldId id="439" r:id="rId28"/>
    <p:sldId id="441" r:id="rId29"/>
    <p:sldId id="443" r:id="rId30"/>
    <p:sldId id="445" r:id="rId31"/>
    <p:sldId id="446" r:id="rId32"/>
    <p:sldId id="412" r:id="rId33"/>
    <p:sldId id="411" r:id="rId34"/>
    <p:sldId id="448" r:id="rId35"/>
    <p:sldId id="449" r:id="rId36"/>
    <p:sldId id="414"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19DDB97-BB06-4722-8933-3A37ABFC3532}">
          <p14:sldIdLst>
            <p14:sldId id="256"/>
            <p14:sldId id="278"/>
            <p14:sldId id="409"/>
            <p14:sldId id="418"/>
            <p14:sldId id="423"/>
            <p14:sldId id="447"/>
            <p14:sldId id="410"/>
            <p14:sldId id="419"/>
            <p14:sldId id="352"/>
            <p14:sldId id="407"/>
            <p14:sldId id="427"/>
            <p14:sldId id="424"/>
            <p14:sldId id="429"/>
            <p14:sldId id="431"/>
            <p14:sldId id="432"/>
            <p14:sldId id="426"/>
            <p14:sldId id="430"/>
            <p14:sldId id="435"/>
            <p14:sldId id="433"/>
            <p14:sldId id="434"/>
            <p14:sldId id="381"/>
            <p14:sldId id="428"/>
            <p14:sldId id="444"/>
            <p14:sldId id="436"/>
            <p14:sldId id="417"/>
            <p14:sldId id="440"/>
            <p14:sldId id="439"/>
            <p14:sldId id="441"/>
            <p14:sldId id="443"/>
            <p14:sldId id="445"/>
            <p14:sldId id="446"/>
            <p14:sldId id="412"/>
            <p14:sldId id="411"/>
            <p14:sldId id="448"/>
            <p14:sldId id="449"/>
            <p14:sldId id="41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D8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10" autoAdjust="0"/>
    <p:restoredTop sz="94660"/>
  </p:normalViewPr>
  <p:slideViewPr>
    <p:cSldViewPr snapToGrid="0">
      <p:cViewPr varScale="1">
        <p:scale>
          <a:sx n="97" d="100"/>
          <a:sy n="97" d="100"/>
        </p:scale>
        <p:origin x="1034" y="4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833610544423191E-2"/>
          <c:y val="5.7914407001441813E-2"/>
          <c:w val="0.87103433165416155"/>
          <c:h val="0.59586373252030045"/>
        </c:manualLayout>
      </c:layout>
      <c:lineChart>
        <c:grouping val="standard"/>
        <c:varyColors val="0"/>
        <c:ser>
          <c:idx val="0"/>
          <c:order val="0"/>
          <c:tx>
            <c:strRef>
              <c:f>Sheet1!$B$1</c:f>
              <c:strCache>
                <c:ptCount val="1"/>
                <c:pt idx="0">
                  <c:v>Market Index</c:v>
                </c:pt>
              </c:strCache>
            </c:strRef>
          </c:tx>
          <c:spPr>
            <a:ln w="28575" cap="rnd">
              <a:solidFill>
                <a:schemeClr val="accent1"/>
              </a:solidFill>
              <a:round/>
            </a:ln>
            <a:effectLst/>
          </c:spPr>
          <c:marker>
            <c:symbol val="none"/>
          </c:marker>
          <c:cat>
            <c:strRef>
              <c:f>Sheet1!$A$2:$A$12</c:f>
              <c:strCache>
                <c:ptCount val="11"/>
                <c:pt idx="0">
                  <c:v>JAN</c:v>
                </c:pt>
                <c:pt idx="1">
                  <c:v>FEB</c:v>
                </c:pt>
                <c:pt idx="2">
                  <c:v>MAR</c:v>
                </c:pt>
                <c:pt idx="3">
                  <c:v>APR</c:v>
                </c:pt>
                <c:pt idx="4">
                  <c:v>JUN </c:v>
                </c:pt>
                <c:pt idx="5">
                  <c:v>JUL</c:v>
                </c:pt>
                <c:pt idx="6">
                  <c:v>AUG</c:v>
                </c:pt>
                <c:pt idx="7">
                  <c:v>SEP</c:v>
                </c:pt>
                <c:pt idx="8">
                  <c:v>OCT</c:v>
                </c:pt>
                <c:pt idx="9">
                  <c:v>NOV</c:v>
                </c:pt>
                <c:pt idx="10">
                  <c:v>DEC</c:v>
                </c:pt>
              </c:strCache>
            </c:strRef>
          </c:cat>
          <c:val>
            <c:numRef>
              <c:f>Sheet1!$B$2:$B$12</c:f>
              <c:numCache>
                <c:formatCode>#,##0</c:formatCode>
                <c:ptCount val="11"/>
                <c:pt idx="0">
                  <c:v>4148</c:v>
                </c:pt>
                <c:pt idx="1">
                  <c:v>4524</c:v>
                </c:pt>
                <c:pt idx="2">
                  <c:v>3068</c:v>
                </c:pt>
                <c:pt idx="3">
                  <c:v>2079</c:v>
                </c:pt>
                <c:pt idx="4">
                  <c:v>3960</c:v>
                </c:pt>
                <c:pt idx="5">
                  <c:v>3912</c:v>
                </c:pt>
                <c:pt idx="6">
                  <c:v>4917</c:v>
                </c:pt>
                <c:pt idx="7">
                  <c:v>3726</c:v>
                </c:pt>
                <c:pt idx="8">
                  <c:v>3850</c:v>
                </c:pt>
                <c:pt idx="9">
                  <c:v>5158</c:v>
                </c:pt>
                <c:pt idx="10">
                  <c:v>3911</c:v>
                </c:pt>
              </c:numCache>
            </c:numRef>
          </c:val>
          <c:smooth val="0"/>
          <c:extLst>
            <c:ext xmlns:c16="http://schemas.microsoft.com/office/drawing/2014/chart" uri="{C3380CC4-5D6E-409C-BE32-E72D297353CC}">
              <c16:uniqueId val="{00000000-8BFB-47A4-A3C6-1AD2CA66AE85}"/>
            </c:ext>
          </c:extLst>
        </c:ser>
        <c:ser>
          <c:idx val="1"/>
          <c:order val="1"/>
          <c:tx>
            <c:strRef>
              <c:f>Sheet1!$C$1</c:f>
              <c:strCache>
                <c:ptCount val="1"/>
                <c:pt idx="0">
                  <c:v>Stock</c:v>
                </c:pt>
              </c:strCache>
            </c:strRef>
          </c:tx>
          <c:spPr>
            <a:ln w="28575" cap="rnd">
              <a:solidFill>
                <a:schemeClr val="accent2"/>
              </a:solidFill>
              <a:round/>
            </a:ln>
            <a:effectLst/>
          </c:spPr>
          <c:marker>
            <c:symbol val="none"/>
          </c:marker>
          <c:cat>
            <c:strRef>
              <c:f>Sheet1!$A$2:$A$12</c:f>
              <c:strCache>
                <c:ptCount val="11"/>
                <c:pt idx="0">
                  <c:v>JAN</c:v>
                </c:pt>
                <c:pt idx="1">
                  <c:v>FEB</c:v>
                </c:pt>
                <c:pt idx="2">
                  <c:v>MAR</c:v>
                </c:pt>
                <c:pt idx="3">
                  <c:v>APR</c:v>
                </c:pt>
                <c:pt idx="4">
                  <c:v>JUN </c:v>
                </c:pt>
                <c:pt idx="5">
                  <c:v>JUL</c:v>
                </c:pt>
                <c:pt idx="6">
                  <c:v>AUG</c:v>
                </c:pt>
                <c:pt idx="7">
                  <c:v>SEP</c:v>
                </c:pt>
                <c:pt idx="8">
                  <c:v>OCT</c:v>
                </c:pt>
                <c:pt idx="9">
                  <c:v>NOV</c:v>
                </c:pt>
                <c:pt idx="10">
                  <c:v>DEC</c:v>
                </c:pt>
              </c:strCache>
            </c:strRef>
          </c:cat>
          <c:val>
            <c:numRef>
              <c:f>Sheet1!$C$2:$C$12</c:f>
              <c:numCache>
                <c:formatCode>#,##0.00</c:formatCode>
                <c:ptCount val="11"/>
                <c:pt idx="0">
                  <c:v>2616.5050000000001</c:v>
                </c:pt>
                <c:pt idx="1">
                  <c:v>225.71</c:v>
                </c:pt>
                <c:pt idx="2">
                  <c:v>1603.81</c:v>
                </c:pt>
                <c:pt idx="3">
                  <c:v>370.02</c:v>
                </c:pt>
                <c:pt idx="4">
                  <c:v>2562.54</c:v>
                </c:pt>
                <c:pt idx="5">
                  <c:v>531.38</c:v>
                </c:pt>
                <c:pt idx="6">
                  <c:v>2911.77</c:v>
                </c:pt>
                <c:pt idx="7">
                  <c:v>513.87</c:v>
                </c:pt>
                <c:pt idx="8">
                  <c:v>2530.3200000000002</c:v>
                </c:pt>
                <c:pt idx="9">
                  <c:v>2960.15</c:v>
                </c:pt>
                <c:pt idx="10">
                  <c:v>418.33</c:v>
                </c:pt>
              </c:numCache>
            </c:numRef>
          </c:val>
          <c:smooth val="0"/>
          <c:extLst>
            <c:ext xmlns:c16="http://schemas.microsoft.com/office/drawing/2014/chart" uri="{C3380CC4-5D6E-409C-BE32-E72D297353CC}">
              <c16:uniqueId val="{00000001-8BFB-47A4-A3C6-1AD2CA66AE85}"/>
            </c:ext>
          </c:extLst>
        </c:ser>
        <c:dLbls>
          <c:showLegendKey val="0"/>
          <c:showVal val="0"/>
          <c:showCatName val="0"/>
          <c:showSerName val="0"/>
          <c:showPercent val="0"/>
          <c:showBubbleSize val="0"/>
        </c:dLbls>
        <c:smooth val="0"/>
        <c:axId val="2078760255"/>
        <c:axId val="2078759295"/>
      </c:lineChart>
      <c:catAx>
        <c:axId val="20787602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78759295"/>
        <c:crosses val="autoZero"/>
        <c:auto val="1"/>
        <c:lblAlgn val="ctr"/>
        <c:lblOffset val="100"/>
        <c:noMultiLvlLbl val="0"/>
      </c:catAx>
      <c:valAx>
        <c:axId val="207875929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20787602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17984F-540E-48A5-B524-94B0AEC55639}"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DF7A7E97-B974-4D52-B044-AB6B0CFB802D}">
      <dgm:prSet custT="1"/>
      <dgm:spPr>
        <a:solidFill>
          <a:srgbClr val="D4D8C6"/>
        </a:solidFill>
      </dgm:spPr>
      <dgm:t>
        <a:bodyPr/>
        <a:lstStyle/>
        <a:p>
          <a:r>
            <a:rPr lang="en-US" sz="2000" b="1" dirty="0">
              <a:solidFill>
                <a:schemeClr val="tx1"/>
              </a:solidFill>
            </a:rPr>
            <a:t>Global</a:t>
          </a:r>
        </a:p>
        <a:p>
          <a:r>
            <a:rPr lang="en-US" sz="2000" b="0" i="0" dirty="0">
              <a:solidFill>
                <a:schemeClr val="tx1"/>
              </a:solidFill>
            </a:rPr>
            <a:t>Stocks from across the globe (e.g., the MSCI World Index tracks companies in 23 developed countries)</a:t>
          </a:r>
          <a:endParaRPr lang="en-US" sz="2000" b="1" dirty="0">
            <a:solidFill>
              <a:schemeClr val="tx1"/>
            </a:solidFill>
          </a:endParaRPr>
        </a:p>
      </dgm:t>
    </dgm:pt>
    <dgm:pt modelId="{37328627-A5A4-45B2-A9EE-13F8241DA1DA}" type="sibTrans" cxnId="{17CF81B4-6CC2-4F82-9E24-52B312D99456}">
      <dgm:prSet/>
      <dgm:spPr/>
      <dgm:t>
        <a:bodyPr/>
        <a:lstStyle/>
        <a:p>
          <a:endParaRPr lang="en-US"/>
        </a:p>
      </dgm:t>
    </dgm:pt>
    <dgm:pt modelId="{4C1E622F-2E57-42EA-8328-A6BC66A686C3}" type="parTrans" cxnId="{17CF81B4-6CC2-4F82-9E24-52B312D99456}">
      <dgm:prSet/>
      <dgm:spPr/>
      <dgm:t>
        <a:bodyPr/>
        <a:lstStyle/>
        <a:p>
          <a:endParaRPr lang="en-US"/>
        </a:p>
      </dgm:t>
    </dgm:pt>
    <dgm:pt modelId="{6DD19208-7A88-42C6-AD5E-846BF87A167A}">
      <dgm:prSet custT="1"/>
      <dgm:spPr>
        <a:solidFill>
          <a:schemeClr val="bg2"/>
        </a:solidFill>
      </dgm:spPr>
      <dgm:t>
        <a:bodyPr/>
        <a:lstStyle/>
        <a:p>
          <a:r>
            <a:rPr lang="en-US" sz="2000" b="1" dirty="0">
              <a:solidFill>
                <a:schemeClr val="tx1"/>
              </a:solidFill>
            </a:rPr>
            <a:t>National </a:t>
          </a:r>
        </a:p>
        <a:p>
          <a:r>
            <a:rPr lang="en-US" sz="2000" b="0" dirty="0">
              <a:solidFill>
                <a:schemeClr val="tx1"/>
              </a:solidFill>
            </a:rPr>
            <a:t>Stocks from a specific country (e.g., India’s NIFTY 50)</a:t>
          </a:r>
          <a:endParaRPr lang="en-US" sz="2000" b="1" dirty="0">
            <a:solidFill>
              <a:schemeClr val="tx1"/>
            </a:solidFill>
          </a:endParaRPr>
        </a:p>
      </dgm:t>
    </dgm:pt>
    <dgm:pt modelId="{13C30E0A-A69E-47F7-8D8C-AFE40F8CB27D}" type="sibTrans" cxnId="{D7047411-CE32-4878-B1F9-14B406DF1BD8}">
      <dgm:prSet/>
      <dgm:spPr/>
      <dgm:t>
        <a:bodyPr/>
        <a:lstStyle/>
        <a:p>
          <a:endParaRPr lang="en-US"/>
        </a:p>
      </dgm:t>
    </dgm:pt>
    <dgm:pt modelId="{90D78FDA-BB6D-45D8-AE9B-5F56256D2940}" type="parTrans" cxnId="{D7047411-CE32-4878-B1F9-14B406DF1BD8}">
      <dgm:prSet/>
      <dgm:spPr/>
      <dgm:t>
        <a:bodyPr/>
        <a:lstStyle/>
        <a:p>
          <a:endParaRPr lang="en-US"/>
        </a:p>
      </dgm:t>
    </dgm:pt>
    <dgm:pt modelId="{381D38FE-EB9F-4DF7-9166-3EE70CCCE1E7}">
      <dgm:prSet custT="1"/>
      <dgm:spPr>
        <a:solidFill>
          <a:schemeClr val="accent4">
            <a:lumMod val="40000"/>
            <a:lumOff val="60000"/>
          </a:schemeClr>
        </a:solidFill>
      </dgm:spPr>
      <dgm:t>
        <a:bodyPr/>
        <a:lstStyle/>
        <a:p>
          <a:r>
            <a:rPr lang="en-US" sz="2000" b="1" dirty="0">
              <a:solidFill>
                <a:schemeClr val="tx1"/>
              </a:solidFill>
            </a:rPr>
            <a:t>Regional</a:t>
          </a:r>
        </a:p>
        <a:p>
          <a:r>
            <a:rPr lang="en-US" sz="2000" b="0" dirty="0">
              <a:solidFill>
                <a:schemeClr val="tx1"/>
              </a:solidFill>
            </a:rPr>
            <a:t>Stocks from a particular region (e.g., </a:t>
          </a:r>
          <a:r>
            <a:rPr lang="en-US" sz="2000" b="0" i="0" dirty="0">
              <a:solidFill>
                <a:schemeClr val="tx1"/>
              </a:solidFill>
            </a:rPr>
            <a:t>Euro Stoxx 50)</a:t>
          </a:r>
          <a:endParaRPr lang="en-US" sz="2000" b="0" dirty="0">
            <a:solidFill>
              <a:schemeClr val="tx1"/>
            </a:solidFill>
          </a:endParaRPr>
        </a:p>
      </dgm:t>
    </dgm:pt>
    <dgm:pt modelId="{45277FB5-BADF-452D-A346-B3105FD1D7F9}" type="sibTrans" cxnId="{A16C14F0-4012-4963-84C6-6CFE811636B9}">
      <dgm:prSet/>
      <dgm:spPr/>
      <dgm:t>
        <a:bodyPr/>
        <a:lstStyle/>
        <a:p>
          <a:endParaRPr lang="en-US"/>
        </a:p>
      </dgm:t>
    </dgm:pt>
    <dgm:pt modelId="{C642AC94-1340-4BDD-A2AB-D752BD4C9412}" type="parTrans" cxnId="{A16C14F0-4012-4963-84C6-6CFE811636B9}">
      <dgm:prSet/>
      <dgm:spPr/>
      <dgm:t>
        <a:bodyPr/>
        <a:lstStyle/>
        <a:p>
          <a:endParaRPr lang="en-US"/>
        </a:p>
      </dgm:t>
    </dgm:pt>
    <dgm:pt modelId="{FB2558F0-7F32-459F-AF3D-A92E9F2ADD50}">
      <dgm:prSet custT="1"/>
      <dgm:spPr>
        <a:solidFill>
          <a:schemeClr val="bg2">
            <a:lumMod val="90000"/>
          </a:schemeClr>
        </a:solidFill>
      </dgm:spPr>
      <dgm:t>
        <a:bodyPr/>
        <a:lstStyle/>
        <a:p>
          <a:r>
            <a:rPr lang="en-US" sz="2000" b="1" dirty="0">
              <a:solidFill>
                <a:schemeClr val="tx1"/>
              </a:solidFill>
            </a:rPr>
            <a:t>Industrial</a:t>
          </a:r>
        </a:p>
        <a:p>
          <a:r>
            <a:rPr lang="en-US" sz="2000" b="0" dirty="0">
              <a:solidFill>
                <a:schemeClr val="tx1"/>
              </a:solidFill>
            </a:rPr>
            <a:t>Stocks that belong to a specific industry sector (e.g., energy stocks are represented in the S&amp;P Global Energy Index)</a:t>
          </a:r>
          <a:endParaRPr lang="en-US" sz="2000" b="1" dirty="0">
            <a:solidFill>
              <a:schemeClr val="tx1"/>
            </a:solidFill>
          </a:endParaRPr>
        </a:p>
      </dgm:t>
    </dgm:pt>
    <dgm:pt modelId="{50F1BC12-AB6A-4858-84E3-16E43409B803}" type="sibTrans" cxnId="{E8B7BFE4-E732-4098-9429-730BE38F66EC}">
      <dgm:prSet/>
      <dgm:spPr/>
      <dgm:t>
        <a:bodyPr/>
        <a:lstStyle/>
        <a:p>
          <a:endParaRPr lang="en-US"/>
        </a:p>
      </dgm:t>
    </dgm:pt>
    <dgm:pt modelId="{669CE71F-9BFE-483B-9A6D-8F1AA3D9FB3C}" type="parTrans" cxnId="{E8B7BFE4-E732-4098-9429-730BE38F66EC}">
      <dgm:prSet/>
      <dgm:spPr/>
      <dgm:t>
        <a:bodyPr/>
        <a:lstStyle/>
        <a:p>
          <a:endParaRPr lang="en-US"/>
        </a:p>
      </dgm:t>
    </dgm:pt>
    <dgm:pt modelId="{4F58AF4D-1639-460A-BBA9-A5BE8955DF1B}">
      <dgm:prSet custT="1"/>
      <dgm:spPr>
        <a:solidFill>
          <a:schemeClr val="accent4">
            <a:lumMod val="20000"/>
            <a:lumOff val="80000"/>
          </a:schemeClr>
        </a:solidFill>
      </dgm:spPr>
      <dgm:t>
        <a:bodyPr/>
        <a:lstStyle/>
        <a:p>
          <a:r>
            <a:rPr lang="en-US" sz="2000" baseline="0" dirty="0"/>
            <a:t> </a:t>
          </a:r>
          <a:r>
            <a:rPr lang="en-US" sz="2000" b="1" baseline="0" dirty="0">
              <a:solidFill>
                <a:schemeClr val="tx1"/>
              </a:solidFill>
            </a:rPr>
            <a:t>Exchange-based</a:t>
          </a:r>
          <a:r>
            <a:rPr lang="en-US" sz="1800" baseline="0" dirty="0">
              <a:solidFill>
                <a:schemeClr val="tx1"/>
              </a:solidFill>
            </a:rPr>
            <a:t> Stocks traded on one exchange or a group of exchanges  (e.g., NASDAQ Composite)</a:t>
          </a:r>
          <a:endParaRPr lang="en-US" sz="1800" dirty="0">
            <a:solidFill>
              <a:schemeClr val="tx1"/>
            </a:solidFill>
          </a:endParaRPr>
        </a:p>
      </dgm:t>
    </dgm:pt>
    <dgm:pt modelId="{4F998C9B-D270-4EBE-821F-24F889824BD4}" type="sibTrans" cxnId="{07473DCE-DC09-4690-AEAA-71CDACD75C30}">
      <dgm:prSet/>
      <dgm:spPr/>
      <dgm:t>
        <a:bodyPr/>
        <a:lstStyle/>
        <a:p>
          <a:endParaRPr lang="en-US"/>
        </a:p>
      </dgm:t>
    </dgm:pt>
    <dgm:pt modelId="{19A60FB9-D085-49BC-B0C9-4438E6B76614}" type="parTrans" cxnId="{07473DCE-DC09-4690-AEAA-71CDACD75C30}">
      <dgm:prSet/>
      <dgm:spPr/>
      <dgm:t>
        <a:bodyPr/>
        <a:lstStyle/>
        <a:p>
          <a:endParaRPr lang="en-US"/>
        </a:p>
      </dgm:t>
    </dgm:pt>
    <dgm:pt modelId="{65198149-2C7A-445C-9FAE-33AC0FAC8787}" type="pres">
      <dgm:prSet presAssocID="{1B17984F-540E-48A5-B524-94B0AEC55639}" presName="diagram" presStyleCnt="0">
        <dgm:presLayoutVars>
          <dgm:dir/>
          <dgm:resizeHandles val="exact"/>
        </dgm:presLayoutVars>
      </dgm:prSet>
      <dgm:spPr/>
    </dgm:pt>
    <dgm:pt modelId="{A519FCAC-60BF-4111-A603-0840064C653A}" type="pres">
      <dgm:prSet presAssocID="{4F58AF4D-1639-460A-BBA9-A5BE8955DF1B}" presName="node" presStyleLbl="node1" presStyleIdx="0" presStyleCnt="5" custScaleX="99245" custScaleY="160314" custLinFactNeighborX="-1331" custLinFactNeighborY="-3535">
        <dgm:presLayoutVars>
          <dgm:bulletEnabled val="1"/>
        </dgm:presLayoutVars>
      </dgm:prSet>
      <dgm:spPr/>
    </dgm:pt>
    <dgm:pt modelId="{B9F6E188-2281-4A61-8D27-75DE560C8E39}" type="pres">
      <dgm:prSet presAssocID="{4F998C9B-D270-4EBE-821F-24F889824BD4}" presName="sibTrans" presStyleCnt="0"/>
      <dgm:spPr/>
    </dgm:pt>
    <dgm:pt modelId="{7FACDCA2-1946-4EAF-89A7-0A6AAD3E7482}" type="pres">
      <dgm:prSet presAssocID="{FB2558F0-7F32-459F-AF3D-A92E9F2ADD50}" presName="node" presStyleLbl="node1" presStyleIdx="1" presStyleCnt="5" custScaleX="180423" custScaleY="155234" custLinFactNeighborX="-172" custLinFactNeighborY="-4293">
        <dgm:presLayoutVars>
          <dgm:bulletEnabled val="1"/>
        </dgm:presLayoutVars>
      </dgm:prSet>
      <dgm:spPr/>
    </dgm:pt>
    <dgm:pt modelId="{51FC5F8C-6B73-4B37-8AF4-C6691408F252}" type="pres">
      <dgm:prSet presAssocID="{50F1BC12-AB6A-4858-84E3-16E43409B803}" presName="sibTrans" presStyleCnt="0"/>
      <dgm:spPr/>
    </dgm:pt>
    <dgm:pt modelId="{956801FC-5102-4F75-93A7-6416DA44BF3B}" type="pres">
      <dgm:prSet presAssocID="{381D38FE-EB9F-4DF7-9166-3EE70CCCE1E7}" presName="node" presStyleLbl="node1" presStyleIdx="2" presStyleCnt="5" custScaleX="71930" custScaleY="174402" custLinFactNeighborX="-1064" custLinFactNeighborY="5152">
        <dgm:presLayoutVars>
          <dgm:bulletEnabled val="1"/>
        </dgm:presLayoutVars>
      </dgm:prSet>
      <dgm:spPr/>
    </dgm:pt>
    <dgm:pt modelId="{ABBD20BC-8981-48EB-873D-884D6938BBC7}" type="pres">
      <dgm:prSet presAssocID="{45277FB5-BADF-452D-A346-B3105FD1D7F9}" presName="sibTrans" presStyleCnt="0"/>
      <dgm:spPr/>
    </dgm:pt>
    <dgm:pt modelId="{180CFFE2-7D87-454C-8CEE-105204F7DF91}" type="pres">
      <dgm:prSet presAssocID="{6DD19208-7A88-42C6-AD5E-846BF87A167A}" presName="node" presStyleLbl="node1" presStyleIdx="3" presStyleCnt="5" custScaleX="139062" custScaleY="179848" custLinFactNeighborX="-13566" custLinFactNeighborY="-10523">
        <dgm:presLayoutVars>
          <dgm:bulletEnabled val="1"/>
        </dgm:presLayoutVars>
      </dgm:prSet>
      <dgm:spPr/>
    </dgm:pt>
    <dgm:pt modelId="{31E70BF8-50A0-44C3-8C76-43BFA5E05330}" type="pres">
      <dgm:prSet presAssocID="{13C30E0A-A69E-47F7-8D8C-AFE40F8CB27D}" presName="sibTrans" presStyleCnt="0"/>
      <dgm:spPr/>
    </dgm:pt>
    <dgm:pt modelId="{4BCEA749-7BD7-489C-99EE-4024B0C61814}" type="pres">
      <dgm:prSet presAssocID="{DF7A7E97-B974-4D52-B044-AB6B0CFB802D}" presName="node" presStyleLbl="node1" presStyleIdx="4" presStyleCnt="5" custScaleX="206995" custScaleY="146077" custLinFactNeighborX="-6525" custLinFactNeighborY="-7846">
        <dgm:presLayoutVars>
          <dgm:bulletEnabled val="1"/>
        </dgm:presLayoutVars>
      </dgm:prSet>
      <dgm:spPr/>
    </dgm:pt>
  </dgm:ptLst>
  <dgm:cxnLst>
    <dgm:cxn modelId="{D7047411-CE32-4878-B1F9-14B406DF1BD8}" srcId="{1B17984F-540E-48A5-B524-94B0AEC55639}" destId="{6DD19208-7A88-42C6-AD5E-846BF87A167A}" srcOrd="3" destOrd="0" parTransId="{90D78FDA-BB6D-45D8-AE9B-5F56256D2940}" sibTransId="{13C30E0A-A69E-47F7-8D8C-AFE40F8CB27D}"/>
    <dgm:cxn modelId="{A4AF7618-9C12-4137-A1E4-A20AABCE3D30}" type="presOf" srcId="{4F58AF4D-1639-460A-BBA9-A5BE8955DF1B}" destId="{A519FCAC-60BF-4111-A603-0840064C653A}" srcOrd="0" destOrd="0" presId="urn:microsoft.com/office/officeart/2005/8/layout/default"/>
    <dgm:cxn modelId="{C5C99A93-95A4-45F9-BEC7-16B3C35C3B87}" type="presOf" srcId="{DF7A7E97-B974-4D52-B044-AB6B0CFB802D}" destId="{4BCEA749-7BD7-489C-99EE-4024B0C61814}" srcOrd="0" destOrd="0" presId="urn:microsoft.com/office/officeart/2005/8/layout/default"/>
    <dgm:cxn modelId="{14A056A1-F07F-4344-AD58-24094975438E}" type="presOf" srcId="{6DD19208-7A88-42C6-AD5E-846BF87A167A}" destId="{180CFFE2-7D87-454C-8CEE-105204F7DF91}" srcOrd="0" destOrd="0" presId="urn:microsoft.com/office/officeart/2005/8/layout/default"/>
    <dgm:cxn modelId="{17CF81B4-6CC2-4F82-9E24-52B312D99456}" srcId="{1B17984F-540E-48A5-B524-94B0AEC55639}" destId="{DF7A7E97-B974-4D52-B044-AB6B0CFB802D}" srcOrd="4" destOrd="0" parTransId="{4C1E622F-2E57-42EA-8328-A6BC66A686C3}" sibTransId="{37328627-A5A4-45B2-A9EE-13F8241DA1DA}"/>
    <dgm:cxn modelId="{04DF60C1-28B5-4068-A91F-3543E76D8EF1}" type="presOf" srcId="{FB2558F0-7F32-459F-AF3D-A92E9F2ADD50}" destId="{7FACDCA2-1946-4EAF-89A7-0A6AAD3E7482}" srcOrd="0" destOrd="0" presId="urn:microsoft.com/office/officeart/2005/8/layout/default"/>
    <dgm:cxn modelId="{13E714C2-991C-484C-8683-179005CEEEE2}" type="presOf" srcId="{1B17984F-540E-48A5-B524-94B0AEC55639}" destId="{65198149-2C7A-445C-9FAE-33AC0FAC8787}" srcOrd="0" destOrd="0" presId="urn:microsoft.com/office/officeart/2005/8/layout/default"/>
    <dgm:cxn modelId="{07473DCE-DC09-4690-AEAA-71CDACD75C30}" srcId="{1B17984F-540E-48A5-B524-94B0AEC55639}" destId="{4F58AF4D-1639-460A-BBA9-A5BE8955DF1B}" srcOrd="0" destOrd="0" parTransId="{19A60FB9-D085-49BC-B0C9-4438E6B76614}" sibTransId="{4F998C9B-D270-4EBE-821F-24F889824BD4}"/>
    <dgm:cxn modelId="{6E35C0D6-5747-42A1-8D77-FC504E5150B9}" type="presOf" srcId="{381D38FE-EB9F-4DF7-9166-3EE70CCCE1E7}" destId="{956801FC-5102-4F75-93A7-6416DA44BF3B}" srcOrd="0" destOrd="0" presId="urn:microsoft.com/office/officeart/2005/8/layout/default"/>
    <dgm:cxn modelId="{E8B7BFE4-E732-4098-9429-730BE38F66EC}" srcId="{1B17984F-540E-48A5-B524-94B0AEC55639}" destId="{FB2558F0-7F32-459F-AF3D-A92E9F2ADD50}" srcOrd="1" destOrd="0" parTransId="{669CE71F-9BFE-483B-9A6D-8F1AA3D9FB3C}" sibTransId="{50F1BC12-AB6A-4858-84E3-16E43409B803}"/>
    <dgm:cxn modelId="{A16C14F0-4012-4963-84C6-6CFE811636B9}" srcId="{1B17984F-540E-48A5-B524-94B0AEC55639}" destId="{381D38FE-EB9F-4DF7-9166-3EE70CCCE1E7}" srcOrd="2" destOrd="0" parTransId="{C642AC94-1340-4BDD-A2AB-D752BD4C9412}" sibTransId="{45277FB5-BADF-452D-A346-B3105FD1D7F9}"/>
    <dgm:cxn modelId="{D73E6FFD-EC4B-4993-B1C5-33C876B4553B}" type="presParOf" srcId="{65198149-2C7A-445C-9FAE-33AC0FAC8787}" destId="{A519FCAC-60BF-4111-A603-0840064C653A}" srcOrd="0" destOrd="0" presId="urn:microsoft.com/office/officeart/2005/8/layout/default"/>
    <dgm:cxn modelId="{60972D28-81D9-4BCD-834E-6A5E1C8621F2}" type="presParOf" srcId="{65198149-2C7A-445C-9FAE-33AC0FAC8787}" destId="{B9F6E188-2281-4A61-8D27-75DE560C8E39}" srcOrd="1" destOrd="0" presId="urn:microsoft.com/office/officeart/2005/8/layout/default"/>
    <dgm:cxn modelId="{3743313A-602C-4440-9185-90ACDF61E54F}" type="presParOf" srcId="{65198149-2C7A-445C-9FAE-33AC0FAC8787}" destId="{7FACDCA2-1946-4EAF-89A7-0A6AAD3E7482}" srcOrd="2" destOrd="0" presId="urn:microsoft.com/office/officeart/2005/8/layout/default"/>
    <dgm:cxn modelId="{0E639725-C91D-44C2-8630-21D7AD4A8620}" type="presParOf" srcId="{65198149-2C7A-445C-9FAE-33AC0FAC8787}" destId="{51FC5F8C-6B73-4B37-8AF4-C6691408F252}" srcOrd="3" destOrd="0" presId="urn:microsoft.com/office/officeart/2005/8/layout/default"/>
    <dgm:cxn modelId="{CE88C195-1089-44A1-A2B5-F12E24DDB269}" type="presParOf" srcId="{65198149-2C7A-445C-9FAE-33AC0FAC8787}" destId="{956801FC-5102-4F75-93A7-6416DA44BF3B}" srcOrd="4" destOrd="0" presId="urn:microsoft.com/office/officeart/2005/8/layout/default"/>
    <dgm:cxn modelId="{CDDF9170-939E-4C7B-B638-45046BC99360}" type="presParOf" srcId="{65198149-2C7A-445C-9FAE-33AC0FAC8787}" destId="{ABBD20BC-8981-48EB-873D-884D6938BBC7}" srcOrd="5" destOrd="0" presId="urn:microsoft.com/office/officeart/2005/8/layout/default"/>
    <dgm:cxn modelId="{E7AF2C64-46C3-482B-AC3A-F42C8F0E7AFE}" type="presParOf" srcId="{65198149-2C7A-445C-9FAE-33AC0FAC8787}" destId="{180CFFE2-7D87-454C-8CEE-105204F7DF91}" srcOrd="6" destOrd="0" presId="urn:microsoft.com/office/officeart/2005/8/layout/default"/>
    <dgm:cxn modelId="{73F4D2E4-35E2-4029-A96B-7061049953C8}" type="presParOf" srcId="{65198149-2C7A-445C-9FAE-33AC0FAC8787}" destId="{31E70BF8-50A0-44C3-8C76-43BFA5E05330}" srcOrd="7" destOrd="0" presId="urn:microsoft.com/office/officeart/2005/8/layout/default"/>
    <dgm:cxn modelId="{4749434F-329E-48A1-B676-E02422E87D0D}" type="presParOf" srcId="{65198149-2C7A-445C-9FAE-33AC0FAC8787}" destId="{4BCEA749-7BD7-489C-99EE-4024B0C61814}"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9FCAC-60BF-4111-A603-0840064C653A}">
      <dsp:nvSpPr>
        <dsp:cNvPr id="0" name=""/>
        <dsp:cNvSpPr/>
      </dsp:nvSpPr>
      <dsp:spPr>
        <a:xfrm>
          <a:off x="0" y="87736"/>
          <a:ext cx="2277898" cy="2207742"/>
        </a:xfrm>
        <a:prstGeom prst="rect">
          <a:avLst/>
        </a:prstGeom>
        <a:solidFill>
          <a:schemeClr val="accent4">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baseline="0" dirty="0"/>
            <a:t> </a:t>
          </a:r>
          <a:r>
            <a:rPr lang="en-US" sz="2000" b="1" kern="1200" baseline="0" dirty="0">
              <a:solidFill>
                <a:schemeClr val="tx1"/>
              </a:solidFill>
            </a:rPr>
            <a:t>Exchange-based</a:t>
          </a:r>
          <a:r>
            <a:rPr lang="en-US" sz="1800" kern="1200" baseline="0" dirty="0">
              <a:solidFill>
                <a:schemeClr val="tx1"/>
              </a:solidFill>
            </a:rPr>
            <a:t> Stocks traded on one exchange or a group of exchanges  (e.g., NASDAQ Composite)</a:t>
          </a:r>
          <a:endParaRPr lang="en-US" sz="1800" kern="1200" dirty="0">
            <a:solidFill>
              <a:schemeClr val="tx1"/>
            </a:solidFill>
          </a:endParaRPr>
        </a:p>
      </dsp:txBody>
      <dsp:txXfrm>
        <a:off x="0" y="87736"/>
        <a:ext cx="2277898" cy="2207742"/>
      </dsp:txXfrm>
    </dsp:sp>
    <dsp:sp modelId="{7FACDCA2-1946-4EAF-89A7-0A6AAD3E7482}">
      <dsp:nvSpPr>
        <dsp:cNvPr id="0" name=""/>
        <dsp:cNvSpPr/>
      </dsp:nvSpPr>
      <dsp:spPr>
        <a:xfrm>
          <a:off x="2504504" y="112277"/>
          <a:ext cx="4141118" cy="2137783"/>
        </a:xfrm>
        <a:prstGeom prst="rect">
          <a:avLst/>
        </a:prstGeom>
        <a:solidFill>
          <a:schemeClr val="bg2">
            <a:lumMod val="9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Industrial</a:t>
          </a:r>
        </a:p>
        <a:p>
          <a:pPr marL="0" lvl="0" indent="0" algn="ctr" defTabSz="889000">
            <a:lnSpc>
              <a:spcPct val="90000"/>
            </a:lnSpc>
            <a:spcBef>
              <a:spcPct val="0"/>
            </a:spcBef>
            <a:spcAft>
              <a:spcPct val="35000"/>
            </a:spcAft>
            <a:buNone/>
          </a:pPr>
          <a:r>
            <a:rPr lang="en-US" sz="2000" b="0" kern="1200" dirty="0">
              <a:solidFill>
                <a:schemeClr val="tx1"/>
              </a:solidFill>
            </a:rPr>
            <a:t>Stocks that belong to a specific industry sector (e.g., energy stocks are represented in the S&amp;P Global Energy Index)</a:t>
          </a:r>
          <a:endParaRPr lang="en-US" sz="2000" b="1" kern="1200" dirty="0">
            <a:solidFill>
              <a:schemeClr val="tx1"/>
            </a:solidFill>
          </a:endParaRPr>
        </a:p>
      </dsp:txBody>
      <dsp:txXfrm>
        <a:off x="2504504" y="112277"/>
        <a:ext cx="4141118" cy="2137783"/>
      </dsp:txXfrm>
    </dsp:sp>
    <dsp:sp modelId="{956801FC-5102-4F75-93A7-6416DA44BF3B}">
      <dsp:nvSpPr>
        <dsp:cNvPr id="0" name=""/>
        <dsp:cNvSpPr/>
      </dsp:nvSpPr>
      <dsp:spPr>
        <a:xfrm>
          <a:off x="6854671" y="110363"/>
          <a:ext cx="1650957" cy="2401753"/>
        </a:xfrm>
        <a:prstGeom prst="rect">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Regional</a:t>
          </a:r>
        </a:p>
        <a:p>
          <a:pPr marL="0" lvl="0" indent="0" algn="ctr" defTabSz="889000">
            <a:lnSpc>
              <a:spcPct val="90000"/>
            </a:lnSpc>
            <a:spcBef>
              <a:spcPct val="0"/>
            </a:spcBef>
            <a:spcAft>
              <a:spcPct val="35000"/>
            </a:spcAft>
            <a:buNone/>
          </a:pPr>
          <a:r>
            <a:rPr lang="en-US" sz="2000" b="0" kern="1200" dirty="0">
              <a:solidFill>
                <a:schemeClr val="tx1"/>
              </a:solidFill>
            </a:rPr>
            <a:t>Stocks from a particular region (e.g., </a:t>
          </a:r>
          <a:r>
            <a:rPr lang="en-US" sz="2000" b="0" i="0" kern="1200" dirty="0">
              <a:solidFill>
                <a:schemeClr val="tx1"/>
              </a:solidFill>
            </a:rPr>
            <a:t>Euro Stoxx 50)</a:t>
          </a:r>
          <a:endParaRPr lang="en-US" sz="2000" b="0" kern="1200" dirty="0">
            <a:solidFill>
              <a:schemeClr val="tx1"/>
            </a:solidFill>
          </a:endParaRPr>
        </a:p>
      </dsp:txBody>
      <dsp:txXfrm>
        <a:off x="6854671" y="110363"/>
        <a:ext cx="1650957" cy="2401753"/>
      </dsp:txXfrm>
    </dsp:sp>
    <dsp:sp modelId="{180CFFE2-7D87-454C-8CEE-105204F7DF91}">
      <dsp:nvSpPr>
        <dsp:cNvPr id="0" name=""/>
        <dsp:cNvSpPr/>
      </dsp:nvSpPr>
      <dsp:spPr>
        <a:xfrm>
          <a:off x="0" y="2525773"/>
          <a:ext cx="3191789" cy="2476752"/>
        </a:xfrm>
        <a:prstGeom prst="rect">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National </a:t>
          </a:r>
        </a:p>
        <a:p>
          <a:pPr marL="0" lvl="0" indent="0" algn="ctr" defTabSz="889000">
            <a:lnSpc>
              <a:spcPct val="90000"/>
            </a:lnSpc>
            <a:spcBef>
              <a:spcPct val="0"/>
            </a:spcBef>
            <a:spcAft>
              <a:spcPct val="35000"/>
            </a:spcAft>
            <a:buNone/>
          </a:pPr>
          <a:r>
            <a:rPr lang="en-US" sz="2000" b="0" kern="1200" dirty="0">
              <a:solidFill>
                <a:schemeClr val="tx1"/>
              </a:solidFill>
            </a:rPr>
            <a:t>Stocks from a specific country (e.g., India’s NIFTY 50)</a:t>
          </a:r>
          <a:endParaRPr lang="en-US" sz="2000" b="1" kern="1200" dirty="0">
            <a:solidFill>
              <a:schemeClr val="tx1"/>
            </a:solidFill>
          </a:endParaRPr>
        </a:p>
      </dsp:txBody>
      <dsp:txXfrm>
        <a:off x="0" y="2525773"/>
        <a:ext cx="3191789" cy="2476752"/>
      </dsp:txXfrm>
    </dsp:sp>
    <dsp:sp modelId="{4BCEA749-7BD7-489C-99EE-4024B0C61814}">
      <dsp:nvSpPr>
        <dsp:cNvPr id="0" name=""/>
        <dsp:cNvSpPr/>
      </dsp:nvSpPr>
      <dsp:spPr>
        <a:xfrm>
          <a:off x="3450929" y="2795175"/>
          <a:ext cx="4751005" cy="2011679"/>
        </a:xfrm>
        <a:prstGeom prst="rect">
          <a:avLst/>
        </a:prstGeom>
        <a:solidFill>
          <a:srgbClr val="D4D8C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rPr>
            <a:t>Global</a:t>
          </a:r>
        </a:p>
        <a:p>
          <a:pPr marL="0" lvl="0" indent="0" algn="ctr" defTabSz="889000">
            <a:lnSpc>
              <a:spcPct val="90000"/>
            </a:lnSpc>
            <a:spcBef>
              <a:spcPct val="0"/>
            </a:spcBef>
            <a:spcAft>
              <a:spcPct val="35000"/>
            </a:spcAft>
            <a:buNone/>
          </a:pPr>
          <a:r>
            <a:rPr lang="en-US" sz="2000" b="0" i="0" kern="1200" dirty="0">
              <a:solidFill>
                <a:schemeClr val="tx1"/>
              </a:solidFill>
            </a:rPr>
            <a:t>Stocks from across the globe (e.g., the MSCI World Index tracks companies in 23 developed countries)</a:t>
          </a:r>
          <a:endParaRPr lang="en-US" sz="2000" b="1" kern="1200" dirty="0">
            <a:solidFill>
              <a:schemeClr val="tx1"/>
            </a:solidFill>
          </a:endParaRPr>
        </a:p>
      </dsp:txBody>
      <dsp:txXfrm>
        <a:off x="3450929" y="2795175"/>
        <a:ext cx="4751005" cy="201167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30674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83976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B8BCC4-9B94-4BEF-91A3-495F4E4A73E7}" type="datetimeFigureOut">
              <a:rPr lang="en-US" smtClean="0"/>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677648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B8BCC4-9B94-4BEF-91A3-495F4E4A73E7}" type="datetimeFigureOut">
              <a:rPr lang="en-US" smtClean="0"/>
              <a:t>6/12/2023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3726625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B8BCC4-9B94-4BEF-91A3-495F4E4A73E7}" type="datetimeFigureOut">
              <a:rPr lang="en-US" smtClean="0"/>
              <a:t>6/12/2023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449032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B8BCC4-9B94-4BEF-91A3-495F4E4A73E7}" type="datetimeFigureOut">
              <a:rPr lang="en-US" smtClean="0"/>
              <a:t>6/12/2023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256968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B8BCC4-9B94-4BEF-91A3-495F4E4A73E7}" type="datetimeFigureOut">
              <a:rPr lang="en-US" smtClean="0"/>
              <a:t>6/12/2023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340011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B8BCC4-9B94-4BEF-91A3-495F4E4A73E7}" type="datetimeFigureOut">
              <a:rPr lang="en-US" smtClean="0"/>
              <a:t>6/12/2023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335267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B8BCC4-9B94-4BEF-91A3-495F4E4A73E7}" type="datetimeFigureOut">
              <a:rPr lang="en-US" smtClean="0"/>
              <a:t>6/12/2023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66512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2725446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8BCC4-9B94-4BEF-91A3-495F4E4A73E7}" type="datetimeFigureOut">
              <a:rPr lang="en-US" smtClean="0"/>
              <a:t>6/12/2023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D657CA-DE46-4F37-9012-4185F813808C}" type="slidenum">
              <a:rPr lang="en-US" smtClean="0"/>
              <a:t>‹#›</a:t>
            </a:fld>
            <a:endParaRPr lang="en-US" dirty="0"/>
          </a:p>
        </p:txBody>
      </p:sp>
    </p:spTree>
    <p:extLst>
      <p:ext uri="{BB962C8B-B14F-4D97-AF65-F5344CB8AC3E}">
        <p14:creationId xmlns:p14="http://schemas.microsoft.com/office/powerpoint/2010/main" val="19343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8BCC4-9B94-4BEF-91A3-495F4E4A73E7}" type="datetimeFigureOut">
              <a:rPr lang="en-US" smtClean="0"/>
              <a:t>6/12/2023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D657CA-DE46-4F37-9012-4185F813808C}" type="slidenum">
              <a:rPr lang="en-US" smtClean="0"/>
              <a:t>‹#›</a:t>
            </a:fld>
            <a:endParaRPr lang="en-US" dirty="0"/>
          </a:p>
        </p:txBody>
      </p:sp>
    </p:spTree>
    <p:extLst>
      <p:ext uri="{BB962C8B-B14F-4D97-AF65-F5344CB8AC3E}">
        <p14:creationId xmlns:p14="http://schemas.microsoft.com/office/powerpoint/2010/main" val="9099079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rds-www.wharton.upenn.edu/pages/grid-items/capm-equity-valuation/"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hyperlink" Target="https://wrds-www.wharton.upenn.edu/pages/grid-items/beta-visualization/"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en.wikipedia.org/wiki/Mathematical_models" TargetMode="External"/><Relationship Id="rId7" Type="http://schemas.openxmlformats.org/officeDocument/2006/relationships/diagramColors" Target="../diagrams/colors1.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n.wikipedia.org/wiki/Mathematical_models"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spglobal.com/spdji/en/indices/equity/sp-500/#overview"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18" Type="http://schemas.openxmlformats.org/officeDocument/2006/relationships/image" Target="../media/image28.sv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image" Target="../media/image1.jpg"/><Relationship Id="rId16" Type="http://schemas.openxmlformats.org/officeDocument/2006/relationships/image" Target="../media/image26.svg"/><Relationship Id="rId20" Type="http://schemas.openxmlformats.org/officeDocument/2006/relationships/image" Target="../media/image30.svg"/><Relationship Id="rId1" Type="http://schemas.openxmlformats.org/officeDocument/2006/relationships/slideLayout" Target="../slideLayouts/slideLayout2.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svg"/><Relationship Id="rId19" Type="http://schemas.openxmlformats.org/officeDocument/2006/relationships/image" Target="../media/image29.png"/><Relationship Id="rId4" Type="http://schemas.openxmlformats.org/officeDocument/2006/relationships/image" Target="../media/image14.svg"/><Relationship Id="rId9" Type="http://schemas.openxmlformats.org/officeDocument/2006/relationships/image" Target="../media/image19.png"/><Relationship Id="rId14" Type="http://schemas.openxmlformats.org/officeDocument/2006/relationships/image" Target="../media/image24.svg"/><Relationship Id="rId22" Type="http://schemas.openxmlformats.org/officeDocument/2006/relationships/image" Target="../media/image32.svg"/></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rds-www.wharton.upenn.edu/classroom/sp500-introduction/"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wrds-www.wharton.upenn.edu/classroom/sp500-introduction/year-explorer/&#160;" TargetMode="External"/><Relationship Id="rId4" Type="http://schemas.openxmlformats.org/officeDocument/2006/relationships/hyperlink" Target="https://wrds-www.wharton.upenn.edu/classroom/sp500-introduction/over-time/"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spglobal.com/spdji/en/indices/equity/sp-500/#overview"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339"/>
            <a:ext cx="9144000" cy="6415100"/>
          </a:xfrm>
          <a:prstGeom prst="rect">
            <a:avLst/>
          </a:prstGeom>
        </p:spPr>
      </p:pic>
      <p:sp>
        <p:nvSpPr>
          <p:cNvPr id="8" name="Subtitle 7"/>
          <p:cNvSpPr>
            <a:spLocks noGrp="1"/>
          </p:cNvSpPr>
          <p:nvPr>
            <p:ph type="subTitle" idx="1"/>
          </p:nvPr>
        </p:nvSpPr>
        <p:spPr>
          <a:xfrm>
            <a:off x="1211580" y="2210204"/>
            <a:ext cx="6858000" cy="1864179"/>
          </a:xfrm>
        </p:spPr>
        <p:txBody>
          <a:bodyPr>
            <a:noAutofit/>
          </a:bodyPr>
          <a:lstStyle/>
          <a:p>
            <a:r>
              <a:rPr lang="en-US" sz="6000" dirty="0"/>
              <a:t>The S&amp;P 500</a:t>
            </a:r>
          </a:p>
        </p:txBody>
      </p:sp>
    </p:spTree>
    <p:extLst>
      <p:ext uri="{BB962C8B-B14F-4D97-AF65-F5344CB8AC3E}">
        <p14:creationId xmlns:p14="http://schemas.microsoft.com/office/powerpoint/2010/main" val="3717743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115745"/>
            <a:ext cx="7886700" cy="1325563"/>
          </a:xfrm>
        </p:spPr>
        <p:txBody>
          <a:bodyPr/>
          <a:lstStyle/>
          <a:p>
            <a:r>
              <a:rPr lang="en-US" b="1" dirty="0"/>
              <a:t>Learning Objectives</a:t>
            </a:r>
          </a:p>
        </p:txBody>
      </p:sp>
      <p:sp>
        <p:nvSpPr>
          <p:cNvPr id="8" name="Content Placeholder 7"/>
          <p:cNvSpPr>
            <a:spLocks noGrp="1"/>
          </p:cNvSpPr>
          <p:nvPr>
            <p:ph idx="1"/>
          </p:nvPr>
        </p:nvSpPr>
        <p:spPr>
          <a:xfrm>
            <a:off x="753341" y="1385601"/>
            <a:ext cx="8265968" cy="4086797"/>
          </a:xfrm>
        </p:spPr>
        <p:txBody>
          <a:bodyPr>
            <a:noAutofit/>
          </a:bodyPr>
          <a:lstStyle/>
          <a:p>
            <a:pPr marL="0" marR="0" indent="0">
              <a:spcBef>
                <a:spcPts val="0"/>
              </a:spcBef>
              <a:spcAft>
                <a:spcPts val="0"/>
              </a:spcAft>
              <a:buNone/>
            </a:pPr>
            <a:r>
              <a:rPr lang="en-US" dirty="0">
                <a:effectLst/>
                <a:ea typeface="Calibri" panose="020F0502020204030204" pitchFamily="34" charset="0"/>
                <a:cs typeface="Times New Roman" panose="02020603050405020304" pitchFamily="18" charset="0"/>
              </a:rPr>
              <a:t>Students completing the slide deck will:</a:t>
            </a:r>
            <a:br>
              <a:rPr lang="en-US" dirty="0">
                <a:effectLst/>
                <a:ea typeface="Calibri" panose="020F0502020204030204" pitchFamily="34" charset="0"/>
                <a:cs typeface="Times New Roman" panose="02020603050405020304" pitchFamily="18" charset="0"/>
              </a:rPr>
            </a:br>
            <a:endParaRPr lang="en-US" dirty="0">
              <a:effectLst/>
              <a:ea typeface="Calibri" panose="020F0502020204030204" pitchFamily="34" charset="0"/>
              <a:cs typeface="Times New Roman" panose="02020603050405020304" pitchFamily="18" charset="0"/>
            </a:endParaRPr>
          </a:p>
          <a:p>
            <a:pPr lvl="1">
              <a:spcBef>
                <a:spcPts val="0"/>
              </a:spcBef>
            </a:pPr>
            <a:r>
              <a:rPr lang="en-US" sz="2800" dirty="0">
                <a:effectLst/>
                <a:ea typeface="Calibri" panose="020F0502020204030204" pitchFamily="34" charset="0"/>
                <a:cs typeface="Times New Roman" panose="02020603050405020304" pitchFamily="18" charset="0"/>
              </a:rPr>
              <a:t>Understand what stock market indices are</a:t>
            </a:r>
            <a:r>
              <a:rPr lang="en-US" sz="2800" dirty="0">
                <a:ea typeface="Calibri" panose="020F0502020204030204" pitchFamily="34" charset="0"/>
                <a:cs typeface="Times New Roman" panose="02020603050405020304" pitchFamily="18" charset="0"/>
              </a:rPr>
              <a:t> </a:t>
            </a:r>
            <a:r>
              <a:rPr lang="en-US" sz="2800" dirty="0">
                <a:effectLst/>
                <a:ea typeface="Calibri" panose="020F0502020204030204" pitchFamily="34" charset="0"/>
                <a:cs typeface="Times New Roman" panose="02020603050405020304" pitchFamily="18" charset="0"/>
              </a:rPr>
              <a:t>and </a:t>
            </a:r>
            <a:r>
              <a:rPr lang="en-US" sz="2800" dirty="0">
                <a:ea typeface="Calibri" panose="020F0502020204030204" pitchFamily="34" charset="0"/>
                <a:cs typeface="Times New Roman" panose="02020603050405020304" pitchFamily="18" charset="0"/>
              </a:rPr>
              <a:t>r</a:t>
            </a:r>
            <a:r>
              <a:rPr lang="en-US" sz="2800" dirty="0">
                <a:effectLst/>
                <a:ea typeface="Calibri" panose="020F0502020204030204" pitchFamily="34" charset="0"/>
                <a:cs typeface="Times New Roman" panose="02020603050405020304" pitchFamily="18" charset="0"/>
              </a:rPr>
              <a:t>ecognize some of the most commonly used stock market indices</a:t>
            </a:r>
          </a:p>
          <a:p>
            <a:pPr lvl="1">
              <a:spcBef>
                <a:spcPts val="0"/>
              </a:spcBef>
            </a:pPr>
            <a:endParaRPr lang="en-US" sz="2800" dirty="0">
              <a:ea typeface="Calibri" panose="020F0502020204030204" pitchFamily="34" charset="0"/>
              <a:cs typeface="Times New Roman" panose="02020603050405020304" pitchFamily="18" charset="0"/>
            </a:endParaRPr>
          </a:p>
          <a:p>
            <a:pPr lvl="1">
              <a:spcBef>
                <a:spcPts val="0"/>
              </a:spcBef>
            </a:pPr>
            <a:r>
              <a:rPr lang="en-US" sz="2800" dirty="0">
                <a:effectLst/>
                <a:ea typeface="Calibri" panose="020F0502020204030204" pitchFamily="34" charset="0"/>
                <a:cs typeface="Times New Roman" panose="02020603050405020304" pitchFamily="18" charset="0"/>
              </a:rPr>
              <a:t>Differentiate between price-weighted and value-weighted indices</a:t>
            </a:r>
          </a:p>
          <a:p>
            <a:pPr lvl="1">
              <a:spcBef>
                <a:spcPts val="0"/>
              </a:spcBef>
            </a:pPr>
            <a:endParaRPr lang="en-US" sz="2800" dirty="0">
              <a:solidFill>
                <a:srgbClr val="374151"/>
              </a:solidFill>
              <a:ea typeface="Times New Roman" panose="02020603050405020304" pitchFamily="18" charset="0"/>
              <a:cs typeface="Times New Roman" panose="02020603050405020304" pitchFamily="18" charset="0"/>
            </a:endParaRPr>
          </a:p>
          <a:p>
            <a:pPr lvl="1">
              <a:spcBef>
                <a:spcPts val="0"/>
              </a:spcBef>
            </a:pPr>
            <a:r>
              <a:rPr lang="en-US" sz="2800" dirty="0">
                <a:solidFill>
                  <a:srgbClr val="374151"/>
                </a:solidFill>
                <a:effectLst/>
                <a:ea typeface="Times New Roman" panose="02020603050405020304" pitchFamily="18" charset="0"/>
                <a:cs typeface="Times New Roman" panose="02020603050405020304" pitchFamily="18" charset="0"/>
              </a:rPr>
              <a:t>L</a:t>
            </a:r>
            <a:r>
              <a:rPr lang="en-US" sz="2800" dirty="0">
                <a:solidFill>
                  <a:srgbClr val="374151"/>
                </a:solidFill>
                <a:effectLst/>
                <a:ea typeface="Times New Roman" panose="02020603050405020304" pitchFamily="18" charset="0"/>
              </a:rPr>
              <a:t>earn about the S&amp;P 500 index, including how it is constructed</a:t>
            </a:r>
            <a:endParaRPr lang="en-US"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9859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6AD502-5304-3FE5-4E83-1DE4E3F5C3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6" y="558103"/>
            <a:ext cx="9144000" cy="6415100"/>
          </a:xfrm>
          <a:prstGeom prst="rect">
            <a:avLst/>
          </a:prstGeom>
        </p:spPr>
      </p:pic>
      <p:sp>
        <p:nvSpPr>
          <p:cNvPr id="7" name="Title 6"/>
          <p:cNvSpPr>
            <a:spLocks noGrp="1"/>
          </p:cNvSpPr>
          <p:nvPr>
            <p:ph type="title"/>
          </p:nvPr>
        </p:nvSpPr>
        <p:spPr>
          <a:xfrm>
            <a:off x="628650" y="115745"/>
            <a:ext cx="7886700" cy="1325563"/>
          </a:xfrm>
        </p:spPr>
        <p:txBody>
          <a:bodyPr/>
          <a:lstStyle/>
          <a:p>
            <a:r>
              <a:rPr lang="en-US" b="1" dirty="0"/>
              <a:t>What is a Stock Market Index?</a:t>
            </a:r>
          </a:p>
        </p:txBody>
      </p:sp>
      <p:sp>
        <p:nvSpPr>
          <p:cNvPr id="8" name="Content Placeholder 7"/>
          <p:cNvSpPr>
            <a:spLocks noGrp="1"/>
          </p:cNvSpPr>
          <p:nvPr>
            <p:ph idx="1"/>
          </p:nvPr>
        </p:nvSpPr>
        <p:spPr>
          <a:xfrm>
            <a:off x="335861" y="1417873"/>
            <a:ext cx="3980636" cy="4086797"/>
          </a:xfrm>
        </p:spPr>
        <p:txBody>
          <a:bodyPr>
            <a:noAutofit/>
          </a:bodyPr>
          <a:lstStyle/>
          <a:p>
            <a:pPr algn="l"/>
            <a:endParaRPr lang="en-US" dirty="0">
              <a:solidFill>
                <a:srgbClr val="374151"/>
              </a:solidFill>
              <a:latin typeface="Söhne"/>
            </a:endParaRPr>
          </a:p>
          <a:p>
            <a:pPr algn="l"/>
            <a:r>
              <a:rPr lang="en-US" dirty="0">
                <a:solidFill>
                  <a:srgbClr val="374151"/>
                </a:solidFill>
                <a:latin typeface="Söhne"/>
              </a:rPr>
              <a:t>A</a:t>
            </a:r>
            <a:r>
              <a:rPr lang="en-US" b="0" i="0" dirty="0">
                <a:solidFill>
                  <a:srgbClr val="374151"/>
                </a:solidFill>
                <a:effectLst/>
                <a:latin typeface="Söhne"/>
              </a:rPr>
              <a:t> stock market index is a </a:t>
            </a:r>
            <a:r>
              <a:rPr lang="en-US" dirty="0">
                <a:solidFill>
                  <a:srgbClr val="374151"/>
                </a:solidFill>
                <a:latin typeface="Söhne"/>
              </a:rPr>
              <a:t>hypothetical portfolio </a:t>
            </a:r>
            <a:r>
              <a:rPr lang="en-US" b="0" i="0" dirty="0">
                <a:solidFill>
                  <a:srgbClr val="374151"/>
                </a:solidFill>
                <a:effectLst/>
                <a:latin typeface="Söhne"/>
              </a:rPr>
              <a:t>created by: (1) selecting a group of stocks that represent a particular market or industry</a:t>
            </a:r>
            <a:r>
              <a:rPr lang="en-US" dirty="0">
                <a:solidFill>
                  <a:srgbClr val="374151"/>
                </a:solidFill>
                <a:latin typeface="Söhne"/>
              </a:rPr>
              <a:t>, </a:t>
            </a:r>
            <a:r>
              <a:rPr lang="en-US" b="0" i="0" dirty="0">
                <a:solidFill>
                  <a:srgbClr val="374151"/>
                </a:solidFill>
                <a:effectLst/>
                <a:latin typeface="Söhne"/>
              </a:rPr>
              <a:t>and (2) tracking the performance of those stocks over time. </a:t>
            </a:r>
          </a:p>
          <a:p>
            <a:pPr algn="l"/>
            <a:endParaRPr lang="en-US" dirty="0">
              <a:solidFill>
                <a:srgbClr val="374151"/>
              </a:solidFill>
              <a:latin typeface="Söhne"/>
            </a:endParaRPr>
          </a:p>
        </p:txBody>
      </p:sp>
      <p:sp>
        <p:nvSpPr>
          <p:cNvPr id="5" name="Graphic 2" descr="Open folder outline">
            <a:extLst>
              <a:ext uri="{FF2B5EF4-FFF2-40B4-BE49-F238E27FC236}">
                <a16:creationId xmlns:a16="http://schemas.microsoft.com/office/drawing/2014/main" id="{1F0A5722-211B-0AA0-E72D-A6259A24701E}"/>
              </a:ext>
            </a:extLst>
          </p:cNvPr>
          <p:cNvSpPr/>
          <p:nvPr/>
        </p:nvSpPr>
        <p:spPr>
          <a:xfrm>
            <a:off x="4919558" y="3131280"/>
            <a:ext cx="3503411" cy="2515930"/>
          </a:xfrm>
          <a:custGeom>
            <a:avLst/>
            <a:gdLst>
              <a:gd name="connsiteX0" fmla="*/ 87001 w 3503411"/>
              <a:gd name="connsiteY0" fmla="*/ 2514718 h 2515930"/>
              <a:gd name="connsiteX1" fmla="*/ 91852 w 3503411"/>
              <a:gd name="connsiteY1" fmla="*/ 2515931 h 2515930"/>
              <a:gd name="connsiteX2" fmla="*/ 2874579 w 3503411"/>
              <a:gd name="connsiteY2" fmla="*/ 2515931 h 2515930"/>
              <a:gd name="connsiteX3" fmla="*/ 3485427 w 3503411"/>
              <a:gd name="connsiteY3" fmla="*/ 1204045 h 2515930"/>
              <a:gd name="connsiteX4" fmla="*/ 3399576 w 3503411"/>
              <a:gd name="connsiteY4" fmla="*/ 960258 h 2515930"/>
              <a:gd name="connsiteX5" fmla="*/ 3341699 w 3503411"/>
              <a:gd name="connsiteY5" fmla="*/ 943536 h 2515930"/>
              <a:gd name="connsiteX6" fmla="*/ 3144071 w 3503411"/>
              <a:gd name="connsiteY6" fmla="*/ 943536 h 2515930"/>
              <a:gd name="connsiteX7" fmla="*/ 3144071 w 3503411"/>
              <a:gd name="connsiteY7" fmla="*/ 539298 h 2515930"/>
              <a:gd name="connsiteX8" fmla="*/ 2964410 w 3503411"/>
              <a:gd name="connsiteY8" fmla="*/ 359637 h 2515930"/>
              <a:gd name="connsiteX9" fmla="*/ 1629527 w 3503411"/>
              <a:gd name="connsiteY9" fmla="*/ 359637 h 2515930"/>
              <a:gd name="connsiteX10" fmla="*/ 1606620 w 3503411"/>
              <a:gd name="connsiteY10" fmla="*/ 352720 h 2515930"/>
              <a:gd name="connsiteX11" fmla="*/ 1122883 w 3503411"/>
              <a:gd name="connsiteY11" fmla="*/ 31441 h 2515930"/>
              <a:gd name="connsiteX12" fmla="*/ 1024069 w 3503411"/>
              <a:gd name="connsiteY12" fmla="*/ 0 h 2515930"/>
              <a:gd name="connsiteX13" fmla="*/ 179661 w 3503411"/>
              <a:gd name="connsiteY13" fmla="*/ 0 h 2515930"/>
              <a:gd name="connsiteX14" fmla="*/ 0 w 3503411"/>
              <a:gd name="connsiteY14" fmla="*/ 179661 h 2515930"/>
              <a:gd name="connsiteX15" fmla="*/ 0 w 3503411"/>
              <a:gd name="connsiteY15" fmla="*/ 2425157 h 2515930"/>
              <a:gd name="connsiteX16" fmla="*/ 87001 w 3503411"/>
              <a:gd name="connsiteY16" fmla="*/ 2514718 h 2515930"/>
              <a:gd name="connsiteX17" fmla="*/ 3336893 w 3503411"/>
              <a:gd name="connsiteY17" fmla="*/ 1033277 h 2515930"/>
              <a:gd name="connsiteX18" fmla="*/ 3412328 w 3503411"/>
              <a:gd name="connsiteY18" fmla="*/ 1141280 h 2515930"/>
              <a:gd name="connsiteX19" fmla="*/ 3405254 w 3503411"/>
              <a:gd name="connsiteY19" fmla="*/ 1163890 h 2515930"/>
              <a:gd name="connsiteX20" fmla="*/ 3404670 w 3503411"/>
              <a:gd name="connsiteY20" fmla="*/ 1165013 h 2515930"/>
              <a:gd name="connsiteX21" fmla="*/ 3404176 w 3503411"/>
              <a:gd name="connsiteY21" fmla="*/ 1166136 h 2515930"/>
              <a:gd name="connsiteX22" fmla="*/ 2817582 w 3503411"/>
              <a:gd name="connsiteY22" fmla="*/ 2425831 h 2515930"/>
              <a:gd name="connsiteX23" fmla="*/ 2817178 w 3503411"/>
              <a:gd name="connsiteY23" fmla="*/ 2426100 h 2515930"/>
              <a:gd name="connsiteX24" fmla="*/ 184153 w 3503411"/>
              <a:gd name="connsiteY24" fmla="*/ 2426100 h 2515930"/>
              <a:gd name="connsiteX25" fmla="*/ 183713 w 3503411"/>
              <a:gd name="connsiteY25" fmla="*/ 2425642 h 2515930"/>
              <a:gd name="connsiteX26" fmla="*/ 183748 w 3503411"/>
              <a:gd name="connsiteY26" fmla="*/ 2425471 h 2515930"/>
              <a:gd name="connsiteX27" fmla="*/ 737958 w 3503411"/>
              <a:gd name="connsiteY27" fmla="*/ 1078551 h 2515930"/>
              <a:gd name="connsiteX28" fmla="*/ 808475 w 3503411"/>
              <a:gd name="connsiteY28" fmla="*/ 1033277 h 2515930"/>
              <a:gd name="connsiteX29" fmla="*/ 89831 w 3503411"/>
              <a:gd name="connsiteY29" fmla="*/ 179661 h 2515930"/>
              <a:gd name="connsiteX30" fmla="*/ 179661 w 3503411"/>
              <a:gd name="connsiteY30" fmla="*/ 89831 h 2515930"/>
              <a:gd name="connsiteX31" fmla="*/ 1024069 w 3503411"/>
              <a:gd name="connsiteY31" fmla="*/ 89831 h 2515930"/>
              <a:gd name="connsiteX32" fmla="*/ 1075856 w 3503411"/>
              <a:gd name="connsiteY32" fmla="*/ 108021 h 2515930"/>
              <a:gd name="connsiteX33" fmla="*/ 1556899 w 3503411"/>
              <a:gd name="connsiteY33" fmla="*/ 427324 h 2515930"/>
              <a:gd name="connsiteX34" fmla="*/ 1629527 w 3503411"/>
              <a:gd name="connsiteY34" fmla="*/ 449243 h 2515930"/>
              <a:gd name="connsiteX35" fmla="*/ 2964410 w 3503411"/>
              <a:gd name="connsiteY35" fmla="*/ 449243 h 2515930"/>
              <a:gd name="connsiteX36" fmla="*/ 3054241 w 3503411"/>
              <a:gd name="connsiteY36" fmla="*/ 539073 h 2515930"/>
              <a:gd name="connsiteX37" fmla="*/ 3054241 w 3503411"/>
              <a:gd name="connsiteY37" fmla="*/ 942952 h 2515930"/>
              <a:gd name="connsiteX38" fmla="*/ 853391 w 3503411"/>
              <a:gd name="connsiteY38" fmla="*/ 942952 h 2515930"/>
              <a:gd name="connsiteX39" fmla="*/ 846384 w 3503411"/>
              <a:gd name="connsiteY39" fmla="*/ 943446 h 2515930"/>
              <a:gd name="connsiteX40" fmla="*/ 808475 w 3503411"/>
              <a:gd name="connsiteY40" fmla="*/ 943446 h 2515930"/>
              <a:gd name="connsiteX41" fmla="*/ 655763 w 3503411"/>
              <a:gd name="connsiteY41" fmla="*/ 1042260 h 2515930"/>
              <a:gd name="connsiteX42" fmla="*/ 90684 w 3503411"/>
              <a:gd name="connsiteY42" fmla="*/ 2415500 h 2515930"/>
              <a:gd name="connsiteX43" fmla="*/ 90118 w 3503411"/>
              <a:gd name="connsiteY43" fmla="*/ 2415787 h 2515930"/>
              <a:gd name="connsiteX44" fmla="*/ 89831 w 3503411"/>
              <a:gd name="connsiteY44" fmla="*/ 2415500 h 251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503411" h="2515930">
                <a:moveTo>
                  <a:pt x="87001" y="2514718"/>
                </a:moveTo>
                <a:cubicBezTo>
                  <a:pt x="88577" y="2515266"/>
                  <a:pt x="90203" y="2515670"/>
                  <a:pt x="91852" y="2515931"/>
                </a:cubicBezTo>
                <a:lnTo>
                  <a:pt x="2874579" y="2515931"/>
                </a:lnTo>
                <a:lnTo>
                  <a:pt x="3485427" y="1204045"/>
                </a:lnTo>
                <a:cubicBezTo>
                  <a:pt x="3529040" y="1113019"/>
                  <a:pt x="3490606" y="1003871"/>
                  <a:pt x="3399576" y="960258"/>
                </a:cubicBezTo>
                <a:cubicBezTo>
                  <a:pt x="3381341" y="951522"/>
                  <a:pt x="3361785" y="945867"/>
                  <a:pt x="3341699" y="943536"/>
                </a:cubicBezTo>
                <a:lnTo>
                  <a:pt x="3144071" y="943536"/>
                </a:lnTo>
                <a:lnTo>
                  <a:pt x="3144071" y="539298"/>
                </a:lnTo>
                <a:cubicBezTo>
                  <a:pt x="3143775" y="440197"/>
                  <a:pt x="3063511" y="359933"/>
                  <a:pt x="2964410" y="359637"/>
                </a:cubicBezTo>
                <a:lnTo>
                  <a:pt x="1629527" y="359637"/>
                </a:lnTo>
                <a:cubicBezTo>
                  <a:pt x="1621380" y="359623"/>
                  <a:pt x="1613412" y="357220"/>
                  <a:pt x="1606620" y="352720"/>
                </a:cubicBezTo>
                <a:lnTo>
                  <a:pt x="1122883" y="31441"/>
                </a:lnTo>
                <a:cubicBezTo>
                  <a:pt x="1093337" y="12338"/>
                  <a:pt x="1059220" y="1487"/>
                  <a:pt x="1024069" y="0"/>
                </a:cubicBezTo>
                <a:lnTo>
                  <a:pt x="179661" y="0"/>
                </a:lnTo>
                <a:cubicBezTo>
                  <a:pt x="80560" y="296"/>
                  <a:pt x="296" y="80560"/>
                  <a:pt x="0" y="179661"/>
                </a:cubicBezTo>
                <a:lnTo>
                  <a:pt x="0" y="2425157"/>
                </a:lnTo>
                <a:cubicBezTo>
                  <a:pt x="121" y="2473580"/>
                  <a:pt x="38602" y="2513191"/>
                  <a:pt x="87001" y="2514718"/>
                </a:cubicBezTo>
                <a:close/>
                <a:moveTo>
                  <a:pt x="3336893" y="1033277"/>
                </a:moveTo>
                <a:cubicBezTo>
                  <a:pt x="3387548" y="1042269"/>
                  <a:pt x="3421320" y="1090624"/>
                  <a:pt x="3412328" y="1141280"/>
                </a:cubicBezTo>
                <a:cubicBezTo>
                  <a:pt x="3410940" y="1149086"/>
                  <a:pt x="3408564" y="1156686"/>
                  <a:pt x="3405254" y="1163890"/>
                </a:cubicBezTo>
                <a:lnTo>
                  <a:pt x="3404670" y="1165013"/>
                </a:lnTo>
                <a:lnTo>
                  <a:pt x="3404176" y="1166136"/>
                </a:lnTo>
                <a:lnTo>
                  <a:pt x="2817582" y="2425831"/>
                </a:lnTo>
                <a:lnTo>
                  <a:pt x="2817178" y="2426100"/>
                </a:lnTo>
                <a:lnTo>
                  <a:pt x="184153" y="2426100"/>
                </a:lnTo>
                <a:cubicBezTo>
                  <a:pt x="183906" y="2426096"/>
                  <a:pt x="183708" y="2425894"/>
                  <a:pt x="183713" y="2425642"/>
                </a:cubicBezTo>
                <a:cubicBezTo>
                  <a:pt x="183713" y="2425584"/>
                  <a:pt x="183726" y="2425525"/>
                  <a:pt x="183748" y="2425471"/>
                </a:cubicBezTo>
                <a:lnTo>
                  <a:pt x="737958" y="1078551"/>
                </a:lnTo>
                <a:cubicBezTo>
                  <a:pt x="750908" y="1051247"/>
                  <a:pt x="778261" y="1033685"/>
                  <a:pt x="808475" y="1033277"/>
                </a:cubicBezTo>
                <a:close/>
                <a:moveTo>
                  <a:pt x="89831" y="179661"/>
                </a:moveTo>
                <a:cubicBezTo>
                  <a:pt x="89831" y="130048"/>
                  <a:pt x="130048" y="89831"/>
                  <a:pt x="179661" y="89831"/>
                </a:cubicBezTo>
                <a:lnTo>
                  <a:pt x="1024069" y="89831"/>
                </a:lnTo>
                <a:cubicBezTo>
                  <a:pt x="1042601" y="91371"/>
                  <a:pt x="1060432" y="97632"/>
                  <a:pt x="1075856" y="108021"/>
                </a:cubicBezTo>
                <a:lnTo>
                  <a:pt x="1556899" y="427324"/>
                </a:lnTo>
                <a:cubicBezTo>
                  <a:pt x="1578427" y="441612"/>
                  <a:pt x="1603687" y="449238"/>
                  <a:pt x="1629527" y="449243"/>
                </a:cubicBezTo>
                <a:lnTo>
                  <a:pt x="2964410" y="449243"/>
                </a:lnTo>
                <a:cubicBezTo>
                  <a:pt x="3014023" y="449243"/>
                  <a:pt x="3054241" y="489460"/>
                  <a:pt x="3054241" y="539073"/>
                </a:cubicBezTo>
                <a:lnTo>
                  <a:pt x="3054241" y="942952"/>
                </a:lnTo>
                <a:lnTo>
                  <a:pt x="853391" y="942952"/>
                </a:lnTo>
                <a:cubicBezTo>
                  <a:pt x="851010" y="942952"/>
                  <a:pt x="848899" y="943356"/>
                  <a:pt x="846384" y="943446"/>
                </a:cubicBezTo>
                <a:lnTo>
                  <a:pt x="808475" y="943446"/>
                </a:lnTo>
                <a:cubicBezTo>
                  <a:pt x="742652" y="943769"/>
                  <a:pt x="683032" y="982352"/>
                  <a:pt x="655763" y="1042260"/>
                </a:cubicBezTo>
                <a:lnTo>
                  <a:pt x="90684" y="2415500"/>
                </a:lnTo>
                <a:cubicBezTo>
                  <a:pt x="90608" y="2415738"/>
                  <a:pt x="90352" y="2415864"/>
                  <a:pt x="90118" y="2415787"/>
                </a:cubicBezTo>
                <a:cubicBezTo>
                  <a:pt x="89983" y="2415743"/>
                  <a:pt x="89876" y="2415635"/>
                  <a:pt x="89831" y="2415500"/>
                </a:cubicBezTo>
                <a:close/>
              </a:path>
            </a:pathLst>
          </a:custGeom>
          <a:blipFill>
            <a:blip r:embed="rId3"/>
            <a:tile tx="0" ty="0" sx="100000" sy="100000" flip="none" algn="tl"/>
          </a:blipFill>
          <a:ln w="44847" cap="flat">
            <a:noFill/>
            <a:prstDash val="solid"/>
            <a:miter/>
          </a:ln>
        </p:spPr>
        <p:txBody>
          <a:bodyPr rtlCol="0" anchor="ctr"/>
          <a:lstStyle/>
          <a:p>
            <a:endParaRPr lang="en-US"/>
          </a:p>
        </p:txBody>
      </p:sp>
      <p:pic>
        <p:nvPicPr>
          <p:cNvPr id="1028" name="Picture 4">
            <a:extLst>
              <a:ext uri="{FF2B5EF4-FFF2-40B4-BE49-F238E27FC236}">
                <a16:creationId xmlns:a16="http://schemas.microsoft.com/office/drawing/2014/main" id="{F2F52459-2C4A-976B-9311-A0D7444F9D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1077210">
            <a:off x="5083400" y="3176127"/>
            <a:ext cx="2088768" cy="15596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B39AF5E9-BBBD-0EAD-2C04-9B2C9973700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20380063">
            <a:off x="5444701" y="2748893"/>
            <a:ext cx="1994338" cy="8912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0B80AC9-1753-52B1-857D-F22946B0E63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285153">
            <a:off x="6723466" y="2416506"/>
            <a:ext cx="2380012" cy="153998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091BDCC2-7DE6-82D8-5DDE-D44BF770482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687817">
            <a:off x="7371101" y="1791771"/>
            <a:ext cx="1135939" cy="117314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27001899-3542-287A-63C0-547690FC4F2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20683875">
            <a:off x="6370451" y="1490980"/>
            <a:ext cx="816303" cy="108572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D193CA8B-AA85-79C6-0FE2-420180A7DA4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19768579">
            <a:off x="7136158" y="1127701"/>
            <a:ext cx="1514690" cy="51199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7A4FB8D-BE2F-3C51-2033-452F55042F7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178048" y="3380563"/>
            <a:ext cx="1211520" cy="60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1257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F09A1A-8164-1BD6-410F-32F47CF6A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129092" y="-219882"/>
            <a:ext cx="8386258" cy="1325563"/>
          </a:xfrm>
        </p:spPr>
        <p:txBody>
          <a:bodyPr/>
          <a:lstStyle/>
          <a:p>
            <a:r>
              <a:rPr lang="en-US" b="1" dirty="0"/>
              <a:t>What is a Stock Market Index? (cont.)</a:t>
            </a:r>
          </a:p>
        </p:txBody>
      </p:sp>
      <p:sp>
        <p:nvSpPr>
          <p:cNvPr id="8" name="Content Placeholder 7"/>
          <p:cNvSpPr>
            <a:spLocks noGrp="1"/>
          </p:cNvSpPr>
          <p:nvPr>
            <p:ph idx="1"/>
          </p:nvPr>
        </p:nvSpPr>
        <p:spPr>
          <a:xfrm>
            <a:off x="529498" y="430006"/>
            <a:ext cx="8485410" cy="4086797"/>
          </a:xfrm>
        </p:spPr>
        <p:txBody>
          <a:bodyPr>
            <a:noAutofit/>
          </a:bodyPr>
          <a:lstStyle/>
          <a:p>
            <a:pPr algn="l"/>
            <a:endParaRPr lang="en-US" dirty="0">
              <a:solidFill>
                <a:srgbClr val="374151"/>
              </a:solidFill>
              <a:latin typeface="Söhne"/>
            </a:endParaRPr>
          </a:p>
          <a:p>
            <a:r>
              <a:rPr lang="en-US" dirty="0">
                <a:solidFill>
                  <a:srgbClr val="374151"/>
                </a:solidFill>
                <a:latin typeface="Söhne"/>
              </a:rPr>
              <a:t>Using a stock index, you can measure </a:t>
            </a:r>
            <a:r>
              <a:rPr lang="en-US" b="0" i="0" dirty="0">
                <a:solidFill>
                  <a:srgbClr val="374151"/>
                </a:solidFill>
                <a:effectLst/>
                <a:latin typeface="Söhne"/>
              </a:rPr>
              <a:t>the fluctuations of a market or industry. This information may serve as an indicator of broader economic conditions. </a:t>
            </a:r>
          </a:p>
          <a:p>
            <a:pPr algn="l"/>
            <a:endParaRPr lang="en-US" dirty="0">
              <a:solidFill>
                <a:srgbClr val="374151"/>
              </a:solidFill>
              <a:latin typeface="Söhne"/>
            </a:endParaRPr>
          </a:p>
          <a:p>
            <a:pPr marL="0" indent="0" algn="l">
              <a:buNone/>
            </a:pPr>
            <a:endParaRPr lang="en-US" dirty="0">
              <a:solidFill>
                <a:srgbClr val="374151"/>
              </a:solidFill>
              <a:latin typeface="Söhne"/>
            </a:endParaRPr>
          </a:p>
          <a:p>
            <a:pPr algn="l"/>
            <a:endParaRPr lang="en-US" dirty="0">
              <a:solidFill>
                <a:srgbClr val="374151"/>
              </a:solidFill>
              <a:latin typeface="Söhne"/>
            </a:endParaRPr>
          </a:p>
        </p:txBody>
      </p:sp>
      <p:pic>
        <p:nvPicPr>
          <p:cNvPr id="3" name="Picture 2">
            <a:extLst>
              <a:ext uri="{FF2B5EF4-FFF2-40B4-BE49-F238E27FC236}">
                <a16:creationId xmlns:a16="http://schemas.microsoft.com/office/drawing/2014/main" id="{2FFF6CE8-01AC-A2E1-81B0-3714CD826930}"/>
              </a:ext>
            </a:extLst>
          </p:cNvPr>
          <p:cNvPicPr>
            <a:picLocks noChangeAspect="1"/>
          </p:cNvPicPr>
          <p:nvPr/>
        </p:nvPicPr>
        <p:blipFill>
          <a:blip r:embed="rId3"/>
          <a:stretch>
            <a:fillRect/>
          </a:stretch>
        </p:blipFill>
        <p:spPr>
          <a:xfrm>
            <a:off x="359675" y="2889032"/>
            <a:ext cx="8519881" cy="2801056"/>
          </a:xfrm>
          <a:prstGeom prst="rect">
            <a:avLst/>
          </a:prstGeom>
        </p:spPr>
      </p:pic>
    </p:spTree>
    <p:extLst>
      <p:ext uri="{BB962C8B-B14F-4D97-AF65-F5344CB8AC3E}">
        <p14:creationId xmlns:p14="http://schemas.microsoft.com/office/powerpoint/2010/main" val="1424164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F09A1A-8164-1BD6-410F-32F47CF6A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129092" y="-219882"/>
            <a:ext cx="8386258" cy="1325563"/>
          </a:xfrm>
        </p:spPr>
        <p:txBody>
          <a:bodyPr/>
          <a:lstStyle/>
          <a:p>
            <a:r>
              <a:rPr lang="en-US" b="1" dirty="0"/>
              <a:t>What is a Stock Market Index? (cont.)</a:t>
            </a:r>
          </a:p>
        </p:txBody>
      </p:sp>
      <p:sp>
        <p:nvSpPr>
          <p:cNvPr id="8" name="Content Placeholder 7"/>
          <p:cNvSpPr>
            <a:spLocks noGrp="1"/>
          </p:cNvSpPr>
          <p:nvPr>
            <p:ph idx="1"/>
          </p:nvPr>
        </p:nvSpPr>
        <p:spPr>
          <a:xfrm>
            <a:off x="529498" y="430006"/>
            <a:ext cx="8485410" cy="4086797"/>
          </a:xfrm>
        </p:spPr>
        <p:txBody>
          <a:bodyPr>
            <a:noAutofit/>
          </a:bodyPr>
          <a:lstStyle/>
          <a:p>
            <a:pPr algn="l"/>
            <a:endParaRPr lang="en-US" dirty="0">
              <a:solidFill>
                <a:srgbClr val="374151"/>
              </a:solidFill>
              <a:latin typeface="Söhne"/>
            </a:endParaRPr>
          </a:p>
          <a:p>
            <a:r>
              <a:rPr lang="en-US" dirty="0">
                <a:solidFill>
                  <a:srgbClr val="374151"/>
                </a:solidFill>
                <a:latin typeface="Söhne"/>
              </a:rPr>
              <a:t>For example, this graph depicts five years of the Dow Jones Industrial Average (DJIA), </a:t>
            </a:r>
            <a:r>
              <a:rPr lang="en-US" b="0" i="0" dirty="0">
                <a:solidFill>
                  <a:srgbClr val="4D5156"/>
                </a:solidFill>
                <a:effectLst/>
              </a:rPr>
              <a:t>a widely-watched benchmark index </a:t>
            </a:r>
            <a:r>
              <a:rPr lang="en-US" dirty="0">
                <a:solidFill>
                  <a:srgbClr val="4D5156"/>
                </a:solidFill>
              </a:rPr>
              <a:t>for</a:t>
            </a:r>
            <a:r>
              <a:rPr lang="en-US" b="0" i="0" dirty="0">
                <a:solidFill>
                  <a:srgbClr val="4D5156"/>
                </a:solidFill>
                <a:effectLst/>
              </a:rPr>
              <a:t> </a:t>
            </a:r>
            <a:r>
              <a:rPr lang="en-US" i="0" dirty="0">
                <a:solidFill>
                  <a:srgbClr val="5F6368"/>
                </a:solidFill>
                <a:effectLst/>
              </a:rPr>
              <a:t>U.S. blue-chip stocks.</a:t>
            </a:r>
            <a:endParaRPr lang="en-US" dirty="0">
              <a:solidFill>
                <a:srgbClr val="374151"/>
              </a:solidFill>
              <a:latin typeface="Söhne"/>
            </a:endParaRPr>
          </a:p>
          <a:p>
            <a:pPr marL="0" indent="0" algn="l">
              <a:buNone/>
            </a:pPr>
            <a:endParaRPr lang="en-US" dirty="0">
              <a:solidFill>
                <a:srgbClr val="374151"/>
              </a:solidFill>
              <a:latin typeface="Söhne"/>
            </a:endParaRPr>
          </a:p>
          <a:p>
            <a:pPr algn="l"/>
            <a:endParaRPr lang="en-US" dirty="0">
              <a:solidFill>
                <a:srgbClr val="374151"/>
              </a:solidFill>
              <a:latin typeface="Söhne"/>
            </a:endParaRPr>
          </a:p>
        </p:txBody>
      </p:sp>
      <p:pic>
        <p:nvPicPr>
          <p:cNvPr id="3" name="Picture 2">
            <a:extLst>
              <a:ext uri="{FF2B5EF4-FFF2-40B4-BE49-F238E27FC236}">
                <a16:creationId xmlns:a16="http://schemas.microsoft.com/office/drawing/2014/main" id="{2FFF6CE8-01AC-A2E1-81B0-3714CD826930}"/>
              </a:ext>
            </a:extLst>
          </p:cNvPr>
          <p:cNvPicPr>
            <a:picLocks noChangeAspect="1"/>
          </p:cNvPicPr>
          <p:nvPr/>
        </p:nvPicPr>
        <p:blipFill>
          <a:blip r:embed="rId3"/>
          <a:stretch>
            <a:fillRect/>
          </a:stretch>
        </p:blipFill>
        <p:spPr>
          <a:xfrm>
            <a:off x="125329" y="2941320"/>
            <a:ext cx="8889579" cy="2922601"/>
          </a:xfrm>
          <a:prstGeom prst="rect">
            <a:avLst/>
          </a:prstGeom>
        </p:spPr>
      </p:pic>
    </p:spTree>
    <p:extLst>
      <p:ext uri="{BB962C8B-B14F-4D97-AF65-F5344CB8AC3E}">
        <p14:creationId xmlns:p14="http://schemas.microsoft.com/office/powerpoint/2010/main" val="2150573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F09A1A-8164-1BD6-410F-32F47CF6A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129092" y="-219882"/>
            <a:ext cx="8386258" cy="1325563"/>
          </a:xfrm>
        </p:spPr>
        <p:txBody>
          <a:bodyPr/>
          <a:lstStyle/>
          <a:p>
            <a:r>
              <a:rPr lang="en-US" b="1" dirty="0"/>
              <a:t>What is a Stock Market Index? (cont.)</a:t>
            </a:r>
          </a:p>
        </p:txBody>
      </p:sp>
      <p:sp>
        <p:nvSpPr>
          <p:cNvPr id="8" name="Content Placeholder 7"/>
          <p:cNvSpPr>
            <a:spLocks noGrp="1"/>
          </p:cNvSpPr>
          <p:nvPr>
            <p:ph idx="1"/>
          </p:nvPr>
        </p:nvSpPr>
        <p:spPr>
          <a:xfrm>
            <a:off x="529498" y="430006"/>
            <a:ext cx="8485410" cy="4086797"/>
          </a:xfrm>
        </p:spPr>
        <p:txBody>
          <a:bodyPr>
            <a:noAutofit/>
          </a:bodyPr>
          <a:lstStyle/>
          <a:p>
            <a:pPr algn="l"/>
            <a:endParaRPr lang="en-US" dirty="0">
              <a:solidFill>
                <a:srgbClr val="374151"/>
              </a:solidFill>
              <a:latin typeface="Söhne"/>
            </a:endParaRPr>
          </a:p>
          <a:p>
            <a:r>
              <a:rPr lang="en-US" dirty="0">
                <a:solidFill>
                  <a:srgbClr val="374151"/>
                </a:solidFill>
              </a:rPr>
              <a:t>Note the sharp dip in the DJIA during early 2020.</a:t>
            </a:r>
            <a:br>
              <a:rPr lang="en-US" dirty="0">
                <a:solidFill>
                  <a:srgbClr val="374151"/>
                </a:solidFill>
              </a:rPr>
            </a:br>
            <a:endParaRPr lang="en-US" dirty="0">
              <a:solidFill>
                <a:srgbClr val="374151"/>
              </a:solidFill>
            </a:endParaRPr>
          </a:p>
          <a:p>
            <a:r>
              <a:rPr lang="en-US" dirty="0">
                <a:solidFill>
                  <a:srgbClr val="374151"/>
                </a:solidFill>
              </a:rPr>
              <a:t>Recall that In M</a:t>
            </a:r>
            <a:r>
              <a:rPr lang="en-US" b="0" i="0" dirty="0">
                <a:solidFill>
                  <a:srgbClr val="374151"/>
                </a:solidFill>
                <a:effectLst/>
              </a:rPr>
              <a:t>arch of 2020, the World Health Organization declared COVID-19 a global pandemic</a:t>
            </a:r>
            <a:r>
              <a:rPr lang="en-US" dirty="0">
                <a:solidFill>
                  <a:srgbClr val="374151"/>
                </a:solidFill>
              </a:rPr>
              <a:t>. </a:t>
            </a:r>
            <a:endParaRPr lang="en-US" b="0" i="0" dirty="0">
              <a:solidFill>
                <a:srgbClr val="374151"/>
              </a:solidFill>
              <a:effectLst/>
            </a:endParaRPr>
          </a:p>
          <a:p>
            <a:pPr algn="l"/>
            <a:endParaRPr lang="en-US" dirty="0">
              <a:solidFill>
                <a:srgbClr val="374151"/>
              </a:solidFill>
              <a:latin typeface="Söhne"/>
            </a:endParaRPr>
          </a:p>
          <a:p>
            <a:pPr marL="0" indent="0" algn="l">
              <a:buNone/>
            </a:pPr>
            <a:endParaRPr lang="en-US" dirty="0">
              <a:solidFill>
                <a:srgbClr val="374151"/>
              </a:solidFill>
              <a:latin typeface="Söhne"/>
            </a:endParaRPr>
          </a:p>
          <a:p>
            <a:pPr algn="l"/>
            <a:endParaRPr lang="en-US" dirty="0">
              <a:solidFill>
                <a:srgbClr val="374151"/>
              </a:solidFill>
              <a:latin typeface="Söhne"/>
            </a:endParaRPr>
          </a:p>
        </p:txBody>
      </p:sp>
      <p:pic>
        <p:nvPicPr>
          <p:cNvPr id="3" name="Picture 2">
            <a:extLst>
              <a:ext uri="{FF2B5EF4-FFF2-40B4-BE49-F238E27FC236}">
                <a16:creationId xmlns:a16="http://schemas.microsoft.com/office/drawing/2014/main" id="{2FFF6CE8-01AC-A2E1-81B0-3714CD826930}"/>
              </a:ext>
            </a:extLst>
          </p:cNvPr>
          <p:cNvPicPr>
            <a:picLocks noChangeAspect="1"/>
          </p:cNvPicPr>
          <p:nvPr/>
        </p:nvPicPr>
        <p:blipFill>
          <a:blip r:embed="rId3"/>
          <a:stretch>
            <a:fillRect/>
          </a:stretch>
        </p:blipFill>
        <p:spPr>
          <a:xfrm>
            <a:off x="125329" y="2941320"/>
            <a:ext cx="8889579" cy="2922601"/>
          </a:xfrm>
          <a:prstGeom prst="rect">
            <a:avLst/>
          </a:prstGeom>
        </p:spPr>
      </p:pic>
    </p:spTree>
    <p:extLst>
      <p:ext uri="{BB962C8B-B14F-4D97-AF65-F5344CB8AC3E}">
        <p14:creationId xmlns:p14="http://schemas.microsoft.com/office/powerpoint/2010/main" val="4291744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16B020-6E46-5F94-7119-6E02F81D8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148182" y="-97089"/>
            <a:ext cx="8485410" cy="1325563"/>
          </a:xfrm>
        </p:spPr>
        <p:txBody>
          <a:bodyPr/>
          <a:lstStyle/>
          <a:p>
            <a:r>
              <a:rPr lang="en-US" b="1" dirty="0"/>
              <a:t>What is a Stock Market Index? (cont.)</a:t>
            </a:r>
          </a:p>
        </p:txBody>
      </p:sp>
      <p:sp>
        <p:nvSpPr>
          <p:cNvPr id="8" name="Content Placeholder 7"/>
          <p:cNvSpPr>
            <a:spLocks noGrp="1"/>
          </p:cNvSpPr>
          <p:nvPr>
            <p:ph idx="1"/>
          </p:nvPr>
        </p:nvSpPr>
        <p:spPr>
          <a:xfrm>
            <a:off x="336567" y="565692"/>
            <a:ext cx="8184497" cy="4086797"/>
          </a:xfrm>
        </p:spPr>
        <p:txBody>
          <a:bodyPr>
            <a:noAutofit/>
          </a:bodyPr>
          <a:lstStyle/>
          <a:p>
            <a:pPr algn="l"/>
            <a:endParaRPr lang="en-US" dirty="0">
              <a:solidFill>
                <a:srgbClr val="374151"/>
              </a:solidFill>
              <a:latin typeface="Söhne"/>
            </a:endParaRPr>
          </a:p>
          <a:p>
            <a:pPr algn="l"/>
            <a:r>
              <a:rPr lang="en-US" b="0" i="0" dirty="0">
                <a:solidFill>
                  <a:srgbClr val="374151"/>
                </a:solidFill>
                <a:effectLst/>
              </a:rPr>
              <a:t>As benchmarks for investment performance, </a:t>
            </a:r>
            <a:r>
              <a:rPr lang="en-US" dirty="0">
                <a:solidFill>
                  <a:srgbClr val="374151"/>
                </a:solidFill>
              </a:rPr>
              <a:t>stock market indices are often used when estimating </a:t>
            </a:r>
            <a:r>
              <a:rPr lang="en-US" b="0" i="0" dirty="0">
                <a:solidFill>
                  <a:srgbClr val="374151"/>
                </a:solidFill>
                <a:effectLst/>
              </a:rPr>
              <a:t>a specific stock's volatility relative to the overall market. This estimate is covered in other WRDS Classroom Tools such as </a:t>
            </a:r>
            <a:r>
              <a:rPr lang="en-US" b="0" i="0" dirty="0">
                <a:solidFill>
                  <a:srgbClr val="374151"/>
                </a:solidFill>
                <a:effectLst/>
                <a:hlinkClick r:id="rId3"/>
              </a:rPr>
              <a:t>CAPM Equity Valuation</a:t>
            </a:r>
            <a:r>
              <a:rPr lang="en-US" b="0" i="0" dirty="0">
                <a:solidFill>
                  <a:srgbClr val="374151"/>
                </a:solidFill>
                <a:effectLst/>
              </a:rPr>
              <a:t> and </a:t>
            </a:r>
            <a:r>
              <a:rPr lang="en-US" b="0" i="0" dirty="0">
                <a:solidFill>
                  <a:srgbClr val="374151"/>
                </a:solidFill>
                <a:effectLst/>
                <a:hlinkClick r:id="rId4"/>
              </a:rPr>
              <a:t>Beta Visualization</a:t>
            </a:r>
            <a:r>
              <a:rPr lang="en-US" b="0" i="0" dirty="0">
                <a:solidFill>
                  <a:srgbClr val="374151"/>
                </a:solidFill>
                <a:effectLst/>
              </a:rPr>
              <a:t>.  </a:t>
            </a:r>
            <a:br>
              <a:rPr lang="en-US" b="0" i="0" dirty="0">
                <a:solidFill>
                  <a:srgbClr val="374151"/>
                </a:solidFill>
                <a:effectLst/>
                <a:latin typeface="Söhne"/>
              </a:rPr>
            </a:br>
            <a:endParaRPr lang="en-US" b="0" i="0" dirty="0">
              <a:solidFill>
                <a:srgbClr val="374151"/>
              </a:solidFill>
              <a:effectLst/>
              <a:latin typeface="Söhne"/>
            </a:endParaRPr>
          </a:p>
          <a:p>
            <a:pPr algn="l"/>
            <a:endParaRPr lang="en-US" dirty="0">
              <a:solidFill>
                <a:srgbClr val="374151"/>
              </a:solidFill>
              <a:latin typeface="Söhne"/>
            </a:endParaRPr>
          </a:p>
        </p:txBody>
      </p:sp>
      <p:graphicFrame>
        <p:nvGraphicFramePr>
          <p:cNvPr id="18" name="Chart 17">
            <a:extLst>
              <a:ext uri="{FF2B5EF4-FFF2-40B4-BE49-F238E27FC236}">
                <a16:creationId xmlns:a16="http://schemas.microsoft.com/office/drawing/2014/main" id="{2665F1CF-71A6-CB56-6F64-86F9C2C3DF77}"/>
              </a:ext>
            </a:extLst>
          </p:cNvPr>
          <p:cNvGraphicFramePr/>
          <p:nvPr>
            <p:extLst>
              <p:ext uri="{D42A27DB-BD31-4B8C-83A1-F6EECF244321}">
                <p14:modId xmlns:p14="http://schemas.microsoft.com/office/powerpoint/2010/main" val="3955187499"/>
              </p:ext>
            </p:extLst>
          </p:nvPr>
        </p:nvGraphicFramePr>
        <p:xfrm>
          <a:off x="268605" y="3520439"/>
          <a:ext cx="8395643" cy="2440305"/>
        </p:xfrm>
        <a:graphic>
          <a:graphicData uri="http://schemas.openxmlformats.org/drawingml/2006/chart">
            <c:chart xmlns:c="http://schemas.openxmlformats.org/drawingml/2006/chart" xmlns:r="http://schemas.openxmlformats.org/officeDocument/2006/relationships" r:id="rId5"/>
          </a:graphicData>
        </a:graphic>
      </p:graphicFrame>
      <p:sp>
        <p:nvSpPr>
          <p:cNvPr id="19" name="TextBox 18">
            <a:extLst>
              <a:ext uri="{FF2B5EF4-FFF2-40B4-BE49-F238E27FC236}">
                <a16:creationId xmlns:a16="http://schemas.microsoft.com/office/drawing/2014/main" id="{51DA3FA2-DBD7-1B68-A98E-0E7DD5AD0C61}"/>
              </a:ext>
            </a:extLst>
          </p:cNvPr>
          <p:cNvSpPr txBox="1"/>
          <p:nvPr/>
        </p:nvSpPr>
        <p:spPr>
          <a:xfrm rot="16200000">
            <a:off x="219186" y="4202640"/>
            <a:ext cx="706570" cy="369332"/>
          </a:xfrm>
          <a:prstGeom prst="rect">
            <a:avLst/>
          </a:prstGeom>
          <a:noFill/>
        </p:spPr>
        <p:txBody>
          <a:bodyPr wrap="square" rtlCol="0">
            <a:spAutoFit/>
          </a:bodyPr>
          <a:lstStyle/>
          <a:p>
            <a:r>
              <a:rPr lang="en-US" dirty="0"/>
              <a:t>Price</a:t>
            </a:r>
          </a:p>
        </p:txBody>
      </p:sp>
    </p:spTree>
    <p:extLst>
      <p:ext uri="{BB962C8B-B14F-4D97-AF65-F5344CB8AC3E}">
        <p14:creationId xmlns:p14="http://schemas.microsoft.com/office/powerpoint/2010/main" val="1719328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BBD89C-B24B-38D6-BB2E-D501C45FE8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212820" y="137261"/>
            <a:ext cx="8485410" cy="1325563"/>
          </a:xfrm>
        </p:spPr>
        <p:txBody>
          <a:bodyPr/>
          <a:lstStyle/>
          <a:p>
            <a:r>
              <a:rPr lang="en-US" b="1" dirty="0"/>
              <a:t>What is a Stock Market Index? (cont.)</a:t>
            </a:r>
          </a:p>
        </p:txBody>
      </p:sp>
      <p:sp>
        <p:nvSpPr>
          <p:cNvPr id="8" name="Content Placeholder 7"/>
          <p:cNvSpPr>
            <a:spLocks noGrp="1"/>
          </p:cNvSpPr>
          <p:nvPr>
            <p:ph idx="1"/>
          </p:nvPr>
        </p:nvSpPr>
        <p:spPr>
          <a:xfrm>
            <a:off x="335861" y="933779"/>
            <a:ext cx="8485410" cy="4086797"/>
          </a:xfrm>
        </p:spPr>
        <p:txBody>
          <a:bodyPr>
            <a:noAutofit/>
          </a:bodyPr>
          <a:lstStyle/>
          <a:p>
            <a:pPr algn="l"/>
            <a:endParaRPr lang="en-US" dirty="0">
              <a:solidFill>
                <a:srgbClr val="374151"/>
              </a:solidFill>
            </a:endParaRPr>
          </a:p>
          <a:p>
            <a:pPr algn="l"/>
            <a:r>
              <a:rPr lang="en-US" b="0" i="0" dirty="0">
                <a:solidFill>
                  <a:srgbClr val="374151"/>
                </a:solidFill>
                <a:effectLst/>
              </a:rPr>
              <a:t>The choice of index an analyst uses as a benchmark depends on the specific market or sector that the stock operates in. </a:t>
            </a:r>
          </a:p>
          <a:p>
            <a:pPr algn="l"/>
            <a:endParaRPr lang="en-US" dirty="0">
              <a:solidFill>
                <a:srgbClr val="374151"/>
              </a:solidFill>
            </a:endParaRPr>
          </a:p>
          <a:p>
            <a:pPr algn="l"/>
            <a:r>
              <a:rPr lang="en-US" b="0" i="0" dirty="0">
                <a:solidFill>
                  <a:srgbClr val="374151"/>
                </a:solidFill>
                <a:effectLst/>
              </a:rPr>
              <a:t>For example, if the stock is in the technology sector, the tech-heavy NASDAQ Composite may be a more appropriate index to use than the S&amp;P 500.</a:t>
            </a:r>
            <a:endParaRPr lang="en-US" dirty="0">
              <a:solidFill>
                <a:srgbClr val="374151"/>
              </a:solidFill>
            </a:endParaRPr>
          </a:p>
          <a:p>
            <a:pPr algn="l"/>
            <a:endParaRPr lang="en-US" dirty="0">
              <a:solidFill>
                <a:srgbClr val="374151"/>
              </a:solidFill>
              <a:latin typeface="Söhne"/>
            </a:endParaRPr>
          </a:p>
        </p:txBody>
      </p:sp>
    </p:spTree>
    <p:extLst>
      <p:ext uri="{BB962C8B-B14F-4D97-AF65-F5344CB8AC3E}">
        <p14:creationId xmlns:p14="http://schemas.microsoft.com/office/powerpoint/2010/main" val="1476149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726844" y="-96136"/>
            <a:ext cx="7886700" cy="1325563"/>
          </a:xfrm>
        </p:spPr>
        <p:txBody>
          <a:bodyPr/>
          <a:lstStyle/>
          <a:p>
            <a:pPr algn="ctr"/>
            <a:r>
              <a:rPr lang="en-US" b="1" dirty="0"/>
              <a:t>Common Types of Stock Indices</a:t>
            </a:r>
          </a:p>
        </p:txBody>
      </p:sp>
      <p:sp>
        <p:nvSpPr>
          <p:cNvPr id="8" name="Content Placeholder 7"/>
          <p:cNvSpPr>
            <a:spLocks noGrp="1"/>
          </p:cNvSpPr>
          <p:nvPr>
            <p:ph idx="1"/>
          </p:nvPr>
        </p:nvSpPr>
        <p:spPr>
          <a:xfrm>
            <a:off x="628650" y="1771005"/>
            <a:ext cx="7886700" cy="4086797"/>
          </a:xfrm>
        </p:spPr>
        <p:txBody>
          <a:bodyPr/>
          <a:lstStyle/>
          <a:p>
            <a:endParaRPr lang="en-US" dirty="0"/>
          </a:p>
          <a:p>
            <a:endParaRPr lang="en-US" dirty="0"/>
          </a:p>
          <a:p>
            <a:endParaRPr lang="en-US" dirty="0"/>
          </a:p>
        </p:txBody>
      </p:sp>
      <p:sp>
        <p:nvSpPr>
          <p:cNvPr id="2" name="TextBox 1">
            <a:extLst>
              <a:ext uri="{FF2B5EF4-FFF2-40B4-BE49-F238E27FC236}">
                <a16:creationId xmlns:a16="http://schemas.microsoft.com/office/drawing/2014/main" id="{F153624C-448E-4FC6-A128-0825A134F4CA}"/>
              </a:ext>
            </a:extLst>
          </p:cNvPr>
          <p:cNvSpPr txBox="1"/>
          <p:nvPr/>
        </p:nvSpPr>
        <p:spPr>
          <a:xfrm>
            <a:off x="628650" y="1762126"/>
            <a:ext cx="8083089" cy="923330"/>
          </a:xfrm>
          <a:prstGeom prst="rect">
            <a:avLst/>
          </a:prstGeom>
          <a:noFill/>
        </p:spPr>
        <p:txBody>
          <a:bodyPr wrap="square" rtlCol="0">
            <a:spAutoFit/>
          </a:bodyPr>
          <a:lstStyle/>
          <a:p>
            <a:endParaRPr lang="en-US" dirty="0">
              <a:solidFill>
                <a:srgbClr val="202122"/>
              </a:solidFill>
              <a:latin typeface="Arial" panose="020B0604020202020204" pitchFamily="34" charset="0"/>
            </a:endParaRPr>
          </a:p>
          <a:p>
            <a:endParaRPr lang="en-US" dirty="0">
              <a:solidFill>
                <a:srgbClr val="202122"/>
              </a:solidFill>
              <a:latin typeface="Arial" panose="020B0604020202020204" pitchFamily="34" charset="0"/>
            </a:endParaRPr>
          </a:p>
          <a:p>
            <a:endParaRPr lang="en-US" u="none" strike="noStrike" dirty="0">
              <a:solidFill>
                <a:srgbClr val="202122"/>
              </a:solidFill>
              <a:latin typeface="Arial" panose="020B0604020202020204" pitchFamily="34" charset="0"/>
              <a:hlinkClick r:id="rId3" tooltip="Mathematical models"/>
            </a:endParaRPr>
          </a:p>
        </p:txBody>
      </p:sp>
      <p:graphicFrame>
        <p:nvGraphicFramePr>
          <p:cNvPr id="10" name="TextBox 2">
            <a:extLst>
              <a:ext uri="{FF2B5EF4-FFF2-40B4-BE49-F238E27FC236}">
                <a16:creationId xmlns:a16="http://schemas.microsoft.com/office/drawing/2014/main" id="{1E5F9E11-BCEB-587B-932B-9E143801CCE8}"/>
              </a:ext>
            </a:extLst>
          </p:cNvPr>
          <p:cNvGraphicFramePr/>
          <p:nvPr>
            <p:extLst>
              <p:ext uri="{D42A27DB-BD31-4B8C-83A1-F6EECF244321}">
                <p14:modId xmlns:p14="http://schemas.microsoft.com/office/powerpoint/2010/main" val="1501051672"/>
              </p:ext>
            </p:extLst>
          </p:nvPr>
        </p:nvGraphicFramePr>
        <p:xfrm>
          <a:off x="373141" y="855279"/>
          <a:ext cx="8531081" cy="51868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02683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115745"/>
            <a:ext cx="8123464" cy="1325563"/>
          </a:xfrm>
        </p:spPr>
        <p:txBody>
          <a:bodyPr/>
          <a:lstStyle/>
          <a:p>
            <a:r>
              <a:rPr lang="en-US" b="1" dirty="0"/>
              <a:t>How is a Stock Market Index Price Calculated?</a:t>
            </a:r>
          </a:p>
        </p:txBody>
      </p:sp>
      <p:sp>
        <p:nvSpPr>
          <p:cNvPr id="8" name="Content Placeholder 7"/>
          <p:cNvSpPr>
            <a:spLocks noGrp="1"/>
          </p:cNvSpPr>
          <p:nvPr>
            <p:ph idx="1"/>
          </p:nvPr>
        </p:nvSpPr>
        <p:spPr>
          <a:xfrm>
            <a:off x="753341" y="1385601"/>
            <a:ext cx="8265968" cy="4086797"/>
          </a:xfrm>
        </p:spPr>
        <p:txBody>
          <a:bodyPr>
            <a:noAutofit/>
          </a:bodyPr>
          <a:lstStyle/>
          <a:p>
            <a:pPr algn="l"/>
            <a:endParaRPr lang="en-US" dirty="0">
              <a:solidFill>
                <a:srgbClr val="374151"/>
              </a:solidFill>
              <a:latin typeface="Söhne"/>
            </a:endParaRPr>
          </a:p>
          <a:p>
            <a:pPr algn="l"/>
            <a:r>
              <a:rPr lang="en-US" dirty="0">
                <a:solidFill>
                  <a:srgbClr val="374151"/>
                </a:solidFill>
                <a:latin typeface="Söhne"/>
              </a:rPr>
              <a:t>An</a:t>
            </a:r>
            <a:r>
              <a:rPr lang="en-US" b="0" i="0" dirty="0">
                <a:solidFill>
                  <a:srgbClr val="374151"/>
                </a:solidFill>
                <a:effectLst/>
                <a:latin typeface="Söhne"/>
              </a:rPr>
              <a:t> index’s price is typically calculated using a weighted average of the prices of all the stocks that mak</a:t>
            </a:r>
            <a:r>
              <a:rPr lang="en-US" dirty="0">
                <a:solidFill>
                  <a:srgbClr val="374151"/>
                </a:solidFill>
                <a:latin typeface="Söhne"/>
              </a:rPr>
              <a:t>e up the index</a:t>
            </a:r>
            <a:r>
              <a:rPr lang="en-US" b="0" i="0" dirty="0">
                <a:solidFill>
                  <a:srgbClr val="374151"/>
                </a:solidFill>
                <a:effectLst/>
                <a:latin typeface="Söhne"/>
              </a:rPr>
              <a:t>. </a:t>
            </a:r>
            <a:br>
              <a:rPr lang="en-US" b="0" i="0" dirty="0">
                <a:solidFill>
                  <a:srgbClr val="374151"/>
                </a:solidFill>
                <a:effectLst/>
                <a:latin typeface="Söhne"/>
              </a:rPr>
            </a:br>
            <a:endParaRPr lang="en-US" b="0" i="0" dirty="0">
              <a:solidFill>
                <a:srgbClr val="374151"/>
              </a:solidFill>
              <a:effectLst/>
              <a:latin typeface="Söhne"/>
            </a:endParaRPr>
          </a:p>
          <a:p>
            <a:pPr algn="l"/>
            <a:r>
              <a:rPr lang="en-US" b="0" i="0" dirty="0">
                <a:solidFill>
                  <a:srgbClr val="374151"/>
                </a:solidFill>
                <a:effectLst/>
                <a:latin typeface="Söhne"/>
              </a:rPr>
              <a:t>The weightings are determined by factors such as stock price or market capitalization.</a:t>
            </a:r>
            <a:endParaRPr lang="en-US"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2713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73969"/>
            <a:ext cx="7886700" cy="1325563"/>
          </a:xfrm>
        </p:spPr>
        <p:txBody>
          <a:bodyPr/>
          <a:lstStyle/>
          <a:p>
            <a:r>
              <a:rPr lang="en-US" b="1" dirty="0"/>
              <a:t>Price-Weighted Average</a:t>
            </a:r>
          </a:p>
        </p:txBody>
      </p:sp>
      <p:sp>
        <p:nvSpPr>
          <p:cNvPr id="8" name="Content Placeholder 7"/>
          <p:cNvSpPr>
            <a:spLocks noGrp="1"/>
          </p:cNvSpPr>
          <p:nvPr>
            <p:ph idx="1"/>
          </p:nvPr>
        </p:nvSpPr>
        <p:spPr>
          <a:xfrm>
            <a:off x="278996" y="1251594"/>
            <a:ext cx="8510674" cy="4086797"/>
          </a:xfrm>
        </p:spPr>
        <p:txBody>
          <a:bodyPr>
            <a:noAutofit/>
          </a:bodyPr>
          <a:lstStyle/>
          <a:p>
            <a:pPr algn="l"/>
            <a:r>
              <a:rPr lang="en-US" dirty="0">
                <a:solidFill>
                  <a:srgbClr val="374151"/>
                </a:solidFill>
              </a:rPr>
              <a:t>A</a:t>
            </a:r>
            <a:r>
              <a:rPr lang="en-US" b="0" i="0" dirty="0">
                <a:solidFill>
                  <a:srgbClr val="374151"/>
                </a:solidFill>
                <a:effectLst/>
              </a:rPr>
              <a:t> price-weighted stock index is, at its simplest, a measure of the average price of the stocks in the index, with each stock weighted according to its individual price per share.</a:t>
            </a:r>
          </a:p>
          <a:p>
            <a:pPr algn="l"/>
            <a:endParaRPr lang="en-US" b="0" i="0" dirty="0">
              <a:solidFill>
                <a:srgbClr val="374151"/>
              </a:solidFill>
              <a:effectLst/>
            </a:endParaRPr>
          </a:p>
          <a:p>
            <a:pPr algn="l"/>
            <a:r>
              <a:rPr lang="en-US" b="0" i="0" dirty="0">
                <a:solidFill>
                  <a:srgbClr val="374151"/>
                </a:solidFill>
                <a:effectLst/>
              </a:rPr>
              <a:t>For example, imagine a price-weighted index holding only three stocks:   </a:t>
            </a:r>
          </a:p>
          <a:p>
            <a:pPr marL="0" indent="0" algn="l">
              <a:buNone/>
            </a:pPr>
            <a:r>
              <a:rPr lang="en-US" dirty="0">
                <a:solidFill>
                  <a:srgbClr val="374151"/>
                </a:solidFill>
              </a:rPr>
              <a:t>                                  	</a:t>
            </a:r>
            <a:r>
              <a:rPr lang="en-US" b="0" i="0" dirty="0">
                <a:solidFill>
                  <a:srgbClr val="374151"/>
                </a:solidFill>
                <a:effectLst/>
              </a:rPr>
              <a:t>Stock </a:t>
            </a:r>
            <a:r>
              <a:rPr lang="en-US" dirty="0">
                <a:solidFill>
                  <a:srgbClr val="374151"/>
                </a:solidFill>
              </a:rPr>
              <a:t>A</a:t>
            </a:r>
            <a:r>
              <a:rPr lang="en-US" b="0" i="0" dirty="0">
                <a:solidFill>
                  <a:srgbClr val="374151"/>
                </a:solidFill>
                <a:effectLst/>
              </a:rPr>
              <a:t> = $10 a share</a:t>
            </a:r>
          </a:p>
          <a:p>
            <a:pPr marL="0" indent="0" algn="l">
              <a:buNone/>
            </a:pPr>
            <a:r>
              <a:rPr lang="en-US" dirty="0">
                <a:solidFill>
                  <a:srgbClr val="374151"/>
                </a:solidFill>
              </a:rPr>
              <a:t>                                  </a:t>
            </a:r>
            <a:r>
              <a:rPr lang="en-US" b="0" i="0" dirty="0">
                <a:solidFill>
                  <a:srgbClr val="374151"/>
                </a:solidFill>
                <a:effectLst/>
              </a:rPr>
              <a:t> 	Stock </a:t>
            </a:r>
            <a:r>
              <a:rPr lang="en-US" dirty="0">
                <a:solidFill>
                  <a:srgbClr val="374151"/>
                </a:solidFill>
              </a:rPr>
              <a:t>B</a:t>
            </a:r>
            <a:r>
              <a:rPr lang="en-US" b="0" i="0" dirty="0">
                <a:solidFill>
                  <a:srgbClr val="374151"/>
                </a:solidFill>
                <a:effectLst/>
              </a:rPr>
              <a:t> = $20 a share</a:t>
            </a:r>
          </a:p>
          <a:p>
            <a:pPr marL="0" indent="0" algn="l">
              <a:buNone/>
            </a:pPr>
            <a:r>
              <a:rPr lang="en-US" dirty="0">
                <a:solidFill>
                  <a:srgbClr val="374151"/>
                </a:solidFill>
              </a:rPr>
              <a:t>                                  	S</a:t>
            </a:r>
            <a:r>
              <a:rPr lang="en-US" b="0" i="0" dirty="0">
                <a:solidFill>
                  <a:srgbClr val="374151"/>
                </a:solidFill>
                <a:effectLst/>
              </a:rPr>
              <a:t>tock </a:t>
            </a:r>
            <a:r>
              <a:rPr lang="en-US" dirty="0">
                <a:solidFill>
                  <a:srgbClr val="374151"/>
                </a:solidFill>
              </a:rPr>
              <a:t>C</a:t>
            </a:r>
            <a:r>
              <a:rPr lang="en-US" b="0" i="0" dirty="0">
                <a:solidFill>
                  <a:srgbClr val="374151"/>
                </a:solidFill>
                <a:effectLst/>
              </a:rPr>
              <a:t> = $30 a share</a:t>
            </a:r>
            <a:endParaRPr lang="en-US"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24451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45851"/>
            <a:ext cx="7886700" cy="1325563"/>
          </a:xfrm>
        </p:spPr>
        <p:txBody>
          <a:bodyPr/>
          <a:lstStyle/>
          <a:p>
            <a:r>
              <a:rPr lang="en-US" b="1" dirty="0"/>
              <a:t>Price-Weighted Average (cont.)</a:t>
            </a:r>
          </a:p>
        </p:txBody>
      </p:sp>
      <p:sp>
        <p:nvSpPr>
          <p:cNvPr id="8" name="Content Placeholder 7"/>
          <p:cNvSpPr>
            <a:spLocks noGrp="1"/>
          </p:cNvSpPr>
          <p:nvPr>
            <p:ph idx="1"/>
          </p:nvPr>
        </p:nvSpPr>
        <p:spPr>
          <a:xfrm>
            <a:off x="272848" y="1183671"/>
            <a:ext cx="5045912" cy="2721579"/>
          </a:xfrm>
        </p:spPr>
        <p:txBody>
          <a:bodyPr>
            <a:noAutofit/>
          </a:bodyPr>
          <a:lstStyle/>
          <a:p>
            <a:r>
              <a:rPr lang="en-US" b="0" i="0" dirty="0">
                <a:solidFill>
                  <a:srgbClr val="374151"/>
                </a:solidFill>
                <a:effectLst/>
              </a:rPr>
              <a:t>The simplest version of a price-weighted stock index would calculate the price of this index by adding the 3 stock prices together, </a:t>
            </a:r>
            <a:r>
              <a:rPr lang="en-US" dirty="0">
                <a:solidFill>
                  <a:srgbClr val="374151"/>
                </a:solidFill>
              </a:rPr>
              <a:t>then dividing by the number of stocks.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14C19A3-B4B2-34E4-99DA-3347CD02E260}"/>
                  </a:ext>
                </a:extLst>
              </p:cNvPr>
              <p:cNvSpPr txBox="1"/>
              <p:nvPr/>
            </p:nvSpPr>
            <p:spPr>
              <a:xfrm>
                <a:off x="5401385" y="1564469"/>
                <a:ext cx="3209533" cy="1564146"/>
              </a:xfrm>
              <a:prstGeom prst="rect">
                <a:avLst/>
              </a:prstGeom>
              <a:solidFill>
                <a:schemeClr val="tx1"/>
              </a:solidFill>
            </p:spPr>
            <p:txBody>
              <a:bodyPr wrap="none" rtlCol="0">
                <a:spAutoFit/>
              </a:bodyPr>
              <a:lstStyle/>
              <a:p>
                <a:pPr algn="ctr"/>
                <a:r>
                  <a:rPr lang="en-US" sz="2400" b="1" dirty="0">
                    <a:solidFill>
                      <a:schemeClr val="bg1"/>
                    </a:solidFill>
                    <a:latin typeface="Cambria Math" panose="02040503050406030204" pitchFamily="18" charset="0"/>
                    <a:ea typeface="Cambria Math" panose="02040503050406030204" pitchFamily="18" charset="0"/>
                  </a:rPr>
                  <a:t>$10 + $20 + $30 = $60</a:t>
                </a:r>
              </a:p>
              <a:p>
                <a:pPr algn="ctr"/>
                <a:endParaRPr lang="en-US" sz="2400" b="1" dirty="0">
                  <a:solidFill>
                    <a:schemeClr val="bg1"/>
                  </a:solidFill>
                  <a:latin typeface="Cambria Math" panose="02040503050406030204" pitchFamily="18" charset="0"/>
                  <a:ea typeface="Cambria Math" panose="02040503050406030204" pitchFamily="18" charset="0"/>
                </a:endParaRPr>
              </a:p>
              <a:p>
                <a:pPr algn="ctr"/>
                <a14:m>
                  <m:oMath xmlns:m="http://schemas.openxmlformats.org/officeDocument/2006/math">
                    <m:f>
                      <m:fPr>
                        <m:ctrlPr>
                          <a:rPr lang="en-US" sz="3200" b="1" i="1" smtClean="0">
                            <a:solidFill>
                              <a:schemeClr val="bg1"/>
                            </a:solidFill>
                            <a:latin typeface="Cambria Math" panose="02040503050406030204" pitchFamily="18" charset="0"/>
                          </a:rPr>
                        </m:ctrlPr>
                      </m:fPr>
                      <m:num>
                        <m:r>
                          <a:rPr lang="en-US" sz="3200" b="1" i="1" smtClean="0">
                            <a:solidFill>
                              <a:schemeClr val="bg1"/>
                            </a:solidFill>
                            <a:latin typeface="Cambria Math" panose="02040503050406030204" pitchFamily="18" charset="0"/>
                          </a:rPr>
                          <m:t>$</m:t>
                        </m:r>
                        <m:r>
                          <a:rPr lang="en-US" sz="3200" b="1" i="1" smtClean="0">
                            <a:solidFill>
                              <a:schemeClr val="bg1"/>
                            </a:solidFill>
                            <a:latin typeface="Cambria Math" panose="02040503050406030204" pitchFamily="18" charset="0"/>
                          </a:rPr>
                          <m:t>𝟔𝟎</m:t>
                        </m:r>
                      </m:num>
                      <m:den>
                        <m:r>
                          <a:rPr lang="en-US" sz="3200" b="1" i="1" smtClean="0">
                            <a:solidFill>
                              <a:schemeClr val="bg1"/>
                            </a:solidFill>
                            <a:latin typeface="Cambria Math" panose="02040503050406030204" pitchFamily="18" charset="0"/>
                          </a:rPr>
                          <m:t>𝟑</m:t>
                        </m:r>
                      </m:den>
                    </m:f>
                  </m:oMath>
                </a14:m>
                <a:r>
                  <a:rPr lang="en-US" b="1" dirty="0">
                    <a:solidFill>
                      <a:schemeClr val="bg1"/>
                    </a:solidFill>
                  </a:rPr>
                  <a:t> </a:t>
                </a:r>
                <a:r>
                  <a:rPr lang="en-US" sz="2400" b="1" dirty="0">
                    <a:solidFill>
                      <a:schemeClr val="bg1"/>
                    </a:solidFill>
                    <a:latin typeface="Cambria Math" panose="02040503050406030204" pitchFamily="18" charset="0"/>
                    <a:ea typeface="Cambria Math" panose="02040503050406030204" pitchFamily="18" charset="0"/>
                  </a:rPr>
                  <a:t>= $20</a:t>
                </a:r>
                <a:endParaRPr lang="en-US" sz="2400" b="1" dirty="0">
                  <a:latin typeface="Cambria Math" panose="02040503050406030204" pitchFamily="18" charset="0"/>
                  <a:ea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014C19A3-B4B2-34E4-99DA-3347CD02E260}"/>
                  </a:ext>
                </a:extLst>
              </p:cNvPr>
              <p:cNvSpPr txBox="1">
                <a:spLocks noRot="1" noChangeAspect="1" noMove="1" noResize="1" noEditPoints="1" noAdjustHandles="1" noChangeArrowheads="1" noChangeShapeType="1" noTextEdit="1"/>
              </p:cNvSpPr>
              <p:nvPr/>
            </p:nvSpPr>
            <p:spPr>
              <a:xfrm>
                <a:off x="5401385" y="1564469"/>
                <a:ext cx="3209533" cy="1564146"/>
              </a:xfrm>
              <a:prstGeom prst="rect">
                <a:avLst/>
              </a:prstGeom>
              <a:blipFill>
                <a:blip r:embed="rId3"/>
                <a:stretch>
                  <a:fillRect l="-2657" t="-3125" r="-265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8F48F29-C6A6-61EF-6EA3-0D77CFDDF36D}"/>
              </a:ext>
            </a:extLst>
          </p:cNvPr>
          <p:cNvSpPr txBox="1"/>
          <p:nvPr/>
        </p:nvSpPr>
        <p:spPr>
          <a:xfrm>
            <a:off x="316099" y="3858447"/>
            <a:ext cx="8362950" cy="1815882"/>
          </a:xfrm>
          <a:prstGeom prst="rect">
            <a:avLst/>
          </a:prstGeom>
          <a:noFill/>
        </p:spPr>
        <p:txBody>
          <a:bodyPr wrap="square" rtlCol="0">
            <a:spAutoFit/>
          </a:bodyPr>
          <a:lstStyle/>
          <a:p>
            <a:pPr marL="285750" indent="-285750" algn="l">
              <a:buFont typeface="Arial" panose="020B0604020202020204" pitchFamily="34" charset="0"/>
              <a:buChar char="•"/>
            </a:pPr>
            <a:r>
              <a:rPr lang="en-US" sz="2800" b="0" i="0" u="none" strike="noStrike" baseline="0" dirty="0"/>
              <a:t>Note that a price-weighted average means that the companies with </a:t>
            </a:r>
            <a:r>
              <a:rPr lang="en-US" sz="2800" b="0" i="1" u="none" strike="noStrike" baseline="0" dirty="0"/>
              <a:t>higher-priced</a:t>
            </a:r>
            <a:r>
              <a:rPr lang="en-US" sz="2800" b="0" i="0" u="none" strike="noStrike" baseline="0" dirty="0"/>
              <a:t> stock shares are given more weight in determining the overall performance of the index.</a:t>
            </a:r>
            <a:endParaRPr lang="en-US" sz="2800" dirty="0">
              <a:solidFill>
                <a:srgbClr val="374151"/>
              </a:solidFill>
            </a:endParaRPr>
          </a:p>
        </p:txBody>
      </p:sp>
    </p:spTree>
    <p:extLst>
      <p:ext uri="{BB962C8B-B14F-4D97-AF65-F5344CB8AC3E}">
        <p14:creationId xmlns:p14="http://schemas.microsoft.com/office/powerpoint/2010/main" val="3266519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115745"/>
            <a:ext cx="7886700" cy="1325563"/>
          </a:xfrm>
        </p:spPr>
        <p:txBody>
          <a:bodyPr/>
          <a:lstStyle/>
          <a:p>
            <a:r>
              <a:rPr lang="en-US" b="1" dirty="0"/>
              <a:t>Price-Weighted Average (cont.)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14C19A3-B4B2-34E4-99DA-3347CD02E260}"/>
                  </a:ext>
                </a:extLst>
              </p:cNvPr>
              <p:cNvSpPr txBox="1"/>
              <p:nvPr/>
            </p:nvSpPr>
            <p:spPr>
              <a:xfrm>
                <a:off x="5401385" y="1564469"/>
                <a:ext cx="3209533" cy="1564146"/>
              </a:xfrm>
              <a:prstGeom prst="rect">
                <a:avLst/>
              </a:prstGeom>
              <a:solidFill>
                <a:schemeClr val="tx1"/>
              </a:solidFill>
            </p:spPr>
            <p:txBody>
              <a:bodyPr wrap="none" rtlCol="0">
                <a:spAutoFit/>
              </a:bodyPr>
              <a:lstStyle/>
              <a:p>
                <a:pPr algn="ctr"/>
                <a:r>
                  <a:rPr lang="en-US" sz="2400" b="1" dirty="0">
                    <a:solidFill>
                      <a:schemeClr val="bg1"/>
                    </a:solidFill>
                    <a:latin typeface="Cambria Math" panose="02040503050406030204" pitchFamily="18" charset="0"/>
                    <a:ea typeface="Cambria Math" panose="02040503050406030204" pitchFamily="18" charset="0"/>
                  </a:rPr>
                  <a:t>$10 + $20 + $30 = $60</a:t>
                </a:r>
              </a:p>
              <a:p>
                <a:pPr algn="ctr"/>
                <a:endParaRPr lang="en-US" sz="2400" b="1" dirty="0">
                  <a:solidFill>
                    <a:schemeClr val="bg1"/>
                  </a:solidFill>
                  <a:latin typeface="Cambria Math" panose="02040503050406030204" pitchFamily="18" charset="0"/>
                  <a:ea typeface="Cambria Math" panose="02040503050406030204" pitchFamily="18" charset="0"/>
                </a:endParaRPr>
              </a:p>
              <a:p>
                <a:pPr algn="ctr"/>
                <a14:m>
                  <m:oMath xmlns:m="http://schemas.openxmlformats.org/officeDocument/2006/math">
                    <m:f>
                      <m:fPr>
                        <m:ctrlPr>
                          <a:rPr lang="en-US" sz="3200" b="1" i="1" smtClean="0">
                            <a:solidFill>
                              <a:schemeClr val="bg1"/>
                            </a:solidFill>
                            <a:latin typeface="Cambria Math" panose="02040503050406030204" pitchFamily="18" charset="0"/>
                          </a:rPr>
                        </m:ctrlPr>
                      </m:fPr>
                      <m:num>
                        <m:r>
                          <a:rPr lang="en-US" sz="3200" b="1" i="1" smtClean="0">
                            <a:solidFill>
                              <a:schemeClr val="bg1"/>
                            </a:solidFill>
                            <a:latin typeface="Cambria Math" panose="02040503050406030204" pitchFamily="18" charset="0"/>
                          </a:rPr>
                          <m:t>$</m:t>
                        </m:r>
                        <m:r>
                          <a:rPr lang="en-US" sz="3200" b="1" i="1" smtClean="0">
                            <a:solidFill>
                              <a:schemeClr val="bg1"/>
                            </a:solidFill>
                            <a:latin typeface="Cambria Math" panose="02040503050406030204" pitchFamily="18" charset="0"/>
                          </a:rPr>
                          <m:t>𝟔𝟎</m:t>
                        </m:r>
                      </m:num>
                      <m:den>
                        <m:r>
                          <a:rPr lang="en-US" sz="3200" b="1" i="1" smtClean="0">
                            <a:solidFill>
                              <a:schemeClr val="bg1"/>
                            </a:solidFill>
                            <a:latin typeface="Cambria Math" panose="02040503050406030204" pitchFamily="18" charset="0"/>
                          </a:rPr>
                          <m:t>𝟑</m:t>
                        </m:r>
                      </m:den>
                    </m:f>
                  </m:oMath>
                </a14:m>
                <a:r>
                  <a:rPr lang="en-US" b="1" dirty="0">
                    <a:solidFill>
                      <a:schemeClr val="bg1"/>
                    </a:solidFill>
                  </a:rPr>
                  <a:t> </a:t>
                </a:r>
                <a:r>
                  <a:rPr lang="en-US" sz="2400" b="1" dirty="0">
                    <a:solidFill>
                      <a:schemeClr val="bg1"/>
                    </a:solidFill>
                    <a:latin typeface="Cambria Math" panose="02040503050406030204" pitchFamily="18" charset="0"/>
                    <a:ea typeface="Cambria Math" panose="02040503050406030204" pitchFamily="18" charset="0"/>
                  </a:rPr>
                  <a:t>= $20</a:t>
                </a:r>
                <a:endParaRPr lang="en-US" sz="2400" b="1" dirty="0">
                  <a:latin typeface="Cambria Math" panose="02040503050406030204" pitchFamily="18" charset="0"/>
                  <a:ea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014C19A3-B4B2-34E4-99DA-3347CD02E260}"/>
                  </a:ext>
                </a:extLst>
              </p:cNvPr>
              <p:cNvSpPr txBox="1">
                <a:spLocks noRot="1" noChangeAspect="1" noMove="1" noResize="1" noEditPoints="1" noAdjustHandles="1" noChangeArrowheads="1" noChangeShapeType="1" noTextEdit="1"/>
              </p:cNvSpPr>
              <p:nvPr/>
            </p:nvSpPr>
            <p:spPr>
              <a:xfrm>
                <a:off x="5401385" y="1564469"/>
                <a:ext cx="3209533" cy="1564146"/>
              </a:xfrm>
              <a:prstGeom prst="rect">
                <a:avLst/>
              </a:prstGeom>
              <a:blipFill>
                <a:blip r:embed="rId3"/>
                <a:stretch>
                  <a:fillRect l="-2657" t="-3125" r="-265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8F48F29-C6A6-61EF-6EA3-0D77CFDDF36D}"/>
              </a:ext>
            </a:extLst>
          </p:cNvPr>
          <p:cNvSpPr txBox="1"/>
          <p:nvPr/>
        </p:nvSpPr>
        <p:spPr>
          <a:xfrm>
            <a:off x="481362" y="1334457"/>
            <a:ext cx="4251960"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solidFill>
                  <a:srgbClr val="111111"/>
                </a:solidFill>
                <a:latin typeface="SourceSansPro"/>
              </a:rPr>
              <a:t>For</a:t>
            </a:r>
            <a:r>
              <a:rPr lang="en-US" sz="2800" b="0" i="0" dirty="0">
                <a:solidFill>
                  <a:srgbClr val="111111"/>
                </a:solidFill>
                <a:effectLst/>
                <a:latin typeface="SourceSansPro"/>
              </a:rPr>
              <a:t> </a:t>
            </a:r>
            <a:r>
              <a:rPr lang="en-US" sz="2800" dirty="0">
                <a:solidFill>
                  <a:srgbClr val="111111"/>
                </a:solidFill>
                <a:latin typeface="SourceSansPro"/>
              </a:rPr>
              <a:t>most</a:t>
            </a:r>
            <a:r>
              <a:rPr lang="en-US" sz="2800" b="0" i="0" dirty="0">
                <a:solidFill>
                  <a:srgbClr val="111111"/>
                </a:solidFill>
                <a:effectLst/>
                <a:latin typeface="SourceSansPro"/>
              </a:rPr>
              <a:t> price-weighted indexes, however, this divisor is adjusted; it is  not simply equal to the total number of stocks.</a:t>
            </a:r>
            <a:endParaRPr lang="en-US" sz="2800" dirty="0">
              <a:solidFill>
                <a:srgbClr val="374151"/>
              </a:solidFill>
              <a:latin typeface="Söhne"/>
            </a:endParaRPr>
          </a:p>
        </p:txBody>
      </p:sp>
      <p:cxnSp>
        <p:nvCxnSpPr>
          <p:cNvPr id="9" name="Straight Arrow Connector 8">
            <a:extLst>
              <a:ext uri="{FF2B5EF4-FFF2-40B4-BE49-F238E27FC236}">
                <a16:creationId xmlns:a16="http://schemas.microsoft.com/office/drawing/2014/main" id="{AE3120DC-EC64-3668-30F5-7ED28611B0DC}"/>
              </a:ext>
            </a:extLst>
          </p:cNvPr>
          <p:cNvCxnSpPr>
            <a:cxnSpLocks/>
          </p:cNvCxnSpPr>
          <p:nvPr/>
        </p:nvCxnSpPr>
        <p:spPr>
          <a:xfrm flipV="1">
            <a:off x="4572000" y="2967859"/>
            <a:ext cx="1718441" cy="313223"/>
          </a:xfrm>
          <a:prstGeom prst="straightConnector1">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2F297DA-4AB1-417B-B27A-15371D5A04F4}"/>
              </a:ext>
            </a:extLst>
          </p:cNvPr>
          <p:cNvSpPr txBox="1"/>
          <p:nvPr/>
        </p:nvSpPr>
        <p:spPr>
          <a:xfrm>
            <a:off x="423818" y="3724603"/>
            <a:ext cx="8591090" cy="2246769"/>
          </a:xfrm>
          <a:prstGeom prst="rect">
            <a:avLst/>
          </a:prstGeom>
          <a:noFill/>
        </p:spPr>
        <p:txBody>
          <a:bodyPr wrap="square" rtlCol="0">
            <a:spAutoFit/>
          </a:bodyPr>
          <a:lstStyle/>
          <a:p>
            <a:pPr marL="285750" indent="-285750">
              <a:buFont typeface="Arial" panose="020B0604020202020204" pitchFamily="34" charset="0"/>
              <a:buChar char="•"/>
            </a:pPr>
            <a:r>
              <a:rPr lang="en-US" sz="2800" b="0" i="0" dirty="0">
                <a:solidFill>
                  <a:srgbClr val="111111"/>
                </a:solidFill>
                <a:effectLst/>
                <a:latin typeface="SourceSansPro"/>
              </a:rPr>
              <a:t>For example, the managers of the Dow Jones Industrial Average adjust this divisor to maintain continuity in the event of stock splits, high dividend payouts, or when there</a:t>
            </a:r>
            <a:r>
              <a:rPr lang="en-US" sz="2800" dirty="0">
                <a:solidFill>
                  <a:srgbClr val="111111"/>
                </a:solidFill>
                <a:latin typeface="SourceSansPro"/>
              </a:rPr>
              <a:t> are</a:t>
            </a:r>
            <a:r>
              <a:rPr lang="en-US" sz="2800" b="0" i="0" dirty="0">
                <a:solidFill>
                  <a:srgbClr val="111111"/>
                </a:solidFill>
                <a:effectLst/>
                <a:latin typeface="SourceSansPro"/>
              </a:rPr>
              <a:t> changes to the companies that make up the index.</a:t>
            </a:r>
            <a:endParaRPr lang="en-US" sz="2800" dirty="0"/>
          </a:p>
        </p:txBody>
      </p:sp>
    </p:spTree>
    <p:extLst>
      <p:ext uri="{BB962C8B-B14F-4D97-AF65-F5344CB8AC3E}">
        <p14:creationId xmlns:p14="http://schemas.microsoft.com/office/powerpoint/2010/main" val="1466427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115745"/>
            <a:ext cx="7886700" cy="1325563"/>
          </a:xfrm>
        </p:spPr>
        <p:txBody>
          <a:bodyPr/>
          <a:lstStyle/>
          <a:p>
            <a:r>
              <a:rPr lang="en-US" b="1" dirty="0"/>
              <a:t>Market Value-Weighted Average</a:t>
            </a:r>
          </a:p>
        </p:txBody>
      </p:sp>
      <p:sp>
        <p:nvSpPr>
          <p:cNvPr id="8" name="Content Placeholder 7"/>
          <p:cNvSpPr>
            <a:spLocks noGrp="1"/>
          </p:cNvSpPr>
          <p:nvPr>
            <p:ph idx="1"/>
          </p:nvPr>
        </p:nvSpPr>
        <p:spPr>
          <a:xfrm>
            <a:off x="278996" y="1385601"/>
            <a:ext cx="8510674" cy="4086797"/>
          </a:xfrm>
        </p:spPr>
        <p:txBody>
          <a:bodyPr>
            <a:noAutofit/>
          </a:bodyPr>
          <a:lstStyle/>
          <a:p>
            <a:pPr algn="l"/>
            <a:r>
              <a:rPr lang="en-US" b="0" i="0" dirty="0">
                <a:effectLst/>
              </a:rPr>
              <a:t>Another common weighting method used in stock market indices is to weigh larger companies more heavily. This is known as </a:t>
            </a:r>
            <a:r>
              <a:rPr lang="en-US" dirty="0"/>
              <a:t>a</a:t>
            </a:r>
            <a:r>
              <a:rPr lang="en-US" b="0" i="0" dirty="0">
                <a:effectLst/>
              </a:rPr>
              <a:t> “market-value weighted average” or “capitalization-weighted average.”</a:t>
            </a:r>
          </a:p>
          <a:p>
            <a:pPr algn="l"/>
            <a:endParaRPr lang="en-US" dirty="0"/>
          </a:p>
          <a:p>
            <a:pPr algn="l"/>
            <a:r>
              <a:rPr lang="en-US" b="0" i="0" dirty="0">
                <a:effectLst/>
              </a:rPr>
              <a:t>With this method, the market capitalization (or “market cap”) of each company is used as the basis for determining </a:t>
            </a:r>
            <a:r>
              <a:rPr lang="en-US" dirty="0"/>
              <a:t>the</a:t>
            </a:r>
            <a:r>
              <a:rPr lang="en-US" b="0" i="0" dirty="0">
                <a:effectLst/>
              </a:rPr>
              <a:t> stock’s weight in the index. </a:t>
            </a:r>
          </a:p>
          <a:p>
            <a:pPr algn="l"/>
            <a:endParaRPr lang="en-US" b="0" i="0" dirty="0">
              <a:solidFill>
                <a:srgbClr val="374151"/>
              </a:solidFill>
              <a:effectLst/>
              <a:latin typeface="Söhne"/>
            </a:endParaRPr>
          </a:p>
        </p:txBody>
      </p:sp>
    </p:spTree>
    <p:extLst>
      <p:ext uri="{BB962C8B-B14F-4D97-AF65-F5344CB8AC3E}">
        <p14:creationId xmlns:p14="http://schemas.microsoft.com/office/powerpoint/2010/main" val="3430540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115745"/>
            <a:ext cx="7886700" cy="1325563"/>
          </a:xfrm>
        </p:spPr>
        <p:txBody>
          <a:bodyPr/>
          <a:lstStyle/>
          <a:p>
            <a:r>
              <a:rPr lang="en-US" b="1" dirty="0"/>
              <a:t>What is Market Capitalization?</a:t>
            </a:r>
          </a:p>
        </p:txBody>
      </p:sp>
      <p:sp>
        <p:nvSpPr>
          <p:cNvPr id="8" name="Content Placeholder 7"/>
          <p:cNvSpPr>
            <a:spLocks noGrp="1"/>
          </p:cNvSpPr>
          <p:nvPr>
            <p:ph idx="1"/>
          </p:nvPr>
        </p:nvSpPr>
        <p:spPr>
          <a:xfrm>
            <a:off x="182528" y="3429000"/>
            <a:ext cx="8778943" cy="4086797"/>
          </a:xfrm>
        </p:spPr>
        <p:txBody>
          <a:bodyPr>
            <a:noAutofit/>
          </a:bodyPr>
          <a:lstStyle/>
          <a:p>
            <a:r>
              <a:rPr lang="en-US" dirty="0"/>
              <a:t>“Outstanding shares” means all the </a:t>
            </a:r>
            <a:r>
              <a:rPr lang="en-US" b="0" i="0" dirty="0">
                <a:effectLst/>
              </a:rPr>
              <a:t>stock held by a company’s shareholders on the open market. This includes restricted shares held by a company’s officers and institutional investors. T</a:t>
            </a:r>
            <a:r>
              <a:rPr lang="en-US" dirty="0"/>
              <a:t>reasury shares (which are shares of a company's stock that the company itself has bought back) are not considered outstanding shares.</a:t>
            </a:r>
            <a:endParaRPr lang="en-US" b="0" i="0" dirty="0">
              <a:effectLst/>
            </a:endParaRPr>
          </a:p>
          <a:p>
            <a:pPr algn="l"/>
            <a:endParaRPr lang="en-US" b="0" i="0" dirty="0">
              <a:solidFill>
                <a:srgbClr val="374151"/>
              </a:solidFill>
              <a:effectLst/>
              <a:latin typeface="Söhne"/>
            </a:endParaRPr>
          </a:p>
          <a:p>
            <a:pPr algn="l"/>
            <a:endParaRPr lang="en-US" b="0" i="0" dirty="0">
              <a:solidFill>
                <a:srgbClr val="374151"/>
              </a:solidFill>
              <a:effectLst/>
              <a:latin typeface="Söhne"/>
            </a:endParaRPr>
          </a:p>
        </p:txBody>
      </p:sp>
      <p:sp>
        <p:nvSpPr>
          <p:cNvPr id="11" name="Rectangle 10">
            <a:extLst>
              <a:ext uri="{FF2B5EF4-FFF2-40B4-BE49-F238E27FC236}">
                <a16:creationId xmlns:a16="http://schemas.microsoft.com/office/drawing/2014/main" id="{3C2A42AB-02B4-DB2A-DC24-10707FFCD11C}"/>
              </a:ext>
            </a:extLst>
          </p:cNvPr>
          <p:cNvSpPr/>
          <p:nvPr/>
        </p:nvSpPr>
        <p:spPr>
          <a:xfrm>
            <a:off x="837443" y="1233037"/>
            <a:ext cx="7599578" cy="184365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A0BB35F-6081-4CED-82CC-95D99FC5DADF}"/>
              </a:ext>
            </a:extLst>
          </p:cNvPr>
          <p:cNvSpPr txBox="1"/>
          <p:nvPr/>
        </p:nvSpPr>
        <p:spPr>
          <a:xfrm>
            <a:off x="1131603" y="1609540"/>
            <a:ext cx="2019075" cy="830997"/>
          </a:xfrm>
          <a:prstGeom prst="rect">
            <a:avLst/>
          </a:prstGeom>
          <a:noFill/>
        </p:spPr>
        <p:txBody>
          <a:bodyPr wrap="square" rtlCol="0">
            <a:spAutoFit/>
          </a:bodyPr>
          <a:lstStyle/>
          <a:p>
            <a:r>
              <a:rPr lang="en-US" sz="2400" dirty="0">
                <a:solidFill>
                  <a:schemeClr val="bg1"/>
                </a:solidFill>
                <a:latin typeface="Cambria Math" panose="02040503050406030204" pitchFamily="18" charset="0"/>
                <a:ea typeface="Cambria Math" panose="02040503050406030204" pitchFamily="18" charset="0"/>
              </a:rPr>
              <a:t>Market</a:t>
            </a:r>
          </a:p>
          <a:p>
            <a:r>
              <a:rPr lang="en-US" sz="2400" dirty="0">
                <a:solidFill>
                  <a:schemeClr val="bg1"/>
                </a:solidFill>
                <a:latin typeface="Cambria Math" panose="02040503050406030204" pitchFamily="18" charset="0"/>
                <a:ea typeface="Cambria Math" panose="02040503050406030204" pitchFamily="18" charset="0"/>
              </a:rPr>
              <a:t>capitalization</a:t>
            </a:r>
          </a:p>
        </p:txBody>
      </p:sp>
      <p:sp>
        <p:nvSpPr>
          <p:cNvPr id="5" name="TextBox 4">
            <a:extLst>
              <a:ext uri="{FF2B5EF4-FFF2-40B4-BE49-F238E27FC236}">
                <a16:creationId xmlns:a16="http://schemas.microsoft.com/office/drawing/2014/main" id="{9285C071-2EB4-8ECE-1197-B1CC16AE1D2B}"/>
              </a:ext>
            </a:extLst>
          </p:cNvPr>
          <p:cNvSpPr txBox="1"/>
          <p:nvPr/>
        </p:nvSpPr>
        <p:spPr>
          <a:xfrm>
            <a:off x="3693237" y="1534331"/>
            <a:ext cx="2164976" cy="1200329"/>
          </a:xfrm>
          <a:prstGeom prst="rect">
            <a:avLst/>
          </a:prstGeom>
          <a:noFill/>
        </p:spPr>
        <p:txBody>
          <a:bodyPr wrap="square" rtlCol="0">
            <a:spAutoFit/>
          </a:bodyPr>
          <a:lstStyle/>
          <a:p>
            <a:r>
              <a:rPr lang="en-US" sz="2400" b="0" i="0" dirty="0">
                <a:solidFill>
                  <a:schemeClr val="bg1"/>
                </a:solidFill>
                <a:effectLst/>
                <a:latin typeface="Cambria Math" panose="02040503050406030204" pitchFamily="18" charset="0"/>
                <a:ea typeface="Cambria Math" panose="02040503050406030204" pitchFamily="18" charset="0"/>
              </a:rPr>
              <a:t>Number of outstanding shares of stock</a:t>
            </a:r>
            <a:endParaRPr lang="en-US" sz="2400" dirty="0">
              <a:solidFill>
                <a:schemeClr val="bg1"/>
              </a:solidFill>
              <a:latin typeface="Cambria Math" panose="02040503050406030204" pitchFamily="18" charset="0"/>
              <a:ea typeface="Cambria Math" panose="02040503050406030204" pitchFamily="18" charset="0"/>
            </a:endParaRPr>
          </a:p>
        </p:txBody>
      </p:sp>
      <p:sp>
        <p:nvSpPr>
          <p:cNvPr id="9" name="TextBox 8">
            <a:extLst>
              <a:ext uri="{FF2B5EF4-FFF2-40B4-BE49-F238E27FC236}">
                <a16:creationId xmlns:a16="http://schemas.microsoft.com/office/drawing/2014/main" id="{680F91FB-682D-4EBF-D7D5-003C41F545C8}"/>
              </a:ext>
            </a:extLst>
          </p:cNvPr>
          <p:cNvSpPr txBox="1"/>
          <p:nvPr/>
        </p:nvSpPr>
        <p:spPr>
          <a:xfrm>
            <a:off x="3150678" y="1772192"/>
            <a:ext cx="882127" cy="584775"/>
          </a:xfrm>
          <a:prstGeom prst="rect">
            <a:avLst/>
          </a:prstGeom>
          <a:noFill/>
        </p:spPr>
        <p:txBody>
          <a:bodyPr wrap="square" rtlCol="0">
            <a:spAutoFit/>
          </a:bodyPr>
          <a:lstStyle/>
          <a:p>
            <a:r>
              <a:rPr lang="en-US" sz="3200" b="1" dirty="0">
                <a:solidFill>
                  <a:schemeClr val="bg1"/>
                </a:solidFill>
                <a:latin typeface="Cambria Math" panose="02040503050406030204" pitchFamily="18" charset="0"/>
                <a:ea typeface="Cambria Math" panose="02040503050406030204" pitchFamily="18" charset="0"/>
              </a:rPr>
              <a:t>=</a:t>
            </a:r>
          </a:p>
        </p:txBody>
      </p:sp>
      <p:sp>
        <p:nvSpPr>
          <p:cNvPr id="10" name="TextBox 9">
            <a:extLst>
              <a:ext uri="{FF2B5EF4-FFF2-40B4-BE49-F238E27FC236}">
                <a16:creationId xmlns:a16="http://schemas.microsoft.com/office/drawing/2014/main" id="{FB2A13BC-B414-BE5F-2F58-6AD738698C21}"/>
              </a:ext>
            </a:extLst>
          </p:cNvPr>
          <p:cNvSpPr txBox="1"/>
          <p:nvPr/>
        </p:nvSpPr>
        <p:spPr>
          <a:xfrm>
            <a:off x="5691353" y="1821405"/>
            <a:ext cx="3140676" cy="461665"/>
          </a:xfrm>
          <a:prstGeom prst="rect">
            <a:avLst/>
          </a:prstGeom>
          <a:noFill/>
        </p:spPr>
        <p:txBody>
          <a:bodyPr wrap="square" rtlCol="0">
            <a:spAutoFit/>
          </a:bodyPr>
          <a:lstStyle/>
          <a:p>
            <a:r>
              <a:rPr lang="en-US" sz="2400" dirty="0">
                <a:solidFill>
                  <a:schemeClr val="bg1"/>
                </a:solidFill>
                <a:latin typeface="Calibri" panose="020F0502020204030204" pitchFamily="34" charset="0"/>
                <a:ea typeface="Cambria Math" panose="02040503050406030204" pitchFamily="18" charset="0"/>
                <a:cs typeface="Calibri" panose="020F0502020204030204" pitchFamily="34" charset="0"/>
              </a:rPr>
              <a:t>×  </a:t>
            </a:r>
            <a:r>
              <a:rPr lang="en-US" sz="2400" dirty="0">
                <a:solidFill>
                  <a:schemeClr val="bg1"/>
                </a:solidFill>
                <a:latin typeface="Cambria Math" panose="02040503050406030204" pitchFamily="18" charset="0"/>
                <a:ea typeface="Cambria Math" panose="02040503050406030204" pitchFamily="18" charset="0"/>
              </a:rPr>
              <a:t>Price per share</a:t>
            </a:r>
          </a:p>
        </p:txBody>
      </p:sp>
    </p:spTree>
    <p:extLst>
      <p:ext uri="{BB962C8B-B14F-4D97-AF65-F5344CB8AC3E}">
        <p14:creationId xmlns:p14="http://schemas.microsoft.com/office/powerpoint/2010/main" val="59429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278996" y="115745"/>
            <a:ext cx="8236354" cy="1325563"/>
          </a:xfrm>
        </p:spPr>
        <p:txBody>
          <a:bodyPr/>
          <a:lstStyle/>
          <a:p>
            <a:r>
              <a:rPr lang="en-US" b="1" dirty="0"/>
              <a:t>Effect of a “Market Value-Weighted” Average</a:t>
            </a:r>
          </a:p>
        </p:txBody>
      </p:sp>
      <p:sp>
        <p:nvSpPr>
          <p:cNvPr id="8" name="Content Placeholder 7"/>
          <p:cNvSpPr>
            <a:spLocks noGrp="1"/>
          </p:cNvSpPr>
          <p:nvPr>
            <p:ph idx="1"/>
          </p:nvPr>
        </p:nvSpPr>
        <p:spPr>
          <a:xfrm>
            <a:off x="316663" y="1822035"/>
            <a:ext cx="8510674" cy="4086797"/>
          </a:xfrm>
        </p:spPr>
        <p:txBody>
          <a:bodyPr>
            <a:noAutofit/>
          </a:bodyPr>
          <a:lstStyle/>
          <a:p>
            <a:pPr algn="l"/>
            <a:r>
              <a:rPr lang="en-US" b="0" i="0" dirty="0">
                <a:solidFill>
                  <a:srgbClr val="374151"/>
                </a:solidFill>
                <a:effectLst/>
                <a:latin typeface="Söhne"/>
              </a:rPr>
              <a:t>Using a market value-weighted average, companies with larger market caps are given greater weight in the index than companies with smaller market caps. </a:t>
            </a:r>
          </a:p>
          <a:p>
            <a:pPr algn="l"/>
            <a:endParaRPr lang="en-US" b="0" i="0" dirty="0">
              <a:solidFill>
                <a:srgbClr val="374151"/>
              </a:solidFill>
              <a:effectLst/>
              <a:latin typeface="Söhne"/>
            </a:endParaRPr>
          </a:p>
          <a:p>
            <a:pPr algn="l"/>
            <a:r>
              <a:rPr lang="en-US" b="0" i="0" dirty="0">
                <a:solidFill>
                  <a:srgbClr val="374151"/>
                </a:solidFill>
                <a:effectLst/>
                <a:latin typeface="Söhne"/>
              </a:rPr>
              <a:t>This means that the performance of the largest companies in the index has a greater impact on the overall index performance than smaller companies.</a:t>
            </a:r>
          </a:p>
        </p:txBody>
      </p:sp>
    </p:spTree>
    <p:extLst>
      <p:ext uri="{BB962C8B-B14F-4D97-AF65-F5344CB8AC3E}">
        <p14:creationId xmlns:p14="http://schemas.microsoft.com/office/powerpoint/2010/main" val="3039882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161365" y="115745"/>
            <a:ext cx="8353985" cy="1325563"/>
          </a:xfrm>
        </p:spPr>
        <p:txBody>
          <a:bodyPr/>
          <a:lstStyle/>
          <a:p>
            <a:r>
              <a:rPr lang="en-US" b="1" dirty="0"/>
              <a:t>Calculating the Market Value-Weighted Average</a:t>
            </a:r>
          </a:p>
        </p:txBody>
      </p:sp>
      <p:sp>
        <p:nvSpPr>
          <p:cNvPr id="8" name="Content Placeholder 7"/>
          <p:cNvSpPr>
            <a:spLocks noGrp="1"/>
          </p:cNvSpPr>
          <p:nvPr>
            <p:ph idx="1"/>
          </p:nvPr>
        </p:nvSpPr>
        <p:spPr>
          <a:xfrm>
            <a:off x="161366" y="3227294"/>
            <a:ext cx="8886488" cy="2334410"/>
          </a:xfrm>
          <a:solidFill>
            <a:schemeClr val="tx1"/>
          </a:solidFill>
        </p:spPr>
        <p:txBody>
          <a:bodyPr>
            <a:noAutofit/>
          </a:bodyPr>
          <a:lstStyle/>
          <a:p>
            <a:pPr algn="l">
              <a:buFont typeface="Arial" panose="020B0604020202020204" pitchFamily="34" charset="0"/>
              <a:buChar char="•"/>
            </a:pPr>
            <a:endParaRPr lang="en-US" dirty="0">
              <a:solidFill>
                <a:srgbClr val="374151"/>
              </a:solidFill>
              <a:latin typeface="Söhne"/>
            </a:endParaRPr>
          </a:p>
          <a:p>
            <a:pPr marL="0" indent="0" algn="l">
              <a:buNone/>
            </a:pPr>
            <a:r>
              <a:rPr lang="en-US" b="0" i="0" dirty="0">
                <a:solidFill>
                  <a:schemeClr val="bg1"/>
                </a:solidFill>
                <a:effectLst/>
                <a:latin typeface="Cambria Math" panose="02040503050406030204" pitchFamily="18" charset="0"/>
                <a:ea typeface="Cambria Math" panose="02040503050406030204" pitchFamily="18" charset="0"/>
              </a:rPr>
              <a:t>Company A’s market cap			$50 million</a:t>
            </a:r>
          </a:p>
          <a:p>
            <a:pPr marL="0" indent="0" algn="l">
              <a:buNone/>
            </a:pPr>
            <a:r>
              <a:rPr lang="en-US" b="0" i="0" dirty="0">
                <a:solidFill>
                  <a:schemeClr val="bg1"/>
                </a:solidFill>
                <a:effectLst/>
                <a:latin typeface="Cambria Math" panose="02040503050406030204" pitchFamily="18" charset="0"/>
                <a:ea typeface="Cambria Math" panose="02040503050406030204" pitchFamily="18" charset="0"/>
              </a:rPr>
              <a:t>Company B’s market cap 		+       </a:t>
            </a:r>
            <a:r>
              <a:rPr lang="en-US" b="0" i="0" u="sng" dirty="0">
                <a:solidFill>
                  <a:schemeClr val="bg1"/>
                </a:solidFill>
                <a:effectLst/>
                <a:latin typeface="Cambria Math" panose="02040503050406030204" pitchFamily="18" charset="0"/>
                <a:ea typeface="Cambria Math" panose="02040503050406030204" pitchFamily="18" charset="0"/>
              </a:rPr>
              <a:t>$100 million</a:t>
            </a:r>
          </a:p>
          <a:p>
            <a:pPr marL="0" indent="0" algn="l">
              <a:buNone/>
            </a:pPr>
            <a:r>
              <a:rPr lang="en-US" dirty="0">
                <a:solidFill>
                  <a:schemeClr val="bg1"/>
                </a:solidFill>
                <a:latin typeface="Cambria Math" panose="02040503050406030204" pitchFamily="18" charset="0"/>
                <a:ea typeface="Cambria Math" panose="02040503050406030204" pitchFamily="18" charset="0"/>
              </a:rPr>
              <a:t>T</a:t>
            </a:r>
            <a:r>
              <a:rPr lang="en-US" b="0" i="0" dirty="0">
                <a:solidFill>
                  <a:schemeClr val="bg1"/>
                </a:solidFill>
                <a:effectLst/>
                <a:latin typeface="Cambria Math" panose="02040503050406030204" pitchFamily="18" charset="0"/>
                <a:ea typeface="Cambria Math" panose="02040503050406030204" pitchFamily="18" charset="0"/>
              </a:rPr>
              <a:t>otal market cap</a:t>
            </a:r>
            <a:r>
              <a:rPr lang="en-US" dirty="0">
                <a:solidFill>
                  <a:schemeClr val="bg1"/>
                </a:solidFill>
                <a:latin typeface="Cambria Math" panose="02040503050406030204" pitchFamily="18" charset="0"/>
                <a:ea typeface="Cambria Math" panose="02040503050406030204" pitchFamily="18" charset="0"/>
              </a:rPr>
              <a:t>      			=</a:t>
            </a:r>
            <a:r>
              <a:rPr lang="en-US" b="0" i="0" dirty="0">
                <a:solidFill>
                  <a:schemeClr val="bg1"/>
                </a:solidFill>
                <a:effectLst/>
                <a:latin typeface="Cambria Math" panose="02040503050406030204" pitchFamily="18" charset="0"/>
                <a:ea typeface="Cambria Math" panose="02040503050406030204" pitchFamily="18" charset="0"/>
              </a:rPr>
              <a:t>       $150 million</a:t>
            </a:r>
          </a:p>
          <a:p>
            <a:pPr marL="0" indent="0" algn="l">
              <a:buNone/>
            </a:pPr>
            <a:endParaRPr lang="en-US" b="0" i="0" dirty="0">
              <a:solidFill>
                <a:srgbClr val="374151"/>
              </a:solidFill>
              <a:effectLst/>
              <a:latin typeface="Söhne"/>
            </a:endParaRPr>
          </a:p>
          <a:p>
            <a:pPr algn="l"/>
            <a:endParaRPr lang="en-US" b="0" i="0" dirty="0">
              <a:solidFill>
                <a:srgbClr val="374151"/>
              </a:solidFill>
              <a:effectLst/>
              <a:latin typeface="Söhne"/>
            </a:endParaRPr>
          </a:p>
        </p:txBody>
      </p:sp>
      <p:sp>
        <p:nvSpPr>
          <p:cNvPr id="2" name="TextBox 1">
            <a:extLst>
              <a:ext uri="{FF2B5EF4-FFF2-40B4-BE49-F238E27FC236}">
                <a16:creationId xmlns:a16="http://schemas.microsoft.com/office/drawing/2014/main" id="{52227B05-076E-7295-8D8F-F827CA570D68}"/>
              </a:ext>
            </a:extLst>
          </p:cNvPr>
          <p:cNvSpPr txBox="1"/>
          <p:nvPr/>
        </p:nvSpPr>
        <p:spPr>
          <a:xfrm>
            <a:off x="96147" y="1688951"/>
            <a:ext cx="8531486" cy="1384995"/>
          </a:xfrm>
          <a:prstGeom prst="rect">
            <a:avLst/>
          </a:prstGeom>
          <a:noFill/>
        </p:spPr>
        <p:txBody>
          <a:bodyPr wrap="square" rtlCol="0">
            <a:spAutoFit/>
          </a:bodyPr>
          <a:lstStyle/>
          <a:p>
            <a:pPr marL="285750" indent="-285750" algn="l">
              <a:buFont typeface="Arial" panose="020B0604020202020204" pitchFamily="34" charset="0"/>
              <a:buChar char="•"/>
            </a:pPr>
            <a:r>
              <a:rPr lang="en-US" sz="2800" dirty="0">
                <a:solidFill>
                  <a:srgbClr val="374151"/>
                </a:solidFill>
              </a:rPr>
              <a:t>I</a:t>
            </a:r>
            <a:r>
              <a:rPr lang="en-US" sz="2800" b="0" i="0" dirty="0">
                <a:solidFill>
                  <a:srgbClr val="374151"/>
                </a:solidFill>
                <a:effectLst/>
              </a:rPr>
              <a:t>magine an index containing only two stocks. For the total market cap, first calculate the market cap for each company, then add these values together. </a:t>
            </a:r>
          </a:p>
        </p:txBody>
      </p:sp>
    </p:spTree>
    <p:extLst>
      <p:ext uri="{BB962C8B-B14F-4D97-AF65-F5344CB8AC3E}">
        <p14:creationId xmlns:p14="http://schemas.microsoft.com/office/powerpoint/2010/main" val="1452142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161365" y="115745"/>
            <a:ext cx="8353985" cy="1325563"/>
          </a:xfrm>
        </p:spPr>
        <p:txBody>
          <a:bodyPr/>
          <a:lstStyle/>
          <a:p>
            <a:r>
              <a:rPr lang="en-US" b="1" dirty="0"/>
              <a:t>Calculating the Market Value-Weighted Average (cont.)</a:t>
            </a:r>
          </a:p>
        </p:txBody>
      </p:sp>
      <p:sp>
        <p:nvSpPr>
          <p:cNvPr id="2" name="TextBox 1">
            <a:extLst>
              <a:ext uri="{FF2B5EF4-FFF2-40B4-BE49-F238E27FC236}">
                <a16:creationId xmlns:a16="http://schemas.microsoft.com/office/drawing/2014/main" id="{52227B05-076E-7295-8D8F-F827CA570D68}"/>
              </a:ext>
            </a:extLst>
          </p:cNvPr>
          <p:cNvSpPr txBox="1"/>
          <p:nvPr/>
        </p:nvSpPr>
        <p:spPr>
          <a:xfrm>
            <a:off x="96147" y="1688951"/>
            <a:ext cx="8531486" cy="3539430"/>
          </a:xfrm>
          <a:prstGeom prst="rect">
            <a:avLst/>
          </a:prstGeom>
          <a:noFill/>
        </p:spPr>
        <p:txBody>
          <a:bodyPr wrap="square" rtlCol="0">
            <a:spAutoFit/>
          </a:bodyPr>
          <a:lstStyle/>
          <a:p>
            <a:pPr marL="285750" indent="-285750" algn="l">
              <a:buFont typeface="Arial" panose="020B0604020202020204" pitchFamily="34" charset="0"/>
              <a:buChar char="•"/>
            </a:pPr>
            <a:r>
              <a:rPr lang="en-US" sz="2800" b="0" i="0" dirty="0">
                <a:solidFill>
                  <a:srgbClr val="374151"/>
                </a:solidFill>
                <a:effectLst/>
                <a:latin typeface="Söhne"/>
              </a:rPr>
              <a:t>While we are keeping this</a:t>
            </a:r>
            <a:r>
              <a:rPr lang="en-US" sz="2800" dirty="0">
                <a:solidFill>
                  <a:srgbClr val="374151"/>
                </a:solidFill>
                <a:latin typeface="Söhne"/>
              </a:rPr>
              <a:t> example simple, typically this </a:t>
            </a:r>
            <a:r>
              <a:rPr lang="en-US" sz="2800" b="0" i="0" dirty="0">
                <a:solidFill>
                  <a:srgbClr val="374151"/>
                </a:solidFill>
                <a:effectLst/>
                <a:latin typeface="Söhne"/>
              </a:rPr>
              <a:t>total market capitalization is also </a:t>
            </a:r>
            <a:r>
              <a:rPr lang="en-US" sz="2800" dirty="0">
                <a:solidFill>
                  <a:srgbClr val="374151"/>
                </a:solidFill>
                <a:latin typeface="Söhne"/>
              </a:rPr>
              <a:t>adjusted </a:t>
            </a:r>
            <a:r>
              <a:rPr lang="en-US" sz="2800" b="0" i="0" dirty="0">
                <a:solidFill>
                  <a:srgbClr val="374151"/>
                </a:solidFill>
                <a:effectLst/>
                <a:latin typeface="Söhne"/>
              </a:rPr>
              <a:t>by a divisor.</a:t>
            </a:r>
          </a:p>
          <a:p>
            <a:pPr marL="285750" indent="-285750" algn="l">
              <a:buFont typeface="Arial" panose="020B0604020202020204" pitchFamily="34" charset="0"/>
              <a:buChar char="•"/>
            </a:pPr>
            <a:endParaRPr lang="en-US" sz="2800" dirty="0">
              <a:solidFill>
                <a:srgbClr val="374151"/>
              </a:solidFill>
              <a:latin typeface="Söhne"/>
            </a:endParaRPr>
          </a:p>
          <a:p>
            <a:pPr marL="285750" indent="-285750" algn="l">
              <a:buFont typeface="Arial" panose="020B0604020202020204" pitchFamily="34" charset="0"/>
              <a:buChar char="•"/>
            </a:pPr>
            <a:r>
              <a:rPr lang="en-US" sz="2800" b="0" i="0" dirty="0">
                <a:solidFill>
                  <a:srgbClr val="374151"/>
                </a:solidFill>
                <a:effectLst/>
                <a:latin typeface="Söhne"/>
              </a:rPr>
              <a:t>Just as with </a:t>
            </a:r>
            <a:r>
              <a:rPr lang="en-US" sz="2800" dirty="0">
                <a:solidFill>
                  <a:srgbClr val="374151"/>
                </a:solidFill>
                <a:latin typeface="Söhne"/>
              </a:rPr>
              <a:t>price-weighted average indices, t</a:t>
            </a:r>
            <a:r>
              <a:rPr lang="en-US" sz="2800" b="0" i="0" dirty="0">
                <a:solidFill>
                  <a:srgbClr val="374151"/>
                </a:solidFill>
                <a:effectLst/>
                <a:latin typeface="Söhne"/>
              </a:rPr>
              <a:t>he divisor is a mathematical constant used to maintain continuity in the index’s price level as companies are added or removed, as well as when stock prices change due to corporate actions such as stock splits. </a:t>
            </a:r>
            <a:endParaRPr lang="en-US" sz="2800" dirty="0">
              <a:solidFill>
                <a:srgbClr val="374151"/>
              </a:solidFill>
              <a:latin typeface="Söhne"/>
            </a:endParaRPr>
          </a:p>
        </p:txBody>
      </p:sp>
    </p:spTree>
    <p:extLst>
      <p:ext uri="{BB962C8B-B14F-4D97-AF65-F5344CB8AC3E}">
        <p14:creationId xmlns:p14="http://schemas.microsoft.com/office/powerpoint/2010/main" val="2273135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161365" y="115745"/>
            <a:ext cx="8353985" cy="1325563"/>
          </a:xfrm>
        </p:spPr>
        <p:txBody>
          <a:bodyPr/>
          <a:lstStyle/>
          <a:p>
            <a:r>
              <a:rPr lang="en-US" b="1" dirty="0"/>
              <a:t>Calculating the Market Value-Weighted Average (cont.)</a:t>
            </a:r>
          </a:p>
        </p:txBody>
      </p:sp>
      <p:sp>
        <p:nvSpPr>
          <p:cNvPr id="8" name="Content Placeholder 7"/>
          <p:cNvSpPr>
            <a:spLocks noGrp="1"/>
          </p:cNvSpPr>
          <p:nvPr>
            <p:ph idx="1"/>
          </p:nvPr>
        </p:nvSpPr>
        <p:spPr>
          <a:xfrm>
            <a:off x="139513" y="3429001"/>
            <a:ext cx="8864973" cy="2390886"/>
          </a:xfrm>
          <a:solidFill>
            <a:schemeClr val="tx1"/>
          </a:solidFill>
        </p:spPr>
        <p:txBody>
          <a:bodyPr>
            <a:noAutofit/>
          </a:bodyPr>
          <a:lstStyle/>
          <a:p>
            <a:pPr marL="0" indent="0" algn="l">
              <a:buNone/>
            </a:pPr>
            <a:r>
              <a:rPr lang="en-US" sz="2400" b="1" dirty="0">
                <a:solidFill>
                  <a:schemeClr val="bg1"/>
                </a:solidFill>
                <a:latin typeface="Cambria Math" panose="02040503050406030204" pitchFamily="18" charset="0"/>
                <a:ea typeface="Cambria Math" panose="02040503050406030204" pitchFamily="18" charset="0"/>
              </a:rPr>
              <a:t>       </a:t>
            </a:r>
          </a:p>
          <a:p>
            <a:pPr marL="0" indent="0" algn="l">
              <a:buNone/>
            </a:pPr>
            <a:r>
              <a:rPr lang="en-US" b="1" dirty="0">
                <a:solidFill>
                  <a:schemeClr val="bg1"/>
                </a:solidFill>
                <a:latin typeface="Cambria Math" panose="02040503050406030204" pitchFamily="18" charset="0"/>
                <a:ea typeface="Cambria Math" panose="02040503050406030204" pitchFamily="18" charset="0"/>
              </a:rPr>
              <a:t>      </a:t>
            </a:r>
            <a:r>
              <a:rPr lang="en-US" dirty="0">
                <a:solidFill>
                  <a:schemeClr val="bg1"/>
                </a:solidFill>
                <a:latin typeface="Cambria Math" panose="02040503050406030204" pitchFamily="18" charset="0"/>
                <a:ea typeface="Cambria Math" panose="02040503050406030204" pitchFamily="18" charset="0"/>
              </a:rPr>
              <a:t>Company </a:t>
            </a:r>
            <a:r>
              <a:rPr lang="en-US" i="0" dirty="0">
                <a:solidFill>
                  <a:schemeClr val="bg1"/>
                </a:solidFill>
                <a:effectLst/>
                <a:latin typeface="Cambria Math" panose="02040503050406030204" pitchFamily="18" charset="0"/>
                <a:ea typeface="Cambria Math" panose="02040503050406030204" pitchFamily="18" charset="0"/>
              </a:rPr>
              <a:t>A’s stock weight = $50M/$150M = 1/3</a:t>
            </a:r>
          </a:p>
          <a:p>
            <a:pPr marL="0" indent="0" algn="l">
              <a:buNone/>
            </a:pPr>
            <a:endParaRPr lang="en-US" i="0" dirty="0">
              <a:solidFill>
                <a:schemeClr val="bg1"/>
              </a:solidFill>
              <a:effectLst/>
              <a:latin typeface="Cambria Math" panose="02040503050406030204" pitchFamily="18" charset="0"/>
              <a:ea typeface="Cambria Math" panose="02040503050406030204" pitchFamily="18" charset="0"/>
            </a:endParaRPr>
          </a:p>
          <a:p>
            <a:pPr marL="0" indent="0" algn="l">
              <a:buNone/>
            </a:pPr>
            <a:r>
              <a:rPr lang="en-US" i="0" dirty="0">
                <a:solidFill>
                  <a:schemeClr val="bg1"/>
                </a:solidFill>
                <a:effectLst/>
                <a:latin typeface="Cambria Math" panose="02040503050406030204" pitchFamily="18" charset="0"/>
                <a:ea typeface="Cambria Math" panose="02040503050406030204" pitchFamily="18" charset="0"/>
              </a:rPr>
              <a:t>      Company B’s stock weight = $100M/$150M = 2/3</a:t>
            </a:r>
          </a:p>
          <a:p>
            <a:pPr marL="0" indent="0" algn="l">
              <a:buNone/>
            </a:pPr>
            <a:endParaRPr lang="en-US" i="0" dirty="0">
              <a:solidFill>
                <a:schemeClr val="bg1"/>
              </a:solidFill>
              <a:effectLst/>
              <a:latin typeface="Cambria Math" panose="02040503050406030204" pitchFamily="18" charset="0"/>
              <a:ea typeface="Cambria Math" panose="02040503050406030204" pitchFamily="18" charset="0"/>
            </a:endParaRPr>
          </a:p>
          <a:p>
            <a:pPr algn="l"/>
            <a:endParaRPr lang="en-US" b="0" i="0" dirty="0">
              <a:solidFill>
                <a:srgbClr val="374151"/>
              </a:solidFill>
              <a:effectLst/>
              <a:latin typeface="Söhne"/>
            </a:endParaRPr>
          </a:p>
        </p:txBody>
      </p:sp>
      <p:sp>
        <p:nvSpPr>
          <p:cNvPr id="2" name="TextBox 1">
            <a:extLst>
              <a:ext uri="{FF2B5EF4-FFF2-40B4-BE49-F238E27FC236}">
                <a16:creationId xmlns:a16="http://schemas.microsoft.com/office/drawing/2014/main" id="{52227B05-076E-7295-8D8F-F827CA570D68}"/>
              </a:ext>
            </a:extLst>
          </p:cNvPr>
          <p:cNvSpPr txBox="1"/>
          <p:nvPr/>
        </p:nvSpPr>
        <p:spPr>
          <a:xfrm>
            <a:off x="161365" y="1527213"/>
            <a:ext cx="8111266" cy="1815882"/>
          </a:xfrm>
          <a:prstGeom prst="rect">
            <a:avLst/>
          </a:prstGeom>
          <a:noFill/>
        </p:spPr>
        <p:txBody>
          <a:bodyPr wrap="square" rtlCol="0">
            <a:spAutoFit/>
          </a:bodyPr>
          <a:lstStyle/>
          <a:p>
            <a:pPr marL="285750" indent="-285750" algn="l">
              <a:buFont typeface="Arial" panose="020B0604020202020204" pitchFamily="34" charset="0"/>
              <a:buChar char="•"/>
            </a:pPr>
            <a:r>
              <a:rPr lang="en-US" sz="2800" dirty="0">
                <a:solidFill>
                  <a:srgbClr val="374151"/>
                </a:solidFill>
              </a:rPr>
              <a:t>After determining the total market cap, calculate each stock’s </a:t>
            </a:r>
            <a:r>
              <a:rPr lang="en-US" sz="2800" b="0" i="0" dirty="0">
                <a:solidFill>
                  <a:srgbClr val="374151"/>
                </a:solidFill>
                <a:effectLst/>
              </a:rPr>
              <a:t>respective weight in the index by dividing each company’s market cap by the total market cap.</a:t>
            </a:r>
          </a:p>
        </p:txBody>
      </p:sp>
    </p:spTree>
    <p:extLst>
      <p:ext uri="{BB962C8B-B14F-4D97-AF65-F5344CB8AC3E}">
        <p14:creationId xmlns:p14="http://schemas.microsoft.com/office/powerpoint/2010/main" val="1469839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161365" y="115745"/>
            <a:ext cx="8353985" cy="1325563"/>
          </a:xfrm>
        </p:spPr>
        <p:txBody>
          <a:bodyPr/>
          <a:lstStyle/>
          <a:p>
            <a:r>
              <a:rPr lang="en-US" b="1" dirty="0"/>
              <a:t>Calculating the Market Value-Weighted Average (cont.)</a:t>
            </a:r>
          </a:p>
        </p:txBody>
      </p:sp>
      <p:sp>
        <p:nvSpPr>
          <p:cNvPr id="8" name="Content Placeholder 7"/>
          <p:cNvSpPr>
            <a:spLocks noGrp="1"/>
          </p:cNvSpPr>
          <p:nvPr>
            <p:ph idx="1"/>
          </p:nvPr>
        </p:nvSpPr>
        <p:spPr>
          <a:xfrm>
            <a:off x="139513" y="3429000"/>
            <a:ext cx="8864973" cy="2261795"/>
          </a:xfrm>
          <a:solidFill>
            <a:schemeClr val="tx1"/>
          </a:solidFill>
        </p:spPr>
        <p:txBody>
          <a:bodyPr>
            <a:noAutofit/>
          </a:bodyPr>
          <a:lstStyle/>
          <a:p>
            <a:pPr marL="0" indent="0" algn="l">
              <a:buNone/>
            </a:pPr>
            <a:r>
              <a:rPr lang="en-US" sz="1800" dirty="0">
                <a:solidFill>
                  <a:schemeClr val="bg1"/>
                </a:solidFill>
                <a:latin typeface="Cambria Math" panose="02040503050406030204" pitchFamily="18" charset="0"/>
                <a:ea typeface="Cambria Math" panose="02040503050406030204" pitchFamily="18" charset="0"/>
              </a:rPr>
              <a:t>     </a:t>
            </a:r>
            <a:r>
              <a:rPr lang="en-US" sz="1800" dirty="0">
                <a:solidFill>
                  <a:schemeClr val="bg1"/>
                </a:solidFill>
                <a:latin typeface="Söhne"/>
              </a:rPr>
              <a:t>  </a:t>
            </a:r>
          </a:p>
          <a:p>
            <a:pPr marL="0" indent="0" algn="l">
              <a:buNone/>
            </a:pPr>
            <a:r>
              <a:rPr lang="en-US" sz="1800" dirty="0">
                <a:solidFill>
                  <a:schemeClr val="bg1"/>
                </a:solidFill>
                <a:latin typeface="Söhne"/>
              </a:rPr>
              <a:t>        </a:t>
            </a:r>
            <a:r>
              <a:rPr lang="en-US" sz="2400" i="0" dirty="0">
                <a:solidFill>
                  <a:schemeClr val="bg1"/>
                </a:solidFill>
                <a:effectLst/>
                <a:latin typeface="Cambria Math" panose="02040503050406030204" pitchFamily="18" charset="0"/>
                <a:ea typeface="Cambria Math" panose="02040503050406030204" pitchFamily="18" charset="0"/>
              </a:rPr>
              <a:t>Co. A market cap </a:t>
            </a:r>
            <a:r>
              <a:rPr lang="en-US" sz="2400" dirty="0">
                <a:solidFill>
                  <a:schemeClr val="bg1"/>
                </a:solidFill>
                <a:latin typeface="Cambria Math" panose="02040503050406030204" pitchFamily="18" charset="0"/>
                <a:ea typeface="Cambria Math" panose="02040503050406030204" pitchFamily="18" charset="0"/>
                <a:cs typeface="Calibri" panose="020F0502020204030204" pitchFamily="34" charset="0"/>
              </a:rPr>
              <a:t>×</a:t>
            </a:r>
            <a:r>
              <a:rPr lang="en-US" sz="2400" i="0" dirty="0">
                <a:solidFill>
                  <a:schemeClr val="bg1"/>
                </a:solidFill>
                <a:effectLst/>
                <a:latin typeface="Cambria Math" panose="02040503050406030204" pitchFamily="18" charset="0"/>
                <a:ea typeface="Cambria Math" panose="02040503050406030204" pitchFamily="18" charset="0"/>
              </a:rPr>
              <a:t> Co. A weight              $50M </a:t>
            </a:r>
            <a:r>
              <a:rPr lang="en-US" sz="2400" i="0" dirty="0">
                <a:solidFill>
                  <a:schemeClr val="bg1"/>
                </a:solidFill>
                <a:effectLst/>
                <a:latin typeface="Calibri" panose="020F0502020204030204" pitchFamily="34" charset="0"/>
                <a:ea typeface="Cambria Math" panose="02040503050406030204" pitchFamily="18" charset="0"/>
                <a:cs typeface="Calibri" panose="020F0502020204030204" pitchFamily="34" charset="0"/>
              </a:rPr>
              <a:t>×</a:t>
            </a:r>
            <a:r>
              <a:rPr lang="en-US" sz="2400" i="0" dirty="0">
                <a:solidFill>
                  <a:schemeClr val="bg1"/>
                </a:solidFill>
                <a:effectLst/>
                <a:latin typeface="Cambria Math" panose="02040503050406030204" pitchFamily="18" charset="0"/>
                <a:ea typeface="Cambria Math" panose="02040503050406030204" pitchFamily="18" charset="0"/>
              </a:rPr>
              <a:t> 1/3  (</a:t>
            </a:r>
            <a:r>
              <a:rPr lang="en-US" sz="2400" dirty="0">
                <a:solidFill>
                  <a:schemeClr val="bg1"/>
                </a:solidFill>
                <a:latin typeface="Cambria Math" panose="02040503050406030204" pitchFamily="18" charset="0"/>
                <a:ea typeface="Cambria Math" panose="02040503050406030204" pitchFamily="18" charset="0"/>
              </a:rPr>
              <a:t>16</a:t>
            </a:r>
            <a:r>
              <a:rPr lang="en-US" sz="2400" i="0" dirty="0">
                <a:solidFill>
                  <a:schemeClr val="bg1"/>
                </a:solidFill>
                <a:effectLst/>
                <a:latin typeface="Cambria Math" panose="02040503050406030204" pitchFamily="18" charset="0"/>
                <a:ea typeface="Cambria Math" panose="02040503050406030204" pitchFamily="18" charset="0"/>
              </a:rPr>
              <a:t>.67M) </a:t>
            </a:r>
          </a:p>
          <a:p>
            <a:pPr marL="0" indent="0" algn="l">
              <a:buNone/>
            </a:pPr>
            <a:r>
              <a:rPr lang="en-US" sz="2400" dirty="0">
                <a:solidFill>
                  <a:schemeClr val="bg1"/>
                </a:solidFill>
                <a:latin typeface="Cambria Math" panose="02040503050406030204" pitchFamily="18" charset="0"/>
                <a:ea typeface="Cambria Math" panose="02040503050406030204" pitchFamily="18" charset="0"/>
              </a:rPr>
              <a:t> </a:t>
            </a:r>
            <a:r>
              <a:rPr lang="en-US" sz="2400" i="0" dirty="0">
                <a:solidFill>
                  <a:schemeClr val="bg1"/>
                </a:solidFill>
                <a:effectLst/>
                <a:latin typeface="Cambria Math" panose="02040503050406030204" pitchFamily="18" charset="0"/>
                <a:ea typeface="Cambria Math" panose="02040503050406030204" pitchFamily="18" charset="0"/>
              </a:rPr>
              <a:t>+  </a:t>
            </a:r>
            <a:r>
              <a:rPr lang="en-US" sz="2400" i="0" u="sng" dirty="0">
                <a:solidFill>
                  <a:schemeClr val="bg1"/>
                </a:solidFill>
                <a:effectLst/>
                <a:latin typeface="Cambria Math" panose="02040503050406030204" pitchFamily="18" charset="0"/>
                <a:ea typeface="Cambria Math" panose="02040503050406030204" pitchFamily="18" charset="0"/>
              </a:rPr>
              <a:t>Co. B market cap </a:t>
            </a:r>
            <a:r>
              <a:rPr lang="en-US" sz="2400" i="0" u="sng" dirty="0">
                <a:solidFill>
                  <a:schemeClr val="bg1"/>
                </a:solidFill>
                <a:effectLst/>
                <a:latin typeface="Calibri" panose="020F0502020204030204" pitchFamily="34" charset="0"/>
                <a:ea typeface="Cambria Math" panose="02040503050406030204" pitchFamily="18" charset="0"/>
                <a:cs typeface="Calibri" panose="020F0502020204030204" pitchFamily="34" charset="0"/>
              </a:rPr>
              <a:t>×</a:t>
            </a:r>
            <a:r>
              <a:rPr lang="en-US" sz="2400" u="sng" dirty="0">
                <a:solidFill>
                  <a:schemeClr val="bg1"/>
                </a:solidFill>
                <a:latin typeface="Cambria Math" panose="02040503050406030204" pitchFamily="18" charset="0"/>
                <a:ea typeface="Cambria Math" panose="02040503050406030204" pitchFamily="18" charset="0"/>
              </a:rPr>
              <a:t> </a:t>
            </a:r>
            <a:r>
              <a:rPr lang="en-US" sz="2400" i="0" u="sng" dirty="0">
                <a:solidFill>
                  <a:schemeClr val="bg1"/>
                </a:solidFill>
                <a:effectLst/>
                <a:latin typeface="Cambria Math" panose="02040503050406030204" pitchFamily="18" charset="0"/>
                <a:ea typeface="Cambria Math" panose="02040503050406030204" pitchFamily="18" charset="0"/>
              </a:rPr>
              <a:t>Co. B weight</a:t>
            </a:r>
            <a:r>
              <a:rPr lang="en-US" sz="2400" i="0" dirty="0">
                <a:solidFill>
                  <a:schemeClr val="bg1"/>
                </a:solidFill>
                <a:effectLst/>
                <a:latin typeface="Cambria Math" panose="02040503050406030204" pitchFamily="18" charset="0"/>
                <a:ea typeface="Cambria Math" panose="02040503050406030204" pitchFamily="18" charset="0"/>
              </a:rPr>
              <a:t>         +  </a:t>
            </a:r>
            <a:r>
              <a:rPr lang="en-US" sz="2400" i="0" u="sng" dirty="0">
                <a:solidFill>
                  <a:schemeClr val="bg1"/>
                </a:solidFill>
                <a:effectLst/>
                <a:latin typeface="Cambria Math" panose="02040503050406030204" pitchFamily="18" charset="0"/>
                <a:ea typeface="Cambria Math" panose="02040503050406030204" pitchFamily="18" charset="0"/>
              </a:rPr>
              <a:t>$100M </a:t>
            </a:r>
            <a:r>
              <a:rPr lang="en-US" sz="2400" i="0" u="sng" dirty="0">
                <a:solidFill>
                  <a:schemeClr val="bg1"/>
                </a:solidFill>
                <a:effectLst/>
                <a:latin typeface="Calibri" panose="020F0502020204030204" pitchFamily="34" charset="0"/>
                <a:ea typeface="Cambria Math" panose="02040503050406030204" pitchFamily="18" charset="0"/>
                <a:cs typeface="Calibri" panose="020F0502020204030204" pitchFamily="34" charset="0"/>
              </a:rPr>
              <a:t>×</a:t>
            </a:r>
            <a:r>
              <a:rPr lang="en-US" sz="2400" i="0" u="sng" dirty="0">
                <a:solidFill>
                  <a:schemeClr val="bg1"/>
                </a:solidFill>
                <a:effectLst/>
                <a:latin typeface="Cambria Math" panose="02040503050406030204" pitchFamily="18" charset="0"/>
                <a:ea typeface="Cambria Math" panose="02040503050406030204" pitchFamily="18" charset="0"/>
              </a:rPr>
              <a:t> 2/3 (66.67M)</a:t>
            </a:r>
          </a:p>
          <a:p>
            <a:pPr marL="0" indent="0" algn="l">
              <a:buNone/>
            </a:pPr>
            <a:r>
              <a:rPr lang="en-US" sz="2400" i="0" dirty="0">
                <a:solidFill>
                  <a:schemeClr val="bg1"/>
                </a:solidFill>
                <a:effectLst/>
                <a:latin typeface="Cambria Math" panose="02040503050406030204" pitchFamily="18" charset="0"/>
                <a:ea typeface="Cambria Math" panose="02040503050406030204" pitchFamily="18" charset="0"/>
              </a:rPr>
              <a:t>       Market value-weighted Average                              $</a:t>
            </a:r>
            <a:r>
              <a:rPr lang="en-US" sz="2400" dirty="0">
                <a:solidFill>
                  <a:schemeClr val="bg1"/>
                </a:solidFill>
                <a:latin typeface="Cambria Math" panose="02040503050406030204" pitchFamily="18" charset="0"/>
                <a:ea typeface="Cambria Math" panose="02040503050406030204" pitchFamily="18" charset="0"/>
              </a:rPr>
              <a:t>83.33</a:t>
            </a:r>
            <a:r>
              <a:rPr lang="en-US" sz="2400" i="0" dirty="0">
                <a:solidFill>
                  <a:schemeClr val="bg1"/>
                </a:solidFill>
                <a:effectLst/>
                <a:latin typeface="Cambria Math" panose="02040503050406030204" pitchFamily="18" charset="0"/>
                <a:ea typeface="Cambria Math" panose="02040503050406030204" pitchFamily="18" charset="0"/>
              </a:rPr>
              <a:t>M</a:t>
            </a:r>
          </a:p>
          <a:p>
            <a:pPr marL="0" indent="0" algn="l">
              <a:buNone/>
            </a:pPr>
            <a:r>
              <a:rPr lang="en-US" sz="2400" dirty="0">
                <a:solidFill>
                  <a:schemeClr val="bg1"/>
                </a:solidFill>
                <a:latin typeface="Cambria Math" panose="02040503050406030204" pitchFamily="18" charset="0"/>
                <a:ea typeface="Cambria Math" panose="02040503050406030204" pitchFamily="18" charset="0"/>
              </a:rPr>
              <a:t>      </a:t>
            </a:r>
            <a:endParaRPr lang="en-US" sz="2400" i="0" dirty="0">
              <a:solidFill>
                <a:srgbClr val="374151"/>
              </a:solidFill>
              <a:effectLst/>
              <a:latin typeface="Cambria Math" panose="02040503050406030204" pitchFamily="18" charset="0"/>
              <a:ea typeface="Cambria Math" panose="02040503050406030204" pitchFamily="18" charset="0"/>
            </a:endParaRPr>
          </a:p>
        </p:txBody>
      </p:sp>
      <p:sp>
        <p:nvSpPr>
          <p:cNvPr id="2" name="TextBox 1">
            <a:extLst>
              <a:ext uri="{FF2B5EF4-FFF2-40B4-BE49-F238E27FC236}">
                <a16:creationId xmlns:a16="http://schemas.microsoft.com/office/drawing/2014/main" id="{52227B05-076E-7295-8D8F-F827CA570D68}"/>
              </a:ext>
            </a:extLst>
          </p:cNvPr>
          <p:cNvSpPr txBox="1"/>
          <p:nvPr/>
        </p:nvSpPr>
        <p:spPr>
          <a:xfrm>
            <a:off x="404084" y="1789275"/>
            <a:ext cx="8111266" cy="1384995"/>
          </a:xfrm>
          <a:prstGeom prst="rect">
            <a:avLst/>
          </a:prstGeom>
          <a:noFill/>
        </p:spPr>
        <p:txBody>
          <a:bodyPr wrap="square" rtlCol="0">
            <a:spAutoFit/>
          </a:bodyPr>
          <a:lstStyle/>
          <a:p>
            <a:pPr marL="285750" indent="-285750" algn="l">
              <a:buFont typeface="Arial" panose="020B0604020202020204" pitchFamily="34" charset="0"/>
              <a:buChar char="•"/>
            </a:pPr>
            <a:r>
              <a:rPr lang="en-US" sz="2800" b="0" i="0" dirty="0">
                <a:solidFill>
                  <a:srgbClr val="374151"/>
                </a:solidFill>
                <a:effectLst/>
                <a:latin typeface="Söhne"/>
              </a:rPr>
              <a:t>Finally, calculate the market value-weighted average by summing the product of each company's market cap and its weight.</a:t>
            </a:r>
            <a:endParaRPr lang="en-US" sz="2800" b="0" i="0" dirty="0">
              <a:solidFill>
                <a:srgbClr val="374151"/>
              </a:solidFill>
              <a:effectLst/>
            </a:endParaRPr>
          </a:p>
        </p:txBody>
      </p:sp>
    </p:spTree>
    <p:extLst>
      <p:ext uri="{BB962C8B-B14F-4D97-AF65-F5344CB8AC3E}">
        <p14:creationId xmlns:p14="http://schemas.microsoft.com/office/powerpoint/2010/main" val="3874498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28344"/>
            <a:ext cx="7886700" cy="962451"/>
          </a:xfrm>
        </p:spPr>
        <p:txBody>
          <a:bodyPr>
            <a:normAutofit fontScale="90000"/>
          </a:bodyPr>
          <a:lstStyle/>
          <a:p>
            <a:r>
              <a:rPr lang="en-US" b="1" dirty="0"/>
              <a:t>Six Examples of Stock Market Indices</a:t>
            </a:r>
          </a:p>
        </p:txBody>
      </p:sp>
      <p:sp>
        <p:nvSpPr>
          <p:cNvPr id="8" name="Content Placeholder 7"/>
          <p:cNvSpPr>
            <a:spLocks noGrp="1"/>
          </p:cNvSpPr>
          <p:nvPr>
            <p:ph idx="1"/>
          </p:nvPr>
        </p:nvSpPr>
        <p:spPr>
          <a:xfrm>
            <a:off x="628650" y="1771005"/>
            <a:ext cx="7886700" cy="4086797"/>
          </a:xfrm>
        </p:spPr>
        <p:txBody>
          <a:bodyPr/>
          <a:lstStyle/>
          <a:p>
            <a:endParaRPr lang="en-US" dirty="0"/>
          </a:p>
          <a:p>
            <a:endParaRPr lang="en-US" dirty="0"/>
          </a:p>
          <a:p>
            <a:pPr lvl="2"/>
            <a:endParaRPr lang="en-US" dirty="0"/>
          </a:p>
        </p:txBody>
      </p:sp>
      <p:sp>
        <p:nvSpPr>
          <p:cNvPr id="2" name="TextBox 1">
            <a:extLst>
              <a:ext uri="{FF2B5EF4-FFF2-40B4-BE49-F238E27FC236}">
                <a16:creationId xmlns:a16="http://schemas.microsoft.com/office/drawing/2014/main" id="{F153624C-448E-4FC6-A128-0825A134F4CA}"/>
              </a:ext>
            </a:extLst>
          </p:cNvPr>
          <p:cNvSpPr txBox="1"/>
          <p:nvPr/>
        </p:nvSpPr>
        <p:spPr>
          <a:xfrm>
            <a:off x="628650" y="1762126"/>
            <a:ext cx="8083089" cy="923330"/>
          </a:xfrm>
          <a:prstGeom prst="rect">
            <a:avLst/>
          </a:prstGeom>
          <a:noFill/>
        </p:spPr>
        <p:txBody>
          <a:bodyPr wrap="square" rtlCol="0">
            <a:spAutoFit/>
          </a:bodyPr>
          <a:lstStyle/>
          <a:p>
            <a:endParaRPr lang="en-US" dirty="0">
              <a:solidFill>
                <a:srgbClr val="202122"/>
              </a:solidFill>
              <a:latin typeface="Arial" panose="020B0604020202020204" pitchFamily="34" charset="0"/>
            </a:endParaRPr>
          </a:p>
          <a:p>
            <a:endParaRPr lang="en-US" dirty="0">
              <a:solidFill>
                <a:srgbClr val="202122"/>
              </a:solidFill>
              <a:latin typeface="Arial" panose="020B0604020202020204" pitchFamily="34" charset="0"/>
            </a:endParaRPr>
          </a:p>
          <a:p>
            <a:endParaRPr lang="en-US" u="none" strike="noStrike" dirty="0">
              <a:solidFill>
                <a:srgbClr val="202122"/>
              </a:solidFill>
              <a:latin typeface="Arial" panose="020B0604020202020204" pitchFamily="34" charset="0"/>
              <a:hlinkClick r:id="rId3" tooltip="Mathematical models"/>
            </a:endParaRPr>
          </a:p>
        </p:txBody>
      </p:sp>
      <p:graphicFrame>
        <p:nvGraphicFramePr>
          <p:cNvPr id="3" name="Table 4">
            <a:extLst>
              <a:ext uri="{FF2B5EF4-FFF2-40B4-BE49-F238E27FC236}">
                <a16:creationId xmlns:a16="http://schemas.microsoft.com/office/drawing/2014/main" id="{8DA2F6C6-BA3C-037D-0811-606B9841EEA4}"/>
              </a:ext>
            </a:extLst>
          </p:cNvPr>
          <p:cNvGraphicFramePr>
            <a:graphicFrameLocks noGrp="1"/>
          </p:cNvGraphicFramePr>
          <p:nvPr>
            <p:extLst>
              <p:ext uri="{D42A27DB-BD31-4B8C-83A1-F6EECF244321}">
                <p14:modId xmlns:p14="http://schemas.microsoft.com/office/powerpoint/2010/main" val="1986692953"/>
              </p:ext>
            </p:extLst>
          </p:nvPr>
        </p:nvGraphicFramePr>
        <p:xfrm>
          <a:off x="145831" y="768569"/>
          <a:ext cx="8891752" cy="5010088"/>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1322170836"/>
                    </a:ext>
                  </a:extLst>
                </a:gridCol>
                <a:gridCol w="7062952">
                  <a:extLst>
                    <a:ext uri="{9D8B030D-6E8A-4147-A177-3AD203B41FA5}">
                      <a16:colId xmlns:a16="http://schemas.microsoft.com/office/drawing/2014/main" val="4134845193"/>
                    </a:ext>
                  </a:extLst>
                </a:gridCol>
              </a:tblGrid>
              <a:tr h="553394">
                <a:tc>
                  <a:txBody>
                    <a:bodyPr/>
                    <a:lstStyle/>
                    <a:p>
                      <a:r>
                        <a:rPr lang="en-US" sz="2200" dirty="0">
                          <a:latin typeface="+mn-lt"/>
                        </a:rPr>
                        <a:t>Index</a:t>
                      </a:r>
                    </a:p>
                  </a:txBody>
                  <a:tcPr>
                    <a:solidFill>
                      <a:schemeClr val="accent1">
                        <a:lumMod val="50000"/>
                      </a:schemeClr>
                    </a:solidFill>
                  </a:tcPr>
                </a:tc>
                <a:tc>
                  <a:txBody>
                    <a:bodyPr/>
                    <a:lstStyle/>
                    <a:p>
                      <a:r>
                        <a:rPr lang="en-US" sz="2200" dirty="0">
                          <a:latin typeface="+mn-lt"/>
                        </a:rPr>
                        <a:t>Description</a:t>
                      </a:r>
                    </a:p>
                  </a:txBody>
                  <a:tcPr>
                    <a:solidFill>
                      <a:schemeClr val="accent1">
                        <a:lumMod val="50000"/>
                      </a:schemeClr>
                    </a:solidFill>
                  </a:tcPr>
                </a:tc>
                <a:extLst>
                  <a:ext uri="{0D108BD9-81ED-4DB2-BD59-A6C34878D82A}">
                    <a16:rowId xmlns:a16="http://schemas.microsoft.com/office/drawing/2014/main" val="1976034645"/>
                  </a:ext>
                </a:extLst>
              </a:tr>
              <a:tr h="650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latin typeface="+mn-lt"/>
                        </a:rPr>
                        <a:t>S&amp;P 500</a:t>
                      </a:r>
                    </a:p>
                  </a:txBody>
                  <a:tcPr>
                    <a:solidFill>
                      <a:schemeClr val="accent1">
                        <a:lumMod val="20000"/>
                        <a:lumOff val="80000"/>
                      </a:schemeClr>
                    </a:solidFill>
                  </a:tcPr>
                </a:tc>
                <a:tc>
                  <a:txBody>
                    <a:bodyPr/>
                    <a:lstStyle/>
                    <a:p>
                      <a:r>
                        <a:rPr lang="en-US" sz="1800" b="0" i="0" kern="1200" dirty="0">
                          <a:solidFill>
                            <a:schemeClr val="dk1"/>
                          </a:solidFill>
                          <a:effectLst/>
                          <a:latin typeface="+mn-lt"/>
                          <a:ea typeface="+mn-ea"/>
                          <a:cs typeface="+mn-cs"/>
                        </a:rPr>
                        <a:t>Market capitalization-weighted index that tracks the performance of 500 stocks listed on US exchanges.</a:t>
                      </a:r>
                      <a:endParaRPr lang="en-US" sz="2200" dirty="0">
                        <a:latin typeface="+mn-lt"/>
                      </a:endParaRPr>
                    </a:p>
                  </a:txBody>
                  <a:tcPr>
                    <a:solidFill>
                      <a:schemeClr val="accent1">
                        <a:lumMod val="20000"/>
                        <a:lumOff val="80000"/>
                      </a:schemeClr>
                    </a:solidFill>
                  </a:tcPr>
                </a:tc>
                <a:extLst>
                  <a:ext uri="{0D108BD9-81ED-4DB2-BD59-A6C34878D82A}">
                    <a16:rowId xmlns:a16="http://schemas.microsoft.com/office/drawing/2014/main" val="3634865628"/>
                  </a:ext>
                </a:extLst>
              </a:tr>
              <a:tr h="929464">
                <a:tc>
                  <a:txBody>
                    <a:bodyPr/>
                    <a:lstStyle/>
                    <a:p>
                      <a:r>
                        <a:rPr lang="en-US" sz="1800" b="1" dirty="0">
                          <a:latin typeface="+mn-lt"/>
                        </a:rPr>
                        <a:t>Dow Jones Industrial Average</a:t>
                      </a:r>
                    </a:p>
                  </a:txBody>
                  <a:tcPr>
                    <a:solidFill>
                      <a:schemeClr val="accent3">
                        <a:lumMod val="20000"/>
                        <a:lumOff val="80000"/>
                      </a:schemeClr>
                    </a:solidFill>
                  </a:tcPr>
                </a:tc>
                <a:tc>
                  <a:txBody>
                    <a:bodyPr/>
                    <a:lstStyle/>
                    <a:p>
                      <a:r>
                        <a:rPr lang="en-US" sz="1800" b="0" i="0" kern="1200" dirty="0">
                          <a:solidFill>
                            <a:schemeClr val="dk1"/>
                          </a:solidFill>
                          <a:effectLst/>
                          <a:latin typeface="+mn-lt"/>
                          <a:ea typeface="+mn-ea"/>
                          <a:cs typeface="+mn-cs"/>
                        </a:rPr>
                        <a:t>Price-weighted index that tracks 30 large, publicly-owned companies trading on the New York Stock Exchange and the NASDAQ. </a:t>
                      </a:r>
                      <a:endParaRPr lang="en-US" sz="2200" b="0" dirty="0">
                        <a:latin typeface="+mn-lt"/>
                      </a:endParaRPr>
                    </a:p>
                  </a:txBody>
                  <a:tcPr>
                    <a:solidFill>
                      <a:schemeClr val="accent3">
                        <a:lumMod val="20000"/>
                        <a:lumOff val="80000"/>
                      </a:schemeClr>
                    </a:solidFill>
                  </a:tcPr>
                </a:tc>
                <a:extLst>
                  <a:ext uri="{0D108BD9-81ED-4DB2-BD59-A6C34878D82A}">
                    <a16:rowId xmlns:a16="http://schemas.microsoft.com/office/drawing/2014/main" val="794023058"/>
                  </a:ext>
                </a:extLst>
              </a:tr>
              <a:tr h="650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Nasdaq Composite</a:t>
                      </a:r>
                      <a:endParaRPr lang="en-US" sz="1800" b="1" dirty="0">
                        <a:latin typeface="+mn-lt"/>
                      </a:endParaRPr>
                    </a:p>
                  </a:txBody>
                  <a:tcPr>
                    <a:solidFill>
                      <a:schemeClr val="accent1">
                        <a:lumMod val="20000"/>
                        <a:lumOff val="80000"/>
                      </a:schemeClr>
                    </a:solidFill>
                  </a:tcPr>
                </a:tc>
                <a:tc>
                  <a:txBody>
                    <a:bodyPr/>
                    <a:lstStyle/>
                    <a:p>
                      <a:r>
                        <a:rPr lang="en-US" sz="1800" b="0" i="0" kern="1200" dirty="0">
                          <a:solidFill>
                            <a:schemeClr val="dk1"/>
                          </a:solidFill>
                          <a:effectLst/>
                          <a:latin typeface="+mn-lt"/>
                          <a:ea typeface="+mn-ea"/>
                          <a:cs typeface="+mn-cs"/>
                        </a:rPr>
                        <a:t>Market capitalization-weighted index that tracks the performance of more than 3,000 stocks listed on the NASDAQ.</a:t>
                      </a:r>
                      <a:endParaRPr lang="en-US" sz="2200" dirty="0">
                        <a:latin typeface="+mn-lt"/>
                      </a:endParaRPr>
                    </a:p>
                  </a:txBody>
                  <a:tcPr>
                    <a:solidFill>
                      <a:schemeClr val="accent1">
                        <a:lumMod val="20000"/>
                        <a:lumOff val="80000"/>
                      </a:schemeClr>
                    </a:solidFill>
                  </a:tcPr>
                </a:tc>
                <a:extLst>
                  <a:ext uri="{0D108BD9-81ED-4DB2-BD59-A6C34878D82A}">
                    <a16:rowId xmlns:a16="http://schemas.microsoft.com/office/drawing/2014/main" val="2782562480"/>
                  </a:ext>
                </a:extLst>
              </a:tr>
              <a:tr h="924730">
                <a:tc>
                  <a:txBody>
                    <a:bodyPr/>
                    <a:lstStyle/>
                    <a:p>
                      <a:r>
                        <a:rPr lang="en-US" sz="1800" b="1" i="0" kern="1200" dirty="0">
                          <a:solidFill>
                            <a:schemeClr val="dk1"/>
                          </a:solidFill>
                          <a:effectLst/>
                          <a:latin typeface="+mn-lt"/>
                          <a:ea typeface="+mn-ea"/>
                          <a:cs typeface="+mn-cs"/>
                        </a:rPr>
                        <a:t>Financial Times Stock Exchange (FTSE) 100</a:t>
                      </a:r>
                      <a:endParaRPr lang="en-US" sz="1800" b="1" dirty="0">
                        <a:latin typeface="+mn-lt"/>
                      </a:endParaRPr>
                    </a:p>
                  </a:txBody>
                  <a:tcPr>
                    <a:solidFill>
                      <a:schemeClr val="accent3">
                        <a:lumMod val="20000"/>
                        <a:lumOff val="80000"/>
                      </a:schemeClr>
                    </a:solidFill>
                  </a:tcPr>
                </a:tc>
                <a:tc>
                  <a:txBody>
                    <a:bodyPr/>
                    <a:lstStyle/>
                    <a:p>
                      <a:r>
                        <a:rPr lang="en-US" sz="1800" b="0" i="0" kern="1200" dirty="0">
                          <a:solidFill>
                            <a:schemeClr val="dk1"/>
                          </a:solidFill>
                          <a:effectLst/>
                          <a:latin typeface="+mn-lt"/>
                          <a:ea typeface="+mn-ea"/>
                          <a:cs typeface="+mn-cs"/>
                        </a:rPr>
                        <a:t>Market capitalization-weighted index that tracks the performance of the 100 largest companies listed on the London Stock Exchange. </a:t>
                      </a:r>
                      <a:endParaRPr lang="en-US" sz="2200" dirty="0">
                        <a:latin typeface="+mn-lt"/>
                      </a:endParaRPr>
                    </a:p>
                  </a:txBody>
                  <a:tcPr>
                    <a:solidFill>
                      <a:schemeClr val="accent3">
                        <a:lumMod val="20000"/>
                        <a:lumOff val="80000"/>
                      </a:schemeClr>
                    </a:solidFill>
                  </a:tcPr>
                </a:tc>
                <a:extLst>
                  <a:ext uri="{0D108BD9-81ED-4DB2-BD59-A6C34878D82A}">
                    <a16:rowId xmlns:a16="http://schemas.microsoft.com/office/drawing/2014/main" val="181396701"/>
                  </a:ext>
                </a:extLst>
              </a:tr>
              <a:tr h="650625">
                <a:tc>
                  <a:txBody>
                    <a:bodyPr/>
                    <a:lstStyle/>
                    <a:p>
                      <a:r>
                        <a:rPr lang="en-US" sz="1800" b="1" i="0" kern="1200" dirty="0">
                          <a:solidFill>
                            <a:schemeClr val="dk1"/>
                          </a:solidFill>
                          <a:effectLst/>
                          <a:latin typeface="+mn-lt"/>
                          <a:ea typeface="+mn-ea"/>
                          <a:cs typeface="+mn-cs"/>
                        </a:rPr>
                        <a:t>Nikkei 225</a:t>
                      </a:r>
                      <a:endParaRPr lang="en-US" sz="1800" b="1" dirty="0">
                        <a:latin typeface="+mn-lt"/>
                      </a:endParaRPr>
                    </a:p>
                  </a:txBody>
                  <a:tcPr>
                    <a:solidFill>
                      <a:schemeClr val="accent1">
                        <a:lumMod val="20000"/>
                        <a:lumOff val="80000"/>
                      </a:schemeClr>
                    </a:solidFill>
                  </a:tcPr>
                </a:tc>
                <a:tc>
                  <a:txBody>
                    <a:bodyPr/>
                    <a:lstStyle/>
                    <a:p>
                      <a:r>
                        <a:rPr lang="en-US" sz="1800" b="0" i="0" kern="1200" dirty="0">
                          <a:solidFill>
                            <a:schemeClr val="dk1"/>
                          </a:solidFill>
                          <a:effectLst/>
                          <a:latin typeface="+mn-lt"/>
                          <a:ea typeface="+mn-ea"/>
                          <a:cs typeface="+mn-cs"/>
                        </a:rPr>
                        <a:t>Price-weighted index that tracks the performance of 225 stocks listed on the Tokyo Stock Exchange.</a:t>
                      </a:r>
                      <a:endParaRPr lang="en-US" sz="2000" dirty="0">
                        <a:latin typeface="+mn-lt"/>
                      </a:endParaRPr>
                    </a:p>
                  </a:txBody>
                  <a:tcPr>
                    <a:solidFill>
                      <a:schemeClr val="accent1">
                        <a:lumMod val="20000"/>
                        <a:lumOff val="80000"/>
                      </a:schemeClr>
                    </a:solidFill>
                  </a:tcPr>
                </a:tc>
                <a:extLst>
                  <a:ext uri="{0D108BD9-81ED-4DB2-BD59-A6C34878D82A}">
                    <a16:rowId xmlns:a16="http://schemas.microsoft.com/office/drawing/2014/main" val="2433440488"/>
                  </a:ext>
                </a:extLst>
              </a:tr>
              <a:tr h="650625">
                <a:tc>
                  <a:txBody>
                    <a:bodyPr/>
                    <a:lstStyle/>
                    <a:p>
                      <a:r>
                        <a:rPr lang="en-US" sz="1800" b="1" dirty="0">
                          <a:latin typeface="+mn-lt"/>
                        </a:rPr>
                        <a:t>Russell 2000</a:t>
                      </a:r>
                    </a:p>
                  </a:txBody>
                  <a:tcPr>
                    <a:solidFill>
                      <a:schemeClr val="accent3">
                        <a:lumMod val="20000"/>
                        <a:lumOff val="80000"/>
                      </a:schemeClr>
                    </a:solidFill>
                  </a:tcPr>
                </a:tc>
                <a:tc>
                  <a:txBody>
                    <a:bodyPr/>
                    <a:lstStyle/>
                    <a:p>
                      <a:r>
                        <a:rPr lang="en-US" sz="1800" b="0" i="0" kern="1200" dirty="0">
                          <a:solidFill>
                            <a:schemeClr val="dk1"/>
                          </a:solidFill>
                          <a:effectLst/>
                          <a:latin typeface="+mn-lt"/>
                          <a:ea typeface="+mn-ea"/>
                          <a:cs typeface="+mn-cs"/>
                        </a:rPr>
                        <a:t>Market capitalization-weighted U.S. stock market index made up of the smallest 2,000 stocks in the Russell 3000 Index. </a:t>
                      </a:r>
                      <a:endParaRPr lang="en-US" sz="2200" dirty="0">
                        <a:latin typeface="+mn-lt"/>
                      </a:endParaRPr>
                    </a:p>
                  </a:txBody>
                  <a:tcPr>
                    <a:solidFill>
                      <a:schemeClr val="accent3">
                        <a:lumMod val="20000"/>
                        <a:lumOff val="80000"/>
                      </a:schemeClr>
                    </a:solidFill>
                  </a:tcPr>
                </a:tc>
                <a:extLst>
                  <a:ext uri="{0D108BD9-81ED-4DB2-BD59-A6C34878D82A}">
                    <a16:rowId xmlns:a16="http://schemas.microsoft.com/office/drawing/2014/main" val="1536469972"/>
                  </a:ext>
                </a:extLst>
              </a:tr>
            </a:tbl>
          </a:graphicData>
        </a:graphic>
      </p:graphicFrame>
    </p:spTree>
    <p:extLst>
      <p:ext uri="{BB962C8B-B14F-4D97-AF65-F5344CB8AC3E}">
        <p14:creationId xmlns:p14="http://schemas.microsoft.com/office/powerpoint/2010/main" val="3354712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115745"/>
            <a:ext cx="7886700" cy="1325563"/>
          </a:xfrm>
        </p:spPr>
        <p:txBody>
          <a:bodyPr/>
          <a:lstStyle/>
          <a:p>
            <a:r>
              <a:rPr lang="en-US" b="1" dirty="0"/>
              <a:t>What is the S&amp;P 500 Index?</a:t>
            </a:r>
          </a:p>
        </p:txBody>
      </p:sp>
      <p:sp>
        <p:nvSpPr>
          <p:cNvPr id="8" name="Content Placeholder 7"/>
          <p:cNvSpPr>
            <a:spLocks noGrp="1"/>
          </p:cNvSpPr>
          <p:nvPr>
            <p:ph idx="1"/>
          </p:nvPr>
        </p:nvSpPr>
        <p:spPr>
          <a:xfrm>
            <a:off x="278996" y="1385601"/>
            <a:ext cx="8510674" cy="4617166"/>
          </a:xfrm>
        </p:spPr>
        <p:txBody>
          <a:bodyPr>
            <a:noAutofit/>
          </a:bodyPr>
          <a:lstStyle/>
          <a:p>
            <a:pPr algn="l"/>
            <a:r>
              <a:rPr lang="en-US" dirty="0">
                <a:solidFill>
                  <a:srgbClr val="374151"/>
                </a:solidFill>
                <a:latin typeface="Söhne"/>
              </a:rPr>
              <a:t>T</a:t>
            </a:r>
            <a:r>
              <a:rPr lang="en-US" b="0" i="0" dirty="0">
                <a:solidFill>
                  <a:srgbClr val="374151"/>
                </a:solidFill>
                <a:effectLst/>
                <a:latin typeface="Söhne"/>
              </a:rPr>
              <a:t>he S&amp;P 500 Index, created in 1957 by Standard and Poor’s, is a collection of 500 of the largest</a:t>
            </a:r>
            <a:r>
              <a:rPr lang="en-US" dirty="0">
                <a:solidFill>
                  <a:srgbClr val="374151"/>
                </a:solidFill>
                <a:latin typeface="Söhne"/>
              </a:rPr>
              <a:t> </a:t>
            </a:r>
            <a:r>
              <a:rPr lang="en-US" b="0" i="0" dirty="0">
                <a:solidFill>
                  <a:srgbClr val="374151"/>
                </a:solidFill>
                <a:effectLst/>
                <a:latin typeface="Söhne"/>
              </a:rPr>
              <a:t>publicly-traded companies in the United States. </a:t>
            </a:r>
            <a:br>
              <a:rPr lang="en-US" b="0" i="0" dirty="0">
                <a:solidFill>
                  <a:srgbClr val="374151"/>
                </a:solidFill>
                <a:effectLst/>
                <a:latin typeface="Söhne"/>
              </a:rPr>
            </a:br>
            <a:endParaRPr lang="en-US" b="0" i="0" dirty="0">
              <a:solidFill>
                <a:srgbClr val="374151"/>
              </a:solidFill>
              <a:effectLst/>
              <a:latin typeface="Söhne"/>
            </a:endParaRPr>
          </a:p>
          <a:p>
            <a:pPr algn="l"/>
            <a:r>
              <a:rPr lang="en-US" dirty="0">
                <a:solidFill>
                  <a:srgbClr val="374151"/>
                </a:solidFill>
                <a:latin typeface="Söhne"/>
              </a:rPr>
              <a:t>The S&amp;P 500</a:t>
            </a:r>
            <a:r>
              <a:rPr lang="en-US" b="0" i="0" dirty="0">
                <a:solidFill>
                  <a:srgbClr val="374151"/>
                </a:solidFill>
                <a:effectLst/>
                <a:latin typeface="Söhne"/>
              </a:rPr>
              <a:t> includes companies from a wide range of industry sectors.</a:t>
            </a:r>
            <a:br>
              <a:rPr lang="en-US" b="0" i="0" dirty="0">
                <a:solidFill>
                  <a:srgbClr val="374151"/>
                </a:solidFill>
                <a:effectLst/>
                <a:latin typeface="Söhne"/>
              </a:rPr>
            </a:br>
            <a:r>
              <a:rPr lang="en-US" b="0" i="0" dirty="0">
                <a:solidFill>
                  <a:srgbClr val="374151"/>
                </a:solidFill>
                <a:effectLst/>
                <a:latin typeface="Söhne"/>
              </a:rPr>
              <a:t> </a:t>
            </a:r>
          </a:p>
          <a:p>
            <a:r>
              <a:rPr lang="en-US" dirty="0">
                <a:solidFill>
                  <a:srgbClr val="374151"/>
                </a:solidFill>
              </a:rPr>
              <a:t>The S&amp;P 500 </a:t>
            </a:r>
            <a:r>
              <a:rPr lang="en-US" b="0" i="0" dirty="0">
                <a:solidFill>
                  <a:srgbClr val="374151"/>
                </a:solidFill>
                <a:effectLst/>
              </a:rPr>
              <a:t>provides a snapshot of the U.S. stock market and is often used as a benchmark for the overall performance or “health” of the U.S. economy.</a:t>
            </a:r>
          </a:p>
          <a:p>
            <a:pPr algn="l"/>
            <a:endParaRPr lang="en-US" b="0" i="0" dirty="0">
              <a:solidFill>
                <a:srgbClr val="374151"/>
              </a:solidFill>
              <a:effectLst/>
              <a:latin typeface="Söhne"/>
            </a:endParaRPr>
          </a:p>
          <a:p>
            <a:pPr algn="l"/>
            <a:endParaRPr lang="en-US" dirty="0">
              <a:solidFill>
                <a:srgbClr val="374151"/>
              </a:solidFill>
              <a:latin typeface="Söhne"/>
            </a:endParaRPr>
          </a:p>
        </p:txBody>
      </p:sp>
    </p:spTree>
    <p:extLst>
      <p:ext uri="{BB962C8B-B14F-4D97-AF65-F5344CB8AC3E}">
        <p14:creationId xmlns:p14="http://schemas.microsoft.com/office/powerpoint/2010/main" val="940881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115745"/>
            <a:ext cx="7886700" cy="1325563"/>
          </a:xfrm>
        </p:spPr>
        <p:txBody>
          <a:bodyPr/>
          <a:lstStyle/>
          <a:p>
            <a:r>
              <a:rPr lang="en-US" b="1" dirty="0"/>
              <a:t>What is the S&amp;P 500 Index? (cont.)</a:t>
            </a:r>
          </a:p>
        </p:txBody>
      </p:sp>
      <p:sp>
        <p:nvSpPr>
          <p:cNvPr id="8" name="Content Placeholder 7"/>
          <p:cNvSpPr>
            <a:spLocks noGrp="1"/>
          </p:cNvSpPr>
          <p:nvPr>
            <p:ph idx="1"/>
          </p:nvPr>
        </p:nvSpPr>
        <p:spPr>
          <a:xfrm>
            <a:off x="278996" y="1385601"/>
            <a:ext cx="8510674" cy="4617166"/>
          </a:xfrm>
        </p:spPr>
        <p:txBody>
          <a:bodyPr>
            <a:noAutofit/>
          </a:bodyPr>
          <a:lstStyle/>
          <a:p>
            <a:r>
              <a:rPr lang="en-US" dirty="0">
                <a:solidFill>
                  <a:srgbClr val="374151"/>
                </a:solidFill>
                <a:ea typeface="Times New Roman" panose="02020603050405020304" pitchFamily="18" charset="0"/>
              </a:rPr>
              <a:t>However, while it is seen as a continuous benchmark, keep in mind t</a:t>
            </a:r>
            <a:r>
              <a:rPr lang="en-US" dirty="0">
                <a:solidFill>
                  <a:srgbClr val="374151"/>
                </a:solidFill>
                <a:effectLst/>
                <a:ea typeface="Times New Roman" panose="02020603050405020304" pitchFamily="18" charset="0"/>
              </a:rPr>
              <a:t>he constituents of the S&amp;P 500 have changed significantly over time. These changes reflect the shifting landscape of the U.S. economy and the stock market.</a:t>
            </a:r>
          </a:p>
          <a:p>
            <a:endParaRPr lang="en-US" dirty="0">
              <a:solidFill>
                <a:srgbClr val="374151"/>
              </a:solidFill>
              <a:effectLst/>
              <a:ea typeface="Times New Roman" panose="02020603050405020304" pitchFamily="18" charset="0"/>
            </a:endParaRPr>
          </a:p>
          <a:p>
            <a:r>
              <a:rPr lang="en-US" dirty="0">
                <a:solidFill>
                  <a:srgbClr val="374151"/>
                </a:solidFill>
                <a:ea typeface="Times New Roman" panose="02020603050405020304" pitchFamily="18" charset="0"/>
              </a:rPr>
              <a:t>For example, when it was created </a:t>
            </a:r>
            <a:r>
              <a:rPr lang="en-US" dirty="0">
                <a:solidFill>
                  <a:srgbClr val="374151"/>
                </a:solidFill>
                <a:effectLst/>
                <a:ea typeface="Times New Roman" panose="02020603050405020304" pitchFamily="18" charset="0"/>
              </a:rPr>
              <a:t>the largest companies in the index were General Motors, General Electric, and </a:t>
            </a:r>
            <a:r>
              <a:rPr lang="en-US" dirty="0">
                <a:effectLst/>
                <a:ea typeface="Times New Roman" panose="02020603050405020304" pitchFamily="18" charset="0"/>
              </a:rPr>
              <a:t>ExxonMobil</a:t>
            </a:r>
            <a:r>
              <a:rPr lang="en-US" dirty="0">
                <a:solidFill>
                  <a:srgbClr val="374151"/>
                </a:solidFill>
                <a:effectLst/>
                <a:ea typeface="Times New Roman" panose="02020603050405020304" pitchFamily="18" charset="0"/>
              </a:rPr>
              <a:t>. Over the years, however, the index has become increasingly dominated by companies in the information technology sector. </a:t>
            </a:r>
            <a:endParaRPr lang="en-US" dirty="0">
              <a:effectLst/>
              <a:ea typeface="Times New Roman" panose="02020603050405020304" pitchFamily="18" charset="0"/>
            </a:endParaRPr>
          </a:p>
          <a:p>
            <a:endParaRPr lang="en-US" dirty="0">
              <a:effectLst/>
              <a:ea typeface="Times New Roman" panose="02020603050405020304" pitchFamily="18" charset="0"/>
            </a:endParaRPr>
          </a:p>
          <a:p>
            <a:pPr algn="l"/>
            <a:endParaRPr lang="en-US" b="0" i="0" dirty="0">
              <a:solidFill>
                <a:srgbClr val="374151"/>
              </a:solidFill>
              <a:effectLst/>
              <a:latin typeface="Söhne"/>
            </a:endParaRPr>
          </a:p>
        </p:txBody>
      </p:sp>
    </p:spTree>
    <p:extLst>
      <p:ext uri="{BB962C8B-B14F-4D97-AF65-F5344CB8AC3E}">
        <p14:creationId xmlns:p14="http://schemas.microsoft.com/office/powerpoint/2010/main" val="27030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275055" y="123627"/>
            <a:ext cx="8429289" cy="1325563"/>
          </a:xfrm>
        </p:spPr>
        <p:txBody>
          <a:bodyPr/>
          <a:lstStyle/>
          <a:p>
            <a:r>
              <a:rPr lang="en-US" b="1" dirty="0"/>
              <a:t>How are the Largest Companies Determined?</a:t>
            </a:r>
          </a:p>
        </p:txBody>
      </p:sp>
      <p:sp>
        <p:nvSpPr>
          <p:cNvPr id="8" name="Content Placeholder 7"/>
          <p:cNvSpPr>
            <a:spLocks noGrp="1"/>
          </p:cNvSpPr>
          <p:nvPr>
            <p:ph idx="1"/>
          </p:nvPr>
        </p:nvSpPr>
        <p:spPr>
          <a:xfrm>
            <a:off x="275055" y="1574788"/>
            <a:ext cx="8510674" cy="4086797"/>
          </a:xfrm>
        </p:spPr>
        <p:txBody>
          <a:bodyPr>
            <a:noAutofit/>
          </a:bodyPr>
          <a:lstStyle/>
          <a:p>
            <a:pPr algn="l"/>
            <a:r>
              <a:rPr lang="en-US" dirty="0">
                <a:solidFill>
                  <a:srgbClr val="374151"/>
                </a:solidFill>
                <a:latin typeface="Söhne"/>
              </a:rPr>
              <a:t>The type of market capitalization weighing method used to create the S&amp;P 500 Index is known as </a:t>
            </a:r>
            <a:r>
              <a:rPr lang="en-US" b="0" i="0" dirty="0">
                <a:solidFill>
                  <a:srgbClr val="374151"/>
                </a:solidFill>
                <a:effectLst/>
                <a:latin typeface="Söhne"/>
              </a:rPr>
              <a:t>a </a:t>
            </a:r>
            <a:r>
              <a:rPr lang="en-US" b="0" i="1" dirty="0">
                <a:solidFill>
                  <a:srgbClr val="374151"/>
                </a:solidFill>
                <a:effectLst/>
                <a:latin typeface="Söhne"/>
              </a:rPr>
              <a:t>float-adjusted</a:t>
            </a:r>
            <a:r>
              <a:rPr lang="en-US" b="0" i="0" dirty="0">
                <a:solidFill>
                  <a:srgbClr val="374151"/>
                </a:solidFill>
                <a:effectLst/>
                <a:latin typeface="Söhne"/>
              </a:rPr>
              <a:t> market capitalization.</a:t>
            </a:r>
          </a:p>
          <a:p>
            <a:pPr algn="l"/>
            <a:endParaRPr lang="en-US" dirty="0">
              <a:solidFill>
                <a:srgbClr val="374151"/>
              </a:solidFill>
              <a:latin typeface="Söhne"/>
            </a:endParaRPr>
          </a:p>
          <a:p>
            <a:pPr algn="l"/>
            <a:r>
              <a:rPr lang="en-US" b="0" i="0" dirty="0">
                <a:solidFill>
                  <a:srgbClr val="374151"/>
                </a:solidFill>
                <a:effectLst/>
                <a:latin typeface="Söhne"/>
              </a:rPr>
              <a:t>To calculate the float-adjusted market capitalization of a company, the total number of outstanding shares is reduced by the number of shares that are closely held by insiders or institutions and are not available for trading. This method is used to better reflect the market demand for the shares. </a:t>
            </a:r>
          </a:p>
        </p:txBody>
      </p:sp>
    </p:spTree>
    <p:extLst>
      <p:ext uri="{BB962C8B-B14F-4D97-AF65-F5344CB8AC3E}">
        <p14:creationId xmlns:p14="http://schemas.microsoft.com/office/powerpoint/2010/main" val="929894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136281" y="112688"/>
            <a:ext cx="7886700" cy="1325563"/>
          </a:xfrm>
        </p:spPr>
        <p:txBody>
          <a:bodyPr/>
          <a:lstStyle/>
          <a:p>
            <a:r>
              <a:rPr lang="en-US" b="1" dirty="0"/>
              <a:t>Criteria for S&amp;P 500 Constituents</a:t>
            </a:r>
          </a:p>
        </p:txBody>
      </p:sp>
      <p:sp>
        <p:nvSpPr>
          <p:cNvPr id="3" name="TextBox 2">
            <a:extLst>
              <a:ext uri="{FF2B5EF4-FFF2-40B4-BE49-F238E27FC236}">
                <a16:creationId xmlns:a16="http://schemas.microsoft.com/office/drawing/2014/main" id="{5DC908DC-9DF5-ED43-9F6A-212B629C8804}"/>
              </a:ext>
            </a:extLst>
          </p:cNvPr>
          <p:cNvSpPr txBox="1"/>
          <p:nvPr/>
        </p:nvSpPr>
        <p:spPr>
          <a:xfrm>
            <a:off x="371138" y="1414125"/>
            <a:ext cx="8401723"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t>S&amp;P Dow Jones Indices manages the S&amp;P 500 Index, supervising the removal and addition of companies.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They publish </a:t>
            </a:r>
            <a:r>
              <a:rPr lang="en-US" sz="2800" dirty="0">
                <a:hlinkClick r:id="rId3"/>
              </a:rPr>
              <a:t>a fact sheet</a:t>
            </a:r>
            <a:r>
              <a:rPr lang="en-US" sz="2800" dirty="0"/>
              <a:t> explaining the criteria used to determine whether or not a company is included in the S&amp;P 500 Index. The next two slides summarize this criteria. (If you are interested in more detailed information, an excerpt from the fact sheet is included in the Notes at the end of this slide deck.)  </a:t>
            </a:r>
            <a:endParaRPr lang="en-US" dirty="0"/>
          </a:p>
        </p:txBody>
      </p:sp>
    </p:spTree>
    <p:extLst>
      <p:ext uri="{BB962C8B-B14F-4D97-AF65-F5344CB8AC3E}">
        <p14:creationId xmlns:p14="http://schemas.microsoft.com/office/powerpoint/2010/main" val="40122789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136281" y="112688"/>
            <a:ext cx="7886700" cy="1325563"/>
          </a:xfrm>
        </p:spPr>
        <p:txBody>
          <a:bodyPr/>
          <a:lstStyle/>
          <a:p>
            <a:r>
              <a:rPr lang="en-US" b="1" dirty="0"/>
              <a:t>Criteria for S&amp;P 500 Constituents (cont.)</a:t>
            </a:r>
          </a:p>
        </p:txBody>
      </p:sp>
      <p:sp>
        <p:nvSpPr>
          <p:cNvPr id="3" name="TextBox 2">
            <a:extLst>
              <a:ext uri="{FF2B5EF4-FFF2-40B4-BE49-F238E27FC236}">
                <a16:creationId xmlns:a16="http://schemas.microsoft.com/office/drawing/2014/main" id="{5DC908DC-9DF5-ED43-9F6A-212B629C8804}"/>
              </a:ext>
            </a:extLst>
          </p:cNvPr>
          <p:cNvSpPr txBox="1"/>
          <p:nvPr/>
        </p:nvSpPr>
        <p:spPr>
          <a:xfrm>
            <a:off x="576407" y="1071569"/>
            <a:ext cx="8401723" cy="5386090"/>
          </a:xfrm>
          <a:prstGeom prst="rect">
            <a:avLst/>
          </a:prstGeom>
          <a:noFill/>
        </p:spPr>
        <p:txBody>
          <a:bodyPr wrap="square" rtlCol="0">
            <a:spAutoFit/>
          </a:bodyPr>
          <a:lstStyle/>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In summary, S&amp;P 500 Index constituents must:</a:t>
            </a:r>
          </a:p>
          <a:p>
            <a:endParaRPr lang="en-US" sz="2800" dirty="0"/>
          </a:p>
          <a:p>
            <a:pPr marL="742950" lvl="1" indent="-285750">
              <a:buSzPct val="60000"/>
              <a:buFont typeface="Courier New" panose="02070309020205020404" pitchFamily="49" charset="0"/>
              <a:buChar char="o"/>
            </a:pPr>
            <a:r>
              <a:rPr lang="en-US" sz="2800" dirty="0"/>
              <a:t>Be U.S. companies</a:t>
            </a:r>
          </a:p>
          <a:p>
            <a:pPr marL="742950" lvl="1" indent="-285750">
              <a:buSzPct val="60000"/>
              <a:buFont typeface="Courier New" panose="02070309020205020404" pitchFamily="49" charset="0"/>
              <a:buChar char="o"/>
            </a:pPr>
            <a:endParaRPr lang="en-US" sz="2800" dirty="0"/>
          </a:p>
          <a:p>
            <a:pPr marL="742950" lvl="1" indent="-285750">
              <a:buSzPct val="60000"/>
              <a:buFont typeface="Courier New" panose="02070309020205020404" pitchFamily="49" charset="0"/>
              <a:buChar char="o"/>
            </a:pPr>
            <a:r>
              <a:rPr lang="en-US" sz="2800" dirty="0"/>
              <a:t>Have an unadjusted market cap ≥ $12.7B, and a float-adjusted market cap that is at least 50% of the unadjusted minimum market cap threshold</a:t>
            </a:r>
          </a:p>
          <a:p>
            <a:pPr marL="742950" lvl="1" indent="-285750">
              <a:buSzPct val="60000"/>
              <a:buFont typeface="Courier New" panose="02070309020205020404" pitchFamily="49" charset="0"/>
              <a:buChar char="o"/>
            </a:pPr>
            <a:endParaRPr lang="en-US" sz="2800" dirty="0"/>
          </a:p>
          <a:p>
            <a:pPr marL="742950" lvl="1" indent="-285750">
              <a:buSzPct val="60000"/>
              <a:buFont typeface="Courier New" panose="02070309020205020404" pitchFamily="49" charset="0"/>
              <a:buChar char="o"/>
            </a:pPr>
            <a:r>
              <a:rPr lang="en-US" sz="2800" dirty="0"/>
              <a:t>Report positive earnings over the most recent four quarters (summed together)</a:t>
            </a:r>
          </a:p>
          <a:p>
            <a:endParaRPr lang="en-US" dirty="0"/>
          </a:p>
          <a:p>
            <a:endParaRPr lang="en-US" dirty="0"/>
          </a:p>
        </p:txBody>
      </p:sp>
    </p:spTree>
    <p:extLst>
      <p:ext uri="{BB962C8B-B14F-4D97-AF65-F5344CB8AC3E}">
        <p14:creationId xmlns:p14="http://schemas.microsoft.com/office/powerpoint/2010/main" val="1684627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75469"/>
            <a:ext cx="9144000" cy="6415100"/>
          </a:xfrm>
          <a:prstGeom prst="rect">
            <a:avLst/>
          </a:prstGeom>
        </p:spPr>
      </p:pic>
      <p:sp>
        <p:nvSpPr>
          <p:cNvPr id="7" name="Title 6"/>
          <p:cNvSpPr>
            <a:spLocks noGrp="1"/>
          </p:cNvSpPr>
          <p:nvPr>
            <p:ph type="title"/>
          </p:nvPr>
        </p:nvSpPr>
        <p:spPr>
          <a:xfrm>
            <a:off x="116185" y="112688"/>
            <a:ext cx="7886700" cy="1325563"/>
          </a:xfrm>
        </p:spPr>
        <p:txBody>
          <a:bodyPr/>
          <a:lstStyle/>
          <a:p>
            <a:r>
              <a:rPr lang="en-US" b="1" dirty="0"/>
              <a:t>Criteria for S&amp;P 500 Constituents (cont.)</a:t>
            </a:r>
          </a:p>
        </p:txBody>
      </p:sp>
      <p:sp>
        <p:nvSpPr>
          <p:cNvPr id="3" name="TextBox 2">
            <a:extLst>
              <a:ext uri="{FF2B5EF4-FFF2-40B4-BE49-F238E27FC236}">
                <a16:creationId xmlns:a16="http://schemas.microsoft.com/office/drawing/2014/main" id="{5DC908DC-9DF5-ED43-9F6A-212B629C8804}"/>
              </a:ext>
            </a:extLst>
          </p:cNvPr>
          <p:cNvSpPr txBox="1"/>
          <p:nvPr/>
        </p:nvSpPr>
        <p:spPr>
          <a:xfrm>
            <a:off x="260131" y="1459597"/>
            <a:ext cx="5052855" cy="3939540"/>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sz="2800" dirty="0"/>
              <a:t>Furthermore, industry sector representation across the whole of the index is also taken into consideration as incoming companies are chosen to replace exiting companies in the S&amp;P 500 Index.  </a:t>
            </a:r>
          </a:p>
          <a:p>
            <a:endParaRPr lang="en-US" dirty="0"/>
          </a:p>
          <a:p>
            <a:endParaRPr lang="en-US" dirty="0"/>
          </a:p>
        </p:txBody>
      </p:sp>
      <p:pic>
        <p:nvPicPr>
          <p:cNvPr id="5" name="Graphic 4" descr="Production outline">
            <a:extLst>
              <a:ext uri="{FF2B5EF4-FFF2-40B4-BE49-F238E27FC236}">
                <a16:creationId xmlns:a16="http://schemas.microsoft.com/office/drawing/2014/main" id="{66A43923-A1EE-ABF6-3208-EA5BA73183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70950" y="1193449"/>
            <a:ext cx="909376" cy="914400"/>
          </a:xfrm>
          <a:prstGeom prst="rect">
            <a:avLst/>
          </a:prstGeom>
        </p:spPr>
      </p:pic>
      <p:pic>
        <p:nvPicPr>
          <p:cNvPr id="8" name="Graphic 7" descr="Cell Tower outline">
            <a:extLst>
              <a:ext uri="{FF2B5EF4-FFF2-40B4-BE49-F238E27FC236}">
                <a16:creationId xmlns:a16="http://schemas.microsoft.com/office/drawing/2014/main" id="{BEF58504-AA92-0785-CA6A-BC5FA476BD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75687" y="1279324"/>
            <a:ext cx="914400" cy="914400"/>
          </a:xfrm>
          <a:prstGeom prst="rect">
            <a:avLst/>
          </a:prstGeom>
        </p:spPr>
      </p:pic>
      <p:pic>
        <p:nvPicPr>
          <p:cNvPr id="10" name="Graphic 9" descr="Medical outline">
            <a:extLst>
              <a:ext uri="{FF2B5EF4-FFF2-40B4-BE49-F238E27FC236}">
                <a16:creationId xmlns:a16="http://schemas.microsoft.com/office/drawing/2014/main" id="{B50629E7-299D-1EAF-8AF0-036A02A541D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04425" y="2419130"/>
            <a:ext cx="914400" cy="914400"/>
          </a:xfrm>
          <a:prstGeom prst="rect">
            <a:avLst/>
          </a:prstGeom>
        </p:spPr>
      </p:pic>
      <p:pic>
        <p:nvPicPr>
          <p:cNvPr id="6" name="Graphic 5" descr="Battery charging outline">
            <a:extLst>
              <a:ext uri="{FF2B5EF4-FFF2-40B4-BE49-F238E27FC236}">
                <a16:creationId xmlns:a16="http://schemas.microsoft.com/office/drawing/2014/main" id="{F0F4D0EE-8AD8-4534-364E-78DEDF50C85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64850" y="2419130"/>
            <a:ext cx="914400" cy="914400"/>
          </a:xfrm>
          <a:prstGeom prst="rect">
            <a:avLst/>
          </a:prstGeom>
        </p:spPr>
      </p:pic>
      <p:pic>
        <p:nvPicPr>
          <p:cNvPr id="9" name="Picture 8">
            <a:extLst>
              <a:ext uri="{FF2B5EF4-FFF2-40B4-BE49-F238E27FC236}">
                <a16:creationId xmlns:a16="http://schemas.microsoft.com/office/drawing/2014/main" id="{84830957-9392-0B82-E8F8-40AEBA9D855C}"/>
              </a:ext>
            </a:extLst>
          </p:cNvPr>
          <p:cNvPicPr>
            <a:picLocks noChangeAspect="1"/>
          </p:cNvPicPr>
          <p:nvPr/>
        </p:nvPicPr>
        <p:blipFill>
          <a:blip r:embed="rId11"/>
          <a:stretch>
            <a:fillRect/>
          </a:stretch>
        </p:blipFill>
        <p:spPr>
          <a:xfrm>
            <a:off x="7545645" y="3644811"/>
            <a:ext cx="914479" cy="914479"/>
          </a:xfrm>
          <a:prstGeom prst="rect">
            <a:avLst/>
          </a:prstGeom>
        </p:spPr>
      </p:pic>
      <p:pic>
        <p:nvPicPr>
          <p:cNvPr id="11" name="Picture 10">
            <a:extLst>
              <a:ext uri="{FF2B5EF4-FFF2-40B4-BE49-F238E27FC236}">
                <a16:creationId xmlns:a16="http://schemas.microsoft.com/office/drawing/2014/main" id="{76ECF8D4-E9F9-DBDE-A8EC-9A347CDE1179}"/>
              </a:ext>
            </a:extLst>
          </p:cNvPr>
          <p:cNvPicPr>
            <a:picLocks noChangeAspect="1"/>
          </p:cNvPicPr>
          <p:nvPr/>
        </p:nvPicPr>
        <p:blipFill>
          <a:blip r:embed="rId12"/>
          <a:stretch>
            <a:fillRect/>
          </a:stretch>
        </p:blipFill>
        <p:spPr>
          <a:xfrm>
            <a:off x="7583174" y="4977190"/>
            <a:ext cx="914479" cy="914479"/>
          </a:xfrm>
          <a:prstGeom prst="rect">
            <a:avLst/>
          </a:prstGeom>
        </p:spPr>
      </p:pic>
      <p:pic>
        <p:nvPicPr>
          <p:cNvPr id="13" name="Graphic 12" descr="Shopping bag outline">
            <a:extLst>
              <a:ext uri="{FF2B5EF4-FFF2-40B4-BE49-F238E27FC236}">
                <a16:creationId xmlns:a16="http://schemas.microsoft.com/office/drawing/2014/main" id="{F0643484-33C5-85BD-E1EB-A124CD5E9C2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959333" y="4977269"/>
            <a:ext cx="914400" cy="914400"/>
          </a:xfrm>
          <a:prstGeom prst="rect">
            <a:avLst/>
          </a:prstGeom>
        </p:spPr>
      </p:pic>
      <p:pic>
        <p:nvPicPr>
          <p:cNvPr id="15" name="Graphic 14" descr="Bank outline">
            <a:extLst>
              <a:ext uri="{FF2B5EF4-FFF2-40B4-BE49-F238E27FC236}">
                <a16:creationId xmlns:a16="http://schemas.microsoft.com/office/drawing/2014/main" id="{4F5596F2-71C6-E85E-8ABC-6DAC9783306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864850" y="3678211"/>
            <a:ext cx="914400" cy="914400"/>
          </a:xfrm>
          <a:prstGeom prst="rect">
            <a:avLst/>
          </a:prstGeom>
        </p:spPr>
      </p:pic>
      <p:pic>
        <p:nvPicPr>
          <p:cNvPr id="17" name="Graphic 16" descr="Electric Tower outline">
            <a:extLst>
              <a:ext uri="{FF2B5EF4-FFF2-40B4-BE49-F238E27FC236}">
                <a16:creationId xmlns:a16="http://schemas.microsoft.com/office/drawing/2014/main" id="{2C43157E-543D-2031-6FC0-F06500A8625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579812" y="5027160"/>
            <a:ext cx="914400" cy="914400"/>
          </a:xfrm>
          <a:prstGeom prst="rect">
            <a:avLst/>
          </a:prstGeom>
        </p:spPr>
      </p:pic>
      <p:pic>
        <p:nvPicPr>
          <p:cNvPr id="19" name="Graphic 18" descr="City outline">
            <a:extLst>
              <a:ext uri="{FF2B5EF4-FFF2-40B4-BE49-F238E27FC236}">
                <a16:creationId xmlns:a16="http://schemas.microsoft.com/office/drawing/2014/main" id="{0E6ABA6E-8606-ED15-3B9D-A451C992AD8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687280" y="5157540"/>
            <a:ext cx="914400" cy="914400"/>
          </a:xfrm>
          <a:prstGeom prst="rect">
            <a:avLst/>
          </a:prstGeom>
        </p:spPr>
      </p:pic>
      <p:pic>
        <p:nvPicPr>
          <p:cNvPr id="21" name="Graphic 20" descr="Computer outline">
            <a:extLst>
              <a:ext uri="{FF2B5EF4-FFF2-40B4-BE49-F238E27FC236}">
                <a16:creationId xmlns:a16="http://schemas.microsoft.com/office/drawing/2014/main" id="{555D439F-0562-630E-D473-63FCA23B4D7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145135" y="5147518"/>
            <a:ext cx="914400" cy="914400"/>
          </a:xfrm>
          <a:prstGeom prst="rect">
            <a:avLst/>
          </a:prstGeom>
        </p:spPr>
      </p:pic>
    </p:spTree>
    <p:extLst>
      <p:ext uri="{BB962C8B-B14F-4D97-AF65-F5344CB8AC3E}">
        <p14:creationId xmlns:p14="http://schemas.microsoft.com/office/powerpoint/2010/main" val="2934828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321136" y="16580"/>
            <a:ext cx="7886700" cy="1325563"/>
          </a:xfrm>
        </p:spPr>
        <p:txBody>
          <a:bodyPr/>
          <a:lstStyle/>
          <a:p>
            <a:r>
              <a:rPr lang="en-US" b="1" dirty="0"/>
              <a:t>The S&amp;P 500’s Industry Sectors</a:t>
            </a:r>
          </a:p>
        </p:txBody>
      </p:sp>
      <p:sp>
        <p:nvSpPr>
          <p:cNvPr id="3" name="TextBox 2">
            <a:extLst>
              <a:ext uri="{FF2B5EF4-FFF2-40B4-BE49-F238E27FC236}">
                <a16:creationId xmlns:a16="http://schemas.microsoft.com/office/drawing/2014/main" id="{5DC908DC-9DF5-ED43-9F6A-212B629C8804}"/>
              </a:ext>
            </a:extLst>
          </p:cNvPr>
          <p:cNvSpPr txBox="1"/>
          <p:nvPr/>
        </p:nvSpPr>
        <p:spPr>
          <a:xfrm>
            <a:off x="369527" y="920071"/>
            <a:ext cx="8453337" cy="2646878"/>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sz="2800" b="0" i="0" dirty="0">
                <a:solidFill>
                  <a:srgbClr val="1D1C1D"/>
                </a:solidFill>
                <a:effectLst/>
                <a:latin typeface="Slack-Lato"/>
              </a:rPr>
              <a:t>The Global Industry Classification Standard (GICS) was developed by Standard &amp; Poor’s and is used to classify the S&amp;P 500’s constituents by industry. The 11 industry sectors represented in the S&amp;P 500 Index are:</a:t>
            </a:r>
            <a:r>
              <a:rPr lang="en-US" sz="2800" dirty="0"/>
              <a:t> </a:t>
            </a:r>
          </a:p>
          <a:p>
            <a:endParaRPr lang="en-US" dirty="0"/>
          </a:p>
          <a:p>
            <a:endParaRPr lang="en-US" dirty="0"/>
          </a:p>
        </p:txBody>
      </p:sp>
      <p:sp>
        <p:nvSpPr>
          <p:cNvPr id="2" name="TextBox 1">
            <a:extLst>
              <a:ext uri="{FF2B5EF4-FFF2-40B4-BE49-F238E27FC236}">
                <a16:creationId xmlns:a16="http://schemas.microsoft.com/office/drawing/2014/main" id="{ABDC020B-F078-E9D0-8C63-600BDA3A2B6F}"/>
              </a:ext>
            </a:extLst>
          </p:cNvPr>
          <p:cNvSpPr txBox="1"/>
          <p:nvPr/>
        </p:nvSpPr>
        <p:spPr>
          <a:xfrm>
            <a:off x="874987" y="3208284"/>
            <a:ext cx="7681748" cy="2893100"/>
          </a:xfrm>
          <a:prstGeom prst="rect">
            <a:avLst/>
          </a:prstGeom>
          <a:noFill/>
        </p:spPr>
        <p:txBody>
          <a:bodyPr wrap="square" numCol="2" rtlCol="0">
            <a:spAutoFit/>
          </a:bodyPr>
          <a:lstStyle/>
          <a:p>
            <a:pPr marL="285750" indent="-285750">
              <a:buSzPct val="60000"/>
              <a:buFont typeface="Courier New" panose="02070309020205020404" pitchFamily="49" charset="0"/>
              <a:buChar char="o"/>
            </a:pPr>
            <a:r>
              <a:rPr lang="en-US" sz="2600" dirty="0"/>
              <a:t>Energy</a:t>
            </a:r>
          </a:p>
          <a:p>
            <a:pPr marL="285750" indent="-285750">
              <a:buSzPct val="60000"/>
              <a:buFont typeface="Courier New" panose="02070309020205020404" pitchFamily="49" charset="0"/>
              <a:buChar char="o"/>
            </a:pPr>
            <a:r>
              <a:rPr lang="en-US" sz="2600" dirty="0"/>
              <a:t>Materials</a:t>
            </a:r>
          </a:p>
          <a:p>
            <a:pPr marL="285750" indent="-285750">
              <a:buSzPct val="60000"/>
              <a:buFont typeface="Courier New" panose="02070309020205020404" pitchFamily="49" charset="0"/>
              <a:buChar char="o"/>
            </a:pPr>
            <a:r>
              <a:rPr lang="en-US" sz="2600" dirty="0"/>
              <a:t>Industrials</a:t>
            </a:r>
          </a:p>
          <a:p>
            <a:pPr marL="285750" indent="-285750">
              <a:buSzPct val="60000"/>
              <a:buFont typeface="Courier New" panose="02070309020205020404" pitchFamily="49" charset="0"/>
              <a:buChar char="o"/>
            </a:pPr>
            <a:r>
              <a:rPr lang="en-US" sz="2600" dirty="0"/>
              <a:t>Consumer Discretionary</a:t>
            </a:r>
          </a:p>
          <a:p>
            <a:pPr marL="285750" indent="-285750">
              <a:buSzPct val="60000"/>
              <a:buFont typeface="Courier New" panose="02070309020205020404" pitchFamily="49" charset="0"/>
              <a:buChar char="o"/>
            </a:pPr>
            <a:r>
              <a:rPr lang="en-US" sz="2600" dirty="0"/>
              <a:t>Consumer Staples</a:t>
            </a:r>
          </a:p>
          <a:p>
            <a:pPr marL="285750" indent="-285750">
              <a:buSzPct val="60000"/>
              <a:buFont typeface="Courier New" panose="02070309020205020404" pitchFamily="49" charset="0"/>
              <a:buChar char="o"/>
            </a:pPr>
            <a:r>
              <a:rPr lang="en-US" sz="2600" dirty="0"/>
              <a:t>Health Care</a:t>
            </a:r>
          </a:p>
          <a:p>
            <a:pPr marL="285750" indent="-285750">
              <a:buSzPct val="60000"/>
              <a:buFont typeface="Courier New" panose="02070309020205020404" pitchFamily="49" charset="0"/>
              <a:buChar char="o"/>
            </a:pPr>
            <a:endParaRPr lang="en-US" sz="2600" dirty="0"/>
          </a:p>
          <a:p>
            <a:pPr marL="285750" indent="-285750">
              <a:buSzPct val="60000"/>
              <a:buFont typeface="Courier New" panose="02070309020205020404" pitchFamily="49" charset="0"/>
              <a:buChar char="o"/>
            </a:pPr>
            <a:r>
              <a:rPr lang="en-US" sz="2600" dirty="0"/>
              <a:t>Financials</a:t>
            </a:r>
          </a:p>
          <a:p>
            <a:pPr marL="285750" indent="-285750">
              <a:buSzPct val="60000"/>
              <a:buFont typeface="Courier New" panose="02070309020205020404" pitchFamily="49" charset="0"/>
              <a:buChar char="o"/>
            </a:pPr>
            <a:r>
              <a:rPr lang="en-US" sz="2600" dirty="0"/>
              <a:t>Information Technology</a:t>
            </a:r>
          </a:p>
          <a:p>
            <a:pPr marL="285750" indent="-285750">
              <a:buSzPct val="60000"/>
              <a:buFont typeface="Courier New" panose="02070309020205020404" pitchFamily="49" charset="0"/>
              <a:buChar char="o"/>
            </a:pPr>
            <a:r>
              <a:rPr lang="en-US" sz="2600" dirty="0"/>
              <a:t>Communication Services</a:t>
            </a:r>
          </a:p>
          <a:p>
            <a:pPr marL="285750" indent="-285750">
              <a:buSzPct val="60000"/>
              <a:buFont typeface="Courier New" panose="02070309020205020404" pitchFamily="49" charset="0"/>
              <a:buChar char="o"/>
            </a:pPr>
            <a:r>
              <a:rPr lang="en-US" sz="2600" dirty="0"/>
              <a:t>Utilities</a:t>
            </a:r>
          </a:p>
          <a:p>
            <a:pPr marL="285750" indent="-285750">
              <a:buSzPct val="60000"/>
              <a:buFont typeface="Courier New" panose="02070309020205020404" pitchFamily="49" charset="0"/>
              <a:buChar char="o"/>
            </a:pPr>
            <a:r>
              <a:rPr lang="en-US" sz="2600" dirty="0"/>
              <a:t>Real Estate</a:t>
            </a:r>
          </a:p>
        </p:txBody>
      </p:sp>
    </p:spTree>
    <p:extLst>
      <p:ext uri="{BB962C8B-B14F-4D97-AF65-F5344CB8AC3E}">
        <p14:creationId xmlns:p14="http://schemas.microsoft.com/office/powerpoint/2010/main" val="3273396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7493"/>
            <a:ext cx="9144000" cy="6415100"/>
          </a:xfrm>
          <a:prstGeom prst="rect">
            <a:avLst/>
          </a:prstGeom>
        </p:spPr>
      </p:pic>
      <p:sp>
        <p:nvSpPr>
          <p:cNvPr id="7" name="Title 6"/>
          <p:cNvSpPr>
            <a:spLocks noGrp="1"/>
          </p:cNvSpPr>
          <p:nvPr>
            <p:ph type="title"/>
          </p:nvPr>
        </p:nvSpPr>
        <p:spPr>
          <a:xfrm>
            <a:off x="321136" y="16580"/>
            <a:ext cx="7886700" cy="1325563"/>
          </a:xfrm>
        </p:spPr>
        <p:txBody>
          <a:bodyPr>
            <a:normAutofit/>
          </a:bodyPr>
          <a:lstStyle/>
          <a:p>
            <a:r>
              <a:rPr lang="en-US" b="1" dirty="0"/>
              <a:t>Possible Issues When Using the S&amp;P 500 Index</a:t>
            </a:r>
          </a:p>
        </p:txBody>
      </p:sp>
      <p:sp>
        <p:nvSpPr>
          <p:cNvPr id="3" name="TextBox 2">
            <a:extLst>
              <a:ext uri="{FF2B5EF4-FFF2-40B4-BE49-F238E27FC236}">
                <a16:creationId xmlns:a16="http://schemas.microsoft.com/office/drawing/2014/main" id="{5DC908DC-9DF5-ED43-9F6A-212B629C8804}"/>
              </a:ext>
            </a:extLst>
          </p:cNvPr>
          <p:cNvSpPr txBox="1"/>
          <p:nvPr/>
        </p:nvSpPr>
        <p:spPr>
          <a:xfrm>
            <a:off x="369527" y="920071"/>
            <a:ext cx="8453337" cy="646331"/>
          </a:xfrm>
          <a:prstGeom prst="rect">
            <a:avLst/>
          </a:prstGeom>
          <a:noFill/>
        </p:spPr>
        <p:txBody>
          <a:bodyPr wrap="square" rtlCol="0">
            <a:spAutoFit/>
          </a:bodyPr>
          <a:lstStyle/>
          <a:p>
            <a:endParaRPr lang="en-US" dirty="0"/>
          </a:p>
          <a:p>
            <a:endParaRPr lang="en-US" dirty="0"/>
          </a:p>
        </p:txBody>
      </p:sp>
      <p:sp>
        <p:nvSpPr>
          <p:cNvPr id="2" name="TextBox 1">
            <a:extLst>
              <a:ext uri="{FF2B5EF4-FFF2-40B4-BE49-F238E27FC236}">
                <a16:creationId xmlns:a16="http://schemas.microsoft.com/office/drawing/2014/main" id="{ABDC020B-F078-E9D0-8C63-600BDA3A2B6F}"/>
              </a:ext>
            </a:extLst>
          </p:cNvPr>
          <p:cNvSpPr txBox="1"/>
          <p:nvPr/>
        </p:nvSpPr>
        <p:spPr>
          <a:xfrm>
            <a:off x="849913" y="1497725"/>
            <a:ext cx="7681748" cy="4247317"/>
          </a:xfrm>
          <a:prstGeom prst="rect">
            <a:avLst/>
          </a:prstGeom>
          <a:noFill/>
        </p:spPr>
        <p:txBody>
          <a:bodyPr wrap="square" numCol="1" rtlCol="0">
            <a:spAutoFit/>
          </a:bodyPr>
          <a:lstStyle/>
          <a:p>
            <a:pPr marL="457200" indent="-457200">
              <a:buSzPct val="100000"/>
              <a:buFont typeface="Arial" panose="020B0604020202020204" pitchFamily="34" charset="0"/>
              <a:buChar char="•"/>
            </a:pPr>
            <a:r>
              <a:rPr lang="en-US" sz="2800" dirty="0">
                <a:solidFill>
                  <a:srgbClr val="000000"/>
                </a:solidFill>
                <a:ea typeface="Times New Roman" panose="02020603050405020304" pitchFamily="18" charset="0"/>
              </a:rPr>
              <a:t>S</a:t>
            </a:r>
            <a:r>
              <a:rPr lang="en-US" sz="2800" dirty="0">
                <a:solidFill>
                  <a:srgbClr val="000000"/>
                </a:solidFill>
                <a:effectLst/>
                <a:ea typeface="Times New Roman" panose="02020603050405020304" pitchFamily="18" charset="0"/>
              </a:rPr>
              <a:t>maller companies are not included at all in the index, even if they are outperforming larger companies in the market.</a:t>
            </a:r>
          </a:p>
          <a:p>
            <a:pPr marL="285750" indent="-285750">
              <a:buSzPct val="100000"/>
              <a:buFont typeface="Arial" panose="020B0604020202020204" pitchFamily="34" charset="0"/>
              <a:buChar char="•"/>
            </a:pPr>
            <a:endParaRPr lang="en-US" sz="1800" dirty="0">
              <a:effectLst/>
              <a:latin typeface="Times New Roman" panose="02020603050405020304" pitchFamily="18" charset="0"/>
              <a:ea typeface="Times New Roman" panose="02020603050405020304" pitchFamily="18" charset="0"/>
            </a:endParaRPr>
          </a:p>
          <a:p>
            <a:pPr marL="457200" indent="-457200">
              <a:buSzPct val="100000"/>
              <a:buFont typeface="Arial" panose="020B0604020202020204" pitchFamily="34" charset="0"/>
              <a:buChar char="•"/>
            </a:pPr>
            <a:r>
              <a:rPr lang="en-US" sz="2800" dirty="0">
                <a:solidFill>
                  <a:srgbClr val="000000"/>
                </a:solidFill>
                <a:ea typeface="Calibri" panose="020F0502020204030204" pitchFamily="34" charset="0"/>
              </a:rPr>
              <a:t>C</a:t>
            </a:r>
            <a:r>
              <a:rPr lang="en-US" sz="2800" dirty="0">
                <a:solidFill>
                  <a:srgbClr val="000000"/>
                </a:solidFill>
                <a:effectLst/>
                <a:ea typeface="Calibri" panose="020F0502020204030204" pitchFamily="34" charset="0"/>
              </a:rPr>
              <a:t>ompanies with the largest market capitalizations have the greatest influence on the index’s performance. </a:t>
            </a:r>
            <a:r>
              <a:rPr lang="en-US" sz="2800" dirty="0">
                <a:solidFill>
                  <a:srgbClr val="374151"/>
                </a:solidFill>
                <a:latin typeface="Söhne"/>
                <a:ea typeface="Calibri" panose="020F0502020204030204" pitchFamily="34" charset="0"/>
              </a:rPr>
              <a:t>A very</a:t>
            </a:r>
            <a:r>
              <a:rPr lang="en-US" sz="2800" b="0" i="0" dirty="0">
                <a:solidFill>
                  <a:srgbClr val="374151"/>
                </a:solidFill>
                <a:effectLst/>
                <a:latin typeface="Söhne"/>
              </a:rPr>
              <a:t> small number of companies with huge market capitalizations can have a significant impact on the overall performance of the index.</a:t>
            </a:r>
            <a:endParaRPr lang="en-US" sz="2800" dirty="0">
              <a:solidFill>
                <a:srgbClr val="000000"/>
              </a:solidFill>
              <a:effectLst/>
              <a:ea typeface="Calibri" panose="020F0502020204030204" pitchFamily="34" charset="0"/>
            </a:endParaRPr>
          </a:p>
        </p:txBody>
      </p:sp>
    </p:spTree>
    <p:extLst>
      <p:ext uri="{BB962C8B-B14F-4D97-AF65-F5344CB8AC3E}">
        <p14:creationId xmlns:p14="http://schemas.microsoft.com/office/powerpoint/2010/main" val="2150005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7493"/>
            <a:ext cx="9144000" cy="6415100"/>
          </a:xfrm>
          <a:prstGeom prst="rect">
            <a:avLst/>
          </a:prstGeom>
        </p:spPr>
      </p:pic>
      <p:sp>
        <p:nvSpPr>
          <p:cNvPr id="7" name="Title 6"/>
          <p:cNvSpPr>
            <a:spLocks noGrp="1"/>
          </p:cNvSpPr>
          <p:nvPr>
            <p:ph type="title"/>
          </p:nvPr>
        </p:nvSpPr>
        <p:spPr>
          <a:xfrm>
            <a:off x="321136" y="16580"/>
            <a:ext cx="7886700" cy="1325563"/>
          </a:xfrm>
        </p:spPr>
        <p:txBody>
          <a:bodyPr/>
          <a:lstStyle/>
          <a:p>
            <a:r>
              <a:rPr lang="en-US" b="1" dirty="0"/>
              <a:t>Possible Issues When Using the S&amp;P 500 Index (cont.)</a:t>
            </a:r>
          </a:p>
        </p:txBody>
      </p:sp>
      <p:sp>
        <p:nvSpPr>
          <p:cNvPr id="3" name="TextBox 2">
            <a:extLst>
              <a:ext uri="{FF2B5EF4-FFF2-40B4-BE49-F238E27FC236}">
                <a16:creationId xmlns:a16="http://schemas.microsoft.com/office/drawing/2014/main" id="{5DC908DC-9DF5-ED43-9F6A-212B629C8804}"/>
              </a:ext>
            </a:extLst>
          </p:cNvPr>
          <p:cNvSpPr txBox="1"/>
          <p:nvPr/>
        </p:nvSpPr>
        <p:spPr>
          <a:xfrm>
            <a:off x="164576" y="920071"/>
            <a:ext cx="8453337" cy="646331"/>
          </a:xfrm>
          <a:prstGeom prst="rect">
            <a:avLst/>
          </a:prstGeom>
          <a:noFill/>
        </p:spPr>
        <p:txBody>
          <a:bodyPr wrap="square" rtlCol="0">
            <a:spAutoFit/>
          </a:bodyPr>
          <a:lstStyle/>
          <a:p>
            <a:endParaRPr lang="en-US" dirty="0"/>
          </a:p>
          <a:p>
            <a:endParaRPr lang="en-US" dirty="0"/>
          </a:p>
        </p:txBody>
      </p:sp>
      <p:sp>
        <p:nvSpPr>
          <p:cNvPr id="2" name="TextBox 1">
            <a:extLst>
              <a:ext uri="{FF2B5EF4-FFF2-40B4-BE49-F238E27FC236}">
                <a16:creationId xmlns:a16="http://schemas.microsoft.com/office/drawing/2014/main" id="{ABDC020B-F078-E9D0-8C63-600BDA3A2B6F}"/>
              </a:ext>
            </a:extLst>
          </p:cNvPr>
          <p:cNvSpPr txBox="1"/>
          <p:nvPr/>
        </p:nvSpPr>
        <p:spPr>
          <a:xfrm>
            <a:off x="560619" y="1166648"/>
            <a:ext cx="8149830" cy="5262979"/>
          </a:xfrm>
          <a:prstGeom prst="rect">
            <a:avLst/>
          </a:prstGeom>
          <a:noFill/>
        </p:spPr>
        <p:txBody>
          <a:bodyPr wrap="square" numCol="1" rtlCol="0">
            <a:spAutoFit/>
          </a:bodyPr>
          <a:lstStyle/>
          <a:p>
            <a:pPr marL="285750" indent="-285750">
              <a:buSzPct val="60000"/>
              <a:buFont typeface="Courier New" panose="02070309020205020404" pitchFamily="49" charset="0"/>
              <a:buChar char="o"/>
            </a:pPr>
            <a:endParaRPr lang="en-US" sz="2800" dirty="0">
              <a:solidFill>
                <a:srgbClr val="000000"/>
              </a:solidFill>
              <a:effectLst/>
              <a:ea typeface="Calibri" panose="020F0502020204030204" pitchFamily="34" charset="0"/>
            </a:endParaRPr>
          </a:p>
          <a:p>
            <a:pPr marL="457200" indent="-457200">
              <a:buSzPct val="100000"/>
              <a:buFont typeface="Arial" panose="020B0604020202020204" pitchFamily="34" charset="0"/>
              <a:buChar char="•"/>
            </a:pPr>
            <a:r>
              <a:rPr lang="en-US" sz="2800" b="0" i="0" dirty="0">
                <a:solidFill>
                  <a:srgbClr val="374151"/>
                </a:solidFill>
                <a:effectLst/>
                <a:latin typeface="Söhne"/>
              </a:rPr>
              <a:t>Sector bias occurs when a particular sector dominates the index, meaning that sector’s performance has a disproportionate impact on the overall performance of the index. </a:t>
            </a:r>
          </a:p>
          <a:p>
            <a:pPr marL="457200" indent="-457200">
              <a:buSzPct val="100000"/>
              <a:buFont typeface="Arial" panose="020B0604020202020204" pitchFamily="34" charset="0"/>
              <a:buChar char="•"/>
            </a:pPr>
            <a:endParaRPr lang="en-US" sz="2800" dirty="0">
              <a:solidFill>
                <a:srgbClr val="374151"/>
              </a:solidFill>
              <a:latin typeface="Söhne"/>
            </a:endParaRPr>
          </a:p>
          <a:p>
            <a:pPr marL="457200" indent="-457200">
              <a:buSzPct val="100000"/>
              <a:buFont typeface="Arial" panose="020B0604020202020204" pitchFamily="34" charset="0"/>
              <a:buChar char="•"/>
            </a:pPr>
            <a:r>
              <a:rPr lang="en-US" sz="2800" b="0" i="0" dirty="0">
                <a:solidFill>
                  <a:srgbClr val="374151"/>
                </a:solidFill>
                <a:effectLst/>
                <a:latin typeface="Söhne"/>
              </a:rPr>
              <a:t>For example, if the information technology sector is over-represented in the index, then any gains or losses in that sector will affect the overall performance of the index more than other sectors.</a:t>
            </a:r>
            <a:endParaRPr lang="en-US" sz="2800" dirty="0">
              <a:solidFill>
                <a:srgbClr val="000000"/>
              </a:solidFill>
              <a:effectLst/>
              <a:ea typeface="Calibri" panose="020F0502020204030204" pitchFamily="34" charset="0"/>
            </a:endParaRPr>
          </a:p>
          <a:p>
            <a:pPr marL="285750" indent="-285750">
              <a:buSzPct val="60000"/>
              <a:buFont typeface="Courier New" panose="02070309020205020404" pitchFamily="49" charset="0"/>
              <a:buChar char="o"/>
            </a:pPr>
            <a:endParaRPr lang="en-US" sz="2800" dirty="0">
              <a:solidFill>
                <a:srgbClr val="000000"/>
              </a:solidFill>
            </a:endParaRPr>
          </a:p>
          <a:p>
            <a:pPr marL="285750" indent="-285750">
              <a:buSzPct val="60000"/>
              <a:buFont typeface="Courier New" panose="02070309020205020404" pitchFamily="49" charset="0"/>
              <a:buChar char="o"/>
            </a:pPr>
            <a:endParaRPr lang="en-US" sz="2800" dirty="0"/>
          </a:p>
        </p:txBody>
      </p:sp>
    </p:spTree>
    <p:extLst>
      <p:ext uri="{BB962C8B-B14F-4D97-AF65-F5344CB8AC3E}">
        <p14:creationId xmlns:p14="http://schemas.microsoft.com/office/powerpoint/2010/main" val="2470783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7493"/>
            <a:ext cx="9144000" cy="6415100"/>
          </a:xfrm>
          <a:prstGeom prst="rect">
            <a:avLst/>
          </a:prstGeom>
        </p:spPr>
      </p:pic>
      <p:sp>
        <p:nvSpPr>
          <p:cNvPr id="7" name="Title 6"/>
          <p:cNvSpPr>
            <a:spLocks noGrp="1"/>
          </p:cNvSpPr>
          <p:nvPr>
            <p:ph type="title"/>
          </p:nvPr>
        </p:nvSpPr>
        <p:spPr>
          <a:xfrm>
            <a:off x="321136" y="16580"/>
            <a:ext cx="7886700" cy="1325563"/>
          </a:xfrm>
        </p:spPr>
        <p:txBody>
          <a:bodyPr/>
          <a:lstStyle/>
          <a:p>
            <a:r>
              <a:rPr lang="en-US" b="1" dirty="0"/>
              <a:t>Possible Issues When Using the S&amp;P 500 Index (cont.)</a:t>
            </a:r>
          </a:p>
        </p:txBody>
      </p:sp>
      <p:sp>
        <p:nvSpPr>
          <p:cNvPr id="3" name="TextBox 2">
            <a:extLst>
              <a:ext uri="{FF2B5EF4-FFF2-40B4-BE49-F238E27FC236}">
                <a16:creationId xmlns:a16="http://schemas.microsoft.com/office/drawing/2014/main" id="{5DC908DC-9DF5-ED43-9F6A-212B629C8804}"/>
              </a:ext>
            </a:extLst>
          </p:cNvPr>
          <p:cNvSpPr txBox="1"/>
          <p:nvPr/>
        </p:nvSpPr>
        <p:spPr>
          <a:xfrm>
            <a:off x="369527" y="920071"/>
            <a:ext cx="8453337" cy="646331"/>
          </a:xfrm>
          <a:prstGeom prst="rect">
            <a:avLst/>
          </a:prstGeom>
          <a:noFill/>
        </p:spPr>
        <p:txBody>
          <a:bodyPr wrap="square" rtlCol="0">
            <a:spAutoFit/>
          </a:bodyPr>
          <a:lstStyle/>
          <a:p>
            <a:endParaRPr lang="en-US" dirty="0"/>
          </a:p>
          <a:p>
            <a:endParaRPr lang="en-US" dirty="0"/>
          </a:p>
        </p:txBody>
      </p:sp>
      <p:sp>
        <p:nvSpPr>
          <p:cNvPr id="2" name="TextBox 1">
            <a:extLst>
              <a:ext uri="{FF2B5EF4-FFF2-40B4-BE49-F238E27FC236}">
                <a16:creationId xmlns:a16="http://schemas.microsoft.com/office/drawing/2014/main" id="{ABDC020B-F078-E9D0-8C63-600BDA3A2B6F}"/>
              </a:ext>
            </a:extLst>
          </p:cNvPr>
          <p:cNvSpPr txBox="1"/>
          <p:nvPr/>
        </p:nvSpPr>
        <p:spPr>
          <a:xfrm>
            <a:off x="560619" y="1166648"/>
            <a:ext cx="8149830" cy="3108543"/>
          </a:xfrm>
          <a:prstGeom prst="rect">
            <a:avLst/>
          </a:prstGeom>
          <a:noFill/>
        </p:spPr>
        <p:txBody>
          <a:bodyPr wrap="square" numCol="1" rtlCol="0">
            <a:spAutoFit/>
          </a:bodyPr>
          <a:lstStyle/>
          <a:p>
            <a:pPr marL="285750" indent="-285750">
              <a:buSzPct val="60000"/>
              <a:buFont typeface="Courier New" panose="02070309020205020404" pitchFamily="49" charset="0"/>
              <a:buChar char="o"/>
            </a:pPr>
            <a:endParaRPr lang="en-US" sz="2800" dirty="0">
              <a:solidFill>
                <a:srgbClr val="000000"/>
              </a:solidFill>
              <a:effectLst/>
              <a:ea typeface="Calibri" panose="020F0502020204030204" pitchFamily="34" charset="0"/>
            </a:endParaRPr>
          </a:p>
          <a:p>
            <a:pPr marL="457200" indent="-457200">
              <a:buSzPct val="100000"/>
              <a:buFont typeface="Arial" panose="020B0604020202020204" pitchFamily="34" charset="0"/>
              <a:buChar char="•"/>
            </a:pPr>
            <a:r>
              <a:rPr lang="en-US" sz="2800" dirty="0">
                <a:solidFill>
                  <a:srgbClr val="000000"/>
                </a:solidFill>
                <a:ea typeface="Calibri" panose="020F0502020204030204" pitchFamily="34" charset="0"/>
              </a:rPr>
              <a:t>Finally, the S&amp;P 500 </a:t>
            </a:r>
            <a:r>
              <a:rPr lang="en-US" sz="2800" dirty="0">
                <a:solidFill>
                  <a:srgbClr val="000000"/>
                </a:solidFill>
                <a:effectLst/>
                <a:ea typeface="Calibri" panose="020F0502020204030204" pitchFamily="34" charset="0"/>
              </a:rPr>
              <a:t>only includes companies that are headquartered in the United States. These may not necessarily be the best-performing companies in the global market. </a:t>
            </a:r>
          </a:p>
          <a:p>
            <a:pPr marL="285750" indent="-285750">
              <a:buSzPct val="60000"/>
              <a:buFont typeface="Courier New" panose="02070309020205020404" pitchFamily="49" charset="0"/>
              <a:buChar char="o"/>
            </a:pPr>
            <a:endParaRPr lang="en-US" sz="2800" dirty="0">
              <a:solidFill>
                <a:srgbClr val="000000"/>
              </a:solidFill>
            </a:endParaRPr>
          </a:p>
          <a:p>
            <a:pPr marL="285750" indent="-285750">
              <a:buSzPct val="60000"/>
              <a:buFont typeface="Courier New" panose="02070309020205020404" pitchFamily="49" charset="0"/>
              <a:buChar char="o"/>
            </a:pPr>
            <a:endParaRPr lang="en-US" sz="2800" dirty="0"/>
          </a:p>
        </p:txBody>
      </p:sp>
    </p:spTree>
    <p:extLst>
      <p:ext uri="{BB962C8B-B14F-4D97-AF65-F5344CB8AC3E}">
        <p14:creationId xmlns:p14="http://schemas.microsoft.com/office/powerpoint/2010/main" val="3543256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115745"/>
            <a:ext cx="7886700" cy="1325563"/>
          </a:xfrm>
        </p:spPr>
        <p:txBody>
          <a:bodyPr/>
          <a:lstStyle/>
          <a:p>
            <a:r>
              <a:rPr lang="en-US" b="1" dirty="0"/>
              <a:t>Link to Assignment</a:t>
            </a:r>
          </a:p>
        </p:txBody>
      </p:sp>
      <p:sp>
        <p:nvSpPr>
          <p:cNvPr id="8" name="Content Placeholder 7"/>
          <p:cNvSpPr>
            <a:spLocks noGrp="1"/>
          </p:cNvSpPr>
          <p:nvPr>
            <p:ph idx="1"/>
          </p:nvPr>
        </p:nvSpPr>
        <p:spPr>
          <a:xfrm>
            <a:off x="333486" y="1441308"/>
            <a:ext cx="8707338" cy="4086797"/>
          </a:xfrm>
        </p:spPr>
        <p:txBody>
          <a:bodyPr>
            <a:noAutofit/>
          </a:bodyPr>
          <a:lstStyle/>
          <a:p>
            <a:pPr marL="457200" indent="-457200">
              <a:buFont typeface="Arial" panose="020B0604020202020204" pitchFamily="34" charset="0"/>
              <a:buChar char="•"/>
            </a:pPr>
            <a:r>
              <a:rPr lang="en-US" sz="2800" dirty="0"/>
              <a:t>Click the links on the WRDS Classroom site or use the following links to complete activities related to the S&amp;P constituents over time:</a:t>
            </a:r>
            <a:br>
              <a:rPr lang="en-US" sz="2800" dirty="0"/>
            </a:br>
            <a:endParaRPr lang="en-US" sz="2800" dirty="0"/>
          </a:p>
          <a:p>
            <a:pPr marL="0" indent="0">
              <a:buNone/>
            </a:pPr>
            <a:r>
              <a:rPr lang="en-US" sz="1800" u="sng"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3"/>
              </a:rPr>
              <a:t>https://wrds-www.wharton.upenn.edu/classroom/sp500-introduction/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u="sng"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4"/>
              </a:rPr>
              <a:t>https://wrds-www.wharton.upenn.edu/classroom/sp500-introduction/over-time/</a:t>
            </a:r>
            <a:br>
              <a:rPr lang="en-US" sz="1800" b="1" dirty="0">
                <a:effectLst/>
                <a:latin typeface="Calibri" panose="020F0502020204030204" pitchFamily="34" charset="0"/>
                <a:ea typeface="Calibri" panose="020F0502020204030204" pitchFamily="34" charset="0"/>
                <a:cs typeface="Calibri" panose="020F0502020204030204" pitchFamily="34" charset="0"/>
              </a:rPr>
            </a:br>
            <a:r>
              <a:rPr lang="en-US" sz="1800" u="sng"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5"/>
              </a:rPr>
              <a:t>https://wrds-www.wharton.upenn.edu/classroom/sp500-introduction/year-explorer/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800" dirty="0"/>
          </a:p>
          <a:p>
            <a:pPr marL="457200" indent="-457200">
              <a:buFont typeface="Arial" panose="020B0604020202020204" pitchFamily="34" charset="0"/>
              <a:buChar char="•"/>
            </a:pPr>
            <a:r>
              <a:rPr lang="en-US" sz="2800" dirty="0"/>
              <a:t>Your institution must have a subscription to the CRSP dataset at WRDS </a:t>
            </a:r>
            <a:r>
              <a:rPr lang="en-US" dirty="0"/>
              <a:t>in order to access the activities.</a:t>
            </a:r>
            <a:endParaRPr lang="en-US"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07885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115745"/>
            <a:ext cx="7886700" cy="1325563"/>
          </a:xfrm>
        </p:spPr>
        <p:txBody>
          <a:bodyPr/>
          <a:lstStyle/>
          <a:p>
            <a:r>
              <a:rPr lang="en-US" b="1" dirty="0"/>
              <a:t>Conclusion</a:t>
            </a:r>
          </a:p>
        </p:txBody>
      </p:sp>
      <p:sp>
        <p:nvSpPr>
          <p:cNvPr id="8" name="Content Placeholder 7"/>
          <p:cNvSpPr>
            <a:spLocks noGrp="1"/>
          </p:cNvSpPr>
          <p:nvPr>
            <p:ph idx="1"/>
          </p:nvPr>
        </p:nvSpPr>
        <p:spPr>
          <a:xfrm>
            <a:off x="753341" y="1385601"/>
            <a:ext cx="8265968" cy="4086797"/>
          </a:xfrm>
        </p:spPr>
        <p:txBody>
          <a:bodyPr>
            <a:noAutofit/>
          </a:bodyPr>
          <a:lstStyle/>
          <a:p>
            <a:pPr algn="l"/>
            <a:r>
              <a:rPr lang="en-US" dirty="0">
                <a:solidFill>
                  <a:srgbClr val="374151"/>
                </a:solidFill>
                <a:latin typeface="Söhne"/>
              </a:rPr>
              <a:t>A stock market index is a hypothetical portfolio created by: (1) selecting a group of stocks that represent a particular market or industry; and then (2) tracking the performance of those stocks over time. </a:t>
            </a:r>
            <a:br>
              <a:rPr lang="en-US" dirty="0">
                <a:solidFill>
                  <a:srgbClr val="374151"/>
                </a:solidFill>
                <a:latin typeface="Söhne"/>
              </a:rPr>
            </a:br>
            <a:endParaRPr lang="en-US" dirty="0">
              <a:solidFill>
                <a:srgbClr val="374151"/>
              </a:solidFill>
              <a:latin typeface="Söhne"/>
            </a:endParaRPr>
          </a:p>
          <a:p>
            <a:pPr algn="l"/>
            <a:r>
              <a:rPr lang="en-US" dirty="0">
                <a:solidFill>
                  <a:srgbClr val="374151"/>
                </a:solidFill>
                <a:latin typeface="Söhne"/>
              </a:rPr>
              <a:t>Using a stock index, you can measure the fluctuations of a market or industry. This information may serve as an indicator of broader economic conditions. </a:t>
            </a:r>
          </a:p>
          <a:p>
            <a:pPr algn="l"/>
            <a:endParaRPr lang="en-US" dirty="0">
              <a:solidFill>
                <a:srgbClr val="374151"/>
              </a:solidFill>
              <a:latin typeface="Söhne"/>
            </a:endParaRPr>
          </a:p>
        </p:txBody>
      </p:sp>
    </p:spTree>
    <p:extLst>
      <p:ext uri="{BB962C8B-B14F-4D97-AF65-F5344CB8AC3E}">
        <p14:creationId xmlns:p14="http://schemas.microsoft.com/office/powerpoint/2010/main" val="8701397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115745"/>
            <a:ext cx="7886700" cy="1325563"/>
          </a:xfrm>
        </p:spPr>
        <p:txBody>
          <a:bodyPr/>
          <a:lstStyle/>
          <a:p>
            <a:r>
              <a:rPr lang="en-US" b="1" dirty="0"/>
              <a:t>Conclusion (cont.)</a:t>
            </a:r>
          </a:p>
        </p:txBody>
      </p:sp>
      <p:sp>
        <p:nvSpPr>
          <p:cNvPr id="8" name="Content Placeholder 7"/>
          <p:cNvSpPr>
            <a:spLocks noGrp="1"/>
          </p:cNvSpPr>
          <p:nvPr>
            <p:ph idx="1"/>
          </p:nvPr>
        </p:nvSpPr>
        <p:spPr>
          <a:xfrm>
            <a:off x="753341" y="1385601"/>
            <a:ext cx="8265968" cy="4086797"/>
          </a:xfrm>
        </p:spPr>
        <p:txBody>
          <a:bodyPr>
            <a:noAutofit/>
          </a:bodyPr>
          <a:lstStyle/>
          <a:p>
            <a:pPr marL="0" indent="0" algn="l">
              <a:buNone/>
            </a:pPr>
            <a:endParaRPr lang="en-US" dirty="0">
              <a:solidFill>
                <a:srgbClr val="374151"/>
              </a:solidFill>
              <a:latin typeface="Söhne"/>
            </a:endParaRPr>
          </a:p>
          <a:p>
            <a:pPr algn="l"/>
            <a:r>
              <a:rPr lang="en-US" dirty="0">
                <a:solidFill>
                  <a:srgbClr val="374151"/>
                </a:solidFill>
                <a:latin typeface="Söhne"/>
              </a:rPr>
              <a:t>An index’s price is typically calculated using a weighted average of the prices of all the stocks that make up the index; weightings are determined by factors such as stock price or market capitalization.</a:t>
            </a:r>
          </a:p>
          <a:p>
            <a:pPr algn="l"/>
            <a:endParaRPr lang="en-US" dirty="0">
              <a:solidFill>
                <a:srgbClr val="374151"/>
              </a:solidFill>
              <a:latin typeface="Söhne"/>
            </a:endParaRPr>
          </a:p>
        </p:txBody>
      </p:sp>
    </p:spTree>
    <p:extLst>
      <p:ext uri="{BB962C8B-B14F-4D97-AF65-F5344CB8AC3E}">
        <p14:creationId xmlns:p14="http://schemas.microsoft.com/office/powerpoint/2010/main" val="41453821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7" name="Title 6"/>
          <p:cNvSpPr>
            <a:spLocks noGrp="1"/>
          </p:cNvSpPr>
          <p:nvPr>
            <p:ph type="title"/>
          </p:nvPr>
        </p:nvSpPr>
        <p:spPr>
          <a:xfrm>
            <a:off x="628650" y="115745"/>
            <a:ext cx="7886700" cy="1325563"/>
          </a:xfrm>
        </p:spPr>
        <p:txBody>
          <a:bodyPr/>
          <a:lstStyle/>
          <a:p>
            <a:r>
              <a:rPr lang="en-US" b="1" dirty="0"/>
              <a:t>Conclusion (cont.)</a:t>
            </a:r>
          </a:p>
        </p:txBody>
      </p:sp>
      <p:sp>
        <p:nvSpPr>
          <p:cNvPr id="8" name="Content Placeholder 7"/>
          <p:cNvSpPr>
            <a:spLocks noGrp="1"/>
          </p:cNvSpPr>
          <p:nvPr>
            <p:ph idx="1"/>
          </p:nvPr>
        </p:nvSpPr>
        <p:spPr>
          <a:xfrm>
            <a:off x="753341" y="1385601"/>
            <a:ext cx="8265968" cy="4086797"/>
          </a:xfrm>
        </p:spPr>
        <p:txBody>
          <a:bodyPr>
            <a:noAutofit/>
          </a:bodyPr>
          <a:lstStyle/>
          <a:p>
            <a:pPr algn="l"/>
            <a:r>
              <a:rPr lang="en-US" dirty="0">
                <a:solidFill>
                  <a:srgbClr val="374151"/>
                </a:solidFill>
                <a:latin typeface="Söhne"/>
              </a:rPr>
              <a:t>The S&amp;P 500 Index is a float-adjusted market- capitalization-weighted index that tracks the performance of 500 of the largest US companies.</a:t>
            </a:r>
            <a:br>
              <a:rPr lang="en-US" dirty="0">
                <a:solidFill>
                  <a:srgbClr val="374151"/>
                </a:solidFill>
                <a:latin typeface="Söhne"/>
              </a:rPr>
            </a:br>
            <a:endParaRPr lang="en-US" dirty="0">
              <a:solidFill>
                <a:srgbClr val="374151"/>
              </a:solidFill>
              <a:latin typeface="Söhne"/>
            </a:endParaRPr>
          </a:p>
          <a:p>
            <a:pPr algn="l"/>
            <a:r>
              <a:rPr lang="en-US" dirty="0">
                <a:solidFill>
                  <a:srgbClr val="374151"/>
                </a:solidFill>
                <a:latin typeface="Söhne"/>
              </a:rPr>
              <a:t> It includes companies from a broad range of industry sectors and is widely seen as a benchmark for the overall performance of the US economy.</a:t>
            </a:r>
          </a:p>
          <a:p>
            <a:pPr algn="l"/>
            <a:endParaRPr lang="en-US" dirty="0">
              <a:solidFill>
                <a:srgbClr val="374151"/>
              </a:solidFill>
              <a:latin typeface="Söhne"/>
            </a:endParaRPr>
          </a:p>
        </p:txBody>
      </p:sp>
    </p:spTree>
    <p:extLst>
      <p:ext uri="{BB962C8B-B14F-4D97-AF65-F5344CB8AC3E}">
        <p14:creationId xmlns:p14="http://schemas.microsoft.com/office/powerpoint/2010/main" val="26202152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extBox 1">
            <a:extLst>
              <a:ext uri="{FF2B5EF4-FFF2-40B4-BE49-F238E27FC236}">
                <a16:creationId xmlns:a16="http://schemas.microsoft.com/office/drawing/2014/main" id="{C621FB47-D5C4-A6F6-739F-A936C4C4E467}"/>
              </a:ext>
            </a:extLst>
          </p:cNvPr>
          <p:cNvSpPr txBox="1"/>
          <p:nvPr/>
        </p:nvSpPr>
        <p:spPr>
          <a:xfrm>
            <a:off x="0" y="0"/>
            <a:ext cx="9144000" cy="1155561"/>
          </a:xfrm>
          <a:prstGeom prst="rect">
            <a:avLst/>
          </a:prstGeom>
          <a:solidFill>
            <a:schemeClr val="accent1">
              <a:lumMod val="40000"/>
              <a:lumOff val="60000"/>
            </a:schemeClr>
          </a:solidFill>
        </p:spPr>
        <p:txBody>
          <a:bodyPr wrap="square" rtlCol="0">
            <a:spAutoFit/>
          </a:bodyPr>
          <a:lstStyle/>
          <a:p>
            <a:endParaRPr lang="en-US" dirty="0"/>
          </a:p>
        </p:txBody>
      </p:sp>
      <p:sp>
        <p:nvSpPr>
          <p:cNvPr id="7" name="Title 6"/>
          <p:cNvSpPr>
            <a:spLocks noGrp="1"/>
          </p:cNvSpPr>
          <p:nvPr>
            <p:ph type="title"/>
          </p:nvPr>
        </p:nvSpPr>
        <p:spPr>
          <a:xfrm>
            <a:off x="0" y="1"/>
            <a:ext cx="9144000" cy="1441308"/>
          </a:xfrm>
        </p:spPr>
        <p:txBody>
          <a:bodyPr/>
          <a:lstStyle/>
          <a:p>
            <a:r>
              <a:rPr lang="en-US" b="1" dirty="0"/>
              <a:t>   Notes</a:t>
            </a:r>
          </a:p>
        </p:txBody>
      </p:sp>
      <p:sp>
        <p:nvSpPr>
          <p:cNvPr id="8" name="Content Placeholder 7"/>
          <p:cNvSpPr>
            <a:spLocks noGrp="1"/>
          </p:cNvSpPr>
          <p:nvPr>
            <p:ph idx="1"/>
          </p:nvPr>
        </p:nvSpPr>
        <p:spPr>
          <a:xfrm>
            <a:off x="118378" y="1385601"/>
            <a:ext cx="8900931" cy="4086797"/>
          </a:xfrm>
        </p:spPr>
        <p:txBody>
          <a:bodyPr>
            <a:noAutofit/>
          </a:bodyPr>
          <a:lstStyle/>
          <a:p>
            <a:pPr marL="0" indent="0" algn="l">
              <a:buNone/>
            </a:pPr>
            <a:r>
              <a:rPr lang="en-US" b="0" i="0" dirty="0">
                <a:solidFill>
                  <a:srgbClr val="374151"/>
                </a:solidFill>
                <a:effectLst/>
                <a:latin typeface="Söhne"/>
              </a:rPr>
              <a:t>The following excerpt is from</a:t>
            </a:r>
            <a:r>
              <a:rPr lang="en-US" sz="2800" dirty="0"/>
              <a:t> the S&amp;P Dow Jones Indices’ fact sheet</a:t>
            </a:r>
            <a:r>
              <a:rPr lang="en-US" b="0" i="0" dirty="0">
                <a:solidFill>
                  <a:srgbClr val="374151"/>
                </a:solidFill>
                <a:effectLst/>
                <a:latin typeface="Söhne"/>
              </a:rPr>
              <a:t> found on their </a:t>
            </a:r>
            <a:r>
              <a:rPr lang="en-US" dirty="0">
                <a:solidFill>
                  <a:srgbClr val="374151"/>
                </a:solidFill>
                <a:latin typeface="Söhne"/>
                <a:hlinkClick r:id="rId3"/>
              </a:rPr>
              <a:t>S&amp;P 500 Overview</a:t>
            </a:r>
            <a:r>
              <a:rPr lang="en-US" dirty="0">
                <a:solidFill>
                  <a:srgbClr val="374151"/>
                </a:solidFill>
                <a:latin typeface="Söhne"/>
              </a:rPr>
              <a:t> page.</a:t>
            </a:r>
            <a:endParaRPr lang="en-US" dirty="0">
              <a:effectLst/>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02AD3B44-73A2-73FD-3FC5-7198E25806BC}"/>
              </a:ext>
            </a:extLst>
          </p:cNvPr>
          <p:cNvPicPr>
            <a:picLocks noChangeAspect="1"/>
          </p:cNvPicPr>
          <p:nvPr/>
        </p:nvPicPr>
        <p:blipFill>
          <a:blip r:embed="rId4"/>
          <a:stretch>
            <a:fillRect/>
          </a:stretch>
        </p:blipFill>
        <p:spPr>
          <a:xfrm>
            <a:off x="243068" y="2406978"/>
            <a:ext cx="8900931" cy="3139712"/>
          </a:xfrm>
          <a:prstGeom prst="rect">
            <a:avLst/>
          </a:prstGeom>
        </p:spPr>
      </p:pic>
    </p:spTree>
    <p:extLst>
      <p:ext uri="{BB962C8B-B14F-4D97-AF65-F5344CB8AC3E}">
        <p14:creationId xmlns:p14="http://schemas.microsoft.com/office/powerpoint/2010/main" val="358260039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52933</TotalTime>
  <Words>2356</Words>
  <Application>Microsoft Office PowerPoint</Application>
  <PresentationFormat>On-screen Show (4:3)</PresentationFormat>
  <Paragraphs>194</Paragraphs>
  <Slides>36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Arial</vt:lpstr>
      <vt:lpstr>Calibri</vt:lpstr>
      <vt:lpstr>Calibri Light</vt:lpstr>
      <vt:lpstr>Cambria Math</vt:lpstr>
      <vt:lpstr>Courier New</vt:lpstr>
      <vt:lpstr>Slack-Lato</vt:lpstr>
      <vt:lpstr>Söhne</vt:lpstr>
      <vt:lpstr>SourceSansPro</vt:lpstr>
      <vt:lpstr>Times New Roman</vt:lpstr>
      <vt:lpstr>Office Theme</vt:lpstr>
      <vt:lpstr>PowerPoint Presentation</vt:lpstr>
      <vt:lpstr>Learning Objectives</vt:lpstr>
      <vt:lpstr>What is a Stock Market Index?</vt:lpstr>
      <vt:lpstr>What is a Stock Market Index? (cont.)</vt:lpstr>
      <vt:lpstr>What is a Stock Market Index? (cont.)</vt:lpstr>
      <vt:lpstr>What is a Stock Market Index? (cont.)</vt:lpstr>
      <vt:lpstr>What is a Stock Market Index? (cont.)</vt:lpstr>
      <vt:lpstr>What is a Stock Market Index? (cont.)</vt:lpstr>
      <vt:lpstr>Common Types of Stock Indices</vt:lpstr>
      <vt:lpstr>How is a Stock Market Index Price Calculated?</vt:lpstr>
      <vt:lpstr>Price-Weighted Average</vt:lpstr>
      <vt:lpstr>Price-Weighted Average (cont.)</vt:lpstr>
      <vt:lpstr>Price-Weighted Average (cont.)</vt:lpstr>
      <vt:lpstr>Market Value-Weighted Average</vt:lpstr>
      <vt:lpstr>What is Market Capitalization?</vt:lpstr>
      <vt:lpstr>Effect of a “Market Value-Weighted” Average</vt:lpstr>
      <vt:lpstr>Calculating the Market Value-Weighted Average</vt:lpstr>
      <vt:lpstr>Calculating the Market Value-Weighted Average (cont.)</vt:lpstr>
      <vt:lpstr>Calculating the Market Value-Weighted Average (cont.)</vt:lpstr>
      <vt:lpstr>Calculating the Market Value-Weighted Average (cont.)</vt:lpstr>
      <vt:lpstr>Six Examples of Stock Market Indices</vt:lpstr>
      <vt:lpstr>What is the S&amp;P 500 Index?</vt:lpstr>
      <vt:lpstr>What is the S&amp;P 500 Index? (cont.)</vt:lpstr>
      <vt:lpstr>How are the Largest Companies Determined?</vt:lpstr>
      <vt:lpstr>Criteria for S&amp;P 500 Constituents</vt:lpstr>
      <vt:lpstr>Criteria for S&amp;P 500 Constituents (cont.)</vt:lpstr>
      <vt:lpstr>Criteria for S&amp;P 500 Constituents (cont.)</vt:lpstr>
      <vt:lpstr>The S&amp;P 500’s Industry Sectors</vt:lpstr>
      <vt:lpstr>Possible Issues When Using the S&amp;P 500 Index</vt:lpstr>
      <vt:lpstr>Possible Issues When Using the S&amp;P 500 Index (cont.)</vt:lpstr>
      <vt:lpstr>Possible Issues When Using the S&amp;P 500 Index (cont.)</vt:lpstr>
      <vt:lpstr>Link to Assignment</vt:lpstr>
      <vt:lpstr>Conclusion</vt:lpstr>
      <vt:lpstr>Conclusion (cont.)</vt:lpstr>
      <vt:lpstr>Conclusion (cont.)</vt:lpstr>
      <vt:lpstr>   Notes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Identifiers</dc:title>
  <dc:creator>Flores, Yadira</dc:creator>
  <cp:lastModifiedBy>Obropta, Mary</cp:lastModifiedBy>
  <cp:revision>510</cp:revision>
  <dcterms:created xsi:type="dcterms:W3CDTF">2015-09-17T18:26:36Z</dcterms:created>
  <dcterms:modified xsi:type="dcterms:W3CDTF">2023-06-12T17:12:39Z</dcterms:modified>
</cp:coreProperties>
</file>